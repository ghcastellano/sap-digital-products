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1E_B02410B7.xml" ContentType="application/vnd.ms-powerpoint.comments+xml"/>
  <Override PartName="/ppt/notesSlides/notesSlide6.xml" ContentType="application/vnd.openxmlformats-officedocument.presentationml.notesSlide+xml"/>
  <Override PartName="/ppt/comments/modernComment_100_3D2DCE44.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E8A4_8F20904E.xml" ContentType="application/vnd.ms-powerpoint.comments+xml"/>
  <Override PartName="/ppt/notesSlides/notesSlide9.xml" ContentType="application/vnd.openxmlformats-officedocument.presentationml.notesSlide+xml"/>
  <Override PartName="/ppt/comments/modernComment_108_6F8BAEC0.xml" ContentType="application/vnd.ms-powerpoint.comments+xml"/>
  <Override PartName="/ppt/notesSlides/notesSlide10.xml" ContentType="application/vnd.openxmlformats-officedocument.presentationml.notesSlide+xml"/>
  <Override PartName="/ppt/comments/modernComment_7FFFE8A5_CFF1A6B7.xml" ContentType="application/vnd.ms-powerpoint.comments+xml"/>
  <Override PartName="/ppt/notesSlides/notesSlide11.xml" ContentType="application/vnd.openxmlformats-officedocument.presentationml.notesSlide+xml"/>
  <Override PartName="/ppt/comments/modernComment_7FFFE8A6_328E8AF0.xml" ContentType="application/vnd.ms-powerpoint.comments+xml"/>
  <Override PartName="/ppt/notesSlides/notesSlide12.xml" ContentType="application/vnd.openxmlformats-officedocument.presentationml.notesSlide+xml"/>
  <Override PartName="/ppt/comments/modernComment_7FFFE8A9_D40D1F92.xml" ContentType="application/vnd.ms-powerpoint.comments+xml"/>
  <Override PartName="/ppt/notesSlides/notesSlide13.xml" ContentType="application/vnd.openxmlformats-officedocument.presentationml.notesSlide+xml"/>
  <Override PartName="/ppt/comments/modernComment_7FFFE8AC_39AB5B14.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14_327F9DC7.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7FFFE88E_FED24054.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10_AFC9E6A1.xml" ContentType="application/vnd.ms-powerpoint.comments+xml"/>
  <Override PartName="/ppt/notesSlides/notesSlide21.xml" ContentType="application/vnd.openxmlformats-officedocument.presentationml.notesSlide+xml"/>
  <Override PartName="/ppt/comments/modernComment_120_FB564890.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1B_296D12D8.xml" ContentType="application/vnd.ms-powerpoint.comments+xml"/>
  <Override PartName="/ppt/notesSlides/notesSlide25.xml" ContentType="application/vnd.openxmlformats-officedocument.presentationml.notesSlide+xml"/>
  <Override PartName="/ppt/comments/modernComment_124_7B53B7CD.xml" ContentType="application/vnd.ms-powerpoint.comments+xml"/>
  <Override PartName="/ppt/notesSlides/notesSlide26.xml" ContentType="application/vnd.openxmlformats-officedocument.presentationml.notesSlide+xml"/>
  <Override PartName="/ppt/comments/modernComment_7FFFE8A1_49940159.xml" ContentType="application/vnd.ms-powerpoint.comments+xml"/>
  <Override PartName="/ppt/notesSlides/notesSlide27.xml" ContentType="application/vnd.openxmlformats-officedocument.presentationml.notesSlide+xml"/>
  <Override PartName="/ppt/comments/modernComment_123_93BA62AB.xml" ContentType="application/vnd.ms-powerpoint.comment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126_E30F2003.xml" ContentType="application/vnd.ms-powerpoint.comments+xml"/>
  <Override PartName="/ppt/notesSlides/notesSlide30.xml" ContentType="application/vnd.openxmlformats-officedocument.presentationml.notesSlide+xml"/>
  <Override PartName="/ppt/comments/modernComment_105_F3471CD2.xml" ContentType="application/vnd.ms-powerpoint.comments+xml"/>
  <Override PartName="/ppt/notesSlides/notesSlide31.xml" ContentType="application/vnd.openxmlformats-officedocument.presentationml.notesSlide+xml"/>
  <Override PartName="/ppt/comments/modernComment_11D_7B6DD36E.xml" ContentType="application/vnd.ms-powerpoint.comments+xml"/>
  <Override PartName="/ppt/notesSlides/notesSlide32.xml" ContentType="application/vnd.openxmlformats-officedocument.presentationml.notesSlide+xml"/>
  <Override PartName="/ppt/comments/modernComment_10C_AA8C03FA.xml" ContentType="application/vnd.ms-powerpoint.comments+xml"/>
  <Override PartName="/ppt/notesSlides/notesSlide33.xml" ContentType="application/vnd.openxmlformats-officedocument.presentationml.notesSlide+xml"/>
  <Override PartName="/ppt/comments/modernComment_7FFFE8A0_5D1B2852.xml" ContentType="application/vnd.ms-powerpoint.comment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omments/modernComment_7FFFE897_FD2BE021.xml" ContentType="application/vnd.ms-powerpoint.comments+xml"/>
  <Override PartName="/ppt/comments/modernComment_7FFFE8A2_48032102.xml" ContentType="application/vnd.ms-powerpoint.comments+xml"/>
  <Override PartName="/ppt/notesSlides/notesSlide37.xml" ContentType="application/vnd.openxmlformats-officedocument.presentationml.notesSlide+xml"/>
  <Override PartName="/ppt/comments/modernComment_7FFFE898_F741CE44.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8"/>
  </p:notesMasterIdLst>
  <p:sldIdLst>
    <p:sldId id="281" r:id="rId5"/>
    <p:sldId id="258" r:id="rId6"/>
    <p:sldId id="289" r:id="rId7"/>
    <p:sldId id="290" r:id="rId8"/>
    <p:sldId id="286" r:id="rId9"/>
    <p:sldId id="256" r:id="rId10"/>
    <p:sldId id="265" r:id="rId11"/>
    <p:sldId id="2147477668" r:id="rId12"/>
    <p:sldId id="264" r:id="rId13"/>
    <p:sldId id="2147477669" r:id="rId14"/>
    <p:sldId id="2147477670" r:id="rId15"/>
    <p:sldId id="2147477671" r:id="rId16"/>
    <p:sldId id="2147477673" r:id="rId17"/>
    <p:sldId id="2147477676" r:id="rId18"/>
    <p:sldId id="2147477672" r:id="rId19"/>
    <p:sldId id="266" r:id="rId20"/>
    <p:sldId id="276" r:id="rId21"/>
    <p:sldId id="277" r:id="rId22"/>
    <p:sldId id="267" r:id="rId23"/>
    <p:sldId id="2147477646" r:id="rId24"/>
    <p:sldId id="278" r:id="rId25"/>
    <p:sldId id="272" r:id="rId26"/>
    <p:sldId id="288" r:id="rId27"/>
    <p:sldId id="259" r:id="rId28"/>
    <p:sldId id="260" r:id="rId29"/>
    <p:sldId id="283" r:id="rId30"/>
    <p:sldId id="292" r:id="rId31"/>
    <p:sldId id="2147477665" r:id="rId32"/>
    <p:sldId id="291" r:id="rId33"/>
    <p:sldId id="293" r:id="rId34"/>
    <p:sldId id="294" r:id="rId35"/>
    <p:sldId id="261" r:id="rId36"/>
    <p:sldId id="285" r:id="rId37"/>
    <p:sldId id="268" r:id="rId38"/>
    <p:sldId id="2147477664" r:id="rId39"/>
    <p:sldId id="2147477663" r:id="rId40"/>
    <p:sldId id="269" r:id="rId41"/>
    <p:sldId id="2147477659" r:id="rId42"/>
    <p:sldId id="2147477647" r:id="rId43"/>
    <p:sldId id="2147477655" r:id="rId44"/>
    <p:sldId id="2147477666" r:id="rId45"/>
    <p:sldId id="2147477656" r:id="rId46"/>
    <p:sldId id="2147477658"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836E44A1-487A-40F1-9C55-D10C0B486E45}">
          <p14:sldIdLst>
            <p14:sldId id="281"/>
            <p14:sldId id="258"/>
            <p14:sldId id="289"/>
            <p14:sldId id="290"/>
            <p14:sldId id="286"/>
            <p14:sldId id="256"/>
            <p14:sldId id="265"/>
            <p14:sldId id="2147477668"/>
            <p14:sldId id="264"/>
            <p14:sldId id="2147477669"/>
            <p14:sldId id="2147477670"/>
            <p14:sldId id="2147477671"/>
            <p14:sldId id="2147477673"/>
            <p14:sldId id="2147477676"/>
            <p14:sldId id="2147477672"/>
            <p14:sldId id="266"/>
            <p14:sldId id="276"/>
            <p14:sldId id="277"/>
            <p14:sldId id="267"/>
            <p14:sldId id="2147477646"/>
            <p14:sldId id="278"/>
            <p14:sldId id="272"/>
            <p14:sldId id="288"/>
            <p14:sldId id="259"/>
            <p14:sldId id="260"/>
            <p14:sldId id="283"/>
            <p14:sldId id="292"/>
            <p14:sldId id="2147477665"/>
            <p14:sldId id="291"/>
            <p14:sldId id="293"/>
            <p14:sldId id="294"/>
            <p14:sldId id="261"/>
            <p14:sldId id="285"/>
            <p14:sldId id="268"/>
            <p14:sldId id="2147477664"/>
            <p14:sldId id="2147477663"/>
            <p14:sldId id="269"/>
            <p14:sldId id="2147477659"/>
            <p14:sldId id="2147477647"/>
            <p14:sldId id="2147477655"/>
            <p14:sldId id="2147477666"/>
            <p14:sldId id="2147477656"/>
            <p14:sldId id="2147477658"/>
          </p14:sldIdLst>
        </p14:section>
        <p14:section name="Parking Lot" id="{C5518CC8-13BE-421A-8608-48FCA4ACDA6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A6F16-3653-42A3-75BE-9E5891C38EA9}" name="Ana Sancha Medina" initials="AS" userId="S::asanmedi@emeal.nttdata.com::cb6b4da7-f127-491d-b2b3-c84b2f80c538" providerId="AD"/>
  <p188:author id="{C5CC6A58-EB9F-3601-BA4A-0BA6EE77644B}" name="Guest User" initials="GU" userId="S::urn:spo:tenantanon#20ba0546-4848-446a-a8f0-b42fc27278ce::" providerId="AD"/>
  <p188:author id="{9552545F-FFD9-F585-C825-74C37019A3E8}" name="Yunuen Vargas Hernandez" initials="YV" userId="S::yvargash@emeal.nttdata.com::6f284162-b591-4518-8c03-e513a024376c" providerId="AD"/>
  <p188:author id="{9297B66B-BF4D-3E4E-6DF1-E7277526F4AB}" name="Javier Bahena Pacheco" initials="JB" userId="S::jbahenap@emeal.nttdata.com::d59fb837-d627-4f1d-9976-d501d2a3c3bb" providerId="AD"/>
  <p188:author id="{08AA367A-3FE0-CE15-1CF5-256A1C107FE1}" name="Alfredo Soto Cuellar" initials="AS" userId="S::asotocue@emeal.nttdata.com::a1af1438-e027-44e1-b6a1-e184226576bb" providerId="AD"/>
  <p188:author id="{CA625C93-23F8-CB07-D18D-605E643B4C39}" name="Daniel Belmar Garcia" initials="DB" userId="S::dbelmarg@emeal.nttdata.com::20dc0f96-9476-4833-838f-6bd444f49ced" providerId="AD"/>
  <p188:author id="{67DB39AB-BC3E-8A02-7D4E-C00B2BD6237D}" name="Gustavo Castellano" initials="" userId="S::gucastel@emeal.nttdata.com::a9cf1106-c481-4d5c-8dce-a3913bae123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F1C50"/>
    <a:srgbClr val="0DA9FF"/>
    <a:srgbClr val="6785C1"/>
    <a:srgbClr val="3B7D23"/>
    <a:srgbClr val="2C578B"/>
    <a:srgbClr val="747474"/>
    <a:srgbClr val="00A443"/>
    <a:srgbClr val="D9D9D9"/>
    <a:srgbClr val="BFBFBF"/>
    <a:srgbClr val="BC43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7406AF-A375-784B-BB6B-3DFB47BFB2A5}" v="604" dt="2026-04-27T19:15:28.364"/>
    <p1510:client id="{6293D9C8-A49F-4B01-A309-91C72DCE14CB}" v="48" dt="2026-04-27T19:00:08.990"/>
    <p1510:client id="{A784C0A5-D3B1-436F-9646-A333B2149F5C}" v="365" dt="2026-04-27T17:41:34.897"/>
    <p1510:client id="{B9755A22-8A23-4484-8436-F24D33D7EF94}" v="1551" dt="2026-04-27T16:07:56.050"/>
    <p1510:client id="{C1516A30-5B86-46CD-8F76-DB35CB986913}" v="2114" dt="2026-04-27T19:14:05.4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35"/>
    <p:restoredTop sz="94700"/>
  </p:normalViewPr>
  <p:slideViewPr>
    <p:cSldViewPr snapToGrid="0">
      <p:cViewPr varScale="1">
        <p:scale>
          <a:sx n="167" d="100"/>
          <a:sy n="167" d="100"/>
        </p:scale>
        <p:origin x="1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omments/modernComment_7FFFE8A0_5D1B2852.xml><?xml version="1.0" encoding="utf-8"?>
<p188:cmLst xmlns:a="http://schemas.openxmlformats.org/drawingml/2006/main" xmlns:r="http://schemas.openxmlformats.org/officeDocument/2006/relationships" xmlns:p188="http://schemas.microsoft.com/office/powerpoint/2018/8/main">
  <p188:cm id="{9A8BD132-7025-4BBC-AD5F-AC77007CD065}" authorId="{C5CC6A58-EB9F-3601-BA4A-0BA6EE77644B}" created="2026-04-24T22:24:34.349">
    <pc:sldMkLst xmlns:pc="http://schemas.microsoft.com/office/powerpoint/2013/main/command">
      <pc:docMk/>
      <pc:sldMk cId="1562060882" sldId="2147477664"/>
    </pc:sldMkLst>
    <p188:txBody>
      <a:bodyPr/>
      <a:lstStyle/>
      <a:p>
        <a:r>
          <a:rPr lang="pt-BR"/>
          <a:t>BRS x Digital CoE x Heather</a:t>
        </a:r>
      </a:p>
    </p188:txBody>
  </p188:cm>
</p188:cmLst>
</file>

<file path=ppt/comments/modernComment_7FFFE8A1_49940159.xml><?xml version="1.0" encoding="utf-8"?>
<p188:cmLst xmlns:a="http://schemas.openxmlformats.org/drawingml/2006/main" xmlns:r="http://schemas.openxmlformats.org/officeDocument/2006/relationships" xmlns:p188="http://schemas.microsoft.com/office/powerpoint/2018/8/main">
  <p188:cm id="{A8A4E9B3-BEE1-4391-A769-4955BC830977}" authorId="{022A6F16-3653-42A3-75BE-9E5891C38EA9}" created="2026-04-24T04:35:53.649">
    <pc:sldMkLst xmlns:pc="http://schemas.microsoft.com/office/powerpoint/2013/main/command">
      <pc:docMk/>
      <pc:sldMk cId="2069084109" sldId="292"/>
    </pc:sldMkLst>
    <p188:txBody>
      <a:bodyPr/>
      <a:lstStyle/>
      <a:p>
        <a:r>
          <a:rPr lang="en-US"/>
          <a:t>Lo mismo hagamos un despleigue de las areas del dpot que se iluminen aplicado a todo el drill down</a:t>
        </a:r>
      </a:p>
    </p188:txBody>
  </p188:cm>
</p188:cmLst>
</file>

<file path=ppt/comments/modernComment_7FFFE8A2_48032102.xml><?xml version="1.0" encoding="utf-8"?>
<p188:cmLst xmlns:a="http://schemas.openxmlformats.org/drawingml/2006/main" xmlns:r="http://schemas.openxmlformats.org/officeDocument/2006/relationships" xmlns:p188="http://schemas.microsoft.com/office/powerpoint/2018/8/main">
  <p188:cm id="{10BF1FFD-AFD2-4B41-BC38-D78896635CD4}" authorId="{022A6F16-3653-42A3-75BE-9E5891C38EA9}" status="resolved" created="2026-04-24T04:53:43.701" complete="100000">
    <pc:sldMkLst xmlns:pc="http://schemas.microsoft.com/office/powerpoint/2013/main/command">
      <pc:docMk/>
      <pc:sldMk cId="0" sldId="299"/>
    </pc:sldMkLst>
    <p188:txBody>
      <a:bodyPr/>
      <a:lstStyle/>
      <a:p>
        <a:r>
          <a:rPr lang="en-US"/>
          <a:t>Aquí el titutlo esta em minusculas, en la siguiente slide enmaysuculas</a:t>
        </a:r>
      </a:p>
    </p188:txBody>
    <p188:extLst>
      <p:ext xmlns:p="http://schemas.openxmlformats.org/presentationml/2006/main" uri="{57CB4572-C831-44C2-8A1C-0ADB6CCDFE69}">
        <p223:reactions xmlns:p223="http://schemas.microsoft.com/office/powerpoint/2022/03/main">
          <p223:rxn type="👍">
            <p223:instance time="2026-04-24T23:07:23.878" authorId="{08AA367A-3FE0-CE15-1CF5-256A1C107FE1}"/>
          </p223:rxn>
        </p223:reactions>
      </p:ext>
    </p188:extLst>
  </p188:cm>
  <p188:cm id="{F890D48A-5602-4065-82BC-A059E35554E3}" authorId="{022A6F16-3653-42A3-75BE-9E5891C38EA9}" created="2026-04-24T22:45:09.431">
    <pc:sldMkLst xmlns:pc="http://schemas.microsoft.com/office/powerpoint/2013/main/command">
      <pc:docMk/>
      <pc:sldMk cId="4247511073" sldId="2147477655"/>
    </pc:sldMkLst>
    <p188:replyLst>
      <p188:reply id="{816D4FAD-0CF8-CB4B-A378-20EA4316ED46}" authorId="{67DB39AB-BC3E-8A02-7D4E-C00B2BD6237D}" created="2026-04-25T23:16:12.223">
        <p188:txBody>
          <a:bodyPr/>
          <a:lstStyle/>
          <a:p>
            <a:r>
              <a:rPr lang="pt-BR"/>
              <a:t>Fixed</a:t>
            </a:r>
          </a:p>
        </p188:txBody>
      </p188:reply>
    </p188:replyLst>
    <p188:txBody>
      <a:bodyPr/>
      <a:lstStyle/>
      <a:p>
        <a:r>
          <a:rPr lang="en-US"/>
          <a:t>El insight de G&amp;E cambia por lo que hemos hablado, esto es P&amp;T y son otros insights</a:t>
        </a:r>
      </a:p>
    </p188:txBody>
  </p188:cm>
</p188:cmLst>
</file>

<file path=ppt/comments/modernComment_7FFFE8A4_8F20904E.xml><?xml version="1.0" encoding="utf-8"?>
<p188:cmLst xmlns:a="http://schemas.openxmlformats.org/drawingml/2006/main" xmlns:r="http://schemas.openxmlformats.org/officeDocument/2006/relationships" xmlns:p188="http://schemas.microsoft.com/office/powerpoint/2018/8/main">
  <p188:cm id="{12ABB8E8-6A3C-443A-8C0B-F2227C88122F}" authorId="{022A6F16-3653-42A3-75BE-9E5891C38EA9}" created="2026-04-27T18:45:13.151">
    <pc:sldMkLst xmlns:pc="http://schemas.microsoft.com/office/powerpoint/2013/main/command">
      <pc:docMk/>
      <pc:sldMk cId="2401275982" sldId="2147477668"/>
    </pc:sldMkLst>
    <p188:replyLst>
      <p188:reply id="{DDD217A4-C8B2-45DE-B794-EB93DC4C5BEC}" authorId="{08AA367A-3FE0-CE15-1CF5-256A1C107FE1}" created="2026-04-27T18:59:07.453">
        <p188:txBody>
          <a:bodyPr/>
          <a:lstStyle/>
          <a:p>
            <a:r>
              <a:rPr lang="es-MX"/>
              <a:t>Es Heather, así está en el org chart que nos enviaron</a:t>
            </a:r>
          </a:p>
        </p188:txBody>
      </p188:reply>
    </p188:replyLst>
    <p188:txBody>
      <a:bodyPr/>
      <a:lstStyle/>
      <a:p>
        <a:r>
          <a:rPr lang="en-US"/>
          <a:t>Quien es Customer Service Products? En las interviews</a:t>
        </a:r>
      </a:p>
    </p188:txBody>
  </p188:cm>
</p188:cmLst>
</file>

<file path=ppt/comments/modernComment_7FFFE8A5_CFF1A6B7.xml><?xml version="1.0" encoding="utf-8"?>
<p188:cmLst xmlns:a="http://schemas.openxmlformats.org/drawingml/2006/main" xmlns:r="http://schemas.openxmlformats.org/officeDocument/2006/relationships" xmlns:p188="http://schemas.microsoft.com/office/powerpoint/2018/8/main">
  <p188:cm id="{FC2EF98E-024B-4297-BA16-4E098CC494C3}" authorId="{022A6F16-3653-42A3-75BE-9E5891C38EA9}" status="resolved" created="2026-04-24T04:33:56.040" complete="100000">
    <pc:sldMkLst xmlns:pc="http://schemas.microsoft.com/office/powerpoint/2013/main/command">
      <pc:docMk/>
      <pc:sldMk cId="695014104" sldId="283"/>
    </pc:sldMkLst>
    <p188:replyLst>
      <p188:reply id="{288F0A65-7DC9-496F-8982-93798E652F66}" authorId="{08AA367A-3FE0-CE15-1CF5-256A1C107FE1}" created="2026-04-24T21:59:31.635">
        <p188:txBody>
          <a:bodyPr/>
          <a:lstStyle/>
          <a:p>
            <a:r>
              <a:rPr lang="es-MX"/>
              <a:t>[@Gustavo Castellano] </a:t>
            </a:r>
          </a:p>
        </p188:txBody>
      </p188:reply>
    </p188:replyLst>
    <p188:txBody>
      <a:bodyPr/>
      <a:lstStyle/>
      <a:p>
        <a:r>
          <a:rPr lang="en-US"/>
          <a:t>No estoy de acuerdo con G&amp;E, este es el area de asier, no es email hay big room planning, y todo loq ue esta haciendo bruno y pablo, y es la unica que esta en rojo </a:t>
        </a:r>
      </a:p>
    </p188:txBody>
  </p188:cm>
  <p188:cm id="{31826E3B-80AB-42BB-AE53-88409C5CD6D0}" authorId="{67DB39AB-BC3E-8A02-7D4E-C00B2BD6237D}" status="resolved" created="2026-04-25T22:57:44.156" complete="100000">
    <pc:sldMkLst xmlns:pc="http://schemas.microsoft.com/office/powerpoint/2013/main/command">
      <pc:docMk/>
      <pc:sldMk cId="695014104" sldId="283"/>
    </pc:sldMkLst>
    <p188:txBody>
      <a:bodyPr/>
      <a:lstStyle/>
      <a:p>
        <a:r>
          <a:rPr lang="pt-BR"/>
          <a:t>Fixed G&amp;E</a:t>
        </a:r>
      </a:p>
    </p188:txBody>
  </p188:cm>
  <p188:cm id="{72C3E3BE-9116-4C5F-88FC-EC2211EDE575}" authorId="{022A6F16-3653-42A3-75BE-9E5891C38EA9}" status="resolved" created="2026-04-27T18:48:10.067" complete="100000">
    <pc:sldMkLst xmlns:pc="http://schemas.microsoft.com/office/powerpoint/2013/main/command">
      <pc:docMk/>
      <pc:sldMk cId="3488720567" sldId="2147477669"/>
    </pc:sldMkLst>
    <p188:txBody>
      <a:bodyPr/>
      <a:lstStyle/>
      <a:p>
        <a:r>
          <a:rPr lang="en-US"/>
          <a:t>Again taxonomy, tenemos customerr services apps, y custoemr service applications</a:t>
        </a:r>
      </a:p>
    </p188:txBody>
  </p188:cm>
</p188:cmLst>
</file>

<file path=ppt/comments/modernComment_7FFFE8A6_328E8AF0.xml><?xml version="1.0" encoding="utf-8"?>
<p188:cmLst xmlns:a="http://schemas.openxmlformats.org/drawingml/2006/main" xmlns:r="http://schemas.openxmlformats.org/officeDocument/2006/relationships" xmlns:p188="http://schemas.microsoft.com/office/powerpoint/2018/8/main">
  <p188:cm id="{AC64E118-2BE6-4E7D-85CB-8AC0C6AEA001}" authorId="{C5CC6A58-EB9F-3601-BA4A-0BA6EE77644B}" created="2026-04-24T22:24:34.349">
    <pc:sldMkLst xmlns:pc="http://schemas.microsoft.com/office/powerpoint/2013/main/command">
      <pc:docMk/>
      <pc:sldMk cId="1562060882" sldId="2147477664"/>
    </pc:sldMkLst>
    <p188:txBody>
      <a:bodyPr/>
      <a:lstStyle/>
      <a:p>
        <a:r>
          <a:rPr lang="pt-BR"/>
          <a:t>BRS x Digital CoE x Heather</a:t>
        </a:r>
      </a:p>
    </p188:txBody>
  </p188:cm>
  <p188:cm id="{32B5656B-832B-451C-B16A-FF71983AC5BE}" authorId="{022A6F16-3653-42A3-75BE-9E5891C38EA9}" status="resolved" created="2026-04-27T18:49:33.381" complete="100000">
    <pc:sldMkLst xmlns:pc="http://schemas.microsoft.com/office/powerpoint/2013/main/command">
      <pc:docMk/>
      <pc:sldMk cId="848202480" sldId="2147477670"/>
    </pc:sldMkLst>
    <p188:txBody>
      <a:bodyPr/>
      <a:lstStyle/>
      <a:p>
        <a:r>
          <a:rPr lang="en-US"/>
          <a:t>No tenemos el color coding debajo de los canales</a:t>
        </a:r>
      </a:p>
    </p188:txBody>
  </p188:cm>
</p188:cmLst>
</file>

<file path=ppt/comments/modernComment_7FFFE8A9_D40D1F92.xml><?xml version="1.0" encoding="utf-8"?>
<p188:cmLst xmlns:a="http://schemas.openxmlformats.org/drawingml/2006/main" xmlns:r="http://schemas.openxmlformats.org/officeDocument/2006/relationships" xmlns:p188="http://schemas.microsoft.com/office/powerpoint/2018/8/main">
  <p188:cm id="{2B221018-41D6-4FA0-A83D-AA31C99B0704}" authorId="{022A6F16-3653-42A3-75BE-9E5891C38EA9}" created="2026-04-27T18:54:21.972">
    <pc:sldMkLst xmlns:pc="http://schemas.microsoft.com/office/powerpoint/2013/main/command">
      <pc:docMk/>
      <pc:sldMk cId="3557629842" sldId="2147477673"/>
    </pc:sldMkLst>
    <p188:txBody>
      <a:bodyPr/>
      <a:lstStyle/>
      <a:p>
        <a:r>
          <a:rPr lang="en-US"/>
          <a:t>12 y 13 se me hacen repetitivas, se puede agrupar en una sola</a:t>
        </a:r>
      </a:p>
    </p188:txBody>
  </p188:cm>
</p188:cmLst>
</file>

<file path=ppt/comments/modernComment_7FFFE8AC_39AB5B14.xml><?xml version="1.0" encoding="utf-8"?>
<p188:cmLst xmlns:a="http://schemas.openxmlformats.org/drawingml/2006/main" xmlns:r="http://schemas.openxmlformats.org/officeDocument/2006/relationships" xmlns:p188="http://schemas.microsoft.com/office/powerpoint/2018/8/main">
  <p188:cm id="{E10A1502-A627-4E09-ACEA-63692CCE2693}" authorId="{022A6F16-3653-42A3-75BE-9E5891C38EA9}" status="resolved" created="2026-04-24T22:52:43.170">
    <pc:sldMkLst xmlns:pc="http://schemas.microsoft.com/office/powerpoint/2013/main/command">
      <pc:docMk/>
      <pc:sldMk cId="4148284996" sldId="2147477656"/>
    </pc:sldMkLst>
    <p188:txBody>
      <a:bodyPr/>
      <a:lstStyle/>
      <a:p>
        <a:r>
          <a:rPr lang="en-US"/>
          <a:t>El 4 es una reflexion general y tiene smart metering</a:t>
        </a:r>
      </a:p>
    </p188:txBody>
    <p188:extLst>
      <p:ext xmlns:p="http://schemas.openxmlformats.org/presentationml/2006/main" uri="{57CB4572-C831-44C2-8A1C-0ADB6CCDFE69}">
        <p223:reactions xmlns:p223="http://schemas.microsoft.com/office/powerpoint/2022/03/main">
          <p223:rxn type="👍">
            <p223:instance time="2026-04-24T23:04:54.392" authorId="{08AA367A-3FE0-CE15-1CF5-256A1C107FE1}"/>
          </p223:rxn>
        </p223:reactions>
      </p:ext>
    </p188:extLst>
  </p188:cm>
  <p188:cm id="{09760C9D-B5CF-4887-A623-5804E774F300}" authorId="{022A6F16-3653-42A3-75BE-9E5891C38EA9}" status="resolved" created="2026-04-24T22:54:09.436">
    <pc:sldMkLst xmlns:pc="http://schemas.microsoft.com/office/powerpoint/2013/main/command">
      <pc:docMk/>
      <pc:sldMk cId="4148284996" sldId="2147477656"/>
    </pc:sldMkLst>
    <p188:txBody>
      <a:bodyPr/>
      <a:lstStyle/>
      <a:p>
        <a:r>
          <a:rPr lang="en-US"/>
          <a:t>Los numeros de 5 recurring forums no coinciden con lo que sabemos</a:t>
        </a:r>
      </a:p>
    </p188:txBody>
    <p188:extLst>
      <p:ext xmlns:p="http://schemas.openxmlformats.org/presentationml/2006/main" uri="{57CB4572-C831-44C2-8A1C-0ADB6CCDFE69}">
        <p223:reactions xmlns:p223="http://schemas.microsoft.com/office/powerpoint/2022/03/main">
          <p223:rxn type="👍">
            <p223:instance time="2026-04-24T23:03:48.463" authorId="{08AA367A-3FE0-CE15-1CF5-256A1C107FE1}"/>
          </p223:rxn>
        </p223:reactions>
      </p:ext>
    </p188:extLst>
  </p188:cm>
  <p188:cm id="{CEFC127F-D426-4443-A8A2-C5D9B8050CDC}" authorId="{022A6F16-3653-42A3-75BE-9E5891C38EA9}" status="resolved" created="2026-04-24T22:54:35.790">
    <pc:sldMkLst xmlns:pc="http://schemas.microsoft.com/office/powerpoint/2013/main/command">
      <pc:docMk/>
      <pc:sldMk cId="4148284996" sldId="2147477656"/>
    </pc:sldMkLst>
    <p188:txBody>
      <a:bodyPr/>
      <a:lstStyle/>
      <a:p>
        <a:r>
          <a:rPr lang="en-US"/>
          <a:t>Small, medium, large si está definido y es con una seria de datos y de $</a:t>
        </a:r>
      </a:p>
    </p188:txBody>
    <p188:extLst>
      <p:ext xmlns:p="http://schemas.openxmlformats.org/presentationml/2006/main" uri="{57CB4572-C831-44C2-8A1C-0ADB6CCDFE69}">
        <p223:reactions xmlns:p223="http://schemas.microsoft.com/office/powerpoint/2022/03/main">
          <p223:rxn type="👍">
            <p223:instance time="2026-04-24T23:06:55.214" authorId="{08AA367A-3FE0-CE15-1CF5-256A1C107FE1}"/>
          </p223:rxn>
        </p223:reactions>
      </p:ext>
    </p188:extLst>
  </p188:cm>
</p188:cmLst>
</file>

<file path=ppt/comments/modernComment_7FFFE88E_FED24054.xml><?xml version="1.0" encoding="utf-8"?>
<p188:cmLst xmlns:a="http://schemas.openxmlformats.org/drawingml/2006/main" xmlns:r="http://schemas.openxmlformats.org/officeDocument/2006/relationships" xmlns:p188="http://schemas.microsoft.com/office/powerpoint/2018/8/main">
  <p188:cm id="{3B62D906-2DC1-400F-9B4E-7662D2B637C1}" authorId="{022A6F16-3653-42A3-75BE-9E5891C38EA9}" status="resolved" created="2026-04-27T19:00:08.958" complete="100000">
    <pc:sldMkLst xmlns:pc="http://schemas.microsoft.com/office/powerpoint/2013/main/command">
      <pc:docMk/>
      <pc:sldMk cId="4275191892" sldId="2147477646"/>
    </pc:sldMkLst>
    <p188:txBody>
      <a:bodyPr/>
      <a:lstStyle/>
      <a:p>
        <a:r>
          <a:rPr lang="en-US"/>
          <a:t>Solutions “in”?</a:t>
        </a:r>
      </a:p>
    </p188:txBody>
  </p188:cm>
</p188:cmLst>
</file>

<file path=ppt/comments/modernComment_7FFFE897_FD2BE021.xml><?xml version="1.0" encoding="utf-8"?>
<p188:cmLst xmlns:a="http://schemas.openxmlformats.org/drawingml/2006/main" xmlns:r="http://schemas.openxmlformats.org/officeDocument/2006/relationships" xmlns:p188="http://schemas.microsoft.com/office/powerpoint/2018/8/main">
  <p188:cm id="{4C205777-93B2-4182-95D3-3AF6E66F0C40}" authorId="{022A6F16-3653-42A3-75BE-9E5891C38EA9}" status="resolved" created="2026-04-24T04:53:43.701" complete="100000">
    <pc:sldMkLst xmlns:pc="http://schemas.microsoft.com/office/powerpoint/2013/main/command">
      <pc:docMk/>
      <pc:sldMk cId="0" sldId="299"/>
    </pc:sldMkLst>
    <p188:txBody>
      <a:bodyPr/>
      <a:lstStyle/>
      <a:p>
        <a:r>
          <a:rPr lang="en-US"/>
          <a:t>Aquí el titutlo esta em minusculas, en la siguiente slide enmaysuculas</a:t>
        </a:r>
      </a:p>
    </p188:txBody>
    <p188:extLst>
      <p:ext xmlns:p="http://schemas.openxmlformats.org/presentationml/2006/main" uri="{57CB4572-C831-44C2-8A1C-0ADB6CCDFE69}">
        <p223:reactions xmlns:p223="http://schemas.microsoft.com/office/powerpoint/2022/03/main">
          <p223:rxn type="👍">
            <p223:instance time="2026-04-24T23:07:23.878" authorId="{08AA367A-3FE0-CE15-1CF5-256A1C107FE1}"/>
          </p223:rxn>
        </p223:reactions>
      </p:ext>
    </p188:extLst>
  </p188:cm>
  <p188:cm id="{2A2D2595-F88A-47AE-B284-889E7A4F2604}" authorId="{022A6F16-3653-42A3-75BE-9E5891C38EA9}" status="resolved" created="2026-04-24T22:45:09.431" complete="100000">
    <pc:sldMkLst xmlns:pc="http://schemas.microsoft.com/office/powerpoint/2013/main/command">
      <pc:docMk/>
      <pc:sldMk cId="4247511073" sldId="2147477655"/>
    </pc:sldMkLst>
    <p188:replyLst>
      <p188:reply id="{816D4FAD-0CF8-CB4B-A378-20EA4316ED46}" authorId="{67DB39AB-BC3E-8A02-7D4E-C00B2BD6237D}" created="2026-04-25T23:16:12.223">
        <p188:txBody>
          <a:bodyPr/>
          <a:lstStyle/>
          <a:p>
            <a:r>
              <a:rPr lang="pt-BR"/>
              <a:t>Fixed</a:t>
            </a:r>
          </a:p>
        </p188:txBody>
      </p188:reply>
    </p188:replyLst>
    <p188:txBody>
      <a:bodyPr/>
      <a:lstStyle/>
      <a:p>
        <a:r>
          <a:rPr lang="en-US"/>
          <a:t>El insight de G&amp;E cambia por lo que hemos hablado, esto es P&amp;T y son otros insights</a:t>
        </a:r>
      </a:p>
    </p188:txBody>
  </p188:cm>
</p188:cmLst>
</file>

<file path=ppt/comments/modernComment_7FFFE898_F741CE44.xml><?xml version="1.0" encoding="utf-8"?>
<p188:cmLst xmlns:a="http://schemas.openxmlformats.org/drawingml/2006/main" xmlns:r="http://schemas.openxmlformats.org/officeDocument/2006/relationships" xmlns:p188="http://schemas.microsoft.com/office/powerpoint/2018/8/main">
  <p188:cm id="{AB00D950-2CDF-4119-AC07-575B9EB04383}" authorId="{022A6F16-3653-42A3-75BE-9E5891C38EA9}" status="resolved" created="2026-04-24T22:52:43.170" complete="100000">
    <pc:sldMkLst xmlns:pc="http://schemas.microsoft.com/office/powerpoint/2013/main/command">
      <pc:docMk/>
      <pc:sldMk cId="4148284996" sldId="2147477656"/>
    </pc:sldMkLst>
    <p188:txBody>
      <a:bodyPr/>
      <a:lstStyle/>
      <a:p>
        <a:r>
          <a:rPr lang="en-US"/>
          <a:t>El 4 es una reflexion general y tiene smart metering</a:t>
        </a:r>
      </a:p>
    </p188:txBody>
    <p188:extLst>
      <p:ext xmlns:p="http://schemas.openxmlformats.org/presentationml/2006/main" uri="{57CB4572-C831-44C2-8A1C-0ADB6CCDFE69}">
        <p223:reactions xmlns:p223="http://schemas.microsoft.com/office/powerpoint/2022/03/main">
          <p223:rxn type="👍">
            <p223:instance time="2026-04-24T23:04:54.392" authorId="{08AA367A-3FE0-CE15-1CF5-256A1C107FE1}"/>
          </p223:rxn>
        </p223:reactions>
      </p:ext>
    </p188:extLst>
  </p188:cm>
  <p188:cm id="{4A87D2F3-1E08-4E65-A9A7-BC16F9ED33A2}" authorId="{022A6F16-3653-42A3-75BE-9E5891C38EA9}" status="resolved" created="2026-04-24T22:54:09.436" complete="100000">
    <pc:sldMkLst xmlns:pc="http://schemas.microsoft.com/office/powerpoint/2013/main/command">
      <pc:docMk/>
      <pc:sldMk cId="4148284996" sldId="2147477656"/>
    </pc:sldMkLst>
    <p188:txBody>
      <a:bodyPr/>
      <a:lstStyle/>
      <a:p>
        <a:r>
          <a:rPr lang="en-US"/>
          <a:t>Los numeros de 5 recurring forums no coinciden con lo que sabemos</a:t>
        </a:r>
      </a:p>
    </p188:txBody>
    <p188:extLst>
      <p:ext xmlns:p="http://schemas.openxmlformats.org/presentationml/2006/main" uri="{57CB4572-C831-44C2-8A1C-0ADB6CCDFE69}">
        <p223:reactions xmlns:p223="http://schemas.microsoft.com/office/powerpoint/2022/03/main">
          <p223:rxn type="👍">
            <p223:instance time="2026-04-24T23:03:48.463" authorId="{08AA367A-3FE0-CE15-1CF5-256A1C107FE1}"/>
          </p223:rxn>
        </p223:reactions>
      </p:ext>
    </p188:extLst>
  </p188:cm>
  <p188:cm id="{A187ED94-9F27-48F4-A4B8-6E2EFF8EE441}" authorId="{022A6F16-3653-42A3-75BE-9E5891C38EA9}" status="resolved" created="2026-04-24T22:54:35.790" complete="100000">
    <pc:sldMkLst xmlns:pc="http://schemas.microsoft.com/office/powerpoint/2013/main/command">
      <pc:docMk/>
      <pc:sldMk cId="4148284996" sldId="2147477656"/>
    </pc:sldMkLst>
    <p188:txBody>
      <a:bodyPr/>
      <a:lstStyle/>
      <a:p>
        <a:r>
          <a:rPr lang="en-US"/>
          <a:t>Small, medium, large si está definido y es con una seria de datos y de $</a:t>
        </a:r>
      </a:p>
    </p188:txBody>
    <p188:extLst>
      <p:ext xmlns:p="http://schemas.openxmlformats.org/presentationml/2006/main" uri="{57CB4572-C831-44C2-8A1C-0ADB6CCDFE69}">
        <p223:reactions xmlns:p223="http://schemas.microsoft.com/office/powerpoint/2022/03/main">
          <p223:rxn type="👍">
            <p223:instance time="2026-04-24T23:06:55.214" authorId="{08AA367A-3FE0-CE15-1CF5-256A1C107FE1}"/>
          </p223:rxn>
        </p223:reactions>
      </p:ext>
    </p188:extLst>
  </p188:cm>
</p188:cmLst>
</file>

<file path=ppt/comments/modernComment_10C_AA8C03FA.xml><?xml version="1.0" encoding="utf-8"?>
<p188:cmLst xmlns:a="http://schemas.openxmlformats.org/drawingml/2006/main" xmlns:r="http://schemas.openxmlformats.org/officeDocument/2006/relationships" xmlns:p188="http://schemas.microsoft.com/office/powerpoint/2018/8/main">
  <p188:cm id="{9B53851E-8F81-4377-B829-28100FC7A74C}" authorId="{CA625C93-23F8-CB07-D18D-605E643B4C39}" status="resolved" created="2026-04-15T13:47:24.941">
    <ac:deMkLst xmlns:ac="http://schemas.microsoft.com/office/drawing/2013/main/command">
      <pc:docMk xmlns:pc="http://schemas.microsoft.com/office/powerpoint/2013/main/command"/>
      <pc:sldMk xmlns:pc="http://schemas.microsoft.com/office/powerpoint/2013/main/command" cId="2861302778" sldId="268"/>
      <ac:grpSpMk id="26" creationId="{D2C92F0C-7C8D-BFFD-F1FB-1D5E72A5DF1C}"/>
    </ac:deMkLst>
    <p188:txBody>
      <a:bodyPr/>
      <a:lstStyle/>
      <a:p>
        <a:r>
          <a:rPr lang="en-US"/>
          <a:t>Pondria los puntos 4, 5 y 6 como parte de un solo punto que sea el 4. Currant state analytis que después se abrá en esos tres puntos (roles, value steam (aquí incluir auna parte de cómo es el demand map (sources &amp; channels) , governance)
Agregaría como puntos adicionales en el índice;
5. Project portfolio lands scape
6. Inisghts and key definitions for to-be model</a:t>
        </a:r>
      </a:p>
    </p188:txBody>
  </p188:cm>
</p188:cmLst>
</file>

<file path=ppt/comments/modernComment_11B_296D12D8.xml><?xml version="1.0" encoding="utf-8"?>
<p188:cmLst xmlns:a="http://schemas.openxmlformats.org/drawingml/2006/main" xmlns:r="http://schemas.openxmlformats.org/officeDocument/2006/relationships" xmlns:p188="http://schemas.microsoft.com/office/powerpoint/2018/8/main">
  <p188:cm id="{141D184D-9FBB-4CD5-9B9C-E0A1294E0596}" authorId="{022A6F16-3653-42A3-75BE-9E5891C38EA9}" created="2026-04-24T04:33:56.040" startDate="2026-04-24T21:59:31.636" dueDate="2026-04-24T21:59:31.636" assignedTo="{67DB39AB-BC3E-8A02-7D4E-C00B2BD6237D}" title="@Gustavo Castellano ">
    <pc:sldMkLst xmlns:pc="http://schemas.microsoft.com/office/powerpoint/2013/main/command">
      <pc:docMk/>
      <pc:sldMk cId="695014104" sldId="283"/>
    </pc:sldMkLst>
    <p188:replyLst>
      <p188:reply id="{288F0A65-7DC9-496F-8982-93798E652F66}" authorId="{08AA367A-3FE0-CE15-1CF5-256A1C107FE1}" created="2026-04-24T21:59:31.635">
        <p188:txBody>
          <a:bodyPr/>
          <a:lstStyle/>
          <a:p>
            <a:r>
              <a:rPr lang="es-MX"/>
              <a:t>[@Gustavo Castellano] </a:t>
            </a:r>
          </a:p>
        </p188:txBody>
      </p188:reply>
    </p188:replyLst>
    <p188:txBody>
      <a:bodyPr/>
      <a:lstStyle/>
      <a:p>
        <a:r>
          <a:rPr lang="en-US"/>
          <a:t>No estoy de acuerdo con G&amp;E, este es el area de asier, no es email hay big room planning, y todo loq ue esta haciendo bruno y pablo, y es la unica que esta en rojo </a:t>
        </a:r>
      </a:p>
    </p188:txBody>
    <p188:extLst>
      <p:ext xmlns:p="http://schemas.openxmlformats.org/presentationml/2006/main" uri="{5BB2D875-25FF-4072-B9AC-8F64D62656EB}">
        <p228:taskDetails xmlns:p228="http://schemas.microsoft.com/office/powerpoint/2022/08/main">
          <p228:history>
            <p228:event time="2026-04-24T21:59:31.636" id="{18ED9F73-A878-484C-B8F5-3D4932DFBE69}">
              <p228:atrbtn authorId="{08AA367A-3FE0-CE15-1CF5-256A1C107FE1}"/>
              <p228:anchr>
                <p228:comment id="{288F0A65-7DC9-496F-8982-93798E652F66}"/>
              </p228:anchr>
              <p228:add/>
            </p228:event>
            <p228:event time="2026-04-24T21:59:31.636" id="{3E650720-00B8-42E3-B086-3876B4D3F4B8}">
              <p228:atrbtn authorId="{08AA367A-3FE0-CE15-1CF5-256A1C107FE1}"/>
              <p228:anchr>
                <p228:comment id="{288F0A65-7DC9-496F-8982-93798E652F66}"/>
              </p228:anchr>
              <p228:asgn authorId="{67DB39AB-BC3E-8A02-7D4E-C00B2BD6237D}"/>
            </p228:event>
            <p228:event time="2026-04-24T21:59:31.636" id="{CAA23940-A2CF-48A7-B147-137F02A230B6}">
              <p228:atrbtn authorId="{08AA367A-3FE0-CE15-1CF5-256A1C107FE1}"/>
              <p228:anchr>
                <p228:comment id="{288F0A65-7DC9-496F-8982-93798E652F66}"/>
              </p228:anchr>
              <p228:date stDt="2026-04-24T21:59:31.636" endDt="2026-04-24T21:59:31.636"/>
            </p228:event>
            <p228:event time="2026-04-24T21:59:31.636" id="{A01CA2B4-CD54-4B59-8A8C-736CF68C6832}">
              <p228:atrbtn authorId="{08AA367A-3FE0-CE15-1CF5-256A1C107FE1}"/>
              <p228:anchr>
                <p228:comment id="{288F0A65-7DC9-496F-8982-93798E652F66}"/>
              </p228:anchr>
              <p228:title val="@Gustavo Castellano "/>
            </p228:event>
          </p228:history>
        </p228:taskDetails>
      </p:ext>
    </p188:extLst>
  </p188:cm>
  <p188:cm id="{5EF15A5B-0F4C-ED4E-9C55-404FF4AF2EA2}" authorId="{67DB39AB-BC3E-8A02-7D4E-C00B2BD6237D}" created="2026-04-25T22:57:44.156">
    <pc:sldMkLst xmlns:pc="http://schemas.microsoft.com/office/powerpoint/2013/main/command">
      <pc:docMk/>
      <pc:sldMk cId="695014104" sldId="283"/>
    </pc:sldMkLst>
    <p188:txBody>
      <a:bodyPr/>
      <a:lstStyle/>
      <a:p>
        <a:r>
          <a:rPr lang="pt-BR"/>
          <a:t>Fixed G&amp;E</a:t>
        </a:r>
      </a:p>
    </p188:txBody>
  </p188:cm>
</p188:cmLst>
</file>

<file path=ppt/comments/modernComment_11D_7B6DD36E.xml><?xml version="1.0" encoding="utf-8"?>
<p188:cmLst xmlns:a="http://schemas.openxmlformats.org/drawingml/2006/main" xmlns:r="http://schemas.openxmlformats.org/officeDocument/2006/relationships" xmlns:p188="http://schemas.microsoft.com/office/powerpoint/2018/8/main">
  <p188:cm id="{425CE6D7-3A3C-4DCF-8F92-8C8008793990}" authorId="{022A6F16-3653-42A3-75BE-9E5891C38EA9}" created="2026-04-24T04:46:49.678" startDate="2026-04-24T22:10:38.985" dueDate="2026-04-24T22:10:38.985" assignedTo="{9297B66B-BF4D-3E4E-6DF1-E7277526F4AB}" title="@Javier Bahena Pacheco ">
    <pc:sldMkLst xmlns:pc="http://schemas.microsoft.com/office/powerpoint/2013/main/command">
      <pc:docMk/>
      <pc:sldMk cId="2070795118" sldId="285"/>
    </pc:sldMkLst>
    <p188:replyLst>
      <p188:reply id="{CBEF5DA7-3E7E-4FB6-8BFE-AB44C41807CA}" authorId="{08AA367A-3FE0-CE15-1CF5-256A1C107FE1}" created="2026-04-24T22:10:38.985">
        <p188:txBody>
          <a:bodyPr/>
          <a:lstStyle/>
          <a:p>
            <a:r>
              <a:rPr lang="es-MX"/>
              <a:t>[@Javier Bahena Pacheco] </a:t>
            </a:r>
          </a:p>
        </p188:txBody>
      </p188:reply>
    </p188:replyLst>
    <p188:txBody>
      <a:bodyPr/>
      <a:lstStyle/>
      <a:p>
        <a:r>
          <a:rPr lang="en-US"/>
          <a:t>Entiendo que el equipo de Carlos no ha contestado respecto a los foros eistents porque no tienen solo esos (es quien trabaja con pablo y bruno, de nuevo)</a:t>
        </a:r>
      </a:p>
    </p188:txBody>
    <p188:extLst>
      <p:ext xmlns:p="http://schemas.openxmlformats.org/presentationml/2006/main" uri="{5BB2D875-25FF-4072-B9AC-8F64D62656EB}">
        <p228:taskDetails xmlns:p228="http://schemas.microsoft.com/office/powerpoint/2022/08/main">
          <p228:history>
            <p228:event time="2026-04-24T22:10:38.986" id="{7C363EBE-A2E9-4CEF-A436-606A7938EEFC}">
              <p228:atrbtn authorId="{08AA367A-3FE0-CE15-1CF5-256A1C107FE1}"/>
              <p228:anchr>
                <p228:comment id="{CBEF5DA7-3E7E-4FB6-8BFE-AB44C41807CA}"/>
              </p228:anchr>
              <p228:add/>
            </p228:event>
            <p228:event time="2026-04-24T22:10:38.986" id="{CA77FE73-7F97-467F-B7FF-634834E7210D}">
              <p228:atrbtn authorId="{08AA367A-3FE0-CE15-1CF5-256A1C107FE1}"/>
              <p228:anchr>
                <p228:comment id="{CBEF5DA7-3E7E-4FB6-8BFE-AB44C41807CA}"/>
              </p228:anchr>
              <p228:asgn authorId="{9297B66B-BF4D-3E4E-6DF1-E7277526F4AB}"/>
            </p228:event>
            <p228:event time="2026-04-24T22:10:38.986" id="{0107E8FC-FBA2-49AE-B03E-395B1E9D5F1C}">
              <p228:atrbtn authorId="{08AA367A-3FE0-CE15-1CF5-256A1C107FE1}"/>
              <p228:anchr>
                <p228:comment id="{CBEF5DA7-3E7E-4FB6-8BFE-AB44C41807CA}"/>
              </p228:anchr>
              <p228:date stDt="2026-04-24T22:10:38.985" endDt="2026-04-24T22:10:38.985"/>
            </p228:event>
            <p228:event time="2026-04-24T22:10:38.986" id="{63574EAC-13C4-49F8-9843-DF310DA0E3A2}">
              <p228:atrbtn authorId="{08AA367A-3FE0-CE15-1CF5-256A1C107FE1}"/>
              <p228:anchr>
                <p228:comment id="{CBEF5DA7-3E7E-4FB6-8BFE-AB44C41807CA}"/>
              </p228:anchr>
              <p228:title val="@Javier Bahena Pacheco "/>
            </p228:event>
          </p228:history>
        </p228:taskDetails>
      </p:ext>
    </p188:extLst>
  </p188:cm>
</p188:cmLst>
</file>

<file path=ppt/comments/modernComment_11E_B02410B7.xml><?xml version="1.0" encoding="utf-8"?>
<p188:cmLst xmlns:a="http://schemas.openxmlformats.org/drawingml/2006/main" xmlns:r="http://schemas.openxmlformats.org/officeDocument/2006/relationships" xmlns:p188="http://schemas.microsoft.com/office/powerpoint/2018/8/main">
  <p188:cm id="{5266F1B8-1FAD-4A9A-834D-37B12372529F}" authorId="{022A6F16-3653-42A3-75BE-9E5891C38EA9}" created="2026-04-27T18:41:47.854">
    <pc:sldMkLst xmlns:pc="http://schemas.microsoft.com/office/powerpoint/2013/main/command">
      <pc:docMk/>
      <pc:sldMk cId="2955153591" sldId="286"/>
    </pc:sldMkLst>
    <p188:txBody>
      <a:bodyPr/>
      <a:lstStyle/>
      <a:p>
        <a:r>
          <a:rPr lang="en-US"/>
          <a:t>No hace sentido el subtitulo</a:t>
        </a:r>
      </a:p>
    </p188:txBody>
  </p188:cm>
</p188:cmLst>
</file>

<file path=ppt/comments/modernComment_100_3D2DCE44.xml><?xml version="1.0" encoding="utf-8"?>
<p188:cmLst xmlns:a="http://schemas.openxmlformats.org/drawingml/2006/main" xmlns:r="http://schemas.openxmlformats.org/officeDocument/2006/relationships" xmlns:p188="http://schemas.microsoft.com/office/powerpoint/2018/8/main">
  <p188:cm id="{79C23620-56B4-4C47-B50C-421143C8B48F}" authorId="{022A6F16-3653-42A3-75BE-9E5891C38EA9}" status="resolved" created="2026-04-27T18:43:16.232" complete="100000">
    <pc:sldMkLst xmlns:pc="http://schemas.microsoft.com/office/powerpoint/2013/main/command">
      <pc:docMk/>
      <pc:sldMk cId="1026412100" sldId="256"/>
    </pc:sldMkLst>
    <p188:txBody>
      <a:bodyPr/>
      <a:lstStyle/>
      <a:p>
        <a:r>
          <a:rPr lang="en-US"/>
          <a:t>nWOW no existe en pilot será OWNIT!</a:t>
        </a:r>
      </a:p>
    </p188:txBody>
  </p188:cm>
  <p188:cm id="{14757B69-F9CC-4721-A111-D26B7652B2B2}" authorId="{022A6F16-3653-42A3-75BE-9E5891C38EA9}" status="resolved" created="2026-04-27T18:44:10.427" complete="100000">
    <pc:sldMkLst xmlns:pc="http://schemas.microsoft.com/office/powerpoint/2013/main/command">
      <pc:docMk/>
      <pc:sldMk cId="1026412100" sldId="256"/>
    </pc:sldMkLst>
    <p188:txBody>
      <a:bodyPr/>
      <a:lstStyle/>
      <a:p>
        <a:r>
          <a:rPr lang="en-US"/>
          <a:t>En what we aim to achieve está tambien el lifecycle proceso mas orientado a product mindset</a:t>
        </a:r>
      </a:p>
    </p188:txBody>
  </p188:cm>
</p188:cmLst>
</file>

<file path=ppt/comments/modernComment_105_F3471CD2.xml><?xml version="1.0" encoding="utf-8"?>
<p188:cmLst xmlns:a="http://schemas.openxmlformats.org/drawingml/2006/main" xmlns:r="http://schemas.openxmlformats.org/officeDocument/2006/relationships" xmlns:p188="http://schemas.microsoft.com/office/powerpoint/2018/8/main">
  <p188:cm id="{E06E5695-FC13-43EF-998E-E82F72D2B735}" authorId="{022A6F16-3653-42A3-75BE-9E5891C38EA9}" created="2026-04-24T04:44:21.966" startDate="2026-04-24T22:02:46.209" dueDate="2026-04-24T22:02:46.209" assignedTo="{67DB39AB-BC3E-8A02-7D4E-C00B2BD6237D}" title="@Gustavo Castellano ">
    <pc:sldMkLst xmlns:pc="http://schemas.microsoft.com/office/powerpoint/2013/main/command">
      <pc:docMk/>
      <pc:sldMk cId="4081523922" sldId="261"/>
    </pc:sldMkLst>
    <p188:replyLst>
      <p188:reply id="{378F36D4-0D6A-4AE2-B44C-0FADE5E34F7B}" authorId="{08AA367A-3FE0-CE15-1CF5-256A1C107FE1}" created="2026-04-24T22:02:46.209">
        <p188:txBody>
          <a:bodyPr/>
          <a:lstStyle/>
          <a:p>
            <a:r>
              <a:rPr lang="es-MX"/>
              <a:t>[@Gustavo Castellano] </a:t>
            </a:r>
          </a:p>
        </p188:txBody>
      </p188:reply>
      <p188:reply id="{8D695056-D114-0F49-9AF2-FE83529C30F9}" authorId="{67DB39AB-BC3E-8A02-7D4E-C00B2BD6237D}" created="2026-04-25T23:46:11.894">
        <p188:txBody>
          <a:bodyPr/>
          <a:lstStyle/>
          <a:p>
            <a:r>
              <a:rPr lang="pt-BR"/>
              <a:t>Fixed
</a:t>
            </a:r>
          </a:p>
        </p188:txBody>
      </p188:reply>
    </p188:replyLst>
    <p188:txBody>
      <a:bodyPr/>
      <a:lstStyle/>
      <a:p>
        <a:r>
          <a:rPr lang="en-US"/>
          <a:t>Volvemos a nombrar smart metering como referente, por que?</a:t>
        </a:r>
      </a:p>
    </p188:txBody>
    <p188:extLst>
      <p:ext xmlns:p="http://schemas.openxmlformats.org/presentationml/2006/main" uri="{5BB2D875-25FF-4072-B9AC-8F64D62656EB}">
        <p228:taskDetails xmlns:p228="http://schemas.microsoft.com/office/powerpoint/2022/08/main">
          <p228:history>
            <p228:event time="2026-04-24T22:02:46.209" id="{DBC67CB2-D4F0-4A30-9897-E4BD96DA8855}">
              <p228:atrbtn authorId="{08AA367A-3FE0-CE15-1CF5-256A1C107FE1}"/>
              <p228:anchr>
                <p228:comment id="{378F36D4-0D6A-4AE2-B44C-0FADE5E34F7B}"/>
              </p228:anchr>
              <p228:add/>
            </p228:event>
            <p228:event time="2026-04-24T22:02:46.209" id="{1888AFB9-1633-4FB2-889C-D83A67F4257A}">
              <p228:atrbtn authorId="{08AA367A-3FE0-CE15-1CF5-256A1C107FE1}"/>
              <p228:anchr>
                <p228:comment id="{378F36D4-0D6A-4AE2-B44C-0FADE5E34F7B}"/>
              </p228:anchr>
              <p228:asgn authorId="{67DB39AB-BC3E-8A02-7D4E-C00B2BD6237D}"/>
            </p228:event>
            <p228:event time="2026-04-24T22:02:46.209" id="{878BBE54-0754-4285-8476-626D7FFF09D2}">
              <p228:atrbtn authorId="{08AA367A-3FE0-CE15-1CF5-256A1C107FE1}"/>
              <p228:anchr>
                <p228:comment id="{378F36D4-0D6A-4AE2-B44C-0FADE5E34F7B}"/>
              </p228:anchr>
              <p228:date stDt="2026-04-24T22:02:46.209" endDt="2026-04-24T22:02:46.209"/>
            </p228:event>
            <p228:event time="2026-04-24T22:02:46.209" id="{0EF76148-168F-4017-A35B-23D13BD88002}">
              <p228:atrbtn authorId="{08AA367A-3FE0-CE15-1CF5-256A1C107FE1}"/>
              <p228:anchr>
                <p228:comment id="{378F36D4-0D6A-4AE2-B44C-0FADE5E34F7B}"/>
              </p228:anchr>
              <p228:title val="@Gustavo Castellano "/>
            </p228:event>
          </p228:history>
        </p228:taskDetails>
      </p:ext>
    </p188:extLst>
  </p188:cm>
</p188:cmLst>
</file>

<file path=ppt/comments/modernComment_108_6F8BAEC0.xml><?xml version="1.0" encoding="utf-8"?>
<p188:cmLst xmlns:a="http://schemas.openxmlformats.org/drawingml/2006/main" xmlns:r="http://schemas.openxmlformats.org/officeDocument/2006/relationships" xmlns:p188="http://schemas.microsoft.com/office/powerpoint/2018/8/main">
  <p188:cm id="{6AFE2883-E368-EC40-AAC7-6E982CD6AA3A}" authorId="{67DB39AB-BC3E-8A02-7D4E-C00B2BD6237D}" status="resolved" created="2026-04-25T22:54:34.901" complete="100000">
    <pc:sldMkLst xmlns:pc="http://schemas.microsoft.com/office/powerpoint/2013/main/command">
      <pc:docMk/>
      <pc:sldMk cId="1871425216" sldId="264"/>
    </pc:sldMkLst>
    <p188:txBody>
      <a:bodyPr/>
      <a:lstStyle/>
      <a:p>
        <a:r>
          <a:rPr lang="pt-BR"/>
          <a:t>Updated with G&amp;E new data (P&amp;T)</a:t>
        </a:r>
      </a:p>
    </p188:txBody>
  </p188:cm>
</p188:cmLst>
</file>

<file path=ppt/comments/modernComment_110_AFC9E6A1.xml><?xml version="1.0" encoding="utf-8"?>
<p188:cmLst xmlns:a="http://schemas.openxmlformats.org/drawingml/2006/main" xmlns:r="http://schemas.openxmlformats.org/officeDocument/2006/relationships" xmlns:p188="http://schemas.microsoft.com/office/powerpoint/2018/8/main">
  <p188:cm id="{70C5F0BD-027A-436C-9FC8-2DFFD0825B1D}" authorId="{022A6F16-3653-42A3-75BE-9E5891C38EA9}" status="resolved" created="2026-04-24T04:59:56.080" complete="100000">
    <pc:sldMkLst xmlns:pc="http://schemas.microsoft.com/office/powerpoint/2013/main/command">
      <pc:docMk/>
      <pc:sldMk cId="2949244577" sldId="272"/>
    </pc:sldMkLst>
    <p188:txBody>
      <a:bodyPr/>
      <a:lstStyle/>
      <a:p>
        <a:r>
          <a:rPr lang="en-US"/>
          <a:t>No hemos incorporado roles existentes encontrados </a:t>
        </a:r>
      </a:p>
    </p188:txBody>
  </p188:cm>
</p188:cmLst>
</file>

<file path=ppt/comments/modernComment_114_327F9DC7.xml><?xml version="1.0" encoding="utf-8"?>
<p188:cmLst xmlns:a="http://schemas.openxmlformats.org/drawingml/2006/main" xmlns:r="http://schemas.openxmlformats.org/officeDocument/2006/relationships" xmlns:p188="http://schemas.microsoft.com/office/powerpoint/2018/8/main">
  <p188:cm id="{C6220F5C-A635-4B07-881B-D34926C79662}" authorId="{022A6F16-3653-42A3-75BE-9E5891C38EA9}" created="2026-04-27T18:59:25.453">
    <pc:sldMkLst xmlns:pc="http://schemas.microsoft.com/office/powerpoint/2013/main/command">
      <pc:docMk/>
      <pc:sldMk cId="847224263" sldId="276"/>
    </pc:sldMkLst>
    <p188:txBody>
      <a:bodyPr/>
      <a:lstStyle/>
      <a:p>
        <a:r>
          <a:rPr lang="en-US"/>
          <a:t>Duplicada con 8, o se va todo a un bloque o se queda aquí, hace sentido que vaya antes la metodologia que los findings y simplificar arriba</a:t>
        </a:r>
      </a:p>
    </p188:txBody>
  </p188:cm>
</p188:cmLst>
</file>

<file path=ppt/comments/modernComment_120_FB564890.xml><?xml version="1.0" encoding="utf-8"?>
<p188:cmLst xmlns:a="http://schemas.openxmlformats.org/drawingml/2006/main" xmlns:r="http://schemas.openxmlformats.org/officeDocument/2006/relationships" xmlns:p188="http://schemas.microsoft.com/office/powerpoint/2018/8/main">
  <p188:cm id="{B8750C7D-1688-4EB6-BAAA-C9B22AE094C4}" authorId="{022A6F16-3653-42A3-75BE-9E5891C38EA9}" status="resolved" created="2026-04-24T04:26:42.664" complete="100000">
    <ac:deMkLst xmlns:ac="http://schemas.microsoft.com/office/drawing/2013/main/command">
      <pc:docMk xmlns:pc="http://schemas.microsoft.com/office/powerpoint/2013/main/command"/>
      <pc:sldMk xmlns:pc="http://schemas.microsoft.com/office/powerpoint/2013/main/command" cId="4216735888" sldId="288"/>
      <ac:spMk id="16" creationId="{C2418FF3-B3A7-4FAD-7E56-1E77123BDDBD}"/>
    </ac:deMkLst>
    <p188:replyLst>
      <p188:reply id="{75CB0D0E-CB60-4E1F-82C1-695A2D6ED705}" authorId="{C5CC6A58-EB9F-3601-BA4A-0BA6EE77644B}" created="2026-04-24T16:14:40.560">
        <p188:txBody>
          <a:bodyPr/>
          <a:lstStyle/>
          <a:p>
            <a:r>
              <a:rPr lang="pt-BR"/>
              <a:t>From the interview with Iram (Champion from smart metering)</a:t>
            </a:r>
          </a:p>
        </p188:txBody>
      </p188:reply>
      <p188:reply id="{C163588B-5AF7-1B40-964A-D4052FA02FEE}" authorId="{67DB39AB-BC3E-8A02-7D4E-C00B2BD6237D}" created="2026-04-25T22:43:19.044">
        <p188:txBody>
          <a:bodyPr/>
          <a:lstStyle/>
          <a:p>
            <a:r>
              <a:rPr lang="pt-BR"/>
              <a:t>I will check with them next week
</a:t>
            </a:r>
          </a:p>
        </p188:txBody>
      </p188:reply>
    </p188:replyLst>
    <p188:txBody>
      <a:bodyPr/>
      <a:lstStyle/>
      <a:p>
        <a:r>
          <a:rPr lang="en-US"/>
          <a:t>Donde hemos visto que se utilize PPM Now de smart metering? Que pantallazo o prueba tenemos de uso?</a:t>
        </a:r>
      </a:p>
    </p188:txBody>
  </p188:cm>
</p188:cmLst>
</file>

<file path=ppt/comments/modernComment_123_93BA62AB.xml><?xml version="1.0" encoding="utf-8"?>
<p188:cmLst xmlns:a="http://schemas.openxmlformats.org/drawingml/2006/main" xmlns:r="http://schemas.openxmlformats.org/officeDocument/2006/relationships" xmlns:p188="http://schemas.microsoft.com/office/powerpoint/2018/8/main">
  <p188:cm id="{9EFDA729-3A60-4434-930D-2738B62F134C}" authorId="{022A6F16-3653-42A3-75BE-9E5891C38EA9}" created="2026-04-24T04:40:09.836" startDate="2026-04-24T22:01:02.087" dueDate="2026-04-24T22:01:02.087" assignedTo="{67DB39AB-BC3E-8A02-7D4E-C00B2BD6237D}" title="@Gustavo Castellano ">
    <pc:sldMkLst xmlns:pc="http://schemas.microsoft.com/office/powerpoint/2013/main/command">
      <pc:docMk/>
      <pc:sldMk cId="2478465707" sldId="291"/>
    </pc:sldMkLst>
    <p188:replyLst>
      <p188:reply id="{7C6FA9EF-B8BE-4D4E-9C2F-790797D8E8F5}" authorId="{08AA367A-3FE0-CE15-1CF5-256A1C107FE1}" created="2026-04-24T22:01:02.087">
        <p188:txBody>
          <a:bodyPr/>
          <a:lstStyle/>
          <a:p>
            <a:r>
              <a:rPr lang="es-MX"/>
              <a:t>[@Gustavo Castellano] </a:t>
            </a:r>
          </a:p>
        </p188:txBody>
      </p188:reply>
      <p188:reply id="{7A6B02E0-E832-0849-9962-DA12E0678A7E}" authorId="{67DB39AB-BC3E-8A02-7D4E-C00B2BD6237D}" created="2026-04-25T23:00:51.161">
        <p188:txBody>
          <a:bodyPr/>
          <a:lstStyle/>
          <a:p>
            <a:r>
              <a:rPr lang="pt-BR"/>
              <a:t>Fixed - will check with Pablo and Bruno if everything that I added its all in place</a:t>
            </a:r>
          </a:p>
        </p188:txBody>
      </p188:reply>
    </p188:replyLst>
    <p188:txBody>
      <a:bodyPr/>
      <a:lstStyle/>
      <a:p>
        <a:r>
          <a:rPr lang="en-US"/>
          <a:t>Este es el area que trabaja pabloy  bruno, de verdad que no entiendo que esté en rojo y todos estos comentarios. Tampoco Andrew es un technical lead, es una persona que atiende tickets </a:t>
        </a:r>
      </a:p>
    </p188:txBody>
    <p188:extLst>
      <p:ext xmlns:p="http://schemas.openxmlformats.org/presentationml/2006/main" uri="{5BB2D875-25FF-4072-B9AC-8F64D62656EB}">
        <p228:taskDetails xmlns:p228="http://schemas.microsoft.com/office/powerpoint/2022/08/main">
          <p228:history>
            <p228:event time="2026-04-24T22:01:02.087" id="{47F34C00-068F-4A27-9BA8-EFE0F08398D3}">
              <p228:atrbtn authorId="{08AA367A-3FE0-CE15-1CF5-256A1C107FE1}"/>
              <p228:anchr>
                <p228:comment id="{7C6FA9EF-B8BE-4D4E-9C2F-790797D8E8F5}"/>
              </p228:anchr>
              <p228:add/>
            </p228:event>
            <p228:event time="2026-04-24T22:01:02.087" id="{9AC9A958-3CD5-4969-89EF-4A6DEFFF088C}">
              <p228:atrbtn authorId="{08AA367A-3FE0-CE15-1CF5-256A1C107FE1}"/>
              <p228:anchr>
                <p228:comment id="{7C6FA9EF-B8BE-4D4E-9C2F-790797D8E8F5}"/>
              </p228:anchr>
              <p228:asgn authorId="{67DB39AB-BC3E-8A02-7D4E-C00B2BD6237D}"/>
            </p228:event>
            <p228:event time="2026-04-24T22:01:02.087" id="{6606F12C-CFDD-4C4E-B20B-CECEAF101011}">
              <p228:atrbtn authorId="{08AA367A-3FE0-CE15-1CF5-256A1C107FE1}"/>
              <p228:anchr>
                <p228:comment id="{7C6FA9EF-B8BE-4D4E-9C2F-790797D8E8F5}"/>
              </p228:anchr>
              <p228:date stDt="2026-04-24T22:01:02.087" endDt="2026-04-24T22:01:02.087"/>
            </p228:event>
            <p228:event time="2026-04-24T22:01:02.087" id="{0B70B327-AEF8-4A8F-997F-49939329ACDB}">
              <p228:atrbtn authorId="{08AA367A-3FE0-CE15-1CF5-256A1C107FE1}"/>
              <p228:anchr>
                <p228:comment id="{7C6FA9EF-B8BE-4D4E-9C2F-790797D8E8F5}"/>
              </p228:anchr>
              <p228:title val="@Gustavo Castellano "/>
            </p228:event>
          </p228:history>
        </p228:taskDetails>
      </p:ext>
    </p188:extLst>
  </p188:cm>
</p188:cmLst>
</file>

<file path=ppt/comments/modernComment_124_7B53B7CD.xml><?xml version="1.0" encoding="utf-8"?>
<p188:cmLst xmlns:a="http://schemas.openxmlformats.org/drawingml/2006/main" xmlns:r="http://schemas.openxmlformats.org/officeDocument/2006/relationships" xmlns:p188="http://schemas.microsoft.com/office/powerpoint/2018/8/main">
  <p188:cm id="{3A5806F8-EAFB-4040-9CAF-E6C31621D9BA}" authorId="{022A6F16-3653-42A3-75BE-9E5891C38EA9}" created="2026-04-24T04:35:53.649">
    <pc:sldMkLst xmlns:pc="http://schemas.microsoft.com/office/powerpoint/2013/main/command">
      <pc:docMk/>
      <pc:sldMk cId="2069084109" sldId="292"/>
    </pc:sldMkLst>
    <p188:txBody>
      <a:bodyPr/>
      <a:lstStyle/>
      <a:p>
        <a:r>
          <a:rPr lang="en-US"/>
          <a:t>Lo mismo hagamos un despleigue de las areas del dpot que se iluminen aplicado a todo el drill down</a:t>
        </a:r>
      </a:p>
    </p188:txBody>
  </p188:cm>
</p188:cmLst>
</file>

<file path=ppt/comments/modernComment_126_E30F2003.xml><?xml version="1.0" encoding="utf-8"?>
<p188:cmLst xmlns:a="http://schemas.openxmlformats.org/drawingml/2006/main" xmlns:r="http://schemas.openxmlformats.org/officeDocument/2006/relationships" xmlns:p188="http://schemas.microsoft.com/office/powerpoint/2018/8/main">
  <p188:cm id="{62CF3E57-0125-4D11-AC95-78F0002A8AE0}" authorId="{022A6F16-3653-42A3-75BE-9E5891C38EA9}" created="2026-04-24T04:42:38.759" startDate="2026-04-24T22:01:55.226" dueDate="2026-04-24T22:01:55.226" assignedTo="{67DB39AB-BC3E-8A02-7D4E-C00B2BD6237D}" title="@Gustavo Castellano ">
    <pc:sldMkLst xmlns:pc="http://schemas.microsoft.com/office/powerpoint/2013/main/command">
      <pc:docMk/>
      <pc:sldMk cId="3809419267" sldId="294"/>
    </pc:sldMkLst>
    <p188:replyLst>
      <p188:reply id="{2080F54D-AA46-4382-B22A-C43F8E8FC6A3}" authorId="{08AA367A-3FE0-CE15-1CF5-256A1C107FE1}" created="2026-04-24T22:01:55.226">
        <p188:txBody>
          <a:bodyPr/>
          <a:lstStyle/>
          <a:p>
            <a:r>
              <a:rPr lang="es-MX"/>
              <a:t>[@Gustavo Castellano] </a:t>
            </a:r>
          </a:p>
        </p188:txBody>
      </p188:reply>
      <p188:reply id="{82FB2887-0B00-4F4B-9049-51DB4542E298}" authorId="{67DB39AB-BC3E-8A02-7D4E-C00B2BD6237D}" created="2026-04-25T23:02:03.079">
        <p188:txBody>
          <a:bodyPr/>
          <a:lstStyle/>
          <a:p>
            <a:r>
              <a:rPr lang="pt-BR"/>
              <a:t>will check on monday</a:t>
            </a:r>
          </a:p>
        </p188:txBody>
      </p188:reply>
    </p188:replyLst>
    <p188:txBody>
      <a:bodyPr/>
      <a:lstStyle/>
      <a:p>
        <a:r>
          <a:rPr lang="en-US"/>
          <a:t>No entiendo lo de PPM Now + Confluence me gustaría ver la evidencia para determinar que es la unica que utiliza </a:t>
        </a:r>
      </a:p>
    </p188:txBody>
    <p188:extLst>
      <p:ext xmlns:p="http://schemas.openxmlformats.org/presentationml/2006/main" uri="{5BB2D875-25FF-4072-B9AC-8F64D62656EB}">
        <p228:taskDetails xmlns:p228="http://schemas.microsoft.com/office/powerpoint/2022/08/main">
          <p228:history>
            <p228:event time="2026-04-24T22:01:55.226" id="{F815A750-3F62-4A8D-9C5A-CFBC80E1FE2C}">
              <p228:atrbtn authorId="{08AA367A-3FE0-CE15-1CF5-256A1C107FE1}"/>
              <p228:anchr>
                <p228:comment id="{2080F54D-AA46-4382-B22A-C43F8E8FC6A3}"/>
              </p228:anchr>
              <p228:add/>
            </p228:event>
            <p228:event time="2026-04-24T22:01:55.226" id="{5F9DE6F6-5200-472F-AACE-EFC3229B94A4}">
              <p228:atrbtn authorId="{08AA367A-3FE0-CE15-1CF5-256A1C107FE1}"/>
              <p228:anchr>
                <p228:comment id="{2080F54D-AA46-4382-B22A-C43F8E8FC6A3}"/>
              </p228:anchr>
              <p228:asgn authorId="{67DB39AB-BC3E-8A02-7D4E-C00B2BD6237D}"/>
            </p228:event>
            <p228:event time="2026-04-24T22:01:55.226" id="{4BA76704-C4AB-4595-ABC2-0176F3E44563}">
              <p228:atrbtn authorId="{08AA367A-3FE0-CE15-1CF5-256A1C107FE1}"/>
              <p228:anchr>
                <p228:comment id="{2080F54D-AA46-4382-B22A-C43F8E8FC6A3}"/>
              </p228:anchr>
              <p228:date stDt="2026-04-24T22:01:55.226" endDt="2026-04-24T22:01:55.226"/>
            </p228:event>
            <p228:event time="2026-04-24T22:01:55.226" id="{F83F8551-9AB7-4FDE-88E9-9CAF04D7E9AD}">
              <p228:atrbtn authorId="{08AA367A-3FE0-CE15-1CF5-256A1C107FE1}"/>
              <p228:anchr>
                <p228:comment id="{2080F54D-AA46-4382-B22A-C43F8E8FC6A3}"/>
              </p228:anchr>
              <p228:title val="@Gustavo Castellano "/>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0B6E4-9D7D-44D1-BA09-91501786EAA6}" type="datetimeFigureOut">
              <a:rPr lang="en-US" smtClean="0"/>
              <a:t>4/25/26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0CFED2-9709-4FC9-ABC4-AA1D773337AA}" type="slidenum">
              <a:rPr lang="en-US" smtClean="0"/>
              <a:t>‹nº›</a:t>
            </a:fld>
            <a:endParaRPr lang="en-US"/>
          </a:p>
        </p:txBody>
      </p:sp>
    </p:spTree>
    <p:extLst>
      <p:ext uri="{BB962C8B-B14F-4D97-AF65-F5344CB8AC3E}">
        <p14:creationId xmlns:p14="http://schemas.microsoft.com/office/powerpoint/2010/main" val="205282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pt-BR"/>
          </a:p>
        </p:txBody>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a:defRPr/>
            </a:pPr>
            <a:fld id="{F1CA40EA-03DA-B94C-9A0E-A28DB663F067}" type="slidenum">
              <a:rPr lang="es-ES" smtClean="0"/>
              <a:pPr>
                <a:defRPr/>
              </a:pPr>
              <a:t>1</a:t>
            </a:fld>
            <a:endParaRPr lang="es-ES"/>
          </a:p>
        </p:txBody>
      </p:sp>
    </p:spTree>
    <p:extLst>
      <p:ext uri="{BB962C8B-B14F-4D97-AF65-F5344CB8AC3E}">
        <p14:creationId xmlns:p14="http://schemas.microsoft.com/office/powerpoint/2010/main" val="15093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3AAF1-B3F0-10AE-A031-9B50EB3B6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9E901-7215-EFF1-1410-824318B07B78}"/>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3B37B07B-559F-B96B-3053-F16A636FAD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ECA4BD-A20E-737D-9C66-719E5443BA75}"/>
              </a:ext>
            </a:extLst>
          </p:cNvPr>
          <p:cNvSpPr>
            <a:spLocks noGrp="1"/>
          </p:cNvSpPr>
          <p:nvPr>
            <p:ph type="sldNum" sz="quarter" idx="5"/>
          </p:nvPr>
        </p:nvSpPr>
        <p:spPr/>
        <p:txBody>
          <a:bodyPr/>
          <a:lstStyle/>
          <a:p>
            <a:fld id="{F5EA62C3-F454-4F5D-AAB0-802A83F207C1}" type="slidenum">
              <a:rPr lang="en-US" smtClean="0"/>
              <a:t>2</a:t>
            </a:fld>
            <a:endParaRPr lang="en-US"/>
          </a:p>
        </p:txBody>
      </p:sp>
    </p:spTree>
    <p:extLst>
      <p:ext uri="{BB962C8B-B14F-4D97-AF65-F5344CB8AC3E}">
        <p14:creationId xmlns:p14="http://schemas.microsoft.com/office/powerpoint/2010/main" val="3162294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BF3C0-C137-6101-C67E-77E0307185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FE7FA2-902D-6760-0A32-E4077207C62E}"/>
              </a:ext>
            </a:extLst>
          </p:cNvPr>
          <p:cNvSpPr>
            <a:spLocks noGrp="1" noRot="1" noChangeAspect="1"/>
          </p:cNvSpPr>
          <p:nvPr>
            <p:ph type="sldImg"/>
          </p:nvPr>
        </p:nvSpPr>
        <p:spPr/>
        <p:txBody>
          <a:bodyPr/>
          <a:lstStyle/>
          <a:p>
            <a:endParaRPr lang="pt-BR"/>
          </a:p>
        </p:txBody>
      </p:sp>
      <p:sp>
        <p:nvSpPr>
          <p:cNvPr id="3" name="Marcador de notas 2">
            <a:extLst>
              <a:ext uri="{FF2B5EF4-FFF2-40B4-BE49-F238E27FC236}">
                <a16:creationId xmlns:a16="http://schemas.microsoft.com/office/drawing/2014/main" id="{9E627675-065B-3852-7FC5-920AC434EB4C}"/>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DA020A18-228E-1DB5-F993-57005BE9628D}"/>
              </a:ext>
            </a:extLst>
          </p:cNvPr>
          <p:cNvSpPr>
            <a:spLocks noGrp="1"/>
          </p:cNvSpPr>
          <p:nvPr>
            <p:ph type="sldNum" sz="quarter" idx="5"/>
          </p:nvPr>
        </p:nvSpPr>
        <p:spPr/>
        <p:txBody>
          <a:bodyPr/>
          <a:lstStyle/>
          <a:p>
            <a:fld id="{3ABF52DC-EC59-4DE1-BAC7-23B3848E6B8A}" type="slidenum">
              <a:rPr lang="en-US" smtClean="0"/>
              <a:pPr/>
              <a:t>3</a:t>
            </a:fld>
            <a:endParaRPr lang="en-US"/>
          </a:p>
        </p:txBody>
      </p:sp>
    </p:spTree>
    <p:extLst>
      <p:ext uri="{BB962C8B-B14F-4D97-AF65-F5344CB8AC3E}">
        <p14:creationId xmlns:p14="http://schemas.microsoft.com/office/powerpoint/2010/main" val="2816347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5A2B4-2C79-85D1-F298-17CF29FC1E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E217E5-9ED6-35FF-02A3-EDE970B0CCA5}"/>
              </a:ext>
            </a:extLst>
          </p:cNvPr>
          <p:cNvSpPr>
            <a:spLocks noGrp="1" noRot="1" noChangeAspect="1"/>
          </p:cNvSpPr>
          <p:nvPr>
            <p:ph type="sldImg"/>
          </p:nvPr>
        </p:nvSpPr>
        <p:spPr/>
        <p:txBody>
          <a:bodyPr/>
          <a:lstStyle/>
          <a:p>
            <a:endParaRPr lang="pt-BR"/>
          </a:p>
        </p:txBody>
      </p:sp>
      <p:sp>
        <p:nvSpPr>
          <p:cNvPr id="3" name="Marcador de notas 2">
            <a:extLst>
              <a:ext uri="{FF2B5EF4-FFF2-40B4-BE49-F238E27FC236}">
                <a16:creationId xmlns:a16="http://schemas.microsoft.com/office/drawing/2014/main" id="{4CBBDC44-EE30-AC9D-1FD7-07D19A451B1E}"/>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98669514-8902-28AC-7DCF-7D95755FDA0B}"/>
              </a:ext>
            </a:extLst>
          </p:cNvPr>
          <p:cNvSpPr>
            <a:spLocks noGrp="1"/>
          </p:cNvSpPr>
          <p:nvPr>
            <p:ph type="sldNum" sz="quarter" idx="5"/>
          </p:nvPr>
        </p:nvSpPr>
        <p:spPr/>
        <p:txBody>
          <a:bodyPr/>
          <a:lstStyle/>
          <a:p>
            <a:fld id="{3ABF52DC-EC59-4DE1-BAC7-23B3848E6B8A}" type="slidenum">
              <a:rPr lang="en-US" smtClean="0"/>
              <a:pPr/>
              <a:t>4</a:t>
            </a:fld>
            <a:endParaRPr lang="en-US"/>
          </a:p>
        </p:txBody>
      </p:sp>
    </p:spTree>
    <p:extLst>
      <p:ext uri="{BB962C8B-B14F-4D97-AF65-F5344CB8AC3E}">
        <p14:creationId xmlns:p14="http://schemas.microsoft.com/office/powerpoint/2010/main" val="1180976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24201-955B-23C9-DEDF-A624A3C5E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99468-424A-B0AA-2769-07B8F3BF4A77}"/>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CB16279C-A55F-51D9-AD45-A59C597DC8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2D9E5F-8655-7837-E4E9-7D8B20CDF879}"/>
              </a:ext>
            </a:extLst>
          </p:cNvPr>
          <p:cNvSpPr>
            <a:spLocks noGrp="1"/>
          </p:cNvSpPr>
          <p:nvPr>
            <p:ph type="sldNum" sz="quarter" idx="5"/>
          </p:nvPr>
        </p:nvSpPr>
        <p:spPr/>
        <p:txBody>
          <a:bodyPr/>
          <a:lstStyle/>
          <a:p>
            <a:fld id="{F5EA62C3-F454-4F5D-AAB0-802A83F207C1}" type="slidenum">
              <a:rPr lang="en-US" smtClean="0"/>
              <a:t>5</a:t>
            </a:fld>
            <a:endParaRPr lang="en-US"/>
          </a:p>
        </p:txBody>
      </p:sp>
    </p:spTree>
    <p:extLst>
      <p:ext uri="{BB962C8B-B14F-4D97-AF65-F5344CB8AC3E}">
        <p14:creationId xmlns:p14="http://schemas.microsoft.com/office/powerpoint/2010/main" val="2154038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0DBA0-99F3-4BBA-43C0-C5D0E8846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231E9-6A85-24D3-BA92-3A4216B4F4E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8076016-0AF4-07CC-76E3-9BA0FB5E0B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95D46C-16AD-455A-6E45-43DBB3B3CC91}"/>
              </a:ext>
            </a:extLst>
          </p:cNvPr>
          <p:cNvSpPr>
            <a:spLocks noGrp="1"/>
          </p:cNvSpPr>
          <p:nvPr>
            <p:ph type="sldNum" sz="quarter" idx="5"/>
          </p:nvPr>
        </p:nvSpPr>
        <p:spPr/>
        <p:txBody>
          <a:bodyPr/>
          <a:lstStyle/>
          <a:p>
            <a:fld id="{F5EA62C3-F454-4F5D-AAB0-802A83F207C1}" type="slidenum">
              <a:rPr lang="en-US" smtClean="0"/>
              <a:t>6</a:t>
            </a:fld>
            <a:endParaRPr lang="en-US"/>
          </a:p>
        </p:txBody>
      </p:sp>
    </p:spTree>
    <p:extLst>
      <p:ext uri="{BB962C8B-B14F-4D97-AF65-F5344CB8AC3E}">
        <p14:creationId xmlns:p14="http://schemas.microsoft.com/office/powerpoint/2010/main" val="668862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1EEB3-187D-0ABC-9196-D1BB5DDCDB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0C2496-62E0-67FB-B615-9591286614CD}"/>
              </a:ext>
            </a:extLst>
          </p:cNvPr>
          <p:cNvSpPr>
            <a:spLocks noGrp="1" noRot="1" noChangeAspect="1"/>
          </p:cNvSpPr>
          <p:nvPr>
            <p:ph type="sldImg"/>
          </p:nvPr>
        </p:nvSpPr>
        <p:spPr/>
        <p:txBody>
          <a:bodyPr/>
          <a:lstStyle/>
          <a:p>
            <a:endParaRPr lang="pt-BR"/>
          </a:p>
        </p:txBody>
      </p:sp>
      <p:sp>
        <p:nvSpPr>
          <p:cNvPr id="3" name="Marcador de notas 2">
            <a:extLst>
              <a:ext uri="{FF2B5EF4-FFF2-40B4-BE49-F238E27FC236}">
                <a16:creationId xmlns:a16="http://schemas.microsoft.com/office/drawing/2014/main" id="{F51E1F42-A738-C239-1A10-E9FD16C07BDB}"/>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2B46F701-4F8E-A173-7A5E-64C2B5986716}"/>
              </a:ext>
            </a:extLst>
          </p:cNvPr>
          <p:cNvSpPr>
            <a:spLocks noGrp="1"/>
          </p:cNvSpPr>
          <p:nvPr>
            <p:ph type="sldNum" sz="quarter" idx="5"/>
          </p:nvPr>
        </p:nvSpPr>
        <p:spPr/>
        <p:txBody>
          <a:bodyPr/>
          <a:lstStyle/>
          <a:p>
            <a:fld id="{3ABF52DC-EC59-4DE1-BAC7-23B3848E6B8A}" type="slidenum">
              <a:rPr lang="en-US" smtClean="0"/>
              <a:pPr/>
              <a:t>7</a:t>
            </a:fld>
            <a:endParaRPr lang="en-US"/>
          </a:p>
        </p:txBody>
      </p:sp>
    </p:spTree>
    <p:extLst>
      <p:ext uri="{BB962C8B-B14F-4D97-AF65-F5344CB8AC3E}">
        <p14:creationId xmlns:p14="http://schemas.microsoft.com/office/powerpoint/2010/main" val="158057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82986-A773-B342-0FF4-79B7A127DE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10279-9157-4254-02C5-B55084BC1527}"/>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63965CCB-A331-D7B7-B7E0-6FD7B3AE27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A3B7E1-D92C-B387-A0A3-2FEE239D1877}"/>
              </a:ext>
            </a:extLst>
          </p:cNvPr>
          <p:cNvSpPr>
            <a:spLocks noGrp="1"/>
          </p:cNvSpPr>
          <p:nvPr>
            <p:ph type="sldNum" sz="quarter" idx="5"/>
          </p:nvPr>
        </p:nvSpPr>
        <p:spPr/>
        <p:txBody>
          <a:bodyPr/>
          <a:lstStyle/>
          <a:p>
            <a:fld id="{F5EA62C3-F454-4F5D-AAB0-802A83F207C1}" type="slidenum">
              <a:rPr lang="en-US" smtClean="0"/>
              <a:t>8</a:t>
            </a:fld>
            <a:endParaRPr lang="en-US"/>
          </a:p>
        </p:txBody>
      </p:sp>
    </p:spTree>
    <p:extLst>
      <p:ext uri="{BB962C8B-B14F-4D97-AF65-F5344CB8AC3E}">
        <p14:creationId xmlns:p14="http://schemas.microsoft.com/office/powerpoint/2010/main" val="3075635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9BB0B-4837-EFC1-E637-8CE549884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5F2CC-4A85-451B-0698-8D49F7F09EE4}"/>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233179C7-B911-C3CD-8725-E8B8731D46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89AEFD-4D09-4D52-5D70-766FBBEF599B}"/>
              </a:ext>
            </a:extLst>
          </p:cNvPr>
          <p:cNvSpPr>
            <a:spLocks noGrp="1"/>
          </p:cNvSpPr>
          <p:nvPr>
            <p:ph type="sldNum" sz="quarter" idx="5"/>
          </p:nvPr>
        </p:nvSpPr>
        <p:spPr/>
        <p:txBody>
          <a:bodyPr/>
          <a:lstStyle/>
          <a:p>
            <a:fld id="{F5EA62C3-F454-4F5D-AAB0-802A83F207C1}" type="slidenum">
              <a:rPr lang="en-US" smtClean="0"/>
              <a:t>9</a:t>
            </a:fld>
            <a:endParaRPr lang="en-US"/>
          </a:p>
        </p:txBody>
      </p:sp>
    </p:spTree>
    <p:extLst>
      <p:ext uri="{BB962C8B-B14F-4D97-AF65-F5344CB8AC3E}">
        <p14:creationId xmlns:p14="http://schemas.microsoft.com/office/powerpoint/2010/main" val="3372869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5B8FE-03E9-34DC-4F66-20B53106B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4E616-4A19-C144-9A14-DB83EC1FB9AF}"/>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ACE79B22-02B7-A136-CEB2-FE8A44062A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BE0FB4-FB39-1C37-B2BD-548B21D26C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3934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B2712-40F5-A801-20A0-16F63A03D83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8D32007-3D72-2E10-4A50-5D8B0AD1EEF8}"/>
              </a:ext>
            </a:extLst>
          </p:cNvPr>
          <p:cNvSpPr>
            <a:spLocks noGrp="1" noRot="1" noChangeAspect="1"/>
          </p:cNvSpPr>
          <p:nvPr>
            <p:ph type="sldImg"/>
          </p:nvPr>
        </p:nvSpPr>
        <p:spPr/>
        <p:txBody>
          <a:bodyPr/>
          <a:lstStyle/>
          <a:p>
            <a:endParaRPr lang="es-MX"/>
          </a:p>
        </p:txBody>
      </p:sp>
      <p:sp>
        <p:nvSpPr>
          <p:cNvPr id="3" name="Espaço Reservado para Anotações 2">
            <a:extLst>
              <a:ext uri="{FF2B5EF4-FFF2-40B4-BE49-F238E27FC236}">
                <a16:creationId xmlns:a16="http://schemas.microsoft.com/office/drawing/2014/main" id="{B13181ED-CBBF-B089-155F-BE86464AB875}"/>
              </a:ext>
            </a:extLst>
          </p:cNvPr>
          <p:cNvSpPr>
            <a:spLocks noGrp="1"/>
          </p:cNvSpPr>
          <p:nvPr>
            <p:ph type="body" idx="1"/>
          </p:nvPr>
        </p:nvSpPr>
        <p:spPr/>
        <p:txBody>
          <a:bodyPr/>
          <a:lstStyle/>
          <a:p>
            <a:endParaRPr lang="en-US">
              <a:solidFill>
                <a:srgbClr val="000000"/>
              </a:solidFill>
              <a:latin typeface="Aptos" panose="02110004020202020204"/>
              <a:ea typeface="Calibri"/>
              <a:cs typeface="Calibri"/>
            </a:endParaRPr>
          </a:p>
          <a:p>
            <a:endParaRPr lang="en-US">
              <a:solidFill>
                <a:srgbClr val="000000"/>
              </a:solidFill>
              <a:latin typeface="Aptos" panose="02110004020202020204"/>
              <a:ea typeface="Calibri"/>
              <a:cs typeface="Calibri"/>
            </a:endParaRPr>
          </a:p>
          <a:p>
            <a:endParaRPr lang="en-US" b="1">
              <a:solidFill>
                <a:srgbClr val="BFBFBF"/>
              </a:solidFill>
              <a:highlight>
                <a:srgbClr val="191A1B"/>
              </a:highlight>
              <a:latin typeface="Aptos" panose="02110004020202020204"/>
              <a:ea typeface="Calibri"/>
              <a:cs typeface="Calibri"/>
            </a:endParaRPr>
          </a:p>
          <a:p>
            <a:endParaRPr lang="en-US">
              <a:latin typeface="Calibri"/>
              <a:ea typeface="Calibri"/>
              <a:cs typeface="Calibri"/>
            </a:endParaRPr>
          </a:p>
        </p:txBody>
      </p:sp>
      <p:sp>
        <p:nvSpPr>
          <p:cNvPr id="4" name="Espaço Reservado para Número de Slide 3">
            <a:extLst>
              <a:ext uri="{FF2B5EF4-FFF2-40B4-BE49-F238E27FC236}">
                <a16:creationId xmlns:a16="http://schemas.microsoft.com/office/drawing/2014/main" id="{62E4799E-3101-8FBA-4C58-747A4D7D01A4}"/>
              </a:ext>
            </a:extLst>
          </p:cNvPr>
          <p:cNvSpPr>
            <a:spLocks noGrp="1"/>
          </p:cNvSpPr>
          <p:nvPr>
            <p:ph type="sldNum" sz="quarter" idx="5"/>
          </p:nvPr>
        </p:nvSpPr>
        <p:spPr/>
        <p:txBody>
          <a:bodyPr/>
          <a:lstStyle/>
          <a:p>
            <a:fld id="{BC0CFED2-9709-4FC9-ABC4-AA1D773337AA}" type="slidenum">
              <a:rPr lang="en-US" smtClean="0"/>
              <a:t>11</a:t>
            </a:fld>
            <a:endParaRPr lang="en-US"/>
          </a:p>
        </p:txBody>
      </p:sp>
    </p:spTree>
    <p:extLst>
      <p:ext uri="{BB962C8B-B14F-4D97-AF65-F5344CB8AC3E}">
        <p14:creationId xmlns:p14="http://schemas.microsoft.com/office/powerpoint/2010/main" val="662381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23F77-DBEF-3316-421A-EEEC0C3376F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C84A99-4F00-E13A-50A4-D107A7EE9362}"/>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6E34A832-9FFF-0248-D07F-C3E3370F39AD}"/>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B2A643C7-9389-CE86-128C-627B9CFB5C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0CFED2-9709-4FC9-ABC4-AA1D773337A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001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F27AE-2B5A-8484-CEC2-F21EEE6BB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754AD-0322-CA73-81F4-62C6B9E4853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BB22035-B319-0E80-8533-68B7B2D76E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8AD4F3-00A5-9E9D-BE85-0089A64901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0CFED2-9709-4FC9-ABC4-AA1D773337A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2672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37080-33D6-0ECB-C1BF-C30B94733C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D35FDC-C9E5-4E7C-E0F5-FE25511FF054}"/>
              </a:ext>
            </a:extLst>
          </p:cNvPr>
          <p:cNvSpPr>
            <a:spLocks noGrp="1" noRot="1" noChangeAspect="1"/>
          </p:cNvSpPr>
          <p:nvPr>
            <p:ph type="sldImg"/>
          </p:nvPr>
        </p:nvSpPr>
        <p:spPr/>
        <p:txBody>
          <a:bodyPr/>
          <a:lstStyle/>
          <a:p>
            <a:endParaRPr lang="pt-BR"/>
          </a:p>
        </p:txBody>
      </p:sp>
      <p:sp>
        <p:nvSpPr>
          <p:cNvPr id="3" name="Marcador de notas 2">
            <a:extLst>
              <a:ext uri="{FF2B5EF4-FFF2-40B4-BE49-F238E27FC236}">
                <a16:creationId xmlns:a16="http://schemas.microsoft.com/office/drawing/2014/main" id="{07BB44A1-418C-95D3-8867-37D78A4A4A2D}"/>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4743DDB9-4646-A2D7-D2C9-C8876D715A1B}"/>
              </a:ext>
            </a:extLst>
          </p:cNvPr>
          <p:cNvSpPr>
            <a:spLocks noGrp="1"/>
          </p:cNvSpPr>
          <p:nvPr>
            <p:ph type="sldNum" sz="quarter" idx="5"/>
          </p:nvPr>
        </p:nvSpPr>
        <p:spPr/>
        <p:txBody>
          <a:bodyPr/>
          <a:lstStyle/>
          <a:p>
            <a:fld id="{3ABF52DC-EC59-4DE1-BAC7-23B3848E6B8A}" type="slidenum">
              <a:rPr lang="en-US" smtClean="0"/>
              <a:pPr/>
              <a:t>16</a:t>
            </a:fld>
            <a:endParaRPr lang="en-US"/>
          </a:p>
        </p:txBody>
      </p:sp>
    </p:spTree>
    <p:extLst>
      <p:ext uri="{BB962C8B-B14F-4D97-AF65-F5344CB8AC3E}">
        <p14:creationId xmlns:p14="http://schemas.microsoft.com/office/powerpoint/2010/main" val="2218072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898A2-9DD5-31A6-BEFE-FEA96CEF7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B5D2C-0B5C-468E-1944-64F8910E9C70}"/>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C7194E67-1FEA-2533-A124-B882CFDC19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CF3F73-CEA7-537B-0955-154787286D8F}"/>
              </a:ext>
            </a:extLst>
          </p:cNvPr>
          <p:cNvSpPr>
            <a:spLocks noGrp="1"/>
          </p:cNvSpPr>
          <p:nvPr>
            <p:ph type="sldNum" sz="quarter" idx="5"/>
          </p:nvPr>
        </p:nvSpPr>
        <p:spPr/>
        <p:txBody>
          <a:bodyPr/>
          <a:lstStyle/>
          <a:p>
            <a:fld id="{F5EA62C3-F454-4F5D-AAB0-802A83F207C1}" type="slidenum">
              <a:rPr lang="en-US" smtClean="0"/>
              <a:t>17</a:t>
            </a:fld>
            <a:endParaRPr lang="en-US"/>
          </a:p>
        </p:txBody>
      </p:sp>
    </p:spTree>
    <p:extLst>
      <p:ext uri="{BB962C8B-B14F-4D97-AF65-F5344CB8AC3E}">
        <p14:creationId xmlns:p14="http://schemas.microsoft.com/office/powerpoint/2010/main" val="27374997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F3E38-F7F2-3286-45DE-E952C2C87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85DA1-771D-BCA9-2156-7CE0A6B67434}"/>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B143CAD4-A4A4-6142-2C0E-3845343F9D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EB2963-5420-7FFB-EABE-14FD296B6465}"/>
              </a:ext>
            </a:extLst>
          </p:cNvPr>
          <p:cNvSpPr>
            <a:spLocks noGrp="1"/>
          </p:cNvSpPr>
          <p:nvPr>
            <p:ph type="sldNum" sz="quarter" idx="5"/>
          </p:nvPr>
        </p:nvSpPr>
        <p:spPr/>
        <p:txBody>
          <a:bodyPr/>
          <a:lstStyle/>
          <a:p>
            <a:fld id="{F5EA62C3-F454-4F5D-AAB0-802A83F207C1}" type="slidenum">
              <a:rPr lang="en-US" smtClean="0"/>
              <a:t>18</a:t>
            </a:fld>
            <a:endParaRPr lang="en-US"/>
          </a:p>
        </p:txBody>
      </p:sp>
    </p:spTree>
    <p:extLst>
      <p:ext uri="{BB962C8B-B14F-4D97-AF65-F5344CB8AC3E}">
        <p14:creationId xmlns:p14="http://schemas.microsoft.com/office/powerpoint/2010/main" val="699983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829B-DE6F-9F7B-5CE8-5CE141C0710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11624E-FDBA-897E-FB61-7E6EE0786A66}"/>
              </a:ext>
            </a:extLst>
          </p:cNvPr>
          <p:cNvSpPr>
            <a:spLocks noGrp="1" noRot="1" noChangeAspect="1"/>
          </p:cNvSpPr>
          <p:nvPr>
            <p:ph type="sldImg"/>
          </p:nvPr>
        </p:nvSpPr>
        <p:spPr/>
        <p:txBody>
          <a:bodyPr/>
          <a:lstStyle/>
          <a:p>
            <a:endParaRPr lang="pt-BR"/>
          </a:p>
        </p:txBody>
      </p:sp>
      <p:sp>
        <p:nvSpPr>
          <p:cNvPr id="3" name="Marcador de notas 2">
            <a:extLst>
              <a:ext uri="{FF2B5EF4-FFF2-40B4-BE49-F238E27FC236}">
                <a16:creationId xmlns:a16="http://schemas.microsoft.com/office/drawing/2014/main" id="{0A7C6233-0D37-921D-5166-07337ACBB3E6}"/>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DD88764-1B20-3A51-408F-0A5C9EE6EEDE}"/>
              </a:ext>
            </a:extLst>
          </p:cNvPr>
          <p:cNvSpPr>
            <a:spLocks noGrp="1"/>
          </p:cNvSpPr>
          <p:nvPr>
            <p:ph type="sldNum" sz="quarter" idx="5"/>
          </p:nvPr>
        </p:nvSpPr>
        <p:spPr/>
        <p:txBody>
          <a:bodyPr/>
          <a:lstStyle/>
          <a:p>
            <a:fld id="{3ABF52DC-EC59-4DE1-BAC7-23B3848E6B8A}" type="slidenum">
              <a:rPr lang="en-US" smtClean="0"/>
              <a:pPr/>
              <a:t>19</a:t>
            </a:fld>
            <a:endParaRPr lang="en-US"/>
          </a:p>
        </p:txBody>
      </p:sp>
    </p:spTree>
    <p:extLst>
      <p:ext uri="{BB962C8B-B14F-4D97-AF65-F5344CB8AC3E}">
        <p14:creationId xmlns:p14="http://schemas.microsoft.com/office/powerpoint/2010/main" val="3383185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B0FFE-C3A1-CE76-FB6A-100CDD94C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ABC1E-BBAD-3460-93C2-DA26EA452EC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EB052E3-17E0-64C2-82BB-B39718E2B0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054092-492F-0D2F-81E3-3ADDBA3409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56757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E004-A54B-93D9-D2E2-EFCA7C4D7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1BEB8-DB41-C79B-9CCC-64136FA0F2FF}"/>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953E262F-27DE-D28B-56B1-9A3B60C101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ED26A5-5261-C7A1-1B44-D1C8499C4A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5352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85A1-DDB0-5DEC-CB10-B93517CF1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95FE6-065F-59C1-4151-8518020E0246}"/>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BC4B5FB2-BA18-7CDE-2A0C-25B85FBD0A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C0B821-D9F5-C46B-28D6-E5856E6A7DBE}"/>
              </a:ext>
            </a:extLst>
          </p:cNvPr>
          <p:cNvSpPr>
            <a:spLocks noGrp="1"/>
          </p:cNvSpPr>
          <p:nvPr>
            <p:ph type="sldNum" sz="quarter" idx="5"/>
          </p:nvPr>
        </p:nvSpPr>
        <p:spPr/>
        <p:txBody>
          <a:bodyPr/>
          <a:lstStyle/>
          <a:p>
            <a:fld id="{F5EA62C3-F454-4F5D-AAB0-802A83F207C1}" type="slidenum">
              <a:rPr lang="en-US" smtClean="0"/>
              <a:t>22</a:t>
            </a:fld>
            <a:endParaRPr lang="en-US"/>
          </a:p>
        </p:txBody>
      </p:sp>
    </p:spTree>
    <p:extLst>
      <p:ext uri="{BB962C8B-B14F-4D97-AF65-F5344CB8AC3E}">
        <p14:creationId xmlns:p14="http://schemas.microsoft.com/office/powerpoint/2010/main" val="39383231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62CD6-79B5-0AAA-644E-33DF705D7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616F2-46EB-1B74-A069-AB05F2E8A6EC}"/>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E906ACAC-3461-2A33-6E43-3FB430B5E9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F44BF7-772F-E5D8-FEA7-7E45DEAE4477}"/>
              </a:ext>
            </a:extLst>
          </p:cNvPr>
          <p:cNvSpPr>
            <a:spLocks noGrp="1"/>
          </p:cNvSpPr>
          <p:nvPr>
            <p:ph type="sldNum" sz="quarter" idx="5"/>
          </p:nvPr>
        </p:nvSpPr>
        <p:spPr/>
        <p:txBody>
          <a:bodyPr/>
          <a:lstStyle/>
          <a:p>
            <a:fld id="{F5EA62C3-F454-4F5D-AAB0-802A83F207C1}" type="slidenum">
              <a:rPr lang="en-US" smtClean="0"/>
              <a:t>23</a:t>
            </a:fld>
            <a:endParaRPr lang="en-US"/>
          </a:p>
        </p:txBody>
      </p:sp>
    </p:spTree>
    <p:extLst>
      <p:ext uri="{BB962C8B-B14F-4D97-AF65-F5344CB8AC3E}">
        <p14:creationId xmlns:p14="http://schemas.microsoft.com/office/powerpoint/2010/main" val="1971331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CBBB5-ACE4-8CA8-3BE2-DF8B1A956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045DE-F6CD-C13B-2E2D-1D67B8DE5143}"/>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67DBA6B7-E523-256B-CCFF-6B66EF88FD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615ED0-B103-73CC-AD0D-5BE40AF9BDED}"/>
              </a:ext>
            </a:extLst>
          </p:cNvPr>
          <p:cNvSpPr>
            <a:spLocks noGrp="1"/>
          </p:cNvSpPr>
          <p:nvPr>
            <p:ph type="sldNum" sz="quarter" idx="5"/>
          </p:nvPr>
        </p:nvSpPr>
        <p:spPr/>
        <p:txBody>
          <a:bodyPr/>
          <a:lstStyle/>
          <a:p>
            <a:fld id="{F5EA62C3-F454-4F5D-AAB0-802A83F207C1}" type="slidenum">
              <a:rPr lang="en-US" smtClean="0"/>
              <a:t>24</a:t>
            </a:fld>
            <a:endParaRPr lang="en-US"/>
          </a:p>
        </p:txBody>
      </p:sp>
    </p:spTree>
    <p:extLst>
      <p:ext uri="{BB962C8B-B14F-4D97-AF65-F5344CB8AC3E}">
        <p14:creationId xmlns:p14="http://schemas.microsoft.com/office/powerpoint/2010/main" val="2777739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6597-9CDC-F6DA-9ECF-1926A100E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5B6DD-9736-E45B-DD99-1F5C8392B2F0}"/>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DB3E0C7E-B5B0-D81F-595E-BD5180657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00B8A5-7560-A74E-D2A7-6F2596E5B858}"/>
              </a:ext>
            </a:extLst>
          </p:cNvPr>
          <p:cNvSpPr>
            <a:spLocks noGrp="1"/>
          </p:cNvSpPr>
          <p:nvPr>
            <p:ph type="sldNum" sz="quarter" idx="5"/>
          </p:nvPr>
        </p:nvSpPr>
        <p:spPr/>
        <p:txBody>
          <a:bodyPr/>
          <a:lstStyle/>
          <a:p>
            <a:fld id="{F5EA62C3-F454-4F5D-AAB0-802A83F207C1}" type="slidenum">
              <a:rPr lang="en-US" smtClean="0"/>
              <a:t>25</a:t>
            </a:fld>
            <a:endParaRPr lang="en-US"/>
          </a:p>
        </p:txBody>
      </p:sp>
    </p:spTree>
    <p:extLst>
      <p:ext uri="{BB962C8B-B14F-4D97-AF65-F5344CB8AC3E}">
        <p14:creationId xmlns:p14="http://schemas.microsoft.com/office/powerpoint/2010/main" val="18995422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70609-B3C9-E3B9-5BC7-6F7458FDA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0F231-BCD8-1ED7-0D74-B9C10F41AB2B}"/>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CC7CC1DD-1A6C-B9A9-433E-EED872830B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3156C4-CAB0-1453-8432-178449142280}"/>
              </a:ext>
            </a:extLst>
          </p:cNvPr>
          <p:cNvSpPr>
            <a:spLocks noGrp="1"/>
          </p:cNvSpPr>
          <p:nvPr>
            <p:ph type="sldNum" sz="quarter" idx="5"/>
          </p:nvPr>
        </p:nvSpPr>
        <p:spPr/>
        <p:txBody>
          <a:bodyPr/>
          <a:lstStyle/>
          <a:p>
            <a:fld id="{F5EA62C3-F454-4F5D-AAB0-802A83F207C1}" type="slidenum">
              <a:rPr lang="en-US" smtClean="0"/>
              <a:t>26</a:t>
            </a:fld>
            <a:endParaRPr lang="en-US"/>
          </a:p>
        </p:txBody>
      </p:sp>
    </p:spTree>
    <p:extLst>
      <p:ext uri="{BB962C8B-B14F-4D97-AF65-F5344CB8AC3E}">
        <p14:creationId xmlns:p14="http://schemas.microsoft.com/office/powerpoint/2010/main" val="2055732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87FB0-93F7-CDE7-78D2-DA421AD95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EFF1-3331-5BBA-12EB-4587524F8E2C}"/>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E6D6CCE9-54F6-62C5-C33D-5DA47852A3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77E29F-AF6B-96AB-F3FD-D711DDE1D200}"/>
              </a:ext>
            </a:extLst>
          </p:cNvPr>
          <p:cNvSpPr>
            <a:spLocks noGrp="1"/>
          </p:cNvSpPr>
          <p:nvPr>
            <p:ph type="sldNum" sz="quarter" idx="5"/>
          </p:nvPr>
        </p:nvSpPr>
        <p:spPr/>
        <p:txBody>
          <a:bodyPr/>
          <a:lstStyle/>
          <a:p>
            <a:fld id="{F5EA62C3-F454-4F5D-AAB0-802A83F207C1}" type="slidenum">
              <a:rPr lang="en-US" smtClean="0"/>
              <a:t>27</a:t>
            </a:fld>
            <a:endParaRPr lang="en-US"/>
          </a:p>
        </p:txBody>
      </p:sp>
    </p:spTree>
    <p:extLst>
      <p:ext uri="{BB962C8B-B14F-4D97-AF65-F5344CB8AC3E}">
        <p14:creationId xmlns:p14="http://schemas.microsoft.com/office/powerpoint/2010/main" val="625683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1B29C-FCB6-2A07-0696-81392688E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AA29C-B2F3-B1E5-A891-F22B22E43F78}"/>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3BFBD03D-EE8C-0D34-7EB3-C744C4BA68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699EF7-8BEC-C02C-5A29-193226875B3F}"/>
              </a:ext>
            </a:extLst>
          </p:cNvPr>
          <p:cNvSpPr>
            <a:spLocks noGrp="1"/>
          </p:cNvSpPr>
          <p:nvPr>
            <p:ph type="sldNum" sz="quarter" idx="5"/>
          </p:nvPr>
        </p:nvSpPr>
        <p:spPr/>
        <p:txBody>
          <a:bodyPr/>
          <a:lstStyle/>
          <a:p>
            <a:fld id="{F5EA62C3-F454-4F5D-AAB0-802A83F207C1}" type="slidenum">
              <a:rPr lang="en-US" smtClean="0"/>
              <a:t>28</a:t>
            </a:fld>
            <a:endParaRPr lang="en-US"/>
          </a:p>
        </p:txBody>
      </p:sp>
    </p:spTree>
    <p:extLst>
      <p:ext uri="{BB962C8B-B14F-4D97-AF65-F5344CB8AC3E}">
        <p14:creationId xmlns:p14="http://schemas.microsoft.com/office/powerpoint/2010/main" val="28739195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A8AE-2FFB-C9A1-A989-56DE6196C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2BA5A-DA2B-C894-CBCB-5D08CB55B5F7}"/>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5D651ADF-F1A4-6F16-08AB-7A9443B00B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919E09-B3E9-57BF-14F9-E6E196389A20}"/>
              </a:ext>
            </a:extLst>
          </p:cNvPr>
          <p:cNvSpPr>
            <a:spLocks noGrp="1"/>
          </p:cNvSpPr>
          <p:nvPr>
            <p:ph type="sldNum" sz="quarter" idx="5"/>
          </p:nvPr>
        </p:nvSpPr>
        <p:spPr/>
        <p:txBody>
          <a:bodyPr/>
          <a:lstStyle/>
          <a:p>
            <a:fld id="{F5EA62C3-F454-4F5D-AAB0-802A83F207C1}" type="slidenum">
              <a:rPr lang="en-US" smtClean="0"/>
              <a:t>29</a:t>
            </a:fld>
            <a:endParaRPr lang="en-US"/>
          </a:p>
        </p:txBody>
      </p:sp>
    </p:spTree>
    <p:extLst>
      <p:ext uri="{BB962C8B-B14F-4D97-AF65-F5344CB8AC3E}">
        <p14:creationId xmlns:p14="http://schemas.microsoft.com/office/powerpoint/2010/main" val="1750809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6CAF0-F13B-1815-0211-266F78210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E86F9-19FE-683A-1D36-25911FE9397A}"/>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ED30D374-8624-203B-651D-5EB01E3C77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022B88-0741-D4E1-F6D7-6526656A73E1}"/>
              </a:ext>
            </a:extLst>
          </p:cNvPr>
          <p:cNvSpPr>
            <a:spLocks noGrp="1"/>
          </p:cNvSpPr>
          <p:nvPr>
            <p:ph type="sldNum" sz="quarter" idx="5"/>
          </p:nvPr>
        </p:nvSpPr>
        <p:spPr/>
        <p:txBody>
          <a:bodyPr/>
          <a:lstStyle/>
          <a:p>
            <a:fld id="{F5EA62C3-F454-4F5D-AAB0-802A83F207C1}" type="slidenum">
              <a:rPr lang="en-US" smtClean="0"/>
              <a:t>30</a:t>
            </a:fld>
            <a:endParaRPr lang="en-US"/>
          </a:p>
        </p:txBody>
      </p:sp>
    </p:spTree>
    <p:extLst>
      <p:ext uri="{BB962C8B-B14F-4D97-AF65-F5344CB8AC3E}">
        <p14:creationId xmlns:p14="http://schemas.microsoft.com/office/powerpoint/2010/main" val="7172649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F244-7CD1-FE3D-33AB-12DA1A11E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0C605-E225-608E-1D44-6C3CA66E6A68}"/>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EAC758D9-FF5E-DC2D-2ABE-75E4CFCD61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3C5C42-1E21-7A4F-2EE6-B570E56E0459}"/>
              </a:ext>
            </a:extLst>
          </p:cNvPr>
          <p:cNvSpPr>
            <a:spLocks noGrp="1"/>
          </p:cNvSpPr>
          <p:nvPr>
            <p:ph type="sldNum" sz="quarter" idx="5"/>
          </p:nvPr>
        </p:nvSpPr>
        <p:spPr/>
        <p:txBody>
          <a:bodyPr/>
          <a:lstStyle/>
          <a:p>
            <a:fld id="{F5EA62C3-F454-4F5D-AAB0-802A83F207C1}" type="slidenum">
              <a:rPr lang="en-US" smtClean="0"/>
              <a:t>31</a:t>
            </a:fld>
            <a:endParaRPr lang="en-US"/>
          </a:p>
        </p:txBody>
      </p:sp>
    </p:spTree>
    <p:extLst>
      <p:ext uri="{BB962C8B-B14F-4D97-AF65-F5344CB8AC3E}">
        <p14:creationId xmlns:p14="http://schemas.microsoft.com/office/powerpoint/2010/main" val="1541682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2B3D8-D91E-3977-E2BD-C4735852F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4112A-4FBE-605A-B8F2-3E8C59DA0D17}"/>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15DD39E9-4D96-78A7-6784-40B4AD2088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FE1B29-B3EF-4BFE-3EA9-024390626378}"/>
              </a:ext>
            </a:extLst>
          </p:cNvPr>
          <p:cNvSpPr>
            <a:spLocks noGrp="1"/>
          </p:cNvSpPr>
          <p:nvPr>
            <p:ph type="sldNum" sz="quarter" idx="5"/>
          </p:nvPr>
        </p:nvSpPr>
        <p:spPr/>
        <p:txBody>
          <a:bodyPr/>
          <a:lstStyle/>
          <a:p>
            <a:fld id="{F5EA62C3-F454-4F5D-AAB0-802A83F207C1}" type="slidenum">
              <a:rPr lang="en-US" smtClean="0"/>
              <a:t>32</a:t>
            </a:fld>
            <a:endParaRPr lang="en-US"/>
          </a:p>
        </p:txBody>
      </p:sp>
    </p:spTree>
    <p:extLst>
      <p:ext uri="{BB962C8B-B14F-4D97-AF65-F5344CB8AC3E}">
        <p14:creationId xmlns:p14="http://schemas.microsoft.com/office/powerpoint/2010/main" val="30701448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7058-A32E-53C5-D936-3048FC901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DCF1C-84D7-18E2-A161-F90F6F4EB9A6}"/>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5BC2F8A4-1EB6-1075-A220-5D89C0D53F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74BD6D-CE53-8FD9-94F9-0F0E177150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1569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5B432-8BA7-8DDC-DF46-CFC05C9283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C89165-27F4-31D3-F6FF-3660B42EE95C}"/>
              </a:ext>
            </a:extLst>
          </p:cNvPr>
          <p:cNvSpPr>
            <a:spLocks noGrp="1" noRot="1" noChangeAspect="1"/>
          </p:cNvSpPr>
          <p:nvPr>
            <p:ph type="sldImg"/>
          </p:nvPr>
        </p:nvSpPr>
        <p:spPr/>
        <p:txBody>
          <a:bodyPr/>
          <a:lstStyle/>
          <a:p>
            <a:endParaRPr lang="pt-BR"/>
          </a:p>
        </p:txBody>
      </p:sp>
      <p:sp>
        <p:nvSpPr>
          <p:cNvPr id="3" name="Marcador de notas 2">
            <a:extLst>
              <a:ext uri="{FF2B5EF4-FFF2-40B4-BE49-F238E27FC236}">
                <a16:creationId xmlns:a16="http://schemas.microsoft.com/office/drawing/2014/main" id="{D3243831-F12F-6F13-533C-3411121D8A9F}"/>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3FA76DAE-AD06-5F21-C382-5AFA78DAD15D}"/>
              </a:ext>
            </a:extLst>
          </p:cNvPr>
          <p:cNvSpPr>
            <a:spLocks noGrp="1"/>
          </p:cNvSpPr>
          <p:nvPr>
            <p:ph type="sldNum" sz="quarter" idx="5"/>
          </p:nvPr>
        </p:nvSpPr>
        <p:spPr/>
        <p:txBody>
          <a:bodyPr/>
          <a:lstStyle/>
          <a:p>
            <a:fld id="{3ABF52DC-EC59-4DE1-BAC7-23B3848E6B8A}" type="slidenum">
              <a:rPr lang="en-US" smtClean="0"/>
              <a:pPr/>
              <a:t>34</a:t>
            </a:fld>
            <a:endParaRPr lang="en-US"/>
          </a:p>
        </p:txBody>
      </p:sp>
    </p:spTree>
    <p:extLst>
      <p:ext uri="{BB962C8B-B14F-4D97-AF65-F5344CB8AC3E}">
        <p14:creationId xmlns:p14="http://schemas.microsoft.com/office/powerpoint/2010/main" val="17745631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7896B-8272-FD14-9851-4695A057FD3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B234D63-2889-5AC8-E4DC-64DE2EDAC74A}"/>
              </a:ext>
            </a:extLst>
          </p:cNvPr>
          <p:cNvSpPr>
            <a:spLocks noGrp="1" noRot="1" noChangeAspect="1"/>
          </p:cNvSpPr>
          <p:nvPr>
            <p:ph type="sldImg"/>
          </p:nvPr>
        </p:nvSpPr>
        <p:spPr/>
        <p:txBody>
          <a:bodyPr/>
          <a:lstStyle/>
          <a:p>
            <a:endParaRPr lang="es-MX"/>
          </a:p>
        </p:txBody>
      </p:sp>
      <p:sp>
        <p:nvSpPr>
          <p:cNvPr id="3" name="Espaço Reservado para Anotações 2">
            <a:extLst>
              <a:ext uri="{FF2B5EF4-FFF2-40B4-BE49-F238E27FC236}">
                <a16:creationId xmlns:a16="http://schemas.microsoft.com/office/drawing/2014/main" id="{3FFFEBDF-55FD-B50F-F310-15017BBC7BDB}"/>
              </a:ext>
            </a:extLst>
          </p:cNvPr>
          <p:cNvSpPr>
            <a:spLocks noGrp="1"/>
          </p:cNvSpPr>
          <p:nvPr>
            <p:ph type="body" idx="1"/>
          </p:nvPr>
        </p:nvSpPr>
        <p:spPr/>
        <p:txBody>
          <a:bodyPr/>
          <a:lstStyle/>
          <a:p>
            <a:endParaRPr lang="en-US">
              <a:solidFill>
                <a:srgbClr val="000000"/>
              </a:solidFill>
              <a:latin typeface="Aptos" panose="02110004020202020204"/>
              <a:ea typeface="Calibri"/>
              <a:cs typeface="Calibri"/>
            </a:endParaRPr>
          </a:p>
          <a:p>
            <a:endParaRPr lang="en-US">
              <a:solidFill>
                <a:srgbClr val="000000"/>
              </a:solidFill>
              <a:latin typeface="Aptos" panose="02110004020202020204"/>
              <a:ea typeface="Calibri"/>
              <a:cs typeface="Calibri"/>
            </a:endParaRPr>
          </a:p>
          <a:p>
            <a:endParaRPr lang="en-US" b="1">
              <a:solidFill>
                <a:srgbClr val="BFBFBF"/>
              </a:solidFill>
              <a:highlight>
                <a:srgbClr val="191A1B"/>
              </a:highlight>
              <a:latin typeface="Aptos" panose="02110004020202020204"/>
              <a:ea typeface="Calibri"/>
              <a:cs typeface="Calibri"/>
            </a:endParaRPr>
          </a:p>
          <a:p>
            <a:endParaRPr lang="en-US">
              <a:latin typeface="Calibri"/>
              <a:ea typeface="Calibri"/>
              <a:cs typeface="Calibri"/>
            </a:endParaRPr>
          </a:p>
        </p:txBody>
      </p:sp>
      <p:sp>
        <p:nvSpPr>
          <p:cNvPr id="4" name="Espaço Reservado para Número de Slide 3">
            <a:extLst>
              <a:ext uri="{FF2B5EF4-FFF2-40B4-BE49-F238E27FC236}">
                <a16:creationId xmlns:a16="http://schemas.microsoft.com/office/drawing/2014/main" id="{5C3E274D-7A4B-ED9B-2542-4357BF3EC668}"/>
              </a:ext>
            </a:extLst>
          </p:cNvPr>
          <p:cNvSpPr>
            <a:spLocks noGrp="1"/>
          </p:cNvSpPr>
          <p:nvPr>
            <p:ph type="sldNum" sz="quarter" idx="5"/>
          </p:nvPr>
        </p:nvSpPr>
        <p:spPr/>
        <p:txBody>
          <a:bodyPr/>
          <a:lstStyle/>
          <a:p>
            <a:fld id="{BC0CFED2-9709-4FC9-ABC4-AA1D773337AA}" type="slidenum">
              <a:rPr lang="en-US" smtClean="0"/>
              <a:t>35</a:t>
            </a:fld>
            <a:endParaRPr lang="en-US"/>
          </a:p>
        </p:txBody>
      </p:sp>
    </p:spTree>
    <p:extLst>
      <p:ext uri="{BB962C8B-B14F-4D97-AF65-F5344CB8AC3E}">
        <p14:creationId xmlns:p14="http://schemas.microsoft.com/office/powerpoint/2010/main" val="21015432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06D9B-142E-6799-099F-87491BE85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7EF8F-57B3-0406-5572-CF7B70D0A6BE}"/>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A4BEDE98-0DC3-8D2C-12A3-8B53D37B0B9B}"/>
              </a:ext>
            </a:extLst>
          </p:cNvPr>
          <p:cNvSpPr>
            <a:spLocks noGrp="1"/>
          </p:cNvSpPr>
          <p:nvPr>
            <p:ph type="body" idx="1"/>
          </p:nvPr>
        </p:nvSpPr>
        <p:spPr/>
        <p:txBody>
          <a:bodyPr/>
          <a:lstStyle/>
          <a:p>
            <a:r>
              <a:rPr lang="en-US"/>
              <a:t>*Poner Tambien lo externo (Proveedores, etc)</a:t>
            </a:r>
          </a:p>
          <a:p>
            <a:endParaRPr lang="en-US"/>
          </a:p>
        </p:txBody>
      </p:sp>
      <p:sp>
        <p:nvSpPr>
          <p:cNvPr id="4" name="Slide Number Placeholder 3">
            <a:extLst>
              <a:ext uri="{FF2B5EF4-FFF2-40B4-BE49-F238E27FC236}">
                <a16:creationId xmlns:a16="http://schemas.microsoft.com/office/drawing/2014/main" id="{46859E20-5AE2-FD3C-FF18-FC0E2503E9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45275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2348A-2A5F-88B3-D195-26B99042CD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E55C54-FF4E-8E63-C29C-CAEE55BF1987}"/>
              </a:ext>
            </a:extLst>
          </p:cNvPr>
          <p:cNvSpPr>
            <a:spLocks noGrp="1" noRot="1" noChangeAspect="1"/>
          </p:cNvSpPr>
          <p:nvPr>
            <p:ph type="sldImg"/>
          </p:nvPr>
        </p:nvSpPr>
        <p:spPr/>
        <p:txBody>
          <a:bodyPr/>
          <a:lstStyle/>
          <a:p>
            <a:endParaRPr lang="pt-BR"/>
          </a:p>
        </p:txBody>
      </p:sp>
      <p:sp>
        <p:nvSpPr>
          <p:cNvPr id="3" name="Marcador de notas 2">
            <a:extLst>
              <a:ext uri="{FF2B5EF4-FFF2-40B4-BE49-F238E27FC236}">
                <a16:creationId xmlns:a16="http://schemas.microsoft.com/office/drawing/2014/main" id="{3E828273-30D2-6026-9330-480042C307FB}"/>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05F56C5D-C203-C42E-35BB-0857415F3282}"/>
              </a:ext>
            </a:extLst>
          </p:cNvPr>
          <p:cNvSpPr>
            <a:spLocks noGrp="1"/>
          </p:cNvSpPr>
          <p:nvPr>
            <p:ph type="sldNum" sz="quarter" idx="5"/>
          </p:nvPr>
        </p:nvSpPr>
        <p:spPr/>
        <p:txBody>
          <a:bodyPr/>
          <a:lstStyle/>
          <a:p>
            <a:fld id="{3ABF52DC-EC59-4DE1-BAC7-23B3848E6B8A}" type="slidenum">
              <a:rPr lang="en-US" smtClean="0"/>
              <a:pPr/>
              <a:t>37</a:t>
            </a:fld>
            <a:endParaRPr lang="en-US"/>
          </a:p>
        </p:txBody>
      </p:sp>
    </p:spTree>
    <p:extLst>
      <p:ext uri="{BB962C8B-B14F-4D97-AF65-F5344CB8AC3E}">
        <p14:creationId xmlns:p14="http://schemas.microsoft.com/office/powerpoint/2010/main" val="18619088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pt-BR"/>
          </a:p>
        </p:txBody>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BC0CFED2-9709-4FC9-ABC4-AA1D773337AA}" type="slidenum">
              <a:rPr lang="en-US" smtClean="0"/>
              <a:t>38</a:t>
            </a:fld>
            <a:endParaRPr lang="en-US"/>
          </a:p>
        </p:txBody>
      </p:sp>
    </p:spTree>
    <p:extLst>
      <p:ext uri="{BB962C8B-B14F-4D97-AF65-F5344CB8AC3E}">
        <p14:creationId xmlns:p14="http://schemas.microsoft.com/office/powerpoint/2010/main" val="836404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0CFED2-9709-4FC9-ABC4-AA1D773337AA}" type="slidenum">
              <a:rPr lang="en-US" smtClean="0"/>
              <a:t>42</a:t>
            </a:fld>
            <a:endParaRPr lang="en-US"/>
          </a:p>
        </p:txBody>
      </p:sp>
    </p:spTree>
    <p:extLst>
      <p:ext uri="{BB962C8B-B14F-4D97-AF65-F5344CB8AC3E}">
        <p14:creationId xmlns:p14="http://schemas.microsoft.com/office/powerpoint/2010/main" val="1501651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IberPangea Text Light" panose="020B0404000000000000" pitchFamily="34" charset="0"/>
              </a:rPr>
              <a:t>25/04/2026</a:t>
            </a:fld>
            <a:endParaRPr lang="en-US" sz="15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24582323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
        <p:nvSpPr>
          <p:cNvPr id="4" name="TextBox 3">
            <a:extLst>
              <a:ext uri="{FF2B5EF4-FFF2-40B4-BE49-F238E27FC236}">
                <a16:creationId xmlns:a16="http://schemas.microsoft.com/office/drawing/2014/main" id="{6A1844B3-DB52-C12F-FEE1-B24DD89FD74D}"/>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grpSp>
        <p:nvGrpSpPr>
          <p:cNvPr id="3" name="Grupo 2">
            <a:extLst>
              <a:ext uri="{FF2B5EF4-FFF2-40B4-BE49-F238E27FC236}">
                <a16:creationId xmlns:a16="http://schemas.microsoft.com/office/drawing/2014/main" id="{9464E0D5-7F27-0A5A-5931-24A6358E14B2}"/>
              </a:ext>
            </a:extLst>
          </p:cNvPr>
          <p:cNvGrpSpPr/>
          <p:nvPr/>
        </p:nvGrpSpPr>
        <p:grpSpPr>
          <a:xfrm>
            <a:off x="11064803" y="243963"/>
            <a:ext cx="473773" cy="432461"/>
            <a:chOff x="5465909" y="2845257"/>
            <a:chExt cx="729516" cy="665904"/>
          </a:xfrm>
        </p:grpSpPr>
        <p:sp>
          <p:nvSpPr>
            <p:cNvPr id="6" name="Forma libre: forma 5">
              <a:extLst>
                <a:ext uri="{FF2B5EF4-FFF2-40B4-BE49-F238E27FC236}">
                  <a16:creationId xmlns:a16="http://schemas.microsoft.com/office/drawing/2014/main" id="{DB9C53EC-4AB4-DBD3-46F5-265E416CEBA5}"/>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DCCD724-B10E-3454-E78B-BDD40CC27B8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45B022A-24FE-B6A0-54F1-CD1A1E317F2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589183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_Closing Slide Future Blue with Picture Light">
    <p:bg>
      <p:bgPr>
        <a:solidFill>
          <a:schemeClr val="bg1"/>
        </a:solidFill>
        <a:effectLst/>
      </p:bgPr>
    </p:bg>
    <p:spTree>
      <p:nvGrpSpPr>
        <p:cNvPr id="1" name=""/>
        <p:cNvGrpSpPr/>
        <p:nvPr/>
      </p:nvGrpSpPr>
      <p:grpSpPr>
        <a:xfrm>
          <a:off x="0" y="0"/>
          <a:ext cx="0" cy="0"/>
          <a:chOff x="0" y="0"/>
          <a:chExt cx="0" cy="0"/>
        </a:xfrm>
      </p:grpSpPr>
      <p:sp>
        <p:nvSpPr>
          <p:cNvPr id="2" name="Rectángulo 3">
            <a:extLst>
              <a:ext uri="{FF2B5EF4-FFF2-40B4-BE49-F238E27FC236}">
                <a16:creationId xmlns:a16="http://schemas.microsoft.com/office/drawing/2014/main" id="{87773E61-CD3E-3D8C-AB0E-C8A13B76AD67}"/>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11" name="Imagen 10" descr="Texto&#10;&#10;El contenido generado por IA puede ser incorrecto.">
            <a:extLst>
              <a:ext uri="{FF2B5EF4-FFF2-40B4-BE49-F238E27FC236}">
                <a16:creationId xmlns:a16="http://schemas.microsoft.com/office/drawing/2014/main" id="{7BAC8AD5-DB23-293D-E660-D43371D0B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3" name="Graphic 2">
            <a:extLst>
              <a:ext uri="{FF2B5EF4-FFF2-40B4-BE49-F238E27FC236}">
                <a16:creationId xmlns:a16="http://schemas.microsoft.com/office/drawing/2014/main" id="{756F3679-D587-7076-53A3-7CAA16185D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8" name="Footer Placeholder 3">
            <a:extLst>
              <a:ext uri="{FF2B5EF4-FFF2-40B4-BE49-F238E27FC236}">
                <a16:creationId xmlns:a16="http://schemas.microsoft.com/office/drawing/2014/main" id="{18FF474D-D29C-C094-67B3-0EDEDA4086BF}"/>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sp>
        <p:nvSpPr>
          <p:cNvPr id="6" name="Rectangle 28">
            <a:extLst>
              <a:ext uri="{FF2B5EF4-FFF2-40B4-BE49-F238E27FC236}">
                <a16:creationId xmlns:a16="http://schemas.microsoft.com/office/drawing/2014/main" id="{14B8454C-B0DF-5E74-4D1A-1B3AB3CA3428}"/>
              </a:ext>
            </a:extLst>
          </p:cNvPr>
          <p:cNvSpPr/>
          <p:nvPr userDrawn="1"/>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5D52658-0B4C-AFBC-4320-A30B43DB7F60}"/>
              </a:ext>
            </a:extLst>
          </p:cNvPr>
          <p:cNvSpPr/>
          <p:nvPr userDrawn="1"/>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F34E9A6-8B7D-8658-C5C1-2A03D14F8C0D}"/>
              </a:ext>
            </a:extLst>
          </p:cNvPr>
          <p:cNvSpPr/>
          <p:nvPr userDrawn="1"/>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45AE7889-6FA1-34ED-BE70-46A959380802}"/>
              </a:ext>
            </a:extLst>
          </p:cNvPr>
          <p:cNvSpPr/>
          <p:nvPr userDrawn="1"/>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8424815-C589-9BBC-90CD-AC2F1F03C156}"/>
              </a:ext>
            </a:extLst>
          </p:cNvPr>
          <p:cNvSpPr/>
          <p:nvPr userDrawn="1"/>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2249B75-3EB2-BC03-2C86-5D195891EEC9}"/>
              </a:ext>
            </a:extLst>
          </p:cNvPr>
          <p:cNvSpPr/>
          <p:nvPr userDrawn="1"/>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64">
            <a:extLst>
              <a:ext uri="{FF2B5EF4-FFF2-40B4-BE49-F238E27FC236}">
                <a16:creationId xmlns:a16="http://schemas.microsoft.com/office/drawing/2014/main" id="{53046E6B-9583-C81E-7341-7632C4C4B149}"/>
              </a:ext>
            </a:extLst>
          </p:cNvPr>
          <p:cNvSpPr/>
          <p:nvPr userDrawn="1"/>
        </p:nvSpPr>
        <p:spPr>
          <a:xfrm>
            <a:off x="-558101" y="3688256"/>
            <a:ext cx="504913" cy="354411"/>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059966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4/25/26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1E_B02410B7.xml"/><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0_3D2DCE44.xml"/><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microsoft.com/office/2018/10/relationships/comments" Target="../comments/modernComment_7FFFE8A4_8F20904E.xml"/><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6F8BAEC0.xml"/><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7FFFE8A5_CFF1A6B7.xm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7FFFE8A6_328E8AF0.xml"/><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17.svg"/><Relationship Id="rId2" Type="http://schemas.microsoft.com/office/2018/10/relationships/comments" Target="../comments/modernComment_7FFFE8A9_D40D1F9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7FFFE8AC_39AB5B14.xml"/><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svg"/><Relationship Id="rId1" Type="http://schemas.openxmlformats.org/officeDocument/2006/relationships/slideLayout" Target="../slideLayouts/slideLayout14.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14_327F9DC7.xml"/><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7FFFE88E_FED24054.xml"/><Relationship Id="rId7"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10_AFC9E6A1.xml"/><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20_FB564890.xml"/><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11B_296D12D8.xml"/><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124_7B53B7CD.xml"/><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7FFFE8A1_49940159.xml"/><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123_93BA62AB.xml"/><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126_E30F2003.xml"/><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105_F3471CD2.xml"/><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11D_7B6DD36E.xml"/><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10C_AA8C03FA.xml"/><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microsoft.com/office/2018/10/relationships/comments" Target="../comments/modernComment_7FFFE8A0_5D1B2852.xml"/><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6.xml"/><Relationship Id="rId1" Type="http://schemas.openxmlformats.org/officeDocument/2006/relationships/slideLayout" Target="../slideLayouts/slideLayout14.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39.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36.svg"/><Relationship Id="rId2" Type="http://schemas.microsoft.com/office/2018/10/relationships/comments" Target="../comments/modernComment_7FFFE897_FD2BE021.xml"/><Relationship Id="rId1" Type="http://schemas.openxmlformats.org/officeDocument/2006/relationships/slideLayout" Target="../slideLayouts/slideLayout14.xml"/><Relationship Id="rId5" Type="http://schemas.openxmlformats.org/officeDocument/2006/relationships/image" Target="../media/image38.svg"/><Relationship Id="rId4" Type="http://schemas.openxmlformats.org/officeDocument/2006/relationships/image" Target="../media/image37.svg"/></Relationships>
</file>

<file path=ppt/slides/_rels/slide41.xml.rels><?xml version="1.0" encoding="UTF-8" standalone="yes"?>
<Relationships xmlns="http://schemas.openxmlformats.org/package/2006/relationships"><Relationship Id="rId3" Type="http://schemas.openxmlformats.org/officeDocument/2006/relationships/image" Target="../media/image36.svg"/><Relationship Id="rId2" Type="http://schemas.microsoft.com/office/2018/10/relationships/comments" Target="../comments/modernComment_7FFFE8A2_48032102.xml"/><Relationship Id="rId1" Type="http://schemas.openxmlformats.org/officeDocument/2006/relationships/slideLayout" Target="../slideLayouts/slideLayout14.xml"/><Relationship Id="rId5" Type="http://schemas.openxmlformats.org/officeDocument/2006/relationships/image" Target="../media/image38.svg"/><Relationship Id="rId4" Type="http://schemas.openxmlformats.org/officeDocument/2006/relationships/image" Target="../media/image37.svg"/></Relationships>
</file>

<file path=ppt/slides/_rels/slide42.xml.rels><?xml version="1.0" encoding="UTF-8" standalone="yes"?>
<Relationships xmlns="http://schemas.openxmlformats.org/package/2006/relationships"><Relationship Id="rId3" Type="http://schemas.microsoft.com/office/2018/10/relationships/comments" Target="../comments/modernComment_7FFFE898_F741CE44.xml"/><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39.svg"/><Relationship Id="rId1" Type="http://schemas.openxmlformats.org/officeDocument/2006/relationships/slideLayout" Target="../slideLayouts/slideLayout14.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A1FA6EE5-72DC-E2F0-A15F-C99C36EE47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265C6E6-7198-7297-0B9C-462641DD8069}"/>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EAE32353-6B46-AFB6-DC96-5DC33026E6B2}"/>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BF41849-BFB5-E12B-9141-7A64463E1BB9}"/>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10B67799-C400-AF1C-85DE-CC7C4C49B74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2B1BB46-5612-0FD7-D3A9-FEB3FF2F9CF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2" name="Imagen 11" descr="Imagen en blanco y negro&#10;&#10;Descripción generada automáticamente con confianza media">
            <a:extLst>
              <a:ext uri="{FF2B5EF4-FFF2-40B4-BE49-F238E27FC236}">
                <a16:creationId xmlns:a16="http://schemas.microsoft.com/office/drawing/2014/main" id="{0D2514F8-5897-F1A6-9445-6B2DA287A147}"/>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9948726-1D29-3444-115C-F08A00460FF8}"/>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2B2FA681-A0DA-8246-3C79-FC23219EF7A7}"/>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C69E46CD-BFA4-A09A-CD8B-8A2A79A09E7A}"/>
              </a:ext>
            </a:extLst>
          </p:cNvPr>
          <p:cNvSpPr>
            <a:spLocks noGrp="1"/>
          </p:cNvSpPr>
          <p:nvPr>
            <p:ph type="title"/>
          </p:nvPr>
        </p:nvSpPr>
        <p:spPr>
          <a:xfrm>
            <a:off x="384159" y="800002"/>
            <a:ext cx="7244550" cy="3025329"/>
          </a:xfrm>
        </p:spPr>
        <p:txBody>
          <a:bodyPr/>
          <a:lstStyle/>
          <a:p>
            <a:r>
              <a:rPr lang="en-US"/>
              <a:t>BASELINE REPORT AND DEMAND MAP</a:t>
            </a:r>
            <a:br>
              <a:rPr lang="en-US"/>
            </a:br>
            <a:br>
              <a:rPr lang="en-US"/>
            </a:br>
            <a:r>
              <a:rPr lang="en-US" sz="2400" b="0"/>
              <a:t>April 2026</a:t>
            </a:r>
            <a:endParaRPr lang="en-US" b="0"/>
          </a:p>
        </p:txBody>
      </p:sp>
      <p:sp>
        <p:nvSpPr>
          <p:cNvPr id="7" name="Text Placeholder 34">
            <a:extLst>
              <a:ext uri="{FF2B5EF4-FFF2-40B4-BE49-F238E27FC236}">
                <a16:creationId xmlns:a16="http://schemas.microsoft.com/office/drawing/2014/main" id="{25F735F5-E455-90EB-93A1-CE698E0EB464}"/>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Tree>
    <p:extLst>
      <p:ext uri="{BB962C8B-B14F-4D97-AF65-F5344CB8AC3E}">
        <p14:creationId xmlns:p14="http://schemas.microsoft.com/office/powerpoint/2010/main" val="21707694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2EFC5-D63C-F6C8-354A-A0CAF180864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B2CBC67-36C1-33D5-A86F-079E6BA0BD7C}"/>
              </a:ext>
            </a:extLst>
          </p:cNvPr>
          <p:cNvSpPr/>
          <p:nvPr/>
        </p:nvSpPr>
        <p:spPr>
          <a:xfrm>
            <a:off x="325122" y="1702361"/>
            <a:ext cx="5549366" cy="430887"/>
          </a:xfrm>
          <a:prstGeom prst="roundRect">
            <a:avLst>
              <a:gd name="adj" fmla="val 7825"/>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AB9F0419-5873-2798-6009-A26287027FDF}"/>
              </a:ext>
            </a:extLst>
          </p:cNvPr>
          <p:cNvSpPr/>
          <p:nvPr/>
        </p:nvSpPr>
        <p:spPr>
          <a:xfrm>
            <a:off x="6126401" y="1702361"/>
            <a:ext cx="5598687" cy="430887"/>
          </a:xfrm>
          <a:prstGeom prst="roundRect">
            <a:avLst>
              <a:gd name="adj" fmla="val 7825"/>
            </a:avLst>
          </a:prstGeom>
          <a:solidFill>
            <a:srgbClr val="6785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4" name="TextBox 80">
            <a:extLst>
              <a:ext uri="{FF2B5EF4-FFF2-40B4-BE49-F238E27FC236}">
                <a16:creationId xmlns:a16="http://schemas.microsoft.com/office/drawing/2014/main" id="{F64D8ECC-6566-6ED5-7CC9-987F37696C18}"/>
              </a:ext>
            </a:extLst>
          </p:cNvPr>
          <p:cNvSpPr txBox="1"/>
          <p:nvPr/>
        </p:nvSpPr>
        <p:spPr>
          <a:xfrm>
            <a:off x="616765" y="1821180"/>
            <a:ext cx="5029200" cy="218586"/>
          </a:xfrm>
          <a:prstGeom prst="rect">
            <a:avLst/>
          </a:prstGeom>
          <a:noFill/>
        </p:spPr>
        <p:txBody>
          <a:bodyPr wrap="square" lIns="0" tIns="0" rIns="0" bIns="0" anchor="t">
            <a:spAutoFit/>
          </a:bodyPr>
          <a:lstStyle/>
          <a:p>
            <a:pPr algn="ctr">
              <a:lnSpc>
                <a:spcPct val="110000"/>
              </a:lnSpc>
              <a:spcBef>
                <a:spcPts val="0"/>
              </a:spcBef>
              <a:spcAft>
                <a:spcPts val="0"/>
              </a:spcAft>
            </a:pPr>
            <a:r>
              <a:rPr lang="en-US" sz="1400" b="1" i="0" noProof="0">
                <a:solidFill>
                  <a:schemeClr val="bg1"/>
                </a:solidFill>
                <a:latin typeface="Arial" panose="020B0604020202020204" pitchFamily="34" charset="0"/>
                <a:cs typeface="Arial" panose="020B0604020202020204" pitchFamily="34" charset="0"/>
              </a:rPr>
              <a:t>PROJECT SCOPE</a:t>
            </a:r>
          </a:p>
        </p:txBody>
      </p:sp>
      <p:sp>
        <p:nvSpPr>
          <p:cNvPr id="2" name="Título 2">
            <a:extLst>
              <a:ext uri="{FF2B5EF4-FFF2-40B4-BE49-F238E27FC236}">
                <a16:creationId xmlns:a16="http://schemas.microsoft.com/office/drawing/2014/main" id="{12D02C9B-7463-C0B8-71D9-75D673A45FBA}"/>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INTRODUCTION</a:t>
            </a:r>
          </a:p>
          <a:p>
            <a:r>
              <a:rPr lang="en-US" sz="1200" noProof="0">
                <a:latin typeface="Arial"/>
              </a:rPr>
              <a:t>OBJECTIVES OF THE DOCUMENT</a:t>
            </a:r>
          </a:p>
        </p:txBody>
      </p:sp>
      <p:sp>
        <p:nvSpPr>
          <p:cNvPr id="5" name="TextBox 81">
            <a:extLst>
              <a:ext uri="{FF2B5EF4-FFF2-40B4-BE49-F238E27FC236}">
                <a16:creationId xmlns:a16="http://schemas.microsoft.com/office/drawing/2014/main" id="{9CB48650-B454-433F-3019-F0150985ED40}"/>
              </a:ext>
            </a:extLst>
          </p:cNvPr>
          <p:cNvSpPr txBox="1"/>
          <p:nvPr/>
        </p:nvSpPr>
        <p:spPr>
          <a:xfrm>
            <a:off x="1107005" y="2359294"/>
            <a:ext cx="4767482" cy="3062441"/>
          </a:xfrm>
          <a:prstGeom prst="rect">
            <a:avLst/>
          </a:prstGeom>
          <a:noFill/>
        </p:spPr>
        <p:txBody>
          <a:bodyPr wrap="square" lIns="0" tIns="0" rIns="0" bIns="0" anchor="t">
            <a:spAutoFit/>
          </a:bodyPr>
          <a:lstStyle/>
          <a:p>
            <a:pPr>
              <a:lnSpc>
                <a:spcPct val="110000"/>
              </a:lnSpc>
            </a:pPr>
            <a:r>
              <a:rPr lang="en-US" sz="1400" b="1" noProof="0">
                <a:solidFill>
                  <a:srgbClr val="2C3E50"/>
                </a:solidFill>
                <a:latin typeface="Arial" panose="020B0604020202020204" pitchFamily="34" charset="0"/>
                <a:cs typeface="Arial" panose="020B0604020202020204" pitchFamily="34" charset="0"/>
              </a:rPr>
              <a:t>Digital</a:t>
            </a:r>
            <a:r>
              <a:rPr lang="en-US" sz="1400" b="1" i="0" noProof="0">
                <a:solidFill>
                  <a:srgbClr val="2C3E50"/>
                </a:solidFill>
                <a:latin typeface="Arial" panose="020B0604020202020204" pitchFamily="34" charset="0"/>
                <a:cs typeface="Arial" panose="020B0604020202020204" pitchFamily="34" charset="0"/>
              </a:rPr>
              <a:t> </a:t>
            </a:r>
            <a:r>
              <a:rPr lang="en-US" sz="1400" b="1" noProof="0">
                <a:solidFill>
                  <a:srgbClr val="2C3E50"/>
                </a:solidFill>
                <a:latin typeface="Arial" panose="020B0604020202020204" pitchFamily="34" charset="0"/>
                <a:cs typeface="Arial" panose="020B0604020202020204" pitchFamily="34" charset="0"/>
              </a:rPr>
              <a:t>Products </a:t>
            </a:r>
            <a:r>
              <a:rPr lang="en-US" sz="1400" b="1" i="0" noProof="0">
                <a:solidFill>
                  <a:srgbClr val="2C3E50"/>
                </a:solidFill>
                <a:latin typeface="Arial" panose="020B0604020202020204" pitchFamily="34" charset="0"/>
                <a:cs typeface="Arial" panose="020B0604020202020204" pitchFamily="34" charset="0"/>
              </a:rPr>
              <a:t>in scope</a:t>
            </a:r>
            <a:r>
              <a:rPr lang="en-US" sz="1400" b="0" i="0" noProof="0">
                <a:solidFill>
                  <a:srgbClr val="2C3E50"/>
                </a:solidFill>
                <a:latin typeface="Arial" panose="020B0604020202020204" pitchFamily="34" charset="0"/>
                <a:cs typeface="Arial" panose="020B0604020202020204" pitchFamily="34" charset="0"/>
              </a:rPr>
              <a:t>: IT </a:t>
            </a:r>
            <a:r>
              <a:rPr lang="en-US" sz="1400" noProof="0">
                <a:solidFill>
                  <a:srgbClr val="2C3E50"/>
                </a:solidFill>
                <a:latin typeface="Arial" panose="020B0604020202020204" pitchFamily="34" charset="0"/>
                <a:cs typeface="Arial" panose="020B0604020202020204" pitchFamily="34" charset="0"/>
              </a:rPr>
              <a:t>Business Applications</a:t>
            </a:r>
            <a:r>
              <a:rPr lang="en-US" sz="1400" b="0" i="0" noProof="0">
                <a:solidFill>
                  <a:srgbClr val="2C3E50"/>
                </a:solidFill>
                <a:latin typeface="Arial" panose="020B0604020202020204" pitchFamily="34" charset="0"/>
                <a:cs typeface="Arial" panose="020B0604020202020204" pitchFamily="34" charset="0"/>
              </a:rPr>
              <a:t> (4 teams, ~26 FTE) and Customer Services</a:t>
            </a:r>
            <a:r>
              <a:rPr lang="en-US" sz="1400" noProof="0">
                <a:solidFill>
                  <a:srgbClr val="2C3E50"/>
                </a:solidFill>
                <a:latin typeface="Arial" panose="020B0604020202020204" pitchFamily="34" charset="0"/>
                <a:cs typeface="Arial" panose="020B0604020202020204" pitchFamily="34" charset="0"/>
              </a:rPr>
              <a:t> Apps </a:t>
            </a:r>
            <a:r>
              <a:rPr lang="en-US" sz="1400" b="0" i="0" noProof="0">
                <a:solidFill>
                  <a:srgbClr val="2C3E50"/>
                </a:solidFill>
                <a:latin typeface="Arial" panose="020B0604020202020204" pitchFamily="34" charset="0"/>
                <a:cs typeface="Arial" panose="020B0604020202020204" pitchFamily="34" charset="0"/>
              </a:rPr>
              <a:t>(5 teams, ~24 FTE, 2 Sr. Manager vacancies).</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400" b="1" i="0" noProof="0">
                <a:solidFill>
                  <a:srgbClr val="2C3E50"/>
                </a:solidFill>
                <a:latin typeface="Arial" panose="020B0604020202020204" pitchFamily="34" charset="0"/>
                <a:cs typeface="Arial" panose="020B0604020202020204" pitchFamily="34" charset="0"/>
              </a:rPr>
              <a:t>Five end-to-end stages assessed per team</a:t>
            </a:r>
            <a:r>
              <a:rPr lang="en-US" sz="1400" b="0" i="0" noProof="0">
                <a:solidFill>
                  <a:srgbClr val="2C3E50"/>
                </a:solidFill>
                <a:latin typeface="Arial" panose="020B0604020202020204" pitchFamily="34" charset="0"/>
                <a:cs typeface="Arial" panose="020B0604020202020204" pitchFamily="34" charset="0"/>
              </a:rPr>
              <a:t>: Intake → Classification → Prioritization → Portfolio → Delivery.</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nSpc>
                <a:spcPct val="110000"/>
              </a:lnSpc>
            </a:pPr>
            <a:r>
              <a:rPr lang="en-US" sz="1400" b="1" i="0" noProof="0">
                <a:solidFill>
                  <a:srgbClr val="2C3E50"/>
                </a:solidFill>
                <a:latin typeface="Arial" panose="020B0604020202020204" pitchFamily="34" charset="0"/>
                <a:cs typeface="Arial" panose="020B0604020202020204" pitchFamily="34" charset="0"/>
              </a:rPr>
              <a:t>Baseline</a:t>
            </a:r>
            <a:r>
              <a:rPr lang="en-US" sz="1400" b="0" i="0" noProof="0">
                <a:solidFill>
                  <a:srgbClr val="2C3E50"/>
                </a:solidFill>
                <a:latin typeface="Arial" panose="020B0604020202020204" pitchFamily="34" charset="0"/>
                <a:cs typeface="Arial" panose="020B0604020202020204" pitchFamily="34" charset="0"/>
              </a:rPr>
              <a:t> grounded in interview </a:t>
            </a:r>
            <a:r>
              <a:rPr lang="en-US" sz="1400" noProof="0">
                <a:solidFill>
                  <a:srgbClr val="2C3E50"/>
                </a:solidFill>
                <a:latin typeface="Arial" panose="020B0604020202020204" pitchFamily="34" charset="0"/>
                <a:cs typeface="Arial" panose="020B0604020202020204" pitchFamily="34" charset="0"/>
              </a:rPr>
              <a:t>evidence and RFI data received from the teams.</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400" b="1" i="0" noProof="0">
                <a:solidFill>
                  <a:srgbClr val="2C3E50"/>
                </a:solidFill>
                <a:latin typeface="Arial" panose="020B0604020202020204" pitchFamily="34" charset="0"/>
                <a:cs typeface="Arial" panose="020B0604020202020204" pitchFamily="34" charset="0"/>
              </a:rPr>
              <a:t>Wave 1 delivers</a:t>
            </a:r>
            <a:r>
              <a:rPr lang="en-US" sz="1400" b="0" i="0" noProof="0">
                <a:solidFill>
                  <a:srgbClr val="2C3E50"/>
                </a:solidFill>
                <a:latin typeface="Arial" panose="020B0604020202020204" pitchFamily="34" charset="0"/>
                <a:cs typeface="Arial" panose="020B0604020202020204" pitchFamily="34" charset="0"/>
              </a:rPr>
              <a:t>: Baseline Report, Demand Map, Portfolio Landscape</a:t>
            </a:r>
            <a:r>
              <a:rPr lang="en-US" sz="1400" noProof="0">
                <a:solidFill>
                  <a:srgbClr val="2C3E50"/>
                </a:solidFill>
                <a:latin typeface="Arial" panose="020B0604020202020204" pitchFamily="34" charset="0"/>
                <a:cs typeface="Arial" panose="020B0604020202020204" pitchFamily="34" charset="0"/>
              </a:rPr>
              <a:t>,</a:t>
            </a:r>
            <a:r>
              <a:rPr lang="en-US" sz="1400" b="0" i="0" noProof="0">
                <a:solidFill>
                  <a:srgbClr val="2C3E50"/>
                </a:solidFill>
                <a:latin typeface="Arial" panose="020B0604020202020204" pitchFamily="34" charset="0"/>
                <a:cs typeface="Arial" panose="020B0604020202020204" pitchFamily="34" charset="0"/>
              </a:rPr>
              <a:t> Lifecycle v1.0, Jira Config v1.0, and a live BRS pilot.</a:t>
            </a:r>
          </a:p>
        </p:txBody>
      </p:sp>
      <p:sp>
        <p:nvSpPr>
          <p:cNvPr id="7" name="Rectangle 38">
            <a:extLst>
              <a:ext uri="{FF2B5EF4-FFF2-40B4-BE49-F238E27FC236}">
                <a16:creationId xmlns:a16="http://schemas.microsoft.com/office/drawing/2014/main" id="{F3BB47A4-9279-4019-C7C1-4705C1C5A95D}"/>
              </a:ext>
            </a:extLst>
          </p:cNvPr>
          <p:cNvSpPr/>
          <p:nvPr/>
        </p:nvSpPr>
        <p:spPr>
          <a:xfrm>
            <a:off x="6154710" y="2260106"/>
            <a:ext cx="45719" cy="3730769"/>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TextBox 80">
            <a:extLst>
              <a:ext uri="{FF2B5EF4-FFF2-40B4-BE49-F238E27FC236}">
                <a16:creationId xmlns:a16="http://schemas.microsoft.com/office/drawing/2014/main" id="{1FCC6F4D-465B-D118-6149-971DEAF67538}"/>
              </a:ext>
            </a:extLst>
          </p:cNvPr>
          <p:cNvSpPr txBox="1"/>
          <p:nvPr/>
        </p:nvSpPr>
        <p:spPr>
          <a:xfrm>
            <a:off x="6810598" y="1821180"/>
            <a:ext cx="4922678" cy="218586"/>
          </a:xfrm>
          <a:prstGeom prst="rect">
            <a:avLst/>
          </a:prstGeom>
          <a:noFill/>
        </p:spPr>
        <p:txBody>
          <a:bodyPr wrap="square" lIns="0" tIns="0" rIns="0" bIns="0" anchor="t">
            <a:spAutoFit/>
          </a:bodyPr>
          <a:lstStyle/>
          <a:p>
            <a:pPr algn="ctr">
              <a:lnSpc>
                <a:spcPct val="110000"/>
              </a:lnSpc>
              <a:spcBef>
                <a:spcPts val="0"/>
              </a:spcBef>
              <a:spcAft>
                <a:spcPts val="0"/>
              </a:spcAft>
            </a:pPr>
            <a:r>
              <a:rPr lang="en-US" sz="1400" b="1" i="0" noProof="0">
                <a:solidFill>
                  <a:schemeClr val="bg1"/>
                </a:solidFill>
                <a:latin typeface="Arial" panose="020B0604020202020204" pitchFamily="34" charset="0"/>
                <a:cs typeface="Arial" panose="020B0604020202020204" pitchFamily="34" charset="0"/>
              </a:rPr>
              <a:t>OBJECTIVES OF THIS DOCUMENT</a:t>
            </a:r>
          </a:p>
        </p:txBody>
      </p:sp>
      <p:sp>
        <p:nvSpPr>
          <p:cNvPr id="15" name="CuadroTexto 14">
            <a:extLst>
              <a:ext uri="{FF2B5EF4-FFF2-40B4-BE49-F238E27FC236}">
                <a16:creationId xmlns:a16="http://schemas.microsoft.com/office/drawing/2014/main" id="{96CC6BE9-A175-7BF7-A3B3-0F6C2363AD97}"/>
              </a:ext>
            </a:extLst>
          </p:cNvPr>
          <p:cNvSpPr txBox="1"/>
          <p:nvPr/>
        </p:nvSpPr>
        <p:spPr>
          <a:xfrm>
            <a:off x="6954675" y="2357260"/>
            <a:ext cx="4749645" cy="3536417"/>
          </a:xfrm>
          <a:prstGeom prst="rect">
            <a:avLst/>
          </a:prstGeom>
          <a:noFill/>
        </p:spPr>
        <p:txBody>
          <a:bodyPr wrap="square" lIns="0" tIns="0" rIns="0" bIns="0" anchor="t">
            <a:spAutoFit/>
          </a:bodyPr>
          <a:lstStyle>
            <a:defPPr>
              <a:defRPr lang="en-US"/>
            </a:defPPr>
            <a:lvl1pPr>
              <a:lnSpc>
                <a:spcPct val="110000"/>
              </a:lnSpc>
              <a:defRPr sz="1400" b="0" i="0">
                <a:solidFill>
                  <a:srgbClr val="2C3E50"/>
                </a:solidFill>
                <a:latin typeface="Helvetica Neue"/>
              </a:defRPr>
            </a:lvl1pPr>
          </a:lstStyle>
          <a:p>
            <a:r>
              <a:rPr lang="en-US" noProof="0">
                <a:latin typeface="Arial" panose="020B0604020202020204" pitchFamily="34" charset="0"/>
                <a:cs typeface="Arial" panose="020B0604020202020204" pitchFamily="34" charset="0"/>
              </a:rPr>
              <a:t>Provide </a:t>
            </a:r>
            <a:r>
              <a:rPr lang="en-US" b="1" noProof="0">
                <a:latin typeface="Arial" panose="020B0604020202020204" pitchFamily="34" charset="0"/>
                <a:cs typeface="Arial" panose="020B0604020202020204" pitchFamily="34" charset="0"/>
              </a:rPr>
              <a:t>context and establish the foundation </a:t>
            </a:r>
            <a:r>
              <a:rPr lang="en-US" noProof="0">
                <a:latin typeface="Arial" panose="020B0604020202020204" pitchFamily="34" charset="0"/>
                <a:cs typeface="Arial" panose="020B0604020202020204" pitchFamily="34" charset="0"/>
              </a:rPr>
              <a:t>of the project, including a </a:t>
            </a:r>
            <a:r>
              <a:rPr lang="en-US" b="1" noProof="0">
                <a:latin typeface="Arial" panose="020B0604020202020204" pitchFamily="34" charset="0"/>
                <a:cs typeface="Arial" panose="020B0604020202020204" pitchFamily="34" charset="0"/>
              </a:rPr>
              <a:t>structured methodology </a:t>
            </a:r>
            <a:r>
              <a:rPr lang="en-US" noProof="0">
                <a:latin typeface="Arial" panose="020B0604020202020204" pitchFamily="34" charset="0"/>
                <a:cs typeface="Arial" panose="020B0604020202020204" pitchFamily="34" charset="0"/>
              </a:rPr>
              <a:t>to guide </a:t>
            </a:r>
            <a:r>
              <a:rPr lang="en-US" b="1" noProof="0">
                <a:latin typeface="Arial" panose="020B0604020202020204" pitchFamily="34" charset="0"/>
                <a:cs typeface="Arial" panose="020B0604020202020204" pitchFamily="34" charset="0"/>
              </a:rPr>
              <a:t>phases, activities, and deliverables</a:t>
            </a:r>
            <a:endParaRPr lang="en-US" noProof="0">
              <a:latin typeface="Arial" panose="020B0604020202020204" pitchFamily="34" charset="0"/>
              <a:cs typeface="Arial" panose="020B0604020202020204" pitchFamily="34" charset="0"/>
            </a:endParaRPr>
          </a:p>
          <a:p>
            <a:endParaRPr lang="en-US" noProof="0">
              <a:latin typeface="Arial" panose="020B0604020202020204" pitchFamily="34" charset="0"/>
              <a:cs typeface="Arial" panose="020B0604020202020204" pitchFamily="34" charset="0"/>
            </a:endParaRPr>
          </a:p>
          <a:p>
            <a:r>
              <a:rPr lang="en-US" noProof="0">
                <a:latin typeface="Arial" panose="020B0604020202020204" pitchFamily="34" charset="0"/>
                <a:cs typeface="Arial" panose="020B0604020202020204" pitchFamily="34" charset="0"/>
              </a:rPr>
              <a:t>Analyze the </a:t>
            </a:r>
            <a:r>
              <a:rPr lang="en-US" b="1" noProof="0">
                <a:latin typeface="Arial" panose="020B0604020202020204" pitchFamily="34" charset="0"/>
                <a:cs typeface="Arial" panose="020B0604020202020204" pitchFamily="34" charset="0"/>
              </a:rPr>
              <a:t>current state of Digital Products</a:t>
            </a:r>
            <a:r>
              <a:rPr lang="en-US" noProof="0">
                <a:latin typeface="Arial" panose="020B0604020202020204" pitchFamily="34" charset="0"/>
                <a:cs typeface="Arial" panose="020B0604020202020204" pitchFamily="34" charset="0"/>
              </a:rPr>
              <a:t>, covering </a:t>
            </a:r>
            <a:r>
              <a:rPr lang="en-US" b="1" noProof="0">
                <a:latin typeface="Arial" panose="020B0604020202020204" pitchFamily="34" charset="0"/>
                <a:cs typeface="Arial" panose="020B0604020202020204" pitchFamily="34" charset="0"/>
              </a:rPr>
              <a:t>roles and responsibilities, value streams, tools, and governance </a:t>
            </a:r>
          </a:p>
          <a:p>
            <a:endParaRPr lang="en-US" noProof="0">
              <a:latin typeface="Arial" panose="020B0604020202020204" pitchFamily="34" charset="0"/>
              <a:cs typeface="Arial" panose="020B0604020202020204" pitchFamily="34" charset="0"/>
            </a:endParaRPr>
          </a:p>
          <a:p>
            <a:r>
              <a:rPr lang="en-US" noProof="0">
                <a:latin typeface="Arial" panose="020B0604020202020204" pitchFamily="34" charset="0"/>
                <a:cs typeface="Arial" panose="020B0604020202020204" pitchFamily="34" charset="0"/>
              </a:rPr>
              <a:t>Assess the </a:t>
            </a:r>
            <a:r>
              <a:rPr lang="en-US" b="1" noProof="0">
                <a:latin typeface="Arial" panose="020B0604020202020204" pitchFamily="34" charset="0"/>
                <a:cs typeface="Arial" panose="020B0604020202020204" pitchFamily="34" charset="0"/>
              </a:rPr>
              <a:t>project portfolio landscape, </a:t>
            </a:r>
            <a:r>
              <a:rPr lang="en-US" noProof="0">
                <a:latin typeface="Arial" panose="020B0604020202020204" pitchFamily="34" charset="0"/>
                <a:cs typeface="Arial" panose="020B0604020202020204" pitchFamily="34" charset="0"/>
              </a:rPr>
              <a:t>including </a:t>
            </a:r>
            <a:r>
              <a:rPr lang="en-US" b="1" noProof="0">
                <a:latin typeface="Arial" panose="020B0604020202020204" pitchFamily="34" charset="0"/>
                <a:cs typeface="Arial" panose="020B0604020202020204" pitchFamily="34" charset="0"/>
              </a:rPr>
              <a:t>demand, tools, capabilities, and alignment </a:t>
            </a:r>
            <a:r>
              <a:rPr lang="en-US" noProof="0">
                <a:latin typeface="Arial" panose="020B0604020202020204" pitchFamily="34" charset="0"/>
                <a:cs typeface="Arial" panose="020B0604020202020204" pitchFamily="34" charset="0"/>
              </a:rPr>
              <a:t>with strategic priorities </a:t>
            </a:r>
          </a:p>
          <a:p>
            <a:endParaRPr lang="en-US" noProof="0">
              <a:latin typeface="Arial" panose="020B0604020202020204" pitchFamily="34" charset="0"/>
              <a:cs typeface="Arial" panose="020B0604020202020204" pitchFamily="34" charset="0"/>
            </a:endParaRPr>
          </a:p>
          <a:p>
            <a:r>
              <a:rPr lang="en-US" noProof="0">
                <a:latin typeface="Arial" panose="020B0604020202020204" pitchFamily="34" charset="0"/>
                <a:cs typeface="Arial" panose="020B0604020202020204" pitchFamily="34" charset="0"/>
              </a:rPr>
              <a:t>Synthesize </a:t>
            </a:r>
            <a:r>
              <a:rPr lang="en-US" b="1" noProof="0">
                <a:latin typeface="Arial" panose="020B0604020202020204" pitchFamily="34" charset="0"/>
                <a:cs typeface="Arial" panose="020B0604020202020204" pitchFamily="34" charset="0"/>
              </a:rPr>
              <a:t>key insights and define the foundations for the Target Operating Model </a:t>
            </a:r>
            <a:r>
              <a:rPr lang="en-US" noProof="0">
                <a:latin typeface="Arial" panose="020B0604020202020204" pitchFamily="34" charset="0"/>
                <a:cs typeface="Arial" panose="020B0604020202020204" pitchFamily="34" charset="0"/>
              </a:rPr>
              <a:t>that will shape </a:t>
            </a:r>
            <a:r>
              <a:rPr lang="en-US" b="1" noProof="0">
                <a:latin typeface="Arial" panose="020B0604020202020204" pitchFamily="34" charset="0"/>
                <a:cs typeface="Arial" panose="020B0604020202020204" pitchFamily="34" charset="0"/>
              </a:rPr>
              <a:t>future ways of working </a:t>
            </a:r>
          </a:p>
        </p:txBody>
      </p:sp>
      <p:pic>
        <p:nvPicPr>
          <p:cNvPr id="10" name="Gráfico 9" descr="Lupa con relleno sólido">
            <a:extLst>
              <a:ext uri="{FF2B5EF4-FFF2-40B4-BE49-F238E27FC236}">
                <a16:creationId xmlns:a16="http://schemas.microsoft.com/office/drawing/2014/main" id="{C0928ECA-0196-CA92-B7E2-FA1AB8FC48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2423755"/>
            <a:ext cx="567771" cy="567771"/>
          </a:xfrm>
          <a:prstGeom prst="rect">
            <a:avLst/>
          </a:prstGeom>
        </p:spPr>
      </p:pic>
      <p:pic>
        <p:nvPicPr>
          <p:cNvPr id="12" name="Gráfico 11" descr="Diana con relleno sólido">
            <a:extLst>
              <a:ext uri="{FF2B5EF4-FFF2-40B4-BE49-F238E27FC236}">
                <a16:creationId xmlns:a16="http://schemas.microsoft.com/office/drawing/2014/main" id="{EDEF2D30-C8CC-7A13-B936-7CAAF0DD30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5186966"/>
            <a:ext cx="624548" cy="624548"/>
          </a:xfrm>
          <a:prstGeom prst="rect">
            <a:avLst/>
          </a:prstGeom>
        </p:spPr>
      </p:pic>
      <p:pic>
        <p:nvPicPr>
          <p:cNvPr id="13" name="Gráfico 12" descr="Diana con relleno sólido">
            <a:extLst>
              <a:ext uri="{FF2B5EF4-FFF2-40B4-BE49-F238E27FC236}">
                <a16:creationId xmlns:a16="http://schemas.microsoft.com/office/drawing/2014/main" id="{367A4900-A7FD-3C7C-FA73-BFB043764D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4252246"/>
            <a:ext cx="624548" cy="624548"/>
          </a:xfrm>
          <a:prstGeom prst="rect">
            <a:avLst/>
          </a:prstGeom>
        </p:spPr>
      </p:pic>
      <p:pic>
        <p:nvPicPr>
          <p:cNvPr id="14" name="Gráfico 13" descr="Diana con relleno sólido">
            <a:extLst>
              <a:ext uri="{FF2B5EF4-FFF2-40B4-BE49-F238E27FC236}">
                <a16:creationId xmlns:a16="http://schemas.microsoft.com/office/drawing/2014/main" id="{67FC8F0F-FFF3-6290-4F78-D8011B2DDF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3317526"/>
            <a:ext cx="624548" cy="624548"/>
          </a:xfrm>
          <a:prstGeom prst="rect">
            <a:avLst/>
          </a:prstGeom>
        </p:spPr>
      </p:pic>
      <p:pic>
        <p:nvPicPr>
          <p:cNvPr id="16" name="Gráfico 15" descr="Diana con relleno sólido">
            <a:extLst>
              <a:ext uri="{FF2B5EF4-FFF2-40B4-BE49-F238E27FC236}">
                <a16:creationId xmlns:a16="http://schemas.microsoft.com/office/drawing/2014/main" id="{13F387A2-D3F3-472E-A5EF-C91B5CB884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2372646"/>
            <a:ext cx="624548" cy="624548"/>
          </a:xfrm>
          <a:prstGeom prst="rect">
            <a:avLst/>
          </a:prstGeom>
        </p:spPr>
      </p:pic>
      <p:pic>
        <p:nvPicPr>
          <p:cNvPr id="17" name="Gráfico 16" descr="Lupa con relleno sólido">
            <a:extLst>
              <a:ext uri="{FF2B5EF4-FFF2-40B4-BE49-F238E27FC236}">
                <a16:creationId xmlns:a16="http://schemas.microsoft.com/office/drawing/2014/main" id="{6E25CFE3-48BE-258D-BBE6-97DDFD7D5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3216235"/>
            <a:ext cx="567771" cy="567771"/>
          </a:xfrm>
          <a:prstGeom prst="rect">
            <a:avLst/>
          </a:prstGeom>
        </p:spPr>
      </p:pic>
      <p:pic>
        <p:nvPicPr>
          <p:cNvPr id="18" name="Gráfico 17" descr="Lupa con relleno sólido">
            <a:extLst>
              <a:ext uri="{FF2B5EF4-FFF2-40B4-BE49-F238E27FC236}">
                <a16:creationId xmlns:a16="http://schemas.microsoft.com/office/drawing/2014/main" id="{E45BA374-B36E-09CD-2B00-19A3671B39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007" y="3927435"/>
            <a:ext cx="567771" cy="567771"/>
          </a:xfrm>
          <a:prstGeom prst="rect">
            <a:avLst/>
          </a:prstGeom>
        </p:spPr>
      </p:pic>
      <p:pic>
        <p:nvPicPr>
          <p:cNvPr id="19" name="Gráfico 18" descr="Lupa con relleno sólido">
            <a:extLst>
              <a:ext uri="{FF2B5EF4-FFF2-40B4-BE49-F238E27FC236}">
                <a16:creationId xmlns:a16="http://schemas.microsoft.com/office/drawing/2014/main" id="{BF02E568-1E90-990F-B393-ABA39DFA66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007" y="4770715"/>
            <a:ext cx="567771" cy="567771"/>
          </a:xfrm>
          <a:prstGeom prst="rect">
            <a:avLst/>
          </a:prstGeom>
        </p:spPr>
      </p:pic>
      <p:sp>
        <p:nvSpPr>
          <p:cNvPr id="11" name="CuadroTexto 204">
            <a:extLst>
              <a:ext uri="{FF2B5EF4-FFF2-40B4-BE49-F238E27FC236}">
                <a16:creationId xmlns:a16="http://schemas.microsoft.com/office/drawing/2014/main" id="{28B134C1-4945-168D-261E-52EBAECB11BF}"/>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latin typeface="Arial"/>
                <a:cs typeface="Arial"/>
              </a:rPr>
              <a:t>Avangrid is consolidating Customer Services Applications and IT Business Applications into a single Digital Products organization — demand fragmentation is the structural risk the Target Operating Model must resolve.</a:t>
            </a:r>
          </a:p>
        </p:txBody>
      </p:sp>
      <p:sp>
        <p:nvSpPr>
          <p:cNvPr id="20" name="Rectangle 38">
            <a:extLst>
              <a:ext uri="{FF2B5EF4-FFF2-40B4-BE49-F238E27FC236}">
                <a16:creationId xmlns:a16="http://schemas.microsoft.com/office/drawing/2014/main" id="{A1598C52-1D58-9C8E-2431-4C8785DC461B}"/>
              </a:ext>
            </a:extLst>
          </p:cNvPr>
          <p:cNvSpPr/>
          <p:nvPr/>
        </p:nvSpPr>
        <p:spPr>
          <a:xfrm>
            <a:off x="345441" y="2260106"/>
            <a:ext cx="45719" cy="3730769"/>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0242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0C76-BCA8-3673-712D-19407157B459}"/>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0DE4CAE1-B3B0-682C-7DEC-A191B751BF13}"/>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48ABF682-6D94-F084-52E8-FC3BB636DE88}"/>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CDFFA258-0151-03C5-D6FF-B215954CF87E}"/>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2F417B05-7006-8258-8756-149CEB3843EE}"/>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73863929-6DE1-DFB9-F7DA-51C6A96AD828}"/>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285D1B1D-3DA2-8F31-2763-7D482041B952}"/>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E91F26D4-446E-A575-E535-DAFBBFFA12BC}"/>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22CB40DF-EFA4-D3E3-6463-15214DC64971}"/>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20" name="TextBox 20">
            <a:extLst>
              <a:ext uri="{FF2B5EF4-FFF2-40B4-BE49-F238E27FC236}">
                <a16:creationId xmlns:a16="http://schemas.microsoft.com/office/drawing/2014/main" id="{68CFAC99-4EBF-7847-06EE-3E37E3CC3180}"/>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C74964A7-1C1D-B3C8-4F81-6F2C92FF3764}"/>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122474EF-3A59-DAE6-EA50-8BF8F6E5718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DBEF8F8D-E8D8-5F43-7292-DACFA5F64FB6}"/>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49582787-E174-01E1-674C-125CF9131E0D}"/>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0544091C-4AF7-0AAE-0C87-7BD2F67F27A5}"/>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EB7024E9-36B4-A8D3-B7BD-A5A6C42E0CB9}"/>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72C7B1E-58BE-4F3F-C78F-E2CE8C034664}"/>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96D0E3B5-625F-947C-2421-F0DF09A7B183}"/>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DA65C2C-DD47-A00A-6517-F93ED8133A70}"/>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463F0236-545B-DA51-4974-28DF39BF617F}"/>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6D94AC92-63FC-DC83-D575-2451FDEB9726}"/>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6E2A9363-D128-2A3F-9140-D61D181AED0F}"/>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A200E0DA-AECD-94EE-310B-2473C569905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BEE80BD9-E96D-9090-7B12-5CA00E34512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1D93D7BE-A086-C164-4AC8-FF5B207E9EC1}"/>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4114E697-8FBA-798C-8712-82C65100AE90}"/>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92C62EBD-BCB6-BA91-4F25-A818A4FCD3BF}"/>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D966C437-C578-4EC2-FBBF-49A00821C371}"/>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376836C2-34D4-B75C-3483-6A71AAC2151A}"/>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TextBox 18">
            <a:extLst>
              <a:ext uri="{FF2B5EF4-FFF2-40B4-BE49-F238E27FC236}">
                <a16:creationId xmlns:a16="http://schemas.microsoft.com/office/drawing/2014/main" id="{B2BCE250-372B-7D1F-D5C8-61C35E862261}"/>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Tree>
    <p:extLst>
      <p:ext uri="{BB962C8B-B14F-4D97-AF65-F5344CB8AC3E}">
        <p14:creationId xmlns:p14="http://schemas.microsoft.com/office/powerpoint/2010/main" val="1511076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D6A8-857C-44CF-D659-B8528DF427B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EFB1443A-21A4-0ED2-82E4-468D8BB696B8}"/>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73FA1FD2-DE07-394F-3A33-505671DE776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84F24F21-2145-13C8-D2B1-04EACD80E4C8}"/>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4" name="TextBox 14">
            <a:extLst>
              <a:ext uri="{FF2B5EF4-FFF2-40B4-BE49-F238E27FC236}">
                <a16:creationId xmlns:a16="http://schemas.microsoft.com/office/drawing/2014/main" id="{95C8852B-76F0-017F-A8E2-C5EC17BF4A8C}"/>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90556143-2E17-CCAD-6796-FCAF64A9FF77}"/>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0DEB3660-CBEA-56C0-E29C-DCCC0F661BCF}"/>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09BFC13D-98E6-E756-6E61-CA60B0EF7CC4}"/>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2BEE4C3C-A2FA-62BB-7A25-97A72B247C7B}"/>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68CC9521-9025-13DF-2A7B-F5FE9F00BA0A}"/>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77EE3473-06DE-D114-9DB3-FD9354DC4E5C}"/>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0EB16A3E-BDD5-820A-1953-B10E3E9DA7B5}"/>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FEA4516F-172A-9578-D757-273860E2766E}"/>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772E9CBB-0B35-5E8F-85FB-0901DAE8934D}"/>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7BA50D68-B0D5-6EAB-F657-C5047F198DB3}"/>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31" name="Grupo 30">
            <a:extLst>
              <a:ext uri="{FF2B5EF4-FFF2-40B4-BE49-F238E27FC236}">
                <a16:creationId xmlns:a16="http://schemas.microsoft.com/office/drawing/2014/main" id="{48CE0415-A53A-D49E-6FDA-DCC2FB918E0A}"/>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65B932D6-3664-6816-0966-08827987BBB1}"/>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F40DEF3E-D7B8-DEEB-94C7-ECBDF2BE20A2}"/>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D29B75CE-AA67-C473-C450-230591661F29}"/>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650E577F-CA6B-2407-0324-913279A58971}"/>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C39E15AE-2D17-5FC6-3524-B544B95BA40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3155F8C6-6ACB-C4B7-343B-30F9F03D4918}"/>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8D28EED2-6E51-7B0D-E0AA-F57050E49917}"/>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2361B347-BA01-E132-F8C9-475ADD9687F6}"/>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67313C34-662A-94F7-2C90-83A587F6D73F}"/>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4800FFE5-1175-C951-86A6-70ED5739F6B6}"/>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36C50024-498C-595A-CF47-B30E46A3ADC4}"/>
              </a:ext>
            </a:extLst>
          </p:cNvPr>
          <p:cNvSpPr/>
          <p:nvPr/>
        </p:nvSpPr>
        <p:spPr>
          <a:xfrm>
            <a:off x="752526" y="1141030"/>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TextBox 10">
            <a:extLst>
              <a:ext uri="{FF2B5EF4-FFF2-40B4-BE49-F238E27FC236}">
                <a16:creationId xmlns:a16="http://schemas.microsoft.com/office/drawing/2014/main" id="{AF3FE328-95A9-B5DF-5FC6-18D4D7EE4978}"/>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grpSp>
        <p:nvGrpSpPr>
          <p:cNvPr id="21" name="Grupo 20">
            <a:extLst>
              <a:ext uri="{FF2B5EF4-FFF2-40B4-BE49-F238E27FC236}">
                <a16:creationId xmlns:a16="http://schemas.microsoft.com/office/drawing/2014/main" id="{9D9B635A-FC5E-DB26-677D-E2AAFA5BF412}"/>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830D5BDE-2D6A-1F27-0678-A759F3ABF79A}"/>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3706ADD9-50D0-A90F-F359-CFDA73D990EA}"/>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spTree>
    <p:extLst>
      <p:ext uri="{BB962C8B-B14F-4D97-AF65-F5344CB8AC3E}">
        <p14:creationId xmlns:p14="http://schemas.microsoft.com/office/powerpoint/2010/main" val="3592786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D6C4B-2233-3AC3-D113-01C8CB8C5756}"/>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4F87945C-21A6-184B-FF52-B2081CB0A206}"/>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a:rPr>
              <a:t>WHY WE’RE HERE</a:t>
            </a:r>
          </a:p>
        </p:txBody>
      </p:sp>
      <p:sp>
        <p:nvSpPr>
          <p:cNvPr id="79" name="TextBox 78">
            <a:extLst>
              <a:ext uri="{FF2B5EF4-FFF2-40B4-BE49-F238E27FC236}">
                <a16:creationId xmlns:a16="http://schemas.microsoft.com/office/drawing/2014/main" id="{D3FCD0D8-BD27-E0F0-E05E-B2257B4908E5}"/>
              </a:ext>
            </a:extLst>
          </p:cNvPr>
          <p:cNvSpPr txBox="1"/>
          <p:nvPr/>
        </p:nvSpPr>
        <p:spPr>
          <a:xfrm>
            <a:off x="599035" y="2214565"/>
            <a:ext cx="4790440" cy="2828147"/>
          </a:xfrm>
          <a:prstGeom prst="rect">
            <a:avLst/>
          </a:prstGeom>
          <a:noFill/>
        </p:spPr>
        <p:txBody>
          <a:bodyPr wrap="square" lIns="0" tIns="0" rIns="0" bIns="0" anchor="t">
            <a:spAutoFit/>
          </a:bodyPr>
          <a:lstStyle/>
          <a:p>
            <a:pPr algn="just">
              <a:lnSpc>
                <a:spcPct val="110000"/>
              </a:lnSpc>
            </a:pPr>
            <a:r>
              <a:rPr lang="en-US" sz="1200" b="0" i="0" noProof="0">
                <a:latin typeface="Arial"/>
                <a:cs typeface="Arial"/>
              </a:rPr>
              <a:t>Digital Products is being re-founded under VP Vitor Cruz as a new department, </a:t>
            </a:r>
            <a:r>
              <a:rPr lang="en-US" sz="1200" b="1" i="0" noProof="0">
                <a:latin typeface="Arial"/>
                <a:cs typeface="Arial"/>
              </a:rPr>
              <a:t>consolidating</a:t>
            </a:r>
            <a:r>
              <a:rPr lang="en-US" sz="1200" b="1" noProof="0">
                <a:latin typeface="Arial"/>
                <a:cs typeface="Arial"/>
              </a:rPr>
              <a:t> IT Business Applications</a:t>
            </a:r>
            <a:r>
              <a:rPr lang="en-US" sz="1200" b="1" i="0" noProof="0">
                <a:latin typeface="Arial"/>
                <a:cs typeface="Arial"/>
              </a:rPr>
              <a:t> and Customer Services </a:t>
            </a:r>
            <a:r>
              <a:rPr lang="en-US" sz="1200" b="1" noProof="0">
                <a:latin typeface="Arial"/>
                <a:cs typeface="Arial"/>
              </a:rPr>
              <a:t>Applications </a:t>
            </a:r>
            <a:r>
              <a:rPr lang="en-US" sz="1200" b="0" i="0" noProof="0">
                <a:latin typeface="Arial"/>
                <a:cs typeface="Arial"/>
              </a:rPr>
              <a:t>into a single ~50-FTE organization to </a:t>
            </a:r>
            <a:r>
              <a:rPr lang="en-US" sz="1200" b="1" i="0" noProof="0">
                <a:latin typeface="Arial"/>
                <a:cs typeface="Arial"/>
              </a:rPr>
              <a:t>improve alignment, efficiency, and cross-team collaboration</a:t>
            </a:r>
            <a:r>
              <a:rPr lang="en-US" sz="1200" b="0" i="0" noProof="0">
                <a:latin typeface="Arial"/>
                <a:cs typeface="Arial"/>
              </a:rPr>
              <a:t>. </a:t>
            </a:r>
          </a:p>
          <a:p>
            <a:pPr algn="just">
              <a:lnSpc>
                <a:spcPct val="110000"/>
              </a:lnSpc>
              <a:spcBef>
                <a:spcPts val="0"/>
              </a:spcBef>
              <a:spcAft>
                <a:spcPts val="0"/>
              </a:spcAft>
            </a:pPr>
            <a:endParaRPr lang="en-US" sz="1200" b="0" i="0" noProof="0">
              <a:latin typeface="Arial" panose="020B0604020202020204" pitchFamily="34" charset="0"/>
              <a:cs typeface="Arial" panose="020B0604020202020204" pitchFamily="34" charset="0"/>
            </a:endParaRPr>
          </a:p>
          <a:p>
            <a:pPr algn="just">
              <a:lnSpc>
                <a:spcPct val="110000"/>
              </a:lnSpc>
            </a:pPr>
            <a:r>
              <a:rPr lang="en-US" sz="1200" b="1" i="0" noProof="0">
                <a:latin typeface="Arial"/>
                <a:cs typeface="Arial"/>
              </a:rPr>
              <a:t>The teams is expected to grow by 30–50% </a:t>
            </a:r>
            <a:r>
              <a:rPr lang="en-US" sz="1200" b="0" i="0" noProof="0">
                <a:latin typeface="Arial"/>
                <a:cs typeface="Arial"/>
              </a:rPr>
              <a:t>across SAP and </a:t>
            </a:r>
            <a:r>
              <a:rPr lang="en-US" sz="1200" noProof="0">
                <a:latin typeface="Arial"/>
                <a:cs typeface="Arial"/>
              </a:rPr>
              <a:t>IT Applications</a:t>
            </a:r>
            <a:r>
              <a:rPr lang="en-US" sz="1200" b="0" i="0" noProof="0">
                <a:latin typeface="Arial"/>
                <a:cs typeface="Arial"/>
              </a:rPr>
              <a:t> department, risking a l</a:t>
            </a:r>
            <a:r>
              <a:rPr lang="en-US" sz="1200" b="1" i="0" noProof="0">
                <a:latin typeface="Arial"/>
                <a:cs typeface="Arial"/>
              </a:rPr>
              <a:t>ack of a unified intake, classification</a:t>
            </a:r>
            <a:r>
              <a:rPr lang="en-US" sz="1200" b="0" i="0" noProof="0">
                <a:latin typeface="Arial"/>
                <a:cs typeface="Arial"/>
              </a:rPr>
              <a:t>, and </a:t>
            </a:r>
            <a:r>
              <a:rPr lang="en-US" sz="1200" b="1" i="0" noProof="0">
                <a:latin typeface="Arial"/>
                <a:cs typeface="Arial"/>
              </a:rPr>
              <a:t>prioritization model</a:t>
            </a:r>
            <a:r>
              <a:rPr lang="en-US" sz="1200" b="0" i="0" noProof="0">
                <a:latin typeface="Arial"/>
                <a:cs typeface="Arial"/>
              </a:rPr>
              <a:t>, which leads to </a:t>
            </a:r>
            <a:r>
              <a:rPr lang="en-US" sz="1200" b="1" i="0" noProof="0">
                <a:latin typeface="Arial"/>
                <a:cs typeface="Arial"/>
              </a:rPr>
              <a:t>inconsistent handling </a:t>
            </a:r>
            <a:r>
              <a:rPr lang="en-US" sz="1200" b="0" i="0" noProof="0">
                <a:latin typeface="Arial"/>
                <a:cs typeface="Arial"/>
              </a:rPr>
              <a:t>of requests and limited alignment with business priorities. </a:t>
            </a:r>
          </a:p>
          <a:p>
            <a:pPr algn="just">
              <a:lnSpc>
                <a:spcPct val="110000"/>
              </a:lnSpc>
              <a:spcBef>
                <a:spcPts val="0"/>
              </a:spcBef>
              <a:spcAft>
                <a:spcPts val="0"/>
              </a:spcAft>
            </a:pPr>
            <a:endParaRPr lang="en-US" sz="1200" b="0" i="0" noProof="0">
              <a:latin typeface="Arial" panose="020B0604020202020204" pitchFamily="34" charset="0"/>
              <a:cs typeface="Arial" panose="020B0604020202020204" pitchFamily="34" charset="0"/>
            </a:endParaRPr>
          </a:p>
          <a:p>
            <a:pPr algn="just">
              <a:lnSpc>
                <a:spcPct val="110000"/>
              </a:lnSpc>
              <a:spcBef>
                <a:spcPts val="0"/>
              </a:spcBef>
              <a:spcAft>
                <a:spcPts val="0"/>
              </a:spcAft>
            </a:pPr>
            <a:r>
              <a:rPr lang="en-US" sz="1200" b="0" i="0" noProof="0">
                <a:latin typeface="Arial"/>
                <a:cs typeface="Arial"/>
              </a:rPr>
              <a:t>The </a:t>
            </a:r>
            <a:r>
              <a:rPr lang="en-US" sz="1200" b="1" i="0" noProof="0">
                <a:latin typeface="Arial"/>
                <a:cs typeface="Arial"/>
              </a:rPr>
              <a:t>delivery model remains fragmented</a:t>
            </a:r>
            <a:r>
              <a:rPr lang="en-US" sz="1200" b="0" i="0" noProof="0">
                <a:latin typeface="Arial"/>
                <a:cs typeface="Arial"/>
              </a:rPr>
              <a:t>, operating across a </a:t>
            </a:r>
            <a:r>
              <a:rPr lang="en-US" sz="1200" b="1" i="0" noProof="0">
                <a:latin typeface="Arial"/>
                <a:cs typeface="Arial"/>
              </a:rPr>
              <a:t>disconnected ecosystem with unclear roles, inconsistent tools, and limited reporting</a:t>
            </a:r>
            <a:r>
              <a:rPr lang="en-US" sz="1200" b="0" i="0" noProof="0">
                <a:latin typeface="Arial"/>
                <a:cs typeface="Arial"/>
              </a:rPr>
              <a:t>, reducing the organization’s ability to effectively guide execution and monitor performance. </a:t>
            </a:r>
          </a:p>
        </p:txBody>
      </p:sp>
      <p:sp>
        <p:nvSpPr>
          <p:cNvPr id="10" name="Rectangle 6">
            <a:extLst>
              <a:ext uri="{FF2B5EF4-FFF2-40B4-BE49-F238E27FC236}">
                <a16:creationId xmlns:a16="http://schemas.microsoft.com/office/drawing/2014/main" id="{53062F34-3BF2-B0D7-D701-8E7287B35C21}"/>
              </a:ext>
            </a:extLst>
          </p:cNvPr>
          <p:cNvSpPr/>
          <p:nvPr/>
        </p:nvSpPr>
        <p:spPr>
          <a:xfrm>
            <a:off x="6843371" y="257080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9">
            <a:extLst>
              <a:ext uri="{FF2B5EF4-FFF2-40B4-BE49-F238E27FC236}">
                <a16:creationId xmlns:a16="http://schemas.microsoft.com/office/drawing/2014/main" id="{D11C9B65-CACE-CBD7-6159-E21AF00D937B}"/>
              </a:ext>
            </a:extLst>
          </p:cNvPr>
          <p:cNvSpPr/>
          <p:nvPr/>
        </p:nvSpPr>
        <p:spPr>
          <a:xfrm>
            <a:off x="6843371" y="298228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Rectangle 13">
            <a:extLst>
              <a:ext uri="{FF2B5EF4-FFF2-40B4-BE49-F238E27FC236}">
                <a16:creationId xmlns:a16="http://schemas.microsoft.com/office/drawing/2014/main" id="{EB58A86E-7094-BC01-8B54-7274142E7FC1}"/>
              </a:ext>
            </a:extLst>
          </p:cNvPr>
          <p:cNvSpPr/>
          <p:nvPr/>
        </p:nvSpPr>
        <p:spPr>
          <a:xfrm>
            <a:off x="6843371" y="339376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noProof="0">
              <a:latin typeface="Arial" panose="020B0604020202020204" pitchFamily="34" charset="0"/>
              <a:cs typeface="Arial" panose="020B0604020202020204" pitchFamily="34" charset="0"/>
            </a:endParaRPr>
          </a:p>
        </p:txBody>
      </p:sp>
      <p:sp>
        <p:nvSpPr>
          <p:cNvPr id="13" name="Rectangle 18">
            <a:extLst>
              <a:ext uri="{FF2B5EF4-FFF2-40B4-BE49-F238E27FC236}">
                <a16:creationId xmlns:a16="http://schemas.microsoft.com/office/drawing/2014/main" id="{56C70BBA-16A9-75D3-B972-EC9B39011D88}"/>
              </a:ext>
            </a:extLst>
          </p:cNvPr>
          <p:cNvSpPr/>
          <p:nvPr/>
        </p:nvSpPr>
        <p:spPr>
          <a:xfrm>
            <a:off x="6843371" y="380524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noProof="0">
              <a:latin typeface="Arial" panose="020B0604020202020204" pitchFamily="34" charset="0"/>
              <a:cs typeface="Arial" panose="020B0604020202020204" pitchFamily="34" charset="0"/>
            </a:endParaRPr>
          </a:p>
        </p:txBody>
      </p:sp>
      <p:pic>
        <p:nvPicPr>
          <p:cNvPr id="16" name="Image 0" descr="preencoded.png">
            <a:extLst>
              <a:ext uri="{FF2B5EF4-FFF2-40B4-BE49-F238E27FC236}">
                <a16:creationId xmlns:a16="http://schemas.microsoft.com/office/drawing/2014/main" id="{A2C59B0B-877D-74BB-D143-262CC33155FC}"/>
              </a:ext>
            </a:extLst>
          </p:cNvPr>
          <p:cNvPicPr>
            <a:picLocks noChangeAspect="1"/>
          </p:cNvPicPr>
          <p:nvPr/>
        </p:nvPicPr>
        <p:blipFill>
          <a:blip r:embed="rId4">
            <a:duotone>
              <a:prstClr val="black"/>
              <a:schemeClr val="accent1">
                <a:tint val="45000"/>
                <a:satMod val="400000"/>
              </a:schemeClr>
            </a:duotone>
          </a:blip>
          <a:srcRect l="-80" r="-80"/>
          <a:stretch/>
        </p:blipFill>
        <p:spPr>
          <a:xfrm>
            <a:off x="6899641" y="2400988"/>
            <a:ext cx="340932" cy="272310"/>
          </a:xfrm>
          <a:prstGeom prst="rect">
            <a:avLst/>
          </a:prstGeom>
          <a:noFill/>
          <a:ln>
            <a:noFill/>
          </a:ln>
        </p:spPr>
      </p:pic>
      <p:sp>
        <p:nvSpPr>
          <p:cNvPr id="17" name="Text 10">
            <a:extLst>
              <a:ext uri="{FF2B5EF4-FFF2-40B4-BE49-F238E27FC236}">
                <a16:creationId xmlns:a16="http://schemas.microsoft.com/office/drawing/2014/main" id="{2394AF1B-DC51-98A1-962F-DD669809EA39}"/>
              </a:ext>
            </a:extLst>
          </p:cNvPr>
          <p:cNvSpPr txBox="1"/>
          <p:nvPr/>
        </p:nvSpPr>
        <p:spPr>
          <a:xfrm>
            <a:off x="7502761" y="2088006"/>
            <a:ext cx="3304085" cy="505663"/>
          </a:xfrm>
          <a:prstGeom prst="rect">
            <a:avLst/>
          </a:prstGeom>
          <a:noFill/>
          <a:ln>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No Operational Transparency</a:t>
            </a:r>
            <a:endParaRPr kumimoji="0" lang="en-US" sz="16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pic>
        <p:nvPicPr>
          <p:cNvPr id="18" name="Image 2" descr="preencoded.png">
            <a:extLst>
              <a:ext uri="{FF2B5EF4-FFF2-40B4-BE49-F238E27FC236}">
                <a16:creationId xmlns:a16="http://schemas.microsoft.com/office/drawing/2014/main" id="{081840A7-107F-128A-C4B1-B490CC4691F9}"/>
              </a:ext>
            </a:extLst>
          </p:cNvPr>
          <p:cNvPicPr>
            <a:picLocks noChangeAspect="1"/>
          </p:cNvPicPr>
          <p:nvPr/>
        </p:nvPicPr>
        <p:blipFill>
          <a:blip r:embed="rId5">
            <a:duotone>
              <a:prstClr val="black"/>
              <a:schemeClr val="accent1">
                <a:tint val="45000"/>
                <a:satMod val="400000"/>
              </a:schemeClr>
            </a:duotone>
          </a:blip>
          <a:srcRect l="-80" r="-80"/>
          <a:stretch/>
        </p:blipFill>
        <p:spPr>
          <a:xfrm>
            <a:off x="6892581" y="3347297"/>
            <a:ext cx="355052" cy="283588"/>
          </a:xfrm>
          <a:prstGeom prst="rect">
            <a:avLst/>
          </a:prstGeom>
          <a:noFill/>
          <a:ln>
            <a:noFill/>
          </a:ln>
        </p:spPr>
      </p:pic>
      <p:sp>
        <p:nvSpPr>
          <p:cNvPr id="19" name="Text 20">
            <a:extLst>
              <a:ext uri="{FF2B5EF4-FFF2-40B4-BE49-F238E27FC236}">
                <a16:creationId xmlns:a16="http://schemas.microsoft.com/office/drawing/2014/main" id="{3EABF434-B986-C8B6-CB8C-DB125D3D51E4}"/>
              </a:ext>
            </a:extLst>
          </p:cNvPr>
          <p:cNvSpPr txBox="1"/>
          <p:nvPr/>
        </p:nvSpPr>
        <p:spPr>
          <a:xfrm>
            <a:off x="7502761" y="3045666"/>
            <a:ext cx="3480198"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noProof="0">
                <a:solidFill>
                  <a:schemeClr val="tx1"/>
                </a:solidFill>
                <a:latin typeface="Arial" panose="020B0604020202020204" pitchFamily="34" charset="0"/>
                <a:cs typeface="Arial" panose="020B0604020202020204" pitchFamily="34" charset="0"/>
              </a:rPr>
              <a:t>No Standardized Value Criteria</a:t>
            </a:r>
          </a:p>
        </p:txBody>
      </p:sp>
      <p:pic>
        <p:nvPicPr>
          <p:cNvPr id="20" name="Image 4" descr="preencoded.png">
            <a:extLst>
              <a:ext uri="{FF2B5EF4-FFF2-40B4-BE49-F238E27FC236}">
                <a16:creationId xmlns:a16="http://schemas.microsoft.com/office/drawing/2014/main" id="{47E2FA67-3EF5-FEF8-2B9B-AF26BAFC8DAA}"/>
              </a:ext>
            </a:extLst>
          </p:cNvPr>
          <p:cNvPicPr>
            <a:picLocks noChangeAspect="1"/>
          </p:cNvPicPr>
          <p:nvPr/>
        </p:nvPicPr>
        <p:blipFill>
          <a:blip r:embed="rId6">
            <a:duotone>
              <a:prstClr val="black"/>
              <a:schemeClr val="accent1">
                <a:tint val="45000"/>
                <a:satMod val="400000"/>
              </a:schemeClr>
            </a:duotone>
          </a:blip>
          <a:srcRect/>
          <a:stretch/>
        </p:blipFill>
        <p:spPr>
          <a:xfrm>
            <a:off x="6932822" y="4271882"/>
            <a:ext cx="274570" cy="274570"/>
          </a:xfrm>
          <a:prstGeom prst="rect">
            <a:avLst/>
          </a:prstGeom>
          <a:noFill/>
          <a:ln>
            <a:noFill/>
          </a:ln>
        </p:spPr>
      </p:pic>
      <p:sp>
        <p:nvSpPr>
          <p:cNvPr id="21" name="Text 30">
            <a:extLst>
              <a:ext uri="{FF2B5EF4-FFF2-40B4-BE49-F238E27FC236}">
                <a16:creationId xmlns:a16="http://schemas.microsoft.com/office/drawing/2014/main" id="{F9430A51-F9CF-AB00-91F8-FA69A7159D57}"/>
              </a:ext>
            </a:extLst>
          </p:cNvPr>
          <p:cNvSpPr txBox="1"/>
          <p:nvPr/>
        </p:nvSpPr>
        <p:spPr>
          <a:xfrm>
            <a:off x="7502761" y="3959643"/>
            <a:ext cx="3115444"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noProof="0">
                <a:solidFill>
                  <a:schemeClr val="tx1"/>
                </a:solidFill>
                <a:latin typeface="Arial" panose="020B0604020202020204" pitchFamily="34" charset="0"/>
                <a:cs typeface="Arial" panose="020B0604020202020204" pitchFamily="34" charset="0"/>
              </a:rPr>
              <a:t>Operational Fragmentation</a:t>
            </a:r>
          </a:p>
        </p:txBody>
      </p:sp>
      <p:sp>
        <p:nvSpPr>
          <p:cNvPr id="25" name="Text 14">
            <a:extLst>
              <a:ext uri="{FF2B5EF4-FFF2-40B4-BE49-F238E27FC236}">
                <a16:creationId xmlns:a16="http://schemas.microsoft.com/office/drawing/2014/main" id="{7E65BBAE-01F7-F359-8AE2-E5A04B9C45A3}"/>
              </a:ext>
            </a:extLst>
          </p:cNvPr>
          <p:cNvSpPr txBox="1"/>
          <p:nvPr/>
        </p:nvSpPr>
        <p:spPr>
          <a:xfrm>
            <a:off x="7502761" y="2479384"/>
            <a:ext cx="4062476" cy="60076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Inability to effectively manage capacity or predict delivery timelines for the projected 30-50% growth.</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FB926C48-08CB-5455-C632-34EB778CF200}"/>
              </a:ext>
            </a:extLst>
          </p:cNvPr>
          <p:cNvSpPr txBox="1"/>
          <p:nvPr/>
        </p:nvSpPr>
        <p:spPr>
          <a:xfrm>
            <a:off x="7502761" y="3403944"/>
            <a:ext cx="4084015" cy="60076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Resources may be allocated to low-value initiatives while strategic priorities face delays.</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 name="Text 34">
            <a:extLst>
              <a:ext uri="{FF2B5EF4-FFF2-40B4-BE49-F238E27FC236}">
                <a16:creationId xmlns:a16="http://schemas.microsoft.com/office/drawing/2014/main" id="{0446C02D-36BA-9D25-9532-DA7FCD5838E5}"/>
              </a:ext>
            </a:extLst>
          </p:cNvPr>
          <p:cNvSpPr txBox="1"/>
          <p:nvPr/>
        </p:nvSpPr>
        <p:spPr>
          <a:xfrm>
            <a:off x="7502761" y="4328504"/>
            <a:ext cx="3880815" cy="8001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High operational overhead, data inconsistency, and increased risk of requirements getting lost in translation.</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Rounded Rectangle 4">
            <a:extLst>
              <a:ext uri="{FF2B5EF4-FFF2-40B4-BE49-F238E27FC236}">
                <a16:creationId xmlns:a16="http://schemas.microsoft.com/office/drawing/2014/main" id="{5DC05BDF-7E6A-0EAD-B9E6-F811C82DB9F9}"/>
              </a:ext>
            </a:extLst>
          </p:cNvPr>
          <p:cNvSpPr/>
          <p:nvPr/>
        </p:nvSpPr>
        <p:spPr>
          <a:xfrm>
            <a:off x="543155" y="1656409"/>
            <a:ext cx="4846320" cy="411480"/>
          </a:xfrm>
          <a:prstGeom prst="roundRect">
            <a:avLst>
              <a:gd name="adj" fmla="val 5093"/>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WHY WE ARE HERE</a:t>
            </a:r>
          </a:p>
        </p:txBody>
      </p:sp>
      <p:sp>
        <p:nvSpPr>
          <p:cNvPr id="6" name="Rounded Rectangle 4">
            <a:extLst>
              <a:ext uri="{FF2B5EF4-FFF2-40B4-BE49-F238E27FC236}">
                <a16:creationId xmlns:a16="http://schemas.microsoft.com/office/drawing/2014/main" id="{61E7F217-9E25-E1C1-9F6E-077D78503F57}"/>
              </a:ext>
            </a:extLst>
          </p:cNvPr>
          <p:cNvSpPr/>
          <p:nvPr/>
        </p:nvSpPr>
        <p:spPr>
          <a:xfrm>
            <a:off x="6811875" y="1656409"/>
            <a:ext cx="4846320" cy="411480"/>
          </a:xfrm>
          <a:prstGeom prst="roundRect">
            <a:avLst>
              <a:gd name="adj" fmla="val 5093"/>
            </a:avLst>
          </a:prstGeom>
          <a:solidFill>
            <a:srgbClr val="74747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noProof="0">
                <a:solidFill>
                  <a:srgbClr val="FFFFFF"/>
                </a:solidFill>
                <a:latin typeface="Arial" panose="020B0604020202020204" pitchFamily="34" charset="0"/>
                <a:cs typeface="Arial" panose="020B0604020202020204" pitchFamily="34" charset="0"/>
              </a:rPr>
              <a:t>THE CHALLENGE</a:t>
            </a:r>
          </a:p>
        </p:txBody>
      </p:sp>
      <p:sp>
        <p:nvSpPr>
          <p:cNvPr id="3" name="CuadroTexto 204">
            <a:extLst>
              <a:ext uri="{FF2B5EF4-FFF2-40B4-BE49-F238E27FC236}">
                <a16:creationId xmlns:a16="http://schemas.microsoft.com/office/drawing/2014/main" id="{B2E1393A-E253-03F0-E020-3FF52DAC1A93}"/>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latin typeface="Arial"/>
                <a:cs typeface="Arial"/>
              </a:rPr>
              <a:t>Avangrid is consolidating Customer Services Applications and IT Business Applications into a single Digital Products area — IT Business Solutions Deliver; demand fragmentation is the structural risk the Target Operating Model must resolve.</a:t>
            </a:r>
            <a:endParaRPr lang="en-US"/>
          </a:p>
        </p:txBody>
      </p:sp>
      <p:sp>
        <p:nvSpPr>
          <p:cNvPr id="5" name="Rounded Rectangle 29">
            <a:extLst>
              <a:ext uri="{FF2B5EF4-FFF2-40B4-BE49-F238E27FC236}">
                <a16:creationId xmlns:a16="http://schemas.microsoft.com/office/drawing/2014/main" id="{756E174C-5711-B89E-7273-CB293DB13C92}"/>
              </a:ext>
            </a:extLst>
          </p:cNvPr>
          <p:cNvSpPr/>
          <p:nvPr/>
        </p:nvSpPr>
        <p:spPr>
          <a:xfrm>
            <a:off x="0" y="5747878"/>
            <a:ext cx="12192000" cy="547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a:latin typeface="Arial" panose="020B0604020202020204" pitchFamily="34" charset="0"/>
                <a:cs typeface="Arial" panose="020B0604020202020204" pitchFamily="34" charset="0"/>
              </a:rPr>
              <a:t>Digital Products is defining its future ways of working to tackle gaps in transparency, prioritization, and delivery. The objective is to build a scalable, aligned and value-driven operating model.</a:t>
            </a:r>
          </a:p>
        </p:txBody>
      </p:sp>
      <p:sp>
        <p:nvSpPr>
          <p:cNvPr id="7" name="Rectangle 38">
            <a:extLst>
              <a:ext uri="{FF2B5EF4-FFF2-40B4-BE49-F238E27FC236}">
                <a16:creationId xmlns:a16="http://schemas.microsoft.com/office/drawing/2014/main" id="{990C5178-7F4A-12BE-D15B-4EB7B2900458}"/>
              </a:ext>
            </a:extLst>
          </p:cNvPr>
          <p:cNvSpPr/>
          <p:nvPr/>
        </p:nvSpPr>
        <p:spPr>
          <a:xfrm>
            <a:off x="6077586" y="1658393"/>
            <a:ext cx="49624" cy="34702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515359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000-E1B9-1BCA-025D-A3B5EBC554BE}"/>
            </a:ext>
          </a:extLst>
        </p:cNvPr>
        <p:cNvGrpSpPr/>
        <p:nvPr/>
      </p:nvGrpSpPr>
      <p:grpSpPr>
        <a:xfrm>
          <a:off x="0" y="0"/>
          <a:ext cx="0" cy="0"/>
          <a:chOff x="0" y="0"/>
          <a:chExt cx="0" cy="0"/>
        </a:xfrm>
      </p:grpSpPr>
      <p:sp>
        <p:nvSpPr>
          <p:cNvPr id="16" name="Título 2">
            <a:extLst>
              <a:ext uri="{FF2B5EF4-FFF2-40B4-BE49-F238E27FC236}">
                <a16:creationId xmlns:a16="http://schemas.microsoft.com/office/drawing/2014/main" id="{FDE8D4C8-009A-7DE9-FF68-16732E5E5E6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CONTEXT</a:t>
            </a:r>
          </a:p>
          <a:p>
            <a:r>
              <a:rPr lang="en-US" sz="1200" noProof="0">
                <a:latin typeface="Arial"/>
              </a:rPr>
              <a:t>WHY WE’RE HERE</a:t>
            </a:r>
          </a:p>
        </p:txBody>
      </p:sp>
      <p:sp>
        <p:nvSpPr>
          <p:cNvPr id="37" name="Rounded Rectangle 29">
            <a:extLst>
              <a:ext uri="{FF2B5EF4-FFF2-40B4-BE49-F238E27FC236}">
                <a16:creationId xmlns:a16="http://schemas.microsoft.com/office/drawing/2014/main" id="{02D6DAC7-A84E-D36A-1367-54694BAA135A}"/>
              </a:ext>
            </a:extLst>
          </p:cNvPr>
          <p:cNvSpPr/>
          <p:nvPr/>
        </p:nvSpPr>
        <p:spPr>
          <a:xfrm>
            <a:off x="0" y="5747878"/>
            <a:ext cx="12192000" cy="547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a:latin typeface="Arial" panose="020B0604020202020204" pitchFamily="34" charset="0"/>
                <a:cs typeface="Arial" panose="020B0604020202020204" pitchFamily="34" charset="0"/>
              </a:rPr>
              <a:t>We will accelerate delivery and reduce risk by leveraging proven capabilities from four existing Avangrid projects across these dimensions</a:t>
            </a:r>
          </a:p>
        </p:txBody>
      </p:sp>
      <p:grpSp>
        <p:nvGrpSpPr>
          <p:cNvPr id="9" name="Group 8">
            <a:extLst>
              <a:ext uri="{FF2B5EF4-FFF2-40B4-BE49-F238E27FC236}">
                <a16:creationId xmlns:a16="http://schemas.microsoft.com/office/drawing/2014/main" id="{81BF3E26-06C5-6BEB-150C-C4C2176BCC37}"/>
              </a:ext>
            </a:extLst>
          </p:cNvPr>
          <p:cNvGrpSpPr/>
          <p:nvPr/>
        </p:nvGrpSpPr>
        <p:grpSpPr>
          <a:xfrm>
            <a:off x="543154" y="2124499"/>
            <a:ext cx="4846321" cy="3540362"/>
            <a:chOff x="543154" y="2173659"/>
            <a:chExt cx="4846321" cy="3540362"/>
          </a:xfrm>
        </p:grpSpPr>
        <p:sp>
          <p:nvSpPr>
            <p:cNvPr id="73" name="Shape 14">
              <a:extLst>
                <a:ext uri="{FF2B5EF4-FFF2-40B4-BE49-F238E27FC236}">
                  <a16:creationId xmlns:a16="http://schemas.microsoft.com/office/drawing/2014/main" id="{39A7DB04-8C8C-BC76-1EC0-F162B92AE464}"/>
                </a:ext>
              </a:extLst>
            </p:cNvPr>
            <p:cNvSpPr/>
            <p:nvPr/>
          </p:nvSpPr>
          <p:spPr>
            <a:xfrm>
              <a:off x="543154" y="4945333"/>
              <a:ext cx="4828311" cy="76868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0" name="Shape 14">
              <a:extLst>
                <a:ext uri="{FF2B5EF4-FFF2-40B4-BE49-F238E27FC236}">
                  <a16:creationId xmlns:a16="http://schemas.microsoft.com/office/drawing/2014/main" id="{D881C30A-F963-15CA-8105-D45FB850FD6F}"/>
                </a:ext>
              </a:extLst>
            </p:cNvPr>
            <p:cNvSpPr/>
            <p:nvPr/>
          </p:nvSpPr>
          <p:spPr>
            <a:xfrm>
              <a:off x="543155" y="2173659"/>
              <a:ext cx="4828311" cy="84180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1" name="Shape 14">
              <a:extLst>
                <a:ext uri="{FF2B5EF4-FFF2-40B4-BE49-F238E27FC236}">
                  <a16:creationId xmlns:a16="http://schemas.microsoft.com/office/drawing/2014/main" id="{D2DA8801-32B1-0A43-6053-7601EFBCE6F7}"/>
                </a:ext>
              </a:extLst>
            </p:cNvPr>
            <p:cNvSpPr/>
            <p:nvPr/>
          </p:nvSpPr>
          <p:spPr>
            <a:xfrm>
              <a:off x="543155" y="3095681"/>
              <a:ext cx="4828311" cy="84180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2" name="Shape 14">
              <a:extLst>
                <a:ext uri="{FF2B5EF4-FFF2-40B4-BE49-F238E27FC236}">
                  <a16:creationId xmlns:a16="http://schemas.microsoft.com/office/drawing/2014/main" id="{41F18845-01A0-8EF3-CA5D-150FA023DBF5}"/>
                </a:ext>
              </a:extLst>
            </p:cNvPr>
            <p:cNvSpPr/>
            <p:nvPr/>
          </p:nvSpPr>
          <p:spPr>
            <a:xfrm>
              <a:off x="543155" y="4017703"/>
              <a:ext cx="4828311" cy="84180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716C00E8-59E4-35F8-3CB2-03F98AF16E14}"/>
                </a:ext>
              </a:extLst>
            </p:cNvPr>
            <p:cNvSpPr txBox="1"/>
            <p:nvPr/>
          </p:nvSpPr>
          <p:spPr>
            <a:xfrm>
              <a:off x="1105414" y="2252198"/>
              <a:ext cx="4284061" cy="650530"/>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Lifecycle &amp; Strategy</a:t>
              </a:r>
            </a:p>
            <a:p>
              <a:pPr>
                <a:spcBef>
                  <a:spcPts val="100"/>
                </a:spcBef>
                <a:spcAft>
                  <a:spcPts val="100"/>
                </a:spcAft>
              </a:pPr>
              <a:r>
                <a:rPr lang="en-US" sz="1200" noProof="0">
                  <a:latin typeface="Arial" panose="020B0604020202020204" pitchFamily="34" charset="0"/>
                  <a:cs typeface="Arial" panose="020B0604020202020204" pitchFamily="34" charset="0"/>
                </a:rPr>
                <a:t>One intake → Value Based Prioritization </a:t>
              </a:r>
              <a:r>
                <a:rPr lang="en-US" sz="1200" b="0" noProof="0">
                  <a:latin typeface="Arial" panose="020B0604020202020204" pitchFamily="34" charset="0"/>
                  <a:cs typeface="Arial" panose="020B0604020202020204" pitchFamily="34" charset="0"/>
                </a:rPr>
                <a:t>→ E2E traceability</a:t>
              </a:r>
            </a:p>
          </p:txBody>
        </p:sp>
        <p:sp>
          <p:nvSpPr>
            <p:cNvPr id="30" name="TextBox 29">
              <a:extLst>
                <a:ext uri="{FF2B5EF4-FFF2-40B4-BE49-F238E27FC236}">
                  <a16:creationId xmlns:a16="http://schemas.microsoft.com/office/drawing/2014/main" id="{9DA47C0E-B522-392D-B3FD-62DE3AE116CD}"/>
                </a:ext>
              </a:extLst>
            </p:cNvPr>
            <p:cNvSpPr txBox="1"/>
            <p:nvPr/>
          </p:nvSpPr>
          <p:spPr>
            <a:xfrm>
              <a:off x="1105414" y="3176917"/>
              <a:ext cx="4284061" cy="650530"/>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Tools &amp; Transparency</a:t>
              </a:r>
            </a:p>
            <a:p>
              <a:pPr>
                <a:spcBef>
                  <a:spcPts val="100"/>
                </a:spcBef>
                <a:spcAft>
                  <a:spcPts val="100"/>
                </a:spcAft>
              </a:pPr>
              <a:r>
                <a:rPr lang="en-US" sz="1200" b="0" noProof="0">
                  <a:latin typeface="Arial" panose="020B0604020202020204" pitchFamily="34" charset="0"/>
                  <a:cs typeface="Arial" panose="020B0604020202020204" pitchFamily="34" charset="0"/>
                </a:rPr>
                <a:t>Jira workflows → PPMNow visibility → Real-time dashboards</a:t>
              </a:r>
            </a:p>
          </p:txBody>
        </p:sp>
        <p:sp>
          <p:nvSpPr>
            <p:cNvPr id="33" name="TextBox 32">
              <a:extLst>
                <a:ext uri="{FF2B5EF4-FFF2-40B4-BE49-F238E27FC236}">
                  <a16:creationId xmlns:a16="http://schemas.microsoft.com/office/drawing/2014/main" id="{F99465B1-CA58-BBF9-EE3C-6207FE65865B}"/>
                </a:ext>
              </a:extLst>
            </p:cNvPr>
            <p:cNvSpPr txBox="1"/>
            <p:nvPr/>
          </p:nvSpPr>
          <p:spPr>
            <a:xfrm>
              <a:off x="1105414" y="4127906"/>
              <a:ext cx="4272961" cy="650530"/>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People &amp; Governance</a:t>
              </a:r>
            </a:p>
            <a:p>
              <a:pPr>
                <a:spcBef>
                  <a:spcPts val="100"/>
                </a:spcBef>
                <a:spcAft>
                  <a:spcPts val="100"/>
                </a:spcAft>
              </a:pPr>
              <a:r>
                <a:rPr lang="en-US" sz="1200" b="0" noProof="0">
                  <a:latin typeface="Arial" panose="020B0604020202020204" pitchFamily="34" charset="0"/>
                  <a:cs typeface="Arial" panose="020B0604020202020204" pitchFamily="34" charset="0"/>
                </a:rPr>
                <a:t>RACI across lifecycle → Champions per area → Governance model</a:t>
              </a:r>
            </a:p>
          </p:txBody>
        </p:sp>
        <p:sp>
          <p:nvSpPr>
            <p:cNvPr id="36" name="TextBox 35">
              <a:extLst>
                <a:ext uri="{FF2B5EF4-FFF2-40B4-BE49-F238E27FC236}">
                  <a16:creationId xmlns:a16="http://schemas.microsoft.com/office/drawing/2014/main" id="{62F710D7-B084-64DE-2B28-8430F410BD0E}"/>
                </a:ext>
              </a:extLst>
            </p:cNvPr>
            <p:cNvSpPr txBox="1"/>
            <p:nvPr/>
          </p:nvSpPr>
          <p:spPr>
            <a:xfrm>
              <a:off x="1105414" y="5130033"/>
              <a:ext cx="4272961" cy="502702"/>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Pilot &amp; Adoption</a:t>
              </a:r>
            </a:p>
            <a:p>
              <a:pPr>
                <a:spcBef>
                  <a:spcPts val="100"/>
                </a:spcBef>
                <a:spcAft>
                  <a:spcPts val="100"/>
                </a:spcAft>
              </a:pPr>
              <a:r>
                <a:rPr lang="en-US" sz="1200" b="0" noProof="0">
                  <a:latin typeface="Arial" panose="020B0604020202020204" pitchFamily="34" charset="0"/>
                  <a:cs typeface="Arial" panose="020B0604020202020204" pitchFamily="34" charset="0"/>
                </a:rPr>
                <a:t>BRS pilot → </a:t>
              </a:r>
              <a:r>
                <a:rPr lang="en-US" sz="1200" b="0" noProof="0" err="1">
                  <a:latin typeface="Arial" panose="020B0604020202020204" pitchFamily="34" charset="0"/>
                  <a:cs typeface="Arial" panose="020B0604020202020204" pitchFamily="34" charset="0"/>
                </a:rPr>
                <a:t>OwnIT</a:t>
              </a:r>
              <a:r>
                <a:rPr lang="en-US" sz="1200" b="0" noProof="0">
                  <a:latin typeface="Arial" panose="020B0604020202020204" pitchFamily="34" charset="0"/>
                  <a:cs typeface="Arial" panose="020B0604020202020204" pitchFamily="34" charset="0"/>
                </a:rPr>
                <a:t> Playbook → Validated for Wave 2</a:t>
              </a:r>
            </a:p>
          </p:txBody>
        </p:sp>
        <p:pic>
          <p:nvPicPr>
            <p:cNvPr id="3" name="Gráfico 2" descr="Distintivo nuevo con relleno sólido">
              <a:extLst>
                <a:ext uri="{FF2B5EF4-FFF2-40B4-BE49-F238E27FC236}">
                  <a16:creationId xmlns:a16="http://schemas.microsoft.com/office/drawing/2014/main" id="{F446370B-8FF3-C6C4-6CDE-E57AC0D482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2411058"/>
              <a:ext cx="423686" cy="367012"/>
            </a:xfrm>
            <a:prstGeom prst="rect">
              <a:avLst/>
            </a:prstGeom>
          </p:spPr>
        </p:pic>
        <p:pic>
          <p:nvPicPr>
            <p:cNvPr id="4" name="Gráfico 3" descr="Distintivo nuevo con relleno sólido">
              <a:extLst>
                <a:ext uri="{FF2B5EF4-FFF2-40B4-BE49-F238E27FC236}">
                  <a16:creationId xmlns:a16="http://schemas.microsoft.com/office/drawing/2014/main" id="{24C39A16-AEEE-0F83-7CFC-08231BA29E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3333081"/>
              <a:ext cx="423686" cy="367012"/>
            </a:xfrm>
            <a:prstGeom prst="rect">
              <a:avLst/>
            </a:prstGeom>
          </p:spPr>
        </p:pic>
        <p:pic>
          <p:nvPicPr>
            <p:cNvPr id="7" name="Gráfico 6" descr="Distintivo nuevo con relleno sólido">
              <a:extLst>
                <a:ext uri="{FF2B5EF4-FFF2-40B4-BE49-F238E27FC236}">
                  <a16:creationId xmlns:a16="http://schemas.microsoft.com/office/drawing/2014/main" id="{D008DF40-EBCD-9044-42DD-3664D5CD2D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4255104"/>
              <a:ext cx="423686" cy="367012"/>
            </a:xfrm>
            <a:prstGeom prst="rect">
              <a:avLst/>
            </a:prstGeom>
          </p:spPr>
        </p:pic>
        <p:pic>
          <p:nvPicPr>
            <p:cNvPr id="8" name="Gráfico 7" descr="Distintivo nuevo con relleno sólido">
              <a:extLst>
                <a:ext uri="{FF2B5EF4-FFF2-40B4-BE49-F238E27FC236}">
                  <a16:creationId xmlns:a16="http://schemas.microsoft.com/office/drawing/2014/main" id="{34162DA0-82A6-D5C1-1308-8195C3F074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5177126"/>
              <a:ext cx="423686" cy="367012"/>
            </a:xfrm>
            <a:prstGeom prst="rect">
              <a:avLst/>
            </a:prstGeom>
          </p:spPr>
        </p:pic>
      </p:grpSp>
      <p:sp>
        <p:nvSpPr>
          <p:cNvPr id="2" name="CuadroTexto 204">
            <a:extLst>
              <a:ext uri="{FF2B5EF4-FFF2-40B4-BE49-F238E27FC236}">
                <a16:creationId xmlns:a16="http://schemas.microsoft.com/office/drawing/2014/main" id="{299A03A1-9720-B87F-8E9C-DF3A423C814D}"/>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Digital Products is scaling rapidly, but lack of a unified operating model is creating fragmentation and inefficiencies; We address this by defining a structured, end-to-end model across strategy, execution, governance and tooling</a:t>
            </a:r>
          </a:p>
        </p:txBody>
      </p:sp>
      <p:sp>
        <p:nvSpPr>
          <p:cNvPr id="5" name="Rounded Rectangle 4">
            <a:extLst>
              <a:ext uri="{FF2B5EF4-FFF2-40B4-BE49-F238E27FC236}">
                <a16:creationId xmlns:a16="http://schemas.microsoft.com/office/drawing/2014/main" id="{FF273D30-9F7A-A9E4-F2E7-FC977EBE9AB0}"/>
              </a:ext>
            </a:extLst>
          </p:cNvPr>
          <p:cNvSpPr/>
          <p:nvPr/>
        </p:nvSpPr>
        <p:spPr>
          <a:xfrm>
            <a:off x="543155" y="1656409"/>
            <a:ext cx="4846320" cy="411480"/>
          </a:xfrm>
          <a:prstGeom prst="roundRect">
            <a:avLst>
              <a:gd name="adj" fmla="val 5093"/>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a:solidFill>
                  <a:srgbClr val="FFFFFF"/>
                </a:solidFill>
                <a:latin typeface="Arial" panose="020B0604020202020204" pitchFamily="34" charset="0"/>
                <a:cs typeface="Arial" panose="020B0604020202020204" pitchFamily="34" charset="0"/>
              </a:rPr>
              <a:t>OUR RESPONSE — 4 DIMENSIONS</a:t>
            </a:r>
          </a:p>
        </p:txBody>
      </p:sp>
      <p:sp>
        <p:nvSpPr>
          <p:cNvPr id="10" name="Rounded Rectangle 4">
            <a:extLst>
              <a:ext uri="{FF2B5EF4-FFF2-40B4-BE49-F238E27FC236}">
                <a16:creationId xmlns:a16="http://schemas.microsoft.com/office/drawing/2014/main" id="{3F836A9C-F2D9-CA2E-BE1F-0808F0628840}"/>
              </a:ext>
            </a:extLst>
          </p:cNvPr>
          <p:cNvSpPr/>
          <p:nvPr/>
        </p:nvSpPr>
        <p:spPr>
          <a:xfrm>
            <a:off x="6811875" y="1656409"/>
            <a:ext cx="4846320" cy="411480"/>
          </a:xfrm>
          <a:prstGeom prst="roundRect">
            <a:avLst>
              <a:gd name="adj" fmla="val 5093"/>
            </a:avLst>
          </a:prstGeom>
          <a:solidFill>
            <a:srgbClr val="005B96"/>
          </a:solidFill>
          <a:ln/>
        </p:spPr>
        <p:txBody>
          <a:bodyPr anchor="ctr"/>
          <a:lstStyle/>
          <a:p>
            <a:pPr algn="ctr"/>
            <a:r>
              <a:rPr lang="en-US" sz="1200" b="1">
                <a:solidFill>
                  <a:schemeClr val="bg1"/>
                </a:solidFill>
                <a:latin typeface="Arial" panose="020B0604020202020204" pitchFamily="34" charset="0"/>
                <a:cs typeface="Arial" panose="020B0604020202020204" pitchFamily="34" charset="0"/>
              </a:rPr>
              <a:t>FUTURE STATE (WHAT WE AIM TO ACHIEVE)</a:t>
            </a:r>
          </a:p>
        </p:txBody>
      </p:sp>
      <p:grpSp>
        <p:nvGrpSpPr>
          <p:cNvPr id="14" name="Grupo 13">
            <a:extLst>
              <a:ext uri="{FF2B5EF4-FFF2-40B4-BE49-F238E27FC236}">
                <a16:creationId xmlns:a16="http://schemas.microsoft.com/office/drawing/2014/main" id="{4B9CE011-4DC9-F591-A7AF-49E8DFF407B1}"/>
              </a:ext>
            </a:extLst>
          </p:cNvPr>
          <p:cNvGrpSpPr/>
          <p:nvPr/>
        </p:nvGrpSpPr>
        <p:grpSpPr>
          <a:xfrm>
            <a:off x="6820533" y="2124496"/>
            <a:ext cx="4828312" cy="3554409"/>
            <a:chOff x="6820533" y="2124496"/>
            <a:chExt cx="4828312" cy="3496659"/>
          </a:xfrm>
        </p:grpSpPr>
        <p:sp>
          <p:nvSpPr>
            <p:cNvPr id="44" name="Shape 14">
              <a:extLst>
                <a:ext uri="{FF2B5EF4-FFF2-40B4-BE49-F238E27FC236}">
                  <a16:creationId xmlns:a16="http://schemas.microsoft.com/office/drawing/2014/main" id="{B1A94186-707D-E273-25B0-07BEDC203BEB}"/>
                </a:ext>
              </a:extLst>
            </p:cNvPr>
            <p:cNvSpPr/>
            <p:nvPr/>
          </p:nvSpPr>
          <p:spPr>
            <a:xfrm>
              <a:off x="6820533" y="2124496"/>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6" name="Shape 20">
              <a:extLst>
                <a:ext uri="{FF2B5EF4-FFF2-40B4-BE49-F238E27FC236}">
                  <a16:creationId xmlns:a16="http://schemas.microsoft.com/office/drawing/2014/main" id="{851CD9D8-1E64-4925-DDD0-A120A1C49E0E}"/>
                </a:ext>
              </a:extLst>
            </p:cNvPr>
            <p:cNvSpPr/>
            <p:nvPr/>
          </p:nvSpPr>
          <p:spPr>
            <a:xfrm>
              <a:off x="6820533" y="2979266"/>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7" name="Shape 26">
              <a:extLst>
                <a:ext uri="{FF2B5EF4-FFF2-40B4-BE49-F238E27FC236}">
                  <a16:creationId xmlns:a16="http://schemas.microsoft.com/office/drawing/2014/main" id="{98E4F092-508D-8C62-B057-CEF51999C1D1}"/>
                </a:ext>
              </a:extLst>
            </p:cNvPr>
            <p:cNvSpPr/>
            <p:nvPr/>
          </p:nvSpPr>
          <p:spPr>
            <a:xfrm>
              <a:off x="6820533" y="3430520"/>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8" name="Shape 32">
              <a:extLst>
                <a:ext uri="{FF2B5EF4-FFF2-40B4-BE49-F238E27FC236}">
                  <a16:creationId xmlns:a16="http://schemas.microsoft.com/office/drawing/2014/main" id="{36757912-75F7-156E-D8B4-BC222AAFC27D}"/>
                </a:ext>
              </a:extLst>
            </p:cNvPr>
            <p:cNvSpPr/>
            <p:nvPr/>
          </p:nvSpPr>
          <p:spPr>
            <a:xfrm>
              <a:off x="6820533" y="3881029"/>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9" name="Shape 38">
              <a:extLst>
                <a:ext uri="{FF2B5EF4-FFF2-40B4-BE49-F238E27FC236}">
                  <a16:creationId xmlns:a16="http://schemas.microsoft.com/office/drawing/2014/main" id="{D50E17F7-2FB6-8FFC-5815-DC207AB15A9F}"/>
                </a:ext>
              </a:extLst>
            </p:cNvPr>
            <p:cNvSpPr/>
            <p:nvPr/>
          </p:nvSpPr>
          <p:spPr>
            <a:xfrm>
              <a:off x="6820533" y="4331537"/>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0" name="Shape 44">
              <a:extLst>
                <a:ext uri="{FF2B5EF4-FFF2-40B4-BE49-F238E27FC236}">
                  <a16:creationId xmlns:a16="http://schemas.microsoft.com/office/drawing/2014/main" id="{7CACCAE0-184A-29FD-B810-EA73D817EF00}"/>
                </a:ext>
              </a:extLst>
            </p:cNvPr>
            <p:cNvSpPr/>
            <p:nvPr/>
          </p:nvSpPr>
          <p:spPr>
            <a:xfrm>
              <a:off x="6820533" y="4782046"/>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1" name="Shape 50">
              <a:extLst>
                <a:ext uri="{FF2B5EF4-FFF2-40B4-BE49-F238E27FC236}">
                  <a16:creationId xmlns:a16="http://schemas.microsoft.com/office/drawing/2014/main" id="{4393A72B-B353-BFD4-2FE8-60E6C2C9DCD1}"/>
                </a:ext>
              </a:extLst>
            </p:cNvPr>
            <p:cNvSpPr/>
            <p:nvPr/>
          </p:nvSpPr>
          <p:spPr>
            <a:xfrm>
              <a:off x="6820533" y="5232555"/>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5" name="Text 18">
              <a:extLst>
                <a:ext uri="{FF2B5EF4-FFF2-40B4-BE49-F238E27FC236}">
                  <a16:creationId xmlns:a16="http://schemas.microsoft.com/office/drawing/2014/main" id="{968B2D2A-6543-9732-AA69-00FFABE95CC5}"/>
                </a:ext>
              </a:extLst>
            </p:cNvPr>
            <p:cNvSpPr txBox="1"/>
            <p:nvPr/>
          </p:nvSpPr>
          <p:spPr>
            <a:xfrm>
              <a:off x="7247896" y="2243090"/>
              <a:ext cx="4372755"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Single structured intake process for all demand types</a:t>
              </a:r>
              <a:endParaRPr lang="en-US" sz="1200" noProof="0">
                <a:latin typeface="Arial" panose="020B0604020202020204" pitchFamily="34" charset="0"/>
                <a:cs typeface="Arial" panose="020B0604020202020204" pitchFamily="34" charset="0"/>
              </a:endParaRPr>
            </a:p>
          </p:txBody>
        </p:sp>
        <p:pic>
          <p:nvPicPr>
            <p:cNvPr id="56" name="Image 6" descr="preencoded.png">
              <a:extLst>
                <a:ext uri="{FF2B5EF4-FFF2-40B4-BE49-F238E27FC236}">
                  <a16:creationId xmlns:a16="http://schemas.microsoft.com/office/drawing/2014/main" id="{27CAF99F-604D-F219-5EAD-47B950B579CE}"/>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2269942"/>
              <a:ext cx="114888" cy="93234"/>
            </a:xfrm>
            <a:prstGeom prst="rect">
              <a:avLst/>
            </a:prstGeom>
          </p:spPr>
        </p:pic>
        <p:sp>
          <p:nvSpPr>
            <p:cNvPr id="57" name="Text 24">
              <a:extLst>
                <a:ext uri="{FF2B5EF4-FFF2-40B4-BE49-F238E27FC236}">
                  <a16:creationId xmlns:a16="http://schemas.microsoft.com/office/drawing/2014/main" id="{9C3E06E7-239A-B8E8-657D-DE7EF74D9FFB}"/>
                </a:ext>
              </a:extLst>
            </p:cNvPr>
            <p:cNvSpPr txBox="1"/>
            <p:nvPr/>
          </p:nvSpPr>
          <p:spPr>
            <a:xfrm>
              <a:off x="7247896" y="3097860"/>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Value-based framework </a:t>
              </a:r>
              <a:endParaRPr lang="en-US" sz="1200" noProof="0">
                <a:latin typeface="Arial" panose="020B0604020202020204" pitchFamily="34" charset="0"/>
                <a:cs typeface="Arial" panose="020B0604020202020204" pitchFamily="34" charset="0"/>
              </a:endParaRPr>
            </a:p>
          </p:txBody>
        </p:sp>
        <p:pic>
          <p:nvPicPr>
            <p:cNvPr id="58" name="Image 11" descr="preencoded.png">
              <a:extLst>
                <a:ext uri="{FF2B5EF4-FFF2-40B4-BE49-F238E27FC236}">
                  <a16:creationId xmlns:a16="http://schemas.microsoft.com/office/drawing/2014/main" id="{B0C54D50-68D2-5E6E-FA2C-980D5DF8EF92}"/>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3125458"/>
              <a:ext cx="114888" cy="93234"/>
            </a:xfrm>
            <a:prstGeom prst="rect">
              <a:avLst/>
            </a:prstGeom>
          </p:spPr>
        </p:pic>
        <p:sp>
          <p:nvSpPr>
            <p:cNvPr id="59" name="Text 30">
              <a:extLst>
                <a:ext uri="{FF2B5EF4-FFF2-40B4-BE49-F238E27FC236}">
                  <a16:creationId xmlns:a16="http://schemas.microsoft.com/office/drawing/2014/main" id="{B1901AD7-243B-4DA9-3394-D15572C35F7B}"/>
                </a:ext>
              </a:extLst>
            </p:cNvPr>
            <p:cNvSpPr txBox="1"/>
            <p:nvPr/>
          </p:nvSpPr>
          <p:spPr>
            <a:xfrm>
              <a:off x="7247896" y="3548368"/>
              <a:ext cx="4372755"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Structured analysis phase &amp; capacity-aware assignment</a:t>
              </a:r>
              <a:endParaRPr lang="en-US" sz="1200" noProof="0">
                <a:latin typeface="Arial" panose="020B0604020202020204" pitchFamily="34" charset="0"/>
                <a:cs typeface="Arial" panose="020B0604020202020204" pitchFamily="34" charset="0"/>
              </a:endParaRPr>
            </a:p>
          </p:txBody>
        </p:sp>
        <p:pic>
          <p:nvPicPr>
            <p:cNvPr id="60" name="Image 16" descr="preencoded.png">
              <a:extLst>
                <a:ext uri="{FF2B5EF4-FFF2-40B4-BE49-F238E27FC236}">
                  <a16:creationId xmlns:a16="http://schemas.microsoft.com/office/drawing/2014/main" id="{5EB542B0-239D-7C30-1711-7FCEEACA2E5F}"/>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3575966"/>
              <a:ext cx="114888" cy="93234"/>
            </a:xfrm>
            <a:prstGeom prst="rect">
              <a:avLst/>
            </a:prstGeom>
          </p:spPr>
        </p:pic>
        <p:sp>
          <p:nvSpPr>
            <p:cNvPr id="61" name="Text 36">
              <a:extLst>
                <a:ext uri="{FF2B5EF4-FFF2-40B4-BE49-F238E27FC236}">
                  <a16:creationId xmlns:a16="http://schemas.microsoft.com/office/drawing/2014/main" id="{B32D7B4F-55A0-AA7B-4BF6-3C9D1C44BA8D}"/>
                </a:ext>
              </a:extLst>
            </p:cNvPr>
            <p:cNvSpPr txBox="1"/>
            <p:nvPr/>
          </p:nvSpPr>
          <p:spPr>
            <a:xfrm>
              <a:off x="7247896" y="3999623"/>
              <a:ext cx="4372755"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Standardized workflows (Jira) across Digital Products</a:t>
              </a:r>
              <a:endParaRPr lang="en-US" sz="1200" noProof="0">
                <a:latin typeface="Arial" panose="020B0604020202020204" pitchFamily="34" charset="0"/>
                <a:cs typeface="Arial" panose="020B0604020202020204" pitchFamily="34" charset="0"/>
              </a:endParaRPr>
            </a:p>
          </p:txBody>
        </p:sp>
        <p:pic>
          <p:nvPicPr>
            <p:cNvPr id="62" name="Image 21" descr="preencoded.png">
              <a:extLst>
                <a:ext uri="{FF2B5EF4-FFF2-40B4-BE49-F238E27FC236}">
                  <a16:creationId xmlns:a16="http://schemas.microsoft.com/office/drawing/2014/main" id="{87442692-FC22-CB42-B032-C943A4A24998}"/>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4026475"/>
              <a:ext cx="114888" cy="93234"/>
            </a:xfrm>
            <a:prstGeom prst="rect">
              <a:avLst/>
            </a:prstGeom>
          </p:spPr>
        </p:pic>
        <p:sp>
          <p:nvSpPr>
            <p:cNvPr id="63" name="Text 42">
              <a:extLst>
                <a:ext uri="{FF2B5EF4-FFF2-40B4-BE49-F238E27FC236}">
                  <a16:creationId xmlns:a16="http://schemas.microsoft.com/office/drawing/2014/main" id="{37875DBB-40E0-C055-5C1C-9795807EA9C3}"/>
                </a:ext>
              </a:extLst>
            </p:cNvPr>
            <p:cNvSpPr txBox="1"/>
            <p:nvPr/>
          </p:nvSpPr>
          <p:spPr>
            <a:xfrm>
              <a:off x="7247896" y="4450131"/>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Automated dashboards from single source of truth</a:t>
              </a:r>
              <a:endParaRPr lang="en-US" sz="1200" noProof="0">
                <a:latin typeface="Arial" panose="020B0604020202020204" pitchFamily="34" charset="0"/>
                <a:cs typeface="Arial" panose="020B0604020202020204" pitchFamily="34" charset="0"/>
              </a:endParaRPr>
            </a:p>
          </p:txBody>
        </p:sp>
        <p:pic>
          <p:nvPicPr>
            <p:cNvPr id="64" name="Image 26" descr="preencoded.png">
              <a:extLst>
                <a:ext uri="{FF2B5EF4-FFF2-40B4-BE49-F238E27FC236}">
                  <a16:creationId xmlns:a16="http://schemas.microsoft.com/office/drawing/2014/main" id="{43F000F1-1CBE-B395-ACBA-29A38340A7A8}"/>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4476983"/>
              <a:ext cx="114888" cy="93234"/>
            </a:xfrm>
            <a:prstGeom prst="rect">
              <a:avLst/>
            </a:prstGeom>
          </p:spPr>
        </p:pic>
        <p:sp>
          <p:nvSpPr>
            <p:cNvPr id="65" name="Text 48">
              <a:extLst>
                <a:ext uri="{FF2B5EF4-FFF2-40B4-BE49-F238E27FC236}">
                  <a16:creationId xmlns:a16="http://schemas.microsoft.com/office/drawing/2014/main" id="{70150391-CBF3-89BF-F5D4-99CBC5B34C8E}"/>
                </a:ext>
              </a:extLst>
            </p:cNvPr>
            <p:cNvSpPr txBox="1"/>
            <p:nvPr/>
          </p:nvSpPr>
          <p:spPr>
            <a:xfrm>
              <a:off x="7247896" y="4900640"/>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Integrated Ecosystem Design (Intake + Jira + PPMNow)</a:t>
              </a:r>
              <a:endParaRPr lang="en-US" sz="1200" noProof="0">
                <a:latin typeface="Arial" panose="020B0604020202020204" pitchFamily="34" charset="0"/>
                <a:cs typeface="Arial" panose="020B0604020202020204" pitchFamily="34" charset="0"/>
              </a:endParaRPr>
            </a:p>
          </p:txBody>
        </p:sp>
        <p:pic>
          <p:nvPicPr>
            <p:cNvPr id="66" name="Image 31" descr="preencoded.png">
              <a:extLst>
                <a:ext uri="{FF2B5EF4-FFF2-40B4-BE49-F238E27FC236}">
                  <a16:creationId xmlns:a16="http://schemas.microsoft.com/office/drawing/2014/main" id="{DC2A2217-4547-71E3-B0B0-3929C86BE969}"/>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4927491"/>
              <a:ext cx="114888" cy="93234"/>
            </a:xfrm>
            <a:prstGeom prst="rect">
              <a:avLst/>
            </a:prstGeom>
          </p:spPr>
        </p:pic>
        <p:sp>
          <p:nvSpPr>
            <p:cNvPr id="67" name="Text 54">
              <a:extLst>
                <a:ext uri="{FF2B5EF4-FFF2-40B4-BE49-F238E27FC236}">
                  <a16:creationId xmlns:a16="http://schemas.microsoft.com/office/drawing/2014/main" id="{557E381C-55E0-22CA-7AA3-6F2D11E65F66}"/>
                </a:ext>
              </a:extLst>
            </p:cNvPr>
            <p:cNvSpPr txBox="1"/>
            <p:nvPr/>
          </p:nvSpPr>
          <p:spPr>
            <a:xfrm>
              <a:off x="7247896" y="5351148"/>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Defined RACI per lifecycle phase</a:t>
              </a:r>
              <a:endParaRPr lang="en-US" sz="1200" noProof="0">
                <a:latin typeface="Arial" panose="020B0604020202020204" pitchFamily="34" charset="0"/>
                <a:cs typeface="Arial" panose="020B0604020202020204" pitchFamily="34" charset="0"/>
              </a:endParaRPr>
            </a:p>
          </p:txBody>
        </p:sp>
        <p:pic>
          <p:nvPicPr>
            <p:cNvPr id="68" name="Image 36" descr="preencoded.png">
              <a:extLst>
                <a:ext uri="{FF2B5EF4-FFF2-40B4-BE49-F238E27FC236}">
                  <a16:creationId xmlns:a16="http://schemas.microsoft.com/office/drawing/2014/main" id="{277DC086-1B43-8752-7F64-6A60828FA63E}"/>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5378000"/>
              <a:ext cx="114888" cy="93234"/>
            </a:xfrm>
            <a:prstGeom prst="rect">
              <a:avLst/>
            </a:prstGeom>
          </p:spPr>
        </p:pic>
        <p:sp>
          <p:nvSpPr>
            <p:cNvPr id="6" name="Shape 20">
              <a:extLst>
                <a:ext uri="{FF2B5EF4-FFF2-40B4-BE49-F238E27FC236}">
                  <a16:creationId xmlns:a16="http://schemas.microsoft.com/office/drawing/2014/main" id="{66B792E7-91FE-5696-1EF7-A333F6DBC7C8}"/>
                </a:ext>
              </a:extLst>
            </p:cNvPr>
            <p:cNvSpPr/>
            <p:nvPr/>
          </p:nvSpPr>
          <p:spPr>
            <a:xfrm>
              <a:off x="6820533" y="2546128"/>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12" name="Text 24">
              <a:extLst>
                <a:ext uri="{FF2B5EF4-FFF2-40B4-BE49-F238E27FC236}">
                  <a16:creationId xmlns:a16="http://schemas.microsoft.com/office/drawing/2014/main" id="{EA06E70E-F6B1-3D00-55DE-1462C7045D10}"/>
                </a:ext>
              </a:extLst>
            </p:cNvPr>
            <p:cNvSpPr txBox="1"/>
            <p:nvPr/>
          </p:nvSpPr>
          <p:spPr>
            <a:xfrm>
              <a:off x="7247896" y="2664722"/>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Product-focused lifecycle process to standardize operations</a:t>
              </a:r>
              <a:endParaRPr lang="en-US" sz="1200" noProof="0">
                <a:latin typeface="Arial" panose="020B0604020202020204" pitchFamily="34" charset="0"/>
                <a:cs typeface="Arial" panose="020B0604020202020204" pitchFamily="34" charset="0"/>
              </a:endParaRPr>
            </a:p>
          </p:txBody>
        </p:sp>
        <p:pic>
          <p:nvPicPr>
            <p:cNvPr id="13" name="Image 11" descr="preencoded.png">
              <a:extLst>
                <a:ext uri="{FF2B5EF4-FFF2-40B4-BE49-F238E27FC236}">
                  <a16:creationId xmlns:a16="http://schemas.microsoft.com/office/drawing/2014/main" id="{7BBB4FED-5D38-C477-3F8B-C1400F1D87B5}"/>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2692320"/>
              <a:ext cx="114888" cy="93234"/>
            </a:xfrm>
            <a:prstGeom prst="rect">
              <a:avLst/>
            </a:prstGeom>
          </p:spPr>
        </p:pic>
      </p:grpSp>
    </p:spTree>
    <p:extLst>
      <p:ext uri="{BB962C8B-B14F-4D97-AF65-F5344CB8AC3E}">
        <p14:creationId xmlns:p14="http://schemas.microsoft.com/office/powerpoint/2010/main" val="1026412100"/>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A54D-5C03-A294-C9C8-3B71FD3FFC43}"/>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DEBBC011-C36E-1296-F231-E9EFF927FDEF}"/>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603CA6AB-FCFA-8863-F715-7FF41D0B1B2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BCDE6F30-6D35-3815-9B24-FB83F0D03141}"/>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F797F991-8DD0-66C1-0B94-F719C8D59711}"/>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06C8A7EE-36C1-4437-5B69-D9C8B3BF18CD}"/>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AC34744F-CE6C-E409-6236-4316D10C2708}"/>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768AB3EF-7A41-0C37-86F0-51919979FC23}"/>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E8F24FF2-2BB0-805D-A5A3-07A0A16F8BE9}"/>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65B6559F-6993-AA5D-A49D-346E2BA1A7B1}"/>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323B085B-879A-C7DF-CDDE-B0320375A8F9}"/>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8E0FFFBE-67D1-0AB4-7F31-2E3CEBFD15B8}"/>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2A1CAC57-539D-0189-9F0D-936C7AC2CC5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4F12FF82-8B13-8CC5-0DDA-0F9F39F496CD}"/>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5134A8C2-7567-5807-418C-224C2EA24ACC}"/>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2E506DBE-F204-DD6D-C159-9A182AF04BE2}"/>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8DC2B460-7E85-C8AA-73BA-BAC022796C53}"/>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535CE04-5856-36E3-0AF1-AEDFC2BB987B}"/>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045F7440-E3C6-D44D-7258-D50F9B109F10}"/>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294F1D55-B888-F716-846E-02D3CBD823E7}"/>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EFB28786-CD8F-8362-E49C-DE94070BC727}"/>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A60DB2EA-324B-BFC2-6FB5-5C15625F1322}"/>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C59C2537-1023-0DD3-7600-6B9364EE41DC}"/>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96DF83D9-672D-FF97-8DCE-6A659D33AFF4}"/>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DDCA063A-1ED6-CE44-3473-E988013F7849}"/>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22F6E09C-CF9E-BD2B-1754-666821B71CF0}"/>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4469FF2B-87CB-6146-5F60-B50A4BCC6DC9}"/>
              </a:ext>
            </a:extLst>
          </p:cNvPr>
          <p:cNvSpPr/>
          <p:nvPr/>
        </p:nvSpPr>
        <p:spPr>
          <a:xfrm>
            <a:off x="759321" y="1953647"/>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extBox 14">
            <a:extLst>
              <a:ext uri="{FF2B5EF4-FFF2-40B4-BE49-F238E27FC236}">
                <a16:creationId xmlns:a16="http://schemas.microsoft.com/office/drawing/2014/main" id="{B9D8E1F9-2C72-EA6A-B437-E88750D7AA4B}"/>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6A33C157-5642-D8F9-399F-600CA02D5372}"/>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36BF4A04-8E09-F487-E652-28572D28856E}"/>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66A00942-F62D-05A6-48CE-4320A9FE12F1}"/>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226384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A5707-0E40-095C-846A-3B7DA2C5E3F1}"/>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BF7195FC-557A-6105-FF2D-AA3A2BD8E569}"/>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793A7FC3-D59B-929F-E4B9-DA71AF836B40}"/>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C7010B4D-033F-9027-E9F1-0D3FE217C5E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63B60E0F-AFFC-CFC3-4436-899C7357E5CF}"/>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8F82D418-C041-5C54-7034-943EFCAE1D54}"/>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4D6B942A-926B-DA83-3963-3632BB149818}"/>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34F195A4-5FFA-18B9-5E10-5E004856AF6E}"/>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C01FFB69-AE2A-406B-3E18-9914A2C94E12}"/>
              </a:ext>
            </a:extLst>
          </p:cNvPr>
          <p:cNvSpPr/>
          <p:nvPr/>
        </p:nvSpPr>
        <p:spPr>
          <a:xfrm>
            <a:off x="2770632"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605B1F13-FC6F-355A-EE2A-5058906493C2}"/>
              </a:ext>
            </a:extLst>
          </p:cNvPr>
          <p:cNvSpPr/>
          <p:nvPr/>
        </p:nvSpPr>
        <p:spPr>
          <a:xfrm>
            <a:off x="5084064"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CD326CD9-970D-C6A7-D712-08F752B342C8}"/>
              </a:ext>
            </a:extLst>
          </p:cNvPr>
          <p:cNvSpPr/>
          <p:nvPr/>
        </p:nvSpPr>
        <p:spPr>
          <a:xfrm>
            <a:off x="7397496"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B0BDCAA8-429A-4775-2494-AD1F5A5BA23D}"/>
              </a:ext>
            </a:extLst>
          </p:cNvPr>
          <p:cNvSpPr/>
          <p:nvPr/>
        </p:nvSpPr>
        <p:spPr>
          <a:xfrm>
            <a:off x="9710928"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A43CFE76-1FDD-0040-C92A-85EECEAB491D}"/>
              </a:ext>
            </a:extLst>
          </p:cNvPr>
          <p:cNvSpPr/>
          <p:nvPr/>
        </p:nvSpPr>
        <p:spPr>
          <a:xfrm>
            <a:off x="457200" y="1513601"/>
            <a:ext cx="2240280" cy="114300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74" name="TextBox 73">
            <a:extLst>
              <a:ext uri="{FF2B5EF4-FFF2-40B4-BE49-F238E27FC236}">
                <a16:creationId xmlns:a16="http://schemas.microsoft.com/office/drawing/2014/main" id="{EA30AB08-43F6-1F74-18B3-392B3F4B801F}"/>
              </a:ext>
            </a:extLst>
          </p:cNvPr>
          <p:cNvSpPr txBox="1"/>
          <p:nvPr/>
        </p:nvSpPr>
        <p:spPr>
          <a:xfrm>
            <a:off x="594360"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bg1"/>
                </a:solidFill>
                <a:latin typeface="Arial" panose="020B0604020202020204" pitchFamily="34" charset="0"/>
                <a:cs typeface="Arial" panose="020B0604020202020204" pitchFamily="34" charset="0"/>
              </a:rPr>
              <a:t>Step </a:t>
            </a:r>
            <a:r>
              <a:rPr lang="en-US" sz="1000" b="1">
                <a:solidFill>
                  <a:schemeClr val="bg1"/>
                </a:solidFill>
                <a:latin typeface="Arial" panose="020B0604020202020204" pitchFamily="34" charset="0"/>
                <a:cs typeface="Arial" panose="020B0604020202020204" pitchFamily="34" charset="0"/>
              </a:rPr>
              <a:t>1 – Week 1 and 2</a:t>
            </a:r>
            <a:endParaRPr lang="en-US" sz="1000" b="1" i="0" noProof="0">
              <a:solidFill>
                <a:schemeClr val="bg1"/>
              </a:solidFill>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BC14C345-41CC-C2DA-F84C-2C58B5C5E28E}"/>
              </a:ext>
            </a:extLst>
          </p:cNvPr>
          <p:cNvSpPr txBox="1"/>
          <p:nvPr/>
        </p:nvSpPr>
        <p:spPr>
          <a:xfrm>
            <a:off x="594360"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Enablement</a:t>
            </a:r>
          </a:p>
        </p:txBody>
      </p:sp>
      <p:sp>
        <p:nvSpPr>
          <p:cNvPr id="76" name="TextBox 75">
            <a:extLst>
              <a:ext uri="{FF2B5EF4-FFF2-40B4-BE49-F238E27FC236}">
                <a16:creationId xmlns:a16="http://schemas.microsoft.com/office/drawing/2014/main" id="{310F5F30-75AB-BCE1-197E-35DC169BA4CB}"/>
              </a:ext>
            </a:extLst>
          </p:cNvPr>
          <p:cNvSpPr txBox="1"/>
          <p:nvPr/>
        </p:nvSpPr>
        <p:spPr>
          <a:xfrm>
            <a:off x="594360"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bg1"/>
                </a:solidFill>
                <a:latin typeface="Arial" panose="020B0604020202020204" pitchFamily="34" charset="0"/>
                <a:cs typeface="Arial" panose="020B0604020202020204" pitchFamily="34" charset="0"/>
              </a:rPr>
              <a:t>Where are we starting from?</a:t>
            </a:r>
          </a:p>
        </p:txBody>
      </p:sp>
      <p:sp>
        <p:nvSpPr>
          <p:cNvPr id="77" name="Right Arrow 7">
            <a:extLst>
              <a:ext uri="{FF2B5EF4-FFF2-40B4-BE49-F238E27FC236}">
                <a16:creationId xmlns:a16="http://schemas.microsoft.com/office/drawing/2014/main" id="{1DFEFD22-3467-12A6-2C48-010586F9182D}"/>
              </a:ext>
            </a:extLst>
          </p:cNvPr>
          <p:cNvSpPr/>
          <p:nvPr/>
        </p:nvSpPr>
        <p:spPr>
          <a:xfrm>
            <a:off x="2621661"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158C4897-029B-09DB-CFBA-2C3FB805C8F9}"/>
              </a:ext>
            </a:extLst>
          </p:cNvPr>
          <p:cNvSpPr txBox="1"/>
          <p:nvPr/>
        </p:nvSpPr>
        <p:spPr>
          <a:xfrm>
            <a:off x="2907792"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2</a:t>
            </a:r>
          </a:p>
        </p:txBody>
      </p:sp>
      <p:sp>
        <p:nvSpPr>
          <p:cNvPr id="79" name="TextBox 78">
            <a:extLst>
              <a:ext uri="{FF2B5EF4-FFF2-40B4-BE49-F238E27FC236}">
                <a16:creationId xmlns:a16="http://schemas.microsoft.com/office/drawing/2014/main" id="{4FEA8CD3-74A5-2851-52ED-6EBF6305C488}"/>
              </a:ext>
            </a:extLst>
          </p:cNvPr>
          <p:cNvSpPr txBox="1"/>
          <p:nvPr/>
        </p:nvSpPr>
        <p:spPr>
          <a:xfrm>
            <a:off x="2907792"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Define Lifecycle</a:t>
            </a:r>
          </a:p>
        </p:txBody>
      </p:sp>
      <p:sp>
        <p:nvSpPr>
          <p:cNvPr id="80" name="TextBox 79">
            <a:extLst>
              <a:ext uri="{FF2B5EF4-FFF2-40B4-BE49-F238E27FC236}">
                <a16:creationId xmlns:a16="http://schemas.microsoft.com/office/drawing/2014/main" id="{781E6C9C-4187-3E69-1642-3CBADE336761}"/>
              </a:ext>
            </a:extLst>
          </p:cNvPr>
          <p:cNvSpPr txBox="1"/>
          <p:nvPr/>
        </p:nvSpPr>
        <p:spPr>
          <a:xfrm>
            <a:off x="2907792"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How should we work?</a:t>
            </a:r>
          </a:p>
        </p:txBody>
      </p:sp>
      <p:sp>
        <p:nvSpPr>
          <p:cNvPr id="81" name="Right Arrow 12">
            <a:extLst>
              <a:ext uri="{FF2B5EF4-FFF2-40B4-BE49-F238E27FC236}">
                <a16:creationId xmlns:a16="http://schemas.microsoft.com/office/drawing/2014/main" id="{E2EC10AA-A233-3633-10C1-A68E1A0EDC8A}"/>
              </a:ext>
            </a:extLst>
          </p:cNvPr>
          <p:cNvSpPr/>
          <p:nvPr/>
        </p:nvSpPr>
        <p:spPr>
          <a:xfrm>
            <a:off x="4935093"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89999F44-9BB3-C5C8-72EC-B61C4E77F29A}"/>
              </a:ext>
            </a:extLst>
          </p:cNvPr>
          <p:cNvSpPr txBox="1"/>
          <p:nvPr/>
        </p:nvSpPr>
        <p:spPr>
          <a:xfrm>
            <a:off x="5221224"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3</a:t>
            </a:r>
          </a:p>
        </p:txBody>
      </p:sp>
      <p:sp>
        <p:nvSpPr>
          <p:cNvPr id="83" name="TextBox 82">
            <a:extLst>
              <a:ext uri="{FF2B5EF4-FFF2-40B4-BE49-F238E27FC236}">
                <a16:creationId xmlns:a16="http://schemas.microsoft.com/office/drawing/2014/main" id="{A0BBE8A6-F7EB-14A8-6058-07CEB452F9DA}"/>
              </a:ext>
            </a:extLst>
          </p:cNvPr>
          <p:cNvSpPr txBox="1"/>
          <p:nvPr/>
        </p:nvSpPr>
        <p:spPr>
          <a:xfrm>
            <a:off x="5221224"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Design Tool Ecosystem</a:t>
            </a:r>
          </a:p>
        </p:txBody>
      </p:sp>
      <p:sp>
        <p:nvSpPr>
          <p:cNvPr id="84" name="TextBox 83">
            <a:extLst>
              <a:ext uri="{FF2B5EF4-FFF2-40B4-BE49-F238E27FC236}">
                <a16:creationId xmlns:a16="http://schemas.microsoft.com/office/drawing/2014/main" id="{5C02A4F9-98F5-C5B6-1ED3-A59B249727EB}"/>
              </a:ext>
            </a:extLst>
          </p:cNvPr>
          <p:cNvSpPr txBox="1"/>
          <p:nvPr/>
        </p:nvSpPr>
        <p:spPr>
          <a:xfrm>
            <a:off x="5221224"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supports the process?</a:t>
            </a:r>
          </a:p>
        </p:txBody>
      </p:sp>
      <p:sp>
        <p:nvSpPr>
          <p:cNvPr id="85" name="Right Arrow 17">
            <a:extLst>
              <a:ext uri="{FF2B5EF4-FFF2-40B4-BE49-F238E27FC236}">
                <a16:creationId xmlns:a16="http://schemas.microsoft.com/office/drawing/2014/main" id="{D314465C-075C-6219-1F45-AD40B1611BB9}"/>
              </a:ext>
            </a:extLst>
          </p:cNvPr>
          <p:cNvSpPr/>
          <p:nvPr/>
        </p:nvSpPr>
        <p:spPr>
          <a:xfrm>
            <a:off x="7248525"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7B1E9D49-A145-9ABB-9FB3-B73A9F6C767D}"/>
              </a:ext>
            </a:extLst>
          </p:cNvPr>
          <p:cNvSpPr txBox="1"/>
          <p:nvPr/>
        </p:nvSpPr>
        <p:spPr>
          <a:xfrm>
            <a:off x="7534656"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4</a:t>
            </a:r>
          </a:p>
        </p:txBody>
      </p:sp>
      <p:sp>
        <p:nvSpPr>
          <p:cNvPr id="87" name="TextBox 86">
            <a:extLst>
              <a:ext uri="{FF2B5EF4-FFF2-40B4-BE49-F238E27FC236}">
                <a16:creationId xmlns:a16="http://schemas.microsoft.com/office/drawing/2014/main" id="{AF8090A0-5092-F4F1-DEFB-86DAD6EA82F2}"/>
              </a:ext>
            </a:extLst>
          </p:cNvPr>
          <p:cNvSpPr txBox="1"/>
          <p:nvPr/>
        </p:nvSpPr>
        <p:spPr>
          <a:xfrm>
            <a:off x="7534656"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Pilot Execution (BRS)</a:t>
            </a:r>
          </a:p>
        </p:txBody>
      </p:sp>
      <p:sp>
        <p:nvSpPr>
          <p:cNvPr id="88" name="TextBox 87">
            <a:extLst>
              <a:ext uri="{FF2B5EF4-FFF2-40B4-BE49-F238E27FC236}">
                <a16:creationId xmlns:a16="http://schemas.microsoft.com/office/drawing/2014/main" id="{1F1E5DF7-855D-D150-A0D1-75F542AB581E}"/>
              </a:ext>
            </a:extLst>
          </p:cNvPr>
          <p:cNvSpPr txBox="1"/>
          <p:nvPr/>
        </p:nvSpPr>
        <p:spPr>
          <a:xfrm>
            <a:off x="7534656"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Does it work in reality?</a:t>
            </a:r>
          </a:p>
        </p:txBody>
      </p:sp>
      <p:sp>
        <p:nvSpPr>
          <p:cNvPr id="89" name="Right Arrow 22">
            <a:extLst>
              <a:ext uri="{FF2B5EF4-FFF2-40B4-BE49-F238E27FC236}">
                <a16:creationId xmlns:a16="http://schemas.microsoft.com/office/drawing/2014/main" id="{B4A4E930-1628-449F-862C-B18DDAC2188C}"/>
              </a:ext>
            </a:extLst>
          </p:cNvPr>
          <p:cNvSpPr/>
          <p:nvPr/>
        </p:nvSpPr>
        <p:spPr>
          <a:xfrm>
            <a:off x="9561957"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5159C593-21F4-2CC1-058F-3710239A16C7}"/>
              </a:ext>
            </a:extLst>
          </p:cNvPr>
          <p:cNvSpPr txBox="1"/>
          <p:nvPr/>
        </p:nvSpPr>
        <p:spPr>
          <a:xfrm>
            <a:off x="9848088"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5</a:t>
            </a:r>
          </a:p>
        </p:txBody>
      </p:sp>
      <p:sp>
        <p:nvSpPr>
          <p:cNvPr id="91" name="TextBox 90">
            <a:extLst>
              <a:ext uri="{FF2B5EF4-FFF2-40B4-BE49-F238E27FC236}">
                <a16:creationId xmlns:a16="http://schemas.microsoft.com/office/drawing/2014/main" id="{73B18F02-782D-615D-87A8-2C6677847945}"/>
              </a:ext>
            </a:extLst>
          </p:cNvPr>
          <p:cNvSpPr txBox="1"/>
          <p:nvPr/>
        </p:nvSpPr>
        <p:spPr>
          <a:xfrm>
            <a:off x="9848088"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Learn &amp; Adjust</a:t>
            </a:r>
          </a:p>
        </p:txBody>
      </p:sp>
      <p:sp>
        <p:nvSpPr>
          <p:cNvPr id="92" name="TextBox 91">
            <a:extLst>
              <a:ext uri="{FF2B5EF4-FFF2-40B4-BE49-F238E27FC236}">
                <a16:creationId xmlns:a16="http://schemas.microsoft.com/office/drawing/2014/main" id="{FD25C978-58EB-E88C-A162-13A0A461CA1B}"/>
              </a:ext>
            </a:extLst>
          </p:cNvPr>
          <p:cNvSpPr txBox="1"/>
          <p:nvPr/>
        </p:nvSpPr>
        <p:spPr>
          <a:xfrm>
            <a:off x="9848088"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needs refinement?</a:t>
            </a:r>
          </a:p>
        </p:txBody>
      </p:sp>
      <p:sp>
        <p:nvSpPr>
          <p:cNvPr id="93" name="Rectangle 92">
            <a:extLst>
              <a:ext uri="{FF2B5EF4-FFF2-40B4-BE49-F238E27FC236}">
                <a16:creationId xmlns:a16="http://schemas.microsoft.com/office/drawing/2014/main" id="{90377DAE-CEE2-0028-CCCE-38870BA55BCE}"/>
              </a:ext>
            </a:extLst>
          </p:cNvPr>
          <p:cNvSpPr/>
          <p:nvPr/>
        </p:nvSpPr>
        <p:spPr>
          <a:xfrm>
            <a:off x="457200" y="2744993"/>
            <a:ext cx="11509248" cy="34747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6D5BD2B4-AB2A-3626-BA32-2EC93FE96C51}"/>
              </a:ext>
            </a:extLst>
          </p:cNvPr>
          <p:cNvSpPr txBox="1"/>
          <p:nvPr/>
        </p:nvSpPr>
        <p:spPr>
          <a:xfrm>
            <a:off x="457200" y="2825017"/>
            <a:ext cx="11274552" cy="187424"/>
          </a:xfrm>
          <a:prstGeom prst="rect">
            <a:avLst/>
          </a:prstGeom>
          <a:no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STEP 1  —  ENABLEMENT  ·  ZOOM IN</a:t>
            </a:r>
          </a:p>
        </p:txBody>
      </p:sp>
      <p:sp>
        <p:nvSpPr>
          <p:cNvPr id="95" name="TextBox 94">
            <a:extLst>
              <a:ext uri="{FF2B5EF4-FFF2-40B4-BE49-F238E27FC236}">
                <a16:creationId xmlns:a16="http://schemas.microsoft.com/office/drawing/2014/main" id="{EE059925-898F-32F4-62F6-17FD882D1235}"/>
              </a:ext>
            </a:extLst>
          </p:cNvPr>
          <p:cNvSpPr txBox="1"/>
          <p:nvPr/>
        </p:nvSpPr>
        <p:spPr>
          <a:xfrm>
            <a:off x="457200" y="3220481"/>
            <a:ext cx="68580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B76A0"/>
                </a:solidFill>
                <a:latin typeface="Arial" panose="020B0604020202020204" pitchFamily="34" charset="0"/>
                <a:cs typeface="Arial" panose="020B0604020202020204" pitchFamily="34" charset="0"/>
              </a:rPr>
              <a:t>WHAT WE DID</a:t>
            </a:r>
          </a:p>
        </p:txBody>
      </p:sp>
      <p:sp>
        <p:nvSpPr>
          <p:cNvPr id="96" name="Rectangle 95">
            <a:extLst>
              <a:ext uri="{FF2B5EF4-FFF2-40B4-BE49-F238E27FC236}">
                <a16:creationId xmlns:a16="http://schemas.microsoft.com/office/drawing/2014/main" id="{6A946A95-6A6E-6ECA-3D75-6E33BFD1146A}"/>
              </a:ext>
            </a:extLst>
          </p:cNvPr>
          <p:cNvSpPr/>
          <p:nvPr/>
        </p:nvSpPr>
        <p:spPr>
          <a:xfrm>
            <a:off x="457200" y="351308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55E45CC0-F62B-0D12-6809-1A779470189C}"/>
              </a:ext>
            </a:extLst>
          </p:cNvPr>
          <p:cNvSpPr txBox="1"/>
          <p:nvPr/>
        </p:nvSpPr>
        <p:spPr>
          <a:xfrm>
            <a:off x="640080" y="351308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Prior Materials Review</a:t>
            </a:r>
          </a:p>
        </p:txBody>
      </p:sp>
      <p:sp>
        <p:nvSpPr>
          <p:cNvPr id="98" name="TextBox 97">
            <a:extLst>
              <a:ext uri="{FF2B5EF4-FFF2-40B4-BE49-F238E27FC236}">
                <a16:creationId xmlns:a16="http://schemas.microsoft.com/office/drawing/2014/main" id="{78BAAE9A-8EB5-B670-7472-9F30B7378F13}"/>
              </a:ext>
            </a:extLst>
          </p:cNvPr>
          <p:cNvSpPr txBox="1"/>
          <p:nvPr/>
        </p:nvSpPr>
        <p:spPr>
          <a:xfrm>
            <a:off x="640080" y="3750833"/>
            <a:ext cx="6492240" cy="324384"/>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Reviewed 40+ prior artifacts: IT CS Operating Model, P&amp;S Playbook, DTO NextGen, Org Chart, Competency Framework.</a:t>
            </a:r>
          </a:p>
        </p:txBody>
      </p:sp>
      <p:sp>
        <p:nvSpPr>
          <p:cNvPr id="99" name="Rectangle 98">
            <a:extLst>
              <a:ext uri="{FF2B5EF4-FFF2-40B4-BE49-F238E27FC236}">
                <a16:creationId xmlns:a16="http://schemas.microsoft.com/office/drawing/2014/main" id="{AAC11604-83F1-BD01-2C7D-E640C5EF7CE4}"/>
              </a:ext>
            </a:extLst>
          </p:cNvPr>
          <p:cNvSpPr/>
          <p:nvPr/>
        </p:nvSpPr>
        <p:spPr>
          <a:xfrm>
            <a:off x="457200" y="429032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0" name="TextBox 99">
            <a:extLst>
              <a:ext uri="{FF2B5EF4-FFF2-40B4-BE49-F238E27FC236}">
                <a16:creationId xmlns:a16="http://schemas.microsoft.com/office/drawing/2014/main" id="{82831670-CFD6-7E7B-1CF9-0635F4D9347A}"/>
              </a:ext>
            </a:extLst>
          </p:cNvPr>
          <p:cNvSpPr txBox="1"/>
          <p:nvPr/>
        </p:nvSpPr>
        <p:spPr>
          <a:xfrm>
            <a:off x="640080" y="429032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Stakeholder Interviews</a:t>
            </a:r>
          </a:p>
        </p:txBody>
      </p:sp>
      <p:sp>
        <p:nvSpPr>
          <p:cNvPr id="101" name="TextBox 100">
            <a:extLst>
              <a:ext uri="{FF2B5EF4-FFF2-40B4-BE49-F238E27FC236}">
                <a16:creationId xmlns:a16="http://schemas.microsoft.com/office/drawing/2014/main" id="{8A5FD26E-6506-F22A-C1F2-B3937EA28F60}"/>
              </a:ext>
            </a:extLst>
          </p:cNvPr>
          <p:cNvSpPr txBox="1"/>
          <p:nvPr/>
        </p:nvSpPr>
        <p:spPr>
          <a:xfrm>
            <a:off x="640080" y="4528073"/>
            <a:ext cx="6492240" cy="49475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rgbClr val="2C3E50"/>
                </a:solidFill>
                <a:latin typeface="Arial" panose="020B0604020202020204" pitchFamily="34" charset="0"/>
                <a:cs typeface="Arial" panose="020B0604020202020204" pitchFamily="34" charset="0"/>
              </a:defRPr>
            </a:lvl1pPr>
          </a:lstStyle>
          <a:p>
            <a:r>
              <a:rPr lang="en-US"/>
              <a:t>Champion interviews (GIS, Corporate, G&amp;E, Global SAP, Smart Metering and SAP) and Senior Management sessions (VP – IT Business Solutions Delivery, Dir. Customer Service Products, Dir. Customer Services Apps, and Dir, IT Business Applications). Captured intake channels, tools, roles, pain points and aspirations per team.</a:t>
            </a:r>
          </a:p>
        </p:txBody>
      </p:sp>
      <p:sp>
        <p:nvSpPr>
          <p:cNvPr id="102" name="Rectangle 101">
            <a:extLst>
              <a:ext uri="{FF2B5EF4-FFF2-40B4-BE49-F238E27FC236}">
                <a16:creationId xmlns:a16="http://schemas.microsoft.com/office/drawing/2014/main" id="{2C22E368-E186-C48C-0249-493E90E6D807}"/>
              </a:ext>
            </a:extLst>
          </p:cNvPr>
          <p:cNvSpPr/>
          <p:nvPr/>
        </p:nvSpPr>
        <p:spPr>
          <a:xfrm>
            <a:off x="457200" y="506756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FF0E4EAC-4E23-75E8-8E90-D06018A5F2BF}"/>
              </a:ext>
            </a:extLst>
          </p:cNvPr>
          <p:cNvSpPr txBox="1"/>
          <p:nvPr/>
        </p:nvSpPr>
        <p:spPr>
          <a:xfrm>
            <a:off x="640080" y="5067569"/>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Demand &amp; Portfolio Interviews</a:t>
            </a:r>
            <a:endParaRPr lang="en-US" sz="1100" b="1" i="0" noProof="0">
              <a:solidFill>
                <a:srgbClr val="0B76A0"/>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767D52CB-C0B5-8E37-48A7-BFCEBC86091F}"/>
              </a:ext>
            </a:extLst>
          </p:cNvPr>
          <p:cNvSpPr txBox="1"/>
          <p:nvPr/>
        </p:nvSpPr>
        <p:spPr>
          <a:xfrm>
            <a:off x="640080" y="5305312"/>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Mapped demand typology per team across the 5 lifecycle stages — volume mix (incidents · small/medium · large projects), channel split, portfolio inventory </a:t>
            </a:r>
          </a:p>
        </p:txBody>
      </p:sp>
      <p:sp>
        <p:nvSpPr>
          <p:cNvPr id="105" name="TextBox 104">
            <a:extLst>
              <a:ext uri="{FF2B5EF4-FFF2-40B4-BE49-F238E27FC236}">
                <a16:creationId xmlns:a16="http://schemas.microsoft.com/office/drawing/2014/main" id="{BB8F2F16-BE84-FB64-0907-F7BFBD45FEB2}"/>
              </a:ext>
            </a:extLst>
          </p:cNvPr>
          <p:cNvSpPr txBox="1"/>
          <p:nvPr/>
        </p:nvSpPr>
        <p:spPr>
          <a:xfrm>
            <a:off x="7772400" y="3220481"/>
            <a:ext cx="4114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0A443"/>
                </a:solidFill>
                <a:latin typeface="Arial" panose="020B0604020202020204" pitchFamily="34" charset="0"/>
                <a:cs typeface="Arial" panose="020B0604020202020204" pitchFamily="34" charset="0"/>
              </a:rPr>
              <a:t>DELIVERABLES OF STEP 1</a:t>
            </a:r>
          </a:p>
        </p:txBody>
      </p:sp>
      <p:sp>
        <p:nvSpPr>
          <p:cNvPr id="106" name="Rectangle 105">
            <a:extLst>
              <a:ext uri="{FF2B5EF4-FFF2-40B4-BE49-F238E27FC236}">
                <a16:creationId xmlns:a16="http://schemas.microsoft.com/office/drawing/2014/main" id="{C20BB85D-5B91-4EF3-4779-F8F9F68D69AF}"/>
              </a:ext>
            </a:extLst>
          </p:cNvPr>
          <p:cNvSpPr/>
          <p:nvPr/>
        </p:nvSpPr>
        <p:spPr>
          <a:xfrm>
            <a:off x="7772400" y="3522233"/>
            <a:ext cx="4194048" cy="82264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7" name="Rectangle 106">
            <a:extLst>
              <a:ext uri="{FF2B5EF4-FFF2-40B4-BE49-F238E27FC236}">
                <a16:creationId xmlns:a16="http://schemas.microsoft.com/office/drawing/2014/main" id="{8D2F0D98-DEDB-E89F-F01A-9783B6E0B945}"/>
              </a:ext>
            </a:extLst>
          </p:cNvPr>
          <p:cNvSpPr/>
          <p:nvPr/>
        </p:nvSpPr>
        <p:spPr>
          <a:xfrm>
            <a:off x="7772400" y="3522232"/>
            <a:ext cx="73152" cy="82264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F44E3C3A-5571-D391-D195-7877D6FC3B93}"/>
              </a:ext>
            </a:extLst>
          </p:cNvPr>
          <p:cNvSpPr txBox="1"/>
          <p:nvPr/>
        </p:nvSpPr>
        <p:spPr>
          <a:xfrm>
            <a:off x="8001000" y="3596312"/>
            <a:ext cx="3657600" cy="507831"/>
          </a:xfrm>
          <a:prstGeom prst="rect">
            <a:avLst/>
          </a:prstGeom>
          <a:noFill/>
        </p:spPr>
        <p:txBody>
          <a:bodyPr wrap="square" lIns="0" tIns="0" rIns="0" bIns="0" anchor="t">
            <a:spAutoFit/>
          </a:bodyPr>
          <a:lstStyle/>
          <a:p>
            <a:pPr marL="171450" lvl="0"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Baseline Report (this deck)</a:t>
            </a:r>
          </a:p>
          <a:p>
            <a:pPr marL="628650" lvl="1"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Demand Map</a:t>
            </a:r>
          </a:p>
          <a:p>
            <a:pPr marL="628650" lvl="1" indent="-171450">
              <a:buFont typeface="Arial" panose="020B0604020202020204" pitchFamily="34" charset="0"/>
              <a:buChar char="•"/>
              <a:defRPr/>
            </a:pPr>
            <a:r>
              <a:rPr lang="en-US" sz="1100" noProof="0">
                <a:solidFill>
                  <a:srgbClr val="2C3E50"/>
                </a:solidFill>
                <a:latin typeface="Arial"/>
                <a:cs typeface="Arial"/>
              </a:rPr>
              <a:t>Project Portfolio Landscape </a:t>
            </a:r>
            <a:endParaRPr lang="en-US" sz="1100" b="0" i="0" noProof="0">
              <a:solidFill>
                <a:srgbClr val="2C3E50"/>
              </a:solidFill>
              <a:latin typeface="Arial"/>
              <a:cs typeface="Arial"/>
            </a:endParaRPr>
          </a:p>
        </p:txBody>
      </p:sp>
      <p:sp>
        <p:nvSpPr>
          <p:cNvPr id="110" name="TextBox 109">
            <a:extLst>
              <a:ext uri="{FF2B5EF4-FFF2-40B4-BE49-F238E27FC236}">
                <a16:creationId xmlns:a16="http://schemas.microsoft.com/office/drawing/2014/main" id="{29BADC3A-7A5C-85BC-9936-221D3AE0B6F0}"/>
              </a:ext>
            </a:extLst>
          </p:cNvPr>
          <p:cNvSpPr txBox="1"/>
          <p:nvPr/>
        </p:nvSpPr>
        <p:spPr>
          <a:xfrm>
            <a:off x="670560" y="5960316"/>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The Demand Map is the evidence backbone — Step 2 (Define Lifecycle) consumes these findings to draft the Lifecycle v1.0, Demand Typology and Roles &amp; RACI</a:t>
            </a:r>
          </a:p>
        </p:txBody>
      </p:sp>
      <p:sp>
        <p:nvSpPr>
          <p:cNvPr id="6" name="Rectangle 101">
            <a:extLst>
              <a:ext uri="{FF2B5EF4-FFF2-40B4-BE49-F238E27FC236}">
                <a16:creationId xmlns:a16="http://schemas.microsoft.com/office/drawing/2014/main" id="{38B93816-CF42-BFF9-47A3-2E23FFB5D7B1}"/>
              </a:ext>
            </a:extLst>
          </p:cNvPr>
          <p:cNvSpPr/>
          <p:nvPr/>
        </p:nvSpPr>
        <p:spPr>
          <a:xfrm>
            <a:off x="457200" y="582663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102">
            <a:extLst>
              <a:ext uri="{FF2B5EF4-FFF2-40B4-BE49-F238E27FC236}">
                <a16:creationId xmlns:a16="http://schemas.microsoft.com/office/drawing/2014/main" id="{784A3599-247A-BA74-62BC-CFCE90775EF3}"/>
              </a:ext>
            </a:extLst>
          </p:cNvPr>
          <p:cNvSpPr txBox="1"/>
          <p:nvPr/>
        </p:nvSpPr>
        <p:spPr>
          <a:xfrm>
            <a:off x="640080" y="5826636"/>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Capacity &amp; Reporting </a:t>
            </a:r>
            <a:endParaRPr lang="en-US" sz="1100" b="1" i="0" noProof="0">
              <a:solidFill>
                <a:srgbClr val="0B76A0"/>
              </a:solidFill>
              <a:latin typeface="Arial" panose="020B0604020202020204" pitchFamily="34" charset="0"/>
              <a:cs typeface="Arial" panose="020B0604020202020204" pitchFamily="34" charset="0"/>
            </a:endParaRPr>
          </a:p>
        </p:txBody>
      </p:sp>
      <p:sp>
        <p:nvSpPr>
          <p:cNvPr id="11" name="TextBox 103">
            <a:extLst>
              <a:ext uri="{FF2B5EF4-FFF2-40B4-BE49-F238E27FC236}">
                <a16:creationId xmlns:a16="http://schemas.microsoft.com/office/drawing/2014/main" id="{B17FB9C8-0687-0F91-58BC-AC72971EBB34}"/>
              </a:ext>
            </a:extLst>
          </p:cNvPr>
          <p:cNvSpPr txBox="1"/>
          <p:nvPr/>
        </p:nvSpPr>
        <p:spPr>
          <a:xfrm>
            <a:off x="640080" y="6064379"/>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Captured capacity baseline per area. Reviewed current reporting cadence and identified data gaps against a single source of truth for KPI dashboards.</a:t>
            </a:r>
          </a:p>
        </p:txBody>
      </p:sp>
      <p:sp>
        <p:nvSpPr>
          <p:cNvPr id="12" name="CuadroTexto 204">
            <a:extLst>
              <a:ext uri="{FF2B5EF4-FFF2-40B4-BE49-F238E27FC236}">
                <a16:creationId xmlns:a16="http://schemas.microsoft.com/office/drawing/2014/main" id="{746CEEDC-0F85-1ABB-E9BB-92919EDD1146}"/>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This phase focused on executing a set of targeted activities to establish the baseline, including stakeholder interviews, demand and portfolio mapping, and capacity &amp; reporting analysis.</a:t>
            </a:r>
          </a:p>
        </p:txBody>
      </p:sp>
      <p:sp>
        <p:nvSpPr>
          <p:cNvPr id="13" name="Título 2">
            <a:extLst>
              <a:ext uri="{FF2B5EF4-FFF2-40B4-BE49-F238E27FC236}">
                <a16:creationId xmlns:a16="http://schemas.microsoft.com/office/drawing/2014/main" id="{684A3CD2-746C-C6AD-6EE0-1055DEA9B1D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METHODOLOGY</a:t>
            </a:r>
          </a:p>
        </p:txBody>
      </p:sp>
    </p:spTree>
    <p:extLst>
      <p:ext uri="{BB962C8B-B14F-4D97-AF65-F5344CB8AC3E}">
        <p14:creationId xmlns:p14="http://schemas.microsoft.com/office/powerpoint/2010/main" val="2401275982"/>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3A9A-310C-EAB3-5F39-863504F0BB8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A0B8D80-7A0F-1C8B-9D2E-2D28F706FB99}"/>
              </a:ext>
            </a:extLst>
          </p:cNvPr>
          <p:cNvSpPr/>
          <p:nvPr/>
        </p:nvSpPr>
        <p:spPr>
          <a:xfrm>
            <a:off x="457200" y="1529168"/>
            <a:ext cx="11247339" cy="829814"/>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sz="1200" b="1">
              <a:solidFill>
                <a:srgbClr val="FFFFFF"/>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0C8553E-B9C9-4367-C3F1-0E217AC9E23A}"/>
              </a:ext>
            </a:extLst>
          </p:cNvPr>
          <p:cNvSpPr txBox="1"/>
          <p:nvPr/>
        </p:nvSpPr>
        <p:spPr>
          <a:xfrm>
            <a:off x="487680" y="1552532"/>
            <a:ext cx="11324106" cy="778355"/>
          </a:xfrm>
          <a:prstGeom prst="rect">
            <a:avLst/>
          </a:prstGeom>
          <a:noFill/>
        </p:spPr>
        <p:txBody>
          <a:bodyPr wrap="square" lIns="137160" tIns="91440" rIns="137160" bIns="91440" anchor="ctr">
            <a:spAutoFit/>
          </a:bodyPr>
          <a:lstStyle/>
          <a:p>
            <a:pPr>
              <a:lnSpc>
                <a:spcPct val="110000"/>
              </a:lnSpc>
            </a:pPr>
            <a:r>
              <a:rPr lang="en-US" sz="1200" b="1" i="1" noProof="0" dirty="0">
                <a:solidFill>
                  <a:srgbClr val="FFFFFF"/>
                </a:solidFill>
                <a:latin typeface="Arial"/>
                <a:ea typeface="Helvetica Neue" panose="02000503000000020004" pitchFamily="2" charset="0"/>
                <a:cs typeface="Arial"/>
              </a:rPr>
              <a:t>GOVERNING THOUGHT  —  Fragmentation is structural, not local — across flow AND capacity. Every team has a working answer for large PDD-funded demand; no team has one for small/medium demand at scale, none has formal capacity planning, and knowledge is concentrated in named individuals. The </a:t>
            </a:r>
            <a:r>
              <a:rPr lang="en-US" sz="1200" b="1" i="1" noProof="0">
                <a:solidFill>
                  <a:srgbClr val="FFFFFF"/>
                </a:solidFill>
                <a:latin typeface="Arial"/>
                <a:ea typeface="Helvetica Neue" panose="02000503000000020004" pitchFamily="2" charset="0"/>
                <a:cs typeface="Arial"/>
              </a:rPr>
              <a:t>Target Operating Model</a:t>
            </a:r>
            <a:r>
              <a:rPr lang="en-US" sz="1200" b="1" i="1" noProof="0" dirty="0">
                <a:solidFill>
                  <a:srgbClr val="FFFFFF"/>
                </a:solidFill>
                <a:latin typeface="Arial"/>
                <a:ea typeface="Helvetica Neue" panose="02000503000000020004" pitchFamily="2" charset="0"/>
                <a:cs typeface="Arial"/>
              </a:rPr>
              <a:t> must standardize the end-to-end lifecycle AND install capacity </a:t>
            </a:r>
            <a:r>
              <a:rPr lang="en-US" sz="1200" b="1" i="1" noProof="0">
                <a:solidFill>
                  <a:srgbClr val="FFFFFF"/>
                </a:solidFill>
                <a:latin typeface="Arial"/>
                <a:ea typeface="Helvetica Neue" panose="02000503000000020004" pitchFamily="2" charset="0"/>
                <a:cs typeface="Arial"/>
              </a:rPr>
              <a:t>and </a:t>
            </a:r>
            <a:r>
              <a:rPr lang="en-US" sz="1200" b="1" i="1" noProof="0" dirty="0">
                <a:solidFill>
                  <a:srgbClr val="FFFFFF"/>
                </a:solidFill>
                <a:latin typeface="Arial"/>
                <a:ea typeface="Helvetica Neue" panose="02000503000000020004" pitchFamily="2" charset="0"/>
                <a:cs typeface="Arial"/>
              </a:rPr>
              <a:t>reporting discipline across both branches.</a:t>
            </a:r>
          </a:p>
        </p:txBody>
      </p:sp>
      <p:sp>
        <p:nvSpPr>
          <p:cNvPr id="41" name="Rectangle 40">
            <a:extLst>
              <a:ext uri="{FF2B5EF4-FFF2-40B4-BE49-F238E27FC236}">
                <a16:creationId xmlns:a16="http://schemas.microsoft.com/office/drawing/2014/main" id="{CF63F033-670A-39F1-39EB-DA68D22C314C}"/>
              </a:ext>
            </a:extLst>
          </p:cNvPr>
          <p:cNvSpPr/>
          <p:nvPr/>
        </p:nvSpPr>
        <p:spPr>
          <a:xfrm>
            <a:off x="0" y="5794248"/>
            <a:ext cx="1219200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40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A2B2CB42-B24E-5921-77C9-0C2B296AA499}"/>
              </a:ext>
            </a:extLst>
          </p:cNvPr>
          <p:cNvSpPr txBox="1"/>
          <p:nvPr/>
        </p:nvSpPr>
        <p:spPr>
          <a:xfrm>
            <a:off x="672084" y="5951996"/>
            <a:ext cx="10979654" cy="187424"/>
          </a:xfrm>
          <a:prstGeom prst="rect">
            <a:avLst/>
          </a:prstGeom>
          <a:noFill/>
        </p:spPr>
        <p:txBody>
          <a:bodyPr wrap="square" lIns="0" tIns="0" rIns="0" bIns="0" anchor="ctr">
            <a:spAutoFit/>
          </a:bodyPr>
          <a:lstStyle/>
          <a:p>
            <a:pPr>
              <a:lnSpc>
                <a:spcPct val="110000"/>
              </a:lnSpc>
            </a:pPr>
            <a:r>
              <a:rPr lang="en-US" sz="1200" b="0" i="0" noProof="0">
                <a:solidFill>
                  <a:srgbClr val="FFFFFF"/>
                </a:solidFill>
                <a:latin typeface="Arial"/>
                <a:ea typeface="Helvetica Neue" panose="02000503000000020004" pitchFamily="2" charset="0"/>
                <a:cs typeface="Arial"/>
              </a:rPr>
              <a:t>The rest of this deck walks the evidence per team — then consolidates bottlenecks and structural insights into the </a:t>
            </a:r>
            <a:r>
              <a:rPr lang="en-US" sz="1200" noProof="0">
                <a:solidFill>
                  <a:srgbClr val="FFFFFF"/>
                </a:solidFill>
                <a:latin typeface="Arial"/>
                <a:ea typeface="Helvetica Neue" panose="02000503000000020004" pitchFamily="2" charset="0"/>
                <a:cs typeface="Arial"/>
              </a:rPr>
              <a:t>Target Operating Model</a:t>
            </a:r>
            <a:r>
              <a:rPr lang="en-US" sz="1200" b="0" i="0" noProof="0">
                <a:solidFill>
                  <a:srgbClr val="FFFFFF"/>
                </a:solidFill>
                <a:latin typeface="Arial"/>
                <a:ea typeface="Helvetica Neue" panose="02000503000000020004" pitchFamily="2" charset="0"/>
                <a:cs typeface="Arial"/>
              </a:rPr>
              <a:t> scope</a:t>
            </a:r>
          </a:p>
        </p:txBody>
      </p:sp>
      <p:sp>
        <p:nvSpPr>
          <p:cNvPr id="45" name="Rectangle 44"/>
          <p:cNvSpPr/>
          <p:nvPr/>
        </p:nvSpPr>
        <p:spPr>
          <a:xfrm>
            <a:off x="45720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6" name="Rectangle 45"/>
          <p:cNvSpPr/>
          <p:nvPr/>
        </p:nvSpPr>
        <p:spPr>
          <a:xfrm>
            <a:off x="45720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7" name="TextBox 46"/>
          <p:cNvSpPr txBox="1"/>
          <p:nvPr/>
        </p:nvSpPr>
        <p:spPr>
          <a:xfrm>
            <a:off x="64008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01</a:t>
            </a:r>
          </a:p>
        </p:txBody>
      </p:sp>
      <p:sp>
        <p:nvSpPr>
          <p:cNvPr id="48" name="TextBox 47"/>
          <p:cNvSpPr txBox="1"/>
          <p:nvPr/>
        </p:nvSpPr>
        <p:spPr>
          <a:xfrm>
            <a:off x="1280160" y="2598250"/>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INTAKE  &amp;  CLASSIFICATION</a:t>
            </a:r>
          </a:p>
        </p:txBody>
      </p:sp>
      <p:sp>
        <p:nvSpPr>
          <p:cNvPr id="49" name="TextBox 48"/>
          <p:cNvSpPr txBox="1"/>
          <p:nvPr/>
        </p:nvSpPr>
        <p:spPr>
          <a:xfrm>
            <a:off x="64008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50" name="TextBox 49"/>
          <p:cNvSpPr txBox="1"/>
          <p:nvPr/>
        </p:nvSpPr>
        <p:spPr>
          <a:xfrm>
            <a:off x="640080" y="3432640"/>
            <a:ext cx="2377440" cy="978729"/>
          </a:xfrm>
          <a:prstGeom prst="rect">
            <a:avLst/>
          </a:prstGeom>
          <a:noFill/>
        </p:spPr>
        <p:txBody>
          <a:bodyPr wrap="square" lIns="54864" tIns="27432" rIns="54864" bIns="27432" anchor="t">
            <a:spAutoFit/>
          </a:bodyPr>
          <a:lstStyle/>
          <a:p>
            <a:r>
              <a:rPr lang="en-US" sz="1000" b="0" noProof="0" dirty="0">
                <a:solidFill>
                  <a:srgbClr val="4A4A4A"/>
                </a:solidFill>
                <a:latin typeface="Arial" panose="020B0604020202020204" pitchFamily="34" charset="0"/>
                <a:ea typeface="Helvetica Neue" panose="02000503000000020004" pitchFamily="2" charset="0"/>
                <a:cs typeface="Arial" panose="020B0604020202020204" pitchFamily="34" charset="0"/>
              </a:rPr>
              <a:t>6+ channels active (Jira, IT Now, RITM, SharePoint, Email, Word). Only G&amp;E operates with a structured intake — quarterly Big Room Planning + PBB Canvas; Corporate still uses Word for requirements.</a:t>
            </a:r>
          </a:p>
        </p:txBody>
      </p:sp>
      <p:sp>
        <p:nvSpPr>
          <p:cNvPr id="51" name="TextBox 50"/>
          <p:cNvSpPr txBox="1"/>
          <p:nvPr/>
        </p:nvSpPr>
        <p:spPr>
          <a:xfrm>
            <a:off x="64008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52" name="TextBox 51"/>
          <p:cNvSpPr txBox="1"/>
          <p:nvPr/>
        </p:nvSpPr>
        <p:spPr>
          <a:xfrm>
            <a:off x="640080" y="4950544"/>
            <a:ext cx="2377440" cy="670953"/>
          </a:xfrm>
          <a:prstGeom prst="rect">
            <a:avLst/>
          </a:prstGeom>
          <a:noFill/>
        </p:spPr>
        <p:txBody>
          <a:bodyPr wrap="square" lIns="54864" tIns="27432" rIns="54864" bIns="27432" anchor="t">
            <a:spAutoFit/>
          </a:bodyPr>
          <a:lstStyle/>
          <a:p>
            <a:pPr algn="l"/>
            <a:r>
              <a:rPr lang="en-US" sz="1000" b="0" noProof="0" dirty="0">
                <a:solidFill>
                  <a:srgbClr val="1F3A68"/>
                </a:solidFill>
                <a:latin typeface="Arial" panose="020B0604020202020204" pitchFamily="34" charset="0"/>
                <a:ea typeface="Helvetica Neue" panose="02000503000000020004" pitchFamily="2" charset="0"/>
                <a:cs typeface="Arial" panose="020B0604020202020204" pitchFamily="34" charset="0"/>
              </a:rPr>
              <a:t>No single front door across Digital Products. Volumes and duplicates are invisible</a:t>
            </a:r>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a:t>
            </a:r>
            <a:r>
              <a:rPr lang="en-US" sz="1000" b="0" noProof="0" dirty="0">
                <a:solidFill>
                  <a:srgbClr val="1F3A68"/>
                </a:solidFill>
                <a:latin typeface="Arial" panose="020B0604020202020204" pitchFamily="34" charset="0"/>
                <a:ea typeface="Helvetica Neue" panose="02000503000000020004" pitchFamily="2" charset="0"/>
                <a:cs typeface="Arial" panose="020B0604020202020204" pitchFamily="34" charset="0"/>
              </a:rPr>
              <a:t> except where the P&amp;T model is already in place.</a:t>
            </a:r>
          </a:p>
        </p:txBody>
      </p:sp>
      <p:sp>
        <p:nvSpPr>
          <p:cNvPr id="53" name="Rectangle 52"/>
          <p:cNvSpPr/>
          <p:nvPr/>
        </p:nvSpPr>
        <p:spPr>
          <a:xfrm>
            <a:off x="329184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4" name="Rectangle 53"/>
          <p:cNvSpPr/>
          <p:nvPr/>
        </p:nvSpPr>
        <p:spPr>
          <a:xfrm>
            <a:off x="329184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5" name="TextBox 54"/>
          <p:cNvSpPr txBox="1"/>
          <p:nvPr/>
        </p:nvSpPr>
        <p:spPr>
          <a:xfrm>
            <a:off x="347472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02</a:t>
            </a:r>
          </a:p>
        </p:txBody>
      </p:sp>
      <p:sp>
        <p:nvSpPr>
          <p:cNvPr id="56" name="TextBox 55"/>
          <p:cNvSpPr txBox="1"/>
          <p:nvPr/>
        </p:nvSpPr>
        <p:spPr>
          <a:xfrm>
            <a:off x="4114800" y="2598250"/>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PRIORITIZATION  &amp;  PORTFOLIO</a:t>
            </a:r>
          </a:p>
        </p:txBody>
      </p:sp>
      <p:sp>
        <p:nvSpPr>
          <p:cNvPr id="57" name="TextBox 56"/>
          <p:cNvSpPr txBox="1"/>
          <p:nvPr/>
        </p:nvSpPr>
        <p:spPr>
          <a:xfrm>
            <a:off x="347472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58" name="TextBox 57"/>
          <p:cNvSpPr txBox="1"/>
          <p:nvPr/>
        </p:nvSpPr>
        <p:spPr>
          <a:xfrm>
            <a:off x="3474720" y="3432640"/>
            <a:ext cx="2377440" cy="824841"/>
          </a:xfrm>
          <a:prstGeom prst="rect">
            <a:avLst/>
          </a:prstGeom>
          <a:noFill/>
        </p:spPr>
        <p:txBody>
          <a:bodyPr wrap="square" lIns="54864" tIns="27432" rIns="54864" bIns="27432" anchor="t">
            <a:spAutoFit/>
          </a:bodyPr>
          <a:lstStyle/>
          <a:p>
            <a:r>
              <a:rPr lang="en-US" sz="1000" b="0" noProof="0" dirty="0">
                <a:solidFill>
                  <a:srgbClr val="4A4A4A"/>
                </a:solidFill>
                <a:latin typeface="Arial" panose="020B0604020202020204" pitchFamily="34" charset="0"/>
                <a:ea typeface="Helvetica Neue" panose="02000503000000020004" pitchFamily="2" charset="0"/>
                <a:cs typeface="Arial" panose="020B0604020202020204" pitchFamily="34" charset="0"/>
              </a:rPr>
              <a:t>Each team applies a different logic — PDD, impact × users, criticality, or intrinsic common sense. G&amp;E uses Portfolio Estimation Logic (formula-based scoring)</a:t>
            </a:r>
          </a:p>
        </p:txBody>
      </p:sp>
      <p:sp>
        <p:nvSpPr>
          <p:cNvPr id="59" name="TextBox 58"/>
          <p:cNvSpPr txBox="1"/>
          <p:nvPr/>
        </p:nvSpPr>
        <p:spPr>
          <a:xfrm>
            <a:off x="347472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60" name="TextBox 59"/>
          <p:cNvSpPr txBox="1"/>
          <p:nvPr/>
        </p:nvSpPr>
        <p:spPr>
          <a:xfrm>
            <a:off x="3474720" y="4950544"/>
            <a:ext cx="2377440" cy="517065"/>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Capacity cannot be reconciled across the branch. Strategic work loses to incident volume.</a:t>
            </a:r>
          </a:p>
        </p:txBody>
      </p:sp>
      <p:sp>
        <p:nvSpPr>
          <p:cNvPr id="61" name="Rectangle 60"/>
          <p:cNvSpPr/>
          <p:nvPr/>
        </p:nvSpPr>
        <p:spPr>
          <a:xfrm>
            <a:off x="612648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2" name="Rectangle 61"/>
          <p:cNvSpPr/>
          <p:nvPr/>
        </p:nvSpPr>
        <p:spPr>
          <a:xfrm>
            <a:off x="612648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3" name="TextBox 62"/>
          <p:cNvSpPr txBox="1"/>
          <p:nvPr/>
        </p:nvSpPr>
        <p:spPr>
          <a:xfrm>
            <a:off x="630936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03</a:t>
            </a:r>
          </a:p>
        </p:txBody>
      </p:sp>
      <p:sp>
        <p:nvSpPr>
          <p:cNvPr id="64" name="TextBox 63"/>
          <p:cNvSpPr txBox="1"/>
          <p:nvPr/>
        </p:nvSpPr>
        <p:spPr>
          <a:xfrm>
            <a:off x="6949440" y="2598250"/>
            <a:ext cx="1828800" cy="424732"/>
          </a:xfrm>
          <a:prstGeom prst="rect">
            <a:avLst/>
          </a:prstGeom>
          <a:noFill/>
        </p:spPr>
        <p:txBody>
          <a:bodyPr wrap="square" lIns="54864" tIns="27432" rIns="54864" bIns="27432" anchor="t">
            <a:spAutoFit/>
          </a:bodyPr>
          <a:lstStyle/>
          <a:p>
            <a:r>
              <a:rPr lang="en-US" sz="1200" b="1" noProof="0">
                <a:latin typeface="Arial" panose="020B0604020202020204" pitchFamily="34" charset="0"/>
                <a:cs typeface="Arial" panose="020B0604020202020204" pitchFamily="34" charset="0"/>
              </a:rPr>
              <a:t>ORGANIZATION  &amp;  DELIVERY</a:t>
            </a:r>
          </a:p>
        </p:txBody>
      </p:sp>
      <p:sp>
        <p:nvSpPr>
          <p:cNvPr id="65" name="TextBox 64"/>
          <p:cNvSpPr txBox="1"/>
          <p:nvPr/>
        </p:nvSpPr>
        <p:spPr>
          <a:xfrm>
            <a:off x="630936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66" name="TextBox 65"/>
          <p:cNvSpPr txBox="1"/>
          <p:nvPr/>
        </p:nvSpPr>
        <p:spPr>
          <a:xfrm>
            <a:off x="6309360" y="3432640"/>
            <a:ext cx="2377440" cy="824841"/>
          </a:xfrm>
          <a:prstGeom prst="rect">
            <a:avLst/>
          </a:prstGeom>
          <a:noFill/>
        </p:spPr>
        <p:txBody>
          <a:bodyPr wrap="square" lIns="54864" tIns="27432" rIns="54864" bIns="27432" anchor="t">
            <a:spAutoFit/>
          </a:bodyPr>
          <a:lstStyle/>
          <a:p>
            <a:r>
              <a:rPr lang="en-US" sz="1000" b="0" noProof="0" dirty="0">
                <a:solidFill>
                  <a:srgbClr val="4A4A4A"/>
                </a:solidFill>
                <a:latin typeface="Arial"/>
                <a:ea typeface="Helvetica Neue" panose="02000503000000020004" pitchFamily="2" charset="0"/>
                <a:cs typeface="Arial"/>
              </a:rPr>
              <a:t>Two Sr. Manager vacancies in Customer Services (CRM &amp; Contact Center Ops, SAP &amp; CS Architecture). Delivery leans heavily on </a:t>
            </a:r>
            <a:r>
              <a:rPr lang="en-US" sz="1000" noProof="0">
                <a:solidFill>
                  <a:srgbClr val="4A4A4A"/>
                </a:solidFill>
                <a:latin typeface="Arial"/>
                <a:ea typeface="Helvetica Neue" panose="02000503000000020004" pitchFamily="2" charset="0"/>
                <a:cs typeface="Arial"/>
              </a:rPr>
              <a:t> </a:t>
            </a:r>
            <a:r>
              <a:rPr lang="en-US" sz="1000" b="0" noProof="0" dirty="0">
                <a:solidFill>
                  <a:srgbClr val="4A4A4A"/>
                </a:solidFill>
                <a:latin typeface="Arial"/>
                <a:ea typeface="Helvetica Neue" panose="02000503000000020004" pitchFamily="2" charset="0"/>
                <a:cs typeface="Arial"/>
              </a:rPr>
              <a:t>SWF + vendor muscle.</a:t>
            </a:r>
          </a:p>
        </p:txBody>
      </p:sp>
      <p:sp>
        <p:nvSpPr>
          <p:cNvPr id="67" name="TextBox 66"/>
          <p:cNvSpPr txBox="1"/>
          <p:nvPr/>
        </p:nvSpPr>
        <p:spPr>
          <a:xfrm>
            <a:off x="630936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68" name="TextBox 67"/>
          <p:cNvSpPr txBox="1"/>
          <p:nvPr/>
        </p:nvSpPr>
        <p:spPr>
          <a:xfrm>
            <a:off x="6309360" y="4950544"/>
            <a:ext cx="2377440" cy="363176"/>
          </a:xfrm>
          <a:prstGeom prst="rect">
            <a:avLst/>
          </a:prstGeom>
          <a:noFill/>
        </p:spPr>
        <p:txBody>
          <a:bodyPr wrap="square" lIns="54864" tIns="27432" rIns="54864" bIns="27432" anchor="t">
            <a:spAutoFit/>
          </a:bodyPr>
          <a:lstStyle/>
          <a:p>
            <a:pPr algn="l"/>
            <a:r>
              <a:rPr lang="en-US" sz="1000" b="0" noProof="0" dirty="0">
                <a:solidFill>
                  <a:srgbClr val="1F3A68"/>
                </a:solidFill>
                <a:latin typeface="Arial" panose="020B0604020202020204" pitchFamily="34" charset="0"/>
                <a:ea typeface="Helvetica Neue" panose="02000503000000020004" pitchFamily="2" charset="0"/>
                <a:cs typeface="Arial" panose="020B0604020202020204" pitchFamily="34" charset="0"/>
              </a:rPr>
              <a:t>Leadership gap + vendor concentration create structural risk for scaling.</a:t>
            </a:r>
          </a:p>
        </p:txBody>
      </p:sp>
      <p:sp>
        <p:nvSpPr>
          <p:cNvPr id="69" name="Rectangle 68"/>
          <p:cNvSpPr/>
          <p:nvPr/>
        </p:nvSpPr>
        <p:spPr>
          <a:xfrm>
            <a:off x="896112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0" name="Rectangle 69"/>
          <p:cNvSpPr/>
          <p:nvPr/>
        </p:nvSpPr>
        <p:spPr>
          <a:xfrm>
            <a:off x="896112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1" name="TextBox 70"/>
          <p:cNvSpPr txBox="1"/>
          <p:nvPr/>
        </p:nvSpPr>
        <p:spPr>
          <a:xfrm>
            <a:off x="914400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04</a:t>
            </a:r>
          </a:p>
        </p:txBody>
      </p:sp>
      <p:sp>
        <p:nvSpPr>
          <p:cNvPr id="72" name="TextBox 71"/>
          <p:cNvSpPr txBox="1"/>
          <p:nvPr/>
        </p:nvSpPr>
        <p:spPr>
          <a:xfrm>
            <a:off x="9784080" y="2598250"/>
            <a:ext cx="1468120" cy="424732"/>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sz="1200" noProof="0">
                <a:solidFill>
                  <a:schemeClr val="tx1"/>
                </a:solidFill>
                <a:latin typeface="Arial" panose="020B0604020202020204" pitchFamily="34" charset="0"/>
                <a:cs typeface="Arial" panose="020B0604020202020204" pitchFamily="34" charset="0"/>
              </a:rPr>
              <a:t>CAPACITY  &amp;  REPORTING</a:t>
            </a:r>
          </a:p>
        </p:txBody>
      </p:sp>
      <p:sp>
        <p:nvSpPr>
          <p:cNvPr id="73" name="TextBox 72"/>
          <p:cNvSpPr txBox="1"/>
          <p:nvPr/>
        </p:nvSpPr>
        <p:spPr>
          <a:xfrm>
            <a:off x="914400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74" name="TextBox 73"/>
          <p:cNvSpPr txBox="1"/>
          <p:nvPr/>
        </p:nvSpPr>
        <p:spPr>
          <a:xfrm>
            <a:off x="9144000" y="3432640"/>
            <a:ext cx="2377440" cy="1286506"/>
          </a:xfrm>
          <a:prstGeom prst="rect">
            <a:avLst/>
          </a:prstGeom>
          <a:noFill/>
        </p:spPr>
        <p:txBody>
          <a:bodyPr wrap="square" lIns="54864" tIns="27432" rIns="54864" bIns="27432" anchor="t">
            <a:spAutoFit/>
          </a:bodyPr>
          <a:lstStyle/>
          <a:p>
            <a:r>
              <a:rPr lang="en-US" sz="1000" noProof="0" dirty="0">
                <a:solidFill>
                  <a:srgbClr val="4A4A4A"/>
                </a:solidFill>
                <a:latin typeface="Arial"/>
                <a:ea typeface="Helvetica Neue" panose="02000503000000020004" pitchFamily="2" charset="0"/>
                <a:cs typeface="Arial"/>
              </a:rPr>
              <a:t>No formal capacity planning across Digital Products. Knowledge concentrated in named individuals in every team. Two teams self-describe as KPI-less; only Global SAP has a single KPI (incident count). G&amp;E is the only area with portfolio-level KPIs in place today.</a:t>
            </a:r>
            <a:endParaRPr lang="en-US" sz="1000" b="0" noProof="0" dirty="0">
              <a:solidFill>
                <a:srgbClr val="4A4A4A"/>
              </a:solidFill>
              <a:latin typeface="Arial"/>
              <a:ea typeface="Helvetica Neue" panose="02000503000000020004" pitchFamily="2" charset="0"/>
              <a:cs typeface="Arial"/>
            </a:endParaRPr>
          </a:p>
        </p:txBody>
      </p:sp>
      <p:sp>
        <p:nvSpPr>
          <p:cNvPr id="75" name="TextBox 74"/>
          <p:cNvSpPr txBox="1"/>
          <p:nvPr/>
        </p:nvSpPr>
        <p:spPr>
          <a:xfrm>
            <a:off x="914400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76" name="TextBox 75"/>
          <p:cNvSpPr txBox="1"/>
          <p:nvPr/>
        </p:nvSpPr>
        <p:spPr>
          <a:xfrm>
            <a:off x="9144000" y="4950544"/>
            <a:ext cx="2377440" cy="670953"/>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Can't measure delivery performance or reconcile demand vs capacity. Key-person risk is the single most repeated finding across the canvases.</a:t>
            </a:r>
          </a:p>
        </p:txBody>
      </p:sp>
      <p:sp>
        <p:nvSpPr>
          <p:cNvPr id="3" name="CuadroTexto 204">
            <a:extLst>
              <a:ext uri="{FF2B5EF4-FFF2-40B4-BE49-F238E27FC236}">
                <a16:creationId xmlns:a16="http://schemas.microsoft.com/office/drawing/2014/main" id="{C35D3492-1436-175A-E2D0-691499EE6CD0}"/>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latin typeface="Arial"/>
                <a:cs typeface="Arial"/>
              </a:rPr>
              <a:t>Digital Products runs nine sub-teams on six disconnected intake channels — with no shared prioritization logic, and knowledge concentrated in named individuals across every single team</a:t>
            </a:r>
          </a:p>
        </p:txBody>
      </p:sp>
      <p:sp>
        <p:nvSpPr>
          <p:cNvPr id="4" name="Título 2">
            <a:extLst>
              <a:ext uri="{FF2B5EF4-FFF2-40B4-BE49-F238E27FC236}">
                <a16:creationId xmlns:a16="http://schemas.microsoft.com/office/drawing/2014/main" id="{8EE7DB0B-4AAE-7C61-F98C-52FDAB529E09}"/>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GENERAL FINDINGS</a:t>
            </a:r>
          </a:p>
        </p:txBody>
      </p:sp>
    </p:spTree>
    <p:extLst>
      <p:ext uri="{BB962C8B-B14F-4D97-AF65-F5344CB8AC3E}">
        <p14:creationId xmlns:p14="http://schemas.microsoft.com/office/powerpoint/2010/main" val="187142521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2215-2ECF-52E7-9FC0-2635446144B5}"/>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20A20208-2980-0F75-4191-471E3A3125C4}"/>
              </a:ext>
            </a:extLst>
          </p:cNvPr>
          <p:cNvSpPr/>
          <p:nvPr/>
        </p:nvSpPr>
        <p:spPr>
          <a:xfrm>
            <a:off x="0" y="6390189"/>
            <a:ext cx="12094590" cy="4412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4" name="Rectangle 177">
            <a:extLst>
              <a:ext uri="{FF2B5EF4-FFF2-40B4-BE49-F238E27FC236}">
                <a16:creationId xmlns:a16="http://schemas.microsoft.com/office/drawing/2014/main" id="{0BC4F0FD-40DD-6129-8739-0DAA6C8D2181}"/>
              </a:ext>
            </a:extLst>
          </p:cNvPr>
          <p:cNvSpPr/>
          <p:nvPr/>
        </p:nvSpPr>
        <p:spPr>
          <a:xfrm>
            <a:off x="3866763" y="6067651"/>
            <a:ext cx="4491174" cy="343027"/>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ítulo 2">
            <a:extLst>
              <a:ext uri="{FF2B5EF4-FFF2-40B4-BE49-F238E27FC236}">
                <a16:creationId xmlns:a16="http://schemas.microsoft.com/office/drawing/2014/main" id="{3BF5281A-D33E-D9EB-CBB5-D8702265490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VALUE STREAM MAPPING - DEMAND FLOW</a:t>
            </a:r>
          </a:p>
        </p:txBody>
      </p:sp>
      <p:sp>
        <p:nvSpPr>
          <p:cNvPr id="163" name="Rectangle 153">
            <a:extLst>
              <a:ext uri="{FF2B5EF4-FFF2-40B4-BE49-F238E27FC236}">
                <a16:creationId xmlns:a16="http://schemas.microsoft.com/office/drawing/2014/main" id="{BEC5993C-1B35-1FDA-18D3-456817705BAA}"/>
              </a:ext>
            </a:extLst>
          </p:cNvPr>
          <p:cNvSpPr/>
          <p:nvPr/>
        </p:nvSpPr>
        <p:spPr>
          <a:xfrm>
            <a:off x="423176" y="6446670"/>
            <a:ext cx="11274552" cy="38661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4" name="TextBox 154">
            <a:extLst>
              <a:ext uri="{FF2B5EF4-FFF2-40B4-BE49-F238E27FC236}">
                <a16:creationId xmlns:a16="http://schemas.microsoft.com/office/drawing/2014/main" id="{2D357967-CED4-5E00-6EC9-D90B7F33FD74}"/>
              </a:ext>
            </a:extLst>
          </p:cNvPr>
          <p:cNvSpPr txBox="1"/>
          <p:nvPr/>
        </p:nvSpPr>
        <p:spPr>
          <a:xfrm>
            <a:off x="599592" y="6520014"/>
            <a:ext cx="10992815"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The operating-model playbook exists internally — the gap is scaling it across Digital Products</a:t>
            </a:r>
          </a:p>
        </p:txBody>
      </p:sp>
      <p:sp>
        <p:nvSpPr>
          <p:cNvPr id="38" name="TextBox 165">
            <a:extLst>
              <a:ext uri="{FF2B5EF4-FFF2-40B4-BE49-F238E27FC236}">
                <a16:creationId xmlns:a16="http://schemas.microsoft.com/office/drawing/2014/main" id="{ECCE7678-38B0-54C6-C9B1-16CA8331EFAC}"/>
              </a:ext>
            </a:extLst>
          </p:cNvPr>
          <p:cNvSpPr txBox="1"/>
          <p:nvPr/>
        </p:nvSpPr>
        <p:spPr>
          <a:xfrm>
            <a:off x="3866763" y="6137644"/>
            <a:ext cx="74396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MATURITY:</a:t>
            </a:r>
          </a:p>
        </p:txBody>
      </p:sp>
      <p:sp>
        <p:nvSpPr>
          <p:cNvPr id="80" name="Oval 79">
            <a:extLst>
              <a:ext uri="{FF2B5EF4-FFF2-40B4-BE49-F238E27FC236}">
                <a16:creationId xmlns:a16="http://schemas.microsoft.com/office/drawing/2014/main" id="{9B34B6C8-650E-22ED-AE47-86F713FA00A3}"/>
              </a:ext>
            </a:extLst>
          </p:cNvPr>
          <p:cNvSpPr/>
          <p:nvPr/>
        </p:nvSpPr>
        <p:spPr>
          <a:xfrm>
            <a:off x="4685151" y="6170585"/>
            <a:ext cx="137160" cy="137160"/>
          </a:xfrm>
          <a:prstGeom prst="ellipse">
            <a:avLst/>
          </a:prstGeom>
          <a:solidFill>
            <a:srgbClr val="BC4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6" name="TextBox 167">
            <a:extLst>
              <a:ext uri="{FF2B5EF4-FFF2-40B4-BE49-F238E27FC236}">
                <a16:creationId xmlns:a16="http://schemas.microsoft.com/office/drawing/2014/main" id="{A52A4912-7056-75F9-DE73-7F5C9ABF59BE}"/>
              </a:ext>
            </a:extLst>
          </p:cNvPr>
          <p:cNvSpPr txBox="1"/>
          <p:nvPr/>
        </p:nvSpPr>
        <p:spPr>
          <a:xfrm>
            <a:off x="4849743" y="613764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CRITICAL</a:t>
            </a:r>
          </a:p>
        </p:txBody>
      </p:sp>
      <p:sp>
        <p:nvSpPr>
          <p:cNvPr id="167" name="Oval 166">
            <a:extLst>
              <a:ext uri="{FF2B5EF4-FFF2-40B4-BE49-F238E27FC236}">
                <a16:creationId xmlns:a16="http://schemas.microsoft.com/office/drawing/2014/main" id="{6FC09AA3-EB7A-5B08-1421-A275F9E74F93}"/>
              </a:ext>
            </a:extLst>
          </p:cNvPr>
          <p:cNvSpPr/>
          <p:nvPr/>
        </p:nvSpPr>
        <p:spPr>
          <a:xfrm>
            <a:off x="5645271" y="6170585"/>
            <a:ext cx="137160" cy="137160"/>
          </a:xfrm>
          <a:prstGeom prst="ellipse">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8" name="TextBox 169">
            <a:extLst>
              <a:ext uri="{FF2B5EF4-FFF2-40B4-BE49-F238E27FC236}">
                <a16:creationId xmlns:a16="http://schemas.microsoft.com/office/drawing/2014/main" id="{9321A240-304E-2A48-6C5A-D1C434078739}"/>
              </a:ext>
            </a:extLst>
          </p:cNvPr>
          <p:cNvSpPr txBox="1"/>
          <p:nvPr/>
        </p:nvSpPr>
        <p:spPr>
          <a:xfrm>
            <a:off x="5809862" y="613764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GAP</a:t>
            </a:r>
          </a:p>
        </p:txBody>
      </p:sp>
      <p:sp>
        <p:nvSpPr>
          <p:cNvPr id="169" name="Oval 168">
            <a:extLst>
              <a:ext uri="{FF2B5EF4-FFF2-40B4-BE49-F238E27FC236}">
                <a16:creationId xmlns:a16="http://schemas.microsoft.com/office/drawing/2014/main" id="{17C5954F-D339-1BBB-DA8E-35631F36A5EF}"/>
              </a:ext>
            </a:extLst>
          </p:cNvPr>
          <p:cNvSpPr/>
          <p:nvPr/>
        </p:nvSpPr>
        <p:spPr>
          <a:xfrm>
            <a:off x="6605391" y="6170585"/>
            <a:ext cx="137160" cy="137160"/>
          </a:xfrm>
          <a:prstGeom prst="ellipse">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0" name="TextBox 171">
            <a:extLst>
              <a:ext uri="{FF2B5EF4-FFF2-40B4-BE49-F238E27FC236}">
                <a16:creationId xmlns:a16="http://schemas.microsoft.com/office/drawing/2014/main" id="{412AE6FB-79F8-D584-CC3D-062A5FAD4398}"/>
              </a:ext>
            </a:extLst>
          </p:cNvPr>
          <p:cNvSpPr txBox="1"/>
          <p:nvPr/>
        </p:nvSpPr>
        <p:spPr>
          <a:xfrm>
            <a:off x="6769983" y="613764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PARTIAL</a:t>
            </a:r>
          </a:p>
        </p:txBody>
      </p:sp>
      <p:sp>
        <p:nvSpPr>
          <p:cNvPr id="171" name="Oval 170">
            <a:extLst>
              <a:ext uri="{FF2B5EF4-FFF2-40B4-BE49-F238E27FC236}">
                <a16:creationId xmlns:a16="http://schemas.microsoft.com/office/drawing/2014/main" id="{1F1FC7BE-FAB9-1AA5-D7E0-225C6D062B11}"/>
              </a:ext>
            </a:extLst>
          </p:cNvPr>
          <p:cNvSpPr/>
          <p:nvPr/>
        </p:nvSpPr>
        <p:spPr>
          <a:xfrm>
            <a:off x="7565511" y="617058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2" name="TextBox 173">
            <a:extLst>
              <a:ext uri="{FF2B5EF4-FFF2-40B4-BE49-F238E27FC236}">
                <a16:creationId xmlns:a16="http://schemas.microsoft.com/office/drawing/2014/main" id="{DC0705F4-D5F5-3CDC-4C49-389BF8D63C8B}"/>
              </a:ext>
            </a:extLst>
          </p:cNvPr>
          <p:cNvSpPr txBox="1"/>
          <p:nvPr/>
        </p:nvSpPr>
        <p:spPr>
          <a:xfrm>
            <a:off x="7702671" y="614519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SCALABLE</a:t>
            </a:r>
          </a:p>
        </p:txBody>
      </p:sp>
      <p:sp>
        <p:nvSpPr>
          <p:cNvPr id="3" name="Rectangle 4">
            <a:extLst>
              <a:ext uri="{FF2B5EF4-FFF2-40B4-BE49-F238E27FC236}">
                <a16:creationId xmlns:a16="http://schemas.microsoft.com/office/drawing/2014/main" id="{3DAC6AA5-DD84-B705-B229-5039A5D7E88D}"/>
              </a:ext>
            </a:extLst>
          </p:cNvPr>
          <p:cNvSpPr/>
          <p:nvPr/>
        </p:nvSpPr>
        <p:spPr>
          <a:xfrm>
            <a:off x="1647515" y="1409382"/>
            <a:ext cx="164592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TextBox 5">
            <a:extLst>
              <a:ext uri="{FF2B5EF4-FFF2-40B4-BE49-F238E27FC236}">
                <a16:creationId xmlns:a16="http://schemas.microsoft.com/office/drawing/2014/main" id="{B7145874-3DD9-9DB9-FA98-B2FC673CFC15}"/>
              </a:ext>
            </a:extLst>
          </p:cNvPr>
          <p:cNvSpPr txBox="1"/>
          <p:nvPr/>
        </p:nvSpPr>
        <p:spPr>
          <a:xfrm>
            <a:off x="1647515" y="1436814"/>
            <a:ext cx="1645920" cy="154979"/>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SOURCE</a:t>
            </a:r>
          </a:p>
        </p:txBody>
      </p:sp>
      <p:sp>
        <p:nvSpPr>
          <p:cNvPr id="9" name="TextBox 6">
            <a:extLst>
              <a:ext uri="{FF2B5EF4-FFF2-40B4-BE49-F238E27FC236}">
                <a16:creationId xmlns:a16="http://schemas.microsoft.com/office/drawing/2014/main" id="{93D802DB-99EB-F93B-AEED-42153997B31C}"/>
              </a:ext>
            </a:extLst>
          </p:cNvPr>
          <p:cNvSpPr txBox="1"/>
          <p:nvPr/>
        </p:nvSpPr>
        <p:spPr>
          <a:xfrm>
            <a:off x="1647515" y="1665414"/>
            <a:ext cx="1645920"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Who sends the demand</a:t>
            </a:r>
          </a:p>
        </p:txBody>
      </p:sp>
      <p:sp>
        <p:nvSpPr>
          <p:cNvPr id="12" name="Rectangle 7">
            <a:extLst>
              <a:ext uri="{FF2B5EF4-FFF2-40B4-BE49-F238E27FC236}">
                <a16:creationId xmlns:a16="http://schemas.microsoft.com/office/drawing/2014/main" id="{C251135C-745D-7209-CEE4-7258BDF2BA5B}"/>
              </a:ext>
            </a:extLst>
          </p:cNvPr>
          <p:cNvSpPr/>
          <p:nvPr/>
        </p:nvSpPr>
        <p:spPr>
          <a:xfrm>
            <a:off x="3339155" y="1409382"/>
            <a:ext cx="155448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6" name="TextBox 8">
            <a:extLst>
              <a:ext uri="{FF2B5EF4-FFF2-40B4-BE49-F238E27FC236}">
                <a16:creationId xmlns:a16="http://schemas.microsoft.com/office/drawing/2014/main" id="{AA8D79A0-D940-D377-FD82-59B3A4A3F59B}"/>
              </a:ext>
            </a:extLst>
          </p:cNvPr>
          <p:cNvSpPr txBox="1"/>
          <p:nvPr/>
        </p:nvSpPr>
        <p:spPr>
          <a:xfrm>
            <a:off x="3339155" y="1436814"/>
            <a:ext cx="1554480" cy="154979"/>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TYPES</a:t>
            </a:r>
          </a:p>
        </p:txBody>
      </p:sp>
      <p:sp>
        <p:nvSpPr>
          <p:cNvPr id="84" name="TextBox 9">
            <a:extLst>
              <a:ext uri="{FF2B5EF4-FFF2-40B4-BE49-F238E27FC236}">
                <a16:creationId xmlns:a16="http://schemas.microsoft.com/office/drawing/2014/main" id="{E3E6B9B4-9396-DAD1-E7EE-D9ABC7696F84}"/>
              </a:ext>
            </a:extLst>
          </p:cNvPr>
          <p:cNvSpPr txBox="1"/>
          <p:nvPr/>
        </p:nvSpPr>
        <p:spPr>
          <a:xfrm>
            <a:off x="3339155" y="1665414"/>
            <a:ext cx="1554480"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What kind of demand</a:t>
            </a:r>
          </a:p>
        </p:txBody>
      </p:sp>
      <p:sp>
        <p:nvSpPr>
          <p:cNvPr id="87" name="Rectangle 10">
            <a:extLst>
              <a:ext uri="{FF2B5EF4-FFF2-40B4-BE49-F238E27FC236}">
                <a16:creationId xmlns:a16="http://schemas.microsoft.com/office/drawing/2014/main" id="{08A61B02-51F0-8968-32D3-0FA35F3F5C2B}"/>
              </a:ext>
            </a:extLst>
          </p:cNvPr>
          <p:cNvSpPr/>
          <p:nvPr/>
        </p:nvSpPr>
        <p:spPr>
          <a:xfrm>
            <a:off x="4939354"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0" name="TextBox 11">
            <a:extLst>
              <a:ext uri="{FF2B5EF4-FFF2-40B4-BE49-F238E27FC236}">
                <a16:creationId xmlns:a16="http://schemas.microsoft.com/office/drawing/2014/main" id="{F694BC3B-95A0-A3F5-14C7-1C28A71FC5D6}"/>
              </a:ext>
            </a:extLst>
          </p:cNvPr>
          <p:cNvSpPr txBox="1"/>
          <p:nvPr/>
        </p:nvSpPr>
        <p:spPr>
          <a:xfrm>
            <a:off x="4939354"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01 INTAKE</a:t>
            </a:r>
          </a:p>
        </p:txBody>
      </p:sp>
      <p:sp>
        <p:nvSpPr>
          <p:cNvPr id="93" name="TextBox 12">
            <a:extLst>
              <a:ext uri="{FF2B5EF4-FFF2-40B4-BE49-F238E27FC236}">
                <a16:creationId xmlns:a16="http://schemas.microsoft.com/office/drawing/2014/main" id="{7723B9D0-CCF3-6CE5-D250-93530CDA1A48}"/>
              </a:ext>
            </a:extLst>
          </p:cNvPr>
          <p:cNvSpPr txBox="1"/>
          <p:nvPr/>
        </p:nvSpPr>
        <p:spPr>
          <a:xfrm>
            <a:off x="4939354"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Channels</a:t>
            </a:r>
          </a:p>
        </p:txBody>
      </p:sp>
      <p:sp>
        <p:nvSpPr>
          <p:cNvPr id="96" name="Rectangle 13">
            <a:extLst>
              <a:ext uri="{FF2B5EF4-FFF2-40B4-BE49-F238E27FC236}">
                <a16:creationId xmlns:a16="http://schemas.microsoft.com/office/drawing/2014/main" id="{8F6F6079-620B-3907-2959-85014BF22508}"/>
              </a:ext>
            </a:extLst>
          </p:cNvPr>
          <p:cNvSpPr/>
          <p:nvPr/>
        </p:nvSpPr>
        <p:spPr>
          <a:xfrm>
            <a:off x="6343873"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1" name="TextBox 14">
            <a:extLst>
              <a:ext uri="{FF2B5EF4-FFF2-40B4-BE49-F238E27FC236}">
                <a16:creationId xmlns:a16="http://schemas.microsoft.com/office/drawing/2014/main" id="{D959141F-8C92-D688-6F4C-CFF599972BB0}"/>
              </a:ext>
            </a:extLst>
          </p:cNvPr>
          <p:cNvSpPr txBox="1"/>
          <p:nvPr/>
        </p:nvSpPr>
        <p:spPr>
          <a:xfrm>
            <a:off x="6343873"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02 CLASSIFICATION</a:t>
            </a:r>
          </a:p>
        </p:txBody>
      </p:sp>
      <p:sp>
        <p:nvSpPr>
          <p:cNvPr id="140" name="TextBox 15">
            <a:extLst>
              <a:ext uri="{FF2B5EF4-FFF2-40B4-BE49-F238E27FC236}">
                <a16:creationId xmlns:a16="http://schemas.microsoft.com/office/drawing/2014/main" id="{41EDC6C3-E403-CAAD-1E6D-5F0CE3839804}"/>
              </a:ext>
            </a:extLst>
          </p:cNvPr>
          <p:cNvSpPr txBox="1"/>
          <p:nvPr/>
        </p:nvSpPr>
        <p:spPr>
          <a:xfrm>
            <a:off x="6343873"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Type, Size, Urgency</a:t>
            </a:r>
          </a:p>
        </p:txBody>
      </p:sp>
      <p:sp>
        <p:nvSpPr>
          <p:cNvPr id="149" name="Rectangle 16">
            <a:extLst>
              <a:ext uri="{FF2B5EF4-FFF2-40B4-BE49-F238E27FC236}">
                <a16:creationId xmlns:a16="http://schemas.microsoft.com/office/drawing/2014/main" id="{5DE913CE-1D83-8517-B836-C0B98816E097}"/>
              </a:ext>
            </a:extLst>
          </p:cNvPr>
          <p:cNvSpPr/>
          <p:nvPr/>
        </p:nvSpPr>
        <p:spPr>
          <a:xfrm>
            <a:off x="7748391"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5" name="TextBox 17">
            <a:extLst>
              <a:ext uri="{FF2B5EF4-FFF2-40B4-BE49-F238E27FC236}">
                <a16:creationId xmlns:a16="http://schemas.microsoft.com/office/drawing/2014/main" id="{60C2731A-BC81-5770-BF94-1B7FE28FF030}"/>
              </a:ext>
            </a:extLst>
          </p:cNvPr>
          <p:cNvSpPr txBox="1"/>
          <p:nvPr/>
        </p:nvSpPr>
        <p:spPr>
          <a:xfrm>
            <a:off x="7748391"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03 PRIORITIZATION</a:t>
            </a:r>
          </a:p>
        </p:txBody>
      </p:sp>
      <p:sp>
        <p:nvSpPr>
          <p:cNvPr id="158" name="TextBox 18">
            <a:extLst>
              <a:ext uri="{FF2B5EF4-FFF2-40B4-BE49-F238E27FC236}">
                <a16:creationId xmlns:a16="http://schemas.microsoft.com/office/drawing/2014/main" id="{6639968F-D5FF-1F02-BB65-B7776205F5FF}"/>
              </a:ext>
            </a:extLst>
          </p:cNvPr>
          <p:cNvSpPr txBox="1"/>
          <p:nvPr/>
        </p:nvSpPr>
        <p:spPr>
          <a:xfrm>
            <a:off x="7748391"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Scoring &amp; Criteria</a:t>
            </a:r>
          </a:p>
        </p:txBody>
      </p:sp>
      <p:sp>
        <p:nvSpPr>
          <p:cNvPr id="183" name="Rectangle 19">
            <a:extLst>
              <a:ext uri="{FF2B5EF4-FFF2-40B4-BE49-F238E27FC236}">
                <a16:creationId xmlns:a16="http://schemas.microsoft.com/office/drawing/2014/main" id="{DE8DB84E-F551-F951-CCA4-D7E1CBE84652}"/>
              </a:ext>
            </a:extLst>
          </p:cNvPr>
          <p:cNvSpPr/>
          <p:nvPr/>
        </p:nvSpPr>
        <p:spPr>
          <a:xfrm>
            <a:off x="9152910"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84" name="TextBox 20">
            <a:extLst>
              <a:ext uri="{FF2B5EF4-FFF2-40B4-BE49-F238E27FC236}">
                <a16:creationId xmlns:a16="http://schemas.microsoft.com/office/drawing/2014/main" id="{BBD6F851-AF71-ACE2-8A71-2D53DE668E16}"/>
              </a:ext>
            </a:extLst>
          </p:cNvPr>
          <p:cNvSpPr txBox="1"/>
          <p:nvPr/>
        </p:nvSpPr>
        <p:spPr>
          <a:xfrm>
            <a:off x="9152910"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04 PORTFOLIO</a:t>
            </a:r>
          </a:p>
        </p:txBody>
      </p:sp>
      <p:sp>
        <p:nvSpPr>
          <p:cNvPr id="185" name="TextBox 21">
            <a:extLst>
              <a:ext uri="{FF2B5EF4-FFF2-40B4-BE49-F238E27FC236}">
                <a16:creationId xmlns:a16="http://schemas.microsoft.com/office/drawing/2014/main" id="{958BBDA0-E1FD-A1ED-AE4A-6B4E5745A228}"/>
              </a:ext>
            </a:extLst>
          </p:cNvPr>
          <p:cNvSpPr txBox="1"/>
          <p:nvPr/>
        </p:nvSpPr>
        <p:spPr>
          <a:xfrm>
            <a:off x="9152910"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Governance</a:t>
            </a:r>
          </a:p>
        </p:txBody>
      </p:sp>
      <p:sp>
        <p:nvSpPr>
          <p:cNvPr id="186" name="Rectangle 22">
            <a:extLst>
              <a:ext uri="{FF2B5EF4-FFF2-40B4-BE49-F238E27FC236}">
                <a16:creationId xmlns:a16="http://schemas.microsoft.com/office/drawing/2014/main" id="{05E1C70A-EBE3-3D15-02BB-DDDCF3F6C511}"/>
              </a:ext>
            </a:extLst>
          </p:cNvPr>
          <p:cNvSpPr/>
          <p:nvPr/>
        </p:nvSpPr>
        <p:spPr>
          <a:xfrm>
            <a:off x="10557428"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87" name="TextBox 23">
            <a:extLst>
              <a:ext uri="{FF2B5EF4-FFF2-40B4-BE49-F238E27FC236}">
                <a16:creationId xmlns:a16="http://schemas.microsoft.com/office/drawing/2014/main" id="{C0581519-B31F-AAFF-1AB5-C12008B274F3}"/>
              </a:ext>
            </a:extLst>
          </p:cNvPr>
          <p:cNvSpPr txBox="1"/>
          <p:nvPr/>
        </p:nvSpPr>
        <p:spPr>
          <a:xfrm>
            <a:off x="10557428"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05 DELIVERY</a:t>
            </a:r>
          </a:p>
        </p:txBody>
      </p:sp>
      <p:sp>
        <p:nvSpPr>
          <p:cNvPr id="188" name="TextBox 24">
            <a:extLst>
              <a:ext uri="{FF2B5EF4-FFF2-40B4-BE49-F238E27FC236}">
                <a16:creationId xmlns:a16="http://schemas.microsoft.com/office/drawing/2014/main" id="{E80AA7F4-6755-5429-7394-A17AA711EA99}"/>
              </a:ext>
            </a:extLst>
          </p:cNvPr>
          <p:cNvSpPr txBox="1"/>
          <p:nvPr/>
        </p:nvSpPr>
        <p:spPr>
          <a:xfrm>
            <a:off x="10557428"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Execution</a:t>
            </a:r>
          </a:p>
        </p:txBody>
      </p:sp>
      <p:sp>
        <p:nvSpPr>
          <p:cNvPr id="189" name="Rectangle 25">
            <a:extLst>
              <a:ext uri="{FF2B5EF4-FFF2-40B4-BE49-F238E27FC236}">
                <a16:creationId xmlns:a16="http://schemas.microsoft.com/office/drawing/2014/main" id="{030EED55-206D-13EF-3578-F32D9F9136ED}"/>
              </a:ext>
            </a:extLst>
          </p:cNvPr>
          <p:cNvSpPr/>
          <p:nvPr/>
        </p:nvSpPr>
        <p:spPr>
          <a:xfrm>
            <a:off x="458795" y="2189819"/>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0" name="TextBox 26">
            <a:extLst>
              <a:ext uri="{FF2B5EF4-FFF2-40B4-BE49-F238E27FC236}">
                <a16:creationId xmlns:a16="http://schemas.microsoft.com/office/drawing/2014/main" id="{C8AD320F-2B48-0F2D-C501-3B24A41DBE0A}"/>
              </a:ext>
            </a:extLst>
          </p:cNvPr>
          <p:cNvSpPr txBox="1"/>
          <p:nvPr/>
        </p:nvSpPr>
        <p:spPr>
          <a:xfrm>
            <a:off x="460304" y="2388158"/>
            <a:ext cx="1143000"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GIS</a:t>
            </a:r>
          </a:p>
        </p:txBody>
      </p:sp>
      <p:sp>
        <p:nvSpPr>
          <p:cNvPr id="191" name="Rectangle 27">
            <a:extLst>
              <a:ext uri="{FF2B5EF4-FFF2-40B4-BE49-F238E27FC236}">
                <a16:creationId xmlns:a16="http://schemas.microsoft.com/office/drawing/2014/main" id="{5EB8FB96-91AD-3BDA-FA2E-96F6D741189D}"/>
              </a:ext>
            </a:extLst>
          </p:cNvPr>
          <p:cNvSpPr/>
          <p:nvPr/>
        </p:nvSpPr>
        <p:spPr>
          <a:xfrm>
            <a:off x="1647515" y="2189819"/>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Electric &amp; Gas Field Operations · OSG</a:t>
            </a: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2" name="Rectangle 29">
            <a:extLst>
              <a:ext uri="{FF2B5EF4-FFF2-40B4-BE49-F238E27FC236}">
                <a16:creationId xmlns:a16="http://schemas.microsoft.com/office/drawing/2014/main" id="{A5E18728-DD47-2F55-8225-2BC4944A0CE8}"/>
              </a:ext>
            </a:extLst>
          </p:cNvPr>
          <p:cNvSpPr/>
          <p:nvPr/>
        </p:nvSpPr>
        <p:spPr>
          <a:xfrm>
            <a:off x="3339155" y="2189819"/>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3" name="TextBox 30">
            <a:extLst>
              <a:ext uri="{FF2B5EF4-FFF2-40B4-BE49-F238E27FC236}">
                <a16:creationId xmlns:a16="http://schemas.microsoft.com/office/drawing/2014/main" id="{964429D0-F9AF-035A-A8FC-D10FC9500B25}"/>
              </a:ext>
            </a:extLst>
          </p:cNvPr>
          <p:cNvSpPr txBox="1"/>
          <p:nvPr/>
        </p:nvSpPr>
        <p:spPr>
          <a:xfrm>
            <a:off x="3412307" y="2394376"/>
            <a:ext cx="1408176" cy="139525"/>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Break/fix · Small · Large</a:t>
            </a:r>
          </a:p>
        </p:txBody>
      </p:sp>
      <p:sp>
        <p:nvSpPr>
          <p:cNvPr id="194" name="Rectangle 31">
            <a:extLst>
              <a:ext uri="{FF2B5EF4-FFF2-40B4-BE49-F238E27FC236}">
                <a16:creationId xmlns:a16="http://schemas.microsoft.com/office/drawing/2014/main" id="{4D390F5E-0AA2-B872-EC8B-D14D30FA1CC9}"/>
              </a:ext>
            </a:extLst>
          </p:cNvPr>
          <p:cNvSpPr/>
          <p:nvPr/>
        </p:nvSpPr>
        <p:spPr>
          <a:xfrm>
            <a:off x="4939354"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5" name="TextBox 33">
            <a:extLst>
              <a:ext uri="{FF2B5EF4-FFF2-40B4-BE49-F238E27FC236}">
                <a16:creationId xmlns:a16="http://schemas.microsoft.com/office/drawing/2014/main" id="{85506B15-1C07-B13F-E066-9008B1838492}"/>
              </a:ext>
            </a:extLst>
          </p:cNvPr>
          <p:cNvSpPr txBox="1"/>
          <p:nvPr/>
        </p:nvSpPr>
        <p:spPr>
          <a:xfrm>
            <a:off x="5174758" y="2329948"/>
            <a:ext cx="1084478"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No SLA, no volume tracking</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p:txBody>
      </p:sp>
      <p:sp>
        <p:nvSpPr>
          <p:cNvPr id="196" name="Rectangle 34">
            <a:extLst>
              <a:ext uri="{FF2B5EF4-FFF2-40B4-BE49-F238E27FC236}">
                <a16:creationId xmlns:a16="http://schemas.microsoft.com/office/drawing/2014/main" id="{CEF0E814-B5C7-F685-C6BD-D9C75037C406}"/>
              </a:ext>
            </a:extLst>
          </p:cNvPr>
          <p:cNvSpPr/>
          <p:nvPr/>
        </p:nvSpPr>
        <p:spPr>
          <a:xfrm>
            <a:off x="6343873"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7" name="TextBox 36">
            <a:extLst>
              <a:ext uri="{FF2B5EF4-FFF2-40B4-BE49-F238E27FC236}">
                <a16:creationId xmlns:a16="http://schemas.microsoft.com/office/drawing/2014/main" id="{60446422-9DB8-209A-1D2F-1E83E8B02079}"/>
              </a:ext>
            </a:extLst>
          </p:cNvPr>
          <p:cNvSpPr txBox="1"/>
          <p:nvPr/>
        </p:nvSpPr>
        <p:spPr>
          <a:xfrm>
            <a:off x="6586080" y="2329948"/>
            <a:ext cx="1084478"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No classification rule below PDD threshold</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endParaRPr>
          </a:p>
        </p:txBody>
      </p:sp>
      <p:sp>
        <p:nvSpPr>
          <p:cNvPr id="198" name="Rectangle 37">
            <a:extLst>
              <a:ext uri="{FF2B5EF4-FFF2-40B4-BE49-F238E27FC236}">
                <a16:creationId xmlns:a16="http://schemas.microsoft.com/office/drawing/2014/main" id="{DE2C5A82-422E-705F-C825-4FBBF030424D}"/>
              </a:ext>
            </a:extLst>
          </p:cNvPr>
          <p:cNvSpPr/>
          <p:nvPr/>
        </p:nvSpPr>
        <p:spPr>
          <a:xfrm>
            <a:off x="7748391"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9" name="TextBox 39">
            <a:extLst>
              <a:ext uri="{FF2B5EF4-FFF2-40B4-BE49-F238E27FC236}">
                <a16:creationId xmlns:a16="http://schemas.microsoft.com/office/drawing/2014/main" id="{3FF8CD46-BE39-B0B1-8FD3-26B52E5DCE01}"/>
              </a:ext>
            </a:extLst>
          </p:cNvPr>
          <p:cNvSpPr txBox="1"/>
          <p:nvPr/>
        </p:nvSpPr>
        <p:spPr>
          <a:xfrm>
            <a:off x="7976991" y="2329948"/>
            <a:ext cx="1084478" cy="41748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Heuristic-based; no scoring model</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endParaRPr>
          </a:p>
        </p:txBody>
      </p:sp>
      <p:sp>
        <p:nvSpPr>
          <p:cNvPr id="200" name="Rectangle 40">
            <a:extLst>
              <a:ext uri="{FF2B5EF4-FFF2-40B4-BE49-F238E27FC236}">
                <a16:creationId xmlns:a16="http://schemas.microsoft.com/office/drawing/2014/main" id="{1EB0DFA0-9DD4-94B1-39AD-E46238AE0EF7}"/>
              </a:ext>
            </a:extLst>
          </p:cNvPr>
          <p:cNvSpPr/>
          <p:nvPr/>
        </p:nvSpPr>
        <p:spPr>
          <a:xfrm>
            <a:off x="9152910"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1" name="TextBox 42">
            <a:extLst>
              <a:ext uri="{FF2B5EF4-FFF2-40B4-BE49-F238E27FC236}">
                <a16:creationId xmlns:a16="http://schemas.microsoft.com/office/drawing/2014/main" id="{72E92887-6D20-137C-77BD-4802D9EE7191}"/>
              </a:ext>
            </a:extLst>
          </p:cNvPr>
          <p:cNvSpPr txBox="1"/>
          <p:nvPr/>
        </p:nvSpPr>
        <p:spPr>
          <a:xfrm>
            <a:off x="9381510" y="2329948"/>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Informal portfolio management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2" name="Rectangle 43">
            <a:extLst>
              <a:ext uri="{FF2B5EF4-FFF2-40B4-BE49-F238E27FC236}">
                <a16:creationId xmlns:a16="http://schemas.microsoft.com/office/drawing/2014/main" id="{3E650B6C-C79F-0890-6444-886FF44CB48D}"/>
              </a:ext>
            </a:extLst>
          </p:cNvPr>
          <p:cNvSpPr/>
          <p:nvPr/>
        </p:nvSpPr>
        <p:spPr>
          <a:xfrm>
            <a:off x="10557428"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3" name="TextBox 45">
            <a:extLst>
              <a:ext uri="{FF2B5EF4-FFF2-40B4-BE49-F238E27FC236}">
                <a16:creationId xmlns:a16="http://schemas.microsoft.com/office/drawing/2014/main" id="{3F35C2E9-0136-D8A0-9639-C88DAB44760D}"/>
              </a:ext>
            </a:extLst>
          </p:cNvPr>
          <p:cNvSpPr txBox="1"/>
          <p:nvPr/>
        </p:nvSpPr>
        <p:spPr>
          <a:xfrm>
            <a:off x="10786028" y="2329948"/>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Ad-hoc delivery; no release KPIs</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4" name="Rectangle 46">
            <a:extLst>
              <a:ext uri="{FF2B5EF4-FFF2-40B4-BE49-F238E27FC236}">
                <a16:creationId xmlns:a16="http://schemas.microsoft.com/office/drawing/2014/main" id="{6621F46A-D0DA-6ABA-49CA-C3EE6F5CD236}"/>
              </a:ext>
            </a:extLst>
          </p:cNvPr>
          <p:cNvSpPr/>
          <p:nvPr/>
        </p:nvSpPr>
        <p:spPr>
          <a:xfrm>
            <a:off x="458795" y="2793323"/>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5" name="TextBox 47">
            <a:extLst>
              <a:ext uri="{FF2B5EF4-FFF2-40B4-BE49-F238E27FC236}">
                <a16:creationId xmlns:a16="http://schemas.microsoft.com/office/drawing/2014/main" id="{A95F2CE4-81A6-3D98-4B3F-36B82EAB5865}"/>
              </a:ext>
            </a:extLst>
          </p:cNvPr>
          <p:cNvSpPr txBox="1"/>
          <p:nvPr/>
        </p:nvSpPr>
        <p:spPr>
          <a:xfrm>
            <a:off x="460304" y="2991662"/>
            <a:ext cx="1143000"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Corporate</a:t>
            </a:r>
          </a:p>
        </p:txBody>
      </p:sp>
      <p:sp>
        <p:nvSpPr>
          <p:cNvPr id="206" name="Rectangle 48">
            <a:extLst>
              <a:ext uri="{FF2B5EF4-FFF2-40B4-BE49-F238E27FC236}">
                <a16:creationId xmlns:a16="http://schemas.microsoft.com/office/drawing/2014/main" id="{B35D585C-C64D-3076-9517-AB47C23CAF2A}"/>
              </a:ext>
            </a:extLst>
          </p:cNvPr>
          <p:cNvSpPr/>
          <p:nvPr/>
        </p:nvSpPr>
        <p:spPr>
          <a:xfrm>
            <a:off x="1647515" y="2793323"/>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7" name="TextBox 49">
            <a:extLst>
              <a:ext uri="{FF2B5EF4-FFF2-40B4-BE49-F238E27FC236}">
                <a16:creationId xmlns:a16="http://schemas.microsoft.com/office/drawing/2014/main" id="{FFCBF653-EC96-324B-F727-F5FE271E1171}"/>
              </a:ext>
            </a:extLst>
          </p:cNvPr>
          <p:cNvSpPr txBox="1"/>
          <p:nvPr/>
        </p:nvSpPr>
        <p:spPr>
          <a:xfrm>
            <a:off x="1720667" y="2921737"/>
            <a:ext cx="1499616" cy="29181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Finance · HR · Procurement · Legal ·  Regulatory</a:t>
            </a:r>
          </a:p>
        </p:txBody>
      </p:sp>
      <p:sp>
        <p:nvSpPr>
          <p:cNvPr id="208" name="Rectangle 50">
            <a:extLst>
              <a:ext uri="{FF2B5EF4-FFF2-40B4-BE49-F238E27FC236}">
                <a16:creationId xmlns:a16="http://schemas.microsoft.com/office/drawing/2014/main" id="{C6B012E9-2C09-D745-E520-A3EB39680589}"/>
              </a:ext>
            </a:extLst>
          </p:cNvPr>
          <p:cNvSpPr/>
          <p:nvPr/>
        </p:nvSpPr>
        <p:spPr>
          <a:xfrm>
            <a:off x="3339155" y="2793323"/>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9" name="TextBox 51">
            <a:extLst>
              <a:ext uri="{FF2B5EF4-FFF2-40B4-BE49-F238E27FC236}">
                <a16:creationId xmlns:a16="http://schemas.microsoft.com/office/drawing/2014/main" id="{59A97685-EB7F-ACB1-66BE-610711DA963A}"/>
              </a:ext>
            </a:extLst>
          </p:cNvPr>
          <p:cNvSpPr txBox="1"/>
          <p:nvPr/>
        </p:nvSpPr>
        <p:spPr>
          <a:xfrm>
            <a:off x="3412307" y="2997847"/>
            <a:ext cx="1408176" cy="13959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Regulatory · Small/Medium</a:t>
            </a:r>
          </a:p>
        </p:txBody>
      </p:sp>
      <p:sp>
        <p:nvSpPr>
          <p:cNvPr id="210" name="Rectangle 52">
            <a:extLst>
              <a:ext uri="{FF2B5EF4-FFF2-40B4-BE49-F238E27FC236}">
                <a16:creationId xmlns:a16="http://schemas.microsoft.com/office/drawing/2014/main" id="{B84F5EFF-FD1B-BE5D-B7BC-A831569335D1}"/>
              </a:ext>
            </a:extLst>
          </p:cNvPr>
          <p:cNvSpPr/>
          <p:nvPr/>
        </p:nvSpPr>
        <p:spPr>
          <a:xfrm>
            <a:off x="4939354"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1" name="TextBox 54">
            <a:extLst>
              <a:ext uri="{FF2B5EF4-FFF2-40B4-BE49-F238E27FC236}">
                <a16:creationId xmlns:a16="http://schemas.microsoft.com/office/drawing/2014/main" id="{A0919762-DF64-A47A-5782-BDF58E5CDF55}"/>
              </a:ext>
            </a:extLst>
          </p:cNvPr>
          <p:cNvSpPr txBox="1"/>
          <p:nvPr/>
        </p:nvSpPr>
        <p:spPr>
          <a:xfrm>
            <a:off x="5174758" y="2918109"/>
            <a:ext cx="1084478"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Requirements in docs; digital trail breaks</a:t>
            </a:r>
          </a:p>
        </p:txBody>
      </p:sp>
      <p:sp>
        <p:nvSpPr>
          <p:cNvPr id="212" name="Rectangle 55">
            <a:extLst>
              <a:ext uri="{FF2B5EF4-FFF2-40B4-BE49-F238E27FC236}">
                <a16:creationId xmlns:a16="http://schemas.microsoft.com/office/drawing/2014/main" id="{ADC52281-59FE-64C9-6DB0-C58A4AD6B74C}"/>
              </a:ext>
            </a:extLst>
          </p:cNvPr>
          <p:cNvSpPr/>
          <p:nvPr/>
        </p:nvSpPr>
        <p:spPr>
          <a:xfrm>
            <a:off x="6343873"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3" name="TextBox 57">
            <a:extLst>
              <a:ext uri="{FF2B5EF4-FFF2-40B4-BE49-F238E27FC236}">
                <a16:creationId xmlns:a16="http://schemas.microsoft.com/office/drawing/2014/main" id="{D7F77F8B-B8E8-C0F1-CBBE-A57FB2AE6849}"/>
              </a:ext>
            </a:extLst>
          </p:cNvPr>
          <p:cNvSpPr txBox="1"/>
          <p:nvPr/>
        </p:nvSpPr>
        <p:spPr>
          <a:xfrm>
            <a:off x="6572473" y="3454800"/>
            <a:ext cx="1084478" cy="14491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PDD </a:t>
            </a: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driver</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4" name="Rectangle 58">
            <a:extLst>
              <a:ext uri="{FF2B5EF4-FFF2-40B4-BE49-F238E27FC236}">
                <a16:creationId xmlns:a16="http://schemas.microsoft.com/office/drawing/2014/main" id="{FD7D4600-6A16-CD4F-FFF1-D2528A76EF0B}"/>
              </a:ext>
            </a:extLst>
          </p:cNvPr>
          <p:cNvSpPr/>
          <p:nvPr/>
        </p:nvSpPr>
        <p:spPr>
          <a:xfrm>
            <a:off x="7748391"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5" name="TextBox 60">
            <a:extLst>
              <a:ext uri="{FF2B5EF4-FFF2-40B4-BE49-F238E27FC236}">
                <a16:creationId xmlns:a16="http://schemas.microsoft.com/office/drawing/2014/main" id="{AAC5025C-619C-B0FC-AA09-386364387638}"/>
              </a:ext>
            </a:extLst>
          </p:cNvPr>
          <p:cNvSpPr txBox="1"/>
          <p:nvPr/>
        </p:nvSpPr>
        <p:spPr>
          <a:xfrm>
            <a:off x="7976991" y="2853472"/>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Regulatory is the default priority; no scoring</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6" name="Rectangle 61">
            <a:extLst>
              <a:ext uri="{FF2B5EF4-FFF2-40B4-BE49-F238E27FC236}">
                <a16:creationId xmlns:a16="http://schemas.microsoft.com/office/drawing/2014/main" id="{BE2B941B-6DF7-A488-474B-DAD98B0D4433}"/>
              </a:ext>
            </a:extLst>
          </p:cNvPr>
          <p:cNvSpPr/>
          <p:nvPr/>
        </p:nvSpPr>
        <p:spPr>
          <a:xfrm>
            <a:off x="9152910"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7" name="TextBox 63">
            <a:extLst>
              <a:ext uri="{FF2B5EF4-FFF2-40B4-BE49-F238E27FC236}">
                <a16:creationId xmlns:a16="http://schemas.microsoft.com/office/drawing/2014/main" id="{533C4F21-BE13-81ED-C2A3-241144AEBCE3}"/>
              </a:ext>
            </a:extLst>
          </p:cNvPr>
          <p:cNvSpPr txBox="1"/>
          <p:nvPr/>
        </p:nvSpPr>
        <p:spPr>
          <a:xfrm>
            <a:off x="9381510" y="2929646"/>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Governed portfolio with formal approvals</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8" name="Rectangle 64">
            <a:extLst>
              <a:ext uri="{FF2B5EF4-FFF2-40B4-BE49-F238E27FC236}">
                <a16:creationId xmlns:a16="http://schemas.microsoft.com/office/drawing/2014/main" id="{21067EAC-BCC9-1E50-E8A9-52335DCB7DAF}"/>
              </a:ext>
            </a:extLst>
          </p:cNvPr>
          <p:cNvSpPr/>
          <p:nvPr/>
        </p:nvSpPr>
        <p:spPr>
          <a:xfrm>
            <a:off x="10557428"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9" name="TextBox 66">
            <a:extLst>
              <a:ext uri="{FF2B5EF4-FFF2-40B4-BE49-F238E27FC236}">
                <a16:creationId xmlns:a16="http://schemas.microsoft.com/office/drawing/2014/main" id="{D48A5DA5-27B3-DE7C-F05F-1A1B92374BCE}"/>
              </a:ext>
            </a:extLst>
          </p:cNvPr>
          <p:cNvSpPr txBox="1"/>
          <p:nvPr/>
        </p:nvSpPr>
        <p:spPr>
          <a:xfrm>
            <a:off x="10786028" y="2933453"/>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One-year plan; no release KPIs</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0" name="Rectangle 67">
            <a:extLst>
              <a:ext uri="{FF2B5EF4-FFF2-40B4-BE49-F238E27FC236}">
                <a16:creationId xmlns:a16="http://schemas.microsoft.com/office/drawing/2014/main" id="{87E410AF-8B8C-846B-CDB8-AA7CDF403FDC}"/>
              </a:ext>
            </a:extLst>
          </p:cNvPr>
          <p:cNvSpPr/>
          <p:nvPr/>
        </p:nvSpPr>
        <p:spPr>
          <a:xfrm>
            <a:off x="458795" y="3396827"/>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1" name="TextBox 68">
            <a:extLst>
              <a:ext uri="{FF2B5EF4-FFF2-40B4-BE49-F238E27FC236}">
                <a16:creationId xmlns:a16="http://schemas.microsoft.com/office/drawing/2014/main" id="{238F15D3-CB99-B8D6-47E9-8F5B32F6A6AB}"/>
              </a:ext>
            </a:extLst>
          </p:cNvPr>
          <p:cNvSpPr txBox="1"/>
          <p:nvPr/>
        </p:nvSpPr>
        <p:spPr>
          <a:xfrm>
            <a:off x="460304" y="3595166"/>
            <a:ext cx="1143000"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G&amp;E</a:t>
            </a:r>
          </a:p>
        </p:txBody>
      </p:sp>
      <p:sp>
        <p:nvSpPr>
          <p:cNvPr id="222" name="Rectangle 69">
            <a:extLst>
              <a:ext uri="{FF2B5EF4-FFF2-40B4-BE49-F238E27FC236}">
                <a16:creationId xmlns:a16="http://schemas.microsoft.com/office/drawing/2014/main" id="{08D23AB0-C4F6-8FEB-5D87-F32C3CB4BA9E}"/>
              </a:ext>
            </a:extLst>
          </p:cNvPr>
          <p:cNvSpPr/>
          <p:nvPr/>
        </p:nvSpPr>
        <p:spPr>
          <a:xfrm>
            <a:off x="1647515" y="339682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P&amp;S · Gas &amp; Electric Ops · Inspections · Outage · Planning</a:t>
            </a:r>
          </a:p>
        </p:txBody>
      </p:sp>
      <p:sp>
        <p:nvSpPr>
          <p:cNvPr id="223" name="Rectangle 71">
            <a:extLst>
              <a:ext uri="{FF2B5EF4-FFF2-40B4-BE49-F238E27FC236}">
                <a16:creationId xmlns:a16="http://schemas.microsoft.com/office/drawing/2014/main" id="{274675A7-9AB0-2172-03A1-4CA2864BF461}"/>
              </a:ext>
            </a:extLst>
          </p:cNvPr>
          <p:cNvSpPr/>
          <p:nvPr/>
        </p:nvSpPr>
        <p:spPr>
          <a:xfrm>
            <a:off x="3339155" y="339682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4" name="TextBox 72">
            <a:extLst>
              <a:ext uri="{FF2B5EF4-FFF2-40B4-BE49-F238E27FC236}">
                <a16:creationId xmlns:a16="http://schemas.microsoft.com/office/drawing/2014/main" id="{25DE9D64-C3DA-027B-FB38-49E2E6C045CB}"/>
              </a:ext>
            </a:extLst>
          </p:cNvPr>
          <p:cNvSpPr txBox="1"/>
          <p:nvPr/>
        </p:nvSpPr>
        <p:spPr>
          <a:xfrm>
            <a:off x="3412307" y="3524727"/>
            <a:ext cx="1408176"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Small · Medium  · Large · Quarterly BRP cycles</a:t>
            </a:r>
          </a:p>
        </p:txBody>
      </p:sp>
      <p:sp>
        <p:nvSpPr>
          <p:cNvPr id="225" name="Rectangle 73">
            <a:extLst>
              <a:ext uri="{FF2B5EF4-FFF2-40B4-BE49-F238E27FC236}">
                <a16:creationId xmlns:a16="http://schemas.microsoft.com/office/drawing/2014/main" id="{63E0DDD8-B203-8AA5-B3E3-E0D202431EA3}"/>
              </a:ext>
            </a:extLst>
          </p:cNvPr>
          <p:cNvSpPr/>
          <p:nvPr/>
        </p:nvSpPr>
        <p:spPr>
          <a:xfrm>
            <a:off x="4939354"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6" name="TextBox 75">
            <a:extLst>
              <a:ext uri="{FF2B5EF4-FFF2-40B4-BE49-F238E27FC236}">
                <a16:creationId xmlns:a16="http://schemas.microsoft.com/office/drawing/2014/main" id="{A2FBFC00-969D-6B66-71CB-3DA85B1771D1}"/>
              </a:ext>
            </a:extLst>
          </p:cNvPr>
          <p:cNvSpPr txBox="1"/>
          <p:nvPr/>
        </p:nvSpPr>
        <p:spPr>
          <a:xfrm>
            <a:off x="5167954" y="3465801"/>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Quarterly BRP — structured demand intake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7" name="Rectangle 76">
            <a:extLst>
              <a:ext uri="{FF2B5EF4-FFF2-40B4-BE49-F238E27FC236}">
                <a16:creationId xmlns:a16="http://schemas.microsoft.com/office/drawing/2014/main" id="{5512591A-C495-4D52-5A69-2D3428A69997}"/>
              </a:ext>
            </a:extLst>
          </p:cNvPr>
          <p:cNvSpPr/>
          <p:nvPr/>
        </p:nvSpPr>
        <p:spPr>
          <a:xfrm>
            <a:off x="6343873"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8" name="TextBox 78">
            <a:extLst>
              <a:ext uri="{FF2B5EF4-FFF2-40B4-BE49-F238E27FC236}">
                <a16:creationId xmlns:a16="http://schemas.microsoft.com/office/drawing/2014/main" id="{3EE3D376-F79A-D04C-5402-CAC83DE8EC99}"/>
              </a:ext>
            </a:extLst>
          </p:cNvPr>
          <p:cNvSpPr txBox="1"/>
          <p:nvPr/>
        </p:nvSpPr>
        <p:spPr>
          <a:xfrm>
            <a:off x="6586080" y="3567168"/>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PBB Canvas + Backlog Model</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9" name="Rectangle 79">
            <a:extLst>
              <a:ext uri="{FF2B5EF4-FFF2-40B4-BE49-F238E27FC236}">
                <a16:creationId xmlns:a16="http://schemas.microsoft.com/office/drawing/2014/main" id="{09DD16BE-8AAC-7D4D-6F7C-C1518D2223D6}"/>
              </a:ext>
            </a:extLst>
          </p:cNvPr>
          <p:cNvSpPr/>
          <p:nvPr/>
        </p:nvSpPr>
        <p:spPr>
          <a:xfrm>
            <a:off x="7748391"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0" name="TextBox 81">
            <a:extLst>
              <a:ext uri="{FF2B5EF4-FFF2-40B4-BE49-F238E27FC236}">
                <a16:creationId xmlns:a16="http://schemas.microsoft.com/office/drawing/2014/main" id="{0AB78D3B-5AC0-AFBF-7B9B-F508BCEFF4EF}"/>
              </a:ext>
            </a:extLst>
          </p:cNvPr>
          <p:cNvSpPr txBox="1"/>
          <p:nvPr/>
        </p:nvSpPr>
        <p:spPr>
          <a:xfrm>
            <a:off x="7976991" y="3487996"/>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Portfolio Estimation Logic (formula-based)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1" name="Rectangle 82">
            <a:extLst>
              <a:ext uri="{FF2B5EF4-FFF2-40B4-BE49-F238E27FC236}">
                <a16:creationId xmlns:a16="http://schemas.microsoft.com/office/drawing/2014/main" id="{41E6C7C6-4626-3D25-79F1-CAEEF20B0701}"/>
              </a:ext>
            </a:extLst>
          </p:cNvPr>
          <p:cNvSpPr/>
          <p:nvPr/>
        </p:nvSpPr>
        <p:spPr>
          <a:xfrm>
            <a:off x="9152910" y="336352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2" name="TextBox 84">
            <a:extLst>
              <a:ext uri="{FF2B5EF4-FFF2-40B4-BE49-F238E27FC236}">
                <a16:creationId xmlns:a16="http://schemas.microsoft.com/office/drawing/2014/main" id="{2893CD07-11BC-CA8D-FD19-8F916662A77A}"/>
              </a:ext>
            </a:extLst>
          </p:cNvPr>
          <p:cNvSpPr txBox="1"/>
          <p:nvPr/>
        </p:nvSpPr>
        <p:spPr>
          <a:xfrm>
            <a:off x="9381510" y="3481193"/>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P&amp;T Programs Priorities Overview — single view</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3" name="Rectangle 85">
            <a:extLst>
              <a:ext uri="{FF2B5EF4-FFF2-40B4-BE49-F238E27FC236}">
                <a16:creationId xmlns:a16="http://schemas.microsoft.com/office/drawing/2014/main" id="{5AF4E5AE-9263-FB7F-E336-176EF47528F3}"/>
              </a:ext>
            </a:extLst>
          </p:cNvPr>
          <p:cNvSpPr/>
          <p:nvPr/>
        </p:nvSpPr>
        <p:spPr>
          <a:xfrm>
            <a:off x="10557427" y="3369613"/>
            <a:ext cx="1365601"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4" name="TextBox 87">
            <a:extLst>
              <a:ext uri="{FF2B5EF4-FFF2-40B4-BE49-F238E27FC236}">
                <a16:creationId xmlns:a16="http://schemas.microsoft.com/office/drawing/2014/main" id="{8364E7AC-136A-83CA-C4C8-8AF523015725}"/>
              </a:ext>
            </a:extLst>
          </p:cNvPr>
          <p:cNvSpPr txBox="1"/>
          <p:nvPr/>
        </p:nvSpPr>
        <p:spPr>
          <a:xfrm>
            <a:off x="10786028" y="3450173"/>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BRP-coordinated squads · roles formally aligned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5" name="Rectangle 88">
            <a:extLst>
              <a:ext uri="{FF2B5EF4-FFF2-40B4-BE49-F238E27FC236}">
                <a16:creationId xmlns:a16="http://schemas.microsoft.com/office/drawing/2014/main" id="{ABFC69EB-18A2-7DA3-0464-AD2C3A5B3281}"/>
              </a:ext>
            </a:extLst>
          </p:cNvPr>
          <p:cNvSpPr/>
          <p:nvPr/>
        </p:nvSpPr>
        <p:spPr>
          <a:xfrm>
            <a:off x="458795" y="4000331"/>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6" name="TextBox 89">
            <a:extLst>
              <a:ext uri="{FF2B5EF4-FFF2-40B4-BE49-F238E27FC236}">
                <a16:creationId xmlns:a16="http://schemas.microsoft.com/office/drawing/2014/main" id="{2942179A-185A-43C0-F431-D8AE575C9E58}"/>
              </a:ext>
            </a:extLst>
          </p:cNvPr>
          <p:cNvSpPr txBox="1"/>
          <p:nvPr/>
        </p:nvSpPr>
        <p:spPr>
          <a:xfrm>
            <a:off x="460304" y="4114032"/>
            <a:ext cx="1143000" cy="32425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Global SAP</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(Iberdrola)</a:t>
            </a:r>
          </a:p>
        </p:txBody>
      </p:sp>
      <p:sp>
        <p:nvSpPr>
          <p:cNvPr id="237" name="Rectangle 90">
            <a:extLst>
              <a:ext uri="{FF2B5EF4-FFF2-40B4-BE49-F238E27FC236}">
                <a16:creationId xmlns:a16="http://schemas.microsoft.com/office/drawing/2014/main" id="{E2107B73-13CF-CF7B-F285-B019B5350BC1}"/>
              </a:ext>
            </a:extLst>
          </p:cNvPr>
          <p:cNvSpPr/>
          <p:nvPr/>
        </p:nvSpPr>
        <p:spPr>
          <a:xfrm>
            <a:off x="1647515" y="4000331"/>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8" name="TextBox 91">
            <a:extLst>
              <a:ext uri="{FF2B5EF4-FFF2-40B4-BE49-F238E27FC236}">
                <a16:creationId xmlns:a16="http://schemas.microsoft.com/office/drawing/2014/main" id="{4A78EB49-4F10-FCB1-9340-C59A7C3770B7}"/>
              </a:ext>
            </a:extLst>
          </p:cNvPr>
          <p:cNvSpPr txBox="1"/>
          <p:nvPr/>
        </p:nvSpPr>
        <p:spPr>
          <a:xfrm>
            <a:off x="1720667" y="4052058"/>
            <a:ext cx="1499616"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Iberdrola Finance · Controlling · Procurement · Vendor</a:t>
            </a:r>
          </a:p>
        </p:txBody>
      </p:sp>
      <p:sp>
        <p:nvSpPr>
          <p:cNvPr id="239" name="Rectangle 92">
            <a:extLst>
              <a:ext uri="{FF2B5EF4-FFF2-40B4-BE49-F238E27FC236}">
                <a16:creationId xmlns:a16="http://schemas.microsoft.com/office/drawing/2014/main" id="{85B8A5FB-C3AC-2B54-0378-C6223669C377}"/>
              </a:ext>
            </a:extLst>
          </p:cNvPr>
          <p:cNvSpPr/>
          <p:nvPr/>
        </p:nvSpPr>
        <p:spPr>
          <a:xfrm>
            <a:off x="3339155" y="400033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0" name="TextBox 93">
            <a:extLst>
              <a:ext uri="{FF2B5EF4-FFF2-40B4-BE49-F238E27FC236}">
                <a16:creationId xmlns:a16="http://schemas.microsoft.com/office/drawing/2014/main" id="{F40E4590-4A62-1AD5-9B47-43DD259BA732}"/>
              </a:ext>
            </a:extLst>
          </p:cNvPr>
          <p:cNvSpPr txBox="1"/>
          <p:nvPr/>
        </p:nvSpPr>
        <p:spPr>
          <a:xfrm>
            <a:off x="3412307" y="4128713"/>
            <a:ext cx="1408176" cy="291875"/>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Incidents · Small · Minor · Large</a:t>
            </a:r>
          </a:p>
        </p:txBody>
      </p:sp>
      <p:sp>
        <p:nvSpPr>
          <p:cNvPr id="241" name="Rectangle 94">
            <a:extLst>
              <a:ext uri="{FF2B5EF4-FFF2-40B4-BE49-F238E27FC236}">
                <a16:creationId xmlns:a16="http://schemas.microsoft.com/office/drawing/2014/main" id="{8A987E73-A26D-F180-7471-C38F6B3201EC}"/>
              </a:ext>
            </a:extLst>
          </p:cNvPr>
          <p:cNvSpPr/>
          <p:nvPr/>
        </p:nvSpPr>
        <p:spPr>
          <a:xfrm>
            <a:off x="4939354"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2" name="TextBox 96">
            <a:extLst>
              <a:ext uri="{FF2B5EF4-FFF2-40B4-BE49-F238E27FC236}">
                <a16:creationId xmlns:a16="http://schemas.microsoft.com/office/drawing/2014/main" id="{CF31F9B7-A7C2-DF9E-1790-ADF668B5E6CD}"/>
              </a:ext>
            </a:extLst>
          </p:cNvPr>
          <p:cNvSpPr txBox="1"/>
          <p:nvPr/>
        </p:nvSpPr>
        <p:spPr>
          <a:xfrm>
            <a:off x="5167954" y="4069754"/>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 Structured channel taxonomy in place but informal</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3" name="Rectangle 97">
            <a:extLst>
              <a:ext uri="{FF2B5EF4-FFF2-40B4-BE49-F238E27FC236}">
                <a16:creationId xmlns:a16="http://schemas.microsoft.com/office/drawing/2014/main" id="{C6D09F13-DF40-5A05-E8A1-4145B7962F65}"/>
              </a:ext>
            </a:extLst>
          </p:cNvPr>
          <p:cNvSpPr/>
          <p:nvPr/>
        </p:nvSpPr>
        <p:spPr>
          <a:xfrm>
            <a:off x="6343873"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4" name="TextBox 99">
            <a:extLst>
              <a:ext uri="{FF2B5EF4-FFF2-40B4-BE49-F238E27FC236}">
                <a16:creationId xmlns:a16="http://schemas.microsoft.com/office/drawing/2014/main" id="{6EBBD1EB-DB00-2CAA-9EDB-968B429F8F00}"/>
              </a:ext>
            </a:extLst>
          </p:cNvPr>
          <p:cNvSpPr txBox="1"/>
          <p:nvPr/>
        </p:nvSpPr>
        <p:spPr>
          <a:xfrm>
            <a:off x="6572473" y="4049845"/>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model for small/medium</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demand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 name="Rectangle 100">
            <a:extLst>
              <a:ext uri="{FF2B5EF4-FFF2-40B4-BE49-F238E27FC236}">
                <a16:creationId xmlns:a16="http://schemas.microsoft.com/office/drawing/2014/main" id="{7ECE8B78-3D7E-DDFC-C048-F98C917DF33C}"/>
              </a:ext>
            </a:extLst>
          </p:cNvPr>
          <p:cNvSpPr/>
          <p:nvPr/>
        </p:nvSpPr>
        <p:spPr>
          <a:xfrm>
            <a:off x="7748391"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6" name="TextBox 102">
            <a:extLst>
              <a:ext uri="{FF2B5EF4-FFF2-40B4-BE49-F238E27FC236}">
                <a16:creationId xmlns:a16="http://schemas.microsoft.com/office/drawing/2014/main" id="{53E8A740-F08C-2D5B-FA8A-76E4EB0A462D}"/>
              </a:ext>
            </a:extLst>
          </p:cNvPr>
          <p:cNvSpPr txBox="1"/>
          <p:nvPr/>
        </p:nvSpPr>
        <p:spPr>
          <a:xfrm>
            <a:off x="7976991" y="4147264"/>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Incidents first → strategic starved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7" name="Rectangle 103">
            <a:extLst>
              <a:ext uri="{FF2B5EF4-FFF2-40B4-BE49-F238E27FC236}">
                <a16:creationId xmlns:a16="http://schemas.microsoft.com/office/drawing/2014/main" id="{A83A5C7C-2E76-4497-D816-B8B64D60A1F8}"/>
              </a:ext>
            </a:extLst>
          </p:cNvPr>
          <p:cNvSpPr/>
          <p:nvPr/>
        </p:nvSpPr>
        <p:spPr>
          <a:xfrm>
            <a:off x="9152910"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8" name="TextBox 105">
            <a:extLst>
              <a:ext uri="{FF2B5EF4-FFF2-40B4-BE49-F238E27FC236}">
                <a16:creationId xmlns:a16="http://schemas.microsoft.com/office/drawing/2014/main" id="{01263021-142B-5A4D-0E95-3865F5E87D82}"/>
              </a:ext>
            </a:extLst>
          </p:cNvPr>
          <p:cNvSpPr txBox="1"/>
          <p:nvPr/>
        </p:nvSpPr>
        <p:spPr>
          <a:xfrm>
            <a:off x="9381510" y="4147264"/>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Cadenced review; partial governance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9" name="Rectangle 106">
            <a:extLst>
              <a:ext uri="{FF2B5EF4-FFF2-40B4-BE49-F238E27FC236}">
                <a16:creationId xmlns:a16="http://schemas.microsoft.com/office/drawing/2014/main" id="{6DDB36CD-B0C4-46E4-C6D0-3F1376ECC046}"/>
              </a:ext>
            </a:extLst>
          </p:cNvPr>
          <p:cNvSpPr/>
          <p:nvPr/>
        </p:nvSpPr>
        <p:spPr>
          <a:xfrm>
            <a:off x="10557428"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0" name="TextBox 108">
            <a:extLst>
              <a:ext uri="{FF2B5EF4-FFF2-40B4-BE49-F238E27FC236}">
                <a16:creationId xmlns:a16="http://schemas.microsoft.com/office/drawing/2014/main" id="{E884BE5E-6677-D2C8-5E03-B3916E65C58C}"/>
              </a:ext>
            </a:extLst>
          </p:cNvPr>
          <p:cNvSpPr txBox="1"/>
          <p:nvPr/>
        </p:nvSpPr>
        <p:spPr>
          <a:xfrm>
            <a:off x="10786028" y="4101300"/>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KT loss on vendor turnover; 1-yr hiring lag</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51" name="Rectangle 109">
            <a:extLst>
              <a:ext uri="{FF2B5EF4-FFF2-40B4-BE49-F238E27FC236}">
                <a16:creationId xmlns:a16="http://schemas.microsoft.com/office/drawing/2014/main" id="{68205864-E4EC-B75A-9267-82781B26E94F}"/>
              </a:ext>
            </a:extLst>
          </p:cNvPr>
          <p:cNvSpPr/>
          <p:nvPr/>
        </p:nvSpPr>
        <p:spPr>
          <a:xfrm>
            <a:off x="458794" y="4603834"/>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2" name="TextBox 110">
            <a:extLst>
              <a:ext uri="{FF2B5EF4-FFF2-40B4-BE49-F238E27FC236}">
                <a16:creationId xmlns:a16="http://schemas.microsoft.com/office/drawing/2014/main" id="{649F49B5-6310-AEE2-D92B-6F23B977CB2F}"/>
              </a:ext>
            </a:extLst>
          </p:cNvPr>
          <p:cNvSpPr txBox="1"/>
          <p:nvPr/>
        </p:nvSpPr>
        <p:spPr>
          <a:xfrm>
            <a:off x="458795" y="4702243"/>
            <a:ext cx="6400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56082"/>
                </a:solidFill>
                <a:effectLst/>
                <a:uLnTx/>
                <a:uFillTx/>
                <a:latin typeface="Arial" panose="020B0604020202020204" pitchFamily="34" charset="0"/>
                <a:ea typeface="+mn-ea"/>
                <a:cs typeface="Arial" panose="020B0604020202020204" pitchFamily="34" charset="0"/>
              </a:rPr>
              <a:t>CUSTOMER SERVICES APPLICATIONS</a:t>
            </a:r>
          </a:p>
        </p:txBody>
      </p:sp>
      <p:sp>
        <p:nvSpPr>
          <p:cNvPr id="253" name="Rectangle 111">
            <a:extLst>
              <a:ext uri="{FF2B5EF4-FFF2-40B4-BE49-F238E27FC236}">
                <a16:creationId xmlns:a16="http://schemas.microsoft.com/office/drawing/2014/main" id="{0527BED4-6A84-E17E-EB92-6230D176AF6D}"/>
              </a:ext>
            </a:extLst>
          </p:cNvPr>
          <p:cNvSpPr/>
          <p:nvPr/>
        </p:nvSpPr>
        <p:spPr>
          <a:xfrm>
            <a:off x="458795" y="4859867"/>
            <a:ext cx="11430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4" name="TextBox 112">
            <a:extLst>
              <a:ext uri="{FF2B5EF4-FFF2-40B4-BE49-F238E27FC236}">
                <a16:creationId xmlns:a16="http://schemas.microsoft.com/office/drawing/2014/main" id="{3A900C33-4E60-EF62-1EAC-BAC05800DD84}"/>
              </a:ext>
            </a:extLst>
          </p:cNvPr>
          <p:cNvSpPr txBox="1"/>
          <p:nvPr/>
        </p:nvSpPr>
        <p:spPr>
          <a:xfrm>
            <a:off x="460304" y="4896473"/>
            <a:ext cx="1143000" cy="493533"/>
          </a:xfrm>
          <a:prstGeom prst="rect">
            <a:avLst/>
          </a:prstGeom>
          <a:solidFill>
            <a:schemeClr val="accent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Smart Metering</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(Device &amp; Metering)</a:t>
            </a:r>
          </a:p>
        </p:txBody>
      </p:sp>
      <p:sp>
        <p:nvSpPr>
          <p:cNvPr id="255" name="Rectangle 113">
            <a:extLst>
              <a:ext uri="{FF2B5EF4-FFF2-40B4-BE49-F238E27FC236}">
                <a16:creationId xmlns:a16="http://schemas.microsoft.com/office/drawing/2014/main" id="{3EA051BA-EF46-72C6-447A-658FE6DDD934}"/>
              </a:ext>
            </a:extLst>
          </p:cNvPr>
          <p:cNvSpPr/>
          <p:nvPr/>
        </p:nvSpPr>
        <p:spPr>
          <a:xfrm>
            <a:off x="1647515" y="485986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6" name="TextBox 114">
            <a:extLst>
              <a:ext uri="{FF2B5EF4-FFF2-40B4-BE49-F238E27FC236}">
                <a16:creationId xmlns:a16="http://schemas.microsoft.com/office/drawing/2014/main" id="{B97DB69B-A977-D5A6-88E2-A191AA3947FF}"/>
              </a:ext>
            </a:extLst>
          </p:cNvPr>
          <p:cNvSpPr txBox="1"/>
          <p:nvPr/>
        </p:nvSpPr>
        <p:spPr>
          <a:xfrm>
            <a:off x="1720667" y="4912106"/>
            <a:ext cx="1499616" cy="4441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Customer Ops · Field Services · Billing · BRS · Vendors</a:t>
            </a:r>
          </a:p>
        </p:txBody>
      </p:sp>
      <p:sp>
        <p:nvSpPr>
          <p:cNvPr id="257" name="Rectangle 115">
            <a:extLst>
              <a:ext uri="{FF2B5EF4-FFF2-40B4-BE49-F238E27FC236}">
                <a16:creationId xmlns:a16="http://schemas.microsoft.com/office/drawing/2014/main" id="{D7AE8DBB-50C4-57A4-2B86-3F76B5EA1BED}"/>
              </a:ext>
            </a:extLst>
          </p:cNvPr>
          <p:cNvSpPr/>
          <p:nvPr/>
        </p:nvSpPr>
        <p:spPr>
          <a:xfrm>
            <a:off x="3339155" y="485986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8" name="TextBox 116">
            <a:extLst>
              <a:ext uri="{FF2B5EF4-FFF2-40B4-BE49-F238E27FC236}">
                <a16:creationId xmlns:a16="http://schemas.microsoft.com/office/drawing/2014/main" id="{A72B76E7-D65C-B5D0-A60B-8DE69D67D646}"/>
              </a:ext>
            </a:extLst>
          </p:cNvPr>
          <p:cNvSpPr txBox="1"/>
          <p:nvPr/>
        </p:nvSpPr>
        <p:spPr>
          <a:xfrm>
            <a:off x="3412307" y="5064424"/>
            <a:ext cx="1408176" cy="139525"/>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Incidents · Large · Small</a:t>
            </a:r>
          </a:p>
        </p:txBody>
      </p:sp>
      <p:sp>
        <p:nvSpPr>
          <p:cNvPr id="259" name="Rectangle 117">
            <a:extLst>
              <a:ext uri="{FF2B5EF4-FFF2-40B4-BE49-F238E27FC236}">
                <a16:creationId xmlns:a16="http://schemas.microsoft.com/office/drawing/2014/main" id="{8DE804AF-B149-2EE6-D9C8-27F2ED38D25B}"/>
              </a:ext>
            </a:extLst>
          </p:cNvPr>
          <p:cNvSpPr/>
          <p:nvPr/>
        </p:nvSpPr>
        <p:spPr>
          <a:xfrm>
            <a:off x="4939354"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0" name="TextBox 119">
            <a:extLst>
              <a:ext uri="{FF2B5EF4-FFF2-40B4-BE49-F238E27FC236}">
                <a16:creationId xmlns:a16="http://schemas.microsoft.com/office/drawing/2014/main" id="{B8F4A40B-13F8-16B1-BDC3-CAC9D8CE52C6}"/>
              </a:ext>
            </a:extLst>
          </p:cNvPr>
          <p:cNvSpPr txBox="1"/>
          <p:nvPr/>
        </p:nvSpPr>
        <p:spPr>
          <a:xfrm>
            <a:off x="5167954" y="4987769"/>
            <a:ext cx="1084478"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Informal intake process</a:t>
            </a:r>
          </a:p>
        </p:txBody>
      </p:sp>
      <p:sp>
        <p:nvSpPr>
          <p:cNvPr id="261" name="Rectangle 120">
            <a:extLst>
              <a:ext uri="{FF2B5EF4-FFF2-40B4-BE49-F238E27FC236}">
                <a16:creationId xmlns:a16="http://schemas.microsoft.com/office/drawing/2014/main" id="{9A1B812F-A77E-3CFC-2077-2D1E6A7997C2}"/>
              </a:ext>
            </a:extLst>
          </p:cNvPr>
          <p:cNvSpPr/>
          <p:nvPr/>
        </p:nvSpPr>
        <p:spPr>
          <a:xfrm>
            <a:off x="6343873"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2" name="TextBox 122">
            <a:extLst>
              <a:ext uri="{FF2B5EF4-FFF2-40B4-BE49-F238E27FC236}">
                <a16:creationId xmlns:a16="http://schemas.microsoft.com/office/drawing/2014/main" id="{E1BF57A3-82CA-D481-227E-599594B01558}"/>
              </a:ext>
            </a:extLst>
          </p:cNvPr>
          <p:cNvSpPr txBox="1"/>
          <p:nvPr/>
        </p:nvSpPr>
        <p:spPr>
          <a:xfrm>
            <a:off x="6586080" y="4985557"/>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Relies on tool template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3" name="Rectangle 123">
            <a:extLst>
              <a:ext uri="{FF2B5EF4-FFF2-40B4-BE49-F238E27FC236}">
                <a16:creationId xmlns:a16="http://schemas.microsoft.com/office/drawing/2014/main" id="{33883AE8-D917-C155-6F70-787CBEADBF64}"/>
              </a:ext>
            </a:extLst>
          </p:cNvPr>
          <p:cNvSpPr/>
          <p:nvPr/>
        </p:nvSpPr>
        <p:spPr>
          <a:xfrm>
            <a:off x="7748391"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4" name="TextBox 125">
            <a:extLst>
              <a:ext uri="{FF2B5EF4-FFF2-40B4-BE49-F238E27FC236}">
                <a16:creationId xmlns:a16="http://schemas.microsoft.com/office/drawing/2014/main" id="{9E1EBD6E-04FB-E0C5-3932-F69FF97D6B01}"/>
              </a:ext>
            </a:extLst>
          </p:cNvPr>
          <p:cNvSpPr txBox="1"/>
          <p:nvPr/>
        </p:nvSpPr>
        <p:spPr>
          <a:xfrm>
            <a:off x="7976991" y="5027211"/>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'Intrinsic common sense'; not scored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5" name="Rectangle 126">
            <a:extLst>
              <a:ext uri="{FF2B5EF4-FFF2-40B4-BE49-F238E27FC236}">
                <a16:creationId xmlns:a16="http://schemas.microsoft.com/office/drawing/2014/main" id="{4EB8A0B3-2500-F4C7-E389-16118FD7FD28}"/>
              </a:ext>
            </a:extLst>
          </p:cNvPr>
          <p:cNvSpPr/>
          <p:nvPr/>
        </p:nvSpPr>
        <p:spPr>
          <a:xfrm>
            <a:off x="9152910"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6" name="TextBox 128">
            <a:extLst>
              <a:ext uri="{FF2B5EF4-FFF2-40B4-BE49-F238E27FC236}">
                <a16:creationId xmlns:a16="http://schemas.microsoft.com/office/drawing/2014/main" id="{402C7153-B3CA-F3FE-10C1-28C3B06B3A8E}"/>
              </a:ext>
            </a:extLst>
          </p:cNvPr>
          <p:cNvSpPr txBox="1"/>
          <p:nvPr/>
        </p:nvSpPr>
        <p:spPr>
          <a:xfrm>
            <a:off x="9381510" y="5063942"/>
            <a:ext cx="1084478"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Partial governance</a:t>
            </a:r>
          </a:p>
        </p:txBody>
      </p:sp>
      <p:sp>
        <p:nvSpPr>
          <p:cNvPr id="267" name="Rectangle 129">
            <a:extLst>
              <a:ext uri="{FF2B5EF4-FFF2-40B4-BE49-F238E27FC236}">
                <a16:creationId xmlns:a16="http://schemas.microsoft.com/office/drawing/2014/main" id="{80DBA315-3FCA-9075-B6CC-5B1BD8859758}"/>
              </a:ext>
            </a:extLst>
          </p:cNvPr>
          <p:cNvSpPr/>
          <p:nvPr/>
        </p:nvSpPr>
        <p:spPr>
          <a:xfrm>
            <a:off x="10557428"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8" name="TextBox 131">
            <a:extLst>
              <a:ext uri="{FF2B5EF4-FFF2-40B4-BE49-F238E27FC236}">
                <a16:creationId xmlns:a16="http://schemas.microsoft.com/office/drawing/2014/main" id="{21B67C34-A644-1542-0BD4-25E565E3BDA0}"/>
              </a:ext>
            </a:extLst>
          </p:cNvPr>
          <p:cNvSpPr txBox="1"/>
          <p:nvPr/>
        </p:nvSpPr>
        <p:spPr>
          <a:xfrm>
            <a:off x="10786028" y="5037011"/>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Execution knowledge not owned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9" name="Rectangle 132">
            <a:extLst>
              <a:ext uri="{FF2B5EF4-FFF2-40B4-BE49-F238E27FC236}">
                <a16:creationId xmlns:a16="http://schemas.microsoft.com/office/drawing/2014/main" id="{62833684-B558-E1F0-A268-D887A68689BD}"/>
              </a:ext>
            </a:extLst>
          </p:cNvPr>
          <p:cNvSpPr/>
          <p:nvPr/>
        </p:nvSpPr>
        <p:spPr>
          <a:xfrm>
            <a:off x="458795" y="5433488"/>
            <a:ext cx="1143000" cy="8698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0" name="TextBox 133">
            <a:extLst>
              <a:ext uri="{FF2B5EF4-FFF2-40B4-BE49-F238E27FC236}">
                <a16:creationId xmlns:a16="http://schemas.microsoft.com/office/drawing/2014/main" id="{3B83146D-78F2-CB1D-7BE5-12756C5D9EF2}"/>
              </a:ext>
            </a:extLst>
          </p:cNvPr>
          <p:cNvSpPr txBox="1"/>
          <p:nvPr/>
        </p:nvSpPr>
        <p:spPr>
          <a:xfrm>
            <a:off x="458795" y="5596399"/>
            <a:ext cx="1143000" cy="493533"/>
          </a:xfrm>
          <a:prstGeom prst="rect">
            <a:avLst/>
          </a:prstGeom>
          <a:solidFill>
            <a:schemeClr val="accent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Customer Services</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(4 teams TBC)</a:t>
            </a:r>
          </a:p>
        </p:txBody>
      </p:sp>
      <p:sp>
        <p:nvSpPr>
          <p:cNvPr id="271" name="Rectangle 134">
            <a:extLst>
              <a:ext uri="{FF2B5EF4-FFF2-40B4-BE49-F238E27FC236}">
                <a16:creationId xmlns:a16="http://schemas.microsoft.com/office/drawing/2014/main" id="{228CF927-B456-C7D7-8C87-18926D5BA33D}"/>
              </a:ext>
            </a:extLst>
          </p:cNvPr>
          <p:cNvSpPr/>
          <p:nvPr/>
        </p:nvSpPr>
        <p:spPr>
          <a:xfrm>
            <a:off x="1606694" y="5436157"/>
            <a:ext cx="1653390" cy="87401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2" name="TextBox 135">
            <a:extLst>
              <a:ext uri="{FF2B5EF4-FFF2-40B4-BE49-F238E27FC236}">
                <a16:creationId xmlns:a16="http://schemas.microsoft.com/office/drawing/2014/main" id="{765C1183-9D49-25C1-94A2-A5269232C796}"/>
              </a:ext>
            </a:extLst>
          </p:cNvPr>
          <p:cNvSpPr txBox="1"/>
          <p:nvPr/>
        </p:nvSpPr>
        <p:spPr>
          <a:xfrm>
            <a:off x="1724001" y="5537290"/>
            <a:ext cx="1492146" cy="105458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7 OPCOs via BRS · PMO · OT · Digital CoE </a:t>
            </a: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Calibri"/>
                <a:cs typeface="Arial" panose="020B0604020202020204" pitchFamily="34" charset="0"/>
              </a:rPr>
              <a:t>· Infrastructure · Data &amp; Analytics · Regulatory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Calibri"/>
                <a:cs typeface="Arial" panose="020B0604020202020204" pitchFamily="34" charset="0"/>
              </a:rPr>
              <a:t>OT</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F1C50"/>
              </a:solidFill>
              <a:effectLst/>
              <a:uLnTx/>
              <a:uFillTx/>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endParaRPr>
          </a:p>
        </p:txBody>
      </p:sp>
      <p:sp>
        <p:nvSpPr>
          <p:cNvPr id="273" name="Rectangle 136">
            <a:extLst>
              <a:ext uri="{FF2B5EF4-FFF2-40B4-BE49-F238E27FC236}">
                <a16:creationId xmlns:a16="http://schemas.microsoft.com/office/drawing/2014/main" id="{AC22F10D-032F-5E26-6B21-0A3E97401CB5}"/>
              </a:ext>
            </a:extLst>
          </p:cNvPr>
          <p:cNvSpPr/>
          <p:nvPr/>
        </p:nvSpPr>
        <p:spPr>
          <a:xfrm>
            <a:off x="3339155" y="546337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4" name="TextBox 137">
            <a:extLst>
              <a:ext uri="{FF2B5EF4-FFF2-40B4-BE49-F238E27FC236}">
                <a16:creationId xmlns:a16="http://schemas.microsoft.com/office/drawing/2014/main" id="{5BEE24B5-4DF0-37E8-B08E-E65D6B9E505F}"/>
              </a:ext>
            </a:extLst>
          </p:cNvPr>
          <p:cNvSpPr txBox="1"/>
          <p:nvPr/>
        </p:nvSpPr>
        <p:spPr>
          <a:xfrm>
            <a:off x="3412307" y="5591272"/>
            <a:ext cx="1408176"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Regulatory · Large · Small/Medium </a:t>
            </a:r>
          </a:p>
        </p:txBody>
      </p:sp>
      <p:sp>
        <p:nvSpPr>
          <p:cNvPr id="275" name="Rectangle 138">
            <a:extLst>
              <a:ext uri="{FF2B5EF4-FFF2-40B4-BE49-F238E27FC236}">
                <a16:creationId xmlns:a16="http://schemas.microsoft.com/office/drawing/2014/main" id="{4BFD4924-1883-F5BB-B56D-EDAA1D111EC4}"/>
              </a:ext>
            </a:extLst>
          </p:cNvPr>
          <p:cNvSpPr/>
          <p:nvPr/>
        </p:nvSpPr>
        <p:spPr>
          <a:xfrm>
            <a:off x="4939354"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6" name="TextBox 140">
            <a:extLst>
              <a:ext uri="{FF2B5EF4-FFF2-40B4-BE49-F238E27FC236}">
                <a16:creationId xmlns:a16="http://schemas.microsoft.com/office/drawing/2014/main" id="{BA2B128E-32FC-642B-BE55-B690AA4B46F1}"/>
              </a:ext>
            </a:extLst>
          </p:cNvPr>
          <p:cNvSpPr txBox="1"/>
          <p:nvPr/>
        </p:nvSpPr>
        <p:spPr>
          <a:xfrm>
            <a:off x="5167954" y="5626167"/>
            <a:ext cx="1084478"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shared channel</a:t>
            </a:r>
          </a:p>
        </p:txBody>
      </p:sp>
      <p:sp>
        <p:nvSpPr>
          <p:cNvPr id="277" name="Rectangle 141">
            <a:extLst>
              <a:ext uri="{FF2B5EF4-FFF2-40B4-BE49-F238E27FC236}">
                <a16:creationId xmlns:a16="http://schemas.microsoft.com/office/drawing/2014/main" id="{D5823D41-E279-4F24-A372-251DA835B63B}"/>
              </a:ext>
            </a:extLst>
          </p:cNvPr>
          <p:cNvSpPr/>
          <p:nvPr/>
        </p:nvSpPr>
        <p:spPr>
          <a:xfrm>
            <a:off x="6343873"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8" name="TextBox 143">
            <a:extLst>
              <a:ext uri="{FF2B5EF4-FFF2-40B4-BE49-F238E27FC236}">
                <a16:creationId xmlns:a16="http://schemas.microsoft.com/office/drawing/2014/main" id="{ADEF2D0B-2715-CE87-4808-F954F2CBC6CB}"/>
              </a:ext>
            </a:extLst>
          </p:cNvPr>
          <p:cNvSpPr txBox="1"/>
          <p:nvPr/>
        </p:nvSpPr>
        <p:spPr>
          <a:xfrm>
            <a:off x="6572473" y="5589060"/>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model defined for classification</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9" name="Rectangle 144">
            <a:extLst>
              <a:ext uri="{FF2B5EF4-FFF2-40B4-BE49-F238E27FC236}">
                <a16:creationId xmlns:a16="http://schemas.microsoft.com/office/drawing/2014/main" id="{A08B6FC5-6C5C-3FB4-D563-256915541906}"/>
              </a:ext>
            </a:extLst>
          </p:cNvPr>
          <p:cNvSpPr/>
          <p:nvPr/>
        </p:nvSpPr>
        <p:spPr>
          <a:xfrm>
            <a:off x="7748391"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0" name="TextBox 146">
            <a:extLst>
              <a:ext uri="{FF2B5EF4-FFF2-40B4-BE49-F238E27FC236}">
                <a16:creationId xmlns:a16="http://schemas.microsoft.com/office/drawing/2014/main" id="{724714B1-1F01-952A-BFAD-4C8FAE9CD37C}"/>
              </a:ext>
            </a:extLst>
          </p:cNvPr>
          <p:cNvSpPr txBox="1"/>
          <p:nvPr/>
        </p:nvSpPr>
        <p:spPr>
          <a:xfrm>
            <a:off x="7976991" y="5591272"/>
            <a:ext cx="1084478"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Done by Director or managers locally</a:t>
            </a:r>
          </a:p>
        </p:txBody>
      </p:sp>
      <p:sp>
        <p:nvSpPr>
          <p:cNvPr id="281" name="Rectangle 147">
            <a:extLst>
              <a:ext uri="{FF2B5EF4-FFF2-40B4-BE49-F238E27FC236}">
                <a16:creationId xmlns:a16="http://schemas.microsoft.com/office/drawing/2014/main" id="{BB1EF323-0743-2A85-F158-07194159B076}"/>
              </a:ext>
            </a:extLst>
          </p:cNvPr>
          <p:cNvSpPr/>
          <p:nvPr/>
        </p:nvSpPr>
        <p:spPr>
          <a:xfrm>
            <a:off x="9152910"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2" name="TextBox 149">
            <a:extLst>
              <a:ext uri="{FF2B5EF4-FFF2-40B4-BE49-F238E27FC236}">
                <a16:creationId xmlns:a16="http://schemas.microsoft.com/office/drawing/2014/main" id="{7AA6E4C7-BFA9-EE30-FE6E-368CC37D60C5}"/>
              </a:ext>
            </a:extLst>
          </p:cNvPr>
          <p:cNvSpPr txBox="1"/>
          <p:nvPr/>
        </p:nvSpPr>
        <p:spPr>
          <a:xfrm>
            <a:off x="9381510" y="5591273"/>
            <a:ext cx="1084478"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Priority competition between OpCos</a:t>
            </a:r>
          </a:p>
        </p:txBody>
      </p:sp>
      <p:sp>
        <p:nvSpPr>
          <p:cNvPr id="283" name="Rectangle 150">
            <a:extLst>
              <a:ext uri="{FF2B5EF4-FFF2-40B4-BE49-F238E27FC236}">
                <a16:creationId xmlns:a16="http://schemas.microsoft.com/office/drawing/2014/main" id="{D4899D37-AB8B-0ABC-C6E6-F7D4CED53FCF}"/>
              </a:ext>
            </a:extLst>
          </p:cNvPr>
          <p:cNvSpPr/>
          <p:nvPr/>
        </p:nvSpPr>
        <p:spPr>
          <a:xfrm>
            <a:off x="10557428"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4" name="TextBox 152">
            <a:extLst>
              <a:ext uri="{FF2B5EF4-FFF2-40B4-BE49-F238E27FC236}">
                <a16:creationId xmlns:a16="http://schemas.microsoft.com/office/drawing/2014/main" id="{8AA3E085-0A42-3CF5-6AA3-DDEDD617B8C9}"/>
              </a:ext>
            </a:extLst>
          </p:cNvPr>
          <p:cNvSpPr txBox="1"/>
          <p:nvPr/>
        </p:nvSpPr>
        <p:spPr>
          <a:xfrm>
            <a:off x="10826849" y="5589444"/>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Ad-hoc delivery governance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5" name="Oval 284">
            <a:extLst>
              <a:ext uri="{FF2B5EF4-FFF2-40B4-BE49-F238E27FC236}">
                <a16:creationId xmlns:a16="http://schemas.microsoft.com/office/drawing/2014/main" id="{399AE656-E7E6-2911-A278-5C4DD58AA7A2}"/>
              </a:ext>
            </a:extLst>
          </p:cNvPr>
          <p:cNvSpPr/>
          <p:nvPr/>
        </p:nvSpPr>
        <p:spPr>
          <a:xfrm>
            <a:off x="4994218"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6" name="Oval 285">
            <a:extLst>
              <a:ext uri="{FF2B5EF4-FFF2-40B4-BE49-F238E27FC236}">
                <a16:creationId xmlns:a16="http://schemas.microsoft.com/office/drawing/2014/main" id="{E82E3CD4-88F7-7792-8A2C-8167B649C6C9}"/>
              </a:ext>
            </a:extLst>
          </p:cNvPr>
          <p:cNvSpPr/>
          <p:nvPr/>
        </p:nvSpPr>
        <p:spPr>
          <a:xfrm>
            <a:off x="6398737"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7" name="Oval 286">
            <a:extLst>
              <a:ext uri="{FF2B5EF4-FFF2-40B4-BE49-F238E27FC236}">
                <a16:creationId xmlns:a16="http://schemas.microsoft.com/office/drawing/2014/main" id="{DC286D1E-3732-A846-A33E-84BA5EA372DE}"/>
              </a:ext>
            </a:extLst>
          </p:cNvPr>
          <p:cNvSpPr/>
          <p:nvPr/>
        </p:nvSpPr>
        <p:spPr>
          <a:xfrm>
            <a:off x="7803255"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0" name="Oval 289">
            <a:extLst>
              <a:ext uri="{FF2B5EF4-FFF2-40B4-BE49-F238E27FC236}">
                <a16:creationId xmlns:a16="http://schemas.microsoft.com/office/drawing/2014/main" id="{5F0655C5-49C1-AAF7-C0B4-E75F4AA9FE7B}"/>
              </a:ext>
            </a:extLst>
          </p:cNvPr>
          <p:cNvSpPr/>
          <p:nvPr/>
        </p:nvSpPr>
        <p:spPr>
          <a:xfrm>
            <a:off x="4994218"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2" name="Oval 291">
            <a:extLst>
              <a:ext uri="{FF2B5EF4-FFF2-40B4-BE49-F238E27FC236}">
                <a16:creationId xmlns:a16="http://schemas.microsoft.com/office/drawing/2014/main" id="{B32E45EF-1AE0-128A-274F-D8125F6115C3}"/>
              </a:ext>
            </a:extLst>
          </p:cNvPr>
          <p:cNvSpPr/>
          <p:nvPr/>
        </p:nvSpPr>
        <p:spPr>
          <a:xfrm>
            <a:off x="7803255"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4" name="Oval 293">
            <a:extLst>
              <a:ext uri="{FF2B5EF4-FFF2-40B4-BE49-F238E27FC236}">
                <a16:creationId xmlns:a16="http://schemas.microsoft.com/office/drawing/2014/main" id="{B7D40CB1-D0B4-3769-942B-DBC8A3612B90}"/>
              </a:ext>
            </a:extLst>
          </p:cNvPr>
          <p:cNvSpPr/>
          <p:nvPr/>
        </p:nvSpPr>
        <p:spPr>
          <a:xfrm>
            <a:off x="10612292"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2" name="Oval 301">
            <a:extLst>
              <a:ext uri="{FF2B5EF4-FFF2-40B4-BE49-F238E27FC236}">
                <a16:creationId xmlns:a16="http://schemas.microsoft.com/office/drawing/2014/main" id="{C8B133F2-DCF5-314B-BE5D-391A9186061D}"/>
              </a:ext>
            </a:extLst>
          </p:cNvPr>
          <p:cNvSpPr/>
          <p:nvPr/>
        </p:nvSpPr>
        <p:spPr>
          <a:xfrm>
            <a:off x="7803255" y="4073483"/>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4" name="Oval 303">
            <a:extLst>
              <a:ext uri="{FF2B5EF4-FFF2-40B4-BE49-F238E27FC236}">
                <a16:creationId xmlns:a16="http://schemas.microsoft.com/office/drawing/2014/main" id="{A146CCC9-87FC-DF2A-C06A-B94D2EE7D4A1}"/>
              </a:ext>
            </a:extLst>
          </p:cNvPr>
          <p:cNvSpPr/>
          <p:nvPr/>
        </p:nvSpPr>
        <p:spPr>
          <a:xfrm>
            <a:off x="10612292" y="4073483"/>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5" name="Oval 304">
            <a:extLst>
              <a:ext uri="{FF2B5EF4-FFF2-40B4-BE49-F238E27FC236}">
                <a16:creationId xmlns:a16="http://schemas.microsoft.com/office/drawing/2014/main" id="{609B302F-6F4E-BF1C-D54C-4E815A339123}"/>
              </a:ext>
            </a:extLst>
          </p:cNvPr>
          <p:cNvSpPr/>
          <p:nvPr/>
        </p:nvSpPr>
        <p:spPr>
          <a:xfrm>
            <a:off x="4994218" y="4933019"/>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7" name="Oval 306">
            <a:extLst>
              <a:ext uri="{FF2B5EF4-FFF2-40B4-BE49-F238E27FC236}">
                <a16:creationId xmlns:a16="http://schemas.microsoft.com/office/drawing/2014/main" id="{5CCEBC7E-7E26-3EBB-AD3E-6DEBF700CAEC}"/>
              </a:ext>
            </a:extLst>
          </p:cNvPr>
          <p:cNvSpPr/>
          <p:nvPr/>
        </p:nvSpPr>
        <p:spPr>
          <a:xfrm>
            <a:off x="7803255" y="4933019"/>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9" name="Oval 308">
            <a:extLst>
              <a:ext uri="{FF2B5EF4-FFF2-40B4-BE49-F238E27FC236}">
                <a16:creationId xmlns:a16="http://schemas.microsoft.com/office/drawing/2014/main" id="{FFA64477-1980-3A4C-21C0-A8497CDB5A24}"/>
              </a:ext>
            </a:extLst>
          </p:cNvPr>
          <p:cNvSpPr/>
          <p:nvPr/>
        </p:nvSpPr>
        <p:spPr>
          <a:xfrm>
            <a:off x="10612292" y="4933019"/>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11" name="Oval 310">
            <a:extLst>
              <a:ext uri="{FF2B5EF4-FFF2-40B4-BE49-F238E27FC236}">
                <a16:creationId xmlns:a16="http://schemas.microsoft.com/office/drawing/2014/main" id="{226362C6-00C3-EBF1-0C32-70E19321B84C}"/>
              </a:ext>
            </a:extLst>
          </p:cNvPr>
          <p:cNvSpPr/>
          <p:nvPr/>
        </p:nvSpPr>
        <p:spPr>
          <a:xfrm>
            <a:off x="9253494"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 name="TextBox 110">
            <a:extLst>
              <a:ext uri="{FF2B5EF4-FFF2-40B4-BE49-F238E27FC236}">
                <a16:creationId xmlns:a16="http://schemas.microsoft.com/office/drawing/2014/main" id="{0B5030DD-8299-8C48-DF70-217C37385136}"/>
              </a:ext>
            </a:extLst>
          </p:cNvPr>
          <p:cNvSpPr txBox="1"/>
          <p:nvPr/>
        </p:nvSpPr>
        <p:spPr>
          <a:xfrm>
            <a:off x="457200" y="1999538"/>
            <a:ext cx="6400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6583BE"/>
                </a:solidFill>
                <a:effectLst/>
                <a:uLnTx/>
                <a:uFillTx/>
                <a:latin typeface="Arial" panose="020B0604020202020204" pitchFamily="34" charset="0"/>
                <a:ea typeface="+mn-ea"/>
                <a:cs typeface="Arial" panose="020B0604020202020204" pitchFamily="34" charset="0"/>
              </a:rPr>
              <a:t>IT BUSINESS </a:t>
            </a:r>
            <a:r>
              <a:rPr kumimoji="0" lang="en-US" sz="1000" b="1" i="0" u="none" strike="noStrike" kern="1200" cap="none" spc="0" normalizeH="0" baseline="0" noProof="0">
                <a:ln>
                  <a:noFill/>
                </a:ln>
                <a:solidFill>
                  <a:srgbClr val="6583BE"/>
                </a:solidFill>
                <a:effectLst/>
                <a:uLnTx/>
                <a:uFillTx/>
                <a:latin typeface="Arial" panose="020B0604020202020204" pitchFamily="34" charset="0"/>
                <a:ea typeface="+mn-ea"/>
                <a:cs typeface="Arial" panose="020B0604020202020204" pitchFamily="34" charset="0"/>
              </a:rPr>
              <a:t>APPLICATIONS</a:t>
            </a:r>
            <a:endParaRPr kumimoji="0" lang="en-US" sz="900" b="1" i="0" u="none" strike="noStrike" kern="1200" cap="none" spc="0" normalizeH="0" baseline="0" noProof="0">
              <a:ln>
                <a:noFill/>
              </a:ln>
              <a:solidFill>
                <a:srgbClr val="6583BE"/>
              </a:solidFill>
              <a:effectLst/>
              <a:uLnTx/>
              <a:uFillTx/>
              <a:latin typeface="Arial" panose="020B0604020202020204" pitchFamily="34" charset="0"/>
              <a:ea typeface="+mn-ea"/>
              <a:cs typeface="Arial" panose="020B0604020202020204" pitchFamily="34" charset="0"/>
            </a:endParaRPr>
          </a:p>
        </p:txBody>
      </p:sp>
      <p:sp>
        <p:nvSpPr>
          <p:cNvPr id="19" name="Rectangle 109">
            <a:extLst>
              <a:ext uri="{FF2B5EF4-FFF2-40B4-BE49-F238E27FC236}">
                <a16:creationId xmlns:a16="http://schemas.microsoft.com/office/drawing/2014/main" id="{EEB1D285-AFCE-AAEF-37FF-EB1E60B13959}"/>
              </a:ext>
            </a:extLst>
          </p:cNvPr>
          <p:cNvSpPr/>
          <p:nvPr/>
        </p:nvSpPr>
        <p:spPr>
          <a:xfrm>
            <a:off x="458795" y="1924528"/>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Oval 20">
            <a:extLst>
              <a:ext uri="{FF2B5EF4-FFF2-40B4-BE49-F238E27FC236}">
                <a16:creationId xmlns:a16="http://schemas.microsoft.com/office/drawing/2014/main" id="{46107E69-C0EA-FBD3-0B05-FC9C29B8FD0C}"/>
              </a:ext>
            </a:extLst>
          </p:cNvPr>
          <p:cNvSpPr/>
          <p:nvPr/>
        </p:nvSpPr>
        <p:spPr>
          <a:xfrm>
            <a:off x="9207773"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 name="Oval 21">
            <a:extLst>
              <a:ext uri="{FF2B5EF4-FFF2-40B4-BE49-F238E27FC236}">
                <a16:creationId xmlns:a16="http://schemas.microsoft.com/office/drawing/2014/main" id="{6241FAF3-7CE7-4A9A-4475-02FFFAD3908C}"/>
              </a:ext>
            </a:extLst>
          </p:cNvPr>
          <p:cNvSpPr/>
          <p:nvPr/>
        </p:nvSpPr>
        <p:spPr>
          <a:xfrm>
            <a:off x="10621971"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Oval 22">
            <a:extLst>
              <a:ext uri="{FF2B5EF4-FFF2-40B4-BE49-F238E27FC236}">
                <a16:creationId xmlns:a16="http://schemas.microsoft.com/office/drawing/2014/main" id="{1A8EADA0-B28A-DA80-E410-56A9F119D24E}"/>
              </a:ext>
            </a:extLst>
          </p:cNvPr>
          <p:cNvSpPr/>
          <p:nvPr/>
        </p:nvSpPr>
        <p:spPr>
          <a:xfrm>
            <a:off x="6398727" y="285766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 name="Oval 23">
            <a:extLst>
              <a:ext uri="{FF2B5EF4-FFF2-40B4-BE49-F238E27FC236}">
                <a16:creationId xmlns:a16="http://schemas.microsoft.com/office/drawing/2014/main" id="{6386953B-7610-E238-4DBB-ADCEB43393CD}"/>
              </a:ext>
            </a:extLst>
          </p:cNvPr>
          <p:cNvSpPr/>
          <p:nvPr/>
        </p:nvSpPr>
        <p:spPr>
          <a:xfrm>
            <a:off x="9209432" y="284668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 name="Oval 27">
            <a:extLst>
              <a:ext uri="{FF2B5EF4-FFF2-40B4-BE49-F238E27FC236}">
                <a16:creationId xmlns:a16="http://schemas.microsoft.com/office/drawing/2014/main" id="{5F8E41D7-7BF0-5718-7523-4E2163F7EE36}"/>
              </a:ext>
            </a:extLst>
          </p:cNvPr>
          <p:cNvSpPr/>
          <p:nvPr/>
        </p:nvSpPr>
        <p:spPr>
          <a:xfrm>
            <a:off x="6407001" y="4034486"/>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Oval 28">
            <a:extLst>
              <a:ext uri="{FF2B5EF4-FFF2-40B4-BE49-F238E27FC236}">
                <a16:creationId xmlns:a16="http://schemas.microsoft.com/office/drawing/2014/main" id="{A2E3BD08-8034-EA34-F2CD-B0DED1C8D323}"/>
              </a:ext>
            </a:extLst>
          </p:cNvPr>
          <p:cNvSpPr/>
          <p:nvPr/>
        </p:nvSpPr>
        <p:spPr>
          <a:xfrm>
            <a:off x="5002482" y="405187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 name="Oval 29">
            <a:extLst>
              <a:ext uri="{FF2B5EF4-FFF2-40B4-BE49-F238E27FC236}">
                <a16:creationId xmlns:a16="http://schemas.microsoft.com/office/drawing/2014/main" id="{A8D5ECAF-653C-7CA3-1824-8C5CE4E5D60E}"/>
              </a:ext>
            </a:extLst>
          </p:cNvPr>
          <p:cNvSpPr/>
          <p:nvPr/>
        </p:nvSpPr>
        <p:spPr>
          <a:xfrm>
            <a:off x="6433897" y="4904064"/>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1" name="Oval 30">
            <a:extLst>
              <a:ext uri="{FF2B5EF4-FFF2-40B4-BE49-F238E27FC236}">
                <a16:creationId xmlns:a16="http://schemas.microsoft.com/office/drawing/2014/main" id="{EF085D2F-F827-ECF6-0C62-E54C16A29EF4}"/>
              </a:ext>
            </a:extLst>
          </p:cNvPr>
          <p:cNvSpPr/>
          <p:nvPr/>
        </p:nvSpPr>
        <p:spPr>
          <a:xfrm>
            <a:off x="9216038" y="4909711"/>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2" name="Oval 31">
            <a:extLst>
              <a:ext uri="{FF2B5EF4-FFF2-40B4-BE49-F238E27FC236}">
                <a16:creationId xmlns:a16="http://schemas.microsoft.com/office/drawing/2014/main" id="{73883163-D266-57F7-89BD-E791444DCB62}"/>
              </a:ext>
            </a:extLst>
          </p:cNvPr>
          <p:cNvSpPr/>
          <p:nvPr/>
        </p:nvSpPr>
        <p:spPr>
          <a:xfrm>
            <a:off x="5002483" y="550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FD849407-A0F4-E148-2C78-CD66697CF71A}"/>
              </a:ext>
            </a:extLst>
          </p:cNvPr>
          <p:cNvSpPr/>
          <p:nvPr/>
        </p:nvSpPr>
        <p:spPr>
          <a:xfrm>
            <a:off x="7811519"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4" name="Oval 33">
            <a:extLst>
              <a:ext uri="{FF2B5EF4-FFF2-40B4-BE49-F238E27FC236}">
                <a16:creationId xmlns:a16="http://schemas.microsoft.com/office/drawing/2014/main" id="{206E5C4D-A57E-C889-0058-DFE532E5E597}"/>
              </a:ext>
            </a:extLst>
          </p:cNvPr>
          <p:cNvSpPr/>
          <p:nvPr/>
        </p:nvSpPr>
        <p:spPr>
          <a:xfrm>
            <a:off x="6418909" y="551312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3A3A1F67-87C1-5652-5224-448303FB4018}"/>
              </a:ext>
            </a:extLst>
          </p:cNvPr>
          <p:cNvSpPr/>
          <p:nvPr/>
        </p:nvSpPr>
        <p:spPr>
          <a:xfrm>
            <a:off x="9222760" y="406451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7" name="Oval 36">
            <a:extLst>
              <a:ext uri="{FF2B5EF4-FFF2-40B4-BE49-F238E27FC236}">
                <a16:creationId xmlns:a16="http://schemas.microsoft.com/office/drawing/2014/main" id="{5065E081-A244-05B0-07E6-FB5072D7B17F}"/>
              </a:ext>
            </a:extLst>
          </p:cNvPr>
          <p:cNvSpPr/>
          <p:nvPr/>
        </p:nvSpPr>
        <p:spPr>
          <a:xfrm>
            <a:off x="10630222" y="54988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TextBox 36">
            <a:extLst>
              <a:ext uri="{FF2B5EF4-FFF2-40B4-BE49-F238E27FC236}">
                <a16:creationId xmlns:a16="http://schemas.microsoft.com/office/drawing/2014/main" id="{0C352AF4-4AB0-B418-DDF5-330FC6AE7527}"/>
              </a:ext>
            </a:extLst>
          </p:cNvPr>
          <p:cNvSpPr txBox="1"/>
          <p:nvPr/>
        </p:nvSpPr>
        <p:spPr>
          <a:xfrm>
            <a:off x="6572474" y="2872409"/>
            <a:ext cx="1166120" cy="59753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No model for small/medium</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lt"/>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 demand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endParaRPr>
          </a:p>
        </p:txBody>
      </p:sp>
      <p:sp>
        <p:nvSpPr>
          <p:cNvPr id="7" name="Oval 6">
            <a:extLst>
              <a:ext uri="{FF2B5EF4-FFF2-40B4-BE49-F238E27FC236}">
                <a16:creationId xmlns:a16="http://schemas.microsoft.com/office/drawing/2014/main" id="{7D45249A-A22A-ECCC-9124-945B0DC11EEC}"/>
              </a:ext>
            </a:extLst>
          </p:cNvPr>
          <p:cNvSpPr/>
          <p:nvPr/>
        </p:nvSpPr>
        <p:spPr>
          <a:xfrm>
            <a:off x="4978271"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Oval 7">
            <a:extLst>
              <a:ext uri="{FF2B5EF4-FFF2-40B4-BE49-F238E27FC236}">
                <a16:creationId xmlns:a16="http://schemas.microsoft.com/office/drawing/2014/main" id="{24614CBF-CD91-1C6E-0072-286518671704}"/>
              </a:ext>
            </a:extLst>
          </p:cNvPr>
          <p:cNvSpPr/>
          <p:nvPr/>
        </p:nvSpPr>
        <p:spPr>
          <a:xfrm>
            <a:off x="6389593" y="3445153"/>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Oval 9">
            <a:extLst>
              <a:ext uri="{FF2B5EF4-FFF2-40B4-BE49-F238E27FC236}">
                <a16:creationId xmlns:a16="http://schemas.microsoft.com/office/drawing/2014/main" id="{17FECC8F-2B1B-D268-206F-A3A0E17492CB}"/>
              </a:ext>
            </a:extLst>
          </p:cNvPr>
          <p:cNvSpPr/>
          <p:nvPr/>
        </p:nvSpPr>
        <p:spPr>
          <a:xfrm>
            <a:off x="7794111" y="346325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Oval 10">
            <a:extLst>
              <a:ext uri="{FF2B5EF4-FFF2-40B4-BE49-F238E27FC236}">
                <a16:creationId xmlns:a16="http://schemas.microsoft.com/office/drawing/2014/main" id="{14F72168-B591-9FA6-C423-CD1765864FC8}"/>
              </a:ext>
            </a:extLst>
          </p:cNvPr>
          <p:cNvSpPr/>
          <p:nvPr/>
        </p:nvSpPr>
        <p:spPr>
          <a:xfrm>
            <a:off x="9198629" y="345411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Oval 12">
            <a:extLst>
              <a:ext uri="{FF2B5EF4-FFF2-40B4-BE49-F238E27FC236}">
                <a16:creationId xmlns:a16="http://schemas.microsoft.com/office/drawing/2014/main" id="{E0534582-32AA-CC53-5964-539BAA5B4951}"/>
              </a:ext>
            </a:extLst>
          </p:cNvPr>
          <p:cNvSpPr/>
          <p:nvPr/>
        </p:nvSpPr>
        <p:spPr>
          <a:xfrm>
            <a:off x="10615894"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9" name="CuadroTexto 204">
            <a:extLst>
              <a:ext uri="{FF2B5EF4-FFF2-40B4-BE49-F238E27FC236}">
                <a16:creationId xmlns:a16="http://schemas.microsoft.com/office/drawing/2014/main" id="{88A12913-8625-0C14-5929-9145E5D2FF07}"/>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Across both IT Business Applications and Customer Service Applications, only 1 area already operate at scale — G&amp;E , the rest still run 6+ disconnected channels</a:t>
            </a:r>
            <a:endParaRPr kumimoji="0" lang="en-US" sz="1400" b="0"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88720567"/>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3C1B2-1CFD-0A85-9E3C-096AADF66872}"/>
            </a:ext>
          </a:extLst>
        </p:cNvPr>
        <p:cNvGrpSpPr/>
        <p:nvPr/>
      </p:nvGrpSpPr>
      <p:grpSpPr>
        <a:xfrm>
          <a:off x="0" y="0"/>
          <a:ext cx="0" cy="0"/>
          <a:chOff x="0" y="0"/>
          <a:chExt cx="0" cy="0"/>
        </a:xfrm>
      </p:grpSpPr>
      <p:sp>
        <p:nvSpPr>
          <p:cNvPr id="231" name="Título 2">
            <a:extLst>
              <a:ext uri="{FF2B5EF4-FFF2-40B4-BE49-F238E27FC236}">
                <a16:creationId xmlns:a16="http://schemas.microsoft.com/office/drawing/2014/main" id="{E689F9BD-0AA4-9813-82B4-6E176DF733E6}"/>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lvl="0">
              <a:defRPr/>
            </a:pPr>
            <a:r>
              <a:rPr lang="en-US" sz="2400">
                <a:solidFill>
                  <a:prstClr val="white"/>
                </a:solidFill>
                <a:latin typeface="Arial" panose="020B0604020202020204" pitchFamily="34" charset="0"/>
                <a:cs typeface="Arial" panose="020B0604020202020204" pitchFamily="34" charset="0"/>
              </a:rPr>
              <a:t>EXECUTIVE SUMMARY</a:t>
            </a:r>
          </a:p>
          <a:p>
            <a:r>
              <a:rPr lang="en-US" sz="1200" noProof="0">
                <a:latin typeface="Arial" panose="020B0604020202020204" pitchFamily="34" charset="0"/>
                <a:cs typeface="Arial" panose="020B0604020202020204" pitchFamily="34" charset="0"/>
              </a:rPr>
              <a:t>VALUE STREAM MAPPING - DEMAND FLOW</a:t>
            </a:r>
          </a:p>
        </p:txBody>
      </p:sp>
      <p:sp>
        <p:nvSpPr>
          <p:cNvPr id="2" name="TextBox 5">
            <a:extLst>
              <a:ext uri="{FF2B5EF4-FFF2-40B4-BE49-F238E27FC236}">
                <a16:creationId xmlns:a16="http://schemas.microsoft.com/office/drawing/2014/main" id="{C668ACB4-B3A2-C7AF-6B2D-11A9474EE972}"/>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The end-to-end AS-IS demand pipeline on one page — eleven source areas funnel into fragmented channels, split by demand type, and land on one of two delivery branches</a:t>
            </a:r>
          </a:p>
        </p:txBody>
      </p:sp>
      <p:sp>
        <p:nvSpPr>
          <p:cNvPr id="15" name="TextBox 18">
            <a:extLst>
              <a:ext uri="{FF2B5EF4-FFF2-40B4-BE49-F238E27FC236}">
                <a16:creationId xmlns:a16="http://schemas.microsoft.com/office/drawing/2014/main" id="{26C5D47C-0019-85B0-AD15-B8269946C8E6}"/>
              </a:ext>
            </a:extLst>
          </p:cNvPr>
          <p:cNvSpPr txBox="1"/>
          <p:nvPr/>
        </p:nvSpPr>
        <p:spPr>
          <a:xfrm>
            <a:off x="4617525" y="1601952"/>
            <a:ext cx="402336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How the demand arrives — color by type</a:t>
            </a:r>
          </a:p>
        </p:txBody>
      </p:sp>
      <p:sp>
        <p:nvSpPr>
          <p:cNvPr id="16" name="Rectangle 19">
            <a:extLst>
              <a:ext uri="{FF2B5EF4-FFF2-40B4-BE49-F238E27FC236}">
                <a16:creationId xmlns:a16="http://schemas.microsoft.com/office/drawing/2014/main" id="{4F2ED72B-218A-9083-DEA3-1DDD1F2643A9}"/>
              </a:ext>
            </a:extLst>
          </p:cNvPr>
          <p:cNvSpPr/>
          <p:nvPr/>
        </p:nvSpPr>
        <p:spPr>
          <a:xfrm>
            <a:off x="8794444" y="1236192"/>
            <a:ext cx="3102022"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20">
            <a:extLst>
              <a:ext uri="{FF2B5EF4-FFF2-40B4-BE49-F238E27FC236}">
                <a16:creationId xmlns:a16="http://schemas.microsoft.com/office/drawing/2014/main" id="{AD6E6901-7450-CFA3-F0ED-2652477930CF}"/>
              </a:ext>
            </a:extLst>
          </p:cNvPr>
          <p:cNvSpPr txBox="1"/>
          <p:nvPr/>
        </p:nvSpPr>
        <p:spPr>
          <a:xfrm>
            <a:off x="8794444" y="1310033"/>
            <a:ext cx="3102022"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03 · CLASSIFICATION</a:t>
            </a:r>
          </a:p>
        </p:txBody>
      </p:sp>
      <p:sp>
        <p:nvSpPr>
          <p:cNvPr id="18" name="TextBox 21">
            <a:extLst>
              <a:ext uri="{FF2B5EF4-FFF2-40B4-BE49-F238E27FC236}">
                <a16:creationId xmlns:a16="http://schemas.microsoft.com/office/drawing/2014/main" id="{5E96969D-E760-CBE4-4033-A480FB7F34DD}"/>
              </a:ext>
            </a:extLst>
          </p:cNvPr>
          <p:cNvSpPr txBox="1"/>
          <p:nvPr/>
        </p:nvSpPr>
        <p:spPr>
          <a:xfrm>
            <a:off x="8794444" y="1601952"/>
            <a:ext cx="3102022"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What kind of demand</a:t>
            </a:r>
          </a:p>
        </p:txBody>
      </p:sp>
      <p:sp>
        <p:nvSpPr>
          <p:cNvPr id="10" name="Rectangle 13">
            <a:extLst>
              <a:ext uri="{FF2B5EF4-FFF2-40B4-BE49-F238E27FC236}">
                <a16:creationId xmlns:a16="http://schemas.microsoft.com/office/drawing/2014/main" id="{95EAC7B5-92B7-09A8-F30E-965D1BA37E8C}"/>
              </a:ext>
            </a:extLst>
          </p:cNvPr>
          <p:cNvSpPr/>
          <p:nvPr/>
        </p:nvSpPr>
        <p:spPr>
          <a:xfrm>
            <a:off x="279988" y="1236192"/>
            <a:ext cx="136026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TextBox 14">
            <a:extLst>
              <a:ext uri="{FF2B5EF4-FFF2-40B4-BE49-F238E27FC236}">
                <a16:creationId xmlns:a16="http://schemas.microsoft.com/office/drawing/2014/main" id="{3B445423-1862-7DA0-6ACF-106D17ED00C6}"/>
              </a:ext>
            </a:extLst>
          </p:cNvPr>
          <p:cNvSpPr txBox="1"/>
          <p:nvPr/>
        </p:nvSpPr>
        <p:spPr>
          <a:xfrm>
            <a:off x="279987" y="1305624"/>
            <a:ext cx="1360264"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01 · SOURCES</a:t>
            </a:r>
          </a:p>
        </p:txBody>
      </p:sp>
      <p:sp>
        <p:nvSpPr>
          <p:cNvPr id="12" name="TextBox 15">
            <a:extLst>
              <a:ext uri="{FF2B5EF4-FFF2-40B4-BE49-F238E27FC236}">
                <a16:creationId xmlns:a16="http://schemas.microsoft.com/office/drawing/2014/main" id="{68CAC0F4-39BA-46CC-6409-87F18B5BDA41}"/>
              </a:ext>
            </a:extLst>
          </p:cNvPr>
          <p:cNvSpPr txBox="1"/>
          <p:nvPr/>
        </p:nvSpPr>
        <p:spPr>
          <a:xfrm>
            <a:off x="279988" y="1601952"/>
            <a:ext cx="1360264"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sends the demand</a:t>
            </a:r>
          </a:p>
        </p:txBody>
      </p:sp>
      <p:sp>
        <p:nvSpPr>
          <p:cNvPr id="197" name="Right Arrow 134">
            <a:extLst>
              <a:ext uri="{FF2B5EF4-FFF2-40B4-BE49-F238E27FC236}">
                <a16:creationId xmlns:a16="http://schemas.microsoft.com/office/drawing/2014/main" id="{C6CB6B22-33EE-4249-5DE5-6FE23F1374C5}"/>
              </a:ext>
            </a:extLst>
          </p:cNvPr>
          <p:cNvSpPr/>
          <p:nvPr/>
        </p:nvSpPr>
        <p:spPr>
          <a:xfrm>
            <a:off x="4169071"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ight Arrow 135">
            <a:extLst>
              <a:ext uri="{FF2B5EF4-FFF2-40B4-BE49-F238E27FC236}">
                <a16:creationId xmlns:a16="http://schemas.microsoft.com/office/drawing/2014/main" id="{65FA06DD-368D-9AD8-9D33-AD292072229A}"/>
              </a:ext>
            </a:extLst>
          </p:cNvPr>
          <p:cNvSpPr/>
          <p:nvPr/>
        </p:nvSpPr>
        <p:spPr>
          <a:xfrm>
            <a:off x="8618315" y="129521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16">
            <a:extLst>
              <a:ext uri="{FF2B5EF4-FFF2-40B4-BE49-F238E27FC236}">
                <a16:creationId xmlns:a16="http://schemas.microsoft.com/office/drawing/2014/main" id="{4AC75A7C-C864-5710-B812-2E0454E76F68}"/>
              </a:ext>
            </a:extLst>
          </p:cNvPr>
          <p:cNvSpPr/>
          <p:nvPr/>
        </p:nvSpPr>
        <p:spPr>
          <a:xfrm>
            <a:off x="4326754" y="1236192"/>
            <a:ext cx="426454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TextBox 17">
            <a:extLst>
              <a:ext uri="{FF2B5EF4-FFF2-40B4-BE49-F238E27FC236}">
                <a16:creationId xmlns:a16="http://schemas.microsoft.com/office/drawing/2014/main" id="{EDDE4C05-3894-95AA-4025-4BC2631309E4}"/>
              </a:ext>
            </a:extLst>
          </p:cNvPr>
          <p:cNvSpPr txBox="1"/>
          <p:nvPr/>
        </p:nvSpPr>
        <p:spPr>
          <a:xfrm>
            <a:off x="4277165" y="1305625"/>
            <a:ext cx="436371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 CHANNELS</a:t>
            </a:r>
          </a:p>
        </p:txBody>
      </p:sp>
      <p:sp>
        <p:nvSpPr>
          <p:cNvPr id="218" name="Rounded Rectangle 118">
            <a:extLst>
              <a:ext uri="{FF2B5EF4-FFF2-40B4-BE49-F238E27FC236}">
                <a16:creationId xmlns:a16="http://schemas.microsoft.com/office/drawing/2014/main" id="{4D245593-3B92-6FD3-2D16-61DE4E924F0E}"/>
              </a:ext>
            </a:extLst>
          </p:cNvPr>
          <p:cNvSpPr/>
          <p:nvPr/>
        </p:nvSpPr>
        <p:spPr>
          <a:xfrm>
            <a:off x="6909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221" name="Rounded Rectangle 118">
            <a:extLst>
              <a:ext uri="{FF2B5EF4-FFF2-40B4-BE49-F238E27FC236}">
                <a16:creationId xmlns:a16="http://schemas.microsoft.com/office/drawing/2014/main" id="{096FB923-27C1-02AD-7CE0-0D7138E309C9}"/>
              </a:ext>
            </a:extLst>
          </p:cNvPr>
          <p:cNvSpPr/>
          <p:nvPr/>
        </p:nvSpPr>
        <p:spPr>
          <a:xfrm>
            <a:off x="5258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BSS Log</a:t>
            </a:r>
          </a:p>
        </p:txBody>
      </p:sp>
      <p:sp>
        <p:nvSpPr>
          <p:cNvPr id="239" name="Rounded Rectangle 118">
            <a:extLst>
              <a:ext uri="{FF2B5EF4-FFF2-40B4-BE49-F238E27FC236}">
                <a16:creationId xmlns:a16="http://schemas.microsoft.com/office/drawing/2014/main" id="{8CC1FF7E-4847-0B96-6CA1-B784B0FF53A0}"/>
              </a:ext>
            </a:extLst>
          </p:cNvPr>
          <p:cNvSpPr/>
          <p:nvPr/>
        </p:nvSpPr>
        <p:spPr>
          <a:xfrm>
            <a:off x="7737816" y="204481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3" name="Rounded Rectangle 118">
            <a:extLst>
              <a:ext uri="{FF2B5EF4-FFF2-40B4-BE49-F238E27FC236}">
                <a16:creationId xmlns:a16="http://schemas.microsoft.com/office/drawing/2014/main" id="{95D7D01B-680C-EFEF-336E-C7BB7C85DEB7}"/>
              </a:ext>
            </a:extLst>
          </p:cNvPr>
          <p:cNvSpPr/>
          <p:nvPr/>
        </p:nvSpPr>
        <p:spPr>
          <a:xfrm>
            <a:off x="6098985"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45" name="Rounded Rectangle 118">
            <a:extLst>
              <a:ext uri="{FF2B5EF4-FFF2-40B4-BE49-F238E27FC236}">
                <a16:creationId xmlns:a16="http://schemas.microsoft.com/office/drawing/2014/main" id="{5400158D-4511-A715-2DC2-72A607825A29}"/>
              </a:ext>
            </a:extLst>
          </p:cNvPr>
          <p:cNvSpPr/>
          <p:nvPr/>
        </p:nvSpPr>
        <p:spPr>
          <a:xfrm>
            <a:off x="5258776"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Digital PMs</a:t>
            </a:r>
          </a:p>
        </p:txBody>
      </p:sp>
      <p:sp>
        <p:nvSpPr>
          <p:cNvPr id="246" name="Rounded Rectangle 118">
            <a:extLst>
              <a:ext uri="{FF2B5EF4-FFF2-40B4-BE49-F238E27FC236}">
                <a16:creationId xmlns:a16="http://schemas.microsoft.com/office/drawing/2014/main" id="{25757269-10E7-6887-227A-C337B042880C}"/>
              </a:ext>
            </a:extLst>
          </p:cNvPr>
          <p:cNvSpPr/>
          <p:nvPr/>
        </p:nvSpPr>
        <p:spPr>
          <a:xfrm>
            <a:off x="6909776" y="2392739"/>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9" name="Rounded Rectangle 118">
            <a:extLst>
              <a:ext uri="{FF2B5EF4-FFF2-40B4-BE49-F238E27FC236}">
                <a16:creationId xmlns:a16="http://schemas.microsoft.com/office/drawing/2014/main" id="{8CCED3AC-7F7B-9A0D-AA41-C9AD37B98BB3}"/>
              </a:ext>
            </a:extLst>
          </p:cNvPr>
          <p:cNvSpPr/>
          <p:nvPr/>
        </p:nvSpPr>
        <p:spPr>
          <a:xfrm>
            <a:off x="4416785" y="3061155"/>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0" name="Rounded Rectangle 118">
            <a:extLst>
              <a:ext uri="{FF2B5EF4-FFF2-40B4-BE49-F238E27FC236}">
                <a16:creationId xmlns:a16="http://schemas.microsoft.com/office/drawing/2014/main" id="{F331C50F-9CC1-07FC-D4B3-54DB75C9B372}"/>
              </a:ext>
            </a:extLst>
          </p:cNvPr>
          <p:cNvSpPr/>
          <p:nvPr/>
        </p:nvSpPr>
        <p:spPr>
          <a:xfrm>
            <a:off x="6098985"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1" name="Rounded Rectangle 118">
            <a:extLst>
              <a:ext uri="{FF2B5EF4-FFF2-40B4-BE49-F238E27FC236}">
                <a16:creationId xmlns:a16="http://schemas.microsoft.com/office/drawing/2014/main" id="{0D418137-F7FA-7199-F280-FB7305C3EEFE}"/>
              </a:ext>
            </a:extLst>
          </p:cNvPr>
          <p:cNvSpPr/>
          <p:nvPr/>
        </p:nvSpPr>
        <p:spPr>
          <a:xfrm>
            <a:off x="5260065" y="3061155"/>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53" name="Rounded Rectangle 118">
            <a:extLst>
              <a:ext uri="{FF2B5EF4-FFF2-40B4-BE49-F238E27FC236}">
                <a16:creationId xmlns:a16="http://schemas.microsoft.com/office/drawing/2014/main" id="{A89CD974-B424-AC5F-7D55-9510B9880AA9}"/>
              </a:ext>
            </a:extLst>
          </p:cNvPr>
          <p:cNvSpPr/>
          <p:nvPr/>
        </p:nvSpPr>
        <p:spPr>
          <a:xfrm>
            <a:off x="4415496" y="2732140"/>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099" name="Rounded Rectangle 118">
            <a:extLst>
              <a:ext uri="{FF2B5EF4-FFF2-40B4-BE49-F238E27FC236}">
                <a16:creationId xmlns:a16="http://schemas.microsoft.com/office/drawing/2014/main" id="{BA5B3A0F-32E9-3A10-7D51-7DDE441FB5B4}"/>
              </a:ext>
            </a:extLst>
          </p:cNvPr>
          <p:cNvSpPr/>
          <p:nvPr/>
        </p:nvSpPr>
        <p:spPr>
          <a:xfrm>
            <a:off x="5258776" y="2732140"/>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1" name="Rounded Rectangle 118">
            <a:extLst>
              <a:ext uri="{FF2B5EF4-FFF2-40B4-BE49-F238E27FC236}">
                <a16:creationId xmlns:a16="http://schemas.microsoft.com/office/drawing/2014/main" id="{C0732167-F946-C52E-29F6-3D8E2D482226}"/>
              </a:ext>
            </a:extLst>
          </p:cNvPr>
          <p:cNvSpPr/>
          <p:nvPr/>
        </p:nvSpPr>
        <p:spPr>
          <a:xfrm>
            <a:off x="5258776" y="373222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2" name="Rounded Rectangle 118">
            <a:extLst>
              <a:ext uri="{FF2B5EF4-FFF2-40B4-BE49-F238E27FC236}">
                <a16:creationId xmlns:a16="http://schemas.microsoft.com/office/drawing/2014/main" id="{8685C3E4-0A5A-8F34-D83B-C89254C26F3B}"/>
              </a:ext>
            </a:extLst>
          </p:cNvPr>
          <p:cNvSpPr/>
          <p:nvPr/>
        </p:nvSpPr>
        <p:spPr>
          <a:xfrm>
            <a:off x="5258776" y="406970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11" name="Rounded Rectangle 118">
            <a:extLst>
              <a:ext uri="{FF2B5EF4-FFF2-40B4-BE49-F238E27FC236}">
                <a16:creationId xmlns:a16="http://schemas.microsoft.com/office/drawing/2014/main" id="{DF5BA254-D4B3-DC8A-CF87-FE8F7B4FB5C6}"/>
              </a:ext>
            </a:extLst>
          </p:cNvPr>
          <p:cNvSpPr/>
          <p:nvPr/>
        </p:nvSpPr>
        <p:spPr>
          <a:xfrm>
            <a:off x="524720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Confluence</a:t>
            </a:r>
          </a:p>
        </p:txBody>
      </p:sp>
      <p:sp>
        <p:nvSpPr>
          <p:cNvPr id="4112" name="Rounded Rectangle 118">
            <a:extLst>
              <a:ext uri="{FF2B5EF4-FFF2-40B4-BE49-F238E27FC236}">
                <a16:creationId xmlns:a16="http://schemas.microsoft.com/office/drawing/2014/main" id="{7A8FC25C-DE60-37F2-8086-B806C21D0850}"/>
              </a:ext>
            </a:extLst>
          </p:cNvPr>
          <p:cNvSpPr/>
          <p:nvPr/>
        </p:nvSpPr>
        <p:spPr>
          <a:xfrm>
            <a:off x="6087410"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13" name="Rounded Rectangle 118">
            <a:extLst>
              <a:ext uri="{FF2B5EF4-FFF2-40B4-BE49-F238E27FC236}">
                <a16:creationId xmlns:a16="http://schemas.microsoft.com/office/drawing/2014/main" id="{D3BBC819-E6B3-0579-A5D3-F1FF26DE8729}"/>
              </a:ext>
            </a:extLst>
          </p:cNvPr>
          <p:cNvSpPr/>
          <p:nvPr/>
        </p:nvSpPr>
        <p:spPr>
          <a:xfrm>
            <a:off x="6921119" y="5070866"/>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3" name="Rounded Rectangle 118">
            <a:extLst>
              <a:ext uri="{FF2B5EF4-FFF2-40B4-BE49-F238E27FC236}">
                <a16:creationId xmlns:a16="http://schemas.microsoft.com/office/drawing/2014/main" id="{616F6A68-1943-A8E3-19F6-CBFEC894AB90}"/>
              </a:ext>
            </a:extLst>
          </p:cNvPr>
          <p:cNvSpPr/>
          <p:nvPr/>
        </p:nvSpPr>
        <p:spPr>
          <a:xfrm>
            <a:off x="6087410"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4124" name="Rounded Rectangle 118">
            <a:extLst>
              <a:ext uri="{FF2B5EF4-FFF2-40B4-BE49-F238E27FC236}">
                <a16:creationId xmlns:a16="http://schemas.microsoft.com/office/drawing/2014/main" id="{0B3F0EF3-E846-7D41-CD3C-6B5EE54AE9FC}"/>
              </a:ext>
            </a:extLst>
          </p:cNvPr>
          <p:cNvSpPr/>
          <p:nvPr/>
        </p:nvSpPr>
        <p:spPr>
          <a:xfrm>
            <a:off x="6913441" y="541692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5" name="Rounded Rectangle 118">
            <a:extLst>
              <a:ext uri="{FF2B5EF4-FFF2-40B4-BE49-F238E27FC236}">
                <a16:creationId xmlns:a16="http://schemas.microsoft.com/office/drawing/2014/main" id="{98BCA55D-8A91-C7AF-5287-BC9DB4E60C46}"/>
              </a:ext>
            </a:extLst>
          </p:cNvPr>
          <p:cNvSpPr/>
          <p:nvPr/>
        </p:nvSpPr>
        <p:spPr>
          <a:xfrm>
            <a:off x="524720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28" name="Rounded Rectangle 118">
            <a:extLst>
              <a:ext uri="{FF2B5EF4-FFF2-40B4-BE49-F238E27FC236}">
                <a16:creationId xmlns:a16="http://schemas.microsoft.com/office/drawing/2014/main" id="{C7C2AA44-0E5F-0612-5EB6-F7C30D5731E2}"/>
              </a:ext>
            </a:extLst>
          </p:cNvPr>
          <p:cNvSpPr/>
          <p:nvPr/>
        </p:nvSpPr>
        <p:spPr>
          <a:xfrm>
            <a:off x="6097805" y="609894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9" name="Rounded Rectangle 118">
            <a:extLst>
              <a:ext uri="{FF2B5EF4-FFF2-40B4-BE49-F238E27FC236}">
                <a16:creationId xmlns:a16="http://schemas.microsoft.com/office/drawing/2014/main" id="{93BC0AAD-F194-47CA-E729-04633763B0F6}"/>
              </a:ext>
            </a:extLst>
          </p:cNvPr>
          <p:cNvSpPr/>
          <p:nvPr/>
        </p:nvSpPr>
        <p:spPr>
          <a:xfrm>
            <a:off x="5254525"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17" name="Rounded Rectangle 118">
            <a:extLst>
              <a:ext uri="{FF2B5EF4-FFF2-40B4-BE49-F238E27FC236}">
                <a16:creationId xmlns:a16="http://schemas.microsoft.com/office/drawing/2014/main" id="{16272D19-8EF0-6950-8788-59302CF29945}"/>
              </a:ext>
            </a:extLst>
          </p:cNvPr>
          <p:cNvSpPr/>
          <p:nvPr/>
        </p:nvSpPr>
        <p:spPr>
          <a:xfrm>
            <a:off x="4415496" y="205805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44" name="Rounded Rectangle 118">
            <a:extLst>
              <a:ext uri="{FF2B5EF4-FFF2-40B4-BE49-F238E27FC236}">
                <a16:creationId xmlns:a16="http://schemas.microsoft.com/office/drawing/2014/main" id="{5BA62701-2B64-6888-6F5A-7A50A6690C76}"/>
              </a:ext>
            </a:extLst>
          </p:cNvPr>
          <p:cNvSpPr/>
          <p:nvPr/>
        </p:nvSpPr>
        <p:spPr>
          <a:xfrm>
            <a:off x="4415496" y="2405973"/>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10" name="Rounded Rectangle 118">
            <a:extLst>
              <a:ext uri="{FF2B5EF4-FFF2-40B4-BE49-F238E27FC236}">
                <a16:creationId xmlns:a16="http://schemas.microsoft.com/office/drawing/2014/main" id="{BC8C6072-7268-7F3B-3E3A-7DF89BEE21A3}"/>
              </a:ext>
            </a:extLst>
          </p:cNvPr>
          <p:cNvSpPr/>
          <p:nvPr/>
        </p:nvSpPr>
        <p:spPr>
          <a:xfrm>
            <a:off x="4415496" y="440645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2" name="Rounded Rectangle 25">
            <a:extLst>
              <a:ext uri="{FF2B5EF4-FFF2-40B4-BE49-F238E27FC236}">
                <a16:creationId xmlns:a16="http://schemas.microsoft.com/office/drawing/2014/main" id="{1AA2EC17-FC39-732E-CDB2-63BF055CB79F}"/>
              </a:ext>
            </a:extLst>
          </p:cNvPr>
          <p:cNvSpPr/>
          <p:nvPr/>
        </p:nvSpPr>
        <p:spPr>
          <a:xfrm>
            <a:off x="279988" y="198530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BRS</a:t>
            </a:r>
            <a:endParaRPr lang="en-US" sz="1000" noProof="0">
              <a:latin typeface="Arial" panose="020B0604020202020204" pitchFamily="34" charset="0"/>
              <a:cs typeface="Arial" panose="020B0604020202020204" pitchFamily="34" charset="0"/>
            </a:endParaRPr>
          </a:p>
        </p:txBody>
      </p:sp>
      <p:sp>
        <p:nvSpPr>
          <p:cNvPr id="29" name="Rounded Rectangle 32">
            <a:extLst>
              <a:ext uri="{FF2B5EF4-FFF2-40B4-BE49-F238E27FC236}">
                <a16:creationId xmlns:a16="http://schemas.microsoft.com/office/drawing/2014/main" id="{E8508DCA-4C54-BD8D-6BE7-58052B5150EF}"/>
              </a:ext>
            </a:extLst>
          </p:cNvPr>
          <p:cNvSpPr/>
          <p:nvPr/>
        </p:nvSpPr>
        <p:spPr>
          <a:xfrm>
            <a:off x="279988" y="2322599"/>
            <a:ext cx="1360264" cy="645750"/>
          </a:xfrm>
          <a:prstGeom prst="roundRect">
            <a:avLst>
              <a:gd name="adj" fmla="val 14921"/>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CX &amp; Digital CoE</a:t>
            </a:r>
          </a:p>
          <a:p>
            <a:pPr algn="ctr"/>
            <a:endParaRPr lang="en-US" sz="1000" b="1" noProof="0">
              <a:solidFill>
                <a:srgbClr val="FFFFFF"/>
              </a:solidFill>
              <a:latin typeface="Arial" panose="020B0604020202020204" pitchFamily="34" charset="0"/>
              <a:cs typeface="Arial" panose="020B0604020202020204" pitchFamily="34" charset="0"/>
            </a:endParaRPr>
          </a:p>
          <a:p>
            <a:pPr algn="ctr"/>
            <a:endParaRPr lang="en-US" sz="1000" b="1" noProof="0">
              <a:solidFill>
                <a:srgbClr val="FFFFFF"/>
              </a:solidFill>
              <a:latin typeface="Arial" panose="020B0604020202020204" pitchFamily="34" charset="0"/>
              <a:cs typeface="Arial" panose="020B0604020202020204" pitchFamily="34" charset="0"/>
            </a:endParaRPr>
          </a:p>
        </p:txBody>
      </p:sp>
      <p:sp>
        <p:nvSpPr>
          <p:cNvPr id="36" name="Rounded Rectangle 39">
            <a:extLst>
              <a:ext uri="{FF2B5EF4-FFF2-40B4-BE49-F238E27FC236}">
                <a16:creationId xmlns:a16="http://schemas.microsoft.com/office/drawing/2014/main" id="{B9C09029-4169-19A2-C8AC-CF3EC133AA43}"/>
              </a:ext>
            </a:extLst>
          </p:cNvPr>
          <p:cNvSpPr/>
          <p:nvPr/>
        </p:nvSpPr>
        <p:spPr>
          <a:xfrm>
            <a:off x="281277" y="2998472"/>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Infrastructure</a:t>
            </a:r>
          </a:p>
        </p:txBody>
      </p:sp>
      <p:sp>
        <p:nvSpPr>
          <p:cNvPr id="49" name="Rounded Rectangle 52">
            <a:extLst>
              <a:ext uri="{FF2B5EF4-FFF2-40B4-BE49-F238E27FC236}">
                <a16:creationId xmlns:a16="http://schemas.microsoft.com/office/drawing/2014/main" id="{5D9AE0D9-5440-A468-049B-2FBF044715D7}"/>
              </a:ext>
            </a:extLst>
          </p:cNvPr>
          <p:cNvSpPr/>
          <p:nvPr/>
        </p:nvSpPr>
        <p:spPr>
          <a:xfrm>
            <a:off x="279988" y="333577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IA</a:t>
            </a:r>
            <a:endParaRPr lang="en-US" sz="1000" noProof="0">
              <a:latin typeface="Arial" panose="020B0604020202020204" pitchFamily="34" charset="0"/>
              <a:cs typeface="Arial" panose="020B0604020202020204" pitchFamily="34" charset="0"/>
            </a:endParaRPr>
          </a:p>
        </p:txBody>
      </p:sp>
      <p:sp>
        <p:nvSpPr>
          <p:cNvPr id="55" name="Rounded Rectangle 58">
            <a:extLst>
              <a:ext uri="{FF2B5EF4-FFF2-40B4-BE49-F238E27FC236}">
                <a16:creationId xmlns:a16="http://schemas.microsoft.com/office/drawing/2014/main" id="{7DC86C5D-7A82-03C5-7381-FA4C2A7EF6EF}"/>
              </a:ext>
            </a:extLst>
          </p:cNvPr>
          <p:cNvSpPr/>
          <p:nvPr/>
        </p:nvSpPr>
        <p:spPr>
          <a:xfrm>
            <a:off x="279988" y="3673070"/>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OT</a:t>
            </a:r>
            <a:endParaRPr lang="en-US" sz="1000" noProof="0">
              <a:latin typeface="Arial" panose="020B0604020202020204" pitchFamily="34" charset="0"/>
              <a:cs typeface="Arial" panose="020B0604020202020204" pitchFamily="34" charset="0"/>
            </a:endParaRPr>
          </a:p>
        </p:txBody>
      </p:sp>
      <p:sp>
        <p:nvSpPr>
          <p:cNvPr id="61" name="Rounded Rectangle 64">
            <a:extLst>
              <a:ext uri="{FF2B5EF4-FFF2-40B4-BE49-F238E27FC236}">
                <a16:creationId xmlns:a16="http://schemas.microsoft.com/office/drawing/2014/main" id="{FF57D6AF-B979-428B-99ED-054082B924D8}"/>
              </a:ext>
            </a:extLst>
          </p:cNvPr>
          <p:cNvSpPr/>
          <p:nvPr/>
        </p:nvSpPr>
        <p:spPr>
          <a:xfrm>
            <a:off x="279988" y="4010369"/>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Procurement</a:t>
            </a:r>
          </a:p>
        </p:txBody>
      </p:sp>
      <p:sp>
        <p:nvSpPr>
          <p:cNvPr id="67" name="Rounded Rectangle 70">
            <a:extLst>
              <a:ext uri="{FF2B5EF4-FFF2-40B4-BE49-F238E27FC236}">
                <a16:creationId xmlns:a16="http://schemas.microsoft.com/office/drawing/2014/main" id="{D4F2EDD5-E2F7-5099-86A6-ABCF3AA79C7C}"/>
              </a:ext>
            </a:extLst>
          </p:cNvPr>
          <p:cNvSpPr/>
          <p:nvPr/>
        </p:nvSpPr>
        <p:spPr>
          <a:xfrm>
            <a:off x="279988" y="4347667"/>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Regulatory</a:t>
            </a:r>
          </a:p>
        </p:txBody>
      </p:sp>
      <p:sp>
        <p:nvSpPr>
          <p:cNvPr id="74" name="Rounded Rectangle 77">
            <a:extLst>
              <a:ext uri="{FF2B5EF4-FFF2-40B4-BE49-F238E27FC236}">
                <a16:creationId xmlns:a16="http://schemas.microsoft.com/office/drawing/2014/main" id="{5A6F352A-6024-EA32-3CC7-D3EBF4F8AB9B}"/>
              </a:ext>
            </a:extLst>
          </p:cNvPr>
          <p:cNvSpPr/>
          <p:nvPr/>
        </p:nvSpPr>
        <p:spPr>
          <a:xfrm>
            <a:off x="269828" y="5012073"/>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Corporate Areas</a:t>
            </a:r>
          </a:p>
        </p:txBody>
      </p:sp>
      <p:sp>
        <p:nvSpPr>
          <p:cNvPr id="90" name="Rounded Rectangle 91">
            <a:extLst>
              <a:ext uri="{FF2B5EF4-FFF2-40B4-BE49-F238E27FC236}">
                <a16:creationId xmlns:a16="http://schemas.microsoft.com/office/drawing/2014/main" id="{353DB387-3A80-D11C-5F4C-8F7C9336967F}"/>
              </a:ext>
            </a:extLst>
          </p:cNvPr>
          <p:cNvSpPr/>
          <p:nvPr/>
        </p:nvSpPr>
        <p:spPr>
          <a:xfrm>
            <a:off x="269828" y="5358135"/>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(GIS)</a:t>
            </a:r>
            <a:endParaRPr lang="en-US" sz="1000" noProof="0">
              <a:latin typeface="Arial" panose="020B0604020202020204" pitchFamily="34" charset="0"/>
              <a:cs typeface="Arial" panose="020B0604020202020204" pitchFamily="34" charset="0"/>
            </a:endParaRPr>
          </a:p>
        </p:txBody>
      </p:sp>
      <p:sp>
        <p:nvSpPr>
          <p:cNvPr id="81" name="Rounded Rectangle 25">
            <a:extLst>
              <a:ext uri="{FF2B5EF4-FFF2-40B4-BE49-F238E27FC236}">
                <a16:creationId xmlns:a16="http://schemas.microsoft.com/office/drawing/2014/main" id="{83111A64-9A50-258F-C134-9B9DA40A1500}"/>
              </a:ext>
            </a:extLst>
          </p:cNvPr>
          <p:cNvSpPr/>
          <p:nvPr/>
        </p:nvSpPr>
        <p:spPr>
          <a:xfrm>
            <a:off x="4338329" y="198529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Rounded Rectangle 25">
            <a:extLst>
              <a:ext uri="{FF2B5EF4-FFF2-40B4-BE49-F238E27FC236}">
                <a16:creationId xmlns:a16="http://schemas.microsoft.com/office/drawing/2014/main" id="{88C24997-1FA8-6D70-78D1-155752FB2779}"/>
              </a:ext>
            </a:extLst>
          </p:cNvPr>
          <p:cNvSpPr/>
          <p:nvPr/>
        </p:nvSpPr>
        <p:spPr>
          <a:xfrm>
            <a:off x="4338329" y="2333220"/>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8" name="Rounded Rectangle 25">
            <a:extLst>
              <a:ext uri="{FF2B5EF4-FFF2-40B4-BE49-F238E27FC236}">
                <a16:creationId xmlns:a16="http://schemas.microsoft.com/office/drawing/2014/main" id="{DEE07BBF-9710-A445-47E7-1B12CC991176}"/>
              </a:ext>
            </a:extLst>
          </p:cNvPr>
          <p:cNvSpPr/>
          <p:nvPr/>
        </p:nvSpPr>
        <p:spPr>
          <a:xfrm>
            <a:off x="4339618" y="3001636"/>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2" name="Rounded Rectangle 25">
            <a:extLst>
              <a:ext uri="{FF2B5EF4-FFF2-40B4-BE49-F238E27FC236}">
                <a16:creationId xmlns:a16="http://schemas.microsoft.com/office/drawing/2014/main" id="{05D76D14-ADFF-418B-828C-CD3368FCA2C2}"/>
              </a:ext>
            </a:extLst>
          </p:cNvPr>
          <p:cNvSpPr/>
          <p:nvPr/>
        </p:nvSpPr>
        <p:spPr>
          <a:xfrm>
            <a:off x="4338329" y="26726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4" name="Rounded Rectangle 25">
            <a:extLst>
              <a:ext uri="{FF2B5EF4-FFF2-40B4-BE49-F238E27FC236}">
                <a16:creationId xmlns:a16="http://schemas.microsoft.com/office/drawing/2014/main" id="{79A76BC0-9A74-A1F5-C552-8A380382DFB2}"/>
              </a:ext>
            </a:extLst>
          </p:cNvPr>
          <p:cNvSpPr/>
          <p:nvPr/>
        </p:nvSpPr>
        <p:spPr>
          <a:xfrm>
            <a:off x="4338329" y="33352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6" name="Rounded Rectangle 25">
            <a:extLst>
              <a:ext uri="{FF2B5EF4-FFF2-40B4-BE49-F238E27FC236}">
                <a16:creationId xmlns:a16="http://schemas.microsoft.com/office/drawing/2014/main" id="{57BE90D9-1BDB-9341-D711-FA83659EE71F}"/>
              </a:ext>
            </a:extLst>
          </p:cNvPr>
          <p:cNvSpPr/>
          <p:nvPr/>
        </p:nvSpPr>
        <p:spPr>
          <a:xfrm>
            <a:off x="4338329" y="367270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3" name="Rounded Rectangle 25">
            <a:extLst>
              <a:ext uri="{FF2B5EF4-FFF2-40B4-BE49-F238E27FC236}">
                <a16:creationId xmlns:a16="http://schemas.microsoft.com/office/drawing/2014/main" id="{227BF638-A94C-BF57-71C7-887A51B3EF8D}"/>
              </a:ext>
            </a:extLst>
          </p:cNvPr>
          <p:cNvSpPr/>
          <p:nvPr/>
        </p:nvSpPr>
        <p:spPr>
          <a:xfrm>
            <a:off x="4338329" y="401018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4" name="Rounded Rectangle 25">
            <a:extLst>
              <a:ext uri="{FF2B5EF4-FFF2-40B4-BE49-F238E27FC236}">
                <a16:creationId xmlns:a16="http://schemas.microsoft.com/office/drawing/2014/main" id="{EEF6C0A9-2AA1-156C-1673-57E8863F75DF}"/>
              </a:ext>
            </a:extLst>
          </p:cNvPr>
          <p:cNvSpPr/>
          <p:nvPr/>
        </p:nvSpPr>
        <p:spPr>
          <a:xfrm>
            <a:off x="4326754" y="501207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6" name="Rounded Rectangle 25">
            <a:extLst>
              <a:ext uri="{FF2B5EF4-FFF2-40B4-BE49-F238E27FC236}">
                <a16:creationId xmlns:a16="http://schemas.microsoft.com/office/drawing/2014/main" id="{C52C1908-7292-CB22-9FF5-9BED6FE278A2}"/>
              </a:ext>
            </a:extLst>
          </p:cNvPr>
          <p:cNvSpPr/>
          <p:nvPr/>
        </p:nvSpPr>
        <p:spPr>
          <a:xfrm>
            <a:off x="4326754" y="535813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9" name="Rounded Rectangle 25">
            <a:extLst>
              <a:ext uri="{FF2B5EF4-FFF2-40B4-BE49-F238E27FC236}">
                <a16:creationId xmlns:a16="http://schemas.microsoft.com/office/drawing/2014/main" id="{935ED177-4DFD-3EE7-D196-3E4AE25EA981}"/>
              </a:ext>
            </a:extLst>
          </p:cNvPr>
          <p:cNvSpPr/>
          <p:nvPr/>
        </p:nvSpPr>
        <p:spPr>
          <a:xfrm>
            <a:off x="4338329" y="434766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8" name="Rounded Rectangle 91">
            <a:extLst>
              <a:ext uri="{FF2B5EF4-FFF2-40B4-BE49-F238E27FC236}">
                <a16:creationId xmlns:a16="http://schemas.microsoft.com/office/drawing/2014/main" id="{BA4711BC-6985-0DDE-577E-32D0C03D558C}"/>
              </a:ext>
            </a:extLst>
          </p:cNvPr>
          <p:cNvSpPr/>
          <p:nvPr/>
        </p:nvSpPr>
        <p:spPr>
          <a:xfrm>
            <a:off x="269828" y="5703185"/>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(Global SAP)</a:t>
            </a:r>
          </a:p>
        </p:txBody>
      </p:sp>
      <p:sp>
        <p:nvSpPr>
          <p:cNvPr id="4120" name="Rounded Rectangle 25">
            <a:extLst>
              <a:ext uri="{FF2B5EF4-FFF2-40B4-BE49-F238E27FC236}">
                <a16:creationId xmlns:a16="http://schemas.microsoft.com/office/drawing/2014/main" id="{26D6A930-4FD5-50D9-AF88-85E4C55A6459}"/>
              </a:ext>
            </a:extLst>
          </p:cNvPr>
          <p:cNvSpPr/>
          <p:nvPr/>
        </p:nvSpPr>
        <p:spPr>
          <a:xfrm>
            <a:off x="4326754" y="570318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2" name="Rounded Rectangle 118">
            <a:extLst>
              <a:ext uri="{FF2B5EF4-FFF2-40B4-BE49-F238E27FC236}">
                <a16:creationId xmlns:a16="http://schemas.microsoft.com/office/drawing/2014/main" id="{731D6A16-D1D6-6785-42BC-81D7BF4E624E}"/>
              </a:ext>
            </a:extLst>
          </p:cNvPr>
          <p:cNvSpPr/>
          <p:nvPr/>
        </p:nvSpPr>
        <p:spPr>
          <a:xfrm>
            <a:off x="4403921" y="576197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26" name="Rounded Rectangle 118">
            <a:extLst>
              <a:ext uri="{FF2B5EF4-FFF2-40B4-BE49-F238E27FC236}">
                <a16:creationId xmlns:a16="http://schemas.microsoft.com/office/drawing/2014/main" id="{9CF6FC4A-28CF-F655-1E25-3868921469F3}"/>
              </a:ext>
            </a:extLst>
          </p:cNvPr>
          <p:cNvSpPr/>
          <p:nvPr/>
        </p:nvSpPr>
        <p:spPr>
          <a:xfrm>
            <a:off x="440392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37" name="Rounded Rectangle 91">
            <a:extLst>
              <a:ext uri="{FF2B5EF4-FFF2-40B4-BE49-F238E27FC236}">
                <a16:creationId xmlns:a16="http://schemas.microsoft.com/office/drawing/2014/main" id="{ED3C8A53-5E35-416C-0026-77EC373C24C0}"/>
              </a:ext>
            </a:extLst>
          </p:cNvPr>
          <p:cNvSpPr/>
          <p:nvPr/>
        </p:nvSpPr>
        <p:spPr>
          <a:xfrm>
            <a:off x="269828" y="6040149"/>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Gas &amp; Electric Operations</a:t>
            </a:r>
          </a:p>
        </p:txBody>
      </p:sp>
      <p:sp>
        <p:nvSpPr>
          <p:cNvPr id="4139" name="Rounded Rectangle 25">
            <a:extLst>
              <a:ext uri="{FF2B5EF4-FFF2-40B4-BE49-F238E27FC236}">
                <a16:creationId xmlns:a16="http://schemas.microsoft.com/office/drawing/2014/main" id="{709CD305-A7A2-1AEB-77C0-B00CCAA31F28}"/>
              </a:ext>
            </a:extLst>
          </p:cNvPr>
          <p:cNvSpPr/>
          <p:nvPr/>
        </p:nvSpPr>
        <p:spPr>
          <a:xfrm>
            <a:off x="4326754" y="604014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45" name="Rounded Rectangle 118">
            <a:extLst>
              <a:ext uri="{FF2B5EF4-FFF2-40B4-BE49-F238E27FC236}">
                <a16:creationId xmlns:a16="http://schemas.microsoft.com/office/drawing/2014/main" id="{ACA5544C-4589-F4BF-3A28-6B2BB360C5B9}"/>
              </a:ext>
            </a:extLst>
          </p:cNvPr>
          <p:cNvSpPr/>
          <p:nvPr/>
        </p:nvSpPr>
        <p:spPr>
          <a:xfrm>
            <a:off x="440392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1" name="Rounded Rectangle 118">
            <a:extLst>
              <a:ext uri="{FF2B5EF4-FFF2-40B4-BE49-F238E27FC236}">
                <a16:creationId xmlns:a16="http://schemas.microsoft.com/office/drawing/2014/main" id="{27E3D399-72C5-A461-277C-EBB87FCE4160}"/>
              </a:ext>
            </a:extLst>
          </p:cNvPr>
          <p:cNvSpPr/>
          <p:nvPr/>
        </p:nvSpPr>
        <p:spPr>
          <a:xfrm>
            <a:off x="4415496" y="33889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152" name="Rounded Rectangle 118">
            <a:extLst>
              <a:ext uri="{FF2B5EF4-FFF2-40B4-BE49-F238E27FC236}">
                <a16:creationId xmlns:a16="http://schemas.microsoft.com/office/drawing/2014/main" id="{9194C177-15A9-39BF-D09E-C95C2AE0768A}"/>
              </a:ext>
            </a:extLst>
          </p:cNvPr>
          <p:cNvSpPr/>
          <p:nvPr/>
        </p:nvSpPr>
        <p:spPr>
          <a:xfrm>
            <a:off x="5258776" y="338899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53" name="Rounded Rectangle 118">
            <a:extLst>
              <a:ext uri="{FF2B5EF4-FFF2-40B4-BE49-F238E27FC236}">
                <a16:creationId xmlns:a16="http://schemas.microsoft.com/office/drawing/2014/main" id="{1536A24D-C132-57F1-3039-A86847B3DD81}"/>
              </a:ext>
            </a:extLst>
          </p:cNvPr>
          <p:cNvSpPr/>
          <p:nvPr/>
        </p:nvSpPr>
        <p:spPr>
          <a:xfrm>
            <a:off x="4415496" y="374545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4" name="Rounded Rectangle 118">
            <a:extLst>
              <a:ext uri="{FF2B5EF4-FFF2-40B4-BE49-F238E27FC236}">
                <a16:creationId xmlns:a16="http://schemas.microsoft.com/office/drawing/2014/main" id="{1FFAF093-0999-AFE7-616F-AAF1BB3AA8B4}"/>
              </a:ext>
            </a:extLst>
          </p:cNvPr>
          <p:cNvSpPr/>
          <p:nvPr/>
        </p:nvSpPr>
        <p:spPr>
          <a:xfrm>
            <a:off x="4415496" y="4069703"/>
            <a:ext cx="738103" cy="188135"/>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5" name="Rounded Rectangle 118">
            <a:extLst>
              <a:ext uri="{FF2B5EF4-FFF2-40B4-BE49-F238E27FC236}">
                <a16:creationId xmlns:a16="http://schemas.microsoft.com/office/drawing/2014/main" id="{DE82CA0D-E102-D3C2-C5B2-9567D35873FB}"/>
              </a:ext>
            </a:extLst>
          </p:cNvPr>
          <p:cNvSpPr/>
          <p:nvPr/>
        </p:nvSpPr>
        <p:spPr>
          <a:xfrm>
            <a:off x="5233497" y="576197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7" name="Rounded Rectangle 118">
            <a:extLst>
              <a:ext uri="{FF2B5EF4-FFF2-40B4-BE49-F238E27FC236}">
                <a16:creationId xmlns:a16="http://schemas.microsoft.com/office/drawing/2014/main" id="{E6987123-BBC5-75BB-7A0C-91F5D08468CA}"/>
              </a:ext>
            </a:extLst>
          </p:cNvPr>
          <p:cNvSpPr/>
          <p:nvPr/>
        </p:nvSpPr>
        <p:spPr>
          <a:xfrm>
            <a:off x="4403921"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9" name="Rounded Rectangle 118">
            <a:extLst>
              <a:ext uri="{FF2B5EF4-FFF2-40B4-BE49-F238E27FC236}">
                <a16:creationId xmlns:a16="http://schemas.microsoft.com/office/drawing/2014/main" id="{F109914C-239D-3483-B2B7-370320C38694}"/>
              </a:ext>
            </a:extLst>
          </p:cNvPr>
          <p:cNvSpPr/>
          <p:nvPr/>
        </p:nvSpPr>
        <p:spPr>
          <a:xfrm>
            <a:off x="5258776" y="440645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19" name="Rectangle 22">
            <a:extLst>
              <a:ext uri="{FF2B5EF4-FFF2-40B4-BE49-F238E27FC236}">
                <a16:creationId xmlns:a16="http://schemas.microsoft.com/office/drawing/2014/main" id="{3226A47B-BDCB-BA77-6CD5-DDE4C4D08CE1}"/>
              </a:ext>
            </a:extLst>
          </p:cNvPr>
          <p:cNvSpPr/>
          <p:nvPr/>
        </p:nvSpPr>
        <p:spPr>
          <a:xfrm>
            <a:off x="1847979" y="1224617"/>
            <a:ext cx="2301385" cy="3842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23">
            <a:extLst>
              <a:ext uri="{FF2B5EF4-FFF2-40B4-BE49-F238E27FC236}">
                <a16:creationId xmlns:a16="http://schemas.microsoft.com/office/drawing/2014/main" id="{6FB1AEE6-6B89-1BBC-B818-BD5243C84B4E}"/>
              </a:ext>
            </a:extLst>
          </p:cNvPr>
          <p:cNvSpPr txBox="1"/>
          <p:nvPr/>
        </p:nvSpPr>
        <p:spPr>
          <a:xfrm>
            <a:off x="2357752" y="1302867"/>
            <a:ext cx="128183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RECIPIENT</a:t>
            </a:r>
          </a:p>
        </p:txBody>
      </p:sp>
      <p:sp>
        <p:nvSpPr>
          <p:cNvPr id="21" name="TextBox 24">
            <a:extLst>
              <a:ext uri="{FF2B5EF4-FFF2-40B4-BE49-F238E27FC236}">
                <a16:creationId xmlns:a16="http://schemas.microsoft.com/office/drawing/2014/main" id="{F20C36F1-C34C-58E3-54AE-2634393DD0D6}"/>
              </a:ext>
            </a:extLst>
          </p:cNvPr>
          <p:cNvSpPr txBox="1"/>
          <p:nvPr/>
        </p:nvSpPr>
        <p:spPr>
          <a:xfrm>
            <a:off x="2307551" y="1590377"/>
            <a:ext cx="138224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resolves it</a:t>
            </a:r>
          </a:p>
        </p:txBody>
      </p:sp>
      <p:sp>
        <p:nvSpPr>
          <p:cNvPr id="114" name="Rectangle 115">
            <a:extLst>
              <a:ext uri="{FF2B5EF4-FFF2-40B4-BE49-F238E27FC236}">
                <a16:creationId xmlns:a16="http://schemas.microsoft.com/office/drawing/2014/main" id="{2F1A92A6-4071-3C1E-5CBB-69EA5628269A}"/>
              </a:ext>
            </a:extLst>
          </p:cNvPr>
          <p:cNvSpPr/>
          <p:nvPr/>
        </p:nvSpPr>
        <p:spPr>
          <a:xfrm>
            <a:off x="1869316" y="4734046"/>
            <a:ext cx="2258711" cy="1713053"/>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IT BUSINESS APPLICATIONS</a:t>
            </a:r>
          </a:p>
        </p:txBody>
      </p:sp>
      <p:sp>
        <p:nvSpPr>
          <p:cNvPr id="124" name="Rectangle 125">
            <a:extLst>
              <a:ext uri="{FF2B5EF4-FFF2-40B4-BE49-F238E27FC236}">
                <a16:creationId xmlns:a16="http://schemas.microsoft.com/office/drawing/2014/main" id="{B8EFA72D-53FC-453A-47F2-A8C22CBE0711}"/>
              </a:ext>
            </a:extLst>
          </p:cNvPr>
          <p:cNvSpPr/>
          <p:nvPr/>
        </p:nvSpPr>
        <p:spPr>
          <a:xfrm>
            <a:off x="1869316" y="1782502"/>
            <a:ext cx="2258711" cy="2882095"/>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CUSTOMER SERVICES APPS</a:t>
            </a:r>
          </a:p>
        </p:txBody>
      </p:sp>
      <p:sp>
        <p:nvSpPr>
          <p:cNvPr id="45" name="Rectángulo: esquinas redondeadas 44">
            <a:extLst>
              <a:ext uri="{FF2B5EF4-FFF2-40B4-BE49-F238E27FC236}">
                <a16:creationId xmlns:a16="http://schemas.microsoft.com/office/drawing/2014/main" id="{45A89B08-C455-5E07-1BC9-4E2BD524A1E8}"/>
              </a:ext>
            </a:extLst>
          </p:cNvPr>
          <p:cNvSpPr/>
          <p:nvPr/>
        </p:nvSpPr>
        <p:spPr>
          <a:xfrm>
            <a:off x="2057384" y="572907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Global SAP</a:t>
            </a:r>
          </a:p>
        </p:txBody>
      </p:sp>
      <p:sp>
        <p:nvSpPr>
          <p:cNvPr id="46" name="Rectángulo: esquinas redondeadas 45">
            <a:extLst>
              <a:ext uri="{FF2B5EF4-FFF2-40B4-BE49-F238E27FC236}">
                <a16:creationId xmlns:a16="http://schemas.microsoft.com/office/drawing/2014/main" id="{E1F83556-781B-76EE-AB8D-16F57075534B}"/>
              </a:ext>
            </a:extLst>
          </p:cNvPr>
          <p:cNvSpPr/>
          <p:nvPr/>
        </p:nvSpPr>
        <p:spPr>
          <a:xfrm>
            <a:off x="2057384" y="6066042"/>
            <a:ext cx="1882575"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G&amp;E</a:t>
            </a:r>
          </a:p>
        </p:txBody>
      </p:sp>
      <p:sp>
        <p:nvSpPr>
          <p:cNvPr id="47" name="Rectángulo: esquinas redondeadas 46">
            <a:extLst>
              <a:ext uri="{FF2B5EF4-FFF2-40B4-BE49-F238E27FC236}">
                <a16:creationId xmlns:a16="http://schemas.microsoft.com/office/drawing/2014/main" id="{D6683843-94C9-63A1-D5F5-727928774584}"/>
              </a:ext>
            </a:extLst>
          </p:cNvPr>
          <p:cNvSpPr/>
          <p:nvPr/>
        </p:nvSpPr>
        <p:spPr>
          <a:xfrm>
            <a:off x="2057384" y="503796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Corporate</a:t>
            </a:r>
          </a:p>
        </p:txBody>
      </p:sp>
      <p:sp>
        <p:nvSpPr>
          <p:cNvPr id="50" name="CuadroTexto 49">
            <a:extLst>
              <a:ext uri="{FF2B5EF4-FFF2-40B4-BE49-F238E27FC236}">
                <a16:creationId xmlns:a16="http://schemas.microsoft.com/office/drawing/2014/main" id="{CB37FDA9-7277-CAF1-068C-9457C5E382D7}"/>
              </a:ext>
            </a:extLst>
          </p:cNvPr>
          <p:cNvSpPr txBox="1"/>
          <p:nvPr/>
        </p:nvSpPr>
        <p:spPr>
          <a:xfrm>
            <a:off x="337595" y="2675605"/>
            <a:ext cx="1238954"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Data &amp; Analytics </a:t>
            </a:r>
          </a:p>
        </p:txBody>
      </p:sp>
      <p:sp>
        <p:nvSpPr>
          <p:cNvPr id="52" name="Rectangle 19">
            <a:extLst>
              <a:ext uri="{FF2B5EF4-FFF2-40B4-BE49-F238E27FC236}">
                <a16:creationId xmlns:a16="http://schemas.microsoft.com/office/drawing/2014/main" id="{1A2C8A3C-BD46-C597-1FD4-B4002418F86E}"/>
              </a:ext>
            </a:extLst>
          </p:cNvPr>
          <p:cNvSpPr/>
          <p:nvPr/>
        </p:nvSpPr>
        <p:spPr>
          <a:xfrm>
            <a:off x="8847771" y="1752743"/>
            <a:ext cx="3102022" cy="459018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Rounded Rectangle 25">
            <a:extLst>
              <a:ext uri="{FF2B5EF4-FFF2-40B4-BE49-F238E27FC236}">
                <a16:creationId xmlns:a16="http://schemas.microsoft.com/office/drawing/2014/main" id="{E7D9CAE0-BBC3-7941-C648-E0682247C5D6}"/>
              </a:ext>
            </a:extLst>
          </p:cNvPr>
          <p:cNvSpPr/>
          <p:nvPr/>
        </p:nvSpPr>
        <p:spPr>
          <a:xfrm>
            <a:off x="8955164" y="3775581"/>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REGULATORY</a:t>
            </a:r>
          </a:p>
        </p:txBody>
      </p:sp>
      <p:sp>
        <p:nvSpPr>
          <p:cNvPr id="54" name="Rounded Rectangle 25">
            <a:extLst>
              <a:ext uri="{FF2B5EF4-FFF2-40B4-BE49-F238E27FC236}">
                <a16:creationId xmlns:a16="http://schemas.microsoft.com/office/drawing/2014/main" id="{A8FC4FE6-20FB-240E-4BCE-959ABDB191E5}"/>
              </a:ext>
            </a:extLst>
          </p:cNvPr>
          <p:cNvSpPr/>
          <p:nvPr/>
        </p:nvSpPr>
        <p:spPr>
          <a:xfrm>
            <a:off x="8955164" y="4767803"/>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NON-REGULATORY</a:t>
            </a:r>
          </a:p>
        </p:txBody>
      </p:sp>
      <p:sp>
        <p:nvSpPr>
          <p:cNvPr id="56" name="Rounded Rectangle 25">
            <a:extLst>
              <a:ext uri="{FF2B5EF4-FFF2-40B4-BE49-F238E27FC236}">
                <a16:creationId xmlns:a16="http://schemas.microsoft.com/office/drawing/2014/main" id="{632A7FD2-560B-23BC-C03A-35A70803198D}"/>
              </a:ext>
            </a:extLst>
          </p:cNvPr>
          <p:cNvSpPr/>
          <p:nvPr/>
        </p:nvSpPr>
        <p:spPr>
          <a:xfrm>
            <a:off x="8955164" y="2783360"/>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PRODUCTION SUPPORT</a:t>
            </a:r>
          </a:p>
        </p:txBody>
      </p:sp>
      <p:grpSp>
        <p:nvGrpSpPr>
          <p:cNvPr id="57" name="Grupo 56">
            <a:extLst>
              <a:ext uri="{FF2B5EF4-FFF2-40B4-BE49-F238E27FC236}">
                <a16:creationId xmlns:a16="http://schemas.microsoft.com/office/drawing/2014/main" id="{6A0B70D3-71D0-E1FE-8037-0B6A141D1E6D}"/>
              </a:ext>
            </a:extLst>
          </p:cNvPr>
          <p:cNvGrpSpPr/>
          <p:nvPr/>
        </p:nvGrpSpPr>
        <p:grpSpPr>
          <a:xfrm>
            <a:off x="11049713" y="2701397"/>
            <a:ext cx="733163" cy="3077262"/>
            <a:chOff x="8478779" y="4086265"/>
            <a:chExt cx="733163" cy="736672"/>
          </a:xfrm>
        </p:grpSpPr>
        <p:sp>
          <p:nvSpPr>
            <p:cNvPr id="58" name="Rounded Rectangle 7">
              <a:extLst>
                <a:ext uri="{FF2B5EF4-FFF2-40B4-BE49-F238E27FC236}">
                  <a16:creationId xmlns:a16="http://schemas.microsoft.com/office/drawing/2014/main" id="{27B2CBCF-3ED6-1B89-C990-1CB454B161CC}"/>
                </a:ext>
              </a:extLst>
            </p:cNvPr>
            <p:cNvSpPr/>
            <p:nvPr/>
          </p:nvSpPr>
          <p:spPr>
            <a:xfrm rot="16200000">
              <a:off x="8329544" y="4472534"/>
              <a:ext cx="499638"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59" name="Rounded Rectangle 9">
              <a:extLst>
                <a:ext uri="{FF2B5EF4-FFF2-40B4-BE49-F238E27FC236}">
                  <a16:creationId xmlns:a16="http://schemas.microsoft.com/office/drawing/2014/main" id="{F7345EB2-418A-EAD7-4450-DDF23EAA148D}"/>
                </a:ext>
              </a:extLst>
            </p:cNvPr>
            <p:cNvSpPr/>
            <p:nvPr/>
          </p:nvSpPr>
          <p:spPr>
            <a:xfrm rot="16200000">
              <a:off x="8479601" y="4351441"/>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60" name="Rounded Rectangle 11">
              <a:extLst>
                <a:ext uri="{FF2B5EF4-FFF2-40B4-BE49-F238E27FC236}">
                  <a16:creationId xmlns:a16="http://schemas.microsoft.com/office/drawing/2014/main" id="{8EFDC65D-83E8-EBA0-2B05-CE172E118E0F}"/>
                </a:ext>
              </a:extLst>
            </p:cNvPr>
            <p:cNvSpPr/>
            <p:nvPr/>
          </p:nvSpPr>
          <p:spPr>
            <a:xfrm rot="16200000">
              <a:off x="8745598" y="4351441"/>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sp>
        <p:nvSpPr>
          <p:cNvPr id="62" name="CuadroTexto 61">
            <a:extLst>
              <a:ext uri="{FF2B5EF4-FFF2-40B4-BE49-F238E27FC236}">
                <a16:creationId xmlns:a16="http://schemas.microsoft.com/office/drawing/2014/main" id="{DF77CFBB-00E7-AF23-F5ED-1C7D2F135D32}"/>
              </a:ext>
            </a:extLst>
          </p:cNvPr>
          <p:cNvSpPr txBox="1"/>
          <p:nvPr/>
        </p:nvSpPr>
        <p:spPr>
          <a:xfrm>
            <a:off x="9011315" y="3048456"/>
            <a:ext cx="2234917"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Operational activities required to maintain system stability, resolve incidents, and ensure continuous service availability.</a:t>
            </a:r>
          </a:p>
        </p:txBody>
      </p:sp>
      <p:sp>
        <p:nvSpPr>
          <p:cNvPr id="63" name="CuadroTexto 62">
            <a:extLst>
              <a:ext uri="{FF2B5EF4-FFF2-40B4-BE49-F238E27FC236}">
                <a16:creationId xmlns:a16="http://schemas.microsoft.com/office/drawing/2014/main" id="{36EE9673-EED0-0BC0-F1F4-3671DAF07C5C}"/>
              </a:ext>
            </a:extLst>
          </p:cNvPr>
          <p:cNvSpPr txBox="1"/>
          <p:nvPr/>
        </p:nvSpPr>
        <p:spPr>
          <a:xfrm>
            <a:off x="9011315" y="4040677"/>
            <a:ext cx="1744890"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Mandatory initiatives driven by external regulations with fixed deadlines and non-negotiable scope.</a:t>
            </a:r>
          </a:p>
        </p:txBody>
      </p:sp>
      <p:sp>
        <p:nvSpPr>
          <p:cNvPr id="64" name="CuadroTexto 63">
            <a:extLst>
              <a:ext uri="{FF2B5EF4-FFF2-40B4-BE49-F238E27FC236}">
                <a16:creationId xmlns:a16="http://schemas.microsoft.com/office/drawing/2014/main" id="{9FF1C941-2F63-26F5-19F3-FE4933F1311B}"/>
              </a:ext>
            </a:extLst>
          </p:cNvPr>
          <p:cNvSpPr txBox="1"/>
          <p:nvPr/>
        </p:nvSpPr>
        <p:spPr>
          <a:xfrm>
            <a:off x="9011315" y="5040314"/>
            <a:ext cx="2031743" cy="646331"/>
          </a:xfrm>
          <a:prstGeom prst="rect">
            <a:avLst/>
          </a:prstGeom>
          <a:noFill/>
        </p:spPr>
        <p:txBody>
          <a:bodyPr wrap="square">
            <a:spAutoFit/>
          </a:bodyPr>
          <a:lstStyle>
            <a:defPPr>
              <a:defRPr lang="en-US"/>
            </a:defPPr>
            <a:lvl1pPr>
              <a:defRPr sz="900">
                <a:latin typeface="Arial" panose="020B0604020202020204" pitchFamily="34" charset="0"/>
                <a:cs typeface="Arial" panose="020B0604020202020204" pitchFamily="34" charset="0"/>
              </a:defRPr>
            </a:lvl1pPr>
          </a:lstStyle>
          <a:p>
            <a:r>
              <a:rPr lang="en-US" noProof="0"/>
              <a:t>Business-driven initiatives aimed at enhancing capabilities, improving performance, or delivering incremental business value</a:t>
            </a:r>
          </a:p>
        </p:txBody>
      </p:sp>
      <p:sp>
        <p:nvSpPr>
          <p:cNvPr id="65" name="TextBox 21">
            <a:extLst>
              <a:ext uri="{FF2B5EF4-FFF2-40B4-BE49-F238E27FC236}">
                <a16:creationId xmlns:a16="http://schemas.microsoft.com/office/drawing/2014/main" id="{F6C1547B-0D8C-E62B-6BFC-66DE4430401F}"/>
              </a:ext>
            </a:extLst>
          </p:cNvPr>
          <p:cNvSpPr txBox="1"/>
          <p:nvPr/>
        </p:nvSpPr>
        <p:spPr>
          <a:xfrm>
            <a:off x="8863985" y="1910978"/>
            <a:ext cx="3102022" cy="652486"/>
          </a:xfrm>
          <a:prstGeom prst="rect">
            <a:avLst/>
          </a:prstGeom>
          <a:noFill/>
        </p:spPr>
        <p:txBody>
          <a:bodyPr wrap="square" lIns="45720" tIns="18288" rIns="45720" bIns="18288" anchor="t">
            <a:spAutoFit/>
          </a:bodyPr>
          <a:lstStyle/>
          <a:p>
            <a:pPr algn="ctr"/>
            <a:r>
              <a:rPr lang="en-US" sz="1000" b="0" i="1" noProof="0">
                <a:solidFill>
                  <a:schemeClr val="bg1"/>
                </a:solidFill>
                <a:latin typeface="Arial" panose="020B0604020202020204" pitchFamily="34" charset="0"/>
                <a:cs typeface="Arial" panose="020B0604020202020204" pitchFamily="34" charset="0"/>
              </a:rPr>
              <a:t>A multi classification level that depends both on the nature or particularity of the demand, but also on the level of effort (economics, time, and resources) required</a:t>
            </a:r>
          </a:p>
        </p:txBody>
      </p:sp>
      <p:sp>
        <p:nvSpPr>
          <p:cNvPr id="66" name="Right Arrow 134">
            <a:extLst>
              <a:ext uri="{FF2B5EF4-FFF2-40B4-BE49-F238E27FC236}">
                <a16:creationId xmlns:a16="http://schemas.microsoft.com/office/drawing/2014/main" id="{B88630EB-0149-F585-AAA7-F19A36E9A74D}"/>
              </a:ext>
            </a:extLst>
          </p:cNvPr>
          <p:cNvSpPr/>
          <p:nvPr/>
        </p:nvSpPr>
        <p:spPr>
          <a:xfrm>
            <a:off x="1715240"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70" name="Grupo 69">
            <a:extLst>
              <a:ext uri="{FF2B5EF4-FFF2-40B4-BE49-F238E27FC236}">
                <a16:creationId xmlns:a16="http://schemas.microsoft.com/office/drawing/2014/main" id="{E7B25555-5AE5-4509-D5D2-11DD386F6AEE}"/>
              </a:ext>
            </a:extLst>
          </p:cNvPr>
          <p:cNvGrpSpPr/>
          <p:nvPr/>
        </p:nvGrpSpPr>
        <p:grpSpPr>
          <a:xfrm rot="16200000">
            <a:off x="1745825" y="2557671"/>
            <a:ext cx="2505708" cy="1540718"/>
            <a:chOff x="2029412" y="2552476"/>
            <a:chExt cx="1882575" cy="1273318"/>
          </a:xfrm>
        </p:grpSpPr>
        <p:sp>
          <p:nvSpPr>
            <p:cNvPr id="35" name="Rectángulo: esquinas redondeadas 34">
              <a:extLst>
                <a:ext uri="{FF2B5EF4-FFF2-40B4-BE49-F238E27FC236}">
                  <a16:creationId xmlns:a16="http://schemas.microsoft.com/office/drawing/2014/main" id="{718493B2-7165-A7FB-10CC-326A19DAE7AD}"/>
                </a:ext>
              </a:extLst>
            </p:cNvPr>
            <p:cNvSpPr/>
            <p:nvPr/>
          </p:nvSpPr>
          <p:spPr>
            <a:xfrm>
              <a:off x="2029412" y="255247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FICA / Collection</a:t>
              </a:r>
            </a:p>
          </p:txBody>
        </p:sp>
        <p:sp>
          <p:nvSpPr>
            <p:cNvPr id="42" name="Rectángulo: esquinas redondeadas 41">
              <a:extLst>
                <a:ext uri="{FF2B5EF4-FFF2-40B4-BE49-F238E27FC236}">
                  <a16:creationId xmlns:a16="http://schemas.microsoft.com/office/drawing/2014/main" id="{1A7A5865-DAC0-2873-99F4-9A7633A8C66E}"/>
                </a:ext>
              </a:extLst>
            </p:cNvPr>
            <p:cNvSpPr/>
            <p:nvPr/>
          </p:nvSpPr>
          <p:spPr>
            <a:xfrm>
              <a:off x="2029412" y="2913948"/>
              <a:ext cx="1882575" cy="211065"/>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Billing, Device &amp; Retail</a:t>
              </a:r>
            </a:p>
          </p:txBody>
        </p:sp>
        <p:sp>
          <p:nvSpPr>
            <p:cNvPr id="44" name="Rectángulo: esquinas redondeadas 43">
              <a:extLst>
                <a:ext uri="{FF2B5EF4-FFF2-40B4-BE49-F238E27FC236}">
                  <a16:creationId xmlns:a16="http://schemas.microsoft.com/office/drawing/2014/main" id="{BD327FA0-74B7-713E-D134-4BCFF42EC0DD}"/>
                </a:ext>
              </a:extLst>
            </p:cNvPr>
            <p:cNvSpPr/>
            <p:nvPr/>
          </p:nvSpPr>
          <p:spPr>
            <a:xfrm>
              <a:off x="2029412" y="323109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SAP Basis</a:t>
              </a:r>
            </a:p>
          </p:txBody>
        </p:sp>
        <p:sp>
          <p:nvSpPr>
            <p:cNvPr id="69" name="Rectángulo: esquinas redondeadas 68">
              <a:extLst>
                <a:ext uri="{FF2B5EF4-FFF2-40B4-BE49-F238E27FC236}">
                  <a16:creationId xmlns:a16="http://schemas.microsoft.com/office/drawing/2014/main" id="{ED1B4B04-7C50-63B3-7F0B-2F29FA2A5681}"/>
                </a:ext>
              </a:extLst>
            </p:cNvPr>
            <p:cNvSpPr/>
            <p:nvPr/>
          </p:nvSpPr>
          <p:spPr>
            <a:xfrm>
              <a:off x="2029412" y="3570405"/>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CRM &amp; Contact Center</a:t>
              </a:r>
            </a:p>
          </p:txBody>
        </p:sp>
      </p:grpSp>
      <p:sp>
        <p:nvSpPr>
          <p:cNvPr id="71" name="Rectángulo: esquinas redondeadas 70">
            <a:extLst>
              <a:ext uri="{FF2B5EF4-FFF2-40B4-BE49-F238E27FC236}">
                <a16:creationId xmlns:a16="http://schemas.microsoft.com/office/drawing/2014/main" id="{E4895378-5301-C883-A659-080F555F7FD6}"/>
              </a:ext>
            </a:extLst>
          </p:cNvPr>
          <p:cNvSpPr/>
          <p:nvPr/>
        </p:nvSpPr>
        <p:spPr>
          <a:xfrm>
            <a:off x="2057384" y="538402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GIS</a:t>
            </a:r>
          </a:p>
        </p:txBody>
      </p:sp>
      <p:sp>
        <p:nvSpPr>
          <p:cNvPr id="4" name="TextBox 138">
            <a:extLst>
              <a:ext uri="{FF2B5EF4-FFF2-40B4-BE49-F238E27FC236}">
                <a16:creationId xmlns:a16="http://schemas.microsoft.com/office/drawing/2014/main" id="{524CD857-72FD-A9F0-EDA3-81518AC6FE5D}"/>
              </a:ext>
            </a:extLst>
          </p:cNvPr>
          <p:cNvSpPr txBox="1"/>
          <p:nvPr/>
        </p:nvSpPr>
        <p:spPr>
          <a:xfrm>
            <a:off x="8887354" y="5812614"/>
            <a:ext cx="2854584"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Note: </a:t>
            </a:r>
            <a:r>
              <a:rPr lang="en-US" sz="900">
                <a:solidFill>
                  <a:schemeClr val="bg1"/>
                </a:solidFill>
                <a:latin typeface="Arial" panose="020B0604020202020204" pitchFamily="34" charset="0"/>
                <a:cs typeface="Arial" panose="020B0604020202020204" pitchFamily="34" charset="0"/>
              </a:rPr>
              <a:t>while </a:t>
            </a: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this model is not currently standardized in the As-Is </a:t>
            </a:r>
            <a:r>
              <a:rPr lang="en-US" sz="900">
                <a:solidFill>
                  <a:schemeClr val="bg1"/>
                </a:solidFill>
                <a:latin typeface="Arial" panose="020B0604020202020204" pitchFamily="34" charset="0"/>
                <a:cs typeface="Arial" panose="020B0604020202020204" pitchFamily="34" charset="0"/>
              </a:rPr>
              <a:t>process, both classifications are partially adopted across all teams</a:t>
            </a:r>
            <a:endPar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6" name="Right Arrow 134">
            <a:extLst>
              <a:ext uri="{FF2B5EF4-FFF2-40B4-BE49-F238E27FC236}">
                <a16:creationId xmlns:a16="http://schemas.microsoft.com/office/drawing/2014/main" id="{B13D925C-5B15-1617-A1E7-84B2CEB6F6C7}"/>
              </a:ext>
            </a:extLst>
          </p:cNvPr>
          <p:cNvSpPr/>
          <p:nvPr/>
        </p:nvSpPr>
        <p:spPr>
          <a:xfrm>
            <a:off x="4169071"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ight Arrow 135">
            <a:extLst>
              <a:ext uri="{FF2B5EF4-FFF2-40B4-BE49-F238E27FC236}">
                <a16:creationId xmlns:a16="http://schemas.microsoft.com/office/drawing/2014/main" id="{6AC1AEAA-0B05-9AD7-07D0-4F142407FF58}"/>
              </a:ext>
            </a:extLst>
          </p:cNvPr>
          <p:cNvSpPr/>
          <p:nvPr/>
        </p:nvSpPr>
        <p:spPr>
          <a:xfrm>
            <a:off x="8618315" y="205012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Right Arrow 134">
            <a:extLst>
              <a:ext uri="{FF2B5EF4-FFF2-40B4-BE49-F238E27FC236}">
                <a16:creationId xmlns:a16="http://schemas.microsoft.com/office/drawing/2014/main" id="{C89E8B14-DA74-9536-C102-759BD817AD9C}"/>
              </a:ext>
            </a:extLst>
          </p:cNvPr>
          <p:cNvSpPr/>
          <p:nvPr/>
        </p:nvSpPr>
        <p:spPr>
          <a:xfrm>
            <a:off x="1715240"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Right Arrow 134">
            <a:extLst>
              <a:ext uri="{FF2B5EF4-FFF2-40B4-BE49-F238E27FC236}">
                <a16:creationId xmlns:a16="http://schemas.microsoft.com/office/drawing/2014/main" id="{12E81A01-4354-6AE6-396C-7BD4BAD71B7B}"/>
              </a:ext>
            </a:extLst>
          </p:cNvPr>
          <p:cNvSpPr/>
          <p:nvPr/>
        </p:nvSpPr>
        <p:spPr>
          <a:xfrm>
            <a:off x="4169071"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Right Arrow 135">
            <a:extLst>
              <a:ext uri="{FF2B5EF4-FFF2-40B4-BE49-F238E27FC236}">
                <a16:creationId xmlns:a16="http://schemas.microsoft.com/office/drawing/2014/main" id="{01F381DF-384E-60CD-696B-A0A73695F314}"/>
              </a:ext>
            </a:extLst>
          </p:cNvPr>
          <p:cNvSpPr/>
          <p:nvPr/>
        </p:nvSpPr>
        <p:spPr>
          <a:xfrm>
            <a:off x="8618315" y="237973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6" name="Right Arrow 134">
            <a:extLst>
              <a:ext uri="{FF2B5EF4-FFF2-40B4-BE49-F238E27FC236}">
                <a16:creationId xmlns:a16="http://schemas.microsoft.com/office/drawing/2014/main" id="{91471008-0C7E-8199-2BBC-01363A0089FC}"/>
              </a:ext>
            </a:extLst>
          </p:cNvPr>
          <p:cNvSpPr/>
          <p:nvPr/>
        </p:nvSpPr>
        <p:spPr>
          <a:xfrm>
            <a:off x="1715240"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Right Arrow 134">
            <a:extLst>
              <a:ext uri="{FF2B5EF4-FFF2-40B4-BE49-F238E27FC236}">
                <a16:creationId xmlns:a16="http://schemas.microsoft.com/office/drawing/2014/main" id="{DC4050CD-D0FC-1810-A080-6E75F872117D}"/>
              </a:ext>
            </a:extLst>
          </p:cNvPr>
          <p:cNvSpPr/>
          <p:nvPr/>
        </p:nvSpPr>
        <p:spPr>
          <a:xfrm>
            <a:off x="4169071"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Right Arrow 135">
            <a:extLst>
              <a:ext uri="{FF2B5EF4-FFF2-40B4-BE49-F238E27FC236}">
                <a16:creationId xmlns:a16="http://schemas.microsoft.com/office/drawing/2014/main" id="{98074BA8-6AD6-B979-4F96-CFD3796733DF}"/>
              </a:ext>
            </a:extLst>
          </p:cNvPr>
          <p:cNvSpPr/>
          <p:nvPr/>
        </p:nvSpPr>
        <p:spPr>
          <a:xfrm>
            <a:off x="8618315" y="269870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Right Arrow 134">
            <a:extLst>
              <a:ext uri="{FF2B5EF4-FFF2-40B4-BE49-F238E27FC236}">
                <a16:creationId xmlns:a16="http://schemas.microsoft.com/office/drawing/2014/main" id="{1BE615C5-7F83-4F7C-9670-70411BBB7813}"/>
              </a:ext>
            </a:extLst>
          </p:cNvPr>
          <p:cNvSpPr/>
          <p:nvPr/>
        </p:nvSpPr>
        <p:spPr>
          <a:xfrm>
            <a:off x="1715240"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ight Arrow 134">
            <a:extLst>
              <a:ext uri="{FF2B5EF4-FFF2-40B4-BE49-F238E27FC236}">
                <a16:creationId xmlns:a16="http://schemas.microsoft.com/office/drawing/2014/main" id="{A1C04D78-9312-1B39-B22D-B87DAAF4B9F1}"/>
              </a:ext>
            </a:extLst>
          </p:cNvPr>
          <p:cNvSpPr/>
          <p:nvPr/>
        </p:nvSpPr>
        <p:spPr>
          <a:xfrm>
            <a:off x="4169071"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Right Arrow 135">
            <a:extLst>
              <a:ext uri="{FF2B5EF4-FFF2-40B4-BE49-F238E27FC236}">
                <a16:creationId xmlns:a16="http://schemas.microsoft.com/office/drawing/2014/main" id="{5F3A620D-9B06-189D-9572-70CF66014109}"/>
              </a:ext>
            </a:extLst>
          </p:cNvPr>
          <p:cNvSpPr/>
          <p:nvPr/>
        </p:nvSpPr>
        <p:spPr>
          <a:xfrm>
            <a:off x="8618315" y="302831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Right Arrow 134">
            <a:extLst>
              <a:ext uri="{FF2B5EF4-FFF2-40B4-BE49-F238E27FC236}">
                <a16:creationId xmlns:a16="http://schemas.microsoft.com/office/drawing/2014/main" id="{01590381-A9F8-A44E-3698-52D7FB0FD7CD}"/>
              </a:ext>
            </a:extLst>
          </p:cNvPr>
          <p:cNvSpPr/>
          <p:nvPr/>
        </p:nvSpPr>
        <p:spPr>
          <a:xfrm>
            <a:off x="1715240"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Right Arrow 134">
            <a:extLst>
              <a:ext uri="{FF2B5EF4-FFF2-40B4-BE49-F238E27FC236}">
                <a16:creationId xmlns:a16="http://schemas.microsoft.com/office/drawing/2014/main" id="{B52C4947-6B99-BB7A-AB21-2FBDBC65F5CA}"/>
              </a:ext>
            </a:extLst>
          </p:cNvPr>
          <p:cNvSpPr/>
          <p:nvPr/>
        </p:nvSpPr>
        <p:spPr>
          <a:xfrm>
            <a:off x="4169071"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ight Arrow 135">
            <a:extLst>
              <a:ext uri="{FF2B5EF4-FFF2-40B4-BE49-F238E27FC236}">
                <a16:creationId xmlns:a16="http://schemas.microsoft.com/office/drawing/2014/main" id="{2CD5AD04-C501-852B-42BD-BAE8E8F38CA5}"/>
              </a:ext>
            </a:extLst>
          </p:cNvPr>
          <p:cNvSpPr/>
          <p:nvPr/>
        </p:nvSpPr>
        <p:spPr>
          <a:xfrm>
            <a:off x="8618315" y="3368560"/>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8" name="Right Arrow 134">
            <a:extLst>
              <a:ext uri="{FF2B5EF4-FFF2-40B4-BE49-F238E27FC236}">
                <a16:creationId xmlns:a16="http://schemas.microsoft.com/office/drawing/2014/main" id="{97BA2DB6-D109-266F-2F6A-C4F418391B67}"/>
              </a:ext>
            </a:extLst>
          </p:cNvPr>
          <p:cNvSpPr/>
          <p:nvPr/>
        </p:nvSpPr>
        <p:spPr>
          <a:xfrm>
            <a:off x="1715240"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Right Arrow 134">
            <a:extLst>
              <a:ext uri="{FF2B5EF4-FFF2-40B4-BE49-F238E27FC236}">
                <a16:creationId xmlns:a16="http://schemas.microsoft.com/office/drawing/2014/main" id="{ACC70F97-8FC7-631E-B225-406F81B9056A}"/>
              </a:ext>
            </a:extLst>
          </p:cNvPr>
          <p:cNvSpPr/>
          <p:nvPr/>
        </p:nvSpPr>
        <p:spPr>
          <a:xfrm>
            <a:off x="4169071"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Right Arrow 135">
            <a:extLst>
              <a:ext uri="{FF2B5EF4-FFF2-40B4-BE49-F238E27FC236}">
                <a16:creationId xmlns:a16="http://schemas.microsoft.com/office/drawing/2014/main" id="{CCB32975-AB1E-16E6-B5C6-386CD532787C}"/>
              </a:ext>
            </a:extLst>
          </p:cNvPr>
          <p:cNvSpPr/>
          <p:nvPr/>
        </p:nvSpPr>
        <p:spPr>
          <a:xfrm>
            <a:off x="8618315" y="370880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Right Arrow 134">
            <a:extLst>
              <a:ext uri="{FF2B5EF4-FFF2-40B4-BE49-F238E27FC236}">
                <a16:creationId xmlns:a16="http://schemas.microsoft.com/office/drawing/2014/main" id="{F8C49983-740C-73CA-A4ED-A4EE5D058B91}"/>
              </a:ext>
            </a:extLst>
          </p:cNvPr>
          <p:cNvSpPr/>
          <p:nvPr/>
        </p:nvSpPr>
        <p:spPr>
          <a:xfrm>
            <a:off x="1715240"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Right Arrow 134">
            <a:extLst>
              <a:ext uri="{FF2B5EF4-FFF2-40B4-BE49-F238E27FC236}">
                <a16:creationId xmlns:a16="http://schemas.microsoft.com/office/drawing/2014/main" id="{FADF120B-0CD2-6F2B-1A1B-E33015DD6DF4}"/>
              </a:ext>
            </a:extLst>
          </p:cNvPr>
          <p:cNvSpPr/>
          <p:nvPr/>
        </p:nvSpPr>
        <p:spPr>
          <a:xfrm>
            <a:off x="4169071"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Right Arrow 135">
            <a:extLst>
              <a:ext uri="{FF2B5EF4-FFF2-40B4-BE49-F238E27FC236}">
                <a16:creationId xmlns:a16="http://schemas.microsoft.com/office/drawing/2014/main" id="{2EF28058-20F9-ACA0-918E-817681D76B5F}"/>
              </a:ext>
            </a:extLst>
          </p:cNvPr>
          <p:cNvSpPr/>
          <p:nvPr/>
        </p:nvSpPr>
        <p:spPr>
          <a:xfrm>
            <a:off x="8618315" y="404904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Right Arrow 134">
            <a:extLst>
              <a:ext uri="{FF2B5EF4-FFF2-40B4-BE49-F238E27FC236}">
                <a16:creationId xmlns:a16="http://schemas.microsoft.com/office/drawing/2014/main" id="{877BBE11-853B-CC2D-7603-3C078C343008}"/>
              </a:ext>
            </a:extLst>
          </p:cNvPr>
          <p:cNvSpPr/>
          <p:nvPr/>
        </p:nvSpPr>
        <p:spPr>
          <a:xfrm>
            <a:off x="1715240"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7" name="Right Arrow 134">
            <a:extLst>
              <a:ext uri="{FF2B5EF4-FFF2-40B4-BE49-F238E27FC236}">
                <a16:creationId xmlns:a16="http://schemas.microsoft.com/office/drawing/2014/main" id="{6ECBDEBA-17FB-A9A2-E66A-0A70EC32D82F}"/>
              </a:ext>
            </a:extLst>
          </p:cNvPr>
          <p:cNvSpPr/>
          <p:nvPr/>
        </p:nvSpPr>
        <p:spPr>
          <a:xfrm>
            <a:off x="4169071"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8" name="Right Arrow 135">
            <a:extLst>
              <a:ext uri="{FF2B5EF4-FFF2-40B4-BE49-F238E27FC236}">
                <a16:creationId xmlns:a16="http://schemas.microsoft.com/office/drawing/2014/main" id="{750CCB47-1850-3A77-765A-BF176DEE6355}"/>
              </a:ext>
            </a:extLst>
          </p:cNvPr>
          <p:cNvSpPr/>
          <p:nvPr/>
        </p:nvSpPr>
        <p:spPr>
          <a:xfrm>
            <a:off x="8618315" y="43573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0" name="Right Arrow 134">
            <a:extLst>
              <a:ext uri="{FF2B5EF4-FFF2-40B4-BE49-F238E27FC236}">
                <a16:creationId xmlns:a16="http://schemas.microsoft.com/office/drawing/2014/main" id="{4A81E980-3FE1-1F43-B4B2-D7A33A5B34D6}"/>
              </a:ext>
            </a:extLst>
          </p:cNvPr>
          <p:cNvSpPr/>
          <p:nvPr/>
        </p:nvSpPr>
        <p:spPr>
          <a:xfrm>
            <a:off x="1715240"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5" name="Right Arrow 134">
            <a:extLst>
              <a:ext uri="{FF2B5EF4-FFF2-40B4-BE49-F238E27FC236}">
                <a16:creationId xmlns:a16="http://schemas.microsoft.com/office/drawing/2014/main" id="{5F42CFFF-FFF4-5310-9207-A0BAADA591BA}"/>
              </a:ext>
            </a:extLst>
          </p:cNvPr>
          <p:cNvSpPr/>
          <p:nvPr/>
        </p:nvSpPr>
        <p:spPr>
          <a:xfrm>
            <a:off x="4169071"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7" name="Right Arrow 135">
            <a:extLst>
              <a:ext uri="{FF2B5EF4-FFF2-40B4-BE49-F238E27FC236}">
                <a16:creationId xmlns:a16="http://schemas.microsoft.com/office/drawing/2014/main" id="{D390D11C-0965-2F8C-65AF-87F3BA69E63C}"/>
              </a:ext>
            </a:extLst>
          </p:cNvPr>
          <p:cNvSpPr/>
          <p:nvPr/>
        </p:nvSpPr>
        <p:spPr>
          <a:xfrm>
            <a:off x="8618315" y="506976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8" name="Right Arrow 134">
            <a:extLst>
              <a:ext uri="{FF2B5EF4-FFF2-40B4-BE49-F238E27FC236}">
                <a16:creationId xmlns:a16="http://schemas.microsoft.com/office/drawing/2014/main" id="{50BC2636-7EFE-DFDD-0BFD-703FB21733B5}"/>
              </a:ext>
            </a:extLst>
          </p:cNvPr>
          <p:cNvSpPr/>
          <p:nvPr/>
        </p:nvSpPr>
        <p:spPr>
          <a:xfrm>
            <a:off x="1715240"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4" name="Right Arrow 134">
            <a:extLst>
              <a:ext uri="{FF2B5EF4-FFF2-40B4-BE49-F238E27FC236}">
                <a16:creationId xmlns:a16="http://schemas.microsoft.com/office/drawing/2014/main" id="{0E73F04D-1EAE-7A44-8AB7-5B54C9B4BD99}"/>
              </a:ext>
            </a:extLst>
          </p:cNvPr>
          <p:cNvSpPr/>
          <p:nvPr/>
        </p:nvSpPr>
        <p:spPr>
          <a:xfrm>
            <a:off x="4169071"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5" name="Right Arrow 135">
            <a:extLst>
              <a:ext uri="{FF2B5EF4-FFF2-40B4-BE49-F238E27FC236}">
                <a16:creationId xmlns:a16="http://schemas.microsoft.com/office/drawing/2014/main" id="{FA5D2039-131F-B52A-D904-93BA5CCC2FFD}"/>
              </a:ext>
            </a:extLst>
          </p:cNvPr>
          <p:cNvSpPr/>
          <p:nvPr/>
        </p:nvSpPr>
        <p:spPr>
          <a:xfrm>
            <a:off x="8618315" y="542064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6" name="Right Arrow 134">
            <a:extLst>
              <a:ext uri="{FF2B5EF4-FFF2-40B4-BE49-F238E27FC236}">
                <a16:creationId xmlns:a16="http://schemas.microsoft.com/office/drawing/2014/main" id="{3225F147-F138-03A0-DEC2-C6F6EE7F9DDA}"/>
              </a:ext>
            </a:extLst>
          </p:cNvPr>
          <p:cNvSpPr/>
          <p:nvPr/>
        </p:nvSpPr>
        <p:spPr>
          <a:xfrm>
            <a:off x="1715240"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7" name="Right Arrow 134">
            <a:extLst>
              <a:ext uri="{FF2B5EF4-FFF2-40B4-BE49-F238E27FC236}">
                <a16:creationId xmlns:a16="http://schemas.microsoft.com/office/drawing/2014/main" id="{EFFEB004-ADEB-6F9A-00A0-D867712E5BC4}"/>
              </a:ext>
            </a:extLst>
          </p:cNvPr>
          <p:cNvSpPr/>
          <p:nvPr/>
        </p:nvSpPr>
        <p:spPr>
          <a:xfrm>
            <a:off x="4169071"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9" name="Right Arrow 135">
            <a:extLst>
              <a:ext uri="{FF2B5EF4-FFF2-40B4-BE49-F238E27FC236}">
                <a16:creationId xmlns:a16="http://schemas.microsoft.com/office/drawing/2014/main" id="{32371D71-0F3B-BA9B-FFD3-25281933B08F}"/>
              </a:ext>
            </a:extLst>
          </p:cNvPr>
          <p:cNvSpPr/>
          <p:nvPr/>
        </p:nvSpPr>
        <p:spPr>
          <a:xfrm>
            <a:off x="8618315" y="57289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1" name="Right Arrow 134">
            <a:extLst>
              <a:ext uri="{FF2B5EF4-FFF2-40B4-BE49-F238E27FC236}">
                <a16:creationId xmlns:a16="http://schemas.microsoft.com/office/drawing/2014/main" id="{7D387A8F-C78C-FBF8-D4B6-7AC78358731E}"/>
              </a:ext>
            </a:extLst>
          </p:cNvPr>
          <p:cNvSpPr/>
          <p:nvPr/>
        </p:nvSpPr>
        <p:spPr>
          <a:xfrm>
            <a:off x="1715240"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7" name="Right Arrow 134">
            <a:extLst>
              <a:ext uri="{FF2B5EF4-FFF2-40B4-BE49-F238E27FC236}">
                <a16:creationId xmlns:a16="http://schemas.microsoft.com/office/drawing/2014/main" id="{30D89F17-8891-CDA3-EF06-8F1C9AA7EEA0}"/>
              </a:ext>
            </a:extLst>
          </p:cNvPr>
          <p:cNvSpPr/>
          <p:nvPr/>
        </p:nvSpPr>
        <p:spPr>
          <a:xfrm>
            <a:off x="4169071"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0" name="Right Arrow 135">
            <a:extLst>
              <a:ext uri="{FF2B5EF4-FFF2-40B4-BE49-F238E27FC236}">
                <a16:creationId xmlns:a16="http://schemas.microsoft.com/office/drawing/2014/main" id="{774F76E1-DDD1-EBB3-D8A1-16D1E6EF6CFE}"/>
              </a:ext>
            </a:extLst>
          </p:cNvPr>
          <p:cNvSpPr/>
          <p:nvPr/>
        </p:nvSpPr>
        <p:spPr>
          <a:xfrm>
            <a:off x="8618315" y="604796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1" name="Right Arrow 134">
            <a:extLst>
              <a:ext uri="{FF2B5EF4-FFF2-40B4-BE49-F238E27FC236}">
                <a16:creationId xmlns:a16="http://schemas.microsoft.com/office/drawing/2014/main" id="{636FEDD2-2348-5A2C-EA61-4021F22831A3}"/>
              </a:ext>
            </a:extLst>
          </p:cNvPr>
          <p:cNvSpPr/>
          <p:nvPr/>
        </p:nvSpPr>
        <p:spPr>
          <a:xfrm>
            <a:off x="1715240"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4142" name="Grupo 4141">
            <a:extLst>
              <a:ext uri="{FF2B5EF4-FFF2-40B4-BE49-F238E27FC236}">
                <a16:creationId xmlns:a16="http://schemas.microsoft.com/office/drawing/2014/main" id="{AC635060-77AC-66C5-0110-526535B5C4BE}"/>
              </a:ext>
            </a:extLst>
          </p:cNvPr>
          <p:cNvGrpSpPr/>
          <p:nvPr/>
        </p:nvGrpSpPr>
        <p:grpSpPr>
          <a:xfrm>
            <a:off x="1621438" y="6566716"/>
            <a:ext cx="9662007" cy="163695"/>
            <a:chOff x="226978" y="6368710"/>
            <a:chExt cx="9662007" cy="239667"/>
          </a:xfrm>
        </p:grpSpPr>
        <p:sp>
          <p:nvSpPr>
            <p:cNvPr id="4143" name="TextBox 6">
              <a:extLst>
                <a:ext uri="{FF2B5EF4-FFF2-40B4-BE49-F238E27FC236}">
                  <a16:creationId xmlns:a16="http://schemas.microsoft.com/office/drawing/2014/main" id="{D5DACE0A-DE71-805E-08BF-CFF1AEB78BAB}"/>
                </a:ext>
              </a:extLst>
            </p:cNvPr>
            <p:cNvSpPr txBox="1"/>
            <p:nvPr/>
          </p:nvSpPr>
          <p:spPr>
            <a:xfrm>
              <a:off x="226978" y="6391717"/>
              <a:ext cx="1828800" cy="193653"/>
            </a:xfrm>
            <a:prstGeom prst="rect">
              <a:avLst/>
            </a:prstGeom>
            <a:noFill/>
          </p:spPr>
          <p:txBody>
            <a:bodyPr wrap="square" lIns="45720" tIns="18288" rIns="45720" bIns="18288" anchor="ctr">
              <a:spAutoFit/>
            </a:bodyPr>
            <a:lstStyle/>
            <a:p>
              <a:pPr algn="l"/>
              <a:r>
                <a:rPr lang="en-US" sz="800" b="1" i="0" noProof="0">
                  <a:solidFill>
                    <a:srgbClr val="1F3A68"/>
                  </a:solidFill>
                  <a:latin typeface="Arial" panose="020B0604020202020204" pitchFamily="34" charset="0"/>
                  <a:cs typeface="Arial" panose="020B0604020202020204" pitchFamily="34" charset="0"/>
                </a:rPr>
                <a:t>COLOR CODING:</a:t>
              </a:r>
            </a:p>
          </p:txBody>
        </p:sp>
        <p:sp>
          <p:nvSpPr>
            <p:cNvPr id="4144" name="Rounded Rectangle 7">
              <a:extLst>
                <a:ext uri="{FF2B5EF4-FFF2-40B4-BE49-F238E27FC236}">
                  <a16:creationId xmlns:a16="http://schemas.microsoft.com/office/drawing/2014/main" id="{B6C9572A-7DBE-DF14-C9F2-9D0F8C8ADF90}"/>
                </a:ext>
              </a:extLst>
            </p:cNvPr>
            <p:cNvSpPr/>
            <p:nvPr/>
          </p:nvSpPr>
          <p:spPr>
            <a:xfrm>
              <a:off x="6835510" y="6387959"/>
              <a:ext cx="731520"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LARGE</a:t>
              </a:r>
            </a:p>
          </p:txBody>
        </p:sp>
        <p:sp>
          <p:nvSpPr>
            <p:cNvPr id="4146" name="Rounded Rectangle 9">
              <a:extLst>
                <a:ext uri="{FF2B5EF4-FFF2-40B4-BE49-F238E27FC236}">
                  <a16:creationId xmlns:a16="http://schemas.microsoft.com/office/drawing/2014/main" id="{87F9F99C-D63C-A19C-3A09-38E7911A8578}"/>
                </a:ext>
              </a:extLst>
            </p:cNvPr>
            <p:cNvSpPr/>
            <p:nvPr/>
          </p:nvSpPr>
          <p:spPr>
            <a:xfrm>
              <a:off x="4095670" y="6387959"/>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MEDIUM</a:t>
              </a:r>
            </a:p>
          </p:txBody>
        </p:sp>
        <p:sp>
          <p:nvSpPr>
            <p:cNvPr id="4147" name="Rounded Rectangle 11">
              <a:extLst>
                <a:ext uri="{FF2B5EF4-FFF2-40B4-BE49-F238E27FC236}">
                  <a16:creationId xmlns:a16="http://schemas.microsoft.com/office/drawing/2014/main" id="{47B4DEFA-331E-A96A-AE9B-A1F884E4C8D9}"/>
                </a:ext>
              </a:extLst>
            </p:cNvPr>
            <p:cNvSpPr/>
            <p:nvPr/>
          </p:nvSpPr>
          <p:spPr>
            <a:xfrm>
              <a:off x="1414186" y="6387959"/>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SMALL</a:t>
              </a:r>
            </a:p>
          </p:txBody>
        </p:sp>
        <p:sp>
          <p:nvSpPr>
            <p:cNvPr id="4148" name="Rectangle 52">
              <a:extLst>
                <a:ext uri="{FF2B5EF4-FFF2-40B4-BE49-F238E27FC236}">
                  <a16:creationId xmlns:a16="http://schemas.microsoft.com/office/drawing/2014/main" id="{C61CFD03-00DB-449C-B5AE-1929D7DDD096}"/>
                </a:ext>
              </a:extLst>
            </p:cNvPr>
            <p:cNvSpPr/>
            <p:nvPr/>
          </p:nvSpPr>
          <p:spPr>
            <a:xfrm>
              <a:off x="2148357" y="6368710"/>
              <a:ext cx="2037112"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sym typeface="Wingdings" panose="05000000000000000000" pitchFamily="2" charset="2"/>
                </a:rPr>
                <a:t>&lt; $10k, 1-3 month, &lt; 5 resource  </a:t>
              </a:r>
              <a:endParaRPr kumimoji="0" lang="en-US" sz="16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endParaRPr>
            </a:p>
          </p:txBody>
        </p:sp>
        <p:sp>
          <p:nvSpPr>
            <p:cNvPr id="4149" name="Rectangle 53">
              <a:extLst>
                <a:ext uri="{FF2B5EF4-FFF2-40B4-BE49-F238E27FC236}">
                  <a16:creationId xmlns:a16="http://schemas.microsoft.com/office/drawing/2014/main" id="{ED196FE5-534C-421E-F8A4-D87DA2CC08DB}"/>
                </a:ext>
              </a:extLst>
            </p:cNvPr>
            <p:cNvSpPr/>
            <p:nvPr/>
          </p:nvSpPr>
          <p:spPr>
            <a:xfrm>
              <a:off x="4794084" y="6368710"/>
              <a:ext cx="2100750"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$500k, 3-6 month, &lt;= 10 resource  </a:t>
              </a:r>
              <a:endParaRPr lang="en-US" sz="1000" noProof="0">
                <a:solidFill>
                  <a:srgbClr val="FFFFFF">
                    <a:lumMod val="65000"/>
                  </a:srgbClr>
                </a:solidFill>
                <a:latin typeface="Arial" panose="020B0604020202020204" pitchFamily="34" charset="0"/>
                <a:cs typeface="Arial" panose="020B0604020202020204" pitchFamily="34" charset="0"/>
              </a:endParaRPr>
            </a:p>
          </p:txBody>
        </p:sp>
        <p:sp>
          <p:nvSpPr>
            <p:cNvPr id="4150" name="Rectangle 53">
              <a:extLst>
                <a:ext uri="{FF2B5EF4-FFF2-40B4-BE49-F238E27FC236}">
                  <a16:creationId xmlns:a16="http://schemas.microsoft.com/office/drawing/2014/main" id="{547F614D-BC73-A1F1-AD6E-88B391C8AFD3}"/>
                </a:ext>
              </a:extLst>
            </p:cNvPr>
            <p:cNvSpPr/>
            <p:nvPr/>
          </p:nvSpPr>
          <p:spPr>
            <a:xfrm>
              <a:off x="7578160" y="6368710"/>
              <a:ext cx="2310825"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Projects that exceed previous limits</a:t>
              </a:r>
              <a:endParaRPr lang="en-US" sz="1000" noProof="0">
                <a:solidFill>
                  <a:srgbClr val="FFFFFF">
                    <a:lumMod val="65000"/>
                  </a:srgb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848202480"/>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F8F6-728E-B9E3-E170-C9164DA2A63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1F28A60-0A5C-4491-BB59-EBF9AAB2C4A9}"/>
              </a:ext>
            </a:extLst>
          </p:cNvPr>
          <p:cNvSpPr/>
          <p:nvPr/>
        </p:nvSpPr>
        <p:spPr>
          <a:xfrm>
            <a:off x="470662" y="4991070"/>
            <a:ext cx="11459027" cy="1125681"/>
          </a:xfrm>
          <a:prstGeom prst="rect">
            <a:avLst/>
          </a:prstGeom>
          <a:solidFill>
            <a:srgbClr val="6785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FUTURE STATE GUIDING PRINCIPLES</a:t>
            </a:r>
          </a:p>
        </p:txBody>
      </p:sp>
      <p:sp>
        <p:nvSpPr>
          <p:cNvPr id="46" name="Rectangle 5">
            <a:extLst>
              <a:ext uri="{FF2B5EF4-FFF2-40B4-BE49-F238E27FC236}">
                <a16:creationId xmlns:a16="http://schemas.microsoft.com/office/drawing/2014/main" id="{09DBACCE-A8AA-E847-EBED-3761584421E0}"/>
              </a:ext>
            </a:extLst>
          </p:cNvPr>
          <p:cNvSpPr/>
          <p:nvPr/>
        </p:nvSpPr>
        <p:spPr>
          <a:xfrm>
            <a:off x="470658" y="526942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riángulo isósceles 4">
            <a:extLst>
              <a:ext uri="{FF2B5EF4-FFF2-40B4-BE49-F238E27FC236}">
                <a16:creationId xmlns:a16="http://schemas.microsoft.com/office/drawing/2014/main" id="{B4ED226D-4DD4-74F1-ECA8-53F1D704957E}"/>
              </a:ext>
            </a:extLst>
          </p:cNvPr>
          <p:cNvSpPr/>
          <p:nvPr/>
        </p:nvSpPr>
        <p:spPr>
          <a:xfrm flipV="1">
            <a:off x="1141781"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riángulo isósceles 5">
            <a:extLst>
              <a:ext uri="{FF2B5EF4-FFF2-40B4-BE49-F238E27FC236}">
                <a16:creationId xmlns:a16="http://schemas.microsoft.com/office/drawing/2014/main" id="{C9609DD5-A910-1F52-6286-4E8B74E6F9CA}"/>
              </a:ext>
            </a:extLst>
          </p:cNvPr>
          <p:cNvSpPr/>
          <p:nvPr/>
        </p:nvSpPr>
        <p:spPr>
          <a:xfrm flipV="1">
            <a:off x="5170839"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Triángulo isósceles 6">
            <a:extLst>
              <a:ext uri="{FF2B5EF4-FFF2-40B4-BE49-F238E27FC236}">
                <a16:creationId xmlns:a16="http://schemas.microsoft.com/office/drawing/2014/main" id="{92B865D0-653F-33AA-9853-34B5D2C1EFC3}"/>
              </a:ext>
            </a:extLst>
          </p:cNvPr>
          <p:cNvSpPr/>
          <p:nvPr/>
        </p:nvSpPr>
        <p:spPr>
          <a:xfrm flipV="1">
            <a:off x="9393056"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5" name="Rectangle 5">
            <a:extLst>
              <a:ext uri="{FF2B5EF4-FFF2-40B4-BE49-F238E27FC236}">
                <a16:creationId xmlns:a16="http://schemas.microsoft.com/office/drawing/2014/main" id="{30D19A69-F608-F8B3-C247-06FBFBA160E8}"/>
              </a:ext>
            </a:extLst>
          </p:cNvPr>
          <p:cNvSpPr/>
          <p:nvPr/>
        </p:nvSpPr>
        <p:spPr>
          <a:xfrm>
            <a:off x="8343857" y="1779195"/>
            <a:ext cx="3442956" cy="264198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4" name="Rectangle 5">
            <a:extLst>
              <a:ext uri="{FF2B5EF4-FFF2-40B4-BE49-F238E27FC236}">
                <a16:creationId xmlns:a16="http://schemas.microsoft.com/office/drawing/2014/main" id="{CBC5921A-704D-C1E2-DAE8-BE48856F1DC8}"/>
              </a:ext>
            </a:extLst>
          </p:cNvPr>
          <p:cNvSpPr/>
          <p:nvPr/>
        </p:nvSpPr>
        <p:spPr>
          <a:xfrm>
            <a:off x="4400609"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3" name="Rectangle 5">
            <a:extLst>
              <a:ext uri="{FF2B5EF4-FFF2-40B4-BE49-F238E27FC236}">
                <a16:creationId xmlns:a16="http://schemas.microsoft.com/office/drawing/2014/main" id="{BB912E16-13B0-F49B-7CA3-91344620242A}"/>
              </a:ext>
            </a:extLst>
          </p:cNvPr>
          <p:cNvSpPr/>
          <p:nvPr/>
        </p:nvSpPr>
        <p:spPr>
          <a:xfrm>
            <a:off x="470657"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ángulo 3">
            <a:extLst>
              <a:ext uri="{FF2B5EF4-FFF2-40B4-BE49-F238E27FC236}">
                <a16:creationId xmlns:a16="http://schemas.microsoft.com/office/drawing/2014/main" id="{1A6C90A7-B5EF-D398-D38A-8352C2F7C0D4}"/>
              </a:ext>
            </a:extLst>
          </p:cNvPr>
          <p:cNvSpPr/>
          <p:nvPr/>
        </p:nvSpPr>
        <p:spPr>
          <a:xfrm>
            <a:off x="8343330"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STRUCTURAL MISALIGNMENT</a:t>
            </a:r>
          </a:p>
        </p:txBody>
      </p:sp>
      <p:sp>
        <p:nvSpPr>
          <p:cNvPr id="3" name="Rectángulo 2">
            <a:extLst>
              <a:ext uri="{FF2B5EF4-FFF2-40B4-BE49-F238E27FC236}">
                <a16:creationId xmlns:a16="http://schemas.microsoft.com/office/drawing/2014/main" id="{5B6FD5E4-C30E-B4E5-CC75-C966F20594C1}"/>
              </a:ext>
            </a:extLst>
          </p:cNvPr>
          <p:cNvSpPr/>
          <p:nvPr/>
        </p:nvSpPr>
        <p:spPr>
          <a:xfrm>
            <a:off x="4406994"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DELIVERY EXPERIENCE AND PAIN POINTS</a:t>
            </a:r>
          </a:p>
        </p:txBody>
      </p:sp>
      <p:sp>
        <p:nvSpPr>
          <p:cNvPr id="2" name="Rectángulo 1">
            <a:extLst>
              <a:ext uri="{FF2B5EF4-FFF2-40B4-BE49-F238E27FC236}">
                <a16:creationId xmlns:a16="http://schemas.microsoft.com/office/drawing/2014/main" id="{D0746995-455D-AF44-55AF-B0CD7A01BA02}"/>
              </a:ext>
            </a:extLst>
          </p:cNvPr>
          <p:cNvSpPr/>
          <p:nvPr/>
        </p:nvSpPr>
        <p:spPr>
          <a:xfrm>
            <a:off x="470658"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OPERATING CONSTRAINTS</a:t>
            </a:r>
          </a:p>
        </p:txBody>
      </p:sp>
      <p:sp>
        <p:nvSpPr>
          <p:cNvPr id="31" name="TextBox 174">
            <a:extLst>
              <a:ext uri="{FF2B5EF4-FFF2-40B4-BE49-F238E27FC236}">
                <a16:creationId xmlns:a16="http://schemas.microsoft.com/office/drawing/2014/main" id="{0D225A01-6C1B-D7B9-8850-D012600546A7}"/>
              </a:ext>
            </a:extLst>
          </p:cNvPr>
          <p:cNvSpPr txBox="1"/>
          <p:nvPr/>
        </p:nvSpPr>
        <p:spPr>
          <a:xfrm>
            <a:off x="530374" y="2109317"/>
            <a:ext cx="3350053" cy="2187458"/>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structural and operational limitations currently constraining the model’s ability to scale and deliver value consistently.</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outlines the key factors: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People: Capacity &amp; accountability are structurally constrained</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Process: Lack of standardization drives inconsistency</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Tools: Fragmented ecosystem limits visibility and control</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Decision-making is fragmented</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TextBox 174">
            <a:extLst>
              <a:ext uri="{FF2B5EF4-FFF2-40B4-BE49-F238E27FC236}">
                <a16:creationId xmlns:a16="http://schemas.microsoft.com/office/drawing/2014/main" id="{C71500C3-35F2-B580-6859-29B2838F6393}"/>
              </a:ext>
            </a:extLst>
          </p:cNvPr>
          <p:cNvSpPr txBox="1"/>
          <p:nvPr/>
        </p:nvSpPr>
        <p:spPr>
          <a:xfrm>
            <a:off x="4465147" y="2109317"/>
            <a:ext cx="3330101" cy="2402902"/>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friction points impacting execution and the business or user experience.</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describes the main issues identified related to:</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Fragmented demand and intake drive reactive, non-strategic delivery</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clear product ownership weakens accountability and decision-making</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portfolio visibility constrains end-to-end planning and prioritization</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Uncoordinated capacity and overlapping initiatives reduce efficiency and impact</a:t>
            </a: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5" name="TextBox 174">
            <a:extLst>
              <a:ext uri="{FF2B5EF4-FFF2-40B4-BE49-F238E27FC236}">
                <a16:creationId xmlns:a16="http://schemas.microsoft.com/office/drawing/2014/main" id="{9F6F0A5B-2CFF-FA78-BC82-FFF8AFA4CF6F}"/>
              </a:ext>
            </a:extLst>
          </p:cNvPr>
          <p:cNvSpPr txBox="1"/>
          <p:nvPr/>
        </p:nvSpPr>
        <p:spPr>
          <a:xfrm>
            <a:off x="8427497" y="2109317"/>
            <a:ext cx="3326618" cy="218745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refers to the misalignment between the organizational structure, governance model, and the way products are managed and delivered.</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highlights the structural gaps: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Entry Point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Value-Based Decision-Making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End-to-End Product View</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Ownership of Outcomes</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Product-Level Steering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Common Language of Value</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Ownership Model</a:t>
            </a:r>
          </a:p>
        </p:txBody>
      </p:sp>
      <p:sp>
        <p:nvSpPr>
          <p:cNvPr id="24" name="Rectángulo: esquinas redondeadas 23">
            <a:extLst>
              <a:ext uri="{FF2B5EF4-FFF2-40B4-BE49-F238E27FC236}">
                <a16:creationId xmlns:a16="http://schemas.microsoft.com/office/drawing/2014/main" id="{7ABF31B7-884F-4A24-AC5F-ECAA1290F0BA}"/>
              </a:ext>
            </a:extLst>
          </p:cNvPr>
          <p:cNvSpPr/>
          <p:nvPr/>
        </p:nvSpPr>
        <p:spPr>
          <a:xfrm>
            <a:off x="582330"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Intake &amp; Structuring</a:t>
            </a:r>
          </a:p>
        </p:txBody>
      </p:sp>
      <p:sp>
        <p:nvSpPr>
          <p:cNvPr id="28" name="Rectángulo: esquinas redondeadas 27">
            <a:extLst>
              <a:ext uri="{FF2B5EF4-FFF2-40B4-BE49-F238E27FC236}">
                <a16:creationId xmlns:a16="http://schemas.microsoft.com/office/drawing/2014/main" id="{FA339F9F-D1E8-0B64-6D92-7D375E9B2DA6}"/>
              </a:ext>
            </a:extLst>
          </p:cNvPr>
          <p:cNvSpPr/>
          <p:nvPr/>
        </p:nvSpPr>
        <p:spPr>
          <a:xfrm>
            <a:off x="3417158"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Value-Based Prioritization</a:t>
            </a:r>
          </a:p>
        </p:txBody>
      </p:sp>
      <p:sp>
        <p:nvSpPr>
          <p:cNvPr id="29" name="Rectángulo: esquinas redondeadas 28">
            <a:extLst>
              <a:ext uri="{FF2B5EF4-FFF2-40B4-BE49-F238E27FC236}">
                <a16:creationId xmlns:a16="http://schemas.microsoft.com/office/drawing/2014/main" id="{CA1FE5A5-2A94-8FE5-E573-1F8BFF95F18F}"/>
              </a:ext>
            </a:extLst>
          </p:cNvPr>
          <p:cNvSpPr/>
          <p:nvPr/>
        </p:nvSpPr>
        <p:spPr>
          <a:xfrm>
            <a:off x="6251986"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30" name="Rectángulo: esquinas redondeadas 29">
            <a:extLst>
              <a:ext uri="{FF2B5EF4-FFF2-40B4-BE49-F238E27FC236}">
                <a16:creationId xmlns:a16="http://schemas.microsoft.com/office/drawing/2014/main" id="{17EF2559-6001-0F12-906F-E2F5F23E8578}"/>
              </a:ext>
            </a:extLst>
          </p:cNvPr>
          <p:cNvSpPr/>
          <p:nvPr/>
        </p:nvSpPr>
        <p:spPr>
          <a:xfrm>
            <a:off x="9086813" y="556643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Governance &amp; Ownership</a:t>
            </a:r>
          </a:p>
        </p:txBody>
      </p:sp>
      <p:sp>
        <p:nvSpPr>
          <p:cNvPr id="40" name="TextBox 174">
            <a:extLst>
              <a:ext uri="{FF2B5EF4-FFF2-40B4-BE49-F238E27FC236}">
                <a16:creationId xmlns:a16="http://schemas.microsoft.com/office/drawing/2014/main" id="{526475F0-63A8-DAD4-A511-3AB87D7409B0}"/>
              </a:ext>
            </a:extLst>
          </p:cNvPr>
          <p:cNvSpPr txBox="1"/>
          <p:nvPr/>
        </p:nvSpPr>
        <p:spPr>
          <a:xfrm>
            <a:off x="591245" y="530661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They will serve as a decision-making framework for designing processes, roles, and governance aligned with a more scalable, transparent, and product-oriented model.</a:t>
            </a:r>
          </a:p>
        </p:txBody>
      </p:sp>
      <p:pic>
        <p:nvPicPr>
          <p:cNvPr id="51" name="Gráfico 50" descr="Corona de usuario femenino con relleno sólido">
            <a:extLst>
              <a:ext uri="{FF2B5EF4-FFF2-40B4-BE49-F238E27FC236}">
                <a16:creationId xmlns:a16="http://schemas.microsoft.com/office/drawing/2014/main" id="{871F332F-A9F2-7EDA-0691-587C76FE22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638379"/>
            <a:ext cx="250323" cy="250323"/>
          </a:xfrm>
          <a:prstGeom prst="rect">
            <a:avLst/>
          </a:prstGeom>
        </p:spPr>
      </p:pic>
      <p:pic>
        <p:nvPicPr>
          <p:cNvPr id="52" name="Gráfico 51" descr="Inventario de búsqueda con relleno sólido">
            <a:extLst>
              <a:ext uri="{FF2B5EF4-FFF2-40B4-BE49-F238E27FC236}">
                <a16:creationId xmlns:a16="http://schemas.microsoft.com/office/drawing/2014/main" id="{2C67F360-A46F-B3DC-122D-8693AAFDB1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638379"/>
            <a:ext cx="250323" cy="250323"/>
          </a:xfrm>
          <a:prstGeom prst="rect">
            <a:avLst/>
          </a:prstGeom>
        </p:spPr>
      </p:pic>
      <p:pic>
        <p:nvPicPr>
          <p:cNvPr id="53" name="Gráfico 52" descr="Diamante con relleno sólido">
            <a:extLst>
              <a:ext uri="{FF2B5EF4-FFF2-40B4-BE49-F238E27FC236}">
                <a16:creationId xmlns:a16="http://schemas.microsoft.com/office/drawing/2014/main" id="{EDB0F273-CD15-22AF-90B7-4D65FCCBB0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638379"/>
            <a:ext cx="250323" cy="250323"/>
          </a:xfrm>
          <a:prstGeom prst="rect">
            <a:avLst/>
          </a:prstGeom>
        </p:spPr>
      </p:pic>
      <p:pic>
        <p:nvPicPr>
          <p:cNvPr id="54" name="Gráfico 53" descr="Bandeja de entrada marcada con relleno sólido">
            <a:extLst>
              <a:ext uri="{FF2B5EF4-FFF2-40B4-BE49-F238E27FC236}">
                <a16:creationId xmlns:a16="http://schemas.microsoft.com/office/drawing/2014/main" id="{FFF83B9D-70B9-4808-E652-5E0759837F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638379"/>
            <a:ext cx="250323" cy="250323"/>
          </a:xfrm>
          <a:prstGeom prst="rect">
            <a:avLst/>
          </a:prstGeom>
        </p:spPr>
      </p:pic>
      <p:sp>
        <p:nvSpPr>
          <p:cNvPr id="16" name="Título 2">
            <a:extLst>
              <a:ext uri="{FF2B5EF4-FFF2-40B4-BE49-F238E27FC236}">
                <a16:creationId xmlns:a16="http://schemas.microsoft.com/office/drawing/2014/main" id="{38673FDD-2990-B231-59A5-A0D7FDB5A72F}"/>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CONCLUSIONS</a:t>
            </a:r>
          </a:p>
        </p:txBody>
      </p:sp>
      <p:sp>
        <p:nvSpPr>
          <p:cNvPr id="33" name="CuadroTexto 204">
            <a:extLst>
              <a:ext uri="{FF2B5EF4-FFF2-40B4-BE49-F238E27FC236}">
                <a16:creationId xmlns:a16="http://schemas.microsoft.com/office/drawing/2014/main" id="{5A8B8ACE-9F1A-FDF9-BA1C-005CBEF1E6E7}"/>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Our assessment highlights opportunities to strengthen alignment, governance, and prioritization to enable a more scalable and sustainable TO‑BE operating model.</a:t>
            </a:r>
          </a:p>
        </p:txBody>
      </p:sp>
    </p:spTree>
    <p:extLst>
      <p:ext uri="{BB962C8B-B14F-4D97-AF65-F5344CB8AC3E}">
        <p14:creationId xmlns:p14="http://schemas.microsoft.com/office/powerpoint/2010/main" val="852062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E60DA-E646-0DCB-9D50-5BEC2D30EE3F}"/>
            </a:ext>
          </a:extLst>
        </p:cNvPr>
        <p:cNvGrpSpPr/>
        <p:nvPr/>
      </p:nvGrpSpPr>
      <p:grpSpPr>
        <a:xfrm>
          <a:off x="0" y="0"/>
          <a:ext cx="0" cy="0"/>
          <a:chOff x="0" y="0"/>
          <a:chExt cx="0" cy="0"/>
        </a:xfrm>
      </p:grpSpPr>
      <p:sp>
        <p:nvSpPr>
          <p:cNvPr id="8" name="Título 2">
            <a:extLst>
              <a:ext uri="{FF2B5EF4-FFF2-40B4-BE49-F238E27FC236}">
                <a16:creationId xmlns:a16="http://schemas.microsoft.com/office/drawing/2014/main" id="{4EB1BFFE-3357-143E-AEE4-3CFB13DE99C9}"/>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CURRENT OPERATING CONSTRAINTS</a:t>
            </a:r>
          </a:p>
        </p:txBody>
      </p:sp>
      <p:sp>
        <p:nvSpPr>
          <p:cNvPr id="38" name="Rectangle 3">
            <a:extLst>
              <a:ext uri="{FF2B5EF4-FFF2-40B4-BE49-F238E27FC236}">
                <a16:creationId xmlns:a16="http://schemas.microsoft.com/office/drawing/2014/main" id="{2B36CEE8-5692-C29A-8D9B-00EBCBD682DC}"/>
              </a:ext>
            </a:extLst>
          </p:cNvPr>
          <p:cNvSpPr/>
          <p:nvPr/>
        </p:nvSpPr>
        <p:spPr>
          <a:xfrm>
            <a:off x="6181733" y="2013450"/>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Fragmented intake and ad-hoc prioritization</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lead to misaligned decisions and unmanaged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Formal processes applied only to large initiatives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leave most work without structure or governance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Inconsistent ways of working across teams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(PMs, Leads, vendors) increase delivery variability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Rectángulo 32">
            <a:extLst>
              <a:ext uri="{FF2B5EF4-FFF2-40B4-BE49-F238E27FC236}">
                <a16:creationId xmlns:a16="http://schemas.microsoft.com/office/drawing/2014/main" id="{DB9B21F2-D369-E253-1269-E792498B4F3A}"/>
              </a:ext>
            </a:extLst>
          </p:cNvPr>
          <p:cNvSpPr/>
          <p:nvPr/>
        </p:nvSpPr>
        <p:spPr>
          <a:xfrm>
            <a:off x="457201" y="3471924"/>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Digital Products cannot reliably scale delivery or ensure accountability, impacting timelines and quality.</a:t>
            </a:r>
          </a:p>
        </p:txBody>
      </p:sp>
      <p:sp>
        <p:nvSpPr>
          <p:cNvPr id="4" name="Rectangle 3">
            <a:extLst>
              <a:ext uri="{FF2B5EF4-FFF2-40B4-BE49-F238E27FC236}">
                <a16:creationId xmlns:a16="http://schemas.microsoft.com/office/drawing/2014/main" id="{60717D39-2071-8392-FE37-E7E8DD0DF6C2}"/>
              </a:ext>
            </a:extLst>
          </p:cNvPr>
          <p:cNvSpPr/>
          <p:nvPr/>
        </p:nvSpPr>
        <p:spPr>
          <a:xfrm>
            <a:off x="457201" y="2013450"/>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and slow-to-scale capacity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(e.g., ~1 year hiring cycle, open leadership roles) reduces responsiveness to growing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Unclear ownership and overlapping responsibilities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create execution risk and inefficiencies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High vendor dependency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limits control over delivery and increases coordination overhead</a:t>
            </a:r>
            <a:endPar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ángulo 36">
            <a:extLst>
              <a:ext uri="{FF2B5EF4-FFF2-40B4-BE49-F238E27FC236}">
                <a16:creationId xmlns:a16="http://schemas.microsoft.com/office/drawing/2014/main" id="{39DF42DD-BFFF-B127-5244-0F737B9CFEFD}"/>
              </a:ext>
            </a:extLst>
          </p:cNvPr>
          <p:cNvSpPr/>
          <p:nvPr/>
        </p:nvSpPr>
        <p:spPr>
          <a:xfrm>
            <a:off x="6182818" y="3471924"/>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Demand is neither consistently evaluated nor executed, reducing predictability and value delivery.</a:t>
            </a:r>
          </a:p>
        </p:txBody>
      </p:sp>
      <p:sp>
        <p:nvSpPr>
          <p:cNvPr id="2" name="Rectangle 3">
            <a:extLst>
              <a:ext uri="{FF2B5EF4-FFF2-40B4-BE49-F238E27FC236}">
                <a16:creationId xmlns:a16="http://schemas.microsoft.com/office/drawing/2014/main" id="{CB61E695-55B5-D44E-41FC-BDC5F909E401}"/>
              </a:ext>
            </a:extLst>
          </p:cNvPr>
          <p:cNvSpPr/>
          <p:nvPr/>
        </p:nvSpPr>
        <p:spPr>
          <a:xfrm>
            <a:off x="6181733" y="4444124"/>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Multiple forums without portfolio-level ownership</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dilute accountability and slow decisions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standardized prioritization criteria</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leads to inconsistent and non-value-based trade-offs, and always accepting all incoming demand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cross-team alignment mechanisms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(e.g., SAP footprints, Business vs IT) create silos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Decisions always result in acceptance causing interference with real demand planning</a:t>
            </a:r>
          </a:p>
        </p:txBody>
      </p:sp>
      <p:sp>
        <p:nvSpPr>
          <p:cNvPr id="6" name="Rectangle 3">
            <a:extLst>
              <a:ext uri="{FF2B5EF4-FFF2-40B4-BE49-F238E27FC236}">
                <a16:creationId xmlns:a16="http://schemas.microsoft.com/office/drawing/2014/main" id="{6C292FA7-B96B-2A36-1183-B397F0ABDDE5}"/>
              </a:ext>
            </a:extLst>
          </p:cNvPr>
          <p:cNvSpPr/>
          <p:nvPr/>
        </p:nvSpPr>
        <p:spPr>
          <a:xfrm>
            <a:off x="457201" y="4444124"/>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Multiple disconnected intake and tracking tools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prevent end-to-end visibility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portfolio management capabilities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across most units limits strategic oversight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Inconsistent and informal tool usage</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(e.g., spreadsheets, local tools) fragments information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7C769FE1-FCB7-C13E-F18E-F419715F9961}"/>
              </a:ext>
            </a:extLst>
          </p:cNvPr>
          <p:cNvSpPr/>
          <p:nvPr/>
        </p:nvSpPr>
        <p:spPr>
          <a:xfrm>
            <a:off x="457201" y="5854991"/>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Leadership lacks real-time transparency to manage demand, capacity, and performance effectively.</a:t>
            </a:r>
          </a:p>
        </p:txBody>
      </p:sp>
      <p:sp>
        <p:nvSpPr>
          <p:cNvPr id="9" name="Rectángulo 8">
            <a:extLst>
              <a:ext uri="{FF2B5EF4-FFF2-40B4-BE49-F238E27FC236}">
                <a16:creationId xmlns:a16="http://schemas.microsoft.com/office/drawing/2014/main" id="{1E4C63D7-2CB6-FAAD-25CB-2E1809AF559C}"/>
              </a:ext>
            </a:extLst>
          </p:cNvPr>
          <p:cNvSpPr/>
          <p:nvPr/>
        </p:nvSpPr>
        <p:spPr>
          <a:xfrm>
            <a:off x="6182818" y="5854991"/>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Decisions are reactive and uncoordinated, limiting alignment with strategic priorities.</a:t>
            </a:r>
          </a:p>
        </p:txBody>
      </p:sp>
      <p:pic>
        <p:nvPicPr>
          <p:cNvPr id="18" name="Gráfico 17" descr="Advertencia con relleno sólido">
            <a:extLst>
              <a:ext uri="{FF2B5EF4-FFF2-40B4-BE49-F238E27FC236}">
                <a16:creationId xmlns:a16="http://schemas.microsoft.com/office/drawing/2014/main" id="{58AFC1B5-4026-35D7-278E-0761C187B4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480" y="3514681"/>
            <a:ext cx="374483" cy="375070"/>
          </a:xfrm>
          <a:prstGeom prst="rect">
            <a:avLst/>
          </a:prstGeom>
        </p:spPr>
      </p:pic>
      <p:pic>
        <p:nvPicPr>
          <p:cNvPr id="25" name="Gráfico 24" descr="Advertencia con relleno sólido">
            <a:extLst>
              <a:ext uri="{FF2B5EF4-FFF2-40B4-BE49-F238E27FC236}">
                <a16:creationId xmlns:a16="http://schemas.microsoft.com/office/drawing/2014/main" id="{F1EFE7A8-E70E-D06E-97E0-2E0CB2F9DB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6678" y="3514681"/>
            <a:ext cx="374483" cy="375070"/>
          </a:xfrm>
          <a:prstGeom prst="rect">
            <a:avLst/>
          </a:prstGeom>
        </p:spPr>
      </p:pic>
      <p:pic>
        <p:nvPicPr>
          <p:cNvPr id="26" name="Gráfico 25" descr="Advertencia con relleno sólido">
            <a:extLst>
              <a:ext uri="{FF2B5EF4-FFF2-40B4-BE49-F238E27FC236}">
                <a16:creationId xmlns:a16="http://schemas.microsoft.com/office/drawing/2014/main" id="{A82FDAB6-431D-B6ED-E30E-D617945B76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480" y="5922200"/>
            <a:ext cx="374483" cy="375070"/>
          </a:xfrm>
          <a:prstGeom prst="rect">
            <a:avLst/>
          </a:prstGeom>
        </p:spPr>
      </p:pic>
      <p:pic>
        <p:nvPicPr>
          <p:cNvPr id="27" name="Gráfico 26" descr="Advertencia con relleno sólido">
            <a:extLst>
              <a:ext uri="{FF2B5EF4-FFF2-40B4-BE49-F238E27FC236}">
                <a16:creationId xmlns:a16="http://schemas.microsoft.com/office/drawing/2014/main" id="{830B2D24-3D92-716F-095E-2AC13DB1BE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6678" y="5922200"/>
            <a:ext cx="374483" cy="375070"/>
          </a:xfrm>
          <a:prstGeom prst="rect">
            <a:avLst/>
          </a:prstGeom>
        </p:spPr>
      </p:pic>
      <p:sp>
        <p:nvSpPr>
          <p:cNvPr id="46" name="CuadroTexto 45">
            <a:extLst>
              <a:ext uri="{FF2B5EF4-FFF2-40B4-BE49-F238E27FC236}">
                <a16:creationId xmlns:a16="http://schemas.microsoft.com/office/drawing/2014/main" id="{214366A8-195D-AEF4-BE38-B33A5E82BB8E}"/>
              </a:ext>
            </a:extLst>
          </p:cNvPr>
          <p:cNvSpPr txBox="1"/>
          <p:nvPr/>
        </p:nvSpPr>
        <p:spPr>
          <a:xfrm>
            <a:off x="457201" y="1657862"/>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PEOPLE — Capacity &amp; accountability are structurally constrained</a:t>
            </a:r>
          </a:p>
        </p:txBody>
      </p:sp>
      <p:sp>
        <p:nvSpPr>
          <p:cNvPr id="47" name="CuadroTexto 46">
            <a:extLst>
              <a:ext uri="{FF2B5EF4-FFF2-40B4-BE49-F238E27FC236}">
                <a16:creationId xmlns:a16="http://schemas.microsoft.com/office/drawing/2014/main" id="{C6C17B31-379B-C6DD-FEA0-5900F8391553}"/>
              </a:ext>
            </a:extLst>
          </p:cNvPr>
          <p:cNvSpPr txBox="1"/>
          <p:nvPr/>
        </p:nvSpPr>
        <p:spPr>
          <a:xfrm>
            <a:off x="6182818" y="1657862"/>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PROCESS — Lack of standardization drives inconsistency and inefficiency</a:t>
            </a:r>
          </a:p>
        </p:txBody>
      </p:sp>
      <p:sp>
        <p:nvSpPr>
          <p:cNvPr id="48" name="CuadroTexto 47">
            <a:extLst>
              <a:ext uri="{FF2B5EF4-FFF2-40B4-BE49-F238E27FC236}">
                <a16:creationId xmlns:a16="http://schemas.microsoft.com/office/drawing/2014/main" id="{FFCEFA0C-C5B9-DDEB-B2A9-4BA05F1DCBD8}"/>
              </a:ext>
            </a:extLst>
          </p:cNvPr>
          <p:cNvSpPr txBox="1"/>
          <p:nvPr/>
        </p:nvSpPr>
        <p:spPr>
          <a:xfrm>
            <a:off x="457201" y="4045728"/>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 — Fragmented ecosystem limits visibility and control</a:t>
            </a:r>
          </a:p>
        </p:txBody>
      </p:sp>
      <p:sp>
        <p:nvSpPr>
          <p:cNvPr id="49" name="CuadroTexto 48">
            <a:extLst>
              <a:ext uri="{FF2B5EF4-FFF2-40B4-BE49-F238E27FC236}">
                <a16:creationId xmlns:a16="http://schemas.microsoft.com/office/drawing/2014/main" id="{006DD014-89FA-B7B3-0C32-C6BF21047F54}"/>
              </a:ext>
            </a:extLst>
          </p:cNvPr>
          <p:cNvSpPr txBox="1"/>
          <p:nvPr/>
        </p:nvSpPr>
        <p:spPr>
          <a:xfrm>
            <a:off x="6182818" y="4045728"/>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 — Decision-making is fragmented and not value-driven</a:t>
            </a:r>
          </a:p>
        </p:txBody>
      </p:sp>
      <p:sp>
        <p:nvSpPr>
          <p:cNvPr id="13" name="TextBox 2">
            <a:extLst>
              <a:ext uri="{FF2B5EF4-FFF2-40B4-BE49-F238E27FC236}">
                <a16:creationId xmlns:a16="http://schemas.microsoft.com/office/drawing/2014/main" id="{E20F71CE-184F-A376-F9DB-85E120DAECEA}"/>
              </a:ext>
            </a:extLst>
          </p:cNvPr>
          <p:cNvSpPr txBox="1"/>
          <p:nvPr/>
        </p:nvSpPr>
        <p:spPr>
          <a:xfrm>
            <a:off x="457201" y="964799"/>
            <a:ext cx="11329612" cy="302282"/>
          </a:xfrm>
          <a:prstGeom prst="rect">
            <a:avLst/>
          </a:prstGeom>
          <a:noFill/>
        </p:spPr>
        <p:txBody>
          <a:bodyPr wrap="square" lIns="0" tIns="0" rIns="0" bIns="0" rtlCol="0" anchor="t">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
        <p:nvSpPr>
          <p:cNvPr id="16" name="CuadroTexto 204">
            <a:extLst>
              <a:ext uri="{FF2B5EF4-FFF2-40B4-BE49-F238E27FC236}">
                <a16:creationId xmlns:a16="http://schemas.microsoft.com/office/drawing/2014/main" id="{8749E92F-9870-E594-A301-4FDC107DC7A1}"/>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The current operating model is constrained by fragmented ownership, inconsistent processes, and limited visibility across demand, delivery, and outcomes. These structural gaps prevent scalable execution and hinder the shift toward a value-driven, product-centric model.</a:t>
            </a:r>
          </a:p>
        </p:txBody>
      </p:sp>
    </p:spTree>
    <p:extLst>
      <p:ext uri="{BB962C8B-B14F-4D97-AF65-F5344CB8AC3E}">
        <p14:creationId xmlns:p14="http://schemas.microsoft.com/office/powerpoint/2010/main" val="355762984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8FFCE-C659-EECE-EDBD-C2D19F0A12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D61A67A-5F2F-55F1-2932-5AEE5859ECFD}"/>
              </a:ext>
            </a:extLst>
          </p:cNvPr>
          <p:cNvSpPr txBox="1"/>
          <p:nvPr/>
        </p:nvSpPr>
        <p:spPr>
          <a:xfrm>
            <a:off x="919524" y="1165923"/>
            <a:ext cx="6537890" cy="71474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Product Entry Point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enters through multiple disconnected channels, with no single front door aligned to products or value streams.</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(6+ disconnected channels (Jira, IT Now, RITM, SharePoint, Email, Word). No single front door.)</a:t>
            </a:r>
          </a:p>
        </p:txBody>
      </p:sp>
      <p:sp>
        <p:nvSpPr>
          <p:cNvPr id="8" name="TextBox 7">
            <a:extLst>
              <a:ext uri="{FF2B5EF4-FFF2-40B4-BE49-F238E27FC236}">
                <a16:creationId xmlns:a16="http://schemas.microsoft.com/office/drawing/2014/main" id="{03B7ECDA-8F0F-A1C1-DF3E-7AE68A79206C}"/>
              </a:ext>
            </a:extLst>
          </p:cNvPr>
          <p:cNvSpPr txBox="1"/>
          <p:nvPr/>
        </p:nvSpPr>
        <p:spPr>
          <a:xfrm>
            <a:off x="7649704" y="1394532"/>
            <a:ext cx="4199398" cy="363369"/>
          </a:xfrm>
          <a:prstGeom prst="rect">
            <a:avLst/>
          </a:prstGeom>
          <a:noFill/>
        </p:spPr>
        <p:txBody>
          <a:bodyPr wrap="square" lIns="0" tIns="0" rIns="0" bIns="0" anchor="ctr">
            <a:spAutoFit/>
          </a:bodyPr>
          <a:lstStyle>
            <a:defPPr>
              <a:defRPr lang="en-US"/>
            </a:defPPr>
            <a:lvl1pPr>
              <a:lnSpc>
                <a:spcPct val="110000"/>
              </a:lnSpc>
              <a:defRPr sz="1100" b="1"/>
            </a:lvl1p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unified intake layer structured around products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not tools or channels.</a:t>
            </a:r>
          </a:p>
        </p:txBody>
      </p:sp>
      <p:sp>
        <p:nvSpPr>
          <p:cNvPr id="11" name="TextBox 10">
            <a:extLst>
              <a:ext uri="{FF2B5EF4-FFF2-40B4-BE49-F238E27FC236}">
                <a16:creationId xmlns:a16="http://schemas.microsoft.com/office/drawing/2014/main" id="{FE25599A-D55E-EBF7-0D2E-FF8FA3918C8C}"/>
              </a:ext>
            </a:extLst>
          </p:cNvPr>
          <p:cNvSpPr txBox="1"/>
          <p:nvPr/>
        </p:nvSpPr>
        <p:spPr>
          <a:xfrm>
            <a:off x="919524" y="1982504"/>
            <a:ext cx="6537890" cy="203004"/>
          </a:xfrm>
          <a:prstGeom prst="rect">
            <a:avLst/>
          </a:prstGeom>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Value-Based Decisioning</a:t>
            </a:r>
          </a:p>
        </p:txBody>
      </p:sp>
      <p:sp>
        <p:nvSpPr>
          <p:cNvPr id="12" name="TextBox 11">
            <a:extLst>
              <a:ext uri="{FF2B5EF4-FFF2-40B4-BE49-F238E27FC236}">
                <a16:creationId xmlns:a16="http://schemas.microsoft.com/office/drawing/2014/main" id="{55759667-A2C9-5863-EE15-018498F57849}"/>
              </a:ext>
            </a:extLst>
          </p:cNvPr>
          <p:cNvSpPr txBox="1"/>
          <p:nvPr/>
        </p:nvSpPr>
        <p:spPr>
          <a:xfrm>
            <a:off x="919524" y="2186471"/>
            <a:ext cx="6537890"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Prioritization is inconsistent and driven by local criteria, with no common definition of value across initiatives.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(Each area uses different criteria — PDD, impact ×users, criticality, operational urgency, common sense.)</a:t>
            </a:r>
          </a:p>
        </p:txBody>
      </p:sp>
      <p:sp>
        <p:nvSpPr>
          <p:cNvPr id="13" name="TextBox 12">
            <a:extLst>
              <a:ext uri="{FF2B5EF4-FFF2-40B4-BE49-F238E27FC236}">
                <a16:creationId xmlns:a16="http://schemas.microsoft.com/office/drawing/2014/main" id="{9F915942-5563-5A25-2178-66F34474B682}"/>
              </a:ext>
            </a:extLst>
          </p:cNvPr>
          <p:cNvSpPr txBox="1"/>
          <p:nvPr/>
        </p:nvSpPr>
        <p:spPr>
          <a:xfrm>
            <a:off x="7649703" y="2170100"/>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standardized, value-based prioritization framework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tied to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outcomes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E1FF6654-ED03-0FD7-77E9-21009AEEA67A}"/>
              </a:ext>
            </a:extLst>
          </p:cNvPr>
          <p:cNvSpPr txBox="1"/>
          <p:nvPr/>
        </p:nvSpPr>
        <p:spPr>
          <a:xfrm>
            <a:off x="919524" y="2729234"/>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End-to-End Product View</a:t>
            </a:r>
          </a:p>
        </p:txBody>
      </p:sp>
      <p:sp>
        <p:nvSpPr>
          <p:cNvPr id="17" name="TextBox 16">
            <a:extLst>
              <a:ext uri="{FF2B5EF4-FFF2-40B4-BE49-F238E27FC236}">
                <a16:creationId xmlns:a16="http://schemas.microsoft.com/office/drawing/2014/main" id="{B912CD7D-3D82-DC04-8971-D6A48DE552D2}"/>
              </a:ext>
            </a:extLst>
          </p:cNvPr>
          <p:cNvSpPr txBox="1"/>
          <p:nvPr/>
        </p:nvSpPr>
        <p:spPr>
          <a:xfrm>
            <a:off x="919524" y="2941011"/>
            <a:ext cx="6537890"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management capabilities are fragmented, limiting visibility across demand, capacity, and delivery.</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consistent and standardized use of portfolio tool. Only Smart Metering uses PPM Now.</a:t>
            </a:r>
          </a:p>
        </p:txBody>
      </p:sp>
      <p:sp>
        <p:nvSpPr>
          <p:cNvPr id="18" name="TextBox 17">
            <a:extLst>
              <a:ext uri="{FF2B5EF4-FFF2-40B4-BE49-F238E27FC236}">
                <a16:creationId xmlns:a16="http://schemas.microsoft.com/office/drawing/2014/main" id="{A977A3E2-07AF-F069-C135-FA45F8ED0065}"/>
              </a:ext>
            </a:extLst>
          </p:cNvPr>
          <p:cNvSpPr txBox="1"/>
          <p:nvPr/>
        </p:nvSpPr>
        <p:spPr>
          <a:xfrm>
            <a:off x="7649703" y="2922031"/>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integrated portfolio tooling to manage products holistically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their lifecycle.</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E0D7804C-C0A5-B64C-7A38-90C7BAC22525}"/>
              </a:ext>
            </a:extLst>
          </p:cNvPr>
          <p:cNvSpPr txBox="1"/>
          <p:nvPr/>
        </p:nvSpPr>
        <p:spPr>
          <a:xfrm>
            <a:off x="919524" y="3480294"/>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Ownership of Outcomes</a:t>
            </a:r>
          </a:p>
        </p:txBody>
      </p:sp>
      <p:sp>
        <p:nvSpPr>
          <p:cNvPr id="22" name="TextBox 21">
            <a:extLst>
              <a:ext uri="{FF2B5EF4-FFF2-40B4-BE49-F238E27FC236}">
                <a16:creationId xmlns:a16="http://schemas.microsoft.com/office/drawing/2014/main" id="{13B57888-AFF6-5EC8-7EE1-13516D2B57F4}"/>
              </a:ext>
            </a:extLst>
          </p:cNvPr>
          <p:cNvSpPr txBox="1"/>
          <p:nvPr/>
        </p:nvSpPr>
        <p:spPr>
          <a:xfrm>
            <a:off x="919524" y="3674231"/>
            <a:ext cx="6537890"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standard process to manage delivery. Ownership is unclear across the lifecycle, with teams and vendors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defining timelines and follow-up independently</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(No standard process to manage delivery. Each team estimates, sets timelines, and follows up on delivery)</a:t>
            </a:r>
          </a:p>
        </p:txBody>
      </p:sp>
      <p:sp>
        <p:nvSpPr>
          <p:cNvPr id="23" name="TextBox 22">
            <a:extLst>
              <a:ext uri="{FF2B5EF4-FFF2-40B4-BE49-F238E27FC236}">
                <a16:creationId xmlns:a16="http://schemas.microsoft.com/office/drawing/2014/main" id="{57184A3F-5466-5ACA-4E09-B34451715754}"/>
              </a:ext>
            </a:extLst>
          </p:cNvPr>
          <p:cNvSpPr txBox="1"/>
          <p:nvPr/>
        </p:nvSpPr>
        <p:spPr>
          <a:xfrm>
            <a:off x="7649703" y="3676517"/>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ownership, performance management, and outcome-based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TextBox 25">
            <a:extLst>
              <a:ext uri="{FF2B5EF4-FFF2-40B4-BE49-F238E27FC236}">
                <a16:creationId xmlns:a16="http://schemas.microsoft.com/office/drawing/2014/main" id="{38BC375E-FC0D-2F45-8C5B-18E1B1C0F398}"/>
              </a:ext>
            </a:extLst>
          </p:cNvPr>
          <p:cNvSpPr txBox="1"/>
          <p:nvPr/>
        </p:nvSpPr>
        <p:spPr>
          <a:xfrm>
            <a:off x="919524" y="4234545"/>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Product-Level Steering</a:t>
            </a:r>
          </a:p>
        </p:txBody>
      </p:sp>
      <p:sp>
        <p:nvSpPr>
          <p:cNvPr id="27" name="TextBox 26">
            <a:extLst>
              <a:ext uri="{FF2B5EF4-FFF2-40B4-BE49-F238E27FC236}">
                <a16:creationId xmlns:a16="http://schemas.microsoft.com/office/drawing/2014/main" id="{CCE9FDB3-5F16-C251-BAFB-F396FDB2A24B}"/>
              </a:ext>
            </a:extLst>
          </p:cNvPr>
          <p:cNvSpPr txBox="1"/>
          <p:nvPr/>
        </p:nvSpPr>
        <p:spPr>
          <a:xfrm>
            <a:off x="919524" y="4442709"/>
            <a:ext cx="6196321"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Existing forums are not structured to drive portfolio-level or product-based decisions.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(Different recurring forums exist — but Manager Check-in participants are still TBC; no forum covers portfolio-level decisions.)</a:t>
            </a:r>
          </a:p>
        </p:txBody>
      </p:sp>
      <p:sp>
        <p:nvSpPr>
          <p:cNvPr id="28" name="TextBox 27">
            <a:extLst>
              <a:ext uri="{FF2B5EF4-FFF2-40B4-BE49-F238E27FC236}">
                <a16:creationId xmlns:a16="http://schemas.microsoft.com/office/drawing/2014/main" id="{C1FA6712-14CE-F305-9240-47F3DFE5569D}"/>
              </a:ext>
            </a:extLst>
          </p:cNvPr>
          <p:cNvSpPr txBox="1"/>
          <p:nvPr/>
        </p:nvSpPr>
        <p:spPr>
          <a:xfrm>
            <a:off x="7649703" y="4394429"/>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aligned to product portfolios, with clear accountability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and decision rights.</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TextBox 30">
            <a:extLst>
              <a:ext uri="{FF2B5EF4-FFF2-40B4-BE49-F238E27FC236}">
                <a16:creationId xmlns:a16="http://schemas.microsoft.com/office/drawing/2014/main" id="{C978605A-4E5F-F98B-8687-3E6CC3E9A1DA}"/>
              </a:ext>
            </a:extLst>
          </p:cNvPr>
          <p:cNvSpPr txBox="1"/>
          <p:nvPr/>
        </p:nvSpPr>
        <p:spPr>
          <a:xfrm>
            <a:off x="919524" y="4999844"/>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Common Language of Value</a:t>
            </a:r>
          </a:p>
        </p:txBody>
      </p:sp>
      <p:sp>
        <p:nvSpPr>
          <p:cNvPr id="32" name="TextBox 31">
            <a:extLst>
              <a:ext uri="{FF2B5EF4-FFF2-40B4-BE49-F238E27FC236}">
                <a16:creationId xmlns:a16="http://schemas.microsoft.com/office/drawing/2014/main" id="{2BCFA4E0-2D62-9A75-BFCA-FAB4EFA8B5CB}"/>
              </a:ext>
            </a:extLst>
          </p:cNvPr>
          <p:cNvSpPr txBox="1"/>
          <p:nvPr/>
        </p:nvSpPr>
        <p:spPr>
          <a:xfrm>
            <a:off x="919524" y="5173283"/>
            <a:ext cx="6488273"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standardized definitions of impact (client, business value) prevents consistent evaluation and comparison</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of work</a:t>
            </a: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Each demand request is worked depending on perception of value and Demand size</a:t>
            </a:r>
          </a:p>
        </p:txBody>
      </p:sp>
      <p:sp>
        <p:nvSpPr>
          <p:cNvPr id="33" name="TextBox 32">
            <a:extLst>
              <a:ext uri="{FF2B5EF4-FFF2-40B4-BE49-F238E27FC236}">
                <a16:creationId xmlns:a16="http://schemas.microsoft.com/office/drawing/2014/main" id="{953B0000-93EC-9595-8EB7-B22F181F4385}"/>
              </a:ext>
            </a:extLst>
          </p:cNvPr>
          <p:cNvSpPr txBox="1"/>
          <p:nvPr/>
        </p:nvSpPr>
        <p:spPr>
          <a:xfrm>
            <a:off x="7649703" y="5170049"/>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 shared taxonomy and classification model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as a foundation for prioritization and planning.</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20C1163F-591B-819F-4F32-6A65AA36C466}"/>
              </a:ext>
            </a:extLst>
          </p:cNvPr>
          <p:cNvSpPr/>
          <p:nvPr/>
        </p:nvSpPr>
        <p:spPr>
          <a:xfrm>
            <a:off x="180918" y="121672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B1CBF734-7062-3F40-131D-7E6164B74FF7}"/>
              </a:ext>
            </a:extLst>
          </p:cNvPr>
          <p:cNvSpPr txBox="1"/>
          <p:nvPr/>
        </p:nvSpPr>
        <p:spPr>
          <a:xfrm>
            <a:off x="328548" y="1426730"/>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01</a:t>
            </a:r>
          </a:p>
        </p:txBody>
      </p:sp>
      <p:sp>
        <p:nvSpPr>
          <p:cNvPr id="9" name="Rectangle 8">
            <a:extLst>
              <a:ext uri="{FF2B5EF4-FFF2-40B4-BE49-F238E27FC236}">
                <a16:creationId xmlns:a16="http://schemas.microsoft.com/office/drawing/2014/main" id="{53DE9A6D-E402-0745-84E4-14BA2EAFA580}"/>
              </a:ext>
            </a:extLst>
          </p:cNvPr>
          <p:cNvSpPr/>
          <p:nvPr/>
        </p:nvSpPr>
        <p:spPr>
          <a:xfrm>
            <a:off x="180918" y="197298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TextBox 9">
            <a:extLst>
              <a:ext uri="{FF2B5EF4-FFF2-40B4-BE49-F238E27FC236}">
                <a16:creationId xmlns:a16="http://schemas.microsoft.com/office/drawing/2014/main" id="{A4FA54A5-2453-4A41-5EFE-C25CFAD0EE8C}"/>
              </a:ext>
            </a:extLst>
          </p:cNvPr>
          <p:cNvSpPr txBox="1"/>
          <p:nvPr/>
        </p:nvSpPr>
        <p:spPr>
          <a:xfrm>
            <a:off x="328548" y="2182986"/>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02</a:t>
            </a:r>
          </a:p>
        </p:txBody>
      </p:sp>
      <p:sp>
        <p:nvSpPr>
          <p:cNvPr id="14" name="Rectangle 13">
            <a:extLst>
              <a:ext uri="{FF2B5EF4-FFF2-40B4-BE49-F238E27FC236}">
                <a16:creationId xmlns:a16="http://schemas.microsoft.com/office/drawing/2014/main" id="{4CEC5971-FA7E-7F71-FD28-0444AC534EE1}"/>
              </a:ext>
            </a:extLst>
          </p:cNvPr>
          <p:cNvSpPr/>
          <p:nvPr/>
        </p:nvSpPr>
        <p:spPr>
          <a:xfrm>
            <a:off x="180918" y="2729236"/>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TextBox 14">
            <a:extLst>
              <a:ext uri="{FF2B5EF4-FFF2-40B4-BE49-F238E27FC236}">
                <a16:creationId xmlns:a16="http://schemas.microsoft.com/office/drawing/2014/main" id="{D2342500-C874-B14B-BE28-D1A1D8EB955A}"/>
              </a:ext>
            </a:extLst>
          </p:cNvPr>
          <p:cNvSpPr txBox="1"/>
          <p:nvPr/>
        </p:nvSpPr>
        <p:spPr>
          <a:xfrm>
            <a:off x="328548" y="2939243"/>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03</a:t>
            </a:r>
          </a:p>
        </p:txBody>
      </p:sp>
      <p:sp>
        <p:nvSpPr>
          <p:cNvPr id="19" name="Rectangle 18">
            <a:extLst>
              <a:ext uri="{FF2B5EF4-FFF2-40B4-BE49-F238E27FC236}">
                <a16:creationId xmlns:a16="http://schemas.microsoft.com/office/drawing/2014/main" id="{7B9CD90E-C8C4-957B-0D31-7A48F57A6046}"/>
              </a:ext>
            </a:extLst>
          </p:cNvPr>
          <p:cNvSpPr/>
          <p:nvPr/>
        </p:nvSpPr>
        <p:spPr>
          <a:xfrm>
            <a:off x="180918" y="3485492"/>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743F9A00-0D41-8A39-DF7A-E48F4BCC700C}"/>
              </a:ext>
            </a:extLst>
          </p:cNvPr>
          <p:cNvSpPr txBox="1"/>
          <p:nvPr/>
        </p:nvSpPr>
        <p:spPr>
          <a:xfrm>
            <a:off x="328548" y="3695499"/>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04</a:t>
            </a:r>
          </a:p>
        </p:txBody>
      </p:sp>
      <p:sp>
        <p:nvSpPr>
          <p:cNvPr id="24" name="Rectangle 23">
            <a:extLst>
              <a:ext uri="{FF2B5EF4-FFF2-40B4-BE49-F238E27FC236}">
                <a16:creationId xmlns:a16="http://schemas.microsoft.com/office/drawing/2014/main" id="{AAEBFF2F-AA95-3D17-E4FB-EA702732B665}"/>
              </a:ext>
            </a:extLst>
          </p:cNvPr>
          <p:cNvSpPr/>
          <p:nvPr/>
        </p:nvSpPr>
        <p:spPr>
          <a:xfrm>
            <a:off x="180918" y="4241748"/>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 name="TextBox 24">
            <a:extLst>
              <a:ext uri="{FF2B5EF4-FFF2-40B4-BE49-F238E27FC236}">
                <a16:creationId xmlns:a16="http://schemas.microsoft.com/office/drawing/2014/main" id="{4F4E4661-F99F-BF68-A500-44298C8748D0}"/>
              </a:ext>
            </a:extLst>
          </p:cNvPr>
          <p:cNvSpPr txBox="1"/>
          <p:nvPr/>
        </p:nvSpPr>
        <p:spPr>
          <a:xfrm>
            <a:off x="328548" y="4451755"/>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05</a:t>
            </a:r>
          </a:p>
        </p:txBody>
      </p:sp>
      <p:sp>
        <p:nvSpPr>
          <p:cNvPr id="29" name="Rectangle 28">
            <a:extLst>
              <a:ext uri="{FF2B5EF4-FFF2-40B4-BE49-F238E27FC236}">
                <a16:creationId xmlns:a16="http://schemas.microsoft.com/office/drawing/2014/main" id="{559DF347-8FD6-C010-A8FA-D33C968115A0}"/>
              </a:ext>
            </a:extLst>
          </p:cNvPr>
          <p:cNvSpPr/>
          <p:nvPr/>
        </p:nvSpPr>
        <p:spPr>
          <a:xfrm>
            <a:off x="180918" y="499800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 name="TextBox 29">
            <a:extLst>
              <a:ext uri="{FF2B5EF4-FFF2-40B4-BE49-F238E27FC236}">
                <a16:creationId xmlns:a16="http://schemas.microsoft.com/office/drawing/2014/main" id="{4817191B-F429-13BF-3027-B79F25DA8D39}"/>
              </a:ext>
            </a:extLst>
          </p:cNvPr>
          <p:cNvSpPr txBox="1"/>
          <p:nvPr/>
        </p:nvSpPr>
        <p:spPr>
          <a:xfrm>
            <a:off x="328548" y="5208011"/>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06</a:t>
            </a:r>
          </a:p>
        </p:txBody>
      </p:sp>
      <p:sp>
        <p:nvSpPr>
          <p:cNvPr id="34" name="Rectangle 33">
            <a:extLst>
              <a:ext uri="{FF2B5EF4-FFF2-40B4-BE49-F238E27FC236}">
                <a16:creationId xmlns:a16="http://schemas.microsoft.com/office/drawing/2014/main" id="{7CB38AF0-9664-9179-BC32-4FDA86A5AFF5}"/>
              </a:ext>
            </a:extLst>
          </p:cNvPr>
          <p:cNvSpPr/>
          <p:nvPr/>
        </p:nvSpPr>
        <p:spPr>
          <a:xfrm>
            <a:off x="180918" y="575426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5" name="TextBox 34">
            <a:extLst>
              <a:ext uri="{FF2B5EF4-FFF2-40B4-BE49-F238E27FC236}">
                <a16:creationId xmlns:a16="http://schemas.microsoft.com/office/drawing/2014/main" id="{7E1E65A6-FD64-0A4C-24DE-D902576C3D09}"/>
              </a:ext>
            </a:extLst>
          </p:cNvPr>
          <p:cNvSpPr txBox="1"/>
          <p:nvPr/>
        </p:nvSpPr>
        <p:spPr>
          <a:xfrm>
            <a:off x="328548" y="5964267"/>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07</a:t>
            </a:r>
          </a:p>
        </p:txBody>
      </p:sp>
      <p:sp>
        <p:nvSpPr>
          <p:cNvPr id="36" name="TextBox 35">
            <a:extLst>
              <a:ext uri="{FF2B5EF4-FFF2-40B4-BE49-F238E27FC236}">
                <a16:creationId xmlns:a16="http://schemas.microsoft.com/office/drawing/2014/main" id="{7FCD3939-ADA8-7895-896C-C96CF1141B5E}"/>
              </a:ext>
            </a:extLst>
          </p:cNvPr>
          <p:cNvSpPr txBox="1"/>
          <p:nvPr/>
        </p:nvSpPr>
        <p:spPr>
          <a:xfrm>
            <a:off x="919524" y="5754257"/>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Product Ownership Model</a:t>
            </a:r>
          </a:p>
        </p:txBody>
      </p:sp>
      <p:sp>
        <p:nvSpPr>
          <p:cNvPr id="37" name="TextBox 36">
            <a:extLst>
              <a:ext uri="{FF2B5EF4-FFF2-40B4-BE49-F238E27FC236}">
                <a16:creationId xmlns:a16="http://schemas.microsoft.com/office/drawing/2014/main" id="{2740F3F6-849E-49FD-FBF4-274EB0850E03}"/>
              </a:ext>
            </a:extLst>
          </p:cNvPr>
          <p:cNvSpPr txBox="1"/>
          <p:nvPr/>
        </p:nvSpPr>
        <p:spPr>
          <a:xfrm>
            <a:off x="919524" y="5966732"/>
            <a:ext cx="6363262"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is organized around projects and applications, with limited alignment to value streams or business outcomes</a:t>
            </a: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(Demand is organized by application silo, not by Value Stream. IT requests don't trace to business OKRs)</a:t>
            </a:r>
          </a:p>
        </p:txBody>
      </p:sp>
      <p:sp>
        <p:nvSpPr>
          <p:cNvPr id="38" name="TextBox 37">
            <a:extLst>
              <a:ext uri="{FF2B5EF4-FFF2-40B4-BE49-F238E27FC236}">
                <a16:creationId xmlns:a16="http://schemas.microsoft.com/office/drawing/2014/main" id="{2EF74562-DE7E-9360-A525-EE6CE50C1000}"/>
              </a:ext>
            </a:extLst>
          </p:cNvPr>
          <p:cNvSpPr txBox="1"/>
          <p:nvPr/>
        </p:nvSpPr>
        <p:spPr>
          <a:xfrm>
            <a:off x="7649703" y="5945669"/>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organizing around products, with clear ownership and alignment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 business OKRs.</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ítulo 2">
            <a:extLst>
              <a:ext uri="{FF2B5EF4-FFF2-40B4-BE49-F238E27FC236}">
                <a16:creationId xmlns:a16="http://schemas.microsoft.com/office/drawing/2014/main" id="{F83D02D0-A2F8-F22F-FECD-C6A2F214BFB4}"/>
              </a:ext>
            </a:extLst>
          </p:cNvPr>
          <p:cNvSpPr txBox="1">
            <a:spLocks/>
          </p:cNvSpPr>
          <p:nvPr/>
        </p:nvSpPr>
        <p:spPr>
          <a:xfrm>
            <a:off x="180917" y="127319"/>
            <a:ext cx="891545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STRUCTURAL MISALIGNMENT</a:t>
            </a:r>
          </a:p>
        </p:txBody>
      </p:sp>
      <p:sp>
        <p:nvSpPr>
          <p:cNvPr id="56" name="TextBox 55">
            <a:extLst>
              <a:ext uri="{FF2B5EF4-FFF2-40B4-BE49-F238E27FC236}">
                <a16:creationId xmlns:a16="http://schemas.microsoft.com/office/drawing/2014/main" id="{A19F4049-AB83-F281-3296-B8BDC06C5193}"/>
              </a:ext>
            </a:extLst>
          </p:cNvPr>
          <p:cNvSpPr txBox="1"/>
          <p:nvPr/>
        </p:nvSpPr>
        <p:spPr>
          <a:xfrm>
            <a:off x="246506" y="84491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cxnSp>
        <p:nvCxnSpPr>
          <p:cNvPr id="39" name="Straight Connector 38">
            <a:extLst>
              <a:ext uri="{FF2B5EF4-FFF2-40B4-BE49-F238E27FC236}">
                <a16:creationId xmlns:a16="http://schemas.microsoft.com/office/drawing/2014/main" id="{0CE93ADF-4F94-3AB0-A6B4-ADAB51DD75AD}"/>
              </a:ext>
            </a:extLst>
          </p:cNvPr>
          <p:cNvCxnSpPr>
            <a:cxnSpLocks/>
          </p:cNvCxnSpPr>
          <p:nvPr/>
        </p:nvCxnSpPr>
        <p:spPr>
          <a:xfrm flipV="1">
            <a:off x="180918" y="1909814"/>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1" name="Straight Connector 40">
            <a:extLst>
              <a:ext uri="{FF2B5EF4-FFF2-40B4-BE49-F238E27FC236}">
                <a16:creationId xmlns:a16="http://schemas.microsoft.com/office/drawing/2014/main" id="{4CBC7F00-8B6E-C6B0-CE8D-804B6A0F710B}"/>
              </a:ext>
            </a:extLst>
          </p:cNvPr>
          <p:cNvCxnSpPr>
            <a:cxnSpLocks/>
          </p:cNvCxnSpPr>
          <p:nvPr/>
        </p:nvCxnSpPr>
        <p:spPr>
          <a:xfrm flipV="1">
            <a:off x="180918" y="266316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2" name="Straight Connector 41">
            <a:extLst>
              <a:ext uri="{FF2B5EF4-FFF2-40B4-BE49-F238E27FC236}">
                <a16:creationId xmlns:a16="http://schemas.microsoft.com/office/drawing/2014/main" id="{2E38D1ED-2446-618E-6A35-FBE42B5F9B91}"/>
              </a:ext>
            </a:extLst>
          </p:cNvPr>
          <p:cNvCxnSpPr>
            <a:cxnSpLocks/>
          </p:cNvCxnSpPr>
          <p:nvPr/>
        </p:nvCxnSpPr>
        <p:spPr>
          <a:xfrm flipV="1">
            <a:off x="180918" y="3427289"/>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3" name="Straight Connector 42">
            <a:extLst>
              <a:ext uri="{FF2B5EF4-FFF2-40B4-BE49-F238E27FC236}">
                <a16:creationId xmlns:a16="http://schemas.microsoft.com/office/drawing/2014/main" id="{BECBF508-09DA-14AB-1C92-7BF865BE8D70}"/>
              </a:ext>
            </a:extLst>
          </p:cNvPr>
          <p:cNvCxnSpPr>
            <a:cxnSpLocks/>
          </p:cNvCxnSpPr>
          <p:nvPr/>
        </p:nvCxnSpPr>
        <p:spPr>
          <a:xfrm flipV="1">
            <a:off x="180918" y="4180332"/>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4" name="Straight Connector 43">
            <a:extLst>
              <a:ext uri="{FF2B5EF4-FFF2-40B4-BE49-F238E27FC236}">
                <a16:creationId xmlns:a16="http://schemas.microsoft.com/office/drawing/2014/main" id="{DAFC5F53-CB47-0E21-C395-E22A71F61C21}"/>
              </a:ext>
            </a:extLst>
          </p:cNvPr>
          <p:cNvCxnSpPr>
            <a:cxnSpLocks/>
          </p:cNvCxnSpPr>
          <p:nvPr/>
        </p:nvCxnSpPr>
        <p:spPr>
          <a:xfrm flipV="1">
            <a:off x="180918" y="4942556"/>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5" name="Straight Connector 44">
            <a:extLst>
              <a:ext uri="{FF2B5EF4-FFF2-40B4-BE49-F238E27FC236}">
                <a16:creationId xmlns:a16="http://schemas.microsoft.com/office/drawing/2014/main" id="{71C2411E-9A70-724B-0D04-1D9975401308}"/>
              </a:ext>
            </a:extLst>
          </p:cNvPr>
          <p:cNvCxnSpPr>
            <a:cxnSpLocks/>
          </p:cNvCxnSpPr>
          <p:nvPr/>
        </p:nvCxnSpPr>
        <p:spPr>
          <a:xfrm flipV="1">
            <a:off x="180918" y="569337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sp>
        <p:nvSpPr>
          <p:cNvPr id="46" name="Arrow: Chevron 45">
            <a:extLst>
              <a:ext uri="{FF2B5EF4-FFF2-40B4-BE49-F238E27FC236}">
                <a16:creationId xmlns:a16="http://schemas.microsoft.com/office/drawing/2014/main" id="{37D48F30-36FD-C81C-A93D-C75F8835002A}"/>
              </a:ext>
            </a:extLst>
          </p:cNvPr>
          <p:cNvSpPr/>
          <p:nvPr/>
        </p:nvSpPr>
        <p:spPr>
          <a:xfrm>
            <a:off x="7248324" y="149269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Arrow: Chevron 46">
            <a:extLst>
              <a:ext uri="{FF2B5EF4-FFF2-40B4-BE49-F238E27FC236}">
                <a16:creationId xmlns:a16="http://schemas.microsoft.com/office/drawing/2014/main" id="{8CF60CF9-2116-5AD8-2442-81A17F1D437A}"/>
              </a:ext>
            </a:extLst>
          </p:cNvPr>
          <p:cNvSpPr/>
          <p:nvPr/>
        </p:nvSpPr>
        <p:spPr>
          <a:xfrm>
            <a:off x="7263736" y="22422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Arrow: Chevron 47">
            <a:extLst>
              <a:ext uri="{FF2B5EF4-FFF2-40B4-BE49-F238E27FC236}">
                <a16:creationId xmlns:a16="http://schemas.microsoft.com/office/drawing/2014/main" id="{DB2745DD-02D0-D4D5-2FF7-8D1B5EC020A6}"/>
              </a:ext>
            </a:extLst>
          </p:cNvPr>
          <p:cNvSpPr/>
          <p:nvPr/>
        </p:nvSpPr>
        <p:spPr>
          <a:xfrm>
            <a:off x="7290338" y="3002473"/>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Arrow: Chevron 48">
            <a:extLst>
              <a:ext uri="{FF2B5EF4-FFF2-40B4-BE49-F238E27FC236}">
                <a16:creationId xmlns:a16="http://schemas.microsoft.com/office/drawing/2014/main" id="{D8AF466A-B659-056E-4551-19EC76BE4D30}"/>
              </a:ext>
            </a:extLst>
          </p:cNvPr>
          <p:cNvSpPr/>
          <p:nvPr/>
        </p:nvSpPr>
        <p:spPr>
          <a:xfrm>
            <a:off x="7290338" y="376174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Arrow: Chevron 49">
            <a:extLst>
              <a:ext uri="{FF2B5EF4-FFF2-40B4-BE49-F238E27FC236}">
                <a16:creationId xmlns:a16="http://schemas.microsoft.com/office/drawing/2014/main" id="{DFAE442D-D0D6-2CCD-E94A-493EEE011C4D}"/>
              </a:ext>
            </a:extLst>
          </p:cNvPr>
          <p:cNvSpPr/>
          <p:nvPr/>
        </p:nvSpPr>
        <p:spPr>
          <a:xfrm>
            <a:off x="7289084" y="451242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Arrow: Chevron 50">
            <a:extLst>
              <a:ext uri="{FF2B5EF4-FFF2-40B4-BE49-F238E27FC236}">
                <a16:creationId xmlns:a16="http://schemas.microsoft.com/office/drawing/2014/main" id="{1133C9ED-98FF-74C0-9961-73E55748D9CA}"/>
              </a:ext>
            </a:extLst>
          </p:cNvPr>
          <p:cNvSpPr/>
          <p:nvPr/>
        </p:nvSpPr>
        <p:spPr>
          <a:xfrm>
            <a:off x="7286608" y="528218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Arrow: Chevron 51">
            <a:extLst>
              <a:ext uri="{FF2B5EF4-FFF2-40B4-BE49-F238E27FC236}">
                <a16:creationId xmlns:a16="http://schemas.microsoft.com/office/drawing/2014/main" id="{F07FFEE8-CAE4-36DB-5F95-D54E1E385DE4}"/>
              </a:ext>
            </a:extLst>
          </p:cNvPr>
          <p:cNvSpPr/>
          <p:nvPr/>
        </p:nvSpPr>
        <p:spPr>
          <a:xfrm>
            <a:off x="7301311" y="60695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Arrow: Chevron 52">
            <a:extLst>
              <a:ext uri="{FF2B5EF4-FFF2-40B4-BE49-F238E27FC236}">
                <a16:creationId xmlns:a16="http://schemas.microsoft.com/office/drawing/2014/main" id="{695E907D-61C3-ECD7-8520-17F834098A0A}"/>
              </a:ext>
            </a:extLst>
          </p:cNvPr>
          <p:cNvSpPr/>
          <p:nvPr/>
        </p:nvSpPr>
        <p:spPr>
          <a:xfrm>
            <a:off x="7341991" y="149269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Arrow: Chevron 54">
            <a:extLst>
              <a:ext uri="{FF2B5EF4-FFF2-40B4-BE49-F238E27FC236}">
                <a16:creationId xmlns:a16="http://schemas.microsoft.com/office/drawing/2014/main" id="{BFCC817D-8CAE-2094-E1C4-9C87ACC4FC73}"/>
              </a:ext>
            </a:extLst>
          </p:cNvPr>
          <p:cNvSpPr/>
          <p:nvPr/>
        </p:nvSpPr>
        <p:spPr>
          <a:xfrm>
            <a:off x="7357403" y="22422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Arrow: Chevron 56">
            <a:extLst>
              <a:ext uri="{FF2B5EF4-FFF2-40B4-BE49-F238E27FC236}">
                <a16:creationId xmlns:a16="http://schemas.microsoft.com/office/drawing/2014/main" id="{DBAD46CB-DE5E-ED53-A894-2E6293E9478F}"/>
              </a:ext>
            </a:extLst>
          </p:cNvPr>
          <p:cNvSpPr/>
          <p:nvPr/>
        </p:nvSpPr>
        <p:spPr>
          <a:xfrm>
            <a:off x="7384005" y="3002473"/>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Arrow: Chevron 57">
            <a:extLst>
              <a:ext uri="{FF2B5EF4-FFF2-40B4-BE49-F238E27FC236}">
                <a16:creationId xmlns:a16="http://schemas.microsoft.com/office/drawing/2014/main" id="{27DE69BC-71FE-2914-8BF5-C2F1733ED383}"/>
              </a:ext>
            </a:extLst>
          </p:cNvPr>
          <p:cNvSpPr/>
          <p:nvPr/>
        </p:nvSpPr>
        <p:spPr>
          <a:xfrm>
            <a:off x="7384005" y="376174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Arrow: Chevron 58">
            <a:extLst>
              <a:ext uri="{FF2B5EF4-FFF2-40B4-BE49-F238E27FC236}">
                <a16:creationId xmlns:a16="http://schemas.microsoft.com/office/drawing/2014/main" id="{214569F2-39D2-AD1F-4F73-9A1FC1014174}"/>
              </a:ext>
            </a:extLst>
          </p:cNvPr>
          <p:cNvSpPr/>
          <p:nvPr/>
        </p:nvSpPr>
        <p:spPr>
          <a:xfrm>
            <a:off x="7382751" y="451242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Arrow: Chevron 59">
            <a:extLst>
              <a:ext uri="{FF2B5EF4-FFF2-40B4-BE49-F238E27FC236}">
                <a16:creationId xmlns:a16="http://schemas.microsoft.com/office/drawing/2014/main" id="{FFFAC70C-E095-F8B8-B764-044EEFB772F7}"/>
              </a:ext>
            </a:extLst>
          </p:cNvPr>
          <p:cNvSpPr/>
          <p:nvPr/>
        </p:nvSpPr>
        <p:spPr>
          <a:xfrm>
            <a:off x="7380275" y="528218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Arrow: Chevron 60">
            <a:extLst>
              <a:ext uri="{FF2B5EF4-FFF2-40B4-BE49-F238E27FC236}">
                <a16:creationId xmlns:a16="http://schemas.microsoft.com/office/drawing/2014/main" id="{2F076F43-D3A3-1559-22A1-F56AB6D925F7}"/>
              </a:ext>
            </a:extLst>
          </p:cNvPr>
          <p:cNvSpPr/>
          <p:nvPr/>
        </p:nvSpPr>
        <p:spPr>
          <a:xfrm>
            <a:off x="7394978" y="60695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 name="CuadroTexto 204">
            <a:extLst>
              <a:ext uri="{FF2B5EF4-FFF2-40B4-BE49-F238E27FC236}">
                <a16:creationId xmlns:a16="http://schemas.microsoft.com/office/drawing/2014/main" id="{F5EBA66E-7353-F9F2-5898-6DC2F2335B5A}"/>
              </a:ext>
            </a:extLst>
          </p:cNvPr>
          <p:cNvSpPr txBox="1"/>
          <p:nvPr/>
        </p:nvSpPr>
        <p:spPr>
          <a:xfrm>
            <a:off x="325121" y="864643"/>
            <a:ext cx="115049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Seven structural issues surface — no single-area fix resolves them; the TOM must standardize end-to-end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6753128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0C9DD-3777-E27D-80F1-E3C6ECFC41DD}"/>
            </a:ext>
          </a:extLst>
        </p:cNvPr>
        <p:cNvGrpSpPr/>
        <p:nvPr/>
      </p:nvGrpSpPr>
      <p:grpSpPr>
        <a:xfrm>
          <a:off x="0" y="0"/>
          <a:ext cx="0" cy="0"/>
          <a:chOff x="0" y="0"/>
          <a:chExt cx="0" cy="0"/>
        </a:xfrm>
      </p:grpSpPr>
      <p:cxnSp>
        <p:nvCxnSpPr>
          <p:cNvPr id="27" name="Conector recto 26">
            <a:extLst>
              <a:ext uri="{FF2B5EF4-FFF2-40B4-BE49-F238E27FC236}">
                <a16:creationId xmlns:a16="http://schemas.microsoft.com/office/drawing/2014/main" id="{A53DE123-A4D2-7771-9868-661627C043DA}"/>
              </a:ext>
            </a:extLst>
          </p:cNvPr>
          <p:cNvCxnSpPr>
            <a:cxnSpLocks/>
          </p:cNvCxnSpPr>
          <p:nvPr/>
        </p:nvCxnSpPr>
        <p:spPr>
          <a:xfrm>
            <a:off x="1162001" y="1972058"/>
            <a:ext cx="2187038" cy="0"/>
          </a:xfrm>
          <a:prstGeom prst="line">
            <a:avLst/>
          </a:prstGeom>
          <a:solidFill>
            <a:schemeClr val="bg1"/>
          </a:solidFill>
          <a:ln w="19050">
            <a:solidFill>
              <a:srgbClr val="D9D9D9"/>
            </a:solidFill>
            <a:prstDash val="dash"/>
          </a:ln>
        </p:spPr>
      </p:cxnSp>
      <p:cxnSp>
        <p:nvCxnSpPr>
          <p:cNvPr id="35" name="Conector recto 34">
            <a:extLst>
              <a:ext uri="{FF2B5EF4-FFF2-40B4-BE49-F238E27FC236}">
                <a16:creationId xmlns:a16="http://schemas.microsoft.com/office/drawing/2014/main" id="{C7737B3C-C970-9F85-C714-26D0D7DDC225}"/>
              </a:ext>
            </a:extLst>
          </p:cNvPr>
          <p:cNvCxnSpPr>
            <a:cxnSpLocks/>
          </p:cNvCxnSpPr>
          <p:nvPr/>
        </p:nvCxnSpPr>
        <p:spPr>
          <a:xfrm>
            <a:off x="1162001" y="6093306"/>
            <a:ext cx="2187038" cy="0"/>
          </a:xfrm>
          <a:prstGeom prst="line">
            <a:avLst/>
          </a:prstGeom>
          <a:solidFill>
            <a:schemeClr val="bg1"/>
          </a:solidFill>
          <a:ln w="19050">
            <a:solidFill>
              <a:srgbClr val="D9D9D9"/>
            </a:solidFill>
            <a:prstDash val="dash"/>
          </a:ln>
        </p:spPr>
      </p:cxnSp>
      <p:cxnSp>
        <p:nvCxnSpPr>
          <p:cNvPr id="33" name="Conector recto 32">
            <a:extLst>
              <a:ext uri="{FF2B5EF4-FFF2-40B4-BE49-F238E27FC236}">
                <a16:creationId xmlns:a16="http://schemas.microsoft.com/office/drawing/2014/main" id="{F591FEA5-67B0-B4F2-CF48-4A1667D7DE75}"/>
              </a:ext>
            </a:extLst>
          </p:cNvPr>
          <p:cNvCxnSpPr>
            <a:cxnSpLocks/>
          </p:cNvCxnSpPr>
          <p:nvPr/>
        </p:nvCxnSpPr>
        <p:spPr>
          <a:xfrm>
            <a:off x="2489200" y="3345673"/>
            <a:ext cx="2275840" cy="0"/>
          </a:xfrm>
          <a:prstGeom prst="line">
            <a:avLst/>
          </a:prstGeom>
          <a:solidFill>
            <a:schemeClr val="bg1"/>
          </a:solidFill>
          <a:ln w="19050">
            <a:solidFill>
              <a:srgbClr val="D9D9D9"/>
            </a:solidFill>
            <a:prstDash val="dash"/>
          </a:ln>
        </p:spPr>
      </p:cxnSp>
      <p:cxnSp>
        <p:nvCxnSpPr>
          <p:cNvPr id="34" name="Conector recto 33">
            <a:extLst>
              <a:ext uri="{FF2B5EF4-FFF2-40B4-BE49-F238E27FC236}">
                <a16:creationId xmlns:a16="http://schemas.microsoft.com/office/drawing/2014/main" id="{75D06E56-E499-374A-75DD-1D85761366A3}"/>
              </a:ext>
            </a:extLst>
          </p:cNvPr>
          <p:cNvCxnSpPr>
            <a:cxnSpLocks/>
          </p:cNvCxnSpPr>
          <p:nvPr/>
        </p:nvCxnSpPr>
        <p:spPr>
          <a:xfrm>
            <a:off x="2489200" y="4719690"/>
            <a:ext cx="2275840" cy="0"/>
          </a:xfrm>
          <a:prstGeom prst="line">
            <a:avLst/>
          </a:prstGeom>
          <a:solidFill>
            <a:schemeClr val="bg1"/>
          </a:solidFill>
          <a:ln w="19050">
            <a:solidFill>
              <a:srgbClr val="D9D9D9"/>
            </a:solidFill>
            <a:prstDash val="dash"/>
          </a:ln>
        </p:spPr>
      </p:cxnSp>
      <p:sp>
        <p:nvSpPr>
          <p:cNvPr id="28" name="CuadroTexto 27">
            <a:extLst>
              <a:ext uri="{FF2B5EF4-FFF2-40B4-BE49-F238E27FC236}">
                <a16:creationId xmlns:a16="http://schemas.microsoft.com/office/drawing/2014/main" id="{E5B37B8D-C75B-817C-557E-86F86D2717C4}"/>
              </a:ext>
            </a:extLst>
          </p:cNvPr>
          <p:cNvSpPr txBox="1"/>
          <p:nvPr/>
        </p:nvSpPr>
        <p:spPr>
          <a:xfrm>
            <a:off x="3281680" y="1406082"/>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CuadroTexto 28">
            <a:extLst>
              <a:ext uri="{FF2B5EF4-FFF2-40B4-BE49-F238E27FC236}">
                <a16:creationId xmlns:a16="http://schemas.microsoft.com/office/drawing/2014/main" id="{72004FF8-F177-A918-F076-E7CCA3FC70C7}"/>
              </a:ext>
            </a:extLst>
          </p:cNvPr>
          <p:cNvSpPr txBox="1"/>
          <p:nvPr/>
        </p:nvSpPr>
        <p:spPr>
          <a:xfrm>
            <a:off x="3281680" y="2779831"/>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CuadroTexto 29">
            <a:extLst>
              <a:ext uri="{FF2B5EF4-FFF2-40B4-BE49-F238E27FC236}">
                <a16:creationId xmlns:a16="http://schemas.microsoft.com/office/drawing/2014/main" id="{7B2F01F3-A98C-ACCE-4998-9E9E812D076E}"/>
              </a:ext>
            </a:extLst>
          </p:cNvPr>
          <p:cNvSpPr txBox="1"/>
          <p:nvPr/>
        </p:nvSpPr>
        <p:spPr>
          <a:xfrm>
            <a:off x="3281680" y="4153580"/>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CuadroTexto 30">
            <a:extLst>
              <a:ext uri="{FF2B5EF4-FFF2-40B4-BE49-F238E27FC236}">
                <a16:creationId xmlns:a16="http://schemas.microsoft.com/office/drawing/2014/main" id="{C2B658A3-1411-40B0-B354-B030D8870913}"/>
              </a:ext>
            </a:extLst>
          </p:cNvPr>
          <p:cNvSpPr txBox="1"/>
          <p:nvPr/>
        </p:nvSpPr>
        <p:spPr>
          <a:xfrm>
            <a:off x="3281680" y="5527330"/>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 name="Graphic 26">
            <a:extLst>
              <a:ext uri="{FF2B5EF4-FFF2-40B4-BE49-F238E27FC236}">
                <a16:creationId xmlns:a16="http://schemas.microsoft.com/office/drawing/2014/main" id="{83A1ADD2-49F7-64FC-A3F7-5DADC0CD2A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0330" y="1558935"/>
            <a:ext cx="2242867" cy="4947494"/>
          </a:xfrm>
          <a:prstGeom prst="rect">
            <a:avLst/>
          </a:prstGeom>
        </p:spPr>
      </p:pic>
      <p:sp>
        <p:nvSpPr>
          <p:cNvPr id="6" name="CuadroTexto 5">
            <a:extLst>
              <a:ext uri="{FF2B5EF4-FFF2-40B4-BE49-F238E27FC236}">
                <a16:creationId xmlns:a16="http://schemas.microsoft.com/office/drawing/2014/main" id="{89F96059-1BCE-69B4-DDEF-B8934FA8995D}"/>
              </a:ext>
            </a:extLst>
          </p:cNvPr>
          <p:cNvSpPr txBox="1"/>
          <p:nvPr/>
        </p:nvSpPr>
        <p:spPr>
          <a:xfrm>
            <a:off x="3449684" y="1833157"/>
            <a:ext cx="24579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DEMAND INTAKE &amp; STRUCTURING</a:t>
            </a:r>
          </a:p>
        </p:txBody>
      </p:sp>
      <p:sp>
        <p:nvSpPr>
          <p:cNvPr id="8" name="CuadroTexto 7">
            <a:extLst>
              <a:ext uri="{FF2B5EF4-FFF2-40B4-BE49-F238E27FC236}">
                <a16:creationId xmlns:a16="http://schemas.microsoft.com/office/drawing/2014/main" id="{E3C4F582-01E4-9F55-345B-AA924F0B705B}"/>
              </a:ext>
            </a:extLst>
          </p:cNvPr>
          <p:cNvSpPr txBox="1"/>
          <p:nvPr/>
        </p:nvSpPr>
        <p:spPr>
          <a:xfrm>
            <a:off x="3449684" y="3114975"/>
            <a:ext cx="24579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VALUE-BASED PRIORITIZATION</a:t>
            </a:r>
          </a:p>
        </p:txBody>
      </p:sp>
      <p:sp>
        <p:nvSpPr>
          <p:cNvPr id="10" name="CuadroTexto 9">
            <a:extLst>
              <a:ext uri="{FF2B5EF4-FFF2-40B4-BE49-F238E27FC236}">
                <a16:creationId xmlns:a16="http://schemas.microsoft.com/office/drawing/2014/main" id="{0683C771-0684-00AB-4EEB-8EF50AEC27F7}"/>
              </a:ext>
            </a:extLst>
          </p:cNvPr>
          <p:cNvSpPr txBox="1"/>
          <p:nvPr/>
        </p:nvSpPr>
        <p:spPr>
          <a:xfrm>
            <a:off x="3321453" y="4488858"/>
            <a:ext cx="263230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12" name="CuadroTexto 11">
            <a:extLst>
              <a:ext uri="{FF2B5EF4-FFF2-40B4-BE49-F238E27FC236}">
                <a16:creationId xmlns:a16="http://schemas.microsoft.com/office/drawing/2014/main" id="{4D44C156-5C23-4C2C-E5A2-97E483433FB1}"/>
              </a:ext>
            </a:extLst>
          </p:cNvPr>
          <p:cNvSpPr txBox="1"/>
          <p:nvPr/>
        </p:nvSpPr>
        <p:spPr>
          <a:xfrm>
            <a:off x="3449684" y="5862474"/>
            <a:ext cx="24579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PRODUCT GOVERNANCE &amp; OWNERSHIP</a:t>
            </a:r>
          </a:p>
        </p:txBody>
      </p:sp>
      <p:sp>
        <p:nvSpPr>
          <p:cNvPr id="4" name="CuadroTexto 3">
            <a:extLst>
              <a:ext uri="{FF2B5EF4-FFF2-40B4-BE49-F238E27FC236}">
                <a16:creationId xmlns:a16="http://schemas.microsoft.com/office/drawing/2014/main" id="{79326F04-7975-D36B-8173-50844617811B}"/>
              </a:ext>
            </a:extLst>
          </p:cNvPr>
          <p:cNvSpPr txBox="1"/>
          <p:nvPr/>
        </p:nvSpPr>
        <p:spPr>
          <a:xfrm>
            <a:off x="5695538" y="5635859"/>
            <a:ext cx="5808890" cy="938719"/>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accountability and governance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ensure decisions are aligned to product outcomes.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Defined roles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(Product Owner / Product Manager / Tech Lead)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Product-based governance forums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with decision rights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Vendor management aligned to 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KPIs tied to product outcomes and business value</a:t>
            </a:r>
          </a:p>
        </p:txBody>
      </p:sp>
      <p:sp>
        <p:nvSpPr>
          <p:cNvPr id="14" name="CuadroTexto 13">
            <a:extLst>
              <a:ext uri="{FF2B5EF4-FFF2-40B4-BE49-F238E27FC236}">
                <a16:creationId xmlns:a16="http://schemas.microsoft.com/office/drawing/2014/main" id="{F6B658C9-6BA5-06CA-1802-E88DDA59806A}"/>
              </a:ext>
            </a:extLst>
          </p:cNvPr>
          <p:cNvSpPr txBox="1"/>
          <p:nvPr/>
        </p:nvSpPr>
        <p:spPr>
          <a:xfrm>
            <a:off x="5695538" y="1417658"/>
            <a:ext cx="5862050" cy="1107996"/>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 demand must be captured through a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unified intake layer aligned to products or value streams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ensuring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full visibility and traceability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Single entry point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 product/value stream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Standard intake criteria and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mandatory fields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Consistent demand categorization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teams (type, size, complexity, value driver)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ownership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 triage and backlog assignment </a:t>
            </a:r>
          </a:p>
        </p:txBody>
      </p:sp>
      <p:sp>
        <p:nvSpPr>
          <p:cNvPr id="16" name="CuadroTexto 15">
            <a:extLst>
              <a:ext uri="{FF2B5EF4-FFF2-40B4-BE49-F238E27FC236}">
                <a16:creationId xmlns:a16="http://schemas.microsoft.com/office/drawing/2014/main" id="{1881F9D3-DF2C-9566-7EAD-1CEAAC2A2E4D}"/>
              </a:ext>
            </a:extLst>
          </p:cNvPr>
          <p:cNvSpPr txBox="1"/>
          <p:nvPr/>
        </p:nvSpPr>
        <p:spPr>
          <a:xfrm>
            <a:off x="5695538" y="2791675"/>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is consistently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evaluated and prioritized using a standardized framework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tied to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outcomes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Common scoring model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 urgency, risk, effort)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Transparent prioritization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competing demands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Product-level backlog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ownership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Trade-offs made at portfolio/product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level </a:t>
            </a:r>
          </a:p>
        </p:txBody>
      </p:sp>
      <p:sp>
        <p:nvSpPr>
          <p:cNvPr id="18" name="CuadroTexto 17">
            <a:extLst>
              <a:ext uri="{FF2B5EF4-FFF2-40B4-BE49-F238E27FC236}">
                <a16:creationId xmlns:a16="http://schemas.microsoft.com/office/drawing/2014/main" id="{EFB8869E-FDB8-8C50-39F3-EF34E153EDC7}"/>
              </a:ext>
            </a:extLst>
          </p:cNvPr>
          <p:cNvSpPr txBox="1"/>
          <p:nvPr/>
        </p:nvSpPr>
        <p:spPr>
          <a:xfrm>
            <a:off x="5695538" y="4165692"/>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End-to-end visibility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enables coordinated planning across demand, capacity, and delivery.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Integrated portfolio view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all products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Capacity planning aligned to product priorities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Roadmaps managed at product level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 project level)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Continuous tracking of delivery and outcomes </a:t>
            </a:r>
          </a:p>
        </p:txBody>
      </p:sp>
      <p:sp>
        <p:nvSpPr>
          <p:cNvPr id="19" name="Título 2">
            <a:extLst>
              <a:ext uri="{FF2B5EF4-FFF2-40B4-BE49-F238E27FC236}">
                <a16:creationId xmlns:a16="http://schemas.microsoft.com/office/drawing/2014/main" id="{6FD14596-48AE-79CD-B7A8-917DB4FF3DA3}"/>
              </a:ext>
            </a:extLst>
          </p:cNvPr>
          <p:cNvSpPr txBox="1">
            <a:spLocks/>
          </p:cNvSpPr>
          <p:nvPr/>
        </p:nvSpPr>
        <p:spPr>
          <a:xfrm>
            <a:off x="180918" y="127319"/>
            <a:ext cx="896308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TO-BE GUIDING PRINCIPLES</a:t>
            </a:r>
          </a:p>
        </p:txBody>
      </p:sp>
      <p:sp>
        <p:nvSpPr>
          <p:cNvPr id="20" name="TextBox 58">
            <a:extLst>
              <a:ext uri="{FF2B5EF4-FFF2-40B4-BE49-F238E27FC236}">
                <a16:creationId xmlns:a16="http://schemas.microsoft.com/office/drawing/2014/main" id="{5D073339-A3AC-73BC-A770-DA303DAA2BBB}"/>
              </a:ext>
            </a:extLst>
          </p:cNvPr>
          <p:cNvSpPr txBox="1"/>
          <p:nvPr/>
        </p:nvSpPr>
        <p:spPr>
          <a:xfrm>
            <a:off x="246506" y="843976"/>
            <a:ext cx="1127455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Four principles guide the Target Operating Model — each answers one of the 7 structural issues and is grounded in prior NTT work with Avangrid</a:t>
            </a:r>
          </a:p>
        </p:txBody>
      </p:sp>
      <p:sp>
        <p:nvSpPr>
          <p:cNvPr id="21" name="Elipse 20">
            <a:extLst>
              <a:ext uri="{FF2B5EF4-FFF2-40B4-BE49-F238E27FC236}">
                <a16:creationId xmlns:a16="http://schemas.microsoft.com/office/drawing/2014/main" id="{B0484623-FA87-C640-0ED4-865901917A0B}"/>
              </a:ext>
            </a:extLst>
          </p:cNvPr>
          <p:cNvSpPr/>
          <p:nvPr/>
        </p:nvSpPr>
        <p:spPr>
          <a:xfrm>
            <a:off x="487560" y="163545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 name="Elipse 21">
            <a:extLst>
              <a:ext uri="{FF2B5EF4-FFF2-40B4-BE49-F238E27FC236}">
                <a16:creationId xmlns:a16="http://schemas.microsoft.com/office/drawing/2014/main" id="{778EBAC6-ADA7-AA18-E4E1-260A10D4872C}"/>
              </a:ext>
            </a:extLst>
          </p:cNvPr>
          <p:cNvSpPr/>
          <p:nvPr/>
        </p:nvSpPr>
        <p:spPr>
          <a:xfrm>
            <a:off x="487560" y="575710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Elipse 22">
            <a:extLst>
              <a:ext uri="{FF2B5EF4-FFF2-40B4-BE49-F238E27FC236}">
                <a16:creationId xmlns:a16="http://schemas.microsoft.com/office/drawing/2014/main" id="{E8E6D494-4F25-BF49-6B00-EF165DF84CC4}"/>
              </a:ext>
            </a:extLst>
          </p:cNvPr>
          <p:cNvSpPr/>
          <p:nvPr/>
        </p:nvSpPr>
        <p:spPr>
          <a:xfrm>
            <a:off x="1838840" y="4383090"/>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 name="Elipse 23">
            <a:extLst>
              <a:ext uri="{FF2B5EF4-FFF2-40B4-BE49-F238E27FC236}">
                <a16:creationId xmlns:a16="http://schemas.microsoft.com/office/drawing/2014/main" id="{B1E64B2D-E19F-9270-D6E5-96F62CFB7403}"/>
              </a:ext>
            </a:extLst>
          </p:cNvPr>
          <p:cNvSpPr/>
          <p:nvPr/>
        </p:nvSpPr>
        <p:spPr>
          <a:xfrm>
            <a:off x="1838840" y="3009073"/>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7" name="CuadroTexto 36">
            <a:extLst>
              <a:ext uri="{FF2B5EF4-FFF2-40B4-BE49-F238E27FC236}">
                <a16:creationId xmlns:a16="http://schemas.microsoft.com/office/drawing/2014/main" id="{4FE9E523-C2B8-81E1-D14D-CE97435A359A}"/>
              </a:ext>
            </a:extLst>
          </p:cNvPr>
          <p:cNvSpPr txBox="1"/>
          <p:nvPr/>
        </p:nvSpPr>
        <p:spPr>
          <a:xfrm>
            <a:off x="40640" y="3983837"/>
            <a:ext cx="1678842"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2C578B"/>
                </a:solidFill>
                <a:effectLst/>
                <a:uLnTx/>
                <a:uFillTx/>
                <a:latin typeface="Arial" panose="020B0604020202020204" pitchFamily="34" charset="0"/>
                <a:ea typeface="+mn-ea"/>
                <a:cs typeface="Arial" panose="020B0604020202020204" pitchFamily="34" charset="0"/>
              </a:rPr>
              <a:t>PRODUCT-CENTRIC DESIGN PRINCIPLES </a:t>
            </a:r>
            <a:endParaRPr kumimoji="0" lang="en-US" sz="1200" b="0" i="0" u="none" strike="noStrike" kern="1200" cap="none" spc="0" normalizeH="0" baseline="0" noProof="0">
              <a:ln>
                <a:noFill/>
              </a:ln>
              <a:solidFill>
                <a:srgbClr val="2C578B"/>
              </a:solidFill>
              <a:effectLst/>
              <a:uLnTx/>
              <a:uFillTx/>
              <a:latin typeface="Arial" panose="020B0604020202020204" pitchFamily="34" charset="0"/>
              <a:ea typeface="+mn-ea"/>
              <a:cs typeface="Arial" panose="020B0604020202020204" pitchFamily="34" charset="0"/>
            </a:endParaRPr>
          </a:p>
        </p:txBody>
      </p:sp>
      <p:pic>
        <p:nvPicPr>
          <p:cNvPr id="40" name="Gráfico 39" descr="Corona de usuario femenino con relleno sólido">
            <a:extLst>
              <a:ext uri="{FF2B5EF4-FFF2-40B4-BE49-F238E27FC236}">
                <a16:creationId xmlns:a16="http://schemas.microsoft.com/office/drawing/2014/main" id="{CE029079-E560-5F17-5F01-7FA894CBA8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235" y="5817195"/>
            <a:ext cx="567771" cy="567771"/>
          </a:xfrm>
          <a:prstGeom prst="rect">
            <a:avLst/>
          </a:prstGeom>
        </p:spPr>
      </p:pic>
      <p:pic>
        <p:nvPicPr>
          <p:cNvPr id="42" name="Gráfico 41" descr="Inventario de búsqueda con relleno sólido">
            <a:extLst>
              <a:ext uri="{FF2B5EF4-FFF2-40B4-BE49-F238E27FC236}">
                <a16:creationId xmlns:a16="http://schemas.microsoft.com/office/drawing/2014/main" id="{84D0EC68-265F-94F5-A0B3-77F1FDE46A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4675" y="4405942"/>
            <a:ext cx="567771" cy="567771"/>
          </a:xfrm>
          <a:prstGeom prst="rect">
            <a:avLst/>
          </a:prstGeom>
        </p:spPr>
      </p:pic>
      <p:pic>
        <p:nvPicPr>
          <p:cNvPr id="44" name="Gráfico 43" descr="Diamante con relleno sólido">
            <a:extLst>
              <a:ext uri="{FF2B5EF4-FFF2-40B4-BE49-F238E27FC236}">
                <a16:creationId xmlns:a16="http://schemas.microsoft.com/office/drawing/2014/main" id="{8DCD2408-4EE6-537D-FEE0-3F02763955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4675" y="3096289"/>
            <a:ext cx="567771" cy="567771"/>
          </a:xfrm>
          <a:prstGeom prst="rect">
            <a:avLst/>
          </a:prstGeom>
        </p:spPr>
      </p:pic>
      <p:pic>
        <p:nvPicPr>
          <p:cNvPr id="46" name="Gráfico 45" descr="Bandeja de entrada marcada con relleno sólido">
            <a:extLst>
              <a:ext uri="{FF2B5EF4-FFF2-40B4-BE49-F238E27FC236}">
                <a16:creationId xmlns:a16="http://schemas.microsoft.com/office/drawing/2014/main" id="{15C427B4-09BF-4D12-2E2E-7DAB173880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555" y="1644395"/>
            <a:ext cx="567771" cy="567771"/>
          </a:xfrm>
          <a:prstGeom prst="rect">
            <a:avLst/>
          </a:prstGeom>
        </p:spPr>
      </p:pic>
      <p:pic>
        <p:nvPicPr>
          <p:cNvPr id="48" name="Gráfico 47" descr="Mejora continua con relleno sólido">
            <a:extLst>
              <a:ext uri="{FF2B5EF4-FFF2-40B4-BE49-F238E27FC236}">
                <a16:creationId xmlns:a16="http://schemas.microsoft.com/office/drawing/2014/main" id="{9B79852E-8A16-B3F1-797C-7EB8E4042A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141" y="3108960"/>
            <a:ext cx="1005840" cy="1005840"/>
          </a:xfrm>
          <a:prstGeom prst="rect">
            <a:avLst/>
          </a:prstGeom>
        </p:spPr>
      </p:pic>
    </p:spTree>
    <p:extLst>
      <p:ext uri="{BB962C8B-B14F-4D97-AF65-F5344CB8AC3E}">
        <p14:creationId xmlns:p14="http://schemas.microsoft.com/office/powerpoint/2010/main" val="2033565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2998-F286-86EC-91F7-19FC2F52158D}"/>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F338BE27-D84E-C4BE-624D-CE84B5EDF658}"/>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09872B63-2072-6A49-1CA5-CE60F83D2922}"/>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81BFDB3B-3285-A5B9-CD18-42B592C3CC39}"/>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203372BA-41D6-FE81-8FCF-5AF05CEE7DE0}"/>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grpSp>
        <p:nvGrpSpPr>
          <p:cNvPr id="23" name="Grupo 22">
            <a:extLst>
              <a:ext uri="{FF2B5EF4-FFF2-40B4-BE49-F238E27FC236}">
                <a16:creationId xmlns:a16="http://schemas.microsoft.com/office/drawing/2014/main" id="{F1808343-475E-AB3C-9133-ACEBCF950F93}"/>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5C0E340F-1036-4406-346A-6517BB4D9774}"/>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B8E6DCBE-6409-65EC-EB61-A0538261595A}"/>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994C861F-1625-0F1A-8927-D997876FF527}"/>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E38EDD92-1BF3-0011-F9A7-38C651F9910D}"/>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59D32BB7-BBB4-CC97-62C6-AC58A498D318}"/>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704C682B-2D04-4700-6398-575D4AE3029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32691FD7-BC35-C373-983E-ADA5C289511A}"/>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6610A5ED-FE0D-57A3-37AE-CFD5474CDBF2}"/>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D296158A-578B-2618-AB9B-C8FDF393F86E}"/>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5EC7219C-B477-EECA-B718-4F567177C1A2}"/>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8A2624A4-B0D8-F493-47F3-B089AFE074AA}"/>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4873F704-087F-2915-0DDE-243C4362EE50}"/>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3AE85CB-E1D5-10F6-3EDF-9BDF5721079C}"/>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71141F94-41DC-8F5D-60BC-D00BB85524E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EE07E738-FE84-6497-ECD0-5E828BD0B35F}"/>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A7D6C9AF-708F-399D-B39F-0EF3C2223EEF}"/>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E67FC928-42DD-B649-23A4-C0E3392D1B00}"/>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F7049E62-031C-344F-44F3-8FBFCE949984}"/>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3FEBDD96-A894-3BB6-2AB3-9A4FB8DD1F34}"/>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92E14FD4-B6F5-E026-64D2-E3027CF12555}"/>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98D7559E-400D-2EFA-D15F-394E6FA400D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A6A4697C-D7AC-289C-EFD2-D1ABA7368ACB}"/>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28AA847B-E07E-5707-6309-0554CADE2773}"/>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CC6ED5FA-3B12-2F88-F9A1-F65037F0E3D3}"/>
              </a:ext>
            </a:extLst>
          </p:cNvPr>
          <p:cNvSpPr/>
          <p:nvPr/>
        </p:nvSpPr>
        <p:spPr>
          <a:xfrm>
            <a:off x="568821" y="2810036"/>
            <a:ext cx="9343974" cy="915169"/>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Box 14">
            <a:extLst>
              <a:ext uri="{FF2B5EF4-FFF2-40B4-BE49-F238E27FC236}">
                <a16:creationId xmlns:a16="http://schemas.microsoft.com/office/drawing/2014/main" id="{DD69A1DA-49D0-77F5-BDB4-165E92EBEF85}"/>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spTree>
    <p:extLst>
      <p:ext uri="{BB962C8B-B14F-4D97-AF65-F5344CB8AC3E}">
        <p14:creationId xmlns:p14="http://schemas.microsoft.com/office/powerpoint/2010/main" val="4161044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284B0-9335-83FB-26DD-1340D4BD5F8B}"/>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6EC9F8D2-A604-92DB-1096-C4A2D2A1C2E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METHODOLOGY</a:t>
            </a:r>
          </a:p>
        </p:txBody>
      </p:sp>
      <p:sp>
        <p:nvSpPr>
          <p:cNvPr id="80" name="Rectangle 28">
            <a:extLst>
              <a:ext uri="{FF2B5EF4-FFF2-40B4-BE49-F238E27FC236}">
                <a16:creationId xmlns:a16="http://schemas.microsoft.com/office/drawing/2014/main" id="{3F0C783C-A5D0-37E0-393E-945E3AB8361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1" name="Rectangle 40">
            <a:extLst>
              <a:ext uri="{FF2B5EF4-FFF2-40B4-BE49-F238E27FC236}">
                <a16:creationId xmlns:a16="http://schemas.microsoft.com/office/drawing/2014/main" id="{CC07EB39-DC8B-99A4-81BC-5B4ABC19D31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2" name="Rectangle 52">
            <a:extLst>
              <a:ext uri="{FF2B5EF4-FFF2-40B4-BE49-F238E27FC236}">
                <a16:creationId xmlns:a16="http://schemas.microsoft.com/office/drawing/2014/main" id="{3506D188-E2A2-9A88-ACC8-C0FC4DBB742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3" name="Rectangle 64">
            <a:extLst>
              <a:ext uri="{FF2B5EF4-FFF2-40B4-BE49-F238E27FC236}">
                <a16:creationId xmlns:a16="http://schemas.microsoft.com/office/drawing/2014/main" id="{C45EF9D4-ADE4-1D54-05FD-38AD0A424CDE}"/>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4" name="Rectangle 64">
            <a:extLst>
              <a:ext uri="{FF2B5EF4-FFF2-40B4-BE49-F238E27FC236}">
                <a16:creationId xmlns:a16="http://schemas.microsoft.com/office/drawing/2014/main" id="{7EB61E6C-FC5C-4B3D-C8AA-C7029A1B6300}"/>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5" name="Rectangle 64">
            <a:extLst>
              <a:ext uri="{FF2B5EF4-FFF2-40B4-BE49-F238E27FC236}">
                <a16:creationId xmlns:a16="http://schemas.microsoft.com/office/drawing/2014/main" id="{36A997CD-0F78-A47D-BFD9-560172FE5940}"/>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6" name="Rectangle 64">
            <a:extLst>
              <a:ext uri="{FF2B5EF4-FFF2-40B4-BE49-F238E27FC236}">
                <a16:creationId xmlns:a16="http://schemas.microsoft.com/office/drawing/2014/main" id="{D90B30BC-CABA-D6F5-27A5-6A706F5D9CF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89" name="Group 88">
            <a:extLst>
              <a:ext uri="{FF2B5EF4-FFF2-40B4-BE49-F238E27FC236}">
                <a16:creationId xmlns:a16="http://schemas.microsoft.com/office/drawing/2014/main" id="{F437736D-003C-525A-A9B7-58C4ABDA9A75}"/>
              </a:ext>
            </a:extLst>
          </p:cNvPr>
          <p:cNvGrpSpPr/>
          <p:nvPr/>
        </p:nvGrpSpPr>
        <p:grpSpPr>
          <a:xfrm>
            <a:off x="333153" y="1677971"/>
            <a:ext cx="11538806" cy="4685122"/>
            <a:chOff x="333153" y="1583917"/>
            <a:chExt cx="11538806" cy="4858412"/>
          </a:xfrm>
        </p:grpSpPr>
        <p:sp>
          <p:nvSpPr>
            <p:cNvPr id="3" name="Shape 54">
              <a:extLst>
                <a:ext uri="{FF2B5EF4-FFF2-40B4-BE49-F238E27FC236}">
                  <a16:creationId xmlns:a16="http://schemas.microsoft.com/office/drawing/2014/main" id="{A1ABF156-89DE-44B0-5B75-88EA01B73E7B}"/>
                </a:ext>
              </a:extLst>
            </p:cNvPr>
            <p:cNvSpPr/>
            <p:nvPr/>
          </p:nvSpPr>
          <p:spPr>
            <a:xfrm>
              <a:off x="333153" y="1583918"/>
              <a:ext cx="2195509" cy="4858411"/>
            </a:xfrm>
            <a:prstGeom prst="roundRect">
              <a:avLst>
                <a:gd name="adj" fmla="val 2656"/>
              </a:avLst>
            </a:prstGeom>
            <a:solidFill>
              <a:srgbClr val="E7F0F9"/>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 name="Shape 55">
              <a:extLst>
                <a:ext uri="{FF2B5EF4-FFF2-40B4-BE49-F238E27FC236}">
                  <a16:creationId xmlns:a16="http://schemas.microsoft.com/office/drawing/2014/main" id="{204D85BD-E258-5D7D-F105-EFEA122BD306}"/>
                </a:ext>
              </a:extLst>
            </p:cNvPr>
            <p:cNvSpPr/>
            <p:nvPr/>
          </p:nvSpPr>
          <p:spPr>
            <a:xfrm>
              <a:off x="333158" y="1583919"/>
              <a:ext cx="2195509" cy="47549"/>
            </a:xfrm>
            <a:prstGeom prst="roundRect">
              <a:avLst>
                <a:gd name="adj" fmla="val 201105"/>
              </a:avLst>
            </a:prstGeom>
            <a:solidFill>
              <a:srgbClr val="6785C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 name="Shape 56">
              <a:extLst>
                <a:ext uri="{FF2B5EF4-FFF2-40B4-BE49-F238E27FC236}">
                  <a16:creationId xmlns:a16="http://schemas.microsoft.com/office/drawing/2014/main" id="{5E7B06D6-0A5B-CA3C-25A9-DA7208BFD7A3}"/>
                </a:ext>
              </a:extLst>
            </p:cNvPr>
            <p:cNvSpPr/>
            <p:nvPr/>
          </p:nvSpPr>
          <p:spPr>
            <a:xfrm>
              <a:off x="575006"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6" name="Text 57">
              <a:extLst>
                <a:ext uri="{FF2B5EF4-FFF2-40B4-BE49-F238E27FC236}">
                  <a16:creationId xmlns:a16="http://schemas.microsoft.com/office/drawing/2014/main" id="{9DDCE41A-068A-7CB6-9AE3-FE3F1959FCE6}"/>
                </a:ext>
              </a:extLst>
            </p:cNvPr>
            <p:cNvSpPr txBox="1"/>
            <p:nvPr/>
          </p:nvSpPr>
          <p:spPr>
            <a:xfrm>
              <a:off x="1151307" y="1867626"/>
              <a:ext cx="1377358" cy="3246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Step 1</a:t>
              </a: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Enablement</a:t>
              </a: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 name="Text 59">
              <a:extLst>
                <a:ext uri="{FF2B5EF4-FFF2-40B4-BE49-F238E27FC236}">
                  <a16:creationId xmlns:a16="http://schemas.microsoft.com/office/drawing/2014/main" id="{44B91682-0EE4-77F5-B3DB-EF75E090D32B}"/>
                </a:ext>
              </a:extLst>
            </p:cNvPr>
            <p:cNvSpPr txBox="1"/>
            <p:nvPr/>
          </p:nvSpPr>
          <p:spPr>
            <a:xfrm>
              <a:off x="490167"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Where are we starting from?</a:t>
              </a:r>
              <a:endParaRPr lang="en-US" sz="1100" b="1" noProof="0">
                <a:solidFill>
                  <a:schemeClr val="accent1"/>
                </a:solidFill>
                <a:latin typeface="Arial" panose="020B0604020202020204" pitchFamily="34" charset="0"/>
                <a:cs typeface="Arial" panose="020B0604020202020204" pitchFamily="34" charset="0"/>
              </a:endParaRPr>
            </a:p>
          </p:txBody>
        </p:sp>
        <p:sp>
          <p:nvSpPr>
            <p:cNvPr id="8" name="Shape 54">
              <a:extLst>
                <a:ext uri="{FF2B5EF4-FFF2-40B4-BE49-F238E27FC236}">
                  <a16:creationId xmlns:a16="http://schemas.microsoft.com/office/drawing/2014/main" id="{6E58B2A8-0612-CE95-BEEC-8F34CD098932}"/>
                </a:ext>
              </a:extLst>
            </p:cNvPr>
            <p:cNvSpPr/>
            <p:nvPr/>
          </p:nvSpPr>
          <p:spPr>
            <a:xfrm>
              <a:off x="266770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 name="Shape 55">
              <a:extLst>
                <a:ext uri="{FF2B5EF4-FFF2-40B4-BE49-F238E27FC236}">
                  <a16:creationId xmlns:a16="http://schemas.microsoft.com/office/drawing/2014/main" id="{7DABEFE6-A472-596F-923D-183CEF4FAA7B}"/>
                </a:ext>
              </a:extLst>
            </p:cNvPr>
            <p:cNvSpPr/>
            <p:nvPr/>
          </p:nvSpPr>
          <p:spPr>
            <a:xfrm>
              <a:off x="2667710"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 name="Shape 56">
              <a:extLst>
                <a:ext uri="{FF2B5EF4-FFF2-40B4-BE49-F238E27FC236}">
                  <a16:creationId xmlns:a16="http://schemas.microsoft.com/office/drawing/2014/main" id="{30F7D54F-60CD-B20C-9E9C-482CD57B9C03}"/>
                </a:ext>
              </a:extLst>
            </p:cNvPr>
            <p:cNvSpPr/>
            <p:nvPr/>
          </p:nvSpPr>
          <p:spPr>
            <a:xfrm>
              <a:off x="2909559"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1" name="Text 57">
              <a:extLst>
                <a:ext uri="{FF2B5EF4-FFF2-40B4-BE49-F238E27FC236}">
                  <a16:creationId xmlns:a16="http://schemas.microsoft.com/office/drawing/2014/main" id="{78A36D37-4688-F837-FDA2-4023947B3729}"/>
                </a:ext>
              </a:extLst>
            </p:cNvPr>
            <p:cNvSpPr txBox="1"/>
            <p:nvPr/>
          </p:nvSpPr>
          <p:spPr>
            <a:xfrm>
              <a:off x="3485860" y="1867626"/>
              <a:ext cx="1377358"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2</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Define Lifecycle</a:t>
              </a:r>
              <a:endParaRPr lang="en-US" sz="1200" noProof="0">
                <a:latin typeface="Arial" panose="020B0604020202020204" pitchFamily="34" charset="0"/>
                <a:cs typeface="Arial" panose="020B0604020202020204" pitchFamily="34" charset="0"/>
              </a:endParaRPr>
            </a:p>
          </p:txBody>
        </p:sp>
        <p:sp>
          <p:nvSpPr>
            <p:cNvPr id="12" name="Text 59">
              <a:extLst>
                <a:ext uri="{FF2B5EF4-FFF2-40B4-BE49-F238E27FC236}">
                  <a16:creationId xmlns:a16="http://schemas.microsoft.com/office/drawing/2014/main" id="{738FF9EA-35D1-05D4-9674-68E2610D3E9D}"/>
                </a:ext>
              </a:extLst>
            </p:cNvPr>
            <p:cNvSpPr txBox="1"/>
            <p:nvPr/>
          </p:nvSpPr>
          <p:spPr>
            <a:xfrm>
              <a:off x="2824720"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How should we work?</a:t>
              </a:r>
              <a:endParaRPr lang="en-US" sz="1100" b="1" noProof="0">
                <a:solidFill>
                  <a:schemeClr val="accent1"/>
                </a:solidFill>
                <a:latin typeface="Arial" panose="020B0604020202020204" pitchFamily="34" charset="0"/>
                <a:cs typeface="Arial" panose="020B0604020202020204" pitchFamily="34" charset="0"/>
              </a:endParaRPr>
            </a:p>
          </p:txBody>
        </p:sp>
        <p:sp>
          <p:nvSpPr>
            <p:cNvPr id="13" name="Shape 54">
              <a:extLst>
                <a:ext uri="{FF2B5EF4-FFF2-40B4-BE49-F238E27FC236}">
                  <a16:creationId xmlns:a16="http://schemas.microsoft.com/office/drawing/2014/main" id="{846BD75B-BDBC-DEFE-EE75-292450ADC853}"/>
                </a:ext>
              </a:extLst>
            </p:cNvPr>
            <p:cNvSpPr/>
            <p:nvPr/>
          </p:nvSpPr>
          <p:spPr>
            <a:xfrm>
              <a:off x="5002259"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4" name="Shape 55">
              <a:extLst>
                <a:ext uri="{FF2B5EF4-FFF2-40B4-BE49-F238E27FC236}">
                  <a16:creationId xmlns:a16="http://schemas.microsoft.com/office/drawing/2014/main" id="{8FBC4532-B648-B65F-DBAE-88A1B466B7CC}"/>
                </a:ext>
              </a:extLst>
            </p:cNvPr>
            <p:cNvSpPr/>
            <p:nvPr/>
          </p:nvSpPr>
          <p:spPr>
            <a:xfrm>
              <a:off x="5002264"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5" name="Shape 56">
              <a:extLst>
                <a:ext uri="{FF2B5EF4-FFF2-40B4-BE49-F238E27FC236}">
                  <a16:creationId xmlns:a16="http://schemas.microsoft.com/office/drawing/2014/main" id="{A5830849-3D5B-F4A4-E6C6-04944EB831CC}"/>
                </a:ext>
              </a:extLst>
            </p:cNvPr>
            <p:cNvSpPr/>
            <p:nvPr/>
          </p:nvSpPr>
          <p:spPr>
            <a:xfrm>
              <a:off x="5244112"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6" name="Text 57">
              <a:extLst>
                <a:ext uri="{FF2B5EF4-FFF2-40B4-BE49-F238E27FC236}">
                  <a16:creationId xmlns:a16="http://schemas.microsoft.com/office/drawing/2014/main" id="{5E1A9484-5F2D-B535-F17B-600CCB127413}"/>
                </a:ext>
              </a:extLst>
            </p:cNvPr>
            <p:cNvSpPr txBox="1"/>
            <p:nvPr/>
          </p:nvSpPr>
          <p:spPr>
            <a:xfrm>
              <a:off x="5751544" y="1775028"/>
              <a:ext cx="1515094"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3</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Design Tool Ecosystem</a:t>
              </a:r>
              <a:endParaRPr lang="en-US" sz="1200" noProof="0">
                <a:latin typeface="Arial" panose="020B0604020202020204" pitchFamily="34" charset="0"/>
                <a:cs typeface="Arial" panose="020B0604020202020204" pitchFamily="34" charset="0"/>
              </a:endParaRPr>
            </a:p>
          </p:txBody>
        </p:sp>
        <p:sp>
          <p:nvSpPr>
            <p:cNvPr id="17" name="Text 59">
              <a:extLst>
                <a:ext uri="{FF2B5EF4-FFF2-40B4-BE49-F238E27FC236}">
                  <a16:creationId xmlns:a16="http://schemas.microsoft.com/office/drawing/2014/main" id="{C41D4D37-A4E8-8914-F2B9-64BBE5990767}"/>
                </a:ext>
              </a:extLst>
            </p:cNvPr>
            <p:cNvSpPr txBox="1"/>
            <p:nvPr/>
          </p:nvSpPr>
          <p:spPr>
            <a:xfrm>
              <a:off x="5159274"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What supports the process?</a:t>
              </a:r>
              <a:endParaRPr lang="en-US" sz="1100" b="1" noProof="0">
                <a:solidFill>
                  <a:schemeClr val="accent1"/>
                </a:solidFill>
                <a:latin typeface="Arial" panose="020B0604020202020204" pitchFamily="34" charset="0"/>
                <a:cs typeface="Arial" panose="020B0604020202020204" pitchFamily="34" charset="0"/>
              </a:endParaRPr>
            </a:p>
          </p:txBody>
        </p:sp>
        <p:sp>
          <p:nvSpPr>
            <p:cNvPr id="18" name="Shape 54">
              <a:extLst>
                <a:ext uri="{FF2B5EF4-FFF2-40B4-BE49-F238E27FC236}">
                  <a16:creationId xmlns:a16="http://schemas.microsoft.com/office/drawing/2014/main" id="{3FA10F24-4915-2813-9A0B-8C81677347DF}"/>
                </a:ext>
              </a:extLst>
            </p:cNvPr>
            <p:cNvSpPr/>
            <p:nvPr/>
          </p:nvSpPr>
          <p:spPr>
            <a:xfrm>
              <a:off x="7336812"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 name="Shape 55">
              <a:extLst>
                <a:ext uri="{FF2B5EF4-FFF2-40B4-BE49-F238E27FC236}">
                  <a16:creationId xmlns:a16="http://schemas.microsoft.com/office/drawing/2014/main" id="{7E4EBAB4-D88B-A0AD-6E3E-DA77AA8E76EE}"/>
                </a:ext>
              </a:extLst>
            </p:cNvPr>
            <p:cNvSpPr/>
            <p:nvPr/>
          </p:nvSpPr>
          <p:spPr>
            <a:xfrm>
              <a:off x="7336817"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 name="Shape 56">
              <a:extLst>
                <a:ext uri="{FF2B5EF4-FFF2-40B4-BE49-F238E27FC236}">
                  <a16:creationId xmlns:a16="http://schemas.microsoft.com/office/drawing/2014/main" id="{AF817F62-9F0D-C233-A1D1-F66E72AD07BE}"/>
                </a:ext>
              </a:extLst>
            </p:cNvPr>
            <p:cNvSpPr/>
            <p:nvPr/>
          </p:nvSpPr>
          <p:spPr>
            <a:xfrm>
              <a:off x="7578665"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21" name="Text 57">
              <a:extLst>
                <a:ext uri="{FF2B5EF4-FFF2-40B4-BE49-F238E27FC236}">
                  <a16:creationId xmlns:a16="http://schemas.microsoft.com/office/drawing/2014/main" id="{8C41045D-5EA5-623D-ABDD-08833E2360F4}"/>
                </a:ext>
              </a:extLst>
            </p:cNvPr>
            <p:cNvSpPr txBox="1"/>
            <p:nvPr/>
          </p:nvSpPr>
          <p:spPr>
            <a:xfrm>
              <a:off x="8154966" y="1775028"/>
              <a:ext cx="1377358"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4</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Pilot Execution (BRS)</a:t>
              </a:r>
              <a:endParaRPr lang="en-US" sz="1200" noProof="0">
                <a:latin typeface="Arial" panose="020B0604020202020204" pitchFamily="34" charset="0"/>
                <a:cs typeface="Arial" panose="020B0604020202020204" pitchFamily="34" charset="0"/>
              </a:endParaRPr>
            </a:p>
          </p:txBody>
        </p:sp>
        <p:sp>
          <p:nvSpPr>
            <p:cNvPr id="22" name="Text 59">
              <a:extLst>
                <a:ext uri="{FF2B5EF4-FFF2-40B4-BE49-F238E27FC236}">
                  <a16:creationId xmlns:a16="http://schemas.microsoft.com/office/drawing/2014/main" id="{E5AB5A6E-C871-82EC-617D-C34133CADFF3}"/>
                </a:ext>
              </a:extLst>
            </p:cNvPr>
            <p:cNvSpPr txBox="1"/>
            <p:nvPr/>
          </p:nvSpPr>
          <p:spPr>
            <a:xfrm>
              <a:off x="7493826"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Does it work in reality?</a:t>
              </a:r>
              <a:endParaRPr lang="en-US" sz="1100" b="1" noProof="0">
                <a:solidFill>
                  <a:schemeClr val="accent1"/>
                </a:solidFill>
                <a:latin typeface="Arial" panose="020B0604020202020204" pitchFamily="34" charset="0"/>
                <a:cs typeface="Arial" panose="020B0604020202020204" pitchFamily="34" charset="0"/>
              </a:endParaRPr>
            </a:p>
          </p:txBody>
        </p:sp>
        <p:sp>
          <p:nvSpPr>
            <p:cNvPr id="23" name="Shape 54">
              <a:extLst>
                <a:ext uri="{FF2B5EF4-FFF2-40B4-BE49-F238E27FC236}">
                  <a16:creationId xmlns:a16="http://schemas.microsoft.com/office/drawing/2014/main" id="{B9C89038-C79B-ACEF-A820-641B604DE893}"/>
                </a:ext>
              </a:extLst>
            </p:cNvPr>
            <p:cNvSpPr/>
            <p:nvPr/>
          </p:nvSpPr>
          <p:spPr>
            <a:xfrm>
              <a:off x="967136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Shape 55">
              <a:extLst>
                <a:ext uri="{FF2B5EF4-FFF2-40B4-BE49-F238E27FC236}">
                  <a16:creationId xmlns:a16="http://schemas.microsoft.com/office/drawing/2014/main" id="{2059C02F-6D03-090D-C62C-1E5204C39013}"/>
                </a:ext>
              </a:extLst>
            </p:cNvPr>
            <p:cNvSpPr/>
            <p:nvPr/>
          </p:nvSpPr>
          <p:spPr>
            <a:xfrm>
              <a:off x="9671371"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 name="Shape 56">
              <a:extLst>
                <a:ext uri="{FF2B5EF4-FFF2-40B4-BE49-F238E27FC236}">
                  <a16:creationId xmlns:a16="http://schemas.microsoft.com/office/drawing/2014/main" id="{27FA7EB5-3D23-CAD3-C2F6-3BDFF9994E9B}"/>
                </a:ext>
              </a:extLst>
            </p:cNvPr>
            <p:cNvSpPr/>
            <p:nvPr/>
          </p:nvSpPr>
          <p:spPr>
            <a:xfrm>
              <a:off x="9913219"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26" name="Text 57">
              <a:extLst>
                <a:ext uri="{FF2B5EF4-FFF2-40B4-BE49-F238E27FC236}">
                  <a16:creationId xmlns:a16="http://schemas.microsoft.com/office/drawing/2014/main" id="{0FA59F3C-7FDF-FABA-DF4D-6B9D28D513A0}"/>
                </a:ext>
              </a:extLst>
            </p:cNvPr>
            <p:cNvSpPr txBox="1"/>
            <p:nvPr/>
          </p:nvSpPr>
          <p:spPr>
            <a:xfrm>
              <a:off x="10489520" y="1867626"/>
              <a:ext cx="1377358"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5</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Learn &amp; Adjust</a:t>
              </a:r>
              <a:endParaRPr lang="en-US" sz="1200" noProof="0">
                <a:latin typeface="Arial" panose="020B0604020202020204" pitchFamily="34" charset="0"/>
                <a:cs typeface="Arial" panose="020B0604020202020204" pitchFamily="34" charset="0"/>
              </a:endParaRPr>
            </a:p>
          </p:txBody>
        </p:sp>
        <p:sp>
          <p:nvSpPr>
            <p:cNvPr id="27" name="Text 59">
              <a:extLst>
                <a:ext uri="{FF2B5EF4-FFF2-40B4-BE49-F238E27FC236}">
                  <a16:creationId xmlns:a16="http://schemas.microsoft.com/office/drawing/2014/main" id="{89F4148D-D51C-0673-80B0-D70905326D95}"/>
                </a:ext>
              </a:extLst>
            </p:cNvPr>
            <p:cNvSpPr txBox="1"/>
            <p:nvPr/>
          </p:nvSpPr>
          <p:spPr>
            <a:xfrm>
              <a:off x="9828380"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What needs refinement?</a:t>
              </a:r>
              <a:endParaRPr lang="en-US" sz="1100" b="1" noProof="0">
                <a:solidFill>
                  <a:schemeClr val="accent1"/>
                </a:solidFill>
                <a:latin typeface="Arial" panose="020B0604020202020204" pitchFamily="34" charset="0"/>
                <a:cs typeface="Arial" panose="020B0604020202020204" pitchFamily="34" charset="0"/>
              </a:endParaRPr>
            </a:p>
          </p:txBody>
        </p:sp>
        <p:sp>
          <p:nvSpPr>
            <p:cNvPr id="28" name="Shape 38">
              <a:extLst>
                <a:ext uri="{FF2B5EF4-FFF2-40B4-BE49-F238E27FC236}">
                  <a16:creationId xmlns:a16="http://schemas.microsoft.com/office/drawing/2014/main" id="{5098331E-ABCE-C5C6-9E23-B6C3E5C33757}"/>
                </a:ext>
              </a:extLst>
            </p:cNvPr>
            <p:cNvSpPr/>
            <p:nvPr/>
          </p:nvSpPr>
          <p:spPr>
            <a:xfrm>
              <a:off x="5113880" y="4782900"/>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 name="Text 39">
              <a:extLst>
                <a:ext uri="{FF2B5EF4-FFF2-40B4-BE49-F238E27FC236}">
                  <a16:creationId xmlns:a16="http://schemas.microsoft.com/office/drawing/2014/main" id="{D70484D4-36E2-3BE0-B95A-15D62C1251E3}"/>
                </a:ext>
              </a:extLst>
            </p:cNvPr>
            <p:cNvSpPr txBox="1"/>
            <p:nvPr/>
          </p:nvSpPr>
          <p:spPr>
            <a:xfrm>
              <a:off x="5362429" y="4782900"/>
              <a:ext cx="825705"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Tool Design</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0" name="Image 5" descr="preencoded.png">
              <a:extLst>
                <a:ext uri="{FF2B5EF4-FFF2-40B4-BE49-F238E27FC236}">
                  <a16:creationId xmlns:a16="http://schemas.microsoft.com/office/drawing/2014/main" id="{57782DA3-792C-9EA4-AD4D-8DABFA343C5C}"/>
                </a:ext>
              </a:extLst>
            </p:cNvPr>
            <p:cNvPicPr>
              <a:picLocks noChangeAspect="1"/>
            </p:cNvPicPr>
            <p:nvPr/>
          </p:nvPicPr>
          <p:blipFill>
            <a:blip r:embed="rId4"/>
            <a:srcRect l="-1923" r="-1923"/>
            <a:stretch/>
          </p:blipFill>
          <p:spPr>
            <a:xfrm>
              <a:off x="5199833" y="4844699"/>
              <a:ext cx="123444" cy="95098"/>
            </a:xfrm>
            <a:prstGeom prst="rect">
              <a:avLst/>
            </a:prstGeom>
          </p:spPr>
        </p:pic>
        <p:sp>
          <p:nvSpPr>
            <p:cNvPr id="31" name="Text 40">
              <a:extLst>
                <a:ext uri="{FF2B5EF4-FFF2-40B4-BE49-F238E27FC236}">
                  <a16:creationId xmlns:a16="http://schemas.microsoft.com/office/drawing/2014/main" id="{90157973-77A4-E66E-C517-F9F6FE356FC8}"/>
                </a:ext>
              </a:extLst>
            </p:cNvPr>
            <p:cNvSpPr txBox="1"/>
            <p:nvPr/>
          </p:nvSpPr>
          <p:spPr>
            <a:xfrm>
              <a:off x="513099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Jira Configuration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2" name="Text 41">
              <a:extLst>
                <a:ext uri="{FF2B5EF4-FFF2-40B4-BE49-F238E27FC236}">
                  <a16:creationId xmlns:a16="http://schemas.microsoft.com/office/drawing/2014/main" id="{46531BFA-FD9B-8842-E23F-F8380579DB7B}"/>
                </a:ext>
              </a:extLst>
            </p:cNvPr>
            <p:cNvSpPr txBox="1"/>
            <p:nvPr/>
          </p:nvSpPr>
          <p:spPr>
            <a:xfrm>
              <a:off x="513099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Form Design</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3" name="Text 42">
              <a:extLst>
                <a:ext uri="{FF2B5EF4-FFF2-40B4-BE49-F238E27FC236}">
                  <a16:creationId xmlns:a16="http://schemas.microsoft.com/office/drawing/2014/main" id="{AD5C3181-3325-C084-43B3-35AB31DD07CF}"/>
                </a:ext>
              </a:extLst>
            </p:cNvPr>
            <p:cNvSpPr txBox="1"/>
            <p:nvPr/>
          </p:nvSpPr>
          <p:spPr>
            <a:xfrm>
              <a:off x="513099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PPM Now Integration Concept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4" name="Text 11">
              <a:extLst>
                <a:ext uri="{FF2B5EF4-FFF2-40B4-BE49-F238E27FC236}">
                  <a16:creationId xmlns:a16="http://schemas.microsoft.com/office/drawing/2014/main" id="{5E297E2A-32A3-7BA2-A97E-EC039C5D780D}"/>
                </a:ext>
              </a:extLst>
            </p:cNvPr>
            <p:cNvSpPr txBox="1"/>
            <p:nvPr/>
          </p:nvSpPr>
          <p:spPr>
            <a:xfrm>
              <a:off x="514371" y="2801981"/>
              <a:ext cx="1799311"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Prior materials review</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5" name="Text 12">
              <a:extLst>
                <a:ext uri="{FF2B5EF4-FFF2-40B4-BE49-F238E27FC236}">
                  <a16:creationId xmlns:a16="http://schemas.microsoft.com/office/drawing/2014/main" id="{87F6EEF3-62FA-11FA-9267-B8C954DFA44C}"/>
                </a:ext>
              </a:extLst>
            </p:cNvPr>
            <p:cNvSpPr txBox="1"/>
            <p:nvPr/>
          </p:nvSpPr>
          <p:spPr>
            <a:xfrm>
              <a:off x="514371"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Stakeholder interviews</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Text 13">
              <a:extLst>
                <a:ext uri="{FF2B5EF4-FFF2-40B4-BE49-F238E27FC236}">
                  <a16:creationId xmlns:a16="http://schemas.microsoft.com/office/drawing/2014/main" id="{4AC81956-4A33-99E0-9A60-86F1816E7BB7}"/>
                </a:ext>
              </a:extLst>
            </p:cNvPr>
            <p:cNvSpPr txBox="1"/>
            <p:nvPr/>
          </p:nvSpPr>
          <p:spPr>
            <a:xfrm>
              <a:off x="514371"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Portfolio Assessment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7" name="Shape 14">
              <a:extLst>
                <a:ext uri="{FF2B5EF4-FFF2-40B4-BE49-F238E27FC236}">
                  <a16:creationId xmlns:a16="http://schemas.microsoft.com/office/drawing/2014/main" id="{1F120FE9-BD1B-F0AD-03A8-A61D2B5FA577}"/>
                </a:ext>
              </a:extLst>
            </p:cNvPr>
            <p:cNvSpPr/>
            <p:nvPr/>
          </p:nvSpPr>
          <p:spPr>
            <a:xfrm>
              <a:off x="423620"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8" name="Text 15">
              <a:extLst>
                <a:ext uri="{FF2B5EF4-FFF2-40B4-BE49-F238E27FC236}">
                  <a16:creationId xmlns:a16="http://schemas.microsoft.com/office/drawing/2014/main" id="{8220AC05-26A3-2249-0FA2-4BE4F9BAA6B1}"/>
                </a:ext>
              </a:extLst>
            </p:cNvPr>
            <p:cNvSpPr txBox="1"/>
            <p:nvPr/>
          </p:nvSpPr>
          <p:spPr>
            <a:xfrm>
              <a:off x="616765"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Baseline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9" name="Image 1" descr="preencoded.png">
              <a:extLst>
                <a:ext uri="{FF2B5EF4-FFF2-40B4-BE49-F238E27FC236}">
                  <a16:creationId xmlns:a16="http://schemas.microsoft.com/office/drawing/2014/main" id="{5A362D1F-31CC-D77E-2403-A77E790F75E0}"/>
                </a:ext>
              </a:extLst>
            </p:cNvPr>
            <p:cNvPicPr>
              <a:picLocks noChangeAspect="1"/>
            </p:cNvPicPr>
            <p:nvPr/>
          </p:nvPicPr>
          <p:blipFill>
            <a:blip r:embed="rId5"/>
            <a:srcRect l="-3205" r="-3205"/>
            <a:stretch/>
          </p:blipFill>
          <p:spPr>
            <a:xfrm>
              <a:off x="509574" y="4888951"/>
              <a:ext cx="75895" cy="95098"/>
            </a:xfrm>
            <a:prstGeom prst="rect">
              <a:avLst/>
            </a:prstGeom>
          </p:spPr>
        </p:pic>
        <p:sp>
          <p:nvSpPr>
            <p:cNvPr id="40" name="Shape 14">
              <a:extLst>
                <a:ext uri="{FF2B5EF4-FFF2-40B4-BE49-F238E27FC236}">
                  <a16:creationId xmlns:a16="http://schemas.microsoft.com/office/drawing/2014/main" id="{6B3BA125-4B20-FCF0-853D-75A3F44787AC}"/>
                </a:ext>
              </a:extLst>
            </p:cNvPr>
            <p:cNvSpPr/>
            <p:nvPr/>
          </p:nvSpPr>
          <p:spPr>
            <a:xfrm>
              <a:off x="9752816"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1" name="Text 15">
              <a:extLst>
                <a:ext uri="{FF2B5EF4-FFF2-40B4-BE49-F238E27FC236}">
                  <a16:creationId xmlns:a16="http://schemas.microsoft.com/office/drawing/2014/main" id="{35A1C3F6-49CE-53B0-BF43-7A70F8BEF2B8}"/>
                </a:ext>
              </a:extLst>
            </p:cNvPr>
            <p:cNvSpPr txBox="1"/>
            <p:nvPr/>
          </p:nvSpPr>
          <p:spPr>
            <a:xfrm>
              <a:off x="9945961"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Config v2.0</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2" name="Text 29">
              <a:extLst>
                <a:ext uri="{FF2B5EF4-FFF2-40B4-BE49-F238E27FC236}">
                  <a16:creationId xmlns:a16="http://schemas.microsoft.com/office/drawing/2014/main" id="{4E7D7586-9202-1127-BF22-3EBCE8ACAA49}"/>
                </a:ext>
              </a:extLst>
            </p:cNvPr>
            <p:cNvSpPr txBox="1"/>
            <p:nvPr/>
          </p:nvSpPr>
          <p:spPr>
            <a:xfrm>
              <a:off x="276778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Process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3" name="Text 30">
              <a:extLst>
                <a:ext uri="{FF2B5EF4-FFF2-40B4-BE49-F238E27FC236}">
                  <a16:creationId xmlns:a16="http://schemas.microsoft.com/office/drawing/2014/main" id="{DF0E2541-9548-A454-1449-21E0E4A0FD2C}"/>
                </a:ext>
              </a:extLst>
            </p:cNvPr>
            <p:cNvSpPr txBox="1"/>
            <p:nvPr/>
          </p:nvSpPr>
          <p:spPr>
            <a:xfrm>
              <a:off x="276778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Value Framework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4" name="Text 31">
              <a:extLst>
                <a:ext uri="{FF2B5EF4-FFF2-40B4-BE49-F238E27FC236}">
                  <a16:creationId xmlns:a16="http://schemas.microsoft.com/office/drawing/2014/main" id="{59FD0D5E-0150-CADF-024C-7D23D5AC5D51}"/>
                </a:ext>
              </a:extLst>
            </p:cNvPr>
            <p:cNvSpPr txBox="1"/>
            <p:nvPr/>
          </p:nvSpPr>
          <p:spPr>
            <a:xfrm>
              <a:off x="276778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Roles &amp; RACI Matrix</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5" name="Text 73">
              <a:extLst>
                <a:ext uri="{FF2B5EF4-FFF2-40B4-BE49-F238E27FC236}">
                  <a16:creationId xmlns:a16="http://schemas.microsoft.com/office/drawing/2014/main" id="{EB1EB3A3-7550-D3AE-EC9B-720911AA23BD}"/>
                </a:ext>
              </a:extLst>
            </p:cNvPr>
            <p:cNvSpPr txBox="1"/>
            <p:nvPr/>
          </p:nvSpPr>
          <p:spPr>
            <a:xfrm>
              <a:off x="7382264" y="2801981"/>
              <a:ext cx="2084442"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Execute 1 BRS Project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6" name="Text 74">
              <a:extLst>
                <a:ext uri="{FF2B5EF4-FFF2-40B4-BE49-F238E27FC236}">
                  <a16:creationId xmlns:a16="http://schemas.microsoft.com/office/drawing/2014/main" id="{F49F51E2-04C9-2BC5-4E42-1018A9CBE69C}"/>
                </a:ext>
              </a:extLst>
            </p:cNvPr>
            <p:cNvSpPr txBox="1"/>
            <p:nvPr/>
          </p:nvSpPr>
          <p:spPr>
            <a:xfrm>
              <a:off x="7382264" y="2974515"/>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Run </a:t>
              </a:r>
              <a:r>
                <a:rPr kumimoji="0" lang="en-US" sz="8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7" name="Text 75">
              <a:extLst>
                <a:ext uri="{FF2B5EF4-FFF2-40B4-BE49-F238E27FC236}">
                  <a16:creationId xmlns:a16="http://schemas.microsoft.com/office/drawing/2014/main" id="{1EE453F8-6D5D-E851-43B5-F54180FAB843}"/>
                </a:ext>
              </a:extLst>
            </p:cNvPr>
            <p:cNvSpPr txBox="1"/>
            <p:nvPr/>
          </p:nvSpPr>
          <p:spPr>
            <a:xfrm>
              <a:off x="7382264" y="3164510"/>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Real-time Feedback Log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8" name="Text 75">
              <a:extLst>
                <a:ext uri="{FF2B5EF4-FFF2-40B4-BE49-F238E27FC236}">
                  <a16:creationId xmlns:a16="http://schemas.microsoft.com/office/drawing/2014/main" id="{4A0F0601-E932-F612-2D5E-AD77B79E492F}"/>
                </a:ext>
              </a:extLst>
            </p:cNvPr>
            <p:cNvSpPr txBox="1"/>
            <p:nvPr/>
          </p:nvSpPr>
          <p:spPr>
            <a:xfrm>
              <a:off x="7382264" y="3378764"/>
              <a:ext cx="2084442" cy="180000"/>
            </a:xfrm>
            <a:prstGeom prst="rect">
              <a:avLst/>
            </a:prstGeom>
            <a:solidFill>
              <a:schemeClr val="tx2">
                <a:lumMod val="25000"/>
                <a:lumOff val="7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Pilot team training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49" name="Image 7" descr="preencoded.png">
              <a:extLst>
                <a:ext uri="{FF2B5EF4-FFF2-40B4-BE49-F238E27FC236}">
                  <a16:creationId xmlns:a16="http://schemas.microsoft.com/office/drawing/2014/main" id="{66795554-386E-5CB8-BB0C-015E75864B7C}"/>
                </a:ext>
              </a:extLst>
            </p:cNvPr>
            <p:cNvPicPr>
              <a:picLocks noChangeAspect="1"/>
            </p:cNvPicPr>
            <p:nvPr/>
          </p:nvPicPr>
          <p:blipFill>
            <a:blip r:embed="rId6"/>
            <a:srcRect/>
            <a:stretch/>
          </p:blipFill>
          <p:spPr>
            <a:xfrm>
              <a:off x="9855859" y="4912099"/>
              <a:ext cx="95098" cy="95098"/>
            </a:xfrm>
            <a:prstGeom prst="rect">
              <a:avLst/>
            </a:prstGeom>
          </p:spPr>
        </p:pic>
        <p:sp>
          <p:nvSpPr>
            <p:cNvPr id="50" name="Text 51">
              <a:extLst>
                <a:ext uri="{FF2B5EF4-FFF2-40B4-BE49-F238E27FC236}">
                  <a16:creationId xmlns:a16="http://schemas.microsoft.com/office/drawing/2014/main" id="{29199855-F1B1-90D6-30FF-CFB54B62A3A3}"/>
                </a:ext>
              </a:extLst>
            </p:cNvPr>
            <p:cNvSpPr txBox="1"/>
            <p:nvPr/>
          </p:nvSpPr>
          <p:spPr>
            <a:xfrm>
              <a:off x="9768056" y="2801981"/>
              <a:ext cx="1827426"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Analyze Pilot Data</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1" name="Text 52">
              <a:extLst>
                <a:ext uri="{FF2B5EF4-FFF2-40B4-BE49-F238E27FC236}">
                  <a16:creationId xmlns:a16="http://schemas.microsoft.com/office/drawing/2014/main" id="{79FB659C-9ED5-B11F-D6B4-29B87B7E438B}"/>
                </a:ext>
              </a:extLst>
            </p:cNvPr>
            <p:cNvSpPr txBox="1"/>
            <p:nvPr/>
          </p:nvSpPr>
          <p:spPr>
            <a:xfrm>
              <a:off x="9768056"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Refine Jira Config (V2.0)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2" name="Text 53">
              <a:extLst>
                <a:ext uri="{FF2B5EF4-FFF2-40B4-BE49-F238E27FC236}">
                  <a16:creationId xmlns:a16="http://schemas.microsoft.com/office/drawing/2014/main" id="{0E110B77-83A0-E134-6D68-5A3A63BBAD22}"/>
                </a:ext>
              </a:extLst>
            </p:cNvPr>
            <p:cNvSpPr txBox="1"/>
            <p:nvPr/>
          </p:nvSpPr>
          <p:spPr>
            <a:xfrm>
              <a:off x="9768056"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Adjust Value Scoring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3" name="Text 53">
              <a:extLst>
                <a:ext uri="{FF2B5EF4-FFF2-40B4-BE49-F238E27FC236}">
                  <a16:creationId xmlns:a16="http://schemas.microsoft.com/office/drawing/2014/main" id="{8BE45AB8-6893-D907-0606-697F2FF4A24C}"/>
                </a:ext>
              </a:extLst>
            </p:cNvPr>
            <p:cNvSpPr txBox="1"/>
            <p:nvPr/>
          </p:nvSpPr>
          <p:spPr>
            <a:xfrm>
              <a:off x="9768056" y="3377879"/>
              <a:ext cx="1910429" cy="180000"/>
            </a:xfrm>
            <a:prstGeom prst="rect">
              <a:avLst/>
            </a:prstGeom>
            <a:solidFill>
              <a:schemeClr val="tx2">
                <a:lumMod val="25000"/>
                <a:lumOff val="7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Playbook</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4" name="CuadroTexto 171">
              <a:extLst>
                <a:ext uri="{FF2B5EF4-FFF2-40B4-BE49-F238E27FC236}">
                  <a16:creationId xmlns:a16="http://schemas.microsoft.com/office/drawing/2014/main" id="{0B86E3AD-6513-A263-D3D5-A22F0A8CC61E}"/>
                </a:ext>
              </a:extLst>
            </p:cNvPr>
            <p:cNvSpPr txBox="1"/>
            <p:nvPr/>
          </p:nvSpPr>
          <p:spPr>
            <a:xfrm>
              <a:off x="407473"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establish a fact-based understanding of the current state and identify the key gaps that must be addressed in the new model.</a:t>
              </a:r>
            </a:p>
          </p:txBody>
        </p:sp>
        <p:sp>
          <p:nvSpPr>
            <p:cNvPr id="55" name="CuadroTexto 172">
              <a:extLst>
                <a:ext uri="{FF2B5EF4-FFF2-40B4-BE49-F238E27FC236}">
                  <a16:creationId xmlns:a16="http://schemas.microsoft.com/office/drawing/2014/main" id="{405208D3-DCA4-9629-68DF-72F62F2B71E6}"/>
                </a:ext>
              </a:extLst>
            </p:cNvPr>
            <p:cNvSpPr txBox="1"/>
            <p:nvPr/>
          </p:nvSpPr>
          <p:spPr>
            <a:xfrm>
              <a:off x="274202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create a clear, standardized way of working that aligns roles, decisions, and value-based prioritization end-to-end.</a:t>
              </a:r>
            </a:p>
          </p:txBody>
        </p:sp>
        <p:sp>
          <p:nvSpPr>
            <p:cNvPr id="56" name="CuadroTexto 173">
              <a:extLst>
                <a:ext uri="{FF2B5EF4-FFF2-40B4-BE49-F238E27FC236}">
                  <a16:creationId xmlns:a16="http://schemas.microsoft.com/office/drawing/2014/main" id="{4B460AD4-B240-7D89-3E6D-88EAEC34F8A4}"/>
                </a:ext>
              </a:extLst>
            </p:cNvPr>
            <p:cNvSpPr txBox="1"/>
            <p:nvPr/>
          </p:nvSpPr>
          <p:spPr>
            <a:xfrm>
              <a:off x="5076579"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ensure the right tools and configurations support the new lifecycle and enable integration, visibility, and scalability.</a:t>
              </a:r>
            </a:p>
          </p:txBody>
        </p:sp>
        <p:sp>
          <p:nvSpPr>
            <p:cNvPr id="57" name="CuadroTexto 174">
              <a:extLst>
                <a:ext uri="{FF2B5EF4-FFF2-40B4-BE49-F238E27FC236}">
                  <a16:creationId xmlns:a16="http://schemas.microsoft.com/office/drawing/2014/main" id="{FD462B0D-6021-D560-1C2D-9E02792B3912}"/>
                </a:ext>
              </a:extLst>
            </p:cNvPr>
            <p:cNvSpPr txBox="1"/>
            <p:nvPr/>
          </p:nvSpPr>
          <p:spPr>
            <a:xfrm>
              <a:off x="7411132"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validate the new operating model in a real project and test whether it works effectively in practice.</a:t>
              </a:r>
            </a:p>
          </p:txBody>
        </p:sp>
        <p:sp>
          <p:nvSpPr>
            <p:cNvPr id="58" name="CuadroTexto 175">
              <a:extLst>
                <a:ext uri="{FF2B5EF4-FFF2-40B4-BE49-F238E27FC236}">
                  <a16:creationId xmlns:a16="http://schemas.microsoft.com/office/drawing/2014/main" id="{E9A5E354-8991-F9F1-6A19-D9809EEF5343}"/>
                </a:ext>
              </a:extLst>
            </p:cNvPr>
            <p:cNvSpPr txBox="1"/>
            <p:nvPr/>
          </p:nvSpPr>
          <p:spPr>
            <a:xfrm>
              <a:off x="974568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refine the model based on real feedback and prepare a stronger, scalable version for broader adoption.</a:t>
              </a:r>
            </a:p>
          </p:txBody>
        </p:sp>
        <p:sp>
          <p:nvSpPr>
            <p:cNvPr id="59" name="Shape 55">
              <a:extLst>
                <a:ext uri="{FF2B5EF4-FFF2-40B4-BE49-F238E27FC236}">
                  <a16:creationId xmlns:a16="http://schemas.microsoft.com/office/drawing/2014/main" id="{647FF6F8-AAE1-DF9D-668D-2157BC35AC0C}"/>
                </a:ext>
              </a:extLst>
            </p:cNvPr>
            <p:cNvSpPr/>
            <p:nvPr/>
          </p:nvSpPr>
          <p:spPr>
            <a:xfrm flipV="1">
              <a:off x="867591"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0" name="Shape 55">
              <a:extLst>
                <a:ext uri="{FF2B5EF4-FFF2-40B4-BE49-F238E27FC236}">
                  <a16:creationId xmlns:a16="http://schemas.microsoft.com/office/drawing/2014/main" id="{BC270A29-30C5-0D98-32B9-0042AF05DA9D}"/>
                </a:ext>
              </a:extLst>
            </p:cNvPr>
            <p:cNvSpPr/>
            <p:nvPr/>
          </p:nvSpPr>
          <p:spPr>
            <a:xfrm flipV="1">
              <a:off x="3202143"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1" name="Shape 55">
              <a:extLst>
                <a:ext uri="{FF2B5EF4-FFF2-40B4-BE49-F238E27FC236}">
                  <a16:creationId xmlns:a16="http://schemas.microsoft.com/office/drawing/2014/main" id="{36059403-B291-1A4B-7398-BC42020000A2}"/>
                </a:ext>
              </a:extLst>
            </p:cNvPr>
            <p:cNvSpPr/>
            <p:nvPr/>
          </p:nvSpPr>
          <p:spPr>
            <a:xfrm flipV="1">
              <a:off x="5536697"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2" name="Shape 55">
              <a:extLst>
                <a:ext uri="{FF2B5EF4-FFF2-40B4-BE49-F238E27FC236}">
                  <a16:creationId xmlns:a16="http://schemas.microsoft.com/office/drawing/2014/main" id="{82B4ADAB-9B02-FC23-E6F2-B5F2881777D6}"/>
                </a:ext>
              </a:extLst>
            </p:cNvPr>
            <p:cNvSpPr/>
            <p:nvPr/>
          </p:nvSpPr>
          <p:spPr>
            <a:xfrm flipV="1">
              <a:off x="7871250"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3" name="Shape 55">
              <a:extLst>
                <a:ext uri="{FF2B5EF4-FFF2-40B4-BE49-F238E27FC236}">
                  <a16:creationId xmlns:a16="http://schemas.microsoft.com/office/drawing/2014/main" id="{AB6F8939-A2FF-E537-538E-A3540342116B}"/>
                </a:ext>
              </a:extLst>
            </p:cNvPr>
            <p:cNvSpPr/>
            <p:nvPr/>
          </p:nvSpPr>
          <p:spPr>
            <a:xfrm flipV="1">
              <a:off x="10205804"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4" name="Shape 55">
              <a:extLst>
                <a:ext uri="{FF2B5EF4-FFF2-40B4-BE49-F238E27FC236}">
                  <a16:creationId xmlns:a16="http://schemas.microsoft.com/office/drawing/2014/main" id="{3154AF89-9FF3-B6AD-76CD-BB422B09CAD8}"/>
                </a:ext>
              </a:extLst>
            </p:cNvPr>
            <p:cNvSpPr/>
            <p:nvPr/>
          </p:nvSpPr>
          <p:spPr>
            <a:xfrm>
              <a:off x="333158" y="5287818"/>
              <a:ext cx="2195509" cy="47549"/>
            </a:xfrm>
            <a:prstGeom prst="roundRect">
              <a:avLst>
                <a:gd name="adj" fmla="val 201105"/>
              </a:avLst>
            </a:prstGeom>
            <a:solidFill>
              <a:srgbClr val="6785C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5" name="Shape 55">
              <a:extLst>
                <a:ext uri="{FF2B5EF4-FFF2-40B4-BE49-F238E27FC236}">
                  <a16:creationId xmlns:a16="http://schemas.microsoft.com/office/drawing/2014/main" id="{28526930-B851-0684-837A-B18A066F0D48}"/>
                </a:ext>
              </a:extLst>
            </p:cNvPr>
            <p:cNvSpPr/>
            <p:nvPr/>
          </p:nvSpPr>
          <p:spPr>
            <a:xfrm>
              <a:off x="2667710"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6" name="Shape 55">
              <a:extLst>
                <a:ext uri="{FF2B5EF4-FFF2-40B4-BE49-F238E27FC236}">
                  <a16:creationId xmlns:a16="http://schemas.microsoft.com/office/drawing/2014/main" id="{7A7E212A-DEC4-38DF-424E-E91A3D2A1FA5}"/>
                </a:ext>
              </a:extLst>
            </p:cNvPr>
            <p:cNvSpPr/>
            <p:nvPr/>
          </p:nvSpPr>
          <p:spPr>
            <a:xfrm>
              <a:off x="5002264"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7" name="Shape 55">
              <a:extLst>
                <a:ext uri="{FF2B5EF4-FFF2-40B4-BE49-F238E27FC236}">
                  <a16:creationId xmlns:a16="http://schemas.microsoft.com/office/drawing/2014/main" id="{D4EBE3FD-8CC5-F0D5-390B-6FFBC3CB0899}"/>
                </a:ext>
              </a:extLst>
            </p:cNvPr>
            <p:cNvSpPr/>
            <p:nvPr/>
          </p:nvSpPr>
          <p:spPr>
            <a:xfrm>
              <a:off x="7336817"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8" name="Shape 55">
              <a:extLst>
                <a:ext uri="{FF2B5EF4-FFF2-40B4-BE49-F238E27FC236}">
                  <a16:creationId xmlns:a16="http://schemas.microsoft.com/office/drawing/2014/main" id="{4228A373-3D02-2DDC-D798-4369EF71C7B7}"/>
                </a:ext>
              </a:extLst>
            </p:cNvPr>
            <p:cNvSpPr/>
            <p:nvPr/>
          </p:nvSpPr>
          <p:spPr>
            <a:xfrm>
              <a:off x="9671371"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69" name="Image 0" descr="preencoded.png">
              <a:extLst>
                <a:ext uri="{FF2B5EF4-FFF2-40B4-BE49-F238E27FC236}">
                  <a16:creationId xmlns:a16="http://schemas.microsoft.com/office/drawing/2014/main" id="{6D5D4B0E-E74F-E11F-DC3E-B3223AD48C22}"/>
                </a:ext>
              </a:extLst>
            </p:cNvPr>
            <p:cNvPicPr>
              <a:picLocks noChangeAspect="1"/>
            </p:cNvPicPr>
            <p:nvPr/>
          </p:nvPicPr>
          <p:blipFill>
            <a:blip r:embed="rId7"/>
            <a:srcRect/>
            <a:stretch/>
          </p:blipFill>
          <p:spPr>
            <a:xfrm>
              <a:off x="645332" y="1849165"/>
              <a:ext cx="260158" cy="260158"/>
            </a:xfrm>
            <a:prstGeom prst="rect">
              <a:avLst/>
            </a:prstGeom>
            <a:noFill/>
          </p:spPr>
        </p:pic>
        <p:pic>
          <p:nvPicPr>
            <p:cNvPr id="70" name="Image 2" descr="preencoded.png">
              <a:extLst>
                <a:ext uri="{FF2B5EF4-FFF2-40B4-BE49-F238E27FC236}">
                  <a16:creationId xmlns:a16="http://schemas.microsoft.com/office/drawing/2014/main" id="{4F7BE37D-2367-0F2F-341B-FD83FC54EB95}"/>
                </a:ext>
              </a:extLst>
            </p:cNvPr>
            <p:cNvPicPr>
              <a:picLocks noChangeAspect="1"/>
            </p:cNvPicPr>
            <p:nvPr/>
          </p:nvPicPr>
          <p:blipFill>
            <a:blip r:embed="rId8"/>
            <a:srcRect l="-837" r="-837"/>
            <a:stretch/>
          </p:blipFill>
          <p:spPr>
            <a:xfrm>
              <a:off x="2960424" y="1849165"/>
              <a:ext cx="297580" cy="260158"/>
            </a:xfrm>
            <a:prstGeom prst="rect">
              <a:avLst/>
            </a:prstGeom>
            <a:noFill/>
          </p:spPr>
        </p:pic>
        <p:pic>
          <p:nvPicPr>
            <p:cNvPr id="71" name="Image 4" descr="preencoded.png">
              <a:extLst>
                <a:ext uri="{FF2B5EF4-FFF2-40B4-BE49-F238E27FC236}">
                  <a16:creationId xmlns:a16="http://schemas.microsoft.com/office/drawing/2014/main" id="{191BF61E-0FD1-D00F-158E-9D80D4A2192F}"/>
                </a:ext>
              </a:extLst>
            </p:cNvPr>
            <p:cNvPicPr>
              <a:picLocks noChangeAspect="1"/>
            </p:cNvPicPr>
            <p:nvPr/>
          </p:nvPicPr>
          <p:blipFill>
            <a:blip r:embed="rId9"/>
            <a:srcRect/>
            <a:stretch/>
          </p:blipFill>
          <p:spPr>
            <a:xfrm>
              <a:off x="5319643" y="1859325"/>
              <a:ext cx="260158" cy="260158"/>
            </a:xfrm>
            <a:prstGeom prst="rect">
              <a:avLst/>
            </a:prstGeom>
            <a:noFill/>
          </p:spPr>
        </p:pic>
        <p:pic>
          <p:nvPicPr>
            <p:cNvPr id="72" name="Image 6" descr="preencoded.png">
              <a:extLst>
                <a:ext uri="{FF2B5EF4-FFF2-40B4-BE49-F238E27FC236}">
                  <a16:creationId xmlns:a16="http://schemas.microsoft.com/office/drawing/2014/main" id="{448A1C47-D452-76B3-B3EC-59C1AF1394A2}"/>
                </a:ext>
              </a:extLst>
            </p:cNvPr>
            <p:cNvPicPr>
              <a:picLocks noChangeAspect="1"/>
            </p:cNvPicPr>
            <p:nvPr/>
          </p:nvPicPr>
          <p:blipFill>
            <a:blip r:embed="rId10"/>
            <a:srcRect/>
            <a:stretch/>
          </p:blipFill>
          <p:spPr>
            <a:xfrm>
              <a:off x="9987757" y="1859325"/>
              <a:ext cx="260158" cy="260158"/>
            </a:xfrm>
            <a:prstGeom prst="rect">
              <a:avLst/>
            </a:prstGeom>
            <a:noFill/>
          </p:spPr>
        </p:pic>
        <p:pic>
          <p:nvPicPr>
            <p:cNvPr id="73" name="Image 10" descr="preencoded.png">
              <a:extLst>
                <a:ext uri="{FF2B5EF4-FFF2-40B4-BE49-F238E27FC236}">
                  <a16:creationId xmlns:a16="http://schemas.microsoft.com/office/drawing/2014/main" id="{89C129EE-9A43-1B9A-FB87-0DBB5FDB4519}"/>
                </a:ext>
              </a:extLst>
            </p:cNvPr>
            <p:cNvPicPr>
              <a:picLocks noChangeAspect="1"/>
            </p:cNvPicPr>
            <p:nvPr/>
          </p:nvPicPr>
          <p:blipFill>
            <a:blip r:embed="rId11"/>
            <a:srcRect l="-1507" r="-1507"/>
            <a:stretch/>
          </p:blipFill>
          <p:spPr>
            <a:xfrm>
              <a:off x="7634961" y="1871151"/>
              <a:ext cx="304545" cy="236507"/>
            </a:xfrm>
            <a:prstGeom prst="rect">
              <a:avLst/>
            </a:prstGeom>
            <a:noFill/>
          </p:spPr>
        </p:pic>
        <p:sp>
          <p:nvSpPr>
            <p:cNvPr id="74" name="Text 38">
              <a:extLst>
                <a:ext uri="{FF2B5EF4-FFF2-40B4-BE49-F238E27FC236}">
                  <a16:creationId xmlns:a16="http://schemas.microsoft.com/office/drawing/2014/main" id="{05D551AA-771A-FB77-A5AA-65CBCF32AC2B}"/>
                </a:ext>
              </a:extLst>
            </p:cNvPr>
            <p:cNvSpPr txBox="1"/>
            <p:nvPr/>
          </p:nvSpPr>
          <p:spPr>
            <a:xfrm>
              <a:off x="376888" y="5509118"/>
              <a:ext cx="2105863" cy="568443"/>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uLnTx/>
                  <a:uFillTx/>
                  <a:latin typeface="Arial" panose="020B0604020202020204" pitchFamily="34" charset="0"/>
                  <a:ea typeface="Open Sans" pitchFamily="34" charset="-122"/>
                  <a:cs typeface="Arial" panose="020B0604020202020204" pitchFamily="34" charset="0"/>
                </a:rPr>
                <a:t>Baseline Report</a:t>
              </a:r>
              <a:endParaRPr kumimoji="0" lang="en-US" sz="1000" i="0" u="none" strike="noStrike" kern="1200" cap="none" spc="0" normalizeH="0" baseline="0" noProof="0">
                <a:ln>
                  <a:noFill/>
                </a:ln>
                <a:uLnTx/>
                <a:uFillTx/>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Demand Map</a:t>
              </a:r>
              <a:endParaRPr lang="en-US" sz="1000" noProof="0">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Project Portfolio Landscape (SAP)</a:t>
              </a:r>
              <a:endParaRPr lang="en-US" sz="1000" noProof="0">
                <a:latin typeface="Arial" panose="020B0604020202020204" pitchFamily="34" charset="0"/>
                <a:cs typeface="Arial" panose="020B0604020202020204" pitchFamily="34" charset="0"/>
              </a:endParaRPr>
            </a:p>
          </p:txBody>
        </p:sp>
        <p:sp>
          <p:nvSpPr>
            <p:cNvPr id="75" name="Text 38">
              <a:extLst>
                <a:ext uri="{FF2B5EF4-FFF2-40B4-BE49-F238E27FC236}">
                  <a16:creationId xmlns:a16="http://schemas.microsoft.com/office/drawing/2014/main" id="{5942A60A-3FE4-7FDB-6758-E9531321E4D6}"/>
                </a:ext>
              </a:extLst>
            </p:cNvPr>
            <p:cNvSpPr txBox="1"/>
            <p:nvPr/>
          </p:nvSpPr>
          <p:spPr>
            <a:xfrm>
              <a:off x="2737355" y="5515226"/>
              <a:ext cx="2105863" cy="568443"/>
            </a:xfrm>
            <a:prstGeom prst="rect">
              <a:avLst/>
            </a:prstGeom>
            <a:noFill/>
            <a:ln/>
          </p:spPr>
          <p:txBody>
            <a:bodyPr wrap="square" lIns="0" tIns="0" rIns="0" bIns="0" rtlCol="0" anchor="t"/>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v1.0</a:t>
              </a:r>
            </a:p>
            <a:p>
              <a:r>
                <a:rPr lang="en-US" noProof="0">
                  <a:latin typeface="Arial" panose="020B0604020202020204" pitchFamily="34" charset="0"/>
                  <a:cs typeface="Arial" panose="020B0604020202020204" pitchFamily="34" charset="0"/>
                </a:rPr>
                <a:t>Demand Typology</a:t>
              </a:r>
            </a:p>
            <a:p>
              <a:r>
                <a:rPr lang="en-US" noProof="0">
                  <a:latin typeface="Arial" panose="020B0604020202020204" pitchFamily="34" charset="0"/>
                  <a:cs typeface="Arial" panose="020B0604020202020204" pitchFamily="34" charset="0"/>
                </a:rPr>
                <a:t>Prioritization Framework</a:t>
              </a:r>
            </a:p>
            <a:p>
              <a:r>
                <a:rPr lang="en-US" noProof="0">
                  <a:latin typeface="Arial" panose="020B0604020202020204" pitchFamily="34" charset="0"/>
                  <a:cs typeface="Arial" panose="020B0604020202020204" pitchFamily="34" charset="0"/>
                </a:rPr>
                <a:t>Roles &amp; RACI Matrix</a:t>
              </a:r>
            </a:p>
            <a:p>
              <a:endParaRPr lang="en-US" noProof="0">
                <a:latin typeface="Arial" panose="020B0604020202020204" pitchFamily="34" charset="0"/>
                <a:cs typeface="Arial" panose="020B0604020202020204" pitchFamily="34" charset="0"/>
              </a:endParaRPr>
            </a:p>
          </p:txBody>
        </p:sp>
        <p:sp>
          <p:nvSpPr>
            <p:cNvPr id="76" name="Text 38">
              <a:extLst>
                <a:ext uri="{FF2B5EF4-FFF2-40B4-BE49-F238E27FC236}">
                  <a16:creationId xmlns:a16="http://schemas.microsoft.com/office/drawing/2014/main" id="{718E1F8E-48F2-8DBF-C814-185C042CDFF3}"/>
                </a:ext>
              </a:extLst>
            </p:cNvPr>
            <p:cNvSpPr txBox="1"/>
            <p:nvPr/>
          </p:nvSpPr>
          <p:spPr>
            <a:xfrm>
              <a:off x="5055452"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Tool Ecosystem Design</a:t>
              </a:r>
            </a:p>
            <a:p>
              <a:r>
                <a:rPr lang="en-US" noProof="0">
                  <a:latin typeface="Arial" panose="020B0604020202020204" pitchFamily="34" charset="0"/>
                  <a:cs typeface="Arial" panose="020B0604020202020204" pitchFamily="34" charset="0"/>
                </a:rPr>
                <a:t>Jira Configuration v1.0</a:t>
              </a:r>
            </a:p>
            <a:p>
              <a:r>
                <a:rPr lang="en-US" noProof="0">
                  <a:latin typeface="Arial" panose="020B0604020202020204" pitchFamily="34" charset="0"/>
                  <a:cs typeface="Arial" panose="020B0604020202020204" pitchFamily="34" charset="0"/>
                </a:rPr>
                <a:t>Portfolio Concept Blueprint</a:t>
              </a:r>
            </a:p>
          </p:txBody>
        </p:sp>
        <p:sp>
          <p:nvSpPr>
            <p:cNvPr id="77" name="Text 38">
              <a:extLst>
                <a:ext uri="{FF2B5EF4-FFF2-40B4-BE49-F238E27FC236}">
                  <a16:creationId xmlns:a16="http://schemas.microsoft.com/office/drawing/2014/main" id="{0A1979A1-D4AF-CE3D-B928-778036339A47}"/>
                </a:ext>
              </a:extLst>
            </p:cNvPr>
            <p:cNvSpPr txBox="1"/>
            <p:nvPr/>
          </p:nvSpPr>
          <p:spPr>
            <a:xfrm>
              <a:off x="7390900"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Pilot Execution Report</a:t>
              </a:r>
            </a:p>
            <a:p>
              <a:r>
                <a:rPr lang="en-US" noProof="0">
                  <a:latin typeface="Arial" panose="020B0604020202020204" pitchFamily="34" charset="0"/>
                  <a:cs typeface="Arial" panose="020B0604020202020204" pitchFamily="34" charset="0"/>
                </a:rPr>
                <a:t>First Reporting Output</a:t>
              </a:r>
            </a:p>
            <a:p>
              <a:r>
                <a:rPr lang="en-US" noProof="0">
                  <a:latin typeface="Arial" panose="020B0604020202020204" pitchFamily="34" charset="0"/>
                  <a:cs typeface="Arial" panose="020B0604020202020204" pitchFamily="34" charset="0"/>
                </a:rPr>
                <a:t>Structured Feedback Log</a:t>
              </a:r>
            </a:p>
          </p:txBody>
        </p:sp>
        <p:sp>
          <p:nvSpPr>
            <p:cNvPr id="78" name="Text 38">
              <a:extLst>
                <a:ext uri="{FF2B5EF4-FFF2-40B4-BE49-F238E27FC236}">
                  <a16:creationId xmlns:a16="http://schemas.microsoft.com/office/drawing/2014/main" id="{79F7EB9A-048B-D15E-9EEA-3CF040325D84}"/>
                </a:ext>
              </a:extLst>
            </p:cNvPr>
            <p:cNvSpPr txBox="1"/>
            <p:nvPr/>
          </p:nvSpPr>
          <p:spPr>
            <a:xfrm>
              <a:off x="9726349"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v2.0</a:t>
              </a:r>
            </a:p>
            <a:p>
              <a:r>
                <a:rPr lang="en-US" noProof="0">
                  <a:latin typeface="Arial" panose="020B0604020202020204" pitchFamily="34" charset="0"/>
                  <a:cs typeface="Arial" panose="020B0604020202020204" pitchFamily="34" charset="0"/>
                </a:rPr>
                <a:t>Jira Config v2.0</a:t>
              </a:r>
            </a:p>
            <a:p>
              <a:r>
                <a:rPr lang="en-US" noProof="0">
                  <a:latin typeface="Arial" panose="020B0604020202020204" pitchFamily="34" charset="0"/>
                  <a:cs typeface="Arial" panose="020B0604020202020204" pitchFamily="34" charset="0"/>
                </a:rPr>
                <a:t>Value Criteria Framework v2.0</a:t>
              </a:r>
            </a:p>
          </p:txBody>
        </p:sp>
        <p:sp>
          <p:nvSpPr>
            <p:cNvPr id="87" name="Retângulo 86">
              <a:extLst>
                <a:ext uri="{FF2B5EF4-FFF2-40B4-BE49-F238E27FC236}">
                  <a16:creationId xmlns:a16="http://schemas.microsoft.com/office/drawing/2014/main" id="{CC1F992A-1BAC-1902-EEB1-F91AC9BA3223}"/>
                </a:ext>
              </a:extLst>
            </p:cNvPr>
            <p:cNvSpPr/>
            <p:nvPr/>
          </p:nvSpPr>
          <p:spPr>
            <a:xfrm>
              <a:off x="2672790" y="1583917"/>
              <a:ext cx="9199169" cy="485841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sp>
        <p:nvSpPr>
          <p:cNvPr id="90" name="CuadroTexto 204">
            <a:extLst>
              <a:ext uri="{FF2B5EF4-FFF2-40B4-BE49-F238E27FC236}">
                <a16:creationId xmlns:a16="http://schemas.microsoft.com/office/drawing/2014/main" id="{B19EA28C-31FF-94CE-327C-2064EED9CBD2}"/>
              </a:ext>
            </a:extLst>
          </p:cNvPr>
          <p:cNvSpPr txBox="1"/>
          <p:nvPr/>
        </p:nvSpPr>
        <p:spPr>
          <a:xfrm>
            <a:off x="325121" y="864643"/>
            <a:ext cx="11504930" cy="738664"/>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This project follows a structured, end-to-end approach to assess the current state, design the future operating model, enable it through tools, validate it in a live pilot, and refine it for scaling. Each step builds progressively to ensure measurable impact and readiness for broader adoption.</a:t>
            </a:r>
          </a:p>
        </p:txBody>
      </p:sp>
    </p:spTree>
    <p:extLst>
      <p:ext uri="{BB962C8B-B14F-4D97-AF65-F5344CB8AC3E}">
        <p14:creationId xmlns:p14="http://schemas.microsoft.com/office/powerpoint/2010/main" val="847224263"/>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F6C1-6241-623E-B242-98B9BE95B596}"/>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415DB9F0-65DE-C635-8F5D-2BC8C3B4FF9C}"/>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METHODOLOGY</a:t>
            </a:r>
            <a:endParaRPr lang="en-US" sz="11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4F4B79E5-86E3-A48F-013F-69FD88E45969}"/>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A5FE38FC-F264-72F2-EF3E-3986F7FB3A77}"/>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B2635F4A-9A15-E0BC-E9FF-0A1BACB07D1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1CFB22B2-620E-F88C-D48E-B0DF1982C5AD}"/>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CBF862F0-CEB0-F09F-9F7D-7004F3E7D938}"/>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903D062A-CA00-8D1F-B3F7-9F5C519A2A7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190395E4-C9EA-FB23-C4C1-19C827231A6B}"/>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F2DFEEA4-3B91-CAF7-5DF8-178CCA748B49}"/>
              </a:ext>
            </a:extLst>
          </p:cNvPr>
          <p:cNvSpPr/>
          <p:nvPr/>
        </p:nvSpPr>
        <p:spPr>
          <a:xfrm>
            <a:off x="2770632"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F7079041-4309-7AB3-E150-0884236B168A}"/>
              </a:ext>
            </a:extLst>
          </p:cNvPr>
          <p:cNvSpPr/>
          <p:nvPr/>
        </p:nvSpPr>
        <p:spPr>
          <a:xfrm>
            <a:off x="5084064"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ECFE0C02-BB32-CF03-627D-06B1006A228A}"/>
              </a:ext>
            </a:extLst>
          </p:cNvPr>
          <p:cNvSpPr/>
          <p:nvPr/>
        </p:nvSpPr>
        <p:spPr>
          <a:xfrm>
            <a:off x="7397496"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C2ED932F-D815-1BF5-7826-016B9AC40D9B}"/>
              </a:ext>
            </a:extLst>
          </p:cNvPr>
          <p:cNvSpPr/>
          <p:nvPr/>
        </p:nvSpPr>
        <p:spPr>
          <a:xfrm>
            <a:off x="9710928"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D7B7BB8F-42F0-F376-2ED3-0F2D64DF32E8}"/>
              </a:ext>
            </a:extLst>
          </p:cNvPr>
          <p:cNvSpPr/>
          <p:nvPr/>
        </p:nvSpPr>
        <p:spPr>
          <a:xfrm>
            <a:off x="457200" y="1513601"/>
            <a:ext cx="2240280" cy="114300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74" name="TextBox 73">
            <a:extLst>
              <a:ext uri="{FF2B5EF4-FFF2-40B4-BE49-F238E27FC236}">
                <a16:creationId xmlns:a16="http://schemas.microsoft.com/office/drawing/2014/main" id="{7010D061-BA10-6226-FF8E-3A053473C12A}"/>
              </a:ext>
            </a:extLst>
          </p:cNvPr>
          <p:cNvSpPr txBox="1"/>
          <p:nvPr/>
        </p:nvSpPr>
        <p:spPr>
          <a:xfrm>
            <a:off x="594360"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bg1"/>
                </a:solidFill>
                <a:latin typeface="Arial" panose="020B0604020202020204" pitchFamily="34" charset="0"/>
                <a:cs typeface="Arial" panose="020B0604020202020204" pitchFamily="34" charset="0"/>
              </a:rPr>
              <a:t>Step </a:t>
            </a:r>
            <a:r>
              <a:rPr lang="en-US" sz="1000" b="1">
                <a:solidFill>
                  <a:schemeClr val="bg1"/>
                </a:solidFill>
                <a:latin typeface="Arial" panose="020B0604020202020204" pitchFamily="34" charset="0"/>
                <a:cs typeface="Arial" panose="020B0604020202020204" pitchFamily="34" charset="0"/>
              </a:rPr>
              <a:t>1</a:t>
            </a:r>
            <a:endParaRPr lang="en-US" sz="1000" b="1" i="0" noProof="0">
              <a:solidFill>
                <a:schemeClr val="bg1"/>
              </a:solidFill>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D522B3C0-EC1B-1310-E85C-E2441E56E5FA}"/>
              </a:ext>
            </a:extLst>
          </p:cNvPr>
          <p:cNvSpPr txBox="1"/>
          <p:nvPr/>
        </p:nvSpPr>
        <p:spPr>
          <a:xfrm>
            <a:off x="594360"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Enablement</a:t>
            </a:r>
          </a:p>
        </p:txBody>
      </p:sp>
      <p:sp>
        <p:nvSpPr>
          <p:cNvPr id="76" name="TextBox 75">
            <a:extLst>
              <a:ext uri="{FF2B5EF4-FFF2-40B4-BE49-F238E27FC236}">
                <a16:creationId xmlns:a16="http://schemas.microsoft.com/office/drawing/2014/main" id="{F1696984-0870-5EB3-1B29-0F8A4143384E}"/>
              </a:ext>
            </a:extLst>
          </p:cNvPr>
          <p:cNvSpPr txBox="1"/>
          <p:nvPr/>
        </p:nvSpPr>
        <p:spPr>
          <a:xfrm>
            <a:off x="594360"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bg1"/>
                </a:solidFill>
                <a:latin typeface="Arial" panose="020B0604020202020204" pitchFamily="34" charset="0"/>
                <a:cs typeface="Arial" panose="020B0604020202020204" pitchFamily="34" charset="0"/>
              </a:rPr>
              <a:t>Where are we starting from?</a:t>
            </a:r>
          </a:p>
        </p:txBody>
      </p:sp>
      <p:sp>
        <p:nvSpPr>
          <p:cNvPr id="77" name="Right Arrow 7">
            <a:extLst>
              <a:ext uri="{FF2B5EF4-FFF2-40B4-BE49-F238E27FC236}">
                <a16:creationId xmlns:a16="http://schemas.microsoft.com/office/drawing/2014/main" id="{47B9F203-85F2-BB5E-AEDC-8299529BFF94}"/>
              </a:ext>
            </a:extLst>
          </p:cNvPr>
          <p:cNvSpPr/>
          <p:nvPr/>
        </p:nvSpPr>
        <p:spPr>
          <a:xfrm>
            <a:off x="2621661"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EEF5C717-2D66-2C14-7D51-6977DF0D8702}"/>
              </a:ext>
            </a:extLst>
          </p:cNvPr>
          <p:cNvSpPr txBox="1"/>
          <p:nvPr/>
        </p:nvSpPr>
        <p:spPr>
          <a:xfrm>
            <a:off x="2907792"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2</a:t>
            </a:r>
          </a:p>
        </p:txBody>
      </p:sp>
      <p:sp>
        <p:nvSpPr>
          <p:cNvPr id="79" name="TextBox 78">
            <a:extLst>
              <a:ext uri="{FF2B5EF4-FFF2-40B4-BE49-F238E27FC236}">
                <a16:creationId xmlns:a16="http://schemas.microsoft.com/office/drawing/2014/main" id="{9BC9C6D0-8F68-6670-B6DA-A4CD1A086990}"/>
              </a:ext>
            </a:extLst>
          </p:cNvPr>
          <p:cNvSpPr txBox="1"/>
          <p:nvPr/>
        </p:nvSpPr>
        <p:spPr>
          <a:xfrm>
            <a:off x="2907792"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Define Lifecycle</a:t>
            </a:r>
          </a:p>
        </p:txBody>
      </p:sp>
      <p:sp>
        <p:nvSpPr>
          <p:cNvPr id="80" name="TextBox 79">
            <a:extLst>
              <a:ext uri="{FF2B5EF4-FFF2-40B4-BE49-F238E27FC236}">
                <a16:creationId xmlns:a16="http://schemas.microsoft.com/office/drawing/2014/main" id="{977D4088-88A0-1D38-9387-CD145AAF7167}"/>
              </a:ext>
            </a:extLst>
          </p:cNvPr>
          <p:cNvSpPr txBox="1"/>
          <p:nvPr/>
        </p:nvSpPr>
        <p:spPr>
          <a:xfrm>
            <a:off x="2907792"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How should we work?</a:t>
            </a:r>
          </a:p>
        </p:txBody>
      </p:sp>
      <p:sp>
        <p:nvSpPr>
          <p:cNvPr id="81" name="Right Arrow 12">
            <a:extLst>
              <a:ext uri="{FF2B5EF4-FFF2-40B4-BE49-F238E27FC236}">
                <a16:creationId xmlns:a16="http://schemas.microsoft.com/office/drawing/2014/main" id="{BFA1DBF3-0E7B-F3D4-7B12-C466D7CAE801}"/>
              </a:ext>
            </a:extLst>
          </p:cNvPr>
          <p:cNvSpPr/>
          <p:nvPr/>
        </p:nvSpPr>
        <p:spPr>
          <a:xfrm>
            <a:off x="4935093"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EC2CE458-6731-201E-A11C-9164750B9366}"/>
              </a:ext>
            </a:extLst>
          </p:cNvPr>
          <p:cNvSpPr txBox="1"/>
          <p:nvPr/>
        </p:nvSpPr>
        <p:spPr>
          <a:xfrm>
            <a:off x="5221224"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3</a:t>
            </a:r>
          </a:p>
        </p:txBody>
      </p:sp>
      <p:sp>
        <p:nvSpPr>
          <p:cNvPr id="83" name="TextBox 82">
            <a:extLst>
              <a:ext uri="{FF2B5EF4-FFF2-40B4-BE49-F238E27FC236}">
                <a16:creationId xmlns:a16="http://schemas.microsoft.com/office/drawing/2014/main" id="{F6A90099-8A84-D8BE-781B-B8064334DD86}"/>
              </a:ext>
            </a:extLst>
          </p:cNvPr>
          <p:cNvSpPr txBox="1"/>
          <p:nvPr/>
        </p:nvSpPr>
        <p:spPr>
          <a:xfrm>
            <a:off x="5221224"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Design Tool Ecosystem</a:t>
            </a:r>
          </a:p>
        </p:txBody>
      </p:sp>
      <p:sp>
        <p:nvSpPr>
          <p:cNvPr id="84" name="TextBox 83">
            <a:extLst>
              <a:ext uri="{FF2B5EF4-FFF2-40B4-BE49-F238E27FC236}">
                <a16:creationId xmlns:a16="http://schemas.microsoft.com/office/drawing/2014/main" id="{34D41A8D-4C42-A9DD-26EE-3FCE5A6E0A03}"/>
              </a:ext>
            </a:extLst>
          </p:cNvPr>
          <p:cNvSpPr txBox="1"/>
          <p:nvPr/>
        </p:nvSpPr>
        <p:spPr>
          <a:xfrm>
            <a:off x="5221224"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supports the process?</a:t>
            </a:r>
          </a:p>
        </p:txBody>
      </p:sp>
      <p:sp>
        <p:nvSpPr>
          <p:cNvPr id="85" name="Right Arrow 17">
            <a:extLst>
              <a:ext uri="{FF2B5EF4-FFF2-40B4-BE49-F238E27FC236}">
                <a16:creationId xmlns:a16="http://schemas.microsoft.com/office/drawing/2014/main" id="{AA7890C0-0FD2-20EE-A43F-EB1F880595BD}"/>
              </a:ext>
            </a:extLst>
          </p:cNvPr>
          <p:cNvSpPr/>
          <p:nvPr/>
        </p:nvSpPr>
        <p:spPr>
          <a:xfrm>
            <a:off x="7248525"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FE098781-32AA-4107-72E8-F8462EF6AEF3}"/>
              </a:ext>
            </a:extLst>
          </p:cNvPr>
          <p:cNvSpPr txBox="1"/>
          <p:nvPr/>
        </p:nvSpPr>
        <p:spPr>
          <a:xfrm>
            <a:off x="7534656"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4</a:t>
            </a:r>
          </a:p>
        </p:txBody>
      </p:sp>
      <p:sp>
        <p:nvSpPr>
          <p:cNvPr id="87" name="TextBox 86">
            <a:extLst>
              <a:ext uri="{FF2B5EF4-FFF2-40B4-BE49-F238E27FC236}">
                <a16:creationId xmlns:a16="http://schemas.microsoft.com/office/drawing/2014/main" id="{BA108A81-3AD1-39A0-90A1-296516E2C964}"/>
              </a:ext>
            </a:extLst>
          </p:cNvPr>
          <p:cNvSpPr txBox="1"/>
          <p:nvPr/>
        </p:nvSpPr>
        <p:spPr>
          <a:xfrm>
            <a:off x="7534656"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Pilot Execution (BRS)</a:t>
            </a:r>
          </a:p>
        </p:txBody>
      </p:sp>
      <p:sp>
        <p:nvSpPr>
          <p:cNvPr id="88" name="TextBox 87">
            <a:extLst>
              <a:ext uri="{FF2B5EF4-FFF2-40B4-BE49-F238E27FC236}">
                <a16:creationId xmlns:a16="http://schemas.microsoft.com/office/drawing/2014/main" id="{793B6C56-86F4-9F2D-3663-572E711BF8C3}"/>
              </a:ext>
            </a:extLst>
          </p:cNvPr>
          <p:cNvSpPr txBox="1"/>
          <p:nvPr/>
        </p:nvSpPr>
        <p:spPr>
          <a:xfrm>
            <a:off x="7534656"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Does it work in reality?</a:t>
            </a:r>
          </a:p>
        </p:txBody>
      </p:sp>
      <p:sp>
        <p:nvSpPr>
          <p:cNvPr id="89" name="Right Arrow 22">
            <a:extLst>
              <a:ext uri="{FF2B5EF4-FFF2-40B4-BE49-F238E27FC236}">
                <a16:creationId xmlns:a16="http://schemas.microsoft.com/office/drawing/2014/main" id="{2DDD8581-9F76-AE52-5781-FE2C0B4839FD}"/>
              </a:ext>
            </a:extLst>
          </p:cNvPr>
          <p:cNvSpPr/>
          <p:nvPr/>
        </p:nvSpPr>
        <p:spPr>
          <a:xfrm>
            <a:off x="9561957"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CF97E9AE-B2B2-6110-C08C-7BD0FB4203B0}"/>
              </a:ext>
            </a:extLst>
          </p:cNvPr>
          <p:cNvSpPr txBox="1"/>
          <p:nvPr/>
        </p:nvSpPr>
        <p:spPr>
          <a:xfrm>
            <a:off x="9848088"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5</a:t>
            </a:r>
          </a:p>
        </p:txBody>
      </p:sp>
      <p:sp>
        <p:nvSpPr>
          <p:cNvPr id="91" name="TextBox 90">
            <a:extLst>
              <a:ext uri="{FF2B5EF4-FFF2-40B4-BE49-F238E27FC236}">
                <a16:creationId xmlns:a16="http://schemas.microsoft.com/office/drawing/2014/main" id="{6382B055-3AE1-6CDA-64F4-99B901A3B21A}"/>
              </a:ext>
            </a:extLst>
          </p:cNvPr>
          <p:cNvSpPr txBox="1"/>
          <p:nvPr/>
        </p:nvSpPr>
        <p:spPr>
          <a:xfrm>
            <a:off x="9848088"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Learn &amp; Adjust</a:t>
            </a:r>
          </a:p>
        </p:txBody>
      </p:sp>
      <p:sp>
        <p:nvSpPr>
          <p:cNvPr id="92" name="TextBox 91">
            <a:extLst>
              <a:ext uri="{FF2B5EF4-FFF2-40B4-BE49-F238E27FC236}">
                <a16:creationId xmlns:a16="http://schemas.microsoft.com/office/drawing/2014/main" id="{CAC935C6-498F-C33A-EF44-3BDB7A3043BB}"/>
              </a:ext>
            </a:extLst>
          </p:cNvPr>
          <p:cNvSpPr txBox="1"/>
          <p:nvPr/>
        </p:nvSpPr>
        <p:spPr>
          <a:xfrm>
            <a:off x="9848088"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needs refinement?</a:t>
            </a:r>
          </a:p>
        </p:txBody>
      </p:sp>
      <p:sp>
        <p:nvSpPr>
          <p:cNvPr id="93" name="Rectangle 92">
            <a:extLst>
              <a:ext uri="{FF2B5EF4-FFF2-40B4-BE49-F238E27FC236}">
                <a16:creationId xmlns:a16="http://schemas.microsoft.com/office/drawing/2014/main" id="{979FA030-A4DC-509B-331C-17698492FCE1}"/>
              </a:ext>
            </a:extLst>
          </p:cNvPr>
          <p:cNvSpPr/>
          <p:nvPr/>
        </p:nvSpPr>
        <p:spPr>
          <a:xfrm>
            <a:off x="457200" y="2744993"/>
            <a:ext cx="11509248" cy="34747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21BEA7C6-F3B4-F5FF-2585-EDBF4677432C}"/>
              </a:ext>
            </a:extLst>
          </p:cNvPr>
          <p:cNvSpPr txBox="1"/>
          <p:nvPr/>
        </p:nvSpPr>
        <p:spPr>
          <a:xfrm>
            <a:off x="457200" y="2825017"/>
            <a:ext cx="11274552" cy="187424"/>
          </a:xfrm>
          <a:prstGeom prst="rect">
            <a:avLst/>
          </a:prstGeom>
          <a:no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STEP 1  —  ENABLEMENT  ·  ZOOM IN</a:t>
            </a:r>
          </a:p>
        </p:txBody>
      </p:sp>
      <p:sp>
        <p:nvSpPr>
          <p:cNvPr id="95" name="TextBox 94">
            <a:extLst>
              <a:ext uri="{FF2B5EF4-FFF2-40B4-BE49-F238E27FC236}">
                <a16:creationId xmlns:a16="http://schemas.microsoft.com/office/drawing/2014/main" id="{8DAA5A37-CCC5-AB87-CFD2-48DE1828F30D}"/>
              </a:ext>
            </a:extLst>
          </p:cNvPr>
          <p:cNvSpPr txBox="1"/>
          <p:nvPr/>
        </p:nvSpPr>
        <p:spPr>
          <a:xfrm>
            <a:off x="457200" y="3220481"/>
            <a:ext cx="68580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B76A0"/>
                </a:solidFill>
                <a:latin typeface="Arial" panose="020B0604020202020204" pitchFamily="34" charset="0"/>
                <a:cs typeface="Arial" panose="020B0604020202020204" pitchFamily="34" charset="0"/>
              </a:rPr>
              <a:t>WHAT WE DID</a:t>
            </a:r>
          </a:p>
        </p:txBody>
      </p:sp>
      <p:sp>
        <p:nvSpPr>
          <p:cNvPr id="96" name="Rectangle 95">
            <a:extLst>
              <a:ext uri="{FF2B5EF4-FFF2-40B4-BE49-F238E27FC236}">
                <a16:creationId xmlns:a16="http://schemas.microsoft.com/office/drawing/2014/main" id="{D3981AA5-DDEE-F9C0-4B98-2A403926EB53}"/>
              </a:ext>
            </a:extLst>
          </p:cNvPr>
          <p:cNvSpPr/>
          <p:nvPr/>
        </p:nvSpPr>
        <p:spPr>
          <a:xfrm>
            <a:off x="457200" y="351308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43A885BE-14D8-7794-0F2E-E8C14D31420F}"/>
              </a:ext>
            </a:extLst>
          </p:cNvPr>
          <p:cNvSpPr txBox="1"/>
          <p:nvPr/>
        </p:nvSpPr>
        <p:spPr>
          <a:xfrm>
            <a:off x="640080" y="351308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Prior Materials Review</a:t>
            </a:r>
          </a:p>
        </p:txBody>
      </p:sp>
      <p:sp>
        <p:nvSpPr>
          <p:cNvPr id="98" name="TextBox 97">
            <a:extLst>
              <a:ext uri="{FF2B5EF4-FFF2-40B4-BE49-F238E27FC236}">
                <a16:creationId xmlns:a16="http://schemas.microsoft.com/office/drawing/2014/main" id="{204A045C-F078-2222-523C-A088F4218D7F}"/>
              </a:ext>
            </a:extLst>
          </p:cNvPr>
          <p:cNvSpPr txBox="1"/>
          <p:nvPr/>
        </p:nvSpPr>
        <p:spPr>
          <a:xfrm>
            <a:off x="640080" y="3750833"/>
            <a:ext cx="6492240" cy="324384"/>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Reviewed 40+ prior artifacts: IT CS Operating Model, P&amp;S Playbook, DTO NextGen, Org Chart, Competency Framework.</a:t>
            </a:r>
          </a:p>
        </p:txBody>
      </p:sp>
      <p:sp>
        <p:nvSpPr>
          <p:cNvPr id="99" name="Rectangle 98">
            <a:extLst>
              <a:ext uri="{FF2B5EF4-FFF2-40B4-BE49-F238E27FC236}">
                <a16:creationId xmlns:a16="http://schemas.microsoft.com/office/drawing/2014/main" id="{60DE9C39-2A15-AB72-DFB8-B41804565A5B}"/>
              </a:ext>
            </a:extLst>
          </p:cNvPr>
          <p:cNvSpPr/>
          <p:nvPr/>
        </p:nvSpPr>
        <p:spPr>
          <a:xfrm>
            <a:off x="457200" y="429032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0" name="TextBox 99">
            <a:extLst>
              <a:ext uri="{FF2B5EF4-FFF2-40B4-BE49-F238E27FC236}">
                <a16:creationId xmlns:a16="http://schemas.microsoft.com/office/drawing/2014/main" id="{96CA6CB0-043F-E560-F0DC-100521F58760}"/>
              </a:ext>
            </a:extLst>
          </p:cNvPr>
          <p:cNvSpPr txBox="1"/>
          <p:nvPr/>
        </p:nvSpPr>
        <p:spPr>
          <a:xfrm>
            <a:off x="640080" y="429032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Stakeholder Interviews</a:t>
            </a:r>
          </a:p>
        </p:txBody>
      </p:sp>
      <p:sp>
        <p:nvSpPr>
          <p:cNvPr id="101" name="TextBox 100">
            <a:extLst>
              <a:ext uri="{FF2B5EF4-FFF2-40B4-BE49-F238E27FC236}">
                <a16:creationId xmlns:a16="http://schemas.microsoft.com/office/drawing/2014/main" id="{3387EB32-73FE-57B3-8F1C-7526DB18031C}"/>
              </a:ext>
            </a:extLst>
          </p:cNvPr>
          <p:cNvSpPr txBox="1"/>
          <p:nvPr/>
        </p:nvSpPr>
        <p:spPr>
          <a:xfrm>
            <a:off x="640080" y="4528073"/>
            <a:ext cx="6492240" cy="494751"/>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t>
            </a:r>
            <a:r>
              <a:rPr lang="en-US" sz="1000" b="0" i="0" noProof="0">
                <a:solidFill>
                  <a:srgbClr val="2C3E50"/>
                </a:solidFill>
                <a:latin typeface="Arial"/>
                <a:cs typeface="Arial"/>
              </a:rPr>
              <a:t>hampion interviews (GIS, Corporate, G&amp;E, Global SAP, Smart Metering and SAP</a:t>
            </a:r>
            <a:r>
              <a:rPr lang="en-US" sz="1000" noProof="0">
                <a:solidFill>
                  <a:srgbClr val="2C3E50"/>
                </a:solidFill>
                <a:latin typeface="Arial"/>
                <a:cs typeface="Arial"/>
              </a:rPr>
              <a:t>)</a:t>
            </a:r>
            <a:r>
              <a:rPr lang="en-US" sz="1000" b="0" i="0" noProof="0">
                <a:solidFill>
                  <a:srgbClr val="2C3E50"/>
                </a:solidFill>
                <a:latin typeface="Arial"/>
                <a:cs typeface="Arial"/>
              </a:rPr>
              <a:t> </a:t>
            </a:r>
            <a:r>
              <a:rPr lang="en-US" sz="1000" noProof="0">
                <a:solidFill>
                  <a:srgbClr val="2C3E50"/>
                </a:solidFill>
                <a:latin typeface="Arial"/>
                <a:cs typeface="Arial"/>
              </a:rPr>
              <a:t>and</a:t>
            </a:r>
            <a:r>
              <a:rPr lang="en-US" sz="1000" b="0" i="0" noProof="0">
                <a:solidFill>
                  <a:srgbClr val="2C3E50"/>
                </a:solidFill>
                <a:latin typeface="Arial"/>
                <a:cs typeface="Arial"/>
              </a:rPr>
              <a:t> </a:t>
            </a:r>
            <a:r>
              <a:rPr lang="en-US" sz="1000" noProof="0">
                <a:solidFill>
                  <a:srgbClr val="2C3E50"/>
                </a:solidFill>
                <a:latin typeface="Arial"/>
                <a:cs typeface="Arial"/>
              </a:rPr>
              <a:t>Senior Management </a:t>
            </a:r>
            <a:r>
              <a:rPr lang="en-US" sz="1000" b="0" i="0" noProof="0">
                <a:solidFill>
                  <a:srgbClr val="2C3E50"/>
                </a:solidFill>
                <a:latin typeface="Arial"/>
                <a:cs typeface="Arial"/>
              </a:rPr>
              <a:t>sessions (</a:t>
            </a:r>
            <a:r>
              <a:rPr lang="en-US" sz="1000" kern="0">
                <a:solidFill>
                  <a:srgbClr val="00402A"/>
                </a:solidFill>
                <a:latin typeface="IberPangea"/>
              </a:rPr>
              <a:t>VP – IT Business Solutions Delivery, Dir. Customer Service Products, Dir. Customer Services Apps, and Dir, IT Business Applications</a:t>
            </a:r>
            <a:r>
              <a:rPr lang="en-US" sz="1000" b="0" i="0" noProof="0">
                <a:solidFill>
                  <a:srgbClr val="2C3E50"/>
                </a:solidFill>
                <a:latin typeface="Arial"/>
                <a:cs typeface="Arial"/>
              </a:rPr>
              <a:t>). Captured intake channels, tools, roles, pain points and aspirations per team.</a:t>
            </a:r>
          </a:p>
        </p:txBody>
      </p:sp>
      <p:sp>
        <p:nvSpPr>
          <p:cNvPr id="102" name="Rectangle 101">
            <a:extLst>
              <a:ext uri="{FF2B5EF4-FFF2-40B4-BE49-F238E27FC236}">
                <a16:creationId xmlns:a16="http://schemas.microsoft.com/office/drawing/2014/main" id="{DA0FC179-EAD1-FC08-2611-94A6352B781C}"/>
              </a:ext>
            </a:extLst>
          </p:cNvPr>
          <p:cNvSpPr/>
          <p:nvPr/>
        </p:nvSpPr>
        <p:spPr>
          <a:xfrm>
            <a:off x="457200" y="506756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86F86687-4B71-F8D2-A684-ED8CA93A8336}"/>
              </a:ext>
            </a:extLst>
          </p:cNvPr>
          <p:cNvSpPr txBox="1"/>
          <p:nvPr/>
        </p:nvSpPr>
        <p:spPr>
          <a:xfrm>
            <a:off x="640080" y="5067569"/>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Demand &amp; Portfolio Interviews</a:t>
            </a:r>
            <a:endParaRPr lang="en-US" sz="1100" b="1" i="0" noProof="0">
              <a:solidFill>
                <a:srgbClr val="0B76A0"/>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75C58383-D5A8-B4B0-311D-DE83EF176AA8}"/>
              </a:ext>
            </a:extLst>
          </p:cNvPr>
          <p:cNvSpPr txBox="1"/>
          <p:nvPr/>
        </p:nvSpPr>
        <p:spPr>
          <a:xfrm>
            <a:off x="640080" y="5305312"/>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Mapped demand typology per team across the 5 lifecycle stages — volume mix (incidents · small/medium · large projects), channel split, portfolio inventory </a:t>
            </a:r>
          </a:p>
        </p:txBody>
      </p:sp>
      <p:sp>
        <p:nvSpPr>
          <p:cNvPr id="105" name="TextBox 104">
            <a:extLst>
              <a:ext uri="{FF2B5EF4-FFF2-40B4-BE49-F238E27FC236}">
                <a16:creationId xmlns:a16="http://schemas.microsoft.com/office/drawing/2014/main" id="{6108A55C-7C5B-34FE-2185-DD5450F34D2F}"/>
              </a:ext>
            </a:extLst>
          </p:cNvPr>
          <p:cNvSpPr txBox="1"/>
          <p:nvPr/>
        </p:nvSpPr>
        <p:spPr>
          <a:xfrm>
            <a:off x="7772400" y="3220481"/>
            <a:ext cx="4114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0A443"/>
                </a:solidFill>
                <a:latin typeface="Arial" panose="020B0604020202020204" pitchFamily="34" charset="0"/>
                <a:cs typeface="Arial" panose="020B0604020202020204" pitchFamily="34" charset="0"/>
              </a:rPr>
              <a:t>DELIVERABLES OF STEP 1</a:t>
            </a:r>
          </a:p>
        </p:txBody>
      </p:sp>
      <p:sp>
        <p:nvSpPr>
          <p:cNvPr id="106" name="Rectangle 105">
            <a:extLst>
              <a:ext uri="{FF2B5EF4-FFF2-40B4-BE49-F238E27FC236}">
                <a16:creationId xmlns:a16="http://schemas.microsoft.com/office/drawing/2014/main" id="{CD28CEA3-4EEE-555A-2ADB-18E3CD596A37}"/>
              </a:ext>
            </a:extLst>
          </p:cNvPr>
          <p:cNvSpPr/>
          <p:nvPr/>
        </p:nvSpPr>
        <p:spPr>
          <a:xfrm>
            <a:off x="7772400" y="3522233"/>
            <a:ext cx="4194048" cy="82264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7" name="Rectangle 106">
            <a:extLst>
              <a:ext uri="{FF2B5EF4-FFF2-40B4-BE49-F238E27FC236}">
                <a16:creationId xmlns:a16="http://schemas.microsoft.com/office/drawing/2014/main" id="{2A7D7554-02CA-2790-209C-EDAC8AC94D30}"/>
              </a:ext>
            </a:extLst>
          </p:cNvPr>
          <p:cNvSpPr/>
          <p:nvPr/>
        </p:nvSpPr>
        <p:spPr>
          <a:xfrm>
            <a:off x="7772400" y="3522232"/>
            <a:ext cx="73152" cy="82264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B5CE39DE-8F3E-7128-20A3-6F91EC7CE8F8}"/>
              </a:ext>
            </a:extLst>
          </p:cNvPr>
          <p:cNvSpPr txBox="1"/>
          <p:nvPr/>
        </p:nvSpPr>
        <p:spPr>
          <a:xfrm>
            <a:off x="8001000" y="3596312"/>
            <a:ext cx="3657600" cy="507831"/>
          </a:xfrm>
          <a:prstGeom prst="rect">
            <a:avLst/>
          </a:prstGeom>
          <a:noFill/>
        </p:spPr>
        <p:txBody>
          <a:bodyPr wrap="square" lIns="0" tIns="0" rIns="0" bIns="0" anchor="t">
            <a:spAutoFit/>
          </a:bodyPr>
          <a:lstStyle/>
          <a:p>
            <a:pPr marL="171450" lvl="0"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Baseline Report (this deck)</a:t>
            </a:r>
          </a:p>
          <a:p>
            <a:pPr marL="628650" lvl="1"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Demand Map</a:t>
            </a:r>
          </a:p>
          <a:p>
            <a:pPr marL="628650" lvl="1" indent="-171450">
              <a:buFont typeface="Arial" panose="020B0604020202020204" pitchFamily="34" charset="0"/>
              <a:buChar char="•"/>
              <a:defRPr/>
            </a:pPr>
            <a:r>
              <a:rPr lang="en-US" sz="1100" noProof="0">
                <a:solidFill>
                  <a:srgbClr val="2C3E50"/>
                </a:solidFill>
                <a:latin typeface="Arial"/>
                <a:cs typeface="Arial"/>
              </a:rPr>
              <a:t>Project Portfolio Landscape </a:t>
            </a:r>
            <a:endParaRPr lang="en-US" sz="1100" b="0" i="0" noProof="0">
              <a:solidFill>
                <a:srgbClr val="2C3E50"/>
              </a:solidFill>
              <a:latin typeface="Arial"/>
              <a:cs typeface="Arial"/>
            </a:endParaRPr>
          </a:p>
        </p:txBody>
      </p:sp>
      <p:sp>
        <p:nvSpPr>
          <p:cNvPr id="110" name="TextBox 109">
            <a:extLst>
              <a:ext uri="{FF2B5EF4-FFF2-40B4-BE49-F238E27FC236}">
                <a16:creationId xmlns:a16="http://schemas.microsoft.com/office/drawing/2014/main" id="{321D6012-BDF0-F3DC-AB47-20EA342777EB}"/>
              </a:ext>
            </a:extLst>
          </p:cNvPr>
          <p:cNvSpPr txBox="1"/>
          <p:nvPr/>
        </p:nvSpPr>
        <p:spPr>
          <a:xfrm>
            <a:off x="670560" y="5960316"/>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The Demand Map is the evidence backbone — Step 2 (Define Lifecycle) consumes these findings to draft the Lifecycle v1.0, Demand Typology and Roles &amp; RACI</a:t>
            </a:r>
          </a:p>
        </p:txBody>
      </p:sp>
      <p:sp>
        <p:nvSpPr>
          <p:cNvPr id="6" name="Rectangle 101">
            <a:extLst>
              <a:ext uri="{FF2B5EF4-FFF2-40B4-BE49-F238E27FC236}">
                <a16:creationId xmlns:a16="http://schemas.microsoft.com/office/drawing/2014/main" id="{4055C667-E763-CAAA-24DB-15FF3AEA1F02}"/>
              </a:ext>
            </a:extLst>
          </p:cNvPr>
          <p:cNvSpPr/>
          <p:nvPr/>
        </p:nvSpPr>
        <p:spPr>
          <a:xfrm>
            <a:off x="457200" y="582663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102">
            <a:extLst>
              <a:ext uri="{FF2B5EF4-FFF2-40B4-BE49-F238E27FC236}">
                <a16:creationId xmlns:a16="http://schemas.microsoft.com/office/drawing/2014/main" id="{63F8F221-AE0C-F6E9-FEF4-3C95F3D00CAB}"/>
              </a:ext>
            </a:extLst>
          </p:cNvPr>
          <p:cNvSpPr txBox="1"/>
          <p:nvPr/>
        </p:nvSpPr>
        <p:spPr>
          <a:xfrm>
            <a:off x="640080" y="5826636"/>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Capacity &amp; Reporting </a:t>
            </a:r>
            <a:endParaRPr lang="en-US" sz="1100" b="1" i="0" noProof="0">
              <a:solidFill>
                <a:srgbClr val="0B76A0"/>
              </a:solidFill>
              <a:latin typeface="Arial" panose="020B0604020202020204" pitchFamily="34" charset="0"/>
              <a:cs typeface="Arial" panose="020B0604020202020204" pitchFamily="34" charset="0"/>
            </a:endParaRPr>
          </a:p>
        </p:txBody>
      </p:sp>
      <p:sp>
        <p:nvSpPr>
          <p:cNvPr id="11" name="TextBox 103">
            <a:extLst>
              <a:ext uri="{FF2B5EF4-FFF2-40B4-BE49-F238E27FC236}">
                <a16:creationId xmlns:a16="http://schemas.microsoft.com/office/drawing/2014/main" id="{08B6BCCB-7333-5150-3FC9-C69393850C25}"/>
              </a:ext>
            </a:extLst>
          </p:cNvPr>
          <p:cNvSpPr txBox="1"/>
          <p:nvPr/>
        </p:nvSpPr>
        <p:spPr>
          <a:xfrm>
            <a:off x="640080" y="6064379"/>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Captured capacity baseline per area. Reviewed current reporting cadence and identified data gaps against a single source of truth for KPI dashboards.</a:t>
            </a:r>
          </a:p>
        </p:txBody>
      </p:sp>
      <p:sp>
        <p:nvSpPr>
          <p:cNvPr id="12" name="CuadroTexto 204">
            <a:extLst>
              <a:ext uri="{FF2B5EF4-FFF2-40B4-BE49-F238E27FC236}">
                <a16:creationId xmlns:a16="http://schemas.microsoft.com/office/drawing/2014/main" id="{E5E93AD3-87C8-3197-6BC0-A1757DDBFE1E}"/>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This phase focused on executing a set of targeted activities to establish the baseline, including stakeholder interviews, demand and portfolio mapping, and capacity &amp; reporting analysis.</a:t>
            </a:r>
          </a:p>
        </p:txBody>
      </p:sp>
    </p:spTree>
    <p:extLst>
      <p:ext uri="{BB962C8B-B14F-4D97-AF65-F5344CB8AC3E}">
        <p14:creationId xmlns:p14="http://schemas.microsoft.com/office/powerpoint/2010/main" val="799185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7C4FC-6C83-243C-7401-535217A27F6F}"/>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752847EA-2D63-CABA-8E70-F9C22AF52724}"/>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E3633691-DEB1-F4A6-1E25-2F2126A4EE8B}"/>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96851315-94B2-199F-C859-684CDB1CF22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40AF2F43-10AE-417B-4EE8-DF58D78129E7}"/>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8F2F0A35-4FB5-573D-FC3F-268B8B319C81}"/>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B5E7C95E-65C4-614E-B6E3-C3E2F36E6189}"/>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72B14159-95FB-F46E-E036-C9B4E8C63C24}"/>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6413E7D4-039F-70ED-27CC-7969BCE1ED5D}"/>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20" name="TextBox 20">
            <a:extLst>
              <a:ext uri="{FF2B5EF4-FFF2-40B4-BE49-F238E27FC236}">
                <a16:creationId xmlns:a16="http://schemas.microsoft.com/office/drawing/2014/main" id="{E9B611B3-5F04-C282-9BE0-002741A114E0}"/>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D43E8BF2-DC8F-E7C3-0A20-B21E266FF15C}"/>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sp>
        <p:nvSpPr>
          <p:cNvPr id="12" name="TextBox 22">
            <a:extLst>
              <a:ext uri="{FF2B5EF4-FFF2-40B4-BE49-F238E27FC236}">
                <a16:creationId xmlns:a16="http://schemas.microsoft.com/office/drawing/2014/main" id="{BB661633-4069-9F9F-73FD-0B9A440775F6}"/>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790C2535-5FBB-5FCE-C56A-060F53D03AB7}"/>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886AEB1-0730-CAE4-FC9F-5C96608106E9}"/>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A05E58D9-3548-30D9-26A7-11153101025F}"/>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C77C9A1-C57A-893A-4CB1-BA240D5834F2}"/>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2385FE7F-9981-121B-81B2-40B5759145B2}"/>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4CA6C921-4464-D301-3C65-3B06B5B6C517}"/>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DDE84B89-5CB6-CF5E-CC8F-642EE3265879}"/>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810F6F4B-1E1A-E544-CC96-532EA06CE979}"/>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DA31FE8C-CEF9-AEB1-78F6-650C81E9797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402EB45B-B821-96D3-0B41-22DF63E7117C}"/>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866E1F69-B8FB-FFBC-2493-FAAF12A088FA}"/>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FA1C9217-5D8A-5AF9-544F-2E0EC6E7E088}"/>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45CE8A9E-AC67-BEF6-185D-18DEEBEB669A}"/>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8706839F-C07E-3577-FE73-87AE25735EA2}"/>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C32C6D37-2B2E-E27C-BC98-0ED0B5CCF439}"/>
              </a:ext>
            </a:extLst>
          </p:cNvPr>
          <p:cNvSpPr/>
          <p:nvPr/>
        </p:nvSpPr>
        <p:spPr>
          <a:xfrm>
            <a:off x="773265" y="3655688"/>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TextBox 18">
            <a:extLst>
              <a:ext uri="{FF2B5EF4-FFF2-40B4-BE49-F238E27FC236}">
                <a16:creationId xmlns:a16="http://schemas.microsoft.com/office/drawing/2014/main" id="{FA3DE230-5AEC-2AF4-58C9-F3182C37A5AA}"/>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grpSp>
        <p:nvGrpSpPr>
          <p:cNvPr id="26" name="Grupo 25">
            <a:extLst>
              <a:ext uri="{FF2B5EF4-FFF2-40B4-BE49-F238E27FC236}">
                <a16:creationId xmlns:a16="http://schemas.microsoft.com/office/drawing/2014/main" id="{9041A255-0E98-FC1F-3241-F0FD814B1342}"/>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502352D8-00E9-63EA-7BA4-D9FA75A91CD4}"/>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B0DBA618-872A-526C-0F8E-119F1DBDEB56}"/>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529146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F4FA1-6978-8EAB-309A-2A79334A47E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35ABAE1-CF32-A452-AD3E-2320210E725E}"/>
              </a:ext>
            </a:extLst>
          </p:cNvPr>
          <p:cNvSpPr/>
          <p:nvPr/>
        </p:nvSpPr>
        <p:spPr>
          <a:xfrm>
            <a:off x="0" y="5528780"/>
            <a:ext cx="12192000" cy="83099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21C8F8B2-8FED-F89B-0424-8B4E26D9812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Título 2">
            <a:extLst>
              <a:ext uri="{FF2B5EF4-FFF2-40B4-BE49-F238E27FC236}">
                <a16:creationId xmlns:a16="http://schemas.microsoft.com/office/drawing/2014/main" id="{9300049E-BB34-F33A-5E06-5AFB8A89C767}"/>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37" name="object 9">
            <a:extLst>
              <a:ext uri="{FF2B5EF4-FFF2-40B4-BE49-F238E27FC236}">
                <a16:creationId xmlns:a16="http://schemas.microsoft.com/office/drawing/2014/main" id="{9F0E2791-ED85-61A4-A600-19C131150252}"/>
              </a:ext>
            </a:extLst>
          </p:cNvPr>
          <p:cNvSpPr txBox="1"/>
          <p:nvPr/>
        </p:nvSpPr>
        <p:spPr>
          <a:xfrm>
            <a:off x="8057840" y="1887515"/>
            <a:ext cx="3320163" cy="1157368"/>
          </a:xfrm>
          <a:prstGeom prst="rect">
            <a:avLst/>
          </a:prstGeom>
        </p:spPr>
        <p:txBody>
          <a:bodyPr vert="horz" wrap="square" lIns="0" tIns="48895" rIns="0" bIns="0" rtlCol="0">
            <a:spAutoFit/>
          </a:bodyPr>
          <a:lstStyle>
            <a:defPPr>
              <a:defRPr lang="en-US"/>
            </a:defPPr>
            <a:lvl1pPr marL="12700" lvl="0">
              <a:spcBef>
                <a:spcPts val="385"/>
              </a:spcBef>
              <a:buClr>
                <a:srgbClr val="00A243"/>
              </a:buClr>
              <a:tabLst>
                <a:tab pos="184785" algn="l"/>
              </a:tabLst>
              <a:defRPr sz="1100">
                <a:latin typeface="Arial" panose="020B0604020202020204" pitchFamily="34" charset="0"/>
                <a:cs typeface="Arial" panose="020B0604020202020204" pitchFamily="34" charset="0"/>
              </a:defRPr>
            </a:lvl1pPr>
          </a:lstStyle>
          <a:p>
            <a:r>
              <a:rPr lang="en-US" sz="1200" noProof="0"/>
              <a:t>The Customer Services team is responsible for designing, building, testing, and supporting technology solutions in close collaboration with Product Management by delivering scalable, secure, and reliable systems that </a:t>
            </a:r>
            <a:r>
              <a:rPr lang="en-US" sz="1200" b="1" noProof="0"/>
              <a:t>enable</a:t>
            </a:r>
            <a:r>
              <a:rPr lang="en-US" sz="1200" noProof="0"/>
              <a:t> </a:t>
            </a:r>
            <a:r>
              <a:rPr lang="en-US" sz="1200" b="1" noProof="0"/>
              <a:t>Customer Services processes.</a:t>
            </a:r>
          </a:p>
        </p:txBody>
      </p:sp>
      <p:sp>
        <p:nvSpPr>
          <p:cNvPr id="38" name="Rectangle 54">
            <a:extLst>
              <a:ext uri="{FF2B5EF4-FFF2-40B4-BE49-F238E27FC236}">
                <a16:creationId xmlns:a16="http://schemas.microsoft.com/office/drawing/2014/main" id="{720320C2-7134-C3AC-B6C5-07B6BD444543}"/>
              </a:ext>
            </a:extLst>
          </p:cNvPr>
          <p:cNvSpPr/>
          <p:nvPr/>
        </p:nvSpPr>
        <p:spPr>
          <a:xfrm>
            <a:off x="7991368" y="1539469"/>
            <a:ext cx="3432756" cy="168611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1" name="object 9">
            <a:extLst>
              <a:ext uri="{FF2B5EF4-FFF2-40B4-BE49-F238E27FC236}">
                <a16:creationId xmlns:a16="http://schemas.microsoft.com/office/drawing/2014/main" id="{EE9ACB9C-AF9B-2928-140C-53C25F182099}"/>
              </a:ext>
            </a:extLst>
          </p:cNvPr>
          <p:cNvSpPr txBox="1"/>
          <p:nvPr/>
        </p:nvSpPr>
        <p:spPr>
          <a:xfrm>
            <a:off x="815336" y="1887515"/>
            <a:ext cx="3356535" cy="972702"/>
          </a:xfrm>
          <a:prstGeom prst="rect">
            <a:avLst/>
          </a:prstGeom>
        </p:spPr>
        <p:txBody>
          <a:bodyPr vert="horz" wrap="square" lIns="0" tIns="48895" rIns="0" bIns="0" rtlCol="0" anchor="t">
            <a:spAutoFit/>
          </a:bodyPr>
          <a:lstStyle>
            <a:defPPr>
              <a:defRPr lang="en-US"/>
            </a:defPPr>
            <a:lvl1pPr marL="12700" lvl="0">
              <a:spcBef>
                <a:spcPts val="385"/>
              </a:spcBef>
              <a:buClr>
                <a:srgbClr val="00A243"/>
              </a:buClr>
              <a:tabLst>
                <a:tab pos="184785" algn="l"/>
              </a:tabLst>
              <a:defRPr sz="1100">
                <a:latin typeface="Arial" panose="020B0604020202020204" pitchFamily="34" charset="0"/>
                <a:cs typeface="Arial" panose="020B0604020202020204" pitchFamily="34" charset="0"/>
              </a:defRPr>
            </a:lvl1pPr>
          </a:lstStyle>
          <a:p>
            <a:r>
              <a:rPr lang="en-US" sz="1200" noProof="0">
                <a:latin typeface="Arial"/>
                <a:cs typeface="Arial"/>
              </a:rPr>
              <a:t>The IT Business Applications team is responsible for designing, building, testing, and supporting technology solutions by delivering scalable, secure, and reliable systems that </a:t>
            </a:r>
            <a:r>
              <a:rPr lang="en-US" sz="1200" b="1" noProof="0">
                <a:latin typeface="Arial"/>
                <a:cs typeface="Arial"/>
              </a:rPr>
              <a:t>enable both field operations and back-office processes.</a:t>
            </a:r>
          </a:p>
        </p:txBody>
      </p:sp>
      <p:sp>
        <p:nvSpPr>
          <p:cNvPr id="42" name="Rectangle 54">
            <a:extLst>
              <a:ext uri="{FF2B5EF4-FFF2-40B4-BE49-F238E27FC236}">
                <a16:creationId xmlns:a16="http://schemas.microsoft.com/office/drawing/2014/main" id="{BB7BE8EB-6475-2785-F006-F02FC3A9A110}"/>
              </a:ext>
            </a:extLst>
          </p:cNvPr>
          <p:cNvSpPr/>
          <p:nvPr/>
        </p:nvSpPr>
        <p:spPr>
          <a:xfrm>
            <a:off x="767876" y="1539469"/>
            <a:ext cx="3465231" cy="166039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3" name="object 9">
            <a:extLst>
              <a:ext uri="{FF2B5EF4-FFF2-40B4-BE49-F238E27FC236}">
                <a16:creationId xmlns:a16="http://schemas.microsoft.com/office/drawing/2014/main" id="{257376CF-2991-3DB7-7FEB-A8FC1387C4EA}"/>
              </a:ext>
            </a:extLst>
          </p:cNvPr>
          <p:cNvSpPr txBox="1"/>
          <p:nvPr/>
        </p:nvSpPr>
        <p:spPr>
          <a:xfrm>
            <a:off x="4400169" y="4446884"/>
            <a:ext cx="3455381" cy="788036"/>
          </a:xfrm>
          <a:prstGeom prst="rect">
            <a:avLst/>
          </a:prstGeom>
        </p:spPr>
        <p:txBody>
          <a:bodyPr vert="horz" wrap="square" lIns="0" tIns="48895" rIns="0" bIns="0" rtlCol="0">
            <a:spAutoFit/>
          </a:bodyPr>
          <a:lstStyle>
            <a:defPPr>
              <a:defRPr lang="en-US"/>
            </a:defPPr>
            <a:lvl1pPr marL="12700" lvl="0">
              <a:spcBef>
                <a:spcPts val="385"/>
              </a:spcBef>
              <a:buClr>
                <a:srgbClr val="00A243"/>
              </a:buClr>
              <a:tabLst>
                <a:tab pos="184785" algn="l"/>
              </a:tabLst>
              <a:defRPr sz="1000">
                <a:latin typeface="Arial" panose="020B0604020202020204" pitchFamily="34" charset="0"/>
                <a:cs typeface="Arial" panose="020B0604020202020204" pitchFamily="34" charset="0"/>
              </a:defRPr>
            </a:lvl1pPr>
          </a:lstStyle>
          <a:p>
            <a:r>
              <a:rPr lang="en-US" sz="1200" noProof="0"/>
              <a:t>This team align priorities, ensure business technological enablement and coordinate execution with business and IT to realize business value and set a delivery roadmap</a:t>
            </a:r>
          </a:p>
        </p:txBody>
      </p:sp>
      <p:sp>
        <p:nvSpPr>
          <p:cNvPr id="44" name="Rectangle 51">
            <a:extLst>
              <a:ext uri="{FF2B5EF4-FFF2-40B4-BE49-F238E27FC236}">
                <a16:creationId xmlns:a16="http://schemas.microsoft.com/office/drawing/2014/main" id="{C0A191B3-5852-D5C6-A16A-ECE5336DE16E}"/>
              </a:ext>
            </a:extLst>
          </p:cNvPr>
          <p:cNvSpPr/>
          <p:nvPr/>
        </p:nvSpPr>
        <p:spPr>
          <a:xfrm>
            <a:off x="4358008" y="4098838"/>
            <a:ext cx="3550070" cy="117355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rgbClr val="FFFFFF"/>
              </a:solidFill>
              <a:latin typeface="Arial" panose="020B0604020202020204" pitchFamily="34" charset="0"/>
              <a:cs typeface="Arial" panose="020B0604020202020204" pitchFamily="34" charset="0"/>
            </a:endParaRPr>
          </a:p>
        </p:txBody>
      </p:sp>
      <p:sp>
        <p:nvSpPr>
          <p:cNvPr id="45" name="Flowchart: Extract 1">
            <a:extLst>
              <a:ext uri="{FF2B5EF4-FFF2-40B4-BE49-F238E27FC236}">
                <a16:creationId xmlns:a16="http://schemas.microsoft.com/office/drawing/2014/main" id="{88DE796F-642E-ADC2-1C95-E91CBFAB6526}"/>
              </a:ext>
            </a:extLst>
          </p:cNvPr>
          <p:cNvSpPr/>
          <p:nvPr/>
        </p:nvSpPr>
        <p:spPr>
          <a:xfrm flipV="1">
            <a:off x="5019233" y="2004770"/>
            <a:ext cx="2153532" cy="1321311"/>
          </a:xfrm>
          <a:prstGeom prst="flowChartExtract">
            <a:avLst/>
          </a:prstGeom>
          <a:solidFill>
            <a:srgbClr val="0C84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6" name="Oval 27">
            <a:extLst>
              <a:ext uri="{FF2B5EF4-FFF2-40B4-BE49-F238E27FC236}">
                <a16:creationId xmlns:a16="http://schemas.microsoft.com/office/drawing/2014/main" id="{61CFC285-644E-E08C-B5DD-4D8F5C1A080E}"/>
              </a:ext>
            </a:extLst>
          </p:cNvPr>
          <p:cNvSpPr/>
          <p:nvPr/>
        </p:nvSpPr>
        <p:spPr>
          <a:xfrm>
            <a:off x="5691020" y="2068855"/>
            <a:ext cx="809958" cy="81150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48" name="Oval 29">
            <a:extLst>
              <a:ext uri="{FF2B5EF4-FFF2-40B4-BE49-F238E27FC236}">
                <a16:creationId xmlns:a16="http://schemas.microsoft.com/office/drawing/2014/main" id="{CD2E89A2-F108-340B-9194-06573A40CE73}"/>
              </a:ext>
            </a:extLst>
          </p:cNvPr>
          <p:cNvSpPr/>
          <p:nvPr/>
        </p:nvSpPr>
        <p:spPr>
          <a:xfrm>
            <a:off x="4408711" y="1722694"/>
            <a:ext cx="457200" cy="458073"/>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49" name="Oval 30">
            <a:extLst>
              <a:ext uri="{FF2B5EF4-FFF2-40B4-BE49-F238E27FC236}">
                <a16:creationId xmlns:a16="http://schemas.microsoft.com/office/drawing/2014/main" id="{3BDF83A9-BD98-7DCE-B1B1-E809171CA042}"/>
              </a:ext>
            </a:extLst>
          </p:cNvPr>
          <p:cNvSpPr/>
          <p:nvPr/>
        </p:nvSpPr>
        <p:spPr>
          <a:xfrm>
            <a:off x="5895682" y="3570863"/>
            <a:ext cx="457200" cy="458073"/>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50" name="Oval 31">
            <a:extLst>
              <a:ext uri="{FF2B5EF4-FFF2-40B4-BE49-F238E27FC236}">
                <a16:creationId xmlns:a16="http://schemas.microsoft.com/office/drawing/2014/main" id="{1CFF8569-FD8B-4AAF-AC11-15DA7FFD5115}"/>
              </a:ext>
            </a:extLst>
          </p:cNvPr>
          <p:cNvSpPr/>
          <p:nvPr/>
        </p:nvSpPr>
        <p:spPr>
          <a:xfrm>
            <a:off x="7376619" y="1722694"/>
            <a:ext cx="457200" cy="458073"/>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pic>
        <p:nvPicPr>
          <p:cNvPr id="51" name="Picture 32">
            <a:extLst>
              <a:ext uri="{FF2B5EF4-FFF2-40B4-BE49-F238E27FC236}">
                <a16:creationId xmlns:a16="http://schemas.microsoft.com/office/drawing/2014/main" id="{6A628F47-2AC9-9B42-2037-BC50D093F60F}"/>
              </a:ext>
            </a:extLst>
          </p:cNvPr>
          <p:cNvPicPr>
            <a:picLocks noChangeAspect="1"/>
          </p:cNvPicPr>
          <p:nvPr/>
        </p:nvPicPr>
        <p:blipFill>
          <a:blip r:embed="rId4"/>
          <a:stretch>
            <a:fillRect/>
          </a:stretch>
        </p:blipFill>
        <p:spPr>
          <a:xfrm>
            <a:off x="4497569" y="1811989"/>
            <a:ext cx="279483" cy="279483"/>
          </a:xfrm>
          <a:prstGeom prst="rect">
            <a:avLst/>
          </a:prstGeom>
        </p:spPr>
      </p:pic>
      <p:pic>
        <p:nvPicPr>
          <p:cNvPr id="52" name="Picture 33">
            <a:extLst>
              <a:ext uri="{FF2B5EF4-FFF2-40B4-BE49-F238E27FC236}">
                <a16:creationId xmlns:a16="http://schemas.microsoft.com/office/drawing/2014/main" id="{C6049555-4071-458F-F531-36E0A5CC4A79}"/>
              </a:ext>
            </a:extLst>
          </p:cNvPr>
          <p:cNvPicPr>
            <a:picLocks noChangeAspect="1"/>
          </p:cNvPicPr>
          <p:nvPr/>
        </p:nvPicPr>
        <p:blipFill>
          <a:blip r:embed="rId5"/>
          <a:stretch>
            <a:fillRect/>
          </a:stretch>
        </p:blipFill>
        <p:spPr>
          <a:xfrm>
            <a:off x="5987034" y="3648125"/>
            <a:ext cx="279483" cy="279483"/>
          </a:xfrm>
          <a:prstGeom prst="rect">
            <a:avLst/>
          </a:prstGeom>
        </p:spPr>
      </p:pic>
      <p:pic>
        <p:nvPicPr>
          <p:cNvPr id="54" name="Picture 34">
            <a:extLst>
              <a:ext uri="{FF2B5EF4-FFF2-40B4-BE49-F238E27FC236}">
                <a16:creationId xmlns:a16="http://schemas.microsoft.com/office/drawing/2014/main" id="{08FE304D-933E-EADC-2858-B7D0E3829A18}"/>
              </a:ext>
            </a:extLst>
          </p:cNvPr>
          <p:cNvPicPr>
            <a:picLocks noChangeAspect="1"/>
          </p:cNvPicPr>
          <p:nvPr/>
        </p:nvPicPr>
        <p:blipFill>
          <a:blip r:embed="rId6"/>
          <a:stretch>
            <a:fillRect/>
          </a:stretch>
        </p:blipFill>
        <p:spPr>
          <a:xfrm>
            <a:off x="7465477" y="1811989"/>
            <a:ext cx="279483" cy="279483"/>
          </a:xfrm>
          <a:prstGeom prst="rect">
            <a:avLst/>
          </a:prstGeom>
        </p:spPr>
      </p:pic>
      <p:pic>
        <p:nvPicPr>
          <p:cNvPr id="55" name="Picture 50">
            <a:extLst>
              <a:ext uri="{FF2B5EF4-FFF2-40B4-BE49-F238E27FC236}">
                <a16:creationId xmlns:a16="http://schemas.microsoft.com/office/drawing/2014/main" id="{C5458CE0-1B48-46C8-36D6-73828FBA5B8D}"/>
              </a:ext>
            </a:extLst>
          </p:cNvPr>
          <p:cNvPicPr>
            <a:picLocks noChangeAspect="1"/>
          </p:cNvPicPr>
          <p:nvPr/>
        </p:nvPicPr>
        <p:blipFill>
          <a:blip r:embed="rId7"/>
          <a:stretch>
            <a:fillRect/>
          </a:stretch>
        </p:blipFill>
        <p:spPr>
          <a:xfrm>
            <a:off x="5870945" y="2249552"/>
            <a:ext cx="450109" cy="450109"/>
          </a:xfrm>
          <a:prstGeom prst="rect">
            <a:avLst/>
          </a:prstGeom>
        </p:spPr>
      </p:pic>
      <p:sp>
        <p:nvSpPr>
          <p:cNvPr id="57" name="Rectangle 26">
            <a:extLst>
              <a:ext uri="{FF2B5EF4-FFF2-40B4-BE49-F238E27FC236}">
                <a16:creationId xmlns:a16="http://schemas.microsoft.com/office/drawing/2014/main" id="{70A6D61F-AE45-98CC-435F-2345D9438BCA}"/>
              </a:ext>
            </a:extLst>
          </p:cNvPr>
          <p:cNvSpPr/>
          <p:nvPr/>
        </p:nvSpPr>
        <p:spPr>
          <a:xfrm>
            <a:off x="770550" y="1535687"/>
            <a:ext cx="3471458" cy="333971"/>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IT BUSINESS APPLICATIONS</a:t>
            </a:r>
          </a:p>
        </p:txBody>
      </p:sp>
      <p:sp>
        <p:nvSpPr>
          <p:cNvPr id="58" name="Rectangle 26">
            <a:extLst>
              <a:ext uri="{FF2B5EF4-FFF2-40B4-BE49-F238E27FC236}">
                <a16:creationId xmlns:a16="http://schemas.microsoft.com/office/drawing/2014/main" id="{D48BE71E-EFF0-676B-BE96-97BD295E16BD}"/>
              </a:ext>
            </a:extLst>
          </p:cNvPr>
          <p:cNvSpPr/>
          <p:nvPr/>
        </p:nvSpPr>
        <p:spPr>
          <a:xfrm>
            <a:off x="7984986" y="1535687"/>
            <a:ext cx="3438925" cy="333971"/>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CUSTOMER SERVICE</a:t>
            </a:r>
            <a:r>
              <a:rPr lang="en-US" sz="1200" b="1">
                <a:solidFill>
                  <a:schemeClr val="bg1"/>
                </a:solidFill>
                <a:latin typeface="Arial" panose="020B0604020202020204" pitchFamily="34" charset="0"/>
                <a:cs typeface="Arial" panose="020B0604020202020204" pitchFamily="34" charset="0"/>
              </a:rPr>
              <a:t>S</a:t>
            </a:r>
            <a:r>
              <a:rPr lang="en-US" sz="1200" b="1" noProof="0">
                <a:solidFill>
                  <a:schemeClr val="bg1"/>
                </a:solidFill>
                <a:latin typeface="Arial" panose="020B0604020202020204" pitchFamily="34" charset="0"/>
                <a:cs typeface="Arial" panose="020B0604020202020204" pitchFamily="34" charset="0"/>
              </a:rPr>
              <a:t> APPLICATIONS</a:t>
            </a:r>
          </a:p>
        </p:txBody>
      </p:sp>
      <p:sp>
        <p:nvSpPr>
          <p:cNvPr id="59" name="Rectangle 26">
            <a:extLst>
              <a:ext uri="{FF2B5EF4-FFF2-40B4-BE49-F238E27FC236}">
                <a16:creationId xmlns:a16="http://schemas.microsoft.com/office/drawing/2014/main" id="{0F394E3A-5079-332B-352B-6B17091A7916}"/>
              </a:ext>
            </a:extLst>
          </p:cNvPr>
          <p:cNvSpPr/>
          <p:nvPr/>
        </p:nvSpPr>
        <p:spPr>
          <a:xfrm>
            <a:off x="4354407" y="4095056"/>
            <a:ext cx="3557290" cy="333971"/>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PRODUCT MANAGEMENT</a:t>
            </a:r>
          </a:p>
        </p:txBody>
      </p:sp>
      <p:sp>
        <p:nvSpPr>
          <p:cNvPr id="4" name="CuadroTexto 3">
            <a:extLst>
              <a:ext uri="{FF2B5EF4-FFF2-40B4-BE49-F238E27FC236}">
                <a16:creationId xmlns:a16="http://schemas.microsoft.com/office/drawing/2014/main" id="{71AF0232-4EF8-9518-2FC4-0B1E0156F1F0}"/>
              </a:ext>
            </a:extLst>
          </p:cNvPr>
          <p:cNvSpPr txBox="1"/>
          <p:nvPr/>
        </p:nvSpPr>
        <p:spPr>
          <a:xfrm>
            <a:off x="458724" y="5528780"/>
            <a:ext cx="11274552" cy="830997"/>
          </a:xfrm>
          <a:prstGeom prst="rect">
            <a:avLst/>
          </a:prstGeom>
          <a:solidFill>
            <a:schemeClr val="accent1"/>
          </a:solidFill>
        </p:spPr>
        <p:txBody>
          <a:bodyPr wrap="square" lIns="91440" tIns="45720" rIns="91440" bIns="45720" anchor="ctr">
            <a:spAutoFit/>
          </a:bodyPr>
          <a:lstStyle/>
          <a:p>
            <a:pPr algn="ctr">
              <a:defRPr/>
            </a:pPr>
            <a:r>
              <a:rPr lang="en-US" sz="1200" b="1" noProof="0">
                <a:solidFill>
                  <a:schemeClr val="bg1"/>
                </a:solidFill>
                <a:latin typeface="Arial"/>
                <a:cs typeface="Arial"/>
              </a:rPr>
              <a:t>IT Business Applications and Customer Services Applications areas are responsible for translating business requirements into actionable specifications across back-, middle-, and front-office domains, ensuring effective solution design and development. Complementing this, the Product Management team plays a central role in aligning priorities, coordinating execution between Business and IT, and driving the product roadmap to ensure consistent value delivery.</a:t>
            </a:r>
          </a:p>
        </p:txBody>
      </p:sp>
      <p:sp>
        <p:nvSpPr>
          <p:cNvPr id="8" name="CuadroTexto 204">
            <a:extLst>
              <a:ext uri="{FF2B5EF4-FFF2-40B4-BE49-F238E27FC236}">
                <a16:creationId xmlns:a16="http://schemas.microsoft.com/office/drawing/2014/main" id="{68F3ACB4-12A8-55F2-E58B-0C839005C4CC}"/>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defRPr/>
            </a:pPr>
            <a:r>
              <a:rPr lang="en-US">
                <a:solidFill>
                  <a:srgbClr val="0F9ED5">
                    <a:lumMod val="75000"/>
                  </a:srgbClr>
                </a:solidFill>
                <a:latin typeface="Arial"/>
                <a:cs typeface="Arial"/>
              </a:rPr>
              <a:t>Digital Products is currently structured around three core teams, following the recent establishment of the Product Management function, IT Business Applications and Customer Service Applications. </a:t>
            </a:r>
          </a:p>
        </p:txBody>
      </p:sp>
    </p:spTree>
    <p:extLst>
      <p:ext uri="{BB962C8B-B14F-4D97-AF65-F5344CB8AC3E}">
        <p14:creationId xmlns:p14="http://schemas.microsoft.com/office/powerpoint/2010/main" val="4275191892"/>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E927C-F737-F357-2263-FC79C04C3890}"/>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6AD6F699-671D-D97D-A9AD-BCB729AECC70}"/>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B10A3F45-458E-97BA-2EF3-44715442B49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9CBE970F-B1EA-0A9C-8718-0B31D2929D3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7337EEEA-D725-3197-8F6C-32472057047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3C4AC189-A755-BC6F-DB43-3FACE44C6B1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09C3DC64-D084-4F99-9DCA-81E41A5E7ADF}"/>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0BA0E19A-FFE6-166C-86DF-3DF8E8238F92}"/>
              </a:ext>
            </a:extLst>
          </p:cNvPr>
          <p:cNvSpPr/>
          <p:nvPr/>
        </p:nvSpPr>
        <p:spPr>
          <a:xfrm>
            <a:off x="555797" y="1486811"/>
            <a:ext cx="11066359" cy="5029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10F30EF9-ACC5-760D-A73C-7A06C8D33565}"/>
              </a:ext>
            </a:extLst>
          </p:cNvPr>
          <p:cNvSpPr txBox="1"/>
          <p:nvPr/>
        </p:nvSpPr>
        <p:spPr>
          <a:xfrm>
            <a:off x="618549" y="1542994"/>
            <a:ext cx="10929286" cy="390556"/>
          </a:xfrm>
          <a:prstGeom prst="rect">
            <a:avLst/>
          </a:prstGeom>
          <a:noFill/>
          <a:ln>
            <a:noFill/>
          </a:ln>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Vitor Cruz</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VP — IT Business Solutions Delivery</a:t>
            </a:r>
          </a:p>
        </p:txBody>
      </p:sp>
      <p:sp>
        <p:nvSpPr>
          <p:cNvPr id="139" name="Rectangle 138">
            <a:extLst>
              <a:ext uri="{FF2B5EF4-FFF2-40B4-BE49-F238E27FC236}">
                <a16:creationId xmlns:a16="http://schemas.microsoft.com/office/drawing/2014/main" id="{8149480B-C761-264D-103B-1E2793B9BB60}"/>
              </a:ext>
            </a:extLst>
          </p:cNvPr>
          <p:cNvSpPr/>
          <p:nvPr/>
        </p:nvSpPr>
        <p:spPr>
          <a:xfrm>
            <a:off x="635093" y="6033307"/>
            <a:ext cx="228600" cy="228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F52C6630-D669-A48E-A2E9-80E565F4521F}"/>
              </a:ext>
            </a:extLst>
          </p:cNvPr>
          <p:cNvSpPr txBox="1"/>
          <p:nvPr/>
        </p:nvSpPr>
        <p:spPr>
          <a:xfrm>
            <a:off x="929278" y="6080442"/>
            <a:ext cx="1807029"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1"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Area champion identified (</a:t>
            </a:r>
            <a:r>
              <a:rPr lang="en-US" sz="900" b="1" i="1" noProof="0">
                <a:solidFill>
                  <a:srgbClr val="2C3E50"/>
                </a:solidFill>
                <a:latin typeface="Arial" panose="020B0604020202020204" pitchFamily="34" charset="0"/>
                <a:cs typeface="Arial" panose="020B0604020202020204" pitchFamily="34" charset="0"/>
              </a:rPr>
              <a:t>6</a:t>
            </a:r>
            <a:r>
              <a:rPr kumimoji="0" lang="en-US" sz="900" b="1" i="1"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t>
            </a:r>
          </a:p>
        </p:txBody>
      </p:sp>
      <p:sp>
        <p:nvSpPr>
          <p:cNvPr id="15" name="Título 2">
            <a:extLst>
              <a:ext uri="{FF2B5EF4-FFF2-40B4-BE49-F238E27FC236}">
                <a16:creationId xmlns:a16="http://schemas.microsoft.com/office/drawing/2014/main" id="{0BDD90E9-AB1C-D885-8E68-56EC57327A0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 name="Rectangle 55">
            <a:extLst>
              <a:ext uri="{FF2B5EF4-FFF2-40B4-BE49-F238E27FC236}">
                <a16:creationId xmlns:a16="http://schemas.microsoft.com/office/drawing/2014/main" id="{BBE8722F-3392-12B1-704D-EF1FAEE8F5FE}"/>
              </a:ext>
            </a:extLst>
          </p:cNvPr>
          <p:cNvSpPr/>
          <p:nvPr/>
        </p:nvSpPr>
        <p:spPr>
          <a:xfrm>
            <a:off x="6627149" y="3831531"/>
            <a:ext cx="2770334" cy="24703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n-US" sz="1000" noProof="0">
                <a:solidFill>
                  <a:srgbClr val="0F1C50"/>
                </a:solidFill>
                <a:latin typeface="Arial" panose="020B0604020202020204" pitchFamily="34" charset="0"/>
                <a:cs typeface="Arial" panose="020B0604020202020204" pitchFamily="34" charset="0"/>
              </a:rPr>
              <a:t>This team </a:t>
            </a:r>
            <a:r>
              <a:rPr lang="en-US" sz="1000" b="1" noProof="0">
                <a:solidFill>
                  <a:srgbClr val="0F1C50"/>
                </a:solidFill>
                <a:latin typeface="Arial" panose="020B0604020202020204" pitchFamily="34" charset="0"/>
                <a:cs typeface="Arial" panose="020B0604020202020204" pitchFamily="34" charset="0"/>
              </a:rPr>
              <a:t>acts as the strategic coordination layer </a:t>
            </a:r>
            <a:r>
              <a:rPr lang="en-US" sz="1000" noProof="0">
                <a:solidFill>
                  <a:srgbClr val="0F1C50"/>
                </a:solidFill>
                <a:latin typeface="Arial" panose="020B0604020202020204" pitchFamily="34" charset="0"/>
                <a:cs typeface="Arial" panose="020B0604020202020204" pitchFamily="34" charset="0"/>
              </a:rPr>
              <a:t>across delivery and execution teams, ensuring alignment between business priorities and technical implementation. </a:t>
            </a:r>
          </a:p>
          <a:p>
            <a:pPr algn="just"/>
            <a:endParaRPr lang="en-US" sz="1000" noProof="0">
              <a:solidFill>
                <a:srgbClr val="0F1C50"/>
              </a:solidFill>
              <a:latin typeface="Arial" panose="020B0604020202020204" pitchFamily="34" charset="0"/>
              <a:cs typeface="Arial" panose="020B0604020202020204" pitchFamily="34" charset="0"/>
            </a:endParaRPr>
          </a:p>
          <a:p>
            <a:pPr algn="just"/>
            <a:r>
              <a:rPr lang="en-US" sz="1000" b="1" noProof="0">
                <a:solidFill>
                  <a:srgbClr val="0F1C50"/>
                </a:solidFill>
                <a:latin typeface="Arial" panose="020B0604020202020204" pitchFamily="34" charset="0"/>
                <a:cs typeface="Arial" panose="020B0604020202020204" pitchFamily="34" charset="0"/>
              </a:rPr>
              <a:t>It is responsible for shaping and supporting the prioritization </a:t>
            </a:r>
            <a:r>
              <a:rPr lang="en-US" sz="1000" noProof="0">
                <a:solidFill>
                  <a:srgbClr val="0F1C50"/>
                </a:solidFill>
                <a:latin typeface="Arial" panose="020B0604020202020204" pitchFamily="34" charset="0"/>
                <a:cs typeface="Arial" panose="020B0604020202020204" pitchFamily="34" charset="0"/>
              </a:rPr>
              <a:t>of work, providing direction and guidance to both teams throughout execution and development activities. In this role, the </a:t>
            </a:r>
            <a:r>
              <a:rPr lang="en-US" sz="1000" b="1" noProof="0">
                <a:solidFill>
                  <a:srgbClr val="0F1C50"/>
                </a:solidFill>
                <a:latin typeface="Arial" panose="020B0604020202020204" pitchFamily="34" charset="0"/>
                <a:cs typeface="Arial" panose="020B0604020202020204" pitchFamily="34" charset="0"/>
              </a:rPr>
              <a:t>team enables consistent focus on value creation</a:t>
            </a:r>
            <a:r>
              <a:rPr lang="en-US" sz="1000" noProof="0">
                <a:solidFill>
                  <a:srgbClr val="0F1C50"/>
                </a:solidFill>
                <a:latin typeface="Arial" panose="020B0604020202020204" pitchFamily="34" charset="0"/>
                <a:cs typeface="Arial" panose="020B0604020202020204" pitchFamily="34" charset="0"/>
              </a:rPr>
              <a:t>, ensuring that efforts are aligned with business outcomes and delivered efficiently through the effective orchestration of dependent teams.</a:t>
            </a:r>
          </a:p>
        </p:txBody>
      </p:sp>
      <p:sp>
        <p:nvSpPr>
          <p:cNvPr id="27" name="Rectangle 26">
            <a:extLst>
              <a:ext uri="{FF2B5EF4-FFF2-40B4-BE49-F238E27FC236}">
                <a16:creationId xmlns:a16="http://schemas.microsoft.com/office/drawing/2014/main" id="{F843EBDA-6CDE-11CD-C5A1-D8B1B007C12D}"/>
              </a:ext>
            </a:extLst>
          </p:cNvPr>
          <p:cNvSpPr/>
          <p:nvPr/>
        </p:nvSpPr>
        <p:spPr>
          <a:xfrm>
            <a:off x="569891" y="2049949"/>
            <a:ext cx="2885908"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1D153E7A-B9BE-2318-60C7-1956C7BDDB20}"/>
              </a:ext>
            </a:extLst>
          </p:cNvPr>
          <p:cNvSpPr txBox="1"/>
          <p:nvPr/>
        </p:nvSpPr>
        <p:spPr>
          <a:xfrm>
            <a:off x="618549" y="2080021"/>
            <a:ext cx="2834930" cy="390556"/>
          </a:xfrm>
          <a:prstGeom prst="rect">
            <a:avLst/>
          </a:prstGeom>
          <a:noFill/>
          <a:ln>
            <a:noFill/>
          </a:ln>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Carlos Garbin  —  Director IT Business Applications  (~26 FTE)</a:t>
            </a:r>
          </a:p>
        </p:txBody>
      </p:sp>
      <p:sp>
        <p:nvSpPr>
          <p:cNvPr id="39" name="Rectangle 38">
            <a:extLst>
              <a:ext uri="{FF2B5EF4-FFF2-40B4-BE49-F238E27FC236}">
                <a16:creationId xmlns:a16="http://schemas.microsoft.com/office/drawing/2014/main" id="{164A4B0F-994E-105E-AB52-A0EF35E6428E}"/>
              </a:ext>
            </a:extLst>
          </p:cNvPr>
          <p:cNvSpPr/>
          <p:nvPr/>
        </p:nvSpPr>
        <p:spPr>
          <a:xfrm>
            <a:off x="3601927" y="2054377"/>
            <a:ext cx="2884554"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CB05D540-6431-2701-D1D5-FFAF183F976C}"/>
              </a:ext>
            </a:extLst>
          </p:cNvPr>
          <p:cNvSpPr txBox="1"/>
          <p:nvPr/>
        </p:nvSpPr>
        <p:spPr>
          <a:xfrm>
            <a:off x="3601928" y="2084449"/>
            <a:ext cx="2867871" cy="39055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Kumar Jaladanki  —  Director Customer Services Apps  (~24 FTE)</a:t>
            </a:r>
          </a:p>
        </p:txBody>
      </p:sp>
      <p:sp>
        <p:nvSpPr>
          <p:cNvPr id="47" name="Rectangle 46">
            <a:extLst>
              <a:ext uri="{FF2B5EF4-FFF2-40B4-BE49-F238E27FC236}">
                <a16:creationId xmlns:a16="http://schemas.microsoft.com/office/drawing/2014/main" id="{9E40F849-BE3B-9616-4007-2EE85940E874}"/>
              </a:ext>
            </a:extLst>
          </p:cNvPr>
          <p:cNvSpPr/>
          <p:nvPr/>
        </p:nvSpPr>
        <p:spPr>
          <a:xfrm>
            <a:off x="569892" y="2590968"/>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C34F132B-DCFC-F7DF-29ED-AEBC6AEB4303}"/>
              </a:ext>
            </a:extLst>
          </p:cNvPr>
          <p:cNvSpPr/>
          <p:nvPr/>
        </p:nvSpPr>
        <p:spPr>
          <a:xfrm>
            <a:off x="618550" y="2590968"/>
            <a:ext cx="2837250"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9AAC5F6A-7DF6-90B0-09E9-B19EBF0FE054}"/>
              </a:ext>
            </a:extLst>
          </p:cNvPr>
          <p:cNvSpPr txBox="1"/>
          <p:nvPr/>
        </p:nvSpPr>
        <p:spPr>
          <a:xfrm>
            <a:off x="705052" y="2636688"/>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Bruno Moreto</a:t>
            </a:r>
          </a:p>
        </p:txBody>
      </p:sp>
      <p:sp>
        <p:nvSpPr>
          <p:cNvPr id="79" name="TextBox 78">
            <a:extLst>
              <a:ext uri="{FF2B5EF4-FFF2-40B4-BE49-F238E27FC236}">
                <a16:creationId xmlns:a16="http://schemas.microsoft.com/office/drawing/2014/main" id="{0F3C29DB-BD23-D602-DCF4-A8FBEEF67E88}"/>
              </a:ext>
            </a:extLst>
          </p:cNvPr>
          <p:cNvSpPr txBox="1"/>
          <p:nvPr/>
        </p:nvSpPr>
        <p:spPr>
          <a:xfrm>
            <a:off x="705052" y="2892721"/>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Electric &amp; Gas Ops</a:t>
            </a:r>
          </a:p>
        </p:txBody>
      </p:sp>
      <p:sp>
        <p:nvSpPr>
          <p:cNvPr id="80" name="Rounded Rectangle 13">
            <a:extLst>
              <a:ext uri="{FF2B5EF4-FFF2-40B4-BE49-F238E27FC236}">
                <a16:creationId xmlns:a16="http://schemas.microsoft.com/office/drawing/2014/main" id="{E41FA41A-5817-2ADB-5BC3-62F76DA818D4}"/>
              </a:ext>
            </a:extLst>
          </p:cNvPr>
          <p:cNvSpPr/>
          <p:nvPr/>
        </p:nvSpPr>
        <p:spPr>
          <a:xfrm>
            <a:off x="2116125" y="2718985"/>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1" name="TextBox 80">
            <a:extLst>
              <a:ext uri="{FF2B5EF4-FFF2-40B4-BE49-F238E27FC236}">
                <a16:creationId xmlns:a16="http://schemas.microsoft.com/office/drawing/2014/main" id="{BA28A9A0-DE30-E444-5B8C-03449EDE02D0}"/>
              </a:ext>
            </a:extLst>
          </p:cNvPr>
          <p:cNvSpPr txBox="1"/>
          <p:nvPr/>
        </p:nvSpPr>
        <p:spPr>
          <a:xfrm>
            <a:off x="2121702" y="2800560"/>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7 FTE</a:t>
            </a:r>
          </a:p>
        </p:txBody>
      </p:sp>
      <p:sp>
        <p:nvSpPr>
          <p:cNvPr id="82" name="TextBox 81">
            <a:extLst>
              <a:ext uri="{FF2B5EF4-FFF2-40B4-BE49-F238E27FC236}">
                <a16:creationId xmlns:a16="http://schemas.microsoft.com/office/drawing/2014/main" id="{FAC9FA2B-84D9-484A-C2E0-C6B35BEF4B77}"/>
              </a:ext>
            </a:extLst>
          </p:cNvPr>
          <p:cNvSpPr txBox="1"/>
          <p:nvPr/>
        </p:nvSpPr>
        <p:spPr>
          <a:xfrm>
            <a:off x="2503585" y="2748043"/>
            <a:ext cx="952215" cy="26032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G&amp;E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Andrew McGibbon</a:t>
            </a:r>
          </a:p>
        </p:txBody>
      </p:sp>
      <p:sp>
        <p:nvSpPr>
          <p:cNvPr id="83" name="Rectangle 82">
            <a:extLst>
              <a:ext uri="{FF2B5EF4-FFF2-40B4-BE49-F238E27FC236}">
                <a16:creationId xmlns:a16="http://schemas.microsoft.com/office/drawing/2014/main" id="{940DE772-1EAE-CA35-0963-8693A9E1F69F}"/>
              </a:ext>
            </a:extLst>
          </p:cNvPr>
          <p:cNvSpPr/>
          <p:nvPr/>
        </p:nvSpPr>
        <p:spPr>
          <a:xfrm>
            <a:off x="569892" y="3362051"/>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E9A66747-A33F-99C3-EA77-3F3795E1E786}"/>
              </a:ext>
            </a:extLst>
          </p:cNvPr>
          <p:cNvSpPr/>
          <p:nvPr/>
        </p:nvSpPr>
        <p:spPr>
          <a:xfrm>
            <a:off x="618550" y="3362051"/>
            <a:ext cx="2837250"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5" name="TextBox 84">
            <a:extLst>
              <a:ext uri="{FF2B5EF4-FFF2-40B4-BE49-F238E27FC236}">
                <a16:creationId xmlns:a16="http://schemas.microsoft.com/office/drawing/2014/main" id="{9A6206E1-499B-B776-BE44-FC52FBB14C75}"/>
              </a:ext>
            </a:extLst>
          </p:cNvPr>
          <p:cNvSpPr txBox="1"/>
          <p:nvPr/>
        </p:nvSpPr>
        <p:spPr>
          <a:xfrm>
            <a:off x="705052" y="3407772"/>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George Porto</a:t>
            </a:r>
          </a:p>
        </p:txBody>
      </p:sp>
      <p:sp>
        <p:nvSpPr>
          <p:cNvPr id="86" name="TextBox 85">
            <a:extLst>
              <a:ext uri="{FF2B5EF4-FFF2-40B4-BE49-F238E27FC236}">
                <a16:creationId xmlns:a16="http://schemas.microsoft.com/office/drawing/2014/main" id="{42EEF0D4-06AC-57D5-3BF6-05EC03099828}"/>
              </a:ext>
            </a:extLst>
          </p:cNvPr>
          <p:cNvSpPr txBox="1"/>
          <p:nvPr/>
        </p:nvSpPr>
        <p:spPr>
          <a:xfrm>
            <a:off x="705052" y="3663803"/>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GIS &amp; OSG</a:t>
            </a:r>
          </a:p>
        </p:txBody>
      </p:sp>
      <p:sp>
        <p:nvSpPr>
          <p:cNvPr id="87" name="Rounded Rectangle 20">
            <a:extLst>
              <a:ext uri="{FF2B5EF4-FFF2-40B4-BE49-F238E27FC236}">
                <a16:creationId xmlns:a16="http://schemas.microsoft.com/office/drawing/2014/main" id="{3D08A442-5D58-8D36-898F-455FA3FB1E2B}"/>
              </a:ext>
            </a:extLst>
          </p:cNvPr>
          <p:cNvSpPr/>
          <p:nvPr/>
        </p:nvSpPr>
        <p:spPr>
          <a:xfrm>
            <a:off x="2116125" y="3490068"/>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8" name="TextBox 87">
            <a:extLst>
              <a:ext uri="{FF2B5EF4-FFF2-40B4-BE49-F238E27FC236}">
                <a16:creationId xmlns:a16="http://schemas.microsoft.com/office/drawing/2014/main" id="{D8CEB0CD-9374-4076-DC9B-5AB99DC8CC76}"/>
              </a:ext>
            </a:extLst>
          </p:cNvPr>
          <p:cNvSpPr txBox="1"/>
          <p:nvPr/>
        </p:nvSpPr>
        <p:spPr>
          <a:xfrm>
            <a:off x="2121702" y="3571643"/>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6 FTE</a:t>
            </a:r>
          </a:p>
        </p:txBody>
      </p:sp>
      <p:sp>
        <p:nvSpPr>
          <p:cNvPr id="89" name="TextBox 88">
            <a:extLst>
              <a:ext uri="{FF2B5EF4-FFF2-40B4-BE49-F238E27FC236}">
                <a16:creationId xmlns:a16="http://schemas.microsoft.com/office/drawing/2014/main" id="{03D94FE9-944D-05CD-6DE7-C418D103F838}"/>
              </a:ext>
            </a:extLst>
          </p:cNvPr>
          <p:cNvSpPr txBox="1"/>
          <p:nvPr/>
        </p:nvSpPr>
        <p:spPr>
          <a:xfrm>
            <a:off x="2503585" y="3526383"/>
            <a:ext cx="952215" cy="26032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GIS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George Porto</a:t>
            </a:r>
          </a:p>
        </p:txBody>
      </p:sp>
      <p:grpSp>
        <p:nvGrpSpPr>
          <p:cNvPr id="13" name="Grupo 12">
            <a:extLst>
              <a:ext uri="{FF2B5EF4-FFF2-40B4-BE49-F238E27FC236}">
                <a16:creationId xmlns:a16="http://schemas.microsoft.com/office/drawing/2014/main" id="{8B5A5DE6-21A8-6F51-C0DB-029DA3049015}"/>
              </a:ext>
            </a:extLst>
          </p:cNvPr>
          <p:cNvGrpSpPr/>
          <p:nvPr/>
        </p:nvGrpSpPr>
        <p:grpSpPr>
          <a:xfrm>
            <a:off x="569892" y="4105142"/>
            <a:ext cx="2885907" cy="648000"/>
            <a:chOff x="527031" y="4012800"/>
            <a:chExt cx="3050630" cy="648000"/>
          </a:xfrm>
        </p:grpSpPr>
        <p:sp>
          <p:nvSpPr>
            <p:cNvPr id="90" name="Rectangle 89">
              <a:extLst>
                <a:ext uri="{FF2B5EF4-FFF2-40B4-BE49-F238E27FC236}">
                  <a16:creationId xmlns:a16="http://schemas.microsoft.com/office/drawing/2014/main" id="{55AD8F59-3EAF-DC60-15E3-4301AB953D2B}"/>
                </a:ext>
              </a:extLst>
            </p:cNvPr>
            <p:cNvSpPr/>
            <p:nvPr/>
          </p:nvSpPr>
          <p:spPr>
            <a:xfrm>
              <a:off x="527031" y="4012800"/>
              <a:ext cx="58928"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1" name="Rectangle 90">
              <a:extLst>
                <a:ext uri="{FF2B5EF4-FFF2-40B4-BE49-F238E27FC236}">
                  <a16:creationId xmlns:a16="http://schemas.microsoft.com/office/drawing/2014/main" id="{EA249954-9106-E548-DC20-18B11F7F8F3E}"/>
                </a:ext>
              </a:extLst>
            </p:cNvPr>
            <p:cNvSpPr/>
            <p:nvPr/>
          </p:nvSpPr>
          <p:spPr>
            <a:xfrm>
              <a:off x="578466" y="4012800"/>
              <a:ext cx="2999195"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92" name="TextBox 91">
            <a:extLst>
              <a:ext uri="{FF2B5EF4-FFF2-40B4-BE49-F238E27FC236}">
                <a16:creationId xmlns:a16="http://schemas.microsoft.com/office/drawing/2014/main" id="{96274045-445E-9496-DC8F-A71CAE7509E4}"/>
              </a:ext>
            </a:extLst>
          </p:cNvPr>
          <p:cNvSpPr txBox="1"/>
          <p:nvPr/>
        </p:nvSpPr>
        <p:spPr>
          <a:xfrm>
            <a:off x="705052" y="4150863"/>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Sarath Garikapati</a:t>
            </a:r>
          </a:p>
        </p:txBody>
      </p:sp>
      <p:sp>
        <p:nvSpPr>
          <p:cNvPr id="93" name="TextBox 92">
            <a:extLst>
              <a:ext uri="{FF2B5EF4-FFF2-40B4-BE49-F238E27FC236}">
                <a16:creationId xmlns:a16="http://schemas.microsoft.com/office/drawing/2014/main" id="{E9C82096-5AB3-AE36-0458-14D8A5D8F4EA}"/>
              </a:ext>
            </a:extLst>
          </p:cNvPr>
          <p:cNvSpPr txBox="1"/>
          <p:nvPr/>
        </p:nvSpPr>
        <p:spPr>
          <a:xfrm>
            <a:off x="705052" y="4406895"/>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Corporate Applications</a:t>
            </a:r>
          </a:p>
        </p:txBody>
      </p:sp>
      <p:sp>
        <p:nvSpPr>
          <p:cNvPr id="94" name="Rounded Rectangle 27">
            <a:extLst>
              <a:ext uri="{FF2B5EF4-FFF2-40B4-BE49-F238E27FC236}">
                <a16:creationId xmlns:a16="http://schemas.microsoft.com/office/drawing/2014/main" id="{60C8B683-A3F5-B785-44A3-C08FBBA7DB82}"/>
              </a:ext>
            </a:extLst>
          </p:cNvPr>
          <p:cNvSpPr/>
          <p:nvPr/>
        </p:nvSpPr>
        <p:spPr>
          <a:xfrm>
            <a:off x="2116125" y="4233159"/>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2E9DD177-08FA-B504-A8CC-EE67B410FC8F}"/>
              </a:ext>
            </a:extLst>
          </p:cNvPr>
          <p:cNvSpPr txBox="1"/>
          <p:nvPr/>
        </p:nvSpPr>
        <p:spPr>
          <a:xfrm>
            <a:off x="2121702" y="4314734"/>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96" name="TextBox 95">
            <a:extLst>
              <a:ext uri="{FF2B5EF4-FFF2-40B4-BE49-F238E27FC236}">
                <a16:creationId xmlns:a16="http://schemas.microsoft.com/office/drawing/2014/main" id="{AE652F80-755D-58ED-9636-6531A91FD973}"/>
              </a:ext>
            </a:extLst>
          </p:cNvPr>
          <p:cNvSpPr txBox="1"/>
          <p:nvPr/>
        </p:nvSpPr>
        <p:spPr>
          <a:xfrm>
            <a:off x="2503585" y="4201762"/>
            <a:ext cx="952215" cy="395749"/>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Corporate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Amit Patel</a:t>
            </a:r>
          </a:p>
        </p:txBody>
      </p:sp>
      <p:sp>
        <p:nvSpPr>
          <p:cNvPr id="97" name="Rectangle 96">
            <a:extLst>
              <a:ext uri="{FF2B5EF4-FFF2-40B4-BE49-F238E27FC236}">
                <a16:creationId xmlns:a16="http://schemas.microsoft.com/office/drawing/2014/main" id="{883A6C0A-06A2-D8BF-D338-FAA845CD017F}"/>
              </a:ext>
            </a:extLst>
          </p:cNvPr>
          <p:cNvSpPr/>
          <p:nvPr/>
        </p:nvSpPr>
        <p:spPr>
          <a:xfrm>
            <a:off x="569891" y="4848230"/>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8" name="Rectangle 97">
            <a:extLst>
              <a:ext uri="{FF2B5EF4-FFF2-40B4-BE49-F238E27FC236}">
                <a16:creationId xmlns:a16="http://schemas.microsoft.com/office/drawing/2014/main" id="{858F5AC0-D34C-DF5A-30B0-75363387426E}"/>
              </a:ext>
            </a:extLst>
          </p:cNvPr>
          <p:cNvSpPr/>
          <p:nvPr/>
        </p:nvSpPr>
        <p:spPr>
          <a:xfrm>
            <a:off x="618549" y="4848230"/>
            <a:ext cx="2837244"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9" name="TextBox 98">
            <a:extLst>
              <a:ext uri="{FF2B5EF4-FFF2-40B4-BE49-F238E27FC236}">
                <a16:creationId xmlns:a16="http://schemas.microsoft.com/office/drawing/2014/main" id="{2704EC51-DCD6-51DF-EE76-C04AD0BD46AD}"/>
              </a:ext>
            </a:extLst>
          </p:cNvPr>
          <p:cNvSpPr txBox="1"/>
          <p:nvPr/>
        </p:nvSpPr>
        <p:spPr>
          <a:xfrm>
            <a:off x="705051" y="4893951"/>
            <a:ext cx="1319505"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Vanessa Colombo</a:t>
            </a:r>
          </a:p>
        </p:txBody>
      </p:sp>
      <p:sp>
        <p:nvSpPr>
          <p:cNvPr id="100" name="TextBox 99">
            <a:extLst>
              <a:ext uri="{FF2B5EF4-FFF2-40B4-BE49-F238E27FC236}">
                <a16:creationId xmlns:a16="http://schemas.microsoft.com/office/drawing/2014/main" id="{AE15457C-A45A-64A1-5E8D-2B2131525EBA}"/>
              </a:ext>
            </a:extLst>
          </p:cNvPr>
          <p:cNvSpPr txBox="1"/>
          <p:nvPr/>
        </p:nvSpPr>
        <p:spPr>
          <a:xfrm>
            <a:off x="700035" y="5096643"/>
            <a:ext cx="1451457"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Global SAP — Iberdrola</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FI, PO, Budget (Spain)</a:t>
            </a:r>
          </a:p>
        </p:txBody>
      </p:sp>
      <p:sp>
        <p:nvSpPr>
          <p:cNvPr id="101" name="Rounded Rectangle 34">
            <a:extLst>
              <a:ext uri="{FF2B5EF4-FFF2-40B4-BE49-F238E27FC236}">
                <a16:creationId xmlns:a16="http://schemas.microsoft.com/office/drawing/2014/main" id="{09EC34E7-9B95-215B-AD92-2614BF85F5E1}"/>
              </a:ext>
            </a:extLst>
          </p:cNvPr>
          <p:cNvSpPr/>
          <p:nvPr/>
        </p:nvSpPr>
        <p:spPr>
          <a:xfrm>
            <a:off x="2116121" y="4976247"/>
            <a:ext cx="321981"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2" name="TextBox 101">
            <a:extLst>
              <a:ext uri="{FF2B5EF4-FFF2-40B4-BE49-F238E27FC236}">
                <a16:creationId xmlns:a16="http://schemas.microsoft.com/office/drawing/2014/main" id="{CDD2AE5C-762D-954E-12FF-238B9F75C65B}"/>
              </a:ext>
            </a:extLst>
          </p:cNvPr>
          <p:cNvSpPr txBox="1"/>
          <p:nvPr/>
        </p:nvSpPr>
        <p:spPr>
          <a:xfrm>
            <a:off x="2121698" y="5057822"/>
            <a:ext cx="321981"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5 FTE</a:t>
            </a:r>
          </a:p>
        </p:txBody>
      </p:sp>
      <p:sp>
        <p:nvSpPr>
          <p:cNvPr id="103" name="TextBox 102">
            <a:extLst>
              <a:ext uri="{FF2B5EF4-FFF2-40B4-BE49-F238E27FC236}">
                <a16:creationId xmlns:a16="http://schemas.microsoft.com/office/drawing/2014/main" id="{1DFDFA29-189E-98D2-0DCB-EED18914C959}"/>
              </a:ext>
            </a:extLst>
          </p:cNvPr>
          <p:cNvSpPr txBox="1"/>
          <p:nvPr/>
        </p:nvSpPr>
        <p:spPr>
          <a:xfrm>
            <a:off x="2503581" y="4937593"/>
            <a:ext cx="896466" cy="395749"/>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Global SAP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Michael Dubois</a:t>
            </a:r>
          </a:p>
        </p:txBody>
      </p:sp>
      <p:sp>
        <p:nvSpPr>
          <p:cNvPr id="10" name="Rectangle 26">
            <a:extLst>
              <a:ext uri="{FF2B5EF4-FFF2-40B4-BE49-F238E27FC236}">
                <a16:creationId xmlns:a16="http://schemas.microsoft.com/office/drawing/2014/main" id="{15E22844-22A9-48A3-D37D-5C150A7BDB5C}"/>
              </a:ext>
            </a:extLst>
          </p:cNvPr>
          <p:cNvSpPr/>
          <p:nvPr/>
        </p:nvSpPr>
        <p:spPr>
          <a:xfrm>
            <a:off x="6619332" y="2062566"/>
            <a:ext cx="2778151"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Heather Lajoie, - Director of Product Management (2 FTEs)</a:t>
            </a:r>
          </a:p>
        </p:txBody>
      </p:sp>
      <p:sp>
        <p:nvSpPr>
          <p:cNvPr id="104" name="Rectangle 103">
            <a:extLst>
              <a:ext uri="{FF2B5EF4-FFF2-40B4-BE49-F238E27FC236}">
                <a16:creationId xmlns:a16="http://schemas.microsoft.com/office/drawing/2014/main" id="{7E595531-5177-5003-E8A8-18E7725A129F}"/>
              </a:ext>
            </a:extLst>
          </p:cNvPr>
          <p:cNvSpPr/>
          <p:nvPr/>
        </p:nvSpPr>
        <p:spPr>
          <a:xfrm>
            <a:off x="3598400" y="2587523"/>
            <a:ext cx="55746" cy="62652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5" name="Rectangle 104">
            <a:extLst>
              <a:ext uri="{FF2B5EF4-FFF2-40B4-BE49-F238E27FC236}">
                <a16:creationId xmlns:a16="http://schemas.microsoft.com/office/drawing/2014/main" id="{62FF972F-6742-E143-F5D3-6B102582166F}"/>
              </a:ext>
            </a:extLst>
          </p:cNvPr>
          <p:cNvSpPr/>
          <p:nvPr/>
        </p:nvSpPr>
        <p:spPr>
          <a:xfrm>
            <a:off x="3657889" y="2587523"/>
            <a:ext cx="2826654" cy="62652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6" name="TextBox 105">
            <a:extLst>
              <a:ext uri="{FF2B5EF4-FFF2-40B4-BE49-F238E27FC236}">
                <a16:creationId xmlns:a16="http://schemas.microsoft.com/office/drawing/2014/main" id="{148E9004-518A-8BAB-4F6C-A98977AD27BD}"/>
              </a:ext>
            </a:extLst>
          </p:cNvPr>
          <p:cNvSpPr txBox="1"/>
          <p:nvPr/>
        </p:nvSpPr>
        <p:spPr>
          <a:xfrm>
            <a:off x="3756736" y="2636233"/>
            <a:ext cx="1306474"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Ivelisse Velazquez</a:t>
            </a:r>
          </a:p>
        </p:txBody>
      </p:sp>
      <p:sp>
        <p:nvSpPr>
          <p:cNvPr id="107" name="TextBox 106">
            <a:extLst>
              <a:ext uri="{FF2B5EF4-FFF2-40B4-BE49-F238E27FC236}">
                <a16:creationId xmlns:a16="http://schemas.microsoft.com/office/drawing/2014/main" id="{6FCBEAE6-589A-388F-4B7B-5CFE4D1D8613}"/>
              </a:ext>
            </a:extLst>
          </p:cNvPr>
          <p:cNvSpPr txBox="1"/>
          <p:nvPr/>
        </p:nvSpPr>
        <p:spPr>
          <a:xfrm>
            <a:off x="3756736" y="2840716"/>
            <a:ext cx="1226788"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FICA, Billing &amp; Collection</a:t>
            </a:r>
          </a:p>
        </p:txBody>
      </p:sp>
      <p:sp>
        <p:nvSpPr>
          <p:cNvPr id="108" name="Rounded Rectangle 41">
            <a:extLst>
              <a:ext uri="{FF2B5EF4-FFF2-40B4-BE49-F238E27FC236}">
                <a16:creationId xmlns:a16="http://schemas.microsoft.com/office/drawing/2014/main" id="{925DF9E3-3296-A355-39C1-8A654EDDC1CD}"/>
              </a:ext>
            </a:extLst>
          </p:cNvPr>
          <p:cNvSpPr/>
          <p:nvPr/>
        </p:nvSpPr>
        <p:spPr>
          <a:xfrm>
            <a:off x="5249249" y="2708630"/>
            <a:ext cx="292461" cy="262014"/>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9" name="TextBox 108">
            <a:extLst>
              <a:ext uri="{FF2B5EF4-FFF2-40B4-BE49-F238E27FC236}">
                <a16:creationId xmlns:a16="http://schemas.microsoft.com/office/drawing/2014/main" id="{CC49231B-1D79-1108-A566-53C56FEC0518}"/>
              </a:ext>
            </a:extLst>
          </p:cNvPr>
          <p:cNvSpPr txBox="1"/>
          <p:nvPr/>
        </p:nvSpPr>
        <p:spPr>
          <a:xfrm>
            <a:off x="5249249" y="2780678"/>
            <a:ext cx="292461"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110" name="TextBox 109">
            <a:extLst>
              <a:ext uri="{FF2B5EF4-FFF2-40B4-BE49-F238E27FC236}">
                <a16:creationId xmlns:a16="http://schemas.microsoft.com/office/drawing/2014/main" id="{8264C208-0CDD-C919-6356-03AF8893F904}"/>
              </a:ext>
            </a:extLst>
          </p:cNvPr>
          <p:cNvSpPr txBox="1"/>
          <p:nvPr/>
        </p:nvSpPr>
        <p:spPr>
          <a:xfrm>
            <a:off x="5612026" y="2727689"/>
            <a:ext cx="890338" cy="278075"/>
          </a:xfrm>
          <a:prstGeom prst="rect">
            <a:avLst/>
          </a:prstGeom>
          <a:noFill/>
        </p:spPr>
        <p:txBody>
          <a:bodyPr wrap="square" lIns="0" tIns="0" rIns="0" bIns="0" anchor="ctr">
            <a:spAutoFit/>
          </a:bodyPr>
          <a:lstStyle>
            <a:defPPr>
              <a:defRPr lang="en-US"/>
            </a:defPPr>
            <a:lvl1pPr>
              <a:lnSpc>
                <a:spcPct val="110000"/>
              </a:lnSpc>
              <a:spcBef>
                <a:spcPts val="0"/>
              </a:spcBef>
              <a:spcAft>
                <a:spcPts val="0"/>
              </a:spcAft>
              <a:defRPr sz="900" b="0" i="1">
                <a:solidFill>
                  <a:srgbClr val="0F1C50"/>
                </a:solidFill>
                <a:latin typeface="Helvetica Neue"/>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SAP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Stephanie</a:t>
            </a:r>
          </a:p>
        </p:txBody>
      </p:sp>
      <p:sp>
        <p:nvSpPr>
          <p:cNvPr id="111" name="Rectangle 110">
            <a:extLst>
              <a:ext uri="{FF2B5EF4-FFF2-40B4-BE49-F238E27FC236}">
                <a16:creationId xmlns:a16="http://schemas.microsoft.com/office/drawing/2014/main" id="{B6BF4FF3-BB0A-8348-D613-96C0D4CCF48B}"/>
              </a:ext>
            </a:extLst>
          </p:cNvPr>
          <p:cNvSpPr/>
          <p:nvPr/>
        </p:nvSpPr>
        <p:spPr>
          <a:xfrm>
            <a:off x="3607076" y="3362051"/>
            <a:ext cx="61321" cy="6480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F8014F1E-AF2B-0677-EB3F-D864670FA010}"/>
              </a:ext>
            </a:extLst>
          </p:cNvPr>
          <p:cNvSpPr/>
          <p:nvPr/>
        </p:nvSpPr>
        <p:spPr>
          <a:xfrm>
            <a:off x="3730775" y="3362051"/>
            <a:ext cx="2763222"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3" name="TextBox 112">
            <a:extLst>
              <a:ext uri="{FF2B5EF4-FFF2-40B4-BE49-F238E27FC236}">
                <a16:creationId xmlns:a16="http://schemas.microsoft.com/office/drawing/2014/main" id="{780A31B3-307F-64C8-A38A-25995253BBA4}"/>
              </a:ext>
            </a:extLst>
          </p:cNvPr>
          <p:cNvSpPr txBox="1"/>
          <p:nvPr/>
        </p:nvSpPr>
        <p:spPr>
          <a:xfrm>
            <a:off x="3839133" y="3398324"/>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TBD (vacant)</a:t>
            </a:r>
          </a:p>
        </p:txBody>
      </p:sp>
      <p:sp>
        <p:nvSpPr>
          <p:cNvPr id="114" name="TextBox 113">
            <a:extLst>
              <a:ext uri="{FF2B5EF4-FFF2-40B4-BE49-F238E27FC236}">
                <a16:creationId xmlns:a16="http://schemas.microsoft.com/office/drawing/2014/main" id="{725FF288-58B6-2A0C-38B2-C4E5610E69F6}"/>
              </a:ext>
            </a:extLst>
          </p:cNvPr>
          <p:cNvSpPr txBox="1"/>
          <p:nvPr/>
        </p:nvSpPr>
        <p:spPr>
          <a:xfrm>
            <a:off x="3849612" y="3623468"/>
            <a:ext cx="1343861" cy="34759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CRM &amp; Contact Center Ops</a:t>
            </a:r>
          </a:p>
        </p:txBody>
      </p:sp>
      <p:sp>
        <p:nvSpPr>
          <p:cNvPr id="115" name="Rounded Rectangle 48">
            <a:extLst>
              <a:ext uri="{FF2B5EF4-FFF2-40B4-BE49-F238E27FC236}">
                <a16:creationId xmlns:a16="http://schemas.microsoft.com/office/drawing/2014/main" id="{01FC1DE3-4116-1709-F577-4434D819855E}"/>
              </a:ext>
            </a:extLst>
          </p:cNvPr>
          <p:cNvSpPr/>
          <p:nvPr/>
        </p:nvSpPr>
        <p:spPr>
          <a:xfrm>
            <a:off x="5222918" y="3491454"/>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6" name="TextBox 115">
            <a:extLst>
              <a:ext uri="{FF2B5EF4-FFF2-40B4-BE49-F238E27FC236}">
                <a16:creationId xmlns:a16="http://schemas.microsoft.com/office/drawing/2014/main" id="{F65DA037-3C04-2004-A1BD-B42264C2672C}"/>
              </a:ext>
            </a:extLst>
          </p:cNvPr>
          <p:cNvSpPr txBox="1"/>
          <p:nvPr/>
        </p:nvSpPr>
        <p:spPr>
          <a:xfrm>
            <a:off x="5222918" y="3592642"/>
            <a:ext cx="321709"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4 FTE</a:t>
            </a:r>
          </a:p>
        </p:txBody>
      </p:sp>
      <p:sp>
        <p:nvSpPr>
          <p:cNvPr id="118" name="Rectangle 117">
            <a:extLst>
              <a:ext uri="{FF2B5EF4-FFF2-40B4-BE49-F238E27FC236}">
                <a16:creationId xmlns:a16="http://schemas.microsoft.com/office/drawing/2014/main" id="{E30B091D-D391-52F2-9ECB-58C9DE14E738}"/>
              </a:ext>
            </a:extLst>
          </p:cNvPr>
          <p:cNvSpPr/>
          <p:nvPr/>
        </p:nvSpPr>
        <p:spPr>
          <a:xfrm>
            <a:off x="3598011" y="4115730"/>
            <a:ext cx="61321" cy="625847"/>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9" name="Rectangle 118">
            <a:extLst>
              <a:ext uri="{FF2B5EF4-FFF2-40B4-BE49-F238E27FC236}">
                <a16:creationId xmlns:a16="http://schemas.microsoft.com/office/drawing/2014/main" id="{D73FCBC9-6406-B5F9-0462-02229F20581D}"/>
              </a:ext>
            </a:extLst>
          </p:cNvPr>
          <p:cNvSpPr/>
          <p:nvPr/>
        </p:nvSpPr>
        <p:spPr>
          <a:xfrm>
            <a:off x="3721710" y="4115730"/>
            <a:ext cx="2763222" cy="62584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0" name="TextBox 119">
            <a:extLst>
              <a:ext uri="{FF2B5EF4-FFF2-40B4-BE49-F238E27FC236}">
                <a16:creationId xmlns:a16="http://schemas.microsoft.com/office/drawing/2014/main" id="{CC3EB9AD-044B-72BB-CFB8-080535545559}"/>
              </a:ext>
            </a:extLst>
          </p:cNvPr>
          <p:cNvSpPr txBox="1"/>
          <p:nvPr/>
        </p:nvSpPr>
        <p:spPr>
          <a:xfrm>
            <a:off x="3816864" y="4151186"/>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Vincent Lam</a:t>
            </a:r>
          </a:p>
        </p:txBody>
      </p:sp>
      <p:sp>
        <p:nvSpPr>
          <p:cNvPr id="121" name="TextBox 120">
            <a:extLst>
              <a:ext uri="{FF2B5EF4-FFF2-40B4-BE49-F238E27FC236}">
                <a16:creationId xmlns:a16="http://schemas.microsoft.com/office/drawing/2014/main" id="{AB80BCEA-862E-F05D-390D-2895A823D364}"/>
              </a:ext>
            </a:extLst>
          </p:cNvPr>
          <p:cNvSpPr txBox="1"/>
          <p:nvPr/>
        </p:nvSpPr>
        <p:spPr>
          <a:xfrm>
            <a:off x="3816864" y="4310806"/>
            <a:ext cx="1286836" cy="34759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Billing, Device &amp; Metering </a:t>
            </a:r>
          </a:p>
        </p:txBody>
      </p:sp>
      <p:sp>
        <p:nvSpPr>
          <p:cNvPr id="122" name="Rounded Rectangle 55">
            <a:extLst>
              <a:ext uri="{FF2B5EF4-FFF2-40B4-BE49-F238E27FC236}">
                <a16:creationId xmlns:a16="http://schemas.microsoft.com/office/drawing/2014/main" id="{BD04AEFD-9B25-43A4-9B75-879419932408}"/>
              </a:ext>
            </a:extLst>
          </p:cNvPr>
          <p:cNvSpPr/>
          <p:nvPr/>
        </p:nvSpPr>
        <p:spPr>
          <a:xfrm>
            <a:off x="5214065" y="4222113"/>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3" name="TextBox 122">
            <a:extLst>
              <a:ext uri="{FF2B5EF4-FFF2-40B4-BE49-F238E27FC236}">
                <a16:creationId xmlns:a16="http://schemas.microsoft.com/office/drawing/2014/main" id="{9616EBA6-862F-F6B2-9EFF-60F545E68AC6}"/>
              </a:ext>
            </a:extLst>
          </p:cNvPr>
          <p:cNvSpPr txBox="1"/>
          <p:nvPr/>
        </p:nvSpPr>
        <p:spPr>
          <a:xfrm>
            <a:off x="5214065" y="4323302"/>
            <a:ext cx="321709"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125" name="Rectangle 124">
            <a:extLst>
              <a:ext uri="{FF2B5EF4-FFF2-40B4-BE49-F238E27FC236}">
                <a16:creationId xmlns:a16="http://schemas.microsoft.com/office/drawing/2014/main" id="{0DAADC4D-28CD-7DF0-3D0F-A2128C7D9C11}"/>
              </a:ext>
            </a:extLst>
          </p:cNvPr>
          <p:cNvSpPr/>
          <p:nvPr/>
        </p:nvSpPr>
        <p:spPr>
          <a:xfrm>
            <a:off x="3606864" y="4846204"/>
            <a:ext cx="61321" cy="66183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6" name="Rectangle 125">
            <a:extLst>
              <a:ext uri="{FF2B5EF4-FFF2-40B4-BE49-F238E27FC236}">
                <a16:creationId xmlns:a16="http://schemas.microsoft.com/office/drawing/2014/main" id="{26A196EA-75B4-E845-BDF7-C3A06C19F5E8}"/>
              </a:ext>
            </a:extLst>
          </p:cNvPr>
          <p:cNvSpPr/>
          <p:nvPr/>
        </p:nvSpPr>
        <p:spPr>
          <a:xfrm>
            <a:off x="3730563" y="4846204"/>
            <a:ext cx="2763222" cy="6618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7" name="TextBox 126">
            <a:extLst>
              <a:ext uri="{FF2B5EF4-FFF2-40B4-BE49-F238E27FC236}">
                <a16:creationId xmlns:a16="http://schemas.microsoft.com/office/drawing/2014/main" id="{5179606C-4286-AA18-EA99-FD54CBFBEA16}"/>
              </a:ext>
            </a:extLst>
          </p:cNvPr>
          <p:cNvSpPr txBox="1"/>
          <p:nvPr/>
        </p:nvSpPr>
        <p:spPr>
          <a:xfrm>
            <a:off x="3825717" y="4881659"/>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Open (vacant)</a:t>
            </a:r>
          </a:p>
        </p:txBody>
      </p:sp>
      <p:sp>
        <p:nvSpPr>
          <p:cNvPr id="128" name="TextBox 127">
            <a:extLst>
              <a:ext uri="{FF2B5EF4-FFF2-40B4-BE49-F238E27FC236}">
                <a16:creationId xmlns:a16="http://schemas.microsoft.com/office/drawing/2014/main" id="{9848A21B-A0C0-568D-205B-3FD4A9EF30A9}"/>
              </a:ext>
            </a:extLst>
          </p:cNvPr>
          <p:cNvSpPr txBox="1"/>
          <p:nvPr/>
        </p:nvSpPr>
        <p:spPr>
          <a:xfrm>
            <a:off x="3825717" y="5109108"/>
            <a:ext cx="1277983"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SAP &amp; CS Architecture</a:t>
            </a:r>
          </a:p>
        </p:txBody>
      </p:sp>
      <p:sp>
        <p:nvSpPr>
          <p:cNvPr id="129" name="Rounded Rectangle 62">
            <a:extLst>
              <a:ext uri="{FF2B5EF4-FFF2-40B4-BE49-F238E27FC236}">
                <a16:creationId xmlns:a16="http://schemas.microsoft.com/office/drawing/2014/main" id="{2BF3CC0D-69F5-6FDC-99DE-A5C8C4C15402}"/>
              </a:ext>
            </a:extLst>
          </p:cNvPr>
          <p:cNvSpPr/>
          <p:nvPr/>
        </p:nvSpPr>
        <p:spPr>
          <a:xfrm>
            <a:off x="5224549" y="5031708"/>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3F0C75B0-1944-36D5-6D4A-77A73275FE1F}"/>
              </a:ext>
            </a:extLst>
          </p:cNvPr>
          <p:cNvSpPr txBox="1"/>
          <p:nvPr/>
        </p:nvSpPr>
        <p:spPr>
          <a:xfrm>
            <a:off x="5224549" y="5137153"/>
            <a:ext cx="321709"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a:ln>
                  <a:noFill/>
                </a:ln>
                <a:solidFill>
                  <a:srgbClr val="FFFFFF"/>
                </a:solidFill>
                <a:effectLst/>
                <a:uLnTx/>
                <a:uFillTx/>
                <a:latin typeface="Arial" panose="020B0604020202020204" pitchFamily="34" charset="0"/>
                <a:cs typeface="Arial" panose="020B0604020202020204" pitchFamily="34" charset="0"/>
              </a:rPr>
              <a:t>2 </a:t>
            </a: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FTE</a:t>
            </a:r>
          </a:p>
        </p:txBody>
      </p:sp>
      <p:sp>
        <p:nvSpPr>
          <p:cNvPr id="132" name="Rectangle 131">
            <a:extLst>
              <a:ext uri="{FF2B5EF4-FFF2-40B4-BE49-F238E27FC236}">
                <a16:creationId xmlns:a16="http://schemas.microsoft.com/office/drawing/2014/main" id="{32267DBF-3162-9A16-6A2F-0CA7E50F6784}"/>
              </a:ext>
            </a:extLst>
          </p:cNvPr>
          <p:cNvSpPr/>
          <p:nvPr/>
        </p:nvSpPr>
        <p:spPr>
          <a:xfrm>
            <a:off x="3598390" y="5609228"/>
            <a:ext cx="61321" cy="66183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3" name="Rectangle 132">
            <a:extLst>
              <a:ext uri="{FF2B5EF4-FFF2-40B4-BE49-F238E27FC236}">
                <a16:creationId xmlns:a16="http://schemas.microsoft.com/office/drawing/2014/main" id="{3F00BFB5-D605-6901-BD36-254B18FA75FD}"/>
              </a:ext>
            </a:extLst>
          </p:cNvPr>
          <p:cNvSpPr/>
          <p:nvPr/>
        </p:nvSpPr>
        <p:spPr>
          <a:xfrm>
            <a:off x="3722089" y="5609228"/>
            <a:ext cx="2763222" cy="6618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FF49B69C-5188-9899-1A27-D34344177707}"/>
              </a:ext>
            </a:extLst>
          </p:cNvPr>
          <p:cNvSpPr txBox="1"/>
          <p:nvPr/>
        </p:nvSpPr>
        <p:spPr>
          <a:xfrm>
            <a:off x="3817243" y="5644683"/>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Nagi Reddy</a:t>
            </a:r>
          </a:p>
        </p:txBody>
      </p:sp>
      <p:sp>
        <p:nvSpPr>
          <p:cNvPr id="135" name="TextBox 134">
            <a:extLst>
              <a:ext uri="{FF2B5EF4-FFF2-40B4-BE49-F238E27FC236}">
                <a16:creationId xmlns:a16="http://schemas.microsoft.com/office/drawing/2014/main" id="{46D0A62F-5248-6661-9F4D-331E25075777}"/>
              </a:ext>
            </a:extLst>
          </p:cNvPr>
          <p:cNvSpPr txBox="1"/>
          <p:nvPr/>
        </p:nvSpPr>
        <p:spPr>
          <a:xfrm>
            <a:off x="3817243" y="5872133"/>
            <a:ext cx="1286836" cy="16677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SAP Basis</a:t>
            </a:r>
          </a:p>
        </p:txBody>
      </p:sp>
      <p:sp>
        <p:nvSpPr>
          <p:cNvPr id="136" name="Rounded Rectangle 69">
            <a:extLst>
              <a:ext uri="{FF2B5EF4-FFF2-40B4-BE49-F238E27FC236}">
                <a16:creationId xmlns:a16="http://schemas.microsoft.com/office/drawing/2014/main" id="{6C08BE1A-64E2-CF3E-8074-99751A778540}"/>
              </a:ext>
            </a:extLst>
          </p:cNvPr>
          <p:cNvSpPr/>
          <p:nvPr/>
        </p:nvSpPr>
        <p:spPr>
          <a:xfrm>
            <a:off x="5216075" y="5794732"/>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7" name="TextBox 136">
            <a:extLst>
              <a:ext uri="{FF2B5EF4-FFF2-40B4-BE49-F238E27FC236}">
                <a16:creationId xmlns:a16="http://schemas.microsoft.com/office/drawing/2014/main" id="{80AEDC6D-F87C-ECC9-9743-14B312C0FD32}"/>
              </a:ext>
            </a:extLst>
          </p:cNvPr>
          <p:cNvSpPr txBox="1"/>
          <p:nvPr/>
        </p:nvSpPr>
        <p:spPr>
          <a:xfrm>
            <a:off x="5216075" y="5895920"/>
            <a:ext cx="321709"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2 FTE</a:t>
            </a:r>
          </a:p>
        </p:txBody>
      </p:sp>
      <p:sp>
        <p:nvSpPr>
          <p:cNvPr id="17" name="TextBox 81">
            <a:extLst>
              <a:ext uri="{FF2B5EF4-FFF2-40B4-BE49-F238E27FC236}">
                <a16:creationId xmlns:a16="http://schemas.microsoft.com/office/drawing/2014/main" id="{DCDF9D54-F2B6-B0ED-CEA3-AF4803B77BB8}"/>
              </a:ext>
            </a:extLst>
          </p:cNvPr>
          <p:cNvSpPr txBox="1"/>
          <p:nvPr/>
        </p:nvSpPr>
        <p:spPr>
          <a:xfrm>
            <a:off x="5592799" y="4192300"/>
            <a:ext cx="921487" cy="531171"/>
          </a:xfrm>
          <a:prstGeom prst="rect">
            <a:avLst/>
          </a:prstGeom>
          <a:noFill/>
        </p:spPr>
        <p:txBody>
          <a:bodyPr wrap="square" lIns="0" tIns="0" rIns="0" bIns="0" anchor="ctr">
            <a:spAutoFit/>
          </a:bodyPr>
          <a:lstStyle/>
          <a:p>
            <a:pPr>
              <a:lnSpc>
                <a:spcPct val="110000"/>
              </a:lnSpc>
              <a:defRPr/>
            </a:pPr>
            <a:r>
              <a:rPr lang="en-US" sz="800" i="1" noProof="0">
                <a:solidFill>
                  <a:srgbClr val="0F1C50"/>
                </a:solidFill>
                <a:latin typeface="Arial" panose="020B0604020202020204" pitchFamily="34" charset="0"/>
                <a:cs typeface="Arial" panose="020B0604020202020204" pitchFamily="34" charset="0"/>
              </a:rPr>
              <a:t>Smart</a:t>
            </a: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 </a:t>
            </a:r>
            <a:r>
              <a:rPr lang="en-US" sz="800" i="1" noProof="0">
                <a:solidFill>
                  <a:srgbClr val="0F1C50"/>
                </a:solidFill>
                <a:latin typeface="Arial" panose="020B0604020202020204" pitchFamily="34" charset="0"/>
                <a:cs typeface="Arial" panose="020B0604020202020204" pitchFamily="34" charset="0"/>
              </a:rPr>
              <a:t>Metering </a:t>
            </a: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Champion: </a:t>
            </a:r>
            <a:endParaRPr lang="en-US" sz="800" noProof="0">
              <a:solidFill>
                <a:srgbClr val="000000"/>
              </a:solidFill>
              <a:latin typeface="Arial" panose="020B0604020202020204" pitchFamily="34" charset="0"/>
              <a:ea typeface="+mn-lt"/>
              <a:cs typeface="Arial" panose="020B0604020202020204" pitchFamily="34" charset="0"/>
            </a:endParaRPr>
          </a:p>
          <a:p>
            <a:pPr>
              <a:lnSpc>
                <a:spcPct val="110000"/>
              </a:lnSpc>
              <a:defRPr/>
            </a:pPr>
            <a:r>
              <a:rPr lang="en-US" sz="800" b="1" i="1" noProof="0">
                <a:solidFill>
                  <a:srgbClr val="0F1C50"/>
                </a:solidFill>
                <a:latin typeface="Arial" panose="020B0604020202020204" pitchFamily="34" charset="0"/>
                <a:ea typeface="+mn-lt"/>
                <a:cs typeface="Arial" panose="020B0604020202020204" pitchFamily="34" charset="0"/>
              </a:rPr>
              <a:t>Iram Chowdhury</a:t>
            </a:r>
            <a:r>
              <a:rPr lang="en-US" sz="800" i="1" noProof="0">
                <a:solidFill>
                  <a:srgbClr val="0F1C50"/>
                </a:solidFill>
                <a:latin typeface="Arial" panose="020B0604020202020204" pitchFamily="34" charset="0"/>
                <a:ea typeface="+mn-lt"/>
                <a:cs typeface="Arial" panose="020B0604020202020204" pitchFamily="34" charset="0"/>
              </a:rPr>
              <a:t> </a:t>
            </a:r>
            <a:endParaRPr lang="en-US" sz="800" noProof="0">
              <a:solidFill>
                <a:srgbClr val="000000"/>
              </a:solidFill>
              <a:latin typeface="Arial" panose="020B0604020202020204" pitchFamily="34" charset="0"/>
              <a:ea typeface="+mn-lt"/>
              <a:cs typeface="Arial" panose="020B0604020202020204" pitchFamily="34" charset="0"/>
            </a:endParaRPr>
          </a:p>
          <a:p>
            <a:pPr>
              <a:lnSpc>
                <a:spcPct val="110000"/>
              </a:lnSpc>
              <a:defRPr/>
            </a:pPr>
            <a:endParaRPr lang="en-US" sz="80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25" name="Rectangle 26">
            <a:extLst>
              <a:ext uri="{FF2B5EF4-FFF2-40B4-BE49-F238E27FC236}">
                <a16:creationId xmlns:a16="http://schemas.microsoft.com/office/drawing/2014/main" id="{A8381707-A4F1-995A-6E4D-68D5FD6CAD17}"/>
              </a:ext>
            </a:extLst>
          </p:cNvPr>
          <p:cNvSpPr/>
          <p:nvPr/>
        </p:nvSpPr>
        <p:spPr>
          <a:xfrm>
            <a:off x="9545931" y="2062566"/>
            <a:ext cx="2087266"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IT Program Delivery (Vacant)</a:t>
            </a:r>
          </a:p>
        </p:txBody>
      </p:sp>
      <p:sp>
        <p:nvSpPr>
          <p:cNvPr id="6" name="Rectangle 124">
            <a:extLst>
              <a:ext uri="{FF2B5EF4-FFF2-40B4-BE49-F238E27FC236}">
                <a16:creationId xmlns:a16="http://schemas.microsoft.com/office/drawing/2014/main" id="{34F3124A-DDE9-19CC-80B1-C54CE193EB08}"/>
              </a:ext>
            </a:extLst>
          </p:cNvPr>
          <p:cNvSpPr/>
          <p:nvPr/>
        </p:nvSpPr>
        <p:spPr>
          <a:xfrm>
            <a:off x="6626510" y="2570837"/>
            <a:ext cx="61321" cy="66183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 name="Rectangle 125">
            <a:extLst>
              <a:ext uri="{FF2B5EF4-FFF2-40B4-BE49-F238E27FC236}">
                <a16:creationId xmlns:a16="http://schemas.microsoft.com/office/drawing/2014/main" id="{3BD6DCEC-9FF9-1361-D4EC-92AF05CE5B60}"/>
              </a:ext>
            </a:extLst>
          </p:cNvPr>
          <p:cNvSpPr/>
          <p:nvPr/>
        </p:nvSpPr>
        <p:spPr>
          <a:xfrm>
            <a:off x="6750209" y="2570837"/>
            <a:ext cx="2659605" cy="6618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 name="TextBox 127">
            <a:extLst>
              <a:ext uri="{FF2B5EF4-FFF2-40B4-BE49-F238E27FC236}">
                <a16:creationId xmlns:a16="http://schemas.microsoft.com/office/drawing/2014/main" id="{CC6C2903-7BDE-B104-DD57-51BC86E03C64}"/>
              </a:ext>
            </a:extLst>
          </p:cNvPr>
          <p:cNvSpPr txBox="1"/>
          <p:nvPr/>
        </p:nvSpPr>
        <p:spPr>
          <a:xfrm>
            <a:off x="6882187" y="2823112"/>
            <a:ext cx="1161803"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Product Management</a:t>
            </a:r>
          </a:p>
        </p:txBody>
      </p:sp>
      <p:sp>
        <p:nvSpPr>
          <p:cNvPr id="16" name="Rounded Rectangle 62">
            <a:extLst>
              <a:ext uri="{FF2B5EF4-FFF2-40B4-BE49-F238E27FC236}">
                <a16:creationId xmlns:a16="http://schemas.microsoft.com/office/drawing/2014/main" id="{87810FFD-DE88-1C6C-668D-4F7F4CD27388}"/>
              </a:ext>
            </a:extLst>
          </p:cNvPr>
          <p:cNvSpPr/>
          <p:nvPr/>
        </p:nvSpPr>
        <p:spPr>
          <a:xfrm>
            <a:off x="8244195" y="2756341"/>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9" name="TextBox 129">
            <a:extLst>
              <a:ext uri="{FF2B5EF4-FFF2-40B4-BE49-F238E27FC236}">
                <a16:creationId xmlns:a16="http://schemas.microsoft.com/office/drawing/2014/main" id="{682040F6-7F5F-9DB2-9A84-E38FB33B9F96}"/>
              </a:ext>
            </a:extLst>
          </p:cNvPr>
          <p:cNvSpPr txBox="1"/>
          <p:nvPr/>
        </p:nvSpPr>
        <p:spPr>
          <a:xfrm>
            <a:off x="8244195" y="2861786"/>
            <a:ext cx="321709"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a:ln>
                  <a:noFill/>
                </a:ln>
                <a:solidFill>
                  <a:srgbClr val="FFFFFF"/>
                </a:solidFill>
                <a:effectLst/>
                <a:uLnTx/>
                <a:uFillTx/>
                <a:latin typeface="Arial" panose="020B0604020202020204" pitchFamily="34" charset="0"/>
                <a:cs typeface="Arial" panose="020B0604020202020204" pitchFamily="34" charset="0"/>
              </a:rPr>
              <a:t>2 </a:t>
            </a: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FTE</a:t>
            </a:r>
          </a:p>
        </p:txBody>
      </p:sp>
      <p:sp>
        <p:nvSpPr>
          <p:cNvPr id="21" name="TextBox 105">
            <a:extLst>
              <a:ext uri="{FF2B5EF4-FFF2-40B4-BE49-F238E27FC236}">
                <a16:creationId xmlns:a16="http://schemas.microsoft.com/office/drawing/2014/main" id="{EEDBCE94-AC2E-84C0-7911-26280CBED36F}"/>
              </a:ext>
            </a:extLst>
          </p:cNvPr>
          <p:cNvSpPr txBox="1"/>
          <p:nvPr/>
        </p:nvSpPr>
        <p:spPr>
          <a:xfrm>
            <a:off x="6861445" y="2636233"/>
            <a:ext cx="1306474"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Vacant</a:t>
            </a:r>
          </a:p>
        </p:txBody>
      </p:sp>
      <p:sp>
        <p:nvSpPr>
          <p:cNvPr id="22" name="CuadroTexto 204">
            <a:extLst>
              <a:ext uri="{FF2B5EF4-FFF2-40B4-BE49-F238E27FC236}">
                <a16:creationId xmlns:a16="http://schemas.microsoft.com/office/drawing/2014/main" id="{40183409-3422-08A1-E759-619E71685007}"/>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lvl="0" algn="just">
              <a:defRPr/>
            </a:pPr>
            <a:r>
              <a:rPr lang="en-US">
                <a:solidFill>
                  <a:srgbClr val="0F9ED5">
                    <a:lumMod val="75000"/>
                  </a:srgbClr>
                </a:solidFill>
              </a:rPr>
              <a:t>Digital Products spans two director branches (~50 FTE) across nine sub-teams and a new team of Product Management and IT Program Delivery </a:t>
            </a:r>
            <a:endParaRPr lang="en-US"/>
          </a:p>
        </p:txBody>
      </p:sp>
    </p:spTree>
    <p:extLst>
      <p:ext uri="{BB962C8B-B14F-4D97-AF65-F5344CB8AC3E}">
        <p14:creationId xmlns:p14="http://schemas.microsoft.com/office/powerpoint/2010/main" val="3022793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3F793-5F71-5699-117C-E263C367DB6D}"/>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2E23CCBF-D339-FC17-786F-356785498E2C}"/>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E1A027FB-F1D8-DD8F-1C25-88EC94E84C09}"/>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4F081BE5-F207-F6E1-C3ED-ECCDC2411A5C}"/>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913CF10F-6E9F-E547-A1C7-3EBAEC5BAA8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AC1D18B4-F892-9DCA-ADC4-01452450436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8A633922-0272-5E2E-C9BB-0122EA85E75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04A21062-C9DB-B4F7-C725-52B2E18B60B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6B0E2B2E-5C95-24FF-B026-0FD21EEB4E72}"/>
              </a:ext>
            </a:extLst>
          </p:cNvPr>
          <p:cNvSpPr/>
          <p:nvPr/>
        </p:nvSpPr>
        <p:spPr>
          <a:xfrm>
            <a:off x="408040" y="297286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425A2EC-FF37-839C-FA41-D86B69967BAE}"/>
              </a:ext>
            </a:extLst>
          </p:cNvPr>
          <p:cNvSpPr/>
          <p:nvPr/>
        </p:nvSpPr>
        <p:spPr>
          <a:xfrm>
            <a:off x="408040" y="293873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0DA9FF"/>
              </a:solidFill>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F4DC439D-1C3F-F351-2CEA-5032C4A82F18}"/>
              </a:ext>
            </a:extLst>
          </p:cNvPr>
          <p:cNvSpPr/>
          <p:nvPr/>
        </p:nvSpPr>
        <p:spPr>
          <a:xfrm>
            <a:off x="6226342" y="139492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47F52D19-C93D-8CC7-80F8-A2F6E479ACCE}"/>
              </a:ext>
            </a:extLst>
          </p:cNvPr>
          <p:cNvSpPr/>
          <p:nvPr/>
        </p:nvSpPr>
        <p:spPr>
          <a:xfrm>
            <a:off x="6226342"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B74E5FA5-87A5-F910-FC4F-3BE5C0F08757}"/>
              </a:ext>
            </a:extLst>
          </p:cNvPr>
          <p:cNvSpPr/>
          <p:nvPr/>
        </p:nvSpPr>
        <p:spPr>
          <a:xfrm>
            <a:off x="423280" y="462196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A82903FF-CB89-72C4-C000-C0470D40ADCA}"/>
              </a:ext>
            </a:extLst>
          </p:cNvPr>
          <p:cNvSpPr/>
          <p:nvPr/>
        </p:nvSpPr>
        <p:spPr>
          <a:xfrm>
            <a:off x="408040" y="139492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BE35A4A-D2C7-2B44-66D7-27645A2E667F}"/>
              </a:ext>
            </a:extLst>
          </p:cNvPr>
          <p:cNvSpPr/>
          <p:nvPr/>
        </p:nvSpPr>
        <p:spPr>
          <a:xfrm>
            <a:off x="408040"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98A82B56-390F-40A4-6CA8-71476EC92216}"/>
              </a:ext>
            </a:extLst>
          </p:cNvPr>
          <p:cNvSpPr txBox="1"/>
          <p:nvPr/>
        </p:nvSpPr>
        <p:spPr>
          <a:xfrm>
            <a:off x="609208"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NATURE OF WORK</a:t>
            </a:r>
          </a:p>
        </p:txBody>
      </p:sp>
      <p:sp>
        <p:nvSpPr>
          <p:cNvPr id="151" name="TextBox 150">
            <a:extLst>
              <a:ext uri="{FF2B5EF4-FFF2-40B4-BE49-F238E27FC236}">
                <a16:creationId xmlns:a16="http://schemas.microsoft.com/office/drawing/2014/main" id="{E0230735-2E46-66F2-0F4F-C9EDB0979737}"/>
              </a:ext>
            </a:extLst>
          </p:cNvPr>
          <p:cNvSpPr txBox="1"/>
          <p:nvPr/>
        </p:nvSpPr>
        <p:spPr>
          <a:xfrm>
            <a:off x="3788954" y="1454754"/>
            <a:ext cx="2225802" cy="140488"/>
          </a:xfrm>
          <a:prstGeom prst="rect">
            <a:avLst/>
          </a:prstGeom>
          <a:noFill/>
        </p:spPr>
        <p:txBody>
          <a:bodyPr wrap="square" lIns="0" tIns="0" rIns="0" bIns="0" anchor="t">
            <a:spAutoFit/>
          </a:bodyPr>
          <a:lstStyle/>
          <a:p>
            <a:pPr>
              <a:lnSpc>
                <a:spcPct val="110000"/>
              </a:lnSpc>
            </a:pPr>
            <a:r>
              <a:rPr lang="en-US" sz="900" b="0" i="1" noProof="0">
                <a:solidFill>
                  <a:schemeClr val="accent1"/>
                </a:solidFill>
                <a:latin typeface="Arial" panose="020B0604020202020204" pitchFamily="34" charset="0"/>
                <a:cs typeface="Arial" panose="020B0604020202020204" pitchFamily="34" charset="0"/>
              </a:rPr>
              <a:t>Operational continuity + regulated change</a:t>
            </a:r>
          </a:p>
        </p:txBody>
      </p:sp>
      <p:sp>
        <p:nvSpPr>
          <p:cNvPr id="152" name="TextBox 151">
            <a:extLst>
              <a:ext uri="{FF2B5EF4-FFF2-40B4-BE49-F238E27FC236}">
                <a16:creationId xmlns:a16="http://schemas.microsoft.com/office/drawing/2014/main" id="{5A2EFE96-1797-DDFE-1181-B809F534C97D}"/>
              </a:ext>
            </a:extLst>
          </p:cNvPr>
          <p:cNvSpPr txBox="1"/>
          <p:nvPr/>
        </p:nvSpPr>
        <p:spPr>
          <a:xfrm>
            <a:off x="6400800"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APPLICATIONS IN SCOPE</a:t>
            </a:r>
          </a:p>
        </p:txBody>
      </p:sp>
      <p:sp>
        <p:nvSpPr>
          <p:cNvPr id="153" name="TextBox 152">
            <a:extLst>
              <a:ext uri="{FF2B5EF4-FFF2-40B4-BE49-F238E27FC236}">
                <a16:creationId xmlns:a16="http://schemas.microsoft.com/office/drawing/2014/main" id="{4DFE3BED-ABD9-35C1-D3EF-BEBCAD0A8631}"/>
              </a:ext>
            </a:extLst>
          </p:cNvPr>
          <p:cNvSpPr txBox="1"/>
          <p:nvPr/>
        </p:nvSpPr>
        <p:spPr>
          <a:xfrm>
            <a:off x="9620163" y="1454754"/>
            <a:ext cx="2038437"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Four technology domains under Carlos</a:t>
            </a:r>
          </a:p>
        </p:txBody>
      </p:sp>
      <p:sp>
        <p:nvSpPr>
          <p:cNvPr id="158" name="TextBox 157">
            <a:extLst>
              <a:ext uri="{FF2B5EF4-FFF2-40B4-BE49-F238E27FC236}">
                <a16:creationId xmlns:a16="http://schemas.microsoft.com/office/drawing/2014/main" id="{4114AC28-7DF5-62B9-8FB7-ED925A3D6183}"/>
              </a:ext>
            </a:extLst>
          </p:cNvPr>
          <p:cNvSpPr txBox="1"/>
          <p:nvPr/>
        </p:nvSpPr>
        <p:spPr>
          <a:xfrm>
            <a:off x="600786" y="4699644"/>
            <a:ext cx="4016322"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TEAMS UNDER CARLOS</a:t>
            </a:r>
          </a:p>
        </p:txBody>
      </p:sp>
      <p:sp>
        <p:nvSpPr>
          <p:cNvPr id="159" name="TextBox 158">
            <a:extLst>
              <a:ext uri="{FF2B5EF4-FFF2-40B4-BE49-F238E27FC236}">
                <a16:creationId xmlns:a16="http://schemas.microsoft.com/office/drawing/2014/main" id="{C7A8FDA7-8178-F359-C99A-CA536286CB89}"/>
              </a:ext>
            </a:extLst>
          </p:cNvPr>
          <p:cNvSpPr txBox="1"/>
          <p:nvPr/>
        </p:nvSpPr>
        <p:spPr>
          <a:xfrm>
            <a:off x="4910108" y="4725702"/>
            <a:ext cx="1769444" cy="1404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75% are Sr Manager</a:t>
            </a:r>
          </a:p>
        </p:txBody>
      </p:sp>
      <p:sp>
        <p:nvSpPr>
          <p:cNvPr id="160" name="TextBox 159">
            <a:extLst>
              <a:ext uri="{FF2B5EF4-FFF2-40B4-BE49-F238E27FC236}">
                <a16:creationId xmlns:a16="http://schemas.microsoft.com/office/drawing/2014/main" id="{6AFB3D6C-8C54-D259-E4FE-277D8B5D27FF}"/>
              </a:ext>
            </a:extLst>
          </p:cNvPr>
          <p:cNvSpPr txBox="1"/>
          <p:nvPr/>
        </p:nvSpPr>
        <p:spPr>
          <a:xfrm>
            <a:off x="582498" y="3034331"/>
            <a:ext cx="3162300" cy="171676"/>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WAY OF WORKING  &amp;  INTERACTIONS</a:t>
            </a:r>
          </a:p>
        </p:txBody>
      </p:sp>
      <p:sp>
        <p:nvSpPr>
          <p:cNvPr id="161" name="TextBox 160">
            <a:extLst>
              <a:ext uri="{FF2B5EF4-FFF2-40B4-BE49-F238E27FC236}">
                <a16:creationId xmlns:a16="http://schemas.microsoft.com/office/drawing/2014/main" id="{0AC6ED2C-25B0-114E-CDE9-7BADFAC535B3}"/>
              </a:ext>
            </a:extLst>
          </p:cNvPr>
          <p:cNvSpPr txBox="1"/>
          <p:nvPr/>
        </p:nvSpPr>
        <p:spPr>
          <a:xfrm>
            <a:off x="3776882" y="3069679"/>
            <a:ext cx="2269958" cy="140488"/>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Inside-IT + vendor + business triangulation</a:t>
            </a:r>
          </a:p>
        </p:txBody>
      </p:sp>
      <p:sp>
        <p:nvSpPr>
          <p:cNvPr id="162" name="TextBox 161">
            <a:extLst>
              <a:ext uri="{FF2B5EF4-FFF2-40B4-BE49-F238E27FC236}">
                <a16:creationId xmlns:a16="http://schemas.microsoft.com/office/drawing/2014/main" id="{BFD11743-9991-B949-8C18-EB586784794A}"/>
              </a:ext>
            </a:extLst>
          </p:cNvPr>
          <p:cNvSpPr txBox="1"/>
          <p:nvPr/>
        </p:nvSpPr>
        <p:spPr>
          <a:xfrm>
            <a:off x="609208" y="1695833"/>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Keep the lights on — break/fix is the dominant pattern (GIS, G&amp;E, Corporate).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Large demand planned yearly via PDD; small/medium demand handled ad-hoc.</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Regulatory and employee-facing systems (Corporate) run under continuous compliance pressure.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Version upgrades (Projectwise, Microstation) gate-kept by Third-Party Risk assessment.</a:t>
            </a:r>
          </a:p>
        </p:txBody>
      </p:sp>
      <p:sp>
        <p:nvSpPr>
          <p:cNvPr id="163" name="TextBox 162">
            <a:extLst>
              <a:ext uri="{FF2B5EF4-FFF2-40B4-BE49-F238E27FC236}">
                <a16:creationId xmlns:a16="http://schemas.microsoft.com/office/drawing/2014/main" id="{A276BEEE-59CE-DFFA-CE9B-4553D4046353}"/>
              </a:ext>
            </a:extLst>
          </p:cNvPr>
          <p:cNvSpPr txBox="1"/>
          <p:nvPr/>
        </p:nvSpPr>
        <p:spPr>
          <a:xfrm>
            <a:off x="6409222" y="1695833"/>
            <a:ext cx="5379720" cy="120693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Arial" panose="020B0604020202020204" pitchFamily="34" charset="0"/>
                <a:cs typeface="Arial" panose="020B0604020202020204" pitchFamily="34" charset="0"/>
              </a:defRPr>
            </a:lvl1pPr>
          </a:lstStyle>
          <a:p>
            <a:r>
              <a:rPr lang="en-US" noProof="0"/>
              <a:t>▪  GIS &amp; OSG  —  SAP HANA, ARCFM, GIS web apps, data replication, SWF platform (George Porto, ~6 FTE).</a:t>
            </a:r>
          </a:p>
          <a:p>
            <a:r>
              <a:rPr lang="en-US" noProof="0"/>
              <a:t>▪  Electric &amp; Gas Ops  —  70–90 apps, android/tablets, doc viewer (Bruno Moreto + Andrew McGibbon, ~7 FTE).</a:t>
            </a:r>
          </a:p>
          <a:p>
            <a:r>
              <a:rPr lang="en-US" noProof="0"/>
              <a:t>▪  Corporate Applications  —  5-6 PMs, 2 tech leads, corporate + network apps, SWF tooling (Sarath + Amit, ~8 FTE).</a:t>
            </a:r>
          </a:p>
          <a:p>
            <a:r>
              <a:rPr lang="en-US" noProof="0"/>
              <a:t>▪  Global SAP (Iberdrola)  —  FI, PO, Budget — Spain-side SAP module support (Vanessa + Michael, ~5 FTE).</a:t>
            </a:r>
          </a:p>
        </p:txBody>
      </p:sp>
      <p:sp>
        <p:nvSpPr>
          <p:cNvPr id="165" name="TextBox 164">
            <a:extLst>
              <a:ext uri="{FF2B5EF4-FFF2-40B4-BE49-F238E27FC236}">
                <a16:creationId xmlns:a16="http://schemas.microsoft.com/office/drawing/2014/main" id="{1A9E9970-0ED8-1F20-FAE6-8BEA641015ED}"/>
              </a:ext>
            </a:extLst>
          </p:cNvPr>
          <p:cNvSpPr txBox="1"/>
          <p:nvPr/>
        </p:nvSpPr>
        <p:spPr>
          <a:xfrm>
            <a:off x="582498" y="3408989"/>
            <a:ext cx="5257800" cy="1054584"/>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Inside Applications: GIS ↔ G&amp;E (shared SAP/GIS data); Corporate ↔ all teams (shared PMs).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With SAP branch: Global SAP ↔ Kumar's SAP (Billing, FICA); P&amp;T is the intermediary with Business.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With vendors: Accenture (Global SAP + Corporate), SWF / Software Factory (all teams), business vendors (G&amp;E).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Tools mix: Jira (misc), IT Now (incidents), PDD (large), SharePoint + Teams + OneNote + Email (PM).</a:t>
            </a:r>
            <a:endParaRPr lang="en-US" sz="900">
              <a:latin typeface="Arial" panose="020B0604020202020204" pitchFamily="34" charset="0"/>
              <a:cs typeface="Arial" panose="020B0604020202020204" pitchFamily="34" charset="0"/>
            </a:endParaRPr>
          </a:p>
          <a:p>
            <a:pPr>
              <a:lnSpc>
                <a:spcPct val="110000"/>
              </a:lnSpc>
            </a:pPr>
            <a:r>
              <a:rPr lang="en-US" sz="900">
                <a:latin typeface="Arial" panose="020B0604020202020204" pitchFamily="34" charset="0"/>
                <a:cs typeface="Arial" panose="020B0604020202020204" pitchFamily="34" charset="0"/>
              </a:rPr>
              <a:t>▪  Project managers identified as part of the team, but opportunity to include more product-oriented roles focused on lifecycle management and business alignment</a:t>
            </a:r>
            <a:endParaRPr lang="en-US" sz="900" b="0" i="0" noProof="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5E1F910B-5668-59EA-9555-84222413E3EB}"/>
              </a:ext>
            </a:extLst>
          </p:cNvPr>
          <p:cNvSpPr txBox="1"/>
          <p:nvPr/>
        </p:nvSpPr>
        <p:spPr>
          <a:xfrm>
            <a:off x="609208" y="4981530"/>
            <a:ext cx="5257800" cy="59753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Helvetica Neue"/>
              </a:defRPr>
            </a:lvl1pPr>
          </a:lstStyle>
          <a:p>
            <a:r>
              <a:rPr lang="en-US" noProof="0">
                <a:latin typeface="Arial" panose="020B0604020202020204" pitchFamily="34" charset="0"/>
                <a:cs typeface="Arial" panose="020B0604020202020204" pitchFamily="34" charset="0"/>
              </a:rPr>
              <a:t>▪  Bruno Moreto – Sr, Manager Electric &amp;Gas Operations Products​</a:t>
            </a:r>
          </a:p>
          <a:p>
            <a:r>
              <a:rPr lang="en-US" noProof="0">
                <a:latin typeface="Arial" panose="020B0604020202020204" pitchFamily="34" charset="0"/>
                <a:cs typeface="Arial" panose="020B0604020202020204" pitchFamily="34" charset="0"/>
              </a:rPr>
              <a:t>▪  George Porto —  Sr Manager GIS &amp; OSG</a:t>
            </a:r>
          </a:p>
          <a:p>
            <a:r>
              <a:rPr lang="en-US" noProof="0">
                <a:latin typeface="Arial" panose="020B0604020202020204" pitchFamily="34" charset="0"/>
                <a:cs typeface="Arial" panose="020B0604020202020204" pitchFamily="34" charset="0"/>
              </a:rPr>
              <a:t>▪  Sarath Garikapati  — Sr. Manager Corporate Applications</a:t>
            </a:r>
          </a:p>
          <a:p>
            <a:r>
              <a:rPr lang="en-US" noProof="0">
                <a:latin typeface="Arial" panose="020B0604020202020204" pitchFamily="34" charset="0"/>
                <a:cs typeface="Arial" panose="020B0604020202020204" pitchFamily="34" charset="0"/>
              </a:rPr>
              <a:t>▪  Vanessa Colombo —  Manager IT Apps Global SAP</a:t>
            </a:r>
          </a:p>
        </p:txBody>
      </p:sp>
      <p:sp>
        <p:nvSpPr>
          <p:cNvPr id="20" name="Título 2">
            <a:extLst>
              <a:ext uri="{FF2B5EF4-FFF2-40B4-BE49-F238E27FC236}">
                <a16:creationId xmlns:a16="http://schemas.microsoft.com/office/drawing/2014/main" id="{87A1E1C9-E9ED-9199-E505-411CF089AA73}"/>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1" name="Rectangle 20">
            <a:extLst>
              <a:ext uri="{FF2B5EF4-FFF2-40B4-BE49-F238E27FC236}">
                <a16:creationId xmlns:a16="http://schemas.microsoft.com/office/drawing/2014/main" id="{9038726B-54A7-AA56-5690-F6029D8D1B0D}"/>
              </a:ext>
            </a:extLst>
          </p:cNvPr>
          <p:cNvSpPr/>
          <p:nvPr/>
        </p:nvSpPr>
        <p:spPr>
          <a:xfrm>
            <a:off x="6239978" y="298297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8508E7AA-3451-4994-FA24-E7406C313441}"/>
              </a:ext>
            </a:extLst>
          </p:cNvPr>
          <p:cNvSpPr/>
          <p:nvPr/>
        </p:nvSpPr>
        <p:spPr>
          <a:xfrm>
            <a:off x="6239978" y="294884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F064B1DD-1104-4277-0B15-B763E4DD9A0B}"/>
              </a:ext>
            </a:extLst>
          </p:cNvPr>
          <p:cNvSpPr txBox="1"/>
          <p:nvPr/>
        </p:nvSpPr>
        <p:spPr>
          <a:xfrm>
            <a:off x="6417484" y="304015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PRIORITIES TODAY</a:t>
            </a:r>
          </a:p>
        </p:txBody>
      </p:sp>
      <p:sp>
        <p:nvSpPr>
          <p:cNvPr id="24" name="TextBox 23">
            <a:extLst>
              <a:ext uri="{FF2B5EF4-FFF2-40B4-BE49-F238E27FC236}">
                <a16:creationId xmlns:a16="http://schemas.microsoft.com/office/drawing/2014/main" id="{E0985B67-BFE4-F72F-D213-901BBEB99772}"/>
              </a:ext>
            </a:extLst>
          </p:cNvPr>
          <p:cNvSpPr txBox="1"/>
          <p:nvPr/>
        </p:nvSpPr>
        <p:spPr>
          <a:xfrm>
            <a:off x="9447998" y="3029701"/>
            <a:ext cx="257475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Break/fix first, regulatory second, strategic last</a:t>
            </a:r>
          </a:p>
        </p:txBody>
      </p:sp>
      <p:sp>
        <p:nvSpPr>
          <p:cNvPr id="25" name="TextBox 24">
            <a:extLst>
              <a:ext uri="{FF2B5EF4-FFF2-40B4-BE49-F238E27FC236}">
                <a16:creationId xmlns:a16="http://schemas.microsoft.com/office/drawing/2014/main" id="{4D2D3565-6E4E-DFC4-C63D-D0C8B23F1540}"/>
              </a:ext>
            </a:extLst>
          </p:cNvPr>
          <p:cNvSpPr txBox="1"/>
          <p:nvPr/>
        </p:nvSpPr>
        <p:spPr>
          <a:xfrm>
            <a:off x="6425906" y="3437042"/>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GIS: keep the lights on; team &amp; SWF resource management; future technology roadmap.</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Corporate: regulatory and employee-facing systems — always priority; continuous new requirements.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G&amp;E: ProjectWise + Microstation upgrades; third-party risk interface; business case approvals (slow).</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Global SAP: incident volume dominates — strategic projects slip; 1-year hiring lag amplifies load.</a:t>
            </a:r>
          </a:p>
        </p:txBody>
      </p:sp>
      <p:sp>
        <p:nvSpPr>
          <p:cNvPr id="19" name="Rectangle: Rounded Corners 18">
            <a:extLst>
              <a:ext uri="{FF2B5EF4-FFF2-40B4-BE49-F238E27FC236}">
                <a16:creationId xmlns:a16="http://schemas.microsoft.com/office/drawing/2014/main" id="{9025065E-0173-73DF-21A9-D9B15C9248F6}"/>
              </a:ext>
            </a:extLst>
          </p:cNvPr>
          <p:cNvSpPr/>
          <p:nvPr/>
        </p:nvSpPr>
        <p:spPr>
          <a:xfrm>
            <a:off x="5336339" y="17158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IT Business Apps</a:t>
            </a:r>
          </a:p>
        </p:txBody>
      </p:sp>
      <p:sp>
        <p:nvSpPr>
          <p:cNvPr id="26" name="Rectangle: Rounded Corners 25">
            <a:extLst>
              <a:ext uri="{FF2B5EF4-FFF2-40B4-BE49-F238E27FC236}">
                <a16:creationId xmlns:a16="http://schemas.microsoft.com/office/drawing/2014/main" id="{F3A570A3-038F-302C-8CB9-11F785C6B2FD}"/>
              </a:ext>
            </a:extLst>
          </p:cNvPr>
          <p:cNvSpPr/>
          <p:nvPr/>
        </p:nvSpPr>
        <p:spPr>
          <a:xfrm>
            <a:off x="7068491"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27" name="Rectangle: Rounded Corners 26">
            <a:extLst>
              <a:ext uri="{FF2B5EF4-FFF2-40B4-BE49-F238E27FC236}">
                <a16:creationId xmlns:a16="http://schemas.microsoft.com/office/drawing/2014/main" id="{5FF38DE1-79F7-A22B-E13F-75D01B7C1C75}"/>
              </a:ext>
            </a:extLst>
          </p:cNvPr>
          <p:cNvSpPr/>
          <p:nvPr/>
        </p:nvSpPr>
        <p:spPr>
          <a:xfrm>
            <a:off x="8800643" y="173010"/>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Product Management</a:t>
            </a:r>
          </a:p>
        </p:txBody>
      </p:sp>
      <p:sp>
        <p:nvSpPr>
          <p:cNvPr id="28" name="Rectangle 27">
            <a:extLst>
              <a:ext uri="{FF2B5EF4-FFF2-40B4-BE49-F238E27FC236}">
                <a16:creationId xmlns:a16="http://schemas.microsoft.com/office/drawing/2014/main" id="{9F9252C8-4640-7D22-633B-B2E818437513}"/>
              </a:ext>
            </a:extLst>
          </p:cNvPr>
          <p:cNvSpPr/>
          <p:nvPr/>
        </p:nvSpPr>
        <p:spPr>
          <a:xfrm>
            <a:off x="422329" y="4566144"/>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CuadroTexto 204">
            <a:extLst>
              <a:ext uri="{FF2B5EF4-FFF2-40B4-BE49-F238E27FC236}">
                <a16:creationId xmlns:a16="http://schemas.microsoft.com/office/drawing/2014/main" id="{C81C6F95-F0EE-1806-F4F5-EAE94BDC3F75}"/>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t>IT Business Applications runs Avangrid's non-SAP operational backbone — four teams supporting Electric &amp; Gas, GIS, Corporate and Iberdrola Global SAP.</a:t>
            </a:r>
          </a:p>
        </p:txBody>
      </p:sp>
    </p:spTree>
    <p:extLst>
      <p:ext uri="{BB962C8B-B14F-4D97-AF65-F5344CB8AC3E}">
        <p14:creationId xmlns:p14="http://schemas.microsoft.com/office/powerpoint/2010/main" val="2949244577"/>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6D88-8B12-E50D-3822-550D360AFC17}"/>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7C7F80EA-429D-C149-0AF8-B588F2498125}"/>
              </a:ext>
            </a:extLst>
          </p:cNvPr>
          <p:cNvSpPr/>
          <p:nvPr/>
        </p:nvSpPr>
        <p:spPr>
          <a:xfrm>
            <a:off x="180918" y="6400800"/>
            <a:ext cx="6236566" cy="397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8">
            <a:extLst>
              <a:ext uri="{FF2B5EF4-FFF2-40B4-BE49-F238E27FC236}">
                <a16:creationId xmlns:a16="http://schemas.microsoft.com/office/drawing/2014/main" id="{E10663A1-95A3-6A11-43CB-D592C20A7A4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F6B038AA-B292-7609-69DC-C00E7B655E40}"/>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D3A25A4C-2B61-80AF-4383-FCF17B37F78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072E093E-432C-FD12-498F-29B9DCE4F11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D958FC71-41E7-AB87-8657-6B8A8D4303CB}"/>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3F3E35D2-58F5-D3FB-5E0B-C17FF2A0BBD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5360DE0D-62BB-4EF4-BAEA-1A71AFFAA323}"/>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27EB1502-5586-1B9F-0528-A1CAD9F6922F}"/>
              </a:ext>
            </a:extLst>
          </p:cNvPr>
          <p:cNvSpPr/>
          <p:nvPr/>
        </p:nvSpPr>
        <p:spPr>
          <a:xfrm>
            <a:off x="433112" y="2928323"/>
            <a:ext cx="5623560" cy="166529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dirty="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7650414-C683-8872-818E-19E1F3A5A10E}"/>
              </a:ext>
            </a:extLst>
          </p:cNvPr>
          <p:cNvSpPr/>
          <p:nvPr/>
        </p:nvSpPr>
        <p:spPr>
          <a:xfrm>
            <a:off x="441935" y="2940093"/>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AD3A390C-6D85-577A-B375-214B2885956D}"/>
              </a:ext>
            </a:extLst>
          </p:cNvPr>
          <p:cNvSpPr/>
          <p:nvPr/>
        </p:nvSpPr>
        <p:spPr>
          <a:xfrm>
            <a:off x="6226342" y="1394929"/>
            <a:ext cx="5623560" cy="24415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8F563FE5-C383-04BA-F4D3-C6FA1FC25FF1}"/>
              </a:ext>
            </a:extLst>
          </p:cNvPr>
          <p:cNvSpPr/>
          <p:nvPr/>
        </p:nvSpPr>
        <p:spPr>
          <a:xfrm>
            <a:off x="6226342"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335A9BA0-A251-A74C-E388-7709238C48F3}"/>
              </a:ext>
            </a:extLst>
          </p:cNvPr>
          <p:cNvSpPr/>
          <p:nvPr/>
        </p:nvSpPr>
        <p:spPr>
          <a:xfrm>
            <a:off x="441935" y="4779528"/>
            <a:ext cx="5623560" cy="1871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697294D1-4F9B-9EE2-FAF5-E6AA1FD313D4}"/>
              </a:ext>
            </a:extLst>
          </p:cNvPr>
          <p:cNvSpPr/>
          <p:nvPr/>
        </p:nvSpPr>
        <p:spPr>
          <a:xfrm>
            <a:off x="417872" y="139492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1C132FA-B6E9-6EFC-154A-A5FC099FE05B}"/>
              </a:ext>
            </a:extLst>
          </p:cNvPr>
          <p:cNvSpPr/>
          <p:nvPr/>
        </p:nvSpPr>
        <p:spPr>
          <a:xfrm>
            <a:off x="417872"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1" name="TextBox 150">
            <a:extLst>
              <a:ext uri="{FF2B5EF4-FFF2-40B4-BE49-F238E27FC236}">
                <a16:creationId xmlns:a16="http://schemas.microsoft.com/office/drawing/2014/main" id="{7A60BF0C-8144-5241-472C-AA7F54AAC201}"/>
              </a:ext>
            </a:extLst>
          </p:cNvPr>
          <p:cNvSpPr txBox="1"/>
          <p:nvPr/>
        </p:nvSpPr>
        <p:spPr>
          <a:xfrm>
            <a:off x="3485323" y="1450880"/>
            <a:ext cx="2521859" cy="140488"/>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Customer-facing SAP + metering + contact center</a:t>
            </a:r>
          </a:p>
        </p:txBody>
      </p:sp>
      <p:sp>
        <p:nvSpPr>
          <p:cNvPr id="158" name="TextBox 157">
            <a:extLst>
              <a:ext uri="{FF2B5EF4-FFF2-40B4-BE49-F238E27FC236}">
                <a16:creationId xmlns:a16="http://schemas.microsoft.com/office/drawing/2014/main" id="{8FE5C472-A9CF-C9CA-DCEC-7FE94F0A5759}"/>
              </a:ext>
            </a:extLst>
          </p:cNvPr>
          <p:cNvSpPr txBox="1"/>
          <p:nvPr/>
        </p:nvSpPr>
        <p:spPr>
          <a:xfrm>
            <a:off x="619441" y="4819496"/>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TEAMS UNDER KUMAR - </a:t>
            </a:r>
          </a:p>
        </p:txBody>
      </p:sp>
      <p:sp>
        <p:nvSpPr>
          <p:cNvPr id="159" name="TextBox 158">
            <a:extLst>
              <a:ext uri="{FF2B5EF4-FFF2-40B4-BE49-F238E27FC236}">
                <a16:creationId xmlns:a16="http://schemas.microsoft.com/office/drawing/2014/main" id="{42FC4BB0-3C4C-E590-50C3-2250B617DE41}"/>
              </a:ext>
            </a:extLst>
          </p:cNvPr>
          <p:cNvSpPr txBox="1"/>
          <p:nvPr/>
        </p:nvSpPr>
        <p:spPr>
          <a:xfrm>
            <a:off x="4144578" y="4813587"/>
            <a:ext cx="5257800" cy="140489"/>
          </a:xfrm>
          <a:prstGeom prst="rect">
            <a:avLst/>
          </a:prstGeom>
          <a:noFill/>
        </p:spPr>
        <p:txBody>
          <a:bodyPr wrap="square" lIns="0" tIns="0" rIns="0" bIns="0" anchor="t">
            <a:spAutoFit/>
          </a:bodyPr>
          <a:lstStyle/>
          <a:p>
            <a:pPr>
              <a:lnSpc>
                <a:spcPct val="110000"/>
              </a:lnSpc>
            </a:pPr>
            <a:r>
              <a:rPr lang="en-US" sz="900" i="1" noProof="0" dirty="0">
                <a:solidFill>
                  <a:schemeClr val="accent1"/>
                </a:solidFill>
                <a:latin typeface="Arial" panose="020B0604020202020204" pitchFamily="34" charset="0"/>
                <a:cs typeface="Arial" panose="020B0604020202020204" pitchFamily="34" charset="0"/>
              </a:rPr>
              <a:t>5 sub-teams, heterogeneous maturity</a:t>
            </a:r>
          </a:p>
        </p:txBody>
      </p:sp>
      <p:sp>
        <p:nvSpPr>
          <p:cNvPr id="10" name="TextBox 9">
            <a:extLst>
              <a:ext uri="{FF2B5EF4-FFF2-40B4-BE49-F238E27FC236}">
                <a16:creationId xmlns:a16="http://schemas.microsoft.com/office/drawing/2014/main" id="{7D683193-28DC-2B5A-4AEE-5C9F4B9E6D40}"/>
              </a:ext>
            </a:extLst>
          </p:cNvPr>
          <p:cNvSpPr txBox="1"/>
          <p:nvPr/>
        </p:nvSpPr>
        <p:spPr>
          <a:xfrm>
            <a:off x="0" y="1965449"/>
            <a:ext cx="11274552" cy="424533"/>
          </a:xfrm>
          <a:prstGeom prst="rect">
            <a:avLst/>
          </a:prstGeom>
          <a:noFill/>
        </p:spPr>
        <p:txBody>
          <a:bodyPr wrap="square" lIns="0" tIns="0" rIns="0" bIns="0" rtlCol="0" anchor="t">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l"/>
            <a:endParaRPr lang="en-US" noProof="0"/>
          </a:p>
        </p:txBody>
      </p:sp>
      <p:sp>
        <p:nvSpPr>
          <p:cNvPr id="6" name="TextBox 5">
            <a:extLst>
              <a:ext uri="{FF2B5EF4-FFF2-40B4-BE49-F238E27FC236}">
                <a16:creationId xmlns:a16="http://schemas.microsoft.com/office/drawing/2014/main" id="{57E65968-50A0-0E72-47BB-BE3D5AC500C3}"/>
              </a:ext>
            </a:extLst>
          </p:cNvPr>
          <p:cNvSpPr txBox="1"/>
          <p:nvPr/>
        </p:nvSpPr>
        <p:spPr>
          <a:xfrm>
            <a:off x="619040" y="1719499"/>
            <a:ext cx="5257800" cy="1206933"/>
          </a:xfrm>
          <a:prstGeom prst="rect">
            <a:avLst/>
          </a:prstGeom>
          <a:noFill/>
        </p:spPr>
        <p:txBody>
          <a:bodyPr wrap="square" lIns="0" tIns="0" rIns="0" bIns="0" anchor="t">
            <a:spAutoFit/>
          </a:bodyPr>
          <a:lstStyle/>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Meter-to-Cash </a:t>
            </a:r>
            <a:r>
              <a:rPr lang="en-US" sz="900" b="0" i="0" noProof="0">
                <a:latin typeface="Arial" panose="020B0604020202020204" pitchFamily="34" charset="0"/>
                <a:cs typeface="Arial" panose="020B0604020202020204" pitchFamily="34" charset="0"/>
              </a:rPr>
              <a:t>backbone for end-customers across 7 OPCOs — every kWh consumed is metered, billed and collected through these systems</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SAP </a:t>
            </a:r>
            <a:r>
              <a:rPr lang="en-US" sz="900" b="0" i="0" noProof="0">
                <a:latin typeface="Arial" panose="020B0604020202020204" pitchFamily="34" charset="0"/>
                <a:cs typeface="Arial" panose="020B0604020202020204" pitchFamily="34" charset="0"/>
              </a:rPr>
              <a:t>(Avangrid US) — Billing, FICA, CRM, Metering modules; distinct stack from Global SAP (Iberdrola Spain)</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Regulated </a:t>
            </a:r>
            <a:r>
              <a:rPr lang="en-US" sz="900" b="0" i="0" noProof="0">
                <a:latin typeface="Arial" panose="020B0604020202020204" pitchFamily="34" charset="0"/>
                <a:cs typeface="Arial" panose="020B0604020202020204" pitchFamily="34" charset="0"/>
              </a:rPr>
              <a:t>environment — each state PUC (CT, ME, NY) imposes its own rate cases, billing rules and reporting cycles</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Demand </a:t>
            </a:r>
            <a:r>
              <a:rPr lang="en-US" sz="900" b="0" i="0" noProof="0">
                <a:latin typeface="Arial" panose="020B0604020202020204" pitchFamily="34" charset="0"/>
                <a:cs typeface="Arial" panose="020B0604020202020204" pitchFamily="34" charset="0"/>
              </a:rPr>
              <a:t>sourced: BRS (OPCO business demand) · PMO (capex projects) · Business Areas</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Software </a:t>
            </a:r>
            <a:r>
              <a:rPr lang="en-US" sz="900" b="0" i="0" noProof="0">
                <a:latin typeface="Arial" panose="020B0604020202020204" pitchFamily="34" charset="0"/>
                <a:cs typeface="Arial" panose="020B0604020202020204" pitchFamily="34" charset="0"/>
              </a:rPr>
              <a:t>Factory (SWF) executes; Accenture supports incidents and large projects</a:t>
            </a:r>
          </a:p>
        </p:txBody>
      </p:sp>
      <p:sp>
        <p:nvSpPr>
          <p:cNvPr id="14" name="TextBox 13">
            <a:extLst>
              <a:ext uri="{FF2B5EF4-FFF2-40B4-BE49-F238E27FC236}">
                <a16:creationId xmlns:a16="http://schemas.microsoft.com/office/drawing/2014/main" id="{0FD2772E-74FF-6386-5944-2F8EA3E400DC}"/>
              </a:ext>
            </a:extLst>
          </p:cNvPr>
          <p:cNvSpPr txBox="1"/>
          <p:nvPr/>
        </p:nvSpPr>
        <p:spPr>
          <a:xfrm>
            <a:off x="627863" y="5139090"/>
            <a:ext cx="5257800" cy="1511632"/>
          </a:xfrm>
          <a:prstGeom prst="rect">
            <a:avLst/>
          </a:prstGeom>
          <a:noFill/>
        </p:spPr>
        <p:txBody>
          <a:bodyPr wrap="square" lIns="0" tIns="0" rIns="0" bIns="0" anchor="t">
            <a:spAutoFit/>
          </a:bodyPr>
          <a:lstStyle/>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Ivelisse Velazquez — FICA, Billing &amp; Collection  —  The "Cash" of M2C — invoicing, payment processing, collections, dunning across 7 OPCOs</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Vincent Lam — Device &amp; Metering (Iram Chowdhury / Smart Metering sits here)  —  The "Meter" of M2C — meter data acquisition, regulatory smart-meter rollout</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Nagi Reddy — SAP Basi  —  Platform foundation — landscape, transports, security, performance — Billing/CRM/Metering can't run a single bill without it</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TBD (vacant)  —  Sr. Manager CRM &amp; Contact Center Ops  — Customer interaction — every call, service request, complaint and account-management touchpoint with the customer</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Open (vacant)  —  Sr. Manager SAP &amp; CS Architecture (~2 FTE) — Multi-OPCO architectural coherence — without it, every cross-OPCO design decision becomes tribal and inconsistent</a:t>
            </a:r>
          </a:p>
        </p:txBody>
      </p:sp>
      <p:sp>
        <p:nvSpPr>
          <p:cNvPr id="16" name="TextBox 15">
            <a:extLst>
              <a:ext uri="{FF2B5EF4-FFF2-40B4-BE49-F238E27FC236}">
                <a16:creationId xmlns:a16="http://schemas.microsoft.com/office/drawing/2014/main" id="{C2418FF3-B3A7-4FAD-7E56-1E77123BDDBD}"/>
              </a:ext>
            </a:extLst>
          </p:cNvPr>
          <p:cNvSpPr txBox="1"/>
          <p:nvPr/>
        </p:nvSpPr>
        <p:spPr>
          <a:xfrm>
            <a:off x="619040" y="3297565"/>
            <a:ext cx="5257800" cy="1206933"/>
          </a:xfrm>
          <a:prstGeom prst="rect">
            <a:avLst/>
          </a:prstGeom>
          <a:noFill/>
        </p:spPr>
        <p:txBody>
          <a:bodyPr wrap="square" lIns="0" tIns="0" rIns="0" bIns="0" anchor="t">
            <a:spAutoFit/>
          </a:bodyPr>
          <a:lstStyle/>
          <a:p>
            <a:pPr marL="171450" indent="-171450" algn="l">
              <a:lnSpc>
                <a:spcPct val="110000"/>
              </a:lnSpc>
              <a:spcBef>
                <a:spcPts val="0"/>
              </a:spcBef>
              <a:spcAft>
                <a:spcPts val="0"/>
              </a:spcAft>
              <a:buFont typeface="Arial" panose="020B0604020202020204" pitchFamily="34" charset="0"/>
              <a:buChar char="•"/>
            </a:pPr>
            <a:r>
              <a:rPr lang="en-US" sz="900" b="0" i="0" noProof="0">
                <a:latin typeface="Arial" panose="020B0604020202020204" pitchFamily="34" charset="0"/>
                <a:cs typeface="Arial" panose="020B0604020202020204" pitchFamily="34" charset="0"/>
              </a:rPr>
              <a:t>Small/medium business demand (price changes, new tariff types, dunning rules) → BRS → Jira</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Large capex projects (S/4 Hana, smart-meter rollout, CRM upgrades) → PMO → PPM Now → SharePoint + Teams</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Incidents (billing run failures, payment processing errors, meter data gaps) → IT Now (template) </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Cross-team interactions: Kumar (PMO + IT) ↔ BRS leads (business demand) ↔ Vanessa Colombo (Global SAP integration points)</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Vendor concentration: Smart Metering = 100% vendor-delivered (requirements + code); other teams rely on Accenture + SWF muscle</a:t>
            </a:r>
          </a:p>
        </p:txBody>
      </p:sp>
      <p:sp>
        <p:nvSpPr>
          <p:cNvPr id="18" name="TextBox 17">
            <a:extLst>
              <a:ext uri="{FF2B5EF4-FFF2-40B4-BE49-F238E27FC236}">
                <a16:creationId xmlns:a16="http://schemas.microsoft.com/office/drawing/2014/main" id="{ED32357B-67F3-2CA6-2745-5C34895527FA}"/>
              </a:ext>
            </a:extLst>
          </p:cNvPr>
          <p:cNvSpPr txBox="1"/>
          <p:nvPr/>
        </p:nvSpPr>
        <p:spPr>
          <a:xfrm>
            <a:off x="6418045" y="1716444"/>
            <a:ext cx="5257800" cy="186974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Helvetica Neue"/>
              </a:defRPr>
            </a:lvl1pPr>
          </a:lstStyle>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Meter</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(devices · data acquisition)</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Group 8760 (EDI) · SAP CRM (Front-office device events)</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Bill</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(invoice generation · pricing)</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SAP ECC · StreamServe (invoice formatting )</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Collect</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(payments · dunning · tax)</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SOVOS Taxware (tax/compliance) · Precisely (Pitney Bowes — address validation · mailing)</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Customer Interaction</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(CX layer)</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HCL-Nuance (customer-service IVR) · Medallia VHT (customer feedback) · Infosys (managed services)</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Platform &amp; Operations</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Gold Client (data management) · SAP WPB Enable Now (training · adoption) · Blue Prism (RPA · process automation) · SAP Tricentis TOSCA (test automation)</a:t>
            </a:r>
          </a:p>
        </p:txBody>
      </p:sp>
      <p:sp>
        <p:nvSpPr>
          <p:cNvPr id="21" name="Título 2">
            <a:extLst>
              <a:ext uri="{FF2B5EF4-FFF2-40B4-BE49-F238E27FC236}">
                <a16:creationId xmlns:a16="http://schemas.microsoft.com/office/drawing/2014/main" id="{FB3CA0D8-C5E1-5DD2-068E-D339658DD19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2" name="Rectangle 21">
            <a:extLst>
              <a:ext uri="{FF2B5EF4-FFF2-40B4-BE49-F238E27FC236}">
                <a16:creationId xmlns:a16="http://schemas.microsoft.com/office/drawing/2014/main" id="{7FEC840E-E3AB-02C8-E7AD-2AEF041429B1}"/>
              </a:ext>
            </a:extLst>
          </p:cNvPr>
          <p:cNvSpPr/>
          <p:nvPr/>
        </p:nvSpPr>
        <p:spPr>
          <a:xfrm>
            <a:off x="6223294" y="3944569"/>
            <a:ext cx="5623560" cy="13790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3F3892EA-C7FD-5B37-4B9A-7C5C029D488E}"/>
              </a:ext>
            </a:extLst>
          </p:cNvPr>
          <p:cNvSpPr txBox="1"/>
          <p:nvPr/>
        </p:nvSpPr>
        <p:spPr>
          <a:xfrm>
            <a:off x="6423419" y="4264423"/>
            <a:ext cx="5257800" cy="1054584"/>
          </a:xfrm>
          <a:prstGeom prst="rect">
            <a:avLst/>
          </a:prstGeom>
          <a:noFill/>
        </p:spPr>
        <p:txBody>
          <a:bodyPr wrap="square" lIns="0" tIns="0" rIns="0" bIns="0" anchor="t">
            <a:spAutoFit/>
          </a:bodyPr>
          <a:lstStyle/>
          <a:p>
            <a:pPr marL="171450" indent="-171450" algn="l">
              <a:lnSpc>
                <a:spcPct val="110000"/>
              </a:lnSpc>
              <a:spcBef>
                <a:spcPts val="0"/>
              </a:spcBef>
              <a:spcAft>
                <a:spcPts val="0"/>
              </a:spcAft>
              <a:buFont typeface="Arial" panose="020B0604020202020204" pitchFamily="34" charset="0"/>
              <a:buChar char="•"/>
            </a:pPr>
            <a:r>
              <a:rPr lang="en-US" sz="900" b="0" i="0" noProof="0" dirty="0">
                <a:latin typeface="Arial" panose="020B0604020202020204" pitchFamily="34" charset="0"/>
                <a:cs typeface="Arial" panose="020B0604020202020204" pitchFamily="34" charset="0"/>
              </a:rPr>
              <a:t>S/4 Hana Migration — multi-year program touching all 7 OPCOs simultaneously (largest single initiative)</a:t>
            </a:r>
          </a:p>
          <a:p>
            <a:pPr marL="171450" indent="-171450" algn="l">
              <a:lnSpc>
                <a:spcPct val="110000"/>
              </a:lnSpc>
              <a:spcBef>
                <a:spcPts val="0"/>
              </a:spcBef>
              <a:spcAft>
                <a:spcPts val="0"/>
              </a:spcAft>
              <a:buFont typeface="Arial" panose="020B0604020202020204" pitchFamily="34" charset="0"/>
              <a:buChar char="•"/>
            </a:pPr>
            <a:r>
              <a:rPr lang="en-US" sz="900" b="0" i="0" noProof="0" dirty="0">
                <a:latin typeface="Arial" panose="020B0604020202020204" pitchFamily="34" charset="0"/>
                <a:cs typeface="Arial" panose="020B0604020202020204" pitchFamily="34" charset="0"/>
              </a:rPr>
              <a:t>M2C reliability — every billing day is a hard deadline; incident impact = customer + revenue + regulatory triple hit</a:t>
            </a:r>
          </a:p>
          <a:p>
            <a:pPr marL="171450" indent="-171450" algn="l">
              <a:lnSpc>
                <a:spcPct val="110000"/>
              </a:lnSpc>
              <a:spcBef>
                <a:spcPts val="0"/>
              </a:spcBef>
              <a:spcAft>
                <a:spcPts val="0"/>
              </a:spcAft>
              <a:buFont typeface="Arial" panose="020B0604020202020204" pitchFamily="34" charset="0"/>
              <a:buChar char="•"/>
            </a:pPr>
            <a:r>
              <a:rPr lang="en-US" sz="900" b="0" i="0" noProof="0" dirty="0">
                <a:latin typeface="Arial" panose="020B0604020202020204" pitchFamily="34" charset="0"/>
                <a:cs typeface="Arial" panose="020B0604020202020204" pitchFamily="34" charset="0"/>
              </a:rPr>
              <a:t>OPCO-specific demand — each of the OPCOs brings its own backlog through BRS; multi-OPCO contention is daily</a:t>
            </a:r>
          </a:p>
          <a:p>
            <a:pPr algn="l">
              <a:lnSpc>
                <a:spcPct val="110000"/>
              </a:lnSpc>
              <a:spcBef>
                <a:spcPts val="0"/>
              </a:spcBef>
              <a:spcAft>
                <a:spcPts val="0"/>
              </a:spcAft>
            </a:pPr>
            <a:endParaRPr lang="en-US" sz="900" b="0" i="0" noProof="0" dirty="0">
              <a:latin typeface="Arial" panose="020B0604020202020204" pitchFamily="34" charset="0"/>
              <a:cs typeface="Arial" panose="020B0604020202020204" pitchFamily="34" charset="0"/>
            </a:endParaRPr>
          </a:p>
        </p:txBody>
      </p:sp>
      <p:sp>
        <p:nvSpPr>
          <p:cNvPr id="2" name="Rectangle: Rounded Corners 1">
            <a:extLst>
              <a:ext uri="{FF2B5EF4-FFF2-40B4-BE49-F238E27FC236}">
                <a16:creationId xmlns:a16="http://schemas.microsoft.com/office/drawing/2014/main" id="{4B16D0AF-2503-B415-7C2D-1CD2F266B4DD}"/>
              </a:ext>
            </a:extLst>
          </p:cNvPr>
          <p:cNvSpPr/>
          <p:nvPr/>
        </p:nvSpPr>
        <p:spPr>
          <a:xfrm>
            <a:off x="5336339"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IT Business Apps</a:t>
            </a:r>
          </a:p>
        </p:txBody>
      </p:sp>
      <p:sp>
        <p:nvSpPr>
          <p:cNvPr id="20" name="Rectangle: Rounded Corners 19">
            <a:extLst>
              <a:ext uri="{FF2B5EF4-FFF2-40B4-BE49-F238E27FC236}">
                <a16:creationId xmlns:a16="http://schemas.microsoft.com/office/drawing/2014/main" id="{830E5919-D3A5-78B0-FFDE-A4B7138AE0E7}"/>
              </a:ext>
            </a:extLst>
          </p:cNvPr>
          <p:cNvSpPr/>
          <p:nvPr/>
        </p:nvSpPr>
        <p:spPr>
          <a:xfrm>
            <a:off x="7068491" y="17158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Customer Services Apps</a:t>
            </a:r>
          </a:p>
        </p:txBody>
      </p:sp>
      <p:sp>
        <p:nvSpPr>
          <p:cNvPr id="27" name="Rectangle: Rounded Corners 26">
            <a:extLst>
              <a:ext uri="{FF2B5EF4-FFF2-40B4-BE49-F238E27FC236}">
                <a16:creationId xmlns:a16="http://schemas.microsoft.com/office/drawing/2014/main" id="{B7913753-49B7-8944-EFAB-B1BCD44DDD25}"/>
              </a:ext>
            </a:extLst>
          </p:cNvPr>
          <p:cNvSpPr/>
          <p:nvPr/>
        </p:nvSpPr>
        <p:spPr>
          <a:xfrm>
            <a:off x="8800643" y="173010"/>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Product Management</a:t>
            </a:r>
          </a:p>
        </p:txBody>
      </p:sp>
      <p:sp>
        <p:nvSpPr>
          <p:cNvPr id="29" name="Rectangle 28">
            <a:extLst>
              <a:ext uri="{FF2B5EF4-FFF2-40B4-BE49-F238E27FC236}">
                <a16:creationId xmlns:a16="http://schemas.microsoft.com/office/drawing/2014/main" id="{FF07B8A0-ABDE-0DD9-BECB-E726E69CD42E}"/>
              </a:ext>
            </a:extLst>
          </p:cNvPr>
          <p:cNvSpPr/>
          <p:nvPr/>
        </p:nvSpPr>
        <p:spPr>
          <a:xfrm>
            <a:off x="6220301" y="3909632"/>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75F5689-2EFC-C0FA-FB08-421EBDAD5B78}"/>
              </a:ext>
            </a:extLst>
          </p:cNvPr>
          <p:cNvSpPr txBox="1"/>
          <p:nvPr/>
        </p:nvSpPr>
        <p:spPr>
          <a:xfrm>
            <a:off x="619040"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NATURE OF WORK</a:t>
            </a:r>
          </a:p>
        </p:txBody>
      </p:sp>
      <p:sp>
        <p:nvSpPr>
          <p:cNvPr id="19" name="TextBox 18">
            <a:extLst>
              <a:ext uri="{FF2B5EF4-FFF2-40B4-BE49-F238E27FC236}">
                <a16:creationId xmlns:a16="http://schemas.microsoft.com/office/drawing/2014/main" id="{1491761E-B134-4782-F3C0-9258486BCD84}"/>
              </a:ext>
            </a:extLst>
          </p:cNvPr>
          <p:cNvSpPr txBox="1"/>
          <p:nvPr/>
        </p:nvSpPr>
        <p:spPr>
          <a:xfrm>
            <a:off x="6400800"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APPLICATIONS IN SCOPE</a:t>
            </a:r>
          </a:p>
        </p:txBody>
      </p:sp>
      <p:sp>
        <p:nvSpPr>
          <p:cNvPr id="23" name="TextBox 22">
            <a:extLst>
              <a:ext uri="{FF2B5EF4-FFF2-40B4-BE49-F238E27FC236}">
                <a16:creationId xmlns:a16="http://schemas.microsoft.com/office/drawing/2014/main" id="{C9C5F43C-6E9E-993B-8749-8B35228BF401}"/>
              </a:ext>
            </a:extLst>
          </p:cNvPr>
          <p:cNvSpPr txBox="1"/>
          <p:nvPr/>
        </p:nvSpPr>
        <p:spPr>
          <a:xfrm>
            <a:off x="592330" y="303433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WAY OF WORKING  &amp;  INTERACTIONS</a:t>
            </a:r>
          </a:p>
        </p:txBody>
      </p:sp>
      <p:sp>
        <p:nvSpPr>
          <p:cNvPr id="31" name="TextBox 30">
            <a:extLst>
              <a:ext uri="{FF2B5EF4-FFF2-40B4-BE49-F238E27FC236}">
                <a16:creationId xmlns:a16="http://schemas.microsoft.com/office/drawing/2014/main" id="{4CE28184-1BAB-01D7-C07B-B86351CB315F}"/>
              </a:ext>
            </a:extLst>
          </p:cNvPr>
          <p:cNvSpPr txBox="1"/>
          <p:nvPr/>
        </p:nvSpPr>
        <p:spPr>
          <a:xfrm>
            <a:off x="6417484" y="402996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PRIORITIES TODAY</a:t>
            </a:r>
          </a:p>
        </p:txBody>
      </p:sp>
      <p:sp>
        <p:nvSpPr>
          <p:cNvPr id="32" name="Rectangle 31">
            <a:extLst>
              <a:ext uri="{FF2B5EF4-FFF2-40B4-BE49-F238E27FC236}">
                <a16:creationId xmlns:a16="http://schemas.microsoft.com/office/drawing/2014/main" id="{11883525-C413-7758-6043-32187B109739}"/>
              </a:ext>
            </a:extLst>
          </p:cNvPr>
          <p:cNvSpPr/>
          <p:nvPr/>
        </p:nvSpPr>
        <p:spPr>
          <a:xfrm>
            <a:off x="441935" y="4725991"/>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CuadroTexto 204">
            <a:extLst>
              <a:ext uri="{FF2B5EF4-FFF2-40B4-BE49-F238E27FC236}">
                <a16:creationId xmlns:a16="http://schemas.microsoft.com/office/drawing/2014/main" id="{559E1A10-0442-7B5A-7928-3BE587F863BD}"/>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Customer Services Apps owns the Meter-to-Cash (M2C) value chain for the OPCOs — from meter reading through invoicing, customer interaction and cash collection — anchored on SAP (Billing · FICA · CRM · Metering)</a:t>
            </a:r>
          </a:p>
        </p:txBody>
      </p:sp>
    </p:spTree>
    <p:extLst>
      <p:ext uri="{BB962C8B-B14F-4D97-AF65-F5344CB8AC3E}">
        <p14:creationId xmlns:p14="http://schemas.microsoft.com/office/powerpoint/2010/main" val="4216735888"/>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89C9-5E42-2768-5EEB-73843B14AE49}"/>
            </a:ext>
          </a:extLst>
        </p:cNvPr>
        <p:cNvGrpSpPr/>
        <p:nvPr/>
      </p:nvGrpSpPr>
      <p:grpSpPr>
        <a:xfrm>
          <a:off x="0" y="0"/>
          <a:ext cx="0" cy="0"/>
          <a:chOff x="0" y="0"/>
          <a:chExt cx="0" cy="0"/>
        </a:xfrm>
      </p:grpSpPr>
      <p:sp>
        <p:nvSpPr>
          <p:cNvPr id="139" name="Rectangle 138">
            <a:extLst>
              <a:ext uri="{FF2B5EF4-FFF2-40B4-BE49-F238E27FC236}">
                <a16:creationId xmlns:a16="http://schemas.microsoft.com/office/drawing/2014/main" id="{15DB2CAD-810C-5141-58E4-21D479A7642D}"/>
              </a:ext>
            </a:extLst>
          </p:cNvPr>
          <p:cNvSpPr/>
          <p:nvPr/>
        </p:nvSpPr>
        <p:spPr>
          <a:xfrm>
            <a:off x="6226342" y="1427179"/>
            <a:ext cx="5623560" cy="22278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C4B0931-B1EF-5768-DC64-2862442FF83C}"/>
              </a:ext>
            </a:extLst>
          </p:cNvPr>
          <p:cNvSpPr/>
          <p:nvPr/>
        </p:nvSpPr>
        <p:spPr>
          <a:xfrm>
            <a:off x="6226342" y="139304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5" name="Rectangle 144">
            <a:extLst>
              <a:ext uri="{FF2B5EF4-FFF2-40B4-BE49-F238E27FC236}">
                <a16:creationId xmlns:a16="http://schemas.microsoft.com/office/drawing/2014/main" id="{84EF500E-57AE-7121-0A66-A9394F7B3F0C}"/>
              </a:ext>
            </a:extLst>
          </p:cNvPr>
          <p:cNvSpPr/>
          <p:nvPr/>
        </p:nvSpPr>
        <p:spPr>
          <a:xfrm>
            <a:off x="433112" y="2865790"/>
            <a:ext cx="5623560" cy="118091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6" name="Rectangle 145">
            <a:extLst>
              <a:ext uri="{FF2B5EF4-FFF2-40B4-BE49-F238E27FC236}">
                <a16:creationId xmlns:a16="http://schemas.microsoft.com/office/drawing/2014/main" id="{5E9AC48B-2EB1-BB97-628F-C729A923183C}"/>
              </a:ext>
            </a:extLst>
          </p:cNvPr>
          <p:cNvSpPr/>
          <p:nvPr/>
        </p:nvSpPr>
        <p:spPr>
          <a:xfrm>
            <a:off x="433112" y="283165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788E88CB-CDBE-625B-F0EC-5FDC1C4BA21C}"/>
              </a:ext>
            </a:extLst>
          </p:cNvPr>
          <p:cNvSpPr/>
          <p:nvPr/>
        </p:nvSpPr>
        <p:spPr>
          <a:xfrm>
            <a:off x="417872" y="1413969"/>
            <a:ext cx="5623560" cy="12805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F41F4DC-6711-3528-4DE9-851C60E75CE8}"/>
              </a:ext>
            </a:extLst>
          </p:cNvPr>
          <p:cNvSpPr/>
          <p:nvPr/>
        </p:nvSpPr>
        <p:spPr>
          <a:xfrm>
            <a:off x="417872" y="137983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1F44540A-66FE-7ADF-C91C-9476B0FD209B}"/>
              </a:ext>
            </a:extLst>
          </p:cNvPr>
          <p:cNvSpPr txBox="1"/>
          <p:nvPr/>
        </p:nvSpPr>
        <p:spPr>
          <a:xfrm>
            <a:off x="619040" y="1493817"/>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ROLE &amp; INTENDED MANDATE</a:t>
            </a:r>
          </a:p>
        </p:txBody>
      </p:sp>
      <p:sp>
        <p:nvSpPr>
          <p:cNvPr id="154" name="TextBox 153">
            <a:extLst>
              <a:ext uri="{FF2B5EF4-FFF2-40B4-BE49-F238E27FC236}">
                <a16:creationId xmlns:a16="http://schemas.microsoft.com/office/drawing/2014/main" id="{D1057705-1AD7-02F6-4D59-17B5F45C0C81}"/>
              </a:ext>
            </a:extLst>
          </p:cNvPr>
          <p:cNvSpPr txBox="1"/>
          <p:nvPr/>
        </p:nvSpPr>
        <p:spPr>
          <a:xfrm>
            <a:off x="610618" y="292296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PRIORITIZATION &amp; DEMAND MANAGEMENT TODAY</a:t>
            </a:r>
          </a:p>
        </p:txBody>
      </p:sp>
      <p:sp>
        <p:nvSpPr>
          <p:cNvPr id="160" name="TextBox 159">
            <a:extLst>
              <a:ext uri="{FF2B5EF4-FFF2-40B4-BE49-F238E27FC236}">
                <a16:creationId xmlns:a16="http://schemas.microsoft.com/office/drawing/2014/main" id="{FFE9DE8D-B0FD-1C77-C1CD-C168DE4DB225}"/>
              </a:ext>
            </a:extLst>
          </p:cNvPr>
          <p:cNvSpPr txBox="1"/>
          <p:nvPr/>
        </p:nvSpPr>
        <p:spPr>
          <a:xfrm>
            <a:off x="6400800" y="1507889"/>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WAY OF WORKING  &amp;  INTERACTIONS</a:t>
            </a:r>
          </a:p>
        </p:txBody>
      </p:sp>
      <p:sp>
        <p:nvSpPr>
          <p:cNvPr id="6" name="TextBox 5">
            <a:extLst>
              <a:ext uri="{FF2B5EF4-FFF2-40B4-BE49-F238E27FC236}">
                <a16:creationId xmlns:a16="http://schemas.microsoft.com/office/drawing/2014/main" id="{E2059810-0A96-1874-B4E1-0E6C2921DD0E}"/>
              </a:ext>
            </a:extLst>
          </p:cNvPr>
          <p:cNvSpPr txBox="1"/>
          <p:nvPr/>
        </p:nvSpPr>
        <p:spPr>
          <a:xfrm>
            <a:off x="619040" y="1772752"/>
            <a:ext cx="5257800" cy="749885"/>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Arial" panose="020B0604020202020204" pitchFamily="34" charset="0"/>
                <a:cs typeface="Arial" panose="020B0604020202020204" pitchFamily="34" charset="0"/>
              </a:defRPr>
            </a:lvl1pPr>
          </a:lstStyle>
          <a:p>
            <a:pPr marL="171450" indent="-171450">
              <a:buFont typeface="Arial" panose="020B0604020202020204" pitchFamily="34" charset="0"/>
              <a:buChar char="•"/>
            </a:pPr>
            <a:r>
              <a:rPr lang="en-US" noProof="0"/>
              <a:t>Acts as the bridge between Business (BRS), IT, and delivery teams</a:t>
            </a:r>
          </a:p>
          <a:p>
            <a:pPr marL="171450" indent="-171450">
              <a:buFont typeface="Arial" panose="020B0604020202020204" pitchFamily="34" charset="0"/>
              <a:buChar char="•"/>
            </a:pPr>
            <a:r>
              <a:rPr lang="en-US" noProof="0"/>
              <a:t>Supports demand planning and BRD definition, ensuring value is captured</a:t>
            </a:r>
          </a:p>
          <a:p>
            <a:pPr marL="171450" indent="-171450">
              <a:buFont typeface="Arial" panose="020B0604020202020204" pitchFamily="34" charset="0"/>
              <a:buChar char="•"/>
            </a:pPr>
            <a:r>
              <a:rPr lang="en-US" noProof="0"/>
              <a:t>Provides input into prioritization and portfolio discussions</a:t>
            </a:r>
          </a:p>
          <a:p>
            <a:pPr marL="171450" indent="-171450">
              <a:buFont typeface="Arial" panose="020B0604020202020204" pitchFamily="34" charset="0"/>
              <a:buChar char="•"/>
            </a:pPr>
            <a:r>
              <a:rPr lang="en-US" noProof="0"/>
              <a:t>Participates in planning cadences (Big Room, backlog, dailies)Expected to align demand with business outcomes and capacity</a:t>
            </a:r>
          </a:p>
        </p:txBody>
      </p:sp>
      <p:sp>
        <p:nvSpPr>
          <p:cNvPr id="16" name="TextBox 15">
            <a:extLst>
              <a:ext uri="{FF2B5EF4-FFF2-40B4-BE49-F238E27FC236}">
                <a16:creationId xmlns:a16="http://schemas.microsoft.com/office/drawing/2014/main" id="{509AD664-73A1-D5B6-6DFC-9D3B6F260784}"/>
              </a:ext>
            </a:extLst>
          </p:cNvPr>
          <p:cNvSpPr txBox="1"/>
          <p:nvPr/>
        </p:nvSpPr>
        <p:spPr>
          <a:xfrm>
            <a:off x="6400800" y="1827720"/>
            <a:ext cx="5257800" cy="1511632"/>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Strong interaction with BRS through BSS log with two standardized OpCos and a third non-standard Process for the third OpCo</a:t>
            </a:r>
          </a:p>
          <a:p>
            <a:r>
              <a:rPr lang="en-US" noProof="0"/>
              <a:t>Strong interaction with SAP Customer Services for demand shaping and value definition </a:t>
            </a:r>
          </a:p>
          <a:p>
            <a:r>
              <a:rPr lang="en-US" noProof="0"/>
              <a:t>Engagement across different teams, including backlog and delivery discussions </a:t>
            </a:r>
          </a:p>
          <a:p>
            <a:r>
              <a:rPr lang="en-US" noProof="0"/>
              <a:t>Participation in Big Room Planning (quarterly) and daily team syncs </a:t>
            </a:r>
          </a:p>
          <a:p>
            <a:r>
              <a:rPr lang="en-US" noProof="0"/>
              <a:t>Interfaces with: </a:t>
            </a:r>
          </a:p>
          <a:p>
            <a:pPr marL="360363" indent="-185738"/>
            <a:r>
              <a:rPr lang="en-US" noProof="0"/>
              <a:t>Business (requirements, value) </a:t>
            </a:r>
          </a:p>
          <a:p>
            <a:pPr marL="360363" indent="-185738"/>
            <a:r>
              <a:rPr lang="en-US" noProof="0"/>
              <a:t>IT (delivery, feasibility) </a:t>
            </a:r>
          </a:p>
          <a:p>
            <a:pPr marL="360363" indent="-185738"/>
            <a:r>
              <a:rPr lang="en-US" noProof="0"/>
              <a:t>PMO / leadership (large initiatives) </a:t>
            </a:r>
          </a:p>
          <a:p>
            <a:pPr marL="360363" indent="-185738"/>
            <a:r>
              <a:rPr lang="en-US" noProof="0"/>
              <a:t>Tools &amp; channels fragmented: JIRA, PDD, email, meetings.</a:t>
            </a:r>
          </a:p>
        </p:txBody>
      </p:sp>
      <p:sp>
        <p:nvSpPr>
          <p:cNvPr id="20" name="TextBox 19">
            <a:extLst>
              <a:ext uri="{FF2B5EF4-FFF2-40B4-BE49-F238E27FC236}">
                <a16:creationId xmlns:a16="http://schemas.microsoft.com/office/drawing/2014/main" id="{E2E7A1ED-F1A2-2DE2-B1B0-45FE7AFDEF3B}"/>
              </a:ext>
            </a:extLst>
          </p:cNvPr>
          <p:cNvSpPr txBox="1"/>
          <p:nvPr/>
        </p:nvSpPr>
        <p:spPr>
          <a:xfrm>
            <a:off x="633237" y="3185642"/>
            <a:ext cx="5257800" cy="749885"/>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Prioritization varies by OpCo, with no common framework </a:t>
            </a:r>
          </a:p>
          <a:p>
            <a:r>
              <a:rPr lang="en-US" noProof="0"/>
              <a:t>Regulatory and incidents take precedence over strategic initiatives </a:t>
            </a:r>
          </a:p>
          <a:p>
            <a:r>
              <a:rPr lang="en-US" noProof="0"/>
              <a:t>No standardized scoring model or trade-off mechanism </a:t>
            </a:r>
          </a:p>
          <a:p>
            <a:r>
              <a:rPr lang="en-US" noProof="0"/>
              <a:t>Demand enters through multiple channels (PDD, JIRA, email, business requests) </a:t>
            </a:r>
          </a:p>
          <a:p>
            <a:r>
              <a:rPr lang="en-US" noProof="0"/>
              <a:t>Backlog is not actively managed (items remain without rejection/closure) </a:t>
            </a:r>
          </a:p>
        </p:txBody>
      </p:sp>
      <p:sp>
        <p:nvSpPr>
          <p:cNvPr id="21" name="Título 2">
            <a:extLst>
              <a:ext uri="{FF2B5EF4-FFF2-40B4-BE49-F238E27FC236}">
                <a16:creationId xmlns:a16="http://schemas.microsoft.com/office/drawing/2014/main" id="{7AFE94E4-E3B4-90E8-0BB8-2FD6AF599B1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 name="Rectangle: Rounded Corners 1">
            <a:extLst>
              <a:ext uri="{FF2B5EF4-FFF2-40B4-BE49-F238E27FC236}">
                <a16:creationId xmlns:a16="http://schemas.microsoft.com/office/drawing/2014/main" id="{E16C7FA4-1B50-4888-8713-8249222AF81F}"/>
              </a:ext>
            </a:extLst>
          </p:cNvPr>
          <p:cNvSpPr/>
          <p:nvPr/>
        </p:nvSpPr>
        <p:spPr>
          <a:xfrm>
            <a:off x="5336339"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IT Business Apps</a:t>
            </a:r>
          </a:p>
        </p:txBody>
      </p:sp>
      <p:sp>
        <p:nvSpPr>
          <p:cNvPr id="13" name="Rectangle: Rounded Corners 12">
            <a:extLst>
              <a:ext uri="{FF2B5EF4-FFF2-40B4-BE49-F238E27FC236}">
                <a16:creationId xmlns:a16="http://schemas.microsoft.com/office/drawing/2014/main" id="{A0A17C98-924D-CAE5-BB40-98AD9AB715A1}"/>
              </a:ext>
            </a:extLst>
          </p:cNvPr>
          <p:cNvSpPr/>
          <p:nvPr/>
        </p:nvSpPr>
        <p:spPr>
          <a:xfrm>
            <a:off x="7068491"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14" name="Rectangle: Rounded Corners 13">
            <a:extLst>
              <a:ext uri="{FF2B5EF4-FFF2-40B4-BE49-F238E27FC236}">
                <a16:creationId xmlns:a16="http://schemas.microsoft.com/office/drawing/2014/main" id="{9164DB85-CE0F-F37D-8013-1CCBF1EB88EC}"/>
              </a:ext>
            </a:extLst>
          </p:cNvPr>
          <p:cNvSpPr/>
          <p:nvPr/>
        </p:nvSpPr>
        <p:spPr>
          <a:xfrm>
            <a:off x="8800643" y="173010"/>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Product Management</a:t>
            </a:r>
          </a:p>
        </p:txBody>
      </p:sp>
      <p:sp>
        <p:nvSpPr>
          <p:cNvPr id="26" name="Rectangle 144">
            <a:extLst>
              <a:ext uri="{FF2B5EF4-FFF2-40B4-BE49-F238E27FC236}">
                <a16:creationId xmlns:a16="http://schemas.microsoft.com/office/drawing/2014/main" id="{720422AB-EBBA-72C5-24ED-3146149B982A}"/>
              </a:ext>
            </a:extLst>
          </p:cNvPr>
          <p:cNvSpPr/>
          <p:nvPr/>
        </p:nvSpPr>
        <p:spPr>
          <a:xfrm>
            <a:off x="6221486" y="3773271"/>
            <a:ext cx="5623560" cy="158861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Rectangle 145">
            <a:extLst>
              <a:ext uri="{FF2B5EF4-FFF2-40B4-BE49-F238E27FC236}">
                <a16:creationId xmlns:a16="http://schemas.microsoft.com/office/drawing/2014/main" id="{54122996-2A54-78CC-7DE5-FF6F9A991E3B}"/>
              </a:ext>
            </a:extLst>
          </p:cNvPr>
          <p:cNvSpPr/>
          <p:nvPr/>
        </p:nvSpPr>
        <p:spPr>
          <a:xfrm>
            <a:off x="6221486" y="3739141"/>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TextBox 153">
            <a:extLst>
              <a:ext uri="{FF2B5EF4-FFF2-40B4-BE49-F238E27FC236}">
                <a16:creationId xmlns:a16="http://schemas.microsoft.com/office/drawing/2014/main" id="{4E23E55D-6920-8127-5D00-E754F9A3097E}"/>
              </a:ext>
            </a:extLst>
          </p:cNvPr>
          <p:cNvSpPr txBox="1"/>
          <p:nvPr/>
        </p:nvSpPr>
        <p:spPr>
          <a:xfrm>
            <a:off x="6398992" y="3830443"/>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PORTFOLIO &amp; ROADMAP VISIBILITY</a:t>
            </a:r>
          </a:p>
        </p:txBody>
      </p:sp>
      <p:sp>
        <p:nvSpPr>
          <p:cNvPr id="29" name="TextBox 19">
            <a:extLst>
              <a:ext uri="{FF2B5EF4-FFF2-40B4-BE49-F238E27FC236}">
                <a16:creationId xmlns:a16="http://schemas.microsoft.com/office/drawing/2014/main" id="{578DAEC7-8AEF-A67C-C77C-2C7694D19385}"/>
              </a:ext>
            </a:extLst>
          </p:cNvPr>
          <p:cNvSpPr txBox="1"/>
          <p:nvPr/>
        </p:nvSpPr>
        <p:spPr>
          <a:xfrm>
            <a:off x="6421611" y="4054212"/>
            <a:ext cx="5257800" cy="1206933"/>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No consolidated portfolio view across products or demand types</a:t>
            </a:r>
          </a:p>
          <a:p>
            <a:r>
              <a:rPr lang="en-US" noProof="0"/>
              <a:t>Limited tracking of demand volume, capacity, and delivery progress</a:t>
            </a:r>
          </a:p>
          <a:p>
            <a:r>
              <a:rPr lang="en-US" noProof="0"/>
              <a:t>Roadmaps are short-term (~1 year) and lack defined initiatives</a:t>
            </a:r>
          </a:p>
          <a:p>
            <a:r>
              <a:rPr lang="en-US" noProof="0"/>
              <a:t>No clear linkage between:</a:t>
            </a:r>
          </a:p>
          <a:p>
            <a:pPr marL="360363" indent="-185738"/>
            <a:r>
              <a:rPr lang="en-US" noProof="0"/>
              <a:t>Demand</a:t>
            </a:r>
          </a:p>
          <a:p>
            <a:pPr marL="360363" indent="-185738"/>
            <a:r>
              <a:rPr lang="en-US" noProof="0"/>
              <a:t>Prioritization</a:t>
            </a:r>
          </a:p>
          <a:p>
            <a:pPr marL="360363" indent="-185738"/>
            <a:r>
              <a:rPr lang="en-US" noProof="0"/>
              <a:t>Execution</a:t>
            </a:r>
          </a:p>
          <a:p>
            <a:pPr marL="360363" indent="-185738"/>
            <a:r>
              <a:rPr lang="en-US" noProof="0"/>
              <a:t>value delivered</a:t>
            </a:r>
          </a:p>
        </p:txBody>
      </p:sp>
      <p:sp>
        <p:nvSpPr>
          <p:cNvPr id="30" name="Rectangle 144">
            <a:extLst>
              <a:ext uri="{FF2B5EF4-FFF2-40B4-BE49-F238E27FC236}">
                <a16:creationId xmlns:a16="http://schemas.microsoft.com/office/drawing/2014/main" id="{3C2DB433-6961-2B38-8E84-607160AE36CB}"/>
              </a:ext>
            </a:extLst>
          </p:cNvPr>
          <p:cNvSpPr/>
          <p:nvPr/>
        </p:nvSpPr>
        <p:spPr>
          <a:xfrm>
            <a:off x="433112" y="4198480"/>
            <a:ext cx="5623560" cy="118091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ectangle 145">
            <a:extLst>
              <a:ext uri="{FF2B5EF4-FFF2-40B4-BE49-F238E27FC236}">
                <a16:creationId xmlns:a16="http://schemas.microsoft.com/office/drawing/2014/main" id="{01BDCDDB-5837-A4F5-7E62-1A9881E8F20A}"/>
              </a:ext>
            </a:extLst>
          </p:cNvPr>
          <p:cNvSpPr/>
          <p:nvPr/>
        </p:nvSpPr>
        <p:spPr>
          <a:xfrm>
            <a:off x="433112" y="416434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Box 153">
            <a:extLst>
              <a:ext uri="{FF2B5EF4-FFF2-40B4-BE49-F238E27FC236}">
                <a16:creationId xmlns:a16="http://schemas.microsoft.com/office/drawing/2014/main" id="{9E7EC41D-0F23-0809-A0A9-52F60AD797BC}"/>
              </a:ext>
            </a:extLst>
          </p:cNvPr>
          <p:cNvSpPr txBox="1"/>
          <p:nvPr/>
        </p:nvSpPr>
        <p:spPr>
          <a:xfrm>
            <a:off x="610618" y="425565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KEY LIMITATIONS</a:t>
            </a:r>
          </a:p>
        </p:txBody>
      </p:sp>
      <p:sp>
        <p:nvSpPr>
          <p:cNvPr id="33" name="TextBox 19">
            <a:extLst>
              <a:ext uri="{FF2B5EF4-FFF2-40B4-BE49-F238E27FC236}">
                <a16:creationId xmlns:a16="http://schemas.microsoft.com/office/drawing/2014/main" id="{4AF51124-1B40-8036-5D1E-A710FDE97CDE}"/>
              </a:ext>
            </a:extLst>
          </p:cNvPr>
          <p:cNvSpPr txBox="1"/>
          <p:nvPr/>
        </p:nvSpPr>
        <p:spPr>
          <a:xfrm>
            <a:off x="633237" y="4518332"/>
            <a:ext cx="5257800" cy="749885"/>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No formal ownership of intake, backlog, or prioritization decisions</a:t>
            </a:r>
          </a:p>
          <a:p>
            <a:r>
              <a:rPr lang="en-US" noProof="0"/>
              <a:t>Limited influence on large initiatives (PDD / budget-driven projects)</a:t>
            </a:r>
          </a:p>
          <a:p>
            <a:r>
              <a:rPr lang="en-US" noProof="0"/>
              <a:t>Lack of standard processes and governance across OpCos</a:t>
            </a:r>
          </a:p>
          <a:p>
            <a:r>
              <a:rPr lang="en-US" noProof="0"/>
              <a:t>Communication gaps on what is prioritized and why</a:t>
            </a:r>
          </a:p>
          <a:p>
            <a:r>
              <a:rPr lang="en-US" noProof="0"/>
              <a:t>Weak alignment between work delivered and business value</a:t>
            </a:r>
          </a:p>
        </p:txBody>
      </p:sp>
      <p:sp>
        <p:nvSpPr>
          <p:cNvPr id="18" name="CuadroTexto 204">
            <a:extLst>
              <a:ext uri="{FF2B5EF4-FFF2-40B4-BE49-F238E27FC236}">
                <a16:creationId xmlns:a16="http://schemas.microsoft.com/office/drawing/2014/main" id="{F316B3F9-7CCF-BF5F-8DE9-4506D1AA1732}"/>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t>Product Management acts as the intended integrator between Business and IT — but lacks formal ownership of prioritization, intake, and portfolio decisions</a:t>
            </a:r>
          </a:p>
        </p:txBody>
      </p:sp>
      <p:sp>
        <p:nvSpPr>
          <p:cNvPr id="4" name="CuadroTexto 3">
            <a:extLst>
              <a:ext uri="{FF2B5EF4-FFF2-40B4-BE49-F238E27FC236}">
                <a16:creationId xmlns:a16="http://schemas.microsoft.com/office/drawing/2014/main" id="{A58BB8B4-5A32-12C1-FE64-99381019426C}"/>
              </a:ext>
            </a:extLst>
          </p:cNvPr>
          <p:cNvSpPr txBox="1"/>
          <p:nvPr/>
        </p:nvSpPr>
        <p:spPr>
          <a:xfrm>
            <a:off x="0" y="5574946"/>
            <a:ext cx="12192000" cy="738664"/>
          </a:xfrm>
          <a:prstGeom prst="rect">
            <a:avLst/>
          </a:prstGeom>
          <a:solidFill>
            <a:schemeClr val="accent1"/>
          </a:solidFill>
        </p:spPr>
        <p:txBody>
          <a:bodyPr wrap="square" lIns="91440" tIns="45720" rIns="91440" bIns="45720" anchor="ctr">
            <a:spAutoFit/>
          </a:bodyPr>
          <a:lstStyle/>
          <a:p>
            <a:pPr algn="ctr">
              <a:defRPr/>
            </a:pPr>
            <a:r>
              <a:rPr lang="en-US" sz="1400" b="1" noProof="0">
                <a:solidFill>
                  <a:schemeClr val="bg1"/>
                </a:solidFill>
                <a:latin typeface="Arial"/>
                <a:cs typeface="Arial"/>
              </a:rPr>
              <a:t>Product Management is a newly established function that is still in the process of being structured, with roles, processes, and governance not yet fully defined or embedded. This creates a critical opportunity to formalize ownership, standardize ways of working, and position the function as the true integrator of demand, prioritization, and value delivery across Business and IT.</a:t>
            </a:r>
          </a:p>
        </p:txBody>
      </p:sp>
    </p:spTree>
    <p:extLst>
      <p:ext uri="{BB962C8B-B14F-4D97-AF65-F5344CB8AC3E}">
        <p14:creationId xmlns:p14="http://schemas.microsoft.com/office/powerpoint/2010/main" val="2493678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F6809-7900-FBE6-5AD7-D49E2E8D3EFB}"/>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9B4726B8-A11B-4006-B882-799A51537EB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METHODOLOGY</a:t>
            </a:r>
          </a:p>
        </p:txBody>
      </p:sp>
      <p:sp>
        <p:nvSpPr>
          <p:cNvPr id="2" name="Rectangle 28">
            <a:extLst>
              <a:ext uri="{FF2B5EF4-FFF2-40B4-BE49-F238E27FC236}">
                <a16:creationId xmlns:a16="http://schemas.microsoft.com/office/drawing/2014/main" id="{9F2F13F8-24EE-60D6-2774-D07AF7A159A1}"/>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E0BD6DAD-FC10-FA6C-1AB4-5DC44BB7A6E4}"/>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45FF5744-5833-624D-C5DF-65A8BD558E89}"/>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F8B396B5-99E6-93C5-3D6B-55C4E65BAEE3}"/>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CE558095-E2E6-5D19-8C21-036FEF19A235}"/>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CAD87EAA-EC91-DE9D-186C-F15D56FA9D37}"/>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EDD17208-7E69-CDBF-FF7B-E8D4C537FE8A}"/>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1C19D271-1F38-6B53-13C8-8AD05A7A66AC}"/>
              </a:ext>
            </a:extLst>
          </p:cNvPr>
          <p:cNvGrpSpPr/>
          <p:nvPr/>
        </p:nvGrpSpPr>
        <p:grpSpPr>
          <a:xfrm>
            <a:off x="659127" y="4982428"/>
            <a:ext cx="10931269" cy="1403815"/>
            <a:chOff x="930282" y="4982428"/>
            <a:chExt cx="10213060" cy="1403815"/>
          </a:xfrm>
        </p:grpSpPr>
        <p:sp>
          <p:nvSpPr>
            <p:cNvPr id="9" name="Rectangle 165">
              <a:extLst>
                <a:ext uri="{FF2B5EF4-FFF2-40B4-BE49-F238E27FC236}">
                  <a16:creationId xmlns:a16="http://schemas.microsoft.com/office/drawing/2014/main" id="{4A0533F9-EDB3-D03A-D1D9-BDD4D6D3F46F}"/>
                </a:ext>
              </a:extLst>
            </p:cNvPr>
            <p:cNvSpPr/>
            <p:nvPr/>
          </p:nvSpPr>
          <p:spPr>
            <a:xfrm>
              <a:off x="930282" y="4982429"/>
              <a:ext cx="3291840" cy="140381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2" name="Rectangle 166">
              <a:extLst>
                <a:ext uri="{FF2B5EF4-FFF2-40B4-BE49-F238E27FC236}">
                  <a16:creationId xmlns:a16="http://schemas.microsoft.com/office/drawing/2014/main" id="{E44A5684-3737-16D1-86D4-E179EB88C627}"/>
                </a:ext>
              </a:extLst>
            </p:cNvPr>
            <p:cNvSpPr/>
            <p:nvPr/>
          </p:nvSpPr>
          <p:spPr>
            <a:xfrm>
              <a:off x="930282" y="4982429"/>
              <a:ext cx="32918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5" name="TextBox 167">
              <a:extLst>
                <a:ext uri="{FF2B5EF4-FFF2-40B4-BE49-F238E27FC236}">
                  <a16:creationId xmlns:a16="http://schemas.microsoft.com/office/drawing/2014/main" id="{EFED878E-3A56-0945-5593-9AD3A5EAC0B8}"/>
                </a:ext>
              </a:extLst>
            </p:cNvPr>
            <p:cNvSpPr txBox="1"/>
            <p:nvPr/>
          </p:nvSpPr>
          <p:spPr>
            <a:xfrm>
              <a:off x="1113162"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1F4E79"/>
                  </a:solidFill>
                  <a:latin typeface="Arial" panose="020B0604020202020204" pitchFamily="34" charset="0"/>
                  <a:cs typeface="Arial" panose="020B0604020202020204" pitchFamily="34" charset="0"/>
                </a:rPr>
                <a:t>THE FRAMEWORK</a:t>
              </a:r>
            </a:p>
          </p:txBody>
        </p:sp>
        <p:sp>
          <p:nvSpPr>
            <p:cNvPr id="36" name="TextBox 168">
              <a:extLst>
                <a:ext uri="{FF2B5EF4-FFF2-40B4-BE49-F238E27FC236}">
                  <a16:creationId xmlns:a16="http://schemas.microsoft.com/office/drawing/2014/main" id="{BAA805F4-9C94-BC93-4939-DD740F3A620F}"/>
                </a:ext>
              </a:extLst>
            </p:cNvPr>
            <p:cNvSpPr txBox="1"/>
            <p:nvPr/>
          </p:nvSpPr>
          <p:spPr>
            <a:xfrm>
              <a:off x="1113162" y="5366477"/>
              <a:ext cx="2926080"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Value-Stream Mapping of the end-to-end demand lifecycle — 5 sequential stages that every demand must pass through, from the moment it arrives to the moment it is delivered.</a:t>
              </a:r>
            </a:p>
          </p:txBody>
        </p:sp>
        <p:sp>
          <p:nvSpPr>
            <p:cNvPr id="37" name="Rectangle 169">
              <a:extLst>
                <a:ext uri="{FF2B5EF4-FFF2-40B4-BE49-F238E27FC236}">
                  <a16:creationId xmlns:a16="http://schemas.microsoft.com/office/drawing/2014/main" id="{BD28075F-E227-FE59-123D-759D493EAAAA}"/>
                </a:ext>
              </a:extLst>
            </p:cNvPr>
            <p:cNvSpPr/>
            <p:nvPr/>
          </p:nvSpPr>
          <p:spPr>
            <a:xfrm>
              <a:off x="4340994" y="4982428"/>
              <a:ext cx="3291840" cy="1403813"/>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8" name="Rectangle 170">
              <a:extLst>
                <a:ext uri="{FF2B5EF4-FFF2-40B4-BE49-F238E27FC236}">
                  <a16:creationId xmlns:a16="http://schemas.microsoft.com/office/drawing/2014/main" id="{2F7E88A6-6718-887B-5977-72EE26474CA6}"/>
                </a:ext>
              </a:extLst>
            </p:cNvPr>
            <p:cNvSpPr/>
            <p:nvPr/>
          </p:nvSpPr>
          <p:spPr>
            <a:xfrm>
              <a:off x="4340994" y="4982429"/>
              <a:ext cx="3291840"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9" name="TextBox 171">
              <a:extLst>
                <a:ext uri="{FF2B5EF4-FFF2-40B4-BE49-F238E27FC236}">
                  <a16:creationId xmlns:a16="http://schemas.microsoft.com/office/drawing/2014/main" id="{042BDF11-AF41-A124-4DBF-687E6F7C9EAB}"/>
                </a:ext>
              </a:extLst>
            </p:cNvPr>
            <p:cNvSpPr txBox="1"/>
            <p:nvPr/>
          </p:nvSpPr>
          <p:spPr>
            <a:xfrm>
              <a:off x="4523874"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2E75B6"/>
                  </a:solidFill>
                  <a:latin typeface="Arial" panose="020B0604020202020204" pitchFamily="34" charset="0"/>
                  <a:cs typeface="Arial" panose="020B0604020202020204" pitchFamily="34" charset="0"/>
                </a:rPr>
                <a:t>WHY WE USE IT</a:t>
              </a:r>
            </a:p>
          </p:txBody>
        </p:sp>
        <p:sp>
          <p:nvSpPr>
            <p:cNvPr id="40" name="TextBox 172">
              <a:extLst>
                <a:ext uri="{FF2B5EF4-FFF2-40B4-BE49-F238E27FC236}">
                  <a16:creationId xmlns:a16="http://schemas.microsoft.com/office/drawing/2014/main" id="{3B971FDC-6E62-3C5E-796E-58535AAADDCD}"/>
                </a:ext>
              </a:extLst>
            </p:cNvPr>
            <p:cNvSpPr txBox="1"/>
            <p:nvPr/>
          </p:nvSpPr>
          <p:spPr>
            <a:xfrm>
              <a:off x="4523874" y="5366477"/>
              <a:ext cx="2926080" cy="956800"/>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Provides a standardized lens to compare heterogeneous teams (6 intake channels, 6 prioritization logics) apples-to-apples — without this, every area's working answer looks locally valid but none scales.</a:t>
              </a:r>
            </a:p>
          </p:txBody>
        </p:sp>
        <p:sp>
          <p:nvSpPr>
            <p:cNvPr id="41" name="Rectangle 173">
              <a:extLst>
                <a:ext uri="{FF2B5EF4-FFF2-40B4-BE49-F238E27FC236}">
                  <a16:creationId xmlns:a16="http://schemas.microsoft.com/office/drawing/2014/main" id="{2F48A561-09AE-6731-97B2-C3092B659586}"/>
                </a:ext>
              </a:extLst>
            </p:cNvPr>
            <p:cNvSpPr/>
            <p:nvPr/>
          </p:nvSpPr>
          <p:spPr>
            <a:xfrm>
              <a:off x="7751706" y="4982429"/>
              <a:ext cx="3391636" cy="14038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2" name="Rectangle 174">
              <a:extLst>
                <a:ext uri="{FF2B5EF4-FFF2-40B4-BE49-F238E27FC236}">
                  <a16:creationId xmlns:a16="http://schemas.microsoft.com/office/drawing/2014/main" id="{BF2A125D-DE2B-936A-19D9-8752993EB8B1}"/>
                </a:ext>
              </a:extLst>
            </p:cNvPr>
            <p:cNvSpPr/>
            <p:nvPr/>
          </p:nvSpPr>
          <p:spPr>
            <a:xfrm>
              <a:off x="7751705" y="4982429"/>
              <a:ext cx="3391635"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3" name="TextBox 175">
              <a:extLst>
                <a:ext uri="{FF2B5EF4-FFF2-40B4-BE49-F238E27FC236}">
                  <a16:creationId xmlns:a16="http://schemas.microsoft.com/office/drawing/2014/main" id="{14DBA99C-2F3A-1F26-F333-6871ADBF4D5A}"/>
                </a:ext>
              </a:extLst>
            </p:cNvPr>
            <p:cNvSpPr txBox="1"/>
            <p:nvPr/>
          </p:nvSpPr>
          <p:spPr>
            <a:xfrm>
              <a:off x="7934585"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chemeClr val="accent3"/>
                  </a:solidFill>
                  <a:latin typeface="Arial" panose="020B0604020202020204" pitchFamily="34" charset="0"/>
                  <a:cs typeface="Arial" panose="020B0604020202020204" pitchFamily="34" charset="0"/>
                </a:rPr>
                <a:t>WHAT IT REVEALS</a:t>
              </a:r>
            </a:p>
          </p:txBody>
        </p:sp>
        <p:sp>
          <p:nvSpPr>
            <p:cNvPr id="44" name="TextBox 176">
              <a:extLst>
                <a:ext uri="{FF2B5EF4-FFF2-40B4-BE49-F238E27FC236}">
                  <a16:creationId xmlns:a16="http://schemas.microsoft.com/office/drawing/2014/main" id="{B3ECEDEB-E6A3-F9E5-5223-E55F7053A307}"/>
                </a:ext>
              </a:extLst>
            </p:cNvPr>
            <p:cNvSpPr txBox="1"/>
            <p:nvPr/>
          </p:nvSpPr>
          <p:spPr>
            <a:xfrm>
              <a:off x="7934585" y="5366477"/>
              <a:ext cx="2926080"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Per-stage maturity gaps per team, cross-branch fragmentation, and the specific bottlenecks the TOM must resolve — converting anecdote into structured evidence for the Baseline Report.</a:t>
              </a:r>
            </a:p>
          </p:txBody>
        </p:sp>
      </p:grpSp>
      <p:sp>
        <p:nvSpPr>
          <p:cNvPr id="45" name="Rectangle 177">
            <a:extLst>
              <a:ext uri="{FF2B5EF4-FFF2-40B4-BE49-F238E27FC236}">
                <a16:creationId xmlns:a16="http://schemas.microsoft.com/office/drawing/2014/main" id="{45B6B62A-81E9-C28E-275B-AF0960155632}"/>
              </a:ext>
            </a:extLst>
          </p:cNvPr>
          <p:cNvSpPr/>
          <p:nvPr/>
        </p:nvSpPr>
        <p:spPr>
          <a:xfrm>
            <a:off x="659126" y="3883019"/>
            <a:ext cx="10931271" cy="10006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6" name="TextBox 178">
            <a:extLst>
              <a:ext uri="{FF2B5EF4-FFF2-40B4-BE49-F238E27FC236}">
                <a16:creationId xmlns:a16="http://schemas.microsoft.com/office/drawing/2014/main" id="{A3C757A0-1E5F-AA41-0F8E-AEF058C5761E}"/>
              </a:ext>
            </a:extLst>
          </p:cNvPr>
          <p:cNvSpPr txBox="1"/>
          <p:nvPr/>
        </p:nvSpPr>
        <p:spPr>
          <a:xfrm>
            <a:off x="801455" y="4000789"/>
            <a:ext cx="2944712"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MATURITY SCALE</a:t>
            </a:r>
          </a:p>
        </p:txBody>
      </p:sp>
      <p:sp>
        <p:nvSpPr>
          <p:cNvPr id="47" name="TextBox 179">
            <a:extLst>
              <a:ext uri="{FF2B5EF4-FFF2-40B4-BE49-F238E27FC236}">
                <a16:creationId xmlns:a16="http://schemas.microsoft.com/office/drawing/2014/main" id="{3AD65799-F703-06A3-C200-772A15017911}"/>
              </a:ext>
            </a:extLst>
          </p:cNvPr>
          <p:cNvSpPr txBox="1"/>
          <p:nvPr/>
        </p:nvSpPr>
        <p:spPr>
          <a:xfrm>
            <a:off x="801455" y="4229389"/>
            <a:ext cx="2944712" cy="161904"/>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CCDDEE"/>
                </a:solidFill>
                <a:latin typeface="Arial" panose="020B0604020202020204" pitchFamily="34" charset="0"/>
                <a:cs typeface="Arial" panose="020B0604020202020204" pitchFamily="34" charset="0"/>
              </a:rPr>
              <a:t>Applied to every cell of the AS-IS matrix</a:t>
            </a:r>
          </a:p>
        </p:txBody>
      </p:sp>
      <p:sp>
        <p:nvSpPr>
          <p:cNvPr id="48" name="Oval 47">
            <a:extLst>
              <a:ext uri="{FF2B5EF4-FFF2-40B4-BE49-F238E27FC236}">
                <a16:creationId xmlns:a16="http://schemas.microsoft.com/office/drawing/2014/main" id="{1EF76DC4-A3E6-59FB-D46B-EFED694CE253}"/>
              </a:ext>
            </a:extLst>
          </p:cNvPr>
          <p:cNvSpPr/>
          <p:nvPr/>
        </p:nvSpPr>
        <p:spPr>
          <a:xfrm>
            <a:off x="3947388" y="3968296"/>
            <a:ext cx="215946" cy="20116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49" name="TextBox 181">
            <a:extLst>
              <a:ext uri="{FF2B5EF4-FFF2-40B4-BE49-F238E27FC236}">
                <a16:creationId xmlns:a16="http://schemas.microsoft.com/office/drawing/2014/main" id="{5AB94B55-E8BF-FB53-7249-59589BA7317D}"/>
              </a:ext>
            </a:extLst>
          </p:cNvPr>
          <p:cNvSpPr txBox="1"/>
          <p:nvPr/>
        </p:nvSpPr>
        <p:spPr>
          <a:xfrm>
            <a:off x="4261492"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CRITICAL</a:t>
            </a:r>
          </a:p>
        </p:txBody>
      </p:sp>
      <p:sp>
        <p:nvSpPr>
          <p:cNvPr id="50" name="TextBox 182">
            <a:extLst>
              <a:ext uri="{FF2B5EF4-FFF2-40B4-BE49-F238E27FC236}">
                <a16:creationId xmlns:a16="http://schemas.microsoft.com/office/drawing/2014/main" id="{3230592D-8CF4-D04F-C4BA-8D58C0F90E85}"/>
              </a:ext>
            </a:extLst>
          </p:cNvPr>
          <p:cNvSpPr txBox="1"/>
          <p:nvPr/>
        </p:nvSpPr>
        <p:spPr>
          <a:xfrm>
            <a:off x="3947388" y="4248780"/>
            <a:ext cx="1815905"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Missing or broken — requires immediate redesign</a:t>
            </a:r>
          </a:p>
        </p:txBody>
      </p:sp>
      <p:sp>
        <p:nvSpPr>
          <p:cNvPr id="51" name="Oval 50">
            <a:extLst>
              <a:ext uri="{FF2B5EF4-FFF2-40B4-BE49-F238E27FC236}">
                <a16:creationId xmlns:a16="http://schemas.microsoft.com/office/drawing/2014/main" id="{4EED61E8-D6A5-164F-3752-16009B596AD1}"/>
              </a:ext>
            </a:extLst>
          </p:cNvPr>
          <p:cNvSpPr/>
          <p:nvPr/>
        </p:nvSpPr>
        <p:spPr>
          <a:xfrm>
            <a:off x="5879255" y="3968296"/>
            <a:ext cx="215946" cy="201168"/>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52" name="TextBox 184">
            <a:extLst>
              <a:ext uri="{FF2B5EF4-FFF2-40B4-BE49-F238E27FC236}">
                <a16:creationId xmlns:a16="http://schemas.microsoft.com/office/drawing/2014/main" id="{6D1B001C-1191-E376-9E6C-D3518D728A69}"/>
              </a:ext>
            </a:extLst>
          </p:cNvPr>
          <p:cNvSpPr txBox="1"/>
          <p:nvPr/>
        </p:nvSpPr>
        <p:spPr>
          <a:xfrm>
            <a:off x="6205001"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GAP</a:t>
            </a:r>
          </a:p>
        </p:txBody>
      </p:sp>
      <p:sp>
        <p:nvSpPr>
          <p:cNvPr id="53" name="TextBox 185">
            <a:extLst>
              <a:ext uri="{FF2B5EF4-FFF2-40B4-BE49-F238E27FC236}">
                <a16:creationId xmlns:a16="http://schemas.microsoft.com/office/drawing/2014/main" id="{71AA26A6-1E7A-5D8A-5222-ABDE42DC2CE3}"/>
              </a:ext>
            </a:extLst>
          </p:cNvPr>
          <p:cNvSpPr txBox="1"/>
          <p:nvPr/>
        </p:nvSpPr>
        <p:spPr>
          <a:xfrm>
            <a:off x="5890899" y="4248780"/>
            <a:ext cx="1815905"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Exists but inadequate — insufficient</a:t>
            </a:r>
          </a:p>
        </p:txBody>
      </p:sp>
      <p:sp>
        <p:nvSpPr>
          <p:cNvPr id="54" name="Oval 53">
            <a:extLst>
              <a:ext uri="{FF2B5EF4-FFF2-40B4-BE49-F238E27FC236}">
                <a16:creationId xmlns:a16="http://schemas.microsoft.com/office/drawing/2014/main" id="{9A52AD87-3533-235D-0480-2E8F8326BFBE}"/>
              </a:ext>
            </a:extLst>
          </p:cNvPr>
          <p:cNvSpPr/>
          <p:nvPr/>
        </p:nvSpPr>
        <p:spPr>
          <a:xfrm>
            <a:off x="7834408" y="3968296"/>
            <a:ext cx="215946" cy="201168"/>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55" name="TextBox 187">
            <a:extLst>
              <a:ext uri="{FF2B5EF4-FFF2-40B4-BE49-F238E27FC236}">
                <a16:creationId xmlns:a16="http://schemas.microsoft.com/office/drawing/2014/main" id="{1003AF01-4747-277E-D5CF-82F75D5DCA58}"/>
              </a:ext>
            </a:extLst>
          </p:cNvPr>
          <p:cNvSpPr txBox="1"/>
          <p:nvPr/>
        </p:nvSpPr>
        <p:spPr>
          <a:xfrm>
            <a:off x="8148512"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PARTIAL</a:t>
            </a:r>
          </a:p>
        </p:txBody>
      </p:sp>
      <p:sp>
        <p:nvSpPr>
          <p:cNvPr id="56" name="TextBox 188">
            <a:extLst>
              <a:ext uri="{FF2B5EF4-FFF2-40B4-BE49-F238E27FC236}">
                <a16:creationId xmlns:a16="http://schemas.microsoft.com/office/drawing/2014/main" id="{4C23360B-98CF-7ED3-8684-4C8898E3B6E4}"/>
              </a:ext>
            </a:extLst>
          </p:cNvPr>
          <p:cNvSpPr txBox="1"/>
          <p:nvPr/>
        </p:nvSpPr>
        <p:spPr>
          <a:xfrm>
            <a:off x="7834410" y="4248780"/>
            <a:ext cx="1659355"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Functional but inconsistent across teams</a:t>
            </a:r>
          </a:p>
        </p:txBody>
      </p:sp>
      <p:sp>
        <p:nvSpPr>
          <p:cNvPr id="57" name="Oval 56">
            <a:extLst>
              <a:ext uri="{FF2B5EF4-FFF2-40B4-BE49-F238E27FC236}">
                <a16:creationId xmlns:a16="http://schemas.microsoft.com/office/drawing/2014/main" id="{47FBAC73-81EC-650B-0DA1-030A9D1D7772}"/>
              </a:ext>
            </a:extLst>
          </p:cNvPr>
          <p:cNvSpPr/>
          <p:nvPr/>
        </p:nvSpPr>
        <p:spPr>
          <a:xfrm>
            <a:off x="9777920" y="3968296"/>
            <a:ext cx="215946" cy="201168"/>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58" name="TextBox 190">
            <a:extLst>
              <a:ext uri="{FF2B5EF4-FFF2-40B4-BE49-F238E27FC236}">
                <a16:creationId xmlns:a16="http://schemas.microsoft.com/office/drawing/2014/main" id="{E1D3EEAC-38C5-E703-31F7-40387E270D8A}"/>
              </a:ext>
            </a:extLst>
          </p:cNvPr>
          <p:cNvSpPr txBox="1"/>
          <p:nvPr/>
        </p:nvSpPr>
        <p:spPr>
          <a:xfrm>
            <a:off x="10092022"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SCALABLE</a:t>
            </a:r>
          </a:p>
        </p:txBody>
      </p:sp>
      <p:sp>
        <p:nvSpPr>
          <p:cNvPr id="59" name="TextBox 191">
            <a:extLst>
              <a:ext uri="{FF2B5EF4-FFF2-40B4-BE49-F238E27FC236}">
                <a16:creationId xmlns:a16="http://schemas.microsoft.com/office/drawing/2014/main" id="{D97D943C-7E87-9A2A-37AA-FE4408F2A084}"/>
              </a:ext>
            </a:extLst>
          </p:cNvPr>
          <p:cNvSpPr txBox="1"/>
          <p:nvPr/>
        </p:nvSpPr>
        <p:spPr>
          <a:xfrm>
            <a:off x="9777920" y="4248780"/>
            <a:ext cx="1509036" cy="515847"/>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Mature and scalable — import to Target Operating Model</a:t>
            </a:r>
          </a:p>
        </p:txBody>
      </p:sp>
      <p:sp>
        <p:nvSpPr>
          <p:cNvPr id="60" name="Rectangle 192">
            <a:extLst>
              <a:ext uri="{FF2B5EF4-FFF2-40B4-BE49-F238E27FC236}">
                <a16:creationId xmlns:a16="http://schemas.microsoft.com/office/drawing/2014/main" id="{C7D3B0C0-057C-B119-E914-474322A49315}"/>
              </a:ext>
            </a:extLst>
          </p:cNvPr>
          <p:cNvSpPr/>
          <p:nvPr/>
        </p:nvSpPr>
        <p:spPr>
          <a:xfrm>
            <a:off x="659127"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61" name="Rectangle 193">
            <a:extLst>
              <a:ext uri="{FF2B5EF4-FFF2-40B4-BE49-F238E27FC236}">
                <a16:creationId xmlns:a16="http://schemas.microsoft.com/office/drawing/2014/main" id="{A3C6ED98-636C-5555-0C72-8F2DA5C8EA77}"/>
              </a:ext>
            </a:extLst>
          </p:cNvPr>
          <p:cNvSpPr/>
          <p:nvPr/>
        </p:nvSpPr>
        <p:spPr>
          <a:xfrm>
            <a:off x="659127"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62" name="TextBox 194">
            <a:extLst>
              <a:ext uri="{FF2B5EF4-FFF2-40B4-BE49-F238E27FC236}">
                <a16:creationId xmlns:a16="http://schemas.microsoft.com/office/drawing/2014/main" id="{1424D3C3-EA29-9047-D1DE-AE299B164F65}"/>
              </a:ext>
            </a:extLst>
          </p:cNvPr>
          <p:cNvSpPr txBox="1"/>
          <p:nvPr/>
        </p:nvSpPr>
        <p:spPr>
          <a:xfrm>
            <a:off x="757108"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63" name="TextBox 195">
            <a:extLst>
              <a:ext uri="{FF2B5EF4-FFF2-40B4-BE49-F238E27FC236}">
                <a16:creationId xmlns:a16="http://schemas.microsoft.com/office/drawing/2014/main" id="{DB83535E-DF45-E33A-D1CC-9C3C0B9A68D5}"/>
              </a:ext>
            </a:extLst>
          </p:cNvPr>
          <p:cNvSpPr txBox="1"/>
          <p:nvPr/>
        </p:nvSpPr>
        <p:spPr>
          <a:xfrm>
            <a:off x="757108"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Channels · Sources</a:t>
            </a:r>
          </a:p>
        </p:txBody>
      </p:sp>
      <p:sp>
        <p:nvSpPr>
          <p:cNvPr id="128" name="TextBox 196">
            <a:extLst>
              <a:ext uri="{FF2B5EF4-FFF2-40B4-BE49-F238E27FC236}">
                <a16:creationId xmlns:a16="http://schemas.microsoft.com/office/drawing/2014/main" id="{7CC3E75A-4F93-AC32-D518-81DAD86A7F5E}"/>
              </a:ext>
            </a:extLst>
          </p:cNvPr>
          <p:cNvSpPr txBox="1"/>
          <p:nvPr/>
        </p:nvSpPr>
        <p:spPr>
          <a:xfrm>
            <a:off x="757108" y="2454567"/>
            <a:ext cx="1896915"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work arrives today: Jira, IT Now, Email, SharePoint, Word. Who submits, how often, what type.</a:t>
            </a:r>
          </a:p>
        </p:txBody>
      </p:sp>
      <p:sp>
        <p:nvSpPr>
          <p:cNvPr id="129" name="Rectangle 197">
            <a:extLst>
              <a:ext uri="{FF2B5EF4-FFF2-40B4-BE49-F238E27FC236}">
                <a16:creationId xmlns:a16="http://schemas.microsoft.com/office/drawing/2014/main" id="{ACE4E282-1C81-62EB-78B5-A889121F4BA5}"/>
              </a:ext>
            </a:extLst>
          </p:cNvPr>
          <p:cNvSpPr/>
          <p:nvPr/>
        </p:nvSpPr>
        <p:spPr>
          <a:xfrm>
            <a:off x="2869582"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0" name="Rectangle 198">
            <a:extLst>
              <a:ext uri="{FF2B5EF4-FFF2-40B4-BE49-F238E27FC236}">
                <a16:creationId xmlns:a16="http://schemas.microsoft.com/office/drawing/2014/main" id="{7CBE922C-9A77-4907-37C6-F23A206009A1}"/>
              </a:ext>
            </a:extLst>
          </p:cNvPr>
          <p:cNvSpPr/>
          <p:nvPr/>
        </p:nvSpPr>
        <p:spPr>
          <a:xfrm>
            <a:off x="2869582"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31" name="TextBox 199">
            <a:extLst>
              <a:ext uri="{FF2B5EF4-FFF2-40B4-BE49-F238E27FC236}">
                <a16:creationId xmlns:a16="http://schemas.microsoft.com/office/drawing/2014/main" id="{31677D87-B4B8-D24B-79E1-3CAE77D244D9}"/>
              </a:ext>
            </a:extLst>
          </p:cNvPr>
          <p:cNvSpPr txBox="1"/>
          <p:nvPr/>
        </p:nvSpPr>
        <p:spPr>
          <a:xfrm>
            <a:off x="2967563"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132" name="TextBox 200">
            <a:extLst>
              <a:ext uri="{FF2B5EF4-FFF2-40B4-BE49-F238E27FC236}">
                <a16:creationId xmlns:a16="http://schemas.microsoft.com/office/drawing/2014/main" id="{563EC7A1-B780-24FB-614F-C67B2E1DE9FD}"/>
              </a:ext>
            </a:extLst>
          </p:cNvPr>
          <p:cNvSpPr txBox="1"/>
          <p:nvPr/>
        </p:nvSpPr>
        <p:spPr>
          <a:xfrm>
            <a:off x="2967563"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Type · Size · Urgency</a:t>
            </a:r>
          </a:p>
        </p:txBody>
      </p:sp>
      <p:sp>
        <p:nvSpPr>
          <p:cNvPr id="133" name="TextBox 201">
            <a:extLst>
              <a:ext uri="{FF2B5EF4-FFF2-40B4-BE49-F238E27FC236}">
                <a16:creationId xmlns:a16="http://schemas.microsoft.com/office/drawing/2014/main" id="{E314CA28-A6F5-DE86-90DA-BEC622F0FEB4}"/>
              </a:ext>
            </a:extLst>
          </p:cNvPr>
          <p:cNvSpPr txBox="1"/>
          <p:nvPr/>
        </p:nvSpPr>
        <p:spPr>
          <a:xfrm>
            <a:off x="2967563" y="2454567"/>
            <a:ext cx="1896915" cy="567463"/>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requests are categorized: small vs. large, regulatory flags, acceptance criteria.</a:t>
            </a:r>
          </a:p>
        </p:txBody>
      </p:sp>
      <p:sp>
        <p:nvSpPr>
          <p:cNvPr id="134" name="Rectangle 202">
            <a:extLst>
              <a:ext uri="{FF2B5EF4-FFF2-40B4-BE49-F238E27FC236}">
                <a16:creationId xmlns:a16="http://schemas.microsoft.com/office/drawing/2014/main" id="{C700F7EE-1D1A-3DB8-3310-16D584E41078}"/>
              </a:ext>
            </a:extLst>
          </p:cNvPr>
          <p:cNvSpPr/>
          <p:nvPr/>
        </p:nvSpPr>
        <p:spPr>
          <a:xfrm>
            <a:off x="5080037"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5" name="Rectangle 203">
            <a:extLst>
              <a:ext uri="{FF2B5EF4-FFF2-40B4-BE49-F238E27FC236}">
                <a16:creationId xmlns:a16="http://schemas.microsoft.com/office/drawing/2014/main" id="{7B1A375D-93B5-FDA5-A52F-7292746938CE}"/>
              </a:ext>
            </a:extLst>
          </p:cNvPr>
          <p:cNvSpPr/>
          <p:nvPr/>
        </p:nvSpPr>
        <p:spPr>
          <a:xfrm>
            <a:off x="5080037"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36" name="TextBox 204">
            <a:extLst>
              <a:ext uri="{FF2B5EF4-FFF2-40B4-BE49-F238E27FC236}">
                <a16:creationId xmlns:a16="http://schemas.microsoft.com/office/drawing/2014/main" id="{3F971F2F-3DE5-4B43-43A8-A6CF008705DA}"/>
              </a:ext>
            </a:extLst>
          </p:cNvPr>
          <p:cNvSpPr txBox="1"/>
          <p:nvPr/>
        </p:nvSpPr>
        <p:spPr>
          <a:xfrm>
            <a:off x="5178018"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137" name="TextBox 205">
            <a:extLst>
              <a:ext uri="{FF2B5EF4-FFF2-40B4-BE49-F238E27FC236}">
                <a16:creationId xmlns:a16="http://schemas.microsoft.com/office/drawing/2014/main" id="{7298E5FE-55AC-3F72-CD49-582F6A53BAF1}"/>
              </a:ext>
            </a:extLst>
          </p:cNvPr>
          <p:cNvSpPr txBox="1"/>
          <p:nvPr/>
        </p:nvSpPr>
        <p:spPr>
          <a:xfrm>
            <a:off x="5178018"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Scoring · Criteria</a:t>
            </a:r>
          </a:p>
        </p:txBody>
      </p:sp>
      <p:sp>
        <p:nvSpPr>
          <p:cNvPr id="138" name="TextBox 206">
            <a:extLst>
              <a:ext uri="{FF2B5EF4-FFF2-40B4-BE49-F238E27FC236}">
                <a16:creationId xmlns:a16="http://schemas.microsoft.com/office/drawing/2014/main" id="{C6B788EE-71F9-CF9A-939E-72158C30F7AA}"/>
              </a:ext>
            </a:extLst>
          </p:cNvPr>
          <p:cNvSpPr txBox="1"/>
          <p:nvPr/>
        </p:nvSpPr>
        <p:spPr>
          <a:xfrm>
            <a:off x="5178018" y="2454567"/>
            <a:ext cx="1896915" cy="567463"/>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work is ranked: who decides, which criteria apply, how conflicts are resolved.</a:t>
            </a:r>
          </a:p>
        </p:txBody>
      </p:sp>
      <p:sp>
        <p:nvSpPr>
          <p:cNvPr id="139" name="Rectangle 207">
            <a:extLst>
              <a:ext uri="{FF2B5EF4-FFF2-40B4-BE49-F238E27FC236}">
                <a16:creationId xmlns:a16="http://schemas.microsoft.com/office/drawing/2014/main" id="{18121474-CC38-402B-3138-FBB66F150840}"/>
              </a:ext>
            </a:extLst>
          </p:cNvPr>
          <p:cNvSpPr/>
          <p:nvPr/>
        </p:nvSpPr>
        <p:spPr>
          <a:xfrm>
            <a:off x="7290493"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0" name="Rectangle 208">
            <a:extLst>
              <a:ext uri="{FF2B5EF4-FFF2-40B4-BE49-F238E27FC236}">
                <a16:creationId xmlns:a16="http://schemas.microsoft.com/office/drawing/2014/main" id="{C6CF19F5-4CED-781D-00C9-1674A845AFD8}"/>
              </a:ext>
            </a:extLst>
          </p:cNvPr>
          <p:cNvSpPr/>
          <p:nvPr/>
        </p:nvSpPr>
        <p:spPr>
          <a:xfrm>
            <a:off x="7290493"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41" name="TextBox 209">
            <a:extLst>
              <a:ext uri="{FF2B5EF4-FFF2-40B4-BE49-F238E27FC236}">
                <a16:creationId xmlns:a16="http://schemas.microsoft.com/office/drawing/2014/main" id="{DD2F6B75-210B-8890-2AF2-50D033157085}"/>
              </a:ext>
            </a:extLst>
          </p:cNvPr>
          <p:cNvSpPr txBox="1"/>
          <p:nvPr/>
        </p:nvSpPr>
        <p:spPr>
          <a:xfrm>
            <a:off x="7388474"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42" name="TextBox 210">
            <a:extLst>
              <a:ext uri="{FF2B5EF4-FFF2-40B4-BE49-F238E27FC236}">
                <a16:creationId xmlns:a16="http://schemas.microsoft.com/office/drawing/2014/main" id="{FB0221C1-0495-71D4-9717-782D7852F7EF}"/>
              </a:ext>
            </a:extLst>
          </p:cNvPr>
          <p:cNvSpPr txBox="1"/>
          <p:nvPr/>
        </p:nvSpPr>
        <p:spPr>
          <a:xfrm>
            <a:off x="7388474"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Governance · Decision</a:t>
            </a:r>
          </a:p>
        </p:txBody>
      </p:sp>
      <p:sp>
        <p:nvSpPr>
          <p:cNvPr id="143" name="TextBox 211">
            <a:extLst>
              <a:ext uri="{FF2B5EF4-FFF2-40B4-BE49-F238E27FC236}">
                <a16:creationId xmlns:a16="http://schemas.microsoft.com/office/drawing/2014/main" id="{13579241-6AD2-DAFF-D71E-1D8514E00998}"/>
              </a:ext>
            </a:extLst>
          </p:cNvPr>
          <p:cNvSpPr txBox="1"/>
          <p:nvPr/>
        </p:nvSpPr>
        <p:spPr>
          <a:xfrm>
            <a:off x="7388474" y="2454567"/>
            <a:ext cx="1896915"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Where initiatives live: PDD approval, portfolio tool, funding model, steering forums.</a:t>
            </a:r>
          </a:p>
        </p:txBody>
      </p:sp>
      <p:sp>
        <p:nvSpPr>
          <p:cNvPr id="144" name="Rectangle 212">
            <a:extLst>
              <a:ext uri="{FF2B5EF4-FFF2-40B4-BE49-F238E27FC236}">
                <a16:creationId xmlns:a16="http://schemas.microsoft.com/office/drawing/2014/main" id="{C34B7DB7-DB72-DF5E-0888-8C93221E539C}"/>
              </a:ext>
            </a:extLst>
          </p:cNvPr>
          <p:cNvSpPr/>
          <p:nvPr/>
        </p:nvSpPr>
        <p:spPr>
          <a:xfrm>
            <a:off x="9500948"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5" name="Rectangle 213">
            <a:extLst>
              <a:ext uri="{FF2B5EF4-FFF2-40B4-BE49-F238E27FC236}">
                <a16:creationId xmlns:a16="http://schemas.microsoft.com/office/drawing/2014/main" id="{BF55A183-6837-03B9-8361-913DE219D7F0}"/>
              </a:ext>
            </a:extLst>
          </p:cNvPr>
          <p:cNvSpPr/>
          <p:nvPr/>
        </p:nvSpPr>
        <p:spPr>
          <a:xfrm>
            <a:off x="9500948"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46" name="TextBox 214">
            <a:extLst>
              <a:ext uri="{FF2B5EF4-FFF2-40B4-BE49-F238E27FC236}">
                <a16:creationId xmlns:a16="http://schemas.microsoft.com/office/drawing/2014/main" id="{32F0990B-2A98-359C-867B-88D2AD549CFC}"/>
              </a:ext>
            </a:extLst>
          </p:cNvPr>
          <p:cNvSpPr txBox="1"/>
          <p:nvPr/>
        </p:nvSpPr>
        <p:spPr>
          <a:xfrm>
            <a:off x="9598930"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47" name="TextBox 215">
            <a:extLst>
              <a:ext uri="{FF2B5EF4-FFF2-40B4-BE49-F238E27FC236}">
                <a16:creationId xmlns:a16="http://schemas.microsoft.com/office/drawing/2014/main" id="{E7AB408E-9A00-9155-C41A-7A56B0D15D9F}"/>
              </a:ext>
            </a:extLst>
          </p:cNvPr>
          <p:cNvSpPr txBox="1"/>
          <p:nvPr/>
        </p:nvSpPr>
        <p:spPr>
          <a:xfrm>
            <a:off x="9598930"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Execution · Flow</a:t>
            </a:r>
          </a:p>
        </p:txBody>
      </p:sp>
      <p:sp>
        <p:nvSpPr>
          <p:cNvPr id="148" name="TextBox 216">
            <a:extLst>
              <a:ext uri="{FF2B5EF4-FFF2-40B4-BE49-F238E27FC236}">
                <a16:creationId xmlns:a16="http://schemas.microsoft.com/office/drawing/2014/main" id="{EEE44B6C-6D29-1D47-0AAB-81A90784F761}"/>
              </a:ext>
            </a:extLst>
          </p:cNvPr>
          <p:cNvSpPr txBox="1"/>
          <p:nvPr/>
        </p:nvSpPr>
        <p:spPr>
          <a:xfrm>
            <a:off x="9598930" y="2454567"/>
            <a:ext cx="1896915" cy="567463"/>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work gets done: internal / SWF / Vendor mix, progress tracking, release cadence.</a:t>
            </a:r>
          </a:p>
        </p:txBody>
      </p:sp>
      <p:sp>
        <p:nvSpPr>
          <p:cNvPr id="3" name="Rectangle 177">
            <a:extLst>
              <a:ext uri="{FF2B5EF4-FFF2-40B4-BE49-F238E27FC236}">
                <a16:creationId xmlns:a16="http://schemas.microsoft.com/office/drawing/2014/main" id="{A3FD8A21-AA02-A371-D304-0DF344AFEC96}"/>
              </a:ext>
            </a:extLst>
          </p:cNvPr>
          <p:cNvSpPr/>
          <p:nvPr/>
        </p:nvSpPr>
        <p:spPr>
          <a:xfrm>
            <a:off x="671397" y="3438088"/>
            <a:ext cx="10927437" cy="385785"/>
          </a:xfrm>
          <a:prstGeom prst="rect">
            <a:avLst/>
          </a:prstGeom>
          <a:solidFill>
            <a:srgbClr val="0F1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MATURITY ASSESSMENT</a:t>
            </a:r>
          </a:p>
        </p:txBody>
      </p:sp>
      <p:sp>
        <p:nvSpPr>
          <p:cNvPr id="4" name="Rectangle 177">
            <a:extLst>
              <a:ext uri="{FF2B5EF4-FFF2-40B4-BE49-F238E27FC236}">
                <a16:creationId xmlns:a16="http://schemas.microsoft.com/office/drawing/2014/main" id="{D0E1A1B5-8D45-B19D-F254-C46F91FBD061}"/>
              </a:ext>
            </a:extLst>
          </p:cNvPr>
          <p:cNvSpPr/>
          <p:nvPr/>
        </p:nvSpPr>
        <p:spPr>
          <a:xfrm>
            <a:off x="671397" y="1505116"/>
            <a:ext cx="10927437" cy="385785"/>
          </a:xfrm>
          <a:prstGeom prst="rect">
            <a:avLst/>
          </a:prstGeom>
          <a:solidFill>
            <a:srgbClr val="0F1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STANDARD LIFECYLE MAP</a:t>
            </a:r>
          </a:p>
        </p:txBody>
      </p:sp>
      <p:sp>
        <p:nvSpPr>
          <p:cNvPr id="17" name="CuadroTexto 204">
            <a:extLst>
              <a:ext uri="{FF2B5EF4-FFF2-40B4-BE49-F238E27FC236}">
                <a16:creationId xmlns:a16="http://schemas.microsoft.com/office/drawing/2014/main" id="{74715DF8-A172-58C1-2F8A-03B4CF408E75}"/>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Five sequential stages and four maturity levels — the same analytical grid applied to every team, so fragmentation can be measured, not just described.</a:t>
            </a:r>
          </a:p>
        </p:txBody>
      </p:sp>
    </p:spTree>
    <p:extLst>
      <p:ext uri="{BB962C8B-B14F-4D97-AF65-F5344CB8AC3E}">
        <p14:creationId xmlns:p14="http://schemas.microsoft.com/office/powerpoint/2010/main" val="1119689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5C173-CA64-8659-796E-D6B85CB60776}"/>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633B0EAC-F4FA-D7C2-64A6-8406EE2FECA5}"/>
              </a:ext>
            </a:extLst>
          </p:cNvPr>
          <p:cNvSpPr/>
          <p:nvPr/>
        </p:nvSpPr>
        <p:spPr>
          <a:xfrm>
            <a:off x="0" y="6390189"/>
            <a:ext cx="12094590" cy="4412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4" name="Rectangle 177">
            <a:extLst>
              <a:ext uri="{FF2B5EF4-FFF2-40B4-BE49-F238E27FC236}">
                <a16:creationId xmlns:a16="http://schemas.microsoft.com/office/drawing/2014/main" id="{BE9500F0-ADF1-3076-BDD9-9901928CE9A3}"/>
              </a:ext>
            </a:extLst>
          </p:cNvPr>
          <p:cNvSpPr/>
          <p:nvPr/>
        </p:nvSpPr>
        <p:spPr>
          <a:xfrm>
            <a:off x="3866763" y="6067651"/>
            <a:ext cx="4491174" cy="343027"/>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solidFill>
                <a:schemeClr val="bg1"/>
              </a:solidFill>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0E7D9766-A967-678C-02F2-5DD75F528F8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63" name="Rectangle 153">
            <a:extLst>
              <a:ext uri="{FF2B5EF4-FFF2-40B4-BE49-F238E27FC236}">
                <a16:creationId xmlns:a16="http://schemas.microsoft.com/office/drawing/2014/main" id="{F8B1B18E-2507-D8EE-C6C9-44035A673AE1}"/>
              </a:ext>
            </a:extLst>
          </p:cNvPr>
          <p:cNvSpPr/>
          <p:nvPr/>
        </p:nvSpPr>
        <p:spPr>
          <a:xfrm>
            <a:off x="423176" y="6446670"/>
            <a:ext cx="11274552" cy="38661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4" name="TextBox 154">
            <a:extLst>
              <a:ext uri="{FF2B5EF4-FFF2-40B4-BE49-F238E27FC236}">
                <a16:creationId xmlns:a16="http://schemas.microsoft.com/office/drawing/2014/main" id="{EEE6F159-DC56-06F3-46CA-11B8B1152D89}"/>
              </a:ext>
            </a:extLst>
          </p:cNvPr>
          <p:cNvSpPr txBox="1"/>
          <p:nvPr/>
        </p:nvSpPr>
        <p:spPr>
          <a:xfrm>
            <a:off x="599592" y="6520014"/>
            <a:ext cx="10992815" cy="187424"/>
          </a:xfrm>
          <a:prstGeom prst="rect">
            <a:avLst/>
          </a:prstGeom>
          <a:noFill/>
        </p:spPr>
        <p:txBody>
          <a:bodyPr wrap="square" lIns="0" tIns="0" rIns="0" bIns="0" anchor="ctr">
            <a:spAutoFit/>
          </a:bodyPr>
          <a:lstStyle/>
          <a:p>
            <a:pPr>
              <a:lnSpc>
                <a:spcPct val="110000"/>
              </a:lnSpc>
            </a:pPr>
            <a:r>
              <a:rPr lang="en-US" sz="1200" noProof="0">
                <a:solidFill>
                  <a:srgbClr val="FFFFFF"/>
                </a:solidFill>
                <a:latin typeface="Arial" panose="020B0604020202020204" pitchFamily="34" charset="0"/>
                <a:cs typeface="Arial" panose="020B0604020202020204" pitchFamily="34" charset="0"/>
              </a:rPr>
              <a:t>T</a:t>
            </a:r>
            <a:r>
              <a:rPr lang="en-US" sz="1200" b="0" i="0" noProof="0">
                <a:solidFill>
                  <a:srgbClr val="FFFFFF"/>
                </a:solidFill>
                <a:latin typeface="Arial" panose="020B0604020202020204" pitchFamily="34" charset="0"/>
                <a:cs typeface="Arial" panose="020B0604020202020204" pitchFamily="34" charset="0"/>
              </a:rPr>
              <a:t>he operating-model playbook exists internally — the gap is scaling it across Digital Products</a:t>
            </a:r>
          </a:p>
        </p:txBody>
      </p:sp>
      <p:sp>
        <p:nvSpPr>
          <p:cNvPr id="38" name="TextBox 165">
            <a:extLst>
              <a:ext uri="{FF2B5EF4-FFF2-40B4-BE49-F238E27FC236}">
                <a16:creationId xmlns:a16="http://schemas.microsoft.com/office/drawing/2014/main" id="{B4EF053F-3682-B574-F2A2-829752550DFA}"/>
              </a:ext>
            </a:extLst>
          </p:cNvPr>
          <p:cNvSpPr txBox="1"/>
          <p:nvPr/>
        </p:nvSpPr>
        <p:spPr>
          <a:xfrm>
            <a:off x="3866763" y="6137644"/>
            <a:ext cx="74396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MATURITY:</a:t>
            </a:r>
          </a:p>
        </p:txBody>
      </p:sp>
      <p:sp>
        <p:nvSpPr>
          <p:cNvPr id="80" name="Oval 79">
            <a:extLst>
              <a:ext uri="{FF2B5EF4-FFF2-40B4-BE49-F238E27FC236}">
                <a16:creationId xmlns:a16="http://schemas.microsoft.com/office/drawing/2014/main" id="{F40B3B2E-901D-3531-761B-2105F7266F33}"/>
              </a:ext>
            </a:extLst>
          </p:cNvPr>
          <p:cNvSpPr/>
          <p:nvPr/>
        </p:nvSpPr>
        <p:spPr>
          <a:xfrm>
            <a:off x="4685151" y="6170585"/>
            <a:ext cx="137160" cy="137160"/>
          </a:xfrm>
          <a:prstGeom prst="ellipse">
            <a:avLst/>
          </a:prstGeom>
          <a:solidFill>
            <a:srgbClr val="BC4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6" name="TextBox 167">
            <a:extLst>
              <a:ext uri="{FF2B5EF4-FFF2-40B4-BE49-F238E27FC236}">
                <a16:creationId xmlns:a16="http://schemas.microsoft.com/office/drawing/2014/main" id="{5CAD8843-2A6C-75B0-4CC5-A1BE9E751873}"/>
              </a:ext>
            </a:extLst>
          </p:cNvPr>
          <p:cNvSpPr txBox="1"/>
          <p:nvPr/>
        </p:nvSpPr>
        <p:spPr>
          <a:xfrm>
            <a:off x="4849743" y="613764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CRITICAL</a:t>
            </a:r>
          </a:p>
        </p:txBody>
      </p:sp>
      <p:sp>
        <p:nvSpPr>
          <p:cNvPr id="167" name="Oval 166">
            <a:extLst>
              <a:ext uri="{FF2B5EF4-FFF2-40B4-BE49-F238E27FC236}">
                <a16:creationId xmlns:a16="http://schemas.microsoft.com/office/drawing/2014/main" id="{041838AC-653E-5596-EFAF-F06E9A125F27}"/>
              </a:ext>
            </a:extLst>
          </p:cNvPr>
          <p:cNvSpPr/>
          <p:nvPr/>
        </p:nvSpPr>
        <p:spPr>
          <a:xfrm>
            <a:off x="5645271" y="6170585"/>
            <a:ext cx="137160" cy="137160"/>
          </a:xfrm>
          <a:prstGeom prst="ellipse">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8" name="TextBox 169">
            <a:extLst>
              <a:ext uri="{FF2B5EF4-FFF2-40B4-BE49-F238E27FC236}">
                <a16:creationId xmlns:a16="http://schemas.microsoft.com/office/drawing/2014/main" id="{9DA7E807-871E-B9CE-0BEE-19AEB24C1781}"/>
              </a:ext>
            </a:extLst>
          </p:cNvPr>
          <p:cNvSpPr txBox="1"/>
          <p:nvPr/>
        </p:nvSpPr>
        <p:spPr>
          <a:xfrm>
            <a:off x="5809862" y="613764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GAP</a:t>
            </a:r>
          </a:p>
        </p:txBody>
      </p:sp>
      <p:sp>
        <p:nvSpPr>
          <p:cNvPr id="169" name="Oval 168">
            <a:extLst>
              <a:ext uri="{FF2B5EF4-FFF2-40B4-BE49-F238E27FC236}">
                <a16:creationId xmlns:a16="http://schemas.microsoft.com/office/drawing/2014/main" id="{7B447D0E-CD53-C4CF-EA0F-22EF1A0A40CC}"/>
              </a:ext>
            </a:extLst>
          </p:cNvPr>
          <p:cNvSpPr/>
          <p:nvPr/>
        </p:nvSpPr>
        <p:spPr>
          <a:xfrm>
            <a:off x="6605391" y="6170585"/>
            <a:ext cx="137160" cy="137160"/>
          </a:xfrm>
          <a:prstGeom prst="ellipse">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0" name="TextBox 171">
            <a:extLst>
              <a:ext uri="{FF2B5EF4-FFF2-40B4-BE49-F238E27FC236}">
                <a16:creationId xmlns:a16="http://schemas.microsoft.com/office/drawing/2014/main" id="{47082D8D-7355-416C-9B07-DCDBF57F090D}"/>
              </a:ext>
            </a:extLst>
          </p:cNvPr>
          <p:cNvSpPr txBox="1"/>
          <p:nvPr/>
        </p:nvSpPr>
        <p:spPr>
          <a:xfrm>
            <a:off x="6769983" y="613764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PARTIAL</a:t>
            </a:r>
          </a:p>
        </p:txBody>
      </p:sp>
      <p:sp>
        <p:nvSpPr>
          <p:cNvPr id="171" name="Oval 170">
            <a:extLst>
              <a:ext uri="{FF2B5EF4-FFF2-40B4-BE49-F238E27FC236}">
                <a16:creationId xmlns:a16="http://schemas.microsoft.com/office/drawing/2014/main" id="{68692178-F311-03C3-A74E-216A93610DD9}"/>
              </a:ext>
            </a:extLst>
          </p:cNvPr>
          <p:cNvSpPr/>
          <p:nvPr/>
        </p:nvSpPr>
        <p:spPr>
          <a:xfrm>
            <a:off x="7565511" y="617058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2" name="TextBox 173">
            <a:extLst>
              <a:ext uri="{FF2B5EF4-FFF2-40B4-BE49-F238E27FC236}">
                <a16:creationId xmlns:a16="http://schemas.microsoft.com/office/drawing/2014/main" id="{14F67952-973A-478A-52E7-372372A2BD66}"/>
              </a:ext>
            </a:extLst>
          </p:cNvPr>
          <p:cNvSpPr txBox="1"/>
          <p:nvPr/>
        </p:nvSpPr>
        <p:spPr>
          <a:xfrm>
            <a:off x="7702671" y="614519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SCALABLE</a:t>
            </a:r>
          </a:p>
        </p:txBody>
      </p:sp>
      <p:sp>
        <p:nvSpPr>
          <p:cNvPr id="3" name="Rectangle 4">
            <a:extLst>
              <a:ext uri="{FF2B5EF4-FFF2-40B4-BE49-F238E27FC236}">
                <a16:creationId xmlns:a16="http://schemas.microsoft.com/office/drawing/2014/main" id="{EC265221-EE9B-CC94-2D5A-2BBD9A9CD9C8}"/>
              </a:ext>
            </a:extLst>
          </p:cNvPr>
          <p:cNvSpPr/>
          <p:nvPr/>
        </p:nvSpPr>
        <p:spPr>
          <a:xfrm>
            <a:off x="1647515" y="1409382"/>
            <a:ext cx="164592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TextBox 5">
            <a:extLst>
              <a:ext uri="{FF2B5EF4-FFF2-40B4-BE49-F238E27FC236}">
                <a16:creationId xmlns:a16="http://schemas.microsoft.com/office/drawing/2014/main" id="{C4FC05E0-6ACC-AC1D-4D9E-978512D0ACBB}"/>
              </a:ext>
            </a:extLst>
          </p:cNvPr>
          <p:cNvSpPr txBox="1"/>
          <p:nvPr/>
        </p:nvSpPr>
        <p:spPr>
          <a:xfrm>
            <a:off x="1647515" y="1436814"/>
            <a:ext cx="1645920" cy="154979"/>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SOURCE</a:t>
            </a:r>
          </a:p>
        </p:txBody>
      </p:sp>
      <p:sp>
        <p:nvSpPr>
          <p:cNvPr id="9" name="TextBox 6">
            <a:extLst>
              <a:ext uri="{FF2B5EF4-FFF2-40B4-BE49-F238E27FC236}">
                <a16:creationId xmlns:a16="http://schemas.microsoft.com/office/drawing/2014/main" id="{D7355813-B3CF-8089-5559-F48855E7DBDB}"/>
              </a:ext>
            </a:extLst>
          </p:cNvPr>
          <p:cNvSpPr txBox="1"/>
          <p:nvPr/>
        </p:nvSpPr>
        <p:spPr>
          <a:xfrm>
            <a:off x="1647515" y="1665414"/>
            <a:ext cx="1645920"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Who sends the demand</a:t>
            </a:r>
          </a:p>
        </p:txBody>
      </p:sp>
      <p:sp>
        <p:nvSpPr>
          <p:cNvPr id="12" name="Rectangle 7">
            <a:extLst>
              <a:ext uri="{FF2B5EF4-FFF2-40B4-BE49-F238E27FC236}">
                <a16:creationId xmlns:a16="http://schemas.microsoft.com/office/drawing/2014/main" id="{2DFB6110-EBE7-0C4E-AFFE-29A9FC145A9F}"/>
              </a:ext>
            </a:extLst>
          </p:cNvPr>
          <p:cNvSpPr/>
          <p:nvPr/>
        </p:nvSpPr>
        <p:spPr>
          <a:xfrm>
            <a:off x="3339155" y="1409382"/>
            <a:ext cx="155448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6" name="TextBox 8">
            <a:extLst>
              <a:ext uri="{FF2B5EF4-FFF2-40B4-BE49-F238E27FC236}">
                <a16:creationId xmlns:a16="http://schemas.microsoft.com/office/drawing/2014/main" id="{ACBC6BAA-8E8F-37F0-F004-6CC6E4797B9F}"/>
              </a:ext>
            </a:extLst>
          </p:cNvPr>
          <p:cNvSpPr txBox="1"/>
          <p:nvPr/>
        </p:nvSpPr>
        <p:spPr>
          <a:xfrm>
            <a:off x="3339155" y="1436814"/>
            <a:ext cx="1554480" cy="154979"/>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TYPES</a:t>
            </a:r>
          </a:p>
        </p:txBody>
      </p:sp>
      <p:sp>
        <p:nvSpPr>
          <p:cNvPr id="84" name="TextBox 9">
            <a:extLst>
              <a:ext uri="{FF2B5EF4-FFF2-40B4-BE49-F238E27FC236}">
                <a16:creationId xmlns:a16="http://schemas.microsoft.com/office/drawing/2014/main" id="{76CE88DE-DFFD-33E9-06AF-273464D4A59F}"/>
              </a:ext>
            </a:extLst>
          </p:cNvPr>
          <p:cNvSpPr txBox="1"/>
          <p:nvPr/>
        </p:nvSpPr>
        <p:spPr>
          <a:xfrm>
            <a:off x="3339155" y="1665414"/>
            <a:ext cx="1554480"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What kind of demand</a:t>
            </a:r>
          </a:p>
        </p:txBody>
      </p:sp>
      <p:sp>
        <p:nvSpPr>
          <p:cNvPr id="87" name="Rectangle 10">
            <a:extLst>
              <a:ext uri="{FF2B5EF4-FFF2-40B4-BE49-F238E27FC236}">
                <a16:creationId xmlns:a16="http://schemas.microsoft.com/office/drawing/2014/main" id="{613B8E36-BAD6-7D32-7DB0-81B3C733CA39}"/>
              </a:ext>
            </a:extLst>
          </p:cNvPr>
          <p:cNvSpPr/>
          <p:nvPr/>
        </p:nvSpPr>
        <p:spPr>
          <a:xfrm>
            <a:off x="4939354"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0" name="TextBox 11">
            <a:extLst>
              <a:ext uri="{FF2B5EF4-FFF2-40B4-BE49-F238E27FC236}">
                <a16:creationId xmlns:a16="http://schemas.microsoft.com/office/drawing/2014/main" id="{5EB7A5D8-825D-6C7D-C636-D455EC376BF9}"/>
              </a:ext>
            </a:extLst>
          </p:cNvPr>
          <p:cNvSpPr txBox="1"/>
          <p:nvPr/>
        </p:nvSpPr>
        <p:spPr>
          <a:xfrm>
            <a:off x="4939354"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01 INTAKE</a:t>
            </a:r>
          </a:p>
        </p:txBody>
      </p:sp>
      <p:sp>
        <p:nvSpPr>
          <p:cNvPr id="93" name="TextBox 12">
            <a:extLst>
              <a:ext uri="{FF2B5EF4-FFF2-40B4-BE49-F238E27FC236}">
                <a16:creationId xmlns:a16="http://schemas.microsoft.com/office/drawing/2014/main" id="{8D837CBD-3006-8A21-CF2E-995F1C04B0F5}"/>
              </a:ext>
            </a:extLst>
          </p:cNvPr>
          <p:cNvSpPr txBox="1"/>
          <p:nvPr/>
        </p:nvSpPr>
        <p:spPr>
          <a:xfrm>
            <a:off x="4939354"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Channels</a:t>
            </a:r>
          </a:p>
        </p:txBody>
      </p:sp>
      <p:sp>
        <p:nvSpPr>
          <p:cNvPr id="96" name="Rectangle 13">
            <a:extLst>
              <a:ext uri="{FF2B5EF4-FFF2-40B4-BE49-F238E27FC236}">
                <a16:creationId xmlns:a16="http://schemas.microsoft.com/office/drawing/2014/main" id="{A65ADB74-CE71-CC91-131F-B00F54A9748E}"/>
              </a:ext>
            </a:extLst>
          </p:cNvPr>
          <p:cNvSpPr/>
          <p:nvPr/>
        </p:nvSpPr>
        <p:spPr>
          <a:xfrm>
            <a:off x="6343873"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1" name="TextBox 14">
            <a:extLst>
              <a:ext uri="{FF2B5EF4-FFF2-40B4-BE49-F238E27FC236}">
                <a16:creationId xmlns:a16="http://schemas.microsoft.com/office/drawing/2014/main" id="{BDDD884F-8FFC-A279-8BFD-1F360090FD20}"/>
              </a:ext>
            </a:extLst>
          </p:cNvPr>
          <p:cNvSpPr txBox="1"/>
          <p:nvPr/>
        </p:nvSpPr>
        <p:spPr>
          <a:xfrm>
            <a:off x="6343873"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02 CLASSIFICATION</a:t>
            </a:r>
          </a:p>
        </p:txBody>
      </p:sp>
      <p:sp>
        <p:nvSpPr>
          <p:cNvPr id="140" name="TextBox 15">
            <a:extLst>
              <a:ext uri="{FF2B5EF4-FFF2-40B4-BE49-F238E27FC236}">
                <a16:creationId xmlns:a16="http://schemas.microsoft.com/office/drawing/2014/main" id="{6E376847-9530-BB8D-1441-C9C54A2AA084}"/>
              </a:ext>
            </a:extLst>
          </p:cNvPr>
          <p:cNvSpPr txBox="1"/>
          <p:nvPr/>
        </p:nvSpPr>
        <p:spPr>
          <a:xfrm>
            <a:off x="6343873"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Type, Size, Urgency</a:t>
            </a:r>
          </a:p>
        </p:txBody>
      </p:sp>
      <p:sp>
        <p:nvSpPr>
          <p:cNvPr id="149" name="Rectangle 16">
            <a:extLst>
              <a:ext uri="{FF2B5EF4-FFF2-40B4-BE49-F238E27FC236}">
                <a16:creationId xmlns:a16="http://schemas.microsoft.com/office/drawing/2014/main" id="{DDC6DA78-AC31-E785-B590-6D70C06603AD}"/>
              </a:ext>
            </a:extLst>
          </p:cNvPr>
          <p:cNvSpPr/>
          <p:nvPr/>
        </p:nvSpPr>
        <p:spPr>
          <a:xfrm>
            <a:off x="7748391"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5" name="TextBox 17">
            <a:extLst>
              <a:ext uri="{FF2B5EF4-FFF2-40B4-BE49-F238E27FC236}">
                <a16:creationId xmlns:a16="http://schemas.microsoft.com/office/drawing/2014/main" id="{A62247BB-F088-2A08-DA45-9C46C9E00055}"/>
              </a:ext>
            </a:extLst>
          </p:cNvPr>
          <p:cNvSpPr txBox="1"/>
          <p:nvPr/>
        </p:nvSpPr>
        <p:spPr>
          <a:xfrm>
            <a:off x="7748391"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03 PRIORITIZATION</a:t>
            </a:r>
          </a:p>
        </p:txBody>
      </p:sp>
      <p:sp>
        <p:nvSpPr>
          <p:cNvPr id="158" name="TextBox 18">
            <a:extLst>
              <a:ext uri="{FF2B5EF4-FFF2-40B4-BE49-F238E27FC236}">
                <a16:creationId xmlns:a16="http://schemas.microsoft.com/office/drawing/2014/main" id="{0D76770E-DEC9-2805-E0CC-7667EF9C738E}"/>
              </a:ext>
            </a:extLst>
          </p:cNvPr>
          <p:cNvSpPr txBox="1"/>
          <p:nvPr/>
        </p:nvSpPr>
        <p:spPr>
          <a:xfrm>
            <a:off x="7748391"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Scoring &amp; Criteria</a:t>
            </a:r>
          </a:p>
        </p:txBody>
      </p:sp>
      <p:sp>
        <p:nvSpPr>
          <p:cNvPr id="183" name="Rectangle 19">
            <a:extLst>
              <a:ext uri="{FF2B5EF4-FFF2-40B4-BE49-F238E27FC236}">
                <a16:creationId xmlns:a16="http://schemas.microsoft.com/office/drawing/2014/main" id="{B51EDB3C-A9D2-6373-6463-B180A3B660A1}"/>
              </a:ext>
            </a:extLst>
          </p:cNvPr>
          <p:cNvSpPr/>
          <p:nvPr/>
        </p:nvSpPr>
        <p:spPr>
          <a:xfrm>
            <a:off x="9152910"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4" name="TextBox 20">
            <a:extLst>
              <a:ext uri="{FF2B5EF4-FFF2-40B4-BE49-F238E27FC236}">
                <a16:creationId xmlns:a16="http://schemas.microsoft.com/office/drawing/2014/main" id="{DE4A3276-33C6-FB52-4C27-49D953166F02}"/>
              </a:ext>
            </a:extLst>
          </p:cNvPr>
          <p:cNvSpPr txBox="1"/>
          <p:nvPr/>
        </p:nvSpPr>
        <p:spPr>
          <a:xfrm>
            <a:off x="9152910"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04 PORTFOLIO</a:t>
            </a:r>
          </a:p>
        </p:txBody>
      </p:sp>
      <p:sp>
        <p:nvSpPr>
          <p:cNvPr id="185" name="TextBox 21">
            <a:extLst>
              <a:ext uri="{FF2B5EF4-FFF2-40B4-BE49-F238E27FC236}">
                <a16:creationId xmlns:a16="http://schemas.microsoft.com/office/drawing/2014/main" id="{A74B8A1E-613C-E18A-004C-647697CF534C}"/>
              </a:ext>
            </a:extLst>
          </p:cNvPr>
          <p:cNvSpPr txBox="1"/>
          <p:nvPr/>
        </p:nvSpPr>
        <p:spPr>
          <a:xfrm>
            <a:off x="9152910"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Governance</a:t>
            </a:r>
          </a:p>
        </p:txBody>
      </p:sp>
      <p:sp>
        <p:nvSpPr>
          <p:cNvPr id="186" name="Rectangle 22">
            <a:extLst>
              <a:ext uri="{FF2B5EF4-FFF2-40B4-BE49-F238E27FC236}">
                <a16:creationId xmlns:a16="http://schemas.microsoft.com/office/drawing/2014/main" id="{C3449699-BD9B-E7E5-58DA-6B9D2B3050E0}"/>
              </a:ext>
            </a:extLst>
          </p:cNvPr>
          <p:cNvSpPr/>
          <p:nvPr/>
        </p:nvSpPr>
        <p:spPr>
          <a:xfrm>
            <a:off x="10557428"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7" name="TextBox 23">
            <a:extLst>
              <a:ext uri="{FF2B5EF4-FFF2-40B4-BE49-F238E27FC236}">
                <a16:creationId xmlns:a16="http://schemas.microsoft.com/office/drawing/2014/main" id="{C9F483FD-26FF-4DBC-3B6F-690A59A3BE47}"/>
              </a:ext>
            </a:extLst>
          </p:cNvPr>
          <p:cNvSpPr txBox="1"/>
          <p:nvPr/>
        </p:nvSpPr>
        <p:spPr>
          <a:xfrm>
            <a:off x="10557428"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05 DELIVERY</a:t>
            </a:r>
          </a:p>
        </p:txBody>
      </p:sp>
      <p:sp>
        <p:nvSpPr>
          <p:cNvPr id="188" name="TextBox 24">
            <a:extLst>
              <a:ext uri="{FF2B5EF4-FFF2-40B4-BE49-F238E27FC236}">
                <a16:creationId xmlns:a16="http://schemas.microsoft.com/office/drawing/2014/main" id="{86993AF8-4646-BA90-D2FC-F27DF0DE59FF}"/>
              </a:ext>
            </a:extLst>
          </p:cNvPr>
          <p:cNvSpPr txBox="1"/>
          <p:nvPr/>
        </p:nvSpPr>
        <p:spPr>
          <a:xfrm>
            <a:off x="10557428"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Execution</a:t>
            </a:r>
          </a:p>
        </p:txBody>
      </p:sp>
      <p:sp>
        <p:nvSpPr>
          <p:cNvPr id="189" name="Rectangle 25">
            <a:extLst>
              <a:ext uri="{FF2B5EF4-FFF2-40B4-BE49-F238E27FC236}">
                <a16:creationId xmlns:a16="http://schemas.microsoft.com/office/drawing/2014/main" id="{E5EC19E7-5DED-F0D2-AE79-F26B07DDE3D1}"/>
              </a:ext>
            </a:extLst>
          </p:cNvPr>
          <p:cNvSpPr/>
          <p:nvPr/>
        </p:nvSpPr>
        <p:spPr>
          <a:xfrm>
            <a:off x="458795" y="2189819"/>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90" name="TextBox 26">
            <a:extLst>
              <a:ext uri="{FF2B5EF4-FFF2-40B4-BE49-F238E27FC236}">
                <a16:creationId xmlns:a16="http://schemas.microsoft.com/office/drawing/2014/main" id="{9AFEF594-62C5-B228-2B26-9A94C7AF0972}"/>
              </a:ext>
            </a:extLst>
          </p:cNvPr>
          <p:cNvSpPr txBox="1"/>
          <p:nvPr/>
        </p:nvSpPr>
        <p:spPr>
          <a:xfrm>
            <a:off x="460304" y="2388158"/>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GIS</a:t>
            </a:r>
          </a:p>
        </p:txBody>
      </p:sp>
      <p:sp>
        <p:nvSpPr>
          <p:cNvPr id="191" name="Rectangle 27">
            <a:extLst>
              <a:ext uri="{FF2B5EF4-FFF2-40B4-BE49-F238E27FC236}">
                <a16:creationId xmlns:a16="http://schemas.microsoft.com/office/drawing/2014/main" id="{D2656754-88D9-DD87-D684-05754B5761D5}"/>
              </a:ext>
            </a:extLst>
          </p:cNvPr>
          <p:cNvSpPr/>
          <p:nvPr/>
        </p:nvSpPr>
        <p:spPr>
          <a:xfrm>
            <a:off x="1647515" y="2189819"/>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900" noProof="0">
                <a:solidFill>
                  <a:srgbClr val="0F1C50"/>
                </a:solidFill>
                <a:latin typeface="Arial" panose="020B0604020202020204" pitchFamily="34" charset="0"/>
                <a:cs typeface="Arial" panose="020B0604020202020204" pitchFamily="34" charset="0"/>
              </a:rPr>
              <a:t>Electric &amp; Gas Field Operations · OSG</a:t>
            </a:r>
            <a:endParaRPr lang="en-US" sz="900" noProof="0">
              <a:latin typeface="Arial" panose="020B0604020202020204" pitchFamily="34" charset="0"/>
              <a:cs typeface="Arial" panose="020B0604020202020204" pitchFamily="34" charset="0"/>
            </a:endParaRPr>
          </a:p>
        </p:txBody>
      </p:sp>
      <p:sp>
        <p:nvSpPr>
          <p:cNvPr id="192" name="Rectangle 29">
            <a:extLst>
              <a:ext uri="{FF2B5EF4-FFF2-40B4-BE49-F238E27FC236}">
                <a16:creationId xmlns:a16="http://schemas.microsoft.com/office/drawing/2014/main" id="{B80FE7E4-893C-7F35-B16B-22FE5C1F7096}"/>
              </a:ext>
            </a:extLst>
          </p:cNvPr>
          <p:cNvSpPr/>
          <p:nvPr/>
        </p:nvSpPr>
        <p:spPr>
          <a:xfrm>
            <a:off x="3339155" y="2189819"/>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3" name="TextBox 30">
            <a:extLst>
              <a:ext uri="{FF2B5EF4-FFF2-40B4-BE49-F238E27FC236}">
                <a16:creationId xmlns:a16="http://schemas.microsoft.com/office/drawing/2014/main" id="{70F5681A-38D0-D66A-6DEF-9454F4838329}"/>
              </a:ext>
            </a:extLst>
          </p:cNvPr>
          <p:cNvSpPr txBox="1"/>
          <p:nvPr/>
        </p:nvSpPr>
        <p:spPr>
          <a:xfrm>
            <a:off x="3412307" y="2394376"/>
            <a:ext cx="1408176" cy="13952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2C3E50"/>
                </a:solidFill>
                <a:latin typeface="Arial" panose="020B0604020202020204" pitchFamily="34" charset="0"/>
                <a:cs typeface="Arial" panose="020B0604020202020204" pitchFamily="34" charset="0"/>
              </a:rPr>
              <a:t>Break/fix · Small · Large</a:t>
            </a:r>
          </a:p>
        </p:txBody>
      </p:sp>
      <p:sp>
        <p:nvSpPr>
          <p:cNvPr id="194" name="Rectangle 31">
            <a:extLst>
              <a:ext uri="{FF2B5EF4-FFF2-40B4-BE49-F238E27FC236}">
                <a16:creationId xmlns:a16="http://schemas.microsoft.com/office/drawing/2014/main" id="{A430E7E9-75AC-077E-2658-9136D16E3B28}"/>
              </a:ext>
            </a:extLst>
          </p:cNvPr>
          <p:cNvSpPr/>
          <p:nvPr/>
        </p:nvSpPr>
        <p:spPr>
          <a:xfrm>
            <a:off x="4939354"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5" name="TextBox 33">
            <a:extLst>
              <a:ext uri="{FF2B5EF4-FFF2-40B4-BE49-F238E27FC236}">
                <a16:creationId xmlns:a16="http://schemas.microsoft.com/office/drawing/2014/main" id="{0E42FDE3-5F47-7675-480A-B969EECFBF8D}"/>
              </a:ext>
            </a:extLst>
          </p:cNvPr>
          <p:cNvSpPr txBox="1"/>
          <p:nvPr/>
        </p:nvSpPr>
        <p:spPr>
          <a:xfrm>
            <a:off x="5174758" y="2329948"/>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No SLA, no volume tracking</a:t>
            </a:r>
            <a:endParaRPr lang="en-US" sz="900" noProof="0">
              <a:latin typeface="Arial" panose="020B0604020202020204" pitchFamily="34" charset="0"/>
              <a:cs typeface="Arial" panose="020B0604020202020204" pitchFamily="34" charset="0"/>
            </a:endParaRPr>
          </a:p>
          <a:p>
            <a:pPr>
              <a:lnSpc>
                <a:spcPct val="110000"/>
              </a:lnSpc>
            </a:pPr>
            <a:endParaRPr lang="en-US" sz="900" noProof="0">
              <a:solidFill>
                <a:srgbClr val="2C3E50"/>
              </a:solidFill>
              <a:latin typeface="Arial" panose="020B0604020202020204" pitchFamily="34" charset="0"/>
              <a:cs typeface="Arial" panose="020B0604020202020204" pitchFamily="34" charset="0"/>
            </a:endParaRPr>
          </a:p>
        </p:txBody>
      </p:sp>
      <p:sp>
        <p:nvSpPr>
          <p:cNvPr id="196" name="Rectangle 34">
            <a:extLst>
              <a:ext uri="{FF2B5EF4-FFF2-40B4-BE49-F238E27FC236}">
                <a16:creationId xmlns:a16="http://schemas.microsoft.com/office/drawing/2014/main" id="{D403870C-FFB7-ACF9-4CFE-FDA9BDD231CE}"/>
              </a:ext>
            </a:extLst>
          </p:cNvPr>
          <p:cNvSpPr/>
          <p:nvPr/>
        </p:nvSpPr>
        <p:spPr>
          <a:xfrm>
            <a:off x="6343873"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7" name="TextBox 36">
            <a:extLst>
              <a:ext uri="{FF2B5EF4-FFF2-40B4-BE49-F238E27FC236}">
                <a16:creationId xmlns:a16="http://schemas.microsoft.com/office/drawing/2014/main" id="{60F5D7FA-911B-722C-FA57-391EAEDC93FE}"/>
              </a:ext>
            </a:extLst>
          </p:cNvPr>
          <p:cNvSpPr txBox="1"/>
          <p:nvPr/>
        </p:nvSpPr>
        <p:spPr>
          <a:xfrm>
            <a:off x="6586080" y="2329948"/>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No classification rule below PDD threshold</a:t>
            </a:r>
          </a:p>
          <a:p>
            <a:pPr>
              <a:lnSpc>
                <a:spcPct val="110000"/>
              </a:lnSpc>
              <a:spcBef>
                <a:spcPts val="0"/>
              </a:spcBef>
              <a:spcAft>
                <a:spcPts val="0"/>
              </a:spcAft>
            </a:pPr>
            <a:endParaRPr lang="en-US" sz="900" noProof="0">
              <a:solidFill>
                <a:srgbClr val="2C3E50"/>
              </a:solidFill>
              <a:latin typeface="Arial" panose="020B0604020202020204" pitchFamily="34" charset="0"/>
              <a:ea typeface="+mn-lt"/>
              <a:cs typeface="Arial" panose="020B0604020202020204" pitchFamily="34" charset="0"/>
            </a:endParaRPr>
          </a:p>
        </p:txBody>
      </p:sp>
      <p:sp>
        <p:nvSpPr>
          <p:cNvPr id="198" name="Rectangle 37">
            <a:extLst>
              <a:ext uri="{FF2B5EF4-FFF2-40B4-BE49-F238E27FC236}">
                <a16:creationId xmlns:a16="http://schemas.microsoft.com/office/drawing/2014/main" id="{D3AAF2F2-50C3-84C1-CB80-2AD92E92D690}"/>
              </a:ext>
            </a:extLst>
          </p:cNvPr>
          <p:cNvSpPr/>
          <p:nvPr/>
        </p:nvSpPr>
        <p:spPr>
          <a:xfrm>
            <a:off x="7748391"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9" name="TextBox 39">
            <a:extLst>
              <a:ext uri="{FF2B5EF4-FFF2-40B4-BE49-F238E27FC236}">
                <a16:creationId xmlns:a16="http://schemas.microsoft.com/office/drawing/2014/main" id="{3FA8427B-6EA9-B64A-6A63-0B048625A931}"/>
              </a:ext>
            </a:extLst>
          </p:cNvPr>
          <p:cNvSpPr txBox="1"/>
          <p:nvPr/>
        </p:nvSpPr>
        <p:spPr>
          <a:xfrm>
            <a:off x="7976991" y="2329948"/>
            <a:ext cx="1084478" cy="417487"/>
          </a:xfrm>
          <a:prstGeom prst="rect">
            <a:avLst/>
          </a:prstGeom>
          <a:noFill/>
        </p:spPr>
        <p:txBody>
          <a:bodyPr wrap="square" lIns="0" tIns="0" rIns="0" bIns="0" anchor="ctr">
            <a:spAutoFit/>
          </a:bodyPr>
          <a:lstStyle/>
          <a:p>
            <a:r>
              <a:rPr lang="en-US" sz="900" noProof="0">
                <a:solidFill>
                  <a:srgbClr val="2C3E50"/>
                </a:solidFill>
                <a:latin typeface="Arial" panose="020B0604020202020204" pitchFamily="34" charset="0"/>
                <a:ea typeface="+mn-lt"/>
                <a:cs typeface="Arial" panose="020B0604020202020204" pitchFamily="34" charset="0"/>
              </a:rPr>
              <a:t>Heuristic-based; no scoring model</a:t>
            </a:r>
          </a:p>
          <a:p>
            <a:pPr algn="l">
              <a:lnSpc>
                <a:spcPct val="110000"/>
              </a:lnSpc>
              <a:spcBef>
                <a:spcPts val="0"/>
              </a:spcBef>
              <a:spcAft>
                <a:spcPts val="0"/>
              </a:spcAft>
            </a:pPr>
            <a:endParaRPr lang="en-US" sz="900" noProof="0">
              <a:solidFill>
                <a:srgbClr val="2C3E50"/>
              </a:solidFill>
              <a:latin typeface="Arial" panose="020B0604020202020204" pitchFamily="34" charset="0"/>
              <a:ea typeface="+mn-lt"/>
              <a:cs typeface="Arial" panose="020B0604020202020204" pitchFamily="34" charset="0"/>
            </a:endParaRPr>
          </a:p>
        </p:txBody>
      </p:sp>
      <p:sp>
        <p:nvSpPr>
          <p:cNvPr id="200" name="Rectangle 40">
            <a:extLst>
              <a:ext uri="{FF2B5EF4-FFF2-40B4-BE49-F238E27FC236}">
                <a16:creationId xmlns:a16="http://schemas.microsoft.com/office/drawing/2014/main" id="{CF2392C0-9C7B-1D24-C0AB-7B141622AF31}"/>
              </a:ext>
            </a:extLst>
          </p:cNvPr>
          <p:cNvSpPr/>
          <p:nvPr/>
        </p:nvSpPr>
        <p:spPr>
          <a:xfrm>
            <a:off x="9152910"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1" name="TextBox 42">
            <a:extLst>
              <a:ext uri="{FF2B5EF4-FFF2-40B4-BE49-F238E27FC236}">
                <a16:creationId xmlns:a16="http://schemas.microsoft.com/office/drawing/2014/main" id="{A1AB317E-C2E4-C3AF-4194-C7EB88FD07BB}"/>
              </a:ext>
            </a:extLst>
          </p:cNvPr>
          <p:cNvSpPr txBox="1"/>
          <p:nvPr/>
        </p:nvSpPr>
        <p:spPr>
          <a:xfrm>
            <a:off x="9381510" y="232994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Informal portfolio management</a:t>
            </a:r>
            <a:endParaRPr lang="en-US" sz="900" noProof="0">
              <a:latin typeface="Arial" panose="020B0604020202020204" pitchFamily="34" charset="0"/>
              <a:cs typeface="Arial" panose="020B0604020202020204" pitchFamily="34" charset="0"/>
            </a:endParaRPr>
          </a:p>
        </p:txBody>
      </p:sp>
      <p:sp>
        <p:nvSpPr>
          <p:cNvPr id="202" name="Rectangle 43">
            <a:extLst>
              <a:ext uri="{FF2B5EF4-FFF2-40B4-BE49-F238E27FC236}">
                <a16:creationId xmlns:a16="http://schemas.microsoft.com/office/drawing/2014/main" id="{050A2BDF-8BF8-8CC0-0122-140185624A28}"/>
              </a:ext>
            </a:extLst>
          </p:cNvPr>
          <p:cNvSpPr/>
          <p:nvPr/>
        </p:nvSpPr>
        <p:spPr>
          <a:xfrm>
            <a:off x="10557428"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3" name="TextBox 45">
            <a:extLst>
              <a:ext uri="{FF2B5EF4-FFF2-40B4-BE49-F238E27FC236}">
                <a16:creationId xmlns:a16="http://schemas.microsoft.com/office/drawing/2014/main" id="{4B6193AC-B0E0-419D-77EB-DC6AC03D6397}"/>
              </a:ext>
            </a:extLst>
          </p:cNvPr>
          <p:cNvSpPr txBox="1"/>
          <p:nvPr/>
        </p:nvSpPr>
        <p:spPr>
          <a:xfrm>
            <a:off x="10786028" y="232994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Ad-hoc delivery; no release KPIs</a:t>
            </a:r>
            <a:endParaRPr lang="en-US" sz="900" noProof="0">
              <a:latin typeface="Arial" panose="020B0604020202020204" pitchFamily="34" charset="0"/>
              <a:cs typeface="Arial" panose="020B0604020202020204" pitchFamily="34" charset="0"/>
            </a:endParaRPr>
          </a:p>
        </p:txBody>
      </p:sp>
      <p:sp>
        <p:nvSpPr>
          <p:cNvPr id="204" name="Rectangle 46">
            <a:extLst>
              <a:ext uri="{FF2B5EF4-FFF2-40B4-BE49-F238E27FC236}">
                <a16:creationId xmlns:a16="http://schemas.microsoft.com/office/drawing/2014/main" id="{6E6FF9CB-4740-4180-9157-E166D963B3C2}"/>
              </a:ext>
            </a:extLst>
          </p:cNvPr>
          <p:cNvSpPr/>
          <p:nvPr/>
        </p:nvSpPr>
        <p:spPr>
          <a:xfrm>
            <a:off x="458795" y="2793323"/>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05" name="TextBox 47">
            <a:extLst>
              <a:ext uri="{FF2B5EF4-FFF2-40B4-BE49-F238E27FC236}">
                <a16:creationId xmlns:a16="http://schemas.microsoft.com/office/drawing/2014/main" id="{3F696757-AA74-51C3-3F11-0FA51A706FA1}"/>
              </a:ext>
            </a:extLst>
          </p:cNvPr>
          <p:cNvSpPr txBox="1"/>
          <p:nvPr/>
        </p:nvSpPr>
        <p:spPr>
          <a:xfrm>
            <a:off x="460304" y="2991662"/>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Corporate</a:t>
            </a:r>
          </a:p>
        </p:txBody>
      </p:sp>
      <p:sp>
        <p:nvSpPr>
          <p:cNvPr id="206" name="Rectangle 48">
            <a:extLst>
              <a:ext uri="{FF2B5EF4-FFF2-40B4-BE49-F238E27FC236}">
                <a16:creationId xmlns:a16="http://schemas.microsoft.com/office/drawing/2014/main" id="{3DC66EC9-3B49-1E2E-3312-1D4A362E3B43}"/>
              </a:ext>
            </a:extLst>
          </p:cNvPr>
          <p:cNvSpPr/>
          <p:nvPr/>
        </p:nvSpPr>
        <p:spPr>
          <a:xfrm>
            <a:off x="1647515" y="2793323"/>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7" name="TextBox 49">
            <a:extLst>
              <a:ext uri="{FF2B5EF4-FFF2-40B4-BE49-F238E27FC236}">
                <a16:creationId xmlns:a16="http://schemas.microsoft.com/office/drawing/2014/main" id="{78899AB4-99ED-D396-B0D2-CF097372B409}"/>
              </a:ext>
            </a:extLst>
          </p:cNvPr>
          <p:cNvSpPr txBox="1"/>
          <p:nvPr/>
        </p:nvSpPr>
        <p:spPr>
          <a:xfrm>
            <a:off x="1720667" y="2921737"/>
            <a:ext cx="1499616" cy="291811"/>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0F1C50"/>
                </a:solidFill>
                <a:latin typeface="Arial" panose="020B0604020202020204" pitchFamily="34" charset="0"/>
                <a:cs typeface="Arial" panose="020B0604020202020204" pitchFamily="34" charset="0"/>
              </a:rPr>
              <a:t>Finance · HR · Procurement · Legal ·  Regulatory</a:t>
            </a:r>
          </a:p>
        </p:txBody>
      </p:sp>
      <p:sp>
        <p:nvSpPr>
          <p:cNvPr id="208" name="Rectangle 50">
            <a:extLst>
              <a:ext uri="{FF2B5EF4-FFF2-40B4-BE49-F238E27FC236}">
                <a16:creationId xmlns:a16="http://schemas.microsoft.com/office/drawing/2014/main" id="{A85D1B38-084B-4B54-0995-CAC8156CE9B9}"/>
              </a:ext>
            </a:extLst>
          </p:cNvPr>
          <p:cNvSpPr/>
          <p:nvPr/>
        </p:nvSpPr>
        <p:spPr>
          <a:xfrm>
            <a:off x="3339155" y="2793323"/>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9" name="TextBox 51">
            <a:extLst>
              <a:ext uri="{FF2B5EF4-FFF2-40B4-BE49-F238E27FC236}">
                <a16:creationId xmlns:a16="http://schemas.microsoft.com/office/drawing/2014/main" id="{9543DD90-AB86-F18C-5873-4D2F50110693}"/>
              </a:ext>
            </a:extLst>
          </p:cNvPr>
          <p:cNvSpPr txBox="1"/>
          <p:nvPr/>
        </p:nvSpPr>
        <p:spPr>
          <a:xfrm>
            <a:off x="3412307" y="2997847"/>
            <a:ext cx="1408176"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Regulatory · Small/Medium</a:t>
            </a:r>
          </a:p>
        </p:txBody>
      </p:sp>
      <p:sp>
        <p:nvSpPr>
          <p:cNvPr id="210" name="Rectangle 52">
            <a:extLst>
              <a:ext uri="{FF2B5EF4-FFF2-40B4-BE49-F238E27FC236}">
                <a16:creationId xmlns:a16="http://schemas.microsoft.com/office/drawing/2014/main" id="{13FB53EA-573C-0FA9-BFDA-93E9DD5EFD97}"/>
              </a:ext>
            </a:extLst>
          </p:cNvPr>
          <p:cNvSpPr/>
          <p:nvPr/>
        </p:nvSpPr>
        <p:spPr>
          <a:xfrm>
            <a:off x="4939354"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1" name="TextBox 54">
            <a:extLst>
              <a:ext uri="{FF2B5EF4-FFF2-40B4-BE49-F238E27FC236}">
                <a16:creationId xmlns:a16="http://schemas.microsoft.com/office/drawing/2014/main" id="{411F525C-2ADB-CE09-9D0F-8CB8A626E52D}"/>
              </a:ext>
            </a:extLst>
          </p:cNvPr>
          <p:cNvSpPr txBox="1"/>
          <p:nvPr/>
        </p:nvSpPr>
        <p:spPr>
          <a:xfrm>
            <a:off x="5174758" y="2918109"/>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Requirements in docs; digital trail breaks</a:t>
            </a:r>
          </a:p>
        </p:txBody>
      </p:sp>
      <p:sp>
        <p:nvSpPr>
          <p:cNvPr id="212" name="Rectangle 55">
            <a:extLst>
              <a:ext uri="{FF2B5EF4-FFF2-40B4-BE49-F238E27FC236}">
                <a16:creationId xmlns:a16="http://schemas.microsoft.com/office/drawing/2014/main" id="{D9957575-3D8C-8DB5-196A-FB692C175949}"/>
              </a:ext>
            </a:extLst>
          </p:cNvPr>
          <p:cNvSpPr/>
          <p:nvPr/>
        </p:nvSpPr>
        <p:spPr>
          <a:xfrm>
            <a:off x="6343873"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3" name="TextBox 57">
            <a:extLst>
              <a:ext uri="{FF2B5EF4-FFF2-40B4-BE49-F238E27FC236}">
                <a16:creationId xmlns:a16="http://schemas.microsoft.com/office/drawing/2014/main" id="{3D8BE20D-245B-7DBD-5D29-727A315B0810}"/>
              </a:ext>
            </a:extLst>
          </p:cNvPr>
          <p:cNvSpPr txBox="1"/>
          <p:nvPr/>
        </p:nvSpPr>
        <p:spPr>
          <a:xfrm>
            <a:off x="6572473" y="3454800"/>
            <a:ext cx="1084478" cy="14491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PDD </a:t>
            </a:r>
            <a:r>
              <a:rPr lang="en-US" sz="900" noProof="0">
                <a:solidFill>
                  <a:srgbClr val="2C3E50"/>
                </a:solidFill>
                <a:latin typeface="Arial" panose="020B0604020202020204" pitchFamily="34" charset="0"/>
                <a:cs typeface="Arial" panose="020B0604020202020204" pitchFamily="34" charset="0"/>
              </a:rPr>
              <a:t>driver</a:t>
            </a:r>
            <a:endParaRPr lang="en-US" sz="900" noProof="0">
              <a:latin typeface="Arial" panose="020B0604020202020204" pitchFamily="34" charset="0"/>
              <a:cs typeface="Arial" panose="020B0604020202020204" pitchFamily="34" charset="0"/>
            </a:endParaRPr>
          </a:p>
        </p:txBody>
      </p:sp>
      <p:sp>
        <p:nvSpPr>
          <p:cNvPr id="214" name="Rectangle 58">
            <a:extLst>
              <a:ext uri="{FF2B5EF4-FFF2-40B4-BE49-F238E27FC236}">
                <a16:creationId xmlns:a16="http://schemas.microsoft.com/office/drawing/2014/main" id="{5617E118-1B43-2120-2080-883351852870}"/>
              </a:ext>
            </a:extLst>
          </p:cNvPr>
          <p:cNvSpPr/>
          <p:nvPr/>
        </p:nvSpPr>
        <p:spPr>
          <a:xfrm>
            <a:off x="7748391"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5" name="TextBox 60">
            <a:extLst>
              <a:ext uri="{FF2B5EF4-FFF2-40B4-BE49-F238E27FC236}">
                <a16:creationId xmlns:a16="http://schemas.microsoft.com/office/drawing/2014/main" id="{ABA8DBC7-4BED-66D5-7D75-7696E0E576A4}"/>
              </a:ext>
            </a:extLst>
          </p:cNvPr>
          <p:cNvSpPr txBox="1"/>
          <p:nvPr/>
        </p:nvSpPr>
        <p:spPr>
          <a:xfrm>
            <a:off x="7976991" y="2853472"/>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Regulatory is the default priority; no scoring</a:t>
            </a:r>
            <a:endParaRPr lang="en-US" sz="900" noProof="0">
              <a:latin typeface="Arial" panose="020B0604020202020204" pitchFamily="34" charset="0"/>
              <a:cs typeface="Arial" panose="020B0604020202020204" pitchFamily="34" charset="0"/>
            </a:endParaRPr>
          </a:p>
        </p:txBody>
      </p:sp>
      <p:sp>
        <p:nvSpPr>
          <p:cNvPr id="216" name="Rectangle 61">
            <a:extLst>
              <a:ext uri="{FF2B5EF4-FFF2-40B4-BE49-F238E27FC236}">
                <a16:creationId xmlns:a16="http://schemas.microsoft.com/office/drawing/2014/main" id="{AA410C52-B888-2484-CBD6-0893F5B0231C}"/>
              </a:ext>
            </a:extLst>
          </p:cNvPr>
          <p:cNvSpPr/>
          <p:nvPr/>
        </p:nvSpPr>
        <p:spPr>
          <a:xfrm>
            <a:off x="9152910"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7" name="TextBox 63">
            <a:extLst>
              <a:ext uri="{FF2B5EF4-FFF2-40B4-BE49-F238E27FC236}">
                <a16:creationId xmlns:a16="http://schemas.microsoft.com/office/drawing/2014/main" id="{8BBA6502-D959-7524-0C29-0FFC076C0C8C}"/>
              </a:ext>
            </a:extLst>
          </p:cNvPr>
          <p:cNvSpPr txBox="1"/>
          <p:nvPr/>
        </p:nvSpPr>
        <p:spPr>
          <a:xfrm>
            <a:off x="9381510" y="2929646"/>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Governed portfolio with formal approvals</a:t>
            </a:r>
            <a:endParaRPr lang="en-US" sz="900" noProof="0">
              <a:latin typeface="Arial" panose="020B0604020202020204" pitchFamily="34" charset="0"/>
              <a:cs typeface="Arial" panose="020B0604020202020204" pitchFamily="34" charset="0"/>
            </a:endParaRPr>
          </a:p>
        </p:txBody>
      </p:sp>
      <p:sp>
        <p:nvSpPr>
          <p:cNvPr id="218" name="Rectangle 64">
            <a:extLst>
              <a:ext uri="{FF2B5EF4-FFF2-40B4-BE49-F238E27FC236}">
                <a16:creationId xmlns:a16="http://schemas.microsoft.com/office/drawing/2014/main" id="{25E493AE-F246-8E88-7899-AB99A9287320}"/>
              </a:ext>
            </a:extLst>
          </p:cNvPr>
          <p:cNvSpPr/>
          <p:nvPr/>
        </p:nvSpPr>
        <p:spPr>
          <a:xfrm>
            <a:off x="10557428"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9" name="TextBox 66">
            <a:extLst>
              <a:ext uri="{FF2B5EF4-FFF2-40B4-BE49-F238E27FC236}">
                <a16:creationId xmlns:a16="http://schemas.microsoft.com/office/drawing/2014/main" id="{920BA4F1-70B3-338A-937C-20CD1042451B}"/>
              </a:ext>
            </a:extLst>
          </p:cNvPr>
          <p:cNvSpPr txBox="1"/>
          <p:nvPr/>
        </p:nvSpPr>
        <p:spPr>
          <a:xfrm>
            <a:off x="10786028" y="2933453"/>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One-year plan; no release KPIs</a:t>
            </a:r>
            <a:endParaRPr lang="en-US" sz="900" noProof="0">
              <a:latin typeface="Arial" panose="020B0604020202020204" pitchFamily="34" charset="0"/>
              <a:cs typeface="Arial" panose="020B0604020202020204" pitchFamily="34" charset="0"/>
            </a:endParaRPr>
          </a:p>
        </p:txBody>
      </p:sp>
      <p:sp>
        <p:nvSpPr>
          <p:cNvPr id="220" name="Rectangle 67">
            <a:extLst>
              <a:ext uri="{FF2B5EF4-FFF2-40B4-BE49-F238E27FC236}">
                <a16:creationId xmlns:a16="http://schemas.microsoft.com/office/drawing/2014/main" id="{5207750E-08CB-2123-4E7E-070B325D4CAD}"/>
              </a:ext>
            </a:extLst>
          </p:cNvPr>
          <p:cNvSpPr/>
          <p:nvPr/>
        </p:nvSpPr>
        <p:spPr>
          <a:xfrm>
            <a:off x="458795" y="3396827"/>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21" name="TextBox 68">
            <a:extLst>
              <a:ext uri="{FF2B5EF4-FFF2-40B4-BE49-F238E27FC236}">
                <a16:creationId xmlns:a16="http://schemas.microsoft.com/office/drawing/2014/main" id="{316E446D-E17B-3925-B67D-70196E92B721}"/>
              </a:ext>
            </a:extLst>
          </p:cNvPr>
          <p:cNvSpPr txBox="1"/>
          <p:nvPr/>
        </p:nvSpPr>
        <p:spPr>
          <a:xfrm>
            <a:off x="460304" y="3595166"/>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G&amp;E</a:t>
            </a:r>
          </a:p>
        </p:txBody>
      </p:sp>
      <p:sp>
        <p:nvSpPr>
          <p:cNvPr id="222" name="Rectangle 69">
            <a:extLst>
              <a:ext uri="{FF2B5EF4-FFF2-40B4-BE49-F238E27FC236}">
                <a16:creationId xmlns:a16="http://schemas.microsoft.com/office/drawing/2014/main" id="{29D56B84-7630-3C23-925F-6F042EBE673E}"/>
              </a:ext>
            </a:extLst>
          </p:cNvPr>
          <p:cNvSpPr/>
          <p:nvPr/>
        </p:nvSpPr>
        <p:spPr>
          <a:xfrm>
            <a:off x="1647515" y="339682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900" noProof="0" dirty="0">
                <a:solidFill>
                  <a:srgbClr val="0F1C50"/>
                </a:solidFill>
                <a:latin typeface="Arial" panose="020B0604020202020204" pitchFamily="34" charset="0"/>
                <a:cs typeface="Arial" panose="020B0604020202020204" pitchFamily="34" charset="0"/>
              </a:rPr>
              <a:t>P&amp;</a:t>
            </a:r>
            <a:r>
              <a:rPr lang="en-US" sz="900" noProof="0">
                <a:solidFill>
                  <a:srgbClr val="0F1C50"/>
                </a:solidFill>
                <a:latin typeface="Arial" panose="020B0604020202020204" pitchFamily="34" charset="0"/>
                <a:cs typeface="Arial" panose="020B0604020202020204" pitchFamily="34" charset="0"/>
              </a:rPr>
              <a:t>S · </a:t>
            </a:r>
            <a:r>
              <a:rPr lang="en-US" sz="900" noProof="0" dirty="0">
                <a:solidFill>
                  <a:srgbClr val="0F1C50"/>
                </a:solidFill>
                <a:latin typeface="Arial" panose="020B0604020202020204" pitchFamily="34" charset="0"/>
                <a:cs typeface="Arial" panose="020B0604020202020204" pitchFamily="34" charset="0"/>
              </a:rPr>
              <a:t>Gas &amp; </a:t>
            </a:r>
            <a:r>
              <a:rPr lang="en-US" sz="900" noProof="0">
                <a:solidFill>
                  <a:srgbClr val="0F1C50"/>
                </a:solidFill>
                <a:latin typeface="Arial" panose="020B0604020202020204" pitchFamily="34" charset="0"/>
                <a:cs typeface="Arial" panose="020B0604020202020204" pitchFamily="34" charset="0"/>
              </a:rPr>
              <a:t>Electric</a:t>
            </a:r>
            <a:r>
              <a:rPr lang="en-US" sz="900" noProof="0" dirty="0">
                <a:solidFill>
                  <a:srgbClr val="0F1C50"/>
                </a:solidFill>
                <a:latin typeface="Arial" panose="020B0604020202020204" pitchFamily="34" charset="0"/>
                <a:cs typeface="Arial" panose="020B0604020202020204" pitchFamily="34" charset="0"/>
              </a:rPr>
              <a:t> Ops · Inspections · Outage · Planning</a:t>
            </a:r>
          </a:p>
        </p:txBody>
      </p:sp>
      <p:sp>
        <p:nvSpPr>
          <p:cNvPr id="223" name="Rectangle 71">
            <a:extLst>
              <a:ext uri="{FF2B5EF4-FFF2-40B4-BE49-F238E27FC236}">
                <a16:creationId xmlns:a16="http://schemas.microsoft.com/office/drawing/2014/main" id="{23423FC5-3C0E-F3D2-98D7-EE655BB904F4}"/>
              </a:ext>
            </a:extLst>
          </p:cNvPr>
          <p:cNvSpPr/>
          <p:nvPr/>
        </p:nvSpPr>
        <p:spPr>
          <a:xfrm>
            <a:off x="3339155" y="339682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4" name="TextBox 72">
            <a:extLst>
              <a:ext uri="{FF2B5EF4-FFF2-40B4-BE49-F238E27FC236}">
                <a16:creationId xmlns:a16="http://schemas.microsoft.com/office/drawing/2014/main" id="{E4045B84-91EC-2E03-596F-5C1B533B3353}"/>
              </a:ext>
            </a:extLst>
          </p:cNvPr>
          <p:cNvSpPr txBox="1"/>
          <p:nvPr/>
        </p:nvSpPr>
        <p:spPr>
          <a:xfrm>
            <a:off x="3412307" y="3524727"/>
            <a:ext cx="1408176" cy="292837"/>
          </a:xfrm>
          <a:prstGeom prst="rect">
            <a:avLst/>
          </a:prstGeom>
          <a:noFill/>
        </p:spPr>
        <p:txBody>
          <a:bodyPr wrap="square" lIns="0" tIns="0" rIns="0" bIns="0" anchor="ctr">
            <a:spAutoFit/>
          </a:bodyPr>
          <a:lstStyle/>
          <a:p>
            <a:pPr>
              <a:lnSpc>
                <a:spcPct val="110000"/>
              </a:lnSpc>
            </a:pPr>
            <a:r>
              <a:rPr lang="en-US" sz="900" i="0" noProof="0" dirty="0">
                <a:solidFill>
                  <a:srgbClr val="0F1C50"/>
                </a:solidFill>
                <a:latin typeface="Arial" panose="020B0604020202020204" pitchFamily="34" charset="0"/>
                <a:cs typeface="Arial" panose="020B0604020202020204" pitchFamily="34" charset="0"/>
              </a:rPr>
              <a:t>Small </a:t>
            </a:r>
            <a:r>
              <a:rPr lang="en-US" sz="900" noProof="0">
                <a:solidFill>
                  <a:srgbClr val="0F1C50"/>
                </a:solidFill>
                <a:latin typeface="Arial" panose="020B0604020202020204" pitchFamily="34" charset="0"/>
                <a:cs typeface="Arial" panose="020B0604020202020204" pitchFamily="34" charset="0"/>
              </a:rPr>
              <a:t>· Medium  · Large · Quarterly </a:t>
            </a:r>
            <a:r>
              <a:rPr lang="en-US" sz="900" i="0" noProof="0" dirty="0">
                <a:solidFill>
                  <a:srgbClr val="0F1C50"/>
                </a:solidFill>
                <a:latin typeface="Arial" panose="020B0604020202020204" pitchFamily="34" charset="0"/>
                <a:cs typeface="Arial" panose="020B0604020202020204" pitchFamily="34" charset="0"/>
              </a:rPr>
              <a:t>BRP cycles</a:t>
            </a:r>
          </a:p>
        </p:txBody>
      </p:sp>
      <p:sp>
        <p:nvSpPr>
          <p:cNvPr id="225" name="Rectangle 73">
            <a:extLst>
              <a:ext uri="{FF2B5EF4-FFF2-40B4-BE49-F238E27FC236}">
                <a16:creationId xmlns:a16="http://schemas.microsoft.com/office/drawing/2014/main" id="{321738AA-76FC-A746-5907-B1B423150610}"/>
              </a:ext>
            </a:extLst>
          </p:cNvPr>
          <p:cNvSpPr/>
          <p:nvPr/>
        </p:nvSpPr>
        <p:spPr>
          <a:xfrm>
            <a:off x="4939354"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6" name="TextBox 75">
            <a:extLst>
              <a:ext uri="{FF2B5EF4-FFF2-40B4-BE49-F238E27FC236}">
                <a16:creationId xmlns:a16="http://schemas.microsoft.com/office/drawing/2014/main" id="{2F058DA6-009C-6470-74D3-CF0AFC296E28}"/>
              </a:ext>
            </a:extLst>
          </p:cNvPr>
          <p:cNvSpPr txBox="1"/>
          <p:nvPr/>
        </p:nvSpPr>
        <p:spPr>
          <a:xfrm>
            <a:off x="5167954" y="3465801"/>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Quarterly BRP — structured demand intake</a:t>
            </a:r>
            <a:endParaRPr lang="en-US" sz="900" noProof="0">
              <a:latin typeface="Arial" panose="020B0604020202020204" pitchFamily="34" charset="0"/>
              <a:cs typeface="Arial" panose="020B0604020202020204" pitchFamily="34" charset="0"/>
            </a:endParaRPr>
          </a:p>
        </p:txBody>
      </p:sp>
      <p:sp>
        <p:nvSpPr>
          <p:cNvPr id="227" name="Rectangle 76">
            <a:extLst>
              <a:ext uri="{FF2B5EF4-FFF2-40B4-BE49-F238E27FC236}">
                <a16:creationId xmlns:a16="http://schemas.microsoft.com/office/drawing/2014/main" id="{9D10B2D7-D68B-097A-CC13-CA7FA5FE053A}"/>
              </a:ext>
            </a:extLst>
          </p:cNvPr>
          <p:cNvSpPr/>
          <p:nvPr/>
        </p:nvSpPr>
        <p:spPr>
          <a:xfrm>
            <a:off x="6343873"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8" name="TextBox 78">
            <a:extLst>
              <a:ext uri="{FF2B5EF4-FFF2-40B4-BE49-F238E27FC236}">
                <a16:creationId xmlns:a16="http://schemas.microsoft.com/office/drawing/2014/main" id="{E00E3E8E-ACD0-5684-5FD0-2DBDC54D0DEE}"/>
              </a:ext>
            </a:extLst>
          </p:cNvPr>
          <p:cNvSpPr txBox="1"/>
          <p:nvPr/>
        </p:nvSpPr>
        <p:spPr>
          <a:xfrm>
            <a:off x="6586080" y="356716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PBB Canvas + Backlog Model</a:t>
            </a:r>
            <a:endParaRPr lang="en-US" sz="900" noProof="0">
              <a:latin typeface="Arial" panose="020B0604020202020204" pitchFamily="34" charset="0"/>
              <a:cs typeface="Arial" panose="020B0604020202020204" pitchFamily="34" charset="0"/>
            </a:endParaRPr>
          </a:p>
        </p:txBody>
      </p:sp>
      <p:sp>
        <p:nvSpPr>
          <p:cNvPr id="229" name="Rectangle 79">
            <a:extLst>
              <a:ext uri="{FF2B5EF4-FFF2-40B4-BE49-F238E27FC236}">
                <a16:creationId xmlns:a16="http://schemas.microsoft.com/office/drawing/2014/main" id="{DD63D3EB-53B1-E5B8-0072-290220BE1CD7}"/>
              </a:ext>
            </a:extLst>
          </p:cNvPr>
          <p:cNvSpPr/>
          <p:nvPr/>
        </p:nvSpPr>
        <p:spPr>
          <a:xfrm>
            <a:off x="7748391"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0" name="TextBox 81">
            <a:extLst>
              <a:ext uri="{FF2B5EF4-FFF2-40B4-BE49-F238E27FC236}">
                <a16:creationId xmlns:a16="http://schemas.microsoft.com/office/drawing/2014/main" id="{97C4B756-0197-2A15-AF13-EA09CAD6DF4A}"/>
              </a:ext>
            </a:extLst>
          </p:cNvPr>
          <p:cNvSpPr txBox="1"/>
          <p:nvPr/>
        </p:nvSpPr>
        <p:spPr>
          <a:xfrm>
            <a:off x="7976991" y="3487996"/>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Portfolio Estimation Logic (formula-based)</a:t>
            </a:r>
            <a:endParaRPr lang="en-US" sz="900" noProof="0">
              <a:latin typeface="Arial" panose="020B0604020202020204" pitchFamily="34" charset="0"/>
              <a:cs typeface="Arial" panose="020B0604020202020204" pitchFamily="34" charset="0"/>
            </a:endParaRPr>
          </a:p>
        </p:txBody>
      </p:sp>
      <p:sp>
        <p:nvSpPr>
          <p:cNvPr id="231" name="Rectangle 82">
            <a:extLst>
              <a:ext uri="{FF2B5EF4-FFF2-40B4-BE49-F238E27FC236}">
                <a16:creationId xmlns:a16="http://schemas.microsoft.com/office/drawing/2014/main" id="{828FA293-314E-2352-DBF0-0B48A40CEB39}"/>
              </a:ext>
            </a:extLst>
          </p:cNvPr>
          <p:cNvSpPr/>
          <p:nvPr/>
        </p:nvSpPr>
        <p:spPr>
          <a:xfrm>
            <a:off x="9152910" y="336352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2" name="TextBox 84">
            <a:extLst>
              <a:ext uri="{FF2B5EF4-FFF2-40B4-BE49-F238E27FC236}">
                <a16:creationId xmlns:a16="http://schemas.microsoft.com/office/drawing/2014/main" id="{D4AEED1B-F041-39DD-C80E-CC0E9DA44EEC}"/>
              </a:ext>
            </a:extLst>
          </p:cNvPr>
          <p:cNvSpPr txBox="1"/>
          <p:nvPr/>
        </p:nvSpPr>
        <p:spPr>
          <a:xfrm>
            <a:off x="9381510" y="3481193"/>
            <a:ext cx="1084478" cy="449610"/>
          </a:xfrm>
          <a:prstGeom prst="rect">
            <a:avLst/>
          </a:prstGeom>
          <a:noFill/>
        </p:spPr>
        <p:txBody>
          <a:bodyPr wrap="square" lIns="0" tIns="0" rIns="0" bIns="0" anchor="ctr">
            <a:spAutoFit/>
          </a:bodyPr>
          <a:lstStyle/>
          <a:p>
            <a:pPr>
              <a:lnSpc>
                <a:spcPct val="110000"/>
              </a:lnSpc>
            </a:pPr>
            <a:r>
              <a:rPr lang="en-US" sz="900" b="0" noProof="0">
                <a:solidFill>
                  <a:srgbClr val="2C3E50"/>
                </a:solidFill>
                <a:latin typeface="Arial" panose="020B0604020202020204" pitchFamily="34" charset="0"/>
                <a:ea typeface="+mn-lt"/>
                <a:cs typeface="Arial" panose="020B0604020202020204" pitchFamily="34" charset="0"/>
              </a:rPr>
              <a:t>P&amp;T Programs Priorities Overview — single view</a:t>
            </a:r>
            <a:endParaRPr lang="en-US" sz="900" noProof="0">
              <a:latin typeface="Arial" panose="020B0604020202020204" pitchFamily="34" charset="0"/>
              <a:cs typeface="Arial" panose="020B0604020202020204" pitchFamily="34" charset="0"/>
            </a:endParaRPr>
          </a:p>
        </p:txBody>
      </p:sp>
      <p:sp>
        <p:nvSpPr>
          <p:cNvPr id="233" name="Rectangle 85">
            <a:extLst>
              <a:ext uri="{FF2B5EF4-FFF2-40B4-BE49-F238E27FC236}">
                <a16:creationId xmlns:a16="http://schemas.microsoft.com/office/drawing/2014/main" id="{238CF383-3DD9-9999-203B-81C1865B11F0}"/>
              </a:ext>
            </a:extLst>
          </p:cNvPr>
          <p:cNvSpPr/>
          <p:nvPr/>
        </p:nvSpPr>
        <p:spPr>
          <a:xfrm>
            <a:off x="10557427" y="3369613"/>
            <a:ext cx="1365601"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4" name="TextBox 87">
            <a:extLst>
              <a:ext uri="{FF2B5EF4-FFF2-40B4-BE49-F238E27FC236}">
                <a16:creationId xmlns:a16="http://schemas.microsoft.com/office/drawing/2014/main" id="{0FC6053F-54AC-724D-0FCA-9A00B8F1524A}"/>
              </a:ext>
            </a:extLst>
          </p:cNvPr>
          <p:cNvSpPr txBox="1"/>
          <p:nvPr/>
        </p:nvSpPr>
        <p:spPr>
          <a:xfrm>
            <a:off x="10786028" y="3450173"/>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BRP-coordinated squads · roles formally aligned</a:t>
            </a:r>
            <a:endParaRPr lang="en-US" sz="900" noProof="0">
              <a:latin typeface="Arial" panose="020B0604020202020204" pitchFamily="34" charset="0"/>
              <a:cs typeface="Arial" panose="020B0604020202020204" pitchFamily="34" charset="0"/>
            </a:endParaRPr>
          </a:p>
        </p:txBody>
      </p:sp>
      <p:sp>
        <p:nvSpPr>
          <p:cNvPr id="235" name="Rectangle 88">
            <a:extLst>
              <a:ext uri="{FF2B5EF4-FFF2-40B4-BE49-F238E27FC236}">
                <a16:creationId xmlns:a16="http://schemas.microsoft.com/office/drawing/2014/main" id="{0709DA90-FBE0-A63B-D7C9-500D4EB0B15E}"/>
              </a:ext>
            </a:extLst>
          </p:cNvPr>
          <p:cNvSpPr/>
          <p:nvPr/>
        </p:nvSpPr>
        <p:spPr>
          <a:xfrm>
            <a:off x="458795" y="4000331"/>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36" name="TextBox 89">
            <a:extLst>
              <a:ext uri="{FF2B5EF4-FFF2-40B4-BE49-F238E27FC236}">
                <a16:creationId xmlns:a16="http://schemas.microsoft.com/office/drawing/2014/main" id="{34471265-64B6-4B9F-6E56-5C02154E0964}"/>
              </a:ext>
            </a:extLst>
          </p:cNvPr>
          <p:cNvSpPr txBox="1"/>
          <p:nvPr/>
        </p:nvSpPr>
        <p:spPr>
          <a:xfrm>
            <a:off x="460304" y="4114032"/>
            <a:ext cx="1143000" cy="324256"/>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dirty="0">
                <a:solidFill>
                  <a:srgbClr val="FFFFFF"/>
                </a:solidFill>
                <a:latin typeface="Arial" panose="020B0604020202020204" pitchFamily="34" charset="0"/>
                <a:cs typeface="Arial" panose="020B0604020202020204" pitchFamily="34" charset="0"/>
              </a:rPr>
              <a:t>Global SAP</a:t>
            </a:r>
          </a:p>
          <a:p>
            <a:pPr algn="ctr">
              <a:lnSpc>
                <a:spcPct val="110000"/>
              </a:lnSpc>
              <a:spcBef>
                <a:spcPts val="0"/>
              </a:spcBef>
              <a:spcAft>
                <a:spcPts val="0"/>
              </a:spcAft>
            </a:pPr>
            <a:r>
              <a:rPr lang="en-US" sz="1000" b="1" i="0" noProof="0" dirty="0">
                <a:solidFill>
                  <a:srgbClr val="FFFFFF"/>
                </a:solidFill>
                <a:latin typeface="Arial" panose="020B0604020202020204" pitchFamily="34" charset="0"/>
                <a:cs typeface="Arial" panose="020B0604020202020204" pitchFamily="34" charset="0"/>
              </a:rPr>
              <a:t>(Iberdrola)</a:t>
            </a:r>
          </a:p>
        </p:txBody>
      </p:sp>
      <p:sp>
        <p:nvSpPr>
          <p:cNvPr id="237" name="Rectangle 90">
            <a:extLst>
              <a:ext uri="{FF2B5EF4-FFF2-40B4-BE49-F238E27FC236}">
                <a16:creationId xmlns:a16="http://schemas.microsoft.com/office/drawing/2014/main" id="{F3872215-5A75-2C97-CE4E-BE687EB11062}"/>
              </a:ext>
            </a:extLst>
          </p:cNvPr>
          <p:cNvSpPr/>
          <p:nvPr/>
        </p:nvSpPr>
        <p:spPr>
          <a:xfrm>
            <a:off x="1647515" y="4000331"/>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8" name="TextBox 91">
            <a:extLst>
              <a:ext uri="{FF2B5EF4-FFF2-40B4-BE49-F238E27FC236}">
                <a16:creationId xmlns:a16="http://schemas.microsoft.com/office/drawing/2014/main" id="{389B4260-629B-AC9A-AEEE-DE9B660027BA}"/>
              </a:ext>
            </a:extLst>
          </p:cNvPr>
          <p:cNvSpPr txBox="1"/>
          <p:nvPr/>
        </p:nvSpPr>
        <p:spPr>
          <a:xfrm>
            <a:off x="1720667" y="4052058"/>
            <a:ext cx="1499616" cy="445186"/>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0F1C50"/>
                </a:solidFill>
                <a:latin typeface="Arial" panose="020B0604020202020204" pitchFamily="34" charset="0"/>
                <a:cs typeface="Arial" panose="020B0604020202020204" pitchFamily="34" charset="0"/>
              </a:rPr>
              <a:t>Iberdrola Finance · Controlling · Procurement · Vendor</a:t>
            </a:r>
          </a:p>
        </p:txBody>
      </p:sp>
      <p:sp>
        <p:nvSpPr>
          <p:cNvPr id="239" name="Rectangle 92">
            <a:extLst>
              <a:ext uri="{FF2B5EF4-FFF2-40B4-BE49-F238E27FC236}">
                <a16:creationId xmlns:a16="http://schemas.microsoft.com/office/drawing/2014/main" id="{3C871752-6495-3953-6DAC-2B1233D87C9F}"/>
              </a:ext>
            </a:extLst>
          </p:cNvPr>
          <p:cNvSpPr/>
          <p:nvPr/>
        </p:nvSpPr>
        <p:spPr>
          <a:xfrm>
            <a:off x="3339155" y="400033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0" name="TextBox 93">
            <a:extLst>
              <a:ext uri="{FF2B5EF4-FFF2-40B4-BE49-F238E27FC236}">
                <a16:creationId xmlns:a16="http://schemas.microsoft.com/office/drawing/2014/main" id="{1C6A36B3-7561-DB97-53F9-6032324C487A}"/>
              </a:ext>
            </a:extLst>
          </p:cNvPr>
          <p:cNvSpPr txBox="1"/>
          <p:nvPr/>
        </p:nvSpPr>
        <p:spPr>
          <a:xfrm>
            <a:off x="3412307" y="4128713"/>
            <a:ext cx="1408176" cy="29187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Incidents · Small · Minor · Large</a:t>
            </a:r>
          </a:p>
        </p:txBody>
      </p:sp>
      <p:sp>
        <p:nvSpPr>
          <p:cNvPr id="241" name="Rectangle 94">
            <a:extLst>
              <a:ext uri="{FF2B5EF4-FFF2-40B4-BE49-F238E27FC236}">
                <a16:creationId xmlns:a16="http://schemas.microsoft.com/office/drawing/2014/main" id="{C5FAB201-DDAE-994B-27AD-DF5755078ED8}"/>
              </a:ext>
            </a:extLst>
          </p:cNvPr>
          <p:cNvSpPr/>
          <p:nvPr/>
        </p:nvSpPr>
        <p:spPr>
          <a:xfrm>
            <a:off x="4939354"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2" name="TextBox 96">
            <a:extLst>
              <a:ext uri="{FF2B5EF4-FFF2-40B4-BE49-F238E27FC236}">
                <a16:creationId xmlns:a16="http://schemas.microsoft.com/office/drawing/2014/main" id="{08A871FB-1DC7-6ED7-B668-FD305F1EFEC8}"/>
              </a:ext>
            </a:extLst>
          </p:cNvPr>
          <p:cNvSpPr txBox="1"/>
          <p:nvPr/>
        </p:nvSpPr>
        <p:spPr>
          <a:xfrm>
            <a:off x="5167954" y="4069754"/>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 Structured channel taxonomy in place but informal</a:t>
            </a:r>
            <a:endParaRPr lang="en-US" sz="900" noProof="0">
              <a:latin typeface="Arial" panose="020B0604020202020204" pitchFamily="34" charset="0"/>
              <a:cs typeface="Arial" panose="020B0604020202020204" pitchFamily="34" charset="0"/>
            </a:endParaRPr>
          </a:p>
        </p:txBody>
      </p:sp>
      <p:sp>
        <p:nvSpPr>
          <p:cNvPr id="243" name="Rectangle 97">
            <a:extLst>
              <a:ext uri="{FF2B5EF4-FFF2-40B4-BE49-F238E27FC236}">
                <a16:creationId xmlns:a16="http://schemas.microsoft.com/office/drawing/2014/main" id="{A9B98995-5159-A76E-B470-13E36C032DA1}"/>
              </a:ext>
            </a:extLst>
          </p:cNvPr>
          <p:cNvSpPr/>
          <p:nvPr/>
        </p:nvSpPr>
        <p:spPr>
          <a:xfrm>
            <a:off x="6343873"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4" name="TextBox 99">
            <a:extLst>
              <a:ext uri="{FF2B5EF4-FFF2-40B4-BE49-F238E27FC236}">
                <a16:creationId xmlns:a16="http://schemas.microsoft.com/office/drawing/2014/main" id="{7C893922-201A-16DE-C390-0F98E368C2EE}"/>
              </a:ext>
            </a:extLst>
          </p:cNvPr>
          <p:cNvSpPr txBox="1"/>
          <p:nvPr/>
        </p:nvSpPr>
        <p:spPr>
          <a:xfrm>
            <a:off x="6572473" y="4049845"/>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model for small/medium</a:t>
            </a:r>
            <a:endParaRPr lang="en-US" sz="900" noProof="0">
              <a:solidFill>
                <a:srgbClr val="000000"/>
              </a:solidFill>
              <a:latin typeface="Arial" panose="020B0604020202020204" pitchFamily="34" charset="0"/>
              <a:cs typeface="Arial" panose="020B0604020202020204" pitchFamily="34" charset="0"/>
            </a:endParaRPr>
          </a:p>
          <a:p>
            <a:pPr>
              <a:lnSpc>
                <a:spcPct val="110000"/>
              </a:lnSpc>
            </a:pPr>
            <a:r>
              <a:rPr lang="en-US" sz="900" noProof="0">
                <a:solidFill>
                  <a:srgbClr val="2C3E50"/>
                </a:solidFill>
                <a:latin typeface="Arial" panose="020B0604020202020204" pitchFamily="34" charset="0"/>
                <a:cs typeface="Arial" panose="020B0604020202020204" pitchFamily="34" charset="0"/>
              </a:rPr>
              <a:t> demand</a:t>
            </a:r>
            <a:endParaRPr lang="en-US" sz="900" noProof="0">
              <a:latin typeface="Arial" panose="020B0604020202020204" pitchFamily="34" charset="0"/>
              <a:cs typeface="Arial" panose="020B0604020202020204" pitchFamily="34" charset="0"/>
            </a:endParaRPr>
          </a:p>
        </p:txBody>
      </p:sp>
      <p:sp>
        <p:nvSpPr>
          <p:cNvPr id="245" name="Rectangle 100">
            <a:extLst>
              <a:ext uri="{FF2B5EF4-FFF2-40B4-BE49-F238E27FC236}">
                <a16:creationId xmlns:a16="http://schemas.microsoft.com/office/drawing/2014/main" id="{7EFA9174-AB79-7133-3D83-A0BDA4EB9EA5}"/>
              </a:ext>
            </a:extLst>
          </p:cNvPr>
          <p:cNvSpPr/>
          <p:nvPr/>
        </p:nvSpPr>
        <p:spPr>
          <a:xfrm>
            <a:off x="7748391"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6" name="TextBox 102">
            <a:extLst>
              <a:ext uri="{FF2B5EF4-FFF2-40B4-BE49-F238E27FC236}">
                <a16:creationId xmlns:a16="http://schemas.microsoft.com/office/drawing/2014/main" id="{03492EA0-97DA-B0E6-1476-42B5BE84CA22}"/>
              </a:ext>
            </a:extLst>
          </p:cNvPr>
          <p:cNvSpPr txBox="1"/>
          <p:nvPr/>
        </p:nvSpPr>
        <p:spPr>
          <a:xfrm>
            <a:off x="7976991" y="4147264"/>
            <a:ext cx="1084478" cy="297261"/>
          </a:xfrm>
          <a:prstGeom prst="rect">
            <a:avLst/>
          </a:prstGeom>
          <a:noFill/>
        </p:spPr>
        <p:txBody>
          <a:bodyPr wrap="square" lIns="0" tIns="0" rIns="0" bIns="0" anchor="ctr">
            <a:spAutoFit/>
          </a:bodyPr>
          <a:lstStyle/>
          <a:p>
            <a:pPr>
              <a:lnSpc>
                <a:spcPct val="110000"/>
              </a:lnSpc>
            </a:pPr>
            <a:r>
              <a:rPr lang="en-US" sz="900" b="0" noProof="0">
                <a:solidFill>
                  <a:srgbClr val="2C3E50"/>
                </a:solidFill>
                <a:latin typeface="Arial" panose="020B0604020202020204" pitchFamily="34" charset="0"/>
                <a:ea typeface="+mn-lt"/>
                <a:cs typeface="Arial" panose="020B0604020202020204" pitchFamily="34" charset="0"/>
              </a:rPr>
              <a:t>Incidents first </a:t>
            </a:r>
            <a:r>
              <a:rPr lang="en-US" sz="900" noProof="0">
                <a:solidFill>
                  <a:srgbClr val="2C3E50"/>
                </a:solidFill>
                <a:latin typeface="Arial" panose="020B0604020202020204" pitchFamily="34" charset="0"/>
                <a:ea typeface="+mn-lt"/>
                <a:cs typeface="Arial" panose="020B0604020202020204" pitchFamily="34" charset="0"/>
              </a:rPr>
              <a:t>→ strategic starved</a:t>
            </a:r>
            <a:endParaRPr lang="en-US" sz="900" noProof="0">
              <a:latin typeface="Arial" panose="020B0604020202020204" pitchFamily="34" charset="0"/>
              <a:cs typeface="Arial" panose="020B0604020202020204" pitchFamily="34" charset="0"/>
            </a:endParaRPr>
          </a:p>
        </p:txBody>
      </p:sp>
      <p:sp>
        <p:nvSpPr>
          <p:cNvPr id="247" name="Rectangle 103">
            <a:extLst>
              <a:ext uri="{FF2B5EF4-FFF2-40B4-BE49-F238E27FC236}">
                <a16:creationId xmlns:a16="http://schemas.microsoft.com/office/drawing/2014/main" id="{18EB5AC9-8A69-E24A-2EB9-7FF92FB35BEB}"/>
              </a:ext>
            </a:extLst>
          </p:cNvPr>
          <p:cNvSpPr/>
          <p:nvPr/>
        </p:nvSpPr>
        <p:spPr>
          <a:xfrm>
            <a:off x="9152910"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8" name="TextBox 105">
            <a:extLst>
              <a:ext uri="{FF2B5EF4-FFF2-40B4-BE49-F238E27FC236}">
                <a16:creationId xmlns:a16="http://schemas.microsoft.com/office/drawing/2014/main" id="{F185612E-79E9-CDCB-F534-AA3F9FCC4C81}"/>
              </a:ext>
            </a:extLst>
          </p:cNvPr>
          <p:cNvSpPr txBox="1"/>
          <p:nvPr/>
        </p:nvSpPr>
        <p:spPr>
          <a:xfrm>
            <a:off x="9381510" y="4147264"/>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Cadenced review; partial governance</a:t>
            </a:r>
            <a:endParaRPr lang="en-US" sz="900" noProof="0">
              <a:latin typeface="Arial" panose="020B0604020202020204" pitchFamily="34" charset="0"/>
              <a:cs typeface="Arial" panose="020B0604020202020204" pitchFamily="34" charset="0"/>
            </a:endParaRPr>
          </a:p>
        </p:txBody>
      </p:sp>
      <p:sp>
        <p:nvSpPr>
          <p:cNvPr id="249" name="Rectangle 106">
            <a:extLst>
              <a:ext uri="{FF2B5EF4-FFF2-40B4-BE49-F238E27FC236}">
                <a16:creationId xmlns:a16="http://schemas.microsoft.com/office/drawing/2014/main" id="{26F845AA-3FE2-4530-9654-87A6BC35EC4D}"/>
              </a:ext>
            </a:extLst>
          </p:cNvPr>
          <p:cNvSpPr/>
          <p:nvPr/>
        </p:nvSpPr>
        <p:spPr>
          <a:xfrm>
            <a:off x="10557428"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0" name="TextBox 108">
            <a:extLst>
              <a:ext uri="{FF2B5EF4-FFF2-40B4-BE49-F238E27FC236}">
                <a16:creationId xmlns:a16="http://schemas.microsoft.com/office/drawing/2014/main" id="{4FEE72C1-63B6-F25D-F340-AA00C5F089A2}"/>
              </a:ext>
            </a:extLst>
          </p:cNvPr>
          <p:cNvSpPr txBox="1"/>
          <p:nvPr/>
        </p:nvSpPr>
        <p:spPr>
          <a:xfrm>
            <a:off x="10786028" y="4101300"/>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KT loss on vendor turnover; 1-yr hiring lag</a:t>
            </a:r>
            <a:endParaRPr lang="en-US" sz="900" noProof="0">
              <a:latin typeface="Arial" panose="020B0604020202020204" pitchFamily="34" charset="0"/>
              <a:cs typeface="Arial" panose="020B0604020202020204" pitchFamily="34" charset="0"/>
            </a:endParaRPr>
          </a:p>
        </p:txBody>
      </p:sp>
      <p:sp>
        <p:nvSpPr>
          <p:cNvPr id="251" name="Rectangle 109">
            <a:extLst>
              <a:ext uri="{FF2B5EF4-FFF2-40B4-BE49-F238E27FC236}">
                <a16:creationId xmlns:a16="http://schemas.microsoft.com/office/drawing/2014/main" id="{2022CFEC-DAEA-2211-25C9-6685BCE9370F}"/>
              </a:ext>
            </a:extLst>
          </p:cNvPr>
          <p:cNvSpPr/>
          <p:nvPr/>
        </p:nvSpPr>
        <p:spPr>
          <a:xfrm>
            <a:off x="458794" y="4603834"/>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2" name="TextBox 110">
            <a:extLst>
              <a:ext uri="{FF2B5EF4-FFF2-40B4-BE49-F238E27FC236}">
                <a16:creationId xmlns:a16="http://schemas.microsoft.com/office/drawing/2014/main" id="{55923CBF-417B-55AA-8220-5F2305416DAD}"/>
              </a:ext>
            </a:extLst>
          </p:cNvPr>
          <p:cNvSpPr txBox="1"/>
          <p:nvPr/>
        </p:nvSpPr>
        <p:spPr>
          <a:xfrm>
            <a:off x="458795" y="4702243"/>
            <a:ext cx="6400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accent1"/>
                </a:solidFill>
                <a:latin typeface="Arial" panose="020B0604020202020204" pitchFamily="34" charset="0"/>
                <a:cs typeface="Arial" panose="020B0604020202020204" pitchFamily="34" charset="0"/>
              </a:rPr>
              <a:t>CUSTOMER SERVICES APPLICATIONS</a:t>
            </a:r>
          </a:p>
        </p:txBody>
      </p:sp>
      <p:sp>
        <p:nvSpPr>
          <p:cNvPr id="253" name="Rectangle 111">
            <a:extLst>
              <a:ext uri="{FF2B5EF4-FFF2-40B4-BE49-F238E27FC236}">
                <a16:creationId xmlns:a16="http://schemas.microsoft.com/office/drawing/2014/main" id="{EC496BC8-2EFC-AED4-8A1F-2200F7E17392}"/>
              </a:ext>
            </a:extLst>
          </p:cNvPr>
          <p:cNvSpPr/>
          <p:nvPr/>
        </p:nvSpPr>
        <p:spPr>
          <a:xfrm>
            <a:off x="458795" y="4859867"/>
            <a:ext cx="11430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4" name="TextBox 112">
            <a:extLst>
              <a:ext uri="{FF2B5EF4-FFF2-40B4-BE49-F238E27FC236}">
                <a16:creationId xmlns:a16="http://schemas.microsoft.com/office/drawing/2014/main" id="{C1523177-DE34-6FB3-8ADD-F9DF6F2FA1EE}"/>
              </a:ext>
            </a:extLst>
          </p:cNvPr>
          <p:cNvSpPr txBox="1"/>
          <p:nvPr/>
        </p:nvSpPr>
        <p:spPr>
          <a:xfrm>
            <a:off x="460304" y="4896473"/>
            <a:ext cx="1143000" cy="4935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Smart Metering</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(Device &amp; Metering)</a:t>
            </a:r>
          </a:p>
        </p:txBody>
      </p:sp>
      <p:sp>
        <p:nvSpPr>
          <p:cNvPr id="255" name="Rectangle 113">
            <a:extLst>
              <a:ext uri="{FF2B5EF4-FFF2-40B4-BE49-F238E27FC236}">
                <a16:creationId xmlns:a16="http://schemas.microsoft.com/office/drawing/2014/main" id="{CA2FDB28-A2BF-8FE2-8EAE-7C40FC7B71A3}"/>
              </a:ext>
            </a:extLst>
          </p:cNvPr>
          <p:cNvSpPr/>
          <p:nvPr/>
        </p:nvSpPr>
        <p:spPr>
          <a:xfrm>
            <a:off x="1647515" y="485986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6" name="TextBox 114">
            <a:extLst>
              <a:ext uri="{FF2B5EF4-FFF2-40B4-BE49-F238E27FC236}">
                <a16:creationId xmlns:a16="http://schemas.microsoft.com/office/drawing/2014/main" id="{42BF50CE-E9B0-EA79-D322-2B65CCDDD802}"/>
              </a:ext>
            </a:extLst>
          </p:cNvPr>
          <p:cNvSpPr txBox="1"/>
          <p:nvPr/>
        </p:nvSpPr>
        <p:spPr>
          <a:xfrm>
            <a:off x="1720667" y="4912106"/>
            <a:ext cx="1499616" cy="444161"/>
          </a:xfrm>
          <a:prstGeom prst="rect">
            <a:avLst/>
          </a:prstGeom>
          <a:noFill/>
        </p:spPr>
        <p:txBody>
          <a:bodyPr wrap="square" lIns="0" tIns="0" rIns="0" bIns="0" anchor="ctr">
            <a:spAutoFit/>
          </a:bodyPr>
          <a:lstStyle/>
          <a:p>
            <a:pPr>
              <a:lnSpc>
                <a:spcPct val="110000"/>
              </a:lnSpc>
            </a:pPr>
            <a:r>
              <a:rPr lang="en-US" sz="900" noProof="0">
                <a:solidFill>
                  <a:srgbClr val="0F1C50"/>
                </a:solidFill>
                <a:latin typeface="Arial" panose="020B0604020202020204" pitchFamily="34" charset="0"/>
                <a:cs typeface="Arial" panose="020B0604020202020204" pitchFamily="34" charset="0"/>
              </a:rPr>
              <a:t>Customer Ops · Field Services · Billing · BRS · Vendors</a:t>
            </a:r>
          </a:p>
        </p:txBody>
      </p:sp>
      <p:sp>
        <p:nvSpPr>
          <p:cNvPr id="257" name="Rectangle 115">
            <a:extLst>
              <a:ext uri="{FF2B5EF4-FFF2-40B4-BE49-F238E27FC236}">
                <a16:creationId xmlns:a16="http://schemas.microsoft.com/office/drawing/2014/main" id="{7B7CC6AE-A4B1-D371-41C2-29E8A7BFC516}"/>
              </a:ext>
            </a:extLst>
          </p:cNvPr>
          <p:cNvSpPr/>
          <p:nvPr/>
        </p:nvSpPr>
        <p:spPr>
          <a:xfrm>
            <a:off x="3339155" y="485986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8" name="TextBox 116">
            <a:extLst>
              <a:ext uri="{FF2B5EF4-FFF2-40B4-BE49-F238E27FC236}">
                <a16:creationId xmlns:a16="http://schemas.microsoft.com/office/drawing/2014/main" id="{57E12260-C955-6DCF-EE93-484B370FD35F}"/>
              </a:ext>
            </a:extLst>
          </p:cNvPr>
          <p:cNvSpPr txBox="1"/>
          <p:nvPr/>
        </p:nvSpPr>
        <p:spPr>
          <a:xfrm>
            <a:off x="3412307" y="5064424"/>
            <a:ext cx="1408176" cy="13952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Incidents · Large · Small</a:t>
            </a:r>
          </a:p>
        </p:txBody>
      </p:sp>
      <p:sp>
        <p:nvSpPr>
          <p:cNvPr id="259" name="Rectangle 117">
            <a:extLst>
              <a:ext uri="{FF2B5EF4-FFF2-40B4-BE49-F238E27FC236}">
                <a16:creationId xmlns:a16="http://schemas.microsoft.com/office/drawing/2014/main" id="{0CBA1054-A6BF-7068-7D4C-66C10034406B}"/>
              </a:ext>
            </a:extLst>
          </p:cNvPr>
          <p:cNvSpPr/>
          <p:nvPr/>
        </p:nvSpPr>
        <p:spPr>
          <a:xfrm>
            <a:off x="4939354"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0" name="TextBox 119">
            <a:extLst>
              <a:ext uri="{FF2B5EF4-FFF2-40B4-BE49-F238E27FC236}">
                <a16:creationId xmlns:a16="http://schemas.microsoft.com/office/drawing/2014/main" id="{D3616753-6220-4857-E843-C227628F5135}"/>
              </a:ext>
            </a:extLst>
          </p:cNvPr>
          <p:cNvSpPr txBox="1"/>
          <p:nvPr/>
        </p:nvSpPr>
        <p:spPr>
          <a:xfrm>
            <a:off x="5167954" y="4987769"/>
            <a:ext cx="1084478" cy="292837"/>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Informal intake process</a:t>
            </a:r>
            <a:endParaRPr lang="en-US" sz="900" b="0" i="0" noProof="0">
              <a:solidFill>
                <a:srgbClr val="2C3E50"/>
              </a:solidFill>
              <a:latin typeface="Arial" panose="020B0604020202020204" pitchFamily="34" charset="0"/>
              <a:cs typeface="Arial" panose="020B0604020202020204" pitchFamily="34" charset="0"/>
            </a:endParaRPr>
          </a:p>
        </p:txBody>
      </p:sp>
      <p:sp>
        <p:nvSpPr>
          <p:cNvPr id="261" name="Rectangle 120">
            <a:extLst>
              <a:ext uri="{FF2B5EF4-FFF2-40B4-BE49-F238E27FC236}">
                <a16:creationId xmlns:a16="http://schemas.microsoft.com/office/drawing/2014/main" id="{974DDEC0-CE7A-808B-30CD-D69D1844B482}"/>
              </a:ext>
            </a:extLst>
          </p:cNvPr>
          <p:cNvSpPr/>
          <p:nvPr/>
        </p:nvSpPr>
        <p:spPr>
          <a:xfrm>
            <a:off x="6343873"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2" name="TextBox 122">
            <a:extLst>
              <a:ext uri="{FF2B5EF4-FFF2-40B4-BE49-F238E27FC236}">
                <a16:creationId xmlns:a16="http://schemas.microsoft.com/office/drawing/2014/main" id="{6E3BF51A-8004-11C1-4819-299D7F6322AB}"/>
              </a:ext>
            </a:extLst>
          </p:cNvPr>
          <p:cNvSpPr txBox="1"/>
          <p:nvPr/>
        </p:nvSpPr>
        <p:spPr>
          <a:xfrm>
            <a:off x="6586080" y="4985557"/>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Relies on tool template</a:t>
            </a:r>
            <a:endParaRPr lang="en-US" sz="900" noProof="0">
              <a:latin typeface="Arial" panose="020B0604020202020204" pitchFamily="34" charset="0"/>
              <a:cs typeface="Arial" panose="020B0604020202020204" pitchFamily="34" charset="0"/>
            </a:endParaRPr>
          </a:p>
        </p:txBody>
      </p:sp>
      <p:sp>
        <p:nvSpPr>
          <p:cNvPr id="263" name="Rectangle 123">
            <a:extLst>
              <a:ext uri="{FF2B5EF4-FFF2-40B4-BE49-F238E27FC236}">
                <a16:creationId xmlns:a16="http://schemas.microsoft.com/office/drawing/2014/main" id="{9A21AB0D-C782-9B7B-AE90-199DB215E25A}"/>
              </a:ext>
            </a:extLst>
          </p:cNvPr>
          <p:cNvSpPr/>
          <p:nvPr/>
        </p:nvSpPr>
        <p:spPr>
          <a:xfrm>
            <a:off x="7748391"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4" name="TextBox 125">
            <a:extLst>
              <a:ext uri="{FF2B5EF4-FFF2-40B4-BE49-F238E27FC236}">
                <a16:creationId xmlns:a16="http://schemas.microsoft.com/office/drawing/2014/main" id="{D6D49A45-4710-3C22-6D98-4E4579F8D634}"/>
              </a:ext>
            </a:extLst>
          </p:cNvPr>
          <p:cNvSpPr txBox="1"/>
          <p:nvPr/>
        </p:nvSpPr>
        <p:spPr>
          <a:xfrm>
            <a:off x="7976991" y="5027211"/>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'Intrinsic common sense'; not scored</a:t>
            </a:r>
            <a:endParaRPr lang="en-US" sz="900" noProof="0">
              <a:latin typeface="Arial" panose="020B0604020202020204" pitchFamily="34" charset="0"/>
              <a:cs typeface="Arial" panose="020B0604020202020204" pitchFamily="34" charset="0"/>
            </a:endParaRPr>
          </a:p>
        </p:txBody>
      </p:sp>
      <p:sp>
        <p:nvSpPr>
          <p:cNvPr id="265" name="Rectangle 126">
            <a:extLst>
              <a:ext uri="{FF2B5EF4-FFF2-40B4-BE49-F238E27FC236}">
                <a16:creationId xmlns:a16="http://schemas.microsoft.com/office/drawing/2014/main" id="{1FD72E77-802E-0BF5-EC9B-0F98F96416FC}"/>
              </a:ext>
            </a:extLst>
          </p:cNvPr>
          <p:cNvSpPr/>
          <p:nvPr/>
        </p:nvSpPr>
        <p:spPr>
          <a:xfrm>
            <a:off x="9152910"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6" name="TextBox 128">
            <a:extLst>
              <a:ext uri="{FF2B5EF4-FFF2-40B4-BE49-F238E27FC236}">
                <a16:creationId xmlns:a16="http://schemas.microsoft.com/office/drawing/2014/main" id="{291A1C75-9B44-DFE8-11BB-0AFE0A19627A}"/>
              </a:ext>
            </a:extLst>
          </p:cNvPr>
          <p:cNvSpPr txBox="1"/>
          <p:nvPr/>
        </p:nvSpPr>
        <p:spPr>
          <a:xfrm>
            <a:off x="9381510" y="5063942"/>
            <a:ext cx="1084478" cy="140488"/>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Partial governance</a:t>
            </a:r>
            <a:endParaRPr lang="en-US" sz="900" b="0" i="0" noProof="0">
              <a:solidFill>
                <a:srgbClr val="2C3E50"/>
              </a:solidFill>
              <a:latin typeface="Arial" panose="020B0604020202020204" pitchFamily="34" charset="0"/>
              <a:cs typeface="Arial" panose="020B0604020202020204" pitchFamily="34" charset="0"/>
            </a:endParaRPr>
          </a:p>
        </p:txBody>
      </p:sp>
      <p:sp>
        <p:nvSpPr>
          <p:cNvPr id="267" name="Rectangle 129">
            <a:extLst>
              <a:ext uri="{FF2B5EF4-FFF2-40B4-BE49-F238E27FC236}">
                <a16:creationId xmlns:a16="http://schemas.microsoft.com/office/drawing/2014/main" id="{8769424E-D720-7931-CA1F-FB6DEA2DE634}"/>
              </a:ext>
            </a:extLst>
          </p:cNvPr>
          <p:cNvSpPr/>
          <p:nvPr/>
        </p:nvSpPr>
        <p:spPr>
          <a:xfrm>
            <a:off x="10557428"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8" name="TextBox 131">
            <a:extLst>
              <a:ext uri="{FF2B5EF4-FFF2-40B4-BE49-F238E27FC236}">
                <a16:creationId xmlns:a16="http://schemas.microsoft.com/office/drawing/2014/main" id="{4B535C96-7C9C-070F-6C61-3D5B0B41C92C}"/>
              </a:ext>
            </a:extLst>
          </p:cNvPr>
          <p:cNvSpPr txBox="1"/>
          <p:nvPr/>
        </p:nvSpPr>
        <p:spPr>
          <a:xfrm>
            <a:off x="10786028" y="5037011"/>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Execution knowledge not owned</a:t>
            </a:r>
            <a:endParaRPr lang="en-US" sz="900" noProof="0">
              <a:latin typeface="Arial" panose="020B0604020202020204" pitchFamily="34" charset="0"/>
              <a:cs typeface="Arial" panose="020B0604020202020204" pitchFamily="34" charset="0"/>
            </a:endParaRPr>
          </a:p>
        </p:txBody>
      </p:sp>
      <p:sp>
        <p:nvSpPr>
          <p:cNvPr id="269" name="Rectangle 132">
            <a:extLst>
              <a:ext uri="{FF2B5EF4-FFF2-40B4-BE49-F238E27FC236}">
                <a16:creationId xmlns:a16="http://schemas.microsoft.com/office/drawing/2014/main" id="{1CAF0621-3518-5305-5092-AB9FC08F7AE6}"/>
              </a:ext>
            </a:extLst>
          </p:cNvPr>
          <p:cNvSpPr/>
          <p:nvPr/>
        </p:nvSpPr>
        <p:spPr>
          <a:xfrm>
            <a:off x="458795" y="5433488"/>
            <a:ext cx="1143000" cy="8698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70" name="TextBox 133">
            <a:extLst>
              <a:ext uri="{FF2B5EF4-FFF2-40B4-BE49-F238E27FC236}">
                <a16:creationId xmlns:a16="http://schemas.microsoft.com/office/drawing/2014/main" id="{FE4F59E7-2DCE-2B99-0F32-0E5C218F6E7A}"/>
              </a:ext>
            </a:extLst>
          </p:cNvPr>
          <p:cNvSpPr txBox="1"/>
          <p:nvPr/>
        </p:nvSpPr>
        <p:spPr>
          <a:xfrm>
            <a:off x="458795" y="5596399"/>
            <a:ext cx="1143000" cy="4935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Customer Services</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(4 teams TBC)</a:t>
            </a:r>
          </a:p>
        </p:txBody>
      </p:sp>
      <p:sp>
        <p:nvSpPr>
          <p:cNvPr id="271" name="Rectangle 134">
            <a:extLst>
              <a:ext uri="{FF2B5EF4-FFF2-40B4-BE49-F238E27FC236}">
                <a16:creationId xmlns:a16="http://schemas.microsoft.com/office/drawing/2014/main" id="{2D9A2D2D-18BA-6D96-CAED-D1D2E6A40B63}"/>
              </a:ext>
            </a:extLst>
          </p:cNvPr>
          <p:cNvSpPr/>
          <p:nvPr/>
        </p:nvSpPr>
        <p:spPr>
          <a:xfrm>
            <a:off x="1606694" y="5436157"/>
            <a:ext cx="1653390" cy="87401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2" name="TextBox 135">
            <a:extLst>
              <a:ext uri="{FF2B5EF4-FFF2-40B4-BE49-F238E27FC236}">
                <a16:creationId xmlns:a16="http://schemas.microsoft.com/office/drawing/2014/main" id="{B7BD06AB-DB5E-32B0-C093-52DAE1E07449}"/>
              </a:ext>
            </a:extLst>
          </p:cNvPr>
          <p:cNvSpPr txBox="1"/>
          <p:nvPr/>
        </p:nvSpPr>
        <p:spPr>
          <a:xfrm>
            <a:off x="1724001" y="5537290"/>
            <a:ext cx="1492146" cy="1054584"/>
          </a:xfrm>
          <a:prstGeom prst="rect">
            <a:avLst/>
          </a:prstGeom>
          <a:noFill/>
        </p:spPr>
        <p:txBody>
          <a:bodyPr wrap="square" lIns="0" tIns="0" rIns="0" bIns="0" anchor="ctr">
            <a:spAutoFit/>
          </a:bodyPr>
          <a:lstStyle/>
          <a:p>
            <a:pPr>
              <a:lnSpc>
                <a:spcPct val="110000"/>
              </a:lnSpc>
            </a:pPr>
            <a:r>
              <a:rPr lang="en-US" sz="900" noProof="0">
                <a:solidFill>
                  <a:srgbClr val="0F1C50"/>
                </a:solidFill>
                <a:latin typeface="Arial" panose="020B0604020202020204" pitchFamily="34" charset="0"/>
                <a:cs typeface="Arial" panose="020B0604020202020204" pitchFamily="34" charset="0"/>
              </a:rPr>
              <a:t>7 OPCOs via BRS · PMO · OT · Digital CoE </a:t>
            </a:r>
            <a:r>
              <a:rPr lang="en-US" sz="900" noProof="0">
                <a:solidFill>
                  <a:srgbClr val="0F1C50"/>
                </a:solidFill>
                <a:latin typeface="Arial" panose="020B0604020202020204" pitchFamily="34" charset="0"/>
                <a:ea typeface="Calibri"/>
                <a:cs typeface="Arial" panose="020B0604020202020204" pitchFamily="34" charset="0"/>
              </a:rPr>
              <a:t>· Infrastructure · Data &amp; Analytics · Regulatory ·</a:t>
            </a:r>
          </a:p>
          <a:p>
            <a:pPr>
              <a:lnSpc>
                <a:spcPct val="110000"/>
              </a:lnSpc>
            </a:pPr>
            <a:r>
              <a:rPr lang="en-US" sz="900" noProof="0">
                <a:solidFill>
                  <a:srgbClr val="0F1C50"/>
                </a:solidFill>
                <a:latin typeface="Arial" panose="020B0604020202020204" pitchFamily="34" charset="0"/>
                <a:ea typeface="Calibri"/>
                <a:cs typeface="Arial" panose="020B0604020202020204" pitchFamily="34" charset="0"/>
              </a:rPr>
              <a:t>OT</a:t>
            </a:r>
          </a:p>
          <a:p>
            <a:pPr>
              <a:lnSpc>
                <a:spcPct val="110000"/>
              </a:lnSpc>
            </a:pPr>
            <a:endParaRPr lang="en-US" sz="900" noProof="0">
              <a:solidFill>
                <a:srgbClr val="0F1C50"/>
              </a:solidFill>
              <a:latin typeface="Arial" panose="020B0604020202020204" pitchFamily="34" charset="0"/>
              <a:ea typeface="Calibri"/>
              <a:cs typeface="Arial" panose="020B0604020202020204" pitchFamily="34" charset="0"/>
            </a:endParaRPr>
          </a:p>
          <a:p>
            <a:pPr>
              <a:lnSpc>
                <a:spcPct val="110000"/>
              </a:lnSpc>
            </a:pPr>
            <a:endParaRPr lang="en-US" sz="900" noProof="0">
              <a:solidFill>
                <a:srgbClr val="0F1C50"/>
              </a:solidFill>
              <a:latin typeface="Arial" panose="020B0604020202020204" pitchFamily="34" charset="0"/>
              <a:cs typeface="Arial" panose="020B0604020202020204" pitchFamily="34" charset="0"/>
            </a:endParaRPr>
          </a:p>
        </p:txBody>
      </p:sp>
      <p:sp>
        <p:nvSpPr>
          <p:cNvPr id="273" name="Rectangle 136">
            <a:extLst>
              <a:ext uri="{FF2B5EF4-FFF2-40B4-BE49-F238E27FC236}">
                <a16:creationId xmlns:a16="http://schemas.microsoft.com/office/drawing/2014/main" id="{E3A13F06-A92C-F6FC-0C71-4BA4C6B39B23}"/>
              </a:ext>
            </a:extLst>
          </p:cNvPr>
          <p:cNvSpPr/>
          <p:nvPr/>
        </p:nvSpPr>
        <p:spPr>
          <a:xfrm>
            <a:off x="3339155" y="546337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4" name="TextBox 137">
            <a:extLst>
              <a:ext uri="{FF2B5EF4-FFF2-40B4-BE49-F238E27FC236}">
                <a16:creationId xmlns:a16="http://schemas.microsoft.com/office/drawing/2014/main" id="{26277550-6F59-F1BA-D0E9-C5889EFA7C6C}"/>
              </a:ext>
            </a:extLst>
          </p:cNvPr>
          <p:cNvSpPr txBox="1"/>
          <p:nvPr/>
        </p:nvSpPr>
        <p:spPr>
          <a:xfrm>
            <a:off x="3412307" y="5591272"/>
            <a:ext cx="1408176"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Regulatory · Large · Small/Medium </a:t>
            </a:r>
          </a:p>
        </p:txBody>
      </p:sp>
      <p:sp>
        <p:nvSpPr>
          <p:cNvPr id="275" name="Rectangle 138">
            <a:extLst>
              <a:ext uri="{FF2B5EF4-FFF2-40B4-BE49-F238E27FC236}">
                <a16:creationId xmlns:a16="http://schemas.microsoft.com/office/drawing/2014/main" id="{1CA7A55A-A909-FE9E-02B4-1B0ABABFF900}"/>
              </a:ext>
            </a:extLst>
          </p:cNvPr>
          <p:cNvSpPr/>
          <p:nvPr/>
        </p:nvSpPr>
        <p:spPr>
          <a:xfrm>
            <a:off x="4939354"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6" name="TextBox 140">
            <a:extLst>
              <a:ext uri="{FF2B5EF4-FFF2-40B4-BE49-F238E27FC236}">
                <a16:creationId xmlns:a16="http://schemas.microsoft.com/office/drawing/2014/main" id="{8D4F624A-F05E-7C8B-7785-846D69ABD0EA}"/>
              </a:ext>
            </a:extLst>
          </p:cNvPr>
          <p:cNvSpPr txBox="1"/>
          <p:nvPr/>
        </p:nvSpPr>
        <p:spPr>
          <a:xfrm>
            <a:off x="5167954" y="5626167"/>
            <a:ext cx="1084478" cy="140488"/>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shared channel</a:t>
            </a:r>
          </a:p>
        </p:txBody>
      </p:sp>
      <p:sp>
        <p:nvSpPr>
          <p:cNvPr id="277" name="Rectangle 141">
            <a:extLst>
              <a:ext uri="{FF2B5EF4-FFF2-40B4-BE49-F238E27FC236}">
                <a16:creationId xmlns:a16="http://schemas.microsoft.com/office/drawing/2014/main" id="{A399E36E-FC2B-583D-92C0-ABE02FA6932A}"/>
              </a:ext>
            </a:extLst>
          </p:cNvPr>
          <p:cNvSpPr/>
          <p:nvPr/>
        </p:nvSpPr>
        <p:spPr>
          <a:xfrm>
            <a:off x="6343873"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8" name="TextBox 143">
            <a:extLst>
              <a:ext uri="{FF2B5EF4-FFF2-40B4-BE49-F238E27FC236}">
                <a16:creationId xmlns:a16="http://schemas.microsoft.com/office/drawing/2014/main" id="{8CCEA4C7-F8B7-3FF1-CBF6-EDCC1AF1AA73}"/>
              </a:ext>
            </a:extLst>
          </p:cNvPr>
          <p:cNvSpPr txBox="1"/>
          <p:nvPr/>
        </p:nvSpPr>
        <p:spPr>
          <a:xfrm>
            <a:off x="6572473" y="5589060"/>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model defined for classification</a:t>
            </a:r>
            <a:endParaRPr lang="en-US" sz="900" noProof="0">
              <a:latin typeface="Arial" panose="020B0604020202020204" pitchFamily="34" charset="0"/>
              <a:cs typeface="Arial" panose="020B0604020202020204" pitchFamily="34" charset="0"/>
            </a:endParaRPr>
          </a:p>
        </p:txBody>
      </p:sp>
      <p:sp>
        <p:nvSpPr>
          <p:cNvPr id="279" name="Rectangle 144">
            <a:extLst>
              <a:ext uri="{FF2B5EF4-FFF2-40B4-BE49-F238E27FC236}">
                <a16:creationId xmlns:a16="http://schemas.microsoft.com/office/drawing/2014/main" id="{7FFAC339-91A6-D643-2419-D0FAD10593A6}"/>
              </a:ext>
            </a:extLst>
          </p:cNvPr>
          <p:cNvSpPr/>
          <p:nvPr/>
        </p:nvSpPr>
        <p:spPr>
          <a:xfrm>
            <a:off x="7748391"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0" name="TextBox 146">
            <a:extLst>
              <a:ext uri="{FF2B5EF4-FFF2-40B4-BE49-F238E27FC236}">
                <a16:creationId xmlns:a16="http://schemas.microsoft.com/office/drawing/2014/main" id="{729A42E7-6CB3-CD59-7554-23C7914EBB1C}"/>
              </a:ext>
            </a:extLst>
          </p:cNvPr>
          <p:cNvSpPr txBox="1"/>
          <p:nvPr/>
        </p:nvSpPr>
        <p:spPr>
          <a:xfrm>
            <a:off x="7976991" y="5591272"/>
            <a:ext cx="1084478"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Done by Director or managers locally</a:t>
            </a:r>
          </a:p>
        </p:txBody>
      </p:sp>
      <p:sp>
        <p:nvSpPr>
          <p:cNvPr id="281" name="Rectangle 147">
            <a:extLst>
              <a:ext uri="{FF2B5EF4-FFF2-40B4-BE49-F238E27FC236}">
                <a16:creationId xmlns:a16="http://schemas.microsoft.com/office/drawing/2014/main" id="{E23BFC3F-90F8-EF63-A3BA-A5C0477530A6}"/>
              </a:ext>
            </a:extLst>
          </p:cNvPr>
          <p:cNvSpPr/>
          <p:nvPr/>
        </p:nvSpPr>
        <p:spPr>
          <a:xfrm>
            <a:off x="9152910"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2" name="TextBox 149">
            <a:extLst>
              <a:ext uri="{FF2B5EF4-FFF2-40B4-BE49-F238E27FC236}">
                <a16:creationId xmlns:a16="http://schemas.microsoft.com/office/drawing/2014/main" id="{AE08CF9D-CF8F-CE9E-3C66-9C10BC719C30}"/>
              </a:ext>
            </a:extLst>
          </p:cNvPr>
          <p:cNvSpPr txBox="1"/>
          <p:nvPr/>
        </p:nvSpPr>
        <p:spPr>
          <a:xfrm>
            <a:off x="9381510" y="5591273"/>
            <a:ext cx="1084478" cy="292837"/>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Priority competition between OpCos</a:t>
            </a:r>
          </a:p>
        </p:txBody>
      </p:sp>
      <p:sp>
        <p:nvSpPr>
          <p:cNvPr id="283" name="Rectangle 150">
            <a:extLst>
              <a:ext uri="{FF2B5EF4-FFF2-40B4-BE49-F238E27FC236}">
                <a16:creationId xmlns:a16="http://schemas.microsoft.com/office/drawing/2014/main" id="{3057F073-2BA0-C67A-DF05-68852E5DD3EB}"/>
              </a:ext>
            </a:extLst>
          </p:cNvPr>
          <p:cNvSpPr/>
          <p:nvPr/>
        </p:nvSpPr>
        <p:spPr>
          <a:xfrm>
            <a:off x="10557428"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4" name="TextBox 152">
            <a:extLst>
              <a:ext uri="{FF2B5EF4-FFF2-40B4-BE49-F238E27FC236}">
                <a16:creationId xmlns:a16="http://schemas.microsoft.com/office/drawing/2014/main" id="{FCA16C7C-BA23-CCB5-ACC5-F4E55DEF65E5}"/>
              </a:ext>
            </a:extLst>
          </p:cNvPr>
          <p:cNvSpPr txBox="1"/>
          <p:nvPr/>
        </p:nvSpPr>
        <p:spPr>
          <a:xfrm>
            <a:off x="10826849" y="5589444"/>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Ad-hoc delivery governance</a:t>
            </a:r>
            <a:endParaRPr lang="en-US" sz="900" noProof="0">
              <a:latin typeface="Arial" panose="020B0604020202020204" pitchFamily="34" charset="0"/>
              <a:cs typeface="Arial" panose="020B0604020202020204" pitchFamily="34" charset="0"/>
            </a:endParaRPr>
          </a:p>
        </p:txBody>
      </p:sp>
      <p:sp>
        <p:nvSpPr>
          <p:cNvPr id="285" name="Oval 284">
            <a:extLst>
              <a:ext uri="{FF2B5EF4-FFF2-40B4-BE49-F238E27FC236}">
                <a16:creationId xmlns:a16="http://schemas.microsoft.com/office/drawing/2014/main" id="{311320C0-4D6E-78BA-3584-06925093D10A}"/>
              </a:ext>
            </a:extLst>
          </p:cNvPr>
          <p:cNvSpPr/>
          <p:nvPr/>
        </p:nvSpPr>
        <p:spPr>
          <a:xfrm>
            <a:off x="4994218"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6" name="Oval 285">
            <a:extLst>
              <a:ext uri="{FF2B5EF4-FFF2-40B4-BE49-F238E27FC236}">
                <a16:creationId xmlns:a16="http://schemas.microsoft.com/office/drawing/2014/main" id="{B41AB986-732A-7B9A-54CC-E2ED7FD1D3BC}"/>
              </a:ext>
            </a:extLst>
          </p:cNvPr>
          <p:cNvSpPr/>
          <p:nvPr/>
        </p:nvSpPr>
        <p:spPr>
          <a:xfrm>
            <a:off x="6398737"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7" name="Oval 286">
            <a:extLst>
              <a:ext uri="{FF2B5EF4-FFF2-40B4-BE49-F238E27FC236}">
                <a16:creationId xmlns:a16="http://schemas.microsoft.com/office/drawing/2014/main" id="{187654ED-FC32-B21B-B8FF-FDE41AAAA4EC}"/>
              </a:ext>
            </a:extLst>
          </p:cNvPr>
          <p:cNvSpPr/>
          <p:nvPr/>
        </p:nvSpPr>
        <p:spPr>
          <a:xfrm>
            <a:off x="7803255"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0" name="Oval 289">
            <a:extLst>
              <a:ext uri="{FF2B5EF4-FFF2-40B4-BE49-F238E27FC236}">
                <a16:creationId xmlns:a16="http://schemas.microsoft.com/office/drawing/2014/main" id="{F7B5D9E8-22FF-4EDB-9D14-1894DFB3EC74}"/>
              </a:ext>
            </a:extLst>
          </p:cNvPr>
          <p:cNvSpPr/>
          <p:nvPr/>
        </p:nvSpPr>
        <p:spPr>
          <a:xfrm>
            <a:off x="4994218"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2" name="Oval 291">
            <a:extLst>
              <a:ext uri="{FF2B5EF4-FFF2-40B4-BE49-F238E27FC236}">
                <a16:creationId xmlns:a16="http://schemas.microsoft.com/office/drawing/2014/main" id="{4AD9E115-B4FA-6D43-EA93-4224BC3710CE}"/>
              </a:ext>
            </a:extLst>
          </p:cNvPr>
          <p:cNvSpPr/>
          <p:nvPr/>
        </p:nvSpPr>
        <p:spPr>
          <a:xfrm>
            <a:off x="7803255"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4" name="Oval 293">
            <a:extLst>
              <a:ext uri="{FF2B5EF4-FFF2-40B4-BE49-F238E27FC236}">
                <a16:creationId xmlns:a16="http://schemas.microsoft.com/office/drawing/2014/main" id="{2737ACB3-594A-E56A-3B41-24D8841A608A}"/>
              </a:ext>
            </a:extLst>
          </p:cNvPr>
          <p:cNvSpPr/>
          <p:nvPr/>
        </p:nvSpPr>
        <p:spPr>
          <a:xfrm>
            <a:off x="10612292"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2" name="Oval 301">
            <a:extLst>
              <a:ext uri="{FF2B5EF4-FFF2-40B4-BE49-F238E27FC236}">
                <a16:creationId xmlns:a16="http://schemas.microsoft.com/office/drawing/2014/main" id="{382512EA-5D15-960E-BE4D-597E0ABAD832}"/>
              </a:ext>
            </a:extLst>
          </p:cNvPr>
          <p:cNvSpPr/>
          <p:nvPr/>
        </p:nvSpPr>
        <p:spPr>
          <a:xfrm>
            <a:off x="7803255" y="4073483"/>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4" name="Oval 303">
            <a:extLst>
              <a:ext uri="{FF2B5EF4-FFF2-40B4-BE49-F238E27FC236}">
                <a16:creationId xmlns:a16="http://schemas.microsoft.com/office/drawing/2014/main" id="{530470A2-5332-831E-72FF-41377E24A73A}"/>
              </a:ext>
            </a:extLst>
          </p:cNvPr>
          <p:cNvSpPr/>
          <p:nvPr/>
        </p:nvSpPr>
        <p:spPr>
          <a:xfrm>
            <a:off x="10612292" y="4073483"/>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5" name="Oval 304">
            <a:extLst>
              <a:ext uri="{FF2B5EF4-FFF2-40B4-BE49-F238E27FC236}">
                <a16:creationId xmlns:a16="http://schemas.microsoft.com/office/drawing/2014/main" id="{5A7D5A65-C3BE-E0F4-BD37-AF1D7A10CB6E}"/>
              </a:ext>
            </a:extLst>
          </p:cNvPr>
          <p:cNvSpPr/>
          <p:nvPr/>
        </p:nvSpPr>
        <p:spPr>
          <a:xfrm>
            <a:off x="4994218" y="4933019"/>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7" name="Oval 306">
            <a:extLst>
              <a:ext uri="{FF2B5EF4-FFF2-40B4-BE49-F238E27FC236}">
                <a16:creationId xmlns:a16="http://schemas.microsoft.com/office/drawing/2014/main" id="{A8DD45C1-68AC-F48E-B163-F1AF026205A1}"/>
              </a:ext>
            </a:extLst>
          </p:cNvPr>
          <p:cNvSpPr/>
          <p:nvPr/>
        </p:nvSpPr>
        <p:spPr>
          <a:xfrm>
            <a:off x="7803255" y="4933019"/>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9" name="Oval 308">
            <a:extLst>
              <a:ext uri="{FF2B5EF4-FFF2-40B4-BE49-F238E27FC236}">
                <a16:creationId xmlns:a16="http://schemas.microsoft.com/office/drawing/2014/main" id="{994ADADD-B05E-FEBC-275B-EB2FC38575EF}"/>
              </a:ext>
            </a:extLst>
          </p:cNvPr>
          <p:cNvSpPr/>
          <p:nvPr/>
        </p:nvSpPr>
        <p:spPr>
          <a:xfrm>
            <a:off x="10612292" y="4933019"/>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11" name="Oval 310">
            <a:extLst>
              <a:ext uri="{FF2B5EF4-FFF2-40B4-BE49-F238E27FC236}">
                <a16:creationId xmlns:a16="http://schemas.microsoft.com/office/drawing/2014/main" id="{C3852E3D-657D-45BE-6F7B-12A586ED41F7}"/>
              </a:ext>
            </a:extLst>
          </p:cNvPr>
          <p:cNvSpPr/>
          <p:nvPr/>
        </p:nvSpPr>
        <p:spPr>
          <a:xfrm>
            <a:off x="9253494"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 name="TextBox 110">
            <a:extLst>
              <a:ext uri="{FF2B5EF4-FFF2-40B4-BE49-F238E27FC236}">
                <a16:creationId xmlns:a16="http://schemas.microsoft.com/office/drawing/2014/main" id="{25DD00AC-D3FE-1EFC-894E-5858B139190F}"/>
              </a:ext>
            </a:extLst>
          </p:cNvPr>
          <p:cNvSpPr txBox="1"/>
          <p:nvPr/>
        </p:nvSpPr>
        <p:spPr>
          <a:xfrm>
            <a:off x="457200" y="1999538"/>
            <a:ext cx="6400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6583BE"/>
                </a:solidFill>
                <a:latin typeface="Arial" panose="020B0604020202020204" pitchFamily="34" charset="0"/>
                <a:cs typeface="Arial" panose="020B0604020202020204" pitchFamily="34" charset="0"/>
              </a:rPr>
              <a:t>IT BUSINESS </a:t>
            </a:r>
            <a:r>
              <a:rPr lang="en-US" sz="1000" b="1" i="0" noProof="0">
                <a:solidFill>
                  <a:srgbClr val="6583BE"/>
                </a:solidFill>
                <a:latin typeface="Arial" panose="020B0604020202020204" pitchFamily="34" charset="0"/>
                <a:cs typeface="Arial" panose="020B0604020202020204" pitchFamily="34" charset="0"/>
              </a:rPr>
              <a:t>APPLICATIONS</a:t>
            </a:r>
            <a:endParaRPr lang="en-US" sz="900" b="1" i="0" noProof="0">
              <a:solidFill>
                <a:srgbClr val="6583BE"/>
              </a:solidFill>
              <a:latin typeface="Arial" panose="020B0604020202020204" pitchFamily="34" charset="0"/>
              <a:cs typeface="Arial" panose="020B0604020202020204" pitchFamily="34" charset="0"/>
            </a:endParaRPr>
          </a:p>
        </p:txBody>
      </p:sp>
      <p:sp>
        <p:nvSpPr>
          <p:cNvPr id="19" name="Rectangle 109">
            <a:extLst>
              <a:ext uri="{FF2B5EF4-FFF2-40B4-BE49-F238E27FC236}">
                <a16:creationId xmlns:a16="http://schemas.microsoft.com/office/drawing/2014/main" id="{F8F31007-230E-E0E5-BBB7-F202B4C92EFF}"/>
              </a:ext>
            </a:extLst>
          </p:cNvPr>
          <p:cNvSpPr/>
          <p:nvPr/>
        </p:nvSpPr>
        <p:spPr>
          <a:xfrm>
            <a:off x="458795" y="1924528"/>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3E461D38-D458-F76B-60B8-2C1FE1EFD503}"/>
              </a:ext>
            </a:extLst>
          </p:cNvPr>
          <p:cNvSpPr/>
          <p:nvPr/>
        </p:nvSpPr>
        <p:spPr>
          <a:xfrm>
            <a:off x="9207773"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34F73A3D-A2C2-FCCF-5297-A501BB67EC8C}"/>
              </a:ext>
            </a:extLst>
          </p:cNvPr>
          <p:cNvSpPr/>
          <p:nvPr/>
        </p:nvSpPr>
        <p:spPr>
          <a:xfrm>
            <a:off x="10621971"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994A17BF-0AB9-F3BB-A18C-5A34633E72B2}"/>
              </a:ext>
            </a:extLst>
          </p:cNvPr>
          <p:cNvSpPr/>
          <p:nvPr/>
        </p:nvSpPr>
        <p:spPr>
          <a:xfrm>
            <a:off x="6398727" y="285766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FD7F8FE3-AB21-0727-D83E-DCFA92296584}"/>
              </a:ext>
            </a:extLst>
          </p:cNvPr>
          <p:cNvSpPr/>
          <p:nvPr/>
        </p:nvSpPr>
        <p:spPr>
          <a:xfrm>
            <a:off x="9209432" y="284668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6A197A31-5C31-9506-8E50-648F12BAD83D}"/>
              </a:ext>
            </a:extLst>
          </p:cNvPr>
          <p:cNvSpPr/>
          <p:nvPr/>
        </p:nvSpPr>
        <p:spPr>
          <a:xfrm>
            <a:off x="6407001" y="4034486"/>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179783B1-141C-7C57-A433-842E7C435D23}"/>
              </a:ext>
            </a:extLst>
          </p:cNvPr>
          <p:cNvSpPr/>
          <p:nvPr/>
        </p:nvSpPr>
        <p:spPr>
          <a:xfrm>
            <a:off x="5002482" y="405187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7674B10B-D420-D216-B5D7-4B2ECF2AF5AA}"/>
              </a:ext>
            </a:extLst>
          </p:cNvPr>
          <p:cNvSpPr/>
          <p:nvPr/>
        </p:nvSpPr>
        <p:spPr>
          <a:xfrm>
            <a:off x="6433897" y="4904064"/>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ADE5F6FC-E4CC-797D-25E0-8626E04C9F7F}"/>
              </a:ext>
            </a:extLst>
          </p:cNvPr>
          <p:cNvSpPr/>
          <p:nvPr/>
        </p:nvSpPr>
        <p:spPr>
          <a:xfrm>
            <a:off x="9216038" y="4909711"/>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1B0B0645-7322-1DFA-64E4-5E19110D8AAC}"/>
              </a:ext>
            </a:extLst>
          </p:cNvPr>
          <p:cNvSpPr/>
          <p:nvPr/>
        </p:nvSpPr>
        <p:spPr>
          <a:xfrm>
            <a:off x="5002483" y="550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23034909-577A-6AEC-24D5-BAC8F5A54533}"/>
              </a:ext>
            </a:extLst>
          </p:cNvPr>
          <p:cNvSpPr/>
          <p:nvPr/>
        </p:nvSpPr>
        <p:spPr>
          <a:xfrm>
            <a:off x="7811519"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4" name="Oval 33">
            <a:extLst>
              <a:ext uri="{FF2B5EF4-FFF2-40B4-BE49-F238E27FC236}">
                <a16:creationId xmlns:a16="http://schemas.microsoft.com/office/drawing/2014/main" id="{C606F856-3FB8-1A1A-2969-78F268687BF8}"/>
              </a:ext>
            </a:extLst>
          </p:cNvPr>
          <p:cNvSpPr/>
          <p:nvPr/>
        </p:nvSpPr>
        <p:spPr>
          <a:xfrm>
            <a:off x="6418909" y="551312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626DD893-EAEC-EDAA-6ED8-EE68504E1349}"/>
              </a:ext>
            </a:extLst>
          </p:cNvPr>
          <p:cNvSpPr/>
          <p:nvPr/>
        </p:nvSpPr>
        <p:spPr>
          <a:xfrm>
            <a:off x="9222760" y="406451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7" name="Oval 36">
            <a:extLst>
              <a:ext uri="{FF2B5EF4-FFF2-40B4-BE49-F238E27FC236}">
                <a16:creationId xmlns:a16="http://schemas.microsoft.com/office/drawing/2014/main" id="{C856BC26-2617-1745-B47A-32E1FD7EF782}"/>
              </a:ext>
            </a:extLst>
          </p:cNvPr>
          <p:cNvSpPr/>
          <p:nvPr/>
        </p:nvSpPr>
        <p:spPr>
          <a:xfrm>
            <a:off x="10630222" y="54988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 name="TextBox 36">
            <a:extLst>
              <a:ext uri="{FF2B5EF4-FFF2-40B4-BE49-F238E27FC236}">
                <a16:creationId xmlns:a16="http://schemas.microsoft.com/office/drawing/2014/main" id="{E7A073E6-6675-5A8C-9E86-990C9382C9F9}"/>
              </a:ext>
            </a:extLst>
          </p:cNvPr>
          <p:cNvSpPr txBox="1"/>
          <p:nvPr/>
        </p:nvSpPr>
        <p:spPr>
          <a:xfrm>
            <a:off x="6572474" y="2872409"/>
            <a:ext cx="1166120" cy="59753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No model for small/medium</a:t>
            </a:r>
            <a:endParaRPr lang="en-US" sz="900" noProof="0">
              <a:solidFill>
                <a:srgbClr val="000000"/>
              </a:solidFill>
              <a:latin typeface="Arial" panose="020B0604020202020204" pitchFamily="34" charset="0"/>
              <a:ea typeface="+mn-lt"/>
              <a:cs typeface="Arial" panose="020B0604020202020204" pitchFamily="34" charset="0"/>
            </a:endParaRPr>
          </a:p>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 demand</a:t>
            </a:r>
            <a:endParaRPr lang="en-US" sz="900" noProof="0">
              <a:latin typeface="Arial" panose="020B0604020202020204" pitchFamily="34" charset="0"/>
              <a:cs typeface="Arial" panose="020B0604020202020204" pitchFamily="34" charset="0"/>
            </a:endParaRPr>
          </a:p>
          <a:p>
            <a:pPr>
              <a:lnSpc>
                <a:spcPct val="110000"/>
              </a:lnSpc>
              <a:spcBef>
                <a:spcPts val="0"/>
              </a:spcBef>
              <a:spcAft>
                <a:spcPts val="0"/>
              </a:spcAft>
            </a:pPr>
            <a:endParaRPr lang="en-US" sz="900" noProof="0">
              <a:solidFill>
                <a:srgbClr val="2C3E50"/>
              </a:solidFill>
              <a:latin typeface="Arial" panose="020B0604020202020204" pitchFamily="34" charset="0"/>
              <a:ea typeface="+mn-lt"/>
              <a:cs typeface="Arial" panose="020B0604020202020204" pitchFamily="34" charset="0"/>
            </a:endParaRPr>
          </a:p>
        </p:txBody>
      </p:sp>
      <p:sp>
        <p:nvSpPr>
          <p:cNvPr id="7" name="Oval 6">
            <a:extLst>
              <a:ext uri="{FF2B5EF4-FFF2-40B4-BE49-F238E27FC236}">
                <a16:creationId xmlns:a16="http://schemas.microsoft.com/office/drawing/2014/main" id="{47863590-489D-FCB8-E227-380B23E603F5}"/>
              </a:ext>
            </a:extLst>
          </p:cNvPr>
          <p:cNvSpPr/>
          <p:nvPr/>
        </p:nvSpPr>
        <p:spPr>
          <a:xfrm>
            <a:off x="4978271"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E38E650C-F264-9CD0-EC73-6878C10C04A3}"/>
              </a:ext>
            </a:extLst>
          </p:cNvPr>
          <p:cNvSpPr/>
          <p:nvPr/>
        </p:nvSpPr>
        <p:spPr>
          <a:xfrm>
            <a:off x="6389593" y="3445153"/>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0" name="Oval 9">
            <a:extLst>
              <a:ext uri="{FF2B5EF4-FFF2-40B4-BE49-F238E27FC236}">
                <a16:creationId xmlns:a16="http://schemas.microsoft.com/office/drawing/2014/main" id="{C7B2D8A9-1753-E6A8-F60F-9561E71FBE10}"/>
              </a:ext>
            </a:extLst>
          </p:cNvPr>
          <p:cNvSpPr/>
          <p:nvPr/>
        </p:nvSpPr>
        <p:spPr>
          <a:xfrm>
            <a:off x="7794111" y="346325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1" name="Oval 10">
            <a:extLst>
              <a:ext uri="{FF2B5EF4-FFF2-40B4-BE49-F238E27FC236}">
                <a16:creationId xmlns:a16="http://schemas.microsoft.com/office/drawing/2014/main" id="{8DF0AED6-136B-F5DD-E270-436CE8E726C0}"/>
              </a:ext>
            </a:extLst>
          </p:cNvPr>
          <p:cNvSpPr/>
          <p:nvPr/>
        </p:nvSpPr>
        <p:spPr>
          <a:xfrm>
            <a:off x="9198629" y="345411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4E6011D3-DE76-DFD9-7173-AD7B5CCB9467}"/>
              </a:ext>
            </a:extLst>
          </p:cNvPr>
          <p:cNvSpPr/>
          <p:nvPr/>
        </p:nvSpPr>
        <p:spPr>
          <a:xfrm>
            <a:off x="10615894"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59" name="CuadroTexto 204">
            <a:extLst>
              <a:ext uri="{FF2B5EF4-FFF2-40B4-BE49-F238E27FC236}">
                <a16:creationId xmlns:a16="http://schemas.microsoft.com/office/drawing/2014/main" id="{ACE917D1-1D63-4E2F-8596-4AE47B5E555E}"/>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Across both IT Business Applications and Customer Service Applications, only 1 area already operate at scale — G&amp;E , the rest still run 6+ disconnected channels</a:t>
            </a:r>
            <a:endParaRPr lang="en-US" b="0"/>
          </a:p>
        </p:txBody>
      </p:sp>
    </p:spTree>
    <p:extLst>
      <p:ext uri="{BB962C8B-B14F-4D97-AF65-F5344CB8AC3E}">
        <p14:creationId xmlns:p14="http://schemas.microsoft.com/office/powerpoint/2010/main" val="695014104"/>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D42C-4D24-6C75-EDCF-28A3007CA15A}"/>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6E8ADAAB-3824-1032-F386-6C62A8341A1C}"/>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7025079B-F24E-068B-4F68-F728146CCD4E}"/>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A3CB52E3-AB33-D520-8996-5204E0C76FF6}"/>
              </a:ext>
            </a:extLst>
          </p:cNvPr>
          <p:cNvSpPr/>
          <p:nvPr/>
        </p:nvSpPr>
        <p:spPr>
          <a:xfrm>
            <a:off x="457200" y="587492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4CB1D8C6-2AD0-5C71-D8D9-0CB2379090C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8644960E-6EA7-BFBB-3219-1E3D10514006}"/>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3BC7B974-7E59-CCD8-241D-9BDB65981DC8}"/>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BD0F9C54-3C76-4839-5C9B-21964C9D646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706E5911-96BD-102D-3C73-7198318A03F2}"/>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E1EFAC53-6CDA-28DD-779E-3E707ED32EE9}"/>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BF326880-99CE-B6AB-7AFB-7E147E7C151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55728735-2F01-E068-BCB8-08D1F08A72CC}"/>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0AE7786B-9A39-B3A1-2355-176B3B6B9864}"/>
              </a:ext>
            </a:extLst>
          </p:cNvPr>
          <p:cNvSpPr/>
          <p:nvPr/>
        </p:nvSpPr>
        <p:spPr>
          <a:xfrm>
            <a:off x="457200" y="1415953"/>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3C993C0-0A93-1DF7-55DA-C1C2D44CE97D}"/>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52D4592A-03C0-A5C1-AFC4-FE6311944622}"/>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50" name="TextBox 49">
            <a:extLst>
              <a:ext uri="{FF2B5EF4-FFF2-40B4-BE49-F238E27FC236}">
                <a16:creationId xmlns:a16="http://schemas.microsoft.com/office/drawing/2014/main" id="{EA45EFE6-17DB-6DE2-DE1A-0BB99A4ED9CB}"/>
              </a:ext>
            </a:extLst>
          </p:cNvPr>
          <p:cNvSpPr txBox="1"/>
          <p:nvPr/>
        </p:nvSpPr>
        <p:spPr>
          <a:xfrm>
            <a:off x="2377440" y="1483318"/>
            <a:ext cx="9281160"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Electric &amp; Gas Field Operations · OSG (Operational Support Group)</a:t>
            </a:r>
          </a:p>
        </p:txBody>
      </p:sp>
      <p:sp>
        <p:nvSpPr>
          <p:cNvPr id="131" name="Rectangle 130">
            <a:extLst>
              <a:ext uri="{FF2B5EF4-FFF2-40B4-BE49-F238E27FC236}">
                <a16:creationId xmlns:a16="http://schemas.microsoft.com/office/drawing/2014/main" id="{6E8EDA39-0252-02E4-E8FC-51E64B2833D1}"/>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2" name="TextBox 131">
            <a:extLst>
              <a:ext uri="{FF2B5EF4-FFF2-40B4-BE49-F238E27FC236}">
                <a16:creationId xmlns:a16="http://schemas.microsoft.com/office/drawing/2014/main" id="{BB4F1BCC-E8CB-A2DE-DD2B-41AB877137F8}"/>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45" name="Rectangle 144">
            <a:extLst>
              <a:ext uri="{FF2B5EF4-FFF2-40B4-BE49-F238E27FC236}">
                <a16:creationId xmlns:a16="http://schemas.microsoft.com/office/drawing/2014/main" id="{829256AD-1734-E164-203C-A93F3F902794}"/>
              </a:ext>
            </a:extLst>
          </p:cNvPr>
          <p:cNvSpPr/>
          <p:nvPr/>
        </p:nvSpPr>
        <p:spPr>
          <a:xfrm>
            <a:off x="9985248" y="2440081"/>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387D6A7D-B717-03D0-9D6F-9ADE6B659584}"/>
              </a:ext>
            </a:extLst>
          </p:cNvPr>
          <p:cNvSpPr txBox="1"/>
          <p:nvPr/>
        </p:nvSpPr>
        <p:spPr>
          <a:xfrm>
            <a:off x="10076688" y="2485801"/>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team for break/fix; SWF brought in for resource impact</a:t>
            </a:r>
          </a:p>
        </p:txBody>
      </p:sp>
      <p:sp>
        <p:nvSpPr>
          <p:cNvPr id="157" name="Rectangle 156">
            <a:extLst>
              <a:ext uri="{FF2B5EF4-FFF2-40B4-BE49-F238E27FC236}">
                <a16:creationId xmlns:a16="http://schemas.microsoft.com/office/drawing/2014/main" id="{42277BD3-7F0F-6554-8402-33ADD5013D5F}"/>
              </a:ext>
            </a:extLst>
          </p:cNvPr>
          <p:cNvSpPr/>
          <p:nvPr/>
        </p:nvSpPr>
        <p:spPr>
          <a:xfrm>
            <a:off x="9985248" y="2970433"/>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A3208CF5-D063-A43B-7C2A-CD7B3237D1B7}"/>
              </a:ext>
            </a:extLst>
          </p:cNvPr>
          <p:cNvSpPr txBox="1"/>
          <p:nvPr/>
        </p:nvSpPr>
        <p:spPr>
          <a:xfrm>
            <a:off x="10076688" y="3016153"/>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GIS team + Software Factory (shared server infra: SAP HANA, ARCFM)</a:t>
            </a:r>
          </a:p>
        </p:txBody>
      </p:sp>
      <p:sp>
        <p:nvSpPr>
          <p:cNvPr id="170" name="Rectangle 169">
            <a:extLst>
              <a:ext uri="{FF2B5EF4-FFF2-40B4-BE49-F238E27FC236}">
                <a16:creationId xmlns:a16="http://schemas.microsoft.com/office/drawing/2014/main" id="{EB5C9C07-23FB-47B2-CAEA-0E0E0AB8BCE5}"/>
              </a:ext>
            </a:extLst>
          </p:cNvPr>
          <p:cNvSpPr/>
          <p:nvPr/>
        </p:nvSpPr>
        <p:spPr>
          <a:xfrm>
            <a:off x="9985248" y="3500785"/>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5FBF2656-3291-E886-2293-4E35600E7C15}"/>
              </a:ext>
            </a:extLst>
          </p:cNvPr>
          <p:cNvSpPr txBox="1"/>
          <p:nvPr/>
        </p:nvSpPr>
        <p:spPr>
          <a:xfrm>
            <a:off x="10076688" y="3546505"/>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(internal) + SWF process (vendor capacity)</a:t>
            </a:r>
          </a:p>
        </p:txBody>
      </p:sp>
      <p:sp>
        <p:nvSpPr>
          <p:cNvPr id="182" name="Rectangle 181">
            <a:extLst>
              <a:ext uri="{FF2B5EF4-FFF2-40B4-BE49-F238E27FC236}">
                <a16:creationId xmlns:a16="http://schemas.microsoft.com/office/drawing/2014/main" id="{34823A2A-CE17-A0E3-83C8-A79F16A7503E}"/>
              </a:ext>
            </a:extLst>
          </p:cNvPr>
          <p:cNvSpPr/>
          <p:nvPr/>
        </p:nvSpPr>
        <p:spPr>
          <a:xfrm>
            <a:off x="9985248" y="4031137"/>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83" name="TextBox 182">
            <a:extLst>
              <a:ext uri="{FF2B5EF4-FFF2-40B4-BE49-F238E27FC236}">
                <a16:creationId xmlns:a16="http://schemas.microsoft.com/office/drawing/2014/main" id="{A1018FC0-A327-FF65-15F0-05AEEA0F6C6B}"/>
              </a:ext>
            </a:extLst>
          </p:cNvPr>
          <p:cNvSpPr txBox="1"/>
          <p:nvPr/>
        </p:nvSpPr>
        <p:spPr>
          <a:xfrm>
            <a:off x="10076688" y="4076857"/>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engagement tracked ad-hoc; no KPIs per release</a:t>
            </a:r>
          </a:p>
        </p:txBody>
      </p:sp>
      <p:sp>
        <p:nvSpPr>
          <p:cNvPr id="188" name="TextBox 187">
            <a:extLst>
              <a:ext uri="{FF2B5EF4-FFF2-40B4-BE49-F238E27FC236}">
                <a16:creationId xmlns:a16="http://schemas.microsoft.com/office/drawing/2014/main" id="{33DB44ED-C441-4E9F-BB0A-0FF43C789652}"/>
              </a:ext>
            </a:extLst>
          </p:cNvPr>
          <p:cNvSpPr txBox="1"/>
          <p:nvPr/>
        </p:nvSpPr>
        <p:spPr>
          <a:xfrm>
            <a:off x="6400800" y="4927249"/>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"I prioritize things that have the highest impact to the most users. In most cases these are break/fix requests" — GIS Sr. Manager / Champion</a:t>
            </a:r>
          </a:p>
        </p:txBody>
      </p:sp>
      <p:sp>
        <p:nvSpPr>
          <p:cNvPr id="189" name="TextBox 188">
            <a:extLst>
              <a:ext uri="{FF2B5EF4-FFF2-40B4-BE49-F238E27FC236}">
                <a16:creationId xmlns:a16="http://schemas.microsoft.com/office/drawing/2014/main" id="{DF9B9376-D11E-BAE5-38F2-0372B3B94115}"/>
              </a:ext>
            </a:extLst>
          </p:cNvPr>
          <p:cNvSpPr txBox="1"/>
          <p:nvPr/>
        </p:nvSpPr>
        <p:spPr>
          <a:xfrm>
            <a:off x="640080" y="4927249"/>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GIS treats "small demand" and "break/fix" as interchangeable — volume grows, prioritization logic doesn't scale</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PDD works for large projects but leaves 60-70% of actual work (break/fix + small) ungoverned</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SWF is the elasticity valve — predictable capacity relief, but vendor-dependent and untracked</a:t>
            </a:r>
          </a:p>
        </p:txBody>
      </p:sp>
      <p:sp>
        <p:nvSpPr>
          <p:cNvPr id="191" name="TextBox 190">
            <a:extLst>
              <a:ext uri="{FF2B5EF4-FFF2-40B4-BE49-F238E27FC236}">
                <a16:creationId xmlns:a16="http://schemas.microsoft.com/office/drawing/2014/main" id="{71EBD29B-C8DD-38D8-42B9-0507F9E2756F}"/>
              </a:ext>
            </a:extLst>
          </p:cNvPr>
          <p:cNvSpPr txBox="1"/>
          <p:nvPr/>
        </p:nvSpPr>
        <p:spPr>
          <a:xfrm>
            <a:off x="687324" y="5959645"/>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GIS has a working large-project process (PDD) but relies on email + meetings for small demand — capacity risk as volume grows</a:t>
            </a:r>
          </a:p>
        </p:txBody>
      </p:sp>
      <p:sp>
        <p:nvSpPr>
          <p:cNvPr id="51" name="Rectangle 50">
            <a:extLst>
              <a:ext uri="{FF2B5EF4-FFF2-40B4-BE49-F238E27FC236}">
                <a16:creationId xmlns:a16="http://schemas.microsoft.com/office/drawing/2014/main" id="{F7DE1434-A450-8E65-7377-7DD081F8CABF}"/>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BB3A9D86-ED40-2DAD-F82F-8EA3CCED8FAC}"/>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5" name="Rectangle 54">
            <a:extLst>
              <a:ext uri="{FF2B5EF4-FFF2-40B4-BE49-F238E27FC236}">
                <a16:creationId xmlns:a16="http://schemas.microsoft.com/office/drawing/2014/main" id="{CDE66A85-7EC5-96AE-AEF0-6BABBB949574}"/>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DC543FE2-7BCA-636E-2EE8-27918BF933A2}"/>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9" name="Rectangle 58">
            <a:extLst>
              <a:ext uri="{FF2B5EF4-FFF2-40B4-BE49-F238E27FC236}">
                <a16:creationId xmlns:a16="http://schemas.microsoft.com/office/drawing/2014/main" id="{6E96CBEE-58A1-0A32-4064-5C743C1FE302}"/>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14A1C365-A91D-CF3A-E9FB-B8052D2E37BC}"/>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3" name="Rectangle 62">
            <a:extLst>
              <a:ext uri="{FF2B5EF4-FFF2-40B4-BE49-F238E27FC236}">
                <a16:creationId xmlns:a16="http://schemas.microsoft.com/office/drawing/2014/main" id="{235D5D59-9050-56E9-69E6-99F0394C8720}"/>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27">
            <a:extLst>
              <a:ext uri="{FF2B5EF4-FFF2-40B4-BE49-F238E27FC236}">
                <a16:creationId xmlns:a16="http://schemas.microsoft.com/office/drawing/2014/main" id="{205B3E54-078A-ADAB-F0CF-D0AA29BEDB30}"/>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37" name="Rectangle 136">
            <a:extLst>
              <a:ext uri="{FF2B5EF4-FFF2-40B4-BE49-F238E27FC236}">
                <a16:creationId xmlns:a16="http://schemas.microsoft.com/office/drawing/2014/main" id="{3AD0C208-9507-5F6B-B5B8-16DDC322E2BC}"/>
              </a:ext>
            </a:extLst>
          </p:cNvPr>
          <p:cNvSpPr/>
          <p:nvPr/>
        </p:nvSpPr>
        <p:spPr>
          <a:xfrm>
            <a:off x="1097280"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8" name="TextBox 137">
            <a:extLst>
              <a:ext uri="{FF2B5EF4-FFF2-40B4-BE49-F238E27FC236}">
                <a16:creationId xmlns:a16="http://schemas.microsoft.com/office/drawing/2014/main" id="{5084DB45-D7AC-670C-8F81-BCA8AA0FE639}"/>
              </a:ext>
            </a:extLst>
          </p:cNvPr>
          <p:cNvSpPr txBox="1"/>
          <p:nvPr/>
        </p:nvSpPr>
        <p:spPr>
          <a:xfrm>
            <a:off x="1188720" y="2485801"/>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(misc. work) + Email / Meetings + IT-Now (daily break/fix)</a:t>
            </a:r>
          </a:p>
        </p:txBody>
      </p:sp>
      <p:sp>
        <p:nvSpPr>
          <p:cNvPr id="139" name="Rectangle 138">
            <a:extLst>
              <a:ext uri="{FF2B5EF4-FFF2-40B4-BE49-F238E27FC236}">
                <a16:creationId xmlns:a16="http://schemas.microsoft.com/office/drawing/2014/main" id="{BB63F39F-7C94-9D12-D66A-925DEB55E9D1}"/>
              </a:ext>
            </a:extLst>
          </p:cNvPr>
          <p:cNvSpPr/>
          <p:nvPr/>
        </p:nvSpPr>
        <p:spPr>
          <a:xfrm>
            <a:off x="3319272"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9184EE81-95ED-6E49-7577-6AACC08F627A}"/>
              </a:ext>
            </a:extLst>
          </p:cNvPr>
          <p:cNvSpPr txBox="1"/>
          <p:nvPr/>
        </p:nvSpPr>
        <p:spPr>
          <a:xfrm>
            <a:off x="3410712" y="2485801"/>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email, Jira ; Incidents: IT Now ; Large: yearly PDD process with no formal classification </a:t>
            </a:r>
          </a:p>
        </p:txBody>
      </p:sp>
      <p:sp>
        <p:nvSpPr>
          <p:cNvPr id="141" name="Rectangle 140">
            <a:extLst>
              <a:ext uri="{FF2B5EF4-FFF2-40B4-BE49-F238E27FC236}">
                <a16:creationId xmlns:a16="http://schemas.microsoft.com/office/drawing/2014/main" id="{F09E447A-ED83-CEF0-AB91-408748DBC6B2}"/>
              </a:ext>
            </a:extLst>
          </p:cNvPr>
          <p:cNvSpPr/>
          <p:nvPr/>
        </p:nvSpPr>
        <p:spPr>
          <a:xfrm>
            <a:off x="5541264"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E2A97402-1261-3626-2E72-8DF3A9442E3E}"/>
              </a:ext>
            </a:extLst>
          </p:cNvPr>
          <p:cNvSpPr txBox="1"/>
          <p:nvPr/>
        </p:nvSpPr>
        <p:spPr>
          <a:xfrm>
            <a:off x="5632704" y="248580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drives prioritization; P&amp;T is the face for small demand</a:t>
            </a:r>
          </a:p>
        </p:txBody>
      </p:sp>
      <p:sp>
        <p:nvSpPr>
          <p:cNvPr id="143" name="Rectangle 142">
            <a:extLst>
              <a:ext uri="{FF2B5EF4-FFF2-40B4-BE49-F238E27FC236}">
                <a16:creationId xmlns:a16="http://schemas.microsoft.com/office/drawing/2014/main" id="{DDFAF861-B78E-90CB-DAB7-A07FD6D48A58}"/>
              </a:ext>
            </a:extLst>
          </p:cNvPr>
          <p:cNvSpPr/>
          <p:nvPr/>
        </p:nvSpPr>
        <p:spPr>
          <a:xfrm>
            <a:off x="7763256"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AB0D332B-7F1C-9374-823F-923D7FEEA796}"/>
              </a:ext>
            </a:extLst>
          </p:cNvPr>
          <p:cNvSpPr txBox="1"/>
          <p:nvPr/>
        </p:nvSpPr>
        <p:spPr>
          <a:xfrm>
            <a:off x="7854696" y="248580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PDD-approved portfolio; no dedicated portfolio tool</a:t>
            </a:r>
          </a:p>
        </p:txBody>
      </p:sp>
      <p:sp>
        <p:nvSpPr>
          <p:cNvPr id="149" name="Rectangle 148">
            <a:extLst>
              <a:ext uri="{FF2B5EF4-FFF2-40B4-BE49-F238E27FC236}">
                <a16:creationId xmlns:a16="http://schemas.microsoft.com/office/drawing/2014/main" id="{39AD3A03-FE6E-AD38-3393-22D51F162FB8}"/>
              </a:ext>
            </a:extLst>
          </p:cNvPr>
          <p:cNvSpPr/>
          <p:nvPr/>
        </p:nvSpPr>
        <p:spPr>
          <a:xfrm>
            <a:off x="1097280"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558D40D7-4431-0645-E38C-E47EBA8C4DD9}"/>
              </a:ext>
            </a:extLst>
          </p:cNvPr>
          <p:cNvSpPr txBox="1"/>
          <p:nvPr/>
        </p:nvSpPr>
        <p:spPr>
          <a:xfrm>
            <a:off x="1188720"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users open tickets; GIS Sr Manager team receives</a:t>
            </a:r>
          </a:p>
        </p:txBody>
      </p:sp>
      <p:sp>
        <p:nvSpPr>
          <p:cNvPr id="151" name="Rectangle 150">
            <a:extLst>
              <a:ext uri="{FF2B5EF4-FFF2-40B4-BE49-F238E27FC236}">
                <a16:creationId xmlns:a16="http://schemas.microsoft.com/office/drawing/2014/main" id="{FB037303-07ED-8B6B-7121-5BD529837D24}"/>
              </a:ext>
            </a:extLst>
          </p:cNvPr>
          <p:cNvSpPr/>
          <p:nvPr/>
        </p:nvSpPr>
        <p:spPr>
          <a:xfrm>
            <a:off x="3319272"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2" name="TextBox 151">
            <a:extLst>
              <a:ext uri="{FF2B5EF4-FFF2-40B4-BE49-F238E27FC236}">
                <a16:creationId xmlns:a16="http://schemas.microsoft.com/office/drawing/2014/main" id="{441309F2-D71D-01B9-0157-FB8DCF362595}"/>
              </a:ext>
            </a:extLst>
          </p:cNvPr>
          <p:cNvSpPr txBox="1"/>
          <p:nvPr/>
        </p:nvSpPr>
        <p:spPr>
          <a:xfrm>
            <a:off x="3410712"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GIS Senior Manager + team classify; PDD committee for large demand</a:t>
            </a:r>
          </a:p>
        </p:txBody>
      </p:sp>
      <p:sp>
        <p:nvSpPr>
          <p:cNvPr id="153" name="Rectangle 152">
            <a:extLst>
              <a:ext uri="{FF2B5EF4-FFF2-40B4-BE49-F238E27FC236}">
                <a16:creationId xmlns:a16="http://schemas.microsoft.com/office/drawing/2014/main" id="{DCA11622-9270-746B-2917-267B514D2F8B}"/>
              </a:ext>
            </a:extLst>
          </p:cNvPr>
          <p:cNvSpPr/>
          <p:nvPr/>
        </p:nvSpPr>
        <p:spPr>
          <a:xfrm>
            <a:off x="5541264"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E8F608F9-9A28-E3B6-4D4C-B1C753AAD549}"/>
              </a:ext>
            </a:extLst>
          </p:cNvPr>
          <p:cNvSpPr txBox="1"/>
          <p:nvPr/>
        </p:nvSpPr>
        <p:spPr>
          <a:xfrm>
            <a:off x="5632704" y="301615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"Impact to most users" rule (GIS Champion); PDD approvers for large</a:t>
            </a:r>
          </a:p>
        </p:txBody>
      </p:sp>
      <p:sp>
        <p:nvSpPr>
          <p:cNvPr id="155" name="Rectangle 154">
            <a:extLst>
              <a:ext uri="{FF2B5EF4-FFF2-40B4-BE49-F238E27FC236}">
                <a16:creationId xmlns:a16="http://schemas.microsoft.com/office/drawing/2014/main" id="{434FD864-A6F9-887E-FD60-B9C299006ACD}"/>
              </a:ext>
            </a:extLst>
          </p:cNvPr>
          <p:cNvSpPr/>
          <p:nvPr/>
        </p:nvSpPr>
        <p:spPr>
          <a:xfrm>
            <a:off x="7763256"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3B54D9E6-0BE8-F939-8A5F-F27934931F07}"/>
              </a:ext>
            </a:extLst>
          </p:cNvPr>
          <p:cNvSpPr txBox="1"/>
          <p:nvPr/>
        </p:nvSpPr>
        <p:spPr>
          <a:xfrm>
            <a:off x="7854696" y="3016153"/>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Informal Portfolio Management — GIS </a:t>
            </a:r>
            <a:r>
              <a:rPr lang="en-US" sz="900" noProof="0">
                <a:solidFill>
                  <a:srgbClr val="2C3E50"/>
                </a:solidFill>
                <a:latin typeface="Arial" panose="020B0604020202020204" pitchFamily="34" charset="0"/>
                <a:cs typeface="Arial" panose="020B0604020202020204" pitchFamily="34" charset="0"/>
              </a:rPr>
              <a:t>Senior Manager </a:t>
            </a:r>
            <a:r>
              <a:rPr lang="en-US" sz="900" b="0" i="0" noProof="0">
                <a:solidFill>
                  <a:srgbClr val="2C3E50"/>
                </a:solidFill>
                <a:latin typeface="Arial" panose="020B0604020202020204" pitchFamily="34" charset="0"/>
                <a:cs typeface="Arial" panose="020B0604020202020204" pitchFamily="34" charset="0"/>
              </a:rPr>
              <a:t>manages via OneNote / Teams / spreadsheets</a:t>
            </a:r>
          </a:p>
        </p:txBody>
      </p:sp>
      <p:sp>
        <p:nvSpPr>
          <p:cNvPr id="161" name="Rectangle 160">
            <a:extLst>
              <a:ext uri="{FF2B5EF4-FFF2-40B4-BE49-F238E27FC236}">
                <a16:creationId xmlns:a16="http://schemas.microsoft.com/office/drawing/2014/main" id="{59C1D1C4-5818-AABD-0802-66EE6350FD06}"/>
              </a:ext>
            </a:extLst>
          </p:cNvPr>
          <p:cNvSpPr/>
          <p:nvPr/>
        </p:nvSpPr>
        <p:spPr>
          <a:xfrm>
            <a:off x="1097280"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2" name="TextBox 161">
            <a:extLst>
              <a:ext uri="{FF2B5EF4-FFF2-40B4-BE49-F238E27FC236}">
                <a16:creationId xmlns:a16="http://schemas.microsoft.com/office/drawing/2014/main" id="{DE87F80A-6B8B-A0E3-42AC-6FF24F248577}"/>
              </a:ext>
            </a:extLst>
          </p:cNvPr>
          <p:cNvSpPr txBox="1"/>
          <p:nvPr/>
        </p:nvSpPr>
        <p:spPr>
          <a:xfrm>
            <a:off x="1188720" y="3546505"/>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 Email + Meetings + IT-Now (RITM)</a:t>
            </a:r>
          </a:p>
        </p:txBody>
      </p:sp>
      <p:sp>
        <p:nvSpPr>
          <p:cNvPr id="163" name="Rectangle 162">
            <a:extLst>
              <a:ext uri="{FF2B5EF4-FFF2-40B4-BE49-F238E27FC236}">
                <a16:creationId xmlns:a16="http://schemas.microsoft.com/office/drawing/2014/main" id="{0C0FC875-00A2-0A7E-F263-789207A177F0}"/>
              </a:ext>
            </a:extLst>
          </p:cNvPr>
          <p:cNvSpPr/>
          <p:nvPr/>
        </p:nvSpPr>
        <p:spPr>
          <a:xfrm>
            <a:off x="3319272"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4" name="TextBox 163">
            <a:extLst>
              <a:ext uri="{FF2B5EF4-FFF2-40B4-BE49-F238E27FC236}">
                <a16:creationId xmlns:a16="http://schemas.microsoft.com/office/drawing/2014/main" id="{5B85B3AC-C892-1EF5-8553-D2A9AD5B74BD}"/>
              </a:ext>
            </a:extLst>
          </p:cNvPr>
          <p:cNvSpPr txBox="1"/>
          <p:nvPr/>
        </p:nvSpPr>
        <p:spPr>
          <a:xfrm>
            <a:off x="3410712" y="3546505"/>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single tool — Jira tags + PDD workbook</a:t>
            </a:r>
          </a:p>
        </p:txBody>
      </p:sp>
      <p:sp>
        <p:nvSpPr>
          <p:cNvPr id="166" name="Rectangle 165">
            <a:extLst>
              <a:ext uri="{FF2B5EF4-FFF2-40B4-BE49-F238E27FC236}">
                <a16:creationId xmlns:a16="http://schemas.microsoft.com/office/drawing/2014/main" id="{ED846B27-1191-D15F-1738-C3997C31D9A4}"/>
              </a:ext>
            </a:extLst>
          </p:cNvPr>
          <p:cNvSpPr/>
          <p:nvPr/>
        </p:nvSpPr>
        <p:spPr>
          <a:xfrm>
            <a:off x="5541264"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7" name="TextBox 166">
            <a:extLst>
              <a:ext uri="{FF2B5EF4-FFF2-40B4-BE49-F238E27FC236}">
                <a16:creationId xmlns:a16="http://schemas.microsoft.com/office/drawing/2014/main" id="{26872B27-6681-9CD1-74B3-2A6577CEB972}"/>
              </a:ext>
            </a:extLst>
          </p:cNvPr>
          <p:cNvSpPr txBox="1"/>
          <p:nvPr/>
        </p:nvSpPr>
        <p:spPr>
          <a:xfrm>
            <a:off x="5632704" y="3546505"/>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Spreadsheet-based; no scoring tool</a:t>
            </a:r>
          </a:p>
        </p:txBody>
      </p:sp>
      <p:sp>
        <p:nvSpPr>
          <p:cNvPr id="168" name="Rectangle 167">
            <a:extLst>
              <a:ext uri="{FF2B5EF4-FFF2-40B4-BE49-F238E27FC236}">
                <a16:creationId xmlns:a16="http://schemas.microsoft.com/office/drawing/2014/main" id="{8379B635-B3E1-31E7-07C0-F02A85A53D5D}"/>
              </a:ext>
            </a:extLst>
          </p:cNvPr>
          <p:cNvSpPr/>
          <p:nvPr/>
        </p:nvSpPr>
        <p:spPr>
          <a:xfrm>
            <a:off x="7763256"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278F3513-5403-266C-48AE-B6A2B7BF1ED5}"/>
              </a:ext>
            </a:extLst>
          </p:cNvPr>
          <p:cNvSpPr txBox="1"/>
          <p:nvPr/>
        </p:nvSpPr>
        <p:spPr>
          <a:xfrm>
            <a:off x="7854696" y="3546505"/>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OneNote + Teams + Spreadsheets (informal) + PDD (large)</a:t>
            </a:r>
          </a:p>
        </p:txBody>
      </p:sp>
      <p:sp>
        <p:nvSpPr>
          <p:cNvPr id="174" name="Rectangle 173">
            <a:extLst>
              <a:ext uri="{FF2B5EF4-FFF2-40B4-BE49-F238E27FC236}">
                <a16:creationId xmlns:a16="http://schemas.microsoft.com/office/drawing/2014/main" id="{6AAFF43A-5C23-8C39-89A1-F4F81D80554A}"/>
              </a:ext>
            </a:extLst>
          </p:cNvPr>
          <p:cNvSpPr/>
          <p:nvPr/>
        </p:nvSpPr>
        <p:spPr>
          <a:xfrm>
            <a:off x="1097280"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5" name="TextBox 174">
            <a:extLst>
              <a:ext uri="{FF2B5EF4-FFF2-40B4-BE49-F238E27FC236}">
                <a16:creationId xmlns:a16="http://schemas.microsoft.com/office/drawing/2014/main" id="{F5D8F4ED-DDB7-11DC-A342-489DDB94050E}"/>
              </a:ext>
            </a:extLst>
          </p:cNvPr>
          <p:cNvSpPr txBox="1"/>
          <p:nvPr/>
        </p:nvSpPr>
        <p:spPr>
          <a:xfrm>
            <a:off x="1188720"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SLA on small demand; no volume tracking. No DoR / triage rule </a:t>
            </a:r>
          </a:p>
        </p:txBody>
      </p:sp>
      <p:sp>
        <p:nvSpPr>
          <p:cNvPr id="176" name="Rectangle 175">
            <a:extLst>
              <a:ext uri="{FF2B5EF4-FFF2-40B4-BE49-F238E27FC236}">
                <a16:creationId xmlns:a16="http://schemas.microsoft.com/office/drawing/2014/main" id="{2CE4261A-B072-8B00-31DB-97D541CA55E0}"/>
              </a:ext>
            </a:extLst>
          </p:cNvPr>
          <p:cNvSpPr/>
          <p:nvPr/>
        </p:nvSpPr>
        <p:spPr>
          <a:xfrm>
            <a:off x="3319272"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7" name="TextBox 176">
            <a:extLst>
              <a:ext uri="{FF2B5EF4-FFF2-40B4-BE49-F238E27FC236}">
                <a16:creationId xmlns:a16="http://schemas.microsoft.com/office/drawing/2014/main" id="{5F821AC6-4582-9B63-2A54-38598FE67D64}"/>
              </a:ext>
            </a:extLst>
          </p:cNvPr>
          <p:cNvSpPr txBox="1"/>
          <p:nvPr/>
        </p:nvSpPr>
        <p:spPr>
          <a:xfrm>
            <a:off x="3410712"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classification rule below PDD threshold</a:t>
            </a:r>
          </a:p>
        </p:txBody>
      </p:sp>
      <p:sp>
        <p:nvSpPr>
          <p:cNvPr id="178" name="Rectangle 177">
            <a:extLst>
              <a:ext uri="{FF2B5EF4-FFF2-40B4-BE49-F238E27FC236}">
                <a16:creationId xmlns:a16="http://schemas.microsoft.com/office/drawing/2014/main" id="{D1C6A0A4-CD5C-3DCA-9852-77AEF6A56B6C}"/>
              </a:ext>
            </a:extLst>
          </p:cNvPr>
          <p:cNvSpPr/>
          <p:nvPr/>
        </p:nvSpPr>
        <p:spPr>
          <a:xfrm>
            <a:off x="5541264"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9" name="TextBox 178">
            <a:extLst>
              <a:ext uri="{FF2B5EF4-FFF2-40B4-BE49-F238E27FC236}">
                <a16:creationId xmlns:a16="http://schemas.microsoft.com/office/drawing/2014/main" id="{E16119C8-D0FC-F8F7-CF69-3C84699C5BFE}"/>
              </a:ext>
            </a:extLst>
          </p:cNvPr>
          <p:cNvSpPr txBox="1"/>
          <p:nvPr/>
        </p:nvSpPr>
        <p:spPr>
          <a:xfrm>
            <a:off x="5632704"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"Highest impact / most users" — heuristic, not scored</a:t>
            </a:r>
          </a:p>
        </p:txBody>
      </p:sp>
      <p:sp>
        <p:nvSpPr>
          <p:cNvPr id="180" name="Rectangle 179">
            <a:extLst>
              <a:ext uri="{FF2B5EF4-FFF2-40B4-BE49-F238E27FC236}">
                <a16:creationId xmlns:a16="http://schemas.microsoft.com/office/drawing/2014/main" id="{6F930E64-20A5-508C-36B1-711F249F46AF}"/>
              </a:ext>
            </a:extLst>
          </p:cNvPr>
          <p:cNvSpPr/>
          <p:nvPr/>
        </p:nvSpPr>
        <p:spPr>
          <a:xfrm>
            <a:off x="7763256"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043D4588-438F-1497-D969-38E0EFA6B6C1}"/>
              </a:ext>
            </a:extLst>
          </p:cNvPr>
          <p:cNvSpPr txBox="1"/>
          <p:nvPr/>
        </p:nvSpPr>
        <p:spPr>
          <a:xfrm>
            <a:off x="7854696"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governance works for large; no below-threshold governance</a:t>
            </a:r>
          </a:p>
        </p:txBody>
      </p:sp>
      <p:sp>
        <p:nvSpPr>
          <p:cNvPr id="24" name="Rectangle: Rounded Corners 18">
            <a:extLst>
              <a:ext uri="{FF2B5EF4-FFF2-40B4-BE49-F238E27FC236}">
                <a16:creationId xmlns:a16="http://schemas.microsoft.com/office/drawing/2014/main" id="{8D9A5BE4-3BE3-DE0F-07AE-96D7076C45AF}"/>
              </a:ext>
            </a:extLst>
          </p:cNvPr>
          <p:cNvSpPr/>
          <p:nvPr/>
        </p:nvSpPr>
        <p:spPr>
          <a:xfrm>
            <a:off x="7039633"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latin typeface="Arial" panose="020B0604020202020204" pitchFamily="34" charset="0"/>
                <a:cs typeface="Arial" panose="020B0604020202020204" pitchFamily="34" charset="0"/>
              </a:rPr>
              <a:t>IT Business Apps</a:t>
            </a:r>
          </a:p>
        </p:txBody>
      </p:sp>
      <p:sp>
        <p:nvSpPr>
          <p:cNvPr id="26" name="Rectangle: Rounded Corners 25">
            <a:extLst>
              <a:ext uri="{FF2B5EF4-FFF2-40B4-BE49-F238E27FC236}">
                <a16:creationId xmlns:a16="http://schemas.microsoft.com/office/drawing/2014/main" id="{D7834EAA-4BB4-FE3E-396E-65939FE52D55}"/>
              </a:ext>
            </a:extLst>
          </p:cNvPr>
          <p:cNvSpPr/>
          <p:nvPr/>
        </p:nvSpPr>
        <p:spPr>
          <a:xfrm>
            <a:off x="8771785"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33" name="TextBox 32">
            <a:extLst>
              <a:ext uri="{FF2B5EF4-FFF2-40B4-BE49-F238E27FC236}">
                <a16:creationId xmlns:a16="http://schemas.microsoft.com/office/drawing/2014/main" id="{CC4FFF92-28C1-19B3-555F-4D9045E7A54C}"/>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34" name="TextBox 33">
            <a:extLst>
              <a:ext uri="{FF2B5EF4-FFF2-40B4-BE49-F238E27FC236}">
                <a16:creationId xmlns:a16="http://schemas.microsoft.com/office/drawing/2014/main" id="{74CC2A54-18F4-2DA7-65E4-0D9E9D49F384}"/>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sp>
        <p:nvSpPr>
          <p:cNvPr id="35" name="Rounded Rectangle 26">
            <a:extLst>
              <a:ext uri="{FF2B5EF4-FFF2-40B4-BE49-F238E27FC236}">
                <a16:creationId xmlns:a16="http://schemas.microsoft.com/office/drawing/2014/main" id="{510BF84C-5901-7654-A2F3-77ABEFF09742}"/>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133">
            <a:extLst>
              <a:ext uri="{FF2B5EF4-FFF2-40B4-BE49-F238E27FC236}">
                <a16:creationId xmlns:a16="http://schemas.microsoft.com/office/drawing/2014/main" id="{C56CF2C8-1617-C556-34CF-1CC6271F11ED}"/>
              </a:ext>
            </a:extLst>
          </p:cNvPr>
          <p:cNvSpPr txBox="1"/>
          <p:nvPr/>
        </p:nvSpPr>
        <p:spPr>
          <a:xfrm>
            <a:off x="3850429" y="22214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37" name="Rounded Rectangle 26">
            <a:extLst>
              <a:ext uri="{FF2B5EF4-FFF2-40B4-BE49-F238E27FC236}">
                <a16:creationId xmlns:a16="http://schemas.microsoft.com/office/drawing/2014/main" id="{6B2CACC9-8112-4B45-6240-77F9B2E847BE}"/>
              </a:ext>
            </a:extLst>
          </p:cNvPr>
          <p:cNvSpPr/>
          <p:nvPr/>
        </p:nvSpPr>
        <p:spPr>
          <a:xfrm>
            <a:off x="6096000" y="2193193"/>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8" name="TextBox 133">
            <a:extLst>
              <a:ext uri="{FF2B5EF4-FFF2-40B4-BE49-F238E27FC236}">
                <a16:creationId xmlns:a16="http://schemas.microsoft.com/office/drawing/2014/main" id="{63F52A5F-4765-C354-3CA2-D61C7C2D380D}"/>
              </a:ext>
            </a:extLst>
          </p:cNvPr>
          <p:cNvSpPr txBox="1"/>
          <p:nvPr/>
        </p:nvSpPr>
        <p:spPr>
          <a:xfrm>
            <a:off x="6097016" y="221584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39" name="Rounded Rectangle 26">
            <a:extLst>
              <a:ext uri="{FF2B5EF4-FFF2-40B4-BE49-F238E27FC236}">
                <a16:creationId xmlns:a16="http://schemas.microsoft.com/office/drawing/2014/main" id="{CC980542-BA8E-2F6C-4228-55976BC4933B}"/>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TextBox 133">
            <a:extLst>
              <a:ext uri="{FF2B5EF4-FFF2-40B4-BE49-F238E27FC236}">
                <a16:creationId xmlns:a16="http://schemas.microsoft.com/office/drawing/2014/main" id="{8BB9E2F2-99B0-CC85-E5DC-499D27642413}"/>
              </a:ext>
            </a:extLst>
          </p:cNvPr>
          <p:cNvSpPr txBox="1"/>
          <p:nvPr/>
        </p:nvSpPr>
        <p:spPr>
          <a:xfrm>
            <a:off x="1628437" y="22165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41" name="Rounded Rectangle 26">
            <a:extLst>
              <a:ext uri="{FF2B5EF4-FFF2-40B4-BE49-F238E27FC236}">
                <a16:creationId xmlns:a16="http://schemas.microsoft.com/office/drawing/2014/main" id="{03A19781-3B76-1F6E-6287-1115FAD50D55}"/>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133">
            <a:extLst>
              <a:ext uri="{FF2B5EF4-FFF2-40B4-BE49-F238E27FC236}">
                <a16:creationId xmlns:a16="http://schemas.microsoft.com/office/drawing/2014/main" id="{16E48AB9-B61C-97FB-B6B2-1C410108AC48}"/>
              </a:ext>
            </a:extLst>
          </p:cNvPr>
          <p:cNvSpPr txBox="1"/>
          <p:nvPr/>
        </p:nvSpPr>
        <p:spPr>
          <a:xfrm>
            <a:off x="8337761" y="2215977"/>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43" name="Rounded Rectangle 26">
            <a:extLst>
              <a:ext uri="{FF2B5EF4-FFF2-40B4-BE49-F238E27FC236}">
                <a16:creationId xmlns:a16="http://schemas.microsoft.com/office/drawing/2014/main" id="{4A2065C3-0244-F666-223B-BC5004C01F21}"/>
              </a:ext>
            </a:extLst>
          </p:cNvPr>
          <p:cNvSpPr/>
          <p:nvPr/>
        </p:nvSpPr>
        <p:spPr>
          <a:xfrm>
            <a:off x="10322791" y="2177224"/>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133">
            <a:extLst>
              <a:ext uri="{FF2B5EF4-FFF2-40B4-BE49-F238E27FC236}">
                <a16:creationId xmlns:a16="http://schemas.microsoft.com/office/drawing/2014/main" id="{8E1EA0EA-2B57-91F4-7E8C-DF6C76AFD7A0}"/>
              </a:ext>
            </a:extLst>
          </p:cNvPr>
          <p:cNvSpPr txBox="1"/>
          <p:nvPr/>
        </p:nvSpPr>
        <p:spPr>
          <a:xfrm>
            <a:off x="10326982" y="2199876"/>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grpSp>
        <p:nvGrpSpPr>
          <p:cNvPr id="62" name="Group 61">
            <a:extLst>
              <a:ext uri="{FF2B5EF4-FFF2-40B4-BE49-F238E27FC236}">
                <a16:creationId xmlns:a16="http://schemas.microsoft.com/office/drawing/2014/main" id="{6E394BF3-F7F4-E3B6-3063-1A049F6B986B}"/>
              </a:ext>
            </a:extLst>
          </p:cNvPr>
          <p:cNvGrpSpPr/>
          <p:nvPr/>
        </p:nvGrpSpPr>
        <p:grpSpPr>
          <a:xfrm>
            <a:off x="299553" y="2431316"/>
            <a:ext cx="770295" cy="2084832"/>
            <a:chOff x="457200" y="2440081"/>
            <a:chExt cx="594360" cy="2084832"/>
          </a:xfrm>
        </p:grpSpPr>
        <p:sp>
          <p:nvSpPr>
            <p:cNvPr id="129" name="Rectangle 128">
              <a:extLst>
                <a:ext uri="{FF2B5EF4-FFF2-40B4-BE49-F238E27FC236}">
                  <a16:creationId xmlns:a16="http://schemas.microsoft.com/office/drawing/2014/main" id="{68F823B3-41FF-D409-0AD7-2EEC35B37870}"/>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4A23398D-DE23-8BDF-85B3-AF1F2C9FF00E}"/>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133" name="Rectangle 132">
              <a:extLst>
                <a:ext uri="{FF2B5EF4-FFF2-40B4-BE49-F238E27FC236}">
                  <a16:creationId xmlns:a16="http://schemas.microsoft.com/office/drawing/2014/main" id="{36381E53-BAB9-994F-479A-6E4EF6E6A774}"/>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E6266EE0-278F-7535-5C65-1D1618AE72CC}"/>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192" name="Rectangle 191">
              <a:extLst>
                <a:ext uri="{FF2B5EF4-FFF2-40B4-BE49-F238E27FC236}">
                  <a16:creationId xmlns:a16="http://schemas.microsoft.com/office/drawing/2014/main" id="{B75720BC-157A-A1D5-D06E-0CB50C731C95}"/>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3" name="TextBox 192">
              <a:extLst>
                <a:ext uri="{FF2B5EF4-FFF2-40B4-BE49-F238E27FC236}">
                  <a16:creationId xmlns:a16="http://schemas.microsoft.com/office/drawing/2014/main" id="{782690B2-103C-F1A4-A750-854D6A410161}"/>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194" name="Rectangle 193">
              <a:extLst>
                <a:ext uri="{FF2B5EF4-FFF2-40B4-BE49-F238E27FC236}">
                  <a16:creationId xmlns:a16="http://schemas.microsoft.com/office/drawing/2014/main" id="{1108E45E-6C2F-485D-BB85-5940F98C0E72}"/>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5" name="TextBox 194">
              <a:extLst>
                <a:ext uri="{FF2B5EF4-FFF2-40B4-BE49-F238E27FC236}">
                  <a16:creationId xmlns:a16="http://schemas.microsoft.com/office/drawing/2014/main" id="{DD06E9D5-EC8A-2B63-AA69-EDC4D3D46DDF}"/>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196" name="CuadroTexto 204">
            <a:extLst>
              <a:ext uri="{FF2B5EF4-FFF2-40B4-BE49-F238E27FC236}">
                <a16:creationId xmlns:a16="http://schemas.microsoft.com/office/drawing/2014/main" id="{84E06A7A-2179-7C11-9FED-25858514B458}"/>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GIS balances break/fix urgency against yearly PDD planning — with no formal channel for small demand</a:t>
            </a:r>
          </a:p>
        </p:txBody>
      </p:sp>
    </p:spTree>
    <p:extLst>
      <p:ext uri="{BB962C8B-B14F-4D97-AF65-F5344CB8AC3E}">
        <p14:creationId xmlns:p14="http://schemas.microsoft.com/office/powerpoint/2010/main" val="2069084109"/>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4368-A321-068F-0431-4C3B85847D17}"/>
            </a:ext>
          </a:extLst>
        </p:cNvPr>
        <p:cNvGrpSpPr/>
        <p:nvPr/>
      </p:nvGrpSpPr>
      <p:grpSpPr>
        <a:xfrm>
          <a:off x="0" y="0"/>
          <a:ext cx="0" cy="0"/>
          <a:chOff x="0" y="0"/>
          <a:chExt cx="0" cy="0"/>
        </a:xfrm>
      </p:grpSpPr>
      <p:sp>
        <p:nvSpPr>
          <p:cNvPr id="232" name="Rectangle 231">
            <a:extLst>
              <a:ext uri="{FF2B5EF4-FFF2-40B4-BE49-F238E27FC236}">
                <a16:creationId xmlns:a16="http://schemas.microsoft.com/office/drawing/2014/main" id="{80713EC0-35A3-FADB-F0A7-98E26395FC30}"/>
              </a:ext>
            </a:extLst>
          </p:cNvPr>
          <p:cNvSpPr/>
          <p:nvPr/>
        </p:nvSpPr>
        <p:spPr>
          <a:xfrm>
            <a:off x="457200" y="587492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0" name="Rectangle 229">
            <a:extLst>
              <a:ext uri="{FF2B5EF4-FFF2-40B4-BE49-F238E27FC236}">
                <a16:creationId xmlns:a16="http://schemas.microsoft.com/office/drawing/2014/main" id="{8EAE6CDD-D483-5910-D21B-4B2A8A54B62E}"/>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9" name="Rectangle 228">
            <a:extLst>
              <a:ext uri="{FF2B5EF4-FFF2-40B4-BE49-F238E27FC236}">
                <a16:creationId xmlns:a16="http://schemas.microsoft.com/office/drawing/2014/main" id="{15916D0C-0165-7B62-F878-197ACD35230C}"/>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5" name="Rectangle 224">
            <a:extLst>
              <a:ext uri="{FF2B5EF4-FFF2-40B4-BE49-F238E27FC236}">
                <a16:creationId xmlns:a16="http://schemas.microsoft.com/office/drawing/2014/main" id="{D4CC83C2-BDE8-C272-38BD-9B2384C65DE0}"/>
              </a:ext>
            </a:extLst>
          </p:cNvPr>
          <p:cNvSpPr/>
          <p:nvPr/>
        </p:nvSpPr>
        <p:spPr>
          <a:xfrm>
            <a:off x="1097281"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Rectangle 225">
            <a:extLst>
              <a:ext uri="{FF2B5EF4-FFF2-40B4-BE49-F238E27FC236}">
                <a16:creationId xmlns:a16="http://schemas.microsoft.com/office/drawing/2014/main" id="{A8F8EDB8-B022-0C73-E285-78AF3DFAB1B4}"/>
              </a:ext>
            </a:extLst>
          </p:cNvPr>
          <p:cNvSpPr/>
          <p:nvPr/>
        </p:nvSpPr>
        <p:spPr>
          <a:xfrm>
            <a:off x="1097281"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7" name="Rectangle 226">
            <a:extLst>
              <a:ext uri="{FF2B5EF4-FFF2-40B4-BE49-F238E27FC236}">
                <a16:creationId xmlns:a16="http://schemas.microsoft.com/office/drawing/2014/main" id="{07DB156A-1664-BFE1-574F-070551ABE610}"/>
              </a:ext>
            </a:extLst>
          </p:cNvPr>
          <p:cNvSpPr/>
          <p:nvPr/>
        </p:nvSpPr>
        <p:spPr>
          <a:xfrm>
            <a:off x="1097281"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5B162413-CBE1-C920-FC42-3B4264318BA4}"/>
              </a:ext>
            </a:extLst>
          </p:cNvPr>
          <p:cNvSpPr/>
          <p:nvPr/>
        </p:nvSpPr>
        <p:spPr>
          <a:xfrm>
            <a:off x="1097281"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D3114CE8-7D3A-84F8-2755-7B19924DDDC6}"/>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6E840FC6-5132-A68E-C7EE-8A21B3C0A9B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B0FC48FC-B968-915F-3D2C-5D0CC4606238}"/>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E0BC7B21-B266-E6A6-40C7-770BF500CA5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661633E3-62DA-F5E6-2A3B-EF0AD803A970}"/>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0695D410-31E6-8CC5-B1E3-2F09EA00F5AE}"/>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673ACDA4-64B7-6E3F-7978-E2997AA31F6A}"/>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9B552E00-474D-3427-38DE-1B0110363892}"/>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840F9F3-7AB2-9848-1CF1-830CE6ADD634}"/>
              </a:ext>
            </a:extLst>
          </p:cNvPr>
          <p:cNvSpPr/>
          <p:nvPr/>
        </p:nvSpPr>
        <p:spPr>
          <a:xfrm>
            <a:off x="457200" y="1415953"/>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BF3CE36F-BF6D-6208-4954-C446188D249C}"/>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C706184-5D0F-D033-2772-50898CFB6D83}"/>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50" name="TextBox 49">
            <a:extLst>
              <a:ext uri="{FF2B5EF4-FFF2-40B4-BE49-F238E27FC236}">
                <a16:creationId xmlns:a16="http://schemas.microsoft.com/office/drawing/2014/main" id="{46146D77-4291-4750-695B-70327FF8D76B}"/>
              </a:ext>
            </a:extLst>
          </p:cNvPr>
          <p:cNvSpPr txBox="1"/>
          <p:nvPr/>
        </p:nvSpPr>
        <p:spPr>
          <a:xfrm>
            <a:off x="2377440" y="1483318"/>
            <a:ext cx="9281160"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Electric &amp; Gas Field Operations · OSG (Operational Support Group)</a:t>
            </a:r>
          </a:p>
        </p:txBody>
      </p:sp>
      <p:sp>
        <p:nvSpPr>
          <p:cNvPr id="132" name="TextBox 131">
            <a:extLst>
              <a:ext uri="{FF2B5EF4-FFF2-40B4-BE49-F238E27FC236}">
                <a16:creationId xmlns:a16="http://schemas.microsoft.com/office/drawing/2014/main" id="{6CC45CB4-D204-BFE9-1EEC-398E03B4B375}"/>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91" name="TextBox 190">
            <a:extLst>
              <a:ext uri="{FF2B5EF4-FFF2-40B4-BE49-F238E27FC236}">
                <a16:creationId xmlns:a16="http://schemas.microsoft.com/office/drawing/2014/main" id="{52D92078-001C-47A8-06A9-04962DCF60C9}"/>
              </a:ext>
            </a:extLst>
          </p:cNvPr>
          <p:cNvSpPr txBox="1"/>
          <p:nvPr/>
        </p:nvSpPr>
        <p:spPr>
          <a:xfrm>
            <a:off x="687324" y="5959645"/>
            <a:ext cx="10817352" cy="171778"/>
          </a:xfrm>
          <a:prstGeom prst="rect">
            <a:avLst/>
          </a:prstGeom>
          <a:noFill/>
        </p:spPr>
        <p:txBody>
          <a:bodyPr wrap="square" lIns="0" tIns="0" rIns="0" bIns="0" anchor="ctr">
            <a:spAutoFit/>
          </a:bodyPr>
          <a:lstStyle/>
          <a:p>
            <a:pPr>
              <a:lnSpc>
                <a:spcPct val="110000"/>
              </a:lnSpc>
            </a:pPr>
            <a:r>
              <a:rPr lang="en-US" sz="1100">
                <a:solidFill>
                  <a:srgbClr val="FFFFFF"/>
                </a:solidFill>
                <a:latin typeface="Arial" panose="020B0604020202020204" pitchFamily="34" charset="0"/>
                <a:cs typeface="Arial" panose="020B0604020202020204" pitchFamily="34" charset="0"/>
              </a:rPr>
              <a:t>Corporate absorbs regulatory volatility through PDD — but Word-doc intake and overlap between projects create duplication and rework</a:t>
            </a:r>
          </a:p>
        </p:txBody>
      </p:sp>
      <p:sp>
        <p:nvSpPr>
          <p:cNvPr id="51" name="Rectangle 50">
            <a:extLst>
              <a:ext uri="{FF2B5EF4-FFF2-40B4-BE49-F238E27FC236}">
                <a16:creationId xmlns:a16="http://schemas.microsoft.com/office/drawing/2014/main" id="{764EED98-10AE-02F3-399D-BADCF6E6ED12}"/>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074DE98D-CF68-0B78-C2E5-6EB22A325D78}"/>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5" name="Rectangle 54">
            <a:extLst>
              <a:ext uri="{FF2B5EF4-FFF2-40B4-BE49-F238E27FC236}">
                <a16:creationId xmlns:a16="http://schemas.microsoft.com/office/drawing/2014/main" id="{A10D08C9-DEFD-616F-655C-85123CF303F6}"/>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23B2516E-0310-26B6-A41F-0226ACE51660}"/>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9" name="Rectangle 58">
            <a:extLst>
              <a:ext uri="{FF2B5EF4-FFF2-40B4-BE49-F238E27FC236}">
                <a16:creationId xmlns:a16="http://schemas.microsoft.com/office/drawing/2014/main" id="{D6D85864-12B4-8C4D-C75C-8DD084DB9AC3}"/>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5305EBE5-4FB0-A4F2-EA15-6ACD0B1106F0}"/>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3" name="Rectangle 62">
            <a:extLst>
              <a:ext uri="{FF2B5EF4-FFF2-40B4-BE49-F238E27FC236}">
                <a16:creationId xmlns:a16="http://schemas.microsoft.com/office/drawing/2014/main" id="{03FDB231-7CF0-857F-FAE1-C0461293C1B9}"/>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27">
            <a:extLst>
              <a:ext uri="{FF2B5EF4-FFF2-40B4-BE49-F238E27FC236}">
                <a16:creationId xmlns:a16="http://schemas.microsoft.com/office/drawing/2014/main" id="{FD9E70A1-4494-FD95-40F4-3F3C71FA58EF}"/>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24" name="Rectangle: Rounded Corners 18">
            <a:extLst>
              <a:ext uri="{FF2B5EF4-FFF2-40B4-BE49-F238E27FC236}">
                <a16:creationId xmlns:a16="http://schemas.microsoft.com/office/drawing/2014/main" id="{EEF68977-2032-C3B0-412C-073368D6A01C}"/>
              </a:ext>
            </a:extLst>
          </p:cNvPr>
          <p:cNvSpPr/>
          <p:nvPr/>
        </p:nvSpPr>
        <p:spPr>
          <a:xfrm>
            <a:off x="7039633"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latin typeface="Arial" panose="020B0604020202020204" pitchFamily="34" charset="0"/>
                <a:cs typeface="Arial" panose="020B0604020202020204" pitchFamily="34" charset="0"/>
              </a:rPr>
              <a:t>IT Business Apps</a:t>
            </a:r>
          </a:p>
        </p:txBody>
      </p:sp>
      <p:sp>
        <p:nvSpPr>
          <p:cNvPr id="26" name="Rectangle: Rounded Corners 25">
            <a:extLst>
              <a:ext uri="{FF2B5EF4-FFF2-40B4-BE49-F238E27FC236}">
                <a16:creationId xmlns:a16="http://schemas.microsoft.com/office/drawing/2014/main" id="{E1FA5A0F-BEE3-8AE4-06D7-02B8CEBDFCB4}"/>
              </a:ext>
            </a:extLst>
          </p:cNvPr>
          <p:cNvSpPr/>
          <p:nvPr/>
        </p:nvSpPr>
        <p:spPr>
          <a:xfrm>
            <a:off x="8771785"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29" name="TextBox 28">
            <a:extLst>
              <a:ext uri="{FF2B5EF4-FFF2-40B4-BE49-F238E27FC236}">
                <a16:creationId xmlns:a16="http://schemas.microsoft.com/office/drawing/2014/main" id="{11BB22DB-61E2-38D8-8FF9-AFFA6504C577}"/>
              </a:ext>
            </a:extLst>
          </p:cNvPr>
          <p:cNvSpPr txBox="1"/>
          <p:nvPr/>
        </p:nvSpPr>
        <p:spPr>
          <a:xfrm>
            <a:off x="1188721" y="248179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 via Jira + Confluence; Word docs for business requirements</a:t>
            </a:r>
          </a:p>
        </p:txBody>
      </p:sp>
      <p:sp>
        <p:nvSpPr>
          <p:cNvPr id="30" name="Rectangle 29">
            <a:extLst>
              <a:ext uri="{FF2B5EF4-FFF2-40B4-BE49-F238E27FC236}">
                <a16:creationId xmlns:a16="http://schemas.microsoft.com/office/drawing/2014/main" id="{04738A83-7449-C8B2-393F-BAEAB8725FB0}"/>
              </a:ext>
            </a:extLst>
          </p:cNvPr>
          <p:cNvSpPr/>
          <p:nvPr/>
        </p:nvSpPr>
        <p:spPr>
          <a:xfrm>
            <a:off x="3319273"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D499390-5DCE-270E-BACA-31AADE388997}"/>
              </a:ext>
            </a:extLst>
          </p:cNvPr>
          <p:cNvSpPr txBox="1"/>
          <p:nvPr/>
        </p:nvSpPr>
        <p:spPr>
          <a:xfrm>
            <a:off x="3410713" y="2481798"/>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and Medium: PDD</a:t>
            </a:r>
          </a:p>
        </p:txBody>
      </p:sp>
      <p:sp>
        <p:nvSpPr>
          <p:cNvPr id="32" name="Rectangle 31">
            <a:extLst>
              <a:ext uri="{FF2B5EF4-FFF2-40B4-BE49-F238E27FC236}">
                <a16:creationId xmlns:a16="http://schemas.microsoft.com/office/drawing/2014/main" id="{E36680DE-E661-F7E1-5DBA-F6A048E67290}"/>
              </a:ext>
            </a:extLst>
          </p:cNvPr>
          <p:cNvSpPr/>
          <p:nvPr/>
        </p:nvSpPr>
        <p:spPr>
          <a:xfrm>
            <a:off x="5541265"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A15FB4C0-AD86-C82A-4ED6-B1485775DC7A}"/>
              </a:ext>
            </a:extLst>
          </p:cNvPr>
          <p:cNvSpPr txBox="1"/>
          <p:nvPr/>
        </p:nvSpPr>
        <p:spPr>
          <a:xfrm>
            <a:off x="5632705" y="248179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is the driver; regulatory is treated as standing priority</a:t>
            </a:r>
          </a:p>
        </p:txBody>
      </p:sp>
      <p:sp>
        <p:nvSpPr>
          <p:cNvPr id="34" name="Rectangle 33">
            <a:extLst>
              <a:ext uri="{FF2B5EF4-FFF2-40B4-BE49-F238E27FC236}">
                <a16:creationId xmlns:a16="http://schemas.microsoft.com/office/drawing/2014/main" id="{F7EF8072-658A-85DD-9A02-ED8360FA3998}"/>
              </a:ext>
            </a:extLst>
          </p:cNvPr>
          <p:cNvSpPr/>
          <p:nvPr/>
        </p:nvSpPr>
        <p:spPr>
          <a:xfrm>
            <a:off x="7763257"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7375E9EF-BEFE-55CD-EF8F-3F560EAEF4DF}"/>
              </a:ext>
            </a:extLst>
          </p:cNvPr>
          <p:cNvSpPr txBox="1"/>
          <p:nvPr/>
        </p:nvSpPr>
        <p:spPr>
          <a:xfrm>
            <a:off x="7854697" y="2481798"/>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PDD-approved portfolio; </a:t>
            </a:r>
          </a:p>
        </p:txBody>
      </p:sp>
      <p:sp>
        <p:nvSpPr>
          <p:cNvPr id="36" name="Rectangle 35">
            <a:extLst>
              <a:ext uri="{FF2B5EF4-FFF2-40B4-BE49-F238E27FC236}">
                <a16:creationId xmlns:a16="http://schemas.microsoft.com/office/drawing/2014/main" id="{A76A846B-DB6A-C8DD-64BE-9AF4B66563D2}"/>
              </a:ext>
            </a:extLst>
          </p:cNvPr>
          <p:cNvSpPr/>
          <p:nvPr/>
        </p:nvSpPr>
        <p:spPr>
          <a:xfrm>
            <a:off x="9985249" y="2436078"/>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B3D60F47-EC6B-0A8F-B56F-ED9AF0C71361}"/>
              </a:ext>
            </a:extLst>
          </p:cNvPr>
          <p:cNvSpPr txBox="1"/>
          <p:nvPr/>
        </p:nvSpPr>
        <p:spPr>
          <a:xfrm>
            <a:off x="10076689" y="2481798"/>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 Vendor split; regulatory-driven release cadence</a:t>
            </a:r>
          </a:p>
        </p:txBody>
      </p:sp>
      <p:sp>
        <p:nvSpPr>
          <p:cNvPr id="38" name="TextBox 37">
            <a:extLst>
              <a:ext uri="{FF2B5EF4-FFF2-40B4-BE49-F238E27FC236}">
                <a16:creationId xmlns:a16="http://schemas.microsoft.com/office/drawing/2014/main" id="{9F4B9D46-072A-1D36-DEA0-60588A883089}"/>
              </a:ext>
            </a:extLst>
          </p:cNvPr>
          <p:cNvSpPr txBox="1"/>
          <p:nvPr/>
        </p:nvSpPr>
        <p:spPr>
          <a:xfrm>
            <a:off x="1188721"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analysts send requirements; PMs own Jira intake</a:t>
            </a:r>
          </a:p>
        </p:txBody>
      </p:sp>
      <p:sp>
        <p:nvSpPr>
          <p:cNvPr id="39" name="Rectangle 38">
            <a:extLst>
              <a:ext uri="{FF2B5EF4-FFF2-40B4-BE49-F238E27FC236}">
                <a16:creationId xmlns:a16="http://schemas.microsoft.com/office/drawing/2014/main" id="{B7018D7F-B01A-68C6-25D3-DDFBBE8AA871}"/>
              </a:ext>
            </a:extLst>
          </p:cNvPr>
          <p:cNvSpPr/>
          <p:nvPr/>
        </p:nvSpPr>
        <p:spPr>
          <a:xfrm>
            <a:off x="3319273"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28E4833A-3E27-0D76-2431-D6E8414BE8B9}"/>
              </a:ext>
            </a:extLst>
          </p:cNvPr>
          <p:cNvSpPr txBox="1"/>
          <p:nvPr/>
        </p:nvSpPr>
        <p:spPr>
          <a:xfrm>
            <a:off x="3410713"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5-6 PMs + 2 Tech Leads classify (central PM pool sits here)</a:t>
            </a:r>
          </a:p>
        </p:txBody>
      </p:sp>
      <p:sp>
        <p:nvSpPr>
          <p:cNvPr id="41" name="Rectangle 40">
            <a:extLst>
              <a:ext uri="{FF2B5EF4-FFF2-40B4-BE49-F238E27FC236}">
                <a16:creationId xmlns:a16="http://schemas.microsoft.com/office/drawing/2014/main" id="{A7390CF7-8C77-1FD4-92C8-07B3A4AEC5B4}"/>
              </a:ext>
            </a:extLst>
          </p:cNvPr>
          <p:cNvSpPr/>
          <p:nvPr/>
        </p:nvSpPr>
        <p:spPr>
          <a:xfrm>
            <a:off x="5541265"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95E830D4-E13B-F670-E5DB-57C75C4D2163}"/>
              </a:ext>
            </a:extLst>
          </p:cNvPr>
          <p:cNvSpPr txBox="1"/>
          <p:nvPr/>
        </p:nvSpPr>
        <p:spPr>
          <a:xfrm>
            <a:off x="5632705"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PMs + business leadership — regulatory always lifted</a:t>
            </a:r>
          </a:p>
        </p:txBody>
      </p:sp>
      <p:sp>
        <p:nvSpPr>
          <p:cNvPr id="43" name="Rectangle 42">
            <a:extLst>
              <a:ext uri="{FF2B5EF4-FFF2-40B4-BE49-F238E27FC236}">
                <a16:creationId xmlns:a16="http://schemas.microsoft.com/office/drawing/2014/main" id="{EA724118-5633-60F6-C463-7BD6CD5ADDBD}"/>
              </a:ext>
            </a:extLst>
          </p:cNvPr>
          <p:cNvSpPr/>
          <p:nvPr/>
        </p:nvSpPr>
        <p:spPr>
          <a:xfrm>
            <a:off x="7763257"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1F828BCF-73E0-8828-C763-1546033DAF19}"/>
              </a:ext>
            </a:extLst>
          </p:cNvPr>
          <p:cNvSpPr txBox="1"/>
          <p:nvPr/>
        </p:nvSpPr>
        <p:spPr>
          <a:xfrm>
            <a:off x="7854697"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PMs track Jira; overlap visible but not resolved upstream</a:t>
            </a:r>
          </a:p>
        </p:txBody>
      </p:sp>
      <p:sp>
        <p:nvSpPr>
          <p:cNvPr id="45" name="Rectangle 44">
            <a:extLst>
              <a:ext uri="{FF2B5EF4-FFF2-40B4-BE49-F238E27FC236}">
                <a16:creationId xmlns:a16="http://schemas.microsoft.com/office/drawing/2014/main" id="{F623DA75-A6BB-2BB5-1713-9FC93E8CC3DB}"/>
              </a:ext>
            </a:extLst>
          </p:cNvPr>
          <p:cNvSpPr/>
          <p:nvPr/>
        </p:nvSpPr>
        <p:spPr>
          <a:xfrm>
            <a:off x="9985249" y="2966430"/>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74991D57-EDFE-1BB9-FAEF-7D4875240B09}"/>
              </a:ext>
            </a:extLst>
          </p:cNvPr>
          <p:cNvSpPr txBox="1"/>
          <p:nvPr/>
        </p:nvSpPr>
        <p:spPr>
          <a:xfrm>
            <a:off x="10076689" y="3012150"/>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team + SWF + vendors for specific modules</a:t>
            </a:r>
          </a:p>
        </p:txBody>
      </p:sp>
      <p:sp>
        <p:nvSpPr>
          <p:cNvPr id="47" name="TextBox 46">
            <a:extLst>
              <a:ext uri="{FF2B5EF4-FFF2-40B4-BE49-F238E27FC236}">
                <a16:creationId xmlns:a16="http://schemas.microsoft.com/office/drawing/2014/main" id="{A1B302FC-E3F1-BD33-DFAC-10A24F14C537}"/>
              </a:ext>
            </a:extLst>
          </p:cNvPr>
          <p:cNvSpPr txBox="1"/>
          <p:nvPr/>
        </p:nvSpPr>
        <p:spPr>
          <a:xfrm>
            <a:off x="1188721" y="3542502"/>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Jira · Confluence · Word </a:t>
            </a:r>
            <a:r>
              <a:rPr lang="en-US" sz="900" noProof="0">
                <a:solidFill>
                  <a:srgbClr val="2C3E50"/>
                </a:solidFill>
                <a:latin typeface="Arial" panose="020B0604020202020204" pitchFamily="34" charset="0"/>
                <a:cs typeface="Arial" panose="020B0604020202020204" pitchFamily="34" charset="0"/>
              </a:rPr>
              <a:t>docs · PPM Now</a:t>
            </a:r>
            <a:endParaRPr lang="en-US" sz="900" b="0" i="0" noProof="0">
              <a:solidFill>
                <a:srgbClr val="2C3E50"/>
              </a:solidFill>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545C0312-B667-F1FB-7917-CEEE6D66BCB5}"/>
              </a:ext>
            </a:extLst>
          </p:cNvPr>
          <p:cNvSpPr/>
          <p:nvPr/>
        </p:nvSpPr>
        <p:spPr>
          <a:xfrm>
            <a:off x="3319273"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17F5585E-067E-D0FD-27F1-9F7C631BEB86}"/>
              </a:ext>
            </a:extLst>
          </p:cNvPr>
          <p:cNvSpPr txBox="1"/>
          <p:nvPr/>
        </p:nvSpPr>
        <p:spPr>
          <a:xfrm>
            <a:off x="3410713" y="354250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labels + PDD workbook</a:t>
            </a:r>
          </a:p>
        </p:txBody>
      </p:sp>
      <p:sp>
        <p:nvSpPr>
          <p:cNvPr id="53" name="Rectangle 52">
            <a:extLst>
              <a:ext uri="{FF2B5EF4-FFF2-40B4-BE49-F238E27FC236}">
                <a16:creationId xmlns:a16="http://schemas.microsoft.com/office/drawing/2014/main" id="{D45151D9-5C33-B93C-BCDF-959076D12B5F}"/>
              </a:ext>
            </a:extLst>
          </p:cNvPr>
          <p:cNvSpPr/>
          <p:nvPr/>
        </p:nvSpPr>
        <p:spPr>
          <a:xfrm>
            <a:off x="5541265"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B19D74A5-020F-E8EE-2021-D6E413FFD4C1}"/>
              </a:ext>
            </a:extLst>
          </p:cNvPr>
          <p:cNvSpPr txBox="1"/>
          <p:nvPr/>
        </p:nvSpPr>
        <p:spPr>
          <a:xfrm>
            <a:off x="5632705" y="3542502"/>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regulatory = priority</a:t>
            </a:r>
          </a:p>
        </p:txBody>
      </p:sp>
      <p:sp>
        <p:nvSpPr>
          <p:cNvPr id="57" name="Rectangle 56">
            <a:extLst>
              <a:ext uri="{FF2B5EF4-FFF2-40B4-BE49-F238E27FC236}">
                <a16:creationId xmlns:a16="http://schemas.microsoft.com/office/drawing/2014/main" id="{BBB932E5-50BD-BB31-23F8-64D24C1FA9CC}"/>
              </a:ext>
            </a:extLst>
          </p:cNvPr>
          <p:cNvSpPr/>
          <p:nvPr/>
        </p:nvSpPr>
        <p:spPr>
          <a:xfrm>
            <a:off x="7763257"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85711566-F316-B4F2-7616-321637D0C95E}"/>
              </a:ext>
            </a:extLst>
          </p:cNvPr>
          <p:cNvSpPr txBox="1"/>
          <p:nvPr/>
        </p:nvSpPr>
        <p:spPr>
          <a:xfrm>
            <a:off x="7854697" y="354250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Confluence + PPM Now</a:t>
            </a:r>
          </a:p>
        </p:txBody>
      </p:sp>
      <p:sp>
        <p:nvSpPr>
          <p:cNvPr id="61" name="Rectangle 60">
            <a:extLst>
              <a:ext uri="{FF2B5EF4-FFF2-40B4-BE49-F238E27FC236}">
                <a16:creationId xmlns:a16="http://schemas.microsoft.com/office/drawing/2014/main" id="{0AA98960-1314-9D71-BCB7-3968CC877C1A}"/>
              </a:ext>
            </a:extLst>
          </p:cNvPr>
          <p:cNvSpPr/>
          <p:nvPr/>
        </p:nvSpPr>
        <p:spPr>
          <a:xfrm>
            <a:off x="9985249" y="3496782"/>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7DE2D9F8-BCEF-67EB-CF12-EED873ACDFA4}"/>
              </a:ext>
            </a:extLst>
          </p:cNvPr>
          <p:cNvSpPr txBox="1"/>
          <p:nvPr/>
        </p:nvSpPr>
        <p:spPr>
          <a:xfrm>
            <a:off x="10076689" y="3542502"/>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 Confluence; SWF for vendor capacity</a:t>
            </a:r>
          </a:p>
        </p:txBody>
      </p:sp>
      <p:sp>
        <p:nvSpPr>
          <p:cNvPr id="129" name="TextBox 128">
            <a:extLst>
              <a:ext uri="{FF2B5EF4-FFF2-40B4-BE49-F238E27FC236}">
                <a16:creationId xmlns:a16="http://schemas.microsoft.com/office/drawing/2014/main" id="{48D36639-F3CE-5D41-4C36-8A061361C6C5}"/>
              </a:ext>
            </a:extLst>
          </p:cNvPr>
          <p:cNvSpPr txBox="1"/>
          <p:nvPr/>
        </p:nvSpPr>
        <p:spPr>
          <a:xfrm>
            <a:off x="1188721"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consolidated intake funnel; Word breaks digital trail</a:t>
            </a:r>
          </a:p>
        </p:txBody>
      </p:sp>
      <p:sp>
        <p:nvSpPr>
          <p:cNvPr id="130" name="Rectangle 129">
            <a:extLst>
              <a:ext uri="{FF2B5EF4-FFF2-40B4-BE49-F238E27FC236}">
                <a16:creationId xmlns:a16="http://schemas.microsoft.com/office/drawing/2014/main" id="{FC8935C8-3CF5-0CCF-5C89-0EF12E2F0DED}"/>
              </a:ext>
            </a:extLst>
          </p:cNvPr>
          <p:cNvSpPr/>
          <p:nvPr/>
        </p:nvSpPr>
        <p:spPr>
          <a:xfrm>
            <a:off x="3319273"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DE16AEB7-C1EC-60D5-0FBF-5501EF238504}"/>
              </a:ext>
            </a:extLst>
          </p:cNvPr>
          <p:cNvSpPr txBox="1"/>
          <p:nvPr/>
        </p:nvSpPr>
        <p:spPr>
          <a:xfrm>
            <a:off x="3410713"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deduplication between overlapping PDDs</a:t>
            </a:r>
          </a:p>
        </p:txBody>
      </p:sp>
      <p:sp>
        <p:nvSpPr>
          <p:cNvPr id="134" name="Rectangle 133">
            <a:extLst>
              <a:ext uri="{FF2B5EF4-FFF2-40B4-BE49-F238E27FC236}">
                <a16:creationId xmlns:a16="http://schemas.microsoft.com/office/drawing/2014/main" id="{34B53DD2-0B0C-939E-9581-1FC0D05E5A3B}"/>
              </a:ext>
            </a:extLst>
          </p:cNvPr>
          <p:cNvSpPr/>
          <p:nvPr/>
        </p:nvSpPr>
        <p:spPr>
          <a:xfrm>
            <a:off x="5541265"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1ADB4E24-72F3-4E15-9AAC-9AE0610D0F2C}"/>
              </a:ext>
            </a:extLst>
          </p:cNvPr>
          <p:cNvSpPr txBox="1"/>
          <p:nvPr/>
        </p:nvSpPr>
        <p:spPr>
          <a:xfrm>
            <a:off x="5632705"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Regulatory urgency is exception-driven, not scored</a:t>
            </a:r>
          </a:p>
        </p:txBody>
      </p:sp>
      <p:sp>
        <p:nvSpPr>
          <p:cNvPr id="193" name="Rectangle 192">
            <a:extLst>
              <a:ext uri="{FF2B5EF4-FFF2-40B4-BE49-F238E27FC236}">
                <a16:creationId xmlns:a16="http://schemas.microsoft.com/office/drawing/2014/main" id="{6A6CC35F-4551-C18F-A75E-CC37153B19A8}"/>
              </a:ext>
            </a:extLst>
          </p:cNvPr>
          <p:cNvSpPr/>
          <p:nvPr/>
        </p:nvSpPr>
        <p:spPr>
          <a:xfrm>
            <a:off x="7763257"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4" name="TextBox 193">
            <a:extLst>
              <a:ext uri="{FF2B5EF4-FFF2-40B4-BE49-F238E27FC236}">
                <a16:creationId xmlns:a16="http://schemas.microsoft.com/office/drawing/2014/main" id="{6A628B7A-059B-EAF7-5BDD-431F27CDA3B2}"/>
              </a:ext>
            </a:extLst>
          </p:cNvPr>
          <p:cNvSpPr txBox="1"/>
          <p:nvPr/>
        </p:nvSpPr>
        <p:spPr>
          <a:xfrm>
            <a:off x="7854697"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approvals govern; below-threshold demand untracked</a:t>
            </a:r>
          </a:p>
        </p:txBody>
      </p:sp>
      <p:sp>
        <p:nvSpPr>
          <p:cNvPr id="195" name="Rectangle 194">
            <a:extLst>
              <a:ext uri="{FF2B5EF4-FFF2-40B4-BE49-F238E27FC236}">
                <a16:creationId xmlns:a16="http://schemas.microsoft.com/office/drawing/2014/main" id="{B1679D78-58DD-8591-CAD6-A3587F4BBE9B}"/>
              </a:ext>
            </a:extLst>
          </p:cNvPr>
          <p:cNvSpPr/>
          <p:nvPr/>
        </p:nvSpPr>
        <p:spPr>
          <a:xfrm>
            <a:off x="9985249" y="4027134"/>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CFB9D641-DA87-BD1B-0640-56B9F2FA3C81}"/>
              </a:ext>
            </a:extLst>
          </p:cNvPr>
          <p:cNvSpPr txBox="1"/>
          <p:nvPr/>
        </p:nvSpPr>
        <p:spPr>
          <a:xfrm>
            <a:off x="10076689" y="4072854"/>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One-year plan + recurring training; no release KPIs</a:t>
            </a:r>
          </a:p>
        </p:txBody>
      </p:sp>
      <p:sp>
        <p:nvSpPr>
          <p:cNvPr id="201" name="TextBox 200">
            <a:extLst>
              <a:ext uri="{FF2B5EF4-FFF2-40B4-BE49-F238E27FC236}">
                <a16:creationId xmlns:a16="http://schemas.microsoft.com/office/drawing/2014/main" id="{32C105C8-5396-8312-CCE1-79BC8DBB9F80}"/>
              </a:ext>
            </a:extLst>
          </p:cNvPr>
          <p:cNvSpPr txBox="1"/>
          <p:nvPr/>
        </p:nvSpPr>
        <p:spPr>
          <a:xfrm>
            <a:off x="6400801" y="4923246"/>
            <a:ext cx="5166360" cy="292837"/>
          </a:xfrm>
          <a:prstGeom prst="rect">
            <a:avLst/>
          </a:prstGeom>
          <a:noFill/>
        </p:spPr>
        <p:txBody>
          <a:bodyPr wrap="square" lIns="0" tIns="0" rIns="0" bIns="0" anchor="t">
            <a:spAutoFit/>
          </a:bodyPr>
          <a:lstStyle/>
          <a:p>
            <a:pPr>
              <a:lnSpc>
                <a:spcPct val="110000"/>
              </a:lnSpc>
            </a:pPr>
            <a:r>
              <a:rPr lang="en-US" sz="900" b="0" i="1" noProof="0">
                <a:solidFill>
                  <a:srgbClr val="2C3E50"/>
                </a:solidFill>
                <a:latin typeface="Arial" panose="020B0604020202020204" pitchFamily="34" charset="0"/>
                <a:cs typeface="Arial" panose="020B0604020202020204" pitchFamily="34" charset="0"/>
              </a:rPr>
              <a:t>"</a:t>
            </a:r>
            <a:r>
              <a:rPr lang="en-US" sz="900" i="1" noProof="0">
                <a:solidFill>
                  <a:srgbClr val="2C3E50"/>
                </a:solidFill>
                <a:latin typeface="Arial" panose="020B0604020202020204" pitchFamily="34" charset="0"/>
                <a:ea typeface="+mn-lt"/>
                <a:cs typeface="Arial" panose="020B0604020202020204" pitchFamily="34" charset="0"/>
              </a:rPr>
              <a:t>No prioritization variables defined but forums to prioritize. Currently in the forums: if it's strategic, operational urgency, regulatory (most important doesn't matter the size)"</a:t>
            </a:r>
            <a:r>
              <a:rPr lang="en-US" sz="900" b="0" i="1" noProof="0">
                <a:solidFill>
                  <a:srgbClr val="2C3E50"/>
                </a:solidFill>
                <a:latin typeface="Arial" panose="020B0604020202020204" pitchFamily="34" charset="0"/>
                <a:cs typeface="Arial" panose="020B0604020202020204" pitchFamily="34" charset="0"/>
              </a:rPr>
              <a:t> — Amitkumar Patel</a:t>
            </a:r>
          </a:p>
        </p:txBody>
      </p:sp>
      <p:sp>
        <p:nvSpPr>
          <p:cNvPr id="202" name="TextBox 201">
            <a:extLst>
              <a:ext uri="{FF2B5EF4-FFF2-40B4-BE49-F238E27FC236}">
                <a16:creationId xmlns:a16="http://schemas.microsoft.com/office/drawing/2014/main" id="{5EAED41B-A9BE-F618-F2BF-64754BC401FA}"/>
              </a:ext>
            </a:extLst>
          </p:cNvPr>
          <p:cNvSpPr txBox="1"/>
          <p:nvPr/>
        </p:nvSpPr>
        <p:spPr>
          <a:xfrm>
            <a:off x="640081" y="4923246"/>
            <a:ext cx="54864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Word-document requirements betray a pre-agile posture — downstream Jira adoption is superficial, not structural</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"Overlapping projects" signals classification breakdown: multiple PDDs chase similar outcomes because intake doesn't deduplicate</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Regulatory pressure masks the lack of formal scoring — everything becomes urgent by exception</a:t>
            </a:r>
          </a:p>
        </p:txBody>
      </p:sp>
      <p:sp>
        <p:nvSpPr>
          <p:cNvPr id="215" name="Rounded Rectangle 26">
            <a:extLst>
              <a:ext uri="{FF2B5EF4-FFF2-40B4-BE49-F238E27FC236}">
                <a16:creationId xmlns:a16="http://schemas.microsoft.com/office/drawing/2014/main" id="{8BA5DBDB-EDC8-9CB3-ACBC-470615B9EFF5}"/>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133">
            <a:extLst>
              <a:ext uri="{FF2B5EF4-FFF2-40B4-BE49-F238E27FC236}">
                <a16:creationId xmlns:a16="http://schemas.microsoft.com/office/drawing/2014/main" id="{DAF05410-E21A-A7CB-4CF2-ECF02414820C}"/>
              </a:ext>
            </a:extLst>
          </p:cNvPr>
          <p:cNvSpPr txBox="1"/>
          <p:nvPr/>
        </p:nvSpPr>
        <p:spPr>
          <a:xfrm>
            <a:off x="3850429" y="22214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17" name="Rounded Rectangle 26">
            <a:extLst>
              <a:ext uri="{FF2B5EF4-FFF2-40B4-BE49-F238E27FC236}">
                <a16:creationId xmlns:a16="http://schemas.microsoft.com/office/drawing/2014/main" id="{87A8DD05-3172-B60F-3595-7271F74A0EC6}"/>
              </a:ext>
            </a:extLst>
          </p:cNvPr>
          <p:cNvSpPr/>
          <p:nvPr/>
        </p:nvSpPr>
        <p:spPr>
          <a:xfrm>
            <a:off x="6096000" y="2193193"/>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8" name="TextBox 133">
            <a:extLst>
              <a:ext uri="{FF2B5EF4-FFF2-40B4-BE49-F238E27FC236}">
                <a16:creationId xmlns:a16="http://schemas.microsoft.com/office/drawing/2014/main" id="{9AC76DFE-0971-FE14-AC1C-533D6C3EF1BC}"/>
              </a:ext>
            </a:extLst>
          </p:cNvPr>
          <p:cNvSpPr txBox="1"/>
          <p:nvPr/>
        </p:nvSpPr>
        <p:spPr>
          <a:xfrm>
            <a:off x="6097016" y="221584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19" name="Rounded Rectangle 26">
            <a:extLst>
              <a:ext uri="{FF2B5EF4-FFF2-40B4-BE49-F238E27FC236}">
                <a16:creationId xmlns:a16="http://schemas.microsoft.com/office/drawing/2014/main" id="{9BCF86BF-FE49-C60A-7277-B1AA01681686}"/>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133">
            <a:extLst>
              <a:ext uri="{FF2B5EF4-FFF2-40B4-BE49-F238E27FC236}">
                <a16:creationId xmlns:a16="http://schemas.microsoft.com/office/drawing/2014/main" id="{B41314BA-B192-0B08-9C70-ECC0229CD9F9}"/>
              </a:ext>
            </a:extLst>
          </p:cNvPr>
          <p:cNvSpPr txBox="1"/>
          <p:nvPr/>
        </p:nvSpPr>
        <p:spPr>
          <a:xfrm>
            <a:off x="1628437" y="22165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21" name="Rounded Rectangle 26">
            <a:extLst>
              <a:ext uri="{FF2B5EF4-FFF2-40B4-BE49-F238E27FC236}">
                <a16:creationId xmlns:a16="http://schemas.microsoft.com/office/drawing/2014/main" id="{FA484B54-CD42-0358-0ECD-E072200C4DBA}"/>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2" name="TextBox 133">
            <a:extLst>
              <a:ext uri="{FF2B5EF4-FFF2-40B4-BE49-F238E27FC236}">
                <a16:creationId xmlns:a16="http://schemas.microsoft.com/office/drawing/2014/main" id="{EF81C8B2-01A1-8D7D-A0BC-68D33ED3F131}"/>
              </a:ext>
            </a:extLst>
          </p:cNvPr>
          <p:cNvSpPr txBox="1"/>
          <p:nvPr/>
        </p:nvSpPr>
        <p:spPr>
          <a:xfrm>
            <a:off x="8337761" y="2215977"/>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23" name="Rounded Rectangle 26">
            <a:extLst>
              <a:ext uri="{FF2B5EF4-FFF2-40B4-BE49-F238E27FC236}">
                <a16:creationId xmlns:a16="http://schemas.microsoft.com/office/drawing/2014/main" id="{330DC6F2-6D35-7689-A43F-54D7314F4808}"/>
              </a:ext>
            </a:extLst>
          </p:cNvPr>
          <p:cNvSpPr/>
          <p:nvPr/>
        </p:nvSpPr>
        <p:spPr>
          <a:xfrm>
            <a:off x="10322791" y="2177224"/>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4" name="TextBox 133">
            <a:extLst>
              <a:ext uri="{FF2B5EF4-FFF2-40B4-BE49-F238E27FC236}">
                <a16:creationId xmlns:a16="http://schemas.microsoft.com/office/drawing/2014/main" id="{868E58E8-7B20-6106-F806-64098C2D38E5}"/>
              </a:ext>
            </a:extLst>
          </p:cNvPr>
          <p:cNvSpPr txBox="1"/>
          <p:nvPr/>
        </p:nvSpPr>
        <p:spPr>
          <a:xfrm>
            <a:off x="10326982" y="2199876"/>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31" name="Rectangle 230">
            <a:extLst>
              <a:ext uri="{FF2B5EF4-FFF2-40B4-BE49-F238E27FC236}">
                <a16:creationId xmlns:a16="http://schemas.microsoft.com/office/drawing/2014/main" id="{7085E7FA-8C88-B85A-01FC-7E8CCE76D5DB}"/>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3" name="TextBox 232">
            <a:extLst>
              <a:ext uri="{FF2B5EF4-FFF2-40B4-BE49-F238E27FC236}">
                <a16:creationId xmlns:a16="http://schemas.microsoft.com/office/drawing/2014/main" id="{08DD5B13-67DA-F97C-37BD-2915AF015E75}"/>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234" name="TextBox 233">
            <a:extLst>
              <a:ext uri="{FF2B5EF4-FFF2-40B4-BE49-F238E27FC236}">
                <a16:creationId xmlns:a16="http://schemas.microsoft.com/office/drawing/2014/main" id="{BFB1E220-7294-0140-4D54-2E647EB26A74}"/>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244" name="Group 243">
            <a:extLst>
              <a:ext uri="{FF2B5EF4-FFF2-40B4-BE49-F238E27FC236}">
                <a16:creationId xmlns:a16="http://schemas.microsoft.com/office/drawing/2014/main" id="{D51127D8-FE78-E331-ED11-8CBFE9F594EF}"/>
              </a:ext>
            </a:extLst>
          </p:cNvPr>
          <p:cNvGrpSpPr/>
          <p:nvPr/>
        </p:nvGrpSpPr>
        <p:grpSpPr>
          <a:xfrm>
            <a:off x="299553" y="2431316"/>
            <a:ext cx="770295" cy="2084832"/>
            <a:chOff x="457200" y="2440081"/>
            <a:chExt cx="594360" cy="2084832"/>
          </a:xfrm>
        </p:grpSpPr>
        <p:sp>
          <p:nvSpPr>
            <p:cNvPr id="245" name="Rectangle 244">
              <a:extLst>
                <a:ext uri="{FF2B5EF4-FFF2-40B4-BE49-F238E27FC236}">
                  <a16:creationId xmlns:a16="http://schemas.microsoft.com/office/drawing/2014/main" id="{D7F145A3-6E29-E39E-F6C7-68C222FB194F}"/>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6" name="TextBox 245">
              <a:extLst>
                <a:ext uri="{FF2B5EF4-FFF2-40B4-BE49-F238E27FC236}">
                  <a16:creationId xmlns:a16="http://schemas.microsoft.com/office/drawing/2014/main" id="{BB390EB1-23E9-A632-9BCB-284DDA30137E}"/>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247" name="Rectangle 246">
              <a:extLst>
                <a:ext uri="{FF2B5EF4-FFF2-40B4-BE49-F238E27FC236}">
                  <a16:creationId xmlns:a16="http://schemas.microsoft.com/office/drawing/2014/main" id="{FD77C6DF-2354-B163-2BDB-EE1BAAAD3BB5}"/>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8" name="TextBox 247">
              <a:extLst>
                <a:ext uri="{FF2B5EF4-FFF2-40B4-BE49-F238E27FC236}">
                  <a16:creationId xmlns:a16="http://schemas.microsoft.com/office/drawing/2014/main" id="{14E794CC-4596-B4AB-64BD-C7C532E109A7}"/>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249" name="Rectangle 248">
              <a:extLst>
                <a:ext uri="{FF2B5EF4-FFF2-40B4-BE49-F238E27FC236}">
                  <a16:creationId xmlns:a16="http://schemas.microsoft.com/office/drawing/2014/main" id="{6E450685-AB95-1F75-0089-884E3372F362}"/>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0" name="TextBox 249">
              <a:extLst>
                <a:ext uri="{FF2B5EF4-FFF2-40B4-BE49-F238E27FC236}">
                  <a16:creationId xmlns:a16="http://schemas.microsoft.com/office/drawing/2014/main" id="{A80C9C8C-1D44-F169-9F21-6240DE726EA9}"/>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251" name="Rectangle 250">
              <a:extLst>
                <a:ext uri="{FF2B5EF4-FFF2-40B4-BE49-F238E27FC236}">
                  <a16:creationId xmlns:a16="http://schemas.microsoft.com/office/drawing/2014/main" id="{28263DFE-4BAA-B31C-DF84-2E00D826B9E7}"/>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2" name="TextBox 251">
              <a:extLst>
                <a:ext uri="{FF2B5EF4-FFF2-40B4-BE49-F238E27FC236}">
                  <a16:creationId xmlns:a16="http://schemas.microsoft.com/office/drawing/2014/main" id="{06B8B1DB-0A76-37C1-223C-A2696A988A80}"/>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253" name="CuadroTexto 204">
            <a:extLst>
              <a:ext uri="{FF2B5EF4-FFF2-40B4-BE49-F238E27FC236}">
                <a16:creationId xmlns:a16="http://schemas.microsoft.com/office/drawing/2014/main" id="{A8EE0D4B-EFE8-F61D-DDA9-A186D8A9FB85}"/>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Corporate runs demand through Jira, Confluence and Word — standardization gap despite the highest regulatory pressure</a:t>
            </a:r>
          </a:p>
        </p:txBody>
      </p:sp>
    </p:spTree>
    <p:extLst>
      <p:ext uri="{BB962C8B-B14F-4D97-AF65-F5344CB8AC3E}">
        <p14:creationId xmlns:p14="http://schemas.microsoft.com/office/powerpoint/2010/main" val="1234436441"/>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FED9D-2EA8-257F-31B9-C6395F64A0B2}"/>
            </a:ext>
          </a:extLst>
        </p:cNvPr>
        <p:cNvGrpSpPr/>
        <p:nvPr/>
      </p:nvGrpSpPr>
      <p:grpSpPr>
        <a:xfrm>
          <a:off x="0" y="0"/>
          <a:ext cx="0" cy="0"/>
          <a:chOff x="0" y="0"/>
          <a:chExt cx="0" cy="0"/>
        </a:xfrm>
      </p:grpSpPr>
      <p:sp>
        <p:nvSpPr>
          <p:cNvPr id="200" name="Rectangle 199">
            <a:extLst>
              <a:ext uri="{FF2B5EF4-FFF2-40B4-BE49-F238E27FC236}">
                <a16:creationId xmlns:a16="http://schemas.microsoft.com/office/drawing/2014/main" id="{00E8C196-3664-9577-B839-99613784F2E9}"/>
              </a:ext>
            </a:extLst>
          </p:cNvPr>
          <p:cNvSpPr/>
          <p:nvPr/>
        </p:nvSpPr>
        <p:spPr>
          <a:xfrm>
            <a:off x="457200" y="587492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ectangle 197">
            <a:extLst>
              <a:ext uri="{FF2B5EF4-FFF2-40B4-BE49-F238E27FC236}">
                <a16:creationId xmlns:a16="http://schemas.microsoft.com/office/drawing/2014/main" id="{3E4C2160-8434-2038-C473-B8107E95D597}"/>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7" name="Rectangle 196">
            <a:extLst>
              <a:ext uri="{FF2B5EF4-FFF2-40B4-BE49-F238E27FC236}">
                <a16:creationId xmlns:a16="http://schemas.microsoft.com/office/drawing/2014/main" id="{EBB3C4DA-8A4A-2913-2CD4-73CB1825A63D}"/>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3ECCDA13-9E9F-4A59-4E2B-B512B1532B19}"/>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5A7A5CD1-1CBA-D506-4BE0-4BF4D808EA9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D1903AEA-6D85-6552-7D9E-B9D808EF9F7C}"/>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CC23CE03-D4AC-BC11-1084-3DB543BB45D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E7CB9535-62D7-8EC3-757D-A6E470376174}"/>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339F2759-0F6D-6A4D-169B-0D1F40937D7E}"/>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DDBB6CD5-EF81-F715-DF6F-804D5253FAA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10E9D4F1-B244-44FC-5B3A-FCE7EA3F5FC1}"/>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7" name="Rectangle 136">
            <a:extLst>
              <a:ext uri="{FF2B5EF4-FFF2-40B4-BE49-F238E27FC236}">
                <a16:creationId xmlns:a16="http://schemas.microsoft.com/office/drawing/2014/main" id="{03B026C9-9A6A-04D5-3C87-CC5317495CBD}"/>
              </a:ext>
            </a:extLst>
          </p:cNvPr>
          <p:cNvSpPr/>
          <p:nvPr/>
        </p:nvSpPr>
        <p:spPr>
          <a:xfrm>
            <a:off x="1089809"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8" name="TextBox 137">
            <a:extLst>
              <a:ext uri="{FF2B5EF4-FFF2-40B4-BE49-F238E27FC236}">
                <a16:creationId xmlns:a16="http://schemas.microsoft.com/office/drawing/2014/main" id="{9E915106-53F0-58AF-C956-EDB83B68D795}"/>
              </a:ext>
            </a:extLst>
          </p:cNvPr>
          <p:cNvSpPr txBox="1"/>
          <p:nvPr/>
        </p:nvSpPr>
        <p:spPr>
          <a:xfrm>
            <a:off x="1181249" y="2477262"/>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Quarterly BRP cycle. </a:t>
            </a:r>
            <a:r>
              <a:rPr lang="en-US" sz="900" noProof="0">
                <a:solidFill>
                  <a:srgbClr val="2C3E50"/>
                </a:solidFill>
                <a:latin typeface="Arial" panose="020B0604020202020204" pitchFamily="34" charset="0"/>
                <a:cs typeface="Arial" panose="020B0604020202020204" pitchFamily="34" charset="0"/>
              </a:rPr>
              <a:t>S</a:t>
            </a:r>
            <a:r>
              <a:rPr lang="en-US" sz="900" b="0" i="0" noProof="0">
                <a:solidFill>
                  <a:srgbClr val="2C3E50"/>
                </a:solidFill>
                <a:latin typeface="Arial" panose="020B0604020202020204" pitchFamily="34" charset="0"/>
                <a:cs typeface="Arial" panose="020B0604020202020204" pitchFamily="34" charset="0"/>
              </a:rPr>
              <a:t>tructured</a:t>
            </a:r>
            <a:r>
              <a:rPr lang="en-US" sz="900" b="0" i="0" noProof="0" dirty="0">
                <a:solidFill>
                  <a:srgbClr val="2C3E50"/>
                </a:solidFill>
                <a:latin typeface="Arial" panose="020B0604020202020204" pitchFamily="34" charset="0"/>
                <a:cs typeface="Arial" panose="020B0604020202020204" pitchFamily="34" charset="0"/>
              </a:rPr>
              <a:t> demand intake from P&amp;S</a:t>
            </a:r>
          </a:p>
        </p:txBody>
      </p:sp>
      <p:sp>
        <p:nvSpPr>
          <p:cNvPr id="139" name="Rectangle 138">
            <a:extLst>
              <a:ext uri="{FF2B5EF4-FFF2-40B4-BE49-F238E27FC236}">
                <a16:creationId xmlns:a16="http://schemas.microsoft.com/office/drawing/2014/main" id="{A224B567-71C7-C2A7-6B62-ECDD2AF96865}"/>
              </a:ext>
            </a:extLst>
          </p:cNvPr>
          <p:cNvSpPr/>
          <p:nvPr/>
        </p:nvSpPr>
        <p:spPr>
          <a:xfrm>
            <a:off x="3311801"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831072A1-A308-D6C0-4B15-31502B6215EE}"/>
              </a:ext>
            </a:extLst>
          </p:cNvPr>
          <p:cNvSpPr txBox="1"/>
          <p:nvPr/>
        </p:nvSpPr>
        <p:spPr>
          <a:xfrm>
            <a:off x="3403241" y="2477262"/>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PBB Canvas + Backlog Model applied at intake</a:t>
            </a:r>
          </a:p>
        </p:txBody>
      </p:sp>
      <p:sp>
        <p:nvSpPr>
          <p:cNvPr id="141" name="Rectangle 140">
            <a:extLst>
              <a:ext uri="{FF2B5EF4-FFF2-40B4-BE49-F238E27FC236}">
                <a16:creationId xmlns:a16="http://schemas.microsoft.com/office/drawing/2014/main" id="{8285BCA2-0AAE-BD67-A8D9-AA947581B4C9}"/>
              </a:ext>
            </a:extLst>
          </p:cNvPr>
          <p:cNvSpPr/>
          <p:nvPr/>
        </p:nvSpPr>
        <p:spPr>
          <a:xfrm>
            <a:off x="5533793"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2081E89C-9AAF-626B-43C0-008E51E44B06}"/>
              </a:ext>
            </a:extLst>
          </p:cNvPr>
          <p:cNvSpPr txBox="1"/>
          <p:nvPr/>
        </p:nvSpPr>
        <p:spPr>
          <a:xfrm>
            <a:off x="5625233" y="2477262"/>
            <a:ext cx="1984248" cy="292837"/>
          </a:xfrm>
          <a:prstGeom prst="rect">
            <a:avLst/>
          </a:prstGeom>
          <a:noFill/>
        </p:spPr>
        <p:txBody>
          <a:bodyPr wrap="square" lIns="0" tIns="0" rIns="0" bIns="0" anchor="t">
            <a:spAutoFit/>
          </a:bodyPr>
          <a:lstStyle/>
          <a:p>
            <a:pPr>
              <a:lnSpc>
                <a:spcPct val="110000"/>
              </a:lnSpc>
            </a:pPr>
            <a:r>
              <a:rPr lang="en-US" sz="900" noProof="0" dirty="0">
                <a:solidFill>
                  <a:srgbClr val="2C3E50"/>
                </a:solidFill>
                <a:latin typeface="Arial" panose="020B0604020202020204" pitchFamily="34" charset="0"/>
                <a:cs typeface="Arial" panose="020B0604020202020204" pitchFamily="34" charset="0"/>
              </a:rPr>
              <a:t>Portfolio Estimation Logic — formula-based scoring</a:t>
            </a:r>
            <a:endParaRPr lang="en-US" sz="900" b="0" i="0" noProof="0" dirty="0">
              <a:solidFill>
                <a:srgbClr val="2C3E50"/>
              </a:solidFill>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941249A0-3E2A-DE9E-D963-0974715D273D}"/>
              </a:ext>
            </a:extLst>
          </p:cNvPr>
          <p:cNvSpPr/>
          <p:nvPr/>
        </p:nvSpPr>
        <p:spPr>
          <a:xfrm>
            <a:off x="7755785"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932A709A-62D3-81E7-0840-F5A5BCC22305}"/>
              </a:ext>
            </a:extLst>
          </p:cNvPr>
          <p:cNvSpPr txBox="1"/>
          <p:nvPr/>
        </p:nvSpPr>
        <p:spPr>
          <a:xfrm>
            <a:off x="7847225" y="2477262"/>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Single portfolio view across P&amp;T programs</a:t>
            </a:r>
          </a:p>
        </p:txBody>
      </p:sp>
      <p:sp>
        <p:nvSpPr>
          <p:cNvPr id="145" name="Rectangle 144">
            <a:extLst>
              <a:ext uri="{FF2B5EF4-FFF2-40B4-BE49-F238E27FC236}">
                <a16:creationId xmlns:a16="http://schemas.microsoft.com/office/drawing/2014/main" id="{618DDB50-438B-8B85-9D10-127931ADBF41}"/>
              </a:ext>
            </a:extLst>
          </p:cNvPr>
          <p:cNvSpPr/>
          <p:nvPr/>
        </p:nvSpPr>
        <p:spPr>
          <a:xfrm>
            <a:off x="9977777" y="2431542"/>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FC332E1D-5E74-78C1-035E-9BB89F0574DE}"/>
              </a:ext>
            </a:extLst>
          </p:cNvPr>
          <p:cNvSpPr txBox="1"/>
          <p:nvPr/>
        </p:nvSpPr>
        <p:spPr>
          <a:xfrm>
            <a:off x="10069217" y="2477262"/>
            <a:ext cx="1591932"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Squad-based execution coordinated at BRP</a:t>
            </a:r>
          </a:p>
        </p:txBody>
      </p:sp>
      <p:sp>
        <p:nvSpPr>
          <p:cNvPr id="149" name="Rectangle 148">
            <a:extLst>
              <a:ext uri="{FF2B5EF4-FFF2-40B4-BE49-F238E27FC236}">
                <a16:creationId xmlns:a16="http://schemas.microsoft.com/office/drawing/2014/main" id="{5D28A7E1-49F3-A545-B8D2-37FAF00C0171}"/>
              </a:ext>
            </a:extLst>
          </p:cNvPr>
          <p:cNvSpPr/>
          <p:nvPr/>
        </p:nvSpPr>
        <p:spPr>
          <a:xfrm>
            <a:off x="1089809"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22BDA3C8-BB17-1E16-359C-A161037FA612}"/>
              </a:ext>
            </a:extLst>
          </p:cNvPr>
          <p:cNvSpPr txBox="1"/>
          <p:nvPr/>
        </p:nvSpPr>
        <p:spPr>
          <a:xfrm>
            <a:off x="1181249" y="3007614"/>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P&amp;S business owners (Process Improvement managers) submit through BRP</a:t>
            </a:r>
          </a:p>
        </p:txBody>
      </p:sp>
      <p:sp>
        <p:nvSpPr>
          <p:cNvPr id="151" name="Rectangle 150">
            <a:extLst>
              <a:ext uri="{FF2B5EF4-FFF2-40B4-BE49-F238E27FC236}">
                <a16:creationId xmlns:a16="http://schemas.microsoft.com/office/drawing/2014/main" id="{B033436F-F847-12B4-2A98-1A6998154B62}"/>
              </a:ext>
            </a:extLst>
          </p:cNvPr>
          <p:cNvSpPr/>
          <p:nvPr/>
        </p:nvSpPr>
        <p:spPr>
          <a:xfrm>
            <a:off x="3311801"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2" name="TextBox 151">
            <a:extLst>
              <a:ext uri="{FF2B5EF4-FFF2-40B4-BE49-F238E27FC236}">
                <a16:creationId xmlns:a16="http://schemas.microsoft.com/office/drawing/2014/main" id="{F52BF158-54A3-FF46-556B-6EC26CE39501}"/>
              </a:ext>
            </a:extLst>
          </p:cNvPr>
          <p:cNvSpPr txBox="1"/>
          <p:nvPr/>
        </p:nvSpPr>
        <p:spPr>
          <a:xfrm>
            <a:off x="3403241" y="3007614"/>
            <a:ext cx="1984248" cy="292837"/>
          </a:xfrm>
          <a:prstGeom prst="rect">
            <a:avLst/>
          </a:prstGeom>
          <a:noFill/>
        </p:spPr>
        <p:txBody>
          <a:bodyPr wrap="square" lIns="0" tIns="0" rIns="0" bIns="0" anchor="t">
            <a:spAutoFit/>
          </a:bodyPr>
          <a:lstStyle/>
          <a:p>
            <a:pPr>
              <a:lnSpc>
                <a:spcPct val="110000"/>
              </a:lnSpc>
            </a:pPr>
            <a:r>
              <a:rPr lang="en-US" sz="900" noProof="0" dirty="0">
                <a:solidFill>
                  <a:srgbClr val="2C3E50"/>
                </a:solidFill>
                <a:latin typeface="Arial" panose="020B0604020202020204" pitchFamily="34" charset="0"/>
                <a:cs typeface="Arial" panose="020B0604020202020204" pitchFamily="34" charset="0"/>
              </a:rPr>
              <a:t>Program Manager and Product Owners</a:t>
            </a:r>
            <a:endParaRPr lang="en-US" sz="900" b="0" i="0" noProof="0" dirty="0">
              <a:solidFill>
                <a:srgbClr val="2C3E50"/>
              </a:solidFill>
              <a:latin typeface="Arial" panose="020B0604020202020204" pitchFamily="34" charset="0"/>
              <a:cs typeface="Arial" panose="020B0604020202020204" pitchFamily="34" charset="0"/>
            </a:endParaRPr>
          </a:p>
        </p:txBody>
      </p:sp>
      <p:sp>
        <p:nvSpPr>
          <p:cNvPr id="153" name="Rectangle 152">
            <a:extLst>
              <a:ext uri="{FF2B5EF4-FFF2-40B4-BE49-F238E27FC236}">
                <a16:creationId xmlns:a16="http://schemas.microsoft.com/office/drawing/2014/main" id="{B5DB07BD-83D1-A8CE-53B0-5A0EA6ED7DEF}"/>
              </a:ext>
            </a:extLst>
          </p:cNvPr>
          <p:cNvSpPr/>
          <p:nvPr/>
        </p:nvSpPr>
        <p:spPr>
          <a:xfrm>
            <a:off x="5533793"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9DB9FE9F-E57A-61BE-9086-2D5FC44A5A8C}"/>
              </a:ext>
            </a:extLst>
          </p:cNvPr>
          <p:cNvSpPr txBox="1"/>
          <p:nvPr/>
        </p:nvSpPr>
        <p:spPr>
          <a:xfrm>
            <a:off x="5625233" y="3007614"/>
            <a:ext cx="1984248" cy="292837"/>
          </a:xfrm>
          <a:prstGeom prst="rect">
            <a:avLst/>
          </a:prstGeom>
          <a:noFill/>
        </p:spPr>
        <p:txBody>
          <a:bodyPr wrap="square" lIns="0" tIns="0" rIns="0" bIns="0" anchor="t">
            <a:spAutoFit/>
          </a:bodyPr>
          <a:lstStyle/>
          <a:p>
            <a:pPr>
              <a:lnSpc>
                <a:spcPct val="110000"/>
              </a:lnSpc>
            </a:pPr>
            <a:r>
              <a:rPr lang="en-US" sz="900" noProof="0" dirty="0">
                <a:solidFill>
                  <a:srgbClr val="2C3E50"/>
                </a:solidFill>
                <a:latin typeface="Arial" panose="020B0604020202020204" pitchFamily="34" charset="0"/>
                <a:cs typeface="Arial" panose="020B0604020202020204" pitchFamily="34" charset="0"/>
              </a:rPr>
              <a:t>Portfolio Manager (PFM) leads scoring with business sponsors</a:t>
            </a:r>
            <a:endParaRPr lang="en-US" sz="900" b="0" i="0" noProof="0" dirty="0">
              <a:solidFill>
                <a:srgbClr val="2C3E50"/>
              </a:solidFill>
              <a:latin typeface="Arial" panose="020B0604020202020204" pitchFamily="34" charset="0"/>
              <a:cs typeface="Arial" panose="020B0604020202020204" pitchFamily="34" charset="0"/>
            </a:endParaRPr>
          </a:p>
        </p:txBody>
      </p:sp>
      <p:sp>
        <p:nvSpPr>
          <p:cNvPr id="155" name="Rectangle 154">
            <a:extLst>
              <a:ext uri="{FF2B5EF4-FFF2-40B4-BE49-F238E27FC236}">
                <a16:creationId xmlns:a16="http://schemas.microsoft.com/office/drawing/2014/main" id="{41E8EEB7-02CC-DAC7-DC4D-BBEDD3A3ECD2}"/>
              </a:ext>
            </a:extLst>
          </p:cNvPr>
          <p:cNvSpPr/>
          <p:nvPr/>
        </p:nvSpPr>
        <p:spPr>
          <a:xfrm>
            <a:off x="7755785"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4EDD5239-E447-B870-AB39-E10AF2D45073}"/>
              </a:ext>
            </a:extLst>
          </p:cNvPr>
          <p:cNvSpPr txBox="1"/>
          <p:nvPr/>
        </p:nvSpPr>
        <p:spPr>
          <a:xfrm>
            <a:off x="7847225" y="3007614"/>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PFM owns portfolio governance end-to-end</a:t>
            </a:r>
          </a:p>
        </p:txBody>
      </p:sp>
      <p:sp>
        <p:nvSpPr>
          <p:cNvPr id="157" name="Rectangle 156">
            <a:extLst>
              <a:ext uri="{FF2B5EF4-FFF2-40B4-BE49-F238E27FC236}">
                <a16:creationId xmlns:a16="http://schemas.microsoft.com/office/drawing/2014/main" id="{EAEEEB0A-F075-C104-22AA-130516557E35}"/>
              </a:ext>
            </a:extLst>
          </p:cNvPr>
          <p:cNvSpPr/>
          <p:nvPr/>
        </p:nvSpPr>
        <p:spPr>
          <a:xfrm>
            <a:off x="9977777" y="2961894"/>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AF81C8DA-B739-9E7C-E054-BD6BD4EBEC9A}"/>
              </a:ext>
            </a:extLst>
          </p:cNvPr>
          <p:cNvSpPr txBox="1"/>
          <p:nvPr/>
        </p:nvSpPr>
        <p:spPr>
          <a:xfrm>
            <a:off x="10069217" y="3007614"/>
            <a:ext cx="1591932" cy="445186"/>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Roles &amp; Responsibilities formally aligned per BRP framework</a:t>
            </a:r>
          </a:p>
        </p:txBody>
      </p:sp>
      <p:sp>
        <p:nvSpPr>
          <p:cNvPr id="161" name="Rectangle 160">
            <a:extLst>
              <a:ext uri="{FF2B5EF4-FFF2-40B4-BE49-F238E27FC236}">
                <a16:creationId xmlns:a16="http://schemas.microsoft.com/office/drawing/2014/main" id="{B12010AD-2C56-BA1D-5BAB-25A82F161CD7}"/>
              </a:ext>
            </a:extLst>
          </p:cNvPr>
          <p:cNvSpPr/>
          <p:nvPr/>
        </p:nvSpPr>
        <p:spPr>
          <a:xfrm>
            <a:off x="1089809"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2" name="TextBox 161">
            <a:extLst>
              <a:ext uri="{FF2B5EF4-FFF2-40B4-BE49-F238E27FC236}">
                <a16:creationId xmlns:a16="http://schemas.microsoft.com/office/drawing/2014/main" id="{839D2401-38D0-81DA-ED65-6B208A1136E7}"/>
              </a:ext>
            </a:extLst>
          </p:cNvPr>
          <p:cNvSpPr txBox="1"/>
          <p:nvPr/>
        </p:nvSpPr>
        <p:spPr>
          <a:xfrm>
            <a:off x="1181249" y="3537966"/>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PBB Canvas · Backlog Model</a:t>
            </a:r>
          </a:p>
        </p:txBody>
      </p:sp>
      <p:sp>
        <p:nvSpPr>
          <p:cNvPr id="163" name="Rectangle 162">
            <a:extLst>
              <a:ext uri="{FF2B5EF4-FFF2-40B4-BE49-F238E27FC236}">
                <a16:creationId xmlns:a16="http://schemas.microsoft.com/office/drawing/2014/main" id="{1FB4CF5C-FD79-2643-B092-662291343C59}"/>
              </a:ext>
            </a:extLst>
          </p:cNvPr>
          <p:cNvSpPr/>
          <p:nvPr/>
        </p:nvSpPr>
        <p:spPr>
          <a:xfrm>
            <a:off x="3311801"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4" name="TextBox 163">
            <a:extLst>
              <a:ext uri="{FF2B5EF4-FFF2-40B4-BE49-F238E27FC236}">
                <a16:creationId xmlns:a16="http://schemas.microsoft.com/office/drawing/2014/main" id="{AD365C75-FC37-41E9-FC82-BDF7BA215E5F}"/>
              </a:ext>
            </a:extLst>
          </p:cNvPr>
          <p:cNvSpPr txBox="1"/>
          <p:nvPr/>
        </p:nvSpPr>
        <p:spPr>
          <a:xfrm>
            <a:off x="3403241" y="3537966"/>
            <a:ext cx="1984248" cy="140488"/>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Standard taxonomy applied </a:t>
            </a:r>
          </a:p>
        </p:txBody>
      </p:sp>
      <p:sp>
        <p:nvSpPr>
          <p:cNvPr id="166" name="Rectangle 165">
            <a:extLst>
              <a:ext uri="{FF2B5EF4-FFF2-40B4-BE49-F238E27FC236}">
                <a16:creationId xmlns:a16="http://schemas.microsoft.com/office/drawing/2014/main" id="{009BFC66-99CB-16AC-6B9F-FB1364BB3861}"/>
              </a:ext>
            </a:extLst>
          </p:cNvPr>
          <p:cNvSpPr/>
          <p:nvPr/>
        </p:nvSpPr>
        <p:spPr>
          <a:xfrm>
            <a:off x="5533793"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7" name="TextBox 166">
            <a:extLst>
              <a:ext uri="{FF2B5EF4-FFF2-40B4-BE49-F238E27FC236}">
                <a16:creationId xmlns:a16="http://schemas.microsoft.com/office/drawing/2014/main" id="{7118ADA0-670E-6267-8C93-E930A422881D}"/>
              </a:ext>
            </a:extLst>
          </p:cNvPr>
          <p:cNvSpPr txBox="1"/>
          <p:nvPr/>
        </p:nvSpPr>
        <p:spPr>
          <a:xfrm>
            <a:off x="5625233" y="353796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Portfolio Estimation Formula (higher-value prioritization)</a:t>
            </a:r>
          </a:p>
        </p:txBody>
      </p:sp>
      <p:sp>
        <p:nvSpPr>
          <p:cNvPr id="168" name="Rectangle 167">
            <a:extLst>
              <a:ext uri="{FF2B5EF4-FFF2-40B4-BE49-F238E27FC236}">
                <a16:creationId xmlns:a16="http://schemas.microsoft.com/office/drawing/2014/main" id="{90BE8DD6-EFC2-1533-9A49-F55A8F4E949A}"/>
              </a:ext>
            </a:extLst>
          </p:cNvPr>
          <p:cNvSpPr/>
          <p:nvPr/>
        </p:nvSpPr>
        <p:spPr>
          <a:xfrm>
            <a:off x="7755785"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8304FE72-257B-D050-7487-C3FB4F8FC38D}"/>
              </a:ext>
            </a:extLst>
          </p:cNvPr>
          <p:cNvSpPr txBox="1"/>
          <p:nvPr/>
        </p:nvSpPr>
        <p:spPr>
          <a:xfrm>
            <a:off x="7847225" y="353796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P&amp;T Programs Priorities Overview (running document)</a:t>
            </a:r>
          </a:p>
        </p:txBody>
      </p:sp>
      <p:sp>
        <p:nvSpPr>
          <p:cNvPr id="170" name="Rectangle 169">
            <a:extLst>
              <a:ext uri="{FF2B5EF4-FFF2-40B4-BE49-F238E27FC236}">
                <a16:creationId xmlns:a16="http://schemas.microsoft.com/office/drawing/2014/main" id="{3B282005-F8B5-0F4D-EA28-2E31991D696A}"/>
              </a:ext>
            </a:extLst>
          </p:cNvPr>
          <p:cNvSpPr/>
          <p:nvPr/>
        </p:nvSpPr>
        <p:spPr>
          <a:xfrm>
            <a:off x="9977777" y="3492246"/>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0258A83F-F658-5139-20C6-6C6CF9CD8D8E}"/>
              </a:ext>
            </a:extLst>
          </p:cNvPr>
          <p:cNvSpPr txBox="1"/>
          <p:nvPr/>
        </p:nvSpPr>
        <p:spPr>
          <a:xfrm>
            <a:off x="10069217" y="3537966"/>
            <a:ext cx="1591932"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BRP execution model with squads</a:t>
            </a:r>
          </a:p>
        </p:txBody>
      </p:sp>
      <p:sp>
        <p:nvSpPr>
          <p:cNvPr id="174" name="Rectangle 173">
            <a:extLst>
              <a:ext uri="{FF2B5EF4-FFF2-40B4-BE49-F238E27FC236}">
                <a16:creationId xmlns:a16="http://schemas.microsoft.com/office/drawing/2014/main" id="{4030F1BD-B4FE-F311-9A30-12A537A58EDE}"/>
              </a:ext>
            </a:extLst>
          </p:cNvPr>
          <p:cNvSpPr/>
          <p:nvPr/>
        </p:nvSpPr>
        <p:spPr>
          <a:xfrm>
            <a:off x="1089809"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5" name="TextBox 174">
            <a:extLst>
              <a:ext uri="{FF2B5EF4-FFF2-40B4-BE49-F238E27FC236}">
                <a16:creationId xmlns:a16="http://schemas.microsoft.com/office/drawing/2014/main" id="{B06E9CC1-041B-1BEE-6774-A97B98A366D4}"/>
              </a:ext>
            </a:extLst>
          </p:cNvPr>
          <p:cNvSpPr txBox="1"/>
          <p:nvPr/>
        </p:nvSpPr>
        <p:spPr>
          <a:xfrm>
            <a:off x="1181249" y="4068318"/>
            <a:ext cx="1984248" cy="140488"/>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Quarterly cadence enforced;</a:t>
            </a:r>
          </a:p>
        </p:txBody>
      </p:sp>
      <p:sp>
        <p:nvSpPr>
          <p:cNvPr id="176" name="Rectangle 175">
            <a:extLst>
              <a:ext uri="{FF2B5EF4-FFF2-40B4-BE49-F238E27FC236}">
                <a16:creationId xmlns:a16="http://schemas.microsoft.com/office/drawing/2014/main" id="{A9C2A932-D04D-F8E8-9629-39E5ED8DDC7D}"/>
              </a:ext>
            </a:extLst>
          </p:cNvPr>
          <p:cNvSpPr/>
          <p:nvPr/>
        </p:nvSpPr>
        <p:spPr>
          <a:xfrm>
            <a:off x="3311801"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7" name="TextBox 176">
            <a:extLst>
              <a:ext uri="{FF2B5EF4-FFF2-40B4-BE49-F238E27FC236}">
                <a16:creationId xmlns:a16="http://schemas.microsoft.com/office/drawing/2014/main" id="{08256BD3-9C2C-8C4E-407B-5F06D8552102}"/>
              </a:ext>
            </a:extLst>
          </p:cNvPr>
          <p:cNvSpPr txBox="1"/>
          <p:nvPr/>
        </p:nvSpPr>
        <p:spPr>
          <a:xfrm>
            <a:off x="3403241" y="4068318"/>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Standard taxonomy enforced enterprise-wide</a:t>
            </a:r>
          </a:p>
        </p:txBody>
      </p:sp>
      <p:sp>
        <p:nvSpPr>
          <p:cNvPr id="178" name="Rectangle 177">
            <a:extLst>
              <a:ext uri="{FF2B5EF4-FFF2-40B4-BE49-F238E27FC236}">
                <a16:creationId xmlns:a16="http://schemas.microsoft.com/office/drawing/2014/main" id="{F660C895-74EB-1832-7763-757B3B7283C0}"/>
              </a:ext>
            </a:extLst>
          </p:cNvPr>
          <p:cNvSpPr/>
          <p:nvPr/>
        </p:nvSpPr>
        <p:spPr>
          <a:xfrm>
            <a:off x="5533793"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9" name="TextBox 178">
            <a:extLst>
              <a:ext uri="{FF2B5EF4-FFF2-40B4-BE49-F238E27FC236}">
                <a16:creationId xmlns:a16="http://schemas.microsoft.com/office/drawing/2014/main" id="{6EF77F3B-4C78-4CDF-4090-DC8D7F60EA80}"/>
              </a:ext>
            </a:extLst>
          </p:cNvPr>
          <p:cNvSpPr txBox="1"/>
          <p:nvPr/>
        </p:nvSpPr>
        <p:spPr>
          <a:xfrm>
            <a:off x="5625233" y="4068318"/>
            <a:ext cx="1984248" cy="292837"/>
          </a:xfrm>
          <a:prstGeom prst="rect">
            <a:avLst/>
          </a:prstGeom>
          <a:noFill/>
        </p:spPr>
        <p:txBody>
          <a:bodyPr wrap="square" lIns="0" tIns="0" rIns="0" bIns="0" anchor="t">
            <a:spAutoFit/>
          </a:bodyPr>
          <a:lstStyle/>
          <a:p>
            <a:pPr>
              <a:lnSpc>
                <a:spcPct val="110000"/>
              </a:lnSpc>
            </a:pPr>
            <a:r>
              <a:rPr lang="en-US" sz="900" b="0" i="0" noProof="0" dirty="0">
                <a:solidFill>
                  <a:srgbClr val="2C3E50"/>
                </a:solidFill>
                <a:latin typeface="Arial" panose="020B0604020202020204" pitchFamily="34" charset="0"/>
                <a:cs typeface="Arial" panose="020B0604020202020204" pitchFamily="34" charset="0"/>
              </a:rPr>
              <a:t>Reviewed at every BRP — not exception-driven</a:t>
            </a:r>
          </a:p>
        </p:txBody>
      </p:sp>
      <p:sp>
        <p:nvSpPr>
          <p:cNvPr id="180" name="Rectangle 179">
            <a:extLst>
              <a:ext uri="{FF2B5EF4-FFF2-40B4-BE49-F238E27FC236}">
                <a16:creationId xmlns:a16="http://schemas.microsoft.com/office/drawing/2014/main" id="{0BC904F9-C0B3-6E7C-B3AE-C3A6CE866C69}"/>
              </a:ext>
            </a:extLst>
          </p:cNvPr>
          <p:cNvSpPr/>
          <p:nvPr/>
        </p:nvSpPr>
        <p:spPr>
          <a:xfrm>
            <a:off x="7755785"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2D69C391-AE8D-A111-424B-ED92B0616EC0}"/>
              </a:ext>
            </a:extLst>
          </p:cNvPr>
          <p:cNvSpPr txBox="1"/>
          <p:nvPr/>
        </p:nvSpPr>
        <p:spPr>
          <a:xfrm>
            <a:off x="7847225" y="4068318"/>
            <a:ext cx="1984248" cy="140488"/>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Portfolio reviewed at cadence</a:t>
            </a:r>
          </a:p>
        </p:txBody>
      </p:sp>
      <p:sp>
        <p:nvSpPr>
          <p:cNvPr id="182" name="Rectangle 181">
            <a:extLst>
              <a:ext uri="{FF2B5EF4-FFF2-40B4-BE49-F238E27FC236}">
                <a16:creationId xmlns:a16="http://schemas.microsoft.com/office/drawing/2014/main" id="{3A3AE240-E6E1-9FB8-DF38-582171E545FE}"/>
              </a:ext>
            </a:extLst>
          </p:cNvPr>
          <p:cNvSpPr/>
          <p:nvPr/>
        </p:nvSpPr>
        <p:spPr>
          <a:xfrm>
            <a:off x="9977777" y="4022598"/>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3" name="TextBox 182">
            <a:extLst>
              <a:ext uri="{FF2B5EF4-FFF2-40B4-BE49-F238E27FC236}">
                <a16:creationId xmlns:a16="http://schemas.microsoft.com/office/drawing/2014/main" id="{DC99966B-0F4A-49B6-8A35-03144EC5B95F}"/>
              </a:ext>
            </a:extLst>
          </p:cNvPr>
          <p:cNvSpPr txBox="1"/>
          <p:nvPr/>
        </p:nvSpPr>
        <p:spPr>
          <a:xfrm>
            <a:off x="10069217" y="4068318"/>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KPIs tracked per program; vendor scope governed within portfolio</a:t>
            </a:r>
          </a:p>
        </p:txBody>
      </p:sp>
      <p:sp>
        <p:nvSpPr>
          <p:cNvPr id="188" name="TextBox 187">
            <a:extLst>
              <a:ext uri="{FF2B5EF4-FFF2-40B4-BE49-F238E27FC236}">
                <a16:creationId xmlns:a16="http://schemas.microsoft.com/office/drawing/2014/main" id="{DE749BD9-E296-1ECC-D56B-3AF4DD513954}"/>
              </a:ext>
            </a:extLst>
          </p:cNvPr>
          <p:cNvSpPr txBox="1"/>
          <p:nvPr/>
        </p:nvSpPr>
        <p:spPr>
          <a:xfrm>
            <a:off x="6393329" y="4918710"/>
            <a:ext cx="5166360" cy="445186"/>
          </a:xfrm>
          <a:prstGeom prst="rect">
            <a:avLst/>
          </a:prstGeom>
          <a:noFill/>
        </p:spPr>
        <p:txBody>
          <a:bodyPr wrap="square" lIns="0" tIns="0" rIns="0" bIns="0" anchor="t">
            <a:spAutoFit/>
          </a:bodyPr>
          <a:lstStyle/>
          <a:p>
            <a:pPr>
              <a:lnSpc>
                <a:spcPct val="110000"/>
              </a:lnSpc>
            </a:pPr>
            <a:r>
              <a:rPr lang="en-US" sz="900" b="0" i="1" noProof="0" dirty="0">
                <a:solidFill>
                  <a:srgbClr val="2C3E50"/>
                </a:solidFill>
                <a:latin typeface="Arial" panose="020B0604020202020204" pitchFamily="34" charset="0"/>
                <a:cs typeface="Arial" panose="020B0604020202020204" pitchFamily="34" charset="0"/>
              </a:rPr>
              <a:t>"By 2029, P&amp;S and IT Networks aim to establish themselves as one unified collaborative team alongside business units — recognized as drivers of meaningful organizational change across Avangrid through simpler, smarter and more efficient processes." — P&amp;S / IT Networks Vision 2029</a:t>
            </a:r>
          </a:p>
        </p:txBody>
      </p:sp>
      <p:sp>
        <p:nvSpPr>
          <p:cNvPr id="189" name="TextBox 188">
            <a:extLst>
              <a:ext uri="{FF2B5EF4-FFF2-40B4-BE49-F238E27FC236}">
                <a16:creationId xmlns:a16="http://schemas.microsoft.com/office/drawing/2014/main" id="{9AB79842-4F33-2515-35C5-8D62EC07BB79}"/>
              </a:ext>
            </a:extLst>
          </p:cNvPr>
          <p:cNvSpPr txBox="1"/>
          <p:nvPr/>
        </p:nvSpPr>
        <p:spPr>
          <a:xfrm>
            <a:off x="632609" y="4918710"/>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 P&amp;S / P&amp;T have already implemented Avangrid's most mature operating model — quarterly BRP, structured backlog, portfolio estimation logic — proving the TO-BE concept exists internally </a:t>
            </a:r>
          </a:p>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 G&amp;E inherits this maturity by sitting within P&amp;T's portfolio — not a fragmentation case, but an example of what the rest of Digital Products should adopt</a:t>
            </a:r>
          </a:p>
        </p:txBody>
      </p:sp>
      <p:sp>
        <p:nvSpPr>
          <p:cNvPr id="191" name="TextBox 190">
            <a:extLst>
              <a:ext uri="{FF2B5EF4-FFF2-40B4-BE49-F238E27FC236}">
                <a16:creationId xmlns:a16="http://schemas.microsoft.com/office/drawing/2014/main" id="{CA98F99C-55FE-D679-71E4-833C780BA14E}"/>
              </a:ext>
            </a:extLst>
          </p:cNvPr>
          <p:cNvSpPr txBox="1"/>
          <p:nvPr/>
        </p:nvSpPr>
        <p:spPr>
          <a:xfrm>
            <a:off x="632609" y="5917840"/>
            <a:ext cx="10766828"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dirty="0">
                <a:solidFill>
                  <a:srgbClr val="FFFFFF"/>
                </a:solidFill>
                <a:latin typeface="Arial" panose="020B0604020202020204" pitchFamily="34" charset="0"/>
                <a:cs typeface="Arial" panose="020B0604020202020204" pitchFamily="34" charset="0"/>
              </a:rPr>
              <a:t>G&amp;E is not the canary — it is the proof point. Avangrid already runs a mature operating model</a:t>
            </a:r>
            <a:r>
              <a:rPr lang="en-US" sz="1100">
                <a:solidFill>
                  <a:srgbClr val="FFFFFF"/>
                </a:solidFill>
                <a:latin typeface="Arial" panose="020B0604020202020204" pitchFamily="34" charset="0"/>
                <a:cs typeface="Arial" panose="020B0604020202020204" pitchFamily="34" charset="0"/>
              </a:rPr>
              <a:t> due to P&amp;T involvement</a:t>
            </a:r>
            <a:r>
              <a:rPr lang="en-US" sz="1100" b="0" i="0" noProof="0" dirty="0">
                <a:solidFill>
                  <a:srgbClr val="FFFFFF"/>
                </a:solidFill>
                <a:latin typeface="Arial" panose="020B0604020202020204" pitchFamily="34" charset="0"/>
                <a:cs typeface="Arial" panose="020B0604020202020204" pitchFamily="34" charset="0"/>
              </a:rPr>
              <a:t>; the TO-BE for Digital Products is to scale this playbook across IT Business Apps and Customer Services Apps.</a:t>
            </a:r>
          </a:p>
        </p:txBody>
      </p:sp>
      <p:sp>
        <p:nvSpPr>
          <p:cNvPr id="29" name="Rounded Rectangle 14">
            <a:extLst>
              <a:ext uri="{FF2B5EF4-FFF2-40B4-BE49-F238E27FC236}">
                <a16:creationId xmlns:a16="http://schemas.microsoft.com/office/drawing/2014/main" id="{AA991ADF-115A-338D-5231-4970565968A0}"/>
              </a:ext>
            </a:extLst>
          </p:cNvPr>
          <p:cNvSpPr/>
          <p:nvPr/>
        </p:nvSpPr>
        <p:spPr>
          <a:xfrm>
            <a:off x="10279610" y="2189835"/>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4" name="Rectangle: Rounded Corners 18">
            <a:extLst>
              <a:ext uri="{FF2B5EF4-FFF2-40B4-BE49-F238E27FC236}">
                <a16:creationId xmlns:a16="http://schemas.microsoft.com/office/drawing/2014/main" id="{30E1F564-4991-52DB-D92F-2E8C8EFE3715}"/>
              </a:ext>
            </a:extLst>
          </p:cNvPr>
          <p:cNvSpPr/>
          <p:nvPr/>
        </p:nvSpPr>
        <p:spPr>
          <a:xfrm>
            <a:off x="7039633"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latin typeface="Arial" panose="020B0604020202020204" pitchFamily="34" charset="0"/>
                <a:cs typeface="Arial" panose="020B0604020202020204" pitchFamily="34" charset="0"/>
              </a:rPr>
              <a:t>IT Business Apps</a:t>
            </a:r>
          </a:p>
        </p:txBody>
      </p:sp>
      <p:sp>
        <p:nvSpPr>
          <p:cNvPr id="16" name="Rectangle: Rounded Corners 25">
            <a:extLst>
              <a:ext uri="{FF2B5EF4-FFF2-40B4-BE49-F238E27FC236}">
                <a16:creationId xmlns:a16="http://schemas.microsoft.com/office/drawing/2014/main" id="{74AEACB9-7599-06A6-C8AA-22CF4BEAE47F}"/>
              </a:ext>
            </a:extLst>
          </p:cNvPr>
          <p:cNvSpPr/>
          <p:nvPr/>
        </p:nvSpPr>
        <p:spPr>
          <a:xfrm>
            <a:off x="8771785"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38" name="Rounded Rectangle 26">
            <a:extLst>
              <a:ext uri="{FF2B5EF4-FFF2-40B4-BE49-F238E27FC236}">
                <a16:creationId xmlns:a16="http://schemas.microsoft.com/office/drawing/2014/main" id="{4BE2196F-B387-F683-A9C0-532CBD14F680}"/>
              </a:ext>
            </a:extLst>
          </p:cNvPr>
          <p:cNvSpPr/>
          <p:nvPr/>
        </p:nvSpPr>
        <p:spPr>
          <a:xfrm>
            <a:off x="10302157" y="2184844"/>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TextBox 133">
            <a:extLst>
              <a:ext uri="{FF2B5EF4-FFF2-40B4-BE49-F238E27FC236}">
                <a16:creationId xmlns:a16="http://schemas.microsoft.com/office/drawing/2014/main" id="{EFF0348C-EBF3-5BDD-FB33-F8FB22E12ABE}"/>
              </a:ext>
            </a:extLst>
          </p:cNvPr>
          <p:cNvSpPr txBox="1"/>
          <p:nvPr/>
        </p:nvSpPr>
        <p:spPr>
          <a:xfrm>
            <a:off x="10316543" y="2209395"/>
            <a:ext cx="1082894"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endParaRPr lang="en-US" sz="900" b="1" noProof="0" dirty="0">
              <a:solidFill>
                <a:srgbClr val="FFFFFF"/>
              </a:solidFill>
              <a:latin typeface="Arial" panose="020B0604020202020204" pitchFamily="34" charset="0"/>
              <a:cs typeface="Arial" panose="020B0604020202020204" pitchFamily="34" charset="0"/>
            </a:endParaRPr>
          </a:p>
        </p:txBody>
      </p:sp>
      <p:sp>
        <p:nvSpPr>
          <p:cNvPr id="40" name="Rounded Rectangle 14">
            <a:extLst>
              <a:ext uri="{FF2B5EF4-FFF2-40B4-BE49-F238E27FC236}">
                <a16:creationId xmlns:a16="http://schemas.microsoft.com/office/drawing/2014/main" id="{473F6451-8BF4-51A7-DBFD-75068883DE85}"/>
              </a:ext>
            </a:extLst>
          </p:cNvPr>
          <p:cNvSpPr/>
          <p:nvPr/>
        </p:nvSpPr>
        <p:spPr>
          <a:xfrm>
            <a:off x="1582561" y="2192433"/>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1" name="Rounded Rectangle 26">
            <a:extLst>
              <a:ext uri="{FF2B5EF4-FFF2-40B4-BE49-F238E27FC236}">
                <a16:creationId xmlns:a16="http://schemas.microsoft.com/office/drawing/2014/main" id="{4BF5F486-D6EB-8F6D-595E-5641077420BC}"/>
              </a:ext>
            </a:extLst>
          </p:cNvPr>
          <p:cNvSpPr/>
          <p:nvPr/>
        </p:nvSpPr>
        <p:spPr>
          <a:xfrm>
            <a:off x="1625742" y="2187442"/>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133">
            <a:extLst>
              <a:ext uri="{FF2B5EF4-FFF2-40B4-BE49-F238E27FC236}">
                <a16:creationId xmlns:a16="http://schemas.microsoft.com/office/drawing/2014/main" id="{57FF7AF0-ACAB-4ECA-174C-387D1324943A}"/>
              </a:ext>
            </a:extLst>
          </p:cNvPr>
          <p:cNvSpPr txBox="1"/>
          <p:nvPr/>
        </p:nvSpPr>
        <p:spPr>
          <a:xfrm>
            <a:off x="1619494" y="221199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endParaRPr lang="en-US" sz="900" b="1" noProof="0" dirty="0">
              <a:solidFill>
                <a:srgbClr val="FFFFFF"/>
              </a:solidFill>
              <a:latin typeface="Arial" panose="020B0604020202020204" pitchFamily="34" charset="0"/>
              <a:cs typeface="Arial" panose="020B0604020202020204" pitchFamily="34" charset="0"/>
            </a:endParaRPr>
          </a:p>
        </p:txBody>
      </p:sp>
      <p:sp>
        <p:nvSpPr>
          <p:cNvPr id="43" name="Rounded Rectangle 14">
            <a:extLst>
              <a:ext uri="{FF2B5EF4-FFF2-40B4-BE49-F238E27FC236}">
                <a16:creationId xmlns:a16="http://schemas.microsoft.com/office/drawing/2014/main" id="{6B95BECC-D262-DF1F-B839-9F68D6BCEDE7}"/>
              </a:ext>
            </a:extLst>
          </p:cNvPr>
          <p:cNvSpPr/>
          <p:nvPr/>
        </p:nvSpPr>
        <p:spPr>
          <a:xfrm>
            <a:off x="3804553" y="2192433"/>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4" name="Rounded Rectangle 26">
            <a:extLst>
              <a:ext uri="{FF2B5EF4-FFF2-40B4-BE49-F238E27FC236}">
                <a16:creationId xmlns:a16="http://schemas.microsoft.com/office/drawing/2014/main" id="{FB74A2EC-B4CB-A49D-2C3B-0B3FF82B45F2}"/>
              </a:ext>
            </a:extLst>
          </p:cNvPr>
          <p:cNvSpPr/>
          <p:nvPr/>
        </p:nvSpPr>
        <p:spPr>
          <a:xfrm>
            <a:off x="3847734" y="2187442"/>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133">
            <a:extLst>
              <a:ext uri="{FF2B5EF4-FFF2-40B4-BE49-F238E27FC236}">
                <a16:creationId xmlns:a16="http://schemas.microsoft.com/office/drawing/2014/main" id="{B33A2C8E-7843-C563-A4E7-03294763BC83}"/>
              </a:ext>
            </a:extLst>
          </p:cNvPr>
          <p:cNvSpPr txBox="1"/>
          <p:nvPr/>
        </p:nvSpPr>
        <p:spPr>
          <a:xfrm>
            <a:off x="3841486" y="221199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endParaRPr lang="en-US" sz="900" b="1" noProof="0" dirty="0">
              <a:solidFill>
                <a:srgbClr val="FFFFFF"/>
              </a:solidFill>
              <a:latin typeface="Arial" panose="020B0604020202020204" pitchFamily="34" charset="0"/>
              <a:cs typeface="Arial" panose="020B0604020202020204" pitchFamily="34" charset="0"/>
            </a:endParaRPr>
          </a:p>
        </p:txBody>
      </p:sp>
      <p:sp>
        <p:nvSpPr>
          <p:cNvPr id="46" name="Rounded Rectangle 14">
            <a:extLst>
              <a:ext uri="{FF2B5EF4-FFF2-40B4-BE49-F238E27FC236}">
                <a16:creationId xmlns:a16="http://schemas.microsoft.com/office/drawing/2014/main" id="{297AE554-26C0-E3CA-B54D-8D2E3223353D}"/>
              </a:ext>
            </a:extLst>
          </p:cNvPr>
          <p:cNvSpPr/>
          <p:nvPr/>
        </p:nvSpPr>
        <p:spPr>
          <a:xfrm>
            <a:off x="6059067" y="2189942"/>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7" name="Rounded Rectangle 26">
            <a:extLst>
              <a:ext uri="{FF2B5EF4-FFF2-40B4-BE49-F238E27FC236}">
                <a16:creationId xmlns:a16="http://schemas.microsoft.com/office/drawing/2014/main" id="{B918CB46-780D-1F0A-2E95-46F858F5AB02}"/>
              </a:ext>
            </a:extLst>
          </p:cNvPr>
          <p:cNvSpPr/>
          <p:nvPr/>
        </p:nvSpPr>
        <p:spPr>
          <a:xfrm>
            <a:off x="6102248" y="2184951"/>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133">
            <a:extLst>
              <a:ext uri="{FF2B5EF4-FFF2-40B4-BE49-F238E27FC236}">
                <a16:creationId xmlns:a16="http://schemas.microsoft.com/office/drawing/2014/main" id="{5C1EEA8A-6C0C-69D2-7A63-3371EC211E16}"/>
              </a:ext>
            </a:extLst>
          </p:cNvPr>
          <p:cNvSpPr txBox="1"/>
          <p:nvPr/>
        </p:nvSpPr>
        <p:spPr>
          <a:xfrm>
            <a:off x="6096000" y="2209502"/>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endParaRPr lang="en-US" sz="900" b="1" noProof="0" dirty="0">
              <a:solidFill>
                <a:srgbClr val="FFFFFF"/>
              </a:solidFill>
              <a:latin typeface="Arial" panose="020B0604020202020204" pitchFamily="34" charset="0"/>
              <a:cs typeface="Arial" panose="020B0604020202020204" pitchFamily="34" charset="0"/>
            </a:endParaRPr>
          </a:p>
        </p:txBody>
      </p:sp>
      <p:sp>
        <p:nvSpPr>
          <p:cNvPr id="49" name="Rounded Rectangle 14">
            <a:extLst>
              <a:ext uri="{FF2B5EF4-FFF2-40B4-BE49-F238E27FC236}">
                <a16:creationId xmlns:a16="http://schemas.microsoft.com/office/drawing/2014/main" id="{D4C944C8-1179-F8B2-ACA0-3830374E149D}"/>
              </a:ext>
            </a:extLst>
          </p:cNvPr>
          <p:cNvSpPr/>
          <p:nvPr/>
        </p:nvSpPr>
        <p:spPr>
          <a:xfrm>
            <a:off x="8181869" y="218720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4" name="Rounded Rectangle 26">
            <a:extLst>
              <a:ext uri="{FF2B5EF4-FFF2-40B4-BE49-F238E27FC236}">
                <a16:creationId xmlns:a16="http://schemas.microsoft.com/office/drawing/2014/main" id="{511E70EE-A913-26C2-51AD-349DCA6E6937}"/>
              </a:ext>
            </a:extLst>
          </p:cNvPr>
          <p:cNvSpPr/>
          <p:nvPr/>
        </p:nvSpPr>
        <p:spPr>
          <a:xfrm>
            <a:off x="8311039" y="2184844"/>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8" name="TextBox 133">
            <a:extLst>
              <a:ext uri="{FF2B5EF4-FFF2-40B4-BE49-F238E27FC236}">
                <a16:creationId xmlns:a16="http://schemas.microsoft.com/office/drawing/2014/main" id="{4BF9731B-0ED5-A108-B385-AEA0EC61BEED}"/>
              </a:ext>
            </a:extLst>
          </p:cNvPr>
          <p:cNvSpPr txBox="1"/>
          <p:nvPr/>
        </p:nvSpPr>
        <p:spPr>
          <a:xfrm>
            <a:off x="8302410" y="220939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endParaRPr lang="en-US" sz="900" b="1" noProof="0" dirty="0">
              <a:solidFill>
                <a:srgbClr val="FFFFFF"/>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0719C8E9-9163-6900-5335-60115B7F6A4D}"/>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35" name="Rectangle 34">
            <a:extLst>
              <a:ext uri="{FF2B5EF4-FFF2-40B4-BE49-F238E27FC236}">
                <a16:creationId xmlns:a16="http://schemas.microsoft.com/office/drawing/2014/main" id="{AEBBBF68-79EB-4E32-CF7F-EDEDF748E5EA}"/>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ACFF8502-18C8-A2BB-CEAC-BC846EC668C0}"/>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37" name="Rectangle 36">
            <a:extLst>
              <a:ext uri="{FF2B5EF4-FFF2-40B4-BE49-F238E27FC236}">
                <a16:creationId xmlns:a16="http://schemas.microsoft.com/office/drawing/2014/main" id="{FCEC7C06-2F7C-14F1-CF88-21CDB3EA2BE2}"/>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1FD55FA9-682C-130C-8CE1-BDC655FF5DA2}"/>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130" name="Rectangle 129">
            <a:extLst>
              <a:ext uri="{FF2B5EF4-FFF2-40B4-BE49-F238E27FC236}">
                <a16:creationId xmlns:a16="http://schemas.microsoft.com/office/drawing/2014/main" id="{5DD0289A-C1B8-15C7-C603-87C496D46AA4}"/>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062D5598-876D-DC97-ACA9-B59FC1E17DE3}"/>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165" name="Rectangle 164">
            <a:extLst>
              <a:ext uri="{FF2B5EF4-FFF2-40B4-BE49-F238E27FC236}">
                <a16:creationId xmlns:a16="http://schemas.microsoft.com/office/drawing/2014/main" id="{D0D61BBC-6EBF-2460-E9D2-1831ED1A2529}"/>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737B5F71-06B4-9859-B870-0010A65E7846}"/>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99" name="Rectangle 198">
            <a:extLst>
              <a:ext uri="{FF2B5EF4-FFF2-40B4-BE49-F238E27FC236}">
                <a16:creationId xmlns:a16="http://schemas.microsoft.com/office/drawing/2014/main" id="{054F4018-108E-4845-C90D-EC76B912CA08}"/>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3" name="TextBox 202">
            <a:extLst>
              <a:ext uri="{FF2B5EF4-FFF2-40B4-BE49-F238E27FC236}">
                <a16:creationId xmlns:a16="http://schemas.microsoft.com/office/drawing/2014/main" id="{66DA3584-1EB2-4CB8-5594-172D105CD36D}"/>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204" name="TextBox 203">
            <a:extLst>
              <a:ext uri="{FF2B5EF4-FFF2-40B4-BE49-F238E27FC236}">
                <a16:creationId xmlns:a16="http://schemas.microsoft.com/office/drawing/2014/main" id="{D325C666-145F-9681-5250-68DA9E5AB883}"/>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214" name="Group 213">
            <a:extLst>
              <a:ext uri="{FF2B5EF4-FFF2-40B4-BE49-F238E27FC236}">
                <a16:creationId xmlns:a16="http://schemas.microsoft.com/office/drawing/2014/main" id="{0AD032CA-1837-C07B-CFE2-D69B7B59D0DB}"/>
              </a:ext>
            </a:extLst>
          </p:cNvPr>
          <p:cNvGrpSpPr/>
          <p:nvPr/>
        </p:nvGrpSpPr>
        <p:grpSpPr>
          <a:xfrm>
            <a:off x="299553" y="2431316"/>
            <a:ext cx="770295" cy="2084832"/>
            <a:chOff x="457200" y="2440081"/>
            <a:chExt cx="594360" cy="2084832"/>
          </a:xfrm>
        </p:grpSpPr>
        <p:sp>
          <p:nvSpPr>
            <p:cNvPr id="215" name="Rectangle 214">
              <a:extLst>
                <a:ext uri="{FF2B5EF4-FFF2-40B4-BE49-F238E27FC236}">
                  <a16:creationId xmlns:a16="http://schemas.microsoft.com/office/drawing/2014/main" id="{F7212E90-49FE-3D9F-B882-78718E833EE0}"/>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12D4E6B9-B8D8-6997-E0F3-10EA48BFE82A}"/>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217" name="Rectangle 216">
              <a:extLst>
                <a:ext uri="{FF2B5EF4-FFF2-40B4-BE49-F238E27FC236}">
                  <a16:creationId xmlns:a16="http://schemas.microsoft.com/office/drawing/2014/main" id="{46CC7F79-72C3-250F-2D05-0EFA5398E956}"/>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8" name="TextBox 217">
              <a:extLst>
                <a:ext uri="{FF2B5EF4-FFF2-40B4-BE49-F238E27FC236}">
                  <a16:creationId xmlns:a16="http://schemas.microsoft.com/office/drawing/2014/main" id="{CBB6E535-78B9-0890-9147-2A371C60BF68}"/>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219" name="Rectangle 218">
              <a:extLst>
                <a:ext uri="{FF2B5EF4-FFF2-40B4-BE49-F238E27FC236}">
                  <a16:creationId xmlns:a16="http://schemas.microsoft.com/office/drawing/2014/main" id="{DD8F5376-2315-649A-F78A-B457C9C8A522}"/>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B350B734-4A26-8946-B1FC-9B6FB4A86686}"/>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221" name="Rectangle 220">
              <a:extLst>
                <a:ext uri="{FF2B5EF4-FFF2-40B4-BE49-F238E27FC236}">
                  <a16:creationId xmlns:a16="http://schemas.microsoft.com/office/drawing/2014/main" id="{05BF9A34-05F0-C171-B6D2-6A9758675154}"/>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2" name="TextBox 221">
              <a:extLst>
                <a:ext uri="{FF2B5EF4-FFF2-40B4-BE49-F238E27FC236}">
                  <a16:creationId xmlns:a16="http://schemas.microsoft.com/office/drawing/2014/main" id="{442CC062-0326-8309-4187-4DECE88A45A1}"/>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223" name="CuadroTexto 204">
            <a:extLst>
              <a:ext uri="{FF2B5EF4-FFF2-40B4-BE49-F238E27FC236}">
                <a16:creationId xmlns:a16="http://schemas.microsoft.com/office/drawing/2014/main" id="{A99B1809-DA03-8147-FB4B-460E482DEACB}"/>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G&amp;E inherits Avangrid's most mature operating model with quarterly BRP, structured backlog and portfolio estimation already in place</a:t>
            </a:r>
            <a:endParaRPr lang="en-US" b="0"/>
          </a:p>
        </p:txBody>
      </p:sp>
      <p:sp>
        <p:nvSpPr>
          <p:cNvPr id="224" name="Rectangle 223">
            <a:extLst>
              <a:ext uri="{FF2B5EF4-FFF2-40B4-BE49-F238E27FC236}">
                <a16:creationId xmlns:a16="http://schemas.microsoft.com/office/drawing/2014/main" id="{BB92B2B5-2867-0410-DFBE-3EBF86D7F66E}"/>
              </a:ext>
            </a:extLst>
          </p:cNvPr>
          <p:cNvSpPr/>
          <p:nvPr/>
        </p:nvSpPr>
        <p:spPr>
          <a:xfrm>
            <a:off x="457200" y="1415953"/>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5" name="Rectangle 224">
            <a:extLst>
              <a:ext uri="{FF2B5EF4-FFF2-40B4-BE49-F238E27FC236}">
                <a16:creationId xmlns:a16="http://schemas.microsoft.com/office/drawing/2014/main" id="{57D1DB11-0665-8D91-B72F-744D0246F16F}"/>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TextBox 225">
            <a:extLst>
              <a:ext uri="{FF2B5EF4-FFF2-40B4-BE49-F238E27FC236}">
                <a16:creationId xmlns:a16="http://schemas.microsoft.com/office/drawing/2014/main" id="{7D8A67EF-B4B5-5D2A-1080-74DC524A7A19}"/>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227" name="TextBox 226">
            <a:extLst>
              <a:ext uri="{FF2B5EF4-FFF2-40B4-BE49-F238E27FC236}">
                <a16:creationId xmlns:a16="http://schemas.microsoft.com/office/drawing/2014/main" id="{E0DD7C72-5F62-45FC-46AD-4BE269EF53E6}"/>
              </a:ext>
            </a:extLst>
          </p:cNvPr>
          <p:cNvSpPr txBox="1"/>
          <p:nvPr/>
        </p:nvSpPr>
        <p:spPr>
          <a:xfrm>
            <a:off x="2377440" y="1483318"/>
            <a:ext cx="9281160" cy="139590"/>
          </a:xfrm>
          <a:prstGeom prst="rect">
            <a:avLst/>
          </a:prstGeom>
          <a:noFill/>
        </p:spPr>
        <p:txBody>
          <a:bodyPr wrap="square" lIns="0" tIns="0" rIns="0" bIns="0" anchor="ctr">
            <a:spAutoFit/>
          </a:bodyPr>
          <a:lstStyle/>
          <a:p>
            <a:r>
              <a:rPr lang="en-US" sz="900">
                <a:solidFill>
                  <a:schemeClr val="bg1"/>
                </a:solidFill>
                <a:latin typeface="Arial" panose="020B0604020202020204" pitchFamily="34" charset="0"/>
                <a:cs typeface="Arial" panose="020B0604020202020204" pitchFamily="34" charset="0"/>
              </a:rPr>
              <a:t>P&amp;S  · Electric &amp; Gas Operations · Field Services · Outage Management · Regulatory</a:t>
            </a:r>
          </a:p>
        </p:txBody>
      </p:sp>
    </p:spTree>
    <p:extLst>
      <p:ext uri="{BB962C8B-B14F-4D97-AF65-F5344CB8AC3E}">
        <p14:creationId xmlns:p14="http://schemas.microsoft.com/office/powerpoint/2010/main" val="2478465707"/>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D07A6-81CF-ED45-71ED-164984AC4031}"/>
            </a:ext>
          </a:extLst>
        </p:cNvPr>
        <p:cNvGrpSpPr/>
        <p:nvPr/>
      </p:nvGrpSpPr>
      <p:grpSpPr>
        <a:xfrm>
          <a:off x="0" y="0"/>
          <a:ext cx="0" cy="0"/>
          <a:chOff x="0" y="0"/>
          <a:chExt cx="0" cy="0"/>
        </a:xfrm>
      </p:grpSpPr>
      <p:sp>
        <p:nvSpPr>
          <p:cNvPr id="135" name="Rectangle 134">
            <a:extLst>
              <a:ext uri="{FF2B5EF4-FFF2-40B4-BE49-F238E27FC236}">
                <a16:creationId xmlns:a16="http://schemas.microsoft.com/office/drawing/2014/main" id="{D9B24648-9C49-5517-A07A-C825D448DF74}"/>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3415CF05-32EB-BDE7-62A2-ED6A2A103C16}"/>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6" name="Rectangle 15">
            <a:extLst>
              <a:ext uri="{FF2B5EF4-FFF2-40B4-BE49-F238E27FC236}">
                <a16:creationId xmlns:a16="http://schemas.microsoft.com/office/drawing/2014/main" id="{49C08E27-0A09-CEE8-D2F8-B20A1A31A1E0}"/>
              </a:ext>
            </a:extLst>
          </p:cNvPr>
          <p:cNvSpPr/>
          <p:nvPr/>
        </p:nvSpPr>
        <p:spPr>
          <a:xfrm>
            <a:off x="457200" y="1407211"/>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9F94A319-08BF-1782-128C-E71C5E16CFAC}"/>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A8F5F18-3315-CB62-CEAD-3B88786D8B49}"/>
              </a:ext>
            </a:extLst>
          </p:cNvPr>
          <p:cNvSpPr txBox="1"/>
          <p:nvPr/>
        </p:nvSpPr>
        <p:spPr>
          <a:xfrm>
            <a:off x="457200" y="1474127"/>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19" name="TextBox 18">
            <a:extLst>
              <a:ext uri="{FF2B5EF4-FFF2-40B4-BE49-F238E27FC236}">
                <a16:creationId xmlns:a16="http://schemas.microsoft.com/office/drawing/2014/main" id="{7A69397F-9DE4-E3B3-8043-F5B6ECD162D5}"/>
              </a:ext>
            </a:extLst>
          </p:cNvPr>
          <p:cNvSpPr txBox="1"/>
          <p:nvPr/>
        </p:nvSpPr>
        <p:spPr>
          <a:xfrm>
            <a:off x="2377440" y="1474127"/>
            <a:ext cx="9281160" cy="140488"/>
          </a:xfrm>
          <a:prstGeom prst="rect">
            <a:avLst/>
          </a:prstGeom>
          <a:no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Iberdrola Finance · Controlling · Procurement · Vendor</a:t>
            </a:r>
          </a:p>
        </p:txBody>
      </p:sp>
      <p:sp>
        <p:nvSpPr>
          <p:cNvPr id="42" name="Rectangle 41">
            <a:extLst>
              <a:ext uri="{FF2B5EF4-FFF2-40B4-BE49-F238E27FC236}">
                <a16:creationId xmlns:a16="http://schemas.microsoft.com/office/drawing/2014/main" id="{86F0FE47-51A2-2C1F-ADB2-3877F9F5DBC3}"/>
              </a:ext>
            </a:extLst>
          </p:cNvPr>
          <p:cNvSpPr/>
          <p:nvPr/>
        </p:nvSpPr>
        <p:spPr>
          <a:xfrm>
            <a:off x="1097280"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E8DA5030-564B-58FE-30BA-505E340F1456}"/>
              </a:ext>
            </a:extLst>
          </p:cNvPr>
          <p:cNvSpPr txBox="1"/>
          <p:nvPr/>
        </p:nvSpPr>
        <p:spPr>
          <a:xfrm>
            <a:off x="1188720" y="2486687"/>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(Incidents) · RITM (Minor) · Jira (Small Demands) · SharePoint + Teams (Projects)</a:t>
            </a:r>
          </a:p>
        </p:txBody>
      </p:sp>
      <p:sp>
        <p:nvSpPr>
          <p:cNvPr id="44" name="Rectangle 43">
            <a:extLst>
              <a:ext uri="{FF2B5EF4-FFF2-40B4-BE49-F238E27FC236}">
                <a16:creationId xmlns:a16="http://schemas.microsoft.com/office/drawing/2014/main" id="{FC305FDF-B19F-DAAB-69FD-9D7B8B0D136C}"/>
              </a:ext>
            </a:extLst>
          </p:cNvPr>
          <p:cNvSpPr/>
          <p:nvPr/>
        </p:nvSpPr>
        <p:spPr>
          <a:xfrm>
            <a:off x="3319272"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C72A773F-3CD7-D644-A1F3-CC277E854F62}"/>
              </a:ext>
            </a:extLst>
          </p:cNvPr>
          <p:cNvSpPr txBox="1"/>
          <p:nvPr/>
        </p:nvSpPr>
        <p:spPr>
          <a:xfrm>
            <a:off x="3410712" y="2486687"/>
            <a:ext cx="1984248" cy="29335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Small: JIRA · Minor: RITM · Major: SharePoint </a:t>
            </a:r>
          </a:p>
        </p:txBody>
      </p:sp>
      <p:sp>
        <p:nvSpPr>
          <p:cNvPr id="46" name="Rectangle 45">
            <a:extLst>
              <a:ext uri="{FF2B5EF4-FFF2-40B4-BE49-F238E27FC236}">
                <a16:creationId xmlns:a16="http://schemas.microsoft.com/office/drawing/2014/main" id="{DC2AB727-A3F8-3647-4AC6-59C13EC04C9E}"/>
              </a:ext>
            </a:extLst>
          </p:cNvPr>
          <p:cNvSpPr/>
          <p:nvPr/>
        </p:nvSpPr>
        <p:spPr>
          <a:xfrm>
            <a:off x="5541264"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DFC5A220-CA69-1E16-19D0-980ADFA4B6D5}"/>
              </a:ext>
            </a:extLst>
          </p:cNvPr>
          <p:cNvSpPr txBox="1"/>
          <p:nvPr/>
        </p:nvSpPr>
        <p:spPr>
          <a:xfrm>
            <a:off x="5632704" y="248668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#1 Incidents always first; #2 Small + Major; P&amp;T prioritizes projects</a:t>
            </a:r>
          </a:p>
        </p:txBody>
      </p:sp>
      <p:sp>
        <p:nvSpPr>
          <p:cNvPr id="48" name="Rectangle 47">
            <a:extLst>
              <a:ext uri="{FF2B5EF4-FFF2-40B4-BE49-F238E27FC236}">
                <a16:creationId xmlns:a16="http://schemas.microsoft.com/office/drawing/2014/main" id="{88A8976B-C90F-42AE-04AE-734193179383}"/>
              </a:ext>
            </a:extLst>
          </p:cNvPr>
          <p:cNvSpPr/>
          <p:nvPr/>
        </p:nvSpPr>
        <p:spPr>
          <a:xfrm>
            <a:off x="7763256"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228E7014-97DA-C0FF-4EFA-ECD0AC6164D8}"/>
              </a:ext>
            </a:extLst>
          </p:cNvPr>
          <p:cNvSpPr txBox="1"/>
          <p:nvPr/>
        </p:nvSpPr>
        <p:spPr>
          <a:xfrm>
            <a:off x="7854696" y="248668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for major projects; SharePoint is project home</a:t>
            </a:r>
          </a:p>
        </p:txBody>
      </p:sp>
      <p:sp>
        <p:nvSpPr>
          <p:cNvPr id="165" name="Rectangle 164">
            <a:extLst>
              <a:ext uri="{FF2B5EF4-FFF2-40B4-BE49-F238E27FC236}">
                <a16:creationId xmlns:a16="http://schemas.microsoft.com/office/drawing/2014/main" id="{4FE75387-1EEF-8AF8-7FAF-CCFB336B2A8C}"/>
              </a:ext>
            </a:extLst>
          </p:cNvPr>
          <p:cNvSpPr/>
          <p:nvPr/>
        </p:nvSpPr>
        <p:spPr>
          <a:xfrm>
            <a:off x="9985248" y="2440967"/>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5" name="Rectangle 194">
            <a:extLst>
              <a:ext uri="{FF2B5EF4-FFF2-40B4-BE49-F238E27FC236}">
                <a16:creationId xmlns:a16="http://schemas.microsoft.com/office/drawing/2014/main" id="{067C3345-5561-BADC-075E-52CF7D1E06D6}"/>
              </a:ext>
            </a:extLst>
          </p:cNvPr>
          <p:cNvSpPr/>
          <p:nvPr/>
        </p:nvSpPr>
        <p:spPr>
          <a:xfrm>
            <a:off x="1097280"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047217D1-20AD-52C8-26DA-FBCA47DDD843}"/>
              </a:ext>
            </a:extLst>
          </p:cNvPr>
          <p:cNvSpPr txBox="1"/>
          <p:nvPr/>
        </p:nvSpPr>
        <p:spPr>
          <a:xfrm>
            <a:off x="1188720"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users open tickets; Global SAP team receives</a:t>
            </a:r>
          </a:p>
        </p:txBody>
      </p:sp>
      <p:sp>
        <p:nvSpPr>
          <p:cNvPr id="197" name="Rectangle 196">
            <a:extLst>
              <a:ext uri="{FF2B5EF4-FFF2-40B4-BE49-F238E27FC236}">
                <a16:creationId xmlns:a16="http://schemas.microsoft.com/office/drawing/2014/main" id="{8E6CEAF3-1561-1039-9CFE-5CE37D9B5A78}"/>
              </a:ext>
            </a:extLst>
          </p:cNvPr>
          <p:cNvSpPr/>
          <p:nvPr/>
        </p:nvSpPr>
        <p:spPr>
          <a:xfrm>
            <a:off x="3319272"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TextBox 197">
            <a:extLst>
              <a:ext uri="{FF2B5EF4-FFF2-40B4-BE49-F238E27FC236}">
                <a16:creationId xmlns:a16="http://schemas.microsoft.com/office/drawing/2014/main" id="{66A05DE9-FF1A-D8FB-BE7A-62F7F6BBE3CF}"/>
              </a:ext>
            </a:extLst>
          </p:cNvPr>
          <p:cNvSpPr txBox="1"/>
          <p:nvPr/>
        </p:nvSpPr>
        <p:spPr>
          <a:xfrm>
            <a:off x="3410712"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Classification is tool-driven — channel = classification</a:t>
            </a:r>
          </a:p>
        </p:txBody>
      </p:sp>
      <p:sp>
        <p:nvSpPr>
          <p:cNvPr id="199" name="Rectangle 198">
            <a:extLst>
              <a:ext uri="{FF2B5EF4-FFF2-40B4-BE49-F238E27FC236}">
                <a16:creationId xmlns:a16="http://schemas.microsoft.com/office/drawing/2014/main" id="{DACFE4CE-8414-613B-324A-9323F84CAF10}"/>
              </a:ext>
            </a:extLst>
          </p:cNvPr>
          <p:cNvSpPr/>
          <p:nvPr/>
        </p:nvSpPr>
        <p:spPr>
          <a:xfrm>
            <a:off x="5541264"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0" name="TextBox 199">
            <a:extLst>
              <a:ext uri="{FF2B5EF4-FFF2-40B4-BE49-F238E27FC236}">
                <a16:creationId xmlns:a16="http://schemas.microsoft.com/office/drawing/2014/main" id="{C7DD9DB3-7456-189A-25AD-3D2FF539E0AE}"/>
              </a:ext>
            </a:extLst>
          </p:cNvPr>
          <p:cNvSpPr txBox="1"/>
          <p:nvPr/>
        </p:nvSpPr>
        <p:spPr>
          <a:xfrm>
            <a:off x="5632704"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Leader prioritizes + leadership call incidents first; P&amp;T helps with projects</a:t>
            </a:r>
          </a:p>
        </p:txBody>
      </p:sp>
      <p:sp>
        <p:nvSpPr>
          <p:cNvPr id="201" name="Rectangle 200">
            <a:extLst>
              <a:ext uri="{FF2B5EF4-FFF2-40B4-BE49-F238E27FC236}">
                <a16:creationId xmlns:a16="http://schemas.microsoft.com/office/drawing/2014/main" id="{BE64B67E-F49D-9136-0A17-8F9A3DF806DF}"/>
              </a:ext>
            </a:extLst>
          </p:cNvPr>
          <p:cNvSpPr/>
          <p:nvPr/>
        </p:nvSpPr>
        <p:spPr>
          <a:xfrm>
            <a:off x="7763256"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41B3A6E4-E4A1-DC3E-1E3F-019BFA82D87B}"/>
              </a:ext>
            </a:extLst>
          </p:cNvPr>
          <p:cNvSpPr txBox="1"/>
          <p:nvPr/>
        </p:nvSpPr>
        <p:spPr>
          <a:xfrm>
            <a:off x="7854696"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Leader owns weekly incident review (Thursday, with Accenture)</a:t>
            </a:r>
          </a:p>
        </p:txBody>
      </p:sp>
      <p:sp>
        <p:nvSpPr>
          <p:cNvPr id="203" name="Rectangle 202">
            <a:extLst>
              <a:ext uri="{FF2B5EF4-FFF2-40B4-BE49-F238E27FC236}">
                <a16:creationId xmlns:a16="http://schemas.microsoft.com/office/drawing/2014/main" id="{41FECA4F-9F5A-38FA-35FB-DF0C2281D93D}"/>
              </a:ext>
            </a:extLst>
          </p:cNvPr>
          <p:cNvSpPr/>
          <p:nvPr/>
        </p:nvSpPr>
        <p:spPr>
          <a:xfrm>
            <a:off x="9985248" y="297131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D014C6F9-4461-A182-13CF-208B15A7FD81}"/>
              </a:ext>
            </a:extLst>
          </p:cNvPr>
          <p:cNvSpPr txBox="1"/>
          <p:nvPr/>
        </p:nvSpPr>
        <p:spPr>
          <a:xfrm>
            <a:off x="10076688" y="3017039"/>
            <a:ext cx="159912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a:t>
            </a:r>
            <a:r>
              <a:rPr lang="en-US" sz="900" noProof="0">
                <a:solidFill>
                  <a:srgbClr val="2C3E50"/>
                </a:solidFill>
                <a:latin typeface="Arial" panose="020B0604020202020204" pitchFamily="34" charset="0"/>
                <a:cs typeface="Arial" panose="020B0604020202020204" pitchFamily="34" charset="0"/>
              </a:rPr>
              <a:t>for </a:t>
            </a:r>
            <a:r>
              <a:rPr lang="en-US" sz="900" b="0" i="0" noProof="0">
                <a:solidFill>
                  <a:srgbClr val="2C3E50"/>
                </a:solidFill>
                <a:latin typeface="Arial" panose="020B0604020202020204" pitchFamily="34" charset="0"/>
                <a:cs typeface="Arial" panose="020B0604020202020204" pitchFamily="34" charset="0"/>
              </a:rPr>
              <a:t>incidents; SWF for  projects; P&amp;T for intermediary</a:t>
            </a:r>
          </a:p>
        </p:txBody>
      </p:sp>
      <p:sp>
        <p:nvSpPr>
          <p:cNvPr id="207" name="Rectangle 206">
            <a:extLst>
              <a:ext uri="{FF2B5EF4-FFF2-40B4-BE49-F238E27FC236}">
                <a16:creationId xmlns:a16="http://schemas.microsoft.com/office/drawing/2014/main" id="{34237500-9B02-9DB9-1D0D-D686060BA950}"/>
              </a:ext>
            </a:extLst>
          </p:cNvPr>
          <p:cNvSpPr/>
          <p:nvPr/>
        </p:nvSpPr>
        <p:spPr>
          <a:xfrm>
            <a:off x="1097280"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C95F942A-0965-4BDB-6299-92B49609ECAD}"/>
              </a:ext>
            </a:extLst>
          </p:cNvPr>
          <p:cNvSpPr txBox="1"/>
          <p:nvPr/>
        </p:nvSpPr>
        <p:spPr>
          <a:xfrm>
            <a:off x="1188720" y="354739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IT Now RITM · Jira · SharePoint · Teams</a:t>
            </a:r>
          </a:p>
        </p:txBody>
      </p:sp>
      <p:sp>
        <p:nvSpPr>
          <p:cNvPr id="209" name="Rectangle 208">
            <a:extLst>
              <a:ext uri="{FF2B5EF4-FFF2-40B4-BE49-F238E27FC236}">
                <a16:creationId xmlns:a16="http://schemas.microsoft.com/office/drawing/2014/main" id="{2C7CD807-7835-4849-6EA3-A5C530FD4EEC}"/>
              </a:ext>
            </a:extLst>
          </p:cNvPr>
          <p:cNvSpPr/>
          <p:nvPr/>
        </p:nvSpPr>
        <p:spPr>
          <a:xfrm>
            <a:off x="3319272"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0" name="TextBox 209">
            <a:extLst>
              <a:ext uri="{FF2B5EF4-FFF2-40B4-BE49-F238E27FC236}">
                <a16:creationId xmlns:a16="http://schemas.microsoft.com/office/drawing/2014/main" id="{1AA5EF70-D234-B849-3577-FDF6D261A952}"/>
              </a:ext>
            </a:extLst>
          </p:cNvPr>
          <p:cNvSpPr txBox="1"/>
          <p:nvPr/>
        </p:nvSpPr>
        <p:spPr>
          <a:xfrm>
            <a:off x="3410712" y="354739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Jira + SharePoint (by channel)</a:t>
            </a:r>
          </a:p>
        </p:txBody>
      </p:sp>
      <p:sp>
        <p:nvSpPr>
          <p:cNvPr id="211" name="Rectangle 210">
            <a:extLst>
              <a:ext uri="{FF2B5EF4-FFF2-40B4-BE49-F238E27FC236}">
                <a16:creationId xmlns:a16="http://schemas.microsoft.com/office/drawing/2014/main" id="{D32D528F-DB74-D4CB-EAC8-088D2D6864CE}"/>
              </a:ext>
            </a:extLst>
          </p:cNvPr>
          <p:cNvSpPr/>
          <p:nvPr/>
        </p:nvSpPr>
        <p:spPr>
          <a:xfrm>
            <a:off x="5541264"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2" name="TextBox 211">
            <a:extLst>
              <a:ext uri="{FF2B5EF4-FFF2-40B4-BE49-F238E27FC236}">
                <a16:creationId xmlns:a16="http://schemas.microsoft.com/office/drawing/2014/main" id="{EA09B40A-28FD-D877-9EE1-96CB914C7F38}"/>
              </a:ext>
            </a:extLst>
          </p:cNvPr>
          <p:cNvSpPr txBox="1"/>
          <p:nvPr/>
        </p:nvSpPr>
        <p:spPr>
          <a:xfrm>
            <a:off x="5632704" y="3547391"/>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incidents-first rule</a:t>
            </a:r>
          </a:p>
        </p:txBody>
      </p:sp>
      <p:sp>
        <p:nvSpPr>
          <p:cNvPr id="213" name="Rectangle 212">
            <a:extLst>
              <a:ext uri="{FF2B5EF4-FFF2-40B4-BE49-F238E27FC236}">
                <a16:creationId xmlns:a16="http://schemas.microsoft.com/office/drawing/2014/main" id="{47FF50E7-23A2-F85E-7FFD-4845554BCB8B}"/>
              </a:ext>
            </a:extLst>
          </p:cNvPr>
          <p:cNvSpPr/>
          <p:nvPr/>
        </p:nvSpPr>
        <p:spPr>
          <a:xfrm>
            <a:off x="7763256"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4" name="TextBox 213">
            <a:extLst>
              <a:ext uri="{FF2B5EF4-FFF2-40B4-BE49-F238E27FC236}">
                <a16:creationId xmlns:a16="http://schemas.microsoft.com/office/drawing/2014/main" id="{42ABF091-B17C-B46C-68F5-010B0C1F1A9A}"/>
              </a:ext>
            </a:extLst>
          </p:cNvPr>
          <p:cNvSpPr txBox="1"/>
          <p:nvPr/>
        </p:nvSpPr>
        <p:spPr>
          <a:xfrm>
            <a:off x="7854696" y="3547391"/>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SharePoint (projects) + PDD (approval) + Thursday incident meeting</a:t>
            </a:r>
          </a:p>
        </p:txBody>
      </p:sp>
      <p:sp>
        <p:nvSpPr>
          <p:cNvPr id="215" name="Rectangle 214">
            <a:extLst>
              <a:ext uri="{FF2B5EF4-FFF2-40B4-BE49-F238E27FC236}">
                <a16:creationId xmlns:a16="http://schemas.microsoft.com/office/drawing/2014/main" id="{D22E16B7-4997-A92E-E816-0C46F6E0840C}"/>
              </a:ext>
            </a:extLst>
          </p:cNvPr>
          <p:cNvSpPr/>
          <p:nvPr/>
        </p:nvSpPr>
        <p:spPr>
          <a:xfrm>
            <a:off x="9985248" y="350167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28FDB84B-2A5F-7F07-C8DE-D1A87BBF3709}"/>
              </a:ext>
            </a:extLst>
          </p:cNvPr>
          <p:cNvSpPr txBox="1"/>
          <p:nvPr/>
        </p:nvSpPr>
        <p:spPr>
          <a:xfrm>
            <a:off x="10076688" y="3547391"/>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Vendors delivery stack + SWF pipeline</a:t>
            </a:r>
          </a:p>
        </p:txBody>
      </p:sp>
      <p:sp>
        <p:nvSpPr>
          <p:cNvPr id="219" name="Rectangle 218">
            <a:extLst>
              <a:ext uri="{FF2B5EF4-FFF2-40B4-BE49-F238E27FC236}">
                <a16:creationId xmlns:a16="http://schemas.microsoft.com/office/drawing/2014/main" id="{160C10AB-66C2-9DEB-7F8A-0BD3D1AABA30}"/>
              </a:ext>
            </a:extLst>
          </p:cNvPr>
          <p:cNvSpPr/>
          <p:nvPr/>
        </p:nvSpPr>
        <p:spPr>
          <a:xfrm>
            <a:off x="1097280"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8822E6E5-6B4D-D04A-707F-4758340A9CD9}"/>
              </a:ext>
            </a:extLst>
          </p:cNvPr>
          <p:cNvSpPr txBox="1"/>
          <p:nvPr/>
        </p:nvSpPr>
        <p:spPr>
          <a:xfrm>
            <a:off x="1188720"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Strongest channel taxonomy in the org — but tuned for incidents</a:t>
            </a:r>
          </a:p>
        </p:txBody>
      </p:sp>
      <p:sp>
        <p:nvSpPr>
          <p:cNvPr id="221" name="Rectangle 220">
            <a:extLst>
              <a:ext uri="{FF2B5EF4-FFF2-40B4-BE49-F238E27FC236}">
                <a16:creationId xmlns:a16="http://schemas.microsoft.com/office/drawing/2014/main" id="{CFA8042C-7AF2-C045-54AC-8EBCC5810497}"/>
              </a:ext>
            </a:extLst>
          </p:cNvPr>
          <p:cNvSpPr/>
          <p:nvPr/>
        </p:nvSpPr>
        <p:spPr>
          <a:xfrm>
            <a:off x="3319272"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2" name="TextBox 221">
            <a:extLst>
              <a:ext uri="{FF2B5EF4-FFF2-40B4-BE49-F238E27FC236}">
                <a16:creationId xmlns:a16="http://schemas.microsoft.com/office/drawing/2014/main" id="{263D9A23-B6CC-F474-8816-AFC34D3E6C61}"/>
              </a:ext>
            </a:extLst>
          </p:cNvPr>
          <p:cNvSpPr txBox="1"/>
          <p:nvPr/>
        </p:nvSpPr>
        <p:spPr>
          <a:xfrm>
            <a:off x="3410712"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Channel taxonomy = de-facto classification</a:t>
            </a:r>
          </a:p>
        </p:txBody>
      </p:sp>
      <p:sp>
        <p:nvSpPr>
          <p:cNvPr id="223" name="Rectangle 222">
            <a:extLst>
              <a:ext uri="{FF2B5EF4-FFF2-40B4-BE49-F238E27FC236}">
                <a16:creationId xmlns:a16="http://schemas.microsoft.com/office/drawing/2014/main" id="{B650E6E7-A8B0-F6F9-7929-99358B7799AB}"/>
              </a:ext>
            </a:extLst>
          </p:cNvPr>
          <p:cNvSpPr/>
          <p:nvPr/>
        </p:nvSpPr>
        <p:spPr>
          <a:xfrm>
            <a:off x="5541264"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4" name="TextBox 223">
            <a:extLst>
              <a:ext uri="{FF2B5EF4-FFF2-40B4-BE49-F238E27FC236}">
                <a16:creationId xmlns:a16="http://schemas.microsoft.com/office/drawing/2014/main" id="{123B1E4B-07AE-7AC1-21FA-E901AF09234A}"/>
              </a:ext>
            </a:extLst>
          </p:cNvPr>
          <p:cNvSpPr txBox="1"/>
          <p:nvPr/>
        </p:nvSpPr>
        <p:spPr>
          <a:xfrm>
            <a:off x="5632704"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 volume caps strategic capacity ("entire team on incidents")</a:t>
            </a:r>
          </a:p>
        </p:txBody>
      </p:sp>
      <p:sp>
        <p:nvSpPr>
          <p:cNvPr id="225" name="Rectangle 224">
            <a:extLst>
              <a:ext uri="{FF2B5EF4-FFF2-40B4-BE49-F238E27FC236}">
                <a16:creationId xmlns:a16="http://schemas.microsoft.com/office/drawing/2014/main" id="{5DAA7841-FEF3-2D6E-4BDF-3BFE5F036EED}"/>
              </a:ext>
            </a:extLst>
          </p:cNvPr>
          <p:cNvSpPr/>
          <p:nvPr/>
        </p:nvSpPr>
        <p:spPr>
          <a:xfrm>
            <a:off x="7763256"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TextBox 225">
            <a:extLst>
              <a:ext uri="{FF2B5EF4-FFF2-40B4-BE49-F238E27FC236}">
                <a16:creationId xmlns:a16="http://schemas.microsoft.com/office/drawing/2014/main" id="{FBDFA8DC-7386-94B0-1D39-832AA1115DD5}"/>
              </a:ext>
            </a:extLst>
          </p:cNvPr>
          <p:cNvSpPr txBox="1"/>
          <p:nvPr/>
        </p:nvSpPr>
        <p:spPr>
          <a:xfrm>
            <a:off x="7854696"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Weekly Vendor incident review governs incidents; projects via PDD</a:t>
            </a:r>
          </a:p>
        </p:txBody>
      </p:sp>
      <p:sp>
        <p:nvSpPr>
          <p:cNvPr id="227" name="Rectangle 226">
            <a:extLst>
              <a:ext uri="{FF2B5EF4-FFF2-40B4-BE49-F238E27FC236}">
                <a16:creationId xmlns:a16="http://schemas.microsoft.com/office/drawing/2014/main" id="{CBD84EDA-A669-BB18-EE58-8C0BBDCE9970}"/>
              </a:ext>
            </a:extLst>
          </p:cNvPr>
          <p:cNvSpPr/>
          <p:nvPr/>
        </p:nvSpPr>
        <p:spPr>
          <a:xfrm>
            <a:off x="9985248" y="403202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8" name="TextBox 227">
            <a:extLst>
              <a:ext uri="{FF2B5EF4-FFF2-40B4-BE49-F238E27FC236}">
                <a16:creationId xmlns:a16="http://schemas.microsoft.com/office/drawing/2014/main" id="{DE637EC0-E6B6-1354-CEB8-C21C37678F15}"/>
              </a:ext>
            </a:extLst>
          </p:cNvPr>
          <p:cNvSpPr txBox="1"/>
          <p:nvPr/>
        </p:nvSpPr>
        <p:spPr>
          <a:xfrm>
            <a:off x="10076688" y="407774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Knowledge transfer loss at every turnover — 1-year hiring lag</a:t>
            </a:r>
          </a:p>
        </p:txBody>
      </p:sp>
      <p:sp>
        <p:nvSpPr>
          <p:cNvPr id="229" name="Rectangle 228">
            <a:extLst>
              <a:ext uri="{FF2B5EF4-FFF2-40B4-BE49-F238E27FC236}">
                <a16:creationId xmlns:a16="http://schemas.microsoft.com/office/drawing/2014/main" id="{EC058882-B5DE-AE33-98B0-7CDFA3BDE115}"/>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0" name="Rectangle 229">
            <a:extLst>
              <a:ext uri="{FF2B5EF4-FFF2-40B4-BE49-F238E27FC236}">
                <a16:creationId xmlns:a16="http://schemas.microsoft.com/office/drawing/2014/main" id="{EAE8306B-B5FF-59CF-2A6A-33B7CCDDF78E}"/>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3" name="TextBox 232">
            <a:extLst>
              <a:ext uri="{FF2B5EF4-FFF2-40B4-BE49-F238E27FC236}">
                <a16:creationId xmlns:a16="http://schemas.microsoft.com/office/drawing/2014/main" id="{4D037B71-3D8E-B44A-E8FB-09706B605CE3}"/>
              </a:ext>
            </a:extLst>
          </p:cNvPr>
          <p:cNvSpPr txBox="1"/>
          <p:nvPr/>
        </p:nvSpPr>
        <p:spPr>
          <a:xfrm>
            <a:off x="6400800" y="4880510"/>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"Balance all the demands: Incidents, Small Demands, Major projects (PDD). Limited resources — 1 year to hire someone" — Michael Dubois</a:t>
            </a:r>
          </a:p>
        </p:txBody>
      </p:sp>
      <p:sp>
        <p:nvSpPr>
          <p:cNvPr id="234" name="TextBox 233">
            <a:extLst>
              <a:ext uri="{FF2B5EF4-FFF2-40B4-BE49-F238E27FC236}">
                <a16:creationId xmlns:a16="http://schemas.microsoft.com/office/drawing/2014/main" id="{248993F9-0CC6-0FEF-1B5A-041653CA8CBD}"/>
              </a:ext>
            </a:extLst>
          </p:cNvPr>
          <p:cNvSpPr txBox="1"/>
          <p:nvPr/>
        </p:nvSpPr>
        <p:spPr>
          <a:xfrm>
            <a:off x="640080" y="4880510"/>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Channel taxonomy is the strongest in the organization — but it was designed around incidents, not strategic demand as it has most of the demand</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Incidents-first rule means strategic work enters a de-facto waiting queue — hiring lag (1 year) keeps the queue deep</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Vendor + SWF dependency is the hidden scaling mechanism — cost and knowledge concentrate outside Avangrid</a:t>
            </a:r>
          </a:p>
        </p:txBody>
      </p:sp>
      <p:sp>
        <p:nvSpPr>
          <p:cNvPr id="235" name="Rectangle 234">
            <a:extLst>
              <a:ext uri="{FF2B5EF4-FFF2-40B4-BE49-F238E27FC236}">
                <a16:creationId xmlns:a16="http://schemas.microsoft.com/office/drawing/2014/main" id="{2FB9B276-C386-BF64-4E5A-FA3BE5E3E7C2}"/>
              </a:ext>
            </a:extLst>
          </p:cNvPr>
          <p:cNvSpPr/>
          <p:nvPr/>
        </p:nvSpPr>
        <p:spPr>
          <a:xfrm>
            <a:off x="457200" y="587492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6" name="TextBox 235">
            <a:extLst>
              <a:ext uri="{FF2B5EF4-FFF2-40B4-BE49-F238E27FC236}">
                <a16:creationId xmlns:a16="http://schemas.microsoft.com/office/drawing/2014/main" id="{E11E0E72-2880-1E47-4CCF-3DBC9F8754F0}"/>
              </a:ext>
            </a:extLst>
          </p:cNvPr>
          <p:cNvSpPr txBox="1"/>
          <p:nvPr/>
        </p:nvSpPr>
        <p:spPr>
          <a:xfrm>
            <a:off x="685800" y="604049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Global SAP's channel taxonomy - incident flood caps strategic capacity; reducing incident load is the leverage point</a:t>
            </a:r>
          </a:p>
        </p:txBody>
      </p:sp>
      <p:sp>
        <p:nvSpPr>
          <p:cNvPr id="2" name="Rounded Rectangle 14">
            <a:extLst>
              <a:ext uri="{FF2B5EF4-FFF2-40B4-BE49-F238E27FC236}">
                <a16:creationId xmlns:a16="http://schemas.microsoft.com/office/drawing/2014/main" id="{C3130423-2B7A-63FA-388B-AFCD8C41698E}"/>
              </a:ext>
            </a:extLst>
          </p:cNvPr>
          <p:cNvSpPr/>
          <p:nvPr/>
        </p:nvSpPr>
        <p:spPr>
          <a:xfrm>
            <a:off x="6098525" y="2201647"/>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 name="Rounded Rectangle 26">
            <a:extLst>
              <a:ext uri="{FF2B5EF4-FFF2-40B4-BE49-F238E27FC236}">
                <a16:creationId xmlns:a16="http://schemas.microsoft.com/office/drawing/2014/main" id="{3CADE2D0-8C6E-F594-AF7D-C99C9420B366}"/>
              </a:ext>
            </a:extLst>
          </p:cNvPr>
          <p:cNvSpPr/>
          <p:nvPr/>
        </p:nvSpPr>
        <p:spPr>
          <a:xfrm>
            <a:off x="6093476" y="2191923"/>
            <a:ext cx="1102329"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TextBox 133">
            <a:extLst>
              <a:ext uri="{FF2B5EF4-FFF2-40B4-BE49-F238E27FC236}">
                <a16:creationId xmlns:a16="http://schemas.microsoft.com/office/drawing/2014/main" id="{A496429D-3263-4CE5-70D6-FB6C297907A1}"/>
              </a:ext>
            </a:extLst>
          </p:cNvPr>
          <p:cNvSpPr txBox="1"/>
          <p:nvPr/>
        </p:nvSpPr>
        <p:spPr>
          <a:xfrm>
            <a:off x="6098525" y="221076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8" name="Rectangle: Rounded Corners 18">
            <a:extLst>
              <a:ext uri="{FF2B5EF4-FFF2-40B4-BE49-F238E27FC236}">
                <a16:creationId xmlns:a16="http://schemas.microsoft.com/office/drawing/2014/main" id="{BD5C7F18-5266-92A1-3EA4-CEFB7D51588F}"/>
              </a:ext>
            </a:extLst>
          </p:cNvPr>
          <p:cNvSpPr/>
          <p:nvPr/>
        </p:nvSpPr>
        <p:spPr>
          <a:xfrm>
            <a:off x="7039633"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latin typeface="Arial" panose="020B0604020202020204" pitchFamily="34" charset="0"/>
                <a:cs typeface="Arial" panose="020B0604020202020204" pitchFamily="34" charset="0"/>
              </a:rPr>
              <a:t>IT Business Apps</a:t>
            </a:r>
          </a:p>
        </p:txBody>
      </p:sp>
      <p:sp>
        <p:nvSpPr>
          <p:cNvPr id="11" name="Rectangle: Rounded Corners 25">
            <a:extLst>
              <a:ext uri="{FF2B5EF4-FFF2-40B4-BE49-F238E27FC236}">
                <a16:creationId xmlns:a16="http://schemas.microsoft.com/office/drawing/2014/main" id="{F21A00C3-CC96-B5A5-50A1-ED8C60425267}"/>
              </a:ext>
            </a:extLst>
          </p:cNvPr>
          <p:cNvSpPr/>
          <p:nvPr/>
        </p:nvSpPr>
        <p:spPr>
          <a:xfrm>
            <a:off x="8771785"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9" name="TextBox 8">
            <a:extLst>
              <a:ext uri="{FF2B5EF4-FFF2-40B4-BE49-F238E27FC236}">
                <a16:creationId xmlns:a16="http://schemas.microsoft.com/office/drawing/2014/main" id="{8D2C74B2-8DA9-5EF7-A374-EED002958558}"/>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54" name="Rectangle 53">
            <a:extLst>
              <a:ext uri="{FF2B5EF4-FFF2-40B4-BE49-F238E27FC236}">
                <a16:creationId xmlns:a16="http://schemas.microsoft.com/office/drawing/2014/main" id="{CEFD379C-BB38-4D2A-53BD-DDEF05DCB3A7}"/>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567838F2-4970-8255-3569-ADD74EE8787A}"/>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6" name="Rectangle 55">
            <a:extLst>
              <a:ext uri="{FF2B5EF4-FFF2-40B4-BE49-F238E27FC236}">
                <a16:creationId xmlns:a16="http://schemas.microsoft.com/office/drawing/2014/main" id="{7A523743-6B37-C126-DE83-A42159756AA7}"/>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D7D7610-AD37-4FBC-2712-AA549DB1088F}"/>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8" name="Rectangle 57">
            <a:extLst>
              <a:ext uri="{FF2B5EF4-FFF2-40B4-BE49-F238E27FC236}">
                <a16:creationId xmlns:a16="http://schemas.microsoft.com/office/drawing/2014/main" id="{092EC4DF-15E0-70C9-CF7A-CACFFDDE75B5}"/>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9" name="TextBox 58">
            <a:extLst>
              <a:ext uri="{FF2B5EF4-FFF2-40B4-BE49-F238E27FC236}">
                <a16:creationId xmlns:a16="http://schemas.microsoft.com/office/drawing/2014/main" id="{75D6EC32-DC2A-6518-CC18-6BC9535F10FB}"/>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0" name="Rectangle 59">
            <a:extLst>
              <a:ext uri="{FF2B5EF4-FFF2-40B4-BE49-F238E27FC236}">
                <a16:creationId xmlns:a16="http://schemas.microsoft.com/office/drawing/2014/main" id="{97F3B7E7-D4A2-49E0-EDDA-7C527BC4427D}"/>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52334F40-5061-B328-8DEF-DE2C6540AE9B}"/>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62" name="TextBox 61">
            <a:extLst>
              <a:ext uri="{FF2B5EF4-FFF2-40B4-BE49-F238E27FC236}">
                <a16:creationId xmlns:a16="http://schemas.microsoft.com/office/drawing/2014/main" id="{16C28C78-CDCD-C193-099A-845268B3C676}"/>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63" name="Rounded Rectangle 26">
            <a:extLst>
              <a:ext uri="{FF2B5EF4-FFF2-40B4-BE49-F238E27FC236}">
                <a16:creationId xmlns:a16="http://schemas.microsoft.com/office/drawing/2014/main" id="{FC6FFC93-12C8-2EB9-A9B5-6E7021F3F6E7}"/>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33">
            <a:extLst>
              <a:ext uri="{FF2B5EF4-FFF2-40B4-BE49-F238E27FC236}">
                <a16:creationId xmlns:a16="http://schemas.microsoft.com/office/drawing/2014/main" id="{CD97176D-6F38-5E64-622D-455AA97E3994}"/>
              </a:ext>
            </a:extLst>
          </p:cNvPr>
          <p:cNvSpPr txBox="1"/>
          <p:nvPr/>
        </p:nvSpPr>
        <p:spPr>
          <a:xfrm>
            <a:off x="3848049" y="222070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29" name="Rounded Rectangle 26">
            <a:extLst>
              <a:ext uri="{FF2B5EF4-FFF2-40B4-BE49-F238E27FC236}">
                <a16:creationId xmlns:a16="http://schemas.microsoft.com/office/drawing/2014/main" id="{F427935E-2E47-AB58-87A9-1CEA5D4C4112}"/>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0" name="TextBox 133">
            <a:extLst>
              <a:ext uri="{FF2B5EF4-FFF2-40B4-BE49-F238E27FC236}">
                <a16:creationId xmlns:a16="http://schemas.microsoft.com/office/drawing/2014/main" id="{A9E09A28-C24F-9562-46C7-B7F7255DE6D0}"/>
              </a:ext>
            </a:extLst>
          </p:cNvPr>
          <p:cNvSpPr txBox="1"/>
          <p:nvPr/>
        </p:nvSpPr>
        <p:spPr>
          <a:xfrm>
            <a:off x="1626057" y="2212630"/>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31" name="Rounded Rectangle 26">
            <a:extLst>
              <a:ext uri="{FF2B5EF4-FFF2-40B4-BE49-F238E27FC236}">
                <a16:creationId xmlns:a16="http://schemas.microsoft.com/office/drawing/2014/main" id="{CBDA588E-EDB6-7131-1981-7137EBCF0FE8}"/>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2" name="TextBox 133">
            <a:extLst>
              <a:ext uri="{FF2B5EF4-FFF2-40B4-BE49-F238E27FC236}">
                <a16:creationId xmlns:a16="http://schemas.microsoft.com/office/drawing/2014/main" id="{6685BAEF-F59E-3C1A-BFD2-B74957A5B164}"/>
              </a:ext>
            </a:extLst>
          </p:cNvPr>
          <p:cNvSpPr txBox="1"/>
          <p:nvPr/>
        </p:nvSpPr>
        <p:spPr>
          <a:xfrm>
            <a:off x="8335381" y="221518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33" name="Rounded Rectangle 26">
            <a:extLst>
              <a:ext uri="{FF2B5EF4-FFF2-40B4-BE49-F238E27FC236}">
                <a16:creationId xmlns:a16="http://schemas.microsoft.com/office/drawing/2014/main" id="{567ED06B-F7FA-87C6-6F79-526C5B0815C2}"/>
              </a:ext>
            </a:extLst>
          </p:cNvPr>
          <p:cNvSpPr/>
          <p:nvPr/>
        </p:nvSpPr>
        <p:spPr>
          <a:xfrm>
            <a:off x="10308601" y="2191839"/>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1E36B6E4-9C22-37B7-CCEA-984538BA270D}"/>
              </a:ext>
            </a:extLst>
          </p:cNvPr>
          <p:cNvSpPr txBox="1"/>
          <p:nvPr/>
        </p:nvSpPr>
        <p:spPr>
          <a:xfrm>
            <a:off x="10308560" y="221141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41" name="TextBox 140">
            <a:extLst>
              <a:ext uri="{FF2B5EF4-FFF2-40B4-BE49-F238E27FC236}">
                <a16:creationId xmlns:a16="http://schemas.microsoft.com/office/drawing/2014/main" id="{5854D326-CAAD-5642-580D-5A5069E9CD43}"/>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42" name="TextBox 141">
            <a:extLst>
              <a:ext uri="{FF2B5EF4-FFF2-40B4-BE49-F238E27FC236}">
                <a16:creationId xmlns:a16="http://schemas.microsoft.com/office/drawing/2014/main" id="{A510A834-5AFD-B91C-62F8-AFD4FFBBE550}"/>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152" name="Group 151">
            <a:extLst>
              <a:ext uri="{FF2B5EF4-FFF2-40B4-BE49-F238E27FC236}">
                <a16:creationId xmlns:a16="http://schemas.microsoft.com/office/drawing/2014/main" id="{03C7F45C-FAE8-5D83-54CB-3951E0C52D6D}"/>
              </a:ext>
            </a:extLst>
          </p:cNvPr>
          <p:cNvGrpSpPr/>
          <p:nvPr/>
        </p:nvGrpSpPr>
        <p:grpSpPr>
          <a:xfrm>
            <a:off x="299553" y="2431316"/>
            <a:ext cx="770295" cy="2084832"/>
            <a:chOff x="457200" y="2440081"/>
            <a:chExt cx="594360" cy="2084832"/>
          </a:xfrm>
        </p:grpSpPr>
        <p:sp>
          <p:nvSpPr>
            <p:cNvPr id="153" name="Rectangle 152">
              <a:extLst>
                <a:ext uri="{FF2B5EF4-FFF2-40B4-BE49-F238E27FC236}">
                  <a16:creationId xmlns:a16="http://schemas.microsoft.com/office/drawing/2014/main" id="{D9A4DD67-3316-2BAD-3F94-62FD775D3470}"/>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C9020932-7D68-B26C-165D-2357A4978BCD}"/>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155" name="Rectangle 154">
              <a:extLst>
                <a:ext uri="{FF2B5EF4-FFF2-40B4-BE49-F238E27FC236}">
                  <a16:creationId xmlns:a16="http://schemas.microsoft.com/office/drawing/2014/main" id="{B9103B2F-6E64-B85E-B303-B8094AD60FC5}"/>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8C1B1484-DAB1-CCD3-BBAF-778DC60C9780}"/>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157" name="Rectangle 156">
              <a:extLst>
                <a:ext uri="{FF2B5EF4-FFF2-40B4-BE49-F238E27FC236}">
                  <a16:creationId xmlns:a16="http://schemas.microsoft.com/office/drawing/2014/main" id="{2E86D7FA-3058-227B-C9D1-5AF02ACA55FC}"/>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469E7BC4-F446-DDDE-988E-C28ACF5A0155}"/>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159" name="Rectangle 158">
              <a:extLst>
                <a:ext uri="{FF2B5EF4-FFF2-40B4-BE49-F238E27FC236}">
                  <a16:creationId xmlns:a16="http://schemas.microsoft.com/office/drawing/2014/main" id="{86DB9B1C-9F8B-A34E-B7D6-CCD3F4F2CA0C}"/>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0" name="TextBox 159">
              <a:extLst>
                <a:ext uri="{FF2B5EF4-FFF2-40B4-BE49-F238E27FC236}">
                  <a16:creationId xmlns:a16="http://schemas.microsoft.com/office/drawing/2014/main" id="{71133902-F262-6DC6-00A0-7A1073301BD3}"/>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162" name="CuadroTexto 204">
            <a:extLst>
              <a:ext uri="{FF2B5EF4-FFF2-40B4-BE49-F238E27FC236}">
                <a16:creationId xmlns:a16="http://schemas.microsoft.com/office/drawing/2014/main" id="{3D1E56BF-FA2E-AC2A-EEA0-2A7C46A60D21}"/>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Global SAP — Iberdrola has the most mature channel taxonomy — but is trapped by incident overload</a:t>
            </a:r>
          </a:p>
        </p:txBody>
      </p:sp>
    </p:spTree>
    <p:extLst>
      <p:ext uri="{BB962C8B-B14F-4D97-AF65-F5344CB8AC3E}">
        <p14:creationId xmlns:p14="http://schemas.microsoft.com/office/powerpoint/2010/main" val="529001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44DB-CEF6-52DC-54CB-4F3713D6D41B}"/>
            </a:ext>
          </a:extLst>
        </p:cNvPr>
        <p:cNvGrpSpPr/>
        <p:nvPr/>
      </p:nvGrpSpPr>
      <p:grpSpPr>
        <a:xfrm>
          <a:off x="0" y="0"/>
          <a:ext cx="0" cy="0"/>
          <a:chOff x="0" y="0"/>
          <a:chExt cx="0" cy="0"/>
        </a:xfrm>
      </p:grpSpPr>
      <p:sp>
        <p:nvSpPr>
          <p:cNvPr id="62" name="Rectangle 61">
            <a:extLst>
              <a:ext uri="{FF2B5EF4-FFF2-40B4-BE49-F238E27FC236}">
                <a16:creationId xmlns:a16="http://schemas.microsoft.com/office/drawing/2014/main" id="{80BD6233-2DEC-C605-6D6D-E32E642344B8}"/>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3B3B9A40-53FD-9DA6-981A-61FEF0D9EB51}"/>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5" name="Rectangle 164">
            <a:extLst>
              <a:ext uri="{FF2B5EF4-FFF2-40B4-BE49-F238E27FC236}">
                <a16:creationId xmlns:a16="http://schemas.microsoft.com/office/drawing/2014/main" id="{4F3859DD-675F-ED86-9CC8-100131C014AD}"/>
              </a:ext>
            </a:extLst>
          </p:cNvPr>
          <p:cNvSpPr/>
          <p:nvPr/>
        </p:nvSpPr>
        <p:spPr>
          <a:xfrm>
            <a:off x="457200" y="587492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F3F0487B-E565-214F-F63A-1AB0553E0ED1}"/>
              </a:ext>
            </a:extLst>
          </p:cNvPr>
          <p:cNvSpPr/>
          <p:nvPr/>
        </p:nvSpPr>
        <p:spPr>
          <a:xfrm>
            <a:off x="457200" y="1407211"/>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7DD195DF-0135-F754-40A5-1CF3B8DE4396}"/>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20" name="Rounded Rectangle 26">
            <a:extLst>
              <a:ext uri="{FF2B5EF4-FFF2-40B4-BE49-F238E27FC236}">
                <a16:creationId xmlns:a16="http://schemas.microsoft.com/office/drawing/2014/main" id="{7F61E22E-C42A-0B24-FD55-5AE5E3383FDD}"/>
              </a:ext>
            </a:extLst>
          </p:cNvPr>
          <p:cNvSpPr/>
          <p:nvPr/>
        </p:nvSpPr>
        <p:spPr>
          <a:xfrm>
            <a:off x="6097269" y="2203657"/>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49F2B58B-E0D7-36C9-982F-F8C5FA7C1E9D}"/>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6" name="TextBox 5">
            <a:extLst>
              <a:ext uri="{FF2B5EF4-FFF2-40B4-BE49-F238E27FC236}">
                <a16:creationId xmlns:a16="http://schemas.microsoft.com/office/drawing/2014/main" id="{A27B427C-F789-E4C2-D5F3-ABEA8CC29F69}"/>
              </a:ext>
            </a:extLst>
          </p:cNvPr>
          <p:cNvSpPr txBox="1"/>
          <p:nvPr/>
        </p:nvSpPr>
        <p:spPr>
          <a:xfrm>
            <a:off x="457199" y="1470589"/>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8" name="TextBox 7">
            <a:extLst>
              <a:ext uri="{FF2B5EF4-FFF2-40B4-BE49-F238E27FC236}">
                <a16:creationId xmlns:a16="http://schemas.microsoft.com/office/drawing/2014/main" id="{1A9E4361-285B-CC22-9BBA-44B713DA91DF}"/>
              </a:ext>
            </a:extLst>
          </p:cNvPr>
          <p:cNvSpPr txBox="1"/>
          <p:nvPr/>
        </p:nvSpPr>
        <p:spPr>
          <a:xfrm>
            <a:off x="2377439" y="1470589"/>
            <a:ext cx="9281160" cy="140488"/>
          </a:xfrm>
          <a:prstGeom prst="rect">
            <a:avLst/>
          </a:prstGeom>
          <a:no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Customer Ops · Field Services · Billing · BRS · Vendors</a:t>
            </a:r>
          </a:p>
        </p:txBody>
      </p:sp>
      <p:sp>
        <p:nvSpPr>
          <p:cNvPr id="55" name="TextBox 54">
            <a:extLst>
              <a:ext uri="{FF2B5EF4-FFF2-40B4-BE49-F238E27FC236}">
                <a16:creationId xmlns:a16="http://schemas.microsoft.com/office/drawing/2014/main" id="{CCEB99B3-542D-FF36-F18A-13C6BC7E1A94}"/>
              </a:ext>
            </a:extLst>
          </p:cNvPr>
          <p:cNvSpPr txBox="1"/>
          <p:nvPr/>
        </p:nvSpPr>
        <p:spPr>
          <a:xfrm>
            <a:off x="6096000" y="2225909"/>
            <a:ext cx="1097280" cy="140488"/>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Arial" panose="020B0604020202020204" pitchFamily="34" charset="0"/>
                <a:cs typeface="Arial" panose="020B0604020202020204" pitchFamily="34" charset="0"/>
              </a:rPr>
              <a:t>PARTIAL</a:t>
            </a:r>
          </a:p>
        </p:txBody>
      </p:sp>
      <p:sp>
        <p:nvSpPr>
          <p:cNvPr id="130" name="Rectangle 129">
            <a:extLst>
              <a:ext uri="{FF2B5EF4-FFF2-40B4-BE49-F238E27FC236}">
                <a16:creationId xmlns:a16="http://schemas.microsoft.com/office/drawing/2014/main" id="{B619FE6A-08FE-455B-DD12-C66E0F6CAF19}"/>
              </a:ext>
            </a:extLst>
          </p:cNvPr>
          <p:cNvSpPr/>
          <p:nvPr/>
        </p:nvSpPr>
        <p:spPr>
          <a:xfrm>
            <a:off x="1100327"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1" name="TextBox 130">
            <a:extLst>
              <a:ext uri="{FF2B5EF4-FFF2-40B4-BE49-F238E27FC236}">
                <a16:creationId xmlns:a16="http://schemas.microsoft.com/office/drawing/2014/main" id="{94FE7A73-3C39-5005-A58B-EB1264CC7D6F}"/>
              </a:ext>
            </a:extLst>
          </p:cNvPr>
          <p:cNvSpPr txBox="1"/>
          <p:nvPr/>
        </p:nvSpPr>
        <p:spPr>
          <a:xfrm>
            <a:off x="1191767" y="24943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demands via email (IT Now); normal flow — not seasonal</a:t>
            </a:r>
          </a:p>
        </p:txBody>
      </p:sp>
      <p:sp>
        <p:nvSpPr>
          <p:cNvPr id="132" name="Rectangle 131">
            <a:extLst>
              <a:ext uri="{FF2B5EF4-FFF2-40B4-BE49-F238E27FC236}">
                <a16:creationId xmlns:a16="http://schemas.microsoft.com/office/drawing/2014/main" id="{38A09478-3F49-5CB0-7386-238D6225F242}"/>
              </a:ext>
            </a:extLst>
          </p:cNvPr>
          <p:cNvSpPr/>
          <p:nvPr/>
        </p:nvSpPr>
        <p:spPr>
          <a:xfrm>
            <a:off x="3322319"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8D5BD6A3-194A-E173-47EF-150F1F145775}"/>
              </a:ext>
            </a:extLst>
          </p:cNvPr>
          <p:cNvSpPr txBox="1"/>
          <p:nvPr/>
        </p:nvSpPr>
        <p:spPr>
          <a:xfrm>
            <a:off x="3413759" y="2494367"/>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Incidents: IT Now template; requirements usually clear</a:t>
            </a:r>
          </a:p>
        </p:txBody>
      </p:sp>
      <p:sp>
        <p:nvSpPr>
          <p:cNvPr id="134" name="Rectangle 133">
            <a:extLst>
              <a:ext uri="{FF2B5EF4-FFF2-40B4-BE49-F238E27FC236}">
                <a16:creationId xmlns:a16="http://schemas.microsoft.com/office/drawing/2014/main" id="{D5DB579F-1D91-A89E-9DF4-938BD849E018}"/>
              </a:ext>
            </a:extLst>
          </p:cNvPr>
          <p:cNvSpPr/>
          <p:nvPr/>
        </p:nvSpPr>
        <p:spPr>
          <a:xfrm>
            <a:off x="5544311"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5" name="TextBox 134">
            <a:extLst>
              <a:ext uri="{FF2B5EF4-FFF2-40B4-BE49-F238E27FC236}">
                <a16:creationId xmlns:a16="http://schemas.microsoft.com/office/drawing/2014/main" id="{F0A935C9-0B74-290A-F8F2-A81AEC2049FC}"/>
              </a:ext>
            </a:extLst>
          </p:cNvPr>
          <p:cNvSpPr txBox="1"/>
          <p:nvPr/>
        </p:nvSpPr>
        <p:spPr>
          <a:xfrm>
            <a:off x="5635751" y="24943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Criticality + deadline + application priority</a:t>
            </a:r>
          </a:p>
        </p:txBody>
      </p:sp>
      <p:sp>
        <p:nvSpPr>
          <p:cNvPr id="136" name="Rectangle 135">
            <a:extLst>
              <a:ext uri="{FF2B5EF4-FFF2-40B4-BE49-F238E27FC236}">
                <a16:creationId xmlns:a16="http://schemas.microsoft.com/office/drawing/2014/main" id="{59002298-AD55-0577-E454-DE3E38B2A5D3}"/>
              </a:ext>
            </a:extLst>
          </p:cNvPr>
          <p:cNvSpPr/>
          <p:nvPr/>
        </p:nvSpPr>
        <p:spPr>
          <a:xfrm>
            <a:off x="7766303"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7" name="TextBox 136">
            <a:extLst>
              <a:ext uri="{FF2B5EF4-FFF2-40B4-BE49-F238E27FC236}">
                <a16:creationId xmlns:a16="http://schemas.microsoft.com/office/drawing/2014/main" id="{DEE2B568-CB2B-9B4F-D5E9-CEDE0BCA91E1}"/>
              </a:ext>
            </a:extLst>
          </p:cNvPr>
          <p:cNvSpPr txBox="1"/>
          <p:nvPr/>
        </p:nvSpPr>
        <p:spPr>
          <a:xfrm>
            <a:off x="7857743" y="24943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PPM Now (large) + Jira + Confluence (PM-to-PM)</a:t>
            </a:r>
          </a:p>
        </p:txBody>
      </p:sp>
      <p:sp>
        <p:nvSpPr>
          <p:cNvPr id="138" name="Rectangle 137">
            <a:extLst>
              <a:ext uri="{FF2B5EF4-FFF2-40B4-BE49-F238E27FC236}">
                <a16:creationId xmlns:a16="http://schemas.microsoft.com/office/drawing/2014/main" id="{6C544072-BD1B-3A2D-693F-E82E6BAC47F9}"/>
              </a:ext>
            </a:extLst>
          </p:cNvPr>
          <p:cNvSpPr/>
          <p:nvPr/>
        </p:nvSpPr>
        <p:spPr>
          <a:xfrm>
            <a:off x="9988295" y="2448647"/>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TextBox 138">
            <a:extLst>
              <a:ext uri="{FF2B5EF4-FFF2-40B4-BE49-F238E27FC236}">
                <a16:creationId xmlns:a16="http://schemas.microsoft.com/office/drawing/2014/main" id="{FDF22866-1EE2-5C28-2D0F-1232D17D5E98}"/>
              </a:ext>
            </a:extLst>
          </p:cNvPr>
          <p:cNvSpPr txBox="1"/>
          <p:nvPr/>
        </p:nvSpPr>
        <p:spPr>
          <a:xfrm>
            <a:off x="10079735" y="2494367"/>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100% vendor-delivered portfolio — vendors = consultants + code</a:t>
            </a:r>
          </a:p>
        </p:txBody>
      </p:sp>
      <p:sp>
        <p:nvSpPr>
          <p:cNvPr id="142" name="Rectangle 141">
            <a:extLst>
              <a:ext uri="{FF2B5EF4-FFF2-40B4-BE49-F238E27FC236}">
                <a16:creationId xmlns:a16="http://schemas.microsoft.com/office/drawing/2014/main" id="{325BF07C-BB99-88C0-0D0F-B8D5DE390F1C}"/>
              </a:ext>
            </a:extLst>
          </p:cNvPr>
          <p:cNvSpPr/>
          <p:nvPr/>
        </p:nvSpPr>
        <p:spPr>
          <a:xfrm>
            <a:off x="1100327"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TextBox 142">
            <a:extLst>
              <a:ext uri="{FF2B5EF4-FFF2-40B4-BE49-F238E27FC236}">
                <a16:creationId xmlns:a16="http://schemas.microsoft.com/office/drawing/2014/main" id="{2B40DB71-4449-8E9C-56A6-26582993B9E6}"/>
              </a:ext>
            </a:extLst>
          </p:cNvPr>
          <p:cNvSpPr txBox="1"/>
          <p:nvPr/>
        </p:nvSpPr>
        <p:spPr>
          <a:xfrm>
            <a:off x="1191767" y="30247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t>
            </a:r>
            <a:r>
              <a:rPr lang="en-US" sz="900" noProof="0">
                <a:solidFill>
                  <a:srgbClr val="2C3E50"/>
                </a:solidFill>
                <a:latin typeface="Arial" panose="020B0604020202020204" pitchFamily="34" charset="0"/>
                <a:cs typeface="Arial" panose="020B0604020202020204" pitchFamily="34" charset="0"/>
              </a:rPr>
              <a:t>users</a:t>
            </a:r>
            <a:r>
              <a:rPr lang="en-US" sz="900" b="0" i="0" noProof="0">
                <a:solidFill>
                  <a:srgbClr val="2C3E50"/>
                </a:solidFill>
                <a:latin typeface="Arial" panose="020B0604020202020204" pitchFamily="34" charset="0"/>
                <a:cs typeface="Arial" panose="020B0604020202020204" pitchFamily="34" charset="0"/>
              </a:rPr>
              <a:t> opens IT Now / email; Smart Metering Champion (PM) receives</a:t>
            </a:r>
          </a:p>
        </p:txBody>
      </p:sp>
      <p:sp>
        <p:nvSpPr>
          <p:cNvPr id="144" name="Rectangle 143">
            <a:extLst>
              <a:ext uri="{FF2B5EF4-FFF2-40B4-BE49-F238E27FC236}">
                <a16:creationId xmlns:a16="http://schemas.microsoft.com/office/drawing/2014/main" id="{9E166B99-536B-9C18-EE3B-1327E8454ECE}"/>
              </a:ext>
            </a:extLst>
          </p:cNvPr>
          <p:cNvSpPr/>
          <p:nvPr/>
        </p:nvSpPr>
        <p:spPr>
          <a:xfrm>
            <a:off x="3322319"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5" name="TextBox 144">
            <a:extLst>
              <a:ext uri="{FF2B5EF4-FFF2-40B4-BE49-F238E27FC236}">
                <a16:creationId xmlns:a16="http://schemas.microsoft.com/office/drawing/2014/main" id="{2A6EE7E3-F2D3-FC7D-D1AF-99229B2CE39A}"/>
              </a:ext>
            </a:extLst>
          </p:cNvPr>
          <p:cNvSpPr txBox="1"/>
          <p:nvPr/>
        </p:nvSpPr>
        <p:spPr>
          <a:xfrm>
            <a:off x="3413759" y="302471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PM + team classify by template; vendor tech lead joins</a:t>
            </a:r>
          </a:p>
        </p:txBody>
      </p:sp>
      <p:sp>
        <p:nvSpPr>
          <p:cNvPr id="146" name="Rectangle 145">
            <a:extLst>
              <a:ext uri="{FF2B5EF4-FFF2-40B4-BE49-F238E27FC236}">
                <a16:creationId xmlns:a16="http://schemas.microsoft.com/office/drawing/2014/main" id="{C192A10D-5798-BC40-F0CE-0BD045A516CE}"/>
              </a:ext>
            </a:extLst>
          </p:cNvPr>
          <p:cNvSpPr/>
          <p:nvPr/>
        </p:nvSpPr>
        <p:spPr>
          <a:xfrm>
            <a:off x="5544311"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TextBox 146">
            <a:extLst>
              <a:ext uri="{FF2B5EF4-FFF2-40B4-BE49-F238E27FC236}">
                <a16:creationId xmlns:a16="http://schemas.microsoft.com/office/drawing/2014/main" id="{392A76FD-F200-D2AF-391C-332BC90EB17B}"/>
              </a:ext>
            </a:extLst>
          </p:cNvPr>
          <p:cNvSpPr txBox="1"/>
          <p:nvPr/>
        </p:nvSpPr>
        <p:spPr>
          <a:xfrm>
            <a:off x="5635751" y="30247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PM prioritizes on deadline + criticality — "intrinsic common sense"</a:t>
            </a:r>
          </a:p>
        </p:txBody>
      </p:sp>
      <p:sp>
        <p:nvSpPr>
          <p:cNvPr id="148" name="Rectangle 147">
            <a:extLst>
              <a:ext uri="{FF2B5EF4-FFF2-40B4-BE49-F238E27FC236}">
                <a16:creationId xmlns:a16="http://schemas.microsoft.com/office/drawing/2014/main" id="{5E0C0499-D25B-2516-AEE4-887DCA4ABDF9}"/>
              </a:ext>
            </a:extLst>
          </p:cNvPr>
          <p:cNvSpPr/>
          <p:nvPr/>
        </p:nvSpPr>
        <p:spPr>
          <a:xfrm>
            <a:off x="7766303"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TextBox 148">
            <a:extLst>
              <a:ext uri="{FF2B5EF4-FFF2-40B4-BE49-F238E27FC236}">
                <a16:creationId xmlns:a16="http://schemas.microsoft.com/office/drawing/2014/main" id="{5FD93721-2EDE-7D1D-B410-E877BE629FBB}"/>
              </a:ext>
            </a:extLst>
          </p:cNvPr>
          <p:cNvSpPr txBox="1"/>
          <p:nvPr/>
        </p:nvSpPr>
        <p:spPr>
          <a:xfrm>
            <a:off x="7857743" y="30247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a:t>
            </a:r>
            <a:r>
              <a:rPr lang="en-US" sz="900" noProof="0">
                <a:solidFill>
                  <a:srgbClr val="2C3E50"/>
                </a:solidFill>
                <a:latin typeface="Arial" panose="020B0604020202020204" pitchFamily="34" charset="0"/>
                <a:cs typeface="Arial" panose="020B0604020202020204" pitchFamily="34" charset="0"/>
              </a:rPr>
              <a:t>PM</a:t>
            </a:r>
            <a:r>
              <a:rPr lang="en-US" sz="900" b="0" i="0" noProof="0">
                <a:solidFill>
                  <a:srgbClr val="2C3E50"/>
                </a:solidFill>
                <a:latin typeface="Arial" panose="020B0604020202020204" pitchFamily="34" charset="0"/>
                <a:cs typeface="Arial" panose="020B0604020202020204" pitchFamily="34" charset="0"/>
              </a:rPr>
              <a:t> + manager (weekly); vendor PMs help PMs prioritize</a:t>
            </a:r>
          </a:p>
        </p:txBody>
      </p:sp>
      <p:sp>
        <p:nvSpPr>
          <p:cNvPr id="150" name="Rectangle 149">
            <a:extLst>
              <a:ext uri="{FF2B5EF4-FFF2-40B4-BE49-F238E27FC236}">
                <a16:creationId xmlns:a16="http://schemas.microsoft.com/office/drawing/2014/main" id="{6B885EE5-DF01-DAFD-2EA1-320BCE1F04B1}"/>
              </a:ext>
            </a:extLst>
          </p:cNvPr>
          <p:cNvSpPr/>
          <p:nvPr/>
        </p:nvSpPr>
        <p:spPr>
          <a:xfrm>
            <a:off x="9988295" y="297899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1" name="TextBox 150">
            <a:extLst>
              <a:ext uri="{FF2B5EF4-FFF2-40B4-BE49-F238E27FC236}">
                <a16:creationId xmlns:a16="http://schemas.microsoft.com/office/drawing/2014/main" id="{6F092F7C-5869-EC4A-B83F-1B1D71611962}"/>
              </a:ext>
            </a:extLst>
          </p:cNvPr>
          <p:cNvSpPr txBox="1"/>
          <p:nvPr/>
        </p:nvSpPr>
        <p:spPr>
          <a:xfrm>
            <a:off x="10079735" y="3024719"/>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Vendors do requirements AND code; Avangrid = product owner</a:t>
            </a:r>
          </a:p>
        </p:txBody>
      </p:sp>
      <p:sp>
        <p:nvSpPr>
          <p:cNvPr id="154" name="Rectangle 153">
            <a:extLst>
              <a:ext uri="{FF2B5EF4-FFF2-40B4-BE49-F238E27FC236}">
                <a16:creationId xmlns:a16="http://schemas.microsoft.com/office/drawing/2014/main" id="{A7343F74-EABF-EFE3-C54A-B2C5DFC9F7CE}"/>
              </a:ext>
            </a:extLst>
          </p:cNvPr>
          <p:cNvSpPr/>
          <p:nvPr/>
        </p:nvSpPr>
        <p:spPr>
          <a:xfrm>
            <a:off x="1100327"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5" name="TextBox 154">
            <a:extLst>
              <a:ext uri="{FF2B5EF4-FFF2-40B4-BE49-F238E27FC236}">
                <a16:creationId xmlns:a16="http://schemas.microsoft.com/office/drawing/2014/main" id="{0A1FEFE4-FC6F-473B-4056-94BAE2BA17C7}"/>
              </a:ext>
            </a:extLst>
          </p:cNvPr>
          <p:cNvSpPr txBox="1"/>
          <p:nvPr/>
        </p:nvSpPr>
        <p:spPr>
          <a:xfrm>
            <a:off x="1191767"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 · IT Now (template) · occasional RITM</a:t>
            </a:r>
          </a:p>
        </p:txBody>
      </p:sp>
      <p:sp>
        <p:nvSpPr>
          <p:cNvPr id="156" name="Rectangle 155">
            <a:extLst>
              <a:ext uri="{FF2B5EF4-FFF2-40B4-BE49-F238E27FC236}">
                <a16:creationId xmlns:a16="http://schemas.microsoft.com/office/drawing/2014/main" id="{5479AAC4-A007-DB4C-DC7E-9FB5FBDD4173}"/>
              </a:ext>
            </a:extLst>
          </p:cNvPr>
          <p:cNvSpPr/>
          <p:nvPr/>
        </p:nvSpPr>
        <p:spPr>
          <a:xfrm>
            <a:off x="3322319"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7" name="TextBox 156">
            <a:extLst>
              <a:ext uri="{FF2B5EF4-FFF2-40B4-BE49-F238E27FC236}">
                <a16:creationId xmlns:a16="http://schemas.microsoft.com/office/drawing/2014/main" id="{AA03DDBA-B1FC-7529-C0CC-C3E80AD4B0F8}"/>
              </a:ext>
            </a:extLst>
          </p:cNvPr>
          <p:cNvSpPr txBox="1"/>
          <p:nvPr/>
        </p:nvSpPr>
        <p:spPr>
          <a:xfrm>
            <a:off x="3413759"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template = primary classification</a:t>
            </a:r>
          </a:p>
        </p:txBody>
      </p:sp>
      <p:sp>
        <p:nvSpPr>
          <p:cNvPr id="158" name="Rectangle 157">
            <a:extLst>
              <a:ext uri="{FF2B5EF4-FFF2-40B4-BE49-F238E27FC236}">
                <a16:creationId xmlns:a16="http://schemas.microsoft.com/office/drawing/2014/main" id="{0AD5966D-DABD-4D99-2C22-861B743A584B}"/>
              </a:ext>
            </a:extLst>
          </p:cNvPr>
          <p:cNvSpPr/>
          <p:nvPr/>
        </p:nvSpPr>
        <p:spPr>
          <a:xfrm>
            <a:off x="5544311"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9" name="TextBox 158">
            <a:extLst>
              <a:ext uri="{FF2B5EF4-FFF2-40B4-BE49-F238E27FC236}">
                <a16:creationId xmlns:a16="http://schemas.microsoft.com/office/drawing/2014/main" id="{1FF56E15-7F61-27FE-D800-BA7CFDA0EE34}"/>
              </a:ext>
            </a:extLst>
          </p:cNvPr>
          <p:cNvSpPr txBox="1"/>
          <p:nvPr/>
        </p:nvSpPr>
        <p:spPr>
          <a:xfrm>
            <a:off x="5635751"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judgment + weekly cadence</a:t>
            </a:r>
          </a:p>
        </p:txBody>
      </p:sp>
      <p:sp>
        <p:nvSpPr>
          <p:cNvPr id="160" name="Rectangle 159">
            <a:extLst>
              <a:ext uri="{FF2B5EF4-FFF2-40B4-BE49-F238E27FC236}">
                <a16:creationId xmlns:a16="http://schemas.microsoft.com/office/drawing/2014/main" id="{7BCB8361-59B5-6080-8645-D475C5140105}"/>
              </a:ext>
            </a:extLst>
          </p:cNvPr>
          <p:cNvSpPr/>
          <p:nvPr/>
        </p:nvSpPr>
        <p:spPr>
          <a:xfrm>
            <a:off x="7766303"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1" name="TextBox 160">
            <a:extLst>
              <a:ext uri="{FF2B5EF4-FFF2-40B4-BE49-F238E27FC236}">
                <a16:creationId xmlns:a16="http://schemas.microsoft.com/office/drawing/2014/main" id="{AC4780F5-1FCD-9E06-5249-089697926AE9}"/>
              </a:ext>
            </a:extLst>
          </p:cNvPr>
          <p:cNvSpPr txBox="1"/>
          <p:nvPr/>
        </p:nvSpPr>
        <p:spPr>
          <a:xfrm>
            <a:off x="7857743"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PPM Now + Confluence + Jira — most mature stack in scope</a:t>
            </a:r>
          </a:p>
        </p:txBody>
      </p:sp>
      <p:sp>
        <p:nvSpPr>
          <p:cNvPr id="162" name="Rectangle 161">
            <a:extLst>
              <a:ext uri="{FF2B5EF4-FFF2-40B4-BE49-F238E27FC236}">
                <a16:creationId xmlns:a16="http://schemas.microsoft.com/office/drawing/2014/main" id="{2C1C24BB-DDF4-3D98-68DD-B19EEC2C1BF8}"/>
              </a:ext>
            </a:extLst>
          </p:cNvPr>
          <p:cNvSpPr/>
          <p:nvPr/>
        </p:nvSpPr>
        <p:spPr>
          <a:xfrm>
            <a:off x="9988295" y="350935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3" name="TextBox 162">
            <a:extLst>
              <a:ext uri="{FF2B5EF4-FFF2-40B4-BE49-F238E27FC236}">
                <a16:creationId xmlns:a16="http://schemas.microsoft.com/office/drawing/2014/main" id="{26FEB02A-7D77-8C06-9DA0-F68EB9691064}"/>
              </a:ext>
            </a:extLst>
          </p:cNvPr>
          <p:cNvSpPr txBox="1"/>
          <p:nvPr/>
        </p:nvSpPr>
        <p:spPr>
          <a:xfrm>
            <a:off x="10079735" y="3555071"/>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stack for build; Confluence for portfolio documentation</a:t>
            </a:r>
          </a:p>
        </p:txBody>
      </p:sp>
      <p:sp>
        <p:nvSpPr>
          <p:cNvPr id="167" name="Rectangle 166">
            <a:extLst>
              <a:ext uri="{FF2B5EF4-FFF2-40B4-BE49-F238E27FC236}">
                <a16:creationId xmlns:a16="http://schemas.microsoft.com/office/drawing/2014/main" id="{D4B92487-ACCE-4F49-B06C-D1D70FB70E39}"/>
              </a:ext>
            </a:extLst>
          </p:cNvPr>
          <p:cNvSpPr/>
          <p:nvPr/>
        </p:nvSpPr>
        <p:spPr>
          <a:xfrm>
            <a:off x="1100327"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8" name="TextBox 167">
            <a:extLst>
              <a:ext uri="{FF2B5EF4-FFF2-40B4-BE49-F238E27FC236}">
                <a16:creationId xmlns:a16="http://schemas.microsoft.com/office/drawing/2014/main" id="{C1CF1764-6A7B-A742-0764-BFD597728C77}"/>
              </a:ext>
            </a:extLst>
          </p:cNvPr>
          <p:cNvSpPr txBox="1"/>
          <p:nvPr/>
        </p:nvSpPr>
        <p:spPr>
          <a:xfrm>
            <a:off x="1191767" y="4085423"/>
            <a:ext cx="1984248" cy="445186"/>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Channel-based taxonomy formalizes intake— but SLA, aging &amp; volume tracking exist only for IT Now</a:t>
            </a:r>
          </a:p>
        </p:txBody>
      </p:sp>
      <p:sp>
        <p:nvSpPr>
          <p:cNvPr id="169" name="Rectangle 168">
            <a:extLst>
              <a:ext uri="{FF2B5EF4-FFF2-40B4-BE49-F238E27FC236}">
                <a16:creationId xmlns:a16="http://schemas.microsoft.com/office/drawing/2014/main" id="{CC901BE6-8DB7-8E0A-1B83-0CCCB17DA1E3}"/>
              </a:ext>
            </a:extLst>
          </p:cNvPr>
          <p:cNvSpPr/>
          <p:nvPr/>
        </p:nvSpPr>
        <p:spPr>
          <a:xfrm>
            <a:off x="3322319"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0" name="TextBox 169">
            <a:extLst>
              <a:ext uri="{FF2B5EF4-FFF2-40B4-BE49-F238E27FC236}">
                <a16:creationId xmlns:a16="http://schemas.microsoft.com/office/drawing/2014/main" id="{5C3491FB-04DA-71A4-FB7A-9729400E105E}"/>
              </a:ext>
            </a:extLst>
          </p:cNvPr>
          <p:cNvSpPr txBox="1"/>
          <p:nvPr/>
        </p:nvSpPr>
        <p:spPr>
          <a:xfrm>
            <a:off x="3413759" y="40854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Template-based → consistent, but no cross-team view</a:t>
            </a:r>
          </a:p>
        </p:txBody>
      </p:sp>
      <p:sp>
        <p:nvSpPr>
          <p:cNvPr id="171" name="Rectangle 170">
            <a:extLst>
              <a:ext uri="{FF2B5EF4-FFF2-40B4-BE49-F238E27FC236}">
                <a16:creationId xmlns:a16="http://schemas.microsoft.com/office/drawing/2014/main" id="{070D81F1-12A2-3DC2-7D19-2EDFDBBD3AFA}"/>
              </a:ext>
            </a:extLst>
          </p:cNvPr>
          <p:cNvSpPr/>
          <p:nvPr/>
        </p:nvSpPr>
        <p:spPr>
          <a:xfrm>
            <a:off x="5544311"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2" name="TextBox 171">
            <a:extLst>
              <a:ext uri="{FF2B5EF4-FFF2-40B4-BE49-F238E27FC236}">
                <a16:creationId xmlns:a16="http://schemas.microsoft.com/office/drawing/2014/main" id="{C226FEC6-6D40-07F7-9079-009D59D19EDA}"/>
              </a:ext>
            </a:extLst>
          </p:cNvPr>
          <p:cNvSpPr txBox="1"/>
          <p:nvPr/>
        </p:nvSpPr>
        <p:spPr>
          <a:xfrm>
            <a:off x="5635751" y="40854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"Intrinsic common sense" = tribal knowledge risk</a:t>
            </a:r>
          </a:p>
        </p:txBody>
      </p:sp>
      <p:sp>
        <p:nvSpPr>
          <p:cNvPr id="173" name="Rectangle 172">
            <a:extLst>
              <a:ext uri="{FF2B5EF4-FFF2-40B4-BE49-F238E27FC236}">
                <a16:creationId xmlns:a16="http://schemas.microsoft.com/office/drawing/2014/main" id="{BA995B42-6C21-6962-3B54-FDE5F27693D5}"/>
              </a:ext>
            </a:extLst>
          </p:cNvPr>
          <p:cNvSpPr/>
          <p:nvPr/>
        </p:nvSpPr>
        <p:spPr>
          <a:xfrm>
            <a:off x="7766303"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4" name="TextBox 173">
            <a:extLst>
              <a:ext uri="{FF2B5EF4-FFF2-40B4-BE49-F238E27FC236}">
                <a16:creationId xmlns:a16="http://schemas.microsoft.com/office/drawing/2014/main" id="{65B2508B-B5BB-51A6-DE1D-9423767EDD39}"/>
              </a:ext>
            </a:extLst>
          </p:cNvPr>
          <p:cNvSpPr txBox="1"/>
          <p:nvPr/>
        </p:nvSpPr>
        <p:spPr>
          <a:xfrm>
            <a:off x="7857743" y="40854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Weekly meeting governs; PPM Now = only portfolio instance in CS branch</a:t>
            </a:r>
          </a:p>
        </p:txBody>
      </p:sp>
      <p:sp>
        <p:nvSpPr>
          <p:cNvPr id="175" name="Rectangle 174">
            <a:extLst>
              <a:ext uri="{FF2B5EF4-FFF2-40B4-BE49-F238E27FC236}">
                <a16:creationId xmlns:a16="http://schemas.microsoft.com/office/drawing/2014/main" id="{971F94BB-A19D-24C2-937B-9E8808FFD92B}"/>
              </a:ext>
            </a:extLst>
          </p:cNvPr>
          <p:cNvSpPr/>
          <p:nvPr/>
        </p:nvSpPr>
        <p:spPr>
          <a:xfrm>
            <a:off x="9988295" y="403970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6" name="TextBox 175">
            <a:extLst>
              <a:ext uri="{FF2B5EF4-FFF2-40B4-BE49-F238E27FC236}">
                <a16:creationId xmlns:a16="http://schemas.microsoft.com/office/drawing/2014/main" id="{46F1D2DF-810F-A60B-9583-7046C9D46FED}"/>
              </a:ext>
            </a:extLst>
          </p:cNvPr>
          <p:cNvSpPr txBox="1"/>
          <p:nvPr/>
        </p:nvSpPr>
        <p:spPr>
          <a:xfrm>
            <a:off x="10079735" y="408542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If vendor exits, execution knowledge is lost — 100% dependency</a:t>
            </a:r>
          </a:p>
        </p:txBody>
      </p:sp>
      <p:sp>
        <p:nvSpPr>
          <p:cNvPr id="181" name="TextBox 180">
            <a:extLst>
              <a:ext uri="{FF2B5EF4-FFF2-40B4-BE49-F238E27FC236}">
                <a16:creationId xmlns:a16="http://schemas.microsoft.com/office/drawing/2014/main" id="{04F086CC-5F7C-E04D-8678-CE3C2E393BA8}"/>
              </a:ext>
            </a:extLst>
          </p:cNvPr>
          <p:cNvSpPr txBox="1"/>
          <p:nvPr/>
        </p:nvSpPr>
        <p:spPr>
          <a:xfrm>
            <a:off x="6403847" y="4999315"/>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"All portfolio in vendor. Vendors are the consultants for the work — getting requirements on tech side, steps to follow and do the code also — all custom applications" — Smart Metering Champion (PM)</a:t>
            </a:r>
          </a:p>
        </p:txBody>
      </p:sp>
      <p:sp>
        <p:nvSpPr>
          <p:cNvPr id="182" name="TextBox 181">
            <a:extLst>
              <a:ext uri="{FF2B5EF4-FFF2-40B4-BE49-F238E27FC236}">
                <a16:creationId xmlns:a16="http://schemas.microsoft.com/office/drawing/2014/main" id="{6CCF391D-9BF2-0768-DF54-4BAB3271ADC8}"/>
              </a:ext>
            </a:extLst>
          </p:cNvPr>
          <p:cNvSpPr txBox="1"/>
          <p:nvPr/>
        </p:nvSpPr>
        <p:spPr>
          <a:xfrm>
            <a:off x="643127" y="4999315"/>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  100% vendor delivery (requirements + code) means Avangrid owns no execution knowledge — if the vendor exits, everything stops</a:t>
            </a:r>
          </a:p>
          <a:p>
            <a:pPr algn="l">
              <a:lnSpc>
                <a:spcPct val="110000"/>
              </a:lnSpc>
              <a:spcBef>
                <a:spcPts val="0"/>
              </a:spcBef>
              <a:spcAft>
                <a:spcPts val="0"/>
              </a:spcAft>
            </a:pPr>
            <a:r>
              <a:rPr lang="en-US" sz="900" b="0" i="0" noProof="0" dirty="0">
                <a:solidFill>
                  <a:srgbClr val="2C3E50"/>
                </a:solidFill>
                <a:latin typeface="Arial" panose="020B0604020202020204" pitchFamily="34" charset="0"/>
                <a:cs typeface="Arial" panose="020B0604020202020204" pitchFamily="34" charset="0"/>
              </a:rPr>
              <a:t>▸  "Intrinsic common sense" for prioritization signals tribal knowledge — works at current scale, fails on leadership transition</a:t>
            </a:r>
          </a:p>
        </p:txBody>
      </p:sp>
      <p:sp>
        <p:nvSpPr>
          <p:cNvPr id="184" name="TextBox 183">
            <a:extLst>
              <a:ext uri="{FF2B5EF4-FFF2-40B4-BE49-F238E27FC236}">
                <a16:creationId xmlns:a16="http://schemas.microsoft.com/office/drawing/2014/main" id="{84ABCCA8-52B5-60E8-191C-1C7132C15928}"/>
              </a:ext>
            </a:extLst>
          </p:cNvPr>
          <p:cNvSpPr txBox="1"/>
          <p:nvPr/>
        </p:nvSpPr>
        <p:spPr>
          <a:xfrm>
            <a:off x="685800" y="598946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Smart Metering is the most tool-mature area — but full vendor dependency and intuitive prioritization create knowledge and governance risk</a:t>
            </a:r>
          </a:p>
        </p:txBody>
      </p:sp>
      <p:sp>
        <p:nvSpPr>
          <p:cNvPr id="17" name="Rounded Rectangle 26">
            <a:extLst>
              <a:ext uri="{FF2B5EF4-FFF2-40B4-BE49-F238E27FC236}">
                <a16:creationId xmlns:a16="http://schemas.microsoft.com/office/drawing/2014/main" id="{C2A9BEF5-CB66-C566-FE6A-EF027696CBEA}"/>
              </a:ext>
            </a:extLst>
          </p:cNvPr>
          <p:cNvSpPr/>
          <p:nvPr/>
        </p:nvSpPr>
        <p:spPr>
          <a:xfrm>
            <a:off x="1616288" y="2199665"/>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 name="TextBox 62">
            <a:extLst>
              <a:ext uri="{FF2B5EF4-FFF2-40B4-BE49-F238E27FC236}">
                <a16:creationId xmlns:a16="http://schemas.microsoft.com/office/drawing/2014/main" id="{1BD9BDA1-ABF8-6F93-B6E2-3E4CDA058457}"/>
              </a:ext>
            </a:extLst>
          </p:cNvPr>
          <p:cNvSpPr txBox="1"/>
          <p:nvPr/>
        </p:nvSpPr>
        <p:spPr>
          <a:xfrm>
            <a:off x="1616288" y="2220861"/>
            <a:ext cx="1097280" cy="140488"/>
          </a:xfrm>
          <a:prstGeom prst="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sp>
        <p:nvSpPr>
          <p:cNvPr id="21" name="Rounded Rectangle 14">
            <a:extLst>
              <a:ext uri="{FF2B5EF4-FFF2-40B4-BE49-F238E27FC236}">
                <a16:creationId xmlns:a16="http://schemas.microsoft.com/office/drawing/2014/main" id="{3A5CEF14-3F62-E0BC-B4E4-543BB1DE13AF}"/>
              </a:ext>
            </a:extLst>
          </p:cNvPr>
          <p:cNvSpPr/>
          <p:nvPr/>
        </p:nvSpPr>
        <p:spPr>
          <a:xfrm>
            <a:off x="10356240" y="2189453"/>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2" name="Rounded Rectangle 26">
            <a:extLst>
              <a:ext uri="{FF2B5EF4-FFF2-40B4-BE49-F238E27FC236}">
                <a16:creationId xmlns:a16="http://schemas.microsoft.com/office/drawing/2014/main" id="{BD0B2A16-8A8C-059F-6732-A66F36354EB4}"/>
              </a:ext>
            </a:extLst>
          </p:cNvPr>
          <p:cNvSpPr/>
          <p:nvPr/>
        </p:nvSpPr>
        <p:spPr>
          <a:xfrm>
            <a:off x="10312907" y="2195847"/>
            <a:ext cx="1097280" cy="176486"/>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133">
            <a:extLst>
              <a:ext uri="{FF2B5EF4-FFF2-40B4-BE49-F238E27FC236}">
                <a16:creationId xmlns:a16="http://schemas.microsoft.com/office/drawing/2014/main" id="{D5FF9F2E-95E8-078C-439B-92295E485781}"/>
              </a:ext>
            </a:extLst>
          </p:cNvPr>
          <p:cNvSpPr txBox="1"/>
          <p:nvPr/>
        </p:nvSpPr>
        <p:spPr>
          <a:xfrm>
            <a:off x="10330655" y="2217480"/>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26" name="Rectangle: Rounded Corners 1">
            <a:extLst>
              <a:ext uri="{FF2B5EF4-FFF2-40B4-BE49-F238E27FC236}">
                <a16:creationId xmlns:a16="http://schemas.microsoft.com/office/drawing/2014/main" id="{95B1AF0A-99CA-EBC6-EF5D-3859E5A6E5F2}"/>
              </a:ext>
            </a:extLst>
          </p:cNvPr>
          <p:cNvSpPr/>
          <p:nvPr/>
        </p:nvSpPr>
        <p:spPr>
          <a:xfrm>
            <a:off x="7114339"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IT Business Apps</a:t>
            </a:r>
          </a:p>
        </p:txBody>
      </p:sp>
      <p:sp>
        <p:nvSpPr>
          <p:cNvPr id="28" name="Rectangle: Rounded Corners 19">
            <a:extLst>
              <a:ext uri="{FF2B5EF4-FFF2-40B4-BE49-F238E27FC236}">
                <a16:creationId xmlns:a16="http://schemas.microsoft.com/office/drawing/2014/main" id="{3EFD12F3-76D7-0281-94C1-7696FCC02330}"/>
              </a:ext>
            </a:extLst>
          </p:cNvPr>
          <p:cNvSpPr/>
          <p:nvPr/>
        </p:nvSpPr>
        <p:spPr>
          <a:xfrm>
            <a:off x="8846491"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latin typeface="Arial" panose="020B0604020202020204" pitchFamily="34" charset="0"/>
                <a:cs typeface="Arial" panose="020B0604020202020204" pitchFamily="34" charset="0"/>
              </a:rPr>
              <a:t>Customer Services Apps</a:t>
            </a:r>
          </a:p>
        </p:txBody>
      </p:sp>
      <p:sp>
        <p:nvSpPr>
          <p:cNvPr id="12" name="Rectangle 11">
            <a:extLst>
              <a:ext uri="{FF2B5EF4-FFF2-40B4-BE49-F238E27FC236}">
                <a16:creationId xmlns:a16="http://schemas.microsoft.com/office/drawing/2014/main" id="{064CAD4B-5351-02CD-85B3-38324F9DA1A1}"/>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F0C9423-5FB1-8032-E239-44BAFEFE1944}"/>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25" name="Rectangle 24">
            <a:extLst>
              <a:ext uri="{FF2B5EF4-FFF2-40B4-BE49-F238E27FC236}">
                <a16:creationId xmlns:a16="http://schemas.microsoft.com/office/drawing/2014/main" id="{4AA58041-6AF8-130B-9491-965A29CD64F0}"/>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4243584-6675-27C5-C92F-AF9DE257BEFC}"/>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29" name="Rectangle 28">
            <a:extLst>
              <a:ext uri="{FF2B5EF4-FFF2-40B4-BE49-F238E27FC236}">
                <a16:creationId xmlns:a16="http://schemas.microsoft.com/office/drawing/2014/main" id="{27C37CBE-9A2E-5557-B744-67449521F2E9}"/>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40196094-47F5-38D1-EAC0-5004F152D811}"/>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31" name="Rectangle 30">
            <a:extLst>
              <a:ext uri="{FF2B5EF4-FFF2-40B4-BE49-F238E27FC236}">
                <a16:creationId xmlns:a16="http://schemas.microsoft.com/office/drawing/2014/main" id="{54C75EBD-1B42-DB05-4C4F-94B3D004762D}"/>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9883534-91FF-FF7D-C82C-F4BB0187ABA6}"/>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33" name="Rectangle 32">
            <a:extLst>
              <a:ext uri="{FF2B5EF4-FFF2-40B4-BE49-F238E27FC236}">
                <a16:creationId xmlns:a16="http://schemas.microsoft.com/office/drawing/2014/main" id="{A852A868-0B58-44AA-7214-A4A43287D5C0}"/>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9D50F5B1-73FC-2DE0-B830-6CDEFAE18638}"/>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35" name="TextBox 34">
            <a:extLst>
              <a:ext uri="{FF2B5EF4-FFF2-40B4-BE49-F238E27FC236}">
                <a16:creationId xmlns:a16="http://schemas.microsoft.com/office/drawing/2014/main" id="{DD8D7A33-8DA0-61F3-4BAC-C3040B4C63C2}"/>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40" name="Rounded Rectangle 26">
            <a:extLst>
              <a:ext uri="{FF2B5EF4-FFF2-40B4-BE49-F238E27FC236}">
                <a16:creationId xmlns:a16="http://schemas.microsoft.com/office/drawing/2014/main" id="{91680D2F-A1C1-DF74-3133-88EE57600BAC}"/>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TextBox 133">
            <a:extLst>
              <a:ext uri="{FF2B5EF4-FFF2-40B4-BE49-F238E27FC236}">
                <a16:creationId xmlns:a16="http://schemas.microsoft.com/office/drawing/2014/main" id="{0131DC29-C715-08ED-CB1C-C453628C0208}"/>
              </a:ext>
            </a:extLst>
          </p:cNvPr>
          <p:cNvSpPr txBox="1"/>
          <p:nvPr/>
        </p:nvSpPr>
        <p:spPr>
          <a:xfrm>
            <a:off x="3848049" y="222197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42" name="Rounded Rectangle 26">
            <a:extLst>
              <a:ext uri="{FF2B5EF4-FFF2-40B4-BE49-F238E27FC236}">
                <a16:creationId xmlns:a16="http://schemas.microsoft.com/office/drawing/2014/main" id="{3FA61B33-4594-3E08-E86F-988B29427791}"/>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133">
            <a:extLst>
              <a:ext uri="{FF2B5EF4-FFF2-40B4-BE49-F238E27FC236}">
                <a16:creationId xmlns:a16="http://schemas.microsoft.com/office/drawing/2014/main" id="{68602889-0778-D39A-A01A-0F686EFB85FF}"/>
              </a:ext>
            </a:extLst>
          </p:cNvPr>
          <p:cNvSpPr txBox="1"/>
          <p:nvPr/>
        </p:nvSpPr>
        <p:spPr>
          <a:xfrm>
            <a:off x="8347286" y="221518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88" name="TextBox 187">
            <a:extLst>
              <a:ext uri="{FF2B5EF4-FFF2-40B4-BE49-F238E27FC236}">
                <a16:creationId xmlns:a16="http://schemas.microsoft.com/office/drawing/2014/main" id="{4EAE5E83-7994-CD61-C98F-8C37163ECC0E}"/>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89" name="TextBox 188">
            <a:extLst>
              <a:ext uri="{FF2B5EF4-FFF2-40B4-BE49-F238E27FC236}">
                <a16:creationId xmlns:a16="http://schemas.microsoft.com/office/drawing/2014/main" id="{2345053A-5E8E-AE86-958A-C20747BDE6FA}"/>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200" name="Group 199">
            <a:extLst>
              <a:ext uri="{FF2B5EF4-FFF2-40B4-BE49-F238E27FC236}">
                <a16:creationId xmlns:a16="http://schemas.microsoft.com/office/drawing/2014/main" id="{928EF862-4E8E-2D35-A4BF-A623E1A0EE6B}"/>
              </a:ext>
            </a:extLst>
          </p:cNvPr>
          <p:cNvGrpSpPr/>
          <p:nvPr/>
        </p:nvGrpSpPr>
        <p:grpSpPr>
          <a:xfrm>
            <a:off x="299553" y="2431316"/>
            <a:ext cx="770295" cy="2084832"/>
            <a:chOff x="457200" y="2440081"/>
            <a:chExt cx="594360" cy="2084832"/>
          </a:xfrm>
        </p:grpSpPr>
        <p:sp>
          <p:nvSpPr>
            <p:cNvPr id="201" name="Rectangle 200">
              <a:extLst>
                <a:ext uri="{FF2B5EF4-FFF2-40B4-BE49-F238E27FC236}">
                  <a16:creationId xmlns:a16="http://schemas.microsoft.com/office/drawing/2014/main" id="{C6C25C15-151E-6779-CAA6-A2169729DDFA}"/>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1C9E2944-8405-A2F6-CE90-62A3F30552E7}"/>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203" name="Rectangle 202">
              <a:extLst>
                <a:ext uri="{FF2B5EF4-FFF2-40B4-BE49-F238E27FC236}">
                  <a16:creationId xmlns:a16="http://schemas.microsoft.com/office/drawing/2014/main" id="{02A28748-24B6-D682-9310-A0359E78BC43}"/>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5A3D73C6-744B-2C79-1073-55A41FFF5E25}"/>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205" name="Rectangle 204">
              <a:extLst>
                <a:ext uri="{FF2B5EF4-FFF2-40B4-BE49-F238E27FC236}">
                  <a16:creationId xmlns:a16="http://schemas.microsoft.com/office/drawing/2014/main" id="{CCECF780-2F15-2419-A7C9-724059E57B6E}"/>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6" name="TextBox 205">
              <a:extLst>
                <a:ext uri="{FF2B5EF4-FFF2-40B4-BE49-F238E27FC236}">
                  <a16:creationId xmlns:a16="http://schemas.microsoft.com/office/drawing/2014/main" id="{93D9C828-26E0-2D34-F425-729A67FF5B07}"/>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207" name="Rectangle 206">
              <a:extLst>
                <a:ext uri="{FF2B5EF4-FFF2-40B4-BE49-F238E27FC236}">
                  <a16:creationId xmlns:a16="http://schemas.microsoft.com/office/drawing/2014/main" id="{748EA06F-23EE-7183-3A45-B425A9B44B41}"/>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41626992-4FD9-8F1F-B984-A1EA00A50414}"/>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209" name="CuadroTexto 204">
            <a:extLst>
              <a:ext uri="{FF2B5EF4-FFF2-40B4-BE49-F238E27FC236}">
                <a16:creationId xmlns:a16="http://schemas.microsoft.com/office/drawing/2014/main" id="{6E1F6CBC-4822-88B1-79D2-40AAF57C2073}"/>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Smart Metering is the only area fully vendor-delivered with PPM Now + Confluence — but relies on "intrinsic common sense" for prioritization</a:t>
            </a:r>
          </a:p>
        </p:txBody>
      </p:sp>
    </p:spTree>
    <p:extLst>
      <p:ext uri="{BB962C8B-B14F-4D97-AF65-F5344CB8AC3E}">
        <p14:creationId xmlns:p14="http://schemas.microsoft.com/office/powerpoint/2010/main" val="3809419267"/>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76C6-9B34-941E-C1E7-6CEC4E53AE90}"/>
            </a:ext>
          </a:extLst>
        </p:cNvPr>
        <p:cNvGrpSpPr/>
        <p:nvPr/>
      </p:nvGrpSpPr>
      <p:grpSpPr>
        <a:xfrm>
          <a:off x="0" y="0"/>
          <a:ext cx="0" cy="0"/>
          <a:chOff x="0" y="0"/>
          <a:chExt cx="0" cy="0"/>
        </a:xfrm>
      </p:grpSpPr>
      <p:sp>
        <p:nvSpPr>
          <p:cNvPr id="139" name="Rectangle 138">
            <a:extLst>
              <a:ext uri="{FF2B5EF4-FFF2-40B4-BE49-F238E27FC236}">
                <a16:creationId xmlns:a16="http://schemas.microsoft.com/office/drawing/2014/main" id="{DC504AC1-AC54-0564-CB1B-000DDAACA81E}"/>
              </a:ext>
            </a:extLst>
          </p:cNvPr>
          <p:cNvSpPr/>
          <p:nvPr/>
        </p:nvSpPr>
        <p:spPr>
          <a:xfrm>
            <a:off x="457200" y="1407211"/>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0" name="Rounded Rectangle 26">
            <a:extLst>
              <a:ext uri="{FF2B5EF4-FFF2-40B4-BE49-F238E27FC236}">
                <a16:creationId xmlns:a16="http://schemas.microsoft.com/office/drawing/2014/main" id="{60D6AA31-A478-A979-2E5F-C31DCFE361AA}"/>
              </a:ext>
            </a:extLst>
          </p:cNvPr>
          <p:cNvSpPr/>
          <p:nvPr/>
        </p:nvSpPr>
        <p:spPr>
          <a:xfrm>
            <a:off x="8377861" y="2199246"/>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9" name="Rounded Rectangle 26">
            <a:extLst>
              <a:ext uri="{FF2B5EF4-FFF2-40B4-BE49-F238E27FC236}">
                <a16:creationId xmlns:a16="http://schemas.microsoft.com/office/drawing/2014/main" id="{306F2FFA-A68C-9D3A-CD6F-0CB122CD93DC}"/>
              </a:ext>
            </a:extLst>
          </p:cNvPr>
          <p:cNvSpPr/>
          <p:nvPr/>
        </p:nvSpPr>
        <p:spPr>
          <a:xfrm>
            <a:off x="6090476" y="2208420"/>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BF10A4AF-60CE-8859-8E9F-76FC8A805C8B}"/>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7AE8761B-EA04-AD42-99E0-773187684C74}"/>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C593814-1DFA-6EC9-2FDD-536D1072F247}"/>
              </a:ext>
            </a:extLst>
          </p:cNvPr>
          <p:cNvSpPr/>
          <p:nvPr/>
        </p:nvSpPr>
        <p:spPr>
          <a:xfrm>
            <a:off x="457200" y="587492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A1FF3D88-C1FF-97A8-4427-35A835BD972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7" name="TextBox 16">
            <a:extLst>
              <a:ext uri="{FF2B5EF4-FFF2-40B4-BE49-F238E27FC236}">
                <a16:creationId xmlns:a16="http://schemas.microsoft.com/office/drawing/2014/main" id="{7CFAAAC6-5C23-5170-1025-A99642CCBF84}"/>
              </a:ext>
            </a:extLst>
          </p:cNvPr>
          <p:cNvSpPr txBox="1"/>
          <p:nvPr/>
        </p:nvSpPr>
        <p:spPr>
          <a:xfrm>
            <a:off x="2380345" y="1477711"/>
            <a:ext cx="9281160" cy="139590"/>
          </a:xfrm>
          <a:prstGeom prst="rect">
            <a:avLst/>
          </a:prstGeom>
          <a:noFill/>
        </p:spPr>
        <p:txBody>
          <a:bodyPr wrap="square" lIns="0" tIns="0" rIns="0" bIns="0" anchor="ctr">
            <a:spAutoFit/>
          </a:bodyPr>
          <a:lstStyle/>
          <a:p>
            <a:pPr>
              <a:lnSpc>
                <a:spcPct val="110000"/>
              </a:lnSpc>
            </a:pPr>
            <a:r>
              <a:rPr lang="en-US" sz="900" noProof="0" dirty="0">
                <a:solidFill>
                  <a:schemeClr val="bg1"/>
                </a:solidFill>
                <a:latin typeface="Arial" panose="020B0604020202020204" pitchFamily="34" charset="0"/>
                <a:cs typeface="Arial" panose="020B0604020202020204" pitchFamily="34" charset="0"/>
              </a:rPr>
              <a:t>OPCOs via BRS · PMO · Business users</a:t>
            </a:r>
          </a:p>
        </p:txBody>
      </p:sp>
      <p:sp>
        <p:nvSpPr>
          <p:cNvPr id="29" name="TextBox 28">
            <a:extLst>
              <a:ext uri="{FF2B5EF4-FFF2-40B4-BE49-F238E27FC236}">
                <a16:creationId xmlns:a16="http://schemas.microsoft.com/office/drawing/2014/main" id="{35E6C40A-B5A7-BF66-4C14-3DF9D5B6673C}"/>
              </a:ext>
            </a:extLst>
          </p:cNvPr>
          <p:cNvSpPr txBox="1"/>
          <p:nvPr/>
        </p:nvSpPr>
        <p:spPr>
          <a:xfrm>
            <a:off x="6096000" y="2215924"/>
            <a:ext cx="1091756" cy="155433"/>
          </a:xfrm>
          <a:prstGeom prst="round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sp>
        <p:nvSpPr>
          <p:cNvPr id="40" name="Rectangle 39">
            <a:extLst>
              <a:ext uri="{FF2B5EF4-FFF2-40B4-BE49-F238E27FC236}">
                <a16:creationId xmlns:a16="http://schemas.microsoft.com/office/drawing/2014/main" id="{4E55E4FD-428D-ED83-7E19-91647BCE639A}"/>
              </a:ext>
            </a:extLst>
          </p:cNvPr>
          <p:cNvSpPr/>
          <p:nvPr/>
        </p:nvSpPr>
        <p:spPr>
          <a:xfrm>
            <a:off x="1097280"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20791D0B-51CA-643B-09F7-63844471697A}"/>
              </a:ext>
            </a:extLst>
          </p:cNvPr>
          <p:cNvSpPr txBox="1"/>
          <p:nvPr/>
        </p:nvSpPr>
        <p:spPr>
          <a:xfrm>
            <a:off x="1188720" y="2484882"/>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 + IT Now ; Jira; no shared branch channel</a:t>
            </a:r>
          </a:p>
        </p:txBody>
      </p:sp>
      <p:sp>
        <p:nvSpPr>
          <p:cNvPr id="42" name="Rectangle 41">
            <a:extLst>
              <a:ext uri="{FF2B5EF4-FFF2-40B4-BE49-F238E27FC236}">
                <a16:creationId xmlns:a16="http://schemas.microsoft.com/office/drawing/2014/main" id="{ED6D67F0-6798-8837-8A48-505B2AE68DFE}"/>
              </a:ext>
            </a:extLst>
          </p:cNvPr>
          <p:cNvSpPr/>
          <p:nvPr/>
        </p:nvSpPr>
        <p:spPr>
          <a:xfrm>
            <a:off x="3319272"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38E2ADF8-A6DD-BED6-818B-797572766E12}"/>
              </a:ext>
            </a:extLst>
          </p:cNvPr>
          <p:cNvSpPr txBox="1"/>
          <p:nvPr/>
        </p:nvSpPr>
        <p:spPr>
          <a:xfrm>
            <a:off x="3410712" y="2484882"/>
            <a:ext cx="1984248" cy="29335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Incidents: IT Now template; Large: PMO; Small/Med→Jira</a:t>
            </a:r>
          </a:p>
        </p:txBody>
      </p:sp>
      <p:sp>
        <p:nvSpPr>
          <p:cNvPr id="44" name="Rectangle 43">
            <a:extLst>
              <a:ext uri="{FF2B5EF4-FFF2-40B4-BE49-F238E27FC236}">
                <a16:creationId xmlns:a16="http://schemas.microsoft.com/office/drawing/2014/main" id="{D3397E6E-B065-8AEB-B5F2-271C2296B344}"/>
              </a:ext>
            </a:extLst>
          </p:cNvPr>
          <p:cNvSpPr/>
          <p:nvPr/>
        </p:nvSpPr>
        <p:spPr>
          <a:xfrm>
            <a:off x="5541264"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41A4C23D-5895-B725-E4A4-A8FFE0A9DA55}"/>
              </a:ext>
            </a:extLst>
          </p:cNvPr>
          <p:cNvSpPr txBox="1"/>
          <p:nvPr/>
        </p:nvSpPr>
        <p:spPr>
          <a:xfrm>
            <a:off x="5632704" y="2484882"/>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Criticality </a:t>
            </a:r>
            <a:r>
              <a:rPr lang="en-US" sz="900" noProof="0">
                <a:solidFill>
                  <a:srgbClr val="2C3E50"/>
                </a:solidFill>
                <a:latin typeface="Arial" panose="020B0604020202020204" pitchFamily="34" charset="0"/>
                <a:cs typeface="Arial" panose="020B0604020202020204" pitchFamily="34" charset="0"/>
              </a:rPr>
              <a:t>; director-level calls elsewhere</a:t>
            </a:r>
            <a:endParaRPr lang="en-US" sz="900" b="0" i="0" noProof="0">
              <a:solidFill>
                <a:srgbClr val="2C3E50"/>
              </a:solidFill>
              <a:latin typeface="Arial" panose="020B0604020202020204" pitchFamily="34" charset="0"/>
              <a:cs typeface="Arial" panose="020B0604020202020204" pitchFamily="34" charset="0"/>
            </a:endParaRPr>
          </a:p>
        </p:txBody>
      </p:sp>
      <p:sp>
        <p:nvSpPr>
          <p:cNvPr id="46" name="Rectangle 45">
            <a:extLst>
              <a:ext uri="{FF2B5EF4-FFF2-40B4-BE49-F238E27FC236}">
                <a16:creationId xmlns:a16="http://schemas.microsoft.com/office/drawing/2014/main" id="{124C98A3-F5B0-658B-E206-0BB31755850B}"/>
              </a:ext>
            </a:extLst>
          </p:cNvPr>
          <p:cNvSpPr/>
          <p:nvPr/>
        </p:nvSpPr>
        <p:spPr>
          <a:xfrm>
            <a:off x="7763256"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2038CEF1-26F6-4A3C-897A-6805C2A160B4}"/>
              </a:ext>
            </a:extLst>
          </p:cNvPr>
          <p:cNvSpPr txBox="1"/>
          <p:nvPr/>
        </p:nvSpPr>
        <p:spPr>
          <a:xfrm>
            <a:off x="7854696" y="248488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branch-wide tool</a:t>
            </a:r>
          </a:p>
        </p:txBody>
      </p:sp>
      <p:sp>
        <p:nvSpPr>
          <p:cNvPr id="48" name="Rectangle 47">
            <a:extLst>
              <a:ext uri="{FF2B5EF4-FFF2-40B4-BE49-F238E27FC236}">
                <a16:creationId xmlns:a16="http://schemas.microsoft.com/office/drawing/2014/main" id="{35178108-0C76-66EF-7867-9D2148182294}"/>
              </a:ext>
            </a:extLst>
          </p:cNvPr>
          <p:cNvSpPr/>
          <p:nvPr/>
        </p:nvSpPr>
        <p:spPr>
          <a:xfrm>
            <a:off x="9985248" y="2439162"/>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54E63B6C-6861-F439-5017-A214408023D7}"/>
              </a:ext>
            </a:extLst>
          </p:cNvPr>
          <p:cNvSpPr txBox="1"/>
          <p:nvPr/>
        </p:nvSpPr>
        <p:spPr>
          <a:xfrm>
            <a:off x="10076688" y="2484882"/>
            <a:ext cx="1576843"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 Accenture + Vendors </a:t>
            </a:r>
          </a:p>
        </p:txBody>
      </p:sp>
      <p:sp>
        <p:nvSpPr>
          <p:cNvPr id="187" name="Rectangle 186">
            <a:extLst>
              <a:ext uri="{FF2B5EF4-FFF2-40B4-BE49-F238E27FC236}">
                <a16:creationId xmlns:a16="http://schemas.microsoft.com/office/drawing/2014/main" id="{2ADF0128-51EC-F33C-5B55-047A35B1A562}"/>
              </a:ext>
            </a:extLst>
          </p:cNvPr>
          <p:cNvSpPr/>
          <p:nvPr/>
        </p:nvSpPr>
        <p:spPr>
          <a:xfrm>
            <a:off x="1097280"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8" name="TextBox 187">
            <a:extLst>
              <a:ext uri="{FF2B5EF4-FFF2-40B4-BE49-F238E27FC236}">
                <a16:creationId xmlns:a16="http://schemas.microsoft.com/office/drawing/2014/main" id="{744EF578-BCEA-0CEC-47EE-EF4F203AF426}"/>
              </a:ext>
            </a:extLst>
          </p:cNvPr>
          <p:cNvSpPr txBox="1"/>
          <p:nvPr/>
        </p:nvSpPr>
        <p:spPr>
          <a:xfrm>
            <a:off x="1188720" y="3015234"/>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areas / BRS / OPCOs users open varied channels</a:t>
            </a:r>
          </a:p>
        </p:txBody>
      </p:sp>
      <p:sp>
        <p:nvSpPr>
          <p:cNvPr id="189" name="Rectangle 188">
            <a:extLst>
              <a:ext uri="{FF2B5EF4-FFF2-40B4-BE49-F238E27FC236}">
                <a16:creationId xmlns:a16="http://schemas.microsoft.com/office/drawing/2014/main" id="{1AFEBA90-DDEA-AF49-B40E-6849E5A01479}"/>
              </a:ext>
            </a:extLst>
          </p:cNvPr>
          <p:cNvSpPr/>
          <p:nvPr/>
        </p:nvSpPr>
        <p:spPr>
          <a:xfrm>
            <a:off x="3319272"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0" name="TextBox 189">
            <a:extLst>
              <a:ext uri="{FF2B5EF4-FFF2-40B4-BE49-F238E27FC236}">
                <a16:creationId xmlns:a16="http://schemas.microsoft.com/office/drawing/2014/main" id="{E0995B2E-000F-F116-D7CE-E2E9239F72E0}"/>
              </a:ext>
            </a:extLst>
          </p:cNvPr>
          <p:cNvSpPr txBox="1"/>
          <p:nvPr/>
        </p:nvSpPr>
        <p:spPr>
          <a:xfrm>
            <a:off x="3410712" y="3015234"/>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By sub-team (Metering/FICA/CRM/Basis); PMO for large</a:t>
            </a:r>
          </a:p>
        </p:txBody>
      </p:sp>
      <p:sp>
        <p:nvSpPr>
          <p:cNvPr id="191" name="Rectangle 190">
            <a:extLst>
              <a:ext uri="{FF2B5EF4-FFF2-40B4-BE49-F238E27FC236}">
                <a16:creationId xmlns:a16="http://schemas.microsoft.com/office/drawing/2014/main" id="{54901BEF-3595-7AD2-677A-223EC0EBC3AD}"/>
              </a:ext>
            </a:extLst>
          </p:cNvPr>
          <p:cNvSpPr/>
          <p:nvPr/>
        </p:nvSpPr>
        <p:spPr>
          <a:xfrm>
            <a:off x="5541264"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F6B83242-5124-6FB4-C6C2-E4AB53E16672}"/>
              </a:ext>
            </a:extLst>
          </p:cNvPr>
          <p:cNvSpPr txBox="1"/>
          <p:nvPr/>
        </p:nvSpPr>
        <p:spPr>
          <a:xfrm>
            <a:off x="5632704" y="3015234"/>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CS Director + sub-team managers; </a:t>
            </a:r>
          </a:p>
        </p:txBody>
      </p:sp>
      <p:sp>
        <p:nvSpPr>
          <p:cNvPr id="193" name="Rectangle 192">
            <a:extLst>
              <a:ext uri="{FF2B5EF4-FFF2-40B4-BE49-F238E27FC236}">
                <a16:creationId xmlns:a16="http://schemas.microsoft.com/office/drawing/2014/main" id="{58174B6F-E60A-FB42-5A7A-65164508F332}"/>
              </a:ext>
            </a:extLst>
          </p:cNvPr>
          <p:cNvSpPr/>
          <p:nvPr/>
        </p:nvSpPr>
        <p:spPr>
          <a:xfrm>
            <a:off x="7763256"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4" name="TextBox 193">
            <a:extLst>
              <a:ext uri="{FF2B5EF4-FFF2-40B4-BE49-F238E27FC236}">
                <a16:creationId xmlns:a16="http://schemas.microsoft.com/office/drawing/2014/main" id="{36E0314A-012E-A2CC-5C89-D70180AF34CE}"/>
              </a:ext>
            </a:extLst>
          </p:cNvPr>
          <p:cNvSpPr txBox="1"/>
          <p:nvPr/>
        </p:nvSpPr>
        <p:spPr>
          <a:xfrm>
            <a:off x="7854696" y="3015234"/>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PMO (large) + sub-team managers (small); no portfolio lead</a:t>
            </a:r>
          </a:p>
        </p:txBody>
      </p:sp>
      <p:sp>
        <p:nvSpPr>
          <p:cNvPr id="195" name="Rectangle 194">
            <a:extLst>
              <a:ext uri="{FF2B5EF4-FFF2-40B4-BE49-F238E27FC236}">
                <a16:creationId xmlns:a16="http://schemas.microsoft.com/office/drawing/2014/main" id="{9C439F96-9905-5DFE-601C-EEA13DAA9431}"/>
              </a:ext>
            </a:extLst>
          </p:cNvPr>
          <p:cNvSpPr/>
          <p:nvPr/>
        </p:nvSpPr>
        <p:spPr>
          <a:xfrm>
            <a:off x="9985248" y="2969514"/>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E3627E66-5F03-C479-EFD9-42FBBE82FBBB}"/>
              </a:ext>
            </a:extLst>
          </p:cNvPr>
          <p:cNvSpPr txBox="1"/>
          <p:nvPr/>
        </p:nvSpPr>
        <p:spPr>
          <a:xfrm>
            <a:off x="10076688" y="3015234"/>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runs projects; PM + SAP Architect roles in place (large)</a:t>
            </a:r>
          </a:p>
        </p:txBody>
      </p:sp>
      <p:sp>
        <p:nvSpPr>
          <p:cNvPr id="199" name="Rectangle 198">
            <a:extLst>
              <a:ext uri="{FF2B5EF4-FFF2-40B4-BE49-F238E27FC236}">
                <a16:creationId xmlns:a16="http://schemas.microsoft.com/office/drawing/2014/main" id="{D7E3B583-574F-E2DF-6D2C-6C61FA9D14AA}"/>
              </a:ext>
            </a:extLst>
          </p:cNvPr>
          <p:cNvSpPr/>
          <p:nvPr/>
        </p:nvSpPr>
        <p:spPr>
          <a:xfrm>
            <a:off x="1097280"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0" name="TextBox 199">
            <a:extLst>
              <a:ext uri="{FF2B5EF4-FFF2-40B4-BE49-F238E27FC236}">
                <a16:creationId xmlns:a16="http://schemas.microsoft.com/office/drawing/2014/main" id="{0BA9F82B-D0BA-7961-9727-C08266290742}"/>
              </a:ext>
            </a:extLst>
          </p:cNvPr>
          <p:cNvSpPr txBox="1"/>
          <p:nvPr/>
        </p:nvSpPr>
        <p:spPr>
          <a:xfrm>
            <a:off x="1188720" y="3545586"/>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Email + Jira + no cross-channel funnel</a:t>
            </a:r>
          </a:p>
        </p:txBody>
      </p:sp>
      <p:sp>
        <p:nvSpPr>
          <p:cNvPr id="201" name="Rectangle 200">
            <a:extLst>
              <a:ext uri="{FF2B5EF4-FFF2-40B4-BE49-F238E27FC236}">
                <a16:creationId xmlns:a16="http://schemas.microsoft.com/office/drawing/2014/main" id="{866F10D5-97D3-20BA-F4B7-7853F2351A87}"/>
              </a:ext>
            </a:extLst>
          </p:cNvPr>
          <p:cNvSpPr/>
          <p:nvPr/>
        </p:nvSpPr>
        <p:spPr>
          <a:xfrm>
            <a:off x="3319272"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9F052946-95A9-D0AC-117A-E9E8BC02FC18}"/>
              </a:ext>
            </a:extLst>
          </p:cNvPr>
          <p:cNvSpPr txBox="1"/>
          <p:nvPr/>
        </p:nvSpPr>
        <p:spPr>
          <a:xfrm>
            <a:off x="3410712" y="354558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template + Jira labels + PPM (large)</a:t>
            </a:r>
          </a:p>
        </p:txBody>
      </p:sp>
      <p:sp>
        <p:nvSpPr>
          <p:cNvPr id="203" name="Rectangle 202">
            <a:extLst>
              <a:ext uri="{FF2B5EF4-FFF2-40B4-BE49-F238E27FC236}">
                <a16:creationId xmlns:a16="http://schemas.microsoft.com/office/drawing/2014/main" id="{00B6350F-030A-1356-4EFA-2E24E059CE0F}"/>
              </a:ext>
            </a:extLst>
          </p:cNvPr>
          <p:cNvSpPr/>
          <p:nvPr/>
        </p:nvSpPr>
        <p:spPr>
          <a:xfrm>
            <a:off x="5541264"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64127303-7D2A-FD31-CB52-3B5E8BB35A23}"/>
              </a:ext>
            </a:extLst>
          </p:cNvPr>
          <p:cNvSpPr txBox="1"/>
          <p:nvPr/>
        </p:nvSpPr>
        <p:spPr>
          <a:xfrm>
            <a:off x="5632704" y="3545586"/>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Forum criteria (strategic / ops / regulatory / size) — applied by sub-team</a:t>
            </a:r>
          </a:p>
        </p:txBody>
      </p:sp>
      <p:sp>
        <p:nvSpPr>
          <p:cNvPr id="205" name="Rectangle 204">
            <a:extLst>
              <a:ext uri="{FF2B5EF4-FFF2-40B4-BE49-F238E27FC236}">
                <a16:creationId xmlns:a16="http://schemas.microsoft.com/office/drawing/2014/main" id="{3718599A-BCBF-6EBA-89FA-EAF48A79E253}"/>
              </a:ext>
            </a:extLst>
          </p:cNvPr>
          <p:cNvSpPr/>
          <p:nvPr/>
        </p:nvSpPr>
        <p:spPr>
          <a:xfrm>
            <a:off x="7763256"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6" name="TextBox 205">
            <a:extLst>
              <a:ext uri="{FF2B5EF4-FFF2-40B4-BE49-F238E27FC236}">
                <a16:creationId xmlns:a16="http://schemas.microsoft.com/office/drawing/2014/main" id="{A90E0343-13CA-6C85-21DA-ED0A32AF9D35}"/>
              </a:ext>
            </a:extLst>
          </p:cNvPr>
          <p:cNvSpPr txBox="1"/>
          <p:nvPr/>
        </p:nvSpPr>
        <p:spPr>
          <a:xfrm>
            <a:off x="7854696" y="3545586"/>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SharePoint · Confluence</a:t>
            </a:r>
          </a:p>
        </p:txBody>
      </p:sp>
      <p:sp>
        <p:nvSpPr>
          <p:cNvPr id="207" name="Rectangle 206">
            <a:extLst>
              <a:ext uri="{FF2B5EF4-FFF2-40B4-BE49-F238E27FC236}">
                <a16:creationId xmlns:a16="http://schemas.microsoft.com/office/drawing/2014/main" id="{BDCAED7D-1160-F59A-E3EE-82B3D08AA5C7}"/>
              </a:ext>
            </a:extLst>
          </p:cNvPr>
          <p:cNvSpPr/>
          <p:nvPr/>
        </p:nvSpPr>
        <p:spPr>
          <a:xfrm>
            <a:off x="9985248" y="3499866"/>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D9DD436C-1DAB-44C1-A7C3-469747D8FAE2}"/>
              </a:ext>
            </a:extLst>
          </p:cNvPr>
          <p:cNvSpPr txBox="1"/>
          <p:nvPr/>
        </p:nvSpPr>
        <p:spPr>
          <a:xfrm>
            <a:off x="10076688" y="3545586"/>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delivery pipeline · vendor stacks (per sub-team)</a:t>
            </a:r>
          </a:p>
        </p:txBody>
      </p:sp>
      <p:sp>
        <p:nvSpPr>
          <p:cNvPr id="211" name="Rectangle 210">
            <a:extLst>
              <a:ext uri="{FF2B5EF4-FFF2-40B4-BE49-F238E27FC236}">
                <a16:creationId xmlns:a16="http://schemas.microsoft.com/office/drawing/2014/main" id="{4F65EDCD-AE8A-7E4B-8196-8BCF8DBCCC54}"/>
              </a:ext>
            </a:extLst>
          </p:cNvPr>
          <p:cNvSpPr/>
          <p:nvPr/>
        </p:nvSpPr>
        <p:spPr>
          <a:xfrm>
            <a:off x="1097280"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2" name="TextBox 211">
            <a:extLst>
              <a:ext uri="{FF2B5EF4-FFF2-40B4-BE49-F238E27FC236}">
                <a16:creationId xmlns:a16="http://schemas.microsoft.com/office/drawing/2014/main" id="{9447FF93-8DC8-5C2D-AB4A-8DA888994186}"/>
              </a:ext>
            </a:extLst>
          </p:cNvPr>
          <p:cNvSpPr txBox="1"/>
          <p:nvPr/>
        </p:nvSpPr>
        <p:spPr>
          <a:xfrm>
            <a:off x="1188720" y="4075938"/>
            <a:ext cx="1984248" cy="139590"/>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branch-wide governance</a:t>
            </a:r>
          </a:p>
        </p:txBody>
      </p:sp>
      <p:sp>
        <p:nvSpPr>
          <p:cNvPr id="213" name="Rectangle 212">
            <a:extLst>
              <a:ext uri="{FF2B5EF4-FFF2-40B4-BE49-F238E27FC236}">
                <a16:creationId xmlns:a16="http://schemas.microsoft.com/office/drawing/2014/main" id="{CCE32659-EB62-E730-252C-266BB35AB1E7}"/>
              </a:ext>
            </a:extLst>
          </p:cNvPr>
          <p:cNvSpPr/>
          <p:nvPr/>
        </p:nvSpPr>
        <p:spPr>
          <a:xfrm>
            <a:off x="3319272"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4" name="TextBox 213">
            <a:extLst>
              <a:ext uri="{FF2B5EF4-FFF2-40B4-BE49-F238E27FC236}">
                <a16:creationId xmlns:a16="http://schemas.microsoft.com/office/drawing/2014/main" id="{83DD3FA8-2D1B-35BD-8D09-828096C6724A}"/>
              </a:ext>
            </a:extLst>
          </p:cNvPr>
          <p:cNvSpPr txBox="1"/>
          <p:nvPr/>
        </p:nvSpPr>
        <p:spPr>
          <a:xfrm>
            <a:off x="3410712" y="4075938"/>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Double routing: PMO / BRS</a:t>
            </a:r>
          </a:p>
        </p:txBody>
      </p:sp>
      <p:sp>
        <p:nvSpPr>
          <p:cNvPr id="215" name="Rectangle 214">
            <a:extLst>
              <a:ext uri="{FF2B5EF4-FFF2-40B4-BE49-F238E27FC236}">
                <a16:creationId xmlns:a16="http://schemas.microsoft.com/office/drawing/2014/main" id="{878F99B9-2A0E-DBEA-C296-04264761EF43}"/>
              </a:ext>
            </a:extLst>
          </p:cNvPr>
          <p:cNvSpPr/>
          <p:nvPr/>
        </p:nvSpPr>
        <p:spPr>
          <a:xfrm>
            <a:off x="5541264"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5120BAC4-BD12-F4C6-7AD2-73349BED7C60}"/>
              </a:ext>
            </a:extLst>
          </p:cNvPr>
          <p:cNvSpPr txBox="1"/>
          <p:nvPr/>
        </p:nvSpPr>
        <p:spPr>
          <a:xfrm>
            <a:off x="5632704" y="4075938"/>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formal model; regulatory overrides size</a:t>
            </a:r>
          </a:p>
        </p:txBody>
      </p:sp>
      <p:sp>
        <p:nvSpPr>
          <p:cNvPr id="217" name="Rectangle 216">
            <a:extLst>
              <a:ext uri="{FF2B5EF4-FFF2-40B4-BE49-F238E27FC236}">
                <a16:creationId xmlns:a16="http://schemas.microsoft.com/office/drawing/2014/main" id="{C2356896-E6E0-43B3-AC0E-5C187919F458}"/>
              </a:ext>
            </a:extLst>
          </p:cNvPr>
          <p:cNvSpPr/>
          <p:nvPr/>
        </p:nvSpPr>
        <p:spPr>
          <a:xfrm>
            <a:off x="7763256"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8" name="TextBox 217">
            <a:extLst>
              <a:ext uri="{FF2B5EF4-FFF2-40B4-BE49-F238E27FC236}">
                <a16:creationId xmlns:a16="http://schemas.microsoft.com/office/drawing/2014/main" id="{FBF1B9E6-1D07-8C6D-C132-35B910BA628D}"/>
              </a:ext>
            </a:extLst>
          </p:cNvPr>
          <p:cNvSpPr txBox="1"/>
          <p:nvPr/>
        </p:nvSpPr>
        <p:spPr>
          <a:xfrm>
            <a:off x="7854696" y="407593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7 OPCOs compete for the same IT capacity — multi-OPCO contention</a:t>
            </a:r>
          </a:p>
        </p:txBody>
      </p:sp>
      <p:sp>
        <p:nvSpPr>
          <p:cNvPr id="219" name="Rectangle 218">
            <a:extLst>
              <a:ext uri="{FF2B5EF4-FFF2-40B4-BE49-F238E27FC236}">
                <a16:creationId xmlns:a16="http://schemas.microsoft.com/office/drawing/2014/main" id="{4C94FDF5-B959-D07E-5F67-0CE4D16ECFB7}"/>
              </a:ext>
            </a:extLst>
          </p:cNvPr>
          <p:cNvSpPr/>
          <p:nvPr/>
        </p:nvSpPr>
        <p:spPr>
          <a:xfrm>
            <a:off x="9985248" y="4030218"/>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0080333F-2D34-0A90-66CB-B073E6C13A61}"/>
              </a:ext>
            </a:extLst>
          </p:cNvPr>
          <p:cNvSpPr txBox="1"/>
          <p:nvPr/>
        </p:nvSpPr>
        <p:spPr>
          <a:xfrm>
            <a:off x="10076688" y="4075938"/>
            <a:ext cx="1576843"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Heavy vendor concentration; </a:t>
            </a:r>
          </a:p>
        </p:txBody>
      </p:sp>
      <p:sp>
        <p:nvSpPr>
          <p:cNvPr id="225" name="TextBox 224">
            <a:extLst>
              <a:ext uri="{FF2B5EF4-FFF2-40B4-BE49-F238E27FC236}">
                <a16:creationId xmlns:a16="http://schemas.microsoft.com/office/drawing/2014/main" id="{50600D55-E953-6F79-E1C1-53B5473A912D}"/>
              </a:ext>
            </a:extLst>
          </p:cNvPr>
          <p:cNvSpPr txBox="1"/>
          <p:nvPr/>
        </p:nvSpPr>
        <p:spPr>
          <a:xfrm>
            <a:off x="6400800" y="5156835"/>
            <a:ext cx="5166360" cy="291811"/>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"Who is in charge of what — 3 people can run the payment jobs for example. Resource allocation — multiple OPCOs competing by capacity" — CS Director —  Customer Services</a:t>
            </a:r>
          </a:p>
        </p:txBody>
      </p:sp>
      <p:sp>
        <p:nvSpPr>
          <p:cNvPr id="226" name="TextBox 225">
            <a:extLst>
              <a:ext uri="{FF2B5EF4-FFF2-40B4-BE49-F238E27FC236}">
                <a16:creationId xmlns:a16="http://schemas.microsoft.com/office/drawing/2014/main" id="{99F986B2-8D90-9791-07B0-C56200BFF5ED}"/>
              </a:ext>
            </a:extLst>
          </p:cNvPr>
          <p:cNvSpPr txBox="1"/>
          <p:nvPr/>
        </p:nvSpPr>
        <p:spPr>
          <a:xfrm>
            <a:off x="640080" y="5156835"/>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Three parallel ownership tracks without a routing rule —PMO for large projects, BRS for business-funded work, Business areas— the same request can land in any of them, blurring accountability and prioritization</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PM + SAP Architect roles are in place for large projects— the gap is not in roles, it's in branch-wide portfolio visibility</a:t>
            </a:r>
          </a:p>
        </p:txBody>
      </p:sp>
      <p:sp>
        <p:nvSpPr>
          <p:cNvPr id="228" name="TextBox 227">
            <a:extLst>
              <a:ext uri="{FF2B5EF4-FFF2-40B4-BE49-F238E27FC236}">
                <a16:creationId xmlns:a16="http://schemas.microsoft.com/office/drawing/2014/main" id="{0865CAD3-CE21-0E0B-D947-3BC1B45974FA}"/>
              </a:ext>
            </a:extLst>
          </p:cNvPr>
          <p:cNvSpPr txBox="1"/>
          <p:nvPr/>
        </p:nvSpPr>
        <p:spPr>
          <a:xfrm>
            <a:off x="640080" y="5921125"/>
            <a:ext cx="10817352" cy="356829"/>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chemeClr val="bg1"/>
                </a:solidFill>
                <a:latin typeface="Arial" panose="020B0604020202020204" pitchFamily="34" charset="0"/>
                <a:cs typeface="Arial" panose="020B0604020202020204" pitchFamily="34" charset="0"/>
              </a:rPr>
              <a:t>All OPCOs compete for the same IT capacity with no branch-wide portfolio view — </a:t>
            </a:r>
            <a:r>
              <a:rPr lang="en-US" sz="1100" noProof="0">
                <a:solidFill>
                  <a:schemeClr val="bg1"/>
                </a:solidFill>
                <a:latin typeface="Arial" panose="020B0604020202020204" pitchFamily="34" charset="0"/>
                <a:cs typeface="Arial" panose="020B0604020202020204" pitchFamily="34" charset="0"/>
              </a:rPr>
              <a:t>n</a:t>
            </a:r>
            <a:r>
              <a:rPr lang="en-US" sz="1100" b="0" i="0" noProof="0">
                <a:solidFill>
                  <a:schemeClr val="bg1"/>
                </a:solidFill>
                <a:latin typeface="Arial" panose="020B0604020202020204" pitchFamily="34" charset="0"/>
                <a:cs typeface="Arial" panose="020B0604020202020204" pitchFamily="34" charset="0"/>
              </a:rPr>
              <a:t>o capacity allocation in place. Branch-level demand reconciliation is the structural prerequisite for any TO-BE governance.</a:t>
            </a:r>
          </a:p>
        </p:txBody>
      </p:sp>
      <p:sp>
        <p:nvSpPr>
          <p:cNvPr id="13" name="Rectangle: Rounded Corners 1">
            <a:extLst>
              <a:ext uri="{FF2B5EF4-FFF2-40B4-BE49-F238E27FC236}">
                <a16:creationId xmlns:a16="http://schemas.microsoft.com/office/drawing/2014/main" id="{AB89F621-6660-5F87-9F15-0DCC26AB42A3}"/>
              </a:ext>
            </a:extLst>
          </p:cNvPr>
          <p:cNvSpPr/>
          <p:nvPr/>
        </p:nvSpPr>
        <p:spPr>
          <a:xfrm>
            <a:off x="7114339"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IT Business Apps</a:t>
            </a:r>
          </a:p>
        </p:txBody>
      </p:sp>
      <p:sp>
        <p:nvSpPr>
          <p:cNvPr id="20" name="Rectangle: Rounded Corners 19">
            <a:extLst>
              <a:ext uri="{FF2B5EF4-FFF2-40B4-BE49-F238E27FC236}">
                <a16:creationId xmlns:a16="http://schemas.microsoft.com/office/drawing/2014/main" id="{2BD0642B-F599-2608-899D-3E3BAB9489CA}"/>
              </a:ext>
            </a:extLst>
          </p:cNvPr>
          <p:cNvSpPr/>
          <p:nvPr/>
        </p:nvSpPr>
        <p:spPr>
          <a:xfrm>
            <a:off x="8846491"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latin typeface="Arial" panose="020B0604020202020204" pitchFamily="34" charset="0"/>
                <a:cs typeface="Arial" panose="020B0604020202020204" pitchFamily="34" charset="0"/>
              </a:rPr>
              <a:t>Customer Services Apps</a:t>
            </a:r>
          </a:p>
        </p:txBody>
      </p:sp>
      <p:sp>
        <p:nvSpPr>
          <p:cNvPr id="10" name="TextBox 9">
            <a:extLst>
              <a:ext uri="{FF2B5EF4-FFF2-40B4-BE49-F238E27FC236}">
                <a16:creationId xmlns:a16="http://schemas.microsoft.com/office/drawing/2014/main" id="{F609B7A6-531B-770D-8514-55CA8478039B}"/>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2" name="TextBox 11">
            <a:extLst>
              <a:ext uri="{FF2B5EF4-FFF2-40B4-BE49-F238E27FC236}">
                <a16:creationId xmlns:a16="http://schemas.microsoft.com/office/drawing/2014/main" id="{07632784-303F-C365-6D37-C5FE547FE9F7}"/>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sp>
        <p:nvSpPr>
          <p:cNvPr id="14" name="Rectangle 13">
            <a:extLst>
              <a:ext uri="{FF2B5EF4-FFF2-40B4-BE49-F238E27FC236}">
                <a16:creationId xmlns:a16="http://schemas.microsoft.com/office/drawing/2014/main" id="{7F2A7443-741C-5E14-8D80-E7CC132234A6}"/>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DD762D4-8677-6964-F1DE-C1E112ACB77D}"/>
              </a:ext>
            </a:extLst>
          </p:cNvPr>
          <p:cNvSpPr txBox="1"/>
          <p:nvPr/>
        </p:nvSpPr>
        <p:spPr>
          <a:xfrm>
            <a:off x="457199" y="1470589"/>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24" name="Rectangle 23">
            <a:extLst>
              <a:ext uri="{FF2B5EF4-FFF2-40B4-BE49-F238E27FC236}">
                <a16:creationId xmlns:a16="http://schemas.microsoft.com/office/drawing/2014/main" id="{3D5F72D5-6F09-1F5D-C569-6CA2E50E02FA}"/>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92CD0F85-2426-3F59-83AF-29E158B99889}"/>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32" name="Rectangle 31">
            <a:extLst>
              <a:ext uri="{FF2B5EF4-FFF2-40B4-BE49-F238E27FC236}">
                <a16:creationId xmlns:a16="http://schemas.microsoft.com/office/drawing/2014/main" id="{19450E7C-2B0E-7F67-59A6-49F9C7019BE3}"/>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5EC77653-99C1-1A9F-B4BD-3BDA2C5F7D7B}"/>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0" name="Rectangle 49">
            <a:extLst>
              <a:ext uri="{FF2B5EF4-FFF2-40B4-BE49-F238E27FC236}">
                <a16:creationId xmlns:a16="http://schemas.microsoft.com/office/drawing/2014/main" id="{CC66C72F-5F09-9427-B5CE-CD733F1748C0}"/>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A8B140B9-A41C-EB17-5957-25196D532E9D}"/>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2" name="Rectangle 51">
            <a:extLst>
              <a:ext uri="{FF2B5EF4-FFF2-40B4-BE49-F238E27FC236}">
                <a16:creationId xmlns:a16="http://schemas.microsoft.com/office/drawing/2014/main" id="{0A5E2906-956C-2E09-64A9-289D815561D3}"/>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7DCA7D95-B141-7B8D-5B9E-D9D37F339C58}"/>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54" name="Rectangle 53">
            <a:extLst>
              <a:ext uri="{FF2B5EF4-FFF2-40B4-BE49-F238E27FC236}">
                <a16:creationId xmlns:a16="http://schemas.microsoft.com/office/drawing/2014/main" id="{DB557A3C-3A14-F70A-002B-06A24D5C7CBF}"/>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CDA48B15-2A77-BBCB-7181-E95F9141F378}"/>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56" name="TextBox 55">
            <a:extLst>
              <a:ext uri="{FF2B5EF4-FFF2-40B4-BE49-F238E27FC236}">
                <a16:creationId xmlns:a16="http://schemas.microsoft.com/office/drawing/2014/main" id="{38166C6C-5DCE-46B3-ED69-D85B6F6721D7}"/>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7" name="Rounded Rectangle 26">
            <a:extLst>
              <a:ext uri="{FF2B5EF4-FFF2-40B4-BE49-F238E27FC236}">
                <a16:creationId xmlns:a16="http://schemas.microsoft.com/office/drawing/2014/main" id="{DD75E582-3062-527A-D308-3EBC4ECFDADE}"/>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8" name="TextBox 133">
            <a:extLst>
              <a:ext uri="{FF2B5EF4-FFF2-40B4-BE49-F238E27FC236}">
                <a16:creationId xmlns:a16="http://schemas.microsoft.com/office/drawing/2014/main" id="{A1EC3899-1347-B2D1-E307-6E0A84816338}"/>
              </a:ext>
            </a:extLst>
          </p:cNvPr>
          <p:cNvSpPr txBox="1"/>
          <p:nvPr/>
        </p:nvSpPr>
        <p:spPr>
          <a:xfrm>
            <a:off x="3845668" y="221832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59" name="Rounded Rectangle 26">
            <a:extLst>
              <a:ext uri="{FF2B5EF4-FFF2-40B4-BE49-F238E27FC236}">
                <a16:creationId xmlns:a16="http://schemas.microsoft.com/office/drawing/2014/main" id="{CF601CD6-1DFD-B780-2739-3E38946DF714}"/>
              </a:ext>
            </a:extLst>
          </p:cNvPr>
          <p:cNvSpPr/>
          <p:nvPr/>
        </p:nvSpPr>
        <p:spPr>
          <a:xfrm>
            <a:off x="1624246" y="220159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133">
            <a:extLst>
              <a:ext uri="{FF2B5EF4-FFF2-40B4-BE49-F238E27FC236}">
                <a16:creationId xmlns:a16="http://schemas.microsoft.com/office/drawing/2014/main" id="{28C49D02-7A82-A6CD-1600-B501893A1469}"/>
              </a:ext>
            </a:extLst>
          </p:cNvPr>
          <p:cNvSpPr txBox="1"/>
          <p:nvPr/>
        </p:nvSpPr>
        <p:spPr>
          <a:xfrm>
            <a:off x="1623676" y="222215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61" name="Rounded Rectangle 26">
            <a:extLst>
              <a:ext uri="{FF2B5EF4-FFF2-40B4-BE49-F238E27FC236}">
                <a16:creationId xmlns:a16="http://schemas.microsoft.com/office/drawing/2014/main" id="{4B31F4C9-7DAD-3C2B-68EA-3FC1D7CF7582}"/>
              </a:ext>
            </a:extLst>
          </p:cNvPr>
          <p:cNvSpPr/>
          <p:nvPr/>
        </p:nvSpPr>
        <p:spPr>
          <a:xfrm>
            <a:off x="10308601" y="2191839"/>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6B169852-6093-9750-EF38-B19A0C8EFCAC}"/>
              </a:ext>
            </a:extLst>
          </p:cNvPr>
          <p:cNvSpPr txBox="1"/>
          <p:nvPr/>
        </p:nvSpPr>
        <p:spPr>
          <a:xfrm>
            <a:off x="10327608" y="221141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28" name="TextBox 127">
            <a:extLst>
              <a:ext uri="{FF2B5EF4-FFF2-40B4-BE49-F238E27FC236}">
                <a16:creationId xmlns:a16="http://schemas.microsoft.com/office/drawing/2014/main" id="{53AC7571-B396-9774-B6AD-3BF1E19F9463}"/>
              </a:ext>
            </a:extLst>
          </p:cNvPr>
          <p:cNvSpPr txBox="1"/>
          <p:nvPr/>
        </p:nvSpPr>
        <p:spPr>
          <a:xfrm>
            <a:off x="8386763" y="2210369"/>
            <a:ext cx="1091756" cy="155433"/>
          </a:xfrm>
          <a:prstGeom prst="round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grpSp>
        <p:nvGrpSpPr>
          <p:cNvPr id="140" name="Group 139">
            <a:extLst>
              <a:ext uri="{FF2B5EF4-FFF2-40B4-BE49-F238E27FC236}">
                <a16:creationId xmlns:a16="http://schemas.microsoft.com/office/drawing/2014/main" id="{8D1C3293-98E9-D590-464A-6F86FBBD5FD8}"/>
              </a:ext>
            </a:extLst>
          </p:cNvPr>
          <p:cNvGrpSpPr/>
          <p:nvPr/>
        </p:nvGrpSpPr>
        <p:grpSpPr>
          <a:xfrm>
            <a:off x="299553" y="2431316"/>
            <a:ext cx="770295" cy="2084832"/>
            <a:chOff x="457200" y="2440081"/>
            <a:chExt cx="594360" cy="2084832"/>
          </a:xfrm>
        </p:grpSpPr>
        <p:sp>
          <p:nvSpPr>
            <p:cNvPr id="141" name="Rectangle 140">
              <a:extLst>
                <a:ext uri="{FF2B5EF4-FFF2-40B4-BE49-F238E27FC236}">
                  <a16:creationId xmlns:a16="http://schemas.microsoft.com/office/drawing/2014/main" id="{6996E484-7167-F324-1802-C43DA08B9171}"/>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0A926928-2B15-8A84-9EF9-5BDEBFE0E1F4}"/>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143" name="Rectangle 142">
              <a:extLst>
                <a:ext uri="{FF2B5EF4-FFF2-40B4-BE49-F238E27FC236}">
                  <a16:creationId xmlns:a16="http://schemas.microsoft.com/office/drawing/2014/main" id="{DDA72C1A-658B-46B3-1F3D-1DC4EFADDAAC}"/>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9C28B284-24DC-8D19-5B67-B2A02916270C}"/>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145" name="Rectangle 144">
              <a:extLst>
                <a:ext uri="{FF2B5EF4-FFF2-40B4-BE49-F238E27FC236}">
                  <a16:creationId xmlns:a16="http://schemas.microsoft.com/office/drawing/2014/main" id="{4E812A53-363D-D26E-B22D-AE497E4676A2}"/>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1D5AC089-7AE8-92D7-428A-C75D35105BBA}"/>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147" name="Rectangle 146">
              <a:extLst>
                <a:ext uri="{FF2B5EF4-FFF2-40B4-BE49-F238E27FC236}">
                  <a16:creationId xmlns:a16="http://schemas.microsoft.com/office/drawing/2014/main" id="{7AC6B9A5-2D1D-2A9B-2E31-4C3B61D42727}"/>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4023A218-D89D-43CF-A282-BBB68C174CFB}"/>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150" name="CuadroTexto 204">
            <a:extLst>
              <a:ext uri="{FF2B5EF4-FFF2-40B4-BE49-F238E27FC236}">
                <a16:creationId xmlns:a16="http://schemas.microsoft.com/office/drawing/2014/main" id="{571F8276-B7A1-9B61-FCCB-113F1EB64B20}"/>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Customer Services has working sub-teams but no branch-level governance — Prioritization and Portfolio are both GAPs</a:t>
            </a:r>
          </a:p>
        </p:txBody>
      </p:sp>
    </p:spTree>
    <p:extLst>
      <p:ext uri="{BB962C8B-B14F-4D97-AF65-F5344CB8AC3E}">
        <p14:creationId xmlns:p14="http://schemas.microsoft.com/office/powerpoint/2010/main" val="4081523922"/>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2DC26-74CE-E5BD-6C95-645266C1BC80}"/>
            </a:ext>
          </a:extLst>
        </p:cNvPr>
        <p:cNvGrpSpPr/>
        <p:nvPr/>
      </p:nvGrpSpPr>
      <p:grpSpPr>
        <a:xfrm>
          <a:off x="0" y="0"/>
          <a:ext cx="0" cy="0"/>
          <a:chOff x="0" y="0"/>
          <a:chExt cx="0" cy="0"/>
        </a:xfrm>
      </p:grpSpPr>
      <p:sp>
        <p:nvSpPr>
          <p:cNvPr id="165" name="TextBox 2">
            <a:extLst>
              <a:ext uri="{FF2B5EF4-FFF2-40B4-BE49-F238E27FC236}">
                <a16:creationId xmlns:a16="http://schemas.microsoft.com/office/drawing/2014/main" id="{6F1B9139-9FD4-EA6E-327F-4E59F647EEE7}"/>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rPr>
              <a:t>Nine recurring forums exist — but none covers portfolio-level decisions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endParaRPr>
          </a:p>
        </p:txBody>
      </p:sp>
      <p:sp>
        <p:nvSpPr>
          <p:cNvPr id="14" name="Rectangle 13">
            <a:extLst>
              <a:ext uri="{FF2B5EF4-FFF2-40B4-BE49-F238E27FC236}">
                <a16:creationId xmlns:a16="http://schemas.microsoft.com/office/drawing/2014/main" id="{67000AC6-6F42-C646-6216-8F65C5B5CF7D}"/>
              </a:ext>
            </a:extLst>
          </p:cNvPr>
          <p:cNvSpPr/>
          <p:nvPr/>
        </p:nvSpPr>
        <p:spPr>
          <a:xfrm>
            <a:off x="457200" y="1417320"/>
            <a:ext cx="11274552" cy="41148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2E3B2A3-496C-0D5A-0960-A1EA9A9CD2B6}"/>
              </a:ext>
            </a:extLst>
          </p:cNvPr>
          <p:cNvSpPr txBox="1"/>
          <p:nvPr/>
        </p:nvSpPr>
        <p:spPr>
          <a:xfrm>
            <a:off x="3063240" y="1529348"/>
            <a:ext cx="2743200"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FORUM</a:t>
            </a:r>
          </a:p>
        </p:txBody>
      </p:sp>
      <p:sp>
        <p:nvSpPr>
          <p:cNvPr id="16" name="TextBox 15">
            <a:extLst>
              <a:ext uri="{FF2B5EF4-FFF2-40B4-BE49-F238E27FC236}">
                <a16:creationId xmlns:a16="http://schemas.microsoft.com/office/drawing/2014/main" id="{822F6982-923F-3624-D90B-FA9BC7DEB235}"/>
              </a:ext>
            </a:extLst>
          </p:cNvPr>
          <p:cNvSpPr txBox="1"/>
          <p:nvPr/>
        </p:nvSpPr>
        <p:spPr>
          <a:xfrm>
            <a:off x="5654040" y="1529348"/>
            <a:ext cx="1097280"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CADENCE</a:t>
            </a:r>
          </a:p>
        </p:txBody>
      </p:sp>
      <p:sp>
        <p:nvSpPr>
          <p:cNvPr id="17" name="TextBox 16">
            <a:extLst>
              <a:ext uri="{FF2B5EF4-FFF2-40B4-BE49-F238E27FC236}">
                <a16:creationId xmlns:a16="http://schemas.microsoft.com/office/drawing/2014/main" id="{B1583A1A-8D2E-8F54-9E02-E66E8ACD2247}"/>
              </a:ext>
            </a:extLst>
          </p:cNvPr>
          <p:cNvSpPr txBox="1"/>
          <p:nvPr/>
        </p:nvSpPr>
        <p:spPr>
          <a:xfrm>
            <a:off x="6903720" y="1529348"/>
            <a:ext cx="3657600"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PARTICIPANTS</a:t>
            </a:r>
          </a:p>
        </p:txBody>
      </p:sp>
      <p:sp>
        <p:nvSpPr>
          <p:cNvPr id="18" name="TextBox 17">
            <a:extLst>
              <a:ext uri="{FF2B5EF4-FFF2-40B4-BE49-F238E27FC236}">
                <a16:creationId xmlns:a16="http://schemas.microsoft.com/office/drawing/2014/main" id="{D7207C72-F4A8-AC8F-ABD4-CD7A0349B3B7}"/>
              </a:ext>
            </a:extLst>
          </p:cNvPr>
          <p:cNvSpPr txBox="1"/>
          <p:nvPr/>
        </p:nvSpPr>
        <p:spPr>
          <a:xfrm>
            <a:off x="9484994" y="1518093"/>
            <a:ext cx="2139315"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DECISION SCOPE</a:t>
            </a:r>
          </a:p>
        </p:txBody>
      </p:sp>
      <p:sp>
        <p:nvSpPr>
          <p:cNvPr id="19" name="Rectangle 18">
            <a:extLst>
              <a:ext uri="{FF2B5EF4-FFF2-40B4-BE49-F238E27FC236}">
                <a16:creationId xmlns:a16="http://schemas.microsoft.com/office/drawing/2014/main" id="{B35C606B-E5CE-A4A5-0377-36D39B64C1ED}"/>
              </a:ext>
            </a:extLst>
          </p:cNvPr>
          <p:cNvSpPr/>
          <p:nvPr/>
        </p:nvSpPr>
        <p:spPr>
          <a:xfrm>
            <a:off x="457200" y="1874519"/>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86C419B1-5A06-DC17-EEAB-ABBF578AB522}"/>
              </a:ext>
            </a:extLst>
          </p:cNvPr>
          <p:cNvSpPr txBox="1"/>
          <p:nvPr/>
        </p:nvSpPr>
        <p:spPr>
          <a:xfrm>
            <a:off x="3063240" y="1955876"/>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Critical Integrations</a:t>
            </a:r>
          </a:p>
        </p:txBody>
      </p:sp>
      <p:sp>
        <p:nvSpPr>
          <p:cNvPr id="21" name="TextBox 20">
            <a:extLst>
              <a:ext uri="{FF2B5EF4-FFF2-40B4-BE49-F238E27FC236}">
                <a16:creationId xmlns:a16="http://schemas.microsoft.com/office/drawing/2014/main" id="{500DF263-9776-ED84-D612-245C1C4B8861}"/>
              </a:ext>
            </a:extLst>
          </p:cNvPr>
          <p:cNvSpPr txBox="1"/>
          <p:nvPr/>
        </p:nvSpPr>
        <p:spPr>
          <a:xfrm>
            <a:off x="5654040" y="1955876"/>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22" name="TextBox 21">
            <a:extLst>
              <a:ext uri="{FF2B5EF4-FFF2-40B4-BE49-F238E27FC236}">
                <a16:creationId xmlns:a16="http://schemas.microsoft.com/office/drawing/2014/main" id="{99BBCFE2-A396-84D9-C370-240902C76ABC}"/>
              </a:ext>
            </a:extLst>
          </p:cNvPr>
          <p:cNvSpPr txBox="1"/>
          <p:nvPr/>
        </p:nvSpPr>
        <p:spPr>
          <a:xfrm>
            <a:off x="6903720" y="1955877"/>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Apps, P&amp;S, Digital Products</a:t>
            </a:r>
          </a:p>
        </p:txBody>
      </p:sp>
      <p:sp>
        <p:nvSpPr>
          <p:cNvPr id="23" name="TextBox 22">
            <a:extLst>
              <a:ext uri="{FF2B5EF4-FFF2-40B4-BE49-F238E27FC236}">
                <a16:creationId xmlns:a16="http://schemas.microsoft.com/office/drawing/2014/main" id="{AE62C436-0E72-CCC8-2A17-C2755B158E92}"/>
              </a:ext>
            </a:extLst>
          </p:cNvPr>
          <p:cNvSpPr txBox="1"/>
          <p:nvPr/>
        </p:nvSpPr>
        <p:spPr>
          <a:xfrm>
            <a:off x="9484994" y="1963699"/>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Integration decisions across business apps</a:t>
            </a:r>
          </a:p>
        </p:txBody>
      </p:sp>
      <p:sp>
        <p:nvSpPr>
          <p:cNvPr id="24" name="Rectangle 23">
            <a:extLst>
              <a:ext uri="{FF2B5EF4-FFF2-40B4-BE49-F238E27FC236}">
                <a16:creationId xmlns:a16="http://schemas.microsoft.com/office/drawing/2014/main" id="{12C119FB-E559-EB2C-6F04-15E51EF88B3E}"/>
              </a:ext>
            </a:extLst>
          </p:cNvPr>
          <p:cNvSpPr/>
          <p:nvPr/>
        </p:nvSpPr>
        <p:spPr>
          <a:xfrm>
            <a:off x="457200" y="2202477"/>
            <a:ext cx="11274552" cy="318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C0860CD-1D0F-0BC6-F56C-D9F6ED3F9DB0}"/>
              </a:ext>
            </a:extLst>
          </p:cNvPr>
          <p:cNvSpPr txBox="1"/>
          <p:nvPr/>
        </p:nvSpPr>
        <p:spPr>
          <a:xfrm>
            <a:off x="3063240" y="2283834"/>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Daily BSS BI/BW Stand Up</a:t>
            </a:r>
          </a:p>
        </p:txBody>
      </p:sp>
      <p:sp>
        <p:nvSpPr>
          <p:cNvPr id="26" name="TextBox 25">
            <a:extLst>
              <a:ext uri="{FF2B5EF4-FFF2-40B4-BE49-F238E27FC236}">
                <a16:creationId xmlns:a16="http://schemas.microsoft.com/office/drawing/2014/main" id="{5E2C263E-E53B-1213-7046-FCA93FD843A7}"/>
              </a:ext>
            </a:extLst>
          </p:cNvPr>
          <p:cNvSpPr txBox="1"/>
          <p:nvPr/>
        </p:nvSpPr>
        <p:spPr>
          <a:xfrm>
            <a:off x="5654040" y="2283834"/>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27" name="TextBox 26">
            <a:extLst>
              <a:ext uri="{FF2B5EF4-FFF2-40B4-BE49-F238E27FC236}">
                <a16:creationId xmlns:a16="http://schemas.microsoft.com/office/drawing/2014/main" id="{B3ED6D73-06A7-07D1-686F-7A61444ACEE8}"/>
              </a:ext>
            </a:extLst>
          </p:cNvPr>
          <p:cNvSpPr txBox="1"/>
          <p:nvPr/>
        </p:nvSpPr>
        <p:spPr>
          <a:xfrm>
            <a:off x="6903720" y="2283835"/>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Teams, Digital Products</a:t>
            </a:r>
          </a:p>
        </p:txBody>
      </p:sp>
      <p:sp>
        <p:nvSpPr>
          <p:cNvPr id="28" name="TextBox 27">
            <a:extLst>
              <a:ext uri="{FF2B5EF4-FFF2-40B4-BE49-F238E27FC236}">
                <a16:creationId xmlns:a16="http://schemas.microsoft.com/office/drawing/2014/main" id="{5751EE31-D89A-A55A-B134-2A07F2332447}"/>
              </a:ext>
            </a:extLst>
          </p:cNvPr>
          <p:cNvSpPr txBox="1"/>
          <p:nvPr/>
        </p:nvSpPr>
        <p:spPr>
          <a:xfrm>
            <a:off x="9484994" y="2291657"/>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Daily BI/BW operations alignment</a:t>
            </a:r>
          </a:p>
        </p:txBody>
      </p:sp>
      <p:sp>
        <p:nvSpPr>
          <p:cNvPr id="29" name="Rectangle 28">
            <a:extLst>
              <a:ext uri="{FF2B5EF4-FFF2-40B4-BE49-F238E27FC236}">
                <a16:creationId xmlns:a16="http://schemas.microsoft.com/office/drawing/2014/main" id="{4179D0B2-006C-9BF9-1F65-C522A0F88E27}"/>
              </a:ext>
            </a:extLst>
          </p:cNvPr>
          <p:cNvSpPr/>
          <p:nvPr/>
        </p:nvSpPr>
        <p:spPr>
          <a:xfrm>
            <a:off x="457200" y="2530435"/>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69138006-810D-8C10-51AD-E4814C9C00AA}"/>
              </a:ext>
            </a:extLst>
          </p:cNvPr>
          <p:cNvSpPr txBox="1"/>
          <p:nvPr/>
        </p:nvSpPr>
        <p:spPr>
          <a:xfrm>
            <a:off x="3063240" y="2611792"/>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Data, Analytics &amp; Solutions Check-In</a:t>
            </a:r>
          </a:p>
        </p:txBody>
      </p:sp>
      <p:sp>
        <p:nvSpPr>
          <p:cNvPr id="31" name="TextBox 30">
            <a:extLst>
              <a:ext uri="{FF2B5EF4-FFF2-40B4-BE49-F238E27FC236}">
                <a16:creationId xmlns:a16="http://schemas.microsoft.com/office/drawing/2014/main" id="{7ED0D94B-238C-5D29-6E8B-2E20AA376A84}"/>
              </a:ext>
            </a:extLst>
          </p:cNvPr>
          <p:cNvSpPr txBox="1"/>
          <p:nvPr/>
        </p:nvSpPr>
        <p:spPr>
          <a:xfrm>
            <a:off x="5654040" y="2611792"/>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32" name="TextBox 31">
            <a:extLst>
              <a:ext uri="{FF2B5EF4-FFF2-40B4-BE49-F238E27FC236}">
                <a16:creationId xmlns:a16="http://schemas.microsoft.com/office/drawing/2014/main" id="{A3357D38-D4E0-DB72-CACD-86EB10511916}"/>
              </a:ext>
            </a:extLst>
          </p:cNvPr>
          <p:cNvSpPr txBox="1"/>
          <p:nvPr/>
        </p:nvSpPr>
        <p:spPr>
          <a:xfrm>
            <a:off x="6903720" y="2611793"/>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Teams, Digital Products</a:t>
            </a:r>
          </a:p>
        </p:txBody>
      </p:sp>
      <p:sp>
        <p:nvSpPr>
          <p:cNvPr id="33" name="TextBox 32">
            <a:extLst>
              <a:ext uri="{FF2B5EF4-FFF2-40B4-BE49-F238E27FC236}">
                <a16:creationId xmlns:a16="http://schemas.microsoft.com/office/drawing/2014/main" id="{BA0589CF-D883-1AB3-42EC-41A7EFAF9268}"/>
              </a:ext>
            </a:extLst>
          </p:cNvPr>
          <p:cNvSpPr txBox="1"/>
          <p:nvPr/>
        </p:nvSpPr>
        <p:spPr>
          <a:xfrm>
            <a:off x="9484994" y="2619615"/>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demand review</a:t>
            </a:r>
          </a:p>
        </p:txBody>
      </p:sp>
      <p:sp>
        <p:nvSpPr>
          <p:cNvPr id="34" name="Rectangle 33">
            <a:extLst>
              <a:ext uri="{FF2B5EF4-FFF2-40B4-BE49-F238E27FC236}">
                <a16:creationId xmlns:a16="http://schemas.microsoft.com/office/drawing/2014/main" id="{F839A6A2-EE70-FB81-A387-1A16E83A714B}"/>
              </a:ext>
            </a:extLst>
          </p:cNvPr>
          <p:cNvSpPr/>
          <p:nvPr/>
        </p:nvSpPr>
        <p:spPr>
          <a:xfrm>
            <a:off x="457200" y="2858394"/>
            <a:ext cx="11274552" cy="318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05576065-1D23-F8C9-86C5-C1501DCE4F9E}"/>
              </a:ext>
            </a:extLst>
          </p:cNvPr>
          <p:cNvSpPr txBox="1"/>
          <p:nvPr/>
        </p:nvSpPr>
        <p:spPr>
          <a:xfrm>
            <a:off x="3063240" y="2939751"/>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CX &amp; Digital CMP Update</a:t>
            </a:r>
          </a:p>
        </p:txBody>
      </p:sp>
      <p:sp>
        <p:nvSpPr>
          <p:cNvPr id="36" name="TextBox 35">
            <a:extLst>
              <a:ext uri="{FF2B5EF4-FFF2-40B4-BE49-F238E27FC236}">
                <a16:creationId xmlns:a16="http://schemas.microsoft.com/office/drawing/2014/main" id="{F3982FF9-FE1D-3B87-164E-84AA50FF4ED5}"/>
              </a:ext>
            </a:extLst>
          </p:cNvPr>
          <p:cNvSpPr txBox="1"/>
          <p:nvPr/>
        </p:nvSpPr>
        <p:spPr>
          <a:xfrm>
            <a:off x="5654040" y="2939751"/>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Monthly</a:t>
            </a:r>
          </a:p>
        </p:txBody>
      </p:sp>
      <p:sp>
        <p:nvSpPr>
          <p:cNvPr id="37" name="TextBox 36">
            <a:extLst>
              <a:ext uri="{FF2B5EF4-FFF2-40B4-BE49-F238E27FC236}">
                <a16:creationId xmlns:a16="http://schemas.microsoft.com/office/drawing/2014/main" id="{622A6B04-67AE-5DCF-302E-4E108E211C07}"/>
              </a:ext>
            </a:extLst>
          </p:cNvPr>
          <p:cNvSpPr txBox="1"/>
          <p:nvPr/>
        </p:nvSpPr>
        <p:spPr>
          <a:xfrm>
            <a:off x="6903720" y="2939752"/>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CX Digital, Operations, CMP President, VP CS</a:t>
            </a:r>
          </a:p>
        </p:txBody>
      </p:sp>
      <p:sp>
        <p:nvSpPr>
          <p:cNvPr id="38" name="TextBox 37">
            <a:extLst>
              <a:ext uri="{FF2B5EF4-FFF2-40B4-BE49-F238E27FC236}">
                <a16:creationId xmlns:a16="http://schemas.microsoft.com/office/drawing/2014/main" id="{EB731368-F4C8-BCD8-214B-41657AE5A957}"/>
              </a:ext>
            </a:extLst>
          </p:cNvPr>
          <p:cNvSpPr txBox="1"/>
          <p:nvPr/>
        </p:nvSpPr>
        <p:spPr>
          <a:xfrm>
            <a:off x="9484994" y="2947574"/>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CX-level strategic updates</a:t>
            </a:r>
          </a:p>
        </p:txBody>
      </p:sp>
      <p:sp>
        <p:nvSpPr>
          <p:cNvPr id="39" name="Rectangle 38">
            <a:extLst>
              <a:ext uri="{FF2B5EF4-FFF2-40B4-BE49-F238E27FC236}">
                <a16:creationId xmlns:a16="http://schemas.microsoft.com/office/drawing/2014/main" id="{DC70C461-57E6-D50E-588E-7183429726B0}"/>
              </a:ext>
            </a:extLst>
          </p:cNvPr>
          <p:cNvSpPr/>
          <p:nvPr/>
        </p:nvSpPr>
        <p:spPr>
          <a:xfrm>
            <a:off x="457200" y="3186352"/>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4AC51140-7683-BDB5-EAB2-18D858EC5649}"/>
              </a:ext>
            </a:extLst>
          </p:cNvPr>
          <p:cNvSpPr txBox="1"/>
          <p:nvPr/>
        </p:nvSpPr>
        <p:spPr>
          <a:xfrm>
            <a:off x="3063240" y="32677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Manager Check-in</a:t>
            </a:r>
          </a:p>
        </p:txBody>
      </p:sp>
      <p:sp>
        <p:nvSpPr>
          <p:cNvPr id="41" name="TextBox 40">
            <a:extLst>
              <a:ext uri="{FF2B5EF4-FFF2-40B4-BE49-F238E27FC236}">
                <a16:creationId xmlns:a16="http://schemas.microsoft.com/office/drawing/2014/main" id="{60B5D243-5B27-EED2-3C67-806C8B9589BE}"/>
              </a:ext>
            </a:extLst>
          </p:cNvPr>
          <p:cNvSpPr txBox="1"/>
          <p:nvPr/>
        </p:nvSpPr>
        <p:spPr>
          <a:xfrm>
            <a:off x="5654040" y="32677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42" name="TextBox 41">
            <a:extLst>
              <a:ext uri="{FF2B5EF4-FFF2-40B4-BE49-F238E27FC236}">
                <a16:creationId xmlns:a16="http://schemas.microsoft.com/office/drawing/2014/main" id="{0C9927D3-3915-DAAE-EF7E-F697A48954B6}"/>
              </a:ext>
            </a:extLst>
          </p:cNvPr>
          <p:cNvSpPr txBox="1"/>
          <p:nvPr/>
        </p:nvSpPr>
        <p:spPr>
          <a:xfrm>
            <a:off x="6903720" y="3267710"/>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[To be confirmed]</a:t>
            </a:r>
          </a:p>
        </p:txBody>
      </p:sp>
      <p:sp>
        <p:nvSpPr>
          <p:cNvPr id="43" name="TextBox 42">
            <a:extLst>
              <a:ext uri="{FF2B5EF4-FFF2-40B4-BE49-F238E27FC236}">
                <a16:creationId xmlns:a16="http://schemas.microsoft.com/office/drawing/2014/main" id="{3A8A6448-8FAC-4640-138E-A865D0F58524}"/>
              </a:ext>
            </a:extLst>
          </p:cNvPr>
          <p:cNvSpPr txBox="1"/>
          <p:nvPr/>
        </p:nvSpPr>
        <p:spPr>
          <a:xfrm>
            <a:off x="9484994" y="3275532"/>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[To be confirmed]</a:t>
            </a:r>
          </a:p>
        </p:txBody>
      </p:sp>
      <p:sp>
        <p:nvSpPr>
          <p:cNvPr id="45" name="Rectangle 44">
            <a:extLst>
              <a:ext uri="{FF2B5EF4-FFF2-40B4-BE49-F238E27FC236}">
                <a16:creationId xmlns:a16="http://schemas.microsoft.com/office/drawing/2014/main" id="{E59B28FC-4388-8697-A8CA-17FD41EC889B}"/>
              </a:ext>
            </a:extLst>
          </p:cNvPr>
          <p:cNvSpPr/>
          <p:nvPr/>
        </p:nvSpPr>
        <p:spPr>
          <a:xfrm>
            <a:off x="457200" y="6858000"/>
            <a:ext cx="73152" cy="41148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83BF0000-FD33-2CFA-89B6-29A4A02CBFFB}"/>
              </a:ext>
            </a:extLst>
          </p:cNvPr>
          <p:cNvSpPr txBox="1"/>
          <p:nvPr/>
        </p:nvSpPr>
        <p:spPr>
          <a:xfrm>
            <a:off x="621792" y="6858000"/>
            <a:ext cx="10972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WHAT'S MISSING</a:t>
            </a:r>
          </a:p>
        </p:txBody>
      </p:sp>
      <p:sp>
        <p:nvSpPr>
          <p:cNvPr id="47" name="TextBox 46">
            <a:extLst>
              <a:ext uri="{FF2B5EF4-FFF2-40B4-BE49-F238E27FC236}">
                <a16:creationId xmlns:a16="http://schemas.microsoft.com/office/drawing/2014/main" id="{7DD760BF-D8C5-0C51-1B8D-2EA8471F0964}"/>
              </a:ext>
            </a:extLst>
          </p:cNvPr>
          <p:cNvSpPr txBox="1"/>
          <p:nvPr/>
        </p:nvSpPr>
        <p:spPr>
          <a:xfrm>
            <a:off x="621792" y="7086600"/>
            <a:ext cx="10972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No portfolio steering forum (decisions on trade-offs across branches, budget, capacity) •  Manager Check-in participants and scope pending definition</a:t>
            </a:r>
          </a:p>
        </p:txBody>
      </p:sp>
      <p:sp>
        <p:nvSpPr>
          <p:cNvPr id="48" name="Rectangle 47">
            <a:extLst>
              <a:ext uri="{FF2B5EF4-FFF2-40B4-BE49-F238E27FC236}">
                <a16:creationId xmlns:a16="http://schemas.microsoft.com/office/drawing/2014/main" id="{D57B49EF-D344-EEF0-68C1-7FCFD110C21A}"/>
              </a:ext>
            </a:extLst>
          </p:cNvPr>
          <p:cNvSpPr/>
          <p:nvPr/>
        </p:nvSpPr>
        <p:spPr>
          <a:xfrm>
            <a:off x="457200" y="7449211"/>
            <a:ext cx="11054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404B8226-D626-C053-65AE-7779096E38A3}"/>
              </a:ext>
            </a:extLst>
          </p:cNvPr>
          <p:cNvSpPr txBox="1"/>
          <p:nvPr/>
        </p:nvSpPr>
        <p:spPr>
          <a:xfrm>
            <a:off x="685800" y="7521680"/>
            <a:ext cx="10605820" cy="35798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The governance layer is operationally busy but strategically incomplete — There are some areas of improvement. For example, with a portfolio steering cadence introduced in the TOM</a:t>
            </a:r>
          </a:p>
        </p:txBody>
      </p:sp>
      <p:sp>
        <p:nvSpPr>
          <p:cNvPr id="9" name="Título 2">
            <a:extLst>
              <a:ext uri="{FF2B5EF4-FFF2-40B4-BE49-F238E27FC236}">
                <a16:creationId xmlns:a16="http://schemas.microsoft.com/office/drawing/2014/main" id="{695DAEE8-F7D5-581C-F151-4D176884DB8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CURRENT STATE ANALYSIS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GOVERNMENT FORUMS – BRS</a:t>
            </a:r>
          </a:p>
        </p:txBody>
      </p:sp>
      <p:sp>
        <p:nvSpPr>
          <p:cNvPr id="128" name="Rectangle 127">
            <a:extLst>
              <a:ext uri="{FF2B5EF4-FFF2-40B4-BE49-F238E27FC236}">
                <a16:creationId xmlns:a16="http://schemas.microsoft.com/office/drawing/2014/main" id="{CD609EDB-5D80-0699-D7BF-863578B24908}"/>
              </a:ext>
            </a:extLst>
          </p:cNvPr>
          <p:cNvSpPr/>
          <p:nvPr/>
        </p:nvSpPr>
        <p:spPr>
          <a:xfrm>
            <a:off x="457200" y="3876614"/>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B4248961-8390-3469-B81C-EC72B89D82B5}"/>
              </a:ext>
            </a:extLst>
          </p:cNvPr>
          <p:cNvSpPr txBox="1"/>
          <p:nvPr/>
        </p:nvSpPr>
        <p:spPr>
          <a:xfrm>
            <a:off x="3063240" y="39791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Priority meeting</a:t>
            </a:r>
          </a:p>
        </p:txBody>
      </p:sp>
      <p:sp>
        <p:nvSpPr>
          <p:cNvPr id="130" name="TextBox 129">
            <a:extLst>
              <a:ext uri="{FF2B5EF4-FFF2-40B4-BE49-F238E27FC236}">
                <a16:creationId xmlns:a16="http://schemas.microsoft.com/office/drawing/2014/main" id="{0875BF89-317E-D85A-71FE-03061B13830D}"/>
              </a:ext>
            </a:extLst>
          </p:cNvPr>
          <p:cNvSpPr txBox="1"/>
          <p:nvPr/>
        </p:nvSpPr>
        <p:spPr>
          <a:xfrm>
            <a:off x="5654040" y="39791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131" name="TextBox 130">
            <a:extLst>
              <a:ext uri="{FF2B5EF4-FFF2-40B4-BE49-F238E27FC236}">
                <a16:creationId xmlns:a16="http://schemas.microsoft.com/office/drawing/2014/main" id="{3E16E570-6716-0C0D-A5D7-1DA3B1EC4B79}"/>
              </a:ext>
            </a:extLst>
          </p:cNvPr>
          <p:cNvSpPr txBox="1"/>
          <p:nvPr/>
        </p:nvSpPr>
        <p:spPr>
          <a:xfrm>
            <a:off x="6903720" y="3979110"/>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Project Managers</a:t>
            </a:r>
          </a:p>
        </p:txBody>
      </p:sp>
      <p:sp>
        <p:nvSpPr>
          <p:cNvPr id="132" name="TextBox 131">
            <a:extLst>
              <a:ext uri="{FF2B5EF4-FFF2-40B4-BE49-F238E27FC236}">
                <a16:creationId xmlns:a16="http://schemas.microsoft.com/office/drawing/2014/main" id="{0534E85C-BDA1-C3A2-4EF6-852E0ABCC83E}"/>
              </a:ext>
            </a:extLst>
          </p:cNvPr>
          <p:cNvSpPr txBox="1"/>
          <p:nvPr/>
        </p:nvSpPr>
        <p:spPr>
          <a:xfrm>
            <a:off x="9484994" y="3986932"/>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Prioritization of the demand</a:t>
            </a:r>
          </a:p>
        </p:txBody>
      </p:sp>
      <p:sp>
        <p:nvSpPr>
          <p:cNvPr id="133" name="Rectangle 132">
            <a:extLst>
              <a:ext uri="{FF2B5EF4-FFF2-40B4-BE49-F238E27FC236}">
                <a16:creationId xmlns:a16="http://schemas.microsoft.com/office/drawing/2014/main" id="{7C26EEB1-C988-10C1-AA49-ECA1D0688FD4}"/>
              </a:ext>
            </a:extLst>
          </p:cNvPr>
          <p:cNvSpPr/>
          <p:nvPr/>
        </p:nvSpPr>
        <p:spPr>
          <a:xfrm>
            <a:off x="457200" y="424805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467B714F-4287-4E2C-464D-425696ABBE72}"/>
              </a:ext>
            </a:extLst>
          </p:cNvPr>
          <p:cNvSpPr txBox="1"/>
          <p:nvPr/>
        </p:nvSpPr>
        <p:spPr>
          <a:xfrm>
            <a:off x="3063240" y="435055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Requirements identification</a:t>
            </a:r>
          </a:p>
        </p:txBody>
      </p:sp>
      <p:sp>
        <p:nvSpPr>
          <p:cNvPr id="135" name="TextBox 134">
            <a:extLst>
              <a:ext uri="{FF2B5EF4-FFF2-40B4-BE49-F238E27FC236}">
                <a16:creationId xmlns:a16="http://schemas.microsoft.com/office/drawing/2014/main" id="{3E1B7DDC-32C5-7C6A-F933-D31A971B68F0}"/>
              </a:ext>
            </a:extLst>
          </p:cNvPr>
          <p:cNvSpPr txBox="1"/>
          <p:nvPr/>
        </p:nvSpPr>
        <p:spPr>
          <a:xfrm>
            <a:off x="5654040" y="435055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36" name="TextBox 135">
            <a:extLst>
              <a:ext uri="{FF2B5EF4-FFF2-40B4-BE49-F238E27FC236}">
                <a16:creationId xmlns:a16="http://schemas.microsoft.com/office/drawing/2014/main" id="{7868E6D0-2C8B-6C25-C05D-B38266A8EA53}"/>
              </a:ext>
            </a:extLst>
          </p:cNvPr>
          <p:cNvSpPr txBox="1"/>
          <p:nvPr/>
        </p:nvSpPr>
        <p:spPr>
          <a:xfrm>
            <a:off x="6903720" y="4350550"/>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consultants, business team 	</a:t>
            </a:r>
          </a:p>
        </p:txBody>
      </p:sp>
      <p:sp>
        <p:nvSpPr>
          <p:cNvPr id="137" name="TextBox 136">
            <a:extLst>
              <a:ext uri="{FF2B5EF4-FFF2-40B4-BE49-F238E27FC236}">
                <a16:creationId xmlns:a16="http://schemas.microsoft.com/office/drawing/2014/main" id="{C99C2ECA-1192-3A6E-AB96-58B1905A89AC}"/>
              </a:ext>
            </a:extLst>
          </p:cNvPr>
          <p:cNvSpPr txBox="1"/>
          <p:nvPr/>
        </p:nvSpPr>
        <p:spPr>
          <a:xfrm>
            <a:off x="9484994" y="4358371"/>
            <a:ext cx="3776472" cy="140488"/>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Helvetica Neue"/>
              </a:defRPr>
            </a:lvl1pPr>
          </a:lstStyle>
          <a:p>
            <a:r>
              <a:rPr lang="en-US" noProof="0">
                <a:latin typeface="Arial" panose="020B0604020202020204" pitchFamily="34" charset="0"/>
                <a:cs typeface="Arial" panose="020B0604020202020204" pitchFamily="34" charset="0"/>
              </a:rPr>
              <a:t>Get requirements for tech team</a:t>
            </a:r>
          </a:p>
        </p:txBody>
      </p:sp>
      <p:sp>
        <p:nvSpPr>
          <p:cNvPr id="138" name="Rectangle 137">
            <a:extLst>
              <a:ext uri="{FF2B5EF4-FFF2-40B4-BE49-F238E27FC236}">
                <a16:creationId xmlns:a16="http://schemas.microsoft.com/office/drawing/2014/main" id="{82531580-F4EC-CB34-CB5C-B549AC3AAFAD}"/>
              </a:ext>
            </a:extLst>
          </p:cNvPr>
          <p:cNvSpPr/>
          <p:nvPr/>
        </p:nvSpPr>
        <p:spPr>
          <a:xfrm>
            <a:off x="457200" y="4619495"/>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9" name="TextBox 138">
            <a:extLst>
              <a:ext uri="{FF2B5EF4-FFF2-40B4-BE49-F238E27FC236}">
                <a16:creationId xmlns:a16="http://schemas.microsoft.com/office/drawing/2014/main" id="{82701EB2-0384-8498-E92F-FB68C77CDD55}"/>
              </a:ext>
            </a:extLst>
          </p:cNvPr>
          <p:cNvSpPr txBox="1"/>
          <p:nvPr/>
        </p:nvSpPr>
        <p:spPr>
          <a:xfrm>
            <a:off x="3063240" y="47219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Incident resolution</a:t>
            </a:r>
          </a:p>
        </p:txBody>
      </p:sp>
      <p:sp>
        <p:nvSpPr>
          <p:cNvPr id="140" name="TextBox 139">
            <a:extLst>
              <a:ext uri="{FF2B5EF4-FFF2-40B4-BE49-F238E27FC236}">
                <a16:creationId xmlns:a16="http://schemas.microsoft.com/office/drawing/2014/main" id="{D42767FA-1391-67A3-0044-8F51A0E45284}"/>
              </a:ext>
            </a:extLst>
          </p:cNvPr>
          <p:cNvSpPr txBox="1"/>
          <p:nvPr/>
        </p:nvSpPr>
        <p:spPr>
          <a:xfrm>
            <a:off x="5654040" y="472199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41" name="TextBox 140">
            <a:extLst>
              <a:ext uri="{FF2B5EF4-FFF2-40B4-BE49-F238E27FC236}">
                <a16:creationId xmlns:a16="http://schemas.microsoft.com/office/drawing/2014/main" id="{213A3467-C6B6-2A77-2364-59173D4F8170}"/>
              </a:ext>
            </a:extLst>
          </p:cNvPr>
          <p:cNvSpPr txBox="1"/>
          <p:nvPr/>
        </p:nvSpPr>
        <p:spPr>
          <a:xfrm>
            <a:off x="6903720" y="4721991"/>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(Accenture) and IT Lead</a:t>
            </a:r>
          </a:p>
        </p:txBody>
      </p:sp>
      <p:sp>
        <p:nvSpPr>
          <p:cNvPr id="142" name="TextBox 141">
            <a:extLst>
              <a:ext uri="{FF2B5EF4-FFF2-40B4-BE49-F238E27FC236}">
                <a16:creationId xmlns:a16="http://schemas.microsoft.com/office/drawing/2014/main" id="{7B581907-D4F7-2DCD-4011-934F60C7E95A}"/>
              </a:ext>
            </a:extLst>
          </p:cNvPr>
          <p:cNvSpPr txBox="1"/>
          <p:nvPr/>
        </p:nvSpPr>
        <p:spPr>
          <a:xfrm>
            <a:off x="9484994" y="4729813"/>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Review incidents</a:t>
            </a:r>
          </a:p>
        </p:txBody>
      </p:sp>
      <p:sp>
        <p:nvSpPr>
          <p:cNvPr id="144" name="TextBox 143">
            <a:extLst>
              <a:ext uri="{FF2B5EF4-FFF2-40B4-BE49-F238E27FC236}">
                <a16:creationId xmlns:a16="http://schemas.microsoft.com/office/drawing/2014/main" id="{8CA69119-07C6-A836-598C-8C02DE5C309A}"/>
              </a:ext>
            </a:extLst>
          </p:cNvPr>
          <p:cNvSpPr txBox="1"/>
          <p:nvPr/>
        </p:nvSpPr>
        <p:spPr>
          <a:xfrm>
            <a:off x="3063240" y="361152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Incident resolution</a:t>
            </a:r>
          </a:p>
        </p:txBody>
      </p:sp>
      <p:sp>
        <p:nvSpPr>
          <p:cNvPr id="145" name="TextBox 144">
            <a:extLst>
              <a:ext uri="{FF2B5EF4-FFF2-40B4-BE49-F238E27FC236}">
                <a16:creationId xmlns:a16="http://schemas.microsoft.com/office/drawing/2014/main" id="{6A336BC5-FDA7-4FCC-30A4-8ACFB6A124B8}"/>
              </a:ext>
            </a:extLst>
          </p:cNvPr>
          <p:cNvSpPr txBox="1"/>
          <p:nvPr/>
        </p:nvSpPr>
        <p:spPr>
          <a:xfrm>
            <a:off x="5654040" y="361152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46" name="TextBox 145">
            <a:extLst>
              <a:ext uri="{FF2B5EF4-FFF2-40B4-BE49-F238E27FC236}">
                <a16:creationId xmlns:a16="http://schemas.microsoft.com/office/drawing/2014/main" id="{75162EE0-3246-6B38-F2A2-3034344CD2C7}"/>
              </a:ext>
            </a:extLst>
          </p:cNvPr>
          <p:cNvSpPr txBox="1"/>
          <p:nvPr/>
        </p:nvSpPr>
        <p:spPr>
          <a:xfrm>
            <a:off x="6903720" y="3611521"/>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Manager and Business team</a:t>
            </a:r>
          </a:p>
        </p:txBody>
      </p:sp>
      <p:sp>
        <p:nvSpPr>
          <p:cNvPr id="147" name="TextBox 146">
            <a:extLst>
              <a:ext uri="{FF2B5EF4-FFF2-40B4-BE49-F238E27FC236}">
                <a16:creationId xmlns:a16="http://schemas.microsoft.com/office/drawing/2014/main" id="{CA1E5F80-0AB3-CB14-EC96-AEC7CBD24148}"/>
              </a:ext>
            </a:extLst>
          </p:cNvPr>
          <p:cNvSpPr txBox="1"/>
          <p:nvPr/>
        </p:nvSpPr>
        <p:spPr>
          <a:xfrm>
            <a:off x="9484994" y="3619343"/>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900" noProof="0">
                <a:solidFill>
                  <a:srgbClr val="2C3E50"/>
                </a:solidFill>
                <a:latin typeface="Arial" panose="020B0604020202020204" pitchFamily="34" charset="0"/>
                <a:cs typeface="Arial" panose="020B0604020202020204" pitchFamily="34" charset="0"/>
              </a:rPr>
              <a:t>Report incidents on UIL</a:t>
            </a:r>
            <a:endPar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A27C6639-F1C6-D9E9-A3C1-6F0E8502BF5F}"/>
              </a:ext>
            </a:extLst>
          </p:cNvPr>
          <p:cNvSpPr txBox="1"/>
          <p:nvPr/>
        </p:nvSpPr>
        <p:spPr>
          <a:xfrm>
            <a:off x="481966" y="1510627"/>
            <a:ext cx="1918334"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BRAND</a:t>
            </a:r>
          </a:p>
        </p:txBody>
      </p:sp>
      <p:sp>
        <p:nvSpPr>
          <p:cNvPr id="150" name="TextBox 149">
            <a:extLst>
              <a:ext uri="{FF2B5EF4-FFF2-40B4-BE49-F238E27FC236}">
                <a16:creationId xmlns:a16="http://schemas.microsoft.com/office/drawing/2014/main" id="{9EDD5736-7E38-96B8-6AAF-BA9EAB0AC7D7}"/>
              </a:ext>
            </a:extLst>
          </p:cNvPr>
          <p:cNvSpPr txBox="1"/>
          <p:nvPr/>
        </p:nvSpPr>
        <p:spPr>
          <a:xfrm>
            <a:off x="526542" y="3980689"/>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1" name="TextBox 150">
            <a:extLst>
              <a:ext uri="{FF2B5EF4-FFF2-40B4-BE49-F238E27FC236}">
                <a16:creationId xmlns:a16="http://schemas.microsoft.com/office/drawing/2014/main" id="{E32E7058-CD0E-B889-2D00-5287A0B2B745}"/>
              </a:ext>
            </a:extLst>
          </p:cNvPr>
          <p:cNvSpPr txBox="1"/>
          <p:nvPr/>
        </p:nvSpPr>
        <p:spPr>
          <a:xfrm>
            <a:off x="526542" y="435145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2" name="TextBox 151">
            <a:extLst>
              <a:ext uri="{FF2B5EF4-FFF2-40B4-BE49-F238E27FC236}">
                <a16:creationId xmlns:a16="http://schemas.microsoft.com/office/drawing/2014/main" id="{F5CA6A21-8D0C-EFF5-3D06-9E6368FC648F}"/>
              </a:ext>
            </a:extLst>
          </p:cNvPr>
          <p:cNvSpPr txBox="1"/>
          <p:nvPr/>
        </p:nvSpPr>
        <p:spPr>
          <a:xfrm>
            <a:off x="526542" y="4724836"/>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3" name="TextBox 152">
            <a:extLst>
              <a:ext uri="{FF2B5EF4-FFF2-40B4-BE49-F238E27FC236}">
                <a16:creationId xmlns:a16="http://schemas.microsoft.com/office/drawing/2014/main" id="{511A9880-EF09-247D-278E-AC33323B8B5E}"/>
              </a:ext>
            </a:extLst>
          </p:cNvPr>
          <p:cNvSpPr txBox="1"/>
          <p:nvPr/>
        </p:nvSpPr>
        <p:spPr>
          <a:xfrm>
            <a:off x="526542" y="292745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4" name="TextBox 153">
            <a:extLst>
              <a:ext uri="{FF2B5EF4-FFF2-40B4-BE49-F238E27FC236}">
                <a16:creationId xmlns:a16="http://schemas.microsoft.com/office/drawing/2014/main" id="{6480B319-4B9E-0188-85E2-B614B36D95F6}"/>
              </a:ext>
            </a:extLst>
          </p:cNvPr>
          <p:cNvSpPr txBox="1"/>
          <p:nvPr/>
        </p:nvSpPr>
        <p:spPr>
          <a:xfrm>
            <a:off x="526542" y="326964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7" name="TextBox 156">
            <a:extLst>
              <a:ext uri="{FF2B5EF4-FFF2-40B4-BE49-F238E27FC236}">
                <a16:creationId xmlns:a16="http://schemas.microsoft.com/office/drawing/2014/main" id="{2FC4B722-CEC5-2EA6-5353-78C632C04722}"/>
              </a:ext>
            </a:extLst>
          </p:cNvPr>
          <p:cNvSpPr txBox="1"/>
          <p:nvPr/>
        </p:nvSpPr>
        <p:spPr>
          <a:xfrm>
            <a:off x="526542" y="3603698"/>
            <a:ext cx="245478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CUSTOMER SERVICE APPLICATIONS</a:t>
            </a:r>
          </a:p>
        </p:txBody>
      </p:sp>
      <p:sp>
        <p:nvSpPr>
          <p:cNvPr id="158" name="TextBox 157">
            <a:extLst>
              <a:ext uri="{FF2B5EF4-FFF2-40B4-BE49-F238E27FC236}">
                <a16:creationId xmlns:a16="http://schemas.microsoft.com/office/drawing/2014/main" id="{669D7019-7460-E57B-D01A-D696E30B5B75}"/>
              </a:ext>
            </a:extLst>
          </p:cNvPr>
          <p:cNvSpPr txBox="1"/>
          <p:nvPr/>
        </p:nvSpPr>
        <p:spPr>
          <a:xfrm>
            <a:off x="526542" y="227969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9" name="TextBox 158">
            <a:extLst>
              <a:ext uri="{FF2B5EF4-FFF2-40B4-BE49-F238E27FC236}">
                <a16:creationId xmlns:a16="http://schemas.microsoft.com/office/drawing/2014/main" id="{52EF6333-E669-0B78-6731-1518AC78641F}"/>
              </a:ext>
            </a:extLst>
          </p:cNvPr>
          <p:cNvSpPr txBox="1"/>
          <p:nvPr/>
        </p:nvSpPr>
        <p:spPr>
          <a:xfrm>
            <a:off x="526542" y="262188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60" name="TextBox 159">
            <a:extLst>
              <a:ext uri="{FF2B5EF4-FFF2-40B4-BE49-F238E27FC236}">
                <a16:creationId xmlns:a16="http://schemas.microsoft.com/office/drawing/2014/main" id="{27748373-0002-6289-BECF-BF73D37E8B0F}"/>
              </a:ext>
            </a:extLst>
          </p:cNvPr>
          <p:cNvSpPr txBox="1"/>
          <p:nvPr/>
        </p:nvSpPr>
        <p:spPr>
          <a:xfrm>
            <a:off x="526542" y="1946617"/>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2" name="Rectángulo 1">
            <a:extLst>
              <a:ext uri="{FF2B5EF4-FFF2-40B4-BE49-F238E27FC236}">
                <a16:creationId xmlns:a16="http://schemas.microsoft.com/office/drawing/2014/main" id="{FC35C1A5-1B3C-C5F6-8A55-8A41E9C022CA}"/>
              </a:ext>
            </a:extLst>
          </p:cNvPr>
          <p:cNvSpPr/>
          <p:nvPr/>
        </p:nvSpPr>
        <p:spPr>
          <a:xfrm>
            <a:off x="13294994" y="1134407"/>
            <a:ext cx="5919891" cy="2611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err="1"/>
              <a:t>KUMAr</a:t>
            </a:r>
            <a:r>
              <a:rPr lang="en-US" sz="1200" noProof="0"/>
              <a:t> y Heather; OK </a:t>
            </a:r>
          </a:p>
          <a:p>
            <a:pPr algn="ctr"/>
            <a:endParaRPr lang="en-US" sz="1200" noProof="0"/>
          </a:p>
          <a:p>
            <a:pPr algn="ctr"/>
            <a:r>
              <a:rPr lang="en-US" sz="1200" noProof="0"/>
              <a:t>Asier y Carlos </a:t>
            </a:r>
            <a:r>
              <a:rPr lang="en-US" sz="1200" noProof="0" err="1"/>
              <a:t>foros</a:t>
            </a:r>
            <a:r>
              <a:rPr lang="en-US" sz="1200" noProof="0"/>
              <a:t> </a:t>
            </a:r>
            <a:r>
              <a:rPr lang="en-US" sz="1200" noProof="0" err="1"/>
              <a:t>identificados</a:t>
            </a:r>
            <a:r>
              <a:rPr lang="en-US" sz="1200" noProof="0"/>
              <a:t> de </a:t>
            </a:r>
            <a:r>
              <a:rPr lang="en-US" sz="1200" noProof="0" err="1"/>
              <a:t>una</a:t>
            </a:r>
            <a:r>
              <a:rPr lang="en-US" sz="1200" noProof="0"/>
              <a:t> </a:t>
            </a:r>
            <a:r>
              <a:rPr lang="en-US" sz="1200" noProof="0" err="1"/>
              <a:t>parte</a:t>
            </a:r>
            <a:r>
              <a:rPr lang="en-US" sz="1200" noProof="0"/>
              <a:t> y </a:t>
            </a:r>
            <a:r>
              <a:rPr lang="en-US" sz="1200" noProof="0" err="1"/>
              <a:t>otra</a:t>
            </a:r>
            <a:r>
              <a:rPr lang="en-US" sz="1200" noProof="0"/>
              <a:t>; Shark Tank (</a:t>
            </a:r>
            <a:r>
              <a:rPr lang="en-US" sz="1200" noProof="0" err="1"/>
              <a:t>presentar</a:t>
            </a:r>
            <a:r>
              <a:rPr lang="en-US" sz="1200" noProof="0"/>
              <a:t> ideas de POs a </a:t>
            </a:r>
            <a:r>
              <a:rPr lang="en-US" sz="1200" noProof="0" err="1"/>
              <a:t>aprobación</a:t>
            </a:r>
            <a:r>
              <a:rPr lang="en-US" sz="1200" noProof="0"/>
              <a:t>, Carlos Bruno </a:t>
            </a:r>
            <a:r>
              <a:rPr lang="en-US" sz="1200" noProof="0" err="1"/>
              <a:t>Moreto</a:t>
            </a:r>
            <a:r>
              <a:rPr lang="en-US" sz="1200" noProof="0"/>
              <a:t>.</a:t>
            </a:r>
          </a:p>
          <a:p>
            <a:pPr algn="ctr"/>
            <a:r>
              <a:rPr lang="en-US" sz="1200" noProof="0" err="1"/>
              <a:t>BigRoom</a:t>
            </a:r>
            <a:r>
              <a:rPr lang="en-US" sz="1200" noProof="0"/>
              <a:t> Planning – </a:t>
            </a:r>
            <a:r>
              <a:rPr lang="en-US" sz="1200" noProof="0" err="1"/>
              <a:t>Planificación</a:t>
            </a:r>
            <a:r>
              <a:rPr lang="en-US" sz="1200" noProof="0"/>
              <a:t> del Quarter roadmaps y </a:t>
            </a:r>
            <a:r>
              <a:rPr lang="en-US" sz="1200" noProof="0" err="1"/>
              <a:t>trabajo</a:t>
            </a:r>
            <a:r>
              <a:rPr lang="en-US" sz="1200" noProof="0"/>
              <a:t> de </a:t>
            </a:r>
            <a:r>
              <a:rPr lang="en-US" sz="1200" noProof="0" err="1"/>
              <a:t>próximos</a:t>
            </a:r>
            <a:r>
              <a:rPr lang="en-US" sz="1200" noProof="0"/>
              <a:t> meses</a:t>
            </a:r>
          </a:p>
          <a:p>
            <a:pPr algn="ctr"/>
            <a:endParaRPr lang="en-US" sz="1200" noProof="0"/>
          </a:p>
          <a:p>
            <a:pPr algn="ctr"/>
            <a:r>
              <a:rPr lang="en-US" sz="1200" noProof="0"/>
              <a:t>Portfolio </a:t>
            </a:r>
            <a:r>
              <a:rPr lang="en-US" sz="1200" noProof="0" err="1"/>
              <a:t>commitee</a:t>
            </a:r>
            <a:r>
              <a:rPr lang="en-US" sz="1200" noProof="0"/>
              <a:t> in progress: programming Review, solutioning design </a:t>
            </a:r>
            <a:r>
              <a:rPr lang="en-US" sz="1200" noProof="0" err="1"/>
              <a:t>sesión</a:t>
            </a:r>
            <a:endParaRPr lang="en-US" sz="1200" noProof="0"/>
          </a:p>
          <a:p>
            <a:pPr algn="ctr"/>
            <a:endParaRPr lang="en-US" sz="1200" noProof="0"/>
          </a:p>
          <a:p>
            <a:pPr algn="ctr"/>
            <a:r>
              <a:rPr lang="en-US" sz="1200" noProof="0"/>
              <a:t>Mas </a:t>
            </a:r>
            <a:r>
              <a:rPr lang="en-US" sz="1200" noProof="0" err="1"/>
              <a:t>foros</a:t>
            </a:r>
            <a:r>
              <a:rPr lang="en-US" sz="1200" noProof="0"/>
              <a:t> de </a:t>
            </a:r>
            <a:r>
              <a:rPr lang="en-US" sz="1200" noProof="0" err="1"/>
              <a:t>governancel</a:t>
            </a:r>
            <a:r>
              <a:rPr lang="en-US" sz="1200" noProof="0"/>
              <a:t> </a:t>
            </a:r>
            <a:r>
              <a:rPr lang="en-US" sz="1200" noProof="0" err="1"/>
              <a:t>proyecto</a:t>
            </a:r>
            <a:r>
              <a:rPr lang="en-US" sz="1200" noProof="0"/>
              <a:t> </a:t>
            </a:r>
            <a:r>
              <a:rPr lang="en-US" sz="1200" noProof="0" err="1"/>
              <a:t>pasado</a:t>
            </a:r>
            <a:r>
              <a:rPr lang="en-US" sz="1200" noProof="0"/>
              <a:t> </a:t>
            </a:r>
            <a:r>
              <a:rPr lang="en-US" sz="1200" noProof="0" err="1"/>
              <a:t>que</a:t>
            </a:r>
            <a:r>
              <a:rPr lang="en-US" sz="1200" noProof="0"/>
              <a:t> </a:t>
            </a:r>
            <a:r>
              <a:rPr lang="en-US" sz="1200" noProof="0" err="1"/>
              <a:t>estén</a:t>
            </a:r>
            <a:r>
              <a:rPr lang="en-US" sz="1200" noProof="0"/>
              <a:t> </a:t>
            </a:r>
            <a:r>
              <a:rPr lang="en-US" sz="1200" noProof="0" err="1"/>
              <a:t>activos</a:t>
            </a:r>
            <a:endParaRPr lang="en-US" sz="1200" noProof="0"/>
          </a:p>
          <a:p>
            <a:pPr algn="ctr"/>
            <a:endParaRPr lang="en-US" sz="1200" noProof="0"/>
          </a:p>
        </p:txBody>
      </p:sp>
      <p:sp>
        <p:nvSpPr>
          <p:cNvPr id="56" name="Rectangle 127">
            <a:extLst>
              <a:ext uri="{FF2B5EF4-FFF2-40B4-BE49-F238E27FC236}">
                <a16:creationId xmlns:a16="http://schemas.microsoft.com/office/drawing/2014/main" id="{BFA336B4-2BE3-4A73-196E-F8631CCCB5A6}"/>
              </a:ext>
            </a:extLst>
          </p:cNvPr>
          <p:cNvSpPr/>
          <p:nvPr/>
        </p:nvSpPr>
        <p:spPr>
          <a:xfrm>
            <a:off x="457200" y="5324414"/>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7" name="TextBox 128">
            <a:extLst>
              <a:ext uri="{FF2B5EF4-FFF2-40B4-BE49-F238E27FC236}">
                <a16:creationId xmlns:a16="http://schemas.microsoft.com/office/drawing/2014/main" id="{6B83C155-89D6-DF3F-AD50-C29C9AE22A03}"/>
              </a:ext>
            </a:extLst>
          </p:cNvPr>
          <p:cNvSpPr txBox="1"/>
          <p:nvPr/>
        </p:nvSpPr>
        <p:spPr>
          <a:xfrm>
            <a:off x="3063240" y="54269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1000" b="1">
                <a:solidFill>
                  <a:srgbClr val="0F1C50"/>
                </a:solidFill>
                <a:latin typeface="Arial" panose="020B0604020202020204" pitchFamily="34" charset="0"/>
                <a:cs typeface="Arial" panose="020B0604020202020204" pitchFamily="34" charset="0"/>
              </a:rPr>
              <a:t>Portfolio Sync</a:t>
            </a:r>
            <a:endPar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58" name="TextBox 129">
            <a:extLst>
              <a:ext uri="{FF2B5EF4-FFF2-40B4-BE49-F238E27FC236}">
                <a16:creationId xmlns:a16="http://schemas.microsoft.com/office/drawing/2014/main" id="{6D55C861-54B4-CA8A-B47B-C50746E193C2}"/>
              </a:ext>
            </a:extLst>
          </p:cNvPr>
          <p:cNvSpPr txBox="1"/>
          <p:nvPr/>
        </p:nvSpPr>
        <p:spPr>
          <a:xfrm>
            <a:off x="5654040" y="54269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Bi-Weekly</a:t>
            </a:r>
          </a:p>
        </p:txBody>
      </p:sp>
      <p:sp>
        <p:nvSpPr>
          <p:cNvPr id="59" name="TextBox 130">
            <a:extLst>
              <a:ext uri="{FF2B5EF4-FFF2-40B4-BE49-F238E27FC236}">
                <a16:creationId xmlns:a16="http://schemas.microsoft.com/office/drawing/2014/main" id="{A16F3B9D-1A52-B042-5E27-B19288D39CB1}"/>
              </a:ext>
            </a:extLst>
          </p:cNvPr>
          <p:cNvSpPr txBox="1"/>
          <p:nvPr/>
        </p:nvSpPr>
        <p:spPr>
          <a:xfrm>
            <a:off x="6903720" y="5342272"/>
            <a:ext cx="3657600" cy="325410"/>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Portfolio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60" name="Rectangle 132">
            <a:extLst>
              <a:ext uri="{FF2B5EF4-FFF2-40B4-BE49-F238E27FC236}">
                <a16:creationId xmlns:a16="http://schemas.microsoft.com/office/drawing/2014/main" id="{79C60463-A32D-3850-6E64-7310A234726D}"/>
              </a:ext>
            </a:extLst>
          </p:cNvPr>
          <p:cNvSpPr/>
          <p:nvPr/>
        </p:nvSpPr>
        <p:spPr>
          <a:xfrm>
            <a:off x="457200" y="569585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1" name="TextBox 133">
            <a:extLst>
              <a:ext uri="{FF2B5EF4-FFF2-40B4-BE49-F238E27FC236}">
                <a16:creationId xmlns:a16="http://schemas.microsoft.com/office/drawing/2014/main" id="{CABE2CB5-1B55-6F9C-D3B4-B736AB6B7AFC}"/>
              </a:ext>
            </a:extLst>
          </p:cNvPr>
          <p:cNvSpPr txBox="1"/>
          <p:nvPr/>
        </p:nvSpPr>
        <p:spPr>
          <a:xfrm>
            <a:off x="3063240" y="579835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Shark</a:t>
            </a:r>
            <a:r>
              <a:rPr lang="en-US" sz="1000" b="1">
                <a:solidFill>
                  <a:srgbClr val="0F1C50"/>
                </a:solidFill>
                <a:latin typeface="Arial" panose="020B0604020202020204" pitchFamily="34" charset="0"/>
                <a:cs typeface="Arial" panose="020B0604020202020204" pitchFamily="34" charset="0"/>
              </a:rPr>
              <a:t> Tank</a:t>
            </a:r>
            <a:endPar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62" name="TextBox 134">
            <a:extLst>
              <a:ext uri="{FF2B5EF4-FFF2-40B4-BE49-F238E27FC236}">
                <a16:creationId xmlns:a16="http://schemas.microsoft.com/office/drawing/2014/main" id="{A332A163-C634-ADCF-AB1F-EA515CDD620B}"/>
              </a:ext>
            </a:extLst>
          </p:cNvPr>
          <p:cNvSpPr txBox="1"/>
          <p:nvPr/>
        </p:nvSpPr>
        <p:spPr>
          <a:xfrm>
            <a:off x="5654040" y="579835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Monthly</a:t>
            </a:r>
          </a:p>
        </p:txBody>
      </p:sp>
      <p:sp>
        <p:nvSpPr>
          <p:cNvPr id="63" name="TextBox 135">
            <a:extLst>
              <a:ext uri="{FF2B5EF4-FFF2-40B4-BE49-F238E27FC236}">
                <a16:creationId xmlns:a16="http://schemas.microsoft.com/office/drawing/2014/main" id="{F2DA9480-4B36-AEE0-6076-860C4AFB85EA}"/>
              </a:ext>
            </a:extLst>
          </p:cNvPr>
          <p:cNvSpPr txBox="1"/>
          <p:nvPr/>
        </p:nvSpPr>
        <p:spPr>
          <a:xfrm>
            <a:off x="6903720" y="5713712"/>
            <a:ext cx="3657600" cy="325410"/>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Portfolio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 </a:t>
            </a: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p>
        </p:txBody>
      </p:sp>
      <p:sp>
        <p:nvSpPr>
          <p:cNvPr id="143" name="Rectangle 137">
            <a:extLst>
              <a:ext uri="{FF2B5EF4-FFF2-40B4-BE49-F238E27FC236}">
                <a16:creationId xmlns:a16="http://schemas.microsoft.com/office/drawing/2014/main" id="{422757B7-CDA5-ADCC-AFCC-DC0E9F891EE8}"/>
              </a:ext>
            </a:extLst>
          </p:cNvPr>
          <p:cNvSpPr/>
          <p:nvPr/>
        </p:nvSpPr>
        <p:spPr>
          <a:xfrm>
            <a:off x="457200" y="6067295"/>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9" name="TextBox 138">
            <a:extLst>
              <a:ext uri="{FF2B5EF4-FFF2-40B4-BE49-F238E27FC236}">
                <a16:creationId xmlns:a16="http://schemas.microsoft.com/office/drawing/2014/main" id="{E037EA41-6C06-7E63-0CE7-D4427A43A3D6}"/>
              </a:ext>
            </a:extLst>
          </p:cNvPr>
          <p:cNvSpPr txBox="1"/>
          <p:nvPr/>
        </p:nvSpPr>
        <p:spPr>
          <a:xfrm>
            <a:off x="3063240" y="61697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Portfolio Committee</a:t>
            </a:r>
          </a:p>
        </p:txBody>
      </p:sp>
      <p:sp>
        <p:nvSpPr>
          <p:cNvPr id="155" name="TextBox 139">
            <a:extLst>
              <a:ext uri="{FF2B5EF4-FFF2-40B4-BE49-F238E27FC236}">
                <a16:creationId xmlns:a16="http://schemas.microsoft.com/office/drawing/2014/main" id="{1AE64053-61E2-0545-2AB8-701CFE53A9E9}"/>
              </a:ext>
            </a:extLst>
          </p:cNvPr>
          <p:cNvSpPr txBox="1"/>
          <p:nvPr/>
        </p:nvSpPr>
        <p:spPr>
          <a:xfrm>
            <a:off x="5654040" y="6169790"/>
            <a:ext cx="1097280" cy="156133"/>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Quarter</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156" name="TextBox 140">
            <a:extLst>
              <a:ext uri="{FF2B5EF4-FFF2-40B4-BE49-F238E27FC236}">
                <a16:creationId xmlns:a16="http://schemas.microsoft.com/office/drawing/2014/main" id="{B9B3D827-ABF0-2937-000A-F4E4F92BB060}"/>
              </a:ext>
            </a:extLst>
          </p:cNvPr>
          <p:cNvSpPr txBox="1"/>
          <p:nvPr/>
        </p:nvSpPr>
        <p:spPr>
          <a:xfrm>
            <a:off x="6903720" y="6085153"/>
            <a:ext cx="3657600" cy="325410"/>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Portfolio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a:t>
            </a:r>
          </a:p>
        </p:txBody>
      </p:sp>
      <p:sp>
        <p:nvSpPr>
          <p:cNvPr id="161" name="TextBox 149">
            <a:extLst>
              <a:ext uri="{FF2B5EF4-FFF2-40B4-BE49-F238E27FC236}">
                <a16:creationId xmlns:a16="http://schemas.microsoft.com/office/drawing/2014/main" id="{38E8EDFE-9AFC-7684-22DA-14D190782CD4}"/>
              </a:ext>
            </a:extLst>
          </p:cNvPr>
          <p:cNvSpPr txBox="1"/>
          <p:nvPr/>
        </p:nvSpPr>
        <p:spPr>
          <a:xfrm>
            <a:off x="526542" y="5428489"/>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2" name="TextBox 150">
            <a:extLst>
              <a:ext uri="{FF2B5EF4-FFF2-40B4-BE49-F238E27FC236}">
                <a16:creationId xmlns:a16="http://schemas.microsoft.com/office/drawing/2014/main" id="{74DD19BB-E27B-5FF9-28C2-F5B1B71FACC7}"/>
              </a:ext>
            </a:extLst>
          </p:cNvPr>
          <p:cNvSpPr txBox="1"/>
          <p:nvPr/>
        </p:nvSpPr>
        <p:spPr>
          <a:xfrm>
            <a:off x="526542" y="579925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3" name="TextBox 151">
            <a:extLst>
              <a:ext uri="{FF2B5EF4-FFF2-40B4-BE49-F238E27FC236}">
                <a16:creationId xmlns:a16="http://schemas.microsoft.com/office/drawing/2014/main" id="{96A64900-54EA-106A-E9A4-A8BA411291BC}"/>
              </a:ext>
            </a:extLst>
          </p:cNvPr>
          <p:cNvSpPr txBox="1"/>
          <p:nvPr/>
        </p:nvSpPr>
        <p:spPr>
          <a:xfrm>
            <a:off x="526542" y="6172636"/>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4" name="Rectangle 132">
            <a:extLst>
              <a:ext uri="{FF2B5EF4-FFF2-40B4-BE49-F238E27FC236}">
                <a16:creationId xmlns:a16="http://schemas.microsoft.com/office/drawing/2014/main" id="{1B60F52F-9B0C-A551-5FF6-45FC94FB8E2A}"/>
              </a:ext>
            </a:extLst>
          </p:cNvPr>
          <p:cNvSpPr/>
          <p:nvPr/>
        </p:nvSpPr>
        <p:spPr>
          <a:xfrm>
            <a:off x="457200" y="497449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6" name="TextBox 133">
            <a:extLst>
              <a:ext uri="{FF2B5EF4-FFF2-40B4-BE49-F238E27FC236}">
                <a16:creationId xmlns:a16="http://schemas.microsoft.com/office/drawing/2014/main" id="{6199112B-C892-AF01-FFBA-7382AFE08D67}"/>
              </a:ext>
            </a:extLst>
          </p:cNvPr>
          <p:cNvSpPr txBox="1"/>
          <p:nvPr/>
        </p:nvSpPr>
        <p:spPr>
          <a:xfrm>
            <a:off x="3063240" y="50769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BRP - Big Room Planning</a:t>
            </a:r>
          </a:p>
        </p:txBody>
      </p:sp>
      <p:sp>
        <p:nvSpPr>
          <p:cNvPr id="167" name="TextBox 134">
            <a:extLst>
              <a:ext uri="{FF2B5EF4-FFF2-40B4-BE49-F238E27FC236}">
                <a16:creationId xmlns:a16="http://schemas.microsoft.com/office/drawing/2014/main" id="{B744C147-FEC7-92EF-448F-8AECB1B9555A}"/>
              </a:ext>
            </a:extLst>
          </p:cNvPr>
          <p:cNvSpPr txBox="1"/>
          <p:nvPr/>
        </p:nvSpPr>
        <p:spPr>
          <a:xfrm>
            <a:off x="5654040" y="507699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Quarter</a:t>
            </a:r>
          </a:p>
        </p:txBody>
      </p:sp>
      <p:sp>
        <p:nvSpPr>
          <p:cNvPr id="168" name="TextBox 135">
            <a:extLst>
              <a:ext uri="{FF2B5EF4-FFF2-40B4-BE49-F238E27FC236}">
                <a16:creationId xmlns:a16="http://schemas.microsoft.com/office/drawing/2014/main" id="{9EDE0FB4-BC23-ACCE-3650-0E3E445A3FE9}"/>
              </a:ext>
            </a:extLst>
          </p:cNvPr>
          <p:cNvSpPr txBox="1"/>
          <p:nvPr/>
        </p:nvSpPr>
        <p:spPr>
          <a:xfrm>
            <a:off x="6903720" y="4992352"/>
            <a:ext cx="3657600" cy="325410"/>
          </a:xfrm>
          <a:prstGeom prst="rect">
            <a:avLst/>
          </a:prstGeom>
          <a:noFill/>
        </p:spPr>
        <p:txBody>
          <a:bodyPr wrap="square" lIns="0" tIns="0" rIns="0" bIns="0" anchor="ctr">
            <a:spAutoFit/>
          </a:bodyPr>
          <a:lstStyle/>
          <a:p>
            <a:pPr lvl="0">
              <a:lnSpc>
                <a:spcPct val="110000"/>
              </a:lnSpc>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Portfolio </a:t>
            </a:r>
            <a:r>
              <a:rPr kumimoji="0" lang="en-US" sz="1000" b="0" i="0" u="none" strike="noStrike" kern="1200" cap="none" spc="0" normalizeH="0" baseline="0" noProof="0" err="1">
                <a:ln>
                  <a:noFill/>
                </a:ln>
                <a:solidFill>
                  <a:srgbClr val="2C3E50"/>
                </a:solidFill>
                <a:effectLst/>
                <a:uLnTx/>
                <a:uFillTx/>
                <a:latin typeface="Arial" panose="020B0604020202020204" pitchFamily="34" charset="0"/>
                <a:cs typeface="Arial" panose="020B0604020202020204" pitchFamily="34" charset="0"/>
              </a:rPr>
              <a:t>Mngr</a:t>
            </a: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r>
              <a:rPr lang="en-US" sz="1000">
                <a:solidFill>
                  <a:srgbClr val="2C3E50"/>
                </a:solidFill>
                <a:latin typeface="Arial" panose="020B0604020202020204" pitchFamily="34" charset="0"/>
                <a:cs typeface="Arial" panose="020B0604020202020204" pitchFamily="34" charset="0"/>
              </a:rPr>
              <a:t>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 </a:t>
            </a: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p>
        </p:txBody>
      </p:sp>
      <p:sp>
        <p:nvSpPr>
          <p:cNvPr id="169" name="TextBox 150">
            <a:extLst>
              <a:ext uri="{FF2B5EF4-FFF2-40B4-BE49-F238E27FC236}">
                <a16:creationId xmlns:a16="http://schemas.microsoft.com/office/drawing/2014/main" id="{0BE24E87-EDE3-264F-862D-B30A7694C877}"/>
              </a:ext>
            </a:extLst>
          </p:cNvPr>
          <p:cNvSpPr txBox="1"/>
          <p:nvPr/>
        </p:nvSpPr>
        <p:spPr>
          <a:xfrm>
            <a:off x="526542" y="507789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4" name="TextBox 141">
            <a:extLst>
              <a:ext uri="{FF2B5EF4-FFF2-40B4-BE49-F238E27FC236}">
                <a16:creationId xmlns:a16="http://schemas.microsoft.com/office/drawing/2014/main" id="{34AC8D0E-628F-EFBC-143F-9198674732EA}"/>
              </a:ext>
            </a:extLst>
          </p:cNvPr>
          <p:cNvSpPr txBox="1"/>
          <p:nvPr/>
        </p:nvSpPr>
        <p:spPr>
          <a:xfrm>
            <a:off x="9472158" y="5360939"/>
            <a:ext cx="3776472" cy="2963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Portfolio progress review</a:t>
            </a:r>
          </a:p>
          <a:p>
            <a:r>
              <a:rPr lang="en-US"/>
              <a:t>Re-prioritization based on performance</a:t>
            </a:r>
          </a:p>
        </p:txBody>
      </p:sp>
      <p:sp>
        <p:nvSpPr>
          <p:cNvPr id="5" name="TextBox 141">
            <a:extLst>
              <a:ext uri="{FF2B5EF4-FFF2-40B4-BE49-F238E27FC236}">
                <a16:creationId xmlns:a16="http://schemas.microsoft.com/office/drawing/2014/main" id="{B7405F6E-28EB-DE8B-0AB7-64A8E2328E3A}"/>
              </a:ext>
            </a:extLst>
          </p:cNvPr>
          <p:cNvSpPr txBox="1"/>
          <p:nvPr/>
        </p:nvSpPr>
        <p:spPr>
          <a:xfrm>
            <a:off x="9460926" y="5014588"/>
            <a:ext cx="3776472" cy="292837"/>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s-MX" err="1"/>
              <a:t>Quarterly</a:t>
            </a:r>
            <a:r>
              <a:rPr lang="es-MX"/>
              <a:t> </a:t>
            </a:r>
            <a:r>
              <a:rPr lang="es-MX" err="1"/>
              <a:t>priority</a:t>
            </a:r>
            <a:r>
              <a:rPr lang="es-MX"/>
              <a:t> </a:t>
            </a:r>
            <a:r>
              <a:rPr lang="es-MX" err="1"/>
              <a:t>alignment</a:t>
            </a:r>
            <a:br>
              <a:rPr lang="es-MX"/>
            </a:br>
            <a:r>
              <a:rPr lang="es-MX" err="1"/>
              <a:t>Commitment</a:t>
            </a:r>
            <a:r>
              <a:rPr lang="es-MX"/>
              <a:t> </a:t>
            </a:r>
            <a:r>
              <a:rPr lang="es-MX" err="1"/>
              <a:t>on</a:t>
            </a:r>
            <a:r>
              <a:rPr lang="es-MX"/>
              <a:t> PI / </a:t>
            </a:r>
            <a:r>
              <a:rPr lang="es-MX" err="1"/>
              <a:t>quarter</a:t>
            </a:r>
            <a:r>
              <a:rPr lang="es-MX"/>
              <a:t> </a:t>
            </a:r>
            <a:r>
              <a:rPr lang="es-MX" err="1"/>
              <a:t>objectives</a:t>
            </a:r>
            <a:endParaRPr lang="es-MX"/>
          </a:p>
        </p:txBody>
      </p:sp>
      <p:sp>
        <p:nvSpPr>
          <p:cNvPr id="6" name="TextBox 141">
            <a:extLst>
              <a:ext uri="{FF2B5EF4-FFF2-40B4-BE49-F238E27FC236}">
                <a16:creationId xmlns:a16="http://schemas.microsoft.com/office/drawing/2014/main" id="{82E446A6-7823-A273-37D7-0297F7DE24DC}"/>
              </a:ext>
            </a:extLst>
          </p:cNvPr>
          <p:cNvSpPr txBox="1"/>
          <p:nvPr/>
        </p:nvSpPr>
        <p:spPr>
          <a:xfrm>
            <a:off x="9484994" y="5755331"/>
            <a:ext cx="3776472" cy="2963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Initiative approval or rejection</a:t>
            </a:r>
          </a:p>
          <a:p>
            <a:r>
              <a:rPr lang="en-US"/>
              <a:t>Funding allocation decisions</a:t>
            </a:r>
          </a:p>
        </p:txBody>
      </p:sp>
      <p:sp>
        <p:nvSpPr>
          <p:cNvPr id="7" name="TextBox 141">
            <a:extLst>
              <a:ext uri="{FF2B5EF4-FFF2-40B4-BE49-F238E27FC236}">
                <a16:creationId xmlns:a16="http://schemas.microsoft.com/office/drawing/2014/main" id="{43B5811D-F06E-A19E-953E-6DEFE594CD31}"/>
              </a:ext>
            </a:extLst>
          </p:cNvPr>
          <p:cNvSpPr txBox="1"/>
          <p:nvPr/>
        </p:nvSpPr>
        <p:spPr>
          <a:xfrm>
            <a:off x="9483389" y="6109863"/>
            <a:ext cx="3776472" cy="2963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Major funding reallocations</a:t>
            </a:r>
          </a:p>
          <a:p>
            <a:r>
              <a:rPr lang="en-US"/>
              <a:t>Performance oversight</a:t>
            </a:r>
          </a:p>
        </p:txBody>
      </p:sp>
    </p:spTree>
    <p:extLst>
      <p:ext uri="{BB962C8B-B14F-4D97-AF65-F5344CB8AC3E}">
        <p14:creationId xmlns:p14="http://schemas.microsoft.com/office/powerpoint/2010/main" val="2070795118"/>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5178F-A4B3-A02B-7F16-74399AD68F63}"/>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9ADF9EB-C468-FFDF-C8D3-C9B195D58FF5}"/>
              </a:ext>
            </a:extLst>
          </p:cNvPr>
          <p:cNvSpPr/>
          <p:nvPr/>
        </p:nvSpPr>
        <p:spPr>
          <a:xfrm>
            <a:off x="657721" y="4568871"/>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30" name="Group 29">
            <a:extLst>
              <a:ext uri="{FF2B5EF4-FFF2-40B4-BE49-F238E27FC236}">
                <a16:creationId xmlns:a16="http://schemas.microsoft.com/office/drawing/2014/main" id="{F7F50367-AF05-6320-77E0-3182EA9A4062}"/>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AB96DE4D-75CB-35C4-9FCF-F67748413776}"/>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41191E05-495D-5ADF-C31A-40ADDDBAF606}"/>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F0998116-030D-CD25-B1E6-C7B6451E5B17}"/>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226F4B2A-E4BA-7741-0372-61CA00DA16A2}"/>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1F62E5D8-E457-EDC5-427B-B92BD40CB408}"/>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8455514A-F8F5-ACA5-4096-E28DC7CE1A2C}"/>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D12DF60F-8AA3-53E1-3C18-CC9984E73FF7}"/>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2E1267FF-FF51-5843-56A8-F2BE8FD4D3D5}"/>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C2DD32E3-A9D6-5276-7B75-A5C052A21E5D}"/>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C4D8612C-AAEF-3225-34D0-278DB8A65920}"/>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D2C92F0C-7C8D-BFFD-F1FB-1D5E72A5DF1C}"/>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33FC9C17-F1EA-4456-58FB-9DC85140617D}"/>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BF50C9D9-DEAF-ACFD-9A47-3348862423E7}"/>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25CCFEA4-2F20-2B52-A9A7-D3794FF4BBC1}"/>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35286C50-62E2-6306-7563-2D03457246CD}"/>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B800BD4F-BE89-E530-EF3C-75C1341BF4C0}"/>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7B6E6A52-BA53-470E-39E4-D74418E51F23}"/>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F86EEF9-A369-1104-7740-A36030E33693}"/>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F8D0D379-AF78-7F24-3AA5-80B6BB2749BD}"/>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6CC63903-A14A-E8C1-87A7-4381D3DB5EB3}"/>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3C2ED85A-CDA6-1AB9-EC4A-01F81228F03A}"/>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97D00D78-97BA-5C48-42CA-33360E20234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491E02F2-AB59-7CB0-471D-3C3CB8DDB036}"/>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4C938F4B-3DAD-772C-D978-0BF535FF1AA6}"/>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73C26984-28A8-F0FF-60F8-7015EA9A713C}"/>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A5CEE3CB-14F4-BDD5-0804-44307CA5DC61}"/>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793DDFBC-7472-B9FD-2AA0-057B58C5F0B4}"/>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D00D3919-E36A-89B5-3617-4EAED6F70965}"/>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Tree>
    <p:extLst>
      <p:ext uri="{BB962C8B-B14F-4D97-AF65-F5344CB8AC3E}">
        <p14:creationId xmlns:p14="http://schemas.microsoft.com/office/powerpoint/2010/main" val="2861302778"/>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A1029-D61C-73F8-8606-8765180B1DEA}"/>
            </a:ext>
          </a:extLst>
        </p:cNvPr>
        <p:cNvGrpSpPr/>
        <p:nvPr/>
      </p:nvGrpSpPr>
      <p:grpSpPr>
        <a:xfrm>
          <a:off x="0" y="0"/>
          <a:ext cx="0" cy="0"/>
          <a:chOff x="0" y="0"/>
          <a:chExt cx="0" cy="0"/>
        </a:xfrm>
      </p:grpSpPr>
      <p:sp>
        <p:nvSpPr>
          <p:cNvPr id="231" name="Título 2">
            <a:extLst>
              <a:ext uri="{FF2B5EF4-FFF2-40B4-BE49-F238E27FC236}">
                <a16:creationId xmlns:a16="http://schemas.microsoft.com/office/drawing/2014/main" id="{E8926704-82A0-29C1-A9B0-221669C9C27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PROJECT PORTFOLIO LANDSCAPE</a:t>
            </a:r>
          </a:p>
          <a:p>
            <a:r>
              <a:rPr lang="en-US" sz="1200" noProof="0">
                <a:latin typeface="Arial" panose="020B0604020202020204" pitchFamily="34" charset="0"/>
                <a:cs typeface="Arial" panose="020B0604020202020204" pitchFamily="34" charset="0"/>
              </a:rPr>
              <a:t>VALUE STREAM MAPPING - DEMAND FLOW</a:t>
            </a:r>
          </a:p>
        </p:txBody>
      </p:sp>
      <p:sp>
        <p:nvSpPr>
          <p:cNvPr id="2" name="TextBox 5">
            <a:extLst>
              <a:ext uri="{FF2B5EF4-FFF2-40B4-BE49-F238E27FC236}">
                <a16:creationId xmlns:a16="http://schemas.microsoft.com/office/drawing/2014/main" id="{34190B6E-463A-2E31-CF8F-6986D2057D73}"/>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The end-to-end AS-IS demand pipeline on one page — eleven source areas funnel into fragmented channels, split by demand type, and land on one of two delivery branches</a:t>
            </a:r>
          </a:p>
        </p:txBody>
      </p:sp>
      <p:sp>
        <p:nvSpPr>
          <p:cNvPr id="15" name="TextBox 18">
            <a:extLst>
              <a:ext uri="{FF2B5EF4-FFF2-40B4-BE49-F238E27FC236}">
                <a16:creationId xmlns:a16="http://schemas.microsoft.com/office/drawing/2014/main" id="{B7AE17EF-0563-8709-5C60-E7383EA8EF44}"/>
              </a:ext>
            </a:extLst>
          </p:cNvPr>
          <p:cNvSpPr txBox="1"/>
          <p:nvPr/>
        </p:nvSpPr>
        <p:spPr>
          <a:xfrm>
            <a:off x="4617525" y="1601952"/>
            <a:ext cx="402336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How the demand arrives — color by type</a:t>
            </a:r>
          </a:p>
        </p:txBody>
      </p:sp>
      <p:sp>
        <p:nvSpPr>
          <p:cNvPr id="16" name="Rectangle 19">
            <a:extLst>
              <a:ext uri="{FF2B5EF4-FFF2-40B4-BE49-F238E27FC236}">
                <a16:creationId xmlns:a16="http://schemas.microsoft.com/office/drawing/2014/main" id="{8E3CBF6C-8845-0370-D03E-1E1CC706D334}"/>
              </a:ext>
            </a:extLst>
          </p:cNvPr>
          <p:cNvSpPr/>
          <p:nvPr/>
        </p:nvSpPr>
        <p:spPr>
          <a:xfrm>
            <a:off x="8794444" y="1236192"/>
            <a:ext cx="3102022"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20">
            <a:extLst>
              <a:ext uri="{FF2B5EF4-FFF2-40B4-BE49-F238E27FC236}">
                <a16:creationId xmlns:a16="http://schemas.microsoft.com/office/drawing/2014/main" id="{625D4395-6597-9970-6AAF-837BEA4C69BF}"/>
              </a:ext>
            </a:extLst>
          </p:cNvPr>
          <p:cNvSpPr txBox="1"/>
          <p:nvPr/>
        </p:nvSpPr>
        <p:spPr>
          <a:xfrm>
            <a:off x="8794444" y="1310033"/>
            <a:ext cx="3102022"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03 · CLASSIFICATION</a:t>
            </a:r>
          </a:p>
        </p:txBody>
      </p:sp>
      <p:sp>
        <p:nvSpPr>
          <p:cNvPr id="18" name="TextBox 21">
            <a:extLst>
              <a:ext uri="{FF2B5EF4-FFF2-40B4-BE49-F238E27FC236}">
                <a16:creationId xmlns:a16="http://schemas.microsoft.com/office/drawing/2014/main" id="{D6BD2AF2-994A-96A7-B609-ABD89BF290C4}"/>
              </a:ext>
            </a:extLst>
          </p:cNvPr>
          <p:cNvSpPr txBox="1"/>
          <p:nvPr/>
        </p:nvSpPr>
        <p:spPr>
          <a:xfrm>
            <a:off x="8794444" y="1601952"/>
            <a:ext cx="3102022"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What kind of demand</a:t>
            </a:r>
          </a:p>
        </p:txBody>
      </p:sp>
      <p:sp>
        <p:nvSpPr>
          <p:cNvPr id="10" name="Rectangle 13">
            <a:extLst>
              <a:ext uri="{FF2B5EF4-FFF2-40B4-BE49-F238E27FC236}">
                <a16:creationId xmlns:a16="http://schemas.microsoft.com/office/drawing/2014/main" id="{99A1C55F-1070-EC23-E990-D56678C703CD}"/>
              </a:ext>
            </a:extLst>
          </p:cNvPr>
          <p:cNvSpPr/>
          <p:nvPr/>
        </p:nvSpPr>
        <p:spPr>
          <a:xfrm>
            <a:off x="279988" y="1236192"/>
            <a:ext cx="136026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TextBox 14">
            <a:extLst>
              <a:ext uri="{FF2B5EF4-FFF2-40B4-BE49-F238E27FC236}">
                <a16:creationId xmlns:a16="http://schemas.microsoft.com/office/drawing/2014/main" id="{EFFDA67D-CD6B-5B78-5B27-221E07EA43E5}"/>
              </a:ext>
            </a:extLst>
          </p:cNvPr>
          <p:cNvSpPr txBox="1"/>
          <p:nvPr/>
        </p:nvSpPr>
        <p:spPr>
          <a:xfrm>
            <a:off x="279987" y="1305624"/>
            <a:ext cx="1360264"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01 · SOURCES</a:t>
            </a:r>
          </a:p>
        </p:txBody>
      </p:sp>
      <p:sp>
        <p:nvSpPr>
          <p:cNvPr id="12" name="TextBox 15">
            <a:extLst>
              <a:ext uri="{FF2B5EF4-FFF2-40B4-BE49-F238E27FC236}">
                <a16:creationId xmlns:a16="http://schemas.microsoft.com/office/drawing/2014/main" id="{6A6603D0-A7B9-6B4E-EAC7-2A7933B55D4C}"/>
              </a:ext>
            </a:extLst>
          </p:cNvPr>
          <p:cNvSpPr txBox="1"/>
          <p:nvPr/>
        </p:nvSpPr>
        <p:spPr>
          <a:xfrm>
            <a:off x="279988" y="1601952"/>
            <a:ext cx="1360264"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sends the demand</a:t>
            </a:r>
          </a:p>
        </p:txBody>
      </p:sp>
      <p:sp>
        <p:nvSpPr>
          <p:cNvPr id="197" name="Right Arrow 134">
            <a:extLst>
              <a:ext uri="{FF2B5EF4-FFF2-40B4-BE49-F238E27FC236}">
                <a16:creationId xmlns:a16="http://schemas.microsoft.com/office/drawing/2014/main" id="{985E12A7-A129-6638-0730-8F249C8F625D}"/>
              </a:ext>
            </a:extLst>
          </p:cNvPr>
          <p:cNvSpPr/>
          <p:nvPr/>
        </p:nvSpPr>
        <p:spPr>
          <a:xfrm>
            <a:off x="4169071"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ight Arrow 135">
            <a:extLst>
              <a:ext uri="{FF2B5EF4-FFF2-40B4-BE49-F238E27FC236}">
                <a16:creationId xmlns:a16="http://schemas.microsoft.com/office/drawing/2014/main" id="{5C0131CD-52DC-A4BF-6411-3650BB3213E8}"/>
              </a:ext>
            </a:extLst>
          </p:cNvPr>
          <p:cNvSpPr/>
          <p:nvPr/>
        </p:nvSpPr>
        <p:spPr>
          <a:xfrm>
            <a:off x="8618315" y="129521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16">
            <a:extLst>
              <a:ext uri="{FF2B5EF4-FFF2-40B4-BE49-F238E27FC236}">
                <a16:creationId xmlns:a16="http://schemas.microsoft.com/office/drawing/2014/main" id="{EF97AE87-AF31-9581-912A-6ADBDFF9260D}"/>
              </a:ext>
            </a:extLst>
          </p:cNvPr>
          <p:cNvSpPr/>
          <p:nvPr/>
        </p:nvSpPr>
        <p:spPr>
          <a:xfrm>
            <a:off x="4326754" y="1236192"/>
            <a:ext cx="426454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TextBox 17">
            <a:extLst>
              <a:ext uri="{FF2B5EF4-FFF2-40B4-BE49-F238E27FC236}">
                <a16:creationId xmlns:a16="http://schemas.microsoft.com/office/drawing/2014/main" id="{069637D9-B147-CB74-029E-F1EA29D27D7A}"/>
              </a:ext>
            </a:extLst>
          </p:cNvPr>
          <p:cNvSpPr txBox="1"/>
          <p:nvPr/>
        </p:nvSpPr>
        <p:spPr>
          <a:xfrm>
            <a:off x="4277165" y="1305625"/>
            <a:ext cx="436371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 CHANNELS</a:t>
            </a:r>
          </a:p>
        </p:txBody>
      </p:sp>
      <p:sp>
        <p:nvSpPr>
          <p:cNvPr id="218" name="Rounded Rectangle 118">
            <a:extLst>
              <a:ext uri="{FF2B5EF4-FFF2-40B4-BE49-F238E27FC236}">
                <a16:creationId xmlns:a16="http://schemas.microsoft.com/office/drawing/2014/main" id="{DF84C537-275D-115A-459B-F5C0AABE9498}"/>
              </a:ext>
            </a:extLst>
          </p:cNvPr>
          <p:cNvSpPr/>
          <p:nvPr/>
        </p:nvSpPr>
        <p:spPr>
          <a:xfrm>
            <a:off x="6909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221" name="Rounded Rectangle 118">
            <a:extLst>
              <a:ext uri="{FF2B5EF4-FFF2-40B4-BE49-F238E27FC236}">
                <a16:creationId xmlns:a16="http://schemas.microsoft.com/office/drawing/2014/main" id="{7F7613CC-D6CD-2263-3484-1C84EB634CF3}"/>
              </a:ext>
            </a:extLst>
          </p:cNvPr>
          <p:cNvSpPr/>
          <p:nvPr/>
        </p:nvSpPr>
        <p:spPr>
          <a:xfrm>
            <a:off x="5258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BSS Log</a:t>
            </a:r>
          </a:p>
        </p:txBody>
      </p:sp>
      <p:sp>
        <p:nvSpPr>
          <p:cNvPr id="239" name="Rounded Rectangle 118">
            <a:extLst>
              <a:ext uri="{FF2B5EF4-FFF2-40B4-BE49-F238E27FC236}">
                <a16:creationId xmlns:a16="http://schemas.microsoft.com/office/drawing/2014/main" id="{98364908-B998-CD92-32BA-6E23170A3254}"/>
              </a:ext>
            </a:extLst>
          </p:cNvPr>
          <p:cNvSpPr/>
          <p:nvPr/>
        </p:nvSpPr>
        <p:spPr>
          <a:xfrm>
            <a:off x="7737816" y="204481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3" name="Rounded Rectangle 118">
            <a:extLst>
              <a:ext uri="{FF2B5EF4-FFF2-40B4-BE49-F238E27FC236}">
                <a16:creationId xmlns:a16="http://schemas.microsoft.com/office/drawing/2014/main" id="{7552D5D1-63B2-0F43-1518-20251FA821A0}"/>
              </a:ext>
            </a:extLst>
          </p:cNvPr>
          <p:cNvSpPr/>
          <p:nvPr/>
        </p:nvSpPr>
        <p:spPr>
          <a:xfrm>
            <a:off x="6098985"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45" name="Rounded Rectangle 118">
            <a:extLst>
              <a:ext uri="{FF2B5EF4-FFF2-40B4-BE49-F238E27FC236}">
                <a16:creationId xmlns:a16="http://schemas.microsoft.com/office/drawing/2014/main" id="{EE90AB57-AA58-F668-9881-ACE428E2BC6D}"/>
              </a:ext>
            </a:extLst>
          </p:cNvPr>
          <p:cNvSpPr/>
          <p:nvPr/>
        </p:nvSpPr>
        <p:spPr>
          <a:xfrm>
            <a:off x="5258776"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Digital PMs</a:t>
            </a:r>
          </a:p>
        </p:txBody>
      </p:sp>
      <p:sp>
        <p:nvSpPr>
          <p:cNvPr id="246" name="Rounded Rectangle 118">
            <a:extLst>
              <a:ext uri="{FF2B5EF4-FFF2-40B4-BE49-F238E27FC236}">
                <a16:creationId xmlns:a16="http://schemas.microsoft.com/office/drawing/2014/main" id="{EFBA4CE5-AE9A-E3C4-E770-86871B3D4453}"/>
              </a:ext>
            </a:extLst>
          </p:cNvPr>
          <p:cNvSpPr/>
          <p:nvPr/>
        </p:nvSpPr>
        <p:spPr>
          <a:xfrm>
            <a:off x="6909776" y="2392739"/>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9" name="Rounded Rectangle 118">
            <a:extLst>
              <a:ext uri="{FF2B5EF4-FFF2-40B4-BE49-F238E27FC236}">
                <a16:creationId xmlns:a16="http://schemas.microsoft.com/office/drawing/2014/main" id="{D128D974-4DC9-B1E0-7EBF-C6D7EBE02DA5}"/>
              </a:ext>
            </a:extLst>
          </p:cNvPr>
          <p:cNvSpPr/>
          <p:nvPr/>
        </p:nvSpPr>
        <p:spPr>
          <a:xfrm>
            <a:off x="4416785" y="3061155"/>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0" name="Rounded Rectangle 118">
            <a:extLst>
              <a:ext uri="{FF2B5EF4-FFF2-40B4-BE49-F238E27FC236}">
                <a16:creationId xmlns:a16="http://schemas.microsoft.com/office/drawing/2014/main" id="{26C6D207-2A35-B50D-8DC6-624664EEC452}"/>
              </a:ext>
            </a:extLst>
          </p:cNvPr>
          <p:cNvSpPr/>
          <p:nvPr/>
        </p:nvSpPr>
        <p:spPr>
          <a:xfrm>
            <a:off x="6098985"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1" name="Rounded Rectangle 118">
            <a:extLst>
              <a:ext uri="{FF2B5EF4-FFF2-40B4-BE49-F238E27FC236}">
                <a16:creationId xmlns:a16="http://schemas.microsoft.com/office/drawing/2014/main" id="{3C6AD440-3941-80E7-8D1C-80881FC4512A}"/>
              </a:ext>
            </a:extLst>
          </p:cNvPr>
          <p:cNvSpPr/>
          <p:nvPr/>
        </p:nvSpPr>
        <p:spPr>
          <a:xfrm>
            <a:off x="5260065" y="3061155"/>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53" name="Rounded Rectangle 118">
            <a:extLst>
              <a:ext uri="{FF2B5EF4-FFF2-40B4-BE49-F238E27FC236}">
                <a16:creationId xmlns:a16="http://schemas.microsoft.com/office/drawing/2014/main" id="{294B048D-33EC-3A5C-0AE9-44B825600C01}"/>
              </a:ext>
            </a:extLst>
          </p:cNvPr>
          <p:cNvSpPr/>
          <p:nvPr/>
        </p:nvSpPr>
        <p:spPr>
          <a:xfrm>
            <a:off x="4415496" y="2732140"/>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099" name="Rounded Rectangle 118">
            <a:extLst>
              <a:ext uri="{FF2B5EF4-FFF2-40B4-BE49-F238E27FC236}">
                <a16:creationId xmlns:a16="http://schemas.microsoft.com/office/drawing/2014/main" id="{19CD68C3-4A86-2413-0080-D724AD1A0160}"/>
              </a:ext>
            </a:extLst>
          </p:cNvPr>
          <p:cNvSpPr/>
          <p:nvPr/>
        </p:nvSpPr>
        <p:spPr>
          <a:xfrm>
            <a:off x="5258776" y="2732140"/>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1" name="Rounded Rectangle 118">
            <a:extLst>
              <a:ext uri="{FF2B5EF4-FFF2-40B4-BE49-F238E27FC236}">
                <a16:creationId xmlns:a16="http://schemas.microsoft.com/office/drawing/2014/main" id="{32E4EB60-F857-EC3A-101F-4EEBE8F5DA13}"/>
              </a:ext>
            </a:extLst>
          </p:cNvPr>
          <p:cNvSpPr/>
          <p:nvPr/>
        </p:nvSpPr>
        <p:spPr>
          <a:xfrm>
            <a:off x="5258776" y="373222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2" name="Rounded Rectangle 118">
            <a:extLst>
              <a:ext uri="{FF2B5EF4-FFF2-40B4-BE49-F238E27FC236}">
                <a16:creationId xmlns:a16="http://schemas.microsoft.com/office/drawing/2014/main" id="{BADE5D18-BE2D-039C-46A6-275F34C68394}"/>
              </a:ext>
            </a:extLst>
          </p:cNvPr>
          <p:cNvSpPr/>
          <p:nvPr/>
        </p:nvSpPr>
        <p:spPr>
          <a:xfrm>
            <a:off x="5258776" y="406970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11" name="Rounded Rectangle 118">
            <a:extLst>
              <a:ext uri="{FF2B5EF4-FFF2-40B4-BE49-F238E27FC236}">
                <a16:creationId xmlns:a16="http://schemas.microsoft.com/office/drawing/2014/main" id="{EC820B7D-58BE-4DFC-8448-A2D8FAD5EE22}"/>
              </a:ext>
            </a:extLst>
          </p:cNvPr>
          <p:cNvSpPr/>
          <p:nvPr/>
        </p:nvSpPr>
        <p:spPr>
          <a:xfrm>
            <a:off x="524720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Confluence</a:t>
            </a:r>
          </a:p>
        </p:txBody>
      </p:sp>
      <p:sp>
        <p:nvSpPr>
          <p:cNvPr id="4112" name="Rounded Rectangle 118">
            <a:extLst>
              <a:ext uri="{FF2B5EF4-FFF2-40B4-BE49-F238E27FC236}">
                <a16:creationId xmlns:a16="http://schemas.microsoft.com/office/drawing/2014/main" id="{46AD9F33-42B9-CBCF-6D9D-6F833D0DDD81}"/>
              </a:ext>
            </a:extLst>
          </p:cNvPr>
          <p:cNvSpPr/>
          <p:nvPr/>
        </p:nvSpPr>
        <p:spPr>
          <a:xfrm>
            <a:off x="6087410"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13" name="Rounded Rectangle 118">
            <a:extLst>
              <a:ext uri="{FF2B5EF4-FFF2-40B4-BE49-F238E27FC236}">
                <a16:creationId xmlns:a16="http://schemas.microsoft.com/office/drawing/2014/main" id="{C2576B3F-E2CF-550D-ED77-2E7B572BD653}"/>
              </a:ext>
            </a:extLst>
          </p:cNvPr>
          <p:cNvSpPr/>
          <p:nvPr/>
        </p:nvSpPr>
        <p:spPr>
          <a:xfrm>
            <a:off x="6921119" y="5070866"/>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3" name="Rounded Rectangle 118">
            <a:extLst>
              <a:ext uri="{FF2B5EF4-FFF2-40B4-BE49-F238E27FC236}">
                <a16:creationId xmlns:a16="http://schemas.microsoft.com/office/drawing/2014/main" id="{8697A0EC-4B4D-6EF3-7CAE-38D9F9CDAC38}"/>
              </a:ext>
            </a:extLst>
          </p:cNvPr>
          <p:cNvSpPr/>
          <p:nvPr/>
        </p:nvSpPr>
        <p:spPr>
          <a:xfrm>
            <a:off x="6087410"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4124" name="Rounded Rectangle 118">
            <a:extLst>
              <a:ext uri="{FF2B5EF4-FFF2-40B4-BE49-F238E27FC236}">
                <a16:creationId xmlns:a16="http://schemas.microsoft.com/office/drawing/2014/main" id="{D0951396-C74B-ACC6-244B-4ADE69BFE6BD}"/>
              </a:ext>
            </a:extLst>
          </p:cNvPr>
          <p:cNvSpPr/>
          <p:nvPr/>
        </p:nvSpPr>
        <p:spPr>
          <a:xfrm>
            <a:off x="6913441" y="541692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5" name="Rounded Rectangle 118">
            <a:extLst>
              <a:ext uri="{FF2B5EF4-FFF2-40B4-BE49-F238E27FC236}">
                <a16:creationId xmlns:a16="http://schemas.microsoft.com/office/drawing/2014/main" id="{9BC11F48-8BC3-2325-8047-FD178BF61467}"/>
              </a:ext>
            </a:extLst>
          </p:cNvPr>
          <p:cNvSpPr/>
          <p:nvPr/>
        </p:nvSpPr>
        <p:spPr>
          <a:xfrm>
            <a:off x="524720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28" name="Rounded Rectangle 118">
            <a:extLst>
              <a:ext uri="{FF2B5EF4-FFF2-40B4-BE49-F238E27FC236}">
                <a16:creationId xmlns:a16="http://schemas.microsoft.com/office/drawing/2014/main" id="{2C8DF423-2E5F-1586-7CBC-9E0F236F39F6}"/>
              </a:ext>
            </a:extLst>
          </p:cNvPr>
          <p:cNvSpPr/>
          <p:nvPr/>
        </p:nvSpPr>
        <p:spPr>
          <a:xfrm>
            <a:off x="6097805" y="609894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9" name="Rounded Rectangle 118">
            <a:extLst>
              <a:ext uri="{FF2B5EF4-FFF2-40B4-BE49-F238E27FC236}">
                <a16:creationId xmlns:a16="http://schemas.microsoft.com/office/drawing/2014/main" id="{8BFB7216-6FE6-DFDA-BA60-79A2767001DA}"/>
              </a:ext>
            </a:extLst>
          </p:cNvPr>
          <p:cNvSpPr/>
          <p:nvPr/>
        </p:nvSpPr>
        <p:spPr>
          <a:xfrm>
            <a:off x="5254525"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17" name="Rounded Rectangle 118">
            <a:extLst>
              <a:ext uri="{FF2B5EF4-FFF2-40B4-BE49-F238E27FC236}">
                <a16:creationId xmlns:a16="http://schemas.microsoft.com/office/drawing/2014/main" id="{7938FD3E-5975-DE26-32A3-8A07186BAB7F}"/>
              </a:ext>
            </a:extLst>
          </p:cNvPr>
          <p:cNvSpPr/>
          <p:nvPr/>
        </p:nvSpPr>
        <p:spPr>
          <a:xfrm>
            <a:off x="4415496" y="205805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44" name="Rounded Rectangle 118">
            <a:extLst>
              <a:ext uri="{FF2B5EF4-FFF2-40B4-BE49-F238E27FC236}">
                <a16:creationId xmlns:a16="http://schemas.microsoft.com/office/drawing/2014/main" id="{F87212C5-9CC2-0894-6BC7-6B7B2BEFAF34}"/>
              </a:ext>
            </a:extLst>
          </p:cNvPr>
          <p:cNvSpPr/>
          <p:nvPr/>
        </p:nvSpPr>
        <p:spPr>
          <a:xfrm>
            <a:off x="4415496" y="2405973"/>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10" name="Rounded Rectangle 118">
            <a:extLst>
              <a:ext uri="{FF2B5EF4-FFF2-40B4-BE49-F238E27FC236}">
                <a16:creationId xmlns:a16="http://schemas.microsoft.com/office/drawing/2014/main" id="{5DC9B032-E3A2-CE55-4297-8D86A16A474F}"/>
              </a:ext>
            </a:extLst>
          </p:cNvPr>
          <p:cNvSpPr/>
          <p:nvPr/>
        </p:nvSpPr>
        <p:spPr>
          <a:xfrm>
            <a:off x="4415496" y="440645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2" name="Rounded Rectangle 25">
            <a:extLst>
              <a:ext uri="{FF2B5EF4-FFF2-40B4-BE49-F238E27FC236}">
                <a16:creationId xmlns:a16="http://schemas.microsoft.com/office/drawing/2014/main" id="{0974E290-3219-3839-7022-F83918155B7C}"/>
              </a:ext>
            </a:extLst>
          </p:cNvPr>
          <p:cNvSpPr/>
          <p:nvPr/>
        </p:nvSpPr>
        <p:spPr>
          <a:xfrm>
            <a:off x="279988" y="198530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BRS</a:t>
            </a:r>
            <a:endParaRPr lang="en-US" sz="1000" noProof="0">
              <a:latin typeface="Arial" panose="020B0604020202020204" pitchFamily="34" charset="0"/>
              <a:cs typeface="Arial" panose="020B0604020202020204" pitchFamily="34" charset="0"/>
            </a:endParaRPr>
          </a:p>
        </p:txBody>
      </p:sp>
      <p:sp>
        <p:nvSpPr>
          <p:cNvPr id="29" name="Rounded Rectangle 32">
            <a:extLst>
              <a:ext uri="{FF2B5EF4-FFF2-40B4-BE49-F238E27FC236}">
                <a16:creationId xmlns:a16="http://schemas.microsoft.com/office/drawing/2014/main" id="{3975D931-82B0-DCB5-F3C1-83714CA84BDF}"/>
              </a:ext>
            </a:extLst>
          </p:cNvPr>
          <p:cNvSpPr/>
          <p:nvPr/>
        </p:nvSpPr>
        <p:spPr>
          <a:xfrm>
            <a:off x="279988" y="2322599"/>
            <a:ext cx="1360264" cy="645750"/>
          </a:xfrm>
          <a:prstGeom prst="roundRect">
            <a:avLst>
              <a:gd name="adj" fmla="val 14921"/>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CX &amp; Digital CoE</a:t>
            </a:r>
          </a:p>
          <a:p>
            <a:pPr algn="ctr"/>
            <a:endParaRPr lang="en-US" sz="1000" b="1" noProof="0">
              <a:solidFill>
                <a:srgbClr val="FFFFFF"/>
              </a:solidFill>
              <a:latin typeface="Arial" panose="020B0604020202020204" pitchFamily="34" charset="0"/>
              <a:cs typeface="Arial" panose="020B0604020202020204" pitchFamily="34" charset="0"/>
            </a:endParaRPr>
          </a:p>
          <a:p>
            <a:pPr algn="ctr"/>
            <a:endParaRPr lang="en-US" sz="1000" b="1" noProof="0">
              <a:solidFill>
                <a:srgbClr val="FFFFFF"/>
              </a:solidFill>
              <a:latin typeface="Arial" panose="020B0604020202020204" pitchFamily="34" charset="0"/>
              <a:cs typeface="Arial" panose="020B0604020202020204" pitchFamily="34" charset="0"/>
            </a:endParaRPr>
          </a:p>
        </p:txBody>
      </p:sp>
      <p:sp>
        <p:nvSpPr>
          <p:cNvPr id="36" name="Rounded Rectangle 39">
            <a:extLst>
              <a:ext uri="{FF2B5EF4-FFF2-40B4-BE49-F238E27FC236}">
                <a16:creationId xmlns:a16="http://schemas.microsoft.com/office/drawing/2014/main" id="{AA6E762C-CAD1-1BDA-44BC-AC06E4A26D1A}"/>
              </a:ext>
            </a:extLst>
          </p:cNvPr>
          <p:cNvSpPr/>
          <p:nvPr/>
        </p:nvSpPr>
        <p:spPr>
          <a:xfrm>
            <a:off x="281277" y="2998472"/>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Infrastructure</a:t>
            </a:r>
          </a:p>
        </p:txBody>
      </p:sp>
      <p:sp>
        <p:nvSpPr>
          <p:cNvPr id="49" name="Rounded Rectangle 52">
            <a:extLst>
              <a:ext uri="{FF2B5EF4-FFF2-40B4-BE49-F238E27FC236}">
                <a16:creationId xmlns:a16="http://schemas.microsoft.com/office/drawing/2014/main" id="{A09A6EF9-0124-8AF7-44E1-FC4B6DACD79E}"/>
              </a:ext>
            </a:extLst>
          </p:cNvPr>
          <p:cNvSpPr/>
          <p:nvPr/>
        </p:nvSpPr>
        <p:spPr>
          <a:xfrm>
            <a:off x="279988" y="333577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IA</a:t>
            </a:r>
            <a:endParaRPr lang="en-US" sz="1000" noProof="0">
              <a:latin typeface="Arial" panose="020B0604020202020204" pitchFamily="34" charset="0"/>
              <a:cs typeface="Arial" panose="020B0604020202020204" pitchFamily="34" charset="0"/>
            </a:endParaRPr>
          </a:p>
        </p:txBody>
      </p:sp>
      <p:sp>
        <p:nvSpPr>
          <p:cNvPr id="55" name="Rounded Rectangle 58">
            <a:extLst>
              <a:ext uri="{FF2B5EF4-FFF2-40B4-BE49-F238E27FC236}">
                <a16:creationId xmlns:a16="http://schemas.microsoft.com/office/drawing/2014/main" id="{37A7D949-7C1E-BAA7-CB8D-FB72BAB85340}"/>
              </a:ext>
            </a:extLst>
          </p:cNvPr>
          <p:cNvSpPr/>
          <p:nvPr/>
        </p:nvSpPr>
        <p:spPr>
          <a:xfrm>
            <a:off x="279988" y="3673070"/>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OT</a:t>
            </a:r>
            <a:endParaRPr lang="en-US" sz="1000" noProof="0">
              <a:latin typeface="Arial" panose="020B0604020202020204" pitchFamily="34" charset="0"/>
              <a:cs typeface="Arial" panose="020B0604020202020204" pitchFamily="34" charset="0"/>
            </a:endParaRPr>
          </a:p>
        </p:txBody>
      </p:sp>
      <p:sp>
        <p:nvSpPr>
          <p:cNvPr id="61" name="Rounded Rectangle 64">
            <a:extLst>
              <a:ext uri="{FF2B5EF4-FFF2-40B4-BE49-F238E27FC236}">
                <a16:creationId xmlns:a16="http://schemas.microsoft.com/office/drawing/2014/main" id="{A15DA28A-1E7C-0998-1F5F-2A6EADF5BCAB}"/>
              </a:ext>
            </a:extLst>
          </p:cNvPr>
          <p:cNvSpPr/>
          <p:nvPr/>
        </p:nvSpPr>
        <p:spPr>
          <a:xfrm>
            <a:off x="279988" y="4010369"/>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Procurement</a:t>
            </a:r>
          </a:p>
        </p:txBody>
      </p:sp>
      <p:sp>
        <p:nvSpPr>
          <p:cNvPr id="67" name="Rounded Rectangle 70">
            <a:extLst>
              <a:ext uri="{FF2B5EF4-FFF2-40B4-BE49-F238E27FC236}">
                <a16:creationId xmlns:a16="http://schemas.microsoft.com/office/drawing/2014/main" id="{E43D8232-8CD1-E950-C437-BB97B92F16A1}"/>
              </a:ext>
            </a:extLst>
          </p:cNvPr>
          <p:cNvSpPr/>
          <p:nvPr/>
        </p:nvSpPr>
        <p:spPr>
          <a:xfrm>
            <a:off x="279988" y="4347667"/>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Regulatory</a:t>
            </a:r>
          </a:p>
        </p:txBody>
      </p:sp>
      <p:sp>
        <p:nvSpPr>
          <p:cNvPr id="74" name="Rounded Rectangle 77">
            <a:extLst>
              <a:ext uri="{FF2B5EF4-FFF2-40B4-BE49-F238E27FC236}">
                <a16:creationId xmlns:a16="http://schemas.microsoft.com/office/drawing/2014/main" id="{8C6C21EC-B129-F688-982B-2669331E9565}"/>
              </a:ext>
            </a:extLst>
          </p:cNvPr>
          <p:cNvSpPr/>
          <p:nvPr/>
        </p:nvSpPr>
        <p:spPr>
          <a:xfrm>
            <a:off x="269828" y="5012073"/>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Corporate Areas</a:t>
            </a:r>
          </a:p>
        </p:txBody>
      </p:sp>
      <p:sp>
        <p:nvSpPr>
          <p:cNvPr id="90" name="Rounded Rectangle 91">
            <a:extLst>
              <a:ext uri="{FF2B5EF4-FFF2-40B4-BE49-F238E27FC236}">
                <a16:creationId xmlns:a16="http://schemas.microsoft.com/office/drawing/2014/main" id="{96236047-01EE-0100-84A2-2E94B2E399B7}"/>
              </a:ext>
            </a:extLst>
          </p:cNvPr>
          <p:cNvSpPr/>
          <p:nvPr/>
        </p:nvSpPr>
        <p:spPr>
          <a:xfrm>
            <a:off x="269828" y="5358135"/>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(GIS)</a:t>
            </a:r>
            <a:endParaRPr lang="en-US" sz="1000" noProof="0">
              <a:latin typeface="Arial" panose="020B0604020202020204" pitchFamily="34" charset="0"/>
              <a:cs typeface="Arial" panose="020B0604020202020204" pitchFamily="34" charset="0"/>
            </a:endParaRPr>
          </a:p>
        </p:txBody>
      </p:sp>
      <p:sp>
        <p:nvSpPr>
          <p:cNvPr id="81" name="Rounded Rectangle 25">
            <a:extLst>
              <a:ext uri="{FF2B5EF4-FFF2-40B4-BE49-F238E27FC236}">
                <a16:creationId xmlns:a16="http://schemas.microsoft.com/office/drawing/2014/main" id="{167ABBF7-EE96-4401-529F-BFD29149986B}"/>
              </a:ext>
            </a:extLst>
          </p:cNvPr>
          <p:cNvSpPr/>
          <p:nvPr/>
        </p:nvSpPr>
        <p:spPr>
          <a:xfrm>
            <a:off x="4338329" y="198529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Rounded Rectangle 25">
            <a:extLst>
              <a:ext uri="{FF2B5EF4-FFF2-40B4-BE49-F238E27FC236}">
                <a16:creationId xmlns:a16="http://schemas.microsoft.com/office/drawing/2014/main" id="{B6945C29-8D78-BAE5-9D9B-56E7CC7BDEAF}"/>
              </a:ext>
            </a:extLst>
          </p:cNvPr>
          <p:cNvSpPr/>
          <p:nvPr/>
        </p:nvSpPr>
        <p:spPr>
          <a:xfrm>
            <a:off x="4338329" y="2333220"/>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8" name="Rounded Rectangle 25">
            <a:extLst>
              <a:ext uri="{FF2B5EF4-FFF2-40B4-BE49-F238E27FC236}">
                <a16:creationId xmlns:a16="http://schemas.microsoft.com/office/drawing/2014/main" id="{251B829A-BAA8-E91E-6A34-987BCEC2A804}"/>
              </a:ext>
            </a:extLst>
          </p:cNvPr>
          <p:cNvSpPr/>
          <p:nvPr/>
        </p:nvSpPr>
        <p:spPr>
          <a:xfrm>
            <a:off x="4339618" y="3001636"/>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2" name="Rounded Rectangle 25">
            <a:extLst>
              <a:ext uri="{FF2B5EF4-FFF2-40B4-BE49-F238E27FC236}">
                <a16:creationId xmlns:a16="http://schemas.microsoft.com/office/drawing/2014/main" id="{04FF09A2-86EA-79D9-032F-061C76EFB82B}"/>
              </a:ext>
            </a:extLst>
          </p:cNvPr>
          <p:cNvSpPr/>
          <p:nvPr/>
        </p:nvSpPr>
        <p:spPr>
          <a:xfrm>
            <a:off x="4338329" y="26726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4" name="Rounded Rectangle 25">
            <a:extLst>
              <a:ext uri="{FF2B5EF4-FFF2-40B4-BE49-F238E27FC236}">
                <a16:creationId xmlns:a16="http://schemas.microsoft.com/office/drawing/2014/main" id="{DB33F839-4861-EA12-67A0-F8286801C31B}"/>
              </a:ext>
            </a:extLst>
          </p:cNvPr>
          <p:cNvSpPr/>
          <p:nvPr/>
        </p:nvSpPr>
        <p:spPr>
          <a:xfrm>
            <a:off x="4338329" y="33352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6" name="Rounded Rectangle 25">
            <a:extLst>
              <a:ext uri="{FF2B5EF4-FFF2-40B4-BE49-F238E27FC236}">
                <a16:creationId xmlns:a16="http://schemas.microsoft.com/office/drawing/2014/main" id="{390B1DF5-0619-33A4-9A1E-B335737271E3}"/>
              </a:ext>
            </a:extLst>
          </p:cNvPr>
          <p:cNvSpPr/>
          <p:nvPr/>
        </p:nvSpPr>
        <p:spPr>
          <a:xfrm>
            <a:off x="4338329" y="367270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3" name="Rounded Rectangle 25">
            <a:extLst>
              <a:ext uri="{FF2B5EF4-FFF2-40B4-BE49-F238E27FC236}">
                <a16:creationId xmlns:a16="http://schemas.microsoft.com/office/drawing/2014/main" id="{92831CC6-6822-5DBF-EB01-1689D72C674E}"/>
              </a:ext>
            </a:extLst>
          </p:cNvPr>
          <p:cNvSpPr/>
          <p:nvPr/>
        </p:nvSpPr>
        <p:spPr>
          <a:xfrm>
            <a:off x="4338329" y="401018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4" name="Rounded Rectangle 25">
            <a:extLst>
              <a:ext uri="{FF2B5EF4-FFF2-40B4-BE49-F238E27FC236}">
                <a16:creationId xmlns:a16="http://schemas.microsoft.com/office/drawing/2014/main" id="{340BC075-A97B-0409-F030-03F0E9F3B98E}"/>
              </a:ext>
            </a:extLst>
          </p:cNvPr>
          <p:cNvSpPr/>
          <p:nvPr/>
        </p:nvSpPr>
        <p:spPr>
          <a:xfrm>
            <a:off x="4326754" y="501207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6" name="Rounded Rectangle 25">
            <a:extLst>
              <a:ext uri="{FF2B5EF4-FFF2-40B4-BE49-F238E27FC236}">
                <a16:creationId xmlns:a16="http://schemas.microsoft.com/office/drawing/2014/main" id="{D56D6065-4CE1-F7DA-DE52-4A138AD8788B}"/>
              </a:ext>
            </a:extLst>
          </p:cNvPr>
          <p:cNvSpPr/>
          <p:nvPr/>
        </p:nvSpPr>
        <p:spPr>
          <a:xfrm>
            <a:off x="4326754" y="535813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9" name="Rounded Rectangle 25">
            <a:extLst>
              <a:ext uri="{FF2B5EF4-FFF2-40B4-BE49-F238E27FC236}">
                <a16:creationId xmlns:a16="http://schemas.microsoft.com/office/drawing/2014/main" id="{28A6B481-A5FD-320F-C3FC-5E57CD1088B6}"/>
              </a:ext>
            </a:extLst>
          </p:cNvPr>
          <p:cNvSpPr/>
          <p:nvPr/>
        </p:nvSpPr>
        <p:spPr>
          <a:xfrm>
            <a:off x="4338329" y="434766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8" name="Rounded Rectangle 91">
            <a:extLst>
              <a:ext uri="{FF2B5EF4-FFF2-40B4-BE49-F238E27FC236}">
                <a16:creationId xmlns:a16="http://schemas.microsoft.com/office/drawing/2014/main" id="{8BB4669E-3D63-D787-FC3D-17C263551931}"/>
              </a:ext>
            </a:extLst>
          </p:cNvPr>
          <p:cNvSpPr/>
          <p:nvPr/>
        </p:nvSpPr>
        <p:spPr>
          <a:xfrm>
            <a:off x="269828" y="5703185"/>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(Global SAP)</a:t>
            </a:r>
          </a:p>
        </p:txBody>
      </p:sp>
      <p:sp>
        <p:nvSpPr>
          <p:cNvPr id="4120" name="Rounded Rectangle 25">
            <a:extLst>
              <a:ext uri="{FF2B5EF4-FFF2-40B4-BE49-F238E27FC236}">
                <a16:creationId xmlns:a16="http://schemas.microsoft.com/office/drawing/2014/main" id="{413F162C-5476-043D-1954-39F7F7DB4694}"/>
              </a:ext>
            </a:extLst>
          </p:cNvPr>
          <p:cNvSpPr/>
          <p:nvPr/>
        </p:nvSpPr>
        <p:spPr>
          <a:xfrm>
            <a:off x="4326754" y="570318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2" name="Rounded Rectangle 118">
            <a:extLst>
              <a:ext uri="{FF2B5EF4-FFF2-40B4-BE49-F238E27FC236}">
                <a16:creationId xmlns:a16="http://schemas.microsoft.com/office/drawing/2014/main" id="{69A2C8A2-FE16-DEED-3621-D7928706785C}"/>
              </a:ext>
            </a:extLst>
          </p:cNvPr>
          <p:cNvSpPr/>
          <p:nvPr/>
        </p:nvSpPr>
        <p:spPr>
          <a:xfrm>
            <a:off x="4403921" y="576197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26" name="Rounded Rectangle 118">
            <a:extLst>
              <a:ext uri="{FF2B5EF4-FFF2-40B4-BE49-F238E27FC236}">
                <a16:creationId xmlns:a16="http://schemas.microsoft.com/office/drawing/2014/main" id="{002E172A-3496-8856-13E6-EC2DB388E432}"/>
              </a:ext>
            </a:extLst>
          </p:cNvPr>
          <p:cNvSpPr/>
          <p:nvPr/>
        </p:nvSpPr>
        <p:spPr>
          <a:xfrm>
            <a:off x="440392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37" name="Rounded Rectangle 91">
            <a:extLst>
              <a:ext uri="{FF2B5EF4-FFF2-40B4-BE49-F238E27FC236}">
                <a16:creationId xmlns:a16="http://schemas.microsoft.com/office/drawing/2014/main" id="{B8BAE9C4-E17E-0D3C-94D9-4C3CD634F821}"/>
              </a:ext>
            </a:extLst>
          </p:cNvPr>
          <p:cNvSpPr/>
          <p:nvPr/>
        </p:nvSpPr>
        <p:spPr>
          <a:xfrm>
            <a:off x="269828" y="6040149"/>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Gas &amp; Electric Operations</a:t>
            </a:r>
          </a:p>
        </p:txBody>
      </p:sp>
      <p:sp>
        <p:nvSpPr>
          <p:cNvPr id="4139" name="Rounded Rectangle 25">
            <a:extLst>
              <a:ext uri="{FF2B5EF4-FFF2-40B4-BE49-F238E27FC236}">
                <a16:creationId xmlns:a16="http://schemas.microsoft.com/office/drawing/2014/main" id="{9C735FD9-B2D8-CDBD-7338-0D5FBE60FEE4}"/>
              </a:ext>
            </a:extLst>
          </p:cNvPr>
          <p:cNvSpPr/>
          <p:nvPr/>
        </p:nvSpPr>
        <p:spPr>
          <a:xfrm>
            <a:off x="4326754" y="604014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45" name="Rounded Rectangle 118">
            <a:extLst>
              <a:ext uri="{FF2B5EF4-FFF2-40B4-BE49-F238E27FC236}">
                <a16:creationId xmlns:a16="http://schemas.microsoft.com/office/drawing/2014/main" id="{3F98A3F6-5806-E292-82A3-6F480192C922}"/>
              </a:ext>
            </a:extLst>
          </p:cNvPr>
          <p:cNvSpPr/>
          <p:nvPr/>
        </p:nvSpPr>
        <p:spPr>
          <a:xfrm>
            <a:off x="440392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1" name="Rounded Rectangle 118">
            <a:extLst>
              <a:ext uri="{FF2B5EF4-FFF2-40B4-BE49-F238E27FC236}">
                <a16:creationId xmlns:a16="http://schemas.microsoft.com/office/drawing/2014/main" id="{4A2C3CE3-C76E-BF20-6AE5-EBE14208A015}"/>
              </a:ext>
            </a:extLst>
          </p:cNvPr>
          <p:cNvSpPr/>
          <p:nvPr/>
        </p:nvSpPr>
        <p:spPr>
          <a:xfrm>
            <a:off x="4415496" y="33889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152" name="Rounded Rectangle 118">
            <a:extLst>
              <a:ext uri="{FF2B5EF4-FFF2-40B4-BE49-F238E27FC236}">
                <a16:creationId xmlns:a16="http://schemas.microsoft.com/office/drawing/2014/main" id="{CDE66B28-4E53-82D4-330B-EE3B0EF9AD65}"/>
              </a:ext>
            </a:extLst>
          </p:cNvPr>
          <p:cNvSpPr/>
          <p:nvPr/>
        </p:nvSpPr>
        <p:spPr>
          <a:xfrm>
            <a:off x="5258776" y="338899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53" name="Rounded Rectangle 118">
            <a:extLst>
              <a:ext uri="{FF2B5EF4-FFF2-40B4-BE49-F238E27FC236}">
                <a16:creationId xmlns:a16="http://schemas.microsoft.com/office/drawing/2014/main" id="{9A635E99-253A-EAF0-B96C-E1594CEDC278}"/>
              </a:ext>
            </a:extLst>
          </p:cNvPr>
          <p:cNvSpPr/>
          <p:nvPr/>
        </p:nvSpPr>
        <p:spPr>
          <a:xfrm>
            <a:off x="4415496" y="374545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4" name="Rounded Rectangle 118">
            <a:extLst>
              <a:ext uri="{FF2B5EF4-FFF2-40B4-BE49-F238E27FC236}">
                <a16:creationId xmlns:a16="http://schemas.microsoft.com/office/drawing/2014/main" id="{EEC5E761-5A43-6B6E-48EA-F4A047913D57}"/>
              </a:ext>
            </a:extLst>
          </p:cNvPr>
          <p:cNvSpPr/>
          <p:nvPr/>
        </p:nvSpPr>
        <p:spPr>
          <a:xfrm>
            <a:off x="4415496" y="4069703"/>
            <a:ext cx="738103" cy="188135"/>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5" name="Rounded Rectangle 118">
            <a:extLst>
              <a:ext uri="{FF2B5EF4-FFF2-40B4-BE49-F238E27FC236}">
                <a16:creationId xmlns:a16="http://schemas.microsoft.com/office/drawing/2014/main" id="{8FBFAB09-CB2C-C622-0861-D630CA835CE6}"/>
              </a:ext>
            </a:extLst>
          </p:cNvPr>
          <p:cNvSpPr/>
          <p:nvPr/>
        </p:nvSpPr>
        <p:spPr>
          <a:xfrm>
            <a:off x="5233497" y="576197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7" name="Rounded Rectangle 118">
            <a:extLst>
              <a:ext uri="{FF2B5EF4-FFF2-40B4-BE49-F238E27FC236}">
                <a16:creationId xmlns:a16="http://schemas.microsoft.com/office/drawing/2014/main" id="{F67EF935-806B-703A-E5FB-7DFAD07159FC}"/>
              </a:ext>
            </a:extLst>
          </p:cNvPr>
          <p:cNvSpPr/>
          <p:nvPr/>
        </p:nvSpPr>
        <p:spPr>
          <a:xfrm>
            <a:off x="4403921"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9" name="Rounded Rectangle 118">
            <a:extLst>
              <a:ext uri="{FF2B5EF4-FFF2-40B4-BE49-F238E27FC236}">
                <a16:creationId xmlns:a16="http://schemas.microsoft.com/office/drawing/2014/main" id="{63FC65BB-13AE-7990-769C-00039E4A4A23}"/>
              </a:ext>
            </a:extLst>
          </p:cNvPr>
          <p:cNvSpPr/>
          <p:nvPr/>
        </p:nvSpPr>
        <p:spPr>
          <a:xfrm>
            <a:off x="5258776" y="440645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19" name="Rectangle 22">
            <a:extLst>
              <a:ext uri="{FF2B5EF4-FFF2-40B4-BE49-F238E27FC236}">
                <a16:creationId xmlns:a16="http://schemas.microsoft.com/office/drawing/2014/main" id="{CE81D099-F103-7DEA-8D20-C8175A1CB8D3}"/>
              </a:ext>
            </a:extLst>
          </p:cNvPr>
          <p:cNvSpPr/>
          <p:nvPr/>
        </p:nvSpPr>
        <p:spPr>
          <a:xfrm>
            <a:off x="1847979" y="1224617"/>
            <a:ext cx="2301385" cy="3842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23">
            <a:extLst>
              <a:ext uri="{FF2B5EF4-FFF2-40B4-BE49-F238E27FC236}">
                <a16:creationId xmlns:a16="http://schemas.microsoft.com/office/drawing/2014/main" id="{640A3536-6B93-ADEE-41BF-42E731EB73DD}"/>
              </a:ext>
            </a:extLst>
          </p:cNvPr>
          <p:cNvSpPr txBox="1"/>
          <p:nvPr/>
        </p:nvSpPr>
        <p:spPr>
          <a:xfrm>
            <a:off x="2357752" y="1302867"/>
            <a:ext cx="128183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RECIPIENT</a:t>
            </a:r>
          </a:p>
        </p:txBody>
      </p:sp>
      <p:sp>
        <p:nvSpPr>
          <p:cNvPr id="21" name="TextBox 24">
            <a:extLst>
              <a:ext uri="{FF2B5EF4-FFF2-40B4-BE49-F238E27FC236}">
                <a16:creationId xmlns:a16="http://schemas.microsoft.com/office/drawing/2014/main" id="{5C1136D8-C4AC-EC57-F47A-2DB868BDCCA9}"/>
              </a:ext>
            </a:extLst>
          </p:cNvPr>
          <p:cNvSpPr txBox="1"/>
          <p:nvPr/>
        </p:nvSpPr>
        <p:spPr>
          <a:xfrm>
            <a:off x="2307551" y="1590377"/>
            <a:ext cx="138224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resolves it</a:t>
            </a:r>
          </a:p>
        </p:txBody>
      </p:sp>
      <p:sp>
        <p:nvSpPr>
          <p:cNvPr id="114" name="Rectangle 115">
            <a:extLst>
              <a:ext uri="{FF2B5EF4-FFF2-40B4-BE49-F238E27FC236}">
                <a16:creationId xmlns:a16="http://schemas.microsoft.com/office/drawing/2014/main" id="{2F1D0B1C-FC57-BEC9-46D7-7680EB87DBFB}"/>
              </a:ext>
            </a:extLst>
          </p:cNvPr>
          <p:cNvSpPr/>
          <p:nvPr/>
        </p:nvSpPr>
        <p:spPr>
          <a:xfrm>
            <a:off x="1869316" y="4734046"/>
            <a:ext cx="2258711" cy="1713053"/>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IT BUSINESS APPLICATIONS</a:t>
            </a:r>
          </a:p>
        </p:txBody>
      </p:sp>
      <p:sp>
        <p:nvSpPr>
          <p:cNvPr id="124" name="Rectangle 125">
            <a:extLst>
              <a:ext uri="{FF2B5EF4-FFF2-40B4-BE49-F238E27FC236}">
                <a16:creationId xmlns:a16="http://schemas.microsoft.com/office/drawing/2014/main" id="{C10DBDD3-E95A-2392-467C-D3514CB08BE1}"/>
              </a:ext>
            </a:extLst>
          </p:cNvPr>
          <p:cNvSpPr/>
          <p:nvPr/>
        </p:nvSpPr>
        <p:spPr>
          <a:xfrm>
            <a:off x="1869316" y="1782502"/>
            <a:ext cx="2258711" cy="2882095"/>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CUSTOMER SERVICES APPS</a:t>
            </a:r>
          </a:p>
        </p:txBody>
      </p:sp>
      <p:sp>
        <p:nvSpPr>
          <p:cNvPr id="45" name="Rectángulo: esquinas redondeadas 44">
            <a:extLst>
              <a:ext uri="{FF2B5EF4-FFF2-40B4-BE49-F238E27FC236}">
                <a16:creationId xmlns:a16="http://schemas.microsoft.com/office/drawing/2014/main" id="{C89EE812-F257-91BD-3D3D-2B357C8E1941}"/>
              </a:ext>
            </a:extLst>
          </p:cNvPr>
          <p:cNvSpPr/>
          <p:nvPr/>
        </p:nvSpPr>
        <p:spPr>
          <a:xfrm>
            <a:off x="2057384" y="572907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Global SAP</a:t>
            </a:r>
          </a:p>
        </p:txBody>
      </p:sp>
      <p:sp>
        <p:nvSpPr>
          <p:cNvPr id="46" name="Rectángulo: esquinas redondeadas 45">
            <a:extLst>
              <a:ext uri="{FF2B5EF4-FFF2-40B4-BE49-F238E27FC236}">
                <a16:creationId xmlns:a16="http://schemas.microsoft.com/office/drawing/2014/main" id="{BD28AEAB-D46B-F65F-0BA7-C54ACDA8B8B1}"/>
              </a:ext>
            </a:extLst>
          </p:cNvPr>
          <p:cNvSpPr/>
          <p:nvPr/>
        </p:nvSpPr>
        <p:spPr>
          <a:xfrm>
            <a:off x="2057384" y="6066042"/>
            <a:ext cx="1882575"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G&amp;E</a:t>
            </a:r>
          </a:p>
        </p:txBody>
      </p:sp>
      <p:sp>
        <p:nvSpPr>
          <p:cNvPr id="47" name="Rectángulo: esquinas redondeadas 46">
            <a:extLst>
              <a:ext uri="{FF2B5EF4-FFF2-40B4-BE49-F238E27FC236}">
                <a16:creationId xmlns:a16="http://schemas.microsoft.com/office/drawing/2014/main" id="{3488AED0-7D29-B926-C4E6-7F6F523D4C09}"/>
              </a:ext>
            </a:extLst>
          </p:cNvPr>
          <p:cNvSpPr/>
          <p:nvPr/>
        </p:nvSpPr>
        <p:spPr>
          <a:xfrm>
            <a:off x="2057384" y="503796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Corporate</a:t>
            </a:r>
          </a:p>
        </p:txBody>
      </p:sp>
      <p:sp>
        <p:nvSpPr>
          <p:cNvPr id="50" name="CuadroTexto 49">
            <a:extLst>
              <a:ext uri="{FF2B5EF4-FFF2-40B4-BE49-F238E27FC236}">
                <a16:creationId xmlns:a16="http://schemas.microsoft.com/office/drawing/2014/main" id="{9F60148E-086D-954C-EA3C-CD8FE78D19DF}"/>
              </a:ext>
            </a:extLst>
          </p:cNvPr>
          <p:cNvSpPr txBox="1"/>
          <p:nvPr/>
        </p:nvSpPr>
        <p:spPr>
          <a:xfrm>
            <a:off x="337595" y="2675605"/>
            <a:ext cx="1238954"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Data &amp; Analytics </a:t>
            </a:r>
          </a:p>
        </p:txBody>
      </p:sp>
      <p:sp>
        <p:nvSpPr>
          <p:cNvPr id="52" name="Rectangle 19">
            <a:extLst>
              <a:ext uri="{FF2B5EF4-FFF2-40B4-BE49-F238E27FC236}">
                <a16:creationId xmlns:a16="http://schemas.microsoft.com/office/drawing/2014/main" id="{373F9515-8BD2-2D16-193D-916C4D626ADD}"/>
              </a:ext>
            </a:extLst>
          </p:cNvPr>
          <p:cNvSpPr/>
          <p:nvPr/>
        </p:nvSpPr>
        <p:spPr>
          <a:xfrm>
            <a:off x="8847771" y="1752743"/>
            <a:ext cx="3102022" cy="459018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Rounded Rectangle 25">
            <a:extLst>
              <a:ext uri="{FF2B5EF4-FFF2-40B4-BE49-F238E27FC236}">
                <a16:creationId xmlns:a16="http://schemas.microsoft.com/office/drawing/2014/main" id="{27C79FD1-A0BF-4650-13E8-87341765BF54}"/>
              </a:ext>
            </a:extLst>
          </p:cNvPr>
          <p:cNvSpPr/>
          <p:nvPr/>
        </p:nvSpPr>
        <p:spPr>
          <a:xfrm>
            <a:off x="8955164" y="3775581"/>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REGULATORY</a:t>
            </a:r>
          </a:p>
        </p:txBody>
      </p:sp>
      <p:sp>
        <p:nvSpPr>
          <p:cNvPr id="54" name="Rounded Rectangle 25">
            <a:extLst>
              <a:ext uri="{FF2B5EF4-FFF2-40B4-BE49-F238E27FC236}">
                <a16:creationId xmlns:a16="http://schemas.microsoft.com/office/drawing/2014/main" id="{670FB218-B756-15D9-DF62-37C7F191E189}"/>
              </a:ext>
            </a:extLst>
          </p:cNvPr>
          <p:cNvSpPr/>
          <p:nvPr/>
        </p:nvSpPr>
        <p:spPr>
          <a:xfrm>
            <a:off x="8955164" y="4767803"/>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NON-REGULATORY</a:t>
            </a:r>
          </a:p>
        </p:txBody>
      </p:sp>
      <p:sp>
        <p:nvSpPr>
          <p:cNvPr id="56" name="Rounded Rectangle 25">
            <a:extLst>
              <a:ext uri="{FF2B5EF4-FFF2-40B4-BE49-F238E27FC236}">
                <a16:creationId xmlns:a16="http://schemas.microsoft.com/office/drawing/2014/main" id="{93D62208-E5AA-3357-F5D1-6F96C85B5152}"/>
              </a:ext>
            </a:extLst>
          </p:cNvPr>
          <p:cNvSpPr/>
          <p:nvPr/>
        </p:nvSpPr>
        <p:spPr>
          <a:xfrm>
            <a:off x="8955164" y="2783360"/>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PRODUCTION SUPPORT</a:t>
            </a:r>
          </a:p>
        </p:txBody>
      </p:sp>
      <p:grpSp>
        <p:nvGrpSpPr>
          <p:cNvPr id="57" name="Grupo 56">
            <a:extLst>
              <a:ext uri="{FF2B5EF4-FFF2-40B4-BE49-F238E27FC236}">
                <a16:creationId xmlns:a16="http://schemas.microsoft.com/office/drawing/2014/main" id="{73C2437B-5D60-3459-8F6A-F2901CE4498D}"/>
              </a:ext>
            </a:extLst>
          </p:cNvPr>
          <p:cNvGrpSpPr/>
          <p:nvPr/>
        </p:nvGrpSpPr>
        <p:grpSpPr>
          <a:xfrm>
            <a:off x="11049713" y="2701397"/>
            <a:ext cx="733163" cy="3077262"/>
            <a:chOff x="8478779" y="4086265"/>
            <a:chExt cx="733163" cy="736672"/>
          </a:xfrm>
        </p:grpSpPr>
        <p:sp>
          <p:nvSpPr>
            <p:cNvPr id="58" name="Rounded Rectangle 7">
              <a:extLst>
                <a:ext uri="{FF2B5EF4-FFF2-40B4-BE49-F238E27FC236}">
                  <a16:creationId xmlns:a16="http://schemas.microsoft.com/office/drawing/2014/main" id="{9B6218FC-4700-15A1-735B-DA00C6B64C27}"/>
                </a:ext>
              </a:extLst>
            </p:cNvPr>
            <p:cNvSpPr/>
            <p:nvPr/>
          </p:nvSpPr>
          <p:spPr>
            <a:xfrm rot="16200000">
              <a:off x="8329544" y="4472534"/>
              <a:ext cx="499638"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59" name="Rounded Rectangle 9">
              <a:extLst>
                <a:ext uri="{FF2B5EF4-FFF2-40B4-BE49-F238E27FC236}">
                  <a16:creationId xmlns:a16="http://schemas.microsoft.com/office/drawing/2014/main" id="{00D6D5A0-E4C3-8920-602A-FC21F139D636}"/>
                </a:ext>
              </a:extLst>
            </p:cNvPr>
            <p:cNvSpPr/>
            <p:nvPr/>
          </p:nvSpPr>
          <p:spPr>
            <a:xfrm rot="16200000">
              <a:off x="8479601" y="4351441"/>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60" name="Rounded Rectangle 11">
              <a:extLst>
                <a:ext uri="{FF2B5EF4-FFF2-40B4-BE49-F238E27FC236}">
                  <a16:creationId xmlns:a16="http://schemas.microsoft.com/office/drawing/2014/main" id="{B2359E47-0E79-EBC6-601F-6824CF7A0AB1}"/>
                </a:ext>
              </a:extLst>
            </p:cNvPr>
            <p:cNvSpPr/>
            <p:nvPr/>
          </p:nvSpPr>
          <p:spPr>
            <a:xfrm rot="16200000">
              <a:off x="8745598" y="4351441"/>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sp>
        <p:nvSpPr>
          <p:cNvPr id="62" name="CuadroTexto 61">
            <a:extLst>
              <a:ext uri="{FF2B5EF4-FFF2-40B4-BE49-F238E27FC236}">
                <a16:creationId xmlns:a16="http://schemas.microsoft.com/office/drawing/2014/main" id="{0A188EA9-D221-45B0-0586-7A041838AFA4}"/>
              </a:ext>
            </a:extLst>
          </p:cNvPr>
          <p:cNvSpPr txBox="1"/>
          <p:nvPr/>
        </p:nvSpPr>
        <p:spPr>
          <a:xfrm>
            <a:off x="9011315" y="3048456"/>
            <a:ext cx="2234917"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Operational activities required to maintain system stability, resolve incidents, and ensure continuous service availability.</a:t>
            </a:r>
          </a:p>
        </p:txBody>
      </p:sp>
      <p:sp>
        <p:nvSpPr>
          <p:cNvPr id="63" name="CuadroTexto 62">
            <a:extLst>
              <a:ext uri="{FF2B5EF4-FFF2-40B4-BE49-F238E27FC236}">
                <a16:creationId xmlns:a16="http://schemas.microsoft.com/office/drawing/2014/main" id="{95DA275A-A2C0-229B-1D1D-097B8522BA18}"/>
              </a:ext>
            </a:extLst>
          </p:cNvPr>
          <p:cNvSpPr txBox="1"/>
          <p:nvPr/>
        </p:nvSpPr>
        <p:spPr>
          <a:xfrm>
            <a:off x="9011315" y="4040677"/>
            <a:ext cx="1744890"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Mandatory initiatives driven by external regulations with fixed deadlines and non-negotiable scope.</a:t>
            </a:r>
          </a:p>
        </p:txBody>
      </p:sp>
      <p:sp>
        <p:nvSpPr>
          <p:cNvPr id="64" name="CuadroTexto 63">
            <a:extLst>
              <a:ext uri="{FF2B5EF4-FFF2-40B4-BE49-F238E27FC236}">
                <a16:creationId xmlns:a16="http://schemas.microsoft.com/office/drawing/2014/main" id="{AA6B6869-3900-6347-4A6D-FB360AE78012}"/>
              </a:ext>
            </a:extLst>
          </p:cNvPr>
          <p:cNvSpPr txBox="1"/>
          <p:nvPr/>
        </p:nvSpPr>
        <p:spPr>
          <a:xfrm>
            <a:off x="9011315" y="5040314"/>
            <a:ext cx="2031743" cy="646331"/>
          </a:xfrm>
          <a:prstGeom prst="rect">
            <a:avLst/>
          </a:prstGeom>
          <a:noFill/>
        </p:spPr>
        <p:txBody>
          <a:bodyPr wrap="square">
            <a:spAutoFit/>
          </a:bodyPr>
          <a:lstStyle>
            <a:defPPr>
              <a:defRPr lang="en-US"/>
            </a:defPPr>
            <a:lvl1pPr>
              <a:defRPr sz="900">
                <a:latin typeface="Arial" panose="020B0604020202020204" pitchFamily="34" charset="0"/>
                <a:cs typeface="Arial" panose="020B0604020202020204" pitchFamily="34" charset="0"/>
              </a:defRPr>
            </a:lvl1pPr>
          </a:lstStyle>
          <a:p>
            <a:r>
              <a:rPr lang="en-US" noProof="0"/>
              <a:t>Business-driven initiatives aimed at enhancing capabilities, improving performance, or delivering incremental business value</a:t>
            </a:r>
          </a:p>
        </p:txBody>
      </p:sp>
      <p:sp>
        <p:nvSpPr>
          <p:cNvPr id="65" name="TextBox 21">
            <a:extLst>
              <a:ext uri="{FF2B5EF4-FFF2-40B4-BE49-F238E27FC236}">
                <a16:creationId xmlns:a16="http://schemas.microsoft.com/office/drawing/2014/main" id="{40336B75-6E1C-8876-8EF4-F17FF94D6B81}"/>
              </a:ext>
            </a:extLst>
          </p:cNvPr>
          <p:cNvSpPr txBox="1"/>
          <p:nvPr/>
        </p:nvSpPr>
        <p:spPr>
          <a:xfrm>
            <a:off x="8863985" y="1910978"/>
            <a:ext cx="3102022" cy="652486"/>
          </a:xfrm>
          <a:prstGeom prst="rect">
            <a:avLst/>
          </a:prstGeom>
          <a:noFill/>
        </p:spPr>
        <p:txBody>
          <a:bodyPr wrap="square" lIns="45720" tIns="18288" rIns="45720" bIns="18288" anchor="t">
            <a:spAutoFit/>
          </a:bodyPr>
          <a:lstStyle/>
          <a:p>
            <a:pPr algn="ctr"/>
            <a:r>
              <a:rPr lang="en-US" sz="1000" b="0" i="1" noProof="0">
                <a:solidFill>
                  <a:schemeClr val="bg1"/>
                </a:solidFill>
                <a:latin typeface="Arial" panose="020B0604020202020204" pitchFamily="34" charset="0"/>
                <a:cs typeface="Arial" panose="020B0604020202020204" pitchFamily="34" charset="0"/>
              </a:rPr>
              <a:t>A multi classification level that depends both on the nature or particularity of the demand, but also on the level of effort (economics, time, and resources) required</a:t>
            </a:r>
          </a:p>
        </p:txBody>
      </p:sp>
      <p:sp>
        <p:nvSpPr>
          <p:cNvPr id="66" name="Right Arrow 134">
            <a:extLst>
              <a:ext uri="{FF2B5EF4-FFF2-40B4-BE49-F238E27FC236}">
                <a16:creationId xmlns:a16="http://schemas.microsoft.com/office/drawing/2014/main" id="{F5490EA6-6B85-BD66-4ED1-603C43B4F2C6}"/>
              </a:ext>
            </a:extLst>
          </p:cNvPr>
          <p:cNvSpPr/>
          <p:nvPr/>
        </p:nvSpPr>
        <p:spPr>
          <a:xfrm>
            <a:off x="1715240"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70" name="Grupo 69">
            <a:extLst>
              <a:ext uri="{FF2B5EF4-FFF2-40B4-BE49-F238E27FC236}">
                <a16:creationId xmlns:a16="http://schemas.microsoft.com/office/drawing/2014/main" id="{E93308E4-CB54-7CC7-A6E9-8EF7CE6884D5}"/>
              </a:ext>
            </a:extLst>
          </p:cNvPr>
          <p:cNvGrpSpPr/>
          <p:nvPr/>
        </p:nvGrpSpPr>
        <p:grpSpPr>
          <a:xfrm rot="16200000">
            <a:off x="1745817" y="2557674"/>
            <a:ext cx="2505708" cy="1540715"/>
            <a:chOff x="2029412" y="2552476"/>
            <a:chExt cx="1882575" cy="1273318"/>
          </a:xfrm>
        </p:grpSpPr>
        <p:sp>
          <p:nvSpPr>
            <p:cNvPr id="35" name="Rectángulo: esquinas redondeadas 34">
              <a:extLst>
                <a:ext uri="{FF2B5EF4-FFF2-40B4-BE49-F238E27FC236}">
                  <a16:creationId xmlns:a16="http://schemas.microsoft.com/office/drawing/2014/main" id="{809642C4-126C-A6A1-3D73-59199F12FA3E}"/>
                </a:ext>
              </a:extLst>
            </p:cNvPr>
            <p:cNvSpPr/>
            <p:nvPr/>
          </p:nvSpPr>
          <p:spPr>
            <a:xfrm>
              <a:off x="2029412" y="255247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FICA / Collection</a:t>
              </a:r>
            </a:p>
          </p:txBody>
        </p:sp>
        <p:sp>
          <p:nvSpPr>
            <p:cNvPr id="42" name="Rectángulo: esquinas redondeadas 41">
              <a:extLst>
                <a:ext uri="{FF2B5EF4-FFF2-40B4-BE49-F238E27FC236}">
                  <a16:creationId xmlns:a16="http://schemas.microsoft.com/office/drawing/2014/main" id="{B15E0EA7-AD85-5D55-BC1E-1A43F941104C}"/>
                </a:ext>
              </a:extLst>
            </p:cNvPr>
            <p:cNvSpPr/>
            <p:nvPr/>
          </p:nvSpPr>
          <p:spPr>
            <a:xfrm>
              <a:off x="2029412" y="2913948"/>
              <a:ext cx="1882575" cy="211065"/>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Billing, Device &amp; Retail</a:t>
              </a:r>
            </a:p>
          </p:txBody>
        </p:sp>
        <p:sp>
          <p:nvSpPr>
            <p:cNvPr id="44" name="Rectángulo: esquinas redondeadas 43">
              <a:extLst>
                <a:ext uri="{FF2B5EF4-FFF2-40B4-BE49-F238E27FC236}">
                  <a16:creationId xmlns:a16="http://schemas.microsoft.com/office/drawing/2014/main" id="{D329D635-CBD6-E0DF-824C-6BC9F5135722}"/>
                </a:ext>
              </a:extLst>
            </p:cNvPr>
            <p:cNvSpPr/>
            <p:nvPr/>
          </p:nvSpPr>
          <p:spPr>
            <a:xfrm>
              <a:off x="2029412" y="323109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SAP Basis</a:t>
              </a:r>
            </a:p>
          </p:txBody>
        </p:sp>
        <p:sp>
          <p:nvSpPr>
            <p:cNvPr id="69" name="Rectángulo: esquinas redondeadas 68">
              <a:extLst>
                <a:ext uri="{FF2B5EF4-FFF2-40B4-BE49-F238E27FC236}">
                  <a16:creationId xmlns:a16="http://schemas.microsoft.com/office/drawing/2014/main" id="{247ABB12-E1DB-8D6E-A992-6F57F966C641}"/>
                </a:ext>
              </a:extLst>
            </p:cNvPr>
            <p:cNvSpPr/>
            <p:nvPr/>
          </p:nvSpPr>
          <p:spPr>
            <a:xfrm>
              <a:off x="2029412" y="3570405"/>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CRM &amp; Contact Center</a:t>
              </a:r>
            </a:p>
          </p:txBody>
        </p:sp>
      </p:grpSp>
      <p:sp>
        <p:nvSpPr>
          <p:cNvPr id="71" name="Rectángulo: esquinas redondeadas 70">
            <a:extLst>
              <a:ext uri="{FF2B5EF4-FFF2-40B4-BE49-F238E27FC236}">
                <a16:creationId xmlns:a16="http://schemas.microsoft.com/office/drawing/2014/main" id="{EFDDCBE6-31C3-A1A0-6BF3-E0E5366DD779}"/>
              </a:ext>
            </a:extLst>
          </p:cNvPr>
          <p:cNvSpPr/>
          <p:nvPr/>
        </p:nvSpPr>
        <p:spPr>
          <a:xfrm>
            <a:off x="2057384" y="538402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GIS</a:t>
            </a:r>
          </a:p>
        </p:txBody>
      </p:sp>
      <p:sp>
        <p:nvSpPr>
          <p:cNvPr id="4" name="TextBox 138">
            <a:extLst>
              <a:ext uri="{FF2B5EF4-FFF2-40B4-BE49-F238E27FC236}">
                <a16:creationId xmlns:a16="http://schemas.microsoft.com/office/drawing/2014/main" id="{4E3665BF-BF2F-567C-8CE1-73E77D2A7365}"/>
              </a:ext>
            </a:extLst>
          </p:cNvPr>
          <p:cNvSpPr txBox="1"/>
          <p:nvPr/>
        </p:nvSpPr>
        <p:spPr>
          <a:xfrm>
            <a:off x="8887354" y="5812614"/>
            <a:ext cx="2854584"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Note: </a:t>
            </a:r>
            <a:r>
              <a:rPr lang="en-US" sz="900">
                <a:solidFill>
                  <a:schemeClr val="bg1"/>
                </a:solidFill>
                <a:latin typeface="Arial" panose="020B0604020202020204" pitchFamily="34" charset="0"/>
                <a:cs typeface="Arial" panose="020B0604020202020204" pitchFamily="34" charset="0"/>
              </a:rPr>
              <a:t>while </a:t>
            </a: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this model is not currently standardized in the As-Is </a:t>
            </a:r>
            <a:r>
              <a:rPr lang="en-US" sz="900">
                <a:solidFill>
                  <a:schemeClr val="bg1"/>
                </a:solidFill>
                <a:latin typeface="Arial" panose="020B0604020202020204" pitchFamily="34" charset="0"/>
                <a:cs typeface="Arial" panose="020B0604020202020204" pitchFamily="34" charset="0"/>
              </a:rPr>
              <a:t>process, both classifications are partially adopted across all teams</a:t>
            </a:r>
            <a:endPar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6" name="Right Arrow 134">
            <a:extLst>
              <a:ext uri="{FF2B5EF4-FFF2-40B4-BE49-F238E27FC236}">
                <a16:creationId xmlns:a16="http://schemas.microsoft.com/office/drawing/2014/main" id="{F11F702D-DC33-1C43-008E-35E2CBCCFFBE}"/>
              </a:ext>
            </a:extLst>
          </p:cNvPr>
          <p:cNvSpPr/>
          <p:nvPr/>
        </p:nvSpPr>
        <p:spPr>
          <a:xfrm>
            <a:off x="4169071"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ight Arrow 135">
            <a:extLst>
              <a:ext uri="{FF2B5EF4-FFF2-40B4-BE49-F238E27FC236}">
                <a16:creationId xmlns:a16="http://schemas.microsoft.com/office/drawing/2014/main" id="{EF65EB71-36C1-0D8F-9EC3-70CF457A9C40}"/>
              </a:ext>
            </a:extLst>
          </p:cNvPr>
          <p:cNvSpPr/>
          <p:nvPr/>
        </p:nvSpPr>
        <p:spPr>
          <a:xfrm>
            <a:off x="8618315" y="205012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Right Arrow 134">
            <a:extLst>
              <a:ext uri="{FF2B5EF4-FFF2-40B4-BE49-F238E27FC236}">
                <a16:creationId xmlns:a16="http://schemas.microsoft.com/office/drawing/2014/main" id="{7BBA353D-1E51-B0CB-4F56-655BBFBC0F1E}"/>
              </a:ext>
            </a:extLst>
          </p:cNvPr>
          <p:cNvSpPr/>
          <p:nvPr/>
        </p:nvSpPr>
        <p:spPr>
          <a:xfrm>
            <a:off x="1715240"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Right Arrow 134">
            <a:extLst>
              <a:ext uri="{FF2B5EF4-FFF2-40B4-BE49-F238E27FC236}">
                <a16:creationId xmlns:a16="http://schemas.microsoft.com/office/drawing/2014/main" id="{D4DACFEE-AAE2-6A32-6C2E-B0B2BCC4B9D3}"/>
              </a:ext>
            </a:extLst>
          </p:cNvPr>
          <p:cNvSpPr/>
          <p:nvPr/>
        </p:nvSpPr>
        <p:spPr>
          <a:xfrm>
            <a:off x="4169071"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Right Arrow 135">
            <a:extLst>
              <a:ext uri="{FF2B5EF4-FFF2-40B4-BE49-F238E27FC236}">
                <a16:creationId xmlns:a16="http://schemas.microsoft.com/office/drawing/2014/main" id="{B7EBD18D-3CFE-6708-4363-0355FE368036}"/>
              </a:ext>
            </a:extLst>
          </p:cNvPr>
          <p:cNvSpPr/>
          <p:nvPr/>
        </p:nvSpPr>
        <p:spPr>
          <a:xfrm>
            <a:off x="8618315" y="237973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6" name="Right Arrow 134">
            <a:extLst>
              <a:ext uri="{FF2B5EF4-FFF2-40B4-BE49-F238E27FC236}">
                <a16:creationId xmlns:a16="http://schemas.microsoft.com/office/drawing/2014/main" id="{9C488773-450F-A818-1921-CD6A46D6BB49}"/>
              </a:ext>
            </a:extLst>
          </p:cNvPr>
          <p:cNvSpPr/>
          <p:nvPr/>
        </p:nvSpPr>
        <p:spPr>
          <a:xfrm>
            <a:off x="1715240"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Right Arrow 134">
            <a:extLst>
              <a:ext uri="{FF2B5EF4-FFF2-40B4-BE49-F238E27FC236}">
                <a16:creationId xmlns:a16="http://schemas.microsoft.com/office/drawing/2014/main" id="{3E3714B4-B596-54AB-A57D-E0A213FA383A}"/>
              </a:ext>
            </a:extLst>
          </p:cNvPr>
          <p:cNvSpPr/>
          <p:nvPr/>
        </p:nvSpPr>
        <p:spPr>
          <a:xfrm>
            <a:off x="4169071"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Right Arrow 135">
            <a:extLst>
              <a:ext uri="{FF2B5EF4-FFF2-40B4-BE49-F238E27FC236}">
                <a16:creationId xmlns:a16="http://schemas.microsoft.com/office/drawing/2014/main" id="{7AA2B0A8-CDBE-0DE6-28BD-7063E3E1B4C7}"/>
              </a:ext>
            </a:extLst>
          </p:cNvPr>
          <p:cNvSpPr/>
          <p:nvPr/>
        </p:nvSpPr>
        <p:spPr>
          <a:xfrm>
            <a:off x="8618315" y="269870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Right Arrow 134">
            <a:extLst>
              <a:ext uri="{FF2B5EF4-FFF2-40B4-BE49-F238E27FC236}">
                <a16:creationId xmlns:a16="http://schemas.microsoft.com/office/drawing/2014/main" id="{FEDBD7E9-D17D-C13D-8092-1A636259E993}"/>
              </a:ext>
            </a:extLst>
          </p:cNvPr>
          <p:cNvSpPr/>
          <p:nvPr/>
        </p:nvSpPr>
        <p:spPr>
          <a:xfrm>
            <a:off x="1715240"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ight Arrow 134">
            <a:extLst>
              <a:ext uri="{FF2B5EF4-FFF2-40B4-BE49-F238E27FC236}">
                <a16:creationId xmlns:a16="http://schemas.microsoft.com/office/drawing/2014/main" id="{4906FF39-AA27-7A53-5F71-5817CFCD9B75}"/>
              </a:ext>
            </a:extLst>
          </p:cNvPr>
          <p:cNvSpPr/>
          <p:nvPr/>
        </p:nvSpPr>
        <p:spPr>
          <a:xfrm>
            <a:off x="4169071"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Right Arrow 135">
            <a:extLst>
              <a:ext uri="{FF2B5EF4-FFF2-40B4-BE49-F238E27FC236}">
                <a16:creationId xmlns:a16="http://schemas.microsoft.com/office/drawing/2014/main" id="{CA1E3F91-13E7-4E53-0685-E3F11AA707AE}"/>
              </a:ext>
            </a:extLst>
          </p:cNvPr>
          <p:cNvSpPr/>
          <p:nvPr/>
        </p:nvSpPr>
        <p:spPr>
          <a:xfrm>
            <a:off x="8618315" y="302831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Right Arrow 134">
            <a:extLst>
              <a:ext uri="{FF2B5EF4-FFF2-40B4-BE49-F238E27FC236}">
                <a16:creationId xmlns:a16="http://schemas.microsoft.com/office/drawing/2014/main" id="{6509D3E1-A8E1-D366-835D-258750EA9546}"/>
              </a:ext>
            </a:extLst>
          </p:cNvPr>
          <p:cNvSpPr/>
          <p:nvPr/>
        </p:nvSpPr>
        <p:spPr>
          <a:xfrm>
            <a:off x="1715240"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Right Arrow 134">
            <a:extLst>
              <a:ext uri="{FF2B5EF4-FFF2-40B4-BE49-F238E27FC236}">
                <a16:creationId xmlns:a16="http://schemas.microsoft.com/office/drawing/2014/main" id="{D3B70F6D-DEF9-607E-CF63-F6ABA7385184}"/>
              </a:ext>
            </a:extLst>
          </p:cNvPr>
          <p:cNvSpPr/>
          <p:nvPr/>
        </p:nvSpPr>
        <p:spPr>
          <a:xfrm>
            <a:off x="4169071"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ight Arrow 135">
            <a:extLst>
              <a:ext uri="{FF2B5EF4-FFF2-40B4-BE49-F238E27FC236}">
                <a16:creationId xmlns:a16="http://schemas.microsoft.com/office/drawing/2014/main" id="{108A115C-AD8E-E64C-8586-286F0984EABA}"/>
              </a:ext>
            </a:extLst>
          </p:cNvPr>
          <p:cNvSpPr/>
          <p:nvPr/>
        </p:nvSpPr>
        <p:spPr>
          <a:xfrm>
            <a:off x="8618315" y="3368560"/>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8" name="Right Arrow 134">
            <a:extLst>
              <a:ext uri="{FF2B5EF4-FFF2-40B4-BE49-F238E27FC236}">
                <a16:creationId xmlns:a16="http://schemas.microsoft.com/office/drawing/2014/main" id="{65688FE4-3CEF-1BE9-5A8F-E7A02B528136}"/>
              </a:ext>
            </a:extLst>
          </p:cNvPr>
          <p:cNvSpPr/>
          <p:nvPr/>
        </p:nvSpPr>
        <p:spPr>
          <a:xfrm>
            <a:off x="1715240"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Right Arrow 134">
            <a:extLst>
              <a:ext uri="{FF2B5EF4-FFF2-40B4-BE49-F238E27FC236}">
                <a16:creationId xmlns:a16="http://schemas.microsoft.com/office/drawing/2014/main" id="{FCE84FA7-903F-257A-95C5-0B27531804FD}"/>
              </a:ext>
            </a:extLst>
          </p:cNvPr>
          <p:cNvSpPr/>
          <p:nvPr/>
        </p:nvSpPr>
        <p:spPr>
          <a:xfrm>
            <a:off x="4169071"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Right Arrow 135">
            <a:extLst>
              <a:ext uri="{FF2B5EF4-FFF2-40B4-BE49-F238E27FC236}">
                <a16:creationId xmlns:a16="http://schemas.microsoft.com/office/drawing/2014/main" id="{E0E03A62-EAB3-F62D-B2F8-A66D8FB22E05}"/>
              </a:ext>
            </a:extLst>
          </p:cNvPr>
          <p:cNvSpPr/>
          <p:nvPr/>
        </p:nvSpPr>
        <p:spPr>
          <a:xfrm>
            <a:off x="8618315" y="370880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Right Arrow 134">
            <a:extLst>
              <a:ext uri="{FF2B5EF4-FFF2-40B4-BE49-F238E27FC236}">
                <a16:creationId xmlns:a16="http://schemas.microsoft.com/office/drawing/2014/main" id="{6862CEF3-33F3-758E-2575-972F418E6E59}"/>
              </a:ext>
            </a:extLst>
          </p:cNvPr>
          <p:cNvSpPr/>
          <p:nvPr/>
        </p:nvSpPr>
        <p:spPr>
          <a:xfrm>
            <a:off x="1715240"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Right Arrow 134">
            <a:extLst>
              <a:ext uri="{FF2B5EF4-FFF2-40B4-BE49-F238E27FC236}">
                <a16:creationId xmlns:a16="http://schemas.microsoft.com/office/drawing/2014/main" id="{E29B2EEC-7F7C-34BB-B491-BFCFECCFF40C}"/>
              </a:ext>
            </a:extLst>
          </p:cNvPr>
          <p:cNvSpPr/>
          <p:nvPr/>
        </p:nvSpPr>
        <p:spPr>
          <a:xfrm>
            <a:off x="4169071"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Right Arrow 135">
            <a:extLst>
              <a:ext uri="{FF2B5EF4-FFF2-40B4-BE49-F238E27FC236}">
                <a16:creationId xmlns:a16="http://schemas.microsoft.com/office/drawing/2014/main" id="{FA75168B-99EC-5E85-EBF0-DF77A666D698}"/>
              </a:ext>
            </a:extLst>
          </p:cNvPr>
          <p:cNvSpPr/>
          <p:nvPr/>
        </p:nvSpPr>
        <p:spPr>
          <a:xfrm>
            <a:off x="8618315" y="404904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Right Arrow 134">
            <a:extLst>
              <a:ext uri="{FF2B5EF4-FFF2-40B4-BE49-F238E27FC236}">
                <a16:creationId xmlns:a16="http://schemas.microsoft.com/office/drawing/2014/main" id="{671DAAC5-6E0C-7114-49BB-4C30F0BE853F}"/>
              </a:ext>
            </a:extLst>
          </p:cNvPr>
          <p:cNvSpPr/>
          <p:nvPr/>
        </p:nvSpPr>
        <p:spPr>
          <a:xfrm>
            <a:off x="1715240"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7" name="Right Arrow 134">
            <a:extLst>
              <a:ext uri="{FF2B5EF4-FFF2-40B4-BE49-F238E27FC236}">
                <a16:creationId xmlns:a16="http://schemas.microsoft.com/office/drawing/2014/main" id="{55FC52D1-C7B6-B2CD-DD95-687B036DC07B}"/>
              </a:ext>
            </a:extLst>
          </p:cNvPr>
          <p:cNvSpPr/>
          <p:nvPr/>
        </p:nvSpPr>
        <p:spPr>
          <a:xfrm>
            <a:off x="4169071"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8" name="Right Arrow 135">
            <a:extLst>
              <a:ext uri="{FF2B5EF4-FFF2-40B4-BE49-F238E27FC236}">
                <a16:creationId xmlns:a16="http://schemas.microsoft.com/office/drawing/2014/main" id="{DB7E818D-E073-91A0-74A3-3E57A6F83408}"/>
              </a:ext>
            </a:extLst>
          </p:cNvPr>
          <p:cNvSpPr/>
          <p:nvPr/>
        </p:nvSpPr>
        <p:spPr>
          <a:xfrm>
            <a:off x="8618315" y="43573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0" name="Right Arrow 134">
            <a:extLst>
              <a:ext uri="{FF2B5EF4-FFF2-40B4-BE49-F238E27FC236}">
                <a16:creationId xmlns:a16="http://schemas.microsoft.com/office/drawing/2014/main" id="{D60BC74C-0602-DA7A-896F-E2EAD42049DF}"/>
              </a:ext>
            </a:extLst>
          </p:cNvPr>
          <p:cNvSpPr/>
          <p:nvPr/>
        </p:nvSpPr>
        <p:spPr>
          <a:xfrm>
            <a:off x="1715240"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5" name="Right Arrow 134">
            <a:extLst>
              <a:ext uri="{FF2B5EF4-FFF2-40B4-BE49-F238E27FC236}">
                <a16:creationId xmlns:a16="http://schemas.microsoft.com/office/drawing/2014/main" id="{BFA269ED-48E2-0985-5085-93DBB5F15EA5}"/>
              </a:ext>
            </a:extLst>
          </p:cNvPr>
          <p:cNvSpPr/>
          <p:nvPr/>
        </p:nvSpPr>
        <p:spPr>
          <a:xfrm>
            <a:off x="4169071"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7" name="Right Arrow 135">
            <a:extLst>
              <a:ext uri="{FF2B5EF4-FFF2-40B4-BE49-F238E27FC236}">
                <a16:creationId xmlns:a16="http://schemas.microsoft.com/office/drawing/2014/main" id="{CE982E33-8DA8-86CB-04F2-849E1F66BFB5}"/>
              </a:ext>
            </a:extLst>
          </p:cNvPr>
          <p:cNvSpPr/>
          <p:nvPr/>
        </p:nvSpPr>
        <p:spPr>
          <a:xfrm>
            <a:off x="8618315" y="506976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8" name="Right Arrow 134">
            <a:extLst>
              <a:ext uri="{FF2B5EF4-FFF2-40B4-BE49-F238E27FC236}">
                <a16:creationId xmlns:a16="http://schemas.microsoft.com/office/drawing/2014/main" id="{9F51F66F-9173-9AB3-B07B-7C1E43697B4A}"/>
              </a:ext>
            </a:extLst>
          </p:cNvPr>
          <p:cNvSpPr/>
          <p:nvPr/>
        </p:nvSpPr>
        <p:spPr>
          <a:xfrm>
            <a:off x="1715240"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4" name="Right Arrow 134">
            <a:extLst>
              <a:ext uri="{FF2B5EF4-FFF2-40B4-BE49-F238E27FC236}">
                <a16:creationId xmlns:a16="http://schemas.microsoft.com/office/drawing/2014/main" id="{486BCAA7-94E1-0633-3A4F-87D79BC2E400}"/>
              </a:ext>
            </a:extLst>
          </p:cNvPr>
          <p:cNvSpPr/>
          <p:nvPr/>
        </p:nvSpPr>
        <p:spPr>
          <a:xfrm>
            <a:off x="4169071"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5" name="Right Arrow 135">
            <a:extLst>
              <a:ext uri="{FF2B5EF4-FFF2-40B4-BE49-F238E27FC236}">
                <a16:creationId xmlns:a16="http://schemas.microsoft.com/office/drawing/2014/main" id="{067B5157-19AB-F60C-49BE-37DFABA0BF37}"/>
              </a:ext>
            </a:extLst>
          </p:cNvPr>
          <p:cNvSpPr/>
          <p:nvPr/>
        </p:nvSpPr>
        <p:spPr>
          <a:xfrm>
            <a:off x="8618315" y="542064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6" name="Right Arrow 134">
            <a:extLst>
              <a:ext uri="{FF2B5EF4-FFF2-40B4-BE49-F238E27FC236}">
                <a16:creationId xmlns:a16="http://schemas.microsoft.com/office/drawing/2014/main" id="{1FA0E580-A3F1-4427-26EC-DD92AA00D608}"/>
              </a:ext>
            </a:extLst>
          </p:cNvPr>
          <p:cNvSpPr/>
          <p:nvPr/>
        </p:nvSpPr>
        <p:spPr>
          <a:xfrm>
            <a:off x="1715240"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7" name="Right Arrow 134">
            <a:extLst>
              <a:ext uri="{FF2B5EF4-FFF2-40B4-BE49-F238E27FC236}">
                <a16:creationId xmlns:a16="http://schemas.microsoft.com/office/drawing/2014/main" id="{3B8F701C-F893-9856-6C85-B4361E54AA4D}"/>
              </a:ext>
            </a:extLst>
          </p:cNvPr>
          <p:cNvSpPr/>
          <p:nvPr/>
        </p:nvSpPr>
        <p:spPr>
          <a:xfrm>
            <a:off x="4169071"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9" name="Right Arrow 135">
            <a:extLst>
              <a:ext uri="{FF2B5EF4-FFF2-40B4-BE49-F238E27FC236}">
                <a16:creationId xmlns:a16="http://schemas.microsoft.com/office/drawing/2014/main" id="{07F58C55-4E55-0FED-62F6-A7CAB86BD502}"/>
              </a:ext>
            </a:extLst>
          </p:cNvPr>
          <p:cNvSpPr/>
          <p:nvPr/>
        </p:nvSpPr>
        <p:spPr>
          <a:xfrm>
            <a:off x="8618315" y="57289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1" name="Right Arrow 134">
            <a:extLst>
              <a:ext uri="{FF2B5EF4-FFF2-40B4-BE49-F238E27FC236}">
                <a16:creationId xmlns:a16="http://schemas.microsoft.com/office/drawing/2014/main" id="{C9D5C75A-D70A-90E7-2527-9B16ECC806A1}"/>
              </a:ext>
            </a:extLst>
          </p:cNvPr>
          <p:cNvSpPr/>
          <p:nvPr/>
        </p:nvSpPr>
        <p:spPr>
          <a:xfrm>
            <a:off x="1715240"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7" name="Right Arrow 134">
            <a:extLst>
              <a:ext uri="{FF2B5EF4-FFF2-40B4-BE49-F238E27FC236}">
                <a16:creationId xmlns:a16="http://schemas.microsoft.com/office/drawing/2014/main" id="{B77F0F2C-57DD-8475-3D36-2001DB86722E}"/>
              </a:ext>
            </a:extLst>
          </p:cNvPr>
          <p:cNvSpPr/>
          <p:nvPr/>
        </p:nvSpPr>
        <p:spPr>
          <a:xfrm>
            <a:off x="4169071"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0" name="Right Arrow 135">
            <a:extLst>
              <a:ext uri="{FF2B5EF4-FFF2-40B4-BE49-F238E27FC236}">
                <a16:creationId xmlns:a16="http://schemas.microsoft.com/office/drawing/2014/main" id="{DDAB9324-C4C1-A20C-5E02-77159901A189}"/>
              </a:ext>
            </a:extLst>
          </p:cNvPr>
          <p:cNvSpPr/>
          <p:nvPr/>
        </p:nvSpPr>
        <p:spPr>
          <a:xfrm>
            <a:off x="8618315" y="604796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1" name="Right Arrow 134">
            <a:extLst>
              <a:ext uri="{FF2B5EF4-FFF2-40B4-BE49-F238E27FC236}">
                <a16:creationId xmlns:a16="http://schemas.microsoft.com/office/drawing/2014/main" id="{E70C1F21-E0E4-50A5-763F-D5696821A35D}"/>
              </a:ext>
            </a:extLst>
          </p:cNvPr>
          <p:cNvSpPr/>
          <p:nvPr/>
        </p:nvSpPr>
        <p:spPr>
          <a:xfrm>
            <a:off x="1715240"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4132" name="Grupo 4131">
            <a:extLst>
              <a:ext uri="{FF2B5EF4-FFF2-40B4-BE49-F238E27FC236}">
                <a16:creationId xmlns:a16="http://schemas.microsoft.com/office/drawing/2014/main" id="{F098EEE4-F03C-C180-5E0E-4D195C49C435}"/>
              </a:ext>
            </a:extLst>
          </p:cNvPr>
          <p:cNvGrpSpPr/>
          <p:nvPr/>
        </p:nvGrpSpPr>
        <p:grpSpPr>
          <a:xfrm>
            <a:off x="1621438" y="6566716"/>
            <a:ext cx="9662007" cy="163695"/>
            <a:chOff x="226978" y="6368710"/>
            <a:chExt cx="9662007" cy="239667"/>
          </a:xfrm>
        </p:grpSpPr>
        <p:sp>
          <p:nvSpPr>
            <p:cNvPr id="4133" name="TextBox 6">
              <a:extLst>
                <a:ext uri="{FF2B5EF4-FFF2-40B4-BE49-F238E27FC236}">
                  <a16:creationId xmlns:a16="http://schemas.microsoft.com/office/drawing/2014/main" id="{FA9271ED-2227-CA33-0737-BBE9C8D5D5FF}"/>
                </a:ext>
              </a:extLst>
            </p:cNvPr>
            <p:cNvSpPr txBox="1"/>
            <p:nvPr/>
          </p:nvSpPr>
          <p:spPr>
            <a:xfrm>
              <a:off x="226978" y="6391717"/>
              <a:ext cx="1828800" cy="193653"/>
            </a:xfrm>
            <a:prstGeom prst="rect">
              <a:avLst/>
            </a:prstGeom>
            <a:noFill/>
          </p:spPr>
          <p:txBody>
            <a:bodyPr wrap="square" lIns="45720" tIns="18288" rIns="45720" bIns="18288" anchor="ctr">
              <a:spAutoFit/>
            </a:bodyPr>
            <a:lstStyle/>
            <a:p>
              <a:pPr algn="l"/>
              <a:r>
                <a:rPr lang="en-US" sz="800" b="1" i="0" noProof="0">
                  <a:solidFill>
                    <a:srgbClr val="1F3A68"/>
                  </a:solidFill>
                  <a:latin typeface="Arial" panose="020B0604020202020204" pitchFamily="34" charset="0"/>
                  <a:cs typeface="Arial" panose="020B0604020202020204" pitchFamily="34" charset="0"/>
                </a:rPr>
                <a:t>COLOR CODING:</a:t>
              </a:r>
            </a:p>
          </p:txBody>
        </p:sp>
        <p:sp>
          <p:nvSpPr>
            <p:cNvPr id="4134" name="Rounded Rectangle 7">
              <a:extLst>
                <a:ext uri="{FF2B5EF4-FFF2-40B4-BE49-F238E27FC236}">
                  <a16:creationId xmlns:a16="http://schemas.microsoft.com/office/drawing/2014/main" id="{3DA83E63-938F-A666-A973-664E23A73D41}"/>
                </a:ext>
              </a:extLst>
            </p:cNvPr>
            <p:cNvSpPr/>
            <p:nvPr/>
          </p:nvSpPr>
          <p:spPr>
            <a:xfrm>
              <a:off x="6835510" y="6387959"/>
              <a:ext cx="731520"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LARGE</a:t>
              </a:r>
            </a:p>
          </p:txBody>
        </p:sp>
        <p:sp>
          <p:nvSpPr>
            <p:cNvPr id="4135" name="Rounded Rectangle 9">
              <a:extLst>
                <a:ext uri="{FF2B5EF4-FFF2-40B4-BE49-F238E27FC236}">
                  <a16:creationId xmlns:a16="http://schemas.microsoft.com/office/drawing/2014/main" id="{C3AD0BB1-6C1F-3E0D-6493-FF80633B5733}"/>
                </a:ext>
              </a:extLst>
            </p:cNvPr>
            <p:cNvSpPr/>
            <p:nvPr/>
          </p:nvSpPr>
          <p:spPr>
            <a:xfrm>
              <a:off x="4095670" y="6387959"/>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MEDIUM</a:t>
              </a:r>
            </a:p>
          </p:txBody>
        </p:sp>
        <p:sp>
          <p:nvSpPr>
            <p:cNvPr id="4136" name="Rounded Rectangle 11">
              <a:extLst>
                <a:ext uri="{FF2B5EF4-FFF2-40B4-BE49-F238E27FC236}">
                  <a16:creationId xmlns:a16="http://schemas.microsoft.com/office/drawing/2014/main" id="{422B56DB-7AF8-A163-759F-DBBC763D4788}"/>
                </a:ext>
              </a:extLst>
            </p:cNvPr>
            <p:cNvSpPr/>
            <p:nvPr/>
          </p:nvSpPr>
          <p:spPr>
            <a:xfrm>
              <a:off x="1414186" y="6387959"/>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SMALL</a:t>
              </a:r>
            </a:p>
          </p:txBody>
        </p:sp>
        <p:sp>
          <p:nvSpPr>
            <p:cNvPr id="4138" name="Rectangle 52">
              <a:extLst>
                <a:ext uri="{FF2B5EF4-FFF2-40B4-BE49-F238E27FC236}">
                  <a16:creationId xmlns:a16="http://schemas.microsoft.com/office/drawing/2014/main" id="{52769A47-2729-F122-DBAD-240493D0BF31}"/>
                </a:ext>
              </a:extLst>
            </p:cNvPr>
            <p:cNvSpPr/>
            <p:nvPr/>
          </p:nvSpPr>
          <p:spPr>
            <a:xfrm>
              <a:off x="2148357" y="6368710"/>
              <a:ext cx="2037112"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sym typeface="Wingdings" panose="05000000000000000000" pitchFamily="2" charset="2"/>
                </a:rPr>
                <a:t>&lt; $10k, 1-3 month, &lt; 5 resource  </a:t>
              </a:r>
              <a:endParaRPr kumimoji="0" lang="en-US" sz="16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endParaRPr>
            </a:p>
          </p:txBody>
        </p:sp>
        <p:sp>
          <p:nvSpPr>
            <p:cNvPr id="4140" name="Rectangle 53">
              <a:extLst>
                <a:ext uri="{FF2B5EF4-FFF2-40B4-BE49-F238E27FC236}">
                  <a16:creationId xmlns:a16="http://schemas.microsoft.com/office/drawing/2014/main" id="{E5A4D2BC-97BE-1552-9F1A-EA29F3BB1686}"/>
                </a:ext>
              </a:extLst>
            </p:cNvPr>
            <p:cNvSpPr/>
            <p:nvPr/>
          </p:nvSpPr>
          <p:spPr>
            <a:xfrm>
              <a:off x="4794084" y="6368710"/>
              <a:ext cx="2100750"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$500k, 3-6 month, &lt;= 10 resource  </a:t>
              </a:r>
              <a:endParaRPr lang="en-US" sz="1000" noProof="0">
                <a:solidFill>
                  <a:srgbClr val="FFFFFF">
                    <a:lumMod val="65000"/>
                  </a:srgbClr>
                </a:solidFill>
                <a:latin typeface="Arial" panose="020B0604020202020204" pitchFamily="34" charset="0"/>
                <a:cs typeface="Arial" panose="020B0604020202020204" pitchFamily="34" charset="0"/>
              </a:endParaRPr>
            </a:p>
          </p:txBody>
        </p:sp>
        <p:sp>
          <p:nvSpPr>
            <p:cNvPr id="4141" name="Rectangle 53">
              <a:extLst>
                <a:ext uri="{FF2B5EF4-FFF2-40B4-BE49-F238E27FC236}">
                  <a16:creationId xmlns:a16="http://schemas.microsoft.com/office/drawing/2014/main" id="{7AE8591D-BE3C-CE4A-7FBA-C04B464E346F}"/>
                </a:ext>
              </a:extLst>
            </p:cNvPr>
            <p:cNvSpPr/>
            <p:nvPr/>
          </p:nvSpPr>
          <p:spPr>
            <a:xfrm>
              <a:off x="7578160" y="6368710"/>
              <a:ext cx="2310825"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Projects that exceed previous limits</a:t>
              </a:r>
              <a:endParaRPr lang="en-US" sz="1000" noProof="0">
                <a:solidFill>
                  <a:srgbClr val="FFFFFF">
                    <a:lumMod val="65000"/>
                  </a:srgb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562060882"/>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3D7A-10F6-BB2B-44FF-5D80D523D20D}"/>
            </a:ext>
          </a:extLst>
        </p:cNvPr>
        <p:cNvGrpSpPr/>
        <p:nvPr/>
      </p:nvGrpSpPr>
      <p:grpSpPr>
        <a:xfrm>
          <a:off x="0" y="0"/>
          <a:ext cx="0" cy="0"/>
          <a:chOff x="0" y="0"/>
          <a:chExt cx="0" cy="0"/>
        </a:xfrm>
      </p:grpSpPr>
      <p:sp>
        <p:nvSpPr>
          <p:cNvPr id="9" name="Título 2">
            <a:extLst>
              <a:ext uri="{FF2B5EF4-FFF2-40B4-BE49-F238E27FC236}">
                <a16:creationId xmlns:a16="http://schemas.microsoft.com/office/drawing/2014/main" id="{75EA7CBF-2345-5E40-322A-93F22D64404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400" noProof="0">
                <a:solidFill>
                  <a:prstClr val="white"/>
                </a:solidFill>
                <a:latin typeface="Arial" panose="020B0604020202020204" pitchFamily="34" charset="0"/>
                <a:cs typeface="Arial" panose="020B0604020202020204" pitchFamily="34" charset="0"/>
              </a:rPr>
              <a:t>PROJECT PORTFOLIO LANDSCAPE</a:t>
            </a:r>
            <a:endPar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PORTFOLIO OVERVIEW BY DEMAND TYPE</a:t>
            </a:r>
          </a:p>
        </p:txBody>
      </p:sp>
      <p:sp>
        <p:nvSpPr>
          <p:cNvPr id="14" name="Rectangle 13">
            <a:extLst>
              <a:ext uri="{FF2B5EF4-FFF2-40B4-BE49-F238E27FC236}">
                <a16:creationId xmlns:a16="http://schemas.microsoft.com/office/drawing/2014/main" id="{98A5B6DA-81D6-9E31-0173-369390EADF3D}"/>
              </a:ext>
            </a:extLst>
          </p:cNvPr>
          <p:cNvSpPr/>
          <p:nvPr/>
        </p:nvSpPr>
        <p:spPr>
          <a:xfrm>
            <a:off x="5787955" y="1157711"/>
            <a:ext cx="6148021"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NON-REGULATORY</a:t>
            </a:r>
          </a:p>
        </p:txBody>
      </p:sp>
      <p:sp>
        <p:nvSpPr>
          <p:cNvPr id="82" name="Rectangle 13">
            <a:extLst>
              <a:ext uri="{FF2B5EF4-FFF2-40B4-BE49-F238E27FC236}">
                <a16:creationId xmlns:a16="http://schemas.microsoft.com/office/drawing/2014/main" id="{9A21FF77-B476-974C-6785-762C5A82138E}"/>
              </a:ext>
            </a:extLst>
          </p:cNvPr>
          <p:cNvSpPr/>
          <p:nvPr/>
        </p:nvSpPr>
        <p:spPr>
          <a:xfrm>
            <a:off x="335918" y="1157711"/>
            <a:ext cx="2341263"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prstClr val="white"/>
                </a:solidFill>
                <a:latin typeface="Arial" panose="020B0604020202020204" pitchFamily="34" charset="0"/>
                <a:cs typeface="Arial" panose="020B0604020202020204" pitchFamily="34" charset="0"/>
              </a:rPr>
              <a:t>PRODUCTION SUPPORT</a:t>
            </a:r>
            <a:endPar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 name="Rectangle 13">
            <a:extLst>
              <a:ext uri="{FF2B5EF4-FFF2-40B4-BE49-F238E27FC236}">
                <a16:creationId xmlns:a16="http://schemas.microsoft.com/office/drawing/2014/main" id="{E872C240-51DB-B620-5CF9-E30A4004E509}"/>
              </a:ext>
            </a:extLst>
          </p:cNvPr>
          <p:cNvSpPr/>
          <p:nvPr/>
        </p:nvSpPr>
        <p:spPr>
          <a:xfrm>
            <a:off x="2814432" y="1157711"/>
            <a:ext cx="2873730"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REGULATORY</a:t>
            </a:r>
          </a:p>
        </p:txBody>
      </p:sp>
      <p:grpSp>
        <p:nvGrpSpPr>
          <p:cNvPr id="39" name="Grupo 38">
            <a:extLst>
              <a:ext uri="{FF2B5EF4-FFF2-40B4-BE49-F238E27FC236}">
                <a16:creationId xmlns:a16="http://schemas.microsoft.com/office/drawing/2014/main" id="{51EC2556-4D6E-6890-BD43-C627F2452169}"/>
              </a:ext>
            </a:extLst>
          </p:cNvPr>
          <p:cNvGrpSpPr/>
          <p:nvPr/>
        </p:nvGrpSpPr>
        <p:grpSpPr>
          <a:xfrm>
            <a:off x="315280" y="1529475"/>
            <a:ext cx="2375274" cy="1521397"/>
            <a:chOff x="209131" y="1954593"/>
            <a:chExt cx="4633154" cy="1801886"/>
          </a:xfrm>
        </p:grpSpPr>
        <p:sp>
          <p:nvSpPr>
            <p:cNvPr id="19" name="Rectángulo 132">
              <a:extLst>
                <a:ext uri="{FF2B5EF4-FFF2-40B4-BE49-F238E27FC236}">
                  <a16:creationId xmlns:a16="http://schemas.microsoft.com/office/drawing/2014/main" id="{511A37A4-BF4F-80D1-F6ED-68BD869F1634}"/>
                </a:ext>
              </a:extLst>
            </p:cNvPr>
            <p:cNvSpPr/>
            <p:nvPr/>
          </p:nvSpPr>
          <p:spPr>
            <a:xfrm>
              <a:off x="216070" y="1954593"/>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Account Balance, Payments and Taxex</a:t>
              </a:r>
            </a:p>
          </p:txBody>
        </p:sp>
        <p:sp>
          <p:nvSpPr>
            <p:cNvPr id="20" name="Rectángulo 133">
              <a:extLst>
                <a:ext uri="{FF2B5EF4-FFF2-40B4-BE49-F238E27FC236}">
                  <a16:creationId xmlns:a16="http://schemas.microsoft.com/office/drawing/2014/main" id="{7E6D4ECD-6D08-C9B3-1DED-8EBC85597333}"/>
                </a:ext>
              </a:extLst>
            </p:cNvPr>
            <p:cNvSpPr/>
            <p:nvPr/>
          </p:nvSpPr>
          <p:spPr>
            <a:xfrm>
              <a:off x="209131" y="2485655"/>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Billing and Rates</a:t>
              </a:r>
            </a:p>
          </p:txBody>
        </p:sp>
        <p:sp>
          <p:nvSpPr>
            <p:cNvPr id="21" name="Rectángulo 134">
              <a:extLst>
                <a:ext uri="{FF2B5EF4-FFF2-40B4-BE49-F238E27FC236}">
                  <a16:creationId xmlns:a16="http://schemas.microsoft.com/office/drawing/2014/main" id="{9FC4442B-E2E8-87CA-41DB-B63540302184}"/>
                </a:ext>
              </a:extLst>
            </p:cNvPr>
            <p:cNvSpPr/>
            <p:nvPr/>
          </p:nvSpPr>
          <p:spPr>
            <a:xfrm>
              <a:off x="209131" y="3282248"/>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Credit and Collections</a:t>
              </a:r>
            </a:p>
          </p:txBody>
        </p:sp>
        <p:sp>
          <p:nvSpPr>
            <p:cNvPr id="22" name="Rectángulo 135">
              <a:extLst>
                <a:ext uri="{FF2B5EF4-FFF2-40B4-BE49-F238E27FC236}">
                  <a16:creationId xmlns:a16="http://schemas.microsoft.com/office/drawing/2014/main" id="{EE976DA8-2BAE-60C2-A614-A6A9AE111C28}"/>
                </a:ext>
              </a:extLst>
            </p:cNvPr>
            <p:cNvSpPr/>
            <p:nvPr/>
          </p:nvSpPr>
          <p:spPr>
            <a:xfrm>
              <a:off x="2543769" y="1954593"/>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Emma, outsorts and implausibles</a:t>
              </a:r>
            </a:p>
          </p:txBody>
        </p:sp>
        <p:sp>
          <p:nvSpPr>
            <p:cNvPr id="23" name="Rectángulo 136">
              <a:extLst>
                <a:ext uri="{FF2B5EF4-FFF2-40B4-BE49-F238E27FC236}">
                  <a16:creationId xmlns:a16="http://schemas.microsoft.com/office/drawing/2014/main" id="{BB145FAC-D3BD-C8CC-975C-525ECF1DF64A}"/>
                </a:ext>
              </a:extLst>
            </p:cNvPr>
            <p:cNvSpPr/>
            <p:nvPr/>
          </p:nvSpPr>
          <p:spPr>
            <a:xfrm>
              <a:off x="2543769" y="2485655"/>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METERS AND Master data</a:t>
              </a:r>
            </a:p>
          </p:txBody>
        </p:sp>
        <p:sp>
          <p:nvSpPr>
            <p:cNvPr id="24" name="Rectángulo 137">
              <a:extLst>
                <a:ext uri="{FF2B5EF4-FFF2-40B4-BE49-F238E27FC236}">
                  <a16:creationId xmlns:a16="http://schemas.microsoft.com/office/drawing/2014/main" id="{D50A870C-1E58-70A6-55E1-56B6210640C5}"/>
                </a:ext>
              </a:extLst>
            </p:cNvPr>
            <p:cNvSpPr/>
            <p:nvPr/>
          </p:nvSpPr>
          <p:spPr>
            <a:xfrm>
              <a:off x="2543769" y="3016717"/>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Outbound Recorded Calls</a:t>
              </a:r>
            </a:p>
          </p:txBody>
        </p:sp>
        <p:sp>
          <p:nvSpPr>
            <p:cNvPr id="25" name="Rectángulo 138">
              <a:extLst>
                <a:ext uri="{FF2B5EF4-FFF2-40B4-BE49-F238E27FC236}">
                  <a16:creationId xmlns:a16="http://schemas.microsoft.com/office/drawing/2014/main" id="{5AAD805C-409A-C5EC-DBE3-D16CF1A9ECD5}"/>
                </a:ext>
              </a:extLst>
            </p:cNvPr>
            <p:cNvSpPr/>
            <p:nvPr/>
          </p:nvSpPr>
          <p:spPr>
            <a:xfrm>
              <a:off x="2543769" y="3282248"/>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Reports, Data Extracts and Analytics</a:t>
              </a:r>
            </a:p>
          </p:txBody>
        </p:sp>
        <p:sp>
          <p:nvSpPr>
            <p:cNvPr id="26" name="Rectángulo 139">
              <a:extLst>
                <a:ext uri="{FF2B5EF4-FFF2-40B4-BE49-F238E27FC236}">
                  <a16:creationId xmlns:a16="http://schemas.microsoft.com/office/drawing/2014/main" id="{A988521B-396F-89BF-AE63-E3864B82A554}"/>
                </a:ext>
              </a:extLst>
            </p:cNvPr>
            <p:cNvSpPr/>
            <p:nvPr/>
          </p:nvSpPr>
          <p:spPr>
            <a:xfrm>
              <a:off x="2563224" y="3547779"/>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Retail Access</a:t>
              </a:r>
            </a:p>
          </p:txBody>
        </p:sp>
        <p:sp>
          <p:nvSpPr>
            <p:cNvPr id="27" name="Rectángulo 140">
              <a:extLst>
                <a:ext uri="{FF2B5EF4-FFF2-40B4-BE49-F238E27FC236}">
                  <a16:creationId xmlns:a16="http://schemas.microsoft.com/office/drawing/2014/main" id="{877428CE-B70A-05FE-288D-9D4D1A4DF9C4}"/>
                </a:ext>
              </a:extLst>
            </p:cNvPr>
            <p:cNvSpPr/>
            <p:nvPr/>
          </p:nvSpPr>
          <p:spPr>
            <a:xfrm>
              <a:off x="209131" y="2220124"/>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WEB IVR and Digital Platforms</a:t>
              </a:r>
            </a:p>
          </p:txBody>
        </p:sp>
        <p:sp>
          <p:nvSpPr>
            <p:cNvPr id="28" name="Rectángulo 141">
              <a:extLst>
                <a:ext uri="{FF2B5EF4-FFF2-40B4-BE49-F238E27FC236}">
                  <a16:creationId xmlns:a16="http://schemas.microsoft.com/office/drawing/2014/main" id="{2149E5D7-56B9-E3B1-27E7-E845AEB291A4}"/>
                </a:ext>
              </a:extLst>
            </p:cNvPr>
            <p:cNvSpPr/>
            <p:nvPr/>
          </p:nvSpPr>
          <p:spPr>
            <a:xfrm>
              <a:off x="209131" y="2751186"/>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Outage Management System</a:t>
              </a:r>
            </a:p>
          </p:txBody>
        </p:sp>
        <p:sp>
          <p:nvSpPr>
            <p:cNvPr id="29" name="Rectángulo 142">
              <a:extLst>
                <a:ext uri="{FF2B5EF4-FFF2-40B4-BE49-F238E27FC236}">
                  <a16:creationId xmlns:a16="http://schemas.microsoft.com/office/drawing/2014/main" id="{ABEEC1F2-C4DE-59D3-41E6-99CB830186A3}"/>
                </a:ext>
              </a:extLst>
            </p:cNvPr>
            <p:cNvSpPr/>
            <p:nvPr/>
          </p:nvSpPr>
          <p:spPr>
            <a:xfrm>
              <a:off x="209131" y="3016717"/>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CRM</a:t>
              </a:r>
            </a:p>
          </p:txBody>
        </p:sp>
        <p:sp>
          <p:nvSpPr>
            <p:cNvPr id="30" name="Rectángulo 143">
              <a:extLst>
                <a:ext uri="{FF2B5EF4-FFF2-40B4-BE49-F238E27FC236}">
                  <a16:creationId xmlns:a16="http://schemas.microsoft.com/office/drawing/2014/main" id="{B3016C60-36E4-F46A-E3EA-C5086FD9392F}"/>
                </a:ext>
              </a:extLst>
            </p:cNvPr>
            <p:cNvSpPr/>
            <p:nvPr/>
          </p:nvSpPr>
          <p:spPr>
            <a:xfrm>
              <a:off x="209131" y="3547779"/>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CCS Front Office</a:t>
              </a:r>
            </a:p>
          </p:txBody>
        </p:sp>
        <p:sp>
          <p:nvSpPr>
            <p:cNvPr id="31" name="Rectángulo 144">
              <a:extLst>
                <a:ext uri="{FF2B5EF4-FFF2-40B4-BE49-F238E27FC236}">
                  <a16:creationId xmlns:a16="http://schemas.microsoft.com/office/drawing/2014/main" id="{C7DF4C30-A3B6-7AB1-5DDA-3C484DC2ADA2}"/>
                </a:ext>
              </a:extLst>
            </p:cNvPr>
            <p:cNvSpPr/>
            <p:nvPr/>
          </p:nvSpPr>
          <p:spPr>
            <a:xfrm>
              <a:off x="2543769" y="2220124"/>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ECC</a:t>
              </a:r>
            </a:p>
          </p:txBody>
        </p:sp>
        <p:sp>
          <p:nvSpPr>
            <p:cNvPr id="32" name="Rectángulo 145">
              <a:extLst>
                <a:ext uri="{FF2B5EF4-FFF2-40B4-BE49-F238E27FC236}">
                  <a16:creationId xmlns:a16="http://schemas.microsoft.com/office/drawing/2014/main" id="{475CF9B1-E3AE-B362-D910-9DD9222255D6}"/>
                </a:ext>
              </a:extLst>
            </p:cNvPr>
            <p:cNvSpPr/>
            <p:nvPr/>
          </p:nvSpPr>
          <p:spPr>
            <a:xfrm>
              <a:off x="2543769" y="2751186"/>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GL Transfer Error</a:t>
              </a:r>
            </a:p>
          </p:txBody>
        </p:sp>
      </p:grpSp>
      <p:sp>
        <p:nvSpPr>
          <p:cNvPr id="41" name="Rounded Rectangle 7">
            <a:extLst>
              <a:ext uri="{FF2B5EF4-FFF2-40B4-BE49-F238E27FC236}">
                <a16:creationId xmlns:a16="http://schemas.microsoft.com/office/drawing/2014/main" id="{1FC95BF8-E044-CF06-3289-93C66CE92CF8}"/>
              </a:ext>
            </a:extLst>
          </p:cNvPr>
          <p:cNvSpPr/>
          <p:nvPr/>
        </p:nvSpPr>
        <p:spPr>
          <a:xfrm rot="16200000">
            <a:off x="-1075636" y="5079529"/>
            <a:ext cx="2468395" cy="137401"/>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42" name="Rounded Rectangle 9">
            <a:extLst>
              <a:ext uri="{FF2B5EF4-FFF2-40B4-BE49-F238E27FC236}">
                <a16:creationId xmlns:a16="http://schemas.microsoft.com/office/drawing/2014/main" id="{CA806302-87BF-A732-326C-0BAE92661709}"/>
              </a:ext>
            </a:extLst>
          </p:cNvPr>
          <p:cNvSpPr/>
          <p:nvPr/>
        </p:nvSpPr>
        <p:spPr>
          <a:xfrm rot="16200000">
            <a:off x="-176289" y="3434741"/>
            <a:ext cx="669702" cy="137401"/>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43" name="Rounded Rectangle 11">
            <a:extLst>
              <a:ext uri="{FF2B5EF4-FFF2-40B4-BE49-F238E27FC236}">
                <a16:creationId xmlns:a16="http://schemas.microsoft.com/office/drawing/2014/main" id="{BEF2E8B4-286E-1D84-2C3E-22F7CCDC5047}"/>
              </a:ext>
            </a:extLst>
          </p:cNvPr>
          <p:cNvSpPr/>
          <p:nvPr/>
        </p:nvSpPr>
        <p:spPr>
          <a:xfrm rot="16200000">
            <a:off x="-709955" y="2214385"/>
            <a:ext cx="1737033" cy="137401"/>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nvGrpSpPr>
          <p:cNvPr id="90" name="Grupo 89">
            <a:extLst>
              <a:ext uri="{FF2B5EF4-FFF2-40B4-BE49-F238E27FC236}">
                <a16:creationId xmlns:a16="http://schemas.microsoft.com/office/drawing/2014/main" id="{7F5D62CA-EE52-9C6A-575E-BDEA086E7089}"/>
              </a:ext>
            </a:extLst>
          </p:cNvPr>
          <p:cNvGrpSpPr/>
          <p:nvPr/>
        </p:nvGrpSpPr>
        <p:grpSpPr>
          <a:xfrm>
            <a:off x="2976106" y="4054241"/>
            <a:ext cx="2550383" cy="2207370"/>
            <a:chOff x="3684903" y="1716975"/>
            <a:chExt cx="2861811" cy="2100236"/>
          </a:xfrm>
        </p:grpSpPr>
        <p:sp>
          <p:nvSpPr>
            <p:cNvPr id="45" name="TextBox 15">
              <a:extLst>
                <a:ext uri="{FF2B5EF4-FFF2-40B4-BE49-F238E27FC236}">
                  <a16:creationId xmlns:a16="http://schemas.microsoft.com/office/drawing/2014/main" id="{9CD5DC25-5A03-2858-BC26-8EDA22243D05}"/>
                </a:ext>
              </a:extLst>
            </p:cNvPr>
            <p:cNvSpPr txBox="1"/>
            <p:nvPr/>
          </p:nvSpPr>
          <p:spPr>
            <a:xfrm>
              <a:off x="3684903" y="3058520"/>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EV Phase In Rate-NY</a:t>
              </a:r>
            </a:p>
          </p:txBody>
        </p:sp>
        <p:sp>
          <p:nvSpPr>
            <p:cNvPr id="46" name="TextBox 16">
              <a:extLst>
                <a:ext uri="{FF2B5EF4-FFF2-40B4-BE49-F238E27FC236}">
                  <a16:creationId xmlns:a16="http://schemas.microsoft.com/office/drawing/2014/main" id="{B4691FA9-2DAF-F553-8EED-5E989B1E638F}"/>
                </a:ext>
              </a:extLst>
            </p:cNvPr>
            <p:cNvSpPr txBox="1"/>
            <p:nvPr/>
          </p:nvSpPr>
          <p:spPr>
            <a:xfrm>
              <a:off x="3684903" y="3595139"/>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Elderly Blind Disabled (EBD) Certification Automation-NY</a:t>
              </a:r>
            </a:p>
          </p:txBody>
        </p:sp>
        <p:sp>
          <p:nvSpPr>
            <p:cNvPr id="47" name="TextBox 18">
              <a:extLst>
                <a:ext uri="{FF2B5EF4-FFF2-40B4-BE49-F238E27FC236}">
                  <a16:creationId xmlns:a16="http://schemas.microsoft.com/office/drawing/2014/main" id="{D6A436C9-FC6B-1A2A-D85D-F40200E81E8B}"/>
                </a:ext>
              </a:extLst>
            </p:cNvPr>
            <p:cNvSpPr txBox="1"/>
            <p:nvPr/>
          </p:nvSpPr>
          <p:spPr>
            <a:xfrm>
              <a:off x="3684903" y="2790211"/>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UIL Low Income Discount Rate (LIDR)-UIL</a:t>
              </a:r>
            </a:p>
          </p:txBody>
        </p:sp>
        <p:sp>
          <p:nvSpPr>
            <p:cNvPr id="48" name="TextBox 21">
              <a:extLst>
                <a:ext uri="{FF2B5EF4-FFF2-40B4-BE49-F238E27FC236}">
                  <a16:creationId xmlns:a16="http://schemas.microsoft.com/office/drawing/2014/main" id="{35B8C455-14FD-50A5-27D7-7091BDBA63D2}"/>
                </a:ext>
              </a:extLst>
            </p:cNvPr>
            <p:cNvSpPr txBox="1"/>
            <p:nvPr/>
          </p:nvSpPr>
          <p:spPr>
            <a:xfrm>
              <a:off x="3684903" y="2253593"/>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Enhanced Energy Affordability Program (EEAP)-NY</a:t>
              </a:r>
            </a:p>
          </p:txBody>
        </p:sp>
        <p:sp>
          <p:nvSpPr>
            <p:cNvPr id="49" name="TextBox 24">
              <a:extLst>
                <a:ext uri="{FF2B5EF4-FFF2-40B4-BE49-F238E27FC236}">
                  <a16:creationId xmlns:a16="http://schemas.microsoft.com/office/drawing/2014/main" id="{1BFDD3EF-9FD5-2126-02B4-973FD0CCE058}"/>
                </a:ext>
              </a:extLst>
            </p:cNvPr>
            <p:cNvSpPr txBox="1"/>
            <p:nvPr/>
          </p:nvSpPr>
          <p:spPr>
            <a:xfrm>
              <a:off x="3684903" y="1716975"/>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NY Proposed Legislation A.3875-S.3876-NY</a:t>
              </a:r>
            </a:p>
          </p:txBody>
        </p:sp>
        <p:sp>
          <p:nvSpPr>
            <p:cNvPr id="65" name="TextBox 26">
              <a:extLst>
                <a:ext uri="{FF2B5EF4-FFF2-40B4-BE49-F238E27FC236}">
                  <a16:creationId xmlns:a16="http://schemas.microsoft.com/office/drawing/2014/main" id="{BCCF6990-A16E-0ABC-1D03-5D5D62225965}"/>
                </a:ext>
              </a:extLst>
            </p:cNvPr>
            <p:cNvSpPr txBox="1"/>
            <p:nvPr/>
          </p:nvSpPr>
          <p:spPr>
            <a:xfrm>
              <a:off x="3684903" y="1985284"/>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Regulatory Driven Efforts-CMP</a:t>
              </a:r>
            </a:p>
          </p:txBody>
        </p:sp>
        <p:sp>
          <p:nvSpPr>
            <p:cNvPr id="83" name="TextBox 27">
              <a:extLst>
                <a:ext uri="{FF2B5EF4-FFF2-40B4-BE49-F238E27FC236}">
                  <a16:creationId xmlns:a16="http://schemas.microsoft.com/office/drawing/2014/main" id="{5A2FB825-9A03-9F15-9A42-8DEE949BC311}"/>
                </a:ext>
              </a:extLst>
            </p:cNvPr>
            <p:cNvSpPr txBox="1"/>
            <p:nvPr/>
          </p:nvSpPr>
          <p:spPr>
            <a:xfrm>
              <a:off x="3684903" y="3326829"/>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Regulatory Driven Efforts-NY</a:t>
              </a:r>
            </a:p>
          </p:txBody>
        </p:sp>
        <p:sp>
          <p:nvSpPr>
            <p:cNvPr id="84" name="TextBox 28">
              <a:extLst>
                <a:ext uri="{FF2B5EF4-FFF2-40B4-BE49-F238E27FC236}">
                  <a16:creationId xmlns:a16="http://schemas.microsoft.com/office/drawing/2014/main" id="{2A252494-CFA1-7EA6-42CA-9ACAE0865DA9}"/>
                </a:ext>
              </a:extLst>
            </p:cNvPr>
            <p:cNvSpPr txBox="1"/>
            <p:nvPr/>
          </p:nvSpPr>
          <p:spPr>
            <a:xfrm>
              <a:off x="3684903" y="2521902"/>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CT Advanced Termination Notice PA 23-199</a:t>
              </a:r>
            </a:p>
          </p:txBody>
        </p:sp>
      </p:grpSp>
      <p:cxnSp>
        <p:nvCxnSpPr>
          <p:cNvPr id="87" name="Conector recto 86">
            <a:extLst>
              <a:ext uri="{FF2B5EF4-FFF2-40B4-BE49-F238E27FC236}">
                <a16:creationId xmlns:a16="http://schemas.microsoft.com/office/drawing/2014/main" id="{798AAD4A-4522-E7DB-F4FE-4E5069418898}"/>
              </a:ext>
            </a:extLst>
          </p:cNvPr>
          <p:cNvCxnSpPr>
            <a:cxnSpLocks/>
          </p:cNvCxnSpPr>
          <p:nvPr/>
        </p:nvCxnSpPr>
        <p:spPr>
          <a:xfrm flipV="1">
            <a:off x="323821" y="3151601"/>
            <a:ext cx="11604076" cy="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88" name="Conector recto 87">
            <a:extLst>
              <a:ext uri="{FF2B5EF4-FFF2-40B4-BE49-F238E27FC236}">
                <a16:creationId xmlns:a16="http://schemas.microsoft.com/office/drawing/2014/main" id="{B8AA8886-7DFA-7125-3706-216D09AC847E}"/>
              </a:ext>
            </a:extLst>
          </p:cNvPr>
          <p:cNvCxnSpPr>
            <a:cxnSpLocks/>
          </p:cNvCxnSpPr>
          <p:nvPr/>
        </p:nvCxnSpPr>
        <p:spPr>
          <a:xfrm>
            <a:off x="315769" y="3827488"/>
            <a:ext cx="1166065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91" name="Conector recto 90">
            <a:extLst>
              <a:ext uri="{FF2B5EF4-FFF2-40B4-BE49-F238E27FC236}">
                <a16:creationId xmlns:a16="http://schemas.microsoft.com/office/drawing/2014/main" id="{EF7DE657-AA8A-6A7F-60B8-D097EBFD1B3D}"/>
              </a:ext>
            </a:extLst>
          </p:cNvPr>
          <p:cNvCxnSpPr/>
          <p:nvPr/>
        </p:nvCxnSpPr>
        <p:spPr>
          <a:xfrm>
            <a:off x="2762328" y="1359530"/>
            <a:ext cx="0" cy="495976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92" name="Conector recto 91">
            <a:extLst>
              <a:ext uri="{FF2B5EF4-FFF2-40B4-BE49-F238E27FC236}">
                <a16:creationId xmlns:a16="http://schemas.microsoft.com/office/drawing/2014/main" id="{8E0231D3-6D64-CE22-2FB9-E715C194D4AF}"/>
              </a:ext>
            </a:extLst>
          </p:cNvPr>
          <p:cNvCxnSpPr/>
          <p:nvPr/>
        </p:nvCxnSpPr>
        <p:spPr>
          <a:xfrm>
            <a:off x="5709809" y="1359530"/>
            <a:ext cx="0" cy="4959760"/>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nvGrpSpPr>
          <p:cNvPr id="128" name="Grupo 127">
            <a:extLst>
              <a:ext uri="{FF2B5EF4-FFF2-40B4-BE49-F238E27FC236}">
                <a16:creationId xmlns:a16="http://schemas.microsoft.com/office/drawing/2014/main" id="{41850435-B04E-F85B-0275-69AF410F9C6A}"/>
              </a:ext>
            </a:extLst>
          </p:cNvPr>
          <p:cNvGrpSpPr/>
          <p:nvPr/>
        </p:nvGrpSpPr>
        <p:grpSpPr>
          <a:xfrm>
            <a:off x="5790313" y="3953335"/>
            <a:ext cx="6087523" cy="2496914"/>
            <a:chOff x="7396273" y="1669623"/>
            <a:chExt cx="4646053" cy="4873417"/>
          </a:xfrm>
        </p:grpSpPr>
        <p:sp>
          <p:nvSpPr>
            <p:cNvPr id="93" name="TextBox 1">
              <a:extLst>
                <a:ext uri="{FF2B5EF4-FFF2-40B4-BE49-F238E27FC236}">
                  <a16:creationId xmlns:a16="http://schemas.microsoft.com/office/drawing/2014/main" id="{B431E04E-B235-B1E2-9335-93E493C8044A}"/>
                </a:ext>
              </a:extLst>
            </p:cNvPr>
            <p:cNvSpPr txBox="1"/>
            <p:nvPr/>
          </p:nvSpPr>
          <p:spPr>
            <a:xfrm>
              <a:off x="7396273" y="252612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DPA (Minimum Payment Agreement Plan)-NY</a:t>
              </a:r>
            </a:p>
          </p:txBody>
        </p:sp>
        <p:sp>
          <p:nvSpPr>
            <p:cNvPr id="94" name="TextBox 2">
              <a:extLst>
                <a:ext uri="{FF2B5EF4-FFF2-40B4-BE49-F238E27FC236}">
                  <a16:creationId xmlns:a16="http://schemas.microsoft.com/office/drawing/2014/main" id="{87CD2EAC-6220-E876-C46A-177320769F77}"/>
                </a:ext>
              </a:extLst>
            </p:cNvPr>
            <p:cNvSpPr txBox="1"/>
            <p:nvPr/>
          </p:nvSpPr>
          <p:spPr>
            <a:xfrm>
              <a:off x="7396273" y="5158794"/>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Testing Center of Excellence (TCOE) SAP Testing Automation-AGR</a:t>
              </a:r>
            </a:p>
          </p:txBody>
        </p:sp>
        <p:sp>
          <p:nvSpPr>
            <p:cNvPr id="95" name="TextBox 3">
              <a:extLst>
                <a:ext uri="{FF2B5EF4-FFF2-40B4-BE49-F238E27FC236}">
                  <a16:creationId xmlns:a16="http://schemas.microsoft.com/office/drawing/2014/main" id="{3A3A96F1-5D5D-7501-40C0-802C5A591361}"/>
                </a:ext>
              </a:extLst>
            </p:cNvPr>
            <p:cNvSpPr txBox="1"/>
            <p:nvPr/>
          </p:nvSpPr>
          <p:spPr>
            <a:xfrm>
              <a:off x="7396273" y="5739882"/>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Distributed Generation SAP Billing Automations Program-NY</a:t>
              </a:r>
            </a:p>
          </p:txBody>
        </p:sp>
        <p:sp>
          <p:nvSpPr>
            <p:cNvPr id="96" name="TextBox 4">
              <a:extLst>
                <a:ext uri="{FF2B5EF4-FFF2-40B4-BE49-F238E27FC236}">
                  <a16:creationId xmlns:a16="http://schemas.microsoft.com/office/drawing/2014/main" id="{3F9981B1-3516-9CD5-F1E0-A207722633D8}"/>
                </a:ext>
              </a:extLst>
            </p:cNvPr>
            <p:cNvSpPr txBox="1"/>
            <p:nvPr/>
          </p:nvSpPr>
          <p:spPr>
            <a:xfrm>
              <a:off x="7396273" y="3107217"/>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Statewide Solar For All-NY</a:t>
              </a:r>
            </a:p>
          </p:txBody>
        </p:sp>
        <p:sp>
          <p:nvSpPr>
            <p:cNvPr id="97" name="TextBox 5">
              <a:extLst>
                <a:ext uri="{FF2B5EF4-FFF2-40B4-BE49-F238E27FC236}">
                  <a16:creationId xmlns:a16="http://schemas.microsoft.com/office/drawing/2014/main" id="{15521EE6-A553-24D9-073F-CA104A495C82}"/>
                </a:ext>
              </a:extLst>
            </p:cNvPr>
            <p:cNvSpPr txBox="1"/>
            <p:nvPr/>
          </p:nvSpPr>
          <p:spPr>
            <a:xfrm>
              <a:off x="9774420" y="5999886"/>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New IVR and Voice Solution-AGR</a:t>
              </a:r>
            </a:p>
          </p:txBody>
        </p:sp>
        <p:sp>
          <p:nvSpPr>
            <p:cNvPr id="98" name="TextBox 6">
              <a:extLst>
                <a:ext uri="{FF2B5EF4-FFF2-40B4-BE49-F238E27FC236}">
                  <a16:creationId xmlns:a16="http://schemas.microsoft.com/office/drawing/2014/main" id="{BE6DC038-72E0-6B62-F627-5AA163FAD084}"/>
                </a:ext>
              </a:extLst>
            </p:cNvPr>
            <p:cNvSpPr txBox="1"/>
            <p:nvPr/>
          </p:nvSpPr>
          <p:spPr>
            <a:xfrm>
              <a:off x="7396273" y="397884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High Bill High Usage Redesign-AGR</a:t>
              </a:r>
            </a:p>
          </p:txBody>
        </p:sp>
        <p:sp>
          <p:nvSpPr>
            <p:cNvPr id="99" name="TextBox 7">
              <a:extLst>
                <a:ext uri="{FF2B5EF4-FFF2-40B4-BE49-F238E27FC236}">
                  <a16:creationId xmlns:a16="http://schemas.microsoft.com/office/drawing/2014/main" id="{828A36C2-7167-9BD8-2665-27EC807550E5}"/>
                </a:ext>
              </a:extLst>
            </p:cNvPr>
            <p:cNvSpPr txBox="1"/>
            <p:nvPr/>
          </p:nvSpPr>
          <p:spPr>
            <a:xfrm>
              <a:off x="7396273" y="2816673"/>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Tech Stack Lifecycle Upgrades-AGR</a:t>
              </a:r>
            </a:p>
          </p:txBody>
        </p:sp>
        <p:sp>
          <p:nvSpPr>
            <p:cNvPr id="100" name="TextBox 8">
              <a:extLst>
                <a:ext uri="{FF2B5EF4-FFF2-40B4-BE49-F238E27FC236}">
                  <a16:creationId xmlns:a16="http://schemas.microsoft.com/office/drawing/2014/main" id="{B340F747-BF4B-005E-2F50-D645A16A2BAE}"/>
                </a:ext>
              </a:extLst>
            </p:cNvPr>
            <p:cNvSpPr txBox="1"/>
            <p:nvPr/>
          </p:nvSpPr>
          <p:spPr>
            <a:xfrm>
              <a:off x="7396273" y="4269393"/>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Energy Manager Enhancements-AGR</a:t>
              </a:r>
            </a:p>
          </p:txBody>
        </p:sp>
        <p:sp>
          <p:nvSpPr>
            <p:cNvPr id="101" name="TextBox 9">
              <a:extLst>
                <a:ext uri="{FF2B5EF4-FFF2-40B4-BE49-F238E27FC236}">
                  <a16:creationId xmlns:a16="http://schemas.microsoft.com/office/drawing/2014/main" id="{93DF2165-6A7C-3165-BC34-17C01407D710}"/>
                </a:ext>
              </a:extLst>
            </p:cNvPr>
            <p:cNvSpPr txBox="1"/>
            <p:nvPr/>
          </p:nvSpPr>
          <p:spPr>
            <a:xfrm>
              <a:off x="7396273" y="4868250"/>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Customer Service Generative AI-AGR</a:t>
              </a:r>
            </a:p>
          </p:txBody>
        </p:sp>
        <p:sp>
          <p:nvSpPr>
            <p:cNvPr id="102" name="TextBox 10">
              <a:extLst>
                <a:ext uri="{FF2B5EF4-FFF2-40B4-BE49-F238E27FC236}">
                  <a16:creationId xmlns:a16="http://schemas.microsoft.com/office/drawing/2014/main" id="{44EB0EBD-029A-1D1C-1193-1F8B241A72B8}"/>
                </a:ext>
              </a:extLst>
            </p:cNvPr>
            <p:cNvSpPr txBox="1"/>
            <p:nvPr/>
          </p:nvSpPr>
          <p:spPr>
            <a:xfrm>
              <a:off x="9774420" y="5709342"/>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CS Improvements-NY</a:t>
              </a:r>
            </a:p>
          </p:txBody>
        </p:sp>
        <p:sp>
          <p:nvSpPr>
            <p:cNvPr id="103" name="TextBox 11">
              <a:extLst>
                <a:ext uri="{FF2B5EF4-FFF2-40B4-BE49-F238E27FC236}">
                  <a16:creationId xmlns:a16="http://schemas.microsoft.com/office/drawing/2014/main" id="{B3BAA83F-F920-8A6F-5C7A-AD63F057641D}"/>
                </a:ext>
              </a:extLst>
            </p:cNvPr>
            <p:cNvSpPr txBox="1"/>
            <p:nvPr/>
          </p:nvSpPr>
          <p:spPr>
            <a:xfrm>
              <a:off x="7396273" y="6030426"/>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RPA IPA Customer Service-AGR</a:t>
              </a:r>
            </a:p>
          </p:txBody>
        </p:sp>
        <p:sp>
          <p:nvSpPr>
            <p:cNvPr id="104" name="TextBox 12">
              <a:extLst>
                <a:ext uri="{FF2B5EF4-FFF2-40B4-BE49-F238E27FC236}">
                  <a16:creationId xmlns:a16="http://schemas.microsoft.com/office/drawing/2014/main" id="{3457D9B2-4C09-6549-1DD0-1D9A539B3B90}"/>
                </a:ext>
              </a:extLst>
            </p:cNvPr>
            <p:cNvSpPr txBox="1"/>
            <p:nvPr/>
          </p:nvSpPr>
          <p:spPr>
            <a:xfrm>
              <a:off x="9774420" y="4837710"/>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Mobile Redesign-AGR</a:t>
              </a:r>
            </a:p>
          </p:txBody>
        </p:sp>
        <p:sp>
          <p:nvSpPr>
            <p:cNvPr id="105" name="TextBox 13">
              <a:extLst>
                <a:ext uri="{FF2B5EF4-FFF2-40B4-BE49-F238E27FC236}">
                  <a16:creationId xmlns:a16="http://schemas.microsoft.com/office/drawing/2014/main" id="{81652C81-CE1A-B27B-737E-4982ABBD636E}"/>
                </a:ext>
              </a:extLst>
            </p:cNvPr>
            <p:cNvSpPr txBox="1"/>
            <p:nvPr/>
          </p:nvSpPr>
          <p:spPr>
            <a:xfrm>
              <a:off x="9774420" y="629042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Hardship Communications Track-UIL</a:t>
              </a:r>
            </a:p>
          </p:txBody>
        </p:sp>
        <p:sp>
          <p:nvSpPr>
            <p:cNvPr id="106" name="TextBox 14">
              <a:extLst>
                <a:ext uri="{FF2B5EF4-FFF2-40B4-BE49-F238E27FC236}">
                  <a16:creationId xmlns:a16="http://schemas.microsoft.com/office/drawing/2014/main" id="{A765C8FC-619B-4622-CF1E-B53961B92EB1}"/>
                </a:ext>
              </a:extLst>
            </p:cNvPr>
            <p:cNvSpPr txBox="1"/>
            <p:nvPr/>
          </p:nvSpPr>
          <p:spPr>
            <a:xfrm>
              <a:off x="7396273" y="1960167"/>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S4 HANA Implementation-AGR</a:t>
              </a:r>
            </a:p>
          </p:txBody>
        </p:sp>
        <p:sp>
          <p:nvSpPr>
            <p:cNvPr id="107" name="TextBox 17">
              <a:extLst>
                <a:ext uri="{FF2B5EF4-FFF2-40B4-BE49-F238E27FC236}">
                  <a16:creationId xmlns:a16="http://schemas.microsoft.com/office/drawing/2014/main" id="{81171E55-3BE5-D21F-505C-E80059335222}"/>
                </a:ext>
              </a:extLst>
            </p:cNvPr>
            <p:cNvSpPr txBox="1"/>
            <p:nvPr/>
          </p:nvSpPr>
          <p:spPr>
            <a:xfrm>
              <a:off x="7396273" y="3397761"/>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Quality Management System-AGR</a:t>
              </a:r>
            </a:p>
          </p:txBody>
        </p:sp>
        <p:sp>
          <p:nvSpPr>
            <p:cNvPr id="108" name="TextBox 19">
              <a:extLst>
                <a:ext uri="{FF2B5EF4-FFF2-40B4-BE49-F238E27FC236}">
                  <a16:creationId xmlns:a16="http://schemas.microsoft.com/office/drawing/2014/main" id="{B21D3D2E-7618-2807-986C-8F7E0593DFBB}"/>
                </a:ext>
              </a:extLst>
            </p:cNvPr>
            <p:cNvSpPr txBox="1"/>
            <p:nvPr/>
          </p:nvSpPr>
          <p:spPr>
            <a:xfrm>
              <a:off x="7396273" y="3688305"/>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MV90-NY</a:t>
              </a:r>
            </a:p>
          </p:txBody>
        </p:sp>
        <p:sp>
          <p:nvSpPr>
            <p:cNvPr id="109" name="TextBox 20">
              <a:extLst>
                <a:ext uri="{FF2B5EF4-FFF2-40B4-BE49-F238E27FC236}">
                  <a16:creationId xmlns:a16="http://schemas.microsoft.com/office/drawing/2014/main" id="{2A5C158E-895D-BE33-1B9B-63B99B163397}"/>
                </a:ext>
              </a:extLst>
            </p:cNvPr>
            <p:cNvSpPr txBox="1"/>
            <p:nvPr/>
          </p:nvSpPr>
          <p:spPr>
            <a:xfrm>
              <a:off x="7396273" y="544933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AI, Intelligent Automation and Analytics for Contact Centers and Billing Exceptions</a:t>
              </a:r>
            </a:p>
          </p:txBody>
        </p:sp>
        <p:sp>
          <p:nvSpPr>
            <p:cNvPr id="110" name="TextBox 22">
              <a:extLst>
                <a:ext uri="{FF2B5EF4-FFF2-40B4-BE49-F238E27FC236}">
                  <a16:creationId xmlns:a16="http://schemas.microsoft.com/office/drawing/2014/main" id="{58C1AC0E-7F42-C61A-07BE-F737F07150FC}"/>
                </a:ext>
              </a:extLst>
            </p:cNvPr>
            <p:cNvSpPr txBox="1"/>
            <p:nvPr/>
          </p:nvSpPr>
          <p:spPr>
            <a:xfrm>
              <a:off x="9774420" y="541879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Customer Journey Enhancements Wave 3-AGR</a:t>
              </a:r>
            </a:p>
          </p:txBody>
        </p:sp>
        <p:sp>
          <p:nvSpPr>
            <p:cNvPr id="111" name="TextBox 23">
              <a:extLst>
                <a:ext uri="{FF2B5EF4-FFF2-40B4-BE49-F238E27FC236}">
                  <a16:creationId xmlns:a16="http://schemas.microsoft.com/office/drawing/2014/main" id="{61F94380-831B-97D4-2359-0D1ABCF87008}"/>
                </a:ext>
              </a:extLst>
            </p:cNvPr>
            <p:cNvSpPr txBox="1"/>
            <p:nvPr/>
          </p:nvSpPr>
          <p:spPr>
            <a:xfrm>
              <a:off x="9774420" y="5128254"/>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Communications-AGR</a:t>
              </a:r>
            </a:p>
          </p:txBody>
        </p:sp>
        <p:sp>
          <p:nvSpPr>
            <p:cNvPr id="112" name="TextBox 25">
              <a:extLst>
                <a:ext uri="{FF2B5EF4-FFF2-40B4-BE49-F238E27FC236}">
                  <a16:creationId xmlns:a16="http://schemas.microsoft.com/office/drawing/2014/main" id="{5F370FD4-67D0-A0C9-5D30-E5FB41AA51DB}"/>
                </a:ext>
              </a:extLst>
            </p:cNvPr>
            <p:cNvSpPr txBox="1"/>
            <p:nvPr/>
          </p:nvSpPr>
          <p:spPr>
            <a:xfrm>
              <a:off x="7396273" y="632096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Customer 360 Analytics-AGR</a:t>
              </a:r>
            </a:p>
          </p:txBody>
        </p:sp>
        <p:sp>
          <p:nvSpPr>
            <p:cNvPr id="113" name="TextBox 1">
              <a:extLst>
                <a:ext uri="{FF2B5EF4-FFF2-40B4-BE49-F238E27FC236}">
                  <a16:creationId xmlns:a16="http://schemas.microsoft.com/office/drawing/2014/main" id="{5AC35175-3072-55B1-095C-BE7319CD74C0}"/>
                </a:ext>
              </a:extLst>
            </p:cNvPr>
            <p:cNvSpPr txBox="1"/>
            <p:nvPr/>
          </p:nvSpPr>
          <p:spPr>
            <a:xfrm>
              <a:off x="9774420" y="4547166"/>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DIGITAL CUSTOMER</a:t>
              </a:r>
            </a:p>
          </p:txBody>
        </p:sp>
        <p:sp>
          <p:nvSpPr>
            <p:cNvPr id="114" name="TextBox 1">
              <a:extLst>
                <a:ext uri="{FF2B5EF4-FFF2-40B4-BE49-F238E27FC236}">
                  <a16:creationId xmlns:a16="http://schemas.microsoft.com/office/drawing/2014/main" id="{73375B18-0781-945B-9E2B-D80B8D045203}"/>
                </a:ext>
              </a:extLst>
            </p:cNvPr>
            <p:cNvSpPr txBox="1"/>
            <p:nvPr/>
          </p:nvSpPr>
          <p:spPr>
            <a:xfrm>
              <a:off x="7396273" y="4577706"/>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AUTOMATION, ANALYTICS &amp; GEN AI</a:t>
              </a:r>
            </a:p>
          </p:txBody>
        </p:sp>
        <p:sp>
          <p:nvSpPr>
            <p:cNvPr id="115" name="TextBox 1">
              <a:extLst>
                <a:ext uri="{FF2B5EF4-FFF2-40B4-BE49-F238E27FC236}">
                  <a16:creationId xmlns:a16="http://schemas.microsoft.com/office/drawing/2014/main" id="{181B5A15-5938-BD1D-A19C-A8F637950F19}"/>
                </a:ext>
              </a:extLst>
            </p:cNvPr>
            <p:cNvSpPr txBox="1"/>
            <p:nvPr/>
          </p:nvSpPr>
          <p:spPr>
            <a:xfrm>
              <a:off x="7396273" y="1669623"/>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ENABLE THE BUSINESS / OTHERS</a:t>
              </a:r>
            </a:p>
          </p:txBody>
        </p:sp>
        <p:sp>
          <p:nvSpPr>
            <p:cNvPr id="116" name="CuadroTexto 115">
              <a:extLst>
                <a:ext uri="{FF2B5EF4-FFF2-40B4-BE49-F238E27FC236}">
                  <a16:creationId xmlns:a16="http://schemas.microsoft.com/office/drawing/2014/main" id="{DC20A57C-EA32-EB7B-DC52-6D691C8F5F46}"/>
                </a:ext>
              </a:extLst>
            </p:cNvPr>
            <p:cNvSpPr txBox="1"/>
            <p:nvPr/>
          </p:nvSpPr>
          <p:spPr>
            <a:xfrm>
              <a:off x="9772306" y="311266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New Scheduler Project</a:t>
              </a:r>
            </a:p>
          </p:txBody>
        </p:sp>
        <p:sp>
          <p:nvSpPr>
            <p:cNvPr id="117" name="CuadroTexto 116">
              <a:extLst>
                <a:ext uri="{FF2B5EF4-FFF2-40B4-BE49-F238E27FC236}">
                  <a16:creationId xmlns:a16="http://schemas.microsoft.com/office/drawing/2014/main" id="{6BEDEE64-8D9B-861E-BD3F-001BCAB3FB62}"/>
                </a:ext>
              </a:extLst>
            </p:cNvPr>
            <p:cNvSpPr txBox="1"/>
            <p:nvPr/>
          </p:nvSpPr>
          <p:spPr>
            <a:xfrm>
              <a:off x="7396885" y="2242582"/>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Global S/4Hana </a:t>
              </a:r>
            </a:p>
          </p:txBody>
        </p:sp>
        <p:sp>
          <p:nvSpPr>
            <p:cNvPr id="118" name="CuadroTexto 117">
              <a:extLst>
                <a:ext uri="{FF2B5EF4-FFF2-40B4-BE49-F238E27FC236}">
                  <a16:creationId xmlns:a16="http://schemas.microsoft.com/office/drawing/2014/main" id="{470C6774-9890-F3AC-C2B0-A74952EC4AD2}"/>
                </a:ext>
              </a:extLst>
            </p:cNvPr>
            <p:cNvSpPr txBox="1"/>
            <p:nvPr/>
          </p:nvSpPr>
          <p:spPr>
            <a:xfrm>
              <a:off x="9772306" y="253429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Supply Chain Digitization </a:t>
              </a:r>
            </a:p>
          </p:txBody>
        </p:sp>
        <p:sp>
          <p:nvSpPr>
            <p:cNvPr id="119" name="CuadroTexto 118">
              <a:extLst>
                <a:ext uri="{FF2B5EF4-FFF2-40B4-BE49-F238E27FC236}">
                  <a16:creationId xmlns:a16="http://schemas.microsoft.com/office/drawing/2014/main" id="{AAD0F889-747C-5958-F1B9-2421C0D779DF}"/>
                </a:ext>
              </a:extLst>
            </p:cNvPr>
            <p:cNvSpPr txBox="1"/>
            <p:nvPr/>
          </p:nvSpPr>
          <p:spPr>
            <a:xfrm>
              <a:off x="9772306" y="340184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MV90 Upgrade UIL </a:t>
              </a:r>
            </a:p>
          </p:txBody>
        </p:sp>
        <p:sp>
          <p:nvSpPr>
            <p:cNvPr id="120" name="CuadroTexto 119">
              <a:extLst>
                <a:ext uri="{FF2B5EF4-FFF2-40B4-BE49-F238E27FC236}">
                  <a16:creationId xmlns:a16="http://schemas.microsoft.com/office/drawing/2014/main" id="{8AE2E7B2-EDB9-DCF1-846F-AE81C5B82F05}"/>
                </a:ext>
              </a:extLst>
            </p:cNvPr>
            <p:cNvSpPr txBox="1"/>
            <p:nvPr/>
          </p:nvSpPr>
          <p:spPr>
            <a:xfrm>
              <a:off x="9772306" y="369103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Networks Lifecycle Apps </a:t>
              </a:r>
            </a:p>
          </p:txBody>
        </p:sp>
        <p:sp>
          <p:nvSpPr>
            <p:cNvPr id="121" name="CuadroTexto 120">
              <a:extLst>
                <a:ext uri="{FF2B5EF4-FFF2-40B4-BE49-F238E27FC236}">
                  <a16:creationId xmlns:a16="http://schemas.microsoft.com/office/drawing/2014/main" id="{CE6D6BE1-2501-FB80-A146-65BE27068FAA}"/>
                </a:ext>
              </a:extLst>
            </p:cNvPr>
            <p:cNvSpPr txBox="1"/>
            <p:nvPr/>
          </p:nvSpPr>
          <p:spPr>
            <a:xfrm>
              <a:off x="9772306" y="398021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Networks Mobility Program Digitalization </a:t>
              </a:r>
            </a:p>
          </p:txBody>
        </p:sp>
        <p:sp>
          <p:nvSpPr>
            <p:cNvPr id="122" name="CuadroTexto 121">
              <a:extLst>
                <a:ext uri="{FF2B5EF4-FFF2-40B4-BE49-F238E27FC236}">
                  <a16:creationId xmlns:a16="http://schemas.microsoft.com/office/drawing/2014/main" id="{748AC570-C14E-6D34-FE49-6EBB9525FFB6}"/>
                </a:ext>
              </a:extLst>
            </p:cNvPr>
            <p:cNvSpPr txBox="1"/>
            <p:nvPr/>
          </p:nvSpPr>
          <p:spPr>
            <a:xfrm>
              <a:off x="9772306" y="426939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ESRI UN Deployment</a:t>
              </a:r>
            </a:p>
          </p:txBody>
        </p:sp>
        <p:sp>
          <p:nvSpPr>
            <p:cNvPr id="123" name="CuadroTexto 122">
              <a:extLst>
                <a:ext uri="{FF2B5EF4-FFF2-40B4-BE49-F238E27FC236}">
                  <a16:creationId xmlns:a16="http://schemas.microsoft.com/office/drawing/2014/main" id="{ABC7B8CE-BAD5-FC6D-41E1-5BEB8C925899}"/>
                </a:ext>
              </a:extLst>
            </p:cNvPr>
            <p:cNvSpPr txBox="1"/>
            <p:nvPr/>
          </p:nvSpPr>
          <p:spPr>
            <a:xfrm>
              <a:off x="9772306" y="282348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OpenText Cloud ECM and Rate Case Advisor </a:t>
              </a:r>
            </a:p>
          </p:txBody>
        </p:sp>
        <p:sp>
          <p:nvSpPr>
            <p:cNvPr id="124" name="CuadroTexto 123">
              <a:extLst>
                <a:ext uri="{FF2B5EF4-FFF2-40B4-BE49-F238E27FC236}">
                  <a16:creationId xmlns:a16="http://schemas.microsoft.com/office/drawing/2014/main" id="{A68A960B-7DFD-BB45-1660-ABD66866B5C6}"/>
                </a:ext>
              </a:extLst>
            </p:cNvPr>
            <p:cNvSpPr txBox="1"/>
            <p:nvPr/>
          </p:nvSpPr>
          <p:spPr>
            <a:xfrm>
              <a:off x="9772306" y="1957368"/>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On-prem SharePoint migration to O365​</a:t>
              </a:r>
            </a:p>
          </p:txBody>
        </p:sp>
        <p:sp>
          <p:nvSpPr>
            <p:cNvPr id="125" name="TextBox 1">
              <a:extLst>
                <a:ext uri="{FF2B5EF4-FFF2-40B4-BE49-F238E27FC236}">
                  <a16:creationId xmlns:a16="http://schemas.microsoft.com/office/drawing/2014/main" id="{1E376A05-8BEE-C328-F43A-9739FFB428F3}"/>
                </a:ext>
              </a:extLst>
            </p:cNvPr>
            <p:cNvSpPr txBox="1"/>
            <p:nvPr/>
          </p:nvSpPr>
          <p:spPr>
            <a:xfrm>
              <a:off x="9771694" y="1669623"/>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SUPPORT</a:t>
              </a:r>
            </a:p>
          </p:txBody>
        </p:sp>
        <p:sp>
          <p:nvSpPr>
            <p:cNvPr id="126" name="TextBox 1">
              <a:extLst>
                <a:ext uri="{FF2B5EF4-FFF2-40B4-BE49-F238E27FC236}">
                  <a16:creationId xmlns:a16="http://schemas.microsoft.com/office/drawing/2014/main" id="{6C3C7258-08F5-777E-CA50-18311ECED5F7}"/>
                </a:ext>
              </a:extLst>
            </p:cNvPr>
            <p:cNvSpPr txBox="1"/>
            <p:nvPr/>
          </p:nvSpPr>
          <p:spPr>
            <a:xfrm>
              <a:off x="9771694" y="2246551"/>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SUPPLY CHAIN &amp; NETWORKS</a:t>
              </a:r>
            </a:p>
          </p:txBody>
        </p:sp>
      </p:grpSp>
      <p:sp>
        <p:nvSpPr>
          <p:cNvPr id="130" name="TextBox 5">
            <a:extLst>
              <a:ext uri="{FF2B5EF4-FFF2-40B4-BE49-F238E27FC236}">
                <a16:creationId xmlns:a16="http://schemas.microsoft.com/office/drawing/2014/main" id="{D81327BF-195F-F513-597D-76ADC40B9E65}"/>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We have developed an initial portfolio classification across demand types and sizes to provide directional visibility. However, this view is not exhaustive, as it is based on limited and fragmented data currently available.</a:t>
            </a:r>
          </a:p>
        </p:txBody>
      </p:sp>
      <p:sp>
        <p:nvSpPr>
          <p:cNvPr id="2" name="TextBox 138">
            <a:extLst>
              <a:ext uri="{FF2B5EF4-FFF2-40B4-BE49-F238E27FC236}">
                <a16:creationId xmlns:a16="http://schemas.microsoft.com/office/drawing/2014/main" id="{5161A047-0A93-8247-A9B6-82DE9B59328E}"/>
              </a:ext>
            </a:extLst>
          </p:cNvPr>
          <p:cNvSpPr txBox="1"/>
          <p:nvPr/>
        </p:nvSpPr>
        <p:spPr>
          <a:xfrm>
            <a:off x="1507740" y="6599185"/>
            <a:ext cx="8958909" cy="16395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50" b="1" i="0" u="none" strike="noStrike" kern="1200" cap="none" spc="0" normalizeH="0" baseline="0" noProof="0">
                <a:ln>
                  <a:noFill/>
                </a:ln>
                <a:effectLst/>
                <a:uLnTx/>
                <a:uFillTx/>
                <a:latin typeface="Arial" panose="020B0604020202020204" pitchFamily="34" charset="0"/>
                <a:cs typeface="Arial" panose="020B0604020202020204" pitchFamily="34" charset="0"/>
              </a:rPr>
              <a:t>NOTE: This modeled view will be complemented and further detailed once all key information regarding current demand is made available</a:t>
            </a:r>
          </a:p>
        </p:txBody>
      </p:sp>
    </p:spTree>
    <p:extLst>
      <p:ext uri="{BB962C8B-B14F-4D97-AF65-F5344CB8AC3E}">
        <p14:creationId xmlns:p14="http://schemas.microsoft.com/office/powerpoint/2010/main" val="735598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B498E-2692-09E2-7942-C7300823E08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4294D609-405E-C7F0-0798-FAFD8B972B5E}"/>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50CFEB63-60E1-FF9A-F28C-B07EFA8DE10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560B4732-2C85-B006-EF2C-068A4E0F1B5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DEA8C7CE-1E39-DEDD-6F79-2E4D2386455D}"/>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35F50E69-ECFF-EB66-EB91-EA8169E53437}"/>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9EEEC3CE-AFB1-E04F-E54A-0562FEAC6B40}"/>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12C98765-86C2-AA72-E8FA-391BA1BAB135}"/>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F64086FE-F8FE-FCBA-2E13-3C4D1247E4D3}"/>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3AF91900-4839-34CD-BD11-AFEA2C16A3B3}"/>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ED8F3D49-9F0F-A95A-9B95-D488EC8E9D6A}"/>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2EC0E33F-3721-C057-0898-78A46316069A}"/>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F68CF2F5-49E7-6D32-F6C9-B1BF8F6886D5}"/>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6B45119F-7F36-0A0C-FCBC-AAE9188CEE8A}"/>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280B3715-DF86-18E3-D365-1A9F05C6DAF4}"/>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grpSp>
        <p:nvGrpSpPr>
          <p:cNvPr id="21" name="Grupo 20">
            <a:extLst>
              <a:ext uri="{FF2B5EF4-FFF2-40B4-BE49-F238E27FC236}">
                <a16:creationId xmlns:a16="http://schemas.microsoft.com/office/drawing/2014/main" id="{266A29AD-737A-6724-2BDF-BEA1562679B5}"/>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242CBCEA-43CA-96EC-79D3-8577E38CAC1E}"/>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0BCB227E-AAE2-E6D3-1282-7F4A6396E3ED}"/>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BAE8D05-A673-3461-4C72-1DB4AFD63F4A}"/>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87A5B399-B332-8FD3-C0BA-A5FF5984134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B7FB8D5D-A4DF-A32A-B42F-B62F996C3194}"/>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sp>
        <p:nvSpPr>
          <p:cNvPr id="2" name="TextBox 14">
            <a:extLst>
              <a:ext uri="{FF2B5EF4-FFF2-40B4-BE49-F238E27FC236}">
                <a16:creationId xmlns:a16="http://schemas.microsoft.com/office/drawing/2014/main" id="{C644ACD1-44E3-A5BC-6A61-FC4BE2030B09}"/>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AA205968-5E72-D161-B18A-6AC82F389A45}"/>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AC49ED7A-9FF8-D608-F097-451DF6CA59A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5730A542-EE73-45FE-C1B4-BADEE84FF9D5}"/>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BCEFDFBA-7920-76DE-EAAD-4C2B713A25EF}"/>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70F7C734-E310-E7AA-A76A-87EB99547EBD}"/>
              </a:ext>
            </a:extLst>
          </p:cNvPr>
          <p:cNvSpPr/>
          <p:nvPr/>
        </p:nvSpPr>
        <p:spPr>
          <a:xfrm>
            <a:off x="759321" y="5498072"/>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Box 22">
            <a:extLst>
              <a:ext uri="{FF2B5EF4-FFF2-40B4-BE49-F238E27FC236}">
                <a16:creationId xmlns:a16="http://schemas.microsoft.com/office/drawing/2014/main" id="{A0723DC1-D2E1-8D61-8F48-12ACD8E1DDD1}"/>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33" name="Grupo 30">
            <a:extLst>
              <a:ext uri="{FF2B5EF4-FFF2-40B4-BE49-F238E27FC236}">
                <a16:creationId xmlns:a16="http://schemas.microsoft.com/office/drawing/2014/main" id="{082BDDE0-BF4C-AFCF-FB5E-9E81D780B0E8}"/>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628DA4BB-C34C-0127-F567-4E651A090215}"/>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69AA21EC-722B-75AD-88F2-8ED485D3DBC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16681710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6EB6EBEB-4FAC-E94E-0783-B81F6D7BFF5E}"/>
              </a:ext>
            </a:extLst>
          </p:cNvPr>
          <p:cNvSpPr/>
          <p:nvPr/>
        </p:nvSpPr>
        <p:spPr>
          <a:xfrm>
            <a:off x="470662" y="4991070"/>
            <a:ext cx="11459027" cy="1125681"/>
          </a:xfrm>
          <a:prstGeom prst="rect">
            <a:avLst/>
          </a:prstGeom>
          <a:solidFill>
            <a:srgbClr val="6785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noProof="0">
                <a:latin typeface="Arial" panose="020B0604020202020204" pitchFamily="34" charset="0"/>
                <a:cs typeface="Arial" panose="020B0604020202020204" pitchFamily="34" charset="0"/>
              </a:rPr>
              <a:t>FUTURE STATE GUIDING PRINCIPLES</a:t>
            </a:r>
          </a:p>
        </p:txBody>
      </p:sp>
      <p:sp>
        <p:nvSpPr>
          <p:cNvPr id="46" name="Rectangle 5">
            <a:extLst>
              <a:ext uri="{FF2B5EF4-FFF2-40B4-BE49-F238E27FC236}">
                <a16:creationId xmlns:a16="http://schemas.microsoft.com/office/drawing/2014/main" id="{1662458A-BDEF-AFDE-E6BC-BCC9448A8E06}"/>
              </a:ext>
            </a:extLst>
          </p:cNvPr>
          <p:cNvSpPr/>
          <p:nvPr/>
        </p:nvSpPr>
        <p:spPr>
          <a:xfrm>
            <a:off x="470658" y="526942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riángulo isósceles 4">
            <a:extLst>
              <a:ext uri="{FF2B5EF4-FFF2-40B4-BE49-F238E27FC236}">
                <a16:creationId xmlns:a16="http://schemas.microsoft.com/office/drawing/2014/main" id="{9FBECEF6-B133-9691-5549-41CC536C09D5}"/>
              </a:ext>
            </a:extLst>
          </p:cNvPr>
          <p:cNvSpPr/>
          <p:nvPr/>
        </p:nvSpPr>
        <p:spPr>
          <a:xfrm flipV="1">
            <a:off x="1141781"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Triángulo isósceles 5">
            <a:extLst>
              <a:ext uri="{FF2B5EF4-FFF2-40B4-BE49-F238E27FC236}">
                <a16:creationId xmlns:a16="http://schemas.microsoft.com/office/drawing/2014/main" id="{EC6A3D32-D2C7-F24D-33E6-238DE9AEADAD}"/>
              </a:ext>
            </a:extLst>
          </p:cNvPr>
          <p:cNvSpPr/>
          <p:nvPr/>
        </p:nvSpPr>
        <p:spPr>
          <a:xfrm flipV="1">
            <a:off x="5170839"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riángulo isósceles 6">
            <a:extLst>
              <a:ext uri="{FF2B5EF4-FFF2-40B4-BE49-F238E27FC236}">
                <a16:creationId xmlns:a16="http://schemas.microsoft.com/office/drawing/2014/main" id="{976C2E53-BC04-11DC-AA4F-A38990878D61}"/>
              </a:ext>
            </a:extLst>
          </p:cNvPr>
          <p:cNvSpPr/>
          <p:nvPr/>
        </p:nvSpPr>
        <p:spPr>
          <a:xfrm flipV="1">
            <a:off x="9393056"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5" name="Rectangle 5">
            <a:extLst>
              <a:ext uri="{FF2B5EF4-FFF2-40B4-BE49-F238E27FC236}">
                <a16:creationId xmlns:a16="http://schemas.microsoft.com/office/drawing/2014/main" id="{4651842F-1D3B-3D3A-2ACC-C277C64B3906}"/>
              </a:ext>
            </a:extLst>
          </p:cNvPr>
          <p:cNvSpPr/>
          <p:nvPr/>
        </p:nvSpPr>
        <p:spPr>
          <a:xfrm>
            <a:off x="8343857" y="1779195"/>
            <a:ext cx="3442956" cy="264198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Rectangle 5">
            <a:extLst>
              <a:ext uri="{FF2B5EF4-FFF2-40B4-BE49-F238E27FC236}">
                <a16:creationId xmlns:a16="http://schemas.microsoft.com/office/drawing/2014/main" id="{323AAAEB-2129-DFE5-A4E6-A6FE68400697}"/>
              </a:ext>
            </a:extLst>
          </p:cNvPr>
          <p:cNvSpPr/>
          <p:nvPr/>
        </p:nvSpPr>
        <p:spPr>
          <a:xfrm>
            <a:off x="4400609"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Rectangle 5">
            <a:extLst>
              <a:ext uri="{FF2B5EF4-FFF2-40B4-BE49-F238E27FC236}">
                <a16:creationId xmlns:a16="http://schemas.microsoft.com/office/drawing/2014/main" id="{A9EEE1B1-AB6C-518F-DBD0-B59356BD7FAE}"/>
              </a:ext>
            </a:extLst>
          </p:cNvPr>
          <p:cNvSpPr/>
          <p:nvPr/>
        </p:nvSpPr>
        <p:spPr>
          <a:xfrm>
            <a:off x="470657"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442BB262-E8C4-78CB-A734-64985D4FD45A}"/>
              </a:ext>
            </a:extLst>
          </p:cNvPr>
          <p:cNvSpPr/>
          <p:nvPr/>
        </p:nvSpPr>
        <p:spPr>
          <a:xfrm>
            <a:off x="8343330"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t>STRUCTURAL MISALIGNMENT</a:t>
            </a:r>
          </a:p>
        </p:txBody>
      </p:sp>
      <p:sp>
        <p:nvSpPr>
          <p:cNvPr id="3" name="Rectángulo 2">
            <a:extLst>
              <a:ext uri="{FF2B5EF4-FFF2-40B4-BE49-F238E27FC236}">
                <a16:creationId xmlns:a16="http://schemas.microsoft.com/office/drawing/2014/main" id="{5E01D804-9516-DE7C-B8CC-B7EB57864592}"/>
              </a:ext>
            </a:extLst>
          </p:cNvPr>
          <p:cNvSpPr/>
          <p:nvPr/>
        </p:nvSpPr>
        <p:spPr>
          <a:xfrm>
            <a:off x="4406994"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t>DELIVERY EXPERIENCE AND PAIN POINTS</a:t>
            </a:r>
          </a:p>
        </p:txBody>
      </p:sp>
      <p:sp>
        <p:nvSpPr>
          <p:cNvPr id="2" name="Rectángulo 1">
            <a:extLst>
              <a:ext uri="{FF2B5EF4-FFF2-40B4-BE49-F238E27FC236}">
                <a16:creationId xmlns:a16="http://schemas.microsoft.com/office/drawing/2014/main" id="{A93629D1-7E72-6834-B3D9-188CC4B42527}"/>
              </a:ext>
            </a:extLst>
          </p:cNvPr>
          <p:cNvSpPr/>
          <p:nvPr/>
        </p:nvSpPr>
        <p:spPr>
          <a:xfrm>
            <a:off x="470658"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OPERATING CONSTRAINTS</a:t>
            </a:r>
          </a:p>
        </p:txBody>
      </p:sp>
      <p:sp>
        <p:nvSpPr>
          <p:cNvPr id="31" name="TextBox 174">
            <a:extLst>
              <a:ext uri="{FF2B5EF4-FFF2-40B4-BE49-F238E27FC236}">
                <a16:creationId xmlns:a16="http://schemas.microsoft.com/office/drawing/2014/main" id="{6D4BC5C4-8447-4B2D-B980-02E6603A7C82}"/>
              </a:ext>
            </a:extLst>
          </p:cNvPr>
          <p:cNvSpPr txBox="1"/>
          <p:nvPr/>
        </p:nvSpPr>
        <p:spPr>
          <a:xfrm>
            <a:off x="530374" y="2109317"/>
            <a:ext cx="3350053" cy="2187458"/>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algn="l"/>
            <a:r>
              <a:rPr lang="en-US" sz="1000" b="0" noProof="0">
                <a:solidFill>
                  <a:schemeClr val="tx1"/>
                </a:solidFill>
              </a:rPr>
              <a:t>These are the structural and operational limitations currently constraining the model’s ability to scale and deliver value consistently.</a:t>
            </a:r>
          </a:p>
          <a:p>
            <a:pPr algn="l"/>
            <a:br>
              <a:rPr lang="en-US" sz="1000" b="0" noProof="0">
                <a:solidFill>
                  <a:schemeClr val="tx1"/>
                </a:solidFill>
              </a:rPr>
            </a:br>
            <a:r>
              <a:rPr lang="en-US" sz="1000" b="0" noProof="0">
                <a:solidFill>
                  <a:schemeClr val="tx1"/>
                </a:solidFill>
              </a:rPr>
              <a:t>This section outlines the key factors:</a:t>
            </a:r>
          </a:p>
          <a:p>
            <a:pPr algn="l"/>
            <a:endParaRPr lang="en-US" sz="1000" b="0" noProof="0">
              <a:solidFill>
                <a:schemeClr val="tx1"/>
              </a:solidFill>
            </a:endParaRPr>
          </a:p>
          <a:p>
            <a:pPr marL="171450" lvl="0" indent="-171450" algn="l">
              <a:buFont typeface="Arial" panose="020B0604020202020204" pitchFamily="34" charset="0"/>
              <a:buChar char="•"/>
              <a:defRPr/>
            </a:pPr>
            <a:r>
              <a:rPr lang="en-US" sz="1000" b="0" noProof="0">
                <a:solidFill>
                  <a:schemeClr val="tx1"/>
                </a:solidFill>
              </a:rPr>
              <a:t>People: Capacity &amp; accountability are structurally constrained</a:t>
            </a:r>
          </a:p>
          <a:p>
            <a:pPr marL="171450" lvl="0" indent="-171450" algn="l">
              <a:buFont typeface="Arial" panose="020B0604020202020204" pitchFamily="34" charset="0"/>
              <a:buChar char="•"/>
              <a:defRPr/>
            </a:pPr>
            <a:r>
              <a:rPr lang="en-US" sz="1000" b="0" noProof="0">
                <a:solidFill>
                  <a:schemeClr val="tx1"/>
                </a:solidFill>
              </a:rPr>
              <a:t>Process: Lack of standardization drives inconsistency</a:t>
            </a:r>
          </a:p>
          <a:p>
            <a:pPr marL="171450" lvl="0" indent="-171450" algn="l">
              <a:buFont typeface="Arial" panose="020B0604020202020204" pitchFamily="34" charset="0"/>
              <a:buChar char="•"/>
              <a:defRPr/>
            </a:pPr>
            <a:r>
              <a:rPr lang="en-US" sz="1000" b="0" noProof="0">
                <a:solidFill>
                  <a:schemeClr val="tx1"/>
                </a:solidFill>
              </a:rPr>
              <a:t>Tools: Fragmented ecosystem limits visibility and control</a:t>
            </a:r>
          </a:p>
          <a:p>
            <a:pPr marL="171450" lvl="0" indent="-171450" algn="l">
              <a:buFont typeface="Arial" panose="020B0604020202020204" pitchFamily="34" charset="0"/>
              <a:buChar char="•"/>
              <a:defRPr/>
            </a:pPr>
            <a:r>
              <a:rPr lang="en-US" sz="1000" b="0" noProof="0">
                <a:solidFill>
                  <a:schemeClr val="tx1"/>
                </a:solidFill>
              </a:rPr>
              <a:t>Governance: Decision-making is fragmented</a:t>
            </a:r>
          </a:p>
          <a:p>
            <a:pPr algn="l"/>
            <a:endParaRPr lang="en-US" sz="1000" b="0" noProof="0">
              <a:solidFill>
                <a:schemeClr val="tx1"/>
              </a:solidFill>
            </a:endParaRPr>
          </a:p>
          <a:p>
            <a:pPr algn="l"/>
            <a:endParaRPr lang="en-US" sz="1000" b="0" noProof="0">
              <a:solidFill>
                <a:schemeClr val="tx1"/>
              </a:solidFill>
            </a:endParaRPr>
          </a:p>
        </p:txBody>
      </p:sp>
      <p:sp>
        <p:nvSpPr>
          <p:cNvPr id="32" name="TextBox 174">
            <a:extLst>
              <a:ext uri="{FF2B5EF4-FFF2-40B4-BE49-F238E27FC236}">
                <a16:creationId xmlns:a16="http://schemas.microsoft.com/office/drawing/2014/main" id="{D74D27EE-434B-C16E-43A3-B45F4CDD2CB7}"/>
              </a:ext>
            </a:extLst>
          </p:cNvPr>
          <p:cNvSpPr txBox="1"/>
          <p:nvPr/>
        </p:nvSpPr>
        <p:spPr>
          <a:xfrm>
            <a:off x="4465147" y="2109317"/>
            <a:ext cx="3330101" cy="2233625"/>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algn="l"/>
            <a:r>
              <a:rPr lang="en-US" sz="1000" b="0" noProof="0">
                <a:solidFill>
                  <a:schemeClr val="tx1"/>
                </a:solidFill>
              </a:rPr>
              <a:t>These are the friction points impacting execution and the business or user experience.</a:t>
            </a:r>
          </a:p>
          <a:p>
            <a:pPr algn="l"/>
            <a:br>
              <a:rPr lang="en-US" sz="1000" b="0" noProof="0">
                <a:solidFill>
                  <a:schemeClr val="tx1"/>
                </a:solidFill>
              </a:rPr>
            </a:br>
            <a:r>
              <a:rPr lang="en-US" sz="1000" b="0" noProof="0">
                <a:solidFill>
                  <a:schemeClr val="tx1"/>
                </a:solidFill>
              </a:rPr>
              <a:t>This section describes the main issues identified related to:</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Fragmented demand and intake drive reactive, non-strategic delivery</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Lack of clear product ownership weakens accountability and decision-making</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Limited portfolio visibility constrains end-to-end planning and prioritization</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Uncoordinated capacity and overlapping initiatives reduce efficiency and impact</a:t>
            </a:r>
            <a:endParaRPr lang="en-US"/>
          </a:p>
          <a:p>
            <a:pPr algn="l"/>
            <a:endParaRPr lang="en-US" sz="1000" b="0" noProof="0">
              <a:solidFill>
                <a:schemeClr val="tx1"/>
              </a:solidFill>
            </a:endParaRPr>
          </a:p>
          <a:p>
            <a:pPr algn="l"/>
            <a:endParaRPr lang="en-US" sz="1000" b="0" noProof="0">
              <a:solidFill>
                <a:schemeClr val="tx1"/>
              </a:solidFill>
            </a:endParaRPr>
          </a:p>
        </p:txBody>
      </p:sp>
      <p:sp>
        <p:nvSpPr>
          <p:cNvPr id="35" name="TextBox 174">
            <a:extLst>
              <a:ext uri="{FF2B5EF4-FFF2-40B4-BE49-F238E27FC236}">
                <a16:creationId xmlns:a16="http://schemas.microsoft.com/office/drawing/2014/main" id="{2FDF6C5E-0CFD-47F1-0C08-AEDE1B6968BF}"/>
              </a:ext>
            </a:extLst>
          </p:cNvPr>
          <p:cNvSpPr txBox="1"/>
          <p:nvPr/>
        </p:nvSpPr>
        <p:spPr>
          <a:xfrm>
            <a:off x="8427497" y="2109317"/>
            <a:ext cx="3326618" cy="218745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r>
              <a:rPr lang="en-US" noProof="0">
                <a:solidFill>
                  <a:schemeClr val="tx1"/>
                </a:solidFill>
              </a:rPr>
              <a:t>This refers to the misalignment between the organizational structure, governance model, and the way products are managed and delivered.</a:t>
            </a:r>
          </a:p>
          <a:p>
            <a:br>
              <a:rPr lang="en-US" noProof="0">
                <a:solidFill>
                  <a:schemeClr val="tx1"/>
                </a:solidFill>
              </a:rPr>
            </a:br>
            <a:r>
              <a:rPr lang="en-US" noProof="0">
                <a:solidFill>
                  <a:schemeClr val="tx1"/>
                </a:solidFill>
              </a:rPr>
              <a:t>This section highlights the structural gaps:</a:t>
            </a:r>
          </a:p>
          <a:p>
            <a:endParaRPr lang="en-US" noProof="0">
              <a:solidFill>
                <a:schemeClr val="tx1"/>
              </a:solidFill>
            </a:endParaRPr>
          </a:p>
          <a:p>
            <a:pPr marL="171450" indent="-171450">
              <a:buFont typeface="Arial" panose="020B0604020202020204" pitchFamily="34" charset="0"/>
              <a:buChar char="•"/>
            </a:pPr>
            <a:r>
              <a:rPr lang="en-US" noProof="0">
                <a:solidFill>
                  <a:schemeClr val="tx1"/>
                </a:solidFill>
              </a:rPr>
              <a:t>No Product Entry Point</a:t>
            </a:r>
          </a:p>
          <a:p>
            <a:pPr marL="171450" indent="-171450">
              <a:buFont typeface="Arial" panose="020B0604020202020204" pitchFamily="34" charset="0"/>
              <a:buChar char="•"/>
            </a:pPr>
            <a:r>
              <a:rPr lang="en-US" noProof="0">
                <a:solidFill>
                  <a:schemeClr val="tx1"/>
                </a:solidFill>
              </a:rPr>
              <a:t>No Value-Based Decision-Making</a:t>
            </a:r>
          </a:p>
          <a:p>
            <a:pPr marL="171450" indent="-171450">
              <a:buFont typeface="Arial" panose="020B0604020202020204" pitchFamily="34" charset="0"/>
              <a:buChar char="•"/>
            </a:pPr>
            <a:r>
              <a:rPr lang="en-US" noProof="0">
                <a:solidFill>
                  <a:schemeClr val="tx1"/>
                </a:solidFill>
              </a:rPr>
              <a:t>No End-to-End Product View</a:t>
            </a:r>
          </a:p>
          <a:p>
            <a:pPr marL="171450" indent="-171450">
              <a:buFont typeface="Arial" panose="020B0604020202020204" pitchFamily="34" charset="0"/>
              <a:buChar char="•"/>
            </a:pPr>
            <a:r>
              <a:rPr lang="en-US" noProof="0">
                <a:solidFill>
                  <a:schemeClr val="tx1"/>
                </a:solidFill>
              </a:rPr>
              <a:t>No Ownership of Outcomes</a:t>
            </a:r>
          </a:p>
          <a:p>
            <a:pPr marL="171450" indent="-171450">
              <a:buFont typeface="Arial" panose="020B0604020202020204" pitchFamily="34" charset="0"/>
              <a:buChar char="•"/>
            </a:pPr>
            <a:r>
              <a:rPr lang="en-US" noProof="0">
                <a:solidFill>
                  <a:schemeClr val="tx1"/>
                </a:solidFill>
              </a:rPr>
              <a:t>No Product-Level Steering</a:t>
            </a:r>
          </a:p>
          <a:p>
            <a:pPr marL="171450" indent="-171450">
              <a:buFont typeface="Arial" panose="020B0604020202020204" pitchFamily="34" charset="0"/>
              <a:buChar char="•"/>
            </a:pPr>
            <a:r>
              <a:rPr lang="en-US" noProof="0">
                <a:solidFill>
                  <a:schemeClr val="tx1"/>
                </a:solidFill>
              </a:rPr>
              <a:t>No Common Language of Value</a:t>
            </a:r>
          </a:p>
          <a:p>
            <a:pPr marL="171450" indent="-171450">
              <a:buFont typeface="Arial" panose="020B0604020202020204" pitchFamily="34" charset="0"/>
              <a:buChar char="•"/>
            </a:pPr>
            <a:r>
              <a:rPr lang="en-US" noProof="0">
                <a:solidFill>
                  <a:schemeClr val="tx1"/>
                </a:solidFill>
              </a:rPr>
              <a:t>No Product Ownership Model</a:t>
            </a:r>
          </a:p>
        </p:txBody>
      </p:sp>
      <p:sp>
        <p:nvSpPr>
          <p:cNvPr id="24" name="Rectángulo: esquinas redondeadas 23">
            <a:extLst>
              <a:ext uri="{FF2B5EF4-FFF2-40B4-BE49-F238E27FC236}">
                <a16:creationId xmlns:a16="http://schemas.microsoft.com/office/drawing/2014/main" id="{145C7B09-FF40-F36F-C81E-7A85C00E41F9}"/>
              </a:ext>
            </a:extLst>
          </p:cNvPr>
          <p:cNvSpPr/>
          <p:nvPr/>
        </p:nvSpPr>
        <p:spPr>
          <a:xfrm>
            <a:off x="582330"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000" b="1" noProof="0">
                <a:solidFill>
                  <a:schemeClr val="tx1"/>
                </a:solidFill>
                <a:latin typeface="Arial" panose="020B0604020202020204" pitchFamily="34" charset="0"/>
                <a:cs typeface="Arial" panose="020B0604020202020204" pitchFamily="34" charset="0"/>
              </a:rPr>
              <a:t>Demand Intake &amp; Structuring</a:t>
            </a:r>
          </a:p>
        </p:txBody>
      </p:sp>
      <p:sp>
        <p:nvSpPr>
          <p:cNvPr id="28" name="Rectángulo: esquinas redondeadas 27">
            <a:extLst>
              <a:ext uri="{FF2B5EF4-FFF2-40B4-BE49-F238E27FC236}">
                <a16:creationId xmlns:a16="http://schemas.microsoft.com/office/drawing/2014/main" id="{C510FC52-8AC0-4444-4936-DB9393694D86}"/>
              </a:ext>
            </a:extLst>
          </p:cNvPr>
          <p:cNvSpPr/>
          <p:nvPr/>
        </p:nvSpPr>
        <p:spPr>
          <a:xfrm>
            <a:off x="3417158"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Value-Based Prioritization</a:t>
            </a:r>
          </a:p>
        </p:txBody>
      </p:sp>
      <p:sp>
        <p:nvSpPr>
          <p:cNvPr id="29" name="Rectángulo: esquinas redondeadas 28">
            <a:extLst>
              <a:ext uri="{FF2B5EF4-FFF2-40B4-BE49-F238E27FC236}">
                <a16:creationId xmlns:a16="http://schemas.microsoft.com/office/drawing/2014/main" id="{2EAD87EA-C76B-DBE7-AD27-2F34CBD42255}"/>
              </a:ext>
            </a:extLst>
          </p:cNvPr>
          <p:cNvSpPr/>
          <p:nvPr/>
        </p:nvSpPr>
        <p:spPr>
          <a:xfrm>
            <a:off x="6251986"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Product Portfolio Management &amp; Planning</a:t>
            </a:r>
          </a:p>
        </p:txBody>
      </p:sp>
      <p:sp>
        <p:nvSpPr>
          <p:cNvPr id="30" name="Rectángulo: esquinas redondeadas 29">
            <a:extLst>
              <a:ext uri="{FF2B5EF4-FFF2-40B4-BE49-F238E27FC236}">
                <a16:creationId xmlns:a16="http://schemas.microsoft.com/office/drawing/2014/main" id="{DEAD4AAC-B712-D9A7-417F-C38EB57D53F0}"/>
              </a:ext>
            </a:extLst>
          </p:cNvPr>
          <p:cNvSpPr/>
          <p:nvPr/>
        </p:nvSpPr>
        <p:spPr>
          <a:xfrm>
            <a:off x="9086813" y="556643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Product Governance &amp; Ownership</a:t>
            </a:r>
          </a:p>
        </p:txBody>
      </p:sp>
      <p:sp>
        <p:nvSpPr>
          <p:cNvPr id="40" name="TextBox 174">
            <a:extLst>
              <a:ext uri="{FF2B5EF4-FFF2-40B4-BE49-F238E27FC236}">
                <a16:creationId xmlns:a16="http://schemas.microsoft.com/office/drawing/2014/main" id="{B00D2C6D-63E6-4FE8-82AD-88D2B2078D70}"/>
              </a:ext>
            </a:extLst>
          </p:cNvPr>
          <p:cNvSpPr txBox="1"/>
          <p:nvPr/>
        </p:nvSpPr>
        <p:spPr>
          <a:xfrm>
            <a:off x="591245" y="530661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r>
              <a:rPr lang="en-US" noProof="0"/>
              <a:t>They will serve as a decision-making framework for designing processes, roles, and governance aligned with a more scalable, transparent, and product-oriented model.</a:t>
            </a:r>
          </a:p>
        </p:txBody>
      </p:sp>
      <p:pic>
        <p:nvPicPr>
          <p:cNvPr id="51" name="Gráfico 50" descr="Corona de usuario femenino con relleno sólido">
            <a:extLst>
              <a:ext uri="{FF2B5EF4-FFF2-40B4-BE49-F238E27FC236}">
                <a16:creationId xmlns:a16="http://schemas.microsoft.com/office/drawing/2014/main" id="{55A58A34-2E8D-B271-C117-1ED5D8B835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638379"/>
            <a:ext cx="250323" cy="250323"/>
          </a:xfrm>
          <a:prstGeom prst="rect">
            <a:avLst/>
          </a:prstGeom>
        </p:spPr>
      </p:pic>
      <p:pic>
        <p:nvPicPr>
          <p:cNvPr id="52" name="Gráfico 51" descr="Inventario de búsqueda con relleno sólido">
            <a:extLst>
              <a:ext uri="{FF2B5EF4-FFF2-40B4-BE49-F238E27FC236}">
                <a16:creationId xmlns:a16="http://schemas.microsoft.com/office/drawing/2014/main" id="{E5AFA2AF-6C4A-4644-2FBD-4A2325D44F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638379"/>
            <a:ext cx="250323" cy="250323"/>
          </a:xfrm>
          <a:prstGeom prst="rect">
            <a:avLst/>
          </a:prstGeom>
        </p:spPr>
      </p:pic>
      <p:pic>
        <p:nvPicPr>
          <p:cNvPr id="53" name="Gráfico 52" descr="Diamante con relleno sólido">
            <a:extLst>
              <a:ext uri="{FF2B5EF4-FFF2-40B4-BE49-F238E27FC236}">
                <a16:creationId xmlns:a16="http://schemas.microsoft.com/office/drawing/2014/main" id="{B95AADE6-E340-E92D-D062-D9171B9E56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638379"/>
            <a:ext cx="250323" cy="250323"/>
          </a:xfrm>
          <a:prstGeom prst="rect">
            <a:avLst/>
          </a:prstGeom>
        </p:spPr>
      </p:pic>
      <p:pic>
        <p:nvPicPr>
          <p:cNvPr id="54" name="Gráfico 53" descr="Bandeja de entrada marcada con relleno sólido">
            <a:extLst>
              <a:ext uri="{FF2B5EF4-FFF2-40B4-BE49-F238E27FC236}">
                <a16:creationId xmlns:a16="http://schemas.microsoft.com/office/drawing/2014/main" id="{830BB2F5-E529-2A1C-DA4B-7E6270FDF7F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638379"/>
            <a:ext cx="250323" cy="250323"/>
          </a:xfrm>
          <a:prstGeom prst="rect">
            <a:avLst/>
          </a:prstGeom>
        </p:spPr>
      </p:pic>
      <p:sp>
        <p:nvSpPr>
          <p:cNvPr id="16" name="Título 2">
            <a:extLst>
              <a:ext uri="{FF2B5EF4-FFF2-40B4-BE49-F238E27FC236}">
                <a16:creationId xmlns:a16="http://schemas.microsoft.com/office/drawing/2014/main" id="{13FF10D7-104B-0FB0-B658-E0980B3EFBC3}"/>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OVERALL CONCLUSIONS</a:t>
            </a:r>
          </a:p>
        </p:txBody>
      </p:sp>
      <p:sp>
        <p:nvSpPr>
          <p:cNvPr id="33" name="CuadroTexto 204">
            <a:extLst>
              <a:ext uri="{FF2B5EF4-FFF2-40B4-BE49-F238E27FC236}">
                <a16:creationId xmlns:a16="http://schemas.microsoft.com/office/drawing/2014/main" id="{5EAC3610-2E31-0480-27F7-F41EFD91C712}"/>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Our assessment highlights opportunities to strengthen alignment, governance, and prioritization to enable a more scalable and sustainable TO‑BE operating model.</a:t>
            </a:r>
          </a:p>
        </p:txBody>
      </p:sp>
    </p:spTree>
    <p:extLst>
      <p:ext uri="{BB962C8B-B14F-4D97-AF65-F5344CB8AC3E}">
        <p14:creationId xmlns:p14="http://schemas.microsoft.com/office/powerpoint/2010/main" val="30961424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51845-DE05-45CC-4AF1-8013361E66AB}"/>
            </a:ext>
          </a:extLst>
        </p:cNvPr>
        <p:cNvGrpSpPr/>
        <p:nvPr/>
      </p:nvGrpSpPr>
      <p:grpSpPr>
        <a:xfrm>
          <a:off x="0" y="0"/>
          <a:ext cx="0" cy="0"/>
          <a:chOff x="0" y="0"/>
          <a:chExt cx="0" cy="0"/>
        </a:xfrm>
      </p:grpSpPr>
      <p:sp>
        <p:nvSpPr>
          <p:cNvPr id="8" name="Título 2">
            <a:extLst>
              <a:ext uri="{FF2B5EF4-FFF2-40B4-BE49-F238E27FC236}">
                <a16:creationId xmlns:a16="http://schemas.microsoft.com/office/drawing/2014/main" id="{4B2971E6-39F8-A7FD-9073-BFE480325CFB}"/>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CURRENT OPERATING CONSTRAINTS</a:t>
            </a:r>
          </a:p>
        </p:txBody>
      </p:sp>
      <p:sp>
        <p:nvSpPr>
          <p:cNvPr id="38" name="Rectangle 3">
            <a:extLst>
              <a:ext uri="{FF2B5EF4-FFF2-40B4-BE49-F238E27FC236}">
                <a16:creationId xmlns:a16="http://schemas.microsoft.com/office/drawing/2014/main" id="{CDEA8050-F1F9-0E9D-4A0A-9A6F34C6784F}"/>
              </a:ext>
            </a:extLst>
          </p:cNvPr>
          <p:cNvSpPr/>
          <p:nvPr/>
        </p:nvSpPr>
        <p:spPr>
          <a:xfrm>
            <a:off x="6181733" y="2013450"/>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Fragmented intake and ad-hoc prioritization</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lead to misaligned decisions and unmanaged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Formal processes applied only to large initiatives</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leave most work without structure or governance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Inconsistent ways of working across teams</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(PMs, Leads, vendors) increase delivery variability </a:t>
            </a:r>
          </a:p>
          <a:p>
            <a:r>
              <a:rPr lang="en-US" sz="1100" noProof="0">
                <a:solidFill>
                  <a:schemeClr val="tx1"/>
                </a:solidFill>
                <a:latin typeface="Arial" panose="020B0604020202020204" pitchFamily="34" charset="0"/>
                <a:cs typeface="Arial" panose="020B0604020202020204" pitchFamily="34" charset="0"/>
              </a:rPr>
              <a:t> </a:t>
            </a:r>
          </a:p>
          <a:p>
            <a:pPr>
              <a:lnSpc>
                <a:spcPct val="110000"/>
              </a:lnSpc>
            </a:pPr>
            <a:endParaRPr lang="en-US" sz="1100" b="1" noProof="0">
              <a:solidFill>
                <a:schemeClr val="tx1"/>
              </a:solidFill>
              <a:latin typeface="Arial" panose="020B0604020202020204" pitchFamily="34" charset="0"/>
              <a:cs typeface="Arial" panose="020B0604020202020204" pitchFamily="34" charset="0"/>
            </a:endParaRPr>
          </a:p>
        </p:txBody>
      </p:sp>
      <p:sp>
        <p:nvSpPr>
          <p:cNvPr id="33" name="Rectángulo 32">
            <a:extLst>
              <a:ext uri="{FF2B5EF4-FFF2-40B4-BE49-F238E27FC236}">
                <a16:creationId xmlns:a16="http://schemas.microsoft.com/office/drawing/2014/main" id="{D98AC005-B423-6868-F925-BB2533D0B100}"/>
              </a:ext>
            </a:extLst>
          </p:cNvPr>
          <p:cNvSpPr/>
          <p:nvPr/>
        </p:nvSpPr>
        <p:spPr>
          <a:xfrm>
            <a:off x="457201" y="3471924"/>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Digital Products cannot reliably scale delivery or ensure accountability, impacting timelines and quality.</a:t>
            </a:r>
          </a:p>
        </p:txBody>
      </p:sp>
      <p:sp>
        <p:nvSpPr>
          <p:cNvPr id="4" name="Rectangle 3">
            <a:extLst>
              <a:ext uri="{FF2B5EF4-FFF2-40B4-BE49-F238E27FC236}">
                <a16:creationId xmlns:a16="http://schemas.microsoft.com/office/drawing/2014/main" id="{36DC122D-ED0A-411B-99C4-F6F1315B0B14}"/>
              </a:ext>
            </a:extLst>
          </p:cNvPr>
          <p:cNvSpPr/>
          <p:nvPr/>
        </p:nvSpPr>
        <p:spPr>
          <a:xfrm>
            <a:off x="457201" y="2013450"/>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noProof="0">
                <a:solidFill>
                  <a:schemeClr val="tx1"/>
                </a:solidFill>
                <a:latin typeface="Arial" panose="020B0604020202020204" pitchFamily="34" charset="0"/>
                <a:cs typeface="Arial" panose="020B0604020202020204" pitchFamily="34" charset="0"/>
              </a:rPr>
              <a:t>Limited and slow-to-scale capacity</a:t>
            </a:r>
            <a:r>
              <a:rPr lang="en-US" sz="1100" noProof="0">
                <a:solidFill>
                  <a:schemeClr val="tx1"/>
                </a:solidFill>
                <a:latin typeface="Arial" panose="020B0604020202020204" pitchFamily="34" charset="0"/>
                <a:cs typeface="Arial" panose="020B0604020202020204" pitchFamily="34" charset="0"/>
              </a:rPr>
              <a:t> (e.g., ~1 year hiring cycle, open leadership roles) reduces responsiveness to growing demand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chemeClr val="tx1"/>
                </a:solidFill>
                <a:latin typeface="Arial" panose="020B0604020202020204" pitchFamily="34" charset="0"/>
                <a:cs typeface="Arial" panose="020B0604020202020204" pitchFamily="34" charset="0"/>
              </a:rPr>
              <a:t>Unclear ownership and overlapping responsibilities</a:t>
            </a:r>
            <a:r>
              <a:rPr lang="en-US" sz="1100" noProof="0">
                <a:solidFill>
                  <a:schemeClr val="tx1"/>
                </a:solidFill>
                <a:latin typeface="Arial" panose="020B0604020202020204" pitchFamily="34" charset="0"/>
                <a:cs typeface="Arial" panose="020B0604020202020204" pitchFamily="34" charset="0"/>
              </a:rPr>
              <a:t> create execution risk and inefficiencies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chemeClr val="tx1"/>
                </a:solidFill>
                <a:latin typeface="Arial" panose="020B0604020202020204" pitchFamily="34" charset="0"/>
                <a:cs typeface="Arial" panose="020B0604020202020204" pitchFamily="34" charset="0"/>
              </a:rPr>
              <a:t>High vendor dependency</a:t>
            </a:r>
            <a:r>
              <a:rPr lang="en-US" sz="1100" noProof="0">
                <a:solidFill>
                  <a:schemeClr val="tx1"/>
                </a:solidFill>
                <a:latin typeface="Arial" panose="020B0604020202020204" pitchFamily="34" charset="0"/>
                <a:cs typeface="Arial" panose="020B0604020202020204" pitchFamily="34" charset="0"/>
              </a:rPr>
              <a:t> limits control over delivery and increases coordination overhead</a:t>
            </a:r>
            <a:endParaRPr lang="en-US" sz="1100" b="1" noProof="0">
              <a:solidFill>
                <a:schemeClr val="tx1"/>
              </a:solidFill>
              <a:latin typeface="Arial" panose="020B0604020202020204" pitchFamily="34" charset="0"/>
              <a:cs typeface="Arial" panose="020B0604020202020204" pitchFamily="34" charset="0"/>
            </a:endParaRPr>
          </a:p>
        </p:txBody>
      </p:sp>
      <p:sp>
        <p:nvSpPr>
          <p:cNvPr id="37" name="Rectángulo 36">
            <a:extLst>
              <a:ext uri="{FF2B5EF4-FFF2-40B4-BE49-F238E27FC236}">
                <a16:creationId xmlns:a16="http://schemas.microsoft.com/office/drawing/2014/main" id="{8F67C3EC-850A-C6DC-E01D-0C84603E1C5A}"/>
              </a:ext>
            </a:extLst>
          </p:cNvPr>
          <p:cNvSpPr/>
          <p:nvPr/>
        </p:nvSpPr>
        <p:spPr>
          <a:xfrm>
            <a:off x="6182818" y="3471924"/>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Demand is neither consistently evaluated nor executed, reducing predictability and value delivery.</a:t>
            </a:r>
          </a:p>
        </p:txBody>
      </p:sp>
      <p:sp>
        <p:nvSpPr>
          <p:cNvPr id="2" name="Rectangle 3">
            <a:extLst>
              <a:ext uri="{FF2B5EF4-FFF2-40B4-BE49-F238E27FC236}">
                <a16:creationId xmlns:a16="http://schemas.microsoft.com/office/drawing/2014/main" id="{72DAD266-25A8-EA1C-BECD-FC8A65F3487E}"/>
              </a:ext>
            </a:extLst>
          </p:cNvPr>
          <p:cNvSpPr/>
          <p:nvPr/>
        </p:nvSpPr>
        <p:spPr>
          <a:xfrm>
            <a:off x="6181733" y="4444124"/>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Multiple forums without portfolio-level ownership</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dilute accountability and slow decisions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No standardized prioritization criteria</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leads to inconsistent and non-value-based trade-offs, and always accepting all incoming demand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Limited cross-team alignment mechanisms</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(e.g., SAP footprints, Business vs IT) create silos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Decisions always result in acceptance causing interference with real demand planning</a:t>
            </a:r>
          </a:p>
        </p:txBody>
      </p:sp>
      <p:sp>
        <p:nvSpPr>
          <p:cNvPr id="6" name="Rectangle 3">
            <a:extLst>
              <a:ext uri="{FF2B5EF4-FFF2-40B4-BE49-F238E27FC236}">
                <a16:creationId xmlns:a16="http://schemas.microsoft.com/office/drawing/2014/main" id="{BC211EA5-9DAA-DCB1-3F8A-7111E8867CB6}"/>
              </a:ext>
            </a:extLst>
          </p:cNvPr>
          <p:cNvSpPr/>
          <p:nvPr/>
        </p:nvSpPr>
        <p:spPr>
          <a:xfrm>
            <a:off x="457201" y="4444124"/>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noProof="0">
                <a:solidFill>
                  <a:schemeClr val="tx1"/>
                </a:solidFill>
                <a:latin typeface="Arial" panose="020B0604020202020204" pitchFamily="34" charset="0"/>
                <a:cs typeface="Arial" panose="020B0604020202020204" pitchFamily="34" charset="0"/>
              </a:rPr>
              <a:t>Multiple disconnected intake and tracking tools</a:t>
            </a:r>
            <a:r>
              <a:rPr lang="en-US" sz="1100" noProof="0">
                <a:solidFill>
                  <a:schemeClr val="tx1"/>
                </a:solidFill>
                <a:latin typeface="Arial" panose="020B0604020202020204" pitchFamily="34" charset="0"/>
                <a:cs typeface="Arial" panose="020B0604020202020204" pitchFamily="34" charset="0"/>
              </a:rPr>
              <a:t> prevent end-to-end visibility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chemeClr val="tx1"/>
                </a:solidFill>
                <a:latin typeface="Arial" panose="020B0604020202020204" pitchFamily="34" charset="0"/>
                <a:cs typeface="Arial" panose="020B0604020202020204" pitchFamily="34" charset="0"/>
              </a:rPr>
              <a:t>Lack of portfolio management capabilities</a:t>
            </a:r>
            <a:r>
              <a:rPr lang="en-US" sz="1100" noProof="0">
                <a:solidFill>
                  <a:schemeClr val="tx1"/>
                </a:solidFill>
                <a:latin typeface="Arial" panose="020B0604020202020204" pitchFamily="34" charset="0"/>
                <a:cs typeface="Arial" panose="020B0604020202020204" pitchFamily="34" charset="0"/>
              </a:rPr>
              <a:t> across most units limits strategic oversight </a:t>
            </a:r>
          </a:p>
          <a:p>
            <a:r>
              <a:rPr lang="en-US" sz="1100" b="1" noProof="0">
                <a:solidFill>
                  <a:schemeClr val="tx1"/>
                </a:solidFill>
                <a:latin typeface="Arial" panose="020B0604020202020204" pitchFamily="34" charset="0"/>
                <a:cs typeface="Arial" panose="020B0604020202020204" pitchFamily="34" charset="0"/>
              </a:rPr>
              <a:t>Inconsistent and informal tool usage</a:t>
            </a:r>
            <a:r>
              <a:rPr lang="en-US" sz="1100" noProof="0">
                <a:solidFill>
                  <a:schemeClr val="tx1"/>
                </a:solidFill>
                <a:latin typeface="Arial" panose="020B0604020202020204" pitchFamily="34" charset="0"/>
                <a:cs typeface="Arial" panose="020B0604020202020204" pitchFamily="34" charset="0"/>
              </a:rPr>
              <a:t> (e.g., spreadsheets, local tools) fragments information </a:t>
            </a:r>
          </a:p>
          <a:p>
            <a:endParaRPr lang="en-US" sz="1100" noProof="0">
              <a:solidFill>
                <a:schemeClr val="tx1"/>
              </a:solidFill>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91C4F7-348F-AE3C-142E-BC4E491B1821}"/>
              </a:ext>
            </a:extLst>
          </p:cNvPr>
          <p:cNvSpPr/>
          <p:nvPr/>
        </p:nvSpPr>
        <p:spPr>
          <a:xfrm>
            <a:off x="457201" y="5854991"/>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Leadership lacks real-time transparency to manage demand, capacity, and performance effectively.</a:t>
            </a:r>
          </a:p>
        </p:txBody>
      </p:sp>
      <p:sp>
        <p:nvSpPr>
          <p:cNvPr id="9" name="Rectángulo 8">
            <a:extLst>
              <a:ext uri="{FF2B5EF4-FFF2-40B4-BE49-F238E27FC236}">
                <a16:creationId xmlns:a16="http://schemas.microsoft.com/office/drawing/2014/main" id="{15B5934E-26AD-BDC3-4A21-22199C482EA5}"/>
              </a:ext>
            </a:extLst>
          </p:cNvPr>
          <p:cNvSpPr/>
          <p:nvPr/>
        </p:nvSpPr>
        <p:spPr>
          <a:xfrm>
            <a:off x="6182818" y="5854991"/>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Decisions are reactive and uncoordinated, limiting alignment with strategic priorities.</a:t>
            </a:r>
          </a:p>
        </p:txBody>
      </p:sp>
      <p:pic>
        <p:nvPicPr>
          <p:cNvPr id="18" name="Gráfico 17" descr="Advertencia con relleno sólido">
            <a:extLst>
              <a:ext uri="{FF2B5EF4-FFF2-40B4-BE49-F238E27FC236}">
                <a16:creationId xmlns:a16="http://schemas.microsoft.com/office/drawing/2014/main" id="{ED2FC5FB-0B67-6C0D-7784-05E7B3DD19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7480" y="3514681"/>
            <a:ext cx="374483" cy="375070"/>
          </a:xfrm>
          <a:prstGeom prst="rect">
            <a:avLst/>
          </a:prstGeom>
        </p:spPr>
      </p:pic>
      <p:pic>
        <p:nvPicPr>
          <p:cNvPr id="25" name="Gráfico 24" descr="Advertencia con relleno sólido">
            <a:extLst>
              <a:ext uri="{FF2B5EF4-FFF2-40B4-BE49-F238E27FC236}">
                <a16:creationId xmlns:a16="http://schemas.microsoft.com/office/drawing/2014/main" id="{DE071F1F-B5A5-A3A5-29D3-9F51CB1D4B5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96678" y="3514681"/>
            <a:ext cx="374483" cy="375070"/>
          </a:xfrm>
          <a:prstGeom prst="rect">
            <a:avLst/>
          </a:prstGeom>
        </p:spPr>
      </p:pic>
      <p:pic>
        <p:nvPicPr>
          <p:cNvPr id="26" name="Gráfico 25" descr="Advertencia con relleno sólido">
            <a:extLst>
              <a:ext uri="{FF2B5EF4-FFF2-40B4-BE49-F238E27FC236}">
                <a16:creationId xmlns:a16="http://schemas.microsoft.com/office/drawing/2014/main" id="{4A48AEB9-D73E-08B0-20FA-F55BE25E84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7480" y="5922200"/>
            <a:ext cx="374483" cy="375070"/>
          </a:xfrm>
          <a:prstGeom prst="rect">
            <a:avLst/>
          </a:prstGeom>
        </p:spPr>
      </p:pic>
      <p:pic>
        <p:nvPicPr>
          <p:cNvPr id="27" name="Gráfico 26" descr="Advertencia con relleno sólido">
            <a:extLst>
              <a:ext uri="{FF2B5EF4-FFF2-40B4-BE49-F238E27FC236}">
                <a16:creationId xmlns:a16="http://schemas.microsoft.com/office/drawing/2014/main" id="{C1EC202B-0F38-8566-0E19-6A2510B47F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96678" y="5922200"/>
            <a:ext cx="374483" cy="375070"/>
          </a:xfrm>
          <a:prstGeom prst="rect">
            <a:avLst/>
          </a:prstGeom>
        </p:spPr>
      </p:pic>
      <p:sp>
        <p:nvSpPr>
          <p:cNvPr id="46" name="CuadroTexto 45">
            <a:extLst>
              <a:ext uri="{FF2B5EF4-FFF2-40B4-BE49-F238E27FC236}">
                <a16:creationId xmlns:a16="http://schemas.microsoft.com/office/drawing/2014/main" id="{E5F475AE-399E-D2B9-4A4B-A9E56D9FE012}"/>
              </a:ext>
            </a:extLst>
          </p:cNvPr>
          <p:cNvSpPr txBox="1"/>
          <p:nvPr/>
        </p:nvSpPr>
        <p:spPr>
          <a:xfrm>
            <a:off x="457201" y="1657862"/>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PEOPLE — Capacity &amp; accountability are structurally constrained</a:t>
            </a:r>
          </a:p>
        </p:txBody>
      </p:sp>
      <p:sp>
        <p:nvSpPr>
          <p:cNvPr id="47" name="CuadroTexto 46">
            <a:extLst>
              <a:ext uri="{FF2B5EF4-FFF2-40B4-BE49-F238E27FC236}">
                <a16:creationId xmlns:a16="http://schemas.microsoft.com/office/drawing/2014/main" id="{6B814D15-6602-17E7-AD1D-D2EE548DCD2E}"/>
              </a:ext>
            </a:extLst>
          </p:cNvPr>
          <p:cNvSpPr txBox="1"/>
          <p:nvPr/>
        </p:nvSpPr>
        <p:spPr>
          <a:xfrm>
            <a:off x="6182818" y="1657862"/>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PROCESS — Lack of standardization drives inconsistency and inefficiency</a:t>
            </a:r>
          </a:p>
        </p:txBody>
      </p:sp>
      <p:sp>
        <p:nvSpPr>
          <p:cNvPr id="48" name="CuadroTexto 47">
            <a:extLst>
              <a:ext uri="{FF2B5EF4-FFF2-40B4-BE49-F238E27FC236}">
                <a16:creationId xmlns:a16="http://schemas.microsoft.com/office/drawing/2014/main" id="{62958742-7118-4BDE-B709-86001CB6EC31}"/>
              </a:ext>
            </a:extLst>
          </p:cNvPr>
          <p:cNvSpPr txBox="1"/>
          <p:nvPr/>
        </p:nvSpPr>
        <p:spPr>
          <a:xfrm>
            <a:off x="457201" y="4045728"/>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TOOLS — Fragmented ecosystem limits visibility and control</a:t>
            </a:r>
          </a:p>
        </p:txBody>
      </p:sp>
      <p:sp>
        <p:nvSpPr>
          <p:cNvPr id="49" name="CuadroTexto 48">
            <a:extLst>
              <a:ext uri="{FF2B5EF4-FFF2-40B4-BE49-F238E27FC236}">
                <a16:creationId xmlns:a16="http://schemas.microsoft.com/office/drawing/2014/main" id="{EA557239-19D6-E852-8EE9-919351D0D869}"/>
              </a:ext>
            </a:extLst>
          </p:cNvPr>
          <p:cNvSpPr txBox="1"/>
          <p:nvPr/>
        </p:nvSpPr>
        <p:spPr>
          <a:xfrm>
            <a:off x="6182818" y="4045728"/>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GOVERNANCE — Decision-making is fragmented and not value-driven</a:t>
            </a:r>
          </a:p>
        </p:txBody>
      </p:sp>
      <p:sp>
        <p:nvSpPr>
          <p:cNvPr id="13" name="TextBox 2">
            <a:extLst>
              <a:ext uri="{FF2B5EF4-FFF2-40B4-BE49-F238E27FC236}">
                <a16:creationId xmlns:a16="http://schemas.microsoft.com/office/drawing/2014/main" id="{E113A951-C063-99DC-E221-8811C61C0D6E}"/>
              </a:ext>
            </a:extLst>
          </p:cNvPr>
          <p:cNvSpPr txBox="1"/>
          <p:nvPr/>
        </p:nvSpPr>
        <p:spPr>
          <a:xfrm>
            <a:off x="457201" y="964799"/>
            <a:ext cx="11329612" cy="302282"/>
          </a:xfrm>
          <a:prstGeom prst="rect">
            <a:avLst/>
          </a:prstGeom>
          <a:noFill/>
        </p:spPr>
        <p:txBody>
          <a:bodyPr wrap="square" lIns="0" tIns="0" rIns="0" bIns="0" rtlCol="0" anchor="t">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endParaRPr lang="en-US"/>
          </a:p>
        </p:txBody>
      </p:sp>
      <p:sp>
        <p:nvSpPr>
          <p:cNvPr id="16" name="CuadroTexto 204">
            <a:extLst>
              <a:ext uri="{FF2B5EF4-FFF2-40B4-BE49-F238E27FC236}">
                <a16:creationId xmlns:a16="http://schemas.microsoft.com/office/drawing/2014/main" id="{A70856DA-7BDC-EF06-03A9-758747548111}"/>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The current operating model is constrained by fragmented ownership, inconsistent processes, and limited visibility across demand, delivery, and outcomes. These structural gaps prevent scalable execution and hinder the shift toward a value-driven, product-centric model.</a:t>
            </a:r>
          </a:p>
        </p:txBody>
      </p:sp>
    </p:spTree>
    <p:extLst>
      <p:ext uri="{BB962C8B-B14F-4D97-AF65-F5344CB8AC3E}">
        <p14:creationId xmlns:p14="http://schemas.microsoft.com/office/powerpoint/2010/main" val="17586002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E0E2-F6DB-5C2F-15A7-243D0E3DA812}"/>
            </a:ext>
          </a:extLst>
        </p:cNvPr>
        <p:cNvGrpSpPr/>
        <p:nvPr/>
      </p:nvGrpSpPr>
      <p:grpSpPr>
        <a:xfrm>
          <a:off x="0" y="0"/>
          <a:ext cx="0" cy="0"/>
          <a:chOff x="0" y="0"/>
          <a:chExt cx="0" cy="0"/>
        </a:xfrm>
      </p:grpSpPr>
      <p:sp>
        <p:nvSpPr>
          <p:cNvPr id="57" name="Título 2">
            <a:extLst>
              <a:ext uri="{FF2B5EF4-FFF2-40B4-BE49-F238E27FC236}">
                <a16:creationId xmlns:a16="http://schemas.microsoft.com/office/drawing/2014/main" id="{10E3B1F5-5AA0-EF53-7421-81AC8D291917}"/>
              </a:ext>
            </a:extLst>
          </p:cNvPr>
          <p:cNvSpPr txBox="1">
            <a:spLocks/>
          </p:cNvSpPr>
          <p:nvPr/>
        </p:nvSpPr>
        <p:spPr>
          <a:xfrm>
            <a:off x="180917" y="127319"/>
            <a:ext cx="87821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DELIVERY &amp; EXPERIENCE PAIN POINTS (1/2)</a:t>
            </a:r>
          </a:p>
        </p:txBody>
      </p:sp>
      <p:grpSp>
        <p:nvGrpSpPr>
          <p:cNvPr id="7" name="Group 6">
            <a:extLst>
              <a:ext uri="{FF2B5EF4-FFF2-40B4-BE49-F238E27FC236}">
                <a16:creationId xmlns:a16="http://schemas.microsoft.com/office/drawing/2014/main" id="{11BD0F92-31D8-FAF7-012F-80C74BE8E014}"/>
              </a:ext>
            </a:extLst>
          </p:cNvPr>
          <p:cNvGrpSpPr/>
          <p:nvPr/>
        </p:nvGrpSpPr>
        <p:grpSpPr>
          <a:xfrm>
            <a:off x="457201" y="1358716"/>
            <a:ext cx="11329612" cy="4736591"/>
            <a:chOff x="246505" y="1316184"/>
            <a:chExt cx="11727374" cy="4736591"/>
          </a:xfrm>
        </p:grpSpPr>
        <p:sp>
          <p:nvSpPr>
            <p:cNvPr id="33" name="Rectangle 32">
              <a:extLst>
                <a:ext uri="{FF2B5EF4-FFF2-40B4-BE49-F238E27FC236}">
                  <a16:creationId xmlns:a16="http://schemas.microsoft.com/office/drawing/2014/main" id="{97B97FF8-A418-FA24-C04A-43DAC08ED000}"/>
                </a:ext>
              </a:extLst>
            </p:cNvPr>
            <p:cNvSpPr/>
            <p:nvPr/>
          </p:nvSpPr>
          <p:spPr>
            <a:xfrm>
              <a:off x="6098666"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07D6771-0360-97EB-3545-CFD3AA9D5113}"/>
                </a:ext>
              </a:extLst>
            </p:cNvPr>
            <p:cNvSpPr/>
            <p:nvPr/>
          </p:nvSpPr>
          <p:spPr>
            <a:xfrm>
              <a:off x="246507"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2FE31492-980F-578F-84F8-BFA9A62F19E1}"/>
                </a:ext>
              </a:extLst>
            </p:cNvPr>
            <p:cNvSpPr/>
            <p:nvPr/>
          </p:nvSpPr>
          <p:spPr>
            <a:xfrm>
              <a:off x="6098666"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534D02C8-0E93-163E-29E0-E073115A2BF9}"/>
                </a:ext>
              </a:extLst>
            </p:cNvPr>
            <p:cNvSpPr/>
            <p:nvPr/>
          </p:nvSpPr>
          <p:spPr>
            <a:xfrm>
              <a:off x="246505" y="3123275"/>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E6305B0E-049E-FCB2-FB5F-71C5D8B91E9A}"/>
                </a:ext>
              </a:extLst>
            </p:cNvPr>
            <p:cNvSpPr/>
            <p:nvPr/>
          </p:nvSpPr>
          <p:spPr>
            <a:xfrm>
              <a:off x="6098665" y="3115596"/>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C05150D-1D24-1557-F1CE-25C264404134}"/>
                </a:ext>
              </a:extLst>
            </p:cNvPr>
            <p:cNvSpPr/>
            <p:nvPr/>
          </p:nvSpPr>
          <p:spPr>
            <a:xfrm>
              <a:off x="6121472" y="5364348"/>
              <a:ext cx="571030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E7B8579E-41D5-FB8A-EEC3-CD4C9E12E76C}"/>
                </a:ext>
              </a:extLst>
            </p:cNvPr>
            <p:cNvSpPr/>
            <p:nvPr/>
          </p:nvSpPr>
          <p:spPr>
            <a:xfrm>
              <a:off x="246507"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C223EA3-4EDC-FD43-25AB-1F4C573E4888}"/>
                </a:ext>
              </a:extLst>
            </p:cNvPr>
            <p:cNvSpPr/>
            <p:nvPr/>
          </p:nvSpPr>
          <p:spPr>
            <a:xfrm>
              <a:off x="246505" y="5364348"/>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9A62757A-2EFE-943C-5EE3-F99B046DF99A}"/>
                </a:ext>
              </a:extLst>
            </p:cNvPr>
            <p:cNvSpPr/>
            <p:nvPr/>
          </p:nvSpPr>
          <p:spPr>
            <a:xfrm>
              <a:off x="246507" y="1316184"/>
              <a:ext cx="11585446" cy="2743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Arial" panose="020B0604020202020204" pitchFamily="34" charset="0"/>
                  <a:cs typeface="Arial" panose="020B0604020202020204" pitchFamily="34" charset="0"/>
                </a:rPr>
                <a:t>BUSINESS APPLICATIONS</a:t>
              </a:r>
            </a:p>
          </p:txBody>
        </p:sp>
        <p:sp>
          <p:nvSpPr>
            <p:cNvPr id="9" name="TextBox 8">
              <a:extLst>
                <a:ext uri="{FF2B5EF4-FFF2-40B4-BE49-F238E27FC236}">
                  <a16:creationId xmlns:a16="http://schemas.microsoft.com/office/drawing/2014/main" id="{4FF5E675-301F-0699-AFF9-887C905345F8}"/>
                </a:ext>
              </a:extLst>
            </p:cNvPr>
            <p:cNvSpPr txBox="1"/>
            <p:nvPr/>
          </p:nvSpPr>
          <p:spPr>
            <a:xfrm>
              <a:off x="931547" y="1799038"/>
              <a:ext cx="186917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latin typeface="Arial" panose="020B0604020202020204" pitchFamily="34" charset="0"/>
                  <a:cs typeface="Arial" panose="020B0604020202020204" pitchFamily="34" charset="0"/>
                </a:rPr>
                <a:t>STAGE: Intake - Delivery</a:t>
              </a:r>
            </a:p>
          </p:txBody>
        </p:sp>
        <p:sp>
          <p:nvSpPr>
            <p:cNvPr id="10" name="TextBox 9">
              <a:extLst>
                <a:ext uri="{FF2B5EF4-FFF2-40B4-BE49-F238E27FC236}">
                  <a16:creationId xmlns:a16="http://schemas.microsoft.com/office/drawing/2014/main" id="{048095DD-4E6C-6119-1857-0F8735FFD9E2}"/>
                </a:ext>
              </a:extLst>
            </p:cNvPr>
            <p:cNvSpPr txBox="1"/>
            <p:nvPr/>
          </p:nvSpPr>
          <p:spPr>
            <a:xfrm>
              <a:off x="929007" y="1955748"/>
              <a:ext cx="1944005" cy="390556"/>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App-Owner Mindset, Not Product Mindset  </a:t>
              </a:r>
            </a:p>
          </p:txBody>
        </p:sp>
        <p:sp>
          <p:nvSpPr>
            <p:cNvPr id="11" name="TextBox 10">
              <a:extLst>
                <a:ext uri="{FF2B5EF4-FFF2-40B4-BE49-F238E27FC236}">
                  <a16:creationId xmlns:a16="http://schemas.microsoft.com/office/drawing/2014/main" id="{2FBF07AB-BA1F-88E7-D9B3-3B7985146E65}"/>
                </a:ext>
              </a:extLst>
            </p:cNvPr>
            <p:cNvSpPr txBox="1"/>
            <p:nvPr/>
          </p:nvSpPr>
          <p:spPr>
            <a:xfrm>
              <a:off x="502538" y="2445142"/>
              <a:ext cx="5390004" cy="519438"/>
            </a:xfrm>
            <a:prstGeom prst="rect">
              <a:avLst/>
            </a:prstGeom>
            <a:noFill/>
          </p:spPr>
          <p:txBody>
            <a:bodyPr wrap="square" lIns="0" tIns="0" rIns="0" bIns="0" anchor="t">
              <a:spAutoFit/>
            </a:bodyPr>
            <a:lstStyle/>
            <a:p>
              <a:pPr algn="l">
                <a:lnSpc>
                  <a:spcPct val="110000"/>
                </a:lnSpc>
                <a:spcBef>
                  <a:spcPts val="0"/>
                </a:spcBef>
                <a:spcAft>
                  <a:spcPts val="0"/>
                </a:spcAft>
              </a:pPr>
              <a:r>
                <a:rPr lang="en-US" sz="1050" b="0" i="0" noProof="0">
                  <a:solidFill>
                    <a:srgbClr val="2C3E50"/>
                  </a:solidFill>
                  <a:latin typeface="Arial" panose="020B0604020202020204" pitchFamily="34" charset="0"/>
                  <a:cs typeface="Arial" panose="020B0604020202020204" pitchFamily="34" charset="0"/>
                </a:rPr>
                <a:t>Across both branches, demand is owned at the application level — not by Product Managers/ POs accountable for end-to-end business outcomes. Each team optimizes its own application; no one owns the joint customer journey or value-stream result.</a:t>
              </a:r>
            </a:p>
          </p:txBody>
        </p:sp>
        <p:sp>
          <p:nvSpPr>
            <p:cNvPr id="12" name="TextBox 11">
              <a:extLst>
                <a:ext uri="{FF2B5EF4-FFF2-40B4-BE49-F238E27FC236}">
                  <a16:creationId xmlns:a16="http://schemas.microsoft.com/office/drawing/2014/main" id="{603971E5-F690-E26E-522A-90DFC461E490}"/>
                </a:ext>
              </a:extLst>
            </p:cNvPr>
            <p:cNvSpPr txBox="1"/>
            <p:nvPr/>
          </p:nvSpPr>
          <p:spPr>
            <a:xfrm>
              <a:off x="863838" y="3200928"/>
              <a:ext cx="485749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13" name="TextBox 12">
              <a:extLst>
                <a:ext uri="{FF2B5EF4-FFF2-40B4-BE49-F238E27FC236}">
                  <a16:creationId xmlns:a16="http://schemas.microsoft.com/office/drawing/2014/main" id="{6AC2B681-CEDD-2A5A-D801-6FD08F4F30F6}"/>
                </a:ext>
              </a:extLst>
            </p:cNvPr>
            <p:cNvSpPr txBox="1"/>
            <p:nvPr/>
          </p:nvSpPr>
          <p:spPr>
            <a:xfrm>
              <a:off x="863838" y="3365520"/>
              <a:ext cx="4857494" cy="357983"/>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noProof="0">
                  <a:solidFill>
                    <a:schemeClr val="bg1"/>
                  </a:solidFill>
                  <a:latin typeface="Arial" panose="020B0604020202020204" pitchFamily="34" charset="0"/>
                  <a:cs typeface="Arial" panose="020B0604020202020204" pitchFamily="34" charset="0"/>
                </a:rPr>
                <a:t>Prevents structured demand management and limits the ability to prioritize and manage work at the product level.</a:t>
              </a:r>
            </a:p>
          </p:txBody>
        </p:sp>
        <p:sp>
          <p:nvSpPr>
            <p:cNvPr id="14" name="TextBox 13">
              <a:extLst>
                <a:ext uri="{FF2B5EF4-FFF2-40B4-BE49-F238E27FC236}">
                  <a16:creationId xmlns:a16="http://schemas.microsoft.com/office/drawing/2014/main" id="{8C2F4710-A427-FC93-C10A-6B056714D9A9}"/>
                </a:ext>
              </a:extLst>
            </p:cNvPr>
            <p:cNvSpPr txBox="1"/>
            <p:nvPr/>
          </p:nvSpPr>
          <p:spPr>
            <a:xfrm>
              <a:off x="3615370" y="1722097"/>
              <a:ext cx="2218186" cy="445186"/>
            </a:xfrm>
            <a:prstGeom prst="rect">
              <a:avLst/>
            </a:prstGeom>
            <a:noFill/>
          </p:spPr>
          <p:txBody>
            <a:bodyPr wrap="square" lIns="0" tIns="0" rIns="0" bIns="0" anchor="t">
              <a:spAutoFit/>
            </a:bodyPr>
            <a:lstStyle/>
            <a:p>
              <a:pPr>
                <a:lnSpc>
                  <a:spcPct val="110000"/>
                </a:lnSpc>
              </a:pPr>
              <a:r>
                <a:rPr lang="en-US" sz="900" b="0" i="1" noProof="0">
                  <a:solidFill>
                    <a:srgbClr val="2C578B"/>
                  </a:solidFill>
                  <a:latin typeface="Arial" panose="020B0604020202020204" pitchFamily="34" charset="0"/>
                  <a:cs typeface="Arial" panose="020B0604020202020204" pitchFamily="34" charset="0"/>
                </a:rPr>
                <a:t> ” We need to have standardization — processes, demand intake and report.</a:t>
              </a:r>
            </a:p>
            <a:p>
              <a:pPr>
                <a:lnSpc>
                  <a:spcPct val="110000"/>
                </a:lnSpc>
              </a:pPr>
              <a:r>
                <a:rPr lang="en-US" sz="900" b="0" i="1" noProof="0">
                  <a:solidFill>
                    <a:srgbClr val="2C578B"/>
                  </a:solidFill>
                  <a:latin typeface="Arial" panose="020B0604020202020204" pitchFamily="34" charset="0"/>
                  <a:cs typeface="Arial" panose="020B0604020202020204" pitchFamily="34" charset="0"/>
                </a:rPr>
                <a:t>" — Carlos Garbin</a:t>
              </a:r>
            </a:p>
          </p:txBody>
        </p:sp>
        <p:sp>
          <p:nvSpPr>
            <p:cNvPr id="18" name="TextBox 17">
              <a:extLst>
                <a:ext uri="{FF2B5EF4-FFF2-40B4-BE49-F238E27FC236}">
                  <a16:creationId xmlns:a16="http://schemas.microsoft.com/office/drawing/2014/main" id="{23A019D6-E9EB-8376-85B1-DE31CB936E8A}"/>
                </a:ext>
              </a:extLst>
            </p:cNvPr>
            <p:cNvSpPr txBox="1"/>
            <p:nvPr/>
          </p:nvSpPr>
          <p:spPr>
            <a:xfrm>
              <a:off x="6761606" y="1818432"/>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Prioritization</a:t>
              </a:r>
            </a:p>
          </p:txBody>
        </p:sp>
        <p:sp>
          <p:nvSpPr>
            <p:cNvPr id="19" name="TextBox 18">
              <a:extLst>
                <a:ext uri="{FF2B5EF4-FFF2-40B4-BE49-F238E27FC236}">
                  <a16:creationId xmlns:a16="http://schemas.microsoft.com/office/drawing/2014/main" id="{F6CC8487-4C76-F849-6107-428489405CC1}"/>
                </a:ext>
              </a:extLst>
            </p:cNvPr>
            <p:cNvSpPr txBox="1"/>
            <p:nvPr/>
          </p:nvSpPr>
          <p:spPr>
            <a:xfrm>
              <a:off x="6761606" y="2009955"/>
              <a:ext cx="4407407"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Global SAP Incident Flood</a:t>
              </a:r>
            </a:p>
          </p:txBody>
        </p:sp>
        <p:sp>
          <p:nvSpPr>
            <p:cNvPr id="20" name="TextBox 19">
              <a:extLst>
                <a:ext uri="{FF2B5EF4-FFF2-40B4-BE49-F238E27FC236}">
                  <a16:creationId xmlns:a16="http://schemas.microsoft.com/office/drawing/2014/main" id="{3835348F-6A59-C067-705F-9C86BE6C458D}"/>
                </a:ext>
              </a:extLst>
            </p:cNvPr>
            <p:cNvSpPr txBox="1"/>
            <p:nvPr/>
          </p:nvSpPr>
          <p:spPr>
            <a:xfrm>
              <a:off x="6354699" y="2376888"/>
              <a:ext cx="5230368" cy="519438"/>
            </a:xfrm>
            <a:prstGeom prst="rect">
              <a:avLst/>
            </a:prstGeom>
            <a:noFill/>
          </p:spPr>
          <p:txBody>
            <a:bodyPr wrap="square" lIns="0" tIns="0" rIns="0" bIns="0" anchor="t">
              <a:spAutoFit/>
            </a:bodyPr>
            <a:lstStyle/>
            <a:p>
              <a:pPr algn="l">
                <a:lnSpc>
                  <a:spcPct val="110000"/>
                </a:lnSpc>
                <a:spcBef>
                  <a:spcPts val="0"/>
                </a:spcBef>
                <a:spcAft>
                  <a:spcPts val="0"/>
                </a:spcAft>
              </a:pPr>
              <a:r>
                <a:rPr lang="en-US" sz="1050" b="0" i="0" noProof="0">
                  <a:solidFill>
                    <a:srgbClr val="2C3E50"/>
                  </a:solidFill>
                  <a:latin typeface="Arial" panose="020B0604020202020204" pitchFamily="34" charset="0"/>
                  <a:cs typeface="Arial" panose="020B0604020202020204" pitchFamily="34" charset="0"/>
                </a:rPr>
                <a:t>Incident demand consistently takes precedence over all other work, consuming a significant portion of team capacity and displacing planned initiatives. This creates a reactive delivery environment.</a:t>
              </a:r>
            </a:p>
          </p:txBody>
        </p:sp>
        <p:sp>
          <p:nvSpPr>
            <p:cNvPr id="21" name="TextBox 20">
              <a:extLst>
                <a:ext uri="{FF2B5EF4-FFF2-40B4-BE49-F238E27FC236}">
                  <a16:creationId xmlns:a16="http://schemas.microsoft.com/office/drawing/2014/main" id="{E2AA9D7D-D624-46FC-689C-718F16CA4803}"/>
                </a:ext>
              </a:extLst>
            </p:cNvPr>
            <p:cNvSpPr txBox="1"/>
            <p:nvPr/>
          </p:nvSpPr>
          <p:spPr>
            <a:xfrm>
              <a:off x="6726424" y="3200928"/>
              <a:ext cx="493564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22" name="TextBox 21">
              <a:extLst>
                <a:ext uri="{FF2B5EF4-FFF2-40B4-BE49-F238E27FC236}">
                  <a16:creationId xmlns:a16="http://schemas.microsoft.com/office/drawing/2014/main" id="{85B266E3-608B-0FD7-501D-22280877FD29}"/>
                </a:ext>
              </a:extLst>
            </p:cNvPr>
            <p:cNvSpPr txBox="1"/>
            <p:nvPr/>
          </p:nvSpPr>
          <p:spPr>
            <a:xfrm>
              <a:off x="6726424" y="3365520"/>
              <a:ext cx="4935644" cy="357983"/>
            </a:xfrm>
            <a:prstGeom prst="rect">
              <a:avLst/>
            </a:prstGeom>
            <a:noFill/>
          </p:spPr>
          <p:txBody>
            <a:bodyPr wrap="square" lIns="0" tIns="0" rIns="0" bIns="0" anchor="t">
              <a:spAutoFit/>
            </a:bodyPr>
            <a:lstStyle/>
            <a:p>
              <a:pPr>
                <a:lnSpc>
                  <a:spcPct val="110000"/>
                </a:lnSpc>
              </a:pPr>
              <a:r>
                <a:rPr lang="en-US" sz="1100" b="1" noProof="0">
                  <a:solidFill>
                    <a:schemeClr val="bg1"/>
                  </a:solidFill>
                  <a:latin typeface="Arial" panose="020B0604020202020204" pitchFamily="34" charset="0"/>
                  <a:cs typeface="Arial" panose="020B0604020202020204" pitchFamily="34" charset="0"/>
                </a:rPr>
                <a:t>Disrupts value-based prioritization and prevents capacity from being aligned to strategic product outcomes.</a:t>
              </a:r>
            </a:p>
          </p:txBody>
        </p:sp>
        <p:sp>
          <p:nvSpPr>
            <p:cNvPr id="23" name="TextBox 22">
              <a:extLst>
                <a:ext uri="{FF2B5EF4-FFF2-40B4-BE49-F238E27FC236}">
                  <a16:creationId xmlns:a16="http://schemas.microsoft.com/office/drawing/2014/main" id="{818A5115-4BD2-E622-3CC1-A60DEEF9929E}"/>
                </a:ext>
              </a:extLst>
            </p:cNvPr>
            <p:cNvSpPr txBox="1"/>
            <p:nvPr/>
          </p:nvSpPr>
          <p:spPr>
            <a:xfrm>
              <a:off x="9755693" y="1794753"/>
              <a:ext cx="2218186"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"Sometimes entire team is focusing on incidents" — Michael Dubois</a:t>
              </a:r>
            </a:p>
          </p:txBody>
        </p:sp>
        <p:sp>
          <p:nvSpPr>
            <p:cNvPr id="27" name="TextBox 26">
              <a:extLst>
                <a:ext uri="{FF2B5EF4-FFF2-40B4-BE49-F238E27FC236}">
                  <a16:creationId xmlns:a16="http://schemas.microsoft.com/office/drawing/2014/main" id="{444F93DB-BA1C-D471-53AD-3E2D89C78BBB}"/>
                </a:ext>
              </a:extLst>
            </p:cNvPr>
            <p:cNvSpPr txBox="1"/>
            <p:nvPr/>
          </p:nvSpPr>
          <p:spPr>
            <a:xfrm>
              <a:off x="936879" y="4011697"/>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STAGES: Intake + Portfolio</a:t>
              </a:r>
            </a:p>
          </p:txBody>
        </p:sp>
        <p:sp>
          <p:nvSpPr>
            <p:cNvPr id="28" name="TextBox 27">
              <a:extLst>
                <a:ext uri="{FF2B5EF4-FFF2-40B4-BE49-F238E27FC236}">
                  <a16:creationId xmlns:a16="http://schemas.microsoft.com/office/drawing/2014/main" id="{4B68D178-E1C1-E689-89AC-CF34B48E1D8E}"/>
                </a:ext>
              </a:extLst>
            </p:cNvPr>
            <p:cNvSpPr txBox="1"/>
            <p:nvPr/>
          </p:nvSpPr>
          <p:spPr>
            <a:xfrm>
              <a:off x="936879" y="4256949"/>
              <a:ext cx="4407407"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GIS Informal PM Stack</a:t>
              </a:r>
            </a:p>
          </p:txBody>
        </p:sp>
        <p:sp>
          <p:nvSpPr>
            <p:cNvPr id="29" name="TextBox 28">
              <a:extLst>
                <a:ext uri="{FF2B5EF4-FFF2-40B4-BE49-F238E27FC236}">
                  <a16:creationId xmlns:a16="http://schemas.microsoft.com/office/drawing/2014/main" id="{85C9B23A-71E2-2BF5-C3D9-0163C637EC6E}"/>
                </a:ext>
              </a:extLst>
            </p:cNvPr>
            <p:cNvSpPr txBox="1"/>
            <p:nvPr/>
          </p:nvSpPr>
          <p:spPr>
            <a:xfrm>
              <a:off x="502539" y="4617168"/>
              <a:ext cx="5230368" cy="341697"/>
            </a:xfrm>
            <a:prstGeom prst="rect">
              <a:avLst/>
            </a:prstGeom>
            <a:noFill/>
          </p:spPr>
          <p:txBody>
            <a:bodyPr wrap="square" lIns="0" tIns="0" rIns="0" bIns="0" anchor="t">
              <a:spAutoFit/>
            </a:bodyPr>
            <a:lstStyle/>
            <a:p>
              <a:pPr algn="l">
                <a:lnSpc>
                  <a:spcPct val="110000"/>
                </a:lnSpc>
                <a:spcBef>
                  <a:spcPts val="0"/>
                </a:spcBef>
                <a:spcAft>
                  <a:spcPts val="0"/>
                </a:spcAft>
              </a:pPr>
              <a:r>
                <a:rPr lang="en-US" sz="1050" b="0" i="0" noProof="0">
                  <a:solidFill>
                    <a:srgbClr val="2C3E50"/>
                  </a:solidFill>
                  <a:latin typeface="Arial" panose="020B0604020202020204" pitchFamily="34" charset="0"/>
                  <a:cs typeface="Arial" panose="020B0604020202020204" pitchFamily="34" charset="0"/>
                </a:rPr>
                <a:t>Delivery is managed through a mix of informal tools and processes, with limited portfolio visibility outside of large initiatives. A significant portion of work remains untracked</a:t>
              </a:r>
            </a:p>
          </p:txBody>
        </p:sp>
        <p:sp>
          <p:nvSpPr>
            <p:cNvPr id="30" name="TextBox 29">
              <a:extLst>
                <a:ext uri="{FF2B5EF4-FFF2-40B4-BE49-F238E27FC236}">
                  <a16:creationId xmlns:a16="http://schemas.microsoft.com/office/drawing/2014/main" id="{8FAC6CF0-AB8E-C14A-5C59-00FC992225D2}"/>
                </a:ext>
              </a:extLst>
            </p:cNvPr>
            <p:cNvSpPr txBox="1"/>
            <p:nvPr/>
          </p:nvSpPr>
          <p:spPr>
            <a:xfrm>
              <a:off x="877443" y="5466543"/>
              <a:ext cx="4855463"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31" name="TextBox 30">
              <a:extLst>
                <a:ext uri="{FF2B5EF4-FFF2-40B4-BE49-F238E27FC236}">
                  <a16:creationId xmlns:a16="http://schemas.microsoft.com/office/drawing/2014/main" id="{D04E0169-FA93-6E2C-FE6C-8377FC5AC431}"/>
                </a:ext>
              </a:extLst>
            </p:cNvPr>
            <p:cNvSpPr txBox="1"/>
            <p:nvPr/>
          </p:nvSpPr>
          <p:spPr>
            <a:xfrm>
              <a:off x="877443" y="5631136"/>
              <a:ext cx="4855463" cy="357983"/>
            </a:xfrm>
            <a:prstGeom prst="rect">
              <a:avLst/>
            </a:prstGeom>
            <a:noFill/>
          </p:spPr>
          <p:txBody>
            <a:bodyPr wrap="square" lIns="0" tIns="0" rIns="0" bIns="0" anchor="t">
              <a:spAutoFit/>
            </a:bodyPr>
            <a:lstStyle/>
            <a:p>
              <a:pPr>
                <a:lnSpc>
                  <a:spcPct val="110000"/>
                </a:lnSpc>
              </a:pPr>
              <a:r>
                <a:rPr lang="en-US" sz="1100" b="1" noProof="0">
                  <a:solidFill>
                    <a:schemeClr val="bg1"/>
                  </a:solidFill>
                  <a:latin typeface="Arial" panose="020B0604020202020204" pitchFamily="34" charset="0"/>
                  <a:cs typeface="Arial" panose="020B0604020202020204" pitchFamily="34" charset="0"/>
                </a:rPr>
                <a:t>Limits end-to-end visibility and constrains effective product portfolio management and capacity planning.</a:t>
              </a:r>
            </a:p>
          </p:txBody>
        </p:sp>
        <p:sp>
          <p:nvSpPr>
            <p:cNvPr id="32" name="TextBox 31">
              <a:extLst>
                <a:ext uri="{FF2B5EF4-FFF2-40B4-BE49-F238E27FC236}">
                  <a16:creationId xmlns:a16="http://schemas.microsoft.com/office/drawing/2014/main" id="{543F907F-38CC-B34D-AA0E-C338A13548DA}"/>
                </a:ext>
              </a:extLst>
            </p:cNvPr>
            <p:cNvSpPr txBox="1"/>
            <p:nvPr/>
          </p:nvSpPr>
          <p:spPr>
            <a:xfrm>
              <a:off x="3674357" y="3946353"/>
              <a:ext cx="2218186"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"My team uses Jira for misc. work OneNote, Teams and Spreadsheets to manage" — George Porto</a:t>
              </a:r>
            </a:p>
          </p:txBody>
        </p:sp>
        <p:sp>
          <p:nvSpPr>
            <p:cNvPr id="36" name="TextBox 35">
              <a:extLst>
                <a:ext uri="{FF2B5EF4-FFF2-40B4-BE49-F238E27FC236}">
                  <a16:creationId xmlns:a16="http://schemas.microsoft.com/office/drawing/2014/main" id="{F9EBE5A0-C396-D465-D4AF-2B2E3B441F32}"/>
                </a:ext>
              </a:extLst>
            </p:cNvPr>
            <p:cNvSpPr txBox="1"/>
            <p:nvPr/>
          </p:nvSpPr>
          <p:spPr>
            <a:xfrm>
              <a:off x="6761606" y="4037561"/>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Classification</a:t>
              </a:r>
            </a:p>
          </p:txBody>
        </p:sp>
        <p:sp>
          <p:nvSpPr>
            <p:cNvPr id="37" name="TextBox 36">
              <a:extLst>
                <a:ext uri="{FF2B5EF4-FFF2-40B4-BE49-F238E27FC236}">
                  <a16:creationId xmlns:a16="http://schemas.microsoft.com/office/drawing/2014/main" id="{70C3AFD7-7FED-C6BE-9B85-7BDBE294037F}"/>
                </a:ext>
              </a:extLst>
            </p:cNvPr>
            <p:cNvSpPr txBox="1"/>
            <p:nvPr/>
          </p:nvSpPr>
          <p:spPr>
            <a:xfrm>
              <a:off x="6761606" y="4260798"/>
              <a:ext cx="4407407"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Corporate Project Overlap</a:t>
              </a:r>
            </a:p>
          </p:txBody>
        </p:sp>
        <p:sp>
          <p:nvSpPr>
            <p:cNvPr id="38" name="TextBox 37">
              <a:extLst>
                <a:ext uri="{FF2B5EF4-FFF2-40B4-BE49-F238E27FC236}">
                  <a16:creationId xmlns:a16="http://schemas.microsoft.com/office/drawing/2014/main" id="{38ACBCEE-F905-6085-00C4-BF61DD410A8E}"/>
                </a:ext>
              </a:extLst>
            </p:cNvPr>
            <p:cNvSpPr txBox="1"/>
            <p:nvPr/>
          </p:nvSpPr>
          <p:spPr>
            <a:xfrm>
              <a:off x="6354699" y="4617168"/>
              <a:ext cx="5230368" cy="519438"/>
            </a:xfrm>
            <a:prstGeom prst="rect">
              <a:avLst/>
            </a:prstGeom>
            <a:noFill/>
          </p:spPr>
          <p:txBody>
            <a:bodyPr wrap="square" lIns="0" tIns="0" rIns="0" bIns="0" anchor="t">
              <a:spAutoFit/>
            </a:bodyPr>
            <a:lstStyle/>
            <a:p>
              <a:pPr>
                <a:lnSpc>
                  <a:spcPct val="110000"/>
                </a:lnSpc>
              </a:pPr>
              <a:r>
                <a:rPr lang="en-US" sz="1050" noProof="0">
                  <a:latin typeface="Arial" panose="020B0604020202020204" pitchFamily="34" charset="0"/>
                  <a:cs typeface="Arial" panose="020B0604020202020204" pitchFamily="34" charset="0"/>
                </a:rPr>
                <a:t>Multiple tools and inconsistent classification approaches lead to duplicated demand and overlapping initiatives addressing similar outcomes. Coordination across teams is limited.</a:t>
              </a:r>
              <a:endParaRPr lang="en-US" sz="1050" b="0" i="0" noProof="0">
                <a:solidFill>
                  <a:srgbClr val="2C3E50"/>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8D0714E0-725E-45E8-42A2-594AA6524E00}"/>
                </a:ext>
              </a:extLst>
            </p:cNvPr>
            <p:cNvSpPr txBox="1"/>
            <p:nvPr/>
          </p:nvSpPr>
          <p:spPr>
            <a:xfrm>
              <a:off x="6726423" y="5466543"/>
              <a:ext cx="4935645"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40" name="TextBox 39">
              <a:extLst>
                <a:ext uri="{FF2B5EF4-FFF2-40B4-BE49-F238E27FC236}">
                  <a16:creationId xmlns:a16="http://schemas.microsoft.com/office/drawing/2014/main" id="{6993DE54-DAE0-1940-0984-82ED2D8A85A8}"/>
                </a:ext>
              </a:extLst>
            </p:cNvPr>
            <p:cNvSpPr txBox="1"/>
            <p:nvPr/>
          </p:nvSpPr>
          <p:spPr>
            <a:xfrm>
              <a:off x="6726423" y="5667686"/>
              <a:ext cx="4935645" cy="338554"/>
            </a:xfrm>
            <a:prstGeom prst="rect">
              <a:avLst/>
            </a:prstGeom>
            <a:noFill/>
          </p:spPr>
          <p:txBody>
            <a:bodyPr wrap="square" lIns="0" tIns="0" rIns="0" bIns="0" anchor="t">
              <a:spAutoFit/>
            </a:bodyPr>
            <a:lstStyle/>
            <a:p>
              <a:r>
                <a:rPr lang="en-US" sz="1100" b="1" noProof="0">
                  <a:solidFill>
                    <a:schemeClr val="bg1"/>
                  </a:solidFill>
                  <a:latin typeface="Arial" panose="020B0604020202020204" pitchFamily="34" charset="0"/>
                  <a:cs typeface="Arial" panose="020B0604020202020204" pitchFamily="34" charset="0"/>
                </a:rPr>
                <a:t>Reduces efficiency and prevents alignment to clear product ownership and business outcomes.</a:t>
              </a:r>
            </a:p>
          </p:txBody>
        </p:sp>
        <p:sp>
          <p:nvSpPr>
            <p:cNvPr id="41" name="TextBox 40">
              <a:extLst>
                <a:ext uri="{FF2B5EF4-FFF2-40B4-BE49-F238E27FC236}">
                  <a16:creationId xmlns:a16="http://schemas.microsoft.com/office/drawing/2014/main" id="{A5EFEAB9-DF94-9CA9-C548-9CA874EC1331}"/>
                </a:ext>
              </a:extLst>
            </p:cNvPr>
            <p:cNvSpPr txBox="1"/>
            <p:nvPr/>
          </p:nvSpPr>
          <p:spPr>
            <a:xfrm>
              <a:off x="9815417" y="3970886"/>
              <a:ext cx="201653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"PDD is the driver. Lots of overlapping projects" — Amit Patel</a:t>
              </a:r>
            </a:p>
          </p:txBody>
        </p:sp>
        <p:sp>
          <p:nvSpPr>
            <p:cNvPr id="42" name="Rectangle 41">
              <a:extLst>
                <a:ext uri="{FF2B5EF4-FFF2-40B4-BE49-F238E27FC236}">
                  <a16:creationId xmlns:a16="http://schemas.microsoft.com/office/drawing/2014/main" id="{51A1C796-090D-0615-E810-68789B9C5DB0}"/>
                </a:ext>
              </a:extLst>
            </p:cNvPr>
            <p:cNvSpPr/>
            <p:nvPr/>
          </p:nvSpPr>
          <p:spPr>
            <a:xfrm>
              <a:off x="360046" y="1759542"/>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4F9CE80D-A34C-6E44-797E-9F75B7D31E03}"/>
                </a:ext>
              </a:extLst>
            </p:cNvPr>
            <p:cNvSpPr txBox="1"/>
            <p:nvPr/>
          </p:nvSpPr>
          <p:spPr>
            <a:xfrm>
              <a:off x="470423" y="1879302"/>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45" name="Rectangle 44">
              <a:extLst>
                <a:ext uri="{FF2B5EF4-FFF2-40B4-BE49-F238E27FC236}">
                  <a16:creationId xmlns:a16="http://schemas.microsoft.com/office/drawing/2014/main" id="{89E1DD77-EFC9-286F-E4A5-2726EBA07519}"/>
                </a:ext>
              </a:extLst>
            </p:cNvPr>
            <p:cNvSpPr/>
            <p:nvPr/>
          </p:nvSpPr>
          <p:spPr>
            <a:xfrm>
              <a:off x="6163438" y="1749835"/>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EB1CA95D-6DF9-FCDB-0498-52AA31F6E396}"/>
                </a:ext>
              </a:extLst>
            </p:cNvPr>
            <p:cNvSpPr txBox="1"/>
            <p:nvPr/>
          </p:nvSpPr>
          <p:spPr>
            <a:xfrm>
              <a:off x="6273815" y="1869595"/>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47" name="Rectangle 46">
              <a:extLst>
                <a:ext uri="{FF2B5EF4-FFF2-40B4-BE49-F238E27FC236}">
                  <a16:creationId xmlns:a16="http://schemas.microsoft.com/office/drawing/2014/main" id="{560D7B7C-B357-354F-C8AC-1959DAC92A98}"/>
                </a:ext>
              </a:extLst>
            </p:cNvPr>
            <p:cNvSpPr/>
            <p:nvPr/>
          </p:nvSpPr>
          <p:spPr>
            <a:xfrm>
              <a:off x="357109" y="3987791"/>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0B106213-EDD2-B66B-84DA-2A01D1833B2C}"/>
                </a:ext>
              </a:extLst>
            </p:cNvPr>
            <p:cNvSpPr txBox="1"/>
            <p:nvPr/>
          </p:nvSpPr>
          <p:spPr>
            <a:xfrm>
              <a:off x="467486" y="4107551"/>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49" name="Rectangle 48">
              <a:extLst>
                <a:ext uri="{FF2B5EF4-FFF2-40B4-BE49-F238E27FC236}">
                  <a16:creationId xmlns:a16="http://schemas.microsoft.com/office/drawing/2014/main" id="{3E107434-F03D-003F-875D-E4D373976624}"/>
                </a:ext>
              </a:extLst>
            </p:cNvPr>
            <p:cNvSpPr/>
            <p:nvPr/>
          </p:nvSpPr>
          <p:spPr>
            <a:xfrm>
              <a:off x="6163438" y="3981533"/>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DEC77F9B-7FB2-ADFD-0A0B-9C21EE55845E}"/>
                </a:ext>
              </a:extLst>
            </p:cNvPr>
            <p:cNvSpPr txBox="1"/>
            <p:nvPr/>
          </p:nvSpPr>
          <p:spPr>
            <a:xfrm>
              <a:off x="6273815" y="4101293"/>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cxnSp>
          <p:nvCxnSpPr>
            <p:cNvPr id="62" name="Straight Connector 61">
              <a:extLst>
                <a:ext uri="{FF2B5EF4-FFF2-40B4-BE49-F238E27FC236}">
                  <a16:creationId xmlns:a16="http://schemas.microsoft.com/office/drawing/2014/main" id="{ECB31416-E7A4-0753-EBE8-479F1DFE861C}"/>
                </a:ext>
              </a:extLst>
            </p:cNvPr>
            <p:cNvCxnSpPr/>
            <p:nvPr/>
          </p:nvCxnSpPr>
          <p:spPr>
            <a:xfrm>
              <a:off x="863838"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3" name="Straight Connector 62">
              <a:extLst>
                <a:ext uri="{FF2B5EF4-FFF2-40B4-BE49-F238E27FC236}">
                  <a16:creationId xmlns:a16="http://schemas.microsoft.com/office/drawing/2014/main" id="{1BD039F3-94B5-FF40-7757-AE7A277622B9}"/>
                </a:ext>
              </a:extLst>
            </p:cNvPr>
            <p:cNvCxnSpPr/>
            <p:nvPr/>
          </p:nvCxnSpPr>
          <p:spPr>
            <a:xfrm>
              <a:off x="863838"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4" name="Straight Connector 63">
              <a:extLst>
                <a:ext uri="{FF2B5EF4-FFF2-40B4-BE49-F238E27FC236}">
                  <a16:creationId xmlns:a16="http://schemas.microsoft.com/office/drawing/2014/main" id="{DF36A988-71F4-3692-E8EB-E98C0F6561C1}"/>
                </a:ext>
              </a:extLst>
            </p:cNvPr>
            <p:cNvCxnSpPr/>
            <p:nvPr/>
          </p:nvCxnSpPr>
          <p:spPr>
            <a:xfrm>
              <a:off x="6726423"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5" name="Straight Connector 64">
              <a:extLst>
                <a:ext uri="{FF2B5EF4-FFF2-40B4-BE49-F238E27FC236}">
                  <a16:creationId xmlns:a16="http://schemas.microsoft.com/office/drawing/2014/main" id="{AF4AEFBA-146D-1F41-FA8E-B9F9410E4DD5}"/>
                </a:ext>
              </a:extLst>
            </p:cNvPr>
            <p:cNvCxnSpPr/>
            <p:nvPr/>
          </p:nvCxnSpPr>
          <p:spPr>
            <a:xfrm>
              <a:off x="6726423"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pic>
          <p:nvPicPr>
            <p:cNvPr id="71" name="Graphic 70" descr="Excellent with solid fill">
              <a:extLst>
                <a:ext uri="{FF2B5EF4-FFF2-40B4-BE49-F238E27FC236}">
                  <a16:creationId xmlns:a16="http://schemas.microsoft.com/office/drawing/2014/main" id="{C73FEE56-940D-3453-FD5D-A69D9EC650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3437" y="5455299"/>
              <a:ext cx="466453" cy="466453"/>
            </a:xfrm>
            <a:prstGeom prst="rect">
              <a:avLst/>
            </a:prstGeom>
          </p:spPr>
        </p:pic>
        <p:pic>
          <p:nvPicPr>
            <p:cNvPr id="72" name="Graphic 71" descr="Excellent with solid fill">
              <a:extLst>
                <a:ext uri="{FF2B5EF4-FFF2-40B4-BE49-F238E27FC236}">
                  <a16:creationId xmlns:a16="http://schemas.microsoft.com/office/drawing/2014/main" id="{9C323485-7704-1C67-F18D-A52120E2D7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3438" y="3184718"/>
              <a:ext cx="466453" cy="466453"/>
            </a:xfrm>
            <a:prstGeom prst="rect">
              <a:avLst/>
            </a:prstGeom>
          </p:spPr>
        </p:pic>
        <p:pic>
          <p:nvPicPr>
            <p:cNvPr id="73" name="Graphic 72" descr="Excellent with solid fill">
              <a:extLst>
                <a:ext uri="{FF2B5EF4-FFF2-40B4-BE49-F238E27FC236}">
                  <a16:creationId xmlns:a16="http://schemas.microsoft.com/office/drawing/2014/main" id="{2951246D-B4BF-F831-36E7-DBB4DE0E89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949" y="3192164"/>
              <a:ext cx="466453" cy="466453"/>
            </a:xfrm>
            <a:prstGeom prst="rect">
              <a:avLst/>
            </a:prstGeom>
          </p:spPr>
        </p:pic>
        <p:pic>
          <p:nvPicPr>
            <p:cNvPr id="74" name="Graphic 73" descr="Excellent with solid fill">
              <a:extLst>
                <a:ext uri="{FF2B5EF4-FFF2-40B4-BE49-F238E27FC236}">
                  <a16:creationId xmlns:a16="http://schemas.microsoft.com/office/drawing/2014/main" id="{F7DD7FC4-5D51-E9B2-02A9-3913DA8B01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220" y="5438637"/>
              <a:ext cx="466453" cy="466453"/>
            </a:xfrm>
            <a:prstGeom prst="rect">
              <a:avLst/>
            </a:prstGeom>
          </p:spPr>
        </p:pic>
        <p:pic>
          <p:nvPicPr>
            <p:cNvPr id="61" name="Gráfico 60" descr="Burbuja de chat con relleno sólido">
              <a:extLst>
                <a:ext uri="{FF2B5EF4-FFF2-40B4-BE49-F238E27FC236}">
                  <a16:creationId xmlns:a16="http://schemas.microsoft.com/office/drawing/2014/main" id="{F6F9570F-7B78-C508-5AEF-93AECF0D4E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1718043"/>
              <a:ext cx="516155" cy="516155"/>
            </a:xfrm>
            <a:prstGeom prst="rect">
              <a:avLst/>
            </a:prstGeom>
          </p:spPr>
        </p:pic>
        <p:pic>
          <p:nvPicPr>
            <p:cNvPr id="66" name="Gráfico 65" descr="Burbuja de chat con relleno sólido">
              <a:extLst>
                <a:ext uri="{FF2B5EF4-FFF2-40B4-BE49-F238E27FC236}">
                  <a16:creationId xmlns:a16="http://schemas.microsoft.com/office/drawing/2014/main" id="{B7214507-22B2-3FBB-61B7-C081378C87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1718043"/>
              <a:ext cx="516155" cy="516155"/>
            </a:xfrm>
            <a:prstGeom prst="rect">
              <a:avLst/>
            </a:prstGeom>
          </p:spPr>
        </p:pic>
        <p:pic>
          <p:nvPicPr>
            <p:cNvPr id="68" name="Gráfico 67" descr="Burbuja de chat con relleno sólido">
              <a:extLst>
                <a:ext uri="{FF2B5EF4-FFF2-40B4-BE49-F238E27FC236}">
                  <a16:creationId xmlns:a16="http://schemas.microsoft.com/office/drawing/2014/main" id="{6AA0BDB2-ECAE-73B6-BE57-D53A795E4A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3912603"/>
              <a:ext cx="516155" cy="516155"/>
            </a:xfrm>
            <a:prstGeom prst="rect">
              <a:avLst/>
            </a:prstGeom>
          </p:spPr>
        </p:pic>
        <p:pic>
          <p:nvPicPr>
            <p:cNvPr id="75" name="Gráfico 74" descr="Burbuja de chat con relleno sólido">
              <a:extLst>
                <a:ext uri="{FF2B5EF4-FFF2-40B4-BE49-F238E27FC236}">
                  <a16:creationId xmlns:a16="http://schemas.microsoft.com/office/drawing/2014/main" id="{1111F1FE-0C77-F621-9E4B-2F0AC81A59F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3912603"/>
              <a:ext cx="516155" cy="516155"/>
            </a:xfrm>
            <a:prstGeom prst="rect">
              <a:avLst/>
            </a:prstGeom>
          </p:spPr>
        </p:pic>
      </p:grpSp>
      <p:sp>
        <p:nvSpPr>
          <p:cNvPr id="2" name="CuadroTexto 204">
            <a:extLst>
              <a:ext uri="{FF2B5EF4-FFF2-40B4-BE49-F238E27FC236}">
                <a16:creationId xmlns:a16="http://schemas.microsoft.com/office/drawing/2014/main" id="{4442A8A7-8E2F-D5EE-15C9-B61A69E20CEA}"/>
              </a:ext>
            </a:extLst>
          </p:cNvPr>
          <p:cNvSpPr txBox="1"/>
          <p:nvPr/>
        </p:nvSpPr>
        <p:spPr>
          <a:xfrm>
            <a:off x="325121" y="864643"/>
            <a:ext cx="115049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Four critical bottlenecks are driving demand risk across the end-to-end Business Applications lifecycle (intake to portfolio management)</a:t>
            </a:r>
          </a:p>
        </p:txBody>
      </p:sp>
    </p:spTree>
    <p:extLst>
      <p:ext uri="{BB962C8B-B14F-4D97-AF65-F5344CB8AC3E}">
        <p14:creationId xmlns:p14="http://schemas.microsoft.com/office/powerpoint/2010/main" val="4247511073"/>
      </p:ext>
    </p:extLst>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67721-AC22-D4B5-54FF-9D22ABAECACE}"/>
            </a:ext>
          </a:extLst>
        </p:cNvPr>
        <p:cNvGrpSpPr/>
        <p:nvPr/>
      </p:nvGrpSpPr>
      <p:grpSpPr>
        <a:xfrm>
          <a:off x="0" y="0"/>
          <a:ext cx="0" cy="0"/>
          <a:chOff x="0" y="0"/>
          <a:chExt cx="0" cy="0"/>
        </a:xfrm>
      </p:grpSpPr>
      <p:sp>
        <p:nvSpPr>
          <p:cNvPr id="57" name="Título 2">
            <a:extLst>
              <a:ext uri="{FF2B5EF4-FFF2-40B4-BE49-F238E27FC236}">
                <a16:creationId xmlns:a16="http://schemas.microsoft.com/office/drawing/2014/main" id="{C3D96D3D-0FED-D8C1-F0BF-B788DB591144}"/>
              </a:ext>
            </a:extLst>
          </p:cNvPr>
          <p:cNvSpPr txBox="1">
            <a:spLocks/>
          </p:cNvSpPr>
          <p:nvPr/>
        </p:nvSpPr>
        <p:spPr>
          <a:xfrm>
            <a:off x="180917" y="127319"/>
            <a:ext cx="87821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DELIVERY &amp; EXPERIENCE PAIN POINTS (2/2)</a:t>
            </a:r>
          </a:p>
        </p:txBody>
      </p:sp>
      <p:grpSp>
        <p:nvGrpSpPr>
          <p:cNvPr id="58" name="Group 57">
            <a:extLst>
              <a:ext uri="{FF2B5EF4-FFF2-40B4-BE49-F238E27FC236}">
                <a16:creationId xmlns:a16="http://schemas.microsoft.com/office/drawing/2014/main" id="{B868AB3E-E57C-B39D-B1D9-4CAF77542E28}"/>
              </a:ext>
            </a:extLst>
          </p:cNvPr>
          <p:cNvGrpSpPr/>
          <p:nvPr/>
        </p:nvGrpSpPr>
        <p:grpSpPr>
          <a:xfrm>
            <a:off x="457202" y="1359932"/>
            <a:ext cx="11353798" cy="4746008"/>
            <a:chOff x="246505" y="1316184"/>
            <a:chExt cx="11754911" cy="4736591"/>
          </a:xfrm>
        </p:grpSpPr>
        <p:sp>
          <p:nvSpPr>
            <p:cNvPr id="33" name="Rectangle 32">
              <a:extLst>
                <a:ext uri="{FF2B5EF4-FFF2-40B4-BE49-F238E27FC236}">
                  <a16:creationId xmlns:a16="http://schemas.microsoft.com/office/drawing/2014/main" id="{4F823C95-1625-B04B-69D9-74E113A9FEFF}"/>
                </a:ext>
              </a:extLst>
            </p:cNvPr>
            <p:cNvSpPr/>
            <p:nvPr/>
          </p:nvSpPr>
          <p:spPr>
            <a:xfrm>
              <a:off x="6098666"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1858FAD-B492-9B61-79F7-25BA5AFA00F3}"/>
                </a:ext>
              </a:extLst>
            </p:cNvPr>
            <p:cNvSpPr/>
            <p:nvPr/>
          </p:nvSpPr>
          <p:spPr>
            <a:xfrm>
              <a:off x="246507"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A9EAF2B-A912-F660-2256-93F64F4A6584}"/>
                </a:ext>
              </a:extLst>
            </p:cNvPr>
            <p:cNvSpPr/>
            <p:nvPr/>
          </p:nvSpPr>
          <p:spPr>
            <a:xfrm>
              <a:off x="6098666"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55D5C925-2192-3E15-ADCC-231F0D11A0C5}"/>
                </a:ext>
              </a:extLst>
            </p:cNvPr>
            <p:cNvSpPr/>
            <p:nvPr/>
          </p:nvSpPr>
          <p:spPr>
            <a:xfrm>
              <a:off x="246505" y="3123275"/>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8BEFE220-0260-6C08-A1C0-BFBA16F8544D}"/>
                </a:ext>
              </a:extLst>
            </p:cNvPr>
            <p:cNvSpPr/>
            <p:nvPr/>
          </p:nvSpPr>
          <p:spPr>
            <a:xfrm>
              <a:off x="6098665" y="3115596"/>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E5298DD6-817F-C082-CC4F-0A12306647A4}"/>
                </a:ext>
              </a:extLst>
            </p:cNvPr>
            <p:cNvSpPr/>
            <p:nvPr/>
          </p:nvSpPr>
          <p:spPr>
            <a:xfrm>
              <a:off x="6121472" y="5364348"/>
              <a:ext cx="571030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6DD08B7-77F6-DBFC-3E07-443773B00CB8}"/>
                </a:ext>
              </a:extLst>
            </p:cNvPr>
            <p:cNvSpPr/>
            <p:nvPr/>
          </p:nvSpPr>
          <p:spPr>
            <a:xfrm>
              <a:off x="246507"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B4040775-A55D-F3C3-9424-5BA585044257}"/>
                </a:ext>
              </a:extLst>
            </p:cNvPr>
            <p:cNvSpPr/>
            <p:nvPr/>
          </p:nvSpPr>
          <p:spPr>
            <a:xfrm>
              <a:off x="246505" y="5364348"/>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90A0541-2751-2383-B72D-C54A2B128792}"/>
                </a:ext>
              </a:extLst>
            </p:cNvPr>
            <p:cNvSpPr/>
            <p:nvPr/>
          </p:nvSpPr>
          <p:spPr>
            <a:xfrm>
              <a:off x="246507" y="1316184"/>
              <a:ext cx="11585446" cy="2743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Arial" panose="020B0604020202020204" pitchFamily="34" charset="0"/>
                  <a:cs typeface="Arial" panose="020B0604020202020204" pitchFamily="34" charset="0"/>
                </a:rPr>
                <a:t>CUSTOMER SERVICE APPLICATIONS</a:t>
              </a:r>
            </a:p>
          </p:txBody>
        </p:sp>
        <p:sp>
          <p:nvSpPr>
            <p:cNvPr id="9" name="TextBox 8">
              <a:extLst>
                <a:ext uri="{FF2B5EF4-FFF2-40B4-BE49-F238E27FC236}">
                  <a16:creationId xmlns:a16="http://schemas.microsoft.com/office/drawing/2014/main" id="{4216F420-509A-AF19-1189-604F7D882A60}"/>
                </a:ext>
              </a:extLst>
            </p:cNvPr>
            <p:cNvSpPr txBox="1"/>
            <p:nvPr/>
          </p:nvSpPr>
          <p:spPr>
            <a:xfrm>
              <a:off x="931547" y="1799038"/>
              <a:ext cx="2060336"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STAGES: Classification + Prioritization</a:t>
              </a:r>
            </a:p>
          </p:txBody>
        </p:sp>
        <p:sp>
          <p:nvSpPr>
            <p:cNvPr id="10" name="TextBox 9">
              <a:extLst>
                <a:ext uri="{FF2B5EF4-FFF2-40B4-BE49-F238E27FC236}">
                  <a16:creationId xmlns:a16="http://schemas.microsoft.com/office/drawing/2014/main" id="{BD4F49A8-027F-68F0-B296-DC6953F1168D}"/>
                </a:ext>
              </a:extLst>
            </p:cNvPr>
            <p:cNvSpPr txBox="1"/>
            <p:nvPr/>
          </p:nvSpPr>
          <p:spPr>
            <a:xfrm>
              <a:off x="929007" y="1955748"/>
              <a:ext cx="1944005" cy="390556"/>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Customer Services Leadership Gap</a:t>
              </a:r>
            </a:p>
          </p:txBody>
        </p:sp>
        <p:sp>
          <p:nvSpPr>
            <p:cNvPr id="11" name="TextBox 10">
              <a:extLst>
                <a:ext uri="{FF2B5EF4-FFF2-40B4-BE49-F238E27FC236}">
                  <a16:creationId xmlns:a16="http://schemas.microsoft.com/office/drawing/2014/main" id="{D61D080D-CB16-0F1E-9B96-25E48A10AA3C}"/>
                </a:ext>
              </a:extLst>
            </p:cNvPr>
            <p:cNvSpPr txBox="1"/>
            <p:nvPr/>
          </p:nvSpPr>
          <p:spPr>
            <a:xfrm>
              <a:off x="502539" y="2445142"/>
              <a:ext cx="5230368" cy="519438"/>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Key leadership roles remain unfilled, with prioritization and decision-making cascading inconsistently across sub-teams. This results in limited alignment and no consolidated view of demand at the branch level.</a:t>
              </a:r>
              <a:endParaRPr lang="en-US" sz="1050">
                <a:solidFill>
                  <a:srgbClr val="2C3E5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C26FA9E-49B3-7BD2-DB1E-D92DC9E556CC}"/>
                </a:ext>
              </a:extLst>
            </p:cNvPr>
            <p:cNvSpPr txBox="1"/>
            <p:nvPr/>
          </p:nvSpPr>
          <p:spPr>
            <a:xfrm>
              <a:off x="863838" y="3200928"/>
              <a:ext cx="485749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13" name="TextBox 12">
              <a:extLst>
                <a:ext uri="{FF2B5EF4-FFF2-40B4-BE49-F238E27FC236}">
                  <a16:creationId xmlns:a16="http://schemas.microsoft.com/office/drawing/2014/main" id="{BA95D9FD-71FB-5773-8011-D7D0D28BFEB4}"/>
                </a:ext>
              </a:extLst>
            </p:cNvPr>
            <p:cNvSpPr txBox="1"/>
            <p:nvPr/>
          </p:nvSpPr>
          <p:spPr>
            <a:xfrm>
              <a:off x="863838" y="3365520"/>
              <a:ext cx="4857494" cy="357983"/>
            </a:xfrm>
            <a:prstGeom prst="rect">
              <a:avLst/>
            </a:prstGeom>
            <a:noFill/>
          </p:spPr>
          <p:txBody>
            <a:bodyPr wrap="square" lIns="0" tIns="0" rIns="0" bIns="0" anchor="t">
              <a:spAutoFit/>
            </a:bodyPr>
            <a:lstStyle/>
            <a:p>
              <a:pPr>
                <a:lnSpc>
                  <a:spcPct val="110000"/>
                </a:lnSpc>
              </a:pPr>
              <a:r>
                <a:rPr lang="en-US" sz="1100" b="1">
                  <a:solidFill>
                    <a:schemeClr val="bg1"/>
                  </a:solidFill>
                  <a:latin typeface="Arial" panose="020B0604020202020204" pitchFamily="34" charset="0"/>
                  <a:cs typeface="Arial" panose="020B0604020202020204" pitchFamily="34" charset="0"/>
                </a:rPr>
                <a:t>Prevents consistent product-level prioritization and weakens accountability across the product portfolio.</a:t>
              </a:r>
            </a:p>
          </p:txBody>
        </p:sp>
        <p:sp>
          <p:nvSpPr>
            <p:cNvPr id="18" name="TextBox 17">
              <a:extLst>
                <a:ext uri="{FF2B5EF4-FFF2-40B4-BE49-F238E27FC236}">
                  <a16:creationId xmlns:a16="http://schemas.microsoft.com/office/drawing/2014/main" id="{27073382-219E-BB74-10FC-EF1EB79F8B1A}"/>
                </a:ext>
              </a:extLst>
            </p:cNvPr>
            <p:cNvSpPr txBox="1"/>
            <p:nvPr/>
          </p:nvSpPr>
          <p:spPr>
            <a:xfrm>
              <a:off x="6761606" y="1818432"/>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STAGES: Portfolio + Delivery</a:t>
              </a:r>
            </a:p>
          </p:txBody>
        </p:sp>
        <p:sp>
          <p:nvSpPr>
            <p:cNvPr id="19" name="TextBox 18">
              <a:extLst>
                <a:ext uri="{FF2B5EF4-FFF2-40B4-BE49-F238E27FC236}">
                  <a16:creationId xmlns:a16="http://schemas.microsoft.com/office/drawing/2014/main" id="{6F29A070-AC16-B760-8AFA-788B86E81083}"/>
                </a:ext>
              </a:extLst>
            </p:cNvPr>
            <p:cNvSpPr txBox="1"/>
            <p:nvPr/>
          </p:nvSpPr>
          <p:spPr>
            <a:xfrm>
              <a:off x="6761606" y="2009955"/>
              <a:ext cx="4407407" cy="187424"/>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No Branch-Wide Portfolio Tool</a:t>
              </a:r>
            </a:p>
          </p:txBody>
        </p:sp>
        <p:sp>
          <p:nvSpPr>
            <p:cNvPr id="20" name="TextBox 19">
              <a:extLst>
                <a:ext uri="{FF2B5EF4-FFF2-40B4-BE49-F238E27FC236}">
                  <a16:creationId xmlns:a16="http://schemas.microsoft.com/office/drawing/2014/main" id="{4C9324AE-2188-96A2-8799-FBAE1A0C2324}"/>
                </a:ext>
              </a:extLst>
            </p:cNvPr>
            <p:cNvSpPr txBox="1"/>
            <p:nvPr/>
          </p:nvSpPr>
          <p:spPr>
            <a:xfrm>
              <a:off x="6354699" y="2347451"/>
              <a:ext cx="5230368" cy="697179"/>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Portfolio management capabilities are fragmented, with no unified view across Billing, CRM, Metering, and Basis. Existing tools support only isolated areas, limiting cross-team coordination. PMO handles large projects without a consolidated view of Billing / CRM / Metering / Basis portfolios.</a:t>
              </a:r>
            </a:p>
          </p:txBody>
        </p:sp>
        <p:sp>
          <p:nvSpPr>
            <p:cNvPr id="21" name="TextBox 20">
              <a:extLst>
                <a:ext uri="{FF2B5EF4-FFF2-40B4-BE49-F238E27FC236}">
                  <a16:creationId xmlns:a16="http://schemas.microsoft.com/office/drawing/2014/main" id="{E1AEE1E7-7FD4-63F0-E2DB-2F93FEB14F85}"/>
                </a:ext>
              </a:extLst>
            </p:cNvPr>
            <p:cNvSpPr txBox="1"/>
            <p:nvPr/>
          </p:nvSpPr>
          <p:spPr>
            <a:xfrm>
              <a:off x="6726424" y="3200928"/>
              <a:ext cx="493564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22" name="TextBox 21">
              <a:extLst>
                <a:ext uri="{FF2B5EF4-FFF2-40B4-BE49-F238E27FC236}">
                  <a16:creationId xmlns:a16="http://schemas.microsoft.com/office/drawing/2014/main" id="{70F94B3F-8120-5C61-2D2C-161D832D2650}"/>
                </a:ext>
              </a:extLst>
            </p:cNvPr>
            <p:cNvSpPr txBox="1"/>
            <p:nvPr/>
          </p:nvSpPr>
          <p:spPr>
            <a:xfrm>
              <a:off x="6726424" y="3365520"/>
              <a:ext cx="4935644" cy="357983"/>
            </a:xfrm>
            <a:prstGeom prst="rect">
              <a:avLst/>
            </a:prstGeom>
            <a:noFill/>
          </p:spPr>
          <p:txBody>
            <a:bodyPr wrap="square" lIns="0" tIns="0" rIns="0" bIns="0" anchor="t">
              <a:spAutoFit/>
            </a:bodyPr>
            <a:lstStyle/>
            <a:p>
              <a:pPr>
                <a:lnSpc>
                  <a:spcPct val="110000"/>
                </a:lnSpc>
              </a:pPr>
              <a:r>
                <a:rPr lang="en-US" sz="1100" b="1">
                  <a:solidFill>
                    <a:schemeClr val="bg1"/>
                  </a:solidFill>
                  <a:latin typeface="Arial" panose="020B0604020202020204" pitchFamily="34" charset="0"/>
                  <a:cs typeface="Arial" panose="020B0604020202020204" pitchFamily="34" charset="0"/>
                </a:rPr>
                <a:t>Constrains end-to-end product portfolio visibility and limits the ability to manage capacity and priorities holistically.</a:t>
              </a:r>
            </a:p>
          </p:txBody>
        </p:sp>
        <p:sp>
          <p:nvSpPr>
            <p:cNvPr id="27" name="TextBox 26">
              <a:extLst>
                <a:ext uri="{FF2B5EF4-FFF2-40B4-BE49-F238E27FC236}">
                  <a16:creationId xmlns:a16="http://schemas.microsoft.com/office/drawing/2014/main" id="{6DCA7C24-CBBC-0620-7D95-A076681923EC}"/>
                </a:ext>
              </a:extLst>
            </p:cNvPr>
            <p:cNvSpPr txBox="1"/>
            <p:nvPr/>
          </p:nvSpPr>
          <p:spPr>
            <a:xfrm>
              <a:off x="936879" y="4011697"/>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 Delivery</a:t>
              </a:r>
            </a:p>
          </p:txBody>
        </p:sp>
        <p:sp>
          <p:nvSpPr>
            <p:cNvPr id="28" name="TextBox 27">
              <a:extLst>
                <a:ext uri="{FF2B5EF4-FFF2-40B4-BE49-F238E27FC236}">
                  <a16:creationId xmlns:a16="http://schemas.microsoft.com/office/drawing/2014/main" id="{AB221FA4-A2C1-E4CF-D72E-272AE9CEA61D}"/>
                </a:ext>
              </a:extLst>
            </p:cNvPr>
            <p:cNvSpPr txBox="1"/>
            <p:nvPr/>
          </p:nvSpPr>
          <p:spPr>
            <a:xfrm>
              <a:off x="936879" y="4180749"/>
              <a:ext cx="2678491" cy="390556"/>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Smart Metering Vendor Concentration</a:t>
              </a:r>
            </a:p>
          </p:txBody>
        </p:sp>
        <p:sp>
          <p:nvSpPr>
            <p:cNvPr id="29" name="TextBox 28">
              <a:extLst>
                <a:ext uri="{FF2B5EF4-FFF2-40B4-BE49-F238E27FC236}">
                  <a16:creationId xmlns:a16="http://schemas.microsoft.com/office/drawing/2014/main" id="{F36798F5-0747-217C-AEB4-189BFD55489D}"/>
                </a:ext>
              </a:extLst>
            </p:cNvPr>
            <p:cNvSpPr txBox="1"/>
            <p:nvPr/>
          </p:nvSpPr>
          <p:spPr>
            <a:xfrm>
              <a:off x="502539" y="4617168"/>
              <a:ext cx="5230368" cy="519438"/>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The Smart Metering portfolio is fully vendor-delivered, with vendors owning both requirements and execution. Internal capabilities to manage or challenge delivery are limited.  "Intrinsic common sense" is the prioritization rule.</a:t>
              </a:r>
            </a:p>
          </p:txBody>
        </p:sp>
        <p:sp>
          <p:nvSpPr>
            <p:cNvPr id="30" name="TextBox 29">
              <a:extLst>
                <a:ext uri="{FF2B5EF4-FFF2-40B4-BE49-F238E27FC236}">
                  <a16:creationId xmlns:a16="http://schemas.microsoft.com/office/drawing/2014/main" id="{2B27C9C1-42CA-7391-24C8-67F3FCDC5EBE}"/>
                </a:ext>
              </a:extLst>
            </p:cNvPr>
            <p:cNvSpPr txBox="1"/>
            <p:nvPr/>
          </p:nvSpPr>
          <p:spPr>
            <a:xfrm>
              <a:off x="877443" y="5466543"/>
              <a:ext cx="4855463"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31" name="TextBox 30">
              <a:extLst>
                <a:ext uri="{FF2B5EF4-FFF2-40B4-BE49-F238E27FC236}">
                  <a16:creationId xmlns:a16="http://schemas.microsoft.com/office/drawing/2014/main" id="{CCE6CA90-EB09-6F2C-EB7B-B1022F1EE858}"/>
                </a:ext>
              </a:extLst>
            </p:cNvPr>
            <p:cNvSpPr txBox="1"/>
            <p:nvPr/>
          </p:nvSpPr>
          <p:spPr>
            <a:xfrm>
              <a:off x="877443" y="5631136"/>
              <a:ext cx="4855463" cy="357983"/>
            </a:xfrm>
            <a:prstGeom prst="rect">
              <a:avLst/>
            </a:prstGeom>
            <a:noFill/>
          </p:spPr>
          <p:txBody>
            <a:bodyPr wrap="square" lIns="0" tIns="0" rIns="0" bIns="0" anchor="t">
              <a:spAutoFit/>
            </a:bodyPr>
            <a:lstStyle/>
            <a:p>
              <a:pPr>
                <a:lnSpc>
                  <a:spcPct val="110000"/>
                </a:lnSpc>
              </a:pPr>
              <a:r>
                <a:rPr lang="en-US" sz="1100" b="1">
                  <a:solidFill>
                    <a:schemeClr val="bg1"/>
                  </a:solidFill>
                  <a:latin typeface="Arial" panose="020B0604020202020204" pitchFamily="34" charset="0"/>
                  <a:cs typeface="Arial" panose="020B0604020202020204" pitchFamily="34" charset="0"/>
                </a:rPr>
                <a:t>Weakens product ownership and creates dependency risks, limiting control over product outcomes and long-term capability</a:t>
              </a:r>
            </a:p>
          </p:txBody>
        </p:sp>
        <p:sp>
          <p:nvSpPr>
            <p:cNvPr id="36" name="TextBox 35">
              <a:extLst>
                <a:ext uri="{FF2B5EF4-FFF2-40B4-BE49-F238E27FC236}">
                  <a16:creationId xmlns:a16="http://schemas.microsoft.com/office/drawing/2014/main" id="{87135862-3F68-AA41-48D9-7F28003FB18C}"/>
                </a:ext>
              </a:extLst>
            </p:cNvPr>
            <p:cNvSpPr txBox="1"/>
            <p:nvPr/>
          </p:nvSpPr>
          <p:spPr>
            <a:xfrm>
              <a:off x="6761606" y="4037561"/>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 Intake + Prioritization</a:t>
              </a:r>
            </a:p>
          </p:txBody>
        </p:sp>
        <p:sp>
          <p:nvSpPr>
            <p:cNvPr id="37" name="TextBox 36">
              <a:extLst>
                <a:ext uri="{FF2B5EF4-FFF2-40B4-BE49-F238E27FC236}">
                  <a16:creationId xmlns:a16="http://schemas.microsoft.com/office/drawing/2014/main" id="{766176D1-B6B0-7532-0C8D-CEE9FF064DBF}"/>
                </a:ext>
              </a:extLst>
            </p:cNvPr>
            <p:cNvSpPr txBox="1"/>
            <p:nvPr/>
          </p:nvSpPr>
          <p:spPr>
            <a:xfrm>
              <a:off x="6761606" y="4191616"/>
              <a:ext cx="2398637" cy="389781"/>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Multi-OPCO Capacity Competition</a:t>
              </a:r>
            </a:p>
          </p:txBody>
        </p:sp>
        <p:sp>
          <p:nvSpPr>
            <p:cNvPr id="38" name="TextBox 37">
              <a:extLst>
                <a:ext uri="{FF2B5EF4-FFF2-40B4-BE49-F238E27FC236}">
                  <a16:creationId xmlns:a16="http://schemas.microsoft.com/office/drawing/2014/main" id="{282F663E-8D5E-13FD-6717-D040C138519E}"/>
                </a:ext>
              </a:extLst>
            </p:cNvPr>
            <p:cNvSpPr txBox="1"/>
            <p:nvPr/>
          </p:nvSpPr>
          <p:spPr>
            <a:xfrm>
              <a:off x="6354699" y="4617168"/>
              <a:ext cx="5230368" cy="519438"/>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7 business OPCOs compete for the same Customer Services IT capacity. , with demand routed through parallel channels and no unified prioritization mechanism. Allocation decisions are often ad hoc</a:t>
              </a:r>
            </a:p>
          </p:txBody>
        </p:sp>
        <p:sp>
          <p:nvSpPr>
            <p:cNvPr id="39" name="TextBox 38">
              <a:extLst>
                <a:ext uri="{FF2B5EF4-FFF2-40B4-BE49-F238E27FC236}">
                  <a16:creationId xmlns:a16="http://schemas.microsoft.com/office/drawing/2014/main" id="{9F6FB02A-51F4-BFEF-E72C-53CEE097CA44}"/>
                </a:ext>
              </a:extLst>
            </p:cNvPr>
            <p:cNvSpPr txBox="1"/>
            <p:nvPr/>
          </p:nvSpPr>
          <p:spPr>
            <a:xfrm>
              <a:off x="6726423" y="5466543"/>
              <a:ext cx="4935645"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40" name="TextBox 39">
              <a:extLst>
                <a:ext uri="{FF2B5EF4-FFF2-40B4-BE49-F238E27FC236}">
                  <a16:creationId xmlns:a16="http://schemas.microsoft.com/office/drawing/2014/main" id="{CA35D3C5-81A6-E1DE-DD02-DF3B5F779E83}"/>
                </a:ext>
              </a:extLst>
            </p:cNvPr>
            <p:cNvSpPr txBox="1"/>
            <p:nvPr/>
          </p:nvSpPr>
          <p:spPr>
            <a:xfrm>
              <a:off x="6726423" y="5667686"/>
              <a:ext cx="4935645" cy="338554"/>
            </a:xfrm>
            <a:prstGeom prst="rect">
              <a:avLst/>
            </a:prstGeom>
            <a:noFill/>
          </p:spPr>
          <p:txBody>
            <a:bodyPr wrap="square" lIns="0" tIns="0" rIns="0" bIns="0" anchor="t">
              <a:spAutoFit/>
            </a:bodyPr>
            <a:lstStyle/>
            <a:p>
              <a:r>
                <a:rPr lang="en-US" sz="1100" b="1">
                  <a:solidFill>
                    <a:schemeClr val="bg1"/>
                  </a:solidFill>
                  <a:latin typeface="Arial" panose="020B0604020202020204" pitchFamily="34" charset="0"/>
                  <a:cs typeface="Arial" panose="020B0604020202020204" pitchFamily="34" charset="0"/>
                </a:rPr>
                <a:t>Prevents coordinated product planning and leads to suboptimal allocation of capacity across competing product demands.</a:t>
              </a:r>
            </a:p>
          </p:txBody>
        </p:sp>
        <p:sp>
          <p:nvSpPr>
            <p:cNvPr id="42" name="Rectangle 41">
              <a:extLst>
                <a:ext uri="{FF2B5EF4-FFF2-40B4-BE49-F238E27FC236}">
                  <a16:creationId xmlns:a16="http://schemas.microsoft.com/office/drawing/2014/main" id="{8807FD03-56C6-EDE2-3ECE-6F829C31A5D1}"/>
                </a:ext>
              </a:extLst>
            </p:cNvPr>
            <p:cNvSpPr/>
            <p:nvPr/>
          </p:nvSpPr>
          <p:spPr>
            <a:xfrm>
              <a:off x="360046" y="1759542"/>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EC59701A-33AC-0749-CD53-FAF67D02B809}"/>
                </a:ext>
              </a:extLst>
            </p:cNvPr>
            <p:cNvSpPr txBox="1"/>
            <p:nvPr/>
          </p:nvSpPr>
          <p:spPr>
            <a:xfrm>
              <a:off x="470423" y="1879302"/>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45" name="Rectangle 44">
              <a:extLst>
                <a:ext uri="{FF2B5EF4-FFF2-40B4-BE49-F238E27FC236}">
                  <a16:creationId xmlns:a16="http://schemas.microsoft.com/office/drawing/2014/main" id="{518E3A36-EF94-EC8E-1400-307F3125BE32}"/>
                </a:ext>
              </a:extLst>
            </p:cNvPr>
            <p:cNvSpPr/>
            <p:nvPr/>
          </p:nvSpPr>
          <p:spPr>
            <a:xfrm>
              <a:off x="6163438" y="1749835"/>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FC57CCB3-5E9C-01BE-EFF0-0C58D79A640C}"/>
                </a:ext>
              </a:extLst>
            </p:cNvPr>
            <p:cNvSpPr txBox="1"/>
            <p:nvPr/>
          </p:nvSpPr>
          <p:spPr>
            <a:xfrm>
              <a:off x="6273815" y="1869595"/>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47" name="Rectangle 46">
              <a:extLst>
                <a:ext uri="{FF2B5EF4-FFF2-40B4-BE49-F238E27FC236}">
                  <a16:creationId xmlns:a16="http://schemas.microsoft.com/office/drawing/2014/main" id="{3EA99058-1AE0-DACB-E25F-D9D8F215A7E8}"/>
                </a:ext>
              </a:extLst>
            </p:cNvPr>
            <p:cNvSpPr/>
            <p:nvPr/>
          </p:nvSpPr>
          <p:spPr>
            <a:xfrm>
              <a:off x="357109" y="3987791"/>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B9C4E75A-75A7-E423-7EA9-AFBB206D4E78}"/>
                </a:ext>
              </a:extLst>
            </p:cNvPr>
            <p:cNvSpPr txBox="1"/>
            <p:nvPr/>
          </p:nvSpPr>
          <p:spPr>
            <a:xfrm>
              <a:off x="467486" y="4107551"/>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49" name="Rectangle 48">
              <a:extLst>
                <a:ext uri="{FF2B5EF4-FFF2-40B4-BE49-F238E27FC236}">
                  <a16:creationId xmlns:a16="http://schemas.microsoft.com/office/drawing/2014/main" id="{FED3AD9A-32F0-7EE0-6127-4D55FB01F6EC}"/>
                </a:ext>
              </a:extLst>
            </p:cNvPr>
            <p:cNvSpPr/>
            <p:nvPr/>
          </p:nvSpPr>
          <p:spPr>
            <a:xfrm>
              <a:off x="6163438" y="3981533"/>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75D15F55-C895-5A58-961F-7FAAB399EBAE}"/>
                </a:ext>
              </a:extLst>
            </p:cNvPr>
            <p:cNvSpPr txBox="1"/>
            <p:nvPr/>
          </p:nvSpPr>
          <p:spPr>
            <a:xfrm>
              <a:off x="6273815" y="4101293"/>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cxnSp>
          <p:nvCxnSpPr>
            <p:cNvPr id="62" name="Straight Connector 61">
              <a:extLst>
                <a:ext uri="{FF2B5EF4-FFF2-40B4-BE49-F238E27FC236}">
                  <a16:creationId xmlns:a16="http://schemas.microsoft.com/office/drawing/2014/main" id="{32EE34B4-69BC-29C1-7B5A-B558CEAB1533}"/>
                </a:ext>
              </a:extLst>
            </p:cNvPr>
            <p:cNvCxnSpPr/>
            <p:nvPr/>
          </p:nvCxnSpPr>
          <p:spPr>
            <a:xfrm>
              <a:off x="863838"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3" name="Straight Connector 62">
              <a:extLst>
                <a:ext uri="{FF2B5EF4-FFF2-40B4-BE49-F238E27FC236}">
                  <a16:creationId xmlns:a16="http://schemas.microsoft.com/office/drawing/2014/main" id="{630A8DEE-F8E9-7974-1569-DEE2C5093765}"/>
                </a:ext>
              </a:extLst>
            </p:cNvPr>
            <p:cNvCxnSpPr/>
            <p:nvPr/>
          </p:nvCxnSpPr>
          <p:spPr>
            <a:xfrm>
              <a:off x="863838"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4" name="Straight Connector 63">
              <a:extLst>
                <a:ext uri="{FF2B5EF4-FFF2-40B4-BE49-F238E27FC236}">
                  <a16:creationId xmlns:a16="http://schemas.microsoft.com/office/drawing/2014/main" id="{E5B1CC4A-263D-74A9-7BFD-15B19B5FF77C}"/>
                </a:ext>
              </a:extLst>
            </p:cNvPr>
            <p:cNvCxnSpPr/>
            <p:nvPr/>
          </p:nvCxnSpPr>
          <p:spPr>
            <a:xfrm>
              <a:off x="6726423"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5" name="Straight Connector 64">
              <a:extLst>
                <a:ext uri="{FF2B5EF4-FFF2-40B4-BE49-F238E27FC236}">
                  <a16:creationId xmlns:a16="http://schemas.microsoft.com/office/drawing/2014/main" id="{732063F8-3DE6-D78D-3355-DB99A56D94F9}"/>
                </a:ext>
              </a:extLst>
            </p:cNvPr>
            <p:cNvCxnSpPr/>
            <p:nvPr/>
          </p:nvCxnSpPr>
          <p:spPr>
            <a:xfrm>
              <a:off x="6726423"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pic>
          <p:nvPicPr>
            <p:cNvPr id="71" name="Graphic 70" descr="Excellent with solid fill">
              <a:extLst>
                <a:ext uri="{FF2B5EF4-FFF2-40B4-BE49-F238E27FC236}">
                  <a16:creationId xmlns:a16="http://schemas.microsoft.com/office/drawing/2014/main" id="{004F9D5E-92BE-C3F1-93DC-69E550C193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3437" y="5455299"/>
              <a:ext cx="466453" cy="466453"/>
            </a:xfrm>
            <a:prstGeom prst="rect">
              <a:avLst/>
            </a:prstGeom>
          </p:spPr>
        </p:pic>
        <p:pic>
          <p:nvPicPr>
            <p:cNvPr id="72" name="Graphic 71" descr="Excellent with solid fill">
              <a:extLst>
                <a:ext uri="{FF2B5EF4-FFF2-40B4-BE49-F238E27FC236}">
                  <a16:creationId xmlns:a16="http://schemas.microsoft.com/office/drawing/2014/main" id="{773B369E-493B-968B-4CA2-91E0B5217F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3438" y="3184718"/>
              <a:ext cx="466453" cy="466453"/>
            </a:xfrm>
            <a:prstGeom prst="rect">
              <a:avLst/>
            </a:prstGeom>
          </p:spPr>
        </p:pic>
        <p:pic>
          <p:nvPicPr>
            <p:cNvPr id="73" name="Graphic 72" descr="Excellent with solid fill">
              <a:extLst>
                <a:ext uri="{FF2B5EF4-FFF2-40B4-BE49-F238E27FC236}">
                  <a16:creationId xmlns:a16="http://schemas.microsoft.com/office/drawing/2014/main" id="{6C086672-D491-C34E-0C27-9B4ABF2C2E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949" y="3192164"/>
              <a:ext cx="466453" cy="466453"/>
            </a:xfrm>
            <a:prstGeom prst="rect">
              <a:avLst/>
            </a:prstGeom>
          </p:spPr>
        </p:pic>
        <p:pic>
          <p:nvPicPr>
            <p:cNvPr id="74" name="Graphic 73" descr="Excellent with solid fill">
              <a:extLst>
                <a:ext uri="{FF2B5EF4-FFF2-40B4-BE49-F238E27FC236}">
                  <a16:creationId xmlns:a16="http://schemas.microsoft.com/office/drawing/2014/main" id="{B8E0BF6C-4E7A-4788-ED7D-DB19C7B463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220" y="5438637"/>
              <a:ext cx="466453" cy="466453"/>
            </a:xfrm>
            <a:prstGeom prst="rect">
              <a:avLst/>
            </a:prstGeom>
          </p:spPr>
        </p:pic>
        <p:pic>
          <p:nvPicPr>
            <p:cNvPr id="61" name="Gráfico 60" descr="Burbuja de chat con relleno sólido">
              <a:extLst>
                <a:ext uri="{FF2B5EF4-FFF2-40B4-BE49-F238E27FC236}">
                  <a16:creationId xmlns:a16="http://schemas.microsoft.com/office/drawing/2014/main" id="{5CAF2028-9C77-2778-071E-C24624473D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1718043"/>
              <a:ext cx="516155" cy="516155"/>
            </a:xfrm>
            <a:prstGeom prst="rect">
              <a:avLst/>
            </a:prstGeom>
          </p:spPr>
        </p:pic>
        <p:pic>
          <p:nvPicPr>
            <p:cNvPr id="66" name="Gráfico 65" descr="Burbuja de chat con relleno sólido">
              <a:extLst>
                <a:ext uri="{FF2B5EF4-FFF2-40B4-BE49-F238E27FC236}">
                  <a16:creationId xmlns:a16="http://schemas.microsoft.com/office/drawing/2014/main" id="{184AA39A-0C9A-3371-AB92-32C73FF370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1718043"/>
              <a:ext cx="516155" cy="516155"/>
            </a:xfrm>
            <a:prstGeom prst="rect">
              <a:avLst/>
            </a:prstGeom>
          </p:spPr>
        </p:pic>
        <p:pic>
          <p:nvPicPr>
            <p:cNvPr id="68" name="Gráfico 67" descr="Burbuja de chat con relleno sólido">
              <a:extLst>
                <a:ext uri="{FF2B5EF4-FFF2-40B4-BE49-F238E27FC236}">
                  <a16:creationId xmlns:a16="http://schemas.microsoft.com/office/drawing/2014/main" id="{F6AD5997-EE86-DF31-0AF4-B932241FD9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3912603"/>
              <a:ext cx="516155" cy="516155"/>
            </a:xfrm>
            <a:prstGeom prst="rect">
              <a:avLst/>
            </a:prstGeom>
          </p:spPr>
        </p:pic>
        <p:pic>
          <p:nvPicPr>
            <p:cNvPr id="75" name="Gráfico 74" descr="Burbuja de chat con relleno sólido">
              <a:extLst>
                <a:ext uri="{FF2B5EF4-FFF2-40B4-BE49-F238E27FC236}">
                  <a16:creationId xmlns:a16="http://schemas.microsoft.com/office/drawing/2014/main" id="{08446FCD-FCF8-D8D3-E62E-4F76CA32211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3912603"/>
              <a:ext cx="516155" cy="516155"/>
            </a:xfrm>
            <a:prstGeom prst="rect">
              <a:avLst/>
            </a:prstGeom>
          </p:spPr>
        </p:pic>
        <p:sp>
          <p:nvSpPr>
            <p:cNvPr id="5" name="TextBox 4">
              <a:extLst>
                <a:ext uri="{FF2B5EF4-FFF2-40B4-BE49-F238E27FC236}">
                  <a16:creationId xmlns:a16="http://schemas.microsoft.com/office/drawing/2014/main" id="{C36A305E-9B52-756E-9A63-ED36AC19EBC3}"/>
                </a:ext>
              </a:extLst>
            </p:cNvPr>
            <p:cNvSpPr txBox="1"/>
            <p:nvPr/>
          </p:nvSpPr>
          <p:spPr>
            <a:xfrm>
              <a:off x="3623374" y="1735323"/>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"Who is in charge of what — 3 people can run the payment jobs" — Kumar + Stephanie</a:t>
              </a:r>
            </a:p>
          </p:txBody>
        </p:sp>
        <p:sp>
          <p:nvSpPr>
            <p:cNvPr id="7" name="TextBox 6">
              <a:extLst>
                <a:ext uri="{FF2B5EF4-FFF2-40B4-BE49-F238E27FC236}">
                  <a16:creationId xmlns:a16="http://schemas.microsoft.com/office/drawing/2014/main" id="{C9A82CC1-701A-8BD5-B5E3-4C4D4514ACB2}"/>
                </a:ext>
              </a:extLst>
            </p:cNvPr>
            <p:cNvSpPr txBox="1"/>
            <p:nvPr/>
          </p:nvSpPr>
          <p:spPr>
            <a:xfrm>
              <a:off x="9783230" y="1722023"/>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"No tool to support portfolio management... No tools or process to manage delivery of vendors"</a:t>
              </a:r>
            </a:p>
          </p:txBody>
        </p:sp>
        <p:sp>
          <p:nvSpPr>
            <p:cNvPr id="16" name="TextBox 15">
              <a:extLst>
                <a:ext uri="{FF2B5EF4-FFF2-40B4-BE49-F238E27FC236}">
                  <a16:creationId xmlns:a16="http://schemas.microsoft.com/office/drawing/2014/main" id="{BB2B972C-8E59-CAB0-0503-88B3D18BFF2E}"/>
                </a:ext>
              </a:extLst>
            </p:cNvPr>
            <p:cNvSpPr txBox="1"/>
            <p:nvPr/>
          </p:nvSpPr>
          <p:spPr>
            <a:xfrm>
              <a:off x="3711419" y="3946086"/>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"All portfolio in vendor. Vendors are consultants for the work" — Iram Chowdhury</a:t>
              </a:r>
            </a:p>
          </p:txBody>
        </p:sp>
        <p:sp>
          <p:nvSpPr>
            <p:cNvPr id="25" name="TextBox 24">
              <a:extLst>
                <a:ext uri="{FF2B5EF4-FFF2-40B4-BE49-F238E27FC236}">
                  <a16:creationId xmlns:a16="http://schemas.microsoft.com/office/drawing/2014/main" id="{3F1B5883-678D-9FDF-3723-E88400B39AF3}"/>
                </a:ext>
              </a:extLst>
            </p:cNvPr>
            <p:cNvSpPr txBox="1"/>
            <p:nvPr/>
          </p:nvSpPr>
          <p:spPr>
            <a:xfrm>
              <a:off x="9861140" y="3937788"/>
              <a:ext cx="2016533"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"Resource allocation — multiple OPCOs competing by capacity" — Kumar </a:t>
              </a:r>
            </a:p>
          </p:txBody>
        </p:sp>
      </p:grpSp>
      <p:sp>
        <p:nvSpPr>
          <p:cNvPr id="2" name="CuadroTexto 204">
            <a:extLst>
              <a:ext uri="{FF2B5EF4-FFF2-40B4-BE49-F238E27FC236}">
                <a16:creationId xmlns:a16="http://schemas.microsoft.com/office/drawing/2014/main" id="{38007D0B-2CFD-B994-6789-C9669D715FFD}"/>
              </a:ext>
            </a:extLst>
          </p:cNvPr>
          <p:cNvSpPr txBox="1"/>
          <p:nvPr/>
        </p:nvSpPr>
        <p:spPr>
          <a:xfrm>
            <a:off x="325121" y="864643"/>
            <a:ext cx="115049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Four critical bottlenecks are driving demand risk across the end-to-end Customer Services Applications lifecycle (intake to portfolio management)</a:t>
            </a:r>
          </a:p>
        </p:txBody>
      </p:sp>
    </p:spTree>
    <p:extLst>
      <p:ext uri="{BB962C8B-B14F-4D97-AF65-F5344CB8AC3E}">
        <p14:creationId xmlns:p14="http://schemas.microsoft.com/office/powerpoint/2010/main" val="1208164610"/>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61A72-F0E7-08E3-B329-04254A63101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14AD92-4B88-C073-C730-5A05062D4EA9}"/>
              </a:ext>
            </a:extLst>
          </p:cNvPr>
          <p:cNvSpPr txBox="1"/>
          <p:nvPr/>
        </p:nvSpPr>
        <p:spPr>
          <a:xfrm>
            <a:off x="919524" y="1165923"/>
            <a:ext cx="6537890" cy="714747"/>
          </a:xfrm>
          <a:prstGeom prst="rect">
            <a:avLst/>
          </a:prstGeom>
          <a:noFill/>
        </p:spPr>
        <p:txBody>
          <a:bodyPr wrap="square" lIns="0" tIns="0" rIns="0" bIns="0" anchor="t">
            <a:spAutoFit/>
          </a:bodyPr>
          <a:lstStyle/>
          <a:p>
            <a:pPr>
              <a:lnSpc>
                <a:spcPct val="110000"/>
              </a:lnSpc>
            </a:pPr>
            <a:r>
              <a:rPr lang="en-US" sz="1300" b="1" noProof="0">
                <a:solidFill>
                  <a:srgbClr val="6785C1"/>
                </a:solidFill>
                <a:latin typeface="Arial" panose="020B0604020202020204" pitchFamily="34" charset="0"/>
                <a:cs typeface="Arial" panose="020B0604020202020204" pitchFamily="34" charset="0"/>
              </a:rPr>
              <a:t>No Product Entry Point</a:t>
            </a:r>
          </a:p>
          <a:p>
            <a:pPr>
              <a:lnSpc>
                <a:spcPct val="110000"/>
              </a:lnSpc>
            </a:pPr>
            <a:r>
              <a:rPr lang="en-US" sz="1000" noProof="0">
                <a:latin typeface="Arial" panose="020B0604020202020204" pitchFamily="34" charset="0"/>
                <a:cs typeface="Arial" panose="020B0604020202020204" pitchFamily="34" charset="0"/>
              </a:rPr>
              <a:t>Demand enters through multiple disconnected channels, with no single front door aligned to products or value streams.</a:t>
            </a:r>
            <a:endParaRPr lang="en-US" sz="10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000" b="0" i="1" noProof="0">
                <a:solidFill>
                  <a:schemeClr val="bg2">
                    <a:lumMod val="50000"/>
                  </a:schemeClr>
                </a:solidFill>
                <a:latin typeface="Arial" panose="020B0604020202020204" pitchFamily="34" charset="0"/>
                <a:cs typeface="Arial" panose="020B0604020202020204" pitchFamily="34" charset="0"/>
              </a:rPr>
              <a:t>(6+ disconnected channels (Jira, IT Now, RITM, SharePoint, Email, Word). No single front door.)</a:t>
            </a:r>
          </a:p>
        </p:txBody>
      </p:sp>
      <p:sp>
        <p:nvSpPr>
          <p:cNvPr id="8" name="TextBox 7">
            <a:extLst>
              <a:ext uri="{FF2B5EF4-FFF2-40B4-BE49-F238E27FC236}">
                <a16:creationId xmlns:a16="http://schemas.microsoft.com/office/drawing/2014/main" id="{4F55AC1F-BCC1-3E9C-78BF-C15DE71D7A0A}"/>
              </a:ext>
            </a:extLst>
          </p:cNvPr>
          <p:cNvSpPr txBox="1"/>
          <p:nvPr/>
        </p:nvSpPr>
        <p:spPr>
          <a:xfrm>
            <a:off x="7649704" y="1394532"/>
            <a:ext cx="4199398" cy="363369"/>
          </a:xfrm>
          <a:prstGeom prst="rect">
            <a:avLst/>
          </a:prstGeom>
          <a:noFill/>
        </p:spPr>
        <p:txBody>
          <a:bodyPr wrap="square" lIns="0" tIns="0" rIns="0" bIns="0" anchor="ctr">
            <a:spAutoFit/>
          </a:bodyPr>
          <a:lstStyle>
            <a:defPPr>
              <a:defRPr lang="en-US"/>
            </a:defPPr>
            <a:lvl1pPr>
              <a:lnSpc>
                <a:spcPct val="110000"/>
              </a:lnSpc>
              <a:defRPr sz="1100" b="1"/>
            </a:lvl1pPr>
          </a:lstStyle>
          <a:p>
            <a:pPr algn="just"/>
            <a:r>
              <a:rPr lang="en-US" b="0" noProof="0">
                <a:latin typeface="Arial" panose="020B0604020202020204" pitchFamily="34" charset="0"/>
                <a:cs typeface="Arial" panose="020B0604020202020204" pitchFamily="34" charset="0"/>
              </a:rPr>
              <a:t>Product model requires a </a:t>
            </a:r>
            <a:r>
              <a:rPr lang="en-US" noProof="0">
                <a:latin typeface="Arial" panose="020B0604020202020204" pitchFamily="34" charset="0"/>
                <a:cs typeface="Arial" panose="020B0604020202020204" pitchFamily="34" charset="0"/>
              </a:rPr>
              <a:t>unified intake layer structured around products</a:t>
            </a:r>
            <a:r>
              <a:rPr lang="en-US" b="0" noProof="0">
                <a:latin typeface="Arial" panose="020B0604020202020204" pitchFamily="34" charset="0"/>
                <a:cs typeface="Arial" panose="020B0604020202020204" pitchFamily="34" charset="0"/>
              </a:rPr>
              <a:t>, not tools or channels.</a:t>
            </a:r>
          </a:p>
        </p:txBody>
      </p:sp>
      <p:sp>
        <p:nvSpPr>
          <p:cNvPr id="11" name="TextBox 10">
            <a:extLst>
              <a:ext uri="{FF2B5EF4-FFF2-40B4-BE49-F238E27FC236}">
                <a16:creationId xmlns:a16="http://schemas.microsoft.com/office/drawing/2014/main" id="{E512EE80-613A-BD88-7AFC-DC6CFEF0F0F0}"/>
              </a:ext>
            </a:extLst>
          </p:cNvPr>
          <p:cNvSpPr txBox="1"/>
          <p:nvPr/>
        </p:nvSpPr>
        <p:spPr>
          <a:xfrm>
            <a:off x="919524" y="1982504"/>
            <a:ext cx="6537890" cy="203004"/>
          </a:xfrm>
          <a:prstGeom prst="rect">
            <a:avLst/>
          </a:prstGeom>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Value-Based Decisioning</a:t>
            </a:r>
          </a:p>
        </p:txBody>
      </p:sp>
      <p:sp>
        <p:nvSpPr>
          <p:cNvPr id="12" name="TextBox 11">
            <a:extLst>
              <a:ext uri="{FF2B5EF4-FFF2-40B4-BE49-F238E27FC236}">
                <a16:creationId xmlns:a16="http://schemas.microsoft.com/office/drawing/2014/main" id="{12239728-9FA1-6B58-17BB-A9935F5D44E8}"/>
              </a:ext>
            </a:extLst>
          </p:cNvPr>
          <p:cNvSpPr txBox="1"/>
          <p:nvPr/>
        </p:nvSpPr>
        <p:spPr>
          <a:xfrm>
            <a:off x="919524" y="2186471"/>
            <a:ext cx="6537890" cy="325410"/>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Prioritization is inconsistent and driven by local criteria, with no common definition of value across initiatives. </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(Each area uses different criteria — PDD, impact ×users, criticality, operational urgency, common sense.)</a:t>
            </a:r>
          </a:p>
        </p:txBody>
      </p:sp>
      <p:sp>
        <p:nvSpPr>
          <p:cNvPr id="13" name="TextBox 12">
            <a:extLst>
              <a:ext uri="{FF2B5EF4-FFF2-40B4-BE49-F238E27FC236}">
                <a16:creationId xmlns:a16="http://schemas.microsoft.com/office/drawing/2014/main" id="{1DC83C0F-0EC2-89FF-B18C-1A009268A856}"/>
              </a:ext>
            </a:extLst>
          </p:cNvPr>
          <p:cNvSpPr txBox="1"/>
          <p:nvPr/>
        </p:nvSpPr>
        <p:spPr>
          <a:xfrm>
            <a:off x="7649703" y="2170100"/>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 </a:t>
            </a:r>
            <a:r>
              <a:rPr lang="en-US" sz="1100" b="1" noProof="0">
                <a:latin typeface="Arial" panose="020B0604020202020204" pitchFamily="34" charset="0"/>
                <a:cs typeface="Arial" panose="020B0604020202020204" pitchFamily="34" charset="0"/>
              </a:rPr>
              <a:t>standardized, value-based prioritization framework </a:t>
            </a:r>
            <a:r>
              <a:rPr lang="en-US" sz="1100" noProof="0">
                <a:latin typeface="Arial" panose="020B0604020202020204" pitchFamily="34" charset="0"/>
                <a:cs typeface="Arial" panose="020B0604020202020204" pitchFamily="34" charset="0"/>
              </a:rPr>
              <a:t>tied to </a:t>
            </a:r>
            <a:r>
              <a:rPr lang="en-US" sz="1100" b="1" noProof="0">
                <a:latin typeface="Arial" panose="020B0604020202020204" pitchFamily="34" charset="0"/>
                <a:cs typeface="Arial" panose="020B0604020202020204" pitchFamily="34" charset="0"/>
              </a:rPr>
              <a:t>business outcomes</a:t>
            </a:r>
            <a:r>
              <a:rPr lang="en-US" sz="1100" noProof="0">
                <a:latin typeface="Arial" panose="020B0604020202020204" pitchFamily="34" charset="0"/>
                <a:cs typeface="Arial" panose="020B0604020202020204" pitchFamily="34" charset="0"/>
              </a:rPr>
              <a:t>.</a:t>
            </a:r>
            <a:endParaRPr lang="en-US" sz="1100" i="1" noProof="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18C7D04E-D791-B5FA-BD3E-3DD83FA23047}"/>
              </a:ext>
            </a:extLst>
          </p:cNvPr>
          <p:cNvSpPr txBox="1"/>
          <p:nvPr/>
        </p:nvSpPr>
        <p:spPr>
          <a:xfrm>
            <a:off x="919524" y="272923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End-to-End Product View</a:t>
            </a:r>
          </a:p>
        </p:txBody>
      </p:sp>
      <p:sp>
        <p:nvSpPr>
          <p:cNvPr id="17" name="TextBox 16">
            <a:extLst>
              <a:ext uri="{FF2B5EF4-FFF2-40B4-BE49-F238E27FC236}">
                <a16:creationId xmlns:a16="http://schemas.microsoft.com/office/drawing/2014/main" id="{DCEF4582-07D7-FB25-5881-5267D994A11D}"/>
              </a:ext>
            </a:extLst>
          </p:cNvPr>
          <p:cNvSpPr txBox="1"/>
          <p:nvPr/>
        </p:nvSpPr>
        <p:spPr>
          <a:xfrm>
            <a:off x="919524" y="2941011"/>
            <a:ext cx="6537890" cy="325410"/>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Portfolio management capabilities are fragmented, limiting visibility across demand, capacity, and delivery.</a:t>
            </a:r>
            <a:endParaRPr lang="en-US" sz="10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No consistent and standardized use of portfolio tool. Only Smart Metering uses PPM Now.</a:t>
            </a:r>
          </a:p>
        </p:txBody>
      </p:sp>
      <p:sp>
        <p:nvSpPr>
          <p:cNvPr id="18" name="TextBox 17">
            <a:extLst>
              <a:ext uri="{FF2B5EF4-FFF2-40B4-BE49-F238E27FC236}">
                <a16:creationId xmlns:a16="http://schemas.microsoft.com/office/drawing/2014/main" id="{99DE835A-B700-23D4-BB20-210F238C6A0E}"/>
              </a:ext>
            </a:extLst>
          </p:cNvPr>
          <p:cNvSpPr txBox="1"/>
          <p:nvPr/>
        </p:nvSpPr>
        <p:spPr>
          <a:xfrm>
            <a:off x="7649703" y="2922031"/>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integrated portfolio tooling to manage products holistically </a:t>
            </a:r>
            <a:r>
              <a:rPr lang="en-US" sz="1100" noProof="0">
                <a:latin typeface="Arial" panose="020B0604020202020204" pitchFamily="34" charset="0"/>
                <a:cs typeface="Arial" panose="020B0604020202020204" pitchFamily="34" charset="0"/>
              </a:rPr>
              <a:t>across their lifecycle.</a:t>
            </a:r>
            <a:endParaRPr lang="en-US" sz="1100" i="1" noProof="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FB87D1B4-E0CA-11BF-4195-7B3ED9F23FFB}"/>
              </a:ext>
            </a:extLst>
          </p:cNvPr>
          <p:cNvSpPr txBox="1"/>
          <p:nvPr/>
        </p:nvSpPr>
        <p:spPr>
          <a:xfrm>
            <a:off x="919524" y="348029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Ownership of Outcomes</a:t>
            </a:r>
          </a:p>
        </p:txBody>
      </p:sp>
      <p:sp>
        <p:nvSpPr>
          <p:cNvPr id="22" name="TextBox 21">
            <a:extLst>
              <a:ext uri="{FF2B5EF4-FFF2-40B4-BE49-F238E27FC236}">
                <a16:creationId xmlns:a16="http://schemas.microsoft.com/office/drawing/2014/main" id="{4CC2071C-894F-28CC-E0D5-161A6451FDE5}"/>
              </a:ext>
            </a:extLst>
          </p:cNvPr>
          <p:cNvSpPr txBox="1"/>
          <p:nvPr/>
        </p:nvSpPr>
        <p:spPr>
          <a:xfrm>
            <a:off x="919524" y="3674231"/>
            <a:ext cx="6537890"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No standard process to manage delivery. Ownership is unclear across the lifecycle, with teams and vendors defining timelines and follow-up independently</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(No standard process to manage delivery. Each team estimates, sets timelines, and follows up on delivery)</a:t>
            </a:r>
          </a:p>
        </p:txBody>
      </p:sp>
      <p:sp>
        <p:nvSpPr>
          <p:cNvPr id="23" name="TextBox 22">
            <a:extLst>
              <a:ext uri="{FF2B5EF4-FFF2-40B4-BE49-F238E27FC236}">
                <a16:creationId xmlns:a16="http://schemas.microsoft.com/office/drawing/2014/main" id="{B754E0F5-B9CD-8541-5396-9CBA6303B468}"/>
              </a:ext>
            </a:extLst>
          </p:cNvPr>
          <p:cNvSpPr txBox="1"/>
          <p:nvPr/>
        </p:nvSpPr>
        <p:spPr>
          <a:xfrm>
            <a:off x="7649703" y="3676517"/>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clear ownership, performance management, and outcome-based </a:t>
            </a:r>
            <a:r>
              <a:rPr lang="en-US" sz="1100" noProof="0">
                <a:latin typeface="Arial" panose="020B0604020202020204" pitchFamily="34" charset="0"/>
                <a:cs typeface="Arial" panose="020B0604020202020204" pitchFamily="34" charset="0"/>
              </a:rPr>
              <a:t>governance.</a:t>
            </a:r>
            <a:endParaRPr lang="en-US" sz="1100" i="1" noProof="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6270B844-9C5D-C417-85DB-32C3C9C074B0}"/>
              </a:ext>
            </a:extLst>
          </p:cNvPr>
          <p:cNvSpPr txBox="1"/>
          <p:nvPr/>
        </p:nvSpPr>
        <p:spPr>
          <a:xfrm>
            <a:off x="919524" y="4234545"/>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Product-Level Steering</a:t>
            </a:r>
          </a:p>
        </p:txBody>
      </p:sp>
      <p:sp>
        <p:nvSpPr>
          <p:cNvPr id="27" name="TextBox 26">
            <a:extLst>
              <a:ext uri="{FF2B5EF4-FFF2-40B4-BE49-F238E27FC236}">
                <a16:creationId xmlns:a16="http://schemas.microsoft.com/office/drawing/2014/main" id="{6392295C-F6EB-2CD6-16CA-191F0704BCA9}"/>
              </a:ext>
            </a:extLst>
          </p:cNvPr>
          <p:cNvSpPr txBox="1"/>
          <p:nvPr/>
        </p:nvSpPr>
        <p:spPr>
          <a:xfrm>
            <a:off x="919524" y="4442709"/>
            <a:ext cx="6196321"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Existing forums are not structured to drive portfolio-level or product-based decisions. </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(Different recurring forums exist — but Manager Check-in participants are still TBC; no forum covers portfolio-level decisions.)</a:t>
            </a:r>
          </a:p>
        </p:txBody>
      </p:sp>
      <p:sp>
        <p:nvSpPr>
          <p:cNvPr id="28" name="TextBox 27">
            <a:extLst>
              <a:ext uri="{FF2B5EF4-FFF2-40B4-BE49-F238E27FC236}">
                <a16:creationId xmlns:a16="http://schemas.microsoft.com/office/drawing/2014/main" id="{21B543EB-5046-E649-6CCF-D83C1E0F87D7}"/>
              </a:ext>
            </a:extLst>
          </p:cNvPr>
          <p:cNvSpPr txBox="1"/>
          <p:nvPr/>
        </p:nvSpPr>
        <p:spPr>
          <a:xfrm>
            <a:off x="7649703" y="439442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governance aligned to product portfolios, with clear accountability </a:t>
            </a:r>
            <a:r>
              <a:rPr lang="en-US" sz="1100" noProof="0">
                <a:latin typeface="Arial" panose="020B0604020202020204" pitchFamily="34" charset="0"/>
                <a:cs typeface="Arial" panose="020B0604020202020204" pitchFamily="34" charset="0"/>
              </a:rPr>
              <a:t>and decision rights.</a:t>
            </a:r>
            <a:endParaRPr lang="en-US" sz="1100" i="1" noProof="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059A522-56FC-3D6A-F584-2FF1F0DF70AC}"/>
              </a:ext>
            </a:extLst>
          </p:cNvPr>
          <p:cNvSpPr txBox="1"/>
          <p:nvPr/>
        </p:nvSpPr>
        <p:spPr>
          <a:xfrm>
            <a:off x="919524" y="499984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Common Language of Value</a:t>
            </a:r>
          </a:p>
        </p:txBody>
      </p:sp>
      <p:sp>
        <p:nvSpPr>
          <p:cNvPr id="32" name="TextBox 31">
            <a:extLst>
              <a:ext uri="{FF2B5EF4-FFF2-40B4-BE49-F238E27FC236}">
                <a16:creationId xmlns:a16="http://schemas.microsoft.com/office/drawing/2014/main" id="{90145A56-45FD-9669-DA1D-98EF19A47C5B}"/>
              </a:ext>
            </a:extLst>
          </p:cNvPr>
          <p:cNvSpPr txBox="1"/>
          <p:nvPr/>
        </p:nvSpPr>
        <p:spPr>
          <a:xfrm>
            <a:off x="919524" y="5173283"/>
            <a:ext cx="6488273"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Lack of standardized definitions of impact (client, business value) prevents consistent evaluation and comparison of work</a:t>
            </a:r>
            <a:r>
              <a:rPr lang="en-US" sz="1000" i="1" noProof="0">
                <a:solidFill>
                  <a:schemeClr val="bg2">
                    <a:lumMod val="50000"/>
                  </a:schemeClr>
                </a:solidFill>
                <a:latin typeface="Arial" panose="020B0604020202020204" pitchFamily="34" charset="0"/>
                <a:cs typeface="Arial" panose="020B0604020202020204" pitchFamily="34" charset="0"/>
              </a:rPr>
              <a:t>.</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Each demand request is worked depending on perception of value and Demand size</a:t>
            </a:r>
          </a:p>
        </p:txBody>
      </p:sp>
      <p:sp>
        <p:nvSpPr>
          <p:cNvPr id="33" name="TextBox 32">
            <a:extLst>
              <a:ext uri="{FF2B5EF4-FFF2-40B4-BE49-F238E27FC236}">
                <a16:creationId xmlns:a16="http://schemas.microsoft.com/office/drawing/2014/main" id="{C47F888E-5A7A-3DAA-C87E-470B249C6C65}"/>
              </a:ext>
            </a:extLst>
          </p:cNvPr>
          <p:cNvSpPr txBox="1"/>
          <p:nvPr/>
        </p:nvSpPr>
        <p:spPr>
          <a:xfrm>
            <a:off x="7649703" y="517004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a shared taxonomy and classification model </a:t>
            </a:r>
            <a:r>
              <a:rPr lang="en-US" sz="1100" noProof="0">
                <a:latin typeface="Arial" panose="020B0604020202020204" pitchFamily="34" charset="0"/>
                <a:cs typeface="Arial" panose="020B0604020202020204" pitchFamily="34" charset="0"/>
              </a:rPr>
              <a:t>as a foundation for prioritization and planning.</a:t>
            </a:r>
            <a:endParaRPr lang="en-US" sz="1100" i="1"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52A5784-20FF-EB0D-909A-B8F5DC48B99B}"/>
              </a:ext>
            </a:extLst>
          </p:cNvPr>
          <p:cNvSpPr/>
          <p:nvPr/>
        </p:nvSpPr>
        <p:spPr>
          <a:xfrm>
            <a:off x="180918" y="121672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229A229-FF29-7FC0-0BEA-95403864A623}"/>
              </a:ext>
            </a:extLst>
          </p:cNvPr>
          <p:cNvSpPr txBox="1"/>
          <p:nvPr/>
        </p:nvSpPr>
        <p:spPr>
          <a:xfrm>
            <a:off x="328548" y="1426730"/>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9" name="Rectangle 8">
            <a:extLst>
              <a:ext uri="{FF2B5EF4-FFF2-40B4-BE49-F238E27FC236}">
                <a16:creationId xmlns:a16="http://schemas.microsoft.com/office/drawing/2014/main" id="{CF435038-0657-BF8A-19D3-E3607CC171D3}"/>
              </a:ext>
            </a:extLst>
          </p:cNvPr>
          <p:cNvSpPr/>
          <p:nvPr/>
        </p:nvSpPr>
        <p:spPr>
          <a:xfrm>
            <a:off x="180918" y="197298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74B817E-5017-EE81-086E-4D2AEF92575F}"/>
              </a:ext>
            </a:extLst>
          </p:cNvPr>
          <p:cNvSpPr txBox="1"/>
          <p:nvPr/>
        </p:nvSpPr>
        <p:spPr>
          <a:xfrm>
            <a:off x="328548" y="2182986"/>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14" name="Rectangle 13">
            <a:extLst>
              <a:ext uri="{FF2B5EF4-FFF2-40B4-BE49-F238E27FC236}">
                <a16:creationId xmlns:a16="http://schemas.microsoft.com/office/drawing/2014/main" id="{8A43BB93-7CC2-4ADD-E58B-F50F26F10DE7}"/>
              </a:ext>
            </a:extLst>
          </p:cNvPr>
          <p:cNvSpPr/>
          <p:nvPr/>
        </p:nvSpPr>
        <p:spPr>
          <a:xfrm>
            <a:off x="180918" y="2729236"/>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E7B6285-CD24-BBF7-4674-885A25C82CFD}"/>
              </a:ext>
            </a:extLst>
          </p:cNvPr>
          <p:cNvSpPr txBox="1"/>
          <p:nvPr/>
        </p:nvSpPr>
        <p:spPr>
          <a:xfrm>
            <a:off x="328548" y="2939243"/>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19" name="Rectangle 18">
            <a:extLst>
              <a:ext uri="{FF2B5EF4-FFF2-40B4-BE49-F238E27FC236}">
                <a16:creationId xmlns:a16="http://schemas.microsoft.com/office/drawing/2014/main" id="{85F102BB-DC4D-8F72-442C-80BCBAD92368}"/>
              </a:ext>
            </a:extLst>
          </p:cNvPr>
          <p:cNvSpPr/>
          <p:nvPr/>
        </p:nvSpPr>
        <p:spPr>
          <a:xfrm>
            <a:off x="180918" y="3485492"/>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064C2E11-10FB-73E9-036A-9FCC5080E806}"/>
              </a:ext>
            </a:extLst>
          </p:cNvPr>
          <p:cNvSpPr txBox="1"/>
          <p:nvPr/>
        </p:nvSpPr>
        <p:spPr>
          <a:xfrm>
            <a:off x="328548" y="3695499"/>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sp>
        <p:nvSpPr>
          <p:cNvPr id="24" name="Rectangle 23">
            <a:extLst>
              <a:ext uri="{FF2B5EF4-FFF2-40B4-BE49-F238E27FC236}">
                <a16:creationId xmlns:a16="http://schemas.microsoft.com/office/drawing/2014/main" id="{2D1BFC8F-58E8-1E5D-172B-C10AC5CD3F65}"/>
              </a:ext>
            </a:extLst>
          </p:cNvPr>
          <p:cNvSpPr/>
          <p:nvPr/>
        </p:nvSpPr>
        <p:spPr>
          <a:xfrm>
            <a:off x="180918" y="4241748"/>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39117DE-3648-FFD1-E719-EEFE4592B08F}"/>
              </a:ext>
            </a:extLst>
          </p:cNvPr>
          <p:cNvSpPr txBox="1"/>
          <p:nvPr/>
        </p:nvSpPr>
        <p:spPr>
          <a:xfrm>
            <a:off x="328548" y="4451755"/>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05</a:t>
            </a:r>
          </a:p>
        </p:txBody>
      </p:sp>
      <p:sp>
        <p:nvSpPr>
          <p:cNvPr id="29" name="Rectangle 28">
            <a:extLst>
              <a:ext uri="{FF2B5EF4-FFF2-40B4-BE49-F238E27FC236}">
                <a16:creationId xmlns:a16="http://schemas.microsoft.com/office/drawing/2014/main" id="{4A0BA51D-696B-A73F-40BE-3AFBAA50228B}"/>
              </a:ext>
            </a:extLst>
          </p:cNvPr>
          <p:cNvSpPr/>
          <p:nvPr/>
        </p:nvSpPr>
        <p:spPr>
          <a:xfrm>
            <a:off x="180918" y="499800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D191377D-06BA-5356-A657-64D1194BF15D}"/>
              </a:ext>
            </a:extLst>
          </p:cNvPr>
          <p:cNvSpPr txBox="1"/>
          <p:nvPr/>
        </p:nvSpPr>
        <p:spPr>
          <a:xfrm>
            <a:off x="328548" y="5208011"/>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06</a:t>
            </a:r>
          </a:p>
        </p:txBody>
      </p:sp>
      <p:sp>
        <p:nvSpPr>
          <p:cNvPr id="34" name="Rectangle 33">
            <a:extLst>
              <a:ext uri="{FF2B5EF4-FFF2-40B4-BE49-F238E27FC236}">
                <a16:creationId xmlns:a16="http://schemas.microsoft.com/office/drawing/2014/main" id="{DCE69145-A1D8-B0B3-2E8E-BEEA28B9EB08}"/>
              </a:ext>
            </a:extLst>
          </p:cNvPr>
          <p:cNvSpPr/>
          <p:nvPr/>
        </p:nvSpPr>
        <p:spPr>
          <a:xfrm>
            <a:off x="180918" y="575426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AE0D6EEC-2B2C-801E-FAF5-A487B54A2418}"/>
              </a:ext>
            </a:extLst>
          </p:cNvPr>
          <p:cNvSpPr txBox="1"/>
          <p:nvPr/>
        </p:nvSpPr>
        <p:spPr>
          <a:xfrm>
            <a:off x="328548" y="5964267"/>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07</a:t>
            </a:r>
          </a:p>
        </p:txBody>
      </p:sp>
      <p:sp>
        <p:nvSpPr>
          <p:cNvPr id="36" name="TextBox 35">
            <a:extLst>
              <a:ext uri="{FF2B5EF4-FFF2-40B4-BE49-F238E27FC236}">
                <a16:creationId xmlns:a16="http://schemas.microsoft.com/office/drawing/2014/main" id="{48237032-8BF7-01F1-40D7-DDF1133B27DC}"/>
              </a:ext>
            </a:extLst>
          </p:cNvPr>
          <p:cNvSpPr txBox="1"/>
          <p:nvPr/>
        </p:nvSpPr>
        <p:spPr>
          <a:xfrm>
            <a:off x="919524" y="5754257"/>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Product Ownership Model</a:t>
            </a:r>
          </a:p>
        </p:txBody>
      </p:sp>
      <p:sp>
        <p:nvSpPr>
          <p:cNvPr id="37" name="TextBox 36">
            <a:extLst>
              <a:ext uri="{FF2B5EF4-FFF2-40B4-BE49-F238E27FC236}">
                <a16:creationId xmlns:a16="http://schemas.microsoft.com/office/drawing/2014/main" id="{E0128705-A363-CB31-1DEA-01F6FDAA2EE7}"/>
              </a:ext>
            </a:extLst>
          </p:cNvPr>
          <p:cNvSpPr txBox="1"/>
          <p:nvPr/>
        </p:nvSpPr>
        <p:spPr>
          <a:xfrm>
            <a:off x="919524" y="5966732"/>
            <a:ext cx="6363262"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Work is organized around projects and applications, with limited alignment to value streams or business outcomes</a:t>
            </a:r>
            <a:r>
              <a:rPr lang="en-US" sz="1000" i="1" noProof="0">
                <a:solidFill>
                  <a:schemeClr val="bg2">
                    <a:lumMod val="50000"/>
                  </a:schemeClr>
                </a:solidFill>
                <a:latin typeface="Arial" panose="020B0604020202020204" pitchFamily="34" charset="0"/>
                <a:cs typeface="Arial" panose="020B0604020202020204" pitchFamily="34" charset="0"/>
              </a:rPr>
              <a:t>.</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(Demand is organized by application silo, not by Value Stream. IT requests don't trace to business OKRs)</a:t>
            </a:r>
          </a:p>
        </p:txBody>
      </p:sp>
      <p:sp>
        <p:nvSpPr>
          <p:cNvPr id="38" name="TextBox 37">
            <a:extLst>
              <a:ext uri="{FF2B5EF4-FFF2-40B4-BE49-F238E27FC236}">
                <a16:creationId xmlns:a16="http://schemas.microsoft.com/office/drawing/2014/main" id="{E94189D2-CB94-CA40-9AC6-8DFA6CA8AC2C}"/>
              </a:ext>
            </a:extLst>
          </p:cNvPr>
          <p:cNvSpPr txBox="1"/>
          <p:nvPr/>
        </p:nvSpPr>
        <p:spPr>
          <a:xfrm>
            <a:off x="7649703" y="594566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organizing around products, with clear ownership and alignment </a:t>
            </a:r>
            <a:r>
              <a:rPr lang="en-US" sz="1100" noProof="0">
                <a:latin typeface="Arial" panose="020B0604020202020204" pitchFamily="34" charset="0"/>
                <a:cs typeface="Arial" panose="020B0604020202020204" pitchFamily="34" charset="0"/>
              </a:rPr>
              <a:t>to business OKRs.</a:t>
            </a:r>
            <a:endParaRPr lang="en-US" sz="1100" i="1" noProof="0">
              <a:latin typeface="Arial" panose="020B0604020202020204" pitchFamily="34" charset="0"/>
              <a:cs typeface="Arial" panose="020B0604020202020204" pitchFamily="34" charset="0"/>
            </a:endParaRPr>
          </a:p>
        </p:txBody>
      </p:sp>
      <p:sp>
        <p:nvSpPr>
          <p:cNvPr id="54" name="Título 2">
            <a:extLst>
              <a:ext uri="{FF2B5EF4-FFF2-40B4-BE49-F238E27FC236}">
                <a16:creationId xmlns:a16="http://schemas.microsoft.com/office/drawing/2014/main" id="{03F623F5-EFD2-9D38-22C1-128E9190C211}"/>
              </a:ext>
            </a:extLst>
          </p:cNvPr>
          <p:cNvSpPr txBox="1">
            <a:spLocks/>
          </p:cNvSpPr>
          <p:nvPr/>
        </p:nvSpPr>
        <p:spPr>
          <a:xfrm>
            <a:off x="180917" y="127319"/>
            <a:ext cx="891545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STRUCTURAL MISALIGNMENT</a:t>
            </a:r>
          </a:p>
        </p:txBody>
      </p:sp>
      <p:sp>
        <p:nvSpPr>
          <p:cNvPr id="56" name="TextBox 55">
            <a:extLst>
              <a:ext uri="{FF2B5EF4-FFF2-40B4-BE49-F238E27FC236}">
                <a16:creationId xmlns:a16="http://schemas.microsoft.com/office/drawing/2014/main" id="{A42BB739-0AD3-F30C-96BB-BF0DD68CB1B0}"/>
              </a:ext>
            </a:extLst>
          </p:cNvPr>
          <p:cNvSpPr txBox="1"/>
          <p:nvPr/>
        </p:nvSpPr>
        <p:spPr>
          <a:xfrm>
            <a:off x="246506" y="84491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endParaRPr lang="en-US" noProof="0"/>
          </a:p>
        </p:txBody>
      </p:sp>
      <p:cxnSp>
        <p:nvCxnSpPr>
          <p:cNvPr id="39" name="Straight Connector 38">
            <a:extLst>
              <a:ext uri="{FF2B5EF4-FFF2-40B4-BE49-F238E27FC236}">
                <a16:creationId xmlns:a16="http://schemas.microsoft.com/office/drawing/2014/main" id="{F481F9A8-FF32-E815-DE48-2A44153EFBBE}"/>
              </a:ext>
            </a:extLst>
          </p:cNvPr>
          <p:cNvCxnSpPr>
            <a:cxnSpLocks/>
          </p:cNvCxnSpPr>
          <p:nvPr/>
        </p:nvCxnSpPr>
        <p:spPr>
          <a:xfrm flipV="1">
            <a:off x="180918" y="1909814"/>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1" name="Straight Connector 40">
            <a:extLst>
              <a:ext uri="{FF2B5EF4-FFF2-40B4-BE49-F238E27FC236}">
                <a16:creationId xmlns:a16="http://schemas.microsoft.com/office/drawing/2014/main" id="{2099AB10-EA7B-3827-E78A-558A8822F000}"/>
              </a:ext>
            </a:extLst>
          </p:cNvPr>
          <p:cNvCxnSpPr>
            <a:cxnSpLocks/>
          </p:cNvCxnSpPr>
          <p:nvPr/>
        </p:nvCxnSpPr>
        <p:spPr>
          <a:xfrm flipV="1">
            <a:off x="180918" y="266316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2" name="Straight Connector 41">
            <a:extLst>
              <a:ext uri="{FF2B5EF4-FFF2-40B4-BE49-F238E27FC236}">
                <a16:creationId xmlns:a16="http://schemas.microsoft.com/office/drawing/2014/main" id="{072BF85D-C85D-4DCB-E521-A2396133702F}"/>
              </a:ext>
            </a:extLst>
          </p:cNvPr>
          <p:cNvCxnSpPr>
            <a:cxnSpLocks/>
          </p:cNvCxnSpPr>
          <p:nvPr/>
        </p:nvCxnSpPr>
        <p:spPr>
          <a:xfrm flipV="1">
            <a:off x="180918" y="3427289"/>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3" name="Straight Connector 42">
            <a:extLst>
              <a:ext uri="{FF2B5EF4-FFF2-40B4-BE49-F238E27FC236}">
                <a16:creationId xmlns:a16="http://schemas.microsoft.com/office/drawing/2014/main" id="{5F173203-1E08-C71A-1317-A1147BAE147E}"/>
              </a:ext>
            </a:extLst>
          </p:cNvPr>
          <p:cNvCxnSpPr>
            <a:cxnSpLocks/>
          </p:cNvCxnSpPr>
          <p:nvPr/>
        </p:nvCxnSpPr>
        <p:spPr>
          <a:xfrm flipV="1">
            <a:off x="180918" y="4180332"/>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4" name="Straight Connector 43">
            <a:extLst>
              <a:ext uri="{FF2B5EF4-FFF2-40B4-BE49-F238E27FC236}">
                <a16:creationId xmlns:a16="http://schemas.microsoft.com/office/drawing/2014/main" id="{526AB619-419A-C74C-D5A9-C48E13A7F1AB}"/>
              </a:ext>
            </a:extLst>
          </p:cNvPr>
          <p:cNvCxnSpPr>
            <a:cxnSpLocks/>
          </p:cNvCxnSpPr>
          <p:nvPr/>
        </p:nvCxnSpPr>
        <p:spPr>
          <a:xfrm flipV="1">
            <a:off x="180918" y="4942556"/>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5" name="Straight Connector 44">
            <a:extLst>
              <a:ext uri="{FF2B5EF4-FFF2-40B4-BE49-F238E27FC236}">
                <a16:creationId xmlns:a16="http://schemas.microsoft.com/office/drawing/2014/main" id="{2C26084E-7FBD-D69E-427B-B954F9D11C8E}"/>
              </a:ext>
            </a:extLst>
          </p:cNvPr>
          <p:cNvCxnSpPr>
            <a:cxnSpLocks/>
          </p:cNvCxnSpPr>
          <p:nvPr/>
        </p:nvCxnSpPr>
        <p:spPr>
          <a:xfrm flipV="1">
            <a:off x="180918" y="569337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sp>
        <p:nvSpPr>
          <p:cNvPr id="46" name="Arrow: Chevron 45">
            <a:extLst>
              <a:ext uri="{FF2B5EF4-FFF2-40B4-BE49-F238E27FC236}">
                <a16:creationId xmlns:a16="http://schemas.microsoft.com/office/drawing/2014/main" id="{4BFA41C6-61B8-4738-9A9C-2CE7999EF801}"/>
              </a:ext>
            </a:extLst>
          </p:cNvPr>
          <p:cNvSpPr/>
          <p:nvPr/>
        </p:nvSpPr>
        <p:spPr>
          <a:xfrm>
            <a:off x="7248324" y="149269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7" name="Arrow: Chevron 46">
            <a:extLst>
              <a:ext uri="{FF2B5EF4-FFF2-40B4-BE49-F238E27FC236}">
                <a16:creationId xmlns:a16="http://schemas.microsoft.com/office/drawing/2014/main" id="{ADF155AE-1B56-925C-6DCA-6C878B700744}"/>
              </a:ext>
            </a:extLst>
          </p:cNvPr>
          <p:cNvSpPr/>
          <p:nvPr/>
        </p:nvSpPr>
        <p:spPr>
          <a:xfrm>
            <a:off x="7263736" y="22422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8" name="Arrow: Chevron 47">
            <a:extLst>
              <a:ext uri="{FF2B5EF4-FFF2-40B4-BE49-F238E27FC236}">
                <a16:creationId xmlns:a16="http://schemas.microsoft.com/office/drawing/2014/main" id="{58E04829-2F60-A40E-715B-FC6E9B7ACE64}"/>
              </a:ext>
            </a:extLst>
          </p:cNvPr>
          <p:cNvSpPr/>
          <p:nvPr/>
        </p:nvSpPr>
        <p:spPr>
          <a:xfrm>
            <a:off x="7290338" y="3002473"/>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9" name="Arrow: Chevron 48">
            <a:extLst>
              <a:ext uri="{FF2B5EF4-FFF2-40B4-BE49-F238E27FC236}">
                <a16:creationId xmlns:a16="http://schemas.microsoft.com/office/drawing/2014/main" id="{D9C7EBDF-DE92-3CEA-2ADE-C1D7F564F524}"/>
              </a:ext>
            </a:extLst>
          </p:cNvPr>
          <p:cNvSpPr/>
          <p:nvPr/>
        </p:nvSpPr>
        <p:spPr>
          <a:xfrm>
            <a:off x="7290338" y="376174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0" name="Arrow: Chevron 49">
            <a:extLst>
              <a:ext uri="{FF2B5EF4-FFF2-40B4-BE49-F238E27FC236}">
                <a16:creationId xmlns:a16="http://schemas.microsoft.com/office/drawing/2014/main" id="{7115F4D8-5300-B143-E38C-D74D269A36E7}"/>
              </a:ext>
            </a:extLst>
          </p:cNvPr>
          <p:cNvSpPr/>
          <p:nvPr/>
        </p:nvSpPr>
        <p:spPr>
          <a:xfrm>
            <a:off x="7289084" y="451242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1" name="Arrow: Chevron 50">
            <a:extLst>
              <a:ext uri="{FF2B5EF4-FFF2-40B4-BE49-F238E27FC236}">
                <a16:creationId xmlns:a16="http://schemas.microsoft.com/office/drawing/2014/main" id="{BB835A5B-CE13-8A8E-A8F9-F5611DA0579C}"/>
              </a:ext>
            </a:extLst>
          </p:cNvPr>
          <p:cNvSpPr/>
          <p:nvPr/>
        </p:nvSpPr>
        <p:spPr>
          <a:xfrm>
            <a:off x="7286608" y="528218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2" name="Arrow: Chevron 51">
            <a:extLst>
              <a:ext uri="{FF2B5EF4-FFF2-40B4-BE49-F238E27FC236}">
                <a16:creationId xmlns:a16="http://schemas.microsoft.com/office/drawing/2014/main" id="{AD587AD5-A9C1-9071-0C65-E9459EDED365}"/>
              </a:ext>
            </a:extLst>
          </p:cNvPr>
          <p:cNvSpPr/>
          <p:nvPr/>
        </p:nvSpPr>
        <p:spPr>
          <a:xfrm>
            <a:off x="7301311" y="60695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3" name="Arrow: Chevron 52">
            <a:extLst>
              <a:ext uri="{FF2B5EF4-FFF2-40B4-BE49-F238E27FC236}">
                <a16:creationId xmlns:a16="http://schemas.microsoft.com/office/drawing/2014/main" id="{B44F0441-D04D-9A98-E784-4B474C05B127}"/>
              </a:ext>
            </a:extLst>
          </p:cNvPr>
          <p:cNvSpPr/>
          <p:nvPr/>
        </p:nvSpPr>
        <p:spPr>
          <a:xfrm>
            <a:off x="7341991" y="149269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5" name="Arrow: Chevron 54">
            <a:extLst>
              <a:ext uri="{FF2B5EF4-FFF2-40B4-BE49-F238E27FC236}">
                <a16:creationId xmlns:a16="http://schemas.microsoft.com/office/drawing/2014/main" id="{EB499A98-A4C5-C0F0-287A-FF8A76461E39}"/>
              </a:ext>
            </a:extLst>
          </p:cNvPr>
          <p:cNvSpPr/>
          <p:nvPr/>
        </p:nvSpPr>
        <p:spPr>
          <a:xfrm>
            <a:off x="7357403" y="22422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7" name="Arrow: Chevron 56">
            <a:extLst>
              <a:ext uri="{FF2B5EF4-FFF2-40B4-BE49-F238E27FC236}">
                <a16:creationId xmlns:a16="http://schemas.microsoft.com/office/drawing/2014/main" id="{E61327B6-6D88-6363-1D4F-A07AC661D2D0}"/>
              </a:ext>
            </a:extLst>
          </p:cNvPr>
          <p:cNvSpPr/>
          <p:nvPr/>
        </p:nvSpPr>
        <p:spPr>
          <a:xfrm>
            <a:off x="7384005" y="3002473"/>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8" name="Arrow: Chevron 57">
            <a:extLst>
              <a:ext uri="{FF2B5EF4-FFF2-40B4-BE49-F238E27FC236}">
                <a16:creationId xmlns:a16="http://schemas.microsoft.com/office/drawing/2014/main" id="{50DBE760-37F0-8710-1C37-B35657F947B3}"/>
              </a:ext>
            </a:extLst>
          </p:cNvPr>
          <p:cNvSpPr/>
          <p:nvPr/>
        </p:nvSpPr>
        <p:spPr>
          <a:xfrm>
            <a:off x="7384005" y="376174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9" name="Arrow: Chevron 58">
            <a:extLst>
              <a:ext uri="{FF2B5EF4-FFF2-40B4-BE49-F238E27FC236}">
                <a16:creationId xmlns:a16="http://schemas.microsoft.com/office/drawing/2014/main" id="{41F67AED-BD03-F5E2-6B29-CA8819A21C02}"/>
              </a:ext>
            </a:extLst>
          </p:cNvPr>
          <p:cNvSpPr/>
          <p:nvPr/>
        </p:nvSpPr>
        <p:spPr>
          <a:xfrm>
            <a:off x="7382751" y="451242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60" name="Arrow: Chevron 59">
            <a:extLst>
              <a:ext uri="{FF2B5EF4-FFF2-40B4-BE49-F238E27FC236}">
                <a16:creationId xmlns:a16="http://schemas.microsoft.com/office/drawing/2014/main" id="{8C78DF2C-CDD2-7EEC-8EC8-A72654CB88E2}"/>
              </a:ext>
            </a:extLst>
          </p:cNvPr>
          <p:cNvSpPr/>
          <p:nvPr/>
        </p:nvSpPr>
        <p:spPr>
          <a:xfrm>
            <a:off x="7380275" y="528218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61" name="Arrow: Chevron 60">
            <a:extLst>
              <a:ext uri="{FF2B5EF4-FFF2-40B4-BE49-F238E27FC236}">
                <a16:creationId xmlns:a16="http://schemas.microsoft.com/office/drawing/2014/main" id="{787F460C-5207-BFAE-88B8-EBDE523FCDAB}"/>
              </a:ext>
            </a:extLst>
          </p:cNvPr>
          <p:cNvSpPr/>
          <p:nvPr/>
        </p:nvSpPr>
        <p:spPr>
          <a:xfrm>
            <a:off x="7394978" y="60695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3" name="CuadroTexto 204">
            <a:extLst>
              <a:ext uri="{FF2B5EF4-FFF2-40B4-BE49-F238E27FC236}">
                <a16:creationId xmlns:a16="http://schemas.microsoft.com/office/drawing/2014/main" id="{3E3E8882-B7C1-1410-2FB9-3F29C9E55E0E}"/>
              </a:ext>
            </a:extLst>
          </p:cNvPr>
          <p:cNvSpPr txBox="1"/>
          <p:nvPr/>
        </p:nvSpPr>
        <p:spPr>
          <a:xfrm>
            <a:off x="325121" y="864643"/>
            <a:ext cx="11504930" cy="523220"/>
          </a:xfrm>
          <a:prstGeom prst="rect">
            <a:avLst/>
          </a:prstGeom>
          <a:noFill/>
        </p:spPr>
        <p:txBody>
          <a:bodyPr wrap="square">
            <a:spAutoFit/>
          </a:bodyPr>
          <a:lstStyle/>
          <a:p>
            <a:r>
              <a:rPr lang="en-US" sz="1400" b="1">
                <a:solidFill>
                  <a:schemeClr val="accent4">
                    <a:lumMod val="75000"/>
                  </a:schemeClr>
                </a:solidFill>
                <a:latin typeface="Arial" panose="020B0604020202020204" pitchFamily="34" charset="0"/>
                <a:cs typeface="Arial" panose="020B0604020202020204" pitchFamily="34" charset="0"/>
              </a:rPr>
              <a:t>Seven structural issues surface — no single-area fix resolves them; the TOM must standardize end-to-end</a:t>
            </a:r>
          </a:p>
          <a:p>
            <a:endParaRPr lang="en-US" sz="1400" b="1" noProof="0">
              <a:solidFill>
                <a:schemeClr val="accent4">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8284996"/>
      </p:ext>
    </p:extLst>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a:extLst>
              <a:ext uri="{FF2B5EF4-FFF2-40B4-BE49-F238E27FC236}">
                <a16:creationId xmlns:a16="http://schemas.microsoft.com/office/drawing/2014/main" id="{8654481F-324A-8815-FE3D-E2304C84E01C}"/>
              </a:ext>
            </a:extLst>
          </p:cNvPr>
          <p:cNvCxnSpPr>
            <a:cxnSpLocks/>
          </p:cNvCxnSpPr>
          <p:nvPr/>
        </p:nvCxnSpPr>
        <p:spPr>
          <a:xfrm>
            <a:off x="1162001" y="1972058"/>
            <a:ext cx="2187038" cy="0"/>
          </a:xfrm>
          <a:prstGeom prst="line">
            <a:avLst/>
          </a:prstGeom>
          <a:solidFill>
            <a:schemeClr val="bg1"/>
          </a:solidFill>
          <a:ln w="19050">
            <a:solidFill>
              <a:srgbClr val="D9D9D9"/>
            </a:solidFill>
            <a:prstDash val="dash"/>
          </a:ln>
        </p:spPr>
      </p:cxnSp>
      <p:cxnSp>
        <p:nvCxnSpPr>
          <p:cNvPr id="35" name="Conector recto 34">
            <a:extLst>
              <a:ext uri="{FF2B5EF4-FFF2-40B4-BE49-F238E27FC236}">
                <a16:creationId xmlns:a16="http://schemas.microsoft.com/office/drawing/2014/main" id="{B1E93184-8766-3252-E177-69C36FC100B2}"/>
              </a:ext>
            </a:extLst>
          </p:cNvPr>
          <p:cNvCxnSpPr>
            <a:cxnSpLocks/>
          </p:cNvCxnSpPr>
          <p:nvPr/>
        </p:nvCxnSpPr>
        <p:spPr>
          <a:xfrm>
            <a:off x="1162001" y="6093306"/>
            <a:ext cx="2187038" cy="0"/>
          </a:xfrm>
          <a:prstGeom prst="line">
            <a:avLst/>
          </a:prstGeom>
          <a:solidFill>
            <a:schemeClr val="bg1"/>
          </a:solidFill>
          <a:ln w="19050">
            <a:solidFill>
              <a:srgbClr val="D9D9D9"/>
            </a:solidFill>
            <a:prstDash val="dash"/>
          </a:ln>
        </p:spPr>
      </p:cxnSp>
      <p:cxnSp>
        <p:nvCxnSpPr>
          <p:cNvPr id="33" name="Conector recto 32">
            <a:extLst>
              <a:ext uri="{FF2B5EF4-FFF2-40B4-BE49-F238E27FC236}">
                <a16:creationId xmlns:a16="http://schemas.microsoft.com/office/drawing/2014/main" id="{83E7EB74-4B4B-F9D5-5AE4-566B6A68154D}"/>
              </a:ext>
            </a:extLst>
          </p:cNvPr>
          <p:cNvCxnSpPr>
            <a:cxnSpLocks/>
          </p:cNvCxnSpPr>
          <p:nvPr/>
        </p:nvCxnSpPr>
        <p:spPr>
          <a:xfrm>
            <a:off x="2489200" y="3345673"/>
            <a:ext cx="2275840" cy="0"/>
          </a:xfrm>
          <a:prstGeom prst="line">
            <a:avLst/>
          </a:prstGeom>
          <a:solidFill>
            <a:schemeClr val="bg1"/>
          </a:solidFill>
          <a:ln w="19050">
            <a:solidFill>
              <a:srgbClr val="D9D9D9"/>
            </a:solidFill>
            <a:prstDash val="dash"/>
          </a:ln>
        </p:spPr>
      </p:cxnSp>
      <p:cxnSp>
        <p:nvCxnSpPr>
          <p:cNvPr id="34" name="Conector recto 33">
            <a:extLst>
              <a:ext uri="{FF2B5EF4-FFF2-40B4-BE49-F238E27FC236}">
                <a16:creationId xmlns:a16="http://schemas.microsoft.com/office/drawing/2014/main" id="{B1A3185D-D3E3-7038-3582-7FA3898DE10B}"/>
              </a:ext>
            </a:extLst>
          </p:cNvPr>
          <p:cNvCxnSpPr>
            <a:cxnSpLocks/>
          </p:cNvCxnSpPr>
          <p:nvPr/>
        </p:nvCxnSpPr>
        <p:spPr>
          <a:xfrm>
            <a:off x="2489200" y="4719690"/>
            <a:ext cx="2275840" cy="0"/>
          </a:xfrm>
          <a:prstGeom prst="line">
            <a:avLst/>
          </a:prstGeom>
          <a:solidFill>
            <a:schemeClr val="bg1"/>
          </a:solidFill>
          <a:ln w="19050">
            <a:solidFill>
              <a:srgbClr val="D9D9D9"/>
            </a:solidFill>
            <a:prstDash val="dash"/>
          </a:ln>
        </p:spPr>
      </p:cxnSp>
      <p:sp>
        <p:nvSpPr>
          <p:cNvPr id="28" name="CuadroTexto 27">
            <a:extLst>
              <a:ext uri="{FF2B5EF4-FFF2-40B4-BE49-F238E27FC236}">
                <a16:creationId xmlns:a16="http://schemas.microsoft.com/office/drawing/2014/main" id="{24A803C9-FBD9-D0F9-6A29-13B8DBF8B491}"/>
              </a:ext>
            </a:extLst>
          </p:cNvPr>
          <p:cNvSpPr txBox="1"/>
          <p:nvPr/>
        </p:nvSpPr>
        <p:spPr>
          <a:xfrm>
            <a:off x="3281680" y="1406082"/>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29" name="CuadroTexto 28">
            <a:extLst>
              <a:ext uri="{FF2B5EF4-FFF2-40B4-BE49-F238E27FC236}">
                <a16:creationId xmlns:a16="http://schemas.microsoft.com/office/drawing/2014/main" id="{41195EA4-7175-365A-89A8-03BDDC498152}"/>
              </a:ext>
            </a:extLst>
          </p:cNvPr>
          <p:cNvSpPr txBox="1"/>
          <p:nvPr/>
        </p:nvSpPr>
        <p:spPr>
          <a:xfrm>
            <a:off x="3281680" y="2779831"/>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30" name="CuadroTexto 29">
            <a:extLst>
              <a:ext uri="{FF2B5EF4-FFF2-40B4-BE49-F238E27FC236}">
                <a16:creationId xmlns:a16="http://schemas.microsoft.com/office/drawing/2014/main" id="{5D5EEA72-A45D-6D68-639A-88270F72404B}"/>
              </a:ext>
            </a:extLst>
          </p:cNvPr>
          <p:cNvSpPr txBox="1"/>
          <p:nvPr/>
        </p:nvSpPr>
        <p:spPr>
          <a:xfrm>
            <a:off x="3281680" y="4153580"/>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31" name="CuadroTexto 30">
            <a:extLst>
              <a:ext uri="{FF2B5EF4-FFF2-40B4-BE49-F238E27FC236}">
                <a16:creationId xmlns:a16="http://schemas.microsoft.com/office/drawing/2014/main" id="{E9921B9C-FD48-447F-89B3-BC21E547C718}"/>
              </a:ext>
            </a:extLst>
          </p:cNvPr>
          <p:cNvSpPr txBox="1"/>
          <p:nvPr/>
        </p:nvSpPr>
        <p:spPr>
          <a:xfrm>
            <a:off x="3281680" y="5527330"/>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pic>
        <p:nvPicPr>
          <p:cNvPr id="2" name="Graphic 26">
            <a:extLst>
              <a:ext uri="{FF2B5EF4-FFF2-40B4-BE49-F238E27FC236}">
                <a16:creationId xmlns:a16="http://schemas.microsoft.com/office/drawing/2014/main" id="{DF18890C-6DFF-5178-610E-FEF539F881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0330" y="1558935"/>
            <a:ext cx="2242867" cy="4947494"/>
          </a:xfrm>
          <a:prstGeom prst="rect">
            <a:avLst/>
          </a:prstGeom>
        </p:spPr>
      </p:pic>
      <p:sp>
        <p:nvSpPr>
          <p:cNvPr id="6" name="CuadroTexto 5">
            <a:extLst>
              <a:ext uri="{FF2B5EF4-FFF2-40B4-BE49-F238E27FC236}">
                <a16:creationId xmlns:a16="http://schemas.microsoft.com/office/drawing/2014/main" id="{243591B2-D961-E9BA-32A9-9538B09446C2}"/>
              </a:ext>
            </a:extLst>
          </p:cNvPr>
          <p:cNvSpPr txBox="1"/>
          <p:nvPr/>
        </p:nvSpPr>
        <p:spPr>
          <a:xfrm>
            <a:off x="3449684" y="1833157"/>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DEMAND INTAKE &amp; STRUCTURING</a:t>
            </a:r>
          </a:p>
        </p:txBody>
      </p:sp>
      <p:sp>
        <p:nvSpPr>
          <p:cNvPr id="8" name="CuadroTexto 7">
            <a:extLst>
              <a:ext uri="{FF2B5EF4-FFF2-40B4-BE49-F238E27FC236}">
                <a16:creationId xmlns:a16="http://schemas.microsoft.com/office/drawing/2014/main" id="{CC3EBE2A-7646-5F34-19A1-6B561CF9094D}"/>
              </a:ext>
            </a:extLst>
          </p:cNvPr>
          <p:cNvSpPr txBox="1"/>
          <p:nvPr/>
        </p:nvSpPr>
        <p:spPr>
          <a:xfrm>
            <a:off x="3449684" y="3114975"/>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VALUE-BASED PRIORITIZATION</a:t>
            </a:r>
          </a:p>
        </p:txBody>
      </p:sp>
      <p:sp>
        <p:nvSpPr>
          <p:cNvPr id="10" name="CuadroTexto 9">
            <a:extLst>
              <a:ext uri="{FF2B5EF4-FFF2-40B4-BE49-F238E27FC236}">
                <a16:creationId xmlns:a16="http://schemas.microsoft.com/office/drawing/2014/main" id="{D1E9A292-2FF3-4F77-96EC-05D66F35FADB}"/>
              </a:ext>
            </a:extLst>
          </p:cNvPr>
          <p:cNvSpPr txBox="1"/>
          <p:nvPr/>
        </p:nvSpPr>
        <p:spPr>
          <a:xfrm>
            <a:off x="3321453" y="4488858"/>
            <a:ext cx="2632307"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PRODUCT PORTFOLIO MANAGEMENT &amp; PLANNING</a:t>
            </a:r>
          </a:p>
        </p:txBody>
      </p:sp>
      <p:sp>
        <p:nvSpPr>
          <p:cNvPr id="12" name="CuadroTexto 11">
            <a:extLst>
              <a:ext uri="{FF2B5EF4-FFF2-40B4-BE49-F238E27FC236}">
                <a16:creationId xmlns:a16="http://schemas.microsoft.com/office/drawing/2014/main" id="{7B51ECA9-6E6D-772E-FB13-87E4F91FCD24}"/>
              </a:ext>
            </a:extLst>
          </p:cNvPr>
          <p:cNvSpPr txBox="1"/>
          <p:nvPr/>
        </p:nvSpPr>
        <p:spPr>
          <a:xfrm>
            <a:off x="3449684" y="5862474"/>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PRODUCT GOVERNANCE &amp; OWNERSHIP</a:t>
            </a:r>
          </a:p>
        </p:txBody>
      </p:sp>
      <p:sp>
        <p:nvSpPr>
          <p:cNvPr id="4" name="CuadroTexto 3">
            <a:extLst>
              <a:ext uri="{FF2B5EF4-FFF2-40B4-BE49-F238E27FC236}">
                <a16:creationId xmlns:a16="http://schemas.microsoft.com/office/drawing/2014/main" id="{C0BCAA00-4CB2-BD2B-62CF-61028376C95F}"/>
              </a:ext>
            </a:extLst>
          </p:cNvPr>
          <p:cNvSpPr txBox="1"/>
          <p:nvPr/>
        </p:nvSpPr>
        <p:spPr>
          <a:xfrm>
            <a:off x="5695538" y="5635859"/>
            <a:ext cx="5808890" cy="938719"/>
          </a:xfrm>
          <a:prstGeom prst="rect">
            <a:avLst/>
          </a:prstGeom>
          <a:noFill/>
          <a:ln>
            <a:noFill/>
            <a:prstDash val="dash"/>
          </a:ln>
        </p:spPr>
        <p:txBody>
          <a:bodyPr wrap="square">
            <a:spAutoFit/>
          </a:bodyPr>
          <a:lstStyle/>
          <a:p>
            <a:pPr>
              <a:buNone/>
            </a:pPr>
            <a:r>
              <a:rPr lang="en-US" sz="1100" noProof="0">
                <a:latin typeface="Arial" panose="020B0604020202020204" pitchFamily="34" charset="0"/>
                <a:cs typeface="Arial" panose="020B0604020202020204" pitchFamily="34" charset="0"/>
              </a:rPr>
              <a:t>Clear </a:t>
            </a:r>
            <a:r>
              <a:rPr lang="en-US" sz="1100" b="1" noProof="0">
                <a:latin typeface="Arial" panose="020B0604020202020204" pitchFamily="34" charset="0"/>
                <a:cs typeface="Arial" panose="020B0604020202020204" pitchFamily="34" charset="0"/>
              </a:rPr>
              <a:t>accountability and governance </a:t>
            </a:r>
            <a:r>
              <a:rPr lang="en-US" sz="1100" noProof="0">
                <a:latin typeface="Arial" panose="020B0604020202020204" pitchFamily="34" charset="0"/>
                <a:cs typeface="Arial" panose="020B0604020202020204" pitchFamily="34" charset="0"/>
              </a:rPr>
              <a:t>ensure decisions are aligned to product outcomes.</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Defined roles</a:t>
            </a:r>
            <a:r>
              <a:rPr lang="en-US" sz="1100" noProof="0">
                <a:latin typeface="Arial" panose="020B0604020202020204" pitchFamily="34" charset="0"/>
                <a:cs typeface="Arial" panose="020B0604020202020204" pitchFamily="34" charset="0"/>
              </a:rPr>
              <a:t> (Product Owner / Product Manager / Tech Lead)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Product-based governance forums </a:t>
            </a:r>
            <a:r>
              <a:rPr lang="en-US" sz="1100" noProof="0">
                <a:latin typeface="Arial" panose="020B0604020202020204" pitchFamily="34" charset="0"/>
                <a:cs typeface="Arial" panose="020B0604020202020204" pitchFamily="34" charset="0"/>
              </a:rPr>
              <a:t>with decision rights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Vendor management aligned to product </a:t>
            </a:r>
            <a:r>
              <a:rPr lang="en-US" sz="1100" noProof="0">
                <a:latin typeface="Arial" panose="020B0604020202020204" pitchFamily="34" charset="0"/>
                <a:cs typeface="Arial" panose="020B0604020202020204" pitchFamily="34" charset="0"/>
              </a:rPr>
              <a:t>performance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KPIs tied to product outcomes and business value</a:t>
            </a:r>
          </a:p>
        </p:txBody>
      </p:sp>
      <p:sp>
        <p:nvSpPr>
          <p:cNvPr id="14" name="CuadroTexto 13">
            <a:extLst>
              <a:ext uri="{FF2B5EF4-FFF2-40B4-BE49-F238E27FC236}">
                <a16:creationId xmlns:a16="http://schemas.microsoft.com/office/drawing/2014/main" id="{81E28528-D4D8-564B-6A3E-BE00463BD557}"/>
              </a:ext>
            </a:extLst>
          </p:cNvPr>
          <p:cNvSpPr txBox="1"/>
          <p:nvPr/>
        </p:nvSpPr>
        <p:spPr>
          <a:xfrm>
            <a:off x="5695538" y="1417658"/>
            <a:ext cx="5862050" cy="1107996"/>
          </a:xfrm>
          <a:prstGeom prst="rect">
            <a:avLst/>
          </a:prstGeom>
          <a:noFill/>
          <a:ln>
            <a:noFill/>
            <a:prstDash val="dash"/>
          </a:ln>
        </p:spPr>
        <p:txBody>
          <a:bodyPr wrap="square">
            <a:spAutoFit/>
          </a:bodyPr>
          <a:lstStyle/>
          <a:p>
            <a:pPr>
              <a:buNone/>
            </a:pPr>
            <a:r>
              <a:rPr lang="en-US" sz="1100" noProof="0">
                <a:latin typeface="Arial" panose="020B0604020202020204" pitchFamily="34" charset="0"/>
                <a:cs typeface="Arial" panose="020B0604020202020204" pitchFamily="34" charset="0"/>
              </a:rPr>
              <a:t>All demand must be captured through a </a:t>
            </a:r>
            <a:r>
              <a:rPr lang="en-US" sz="1100" b="1" noProof="0">
                <a:latin typeface="Arial" panose="020B0604020202020204" pitchFamily="34" charset="0"/>
                <a:cs typeface="Arial" panose="020B0604020202020204" pitchFamily="34" charset="0"/>
              </a:rPr>
              <a:t>unified intake layer aligned to products or value streams</a:t>
            </a:r>
            <a:r>
              <a:rPr lang="en-US" sz="1100" noProof="0">
                <a:latin typeface="Arial" panose="020B0604020202020204" pitchFamily="34" charset="0"/>
                <a:cs typeface="Arial" panose="020B0604020202020204" pitchFamily="34" charset="0"/>
              </a:rPr>
              <a:t>, ensuring </a:t>
            </a:r>
            <a:r>
              <a:rPr lang="en-US" sz="1100" b="1" noProof="0">
                <a:latin typeface="Arial" panose="020B0604020202020204" pitchFamily="34" charset="0"/>
                <a:cs typeface="Arial" panose="020B0604020202020204" pitchFamily="34" charset="0"/>
              </a:rPr>
              <a:t>full visibility and traceability</a:t>
            </a:r>
            <a:r>
              <a:rPr lang="en-US" sz="1100" noProof="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Single entry point </a:t>
            </a:r>
            <a:r>
              <a:rPr lang="en-US" sz="1100" noProof="0">
                <a:latin typeface="Arial" panose="020B0604020202020204" pitchFamily="34" charset="0"/>
                <a:cs typeface="Arial" panose="020B0604020202020204" pitchFamily="34" charset="0"/>
              </a:rPr>
              <a:t>per product/value stream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Standard intake criteria and </a:t>
            </a:r>
            <a:r>
              <a:rPr lang="en-US" sz="1100" noProof="0">
                <a:latin typeface="Arial" panose="020B0604020202020204" pitchFamily="34" charset="0"/>
                <a:cs typeface="Arial" panose="020B0604020202020204" pitchFamily="34" charset="0"/>
              </a:rPr>
              <a:t>mandatory fields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Consistent demand categorization </a:t>
            </a:r>
            <a:r>
              <a:rPr lang="en-US" sz="1100" noProof="0">
                <a:latin typeface="Arial" panose="020B0604020202020204" pitchFamily="34" charset="0"/>
                <a:cs typeface="Arial" panose="020B0604020202020204" pitchFamily="34" charset="0"/>
              </a:rPr>
              <a:t>across teams (type, size, complexity, value driver)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Clear ownership </a:t>
            </a:r>
            <a:r>
              <a:rPr lang="en-US" sz="1100" noProof="0">
                <a:latin typeface="Arial" panose="020B0604020202020204" pitchFamily="34" charset="0"/>
                <a:cs typeface="Arial" panose="020B0604020202020204" pitchFamily="34" charset="0"/>
              </a:rPr>
              <a:t>for triage and backlog assignment </a:t>
            </a:r>
          </a:p>
        </p:txBody>
      </p:sp>
      <p:sp>
        <p:nvSpPr>
          <p:cNvPr id="16" name="CuadroTexto 15">
            <a:extLst>
              <a:ext uri="{FF2B5EF4-FFF2-40B4-BE49-F238E27FC236}">
                <a16:creationId xmlns:a16="http://schemas.microsoft.com/office/drawing/2014/main" id="{D20CA89E-E37A-61CD-7B2F-4C00F6ED08B4}"/>
              </a:ext>
            </a:extLst>
          </p:cNvPr>
          <p:cNvSpPr txBox="1"/>
          <p:nvPr/>
        </p:nvSpPr>
        <p:spPr>
          <a:xfrm>
            <a:off x="5695538" y="2791675"/>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r>
              <a:rPr lang="en-US" noProof="0"/>
              <a:t>Demand is consistently </a:t>
            </a:r>
            <a:r>
              <a:rPr lang="en-US" b="1" noProof="0"/>
              <a:t>evaluated and prioritized using a standardized framework </a:t>
            </a:r>
            <a:r>
              <a:rPr lang="en-US" noProof="0"/>
              <a:t>tied to </a:t>
            </a:r>
            <a:r>
              <a:rPr lang="en-US" b="1" noProof="0"/>
              <a:t>business outcomes</a:t>
            </a:r>
            <a:r>
              <a:rPr lang="en-US" noProof="0"/>
              <a:t>.</a:t>
            </a:r>
          </a:p>
          <a:p>
            <a:pPr marL="171450" indent="-171450">
              <a:buFont typeface="Arial" panose="020B0604020202020204" pitchFamily="34" charset="0"/>
              <a:buChar char="•"/>
            </a:pPr>
            <a:r>
              <a:rPr lang="en-US" b="1" noProof="0"/>
              <a:t>Common scoring model </a:t>
            </a:r>
            <a:r>
              <a:rPr lang="en-US" noProof="0"/>
              <a:t>(value, urgency, risk, effort) </a:t>
            </a:r>
          </a:p>
          <a:p>
            <a:pPr marL="171450" indent="-171450">
              <a:buFont typeface="Arial" panose="020B0604020202020204" pitchFamily="34" charset="0"/>
              <a:buChar char="•"/>
            </a:pPr>
            <a:r>
              <a:rPr lang="en-US" b="1" noProof="0"/>
              <a:t>Transparent prioritization </a:t>
            </a:r>
            <a:r>
              <a:rPr lang="en-US" noProof="0"/>
              <a:t>across competing demands </a:t>
            </a:r>
          </a:p>
          <a:p>
            <a:pPr marL="171450" indent="-171450">
              <a:buFont typeface="Arial" panose="020B0604020202020204" pitchFamily="34" charset="0"/>
              <a:buChar char="•"/>
            </a:pPr>
            <a:r>
              <a:rPr lang="en-US" b="1" noProof="0"/>
              <a:t>Product-level backlog </a:t>
            </a:r>
            <a:r>
              <a:rPr lang="en-US" noProof="0"/>
              <a:t>ownership </a:t>
            </a:r>
          </a:p>
          <a:p>
            <a:pPr marL="171450" indent="-171450">
              <a:buFont typeface="Arial" panose="020B0604020202020204" pitchFamily="34" charset="0"/>
              <a:buChar char="•"/>
            </a:pPr>
            <a:r>
              <a:rPr lang="en-US" b="1" noProof="0"/>
              <a:t>Trade-offs made at portfolio/product </a:t>
            </a:r>
            <a:r>
              <a:rPr lang="en-US" noProof="0"/>
              <a:t>governance level </a:t>
            </a:r>
          </a:p>
        </p:txBody>
      </p:sp>
      <p:sp>
        <p:nvSpPr>
          <p:cNvPr id="18" name="CuadroTexto 17">
            <a:extLst>
              <a:ext uri="{FF2B5EF4-FFF2-40B4-BE49-F238E27FC236}">
                <a16:creationId xmlns:a16="http://schemas.microsoft.com/office/drawing/2014/main" id="{DD6776C1-BD2D-3BD1-C002-B9D7D899AA6D}"/>
              </a:ext>
            </a:extLst>
          </p:cNvPr>
          <p:cNvSpPr txBox="1"/>
          <p:nvPr/>
        </p:nvSpPr>
        <p:spPr>
          <a:xfrm>
            <a:off x="5695538" y="4165692"/>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r>
              <a:rPr lang="en-US" b="1" noProof="0"/>
              <a:t>End-to-end visibility </a:t>
            </a:r>
            <a:r>
              <a:rPr lang="en-US" noProof="0"/>
              <a:t>enables coordinated planning across demand, capacity, and delivery.</a:t>
            </a:r>
          </a:p>
          <a:p>
            <a:pPr marL="171450" indent="-171450">
              <a:buFont typeface="Arial" panose="020B0604020202020204" pitchFamily="34" charset="0"/>
              <a:buChar char="•"/>
            </a:pPr>
            <a:r>
              <a:rPr lang="en-US" b="1" noProof="0"/>
              <a:t>Integrated portfolio view </a:t>
            </a:r>
            <a:r>
              <a:rPr lang="en-US" noProof="0"/>
              <a:t>across all products </a:t>
            </a:r>
          </a:p>
          <a:p>
            <a:pPr marL="171450" indent="-171450">
              <a:buFont typeface="Arial" panose="020B0604020202020204" pitchFamily="34" charset="0"/>
              <a:buChar char="•"/>
            </a:pPr>
            <a:r>
              <a:rPr lang="en-US" b="1" noProof="0"/>
              <a:t>Capacity planning aligned to product priorities </a:t>
            </a:r>
          </a:p>
          <a:p>
            <a:pPr marL="171450" indent="-171450">
              <a:buFont typeface="Arial" panose="020B0604020202020204" pitchFamily="34" charset="0"/>
              <a:buChar char="•"/>
            </a:pPr>
            <a:r>
              <a:rPr lang="en-US" b="1" noProof="0"/>
              <a:t>Roadmaps managed at product level </a:t>
            </a:r>
            <a:r>
              <a:rPr lang="en-US" noProof="0"/>
              <a:t>(not project level) </a:t>
            </a:r>
          </a:p>
          <a:p>
            <a:pPr marL="171450" indent="-171450">
              <a:buFont typeface="Arial" panose="020B0604020202020204" pitchFamily="34" charset="0"/>
              <a:buChar char="•"/>
            </a:pPr>
            <a:r>
              <a:rPr lang="en-US" b="1" noProof="0"/>
              <a:t>Continuous tracking of delivery and outcomes </a:t>
            </a:r>
          </a:p>
        </p:txBody>
      </p:sp>
      <p:sp>
        <p:nvSpPr>
          <p:cNvPr id="19" name="Título 2">
            <a:extLst>
              <a:ext uri="{FF2B5EF4-FFF2-40B4-BE49-F238E27FC236}">
                <a16:creationId xmlns:a16="http://schemas.microsoft.com/office/drawing/2014/main" id="{707524B7-405B-91D5-5C94-79A5F35005F8}"/>
              </a:ext>
            </a:extLst>
          </p:cNvPr>
          <p:cNvSpPr txBox="1">
            <a:spLocks/>
          </p:cNvSpPr>
          <p:nvPr/>
        </p:nvSpPr>
        <p:spPr>
          <a:xfrm>
            <a:off x="180918" y="127319"/>
            <a:ext cx="896308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TO-BE GUIDING PRINCIPLES</a:t>
            </a:r>
          </a:p>
        </p:txBody>
      </p:sp>
      <p:sp>
        <p:nvSpPr>
          <p:cNvPr id="20" name="TextBox 58">
            <a:extLst>
              <a:ext uri="{FF2B5EF4-FFF2-40B4-BE49-F238E27FC236}">
                <a16:creationId xmlns:a16="http://schemas.microsoft.com/office/drawing/2014/main" id="{CEA09503-09C2-C5C1-6594-F53C78FF2B85}"/>
              </a:ext>
            </a:extLst>
          </p:cNvPr>
          <p:cNvSpPr txBox="1"/>
          <p:nvPr/>
        </p:nvSpPr>
        <p:spPr>
          <a:xfrm>
            <a:off x="246506" y="843976"/>
            <a:ext cx="1127455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Four principles guide the Target Operating Model — each answers one of the 7 structural issues and is grounded in prior NTT work with Avangrid</a:t>
            </a:r>
          </a:p>
        </p:txBody>
      </p:sp>
      <p:sp>
        <p:nvSpPr>
          <p:cNvPr id="21" name="Elipse 20">
            <a:extLst>
              <a:ext uri="{FF2B5EF4-FFF2-40B4-BE49-F238E27FC236}">
                <a16:creationId xmlns:a16="http://schemas.microsoft.com/office/drawing/2014/main" id="{3BAA0A42-0C2F-44E7-E673-2C7AD6EE2E3C}"/>
              </a:ext>
            </a:extLst>
          </p:cNvPr>
          <p:cNvSpPr/>
          <p:nvPr/>
        </p:nvSpPr>
        <p:spPr>
          <a:xfrm>
            <a:off x="487560" y="163545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Elipse 21">
            <a:extLst>
              <a:ext uri="{FF2B5EF4-FFF2-40B4-BE49-F238E27FC236}">
                <a16:creationId xmlns:a16="http://schemas.microsoft.com/office/drawing/2014/main" id="{254EE442-ADE0-70DD-37A5-5430A69B0313}"/>
              </a:ext>
            </a:extLst>
          </p:cNvPr>
          <p:cNvSpPr/>
          <p:nvPr/>
        </p:nvSpPr>
        <p:spPr>
          <a:xfrm>
            <a:off x="487560" y="575710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Elipse 22">
            <a:extLst>
              <a:ext uri="{FF2B5EF4-FFF2-40B4-BE49-F238E27FC236}">
                <a16:creationId xmlns:a16="http://schemas.microsoft.com/office/drawing/2014/main" id="{19F69576-8DC2-20BE-EADA-6573F3F2F61C}"/>
              </a:ext>
            </a:extLst>
          </p:cNvPr>
          <p:cNvSpPr/>
          <p:nvPr/>
        </p:nvSpPr>
        <p:spPr>
          <a:xfrm>
            <a:off x="1838840" y="4383090"/>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Elipse 23">
            <a:extLst>
              <a:ext uri="{FF2B5EF4-FFF2-40B4-BE49-F238E27FC236}">
                <a16:creationId xmlns:a16="http://schemas.microsoft.com/office/drawing/2014/main" id="{662D112A-C218-C4CD-16B5-EE9E84243354}"/>
              </a:ext>
            </a:extLst>
          </p:cNvPr>
          <p:cNvSpPr/>
          <p:nvPr/>
        </p:nvSpPr>
        <p:spPr>
          <a:xfrm>
            <a:off x="1838840" y="3009073"/>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CuadroTexto 36">
            <a:extLst>
              <a:ext uri="{FF2B5EF4-FFF2-40B4-BE49-F238E27FC236}">
                <a16:creationId xmlns:a16="http://schemas.microsoft.com/office/drawing/2014/main" id="{BFA7C1D7-EF38-ACFC-DDD6-02A6B1254FD7}"/>
              </a:ext>
            </a:extLst>
          </p:cNvPr>
          <p:cNvSpPr txBox="1"/>
          <p:nvPr/>
        </p:nvSpPr>
        <p:spPr>
          <a:xfrm>
            <a:off x="40640" y="3983837"/>
            <a:ext cx="1678842" cy="646331"/>
          </a:xfrm>
          <a:prstGeom prst="rect">
            <a:avLst/>
          </a:prstGeom>
          <a:noFill/>
        </p:spPr>
        <p:txBody>
          <a:bodyPr wrap="square">
            <a:spAutoFit/>
          </a:bodyPr>
          <a:lstStyle/>
          <a:p>
            <a:pPr lvl="0" algn="ctr" eaLnBrk="0" fontAlgn="base" hangingPunct="0">
              <a:spcBef>
                <a:spcPct val="0"/>
              </a:spcBef>
              <a:spcAft>
                <a:spcPct val="0"/>
              </a:spcAft>
            </a:pPr>
            <a:r>
              <a:rPr lang="en-US" sz="1200" b="1" noProof="0">
                <a:solidFill>
                  <a:srgbClr val="2C578B"/>
                </a:solidFill>
                <a:latin typeface="Arial" panose="020B0604020202020204" pitchFamily="34" charset="0"/>
                <a:cs typeface="Arial" panose="020B0604020202020204" pitchFamily="34" charset="0"/>
              </a:rPr>
              <a:t>PRODUCT-CENTRIC DESIGN PRINCIPLES </a:t>
            </a:r>
            <a:endParaRPr lang="en-US" sz="1200" noProof="0">
              <a:solidFill>
                <a:srgbClr val="2C578B"/>
              </a:solidFill>
              <a:latin typeface="Arial" panose="020B0604020202020204" pitchFamily="34" charset="0"/>
              <a:cs typeface="Arial" panose="020B0604020202020204" pitchFamily="34" charset="0"/>
            </a:endParaRPr>
          </a:p>
        </p:txBody>
      </p:sp>
      <p:pic>
        <p:nvPicPr>
          <p:cNvPr id="40" name="Gráfico 39" descr="Corona de usuario femenino con relleno sólido">
            <a:extLst>
              <a:ext uri="{FF2B5EF4-FFF2-40B4-BE49-F238E27FC236}">
                <a16:creationId xmlns:a16="http://schemas.microsoft.com/office/drawing/2014/main" id="{D621DF53-553F-EBB1-BECE-79B333AF40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235" y="5817195"/>
            <a:ext cx="567771" cy="567771"/>
          </a:xfrm>
          <a:prstGeom prst="rect">
            <a:avLst/>
          </a:prstGeom>
        </p:spPr>
      </p:pic>
      <p:pic>
        <p:nvPicPr>
          <p:cNvPr id="42" name="Gráfico 41" descr="Inventario de búsqueda con relleno sólido">
            <a:extLst>
              <a:ext uri="{FF2B5EF4-FFF2-40B4-BE49-F238E27FC236}">
                <a16:creationId xmlns:a16="http://schemas.microsoft.com/office/drawing/2014/main" id="{A162DA87-9870-8352-DC4A-B3866ADB7C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4675" y="4405942"/>
            <a:ext cx="567771" cy="567771"/>
          </a:xfrm>
          <a:prstGeom prst="rect">
            <a:avLst/>
          </a:prstGeom>
        </p:spPr>
      </p:pic>
      <p:pic>
        <p:nvPicPr>
          <p:cNvPr id="44" name="Gráfico 43" descr="Diamante con relleno sólido">
            <a:extLst>
              <a:ext uri="{FF2B5EF4-FFF2-40B4-BE49-F238E27FC236}">
                <a16:creationId xmlns:a16="http://schemas.microsoft.com/office/drawing/2014/main" id="{B93847E0-CD95-3A9D-F169-B00BB00521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4675" y="3096289"/>
            <a:ext cx="567771" cy="567771"/>
          </a:xfrm>
          <a:prstGeom prst="rect">
            <a:avLst/>
          </a:prstGeom>
        </p:spPr>
      </p:pic>
      <p:pic>
        <p:nvPicPr>
          <p:cNvPr id="46" name="Gráfico 45" descr="Bandeja de entrada marcada con relleno sólido">
            <a:extLst>
              <a:ext uri="{FF2B5EF4-FFF2-40B4-BE49-F238E27FC236}">
                <a16:creationId xmlns:a16="http://schemas.microsoft.com/office/drawing/2014/main" id="{D16C9C1D-25C4-B6FF-129B-B4E2039186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555" y="1644395"/>
            <a:ext cx="567771" cy="567771"/>
          </a:xfrm>
          <a:prstGeom prst="rect">
            <a:avLst/>
          </a:prstGeom>
        </p:spPr>
      </p:pic>
      <p:pic>
        <p:nvPicPr>
          <p:cNvPr id="48" name="Gráfico 47" descr="Mejora continua con relleno sólido">
            <a:extLst>
              <a:ext uri="{FF2B5EF4-FFF2-40B4-BE49-F238E27FC236}">
                <a16:creationId xmlns:a16="http://schemas.microsoft.com/office/drawing/2014/main" id="{F0863BFD-CFAC-AB3A-2660-F12667B6A4E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141" y="3108960"/>
            <a:ext cx="1005840" cy="1005840"/>
          </a:xfrm>
          <a:prstGeom prst="rect">
            <a:avLst/>
          </a:prstGeom>
        </p:spPr>
      </p:pic>
    </p:spTree>
    <p:extLst>
      <p:ext uri="{BB962C8B-B14F-4D97-AF65-F5344CB8AC3E}">
        <p14:creationId xmlns:p14="http://schemas.microsoft.com/office/powerpoint/2010/main" val="1032260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C747861-D447-974A-B088-686910466947}">
  <we:reference id="WA200010001" version="1.0.0.1" store="Omex" storeType="OMEX"/>
  <we:alternateReferences>
    <we:reference id="WA200010001" version="1.0.0.1" store="WA200010001" storeType="OMEX"/>
  </we:alternateReferences>
  <we:properties>
    <we:property name="claude.fileId" value="&quot;3835313f-2c2b-477e-9df0-429e47bd936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a_x00ed_s xmlns="4b464e96-be12-433e-8722-39d5a0f59d28" xsi:nil="true"/>
    <Fuente xmlns="4b464e96-be12-433e-8722-39d5a0f59d28" xsi:nil="true"/>
    <lcf76f155ced4ddcb4097134ff3c332f xmlns="4b464e96-be12-433e-8722-39d5a0f59d28">
      <Terms xmlns="http://schemas.microsoft.com/office/infopath/2007/PartnerControls"/>
    </lcf76f155ced4ddcb4097134ff3c332f>
    <TaxCatchAll xmlns="9af8d66c-8f78-4f3a-ae1c-6e82e7ed62c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ABF3122F7F4D498EB3A12D7FC443DA" ma:contentTypeVersion="15" ma:contentTypeDescription="Create a new document." ma:contentTypeScope="" ma:versionID="54fd3935055be7f2473d3bcccc4c41fe">
  <xsd:schema xmlns:xsd="http://www.w3.org/2001/XMLSchema" xmlns:xs="http://www.w3.org/2001/XMLSchema" xmlns:p="http://schemas.microsoft.com/office/2006/metadata/properties" xmlns:ns2="4b464e96-be12-433e-8722-39d5a0f59d28" xmlns:ns3="9af8d66c-8f78-4f3a-ae1c-6e82e7ed62c7" targetNamespace="http://schemas.microsoft.com/office/2006/metadata/properties" ma:root="true" ma:fieldsID="15c832138d5a3dd2e20aed558ae63bd2" ns2:_="" ns3:_="">
    <xsd:import namespace="4b464e96-be12-433e-8722-39d5a0f59d28"/>
    <xsd:import namespace="9af8d66c-8f78-4f3a-ae1c-6e82e7ed6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uente" minOccurs="0"/>
                <xsd:element ref="ns2:Pa_x00ed_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64e96-be12-433e-8722-39d5a0f59d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uente" ma:index="20" nillable="true" ma:displayName="Compartido por" ma:format="Dropdown" ma:internalName="Fuente">
      <xsd:simpleType>
        <xsd:restriction base="dms:Text">
          <xsd:maxLength value="255"/>
        </xsd:restriction>
      </xsd:simpleType>
    </xsd:element>
    <xsd:element name="Pa_x00ed_s" ma:index="21" nillable="true" ma:displayName="País" ma:format="Dropdown" ma:internalName="Pa_x00ed_s">
      <xsd:simpleType>
        <xsd:restriction base="dms:Text">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f8d66c-8f78-4f3a-ae1c-6e82e7ed62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ad7c53e-bc4f-4e24-99ba-65f21ed5e662}" ma:internalName="TaxCatchAll" ma:showField="CatchAllData" ma:web="9af8d66c-8f78-4f3a-ae1c-6e82e7ed6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696108-65C2-4D77-B41F-B885098F8EFC}">
  <ds:schemaRefs>
    <ds:schemaRef ds:uri="http://schemas.microsoft.com/sharepoint/v3/contenttype/forms"/>
  </ds:schemaRefs>
</ds:datastoreItem>
</file>

<file path=customXml/itemProps2.xml><?xml version="1.0" encoding="utf-8"?>
<ds:datastoreItem xmlns:ds="http://schemas.openxmlformats.org/officeDocument/2006/customXml" ds:itemID="{1566CE61-02D5-4455-BE12-83C970A7517A}">
  <ds:schemaRefs>
    <ds:schemaRef ds:uri="http://schemas.openxmlformats.org/package/2006/metadata/core-properties"/>
    <ds:schemaRef ds:uri="http://purl.org/dc/elements/1.1/"/>
    <ds:schemaRef ds:uri="http://purl.org/dc/terms/"/>
    <ds:schemaRef ds:uri="http://purl.org/dc/dcmitype/"/>
    <ds:schemaRef ds:uri="http://schemas.microsoft.com/office/infopath/2007/PartnerControls"/>
    <ds:schemaRef ds:uri="4b464e96-be12-433e-8722-39d5a0f59d28"/>
    <ds:schemaRef ds:uri="http://schemas.microsoft.com/office/2006/documentManagement/types"/>
    <ds:schemaRef ds:uri="http://www.w3.org/XML/1998/namespace"/>
    <ds:schemaRef ds:uri="9af8d66c-8f78-4f3a-ae1c-6e82e7ed62c7"/>
    <ds:schemaRef ds:uri="http://schemas.microsoft.com/office/2006/metadata/properties"/>
  </ds:schemaRefs>
</ds:datastoreItem>
</file>

<file path=customXml/itemProps3.xml><?xml version="1.0" encoding="utf-8"?>
<ds:datastoreItem xmlns:ds="http://schemas.openxmlformats.org/officeDocument/2006/customXml" ds:itemID="{540E50B2-75A9-4C15-9C40-39F8B4C56591}">
  <ds:schemaRefs>
    <ds:schemaRef ds:uri="4b464e96-be12-433e-8722-39d5a0f59d28"/>
    <ds:schemaRef ds:uri="9af8d66c-8f78-4f3a-ae1c-6e82e7ed62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emplate>office theme</Template>
  <TotalTime>2640</TotalTime>
  <Words>12673</Words>
  <Application>Microsoft Macintosh PowerPoint</Application>
  <PresentationFormat>Widescreen</PresentationFormat>
  <Paragraphs>1710</Paragraphs>
  <Slides>43</Slides>
  <Notes>37</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43</vt:i4>
      </vt:variant>
    </vt:vector>
  </HeadingPairs>
  <TitlesOfParts>
    <vt:vector size="53" baseType="lpstr">
      <vt:lpstr>Aptos</vt:lpstr>
      <vt:lpstr>Aptos Display</vt:lpstr>
      <vt:lpstr>Arial</vt:lpstr>
      <vt:lpstr>Calibri</vt:lpstr>
      <vt:lpstr>Gordita</vt:lpstr>
      <vt:lpstr>IberPangea</vt:lpstr>
      <vt:lpstr>IberPangea Text</vt:lpstr>
      <vt:lpstr>IberPangea Text Light</vt:lpstr>
      <vt:lpstr>Montserrat</vt:lpstr>
      <vt:lpstr>office theme</vt:lpstr>
      <vt:lpstr>BASELINE REPORT AND DEMAND MAP  April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 Sancha Medina</dc:creator>
  <cp:lastModifiedBy>Gustavo Castellano</cp:lastModifiedBy>
  <cp:revision>3</cp:revision>
  <dcterms:created xsi:type="dcterms:W3CDTF">2026-04-14T18:42:14Z</dcterms:created>
  <dcterms:modified xsi:type="dcterms:W3CDTF">2026-04-27T19:15:28Z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0x01010024ABF3122F7F4D498EB3A12D7FC443DA</vt:lpwstr>
  </property>
  <property fmtid="{D5CDD505-2E9C-101B-9397-08002B2CF9AE}" pid="3" name="MediaServiceImageTags">
    <vt:lpwstr/>
  </property>
</Properties>
</file>