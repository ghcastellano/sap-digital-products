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31" r:id="rId2"/>
    <p:sldId id="322" r:id="rId3"/>
    <p:sldId id="324" r:id="rId4"/>
    <p:sldId id="325" r:id="rId5"/>
    <p:sldId id="326" r:id="rId6"/>
    <p:sldId id="332" r:id="rId7"/>
    <p:sldId id="272" r:id="rId8"/>
    <p:sldId id="330" r:id="rId9"/>
    <p:sldId id="319" r:id="rId10"/>
    <p:sldId id="291" r:id="rId11"/>
    <p:sldId id="292" r:id="rId12"/>
    <p:sldId id="293" r:id="rId13"/>
    <p:sldId id="315" r:id="rId14"/>
    <p:sldId id="316" r:id="rId15"/>
    <p:sldId id="333" r:id="rId16"/>
    <p:sldId id="334" r:id="rId17"/>
    <p:sldId id="335" r:id="rId18"/>
    <p:sldId id="336" r:id="rId19"/>
    <p:sldId id="337" r:id="rId20"/>
    <p:sldId id="317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0003"/>
    <a:srgbClr val="0F1B4F"/>
    <a:srgbClr val="0B7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/>
    <p:restoredTop sz="94658"/>
  </p:normalViewPr>
  <p:slideViewPr>
    <p:cSldViewPr snapToGrid="0">
      <p:cViewPr varScale="1">
        <p:scale>
          <a:sx n="120" d="100"/>
          <a:sy n="120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D9FCC-E1D5-FD48-A7CD-E98858A601B5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FEAB7-13CF-B449-AF46-6BCE259BA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83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CA40EA-03DA-B94C-9A0E-A28DB663F067}" type="slidenum">
              <a:rPr lang="es-ES" smtClean="0"/>
              <a:pPr>
                <a:defRPr/>
              </a:pPr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381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C702C-CC7F-1338-323D-0C72950FC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888365-A6E2-0130-B2D3-D931A29D7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7DBC77-CC97-E5D1-9266-52F99CE0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D9EDDF-ACC0-22E4-ABB3-D304341E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C2F62F-63E2-3600-95D4-74D70DD6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26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BED68-45F0-B910-1851-C2C6AEC7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B29ABA-ED51-CD99-E3F8-BF8308EA6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77CD49-727F-5030-137B-995DEC12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C0148D-A188-EBB7-CF7B-51C617BA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2228B1-C108-8E4B-0857-25A57804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93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A3E7B-3749-3152-FFAE-ED2497DD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5C389D-AAA0-8546-1B74-5FC2E2C68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05DEF7-E3F3-ADAB-0C72-50E04A5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C8D1A-2CB3-3FB3-ABD1-2691A392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1DB25D-C003-35B0-C40A-09BABD73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57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D1B43-4087-B2E4-E3B3-B9364DCA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B3A3B7-70C5-B00A-961D-66729E2E6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F9D234-FDE9-0CAB-0A3B-995317A21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83EB7B-3BB8-D7D3-BFAC-02DFD425C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EF9F02-3B04-8EA6-15AD-70FFB40C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4EC2B0-47F1-B163-4C19-8A8B9166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278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8EAAB-7208-1399-BF23-49BAD3BE5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2537C5-BE01-7548-3371-374805DC0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C0F5E3-C5A0-68C4-E871-16697D7EA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E3D6E5-D1BC-B5D6-257E-7A62C662D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84968E-F966-06F1-FE3E-58E07C958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C4ED53-4660-85F2-5BAF-EB21FAD3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415A31-8F27-8DDD-7BA7-A99514B9B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1C3286-86EA-FE8B-50F1-4636288C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26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CD509-27EF-BB15-6A03-984686784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66DFEB5-C6A2-763F-235C-2FEAC1E0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EEE5D0-2B83-AEDF-73C7-1E696F8D7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E99B9F3-E14B-CF15-00C2-3212A91A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67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C50DDF-85DE-8606-6BC2-467B14567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DC71F3-59BC-1D7D-7872-DACEF95E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3DC4BB-CC7D-097F-2BE6-BF931C2B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Rectángulo 3">
            <a:extLst>
              <a:ext uri="{FF2B5EF4-FFF2-40B4-BE49-F238E27FC236}">
                <a16:creationId xmlns:a16="http://schemas.microsoft.com/office/drawing/2014/main" id="{95448507-7EE1-15AB-81DD-9210A83F27C5}"/>
              </a:ext>
            </a:extLst>
          </p:cNvPr>
          <p:cNvSpPr/>
          <p:nvPr userDrawn="1"/>
        </p:nvSpPr>
        <p:spPr>
          <a:xfrm>
            <a:off x="1" y="-1"/>
            <a:ext cx="12192000" cy="75368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285750" indent="-285750" algn="ctr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s-MX" sz="1800"/>
          </a:p>
        </p:txBody>
      </p:sp>
      <p:pic>
        <p:nvPicPr>
          <p:cNvPr id="6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EB71229F-C338-226A-BCB6-C66621FAB2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421" y="196840"/>
            <a:ext cx="1309613" cy="360000"/>
          </a:xfrm>
          <a:prstGeom prst="rect">
            <a:avLst/>
          </a:prstGeom>
        </p:spPr>
      </p:pic>
      <p:pic>
        <p:nvPicPr>
          <p:cNvPr id="7" name="Graphic 2">
            <a:extLst>
              <a:ext uri="{FF2B5EF4-FFF2-40B4-BE49-F238E27FC236}">
                <a16:creationId xmlns:a16="http://schemas.microsoft.com/office/drawing/2014/main" id="{3E758F87-C77C-471C-4514-27580FB9DF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3303" y="6387082"/>
            <a:ext cx="370772" cy="339384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5F80D2F-8967-B218-7907-B2E8AA78E72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227925" y="6633764"/>
            <a:ext cx="1521735" cy="9920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defRPr sz="800" kern="1200">
                <a:solidFill>
                  <a:srgbClr val="6B6B6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>
                <a:solidFill>
                  <a:schemeClr val="tx1"/>
                </a:solidFill>
                <a:latin typeface="Montserrat" pitchFamily="2" charset="77"/>
              </a:rPr>
              <a:t>© 2026 NTT DATA, Inc.</a:t>
            </a:r>
          </a:p>
        </p:txBody>
      </p:sp>
      <p:pic>
        <p:nvPicPr>
          <p:cNvPr id="9" name="Imagen 3">
            <a:extLst>
              <a:ext uri="{FF2B5EF4-FFF2-40B4-BE49-F238E27FC236}">
                <a16:creationId xmlns:a16="http://schemas.microsoft.com/office/drawing/2014/main" id="{E0570D7F-D790-1E44-FFFA-BB512C40065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0751861" y="6332591"/>
            <a:ext cx="791126" cy="39359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816867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55F1F-7BE4-F078-F347-F9E360F9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0BF28C-134C-02A2-ED1B-6A56995C9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E0158-9519-EF9F-6EB0-DE977A393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353D7-5D04-EFFA-2FDE-EF473F250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3A9D7B-DE86-36EC-8B9A-78CB9F35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B90275-9EE2-2E9A-C0DC-1A043972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86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7E38A-4E9A-9602-1AE2-1AAD6C41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6B8878C-9C82-1EC2-281B-514AD6AE3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A3A74A-7AC2-0425-BF39-AF4E7C136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3B2058-C422-4806-E50F-647AE325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21C83D-9958-EC0A-F281-BCDB4B33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DB052A-600D-95FA-5109-DDC30606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835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78806-611F-F207-7AA3-4488B05A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844262-3BAA-D3BA-A87E-4290037A6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F847CE-1F2C-5C80-7F3B-57FAC7BD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0EE014-C43A-28D3-CBC0-C5926DF9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15CF01-AB89-0FC5-56D8-89D058161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887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6D2235-27CF-7AAA-2241-FEB2C9F45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F8F8C1-D22C-DFC3-C19D-8BB52FFCB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0839CD-3F78-29F2-937D-06826321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354793-F724-A6EA-54BD-38B76036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1DEDE6-FBF7-23F6-9933-0331E88D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2322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0F6BA58-506E-438E-6C2B-545913116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E0B9FA4-106C-E699-7911-B99C1308D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3502" y="2808051"/>
            <a:ext cx="11000786" cy="353354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pPr lvl="0"/>
            <a:r>
              <a:rPr lang="en-US" noProof="0"/>
              <a:t>Cover Subtitle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287BB230-0D91-CDCE-3890-640DA6A9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862" y="3284983"/>
            <a:ext cx="5488645" cy="3025329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ct val="80000"/>
              </a:lnSpc>
              <a:defRPr sz="6000" b="1" i="0" spc="-15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n-US" noProof="0"/>
              <a:t>Small PPT Title</a:t>
            </a:r>
          </a:p>
        </p:txBody>
      </p:sp>
      <p:sp>
        <p:nvSpPr>
          <p:cNvPr id="2" name="Marcador de texto 12">
            <a:extLst>
              <a:ext uri="{FF2B5EF4-FFF2-40B4-BE49-F238E27FC236}">
                <a16:creationId xmlns:a16="http://schemas.microsoft.com/office/drawing/2014/main" id="{394C8709-5400-E9AB-2B49-4AD77847F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221" y="6454775"/>
            <a:ext cx="4075367" cy="23915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r>
              <a:rPr lang="en-US" noProof="0"/>
              <a:t>Business Division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74C3D-5AB0-6A17-C266-0C6A890DAC54}"/>
              </a:ext>
            </a:extLst>
          </p:cNvPr>
          <p:cNvSpPr txBox="1"/>
          <p:nvPr/>
        </p:nvSpPr>
        <p:spPr>
          <a:xfrm>
            <a:off x="9509761" y="6454776"/>
            <a:ext cx="2273340" cy="2391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6318FB6F-139D-E242-9895-EB6663796CDE}" type="datetime1">
              <a:rPr lang="en-GB" sz="15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05/05/2026</a:t>
            </a:fld>
            <a:endParaRPr lang="en-US" sz="15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E568369-7479-5BCB-DA9E-55BA0A31DE0B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F5461EC0-D6A0-32FD-6D8F-3BA2DC71FC1F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DEA05D7F-7085-A6D3-747F-8F8742FE7E5D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E8C6456F-33BF-ED67-1687-666967284F8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390832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2EB8404-8AAC-9F74-8D25-8A105CD7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C9E3F2-0DEA-5948-DC03-EF48F75E3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5186C5-325D-370B-5648-EA1BFE6E6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54233-1155-9147-8532-ACADC61C7946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C15C8C-B93E-6C6C-82A1-70BD0CD29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7EB564-FAE5-9014-0D1F-EDE5AB4FD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743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eometric shape digital wallpaper">
            <a:extLst>
              <a:ext uri="{FF2B5EF4-FFF2-40B4-BE49-F238E27FC236}">
                <a16:creationId xmlns:a16="http://schemas.microsoft.com/office/drawing/2014/main" id="{A1FA6EE5-72DC-E2F0-A15F-C99C36EE47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6" t="29270" r="4466" b="2429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65C6E6-7198-7297-0B9C-462641DD8069}"/>
              </a:ext>
            </a:extLst>
          </p:cNvPr>
          <p:cNvSpPr/>
          <p:nvPr/>
        </p:nvSpPr>
        <p:spPr>
          <a:xfrm>
            <a:off x="-1" y="199315"/>
            <a:ext cx="12374880" cy="7019109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AE32353-6B46-AFB6-DC96-5DC33026E6B2}"/>
              </a:ext>
            </a:extLst>
          </p:cNvPr>
          <p:cNvGrpSpPr/>
          <p:nvPr/>
        </p:nvGrpSpPr>
        <p:grpSpPr>
          <a:xfrm>
            <a:off x="11064802" y="243963"/>
            <a:ext cx="473773" cy="432461"/>
            <a:chOff x="5465909" y="2845257"/>
            <a:chExt cx="729516" cy="665904"/>
          </a:xfrm>
          <a:solidFill>
            <a:srgbClr val="FFFFFF"/>
          </a:solidFill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4BF41849-BFB5-E12B-9141-7A64463E1BB9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10B67799-C400-AF1C-85DE-CC7C4C49B74E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82B1BB46-5612-0FD7-D3A9-FEB3FF2F9CF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pic>
        <p:nvPicPr>
          <p:cNvPr id="12" name="Imagen 11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0D2514F8-5897-F1A6-9445-6B2DA287A1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9071" y="3854823"/>
            <a:ext cx="2348753" cy="2348753"/>
          </a:xfrm>
          <a:prstGeom prst="rect">
            <a:avLst/>
          </a:prstGeom>
        </p:spPr>
      </p:pic>
      <p:sp>
        <p:nvSpPr>
          <p:cNvPr id="13" name="NTT DATA Global Logo">
            <a:extLst>
              <a:ext uri="{FF2B5EF4-FFF2-40B4-BE49-F238E27FC236}">
                <a16:creationId xmlns:a16="http://schemas.microsoft.com/office/drawing/2014/main" id="{19948726-1D29-3444-115C-F08A00460FF8}"/>
              </a:ext>
            </a:extLst>
          </p:cNvPr>
          <p:cNvSpPr/>
          <p:nvPr/>
        </p:nvSpPr>
        <p:spPr bwMode="black">
          <a:xfrm>
            <a:off x="485209" y="6355025"/>
            <a:ext cx="1415813" cy="288491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bg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B2FA681-A0DA-8246-3C79-FC23219EF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799" y="323070"/>
            <a:ext cx="11000786" cy="35335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Digital Products -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69E46CD-BFA4-A09A-CD8B-8A2A79A09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59" y="800002"/>
            <a:ext cx="7244550" cy="3025329"/>
          </a:xfrm>
        </p:spPr>
        <p:txBody>
          <a:bodyPr/>
          <a:lstStyle/>
          <a:p>
            <a:r>
              <a:rPr sz="5400">
                <a:solidFill>
                  <a:srgbClr val="FFFFFF"/>
                </a:solidFill>
                <a:latin typeface="Arial"/>
              </a:rPr>
              <a:t>PROPOSED VALUE STREAMS – IT BUSINESS APPLICATIONS</a:t>
            </a:r>
            <a:endParaRPr lang="en-US" b="0" dirty="0"/>
          </a:p>
          <a:p>
            <a:r>
              <a:rPr sz="5400">
                <a:solidFill>
                  <a:srgbClr val="FFFFFF"/>
                </a:solidFill>
                <a:latin typeface="Arial"/>
              </a:rPr>
              <a:t>Initial proposal: 4 Value Streams  ·  SAFe Exercise: 5 DVSs by solution family</a:t>
            </a:r>
          </a:p>
          <a:p>
            <a:r>
              <a:rPr sz="5400">
                <a:solidFill>
                  <a:srgbClr val="FFFFFF"/>
                </a:solidFill>
                <a:latin typeface="Arial"/>
              </a:rPr>
              <a:t>April 2026</a:t>
            </a:r>
          </a:p>
        </p:txBody>
      </p:sp>
      <p:sp>
        <p:nvSpPr>
          <p:cNvPr id="7" name="Text Placeholder 34">
            <a:extLst>
              <a:ext uri="{FF2B5EF4-FFF2-40B4-BE49-F238E27FC236}">
                <a16:creationId xmlns:a16="http://schemas.microsoft.com/office/drawing/2014/main" id="{25F735F5-E455-90EB-93A1-CE698E0EB4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4009" y="5926256"/>
            <a:ext cx="4075367" cy="239158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IT Business Solutions Delivery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E7A5CD9-BB15-9BAF-AEDD-0CF08743BCB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1087893" y="6227763"/>
            <a:ext cx="957263" cy="47625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54604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" y="91440"/>
            <a:ext cx="1145743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PROPOSED VALUE STREAMS — IT BUSINESS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84632"/>
            <a:ext cx="11457432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INITIAL PROPOSAL  ·  4 VALUE STREAMS  ·  + ENABLING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" y="1252728"/>
            <a:ext cx="11274552" cy="11064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8056" y="1207008"/>
            <a:ext cx="11311128" cy="457200"/>
          </a:xfrm>
          <a:prstGeom prst="roundRect">
            <a:avLst>
              <a:gd name="adj" fmla="val 6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280160"/>
            <a:ext cx="843991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IT Business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06256" y="1298448"/>
            <a:ext cx="265176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ITBA UMBRELLA · 4 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773936"/>
            <a:ext cx="1090879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1">
                <a:solidFill>
                  <a:srgbClr val="2C3E50"/>
                </a:solidFill>
                <a:latin typeface="Arial"/>
              </a:rPr>
              <a:t>DOMAIN · Asset Management · Network Operations · Corporate / Regulatory · Iberdrola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975104"/>
            <a:ext cx="109087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Operate and evolve the technology platforms that support Avangrid's enterprise operations across asset management, network operations, corporate functions and Iberdrola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" y="2523744"/>
            <a:ext cx="11274552" cy="502920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" y="2523744"/>
            <a:ext cx="11274552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ITBA  ·  4 VALUE STREAMS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" y="3319272"/>
            <a:ext cx="2745486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8056" y="324612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" y="3291839"/>
            <a:ext cx="274548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DEVELOPMENT VALUE 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" y="3493008"/>
            <a:ext cx="2745486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Engineering &amp; Asset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" y="4087368"/>
            <a:ext cx="256260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Asset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4315968"/>
            <a:ext cx="2562606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 i="1">
                <a:solidFill>
                  <a:srgbClr val="2C3E50"/>
                </a:solidFill>
                <a:latin typeface="Arial"/>
              </a:rPr>
              <a:t>Engineer / planner designs with reliable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" y="4864607"/>
            <a:ext cx="2379726" cy="36576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7784" y="4937759"/>
            <a:ext cx="256260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EXAMPLE 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5166359"/>
            <a:ext cx="256260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  <a:latin typeface="Arial"/>
              </a:rPr>
              <a:t>ArcFM · ProjectWise · Bentley · CYME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03270" y="3319272"/>
            <a:ext cx="2745486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84982" y="324612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03270" y="3291839"/>
            <a:ext cx="274548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DEVELOPMENT VALUE STREAM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3270" y="3493008"/>
            <a:ext cx="2745486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Network Operations &amp;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4710" y="4087368"/>
            <a:ext cx="256260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Network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4710" y="4315968"/>
            <a:ext cx="2562606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 i="1">
                <a:solidFill>
                  <a:srgbClr val="2C3E50"/>
                </a:solidFill>
                <a:latin typeface="Arial"/>
              </a:rPr>
              <a:t>Grid operator prevents and minimizes outages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86150" y="4864607"/>
            <a:ext cx="2379726" cy="36576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94710" y="4937759"/>
            <a:ext cx="256260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EXAMPLE APPLICATIONS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4710" y="5166359"/>
            <a:ext cx="256260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  <a:latin typeface="Arial"/>
              </a:rPr>
              <a:t>Echelon · Cimplicity · SLAM · Switching Orders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0196" y="3319272"/>
            <a:ext cx="2745486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121908" y="324612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40196" y="3291839"/>
            <a:ext cx="274548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DEVELOPMENT VALUE STREAM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0196" y="3493008"/>
            <a:ext cx="2745486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Corporate &amp; Regulatory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1636" y="4087368"/>
            <a:ext cx="256260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Finance · HR · Procurement · 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1636" y="4315968"/>
            <a:ext cx="2562606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 i="1">
                <a:solidFill>
                  <a:srgbClr val="2C3E50"/>
                </a:solidFill>
                <a:latin typeface="Arial"/>
              </a:rPr>
              <a:t>HR / employee / regulatory user self-service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3076" y="4864607"/>
            <a:ext cx="2379726" cy="36576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31636" y="4937759"/>
            <a:ext cx="256260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EXAMPLE APPLICATIONS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1636" y="5166359"/>
            <a:ext cx="256260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  <a:latin typeface="Arial"/>
              </a:rPr>
              <a:t>OpenText · Rate Case Advisor · Utilisphere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7122" y="3319272"/>
            <a:ext cx="2745486" cy="2167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958834" y="324612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77122" y="3291839"/>
            <a:ext cx="274548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DEVELOPMENT VALUE STREAM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7122" y="3493008"/>
            <a:ext cx="2745486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Iberdrola Corporate Services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8562" y="4087368"/>
            <a:ext cx="256260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Finance · Procurement (Iberdrola)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8562" y="4315968"/>
            <a:ext cx="2562606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 i="1">
                <a:solidFill>
                  <a:srgbClr val="2C3E50"/>
                </a:solidFill>
                <a:latin typeface="Arial"/>
              </a:rPr>
              <a:t>Spain finance / procurement / budget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60002" y="4864607"/>
            <a:ext cx="2379726" cy="36576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68562" y="4937759"/>
            <a:ext cx="2562606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EXAMPLE APPLICATIONS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8562" y="5166359"/>
            <a:ext cx="2562606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  <a:latin typeface="Arial"/>
              </a:rPr>
              <a:t>SAP FI · PO · Budget · S/4HANA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6344" y="5669280"/>
            <a:ext cx="11256264" cy="822960"/>
          </a:xfrm>
          <a:prstGeom prst="roundRect">
            <a:avLst>
              <a:gd name="adj" fmla="val 10000"/>
            </a:avLst>
          </a:prstGeom>
          <a:solidFill>
            <a:srgbClr val="980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3504" y="5724144"/>
            <a:ext cx="32004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ENABLING TEAM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" y="5943600"/>
            <a:ext cx="32004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Shared services · supports the 4 DVS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No Product Manager · governed by Director ITBA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86784" y="5760720"/>
            <a:ext cx="7644383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FOUNDATION SERVICES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86784" y="5961888"/>
            <a:ext cx="7644383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SWF (Software Factory)  ·  Demand Intake (PDD · Jira · IT Now)  ·  Test &amp; Release Coordination  ·  Third-Party Risk Gating  ·  ALM Tooling</a:t>
            </a:r>
          </a:p>
        </p:txBody>
      </p:sp>
    </p:spTree>
    <p:extLst>
      <p:ext uri="{BB962C8B-B14F-4D97-AF65-F5344CB8AC3E}">
        <p14:creationId xmlns:p14="http://schemas.microsoft.com/office/powerpoint/2010/main" val="4038220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DEVELOPMENT 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2403"/>
            <a:ext cx="1146017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ENGINEERING &amp; ASSET MANAGEMENT — RELIABLE ASSET DATA FOR PLANNERS AND ENGINEERS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ITBA · George Porto (lead) + crossover with G&amp;E team for ProjectWise/Bentley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 i="0">
                <a:solidFill>
                  <a:srgbClr val="2C578B"/>
                </a:solidFill>
                <a:latin typeface="Arial"/>
              </a:rPr>
              <a:t>Initial proposal · domain anchor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Operate and evolve the engineering &amp; asset platform — capture, model and publish reliable data so engineers and planners can design and operate the network.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ArcFM (GIS / asset management)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ProjectWise (engineering content / drawings)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Bentley · Microstation (CAD)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CYME (power systems analysis)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USERS / DEMAND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Engineers — design new builds / modifications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Planners — forecasts and capacity planning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Asset Management — lifecycle decisions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Field operations — asset 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Demand routed via Jira / IT Now / PDD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TODAY'S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62421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GIS &amp; OSG team (George Porto) owns ArcFM, GIS web apps, SAP HANA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G&amp;E team (Bruno Moreto) currently owns ProjectWise / Bentley / Microstation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Some apps cross today's team boundaries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Cross-team scope — value-stream framing helps clarify accountability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Bentley (ProjectWise / Microstation / CYME)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Esri / ArcFM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SWF (Software Factory) — execution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Multiple vendors — coordinated through ITBA leadership</a:t>
            </a:r>
          </a:p>
        </p:txBody>
      </p:sp>
    </p:spTree>
    <p:extLst>
      <p:ext uri="{BB962C8B-B14F-4D97-AF65-F5344CB8AC3E}">
        <p14:creationId xmlns:p14="http://schemas.microsoft.com/office/powerpoint/2010/main" val="4203558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DEVELOPMENT 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2403"/>
            <a:ext cx="1146017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NETWORK OPERATIONS &amp; CONTROL — GRID OPERATOR PREVENTS AND MINIMIZES OUTAGES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ITBA · Bruno Moreto + Andrew McGibbon (lead)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 i="0">
                <a:solidFill>
                  <a:srgbClr val="2C578B"/>
                </a:solidFill>
                <a:latin typeface="Arial"/>
              </a:rPr>
              <a:t>Initial proposal · domain anchor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Operate the systems that monitor, switch and control the network in real time — preventing outages and minimising their impact.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Echelon (control / metering platform)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Cimplicity (SCADA / HMI)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SLAM (System Loading and Analysis Module — to confirm)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Switching Orders (utility-specific switching workflow)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USERS / DEMAND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Grid operators — real-time monitoring and switching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Network engineers — analysis and load planning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Field crews — switching execution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Regulators — outage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Real-time / safety-critical · high availability requirements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TODAY'S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G&amp;E Operations team (Bruno Moreto + Andrew McGibbon) is closest current home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Some apps may sit in OT (Operational Technology) scope — boundary to confirm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Coordination with Field Operations VS (cross-stream)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OT/IT boundary to confirm — apps may sit outside ITBA scope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Echelon vendor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GE (Cimplicity)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SLAM vendor (to confirm)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Internal switching workflow tooling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Vendor mix to validate — some grid platforms managed cross-Avangrid</a:t>
            </a:r>
          </a:p>
        </p:txBody>
      </p:sp>
    </p:spTree>
    <p:extLst>
      <p:ext uri="{BB962C8B-B14F-4D97-AF65-F5344CB8AC3E}">
        <p14:creationId xmlns:p14="http://schemas.microsoft.com/office/powerpoint/2010/main" val="3092645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DEVELOPMENT 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CORPORATE &amp; REGULATORY — HR / EMPLOYEE / REGULATORY USER SELF-SERVICE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ITBA · Sarath Garikapati + Amit (lead)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 i="0">
                <a:solidFill>
                  <a:srgbClr val="2C578B"/>
                </a:solidFill>
                <a:latin typeface="Arial"/>
              </a:rPr>
              <a:t>Initial proposal · domain anchor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Deliver and maintain regulatory and employee-facing technology across Avangrid US — operating under continuous compliance pressure.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OpenText (content / records management)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Rate Case Advisor (regulatory rate cases)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Utilisphere (utility platform)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Plus broader corporate applications portfolio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USERS / DEMAND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HR / Finance / Legal / Compliance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Regulators — rate cases · mandated reporting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Employee population — enablement &amp; self-service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Continuous new requirements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Compliance-driven · always-priority cadence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TODAY'S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Corporate Applications team (Sarath Garikapati + Amit)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5–6 PMs + 2 tech leads in current composition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Largest sub-team in ITBA  ·  ~8 FTE 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PM-heavy team today — value-stream framing helps clarify outcome ownership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OpenText vendor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Accenture (corporate apps + projects)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SWF (Software Factory)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Regulatory tooling vendors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Accenture is a key partner for corporate scope</a:t>
            </a:r>
          </a:p>
        </p:txBody>
      </p:sp>
    </p:spTree>
    <p:extLst>
      <p:ext uri="{BB962C8B-B14F-4D97-AF65-F5344CB8AC3E}">
        <p14:creationId xmlns:p14="http://schemas.microsoft.com/office/powerpoint/2010/main" val="38676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DEVELOPMENT VALUE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IBERDROLA CORPORATE SERVICES — SPAIN FINANCE / PROCUREMENT / BUDGET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ITBA · Vanessa Colombo + Michael Dubois (lead)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 i="0">
                <a:solidFill>
                  <a:srgbClr val="2C578B"/>
                </a:solidFill>
                <a:latin typeface="Arial"/>
              </a:rPr>
              <a:t>Initial proposal · domain anchor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Run Spain-side SAP modules and keep US/Iberdrola corporate processes aligned — balancing incidents, small demands, and major projects under hiring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FI (Finance) — Spain side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PO (Purchase Orders) — Spain side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Budget control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S/4HANA (Iberdrola roadmap)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USERS / DEMAND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Iberdrola corporate (Spain) — process changes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Avangrid Finance — US-side integration needs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Incidents (IT Now)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Small Demands · Major projects (PDD)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Cross-org coordination · transport gating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TODAY'S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Global SAP team (Vanessa Colombo + Michael Dubois)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~5 FTE total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Hiring lag (~1 year) flagged as top risk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Knowledge-transfer loss is a stated concern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Smallest sub-team in ITBA — capacity is the chronic constraint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Accenture (Global SAP support)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partner for Spain modules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Iberdrola Spain integration teams (peer)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SWF (Software Factory)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95A5A6"/>
                </a:solidFill>
                <a:latin typeface="Arial"/>
              </a:rPr>
              <a:t>Iberdrola peer teams are an additional execution channel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" y="91440"/>
            <a:ext cx="1145743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SAFe EXERCISE — 5 DVSs BY SOLUTION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84632"/>
            <a:ext cx="11457432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GROUPED BY SOLUTION-FAMILY LIFECYCLE  ·  3 BOUNDARY ISSUES SURFACED  ·  + ENABLING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78992"/>
            <a:ext cx="2218334" cy="4910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7472" y="1005840"/>
            <a:ext cx="2254910" cy="777240"/>
          </a:xfrm>
          <a:prstGeom prst="roundRect">
            <a:avLst>
              <a:gd name="adj" fmla="val 1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60704"/>
            <a:ext cx="2218334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2218334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Engineering &amp; Spatial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920240"/>
            <a:ext cx="207203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1">
                <a:solidFill>
                  <a:srgbClr val="16A085"/>
                </a:solidFill>
                <a:latin typeface="Arial"/>
              </a:rPr>
              <a:t>Asset / CAD / GIS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194560"/>
            <a:ext cx="207203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SOLUTION-FAMILY RATIONALE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377440"/>
            <a:ext cx="207203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  <a:latin typeface="Arial"/>
              </a:rPr>
              <a:t>Vendor-driven · quarterly upgrades · CAD/GIS skillset · planner customer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1852574" cy="1828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" y="3090672"/>
            <a:ext cx="207203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273552"/>
            <a:ext cx="2072030" cy="1280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ArcFM · ProjectWise · Microstation · Bentley · CYME · SAP HANA spatial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90288"/>
            <a:ext cx="1852574" cy="1828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" y="4663440"/>
            <a:ext cx="207203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846320"/>
            <a:ext cx="207203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  <a:latin typeface="Arial"/>
              </a:rPr>
              <a:t>George Porto + crossover (Bruno's team for ProjectWise/Bentley)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75534" y="1078992"/>
            <a:ext cx="2218334" cy="4910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657246" y="1005840"/>
            <a:ext cx="2254910" cy="77724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75534" y="1060704"/>
            <a:ext cx="2218334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5534" y="1234440"/>
            <a:ext cx="2218334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Grid Operations (OT)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8686" y="1920240"/>
            <a:ext cx="207203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1">
                <a:solidFill>
                  <a:srgbClr val="C0392B"/>
                </a:solidFill>
                <a:latin typeface="Arial"/>
              </a:rPr>
              <a:t>SCADA / Real-time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8686" y="2194560"/>
            <a:ext cx="207203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SOLUTION-FAMILY RATIONALE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8686" y="2377440"/>
            <a:ext cx="207203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  <a:latin typeface="Arial"/>
              </a:rPr>
              <a:t>Real-time · safety-critical · 24/7 · OT skillset (DevSecOps + SRE)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8414" y="3017520"/>
            <a:ext cx="1852574" cy="182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8686" y="3090672"/>
            <a:ext cx="207203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APPLICATIONS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8686" y="3273552"/>
            <a:ext cx="2072030" cy="1280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Echelon · Cimplicity · SLAM · Switching Orders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8414" y="4590288"/>
            <a:ext cx="1852574" cy="182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8686" y="4663440"/>
            <a:ext cx="207203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LEAD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8686" y="4846320"/>
            <a:ext cx="207203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  <a:latin typeface="Arial"/>
              </a:rPr>
              <a:t>Bruno Moreto + OT specialists (NEW capability)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21254" y="5212080"/>
            <a:ext cx="2126894" cy="685800"/>
          </a:xfrm>
          <a:prstGeom prst="roundRect">
            <a:avLst>
              <a:gd name="adj" fmla="val 1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8686" y="5257800"/>
            <a:ext cx="207203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⚠ BOUNDARY ISSUE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8686" y="5440680"/>
            <a:ext cx="207203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Arial"/>
              </a:rPr>
              <a:t>⚠ Traditionally OT, not IT — needs executive 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5308" y="1078992"/>
            <a:ext cx="2218334" cy="4910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967020" y="1005840"/>
            <a:ext cx="2254910" cy="77724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85308" y="1060704"/>
            <a:ext cx="2218334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5308" y="1234440"/>
            <a:ext cx="2218334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Field Workforce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58460" y="1920240"/>
            <a:ext cx="207203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1">
                <a:solidFill>
                  <a:srgbClr val="F39C12"/>
                </a:solidFill>
                <a:latin typeface="Arial"/>
              </a:rPr>
              <a:t>Mobile / Scheduling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58460" y="2194560"/>
            <a:ext cx="207203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SOLUTION-FAMILY RATIONALE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58460" y="2377440"/>
            <a:ext cx="207203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  <a:latin typeface="Arial"/>
              </a:rPr>
              <a:t>Mobile · scheduling · workforce mgmt · field crew customer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68188" y="3017520"/>
            <a:ext cx="1852574" cy="182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58460" y="3090672"/>
            <a:ext cx="207203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APPLICATIONS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8460" y="3273552"/>
            <a:ext cx="2072030" cy="1280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Lemur-SF · FWM · ARCOS · Field Force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68188" y="4590288"/>
            <a:ext cx="1852574" cy="182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58460" y="4663440"/>
            <a:ext cx="207203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LEAD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58460" y="4846320"/>
            <a:ext cx="207203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  <a:latin typeface="Arial"/>
              </a:rPr>
              <a:t>TBD — overlaps Bruno's team and CS Apps field-ops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31028" y="5212080"/>
            <a:ext cx="2126894" cy="685800"/>
          </a:xfrm>
          <a:prstGeom prst="roundRect">
            <a:avLst>
              <a:gd name="adj" fmla="val 1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58460" y="5257800"/>
            <a:ext cx="207203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⚠ BOUNDARY ISSUE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58460" y="5440680"/>
            <a:ext cx="207203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Arial"/>
              </a:rPr>
              <a:t>⚠ Currently shown under CS Apps Field Operations VS — overlap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95083" y="1078992"/>
            <a:ext cx="2218334" cy="4910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276795" y="1005840"/>
            <a:ext cx="2254910" cy="77724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295083" y="1060704"/>
            <a:ext cx="2218334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95083" y="1234440"/>
            <a:ext cx="2218334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Enterprise Content &amp; Reg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8235" y="1920240"/>
            <a:ext cx="207203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1">
                <a:solidFill>
                  <a:srgbClr val="8E44AD"/>
                </a:solidFill>
                <a:latin typeface="Arial"/>
              </a:rPr>
              <a:t>Workflow / Compliance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8235" y="2194560"/>
            <a:ext cx="207203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SOLUTION-FAMILY RATIONALE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8235" y="2377440"/>
            <a:ext cx="207203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  <a:latin typeface="Arial"/>
              </a:rPr>
              <a:t>Transactional · workflow · compliance-driven · corporate user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77963" y="3017520"/>
            <a:ext cx="1852574" cy="182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68235" y="3090672"/>
            <a:ext cx="207203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APPLICATIONS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8235" y="3273552"/>
            <a:ext cx="2072030" cy="1280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OpenText · Rate Case Advisor · Utilisphere · corporate apps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77963" y="4590288"/>
            <a:ext cx="1852574" cy="182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68235" y="4663440"/>
            <a:ext cx="207203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LEAD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8235" y="4846320"/>
            <a:ext cx="207203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  <a:latin typeface="Arial"/>
              </a:rPr>
              <a:t>Sarath Garikapati + Amit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604857" y="1078992"/>
            <a:ext cx="2218334" cy="4910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2C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9586569" y="1005840"/>
            <a:ext cx="2254910" cy="777240"/>
          </a:xfrm>
          <a:prstGeom prst="roundRect">
            <a:avLst>
              <a:gd name="adj" fmla="val 10000"/>
            </a:avLst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604857" y="1060704"/>
            <a:ext cx="2218334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 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4857" y="1234440"/>
            <a:ext cx="2218334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SAP Enterprise Platform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78009" y="1920240"/>
            <a:ext cx="207203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 i="1">
                <a:solidFill>
                  <a:srgbClr val="2C578B"/>
                </a:solidFill>
                <a:latin typeface="Arial"/>
              </a:rPr>
              <a:t>SAP modules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78009" y="2194560"/>
            <a:ext cx="207203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SOLUTION-FAMILY RATIONALE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78009" y="2377440"/>
            <a:ext cx="207203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  <a:latin typeface="Arial"/>
              </a:rPr>
              <a:t>Same SAP stack · same SAP skillset · same transport cadence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787737" y="3017520"/>
            <a:ext cx="1852574" cy="18288"/>
          </a:xfrm>
          <a:prstGeom prst="rect">
            <a:avLst/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678009" y="3090672"/>
            <a:ext cx="207203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APPLICATIONS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78009" y="3273552"/>
            <a:ext cx="2072030" cy="1280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SAP FI · PO · Budget · S/4HANA (Spain)  +  SAP ECC · CRM · FICA (US)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787737" y="4590288"/>
            <a:ext cx="1852574" cy="18288"/>
          </a:xfrm>
          <a:prstGeom prst="rect">
            <a:avLst/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678009" y="4663440"/>
            <a:ext cx="207203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2C3E50"/>
                </a:solidFill>
                <a:latin typeface="Arial"/>
              </a:rPr>
              <a:t>LEAD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78009" y="4846320"/>
            <a:ext cx="207203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  <a:latin typeface="Arial"/>
              </a:rPr>
              <a:t>Vanessa Colombo + Vincent Lam / Naggi Reddy (cross-branch)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650577" y="5212080"/>
            <a:ext cx="2126894" cy="685800"/>
          </a:xfrm>
          <a:prstGeom prst="roundRect">
            <a:avLst>
              <a:gd name="adj" fmla="val 15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678009" y="5257800"/>
            <a:ext cx="207203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⚠ BOUNDARY ISSUE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78009" y="5440680"/>
            <a:ext cx="207203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Arial"/>
              </a:rPr>
              <a:t>⚠ Cross-Avangrid: should US (CS Apps) and Spain (ITBA) SAP be one DVS?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65760" y="6126480"/>
            <a:ext cx="11457432" cy="457200"/>
          </a:xfrm>
          <a:prstGeom prst="roundRect">
            <a:avLst>
              <a:gd name="adj" fmla="val 20000"/>
            </a:avLst>
          </a:prstGeom>
          <a:solidFill>
            <a:srgbClr val="6C7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65760" y="6126480"/>
            <a:ext cx="11457432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ENABLING TEAM  ·  shared services across all 5 DVS  ·  no PM  ·  governed by Director ITBA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4477F-50F4-D956-33B2-7D277FC91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1145743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SAFe EXERCISE —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5 ITBA DVSs (solution family) supporting many business OVSs (many-to-many) · 1 Enabling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5743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0F1B4F"/>
                </a:solidFill>
                <a:latin typeface="Arial"/>
              </a:rPr>
              <a:t>BUSINESS OPERATIONAL VALUE STREAMS (owned by business · grouped by domain)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782062" cy="1325880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782062" cy="274320"/>
          </a:xfrm>
          <a:prstGeom prst="roundRect">
            <a:avLst>
              <a:gd name="adj" fmla="val 1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278206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Engineering &amp; Asset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536192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536192"/>
            <a:ext cx="2635758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Network 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783080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1783080"/>
            <a:ext cx="2635758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Asset Replacement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2029968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" y="2029968"/>
            <a:ext cx="2635758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Capital Planning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2276856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" y="2276856"/>
            <a:ext cx="2635758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Asset Decommissioning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57550" y="1188720"/>
            <a:ext cx="2782062" cy="1325880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63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257550" y="1188720"/>
            <a:ext cx="2782062" cy="274320"/>
          </a:xfrm>
          <a:prstGeom prst="roundRect">
            <a:avLst>
              <a:gd name="adj" fmla="val 10000"/>
            </a:avLst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57550" y="1188720"/>
            <a:ext cx="278206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Network Operations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0702" y="1536192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30702" y="1536192"/>
            <a:ext cx="2635758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Outage Response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0702" y="1783080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30702" y="1783080"/>
            <a:ext cx="2635758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Grid Optimization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0702" y="2029968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30702" y="2029968"/>
            <a:ext cx="2635758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Routine Switching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0702" y="2276856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30702" y="2276856"/>
            <a:ext cx="2635758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Storm Restoration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9340" y="1188720"/>
            <a:ext cx="2782062" cy="1325880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149340" y="1188720"/>
            <a:ext cx="2782062" cy="27432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49340" y="1188720"/>
            <a:ext cx="278206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Corporate &amp; Regulatory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2492" y="1536192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22492" y="1536192"/>
            <a:ext cx="2635758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Source-to-Pay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2492" y="1783080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22492" y="1783080"/>
            <a:ext cx="2635758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Hire-to-Retire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2492" y="2029968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22492" y="2029968"/>
            <a:ext cx="2635758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Rate Case Filing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2492" y="2276856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22492" y="2276856"/>
            <a:ext cx="2635758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Regulatory Reporting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41130" y="1188720"/>
            <a:ext cx="2782062" cy="1325880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6350">
            <a:solidFill>
              <a:srgbClr val="2C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041130" y="1188720"/>
            <a:ext cx="2782062" cy="274320"/>
          </a:xfrm>
          <a:prstGeom prst="roundRect">
            <a:avLst>
              <a:gd name="adj" fmla="val 10000"/>
            </a:avLst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41130" y="1188720"/>
            <a:ext cx="278206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Iberdrola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14282" y="1536192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2C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14282" y="1536192"/>
            <a:ext cx="2635758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Procure-to-Pay (Spain)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14282" y="1783080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2C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14282" y="1783080"/>
            <a:ext cx="2635758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Period Close (Spain)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14282" y="2029968"/>
            <a:ext cx="2635758" cy="20116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2C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14282" y="2029968"/>
            <a:ext cx="2635758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Plan-to-Budget (Spain)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2606040"/>
            <a:ext cx="1145743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>
                <a:solidFill>
                  <a:srgbClr val="95A5A6"/>
                </a:solidFill>
                <a:latin typeface="Arial"/>
              </a:rPr>
              <a:t>↕  many-to-many mapping  —  one OVS uses several DVS · one DVS serves several OVS  (matrix in next slide)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2880360"/>
            <a:ext cx="1145743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0F1B4F"/>
                </a:solidFill>
                <a:latin typeface="Arial"/>
              </a:rPr>
              <a:t>ITBA DEVELOPMENT VALUE STREAMS (5)  ·  grouped by SOLUTION FAMILY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3154679"/>
            <a:ext cx="2203703" cy="457200"/>
          </a:xfrm>
          <a:prstGeom prst="roundRect">
            <a:avLst>
              <a:gd name="adj" fmla="val 1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3200399"/>
            <a:ext cx="220370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3355848"/>
            <a:ext cx="2203703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Engineering &amp; Spatial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" y="3611879"/>
            <a:ext cx="2203703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1480" y="3657600"/>
            <a:ext cx="211226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1">
                <a:solidFill>
                  <a:srgbClr val="16A085"/>
                </a:solidFill>
                <a:latin typeface="Arial"/>
              </a:rPr>
              <a:t>Asset / CAD / GIS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3867911"/>
            <a:ext cx="2112263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650" b="0" i="0">
                <a:solidFill>
                  <a:srgbClr val="2C3E50"/>
                </a:solidFill>
                <a:latin typeface="Arial"/>
              </a:rPr>
              <a:t>ArcFM · ProjectWise · Microstation · Bentley · CYME · SAP HANA spatial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679191" y="3154679"/>
            <a:ext cx="2203703" cy="4572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679191" y="3200399"/>
            <a:ext cx="220370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79191" y="3355848"/>
            <a:ext cx="2203703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Grid Operations (OT)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79191" y="3611879"/>
            <a:ext cx="2203703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724911" y="3657600"/>
            <a:ext cx="211226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1">
                <a:solidFill>
                  <a:srgbClr val="C0392B"/>
                </a:solidFill>
                <a:latin typeface="Arial"/>
              </a:rPr>
              <a:t>SCADA / Real-time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24911" y="3867911"/>
            <a:ext cx="2112263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650" b="0" i="0">
                <a:solidFill>
                  <a:srgbClr val="2C3E50"/>
                </a:solidFill>
                <a:latin typeface="Arial"/>
              </a:rPr>
              <a:t>Echelon · Cimplicity · SLAM · Switching Orders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24911" y="3977639"/>
            <a:ext cx="2112263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E67E22"/>
                </a:solidFill>
                <a:latin typeface="Arial"/>
              </a:rPr>
              <a:t>⚠ boundary issue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992624" y="3154679"/>
            <a:ext cx="2203703" cy="4572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992624" y="3200399"/>
            <a:ext cx="220370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92624" y="3355848"/>
            <a:ext cx="2203703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Field Workforce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92624" y="3611879"/>
            <a:ext cx="2203703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38344" y="3657600"/>
            <a:ext cx="211226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1">
                <a:solidFill>
                  <a:srgbClr val="F39C12"/>
                </a:solidFill>
                <a:latin typeface="Arial"/>
              </a:rPr>
              <a:t>Mobile / Scheduling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38344" y="3867911"/>
            <a:ext cx="2112263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650" b="0" i="0">
                <a:solidFill>
                  <a:srgbClr val="2C3E50"/>
                </a:solidFill>
                <a:latin typeface="Arial"/>
              </a:rPr>
              <a:t>Lemur-SF · FWM · ARCOS · Field Force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38344" y="3977639"/>
            <a:ext cx="2112263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E67E22"/>
                </a:solidFill>
                <a:latin typeface="Arial"/>
              </a:rPr>
              <a:t>⚠ boundary issue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06056" y="3154679"/>
            <a:ext cx="2203703" cy="45720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306056" y="3200399"/>
            <a:ext cx="220370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06056" y="3355848"/>
            <a:ext cx="2203703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Enterprise Content &amp; Reg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06056" y="3611879"/>
            <a:ext cx="2203703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351776" y="3657600"/>
            <a:ext cx="211226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1">
                <a:solidFill>
                  <a:srgbClr val="8E44AD"/>
                </a:solidFill>
                <a:latin typeface="Arial"/>
              </a:rPr>
              <a:t>Workflow / Compliance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51776" y="3867911"/>
            <a:ext cx="2112263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650" b="0" i="0">
                <a:solidFill>
                  <a:srgbClr val="2C3E50"/>
                </a:solidFill>
                <a:latin typeface="Arial"/>
              </a:rPr>
              <a:t>OpenText · Rate Case Advisor · Utilisphere · corporate apps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619488" y="3154679"/>
            <a:ext cx="2203703" cy="457200"/>
          </a:xfrm>
          <a:prstGeom prst="roundRect">
            <a:avLst>
              <a:gd name="adj" fmla="val 10000"/>
            </a:avLst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619488" y="3200399"/>
            <a:ext cx="220370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DVS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19488" y="3355848"/>
            <a:ext cx="2203703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SAP Enterprise Platform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619488" y="3611879"/>
            <a:ext cx="2203703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2C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65208" y="3657600"/>
            <a:ext cx="211226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1">
                <a:solidFill>
                  <a:srgbClr val="2C578B"/>
                </a:solidFill>
                <a:latin typeface="Arial"/>
              </a:rPr>
              <a:t>SAP modules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65208" y="3867911"/>
            <a:ext cx="2112263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650" b="0" i="0">
                <a:solidFill>
                  <a:srgbClr val="2C3E50"/>
                </a:solidFill>
                <a:latin typeface="Arial"/>
              </a:rPr>
              <a:t>SAP FI · PO · Budget · S/4HANA (Spain)  +  SAP ECC · CRM · FICA (US)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65208" y="3977639"/>
            <a:ext cx="2112263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E67E22"/>
                </a:solidFill>
                <a:latin typeface="Arial"/>
              </a:rPr>
              <a:t>⚠ boundary issue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65760" y="4434840"/>
            <a:ext cx="11457432" cy="384048"/>
          </a:xfrm>
          <a:prstGeom prst="roundRect">
            <a:avLst>
              <a:gd name="adj" fmla="val 20000"/>
            </a:avLst>
          </a:prstGeom>
          <a:solidFill>
            <a:srgbClr val="980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65760" y="4434840"/>
            <a:ext cx="11457432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Enabling Team  ·  shared services consumed by all 5 DVS</a:t>
            </a:r>
          </a:p>
        </p:txBody>
      </p:sp>
    </p:spTree>
    <p:extLst>
      <p:ext uri="{BB962C8B-B14F-4D97-AF65-F5344CB8AC3E}">
        <p14:creationId xmlns:p14="http://schemas.microsoft.com/office/powerpoint/2010/main" val="3728475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VALUE STREAM FRAMING — SAFe-FAITHFUL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DVSs GROUPED BY SOLUTION FAMILY  ·  MANY-TO-MANY WITH OVSs  ·  3 BOUNDARY ISSUES SURFACED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Director ITBA · Carlos Garbin  ·  5 DVS Product Managers (NEW)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Solution-family pattern · matrix many-to-many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88671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The initial 4-VS proposal mirrored today's team structure. A SAFe-faithful identification groups DVSs by SOLUTION FAMILY (lifecycle · stack · skillset · cadence), not by current team boundaries. The result: 5 DVSs with 3 boundary issues that need executive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WHY 5 DVSs (NOT 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Engineering &amp; Spatial — CAD/GIS/asset platforms (vendor-driven, quarterly upgrades)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Grid Operations (OT) — real-time, safety-critical, OT skillset  ⚠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Field Workforce — mobile, scheduling, field crew customer  ⚠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Enterprise Content &amp; Reg — workflow, compliance, corporate users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Enterprise Platform — same SAP stack across US+Spain  ⚠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Same solution-family lifecycle = same DVS · regardless of current team home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WHY MANY-TO-MANY (NOT 1:1)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ONE business OVS uses several DVSs (e.g., Network Build needs Engineering + Field + Content)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ONE DVS supports several OVSs (e.g., SAP Platform supports P2P, Period Close, Budget, M2C)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Forcing 1:1 hides this complexity and creates artificial silos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Matrix on next slide makes the relationships explicit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Many-to-many is the SAFe pattern · 1:1 is convenient but inaccurate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THE 3 BOUNDARY ISSUES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⚠ Grid Operations — OT vs IT?  Traditionally OT (DevSecOps/SRE skillset)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⚠ Field Workforce — ITBA or CS Apps?  Apps appeared in BOTH initial proposals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⚠ SAP Platform — US (CS Apps) + Spain (ITBA) consolidation?  Same stack, same skillset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Each surfaces a structural choice that benefits from explicit executive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Structural insights · merit executive escalation · don't bury under fit-forced 1:1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WHAT THIS GIVES LEADERSHIP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 solution-family DVS structure that scales (same DVS works at 26 FTE or 100 FTE)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Honest acknowledgment of cross-team / cross-org realities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Three explicit decisions to make (OT/IT, Field ownership, SAP consolidation)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Path to consolidate Digital Products (CS Apps + ITBA) under shared platform DVSs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Foundation for many-to-many resource allocation (matrix model)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Same FTE base · clearer solution-family alignment · structural decisions surfaced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91440"/>
            <a:ext cx="1145743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MANY-TO-MANY MATRIX — OVS × DVS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WHICH ITBA DVS SUPPORTS WHICH BUSINESS OVS  ·  ● = primary support  ○ = supporting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743200" cy="777240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274320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BUSINESS OVS</a:t>
            </a:r>
          </a:p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↓  by domain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097280"/>
            <a:ext cx="1691640" cy="7772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1143000"/>
            <a:ext cx="169164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DVS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25880"/>
            <a:ext cx="169164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Engineering &amp; Spatial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097280"/>
            <a:ext cx="169164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1143000"/>
            <a:ext cx="169164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DVS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325880"/>
            <a:ext cx="169164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Grid Operations (OT)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097280"/>
            <a:ext cx="1691640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143000"/>
            <a:ext cx="169164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DVS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325880"/>
            <a:ext cx="169164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Field Workforce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097280"/>
            <a:ext cx="1691640" cy="777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1143000"/>
            <a:ext cx="169164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DVS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325880"/>
            <a:ext cx="169164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Enterprise Content &amp; Reg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1097280"/>
            <a:ext cx="1691640" cy="777240"/>
          </a:xfrm>
          <a:prstGeom prst="rect">
            <a:avLst/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0" y="1143000"/>
            <a:ext cx="169164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DVS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1325880"/>
            <a:ext cx="169164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SAP Enterprise Platform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874519"/>
            <a:ext cx="54864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1874519"/>
            <a:ext cx="548640" cy="10972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Engineering &amp; Asset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187451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1874519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Network Build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18745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08960" y="187451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16A085"/>
                </a:solidFill>
                <a:latin typeface="Arial"/>
              </a:rPr>
              <a:t>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18745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92240" y="18745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87451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18745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3880" y="187451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18745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4400" y="2148839"/>
            <a:ext cx="219456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2148839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Asset Replacement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21488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08960" y="214883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16A085"/>
                </a:solidFill>
                <a:latin typeface="Arial"/>
              </a:rPr>
              <a:t>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00600" y="21488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92240" y="21488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214883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80" y="21488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875520" y="21488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14400" y="242315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0120" y="2423159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Capital Planning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08960" y="24231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108960" y="242315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16A085"/>
                </a:solidFill>
                <a:latin typeface="Arial"/>
              </a:rPr>
              <a:t>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00600" y="24231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92240" y="24231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183880" y="24231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83880" y="242315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75520" y="24231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14400" y="2697479"/>
            <a:ext cx="219456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0120" y="2697479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Asset Decommissioning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08960" y="26974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108960" y="269747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16A085"/>
                </a:solidFill>
                <a:latin typeface="Arial"/>
              </a:rPr>
              <a:t>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00600" y="26974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92240" y="26974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92240" y="269747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83880" y="26974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875520" y="26974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65760" y="2971799"/>
            <a:ext cx="548640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5760" y="2971799"/>
            <a:ext cx="548640" cy="10972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Network Operations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297179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60120" y="2971799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Outage Response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08960" y="29717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800600" y="29717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800600" y="297179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Arial"/>
              </a:rPr>
              <a:t>●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92240" y="29717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92240" y="297179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83880" y="29717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875520" y="29717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14400" y="3246119"/>
            <a:ext cx="219456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60120" y="3246119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Grid Optimization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08960" y="324611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108960" y="324611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00600" y="324611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800600" y="324611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Arial"/>
              </a:rPr>
              <a:t>●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92240" y="324611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183880" y="324611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875520" y="324611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14400" y="352043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60120" y="3520439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Routine Switching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08960" y="352043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800600" y="352043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800600" y="352043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Arial"/>
              </a:rPr>
              <a:t>●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352043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8183880" y="352043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9875520" y="352043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14400" y="3794759"/>
            <a:ext cx="219456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60120" y="3794759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Storm Restoration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108960" y="379475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4800600" y="379475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800600" y="379475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Arial"/>
              </a:rPr>
              <a:t>●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492240" y="379475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492240" y="379475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183880" y="379475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183880" y="379475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875520" y="379475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65760" y="4069079"/>
            <a:ext cx="54864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65760" y="4069079"/>
            <a:ext cx="548640" cy="10972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Corporate &amp; Regulatory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14400" y="406907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60120" y="4069079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Source-to-Pay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08960" y="406907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4800600" y="406907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6492240" y="406907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183880" y="406907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183880" y="406907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8E44AD"/>
                </a:solidFill>
                <a:latin typeface="Arial"/>
              </a:rPr>
              <a:t>●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875520" y="406907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875520" y="406907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4343399"/>
            <a:ext cx="219456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60120" y="4343399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Hire-to-Retire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108960" y="434339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4800600" y="434339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6492240" y="434339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8183880" y="434339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183880" y="434339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8E44AD"/>
                </a:solidFill>
                <a:latin typeface="Arial"/>
              </a:rPr>
              <a:t>●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875520" y="434339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914400" y="461771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60120" y="4617719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Rate Case Filing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108960" y="46177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4800600" y="46177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6492240" y="46177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8183880" y="46177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183880" y="461771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8E44AD"/>
                </a:solidFill>
                <a:latin typeface="Arial"/>
              </a:rPr>
              <a:t>●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875520" y="461771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914400" y="4892039"/>
            <a:ext cx="219456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960120" y="4892039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Regulatory Reporting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108960" y="48920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4800600" y="48920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6492240" y="48920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8183880" y="48920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183880" y="489203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8E44AD"/>
                </a:solidFill>
                <a:latin typeface="Arial"/>
              </a:rPr>
              <a:t>●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875520" y="489203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9875520" y="489203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  <a:latin typeface="Arial"/>
              </a:rPr>
              <a:t>○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65760" y="5166359"/>
            <a:ext cx="548640" cy="822959"/>
          </a:xfrm>
          <a:prstGeom prst="rect">
            <a:avLst/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365760" y="5166359"/>
            <a:ext cx="548640" cy="82295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Iberdrola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14400" y="516635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960120" y="5166359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Procure-to-Pay (Spain)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108960" y="51663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4800600" y="51663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6492240" y="51663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8183880" y="51663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9875520" y="516635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875520" y="516635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2C578B"/>
                </a:solidFill>
                <a:latin typeface="Arial"/>
              </a:rPr>
              <a:t>●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14400" y="5440679"/>
            <a:ext cx="219456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960120" y="5440679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Period Close (Spain)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108960" y="54406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4800600" y="54406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492240" y="54406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8183880" y="54406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9875520" y="5440679"/>
            <a:ext cx="169164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9875520" y="544067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2C578B"/>
                </a:solidFill>
                <a:latin typeface="Arial"/>
              </a:rPr>
              <a:t>●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14400" y="571499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960120" y="5714999"/>
            <a:ext cx="21488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2C3E50"/>
                </a:solidFill>
                <a:latin typeface="Arial"/>
              </a:rPr>
              <a:t>Plan-to-Budget (Spain)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108960" y="57149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4800600" y="57149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6492240" y="57149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8183880" y="57149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9875520" y="5714999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875520" y="5714999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 i="0">
                <a:solidFill>
                  <a:srgbClr val="2C578B"/>
                </a:solidFill>
                <a:latin typeface="Arial"/>
              </a:rPr>
              <a:t>●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65760" y="6172199"/>
            <a:ext cx="1145743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  <a:latin typeface="Arial"/>
              </a:rPr>
              <a:t>Reading the matrix:  Each OVS uses one PRIMARY DVS (●) and may use SUPPORTING DVSs (○).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1145743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OVS DETAIL — NETWORK BUILD (NEW CONNECTION)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Example operational value stream  ·  Owner: Engineering / Asset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" y="1115568"/>
            <a:ext cx="11576304" cy="1773936"/>
          </a:xfrm>
          <a:prstGeom prst="roundRect">
            <a:avLst>
              <a:gd name="adj" fmla="val 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07408" y="1170432"/>
            <a:ext cx="5943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 i="0">
                <a:solidFill>
                  <a:srgbClr val="0F1B4F"/>
                </a:solidFill>
                <a:latin typeface="Arial"/>
              </a:rPr>
              <a:t>OPERATIONAL VALUE STREAM — Network Build (New Connection)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645920"/>
            <a:ext cx="1188720" cy="1920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920240"/>
            <a:ext cx="1188720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Arial"/>
              </a:rPr>
              <a:t>Network expansion need or new customer connection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1490472"/>
            <a:ext cx="1188720" cy="1920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1755648"/>
            <a:ext cx="118872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Arial"/>
              </a:rPr>
              <a:t>Asset built · GIS updated · network ready for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Planner</a:t>
            </a:r>
          </a:p>
        </p:txBody>
      </p:sp>
      <p:sp>
        <p:nvSpPr>
          <p:cNvPr id="11" name="Pentagon 10"/>
          <p:cNvSpPr/>
          <p:nvPr/>
        </p:nvSpPr>
        <p:spPr>
          <a:xfrm>
            <a:off x="1691640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91640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Plan &amp;
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9142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Surveyor + engineer</a:t>
            </a:r>
          </a:p>
        </p:txBody>
      </p:sp>
      <p:sp>
        <p:nvSpPr>
          <p:cNvPr id="14" name="Pentagon 13"/>
          <p:cNvSpPr/>
          <p:nvPr/>
        </p:nvSpPr>
        <p:spPr>
          <a:xfrm>
            <a:off x="2939142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39142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Survey
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6645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Engineer</a:t>
            </a:r>
          </a:p>
        </p:txBody>
      </p:sp>
      <p:sp>
        <p:nvSpPr>
          <p:cNvPr id="17" name="Pentagon 16"/>
          <p:cNvSpPr/>
          <p:nvPr/>
        </p:nvSpPr>
        <p:spPr>
          <a:xfrm>
            <a:off x="4186645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86645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Design &amp;
specify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4148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Procurement</a:t>
            </a:r>
          </a:p>
        </p:txBody>
      </p:sp>
      <p:sp>
        <p:nvSpPr>
          <p:cNvPr id="20" name="Pentagon 19"/>
          <p:cNvSpPr/>
          <p:nvPr/>
        </p:nvSpPr>
        <p:spPr>
          <a:xfrm>
            <a:off x="5434148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34148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Procure
materials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1651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Field crews</a:t>
            </a:r>
          </a:p>
        </p:txBody>
      </p:sp>
      <p:sp>
        <p:nvSpPr>
          <p:cNvPr id="23" name="Pentagon 22"/>
          <p:cNvSpPr/>
          <p:nvPr/>
        </p:nvSpPr>
        <p:spPr>
          <a:xfrm>
            <a:off x="6681651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81651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Build /
construct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9154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Field crews + grid ops</a:t>
            </a:r>
          </a:p>
        </p:txBody>
      </p:sp>
      <p:sp>
        <p:nvSpPr>
          <p:cNvPr id="26" name="Pentagon 25"/>
          <p:cNvSpPr/>
          <p:nvPr/>
        </p:nvSpPr>
        <p:spPr>
          <a:xfrm>
            <a:off x="7929154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29154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Energize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6657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Engineer</a:t>
            </a:r>
          </a:p>
        </p:txBody>
      </p:sp>
      <p:sp>
        <p:nvSpPr>
          <p:cNvPr id="29" name="Pentagon 28"/>
          <p:cNvSpPr/>
          <p:nvPr/>
        </p:nvSpPr>
        <p:spPr>
          <a:xfrm>
            <a:off x="9176657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76657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Document
&amp; publish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" y="2971800"/>
            <a:ext cx="11576304" cy="1143000"/>
          </a:xfrm>
          <a:prstGeom prst="roundRect">
            <a:avLst>
              <a:gd name="adj" fmla="val 4000"/>
            </a:avLst>
          </a:prstGeom>
          <a:solidFill>
            <a:srgbClr val="E6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58768" y="3849624"/>
            <a:ext cx="480974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 i="0">
                <a:solidFill>
                  <a:srgbClr val="0F1B4F"/>
                </a:solidFill>
                <a:latin typeface="Arial"/>
              </a:rPr>
              <a:t>DEVELOPMENT VALUE STREAMS — who builds &amp; evolves the solutions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19072" y="3246120"/>
            <a:ext cx="2880360" cy="411480"/>
          </a:xfrm>
          <a:prstGeom prst="roundRect">
            <a:avLst>
              <a:gd name="adj" fmla="val 2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719072" y="3319272"/>
            <a:ext cx="28803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DVS — Engineering &amp; Spatial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(primary)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45152" y="3246120"/>
            <a:ext cx="2880360" cy="41148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45152" y="3319272"/>
            <a:ext cx="28803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DVS — Field Workforce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(supporting)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71232" y="3246120"/>
            <a:ext cx="2880360" cy="411480"/>
          </a:xfrm>
          <a:prstGeom prst="roundRect">
            <a:avLst>
              <a:gd name="adj" fmla="val 2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71232" y="3319272"/>
            <a:ext cx="28803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DVS — Enterprise Content &amp; Reg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(supporting)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" y="4489704"/>
            <a:ext cx="1188720" cy="1920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APPLICATIONS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19072" y="4279392"/>
            <a:ext cx="8732520" cy="603504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719072" y="4279392"/>
            <a:ext cx="873252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ArcFM (asset)  ·  CYME (analysis)  ·  Bentley / Microstation (design)  ·  ProjectWise (drawings)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719072" y="5157216"/>
            <a:ext cx="8732520" cy="411480"/>
          </a:xfrm>
          <a:prstGeom prst="roundRect">
            <a:avLst>
              <a:gd name="adj" fmla="val 10000"/>
            </a:avLst>
          </a:prstGeom>
          <a:solidFill>
            <a:srgbClr val="980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719072" y="5276088"/>
            <a:ext cx="87325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Enabling Team  ·  shared services consumed by all DVS  (SWF · demand intake · test/release · third-party risk · ALM)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5715000"/>
            <a:ext cx="1145743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1">
                <a:solidFill>
                  <a:srgbClr val="95A5A6"/>
                </a:solidFill>
                <a:latin typeface="Arial"/>
              </a:rPr>
              <a:t>Other operational value streams in this domain: Asset Replacement Cycle  ·  Network Inspection  ·  Capital Planning  ·  Asset Decommissioning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1145743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OVS DETAIL — OUTAGE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Example operational value stream  ·  Owner: Network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" y="1115568"/>
            <a:ext cx="11576304" cy="1773936"/>
          </a:xfrm>
          <a:prstGeom prst="roundRect">
            <a:avLst>
              <a:gd name="adj" fmla="val 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07408" y="1170432"/>
            <a:ext cx="5943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 i="0">
                <a:solidFill>
                  <a:srgbClr val="0F1B4F"/>
                </a:solidFill>
                <a:latin typeface="Arial"/>
              </a:rPr>
              <a:t>OPERATIONAL VALUE STREAM — Outage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645920"/>
            <a:ext cx="1188720" cy="1920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920240"/>
            <a:ext cx="1188720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Arial"/>
              </a:rPr>
              <a:t>Outage detected (SCADA sensor or customer call) or grid 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1490472"/>
            <a:ext cx="1188720" cy="1920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1755648"/>
            <a:ext cx="118872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Arial"/>
              </a:rPr>
              <a:t>Service restored · grid stable · regulator informed · root cause captured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SCADA + customer</a:t>
            </a:r>
          </a:p>
        </p:txBody>
      </p:sp>
      <p:sp>
        <p:nvSpPr>
          <p:cNvPr id="11" name="Pentagon 10"/>
          <p:cNvSpPr/>
          <p:nvPr/>
        </p:nvSpPr>
        <p:spPr>
          <a:xfrm>
            <a:off x="1691640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91640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Detect
&amp; 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9142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Grid ops</a:t>
            </a:r>
          </a:p>
        </p:txBody>
      </p:sp>
      <p:sp>
        <p:nvSpPr>
          <p:cNvPr id="14" name="Pentagon 13"/>
          <p:cNvSpPr/>
          <p:nvPr/>
        </p:nvSpPr>
        <p:spPr>
          <a:xfrm>
            <a:off x="2939142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39142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Triage &amp;
prioritize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6645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Dispatcher</a:t>
            </a:r>
          </a:p>
        </p:txBody>
      </p:sp>
      <p:sp>
        <p:nvSpPr>
          <p:cNvPr id="17" name="Pentagon 16"/>
          <p:cNvSpPr/>
          <p:nvPr/>
        </p:nvSpPr>
        <p:spPr>
          <a:xfrm>
            <a:off x="4186645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86645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Dispatch
crews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4148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Grid operator</a:t>
            </a:r>
          </a:p>
        </p:txBody>
      </p:sp>
      <p:sp>
        <p:nvSpPr>
          <p:cNvPr id="20" name="Pentagon 19"/>
          <p:cNvSpPr/>
          <p:nvPr/>
        </p:nvSpPr>
        <p:spPr>
          <a:xfrm>
            <a:off x="5434148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34148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Switch
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1651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Field crews</a:t>
            </a:r>
          </a:p>
        </p:txBody>
      </p:sp>
      <p:sp>
        <p:nvSpPr>
          <p:cNvPr id="23" name="Pentagon 22"/>
          <p:cNvSpPr/>
          <p:nvPr/>
        </p:nvSpPr>
        <p:spPr>
          <a:xfrm>
            <a:off x="6681651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81651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Field
repair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9154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Grid ops</a:t>
            </a:r>
          </a:p>
        </p:txBody>
      </p:sp>
      <p:sp>
        <p:nvSpPr>
          <p:cNvPr id="26" name="Pentagon 25"/>
          <p:cNvSpPr/>
          <p:nvPr/>
        </p:nvSpPr>
        <p:spPr>
          <a:xfrm>
            <a:off x="7929154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29154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Restore
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6657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Operator + regulator</a:t>
            </a:r>
          </a:p>
        </p:txBody>
      </p:sp>
      <p:sp>
        <p:nvSpPr>
          <p:cNvPr id="29" name="Pentagon 28"/>
          <p:cNvSpPr/>
          <p:nvPr/>
        </p:nvSpPr>
        <p:spPr>
          <a:xfrm>
            <a:off x="9176657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76657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Close &amp;
report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" y="2971800"/>
            <a:ext cx="11576304" cy="1143000"/>
          </a:xfrm>
          <a:prstGeom prst="roundRect">
            <a:avLst>
              <a:gd name="adj" fmla="val 4000"/>
            </a:avLst>
          </a:prstGeom>
          <a:solidFill>
            <a:srgbClr val="E6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58768" y="3849624"/>
            <a:ext cx="480974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 i="0">
                <a:solidFill>
                  <a:srgbClr val="0F1B4F"/>
                </a:solidFill>
                <a:latin typeface="Arial"/>
              </a:rPr>
              <a:t>DEVELOPMENT VALUE STREAMS — who builds &amp; evolves the solutions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19072" y="3246120"/>
            <a:ext cx="4343400" cy="41148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719072" y="3319272"/>
            <a:ext cx="43434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DVS — Grid Operations (OT)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(primary)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08192" y="3246120"/>
            <a:ext cx="4343400" cy="41148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08192" y="3319272"/>
            <a:ext cx="43434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DVS — Field Workforce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(supporting)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" y="4489704"/>
            <a:ext cx="1188720" cy="1920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APPLICATIONS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9072" y="4279392"/>
            <a:ext cx="8732520" cy="603504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19072" y="4279392"/>
            <a:ext cx="873252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Cimplicity (SCADA)  ·  Echelon (control)  ·  Switching Orders (workflow)  ·  SLAM (load analysis)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19072" y="5157216"/>
            <a:ext cx="8732520" cy="411480"/>
          </a:xfrm>
          <a:prstGeom prst="roundRect">
            <a:avLst>
              <a:gd name="adj" fmla="val 10000"/>
            </a:avLst>
          </a:prstGeom>
          <a:solidFill>
            <a:srgbClr val="980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719072" y="5276088"/>
            <a:ext cx="87325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Enabling Team  ·  shared services consumed by all DVS  (SWF · demand intake · test/release · third-party risk · ALM)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715000"/>
            <a:ext cx="1145743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1">
                <a:solidFill>
                  <a:srgbClr val="95A5A6"/>
                </a:solidFill>
                <a:latin typeface="Arial"/>
              </a:rPr>
              <a:t>Other operational value streams in this domain: Grid Optimization  ·  Routine Switching  ·  Load Balancing  ·  Storm Restoration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1145743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OVS DETAIL — RATE CASE 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Example operational value stream  ·  Owner: Regulatory Affairs · Finance · Legal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" y="1115568"/>
            <a:ext cx="11576304" cy="1773936"/>
          </a:xfrm>
          <a:prstGeom prst="roundRect">
            <a:avLst>
              <a:gd name="adj" fmla="val 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07408" y="1170432"/>
            <a:ext cx="5943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 i="0">
                <a:solidFill>
                  <a:srgbClr val="0F1B4F"/>
                </a:solidFill>
                <a:latin typeface="Arial"/>
              </a:rPr>
              <a:t>OPERATIONAL VALUE STREAM — Rate Case Filing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645920"/>
            <a:ext cx="1188720" cy="1920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920240"/>
            <a:ext cx="1188720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Arial"/>
              </a:rPr>
              <a:t>Rate case scheduled by regulator or new tariff strategy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1490472"/>
            <a:ext cx="1188720" cy="1920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1755648"/>
            <a:ext cx="118872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Arial"/>
              </a:rPr>
              <a:t>Rates approved · revenue protected · compliance maintained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Regulatory + Finance</a:t>
            </a:r>
          </a:p>
        </p:txBody>
      </p:sp>
      <p:sp>
        <p:nvSpPr>
          <p:cNvPr id="11" name="Pentagon 10"/>
          <p:cNvSpPr/>
          <p:nvPr/>
        </p:nvSpPr>
        <p:spPr>
          <a:xfrm>
            <a:off x="1691640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91640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Plan
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9142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Multi-team</a:t>
            </a:r>
          </a:p>
        </p:txBody>
      </p:sp>
      <p:sp>
        <p:nvSpPr>
          <p:cNvPr id="14" name="Pentagon 13"/>
          <p:cNvSpPr/>
          <p:nvPr/>
        </p:nvSpPr>
        <p:spPr>
          <a:xfrm>
            <a:off x="2939142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39142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Gather
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6645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Regulatory + tool</a:t>
            </a:r>
          </a:p>
        </p:txBody>
      </p:sp>
      <p:sp>
        <p:nvSpPr>
          <p:cNvPr id="17" name="Pentagon 16"/>
          <p:cNvSpPr/>
          <p:nvPr/>
        </p:nvSpPr>
        <p:spPr>
          <a:xfrm>
            <a:off x="4186645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86645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Draft
filing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4148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Legal + leadership</a:t>
            </a:r>
          </a:p>
        </p:txBody>
      </p:sp>
      <p:sp>
        <p:nvSpPr>
          <p:cNvPr id="20" name="Pentagon 19"/>
          <p:cNvSpPr/>
          <p:nvPr/>
        </p:nvSpPr>
        <p:spPr>
          <a:xfrm>
            <a:off x="5434148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34148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Internal
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1651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Regulatory</a:t>
            </a:r>
          </a:p>
        </p:txBody>
      </p:sp>
      <p:sp>
        <p:nvSpPr>
          <p:cNvPr id="23" name="Pentagon 22"/>
          <p:cNvSpPr/>
          <p:nvPr/>
        </p:nvSpPr>
        <p:spPr>
          <a:xfrm>
            <a:off x="6681651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81651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Submit to
regulator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9154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Regulatory + Legal</a:t>
            </a:r>
          </a:p>
        </p:txBody>
      </p:sp>
      <p:sp>
        <p:nvSpPr>
          <p:cNvPr id="26" name="Pentagon 25"/>
          <p:cNvSpPr/>
          <p:nvPr/>
        </p:nvSpPr>
        <p:spPr>
          <a:xfrm>
            <a:off x="7929154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29154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Respond to
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6657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Finance + IT</a:t>
            </a:r>
          </a:p>
        </p:txBody>
      </p:sp>
      <p:sp>
        <p:nvSpPr>
          <p:cNvPr id="29" name="Pentagon 28"/>
          <p:cNvSpPr/>
          <p:nvPr/>
        </p:nvSpPr>
        <p:spPr>
          <a:xfrm>
            <a:off x="9176657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76657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Implement
rates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" y="2971800"/>
            <a:ext cx="11576304" cy="1143000"/>
          </a:xfrm>
          <a:prstGeom prst="roundRect">
            <a:avLst>
              <a:gd name="adj" fmla="val 4000"/>
            </a:avLst>
          </a:prstGeom>
          <a:solidFill>
            <a:srgbClr val="E6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58768" y="3849624"/>
            <a:ext cx="480974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 i="0">
                <a:solidFill>
                  <a:srgbClr val="0F1B4F"/>
                </a:solidFill>
                <a:latin typeface="Arial"/>
              </a:rPr>
              <a:t>DEVELOPMENT VALUE STREAMS — who builds &amp; evolves the solutions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19072" y="3246120"/>
            <a:ext cx="8732520" cy="411480"/>
          </a:xfrm>
          <a:prstGeom prst="roundRect">
            <a:avLst>
              <a:gd name="adj" fmla="val 2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719072" y="3319272"/>
            <a:ext cx="87325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DVS — Enterprise Content &amp; Reg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(primary)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489704"/>
            <a:ext cx="1188720" cy="1920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APPLICATIONS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19072" y="4279392"/>
            <a:ext cx="8732520" cy="603504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719072" y="4279392"/>
            <a:ext cx="873252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Rate Case Advisor (drafting)  ·  OpenText (documents)  ·  Utilisphere (utility data)  ·  internal financial systems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19072" y="5157216"/>
            <a:ext cx="8732520" cy="411480"/>
          </a:xfrm>
          <a:prstGeom prst="roundRect">
            <a:avLst>
              <a:gd name="adj" fmla="val 10000"/>
            </a:avLst>
          </a:prstGeom>
          <a:solidFill>
            <a:srgbClr val="980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19072" y="5276088"/>
            <a:ext cx="87325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Enabling Team  ·  shared services consumed by all DVS  (SWF · demand intake · test/release · third-party risk · ALM)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715000"/>
            <a:ext cx="1145743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1">
                <a:solidFill>
                  <a:srgbClr val="95A5A6"/>
                </a:solidFill>
                <a:latin typeface="Arial"/>
              </a:rPr>
              <a:t>Other operational value streams in this domain: Source-to-Pay  ·  Hire-to-Retire  ·  Regulatory Reporting Cycle  ·  Employee Self-Service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55448"/>
            <a:ext cx="1145743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OVS DETAIL — PROCURE-TO-PAY (SPAIN)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Example operational value stream  ·  Owner: Iberdrola Spain · Avangrid Finance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" y="1115568"/>
            <a:ext cx="11576304" cy="1773936"/>
          </a:xfrm>
          <a:prstGeom prst="roundRect">
            <a:avLst>
              <a:gd name="adj" fmla="val 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07408" y="1170432"/>
            <a:ext cx="5943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 i="0">
                <a:solidFill>
                  <a:srgbClr val="0F1B4F"/>
                </a:solidFill>
                <a:latin typeface="Arial"/>
              </a:rPr>
              <a:t>OPERATIONAL VALUE STREAM — Procure-to-Pay (Spain)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645920"/>
            <a:ext cx="1188720" cy="1920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920240"/>
            <a:ext cx="1188720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Arial"/>
              </a:rPr>
              <a:t>Iberdrola business unit identifies a need (good or service)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1490472"/>
            <a:ext cx="1188720" cy="1920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1755648"/>
            <a:ext cx="118872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Arial"/>
              </a:rPr>
              <a:t>Goods received · vendor paid · books balanced · Iberdrola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Requester</a:t>
            </a:r>
          </a:p>
        </p:txBody>
      </p:sp>
      <p:sp>
        <p:nvSpPr>
          <p:cNvPr id="11" name="Pentagon 10"/>
          <p:cNvSpPr/>
          <p:nvPr/>
        </p:nvSpPr>
        <p:spPr>
          <a:xfrm>
            <a:off x="1691640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91640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Requisition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9142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Approver</a:t>
            </a:r>
          </a:p>
        </p:txBody>
      </p:sp>
      <p:sp>
        <p:nvSpPr>
          <p:cNvPr id="14" name="Pentagon 13"/>
          <p:cNvSpPr/>
          <p:nvPr/>
        </p:nvSpPr>
        <p:spPr>
          <a:xfrm>
            <a:off x="2939142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39142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Approve
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6645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Procurement</a:t>
            </a:r>
          </a:p>
        </p:txBody>
      </p:sp>
      <p:sp>
        <p:nvSpPr>
          <p:cNvPr id="17" name="Pentagon 16"/>
          <p:cNvSpPr/>
          <p:nvPr/>
        </p:nvSpPr>
        <p:spPr>
          <a:xfrm>
            <a:off x="4186645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86645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Issue PO
(SAP)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4148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Receiving</a:t>
            </a:r>
          </a:p>
        </p:txBody>
      </p:sp>
      <p:sp>
        <p:nvSpPr>
          <p:cNvPr id="20" name="Pentagon 19"/>
          <p:cNvSpPr/>
          <p:nvPr/>
        </p:nvSpPr>
        <p:spPr>
          <a:xfrm>
            <a:off x="5434148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34148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Receive
goods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1651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FI / AP</a:t>
            </a:r>
          </a:p>
        </p:txBody>
      </p:sp>
      <p:sp>
        <p:nvSpPr>
          <p:cNvPr id="23" name="Pentagon 22"/>
          <p:cNvSpPr/>
          <p:nvPr/>
        </p:nvSpPr>
        <p:spPr>
          <a:xfrm>
            <a:off x="6681651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81651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
invoice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9154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FI / Treasury</a:t>
            </a:r>
          </a:p>
        </p:txBody>
      </p:sp>
      <p:sp>
        <p:nvSpPr>
          <p:cNvPr id="26" name="Pentagon 25"/>
          <p:cNvSpPr/>
          <p:nvPr/>
        </p:nvSpPr>
        <p:spPr>
          <a:xfrm>
            <a:off x="7929154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29154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Pay
vendor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6657" y="1600200"/>
            <a:ext cx="124750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Finance close</a:t>
            </a:r>
          </a:p>
        </p:txBody>
      </p:sp>
      <p:sp>
        <p:nvSpPr>
          <p:cNvPr id="29" name="Pentagon 28"/>
          <p:cNvSpPr/>
          <p:nvPr/>
        </p:nvSpPr>
        <p:spPr>
          <a:xfrm>
            <a:off x="9176657" y="2103120"/>
            <a:ext cx="1338942" cy="502920"/>
          </a:xfrm>
          <a:prstGeom prst="homePlate">
            <a:avLst/>
          </a:prstGeom>
          <a:solidFill>
            <a:srgbClr val="0F1B4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76657" y="2103120"/>
            <a:ext cx="1338942" cy="502920"/>
          </a:xfrm>
          <a:prstGeom prst="rect">
            <a:avLst/>
          </a:prstGeom>
          <a:noFill/>
        </p:spPr>
        <p:txBody>
          <a:bodyPr wrap="square" lIns="36576" rIns="16459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Close &amp;
reconcile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" y="2971800"/>
            <a:ext cx="11576304" cy="1143000"/>
          </a:xfrm>
          <a:prstGeom prst="roundRect">
            <a:avLst>
              <a:gd name="adj" fmla="val 4000"/>
            </a:avLst>
          </a:prstGeom>
          <a:solidFill>
            <a:srgbClr val="E6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58768" y="3849624"/>
            <a:ext cx="480974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 i="0">
                <a:solidFill>
                  <a:srgbClr val="0F1B4F"/>
                </a:solidFill>
                <a:latin typeface="Arial"/>
              </a:rPr>
              <a:t>DEVELOPMENT VALUE STREAMS — who builds &amp; evolves the solutions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19072" y="3246120"/>
            <a:ext cx="8732520" cy="41148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719072" y="3319272"/>
            <a:ext cx="87325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DVS — SAP Enterprise Platform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(primary)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489704"/>
            <a:ext cx="1188720" cy="1920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95A5A6"/>
                </a:solidFill>
                <a:latin typeface="Arial"/>
              </a:rPr>
              <a:t>APPLICATIONS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19072" y="4279392"/>
            <a:ext cx="8732520" cy="603504"/>
          </a:xfrm>
          <a:prstGeom prst="rect">
            <a:avLst/>
          </a:prstGeom>
          <a:solidFill>
            <a:srgbClr val="0B7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719072" y="4279392"/>
            <a:ext cx="873252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SAP PO (purchase)  ·  SAP FI (finance)  ·  SAP Budget (control)  ·  S/4HANA (platform)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19072" y="5157216"/>
            <a:ext cx="8732520" cy="411480"/>
          </a:xfrm>
          <a:prstGeom prst="roundRect">
            <a:avLst>
              <a:gd name="adj" fmla="val 10000"/>
            </a:avLst>
          </a:prstGeom>
          <a:solidFill>
            <a:srgbClr val="980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19072" y="5276088"/>
            <a:ext cx="87325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Enabling Team  ·  shared services consumed by all DVS  (SWF · demand intake · test/release · third-party risk · ALM)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715000"/>
            <a:ext cx="1145743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1">
                <a:solidFill>
                  <a:srgbClr val="95A5A6"/>
                </a:solidFill>
                <a:latin typeface="Arial"/>
              </a:rPr>
              <a:t>Other operational value streams in this domain: Period Close (Spain)  ·  Plan-to-Budget (Spain)  ·  Financial Reporting (Spain)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1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ENGINEERING &amp; SPATIAL — RELIABLE ASSET DATA · DESIGN · ANALYSIS PLATFORMS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ITBA · George Porto (lead) + crossover for ProjectWise/Bentley from G&amp;E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Solution family: CAD / GIS / asset · vendor-driven · quarterly upgrade 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Build and evolve the engineering &amp; spatial platform — captures, models and publishes asset and design data — supporting Network Build, Asset Replacement, Capital Planning OVSs.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(SOLUTION FAMILY)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ArcFM (GIS / asset management)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ProjectWise (engineering content / drawings)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Microstation (CAD)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Bentley (engineering platform family)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CYME (power systems analysis)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HANA spatial · GIS web apps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OVSs SUPPORTED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Network Build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Asset Replacement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Capital Planning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Asset Decommissioning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Grid Optimization (supporting role)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Multi-OVS support — strongest leverage in Engineering &amp; Asset domain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TEAM SHAPE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Tech Lead — George Porto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CAD/GIS engineers — including crossover from current G&amp;E team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172" y="5829300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Cross-team scope — clean PM accountability requires crossing today's GIS/G&amp;E 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Bentley (ProjectWise / Microstation / CYME)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Esri / ArcFM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HANA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SWF (Software Factory)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2 / 5  ·  ⚠ BOUNDARY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GRID OPERATIONS (OT) — REAL-TIME · SAFETY-CRITICAL · 24/7 SCADA &amp;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ITBA · Bruno Moreto (lead) + OT specialists (NEW capability if kept in 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Solution family: SCADA / control / real-time · OT skillset · DevSecOps + SRE cadence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Build and evolve the real-time grid control platform — SCADA, switching workflow, load analysis. Safety-critical. Supports Outage Response, Grid Optimization, Switching OVSs.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(SOLUTION FAMILY)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Cimplicity (SCADA / HMI)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Echelon (control / metering platform)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SLAM (System Loading and Analysis Module)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Switching Orders (utility-specific switching workflow)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OVSs SUPPORTED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Outage Response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Grid Optimization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Routine Switching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Storm Restoration (primary)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All 4 OVSs in Network Operations domain depend on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⚠ BOUNDARY ISSUE — OT vs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Grid control / SCADA traditionally sits in OT (Operational Technology), not IT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Avangrid: where does this team currently live? — to confirm with Bruno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If kept in ITBA: needs OT skillset (DevSecOps + SRE) — new capability hire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If moved to OT: ITBA scope shrinks · governance simplified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172" y="5829300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Decision required — escalate to executive (Carlos + OT leadership)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GE (Cimplicity)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Echelon vendor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SLAM vendor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Possibly broader OT integrator if moved to 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Vendor mix depends on org placement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3 / 5  ·  ⚠ BOUNDARY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FIELD WORKFORCE — MOBILE · SCHEDULING · WORKFORCE MGMT FOR FIELD CREWS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ITBA · TBD — overlaps Bruno's team and CS Apps field-ops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Solution family: workforce mgmt · mobile · scheduling · field crew customer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Build and evolve the field workforce platform — dispatch, mobile apps, scheduling, workforce management — for line workers, inspectors and dispatchers.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(SOLUTION FAMILY)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Lemur-SF (Salesforce-based field service)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FWM (Field Work Management)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ARCOS (resource scheduling / callout)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Field Force (workforce mobile apps)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OVSs SUPPORTED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Outage Response (supporting — field repair)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Network Build (supporting — construction crews)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Asset Replacement (supporting)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Storm Restoration (supporting — surge capacity)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Asset Decommissioning (supporting)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Cross-cutting DVS · serves multiple OVSs across domains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⚠ BOUNDARY ISSUE — overlap with CS Apps Field Operations VS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These apps appeared in CS Apps' "Field Operations" orange card (initial proposal)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In reality the customer is field crews — single workforce platform makes sense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Question: should this DVS sit in ITBA or in CS Apps?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Or: should it become a CROSS-AVANGRID platform (joint ownership)?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172" y="5829300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Don't fit-force into one branch — surface the structural overlap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Salesforce (Lemur-SF)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ARCOS Inc.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Field Force vendor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FWM vendor (to confirm)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Vendor mix to be confirmed once ownership is decided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4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ENTERPRISE CONTENT &amp; REGULATORY — WORKFLOW · COMPLIANCE · CORPORATE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ITBA · Sarath Garikapati + Amit (lead)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Solution family: workflow · content · compliance-driven · corporate user customer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Deliver and maintain the workflow, content management and regulatory technology platform — supporting Hire-to-Retire, Source-to-Pay, Rate Case Filing, Regulatory Reporting.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(SOLUTION FAMILY)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OpenText (content / records management)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Rate Case Advisor (regulatory rate cases)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Utilisphere (utility-specific platform)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Corporate applications portfolio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Employee portals · regulatory reporting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OVSs SUPPORTED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Hire-to-Retire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Rate Case Filing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Regulatory Reporting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Source-to-Pay (primary — workflow side)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Storm Restoration (supporting — outage notifications)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Heaviest-leveraged DVS for Corporate &amp; Regulatory domain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TEAM SHAPE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Tech Lead — Sarath Garikapati / Amit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5–6 PMs + 2 tech leads (current composition)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172" y="5829300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Largest sub-team — possible internal sub-streams (HR vs Regulatory) to validate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OpenText vendor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Accenture (corporate apps + projects)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Regulatory tooling vendors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SWF (Software Factory)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5 / 5  ·  ⚠ BOUNDARY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SAP ENTERPRISE PLATFORM — UNIFIED SAP STACK · US (CS Apps) + SPAIN (ITBA)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Vanessa Colombo + Michael Dubois (Spain)  +  Vincent Lam / Naggi Reddy (US — currently CS Apps)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Solution family: SAP modules · same skillset · same transport cadence · same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Operate and evolve the SAP enterprise platform — Spain side (FI/PO/Budget/S4HANA) and US side (ECC/CRM/FICA). Single stack, single skillset — natural candidate for unified DVS.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(SOLUTION FAMILY)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ITBA scope (Spain side):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FI (Finance)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PO (Purchase Orders)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Budget control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S/4HANA (Iberdrola roadmap)</a:t>
            </a:r>
          </a:p>
          <a:p>
            <a:endParaRPr sz="950" b="0">
              <a:solidFill>
                <a:srgbClr val="2C3E50"/>
              </a:solidFill>
              <a:latin typeface="Arial"/>
            </a:endParaRP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Currently in CS Apps (US side):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ECC · SAP CRM · SAP FICA · SAP Metering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OVSs SUPPORTED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Spain: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Procure-to-Pay (Spain)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Period Close (Spain) (primary)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Plan-to-Budget (Spain) (primary)</a:t>
            </a:r>
          </a:p>
          <a:p>
            <a:endParaRPr sz="950" b="0">
              <a:solidFill>
                <a:srgbClr val="2C3E50"/>
              </a:solidFill>
              <a:latin typeface="Arial"/>
            </a:endParaRP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US (cross-branch):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Source-to-Pay (supporting)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Customer-Service M2C OVS (full — currently CS Apps)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Highest-leverage DVS if US+Spain consolidated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⚠ BOUNDARY ISSUE — cross-Avangrid SAP consolidation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Today: US SAP under Vincent Lam (CS Apps) · Spain SAP under Vanessa (ITBA)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Same stack · same skillset · same transports — natural to unify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Question: should there be ONE SAP Enterprise Platform DVS spanning Digital Products?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Pro: scale benefits · skill pool · architecture coherence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Con: current org boundaries · competing priorities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172" y="5829300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Naggi Reddy (Sr. Mgr SAP Basis) is well-positioned as platform anchor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Accenture (Global SAP support · both sides)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partner for Spain modules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partner for US modules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Iberdrola Spain integration teams (peer)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Cross-branch SAP partner consolidation also possible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ENABLING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FOUNDATION SERVICES — SHARED CAPABILITIES THAT KEEP THE ITBA DVS RUNNING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ITBA · governed by Director ITBA (Carlos Garbin)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No PM · no DVS-level backlog · operates as a small shared-service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Provide the technical and process foundation — Software Factory governance, demand intake, test &amp; release coordination, third-party risk gating — that the ITBA DVS rely 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FOUNDATION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SWF (Software Factory) governance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Demand intake orchestration (PDD · Jira · IT Now)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Test &amp; release coordination (cross-DVS)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Third-party risk assessment gating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Vendor-management cadence (Accenture · SWF · business vendors)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ALM tooling administration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WHO USES THESE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All ITBA DVS — for SWF capacity · environments · test cycles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Engineering DVS — third-party risk gating for vendor upgrades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Platform DVS — transport coordination · integration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Director ITBA — portfolio view across DVS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Optionally shared with CS Apps enabling team (Digital Products consolidation)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Foundation services support all DVS — they do not constitute a separate product 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TEAM SHAPE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Coordination led by Director ITBA (Carlos Garbin)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SWF governance lead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Demand intake / portfolio admin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Test &amp; risk coordinators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No dedicated Product 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172" y="5829300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Why not a DVS: at this headcount, productizing foundation services would create overhead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SWF (Software Factory) vendor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Accenture — for cross-DVS major projects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Atlassian Jira admins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Third-party risk assessment vendors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governs operationally · vendors execute specific capabilities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4554</Words>
  <Application>Microsoft Macintosh PowerPoint</Application>
  <PresentationFormat>Widescreen</PresentationFormat>
  <Paragraphs>659</Paragraphs>
  <Slides>20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IberPangea Text</vt:lpstr>
      <vt:lpstr>IberPangea Text Light</vt:lpstr>
      <vt:lpstr>Montserrat</vt:lpstr>
      <vt:lpstr>Tema do Office</vt:lpstr>
      <vt:lpstr>PROPOSED VALUE STREAMS – IT BUSINESS APPLICATIONS Initial proposal: 4 Value Streams  ·  SAFe Exercise: 5 DVSs by solution family April 2026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Castellano</dc:creator>
  <cp:lastModifiedBy>Gustavo Castellano</cp:lastModifiedBy>
  <cp:revision>5</cp:revision>
  <dcterms:created xsi:type="dcterms:W3CDTF">2026-04-28T18:35:46Z</dcterms:created>
  <dcterms:modified xsi:type="dcterms:W3CDTF">2026-05-05T21:36:04Z</dcterms:modified>
</cp:coreProperties>
</file>