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14" r:id="rId2"/>
    <p:sldId id="272" r:id="rId3"/>
    <p:sldId id="318" r:id="rId16"/>
    <p:sldId id="319" r:id="rId17"/>
    <p:sldId id="289" r:id="rId4"/>
    <p:sldId id="291" r:id="rId5"/>
    <p:sldId id="292" r:id="rId6"/>
    <p:sldId id="293" r:id="rId7"/>
    <p:sldId id="315" r:id="rId13"/>
    <p:sldId id="316" r:id="rId14"/>
    <p:sldId id="31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27"/>
    <p:restoredTop sz="94651"/>
  </p:normalViewPr>
  <p:slideViewPr>
    <p:cSldViewPr snapToGrid="0">
      <p:cViewPr>
        <p:scale>
          <a:sx n="160" d="100"/>
          <a:sy n="160" d="100"/>
        </p:scale>
        <p:origin x="1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27/04/2026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5888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microsoft.com/office/2007/relationships/hdphoto" Target="../media/hdphoto1.wdp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-8055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 -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endParaRPr lang="en-US" b="0" dirty="0"/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v2 — SAFe Reframe: 1 Operational + 5 Development Value Streams</a:t>
            </a:r>
          </a:p>
          <a:p>
            <a:r>
              <a:rPr sz="140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707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PROPOSED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 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960120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33272"/>
            <a:ext cx="8439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1051560"/>
            <a:ext cx="2651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10908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28216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93976"/>
            <a:ext cx="1090879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10908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C3E50"/>
                </a:solidFill>
                <a:latin typeface="Arial"/>
              </a:rP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10908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F1B4F"/>
                </a:solidFill>
                <a:latin typeface="Arial"/>
              </a:rPr>
              <a:t>METER  →  BILL  →  COLLECT  →  SERVE   ·   PLATFORM (transversal enabler)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112745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1B4F"/>
                </a:solidFill>
                <a:latin typeface="Arial"/>
              </a:rPr>
              <a:t>DEVELOPMENT VALUE STREAMS (5)  ·  ONE PRODUCT MANAGER PER DVS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Meter Data &amp; 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Metering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Capture every read · zero data loss to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Smart Metering
MDM (Meter Data Mgmt)
SAP IS-U Device
Group 8760 (EDI)
Field meter read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0398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12110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0398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Billing &amp; Invoicing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1838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1838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Run the bill on time · every day · every OPCO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13278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21838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1838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ECC (FI/SD)
Streamserve / OpenText
Address Validation (Precisely)
Print &amp; e-delivery interfaces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3596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85308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3596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Collections · FICA · Tax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5036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5036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Convert invoices into cash · comply at line 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6476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5036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5036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FICA
SOVOS Taxware
Payment processing interfaces
(banks · lockbox · 3rd-party)
Dunning &amp; collections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6795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258507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6795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Customer Interaction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8235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8235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Unify CRM · contact center · digital ·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9675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8235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8235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CRM
Genesys (Infosys)
Nuance IVR / CTI
Medallia (formerly VHT)
PureConnect / PureEngage (legacy)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49993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31705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49993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Platform &amp; Enablers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1433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Shared Service · Transversal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1433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Keep the factory running for every other DVS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2873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1433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1433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Basis
SAP Gold Client
SAP Enable Now (WPB)
Blue Prism (RPA)
Tricentis TOSCA
Jira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WHY THIS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17 CS APPLICATIONS · ~24 FTE · 1 APP ≠ 1 PRODUCT — SAFe SEPARATES OUTCOME FROM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5 sub-teams · 2 Sr. Manager vacancies [KB S.23 / S.2]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Source: AS-IS deliverable · 2026-04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Treating each application as its own product would split ~24 FTE across 17 apps (~1.4 FTE each). Unsustainable. SAFe gives us a way to keep one customer-facing outcome (M2C) while organising delivery around a small number of product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CONSTRAINT — WHAT WE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~24 FTE in CS Apps across 5 sub-teams [KB AS-IS S.2 /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2 Sr. Manager vacancies (CRM &amp; CC Ops · SAP Architecture)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17 distinct CS applications in scope (per landscape table)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Heterogeneous maturity across sub-teams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Smart Metering = 100% vendor-delivered (knowledge risk) [KB S.23]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PRINCIPLE — FROM AS-IS TO-BE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AS-IS: organised by application silo · not by Value Stream [KB S.42]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TO-BE: "organising around products with clear ownership and alignment to business OKRs" [KB S.42]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Product ≠ application — product = a cluster of capability serving an outcome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⇒ map 17 apps → 5 product clusters · plus 1 OVS that wraps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Source slides: AS-IS deliverable Slides 2, 23, 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SAFe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Operational Value Stream (OVS) = the business flow customers experience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Development Value Stream (DVS) = the engineering pipeline that builds 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This separation lets us keep ONE OVS owner (Kumar) AND tight DVS focus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Product Managers belong to DVS · OVS owner orchestrates across DVS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Aligns with SAFe Lean Portfolio Mgmt already referenced in NextGen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Reframe = same headcount · clearer ownership · less product fragmentation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WHAT CHANGES vs. v1 (3 VS proposal)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v1: 3 Value Streams (M2C-SL · M2C-RO · CCC) treated as a flat list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v2: 1 OVS (Meter-to-Cash) + 5 DVS — explicit SAFe layering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Bill and Collect now distinct DVS (different SLAs · skills · vendors)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Platform &amp; Enablers explicit as Shared Service (no overhead PM)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Customer Interaction consolidates CRM + IVR + Genesys + Medallia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Net: same FTE base · 5 product clusters instead of 17 apps · OVS owns the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SAFe FRAMING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ONE OPERATIONAL VS WRAPS FIVE DEVELOPMENT VS — OUTCOME LAYER + DELIVERY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OVS owner · Kumar Jaladanki  ·  5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SAFe · OVS-DVS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Operational Value Stream = how the business delivers value to the customer (Meter-to-Cash). Development Value Streams = how IT builds and evolves the digital products that enable that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M2C — Meter-to-Cash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   – Stages: METER → BILL → COLLECT → SERVE (+ PLATFORM transversal)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   – Customer-facing · regulated · revenue-bearing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   – Owner: Director CS Apps (Kumar Jaladanki)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   – Forum: monthly cross-DVS prioritisation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DEVELOPMENT VALUE STREAMS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DVS 1 — Meter Data &amp; Devices  (≈4–5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DVS 2 — Billing &amp; Invoicing  (≈5–6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DVS 3 — Collections, FICA &amp; Tax  (≈3–4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DVS 4 — Customer Interaction  (≈4–5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DVS 5 — Platform &amp; Enablers  (Shared Service, ≈4–5 FTE)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FTE figures = inference based on ~24 FTE total · to validate with Kumar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MAPPING — 17 APPS → 5 DVS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Meter   → Smart Metering · MDM · IS-U Device · Group 8760 (EDI)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Bill    → SAP ECC (FI/SD) · Streamserve/OpenText · Address Validation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Collect → SAP FICA · SOVOS Taxware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Serve   → SAP CRM · Genesys · Nuance IVR · Medallia · PureConnect (legacy)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Platform→ Basis · Gold Client · Enable Now · Blue Prism · TOSCA ·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17 apps · grouped by capability · 1 PM per DVS (4 PMs · Platform = enabling team)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THIS WORKS WITHIN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4 dedicated Product Managers (one per outcome-bearing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Platform &amp; Enablers run as enabling team — no extra PM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~4–5 FTE per DVS = real squad size · feasible with current headcount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OVS owner (Kumar) = existing role · no new layer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Vendor extension model (Option A) preserved per DVS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Validates against AS-IS constraint: 5 sub-teams · 24 FTE · 2 vacancies [KB S.23]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179" y="99997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INTAKE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79" y="513287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CUSTOMER SERVICES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77295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CUSTOMER SERVICES APPS  ·  Kumar Jaladanki  ·  1 OVS (Meter-to-Cash) + 5 DVS — Meter · Bill · Collect · CX ·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OPCO call centers (UIL · CMP · NY) — escalations and trends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Marketing &amp; Communications — campaign and digital channel demand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pt-BR" sz="950" dirty="0" err="1">
                <a:solidFill>
                  <a:srgbClr val="2C3E50"/>
                </a:solidFill>
                <a:latin typeface="Arial"/>
              </a:rPr>
              <a:t>S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mart Metering program — CT · ME · NY rollout drivers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Regulatory affairs — rate cases · tariff changes · tax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4427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CHANNELS BY TYPE — how it arrives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7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ONE Jira request type per DVS (Meter · Bill · Collect · CX ·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Mandatory fields: VS · type · size · CoS · OPCO · sponsor · Pain Score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IT Now — restricted to CCC / Smart Metering INCIDENTS only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Email · Teams · Word — DECOMMISSIONED for new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CLASSIFICATION — branch-specific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Run / Grow / Transform — labeled at intake (default ~50 / 35 / 15 %)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Class of Service — Standard · Expedite (customer-impact) · Fixed-date · Intangible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Customer impact tier P1–P4 — customer-facing severity drives Expedite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Regulatory tariff items always Fixed-date with rate-case calendar lock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Smart Metering CT / ME mandates — pre-classified as Fixed-date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4427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1587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PRIORITIZATION — Pain Score weighting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Pain Score H(x) = (BV·w₁ + UX·w₂ + Safety·w₃) / Effort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CS weighting — UX heavy: w₁=0.35 · w₂=0.40 · w₃=0.25  [proposal]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Backlog ranked monthly at Gate 2 by the VS Product Manager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Cross-DVS conflicts (e.g. CX ↔ Meter) resolved at the Meter-to-Cash OVS Forum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Capacity reserved 10–15 % per quarter for Intangible (tech debt)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OPERATIONAL VALUE STREAM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METER-TO-CASH — END-TO-END BUSINESS OUTCOME EVERY OPCO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OVS owned cross-DVS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SAFe framing · OVS = how the business delivers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End-to-end flow from meter read → invoice → cash collection → customer interaction across 7 OPCOs, with regulatory compliance per state PUC (CT · ME · NY).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STAGES OF THE OVS (M2C)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METER — devices · data acquisition · MDM · regulatory reads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BILL — invoice generation · pricing · formatting · address validity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COLLECT — payments · FICA · dunning · tax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SERVE — customer interaction · CRM · IVR · feedback ·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PLATFORM — Basis · data mgmt · RPA · test · ALM (transversal enabler)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IT IS THE OPERATIONAL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Customer-facing flow that defines revenue and CSAT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SLAs are external (regulatory rate cases · billing windows · ANI containment)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Failure in any stage = customer + revenue + regulatory triple hit [KB: AS-IS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Anchored on SAP (Billing · FICA · CRM · Metering) + supporting stack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Already labelled as the M2C value chain in the AS-IS deliverable [S.23]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the flow customers see; DVS = the engineering pipelines that build &amp; evolve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 GOVERNANCE (cross-DVS)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OVS Owner — Kumar Jaladanki (Director CS Apps)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Product Lead pairing — Heather LaJoie (CS Products) for outcome alignment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M2C Forum — monthly cross-DVS prioritisation and conflict resolution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Architecture coherence — Sr. Manager SAP Architecture (vacancy → fill)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Flow metrics — lead time, throughput, customer-impact P1–P4 (per DVS)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Forum participants: 5 DVS Product Managers + Architecture + CS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OVS-LEVEL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S/4 HANA migration — multi-year program touching all 7 OPCOs [KB AS-IS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PUC compliance per state — CT PURA · ME PUC · NY PSC rate cases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Smart-meter rollout mandates — CT · ME · NY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Vendor concentration — Smart Metering 100% vendor-delivered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OPCO-specific demand — daily multi-OPCO contention [KB S.23]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business outcome layer · DVS slides 6–10 detail the 5 product clusters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 DATA &amp; DEVICES — CAPTURE EVERY READ ACCURATELY · ZERO DATA LOSS TO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(Smart Metering · Iram Chowdhury Champion)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50 / 30 / 20 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Acquire meter reads from devices, manage device lifecycle, and feed billing on time.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platform (AMI head-end)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Meter Data Management (MDM)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IS-U Device Management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Group 8760 (EDI) — device events / B2B exchanges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program (CT · ME · NY rollout)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Operations exceptions and escalations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drivers (CT PURA · ME PUC · NY PSC mandates)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Vincent Lam / Iram Chowdhury (Champion)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Business Analyst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SMEs from Smart Metering program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4–5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[GAP] Smart Metering = 100% vendor-delivered → owner needs explicit KT clauses [KB S.23]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vendor (stable team — Option A model)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Itron managed services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IS-U Device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EDI integration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BILLING &amp; INVOICING — RUN THE BILL ON TIME · EVERY DAY · EVERY OPCO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(Sr. Manager Billing, Device &amp; Retail)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65 / 25 / 10 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Generate accurate invoices for every customer of the 7 OPCOs on a hard daily cadence. Format, validate addresses and deliver via every required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ECC (FI/SD modules — back-office billing)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Streamserve / OpenText (invoice formatting · outbound notifications)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Address Validation (Precisely · Pitney Bowes · CASS/NCOA)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Print &amp; e-delivery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BRS — small/medium business demand (price changes · tariff types · dunning rules)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PMO — capex projects (S/4 HANA migration · CRM upgrades)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IT Now — billing-run incidents (production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affairs — PUC rate-case calendar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Vincent Lam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Business Analyst — billing rules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SMEs from each OPCO billing operations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5–6 FTE (highest run-load)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[INFERENCE] FTE skewed higher: every billing day is a hard deadline [KB S.23]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(large projects + incident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Software Factory (SWF) — execution muscle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OpenText / Streamserve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Precisely (Pitney Bowes)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COLLECTIONS · FICA · TAX — CONVERT INVOICES INTO CASH · COMPLY AT LINE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Ivelisse Velazquez (Manager FICA &amp; Collection)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60 / 30 / 10 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Process payments, run collections and dunning, apply tax compliance accurately and on time. Reduce DSO and protect against audit/regulatory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FICA (financial accounting · contract accounting)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SOVOS Taxware (indirect tax · sales/use · returns)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Payment processing interfaces (banks · lockbox · 3rd-party trading partners)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Dunning &amp; collections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department — jurisdiction tables · content updates · audit support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Finance / Billing Ops — collections KPI shifts · DSO targets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— tariff content updates per state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IT Now — payment processing / tax run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Ivelisse Velazquez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Business Analyst — FICA / Tax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Finance/Tax dept liaison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3–4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"The Cash of M2C" — invoicing → payment → collections → dunning across 7 OPCOs [KB S.23]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SOVOS Taxware (content updates · cloud)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(FICA support ·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Software Factory (SWF) — custom development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Banking integration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 INTERACTION — UNIFY CRM · CONTACT CENTER · DIGITAL ·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Sr. Manager CRM &amp; Contact Center Ops (vacancy → fill) [KB S.23]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45 / 35 / 20 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Every customer interaction lands in a single record with a clear next step. Improve IVR containment, reduce AHT, raise CSAT/NPS.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 (front-office · case · order capture)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Genesys (Cloud / Engage — Infosys managed)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Nuance IVR / CTI (speech IVR · NLU)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Medallia (formerly VHT — callback · feedback · CSAT)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PureConnect / PureEngage → Now Infosys (legacy CC) [phased out]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Operations (Heather LaJoie · CS Products)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Marketing &amp; Communications — campaign / digital channel demand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OPCO call centers (UIL · CMP · NY) — escalations and trends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vacancy (CRM &amp; Contact Center Ops)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Business Analyst — CX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Solution architect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4–5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[GAP] confirm sub-team lead post-vacancy 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Lemur-Salesforce (CRM delivery)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Infosys (Genesys managed services)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HCL-Nuance (IVR vendor)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Medallia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5 / 5  ·  SHARED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PLATFORM &amp; ENABLERS — KEEP THE FACTORY RUNNING FOR EVERY OTHER DVS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Naggi Reddy (SAP Basis) + Sr. Manager SAP Architecture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70 / 25 / 5  [estimate · shared svc]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platform, data management, automation, testing and ALM tooling that every other DVS depends on. Without it, no bill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Basis (landscape · transports · security · performance)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Gold Client (selective non-prod data copy · masking)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Enable Now (formerly WPB — training &amp; in-app guidance)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(RPA for back-office CS processes)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Tricentis TOSCA (test automation)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Jira (demand · backlog · agile work mgmt)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Other 4 DVS — platform requests · environment refresh · test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Release management — release readiness · regression coverage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Security / compliance — vault · access · audit trail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Process owners — RPA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Treated as Shared Service · capacity reserved per quarter for each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Platform Lead — Naggi Reddy (SAP Basis)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Architecture — Sr. Manager SAP Architecture (vacancy → fill)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RPA / Test / ALM SMEs (matrixed across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No dedicated Product Manager — managed as enabling team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4–5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[INFERENCE] Treated as SAFe enabling team, not a product DVS — funded transversally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Tricentis (test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vendor + Automation CoE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Basis/Gold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Cross-cuts every DVS · no DVS can deliver in isolation from this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1068</Words>
  <Application>Microsoft Macintosh PowerPoint</Application>
  <PresentationFormat>Widescreen</PresentationFormat>
  <Paragraphs>134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1</cp:revision>
  <dcterms:created xsi:type="dcterms:W3CDTF">2026-04-28T18:35:46Z</dcterms:created>
  <dcterms:modified xsi:type="dcterms:W3CDTF">2026-04-28T18:55:55Z</dcterms:modified>
</cp:coreProperties>
</file>