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314" r:id="rId2"/>
    <p:sldId id="321" r:id="rId3"/>
    <p:sldId id="272" r:id="rId4"/>
    <p:sldId id="318" r:id="rId5"/>
    <p:sldId id="319" r:id="rId6"/>
    <p:sldId id="289" r:id="rId7"/>
    <p:sldId id="291" r:id="rId8"/>
    <p:sldId id="292" r:id="rId9"/>
    <p:sldId id="293" r:id="rId10"/>
    <p:sldId id="315" r:id="rId11"/>
    <p:sldId id="316" r:id="rId12"/>
    <p:sldId id="317" r:id="rId13"/>
    <p:sldId id="322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1B4F"/>
    <a:srgbClr val="0B76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53"/>
    <p:restoredTop sz="94658"/>
  </p:normalViewPr>
  <p:slideViewPr>
    <p:cSldViewPr snapToGrid="0">
      <p:cViewPr varScale="1">
        <p:scale>
          <a:sx n="120" d="100"/>
          <a:sy n="120" d="100"/>
        </p:scale>
        <p:origin x="8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8D9FCC-E1D5-FD48-A7CD-E98858A601B5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3FEAB7-13CF-B449-AF46-6BCE259BA0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0834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1CA40EA-03DA-B94C-9A0E-A28DB663F067}" type="slidenum">
              <a:rPr lang="es-ES" smtClean="0"/>
              <a:pPr>
                <a:defRPr/>
              </a:pPr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9381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5C702C-CC7F-1338-323D-0C72950FCB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888365-A6E2-0130-B2D3-D931A29D7F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7DBC77-CC97-E5D1-9266-52F99CE0B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D9EDDF-ACC0-22E4-ABB3-D304341E9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C2F62F-63E2-3600-95D4-74D70DD66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8626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BBED68-45F0-B910-1851-C2C6AEC7E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B29ABA-ED51-CD99-E3F8-BF8308EA6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577CD49-727F-5030-137B-995DEC129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5C0148D-A188-EBB7-CF7B-51C617BA3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2228B1-C108-8E4B-0857-25A578042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4932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FA3E7B-3749-3152-FFAE-ED2497DD5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F5C389D-AAA0-8546-1B74-5FC2E2C68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05DEF7-E3F3-ADAB-0C72-50E04A508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EC8D1A-2CB3-3FB3-ABD1-2691A3921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1DB25D-C003-35B0-C40A-09BABD730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9578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9D1B43-4087-B2E4-E3B3-B9364DCA6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B3A3B7-70C5-B00A-961D-66729E2E61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FF9D234-FDE9-0CAB-0A3B-995317A21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183EB7B-3BB8-D7D3-BFAC-02DFD425C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7EF9F02-3B04-8EA6-15AD-70FFB40C9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E4EC2B0-47F1-B163-4C19-8A8B9166D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3278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18EAAB-7208-1399-BF23-49BAD3BE5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82537C5-BE01-7548-3371-374805DC0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FC0F5E3-C5A0-68C4-E871-16697D7EA9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DE3D6E5-D1BC-B5D6-257E-7A62C662DE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C84968E-F966-06F1-FE3E-58E07C9589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DC4ED53-4660-85F2-5BAF-EB21FAD34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F415A31-8F27-8DDD-7BA7-A99514B9B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71C3286-86EA-FE8B-50F1-4636288C1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2264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3CD509-27EF-BB15-6A03-984686784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66DFEB5-C6A2-763F-235C-2FEAC1E05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8EEE5D0-2B83-AEDF-73C7-1E696F8D7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E99B9F3-E14B-CF15-00C2-3212A91AF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7671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4C50DDF-85DE-8606-6BC2-467B14567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1DC71F3-59BC-1D7D-7872-DACEF95E1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3DC4BB-CC7D-097F-2BE6-BF931C2B3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  <p:sp>
        <p:nvSpPr>
          <p:cNvPr id="5" name="Rectángulo 3">
            <a:extLst>
              <a:ext uri="{FF2B5EF4-FFF2-40B4-BE49-F238E27FC236}">
                <a16:creationId xmlns:a16="http://schemas.microsoft.com/office/drawing/2014/main" id="{95448507-7EE1-15AB-81DD-9210A83F27C5}"/>
              </a:ext>
            </a:extLst>
          </p:cNvPr>
          <p:cNvSpPr/>
          <p:nvPr userDrawn="1"/>
        </p:nvSpPr>
        <p:spPr>
          <a:xfrm>
            <a:off x="1" y="-1"/>
            <a:ext cx="12192000" cy="75368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285750" indent="-285750" algn="ctr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s-MX" sz="1800"/>
          </a:p>
        </p:txBody>
      </p:sp>
      <p:pic>
        <p:nvPicPr>
          <p:cNvPr id="6" name="Imagen 10" descr="Texto&#10;&#10;El contenido generado por IA puede ser incorrecto.">
            <a:extLst>
              <a:ext uri="{FF2B5EF4-FFF2-40B4-BE49-F238E27FC236}">
                <a16:creationId xmlns:a16="http://schemas.microsoft.com/office/drawing/2014/main" id="{EB71229F-C338-226A-BCB6-C66621FAB2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5421" y="196840"/>
            <a:ext cx="1309613" cy="360000"/>
          </a:xfrm>
          <a:prstGeom prst="rect">
            <a:avLst/>
          </a:prstGeom>
        </p:spPr>
      </p:pic>
      <p:pic>
        <p:nvPicPr>
          <p:cNvPr id="7" name="Graphic 2">
            <a:extLst>
              <a:ext uri="{FF2B5EF4-FFF2-40B4-BE49-F238E27FC236}">
                <a16:creationId xmlns:a16="http://schemas.microsoft.com/office/drawing/2014/main" id="{3E758F87-C77C-471C-4514-27580FB9DF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93303" y="6387082"/>
            <a:ext cx="370772" cy="339384"/>
          </a:xfrm>
          <a:prstGeom prst="rect">
            <a:avLst/>
          </a:prstGeom>
        </p:spPr>
      </p:pic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95F80D2F-8967-B218-7907-B2E8AA78E721}"/>
              </a:ext>
            </a:extLst>
          </p:cNvPr>
          <p:cNvSpPr txBox="1">
            <a:spLocks/>
          </p:cNvSpPr>
          <p:nvPr userDrawn="1"/>
        </p:nvSpPr>
        <p:spPr bwMode="gray">
          <a:xfrm>
            <a:off x="227925" y="6633764"/>
            <a:ext cx="1521735" cy="99208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100000"/>
              </a:lnSpc>
              <a:defRPr sz="800" kern="1200">
                <a:solidFill>
                  <a:srgbClr val="6B6B6B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 dirty="0">
                <a:solidFill>
                  <a:schemeClr val="tx1"/>
                </a:solidFill>
                <a:latin typeface="Montserrat" pitchFamily="2" charset="77"/>
              </a:rPr>
              <a:t>© 2026 NTT DATA, Inc.</a:t>
            </a:r>
          </a:p>
        </p:txBody>
      </p:sp>
      <p:pic>
        <p:nvPicPr>
          <p:cNvPr id="9" name="Imagen 3">
            <a:extLst>
              <a:ext uri="{FF2B5EF4-FFF2-40B4-BE49-F238E27FC236}">
                <a16:creationId xmlns:a16="http://schemas.microsoft.com/office/drawing/2014/main" id="{E0570D7F-D790-1E44-FFFA-BB512C40065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 l="6780" t="9432" r="9846" b="28432"/>
          <a:stretch>
            <a:fillRect/>
          </a:stretch>
        </p:blipFill>
        <p:spPr>
          <a:xfrm>
            <a:off x="10751861" y="6332591"/>
            <a:ext cx="791126" cy="393595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816867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B55F1F-7BE4-F078-F347-F9E360F9C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0BF28C-134C-02A2-ED1B-6A56995C9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E0158-9519-EF9F-6EB0-DE977A393A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353D7-5D04-EFFA-2FDE-EF473F250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63A9D7B-DE86-36EC-8B9A-78CB9F35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5B90275-9EE2-2E9A-C0DC-1A043972A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865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37E38A-4E9A-9602-1AE2-1AAD6C41E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6B8878C-9C82-1EC2-281B-514AD6AE39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6A3A74A-7AC2-0425-BF39-AF4E7C136F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3B2058-C422-4806-E50F-647AE3255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F21C83D-9958-EC0A-F281-BCDB4B33E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DB052A-600D-95FA-5109-DDC30606C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2835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778806-611F-F207-7AA3-4488B05AA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8844262-3BAA-D3BA-A87E-4290037A6E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F847CE-1F2C-5C80-7F3B-57FAC7BD1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F0EE014-C43A-28D3-CBC0-C5926DF95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115CF01-AB89-0FC5-56D8-89D058161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8873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56D2235-27CF-7AAA-2241-FEB2C9F453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1F8F8C1-D22C-DFC3-C19D-8BB52FFCB8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10839CD-3F78-29F2-937D-068263218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354793-F724-A6EA-54BD-38B76036C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1DEDE6-FBF7-23F6-9933-0331E88D7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23222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 with Imag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30F6BA58-506E-438E-6C2B-545913116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/>
          <a:lstStyle/>
          <a:p>
            <a:r>
              <a:rPr lang="en-US" noProof="0"/>
              <a:t>Click on the icon to add an image</a:t>
            </a:r>
          </a:p>
        </p:txBody>
      </p:sp>
      <p:sp>
        <p:nvSpPr>
          <p:cNvPr id="14" name="Marcador de texto 12">
            <a:extLst>
              <a:ext uri="{FF2B5EF4-FFF2-40B4-BE49-F238E27FC236}">
                <a16:creationId xmlns:a16="http://schemas.microsoft.com/office/drawing/2014/main" id="{3E0B9FA4-106C-E699-7911-B99C1308D5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3502" y="2808051"/>
            <a:ext cx="11000786" cy="353354"/>
          </a:xfrm>
          <a:prstGeom prst="rect">
            <a:avLst/>
          </a:prstGeom>
        </p:spPr>
        <p:txBody>
          <a:bodyPr l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 marL="454212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2pPr>
            <a:lvl3pPr marL="908423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3pPr>
            <a:lvl4pPr marL="1362636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4pPr>
            <a:lvl5pPr marL="1816846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5pPr>
          </a:lstStyle>
          <a:p>
            <a:pPr lvl="0"/>
            <a:r>
              <a:rPr lang="en-US" noProof="0"/>
              <a:t>Cover Subtitle</a:t>
            </a:r>
          </a:p>
        </p:txBody>
      </p:sp>
      <p:sp>
        <p:nvSpPr>
          <p:cNvPr id="15" name="Título 14">
            <a:extLst>
              <a:ext uri="{FF2B5EF4-FFF2-40B4-BE49-F238E27FC236}">
                <a16:creationId xmlns:a16="http://schemas.microsoft.com/office/drawing/2014/main" id="{287BB230-0D91-CDCE-3890-640DA6A98A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862" y="3284983"/>
            <a:ext cx="5488645" cy="3025329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lnSpc>
                <a:spcPct val="80000"/>
              </a:lnSpc>
              <a:defRPr sz="6000" b="1" i="0" spc="-150">
                <a:solidFill>
                  <a:schemeClr val="bg1"/>
                </a:solidFill>
                <a:latin typeface="IberPangea Text" panose="020B0404000000000000" pitchFamily="34" charset="0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</a:lstStyle>
          <a:p>
            <a:r>
              <a:rPr lang="en-US" noProof="0"/>
              <a:t>Small PPT Title</a:t>
            </a:r>
          </a:p>
        </p:txBody>
      </p:sp>
      <p:sp>
        <p:nvSpPr>
          <p:cNvPr id="2" name="Marcador de texto 12">
            <a:extLst>
              <a:ext uri="{FF2B5EF4-FFF2-40B4-BE49-F238E27FC236}">
                <a16:creationId xmlns:a16="http://schemas.microsoft.com/office/drawing/2014/main" id="{394C8709-5400-E9AB-2B49-4AD77847F9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221" y="6454775"/>
            <a:ext cx="4075367" cy="239158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bg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 marL="454212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2pPr>
            <a:lvl3pPr marL="908423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3pPr>
            <a:lvl4pPr marL="1362636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4pPr>
            <a:lvl5pPr marL="1816846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5pPr>
          </a:lstStyle>
          <a:p>
            <a:r>
              <a:rPr lang="en-US" noProof="0"/>
              <a:t>Business Division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B74C3D-5AB0-6A17-C266-0C6A890DAC54}"/>
              </a:ext>
            </a:extLst>
          </p:cNvPr>
          <p:cNvSpPr txBox="1"/>
          <p:nvPr/>
        </p:nvSpPr>
        <p:spPr>
          <a:xfrm>
            <a:off x="9509761" y="6454776"/>
            <a:ext cx="2273340" cy="23915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6318FB6F-139D-E242-9895-EB6663796CDE}" type="datetime1">
              <a:rPr lang="en-GB" sz="1500" smtClean="0">
                <a:solidFill>
                  <a:schemeClr val="bg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29/04/2026</a:t>
            </a:fld>
            <a:endParaRPr lang="en-US" sz="1500">
              <a:solidFill>
                <a:schemeClr val="bg1"/>
              </a:solidFill>
              <a:latin typeface="+mn-lt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4E568369-7479-5BCB-DA9E-55BA0A31DE0B}"/>
              </a:ext>
            </a:extLst>
          </p:cNvPr>
          <p:cNvGrpSpPr/>
          <p:nvPr/>
        </p:nvGrpSpPr>
        <p:grpSpPr>
          <a:xfrm>
            <a:off x="11064803" y="243963"/>
            <a:ext cx="473773" cy="432461"/>
            <a:chOff x="5465909" y="2845257"/>
            <a:chExt cx="729516" cy="665904"/>
          </a:xfrm>
          <a:solidFill>
            <a:schemeClr val="bg1"/>
          </a:solidFill>
        </p:grpSpPr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F5461EC0-D6A0-32FD-6D8F-3BA2DC71FC1F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" name="Forma libre: forma 6">
              <a:extLst>
                <a:ext uri="{FF2B5EF4-FFF2-40B4-BE49-F238E27FC236}">
                  <a16:creationId xmlns:a16="http://schemas.microsoft.com/office/drawing/2014/main" id="{DEA05D7F-7085-A6D3-747F-8F8742FE7E5D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" name="Forma libre: forma 7">
              <a:extLst>
                <a:ext uri="{FF2B5EF4-FFF2-40B4-BE49-F238E27FC236}">
                  <a16:creationId xmlns:a16="http://schemas.microsoft.com/office/drawing/2014/main" id="{E8C6456F-33BF-ED67-1687-666967284F86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588865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2EB8404-8AAC-9F74-8D25-8A105CD7B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EC9E3F2-0DEA-5948-DC03-EF48F75E3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5186C5-325D-370B-5648-EA1BFE6E61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FC15C8C-B93E-6C6C-82A1-70BD0CD291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27EB564-FAE5-9014-0D1F-EDE5AB4FD3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7433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geometric shape digital wallpaper">
            <a:extLst>
              <a:ext uri="{FF2B5EF4-FFF2-40B4-BE49-F238E27FC236}">
                <a16:creationId xmlns:a16="http://schemas.microsoft.com/office/drawing/2014/main" id="{A1FA6EE5-72DC-E2F0-A15F-C99C36EE47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6" t="29270" r="4466" b="2429"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265C6E6-7198-7297-0B9C-462641DD8069}"/>
              </a:ext>
            </a:extLst>
          </p:cNvPr>
          <p:cNvSpPr/>
          <p:nvPr/>
        </p:nvSpPr>
        <p:spPr>
          <a:xfrm>
            <a:off x="-1" y="-80555"/>
            <a:ext cx="12374880" cy="7019109"/>
          </a:xfrm>
          <a:prstGeom prst="rect">
            <a:avLst/>
          </a:prstGeom>
          <a:solidFill>
            <a:schemeClr val="accent1">
              <a:alpha val="3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EAE32353-6B46-AFB6-DC96-5DC33026E6B2}"/>
              </a:ext>
            </a:extLst>
          </p:cNvPr>
          <p:cNvGrpSpPr/>
          <p:nvPr/>
        </p:nvGrpSpPr>
        <p:grpSpPr>
          <a:xfrm>
            <a:off x="11064802" y="243963"/>
            <a:ext cx="473773" cy="432461"/>
            <a:chOff x="5465909" y="2845257"/>
            <a:chExt cx="729516" cy="665904"/>
          </a:xfrm>
          <a:solidFill>
            <a:srgbClr val="FFFFFF"/>
          </a:solidFill>
        </p:grpSpPr>
        <p:sp>
          <p:nvSpPr>
            <p:cNvPr id="24" name="Forma libre: forma 23">
              <a:extLst>
                <a:ext uri="{FF2B5EF4-FFF2-40B4-BE49-F238E27FC236}">
                  <a16:creationId xmlns:a16="http://schemas.microsoft.com/office/drawing/2014/main" id="{4BF41849-BFB5-E12B-9141-7A64463E1BB9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5" name="Forma libre: forma 24">
              <a:extLst>
                <a:ext uri="{FF2B5EF4-FFF2-40B4-BE49-F238E27FC236}">
                  <a16:creationId xmlns:a16="http://schemas.microsoft.com/office/drawing/2014/main" id="{10B67799-C400-AF1C-85DE-CC7C4C49B74E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6" name="Forma libre: forma 25">
              <a:extLst>
                <a:ext uri="{FF2B5EF4-FFF2-40B4-BE49-F238E27FC236}">
                  <a16:creationId xmlns:a16="http://schemas.microsoft.com/office/drawing/2014/main" id="{82B1BB46-5612-0FD7-D3A9-FEB3FF2F9CF6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pic>
        <p:nvPicPr>
          <p:cNvPr id="12" name="Imagen 11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0D2514F8-5897-F1A6-9445-6B2DA287A14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19071" y="3854823"/>
            <a:ext cx="2348753" cy="2348753"/>
          </a:xfrm>
          <a:prstGeom prst="rect">
            <a:avLst/>
          </a:prstGeom>
        </p:spPr>
      </p:pic>
      <p:sp>
        <p:nvSpPr>
          <p:cNvPr id="13" name="NTT DATA Global Logo">
            <a:extLst>
              <a:ext uri="{FF2B5EF4-FFF2-40B4-BE49-F238E27FC236}">
                <a16:creationId xmlns:a16="http://schemas.microsoft.com/office/drawing/2014/main" id="{19948726-1D29-3444-115C-F08A00460FF8}"/>
              </a:ext>
            </a:extLst>
          </p:cNvPr>
          <p:cNvSpPr/>
          <p:nvPr/>
        </p:nvSpPr>
        <p:spPr bwMode="black">
          <a:xfrm>
            <a:off x="485209" y="6355025"/>
            <a:ext cx="1415813" cy="288491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chemeClr val="bg1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B2FA681-A0DA-8246-3C79-FC23219EF7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0799" y="323070"/>
            <a:ext cx="11000786" cy="353354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Digital Products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69E46CD-BFA4-A09A-CD8B-8A2A79A09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159" y="800002"/>
            <a:ext cx="7244550" cy="3025329"/>
          </a:xfrm>
        </p:spPr>
        <p:txBody>
          <a:bodyPr/>
          <a:lstStyle/>
          <a:p>
            <a:r>
              <a:rPr sz="5400" dirty="0">
                <a:solidFill>
                  <a:srgbClr val="FFFFFF"/>
                </a:solidFill>
                <a:latin typeface="Arial"/>
              </a:rPr>
              <a:t>PROPOSED VALUE STREAMS – CUSTOMER SERVICES</a:t>
            </a:r>
            <a:endParaRPr lang="en-US" b="0" dirty="0"/>
          </a:p>
          <a:p>
            <a:r>
              <a:rPr sz="1400" dirty="0">
                <a:solidFill>
                  <a:srgbClr val="FFFFFF"/>
                </a:solidFill>
                <a:latin typeface="Arial"/>
              </a:rPr>
              <a:t>April 2026</a:t>
            </a:r>
          </a:p>
        </p:txBody>
      </p:sp>
      <p:sp>
        <p:nvSpPr>
          <p:cNvPr id="7" name="Text Placeholder 34">
            <a:extLst>
              <a:ext uri="{FF2B5EF4-FFF2-40B4-BE49-F238E27FC236}">
                <a16:creationId xmlns:a16="http://schemas.microsoft.com/office/drawing/2014/main" id="{25F735F5-E455-90EB-93A1-CE698E0EB46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4009" y="5926256"/>
            <a:ext cx="4075367" cy="239158"/>
          </a:xfrm>
        </p:spPr>
        <p:txBody>
          <a:bodyPr>
            <a:normAutofit fontScale="70000" lnSpcReduction="20000"/>
          </a:bodyPr>
          <a:lstStyle/>
          <a:p>
            <a:r>
              <a:rPr lang="en-US"/>
              <a:t>IT Business Solutions Delivery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EE7A5CD9-BB15-9BAF-AEDD-0CF08743BCB0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 l="6780" t="9432" r="9846" b="28432"/>
          <a:stretch>
            <a:fillRect/>
          </a:stretch>
        </p:blipFill>
        <p:spPr>
          <a:xfrm>
            <a:off x="11087893" y="6227763"/>
            <a:ext cx="957263" cy="47625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170769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91440"/>
            <a:ext cx="11457432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OPERATIONAL VALUE STREAM — METER-TO-CASH 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30352"/>
            <a:ext cx="11457432" cy="2103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End-to-end customer flow  ·  solutions that enable each step  ·  Development Value Streams that build &amp; evolve the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88720" cy="175433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00" b="1" i="0">
                <a:solidFill>
                  <a:srgbClr val="95A5A6"/>
                </a:solidFill>
                <a:latin typeface="Arial"/>
              </a:rPr>
              <a:t>TRIGGER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53312"/>
            <a:ext cx="1188720" cy="49859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 i="1">
                <a:solidFill>
                  <a:srgbClr val="2C3E50"/>
                </a:solidFill>
                <a:latin typeface="Arial"/>
              </a:rPr>
              <a:t>Customer needs energy  /  signs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4472" y="1005840"/>
            <a:ext cx="1188720" cy="175433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00" b="1" i="0">
                <a:solidFill>
                  <a:srgbClr val="95A5A6"/>
                </a:solidFill>
                <a:latin typeface="Arial"/>
              </a:rPr>
              <a:t>OUTCOME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4472" y="1353312"/>
            <a:ext cx="1188720" cy="806375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 i="1">
                <a:solidFill>
                  <a:srgbClr val="2C3E50"/>
                </a:solidFill>
                <a:latin typeface="Arial"/>
              </a:rPr>
              <a:t>Bill paid  ·  customer engaged  ·  regulator compliant</a:t>
            </a:r>
          </a:p>
        </p:txBody>
      </p:sp>
      <p:sp>
        <p:nvSpPr>
          <p:cNvPr id="8" name="Pentagon 7"/>
          <p:cNvSpPr/>
          <p:nvPr/>
        </p:nvSpPr>
        <p:spPr>
          <a:xfrm>
            <a:off x="1691640" y="1280160"/>
            <a:ext cx="1188720" cy="777240"/>
          </a:xfrm>
          <a:prstGeom prst="homePlate">
            <a:avLst/>
          </a:prstGeom>
          <a:solidFill>
            <a:srgbClr val="9CC44A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TextBox 8"/>
          <p:cNvSpPr txBox="1"/>
          <p:nvPr/>
        </p:nvSpPr>
        <p:spPr>
          <a:xfrm>
            <a:off x="1691640" y="1511814"/>
            <a:ext cx="1188720" cy="313932"/>
          </a:xfrm>
          <a:prstGeom prst="rect">
            <a:avLst/>
          </a:prstGeom>
          <a:noFill/>
        </p:spPr>
        <p:txBody>
          <a:bodyPr wrap="square" lIns="45720" tIns="18288" rIns="164592" bIns="18288" anchor="ctr">
            <a:spAutoFit/>
          </a:bodyPr>
          <a:lstStyle/>
          <a:p>
            <a:pPr algn="ctr"/>
            <a:r>
              <a:rPr sz="900" b="1">
                <a:solidFill>
                  <a:srgbClr val="2C3E50"/>
                </a:solidFill>
                <a:latin typeface="Arial"/>
              </a:rPr>
              <a:t>Sign up
&amp; activate</a:t>
            </a:r>
          </a:p>
        </p:txBody>
      </p:sp>
      <p:sp>
        <p:nvSpPr>
          <p:cNvPr id="10" name="Pentagon 9"/>
          <p:cNvSpPr/>
          <p:nvPr/>
        </p:nvSpPr>
        <p:spPr>
          <a:xfrm>
            <a:off x="2788920" y="1280160"/>
            <a:ext cx="1188720" cy="777240"/>
          </a:xfrm>
          <a:prstGeom prst="homePlate">
            <a:avLst/>
          </a:prstGeom>
          <a:solidFill>
            <a:srgbClr val="9CC44A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2788920" y="1511814"/>
            <a:ext cx="1188720" cy="313932"/>
          </a:xfrm>
          <a:prstGeom prst="rect">
            <a:avLst/>
          </a:prstGeom>
          <a:noFill/>
        </p:spPr>
        <p:txBody>
          <a:bodyPr wrap="square" lIns="45720" tIns="18288" rIns="164592" bIns="18288" anchor="ctr">
            <a:spAutoFit/>
          </a:bodyPr>
          <a:lstStyle/>
          <a:p>
            <a:pPr algn="ctr"/>
            <a:r>
              <a:rPr sz="900" b="1">
                <a:solidFill>
                  <a:srgbClr val="2C3E50"/>
                </a:solidFill>
                <a:latin typeface="Arial"/>
              </a:rPr>
              <a:t>Acquire
meter reads</a:t>
            </a:r>
          </a:p>
        </p:txBody>
      </p:sp>
      <p:sp>
        <p:nvSpPr>
          <p:cNvPr id="12" name="Pentagon 11"/>
          <p:cNvSpPr/>
          <p:nvPr/>
        </p:nvSpPr>
        <p:spPr>
          <a:xfrm>
            <a:off x="3886200" y="1280160"/>
            <a:ext cx="1188720" cy="777240"/>
          </a:xfrm>
          <a:prstGeom prst="homePlate">
            <a:avLst/>
          </a:prstGeom>
          <a:solidFill>
            <a:srgbClr val="9CC44A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3886200" y="1511814"/>
            <a:ext cx="1188720" cy="313932"/>
          </a:xfrm>
          <a:prstGeom prst="rect">
            <a:avLst/>
          </a:prstGeom>
          <a:noFill/>
        </p:spPr>
        <p:txBody>
          <a:bodyPr wrap="square" lIns="45720" tIns="18288" rIns="164592" bIns="18288" anchor="ctr">
            <a:spAutoFit/>
          </a:bodyPr>
          <a:lstStyle/>
          <a:p>
            <a:pPr algn="ctr"/>
            <a:r>
              <a:rPr sz="900" b="1">
                <a:solidFill>
                  <a:srgbClr val="2C3E50"/>
                </a:solidFill>
                <a:latin typeface="Arial"/>
              </a:rPr>
              <a:t>Validate &amp;
process data</a:t>
            </a:r>
          </a:p>
        </p:txBody>
      </p:sp>
      <p:sp>
        <p:nvSpPr>
          <p:cNvPr id="14" name="Pentagon 13"/>
          <p:cNvSpPr/>
          <p:nvPr/>
        </p:nvSpPr>
        <p:spPr>
          <a:xfrm>
            <a:off x="4983479" y="1280160"/>
            <a:ext cx="1188720" cy="777240"/>
          </a:xfrm>
          <a:prstGeom prst="homePlate">
            <a:avLst/>
          </a:prstGeom>
          <a:solidFill>
            <a:srgbClr val="9CC44A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TextBox 14"/>
          <p:cNvSpPr txBox="1"/>
          <p:nvPr/>
        </p:nvSpPr>
        <p:spPr>
          <a:xfrm>
            <a:off x="4983479" y="1511814"/>
            <a:ext cx="1188720" cy="313932"/>
          </a:xfrm>
          <a:prstGeom prst="rect">
            <a:avLst/>
          </a:prstGeom>
          <a:noFill/>
        </p:spPr>
        <p:txBody>
          <a:bodyPr wrap="square" lIns="45720" tIns="18288" rIns="164592" bIns="18288" anchor="ctr">
            <a:spAutoFit/>
          </a:bodyPr>
          <a:lstStyle/>
          <a:p>
            <a:pPr algn="ctr"/>
            <a:r>
              <a:rPr sz="900" b="1">
                <a:solidFill>
                  <a:srgbClr val="2C3E50"/>
                </a:solidFill>
                <a:latin typeface="Arial"/>
              </a:rPr>
              <a:t>Calculate
&amp; issue bill</a:t>
            </a:r>
          </a:p>
        </p:txBody>
      </p:sp>
      <p:sp>
        <p:nvSpPr>
          <p:cNvPr id="16" name="Pentagon 15"/>
          <p:cNvSpPr/>
          <p:nvPr/>
        </p:nvSpPr>
        <p:spPr>
          <a:xfrm>
            <a:off x="6080760" y="1280160"/>
            <a:ext cx="1188720" cy="777240"/>
          </a:xfrm>
          <a:prstGeom prst="homePlate">
            <a:avLst/>
          </a:prstGeom>
          <a:solidFill>
            <a:srgbClr val="9CC44A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TextBox 16"/>
          <p:cNvSpPr txBox="1"/>
          <p:nvPr/>
        </p:nvSpPr>
        <p:spPr>
          <a:xfrm>
            <a:off x="6080760" y="1511814"/>
            <a:ext cx="1188720" cy="313932"/>
          </a:xfrm>
          <a:prstGeom prst="rect">
            <a:avLst/>
          </a:prstGeom>
          <a:noFill/>
        </p:spPr>
        <p:txBody>
          <a:bodyPr wrap="square" lIns="45720" tIns="18288" rIns="164592" bIns="18288" anchor="ctr">
            <a:spAutoFit/>
          </a:bodyPr>
          <a:lstStyle/>
          <a:p>
            <a:pPr algn="ctr"/>
            <a:r>
              <a:rPr sz="900" b="1">
                <a:solidFill>
                  <a:srgbClr val="2C3E50"/>
                </a:solidFill>
                <a:latin typeface="Arial"/>
              </a:rPr>
              <a:t>Deliver
invoice</a:t>
            </a:r>
          </a:p>
        </p:txBody>
      </p:sp>
      <p:sp>
        <p:nvSpPr>
          <p:cNvPr id="18" name="Pentagon 17"/>
          <p:cNvSpPr/>
          <p:nvPr/>
        </p:nvSpPr>
        <p:spPr>
          <a:xfrm>
            <a:off x="7178040" y="1280160"/>
            <a:ext cx="1188720" cy="777240"/>
          </a:xfrm>
          <a:prstGeom prst="homePlate">
            <a:avLst/>
          </a:prstGeom>
          <a:solidFill>
            <a:srgbClr val="9CC44A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TextBox 18"/>
          <p:cNvSpPr txBox="1"/>
          <p:nvPr/>
        </p:nvSpPr>
        <p:spPr>
          <a:xfrm>
            <a:off x="7178040" y="1511814"/>
            <a:ext cx="1188720" cy="313932"/>
          </a:xfrm>
          <a:prstGeom prst="rect">
            <a:avLst/>
          </a:prstGeom>
          <a:noFill/>
        </p:spPr>
        <p:txBody>
          <a:bodyPr wrap="square" lIns="45720" tIns="18288" rIns="164592" bIns="18288" anchor="ctr">
            <a:spAutoFit/>
          </a:bodyPr>
          <a:lstStyle/>
          <a:p>
            <a:pPr algn="ctr"/>
            <a:r>
              <a:rPr sz="900" b="1">
                <a:solidFill>
                  <a:srgbClr val="2C3E50"/>
                </a:solidFill>
                <a:latin typeface="Arial"/>
              </a:rPr>
              <a:t>Process
payment</a:t>
            </a:r>
          </a:p>
        </p:txBody>
      </p:sp>
      <p:sp>
        <p:nvSpPr>
          <p:cNvPr id="20" name="Pentagon 19"/>
          <p:cNvSpPr/>
          <p:nvPr/>
        </p:nvSpPr>
        <p:spPr>
          <a:xfrm>
            <a:off x="8275319" y="1280160"/>
            <a:ext cx="1188720" cy="777240"/>
          </a:xfrm>
          <a:prstGeom prst="homePlate">
            <a:avLst/>
          </a:prstGeom>
          <a:solidFill>
            <a:srgbClr val="9CC44A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1" name="TextBox 20"/>
          <p:cNvSpPr txBox="1"/>
          <p:nvPr/>
        </p:nvSpPr>
        <p:spPr>
          <a:xfrm>
            <a:off x="8275319" y="1511814"/>
            <a:ext cx="1188720" cy="313932"/>
          </a:xfrm>
          <a:prstGeom prst="rect">
            <a:avLst/>
          </a:prstGeom>
          <a:noFill/>
        </p:spPr>
        <p:txBody>
          <a:bodyPr wrap="square" lIns="45720" tIns="18288" rIns="164592" bIns="18288" anchor="ctr">
            <a:spAutoFit/>
          </a:bodyPr>
          <a:lstStyle/>
          <a:p>
            <a:pPr algn="ctr"/>
            <a:r>
              <a:rPr sz="900" b="1">
                <a:solidFill>
                  <a:srgbClr val="2C3E50"/>
                </a:solidFill>
                <a:latin typeface="Arial"/>
              </a:rPr>
              <a:t>Handle
interactions</a:t>
            </a:r>
          </a:p>
        </p:txBody>
      </p:sp>
      <p:sp>
        <p:nvSpPr>
          <p:cNvPr id="22" name="Pentagon 21"/>
          <p:cNvSpPr/>
          <p:nvPr/>
        </p:nvSpPr>
        <p:spPr>
          <a:xfrm>
            <a:off x="9372600" y="1280160"/>
            <a:ext cx="1188720" cy="777240"/>
          </a:xfrm>
          <a:prstGeom prst="homePlate">
            <a:avLst/>
          </a:prstGeom>
          <a:solidFill>
            <a:srgbClr val="9CC44A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TextBox 22"/>
          <p:cNvSpPr txBox="1"/>
          <p:nvPr/>
        </p:nvSpPr>
        <p:spPr>
          <a:xfrm>
            <a:off x="9372600" y="1511814"/>
            <a:ext cx="1188720" cy="313932"/>
          </a:xfrm>
          <a:prstGeom prst="rect">
            <a:avLst/>
          </a:prstGeom>
          <a:noFill/>
        </p:spPr>
        <p:txBody>
          <a:bodyPr wrap="square" lIns="45720" tIns="18288" rIns="164592" bIns="18288" anchor="ctr">
            <a:spAutoFit/>
          </a:bodyPr>
          <a:lstStyle/>
          <a:p>
            <a:pPr algn="ctr"/>
            <a:r>
              <a:rPr sz="900" b="1">
                <a:solidFill>
                  <a:srgbClr val="2C3E50"/>
                </a:solidFill>
                <a:latin typeface="Arial"/>
              </a:rPr>
              <a:t>Reconcile
&amp; close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868680"/>
            <a:ext cx="1097280" cy="28315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Customer</a:t>
            </a:r>
          </a:p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+ CSR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868680"/>
            <a:ext cx="1097280" cy="28315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Smart meter</a:t>
            </a:r>
          </a:p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+ field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0" y="868680"/>
            <a:ext cx="1097280" cy="28315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Meter ops</a:t>
            </a:r>
          </a:p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3479" y="868680"/>
            <a:ext cx="1097280" cy="28315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Billing</a:t>
            </a:r>
          </a:p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analyst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868680"/>
            <a:ext cx="1097280" cy="28315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Customer</a:t>
            </a:r>
          </a:p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(channel)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868680"/>
            <a:ext cx="1097280" cy="28315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Customer</a:t>
            </a:r>
          </a:p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+ bank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19" y="868680"/>
            <a:ext cx="1097280" cy="28315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CSR + customer</a:t>
            </a:r>
          </a:p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+ digital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868680"/>
            <a:ext cx="1097280" cy="28315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Finance</a:t>
            </a:r>
          </a:p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+ audit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37360" y="2322909"/>
            <a:ext cx="1097280" cy="603171"/>
          </a:xfrm>
          <a:prstGeom prst="rect">
            <a:avLst/>
          </a:prstGeom>
          <a:solidFill>
            <a:srgbClr val="3A6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3" name="TextBox 32"/>
          <p:cNvSpPr txBox="1"/>
          <p:nvPr/>
        </p:nvSpPr>
        <p:spPr>
          <a:xfrm>
            <a:off x="1737360" y="2436359"/>
            <a:ext cx="1097280" cy="350865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pPr algn="ctr"/>
            <a:r>
              <a:rPr sz="900" b="1" dirty="0">
                <a:solidFill>
                  <a:srgbClr val="FFFFFF"/>
                </a:solidFill>
                <a:latin typeface="Arial"/>
              </a:rPr>
              <a:t>SAP CRM
onboarding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34639" y="2322909"/>
            <a:ext cx="2194560" cy="603171"/>
          </a:xfrm>
          <a:prstGeom prst="rect">
            <a:avLst/>
          </a:prstGeom>
          <a:solidFill>
            <a:srgbClr val="3A6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5" name="TextBox 34"/>
          <p:cNvSpPr txBox="1"/>
          <p:nvPr/>
        </p:nvSpPr>
        <p:spPr>
          <a:xfrm>
            <a:off x="2834639" y="2436359"/>
            <a:ext cx="2194560" cy="350865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Smart Metering · MDM ·
Group 8760 (EDI) · IS-U Device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199" y="2322909"/>
            <a:ext cx="1097280" cy="603171"/>
          </a:xfrm>
          <a:prstGeom prst="rect">
            <a:avLst/>
          </a:prstGeom>
          <a:solidFill>
            <a:srgbClr val="3A6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7" name="TextBox 36"/>
          <p:cNvSpPr txBox="1"/>
          <p:nvPr/>
        </p:nvSpPr>
        <p:spPr>
          <a:xfrm>
            <a:off x="5029199" y="2436359"/>
            <a:ext cx="1097280" cy="350865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SAP ECC (FI/SD)
billing engine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80" y="2322909"/>
            <a:ext cx="1097280" cy="603171"/>
          </a:xfrm>
          <a:prstGeom prst="rect">
            <a:avLst/>
          </a:prstGeom>
          <a:solidFill>
            <a:srgbClr val="3A6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9" name="TextBox 38"/>
          <p:cNvSpPr txBox="1"/>
          <p:nvPr/>
        </p:nvSpPr>
        <p:spPr>
          <a:xfrm>
            <a:off x="6126480" y="2436359"/>
            <a:ext cx="1097280" cy="350865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Streamserve /
OpenText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23759" y="2322909"/>
            <a:ext cx="1097280" cy="603171"/>
          </a:xfrm>
          <a:prstGeom prst="rect">
            <a:avLst/>
          </a:prstGeom>
          <a:solidFill>
            <a:srgbClr val="3A6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1" name="TextBox 40"/>
          <p:cNvSpPr txBox="1"/>
          <p:nvPr/>
        </p:nvSpPr>
        <p:spPr>
          <a:xfrm>
            <a:off x="7223759" y="2436359"/>
            <a:ext cx="1097280" cy="350865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SAP FICA ·
bank integrations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21040" y="2322909"/>
            <a:ext cx="1097279" cy="603171"/>
          </a:xfrm>
          <a:prstGeom prst="rect">
            <a:avLst/>
          </a:prstGeom>
          <a:solidFill>
            <a:srgbClr val="3A6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3" name="TextBox 42"/>
          <p:cNvSpPr txBox="1"/>
          <p:nvPr/>
        </p:nvSpPr>
        <p:spPr>
          <a:xfrm>
            <a:off x="8426197" y="2318040"/>
            <a:ext cx="1097279" cy="627864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pPr algn="ctr"/>
            <a:r>
              <a:rPr sz="900" b="1" dirty="0">
                <a:solidFill>
                  <a:srgbClr val="FFFFFF"/>
                </a:solidFill>
                <a:latin typeface="Arial"/>
              </a:rPr>
              <a:t>SAP CRM · Genesys ·
Nuance IVR · Medallia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418320" y="2322909"/>
            <a:ext cx="1097279" cy="603171"/>
          </a:xfrm>
          <a:prstGeom prst="rect">
            <a:avLst/>
          </a:prstGeom>
          <a:solidFill>
            <a:srgbClr val="3A6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5" name="TextBox 44"/>
          <p:cNvSpPr txBox="1"/>
          <p:nvPr/>
        </p:nvSpPr>
        <p:spPr>
          <a:xfrm>
            <a:off x="9418320" y="2436359"/>
            <a:ext cx="1097279" cy="350865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SAP FICA ·
SOVOS Taxware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2926080"/>
            <a:ext cx="11457432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50" b="1" i="0">
                <a:solidFill>
                  <a:srgbClr val="0F1B4F"/>
                </a:solidFill>
                <a:latin typeface="Arial"/>
              </a:rPr>
              <a:t>DEVELOPMENT VALUE STREAMS — who builds &amp; evolves each solution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737360" y="3200400"/>
            <a:ext cx="1097280" cy="411480"/>
          </a:xfrm>
          <a:prstGeom prst="roundRect">
            <a:avLst>
              <a:gd name="adj" fmla="val 30000"/>
            </a:avLst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8" name="TextBox 47"/>
          <p:cNvSpPr txBox="1"/>
          <p:nvPr/>
        </p:nvSpPr>
        <p:spPr>
          <a:xfrm>
            <a:off x="1737360" y="3249174"/>
            <a:ext cx="1097280" cy="3139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Customer Care &amp; Engagement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834639" y="3200400"/>
            <a:ext cx="2194560" cy="411480"/>
          </a:xfrm>
          <a:prstGeom prst="roundRect">
            <a:avLst>
              <a:gd name="adj" fmla="val 30000"/>
            </a:avLst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0" name="TextBox 49"/>
          <p:cNvSpPr txBox="1"/>
          <p:nvPr/>
        </p:nvSpPr>
        <p:spPr>
          <a:xfrm>
            <a:off x="2834639" y="3318423"/>
            <a:ext cx="2194560" cy="17543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Meter &amp; Device Operations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199" y="3200400"/>
            <a:ext cx="2194560" cy="411480"/>
          </a:xfrm>
          <a:prstGeom prst="roundRect">
            <a:avLst>
              <a:gd name="adj" fmla="val 30000"/>
            </a:avLst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2" name="TextBox 51"/>
          <p:cNvSpPr txBox="1"/>
          <p:nvPr/>
        </p:nvSpPr>
        <p:spPr>
          <a:xfrm>
            <a:off x="5029199" y="3318423"/>
            <a:ext cx="2194560" cy="17543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Billing Operations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223759" y="3200400"/>
            <a:ext cx="1097280" cy="411480"/>
          </a:xfrm>
          <a:prstGeom prst="roundRect">
            <a:avLst>
              <a:gd name="adj" fmla="val 30000"/>
            </a:avLst>
          </a:prstGeom>
          <a:solidFill>
            <a:srgbClr val="2C5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4" name="TextBox 53"/>
          <p:cNvSpPr txBox="1"/>
          <p:nvPr/>
        </p:nvSpPr>
        <p:spPr>
          <a:xfrm>
            <a:off x="7223759" y="3249174"/>
            <a:ext cx="1097280" cy="3139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Revenue &amp; Collections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321040" y="3200400"/>
            <a:ext cx="1097279" cy="411480"/>
          </a:xfrm>
          <a:prstGeom prst="roundRect">
            <a:avLst>
              <a:gd name="adj" fmla="val 30000"/>
            </a:avLst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6" name="TextBox 55"/>
          <p:cNvSpPr txBox="1"/>
          <p:nvPr/>
        </p:nvSpPr>
        <p:spPr>
          <a:xfrm>
            <a:off x="8321040" y="3249174"/>
            <a:ext cx="1097279" cy="3139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Customer Care &amp; Engagement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418320" y="3200400"/>
            <a:ext cx="1097279" cy="411480"/>
          </a:xfrm>
          <a:prstGeom prst="roundRect">
            <a:avLst>
              <a:gd name="adj" fmla="val 30000"/>
            </a:avLst>
          </a:prstGeom>
          <a:solidFill>
            <a:srgbClr val="2C5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8" name="TextBox 57"/>
          <p:cNvSpPr txBox="1"/>
          <p:nvPr/>
        </p:nvSpPr>
        <p:spPr>
          <a:xfrm>
            <a:off x="9418320" y="3249174"/>
            <a:ext cx="1097279" cy="3139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Revenue &amp; Collections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737360" y="3794760"/>
            <a:ext cx="8686800" cy="411480"/>
          </a:xfrm>
          <a:prstGeom prst="roundRect">
            <a:avLst>
              <a:gd name="adj" fmla="val 30000"/>
            </a:avLst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0" name="TextBox 59"/>
          <p:cNvSpPr txBox="1"/>
          <p:nvPr/>
        </p:nvSpPr>
        <p:spPr>
          <a:xfrm>
            <a:off x="1737360" y="3912783"/>
            <a:ext cx="8686800" cy="17543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Foundation Platform  ·  productized services consumed by every other DVS  (test data · environments · automation · ALM)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5760" y="4572000"/>
            <a:ext cx="11457432" cy="19082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0F1B4F"/>
                </a:solidFill>
                <a:latin typeface="Arial"/>
              </a:rPr>
              <a:t>HOW TO READ THIS DIAGRAM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4800600"/>
            <a:ext cx="11457432" cy="806375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Arial"/>
              </a:rPr>
              <a:t>•  Top row — the customer-facing flow (the operational outcome customers experience)</a:t>
            </a:r>
          </a:p>
          <a:p>
            <a:pPr algn="l"/>
            <a:r>
              <a:rPr sz="1000" b="0" i="0">
                <a:solidFill>
                  <a:srgbClr val="2C3E50"/>
                </a:solidFill>
                <a:latin typeface="Arial"/>
              </a:rPr>
              <a:t>•  Green chevrons — the 8 value-adding steps that take the customer from "need energy" to "bill paid"</a:t>
            </a:r>
          </a:p>
          <a:p>
            <a:pPr algn="l"/>
            <a:r>
              <a:rPr sz="1000" b="0" i="0">
                <a:solidFill>
                  <a:srgbClr val="2C3E50"/>
                </a:solidFill>
                <a:latin typeface="Arial"/>
              </a:rPr>
              <a:t>•  Teal boxes — the solutions / applications that enable each step</a:t>
            </a:r>
          </a:p>
          <a:p>
            <a:pPr algn="l"/>
            <a:r>
              <a:rPr sz="1000" b="0" i="0">
                <a:solidFill>
                  <a:srgbClr val="2C3E50"/>
                </a:solidFill>
                <a:latin typeface="Arial"/>
              </a:rPr>
              <a:t>•  Coloured strips — the Development Value Streams that own &amp; evolve each solution; Foundation Platform supports all 4 throughout</a:t>
            </a:r>
          </a:p>
          <a:p>
            <a:pPr algn="l"/>
            <a:r>
              <a:rPr sz="1000" b="0" i="0">
                <a:solidFill>
                  <a:srgbClr val="2C3E50"/>
                </a:solidFill>
                <a:latin typeface="Arial"/>
              </a:rPr>
              <a:t>•  This is one operational value chain (Meter-to-Cash) delivered by 5 product-shaped Development Value Streams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" y="6446520"/>
            <a:ext cx="11457432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750" b="0" i="1">
                <a:solidFill>
                  <a:srgbClr val="95A5A6"/>
                </a:solidFill>
                <a:latin typeface="Arial"/>
              </a:rPr>
              <a:t>Pattern: standard operational value-stream visualization (customer trigger → process steps → enabling solutions → development teams → outcome)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92821"/>
            <a:ext cx="11460175" cy="3447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lang="pt-BR" sz="2000" b="1" dirty="0">
                <a:solidFill>
                  <a:srgbClr val="FFFFFF"/>
                </a:solidFill>
                <a:latin typeface="Arial"/>
              </a:rPr>
              <a:t>PROPOSED VALUE STREAMS</a:t>
            </a:r>
            <a:endParaRPr sz="20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532403"/>
            <a:ext cx="11460175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lang="pt-BR" sz="1100" b="1" i="0" dirty="0">
                <a:solidFill>
                  <a:srgbClr val="FFFFFF"/>
                </a:solidFill>
                <a:latin typeface="Arial"/>
              </a:rPr>
              <a:t>CUSTOMER SERVICES</a:t>
            </a:r>
            <a:endParaRPr sz="11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11274552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" y="960120"/>
            <a:ext cx="11311128" cy="457200"/>
          </a:xfrm>
          <a:prstGeom prst="roundRect">
            <a:avLst>
              <a:gd name="adj" fmla="val 6000"/>
            </a:avLst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033272"/>
            <a:ext cx="8439912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Meter-to-Cash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7112" y="1051560"/>
            <a:ext cx="265176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Arial"/>
              </a:rPr>
              <a:t>OPERATIONAL VALUE STREAM (1)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27048"/>
            <a:ext cx="10908792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1" i="1">
                <a:solidFill>
                  <a:srgbClr val="2C3E50"/>
                </a:solidFill>
                <a:latin typeface="Arial"/>
              </a:rPr>
              <a:t>DOMAIN · Customer Service · End-to-End Business Outcome across 7 OPCOs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28216"/>
            <a:ext cx="10908792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  <a:latin typeface="Arial"/>
              </a:rPr>
              <a:t>Capture every meter read · invoice on time · collect cash · serve every customer interaction — anchored on SAP (Billing · FICA · CRM · Metering)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093976"/>
            <a:ext cx="10908792" cy="18288"/>
          </a:xfrm>
          <a:prstGeom prst="rect">
            <a:avLst/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148840"/>
            <a:ext cx="10908792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1" i="0">
                <a:solidFill>
                  <a:srgbClr val="2C3E50"/>
                </a:solidFill>
                <a:latin typeface="Arial"/>
              </a:rPr>
              <a:t>STAGES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50008"/>
            <a:ext cx="10908792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 i="0">
                <a:solidFill>
                  <a:srgbClr val="0F1B4F"/>
                </a:solidFill>
                <a:latin typeface="Arial"/>
              </a:rPr>
              <a:t>METER  →  BILL  →  COLLECT  →  SERVE   ·   FOUNDATION PLATFORM (transversal)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62072"/>
            <a:ext cx="11274552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0F1B4F"/>
                </a:solidFill>
                <a:latin typeface="Arial"/>
              </a:rPr>
              <a:t>DEVELOPMENT VALUE STREAMS (5)  ·  ONE PRODUCT MANAGER PER DVS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82112"/>
            <a:ext cx="2181758" cy="31729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38912" y="3108960"/>
            <a:ext cx="2218334" cy="713232"/>
          </a:xfrm>
          <a:prstGeom prst="roundRect">
            <a:avLst>
              <a:gd name="adj" fmla="val 10000"/>
            </a:avLst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200400"/>
            <a:ext cx="2181758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Meter &amp; Device 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950208"/>
            <a:ext cx="1998878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50" b="1" i="1">
                <a:solidFill>
                  <a:srgbClr val="2C3E50"/>
                </a:solidFill>
                <a:latin typeface="Arial"/>
              </a:rPr>
              <a:t>DOMAIN · Metering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151376"/>
            <a:ext cx="1998878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50" b="0" i="1">
                <a:solidFill>
                  <a:srgbClr val="2C3E50"/>
                </a:solidFill>
                <a:latin typeface="Arial"/>
              </a:rPr>
              <a:t>Capture every read · zero data loss to billing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727448"/>
            <a:ext cx="1815998" cy="18288"/>
          </a:xfrm>
          <a:prstGeom prst="rect">
            <a:avLst/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800600"/>
            <a:ext cx="1998878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50" b="1" i="0">
                <a:solidFill>
                  <a:srgbClr val="2C3E50"/>
                </a:solidFill>
                <a:latin typeface="Arial"/>
              </a:rPr>
              <a:t>ALL APPLICATIONS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001768"/>
            <a:ext cx="1998878" cy="126187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0">
                <a:solidFill>
                  <a:srgbClr val="2C3E50"/>
                </a:solidFill>
                <a:latin typeface="Arial"/>
              </a:rPr>
              <a:t>Smart Metering</a:t>
            </a:r>
          </a:p>
          <a:p>
            <a:pPr algn="ctr"/>
            <a:r>
              <a:rPr sz="800" b="0" i="0">
                <a:solidFill>
                  <a:srgbClr val="2C3E50"/>
                </a:solidFill>
                <a:latin typeface="Arial"/>
              </a:rPr>
              <a:t>MDM (Meter Data Mgmt)</a:t>
            </a:r>
          </a:p>
          <a:p>
            <a:pPr algn="ctr"/>
            <a:r>
              <a:rPr sz="800" b="0" i="0">
                <a:solidFill>
                  <a:srgbClr val="2C3E50"/>
                </a:solidFill>
                <a:latin typeface="Arial"/>
              </a:rPr>
              <a:t>SAP IS-U Device</a:t>
            </a:r>
          </a:p>
          <a:p>
            <a:pPr algn="ctr"/>
            <a:r>
              <a:rPr sz="800" b="0" i="0">
                <a:solidFill>
                  <a:srgbClr val="2C3E50"/>
                </a:solidFill>
                <a:latin typeface="Arial"/>
              </a:rPr>
              <a:t>Group 8760 (EDI)</a:t>
            </a:r>
          </a:p>
          <a:p>
            <a:pPr algn="ctr"/>
            <a:r>
              <a:rPr sz="800" b="0" i="0">
                <a:solidFill>
                  <a:srgbClr val="2C3E50"/>
                </a:solidFill>
                <a:latin typeface="Arial"/>
              </a:rPr>
              <a:t>Field meter read interfaces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30398" y="3182112"/>
            <a:ext cx="2181758" cy="31729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2712110" y="3108960"/>
            <a:ext cx="2218334" cy="713232"/>
          </a:xfrm>
          <a:prstGeom prst="roundRect">
            <a:avLst>
              <a:gd name="adj" fmla="val 10000"/>
            </a:avLst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30398" y="3200400"/>
            <a:ext cx="2181758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Billing Operations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21838" y="3950208"/>
            <a:ext cx="1998878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50" b="1" i="1">
                <a:solidFill>
                  <a:srgbClr val="2C3E50"/>
                </a:solidFill>
                <a:latin typeface="Arial"/>
              </a:rPr>
              <a:t>DOMAIN · Billing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21838" y="4151376"/>
            <a:ext cx="1998878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50" b="0" i="1">
                <a:solidFill>
                  <a:srgbClr val="2C3E50"/>
                </a:solidFill>
                <a:latin typeface="Arial"/>
              </a:rPr>
              <a:t>Run the bill on time · every day · every OPCO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13278" y="4727448"/>
            <a:ext cx="1815998" cy="18288"/>
          </a:xfrm>
          <a:prstGeom prst="rect">
            <a:avLst/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821838" y="4800600"/>
            <a:ext cx="1998878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50" b="1" i="0">
                <a:solidFill>
                  <a:srgbClr val="2C3E50"/>
                </a:solidFill>
                <a:latin typeface="Arial"/>
              </a:rPr>
              <a:t>ALL APPLICATIONS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21838" y="5001768"/>
            <a:ext cx="1998878" cy="126187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0">
                <a:solidFill>
                  <a:srgbClr val="2C3E50"/>
                </a:solidFill>
                <a:latin typeface="Arial"/>
              </a:rPr>
              <a:t>SAP ECC (FI/SD)</a:t>
            </a:r>
          </a:p>
          <a:p>
            <a:pPr algn="ctr"/>
            <a:r>
              <a:rPr sz="800" b="0" i="0">
                <a:solidFill>
                  <a:srgbClr val="2C3E50"/>
                </a:solidFill>
                <a:latin typeface="Arial"/>
              </a:rPr>
              <a:t>Streamserve / OpenText</a:t>
            </a:r>
          </a:p>
          <a:p>
            <a:pPr algn="ctr"/>
            <a:r>
              <a:rPr sz="800" b="0" i="0">
                <a:solidFill>
                  <a:srgbClr val="2C3E50"/>
                </a:solidFill>
                <a:latin typeface="Arial"/>
              </a:rPr>
              <a:t>Address Validation (Precisely)</a:t>
            </a:r>
          </a:p>
          <a:p>
            <a:pPr algn="ctr"/>
            <a:r>
              <a:rPr sz="800" b="0" i="0">
                <a:solidFill>
                  <a:srgbClr val="2C3E50"/>
                </a:solidFill>
                <a:latin typeface="Arial"/>
              </a:rPr>
              <a:t>Print &amp; e-delivery interfaces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03596" y="3182112"/>
            <a:ext cx="2181758" cy="31729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985308" y="3108960"/>
            <a:ext cx="2218334" cy="713232"/>
          </a:xfrm>
          <a:prstGeom prst="roundRect">
            <a:avLst>
              <a:gd name="adj" fmla="val 10000"/>
            </a:avLst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03596" y="3200400"/>
            <a:ext cx="2181758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Revenue &amp; Collections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95036" y="3950208"/>
            <a:ext cx="1998878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50" b="1" i="1">
                <a:solidFill>
                  <a:srgbClr val="2C3E50"/>
                </a:solidFill>
                <a:latin typeface="Arial"/>
              </a:rPr>
              <a:t>DOMAIN · Finance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95036" y="4151376"/>
            <a:ext cx="1998878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50" b="0" i="1">
                <a:solidFill>
                  <a:srgbClr val="2C3E50"/>
                </a:solidFill>
                <a:latin typeface="Arial"/>
              </a:rPr>
              <a:t>Convert invoices into cash · comply at line level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86476" y="4727448"/>
            <a:ext cx="1815998" cy="18288"/>
          </a:xfrm>
          <a:prstGeom prst="rect">
            <a:avLst/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95036" y="4800600"/>
            <a:ext cx="1998878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50" b="1" i="0">
                <a:solidFill>
                  <a:srgbClr val="2C3E50"/>
                </a:solidFill>
                <a:latin typeface="Arial"/>
              </a:rPr>
              <a:t>ALL APPLICATIONS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95036" y="5001768"/>
            <a:ext cx="1998878" cy="126187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0">
                <a:solidFill>
                  <a:srgbClr val="2C3E50"/>
                </a:solidFill>
                <a:latin typeface="Arial"/>
              </a:rPr>
              <a:t>SAP FICA</a:t>
            </a:r>
          </a:p>
          <a:p>
            <a:pPr algn="ctr"/>
            <a:r>
              <a:rPr sz="800" b="0" i="0">
                <a:solidFill>
                  <a:srgbClr val="2C3E50"/>
                </a:solidFill>
                <a:latin typeface="Arial"/>
              </a:rPr>
              <a:t>SOVOS Taxware</a:t>
            </a:r>
          </a:p>
          <a:p>
            <a:pPr algn="ctr"/>
            <a:r>
              <a:rPr sz="800" b="0" i="0">
                <a:solidFill>
                  <a:srgbClr val="2C3E50"/>
                </a:solidFill>
                <a:latin typeface="Arial"/>
              </a:rPr>
              <a:t>Payment processing interfaces</a:t>
            </a:r>
          </a:p>
          <a:p>
            <a:pPr algn="ctr"/>
            <a:r>
              <a:rPr sz="800" b="0" i="0">
                <a:solidFill>
                  <a:srgbClr val="2C3E50"/>
                </a:solidFill>
                <a:latin typeface="Arial"/>
              </a:rPr>
              <a:t>(banks · lockbox · 3rd-party)</a:t>
            </a:r>
          </a:p>
          <a:p>
            <a:pPr algn="ctr"/>
            <a:r>
              <a:rPr sz="800" b="0" i="0">
                <a:solidFill>
                  <a:srgbClr val="2C3E50"/>
                </a:solidFill>
                <a:latin typeface="Arial"/>
              </a:rPr>
              <a:t>Dunning &amp; collections workflows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76795" y="3182112"/>
            <a:ext cx="2181758" cy="31729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7258507" y="3108960"/>
            <a:ext cx="2218334" cy="713232"/>
          </a:xfrm>
          <a:prstGeom prst="roundRect">
            <a:avLst>
              <a:gd name="adj" fmla="val 10000"/>
            </a:avLst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276795" y="3200400"/>
            <a:ext cx="2181758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Customer Care &amp; Engagement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68235" y="3950208"/>
            <a:ext cx="1998878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50" b="1" i="1">
                <a:solidFill>
                  <a:srgbClr val="2C3E50"/>
                </a:solidFill>
                <a:latin typeface="Arial"/>
              </a:rPr>
              <a:t>DOMAIN · CX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68235" y="4151376"/>
            <a:ext cx="1998878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50" b="0" i="1">
                <a:solidFill>
                  <a:srgbClr val="2C3E50"/>
                </a:solidFill>
                <a:latin typeface="Arial"/>
              </a:rPr>
              <a:t>Unify CRM · contact center · digital · feedback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59675" y="4727448"/>
            <a:ext cx="1815998" cy="18288"/>
          </a:xfrm>
          <a:prstGeom prst="rect">
            <a:avLst/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368235" y="4800600"/>
            <a:ext cx="1998878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50" b="1" i="0">
                <a:solidFill>
                  <a:srgbClr val="2C3E50"/>
                </a:solidFill>
                <a:latin typeface="Arial"/>
              </a:rPr>
              <a:t>ALL APPLICATIONS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8235" y="5001768"/>
            <a:ext cx="1998878" cy="126187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0">
                <a:solidFill>
                  <a:srgbClr val="2C3E50"/>
                </a:solidFill>
                <a:latin typeface="Arial"/>
              </a:rPr>
              <a:t>SAP CRM</a:t>
            </a:r>
          </a:p>
          <a:p>
            <a:pPr algn="ctr"/>
            <a:r>
              <a:rPr sz="800" b="0" i="0">
                <a:solidFill>
                  <a:srgbClr val="2C3E50"/>
                </a:solidFill>
                <a:latin typeface="Arial"/>
              </a:rPr>
              <a:t>Genesys (Infosys)</a:t>
            </a:r>
          </a:p>
          <a:p>
            <a:pPr algn="ctr"/>
            <a:r>
              <a:rPr sz="800" b="0" i="0">
                <a:solidFill>
                  <a:srgbClr val="2C3E50"/>
                </a:solidFill>
                <a:latin typeface="Arial"/>
              </a:rPr>
              <a:t>Nuance IVR / CTI</a:t>
            </a:r>
          </a:p>
          <a:p>
            <a:pPr algn="ctr"/>
            <a:r>
              <a:rPr sz="800" b="0" i="0">
                <a:solidFill>
                  <a:srgbClr val="2C3E50"/>
                </a:solidFill>
                <a:latin typeface="Arial"/>
              </a:rPr>
              <a:t>Medallia (formerly VHT)</a:t>
            </a:r>
          </a:p>
          <a:p>
            <a:pPr algn="ctr"/>
            <a:r>
              <a:rPr sz="800" b="0" i="0">
                <a:solidFill>
                  <a:srgbClr val="2C3E50"/>
                </a:solidFill>
                <a:latin typeface="Arial"/>
              </a:rPr>
              <a:t>PureConnect / PureEngage (legacy)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549993" y="3182112"/>
            <a:ext cx="2181758" cy="31729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9531705" y="3108960"/>
            <a:ext cx="2218334" cy="713232"/>
          </a:xfrm>
          <a:prstGeom prst="roundRect">
            <a:avLst>
              <a:gd name="adj" fmla="val 10000"/>
            </a:avLst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549993" y="3200400"/>
            <a:ext cx="2181758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Foundation Platform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41433" y="3950208"/>
            <a:ext cx="1998878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50" b="1" i="1">
                <a:solidFill>
                  <a:srgbClr val="2C3E50"/>
                </a:solidFill>
                <a:latin typeface="Arial"/>
              </a:rPr>
              <a:t>DOMAIN · Platform-as-a-Product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41433" y="4151376"/>
            <a:ext cx="1998878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50" b="0" i="1">
                <a:solidFill>
                  <a:srgbClr val="2C3E50"/>
                </a:solidFill>
                <a:latin typeface="Arial"/>
              </a:rPr>
              <a:t>Productize platform services for the other 4 DVS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732873" y="4727448"/>
            <a:ext cx="1815998" cy="18288"/>
          </a:xfrm>
          <a:prstGeom prst="rect">
            <a:avLst/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641433" y="4800600"/>
            <a:ext cx="1998878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50" b="1" i="0">
                <a:solidFill>
                  <a:srgbClr val="2C3E50"/>
                </a:solidFill>
                <a:latin typeface="Arial"/>
              </a:rPr>
              <a:t>ALL APPLICATIONS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41433" y="5001768"/>
            <a:ext cx="1998878" cy="126187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0">
                <a:solidFill>
                  <a:srgbClr val="2C3E50"/>
                </a:solidFill>
                <a:latin typeface="Arial"/>
              </a:rPr>
              <a:t>SAP Basis</a:t>
            </a:r>
          </a:p>
          <a:p>
            <a:pPr algn="ctr"/>
            <a:r>
              <a:rPr sz="800" b="0" i="0">
                <a:solidFill>
                  <a:srgbClr val="2C3E50"/>
                </a:solidFill>
                <a:latin typeface="Arial"/>
              </a:rPr>
              <a:t>SAP Gold Client</a:t>
            </a:r>
          </a:p>
          <a:p>
            <a:pPr algn="ctr"/>
            <a:r>
              <a:rPr sz="800" b="0" i="0">
                <a:solidFill>
                  <a:srgbClr val="2C3E50"/>
                </a:solidFill>
                <a:latin typeface="Arial"/>
              </a:rPr>
              <a:t>SAP Enable Now (WPB)</a:t>
            </a:r>
          </a:p>
          <a:p>
            <a:pPr algn="ctr"/>
            <a:r>
              <a:rPr sz="800" b="0" i="0">
                <a:solidFill>
                  <a:srgbClr val="2C3E50"/>
                </a:solidFill>
                <a:latin typeface="Arial"/>
              </a:rPr>
              <a:t>Blue Prism (RPA)</a:t>
            </a:r>
          </a:p>
          <a:p>
            <a:pPr algn="ctr"/>
            <a:r>
              <a:rPr sz="800" b="0" i="0">
                <a:solidFill>
                  <a:srgbClr val="2C3E50"/>
                </a:solidFill>
                <a:latin typeface="Arial"/>
              </a:rPr>
              <a:t>Tricentis TOSCA</a:t>
            </a:r>
          </a:p>
          <a:p>
            <a:pPr algn="ctr"/>
            <a:r>
              <a:rPr sz="800" b="0" i="0">
                <a:solidFill>
                  <a:srgbClr val="2C3E50"/>
                </a:solidFill>
                <a:latin typeface="Arial"/>
              </a:rPr>
              <a:t>Jira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WHY THIS REFRAME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17 CS APPLICATIONS · ~24 FTE · 1 APP ≠ 1 PRODUCT — SEPARATES OUTCOME FROM DELIVERY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CS Apps · Kumar Jaladanki · 5 sub-teams · 2 Sr. Manager vacancies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Source: AS-IS deliverable · 2026-04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rial"/>
              </a:rPr>
              <a:t>Treating each application as its own product would split ~24 FTE across 17 apps (~1.4 FTE each). Unsustainable. gives us a way to keep one customer-facing outcome (M2C) while organising delivery around a small number of product clusters.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2920" y="2071116"/>
            <a:ext cx="5596253" cy="384048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THE CONSTRAINT — WHAT WE HAVE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~24 FTE in CS Apps across 5 sub-teams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2 Sr. Manager vacancies (CRM &amp; CC Ops · SAP Architecture)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17 distinct CS applications in scope (per landscape table)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Heterogeneous maturity across sub-teams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Smart Metering = 100% vendor-delivered (knowledge risk)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52827" y="2071116"/>
            <a:ext cx="5594888" cy="39776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THE PRINCIPLE — FROM AS-IS TO-BE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AS-IS: organised by application silo · not by Value Stream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TO-BE: "organising around products with clear ownership and alignment to business OKRs"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Product ≠ application — product = a cluster of capability serving an outcome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⇒ map 17 apps → 5 product clusters · plus 1 OVS that wraps them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Source slides: AS-IS deliverable Slides 2, 23, 42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5273" y="4151376"/>
            <a:ext cx="5600535" cy="37490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THE LEVER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Operational Value Stream (OVS) = the business flow customers experience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Development Value Stream (DVS) = the engineering pipeline that builds it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This separation lets us keep ONE OVS owner (Kumar) AND tight DVS focus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Product Managers belong to DVS · OVS owner orchestrates across DVS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Consistent with the value-stream framing already used in NextGen materials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Reframe = same headcount · clearer ownership · less product fragmentation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46194" y="4133088"/>
            <a:ext cx="5596251" cy="39319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WHAT CHANGES vs. v1 (3 VS proposal)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v1: 3 Value Streams (M2C-SL · M2C-RO · CCC) treated as a flat list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v2: 1 OVS (Meter-to-Cash) + 5 DVS — explicit layering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Bill and Collect now distinct DVS (different SLAs · skills · vendors)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Foundation Platform explicit as Shared Service (no overhead PM)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Customer Care &amp; Engagement consolidates CRM + IVR + Genesys + Medallia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Net: same FTE base · 5 product clusters instead of 17 apps · OVS owns the outcome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VALUE STREAM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ONE OPERATIONAL VS WRAPS FIVE DEVELOPMENT VS — OUTCOME LAYER + DELIVERY LAYER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OVS owner · Kumar Jaladanki · 5 DVS Product Managers (NEW)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Operational + Development VS pattern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rial"/>
              </a:rPr>
              <a:t>Operational Value Stream = how the business delivers value to the customer (Meter-to-Cash). Development Value Streams = how IT builds and evolves the digital products that enable that flow.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2920" y="2071116"/>
            <a:ext cx="5596253" cy="384048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OPERATIONAL VALUE STREAM (1)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M2C — Meter-to-Cash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 – Stages: METER → BILL → COLLECT → SERVE (+ PLATFORM transversal)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 – Customer-facing · regulated · revenue-bearing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 – Owner: Director CS Apps (Kumar Jaladanki)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 – Forum: monthly cross-DVS prioritisation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52827" y="2071116"/>
            <a:ext cx="5594888" cy="39776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DEVELOPMENT VALUE STREAMS (5)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DVS 1 — Meter &amp; Device Operations (Squad size · to validate)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DVS 2 — Billing Operations (Squad size · to validate)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DVS 3 — Revenue &amp; Collections (Squad size · to validate)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DVS 4 — Customer Care &amp; Engagement (Squad size · to validate)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DVS 5 — Foundation Platform (Shared Service, Squad size · to validate)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FTE figures = inference based on ~24 FTE total · to validate with Kumar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5273" y="4151376"/>
            <a:ext cx="5600535" cy="37490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MAPPING — 17 APPS → 5 DVS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Meter → Smart Metering · MDM · IS-U Device · Group 8760 (EDI)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Bill → SAP ECC (FI/SD) · Streamserve/OpenText · Address Validation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Collect → SAP FICA · SOVOS Taxware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Serve → SAP CRM · Genesys · Nuance IVR · Medallia · PureConnect (legacy)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Platform→ Basis · Gold Client · Enable Now · Blue Prism · TOSCA · Jira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Same 17 apps · grouped by capability · 1 PM per DVS (4 PMs · Platform = enabling team)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46194" y="4133088"/>
            <a:ext cx="5596251" cy="39319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WHY THIS WORKS WITHIN HEADCOUNT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4 dedicated Product Managers (one per outcome-bearing DVS)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Foundation Platform run as enabling team — no extra PM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Squad size to validate = real squad size · feasible with current headcount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OVS owner (Kumar) = existing role · no new layer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Vendor extension model (Option A) preserved per DVS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Validates against AS-IS constraint: 5 sub-teams · 24 FTE · 2 vacancies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97179" y="99997"/>
            <a:ext cx="11460175" cy="3447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Arial"/>
              </a:rPr>
              <a:t>INTAKE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79" y="513287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Arial"/>
              </a:rPr>
              <a:t>CUSTOMER SERVICES APPS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60120"/>
            <a:ext cx="11277295" cy="45720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11277295" cy="45720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CUSTOMER SERVICES APPS · Kumar Jaladanki · 1 OVS (Meter-to-Cash) + 5 DVS — Meter · Bill · Collect · CX ·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5570067" cy="2423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5570067" cy="41148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591056"/>
            <a:ext cx="5295747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DEMAND SOURCES — who sends the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57400"/>
            <a:ext cx="5112867" cy="841705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5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 OPCO call centers (UIL · CMP · NY) — escalations and trends</a:t>
            </a:r>
          </a:p>
          <a:p>
            <a:pPr>
              <a:lnSpc>
                <a:spcPct val="135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 Marketing &amp; Communications — campaign and digital channel demand</a:t>
            </a:r>
          </a:p>
          <a:p>
            <a:pPr>
              <a:lnSpc>
                <a:spcPct val="135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</a:t>
            </a:r>
            <a:r>
              <a:rPr lang="pt-BR" sz="950" dirty="0" err="1">
                <a:solidFill>
                  <a:srgbClr val="2C3E50"/>
                </a:solidFill>
                <a:latin typeface="Arial"/>
              </a:rPr>
              <a:t>S</a:t>
            </a:r>
            <a:r>
              <a:rPr sz="950" b="0" dirty="0">
                <a:solidFill>
                  <a:srgbClr val="2C3E50"/>
                </a:solidFill>
                <a:latin typeface="Arial"/>
              </a:rPr>
              <a:t>mart Metering program — CT · ME · NY rollout drivers</a:t>
            </a:r>
          </a:p>
          <a:p>
            <a:pPr>
              <a:lnSpc>
                <a:spcPct val="135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 Regulatory affairs — rate cases · tariff changes · tax updates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4427" y="1554480"/>
            <a:ext cx="5570067" cy="2423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64427" y="1554480"/>
            <a:ext cx="5570067" cy="41148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1587" y="1591056"/>
            <a:ext cx="5295747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CHANNELS BY TYPE — how it arrives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3027" y="2057400"/>
            <a:ext cx="5112867" cy="841705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5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ONE Jira request type per DVS (Meter · Bill · Collect · CX · Platform)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Mandatory fields: VS · type · size · CoS · OPCO · sponsor · Pain Score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IT Now — restricted to CCC / Smart Metering INCIDENTS only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Email · Teams · Word — DECOMMISSIONED for new demand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114800"/>
            <a:ext cx="5570067" cy="2423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4114800"/>
            <a:ext cx="5570067" cy="41148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4151376"/>
            <a:ext cx="5295747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CLASSIFICATION — branch-specific 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617720"/>
            <a:ext cx="5112867" cy="1039067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5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 Run / Grow / Transform — labeled at intake (default ~50 / 35 / 15 %)</a:t>
            </a:r>
          </a:p>
          <a:p>
            <a:pPr>
              <a:lnSpc>
                <a:spcPct val="135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 Class of Service — Standard · Expedite (customer-impact) · Fixed-date · Intangible</a:t>
            </a:r>
          </a:p>
          <a:p>
            <a:pPr>
              <a:lnSpc>
                <a:spcPct val="135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 Customer impact tier P1–P4 — customer-facing severity drives Expedite</a:t>
            </a:r>
          </a:p>
          <a:p>
            <a:pPr>
              <a:lnSpc>
                <a:spcPct val="135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 Regulatory tariff items always Fixed-date with rate-case calendar lock</a:t>
            </a:r>
          </a:p>
          <a:p>
            <a:pPr>
              <a:lnSpc>
                <a:spcPct val="135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 Smart Metering CT / ME mandates — pre-classified as Fixed-date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4427" y="4114800"/>
            <a:ext cx="5570067" cy="2423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64427" y="4114800"/>
            <a:ext cx="5570067" cy="41148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1587" y="4151376"/>
            <a:ext cx="5295747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PRIORITIZATION — Pain Score weighting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3027" y="4617720"/>
            <a:ext cx="5112867" cy="1039067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5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Pain Score H(x) = (BV·w₁ + UX·w₂ + Safety·w₃) / Effort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CS weighting — UX heavy: w₁=0.35 · w₂=0.40 · w₃=0.25 [proposal]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Backlog ranked monthly at Gate 2 by the VS Product Manager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Cross-DVS conflicts (e.g. CX ↔ Meter) resolved at the Meter-to-Cash OVS Forum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Capacity reserved 10–15 % per quarter for Intangible (tech debt)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OPERATIONAL VALUE STREAM (OVS)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METER-TO-CASH — END-TO-END BUSINESS OUTCOME EVERY OPCO CUSTOMER EXPERIENCES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CS Apps · Kumar Jaladanki · OVS owned cross-DVS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OVS = how the business delivers value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rial"/>
              </a:rPr>
              <a:t>End-to-end flow from meter read → invoice → cash collection → customer interaction across 7 OPCOs, with regulatory compliance per state PUC (CT · ME · NY).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2920" y="2071116"/>
            <a:ext cx="5596253" cy="384048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STAGES OF THE OVS (M2C)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METER — devices · data acquisition · MDM · regulatory reads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BILL — invoice generation · pricing · formatting · address validity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COLLECT — payments · FICA · dunning · tax compliance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SERVE — customer interaction · CRM · IVR · feedback · self-service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PLATFORM — Basis · data mgmt · RPA · test · ALM (transversal enabler)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52827" y="2071116"/>
            <a:ext cx="5594888" cy="39776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WHY IT IS THE OPERATIONAL VS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Customer-facing flow that defines revenue and CSAT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SLAs are external (regulatory rate cases · billing windows · ANI containment)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Failure in any stage = customer + revenue + regulatory triple hit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Anchored on SAP (Billing · FICA · CRM · Metering) + supporting stack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Already labelled as the M2C value chain in the AS-IS deliverable [S.23]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OVS = the flow customers see; DVS = the engineering pipelines that build &amp; evolve 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5273" y="4151376"/>
            <a:ext cx="5600535" cy="37490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OVS GOVERNANCE (cross-DVS)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OVS Owner — Kumar Jaladanki (Director CS Apps)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Product Lead pairing — Heather LaJoie (CS Products) for outcome alignment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M2C Forum — monthly cross-DVS prioritisation and conflict resolution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Architecture coherence — Sr. Manager SAP Architecture (vacancy → fill)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Flow metrics — lead time, throughput, customer-impact P1–P4 (per DVS)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Forum participants: 5 DVS Product Managers + Architecture + CS Products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46194" y="4133088"/>
            <a:ext cx="5596251" cy="39319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OVS-LEVEL DEPENDENCIES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S/4 HANA migration — multi-year program touching all 7 OPCOs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PUC compliance per state — CT PURA · ME PUC · NY PSC rate cases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Smart-meter rollout mandates — CT · ME · NY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Vendor concentration — Smart Metering 100% vendor-delivered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OPCO-specific demand — daily multi-OPCO contention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OVS = business outcome layer · DVS slides 6–10 detail the 5 product clusters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DEVELOPMENT VALUE STREAM (DVS) 1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METER &amp; DEVICE OPERATIONS — CAPTURE EVERY READ ACCURATELY · ZERO DATA LOSS TO BILLING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CS Apps · Vincent Lam (Smart Metering · Iram Chowdhury Champion)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Run · Grow · Transform mix · to validate with team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rial"/>
              </a:rPr>
              <a:t>Acquire meter reads from devices, manage device lifecycle, and feed billing on time. Resolve device-to-data exceptions before they reach the customer.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1031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APPLICATIONS SUPPORTED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Smart Metering platform (AMI head-end)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Meter Data Management (MDM)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SAP IS-U Device Management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Group 8760 (EDI) — device events / B2B exchanges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Field meter read interfaces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64427" y="21031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DEMAND SOURCES — who sends the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Smart Metering program (CT · ME · NY rollout)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Field Operations exceptions and escalations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Regulatory drivers (CT PURA · ME PUC · NY PSC mandates)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AMI vendor release 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Routed via the Jira request type for this DVS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41605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AVANGRID CORE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Product Manager (NEW)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Tech Lead — Vincent Lam / Iram Chowdhury (Champion)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Business Analyst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SMEs from Smart Metering program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Squad size · to 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Smart Metering = 100% vendor-delivered → owner needs explicit KT clauses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64427" y="41605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VENDOR EXTENSION (delivery)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Smart Metering vendor (stable team — Option A model)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Itron managed services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SAP partner for IS-U Device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EDI integration partner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Avangrid = product owner · vendor = delivery muscle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DEVELOPMENT VALUE STREAM (DVS) 2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BILLING OPERATIONS — RUN THE BILL ON TIME · EVERY DAY · EVERY OPCO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CS Apps · Vincent Lam (Sr. Manager Billing, Device &amp; Retail)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Run · Grow · Transform mix · to validate with team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rial"/>
              </a:rPr>
              <a:t>Generate accurate invoices for every customer of the 7 OPCOs on a hard daily cadence. Format, validate addresses and deliver via every required channel.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1031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APPLICATIONS SUPPORTED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SAP ECC (FI/SD modules — back-office billing)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Streamserve / OpenText (invoice formatting · outbound notifications)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Address Validation (Precisely · Pitney Bowes · CASS/NCOA)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Print &amp; e-delivery interfaces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64427" y="21031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DEMAND SOURCES — who sends the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BRS — small/medium business demand (price changes · tariff types · dunning rules)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PMO — capex projects (S/4 HANA migration · CRM upgrades)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IT Now — billing-run incidents (production support)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Regulatory affairs — PUC rate-case calendar locks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Routed via the Jira request type for this DVS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41605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AVANGRID CORE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Product Manager (NEW)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Tech Lead — Vincent Lam (or designate)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Business Analyst — billing rules SME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SMEs from each OPCO billing operations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Squad size · to 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 FTE skewed higher: every billing day is a hard deadline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64427" y="41605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VENDOR EXTENSION (delivery)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Accenture (large projects + incident support)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Software Factory (SWF) — execution muscle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OpenText / Streamserve partner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Precisely (Pitney Bowes) services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Avangrid = product owner · vendor = delivery muscle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DEVELOPMENT VALUE STREAM (DVS) 3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REVENUE &amp; COLLECTIONS — CONVERT INVOICES INTO CASH · COMPLY AT LINE LEVEL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CS Apps · Ivelisse Velazquez (Manager FICA &amp; Collection)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Run · Grow · Transform mix · to validate with team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rial"/>
              </a:rPr>
              <a:t>Process payments, run collections and dunning, apply tax compliance accurately and on time. Reduce DSO and protect against audit/regulatory risk.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2920" y="2071116"/>
            <a:ext cx="5596253" cy="384048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APPLICATIONS SUPPORTED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SAP FICA (financial accounting · contract accounting)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SOVOS Taxware (indirect tax · sales/use · returns)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Payment processing interfaces (banks · lockbox · 3rd-party trading partners)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Dunning &amp; collections workflows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52827" y="2071116"/>
            <a:ext cx="5594888" cy="39776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DEMAND SOURCES — who sends the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Tax department — jurisdiction tables · content updates · audit support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Finance / Billing Ops — collections KPI shifts · DSO targets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Regulatory — tariff content updates per state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IT Now — payment processing / tax run incidents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Routed via the Jira request type for this DVS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5273" y="4151376"/>
            <a:ext cx="5600535" cy="37490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AVANGRID CORE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Product Manager (NEW)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Tech Lead — Ivelisse Velazquez (or designate)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Business Analyst — FICA / Tax SME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Finance/Tax dept liaison (matrixed)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Squad size · to 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"The Cash of M2C" — invoicing → payment → collections → dunning across 7 OPCOs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46194" y="4133088"/>
            <a:ext cx="5596251" cy="39319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VENDOR EXTENSION (delivery)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SOVOS Taxware (content updates · cloud)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Accenture (FICA support · projects)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Software Factory (SWF) — custom development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Banking integration partners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Avangrid = product owner · vendor = delivery muscle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DEVELOPMENT VALUE STREAM (DVS) 4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CUSTOMER CARE &amp; ENGAGEMENT — UNIFY CRM · CONTACT CENTER · DIGITAL · FEEDBACK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CS Apps · Sr. Manager CRM &amp; Contact Center Ops (vacancy → fill)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Run · Grow · Transform mix · to validate with team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rial"/>
              </a:rPr>
              <a:t>Every customer interaction lands in a single record with a clear next step. Improve IVR containment, reduce AHT, raise CSAT/NPS.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2920" y="2071116"/>
            <a:ext cx="5596253" cy="384048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APPLICATIONS SUPPORTED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SAP CRM (front-office · case · order capture)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Genesys (Cloud / Engage — Infosys managed)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Nuance IVR / CTI (speech IVR · NLU)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Medallia (formerly VHT — callback · feedback · CSAT)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PureConnect / PureEngage → Now Infosys (legacy CC) [phased out]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52827" y="2071116"/>
            <a:ext cx="5594888" cy="39776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DEMAND SOURCES — who sends the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Customer Operations (Heather LaJoie · CS Products)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Marketing &amp; Communications — campaign / digital channel demand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OPCO call centers (UIL · CMP · NY) — escalations and trends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Customer Service GenAI initiative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Routed via the Jira request type for this DVS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5273" y="4151376"/>
            <a:ext cx="5600535" cy="37490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AVANGRID CORE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Product Manager (NEW)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Tech Lead — vacancy (CRM &amp; Contact Center Ops)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Business Analyst — CX SME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Solution architect (matrixed)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Squad size · to 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confirm sub-team lead post-vacancy fill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46194" y="4133088"/>
            <a:ext cx="5596251" cy="39319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VENDOR EXTENSION (delivery)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Lemur-Salesforce (CRM delivery)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Infosys (Genesys managed services)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HCL-Nuance (IVR vendor)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Medallia partner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Digital channel agency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Avangrid = product owner · vendor = delivery muscle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DEVELOPMENT VALUE STREAM (DVS) 5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FOUNDATION PLATFORM — PRODUCTIZE THE PLATFORM SO EVERY OTHER DVS CAN MOVE FAST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CS Apps · Platform DVS · customer = the other 4 DVS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Run · Grow · Transform mix · to validate with team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rial"/>
              </a:rPr>
              <a:t>Provide a productized platform — landscape, data, automation, testing, ALM tooling — that lets every other DVS deliver value without rebuilding common foundations.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2920" y="2071116"/>
            <a:ext cx="5596253" cy="384048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APPLICATIONS SUPPORTED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SAP Basis (landscape · transports · security · performance)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SAP Gold Client (selective non-prod data copy · masking)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SAP Enable Now (training &amp; in-app guidance)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Blue Prism (RPA for back-office CS processes)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Tricentis TOSCA (test automation)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Jira (demand · backlog · agile work mgmt)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52827" y="2071116"/>
            <a:ext cx="5594888" cy="39776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PLATFORM CONSUMERS — who pulls value from this DVS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Meter &amp; Device Operations DVS — environments, EDI test data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Billing Operations DVS — SAP transports, regression coverage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Revenue &amp; Collections DVS — FICA refresh, payment integration sandboxes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Customer Care &amp; Engagement DVS — CRM masked data, IVR test suites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Release &amp; change governance — readiness gates, audit trail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Foundation Platform = product · the other 4 DVS = its customers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5273" y="4151376"/>
            <a:ext cx="5600535" cy="37490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AVANGRID CORE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Product Manager — Platform PM (NEW · same level as other DVS PMs)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Tech Lead — Naggi Reddy (Sr. Manager SAP Basis)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Architecture — Sr. Manager SAP Architecture (vacancy → fill)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RPA / Test / ALM Engineers (in-team, not matrixed out)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Squad size · to 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Treated as DVS, not enabling team — so platform decisions have a clear owner and a roadmap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46194" y="4133088"/>
            <a:ext cx="5596251" cy="39319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VENDOR EXTENSION (delivery)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Tricentis (test platform)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Blue Prism vendor + Automation CoE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Atlassian Jira admins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SAP partner for Basis / Gold Client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Avangrid = product owner · vendor = delivery muscle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C769E-B3F0-3F5B-9E72-7EDD266CE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102D7E-66B4-B67E-92F2-6103BAA6B965}"/>
              </a:ext>
            </a:extLst>
          </p:cNvPr>
          <p:cNvSpPr txBox="1"/>
          <p:nvPr/>
        </p:nvSpPr>
        <p:spPr>
          <a:xfrm>
            <a:off x="365760" y="91440"/>
            <a:ext cx="11457432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VALUE LENS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CBB9EB-1B16-2492-7746-D423AFA84090}"/>
              </a:ext>
            </a:extLst>
          </p:cNvPr>
          <p:cNvSpPr txBox="1"/>
          <p:nvPr/>
        </p:nvSpPr>
        <p:spPr>
          <a:xfrm>
            <a:off x="365760" y="530352"/>
            <a:ext cx="11457432" cy="2103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BAIN 30 ELEMENTS OF VALUE · HEATHER'S METRICS OVERLAY (CS PRODUCTS · SESSION INPUT)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BFFC06F1-C41E-3BAA-7CD0-81F9CE5369D5}"/>
              </a:ext>
            </a:extLst>
          </p:cNvPr>
          <p:cNvSpPr/>
          <p:nvPr/>
        </p:nvSpPr>
        <p:spPr>
          <a:xfrm>
            <a:off x="7726679" y="960120"/>
            <a:ext cx="4096512" cy="5394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F0AB6BED-F60F-5D8A-A7C6-77C243603B7B}"/>
              </a:ext>
            </a:extLst>
          </p:cNvPr>
          <p:cNvSpPr/>
          <p:nvPr/>
        </p:nvSpPr>
        <p:spPr>
          <a:xfrm>
            <a:off x="7708392" y="914400"/>
            <a:ext cx="4133088" cy="502920"/>
          </a:xfrm>
          <a:prstGeom prst="roundRect">
            <a:avLst>
              <a:gd name="adj" fmla="val 6000"/>
            </a:avLst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CFF29CD-4EFF-3B92-AECB-7C4FE215181F}"/>
              </a:ext>
            </a:extLst>
          </p:cNvPr>
          <p:cNvSpPr txBox="1"/>
          <p:nvPr/>
        </p:nvSpPr>
        <p:spPr>
          <a:xfrm>
            <a:off x="7818119" y="1005840"/>
            <a:ext cx="3913632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HEATHER'S METRICS — SESSION INPUT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C50C9BF-388B-2F6D-0E4F-ED85E7F5D061}"/>
              </a:ext>
            </a:extLst>
          </p:cNvPr>
          <p:cNvSpPr txBox="1"/>
          <p:nvPr/>
        </p:nvSpPr>
        <p:spPr>
          <a:xfrm>
            <a:off x="7863840" y="1508760"/>
            <a:ext cx="3822192" cy="1600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 i="1" dirty="0">
                <a:solidFill>
                  <a:srgbClr val="2C3E50"/>
                </a:solidFill>
                <a:latin typeface="Arial"/>
              </a:rPr>
              <a:t>Heather LaJoie · Director Customer Service Products 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3B18108-3B0E-234B-940D-B2961B4F6FE5}"/>
              </a:ext>
            </a:extLst>
          </p:cNvPr>
          <p:cNvSpPr txBox="1"/>
          <p:nvPr/>
        </p:nvSpPr>
        <p:spPr>
          <a:xfrm>
            <a:off x="7863840" y="1783080"/>
            <a:ext cx="3822192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1" i="0">
                <a:solidFill>
                  <a:srgbClr val="0F1B4F"/>
                </a:solidFill>
                <a:latin typeface="Arial"/>
              </a:rPr>
              <a:t>CUSTOMER OUTCOME METRICS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3D57C64-50C5-5C60-33A1-C65AEB308703}"/>
              </a:ext>
            </a:extLst>
          </p:cNvPr>
          <p:cNvSpPr txBox="1"/>
          <p:nvPr/>
        </p:nvSpPr>
        <p:spPr>
          <a:xfrm>
            <a:off x="7909559" y="2011680"/>
            <a:ext cx="3730752" cy="7772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NPS</a:t>
            </a:r>
          </a:p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CSAT</a:t>
            </a:r>
          </a:p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Customer satisfaction</a:t>
            </a:r>
          </a:p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Reliability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3EF0F66-61A5-3C07-6608-CB5C3F7992AE}"/>
              </a:ext>
            </a:extLst>
          </p:cNvPr>
          <p:cNvSpPr txBox="1"/>
          <p:nvPr/>
        </p:nvSpPr>
        <p:spPr>
          <a:xfrm>
            <a:off x="7863840" y="2880360"/>
            <a:ext cx="3822192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1" i="0">
                <a:solidFill>
                  <a:srgbClr val="0F1B4F"/>
                </a:solidFill>
                <a:latin typeface="Arial"/>
              </a:rPr>
              <a:t>LISTENING &amp; FEEDBACK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8D608A9-EA47-FFCD-B559-0E3AC6B34F7B}"/>
              </a:ext>
            </a:extLst>
          </p:cNvPr>
          <p:cNvSpPr txBox="1"/>
          <p:nvPr/>
        </p:nvSpPr>
        <p:spPr>
          <a:xfrm>
            <a:off x="7909559" y="3108960"/>
            <a:ext cx="3730752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Open channels to listen end-users</a:t>
            </a:r>
          </a:p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Short feedback loops</a:t>
            </a:r>
          </a:p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Feedback loops to improve the solutions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408974A-9254-DAE7-617B-22C61A00BAA0}"/>
              </a:ext>
            </a:extLst>
          </p:cNvPr>
          <p:cNvSpPr txBox="1"/>
          <p:nvPr/>
        </p:nvSpPr>
        <p:spPr>
          <a:xfrm>
            <a:off x="7863840" y="3794760"/>
            <a:ext cx="3822192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1" i="0">
                <a:solidFill>
                  <a:srgbClr val="0F1B4F"/>
                </a:solidFill>
                <a:latin typeface="Arial"/>
              </a:rPr>
              <a:t>DELIVERY MODEL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C5849CD-6184-EA01-D4E8-0C9BB3CB6838}"/>
              </a:ext>
            </a:extLst>
          </p:cNvPr>
          <p:cNvSpPr txBox="1"/>
          <p:nvPr/>
        </p:nvSpPr>
        <p:spPr>
          <a:xfrm>
            <a:off x="7909559" y="4023360"/>
            <a:ext cx="3730752" cy="7772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Customer-centric · customer-service first</a:t>
            </a:r>
          </a:p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Customer approach service — deliver features → outcomes</a:t>
            </a:r>
          </a:p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Outcome &gt; Outputs</a:t>
            </a:r>
          </a:p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Effectiveness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4405C5F-1E46-0641-4EB1-57C21DBE06D6}"/>
              </a:ext>
            </a:extLst>
          </p:cNvPr>
          <p:cNvSpPr txBox="1"/>
          <p:nvPr/>
        </p:nvSpPr>
        <p:spPr>
          <a:xfrm>
            <a:off x="7863840" y="4892040"/>
            <a:ext cx="3822192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1" i="0">
                <a:solidFill>
                  <a:srgbClr val="0F1B4F"/>
                </a:solidFill>
                <a:latin typeface="Arial"/>
              </a:rPr>
              <a:t>SPEED &amp; FLOW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F714175-3CA7-5DE7-9B7B-544214E9FFF6}"/>
              </a:ext>
            </a:extLst>
          </p:cNvPr>
          <p:cNvSpPr txBox="1"/>
          <p:nvPr/>
        </p:nvSpPr>
        <p:spPr>
          <a:xfrm>
            <a:off x="7909559" y="5120640"/>
            <a:ext cx="3730752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Ideation-to-delivery is too long → shorten the cycle</a:t>
            </a:r>
          </a:p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Reduce handoff delays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5EDA3A0-61C8-E779-4EA2-5205CA91C6CB}"/>
              </a:ext>
            </a:extLst>
          </p:cNvPr>
          <p:cNvSpPr txBox="1"/>
          <p:nvPr/>
        </p:nvSpPr>
        <p:spPr>
          <a:xfrm>
            <a:off x="7863840" y="5623560"/>
            <a:ext cx="3822192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1" i="0">
                <a:solidFill>
                  <a:srgbClr val="0F1B4F"/>
                </a:solidFill>
                <a:latin typeface="Arial"/>
              </a:rPr>
              <a:t>CONSTRAINT TO REMOVE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855C3AC-AE2D-D986-25F2-1DF8B2DFF979}"/>
              </a:ext>
            </a:extLst>
          </p:cNvPr>
          <p:cNvSpPr txBox="1"/>
          <p:nvPr/>
        </p:nvSpPr>
        <p:spPr>
          <a:xfrm>
            <a:off x="7909559" y="5852160"/>
            <a:ext cx="3730752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Siloed demand intake — no global view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DC81E32-E110-6A17-F28F-5342CE42BE36}"/>
              </a:ext>
            </a:extLst>
          </p:cNvPr>
          <p:cNvSpPr txBox="1"/>
          <p:nvPr/>
        </p:nvSpPr>
        <p:spPr>
          <a:xfrm>
            <a:off x="7863840" y="6099048"/>
            <a:ext cx="3822192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750" b="0" i="1" dirty="0">
                <a:solidFill>
                  <a:srgbClr val="95A5A6"/>
                </a:solidFill>
                <a:latin typeface="Arial"/>
              </a:rPr>
              <a:t>How to use: every DVS backlog item should map to ≥ 1 Bain element. Heather's metrics become the OVS-level KPI panel for Meter-to-Cash.</a:t>
            </a:r>
          </a:p>
        </p:txBody>
      </p:sp>
      <p:pic>
        <p:nvPicPr>
          <p:cNvPr id="89" name="Imagem 88">
            <a:extLst>
              <a:ext uri="{FF2B5EF4-FFF2-40B4-BE49-F238E27FC236}">
                <a16:creationId xmlns:a16="http://schemas.microsoft.com/office/drawing/2014/main" id="{0D45183C-18FE-77D9-2832-D1402C724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354" y="915786"/>
            <a:ext cx="4488144" cy="5417176"/>
          </a:xfrm>
          <a:prstGeom prst="rect">
            <a:avLst/>
          </a:prstGeom>
        </p:spPr>
      </p:pic>
      <p:sp>
        <p:nvSpPr>
          <p:cNvPr id="94" name="Oval 93">
            <a:extLst>
              <a:ext uri="{FF2B5EF4-FFF2-40B4-BE49-F238E27FC236}">
                <a16:creationId xmlns:a16="http://schemas.microsoft.com/office/drawing/2014/main" id="{A022E5E0-218E-B3C1-8D66-215EC968B201}"/>
              </a:ext>
            </a:extLst>
          </p:cNvPr>
          <p:cNvSpPr/>
          <p:nvPr/>
        </p:nvSpPr>
        <p:spPr>
          <a:xfrm>
            <a:off x="2474714" y="3429000"/>
            <a:ext cx="182525" cy="15763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F84F31E2-A958-5DDF-2234-EE6EFE2F5D24}"/>
              </a:ext>
            </a:extLst>
          </p:cNvPr>
          <p:cNvSpPr/>
          <p:nvPr/>
        </p:nvSpPr>
        <p:spPr>
          <a:xfrm>
            <a:off x="2335610" y="4121393"/>
            <a:ext cx="182525" cy="15763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BE3D11C3-41B5-8031-94F2-E64E5E58F7E1}"/>
              </a:ext>
            </a:extLst>
          </p:cNvPr>
          <p:cNvSpPr/>
          <p:nvPr/>
        </p:nvSpPr>
        <p:spPr>
          <a:xfrm>
            <a:off x="2914099" y="4121393"/>
            <a:ext cx="182525" cy="15763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06491B34-7482-B22B-DA0C-8D9199DE4D64}"/>
              </a:ext>
            </a:extLst>
          </p:cNvPr>
          <p:cNvSpPr/>
          <p:nvPr/>
        </p:nvSpPr>
        <p:spPr>
          <a:xfrm>
            <a:off x="2073347" y="4892040"/>
            <a:ext cx="182525" cy="15763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817721D9-D626-6960-F81C-78324FAF397E}"/>
              </a:ext>
            </a:extLst>
          </p:cNvPr>
          <p:cNvSpPr/>
          <p:nvPr/>
        </p:nvSpPr>
        <p:spPr>
          <a:xfrm>
            <a:off x="2549132" y="4892040"/>
            <a:ext cx="182525" cy="15763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CF20FAC4-5ED3-2DA7-B972-C111737362D8}"/>
              </a:ext>
            </a:extLst>
          </p:cNvPr>
          <p:cNvSpPr/>
          <p:nvPr/>
        </p:nvSpPr>
        <p:spPr>
          <a:xfrm>
            <a:off x="3548901" y="4892039"/>
            <a:ext cx="182525" cy="15763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E49635E7-D1CE-7F5B-54ED-CC719A0F48AF}"/>
              </a:ext>
            </a:extLst>
          </p:cNvPr>
          <p:cNvSpPr/>
          <p:nvPr/>
        </p:nvSpPr>
        <p:spPr>
          <a:xfrm>
            <a:off x="4600932" y="4892038"/>
            <a:ext cx="182525" cy="15763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7ED301B4-CF74-2CD0-2CD6-6F0AAC5EB816}"/>
              </a:ext>
            </a:extLst>
          </p:cNvPr>
          <p:cNvSpPr/>
          <p:nvPr/>
        </p:nvSpPr>
        <p:spPr>
          <a:xfrm>
            <a:off x="5076717" y="4892037"/>
            <a:ext cx="182525" cy="15763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F33480FD-7E86-BF32-0973-9B0B22AA389D}"/>
              </a:ext>
            </a:extLst>
          </p:cNvPr>
          <p:cNvSpPr/>
          <p:nvPr/>
        </p:nvSpPr>
        <p:spPr>
          <a:xfrm>
            <a:off x="1733107" y="5544742"/>
            <a:ext cx="182525" cy="15763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F7F29A7C-E765-41A8-3BDE-30FE92E84D34}"/>
              </a:ext>
            </a:extLst>
          </p:cNvPr>
          <p:cNvSpPr/>
          <p:nvPr/>
        </p:nvSpPr>
        <p:spPr>
          <a:xfrm>
            <a:off x="2335610" y="5544741"/>
            <a:ext cx="182525" cy="15763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5B19969D-E240-EC11-6CEC-3A8F1F5A83D2}"/>
              </a:ext>
            </a:extLst>
          </p:cNvPr>
          <p:cNvSpPr/>
          <p:nvPr/>
        </p:nvSpPr>
        <p:spPr>
          <a:xfrm>
            <a:off x="3579898" y="5544741"/>
            <a:ext cx="182525" cy="15763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3F451EDE-E344-7A17-D7D5-1C3B45197627}"/>
              </a:ext>
            </a:extLst>
          </p:cNvPr>
          <p:cNvSpPr/>
          <p:nvPr/>
        </p:nvSpPr>
        <p:spPr>
          <a:xfrm>
            <a:off x="5422341" y="5544740"/>
            <a:ext cx="182525" cy="15763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" name="TextBox 71">
            <a:extLst>
              <a:ext uri="{FF2B5EF4-FFF2-40B4-BE49-F238E27FC236}">
                <a16:creationId xmlns:a16="http://schemas.microsoft.com/office/drawing/2014/main" id="{61C4BAF3-CD78-ADD0-2671-F551974965BA}"/>
              </a:ext>
            </a:extLst>
          </p:cNvPr>
          <p:cNvSpPr txBox="1"/>
          <p:nvPr/>
        </p:nvSpPr>
        <p:spPr>
          <a:xfrm>
            <a:off x="716281" y="6268398"/>
            <a:ext cx="7223760" cy="3139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1" i="1" dirty="0">
                <a:solidFill>
                  <a:schemeClr val="bg2">
                    <a:lumMod val="90000"/>
                  </a:schemeClr>
                </a:solidFill>
                <a:latin typeface="Arial"/>
              </a:rPr>
              <a:t>Source: Bain &amp; Company / HBR — "The Elements of Value" (Sept 2016</a:t>
            </a:r>
            <a:r>
              <a:rPr sz="800" b="1" i="1" dirty="0">
                <a:solidFill>
                  <a:schemeClr val="bg2"/>
                </a:solidFill>
                <a:latin typeface="Arial"/>
              </a:rPr>
              <a:t>) </a:t>
            </a:r>
            <a:r>
              <a:rPr sz="800" b="1" i="1" dirty="0">
                <a:latin typeface="Arial"/>
              </a:rPr>
              <a:t>· </a:t>
            </a:r>
            <a:r>
              <a:rPr sz="900" b="1" i="1" dirty="0">
                <a:latin typeface="Arial"/>
              </a:rPr>
              <a:t>Highlighted (mustard) = elements aligned to Heather's stated metrics</a:t>
            </a:r>
            <a:endParaRPr sz="800" b="1" i="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088774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3679</Words>
  <Application>Microsoft Macintosh PowerPoint</Application>
  <PresentationFormat>Widescreen</PresentationFormat>
  <Paragraphs>415</Paragraphs>
  <Slides>13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IberPangea Text</vt:lpstr>
      <vt:lpstr>IberPangea Text Light</vt:lpstr>
      <vt:lpstr>Montserrat</vt:lpstr>
      <vt:lpstr>Tema do Office</vt:lpstr>
      <vt:lpstr>PROPOSED VALUE STREAMS – CUSTOMER SERVICES April 2026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Gustavo Castellano</dc:creator>
  <cp:lastModifiedBy>Gustavo Castellano</cp:lastModifiedBy>
  <cp:revision>2</cp:revision>
  <dcterms:created xsi:type="dcterms:W3CDTF">2026-04-28T18:35:46Z</dcterms:created>
  <dcterms:modified xsi:type="dcterms:W3CDTF">2026-04-29T14:27:24Z</dcterms:modified>
</cp:coreProperties>
</file>