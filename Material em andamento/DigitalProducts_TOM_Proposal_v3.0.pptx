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2286000" cy="54864"/>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74519"/>
            <a:ext cx="7315200" cy="365760"/>
          </a:xfrm>
          <a:prstGeom prst="rect">
            <a:avLst/>
          </a:prstGeom>
          <a:noFill/>
        </p:spPr>
        <p:txBody>
          <a:bodyPr wrap="square" lIns="45720" rIns="45720" tIns="18288" bIns="18288" anchor="t">
            <a:spAutoFit/>
          </a:bodyPr>
          <a:lstStyle/>
          <a:p>
            <a:pPr algn="l"/>
            <a:r>
              <a:rPr sz="1400" b="1" i="0">
                <a:solidFill>
                  <a:srgbClr val="E6B600"/>
                </a:solidFill>
                <a:latin typeface="Arial"/>
              </a:rPr>
              <a:t>AVANGRID  ·  DIGITAL PRODUCTS</a:t>
            </a:r>
          </a:p>
        </p:txBody>
      </p:sp>
      <p:sp>
        <p:nvSpPr>
          <p:cNvPr id="5" name="TextBox 4"/>
          <p:cNvSpPr txBox="1"/>
          <p:nvPr/>
        </p:nvSpPr>
        <p:spPr>
          <a:xfrm>
            <a:off x="640080" y="2423160"/>
            <a:ext cx="10972800" cy="1371600"/>
          </a:xfrm>
          <a:prstGeom prst="rect">
            <a:avLst/>
          </a:prstGeom>
          <a:noFill/>
        </p:spPr>
        <p:txBody>
          <a:bodyPr wrap="square" lIns="45720" rIns="45720" tIns="18288" bIns="18288" anchor="t">
            <a:spAutoFit/>
          </a:bodyPr>
          <a:lstStyle/>
          <a:p>
            <a:pPr algn="l"/>
            <a:r>
              <a:rPr sz="5600" b="1" i="0">
                <a:solidFill>
                  <a:srgbClr val="FFFFFF"/>
                </a:solidFill>
                <a:latin typeface="Arial"/>
              </a:rPr>
              <a:t>Target Operating Model</a:t>
            </a:r>
          </a:p>
        </p:txBody>
      </p:sp>
      <p:sp>
        <p:nvSpPr>
          <p:cNvPr id="6" name="TextBox 5"/>
          <p:cNvSpPr txBox="1"/>
          <p:nvPr/>
        </p:nvSpPr>
        <p:spPr>
          <a:xfrm>
            <a:off x="640080" y="3611880"/>
            <a:ext cx="10972800" cy="548640"/>
          </a:xfrm>
          <a:prstGeom prst="rect">
            <a:avLst/>
          </a:prstGeom>
          <a:noFill/>
        </p:spPr>
        <p:txBody>
          <a:bodyPr wrap="square" lIns="45720" rIns="45720" tIns="18288" bIns="18288" anchor="t">
            <a:spAutoFit/>
          </a:bodyPr>
          <a:lstStyle/>
          <a:p>
            <a:pPr algn="l"/>
            <a:r>
              <a:rPr sz="2400" b="0" i="0">
                <a:solidFill>
                  <a:srgbClr val="6785C1"/>
                </a:solidFill>
                <a:latin typeface="Arial"/>
              </a:rPr>
              <a:t>Wave 1 — Demand Management Design &amp; Pilot</a:t>
            </a:r>
          </a:p>
        </p:txBody>
      </p:sp>
      <p:sp>
        <p:nvSpPr>
          <p:cNvPr id="7" name="TextBox 6"/>
          <p:cNvSpPr txBox="1"/>
          <p:nvPr/>
        </p:nvSpPr>
        <p:spPr>
          <a:xfrm>
            <a:off x="640080" y="4572000"/>
            <a:ext cx="10972800" cy="1097280"/>
          </a:xfrm>
          <a:prstGeom prst="rect">
            <a:avLst/>
          </a:prstGeom>
          <a:noFill/>
        </p:spPr>
        <p:txBody>
          <a:bodyPr wrap="square" lIns="45720" rIns="45720" tIns="18288" bIns="18288" anchor="t">
            <a:spAutoFit/>
          </a:bodyPr>
          <a:lstStyle/>
          <a:p>
            <a:pPr algn="l"/>
            <a:r>
              <a:rPr sz="1400" b="0" i="0">
                <a:solidFill>
                  <a:srgbClr val="FFFFFF"/>
                </a:solidFill>
                <a:latin typeface="Arial"/>
              </a:rPr>
              <a:t>A product-centric operating model for IT Business Applications and Customer Services Applications under VP IT Business Solutions Delivery.</a:t>
            </a:r>
          </a:p>
        </p:txBody>
      </p:sp>
      <p:sp>
        <p:nvSpPr>
          <p:cNvPr id="8" name="Rectangle 7"/>
          <p:cNvSpPr/>
          <p:nvPr/>
        </p:nvSpPr>
        <p:spPr>
          <a:xfrm>
            <a:off x="0" y="6309360"/>
            <a:ext cx="12191695"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355080"/>
            <a:ext cx="9144000" cy="457200"/>
          </a:xfrm>
          <a:prstGeom prst="rect">
            <a:avLst/>
          </a:prstGeom>
          <a:noFill/>
        </p:spPr>
        <p:txBody>
          <a:bodyPr wrap="square" lIns="45720" rIns="45720" tIns="18288" bIns="18288" anchor="ctr">
            <a:spAutoFit/>
          </a:bodyPr>
          <a:lstStyle/>
          <a:p>
            <a:pPr algn="l"/>
            <a:r>
              <a:rPr sz="1200" b="1" i="0">
                <a:solidFill>
                  <a:srgbClr val="FFFFFF"/>
                </a:solidFill>
                <a:latin typeface="Arial"/>
              </a:rPr>
              <a:t>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Executive Summary</a:t>
            </a:r>
          </a:p>
        </p:txBody>
      </p:sp>
      <p:sp>
        <p:nvSpPr>
          <p:cNvPr id="4" name="Rounded Rectangle 3"/>
          <p:cNvSpPr/>
          <p:nvPr/>
        </p:nvSpPr>
        <p:spPr>
          <a:xfrm>
            <a:off x="457200" y="1005840"/>
            <a:ext cx="11277295" cy="1005840"/>
          </a:xfrm>
          <a:prstGeom prst="roundRect">
            <a:avLst>
              <a:gd name="adj" fmla="val 6000"/>
            </a:avLst>
          </a:prstGeom>
          <a:solidFill>
            <a:srgbClr val="DCE6F5"/>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10911535" cy="320040"/>
          </a:xfrm>
          <a:prstGeom prst="rect">
            <a:avLst/>
          </a:prstGeom>
          <a:noFill/>
        </p:spPr>
        <p:txBody>
          <a:bodyPr wrap="square" lIns="45720" rIns="45720" tIns="18288" bIns="18288" anchor="t">
            <a:spAutoFit/>
          </a:bodyPr>
          <a:lstStyle/>
          <a:p>
            <a:pPr algn="l"/>
            <a:r>
              <a:rPr sz="1100" b="1" i="0">
                <a:solidFill>
                  <a:srgbClr val="6785C1"/>
                </a:solidFill>
                <a:latin typeface="Arial"/>
              </a:rPr>
              <a:t>OUR PROPOSAL</a:t>
            </a:r>
          </a:p>
        </p:txBody>
      </p:sp>
      <p:sp>
        <p:nvSpPr>
          <p:cNvPr id="6" name="TextBox 5"/>
          <p:cNvSpPr txBox="1"/>
          <p:nvPr/>
        </p:nvSpPr>
        <p:spPr>
          <a:xfrm>
            <a:off x="640080" y="1417320"/>
            <a:ext cx="10911535" cy="640080"/>
          </a:xfrm>
          <a:prstGeom prst="rect">
            <a:avLst/>
          </a:prstGeom>
          <a:noFill/>
        </p:spPr>
        <p:txBody>
          <a:bodyPr wrap="square" lIns="45720" rIns="45720" tIns="18288" bIns="18288" anchor="t">
            <a:spAutoFit/>
          </a:bodyPr>
          <a:lstStyle/>
          <a:p>
            <a:pPr algn="l"/>
            <a:r>
              <a:rPr sz="1500" b="0" i="1">
                <a:solidFill>
                  <a:srgbClr val="2C3E50"/>
                </a:solidFill>
                <a:latin typeface="Arial"/>
              </a:rPr>
              <a:t>Adopt a product-centric operating model with eight Value Stream Teams aligned to customer outcomes — converting today's fragmented intake into a scalable, governed framework that supports projected growth.</a:t>
            </a:r>
          </a:p>
        </p:txBody>
      </p:sp>
      <p:sp>
        <p:nvSpPr>
          <p:cNvPr id="7" name="Rounded Rectangle 6"/>
          <p:cNvSpPr/>
          <p:nvPr/>
        </p:nvSpPr>
        <p:spPr>
          <a:xfrm>
            <a:off x="457200" y="2286000"/>
            <a:ext cx="3698138" cy="3383280"/>
          </a:xfrm>
          <a:prstGeom prst="roundRect">
            <a:avLst>
              <a:gd name="adj" fmla="val 4000"/>
            </a:avLst>
          </a:prstGeom>
          <a:solidFill>
            <a:srgbClr val="FFFFFF"/>
          </a:solidFill>
          <a:ln w="25400">
            <a:solidFill>
              <a:srgbClr val="213C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286000"/>
            <a:ext cx="3698138" cy="502920"/>
          </a:xfrm>
          <a:prstGeom prst="rect">
            <a:avLst/>
          </a:prstGeom>
          <a:solidFill>
            <a:srgbClr val="21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331720"/>
            <a:ext cx="3698138" cy="411480"/>
          </a:xfrm>
          <a:prstGeom prst="rect">
            <a:avLst/>
          </a:prstGeom>
          <a:noFill/>
        </p:spPr>
        <p:txBody>
          <a:bodyPr wrap="square" lIns="45720" rIns="45720" tIns="18288" bIns="18288" anchor="ctr">
            <a:spAutoFit/>
          </a:bodyPr>
          <a:lstStyle/>
          <a:p>
            <a:pPr algn="ctr"/>
            <a:r>
              <a:rPr sz="1400" b="1" i="0">
                <a:solidFill>
                  <a:srgbClr val="FFFFFF"/>
                </a:solidFill>
                <a:latin typeface="Arial"/>
              </a:rPr>
              <a:t>WHY NOW</a:t>
            </a:r>
          </a:p>
        </p:txBody>
      </p:sp>
      <p:sp>
        <p:nvSpPr>
          <p:cNvPr id="10" name="TextBox 9"/>
          <p:cNvSpPr txBox="1"/>
          <p:nvPr/>
        </p:nvSpPr>
        <p:spPr>
          <a:xfrm>
            <a:off x="640080" y="2926080"/>
            <a:ext cx="3332378" cy="2606040"/>
          </a:xfrm>
          <a:prstGeom prst="rect">
            <a:avLst/>
          </a:prstGeom>
          <a:noFill/>
        </p:spPr>
        <p:txBody>
          <a:bodyPr wrap="square" lIns="45720" rIns="45720" tIns="36576" bIns="36576">
            <a:spAutoFit/>
          </a:bodyPr>
          <a:lstStyle/>
          <a:p>
            <a:pPr>
              <a:lnSpc>
                <a:spcPct val="130000"/>
              </a:lnSpc>
            </a:pPr>
            <a:r>
              <a:rPr sz="1150" b="0">
                <a:solidFill>
                  <a:srgbClr val="2C3E50"/>
                </a:solidFill>
                <a:latin typeface="Arial"/>
              </a:rPr>
              <a:t>•  Projected 30–50% growth in Digital Products demand</a:t>
            </a:r>
          </a:p>
          <a:p>
            <a:pPr>
              <a:lnSpc>
                <a:spcPct val="130000"/>
              </a:lnSpc>
            </a:pPr>
            <a:r>
              <a:rPr sz="1150" b="0">
                <a:solidFill>
                  <a:srgbClr val="2C3E50"/>
                </a:solidFill>
                <a:latin typeface="Arial"/>
              </a:rPr>
              <a:t>•  Multiple uncoordinated intake channels create lost visibility</a:t>
            </a:r>
          </a:p>
          <a:p>
            <a:pPr>
              <a:lnSpc>
                <a:spcPct val="130000"/>
              </a:lnSpc>
            </a:pPr>
            <a:r>
              <a:rPr sz="1150" b="0">
                <a:solidFill>
                  <a:srgbClr val="2C3E50"/>
                </a:solidFill>
                <a:latin typeface="Arial"/>
              </a:rPr>
              <a:t>•  No shared definition of value across business units</a:t>
            </a:r>
          </a:p>
          <a:p>
            <a:pPr>
              <a:lnSpc>
                <a:spcPct val="130000"/>
              </a:lnSpc>
            </a:pPr>
            <a:r>
              <a:rPr sz="1150" b="0">
                <a:solidFill>
                  <a:srgbClr val="2C3E50"/>
                </a:solidFill>
                <a:latin typeface="Arial"/>
              </a:rPr>
              <a:t>•  Manual reporting disconnected from operational reality</a:t>
            </a:r>
          </a:p>
        </p:txBody>
      </p:sp>
      <p:sp>
        <p:nvSpPr>
          <p:cNvPr id="11" name="Rounded Rectangle 10"/>
          <p:cNvSpPr/>
          <p:nvPr/>
        </p:nvSpPr>
        <p:spPr>
          <a:xfrm>
            <a:off x="4292498" y="2286000"/>
            <a:ext cx="3698138" cy="338328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2498" y="2286000"/>
            <a:ext cx="3698138" cy="5029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2498" y="2331720"/>
            <a:ext cx="3698138" cy="411480"/>
          </a:xfrm>
          <a:prstGeom prst="rect">
            <a:avLst/>
          </a:prstGeom>
          <a:noFill/>
        </p:spPr>
        <p:txBody>
          <a:bodyPr wrap="square" lIns="45720" rIns="45720" tIns="18288" bIns="18288" anchor="ctr">
            <a:spAutoFit/>
          </a:bodyPr>
          <a:lstStyle/>
          <a:p>
            <a:pPr algn="ctr"/>
            <a:r>
              <a:rPr sz="1400" b="1" i="0">
                <a:solidFill>
                  <a:srgbClr val="FFFFFF"/>
                </a:solidFill>
                <a:latin typeface="Arial"/>
              </a:rPr>
              <a:t>WHAT CHANGES</a:t>
            </a:r>
          </a:p>
        </p:txBody>
      </p:sp>
      <p:sp>
        <p:nvSpPr>
          <p:cNvPr id="14" name="TextBox 13"/>
          <p:cNvSpPr txBox="1"/>
          <p:nvPr/>
        </p:nvSpPr>
        <p:spPr>
          <a:xfrm>
            <a:off x="4475378" y="2926080"/>
            <a:ext cx="3332378" cy="2606040"/>
          </a:xfrm>
          <a:prstGeom prst="rect">
            <a:avLst/>
          </a:prstGeom>
          <a:noFill/>
        </p:spPr>
        <p:txBody>
          <a:bodyPr wrap="square" lIns="45720" rIns="45720" tIns="36576" bIns="36576">
            <a:spAutoFit/>
          </a:bodyPr>
          <a:lstStyle/>
          <a:p>
            <a:pPr>
              <a:lnSpc>
                <a:spcPct val="130000"/>
              </a:lnSpc>
            </a:pPr>
            <a:r>
              <a:rPr sz="1150" b="0">
                <a:solidFill>
                  <a:srgbClr val="2C3E50"/>
                </a:solidFill>
                <a:latin typeface="Arial"/>
              </a:rPr>
              <a:t>•  Single intake channel per Value Stream (Jira)</a:t>
            </a:r>
          </a:p>
          <a:p>
            <a:pPr>
              <a:lnSpc>
                <a:spcPct val="130000"/>
              </a:lnSpc>
            </a:pPr>
            <a:r>
              <a:rPr sz="1150" b="0">
                <a:solidFill>
                  <a:srgbClr val="2C3E50"/>
                </a:solidFill>
                <a:latin typeface="Arial"/>
              </a:rPr>
              <a:t>•  Two-gate governance: weekly triage + monthly portfolio</a:t>
            </a:r>
          </a:p>
          <a:p>
            <a:pPr>
              <a:lnSpc>
                <a:spcPct val="130000"/>
              </a:lnSpc>
            </a:pPr>
            <a:r>
              <a:rPr sz="1150" b="0">
                <a:solidFill>
                  <a:srgbClr val="2C3E50"/>
                </a:solidFill>
                <a:latin typeface="Arial"/>
              </a:rPr>
              <a:t>•  Class-of-Service framework with capacity caps</a:t>
            </a:r>
          </a:p>
          <a:p>
            <a:pPr>
              <a:lnSpc>
                <a:spcPct val="130000"/>
              </a:lnSpc>
            </a:pPr>
            <a:r>
              <a:rPr sz="1150" b="0">
                <a:solidFill>
                  <a:srgbClr val="2C3E50"/>
                </a:solidFill>
                <a:latin typeface="Arial"/>
              </a:rPr>
              <a:t>•  Unified backlog system with one source of truth</a:t>
            </a:r>
          </a:p>
        </p:txBody>
      </p:sp>
      <p:sp>
        <p:nvSpPr>
          <p:cNvPr id="15" name="Rounded Rectangle 14"/>
          <p:cNvSpPr/>
          <p:nvPr/>
        </p:nvSpPr>
        <p:spPr>
          <a:xfrm>
            <a:off x="8127796" y="2286000"/>
            <a:ext cx="3698138" cy="3383280"/>
          </a:xfrm>
          <a:prstGeom prst="roundRect">
            <a:avLst>
              <a:gd name="adj" fmla="val 4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27796" y="2286000"/>
            <a:ext cx="3698138" cy="50292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27796" y="2331720"/>
            <a:ext cx="3698138" cy="411480"/>
          </a:xfrm>
          <a:prstGeom prst="rect">
            <a:avLst/>
          </a:prstGeom>
          <a:noFill/>
        </p:spPr>
        <p:txBody>
          <a:bodyPr wrap="square" lIns="45720" rIns="45720" tIns="18288" bIns="18288" anchor="ctr">
            <a:spAutoFit/>
          </a:bodyPr>
          <a:lstStyle/>
          <a:p>
            <a:pPr algn="ctr"/>
            <a:r>
              <a:rPr sz="1400" b="1" i="0">
                <a:solidFill>
                  <a:srgbClr val="FFFFFF"/>
                </a:solidFill>
                <a:latin typeface="Arial"/>
              </a:rPr>
              <a:t>HOW WE GET THERE</a:t>
            </a:r>
          </a:p>
        </p:txBody>
      </p:sp>
      <p:sp>
        <p:nvSpPr>
          <p:cNvPr id="18" name="TextBox 17"/>
          <p:cNvSpPr txBox="1"/>
          <p:nvPr/>
        </p:nvSpPr>
        <p:spPr>
          <a:xfrm>
            <a:off x="8310676" y="2926080"/>
            <a:ext cx="3332378" cy="2606040"/>
          </a:xfrm>
          <a:prstGeom prst="rect">
            <a:avLst/>
          </a:prstGeom>
          <a:noFill/>
        </p:spPr>
        <p:txBody>
          <a:bodyPr wrap="square" lIns="45720" rIns="45720" tIns="36576" bIns="36576">
            <a:spAutoFit/>
          </a:bodyPr>
          <a:lstStyle/>
          <a:p>
            <a:pPr>
              <a:lnSpc>
                <a:spcPct val="130000"/>
              </a:lnSpc>
            </a:pPr>
            <a:r>
              <a:rPr sz="1150" b="0">
                <a:solidFill>
                  <a:srgbClr val="2C3E50"/>
                </a:solidFill>
                <a:latin typeface="Arial"/>
              </a:rPr>
              <a:t>•  Five-step Wave 1 over fourteen weeks</a:t>
            </a:r>
          </a:p>
          <a:p>
            <a:pPr>
              <a:lnSpc>
                <a:spcPct val="130000"/>
              </a:lnSpc>
            </a:pPr>
            <a:r>
              <a:rPr sz="1150" b="0">
                <a:solidFill>
                  <a:srgbClr val="2C3E50"/>
                </a:solidFill>
                <a:latin typeface="Arial"/>
              </a:rPr>
              <a:t>•  Pilot one Value Stream end-to-end</a:t>
            </a:r>
          </a:p>
          <a:p>
            <a:pPr>
              <a:lnSpc>
                <a:spcPct val="130000"/>
              </a:lnSpc>
            </a:pPr>
            <a:r>
              <a:rPr sz="1150" b="0">
                <a:solidFill>
                  <a:srgbClr val="2C3E50"/>
                </a:solidFill>
                <a:latin typeface="Arial"/>
              </a:rPr>
              <a:t>•  Refine and validate · scale to remaining teams</a:t>
            </a:r>
          </a:p>
          <a:p>
            <a:pPr>
              <a:lnSpc>
                <a:spcPct val="130000"/>
              </a:lnSpc>
            </a:pPr>
            <a:r>
              <a:rPr sz="1150" b="0">
                <a:solidFill>
                  <a:srgbClr val="2C3E50"/>
                </a:solidFill>
                <a:latin typeface="Arial"/>
              </a:rPr>
              <a:t>•  Continuous improvement through feedback loops</a:t>
            </a:r>
          </a:p>
        </p:txBody>
      </p:sp>
      <p:sp>
        <p:nvSpPr>
          <p:cNvPr id="19" name="TextBox 18"/>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Current State Analysis · Digital Products spans two director branches plus Product Management</a:t>
            </a:r>
          </a:p>
        </p:txBody>
      </p:sp>
      <p:sp>
        <p:nvSpPr>
          <p:cNvPr id="4" name="TextBox 3"/>
          <p:cNvSpPr txBox="1"/>
          <p:nvPr/>
        </p:nvSpPr>
        <p:spPr>
          <a:xfrm>
            <a:off x="457200" y="914400"/>
            <a:ext cx="11277295" cy="365760"/>
          </a:xfrm>
          <a:prstGeom prst="rect">
            <a:avLst/>
          </a:prstGeom>
          <a:noFill/>
        </p:spPr>
        <p:txBody>
          <a:bodyPr wrap="square" lIns="45720" rIns="45720" tIns="18288" bIns="18288" anchor="t">
            <a:spAutoFit/>
          </a:bodyPr>
          <a:lstStyle/>
          <a:p>
            <a:pPr algn="l"/>
            <a:r>
              <a:rPr sz="1200" b="1" i="1">
                <a:solidFill>
                  <a:srgbClr val="6785C1"/>
                </a:solidFill>
                <a:latin typeface="Arial"/>
              </a:rPr>
              <a:t>Digital Products spans two director branches (~50 FTE) across nine sub-teams and a separate Product Management group.</a:t>
            </a:r>
          </a:p>
        </p:txBody>
      </p:sp>
      <p:sp>
        <p:nvSpPr>
          <p:cNvPr id="5" name="Rounded Rectangle 4"/>
          <p:cNvSpPr/>
          <p:nvPr/>
        </p:nvSpPr>
        <p:spPr>
          <a:xfrm>
            <a:off x="457200" y="1463040"/>
            <a:ext cx="11277295" cy="640080"/>
          </a:xfrm>
          <a:prstGeom prst="roundRect">
            <a:avLst>
              <a:gd name="adj" fmla="val 5000"/>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08760"/>
            <a:ext cx="11277295" cy="548640"/>
          </a:xfrm>
          <a:prstGeom prst="rect">
            <a:avLst/>
          </a:prstGeom>
          <a:noFill/>
        </p:spPr>
        <p:txBody>
          <a:bodyPr wrap="square" lIns="45720" rIns="45720" tIns="18288" bIns="18288" anchor="ctr">
            <a:spAutoFit/>
          </a:bodyPr>
          <a:lstStyle/>
          <a:p>
            <a:pPr algn="ctr"/>
            <a:r>
              <a:rPr sz="1500" b="1" i="0">
                <a:solidFill>
                  <a:srgbClr val="FFFFFF"/>
                </a:solidFill>
                <a:latin typeface="Arial"/>
              </a:rPr>
              <a:t>Vitor Cruz — VP IT Business Solutions Delivery</a:t>
            </a:r>
          </a:p>
        </p:txBody>
      </p:sp>
      <p:sp>
        <p:nvSpPr>
          <p:cNvPr id="7" name="Rounded Rectangle 6"/>
          <p:cNvSpPr/>
          <p:nvPr/>
        </p:nvSpPr>
        <p:spPr>
          <a:xfrm>
            <a:off x="457200" y="2286000"/>
            <a:ext cx="2737027" cy="594360"/>
          </a:xfrm>
          <a:prstGeom prst="roundRect">
            <a:avLst>
              <a:gd name="adj" fmla="val 4000"/>
            </a:avLst>
          </a:prstGeom>
          <a:solidFill>
            <a:srgbClr val="21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331720"/>
            <a:ext cx="2554147" cy="502920"/>
          </a:xfrm>
          <a:prstGeom prst="rect">
            <a:avLst/>
          </a:prstGeom>
          <a:noFill/>
        </p:spPr>
        <p:txBody>
          <a:bodyPr wrap="square" lIns="45720" rIns="45720" tIns="18288" bIns="18288" anchor="ctr">
            <a:spAutoFit/>
          </a:bodyPr>
          <a:lstStyle/>
          <a:p>
            <a:pPr algn="ctr"/>
            <a:r>
              <a:rPr sz="1100" b="1" i="0">
                <a:solidFill>
                  <a:srgbClr val="FFFFFF"/>
                </a:solidFill>
                <a:latin typeface="Arial"/>
              </a:rPr>
              <a:t>Carlos Garbin — Director</a:t>
            </a:r>
          </a:p>
          <a:p>
            <a:r>
              <a:t>IT Business Applications  (~26 FTE)</a:t>
            </a:r>
          </a:p>
        </p:txBody>
      </p:sp>
      <p:sp>
        <p:nvSpPr>
          <p:cNvPr id="9" name="Rounded Rectangle 8"/>
          <p:cNvSpPr/>
          <p:nvPr/>
        </p:nvSpPr>
        <p:spPr>
          <a:xfrm>
            <a:off x="457200" y="2971800"/>
            <a:ext cx="2737027" cy="713232"/>
          </a:xfrm>
          <a:prstGeom prst="roundRect">
            <a:avLst>
              <a:gd name="adj" fmla="val 5000"/>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971800"/>
            <a:ext cx="54864" cy="713232"/>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017520"/>
            <a:ext cx="2096947" cy="274320"/>
          </a:xfrm>
          <a:prstGeom prst="rect">
            <a:avLst/>
          </a:prstGeom>
          <a:noFill/>
        </p:spPr>
        <p:txBody>
          <a:bodyPr wrap="square" lIns="45720" rIns="45720" tIns="18288" bIns="18288" anchor="t">
            <a:spAutoFit/>
          </a:bodyPr>
          <a:lstStyle/>
          <a:p>
            <a:pPr algn="l"/>
            <a:r>
              <a:rPr sz="1000" b="1" i="0">
                <a:solidFill>
                  <a:srgbClr val="2C3E50"/>
                </a:solidFill>
                <a:latin typeface="Arial"/>
              </a:rPr>
              <a:t>Bruno Moreto</a:t>
            </a:r>
          </a:p>
        </p:txBody>
      </p:sp>
      <p:sp>
        <p:nvSpPr>
          <p:cNvPr id="12" name="TextBox 11"/>
          <p:cNvSpPr txBox="1"/>
          <p:nvPr/>
        </p:nvSpPr>
        <p:spPr>
          <a:xfrm>
            <a:off x="594360" y="3227832"/>
            <a:ext cx="2096947" cy="320040"/>
          </a:xfrm>
          <a:prstGeom prst="rect">
            <a:avLst/>
          </a:prstGeom>
          <a:noFill/>
        </p:spPr>
        <p:txBody>
          <a:bodyPr wrap="square" lIns="45720" rIns="45720" tIns="18288" bIns="18288" anchor="t">
            <a:spAutoFit/>
          </a:bodyPr>
          <a:lstStyle/>
          <a:p>
            <a:pPr algn="l"/>
            <a:r>
              <a:rPr sz="900" b="0" i="0">
                <a:solidFill>
                  <a:srgbClr val="2C3E50"/>
                </a:solidFill>
                <a:latin typeface="Arial"/>
              </a:rPr>
              <a:t>Electric &amp; Gas Ops</a:t>
            </a:r>
          </a:p>
        </p:txBody>
      </p:sp>
      <p:sp>
        <p:nvSpPr>
          <p:cNvPr id="13" name="Rectangle 12"/>
          <p:cNvSpPr/>
          <p:nvPr/>
        </p:nvSpPr>
        <p:spPr>
          <a:xfrm>
            <a:off x="2691307" y="3044952"/>
            <a:ext cx="457200" cy="292608"/>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91307" y="3044952"/>
            <a:ext cx="457200" cy="292608"/>
          </a:xfrm>
          <a:prstGeom prst="rect">
            <a:avLst/>
          </a:prstGeom>
          <a:noFill/>
        </p:spPr>
        <p:txBody>
          <a:bodyPr wrap="square" lIns="45720" rIns="45720" tIns="18288" bIns="18288" anchor="ctr">
            <a:spAutoFit/>
          </a:bodyPr>
          <a:lstStyle/>
          <a:p>
            <a:pPr algn="ctr"/>
            <a:r>
              <a:rPr sz="900" b="1" i="0">
                <a:solidFill>
                  <a:srgbClr val="FFFFFF"/>
                </a:solidFill>
                <a:latin typeface="Arial"/>
              </a:rPr>
              <a:t>7 FTE</a:t>
            </a:r>
          </a:p>
        </p:txBody>
      </p:sp>
      <p:sp>
        <p:nvSpPr>
          <p:cNvPr id="15" name="TextBox 14"/>
          <p:cNvSpPr txBox="1"/>
          <p:nvPr/>
        </p:nvSpPr>
        <p:spPr>
          <a:xfrm>
            <a:off x="594360" y="3474720"/>
            <a:ext cx="2554147" cy="201168"/>
          </a:xfrm>
          <a:prstGeom prst="rect">
            <a:avLst/>
          </a:prstGeom>
          <a:noFill/>
        </p:spPr>
        <p:txBody>
          <a:bodyPr wrap="square" lIns="45720" rIns="45720" tIns="18288" bIns="18288" anchor="t">
            <a:spAutoFit/>
          </a:bodyPr>
          <a:lstStyle/>
          <a:p>
            <a:pPr algn="l"/>
            <a:r>
              <a:rPr sz="800" b="0" i="1">
                <a:solidFill>
                  <a:srgbClr val="6E7887"/>
                </a:solidFill>
                <a:latin typeface="Arial"/>
              </a:rPr>
              <a:t>G&amp;E Champion: Andrew McGibbon</a:t>
            </a:r>
          </a:p>
        </p:txBody>
      </p:sp>
      <p:sp>
        <p:nvSpPr>
          <p:cNvPr id="16" name="Rounded Rectangle 15"/>
          <p:cNvSpPr/>
          <p:nvPr/>
        </p:nvSpPr>
        <p:spPr>
          <a:xfrm>
            <a:off x="457200" y="3749040"/>
            <a:ext cx="2737027" cy="713232"/>
          </a:xfrm>
          <a:prstGeom prst="roundRect">
            <a:avLst>
              <a:gd name="adj" fmla="val 5000"/>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749040"/>
            <a:ext cx="54864" cy="713232"/>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794760"/>
            <a:ext cx="2096947" cy="274320"/>
          </a:xfrm>
          <a:prstGeom prst="rect">
            <a:avLst/>
          </a:prstGeom>
          <a:noFill/>
        </p:spPr>
        <p:txBody>
          <a:bodyPr wrap="square" lIns="45720" rIns="45720" tIns="18288" bIns="18288" anchor="t">
            <a:spAutoFit/>
          </a:bodyPr>
          <a:lstStyle/>
          <a:p>
            <a:pPr algn="l"/>
            <a:r>
              <a:rPr sz="1000" b="1" i="0">
                <a:solidFill>
                  <a:srgbClr val="2C3E50"/>
                </a:solidFill>
                <a:latin typeface="Arial"/>
              </a:rPr>
              <a:t>George Porto</a:t>
            </a:r>
          </a:p>
        </p:txBody>
      </p:sp>
      <p:sp>
        <p:nvSpPr>
          <p:cNvPr id="19" name="TextBox 18"/>
          <p:cNvSpPr txBox="1"/>
          <p:nvPr/>
        </p:nvSpPr>
        <p:spPr>
          <a:xfrm>
            <a:off x="594360" y="4005072"/>
            <a:ext cx="2096947" cy="320040"/>
          </a:xfrm>
          <a:prstGeom prst="rect">
            <a:avLst/>
          </a:prstGeom>
          <a:noFill/>
        </p:spPr>
        <p:txBody>
          <a:bodyPr wrap="square" lIns="45720" rIns="45720" tIns="18288" bIns="18288" anchor="t">
            <a:spAutoFit/>
          </a:bodyPr>
          <a:lstStyle/>
          <a:p>
            <a:pPr algn="l"/>
            <a:r>
              <a:rPr sz="900" b="0" i="0">
                <a:solidFill>
                  <a:srgbClr val="2C3E50"/>
                </a:solidFill>
                <a:latin typeface="Arial"/>
              </a:rPr>
              <a:t>GIS &amp; OSG</a:t>
            </a:r>
          </a:p>
        </p:txBody>
      </p:sp>
      <p:sp>
        <p:nvSpPr>
          <p:cNvPr id="20" name="Rectangle 19"/>
          <p:cNvSpPr/>
          <p:nvPr/>
        </p:nvSpPr>
        <p:spPr>
          <a:xfrm>
            <a:off x="2691307" y="3822192"/>
            <a:ext cx="457200" cy="292608"/>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91307" y="3822192"/>
            <a:ext cx="457200" cy="292608"/>
          </a:xfrm>
          <a:prstGeom prst="rect">
            <a:avLst/>
          </a:prstGeom>
          <a:noFill/>
        </p:spPr>
        <p:txBody>
          <a:bodyPr wrap="square" lIns="45720" rIns="45720" tIns="18288" bIns="18288" anchor="ctr">
            <a:spAutoFit/>
          </a:bodyPr>
          <a:lstStyle/>
          <a:p>
            <a:pPr algn="ctr"/>
            <a:r>
              <a:rPr sz="900" b="1" i="0">
                <a:solidFill>
                  <a:srgbClr val="FFFFFF"/>
                </a:solidFill>
                <a:latin typeface="Arial"/>
              </a:rPr>
              <a:t>6 FTE</a:t>
            </a:r>
          </a:p>
        </p:txBody>
      </p:sp>
      <p:sp>
        <p:nvSpPr>
          <p:cNvPr id="22" name="TextBox 21"/>
          <p:cNvSpPr txBox="1"/>
          <p:nvPr/>
        </p:nvSpPr>
        <p:spPr>
          <a:xfrm>
            <a:off x="594360" y="4251960"/>
            <a:ext cx="2554147" cy="201168"/>
          </a:xfrm>
          <a:prstGeom prst="rect">
            <a:avLst/>
          </a:prstGeom>
          <a:noFill/>
        </p:spPr>
        <p:txBody>
          <a:bodyPr wrap="square" lIns="45720" rIns="45720" tIns="18288" bIns="18288" anchor="t">
            <a:spAutoFit/>
          </a:bodyPr>
          <a:lstStyle/>
          <a:p>
            <a:pPr algn="l"/>
            <a:r>
              <a:rPr sz="800" b="0" i="1">
                <a:solidFill>
                  <a:srgbClr val="6E7887"/>
                </a:solidFill>
                <a:latin typeface="Arial"/>
              </a:rPr>
              <a:t>GIS Champion: George Porto</a:t>
            </a:r>
          </a:p>
        </p:txBody>
      </p:sp>
      <p:sp>
        <p:nvSpPr>
          <p:cNvPr id="23" name="Rounded Rectangle 22"/>
          <p:cNvSpPr/>
          <p:nvPr/>
        </p:nvSpPr>
        <p:spPr>
          <a:xfrm>
            <a:off x="457200" y="4526280"/>
            <a:ext cx="2737027" cy="713232"/>
          </a:xfrm>
          <a:prstGeom prst="roundRect">
            <a:avLst>
              <a:gd name="adj" fmla="val 5000"/>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526280"/>
            <a:ext cx="54864" cy="713232"/>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572000"/>
            <a:ext cx="2096947" cy="274320"/>
          </a:xfrm>
          <a:prstGeom prst="rect">
            <a:avLst/>
          </a:prstGeom>
          <a:noFill/>
        </p:spPr>
        <p:txBody>
          <a:bodyPr wrap="square" lIns="45720" rIns="45720" tIns="18288" bIns="18288" anchor="t">
            <a:spAutoFit/>
          </a:bodyPr>
          <a:lstStyle/>
          <a:p>
            <a:pPr algn="l"/>
            <a:r>
              <a:rPr sz="1000" b="1" i="0">
                <a:solidFill>
                  <a:srgbClr val="2C3E50"/>
                </a:solidFill>
                <a:latin typeface="Arial"/>
              </a:rPr>
              <a:t>Sarath Garikapati</a:t>
            </a:r>
          </a:p>
        </p:txBody>
      </p:sp>
      <p:sp>
        <p:nvSpPr>
          <p:cNvPr id="26" name="TextBox 25"/>
          <p:cNvSpPr txBox="1"/>
          <p:nvPr/>
        </p:nvSpPr>
        <p:spPr>
          <a:xfrm>
            <a:off x="594360" y="4782312"/>
            <a:ext cx="2096947" cy="320040"/>
          </a:xfrm>
          <a:prstGeom prst="rect">
            <a:avLst/>
          </a:prstGeom>
          <a:noFill/>
        </p:spPr>
        <p:txBody>
          <a:bodyPr wrap="square" lIns="45720" rIns="45720" tIns="18288" bIns="18288" anchor="t">
            <a:spAutoFit/>
          </a:bodyPr>
          <a:lstStyle/>
          <a:p>
            <a:pPr algn="l"/>
            <a:r>
              <a:rPr sz="900" b="0" i="0">
                <a:solidFill>
                  <a:srgbClr val="2C3E50"/>
                </a:solidFill>
                <a:latin typeface="Arial"/>
              </a:rPr>
              <a:t>Corporate Applications</a:t>
            </a:r>
          </a:p>
        </p:txBody>
      </p:sp>
      <p:sp>
        <p:nvSpPr>
          <p:cNvPr id="27" name="Rectangle 26"/>
          <p:cNvSpPr/>
          <p:nvPr/>
        </p:nvSpPr>
        <p:spPr>
          <a:xfrm>
            <a:off x="2691307" y="4599432"/>
            <a:ext cx="457200" cy="292608"/>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91307" y="4599432"/>
            <a:ext cx="457200" cy="292608"/>
          </a:xfrm>
          <a:prstGeom prst="rect">
            <a:avLst/>
          </a:prstGeom>
          <a:noFill/>
        </p:spPr>
        <p:txBody>
          <a:bodyPr wrap="square" lIns="45720" rIns="45720" tIns="18288" bIns="18288" anchor="ctr">
            <a:spAutoFit/>
          </a:bodyPr>
          <a:lstStyle/>
          <a:p>
            <a:pPr algn="ctr"/>
            <a:r>
              <a:rPr sz="900" b="1" i="0">
                <a:solidFill>
                  <a:srgbClr val="FFFFFF"/>
                </a:solidFill>
                <a:latin typeface="Arial"/>
              </a:rPr>
              <a:t>8 FTE</a:t>
            </a:r>
          </a:p>
        </p:txBody>
      </p:sp>
      <p:sp>
        <p:nvSpPr>
          <p:cNvPr id="29" name="TextBox 28"/>
          <p:cNvSpPr txBox="1"/>
          <p:nvPr/>
        </p:nvSpPr>
        <p:spPr>
          <a:xfrm>
            <a:off x="594360" y="5029200"/>
            <a:ext cx="2554147" cy="201168"/>
          </a:xfrm>
          <a:prstGeom prst="rect">
            <a:avLst/>
          </a:prstGeom>
          <a:noFill/>
        </p:spPr>
        <p:txBody>
          <a:bodyPr wrap="square" lIns="45720" rIns="45720" tIns="18288" bIns="18288" anchor="t">
            <a:spAutoFit/>
          </a:bodyPr>
          <a:lstStyle/>
          <a:p>
            <a:pPr algn="l"/>
            <a:r>
              <a:rPr sz="800" b="0" i="1">
                <a:solidFill>
                  <a:srgbClr val="6E7887"/>
                </a:solidFill>
                <a:latin typeface="Arial"/>
              </a:rPr>
              <a:t>Corporate Champion: Amit Patel</a:t>
            </a:r>
          </a:p>
        </p:txBody>
      </p:sp>
      <p:sp>
        <p:nvSpPr>
          <p:cNvPr id="30" name="Rounded Rectangle 29"/>
          <p:cNvSpPr/>
          <p:nvPr/>
        </p:nvSpPr>
        <p:spPr>
          <a:xfrm>
            <a:off x="457200" y="5303520"/>
            <a:ext cx="2737027" cy="713232"/>
          </a:xfrm>
          <a:prstGeom prst="roundRect">
            <a:avLst>
              <a:gd name="adj" fmla="val 5000"/>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5303520"/>
            <a:ext cx="54864" cy="713232"/>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5349240"/>
            <a:ext cx="2096947" cy="274320"/>
          </a:xfrm>
          <a:prstGeom prst="rect">
            <a:avLst/>
          </a:prstGeom>
          <a:noFill/>
        </p:spPr>
        <p:txBody>
          <a:bodyPr wrap="square" lIns="45720" rIns="45720" tIns="18288" bIns="18288" anchor="t">
            <a:spAutoFit/>
          </a:bodyPr>
          <a:lstStyle/>
          <a:p>
            <a:pPr algn="l"/>
            <a:r>
              <a:rPr sz="1000" b="1" i="0">
                <a:solidFill>
                  <a:srgbClr val="2C3E50"/>
                </a:solidFill>
                <a:latin typeface="Arial"/>
              </a:rPr>
              <a:t>Vanessa Colombo</a:t>
            </a:r>
          </a:p>
        </p:txBody>
      </p:sp>
      <p:sp>
        <p:nvSpPr>
          <p:cNvPr id="33" name="TextBox 32"/>
          <p:cNvSpPr txBox="1"/>
          <p:nvPr/>
        </p:nvSpPr>
        <p:spPr>
          <a:xfrm>
            <a:off x="594360" y="5559552"/>
            <a:ext cx="2096947" cy="320040"/>
          </a:xfrm>
          <a:prstGeom prst="rect">
            <a:avLst/>
          </a:prstGeom>
          <a:noFill/>
        </p:spPr>
        <p:txBody>
          <a:bodyPr wrap="square" lIns="45720" rIns="45720" tIns="18288" bIns="18288" anchor="t">
            <a:spAutoFit/>
          </a:bodyPr>
          <a:lstStyle/>
          <a:p>
            <a:pPr algn="l"/>
            <a:r>
              <a:rPr sz="900" b="0" i="0">
                <a:solidFill>
                  <a:srgbClr val="2C3E50"/>
                </a:solidFill>
                <a:latin typeface="Arial"/>
              </a:rPr>
              <a:t>Global SAP — Iberdrola</a:t>
            </a:r>
          </a:p>
          <a:p>
            <a:r>
              <a:t>FI, PO, Budget (Spain)</a:t>
            </a:r>
          </a:p>
        </p:txBody>
      </p:sp>
      <p:sp>
        <p:nvSpPr>
          <p:cNvPr id="34" name="Rectangle 33"/>
          <p:cNvSpPr/>
          <p:nvPr/>
        </p:nvSpPr>
        <p:spPr>
          <a:xfrm>
            <a:off x="2691307" y="5376672"/>
            <a:ext cx="457200" cy="292608"/>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91307" y="5376672"/>
            <a:ext cx="457200" cy="292608"/>
          </a:xfrm>
          <a:prstGeom prst="rect">
            <a:avLst/>
          </a:prstGeom>
          <a:noFill/>
        </p:spPr>
        <p:txBody>
          <a:bodyPr wrap="square" lIns="45720" rIns="45720" tIns="18288" bIns="18288" anchor="ctr">
            <a:spAutoFit/>
          </a:bodyPr>
          <a:lstStyle/>
          <a:p>
            <a:pPr algn="ctr"/>
            <a:r>
              <a:rPr sz="900" b="1" i="0">
                <a:solidFill>
                  <a:srgbClr val="FFFFFF"/>
                </a:solidFill>
                <a:latin typeface="Arial"/>
              </a:rPr>
              <a:t>5 FTE</a:t>
            </a:r>
          </a:p>
        </p:txBody>
      </p:sp>
      <p:sp>
        <p:nvSpPr>
          <p:cNvPr id="36" name="TextBox 35"/>
          <p:cNvSpPr txBox="1"/>
          <p:nvPr/>
        </p:nvSpPr>
        <p:spPr>
          <a:xfrm>
            <a:off x="594360" y="5806440"/>
            <a:ext cx="2554147" cy="201168"/>
          </a:xfrm>
          <a:prstGeom prst="rect">
            <a:avLst/>
          </a:prstGeom>
          <a:noFill/>
        </p:spPr>
        <p:txBody>
          <a:bodyPr wrap="square" lIns="45720" rIns="45720" tIns="18288" bIns="18288" anchor="t">
            <a:spAutoFit/>
          </a:bodyPr>
          <a:lstStyle/>
          <a:p>
            <a:pPr algn="l"/>
            <a:r>
              <a:rPr sz="800" b="0" i="1">
                <a:solidFill>
                  <a:srgbClr val="6E7887"/>
                </a:solidFill>
                <a:latin typeface="Arial"/>
              </a:rPr>
              <a:t>Global SAP Champion: Michael Dubois</a:t>
            </a:r>
          </a:p>
        </p:txBody>
      </p:sp>
      <p:sp>
        <p:nvSpPr>
          <p:cNvPr id="37" name="Rounded Rectangle 36"/>
          <p:cNvSpPr/>
          <p:nvPr/>
        </p:nvSpPr>
        <p:spPr>
          <a:xfrm>
            <a:off x="3303955" y="2286000"/>
            <a:ext cx="2737027" cy="594360"/>
          </a:xfrm>
          <a:prstGeom prst="roundRect">
            <a:avLst>
              <a:gd name="adj" fmla="val 4000"/>
            </a:avLst>
          </a:prstGeom>
          <a:solidFill>
            <a:srgbClr val="21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95395" y="2331720"/>
            <a:ext cx="2554147" cy="502920"/>
          </a:xfrm>
          <a:prstGeom prst="rect">
            <a:avLst/>
          </a:prstGeom>
          <a:noFill/>
        </p:spPr>
        <p:txBody>
          <a:bodyPr wrap="square" lIns="45720" rIns="45720" tIns="18288" bIns="18288" anchor="ctr">
            <a:spAutoFit/>
          </a:bodyPr>
          <a:lstStyle/>
          <a:p>
            <a:pPr algn="ctr"/>
            <a:r>
              <a:rPr sz="1100" b="1" i="0">
                <a:solidFill>
                  <a:srgbClr val="FFFFFF"/>
                </a:solidFill>
                <a:latin typeface="Arial"/>
              </a:rPr>
              <a:t>Kumar Jaladanki — Director</a:t>
            </a:r>
          </a:p>
          <a:p>
            <a:r>
              <a:t>Customer Services Apps  (~24 FTE)</a:t>
            </a:r>
          </a:p>
        </p:txBody>
      </p:sp>
      <p:sp>
        <p:nvSpPr>
          <p:cNvPr id="39" name="Rounded Rectangle 38"/>
          <p:cNvSpPr/>
          <p:nvPr/>
        </p:nvSpPr>
        <p:spPr>
          <a:xfrm>
            <a:off x="3303955" y="2971800"/>
            <a:ext cx="2737027" cy="548640"/>
          </a:xfrm>
          <a:prstGeom prst="roundRect">
            <a:avLst>
              <a:gd name="adj" fmla="val 5000"/>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303955" y="2971800"/>
            <a:ext cx="54864" cy="54864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41115" y="2999232"/>
            <a:ext cx="2096947" cy="228600"/>
          </a:xfrm>
          <a:prstGeom prst="rect">
            <a:avLst/>
          </a:prstGeom>
          <a:noFill/>
        </p:spPr>
        <p:txBody>
          <a:bodyPr wrap="square" lIns="45720" rIns="45720" tIns="18288" bIns="18288" anchor="t">
            <a:spAutoFit/>
          </a:bodyPr>
          <a:lstStyle/>
          <a:p>
            <a:pPr algn="l"/>
            <a:r>
              <a:rPr sz="1000" b="1" i="0">
                <a:solidFill>
                  <a:srgbClr val="2C3E50"/>
                </a:solidFill>
                <a:latin typeface="Arial"/>
              </a:rPr>
              <a:t>Ivelisse Velazquez</a:t>
            </a:r>
          </a:p>
        </p:txBody>
      </p:sp>
      <p:sp>
        <p:nvSpPr>
          <p:cNvPr id="42" name="TextBox 41"/>
          <p:cNvSpPr txBox="1"/>
          <p:nvPr/>
        </p:nvSpPr>
        <p:spPr>
          <a:xfrm>
            <a:off x="3441115" y="3191256"/>
            <a:ext cx="2096947" cy="201168"/>
          </a:xfrm>
          <a:prstGeom prst="rect">
            <a:avLst/>
          </a:prstGeom>
          <a:noFill/>
        </p:spPr>
        <p:txBody>
          <a:bodyPr wrap="square" lIns="45720" rIns="45720" tIns="18288" bIns="18288" anchor="t">
            <a:spAutoFit/>
          </a:bodyPr>
          <a:lstStyle/>
          <a:p>
            <a:pPr algn="l"/>
            <a:r>
              <a:rPr sz="850" b="0" i="0">
                <a:solidFill>
                  <a:srgbClr val="2C3E50"/>
                </a:solidFill>
                <a:latin typeface="Arial"/>
              </a:rPr>
              <a:t>FICA, Billing &amp; Collection</a:t>
            </a:r>
          </a:p>
        </p:txBody>
      </p:sp>
      <p:sp>
        <p:nvSpPr>
          <p:cNvPr id="43" name="Rectangle 42"/>
          <p:cNvSpPr/>
          <p:nvPr/>
        </p:nvSpPr>
        <p:spPr>
          <a:xfrm>
            <a:off x="5538063" y="3017520"/>
            <a:ext cx="457200" cy="256032"/>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538063" y="3017520"/>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8 FTE</a:t>
            </a:r>
          </a:p>
        </p:txBody>
      </p:sp>
      <p:sp>
        <p:nvSpPr>
          <p:cNvPr id="45" name="TextBox 44"/>
          <p:cNvSpPr txBox="1"/>
          <p:nvPr/>
        </p:nvSpPr>
        <p:spPr>
          <a:xfrm>
            <a:off x="3441115" y="3337560"/>
            <a:ext cx="2554147" cy="182880"/>
          </a:xfrm>
          <a:prstGeom prst="rect">
            <a:avLst/>
          </a:prstGeom>
          <a:noFill/>
        </p:spPr>
        <p:txBody>
          <a:bodyPr wrap="square" lIns="45720" rIns="45720" tIns="18288" bIns="18288" anchor="t">
            <a:spAutoFit/>
          </a:bodyPr>
          <a:lstStyle/>
          <a:p>
            <a:pPr algn="l"/>
            <a:r>
              <a:rPr sz="750" b="0" i="1">
                <a:solidFill>
                  <a:srgbClr val="6E7887"/>
                </a:solidFill>
                <a:latin typeface="Arial"/>
              </a:rPr>
              <a:t>SAP Champion: Stephanie</a:t>
            </a:r>
          </a:p>
        </p:txBody>
      </p:sp>
      <p:sp>
        <p:nvSpPr>
          <p:cNvPr id="46" name="Rounded Rectangle 45"/>
          <p:cNvSpPr/>
          <p:nvPr/>
        </p:nvSpPr>
        <p:spPr>
          <a:xfrm>
            <a:off x="3303955" y="3575304"/>
            <a:ext cx="2737027" cy="548640"/>
          </a:xfrm>
          <a:prstGeom prst="roundRect">
            <a:avLst>
              <a:gd name="adj" fmla="val 5000"/>
            </a:avLst>
          </a:prstGeom>
          <a:solidFill>
            <a:srgbClr val="F8DFD8"/>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41115" y="3602736"/>
            <a:ext cx="2096947" cy="228600"/>
          </a:xfrm>
          <a:prstGeom prst="rect">
            <a:avLst/>
          </a:prstGeom>
          <a:noFill/>
        </p:spPr>
        <p:txBody>
          <a:bodyPr wrap="square" lIns="45720" rIns="45720" tIns="18288" bIns="18288" anchor="t">
            <a:spAutoFit/>
          </a:bodyPr>
          <a:lstStyle/>
          <a:p>
            <a:pPr algn="l"/>
            <a:r>
              <a:rPr sz="1000" b="1" i="0">
                <a:solidFill>
                  <a:srgbClr val="C84A35"/>
                </a:solidFill>
                <a:latin typeface="Arial"/>
              </a:rPr>
              <a:t>TBD (vacant)</a:t>
            </a:r>
          </a:p>
        </p:txBody>
      </p:sp>
      <p:sp>
        <p:nvSpPr>
          <p:cNvPr id="48" name="TextBox 47"/>
          <p:cNvSpPr txBox="1"/>
          <p:nvPr/>
        </p:nvSpPr>
        <p:spPr>
          <a:xfrm>
            <a:off x="3441115" y="3794760"/>
            <a:ext cx="2096947" cy="201168"/>
          </a:xfrm>
          <a:prstGeom prst="rect">
            <a:avLst/>
          </a:prstGeom>
          <a:noFill/>
        </p:spPr>
        <p:txBody>
          <a:bodyPr wrap="square" lIns="45720" rIns="45720" tIns="18288" bIns="18288" anchor="t">
            <a:spAutoFit/>
          </a:bodyPr>
          <a:lstStyle/>
          <a:p>
            <a:pPr algn="l"/>
            <a:r>
              <a:rPr sz="850" b="0" i="0">
                <a:solidFill>
                  <a:srgbClr val="2C3E50"/>
                </a:solidFill>
                <a:latin typeface="Arial"/>
              </a:rPr>
              <a:t>CRM &amp; Contact Center Ops</a:t>
            </a:r>
          </a:p>
        </p:txBody>
      </p:sp>
      <p:sp>
        <p:nvSpPr>
          <p:cNvPr id="49" name="Rectangle 48"/>
          <p:cNvSpPr/>
          <p:nvPr/>
        </p:nvSpPr>
        <p:spPr>
          <a:xfrm>
            <a:off x="5538063" y="3621024"/>
            <a:ext cx="457200" cy="256032"/>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38063" y="3621024"/>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4 FTE</a:t>
            </a:r>
          </a:p>
        </p:txBody>
      </p:sp>
      <p:sp>
        <p:nvSpPr>
          <p:cNvPr id="51" name="Rounded Rectangle 50"/>
          <p:cNvSpPr/>
          <p:nvPr/>
        </p:nvSpPr>
        <p:spPr>
          <a:xfrm>
            <a:off x="3303955" y="4178808"/>
            <a:ext cx="2737027" cy="548640"/>
          </a:xfrm>
          <a:prstGeom prst="roundRect">
            <a:avLst>
              <a:gd name="adj" fmla="val 5000"/>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303955" y="4178808"/>
            <a:ext cx="54864" cy="54864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41115" y="4206240"/>
            <a:ext cx="2096947" cy="228600"/>
          </a:xfrm>
          <a:prstGeom prst="rect">
            <a:avLst/>
          </a:prstGeom>
          <a:noFill/>
        </p:spPr>
        <p:txBody>
          <a:bodyPr wrap="square" lIns="45720" rIns="45720" tIns="18288" bIns="18288" anchor="t">
            <a:spAutoFit/>
          </a:bodyPr>
          <a:lstStyle/>
          <a:p>
            <a:pPr algn="l"/>
            <a:r>
              <a:rPr sz="1000" b="1" i="0">
                <a:solidFill>
                  <a:srgbClr val="2C3E50"/>
                </a:solidFill>
                <a:latin typeface="Arial"/>
              </a:rPr>
              <a:t>Vincent Lam</a:t>
            </a:r>
          </a:p>
        </p:txBody>
      </p:sp>
      <p:sp>
        <p:nvSpPr>
          <p:cNvPr id="54" name="TextBox 53"/>
          <p:cNvSpPr txBox="1"/>
          <p:nvPr/>
        </p:nvSpPr>
        <p:spPr>
          <a:xfrm>
            <a:off x="3441115" y="4398264"/>
            <a:ext cx="2096947" cy="201168"/>
          </a:xfrm>
          <a:prstGeom prst="rect">
            <a:avLst/>
          </a:prstGeom>
          <a:noFill/>
        </p:spPr>
        <p:txBody>
          <a:bodyPr wrap="square" lIns="45720" rIns="45720" tIns="18288" bIns="18288" anchor="t">
            <a:spAutoFit/>
          </a:bodyPr>
          <a:lstStyle/>
          <a:p>
            <a:pPr algn="l"/>
            <a:r>
              <a:rPr sz="850" b="0" i="0">
                <a:solidFill>
                  <a:srgbClr val="2C3E50"/>
                </a:solidFill>
                <a:latin typeface="Arial"/>
              </a:rPr>
              <a:t>Billing, Device &amp; Metering</a:t>
            </a:r>
          </a:p>
        </p:txBody>
      </p:sp>
      <p:sp>
        <p:nvSpPr>
          <p:cNvPr id="55" name="Rectangle 54"/>
          <p:cNvSpPr/>
          <p:nvPr/>
        </p:nvSpPr>
        <p:spPr>
          <a:xfrm>
            <a:off x="5538063" y="4224528"/>
            <a:ext cx="457200" cy="256032"/>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538063" y="4224528"/>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8 FTE</a:t>
            </a:r>
          </a:p>
        </p:txBody>
      </p:sp>
      <p:sp>
        <p:nvSpPr>
          <p:cNvPr id="57" name="TextBox 56"/>
          <p:cNvSpPr txBox="1"/>
          <p:nvPr/>
        </p:nvSpPr>
        <p:spPr>
          <a:xfrm>
            <a:off x="3441115" y="4544568"/>
            <a:ext cx="2554147" cy="182880"/>
          </a:xfrm>
          <a:prstGeom prst="rect">
            <a:avLst/>
          </a:prstGeom>
          <a:noFill/>
        </p:spPr>
        <p:txBody>
          <a:bodyPr wrap="square" lIns="45720" rIns="45720" tIns="18288" bIns="18288" anchor="t">
            <a:spAutoFit/>
          </a:bodyPr>
          <a:lstStyle/>
          <a:p>
            <a:pPr algn="l"/>
            <a:r>
              <a:rPr sz="750" b="0" i="1">
                <a:solidFill>
                  <a:srgbClr val="6E7887"/>
                </a:solidFill>
                <a:latin typeface="Arial"/>
              </a:rPr>
              <a:t>Smart Metering Champion: Iram Chowdhury</a:t>
            </a:r>
          </a:p>
        </p:txBody>
      </p:sp>
      <p:sp>
        <p:nvSpPr>
          <p:cNvPr id="58" name="Rounded Rectangle 57"/>
          <p:cNvSpPr/>
          <p:nvPr/>
        </p:nvSpPr>
        <p:spPr>
          <a:xfrm>
            <a:off x="3303955" y="4782312"/>
            <a:ext cx="2737027" cy="548640"/>
          </a:xfrm>
          <a:prstGeom prst="roundRect">
            <a:avLst>
              <a:gd name="adj" fmla="val 5000"/>
            </a:avLst>
          </a:prstGeom>
          <a:solidFill>
            <a:srgbClr val="F8DFD8"/>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41115" y="4809744"/>
            <a:ext cx="2096947" cy="228600"/>
          </a:xfrm>
          <a:prstGeom prst="rect">
            <a:avLst/>
          </a:prstGeom>
          <a:noFill/>
        </p:spPr>
        <p:txBody>
          <a:bodyPr wrap="square" lIns="45720" rIns="45720" tIns="18288" bIns="18288" anchor="t">
            <a:spAutoFit/>
          </a:bodyPr>
          <a:lstStyle/>
          <a:p>
            <a:pPr algn="l"/>
            <a:r>
              <a:rPr sz="1000" b="1" i="0">
                <a:solidFill>
                  <a:srgbClr val="C84A35"/>
                </a:solidFill>
                <a:latin typeface="Arial"/>
              </a:rPr>
              <a:t>Open (vacant)</a:t>
            </a:r>
          </a:p>
        </p:txBody>
      </p:sp>
      <p:sp>
        <p:nvSpPr>
          <p:cNvPr id="60" name="TextBox 59"/>
          <p:cNvSpPr txBox="1"/>
          <p:nvPr/>
        </p:nvSpPr>
        <p:spPr>
          <a:xfrm>
            <a:off x="3441115" y="5001768"/>
            <a:ext cx="2096947" cy="201168"/>
          </a:xfrm>
          <a:prstGeom prst="rect">
            <a:avLst/>
          </a:prstGeom>
          <a:noFill/>
        </p:spPr>
        <p:txBody>
          <a:bodyPr wrap="square" lIns="45720" rIns="45720" tIns="18288" bIns="18288" anchor="t">
            <a:spAutoFit/>
          </a:bodyPr>
          <a:lstStyle/>
          <a:p>
            <a:pPr algn="l"/>
            <a:r>
              <a:rPr sz="850" b="0" i="0">
                <a:solidFill>
                  <a:srgbClr val="2C3E50"/>
                </a:solidFill>
                <a:latin typeface="Arial"/>
              </a:rPr>
              <a:t>SAP &amp; CS Architecture</a:t>
            </a:r>
          </a:p>
        </p:txBody>
      </p:sp>
      <p:sp>
        <p:nvSpPr>
          <p:cNvPr id="61" name="Rectangle 60"/>
          <p:cNvSpPr/>
          <p:nvPr/>
        </p:nvSpPr>
        <p:spPr>
          <a:xfrm>
            <a:off x="5538063" y="4828032"/>
            <a:ext cx="457200" cy="256032"/>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538063" y="4828032"/>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2 FTE</a:t>
            </a:r>
          </a:p>
        </p:txBody>
      </p:sp>
      <p:sp>
        <p:nvSpPr>
          <p:cNvPr id="63" name="Rounded Rectangle 62"/>
          <p:cNvSpPr/>
          <p:nvPr/>
        </p:nvSpPr>
        <p:spPr>
          <a:xfrm>
            <a:off x="3303955" y="5385816"/>
            <a:ext cx="2737027" cy="548640"/>
          </a:xfrm>
          <a:prstGeom prst="roundRect">
            <a:avLst>
              <a:gd name="adj" fmla="val 5000"/>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41115" y="5413248"/>
            <a:ext cx="2096947" cy="228600"/>
          </a:xfrm>
          <a:prstGeom prst="rect">
            <a:avLst/>
          </a:prstGeom>
          <a:noFill/>
        </p:spPr>
        <p:txBody>
          <a:bodyPr wrap="square" lIns="45720" rIns="45720" tIns="18288" bIns="18288" anchor="t">
            <a:spAutoFit/>
          </a:bodyPr>
          <a:lstStyle/>
          <a:p>
            <a:pPr algn="l"/>
            <a:r>
              <a:rPr sz="1000" b="1" i="0">
                <a:solidFill>
                  <a:srgbClr val="2C3E50"/>
                </a:solidFill>
                <a:latin typeface="Arial"/>
              </a:rPr>
              <a:t>Nagi Reddy</a:t>
            </a:r>
          </a:p>
        </p:txBody>
      </p:sp>
      <p:sp>
        <p:nvSpPr>
          <p:cNvPr id="65" name="TextBox 64"/>
          <p:cNvSpPr txBox="1"/>
          <p:nvPr/>
        </p:nvSpPr>
        <p:spPr>
          <a:xfrm>
            <a:off x="3441115" y="5605272"/>
            <a:ext cx="2096947" cy="201168"/>
          </a:xfrm>
          <a:prstGeom prst="rect">
            <a:avLst/>
          </a:prstGeom>
          <a:noFill/>
        </p:spPr>
        <p:txBody>
          <a:bodyPr wrap="square" lIns="45720" rIns="45720" tIns="18288" bIns="18288" anchor="t">
            <a:spAutoFit/>
          </a:bodyPr>
          <a:lstStyle/>
          <a:p>
            <a:pPr algn="l"/>
            <a:r>
              <a:rPr sz="850" b="0" i="0">
                <a:solidFill>
                  <a:srgbClr val="2C3E50"/>
                </a:solidFill>
                <a:latin typeface="Arial"/>
              </a:rPr>
              <a:t>SAP Basis</a:t>
            </a:r>
          </a:p>
        </p:txBody>
      </p:sp>
      <p:sp>
        <p:nvSpPr>
          <p:cNvPr id="66" name="Rectangle 65"/>
          <p:cNvSpPr/>
          <p:nvPr/>
        </p:nvSpPr>
        <p:spPr>
          <a:xfrm>
            <a:off x="5538063" y="5431536"/>
            <a:ext cx="457200" cy="256032"/>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538063" y="5431536"/>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2 FTE</a:t>
            </a:r>
          </a:p>
        </p:txBody>
      </p:sp>
      <p:sp>
        <p:nvSpPr>
          <p:cNvPr id="68" name="Rounded Rectangle 67"/>
          <p:cNvSpPr/>
          <p:nvPr/>
        </p:nvSpPr>
        <p:spPr>
          <a:xfrm>
            <a:off x="6150711" y="2286000"/>
            <a:ext cx="2737027" cy="594360"/>
          </a:xfrm>
          <a:prstGeom prst="roundRect">
            <a:avLst>
              <a:gd name="adj" fmla="val 4000"/>
            </a:avLst>
          </a:prstGeom>
          <a:solidFill>
            <a:srgbClr val="21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42151" y="2331720"/>
            <a:ext cx="2554147" cy="502920"/>
          </a:xfrm>
          <a:prstGeom prst="rect">
            <a:avLst/>
          </a:prstGeom>
          <a:noFill/>
        </p:spPr>
        <p:txBody>
          <a:bodyPr wrap="square" lIns="45720" rIns="45720" tIns="18288" bIns="18288" anchor="ctr">
            <a:spAutoFit/>
          </a:bodyPr>
          <a:lstStyle/>
          <a:p>
            <a:pPr algn="ctr"/>
            <a:r>
              <a:rPr sz="1100" b="1" i="0">
                <a:solidFill>
                  <a:srgbClr val="FFFFFF"/>
                </a:solidFill>
                <a:latin typeface="Arial"/>
              </a:rPr>
              <a:t>Heather LaJoie — Director</a:t>
            </a:r>
          </a:p>
          <a:p>
            <a:r>
              <a:t>Product Management  (~2 FTE)</a:t>
            </a:r>
          </a:p>
        </p:txBody>
      </p:sp>
      <p:sp>
        <p:nvSpPr>
          <p:cNvPr id="70" name="Rounded Rectangle 69"/>
          <p:cNvSpPr/>
          <p:nvPr/>
        </p:nvSpPr>
        <p:spPr>
          <a:xfrm>
            <a:off x="6150711" y="2971800"/>
            <a:ext cx="2737027" cy="777240"/>
          </a:xfrm>
          <a:prstGeom prst="roundRect">
            <a:avLst>
              <a:gd name="adj" fmla="val 5000"/>
            </a:avLst>
          </a:prstGeom>
          <a:solidFill>
            <a:srgbClr val="F8DFD8"/>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87871" y="3017520"/>
            <a:ext cx="2096947" cy="274320"/>
          </a:xfrm>
          <a:prstGeom prst="rect">
            <a:avLst/>
          </a:prstGeom>
          <a:noFill/>
        </p:spPr>
        <p:txBody>
          <a:bodyPr wrap="square" lIns="45720" rIns="45720" tIns="18288" bIns="18288" anchor="t">
            <a:spAutoFit/>
          </a:bodyPr>
          <a:lstStyle/>
          <a:p>
            <a:pPr algn="l"/>
            <a:r>
              <a:rPr sz="1000" b="1" i="0">
                <a:solidFill>
                  <a:srgbClr val="C84A35"/>
                </a:solidFill>
                <a:latin typeface="Arial"/>
              </a:rPr>
              <a:t>Vacant</a:t>
            </a:r>
          </a:p>
        </p:txBody>
      </p:sp>
      <p:sp>
        <p:nvSpPr>
          <p:cNvPr id="72" name="TextBox 71"/>
          <p:cNvSpPr txBox="1"/>
          <p:nvPr/>
        </p:nvSpPr>
        <p:spPr>
          <a:xfrm>
            <a:off x="6287871" y="3227832"/>
            <a:ext cx="2096947" cy="320040"/>
          </a:xfrm>
          <a:prstGeom prst="rect">
            <a:avLst/>
          </a:prstGeom>
          <a:noFill/>
        </p:spPr>
        <p:txBody>
          <a:bodyPr wrap="square" lIns="45720" rIns="45720" tIns="18288" bIns="18288" anchor="t">
            <a:spAutoFit/>
          </a:bodyPr>
          <a:lstStyle/>
          <a:p>
            <a:pPr algn="l"/>
            <a:r>
              <a:rPr sz="900" b="0" i="0">
                <a:solidFill>
                  <a:srgbClr val="2C3E50"/>
                </a:solidFill>
                <a:latin typeface="Arial"/>
              </a:rPr>
              <a:t>Product Management</a:t>
            </a:r>
          </a:p>
        </p:txBody>
      </p:sp>
      <p:sp>
        <p:nvSpPr>
          <p:cNvPr id="73" name="Rectangle 72"/>
          <p:cNvSpPr/>
          <p:nvPr/>
        </p:nvSpPr>
        <p:spPr>
          <a:xfrm>
            <a:off x="8384819" y="3044952"/>
            <a:ext cx="457200" cy="292608"/>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384819" y="3044952"/>
            <a:ext cx="457200" cy="292608"/>
          </a:xfrm>
          <a:prstGeom prst="rect">
            <a:avLst/>
          </a:prstGeom>
          <a:noFill/>
        </p:spPr>
        <p:txBody>
          <a:bodyPr wrap="square" lIns="45720" rIns="45720" tIns="18288" bIns="18288" anchor="ctr">
            <a:spAutoFit/>
          </a:bodyPr>
          <a:lstStyle/>
          <a:p>
            <a:pPr algn="ctr"/>
            <a:r>
              <a:rPr sz="900" b="1" i="0">
                <a:solidFill>
                  <a:srgbClr val="FFFFFF"/>
                </a:solidFill>
                <a:latin typeface="Arial"/>
              </a:rPr>
              <a:t>2 FTE</a:t>
            </a:r>
          </a:p>
        </p:txBody>
      </p:sp>
      <p:sp>
        <p:nvSpPr>
          <p:cNvPr id="75" name="Rounded Rectangle 74"/>
          <p:cNvSpPr/>
          <p:nvPr/>
        </p:nvSpPr>
        <p:spPr>
          <a:xfrm>
            <a:off x="6150711" y="3886200"/>
            <a:ext cx="2737027" cy="1645920"/>
          </a:xfrm>
          <a:prstGeom prst="roundRect">
            <a:avLst>
              <a:gd name="adj" fmla="val 4000"/>
            </a:avLst>
          </a:prstGeom>
          <a:solidFill>
            <a:srgbClr val="DCE6F5"/>
          </a:solidFill>
          <a:ln w="127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87871" y="3977640"/>
            <a:ext cx="2462707" cy="1463040"/>
          </a:xfrm>
          <a:prstGeom prst="rect">
            <a:avLst/>
          </a:prstGeom>
          <a:noFill/>
        </p:spPr>
        <p:txBody>
          <a:bodyPr wrap="square" lIns="45720" rIns="45720" tIns="18288" bIns="18288" anchor="t">
            <a:spAutoFit/>
          </a:bodyPr>
          <a:lstStyle/>
          <a:p>
            <a:pPr algn="l"/>
            <a:r>
              <a:rPr sz="900" b="0" i="1">
                <a:solidFill>
                  <a:srgbClr val="2C3E50"/>
                </a:solidFill>
                <a:latin typeface="Arial"/>
              </a:rPr>
              <a:t>This team acts as the strategic coordination layer across delivery and execution teams, ensuring alignment between business priorities and technical implementation.</a:t>
            </a:r>
          </a:p>
          <a:p/>
          <a:p>
            <a:r>
              <a:t>It is responsible for shaping and supporting the prioritization of work, providing direction throughout execution. The team enables consistent focus on value creation, ensuring efforts are aligned with business outcomes through effective orchestration of dependent teams.</a:t>
            </a:r>
          </a:p>
        </p:txBody>
      </p:sp>
      <p:sp>
        <p:nvSpPr>
          <p:cNvPr id="77" name="Rounded Rectangle 76"/>
          <p:cNvSpPr/>
          <p:nvPr/>
        </p:nvSpPr>
        <p:spPr>
          <a:xfrm>
            <a:off x="8997467" y="2286000"/>
            <a:ext cx="2737027" cy="594360"/>
          </a:xfrm>
          <a:prstGeom prst="roundRect">
            <a:avLst>
              <a:gd name="adj" fmla="val 4000"/>
            </a:avLst>
          </a:prstGeom>
          <a:solidFill>
            <a:srgbClr val="21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088907" y="2331720"/>
            <a:ext cx="2554147" cy="502920"/>
          </a:xfrm>
          <a:prstGeom prst="rect">
            <a:avLst/>
          </a:prstGeom>
          <a:noFill/>
        </p:spPr>
        <p:txBody>
          <a:bodyPr wrap="square" lIns="45720" rIns="45720" tIns="18288" bIns="18288" anchor="ctr">
            <a:spAutoFit/>
          </a:bodyPr>
          <a:lstStyle/>
          <a:p>
            <a:pPr algn="ctr"/>
            <a:r>
              <a:rPr sz="1100" b="1" i="0">
                <a:solidFill>
                  <a:srgbClr val="FFFFFF"/>
                </a:solidFill>
                <a:latin typeface="Arial"/>
              </a:rPr>
              <a:t>IT Program Delivery</a:t>
            </a:r>
          </a:p>
          <a:p>
            <a:r>
              <a:t>(Vacant)</a:t>
            </a:r>
          </a:p>
        </p:txBody>
      </p:sp>
      <p:sp>
        <p:nvSpPr>
          <p:cNvPr id="79" name="Rectangle 78"/>
          <p:cNvSpPr/>
          <p:nvPr/>
        </p:nvSpPr>
        <p:spPr>
          <a:xfrm>
            <a:off x="457200" y="6309360"/>
            <a:ext cx="228600" cy="22860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77240" y="6309360"/>
            <a:ext cx="3657600" cy="228600"/>
          </a:xfrm>
          <a:prstGeom prst="rect">
            <a:avLst/>
          </a:prstGeom>
          <a:noFill/>
        </p:spPr>
        <p:txBody>
          <a:bodyPr wrap="square" lIns="45720" rIns="45720" tIns="18288" bIns="18288" anchor="t">
            <a:spAutoFit/>
          </a:bodyPr>
          <a:lstStyle/>
          <a:p>
            <a:pPr algn="l"/>
            <a:r>
              <a:rPr sz="1000" b="1" i="1">
                <a:solidFill>
                  <a:srgbClr val="2C3E50"/>
                </a:solidFill>
                <a:latin typeface="Arial"/>
              </a:rPr>
              <a:t>Area champion identified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Guiding Principles · the four pillars that anchor the product-centric model</a:t>
            </a:r>
          </a:p>
        </p:txBody>
      </p:sp>
      <p:sp>
        <p:nvSpPr>
          <p:cNvPr id="4" name="Rounded Rectangle 3"/>
          <p:cNvSpPr/>
          <p:nvPr/>
        </p:nvSpPr>
        <p:spPr>
          <a:xfrm>
            <a:off x="457200" y="1005840"/>
            <a:ext cx="2716453" cy="512064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2716453" cy="8686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2716453" cy="365760"/>
          </a:xfrm>
          <a:prstGeom prst="rect">
            <a:avLst/>
          </a:prstGeom>
          <a:noFill/>
        </p:spPr>
        <p:txBody>
          <a:bodyPr wrap="square" lIns="45720" rIns="45720" tIns="18288" bIns="18288" anchor="ctr">
            <a:spAutoFit/>
          </a:bodyPr>
          <a:lstStyle/>
          <a:p>
            <a:pPr algn="ctr"/>
            <a:r>
              <a:rPr sz="2400" b="1" i="0">
                <a:solidFill>
                  <a:srgbClr val="FFFFFF"/>
                </a:solidFill>
                <a:latin typeface="Arial"/>
              </a:rPr>
              <a:t>01</a:t>
            </a:r>
          </a:p>
        </p:txBody>
      </p:sp>
      <p:sp>
        <p:nvSpPr>
          <p:cNvPr id="7" name="TextBox 6"/>
          <p:cNvSpPr txBox="1"/>
          <p:nvPr/>
        </p:nvSpPr>
        <p:spPr>
          <a:xfrm>
            <a:off x="548640" y="146304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PRODUCT-ALIGNED UNIQUE INTAKE LAYER</a:t>
            </a:r>
          </a:p>
        </p:txBody>
      </p:sp>
      <p:sp>
        <p:nvSpPr>
          <p:cNvPr id="8" name="TextBox 7"/>
          <p:cNvSpPr txBox="1"/>
          <p:nvPr/>
        </p:nvSpPr>
        <p:spPr>
          <a:xfrm>
            <a:off x="640080" y="2057400"/>
            <a:ext cx="2350693" cy="3931920"/>
          </a:xfrm>
          <a:prstGeom prst="rect">
            <a:avLst/>
          </a:prstGeom>
          <a:noFill/>
        </p:spPr>
        <p:txBody>
          <a:bodyPr wrap="square" lIns="45720" rIns="45720" tIns="36576" bIns="36576">
            <a:spAutoFit/>
          </a:bodyPr>
          <a:lstStyle/>
          <a:p>
            <a:pPr>
              <a:lnSpc>
                <a:spcPct val="140000"/>
              </a:lnSpc>
            </a:pPr>
            <a:r>
              <a:rPr sz="1050" b="0">
                <a:solidFill>
                  <a:srgbClr val="2C3E50"/>
                </a:solidFill>
                <a:latin typeface="Arial"/>
              </a:rPr>
              <a:t>•  Single front door per product or value stream</a:t>
            </a:r>
          </a:p>
          <a:p>
            <a:pPr>
              <a:lnSpc>
                <a:spcPct val="140000"/>
              </a:lnSpc>
            </a:pPr>
            <a:r>
              <a:rPr sz="1050" b="0">
                <a:solidFill>
                  <a:srgbClr val="2C3E50"/>
                </a:solidFill>
                <a:latin typeface="Arial"/>
              </a:rPr>
              <a:t>•  Standard intake criteria with mandatory data inputs</a:t>
            </a:r>
          </a:p>
          <a:p>
            <a:pPr>
              <a:lnSpc>
                <a:spcPct val="140000"/>
              </a:lnSpc>
            </a:pPr>
            <a:r>
              <a:rPr sz="1050" b="0">
                <a:solidFill>
                  <a:srgbClr val="2C3E50"/>
                </a:solidFill>
                <a:latin typeface="Arial"/>
              </a:rPr>
              <a:t>•  Defined ownership for demand triage and routing</a:t>
            </a:r>
          </a:p>
          <a:p>
            <a:pPr>
              <a:lnSpc>
                <a:spcPct val="140000"/>
              </a:lnSpc>
            </a:pPr>
            <a:r>
              <a:rPr sz="1050" b="0">
                <a:solidFill>
                  <a:srgbClr val="2C3E50"/>
                </a:solidFill>
                <a:latin typeface="Arial"/>
              </a:rPr>
              <a:t>•  Full visibility of demand within product backlogs</a:t>
            </a:r>
          </a:p>
        </p:txBody>
      </p:sp>
      <p:sp>
        <p:nvSpPr>
          <p:cNvPr id="9" name="Rounded Rectangle 8"/>
          <p:cNvSpPr/>
          <p:nvPr/>
        </p:nvSpPr>
        <p:spPr>
          <a:xfrm>
            <a:off x="3310813" y="1005840"/>
            <a:ext cx="2716453" cy="512064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10813" y="1005840"/>
            <a:ext cx="2716453" cy="8686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10813" y="1097280"/>
            <a:ext cx="2716453" cy="365760"/>
          </a:xfrm>
          <a:prstGeom prst="rect">
            <a:avLst/>
          </a:prstGeom>
          <a:noFill/>
        </p:spPr>
        <p:txBody>
          <a:bodyPr wrap="square" lIns="45720" rIns="45720" tIns="18288" bIns="18288" anchor="ctr">
            <a:spAutoFit/>
          </a:bodyPr>
          <a:lstStyle/>
          <a:p>
            <a:pPr algn="ctr"/>
            <a:r>
              <a:rPr sz="2400" b="1" i="0">
                <a:solidFill>
                  <a:srgbClr val="FFFFFF"/>
                </a:solidFill>
                <a:latin typeface="Arial"/>
              </a:rPr>
              <a:t>02</a:t>
            </a:r>
          </a:p>
        </p:txBody>
      </p:sp>
      <p:sp>
        <p:nvSpPr>
          <p:cNvPr id="12" name="TextBox 11"/>
          <p:cNvSpPr txBox="1"/>
          <p:nvPr/>
        </p:nvSpPr>
        <p:spPr>
          <a:xfrm>
            <a:off x="3402253" y="146304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VALUE-BASED PRIORITIZATION</a:t>
            </a:r>
          </a:p>
        </p:txBody>
      </p:sp>
      <p:sp>
        <p:nvSpPr>
          <p:cNvPr id="13" name="TextBox 12"/>
          <p:cNvSpPr txBox="1"/>
          <p:nvPr/>
        </p:nvSpPr>
        <p:spPr>
          <a:xfrm>
            <a:off x="3493693" y="2057400"/>
            <a:ext cx="2350693" cy="3931920"/>
          </a:xfrm>
          <a:prstGeom prst="rect">
            <a:avLst/>
          </a:prstGeom>
          <a:noFill/>
        </p:spPr>
        <p:txBody>
          <a:bodyPr wrap="square" lIns="45720" rIns="45720" tIns="36576" bIns="36576">
            <a:spAutoFit/>
          </a:bodyPr>
          <a:lstStyle/>
          <a:p>
            <a:pPr>
              <a:lnSpc>
                <a:spcPct val="140000"/>
              </a:lnSpc>
            </a:pPr>
            <a:r>
              <a:rPr sz="1050" b="0">
                <a:solidFill>
                  <a:srgbClr val="2C3E50"/>
                </a:solidFill>
                <a:latin typeface="Arial"/>
              </a:rPr>
              <a:t>•  Common scoring model with four dimensions: value, urgency, risk, effort</a:t>
            </a:r>
          </a:p>
          <a:p>
            <a:pPr>
              <a:lnSpc>
                <a:spcPct val="140000"/>
              </a:lnSpc>
            </a:pPr>
            <a:r>
              <a:rPr sz="1050" b="0">
                <a:solidFill>
                  <a:srgbClr val="2C3E50"/>
                </a:solidFill>
                <a:latin typeface="Arial"/>
              </a:rPr>
              <a:t>•  Transparent prioritization across competing demands</a:t>
            </a:r>
          </a:p>
          <a:p>
            <a:pPr>
              <a:lnSpc>
                <a:spcPct val="140000"/>
              </a:lnSpc>
            </a:pPr>
            <a:r>
              <a:rPr sz="1050" b="0">
                <a:solidFill>
                  <a:srgbClr val="2C3E50"/>
                </a:solidFill>
                <a:latin typeface="Arial"/>
              </a:rPr>
              <a:t>•  Product-level backlog ownership · each team owns its priorities</a:t>
            </a:r>
          </a:p>
          <a:p>
            <a:pPr>
              <a:lnSpc>
                <a:spcPct val="140000"/>
              </a:lnSpc>
            </a:pPr>
            <a:r>
              <a:rPr sz="1050" b="0">
                <a:solidFill>
                  <a:srgbClr val="2C3E50"/>
                </a:solidFill>
                <a:latin typeface="Arial"/>
              </a:rPr>
              <a:t>•  Trade-offs escalated at portfolio governance level</a:t>
            </a:r>
          </a:p>
        </p:txBody>
      </p:sp>
      <p:sp>
        <p:nvSpPr>
          <p:cNvPr id="14" name="Rounded Rectangle 13"/>
          <p:cNvSpPr/>
          <p:nvPr/>
        </p:nvSpPr>
        <p:spPr>
          <a:xfrm>
            <a:off x="6164427" y="1005840"/>
            <a:ext cx="2716453" cy="5120640"/>
          </a:xfrm>
          <a:prstGeom prst="roundRect">
            <a:avLst>
              <a:gd name="adj" fmla="val 4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4427" y="1005840"/>
            <a:ext cx="2716453" cy="8686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64427" y="1097280"/>
            <a:ext cx="2716453" cy="365760"/>
          </a:xfrm>
          <a:prstGeom prst="rect">
            <a:avLst/>
          </a:prstGeom>
          <a:noFill/>
        </p:spPr>
        <p:txBody>
          <a:bodyPr wrap="square" lIns="45720" rIns="45720" tIns="18288" bIns="18288" anchor="ctr">
            <a:spAutoFit/>
          </a:bodyPr>
          <a:lstStyle/>
          <a:p>
            <a:pPr algn="ctr"/>
            <a:r>
              <a:rPr sz="2400" b="1" i="0">
                <a:solidFill>
                  <a:srgbClr val="FFFFFF"/>
                </a:solidFill>
                <a:latin typeface="Arial"/>
              </a:rPr>
              <a:t>03</a:t>
            </a:r>
          </a:p>
        </p:txBody>
      </p:sp>
      <p:sp>
        <p:nvSpPr>
          <p:cNvPr id="17" name="TextBox 16"/>
          <p:cNvSpPr txBox="1"/>
          <p:nvPr/>
        </p:nvSpPr>
        <p:spPr>
          <a:xfrm>
            <a:off x="6255867" y="146304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PRODUCT PORTFOLIO MANAGEMENT &amp; PLANNING</a:t>
            </a:r>
          </a:p>
        </p:txBody>
      </p:sp>
      <p:sp>
        <p:nvSpPr>
          <p:cNvPr id="18" name="TextBox 17"/>
          <p:cNvSpPr txBox="1"/>
          <p:nvPr/>
        </p:nvSpPr>
        <p:spPr>
          <a:xfrm>
            <a:off x="6347307" y="2057400"/>
            <a:ext cx="2350693" cy="3931920"/>
          </a:xfrm>
          <a:prstGeom prst="rect">
            <a:avLst/>
          </a:prstGeom>
          <a:noFill/>
        </p:spPr>
        <p:txBody>
          <a:bodyPr wrap="square" lIns="45720" rIns="45720" tIns="36576" bIns="36576">
            <a:spAutoFit/>
          </a:bodyPr>
          <a:lstStyle/>
          <a:p>
            <a:pPr>
              <a:lnSpc>
                <a:spcPct val="140000"/>
              </a:lnSpc>
            </a:pPr>
            <a:r>
              <a:rPr sz="1050" b="0">
                <a:solidFill>
                  <a:srgbClr val="2C3E50"/>
                </a:solidFill>
                <a:latin typeface="Arial"/>
              </a:rPr>
              <a:t>•  Integrated portfolio view spanning all products</a:t>
            </a:r>
          </a:p>
          <a:p>
            <a:pPr>
              <a:lnSpc>
                <a:spcPct val="140000"/>
              </a:lnSpc>
            </a:pPr>
            <a:r>
              <a:rPr sz="1050" b="0">
                <a:solidFill>
                  <a:srgbClr val="2C3E50"/>
                </a:solidFill>
                <a:latin typeface="Arial"/>
              </a:rPr>
              <a:t>•  Capacity planning aligned to product priorities, not project timelines</a:t>
            </a:r>
          </a:p>
          <a:p>
            <a:pPr>
              <a:lnSpc>
                <a:spcPct val="140000"/>
              </a:lnSpc>
            </a:pPr>
            <a:r>
              <a:rPr sz="1050" b="0">
                <a:solidFill>
                  <a:srgbClr val="2C3E50"/>
                </a:solidFill>
                <a:latin typeface="Arial"/>
              </a:rPr>
              <a:t>•  End-to-end visibility from demand through delivery</a:t>
            </a:r>
          </a:p>
          <a:p>
            <a:pPr>
              <a:lnSpc>
                <a:spcPct val="140000"/>
              </a:lnSpc>
            </a:pPr>
            <a:r>
              <a:rPr sz="1050" b="0">
                <a:solidFill>
                  <a:srgbClr val="2C3E50"/>
                </a:solidFill>
                <a:latin typeface="Arial"/>
              </a:rPr>
              <a:t>•  Coordinated planning across capacity and dependencies</a:t>
            </a:r>
          </a:p>
        </p:txBody>
      </p:sp>
      <p:sp>
        <p:nvSpPr>
          <p:cNvPr id="19" name="Rounded Rectangle 18"/>
          <p:cNvSpPr/>
          <p:nvPr/>
        </p:nvSpPr>
        <p:spPr>
          <a:xfrm>
            <a:off x="9018041" y="1005840"/>
            <a:ext cx="2716453" cy="512064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8041" y="1005840"/>
            <a:ext cx="2716453" cy="86868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18041" y="1097280"/>
            <a:ext cx="2716453" cy="365760"/>
          </a:xfrm>
          <a:prstGeom prst="rect">
            <a:avLst/>
          </a:prstGeom>
          <a:noFill/>
        </p:spPr>
        <p:txBody>
          <a:bodyPr wrap="square" lIns="45720" rIns="45720" tIns="18288" bIns="18288" anchor="ctr">
            <a:spAutoFit/>
          </a:bodyPr>
          <a:lstStyle/>
          <a:p>
            <a:pPr algn="ctr"/>
            <a:r>
              <a:rPr sz="2400" b="1" i="0">
                <a:solidFill>
                  <a:srgbClr val="FFFFFF"/>
                </a:solidFill>
                <a:latin typeface="Arial"/>
              </a:rPr>
              <a:t>04</a:t>
            </a:r>
          </a:p>
        </p:txBody>
      </p:sp>
      <p:sp>
        <p:nvSpPr>
          <p:cNvPr id="22" name="TextBox 21"/>
          <p:cNvSpPr txBox="1"/>
          <p:nvPr/>
        </p:nvSpPr>
        <p:spPr>
          <a:xfrm>
            <a:off x="9109481" y="146304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PRODUCT GOVERNANCE &amp; ROLES</a:t>
            </a:r>
          </a:p>
        </p:txBody>
      </p:sp>
      <p:sp>
        <p:nvSpPr>
          <p:cNvPr id="23" name="TextBox 22"/>
          <p:cNvSpPr txBox="1"/>
          <p:nvPr/>
        </p:nvSpPr>
        <p:spPr>
          <a:xfrm>
            <a:off x="9200921" y="2057400"/>
            <a:ext cx="2350693" cy="3931920"/>
          </a:xfrm>
          <a:prstGeom prst="rect">
            <a:avLst/>
          </a:prstGeom>
          <a:noFill/>
        </p:spPr>
        <p:txBody>
          <a:bodyPr wrap="square" lIns="45720" rIns="45720" tIns="36576" bIns="36576">
            <a:spAutoFit/>
          </a:bodyPr>
          <a:lstStyle/>
          <a:p>
            <a:pPr>
              <a:lnSpc>
                <a:spcPct val="140000"/>
              </a:lnSpc>
            </a:pPr>
            <a:r>
              <a:rPr sz="1050" b="0">
                <a:solidFill>
                  <a:srgbClr val="2C3E50"/>
                </a:solidFill>
                <a:latin typeface="Arial"/>
              </a:rPr>
              <a:t>•  Defined roles · accountability · decision rights per layer</a:t>
            </a:r>
          </a:p>
          <a:p>
            <a:pPr>
              <a:lnSpc>
                <a:spcPct val="140000"/>
              </a:lnSpc>
            </a:pPr>
            <a:r>
              <a:rPr sz="1050" b="0">
                <a:solidFill>
                  <a:srgbClr val="2C3E50"/>
                </a:solidFill>
                <a:latin typeface="Arial"/>
              </a:rPr>
              <a:t>•  Forum cadences for cross-stream coordination</a:t>
            </a:r>
          </a:p>
          <a:p>
            <a:pPr>
              <a:lnSpc>
                <a:spcPct val="140000"/>
              </a:lnSpc>
            </a:pPr>
            <a:r>
              <a:rPr sz="1050" b="0">
                <a:solidFill>
                  <a:srgbClr val="2C3E50"/>
                </a:solidFill>
                <a:latin typeface="Arial"/>
              </a:rPr>
              <a:t>•  Two-gate governance: weekly triage + monthly portfolio</a:t>
            </a:r>
          </a:p>
          <a:p>
            <a:pPr>
              <a:lnSpc>
                <a:spcPct val="140000"/>
              </a:lnSpc>
            </a:pPr>
            <a:r>
              <a:rPr sz="1050" b="0">
                <a:solidFill>
                  <a:srgbClr val="2C3E50"/>
                </a:solidFill>
                <a:latin typeface="Arial"/>
              </a:rPr>
              <a:t>•  Sponsor sign-off mandatory at intake</a:t>
            </a:r>
          </a:p>
        </p:txBody>
      </p:sp>
      <p:sp>
        <p:nvSpPr>
          <p:cNvPr id="24" name="TextBox 2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Demand Management · five core practices that reshape the intake conversation</a:t>
            </a:r>
          </a:p>
        </p:txBody>
      </p:sp>
      <p:sp>
        <p:nvSpPr>
          <p:cNvPr id="4" name="Rounded Rectangle 3"/>
          <p:cNvSpPr/>
          <p:nvPr/>
        </p:nvSpPr>
        <p:spPr>
          <a:xfrm>
            <a:off x="457200" y="1005840"/>
            <a:ext cx="2167676" cy="512064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2167676" cy="9144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SINGLE FRONT DOOR FOR DEMAND</a:t>
            </a:r>
          </a:p>
        </p:txBody>
      </p:sp>
      <p:sp>
        <p:nvSpPr>
          <p:cNvPr id="7" name="TextBox 6"/>
          <p:cNvSpPr txBox="1"/>
          <p:nvPr/>
        </p:nvSpPr>
        <p:spPr>
          <a:xfrm>
            <a:off x="594360"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All demand types in one place</a:t>
            </a:r>
          </a:p>
        </p:txBody>
      </p:sp>
      <p:sp>
        <p:nvSpPr>
          <p:cNvPr id="8" name="TextBox 7"/>
          <p:cNvSpPr txBox="1"/>
          <p:nvPr/>
        </p:nvSpPr>
        <p:spPr>
          <a:xfrm>
            <a:off x="640080"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Incidents</a:t>
            </a:r>
          </a:p>
          <a:p>
            <a:pPr>
              <a:lnSpc>
                <a:spcPct val="140000"/>
              </a:lnSpc>
            </a:pPr>
            <a:r>
              <a:rPr sz="1000" b="0">
                <a:solidFill>
                  <a:srgbClr val="2C3E50"/>
                </a:solidFill>
                <a:latin typeface="Arial"/>
              </a:rPr>
              <a:t>•  Enhancements</a:t>
            </a:r>
          </a:p>
          <a:p>
            <a:pPr>
              <a:lnSpc>
                <a:spcPct val="140000"/>
              </a:lnSpc>
            </a:pPr>
            <a:r>
              <a:rPr sz="1000" b="0">
                <a:solidFill>
                  <a:srgbClr val="2C3E50"/>
                </a:solidFill>
                <a:latin typeface="Arial"/>
              </a:rPr>
              <a:t>•  Regulatory items</a:t>
            </a:r>
          </a:p>
          <a:p>
            <a:pPr>
              <a:lnSpc>
                <a:spcPct val="140000"/>
              </a:lnSpc>
            </a:pPr>
            <a:r>
              <a:rPr sz="1000" b="0">
                <a:solidFill>
                  <a:srgbClr val="2C3E50"/>
                </a:solidFill>
                <a:latin typeface="Arial"/>
              </a:rPr>
              <a:t>•  Innovation initiatives</a:t>
            </a:r>
          </a:p>
          <a:p>
            <a:pPr>
              <a:lnSpc>
                <a:spcPct val="140000"/>
              </a:lnSpc>
            </a:pPr>
            <a:r>
              <a:rPr sz="1000" b="0">
                <a:solidFill>
                  <a:srgbClr val="2C3E50"/>
                </a:solidFill>
                <a:latin typeface="Arial"/>
              </a:rPr>
              <a:t>•  Technical debt</a:t>
            </a:r>
          </a:p>
        </p:txBody>
      </p:sp>
      <p:sp>
        <p:nvSpPr>
          <p:cNvPr id="9" name="Rounded Rectangle 8"/>
          <p:cNvSpPr/>
          <p:nvPr/>
        </p:nvSpPr>
        <p:spPr>
          <a:xfrm>
            <a:off x="2734604" y="1005840"/>
            <a:ext cx="2167676" cy="512064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34604" y="1005840"/>
            <a:ext cx="2167676" cy="91440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26044"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DEMAND SHAPING</a:t>
            </a:r>
          </a:p>
        </p:txBody>
      </p:sp>
      <p:sp>
        <p:nvSpPr>
          <p:cNvPr id="12" name="TextBox 11"/>
          <p:cNvSpPr txBox="1"/>
          <p:nvPr/>
        </p:nvSpPr>
        <p:spPr>
          <a:xfrm>
            <a:off x="2871764"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Structured problem-impact-value conversations</a:t>
            </a:r>
          </a:p>
        </p:txBody>
      </p:sp>
      <p:sp>
        <p:nvSpPr>
          <p:cNvPr id="13" name="TextBox 12"/>
          <p:cNvSpPr txBox="1"/>
          <p:nvPr/>
        </p:nvSpPr>
        <p:spPr>
          <a:xfrm>
            <a:off x="2917484"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Don't accept 'solutions' directly</a:t>
            </a:r>
          </a:p>
          <a:p>
            <a:pPr>
              <a:lnSpc>
                <a:spcPct val="140000"/>
              </a:lnSpc>
            </a:pPr>
            <a:r>
              <a:rPr sz="1000" b="0">
                <a:solidFill>
                  <a:srgbClr val="2C3E50"/>
                </a:solidFill>
                <a:latin typeface="Arial"/>
              </a:rPr>
              <a:t>•  Work with requesters to surface the underlying problem</a:t>
            </a:r>
          </a:p>
          <a:p>
            <a:pPr>
              <a:lnSpc>
                <a:spcPct val="140000"/>
              </a:lnSpc>
            </a:pPr>
            <a:r>
              <a:rPr sz="1000" b="0">
                <a:solidFill>
                  <a:srgbClr val="2C3E50"/>
                </a:solidFill>
                <a:latin typeface="Arial"/>
              </a:rPr>
              <a:t>•  Quantify impact before discussing solution</a:t>
            </a:r>
          </a:p>
          <a:p>
            <a:pPr>
              <a:lnSpc>
                <a:spcPct val="140000"/>
              </a:lnSpc>
            </a:pPr>
            <a:r>
              <a:rPr sz="1000" b="0">
                <a:solidFill>
                  <a:srgbClr val="2C3E50"/>
                </a:solidFill>
                <a:latin typeface="Arial"/>
              </a:rPr>
              <a:t>•  Apply value lens before scoping work</a:t>
            </a:r>
          </a:p>
        </p:txBody>
      </p:sp>
      <p:sp>
        <p:nvSpPr>
          <p:cNvPr id="14" name="Rounded Rectangle 13"/>
          <p:cNvSpPr/>
          <p:nvPr/>
        </p:nvSpPr>
        <p:spPr>
          <a:xfrm>
            <a:off x="5012009" y="1005840"/>
            <a:ext cx="2167676" cy="5120640"/>
          </a:xfrm>
          <a:prstGeom prst="roundRect">
            <a:avLst>
              <a:gd name="adj" fmla="val 4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12009" y="1005840"/>
            <a:ext cx="2167676" cy="91440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03449"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CLASSIFICATION BY PRODUCT TYPE</a:t>
            </a:r>
          </a:p>
        </p:txBody>
      </p:sp>
      <p:sp>
        <p:nvSpPr>
          <p:cNvPr id="17" name="TextBox 16"/>
          <p:cNvSpPr txBox="1"/>
          <p:nvPr/>
        </p:nvSpPr>
        <p:spPr>
          <a:xfrm>
            <a:off x="5149169"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Two complementary axes</a:t>
            </a:r>
          </a:p>
        </p:txBody>
      </p:sp>
      <p:sp>
        <p:nvSpPr>
          <p:cNvPr id="18" name="TextBox 17"/>
          <p:cNvSpPr txBox="1"/>
          <p:nvPr/>
        </p:nvSpPr>
        <p:spPr>
          <a:xfrm>
            <a:off x="5194889"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Run · Grow · Transform   (investment intent)</a:t>
            </a:r>
          </a:p>
          <a:p>
            <a:pPr>
              <a:lnSpc>
                <a:spcPct val="140000"/>
              </a:lnSpc>
            </a:pPr>
            <a:r>
              <a:rPr sz="1000" b="0">
                <a:solidFill>
                  <a:srgbClr val="2C3E50"/>
                </a:solidFill>
                <a:latin typeface="Arial"/>
              </a:rPr>
              <a:t>•  Core SAP   vs   Extensions / satellites   (architecture impact)</a:t>
            </a:r>
          </a:p>
          <a:p>
            <a:pPr>
              <a:lnSpc>
                <a:spcPct val="140000"/>
              </a:lnSpc>
            </a:pPr>
            <a:r>
              <a:rPr sz="1000" b="0">
                <a:solidFill>
                  <a:srgbClr val="2C3E50"/>
                </a:solidFill>
                <a:latin typeface="Arial"/>
              </a:rPr>
              <a:t>•  Both axes captured at intake form</a:t>
            </a:r>
          </a:p>
          <a:p>
            <a:pPr>
              <a:lnSpc>
                <a:spcPct val="140000"/>
              </a:lnSpc>
            </a:pPr>
            <a:r>
              <a:rPr sz="1000" b="0">
                <a:solidFill>
                  <a:srgbClr val="2C3E50"/>
                </a:solidFill>
                <a:latin typeface="Arial"/>
              </a:rPr>
              <a:t>•  Drives capacity allocation and routing</a:t>
            </a:r>
          </a:p>
        </p:txBody>
      </p:sp>
      <p:sp>
        <p:nvSpPr>
          <p:cNvPr id="19" name="Rounded Rectangle 18"/>
          <p:cNvSpPr/>
          <p:nvPr/>
        </p:nvSpPr>
        <p:spPr>
          <a:xfrm>
            <a:off x="7289413" y="1005840"/>
            <a:ext cx="2167676" cy="512064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89413" y="1005840"/>
            <a:ext cx="2167676" cy="91440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80853"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LIGHTWEIGHT BUT FORMAL DISCOVERY</a:t>
            </a:r>
          </a:p>
        </p:txBody>
      </p:sp>
      <p:sp>
        <p:nvSpPr>
          <p:cNvPr id="22" name="TextBox 21"/>
          <p:cNvSpPr txBox="1"/>
          <p:nvPr/>
        </p:nvSpPr>
        <p:spPr>
          <a:xfrm>
            <a:off x="7426573"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Required artifacts before scoring</a:t>
            </a:r>
          </a:p>
        </p:txBody>
      </p:sp>
      <p:sp>
        <p:nvSpPr>
          <p:cNvPr id="23" name="TextBox 22"/>
          <p:cNvSpPr txBox="1"/>
          <p:nvPr/>
        </p:nvSpPr>
        <p:spPr>
          <a:xfrm>
            <a:off x="7472293"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Problem statement (one paragraph)</a:t>
            </a:r>
          </a:p>
          <a:p>
            <a:pPr>
              <a:lnSpc>
                <a:spcPct val="140000"/>
              </a:lnSpc>
            </a:pPr>
            <a:r>
              <a:rPr sz="1000" b="0">
                <a:solidFill>
                  <a:srgbClr val="2C3E50"/>
                </a:solidFill>
                <a:latin typeface="Arial"/>
              </a:rPr>
              <a:t>•  Users / personas affected</a:t>
            </a:r>
          </a:p>
          <a:p>
            <a:pPr>
              <a:lnSpc>
                <a:spcPct val="140000"/>
              </a:lnSpc>
            </a:pPr>
            <a:r>
              <a:rPr sz="1000" b="0">
                <a:solidFill>
                  <a:srgbClr val="2C3E50"/>
                </a:solidFill>
                <a:latin typeface="Arial"/>
              </a:rPr>
              <a:t>•  Hypothesis of value</a:t>
            </a:r>
          </a:p>
          <a:p>
            <a:pPr>
              <a:lnSpc>
                <a:spcPct val="140000"/>
              </a:lnSpc>
            </a:pPr>
            <a:r>
              <a:rPr sz="1000" b="0">
                <a:solidFill>
                  <a:srgbClr val="2C3E50"/>
                </a:solidFill>
                <a:latin typeface="Arial"/>
              </a:rPr>
              <a:t>•  Hypothesis of risk</a:t>
            </a:r>
          </a:p>
        </p:txBody>
      </p:sp>
      <p:sp>
        <p:nvSpPr>
          <p:cNvPr id="24" name="Rounded Rectangle 23"/>
          <p:cNvSpPr/>
          <p:nvPr/>
        </p:nvSpPr>
        <p:spPr>
          <a:xfrm>
            <a:off x="9566818" y="1005840"/>
            <a:ext cx="2167676" cy="5120640"/>
          </a:xfrm>
          <a:prstGeom prst="roundRect">
            <a:avLst>
              <a:gd name="adj" fmla="val 4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66818" y="1005840"/>
            <a:ext cx="2167676" cy="91440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58258"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VALUE &amp; PRIORITIZATION FRAMEWORK</a:t>
            </a:r>
          </a:p>
        </p:txBody>
      </p:sp>
      <p:sp>
        <p:nvSpPr>
          <p:cNvPr id="27" name="TextBox 26"/>
          <p:cNvSpPr txBox="1"/>
          <p:nvPr/>
        </p:nvSpPr>
        <p:spPr>
          <a:xfrm>
            <a:off x="9703978"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Multi-factor score, not single judgment</a:t>
            </a:r>
          </a:p>
        </p:txBody>
      </p:sp>
      <p:sp>
        <p:nvSpPr>
          <p:cNvPr id="28" name="TextBox 27"/>
          <p:cNvSpPr txBox="1"/>
          <p:nvPr/>
        </p:nvSpPr>
        <p:spPr>
          <a:xfrm>
            <a:off x="9749698"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Business value (revenue · cost · strategic fit)</a:t>
            </a:r>
          </a:p>
          <a:p>
            <a:pPr>
              <a:lnSpc>
                <a:spcPct val="140000"/>
              </a:lnSpc>
            </a:pPr>
            <a:r>
              <a:rPr sz="1000" b="0">
                <a:solidFill>
                  <a:srgbClr val="2C3E50"/>
                </a:solidFill>
                <a:latin typeface="Arial"/>
              </a:rPr>
              <a:t>•  Risk (operational · regulatory · technical)</a:t>
            </a:r>
          </a:p>
          <a:p>
            <a:pPr>
              <a:lnSpc>
                <a:spcPct val="140000"/>
              </a:lnSpc>
            </a:pPr>
            <a:r>
              <a:rPr sz="1000" b="0">
                <a:solidFill>
                  <a:srgbClr val="2C3E50"/>
                </a:solidFill>
                <a:latin typeface="Arial"/>
              </a:rPr>
              <a:t>•  Regulatory urgency (deadline-driven items)</a:t>
            </a:r>
          </a:p>
          <a:p>
            <a:pPr>
              <a:lnSpc>
                <a:spcPct val="140000"/>
              </a:lnSpc>
            </a:pPr>
            <a:r>
              <a:rPr sz="1000" b="0">
                <a:solidFill>
                  <a:srgbClr val="2C3E50"/>
                </a:solidFill>
                <a:latin typeface="Arial"/>
              </a:rPr>
              <a:t>•  Cost of Delay (value lost per period of delay)</a:t>
            </a:r>
          </a:p>
        </p:txBody>
      </p:sp>
      <p:sp>
        <p:nvSpPr>
          <p:cNvPr id="29" name="TextBox 28"/>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Target Operating Model · eight Value Stream Teams aligned to customer outcomes</a:t>
            </a:r>
          </a:p>
        </p:txBody>
      </p:sp>
      <p:sp>
        <p:nvSpPr>
          <p:cNvPr id="4" name="Rounded Rectangle 3"/>
          <p:cNvSpPr/>
          <p:nvPr/>
        </p:nvSpPr>
        <p:spPr>
          <a:xfrm>
            <a:off x="457200" y="960120"/>
            <a:ext cx="2737027" cy="2231136"/>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960120"/>
            <a:ext cx="2737027" cy="6400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33272"/>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Meter-to-Cash · Service Lifecycle</a:t>
            </a:r>
          </a:p>
        </p:txBody>
      </p:sp>
      <p:sp>
        <p:nvSpPr>
          <p:cNvPr id="7" name="TextBox 6"/>
          <p:cNvSpPr txBox="1"/>
          <p:nvPr/>
        </p:nvSpPr>
        <p:spPr>
          <a:xfrm>
            <a:off x="594360" y="1737360"/>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Customer signs up · activates · changes · disconnects</a:t>
            </a:r>
          </a:p>
        </p:txBody>
      </p:sp>
      <p:sp>
        <p:nvSpPr>
          <p:cNvPr id="8" name="Rectangle 7"/>
          <p:cNvSpPr/>
          <p:nvPr/>
        </p:nvSpPr>
        <p:spPr>
          <a:xfrm>
            <a:off x="594360" y="2322576"/>
            <a:ext cx="2462707" cy="4572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414016"/>
            <a:ext cx="2462707" cy="228600"/>
          </a:xfrm>
          <a:prstGeom prst="rect">
            <a:avLst/>
          </a:prstGeom>
          <a:noFill/>
        </p:spPr>
        <p:txBody>
          <a:bodyPr wrap="square" lIns="45720" rIns="45720" tIns="18288" bIns="18288" anchor="t">
            <a:spAutoFit/>
          </a:bodyPr>
          <a:lstStyle/>
          <a:p>
            <a:pPr algn="l"/>
            <a:r>
              <a:rPr sz="800" b="1" i="0">
                <a:solidFill>
                  <a:srgbClr val="E6B600"/>
                </a:solidFill>
                <a:latin typeface="Arial"/>
              </a:rPr>
              <a:t>EXAMPLE APPLICATIONS</a:t>
            </a:r>
          </a:p>
        </p:txBody>
      </p:sp>
      <p:sp>
        <p:nvSpPr>
          <p:cNvPr id="10" name="TextBox 9"/>
          <p:cNvSpPr txBox="1"/>
          <p:nvPr/>
        </p:nvSpPr>
        <p:spPr>
          <a:xfrm>
            <a:off x="594360" y="2642616"/>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SAP Metering · MV90</a:t>
            </a:r>
          </a:p>
        </p:txBody>
      </p:sp>
      <p:sp>
        <p:nvSpPr>
          <p:cNvPr id="11" name="Rounded Rectangle 10"/>
          <p:cNvSpPr/>
          <p:nvPr/>
        </p:nvSpPr>
        <p:spPr>
          <a:xfrm>
            <a:off x="3303955" y="960120"/>
            <a:ext cx="2737027" cy="2231136"/>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03955" y="960120"/>
            <a:ext cx="2737027" cy="6400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95395" y="1033272"/>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Meter-to-Cash · Revenue Operations</a:t>
            </a:r>
          </a:p>
        </p:txBody>
      </p:sp>
      <p:sp>
        <p:nvSpPr>
          <p:cNvPr id="14" name="TextBox 13"/>
          <p:cNvSpPr txBox="1"/>
          <p:nvPr/>
        </p:nvSpPr>
        <p:spPr>
          <a:xfrm>
            <a:off x="3441115" y="1737360"/>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Accurate billing · easy payment · fair recovery</a:t>
            </a:r>
          </a:p>
        </p:txBody>
      </p:sp>
      <p:sp>
        <p:nvSpPr>
          <p:cNvPr id="15" name="Rectangle 14"/>
          <p:cNvSpPr/>
          <p:nvPr/>
        </p:nvSpPr>
        <p:spPr>
          <a:xfrm>
            <a:off x="3441115" y="2322576"/>
            <a:ext cx="2462707" cy="4572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41115" y="2414016"/>
            <a:ext cx="2462707" cy="228600"/>
          </a:xfrm>
          <a:prstGeom prst="rect">
            <a:avLst/>
          </a:prstGeom>
          <a:noFill/>
        </p:spPr>
        <p:txBody>
          <a:bodyPr wrap="square" lIns="45720" rIns="45720" tIns="18288" bIns="18288" anchor="t">
            <a:spAutoFit/>
          </a:bodyPr>
          <a:lstStyle/>
          <a:p>
            <a:pPr algn="l"/>
            <a:r>
              <a:rPr sz="800" b="1" i="0">
                <a:solidFill>
                  <a:srgbClr val="E6B600"/>
                </a:solidFill>
                <a:latin typeface="Arial"/>
              </a:rPr>
              <a:t>EXAMPLE APPLICATIONS</a:t>
            </a:r>
          </a:p>
        </p:txBody>
      </p:sp>
      <p:sp>
        <p:nvSpPr>
          <p:cNvPr id="17" name="TextBox 16"/>
          <p:cNvSpPr txBox="1"/>
          <p:nvPr/>
        </p:nvSpPr>
        <p:spPr>
          <a:xfrm>
            <a:off x="3441115" y="2642616"/>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SAP FICA · ECC · StreamServe</a:t>
            </a:r>
          </a:p>
        </p:txBody>
      </p:sp>
      <p:sp>
        <p:nvSpPr>
          <p:cNvPr id="18" name="Rounded Rectangle 17"/>
          <p:cNvSpPr/>
          <p:nvPr/>
        </p:nvSpPr>
        <p:spPr>
          <a:xfrm>
            <a:off x="6150711" y="960120"/>
            <a:ext cx="2737027" cy="2231136"/>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0711" y="960120"/>
            <a:ext cx="2737027" cy="6400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42151" y="1033272"/>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Customer Care &amp; Contact Center</a:t>
            </a:r>
          </a:p>
        </p:txBody>
      </p:sp>
      <p:sp>
        <p:nvSpPr>
          <p:cNvPr id="21" name="TextBox 20"/>
          <p:cNvSpPr txBox="1"/>
          <p:nvPr/>
        </p:nvSpPr>
        <p:spPr>
          <a:xfrm>
            <a:off x="6287871" y="1737360"/>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Issue resolution · self-service · voice of customer</a:t>
            </a:r>
          </a:p>
        </p:txBody>
      </p:sp>
      <p:sp>
        <p:nvSpPr>
          <p:cNvPr id="22" name="Rectangle 21"/>
          <p:cNvSpPr/>
          <p:nvPr/>
        </p:nvSpPr>
        <p:spPr>
          <a:xfrm>
            <a:off x="6287871" y="2322576"/>
            <a:ext cx="2462707" cy="4572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87871" y="2414016"/>
            <a:ext cx="2462707" cy="228600"/>
          </a:xfrm>
          <a:prstGeom prst="rect">
            <a:avLst/>
          </a:prstGeom>
          <a:noFill/>
        </p:spPr>
        <p:txBody>
          <a:bodyPr wrap="square" lIns="45720" rIns="45720" tIns="18288" bIns="18288" anchor="t">
            <a:spAutoFit/>
          </a:bodyPr>
          <a:lstStyle/>
          <a:p>
            <a:pPr algn="l"/>
            <a:r>
              <a:rPr sz="800" b="1" i="0">
                <a:solidFill>
                  <a:srgbClr val="E6B600"/>
                </a:solidFill>
                <a:latin typeface="Arial"/>
              </a:rPr>
              <a:t>EXAMPLE APPLICATIONS</a:t>
            </a:r>
          </a:p>
        </p:txBody>
      </p:sp>
      <p:sp>
        <p:nvSpPr>
          <p:cNvPr id="24" name="TextBox 23"/>
          <p:cNvSpPr txBox="1"/>
          <p:nvPr/>
        </p:nvSpPr>
        <p:spPr>
          <a:xfrm>
            <a:off x="6287871" y="2642616"/>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SAP CRM · Medallia · Blue Prism</a:t>
            </a:r>
          </a:p>
        </p:txBody>
      </p:sp>
      <p:sp>
        <p:nvSpPr>
          <p:cNvPr id="25" name="Rounded Rectangle 24"/>
          <p:cNvSpPr/>
          <p:nvPr/>
        </p:nvSpPr>
        <p:spPr>
          <a:xfrm>
            <a:off x="8997467" y="960120"/>
            <a:ext cx="2737027" cy="2231136"/>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7467" y="960120"/>
            <a:ext cx="2737027"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88907" y="1033272"/>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Field Operations</a:t>
            </a:r>
          </a:p>
        </p:txBody>
      </p:sp>
      <p:sp>
        <p:nvSpPr>
          <p:cNvPr id="28" name="TextBox 27"/>
          <p:cNvSpPr txBox="1"/>
          <p:nvPr/>
        </p:nvSpPr>
        <p:spPr>
          <a:xfrm>
            <a:off x="9134627" y="1737360"/>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Field worker / inspector / lineman productivity</a:t>
            </a:r>
          </a:p>
        </p:txBody>
      </p:sp>
      <p:sp>
        <p:nvSpPr>
          <p:cNvPr id="29" name="Rectangle 28"/>
          <p:cNvSpPr/>
          <p:nvPr/>
        </p:nvSpPr>
        <p:spPr>
          <a:xfrm>
            <a:off x="9134627" y="2322576"/>
            <a:ext cx="2462707"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34627" y="2414016"/>
            <a:ext cx="2462707" cy="228600"/>
          </a:xfrm>
          <a:prstGeom prst="rect">
            <a:avLst/>
          </a:prstGeom>
          <a:noFill/>
        </p:spPr>
        <p:txBody>
          <a:bodyPr wrap="square" lIns="45720" rIns="45720" tIns="18288" bIns="18288" anchor="t">
            <a:spAutoFit/>
          </a:bodyPr>
          <a:lstStyle/>
          <a:p>
            <a:pPr algn="l"/>
            <a:r>
              <a:rPr sz="800" b="1" i="0">
                <a:solidFill>
                  <a:srgbClr val="6785C1"/>
                </a:solidFill>
                <a:latin typeface="Arial"/>
              </a:rPr>
              <a:t>EXAMPLE APPLICATIONS</a:t>
            </a:r>
          </a:p>
        </p:txBody>
      </p:sp>
      <p:sp>
        <p:nvSpPr>
          <p:cNvPr id="31" name="TextBox 30"/>
          <p:cNvSpPr txBox="1"/>
          <p:nvPr/>
        </p:nvSpPr>
        <p:spPr>
          <a:xfrm>
            <a:off x="9134627" y="2642616"/>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Lemur-SF · FWM · ARCOS · Field Force</a:t>
            </a:r>
          </a:p>
        </p:txBody>
      </p:sp>
      <p:sp>
        <p:nvSpPr>
          <p:cNvPr id="32" name="Rounded Rectangle 31"/>
          <p:cNvSpPr/>
          <p:nvPr/>
        </p:nvSpPr>
        <p:spPr>
          <a:xfrm>
            <a:off x="457200" y="3300984"/>
            <a:ext cx="2737027" cy="2231136"/>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3300984"/>
            <a:ext cx="2737027"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3374136"/>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Engineering &amp; Asset Management</a:t>
            </a:r>
          </a:p>
        </p:txBody>
      </p:sp>
      <p:sp>
        <p:nvSpPr>
          <p:cNvPr id="35" name="TextBox 34"/>
          <p:cNvSpPr txBox="1"/>
          <p:nvPr/>
        </p:nvSpPr>
        <p:spPr>
          <a:xfrm>
            <a:off x="594360" y="4078224"/>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Engineer / planner designs with reliable data</a:t>
            </a:r>
          </a:p>
        </p:txBody>
      </p:sp>
      <p:sp>
        <p:nvSpPr>
          <p:cNvPr id="36" name="Rectangle 35"/>
          <p:cNvSpPr/>
          <p:nvPr/>
        </p:nvSpPr>
        <p:spPr>
          <a:xfrm>
            <a:off x="594360" y="4663440"/>
            <a:ext cx="2462707"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4754880"/>
            <a:ext cx="2462707" cy="228600"/>
          </a:xfrm>
          <a:prstGeom prst="rect">
            <a:avLst/>
          </a:prstGeom>
          <a:noFill/>
        </p:spPr>
        <p:txBody>
          <a:bodyPr wrap="square" lIns="45720" rIns="45720" tIns="18288" bIns="18288" anchor="t">
            <a:spAutoFit/>
          </a:bodyPr>
          <a:lstStyle/>
          <a:p>
            <a:pPr algn="l"/>
            <a:r>
              <a:rPr sz="800" b="1" i="0">
                <a:solidFill>
                  <a:srgbClr val="6785C1"/>
                </a:solidFill>
                <a:latin typeface="Arial"/>
              </a:rPr>
              <a:t>EXAMPLE APPLICATIONS</a:t>
            </a:r>
          </a:p>
        </p:txBody>
      </p:sp>
      <p:sp>
        <p:nvSpPr>
          <p:cNvPr id="38" name="TextBox 37"/>
          <p:cNvSpPr txBox="1"/>
          <p:nvPr/>
        </p:nvSpPr>
        <p:spPr>
          <a:xfrm>
            <a:off x="594360" y="4983480"/>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ArcFM · ProjectWise · Bentley · CYME</a:t>
            </a:r>
          </a:p>
        </p:txBody>
      </p:sp>
      <p:sp>
        <p:nvSpPr>
          <p:cNvPr id="39" name="Rounded Rectangle 38"/>
          <p:cNvSpPr/>
          <p:nvPr/>
        </p:nvSpPr>
        <p:spPr>
          <a:xfrm>
            <a:off x="3303955" y="3300984"/>
            <a:ext cx="2737027" cy="2231136"/>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303955" y="3300984"/>
            <a:ext cx="2737027"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95395" y="3374136"/>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Network Operations &amp; Control</a:t>
            </a:r>
          </a:p>
        </p:txBody>
      </p:sp>
      <p:sp>
        <p:nvSpPr>
          <p:cNvPr id="42" name="TextBox 41"/>
          <p:cNvSpPr txBox="1"/>
          <p:nvPr/>
        </p:nvSpPr>
        <p:spPr>
          <a:xfrm>
            <a:off x="3441115" y="4078224"/>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Grid operator prevents and minimizes outages</a:t>
            </a:r>
          </a:p>
        </p:txBody>
      </p:sp>
      <p:sp>
        <p:nvSpPr>
          <p:cNvPr id="43" name="Rectangle 42"/>
          <p:cNvSpPr/>
          <p:nvPr/>
        </p:nvSpPr>
        <p:spPr>
          <a:xfrm>
            <a:off x="3441115" y="4663440"/>
            <a:ext cx="2462707"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41115" y="4754880"/>
            <a:ext cx="2462707" cy="228600"/>
          </a:xfrm>
          <a:prstGeom prst="rect">
            <a:avLst/>
          </a:prstGeom>
          <a:noFill/>
        </p:spPr>
        <p:txBody>
          <a:bodyPr wrap="square" lIns="45720" rIns="45720" tIns="18288" bIns="18288" anchor="t">
            <a:spAutoFit/>
          </a:bodyPr>
          <a:lstStyle/>
          <a:p>
            <a:pPr algn="l"/>
            <a:r>
              <a:rPr sz="800" b="1" i="0">
                <a:solidFill>
                  <a:srgbClr val="6785C1"/>
                </a:solidFill>
                <a:latin typeface="Arial"/>
              </a:rPr>
              <a:t>EXAMPLE APPLICATIONS</a:t>
            </a:r>
          </a:p>
        </p:txBody>
      </p:sp>
      <p:sp>
        <p:nvSpPr>
          <p:cNvPr id="45" name="TextBox 44"/>
          <p:cNvSpPr txBox="1"/>
          <p:nvPr/>
        </p:nvSpPr>
        <p:spPr>
          <a:xfrm>
            <a:off x="3441115" y="4983480"/>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Echelon · Cimplicity · SLAM · Switching Orders</a:t>
            </a:r>
          </a:p>
        </p:txBody>
      </p:sp>
      <p:sp>
        <p:nvSpPr>
          <p:cNvPr id="46" name="Rounded Rectangle 45"/>
          <p:cNvSpPr/>
          <p:nvPr/>
        </p:nvSpPr>
        <p:spPr>
          <a:xfrm>
            <a:off x="6150711" y="3300984"/>
            <a:ext cx="2737027" cy="2231136"/>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50711" y="3300984"/>
            <a:ext cx="2737027"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42151" y="3374136"/>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Corporate &amp; Regulatory</a:t>
            </a:r>
          </a:p>
        </p:txBody>
      </p:sp>
      <p:sp>
        <p:nvSpPr>
          <p:cNvPr id="49" name="TextBox 48"/>
          <p:cNvSpPr txBox="1"/>
          <p:nvPr/>
        </p:nvSpPr>
        <p:spPr>
          <a:xfrm>
            <a:off x="6287871" y="4078224"/>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HR / employee / regulatory user self-service</a:t>
            </a:r>
          </a:p>
        </p:txBody>
      </p:sp>
      <p:sp>
        <p:nvSpPr>
          <p:cNvPr id="50" name="Rectangle 49"/>
          <p:cNvSpPr/>
          <p:nvPr/>
        </p:nvSpPr>
        <p:spPr>
          <a:xfrm>
            <a:off x="6287871" y="4663440"/>
            <a:ext cx="2462707"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87871" y="4754880"/>
            <a:ext cx="2462707" cy="228600"/>
          </a:xfrm>
          <a:prstGeom prst="rect">
            <a:avLst/>
          </a:prstGeom>
          <a:noFill/>
        </p:spPr>
        <p:txBody>
          <a:bodyPr wrap="square" lIns="45720" rIns="45720" tIns="18288" bIns="18288" anchor="t">
            <a:spAutoFit/>
          </a:bodyPr>
          <a:lstStyle/>
          <a:p>
            <a:pPr algn="l"/>
            <a:r>
              <a:rPr sz="800" b="1" i="0">
                <a:solidFill>
                  <a:srgbClr val="6785C1"/>
                </a:solidFill>
                <a:latin typeface="Arial"/>
              </a:rPr>
              <a:t>EXAMPLE APPLICATIONS</a:t>
            </a:r>
          </a:p>
        </p:txBody>
      </p:sp>
      <p:sp>
        <p:nvSpPr>
          <p:cNvPr id="52" name="TextBox 51"/>
          <p:cNvSpPr txBox="1"/>
          <p:nvPr/>
        </p:nvSpPr>
        <p:spPr>
          <a:xfrm>
            <a:off x="6287871" y="4983480"/>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OpenText · Rate Case Advisor · Utilisphere</a:t>
            </a:r>
          </a:p>
        </p:txBody>
      </p:sp>
      <p:sp>
        <p:nvSpPr>
          <p:cNvPr id="53" name="Rounded Rectangle 52"/>
          <p:cNvSpPr/>
          <p:nvPr/>
        </p:nvSpPr>
        <p:spPr>
          <a:xfrm>
            <a:off x="8997467" y="3300984"/>
            <a:ext cx="2737027" cy="2231136"/>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997467" y="3300984"/>
            <a:ext cx="2737027"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88907" y="3374136"/>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Iberdrola Corporate Services</a:t>
            </a:r>
          </a:p>
        </p:txBody>
      </p:sp>
      <p:sp>
        <p:nvSpPr>
          <p:cNvPr id="56" name="TextBox 55"/>
          <p:cNvSpPr txBox="1"/>
          <p:nvPr/>
        </p:nvSpPr>
        <p:spPr>
          <a:xfrm>
            <a:off x="9134627" y="4078224"/>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Spain finance / procurement / budget</a:t>
            </a:r>
          </a:p>
        </p:txBody>
      </p:sp>
      <p:sp>
        <p:nvSpPr>
          <p:cNvPr id="57" name="Rectangle 56"/>
          <p:cNvSpPr/>
          <p:nvPr/>
        </p:nvSpPr>
        <p:spPr>
          <a:xfrm>
            <a:off x="9134627" y="4663440"/>
            <a:ext cx="2462707"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34627" y="4754880"/>
            <a:ext cx="2462707" cy="228600"/>
          </a:xfrm>
          <a:prstGeom prst="rect">
            <a:avLst/>
          </a:prstGeom>
          <a:noFill/>
        </p:spPr>
        <p:txBody>
          <a:bodyPr wrap="square" lIns="45720" rIns="45720" tIns="18288" bIns="18288" anchor="t">
            <a:spAutoFit/>
          </a:bodyPr>
          <a:lstStyle/>
          <a:p>
            <a:pPr algn="l"/>
            <a:r>
              <a:rPr sz="800" b="1" i="0">
                <a:solidFill>
                  <a:srgbClr val="6785C1"/>
                </a:solidFill>
                <a:latin typeface="Arial"/>
              </a:rPr>
              <a:t>EXAMPLE APPLICATIONS</a:t>
            </a:r>
          </a:p>
        </p:txBody>
      </p:sp>
      <p:sp>
        <p:nvSpPr>
          <p:cNvPr id="59" name="TextBox 58"/>
          <p:cNvSpPr txBox="1"/>
          <p:nvPr/>
        </p:nvSpPr>
        <p:spPr>
          <a:xfrm>
            <a:off x="9134627" y="4983480"/>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SAP FI · PO · Budget · S/4HANA</a:t>
            </a:r>
          </a:p>
        </p:txBody>
      </p:sp>
      <p:sp>
        <p:nvSpPr>
          <p:cNvPr id="60" name="Rectangle 59"/>
          <p:cNvSpPr/>
          <p:nvPr/>
        </p:nvSpPr>
        <p:spPr>
          <a:xfrm>
            <a:off x="457200" y="5760720"/>
            <a:ext cx="274320" cy="27432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2960" y="5760720"/>
            <a:ext cx="4114800" cy="274320"/>
          </a:xfrm>
          <a:prstGeom prst="rect">
            <a:avLst/>
          </a:prstGeom>
          <a:noFill/>
        </p:spPr>
        <p:txBody>
          <a:bodyPr wrap="square" lIns="45720" rIns="45720" tIns="18288" bIns="18288" anchor="ctr">
            <a:spAutoFit/>
          </a:bodyPr>
          <a:lstStyle/>
          <a:p>
            <a:pPr algn="l"/>
            <a:r>
              <a:rPr sz="1100" b="0" i="0">
                <a:solidFill>
                  <a:srgbClr val="2C3E50"/>
                </a:solidFill>
                <a:latin typeface="Arial"/>
              </a:rPr>
              <a:t>Customer Services Applications</a:t>
            </a:r>
          </a:p>
        </p:txBody>
      </p:sp>
      <p:sp>
        <p:nvSpPr>
          <p:cNvPr id="62" name="Rectangle 61"/>
          <p:cNvSpPr/>
          <p:nvPr/>
        </p:nvSpPr>
        <p:spPr>
          <a:xfrm>
            <a:off x="5029200" y="5760720"/>
            <a:ext cx="274320" cy="2743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394960" y="5760720"/>
            <a:ext cx="4114800" cy="274320"/>
          </a:xfrm>
          <a:prstGeom prst="rect">
            <a:avLst/>
          </a:prstGeom>
          <a:noFill/>
        </p:spPr>
        <p:txBody>
          <a:bodyPr wrap="square" lIns="45720" rIns="45720" tIns="18288" bIns="18288" anchor="ctr">
            <a:spAutoFit/>
          </a:bodyPr>
          <a:lstStyle/>
          <a:p>
            <a:pPr algn="l"/>
            <a:r>
              <a:rPr sz="1100" b="0" i="0">
                <a:solidFill>
                  <a:srgbClr val="2C3E50"/>
                </a:solidFill>
                <a:latin typeface="Arial"/>
              </a:rPr>
              <a:t>IT Business Applications</a:t>
            </a:r>
          </a:p>
        </p:txBody>
      </p:sp>
      <p:sp>
        <p:nvSpPr>
          <p:cNvPr id="64" name="TextBox 6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Stage 01 — Demand Management · five framework dimensions</a:t>
            </a:r>
          </a:p>
        </p:txBody>
      </p:sp>
      <p:sp>
        <p:nvSpPr>
          <p:cNvPr id="4" name="Rounded Rectangle 3"/>
          <p:cNvSpPr/>
          <p:nvPr/>
        </p:nvSpPr>
        <p:spPr>
          <a:xfrm>
            <a:off x="457200" y="1188720"/>
            <a:ext cx="2145731" cy="4663440"/>
          </a:xfrm>
          <a:prstGeom prst="roundRect">
            <a:avLst>
              <a:gd name="adj" fmla="val 4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2145731"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CAPABILITIES</a:t>
            </a:r>
          </a:p>
        </p:txBody>
      </p:sp>
      <p:sp>
        <p:nvSpPr>
          <p:cNvPr id="7" name="TextBox 6"/>
          <p:cNvSpPr txBox="1"/>
          <p:nvPr/>
        </p:nvSpPr>
        <p:spPr>
          <a:xfrm>
            <a:off x="457200"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14 items</a:t>
            </a:r>
          </a:p>
        </p:txBody>
      </p:sp>
      <p:sp>
        <p:nvSpPr>
          <p:cNvPr id="8" name="TextBox 7"/>
          <p:cNvSpPr txBox="1"/>
          <p:nvPr/>
        </p:nvSpPr>
        <p:spPr>
          <a:xfrm>
            <a:off x="640080"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What the organization must be able to do</a:t>
            </a:r>
          </a:p>
          <a:p>
            <a:pPr>
              <a:lnSpc>
                <a:spcPct val="140000"/>
              </a:lnSpc>
            </a:pPr>
          </a:p>
          <a:p>
            <a:pPr>
              <a:lnSpc>
                <a:spcPct val="140000"/>
              </a:lnSpc>
            </a:pPr>
            <a:r>
              <a:rPr sz="1100" b="0">
                <a:solidFill>
                  <a:srgbClr val="2C3E50"/>
                </a:solidFill>
                <a:latin typeface="Arial"/>
              </a:rPr>
              <a:t>Intake · classification · scoring · triage · routing · visibility · de-duplication</a:t>
            </a:r>
          </a:p>
        </p:txBody>
      </p:sp>
      <p:sp>
        <p:nvSpPr>
          <p:cNvPr id="9" name="Rounded Rectangle 8"/>
          <p:cNvSpPr/>
          <p:nvPr/>
        </p:nvSpPr>
        <p:spPr>
          <a:xfrm>
            <a:off x="2740091" y="1188720"/>
            <a:ext cx="2145731" cy="4663440"/>
          </a:xfrm>
          <a:prstGeom prst="roundRect">
            <a:avLst>
              <a:gd name="adj" fmla="val 4000"/>
            </a:avLst>
          </a:prstGeom>
          <a:solidFill>
            <a:srgbClr val="FFFFFF"/>
          </a:solidFill>
          <a:ln w="2540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0091" y="1188720"/>
            <a:ext cx="2145731" cy="6400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0091"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ROLES</a:t>
            </a:r>
          </a:p>
        </p:txBody>
      </p:sp>
      <p:sp>
        <p:nvSpPr>
          <p:cNvPr id="12" name="TextBox 11"/>
          <p:cNvSpPr txBox="1"/>
          <p:nvPr/>
        </p:nvSpPr>
        <p:spPr>
          <a:xfrm>
            <a:off x="2740091"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4 items</a:t>
            </a:r>
          </a:p>
        </p:txBody>
      </p:sp>
      <p:sp>
        <p:nvSpPr>
          <p:cNvPr id="13" name="TextBox 12"/>
          <p:cNvSpPr txBox="1"/>
          <p:nvPr/>
        </p:nvSpPr>
        <p:spPr>
          <a:xfrm>
            <a:off x="2922971"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Who owns and operates the framework</a:t>
            </a:r>
          </a:p>
          <a:p>
            <a:pPr>
              <a:lnSpc>
                <a:spcPct val="140000"/>
              </a:lnSpc>
            </a:pPr>
          </a:p>
          <a:p>
            <a:pPr>
              <a:lnSpc>
                <a:spcPct val="140000"/>
              </a:lnSpc>
            </a:pPr>
            <a:r>
              <a:rPr sz="1100" b="0">
                <a:solidFill>
                  <a:srgbClr val="2C3E50"/>
                </a:solidFill>
                <a:latin typeface="Arial"/>
              </a:rPr>
              <a:t>Requestors · Product/Demand Managers · Architects · Triage Committee</a:t>
            </a:r>
          </a:p>
        </p:txBody>
      </p:sp>
      <p:sp>
        <p:nvSpPr>
          <p:cNvPr id="14" name="Rounded Rectangle 13"/>
          <p:cNvSpPr/>
          <p:nvPr/>
        </p:nvSpPr>
        <p:spPr>
          <a:xfrm>
            <a:off x="5022982" y="1188720"/>
            <a:ext cx="2145731" cy="4663440"/>
          </a:xfrm>
          <a:prstGeom prst="roundRect">
            <a:avLst>
              <a:gd name="adj" fmla="val 4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2982" y="1188720"/>
            <a:ext cx="2145731" cy="6400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2982"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TOOLS</a:t>
            </a:r>
          </a:p>
        </p:txBody>
      </p:sp>
      <p:sp>
        <p:nvSpPr>
          <p:cNvPr id="17" name="TextBox 16"/>
          <p:cNvSpPr txBox="1"/>
          <p:nvPr/>
        </p:nvSpPr>
        <p:spPr>
          <a:xfrm>
            <a:off x="5022982"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5 items</a:t>
            </a:r>
          </a:p>
        </p:txBody>
      </p:sp>
      <p:sp>
        <p:nvSpPr>
          <p:cNvPr id="18" name="TextBox 17"/>
          <p:cNvSpPr txBox="1"/>
          <p:nvPr/>
        </p:nvSpPr>
        <p:spPr>
          <a:xfrm>
            <a:off x="5205862"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Systems and platforms used</a:t>
            </a:r>
          </a:p>
          <a:p>
            <a:pPr>
              <a:lnSpc>
                <a:spcPct val="140000"/>
              </a:lnSpc>
            </a:pPr>
          </a:p>
          <a:p>
            <a:pPr>
              <a:lnSpc>
                <a:spcPct val="140000"/>
              </a:lnSpc>
            </a:pPr>
            <a:r>
              <a:rPr sz="1100" b="0">
                <a:solidFill>
                  <a:srgbClr val="2C3E50"/>
                </a:solidFill>
                <a:latin typeface="Arial"/>
              </a:rPr>
              <a:t>Capture · tracking · communication · documentation · reporting</a:t>
            </a:r>
          </a:p>
        </p:txBody>
      </p:sp>
      <p:sp>
        <p:nvSpPr>
          <p:cNvPr id="19" name="Rounded Rectangle 18"/>
          <p:cNvSpPr/>
          <p:nvPr/>
        </p:nvSpPr>
        <p:spPr>
          <a:xfrm>
            <a:off x="7305873" y="1188720"/>
            <a:ext cx="2145731" cy="4663440"/>
          </a:xfrm>
          <a:prstGeom prst="roundRect">
            <a:avLst>
              <a:gd name="adj" fmla="val 4000"/>
            </a:avLst>
          </a:prstGeom>
          <a:solidFill>
            <a:srgbClr val="FFFFFF"/>
          </a:solidFill>
          <a:ln w="25400">
            <a:solidFill>
              <a:srgbClr val="2C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05873" y="1188720"/>
            <a:ext cx="2145731" cy="640080"/>
          </a:xfrm>
          <a:prstGeom prst="rect">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05873"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GOVERNANCE</a:t>
            </a:r>
          </a:p>
        </p:txBody>
      </p:sp>
      <p:sp>
        <p:nvSpPr>
          <p:cNvPr id="22" name="TextBox 21"/>
          <p:cNvSpPr txBox="1"/>
          <p:nvPr/>
        </p:nvSpPr>
        <p:spPr>
          <a:xfrm>
            <a:off x="7305873"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6 items</a:t>
            </a:r>
          </a:p>
        </p:txBody>
      </p:sp>
      <p:sp>
        <p:nvSpPr>
          <p:cNvPr id="23" name="TextBox 22"/>
          <p:cNvSpPr txBox="1"/>
          <p:nvPr/>
        </p:nvSpPr>
        <p:spPr>
          <a:xfrm>
            <a:off x="7488753"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Decisions, forums, controls</a:t>
            </a:r>
          </a:p>
          <a:p>
            <a:pPr>
              <a:lnSpc>
                <a:spcPct val="140000"/>
              </a:lnSpc>
            </a:pPr>
          </a:p>
          <a:p>
            <a:pPr>
              <a:lnSpc>
                <a:spcPct val="140000"/>
              </a:lnSpc>
            </a:pPr>
            <a:r>
              <a:rPr sz="1100" b="0">
                <a:solidFill>
                  <a:srgbClr val="2C3E50"/>
                </a:solidFill>
                <a:latin typeface="Arial"/>
              </a:rPr>
              <a:t>Forums · decision practices · escalation · guidelines · alignment · oversight</a:t>
            </a:r>
          </a:p>
        </p:txBody>
      </p:sp>
      <p:sp>
        <p:nvSpPr>
          <p:cNvPr id="24" name="Rounded Rectangle 23"/>
          <p:cNvSpPr/>
          <p:nvPr/>
        </p:nvSpPr>
        <p:spPr>
          <a:xfrm>
            <a:off x="9588764" y="1188720"/>
            <a:ext cx="2145731" cy="4663440"/>
          </a:xfrm>
          <a:prstGeom prst="roundRect">
            <a:avLst>
              <a:gd name="adj" fmla="val 4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88764" y="1188720"/>
            <a:ext cx="2145731" cy="6400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88764"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PERFORMANCE</a:t>
            </a:r>
          </a:p>
        </p:txBody>
      </p:sp>
      <p:sp>
        <p:nvSpPr>
          <p:cNvPr id="27" name="TextBox 26"/>
          <p:cNvSpPr txBox="1"/>
          <p:nvPr/>
        </p:nvSpPr>
        <p:spPr>
          <a:xfrm>
            <a:off x="9588764"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7 items</a:t>
            </a:r>
          </a:p>
        </p:txBody>
      </p:sp>
      <p:sp>
        <p:nvSpPr>
          <p:cNvPr id="28" name="TextBox 27"/>
          <p:cNvSpPr txBox="1"/>
          <p:nvPr/>
        </p:nvSpPr>
        <p:spPr>
          <a:xfrm>
            <a:off x="9771644"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How success is measured</a:t>
            </a:r>
          </a:p>
          <a:p>
            <a:pPr>
              <a:lnSpc>
                <a:spcPct val="140000"/>
              </a:lnSpc>
            </a:pPr>
          </a:p>
          <a:p>
            <a:pPr>
              <a:lnSpc>
                <a:spcPct val="140000"/>
              </a:lnSpc>
            </a:pPr>
            <a:r>
              <a:rPr sz="1100" b="0">
                <a:solidFill>
                  <a:srgbClr val="2C3E50"/>
                </a:solidFill>
                <a:latin typeface="Arial"/>
              </a:rPr>
              <a:t>Volume · quality · lead time · channel mix · urgency · duplication · visibility</a:t>
            </a:r>
          </a:p>
        </p:txBody>
      </p:sp>
      <p:sp>
        <p:nvSpPr>
          <p:cNvPr id="29" name="TextBox 28"/>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Capabilities · what the organization must be able to do</a:t>
            </a:r>
          </a:p>
        </p:txBody>
      </p:sp>
      <p:sp>
        <p:nvSpPr>
          <p:cNvPr id="4" name="Rounded Rectangle 3"/>
          <p:cNvSpPr/>
          <p:nvPr/>
        </p:nvSpPr>
        <p:spPr>
          <a:xfrm>
            <a:off x="457200" y="914400"/>
            <a:ext cx="3200400" cy="457200"/>
          </a:xfrm>
          <a:prstGeom prst="roundRect">
            <a:avLst>
              <a:gd name="adj" fmla="val 20000"/>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CAPABILITIES  ·  14 items</a:t>
            </a:r>
          </a:p>
        </p:txBody>
      </p:sp>
      <p:sp>
        <p:nvSpPr>
          <p:cNvPr id="6" name="Rounded Rectangle 5"/>
          <p:cNvSpPr/>
          <p:nvPr/>
        </p:nvSpPr>
        <p:spPr>
          <a:xfrm>
            <a:off x="457200" y="155448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intake channels</a:t>
            </a:r>
          </a:p>
        </p:txBody>
      </p:sp>
      <p:sp>
        <p:nvSpPr>
          <p:cNvPr id="9" name="TextBox 8"/>
          <p:cNvSpPr txBox="1"/>
          <p:nvPr/>
        </p:nvSpPr>
        <p:spPr>
          <a:xfrm>
            <a:off x="594360"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Jira intake forms — separate for Large, Medium, Small demand. IT Now reserved for incidents only. Email · Teams · Word · OneNote decommissioned.</a:t>
            </a:r>
          </a:p>
        </p:txBody>
      </p:sp>
      <p:sp>
        <p:nvSpPr>
          <p:cNvPr id="10" name="Rounded Rectangle 9"/>
          <p:cNvSpPr/>
          <p:nvPr/>
        </p:nvSpPr>
        <p:spPr>
          <a:xfrm>
            <a:off x="2730947" y="155448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30947" y="155448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22387"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registration &amp; logging</a:t>
            </a:r>
          </a:p>
        </p:txBody>
      </p:sp>
      <p:sp>
        <p:nvSpPr>
          <p:cNvPr id="13" name="TextBox 12"/>
          <p:cNvSpPr txBox="1"/>
          <p:nvPr/>
        </p:nvSpPr>
        <p:spPr>
          <a:xfrm>
            <a:off x="2868107"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Auto-created backlog item from intake form. Immutable audit fields: requester, business unit, team, date. Every state change logged.</a:t>
            </a:r>
          </a:p>
        </p:txBody>
      </p:sp>
      <p:sp>
        <p:nvSpPr>
          <p:cNvPr id="14" name="Rounded Rectangle 13"/>
          <p:cNvSpPr/>
          <p:nvPr/>
        </p:nvSpPr>
        <p:spPr>
          <a:xfrm>
            <a:off x="5004694" y="155448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04694" y="155448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96134"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Channel consolidation</a:t>
            </a:r>
          </a:p>
        </p:txBody>
      </p:sp>
      <p:sp>
        <p:nvSpPr>
          <p:cNvPr id="17" name="TextBox 16"/>
          <p:cNvSpPr txBox="1"/>
          <p:nvPr/>
        </p:nvSpPr>
        <p:spPr>
          <a:xfrm>
            <a:off x="5141854"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One adaptive intake form per team. Target: 90% of demand via single channel by month 6. No alternative formal channels accepted.</a:t>
            </a:r>
          </a:p>
        </p:txBody>
      </p:sp>
      <p:sp>
        <p:nvSpPr>
          <p:cNvPr id="18" name="Rounded Rectangle 17"/>
          <p:cNvSpPr/>
          <p:nvPr/>
        </p:nvSpPr>
        <p:spPr>
          <a:xfrm>
            <a:off x="7278441" y="155448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78441" y="155448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9881"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Standard intake formats</a:t>
            </a:r>
          </a:p>
        </p:txBody>
      </p:sp>
      <p:sp>
        <p:nvSpPr>
          <p:cNvPr id="21" name="TextBox 20"/>
          <p:cNvSpPr txBox="1"/>
          <p:nvPr/>
        </p:nvSpPr>
        <p:spPr>
          <a:xfrm>
            <a:off x="7415601"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Canonical template with mandatory Definition of Ready fields: title, business value, acceptance criteria, class of service, due date, sponsor.</a:t>
            </a:r>
          </a:p>
        </p:txBody>
      </p:sp>
      <p:sp>
        <p:nvSpPr>
          <p:cNvPr id="22" name="Rounded Rectangle 21"/>
          <p:cNvSpPr/>
          <p:nvPr/>
        </p:nvSpPr>
        <p:spPr>
          <a:xfrm>
            <a:off x="9552188" y="155448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52188" y="155448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43628"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classification</a:t>
            </a:r>
          </a:p>
        </p:txBody>
      </p:sp>
      <p:sp>
        <p:nvSpPr>
          <p:cNvPr id="25" name="TextBox 24"/>
          <p:cNvSpPr txBox="1"/>
          <p:nvPr/>
        </p:nvSpPr>
        <p:spPr>
          <a:xfrm>
            <a:off x="9689348"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Three independent axes: type, size, urgency. Closed taxonomy. Classification done at intake gate, not self-declared.</a:t>
            </a:r>
          </a:p>
        </p:txBody>
      </p:sp>
      <p:sp>
        <p:nvSpPr>
          <p:cNvPr id="26" name="Rounded Rectangle 25"/>
          <p:cNvSpPr/>
          <p:nvPr/>
        </p:nvSpPr>
        <p:spPr>
          <a:xfrm>
            <a:off x="457200" y="313944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313944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Run · Change · Regulatory · Innovation</a:t>
            </a:r>
          </a:p>
        </p:txBody>
      </p:sp>
      <p:sp>
        <p:nvSpPr>
          <p:cNvPr id="29" name="TextBox 28"/>
          <p:cNvSpPr txBox="1"/>
          <p:nvPr/>
        </p:nvSpPr>
        <p:spPr>
          <a:xfrm>
            <a:off x="594360"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Four Classes of Service with capacity caps. Replaces ad-hoc 'urgent override' culture with explicit policy.</a:t>
            </a:r>
          </a:p>
        </p:txBody>
      </p:sp>
      <p:sp>
        <p:nvSpPr>
          <p:cNvPr id="30" name="Rounded Rectangle 29"/>
          <p:cNvSpPr/>
          <p:nvPr/>
        </p:nvSpPr>
        <p:spPr>
          <a:xfrm>
            <a:off x="2730947" y="313944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730947" y="313944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22387"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Business value definition</a:t>
            </a:r>
          </a:p>
        </p:txBody>
      </p:sp>
      <p:sp>
        <p:nvSpPr>
          <p:cNvPr id="33" name="TextBox 32"/>
          <p:cNvSpPr txBox="1"/>
          <p:nvPr/>
        </p:nvSpPr>
        <p:spPr>
          <a:xfrm>
            <a:off x="2868107"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Weighted scoring formula combining business value, user experience, safety, and effort. Sponsor signs off the score at intake.</a:t>
            </a:r>
          </a:p>
        </p:txBody>
      </p:sp>
      <p:sp>
        <p:nvSpPr>
          <p:cNvPr id="34" name="Rounded Rectangle 33"/>
          <p:cNvSpPr/>
          <p:nvPr/>
        </p:nvSpPr>
        <p:spPr>
          <a:xfrm>
            <a:off x="5004694" y="313944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04694" y="313944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96134"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Acceptance criteria</a:t>
            </a:r>
          </a:p>
        </p:txBody>
      </p:sp>
      <p:sp>
        <p:nvSpPr>
          <p:cNvPr id="37" name="TextBox 36"/>
          <p:cNvSpPr txBox="1"/>
          <p:nvPr/>
        </p:nvSpPr>
        <p:spPr>
          <a:xfrm>
            <a:off x="5141854"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Mandatory in Definition of Ready. Format: Given/When/Then or measurable outcome. Reviewed before scoring. Immutable post-prioritization.</a:t>
            </a:r>
          </a:p>
        </p:txBody>
      </p:sp>
      <p:sp>
        <p:nvSpPr>
          <p:cNvPr id="38" name="Rounded Rectangle 37"/>
          <p:cNvSpPr/>
          <p:nvPr/>
        </p:nvSpPr>
        <p:spPr>
          <a:xfrm>
            <a:off x="7278441" y="313944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278441" y="313944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69881"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Technical feasibility input</a:t>
            </a:r>
          </a:p>
        </p:txBody>
      </p:sp>
      <p:sp>
        <p:nvSpPr>
          <p:cNvPr id="41" name="TextBox 40"/>
          <p:cNvSpPr txBox="1"/>
          <p:nvPr/>
        </p:nvSpPr>
        <p:spPr>
          <a:xfrm>
            <a:off x="7415601"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Lightweight check at intake gate by rotating architect. Time-boxed (2 hours max). Output: Feasible / Conditional / Not feasible.</a:t>
            </a:r>
          </a:p>
        </p:txBody>
      </p:sp>
      <p:sp>
        <p:nvSpPr>
          <p:cNvPr id="42" name="Rounded Rectangle 41"/>
          <p:cNvSpPr/>
          <p:nvPr/>
        </p:nvSpPr>
        <p:spPr>
          <a:xfrm>
            <a:off x="9552188" y="313944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552188" y="313944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43628"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Triage &amp; validation</a:t>
            </a:r>
          </a:p>
        </p:txBody>
      </p:sp>
      <p:sp>
        <p:nvSpPr>
          <p:cNvPr id="45" name="TextBox 44"/>
          <p:cNvSpPr txBox="1"/>
          <p:nvPr/>
        </p:nvSpPr>
        <p:spPr>
          <a:xfrm>
            <a:off x="9689348"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Weekly 30-minute triage committee. Outcomes: Accept · Send-back · Reject. Five-business-day SLA.</a:t>
            </a:r>
          </a:p>
        </p:txBody>
      </p:sp>
      <p:sp>
        <p:nvSpPr>
          <p:cNvPr id="46" name="Rounded Rectangle 45"/>
          <p:cNvSpPr/>
          <p:nvPr/>
        </p:nvSpPr>
        <p:spPr>
          <a:xfrm>
            <a:off x="457200" y="472440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7200" y="472440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475183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routing &amp; assignment</a:t>
            </a:r>
          </a:p>
        </p:txBody>
      </p:sp>
      <p:sp>
        <p:nvSpPr>
          <p:cNvPr id="49" name="TextBox 48"/>
          <p:cNvSpPr txBox="1"/>
          <p:nvPr/>
        </p:nvSpPr>
        <p:spPr>
          <a:xfrm>
            <a:off x="594360" y="522732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Routing by Value Stream, not by team or person. Auto-routing based on requester selection. Cross-stream items go to Architecture review.</a:t>
            </a:r>
          </a:p>
        </p:txBody>
      </p:sp>
      <p:sp>
        <p:nvSpPr>
          <p:cNvPr id="50" name="Rounded Rectangle 49"/>
          <p:cNvSpPr/>
          <p:nvPr/>
        </p:nvSpPr>
        <p:spPr>
          <a:xfrm>
            <a:off x="2730947" y="472440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30947" y="472440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22387" y="475183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Urgent or exception requests</a:t>
            </a:r>
          </a:p>
        </p:txBody>
      </p:sp>
      <p:sp>
        <p:nvSpPr>
          <p:cNvPr id="53" name="TextBox 52"/>
          <p:cNvSpPr txBox="1"/>
          <p:nvPr/>
        </p:nvSpPr>
        <p:spPr>
          <a:xfrm>
            <a:off x="2868107" y="522732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Expedite Class of Service capped at 20% of throughput. Real-time incidents bypass intake (Service Desk SLA).</a:t>
            </a:r>
          </a:p>
        </p:txBody>
      </p:sp>
      <p:sp>
        <p:nvSpPr>
          <p:cNvPr id="54" name="Rounded Rectangle 53"/>
          <p:cNvSpPr/>
          <p:nvPr/>
        </p:nvSpPr>
        <p:spPr>
          <a:xfrm>
            <a:off x="5004694" y="472440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04694" y="472440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96134" y="475183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visibility &amp; tracking</a:t>
            </a:r>
          </a:p>
        </p:txBody>
      </p:sp>
      <p:sp>
        <p:nvSpPr>
          <p:cNvPr id="57" name="TextBox 56"/>
          <p:cNvSpPr txBox="1"/>
          <p:nvPr/>
        </p:nvSpPr>
        <p:spPr>
          <a:xfrm>
            <a:off x="5141854" y="522732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Single dashboard, public read-only. Views: inflow funnel · backlog by team · class-of-service mix · aging · top priorities.</a:t>
            </a:r>
          </a:p>
        </p:txBody>
      </p:sp>
      <p:sp>
        <p:nvSpPr>
          <p:cNvPr id="58" name="Rounded Rectangle 57"/>
          <p:cNvSpPr/>
          <p:nvPr/>
        </p:nvSpPr>
        <p:spPr>
          <a:xfrm>
            <a:off x="7278441" y="472440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78441" y="472440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69881" y="475183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Duplicate &amp; overlap identification</a:t>
            </a:r>
          </a:p>
        </p:txBody>
      </p:sp>
      <p:sp>
        <p:nvSpPr>
          <p:cNvPr id="61" name="TextBox 60"/>
          <p:cNvSpPr txBox="1"/>
          <p:nvPr/>
        </p:nvSpPr>
        <p:spPr>
          <a:xfrm>
            <a:off x="7415601" y="522732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Similarity search at submit (top-3 matches surfaced). Weekly de-dup query. Overlaps escalated to Portfolio Committee.</a:t>
            </a:r>
          </a:p>
        </p:txBody>
      </p:sp>
      <p:sp>
        <p:nvSpPr>
          <p:cNvPr id="62" name="TextBox 61"/>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Roles · who owns and operates the framework</a:t>
            </a:r>
          </a:p>
        </p:txBody>
      </p:sp>
      <p:sp>
        <p:nvSpPr>
          <p:cNvPr id="4" name="Rounded Rectangle 3"/>
          <p:cNvSpPr/>
          <p:nvPr/>
        </p:nvSpPr>
        <p:spPr>
          <a:xfrm>
            <a:off x="457200" y="914400"/>
            <a:ext cx="3200400" cy="457200"/>
          </a:xfrm>
          <a:prstGeom prst="roundRect">
            <a:avLst>
              <a:gd name="adj" fmla="val 20000"/>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ROLES  ·  4 items</a:t>
            </a:r>
          </a:p>
        </p:txBody>
      </p:sp>
      <p:sp>
        <p:nvSpPr>
          <p:cNvPr id="6" name="Rounded Rectangle 5"/>
          <p:cNvSpPr/>
          <p:nvPr/>
        </p:nvSpPr>
        <p:spPr>
          <a:xfrm>
            <a:off x="457200" y="1554480"/>
            <a:ext cx="5592927" cy="2286000"/>
          </a:xfrm>
          <a:prstGeom prst="roundRect">
            <a:avLst>
              <a:gd name="adj" fmla="val 5000"/>
            </a:avLst>
          </a:prstGeom>
          <a:solidFill>
            <a:srgbClr val="FFFFFF"/>
          </a:solidFill>
          <a:ln w="1905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5592927" cy="4114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81912"/>
            <a:ext cx="5410047" cy="365760"/>
          </a:xfrm>
          <a:prstGeom prst="rect">
            <a:avLst/>
          </a:prstGeom>
          <a:noFill/>
        </p:spPr>
        <p:txBody>
          <a:bodyPr wrap="square" lIns="45720" rIns="45720" tIns="18288" bIns="18288" anchor="ctr">
            <a:spAutoFit/>
          </a:bodyPr>
          <a:lstStyle/>
          <a:p>
            <a:pPr algn="l"/>
            <a:r>
              <a:rPr sz="1050" b="1" i="0">
                <a:solidFill>
                  <a:srgbClr val="FFFFFF"/>
                </a:solidFill>
                <a:latin typeface="Arial"/>
              </a:rPr>
              <a:t>Business requestors &amp; stakeholders</a:t>
            </a:r>
          </a:p>
        </p:txBody>
      </p:sp>
      <p:sp>
        <p:nvSpPr>
          <p:cNvPr id="9" name="TextBox 8"/>
          <p:cNvSpPr txBox="1"/>
          <p:nvPr/>
        </p:nvSpPr>
        <p:spPr>
          <a:xfrm>
            <a:off x="594360" y="2057400"/>
            <a:ext cx="5318607" cy="1691640"/>
          </a:xfrm>
          <a:prstGeom prst="rect">
            <a:avLst/>
          </a:prstGeom>
          <a:noFill/>
        </p:spPr>
        <p:txBody>
          <a:bodyPr wrap="square" lIns="45720" rIns="45720" tIns="18288" bIns="18288" anchor="t">
            <a:spAutoFit/>
          </a:bodyPr>
          <a:lstStyle/>
          <a:p>
            <a:pPr algn="l"/>
            <a:r>
              <a:rPr sz="1000" b="0" i="0">
                <a:solidFill>
                  <a:srgbClr val="2C3E50"/>
                </a:solidFill>
                <a:latin typeface="Arial"/>
              </a:rPr>
              <a:t>All originating business units route through a single intake form per Value Stream. Includes Customer Service Products organization, Networks Business sponsors, Iberdrola corporate, and BRS UIL/CMP/NY operating companies.</a:t>
            </a:r>
          </a:p>
        </p:txBody>
      </p:sp>
      <p:sp>
        <p:nvSpPr>
          <p:cNvPr id="10" name="Rounded Rectangle 9"/>
          <p:cNvSpPr/>
          <p:nvPr/>
        </p:nvSpPr>
        <p:spPr>
          <a:xfrm>
            <a:off x="6141567" y="1554480"/>
            <a:ext cx="5592927" cy="2286000"/>
          </a:xfrm>
          <a:prstGeom prst="roundRect">
            <a:avLst>
              <a:gd name="adj" fmla="val 5000"/>
            </a:avLst>
          </a:prstGeom>
          <a:solidFill>
            <a:srgbClr val="FFFFFF"/>
          </a:solidFill>
          <a:ln w="1905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41567" y="1554480"/>
            <a:ext cx="5592927" cy="4114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33007" y="1581912"/>
            <a:ext cx="5410047" cy="365760"/>
          </a:xfrm>
          <a:prstGeom prst="rect">
            <a:avLst/>
          </a:prstGeom>
          <a:noFill/>
        </p:spPr>
        <p:txBody>
          <a:bodyPr wrap="square" lIns="45720" rIns="45720" tIns="18288" bIns="18288" anchor="ctr">
            <a:spAutoFit/>
          </a:bodyPr>
          <a:lstStyle/>
          <a:p>
            <a:pPr algn="l"/>
            <a:r>
              <a:rPr sz="1050" b="1" i="0">
                <a:solidFill>
                  <a:srgbClr val="FFFFFF"/>
                </a:solidFill>
                <a:latin typeface="Arial"/>
              </a:rPr>
              <a:t>Product or Demand Managers</a:t>
            </a:r>
          </a:p>
        </p:txBody>
      </p:sp>
      <p:sp>
        <p:nvSpPr>
          <p:cNvPr id="13" name="TextBox 12"/>
          <p:cNvSpPr txBox="1"/>
          <p:nvPr/>
        </p:nvSpPr>
        <p:spPr>
          <a:xfrm>
            <a:off x="6278727" y="2057400"/>
            <a:ext cx="5318607" cy="1691640"/>
          </a:xfrm>
          <a:prstGeom prst="rect">
            <a:avLst/>
          </a:prstGeom>
          <a:noFill/>
        </p:spPr>
        <p:txBody>
          <a:bodyPr wrap="square" lIns="45720" rIns="45720" tIns="18288" bIns="18288" anchor="t">
            <a:spAutoFit/>
          </a:bodyPr>
          <a:lstStyle/>
          <a:p>
            <a:pPr algn="l"/>
            <a:r>
              <a:rPr sz="1000" b="0" i="0">
                <a:solidFill>
                  <a:srgbClr val="2C3E50"/>
                </a:solidFill>
                <a:latin typeface="Arial"/>
              </a:rPr>
              <a:t>One Product Manager per Value Stream Team — accountable for outcome, scoring, and backlog priority. One Demand Manager (cross-team) audits scoring and intake quality.</a:t>
            </a:r>
          </a:p>
        </p:txBody>
      </p:sp>
      <p:sp>
        <p:nvSpPr>
          <p:cNvPr id="14" name="Rounded Rectangle 13"/>
          <p:cNvSpPr/>
          <p:nvPr/>
        </p:nvSpPr>
        <p:spPr>
          <a:xfrm>
            <a:off x="457200" y="3931920"/>
            <a:ext cx="5592927" cy="2286000"/>
          </a:xfrm>
          <a:prstGeom prst="roundRect">
            <a:avLst>
              <a:gd name="adj" fmla="val 5000"/>
            </a:avLst>
          </a:prstGeom>
          <a:solidFill>
            <a:srgbClr val="FFFFFF"/>
          </a:solidFill>
          <a:ln w="1905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931920"/>
            <a:ext cx="5592927" cy="4114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959352"/>
            <a:ext cx="5410047" cy="365760"/>
          </a:xfrm>
          <a:prstGeom prst="rect">
            <a:avLst/>
          </a:prstGeom>
          <a:noFill/>
        </p:spPr>
        <p:txBody>
          <a:bodyPr wrap="square" lIns="45720" rIns="45720" tIns="18288" bIns="18288" anchor="ctr">
            <a:spAutoFit/>
          </a:bodyPr>
          <a:lstStyle/>
          <a:p>
            <a:pPr algn="l"/>
            <a:r>
              <a:rPr sz="1050" b="1" i="0">
                <a:solidFill>
                  <a:srgbClr val="FFFFFF"/>
                </a:solidFill>
                <a:latin typeface="Arial"/>
              </a:rPr>
              <a:t>Architects &amp; technical reviewers</a:t>
            </a:r>
          </a:p>
        </p:txBody>
      </p:sp>
      <p:sp>
        <p:nvSpPr>
          <p:cNvPr id="17" name="TextBox 16"/>
          <p:cNvSpPr txBox="1"/>
          <p:nvPr/>
        </p:nvSpPr>
        <p:spPr>
          <a:xfrm>
            <a:off x="594360" y="4434840"/>
            <a:ext cx="5318607" cy="1691640"/>
          </a:xfrm>
          <a:prstGeom prst="rect">
            <a:avLst/>
          </a:prstGeom>
          <a:noFill/>
        </p:spPr>
        <p:txBody>
          <a:bodyPr wrap="square" lIns="45720" rIns="45720" tIns="18288" bIns="18288" anchor="t">
            <a:spAutoFit/>
          </a:bodyPr>
          <a:lstStyle/>
          <a:p>
            <a:pPr algn="l"/>
            <a:r>
              <a:rPr sz="1000" b="0" i="0">
                <a:solidFill>
                  <a:srgbClr val="2C3E50"/>
                </a:solidFill>
                <a:latin typeface="Arial"/>
              </a:rPr>
              <a:t>Architecture Council with rotating members from existing technical leads. Time-boxed advisory input at the intake gate. Provides feasibility view, not a veto.</a:t>
            </a:r>
          </a:p>
        </p:txBody>
      </p:sp>
      <p:sp>
        <p:nvSpPr>
          <p:cNvPr id="18" name="Rounded Rectangle 17"/>
          <p:cNvSpPr/>
          <p:nvPr/>
        </p:nvSpPr>
        <p:spPr>
          <a:xfrm>
            <a:off x="6141567" y="3931920"/>
            <a:ext cx="5592927" cy="2286000"/>
          </a:xfrm>
          <a:prstGeom prst="roundRect">
            <a:avLst>
              <a:gd name="adj" fmla="val 5000"/>
            </a:avLst>
          </a:prstGeom>
          <a:solidFill>
            <a:srgbClr val="FFFFFF"/>
          </a:solidFill>
          <a:ln w="1905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1567" y="3931920"/>
            <a:ext cx="5592927" cy="4114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3007" y="3959352"/>
            <a:ext cx="5410047" cy="365760"/>
          </a:xfrm>
          <a:prstGeom prst="rect">
            <a:avLst/>
          </a:prstGeom>
          <a:noFill/>
        </p:spPr>
        <p:txBody>
          <a:bodyPr wrap="square" lIns="45720" rIns="45720" tIns="18288" bIns="18288" anchor="ctr">
            <a:spAutoFit/>
          </a:bodyPr>
          <a:lstStyle/>
          <a:p>
            <a:pPr algn="l"/>
            <a:r>
              <a:rPr sz="1050" b="1" i="0">
                <a:solidFill>
                  <a:srgbClr val="FFFFFF"/>
                </a:solidFill>
                <a:latin typeface="Arial"/>
              </a:rPr>
              <a:t>Triage / intake committee</a:t>
            </a:r>
          </a:p>
        </p:txBody>
      </p:sp>
      <p:sp>
        <p:nvSpPr>
          <p:cNvPr id="21" name="TextBox 20"/>
          <p:cNvSpPr txBox="1"/>
          <p:nvPr/>
        </p:nvSpPr>
        <p:spPr>
          <a:xfrm>
            <a:off x="6278727" y="4434840"/>
            <a:ext cx="5318607" cy="1691640"/>
          </a:xfrm>
          <a:prstGeom prst="rect">
            <a:avLst/>
          </a:prstGeom>
          <a:noFill/>
        </p:spPr>
        <p:txBody>
          <a:bodyPr wrap="square" lIns="45720" rIns="45720" tIns="18288" bIns="18288" anchor="t">
            <a:spAutoFit/>
          </a:bodyPr>
          <a:lstStyle/>
          <a:p>
            <a:pPr algn="l"/>
            <a:r>
              <a:rPr sz="1000" b="0" i="0">
                <a:solidFill>
                  <a:srgbClr val="2C3E50"/>
                </a:solidFill>
                <a:latin typeface="Arial"/>
              </a:rPr>
              <a:t>Weekly committee per portfolio. Composition: Demand Manager (chair) plus Product Managers and Architect. Decisions logged with reason. Cross-portfolio escalations go to monthly Portfolio Committee.</a:t>
            </a:r>
          </a:p>
        </p:txBody>
      </p:sp>
      <p:sp>
        <p:nvSpPr>
          <p:cNvPr id="22" name="TextBox 21"/>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Tools · systems and platforms used</a:t>
            </a:r>
          </a:p>
        </p:txBody>
      </p:sp>
      <p:sp>
        <p:nvSpPr>
          <p:cNvPr id="4" name="Rounded Rectangle 3"/>
          <p:cNvSpPr/>
          <p:nvPr/>
        </p:nvSpPr>
        <p:spPr>
          <a:xfrm>
            <a:off x="457200" y="914400"/>
            <a:ext cx="3200400" cy="457200"/>
          </a:xfrm>
          <a:prstGeom prst="roundRect">
            <a:avLst>
              <a:gd name="adj" fmla="val 20000"/>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TOOLS  ·  5 items</a:t>
            </a:r>
          </a:p>
        </p:txBody>
      </p:sp>
      <p:sp>
        <p:nvSpPr>
          <p:cNvPr id="6" name="Rounded Rectangle 5"/>
          <p:cNvSpPr/>
          <p:nvPr/>
        </p:nvSpPr>
        <p:spPr>
          <a:xfrm>
            <a:off x="457200" y="155448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capture</a:t>
            </a:r>
          </a:p>
        </p:txBody>
      </p:sp>
      <p:sp>
        <p:nvSpPr>
          <p:cNvPr id="9" name="TextBox 8"/>
          <p:cNvSpPr txBox="1"/>
          <p:nvPr/>
        </p:nvSpPr>
        <p:spPr>
          <a:xfrm>
            <a:off x="594360"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Jira intake form per Value Stream Team — Large, Medium, Small demand. Mandatory fields enforce Definition of Ready. IT Now reserved for incidents only.</a:t>
            </a:r>
          </a:p>
        </p:txBody>
      </p:sp>
      <p:sp>
        <p:nvSpPr>
          <p:cNvPr id="10" name="Rounded Rectangle 9"/>
          <p:cNvSpPr/>
          <p:nvPr/>
        </p:nvSpPr>
        <p:spPr>
          <a:xfrm>
            <a:off x="4246778" y="155448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46778" y="155448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38218"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Tracking &amp; backlog</a:t>
            </a:r>
          </a:p>
        </p:txBody>
      </p:sp>
      <p:sp>
        <p:nvSpPr>
          <p:cNvPr id="13" name="TextBox 12"/>
          <p:cNvSpPr txBox="1"/>
          <p:nvPr/>
        </p:nvSpPr>
        <p:spPr>
          <a:xfrm>
            <a:off x="4383938"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Single backlog system as system of record. Item hierarchy: Initiative → Epic → Story. Team Kanban with five phases and dual track (Discovery + Delivery).</a:t>
            </a:r>
          </a:p>
        </p:txBody>
      </p:sp>
      <p:sp>
        <p:nvSpPr>
          <p:cNvPr id="14" name="Rounded Rectangle 13"/>
          <p:cNvSpPr/>
          <p:nvPr/>
        </p:nvSpPr>
        <p:spPr>
          <a:xfrm>
            <a:off x="8036356" y="155448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6356" y="155448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7796"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Communication channels</a:t>
            </a:r>
          </a:p>
        </p:txBody>
      </p:sp>
      <p:sp>
        <p:nvSpPr>
          <p:cNvPr id="17" name="TextBox 16"/>
          <p:cNvSpPr txBox="1"/>
          <p:nvPr/>
        </p:nvSpPr>
        <p:spPr>
          <a:xfrm>
            <a:off x="8173516"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Triage outcomes auto-published to requesters. Per-requester portal showing live status. Cross-team coordination through dedicated forums.</a:t>
            </a:r>
          </a:p>
        </p:txBody>
      </p:sp>
      <p:sp>
        <p:nvSpPr>
          <p:cNvPr id="18" name="Rounded Rectangle 17"/>
          <p:cNvSpPr/>
          <p:nvPr/>
        </p:nvSpPr>
        <p:spPr>
          <a:xfrm>
            <a:off x="457200" y="393192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93192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Documentation</a:t>
            </a:r>
          </a:p>
        </p:txBody>
      </p:sp>
      <p:sp>
        <p:nvSpPr>
          <p:cNvPr id="21" name="TextBox 20"/>
          <p:cNvSpPr txBox="1"/>
          <p:nvPr/>
        </p:nvSpPr>
        <p:spPr>
          <a:xfrm>
            <a:off x="594360"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Single source of truth for Definition of Ready, Class of Service taxonomy, per-team product brief. Sponsor approval logged within the intake form itself.</a:t>
            </a:r>
          </a:p>
        </p:txBody>
      </p:sp>
      <p:sp>
        <p:nvSpPr>
          <p:cNvPr id="22" name="Rounded Rectangle 21"/>
          <p:cNvSpPr/>
          <p:nvPr/>
        </p:nvSpPr>
        <p:spPr>
          <a:xfrm>
            <a:off x="4246778" y="393192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46778" y="393192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38218"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Reporting &amp; visibility</a:t>
            </a:r>
          </a:p>
        </p:txBody>
      </p:sp>
      <p:sp>
        <p:nvSpPr>
          <p:cNvPr id="25" name="TextBox 24"/>
          <p:cNvSpPr txBox="1"/>
          <p:nvPr/>
        </p:nvSpPr>
        <p:spPr>
          <a:xfrm>
            <a:off x="4383938"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Demand dashboard with five views: inflow funnel, backlog by team, class-of-service mix, aging, top priorities. Auto-refresh under one hour. Director-level rollups.</a:t>
            </a:r>
          </a:p>
        </p:txBody>
      </p:sp>
      <p:sp>
        <p:nvSpPr>
          <p:cNvPr id="26" name="TextBox 25"/>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Governance · decisions, forums, and controls</a:t>
            </a:r>
          </a:p>
        </p:txBody>
      </p:sp>
      <p:sp>
        <p:nvSpPr>
          <p:cNvPr id="4" name="Rounded Rectangle 3"/>
          <p:cNvSpPr/>
          <p:nvPr/>
        </p:nvSpPr>
        <p:spPr>
          <a:xfrm>
            <a:off x="457200" y="914400"/>
            <a:ext cx="3200400" cy="457200"/>
          </a:xfrm>
          <a:prstGeom prst="roundRect">
            <a:avLst>
              <a:gd name="adj" fmla="val 20000"/>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GOVERNANCE  ·  6 items</a:t>
            </a:r>
          </a:p>
        </p:txBody>
      </p:sp>
      <p:sp>
        <p:nvSpPr>
          <p:cNvPr id="6" name="Rounded Rectangle 5"/>
          <p:cNvSpPr/>
          <p:nvPr/>
        </p:nvSpPr>
        <p:spPr>
          <a:xfrm>
            <a:off x="457200" y="1554480"/>
            <a:ext cx="3698138" cy="2286000"/>
          </a:xfrm>
          <a:prstGeom prst="roundRect">
            <a:avLst>
              <a:gd name="adj" fmla="val 5000"/>
            </a:avLst>
          </a:prstGeom>
          <a:solidFill>
            <a:srgbClr val="FFFFFF"/>
          </a:solidFill>
          <a:ln w="19050">
            <a:solidFill>
              <a:srgbClr val="2C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3698138" cy="411480"/>
          </a:xfrm>
          <a:prstGeom prst="rect">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review forums</a:t>
            </a:r>
          </a:p>
        </p:txBody>
      </p:sp>
      <p:sp>
        <p:nvSpPr>
          <p:cNvPr id="9" name="TextBox 8"/>
          <p:cNvSpPr txBox="1"/>
          <p:nvPr/>
        </p:nvSpPr>
        <p:spPr>
          <a:xfrm>
            <a:off x="594360"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Two-gate structure. Gate 1: weekly triage (30 minutes). Gate 2: monthly Portfolio Committee (90 minutes). Quarterly cross-portfolio Big Room Planning.</a:t>
            </a:r>
          </a:p>
        </p:txBody>
      </p:sp>
      <p:sp>
        <p:nvSpPr>
          <p:cNvPr id="10" name="Rounded Rectangle 9"/>
          <p:cNvSpPr/>
          <p:nvPr/>
        </p:nvSpPr>
        <p:spPr>
          <a:xfrm>
            <a:off x="4246778" y="1554480"/>
            <a:ext cx="3698138" cy="2286000"/>
          </a:xfrm>
          <a:prstGeom prst="roundRect">
            <a:avLst>
              <a:gd name="adj" fmla="val 5000"/>
            </a:avLst>
          </a:prstGeom>
          <a:solidFill>
            <a:srgbClr val="FFFFFF"/>
          </a:solidFill>
          <a:ln w="19050">
            <a:solidFill>
              <a:srgbClr val="2C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46778" y="1554480"/>
            <a:ext cx="3698138" cy="411480"/>
          </a:xfrm>
          <a:prstGeom prst="rect">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38218"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Decision-making practices</a:t>
            </a:r>
          </a:p>
        </p:txBody>
      </p:sp>
      <p:sp>
        <p:nvSpPr>
          <p:cNvPr id="13" name="TextBox 12"/>
          <p:cNvSpPr txBox="1"/>
          <p:nvPr/>
        </p:nvSpPr>
        <p:spPr>
          <a:xfrm>
            <a:off x="4383938"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Four explicit outcomes: Accept · Send-back · Reject · Redirect. Every decision audit-logged with reason. No silent overrides.</a:t>
            </a:r>
          </a:p>
        </p:txBody>
      </p:sp>
      <p:sp>
        <p:nvSpPr>
          <p:cNvPr id="14" name="Rounded Rectangle 13"/>
          <p:cNvSpPr/>
          <p:nvPr/>
        </p:nvSpPr>
        <p:spPr>
          <a:xfrm>
            <a:off x="8036356" y="1554480"/>
            <a:ext cx="3698138" cy="2286000"/>
          </a:xfrm>
          <a:prstGeom prst="roundRect">
            <a:avLst>
              <a:gd name="adj" fmla="val 5000"/>
            </a:avLst>
          </a:prstGeom>
          <a:solidFill>
            <a:srgbClr val="FFFFFF"/>
          </a:solidFill>
          <a:ln w="19050">
            <a:solidFill>
              <a:srgbClr val="2C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6356" y="1554480"/>
            <a:ext cx="3698138" cy="411480"/>
          </a:xfrm>
          <a:prstGeom prst="rect">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7796"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Escalation mechanisms</a:t>
            </a:r>
          </a:p>
        </p:txBody>
      </p:sp>
      <p:sp>
        <p:nvSpPr>
          <p:cNvPr id="17" name="TextBox 16"/>
          <p:cNvSpPr txBox="1"/>
          <p:nvPr/>
        </p:nvSpPr>
        <p:spPr>
          <a:xfrm>
            <a:off x="8173516"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Cross-team conflicts resolved at Customer Journey Forum. Cross-portfolio conflicts resolved at VP Portfolio Sync. Every Expedite reviewed at the next Portfolio Committee.</a:t>
            </a:r>
          </a:p>
        </p:txBody>
      </p:sp>
      <p:sp>
        <p:nvSpPr>
          <p:cNvPr id="18" name="Rounded Rectangle 17"/>
          <p:cNvSpPr/>
          <p:nvPr/>
        </p:nvSpPr>
        <p:spPr>
          <a:xfrm>
            <a:off x="457200" y="3931920"/>
            <a:ext cx="3698138" cy="2286000"/>
          </a:xfrm>
          <a:prstGeom prst="roundRect">
            <a:avLst>
              <a:gd name="adj" fmla="val 5000"/>
            </a:avLst>
          </a:prstGeom>
          <a:solidFill>
            <a:srgbClr val="FFFFFF"/>
          </a:solidFill>
          <a:ln w="19050">
            <a:solidFill>
              <a:srgbClr val="2C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931920"/>
            <a:ext cx="3698138" cy="411480"/>
          </a:xfrm>
          <a:prstGeom prst="rect">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Definition of intake guidelines</a:t>
            </a:r>
          </a:p>
        </p:txBody>
      </p:sp>
      <p:sp>
        <p:nvSpPr>
          <p:cNvPr id="21" name="TextBox 20"/>
          <p:cNvSpPr txBox="1"/>
          <p:nvPr/>
        </p:nvSpPr>
        <p:spPr>
          <a:xfrm>
            <a:off x="594360"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Single source of truth for the Definition of Ready template, Class of Service taxonomy, and capacity caps. Reviewed every six months by the Demand Council.</a:t>
            </a:r>
          </a:p>
        </p:txBody>
      </p:sp>
      <p:sp>
        <p:nvSpPr>
          <p:cNvPr id="22" name="Rounded Rectangle 21"/>
          <p:cNvSpPr/>
          <p:nvPr/>
        </p:nvSpPr>
        <p:spPr>
          <a:xfrm>
            <a:off x="4246778" y="3931920"/>
            <a:ext cx="3698138" cy="2286000"/>
          </a:xfrm>
          <a:prstGeom prst="roundRect">
            <a:avLst>
              <a:gd name="adj" fmla="val 5000"/>
            </a:avLst>
          </a:prstGeom>
          <a:solidFill>
            <a:srgbClr val="FFFFFF"/>
          </a:solidFill>
          <a:ln w="19050">
            <a:solidFill>
              <a:srgbClr val="2C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46778" y="3931920"/>
            <a:ext cx="3698138" cy="411480"/>
          </a:xfrm>
          <a:prstGeom prst="rect">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38218"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Alignment with business stakeholders</a:t>
            </a:r>
          </a:p>
        </p:txBody>
      </p:sp>
      <p:sp>
        <p:nvSpPr>
          <p:cNvPr id="25" name="TextBox 24"/>
          <p:cNvSpPr txBox="1"/>
          <p:nvPr/>
        </p:nvSpPr>
        <p:spPr>
          <a:xfrm>
            <a:off x="4383938"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Quarterly Big Room Planning. Customer Journey Forum per major customer journey. Sponsor sign-off mandatory at intake (business value approval).</a:t>
            </a:r>
          </a:p>
        </p:txBody>
      </p:sp>
      <p:sp>
        <p:nvSpPr>
          <p:cNvPr id="26" name="Rounded Rectangle 25"/>
          <p:cNvSpPr/>
          <p:nvPr/>
        </p:nvSpPr>
        <p:spPr>
          <a:xfrm>
            <a:off x="8036356" y="3931920"/>
            <a:ext cx="3698138" cy="2286000"/>
          </a:xfrm>
          <a:prstGeom prst="roundRect">
            <a:avLst>
              <a:gd name="adj" fmla="val 5000"/>
            </a:avLst>
          </a:prstGeom>
          <a:solidFill>
            <a:srgbClr val="FFFFFF"/>
          </a:solidFill>
          <a:ln w="19050">
            <a:solidFill>
              <a:srgbClr val="2C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6356" y="3931920"/>
            <a:ext cx="3698138" cy="411480"/>
          </a:xfrm>
          <a:prstGeom prst="rect">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27796"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Oversight of inflow &amp; backlog health</a:t>
            </a:r>
          </a:p>
        </p:txBody>
      </p:sp>
      <p:sp>
        <p:nvSpPr>
          <p:cNvPr id="29" name="TextBox 28"/>
          <p:cNvSpPr txBox="1"/>
          <p:nvPr/>
        </p:nvSpPr>
        <p:spPr>
          <a:xfrm>
            <a:off x="8173516"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Demand Manager owns the demand dashboard. Aging beyond threshold triggers automatic escalation. Quarterly demand-vs-delivery conversion review.</a:t>
            </a:r>
          </a:p>
        </p:txBody>
      </p:sp>
      <p:sp>
        <p:nvSpPr>
          <p:cNvPr id="30" name="TextBox 29"/>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Performance · how success is measured</a:t>
            </a:r>
          </a:p>
        </p:txBody>
      </p:sp>
      <p:sp>
        <p:nvSpPr>
          <p:cNvPr id="4" name="Rounded Rectangle 3"/>
          <p:cNvSpPr/>
          <p:nvPr/>
        </p:nvSpPr>
        <p:spPr>
          <a:xfrm>
            <a:off x="457200" y="914400"/>
            <a:ext cx="3200400" cy="457200"/>
          </a:xfrm>
          <a:prstGeom prst="roundRect">
            <a:avLst>
              <a:gd name="adj" fmla="val 20000"/>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PERFORMANCE  ·  7 items</a:t>
            </a:r>
          </a:p>
        </p:txBody>
      </p:sp>
      <p:sp>
        <p:nvSpPr>
          <p:cNvPr id="6" name="Rounded Rectangle 5"/>
          <p:cNvSpPr/>
          <p:nvPr/>
        </p:nvSpPr>
        <p:spPr>
          <a:xfrm>
            <a:off x="457200" y="155448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8191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volume &amp; inflow trends</a:t>
            </a:r>
          </a:p>
        </p:txBody>
      </p:sp>
      <p:sp>
        <p:nvSpPr>
          <p:cNvPr id="9" name="TextBox 8"/>
          <p:cNvSpPr txBox="1"/>
          <p:nvPr/>
        </p:nvSpPr>
        <p:spPr>
          <a:xfrm>
            <a:off x="594360" y="205740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Submissions per week, month, quarter. Breakdown by Value Stream, Class of Service, OPCO, and source business area.</a:t>
            </a:r>
          </a:p>
        </p:txBody>
      </p:sp>
      <p:sp>
        <p:nvSpPr>
          <p:cNvPr id="10" name="Rounded Rectangle 9"/>
          <p:cNvSpPr/>
          <p:nvPr/>
        </p:nvSpPr>
        <p:spPr>
          <a:xfrm>
            <a:off x="3299383" y="155448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99383" y="155448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90823" y="158191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quality</a:t>
            </a:r>
          </a:p>
        </p:txBody>
      </p:sp>
      <p:sp>
        <p:nvSpPr>
          <p:cNvPr id="13" name="TextBox 12"/>
          <p:cNvSpPr txBox="1"/>
          <p:nvPr/>
        </p:nvSpPr>
        <p:spPr>
          <a:xfrm>
            <a:off x="3436543" y="205740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Definition-of-Ready pass-rate at first submission (target 70% or higher). Re-submission rate per requester. Acceptance criteria quality score.</a:t>
            </a:r>
          </a:p>
        </p:txBody>
      </p:sp>
      <p:sp>
        <p:nvSpPr>
          <p:cNvPr id="14" name="Rounded Rectangle 13"/>
          <p:cNvSpPr/>
          <p:nvPr/>
        </p:nvSpPr>
        <p:spPr>
          <a:xfrm>
            <a:off x="6141567" y="155448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1567" y="155448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3007" y="158191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Triage lead time</a:t>
            </a:r>
          </a:p>
        </p:txBody>
      </p:sp>
      <p:sp>
        <p:nvSpPr>
          <p:cNvPr id="17" name="TextBox 16"/>
          <p:cNvSpPr txBox="1"/>
          <p:nvPr/>
        </p:nvSpPr>
        <p:spPr>
          <a:xfrm>
            <a:off x="6278727" y="205740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Median time from submission to Gate 1 decision (target 5 business days or less). 90th percentile to surface outliers. Breakdown per Class of Service.</a:t>
            </a:r>
          </a:p>
        </p:txBody>
      </p:sp>
      <p:sp>
        <p:nvSpPr>
          <p:cNvPr id="18" name="Rounded Rectangle 17"/>
          <p:cNvSpPr/>
          <p:nvPr/>
        </p:nvSpPr>
        <p:spPr>
          <a:xfrm>
            <a:off x="8983751" y="155448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83751" y="155448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75191" y="158191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 via formal channels</a:t>
            </a:r>
          </a:p>
        </p:txBody>
      </p:sp>
      <p:sp>
        <p:nvSpPr>
          <p:cNvPr id="21" name="TextBox 20"/>
          <p:cNvSpPr txBox="1"/>
          <p:nvPr/>
        </p:nvSpPr>
        <p:spPr>
          <a:xfrm>
            <a:off x="9120911" y="205740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Target 90% via single channel by month 6. Decommissioned-channel residuals tracked monthly. Per-business-unit adoption visible.</a:t>
            </a:r>
          </a:p>
        </p:txBody>
      </p:sp>
      <p:sp>
        <p:nvSpPr>
          <p:cNvPr id="22" name="Rounded Rectangle 21"/>
          <p:cNvSpPr/>
          <p:nvPr/>
        </p:nvSpPr>
        <p:spPr>
          <a:xfrm>
            <a:off x="457200" y="393192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93192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95935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 urgent or bypassed</a:t>
            </a:r>
          </a:p>
        </p:txBody>
      </p:sp>
      <p:sp>
        <p:nvSpPr>
          <p:cNvPr id="25" name="TextBox 24"/>
          <p:cNvSpPr txBox="1"/>
          <p:nvPr/>
        </p:nvSpPr>
        <p:spPr>
          <a:xfrm>
            <a:off x="594360" y="443484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Expedite as percent of total throughput (cap 20%). Regulatory subset tracked. Auto-downgrade rate of unauthorized 'urgent' claims.</a:t>
            </a:r>
          </a:p>
        </p:txBody>
      </p:sp>
      <p:sp>
        <p:nvSpPr>
          <p:cNvPr id="26" name="Rounded Rectangle 25"/>
          <p:cNvSpPr/>
          <p:nvPr/>
        </p:nvSpPr>
        <p:spPr>
          <a:xfrm>
            <a:off x="3299383" y="393192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99383" y="393192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90823" y="395935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Duplication &amp; overlap</a:t>
            </a:r>
          </a:p>
        </p:txBody>
      </p:sp>
      <p:sp>
        <p:nvSpPr>
          <p:cNvPr id="29" name="TextBox 28"/>
          <p:cNvSpPr txBox="1"/>
          <p:nvPr/>
        </p:nvSpPr>
        <p:spPr>
          <a:xfrm>
            <a:off x="3436543" y="443484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Duplicate-link rate (% submissions matched to existing). Overlap escalations resolved at Portfolio Committee.</a:t>
            </a:r>
          </a:p>
        </p:txBody>
      </p:sp>
      <p:sp>
        <p:nvSpPr>
          <p:cNvPr id="30" name="Rounded Rectangle 29"/>
          <p:cNvSpPr/>
          <p:nvPr/>
        </p:nvSpPr>
        <p:spPr>
          <a:xfrm>
            <a:off x="6141567" y="393192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41567" y="393192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33007" y="395935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Visibility &amp; traceability</a:t>
            </a:r>
          </a:p>
        </p:txBody>
      </p:sp>
      <p:sp>
        <p:nvSpPr>
          <p:cNvPr id="33" name="TextBox 32"/>
          <p:cNvSpPr txBox="1"/>
          <p:nvPr/>
        </p:nvSpPr>
        <p:spPr>
          <a:xfrm>
            <a:off x="6278727" y="443484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Percent of requesters who can find own submission status (target 100%). Average time to status update. Live per-business-unit portal.</a:t>
            </a:r>
          </a:p>
        </p:txBody>
      </p:sp>
      <p:sp>
        <p:nvSpPr>
          <p:cNvPr id="34" name="TextBox 3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Roles &amp; Responsibilities · current people and proposed roles</a:t>
            </a:r>
          </a:p>
        </p:txBody>
      </p:sp>
      <p:sp>
        <p:nvSpPr>
          <p:cNvPr id="4" name="TextBox 3"/>
          <p:cNvSpPr txBox="1"/>
          <p:nvPr/>
        </p:nvSpPr>
        <p:spPr>
          <a:xfrm>
            <a:off x="457200" y="868680"/>
            <a:ext cx="7315200" cy="274320"/>
          </a:xfrm>
          <a:prstGeom prst="rect">
            <a:avLst/>
          </a:prstGeom>
          <a:noFill/>
        </p:spPr>
        <p:txBody>
          <a:bodyPr wrap="square" lIns="45720" rIns="45720" tIns="18288" bIns="18288" anchor="t">
            <a:spAutoFit/>
          </a:bodyPr>
          <a:lstStyle/>
          <a:p>
            <a:pPr algn="l"/>
            <a:r>
              <a:rPr sz="1200" b="1" i="0">
                <a:solidFill>
                  <a:srgbClr val="213C69"/>
                </a:solidFill>
                <a:latin typeface="Arial"/>
              </a:rPr>
              <a:t>EXISTING LEADERSHIP</a:t>
            </a:r>
          </a:p>
        </p:txBody>
      </p:sp>
      <p:sp>
        <p:nvSpPr>
          <p:cNvPr id="5" name="Rounded Rectangle 4"/>
          <p:cNvSpPr/>
          <p:nvPr/>
        </p:nvSpPr>
        <p:spPr>
          <a:xfrm>
            <a:off x="502920" y="960120"/>
            <a:ext cx="2164019" cy="2011680"/>
          </a:xfrm>
          <a:prstGeom prst="roundRect">
            <a:avLst>
              <a:gd name="adj" fmla="val 4000"/>
            </a:avLst>
          </a:prstGeom>
          <a:solidFill>
            <a:srgbClr val="FFFFFF"/>
          </a:solidFill>
          <a:ln w="25400">
            <a:solidFill>
              <a:srgbClr val="213C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960120"/>
            <a:ext cx="2164019" cy="457200"/>
          </a:xfrm>
          <a:prstGeom prst="rect">
            <a:avLst/>
          </a:prstGeom>
          <a:solidFill>
            <a:srgbClr val="21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005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Vitor Cruz</a:t>
            </a:r>
          </a:p>
        </p:txBody>
      </p:sp>
      <p:sp>
        <p:nvSpPr>
          <p:cNvPr id="8" name="TextBox 7"/>
          <p:cNvSpPr txBox="1"/>
          <p:nvPr/>
        </p:nvSpPr>
        <p:spPr>
          <a:xfrm>
            <a:off x="594360" y="1508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VP IT Business Solutions</a:t>
            </a:r>
          </a:p>
        </p:txBody>
      </p:sp>
      <p:sp>
        <p:nvSpPr>
          <p:cNvPr id="9" name="TextBox 8"/>
          <p:cNvSpPr txBox="1"/>
          <p:nvPr/>
        </p:nvSpPr>
        <p:spPr>
          <a:xfrm>
            <a:off x="594360" y="2011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Strategy · sponsor · cross-portfolio sync</a:t>
            </a:r>
          </a:p>
        </p:txBody>
      </p:sp>
      <p:sp>
        <p:nvSpPr>
          <p:cNvPr id="10" name="Rounded Rectangle 9"/>
          <p:cNvSpPr/>
          <p:nvPr/>
        </p:nvSpPr>
        <p:spPr>
          <a:xfrm>
            <a:off x="2758379" y="960120"/>
            <a:ext cx="2164019" cy="201168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58379" y="960120"/>
            <a:ext cx="2164019" cy="4572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04099" y="1005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Carlos Garbin</a:t>
            </a:r>
          </a:p>
        </p:txBody>
      </p:sp>
      <p:sp>
        <p:nvSpPr>
          <p:cNvPr id="13" name="TextBox 12"/>
          <p:cNvSpPr txBox="1"/>
          <p:nvPr/>
        </p:nvSpPr>
        <p:spPr>
          <a:xfrm>
            <a:off x="2849819" y="1508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Director · IT Business Apps</a:t>
            </a:r>
          </a:p>
        </p:txBody>
      </p:sp>
      <p:sp>
        <p:nvSpPr>
          <p:cNvPr id="14" name="TextBox 13"/>
          <p:cNvSpPr txBox="1"/>
          <p:nvPr/>
        </p:nvSpPr>
        <p:spPr>
          <a:xfrm>
            <a:off x="2849819" y="2011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IT Apps Portfolio Board owner</a:t>
            </a:r>
          </a:p>
        </p:txBody>
      </p:sp>
      <p:sp>
        <p:nvSpPr>
          <p:cNvPr id="15" name="Rounded Rectangle 14"/>
          <p:cNvSpPr/>
          <p:nvPr/>
        </p:nvSpPr>
        <p:spPr>
          <a:xfrm>
            <a:off x="5013838" y="960120"/>
            <a:ext cx="2164019" cy="201168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13838" y="960120"/>
            <a:ext cx="2164019" cy="45720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59558" y="1005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Kumar Jaladanki</a:t>
            </a:r>
          </a:p>
        </p:txBody>
      </p:sp>
      <p:sp>
        <p:nvSpPr>
          <p:cNvPr id="18" name="TextBox 17"/>
          <p:cNvSpPr txBox="1"/>
          <p:nvPr/>
        </p:nvSpPr>
        <p:spPr>
          <a:xfrm>
            <a:off x="5105278" y="1508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Director · Customer Services Apps</a:t>
            </a:r>
          </a:p>
        </p:txBody>
      </p:sp>
      <p:sp>
        <p:nvSpPr>
          <p:cNvPr id="19" name="TextBox 18"/>
          <p:cNvSpPr txBox="1"/>
          <p:nvPr/>
        </p:nvSpPr>
        <p:spPr>
          <a:xfrm>
            <a:off x="5105278" y="2011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CS Apps Portfolio Board owner</a:t>
            </a:r>
          </a:p>
        </p:txBody>
      </p:sp>
      <p:sp>
        <p:nvSpPr>
          <p:cNvPr id="20" name="Rounded Rectangle 19"/>
          <p:cNvSpPr/>
          <p:nvPr/>
        </p:nvSpPr>
        <p:spPr>
          <a:xfrm>
            <a:off x="7269297" y="960120"/>
            <a:ext cx="2164019" cy="201168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69297" y="960120"/>
            <a:ext cx="2164019" cy="45720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017" y="1005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Heather LaJoie</a:t>
            </a:r>
          </a:p>
        </p:txBody>
      </p:sp>
      <p:sp>
        <p:nvSpPr>
          <p:cNvPr id="23" name="TextBox 22"/>
          <p:cNvSpPr txBox="1"/>
          <p:nvPr/>
        </p:nvSpPr>
        <p:spPr>
          <a:xfrm>
            <a:off x="7360737" y="1508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Director · Product Management</a:t>
            </a:r>
          </a:p>
        </p:txBody>
      </p:sp>
      <p:sp>
        <p:nvSpPr>
          <p:cNvPr id="24" name="TextBox 23"/>
          <p:cNvSpPr txBox="1"/>
          <p:nvPr/>
        </p:nvSpPr>
        <p:spPr>
          <a:xfrm>
            <a:off x="7360737" y="2011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Cross-base prioritization layer</a:t>
            </a:r>
          </a:p>
        </p:txBody>
      </p:sp>
      <p:sp>
        <p:nvSpPr>
          <p:cNvPr id="25" name="Rounded Rectangle 24"/>
          <p:cNvSpPr/>
          <p:nvPr/>
        </p:nvSpPr>
        <p:spPr>
          <a:xfrm>
            <a:off x="9524756" y="960120"/>
            <a:ext cx="2164019" cy="2011680"/>
          </a:xfrm>
          <a:prstGeom prst="roundRect">
            <a:avLst>
              <a:gd name="adj" fmla="val 4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24756" y="960120"/>
            <a:ext cx="2164019" cy="45720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70476" y="1005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Travis · PMO Lead</a:t>
            </a:r>
          </a:p>
        </p:txBody>
      </p:sp>
      <p:sp>
        <p:nvSpPr>
          <p:cNvPr id="28" name="TextBox 27"/>
          <p:cNvSpPr txBox="1"/>
          <p:nvPr/>
        </p:nvSpPr>
        <p:spPr>
          <a:xfrm>
            <a:off x="9616196" y="1508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Large Projects PDD</a:t>
            </a:r>
          </a:p>
        </p:txBody>
      </p:sp>
      <p:sp>
        <p:nvSpPr>
          <p:cNvPr id="29" name="TextBox 28"/>
          <p:cNvSpPr txBox="1"/>
          <p:nvPr/>
        </p:nvSpPr>
        <p:spPr>
          <a:xfrm>
            <a:off x="9616196" y="2011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Bridge to legacy PDD process</a:t>
            </a:r>
          </a:p>
        </p:txBody>
      </p:sp>
      <p:sp>
        <p:nvSpPr>
          <p:cNvPr id="30" name="TextBox 29"/>
          <p:cNvSpPr txBox="1"/>
          <p:nvPr/>
        </p:nvSpPr>
        <p:spPr>
          <a:xfrm>
            <a:off x="457200" y="3154680"/>
            <a:ext cx="7315200" cy="274320"/>
          </a:xfrm>
          <a:prstGeom prst="rect">
            <a:avLst/>
          </a:prstGeom>
          <a:noFill/>
        </p:spPr>
        <p:txBody>
          <a:bodyPr wrap="square" lIns="45720" rIns="45720" tIns="18288" bIns="18288" anchor="t">
            <a:spAutoFit/>
          </a:bodyPr>
          <a:lstStyle/>
          <a:p>
            <a:pPr algn="l"/>
            <a:r>
              <a:rPr sz="1200" b="1" i="0">
                <a:solidFill>
                  <a:srgbClr val="E6B600"/>
                </a:solidFill>
                <a:latin typeface="Arial"/>
              </a:rPr>
              <a:t>NEW ROLES TO ESTABLISH</a:t>
            </a:r>
          </a:p>
        </p:txBody>
      </p:sp>
      <p:sp>
        <p:nvSpPr>
          <p:cNvPr id="31" name="Rounded Rectangle 30"/>
          <p:cNvSpPr/>
          <p:nvPr/>
        </p:nvSpPr>
        <p:spPr>
          <a:xfrm>
            <a:off x="502920" y="3246120"/>
            <a:ext cx="2164019" cy="201168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3246120"/>
            <a:ext cx="2164019" cy="45720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3291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Product Manager × 8</a:t>
            </a:r>
          </a:p>
        </p:txBody>
      </p:sp>
      <p:sp>
        <p:nvSpPr>
          <p:cNvPr id="34" name="TextBox 33"/>
          <p:cNvSpPr txBox="1"/>
          <p:nvPr/>
        </p:nvSpPr>
        <p:spPr>
          <a:xfrm>
            <a:off x="594360" y="3794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One per Value Stream Team</a:t>
            </a:r>
          </a:p>
        </p:txBody>
      </p:sp>
      <p:sp>
        <p:nvSpPr>
          <p:cNvPr id="35" name="TextBox 34"/>
          <p:cNvSpPr txBox="1"/>
          <p:nvPr/>
        </p:nvSpPr>
        <p:spPr>
          <a:xfrm>
            <a:off x="594360" y="4297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Outcome owner · scoring · backlog priority</a:t>
            </a:r>
          </a:p>
        </p:txBody>
      </p:sp>
      <p:sp>
        <p:nvSpPr>
          <p:cNvPr id="36" name="Rounded Rectangle 35"/>
          <p:cNvSpPr/>
          <p:nvPr/>
        </p:nvSpPr>
        <p:spPr>
          <a:xfrm>
            <a:off x="2758379" y="3246120"/>
            <a:ext cx="2164019" cy="201168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758379" y="3246120"/>
            <a:ext cx="2164019" cy="45720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04099" y="3291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Demand Manager</a:t>
            </a:r>
          </a:p>
        </p:txBody>
      </p:sp>
      <p:sp>
        <p:nvSpPr>
          <p:cNvPr id="39" name="TextBox 38"/>
          <p:cNvSpPr txBox="1"/>
          <p:nvPr/>
        </p:nvSpPr>
        <p:spPr>
          <a:xfrm>
            <a:off x="2849819" y="3794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Cross-team</a:t>
            </a:r>
          </a:p>
        </p:txBody>
      </p:sp>
      <p:sp>
        <p:nvSpPr>
          <p:cNvPr id="40" name="TextBox 39"/>
          <p:cNvSpPr txBox="1"/>
          <p:nvPr/>
        </p:nvSpPr>
        <p:spPr>
          <a:xfrm>
            <a:off x="2849819" y="4297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Audits scoring · intake quality · dashboard</a:t>
            </a:r>
          </a:p>
        </p:txBody>
      </p:sp>
      <p:sp>
        <p:nvSpPr>
          <p:cNvPr id="41" name="Rounded Rectangle 40"/>
          <p:cNvSpPr/>
          <p:nvPr/>
        </p:nvSpPr>
        <p:spPr>
          <a:xfrm>
            <a:off x="5013838" y="3246120"/>
            <a:ext cx="2164019" cy="201168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13838" y="3246120"/>
            <a:ext cx="2164019" cy="45720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59558" y="3291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Portfolio Manager</a:t>
            </a:r>
          </a:p>
        </p:txBody>
      </p:sp>
      <p:sp>
        <p:nvSpPr>
          <p:cNvPr id="44" name="TextBox 43"/>
          <p:cNvSpPr txBox="1"/>
          <p:nvPr/>
        </p:nvSpPr>
        <p:spPr>
          <a:xfrm>
            <a:off x="5105278" y="3794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Cross-portfolio</a:t>
            </a:r>
          </a:p>
        </p:txBody>
      </p:sp>
      <p:sp>
        <p:nvSpPr>
          <p:cNvPr id="45" name="TextBox 44"/>
          <p:cNvSpPr txBox="1"/>
          <p:nvPr/>
        </p:nvSpPr>
        <p:spPr>
          <a:xfrm>
            <a:off x="5105278" y="4297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VP Dashboard · capacity allocation · monthly sync</a:t>
            </a:r>
          </a:p>
        </p:txBody>
      </p:sp>
      <p:sp>
        <p:nvSpPr>
          <p:cNvPr id="46" name="Rounded Rectangle 45"/>
          <p:cNvSpPr/>
          <p:nvPr/>
        </p:nvSpPr>
        <p:spPr>
          <a:xfrm>
            <a:off x="7269297" y="3246120"/>
            <a:ext cx="2164019" cy="201168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269297" y="3246120"/>
            <a:ext cx="2164019" cy="45720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017" y="3291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UX Designer</a:t>
            </a:r>
          </a:p>
        </p:txBody>
      </p:sp>
      <p:sp>
        <p:nvSpPr>
          <p:cNvPr id="49" name="TextBox 48"/>
          <p:cNvSpPr txBox="1"/>
          <p:nvPr/>
        </p:nvSpPr>
        <p:spPr>
          <a:xfrm>
            <a:off x="7360737" y="3794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Cross-team</a:t>
            </a:r>
          </a:p>
        </p:txBody>
      </p:sp>
      <p:sp>
        <p:nvSpPr>
          <p:cNvPr id="50" name="TextBox 49"/>
          <p:cNvSpPr txBox="1"/>
          <p:nvPr/>
        </p:nvSpPr>
        <p:spPr>
          <a:xfrm>
            <a:off x="7360737" y="4297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Customer journey research · usability testing</a:t>
            </a:r>
          </a:p>
        </p:txBody>
      </p:sp>
      <p:sp>
        <p:nvSpPr>
          <p:cNvPr id="51" name="Rounded Rectangle 50"/>
          <p:cNvSpPr/>
          <p:nvPr/>
        </p:nvSpPr>
        <p:spPr>
          <a:xfrm>
            <a:off x="9524756" y="3246120"/>
            <a:ext cx="2164019" cy="201168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524756" y="3246120"/>
            <a:ext cx="2164019" cy="45720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570476" y="3291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Knowledge Manager</a:t>
            </a:r>
          </a:p>
        </p:txBody>
      </p:sp>
      <p:sp>
        <p:nvSpPr>
          <p:cNvPr id="54" name="TextBox 53"/>
          <p:cNvSpPr txBox="1"/>
          <p:nvPr/>
        </p:nvSpPr>
        <p:spPr>
          <a:xfrm>
            <a:off x="9616196" y="3794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Cross-team</a:t>
            </a:r>
          </a:p>
        </p:txBody>
      </p:sp>
      <p:sp>
        <p:nvSpPr>
          <p:cNvPr id="55" name="TextBox 54"/>
          <p:cNvSpPr txBox="1"/>
          <p:nvPr/>
        </p:nvSpPr>
        <p:spPr>
          <a:xfrm>
            <a:off x="9616196" y="4297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Documentation · onboarding · lessons learned</a:t>
            </a:r>
          </a:p>
        </p:txBody>
      </p:sp>
      <p:sp>
        <p:nvSpPr>
          <p:cNvPr id="56" name="TextBox 55"/>
          <p:cNvSpPr txBox="1"/>
          <p:nvPr/>
        </p:nvSpPr>
        <p:spPr>
          <a:xfrm>
            <a:off x="457200" y="5394960"/>
            <a:ext cx="9144000" cy="274320"/>
          </a:xfrm>
          <a:prstGeom prst="rect">
            <a:avLst/>
          </a:prstGeom>
          <a:noFill/>
        </p:spPr>
        <p:txBody>
          <a:bodyPr wrap="square" lIns="45720" rIns="45720" tIns="18288" bIns="18288" anchor="t">
            <a:spAutoFit/>
          </a:bodyPr>
          <a:lstStyle/>
          <a:p>
            <a:pPr algn="l"/>
            <a:r>
              <a:rPr sz="1200" b="1" i="0">
                <a:solidFill>
                  <a:srgbClr val="4C8C3F"/>
                </a:solidFill>
                <a:latin typeface="Arial"/>
              </a:rPr>
              <a:t>AREA CHAMPIONS — candidates to re-skill into Product Manager roles</a:t>
            </a:r>
          </a:p>
        </p:txBody>
      </p:sp>
      <p:sp>
        <p:nvSpPr>
          <p:cNvPr id="57" name="Rounded Rectangle 56"/>
          <p:cNvSpPr/>
          <p:nvPr/>
        </p:nvSpPr>
        <p:spPr>
          <a:xfrm>
            <a:off x="502920" y="5486400"/>
            <a:ext cx="1788109" cy="868680"/>
          </a:xfrm>
          <a:prstGeom prst="roundRect">
            <a:avLst>
              <a:gd name="adj" fmla="val 5000"/>
            </a:avLst>
          </a:prstGeom>
          <a:solidFill>
            <a:srgbClr val="E8F1E3"/>
          </a:solidFill>
          <a:ln w="127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553212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Iram Chowdhury — Smart Metering</a:t>
            </a:r>
          </a:p>
        </p:txBody>
      </p:sp>
      <p:sp>
        <p:nvSpPr>
          <p:cNvPr id="59" name="Rounded Rectangle 58"/>
          <p:cNvSpPr/>
          <p:nvPr/>
        </p:nvSpPr>
        <p:spPr>
          <a:xfrm>
            <a:off x="2382469" y="5486400"/>
            <a:ext cx="1788109" cy="868680"/>
          </a:xfrm>
          <a:prstGeom prst="roundRect">
            <a:avLst>
              <a:gd name="adj" fmla="val 5000"/>
            </a:avLst>
          </a:prstGeom>
          <a:solidFill>
            <a:srgbClr val="E8F1E3"/>
          </a:solidFill>
          <a:ln w="127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428189" y="553212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Andrew McGibbon — G&amp;E</a:t>
            </a:r>
          </a:p>
        </p:txBody>
      </p:sp>
      <p:sp>
        <p:nvSpPr>
          <p:cNvPr id="61" name="Rounded Rectangle 60"/>
          <p:cNvSpPr/>
          <p:nvPr/>
        </p:nvSpPr>
        <p:spPr>
          <a:xfrm>
            <a:off x="4262018" y="5486400"/>
            <a:ext cx="1788109" cy="868680"/>
          </a:xfrm>
          <a:prstGeom prst="roundRect">
            <a:avLst>
              <a:gd name="adj" fmla="val 5000"/>
            </a:avLst>
          </a:prstGeom>
          <a:solidFill>
            <a:srgbClr val="E8F1E3"/>
          </a:solidFill>
          <a:ln w="127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307738" y="553212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George Porto — GIS</a:t>
            </a:r>
          </a:p>
        </p:txBody>
      </p:sp>
      <p:sp>
        <p:nvSpPr>
          <p:cNvPr id="63" name="Rounded Rectangle 62"/>
          <p:cNvSpPr/>
          <p:nvPr/>
        </p:nvSpPr>
        <p:spPr>
          <a:xfrm>
            <a:off x="6141567" y="5486400"/>
            <a:ext cx="1788109" cy="868680"/>
          </a:xfrm>
          <a:prstGeom prst="roundRect">
            <a:avLst>
              <a:gd name="adj" fmla="val 5000"/>
            </a:avLst>
          </a:prstGeom>
          <a:solidFill>
            <a:srgbClr val="E8F1E3"/>
          </a:solidFill>
          <a:ln w="127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87287" y="553212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Michael Dubois — Global SAP</a:t>
            </a:r>
          </a:p>
        </p:txBody>
      </p:sp>
      <p:sp>
        <p:nvSpPr>
          <p:cNvPr id="65" name="Rounded Rectangle 64"/>
          <p:cNvSpPr/>
          <p:nvPr/>
        </p:nvSpPr>
        <p:spPr>
          <a:xfrm>
            <a:off x="8021116" y="5486400"/>
            <a:ext cx="1788109" cy="868680"/>
          </a:xfrm>
          <a:prstGeom prst="roundRect">
            <a:avLst>
              <a:gd name="adj" fmla="val 5000"/>
            </a:avLst>
          </a:prstGeom>
          <a:solidFill>
            <a:srgbClr val="E8F1E3"/>
          </a:solidFill>
          <a:ln w="127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066836" y="553212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Stephanie — SAP / CS</a:t>
            </a:r>
          </a:p>
        </p:txBody>
      </p:sp>
      <p:sp>
        <p:nvSpPr>
          <p:cNvPr id="67" name="Rounded Rectangle 66"/>
          <p:cNvSpPr/>
          <p:nvPr/>
        </p:nvSpPr>
        <p:spPr>
          <a:xfrm>
            <a:off x="9900665" y="5486400"/>
            <a:ext cx="1788109" cy="868680"/>
          </a:xfrm>
          <a:prstGeom prst="roundRect">
            <a:avLst>
              <a:gd name="adj" fmla="val 5000"/>
            </a:avLst>
          </a:prstGeom>
          <a:solidFill>
            <a:srgbClr val="E8F1E3"/>
          </a:solidFill>
          <a:ln w="127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946385" y="553212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Amit Patel — Corporate</a:t>
            </a:r>
          </a:p>
        </p:txBody>
      </p:sp>
      <p:sp>
        <p:nvSpPr>
          <p:cNvPr id="69" name="TextBox 68"/>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Forums · five cross-team coordination venues with explicit cadences</a:t>
            </a:r>
          </a:p>
        </p:txBody>
      </p:sp>
      <p:sp>
        <p:nvSpPr>
          <p:cNvPr id="4" name="Rounded Rectangle 3"/>
          <p:cNvSpPr/>
          <p:nvPr/>
        </p:nvSpPr>
        <p:spPr>
          <a:xfrm>
            <a:off x="457200" y="1005840"/>
            <a:ext cx="2167676" cy="493776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2167676"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REGIONAL FORUM</a:t>
            </a:r>
          </a:p>
        </p:txBody>
      </p:sp>
      <p:sp>
        <p:nvSpPr>
          <p:cNvPr id="7" name="TextBox 6"/>
          <p:cNvSpPr txBox="1"/>
          <p:nvPr/>
        </p:nvSpPr>
        <p:spPr>
          <a:xfrm>
            <a:off x="457200"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Quarterly</a:t>
            </a:r>
          </a:p>
        </p:txBody>
      </p:sp>
      <p:sp>
        <p:nvSpPr>
          <p:cNvPr id="8" name="TextBox 7"/>
          <p:cNvSpPr txBox="1"/>
          <p:nvPr/>
        </p:nvSpPr>
        <p:spPr>
          <a:xfrm>
            <a:off x="548640" y="1783080"/>
            <a:ext cx="1984796" cy="365760"/>
          </a:xfrm>
          <a:prstGeom prst="rect">
            <a:avLst/>
          </a:prstGeom>
          <a:noFill/>
        </p:spPr>
        <p:txBody>
          <a:bodyPr wrap="square" lIns="45720" rIns="45720" tIns="18288" bIns="18288" anchor="t">
            <a:spAutoFit/>
          </a:bodyPr>
          <a:lstStyle/>
          <a:p>
            <a:pPr algn="ctr"/>
            <a:r>
              <a:rPr sz="1050" b="1" i="0">
                <a:solidFill>
                  <a:srgbClr val="6785C1"/>
                </a:solidFill>
                <a:latin typeface="Arial"/>
              </a:rPr>
              <a:t>Per OPCO discussion</a:t>
            </a:r>
          </a:p>
        </p:txBody>
      </p:sp>
      <p:sp>
        <p:nvSpPr>
          <p:cNvPr id="9" name="TextBox 8"/>
          <p:cNvSpPr txBox="1"/>
          <p:nvPr/>
        </p:nvSpPr>
        <p:spPr>
          <a:xfrm>
            <a:off x="621792"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BRS UIL — UI · SCG · CNG · BGC (Connecticut)</a:t>
            </a:r>
          </a:p>
          <a:p>
            <a:pPr>
              <a:lnSpc>
                <a:spcPct val="140000"/>
              </a:lnSpc>
            </a:pPr>
            <a:r>
              <a:rPr sz="950" b="0">
                <a:solidFill>
                  <a:srgbClr val="2C3E50"/>
                </a:solidFill>
                <a:latin typeface="Arial"/>
              </a:rPr>
              <a:t>•  BRS CMP — Central Maine Power</a:t>
            </a:r>
          </a:p>
          <a:p>
            <a:pPr>
              <a:lnSpc>
                <a:spcPct val="140000"/>
              </a:lnSpc>
            </a:pPr>
            <a:r>
              <a:rPr sz="950" b="0">
                <a:solidFill>
                  <a:srgbClr val="2C3E50"/>
                </a:solidFill>
                <a:latin typeface="Arial"/>
              </a:rPr>
              <a:t>•  BRS NY — NYSEG · RGE</a:t>
            </a:r>
          </a:p>
          <a:p>
            <a:pPr>
              <a:lnSpc>
                <a:spcPct val="140000"/>
              </a:lnSpc>
            </a:pPr>
            <a:r>
              <a:rPr sz="950" b="0">
                <a:solidFill>
                  <a:srgbClr val="2C3E50"/>
                </a:solidFill>
                <a:latin typeface="Arial"/>
              </a:rPr>
              <a:t>•  Members: Value Stream PMs + business sponsors per OPCO</a:t>
            </a:r>
          </a:p>
        </p:txBody>
      </p:sp>
      <p:sp>
        <p:nvSpPr>
          <p:cNvPr id="10" name="Rounded Rectangle 9"/>
          <p:cNvSpPr/>
          <p:nvPr/>
        </p:nvSpPr>
        <p:spPr>
          <a:xfrm>
            <a:off x="2734604" y="1005840"/>
            <a:ext cx="2167676" cy="4937760"/>
          </a:xfrm>
          <a:prstGeom prst="roundRect">
            <a:avLst>
              <a:gd name="adj" fmla="val 4000"/>
            </a:avLst>
          </a:prstGeom>
          <a:solidFill>
            <a:srgbClr val="FFFFFF"/>
          </a:solidFill>
          <a:ln w="2540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34604" y="1005840"/>
            <a:ext cx="2167676" cy="6400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34604"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FUNCTIONAL FORUM</a:t>
            </a:r>
          </a:p>
        </p:txBody>
      </p:sp>
      <p:sp>
        <p:nvSpPr>
          <p:cNvPr id="13" name="TextBox 12"/>
          <p:cNvSpPr txBox="1"/>
          <p:nvPr/>
        </p:nvSpPr>
        <p:spPr>
          <a:xfrm>
            <a:off x="2734604"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Bi-weekly</a:t>
            </a:r>
          </a:p>
        </p:txBody>
      </p:sp>
      <p:sp>
        <p:nvSpPr>
          <p:cNvPr id="14" name="TextBox 13"/>
          <p:cNvSpPr txBox="1"/>
          <p:nvPr/>
        </p:nvSpPr>
        <p:spPr>
          <a:xfrm>
            <a:off x="2826044" y="1783080"/>
            <a:ext cx="1984796" cy="365760"/>
          </a:xfrm>
          <a:prstGeom prst="rect">
            <a:avLst/>
          </a:prstGeom>
          <a:noFill/>
        </p:spPr>
        <p:txBody>
          <a:bodyPr wrap="square" lIns="45720" rIns="45720" tIns="18288" bIns="18288" anchor="t">
            <a:spAutoFit/>
          </a:bodyPr>
          <a:lstStyle/>
          <a:p>
            <a:pPr algn="ctr"/>
            <a:r>
              <a:rPr sz="1050" b="1" i="0">
                <a:solidFill>
                  <a:srgbClr val="2B6B77"/>
                </a:solidFill>
                <a:latin typeface="Arial"/>
              </a:rPr>
              <a:t>Per role / function</a:t>
            </a:r>
          </a:p>
        </p:txBody>
      </p:sp>
      <p:sp>
        <p:nvSpPr>
          <p:cNvPr id="15" name="TextBox 14"/>
          <p:cNvSpPr txBox="1"/>
          <p:nvPr/>
        </p:nvSpPr>
        <p:spPr>
          <a:xfrm>
            <a:off x="2899196"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PM Council (cross-stream Product Managers)</a:t>
            </a:r>
          </a:p>
          <a:p>
            <a:pPr>
              <a:lnSpc>
                <a:spcPct val="140000"/>
              </a:lnSpc>
            </a:pPr>
            <a:r>
              <a:rPr sz="950" b="0">
                <a:solidFill>
                  <a:srgbClr val="2C3E50"/>
                </a:solidFill>
                <a:latin typeface="Arial"/>
              </a:rPr>
              <a:t>•  Tech Lead Council (cross-stream architecture review)</a:t>
            </a:r>
          </a:p>
          <a:p>
            <a:pPr>
              <a:lnSpc>
                <a:spcPct val="140000"/>
              </a:lnSpc>
            </a:pPr>
            <a:r>
              <a:rPr sz="950" b="0">
                <a:solidFill>
                  <a:srgbClr val="2C3E50"/>
                </a:solidFill>
                <a:latin typeface="Arial"/>
              </a:rPr>
              <a:t>•  Project Manager pool review (large-project coordination)</a:t>
            </a:r>
          </a:p>
          <a:p>
            <a:pPr>
              <a:lnSpc>
                <a:spcPct val="140000"/>
              </a:lnSpc>
            </a:pPr>
            <a:r>
              <a:rPr sz="950" b="0">
                <a:solidFill>
                  <a:srgbClr val="2C3E50"/>
                </a:solidFill>
                <a:latin typeface="Arial"/>
              </a:rPr>
              <a:t>•  Members: same role across teams</a:t>
            </a:r>
          </a:p>
        </p:txBody>
      </p:sp>
      <p:sp>
        <p:nvSpPr>
          <p:cNvPr id="16" name="Rounded Rectangle 15"/>
          <p:cNvSpPr/>
          <p:nvPr/>
        </p:nvSpPr>
        <p:spPr>
          <a:xfrm>
            <a:off x="5012009" y="1005840"/>
            <a:ext cx="2167676" cy="4937760"/>
          </a:xfrm>
          <a:prstGeom prst="roundRect">
            <a:avLst>
              <a:gd name="adj" fmla="val 4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12009" y="1005840"/>
            <a:ext cx="2167676" cy="6400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12009"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TECHNOLOGICAL FORUM</a:t>
            </a:r>
          </a:p>
        </p:txBody>
      </p:sp>
      <p:sp>
        <p:nvSpPr>
          <p:cNvPr id="19" name="TextBox 18"/>
          <p:cNvSpPr txBox="1"/>
          <p:nvPr/>
        </p:nvSpPr>
        <p:spPr>
          <a:xfrm>
            <a:off x="5012009"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Bi-weekly</a:t>
            </a:r>
          </a:p>
        </p:txBody>
      </p:sp>
      <p:sp>
        <p:nvSpPr>
          <p:cNvPr id="20" name="TextBox 19"/>
          <p:cNvSpPr txBox="1"/>
          <p:nvPr/>
        </p:nvSpPr>
        <p:spPr>
          <a:xfrm>
            <a:off x="5103449" y="1783080"/>
            <a:ext cx="1984796" cy="365760"/>
          </a:xfrm>
          <a:prstGeom prst="rect">
            <a:avLst/>
          </a:prstGeom>
          <a:noFill/>
        </p:spPr>
        <p:txBody>
          <a:bodyPr wrap="square" lIns="45720" rIns="45720" tIns="18288" bIns="18288" anchor="t">
            <a:spAutoFit/>
          </a:bodyPr>
          <a:lstStyle/>
          <a:p>
            <a:pPr algn="ctr"/>
            <a:r>
              <a:rPr sz="1050" b="1" i="0">
                <a:solidFill>
                  <a:srgbClr val="E88B2F"/>
                </a:solidFill>
                <a:latin typeface="Arial"/>
              </a:rPr>
              <a:t>Per technology stack</a:t>
            </a:r>
          </a:p>
        </p:txBody>
      </p:sp>
      <p:sp>
        <p:nvSpPr>
          <p:cNvPr id="21" name="TextBox 20"/>
          <p:cNvSpPr txBox="1"/>
          <p:nvPr/>
        </p:nvSpPr>
        <p:spPr>
          <a:xfrm>
            <a:off x="5176601"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SAP Forum — Local + Iberdrola</a:t>
            </a:r>
          </a:p>
          <a:p>
            <a:pPr>
              <a:lnSpc>
                <a:spcPct val="140000"/>
              </a:lnSpc>
            </a:pPr>
            <a:r>
              <a:rPr sz="950" b="0">
                <a:solidFill>
                  <a:srgbClr val="2C3E50"/>
                </a:solidFill>
                <a:latin typeface="Arial"/>
              </a:rPr>
              <a:t>•  Non-SAP Forum — GIS · Mobility · Document Mgmt</a:t>
            </a:r>
          </a:p>
          <a:p>
            <a:pPr>
              <a:lnSpc>
                <a:spcPct val="140000"/>
              </a:lnSpc>
            </a:pPr>
            <a:r>
              <a:rPr sz="950" b="0">
                <a:solidFill>
                  <a:srgbClr val="2C3E50"/>
                </a:solidFill>
                <a:latin typeface="Arial"/>
              </a:rPr>
              <a:t>•  Platform Forum — DevOps · Security · Test automation</a:t>
            </a:r>
          </a:p>
          <a:p>
            <a:pPr>
              <a:lnSpc>
                <a:spcPct val="140000"/>
              </a:lnSpc>
            </a:pPr>
            <a:r>
              <a:rPr sz="950" b="0">
                <a:solidFill>
                  <a:srgbClr val="2C3E50"/>
                </a:solidFill>
                <a:latin typeface="Arial"/>
              </a:rPr>
              <a:t>•  Members: technical leads + platform owners</a:t>
            </a:r>
          </a:p>
        </p:txBody>
      </p:sp>
      <p:sp>
        <p:nvSpPr>
          <p:cNvPr id="22" name="Rounded Rectangle 21"/>
          <p:cNvSpPr/>
          <p:nvPr/>
        </p:nvSpPr>
        <p:spPr>
          <a:xfrm>
            <a:off x="7289413" y="1005840"/>
            <a:ext cx="2167676" cy="493776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89413" y="1005840"/>
            <a:ext cx="2167676" cy="64008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89413"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CUSTOMER JOURNEY FORUM</a:t>
            </a:r>
          </a:p>
        </p:txBody>
      </p:sp>
      <p:sp>
        <p:nvSpPr>
          <p:cNvPr id="25" name="TextBox 24"/>
          <p:cNvSpPr txBox="1"/>
          <p:nvPr/>
        </p:nvSpPr>
        <p:spPr>
          <a:xfrm>
            <a:off x="7289413"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Weekly during active initiative</a:t>
            </a:r>
          </a:p>
        </p:txBody>
      </p:sp>
      <p:sp>
        <p:nvSpPr>
          <p:cNvPr id="26" name="TextBox 25"/>
          <p:cNvSpPr txBox="1"/>
          <p:nvPr/>
        </p:nvSpPr>
        <p:spPr>
          <a:xfrm>
            <a:off x="7380853" y="1783080"/>
            <a:ext cx="1984796" cy="365760"/>
          </a:xfrm>
          <a:prstGeom prst="rect">
            <a:avLst/>
          </a:prstGeom>
          <a:noFill/>
        </p:spPr>
        <p:txBody>
          <a:bodyPr wrap="square" lIns="45720" rIns="45720" tIns="18288" bIns="18288" anchor="t">
            <a:spAutoFit/>
          </a:bodyPr>
          <a:lstStyle/>
          <a:p>
            <a:pPr algn="ctr"/>
            <a:r>
              <a:rPr sz="1050" b="1" i="0">
                <a:solidFill>
                  <a:srgbClr val="7A66B8"/>
                </a:solidFill>
                <a:latin typeface="Arial"/>
              </a:rPr>
              <a:t>End-to-end customer experience</a:t>
            </a:r>
          </a:p>
        </p:txBody>
      </p:sp>
      <p:sp>
        <p:nvSpPr>
          <p:cNvPr id="27" name="TextBox 26"/>
          <p:cNvSpPr txBox="1"/>
          <p:nvPr/>
        </p:nvSpPr>
        <p:spPr>
          <a:xfrm>
            <a:off x="7454005"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M2C Journey — meter → bill → payment</a:t>
            </a:r>
          </a:p>
          <a:p>
            <a:pPr>
              <a:lnSpc>
                <a:spcPct val="140000"/>
              </a:lnSpc>
            </a:pPr>
            <a:r>
              <a:rPr sz="950" b="0">
                <a:solidFill>
                  <a:srgbClr val="2C3E50"/>
                </a:solidFill>
                <a:latin typeface="Arial"/>
              </a:rPr>
              <a:t>•  Self-Service Journey — portal · CRM · Contact Center</a:t>
            </a:r>
          </a:p>
          <a:p>
            <a:pPr>
              <a:lnSpc>
                <a:spcPct val="140000"/>
              </a:lnSpc>
            </a:pPr>
            <a:r>
              <a:rPr sz="950" b="0">
                <a:solidFill>
                  <a:srgbClr val="2C3E50"/>
                </a:solidFill>
                <a:latin typeface="Arial"/>
              </a:rPr>
              <a:t>•  Field Worker Journey — mobility · doc viewer · storm</a:t>
            </a:r>
          </a:p>
          <a:p>
            <a:pPr>
              <a:lnSpc>
                <a:spcPct val="140000"/>
              </a:lnSpc>
            </a:pPr>
            <a:r>
              <a:rPr sz="950" b="0">
                <a:solidFill>
                  <a:srgbClr val="2C3E50"/>
                </a:solidFill>
                <a:latin typeface="Arial"/>
              </a:rPr>
              <a:t>•  Members: PMs + UX + business sponsors</a:t>
            </a:r>
          </a:p>
        </p:txBody>
      </p:sp>
      <p:sp>
        <p:nvSpPr>
          <p:cNvPr id="28" name="Rounded Rectangle 27"/>
          <p:cNvSpPr/>
          <p:nvPr/>
        </p:nvSpPr>
        <p:spPr>
          <a:xfrm>
            <a:off x="9566818" y="1005840"/>
            <a:ext cx="2167676" cy="4937760"/>
          </a:xfrm>
          <a:prstGeom prst="roundRect">
            <a:avLst>
              <a:gd name="adj" fmla="val 4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6818" y="1005840"/>
            <a:ext cx="2167676"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66818"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PRODUCT FORUM</a:t>
            </a:r>
          </a:p>
        </p:txBody>
      </p:sp>
      <p:sp>
        <p:nvSpPr>
          <p:cNvPr id="31" name="TextBox 30"/>
          <p:cNvSpPr txBox="1"/>
          <p:nvPr/>
        </p:nvSpPr>
        <p:spPr>
          <a:xfrm>
            <a:off x="9566818"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Quarterly (Big Room Planning)</a:t>
            </a:r>
          </a:p>
        </p:txBody>
      </p:sp>
      <p:sp>
        <p:nvSpPr>
          <p:cNvPr id="32" name="TextBox 31"/>
          <p:cNvSpPr txBox="1"/>
          <p:nvPr/>
        </p:nvSpPr>
        <p:spPr>
          <a:xfrm>
            <a:off x="9658258" y="1783080"/>
            <a:ext cx="1984796" cy="365760"/>
          </a:xfrm>
          <a:prstGeom prst="rect">
            <a:avLst/>
          </a:prstGeom>
          <a:noFill/>
        </p:spPr>
        <p:txBody>
          <a:bodyPr wrap="square" lIns="45720" rIns="45720" tIns="18288" bIns="18288" anchor="t">
            <a:spAutoFit/>
          </a:bodyPr>
          <a:lstStyle/>
          <a:p>
            <a:pPr algn="ctr"/>
            <a:r>
              <a:rPr sz="1050" b="1" i="0">
                <a:solidFill>
                  <a:srgbClr val="4C8C3F"/>
                </a:solidFill>
                <a:latin typeface="Arial"/>
              </a:rPr>
              <a:t>Cross-stream product strategy</a:t>
            </a:r>
          </a:p>
        </p:txBody>
      </p:sp>
      <p:sp>
        <p:nvSpPr>
          <p:cNvPr id="33" name="TextBox 32"/>
          <p:cNvSpPr txBox="1"/>
          <p:nvPr/>
        </p:nvSpPr>
        <p:spPr>
          <a:xfrm>
            <a:off x="9731410"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BRP cadence with all Value Stream Teams</a:t>
            </a:r>
          </a:p>
          <a:p>
            <a:pPr>
              <a:lnSpc>
                <a:spcPct val="140000"/>
              </a:lnSpc>
            </a:pPr>
            <a:r>
              <a:rPr sz="950" b="0">
                <a:solidFill>
                  <a:srgbClr val="2C3E50"/>
                </a:solidFill>
                <a:latin typeface="Arial"/>
              </a:rPr>
              <a:t>•  Cross-stream roadmap sync</a:t>
            </a:r>
          </a:p>
          <a:p>
            <a:pPr>
              <a:lnSpc>
                <a:spcPct val="140000"/>
              </a:lnSpc>
            </a:pPr>
            <a:r>
              <a:rPr sz="950" b="0">
                <a:solidFill>
                  <a:srgbClr val="2C3E50"/>
                </a:solidFill>
                <a:latin typeface="Arial"/>
              </a:rPr>
              <a:t>•  Trade-off + sequencing decisions at portfolio level</a:t>
            </a:r>
          </a:p>
          <a:p>
            <a:pPr>
              <a:lnSpc>
                <a:spcPct val="140000"/>
              </a:lnSpc>
            </a:pPr>
            <a:r>
              <a:rPr sz="950" b="0">
                <a:solidFill>
                  <a:srgbClr val="2C3E50"/>
                </a:solidFill>
                <a:latin typeface="Arial"/>
              </a:rPr>
              <a:t>•  Members: Directors + PMs + Portfolio Manager</a:t>
            </a:r>
          </a:p>
        </p:txBody>
      </p:sp>
      <p:sp>
        <p:nvSpPr>
          <p:cNvPr id="34" name="TextBox 3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Portfolio architecture · three layers from VP rollup to team execution</a:t>
            </a:r>
          </a:p>
        </p:txBody>
      </p:sp>
      <p:sp>
        <p:nvSpPr>
          <p:cNvPr id="4" name="Rounded Rectangle 3"/>
          <p:cNvSpPr/>
          <p:nvPr/>
        </p:nvSpPr>
        <p:spPr>
          <a:xfrm>
            <a:off x="2286000" y="1005840"/>
            <a:ext cx="7589520" cy="777240"/>
          </a:xfrm>
          <a:prstGeom prst="roundRect">
            <a:avLst>
              <a:gd name="adj" fmla="val 4000"/>
            </a:avLst>
          </a:prstGeom>
          <a:solidFill>
            <a:srgbClr val="DCE6F5"/>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468880" y="1051560"/>
            <a:ext cx="7315200" cy="365760"/>
          </a:xfrm>
          <a:prstGeom prst="rect">
            <a:avLst/>
          </a:prstGeom>
          <a:noFill/>
        </p:spPr>
        <p:txBody>
          <a:bodyPr wrap="square" lIns="45720" rIns="45720" tIns="18288" bIns="18288" anchor="t">
            <a:spAutoFit/>
          </a:bodyPr>
          <a:lstStyle/>
          <a:p>
            <a:pPr algn="l"/>
            <a:r>
              <a:rPr sz="1400" b="1" i="0">
                <a:solidFill>
                  <a:srgbClr val="6785C1"/>
                </a:solidFill>
                <a:latin typeface="Arial"/>
              </a:rPr>
              <a:t>VP ROLL-UP DASHBOARD</a:t>
            </a:r>
          </a:p>
        </p:txBody>
      </p:sp>
      <p:sp>
        <p:nvSpPr>
          <p:cNvPr id="6" name="TextBox 5"/>
          <p:cNvSpPr txBox="1"/>
          <p:nvPr/>
        </p:nvSpPr>
        <p:spPr>
          <a:xfrm>
            <a:off x="2468880" y="1371600"/>
            <a:ext cx="7315200" cy="365760"/>
          </a:xfrm>
          <a:prstGeom prst="rect">
            <a:avLst/>
          </a:prstGeom>
          <a:noFill/>
        </p:spPr>
        <p:txBody>
          <a:bodyPr wrap="square" lIns="45720" rIns="45720" tIns="18288" bIns="18288" anchor="t">
            <a:spAutoFit/>
          </a:bodyPr>
          <a:lstStyle/>
          <a:p>
            <a:pPr algn="l"/>
            <a:r>
              <a:rPr sz="1000" b="0" i="1">
                <a:solidFill>
                  <a:srgbClr val="2C3E50"/>
                </a:solidFill>
                <a:latin typeface="Arial"/>
              </a:rPr>
              <a:t>Aggregated view across both portfolios · monthly Portfolio Sync</a:t>
            </a:r>
          </a:p>
        </p:txBody>
      </p:sp>
      <p:cxnSp>
        <p:nvCxnSpPr>
          <p:cNvPr id="7" name="Connector 6"/>
          <p:cNvCxnSpPr/>
          <p:nvPr/>
        </p:nvCxnSpPr>
        <p:spPr>
          <a:xfrm>
            <a:off x="6080760" y="1783080"/>
            <a:ext cx="0" cy="182880"/>
          </a:xfrm>
          <a:prstGeom prst="line">
            <a:avLst/>
          </a:prstGeom>
          <a:ln w="25400">
            <a:solidFill>
              <a:srgbClr val="213C69"/>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57200" y="1965960"/>
            <a:ext cx="5486400" cy="109728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65960"/>
            <a:ext cx="5486400" cy="4114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011680"/>
            <a:ext cx="5486400" cy="320040"/>
          </a:xfrm>
          <a:prstGeom prst="rect">
            <a:avLst/>
          </a:prstGeom>
          <a:noFill/>
        </p:spPr>
        <p:txBody>
          <a:bodyPr wrap="square" lIns="45720" rIns="45720" tIns="18288" bIns="18288" anchor="ctr">
            <a:spAutoFit/>
          </a:bodyPr>
          <a:lstStyle/>
          <a:p>
            <a:pPr algn="ctr"/>
            <a:r>
              <a:rPr sz="1200" b="1" i="0">
                <a:solidFill>
                  <a:srgbClr val="FFFFFF"/>
                </a:solidFill>
                <a:latin typeface="Arial"/>
              </a:rPr>
              <a:t>PORTFOLIO BOARD  ·  Customer Services Applications</a:t>
            </a:r>
          </a:p>
        </p:txBody>
      </p:sp>
      <p:sp>
        <p:nvSpPr>
          <p:cNvPr id="11" name="TextBox 10"/>
          <p:cNvSpPr txBox="1"/>
          <p:nvPr/>
        </p:nvSpPr>
        <p:spPr>
          <a:xfrm>
            <a:off x="640080" y="2423160"/>
            <a:ext cx="5120640" cy="594360"/>
          </a:xfrm>
          <a:prstGeom prst="rect">
            <a:avLst/>
          </a:prstGeom>
          <a:noFill/>
        </p:spPr>
        <p:txBody>
          <a:bodyPr wrap="square" lIns="45720" rIns="45720" tIns="18288" bIns="18288" anchor="t">
            <a:spAutoFit/>
          </a:bodyPr>
          <a:lstStyle/>
          <a:p>
            <a:pPr algn="l"/>
            <a:r>
              <a:rPr sz="1000" b="0" i="0">
                <a:solidFill>
                  <a:srgbClr val="2C3E50"/>
                </a:solidFill>
                <a:latin typeface="Arial"/>
              </a:rPr>
              <a:t>3 Value Streams · cards = Initiatives  ·  Owner: Kumar  ·  monthly Portfolio Committee</a:t>
            </a:r>
          </a:p>
        </p:txBody>
      </p:sp>
      <p:sp>
        <p:nvSpPr>
          <p:cNvPr id="12" name="Rounded Rectangle 11"/>
          <p:cNvSpPr/>
          <p:nvPr/>
        </p:nvSpPr>
        <p:spPr>
          <a:xfrm>
            <a:off x="6263640" y="1965960"/>
            <a:ext cx="5486400" cy="109728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965960"/>
            <a:ext cx="5486400" cy="4114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2011680"/>
            <a:ext cx="5486400" cy="320040"/>
          </a:xfrm>
          <a:prstGeom prst="rect">
            <a:avLst/>
          </a:prstGeom>
          <a:noFill/>
        </p:spPr>
        <p:txBody>
          <a:bodyPr wrap="square" lIns="45720" rIns="45720" tIns="18288" bIns="18288" anchor="ctr">
            <a:spAutoFit/>
          </a:bodyPr>
          <a:lstStyle/>
          <a:p>
            <a:pPr algn="ctr"/>
            <a:r>
              <a:rPr sz="1200" b="1" i="0">
                <a:solidFill>
                  <a:srgbClr val="FFFFFF"/>
                </a:solidFill>
                <a:latin typeface="Arial"/>
              </a:rPr>
              <a:t>PORTFOLIO BOARD  ·  IT Business Applications</a:t>
            </a:r>
          </a:p>
        </p:txBody>
      </p:sp>
      <p:sp>
        <p:nvSpPr>
          <p:cNvPr id="15" name="TextBox 14"/>
          <p:cNvSpPr txBox="1"/>
          <p:nvPr/>
        </p:nvSpPr>
        <p:spPr>
          <a:xfrm>
            <a:off x="6446520" y="2423160"/>
            <a:ext cx="5120640" cy="594360"/>
          </a:xfrm>
          <a:prstGeom prst="rect">
            <a:avLst/>
          </a:prstGeom>
          <a:noFill/>
        </p:spPr>
        <p:txBody>
          <a:bodyPr wrap="square" lIns="45720" rIns="45720" tIns="18288" bIns="18288" anchor="t">
            <a:spAutoFit/>
          </a:bodyPr>
          <a:lstStyle/>
          <a:p>
            <a:pPr algn="l"/>
            <a:r>
              <a:rPr sz="1000" b="0" i="0">
                <a:solidFill>
                  <a:srgbClr val="2C3E50"/>
                </a:solidFill>
                <a:latin typeface="Arial"/>
              </a:rPr>
              <a:t>5 Value Streams · cards = Initiatives  ·  Owner: Carlos  ·  monthly Portfolio Committee</a:t>
            </a:r>
          </a:p>
        </p:txBody>
      </p:sp>
      <p:cxnSp>
        <p:nvCxnSpPr>
          <p:cNvPr id="16" name="Connector 15"/>
          <p:cNvCxnSpPr/>
          <p:nvPr/>
        </p:nvCxnSpPr>
        <p:spPr>
          <a:xfrm>
            <a:off x="6080760" y="3063240"/>
            <a:ext cx="0" cy="457200"/>
          </a:xfrm>
          <a:prstGeom prst="line">
            <a:avLst/>
          </a:prstGeom>
          <a:ln w="25400">
            <a:solidFill>
              <a:srgbClr val="213C6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7200" y="3474719"/>
            <a:ext cx="11277295" cy="274320"/>
          </a:xfrm>
          <a:prstGeom prst="rect">
            <a:avLst/>
          </a:prstGeom>
          <a:noFill/>
        </p:spPr>
        <p:txBody>
          <a:bodyPr wrap="square" lIns="45720" rIns="45720" tIns="18288" bIns="18288" anchor="t">
            <a:spAutoFit/>
          </a:bodyPr>
          <a:lstStyle/>
          <a:p>
            <a:pPr algn="ctr"/>
            <a:r>
              <a:rPr sz="1300" b="1" i="0">
                <a:solidFill>
                  <a:srgbClr val="213C69"/>
                </a:solidFill>
                <a:latin typeface="Arial"/>
              </a:rPr>
              <a:t>EIGHT VALUE STREAM TEAM BOARDS  ·  cards = Epics → Stories  ·  five phases × dual track</a:t>
            </a:r>
          </a:p>
        </p:txBody>
      </p:sp>
      <p:sp>
        <p:nvSpPr>
          <p:cNvPr id="18" name="Rounded Rectangle 17"/>
          <p:cNvSpPr/>
          <p:nvPr/>
        </p:nvSpPr>
        <p:spPr>
          <a:xfrm>
            <a:off x="502920" y="3749039"/>
            <a:ext cx="1318221" cy="2194560"/>
          </a:xfrm>
          <a:prstGeom prst="roundRect">
            <a:avLst>
              <a:gd name="adj" fmla="val 4000"/>
            </a:avLst>
          </a:prstGeom>
          <a:solidFill>
            <a:srgbClr val="FFFFFF"/>
          </a:solidFill>
          <a:ln w="1905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749039"/>
            <a:ext cx="1318221" cy="4114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M2C-SL</a:t>
            </a:r>
          </a:p>
        </p:txBody>
      </p:sp>
      <p:sp>
        <p:nvSpPr>
          <p:cNvPr id="21" name="TextBox 20"/>
          <p:cNvSpPr txBox="1"/>
          <p:nvPr/>
        </p:nvSpPr>
        <p:spPr>
          <a:xfrm>
            <a:off x="548640"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Service Lifecycle</a:t>
            </a:r>
          </a:p>
        </p:txBody>
      </p:sp>
      <p:sp>
        <p:nvSpPr>
          <p:cNvPr id="22" name="TextBox 21"/>
          <p:cNvSpPr txBox="1"/>
          <p:nvPr/>
        </p:nvSpPr>
        <p:spPr>
          <a:xfrm>
            <a:off x="548640"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23" name="Rounded Rectangle 22"/>
          <p:cNvSpPr/>
          <p:nvPr/>
        </p:nvSpPr>
        <p:spPr>
          <a:xfrm>
            <a:off x="1912581" y="3749039"/>
            <a:ext cx="1318221" cy="2194560"/>
          </a:xfrm>
          <a:prstGeom prst="roundRect">
            <a:avLst>
              <a:gd name="adj" fmla="val 4000"/>
            </a:avLst>
          </a:prstGeom>
          <a:solidFill>
            <a:srgbClr val="FFFFFF"/>
          </a:solidFill>
          <a:ln w="1905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12581" y="3749039"/>
            <a:ext cx="1318221" cy="4114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12581"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M2C-RO</a:t>
            </a:r>
          </a:p>
        </p:txBody>
      </p:sp>
      <p:sp>
        <p:nvSpPr>
          <p:cNvPr id="26" name="TextBox 25"/>
          <p:cNvSpPr txBox="1"/>
          <p:nvPr/>
        </p:nvSpPr>
        <p:spPr>
          <a:xfrm>
            <a:off x="1958301"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Revenue Operations</a:t>
            </a:r>
          </a:p>
        </p:txBody>
      </p:sp>
      <p:sp>
        <p:nvSpPr>
          <p:cNvPr id="27" name="TextBox 26"/>
          <p:cNvSpPr txBox="1"/>
          <p:nvPr/>
        </p:nvSpPr>
        <p:spPr>
          <a:xfrm>
            <a:off x="1958301"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28" name="Rounded Rectangle 27"/>
          <p:cNvSpPr/>
          <p:nvPr/>
        </p:nvSpPr>
        <p:spPr>
          <a:xfrm>
            <a:off x="3322243" y="3749039"/>
            <a:ext cx="1318221" cy="2194560"/>
          </a:xfrm>
          <a:prstGeom prst="roundRect">
            <a:avLst>
              <a:gd name="adj" fmla="val 4000"/>
            </a:avLst>
          </a:prstGeom>
          <a:solidFill>
            <a:srgbClr val="FFFFFF"/>
          </a:solidFill>
          <a:ln w="1905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22243" y="3749039"/>
            <a:ext cx="1318221" cy="4114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22243"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CCC</a:t>
            </a:r>
          </a:p>
        </p:txBody>
      </p:sp>
      <p:sp>
        <p:nvSpPr>
          <p:cNvPr id="31" name="TextBox 30"/>
          <p:cNvSpPr txBox="1"/>
          <p:nvPr/>
        </p:nvSpPr>
        <p:spPr>
          <a:xfrm>
            <a:off x="3367963"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Customer Care</a:t>
            </a:r>
          </a:p>
        </p:txBody>
      </p:sp>
      <p:sp>
        <p:nvSpPr>
          <p:cNvPr id="32" name="TextBox 31"/>
          <p:cNvSpPr txBox="1"/>
          <p:nvPr/>
        </p:nvSpPr>
        <p:spPr>
          <a:xfrm>
            <a:off x="3367963"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33" name="Rounded Rectangle 32"/>
          <p:cNvSpPr/>
          <p:nvPr/>
        </p:nvSpPr>
        <p:spPr>
          <a:xfrm>
            <a:off x="4731905" y="3749039"/>
            <a:ext cx="1318221" cy="2194560"/>
          </a:xfrm>
          <a:prstGeom prst="roundRect">
            <a:avLst>
              <a:gd name="adj" fmla="val 4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31905" y="3749039"/>
            <a:ext cx="1318221" cy="4114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31905"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FOPS</a:t>
            </a:r>
          </a:p>
        </p:txBody>
      </p:sp>
      <p:sp>
        <p:nvSpPr>
          <p:cNvPr id="36" name="TextBox 35"/>
          <p:cNvSpPr txBox="1"/>
          <p:nvPr/>
        </p:nvSpPr>
        <p:spPr>
          <a:xfrm>
            <a:off x="4777625"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Field Operations</a:t>
            </a:r>
          </a:p>
        </p:txBody>
      </p:sp>
      <p:sp>
        <p:nvSpPr>
          <p:cNvPr id="37" name="TextBox 36"/>
          <p:cNvSpPr txBox="1"/>
          <p:nvPr/>
        </p:nvSpPr>
        <p:spPr>
          <a:xfrm>
            <a:off x="4777625"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38" name="Rounded Rectangle 37"/>
          <p:cNvSpPr/>
          <p:nvPr/>
        </p:nvSpPr>
        <p:spPr>
          <a:xfrm>
            <a:off x="6141567" y="3749039"/>
            <a:ext cx="1318221" cy="2194560"/>
          </a:xfrm>
          <a:prstGeom prst="roundRect">
            <a:avLst>
              <a:gd name="adj" fmla="val 4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41567" y="3749039"/>
            <a:ext cx="1318221" cy="4114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41567"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E&amp;A</a:t>
            </a:r>
          </a:p>
        </p:txBody>
      </p:sp>
      <p:sp>
        <p:nvSpPr>
          <p:cNvPr id="41" name="TextBox 40"/>
          <p:cNvSpPr txBox="1"/>
          <p:nvPr/>
        </p:nvSpPr>
        <p:spPr>
          <a:xfrm>
            <a:off x="6187287"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Engineering &amp; Asset</a:t>
            </a:r>
          </a:p>
        </p:txBody>
      </p:sp>
      <p:sp>
        <p:nvSpPr>
          <p:cNvPr id="42" name="TextBox 41"/>
          <p:cNvSpPr txBox="1"/>
          <p:nvPr/>
        </p:nvSpPr>
        <p:spPr>
          <a:xfrm>
            <a:off x="6187287"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43" name="Rounded Rectangle 42"/>
          <p:cNvSpPr/>
          <p:nvPr/>
        </p:nvSpPr>
        <p:spPr>
          <a:xfrm>
            <a:off x="7551229" y="3749039"/>
            <a:ext cx="1318221" cy="2194560"/>
          </a:xfrm>
          <a:prstGeom prst="roundRect">
            <a:avLst>
              <a:gd name="adj" fmla="val 4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51229" y="3749039"/>
            <a:ext cx="1318221" cy="4114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51229"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NOC</a:t>
            </a:r>
          </a:p>
        </p:txBody>
      </p:sp>
      <p:sp>
        <p:nvSpPr>
          <p:cNvPr id="46" name="TextBox 45"/>
          <p:cNvSpPr txBox="1"/>
          <p:nvPr/>
        </p:nvSpPr>
        <p:spPr>
          <a:xfrm>
            <a:off x="7596949"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Network Operations</a:t>
            </a:r>
          </a:p>
        </p:txBody>
      </p:sp>
      <p:sp>
        <p:nvSpPr>
          <p:cNvPr id="47" name="TextBox 46"/>
          <p:cNvSpPr txBox="1"/>
          <p:nvPr/>
        </p:nvSpPr>
        <p:spPr>
          <a:xfrm>
            <a:off x="7596949"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48" name="Rounded Rectangle 47"/>
          <p:cNvSpPr/>
          <p:nvPr/>
        </p:nvSpPr>
        <p:spPr>
          <a:xfrm>
            <a:off x="8960891" y="3749039"/>
            <a:ext cx="1318221" cy="2194560"/>
          </a:xfrm>
          <a:prstGeom prst="roundRect">
            <a:avLst>
              <a:gd name="adj" fmla="val 4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960891" y="3749039"/>
            <a:ext cx="1318221" cy="4114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60891"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C&amp;R</a:t>
            </a:r>
          </a:p>
        </p:txBody>
      </p:sp>
      <p:sp>
        <p:nvSpPr>
          <p:cNvPr id="51" name="TextBox 50"/>
          <p:cNvSpPr txBox="1"/>
          <p:nvPr/>
        </p:nvSpPr>
        <p:spPr>
          <a:xfrm>
            <a:off x="9006611"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Corporate &amp; Regulatory</a:t>
            </a:r>
          </a:p>
        </p:txBody>
      </p:sp>
      <p:sp>
        <p:nvSpPr>
          <p:cNvPr id="52" name="TextBox 51"/>
          <p:cNvSpPr txBox="1"/>
          <p:nvPr/>
        </p:nvSpPr>
        <p:spPr>
          <a:xfrm>
            <a:off x="9006611"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53" name="Rounded Rectangle 52"/>
          <p:cNvSpPr/>
          <p:nvPr/>
        </p:nvSpPr>
        <p:spPr>
          <a:xfrm>
            <a:off x="10370553" y="3749039"/>
            <a:ext cx="1318221" cy="2194560"/>
          </a:xfrm>
          <a:prstGeom prst="roundRect">
            <a:avLst>
              <a:gd name="adj" fmla="val 4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370553" y="3749039"/>
            <a:ext cx="1318221" cy="4114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70553"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IBD</a:t>
            </a:r>
          </a:p>
        </p:txBody>
      </p:sp>
      <p:sp>
        <p:nvSpPr>
          <p:cNvPr id="56" name="TextBox 55"/>
          <p:cNvSpPr txBox="1"/>
          <p:nvPr/>
        </p:nvSpPr>
        <p:spPr>
          <a:xfrm>
            <a:off x="10416273"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Iberdrola Corp</a:t>
            </a:r>
          </a:p>
        </p:txBody>
      </p:sp>
      <p:sp>
        <p:nvSpPr>
          <p:cNvPr id="57" name="TextBox 56"/>
          <p:cNvSpPr txBox="1"/>
          <p:nvPr/>
        </p:nvSpPr>
        <p:spPr>
          <a:xfrm>
            <a:off x="10416273"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58" name="TextBox 57"/>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Step-level policies · what happens at each stage and who is responsible</a:t>
            </a:r>
          </a:p>
        </p:txBody>
      </p:sp>
      <p:sp>
        <p:nvSpPr>
          <p:cNvPr id="4" name="Rounded Rectangle 3"/>
          <p:cNvSpPr/>
          <p:nvPr/>
        </p:nvSpPr>
        <p:spPr>
          <a:xfrm>
            <a:off x="457200" y="914400"/>
            <a:ext cx="5592927" cy="548640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914400"/>
            <a:ext cx="5592927" cy="50292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592927" cy="411480"/>
          </a:xfrm>
          <a:prstGeom prst="rect">
            <a:avLst/>
          </a:prstGeom>
          <a:noFill/>
        </p:spPr>
        <p:txBody>
          <a:bodyPr wrap="square" lIns="45720" rIns="45720" tIns="18288" bIns="18288" anchor="ctr">
            <a:spAutoFit/>
          </a:bodyPr>
          <a:lstStyle/>
          <a:p>
            <a:pPr algn="ctr"/>
            <a:r>
              <a:rPr sz="1300" b="1" i="0">
                <a:solidFill>
                  <a:srgbClr val="FFFFFF"/>
                </a:solidFill>
                <a:latin typeface="Arial"/>
              </a:rPr>
              <a:t>PORTFOLIO BOARD  ·  cards = INITIATIVES</a:t>
            </a:r>
          </a:p>
        </p:txBody>
      </p:sp>
      <p:sp>
        <p:nvSpPr>
          <p:cNvPr id="7" name="Rectangle 6"/>
          <p:cNvSpPr/>
          <p:nvPr/>
        </p:nvSpPr>
        <p:spPr>
          <a:xfrm>
            <a:off x="640080" y="1554480"/>
            <a:ext cx="73152" cy="627017"/>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72768"/>
            <a:ext cx="5135727" cy="228600"/>
          </a:xfrm>
          <a:prstGeom prst="rect">
            <a:avLst/>
          </a:prstGeom>
          <a:noFill/>
        </p:spPr>
        <p:txBody>
          <a:bodyPr wrap="square" lIns="45720" rIns="45720" tIns="18288" bIns="18288" anchor="t">
            <a:spAutoFit/>
          </a:bodyPr>
          <a:lstStyle/>
          <a:p>
            <a:pPr algn="l"/>
            <a:r>
              <a:rPr sz="1100" b="1" i="0">
                <a:solidFill>
                  <a:srgbClr val="E6B600"/>
                </a:solidFill>
                <a:latin typeface="Arial"/>
              </a:rPr>
              <a:t>Funnel</a:t>
            </a:r>
          </a:p>
        </p:txBody>
      </p:sp>
      <p:sp>
        <p:nvSpPr>
          <p:cNvPr id="9" name="TextBox 8"/>
          <p:cNvSpPr txBox="1"/>
          <p:nvPr/>
        </p:nvSpPr>
        <p:spPr>
          <a:xfrm>
            <a:off x="822960" y="1755648"/>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Idea submitted with problem statement</a:t>
            </a:r>
          </a:p>
        </p:txBody>
      </p:sp>
      <p:sp>
        <p:nvSpPr>
          <p:cNvPr id="10" name="TextBox 9"/>
          <p:cNvSpPr txBox="1"/>
          <p:nvPr/>
        </p:nvSpPr>
        <p:spPr>
          <a:xfrm>
            <a:off x="822960" y="1938528"/>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Owner: Sponsor</a:t>
            </a:r>
          </a:p>
        </p:txBody>
      </p:sp>
      <p:sp>
        <p:nvSpPr>
          <p:cNvPr id="11" name="TextBox 10"/>
          <p:cNvSpPr txBox="1"/>
          <p:nvPr/>
        </p:nvSpPr>
        <p:spPr>
          <a:xfrm>
            <a:off x="822960" y="210312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Reviewer: Demand Manager</a:t>
            </a:r>
          </a:p>
        </p:txBody>
      </p:sp>
      <p:sp>
        <p:nvSpPr>
          <p:cNvPr id="12" name="Rectangle 11"/>
          <p:cNvSpPr/>
          <p:nvPr/>
        </p:nvSpPr>
        <p:spPr>
          <a:xfrm>
            <a:off x="640080" y="2227217"/>
            <a:ext cx="73152" cy="627017"/>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245505"/>
            <a:ext cx="5135727" cy="228600"/>
          </a:xfrm>
          <a:prstGeom prst="rect">
            <a:avLst/>
          </a:prstGeom>
          <a:noFill/>
        </p:spPr>
        <p:txBody>
          <a:bodyPr wrap="square" lIns="45720" rIns="45720" tIns="18288" bIns="18288" anchor="t">
            <a:spAutoFit/>
          </a:bodyPr>
          <a:lstStyle/>
          <a:p>
            <a:pPr algn="l"/>
            <a:r>
              <a:rPr sz="1100" b="1" i="0">
                <a:solidFill>
                  <a:srgbClr val="E6B600"/>
                </a:solidFill>
                <a:latin typeface="Arial"/>
              </a:rPr>
              <a:t>Reviewing</a:t>
            </a:r>
          </a:p>
        </p:txBody>
      </p:sp>
      <p:sp>
        <p:nvSpPr>
          <p:cNvPr id="14" name="TextBox 13"/>
          <p:cNvSpPr txBox="1"/>
          <p:nvPr/>
        </p:nvSpPr>
        <p:spPr>
          <a:xfrm>
            <a:off x="822960" y="2428385"/>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Business case refined · classification applied</a:t>
            </a:r>
          </a:p>
        </p:txBody>
      </p:sp>
      <p:sp>
        <p:nvSpPr>
          <p:cNvPr id="15" name="TextBox 14"/>
          <p:cNvSpPr txBox="1"/>
          <p:nvPr/>
        </p:nvSpPr>
        <p:spPr>
          <a:xfrm>
            <a:off x="822960" y="2611265"/>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Owner: Sponsor + Demand Manager</a:t>
            </a:r>
          </a:p>
        </p:txBody>
      </p:sp>
      <p:sp>
        <p:nvSpPr>
          <p:cNvPr id="16" name="TextBox 15"/>
          <p:cNvSpPr txBox="1"/>
          <p:nvPr/>
        </p:nvSpPr>
        <p:spPr>
          <a:xfrm>
            <a:off x="822960" y="2775857"/>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SLA: 2 weeks</a:t>
            </a:r>
          </a:p>
        </p:txBody>
      </p:sp>
      <p:sp>
        <p:nvSpPr>
          <p:cNvPr id="17" name="Rectangle 16"/>
          <p:cNvSpPr/>
          <p:nvPr/>
        </p:nvSpPr>
        <p:spPr>
          <a:xfrm>
            <a:off x="640080" y="2899954"/>
            <a:ext cx="73152" cy="627017"/>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918242"/>
            <a:ext cx="5135727" cy="228600"/>
          </a:xfrm>
          <a:prstGeom prst="rect">
            <a:avLst/>
          </a:prstGeom>
          <a:noFill/>
        </p:spPr>
        <p:txBody>
          <a:bodyPr wrap="square" lIns="45720" rIns="45720" tIns="18288" bIns="18288" anchor="t">
            <a:spAutoFit/>
          </a:bodyPr>
          <a:lstStyle/>
          <a:p>
            <a:pPr algn="l"/>
            <a:r>
              <a:rPr sz="1100" b="1" i="0">
                <a:solidFill>
                  <a:srgbClr val="E6B600"/>
                </a:solidFill>
                <a:latin typeface="Arial"/>
              </a:rPr>
              <a:t>Analyzing</a:t>
            </a:r>
          </a:p>
        </p:txBody>
      </p:sp>
      <p:sp>
        <p:nvSpPr>
          <p:cNvPr id="19" name="TextBox 18"/>
          <p:cNvSpPr txBox="1"/>
          <p:nvPr/>
        </p:nvSpPr>
        <p:spPr>
          <a:xfrm>
            <a:off x="822960" y="3101122"/>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Sized · scored · feasibility checked</a:t>
            </a:r>
          </a:p>
        </p:txBody>
      </p:sp>
      <p:sp>
        <p:nvSpPr>
          <p:cNvPr id="20" name="TextBox 19"/>
          <p:cNvSpPr txBox="1"/>
          <p:nvPr/>
        </p:nvSpPr>
        <p:spPr>
          <a:xfrm>
            <a:off x="822960" y="3284002"/>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Owner: Demand Manager + Architect</a:t>
            </a:r>
          </a:p>
        </p:txBody>
      </p:sp>
      <p:sp>
        <p:nvSpPr>
          <p:cNvPr id="21" name="TextBox 20"/>
          <p:cNvSpPr txBox="1"/>
          <p:nvPr/>
        </p:nvSpPr>
        <p:spPr>
          <a:xfrm>
            <a:off x="822960" y="3448594"/>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Output: Pain Score, T-shirt effort, Class of Service</a:t>
            </a:r>
          </a:p>
        </p:txBody>
      </p:sp>
      <p:sp>
        <p:nvSpPr>
          <p:cNvPr id="22" name="Rectangle 21"/>
          <p:cNvSpPr/>
          <p:nvPr/>
        </p:nvSpPr>
        <p:spPr>
          <a:xfrm>
            <a:off x="640080" y="3572691"/>
            <a:ext cx="73152" cy="627017"/>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590979"/>
            <a:ext cx="5135727" cy="228600"/>
          </a:xfrm>
          <a:prstGeom prst="rect">
            <a:avLst/>
          </a:prstGeom>
          <a:noFill/>
        </p:spPr>
        <p:txBody>
          <a:bodyPr wrap="square" lIns="45720" rIns="45720" tIns="18288" bIns="18288" anchor="t">
            <a:spAutoFit/>
          </a:bodyPr>
          <a:lstStyle/>
          <a:p>
            <a:pPr algn="l"/>
            <a:r>
              <a:rPr sz="1100" b="1" i="0">
                <a:solidFill>
                  <a:srgbClr val="E6B600"/>
                </a:solidFill>
                <a:latin typeface="Arial"/>
              </a:rPr>
              <a:t>Approval Gate</a:t>
            </a:r>
          </a:p>
        </p:txBody>
      </p:sp>
      <p:sp>
        <p:nvSpPr>
          <p:cNvPr id="24" name="TextBox 23"/>
          <p:cNvSpPr txBox="1"/>
          <p:nvPr/>
        </p:nvSpPr>
        <p:spPr>
          <a:xfrm>
            <a:off x="822960" y="3773859"/>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Go / No-Go decision</a:t>
            </a:r>
          </a:p>
        </p:txBody>
      </p:sp>
      <p:sp>
        <p:nvSpPr>
          <p:cNvPr id="25" name="TextBox 24"/>
          <p:cNvSpPr txBox="1"/>
          <p:nvPr/>
        </p:nvSpPr>
        <p:spPr>
          <a:xfrm>
            <a:off x="822960" y="3956739"/>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Decider: Director (Carlos / Kumar)</a:t>
            </a:r>
          </a:p>
        </p:txBody>
      </p:sp>
      <p:sp>
        <p:nvSpPr>
          <p:cNvPr id="26" name="TextBox 25"/>
          <p:cNvSpPr txBox="1"/>
          <p:nvPr/>
        </p:nvSpPr>
        <p:spPr>
          <a:xfrm>
            <a:off x="822960" y="4121331"/>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Cadence: monthly Portfolio Committee</a:t>
            </a:r>
          </a:p>
        </p:txBody>
      </p:sp>
      <p:sp>
        <p:nvSpPr>
          <p:cNvPr id="27" name="Rectangle 26"/>
          <p:cNvSpPr/>
          <p:nvPr/>
        </p:nvSpPr>
        <p:spPr>
          <a:xfrm>
            <a:off x="640080" y="4245428"/>
            <a:ext cx="73152" cy="627017"/>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263716"/>
            <a:ext cx="5135727" cy="228600"/>
          </a:xfrm>
          <a:prstGeom prst="rect">
            <a:avLst/>
          </a:prstGeom>
          <a:noFill/>
        </p:spPr>
        <p:txBody>
          <a:bodyPr wrap="square" lIns="45720" rIns="45720" tIns="18288" bIns="18288" anchor="t">
            <a:spAutoFit/>
          </a:bodyPr>
          <a:lstStyle/>
          <a:p>
            <a:pPr algn="l"/>
            <a:r>
              <a:rPr sz="1100" b="1" i="0">
                <a:solidFill>
                  <a:srgbClr val="E6B600"/>
                </a:solidFill>
                <a:latin typeface="Arial"/>
              </a:rPr>
              <a:t>Backlog</a:t>
            </a:r>
          </a:p>
        </p:txBody>
      </p:sp>
      <p:sp>
        <p:nvSpPr>
          <p:cNvPr id="29" name="TextBox 28"/>
          <p:cNvSpPr txBox="1"/>
          <p:nvPr/>
        </p:nvSpPr>
        <p:spPr>
          <a:xfrm>
            <a:off x="822960" y="4446596"/>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Approved · awaiting capacity</a:t>
            </a:r>
          </a:p>
        </p:txBody>
      </p:sp>
      <p:sp>
        <p:nvSpPr>
          <p:cNvPr id="30" name="TextBox 29"/>
          <p:cNvSpPr txBox="1"/>
          <p:nvPr/>
        </p:nvSpPr>
        <p:spPr>
          <a:xfrm>
            <a:off x="822960" y="4629476"/>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Owner: Portfolio Manager</a:t>
            </a:r>
          </a:p>
        </p:txBody>
      </p:sp>
      <p:sp>
        <p:nvSpPr>
          <p:cNvPr id="31" name="TextBox 30"/>
          <p:cNvSpPr txBox="1"/>
          <p:nvPr/>
        </p:nvSpPr>
        <p:spPr>
          <a:xfrm>
            <a:off x="822960" y="4794068"/>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Sequencing by Class of Service + score</a:t>
            </a:r>
          </a:p>
        </p:txBody>
      </p:sp>
      <p:sp>
        <p:nvSpPr>
          <p:cNvPr id="32" name="Rectangle 31"/>
          <p:cNvSpPr/>
          <p:nvPr/>
        </p:nvSpPr>
        <p:spPr>
          <a:xfrm>
            <a:off x="640080" y="4918165"/>
            <a:ext cx="73152" cy="627017"/>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936453"/>
            <a:ext cx="5135727" cy="228600"/>
          </a:xfrm>
          <a:prstGeom prst="rect">
            <a:avLst/>
          </a:prstGeom>
          <a:noFill/>
        </p:spPr>
        <p:txBody>
          <a:bodyPr wrap="square" lIns="45720" rIns="45720" tIns="18288" bIns="18288" anchor="t">
            <a:spAutoFit/>
          </a:bodyPr>
          <a:lstStyle/>
          <a:p>
            <a:pPr algn="l"/>
            <a:r>
              <a:rPr sz="1100" b="1" i="0">
                <a:solidFill>
                  <a:srgbClr val="E6B600"/>
                </a:solidFill>
                <a:latin typeface="Arial"/>
              </a:rPr>
              <a:t>Implementing</a:t>
            </a:r>
          </a:p>
        </p:txBody>
      </p:sp>
      <p:sp>
        <p:nvSpPr>
          <p:cNvPr id="34" name="TextBox 33"/>
          <p:cNvSpPr txBox="1"/>
          <p:nvPr/>
        </p:nvSpPr>
        <p:spPr>
          <a:xfrm>
            <a:off x="822960" y="5119333"/>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Assigned to Value Stream Team</a:t>
            </a:r>
          </a:p>
        </p:txBody>
      </p:sp>
      <p:sp>
        <p:nvSpPr>
          <p:cNvPr id="35" name="TextBox 34"/>
          <p:cNvSpPr txBox="1"/>
          <p:nvPr/>
        </p:nvSpPr>
        <p:spPr>
          <a:xfrm>
            <a:off x="822960" y="5302213"/>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Owner: Team PM</a:t>
            </a:r>
          </a:p>
        </p:txBody>
      </p:sp>
      <p:sp>
        <p:nvSpPr>
          <p:cNvPr id="36" name="TextBox 35"/>
          <p:cNvSpPr txBox="1"/>
          <p:nvPr/>
        </p:nvSpPr>
        <p:spPr>
          <a:xfrm>
            <a:off x="822960" y="5466805"/>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Tracked at Layer 0 VP Dashboard</a:t>
            </a:r>
          </a:p>
        </p:txBody>
      </p:sp>
      <p:sp>
        <p:nvSpPr>
          <p:cNvPr id="37" name="Rectangle 36"/>
          <p:cNvSpPr/>
          <p:nvPr/>
        </p:nvSpPr>
        <p:spPr>
          <a:xfrm>
            <a:off x="640080" y="5590902"/>
            <a:ext cx="73152" cy="627017"/>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609190"/>
            <a:ext cx="5135727" cy="228600"/>
          </a:xfrm>
          <a:prstGeom prst="rect">
            <a:avLst/>
          </a:prstGeom>
          <a:noFill/>
        </p:spPr>
        <p:txBody>
          <a:bodyPr wrap="square" lIns="45720" rIns="45720" tIns="18288" bIns="18288" anchor="t">
            <a:spAutoFit/>
          </a:bodyPr>
          <a:lstStyle/>
          <a:p>
            <a:pPr algn="l"/>
            <a:r>
              <a:rPr sz="1100" b="1" i="0">
                <a:solidFill>
                  <a:srgbClr val="E6B600"/>
                </a:solidFill>
                <a:latin typeface="Arial"/>
              </a:rPr>
              <a:t>Done</a:t>
            </a:r>
          </a:p>
        </p:txBody>
      </p:sp>
      <p:sp>
        <p:nvSpPr>
          <p:cNvPr id="39" name="TextBox 38"/>
          <p:cNvSpPr txBox="1"/>
          <p:nvPr/>
        </p:nvSpPr>
        <p:spPr>
          <a:xfrm>
            <a:off x="822960" y="5792070"/>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Value realized · post-implementation review</a:t>
            </a:r>
          </a:p>
        </p:txBody>
      </p:sp>
      <p:sp>
        <p:nvSpPr>
          <p:cNvPr id="40" name="TextBox 39"/>
          <p:cNvSpPr txBox="1"/>
          <p:nvPr/>
        </p:nvSpPr>
        <p:spPr>
          <a:xfrm>
            <a:off x="822960" y="597495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Owner: Sponsor + PM</a:t>
            </a:r>
          </a:p>
        </p:txBody>
      </p:sp>
      <p:sp>
        <p:nvSpPr>
          <p:cNvPr id="41" name="TextBox 40"/>
          <p:cNvSpPr txBox="1"/>
          <p:nvPr/>
        </p:nvSpPr>
        <p:spPr>
          <a:xfrm>
            <a:off x="822960" y="6139542"/>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Outcome metrics captured</a:t>
            </a:r>
          </a:p>
        </p:txBody>
      </p:sp>
      <p:sp>
        <p:nvSpPr>
          <p:cNvPr id="42" name="Rounded Rectangle 41"/>
          <p:cNvSpPr/>
          <p:nvPr/>
        </p:nvSpPr>
        <p:spPr>
          <a:xfrm>
            <a:off x="6141567" y="914400"/>
            <a:ext cx="5592927" cy="548640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41567" y="914400"/>
            <a:ext cx="5592927" cy="5029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41567" y="960120"/>
            <a:ext cx="5592927" cy="411480"/>
          </a:xfrm>
          <a:prstGeom prst="rect">
            <a:avLst/>
          </a:prstGeom>
          <a:noFill/>
        </p:spPr>
        <p:txBody>
          <a:bodyPr wrap="square" lIns="45720" rIns="45720" tIns="18288" bIns="18288" anchor="ctr">
            <a:spAutoFit/>
          </a:bodyPr>
          <a:lstStyle/>
          <a:p>
            <a:pPr algn="ctr"/>
            <a:r>
              <a:rPr sz="1300" b="1" i="0">
                <a:solidFill>
                  <a:srgbClr val="FFFFFF"/>
                </a:solidFill>
                <a:latin typeface="Arial"/>
              </a:rPr>
              <a:t>TEAM KANBAN  ·  cards = EPICS · STORIES</a:t>
            </a:r>
          </a:p>
        </p:txBody>
      </p:sp>
      <p:sp>
        <p:nvSpPr>
          <p:cNvPr id="45" name="Rectangle 44"/>
          <p:cNvSpPr/>
          <p:nvPr/>
        </p:nvSpPr>
        <p:spPr>
          <a:xfrm>
            <a:off x="6324447" y="1554480"/>
            <a:ext cx="73152" cy="7391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07327" y="1572768"/>
            <a:ext cx="5135727" cy="228600"/>
          </a:xfrm>
          <a:prstGeom prst="rect">
            <a:avLst/>
          </a:prstGeom>
          <a:noFill/>
        </p:spPr>
        <p:txBody>
          <a:bodyPr wrap="square" lIns="45720" rIns="45720" tIns="18288" bIns="18288" anchor="t">
            <a:spAutoFit/>
          </a:bodyPr>
          <a:lstStyle/>
          <a:p>
            <a:pPr algn="l"/>
            <a:r>
              <a:rPr sz="1100" b="1" i="0">
                <a:solidFill>
                  <a:srgbClr val="6785C1"/>
                </a:solidFill>
                <a:latin typeface="Arial"/>
              </a:rPr>
              <a:t>Phase 0 — Discovery</a:t>
            </a:r>
          </a:p>
        </p:txBody>
      </p:sp>
      <p:sp>
        <p:nvSpPr>
          <p:cNvPr id="47" name="TextBox 46"/>
          <p:cNvSpPr txBox="1"/>
          <p:nvPr/>
        </p:nvSpPr>
        <p:spPr>
          <a:xfrm>
            <a:off x="6507327" y="178308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Problem framing · users · hypothesis</a:t>
            </a:r>
          </a:p>
        </p:txBody>
      </p:sp>
      <p:sp>
        <p:nvSpPr>
          <p:cNvPr id="48" name="TextBox 47"/>
          <p:cNvSpPr txBox="1"/>
          <p:nvPr/>
        </p:nvSpPr>
        <p:spPr>
          <a:xfrm>
            <a:off x="6507327" y="2011680"/>
            <a:ext cx="5135727" cy="228600"/>
          </a:xfrm>
          <a:prstGeom prst="rect">
            <a:avLst/>
          </a:prstGeom>
          <a:noFill/>
        </p:spPr>
        <p:txBody>
          <a:bodyPr wrap="square" lIns="45720" rIns="45720" tIns="18288" bIns="18288" anchor="t">
            <a:spAutoFit/>
          </a:bodyPr>
          <a:lstStyle/>
          <a:p>
            <a:pPr algn="l"/>
            <a:r>
              <a:rPr sz="900" b="0" i="1">
                <a:solidFill>
                  <a:srgbClr val="6E7887"/>
                </a:solidFill>
                <a:latin typeface="Arial"/>
              </a:rPr>
              <a:t>Owner: Product Manager</a:t>
            </a:r>
          </a:p>
        </p:txBody>
      </p:sp>
      <p:sp>
        <p:nvSpPr>
          <p:cNvPr id="49" name="TextBox 48"/>
          <p:cNvSpPr txBox="1"/>
          <p:nvPr/>
        </p:nvSpPr>
        <p:spPr>
          <a:xfrm>
            <a:off x="6507327" y="219456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Always-on; supports Materialization</a:t>
            </a:r>
          </a:p>
        </p:txBody>
      </p:sp>
      <p:sp>
        <p:nvSpPr>
          <p:cNvPr id="50" name="Rectangle 49"/>
          <p:cNvSpPr/>
          <p:nvPr/>
        </p:nvSpPr>
        <p:spPr>
          <a:xfrm>
            <a:off x="6324447" y="2339340"/>
            <a:ext cx="73152" cy="7391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07327" y="2357628"/>
            <a:ext cx="5135727" cy="228600"/>
          </a:xfrm>
          <a:prstGeom prst="rect">
            <a:avLst/>
          </a:prstGeom>
          <a:noFill/>
        </p:spPr>
        <p:txBody>
          <a:bodyPr wrap="square" lIns="45720" rIns="45720" tIns="18288" bIns="18288" anchor="t">
            <a:spAutoFit/>
          </a:bodyPr>
          <a:lstStyle/>
          <a:p>
            <a:pPr algn="l"/>
            <a:r>
              <a:rPr sz="1100" b="1" i="0">
                <a:solidFill>
                  <a:srgbClr val="6785C1"/>
                </a:solidFill>
                <a:latin typeface="Arial"/>
              </a:rPr>
              <a:t>Phase 1 — Materialization</a:t>
            </a:r>
          </a:p>
        </p:txBody>
      </p:sp>
      <p:sp>
        <p:nvSpPr>
          <p:cNvPr id="52" name="TextBox 51"/>
          <p:cNvSpPr txBox="1"/>
          <p:nvPr/>
        </p:nvSpPr>
        <p:spPr>
          <a:xfrm>
            <a:off x="6507327" y="256794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Definition · solutioning · sizing</a:t>
            </a:r>
          </a:p>
        </p:txBody>
      </p:sp>
      <p:sp>
        <p:nvSpPr>
          <p:cNvPr id="53" name="TextBox 52"/>
          <p:cNvSpPr txBox="1"/>
          <p:nvPr/>
        </p:nvSpPr>
        <p:spPr>
          <a:xfrm>
            <a:off x="6507327" y="2796540"/>
            <a:ext cx="5135727" cy="228600"/>
          </a:xfrm>
          <a:prstGeom prst="rect">
            <a:avLst/>
          </a:prstGeom>
          <a:noFill/>
        </p:spPr>
        <p:txBody>
          <a:bodyPr wrap="square" lIns="45720" rIns="45720" tIns="18288" bIns="18288" anchor="t">
            <a:spAutoFit/>
          </a:bodyPr>
          <a:lstStyle/>
          <a:p>
            <a:pPr algn="l"/>
            <a:r>
              <a:rPr sz="900" b="0" i="1">
                <a:solidFill>
                  <a:srgbClr val="6E7887"/>
                </a:solidFill>
                <a:latin typeface="Arial"/>
              </a:rPr>
              <a:t>Owner: Product Manager + Tech Lead</a:t>
            </a:r>
          </a:p>
        </p:txBody>
      </p:sp>
      <p:sp>
        <p:nvSpPr>
          <p:cNvPr id="54" name="TextBox 53"/>
          <p:cNvSpPr txBox="1"/>
          <p:nvPr/>
        </p:nvSpPr>
        <p:spPr>
          <a:xfrm>
            <a:off x="6507327" y="297942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Output: Roadmap, Budget, Sizing</a:t>
            </a:r>
          </a:p>
        </p:txBody>
      </p:sp>
      <p:sp>
        <p:nvSpPr>
          <p:cNvPr id="55" name="Rectangle 54"/>
          <p:cNvSpPr/>
          <p:nvPr/>
        </p:nvSpPr>
        <p:spPr>
          <a:xfrm>
            <a:off x="6324447" y="3124200"/>
            <a:ext cx="73152" cy="7391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07327" y="3142488"/>
            <a:ext cx="5135727" cy="228600"/>
          </a:xfrm>
          <a:prstGeom prst="rect">
            <a:avLst/>
          </a:prstGeom>
          <a:noFill/>
        </p:spPr>
        <p:txBody>
          <a:bodyPr wrap="square" lIns="45720" rIns="45720" tIns="18288" bIns="18288" anchor="t">
            <a:spAutoFit/>
          </a:bodyPr>
          <a:lstStyle/>
          <a:p>
            <a:pPr algn="l"/>
            <a:r>
              <a:rPr sz="1100" b="1" i="0">
                <a:solidFill>
                  <a:srgbClr val="6785C1"/>
                </a:solidFill>
                <a:latin typeface="Arial"/>
              </a:rPr>
              <a:t>Phase 2 — Creation</a:t>
            </a:r>
          </a:p>
        </p:txBody>
      </p:sp>
      <p:sp>
        <p:nvSpPr>
          <p:cNvPr id="57" name="TextBox 56"/>
          <p:cNvSpPr txBox="1"/>
          <p:nvPr/>
        </p:nvSpPr>
        <p:spPr>
          <a:xfrm>
            <a:off x="6507327" y="335280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Planning · team / vendor assignment</a:t>
            </a:r>
          </a:p>
        </p:txBody>
      </p:sp>
      <p:sp>
        <p:nvSpPr>
          <p:cNvPr id="58" name="TextBox 57"/>
          <p:cNvSpPr txBox="1"/>
          <p:nvPr/>
        </p:nvSpPr>
        <p:spPr>
          <a:xfrm>
            <a:off x="6507327" y="3581400"/>
            <a:ext cx="5135727" cy="228600"/>
          </a:xfrm>
          <a:prstGeom prst="rect">
            <a:avLst/>
          </a:prstGeom>
          <a:noFill/>
        </p:spPr>
        <p:txBody>
          <a:bodyPr wrap="square" lIns="45720" rIns="45720" tIns="18288" bIns="18288" anchor="t">
            <a:spAutoFit/>
          </a:bodyPr>
          <a:lstStyle/>
          <a:p>
            <a:pPr algn="l"/>
            <a:r>
              <a:rPr sz="900" b="0" i="1">
                <a:solidFill>
                  <a:srgbClr val="6E7887"/>
                </a:solidFill>
                <a:latin typeface="Arial"/>
              </a:rPr>
              <a:t>Owner: Product Manager</a:t>
            </a:r>
          </a:p>
        </p:txBody>
      </p:sp>
      <p:sp>
        <p:nvSpPr>
          <p:cNvPr id="59" name="TextBox 58"/>
          <p:cNvSpPr txBox="1"/>
          <p:nvPr/>
        </p:nvSpPr>
        <p:spPr>
          <a:xfrm>
            <a:off x="6507327" y="376428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Output: Outcome definition, KPIs, Strategic alignment</a:t>
            </a:r>
          </a:p>
        </p:txBody>
      </p:sp>
      <p:sp>
        <p:nvSpPr>
          <p:cNvPr id="60" name="Rectangle 59"/>
          <p:cNvSpPr/>
          <p:nvPr/>
        </p:nvSpPr>
        <p:spPr>
          <a:xfrm>
            <a:off x="6324447" y="3909060"/>
            <a:ext cx="73152" cy="7391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507327" y="3927348"/>
            <a:ext cx="5135727" cy="228600"/>
          </a:xfrm>
          <a:prstGeom prst="rect">
            <a:avLst/>
          </a:prstGeom>
          <a:noFill/>
        </p:spPr>
        <p:txBody>
          <a:bodyPr wrap="square" lIns="45720" rIns="45720" tIns="18288" bIns="18288" anchor="t">
            <a:spAutoFit/>
          </a:bodyPr>
          <a:lstStyle/>
          <a:p>
            <a:pPr algn="l"/>
            <a:r>
              <a:rPr sz="1100" b="1" i="0">
                <a:solidFill>
                  <a:srgbClr val="6785C1"/>
                </a:solidFill>
                <a:latin typeface="Arial"/>
              </a:rPr>
              <a:t>Phase 3 — Ongoing (Sprints)</a:t>
            </a:r>
          </a:p>
        </p:txBody>
      </p:sp>
      <p:sp>
        <p:nvSpPr>
          <p:cNvPr id="62" name="TextBox 61"/>
          <p:cNvSpPr txBox="1"/>
          <p:nvPr/>
        </p:nvSpPr>
        <p:spPr>
          <a:xfrm>
            <a:off x="6507327" y="413766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Build · test · deploy iteratively</a:t>
            </a:r>
          </a:p>
        </p:txBody>
      </p:sp>
      <p:sp>
        <p:nvSpPr>
          <p:cNvPr id="63" name="TextBox 62"/>
          <p:cNvSpPr txBox="1"/>
          <p:nvPr/>
        </p:nvSpPr>
        <p:spPr>
          <a:xfrm>
            <a:off x="6507327" y="4366260"/>
            <a:ext cx="5135727" cy="228600"/>
          </a:xfrm>
          <a:prstGeom prst="rect">
            <a:avLst/>
          </a:prstGeom>
          <a:noFill/>
        </p:spPr>
        <p:txBody>
          <a:bodyPr wrap="square" lIns="45720" rIns="45720" tIns="18288" bIns="18288" anchor="t">
            <a:spAutoFit/>
          </a:bodyPr>
          <a:lstStyle/>
          <a:p>
            <a:pPr algn="l"/>
            <a:r>
              <a:rPr sz="900" b="0" i="1">
                <a:solidFill>
                  <a:srgbClr val="6E7887"/>
                </a:solidFill>
                <a:latin typeface="Arial"/>
              </a:rPr>
              <a:t>Owner: Squad (PM + Tech Lead + BA + dev/QA)</a:t>
            </a:r>
          </a:p>
        </p:txBody>
      </p:sp>
      <p:sp>
        <p:nvSpPr>
          <p:cNvPr id="64" name="TextBox 63"/>
          <p:cNvSpPr txBox="1"/>
          <p:nvPr/>
        </p:nvSpPr>
        <p:spPr>
          <a:xfrm>
            <a:off x="6507327" y="454914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Sprint cadence · daily / review / retro</a:t>
            </a:r>
          </a:p>
        </p:txBody>
      </p:sp>
      <p:sp>
        <p:nvSpPr>
          <p:cNvPr id="65" name="Rectangle 64"/>
          <p:cNvSpPr/>
          <p:nvPr/>
        </p:nvSpPr>
        <p:spPr>
          <a:xfrm>
            <a:off x="6324447" y="4693920"/>
            <a:ext cx="73152" cy="7391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507327" y="4712208"/>
            <a:ext cx="5135727" cy="228600"/>
          </a:xfrm>
          <a:prstGeom prst="rect">
            <a:avLst/>
          </a:prstGeom>
          <a:noFill/>
        </p:spPr>
        <p:txBody>
          <a:bodyPr wrap="square" lIns="45720" rIns="45720" tIns="18288" bIns="18288" anchor="t">
            <a:spAutoFit/>
          </a:bodyPr>
          <a:lstStyle/>
          <a:p>
            <a:pPr algn="l"/>
            <a:r>
              <a:rPr sz="1100" b="1" i="0">
                <a:solidFill>
                  <a:srgbClr val="6785C1"/>
                </a:solidFill>
                <a:latin typeface="Arial"/>
              </a:rPr>
              <a:t>Phase 4 — Maintenance</a:t>
            </a:r>
          </a:p>
        </p:txBody>
      </p:sp>
      <p:sp>
        <p:nvSpPr>
          <p:cNvPr id="67" name="TextBox 66"/>
          <p:cNvSpPr txBox="1"/>
          <p:nvPr/>
        </p:nvSpPr>
        <p:spPr>
          <a:xfrm>
            <a:off x="6507327" y="492252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Hypercare · stabilization · knowledge</a:t>
            </a:r>
          </a:p>
        </p:txBody>
      </p:sp>
      <p:sp>
        <p:nvSpPr>
          <p:cNvPr id="68" name="TextBox 67"/>
          <p:cNvSpPr txBox="1"/>
          <p:nvPr/>
        </p:nvSpPr>
        <p:spPr>
          <a:xfrm>
            <a:off x="6507327" y="5151120"/>
            <a:ext cx="5135727" cy="228600"/>
          </a:xfrm>
          <a:prstGeom prst="rect">
            <a:avLst/>
          </a:prstGeom>
          <a:noFill/>
        </p:spPr>
        <p:txBody>
          <a:bodyPr wrap="square" lIns="45720" rIns="45720" tIns="18288" bIns="18288" anchor="t">
            <a:spAutoFit/>
          </a:bodyPr>
          <a:lstStyle/>
          <a:p>
            <a:pPr algn="l"/>
            <a:r>
              <a:rPr sz="900" b="0" i="1">
                <a:solidFill>
                  <a:srgbClr val="6E7887"/>
                </a:solidFill>
                <a:latin typeface="Arial"/>
              </a:rPr>
              <a:t>Owner: Operations + Tech Lead</a:t>
            </a:r>
          </a:p>
        </p:txBody>
      </p:sp>
      <p:sp>
        <p:nvSpPr>
          <p:cNvPr id="69" name="TextBox 68"/>
          <p:cNvSpPr txBox="1"/>
          <p:nvPr/>
        </p:nvSpPr>
        <p:spPr>
          <a:xfrm>
            <a:off x="6507327" y="533400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Handoff to BAU within 30 days post-launch</a:t>
            </a:r>
          </a:p>
        </p:txBody>
      </p:sp>
      <p:sp>
        <p:nvSpPr>
          <p:cNvPr id="70" name="Rectangle 69"/>
          <p:cNvSpPr/>
          <p:nvPr/>
        </p:nvSpPr>
        <p:spPr>
          <a:xfrm>
            <a:off x="6324447" y="5478780"/>
            <a:ext cx="73152" cy="7391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507327" y="5497068"/>
            <a:ext cx="5135727" cy="228600"/>
          </a:xfrm>
          <a:prstGeom prst="rect">
            <a:avLst/>
          </a:prstGeom>
          <a:noFill/>
        </p:spPr>
        <p:txBody>
          <a:bodyPr wrap="square" lIns="45720" rIns="45720" tIns="18288" bIns="18288" anchor="t">
            <a:spAutoFit/>
          </a:bodyPr>
          <a:lstStyle/>
          <a:p>
            <a:pPr algn="l"/>
            <a:r>
              <a:rPr sz="1100" b="1" i="0">
                <a:solidFill>
                  <a:srgbClr val="6785C1"/>
                </a:solidFill>
                <a:latin typeface="Arial"/>
              </a:rPr>
              <a:t>Discovery ↔ Delivery handoff</a:t>
            </a:r>
          </a:p>
        </p:txBody>
      </p:sp>
      <p:sp>
        <p:nvSpPr>
          <p:cNvPr id="72" name="TextBox 71"/>
          <p:cNvSpPr txBox="1"/>
          <p:nvPr/>
        </p:nvSpPr>
        <p:spPr>
          <a:xfrm>
            <a:off x="6507327" y="570738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Items move only when DoR is met</a:t>
            </a:r>
          </a:p>
        </p:txBody>
      </p:sp>
      <p:sp>
        <p:nvSpPr>
          <p:cNvPr id="73" name="TextBox 72"/>
          <p:cNvSpPr txBox="1"/>
          <p:nvPr/>
        </p:nvSpPr>
        <p:spPr>
          <a:xfrm>
            <a:off x="6507327" y="5935980"/>
            <a:ext cx="5135727" cy="228600"/>
          </a:xfrm>
          <a:prstGeom prst="rect">
            <a:avLst/>
          </a:prstGeom>
          <a:noFill/>
        </p:spPr>
        <p:txBody>
          <a:bodyPr wrap="square" lIns="45720" rIns="45720" tIns="18288" bIns="18288" anchor="t">
            <a:spAutoFit/>
          </a:bodyPr>
          <a:lstStyle/>
          <a:p>
            <a:pPr algn="l"/>
            <a:r>
              <a:rPr sz="900" b="0" i="1">
                <a:solidFill>
                  <a:srgbClr val="6E7887"/>
                </a:solidFill>
                <a:latin typeface="Arial"/>
              </a:rPr>
              <a:t>Gatekeeper: Product Manager</a:t>
            </a:r>
          </a:p>
        </p:txBody>
      </p:sp>
      <p:sp>
        <p:nvSpPr>
          <p:cNvPr id="74" name="TextBox 73"/>
          <p:cNvSpPr txBox="1"/>
          <p:nvPr/>
        </p:nvSpPr>
        <p:spPr>
          <a:xfrm>
            <a:off x="6507327" y="611886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Discovery feeds Delivery continuously</a:t>
            </a:r>
          </a:p>
        </p:txBody>
      </p:sp>
      <p:sp>
        <p:nvSpPr>
          <p:cNvPr id="75" name="TextBox 74"/>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Portfolio Board · cards are Initiatives flowing through stages</a:t>
            </a:r>
          </a:p>
        </p:txBody>
      </p:sp>
      <p:sp>
        <p:nvSpPr>
          <p:cNvPr id="4" name="TextBox 3"/>
          <p:cNvSpPr txBox="1"/>
          <p:nvPr/>
        </p:nvSpPr>
        <p:spPr>
          <a:xfrm>
            <a:off x="457200" y="914400"/>
            <a:ext cx="11277295" cy="365760"/>
          </a:xfrm>
          <a:prstGeom prst="rect">
            <a:avLst/>
          </a:prstGeom>
          <a:noFill/>
        </p:spPr>
        <p:txBody>
          <a:bodyPr wrap="square" lIns="45720" rIns="45720" tIns="18288" bIns="18288" anchor="t">
            <a:spAutoFit/>
          </a:bodyPr>
          <a:lstStyle/>
          <a:p>
            <a:pPr algn="ctr"/>
            <a:r>
              <a:rPr sz="1300" b="0" i="1">
                <a:solidFill>
                  <a:srgbClr val="6E7887"/>
                </a:solidFill>
                <a:latin typeface="Arial"/>
              </a:rPr>
              <a:t>Example  ·  IT Business Applications Portfolio Board</a:t>
            </a:r>
          </a:p>
        </p:txBody>
      </p:sp>
      <p:sp>
        <p:nvSpPr>
          <p:cNvPr id="5" name="Rectangle 4"/>
          <p:cNvSpPr/>
          <p:nvPr/>
        </p:nvSpPr>
        <p:spPr>
          <a:xfrm>
            <a:off x="457200" y="1463040"/>
            <a:ext cx="1833829" cy="45720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087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Funnel</a:t>
            </a:r>
          </a:p>
        </p:txBody>
      </p:sp>
      <p:sp>
        <p:nvSpPr>
          <p:cNvPr id="7" name="Rectangle 6"/>
          <p:cNvSpPr/>
          <p:nvPr/>
        </p:nvSpPr>
        <p:spPr>
          <a:xfrm>
            <a:off x="457200" y="1920240"/>
            <a:ext cx="1833829" cy="356616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345893" y="1463040"/>
            <a:ext cx="1833829" cy="45720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45893" y="15087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Reviewing</a:t>
            </a:r>
          </a:p>
        </p:txBody>
      </p:sp>
      <p:sp>
        <p:nvSpPr>
          <p:cNvPr id="10" name="Rectangle 9"/>
          <p:cNvSpPr/>
          <p:nvPr/>
        </p:nvSpPr>
        <p:spPr>
          <a:xfrm>
            <a:off x="2345893" y="1920240"/>
            <a:ext cx="1833829" cy="356616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34586" y="1463040"/>
            <a:ext cx="1833829" cy="45720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34586" y="15087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Analyzing</a:t>
            </a:r>
          </a:p>
        </p:txBody>
      </p:sp>
      <p:sp>
        <p:nvSpPr>
          <p:cNvPr id="13" name="Rectangle 12"/>
          <p:cNvSpPr/>
          <p:nvPr/>
        </p:nvSpPr>
        <p:spPr>
          <a:xfrm>
            <a:off x="4234586" y="1920240"/>
            <a:ext cx="1833829" cy="356616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3279" y="1463040"/>
            <a:ext cx="1833829" cy="45720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3279" y="15087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Backlog</a:t>
            </a:r>
          </a:p>
        </p:txBody>
      </p:sp>
      <p:sp>
        <p:nvSpPr>
          <p:cNvPr id="16" name="Rectangle 15"/>
          <p:cNvSpPr/>
          <p:nvPr/>
        </p:nvSpPr>
        <p:spPr>
          <a:xfrm>
            <a:off x="6123279" y="1920240"/>
            <a:ext cx="1833829" cy="356616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1972" y="1463040"/>
            <a:ext cx="1833829" cy="45720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11972" y="15087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Implementing</a:t>
            </a:r>
          </a:p>
        </p:txBody>
      </p:sp>
      <p:sp>
        <p:nvSpPr>
          <p:cNvPr id="19" name="Rectangle 18"/>
          <p:cNvSpPr/>
          <p:nvPr/>
        </p:nvSpPr>
        <p:spPr>
          <a:xfrm>
            <a:off x="8011972" y="1920240"/>
            <a:ext cx="1833829" cy="356616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900665" y="1463040"/>
            <a:ext cx="1833829" cy="45720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0665" y="15087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Done</a:t>
            </a:r>
          </a:p>
        </p:txBody>
      </p:sp>
      <p:sp>
        <p:nvSpPr>
          <p:cNvPr id="22" name="Rectangle 21"/>
          <p:cNvSpPr/>
          <p:nvPr/>
        </p:nvSpPr>
        <p:spPr>
          <a:xfrm>
            <a:off x="9900665" y="1920240"/>
            <a:ext cx="1833829" cy="356616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201168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2011680"/>
            <a:ext cx="73152" cy="6400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20574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Storm program v2</a:t>
            </a:r>
          </a:p>
        </p:txBody>
      </p:sp>
      <p:sp>
        <p:nvSpPr>
          <p:cNvPr id="26" name="TextBox 25"/>
          <p:cNvSpPr txBox="1"/>
          <p:nvPr/>
        </p:nvSpPr>
        <p:spPr>
          <a:xfrm>
            <a:off x="640080" y="237744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Field Operations</a:t>
            </a:r>
          </a:p>
        </p:txBody>
      </p:sp>
      <p:sp>
        <p:nvSpPr>
          <p:cNvPr id="27" name="Rounded Rectangle 26"/>
          <p:cNvSpPr/>
          <p:nvPr/>
        </p:nvSpPr>
        <p:spPr>
          <a:xfrm>
            <a:off x="502920" y="274320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2743200"/>
            <a:ext cx="73152"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278892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Mobility upgrades</a:t>
            </a:r>
          </a:p>
        </p:txBody>
      </p:sp>
      <p:sp>
        <p:nvSpPr>
          <p:cNvPr id="30" name="TextBox 29"/>
          <p:cNvSpPr txBox="1"/>
          <p:nvPr/>
        </p:nvSpPr>
        <p:spPr>
          <a:xfrm>
            <a:off x="640080" y="310896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Field Operations</a:t>
            </a:r>
          </a:p>
        </p:txBody>
      </p:sp>
      <p:sp>
        <p:nvSpPr>
          <p:cNvPr id="31" name="Rounded Rectangle 30"/>
          <p:cNvSpPr/>
          <p:nvPr/>
        </p:nvSpPr>
        <p:spPr>
          <a:xfrm>
            <a:off x="2391613" y="201168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391613" y="2011680"/>
            <a:ext cx="73152"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28773" y="20574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Drawing platform</a:t>
            </a:r>
          </a:p>
        </p:txBody>
      </p:sp>
      <p:sp>
        <p:nvSpPr>
          <p:cNvPr id="34" name="TextBox 33"/>
          <p:cNvSpPr txBox="1"/>
          <p:nvPr/>
        </p:nvSpPr>
        <p:spPr>
          <a:xfrm>
            <a:off x="2528773" y="237744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Engineering &amp; Asset</a:t>
            </a:r>
          </a:p>
        </p:txBody>
      </p:sp>
      <p:sp>
        <p:nvSpPr>
          <p:cNvPr id="35" name="Rounded Rectangle 34"/>
          <p:cNvSpPr/>
          <p:nvPr/>
        </p:nvSpPr>
        <p:spPr>
          <a:xfrm>
            <a:off x="4280306" y="201168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280306" y="2011680"/>
            <a:ext cx="73152"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17466" y="20574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Network deployment</a:t>
            </a:r>
          </a:p>
        </p:txBody>
      </p:sp>
      <p:sp>
        <p:nvSpPr>
          <p:cNvPr id="38" name="TextBox 37"/>
          <p:cNvSpPr txBox="1"/>
          <p:nvPr/>
        </p:nvSpPr>
        <p:spPr>
          <a:xfrm>
            <a:off x="4417466" y="237744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Engineering &amp; Asset</a:t>
            </a:r>
          </a:p>
        </p:txBody>
      </p:sp>
      <p:sp>
        <p:nvSpPr>
          <p:cNvPr id="39" name="Rounded Rectangle 38"/>
          <p:cNvSpPr/>
          <p:nvPr/>
        </p:nvSpPr>
        <p:spPr>
          <a:xfrm>
            <a:off x="4280306" y="274320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280306" y="2743200"/>
            <a:ext cx="73152" cy="6400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17466" y="278892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OMS modernization</a:t>
            </a:r>
          </a:p>
        </p:txBody>
      </p:sp>
      <p:sp>
        <p:nvSpPr>
          <p:cNvPr id="42" name="TextBox 41"/>
          <p:cNvSpPr txBox="1"/>
          <p:nvPr/>
        </p:nvSpPr>
        <p:spPr>
          <a:xfrm>
            <a:off x="4417466" y="310896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Network Ops</a:t>
            </a:r>
          </a:p>
        </p:txBody>
      </p:sp>
      <p:sp>
        <p:nvSpPr>
          <p:cNvPr id="43" name="Rounded Rectangle 42"/>
          <p:cNvSpPr/>
          <p:nvPr/>
        </p:nvSpPr>
        <p:spPr>
          <a:xfrm>
            <a:off x="6168999" y="201168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68999" y="2011680"/>
            <a:ext cx="73152"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6159" y="20574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Doc viewer scale</a:t>
            </a:r>
          </a:p>
        </p:txBody>
      </p:sp>
      <p:sp>
        <p:nvSpPr>
          <p:cNvPr id="46" name="TextBox 45"/>
          <p:cNvSpPr txBox="1"/>
          <p:nvPr/>
        </p:nvSpPr>
        <p:spPr>
          <a:xfrm>
            <a:off x="6306159" y="237744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Field Operations</a:t>
            </a:r>
          </a:p>
        </p:txBody>
      </p:sp>
      <p:sp>
        <p:nvSpPr>
          <p:cNvPr id="47" name="Rounded Rectangle 46"/>
          <p:cNvSpPr/>
          <p:nvPr/>
        </p:nvSpPr>
        <p:spPr>
          <a:xfrm>
            <a:off x="8057692" y="201168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57692" y="2011680"/>
            <a:ext cx="73152"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94852" y="20574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Mobile field migration</a:t>
            </a:r>
          </a:p>
        </p:txBody>
      </p:sp>
      <p:sp>
        <p:nvSpPr>
          <p:cNvPr id="50" name="TextBox 49"/>
          <p:cNvSpPr txBox="1"/>
          <p:nvPr/>
        </p:nvSpPr>
        <p:spPr>
          <a:xfrm>
            <a:off x="8194852" y="237744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Field Operations</a:t>
            </a:r>
          </a:p>
        </p:txBody>
      </p:sp>
      <p:sp>
        <p:nvSpPr>
          <p:cNvPr id="51" name="Rounded Rectangle 50"/>
          <p:cNvSpPr/>
          <p:nvPr/>
        </p:nvSpPr>
        <p:spPr>
          <a:xfrm>
            <a:off x="8057692" y="274320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057692" y="2743200"/>
            <a:ext cx="73152"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94852" y="278892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ERP transition</a:t>
            </a:r>
          </a:p>
        </p:txBody>
      </p:sp>
      <p:sp>
        <p:nvSpPr>
          <p:cNvPr id="54" name="TextBox 53"/>
          <p:cNvSpPr txBox="1"/>
          <p:nvPr/>
        </p:nvSpPr>
        <p:spPr>
          <a:xfrm>
            <a:off x="8194852" y="310896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Iberdrola Corp</a:t>
            </a:r>
          </a:p>
        </p:txBody>
      </p:sp>
      <p:sp>
        <p:nvSpPr>
          <p:cNvPr id="55" name="Rounded Rectangle 54"/>
          <p:cNvSpPr/>
          <p:nvPr/>
        </p:nvSpPr>
        <p:spPr>
          <a:xfrm>
            <a:off x="8057692" y="347472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057692" y="3474720"/>
            <a:ext cx="73152"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94852" y="352044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Asset registry refresh</a:t>
            </a:r>
          </a:p>
        </p:txBody>
      </p:sp>
      <p:sp>
        <p:nvSpPr>
          <p:cNvPr id="58" name="TextBox 57"/>
          <p:cNvSpPr txBox="1"/>
          <p:nvPr/>
        </p:nvSpPr>
        <p:spPr>
          <a:xfrm>
            <a:off x="8194852" y="384048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Engineering &amp; Asset</a:t>
            </a:r>
          </a:p>
        </p:txBody>
      </p:sp>
      <p:sp>
        <p:nvSpPr>
          <p:cNvPr id="59" name="Rounded Rectangle 58"/>
          <p:cNvSpPr/>
          <p:nvPr/>
        </p:nvSpPr>
        <p:spPr>
          <a:xfrm>
            <a:off x="9946385" y="201168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946385" y="2011680"/>
            <a:ext cx="73152"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083545" y="20574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Storm program Q1</a:t>
            </a:r>
          </a:p>
        </p:txBody>
      </p:sp>
      <p:sp>
        <p:nvSpPr>
          <p:cNvPr id="62" name="TextBox 61"/>
          <p:cNvSpPr txBox="1"/>
          <p:nvPr/>
        </p:nvSpPr>
        <p:spPr>
          <a:xfrm>
            <a:off x="10083545" y="237744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Field Operations</a:t>
            </a:r>
          </a:p>
        </p:txBody>
      </p:sp>
      <p:sp>
        <p:nvSpPr>
          <p:cNvPr id="63" name="Rectangle 62"/>
          <p:cNvSpPr/>
          <p:nvPr/>
        </p:nvSpPr>
        <p:spPr>
          <a:xfrm>
            <a:off x="6077559" y="1417320"/>
            <a:ext cx="45720" cy="411480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705959" y="1508760"/>
            <a:ext cx="2743200" cy="274320"/>
          </a:xfrm>
          <a:prstGeom prst="rect">
            <a:avLst/>
          </a:prstGeom>
          <a:noFill/>
        </p:spPr>
        <p:txBody>
          <a:bodyPr wrap="square" lIns="45720" rIns="45720" tIns="18288" bIns="18288" anchor="t">
            <a:spAutoFit/>
          </a:bodyPr>
          <a:lstStyle/>
          <a:p>
            <a:pPr algn="ctr"/>
            <a:r>
              <a:rPr sz="1000" b="1" i="0">
                <a:solidFill>
                  <a:srgbClr val="B63B1F"/>
                </a:solidFill>
                <a:latin typeface="Arial"/>
              </a:rPr>
              <a:t>▲ APPROVAL GATE</a:t>
            </a:r>
          </a:p>
        </p:txBody>
      </p:sp>
      <p:sp>
        <p:nvSpPr>
          <p:cNvPr id="65" name="TextBox 64"/>
          <p:cNvSpPr txBox="1"/>
          <p:nvPr/>
        </p:nvSpPr>
        <p:spPr>
          <a:xfrm>
            <a:off x="457200" y="5760720"/>
            <a:ext cx="1828800" cy="274320"/>
          </a:xfrm>
          <a:prstGeom prst="rect">
            <a:avLst/>
          </a:prstGeom>
          <a:noFill/>
        </p:spPr>
        <p:txBody>
          <a:bodyPr wrap="square" lIns="45720" rIns="45720" tIns="18288" bIns="18288" anchor="t">
            <a:spAutoFit/>
          </a:bodyPr>
          <a:lstStyle/>
          <a:p>
            <a:pPr algn="l"/>
            <a:r>
              <a:rPr sz="1000" b="1" i="0">
                <a:solidFill>
                  <a:srgbClr val="6E7887"/>
                </a:solidFill>
                <a:latin typeface="Arial"/>
              </a:rPr>
              <a:t>CLASS OF SERVICE</a:t>
            </a:r>
          </a:p>
        </p:txBody>
      </p:sp>
      <p:sp>
        <p:nvSpPr>
          <p:cNvPr id="66" name="Rectangle 65"/>
          <p:cNvSpPr/>
          <p:nvPr/>
        </p:nvSpPr>
        <p:spPr>
          <a:xfrm>
            <a:off x="2286000" y="5806440"/>
            <a:ext cx="182880" cy="1828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560320" y="5760720"/>
            <a:ext cx="1828800" cy="274320"/>
          </a:xfrm>
          <a:prstGeom prst="rect">
            <a:avLst/>
          </a:prstGeom>
          <a:noFill/>
        </p:spPr>
        <p:txBody>
          <a:bodyPr wrap="square" lIns="45720" rIns="45720" tIns="18288" bIns="18288" anchor="t">
            <a:spAutoFit/>
          </a:bodyPr>
          <a:lstStyle/>
          <a:p>
            <a:pPr algn="l"/>
            <a:r>
              <a:rPr sz="1000" b="0" i="0">
                <a:solidFill>
                  <a:srgbClr val="2C3E50"/>
                </a:solidFill>
                <a:latin typeface="Arial"/>
              </a:rPr>
              <a:t>Standard</a:t>
            </a:r>
          </a:p>
        </p:txBody>
      </p:sp>
      <p:sp>
        <p:nvSpPr>
          <p:cNvPr id="68" name="Rectangle 67"/>
          <p:cNvSpPr/>
          <p:nvPr/>
        </p:nvSpPr>
        <p:spPr>
          <a:xfrm>
            <a:off x="4389120" y="5806440"/>
            <a:ext cx="182880" cy="1828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663440" y="5760720"/>
            <a:ext cx="1828800" cy="274320"/>
          </a:xfrm>
          <a:prstGeom prst="rect">
            <a:avLst/>
          </a:prstGeom>
          <a:noFill/>
        </p:spPr>
        <p:txBody>
          <a:bodyPr wrap="square" lIns="45720" rIns="45720" tIns="18288" bIns="18288" anchor="t">
            <a:spAutoFit/>
          </a:bodyPr>
          <a:lstStyle/>
          <a:p>
            <a:pPr algn="l"/>
            <a:r>
              <a:rPr sz="1000" b="0" i="0">
                <a:solidFill>
                  <a:srgbClr val="2C3E50"/>
                </a:solidFill>
                <a:latin typeface="Arial"/>
              </a:rPr>
              <a:t>Fixed-Date</a:t>
            </a:r>
          </a:p>
        </p:txBody>
      </p:sp>
      <p:sp>
        <p:nvSpPr>
          <p:cNvPr id="70" name="Rectangle 69"/>
          <p:cNvSpPr/>
          <p:nvPr/>
        </p:nvSpPr>
        <p:spPr>
          <a:xfrm>
            <a:off x="6492240" y="5806440"/>
            <a:ext cx="182880" cy="1828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766560" y="5760720"/>
            <a:ext cx="1828800" cy="274320"/>
          </a:xfrm>
          <a:prstGeom prst="rect">
            <a:avLst/>
          </a:prstGeom>
          <a:noFill/>
        </p:spPr>
        <p:txBody>
          <a:bodyPr wrap="square" lIns="45720" rIns="45720" tIns="18288" bIns="18288" anchor="t">
            <a:spAutoFit/>
          </a:bodyPr>
          <a:lstStyle/>
          <a:p>
            <a:pPr algn="l"/>
            <a:r>
              <a:rPr sz="1000" b="0" i="0">
                <a:solidFill>
                  <a:srgbClr val="2C3E50"/>
                </a:solidFill>
                <a:latin typeface="Arial"/>
              </a:rPr>
              <a:t>Expedite</a:t>
            </a:r>
          </a:p>
        </p:txBody>
      </p:sp>
      <p:sp>
        <p:nvSpPr>
          <p:cNvPr id="72" name="Rectangle 71"/>
          <p:cNvSpPr/>
          <p:nvPr/>
        </p:nvSpPr>
        <p:spPr>
          <a:xfrm>
            <a:off x="8595360" y="5806440"/>
            <a:ext cx="182880" cy="1828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869680" y="5760720"/>
            <a:ext cx="1828800" cy="274320"/>
          </a:xfrm>
          <a:prstGeom prst="rect">
            <a:avLst/>
          </a:prstGeom>
          <a:noFill/>
        </p:spPr>
        <p:txBody>
          <a:bodyPr wrap="square" lIns="45720" rIns="45720" tIns="18288" bIns="18288" anchor="t">
            <a:spAutoFit/>
          </a:bodyPr>
          <a:lstStyle/>
          <a:p>
            <a:pPr algn="l"/>
            <a:r>
              <a:rPr sz="1000" b="0" i="0">
                <a:solidFill>
                  <a:srgbClr val="2C3E50"/>
                </a:solidFill>
                <a:latin typeface="Arial"/>
              </a:rPr>
              <a:t>Intangible</a:t>
            </a:r>
          </a:p>
        </p:txBody>
      </p:sp>
      <p:sp>
        <p:nvSpPr>
          <p:cNvPr id="74" name="TextBox 7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Team Kanban · five phases by two tracks · cards are Epics with linked Stories</a:t>
            </a:r>
          </a:p>
        </p:txBody>
      </p:sp>
      <p:sp>
        <p:nvSpPr>
          <p:cNvPr id="4" name="TextBox 3"/>
          <p:cNvSpPr txBox="1"/>
          <p:nvPr/>
        </p:nvSpPr>
        <p:spPr>
          <a:xfrm>
            <a:off x="457200" y="914400"/>
            <a:ext cx="11277295" cy="365760"/>
          </a:xfrm>
          <a:prstGeom prst="rect">
            <a:avLst/>
          </a:prstGeom>
          <a:noFill/>
        </p:spPr>
        <p:txBody>
          <a:bodyPr wrap="square" lIns="45720" rIns="45720" tIns="18288" bIns="18288" anchor="t">
            <a:spAutoFit/>
          </a:bodyPr>
          <a:lstStyle/>
          <a:p>
            <a:pPr algn="ctr"/>
            <a:r>
              <a:rPr sz="1200" b="0" i="1">
                <a:solidFill>
                  <a:srgbClr val="6E7887"/>
                </a:solidFill>
                <a:latin typeface="Arial"/>
              </a:rPr>
              <a:t>Example  ·  Field Operations Team Board  ·  inspired by P&amp;T Lean Operating Model</a:t>
            </a:r>
          </a:p>
        </p:txBody>
      </p:sp>
      <p:sp>
        <p:nvSpPr>
          <p:cNvPr id="5" name="Rectangle 4"/>
          <p:cNvSpPr/>
          <p:nvPr/>
        </p:nvSpPr>
        <p:spPr>
          <a:xfrm>
            <a:off x="1737360" y="1463040"/>
            <a:ext cx="1955535" cy="59436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37360"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0</a:t>
            </a:r>
          </a:p>
        </p:txBody>
      </p:sp>
      <p:sp>
        <p:nvSpPr>
          <p:cNvPr id="7" name="TextBox 6"/>
          <p:cNvSpPr txBox="1"/>
          <p:nvPr/>
        </p:nvSpPr>
        <p:spPr>
          <a:xfrm>
            <a:off x="1737360"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DISCOVERY</a:t>
            </a:r>
          </a:p>
        </p:txBody>
      </p:sp>
      <p:sp>
        <p:nvSpPr>
          <p:cNvPr id="8" name="Rectangle 7"/>
          <p:cNvSpPr/>
          <p:nvPr/>
        </p:nvSpPr>
        <p:spPr>
          <a:xfrm>
            <a:off x="1737360" y="2057400"/>
            <a:ext cx="1955535" cy="342900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47759" y="1463040"/>
            <a:ext cx="1955535" cy="59436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7759"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1</a:t>
            </a:r>
          </a:p>
        </p:txBody>
      </p:sp>
      <p:sp>
        <p:nvSpPr>
          <p:cNvPr id="11" name="TextBox 10"/>
          <p:cNvSpPr txBox="1"/>
          <p:nvPr/>
        </p:nvSpPr>
        <p:spPr>
          <a:xfrm>
            <a:off x="3747759"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MATERIALIZATION</a:t>
            </a:r>
          </a:p>
        </p:txBody>
      </p:sp>
      <p:sp>
        <p:nvSpPr>
          <p:cNvPr id="12" name="Rectangle 11"/>
          <p:cNvSpPr/>
          <p:nvPr/>
        </p:nvSpPr>
        <p:spPr>
          <a:xfrm>
            <a:off x="3747759" y="2057400"/>
            <a:ext cx="1955535" cy="342900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58159" y="1463040"/>
            <a:ext cx="1955535" cy="59436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58159"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2</a:t>
            </a:r>
          </a:p>
        </p:txBody>
      </p:sp>
      <p:sp>
        <p:nvSpPr>
          <p:cNvPr id="15" name="TextBox 14"/>
          <p:cNvSpPr txBox="1"/>
          <p:nvPr/>
        </p:nvSpPr>
        <p:spPr>
          <a:xfrm>
            <a:off x="5758159"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CREATION</a:t>
            </a:r>
          </a:p>
        </p:txBody>
      </p:sp>
      <p:sp>
        <p:nvSpPr>
          <p:cNvPr id="16" name="Rectangle 15"/>
          <p:cNvSpPr/>
          <p:nvPr/>
        </p:nvSpPr>
        <p:spPr>
          <a:xfrm>
            <a:off x="5758159" y="2057400"/>
            <a:ext cx="1955535" cy="342900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68559" y="1463040"/>
            <a:ext cx="1955535" cy="59436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68559"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3</a:t>
            </a:r>
          </a:p>
        </p:txBody>
      </p:sp>
      <p:sp>
        <p:nvSpPr>
          <p:cNvPr id="19" name="TextBox 18"/>
          <p:cNvSpPr txBox="1"/>
          <p:nvPr/>
        </p:nvSpPr>
        <p:spPr>
          <a:xfrm>
            <a:off x="7768559"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ONGOING</a:t>
            </a:r>
          </a:p>
        </p:txBody>
      </p:sp>
      <p:sp>
        <p:nvSpPr>
          <p:cNvPr id="20" name="Rectangle 19"/>
          <p:cNvSpPr/>
          <p:nvPr/>
        </p:nvSpPr>
        <p:spPr>
          <a:xfrm>
            <a:off x="7768559" y="2057400"/>
            <a:ext cx="1955535" cy="342900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778959" y="1463040"/>
            <a:ext cx="1955535" cy="59436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78959"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4</a:t>
            </a:r>
          </a:p>
        </p:txBody>
      </p:sp>
      <p:sp>
        <p:nvSpPr>
          <p:cNvPr id="23" name="TextBox 22"/>
          <p:cNvSpPr txBox="1"/>
          <p:nvPr/>
        </p:nvSpPr>
        <p:spPr>
          <a:xfrm>
            <a:off x="9778959"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MAINTENANCE</a:t>
            </a:r>
          </a:p>
        </p:txBody>
      </p:sp>
      <p:sp>
        <p:nvSpPr>
          <p:cNvPr id="24" name="Rectangle 23"/>
          <p:cNvSpPr/>
          <p:nvPr/>
        </p:nvSpPr>
        <p:spPr>
          <a:xfrm>
            <a:off x="9778959" y="2057400"/>
            <a:ext cx="1955535" cy="342900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2057400"/>
            <a:ext cx="1280160" cy="17145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2057400"/>
            <a:ext cx="1280160" cy="1714500"/>
          </a:xfrm>
          <a:prstGeom prst="rect">
            <a:avLst/>
          </a:prstGeom>
          <a:noFill/>
        </p:spPr>
        <p:txBody>
          <a:bodyPr wrap="square" lIns="45720" rIns="45720" tIns="18288" bIns="18288" anchor="ctr">
            <a:spAutoFit/>
          </a:bodyPr>
          <a:lstStyle/>
          <a:p>
            <a:pPr algn="ctr"/>
            <a:r>
              <a:rPr sz="1000" b="1" i="0">
                <a:solidFill>
                  <a:srgbClr val="FFFFFF"/>
                </a:solidFill>
                <a:latin typeface="Arial"/>
              </a:rPr>
              <a:t>DISCOVERY</a:t>
            </a:r>
          </a:p>
          <a:p>
            <a:r>
              <a:t>TRACK</a:t>
            </a:r>
          </a:p>
          <a:p/>
          <a:p>
            <a:r>
              <a:t>always-on</a:t>
            </a:r>
          </a:p>
          <a:p>
            <a:r>
              <a:t>research ·</a:t>
            </a:r>
          </a:p>
          <a:p>
            <a:r>
              <a:t>validation</a:t>
            </a:r>
          </a:p>
        </p:txBody>
      </p:sp>
      <p:sp>
        <p:nvSpPr>
          <p:cNvPr id="27" name="Rectangle 26"/>
          <p:cNvSpPr/>
          <p:nvPr/>
        </p:nvSpPr>
        <p:spPr>
          <a:xfrm>
            <a:off x="457200" y="3771900"/>
            <a:ext cx="1280160" cy="171450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771900"/>
            <a:ext cx="1280160" cy="1714500"/>
          </a:xfrm>
          <a:prstGeom prst="rect">
            <a:avLst/>
          </a:prstGeom>
          <a:noFill/>
        </p:spPr>
        <p:txBody>
          <a:bodyPr wrap="square" lIns="45720" rIns="45720" tIns="18288" bIns="18288" anchor="ctr">
            <a:spAutoFit/>
          </a:bodyPr>
          <a:lstStyle/>
          <a:p>
            <a:pPr algn="ctr"/>
            <a:r>
              <a:rPr sz="1000" b="1" i="0">
                <a:solidFill>
                  <a:srgbClr val="FFFFFF"/>
                </a:solidFill>
                <a:latin typeface="Arial"/>
              </a:rPr>
              <a:t>DELIVERY</a:t>
            </a:r>
          </a:p>
          <a:p>
            <a:r>
              <a:t>TRACK</a:t>
            </a:r>
          </a:p>
          <a:p/>
          <a:p>
            <a:r>
              <a:t>sprint cadence</a:t>
            </a:r>
          </a:p>
          <a:p>
            <a:r>
              <a:t>planning ·</a:t>
            </a:r>
          </a:p>
          <a:p>
            <a:r>
              <a:t>build · validate</a:t>
            </a:r>
          </a:p>
        </p:txBody>
      </p:sp>
      <p:cxnSp>
        <p:nvCxnSpPr>
          <p:cNvPr id="29" name="Connector 28"/>
          <p:cNvCxnSpPr/>
          <p:nvPr/>
        </p:nvCxnSpPr>
        <p:spPr>
          <a:xfrm>
            <a:off x="1737360" y="3771900.0"/>
            <a:ext cx="9997135" cy="0.0"/>
          </a:xfrm>
          <a:prstGeom prst="line">
            <a:avLst/>
          </a:prstGeom>
          <a:ln w="25400">
            <a:solidFill>
              <a:srgbClr val="2C3E5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783080" y="2240280"/>
            <a:ext cx="1864095" cy="868680"/>
          </a:xfrm>
          <a:prstGeom prst="roundRect">
            <a:avLst>
              <a:gd name="adj" fmla="val 6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783080" y="2240280"/>
            <a:ext cx="1864095" cy="2286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56232" y="225856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EPIC</a:t>
            </a:r>
          </a:p>
        </p:txBody>
      </p:sp>
      <p:sp>
        <p:nvSpPr>
          <p:cNvPr id="33" name="Rectangle 32"/>
          <p:cNvSpPr/>
          <p:nvPr/>
        </p:nvSpPr>
        <p:spPr>
          <a:xfrm>
            <a:off x="3235695" y="2258568"/>
            <a:ext cx="36576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35695" y="2258568"/>
            <a:ext cx="365760" cy="182880"/>
          </a:xfrm>
          <a:prstGeom prst="rect">
            <a:avLst/>
          </a:prstGeom>
          <a:noFill/>
        </p:spPr>
        <p:txBody>
          <a:bodyPr wrap="square" lIns="45720" rIns="45720" tIns="18288" bIns="18288" anchor="ctr">
            <a:spAutoFit/>
          </a:bodyPr>
          <a:lstStyle/>
          <a:p>
            <a:pPr algn="ctr"/>
            <a:r>
              <a:rPr sz="800" b="1" i="0">
                <a:solidFill>
                  <a:srgbClr val="6785C1"/>
                </a:solidFill>
                <a:latin typeface="Arial"/>
              </a:rPr>
              <a:t>6 S</a:t>
            </a:r>
          </a:p>
        </p:txBody>
      </p:sp>
      <p:sp>
        <p:nvSpPr>
          <p:cNvPr id="35" name="TextBox 34"/>
          <p:cNvSpPr txBox="1"/>
          <p:nvPr/>
        </p:nvSpPr>
        <p:spPr>
          <a:xfrm>
            <a:off x="1874520" y="251460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Migrate DLI inspections</a:t>
            </a:r>
          </a:p>
        </p:txBody>
      </p:sp>
      <p:sp>
        <p:nvSpPr>
          <p:cNvPr id="36" name="TextBox 35"/>
          <p:cNvSpPr txBox="1"/>
          <p:nvPr/>
        </p:nvSpPr>
        <p:spPr>
          <a:xfrm>
            <a:off x="1874520" y="2880360"/>
            <a:ext cx="1681215" cy="182880"/>
          </a:xfrm>
          <a:prstGeom prst="rect">
            <a:avLst/>
          </a:prstGeom>
          <a:noFill/>
        </p:spPr>
        <p:txBody>
          <a:bodyPr wrap="square" lIns="45720" rIns="45720" tIns="18288" bIns="18288" anchor="t">
            <a:spAutoFit/>
          </a:bodyPr>
          <a:lstStyle/>
          <a:p>
            <a:pPr algn="l"/>
            <a:r>
              <a:rPr sz="800" b="0" i="1">
                <a:solidFill>
                  <a:srgbClr val="6E7887"/>
                </a:solidFill>
                <a:latin typeface="Arial"/>
              </a:rPr>
              <a:t>exploring offline reqs</a:t>
            </a:r>
          </a:p>
        </p:txBody>
      </p:sp>
      <p:sp>
        <p:nvSpPr>
          <p:cNvPr id="37" name="Rounded Rectangle 36"/>
          <p:cNvSpPr/>
          <p:nvPr/>
        </p:nvSpPr>
        <p:spPr>
          <a:xfrm>
            <a:off x="3793479" y="2240280"/>
            <a:ext cx="1864095" cy="868680"/>
          </a:xfrm>
          <a:prstGeom prst="roundRect">
            <a:avLst>
              <a:gd name="adj" fmla="val 6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793479" y="2240280"/>
            <a:ext cx="1864095" cy="2286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66631" y="225856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EPIC</a:t>
            </a:r>
          </a:p>
        </p:txBody>
      </p:sp>
      <p:sp>
        <p:nvSpPr>
          <p:cNvPr id="40" name="Rectangle 39"/>
          <p:cNvSpPr/>
          <p:nvPr/>
        </p:nvSpPr>
        <p:spPr>
          <a:xfrm>
            <a:off x="5246095" y="2258568"/>
            <a:ext cx="36576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46095" y="2258568"/>
            <a:ext cx="365760" cy="182880"/>
          </a:xfrm>
          <a:prstGeom prst="rect">
            <a:avLst/>
          </a:prstGeom>
          <a:noFill/>
        </p:spPr>
        <p:txBody>
          <a:bodyPr wrap="square" lIns="45720" rIns="45720" tIns="18288" bIns="18288" anchor="ctr">
            <a:spAutoFit/>
          </a:bodyPr>
          <a:lstStyle/>
          <a:p>
            <a:pPr algn="ctr"/>
            <a:r>
              <a:rPr sz="800" b="1" i="0">
                <a:solidFill>
                  <a:srgbClr val="6785C1"/>
                </a:solidFill>
                <a:latin typeface="Arial"/>
              </a:rPr>
              <a:t>8 S</a:t>
            </a:r>
          </a:p>
        </p:txBody>
      </p:sp>
      <p:sp>
        <p:nvSpPr>
          <p:cNvPr id="42" name="TextBox 41"/>
          <p:cNvSpPr txBox="1"/>
          <p:nvPr/>
        </p:nvSpPr>
        <p:spPr>
          <a:xfrm>
            <a:off x="3884919" y="251460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Migrate TLI inspections</a:t>
            </a:r>
          </a:p>
        </p:txBody>
      </p:sp>
      <p:sp>
        <p:nvSpPr>
          <p:cNvPr id="43" name="TextBox 42"/>
          <p:cNvSpPr txBox="1"/>
          <p:nvPr/>
        </p:nvSpPr>
        <p:spPr>
          <a:xfrm>
            <a:off x="3884919" y="2880360"/>
            <a:ext cx="1681215" cy="182880"/>
          </a:xfrm>
          <a:prstGeom prst="rect">
            <a:avLst/>
          </a:prstGeom>
          <a:noFill/>
        </p:spPr>
        <p:txBody>
          <a:bodyPr wrap="square" lIns="45720" rIns="45720" tIns="18288" bIns="18288" anchor="t">
            <a:spAutoFit/>
          </a:bodyPr>
          <a:lstStyle/>
          <a:p>
            <a:pPr algn="l"/>
            <a:r>
              <a:rPr sz="800" b="0" i="1">
                <a:solidFill>
                  <a:srgbClr val="6E7887"/>
                </a:solidFill>
                <a:latin typeface="Arial"/>
              </a:rPr>
              <a:t>sizing with vendor</a:t>
            </a:r>
          </a:p>
        </p:txBody>
      </p:sp>
      <p:sp>
        <p:nvSpPr>
          <p:cNvPr id="44" name="Rounded Rectangle 43"/>
          <p:cNvSpPr/>
          <p:nvPr/>
        </p:nvSpPr>
        <p:spPr>
          <a:xfrm>
            <a:off x="5803879" y="3909060"/>
            <a:ext cx="1864095" cy="868680"/>
          </a:xfrm>
          <a:prstGeom prst="roundRect">
            <a:avLst>
              <a:gd name="adj" fmla="val 6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803879" y="3909060"/>
            <a:ext cx="1864095" cy="2286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77031" y="392734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EPIC</a:t>
            </a:r>
          </a:p>
        </p:txBody>
      </p:sp>
      <p:sp>
        <p:nvSpPr>
          <p:cNvPr id="47" name="Rectangle 46"/>
          <p:cNvSpPr/>
          <p:nvPr/>
        </p:nvSpPr>
        <p:spPr>
          <a:xfrm>
            <a:off x="7256495" y="3927348"/>
            <a:ext cx="36576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56495" y="3927348"/>
            <a:ext cx="365760" cy="182880"/>
          </a:xfrm>
          <a:prstGeom prst="rect">
            <a:avLst/>
          </a:prstGeom>
          <a:noFill/>
        </p:spPr>
        <p:txBody>
          <a:bodyPr wrap="square" lIns="45720" rIns="45720" tIns="18288" bIns="18288" anchor="ctr">
            <a:spAutoFit/>
          </a:bodyPr>
          <a:lstStyle/>
          <a:p>
            <a:pPr algn="ctr"/>
            <a:r>
              <a:rPr sz="800" b="1" i="0">
                <a:solidFill>
                  <a:srgbClr val="6785C1"/>
                </a:solidFill>
                <a:latin typeface="Arial"/>
              </a:rPr>
              <a:t>12 S</a:t>
            </a:r>
          </a:p>
        </p:txBody>
      </p:sp>
      <p:sp>
        <p:nvSpPr>
          <p:cNvPr id="49" name="TextBox 48"/>
          <p:cNvSpPr txBox="1"/>
          <p:nvPr/>
        </p:nvSpPr>
        <p:spPr>
          <a:xfrm>
            <a:off x="5895319" y="418338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Migrate DGI/TGI</a:t>
            </a:r>
          </a:p>
        </p:txBody>
      </p:sp>
      <p:sp>
        <p:nvSpPr>
          <p:cNvPr id="50" name="TextBox 49"/>
          <p:cNvSpPr txBox="1"/>
          <p:nvPr/>
        </p:nvSpPr>
        <p:spPr>
          <a:xfrm>
            <a:off x="5895319" y="4549140"/>
            <a:ext cx="1681215" cy="182880"/>
          </a:xfrm>
          <a:prstGeom prst="rect">
            <a:avLst/>
          </a:prstGeom>
          <a:noFill/>
        </p:spPr>
        <p:txBody>
          <a:bodyPr wrap="square" lIns="45720" rIns="45720" tIns="18288" bIns="18288" anchor="t">
            <a:spAutoFit/>
          </a:bodyPr>
          <a:lstStyle/>
          <a:p>
            <a:pPr algn="l"/>
            <a:r>
              <a:rPr sz="800" b="0" i="1">
                <a:solidFill>
                  <a:srgbClr val="6E7887"/>
                </a:solidFill>
                <a:latin typeface="Arial"/>
              </a:rPr>
              <a:t>team assigned · sprint plan</a:t>
            </a:r>
          </a:p>
        </p:txBody>
      </p:sp>
      <p:sp>
        <p:nvSpPr>
          <p:cNvPr id="51" name="Rounded Rectangle 50"/>
          <p:cNvSpPr/>
          <p:nvPr/>
        </p:nvSpPr>
        <p:spPr>
          <a:xfrm>
            <a:off x="7814279" y="3909060"/>
            <a:ext cx="1864095" cy="868680"/>
          </a:xfrm>
          <a:prstGeom prst="roundRect">
            <a:avLst>
              <a:gd name="adj" fmla="val 6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814279" y="3909060"/>
            <a:ext cx="1864095" cy="2286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87431" y="392734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EPIC</a:t>
            </a:r>
          </a:p>
        </p:txBody>
      </p:sp>
      <p:sp>
        <p:nvSpPr>
          <p:cNvPr id="54" name="Rectangle 53"/>
          <p:cNvSpPr/>
          <p:nvPr/>
        </p:nvSpPr>
        <p:spPr>
          <a:xfrm>
            <a:off x="9266895" y="3927348"/>
            <a:ext cx="36576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66895" y="3927348"/>
            <a:ext cx="365760" cy="182880"/>
          </a:xfrm>
          <a:prstGeom prst="rect">
            <a:avLst/>
          </a:prstGeom>
          <a:noFill/>
        </p:spPr>
        <p:txBody>
          <a:bodyPr wrap="square" lIns="45720" rIns="45720" tIns="18288" bIns="18288" anchor="ctr">
            <a:spAutoFit/>
          </a:bodyPr>
          <a:lstStyle/>
          <a:p>
            <a:pPr algn="ctr"/>
            <a:r>
              <a:rPr sz="800" b="1" i="0">
                <a:solidFill>
                  <a:srgbClr val="6785C1"/>
                </a:solidFill>
                <a:latin typeface="Arial"/>
              </a:rPr>
              <a:t>5 S</a:t>
            </a:r>
          </a:p>
        </p:txBody>
      </p:sp>
      <p:sp>
        <p:nvSpPr>
          <p:cNvPr id="56" name="TextBox 55"/>
          <p:cNvSpPr txBox="1"/>
          <p:nvPr/>
        </p:nvSpPr>
        <p:spPr>
          <a:xfrm>
            <a:off x="7905719" y="418338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Offline DLI capability</a:t>
            </a:r>
          </a:p>
        </p:txBody>
      </p:sp>
      <p:sp>
        <p:nvSpPr>
          <p:cNvPr id="57" name="TextBox 56"/>
          <p:cNvSpPr txBox="1"/>
          <p:nvPr/>
        </p:nvSpPr>
        <p:spPr>
          <a:xfrm>
            <a:off x="7905719" y="4549140"/>
            <a:ext cx="1681215" cy="182880"/>
          </a:xfrm>
          <a:prstGeom prst="rect">
            <a:avLst/>
          </a:prstGeom>
          <a:noFill/>
        </p:spPr>
        <p:txBody>
          <a:bodyPr wrap="square" lIns="45720" rIns="45720" tIns="18288" bIns="18288" anchor="t">
            <a:spAutoFit/>
          </a:bodyPr>
          <a:lstStyle/>
          <a:p>
            <a:pPr algn="l"/>
            <a:r>
              <a:rPr sz="800" b="0" i="1">
                <a:solidFill>
                  <a:srgbClr val="6E7887"/>
                </a:solidFill>
                <a:latin typeface="Arial"/>
              </a:rPr>
              <a:t>in dev · Sprint 5</a:t>
            </a:r>
          </a:p>
        </p:txBody>
      </p:sp>
      <p:sp>
        <p:nvSpPr>
          <p:cNvPr id="58" name="Rounded Rectangle 57"/>
          <p:cNvSpPr/>
          <p:nvPr/>
        </p:nvSpPr>
        <p:spPr>
          <a:xfrm>
            <a:off x="7814279" y="4914900"/>
            <a:ext cx="1864095" cy="777240"/>
          </a:xfrm>
          <a:prstGeom prst="roundRect">
            <a:avLst>
              <a:gd name="adj" fmla="val 6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814279" y="4914900"/>
            <a:ext cx="1864095" cy="2286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887431" y="493318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EPIC</a:t>
            </a:r>
          </a:p>
        </p:txBody>
      </p:sp>
      <p:sp>
        <p:nvSpPr>
          <p:cNvPr id="61" name="Rectangle 60"/>
          <p:cNvSpPr/>
          <p:nvPr/>
        </p:nvSpPr>
        <p:spPr>
          <a:xfrm>
            <a:off x="9266895" y="4933188"/>
            <a:ext cx="36576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66895" y="4933188"/>
            <a:ext cx="365760" cy="182880"/>
          </a:xfrm>
          <a:prstGeom prst="rect">
            <a:avLst/>
          </a:prstGeom>
          <a:noFill/>
        </p:spPr>
        <p:txBody>
          <a:bodyPr wrap="square" lIns="45720" rIns="45720" tIns="18288" bIns="18288" anchor="ctr">
            <a:spAutoFit/>
          </a:bodyPr>
          <a:lstStyle/>
          <a:p>
            <a:pPr algn="ctr"/>
            <a:r>
              <a:rPr sz="800" b="1" i="0">
                <a:solidFill>
                  <a:srgbClr val="6785C1"/>
                </a:solidFill>
                <a:latin typeface="Arial"/>
              </a:rPr>
              <a:t>4 S</a:t>
            </a:r>
          </a:p>
        </p:txBody>
      </p:sp>
      <p:sp>
        <p:nvSpPr>
          <p:cNvPr id="63" name="TextBox 62"/>
          <p:cNvSpPr txBox="1"/>
          <p:nvPr/>
        </p:nvSpPr>
        <p:spPr>
          <a:xfrm>
            <a:off x="7905719" y="5189220"/>
            <a:ext cx="1681215" cy="320040"/>
          </a:xfrm>
          <a:prstGeom prst="rect">
            <a:avLst/>
          </a:prstGeom>
          <a:noFill/>
        </p:spPr>
        <p:txBody>
          <a:bodyPr wrap="square" lIns="45720" rIns="45720" tIns="18288" bIns="18288" anchor="t">
            <a:spAutoFit/>
          </a:bodyPr>
          <a:lstStyle/>
          <a:p>
            <a:pPr algn="l"/>
            <a:r>
              <a:rPr sz="1000" b="1" i="0">
                <a:solidFill>
                  <a:srgbClr val="2C3E50"/>
                </a:solidFill>
                <a:latin typeface="Arial"/>
              </a:rPr>
              <a:t>Mobile TLI UI</a:t>
            </a:r>
          </a:p>
        </p:txBody>
      </p:sp>
      <p:sp>
        <p:nvSpPr>
          <p:cNvPr id="64" name="TextBox 63"/>
          <p:cNvSpPr txBox="1"/>
          <p:nvPr/>
        </p:nvSpPr>
        <p:spPr>
          <a:xfrm>
            <a:off x="7905719" y="5463540"/>
            <a:ext cx="1681215" cy="182880"/>
          </a:xfrm>
          <a:prstGeom prst="rect">
            <a:avLst/>
          </a:prstGeom>
          <a:noFill/>
        </p:spPr>
        <p:txBody>
          <a:bodyPr wrap="square" lIns="45720" rIns="45720" tIns="18288" bIns="18288" anchor="t">
            <a:spAutoFit/>
          </a:bodyPr>
          <a:lstStyle/>
          <a:p>
            <a:pPr algn="l"/>
            <a:r>
              <a:rPr sz="800" b="0" i="1">
                <a:solidFill>
                  <a:srgbClr val="6E7887"/>
                </a:solidFill>
                <a:latin typeface="Arial"/>
              </a:rPr>
              <a:t>in dev · Sprint 5</a:t>
            </a:r>
          </a:p>
        </p:txBody>
      </p:sp>
      <p:sp>
        <p:nvSpPr>
          <p:cNvPr id="65" name="Rounded Rectangle 64"/>
          <p:cNvSpPr/>
          <p:nvPr/>
        </p:nvSpPr>
        <p:spPr>
          <a:xfrm>
            <a:off x="9824679" y="3909060"/>
            <a:ext cx="1864095" cy="868680"/>
          </a:xfrm>
          <a:prstGeom prst="roundRect">
            <a:avLst>
              <a:gd name="adj" fmla="val 6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824679" y="3909060"/>
            <a:ext cx="1864095" cy="2286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97831" y="392734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EPIC</a:t>
            </a:r>
          </a:p>
        </p:txBody>
      </p:sp>
      <p:sp>
        <p:nvSpPr>
          <p:cNvPr id="68" name="Rectangle 67"/>
          <p:cNvSpPr/>
          <p:nvPr/>
        </p:nvSpPr>
        <p:spPr>
          <a:xfrm>
            <a:off x="11277295" y="3927348"/>
            <a:ext cx="36576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277295" y="3927348"/>
            <a:ext cx="365760" cy="182880"/>
          </a:xfrm>
          <a:prstGeom prst="rect">
            <a:avLst/>
          </a:prstGeom>
          <a:noFill/>
        </p:spPr>
        <p:txBody>
          <a:bodyPr wrap="square" lIns="45720" rIns="45720" tIns="18288" bIns="18288" anchor="ctr">
            <a:spAutoFit/>
          </a:bodyPr>
          <a:lstStyle/>
          <a:p>
            <a:pPr algn="ctr"/>
            <a:r>
              <a:rPr sz="800" b="1" i="0">
                <a:solidFill>
                  <a:srgbClr val="6785C1"/>
                </a:solidFill>
                <a:latin typeface="Arial"/>
              </a:rPr>
              <a:t>3 S</a:t>
            </a:r>
          </a:p>
        </p:txBody>
      </p:sp>
      <p:sp>
        <p:nvSpPr>
          <p:cNvPr id="70" name="TextBox 69"/>
          <p:cNvSpPr txBox="1"/>
          <p:nvPr/>
        </p:nvSpPr>
        <p:spPr>
          <a:xfrm>
            <a:off x="9916119" y="418338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Decommission FWM</a:t>
            </a:r>
          </a:p>
        </p:txBody>
      </p:sp>
      <p:sp>
        <p:nvSpPr>
          <p:cNvPr id="71" name="TextBox 70"/>
          <p:cNvSpPr txBox="1"/>
          <p:nvPr/>
        </p:nvSpPr>
        <p:spPr>
          <a:xfrm>
            <a:off x="9916119" y="4549140"/>
            <a:ext cx="1681215" cy="182880"/>
          </a:xfrm>
          <a:prstGeom prst="rect">
            <a:avLst/>
          </a:prstGeom>
          <a:noFill/>
        </p:spPr>
        <p:txBody>
          <a:bodyPr wrap="square" lIns="45720" rIns="45720" tIns="18288" bIns="18288" anchor="t">
            <a:spAutoFit/>
          </a:bodyPr>
          <a:lstStyle/>
          <a:p>
            <a:pPr algn="l"/>
            <a:r>
              <a:rPr sz="800" b="0" i="1">
                <a:solidFill>
                  <a:srgbClr val="6E7887"/>
                </a:solidFill>
                <a:latin typeface="Arial"/>
              </a:rPr>
              <a:t>hypercare · 30d</a:t>
            </a:r>
          </a:p>
        </p:txBody>
      </p:sp>
      <p:sp>
        <p:nvSpPr>
          <p:cNvPr id="72" name="Rectangle 71"/>
          <p:cNvSpPr/>
          <p:nvPr/>
        </p:nvSpPr>
        <p:spPr>
          <a:xfrm>
            <a:off x="457200" y="5806440"/>
            <a:ext cx="182880" cy="1828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31520" y="5760720"/>
            <a:ext cx="3657600" cy="137160"/>
          </a:xfrm>
          <a:prstGeom prst="rect">
            <a:avLst/>
          </a:prstGeom>
          <a:noFill/>
        </p:spPr>
        <p:txBody>
          <a:bodyPr wrap="square" lIns="45720" rIns="45720" tIns="18288" bIns="18288" anchor="t">
            <a:spAutoFit/>
          </a:bodyPr>
          <a:lstStyle/>
          <a:p>
            <a:pPr algn="l"/>
            <a:r>
              <a:rPr sz="1000" b="1" i="0">
                <a:solidFill>
                  <a:srgbClr val="2C3E50"/>
                </a:solidFill>
                <a:latin typeface="Arial"/>
              </a:rPr>
              <a:t>EPIC</a:t>
            </a:r>
          </a:p>
        </p:txBody>
      </p:sp>
      <p:sp>
        <p:nvSpPr>
          <p:cNvPr id="74" name="TextBox 73"/>
          <p:cNvSpPr txBox="1"/>
          <p:nvPr/>
        </p:nvSpPr>
        <p:spPr>
          <a:xfrm>
            <a:off x="731520" y="5925312"/>
            <a:ext cx="3657600" cy="137160"/>
          </a:xfrm>
          <a:prstGeom prst="rect">
            <a:avLst/>
          </a:prstGeom>
          <a:noFill/>
        </p:spPr>
        <p:txBody>
          <a:bodyPr wrap="square" lIns="45720" rIns="45720" tIns="18288" bIns="18288" anchor="t">
            <a:spAutoFit/>
          </a:bodyPr>
          <a:lstStyle/>
          <a:p>
            <a:pPr algn="l"/>
            <a:r>
              <a:rPr sz="900" b="0" i="1">
                <a:solidFill>
                  <a:srgbClr val="6E7887"/>
                </a:solidFill>
                <a:latin typeface="Arial"/>
              </a:rPr>
              <a:t>1-3 months · Initiative breakdown</a:t>
            </a:r>
          </a:p>
        </p:txBody>
      </p:sp>
      <p:sp>
        <p:nvSpPr>
          <p:cNvPr id="75" name="Rectangle 74"/>
          <p:cNvSpPr/>
          <p:nvPr/>
        </p:nvSpPr>
        <p:spPr>
          <a:xfrm>
            <a:off x="4389120" y="5806440"/>
            <a:ext cx="182880" cy="182880"/>
          </a:xfrm>
          <a:prstGeom prst="rect">
            <a:avLst/>
          </a:prstGeom>
          <a:solidFill>
            <a:srgbClr val="6E7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663440" y="5760720"/>
            <a:ext cx="3657600" cy="137160"/>
          </a:xfrm>
          <a:prstGeom prst="rect">
            <a:avLst/>
          </a:prstGeom>
          <a:noFill/>
        </p:spPr>
        <p:txBody>
          <a:bodyPr wrap="square" lIns="45720" rIns="45720" tIns="18288" bIns="18288" anchor="t">
            <a:spAutoFit/>
          </a:bodyPr>
          <a:lstStyle/>
          <a:p>
            <a:pPr algn="l"/>
            <a:r>
              <a:rPr sz="1000" b="1" i="0">
                <a:solidFill>
                  <a:srgbClr val="2C3E50"/>
                </a:solidFill>
                <a:latin typeface="Arial"/>
              </a:rPr>
              <a:t>Story badge</a:t>
            </a:r>
          </a:p>
        </p:txBody>
      </p:sp>
      <p:sp>
        <p:nvSpPr>
          <p:cNvPr id="77" name="TextBox 76"/>
          <p:cNvSpPr txBox="1"/>
          <p:nvPr/>
        </p:nvSpPr>
        <p:spPr>
          <a:xfrm>
            <a:off x="4663440" y="5925312"/>
            <a:ext cx="3657600" cy="137160"/>
          </a:xfrm>
          <a:prstGeom prst="rect">
            <a:avLst/>
          </a:prstGeom>
          <a:noFill/>
        </p:spPr>
        <p:txBody>
          <a:bodyPr wrap="square" lIns="45720" rIns="45720" tIns="18288" bIns="18288" anchor="t">
            <a:spAutoFit/>
          </a:bodyPr>
          <a:lstStyle/>
          <a:p>
            <a:pPr algn="l"/>
            <a:r>
              <a:rPr sz="900" b="0" i="1">
                <a:solidFill>
                  <a:srgbClr val="6E7887"/>
                </a:solidFill>
                <a:latin typeface="Arial"/>
              </a:rPr>
              <a:t>Stories tracked in Sprint sub-view</a:t>
            </a:r>
          </a:p>
        </p:txBody>
      </p:sp>
      <p:sp>
        <p:nvSpPr>
          <p:cNvPr id="78" name="Rectangle 77"/>
          <p:cNvSpPr/>
          <p:nvPr/>
        </p:nvSpPr>
        <p:spPr>
          <a:xfrm>
            <a:off x="8321040" y="5806440"/>
            <a:ext cx="182880" cy="18288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595360" y="5760720"/>
            <a:ext cx="3657600" cy="137160"/>
          </a:xfrm>
          <a:prstGeom prst="rect">
            <a:avLst/>
          </a:prstGeom>
          <a:noFill/>
        </p:spPr>
        <p:txBody>
          <a:bodyPr wrap="square" lIns="45720" rIns="45720" tIns="18288" bIns="18288" anchor="t">
            <a:spAutoFit/>
          </a:bodyPr>
          <a:lstStyle/>
          <a:p>
            <a:pPr algn="l"/>
            <a:r>
              <a:rPr sz="1000" b="1" i="0">
                <a:solidFill>
                  <a:srgbClr val="2C3E50"/>
                </a:solidFill>
                <a:latin typeface="Arial"/>
              </a:rPr>
              <a:t>Card flow</a:t>
            </a:r>
          </a:p>
        </p:txBody>
      </p:sp>
      <p:sp>
        <p:nvSpPr>
          <p:cNvPr id="80" name="TextBox 79"/>
          <p:cNvSpPr txBox="1"/>
          <p:nvPr/>
        </p:nvSpPr>
        <p:spPr>
          <a:xfrm>
            <a:off x="8595360" y="5925312"/>
            <a:ext cx="3657600" cy="137160"/>
          </a:xfrm>
          <a:prstGeom prst="rect">
            <a:avLst/>
          </a:prstGeom>
          <a:noFill/>
        </p:spPr>
        <p:txBody>
          <a:bodyPr wrap="square" lIns="45720" rIns="45720" tIns="18288" bIns="18288" anchor="t">
            <a:spAutoFit/>
          </a:bodyPr>
          <a:lstStyle/>
          <a:p>
            <a:pPr algn="l"/>
            <a:r>
              <a:rPr sz="900" b="0" i="1">
                <a:solidFill>
                  <a:srgbClr val="6E7887"/>
                </a:solidFill>
                <a:latin typeface="Arial"/>
              </a:rPr>
              <a:t>items move left → right through phases</a:t>
            </a:r>
          </a:p>
        </p:txBody>
      </p:sp>
      <p:sp>
        <p:nvSpPr>
          <p:cNvPr id="81" name="TextBox 80"/>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Class of Service framework · capacity caps replace ad-hoc 'urgent' overrides</a:t>
            </a:r>
          </a:p>
        </p:txBody>
      </p:sp>
      <p:sp>
        <p:nvSpPr>
          <p:cNvPr id="4" name="Rounded Rectangle 3"/>
          <p:cNvSpPr/>
          <p:nvPr/>
        </p:nvSpPr>
        <p:spPr>
          <a:xfrm>
            <a:off x="457200" y="1097280"/>
            <a:ext cx="2773603" cy="4572000"/>
          </a:xfrm>
          <a:prstGeom prst="roundRect">
            <a:avLst>
              <a:gd name="adj" fmla="val 4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97280"/>
            <a:ext cx="2773603"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43000"/>
            <a:ext cx="2773603" cy="320040"/>
          </a:xfrm>
          <a:prstGeom prst="rect">
            <a:avLst/>
          </a:prstGeom>
          <a:noFill/>
        </p:spPr>
        <p:txBody>
          <a:bodyPr wrap="square" lIns="45720" rIns="45720" tIns="18288" bIns="18288" anchor="ctr">
            <a:spAutoFit/>
          </a:bodyPr>
          <a:lstStyle/>
          <a:p>
            <a:pPr algn="ctr"/>
            <a:r>
              <a:rPr sz="1500" b="1" i="0">
                <a:solidFill>
                  <a:srgbClr val="FFFFFF"/>
                </a:solidFill>
                <a:latin typeface="Arial"/>
              </a:rPr>
              <a:t>STANDARD</a:t>
            </a:r>
          </a:p>
        </p:txBody>
      </p:sp>
      <p:sp>
        <p:nvSpPr>
          <p:cNvPr id="7" name="TextBox 6"/>
          <p:cNvSpPr txBox="1"/>
          <p:nvPr/>
        </p:nvSpPr>
        <p:spPr>
          <a:xfrm>
            <a:off x="457200" y="1481328"/>
            <a:ext cx="2773603" cy="274320"/>
          </a:xfrm>
          <a:prstGeom prst="rect">
            <a:avLst/>
          </a:prstGeom>
          <a:noFill/>
        </p:spPr>
        <p:txBody>
          <a:bodyPr wrap="square" lIns="45720" rIns="45720" tIns="18288" bIns="18288" anchor="ctr">
            <a:spAutoFit/>
          </a:bodyPr>
          <a:lstStyle/>
          <a:p>
            <a:pPr algn="ctr"/>
            <a:r>
              <a:rPr sz="1100" b="0" i="1">
                <a:solidFill>
                  <a:srgbClr val="FFFFFF"/>
                </a:solidFill>
                <a:latin typeface="Arial"/>
              </a:rPr>
              <a:t>≈50% baseline</a:t>
            </a:r>
          </a:p>
        </p:txBody>
      </p:sp>
      <p:sp>
        <p:nvSpPr>
          <p:cNvPr id="8" name="TextBox 7"/>
          <p:cNvSpPr txBox="1"/>
          <p:nvPr/>
        </p:nvSpPr>
        <p:spPr>
          <a:xfrm>
            <a:off x="640080" y="1874520"/>
            <a:ext cx="2407843" cy="914400"/>
          </a:xfrm>
          <a:prstGeom prst="rect">
            <a:avLst/>
          </a:prstGeom>
          <a:noFill/>
        </p:spPr>
        <p:txBody>
          <a:bodyPr wrap="square" lIns="45720" rIns="45720" tIns="18288" bIns="18288" anchor="t">
            <a:spAutoFit/>
          </a:bodyPr>
          <a:lstStyle/>
          <a:p>
            <a:pPr algn="l"/>
            <a:r>
              <a:rPr sz="1100" b="0" i="0">
                <a:solidFill>
                  <a:srgbClr val="2C3E50"/>
                </a:solidFill>
                <a:latin typeface="Arial"/>
              </a:rPr>
              <a:t>Normal demand flowing through the standard intake gate.</a:t>
            </a:r>
          </a:p>
        </p:txBody>
      </p:sp>
      <p:sp>
        <p:nvSpPr>
          <p:cNvPr id="9" name="Rectangle 8"/>
          <p:cNvSpPr/>
          <p:nvPr/>
        </p:nvSpPr>
        <p:spPr>
          <a:xfrm>
            <a:off x="640080" y="3017520"/>
            <a:ext cx="2407843" cy="4572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154680"/>
            <a:ext cx="2407843" cy="274320"/>
          </a:xfrm>
          <a:prstGeom prst="rect">
            <a:avLst/>
          </a:prstGeom>
          <a:noFill/>
        </p:spPr>
        <p:txBody>
          <a:bodyPr wrap="square" lIns="45720" rIns="45720" tIns="18288" bIns="18288" anchor="t">
            <a:spAutoFit/>
          </a:bodyPr>
          <a:lstStyle/>
          <a:p>
            <a:pPr algn="l"/>
            <a:r>
              <a:rPr sz="900" b="1" i="0">
                <a:solidFill>
                  <a:srgbClr val="4C8C3F"/>
                </a:solidFill>
                <a:latin typeface="Arial"/>
              </a:rPr>
              <a:t>WHEN IT APPLIES</a:t>
            </a:r>
          </a:p>
        </p:txBody>
      </p:sp>
      <p:sp>
        <p:nvSpPr>
          <p:cNvPr id="11" name="TextBox 10"/>
          <p:cNvSpPr txBox="1"/>
          <p:nvPr/>
        </p:nvSpPr>
        <p:spPr>
          <a:xfrm>
            <a:off x="640080" y="3429000"/>
            <a:ext cx="2407843" cy="2103120"/>
          </a:xfrm>
          <a:prstGeom prst="rect">
            <a:avLst/>
          </a:prstGeom>
          <a:noFill/>
        </p:spPr>
        <p:txBody>
          <a:bodyPr wrap="square" lIns="45720" rIns="45720" tIns="18288" bIns="18288" anchor="t">
            <a:spAutoFit/>
          </a:bodyPr>
          <a:lstStyle/>
          <a:p>
            <a:pPr algn="l"/>
            <a:r>
              <a:rPr sz="1100" b="0" i="0">
                <a:solidFill>
                  <a:srgbClr val="2C3E50"/>
                </a:solidFill>
                <a:latin typeface="Arial"/>
              </a:rPr>
              <a:t>Routine enhancements, planned change, tech debt addressed in cycle.</a:t>
            </a:r>
          </a:p>
        </p:txBody>
      </p:sp>
      <p:sp>
        <p:nvSpPr>
          <p:cNvPr id="12" name="Rounded Rectangle 11"/>
          <p:cNvSpPr/>
          <p:nvPr/>
        </p:nvSpPr>
        <p:spPr>
          <a:xfrm>
            <a:off x="3367963" y="1097280"/>
            <a:ext cx="2773603" cy="457200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67963" y="1097280"/>
            <a:ext cx="2773603"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67963" y="1143000"/>
            <a:ext cx="2773603" cy="320040"/>
          </a:xfrm>
          <a:prstGeom prst="rect">
            <a:avLst/>
          </a:prstGeom>
          <a:noFill/>
        </p:spPr>
        <p:txBody>
          <a:bodyPr wrap="square" lIns="45720" rIns="45720" tIns="18288" bIns="18288" anchor="ctr">
            <a:spAutoFit/>
          </a:bodyPr>
          <a:lstStyle/>
          <a:p>
            <a:pPr algn="ctr"/>
            <a:r>
              <a:rPr sz="1500" b="1" i="0">
                <a:solidFill>
                  <a:srgbClr val="FFFFFF"/>
                </a:solidFill>
                <a:latin typeface="Arial"/>
              </a:rPr>
              <a:t>FIXED-DATE</a:t>
            </a:r>
          </a:p>
        </p:txBody>
      </p:sp>
      <p:sp>
        <p:nvSpPr>
          <p:cNvPr id="15" name="TextBox 14"/>
          <p:cNvSpPr txBox="1"/>
          <p:nvPr/>
        </p:nvSpPr>
        <p:spPr>
          <a:xfrm>
            <a:off x="3367963" y="1481328"/>
            <a:ext cx="2773603" cy="274320"/>
          </a:xfrm>
          <a:prstGeom prst="rect">
            <a:avLst/>
          </a:prstGeom>
          <a:noFill/>
        </p:spPr>
        <p:txBody>
          <a:bodyPr wrap="square" lIns="45720" rIns="45720" tIns="18288" bIns="18288" anchor="ctr">
            <a:spAutoFit/>
          </a:bodyPr>
          <a:lstStyle/>
          <a:p>
            <a:pPr algn="ctr"/>
            <a:r>
              <a:rPr sz="1100" b="0" i="1">
                <a:solidFill>
                  <a:srgbClr val="FFFFFF"/>
                </a:solidFill>
                <a:latin typeface="Arial"/>
              </a:rPr>
              <a:t>≈20%</a:t>
            </a:r>
          </a:p>
        </p:txBody>
      </p:sp>
      <p:sp>
        <p:nvSpPr>
          <p:cNvPr id="16" name="TextBox 15"/>
          <p:cNvSpPr txBox="1"/>
          <p:nvPr/>
        </p:nvSpPr>
        <p:spPr>
          <a:xfrm>
            <a:off x="3550843" y="1874520"/>
            <a:ext cx="2407843" cy="914400"/>
          </a:xfrm>
          <a:prstGeom prst="rect">
            <a:avLst/>
          </a:prstGeom>
          <a:noFill/>
        </p:spPr>
        <p:txBody>
          <a:bodyPr wrap="square" lIns="45720" rIns="45720" tIns="18288" bIns="18288" anchor="t">
            <a:spAutoFit/>
          </a:bodyPr>
          <a:lstStyle/>
          <a:p>
            <a:pPr algn="l"/>
            <a:r>
              <a:rPr sz="1100" b="0" i="0">
                <a:solidFill>
                  <a:srgbClr val="2C3E50"/>
                </a:solidFill>
                <a:latin typeface="Arial"/>
              </a:rPr>
              <a:t>Demand with a hard regulatory or contractual deadline.</a:t>
            </a:r>
          </a:p>
        </p:txBody>
      </p:sp>
      <p:sp>
        <p:nvSpPr>
          <p:cNvPr id="17" name="Rectangle 16"/>
          <p:cNvSpPr/>
          <p:nvPr/>
        </p:nvSpPr>
        <p:spPr>
          <a:xfrm>
            <a:off x="3550843" y="3017520"/>
            <a:ext cx="2407843"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50843" y="3154680"/>
            <a:ext cx="2407843" cy="274320"/>
          </a:xfrm>
          <a:prstGeom prst="rect">
            <a:avLst/>
          </a:prstGeom>
          <a:noFill/>
        </p:spPr>
        <p:txBody>
          <a:bodyPr wrap="square" lIns="45720" rIns="45720" tIns="18288" bIns="18288" anchor="t">
            <a:spAutoFit/>
          </a:bodyPr>
          <a:lstStyle/>
          <a:p>
            <a:pPr algn="l"/>
            <a:r>
              <a:rPr sz="900" b="1" i="0">
                <a:solidFill>
                  <a:srgbClr val="6785C1"/>
                </a:solidFill>
                <a:latin typeface="Arial"/>
              </a:rPr>
              <a:t>WHEN IT APPLIES</a:t>
            </a:r>
          </a:p>
        </p:txBody>
      </p:sp>
      <p:sp>
        <p:nvSpPr>
          <p:cNvPr id="19" name="TextBox 18"/>
          <p:cNvSpPr txBox="1"/>
          <p:nvPr/>
        </p:nvSpPr>
        <p:spPr>
          <a:xfrm>
            <a:off x="3550843" y="3429000"/>
            <a:ext cx="2407843" cy="2103120"/>
          </a:xfrm>
          <a:prstGeom prst="rect">
            <a:avLst/>
          </a:prstGeom>
          <a:noFill/>
        </p:spPr>
        <p:txBody>
          <a:bodyPr wrap="square" lIns="45720" rIns="45720" tIns="18288" bIns="18288" anchor="t">
            <a:spAutoFit/>
          </a:bodyPr>
          <a:lstStyle/>
          <a:p>
            <a:pPr algn="l"/>
            <a:r>
              <a:rPr sz="1100" b="0" i="0">
                <a:solidFill>
                  <a:srgbClr val="2C3E50"/>
                </a:solidFill>
                <a:latin typeface="Arial"/>
              </a:rPr>
              <a:t>Prioritized by date, not by score. Date breach triggers escalation.</a:t>
            </a:r>
          </a:p>
        </p:txBody>
      </p:sp>
      <p:sp>
        <p:nvSpPr>
          <p:cNvPr id="20" name="Rounded Rectangle 19"/>
          <p:cNvSpPr/>
          <p:nvPr/>
        </p:nvSpPr>
        <p:spPr>
          <a:xfrm>
            <a:off x="6278727" y="1097280"/>
            <a:ext cx="2773603" cy="4572000"/>
          </a:xfrm>
          <a:prstGeom prst="roundRect">
            <a:avLst>
              <a:gd name="adj" fmla="val 4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78727" y="1097280"/>
            <a:ext cx="2773603" cy="6400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78727" y="1143000"/>
            <a:ext cx="2773603" cy="320040"/>
          </a:xfrm>
          <a:prstGeom prst="rect">
            <a:avLst/>
          </a:prstGeom>
          <a:noFill/>
        </p:spPr>
        <p:txBody>
          <a:bodyPr wrap="square" lIns="45720" rIns="45720" tIns="18288" bIns="18288" anchor="ctr">
            <a:spAutoFit/>
          </a:bodyPr>
          <a:lstStyle/>
          <a:p>
            <a:pPr algn="ctr"/>
            <a:r>
              <a:rPr sz="1500" b="1" i="0">
                <a:solidFill>
                  <a:srgbClr val="FFFFFF"/>
                </a:solidFill>
                <a:latin typeface="Arial"/>
              </a:rPr>
              <a:t>EXPEDITE</a:t>
            </a:r>
          </a:p>
        </p:txBody>
      </p:sp>
      <p:sp>
        <p:nvSpPr>
          <p:cNvPr id="23" name="TextBox 22"/>
          <p:cNvSpPr txBox="1"/>
          <p:nvPr/>
        </p:nvSpPr>
        <p:spPr>
          <a:xfrm>
            <a:off x="6278727" y="1481328"/>
            <a:ext cx="2773603" cy="274320"/>
          </a:xfrm>
          <a:prstGeom prst="rect">
            <a:avLst/>
          </a:prstGeom>
          <a:noFill/>
        </p:spPr>
        <p:txBody>
          <a:bodyPr wrap="square" lIns="45720" rIns="45720" tIns="18288" bIns="18288" anchor="ctr">
            <a:spAutoFit/>
          </a:bodyPr>
          <a:lstStyle/>
          <a:p>
            <a:pPr algn="ctr"/>
            <a:r>
              <a:rPr sz="1100" b="0" i="1">
                <a:solidFill>
                  <a:srgbClr val="FFFFFF"/>
                </a:solidFill>
                <a:latin typeface="Arial"/>
              </a:rPr>
              <a:t>≤20%  ·  CAPPED</a:t>
            </a:r>
          </a:p>
        </p:txBody>
      </p:sp>
      <p:sp>
        <p:nvSpPr>
          <p:cNvPr id="24" name="TextBox 23"/>
          <p:cNvSpPr txBox="1"/>
          <p:nvPr/>
        </p:nvSpPr>
        <p:spPr>
          <a:xfrm>
            <a:off x="6461607" y="1874520"/>
            <a:ext cx="2407843" cy="914400"/>
          </a:xfrm>
          <a:prstGeom prst="rect">
            <a:avLst/>
          </a:prstGeom>
          <a:noFill/>
        </p:spPr>
        <p:txBody>
          <a:bodyPr wrap="square" lIns="45720" rIns="45720" tIns="18288" bIns="18288" anchor="t">
            <a:spAutoFit/>
          </a:bodyPr>
          <a:lstStyle/>
          <a:p>
            <a:pPr algn="l"/>
            <a:r>
              <a:rPr sz="1100" b="0" i="0">
                <a:solidFill>
                  <a:srgbClr val="2C3E50"/>
                </a:solidFill>
                <a:latin typeface="Arial"/>
              </a:rPr>
              <a:t>Critical regulatory or safety items requiring fast-track.</a:t>
            </a:r>
          </a:p>
        </p:txBody>
      </p:sp>
      <p:sp>
        <p:nvSpPr>
          <p:cNvPr id="25" name="Rectangle 24"/>
          <p:cNvSpPr/>
          <p:nvPr/>
        </p:nvSpPr>
        <p:spPr>
          <a:xfrm>
            <a:off x="6461607" y="3017520"/>
            <a:ext cx="2407843" cy="4572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1607" y="3154680"/>
            <a:ext cx="2407843" cy="274320"/>
          </a:xfrm>
          <a:prstGeom prst="rect">
            <a:avLst/>
          </a:prstGeom>
          <a:noFill/>
        </p:spPr>
        <p:txBody>
          <a:bodyPr wrap="square" lIns="45720" rIns="45720" tIns="18288" bIns="18288" anchor="t">
            <a:spAutoFit/>
          </a:bodyPr>
          <a:lstStyle/>
          <a:p>
            <a:pPr algn="l"/>
            <a:r>
              <a:rPr sz="900" b="1" i="0">
                <a:solidFill>
                  <a:srgbClr val="B63B1F"/>
                </a:solidFill>
                <a:latin typeface="Arial"/>
              </a:rPr>
              <a:t>WHEN IT APPLIES</a:t>
            </a:r>
          </a:p>
        </p:txBody>
      </p:sp>
      <p:sp>
        <p:nvSpPr>
          <p:cNvPr id="27" name="TextBox 26"/>
          <p:cNvSpPr txBox="1"/>
          <p:nvPr/>
        </p:nvSpPr>
        <p:spPr>
          <a:xfrm>
            <a:off x="6461607" y="3429000"/>
            <a:ext cx="2407843" cy="2103120"/>
          </a:xfrm>
          <a:prstGeom prst="rect">
            <a:avLst/>
          </a:prstGeom>
          <a:noFill/>
        </p:spPr>
        <p:txBody>
          <a:bodyPr wrap="square" lIns="45720" rIns="45720" tIns="18288" bIns="18288" anchor="t">
            <a:spAutoFit/>
          </a:bodyPr>
          <a:lstStyle/>
          <a:p>
            <a:pPr algn="l"/>
            <a:r>
              <a:rPr sz="1100" b="0" i="0">
                <a:solidFill>
                  <a:srgbClr val="2C3E50"/>
                </a:solidFill>
                <a:latin typeface="Arial"/>
              </a:rPr>
              <a:t>Bypasses Gate 1, logged for review at next Portfolio Committee. Cap is enforced.</a:t>
            </a:r>
          </a:p>
        </p:txBody>
      </p:sp>
      <p:sp>
        <p:nvSpPr>
          <p:cNvPr id="28" name="Rounded Rectangle 27"/>
          <p:cNvSpPr/>
          <p:nvPr/>
        </p:nvSpPr>
        <p:spPr>
          <a:xfrm>
            <a:off x="9189491" y="1097280"/>
            <a:ext cx="2773603" cy="457200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89491" y="1097280"/>
            <a:ext cx="2773603" cy="6400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9491" y="1143000"/>
            <a:ext cx="2773603" cy="320040"/>
          </a:xfrm>
          <a:prstGeom prst="rect">
            <a:avLst/>
          </a:prstGeom>
          <a:noFill/>
        </p:spPr>
        <p:txBody>
          <a:bodyPr wrap="square" lIns="45720" rIns="45720" tIns="18288" bIns="18288" anchor="ctr">
            <a:spAutoFit/>
          </a:bodyPr>
          <a:lstStyle/>
          <a:p>
            <a:pPr algn="ctr"/>
            <a:r>
              <a:rPr sz="1500" b="1" i="0">
                <a:solidFill>
                  <a:srgbClr val="FFFFFF"/>
                </a:solidFill>
                <a:latin typeface="Arial"/>
              </a:rPr>
              <a:t>INTANGIBLE</a:t>
            </a:r>
          </a:p>
        </p:txBody>
      </p:sp>
      <p:sp>
        <p:nvSpPr>
          <p:cNvPr id="31" name="TextBox 30"/>
          <p:cNvSpPr txBox="1"/>
          <p:nvPr/>
        </p:nvSpPr>
        <p:spPr>
          <a:xfrm>
            <a:off x="9189491" y="1481328"/>
            <a:ext cx="2773603" cy="274320"/>
          </a:xfrm>
          <a:prstGeom prst="rect">
            <a:avLst/>
          </a:prstGeom>
          <a:noFill/>
        </p:spPr>
        <p:txBody>
          <a:bodyPr wrap="square" lIns="45720" rIns="45720" tIns="18288" bIns="18288" anchor="ctr">
            <a:spAutoFit/>
          </a:bodyPr>
          <a:lstStyle/>
          <a:p>
            <a:pPr algn="ctr"/>
            <a:r>
              <a:rPr sz="1100" b="0" i="1">
                <a:solidFill>
                  <a:srgbClr val="FFFFFF"/>
                </a:solidFill>
                <a:latin typeface="Arial"/>
              </a:rPr>
              <a:t>≈10% reserved</a:t>
            </a:r>
          </a:p>
        </p:txBody>
      </p:sp>
      <p:sp>
        <p:nvSpPr>
          <p:cNvPr id="32" name="TextBox 31"/>
          <p:cNvSpPr txBox="1"/>
          <p:nvPr/>
        </p:nvSpPr>
        <p:spPr>
          <a:xfrm>
            <a:off x="9372371" y="1874520"/>
            <a:ext cx="2407843" cy="914400"/>
          </a:xfrm>
          <a:prstGeom prst="rect">
            <a:avLst/>
          </a:prstGeom>
          <a:noFill/>
        </p:spPr>
        <p:txBody>
          <a:bodyPr wrap="square" lIns="45720" rIns="45720" tIns="18288" bIns="18288" anchor="t">
            <a:spAutoFit/>
          </a:bodyPr>
          <a:lstStyle/>
          <a:p>
            <a:pPr algn="l"/>
            <a:r>
              <a:rPr sz="1100" b="0" i="0">
                <a:solidFill>
                  <a:srgbClr val="2C3E50"/>
                </a:solidFill>
                <a:latin typeface="Arial"/>
              </a:rPr>
              <a:t>Innovation, research, user-experience exploration.</a:t>
            </a:r>
          </a:p>
        </p:txBody>
      </p:sp>
      <p:sp>
        <p:nvSpPr>
          <p:cNvPr id="33" name="Rectangle 32"/>
          <p:cNvSpPr/>
          <p:nvPr/>
        </p:nvSpPr>
        <p:spPr>
          <a:xfrm>
            <a:off x="9372371" y="3017520"/>
            <a:ext cx="2407843" cy="4572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72371" y="3154680"/>
            <a:ext cx="2407843" cy="274320"/>
          </a:xfrm>
          <a:prstGeom prst="rect">
            <a:avLst/>
          </a:prstGeom>
          <a:noFill/>
        </p:spPr>
        <p:txBody>
          <a:bodyPr wrap="square" lIns="45720" rIns="45720" tIns="18288" bIns="18288" anchor="t">
            <a:spAutoFit/>
          </a:bodyPr>
          <a:lstStyle/>
          <a:p>
            <a:pPr algn="l"/>
            <a:r>
              <a:rPr sz="900" b="1" i="0">
                <a:solidFill>
                  <a:srgbClr val="E6B600"/>
                </a:solidFill>
                <a:latin typeface="Arial"/>
              </a:rPr>
              <a:t>WHEN IT APPLIES</a:t>
            </a:r>
          </a:p>
        </p:txBody>
      </p:sp>
      <p:sp>
        <p:nvSpPr>
          <p:cNvPr id="35" name="TextBox 34"/>
          <p:cNvSpPr txBox="1"/>
          <p:nvPr/>
        </p:nvSpPr>
        <p:spPr>
          <a:xfrm>
            <a:off x="9372371" y="3429000"/>
            <a:ext cx="2407843" cy="2103120"/>
          </a:xfrm>
          <a:prstGeom prst="rect">
            <a:avLst/>
          </a:prstGeom>
          <a:noFill/>
        </p:spPr>
        <p:txBody>
          <a:bodyPr wrap="square" lIns="45720" rIns="45720" tIns="18288" bIns="18288" anchor="t">
            <a:spAutoFit/>
          </a:bodyPr>
          <a:lstStyle/>
          <a:p>
            <a:pPr algn="l"/>
            <a:r>
              <a:rPr sz="1100" b="0" i="0">
                <a:solidFill>
                  <a:srgbClr val="2C3E50"/>
                </a:solidFill>
                <a:latin typeface="Arial"/>
              </a:rPr>
              <a:t>Protects the strategic-partner positioning beyond pure delivery.</a:t>
            </a:r>
          </a:p>
        </p:txBody>
      </p:sp>
      <p:sp>
        <p:nvSpPr>
          <p:cNvPr id="36" name="Rounded Rectangle 35"/>
          <p:cNvSpPr/>
          <p:nvPr/>
        </p:nvSpPr>
        <p:spPr>
          <a:xfrm>
            <a:off x="457200" y="5943600"/>
            <a:ext cx="11277295" cy="502920"/>
          </a:xfrm>
          <a:prstGeom prst="roundRect">
            <a:avLst>
              <a:gd name="adj" fmla="val 10000"/>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5989320"/>
            <a:ext cx="10911535" cy="411480"/>
          </a:xfrm>
          <a:prstGeom prst="rect">
            <a:avLst/>
          </a:prstGeom>
          <a:noFill/>
        </p:spPr>
        <p:txBody>
          <a:bodyPr wrap="square" lIns="45720" rIns="45720" tIns="18288" bIns="18288" anchor="ctr">
            <a:spAutoFit/>
          </a:bodyPr>
          <a:lstStyle/>
          <a:p>
            <a:pPr algn="l"/>
            <a:r>
              <a:rPr sz="1200" b="1" i="1">
                <a:solidFill>
                  <a:srgbClr val="FFFFFF"/>
                </a:solidFill>
                <a:latin typeface="Arial"/>
              </a:rPr>
              <a:t>Capacity caps are enforced monthly at the Portfolio Committee · Expedite breach triggers a governance escalation, not a quiet override.</a:t>
            </a:r>
          </a:p>
        </p:txBody>
      </p:sp>
      <p:sp>
        <p:nvSpPr>
          <p:cNvPr id="38" name="TextBox 37"/>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Roadmap · Wave 1 in five steps over fourteen weeks · scale in subsequent waves</a:t>
            </a:r>
          </a:p>
        </p:txBody>
      </p:sp>
      <p:sp>
        <p:nvSpPr>
          <p:cNvPr id="4" name="TextBox 3"/>
          <p:cNvSpPr txBox="1"/>
          <p:nvPr/>
        </p:nvSpPr>
        <p:spPr>
          <a:xfrm>
            <a:off x="457200" y="960120"/>
            <a:ext cx="7315200" cy="274320"/>
          </a:xfrm>
          <a:prstGeom prst="rect">
            <a:avLst/>
          </a:prstGeom>
          <a:noFill/>
        </p:spPr>
        <p:txBody>
          <a:bodyPr wrap="square" lIns="45720" rIns="45720" tIns="18288" bIns="18288" anchor="t">
            <a:spAutoFit/>
          </a:bodyPr>
          <a:lstStyle/>
          <a:p>
            <a:pPr algn="l"/>
            <a:r>
              <a:rPr sz="1300" b="1" i="0">
                <a:solidFill>
                  <a:srgbClr val="213C69"/>
                </a:solidFill>
                <a:latin typeface="Arial"/>
              </a:rPr>
              <a:t>WAVE 1  ·  Demand Management Design &amp; Pilot  ·  14 weeks</a:t>
            </a:r>
          </a:p>
        </p:txBody>
      </p:sp>
      <p:sp>
        <p:nvSpPr>
          <p:cNvPr id="5" name="Rounded Rectangle 4"/>
          <p:cNvSpPr/>
          <p:nvPr/>
        </p:nvSpPr>
        <p:spPr>
          <a:xfrm>
            <a:off x="457200" y="1280160"/>
            <a:ext cx="2196937" cy="2194560"/>
          </a:xfrm>
          <a:prstGeom prst="roundRect">
            <a:avLst>
              <a:gd name="adj" fmla="val 5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80160"/>
            <a:ext cx="2196937" cy="36576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1</a:t>
            </a:r>
          </a:p>
        </p:txBody>
      </p:sp>
      <p:sp>
        <p:nvSpPr>
          <p:cNvPr id="8" name="TextBox 7"/>
          <p:cNvSpPr txBox="1"/>
          <p:nvPr/>
        </p:nvSpPr>
        <p:spPr>
          <a:xfrm>
            <a:off x="457200" y="1691640"/>
            <a:ext cx="2196937" cy="274320"/>
          </a:xfrm>
          <a:prstGeom prst="rect">
            <a:avLst/>
          </a:prstGeom>
          <a:noFill/>
        </p:spPr>
        <p:txBody>
          <a:bodyPr wrap="square" lIns="45720" rIns="45720" tIns="18288" bIns="18288" anchor="t">
            <a:spAutoFit/>
          </a:bodyPr>
          <a:lstStyle/>
          <a:p>
            <a:pPr algn="ctr"/>
            <a:r>
              <a:rPr sz="1000" b="0" i="1">
                <a:solidFill>
                  <a:srgbClr val="6785C1"/>
                </a:solidFill>
                <a:latin typeface="Arial"/>
              </a:rPr>
              <a:t>Weeks 1-2</a:t>
            </a:r>
          </a:p>
        </p:txBody>
      </p:sp>
      <p:sp>
        <p:nvSpPr>
          <p:cNvPr id="9" name="TextBox 8"/>
          <p:cNvSpPr txBox="1"/>
          <p:nvPr/>
        </p:nvSpPr>
        <p:spPr>
          <a:xfrm>
            <a:off x="548640"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ENABLEMENT</a:t>
            </a:r>
          </a:p>
        </p:txBody>
      </p:sp>
      <p:sp>
        <p:nvSpPr>
          <p:cNvPr id="10" name="TextBox 9"/>
          <p:cNvSpPr txBox="1"/>
          <p:nvPr/>
        </p:nvSpPr>
        <p:spPr>
          <a:xfrm>
            <a:off x="548640" y="2377440"/>
            <a:ext cx="2014057" cy="320040"/>
          </a:xfrm>
          <a:prstGeom prst="rect">
            <a:avLst/>
          </a:prstGeom>
          <a:noFill/>
        </p:spPr>
        <p:txBody>
          <a:bodyPr wrap="square" lIns="45720" rIns="45720" tIns="18288" bIns="18288" anchor="t">
            <a:spAutoFit/>
          </a:bodyPr>
          <a:lstStyle/>
          <a:p>
            <a:pPr algn="ctr"/>
            <a:r>
              <a:rPr sz="900" b="0" i="1">
                <a:solidFill>
                  <a:srgbClr val="6E7887"/>
                </a:solidFill>
                <a:latin typeface="Arial"/>
              </a:rPr>
              <a:t>Where are we starting from?</a:t>
            </a:r>
          </a:p>
        </p:txBody>
      </p:sp>
      <p:sp>
        <p:nvSpPr>
          <p:cNvPr id="11" name="TextBox 10"/>
          <p:cNvSpPr txBox="1"/>
          <p:nvPr/>
        </p:nvSpPr>
        <p:spPr>
          <a:xfrm>
            <a:off x="594360"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Stakeholder interviews · prior materials review · portfolio assessment · baseline report</a:t>
            </a:r>
          </a:p>
        </p:txBody>
      </p:sp>
      <p:sp>
        <p:nvSpPr>
          <p:cNvPr id="12" name="TextBox 11"/>
          <p:cNvSpPr txBox="1"/>
          <p:nvPr/>
        </p:nvSpPr>
        <p:spPr>
          <a:xfrm>
            <a:off x="2608417" y="2240280"/>
            <a:ext cx="137160" cy="274320"/>
          </a:xfrm>
          <a:prstGeom prst="rect">
            <a:avLst/>
          </a:prstGeom>
          <a:noFill/>
        </p:spPr>
        <p:txBody>
          <a:bodyPr wrap="square" lIns="45720" rIns="45720" tIns="18288" bIns="18288" anchor="ctr">
            <a:spAutoFit/>
          </a:bodyPr>
          <a:lstStyle/>
          <a:p>
            <a:pPr algn="ctr"/>
            <a:r>
              <a:rPr sz="1800" b="1" i="0">
                <a:solidFill>
                  <a:srgbClr val="6E7887"/>
                </a:solidFill>
                <a:latin typeface="Arial"/>
              </a:rPr>
              <a:t>→</a:t>
            </a:r>
          </a:p>
        </p:txBody>
      </p:sp>
      <p:sp>
        <p:nvSpPr>
          <p:cNvPr id="13" name="Rounded Rectangle 12"/>
          <p:cNvSpPr/>
          <p:nvPr/>
        </p:nvSpPr>
        <p:spPr>
          <a:xfrm>
            <a:off x="2727289" y="1280160"/>
            <a:ext cx="2196937" cy="2194560"/>
          </a:xfrm>
          <a:prstGeom prst="roundRect">
            <a:avLst>
              <a:gd name="adj" fmla="val 5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27289" y="1280160"/>
            <a:ext cx="2196937" cy="36576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27289"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2</a:t>
            </a:r>
          </a:p>
        </p:txBody>
      </p:sp>
      <p:sp>
        <p:nvSpPr>
          <p:cNvPr id="16" name="TextBox 15"/>
          <p:cNvSpPr txBox="1"/>
          <p:nvPr/>
        </p:nvSpPr>
        <p:spPr>
          <a:xfrm>
            <a:off x="2727289" y="1691640"/>
            <a:ext cx="2196937" cy="274320"/>
          </a:xfrm>
          <a:prstGeom prst="rect">
            <a:avLst/>
          </a:prstGeom>
          <a:noFill/>
        </p:spPr>
        <p:txBody>
          <a:bodyPr wrap="square" lIns="45720" rIns="45720" tIns="18288" bIns="18288" anchor="t">
            <a:spAutoFit/>
          </a:bodyPr>
          <a:lstStyle/>
          <a:p>
            <a:pPr algn="ctr"/>
            <a:r>
              <a:rPr sz="1000" b="0" i="1">
                <a:solidFill>
                  <a:srgbClr val="6785C1"/>
                </a:solidFill>
                <a:latin typeface="Arial"/>
              </a:rPr>
              <a:t>Weeks 3-4</a:t>
            </a:r>
          </a:p>
        </p:txBody>
      </p:sp>
      <p:sp>
        <p:nvSpPr>
          <p:cNvPr id="17" name="TextBox 16"/>
          <p:cNvSpPr txBox="1"/>
          <p:nvPr/>
        </p:nvSpPr>
        <p:spPr>
          <a:xfrm>
            <a:off x="2818729"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DEFINE LIFECYCLE</a:t>
            </a:r>
          </a:p>
        </p:txBody>
      </p:sp>
      <p:sp>
        <p:nvSpPr>
          <p:cNvPr id="18" name="TextBox 17"/>
          <p:cNvSpPr txBox="1"/>
          <p:nvPr/>
        </p:nvSpPr>
        <p:spPr>
          <a:xfrm>
            <a:off x="2818729" y="2377440"/>
            <a:ext cx="2014057" cy="320040"/>
          </a:xfrm>
          <a:prstGeom prst="rect">
            <a:avLst/>
          </a:prstGeom>
          <a:noFill/>
        </p:spPr>
        <p:txBody>
          <a:bodyPr wrap="square" lIns="45720" rIns="45720" tIns="18288" bIns="18288" anchor="t">
            <a:spAutoFit/>
          </a:bodyPr>
          <a:lstStyle/>
          <a:p>
            <a:pPr algn="ctr"/>
            <a:r>
              <a:rPr sz="900" b="0" i="1">
                <a:solidFill>
                  <a:srgbClr val="6E7887"/>
                </a:solidFill>
                <a:latin typeface="Arial"/>
              </a:rPr>
              <a:t>How should we work?</a:t>
            </a:r>
          </a:p>
        </p:txBody>
      </p:sp>
      <p:sp>
        <p:nvSpPr>
          <p:cNvPr id="19" name="TextBox 18"/>
          <p:cNvSpPr txBox="1"/>
          <p:nvPr/>
        </p:nvSpPr>
        <p:spPr>
          <a:xfrm>
            <a:off x="2864449"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End-to-end process map · Value Framework v1.0 · Roles &amp; RACI Matrix · Demand Typology</a:t>
            </a:r>
          </a:p>
        </p:txBody>
      </p:sp>
      <p:sp>
        <p:nvSpPr>
          <p:cNvPr id="20" name="TextBox 19"/>
          <p:cNvSpPr txBox="1"/>
          <p:nvPr/>
        </p:nvSpPr>
        <p:spPr>
          <a:xfrm>
            <a:off x="4878506" y="2240280"/>
            <a:ext cx="137160" cy="274320"/>
          </a:xfrm>
          <a:prstGeom prst="rect">
            <a:avLst/>
          </a:prstGeom>
          <a:noFill/>
        </p:spPr>
        <p:txBody>
          <a:bodyPr wrap="square" lIns="45720" rIns="45720" tIns="18288" bIns="18288" anchor="ctr">
            <a:spAutoFit/>
          </a:bodyPr>
          <a:lstStyle/>
          <a:p>
            <a:pPr algn="ctr"/>
            <a:r>
              <a:rPr sz="1800" b="1" i="0">
                <a:solidFill>
                  <a:srgbClr val="6E7887"/>
                </a:solidFill>
                <a:latin typeface="Arial"/>
              </a:rPr>
              <a:t>→</a:t>
            </a:r>
          </a:p>
        </p:txBody>
      </p:sp>
      <p:sp>
        <p:nvSpPr>
          <p:cNvPr id="21" name="Rounded Rectangle 20"/>
          <p:cNvSpPr/>
          <p:nvPr/>
        </p:nvSpPr>
        <p:spPr>
          <a:xfrm>
            <a:off x="4997378" y="1280160"/>
            <a:ext cx="2196937" cy="2194560"/>
          </a:xfrm>
          <a:prstGeom prst="roundRect">
            <a:avLst>
              <a:gd name="adj" fmla="val 5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97378" y="1280160"/>
            <a:ext cx="2196937" cy="36576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97378"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3</a:t>
            </a:r>
          </a:p>
        </p:txBody>
      </p:sp>
      <p:sp>
        <p:nvSpPr>
          <p:cNvPr id="24" name="TextBox 23"/>
          <p:cNvSpPr txBox="1"/>
          <p:nvPr/>
        </p:nvSpPr>
        <p:spPr>
          <a:xfrm>
            <a:off x="4997378" y="1691640"/>
            <a:ext cx="2196937" cy="274320"/>
          </a:xfrm>
          <a:prstGeom prst="rect">
            <a:avLst/>
          </a:prstGeom>
          <a:noFill/>
        </p:spPr>
        <p:txBody>
          <a:bodyPr wrap="square" lIns="45720" rIns="45720" tIns="18288" bIns="18288" anchor="t">
            <a:spAutoFit/>
          </a:bodyPr>
          <a:lstStyle/>
          <a:p>
            <a:pPr algn="ctr"/>
            <a:r>
              <a:rPr sz="1000" b="0" i="1">
                <a:solidFill>
                  <a:srgbClr val="4C8C3F"/>
                </a:solidFill>
                <a:latin typeface="Arial"/>
              </a:rPr>
              <a:t>Weeks 5-6</a:t>
            </a:r>
          </a:p>
        </p:txBody>
      </p:sp>
      <p:sp>
        <p:nvSpPr>
          <p:cNvPr id="25" name="TextBox 24"/>
          <p:cNvSpPr txBox="1"/>
          <p:nvPr/>
        </p:nvSpPr>
        <p:spPr>
          <a:xfrm>
            <a:off x="5088818"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DESIGN TOOL ECOSYSTEM</a:t>
            </a:r>
          </a:p>
        </p:txBody>
      </p:sp>
      <p:sp>
        <p:nvSpPr>
          <p:cNvPr id="26" name="TextBox 25"/>
          <p:cNvSpPr txBox="1"/>
          <p:nvPr/>
        </p:nvSpPr>
        <p:spPr>
          <a:xfrm>
            <a:off x="5088818" y="2377440"/>
            <a:ext cx="2014057" cy="320040"/>
          </a:xfrm>
          <a:prstGeom prst="rect">
            <a:avLst/>
          </a:prstGeom>
          <a:noFill/>
        </p:spPr>
        <p:txBody>
          <a:bodyPr wrap="square" lIns="45720" rIns="45720" tIns="18288" bIns="18288" anchor="t">
            <a:spAutoFit/>
          </a:bodyPr>
          <a:lstStyle/>
          <a:p>
            <a:pPr algn="ctr"/>
            <a:r>
              <a:rPr sz="900" b="0" i="1">
                <a:solidFill>
                  <a:srgbClr val="6E7887"/>
                </a:solidFill>
                <a:latin typeface="Arial"/>
              </a:rPr>
              <a:t>What supports the process?</a:t>
            </a:r>
          </a:p>
        </p:txBody>
      </p:sp>
      <p:sp>
        <p:nvSpPr>
          <p:cNvPr id="27" name="TextBox 26"/>
          <p:cNvSpPr txBox="1"/>
          <p:nvPr/>
        </p:nvSpPr>
        <p:spPr>
          <a:xfrm>
            <a:off x="5134538"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Jira Configuration v1.0 · Intake Form Design · Portfolio Concept Blueprint</a:t>
            </a:r>
          </a:p>
        </p:txBody>
      </p:sp>
      <p:sp>
        <p:nvSpPr>
          <p:cNvPr id="28" name="TextBox 27"/>
          <p:cNvSpPr txBox="1"/>
          <p:nvPr/>
        </p:nvSpPr>
        <p:spPr>
          <a:xfrm>
            <a:off x="7148596" y="2240280"/>
            <a:ext cx="137160" cy="274320"/>
          </a:xfrm>
          <a:prstGeom prst="rect">
            <a:avLst/>
          </a:prstGeom>
          <a:noFill/>
        </p:spPr>
        <p:txBody>
          <a:bodyPr wrap="square" lIns="45720" rIns="45720" tIns="18288" bIns="18288" anchor="ctr">
            <a:spAutoFit/>
          </a:bodyPr>
          <a:lstStyle/>
          <a:p>
            <a:pPr algn="ctr"/>
            <a:r>
              <a:rPr sz="1800" b="1" i="0">
                <a:solidFill>
                  <a:srgbClr val="6E7887"/>
                </a:solidFill>
                <a:latin typeface="Arial"/>
              </a:rPr>
              <a:t>→</a:t>
            </a:r>
          </a:p>
        </p:txBody>
      </p:sp>
      <p:sp>
        <p:nvSpPr>
          <p:cNvPr id="29" name="Rounded Rectangle 28"/>
          <p:cNvSpPr/>
          <p:nvPr/>
        </p:nvSpPr>
        <p:spPr>
          <a:xfrm>
            <a:off x="7267468" y="1280160"/>
            <a:ext cx="2196937" cy="2194560"/>
          </a:xfrm>
          <a:prstGeom prst="roundRect">
            <a:avLst>
              <a:gd name="adj" fmla="val 5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267468" y="1280160"/>
            <a:ext cx="2196937" cy="36576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67468"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4</a:t>
            </a:r>
          </a:p>
        </p:txBody>
      </p:sp>
      <p:sp>
        <p:nvSpPr>
          <p:cNvPr id="32" name="TextBox 31"/>
          <p:cNvSpPr txBox="1"/>
          <p:nvPr/>
        </p:nvSpPr>
        <p:spPr>
          <a:xfrm>
            <a:off x="7267468" y="1691640"/>
            <a:ext cx="2196937" cy="274320"/>
          </a:xfrm>
          <a:prstGeom prst="rect">
            <a:avLst/>
          </a:prstGeom>
          <a:noFill/>
        </p:spPr>
        <p:txBody>
          <a:bodyPr wrap="square" lIns="45720" rIns="45720" tIns="18288" bIns="18288" anchor="t">
            <a:spAutoFit/>
          </a:bodyPr>
          <a:lstStyle/>
          <a:p>
            <a:pPr algn="ctr"/>
            <a:r>
              <a:rPr sz="1000" b="0" i="1">
                <a:solidFill>
                  <a:srgbClr val="E88B2F"/>
                </a:solidFill>
                <a:latin typeface="Arial"/>
              </a:rPr>
              <a:t>Weeks 7-13</a:t>
            </a:r>
          </a:p>
        </p:txBody>
      </p:sp>
      <p:sp>
        <p:nvSpPr>
          <p:cNvPr id="33" name="TextBox 32"/>
          <p:cNvSpPr txBox="1"/>
          <p:nvPr/>
        </p:nvSpPr>
        <p:spPr>
          <a:xfrm>
            <a:off x="7358908"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PILOT EXECUTION</a:t>
            </a:r>
          </a:p>
        </p:txBody>
      </p:sp>
      <p:sp>
        <p:nvSpPr>
          <p:cNvPr id="34" name="TextBox 33"/>
          <p:cNvSpPr txBox="1"/>
          <p:nvPr/>
        </p:nvSpPr>
        <p:spPr>
          <a:xfrm>
            <a:off x="7358908" y="2377440"/>
            <a:ext cx="2014057" cy="320040"/>
          </a:xfrm>
          <a:prstGeom prst="rect">
            <a:avLst/>
          </a:prstGeom>
          <a:noFill/>
        </p:spPr>
        <p:txBody>
          <a:bodyPr wrap="square" lIns="45720" rIns="45720" tIns="18288" bIns="18288" anchor="t">
            <a:spAutoFit/>
          </a:bodyPr>
          <a:lstStyle/>
          <a:p>
            <a:pPr algn="ctr"/>
            <a:r>
              <a:rPr sz="900" b="0" i="1">
                <a:solidFill>
                  <a:srgbClr val="6E7887"/>
                </a:solidFill>
                <a:latin typeface="Arial"/>
              </a:rPr>
              <a:t>Does it work in reality?</a:t>
            </a:r>
          </a:p>
        </p:txBody>
      </p:sp>
      <p:sp>
        <p:nvSpPr>
          <p:cNvPr id="35" name="TextBox 34"/>
          <p:cNvSpPr txBox="1"/>
          <p:nvPr/>
        </p:nvSpPr>
        <p:spPr>
          <a:xfrm>
            <a:off x="7404628"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Execute one Value Stream end-to-end · pilot team training · real-time feedback log</a:t>
            </a:r>
          </a:p>
        </p:txBody>
      </p:sp>
      <p:sp>
        <p:nvSpPr>
          <p:cNvPr id="36" name="TextBox 35"/>
          <p:cNvSpPr txBox="1"/>
          <p:nvPr/>
        </p:nvSpPr>
        <p:spPr>
          <a:xfrm>
            <a:off x="9418685" y="2240280"/>
            <a:ext cx="137160" cy="274320"/>
          </a:xfrm>
          <a:prstGeom prst="rect">
            <a:avLst/>
          </a:prstGeom>
          <a:noFill/>
        </p:spPr>
        <p:txBody>
          <a:bodyPr wrap="square" lIns="45720" rIns="45720" tIns="18288" bIns="18288" anchor="ctr">
            <a:spAutoFit/>
          </a:bodyPr>
          <a:lstStyle/>
          <a:p>
            <a:pPr algn="ctr"/>
            <a:r>
              <a:rPr sz="1800" b="1" i="0">
                <a:solidFill>
                  <a:srgbClr val="6E7887"/>
                </a:solidFill>
                <a:latin typeface="Arial"/>
              </a:rPr>
              <a:t>→</a:t>
            </a:r>
          </a:p>
        </p:txBody>
      </p:sp>
      <p:sp>
        <p:nvSpPr>
          <p:cNvPr id="37" name="Rounded Rectangle 36"/>
          <p:cNvSpPr/>
          <p:nvPr/>
        </p:nvSpPr>
        <p:spPr>
          <a:xfrm>
            <a:off x="9537557" y="1280160"/>
            <a:ext cx="2196937" cy="2194560"/>
          </a:xfrm>
          <a:prstGeom prst="roundRect">
            <a:avLst>
              <a:gd name="adj" fmla="val 5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537557" y="1280160"/>
            <a:ext cx="2196937" cy="36576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37557"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5</a:t>
            </a:r>
          </a:p>
        </p:txBody>
      </p:sp>
      <p:sp>
        <p:nvSpPr>
          <p:cNvPr id="40" name="TextBox 39"/>
          <p:cNvSpPr txBox="1"/>
          <p:nvPr/>
        </p:nvSpPr>
        <p:spPr>
          <a:xfrm>
            <a:off x="9537557" y="1691640"/>
            <a:ext cx="2196937" cy="274320"/>
          </a:xfrm>
          <a:prstGeom prst="rect">
            <a:avLst/>
          </a:prstGeom>
          <a:noFill/>
        </p:spPr>
        <p:txBody>
          <a:bodyPr wrap="square" lIns="45720" rIns="45720" tIns="18288" bIns="18288" anchor="t">
            <a:spAutoFit/>
          </a:bodyPr>
          <a:lstStyle/>
          <a:p>
            <a:pPr algn="ctr"/>
            <a:r>
              <a:rPr sz="1000" b="0" i="1">
                <a:solidFill>
                  <a:srgbClr val="B63B1F"/>
                </a:solidFill>
                <a:latin typeface="Arial"/>
              </a:rPr>
              <a:t>Week 14</a:t>
            </a:r>
          </a:p>
        </p:txBody>
      </p:sp>
      <p:sp>
        <p:nvSpPr>
          <p:cNvPr id="41" name="TextBox 40"/>
          <p:cNvSpPr txBox="1"/>
          <p:nvPr/>
        </p:nvSpPr>
        <p:spPr>
          <a:xfrm>
            <a:off x="9628997"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LEARN &amp; ADJUST</a:t>
            </a:r>
          </a:p>
        </p:txBody>
      </p:sp>
      <p:sp>
        <p:nvSpPr>
          <p:cNvPr id="42" name="TextBox 41"/>
          <p:cNvSpPr txBox="1"/>
          <p:nvPr/>
        </p:nvSpPr>
        <p:spPr>
          <a:xfrm>
            <a:off x="9628997" y="2377440"/>
            <a:ext cx="2014057" cy="320040"/>
          </a:xfrm>
          <a:prstGeom prst="rect">
            <a:avLst/>
          </a:prstGeom>
          <a:noFill/>
        </p:spPr>
        <p:txBody>
          <a:bodyPr wrap="square" lIns="45720" rIns="45720" tIns="18288" bIns="18288" anchor="t">
            <a:spAutoFit/>
          </a:bodyPr>
          <a:lstStyle/>
          <a:p>
            <a:pPr algn="ctr"/>
            <a:r>
              <a:rPr sz="900" b="0" i="1">
                <a:solidFill>
                  <a:srgbClr val="6E7887"/>
                </a:solidFill>
                <a:latin typeface="Arial"/>
              </a:rPr>
              <a:t>What needs refinement?</a:t>
            </a:r>
          </a:p>
        </p:txBody>
      </p:sp>
      <p:sp>
        <p:nvSpPr>
          <p:cNvPr id="43" name="TextBox 42"/>
          <p:cNvSpPr txBox="1"/>
          <p:nvPr/>
        </p:nvSpPr>
        <p:spPr>
          <a:xfrm>
            <a:off x="9674717"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Analyze pilot data · refine Jira config v2.0 · adjust Value Scoring · finalize Playbook</a:t>
            </a:r>
          </a:p>
        </p:txBody>
      </p:sp>
      <p:sp>
        <p:nvSpPr>
          <p:cNvPr id="44" name="Rounded Rectangle 43"/>
          <p:cNvSpPr/>
          <p:nvPr/>
        </p:nvSpPr>
        <p:spPr>
          <a:xfrm>
            <a:off x="457200" y="3840480"/>
            <a:ext cx="5760720" cy="1097280"/>
          </a:xfrm>
          <a:prstGeom prst="roundRect">
            <a:avLst>
              <a:gd name="adj" fmla="val 4000"/>
            </a:avLst>
          </a:prstGeom>
          <a:solidFill>
            <a:srgbClr val="DCE6F5"/>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7200" y="3840480"/>
            <a:ext cx="5760720" cy="36576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867912"/>
            <a:ext cx="5760720" cy="320040"/>
          </a:xfrm>
          <a:prstGeom prst="rect">
            <a:avLst/>
          </a:prstGeom>
          <a:noFill/>
        </p:spPr>
        <p:txBody>
          <a:bodyPr wrap="square" lIns="45720" rIns="45720" tIns="18288" bIns="18288" anchor="ctr">
            <a:spAutoFit/>
          </a:bodyPr>
          <a:lstStyle/>
          <a:p>
            <a:pPr algn="ctr"/>
            <a:r>
              <a:rPr sz="1200" b="1" i="0">
                <a:solidFill>
                  <a:srgbClr val="FFFFFF"/>
                </a:solidFill>
                <a:latin typeface="Arial"/>
              </a:rPr>
              <a:t>WAVE 2  ·  Scale to remaining Value Stream Teams</a:t>
            </a:r>
          </a:p>
        </p:txBody>
      </p:sp>
      <p:sp>
        <p:nvSpPr>
          <p:cNvPr id="47" name="TextBox 46"/>
          <p:cNvSpPr txBox="1"/>
          <p:nvPr/>
        </p:nvSpPr>
        <p:spPr>
          <a:xfrm>
            <a:off x="640080" y="4297680"/>
            <a:ext cx="5486400" cy="594360"/>
          </a:xfrm>
          <a:prstGeom prst="rect">
            <a:avLst/>
          </a:prstGeom>
          <a:noFill/>
        </p:spPr>
        <p:txBody>
          <a:bodyPr wrap="square" lIns="45720" rIns="45720" tIns="18288" bIns="18288" anchor="t">
            <a:spAutoFit/>
          </a:bodyPr>
          <a:lstStyle/>
          <a:p>
            <a:pPr algn="l"/>
            <a:r>
              <a:rPr sz="1050" b="0" i="1">
                <a:solidFill>
                  <a:srgbClr val="2C3E50"/>
                </a:solidFill>
                <a:latin typeface="Arial"/>
              </a:rPr>
              <a:t>Apply validated playbook to next 3-4 teams · refined intake forms · trained Product Managers · ~12 weeks · Q3 2026</a:t>
            </a:r>
          </a:p>
        </p:txBody>
      </p:sp>
      <p:sp>
        <p:nvSpPr>
          <p:cNvPr id="48" name="Rounded Rectangle 47"/>
          <p:cNvSpPr/>
          <p:nvPr/>
        </p:nvSpPr>
        <p:spPr>
          <a:xfrm>
            <a:off x="6400800" y="3840480"/>
            <a:ext cx="5303520" cy="1097280"/>
          </a:xfrm>
          <a:prstGeom prst="roundRect">
            <a:avLst>
              <a:gd name="adj" fmla="val 4000"/>
            </a:avLst>
          </a:prstGeom>
          <a:solidFill>
            <a:srgbClr val="E8F1E3"/>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400800" y="3840480"/>
            <a:ext cx="5303520" cy="36576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0" y="3867912"/>
            <a:ext cx="5303520" cy="320040"/>
          </a:xfrm>
          <a:prstGeom prst="rect">
            <a:avLst/>
          </a:prstGeom>
          <a:noFill/>
        </p:spPr>
        <p:txBody>
          <a:bodyPr wrap="square" lIns="45720" rIns="45720" tIns="18288" bIns="18288" anchor="ctr">
            <a:spAutoFit/>
          </a:bodyPr>
          <a:lstStyle/>
          <a:p>
            <a:pPr algn="ctr"/>
            <a:r>
              <a:rPr sz="1200" b="1" i="0">
                <a:solidFill>
                  <a:srgbClr val="FFFFFF"/>
                </a:solidFill>
                <a:latin typeface="Arial"/>
              </a:rPr>
              <a:t>WAVE 3  ·  Steady-state operation</a:t>
            </a:r>
          </a:p>
        </p:txBody>
      </p:sp>
      <p:sp>
        <p:nvSpPr>
          <p:cNvPr id="51" name="TextBox 50"/>
          <p:cNvSpPr txBox="1"/>
          <p:nvPr/>
        </p:nvSpPr>
        <p:spPr>
          <a:xfrm>
            <a:off x="6583680" y="4297680"/>
            <a:ext cx="5029200" cy="594360"/>
          </a:xfrm>
          <a:prstGeom prst="rect">
            <a:avLst/>
          </a:prstGeom>
          <a:noFill/>
        </p:spPr>
        <p:txBody>
          <a:bodyPr wrap="square" lIns="45720" rIns="45720" tIns="18288" bIns="18288" anchor="t">
            <a:spAutoFit/>
          </a:bodyPr>
          <a:lstStyle/>
          <a:p>
            <a:pPr algn="l"/>
            <a:r>
              <a:rPr sz="1050" b="0" i="1">
                <a:solidFill>
                  <a:srgbClr val="2C3E50"/>
                </a:solidFill>
                <a:latin typeface="Arial"/>
              </a:rPr>
              <a:t>All 8 Value Stream Teams operating model · continuous improvement · Q4 2026 onwards · quarterly Big Room Planning</a:t>
            </a:r>
          </a:p>
        </p:txBody>
      </p:sp>
      <p:sp>
        <p:nvSpPr>
          <p:cNvPr id="52" name="Rounded Rectangle 51"/>
          <p:cNvSpPr/>
          <p:nvPr/>
        </p:nvSpPr>
        <p:spPr>
          <a:xfrm>
            <a:off x="457200" y="5120640"/>
            <a:ext cx="11277295" cy="1280160"/>
          </a:xfrm>
          <a:prstGeom prst="roundRect">
            <a:avLst>
              <a:gd name="adj" fmla="val 4000"/>
            </a:avLst>
          </a:prstGeom>
          <a:solidFill>
            <a:srgbClr val="DCE6F5"/>
          </a:solidFill>
          <a:ln w="25400">
            <a:solidFill>
              <a:srgbClr val="213C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 y="5212080"/>
            <a:ext cx="10911535" cy="320040"/>
          </a:xfrm>
          <a:prstGeom prst="rect">
            <a:avLst/>
          </a:prstGeom>
          <a:noFill/>
        </p:spPr>
        <p:txBody>
          <a:bodyPr wrap="square" lIns="45720" rIns="45720" tIns="18288" bIns="18288" anchor="t">
            <a:spAutoFit/>
          </a:bodyPr>
          <a:lstStyle/>
          <a:p>
            <a:pPr algn="l"/>
            <a:r>
              <a:rPr sz="1200" b="1" i="0">
                <a:solidFill>
                  <a:srgbClr val="213C69"/>
                </a:solidFill>
                <a:latin typeface="Arial"/>
              </a:rPr>
              <a:t>PILOT TEAM RECOMMENDATION</a:t>
            </a:r>
          </a:p>
        </p:txBody>
      </p:sp>
      <p:sp>
        <p:nvSpPr>
          <p:cNvPr id="54" name="TextBox 53"/>
          <p:cNvSpPr txBox="1"/>
          <p:nvPr/>
        </p:nvSpPr>
        <p:spPr>
          <a:xfrm>
            <a:off x="640080" y="5486400"/>
            <a:ext cx="10911535" cy="411480"/>
          </a:xfrm>
          <a:prstGeom prst="rect">
            <a:avLst/>
          </a:prstGeom>
          <a:noFill/>
        </p:spPr>
        <p:txBody>
          <a:bodyPr wrap="square" lIns="45720" rIns="45720" tIns="18288" bIns="18288" anchor="t">
            <a:spAutoFit/>
          </a:bodyPr>
          <a:lstStyle/>
          <a:p>
            <a:pPr algn="l"/>
            <a:r>
              <a:rPr sz="1800" b="1" i="0">
                <a:solidFill>
                  <a:srgbClr val="11233E"/>
                </a:solidFill>
                <a:latin typeface="Arial"/>
              </a:rPr>
              <a:t>Meter-to-Cash · Service Lifecycle (Smart Metering)</a:t>
            </a:r>
          </a:p>
        </p:txBody>
      </p:sp>
      <p:sp>
        <p:nvSpPr>
          <p:cNvPr id="55" name="TextBox 54"/>
          <p:cNvSpPr txBox="1"/>
          <p:nvPr/>
        </p:nvSpPr>
        <p:spPr>
          <a:xfrm>
            <a:off x="640080" y="5897880"/>
            <a:ext cx="10911535" cy="457200"/>
          </a:xfrm>
          <a:prstGeom prst="rect">
            <a:avLst/>
          </a:prstGeom>
          <a:noFill/>
        </p:spPr>
        <p:txBody>
          <a:bodyPr wrap="square" lIns="45720" rIns="45720" tIns="18288" bIns="18288" anchor="t">
            <a:spAutoFit/>
          </a:bodyPr>
          <a:lstStyle/>
          <a:p>
            <a:pPr algn="l"/>
            <a:r>
              <a:rPr sz="1000" b="0" i="1">
                <a:solidFill>
                  <a:srgbClr val="2C3E50"/>
                </a:solidFill>
                <a:latin typeface="Arial"/>
              </a:rPr>
              <a:t>Closest existing analog to a Product Manager already in place — minimal change-management lift. Vendor delivery model already stable. Clear, scoped user base.</a:t>
            </a:r>
          </a:p>
        </p:txBody>
      </p:sp>
      <p:sp>
        <p:nvSpPr>
          <p:cNvPr id="56" name="TextBox 55"/>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