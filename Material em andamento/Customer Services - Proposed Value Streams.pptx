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14" r:id="rId2"/>
    <p:sldId id="272" r:id="rId3"/>
    <p:sldId id="289" r:id="rId4"/>
    <p:sldId id="291" r:id="rId5"/>
    <p:sldId id="292" r:id="rId6"/>
    <p:sldId id="29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7"/>
    <p:restoredTop sz="94651"/>
  </p:normalViewPr>
  <p:slideViewPr>
    <p:cSldViewPr snapToGrid="0">
      <p:cViewPr>
        <p:scale>
          <a:sx n="160" d="100"/>
          <a:sy n="160" d="100"/>
        </p:scale>
        <p:origin x="1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27/04/2026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 -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lang="pt-BR" sz="5400" dirty="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br>
              <a:rPr lang="en-US" dirty="0"/>
            </a:br>
            <a:r>
              <a:rPr lang="en-US" sz="2400" b="0" dirty="0"/>
              <a:t>April 2026</a:t>
            </a:r>
            <a:endParaRPr lang="en-US" b="0" dirty="0"/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 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81963" y="2528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68866" y="2455164"/>
            <a:ext cx="276841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73403" y="2601468"/>
            <a:ext cx="2554147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Meter-to-Cash · Service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9123" y="3207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>
                <a:latin typeface="Arial"/>
              </a:rPr>
              <a:t>DOMAIN · Customer Service / M2C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9123" y="3396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Customer signs up · activates · changes · disconnects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9123" y="3890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9123" y="3982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9123" y="4210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Metering · MV90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8718" y="2528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10430" y="2455164"/>
            <a:ext cx="277539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0158" y="2601468"/>
            <a:ext cx="2554147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Meter-to-Cash · Revenue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5878" y="3207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>
                <a:latin typeface="Arial"/>
              </a:rPr>
              <a:t>DOMAIN · Customer Service ·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5878" y="3396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Accurate billing · easy payment · fair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5878" y="3890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65878" y="3982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5878" y="4210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FICA · ECC · StreamServe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5474" y="2528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57184" y="2455164"/>
            <a:ext cx="2765949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6914" y="2601468"/>
            <a:ext cx="2554147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Customer Care &amp; Contact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2634" y="3207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>
                <a:latin typeface="Arial"/>
              </a:rPr>
              <a:t>DOMAIN · Customer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2634" y="3396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Issue resolution · self-service · voice of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2634" y="3890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12634" y="3982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2634" y="4210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CRM · Medallia · Blue Prism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79" y="99997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INTAKE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79" y="513287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CUSTOMER SERVICES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CUSTOMER SERVICES APPS  ·  Kumar Jaladanki  ·  3 Value Streams — M2C-SL · M2C-RO · CCC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OPCO call centers (UIL · CMP · NY) — escalations and trends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Marketing &amp; Communications — campaign and digital channel demand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pt-BR" sz="950" dirty="0" err="1">
                <a:solidFill>
                  <a:srgbClr val="2C3E50"/>
                </a:solidFill>
                <a:latin typeface="Arial"/>
              </a:rPr>
              <a:t>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mart Metering program — CT · ME · NY rollout drivers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Regulatory affairs — rate cases · tariff changes · tax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4427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CHANNELS BY TYPE — how it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ONE Jira request type per Value Stream (M2C-SL · M2C-RO · CCC)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Mandatory fields: VS · type · size · </a:t>
            </a:r>
            <a:r>
              <a:rPr sz="950" b="0" dirty="0" err="1">
                <a:solidFill>
                  <a:srgbClr val="2C3E50"/>
                </a:solidFill>
                <a:latin typeface="Arial"/>
              </a:rPr>
              <a:t>CoS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 · OPCO · sponsor · Pain Score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IT Now — restricted to CCC / Smart Metering INCIDENTS only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Email · Teams · Word — DECOMMISSIONED for new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CLASSIFICATION — branch-specific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Run / Grow / Transform — labeled at intake (default ~50 / 35 / 15 %)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Class of Service — Standard · Expedite (customer-impact) · Fixed-date · Intangible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Customer impact tier P1–P4 — customer-facing severity drives Expedite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Regulatory tariff items always Fixed-date with rate-case calendar lock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Smart Metering CT / ME mandates — pre-classified as Fixed-date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4427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PRIORITIZATION — Pain Score 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Pain Score H(x) = (</a:t>
            </a:r>
            <a:r>
              <a:rPr sz="950" b="0" dirty="0" err="1">
                <a:solidFill>
                  <a:srgbClr val="2C3E50"/>
                </a:solidFill>
                <a:latin typeface="Arial"/>
              </a:rPr>
              <a:t>BV·w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₁ + </a:t>
            </a:r>
            <a:r>
              <a:rPr sz="950" b="0" dirty="0" err="1">
                <a:solidFill>
                  <a:srgbClr val="2C3E50"/>
                </a:solidFill>
                <a:latin typeface="Arial"/>
              </a:rPr>
              <a:t>UX·w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₂ + </a:t>
            </a:r>
            <a:r>
              <a:rPr sz="950" b="0" dirty="0" err="1">
                <a:solidFill>
                  <a:srgbClr val="2C3E50"/>
                </a:solidFill>
                <a:latin typeface="Arial"/>
              </a:rPr>
              <a:t>Safety·w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₃) / Effort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CS weighting — UX heavy: w₁=0.35 · w₂=0.40 · w₃=0.25  [proposal]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Backlog ranked monthly at Gate 2 by the VS Product Manager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Cross-VS conflicts (e.g. CRM ↔ Smart Metering) resolved at Customer Journey Forum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 Capacity reserved 10–15 % per quarter for Intangible (tech debt)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M2C-SL METER-TO-CASH · SERVICE LIFECYCLE — SMART-METER TO INVOICE WITH ZERO DATA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Vincent Lam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60% · Grow 30% · Transform 10%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accurately · feed billing on time ·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OpenWay (AMI head-end)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Data Management (MDM)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Device Management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platform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program (CT · ME · NY rollout)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Operations exceptions and escalations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drivers (CT PURA · ME PUC · NY PSC mandates)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Vincent Lam / Iram Chowdhury (Champion)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SMEs from Smart Metering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vendor (stable team — Option A model)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managed services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 for IS-U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M2C-RO METER-TO-CASH · REVENUE OPERATIONS — BILL ONCE, BILL RIGHT, COLLECT ON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CS Apps · Kumar Jaladanki · Ivelisse Velazquez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50% · Grow 35% · Transform 15%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Standardize billing, FICA and collection processes across OPCOs · respond to rate cases without ad-hoc workarounds.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FICA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 Billing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Collection systems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Rate-case calculation tooling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engine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Finance &amp; Billing Operations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(rate-case filings, tariff changes)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updates and federal/state mandates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escalations from CCC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 — billing &amp; FICA SME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Stephanie (SAP Champion · cross-link)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(FICA / IS-U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primary FICA vendor with Vitor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CCC CUSTOMER CARE &amp; CONTACT CENTER — RESOLVE CUSTOMER INTERACTIONS ON FIRST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CRM/CCC sub-team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45% · Grow 35% · Transform 20%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Unify CRM, Contact Center and digital self-service so every customer interaction lands in a single record with a clear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Contact Center platform (CCC)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(CSAT and journey signal)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Solution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self-service /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Operations (Heather LaJoie's Product Mgmt)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Marketing &amp; Communications (campaign demand)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OPCO call centers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vacancy (CRM &amp; Contact Center Ops)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 — CX SME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CCC sub-team lead post-vacancy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Lemur-Salesforce (CRM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vendor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partner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1068</Words>
  <Application>Microsoft Macintosh PowerPoint</Application>
  <PresentationFormat>Widescreen</PresentationFormat>
  <Paragraphs>134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1</cp:revision>
  <dcterms:created xsi:type="dcterms:W3CDTF">2026-04-28T18:35:46Z</dcterms:created>
  <dcterms:modified xsi:type="dcterms:W3CDTF">2026-04-28T18:55:55Z</dcterms:modified>
</cp:coreProperties>
</file>