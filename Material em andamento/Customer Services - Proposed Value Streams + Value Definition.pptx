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31" r:id="rId2"/>
    <p:sldId id="322" r:id="rId3"/>
    <p:sldId id="324" r:id="rId4"/>
    <p:sldId id="325" r:id="rId5"/>
    <p:sldId id="326" r:id="rId6"/>
    <p:sldId id="272" r:id="rId7"/>
    <p:sldId id="330" r:id="rId8"/>
    <p:sldId id="319" r:id="rId9"/>
    <p:sldId id="291" r:id="rId10"/>
    <p:sldId id="292" r:id="rId11"/>
    <p:sldId id="293" r:id="rId12"/>
    <p:sldId id="315" r:id="rId13"/>
    <p:sldId id="316" r:id="rId14"/>
    <p:sldId id="317" r:id="rId15"/>
    <p:sldId id="328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003"/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51"/>
  </p:normalViewPr>
  <p:slideViewPr>
    <p:cSldViewPr snapToGrid="0">
      <p:cViewPr varScale="1">
        <p:scale>
          <a:sx n="153" d="100"/>
          <a:sy n="153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28C1F1-10D0-AB40-A4BA-FA0920B180F4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B209DB6C-7B50-7A4D-A210-8102D7DC53CD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Sign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up</a:t>
          </a:r>
          <a:r>
            <a:rPr lang="pt-BR" b="1" dirty="0">
              <a:solidFill>
                <a:schemeClr val="bg1"/>
              </a:solidFill>
              <a:latin typeface="Arial"/>
            </a:rPr>
            <a:t>
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activate</a:t>
          </a:r>
          <a:endParaRPr lang="pt-BR" b="1" dirty="0">
            <a:solidFill>
              <a:schemeClr val="bg1"/>
            </a:solidFill>
          </a:endParaRPr>
        </a:p>
      </dgm:t>
    </dgm:pt>
    <dgm:pt modelId="{936FC227-3D2A-3A4F-BDCE-2F8189AFD3C8}" type="parTrans" cxnId="{7753BA81-59D5-4A48-BFAB-9AA396B4CCD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A2D897F-6E76-1245-9426-CD182E6C17AE}" type="sibTrans" cxnId="{7753BA81-59D5-4A48-BFAB-9AA396B4CCD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4EB9C64-23D3-F443-A345-AF52947AE0FE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Acquire</a:t>
          </a:r>
          <a:r>
            <a:rPr lang="pt-BR" b="1" dirty="0">
              <a:solidFill>
                <a:schemeClr val="bg1"/>
              </a:solidFill>
              <a:latin typeface="Arial"/>
            </a:rPr>
            <a:t> meter </a:t>
          </a:r>
          <a:r>
            <a:rPr lang="pt-BR" b="1" dirty="0" err="1">
              <a:solidFill>
                <a:schemeClr val="bg1"/>
              </a:solidFill>
              <a:latin typeface="Arial"/>
            </a:rPr>
            <a:t>reads</a:t>
          </a:r>
          <a:endParaRPr lang="pt-BR" b="1" dirty="0">
            <a:solidFill>
              <a:schemeClr val="bg1"/>
            </a:solidFill>
          </a:endParaRPr>
        </a:p>
      </dgm:t>
    </dgm:pt>
    <dgm:pt modelId="{6D292FEF-529A-464F-96A4-8A5A45DA14DB}" type="parTrans" cxnId="{F55835CA-8F6C-DA41-AD93-2420D4548D98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1B51D8E7-CE98-7B46-B060-C4D5A68EF2C1}" type="sibTrans" cxnId="{F55835CA-8F6C-DA41-AD93-2420D4548D98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3A2C3539-B6F6-374F-9ACD-ACFFF7E2647A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Validate</a:t>
          </a:r>
          <a:r>
            <a:rPr lang="pt-BR" b="1" dirty="0">
              <a:solidFill>
                <a:schemeClr val="bg1"/>
              </a:solidFill>
              <a:latin typeface="Arial"/>
            </a:rPr>
            <a:t> 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process</a:t>
          </a:r>
          <a:r>
            <a:rPr lang="pt-BR" b="1" dirty="0">
              <a:solidFill>
                <a:schemeClr val="bg1"/>
              </a:solidFill>
              <a:latin typeface="Arial"/>
            </a:rPr>
            <a:t> data</a:t>
          </a:r>
          <a:endParaRPr lang="pt-BR" b="1" dirty="0">
            <a:solidFill>
              <a:schemeClr val="bg1"/>
            </a:solidFill>
          </a:endParaRPr>
        </a:p>
      </dgm:t>
    </dgm:pt>
    <dgm:pt modelId="{03E10759-2DE9-5A45-97E7-E4B0807B097D}" type="parTrans" cxnId="{893F6F24-8BDC-7B4B-9D21-70E11B8B1ABA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A8227F4-98AC-AC42-B785-2942B46447E2}" type="sibTrans" cxnId="{893F6F24-8BDC-7B4B-9D21-70E11B8B1ABA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1BDD0ECE-6D4C-484C-8530-6884C3268367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Calculate</a:t>
          </a:r>
          <a:r>
            <a:rPr lang="pt-BR" b="1" dirty="0">
              <a:solidFill>
                <a:schemeClr val="bg1"/>
              </a:solidFill>
              <a:latin typeface="Arial"/>
            </a:rPr>
            <a:t> 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issue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bill</a:t>
          </a:r>
          <a:endParaRPr lang="pt-BR" b="1" dirty="0">
            <a:solidFill>
              <a:schemeClr val="bg1"/>
            </a:solidFill>
          </a:endParaRPr>
        </a:p>
      </dgm:t>
    </dgm:pt>
    <dgm:pt modelId="{61E3F065-9EE0-2B4A-BFD4-4C5945A78AA5}" type="parTrans" cxnId="{15BBD621-87FB-424E-8137-1D944771D8E9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A086FDB6-4D65-EA49-8298-8CEDDE614920}" type="sibTrans" cxnId="{15BBD621-87FB-424E-8137-1D944771D8E9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88CD80F-6B9E-DD48-9E67-6778A9609ED4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Deliver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Invoice</a:t>
          </a:r>
          <a:endParaRPr lang="pt-BR" b="1" dirty="0">
            <a:solidFill>
              <a:schemeClr val="bg1"/>
            </a:solidFill>
          </a:endParaRPr>
        </a:p>
      </dgm:t>
    </dgm:pt>
    <dgm:pt modelId="{D8DC2F34-C9BA-E54B-B276-36677ABF2378}" type="parTrans" cxnId="{B34D757C-C4A5-3149-85A7-B03B811B4E2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D5589713-1BE6-8E43-9884-B0D01F35531B}" type="sibTrans" cxnId="{B34D757C-C4A5-3149-85A7-B03B811B4E2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5E3CEB5-BC1D-824D-B5B5-C6A2312EADC4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Process</a:t>
          </a:r>
          <a:r>
            <a:rPr lang="pt-BR" b="1" dirty="0">
              <a:solidFill>
                <a:schemeClr val="bg1"/>
              </a:solidFill>
            </a:rPr>
            <a:t> </a:t>
          </a:r>
          <a:r>
            <a:rPr lang="pt-BR" b="1" dirty="0" err="1">
              <a:solidFill>
                <a:schemeClr val="bg1"/>
              </a:solidFill>
            </a:rPr>
            <a:t>Payment</a:t>
          </a:r>
          <a:endParaRPr lang="pt-BR" b="1" dirty="0">
            <a:solidFill>
              <a:schemeClr val="bg1"/>
            </a:solidFill>
          </a:endParaRPr>
        </a:p>
      </dgm:t>
    </dgm:pt>
    <dgm:pt modelId="{2DEE60BC-76E9-5D45-BEE5-AF2F197DA42C}" type="parTrans" cxnId="{EC6CBBF7-2999-A04C-8AA4-596333F9C07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06A21EEC-1672-9B4F-B5B0-C7613890AD89}" type="sibTrans" cxnId="{EC6CBBF7-2999-A04C-8AA4-596333F9C07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060D20F1-9096-2C42-80C1-5E965CC5C80C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Handle</a:t>
          </a:r>
          <a:r>
            <a:rPr lang="pt-BR" b="1" dirty="0">
              <a:solidFill>
                <a:schemeClr val="bg1"/>
              </a:solidFill>
            </a:rPr>
            <a:t> </a:t>
          </a:r>
          <a:r>
            <a:rPr lang="pt-BR" b="1" dirty="0" err="1">
              <a:solidFill>
                <a:schemeClr val="bg1"/>
              </a:solidFill>
            </a:rPr>
            <a:t>Interactions</a:t>
          </a:r>
          <a:endParaRPr lang="pt-BR" b="1" dirty="0">
            <a:solidFill>
              <a:schemeClr val="bg1"/>
            </a:solidFill>
          </a:endParaRPr>
        </a:p>
      </dgm:t>
    </dgm:pt>
    <dgm:pt modelId="{1182FF4A-1A37-5641-8572-2F89FA0FFA77}" type="parTrans" cxnId="{10A46C1A-2104-A847-A812-A756CB1AB420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CD5ACD3A-90AA-9E41-B190-3C19050ABD6D}" type="sibTrans" cxnId="{10A46C1A-2104-A847-A812-A756CB1AB420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75AF1C32-F4CE-864F-8CF7-721D11A2C43C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Reconcile</a:t>
          </a:r>
          <a:r>
            <a:rPr lang="pt-BR" b="1" dirty="0">
              <a:solidFill>
                <a:schemeClr val="bg1"/>
              </a:solidFill>
            </a:rPr>
            <a:t> &amp; Close</a:t>
          </a:r>
        </a:p>
      </dgm:t>
    </dgm:pt>
    <dgm:pt modelId="{81180F3F-AC06-0240-8349-7E120D8B4EBB}" type="parTrans" cxnId="{B5C6AB2C-9171-A542-A01E-F748CBEFA22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7B799AAB-7F00-C84B-9E0A-F3F1AA30265A}" type="sibTrans" cxnId="{B5C6AB2C-9171-A542-A01E-F748CBEFA22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2C4DFE3-7419-FF49-A094-28FC2C1856B5}" type="pres">
      <dgm:prSet presAssocID="{DB28C1F1-10D0-AB40-A4BA-FA0920B180F4}" presName="Name0" presStyleCnt="0">
        <dgm:presLayoutVars>
          <dgm:dir/>
          <dgm:resizeHandles val="exact"/>
        </dgm:presLayoutVars>
      </dgm:prSet>
      <dgm:spPr/>
    </dgm:pt>
    <dgm:pt modelId="{03238F48-DC05-1E48-982C-F163CCAF1CFD}" type="pres">
      <dgm:prSet presAssocID="{B209DB6C-7B50-7A4D-A210-8102D7DC53CD}" presName="parTxOnly" presStyleLbl="node1" presStyleIdx="0" presStyleCnt="8">
        <dgm:presLayoutVars>
          <dgm:bulletEnabled val="1"/>
        </dgm:presLayoutVars>
      </dgm:prSet>
      <dgm:spPr/>
    </dgm:pt>
    <dgm:pt modelId="{309F41E5-6334-C448-84BE-2EC74E6EF663}" type="pres">
      <dgm:prSet presAssocID="{5A2D897F-6E76-1245-9426-CD182E6C17AE}" presName="parSpace" presStyleCnt="0"/>
      <dgm:spPr/>
    </dgm:pt>
    <dgm:pt modelId="{57292675-95C2-684D-A42C-DB1EF102F3C8}" type="pres">
      <dgm:prSet presAssocID="{24EB9C64-23D3-F443-A345-AF52947AE0FE}" presName="parTxOnly" presStyleLbl="node1" presStyleIdx="1" presStyleCnt="8">
        <dgm:presLayoutVars>
          <dgm:bulletEnabled val="1"/>
        </dgm:presLayoutVars>
      </dgm:prSet>
      <dgm:spPr/>
    </dgm:pt>
    <dgm:pt modelId="{B3C0ABA2-3F90-234A-A7A6-395FFFAE7A88}" type="pres">
      <dgm:prSet presAssocID="{1B51D8E7-CE98-7B46-B060-C4D5A68EF2C1}" presName="parSpace" presStyleCnt="0"/>
      <dgm:spPr/>
    </dgm:pt>
    <dgm:pt modelId="{51F8E2D8-2DCA-CE4E-92FA-C1FF42F5CB0C}" type="pres">
      <dgm:prSet presAssocID="{3A2C3539-B6F6-374F-9ACD-ACFFF7E2647A}" presName="parTxOnly" presStyleLbl="node1" presStyleIdx="2" presStyleCnt="8">
        <dgm:presLayoutVars>
          <dgm:bulletEnabled val="1"/>
        </dgm:presLayoutVars>
      </dgm:prSet>
      <dgm:spPr/>
    </dgm:pt>
    <dgm:pt modelId="{003DA93E-1F57-3946-84C9-9974D148A710}" type="pres">
      <dgm:prSet presAssocID="{5A8227F4-98AC-AC42-B785-2942B46447E2}" presName="parSpace" presStyleCnt="0"/>
      <dgm:spPr/>
    </dgm:pt>
    <dgm:pt modelId="{3F457553-BCBE-714A-9430-6FD7FB866CEA}" type="pres">
      <dgm:prSet presAssocID="{1BDD0ECE-6D4C-484C-8530-6884C3268367}" presName="parTxOnly" presStyleLbl="node1" presStyleIdx="3" presStyleCnt="8">
        <dgm:presLayoutVars>
          <dgm:bulletEnabled val="1"/>
        </dgm:presLayoutVars>
      </dgm:prSet>
      <dgm:spPr/>
    </dgm:pt>
    <dgm:pt modelId="{960796AC-8FA0-174D-AD9D-C1FB6D7E3737}" type="pres">
      <dgm:prSet presAssocID="{A086FDB6-4D65-EA49-8298-8CEDDE614920}" presName="parSpace" presStyleCnt="0"/>
      <dgm:spPr/>
    </dgm:pt>
    <dgm:pt modelId="{6961D274-D9A6-2C45-854F-4DA6F1782960}" type="pres">
      <dgm:prSet presAssocID="{588CD80F-6B9E-DD48-9E67-6778A9609ED4}" presName="parTxOnly" presStyleLbl="node1" presStyleIdx="4" presStyleCnt="8">
        <dgm:presLayoutVars>
          <dgm:bulletEnabled val="1"/>
        </dgm:presLayoutVars>
      </dgm:prSet>
      <dgm:spPr/>
    </dgm:pt>
    <dgm:pt modelId="{4B22C41B-F225-0E47-9C98-5583308B8FAD}" type="pres">
      <dgm:prSet presAssocID="{D5589713-1BE6-8E43-9884-B0D01F35531B}" presName="parSpace" presStyleCnt="0"/>
      <dgm:spPr/>
    </dgm:pt>
    <dgm:pt modelId="{85811342-CEE0-8E47-8605-13762BC2D092}" type="pres">
      <dgm:prSet presAssocID="{25E3CEB5-BC1D-824D-B5B5-C6A2312EADC4}" presName="parTxOnly" presStyleLbl="node1" presStyleIdx="5" presStyleCnt="8">
        <dgm:presLayoutVars>
          <dgm:bulletEnabled val="1"/>
        </dgm:presLayoutVars>
      </dgm:prSet>
      <dgm:spPr/>
    </dgm:pt>
    <dgm:pt modelId="{C23FE446-4D59-A948-95BD-FA3B5708382F}" type="pres">
      <dgm:prSet presAssocID="{06A21EEC-1672-9B4F-B5B0-C7613890AD89}" presName="parSpace" presStyleCnt="0"/>
      <dgm:spPr/>
    </dgm:pt>
    <dgm:pt modelId="{55820AF8-E0FC-7547-BD2B-0EDD71816AB3}" type="pres">
      <dgm:prSet presAssocID="{060D20F1-9096-2C42-80C1-5E965CC5C80C}" presName="parTxOnly" presStyleLbl="node1" presStyleIdx="6" presStyleCnt="8">
        <dgm:presLayoutVars>
          <dgm:bulletEnabled val="1"/>
        </dgm:presLayoutVars>
      </dgm:prSet>
      <dgm:spPr/>
    </dgm:pt>
    <dgm:pt modelId="{55FB239E-24AF-ED4C-BC80-5E7F1339678A}" type="pres">
      <dgm:prSet presAssocID="{CD5ACD3A-90AA-9E41-B190-3C19050ABD6D}" presName="parSpace" presStyleCnt="0"/>
      <dgm:spPr/>
    </dgm:pt>
    <dgm:pt modelId="{D709C21A-C8C3-1A4A-BF8B-D3FF74611F12}" type="pres">
      <dgm:prSet presAssocID="{75AF1C32-F4CE-864F-8CF7-721D11A2C43C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014A1C0B-A006-AA47-A0F3-3E9D9A8BA751}" type="presOf" srcId="{1BDD0ECE-6D4C-484C-8530-6884C3268367}" destId="{3F457553-BCBE-714A-9430-6FD7FB866CEA}" srcOrd="0" destOrd="0" presId="urn:microsoft.com/office/officeart/2005/8/layout/hChevron3"/>
    <dgm:cxn modelId="{40558E14-86DB-F247-9149-248F4E5A4959}" type="presOf" srcId="{B209DB6C-7B50-7A4D-A210-8102D7DC53CD}" destId="{03238F48-DC05-1E48-982C-F163CCAF1CFD}" srcOrd="0" destOrd="0" presId="urn:microsoft.com/office/officeart/2005/8/layout/hChevron3"/>
    <dgm:cxn modelId="{10A46C1A-2104-A847-A812-A756CB1AB420}" srcId="{DB28C1F1-10D0-AB40-A4BA-FA0920B180F4}" destId="{060D20F1-9096-2C42-80C1-5E965CC5C80C}" srcOrd="6" destOrd="0" parTransId="{1182FF4A-1A37-5641-8572-2F89FA0FFA77}" sibTransId="{CD5ACD3A-90AA-9E41-B190-3C19050ABD6D}"/>
    <dgm:cxn modelId="{15BBD621-87FB-424E-8137-1D944771D8E9}" srcId="{DB28C1F1-10D0-AB40-A4BA-FA0920B180F4}" destId="{1BDD0ECE-6D4C-484C-8530-6884C3268367}" srcOrd="3" destOrd="0" parTransId="{61E3F065-9EE0-2B4A-BFD4-4C5945A78AA5}" sibTransId="{A086FDB6-4D65-EA49-8298-8CEDDE614920}"/>
    <dgm:cxn modelId="{893F6F24-8BDC-7B4B-9D21-70E11B8B1ABA}" srcId="{DB28C1F1-10D0-AB40-A4BA-FA0920B180F4}" destId="{3A2C3539-B6F6-374F-9ACD-ACFFF7E2647A}" srcOrd="2" destOrd="0" parTransId="{03E10759-2DE9-5A45-97E7-E4B0807B097D}" sibTransId="{5A8227F4-98AC-AC42-B785-2942B46447E2}"/>
    <dgm:cxn modelId="{B5C6AB2C-9171-A542-A01E-F748CBEFA22F}" srcId="{DB28C1F1-10D0-AB40-A4BA-FA0920B180F4}" destId="{75AF1C32-F4CE-864F-8CF7-721D11A2C43C}" srcOrd="7" destOrd="0" parTransId="{81180F3F-AC06-0240-8349-7E120D8B4EBB}" sibTransId="{7B799AAB-7F00-C84B-9E0A-F3F1AA30265A}"/>
    <dgm:cxn modelId="{076C363B-EBD2-7048-BF8A-05EF998B8C41}" type="presOf" srcId="{25E3CEB5-BC1D-824D-B5B5-C6A2312EADC4}" destId="{85811342-CEE0-8E47-8605-13762BC2D092}" srcOrd="0" destOrd="0" presId="urn:microsoft.com/office/officeart/2005/8/layout/hChevron3"/>
    <dgm:cxn modelId="{27F2DB43-7E40-2549-85F8-86E66E7A0A6A}" type="presOf" srcId="{3A2C3539-B6F6-374F-9ACD-ACFFF7E2647A}" destId="{51F8E2D8-2DCA-CE4E-92FA-C1FF42F5CB0C}" srcOrd="0" destOrd="0" presId="urn:microsoft.com/office/officeart/2005/8/layout/hChevron3"/>
    <dgm:cxn modelId="{E6070655-0D19-E246-9458-430642D6933B}" type="presOf" srcId="{75AF1C32-F4CE-864F-8CF7-721D11A2C43C}" destId="{D709C21A-C8C3-1A4A-BF8B-D3FF74611F12}" srcOrd="0" destOrd="0" presId="urn:microsoft.com/office/officeart/2005/8/layout/hChevron3"/>
    <dgm:cxn modelId="{83D4E578-964B-9C49-AE2B-88020474B42E}" type="presOf" srcId="{DB28C1F1-10D0-AB40-A4BA-FA0920B180F4}" destId="{22C4DFE3-7419-FF49-A094-28FC2C1856B5}" srcOrd="0" destOrd="0" presId="urn:microsoft.com/office/officeart/2005/8/layout/hChevron3"/>
    <dgm:cxn modelId="{B34D757C-C4A5-3149-85A7-B03B811B4E22}" srcId="{DB28C1F1-10D0-AB40-A4BA-FA0920B180F4}" destId="{588CD80F-6B9E-DD48-9E67-6778A9609ED4}" srcOrd="4" destOrd="0" parTransId="{D8DC2F34-C9BA-E54B-B276-36677ABF2378}" sibTransId="{D5589713-1BE6-8E43-9884-B0D01F35531B}"/>
    <dgm:cxn modelId="{7753BA81-59D5-4A48-BFAB-9AA396B4CCD2}" srcId="{DB28C1F1-10D0-AB40-A4BA-FA0920B180F4}" destId="{B209DB6C-7B50-7A4D-A210-8102D7DC53CD}" srcOrd="0" destOrd="0" parTransId="{936FC227-3D2A-3A4F-BDCE-2F8189AFD3C8}" sibTransId="{5A2D897F-6E76-1245-9426-CD182E6C17AE}"/>
    <dgm:cxn modelId="{EEC7FBB1-2A37-9942-9A1B-1CD0C8E29E15}" type="presOf" srcId="{588CD80F-6B9E-DD48-9E67-6778A9609ED4}" destId="{6961D274-D9A6-2C45-854F-4DA6F1782960}" srcOrd="0" destOrd="0" presId="urn:microsoft.com/office/officeart/2005/8/layout/hChevron3"/>
    <dgm:cxn modelId="{F55835CA-8F6C-DA41-AD93-2420D4548D98}" srcId="{DB28C1F1-10D0-AB40-A4BA-FA0920B180F4}" destId="{24EB9C64-23D3-F443-A345-AF52947AE0FE}" srcOrd="1" destOrd="0" parTransId="{6D292FEF-529A-464F-96A4-8A5A45DA14DB}" sibTransId="{1B51D8E7-CE98-7B46-B060-C4D5A68EF2C1}"/>
    <dgm:cxn modelId="{20ADF9CE-5F3E-1043-8F8A-FF14EBD69829}" type="presOf" srcId="{24EB9C64-23D3-F443-A345-AF52947AE0FE}" destId="{57292675-95C2-684D-A42C-DB1EF102F3C8}" srcOrd="0" destOrd="0" presId="urn:microsoft.com/office/officeart/2005/8/layout/hChevron3"/>
    <dgm:cxn modelId="{BB2B3FEC-5526-E041-9304-C3D4375B7552}" type="presOf" srcId="{060D20F1-9096-2C42-80C1-5E965CC5C80C}" destId="{55820AF8-E0FC-7547-BD2B-0EDD71816AB3}" srcOrd="0" destOrd="0" presId="urn:microsoft.com/office/officeart/2005/8/layout/hChevron3"/>
    <dgm:cxn modelId="{EC6CBBF7-2999-A04C-8AA4-596333F9C07F}" srcId="{DB28C1F1-10D0-AB40-A4BA-FA0920B180F4}" destId="{25E3CEB5-BC1D-824D-B5B5-C6A2312EADC4}" srcOrd="5" destOrd="0" parTransId="{2DEE60BC-76E9-5D45-BEE5-AF2F197DA42C}" sibTransId="{06A21EEC-1672-9B4F-B5B0-C7613890AD89}"/>
    <dgm:cxn modelId="{E673D1CD-0D69-814E-8516-7A6D9FF1858A}" type="presParOf" srcId="{22C4DFE3-7419-FF49-A094-28FC2C1856B5}" destId="{03238F48-DC05-1E48-982C-F163CCAF1CFD}" srcOrd="0" destOrd="0" presId="urn:microsoft.com/office/officeart/2005/8/layout/hChevron3"/>
    <dgm:cxn modelId="{6BB7B680-A327-0541-A1CC-D3FFCAB768F6}" type="presParOf" srcId="{22C4DFE3-7419-FF49-A094-28FC2C1856B5}" destId="{309F41E5-6334-C448-84BE-2EC74E6EF663}" srcOrd="1" destOrd="0" presId="urn:microsoft.com/office/officeart/2005/8/layout/hChevron3"/>
    <dgm:cxn modelId="{9FA88033-B2B3-9242-B6F0-285B6C495DED}" type="presParOf" srcId="{22C4DFE3-7419-FF49-A094-28FC2C1856B5}" destId="{57292675-95C2-684D-A42C-DB1EF102F3C8}" srcOrd="2" destOrd="0" presId="urn:microsoft.com/office/officeart/2005/8/layout/hChevron3"/>
    <dgm:cxn modelId="{C94F9034-16FE-514A-B8A3-C5C6BBE57480}" type="presParOf" srcId="{22C4DFE3-7419-FF49-A094-28FC2C1856B5}" destId="{B3C0ABA2-3F90-234A-A7A6-395FFFAE7A88}" srcOrd="3" destOrd="0" presId="urn:microsoft.com/office/officeart/2005/8/layout/hChevron3"/>
    <dgm:cxn modelId="{A562980D-2BA9-6A4D-A3EA-2CFEF5787769}" type="presParOf" srcId="{22C4DFE3-7419-FF49-A094-28FC2C1856B5}" destId="{51F8E2D8-2DCA-CE4E-92FA-C1FF42F5CB0C}" srcOrd="4" destOrd="0" presId="urn:microsoft.com/office/officeart/2005/8/layout/hChevron3"/>
    <dgm:cxn modelId="{0B578862-F833-2A4A-B1FD-393FBCD42EEA}" type="presParOf" srcId="{22C4DFE3-7419-FF49-A094-28FC2C1856B5}" destId="{003DA93E-1F57-3946-84C9-9974D148A710}" srcOrd="5" destOrd="0" presId="urn:microsoft.com/office/officeart/2005/8/layout/hChevron3"/>
    <dgm:cxn modelId="{12ABF543-C766-EA47-80DF-67ECC2ED494F}" type="presParOf" srcId="{22C4DFE3-7419-FF49-A094-28FC2C1856B5}" destId="{3F457553-BCBE-714A-9430-6FD7FB866CEA}" srcOrd="6" destOrd="0" presId="urn:microsoft.com/office/officeart/2005/8/layout/hChevron3"/>
    <dgm:cxn modelId="{78AD537C-4858-EB48-8DCE-AF5E569094F6}" type="presParOf" srcId="{22C4DFE3-7419-FF49-A094-28FC2C1856B5}" destId="{960796AC-8FA0-174D-AD9D-C1FB6D7E3737}" srcOrd="7" destOrd="0" presId="urn:microsoft.com/office/officeart/2005/8/layout/hChevron3"/>
    <dgm:cxn modelId="{50C6B671-FDDC-934B-BCD2-E45E33A65975}" type="presParOf" srcId="{22C4DFE3-7419-FF49-A094-28FC2C1856B5}" destId="{6961D274-D9A6-2C45-854F-4DA6F1782960}" srcOrd="8" destOrd="0" presId="urn:microsoft.com/office/officeart/2005/8/layout/hChevron3"/>
    <dgm:cxn modelId="{B2FEF964-7346-3C46-8453-F0D9CC941BBF}" type="presParOf" srcId="{22C4DFE3-7419-FF49-A094-28FC2C1856B5}" destId="{4B22C41B-F225-0E47-9C98-5583308B8FAD}" srcOrd="9" destOrd="0" presId="urn:microsoft.com/office/officeart/2005/8/layout/hChevron3"/>
    <dgm:cxn modelId="{EED04E71-8950-2142-ABB2-92FBEA93C63C}" type="presParOf" srcId="{22C4DFE3-7419-FF49-A094-28FC2C1856B5}" destId="{85811342-CEE0-8E47-8605-13762BC2D092}" srcOrd="10" destOrd="0" presId="urn:microsoft.com/office/officeart/2005/8/layout/hChevron3"/>
    <dgm:cxn modelId="{8493D0BD-BB52-B843-923D-1B1E0EF36AC7}" type="presParOf" srcId="{22C4DFE3-7419-FF49-A094-28FC2C1856B5}" destId="{C23FE446-4D59-A948-95BD-FA3B5708382F}" srcOrd="11" destOrd="0" presId="urn:microsoft.com/office/officeart/2005/8/layout/hChevron3"/>
    <dgm:cxn modelId="{8CE804EE-8D1F-6C49-8043-001F329B10B7}" type="presParOf" srcId="{22C4DFE3-7419-FF49-A094-28FC2C1856B5}" destId="{55820AF8-E0FC-7547-BD2B-0EDD71816AB3}" srcOrd="12" destOrd="0" presId="urn:microsoft.com/office/officeart/2005/8/layout/hChevron3"/>
    <dgm:cxn modelId="{9AE8664A-6DEE-C048-A3AB-917AA5FABA24}" type="presParOf" srcId="{22C4DFE3-7419-FF49-A094-28FC2C1856B5}" destId="{55FB239E-24AF-ED4C-BC80-5E7F1339678A}" srcOrd="13" destOrd="0" presId="urn:microsoft.com/office/officeart/2005/8/layout/hChevron3"/>
    <dgm:cxn modelId="{E86CC73B-F0D2-BB4F-8A0F-CC5A8E5E8B61}" type="presParOf" srcId="{22C4DFE3-7419-FF49-A094-28FC2C1856B5}" destId="{D709C21A-C8C3-1A4A-BF8B-D3FF74611F12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38F48-DC05-1E48-982C-F163CCAF1CFD}">
      <dsp:nvSpPr>
        <dsp:cNvPr id="0" name=""/>
        <dsp:cNvSpPr/>
      </dsp:nvSpPr>
      <dsp:spPr>
        <a:xfrm>
          <a:off x="4317" y="385916"/>
          <a:ext cx="1338272" cy="5353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Sign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up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
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activate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4317" y="385916"/>
        <a:ext cx="1204445" cy="535309"/>
      </dsp:txXfrm>
    </dsp:sp>
    <dsp:sp modelId="{57292675-95C2-684D-A42C-DB1EF102F3C8}">
      <dsp:nvSpPr>
        <dsp:cNvPr id="0" name=""/>
        <dsp:cNvSpPr/>
      </dsp:nvSpPr>
      <dsp:spPr>
        <a:xfrm>
          <a:off x="1074935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Acquire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meter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reads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1342590" y="385916"/>
        <a:ext cx="802963" cy="535309"/>
      </dsp:txXfrm>
    </dsp:sp>
    <dsp:sp modelId="{51F8E2D8-2DCA-CE4E-92FA-C1FF42F5CB0C}">
      <dsp:nvSpPr>
        <dsp:cNvPr id="0" name=""/>
        <dsp:cNvSpPr/>
      </dsp:nvSpPr>
      <dsp:spPr>
        <a:xfrm>
          <a:off x="2145553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Validate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process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data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2413208" y="385916"/>
        <a:ext cx="802963" cy="535309"/>
      </dsp:txXfrm>
    </dsp:sp>
    <dsp:sp modelId="{3F457553-BCBE-714A-9430-6FD7FB866CEA}">
      <dsp:nvSpPr>
        <dsp:cNvPr id="0" name=""/>
        <dsp:cNvSpPr/>
      </dsp:nvSpPr>
      <dsp:spPr>
        <a:xfrm>
          <a:off x="3216171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Calculate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issue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bill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3483826" y="385916"/>
        <a:ext cx="802963" cy="535309"/>
      </dsp:txXfrm>
    </dsp:sp>
    <dsp:sp modelId="{6961D274-D9A6-2C45-854F-4DA6F1782960}">
      <dsp:nvSpPr>
        <dsp:cNvPr id="0" name=""/>
        <dsp:cNvSpPr/>
      </dsp:nvSpPr>
      <dsp:spPr>
        <a:xfrm>
          <a:off x="4286789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Deliver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Invoice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4554444" y="385916"/>
        <a:ext cx="802963" cy="535309"/>
      </dsp:txXfrm>
    </dsp:sp>
    <dsp:sp modelId="{85811342-CEE0-8E47-8605-13762BC2D092}">
      <dsp:nvSpPr>
        <dsp:cNvPr id="0" name=""/>
        <dsp:cNvSpPr/>
      </dsp:nvSpPr>
      <dsp:spPr>
        <a:xfrm>
          <a:off x="5357407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Process</a:t>
          </a:r>
          <a:r>
            <a:rPr lang="pt-BR" sz="1000" b="1" kern="1200" dirty="0">
              <a:solidFill>
                <a:schemeClr val="bg1"/>
              </a:solidFill>
            </a:rPr>
            <a:t> </a:t>
          </a:r>
          <a:r>
            <a:rPr lang="pt-BR" sz="1000" b="1" kern="1200" dirty="0" err="1">
              <a:solidFill>
                <a:schemeClr val="bg1"/>
              </a:solidFill>
            </a:rPr>
            <a:t>Payment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5625062" y="385916"/>
        <a:ext cx="802963" cy="535309"/>
      </dsp:txXfrm>
    </dsp:sp>
    <dsp:sp modelId="{55820AF8-E0FC-7547-BD2B-0EDD71816AB3}">
      <dsp:nvSpPr>
        <dsp:cNvPr id="0" name=""/>
        <dsp:cNvSpPr/>
      </dsp:nvSpPr>
      <dsp:spPr>
        <a:xfrm>
          <a:off x="6428025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Handle</a:t>
          </a:r>
          <a:r>
            <a:rPr lang="pt-BR" sz="1000" b="1" kern="1200" dirty="0">
              <a:solidFill>
                <a:schemeClr val="bg1"/>
              </a:solidFill>
            </a:rPr>
            <a:t> </a:t>
          </a:r>
          <a:r>
            <a:rPr lang="pt-BR" sz="1000" b="1" kern="1200" dirty="0" err="1">
              <a:solidFill>
                <a:schemeClr val="bg1"/>
              </a:solidFill>
            </a:rPr>
            <a:t>Interactions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6695680" y="385916"/>
        <a:ext cx="802963" cy="535309"/>
      </dsp:txXfrm>
    </dsp:sp>
    <dsp:sp modelId="{D709C21A-C8C3-1A4A-BF8B-D3FF74611F12}">
      <dsp:nvSpPr>
        <dsp:cNvPr id="0" name=""/>
        <dsp:cNvSpPr/>
      </dsp:nvSpPr>
      <dsp:spPr>
        <a:xfrm>
          <a:off x="7498643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Reconcile</a:t>
          </a:r>
          <a:r>
            <a:rPr lang="pt-BR" sz="1000" b="1" kern="1200" dirty="0">
              <a:solidFill>
                <a:schemeClr val="bg1"/>
              </a:solidFill>
            </a:rPr>
            <a:t> &amp; Close</a:t>
          </a:r>
        </a:p>
      </dsp:txBody>
      <dsp:txXfrm>
        <a:off x="7766298" y="385916"/>
        <a:ext cx="802963" cy="535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29/04/2026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90832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19931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 -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lang="pt-BR" sz="5400" dirty="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br>
              <a:rPr lang="en-US" dirty="0"/>
            </a:br>
            <a:r>
              <a:rPr lang="en-US" sz="2400" b="0" dirty="0"/>
              <a:t>April 2026</a:t>
            </a:r>
            <a:endParaRPr lang="en-US" b="0" dirty="0"/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4604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838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i="0" dirty="0">
                <a:solidFill>
                  <a:srgbClr val="FFFFFF"/>
                </a:solidFill>
                <a:latin typeface="Arial"/>
              </a:rPr>
              <a:t>PROPOSAL 1 – 1 OPERATIONAL VALUE STREAM + 3 DEVELOPMENT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83251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 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16760" y="3320653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03663" y="3247501"/>
            <a:ext cx="2768412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8200" y="3442132"/>
            <a:ext cx="2554147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Arial"/>
              </a:rPr>
              <a:t>DEVELOPMENT VALUE STREAM 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Service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3920" y="4189333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Customer signs up · activates · changes · disconnects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53920" y="4683109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53920" y="4774549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3920" y="5003149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Metering · MV90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515" y="3320653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45227" y="3247501"/>
            <a:ext cx="2775392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955" y="3442132"/>
            <a:ext cx="2554147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Arial"/>
              </a:rPr>
              <a:t>DEVELOPMENT VALUE STREAM  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Revenue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75" y="4189333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Accurate billing · easy payment · fair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75" y="4683109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75" y="4774549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75" y="5003149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FICA · ECC · StreamServe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0271" y="3320653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1981" y="3247501"/>
            <a:ext cx="2765949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01711" y="3442132"/>
            <a:ext cx="2554147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Arial"/>
              </a:rPr>
              <a:t>DEVELOPMENT VALUE STREAM -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Customer Care &amp; Contact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7431" y="4189333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Issue resolution · self-service · voice of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47431" y="4683109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47431" y="4774549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7431" y="5003149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CRM · Medallia · Blue Prism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F2B2A23-0F59-0795-F0EA-3FD1C2748615}"/>
              </a:ext>
            </a:extLst>
          </p:cNvPr>
          <p:cNvSpPr/>
          <p:nvPr/>
        </p:nvSpPr>
        <p:spPr>
          <a:xfrm>
            <a:off x="1801066" y="2525124"/>
            <a:ext cx="8456863" cy="637871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OPERATIONAL VALUE STREAM – METER-2-CASH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8CED9D-01C5-D8C0-1C8D-EE8123C57474}"/>
              </a:ext>
            </a:extLst>
          </p:cNvPr>
          <p:cNvSpPr/>
          <p:nvPr/>
        </p:nvSpPr>
        <p:spPr>
          <a:xfrm>
            <a:off x="464341" y="1254391"/>
            <a:ext cx="11274552" cy="11061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E3939EF-26B8-E228-C081-414BC11D6D6A}"/>
              </a:ext>
            </a:extLst>
          </p:cNvPr>
          <p:cNvSpPr/>
          <p:nvPr/>
        </p:nvSpPr>
        <p:spPr>
          <a:xfrm>
            <a:off x="446053" y="1208671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C44F3E9E-3059-D143-3A79-79E1E72D3CE3}"/>
              </a:ext>
            </a:extLst>
          </p:cNvPr>
          <p:cNvSpPr txBox="1"/>
          <p:nvPr/>
        </p:nvSpPr>
        <p:spPr>
          <a:xfrm>
            <a:off x="647221" y="1281823"/>
            <a:ext cx="843991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39E7CC39-D68C-ED8D-DE35-6F1A758702C1}"/>
              </a:ext>
            </a:extLst>
          </p:cNvPr>
          <p:cNvSpPr txBox="1"/>
          <p:nvPr/>
        </p:nvSpPr>
        <p:spPr>
          <a:xfrm>
            <a:off x="8904253" y="1300111"/>
            <a:ext cx="26517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2BDDFBCC-8BFF-734C-950E-BE26AA01E73E}"/>
              </a:ext>
            </a:extLst>
          </p:cNvPr>
          <p:cNvSpPr txBox="1"/>
          <p:nvPr/>
        </p:nvSpPr>
        <p:spPr>
          <a:xfrm>
            <a:off x="647221" y="1775599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6A15DD76-B8C6-DB01-F073-92655423CB5F}"/>
              </a:ext>
            </a:extLst>
          </p:cNvPr>
          <p:cNvSpPr txBox="1"/>
          <p:nvPr/>
        </p:nvSpPr>
        <p:spPr>
          <a:xfrm>
            <a:off x="647221" y="1976767"/>
            <a:ext cx="109087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38" name="Rounded Rectangle 46">
            <a:extLst>
              <a:ext uri="{FF2B5EF4-FFF2-40B4-BE49-F238E27FC236}">
                <a16:creationId xmlns:a16="http://schemas.microsoft.com/office/drawing/2014/main" id="{AC21AC17-C44F-DF1F-CB2D-F0B9B18A7976}"/>
              </a:ext>
            </a:extLst>
          </p:cNvPr>
          <p:cNvSpPr/>
          <p:nvPr/>
        </p:nvSpPr>
        <p:spPr>
          <a:xfrm>
            <a:off x="1801065" y="5597509"/>
            <a:ext cx="8456863" cy="777240"/>
          </a:xfrm>
          <a:prstGeom prst="roundRect">
            <a:avLst>
              <a:gd name="adj" fmla="val 2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47">
            <a:extLst>
              <a:ext uri="{FF2B5EF4-FFF2-40B4-BE49-F238E27FC236}">
                <a16:creationId xmlns:a16="http://schemas.microsoft.com/office/drawing/2014/main" id="{9E7A286B-AEC9-979A-5116-F8B5F23F501A}"/>
              </a:ext>
            </a:extLst>
          </p:cNvPr>
          <p:cNvSpPr txBox="1"/>
          <p:nvPr/>
        </p:nvSpPr>
        <p:spPr>
          <a:xfrm>
            <a:off x="1953920" y="5648323"/>
            <a:ext cx="2211340" cy="206210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2C7EC557-5615-852D-97CD-C2D456288DB5}"/>
              </a:ext>
            </a:extLst>
          </p:cNvPr>
          <p:cNvSpPr txBox="1"/>
          <p:nvPr/>
        </p:nvSpPr>
        <p:spPr>
          <a:xfrm>
            <a:off x="1953920" y="5865534"/>
            <a:ext cx="2211340" cy="429348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 dirty="0">
                <a:solidFill>
                  <a:srgbClr val="FFFFFF"/>
                </a:solidFill>
                <a:latin typeface="Arial"/>
              </a:rPr>
              <a:t>Shared services · supports the 4 DVS</a:t>
            </a:r>
          </a:p>
          <a:p>
            <a:pPr algn="l"/>
            <a:r>
              <a:rPr sz="850" b="0" i="0" dirty="0">
                <a:solidFill>
                  <a:srgbClr val="FFFFFF"/>
                </a:solidFill>
                <a:latin typeface="Arial"/>
              </a:rPr>
              <a:t>No Product Manager · governed by Director CS Apps + Sr. Manager SAP Architecture</a:t>
            </a:r>
          </a:p>
        </p:txBody>
      </p:sp>
      <p:sp>
        <p:nvSpPr>
          <p:cNvPr id="41" name="TextBox 49">
            <a:extLst>
              <a:ext uri="{FF2B5EF4-FFF2-40B4-BE49-F238E27FC236}">
                <a16:creationId xmlns:a16="http://schemas.microsoft.com/office/drawing/2014/main" id="{36B6B10A-5442-64C7-3A4A-7ED47A65D1FA}"/>
              </a:ext>
            </a:extLst>
          </p:cNvPr>
          <p:cNvSpPr txBox="1"/>
          <p:nvPr/>
        </p:nvSpPr>
        <p:spPr>
          <a:xfrm>
            <a:off x="4541284" y="5688949"/>
            <a:ext cx="5483865" cy="175433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9FE86209-035E-D05F-CC44-E2E9298BDA48}"/>
              </a:ext>
            </a:extLst>
          </p:cNvPr>
          <p:cNvSpPr txBox="1"/>
          <p:nvPr/>
        </p:nvSpPr>
        <p:spPr>
          <a:xfrm>
            <a:off x="4541284" y="5890117"/>
            <a:ext cx="5614574" cy="183127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SAP Basis  ·  SAP Gold Client  ·  SAP Enable Now  ·  Blue Prism (RPA)  ·  Tricentis TOSCA  ·  Jira</a:t>
            </a:r>
          </a:p>
        </p:txBody>
      </p:sp>
    </p:spTree>
    <p:extLst>
      <p:ext uri="{BB962C8B-B14F-4D97-AF65-F5344CB8AC3E}">
        <p14:creationId xmlns:p14="http://schemas.microsoft.com/office/powerpoint/2010/main" val="403822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i="0" dirty="0">
                <a:solidFill>
                  <a:srgbClr val="FFFFFF"/>
                </a:solidFill>
                <a:latin typeface="Arial"/>
              </a:rPr>
              <a:t>DEVELOPMENT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SERVICE LIFECYCLE — SMART-METER TO INVOICE WITH ZERO DATA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CS Apps · Kumar </a:t>
            </a:r>
            <a:r>
              <a:rPr sz="1000" b="1" i="0" dirty="0" err="1">
                <a:solidFill>
                  <a:srgbClr val="FFFFFF"/>
                </a:solidFill>
                <a:latin typeface="Arial"/>
              </a:rPr>
              <a:t>Jaladanki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 · Vincent Lam (sub-team 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60% · Grow 30% · Transform 10%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accurately · feed billing on time ·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Itron OpenWay (AMI head-end)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Meter Data Management (MDM)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IS-U Device Management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platform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program (CT · ME · NY rollout)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Field Operations exceptions and escalations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Regulatory drivers (CT PURA · ME PUC · NY PSC mandates)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62421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Business Analyst</a:t>
            </a: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SMEs from Smart Metering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vendor (stable team — Option A model)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Itron managed services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partner for IS-U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  <p:extLst>
      <p:ext uri="{BB962C8B-B14F-4D97-AF65-F5344CB8AC3E}">
        <p14:creationId xmlns:p14="http://schemas.microsoft.com/office/powerpoint/2010/main" val="420355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Arial"/>
              </a:rPr>
              <a:t>DEVELOPMENT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REVENUE OPERATIONS — BILL ONCE, BILL RIGHT, COLLECT ON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CS Apps · Kumar Jaladanki · Ivelisse Velazquez (sub-team 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50% · Grow 35% · Transform 15%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Standardize billing, FICA and collection processes across OPCOs · respond to rate cases without ad-hoc workarounds.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IS-U FICA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 Billing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Collection systems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Rate-case calculation tooling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engine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Finance &amp; Billing Operations (UIL · CMP · NY)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Regulatory (rate-case filings, tariff changes)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updates and federal/state mandates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escalations from CCC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Tech Lead</a:t>
            </a: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Business Analyst — billing &amp; FICA SME</a:t>
            </a: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Stephanie (SAP Champion · cross-link)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(FICA / IS-U delivery)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partners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[GAP] confirm primary FICA vendor with Vitor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  <p:extLst>
      <p:ext uri="{BB962C8B-B14F-4D97-AF65-F5344CB8AC3E}">
        <p14:creationId xmlns:p14="http://schemas.microsoft.com/office/powerpoint/2010/main" val="309264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Arial"/>
              </a:rPr>
              <a:t>DEVELOPMENT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CCC CUSTOMER CARE &amp; CONTACT CENTER — RESOLVE CUSTOMER INTERACTIONS ON FIRST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CS Apps · Kumar </a:t>
            </a:r>
            <a:r>
              <a:rPr sz="1000" b="1" i="0" dirty="0" err="1">
                <a:solidFill>
                  <a:srgbClr val="FFFFFF"/>
                </a:solidFill>
                <a:latin typeface="Arial"/>
              </a:rPr>
              <a:t>Jaladanki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 · CRM/CCC sub-team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45% · Grow 35% · Transform 20%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Unify CRM, Contact Center and digital self-service so every customer interaction lands in a single record with a clear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Contact Center platform (CCC)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Medallia (CSAT and journey signal)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IVR Solution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Digital self-service / chatbot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Operations (Heather LaJoie's Product Mgmt)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Marketing &amp; Communications (campaign demand)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OPCO call centers (UIL · CMP · NY)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vacancy (CRM &amp; Contact Center Ops)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 — CX SME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[GAP] confirm CCC sub-team lead post-vacancy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Lemur-Salesforce (CRM delivery)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IVR vendor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Medallia partner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  <p:extLst>
      <p:ext uri="{BB962C8B-B14F-4D97-AF65-F5344CB8AC3E}">
        <p14:creationId xmlns:p14="http://schemas.microsoft.com/office/powerpoint/2010/main" val="3867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697" y="122166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Arial"/>
              </a:rPr>
              <a:t>PROPOSAL 2 – 1 OPERATIONAL VALUE STREAM + 4 DEVELOPMENT VALUE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88888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843160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16312"/>
            <a:ext cx="843991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934600"/>
            <a:ext cx="26517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0088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11256"/>
            <a:ext cx="109087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77016"/>
            <a:ext cx="1090879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31880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2C3E50"/>
                </a:solidFill>
                <a:latin typeface="Arial"/>
              </a:rP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3048"/>
            <a:ext cx="10908792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0F1B4F"/>
                </a:solidFill>
                <a:latin typeface="Arial"/>
              </a:rPr>
              <a:t>METER  →  BILL  →  COLLECT  →  SERVE   (Enabling Team supports all stages)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1960"/>
            <a:ext cx="1127455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DEVELOPMENT VALUE STREAMS (4)  ·  ONE PRODUCT MANAGER PER DVS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Metering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Capture every read · zero data loss to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Smart Metering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MDM (Meter Data Mgmt)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IS-U Device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Group 8760 (EDI)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Field meter read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0327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8498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0327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71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471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Run the bill on time · every day · every OPCO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8615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9471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471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ECC (FI/SD)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Streamserve / OpenText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Address Validation (Precisely)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Print &amp; e-delivery interfaces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934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3105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934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078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078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Convert invoices into cash · comply at line 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222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078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078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FICA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SOVOS Taxware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Payment processing interfaces (banks · lockbox · 3rd-party)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Dunning &amp; collections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541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7712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9541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685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685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Unify CRM · contact center · digital ·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7829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8685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8685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CRM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Genesys (Infosys)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Nuance IVR / CTI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Medallia (formerly VHT)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PureConnect / PureEngage (legacy)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" y="5643759"/>
            <a:ext cx="11274552" cy="777240"/>
          </a:xfrm>
          <a:prstGeom prst="roundRect">
            <a:avLst>
              <a:gd name="adj" fmla="val 2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" y="5716911"/>
            <a:ext cx="2926080" cy="274320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934122"/>
            <a:ext cx="2926080" cy="365760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 dirty="0">
                <a:solidFill>
                  <a:srgbClr val="FFFFFF"/>
                </a:solidFill>
                <a:latin typeface="Arial"/>
              </a:rPr>
              <a:t>Shared services · supports the 4 DVS</a:t>
            </a:r>
          </a:p>
          <a:p>
            <a:pPr algn="l"/>
            <a:r>
              <a:rPr sz="850" b="0" i="0" dirty="0">
                <a:solidFill>
                  <a:srgbClr val="FFFFFF"/>
                </a:solidFill>
                <a:latin typeface="Arial"/>
              </a:rPr>
              <a:t>No Product Manager · governed by Director CS Apps + Sr. Manager SAP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5888" y="5735198"/>
            <a:ext cx="7891271" cy="274320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5888" y="5936367"/>
            <a:ext cx="7891271" cy="457200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SAP Basis  ·  SAP Gold Client  ·  SAP Enable Now  ·  Blue Prism (RPA)  ·  Tricentis TOSCA  ·  Jira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477F-50F4-D956-33B2-7D277FC9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tângulo Arredondado 127">
            <a:extLst>
              <a:ext uri="{FF2B5EF4-FFF2-40B4-BE49-F238E27FC236}">
                <a16:creationId xmlns:a16="http://schemas.microsoft.com/office/drawing/2014/main" id="{01FDF579-5F33-339F-1D3D-97FC7A67781E}"/>
              </a:ext>
            </a:extLst>
          </p:cNvPr>
          <p:cNvSpPr/>
          <p:nvPr/>
        </p:nvSpPr>
        <p:spPr>
          <a:xfrm>
            <a:off x="248478" y="2974648"/>
            <a:ext cx="11574714" cy="1141927"/>
          </a:xfrm>
          <a:prstGeom prst="roundRect">
            <a:avLst/>
          </a:prstGeom>
          <a:solidFill>
            <a:schemeClr val="tx2">
              <a:lumMod val="10000"/>
              <a:lumOff val="9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Retângulo Arredondado 126">
            <a:extLst>
              <a:ext uri="{FF2B5EF4-FFF2-40B4-BE49-F238E27FC236}">
                <a16:creationId xmlns:a16="http://schemas.microsoft.com/office/drawing/2014/main" id="{C4479B28-2E65-82AF-77E5-8C5BD31950C8}"/>
              </a:ext>
            </a:extLst>
          </p:cNvPr>
          <p:cNvSpPr/>
          <p:nvPr/>
        </p:nvSpPr>
        <p:spPr>
          <a:xfrm>
            <a:off x="248478" y="1113184"/>
            <a:ext cx="11574714" cy="1774732"/>
          </a:xfrm>
          <a:prstGeom prst="roundRect">
            <a:avLst/>
          </a:prstGeom>
          <a:solidFill>
            <a:schemeClr val="bg2">
              <a:alpha val="347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0DF6C-B732-3155-86C6-DFB405A7345F}"/>
              </a:ext>
            </a:extLst>
          </p:cNvPr>
          <p:cNvSpPr txBox="1"/>
          <p:nvPr/>
        </p:nvSpPr>
        <p:spPr>
          <a:xfrm>
            <a:off x="110974" y="119773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Arial"/>
              </a:rPr>
              <a:t>PROPOSAL 2 – </a:t>
            </a:r>
            <a:r>
              <a:rPr lang="pt-BR" sz="2000" b="1" i="0" dirty="0">
                <a:solidFill>
                  <a:srgbClr val="FFFFFF"/>
                </a:solidFill>
                <a:latin typeface="Arial"/>
              </a:rPr>
              <a:t>RATIONALE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EEFC2-5EF1-C584-A281-916592712E0E}"/>
              </a:ext>
            </a:extLst>
          </p:cNvPr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End-to-end customer flow · solutions that enable each step · Development Value Streams that build &amp; evolve the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B381C-666E-E66A-54C7-BBA48863EE6C}"/>
              </a:ext>
            </a:extLst>
          </p:cNvPr>
          <p:cNvSpPr txBox="1"/>
          <p:nvPr/>
        </p:nvSpPr>
        <p:spPr>
          <a:xfrm>
            <a:off x="342924" y="1525222"/>
            <a:ext cx="118872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 dirty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E66FE-8B12-31D8-C9E6-9C1FFC75DE42}"/>
              </a:ext>
            </a:extLst>
          </p:cNvPr>
          <p:cNvSpPr txBox="1"/>
          <p:nvPr/>
        </p:nvSpPr>
        <p:spPr>
          <a:xfrm>
            <a:off x="342924" y="1872694"/>
            <a:ext cx="1188720" cy="52168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1">
                <a:solidFill>
                  <a:srgbClr val="2C3E50"/>
                </a:solidFill>
                <a:latin typeface="Arial"/>
              </a:rPr>
              <a:t>Customer needs energy / signs contract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300E6-CF14-4893-8D2E-4083F3836AAE}"/>
              </a:ext>
            </a:extLst>
          </p:cNvPr>
          <p:cNvSpPr txBox="1"/>
          <p:nvPr/>
        </p:nvSpPr>
        <p:spPr>
          <a:xfrm>
            <a:off x="10604345" y="1489275"/>
            <a:ext cx="118872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B78D1-07C9-C340-0B3C-35DBB3F4D827}"/>
              </a:ext>
            </a:extLst>
          </p:cNvPr>
          <p:cNvSpPr txBox="1"/>
          <p:nvPr/>
        </p:nvSpPr>
        <p:spPr>
          <a:xfrm>
            <a:off x="10604345" y="1836747"/>
            <a:ext cx="1188720" cy="84484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1">
                <a:solidFill>
                  <a:srgbClr val="2C3E50"/>
                </a:solidFill>
                <a:latin typeface="Arial"/>
              </a:rPr>
              <a:t>Bill paid · customer engaged · regulator compliant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042FC-5B4B-2827-E3BF-DAF6213BBF84}"/>
              </a:ext>
            </a:extLst>
          </p:cNvPr>
          <p:cNvSpPr txBox="1"/>
          <p:nvPr/>
        </p:nvSpPr>
        <p:spPr>
          <a:xfrm>
            <a:off x="166381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 dirty="0">
                <a:solidFill>
                  <a:schemeClr val="bg2">
                    <a:lumMod val="50000"/>
                  </a:schemeClr>
                </a:solidFill>
                <a:latin typeface="Arial"/>
              </a:rPr>
              <a:t>Customer</a:t>
            </a:r>
          </a:p>
          <a:p>
            <a:pPr algn="ctr"/>
            <a:r>
              <a:rPr sz="900" b="0" i="1" dirty="0">
                <a:solidFill>
                  <a:schemeClr val="bg2">
                    <a:lumMod val="50000"/>
                  </a:schemeClr>
                </a:solidFill>
                <a:latin typeface="Arial"/>
              </a:rPr>
              <a:t>+ CSR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DF8704-CAB3-671F-F3B6-CD5AEDD7770D}"/>
              </a:ext>
            </a:extLst>
          </p:cNvPr>
          <p:cNvSpPr txBox="1"/>
          <p:nvPr/>
        </p:nvSpPr>
        <p:spPr>
          <a:xfrm>
            <a:off x="276109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 dirty="0">
                <a:solidFill>
                  <a:schemeClr val="bg2">
                    <a:lumMod val="50000"/>
                  </a:schemeClr>
                </a:solidFill>
                <a:latin typeface="Arial"/>
              </a:rPr>
              <a:t>Smart meter</a:t>
            </a:r>
          </a:p>
          <a:p>
            <a:pPr algn="ctr"/>
            <a:r>
              <a:rPr sz="900" b="0" i="1" dirty="0">
                <a:solidFill>
                  <a:schemeClr val="bg2">
                    <a:lumMod val="50000"/>
                  </a:schemeClr>
                </a:solidFill>
                <a:latin typeface="Arial"/>
              </a:rPr>
              <a:t>+ field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FE4BEE-F3D5-8041-FE0E-B59CF6FC2218}"/>
              </a:ext>
            </a:extLst>
          </p:cNvPr>
          <p:cNvSpPr txBox="1"/>
          <p:nvPr/>
        </p:nvSpPr>
        <p:spPr>
          <a:xfrm>
            <a:off x="385837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Meter ops</a:t>
            </a:r>
          </a:p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team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16212B-EFB7-F28D-5569-C1119D1F9702}"/>
              </a:ext>
            </a:extLst>
          </p:cNvPr>
          <p:cNvSpPr txBox="1"/>
          <p:nvPr/>
        </p:nvSpPr>
        <p:spPr>
          <a:xfrm>
            <a:off x="4955650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Billing</a:t>
            </a:r>
          </a:p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analyst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34E001-EA2C-E299-B27E-C3CEF9846EEC}"/>
              </a:ext>
            </a:extLst>
          </p:cNvPr>
          <p:cNvSpPr txBox="1"/>
          <p:nvPr/>
        </p:nvSpPr>
        <p:spPr>
          <a:xfrm>
            <a:off x="605293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Customer</a:t>
            </a:r>
          </a:p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(channel)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D3E599-9E7C-A886-73E4-4EC23823E79E}"/>
              </a:ext>
            </a:extLst>
          </p:cNvPr>
          <p:cNvSpPr txBox="1"/>
          <p:nvPr/>
        </p:nvSpPr>
        <p:spPr>
          <a:xfrm>
            <a:off x="715021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Customer</a:t>
            </a:r>
          </a:p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+ bank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4FE97C-C4D8-DAAD-2CE4-17C6CD191A19}"/>
              </a:ext>
            </a:extLst>
          </p:cNvPr>
          <p:cNvSpPr txBox="1"/>
          <p:nvPr/>
        </p:nvSpPr>
        <p:spPr>
          <a:xfrm>
            <a:off x="8247490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CSR + customer</a:t>
            </a:r>
          </a:p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+ digital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1DCFA8-E427-F310-8AB6-3E9E5A80D3E1}"/>
              </a:ext>
            </a:extLst>
          </p:cNvPr>
          <p:cNvSpPr txBox="1"/>
          <p:nvPr/>
        </p:nvSpPr>
        <p:spPr>
          <a:xfrm>
            <a:off x="934477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Finance</a:t>
            </a:r>
          </a:p>
          <a:p>
            <a:pPr algn="ctr"/>
            <a:r>
              <a:rPr sz="900" b="0" i="1">
                <a:solidFill>
                  <a:schemeClr val="bg2">
                    <a:lumMod val="50000"/>
                  </a:schemeClr>
                </a:solidFill>
                <a:latin typeface="Arial"/>
              </a:rPr>
              <a:t>+ audit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B41B89-ED5A-78BA-4A01-C282A2A52124}"/>
              </a:ext>
            </a:extLst>
          </p:cNvPr>
          <p:cNvSpPr txBox="1"/>
          <p:nvPr/>
        </p:nvSpPr>
        <p:spPr>
          <a:xfrm>
            <a:off x="3858371" y="3850856"/>
            <a:ext cx="4808551" cy="1985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 dirty="0">
                <a:solidFill>
                  <a:srgbClr val="0F1B4F"/>
                </a:solidFill>
                <a:latin typeface="Arial"/>
              </a:rPr>
              <a:t>DEVELOPMENT VALUE STREAMS — who builds &amp; evolves each solution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D374A21-0E5A-8348-DEA0-DFC056F7A05D}"/>
              </a:ext>
            </a:extLst>
          </p:cNvPr>
          <p:cNvSpPr/>
          <p:nvPr/>
        </p:nvSpPr>
        <p:spPr>
          <a:xfrm>
            <a:off x="1719864" y="3238394"/>
            <a:ext cx="2164355" cy="411480"/>
          </a:xfrm>
          <a:prstGeom prst="roundRect">
            <a:avLst>
              <a:gd name="adj" fmla="val 3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60C314-D964-036E-E388-2BE618AB73F2}"/>
              </a:ext>
            </a:extLst>
          </p:cNvPr>
          <p:cNvSpPr txBox="1"/>
          <p:nvPr/>
        </p:nvSpPr>
        <p:spPr>
          <a:xfrm>
            <a:off x="1769593" y="3356162"/>
            <a:ext cx="2164355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1AA9CBC-E8A9-9485-4264-BD8862B82140}"/>
              </a:ext>
            </a:extLst>
          </p:cNvPr>
          <p:cNvSpPr/>
          <p:nvPr/>
        </p:nvSpPr>
        <p:spPr>
          <a:xfrm>
            <a:off x="3973793" y="3248425"/>
            <a:ext cx="2194560" cy="411480"/>
          </a:xfrm>
          <a:prstGeom prst="roundRect">
            <a:avLst>
              <a:gd name="adj" fmla="val 3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2AFBFF-93FB-D05D-7801-71308642D3F5}"/>
              </a:ext>
            </a:extLst>
          </p:cNvPr>
          <p:cNvSpPr txBox="1"/>
          <p:nvPr/>
        </p:nvSpPr>
        <p:spPr>
          <a:xfrm>
            <a:off x="3957448" y="3357974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D671424-4024-8AFA-3689-104603FBF284}"/>
              </a:ext>
            </a:extLst>
          </p:cNvPr>
          <p:cNvSpPr/>
          <p:nvPr/>
        </p:nvSpPr>
        <p:spPr>
          <a:xfrm>
            <a:off x="6277869" y="3259093"/>
            <a:ext cx="2194560" cy="411480"/>
          </a:xfrm>
          <a:prstGeom prst="roundRect">
            <a:avLst>
              <a:gd name="adj" fmla="val 3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46619B-D6E5-6768-5BE9-52F17ACF9FCA}"/>
              </a:ext>
            </a:extLst>
          </p:cNvPr>
          <p:cNvSpPr txBox="1"/>
          <p:nvPr/>
        </p:nvSpPr>
        <p:spPr>
          <a:xfrm>
            <a:off x="6324869" y="3355967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7606C31-EE6F-74FF-1CF7-408F65288C80}"/>
              </a:ext>
            </a:extLst>
          </p:cNvPr>
          <p:cNvSpPr/>
          <p:nvPr/>
        </p:nvSpPr>
        <p:spPr>
          <a:xfrm>
            <a:off x="1751471" y="5161785"/>
            <a:ext cx="8686800" cy="411480"/>
          </a:xfrm>
          <a:prstGeom prst="roundRect">
            <a:avLst>
              <a:gd name="adj" fmla="val 3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1D855E-446B-FAD3-A6FC-D847EE3F1AFD}"/>
              </a:ext>
            </a:extLst>
          </p:cNvPr>
          <p:cNvSpPr txBox="1"/>
          <p:nvPr/>
        </p:nvSpPr>
        <p:spPr>
          <a:xfrm>
            <a:off x="1751471" y="5279808"/>
            <a:ext cx="8686800" cy="175433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Enabling Team  ·  shared services consumed by the 4 DVS  (Basis · data mgmt · RPA · test · ALM tooling)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43ABB9-D974-E76D-5933-DD142F5F754F}"/>
              </a:ext>
            </a:extLst>
          </p:cNvPr>
          <p:cNvSpPr txBox="1"/>
          <p:nvPr/>
        </p:nvSpPr>
        <p:spPr>
          <a:xfrm>
            <a:off x="365760" y="6327648"/>
            <a:ext cx="11457432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Pattern: standard operational value-stream visualization (customer trigger → process steps → enabling solutions → development teams → outcome)</a:t>
            </a:r>
          </a:p>
        </p:txBody>
      </p:sp>
      <p:graphicFrame>
        <p:nvGraphicFramePr>
          <p:cNvPr id="65" name="Diagrama 64">
            <a:extLst>
              <a:ext uri="{FF2B5EF4-FFF2-40B4-BE49-F238E27FC236}">
                <a16:creationId xmlns:a16="http://schemas.microsoft.com/office/drawing/2014/main" id="{3053443A-CCBC-7167-3ED1-6FBE09D5E7BA}"/>
              </a:ext>
            </a:extLst>
          </p:cNvPr>
          <p:cNvGraphicFramePr/>
          <p:nvPr/>
        </p:nvGraphicFramePr>
        <p:xfrm>
          <a:off x="1732985" y="1601308"/>
          <a:ext cx="8841233" cy="1307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6" name="TextBox 45">
            <a:extLst>
              <a:ext uri="{FF2B5EF4-FFF2-40B4-BE49-F238E27FC236}">
                <a16:creationId xmlns:a16="http://schemas.microsoft.com/office/drawing/2014/main" id="{77160BFB-C622-26AC-8B90-7CDC9A962849}"/>
              </a:ext>
            </a:extLst>
          </p:cNvPr>
          <p:cNvSpPr txBox="1"/>
          <p:nvPr/>
        </p:nvSpPr>
        <p:spPr>
          <a:xfrm>
            <a:off x="4407011" y="117339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pt-BR" sz="1050" b="1" i="0" dirty="0">
                <a:solidFill>
                  <a:srgbClr val="0F1B4F"/>
                </a:solidFill>
                <a:latin typeface="Arial"/>
              </a:rPr>
              <a:t>OPERATIONAL</a:t>
            </a:r>
            <a:r>
              <a:rPr sz="1050" b="1" i="0" dirty="0">
                <a:solidFill>
                  <a:srgbClr val="0F1B4F"/>
                </a:solidFill>
                <a:latin typeface="Arial"/>
              </a:rPr>
              <a:t> VALUE STREAM </a:t>
            </a:r>
            <a:r>
              <a:rPr lang="pt-BR" sz="1050" b="1" i="0" dirty="0">
                <a:solidFill>
                  <a:srgbClr val="0F1B4F"/>
                </a:solidFill>
                <a:latin typeface="Arial"/>
              </a:rPr>
              <a:t>- METER-2-CASH</a:t>
            </a:r>
            <a:endParaRPr sz="1050" b="1" i="0" dirty="0">
              <a:solidFill>
                <a:srgbClr val="0F1B4F"/>
              </a:solidFill>
              <a:latin typeface="Arial"/>
            </a:endParaRP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04533279-6F86-AF6D-7BD6-6EFCD87FDE4F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63709" y="2484693"/>
            <a:ext cx="353189" cy="7640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52F031A6-B4FF-E928-7B4F-7BCB46757C25}"/>
              </a:ext>
            </a:extLst>
          </p:cNvPr>
          <p:cNvCxnSpPr>
            <a:cxnSpLocks/>
            <a:stCxn id="96" idx="0"/>
          </p:cNvCxnSpPr>
          <p:nvPr/>
        </p:nvCxnSpPr>
        <p:spPr>
          <a:xfrm flipH="1" flipV="1">
            <a:off x="7857793" y="2504582"/>
            <a:ext cx="1805916" cy="74416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48D623B6-B774-462D-263B-D327C90387C0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2268505" y="2422271"/>
            <a:ext cx="533537" cy="81612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866DCCCA-CCB0-7CFC-BC37-8323A413B8BD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2802042" y="2505847"/>
            <a:ext cx="5958703" cy="73254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DD63EB36-0ECC-61D7-8043-BF1735011D46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4643163" y="2497815"/>
            <a:ext cx="427910" cy="75061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1A596AB6-029C-56C2-5DE0-AD152F3FE963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5071073" y="2480526"/>
            <a:ext cx="563285" cy="7678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7ADC29D4-546B-474B-F95F-E4142F2218BA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6167895" y="2534469"/>
            <a:ext cx="1207254" cy="7246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8F9AD5BD-F76B-5508-4CA2-BFE188470E30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7375148" y="2534469"/>
            <a:ext cx="1" cy="7246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ounded Rectangle 56">
            <a:extLst>
              <a:ext uri="{FF2B5EF4-FFF2-40B4-BE49-F238E27FC236}">
                <a16:creationId xmlns:a16="http://schemas.microsoft.com/office/drawing/2014/main" id="{5E98B5CA-1C4B-58FC-1AF3-A23A3EE86D80}"/>
              </a:ext>
            </a:extLst>
          </p:cNvPr>
          <p:cNvSpPr/>
          <p:nvPr/>
        </p:nvSpPr>
        <p:spPr>
          <a:xfrm>
            <a:off x="8566429" y="3248745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7" name="TextBox 57">
            <a:extLst>
              <a:ext uri="{FF2B5EF4-FFF2-40B4-BE49-F238E27FC236}">
                <a16:creationId xmlns:a16="http://schemas.microsoft.com/office/drawing/2014/main" id="{E1D0947D-7D8F-E6E0-7FF4-342FDFF769CF}"/>
              </a:ext>
            </a:extLst>
          </p:cNvPr>
          <p:cNvSpPr txBox="1"/>
          <p:nvPr/>
        </p:nvSpPr>
        <p:spPr>
          <a:xfrm>
            <a:off x="8550084" y="3355967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112" name="Rectangle 31">
            <a:extLst>
              <a:ext uri="{FF2B5EF4-FFF2-40B4-BE49-F238E27FC236}">
                <a16:creationId xmlns:a16="http://schemas.microsoft.com/office/drawing/2014/main" id="{B329BBBB-C342-7CE1-5C00-6572FA29F669}"/>
              </a:ext>
            </a:extLst>
          </p:cNvPr>
          <p:cNvSpPr/>
          <p:nvPr/>
        </p:nvSpPr>
        <p:spPr>
          <a:xfrm>
            <a:off x="1704763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3" name="TextBox 32">
            <a:extLst>
              <a:ext uri="{FF2B5EF4-FFF2-40B4-BE49-F238E27FC236}">
                <a16:creationId xmlns:a16="http://schemas.microsoft.com/office/drawing/2014/main" id="{DFD6E90C-0634-5A57-12F8-F4231C455138}"/>
              </a:ext>
            </a:extLst>
          </p:cNvPr>
          <p:cNvSpPr txBox="1"/>
          <p:nvPr/>
        </p:nvSpPr>
        <p:spPr>
          <a:xfrm>
            <a:off x="1704763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
onboarding</a:t>
            </a:r>
          </a:p>
        </p:txBody>
      </p:sp>
      <p:sp>
        <p:nvSpPr>
          <p:cNvPr id="114" name="Rectangle 33">
            <a:extLst>
              <a:ext uri="{FF2B5EF4-FFF2-40B4-BE49-F238E27FC236}">
                <a16:creationId xmlns:a16="http://schemas.microsoft.com/office/drawing/2014/main" id="{1174BA4E-1AF4-4968-F193-3A7B17E24C78}"/>
              </a:ext>
            </a:extLst>
          </p:cNvPr>
          <p:cNvSpPr/>
          <p:nvPr/>
        </p:nvSpPr>
        <p:spPr>
          <a:xfrm>
            <a:off x="2802042" y="4275959"/>
            <a:ext cx="219456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5" name="TextBox 34">
            <a:extLst>
              <a:ext uri="{FF2B5EF4-FFF2-40B4-BE49-F238E27FC236}">
                <a16:creationId xmlns:a16="http://schemas.microsoft.com/office/drawing/2014/main" id="{491F5868-0ADB-D18B-2568-BE44BA148E56}"/>
              </a:ext>
            </a:extLst>
          </p:cNvPr>
          <p:cNvSpPr txBox="1"/>
          <p:nvPr/>
        </p:nvSpPr>
        <p:spPr>
          <a:xfrm>
            <a:off x="2802042" y="4389409"/>
            <a:ext cx="219456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Smart Metering · MDM ·
Group 8760 (EDI) · IS-U Device</a:t>
            </a:r>
          </a:p>
        </p:txBody>
      </p:sp>
      <p:sp>
        <p:nvSpPr>
          <p:cNvPr id="116" name="Rectangle 35">
            <a:extLst>
              <a:ext uri="{FF2B5EF4-FFF2-40B4-BE49-F238E27FC236}">
                <a16:creationId xmlns:a16="http://schemas.microsoft.com/office/drawing/2014/main" id="{473C31BA-814E-1826-9C85-926506DBCEA0}"/>
              </a:ext>
            </a:extLst>
          </p:cNvPr>
          <p:cNvSpPr/>
          <p:nvPr/>
        </p:nvSpPr>
        <p:spPr>
          <a:xfrm>
            <a:off x="4996602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" name="TextBox 36">
            <a:extLst>
              <a:ext uri="{FF2B5EF4-FFF2-40B4-BE49-F238E27FC236}">
                <a16:creationId xmlns:a16="http://schemas.microsoft.com/office/drawing/2014/main" id="{88B10B91-5406-49E8-997D-FE53295A70E7}"/>
              </a:ext>
            </a:extLst>
          </p:cNvPr>
          <p:cNvSpPr txBox="1"/>
          <p:nvPr/>
        </p:nvSpPr>
        <p:spPr>
          <a:xfrm>
            <a:off x="4996602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ECC (FI/SD)
billing engine</a:t>
            </a:r>
          </a:p>
        </p:txBody>
      </p:sp>
      <p:sp>
        <p:nvSpPr>
          <p:cNvPr id="118" name="Rectangle 37">
            <a:extLst>
              <a:ext uri="{FF2B5EF4-FFF2-40B4-BE49-F238E27FC236}">
                <a16:creationId xmlns:a16="http://schemas.microsoft.com/office/drawing/2014/main" id="{CD4D0251-737F-354D-398C-E649F30385D9}"/>
              </a:ext>
            </a:extLst>
          </p:cNvPr>
          <p:cNvSpPr/>
          <p:nvPr/>
        </p:nvSpPr>
        <p:spPr>
          <a:xfrm>
            <a:off x="6093883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" name="TextBox 38">
            <a:extLst>
              <a:ext uri="{FF2B5EF4-FFF2-40B4-BE49-F238E27FC236}">
                <a16:creationId xmlns:a16="http://schemas.microsoft.com/office/drawing/2014/main" id="{A3A2980D-BFDB-6641-0EF9-AB1BE123BF46}"/>
              </a:ext>
            </a:extLst>
          </p:cNvPr>
          <p:cNvSpPr txBox="1"/>
          <p:nvPr/>
        </p:nvSpPr>
        <p:spPr>
          <a:xfrm>
            <a:off x="6093883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Streamserve /
OpenText</a:t>
            </a:r>
          </a:p>
        </p:txBody>
      </p:sp>
      <p:sp>
        <p:nvSpPr>
          <p:cNvPr id="120" name="Rectangle 39">
            <a:extLst>
              <a:ext uri="{FF2B5EF4-FFF2-40B4-BE49-F238E27FC236}">
                <a16:creationId xmlns:a16="http://schemas.microsoft.com/office/drawing/2014/main" id="{D5702A4C-2C14-EA77-5490-1052A6141860}"/>
              </a:ext>
            </a:extLst>
          </p:cNvPr>
          <p:cNvSpPr/>
          <p:nvPr/>
        </p:nvSpPr>
        <p:spPr>
          <a:xfrm>
            <a:off x="7191162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" name="TextBox 40">
            <a:extLst>
              <a:ext uri="{FF2B5EF4-FFF2-40B4-BE49-F238E27FC236}">
                <a16:creationId xmlns:a16="http://schemas.microsoft.com/office/drawing/2014/main" id="{87C8BB5A-2E4B-E259-92E3-E44BCBC4FC9D}"/>
              </a:ext>
            </a:extLst>
          </p:cNvPr>
          <p:cNvSpPr txBox="1"/>
          <p:nvPr/>
        </p:nvSpPr>
        <p:spPr>
          <a:xfrm>
            <a:off x="7191162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FICA ·
bank integrations</a:t>
            </a:r>
          </a:p>
        </p:txBody>
      </p:sp>
      <p:sp>
        <p:nvSpPr>
          <p:cNvPr id="122" name="Rectangle 41">
            <a:extLst>
              <a:ext uri="{FF2B5EF4-FFF2-40B4-BE49-F238E27FC236}">
                <a16:creationId xmlns:a16="http://schemas.microsoft.com/office/drawing/2014/main" id="{C8A7809E-845D-97AB-49B3-83AC49B47927}"/>
              </a:ext>
            </a:extLst>
          </p:cNvPr>
          <p:cNvSpPr/>
          <p:nvPr/>
        </p:nvSpPr>
        <p:spPr>
          <a:xfrm>
            <a:off x="8288443" y="4275959"/>
            <a:ext cx="1097279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3" name="TextBox 42">
            <a:extLst>
              <a:ext uri="{FF2B5EF4-FFF2-40B4-BE49-F238E27FC236}">
                <a16:creationId xmlns:a16="http://schemas.microsoft.com/office/drawing/2014/main" id="{A065D638-7B21-05BC-E1AE-9DD1AF556888}"/>
              </a:ext>
            </a:extLst>
          </p:cNvPr>
          <p:cNvSpPr txBox="1"/>
          <p:nvPr/>
        </p:nvSpPr>
        <p:spPr>
          <a:xfrm>
            <a:off x="8393600" y="4271090"/>
            <a:ext cx="1097279" cy="627864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 · Genesys ·
Nuance IVR · Medallia</a:t>
            </a:r>
          </a:p>
        </p:txBody>
      </p:sp>
      <p:sp>
        <p:nvSpPr>
          <p:cNvPr id="124" name="Rectangle 43">
            <a:extLst>
              <a:ext uri="{FF2B5EF4-FFF2-40B4-BE49-F238E27FC236}">
                <a16:creationId xmlns:a16="http://schemas.microsoft.com/office/drawing/2014/main" id="{7C25DC24-76E4-3B68-AFFF-5B705C7149DA}"/>
              </a:ext>
            </a:extLst>
          </p:cNvPr>
          <p:cNvSpPr/>
          <p:nvPr/>
        </p:nvSpPr>
        <p:spPr>
          <a:xfrm>
            <a:off x="9385723" y="4275959"/>
            <a:ext cx="1097279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" name="TextBox 44">
            <a:extLst>
              <a:ext uri="{FF2B5EF4-FFF2-40B4-BE49-F238E27FC236}">
                <a16:creationId xmlns:a16="http://schemas.microsoft.com/office/drawing/2014/main" id="{E6FACED6-3237-08B0-80A7-5E9099E8A69E}"/>
              </a:ext>
            </a:extLst>
          </p:cNvPr>
          <p:cNvSpPr txBox="1"/>
          <p:nvPr/>
        </p:nvSpPr>
        <p:spPr>
          <a:xfrm>
            <a:off x="9385723" y="4389409"/>
            <a:ext cx="1097279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FICA ·
SOVOS </a:t>
            </a:r>
            <a:r>
              <a:rPr sz="900" b="1" dirty="0" err="1">
                <a:solidFill>
                  <a:srgbClr val="FFFFFF"/>
                </a:solidFill>
                <a:latin typeface="Arial"/>
              </a:rPr>
              <a:t>Taxware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3">
            <a:extLst>
              <a:ext uri="{FF2B5EF4-FFF2-40B4-BE49-F238E27FC236}">
                <a16:creationId xmlns:a16="http://schemas.microsoft.com/office/drawing/2014/main" id="{E470C903-8989-36FB-9D44-3E0DA5D219FA}"/>
              </a:ext>
            </a:extLst>
          </p:cNvPr>
          <p:cNvSpPr txBox="1"/>
          <p:nvPr/>
        </p:nvSpPr>
        <p:spPr>
          <a:xfrm>
            <a:off x="431459" y="4488770"/>
            <a:ext cx="118872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pt-BR" sz="1000" b="1" dirty="0">
                <a:solidFill>
                  <a:srgbClr val="95A5A6"/>
                </a:solidFill>
                <a:latin typeface="Arial"/>
              </a:rPr>
              <a:t>APPLICATIONS</a:t>
            </a:r>
            <a:endParaRPr sz="1000" b="1" i="0" dirty="0">
              <a:solidFill>
                <a:srgbClr val="95A5A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47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ONE OPERATIONAL VS WRAPS FIVE DEVELOPMENT VS — OUTCOME LAYER + DELIVERY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OVS owner · Kumar Jaladanki · 4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Operational + Development VS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88671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2C3E50"/>
                </a:solidFill>
                <a:latin typeface="Arial"/>
              </a:rPr>
              <a:t>Operational Value Stream = how the business delivers value to the customer (Meter-to-Cash). Development Value Streams = how IT builds and evolves the digital products that enable that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M2C — Meter-to-Cash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Stages: METER → BILL → COLLECT → SERVE (Enabling Team supports all stages)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Customer-facing · regulated · revenue-bearing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Owner: Director CS Apps (Kumar Jaladanki)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Forum: monthly cross-DVS prioritisation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DEVELOPMENT VALUE STREAMS (4)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DVS 1 — Meter &amp; Device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2 — Billing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3 — Revenue &amp; Collections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4 — Customer Care &amp; Engagement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+ Enabling Team — Foundation services (size to validate · no PM)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FTE figures = inference based on ~24 FTE total · to validate with Kumar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MAPPING — 17 APPS → 5 DVS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→ Smart Metering · MDM · IS-U Device · Group 8760 (EDI)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→ SAP ECC (FI/SD) · Streamserve/OpenText · Address Validation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→ SAP FICA · SOVOS Taxware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→ SAP CRM · Genesys · Nuance IVR · Medallia · PureConnect (legacy)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+ Enabling Team supports all 4 with: Basis · Gold Client · Enable Now · Blue Prism · TOSCA ·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17 apps · grouped by capability · 1 PM per DVS (4 PMs · Platform = enabling team)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THIS WORKS WITHIN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4 dedicated Product Managers (one per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Foundation Platform run as enabling team — no extra PM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Squad size to validate = real squad size · feasible with current headcount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OVS owner (Kumar) = existing role · no new layer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extension model (Option A) preserved per DVS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Validates against AS-IS constraint: 5 sub-teams · 24 FTE · 2 vacancies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OPERATIONAL VALUE STREAM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METER-TO-CASH — END-TO-END BUSINESS OUTCOME EVERY OPCO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OVS owned cross-DVS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OVS = how the business delivers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End-to-end flow from meter read → invoice → cash collection → customer interaction across 7 OPCOs, with regulatory compliance per state PUC (CT · ME · NY).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STAGES OF THE OVS (M2C)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— devices · data acquisition · MDM · regulatory reads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— invoice generation · pricing · formatting · address validity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— payments · FICA · dunning · tax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— customer interaction · CRM · IVR · feedback ·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— Basis · data mgmt · RPA · test · ALM (transversal enabler)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IT IS THE OPERATIONAL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Customer-facing flow that defines revenue and CSAT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SLAs are external (regulatory rate cases · billing windows · ANI containment)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Failure in any stage = customer + revenue + regulatory triple hit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Anchored on SAP (Billing · FICA · CRM · Metering) + supporting stack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Already labelled as the M2C value chain in the AS-IS deliverable [S.23]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the flow customers see; DVS = the engineering pipelines that build &amp; evolve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 GOVERNANCE (cross-DVS)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OVS Owner — Kumar Jaladanki (Director CS Apps)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Lead pairing — Heather LaJoie (CS Products) for outcome alignment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M2C Forum — monthly cross-DVS prioritisation and conflict resolution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Architecture coherence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Flow metrics — lead time, throughput, customer-impact P1–P4 (per DVS)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Forum participants: 4 DVS Product Managers + Architecture + CS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OVS-LEVEL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S/4 HANA migration — multi-year program touching all 7 OPCOs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PUC compliance per state — CT PURA · ME PUC · NY PSC rate cases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Smart-meter rollout mandates — CT · ME · NY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concentration — Smart Metering 100% vendor-delivered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OPCO-specific demand — daily multi-OPCO contention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business outcome layer · DVS slides 6–10 detail the 5 product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 &amp; DEVICE OPERATIONS — CAPTURE EVERY READ ACCURATELY · ZERO DATA LOSS TO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(Smart Metering · Iram Chowdhury Champion)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Acquire meter reads from devices, manage device lifecycle, and feed billing on time.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platform (AMI head-end)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Meter Data Management (MDM)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IS-U Device Management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Group 8760 (EDI) — device events / B2B exchanges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program (CT · ME · NY rollout)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Operations exceptions and escalations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drivers (CT PURA · ME PUC · NY PSC mandates)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/ Iram Chowdhury (Champion)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Smart Metering program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Smart Metering = 100% vendor-delivered → owner needs explicit KT clauses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vendor (stable team — Option A model)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Itron managed services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partner for IS-U Device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EDI integration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BILLING OPERATIONS — RUN THE BILL ON TIME · EVERY DAY · EVERY OPCO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(Sr. Manager Billing, Device &amp; Retail)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Generate accurate invoices for every customer of the 7 OPCOs on a hard daily cadence. Format, validate addresses and deliver via every required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ECC (FI/SD modules — back-office billing)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Streamserve / OpenText (invoice formatting · outbound notifications)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Address Validation (Precisely · Pitney Bowes · CASS/NCOA)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Print &amp; e-delivery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BRS — small/medium business demand (price changes · tariff types · dunning rules)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PMO — capex projects (S/4 HANA migration · CRM upgrades)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billing-run incidents (production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affairs — PUC rate-case calendar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billing rules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each OPCO billing operations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 FTE skewed higher: every billing day is a hard deadline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Accenture (large projects + incident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execution muscle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OpenText / Streamserve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Precisely (Pitney Bowes)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REVENUE &amp; COLLECTIONS — CONVERT INVOICES INTO CASH · COMPLY AT LINE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Ivelisse Velazquez (Manager FICA &amp; Collection)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Process payments, run collections and dunning, apply tax compliance accurately and on time. Reduce DSO and protect against audit/regulatory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FICA (financial accounting · contract accounting)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SOVOS Taxware (indirect tax · sales/use · returns)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Payment processing interfaces (banks · lockbox · 3rd-party trading partners)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Dunning &amp; collections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Tax department — jurisdiction tables · content updates · audit support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 / Billing Ops — collections KPI shifts · DSO targets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— tariff content updates per state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payment processing / tax run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Ivelisse Velazquez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FICA / Tax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Finance/Tax dept liaison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"The Cash of M2C" — invoicing → payment → collections → dunning across 7 OPCOs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SOVOS Taxware (content updates · cloud)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Accenture (FICA support ·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custom development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Banking integration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 CARE &amp; ENGAGEMENT — UNIFY CRM · CONTACT CENTER · DIGITAL ·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Sr. Manager CRM &amp; Contact Center Ops (vacancy → fill)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Every customer interaction lands in a single record with a clear next step. Improve IVR containment, reduce AHT, raise CSAT/NPS.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CRM (front-office · case · order capture)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Genesys (Cloud / Engage — Infosys managed)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Nuance IVR / CTI (speech IVR · NLU)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(formerly VHT — callback · feedback · CSAT)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PureConnect / PureEngage → Now Infosys (legacy CC) [phased out]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 Operations (Heather LaJoie · CS Products)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Marketing &amp; Communications — campaign / digital channel demand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vacancy (CRM &amp; Contact Center Ops)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CX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Solution architect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confirm sub-team lead post-vacancy 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Lemur-Salesforce (CRM delivery)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Infosys (Genesys managed services)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HCL-Nuance (IVR vendor)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FOUNDATION SERVICES — SHARED CAPABILITIES THAT KEEP THE 4 DVS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governed by Director CS Apps + Sr. Manager SAP Architecture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No PM · no DVS-level backlog · operates as a small shared-service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foundation — landscape, data management, automation, testing and tooling — that the 4 DVS rely on. Not a product. Owned operationally, not as a product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Basis (landscape · transports · security · performance)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Gold Client (selective non-prod data copy · masking)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Enable Now (training &amp; in-app guidance)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(RPA — bots that run inside the 4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Tricentis TOSCA (test automation — skill embedded in DVS where possible)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Jira (demand · backlog · agile work mgmt — admin)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WHO USES THESE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All 4 DVS — environments, data refresh, transports, regression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Release &amp; change governance — readiness gates, audit trail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Security / compliance — vault · access · audit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Process owners — RPA opportunities (bots embedded in DVS workflows)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Foundation services support all 4 DVS — they do not constitute a separate product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Naggi Reddy (Sr. Manager SAP Basis)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Architecture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RPA / Test / ALM Engineers — embedded in DVS where feasible, central where not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No dedicated Product Manager — coordinated by Director CS Apps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dirty="0">
                <a:solidFill>
                  <a:srgbClr val="95A5A6"/>
                </a:solidFill>
                <a:latin typeface="Arial"/>
              </a:rPr>
              <a:t>Why not a DVS: at this headcount, productizing the platform would create overhead without a real internal customer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Tricentis (test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vendor + Automation CoE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Basis / Gold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governs the team operationally · vendors execute specific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769E-B3F0-3F5B-9E72-7EDD266C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02D7E-66B4-B67E-92F2-6103BAA6B965}"/>
              </a:ext>
            </a:extLst>
          </p:cNvPr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LENS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BB9EB-1B16-2492-7746-D423AFA84090}"/>
              </a:ext>
            </a:extLst>
          </p:cNvPr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BAIN 30 ELEMENTS OF VALUE · HEATHER'S METRICS OVERLAY (CS PRODUCTS · SESSION INPUT)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FFC06F1-C41E-3BAA-7CD0-81F9CE5369D5}"/>
              </a:ext>
            </a:extLst>
          </p:cNvPr>
          <p:cNvSpPr/>
          <p:nvPr/>
        </p:nvSpPr>
        <p:spPr>
          <a:xfrm>
            <a:off x="7726679" y="960120"/>
            <a:ext cx="4096512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F0AB6BED-F60F-5D8A-A7C6-77C243603B7B}"/>
              </a:ext>
            </a:extLst>
          </p:cNvPr>
          <p:cNvSpPr/>
          <p:nvPr/>
        </p:nvSpPr>
        <p:spPr>
          <a:xfrm>
            <a:off x="7708392" y="914400"/>
            <a:ext cx="4133088" cy="50292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FF29CD-4EFF-3B92-AECB-7C4FE215181F}"/>
              </a:ext>
            </a:extLst>
          </p:cNvPr>
          <p:cNvSpPr txBox="1"/>
          <p:nvPr/>
        </p:nvSpPr>
        <p:spPr>
          <a:xfrm>
            <a:off x="7818119" y="1005840"/>
            <a:ext cx="39136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HEATHER'S METRICS — SESSION INPUT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50C9BF-388B-2F6D-0E4F-ED85E7F5D061}"/>
              </a:ext>
            </a:extLst>
          </p:cNvPr>
          <p:cNvSpPr txBox="1"/>
          <p:nvPr/>
        </p:nvSpPr>
        <p:spPr>
          <a:xfrm>
            <a:off x="7863840" y="1508760"/>
            <a:ext cx="3822192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1" dirty="0">
                <a:solidFill>
                  <a:srgbClr val="2C3E50"/>
                </a:solidFill>
                <a:latin typeface="Arial"/>
              </a:rPr>
              <a:t>Heather LaJoie · Director Customer Service Products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B18108-3B0E-234B-940D-B2961B4F6FE5}"/>
              </a:ext>
            </a:extLst>
          </p:cNvPr>
          <p:cNvSpPr txBox="1"/>
          <p:nvPr/>
        </p:nvSpPr>
        <p:spPr>
          <a:xfrm>
            <a:off x="7863840" y="178308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CUSTOMER OUTCOME METRICS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D57C64-50C5-5C60-33A1-C65AEB308703}"/>
              </a:ext>
            </a:extLst>
          </p:cNvPr>
          <p:cNvSpPr txBox="1"/>
          <p:nvPr/>
        </p:nvSpPr>
        <p:spPr>
          <a:xfrm>
            <a:off x="7909559" y="201168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NPS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CSAT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satisfaction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Reliability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EF0F66-61A5-3C07-6608-CB5C3F7992AE}"/>
              </a:ext>
            </a:extLst>
          </p:cNvPr>
          <p:cNvSpPr txBox="1"/>
          <p:nvPr/>
        </p:nvSpPr>
        <p:spPr>
          <a:xfrm>
            <a:off x="7863840" y="28803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LISTENING &amp; FEEDBACK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D608A9-EA47-FFCD-B559-0E3AC6B34F7B}"/>
              </a:ext>
            </a:extLst>
          </p:cNvPr>
          <p:cNvSpPr txBox="1"/>
          <p:nvPr/>
        </p:nvSpPr>
        <p:spPr>
          <a:xfrm>
            <a:off x="7909559" y="3108960"/>
            <a:ext cx="3730752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Open channels to listen end-users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Short feedback loops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Feedback loops to improve the solutions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08974A-9254-DAE7-617B-22C61A00BAA0}"/>
              </a:ext>
            </a:extLst>
          </p:cNvPr>
          <p:cNvSpPr txBox="1"/>
          <p:nvPr/>
        </p:nvSpPr>
        <p:spPr>
          <a:xfrm>
            <a:off x="7863840" y="37947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DELIVERY MODEL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5849CD-6184-EA01-D4E8-0C9BB3CB6838}"/>
              </a:ext>
            </a:extLst>
          </p:cNvPr>
          <p:cNvSpPr txBox="1"/>
          <p:nvPr/>
        </p:nvSpPr>
        <p:spPr>
          <a:xfrm>
            <a:off x="7909559" y="402336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Customer-centric · customer-service first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approach service — deliver features → outcomes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Outcome &gt; Outputs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Effectiveness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405C5F-1E46-0641-4EB1-57C21DBE06D6}"/>
              </a:ext>
            </a:extLst>
          </p:cNvPr>
          <p:cNvSpPr txBox="1"/>
          <p:nvPr/>
        </p:nvSpPr>
        <p:spPr>
          <a:xfrm>
            <a:off x="7863840" y="489204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SPEED &amp; FLOW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4175-3CA7-5DE7-9B7B-544214E9FFF6}"/>
              </a:ext>
            </a:extLst>
          </p:cNvPr>
          <p:cNvSpPr txBox="1"/>
          <p:nvPr/>
        </p:nvSpPr>
        <p:spPr>
          <a:xfrm>
            <a:off x="7909559" y="5120640"/>
            <a:ext cx="3730752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Ideation-to-delivery is too long → shorten the cycle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Reduce handoff delays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EDA3A0-61C8-E779-4EA2-5205CA91C6CB}"/>
              </a:ext>
            </a:extLst>
          </p:cNvPr>
          <p:cNvSpPr txBox="1"/>
          <p:nvPr/>
        </p:nvSpPr>
        <p:spPr>
          <a:xfrm>
            <a:off x="7863840" y="56235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CONSTRAINT TO REMOVE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55C3AC-AE2D-D986-25F2-1DF8B2DFF979}"/>
              </a:ext>
            </a:extLst>
          </p:cNvPr>
          <p:cNvSpPr txBox="1"/>
          <p:nvPr/>
        </p:nvSpPr>
        <p:spPr>
          <a:xfrm>
            <a:off x="7909559" y="5852160"/>
            <a:ext cx="373075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Siloed demand intake — no global view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C81E32-E110-6A17-F28F-5342CE42BE36}"/>
              </a:ext>
            </a:extLst>
          </p:cNvPr>
          <p:cNvSpPr txBox="1"/>
          <p:nvPr/>
        </p:nvSpPr>
        <p:spPr>
          <a:xfrm>
            <a:off x="7863840" y="6099048"/>
            <a:ext cx="382219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1" dirty="0">
                <a:solidFill>
                  <a:srgbClr val="95A5A6"/>
                </a:solidFill>
                <a:latin typeface="Arial"/>
              </a:rPr>
              <a:t>How to use: every DVS backlog item should map to ≥ 1 Bain element. Heather's metrics become the OVS-level KPI panel for Meter-to-Cash.</a:t>
            </a:r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0D45183C-18FE-77D9-2832-D1402C72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54" y="915786"/>
            <a:ext cx="4488144" cy="5417176"/>
          </a:xfrm>
          <a:prstGeom prst="rect">
            <a:avLst/>
          </a:prstGeom>
        </p:spPr>
      </p:pic>
      <p:sp>
        <p:nvSpPr>
          <p:cNvPr id="94" name="Oval 93">
            <a:extLst>
              <a:ext uri="{FF2B5EF4-FFF2-40B4-BE49-F238E27FC236}">
                <a16:creationId xmlns:a16="http://schemas.microsoft.com/office/drawing/2014/main" id="{A022E5E0-218E-B3C1-8D66-215EC968B201}"/>
              </a:ext>
            </a:extLst>
          </p:cNvPr>
          <p:cNvSpPr/>
          <p:nvPr/>
        </p:nvSpPr>
        <p:spPr>
          <a:xfrm>
            <a:off x="2474714" y="342900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84F31E2-A958-5DDF-2234-EE6EFE2F5D24}"/>
              </a:ext>
            </a:extLst>
          </p:cNvPr>
          <p:cNvSpPr/>
          <p:nvPr/>
        </p:nvSpPr>
        <p:spPr>
          <a:xfrm>
            <a:off x="2335610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E3D11C3-41B5-8031-94F2-E64E5E58F7E1}"/>
              </a:ext>
            </a:extLst>
          </p:cNvPr>
          <p:cNvSpPr/>
          <p:nvPr/>
        </p:nvSpPr>
        <p:spPr>
          <a:xfrm>
            <a:off x="2914099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6491B34-7482-B22B-DA0C-8D9199DE4D64}"/>
              </a:ext>
            </a:extLst>
          </p:cNvPr>
          <p:cNvSpPr/>
          <p:nvPr/>
        </p:nvSpPr>
        <p:spPr>
          <a:xfrm>
            <a:off x="2073347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17721D9-D626-6960-F81C-78324FAF397E}"/>
              </a:ext>
            </a:extLst>
          </p:cNvPr>
          <p:cNvSpPr/>
          <p:nvPr/>
        </p:nvSpPr>
        <p:spPr>
          <a:xfrm>
            <a:off x="2549132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20FAC4-5ED3-2DA7-B972-C111737362D8}"/>
              </a:ext>
            </a:extLst>
          </p:cNvPr>
          <p:cNvSpPr/>
          <p:nvPr/>
        </p:nvSpPr>
        <p:spPr>
          <a:xfrm>
            <a:off x="3548901" y="4892039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49635E7-D1CE-7F5B-54ED-CC719A0F48AF}"/>
              </a:ext>
            </a:extLst>
          </p:cNvPr>
          <p:cNvSpPr/>
          <p:nvPr/>
        </p:nvSpPr>
        <p:spPr>
          <a:xfrm>
            <a:off x="4600932" y="4892038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ED301B4-CF74-2CD0-2CD6-6F0AAC5EB816}"/>
              </a:ext>
            </a:extLst>
          </p:cNvPr>
          <p:cNvSpPr/>
          <p:nvPr/>
        </p:nvSpPr>
        <p:spPr>
          <a:xfrm>
            <a:off x="5076717" y="4892037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3480FD-7E86-BF32-0973-9B0B22AA389D}"/>
              </a:ext>
            </a:extLst>
          </p:cNvPr>
          <p:cNvSpPr/>
          <p:nvPr/>
        </p:nvSpPr>
        <p:spPr>
          <a:xfrm>
            <a:off x="1733107" y="5544742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7F29A7C-E765-41A8-3BDE-30FE92E84D34}"/>
              </a:ext>
            </a:extLst>
          </p:cNvPr>
          <p:cNvSpPr/>
          <p:nvPr/>
        </p:nvSpPr>
        <p:spPr>
          <a:xfrm>
            <a:off x="2335610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B19969D-E240-EC11-6CEC-3A8F1F5A83D2}"/>
              </a:ext>
            </a:extLst>
          </p:cNvPr>
          <p:cNvSpPr/>
          <p:nvPr/>
        </p:nvSpPr>
        <p:spPr>
          <a:xfrm>
            <a:off x="3579898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F451EDE-E344-7A17-D7D5-1C3B45197627}"/>
              </a:ext>
            </a:extLst>
          </p:cNvPr>
          <p:cNvSpPr/>
          <p:nvPr/>
        </p:nvSpPr>
        <p:spPr>
          <a:xfrm>
            <a:off x="5422341" y="55447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TextBox 71">
            <a:extLst>
              <a:ext uri="{FF2B5EF4-FFF2-40B4-BE49-F238E27FC236}">
                <a16:creationId xmlns:a16="http://schemas.microsoft.com/office/drawing/2014/main" id="{61C4BAF3-CD78-ADD0-2671-F551974965BA}"/>
              </a:ext>
            </a:extLst>
          </p:cNvPr>
          <p:cNvSpPr txBox="1"/>
          <p:nvPr/>
        </p:nvSpPr>
        <p:spPr>
          <a:xfrm>
            <a:off x="716281" y="6268398"/>
            <a:ext cx="722376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 i="1" dirty="0">
                <a:solidFill>
                  <a:schemeClr val="bg2">
                    <a:lumMod val="90000"/>
                  </a:schemeClr>
                </a:solidFill>
                <a:latin typeface="Arial"/>
              </a:rPr>
              <a:t>Source: Bain &amp; Company / HBR — "The Elements of Value" (Sept 2016</a:t>
            </a:r>
            <a:r>
              <a:rPr sz="800" b="1" i="1" dirty="0">
                <a:solidFill>
                  <a:schemeClr val="bg2"/>
                </a:solidFill>
                <a:latin typeface="Arial"/>
              </a:rPr>
              <a:t>)</a:t>
            </a:r>
            <a:r>
              <a:rPr sz="800" b="1" i="1" dirty="0">
                <a:latin typeface="Arial"/>
              </a:rPr>
              <a:t>·</a:t>
            </a:r>
            <a:r>
              <a:rPr sz="900" b="1" i="1" dirty="0">
                <a:latin typeface="Arial"/>
              </a:rPr>
              <a:t>Highlighted (mustard) = elements aligned to Heather's stated metrics</a:t>
            </a:r>
            <a:endParaRPr sz="800" b="1" i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8774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3715</Words>
  <Application>Microsoft Macintosh PowerPoint</Application>
  <PresentationFormat>Widescreen</PresentationFormat>
  <Paragraphs>455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5</cp:revision>
  <dcterms:created xsi:type="dcterms:W3CDTF">2026-04-28T18:35:46Z</dcterms:created>
  <dcterms:modified xsi:type="dcterms:W3CDTF">2026-04-29T17:25:28Z</dcterms:modified>
</cp:coreProperties>
</file>