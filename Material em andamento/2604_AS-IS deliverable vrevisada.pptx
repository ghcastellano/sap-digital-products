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omments/modernComment_109_D7E5891.xml" ContentType="application/vnd.ms-powerpoint.comment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omments/modernComment_110_AFC9E6A1.xml" ContentType="application/vnd.ms-powerpoint.comments+xml"/>
  <Override PartName="/ppt/notesSlides/notesSlide16.xml" ContentType="application/vnd.openxmlformats-officedocument.presentationml.notesSlide+xml"/>
  <Override PartName="/ppt/comments/modernComment_120_FB564890.xml" ContentType="application/vnd.ms-powerpoint.comment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omments/modernComment_11B_296D12D8.xml" ContentType="application/vnd.ms-powerpoint.comments+xml"/>
  <Override PartName="/ppt/notesSlides/notesSlide20.xml" ContentType="application/vnd.openxmlformats-officedocument.presentationml.notesSlide+xml"/>
  <Override PartName="/ppt/comments/modernComment_124_7B53B7CD.xml" ContentType="application/vnd.ms-powerpoint.comment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omments/modernComment_123_93BA62AB.xml" ContentType="application/vnd.ms-powerpoint.comment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omments/modernComment_126_E30F2003.xml" ContentType="application/vnd.ms-powerpoint.comments+xml"/>
  <Override PartName="/ppt/notesSlides/notesSlide25.xml" ContentType="application/vnd.openxmlformats-officedocument.presentationml.notesSlide+xml"/>
  <Override PartName="/ppt/comments/modernComment_105_F3471CD2.xml" ContentType="application/vnd.ms-powerpoint.comments+xml"/>
  <Override PartName="/ppt/notesSlides/notesSlide26.xml" ContentType="application/vnd.openxmlformats-officedocument.presentationml.notesSlide+xml"/>
  <Override PartName="/ppt/comments/modernComment_11D_7B6DD36E.xml" ContentType="application/vnd.ms-powerpoint.comments+xml"/>
  <Override PartName="/ppt/notesSlides/notesSlide27.xml" ContentType="application/vnd.openxmlformats-officedocument.presentationml.notesSlide+xml"/>
  <Override PartName="/ppt/comments/modernComment_10C_AA8C03FA.xml" ContentType="application/vnd.ms-powerpoint.comments+xml"/>
  <Override PartName="/ppt/notesSlides/notesSlide28.xml" ContentType="application/vnd.openxmlformats-officedocument.presentationml.notesSlide+xml"/>
  <Override PartName="/ppt/comments/modernComment_7FFFE8A0_5D1B2852.xml" ContentType="application/vnd.ms-powerpoint.comments+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omments/modernComment_7FFFE88F_68D21C67.xml" ContentType="application/vnd.ms-powerpoint.comments+xml"/>
  <Override PartName="/ppt/comments/modernComment_7FFFE897_FD2BE021.xml" ContentType="application/vnd.ms-powerpoint.comments+xml"/>
  <Override PartName="/ppt/comments/modernComment_7FFFE89C_C878D993.xml" ContentType="application/vnd.ms-powerpoint.comments+xml"/>
  <Override PartName="/ppt/notesSlides/notesSlide32.xml" ContentType="application/vnd.openxmlformats-officedocument.presentationml.notesSlide+xml"/>
  <Override PartName="/ppt/comments/modernComment_7FFFE898_F741CE44.xml" ContentType="application/vnd.ms-powerpoint.comments+xml"/>
  <Override PartName="/ppt/comments/modernComment_130_0.xml" ContentType="application/vnd.ms-powerpoint.comments+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comments/modernComment_7FFFE882_B9807DFE.xml" ContentType="application/vnd.ms-powerpoint.comments+xml"/>
  <Override PartName="/ppt/tags/tag1.xml" ContentType="application/vnd.openxmlformats-officedocument.presentationml.tags+xml"/>
  <Override PartName="/ppt/comments/modernComment_7FFFE88A_ADF0B799.xml" ContentType="application/vnd.ms-powerpoint.comments+xml"/>
  <Override PartName="/ppt/notesSlides/notesSlide38.xml" ContentType="application/vnd.openxmlformats-officedocument.presentationml.notesSlide+xml"/>
  <Override PartName="/ppt/comments/modernComment_12D_3FD0203A.xml" ContentType="application/vnd.ms-powerpoint.comments+xml"/>
  <Override PartName="/ppt/comments/modernComment_7FFFE896_4F2AD77D.xml" ContentType="application/vnd.ms-powerpoint.comments+xml"/>
  <Override PartName="/ppt/notesSlides/notesSlide39.xml" ContentType="application/vnd.openxmlformats-officedocument.presentationml.notesSlide+xml"/>
  <Override PartName="/ppt/comments/modernComment_131_0.xml" ContentType="application/vnd.ms-powerpoint.comments+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comments/modernComment_7FFFE89E_33C09155.xml" ContentType="application/vnd.ms-powerpoint.comments+xml"/>
  <Override PartName="/ppt/notesSlides/notesSlide43.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7" Type="http://schemas.microsoft.com/office/2020/02/relationships/classificationlabels" Target="docMetadata/LabelInfo.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710" r:id="rId5"/>
  </p:sldMasterIdLst>
  <p:notesMasterIdLst>
    <p:notesMasterId r:id="rId69"/>
  </p:notesMasterIdLst>
  <p:sldIdLst>
    <p:sldId id="281" r:id="rId6"/>
    <p:sldId id="258" r:id="rId7"/>
    <p:sldId id="289" r:id="rId8"/>
    <p:sldId id="290" r:id="rId9"/>
    <p:sldId id="286" r:id="rId10"/>
    <p:sldId id="256" r:id="rId11"/>
    <p:sldId id="265" r:id="rId12"/>
    <p:sldId id="264" r:id="rId13"/>
    <p:sldId id="266" r:id="rId14"/>
    <p:sldId id="276" r:id="rId15"/>
    <p:sldId id="277" r:id="rId16"/>
    <p:sldId id="267" r:id="rId17"/>
    <p:sldId id="2147477646" r:id="rId18"/>
    <p:sldId id="278" r:id="rId19"/>
    <p:sldId id="272" r:id="rId20"/>
    <p:sldId id="288" r:id="rId21"/>
    <p:sldId id="259" r:id="rId22"/>
    <p:sldId id="260" r:id="rId23"/>
    <p:sldId id="283" r:id="rId24"/>
    <p:sldId id="292" r:id="rId25"/>
    <p:sldId id="257" r:id="rId26"/>
    <p:sldId id="291" r:id="rId27"/>
    <p:sldId id="293" r:id="rId28"/>
    <p:sldId id="294" r:id="rId29"/>
    <p:sldId id="261" r:id="rId30"/>
    <p:sldId id="285" r:id="rId31"/>
    <p:sldId id="268" r:id="rId32"/>
    <p:sldId id="2147477664" r:id="rId33"/>
    <p:sldId id="2147477663" r:id="rId34"/>
    <p:sldId id="269" r:id="rId35"/>
    <p:sldId id="2147477659" r:id="rId36"/>
    <p:sldId id="2147477647" r:id="rId37"/>
    <p:sldId id="2147477655" r:id="rId38"/>
    <p:sldId id="2147477660" r:id="rId39"/>
    <p:sldId id="2147477656" r:id="rId40"/>
    <p:sldId id="2147477658" r:id="rId41"/>
    <p:sldId id="304" r:id="rId42"/>
    <p:sldId id="303" r:id="rId43"/>
    <p:sldId id="279" r:id="rId44"/>
    <p:sldId id="280" r:id="rId45"/>
    <p:sldId id="282" r:id="rId46"/>
    <p:sldId id="287" r:id="rId47"/>
    <p:sldId id="262" r:id="rId48"/>
    <p:sldId id="270" r:id="rId49"/>
    <p:sldId id="298" r:id="rId50"/>
    <p:sldId id="271" r:id="rId51"/>
    <p:sldId id="295" r:id="rId52"/>
    <p:sldId id="343" r:id="rId53"/>
    <p:sldId id="297" r:id="rId54"/>
    <p:sldId id="284" r:id="rId55"/>
    <p:sldId id="2147477634" r:id="rId56"/>
    <p:sldId id="2147477642" r:id="rId57"/>
    <p:sldId id="2147477650" r:id="rId58"/>
    <p:sldId id="2147477652" r:id="rId59"/>
    <p:sldId id="2147477645" r:id="rId60"/>
    <p:sldId id="2147477657" r:id="rId61"/>
    <p:sldId id="301" r:id="rId62"/>
    <p:sldId id="2147477654" r:id="rId63"/>
    <p:sldId id="305" r:id="rId64"/>
    <p:sldId id="2147477651" r:id="rId65"/>
    <p:sldId id="2147477636" r:id="rId66"/>
    <p:sldId id="2147477662" r:id="rId67"/>
    <p:sldId id="2147477635" r:id="rId6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ción predeterminada" id="{836E44A1-487A-40F1-9C55-D10C0B486E45}">
          <p14:sldIdLst>
            <p14:sldId id="281"/>
            <p14:sldId id="258"/>
            <p14:sldId id="289"/>
            <p14:sldId id="290"/>
            <p14:sldId id="286"/>
            <p14:sldId id="256"/>
            <p14:sldId id="265"/>
            <p14:sldId id="264"/>
            <p14:sldId id="266"/>
            <p14:sldId id="276"/>
            <p14:sldId id="277"/>
            <p14:sldId id="267"/>
            <p14:sldId id="2147477646"/>
            <p14:sldId id="278"/>
            <p14:sldId id="272"/>
            <p14:sldId id="288"/>
            <p14:sldId id="259"/>
            <p14:sldId id="260"/>
            <p14:sldId id="283"/>
            <p14:sldId id="292"/>
            <p14:sldId id="257"/>
            <p14:sldId id="291"/>
            <p14:sldId id="293"/>
            <p14:sldId id="294"/>
            <p14:sldId id="261"/>
            <p14:sldId id="285"/>
            <p14:sldId id="268"/>
            <p14:sldId id="2147477664"/>
            <p14:sldId id="2147477663"/>
            <p14:sldId id="269"/>
            <p14:sldId id="2147477659"/>
            <p14:sldId id="2147477647"/>
            <p14:sldId id="2147477655"/>
            <p14:sldId id="2147477660"/>
            <p14:sldId id="2147477656"/>
            <p14:sldId id="2147477658"/>
          </p14:sldIdLst>
        </p14:section>
        <p14:section name="Parking Lot" id="{C5518CC8-13BE-421A-8608-48FCA4ACDA64}">
          <p14:sldIdLst>
            <p14:sldId id="304"/>
            <p14:sldId id="303"/>
            <p14:sldId id="279"/>
            <p14:sldId id="280"/>
            <p14:sldId id="282"/>
            <p14:sldId id="287"/>
            <p14:sldId id="262"/>
            <p14:sldId id="270"/>
            <p14:sldId id="298"/>
            <p14:sldId id="271"/>
            <p14:sldId id="295"/>
            <p14:sldId id="343"/>
            <p14:sldId id="297"/>
            <p14:sldId id="284"/>
            <p14:sldId id="2147477634"/>
            <p14:sldId id="2147477642"/>
            <p14:sldId id="2147477650"/>
            <p14:sldId id="2147477652"/>
            <p14:sldId id="2147477645"/>
            <p14:sldId id="2147477657"/>
            <p14:sldId id="301"/>
            <p14:sldId id="2147477654"/>
            <p14:sldId id="305"/>
            <p14:sldId id="2147477651"/>
            <p14:sldId id="2147477636"/>
            <p14:sldId id="2147477662"/>
            <p14:sldId id="2147477635"/>
          </p14:sldIdLst>
        </p14:section>
      </p14:section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22A6F16-3653-42A3-75BE-9E5891C38EA9}" name="Ana Sancha Medina" initials="AS" userId="S::asanmedi@emeal.nttdata.com::cb6b4da7-f127-491d-b2b3-c84b2f80c538" providerId="AD"/>
  <p188:author id="{C5CC6A58-EB9F-3601-BA4A-0BA6EE77644B}" name="Guest User" initials="GU" userId="S::urn:spo:tenantanon#20ba0546-4848-446a-a8f0-b42fc27278ce::" providerId="AD"/>
  <p188:author id="{9552545F-FFD9-F585-C825-74C37019A3E8}" name="Yunuen Vargas Hernandez" initials="YV" userId="S::yvargash@emeal.nttdata.com::6f284162-b591-4518-8c03-e513a024376c" providerId="AD"/>
  <p188:author id="{9297B66B-BF4D-3E4E-6DF1-E7277526F4AB}" name="Javier Bahena Pacheco" initials="JB" userId="S::jbahenap@emeal.nttdata.com::d59fb837-d627-4f1d-9976-d501d2a3c3bb" providerId="AD"/>
  <p188:author id="{08AA367A-3FE0-CE15-1CF5-256A1C107FE1}" name="Alfredo Soto Cuellar" initials="AS" userId="S::asotocue@emeal.nttdata.com::a1af1438-e027-44e1-b6a1-e184226576bb" providerId="AD"/>
  <p188:author id="{CA625C93-23F8-CB07-D18D-605E643B4C39}" name="Daniel Belmar Garcia" initials="DB" userId="S::dbelmarg@emeal.nttdata.com::20dc0f96-9476-4833-838f-6bd444f49ced" providerId="AD"/>
  <p188:author id="{67DB39AB-BC3E-8A02-7D4E-C00B2BD6237D}" name="Gustavo Castellano" initials="" userId="S::gucastel@emeal.nttdata.com::a9cf1106-c481-4d5c-8dce-a3913bae1236"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6785C1"/>
    <a:srgbClr val="2C578B"/>
    <a:srgbClr val="747474"/>
    <a:srgbClr val="00A443"/>
    <a:srgbClr val="D9D9D9"/>
    <a:srgbClr val="BFBFBF"/>
    <a:srgbClr val="3B7D23"/>
    <a:srgbClr val="0DA9FF"/>
    <a:srgbClr val="BC4328"/>
    <a:srgbClr val="0F1C5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F60AC18-9C6B-6454-E5C9-FF20BB244C89}" v="616" dt="2026-04-24T22:24:34.349"/>
    <p1510:client id="{6293D9C8-A49F-4B01-A309-91C72DCE14CB}" v="10" dt="2026-04-24T22:54:35.835"/>
    <p1510:client id="{8BCDA2EB-D124-A88F-4D96-C40A16A8FD68}" v="581" dt="2026-04-24T19:19:58.677"/>
    <p1510:client id="{A784C0A5-D3B1-436F-9646-A333B2149F5C}" v="3193" dt="2026-04-24T21:48:12.730"/>
    <p1510:client id="{B9755A22-8A23-4484-8436-F24D33D7EF94}" v="1385" dt="2026-04-24T18:29:58.744"/>
    <p1510:client id="{C1516A30-5B86-46CD-8F76-DB35CB986913}" v="8557" dt="2026-04-24T23:31:49.31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slide" Target="slides/slide61.xml"/><Relationship Id="rId74" Type="http://schemas.microsoft.com/office/2015/10/relationships/revisionInfo" Target="revisionInfo.xml"/><Relationship Id="rId5" Type="http://schemas.openxmlformats.org/officeDocument/2006/relationships/slideMaster" Target="slideMasters/slideMaster2.xml"/><Relationship Id="rId61" Type="http://schemas.openxmlformats.org/officeDocument/2006/relationships/slide" Target="slides/slide56.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notesMaster" Target="notesMasters/notesMaster1.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presProps" Target="presProps.xml"/><Relationship Id="rId75"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 Type="http://schemas.openxmlformats.org/officeDocument/2006/relationships/slide" Target="slides/slide2.xml"/><Relationship Id="rId71" Type="http://schemas.openxmlformats.org/officeDocument/2006/relationships/viewProps" Target="viewProps.xml"/></Relationships>
</file>

<file path=ppt/comments/modernComment_7FFFE8A0_5D1B2852.xml><?xml version="1.0" encoding="utf-8"?>
<p188:cmLst xmlns:a="http://schemas.openxmlformats.org/drawingml/2006/main" xmlns:r="http://schemas.openxmlformats.org/officeDocument/2006/relationships" xmlns:p188="http://schemas.microsoft.com/office/powerpoint/2018/8/main">
  <p188:cm id="{71EEB0FA-3B15-4B2B-BE1B-20342C75D60D}" authorId="{022A6F16-3653-42A3-75BE-9E5891C38EA9}" created="2026-04-24T04:47:48.625">
    <pc:sldMkLst xmlns:pc="http://schemas.microsoft.com/office/powerpoint/2013/main/command">
      <pc:docMk/>
      <pc:sldMk cId="1352456625" sldId="263"/>
    </pc:sldMkLst>
    <p188:replyLst>
      <p188:reply id="{4141A3E8-D475-4C54-8C84-46D4D0713003}" authorId="{08AA367A-3FE0-CE15-1CF5-256A1C107FE1}" created="2026-04-24T20:24:51.112">
        <p188:txBody>
          <a:bodyPr/>
          <a:lstStyle/>
          <a:p>
            <a:r>
              <a:rPr lang="es-MX"/>
              <a:t>Nos lo mencioanron asi en la llamada</a:t>
            </a:r>
          </a:p>
        </p188:txBody>
      </p188:reply>
    </p188:replyLst>
    <p188:txBody>
      <a:bodyPr/>
      <a:lstStyle/>
      <a:p>
        <a:r>
          <a:rPr lang="en-US"/>
          <a:t>Regulatory yo creo que no llega por jira</a:t>
        </a:r>
      </a:p>
    </p188:txBody>
  </p188:cm>
  <p188:cm id="{1C3978AE-F716-4041-8992-9A759B496A27}" authorId="{022A6F16-3653-42A3-75BE-9E5891C38EA9}" created="2026-04-24T04:48:16.375">
    <pc:sldMkLst xmlns:pc="http://schemas.microsoft.com/office/powerpoint/2013/main/command">
      <pc:docMk/>
      <pc:sldMk cId="1352456625" sldId="263"/>
    </pc:sldMkLst>
    <p188:txBody>
      <a:bodyPr/>
      <a:lstStyle/>
      <a:p>
        <a:r>
          <a:rPr lang="en-US"/>
          <a:t>G&amp;E tiene Jira</a:t>
        </a:r>
      </a:p>
    </p188:txBody>
  </p188:cm>
  <p188:cm id="{E315FCCE-A4BB-477C-8805-F1741EB7C71C}" authorId="{022A6F16-3653-42A3-75BE-9E5891C38EA9}" created="2026-04-24T04:49:52.307">
    <pc:sldMkLst xmlns:pc="http://schemas.microsoft.com/office/powerpoint/2013/main/command">
      <pc:docMk/>
      <pc:sldMk cId="1352456625" sldId="263"/>
    </pc:sldMkLst>
    <p188:txBody>
      <a:bodyPr/>
      <a:lstStyle/>
      <a:p>
        <a:r>
          <a:rPr lang="en-US"/>
          <a:t>No estoy de acuerdo con larg project only smart metering, hay algo que me estoy perdiendo?</a:t>
        </a:r>
      </a:p>
    </p188:txBody>
  </p188:cm>
  <p188:cm id="{9A8BD132-7025-4BBC-AD5F-AC77007CD065}" authorId="{C5CC6A58-EB9F-3601-BA4A-0BA6EE77644B}" created="2026-04-24T22:24:34.349">
    <pc:sldMkLst xmlns:pc="http://schemas.microsoft.com/office/powerpoint/2013/main/command">
      <pc:docMk/>
      <pc:sldMk cId="1562060882" sldId="2147477664"/>
    </pc:sldMkLst>
    <p188:txBody>
      <a:bodyPr/>
      <a:lstStyle/>
      <a:p>
        <a:r>
          <a:rPr lang="pt-BR"/>
          <a:t>BRS x Digital CoE x Heather</a:t>
        </a:r>
      </a:p>
    </p188:txBody>
  </p188:cm>
</p188:cmLst>
</file>

<file path=ppt/comments/modernComment_7FFFE88A_ADF0B799.xml><?xml version="1.0" encoding="utf-8"?>
<p188:cmLst xmlns:a="http://schemas.openxmlformats.org/drawingml/2006/main" xmlns:r="http://schemas.openxmlformats.org/officeDocument/2006/relationships" xmlns:p188="http://schemas.microsoft.com/office/powerpoint/2018/8/main">
  <p188:cm id="{8804B304-9030-49F9-BE55-320A024859CE}" authorId="{022A6F16-3653-42A3-75BE-9E5891C38EA9}" created="2026-04-24T04:46:07.007">
    <pc:sldMkLst xmlns:pc="http://schemas.microsoft.com/office/powerpoint/2013/main/command">
      <pc:docMk/>
      <pc:sldMk cId="3112205822" sldId="2147477634"/>
    </pc:sldMkLst>
    <p188:txBody>
      <a:bodyPr/>
      <a:lstStyle/>
      <a:p>
        <a:r>
          <a:rPr lang="en-US"/>
          <a:t>No me gusta los iocnos y la visibilidad de esta slide</a:t>
        </a:r>
      </a:p>
    </p188:txBody>
  </p188:cm>
  <p188:cm id="{2A6D6D21-64BD-47F5-AE2F-E2910A38BE73}" authorId="{022A6F16-3653-42A3-75BE-9E5891C38EA9}" created="2026-04-24T04:51:50.203">
    <pc:sldMkLst xmlns:pc="http://schemas.microsoft.com/office/powerpoint/2013/main/command">
      <pc:docMk/>
      <pc:sldMk cId="3112205822" sldId="2147477634"/>
    </pc:sldMkLst>
    <p188:txBody>
      <a:bodyPr/>
      <a:lstStyle/>
      <a:p>
        <a:r>
          <a:rPr lang="en-US"/>
          <a:t>Vendor governance is absent no lo pondría, se tienen foros con ellos de seguimiento, el problema para mi es que no hay un tracking exigido en el entorno de avangrid exigido a los vendors</a:t>
        </a:r>
      </a:p>
    </p188:txBody>
  </p188:cm>
  <p188:cm id="{371A65A0-E0AB-46C1-91E6-7834D1DCAB0C}" authorId="{022A6F16-3653-42A3-75BE-9E5891C38EA9}" created="2026-04-24T04:54:42.672">
    <pc:sldMkLst xmlns:pc="http://schemas.microsoft.com/office/powerpoint/2013/main/command">
      <pc:docMk/>
      <pc:sldMk cId="3112205822" sldId="2147477634"/>
    </pc:sldMkLst>
    <p188:txBody>
      <a:bodyPr/>
      <a:lstStyle/>
      <a:p>
        <a:r>
          <a:rPr lang="en-US"/>
          <a:t>La 31 y 32 son redundantes</a:t>
        </a:r>
      </a:p>
    </p188:txBody>
  </p188:cm>
</p188:cmLst>
</file>

<file path=ppt/comments/modernComment_7FFFE88F_68D21C67.xml><?xml version="1.0" encoding="utf-8"?>
<p188:cmLst xmlns:a="http://schemas.openxmlformats.org/drawingml/2006/main" xmlns:r="http://schemas.openxmlformats.org/officeDocument/2006/relationships" xmlns:p188="http://schemas.microsoft.com/office/powerpoint/2018/8/main">
  <p188:cm id="{44DB373D-2B93-4BBF-A02D-707E2449D7F9}" authorId="{022A6F16-3653-42A3-75BE-9E5891C38EA9}" status="resolved" created="2026-04-24T22:43:05.929" complete="100000">
    <pc:sldMkLst xmlns:pc="http://schemas.microsoft.com/office/powerpoint/2013/main/command">
      <pc:docMk/>
      <pc:sldMk cId="1758600295" sldId="2147477647"/>
    </pc:sldMkLst>
    <p188:txBody>
      <a:bodyPr/>
      <a:lstStyle/>
      <a:p>
        <a:r>
          <a:rPr lang="en-US"/>
          <a:t>En governance esta bien incluir que siempre decimos que si</a:t>
        </a:r>
      </a:p>
    </p188:txBody>
  </p188:cm>
</p188:cmLst>
</file>

<file path=ppt/comments/modernComment_7FFFE89C_C878D993.xml><?xml version="1.0" encoding="utf-8"?>
<p188:cmLst xmlns:a="http://schemas.openxmlformats.org/drawingml/2006/main" xmlns:r="http://schemas.openxmlformats.org/officeDocument/2006/relationships" xmlns:p188="http://schemas.microsoft.com/office/powerpoint/2018/8/main">
  <p188:cm id="{6F1FF2D0-F355-4988-A77D-2B5CFF45D069}" authorId="{022A6F16-3653-42A3-75BE-9E5891C38EA9}" created="2026-04-24T04:53:43.701">
    <pc:sldMkLst xmlns:pc="http://schemas.microsoft.com/office/powerpoint/2013/main/command">
      <pc:docMk/>
      <pc:sldMk cId="0" sldId="299"/>
    </pc:sldMkLst>
    <p188:txBody>
      <a:bodyPr/>
      <a:lstStyle/>
      <a:p>
        <a:r>
          <a:rPr lang="en-US"/>
          <a:t>Aquí el titutlo esta em minusculas, en la siguiente slide enmaysuculas</a:t>
        </a:r>
      </a:p>
    </p188:txBody>
  </p188:cm>
</p188:cmLst>
</file>

<file path=ppt/comments/modernComment_7FFFE89E_33C09155.xml><?xml version="1.0" encoding="utf-8"?>
<p188:cmLst xmlns:a="http://schemas.openxmlformats.org/drawingml/2006/main" xmlns:r="http://schemas.openxmlformats.org/officeDocument/2006/relationships" xmlns:p188="http://schemas.microsoft.com/office/powerpoint/2018/8/main">
  <p188:cm id="{CE0D1F15-1127-41D0-B4A2-05C7714D6053}" authorId="{022A6F16-3653-42A3-75BE-9E5891C38EA9}" created="2026-04-24T04:47:48.625">
    <pc:sldMkLst xmlns:pc="http://schemas.microsoft.com/office/powerpoint/2013/main/command">
      <pc:docMk/>
      <pc:sldMk cId="1352456625" sldId="263"/>
    </pc:sldMkLst>
    <p188:replyLst>
      <p188:reply id="{4141A3E8-D475-4C54-8C84-46D4D0713003}" authorId="{08AA367A-3FE0-CE15-1CF5-256A1C107FE1}" created="2026-04-24T20:24:51.112">
        <p188:txBody>
          <a:bodyPr/>
          <a:lstStyle/>
          <a:p>
            <a:r>
              <a:rPr lang="es-MX"/>
              <a:t>Nos lo mencioanron asi en la llamada</a:t>
            </a:r>
          </a:p>
        </p188:txBody>
      </p188:reply>
    </p188:replyLst>
    <p188:txBody>
      <a:bodyPr/>
      <a:lstStyle/>
      <a:p>
        <a:r>
          <a:rPr lang="en-US"/>
          <a:t>Regulatory yo creo que no llega por jira</a:t>
        </a:r>
      </a:p>
    </p188:txBody>
  </p188:cm>
  <p188:cm id="{7E7DB2A9-82EF-4EAD-9E6F-7CC1FDF1CEA1}" authorId="{022A6F16-3653-42A3-75BE-9E5891C38EA9}" created="2026-04-24T04:48:16.375">
    <pc:sldMkLst xmlns:pc="http://schemas.microsoft.com/office/powerpoint/2013/main/command">
      <pc:docMk/>
      <pc:sldMk cId="1352456625" sldId="263"/>
    </pc:sldMkLst>
    <p188:txBody>
      <a:bodyPr/>
      <a:lstStyle/>
      <a:p>
        <a:r>
          <a:rPr lang="en-US"/>
          <a:t>G&amp;E tiene Jira</a:t>
        </a:r>
      </a:p>
    </p188:txBody>
  </p188:cm>
  <p188:cm id="{2276C886-B542-48A0-936E-2C26DB3ED8CE}" authorId="{022A6F16-3653-42A3-75BE-9E5891C38EA9}" created="2026-04-24T04:49:52.307">
    <pc:sldMkLst xmlns:pc="http://schemas.microsoft.com/office/powerpoint/2013/main/command">
      <pc:docMk/>
      <pc:sldMk cId="1352456625" sldId="263"/>
    </pc:sldMkLst>
    <p188:txBody>
      <a:bodyPr/>
      <a:lstStyle/>
      <a:p>
        <a:r>
          <a:rPr lang="en-US"/>
          <a:t>No estoy de acuerdo con larg project only smart metering, hay algo que me estoy perdiendo?</a:t>
        </a:r>
      </a:p>
    </p188:txBody>
  </p188:cm>
</p188:cmLst>
</file>

<file path=ppt/comments/modernComment_7FFFE882_B9807DFE.xml><?xml version="1.0" encoding="utf-8"?>
<p188:cmLst xmlns:a="http://schemas.openxmlformats.org/drawingml/2006/main" xmlns:r="http://schemas.openxmlformats.org/officeDocument/2006/relationships" xmlns:p188="http://schemas.microsoft.com/office/powerpoint/2018/8/main">
  <p188:cm id="{579D2336-5FA9-48CA-9DCC-B01D05EB3939}" authorId="{022A6F16-3653-42A3-75BE-9E5891C38EA9}" created="2026-04-24T04:46:07.007">
    <pc:sldMkLst xmlns:pc="http://schemas.microsoft.com/office/powerpoint/2013/main/command">
      <pc:docMk/>
      <pc:sldMk cId="3112205822" sldId="2147477634"/>
    </pc:sldMkLst>
    <p188:txBody>
      <a:bodyPr/>
      <a:lstStyle/>
      <a:p>
        <a:r>
          <a:rPr lang="en-US"/>
          <a:t>No me gusta los iocnos y la visibilidad de esta slide</a:t>
        </a:r>
      </a:p>
    </p188:txBody>
  </p188:cm>
  <p188:cm id="{CDEF8127-4197-4A28-A305-7E3224343AC1}" authorId="{022A6F16-3653-42A3-75BE-9E5891C38EA9}" created="2026-04-24T04:51:50.203">
    <pc:sldMkLst xmlns:pc="http://schemas.microsoft.com/office/powerpoint/2013/main/command">
      <pc:docMk/>
      <pc:sldMk cId="3112205822" sldId="2147477634"/>
    </pc:sldMkLst>
    <p188:txBody>
      <a:bodyPr/>
      <a:lstStyle/>
      <a:p>
        <a:r>
          <a:rPr lang="en-US"/>
          <a:t>Vendor governance is absent no lo pondría, se tienen foros con ellos de seguimiento, el problema para mi es que no hay un tracking exigido en el entorno de avangrid exigido a los vendors</a:t>
        </a:r>
      </a:p>
    </p188:txBody>
  </p188:cm>
  <p188:cm id="{BFB559E3-B526-496E-BDC2-67FCB1AC61E3}" authorId="{022A6F16-3653-42A3-75BE-9E5891C38EA9}" created="2026-04-24T04:54:42.672">
    <pc:sldMkLst xmlns:pc="http://schemas.microsoft.com/office/powerpoint/2013/main/command">
      <pc:docMk/>
      <pc:sldMk cId="3112205822" sldId="2147477634"/>
    </pc:sldMkLst>
    <p188:txBody>
      <a:bodyPr/>
      <a:lstStyle/>
      <a:p>
        <a:r>
          <a:rPr lang="en-US"/>
          <a:t>La 31 y 32 son redundantes</a:t>
        </a:r>
      </a:p>
    </p188:txBody>
  </p188:cm>
</p188:cmLst>
</file>

<file path=ppt/comments/modernComment_7FFFE896_4F2AD77D.xml><?xml version="1.0" encoding="utf-8"?>
<p188:cmLst xmlns:a="http://schemas.openxmlformats.org/drawingml/2006/main" xmlns:r="http://schemas.openxmlformats.org/officeDocument/2006/relationships" xmlns:p188="http://schemas.microsoft.com/office/powerpoint/2018/8/main">
  <p188:cm id="{B57757E8-4795-4AE6-B391-4D67DCBDF9CA}" authorId="{022A6F16-3653-42A3-75BE-9E5891C38EA9}" created="2026-04-24T04:53:43.701">
    <pc:sldMkLst xmlns:pc="http://schemas.microsoft.com/office/powerpoint/2013/main/command">
      <pc:docMk/>
      <pc:sldMk cId="0" sldId="299"/>
    </pc:sldMkLst>
    <p188:txBody>
      <a:bodyPr/>
      <a:lstStyle/>
      <a:p>
        <a:r>
          <a:rPr lang="en-US"/>
          <a:t>Aquí el titutlo esta em minusculas, en la siguiente slide enmaysuculas</a:t>
        </a:r>
      </a:p>
    </p188:txBody>
  </p188:cm>
</p188:cmLst>
</file>

<file path=ppt/comments/modernComment_7FFFE897_FD2BE021.xml><?xml version="1.0" encoding="utf-8"?>
<p188:cmLst xmlns:a="http://schemas.openxmlformats.org/drawingml/2006/main" xmlns:r="http://schemas.openxmlformats.org/officeDocument/2006/relationships" xmlns:p188="http://schemas.microsoft.com/office/powerpoint/2018/8/main">
  <p188:cm id="{4C205777-93B2-4182-95D3-3AF6E66F0C40}" authorId="{022A6F16-3653-42A3-75BE-9E5891C38EA9}" created="2026-04-24T04:53:43.701">
    <pc:sldMkLst xmlns:pc="http://schemas.microsoft.com/office/powerpoint/2013/main/command">
      <pc:docMk/>
      <pc:sldMk cId="0" sldId="299"/>
    </pc:sldMkLst>
    <p188:txBody>
      <a:bodyPr/>
      <a:lstStyle/>
      <a:p>
        <a:r>
          <a:rPr lang="en-US"/>
          <a:t>Aquí el titutlo esta em minusculas, en la siguiente slide enmaysuculas</a:t>
        </a:r>
      </a:p>
    </p188:txBody>
    <p188:extLst>
      <p:ext xmlns:p="http://schemas.openxmlformats.org/presentationml/2006/main" uri="{57CB4572-C831-44C2-8A1C-0ADB6CCDFE69}">
        <p223:reactions xmlns:p223="http://schemas.microsoft.com/office/powerpoint/2022/03/main">
          <p223:rxn type="👍">
            <p223:instance time="2026-04-24T23:07:23.878" authorId="{08AA367A-3FE0-CE15-1CF5-256A1C107FE1}"/>
          </p223:rxn>
        </p223:reactions>
      </p:ext>
    </p188:extLst>
  </p188:cm>
  <p188:cm id="{2A2D2595-F88A-47AE-B284-889E7A4F2604}" authorId="{022A6F16-3653-42A3-75BE-9E5891C38EA9}" created="2026-04-24T22:45:09.431">
    <pc:sldMkLst xmlns:pc="http://schemas.microsoft.com/office/powerpoint/2013/main/command">
      <pc:docMk/>
      <pc:sldMk cId="4247511073" sldId="2147477655"/>
    </pc:sldMkLst>
    <p188:txBody>
      <a:bodyPr/>
      <a:lstStyle/>
      <a:p>
        <a:r>
          <a:rPr lang="en-US"/>
          <a:t>El insight de G&amp;E cambia por lo que hemos hablado, esto es P&amp;T y son otros insights</a:t>
        </a:r>
      </a:p>
    </p188:txBody>
  </p188:cm>
</p188:cmLst>
</file>

<file path=ppt/comments/modernComment_7FFFE898_F741CE44.xml><?xml version="1.0" encoding="utf-8"?>
<p188:cmLst xmlns:a="http://schemas.openxmlformats.org/drawingml/2006/main" xmlns:r="http://schemas.openxmlformats.org/officeDocument/2006/relationships" xmlns:p188="http://schemas.microsoft.com/office/powerpoint/2018/8/main">
  <p188:cm id="{AB00D950-2CDF-4119-AC07-575B9EB04383}" authorId="{022A6F16-3653-42A3-75BE-9E5891C38EA9}" created="2026-04-24T22:52:43.170">
    <pc:sldMkLst xmlns:pc="http://schemas.microsoft.com/office/powerpoint/2013/main/command">
      <pc:docMk/>
      <pc:sldMk cId="4148284996" sldId="2147477656"/>
    </pc:sldMkLst>
    <p188:txBody>
      <a:bodyPr/>
      <a:lstStyle/>
      <a:p>
        <a:r>
          <a:rPr lang="en-US"/>
          <a:t>El 4 es una reflexion general y tiene smart metering</a:t>
        </a:r>
      </a:p>
    </p188:txBody>
    <p188:extLst>
      <p:ext xmlns:p="http://schemas.openxmlformats.org/presentationml/2006/main" uri="{57CB4572-C831-44C2-8A1C-0ADB6CCDFE69}">
        <p223:reactions xmlns:p223="http://schemas.microsoft.com/office/powerpoint/2022/03/main">
          <p223:rxn type="👍">
            <p223:instance time="2026-04-24T23:04:54.392" authorId="{08AA367A-3FE0-CE15-1CF5-256A1C107FE1}"/>
          </p223:rxn>
        </p223:reactions>
      </p:ext>
    </p188:extLst>
  </p188:cm>
  <p188:cm id="{4A87D2F3-1E08-4E65-A9A7-BC16F9ED33A2}" authorId="{022A6F16-3653-42A3-75BE-9E5891C38EA9}" created="2026-04-24T22:54:09.436">
    <pc:sldMkLst xmlns:pc="http://schemas.microsoft.com/office/powerpoint/2013/main/command">
      <pc:docMk/>
      <pc:sldMk cId="4148284996" sldId="2147477656"/>
    </pc:sldMkLst>
    <p188:txBody>
      <a:bodyPr/>
      <a:lstStyle/>
      <a:p>
        <a:r>
          <a:rPr lang="en-US"/>
          <a:t>Los numeros de 5 recurring forums no coinciden con lo que sabemos</a:t>
        </a:r>
      </a:p>
    </p188:txBody>
    <p188:extLst>
      <p:ext xmlns:p="http://schemas.openxmlformats.org/presentationml/2006/main" uri="{57CB4572-C831-44C2-8A1C-0ADB6CCDFE69}">
        <p223:reactions xmlns:p223="http://schemas.microsoft.com/office/powerpoint/2022/03/main">
          <p223:rxn type="👍">
            <p223:instance time="2026-04-24T23:03:48.463" authorId="{08AA367A-3FE0-CE15-1CF5-256A1C107FE1}"/>
          </p223:rxn>
        </p223:reactions>
      </p:ext>
    </p188:extLst>
  </p188:cm>
  <p188:cm id="{A187ED94-9F27-48F4-A4B8-6E2EFF8EE441}" authorId="{022A6F16-3653-42A3-75BE-9E5891C38EA9}" created="2026-04-24T22:54:35.790">
    <pc:sldMkLst xmlns:pc="http://schemas.microsoft.com/office/powerpoint/2013/main/command">
      <pc:docMk/>
      <pc:sldMk cId="4148284996" sldId="2147477656"/>
    </pc:sldMkLst>
    <p188:txBody>
      <a:bodyPr/>
      <a:lstStyle/>
      <a:p>
        <a:r>
          <a:rPr lang="en-US"/>
          <a:t>Small, medium, large si está definido y es con una seria de datos y de $</a:t>
        </a:r>
      </a:p>
    </p188:txBody>
    <p188:extLst>
      <p:ext xmlns:p="http://schemas.openxmlformats.org/presentationml/2006/main" uri="{57CB4572-C831-44C2-8A1C-0ADB6CCDFE69}">
        <p223:reactions xmlns:p223="http://schemas.microsoft.com/office/powerpoint/2022/03/main">
          <p223:rxn type="👍">
            <p223:instance time="2026-04-24T23:06:55.214" authorId="{08AA367A-3FE0-CE15-1CF5-256A1C107FE1}"/>
          </p223:rxn>
        </p223:reactions>
      </p:ext>
    </p188:extLst>
  </p188:cm>
</p188:cmLst>
</file>

<file path=ppt/comments/modernComment_10C_AA8C03FA.xml><?xml version="1.0" encoding="utf-8"?>
<p188:cmLst xmlns:a="http://schemas.openxmlformats.org/drawingml/2006/main" xmlns:r="http://schemas.openxmlformats.org/officeDocument/2006/relationships" xmlns:p188="http://schemas.microsoft.com/office/powerpoint/2018/8/main">
  <p188:cm id="{9B53851E-8F81-4377-B829-28100FC7A74C}" authorId="{CA625C93-23F8-CB07-D18D-605E643B4C39}" status="resolved" created="2026-04-15T13:47:24.941">
    <ac:deMkLst xmlns:ac="http://schemas.microsoft.com/office/drawing/2013/main/command">
      <pc:docMk xmlns:pc="http://schemas.microsoft.com/office/powerpoint/2013/main/command"/>
      <pc:sldMk xmlns:pc="http://schemas.microsoft.com/office/powerpoint/2013/main/command" cId="2861302778" sldId="268"/>
      <ac:grpSpMk id="26" creationId="{D2C92F0C-7C8D-BFFD-F1FB-1D5E72A5DF1C}"/>
    </ac:deMkLst>
    <p188:txBody>
      <a:bodyPr/>
      <a:lstStyle/>
      <a:p>
        <a:r>
          <a:rPr lang="en-US"/>
          <a:t>Pondria los puntos 4, 5 y 6 como parte de un solo punto que sea el 4. Currant state analytis que después se abrá en esos tres puntos (roles, value steam (aquí incluir auna parte de cómo es el demand map (sources &amp; channels) , governance)
Agregaría como puntos adicionales en el índice;
5. Project portfolio lands scape
6. Inisghts and key definitions for to-be model</a:t>
        </a:r>
      </a:p>
    </p188:txBody>
  </p188:cm>
</p188:cmLst>
</file>

<file path=ppt/comments/modernComment_11B_296D12D8.xml><?xml version="1.0" encoding="utf-8"?>
<p188:cmLst xmlns:a="http://schemas.openxmlformats.org/drawingml/2006/main" xmlns:r="http://schemas.openxmlformats.org/officeDocument/2006/relationships" xmlns:p188="http://schemas.microsoft.com/office/powerpoint/2018/8/main">
  <p188:cm id="{141D184D-9FBB-4CD5-9B9C-E0A1294E0596}" authorId="{022A6F16-3653-42A3-75BE-9E5891C38EA9}" created="2026-04-24T04:33:56.040" startDate="2026-04-24T21:59:31.636" dueDate="2026-04-24T21:59:31.636" assignedTo="{67DB39AB-BC3E-8A02-7D4E-C00B2BD6237D}" title="@Gustavo Castellano ">
    <pc:sldMkLst xmlns:pc="http://schemas.microsoft.com/office/powerpoint/2013/main/command">
      <pc:docMk/>
      <pc:sldMk cId="695014104" sldId="283"/>
    </pc:sldMkLst>
    <p188:replyLst>
      <p188:reply id="{288F0A65-7DC9-496F-8982-93798E652F66}" authorId="{08AA367A-3FE0-CE15-1CF5-256A1C107FE1}" created="2026-04-24T21:59:31.635">
        <p188:txBody>
          <a:bodyPr/>
          <a:lstStyle/>
          <a:p>
            <a:r>
              <a:rPr lang="es-MX"/>
              <a:t>[@Gustavo Castellano] </a:t>
            </a:r>
          </a:p>
        </p188:txBody>
      </p188:reply>
    </p188:replyLst>
    <p188:txBody>
      <a:bodyPr/>
      <a:lstStyle/>
      <a:p>
        <a:r>
          <a:rPr lang="en-US"/>
          <a:t>No estoy de acuerdo con G&amp;E, este es el area de asier, no es email hay big room planning, y todo loq ue esta haciendo bruno y pablo, y es la unica que esta en rojo </a:t>
        </a:r>
      </a:p>
    </p188:txBody>
    <p188:extLst>
      <p:ext xmlns:p="http://schemas.openxmlformats.org/presentationml/2006/main" uri="{5BB2D875-25FF-4072-B9AC-8F64D62656EB}">
        <p228:taskDetails xmlns:p228="http://schemas.microsoft.com/office/powerpoint/2022/08/main">
          <p228:history>
            <p228:event time="2026-04-24T21:59:31.636" id="{18ED9F73-A878-484C-B8F5-3D4932DFBE69}">
              <p228:atrbtn authorId="{08AA367A-3FE0-CE15-1CF5-256A1C107FE1}"/>
              <p228:anchr>
                <p228:comment id="{288F0A65-7DC9-496F-8982-93798E652F66}"/>
              </p228:anchr>
              <p228:add/>
            </p228:event>
            <p228:event time="2026-04-24T21:59:31.636" id="{3E650720-00B8-42E3-B086-3876B4D3F4B8}">
              <p228:atrbtn authorId="{08AA367A-3FE0-CE15-1CF5-256A1C107FE1}"/>
              <p228:anchr>
                <p228:comment id="{288F0A65-7DC9-496F-8982-93798E652F66}"/>
              </p228:anchr>
              <p228:asgn authorId="{67DB39AB-BC3E-8A02-7D4E-C00B2BD6237D}"/>
            </p228:event>
            <p228:event time="2026-04-24T21:59:31.636" id="{CAA23940-A2CF-48A7-B147-137F02A230B6}">
              <p228:atrbtn authorId="{08AA367A-3FE0-CE15-1CF5-256A1C107FE1}"/>
              <p228:anchr>
                <p228:comment id="{288F0A65-7DC9-496F-8982-93798E652F66}"/>
              </p228:anchr>
              <p228:date stDt="2026-04-24T21:59:31.636" endDt="2026-04-24T21:59:31.636"/>
            </p228:event>
            <p228:event time="2026-04-24T21:59:31.636" id="{A01CA2B4-CD54-4B59-8A8C-736CF68C6832}">
              <p228:atrbtn authorId="{08AA367A-3FE0-CE15-1CF5-256A1C107FE1}"/>
              <p228:anchr>
                <p228:comment id="{288F0A65-7DC9-496F-8982-93798E652F66}"/>
              </p228:anchr>
              <p228:title val="@Gustavo Castellano "/>
            </p228:event>
          </p228:history>
        </p228:taskDetails>
      </p:ext>
    </p188:extLst>
  </p188:cm>
</p188:cmLst>
</file>

<file path=ppt/comments/modernComment_11D_7B6DD36E.xml><?xml version="1.0" encoding="utf-8"?>
<p188:cmLst xmlns:a="http://schemas.openxmlformats.org/drawingml/2006/main" xmlns:r="http://schemas.openxmlformats.org/officeDocument/2006/relationships" xmlns:p188="http://schemas.microsoft.com/office/powerpoint/2018/8/main">
  <p188:cm id="{425CE6D7-3A3C-4DCF-8F92-8C8008793990}" authorId="{022A6F16-3653-42A3-75BE-9E5891C38EA9}" created="2026-04-24T04:46:49.678" startDate="2026-04-24T22:10:38.985" dueDate="2026-04-24T22:10:38.985" assignedTo="{9297B66B-BF4D-3E4E-6DF1-E7277526F4AB}" title="@Javier Bahena Pacheco ">
    <pc:sldMkLst xmlns:pc="http://schemas.microsoft.com/office/powerpoint/2013/main/command">
      <pc:docMk/>
      <pc:sldMk cId="2070795118" sldId="285"/>
    </pc:sldMkLst>
    <p188:replyLst>
      <p188:reply id="{CBEF5DA7-3E7E-4FB6-8BFE-AB44C41807CA}" authorId="{08AA367A-3FE0-CE15-1CF5-256A1C107FE1}" created="2026-04-24T22:10:38.985">
        <p188:txBody>
          <a:bodyPr/>
          <a:lstStyle/>
          <a:p>
            <a:r>
              <a:rPr lang="es-MX"/>
              <a:t>[@Javier Bahena Pacheco] </a:t>
            </a:r>
          </a:p>
        </p188:txBody>
      </p188:reply>
    </p188:replyLst>
    <p188:txBody>
      <a:bodyPr/>
      <a:lstStyle/>
      <a:p>
        <a:r>
          <a:rPr lang="en-US"/>
          <a:t>Entiendo que el equipo de Carlos no ha contestado respecto a los foros eistents porque no tienen solo esos (es quien trabaja con pablo y bruno, de nuevo)</a:t>
        </a:r>
      </a:p>
    </p188:txBody>
    <p188:extLst>
      <p:ext xmlns:p="http://schemas.openxmlformats.org/presentationml/2006/main" uri="{5BB2D875-25FF-4072-B9AC-8F64D62656EB}">
        <p228:taskDetails xmlns:p228="http://schemas.microsoft.com/office/powerpoint/2022/08/main">
          <p228:history>
            <p228:event time="2026-04-24T22:10:38.986" id="{7C363EBE-A2E9-4CEF-A436-606A7938EEFC}">
              <p228:atrbtn authorId="{08AA367A-3FE0-CE15-1CF5-256A1C107FE1}"/>
              <p228:anchr>
                <p228:comment id="{CBEF5DA7-3E7E-4FB6-8BFE-AB44C41807CA}"/>
              </p228:anchr>
              <p228:add/>
            </p228:event>
            <p228:event time="2026-04-24T22:10:38.986" id="{CA77FE73-7F97-467F-B7FF-634834E7210D}">
              <p228:atrbtn authorId="{08AA367A-3FE0-CE15-1CF5-256A1C107FE1}"/>
              <p228:anchr>
                <p228:comment id="{CBEF5DA7-3E7E-4FB6-8BFE-AB44C41807CA}"/>
              </p228:anchr>
              <p228:asgn authorId="{9297B66B-BF4D-3E4E-6DF1-E7277526F4AB}"/>
            </p228:event>
            <p228:event time="2026-04-24T22:10:38.986" id="{0107E8FC-FBA2-49AE-B03E-395B1E9D5F1C}">
              <p228:atrbtn authorId="{08AA367A-3FE0-CE15-1CF5-256A1C107FE1}"/>
              <p228:anchr>
                <p228:comment id="{CBEF5DA7-3E7E-4FB6-8BFE-AB44C41807CA}"/>
              </p228:anchr>
              <p228:date stDt="2026-04-24T22:10:38.985" endDt="2026-04-24T22:10:38.985"/>
            </p228:event>
            <p228:event time="2026-04-24T22:10:38.986" id="{63574EAC-13C4-49F8-9843-DF310DA0E3A2}">
              <p228:atrbtn authorId="{08AA367A-3FE0-CE15-1CF5-256A1C107FE1}"/>
              <p228:anchr>
                <p228:comment id="{CBEF5DA7-3E7E-4FB6-8BFE-AB44C41807CA}"/>
              </p228:anchr>
              <p228:title val="@Javier Bahena Pacheco "/>
            </p228:event>
          </p228:history>
        </p228:taskDetails>
      </p:ext>
    </p188:extLst>
  </p188:cm>
</p188:cmLst>
</file>

<file path=ppt/comments/modernComment_12D_3FD0203A.xml><?xml version="1.0" encoding="utf-8"?>
<p188:cmLst xmlns:a="http://schemas.openxmlformats.org/drawingml/2006/main" xmlns:r="http://schemas.openxmlformats.org/officeDocument/2006/relationships" xmlns:p188="http://schemas.microsoft.com/office/powerpoint/2018/8/main">
  <p188:cm id="{30B8EE29-9478-499D-93E0-5EA4B757474C}" authorId="{022A6F16-3653-42A3-75BE-9E5891C38EA9}" created="2026-04-24T04:56:33.923">
    <pc:sldMkLst xmlns:pc="http://schemas.microsoft.com/office/powerpoint/2013/main/command">
      <pc:docMk/>
      <pc:sldMk cId="0" sldId="301"/>
    </pc:sldMkLst>
    <p188:txBody>
      <a:bodyPr/>
      <a:lstStyle/>
      <a:p>
        <a:r>
          <a:rPr lang="en-US"/>
          <a:t>Regulatory always wins and always will win because is regulatory… </a:t>
        </a:r>
      </a:p>
    </p188:txBody>
  </p188:cm>
</p188:cmLst>
</file>

<file path=ppt/comments/modernComment_105_F3471CD2.xml><?xml version="1.0" encoding="utf-8"?>
<p188:cmLst xmlns:a="http://schemas.openxmlformats.org/drawingml/2006/main" xmlns:r="http://schemas.openxmlformats.org/officeDocument/2006/relationships" xmlns:p188="http://schemas.microsoft.com/office/powerpoint/2018/8/main">
  <p188:cm id="{E06E5695-FC13-43EF-998E-E82F72D2B735}" authorId="{022A6F16-3653-42A3-75BE-9E5891C38EA9}" created="2026-04-24T04:44:21.966" startDate="2026-04-24T22:02:46.209" dueDate="2026-04-24T22:02:46.209" assignedTo="{67DB39AB-BC3E-8A02-7D4E-C00B2BD6237D}" title="@Gustavo Castellano ">
    <pc:sldMkLst xmlns:pc="http://schemas.microsoft.com/office/powerpoint/2013/main/command">
      <pc:docMk/>
      <pc:sldMk cId="4081523922" sldId="261"/>
    </pc:sldMkLst>
    <p188:replyLst>
      <p188:reply id="{378F36D4-0D6A-4AE2-B44C-0FADE5E34F7B}" authorId="{08AA367A-3FE0-CE15-1CF5-256A1C107FE1}" created="2026-04-24T22:02:46.209">
        <p188:txBody>
          <a:bodyPr/>
          <a:lstStyle/>
          <a:p>
            <a:r>
              <a:rPr lang="es-MX"/>
              <a:t>[@Gustavo Castellano] </a:t>
            </a:r>
          </a:p>
        </p188:txBody>
      </p188:reply>
    </p188:replyLst>
    <p188:txBody>
      <a:bodyPr/>
      <a:lstStyle/>
      <a:p>
        <a:r>
          <a:rPr lang="en-US"/>
          <a:t>Volvemos a nombrar smart metering como referente, por que?</a:t>
        </a:r>
      </a:p>
    </p188:txBody>
    <p188:extLst>
      <p:ext xmlns:p="http://schemas.openxmlformats.org/presentationml/2006/main" uri="{5BB2D875-25FF-4072-B9AC-8F64D62656EB}">
        <p228:taskDetails xmlns:p228="http://schemas.microsoft.com/office/powerpoint/2022/08/main">
          <p228:history>
            <p228:event time="2026-04-24T22:02:46.209" id="{DBC67CB2-D4F0-4A30-9897-E4BD96DA8855}">
              <p228:atrbtn authorId="{08AA367A-3FE0-CE15-1CF5-256A1C107FE1}"/>
              <p228:anchr>
                <p228:comment id="{378F36D4-0D6A-4AE2-B44C-0FADE5E34F7B}"/>
              </p228:anchr>
              <p228:add/>
            </p228:event>
            <p228:event time="2026-04-24T22:02:46.209" id="{1888AFB9-1633-4FB2-889C-D83A67F4257A}">
              <p228:atrbtn authorId="{08AA367A-3FE0-CE15-1CF5-256A1C107FE1}"/>
              <p228:anchr>
                <p228:comment id="{378F36D4-0D6A-4AE2-B44C-0FADE5E34F7B}"/>
              </p228:anchr>
              <p228:asgn authorId="{67DB39AB-BC3E-8A02-7D4E-C00B2BD6237D}"/>
            </p228:event>
            <p228:event time="2026-04-24T22:02:46.209" id="{878BBE54-0754-4285-8476-626D7FFF09D2}">
              <p228:atrbtn authorId="{08AA367A-3FE0-CE15-1CF5-256A1C107FE1}"/>
              <p228:anchr>
                <p228:comment id="{378F36D4-0D6A-4AE2-B44C-0FADE5E34F7B}"/>
              </p228:anchr>
              <p228:date stDt="2026-04-24T22:02:46.209" endDt="2026-04-24T22:02:46.209"/>
            </p228:event>
            <p228:event time="2026-04-24T22:02:46.209" id="{0EF76148-168F-4017-A35B-23D13BD88002}">
              <p228:atrbtn authorId="{08AA367A-3FE0-CE15-1CF5-256A1C107FE1}"/>
              <p228:anchr>
                <p228:comment id="{378F36D4-0D6A-4AE2-B44C-0FADE5E34F7B}"/>
              </p228:anchr>
              <p228:title val="@Gustavo Castellano "/>
            </p228:event>
          </p228:history>
        </p228:taskDetails>
      </p:ext>
    </p188:extLst>
  </p188:cm>
</p188:cmLst>
</file>

<file path=ppt/comments/modernComment_109_D7E5891.xml><?xml version="1.0" encoding="utf-8"?>
<p188:cmLst xmlns:a="http://schemas.openxmlformats.org/drawingml/2006/main" xmlns:r="http://schemas.openxmlformats.org/officeDocument/2006/relationships" xmlns:p188="http://schemas.microsoft.com/office/powerpoint/2018/8/main">
  <p188:cm id="{B35FD5AB-B0A4-43CF-BB8F-ADA20B24E7EC}" authorId="{CA625C93-23F8-CB07-D18D-605E643B4C39}" status="resolved" created="2026-04-15T13:47:24.941">
    <ac:deMkLst xmlns:ac="http://schemas.microsoft.com/office/drawing/2013/main/command">
      <pc:docMk xmlns:pc="http://schemas.microsoft.com/office/powerpoint/2013/main/command"/>
      <pc:sldMk xmlns:pc="http://schemas.microsoft.com/office/powerpoint/2013/main/command" cId="226384017" sldId="265"/>
      <ac:grpSpMk id="26" creationId="{2A1CAC57-539D-0189-9F0D-936C7AC2CC54}"/>
    </ac:deMkLst>
    <p188:txBody>
      <a:bodyPr/>
      <a:lstStyle/>
      <a:p>
        <a:r>
          <a:rPr lang="en-US"/>
          <a:t>Pondria los puntos 4, 5 y 6 como parte de un solo punto que sea el 4. Currant state analytis que después se abrá en esos tres puntos (roles, value steam (aquí incluir auna parte de cómo es el demand map (sources &amp; channels) , governance)
Agregaría como puntos adicionales en el índice;
5. Project portfolio lands scape
6. Inisghts and key definitions for to-be model</a:t>
        </a:r>
      </a:p>
    </p188:txBody>
  </p188:cm>
</p188:cmLst>
</file>

<file path=ppt/comments/modernComment_110_AFC9E6A1.xml><?xml version="1.0" encoding="utf-8"?>
<p188:cmLst xmlns:a="http://schemas.openxmlformats.org/drawingml/2006/main" xmlns:r="http://schemas.openxmlformats.org/officeDocument/2006/relationships" xmlns:p188="http://schemas.microsoft.com/office/powerpoint/2018/8/main">
  <p188:cm id="{70C5F0BD-027A-436C-9FC8-2DFFD0825B1D}" authorId="{022A6F16-3653-42A3-75BE-9E5891C38EA9}" created="2026-04-24T04:59:56.080">
    <pc:sldMkLst xmlns:pc="http://schemas.microsoft.com/office/powerpoint/2013/main/command">
      <pc:docMk/>
      <pc:sldMk cId="2949244577" sldId="272"/>
    </pc:sldMkLst>
    <p188:txBody>
      <a:bodyPr/>
      <a:lstStyle/>
      <a:p>
        <a:r>
          <a:rPr lang="en-US"/>
          <a:t>No hemos incorporado roles existentes encontrados </a:t>
        </a:r>
      </a:p>
    </p188:txBody>
  </p188:cm>
</p188:cmLst>
</file>

<file path=ppt/comments/modernComment_120_FB564890.xml><?xml version="1.0" encoding="utf-8"?>
<p188:cmLst xmlns:a="http://schemas.openxmlformats.org/drawingml/2006/main" xmlns:r="http://schemas.openxmlformats.org/officeDocument/2006/relationships" xmlns:p188="http://schemas.microsoft.com/office/powerpoint/2018/8/main">
  <p188:cm id="{B8750C7D-1688-4EB6-BAAA-C9B22AE094C4}" authorId="{022A6F16-3653-42A3-75BE-9E5891C38EA9}" created="2026-04-24T04:26:42.664">
    <ac:deMkLst xmlns:ac="http://schemas.microsoft.com/office/drawing/2013/main/command">
      <pc:docMk xmlns:pc="http://schemas.microsoft.com/office/powerpoint/2013/main/command"/>
      <pc:sldMk xmlns:pc="http://schemas.microsoft.com/office/powerpoint/2013/main/command" cId="4216735888" sldId="288"/>
      <ac:spMk id="16" creationId="{C2418FF3-B3A7-4FAD-7E56-1E77123BDDBD}"/>
    </ac:deMkLst>
    <p188:replyLst>
      <p188:reply id="{75CB0D0E-CB60-4E1F-82C1-695A2D6ED705}" authorId="{C5CC6A58-EB9F-3601-BA4A-0BA6EE77644B}" created="2026-04-24T16:14:40.560">
        <p188:txBody>
          <a:bodyPr/>
          <a:lstStyle/>
          <a:p>
            <a:r>
              <a:rPr lang="pt-BR"/>
              <a:t>From the interview with Iram (Champion from smart metering)</a:t>
            </a:r>
          </a:p>
        </p188:txBody>
      </p188:reply>
    </p188:replyLst>
    <p188:txBody>
      <a:bodyPr/>
      <a:lstStyle/>
      <a:p>
        <a:r>
          <a:rPr lang="en-US"/>
          <a:t>Donde hemos visto que se utilize PPM Now de smart metering? Que pantallazo o prueba tenemos de uso?</a:t>
        </a:r>
      </a:p>
    </p188:txBody>
  </p188:cm>
</p188:cmLst>
</file>

<file path=ppt/comments/modernComment_123_93BA62AB.xml><?xml version="1.0" encoding="utf-8"?>
<p188:cmLst xmlns:a="http://schemas.openxmlformats.org/drawingml/2006/main" xmlns:r="http://schemas.openxmlformats.org/officeDocument/2006/relationships" xmlns:p188="http://schemas.microsoft.com/office/powerpoint/2018/8/main">
  <p188:cm id="{9EFDA729-3A60-4434-930D-2738B62F134C}" authorId="{022A6F16-3653-42A3-75BE-9E5891C38EA9}" created="2026-04-24T04:40:09.836" startDate="2026-04-24T22:01:02.087" dueDate="2026-04-24T22:01:02.087" assignedTo="{67DB39AB-BC3E-8A02-7D4E-C00B2BD6237D}" title="@Gustavo Castellano ">
    <pc:sldMkLst xmlns:pc="http://schemas.microsoft.com/office/powerpoint/2013/main/command">
      <pc:docMk/>
      <pc:sldMk cId="2478465707" sldId="291"/>
    </pc:sldMkLst>
    <p188:replyLst>
      <p188:reply id="{7C6FA9EF-B8BE-4D4E-9C2F-790797D8E8F5}" authorId="{08AA367A-3FE0-CE15-1CF5-256A1C107FE1}" created="2026-04-24T22:01:02.087">
        <p188:txBody>
          <a:bodyPr/>
          <a:lstStyle/>
          <a:p>
            <a:r>
              <a:rPr lang="es-MX"/>
              <a:t>[@Gustavo Castellano] </a:t>
            </a:r>
          </a:p>
        </p188:txBody>
      </p188:reply>
    </p188:replyLst>
    <p188:txBody>
      <a:bodyPr/>
      <a:lstStyle/>
      <a:p>
        <a:r>
          <a:rPr lang="en-US"/>
          <a:t>Este es el area que trabaja pabloy  bruno, de verdad que no entiendo que esté en rojo y todos estos comentarios. Tampoco Andrew es un technical lead, es una persona que atiende tickets </a:t>
        </a:r>
      </a:p>
    </p188:txBody>
    <p188:extLst>
      <p:ext xmlns:p="http://schemas.openxmlformats.org/presentationml/2006/main" uri="{5BB2D875-25FF-4072-B9AC-8F64D62656EB}">
        <p228:taskDetails xmlns:p228="http://schemas.microsoft.com/office/powerpoint/2022/08/main">
          <p228:history>
            <p228:event time="2026-04-24T22:01:02.087" id="{47F34C00-068F-4A27-9BA8-EFE0F08398D3}">
              <p228:atrbtn authorId="{08AA367A-3FE0-CE15-1CF5-256A1C107FE1}"/>
              <p228:anchr>
                <p228:comment id="{7C6FA9EF-B8BE-4D4E-9C2F-790797D8E8F5}"/>
              </p228:anchr>
              <p228:add/>
            </p228:event>
            <p228:event time="2026-04-24T22:01:02.087" id="{9AC9A958-3CD5-4969-89EF-4A6DEFFF088C}">
              <p228:atrbtn authorId="{08AA367A-3FE0-CE15-1CF5-256A1C107FE1}"/>
              <p228:anchr>
                <p228:comment id="{7C6FA9EF-B8BE-4D4E-9C2F-790797D8E8F5}"/>
              </p228:anchr>
              <p228:asgn authorId="{67DB39AB-BC3E-8A02-7D4E-C00B2BD6237D}"/>
            </p228:event>
            <p228:event time="2026-04-24T22:01:02.087" id="{6606F12C-CFDD-4C4E-B20B-CECEAF101011}">
              <p228:atrbtn authorId="{08AA367A-3FE0-CE15-1CF5-256A1C107FE1}"/>
              <p228:anchr>
                <p228:comment id="{7C6FA9EF-B8BE-4D4E-9C2F-790797D8E8F5}"/>
              </p228:anchr>
              <p228:date stDt="2026-04-24T22:01:02.087" endDt="2026-04-24T22:01:02.087"/>
            </p228:event>
            <p228:event time="2026-04-24T22:01:02.087" id="{0B70B327-AEF8-4A8F-997F-49939329ACDB}">
              <p228:atrbtn authorId="{08AA367A-3FE0-CE15-1CF5-256A1C107FE1}"/>
              <p228:anchr>
                <p228:comment id="{7C6FA9EF-B8BE-4D4E-9C2F-790797D8E8F5}"/>
              </p228:anchr>
              <p228:title val="@Gustavo Castellano "/>
            </p228:event>
          </p228:history>
        </p228:taskDetails>
      </p:ext>
    </p188:extLst>
  </p188:cm>
</p188:cmLst>
</file>

<file path=ppt/comments/modernComment_124_7B53B7CD.xml><?xml version="1.0" encoding="utf-8"?>
<p188:cmLst xmlns:a="http://schemas.openxmlformats.org/drawingml/2006/main" xmlns:r="http://schemas.openxmlformats.org/officeDocument/2006/relationships" xmlns:p188="http://schemas.microsoft.com/office/powerpoint/2018/8/main">
  <p188:cm id="{3A5806F8-EAFB-4040-9CAF-E6C31621D9BA}" authorId="{022A6F16-3653-42A3-75BE-9E5891C38EA9}" created="2026-04-24T04:35:53.649">
    <pc:sldMkLst xmlns:pc="http://schemas.microsoft.com/office/powerpoint/2013/main/command">
      <pc:docMk/>
      <pc:sldMk cId="2069084109" sldId="292"/>
    </pc:sldMkLst>
    <p188:txBody>
      <a:bodyPr/>
      <a:lstStyle/>
      <a:p>
        <a:r>
          <a:rPr lang="en-US"/>
          <a:t>Lo mismo hagamos un despleigue de las areas del dpot que se iluminen aplicado a todo el drill down</a:t>
        </a:r>
      </a:p>
    </p188:txBody>
  </p188:cm>
</p188:cmLst>
</file>

<file path=ppt/comments/modernComment_126_E30F2003.xml><?xml version="1.0" encoding="utf-8"?>
<p188:cmLst xmlns:a="http://schemas.openxmlformats.org/drawingml/2006/main" xmlns:r="http://schemas.openxmlformats.org/officeDocument/2006/relationships" xmlns:p188="http://schemas.microsoft.com/office/powerpoint/2018/8/main">
  <p188:cm id="{62CF3E57-0125-4D11-AC95-78F0002A8AE0}" authorId="{022A6F16-3653-42A3-75BE-9E5891C38EA9}" created="2026-04-24T04:42:38.759" startDate="2026-04-24T22:01:55.226" dueDate="2026-04-24T22:01:55.226" assignedTo="{67DB39AB-BC3E-8A02-7D4E-C00B2BD6237D}" title="@Gustavo Castellano ">
    <pc:sldMkLst xmlns:pc="http://schemas.microsoft.com/office/powerpoint/2013/main/command">
      <pc:docMk/>
      <pc:sldMk cId="3809419267" sldId="294"/>
    </pc:sldMkLst>
    <p188:replyLst>
      <p188:reply id="{2080F54D-AA46-4382-B22A-C43F8E8FC6A3}" authorId="{08AA367A-3FE0-CE15-1CF5-256A1C107FE1}" created="2026-04-24T22:01:55.226">
        <p188:txBody>
          <a:bodyPr/>
          <a:lstStyle/>
          <a:p>
            <a:r>
              <a:rPr lang="es-MX"/>
              <a:t>[@Gustavo Castellano] </a:t>
            </a:r>
          </a:p>
        </p188:txBody>
      </p188:reply>
    </p188:replyLst>
    <p188:txBody>
      <a:bodyPr/>
      <a:lstStyle/>
      <a:p>
        <a:r>
          <a:rPr lang="en-US"/>
          <a:t>No entiendo lo de PPM Now + Confluence me gustaría ver la evidencia para determinar que es la unica que utiliza </a:t>
        </a:r>
      </a:p>
    </p188:txBody>
    <p188:extLst>
      <p:ext xmlns:p="http://schemas.openxmlformats.org/presentationml/2006/main" uri="{5BB2D875-25FF-4072-B9AC-8F64D62656EB}">
        <p228:taskDetails xmlns:p228="http://schemas.microsoft.com/office/powerpoint/2022/08/main">
          <p228:history>
            <p228:event time="2026-04-24T22:01:55.226" id="{F815A750-3F62-4A8D-9C5A-CFBC80E1FE2C}">
              <p228:atrbtn authorId="{08AA367A-3FE0-CE15-1CF5-256A1C107FE1}"/>
              <p228:anchr>
                <p228:comment id="{2080F54D-AA46-4382-B22A-C43F8E8FC6A3}"/>
              </p228:anchr>
              <p228:add/>
            </p228:event>
            <p228:event time="2026-04-24T22:01:55.226" id="{5F9DE6F6-5200-472F-AACE-EFC3229B94A4}">
              <p228:atrbtn authorId="{08AA367A-3FE0-CE15-1CF5-256A1C107FE1}"/>
              <p228:anchr>
                <p228:comment id="{2080F54D-AA46-4382-B22A-C43F8E8FC6A3}"/>
              </p228:anchr>
              <p228:asgn authorId="{67DB39AB-BC3E-8A02-7D4E-C00B2BD6237D}"/>
            </p228:event>
            <p228:event time="2026-04-24T22:01:55.226" id="{4BA76704-C4AB-4595-ABC2-0176F3E44563}">
              <p228:atrbtn authorId="{08AA367A-3FE0-CE15-1CF5-256A1C107FE1}"/>
              <p228:anchr>
                <p228:comment id="{2080F54D-AA46-4382-B22A-C43F8E8FC6A3}"/>
              </p228:anchr>
              <p228:date stDt="2026-04-24T22:01:55.226" endDt="2026-04-24T22:01:55.226"/>
            </p228:event>
            <p228:event time="2026-04-24T22:01:55.226" id="{F83F8551-9AB7-4FDE-88E9-9CAF04D7E9AD}">
              <p228:atrbtn authorId="{08AA367A-3FE0-CE15-1CF5-256A1C107FE1}"/>
              <p228:anchr>
                <p228:comment id="{2080F54D-AA46-4382-B22A-C43F8E8FC6A3}"/>
              </p228:anchr>
              <p228:title val="@Gustavo Castellano "/>
            </p228:event>
          </p228:history>
        </p228:taskDetails>
      </p:ext>
    </p188:extLst>
  </p188:cm>
</p188:cmLst>
</file>

<file path=ppt/comments/modernComment_130_0.xml><?xml version="1.0" encoding="utf-8"?>
<p188:cmLst xmlns:a="http://schemas.openxmlformats.org/drawingml/2006/main" xmlns:r="http://schemas.openxmlformats.org/officeDocument/2006/relationships" xmlns:p188="http://schemas.microsoft.com/office/powerpoint/2018/8/main">
  <p188:cm id="{53E82717-98B7-4D54-837B-9001422D639F}" authorId="{022A6F16-3653-42A3-75BE-9E5891C38EA9}" created="2026-04-24T04:58:05.208">
    <pc:sldMkLst xmlns:pc="http://schemas.microsoft.com/office/powerpoint/2013/main/command">
      <pc:docMk/>
      <pc:sldMk cId="0" sldId="304"/>
    </pc:sldMkLst>
    <p188:txBody>
      <a:bodyPr/>
      <a:lstStyle/>
      <a:p>
        <a:r>
          <a:rPr lang="en-US"/>
          <a:t>La veo redundante, ya hemos repetido mucho lo mismo </a:t>
        </a:r>
      </a:p>
    </p188:txBody>
  </p188:cm>
</p188:cmLst>
</file>

<file path=ppt/comments/modernComment_131_0.xml><?xml version="1.0" encoding="utf-8"?>
<p188:cmLst xmlns:a="http://schemas.openxmlformats.org/drawingml/2006/main" xmlns:r="http://schemas.openxmlformats.org/officeDocument/2006/relationships" xmlns:p188="http://schemas.microsoft.com/office/powerpoint/2018/8/main">
  <p188:cm id="{00D61113-080E-4606-A7C5-9789591468A4}" authorId="{022A6F16-3653-42A3-75BE-9E5891C38EA9}" created="2026-04-24T05:00:49.601">
    <pc:sldMkLst xmlns:pc="http://schemas.microsoft.com/office/powerpoint/2013/main/command">
      <pc:docMk/>
      <pc:sldMk cId="0" sldId="305"/>
    </pc:sldMkLst>
    <p188:txBody>
      <a:bodyPr/>
      <a:lstStyle/>
      <a:p>
        <a:r>
          <a:rPr lang="en-US"/>
          <a:t>Uno de los principios que se nos han dado es que son “Digital Products” y lo que eso significa es que debemos dar insights respecto a lo que no hemos encontrado que una organización orientada a producto suele tener en ningun sitio</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E0B6E4-9D7D-44D1-BA09-91501786EAA6}" type="datetimeFigureOut">
              <a:rPr lang="en-US" smtClean="0"/>
              <a:t>4/25/2026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0CFED2-9709-4FC9-ABC4-AA1D773337AA}" type="slidenum">
              <a:rPr lang="en-US" smtClean="0"/>
              <a:t>‹nº›</a:t>
            </a:fld>
            <a:endParaRPr lang="en-US"/>
          </a:p>
        </p:txBody>
      </p:sp>
    </p:spTree>
    <p:extLst>
      <p:ext uri="{BB962C8B-B14F-4D97-AF65-F5344CB8AC3E}">
        <p14:creationId xmlns:p14="http://schemas.microsoft.com/office/powerpoint/2010/main" val="20528212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a:defRPr/>
            </a:pPr>
            <a:fld id="{F1CA40EA-03DA-B94C-9A0E-A28DB663F067}" type="slidenum">
              <a:rPr lang="es-ES" smtClean="0"/>
              <a:pPr>
                <a:defRPr/>
              </a:pPr>
              <a:t>1</a:t>
            </a:fld>
            <a:endParaRPr lang="es-ES"/>
          </a:p>
        </p:txBody>
      </p:sp>
    </p:spTree>
    <p:extLst>
      <p:ext uri="{BB962C8B-B14F-4D97-AF65-F5344CB8AC3E}">
        <p14:creationId xmlns:p14="http://schemas.microsoft.com/office/powerpoint/2010/main" val="15093812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83AAF1-B3F0-10AE-A031-9B50EB3B6A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B9E901-7215-EFF1-1410-824318B07B78}"/>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3B37B07B-559F-B96B-3053-F16A636FAD4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8ECA4BD-A20E-737D-9C66-719E5443BA75}"/>
              </a:ext>
            </a:extLst>
          </p:cNvPr>
          <p:cNvSpPr>
            <a:spLocks noGrp="1"/>
          </p:cNvSpPr>
          <p:nvPr>
            <p:ph type="sldNum" sz="quarter" idx="5"/>
          </p:nvPr>
        </p:nvSpPr>
        <p:spPr/>
        <p:txBody>
          <a:bodyPr/>
          <a:lstStyle/>
          <a:p>
            <a:fld id="{F5EA62C3-F454-4F5D-AAB0-802A83F207C1}" type="slidenum">
              <a:rPr lang="en-US" smtClean="0"/>
              <a:t>2</a:t>
            </a:fld>
            <a:endParaRPr lang="en-US"/>
          </a:p>
        </p:txBody>
      </p:sp>
    </p:spTree>
    <p:extLst>
      <p:ext uri="{BB962C8B-B14F-4D97-AF65-F5344CB8AC3E}">
        <p14:creationId xmlns:p14="http://schemas.microsoft.com/office/powerpoint/2010/main" val="31622942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BF3C0-C137-6101-C67E-77E03071855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AFE7FA2-902D-6760-0A32-E4077207C62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E627675-065B-3852-7FC5-920AC434EB4C}"/>
              </a:ext>
            </a:extLst>
          </p:cNvPr>
          <p:cNvSpPr>
            <a:spLocks noGrp="1"/>
          </p:cNvSpPr>
          <p:nvPr>
            <p:ph type="body" idx="1"/>
          </p:nvPr>
        </p:nvSpPr>
        <p:spPr/>
        <p:txBody>
          <a:bodyPr/>
          <a:lstStyle/>
          <a:p>
            <a:endParaRPr lang="en-US"/>
          </a:p>
        </p:txBody>
      </p:sp>
      <p:sp>
        <p:nvSpPr>
          <p:cNvPr id="4" name="Marcador de número de diapositiva 3">
            <a:extLst>
              <a:ext uri="{FF2B5EF4-FFF2-40B4-BE49-F238E27FC236}">
                <a16:creationId xmlns:a16="http://schemas.microsoft.com/office/drawing/2014/main" id="{DA020A18-228E-1DB5-F993-57005BE9628D}"/>
              </a:ext>
            </a:extLst>
          </p:cNvPr>
          <p:cNvSpPr>
            <a:spLocks noGrp="1"/>
          </p:cNvSpPr>
          <p:nvPr>
            <p:ph type="sldNum" sz="quarter" idx="5"/>
          </p:nvPr>
        </p:nvSpPr>
        <p:spPr/>
        <p:txBody>
          <a:bodyPr/>
          <a:lstStyle/>
          <a:p>
            <a:fld id="{3ABF52DC-EC59-4DE1-BAC7-23B3848E6B8A}" type="slidenum">
              <a:rPr lang="en-US" smtClean="0"/>
              <a:pPr/>
              <a:t>3</a:t>
            </a:fld>
            <a:endParaRPr lang="en-US"/>
          </a:p>
        </p:txBody>
      </p:sp>
    </p:spTree>
    <p:extLst>
      <p:ext uri="{BB962C8B-B14F-4D97-AF65-F5344CB8AC3E}">
        <p14:creationId xmlns:p14="http://schemas.microsoft.com/office/powerpoint/2010/main" val="28163471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95A2B4-2C79-85D1-F298-17CF29FC1ED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3E217E5-9ED6-35FF-02A3-EDE970B0CCA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CBBDC44-EE30-AC9D-1FD7-07D19A451B1E}"/>
              </a:ext>
            </a:extLst>
          </p:cNvPr>
          <p:cNvSpPr>
            <a:spLocks noGrp="1"/>
          </p:cNvSpPr>
          <p:nvPr>
            <p:ph type="body" idx="1"/>
          </p:nvPr>
        </p:nvSpPr>
        <p:spPr/>
        <p:txBody>
          <a:bodyPr/>
          <a:lstStyle/>
          <a:p>
            <a:endParaRPr lang="en-US"/>
          </a:p>
        </p:txBody>
      </p:sp>
      <p:sp>
        <p:nvSpPr>
          <p:cNvPr id="4" name="Marcador de número de diapositiva 3">
            <a:extLst>
              <a:ext uri="{FF2B5EF4-FFF2-40B4-BE49-F238E27FC236}">
                <a16:creationId xmlns:a16="http://schemas.microsoft.com/office/drawing/2014/main" id="{98669514-8902-28AC-7DCF-7D95755FDA0B}"/>
              </a:ext>
            </a:extLst>
          </p:cNvPr>
          <p:cNvSpPr>
            <a:spLocks noGrp="1"/>
          </p:cNvSpPr>
          <p:nvPr>
            <p:ph type="sldNum" sz="quarter" idx="5"/>
          </p:nvPr>
        </p:nvSpPr>
        <p:spPr/>
        <p:txBody>
          <a:bodyPr/>
          <a:lstStyle/>
          <a:p>
            <a:fld id="{3ABF52DC-EC59-4DE1-BAC7-23B3848E6B8A}" type="slidenum">
              <a:rPr lang="en-US" smtClean="0"/>
              <a:pPr/>
              <a:t>4</a:t>
            </a:fld>
            <a:endParaRPr lang="en-US"/>
          </a:p>
        </p:txBody>
      </p:sp>
    </p:spTree>
    <p:extLst>
      <p:ext uri="{BB962C8B-B14F-4D97-AF65-F5344CB8AC3E}">
        <p14:creationId xmlns:p14="http://schemas.microsoft.com/office/powerpoint/2010/main" val="11809761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B24201-955B-23C9-DEDF-A624A3C5E6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999468-424A-B0AA-2769-07B8F3BF4A77}"/>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CB16279C-A55F-51D9-AD45-A59C597DC87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A2D9E5F-8655-7837-E4E9-7D8B20CDF879}"/>
              </a:ext>
            </a:extLst>
          </p:cNvPr>
          <p:cNvSpPr>
            <a:spLocks noGrp="1"/>
          </p:cNvSpPr>
          <p:nvPr>
            <p:ph type="sldNum" sz="quarter" idx="5"/>
          </p:nvPr>
        </p:nvSpPr>
        <p:spPr/>
        <p:txBody>
          <a:bodyPr/>
          <a:lstStyle/>
          <a:p>
            <a:fld id="{F5EA62C3-F454-4F5D-AAB0-802A83F207C1}" type="slidenum">
              <a:rPr lang="en-US" smtClean="0"/>
              <a:t>5</a:t>
            </a:fld>
            <a:endParaRPr lang="en-US"/>
          </a:p>
        </p:txBody>
      </p:sp>
    </p:spTree>
    <p:extLst>
      <p:ext uri="{BB962C8B-B14F-4D97-AF65-F5344CB8AC3E}">
        <p14:creationId xmlns:p14="http://schemas.microsoft.com/office/powerpoint/2010/main" val="21540386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80DBA0-99F3-4BBA-43C0-C5D0E88469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9231E9-6A85-24D3-BA92-3A4216B4F4E6}"/>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58076016-0AF4-07CC-76E3-9BA0FB5E0BE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E95D46C-16AD-455A-6E45-43DBB3B3CC91}"/>
              </a:ext>
            </a:extLst>
          </p:cNvPr>
          <p:cNvSpPr>
            <a:spLocks noGrp="1"/>
          </p:cNvSpPr>
          <p:nvPr>
            <p:ph type="sldNum" sz="quarter" idx="5"/>
          </p:nvPr>
        </p:nvSpPr>
        <p:spPr/>
        <p:txBody>
          <a:bodyPr/>
          <a:lstStyle/>
          <a:p>
            <a:fld id="{F5EA62C3-F454-4F5D-AAB0-802A83F207C1}" type="slidenum">
              <a:rPr lang="en-US" smtClean="0"/>
              <a:t>6</a:t>
            </a:fld>
            <a:endParaRPr lang="en-US"/>
          </a:p>
        </p:txBody>
      </p:sp>
    </p:spTree>
    <p:extLst>
      <p:ext uri="{BB962C8B-B14F-4D97-AF65-F5344CB8AC3E}">
        <p14:creationId xmlns:p14="http://schemas.microsoft.com/office/powerpoint/2010/main" val="6688621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91EEB3-187D-0ABC-9196-D1BB5DDCDBB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80C2496-62E0-67FB-B615-9591286614C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51E1F42-A738-C239-1A10-E9FD16C07BDB}"/>
              </a:ext>
            </a:extLst>
          </p:cNvPr>
          <p:cNvSpPr>
            <a:spLocks noGrp="1"/>
          </p:cNvSpPr>
          <p:nvPr>
            <p:ph type="body" idx="1"/>
          </p:nvPr>
        </p:nvSpPr>
        <p:spPr/>
        <p:txBody>
          <a:bodyPr/>
          <a:lstStyle/>
          <a:p>
            <a:endParaRPr lang="en-US"/>
          </a:p>
        </p:txBody>
      </p:sp>
      <p:sp>
        <p:nvSpPr>
          <p:cNvPr id="4" name="Marcador de número de diapositiva 3">
            <a:extLst>
              <a:ext uri="{FF2B5EF4-FFF2-40B4-BE49-F238E27FC236}">
                <a16:creationId xmlns:a16="http://schemas.microsoft.com/office/drawing/2014/main" id="{2B46F701-4F8E-A173-7A5E-64C2B5986716}"/>
              </a:ext>
            </a:extLst>
          </p:cNvPr>
          <p:cNvSpPr>
            <a:spLocks noGrp="1"/>
          </p:cNvSpPr>
          <p:nvPr>
            <p:ph type="sldNum" sz="quarter" idx="5"/>
          </p:nvPr>
        </p:nvSpPr>
        <p:spPr/>
        <p:txBody>
          <a:bodyPr/>
          <a:lstStyle/>
          <a:p>
            <a:fld id="{3ABF52DC-EC59-4DE1-BAC7-23B3848E6B8A}" type="slidenum">
              <a:rPr lang="en-US" smtClean="0"/>
              <a:pPr/>
              <a:t>7</a:t>
            </a:fld>
            <a:endParaRPr lang="en-US"/>
          </a:p>
        </p:txBody>
      </p:sp>
    </p:spTree>
    <p:extLst>
      <p:ext uri="{BB962C8B-B14F-4D97-AF65-F5344CB8AC3E}">
        <p14:creationId xmlns:p14="http://schemas.microsoft.com/office/powerpoint/2010/main" val="1580574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9BB0B-4837-EFC1-E637-8CE5498848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F5F2CC-4A85-451B-0698-8D49F7F09EE4}"/>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233179C7-B911-C3CD-8725-E8B8731D462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B89AEFD-4D09-4D52-5D70-766FBBEF599B}"/>
              </a:ext>
            </a:extLst>
          </p:cNvPr>
          <p:cNvSpPr>
            <a:spLocks noGrp="1"/>
          </p:cNvSpPr>
          <p:nvPr>
            <p:ph type="sldNum" sz="quarter" idx="5"/>
          </p:nvPr>
        </p:nvSpPr>
        <p:spPr/>
        <p:txBody>
          <a:bodyPr/>
          <a:lstStyle/>
          <a:p>
            <a:fld id="{F5EA62C3-F454-4F5D-AAB0-802A83F207C1}" type="slidenum">
              <a:rPr lang="en-US" smtClean="0"/>
              <a:t>8</a:t>
            </a:fld>
            <a:endParaRPr lang="en-US"/>
          </a:p>
        </p:txBody>
      </p:sp>
    </p:spTree>
    <p:extLst>
      <p:ext uri="{BB962C8B-B14F-4D97-AF65-F5344CB8AC3E}">
        <p14:creationId xmlns:p14="http://schemas.microsoft.com/office/powerpoint/2010/main" val="33728696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D37080-33D6-0ECB-C1BF-C30B94733CE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7D35FDC-C9E5-4E7C-E0F5-FE25511FF05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7BB44A1-418C-95D3-8867-37D78A4A4A2D}"/>
              </a:ext>
            </a:extLst>
          </p:cNvPr>
          <p:cNvSpPr>
            <a:spLocks noGrp="1"/>
          </p:cNvSpPr>
          <p:nvPr>
            <p:ph type="body" idx="1"/>
          </p:nvPr>
        </p:nvSpPr>
        <p:spPr/>
        <p:txBody>
          <a:bodyPr/>
          <a:lstStyle/>
          <a:p>
            <a:endParaRPr lang="en-US"/>
          </a:p>
        </p:txBody>
      </p:sp>
      <p:sp>
        <p:nvSpPr>
          <p:cNvPr id="4" name="Marcador de número de diapositiva 3">
            <a:extLst>
              <a:ext uri="{FF2B5EF4-FFF2-40B4-BE49-F238E27FC236}">
                <a16:creationId xmlns:a16="http://schemas.microsoft.com/office/drawing/2014/main" id="{4743DDB9-4646-A2D7-D2C9-C8876D715A1B}"/>
              </a:ext>
            </a:extLst>
          </p:cNvPr>
          <p:cNvSpPr>
            <a:spLocks noGrp="1"/>
          </p:cNvSpPr>
          <p:nvPr>
            <p:ph type="sldNum" sz="quarter" idx="5"/>
          </p:nvPr>
        </p:nvSpPr>
        <p:spPr/>
        <p:txBody>
          <a:bodyPr/>
          <a:lstStyle/>
          <a:p>
            <a:fld id="{3ABF52DC-EC59-4DE1-BAC7-23B3848E6B8A}" type="slidenum">
              <a:rPr lang="en-US" smtClean="0"/>
              <a:pPr/>
              <a:t>9</a:t>
            </a:fld>
            <a:endParaRPr lang="en-US"/>
          </a:p>
        </p:txBody>
      </p:sp>
    </p:spTree>
    <p:extLst>
      <p:ext uri="{BB962C8B-B14F-4D97-AF65-F5344CB8AC3E}">
        <p14:creationId xmlns:p14="http://schemas.microsoft.com/office/powerpoint/2010/main" val="22180728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E898A2-9DD5-31A6-BEFE-FEA96CEF78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1B5D2C-0B5C-468E-1944-64F8910E9C70}"/>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C7194E67-1FEA-2533-A124-B882CFDC1923}"/>
              </a:ext>
            </a:extLst>
          </p:cNvPr>
          <p:cNvSpPr>
            <a:spLocks noGrp="1"/>
          </p:cNvSpPr>
          <p:nvPr>
            <p:ph type="body" idx="1"/>
          </p:nvPr>
        </p:nvSpPr>
        <p:spPr/>
        <p:txBody>
          <a:bodyPr/>
          <a:lstStyle/>
          <a:p>
            <a:r>
              <a:rPr lang="en-US"/>
              <a:t>*</a:t>
            </a:r>
            <a:r>
              <a:rPr lang="en-US" err="1"/>
              <a:t>Dejar</a:t>
            </a:r>
            <a:r>
              <a:rPr lang="en-US"/>
              <a:t> </a:t>
            </a:r>
            <a:r>
              <a:rPr lang="en-US" err="1"/>
              <a:t>esta</a:t>
            </a:r>
            <a:r>
              <a:rPr lang="en-US"/>
              <a:t> lamina </a:t>
            </a:r>
            <a:r>
              <a:rPr lang="en-US" err="1"/>
              <a:t>pero</a:t>
            </a:r>
            <a:r>
              <a:rPr lang="en-US"/>
              <a:t> </a:t>
            </a:r>
            <a:r>
              <a:rPr lang="en-US" err="1"/>
              <a:t>cambiarla</a:t>
            </a:r>
            <a:r>
              <a:rPr lang="en-US"/>
              <a:t> al </a:t>
            </a:r>
            <a:r>
              <a:rPr lang="en-US" err="1"/>
              <a:t>formato</a:t>
            </a:r>
            <a:r>
              <a:rPr lang="en-US"/>
              <a:t>. </a:t>
            </a:r>
            <a:br>
              <a:rPr lang="en-US"/>
            </a:br>
            <a:r>
              <a:rPr lang="en-US"/>
              <a:t>Y </a:t>
            </a:r>
            <a:r>
              <a:rPr lang="en-US" err="1"/>
              <a:t>poner</a:t>
            </a:r>
            <a:r>
              <a:rPr lang="en-US"/>
              <a:t> un </a:t>
            </a:r>
            <a:r>
              <a:rPr lang="en-US" err="1"/>
              <a:t>comentario</a:t>
            </a:r>
            <a:r>
              <a:rPr lang="en-US"/>
              <a:t> de  </a:t>
            </a:r>
            <a:r>
              <a:rPr lang="en-US" err="1"/>
              <a:t>por</a:t>
            </a:r>
            <a:r>
              <a:rPr lang="en-US"/>
              <a:t> </a:t>
            </a:r>
            <a:r>
              <a:rPr lang="en-US" err="1"/>
              <a:t>que</a:t>
            </a:r>
            <a:r>
              <a:rPr lang="en-US"/>
              <a:t> </a:t>
            </a:r>
            <a:r>
              <a:rPr lang="en-US" err="1"/>
              <a:t>los</a:t>
            </a:r>
            <a:r>
              <a:rPr lang="en-US"/>
              <a:t> pasos del 2 al 5 </a:t>
            </a:r>
            <a:r>
              <a:rPr lang="en-US" err="1"/>
              <a:t>estan</a:t>
            </a:r>
            <a:r>
              <a:rPr lang="en-US"/>
              <a:t> </a:t>
            </a:r>
            <a:r>
              <a:rPr lang="en-US" err="1"/>
              <a:t>detras</a:t>
            </a:r>
            <a:r>
              <a:rPr lang="en-US"/>
              <a:t> y es </a:t>
            </a:r>
            <a:r>
              <a:rPr lang="en-US" err="1"/>
              <a:t>por</a:t>
            </a:r>
            <a:r>
              <a:rPr lang="en-US"/>
              <a:t> </a:t>
            </a:r>
            <a:r>
              <a:rPr lang="en-US" err="1"/>
              <a:t>que</a:t>
            </a:r>
            <a:r>
              <a:rPr lang="en-US"/>
              <a:t> </a:t>
            </a:r>
            <a:r>
              <a:rPr lang="en-US" err="1"/>
              <a:t>estan</a:t>
            </a:r>
            <a:r>
              <a:rPr lang="en-US"/>
              <a:t> fuera del </a:t>
            </a:r>
            <a:r>
              <a:rPr lang="en-US" err="1"/>
              <a:t>alcance</a:t>
            </a:r>
            <a:r>
              <a:rPr lang="en-US"/>
              <a:t> de </a:t>
            </a:r>
            <a:r>
              <a:rPr lang="en-US" err="1"/>
              <a:t>este</a:t>
            </a:r>
            <a:r>
              <a:rPr lang="en-US"/>
              <a:t> </a:t>
            </a:r>
            <a:r>
              <a:rPr lang="en-US" err="1"/>
              <a:t>documento</a:t>
            </a:r>
            <a:r>
              <a:rPr lang="en-US"/>
              <a:t>.</a:t>
            </a:r>
          </a:p>
        </p:txBody>
      </p:sp>
      <p:sp>
        <p:nvSpPr>
          <p:cNvPr id="4" name="Slide Number Placeholder 3">
            <a:extLst>
              <a:ext uri="{FF2B5EF4-FFF2-40B4-BE49-F238E27FC236}">
                <a16:creationId xmlns:a16="http://schemas.microsoft.com/office/drawing/2014/main" id="{BFCF3F73-CEA7-537B-0955-154787286D8F}"/>
              </a:ext>
            </a:extLst>
          </p:cNvPr>
          <p:cNvSpPr>
            <a:spLocks noGrp="1"/>
          </p:cNvSpPr>
          <p:nvPr>
            <p:ph type="sldNum" sz="quarter" idx="5"/>
          </p:nvPr>
        </p:nvSpPr>
        <p:spPr/>
        <p:txBody>
          <a:bodyPr/>
          <a:lstStyle/>
          <a:p>
            <a:fld id="{F5EA62C3-F454-4F5D-AAB0-802A83F207C1}" type="slidenum">
              <a:rPr lang="en-US" smtClean="0"/>
              <a:t>10</a:t>
            </a:fld>
            <a:endParaRPr lang="en-US"/>
          </a:p>
        </p:txBody>
      </p:sp>
    </p:spTree>
    <p:extLst>
      <p:ext uri="{BB962C8B-B14F-4D97-AF65-F5344CB8AC3E}">
        <p14:creationId xmlns:p14="http://schemas.microsoft.com/office/powerpoint/2010/main" val="27374997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2F3E38-F7F2-3286-45DE-E952C2C87C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F85DA1-771D-BCA9-2156-7CE0A6B67434}"/>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B143CAD4-A4A4-6142-2C0E-3845343F9D4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4EB2963-5420-7FFB-EABE-14FD296B6465}"/>
              </a:ext>
            </a:extLst>
          </p:cNvPr>
          <p:cNvSpPr>
            <a:spLocks noGrp="1"/>
          </p:cNvSpPr>
          <p:nvPr>
            <p:ph type="sldNum" sz="quarter" idx="5"/>
          </p:nvPr>
        </p:nvSpPr>
        <p:spPr/>
        <p:txBody>
          <a:bodyPr/>
          <a:lstStyle/>
          <a:p>
            <a:fld id="{F5EA62C3-F454-4F5D-AAB0-802A83F207C1}" type="slidenum">
              <a:rPr lang="en-US" smtClean="0"/>
              <a:t>11</a:t>
            </a:fld>
            <a:endParaRPr lang="en-US"/>
          </a:p>
        </p:txBody>
      </p:sp>
    </p:spTree>
    <p:extLst>
      <p:ext uri="{BB962C8B-B14F-4D97-AF65-F5344CB8AC3E}">
        <p14:creationId xmlns:p14="http://schemas.microsoft.com/office/powerpoint/2010/main" val="6999834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69829B-DE6F-9F7B-5CE8-5CE141C0710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311624E-FDBA-897E-FB61-7E6EE0786A6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A7C6233-0D37-921D-5166-07337ACBB3E6}"/>
              </a:ext>
            </a:extLst>
          </p:cNvPr>
          <p:cNvSpPr>
            <a:spLocks noGrp="1"/>
          </p:cNvSpPr>
          <p:nvPr>
            <p:ph type="body" idx="1"/>
          </p:nvPr>
        </p:nvSpPr>
        <p:spPr/>
        <p:txBody>
          <a:bodyPr/>
          <a:lstStyle/>
          <a:p>
            <a:endParaRPr lang="en-US"/>
          </a:p>
        </p:txBody>
      </p:sp>
      <p:sp>
        <p:nvSpPr>
          <p:cNvPr id="4" name="Marcador de número de diapositiva 3">
            <a:extLst>
              <a:ext uri="{FF2B5EF4-FFF2-40B4-BE49-F238E27FC236}">
                <a16:creationId xmlns:a16="http://schemas.microsoft.com/office/drawing/2014/main" id="{8DD88764-1B20-3A51-408F-0A5C9EE6EEDE}"/>
              </a:ext>
            </a:extLst>
          </p:cNvPr>
          <p:cNvSpPr>
            <a:spLocks noGrp="1"/>
          </p:cNvSpPr>
          <p:nvPr>
            <p:ph type="sldNum" sz="quarter" idx="5"/>
          </p:nvPr>
        </p:nvSpPr>
        <p:spPr/>
        <p:txBody>
          <a:bodyPr/>
          <a:lstStyle/>
          <a:p>
            <a:fld id="{3ABF52DC-EC59-4DE1-BAC7-23B3848E6B8A}" type="slidenum">
              <a:rPr lang="en-US" smtClean="0"/>
              <a:pPr/>
              <a:t>12</a:t>
            </a:fld>
            <a:endParaRPr lang="en-US"/>
          </a:p>
        </p:txBody>
      </p:sp>
    </p:spTree>
    <p:extLst>
      <p:ext uri="{BB962C8B-B14F-4D97-AF65-F5344CB8AC3E}">
        <p14:creationId xmlns:p14="http://schemas.microsoft.com/office/powerpoint/2010/main" val="33831854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6B0FFE-C3A1-CE76-FB6A-100CDD94CD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4ABC1E-BBAD-3460-93C2-DA26EA452EC7}"/>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AEB052E3-17E0-64C2-82BB-B39718E2B082}"/>
              </a:ext>
            </a:extLst>
          </p:cNvPr>
          <p:cNvSpPr>
            <a:spLocks noGrp="1"/>
          </p:cNvSpPr>
          <p:nvPr>
            <p:ph type="body" idx="1"/>
          </p:nvPr>
        </p:nvSpPr>
        <p:spPr/>
        <p:txBody>
          <a:bodyPr/>
          <a:lstStyle/>
          <a:p>
            <a:r>
              <a:rPr lang="en-US"/>
              <a:t>*1.Diferencial, </a:t>
            </a:r>
            <a:r>
              <a:rPr lang="en-US" err="1"/>
              <a:t>en</a:t>
            </a:r>
            <a:r>
              <a:rPr lang="en-US"/>
              <a:t> </a:t>
            </a:r>
            <a:r>
              <a:rPr lang="en-US" err="1"/>
              <a:t>que</a:t>
            </a:r>
            <a:r>
              <a:rPr lang="en-US"/>
              <a:t> </a:t>
            </a:r>
            <a:r>
              <a:rPr lang="en-US" err="1"/>
              <a:t>cosas</a:t>
            </a:r>
            <a:r>
              <a:rPr lang="en-US"/>
              <a:t> se </a:t>
            </a:r>
            <a:r>
              <a:rPr lang="en-US" err="1"/>
              <a:t>enfoca</a:t>
            </a:r>
            <a:r>
              <a:rPr lang="en-US"/>
              <a:t> </a:t>
            </a:r>
            <a:r>
              <a:rPr lang="en-US" err="1"/>
              <a:t>cada</a:t>
            </a:r>
            <a:r>
              <a:rPr lang="en-US"/>
              <a:t> </a:t>
            </a:r>
            <a:r>
              <a:rPr lang="en-US" err="1"/>
              <a:t>área</a:t>
            </a:r>
            <a:r>
              <a:rPr lang="en-US"/>
              <a:t> (</a:t>
            </a:r>
            <a:r>
              <a:rPr lang="en-US" err="1"/>
              <a:t>Proposito</a:t>
            </a:r>
            <a:r>
              <a:rPr lang="en-US"/>
              <a:t> de </a:t>
            </a:r>
            <a:r>
              <a:rPr lang="en-US" err="1"/>
              <a:t>negocio</a:t>
            </a:r>
            <a:r>
              <a:rPr lang="en-US"/>
              <a:t> de </a:t>
            </a:r>
            <a:r>
              <a:rPr lang="en-US" err="1"/>
              <a:t>cada</a:t>
            </a:r>
            <a:r>
              <a:rPr lang="en-US"/>
              <a:t> depo)</a:t>
            </a:r>
            <a:br>
              <a:rPr lang="en-US"/>
            </a:br>
            <a:r>
              <a:rPr lang="en-US"/>
              <a:t>*2.Falta </a:t>
            </a:r>
            <a:r>
              <a:rPr lang="en-US" err="1"/>
              <a:t>en</a:t>
            </a:r>
            <a:r>
              <a:rPr lang="en-US"/>
              <a:t> Heather </a:t>
            </a:r>
            <a:r>
              <a:rPr lang="en-US" err="1"/>
              <a:t>agregar</a:t>
            </a:r>
            <a:r>
              <a:rPr lang="en-US"/>
              <a:t> 2 FTE </a:t>
            </a:r>
            <a:r>
              <a:rPr lang="en-US" err="1"/>
              <a:t>que</a:t>
            </a:r>
            <a:r>
              <a:rPr lang="en-US"/>
              <a:t> </a:t>
            </a:r>
            <a:r>
              <a:rPr lang="en-US" err="1"/>
              <a:t>estan</a:t>
            </a:r>
            <a:r>
              <a:rPr lang="en-US"/>
              <a:t> </a:t>
            </a:r>
            <a:r>
              <a:rPr lang="en-US" err="1"/>
              <a:t>pendientes</a:t>
            </a:r>
            <a:r>
              <a:rPr lang="en-US"/>
              <a:t> de </a:t>
            </a:r>
            <a:r>
              <a:rPr lang="en-US" err="1"/>
              <a:t>nombre</a:t>
            </a:r>
            <a:br>
              <a:rPr lang="en-US"/>
            </a:br>
            <a:endParaRPr lang="en-US"/>
          </a:p>
        </p:txBody>
      </p:sp>
      <p:sp>
        <p:nvSpPr>
          <p:cNvPr id="4" name="Slide Number Placeholder 3">
            <a:extLst>
              <a:ext uri="{FF2B5EF4-FFF2-40B4-BE49-F238E27FC236}">
                <a16:creationId xmlns:a16="http://schemas.microsoft.com/office/drawing/2014/main" id="{E0054092-492F-0D2F-81E3-3ADDBA34092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EA62C3-F454-4F5D-AAB0-802A83F207C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567574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7CE004-A54B-93D9-D2E2-EFCA7C4D7E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21BEB8-DB41-C79B-9CCC-64136FA0F2FF}"/>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953E262F-27DE-D28B-56B1-9A3B60C10165}"/>
              </a:ext>
            </a:extLst>
          </p:cNvPr>
          <p:cNvSpPr>
            <a:spLocks noGrp="1"/>
          </p:cNvSpPr>
          <p:nvPr>
            <p:ph type="body" idx="1"/>
          </p:nvPr>
        </p:nvSpPr>
        <p:spPr/>
        <p:txBody>
          <a:bodyPr/>
          <a:lstStyle/>
          <a:p>
            <a:r>
              <a:rPr lang="en-US"/>
              <a:t>*1.Diferencial, </a:t>
            </a:r>
            <a:r>
              <a:rPr lang="en-US" err="1"/>
              <a:t>en</a:t>
            </a:r>
            <a:r>
              <a:rPr lang="en-US"/>
              <a:t> </a:t>
            </a:r>
            <a:r>
              <a:rPr lang="en-US" err="1"/>
              <a:t>que</a:t>
            </a:r>
            <a:r>
              <a:rPr lang="en-US"/>
              <a:t> </a:t>
            </a:r>
            <a:r>
              <a:rPr lang="en-US" err="1"/>
              <a:t>cosas</a:t>
            </a:r>
            <a:r>
              <a:rPr lang="en-US"/>
              <a:t> se </a:t>
            </a:r>
            <a:r>
              <a:rPr lang="en-US" err="1"/>
              <a:t>enfoca</a:t>
            </a:r>
            <a:r>
              <a:rPr lang="en-US"/>
              <a:t> </a:t>
            </a:r>
            <a:r>
              <a:rPr lang="en-US" err="1"/>
              <a:t>cada</a:t>
            </a:r>
            <a:r>
              <a:rPr lang="en-US"/>
              <a:t> </a:t>
            </a:r>
            <a:r>
              <a:rPr lang="en-US" err="1"/>
              <a:t>área</a:t>
            </a:r>
            <a:r>
              <a:rPr lang="en-US"/>
              <a:t> (</a:t>
            </a:r>
            <a:r>
              <a:rPr lang="en-US" err="1"/>
              <a:t>Proposito</a:t>
            </a:r>
            <a:r>
              <a:rPr lang="en-US"/>
              <a:t> de </a:t>
            </a:r>
            <a:r>
              <a:rPr lang="en-US" err="1"/>
              <a:t>negocio</a:t>
            </a:r>
            <a:r>
              <a:rPr lang="en-US"/>
              <a:t> de </a:t>
            </a:r>
            <a:r>
              <a:rPr lang="en-US" err="1"/>
              <a:t>cada</a:t>
            </a:r>
            <a:r>
              <a:rPr lang="en-US"/>
              <a:t> depo)</a:t>
            </a:r>
            <a:br>
              <a:rPr lang="en-US"/>
            </a:br>
            <a:r>
              <a:rPr lang="en-US"/>
              <a:t>*2.Falta </a:t>
            </a:r>
            <a:r>
              <a:rPr lang="en-US" err="1"/>
              <a:t>en</a:t>
            </a:r>
            <a:r>
              <a:rPr lang="en-US"/>
              <a:t> Heather </a:t>
            </a:r>
            <a:r>
              <a:rPr lang="en-US" err="1"/>
              <a:t>agregar</a:t>
            </a:r>
            <a:r>
              <a:rPr lang="en-US"/>
              <a:t> 2 FTE </a:t>
            </a:r>
            <a:r>
              <a:rPr lang="en-US" err="1"/>
              <a:t>que</a:t>
            </a:r>
            <a:r>
              <a:rPr lang="en-US"/>
              <a:t> </a:t>
            </a:r>
            <a:r>
              <a:rPr lang="en-US" err="1"/>
              <a:t>estan</a:t>
            </a:r>
            <a:r>
              <a:rPr lang="en-US"/>
              <a:t> </a:t>
            </a:r>
            <a:r>
              <a:rPr lang="en-US" err="1"/>
              <a:t>pendientes</a:t>
            </a:r>
            <a:r>
              <a:rPr lang="en-US"/>
              <a:t> de </a:t>
            </a:r>
            <a:r>
              <a:rPr lang="en-US" err="1"/>
              <a:t>nombre</a:t>
            </a:r>
            <a:br>
              <a:rPr lang="en-US"/>
            </a:br>
            <a:endParaRPr lang="en-US"/>
          </a:p>
        </p:txBody>
      </p:sp>
      <p:sp>
        <p:nvSpPr>
          <p:cNvPr id="4" name="Slide Number Placeholder 3">
            <a:extLst>
              <a:ext uri="{FF2B5EF4-FFF2-40B4-BE49-F238E27FC236}">
                <a16:creationId xmlns:a16="http://schemas.microsoft.com/office/drawing/2014/main" id="{67ED26A5-5261-C7A1-1B44-D1C8499C4A8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EA62C3-F454-4F5D-AAB0-802A83F207C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453521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3985A1-DDB0-5DEC-CB10-B93517CF13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E95FE6-065F-59C1-4151-8518020E0246}"/>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BC4B5FB2-BA18-7CDE-2A0C-25B85FBD0A1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EC0B821-D9F5-C46B-28D6-E5856E6A7DBE}"/>
              </a:ext>
            </a:extLst>
          </p:cNvPr>
          <p:cNvSpPr>
            <a:spLocks noGrp="1"/>
          </p:cNvSpPr>
          <p:nvPr>
            <p:ph type="sldNum" sz="quarter" idx="5"/>
          </p:nvPr>
        </p:nvSpPr>
        <p:spPr/>
        <p:txBody>
          <a:bodyPr/>
          <a:lstStyle/>
          <a:p>
            <a:fld id="{F5EA62C3-F454-4F5D-AAB0-802A83F207C1}" type="slidenum">
              <a:rPr lang="en-US" smtClean="0"/>
              <a:t>15</a:t>
            </a:fld>
            <a:endParaRPr lang="en-US"/>
          </a:p>
        </p:txBody>
      </p:sp>
    </p:spTree>
    <p:extLst>
      <p:ext uri="{BB962C8B-B14F-4D97-AF65-F5344CB8AC3E}">
        <p14:creationId xmlns:p14="http://schemas.microsoft.com/office/powerpoint/2010/main" val="39383231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262CD6-79B5-0AAA-644E-33DF705D76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7616F2-46EB-1B74-A069-AB05F2E8A6EC}"/>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E906ACAC-3461-2A33-6E43-3FB430B5E98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CF44BF7-772F-E5D8-FEA7-7E45DEAE4477}"/>
              </a:ext>
            </a:extLst>
          </p:cNvPr>
          <p:cNvSpPr>
            <a:spLocks noGrp="1"/>
          </p:cNvSpPr>
          <p:nvPr>
            <p:ph type="sldNum" sz="quarter" idx="5"/>
          </p:nvPr>
        </p:nvSpPr>
        <p:spPr/>
        <p:txBody>
          <a:bodyPr/>
          <a:lstStyle/>
          <a:p>
            <a:fld id="{F5EA62C3-F454-4F5D-AAB0-802A83F207C1}" type="slidenum">
              <a:rPr lang="en-US" smtClean="0"/>
              <a:t>16</a:t>
            </a:fld>
            <a:endParaRPr lang="en-US"/>
          </a:p>
        </p:txBody>
      </p:sp>
    </p:spTree>
    <p:extLst>
      <p:ext uri="{BB962C8B-B14F-4D97-AF65-F5344CB8AC3E}">
        <p14:creationId xmlns:p14="http://schemas.microsoft.com/office/powerpoint/2010/main" val="19713318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4CBBB5-ACE4-8CA8-3BE2-DF8B1A9565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2045DE-F6CD-C13B-2E2D-1D67B8DE5143}"/>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67DBA6B7-E523-256B-CCFF-6B66EF88FD0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9615ED0-B103-73CC-AD0D-5BE40AF9BDED}"/>
              </a:ext>
            </a:extLst>
          </p:cNvPr>
          <p:cNvSpPr>
            <a:spLocks noGrp="1"/>
          </p:cNvSpPr>
          <p:nvPr>
            <p:ph type="sldNum" sz="quarter" idx="5"/>
          </p:nvPr>
        </p:nvSpPr>
        <p:spPr/>
        <p:txBody>
          <a:bodyPr/>
          <a:lstStyle/>
          <a:p>
            <a:fld id="{F5EA62C3-F454-4F5D-AAB0-802A83F207C1}" type="slidenum">
              <a:rPr lang="en-US" smtClean="0"/>
              <a:t>17</a:t>
            </a:fld>
            <a:endParaRPr lang="en-US"/>
          </a:p>
        </p:txBody>
      </p:sp>
    </p:spTree>
    <p:extLst>
      <p:ext uri="{BB962C8B-B14F-4D97-AF65-F5344CB8AC3E}">
        <p14:creationId xmlns:p14="http://schemas.microsoft.com/office/powerpoint/2010/main" val="27777391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56597-9CDC-F6DA-9ECF-1926A100E2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35B6DD-9736-E45B-DD99-1F5C8392B2F0}"/>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DB3E0C7E-B5B0-D81F-595E-BD518065728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500B8A5-7560-A74E-D2A7-6F2596E5B858}"/>
              </a:ext>
            </a:extLst>
          </p:cNvPr>
          <p:cNvSpPr>
            <a:spLocks noGrp="1"/>
          </p:cNvSpPr>
          <p:nvPr>
            <p:ph type="sldNum" sz="quarter" idx="5"/>
          </p:nvPr>
        </p:nvSpPr>
        <p:spPr/>
        <p:txBody>
          <a:bodyPr/>
          <a:lstStyle/>
          <a:p>
            <a:fld id="{F5EA62C3-F454-4F5D-AAB0-802A83F207C1}" type="slidenum">
              <a:rPr lang="en-US" smtClean="0"/>
              <a:t>18</a:t>
            </a:fld>
            <a:endParaRPr lang="en-US"/>
          </a:p>
        </p:txBody>
      </p:sp>
    </p:spTree>
    <p:extLst>
      <p:ext uri="{BB962C8B-B14F-4D97-AF65-F5344CB8AC3E}">
        <p14:creationId xmlns:p14="http://schemas.microsoft.com/office/powerpoint/2010/main" val="189954223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A70609-B3C9-E3B9-5BC7-6F7458FDA4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20F231-BCD8-1ED7-0D74-B9C10F41AB2B}"/>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CC7CC1DD-1A6C-B9A9-433E-EED872830BEE}"/>
              </a:ext>
            </a:extLst>
          </p:cNvPr>
          <p:cNvSpPr>
            <a:spLocks noGrp="1"/>
          </p:cNvSpPr>
          <p:nvPr>
            <p:ph type="body" idx="1"/>
          </p:nvPr>
        </p:nvSpPr>
        <p:spPr/>
        <p:txBody>
          <a:bodyPr/>
          <a:lstStyle/>
          <a:p>
            <a:r>
              <a:rPr lang="en-US" err="1"/>
              <a:t>Explicar</a:t>
            </a:r>
            <a:r>
              <a:rPr lang="en-US"/>
              <a:t> la base del </a:t>
            </a:r>
            <a:r>
              <a:rPr lang="en-US" err="1"/>
              <a:t>ciclo</a:t>
            </a:r>
            <a:r>
              <a:rPr lang="en-US"/>
              <a:t> de </a:t>
            </a:r>
            <a:r>
              <a:rPr lang="en-US" err="1"/>
              <a:t>vida</a:t>
            </a:r>
            <a:r>
              <a:rPr lang="en-US"/>
              <a:t> y </a:t>
            </a:r>
            <a:r>
              <a:rPr lang="en-US" err="1"/>
              <a:t>los</a:t>
            </a:r>
            <a:r>
              <a:rPr lang="en-US"/>
              <a:t> </a:t>
            </a:r>
            <a:r>
              <a:rPr lang="en-US" err="1"/>
              <a:t>niveles</a:t>
            </a:r>
            <a:r>
              <a:rPr lang="en-US"/>
              <a:t> de </a:t>
            </a:r>
            <a:r>
              <a:rPr lang="en-US" err="1"/>
              <a:t>madures</a:t>
            </a:r>
            <a:r>
              <a:rPr lang="en-US"/>
              <a:t>.</a:t>
            </a:r>
            <a:br>
              <a:rPr lang="en-US"/>
            </a:br>
            <a:r>
              <a:rPr lang="en-US"/>
              <a:t>*Validar </a:t>
            </a:r>
            <a:r>
              <a:rPr lang="en-US" err="1"/>
              <a:t>transversalmente</a:t>
            </a:r>
            <a:r>
              <a:rPr lang="en-US"/>
              <a:t> </a:t>
            </a:r>
            <a:r>
              <a:rPr lang="en-US" err="1"/>
              <a:t>que</a:t>
            </a:r>
            <a:r>
              <a:rPr lang="en-US"/>
              <a:t> </a:t>
            </a:r>
            <a:r>
              <a:rPr lang="en-US" err="1"/>
              <a:t>los</a:t>
            </a:r>
            <a:r>
              <a:rPr lang="en-US"/>
              <a:t> </a:t>
            </a:r>
            <a:r>
              <a:rPr lang="en-US" err="1"/>
              <a:t>niveles</a:t>
            </a:r>
            <a:r>
              <a:rPr lang="en-US"/>
              <a:t> de </a:t>
            </a:r>
            <a:r>
              <a:rPr lang="en-US" err="1"/>
              <a:t>madures</a:t>
            </a:r>
            <a:r>
              <a:rPr lang="en-US"/>
              <a:t> </a:t>
            </a:r>
            <a:r>
              <a:rPr lang="en-US" err="1"/>
              <a:t>esten</a:t>
            </a:r>
            <a:r>
              <a:rPr lang="en-US"/>
              <a:t> </a:t>
            </a:r>
            <a:r>
              <a:rPr lang="en-US" err="1"/>
              <a:t>estandarizados</a:t>
            </a:r>
            <a:r>
              <a:rPr lang="en-US"/>
              <a:t> para </a:t>
            </a:r>
            <a:r>
              <a:rPr lang="en-US" err="1"/>
              <a:t>toda</a:t>
            </a:r>
            <a:r>
              <a:rPr lang="en-US"/>
              <a:t> la lamina</a:t>
            </a:r>
          </a:p>
        </p:txBody>
      </p:sp>
      <p:sp>
        <p:nvSpPr>
          <p:cNvPr id="4" name="Slide Number Placeholder 3">
            <a:extLst>
              <a:ext uri="{FF2B5EF4-FFF2-40B4-BE49-F238E27FC236}">
                <a16:creationId xmlns:a16="http://schemas.microsoft.com/office/drawing/2014/main" id="{E63156C4-CAB0-1453-8432-178449142280}"/>
              </a:ext>
            </a:extLst>
          </p:cNvPr>
          <p:cNvSpPr>
            <a:spLocks noGrp="1"/>
          </p:cNvSpPr>
          <p:nvPr>
            <p:ph type="sldNum" sz="quarter" idx="5"/>
          </p:nvPr>
        </p:nvSpPr>
        <p:spPr/>
        <p:txBody>
          <a:bodyPr/>
          <a:lstStyle/>
          <a:p>
            <a:fld id="{F5EA62C3-F454-4F5D-AAB0-802A83F207C1}" type="slidenum">
              <a:rPr lang="en-US" smtClean="0"/>
              <a:t>19</a:t>
            </a:fld>
            <a:endParaRPr lang="en-US"/>
          </a:p>
        </p:txBody>
      </p:sp>
    </p:spTree>
    <p:extLst>
      <p:ext uri="{BB962C8B-B14F-4D97-AF65-F5344CB8AC3E}">
        <p14:creationId xmlns:p14="http://schemas.microsoft.com/office/powerpoint/2010/main" val="205573291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C87FB0-93F7-CDE7-78D2-DA421AD953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F8EFF1-3331-5BBA-12EB-4587524F8E2C}"/>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E6D6CCE9-54F6-62C5-C33D-5DA47852A3F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577E29F-AF6B-96AB-F3FD-D711DDE1D200}"/>
              </a:ext>
            </a:extLst>
          </p:cNvPr>
          <p:cNvSpPr>
            <a:spLocks noGrp="1"/>
          </p:cNvSpPr>
          <p:nvPr>
            <p:ph type="sldNum" sz="quarter" idx="5"/>
          </p:nvPr>
        </p:nvSpPr>
        <p:spPr/>
        <p:txBody>
          <a:bodyPr/>
          <a:lstStyle/>
          <a:p>
            <a:fld id="{F5EA62C3-F454-4F5D-AAB0-802A83F207C1}" type="slidenum">
              <a:rPr lang="en-US" smtClean="0"/>
              <a:t>20</a:t>
            </a:fld>
            <a:endParaRPr lang="en-US"/>
          </a:p>
        </p:txBody>
      </p:sp>
    </p:spTree>
    <p:extLst>
      <p:ext uri="{BB962C8B-B14F-4D97-AF65-F5344CB8AC3E}">
        <p14:creationId xmlns:p14="http://schemas.microsoft.com/office/powerpoint/2010/main" val="62568337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6445ED-30BD-C10D-F0A2-5966570990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A2AD7D-8847-F169-902D-D43E6BE38395}"/>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B354243B-C9FE-37B6-1AE0-57177409412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4271B05-6A32-7424-4BF2-D0FC49B2452F}"/>
              </a:ext>
            </a:extLst>
          </p:cNvPr>
          <p:cNvSpPr>
            <a:spLocks noGrp="1"/>
          </p:cNvSpPr>
          <p:nvPr>
            <p:ph type="sldNum" sz="quarter" idx="5"/>
          </p:nvPr>
        </p:nvSpPr>
        <p:spPr/>
        <p:txBody>
          <a:bodyPr/>
          <a:lstStyle/>
          <a:p>
            <a:fld id="{F5EA62C3-F454-4F5D-AAB0-802A83F207C1}" type="slidenum">
              <a:rPr lang="en-US" smtClean="0"/>
              <a:t>21</a:t>
            </a:fld>
            <a:endParaRPr lang="en-US"/>
          </a:p>
        </p:txBody>
      </p:sp>
    </p:spTree>
    <p:extLst>
      <p:ext uri="{BB962C8B-B14F-4D97-AF65-F5344CB8AC3E}">
        <p14:creationId xmlns:p14="http://schemas.microsoft.com/office/powerpoint/2010/main" val="86374826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E9A8AE-2FFB-C9A1-A989-56DE6196CA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02BA5A-DA2B-C894-CBCB-5D08CB55B5F7}"/>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5D651ADF-F1A4-6F16-08AB-7A9443B00B9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E919E09-B3E9-57BF-14F9-E6E196389A20}"/>
              </a:ext>
            </a:extLst>
          </p:cNvPr>
          <p:cNvSpPr>
            <a:spLocks noGrp="1"/>
          </p:cNvSpPr>
          <p:nvPr>
            <p:ph type="sldNum" sz="quarter" idx="5"/>
          </p:nvPr>
        </p:nvSpPr>
        <p:spPr/>
        <p:txBody>
          <a:bodyPr/>
          <a:lstStyle/>
          <a:p>
            <a:fld id="{F5EA62C3-F454-4F5D-AAB0-802A83F207C1}" type="slidenum">
              <a:rPr lang="en-US" smtClean="0"/>
              <a:t>22</a:t>
            </a:fld>
            <a:endParaRPr lang="en-US"/>
          </a:p>
        </p:txBody>
      </p:sp>
    </p:spTree>
    <p:extLst>
      <p:ext uri="{BB962C8B-B14F-4D97-AF65-F5344CB8AC3E}">
        <p14:creationId xmlns:p14="http://schemas.microsoft.com/office/powerpoint/2010/main" val="17508097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16CAF0-F13B-1815-0211-266F78210A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9E86F9-19FE-683A-1D36-25911FE9397A}"/>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ED30D374-8624-203B-651D-5EB01E3C779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4022B88-0741-D4E1-F6D7-6526656A73E1}"/>
              </a:ext>
            </a:extLst>
          </p:cNvPr>
          <p:cNvSpPr>
            <a:spLocks noGrp="1"/>
          </p:cNvSpPr>
          <p:nvPr>
            <p:ph type="sldNum" sz="quarter" idx="5"/>
          </p:nvPr>
        </p:nvSpPr>
        <p:spPr/>
        <p:txBody>
          <a:bodyPr/>
          <a:lstStyle/>
          <a:p>
            <a:fld id="{F5EA62C3-F454-4F5D-AAB0-802A83F207C1}" type="slidenum">
              <a:rPr lang="en-US" smtClean="0"/>
              <a:t>23</a:t>
            </a:fld>
            <a:endParaRPr lang="en-US"/>
          </a:p>
        </p:txBody>
      </p:sp>
    </p:spTree>
    <p:extLst>
      <p:ext uri="{BB962C8B-B14F-4D97-AF65-F5344CB8AC3E}">
        <p14:creationId xmlns:p14="http://schemas.microsoft.com/office/powerpoint/2010/main" val="71726493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EAF244-7CD1-FE3D-33AB-12DA1A11E5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C0C605-E225-608E-1D44-6C3CA66E6A68}"/>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EAC758D9-FF5E-DC2D-2ABE-75E4CFCD611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73C5C42-1E21-7A4F-2EE6-B570E56E0459}"/>
              </a:ext>
            </a:extLst>
          </p:cNvPr>
          <p:cNvSpPr>
            <a:spLocks noGrp="1"/>
          </p:cNvSpPr>
          <p:nvPr>
            <p:ph type="sldNum" sz="quarter" idx="5"/>
          </p:nvPr>
        </p:nvSpPr>
        <p:spPr/>
        <p:txBody>
          <a:bodyPr/>
          <a:lstStyle/>
          <a:p>
            <a:fld id="{F5EA62C3-F454-4F5D-AAB0-802A83F207C1}" type="slidenum">
              <a:rPr lang="en-US" smtClean="0"/>
              <a:t>24</a:t>
            </a:fld>
            <a:endParaRPr lang="en-US"/>
          </a:p>
        </p:txBody>
      </p:sp>
    </p:spTree>
    <p:extLst>
      <p:ext uri="{BB962C8B-B14F-4D97-AF65-F5344CB8AC3E}">
        <p14:creationId xmlns:p14="http://schemas.microsoft.com/office/powerpoint/2010/main" val="15416821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72B3D8-D91E-3977-E2BD-C4735852F7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B4112A-4FBE-605A-B8F2-3E8C59DA0D17}"/>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15DD39E9-4D96-78A7-6784-40B4AD20886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6FE1B29-B3EF-4BFE-3EA9-024390626378}"/>
              </a:ext>
            </a:extLst>
          </p:cNvPr>
          <p:cNvSpPr>
            <a:spLocks noGrp="1"/>
          </p:cNvSpPr>
          <p:nvPr>
            <p:ph type="sldNum" sz="quarter" idx="5"/>
          </p:nvPr>
        </p:nvSpPr>
        <p:spPr/>
        <p:txBody>
          <a:bodyPr/>
          <a:lstStyle/>
          <a:p>
            <a:fld id="{F5EA62C3-F454-4F5D-AAB0-802A83F207C1}" type="slidenum">
              <a:rPr lang="en-US" smtClean="0"/>
              <a:t>25</a:t>
            </a:fld>
            <a:endParaRPr lang="en-US"/>
          </a:p>
        </p:txBody>
      </p:sp>
    </p:spTree>
    <p:extLst>
      <p:ext uri="{BB962C8B-B14F-4D97-AF65-F5344CB8AC3E}">
        <p14:creationId xmlns:p14="http://schemas.microsoft.com/office/powerpoint/2010/main" val="307014484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9A7058-A32E-53C5-D936-3048FC9018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9DCF1C-84D7-18E2-A161-F90F6F4EB9A6}"/>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5BC2F8A4-1EB6-1075-A220-5D89C0D53F75}"/>
              </a:ext>
            </a:extLst>
          </p:cNvPr>
          <p:cNvSpPr>
            <a:spLocks noGrp="1"/>
          </p:cNvSpPr>
          <p:nvPr>
            <p:ph type="body" idx="1"/>
          </p:nvPr>
        </p:nvSpPr>
        <p:spPr/>
        <p:txBody>
          <a:bodyPr/>
          <a:lstStyle/>
          <a:p>
            <a:r>
              <a:rPr lang="en-US"/>
              <a:t>*Poner Tambien lo </a:t>
            </a:r>
            <a:r>
              <a:rPr lang="en-US" err="1"/>
              <a:t>externo</a:t>
            </a:r>
            <a:r>
              <a:rPr lang="en-US"/>
              <a:t> (</a:t>
            </a:r>
            <a:r>
              <a:rPr lang="en-US" err="1"/>
              <a:t>Proveedores</a:t>
            </a:r>
            <a:r>
              <a:rPr lang="en-US"/>
              <a:t>, </a:t>
            </a:r>
            <a:r>
              <a:rPr lang="en-US" err="1"/>
              <a:t>etc</a:t>
            </a:r>
            <a:r>
              <a:rPr lang="en-US"/>
              <a:t>)</a:t>
            </a:r>
          </a:p>
          <a:p>
            <a:endParaRPr lang="en-US"/>
          </a:p>
        </p:txBody>
      </p:sp>
      <p:sp>
        <p:nvSpPr>
          <p:cNvPr id="4" name="Slide Number Placeholder 3">
            <a:extLst>
              <a:ext uri="{FF2B5EF4-FFF2-40B4-BE49-F238E27FC236}">
                <a16:creationId xmlns:a16="http://schemas.microsoft.com/office/drawing/2014/main" id="{EB74BD6D-CE53-8FD9-94F9-0F0E177150A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EA62C3-F454-4F5D-AAB0-802A83F207C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4156935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45B432-8BA7-8DDC-DF46-CFC05C92839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0C89165-27F4-31D3-F6FF-3660B42EE95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3243831-F12F-6F13-533C-3411121D8A9F}"/>
              </a:ext>
            </a:extLst>
          </p:cNvPr>
          <p:cNvSpPr>
            <a:spLocks noGrp="1"/>
          </p:cNvSpPr>
          <p:nvPr>
            <p:ph type="body" idx="1"/>
          </p:nvPr>
        </p:nvSpPr>
        <p:spPr/>
        <p:txBody>
          <a:bodyPr/>
          <a:lstStyle/>
          <a:p>
            <a:endParaRPr lang="en-US"/>
          </a:p>
        </p:txBody>
      </p:sp>
      <p:sp>
        <p:nvSpPr>
          <p:cNvPr id="4" name="Marcador de número de diapositiva 3">
            <a:extLst>
              <a:ext uri="{FF2B5EF4-FFF2-40B4-BE49-F238E27FC236}">
                <a16:creationId xmlns:a16="http://schemas.microsoft.com/office/drawing/2014/main" id="{3FA76DAE-AD06-5F21-C382-5AFA78DAD15D}"/>
              </a:ext>
            </a:extLst>
          </p:cNvPr>
          <p:cNvSpPr>
            <a:spLocks noGrp="1"/>
          </p:cNvSpPr>
          <p:nvPr>
            <p:ph type="sldNum" sz="quarter" idx="5"/>
          </p:nvPr>
        </p:nvSpPr>
        <p:spPr/>
        <p:txBody>
          <a:bodyPr/>
          <a:lstStyle/>
          <a:p>
            <a:fld id="{3ABF52DC-EC59-4DE1-BAC7-23B3848E6B8A}" type="slidenum">
              <a:rPr lang="en-US" smtClean="0"/>
              <a:pPr/>
              <a:t>27</a:t>
            </a:fld>
            <a:endParaRPr lang="en-US"/>
          </a:p>
        </p:txBody>
      </p:sp>
    </p:spTree>
    <p:extLst>
      <p:ext uri="{BB962C8B-B14F-4D97-AF65-F5344CB8AC3E}">
        <p14:creationId xmlns:p14="http://schemas.microsoft.com/office/powerpoint/2010/main" val="177456317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17896B-8272-FD14-9851-4695A057FD38}"/>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7B234D63-2889-5AC8-E4DC-64DE2EDAC74A}"/>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3FFFEBDF-55FD-B50F-F310-15017BBC7BDB}"/>
              </a:ext>
            </a:extLst>
          </p:cNvPr>
          <p:cNvSpPr>
            <a:spLocks noGrp="1"/>
          </p:cNvSpPr>
          <p:nvPr>
            <p:ph type="body" idx="1"/>
          </p:nvPr>
        </p:nvSpPr>
        <p:spPr/>
        <p:txBody>
          <a:bodyPr/>
          <a:lstStyle/>
          <a:p>
            <a:r>
              <a:rPr lang="en-US" b="1"/>
              <a:t>AGR-CORP-25-REG-01 · Cloud ECM + Rate Case Advisor</a:t>
            </a:r>
            <a:r>
              <a:rPr lang="en-US"/>
              <a:t> </a:t>
            </a:r>
            <a:endParaRPr lang="pt-BR"/>
          </a:p>
          <a:p>
            <a:r>
              <a:rPr lang="en-US"/>
              <a:t>Regulatory project (rate case support) </a:t>
            </a:r>
          </a:p>
          <a:p>
            <a:r>
              <a:rPr lang="en-US"/>
              <a:t>APR 2026 IT Avangrid Project Status Report, Slide 10</a:t>
            </a:r>
          </a:p>
          <a:p>
            <a:endParaRPr lang="en-US"/>
          </a:p>
          <a:p>
            <a:r>
              <a:rPr lang="en-US" b="1"/>
              <a:t>AGR-2026-NET-IT (SG)-01 · MV90 Upgrade UIL</a:t>
            </a:r>
            <a:endParaRPr lang="en-US"/>
          </a:p>
          <a:p>
            <a:r>
              <a:rPr lang="en-US"/>
              <a:t>Major upgrade — metering infrastructure</a:t>
            </a:r>
          </a:p>
          <a:p>
            <a:r>
              <a:rPr lang="en-US"/>
              <a:t>APR 2026 IT Avangrid Project Status Report, Slide 6</a:t>
            </a:r>
          </a:p>
          <a:p>
            <a:endParaRPr lang="en-US">
              <a:latin typeface="Aptos" panose="02110004020202020204"/>
              <a:ea typeface="Calibri"/>
              <a:cs typeface="Calibri"/>
            </a:endParaRPr>
          </a:p>
          <a:p>
            <a:r>
              <a:rPr lang="en-US" b="1"/>
              <a:t>AGR-NET-23-IT-02 · Scheduler Project</a:t>
            </a:r>
            <a:endParaRPr lang="en-US"/>
          </a:p>
          <a:p>
            <a:r>
              <a:rPr lang="en-US"/>
              <a:t>New platform release (scheduling)</a:t>
            </a:r>
          </a:p>
          <a:p>
            <a:r>
              <a:rPr lang="en-US"/>
              <a:t>APR 2026 IT Avangrid Project Status Report, Slide 3</a:t>
            </a:r>
          </a:p>
          <a:p>
            <a:endParaRPr lang="en-US">
              <a:latin typeface="Aptos" panose="02110004020202020204"/>
              <a:ea typeface="Calibri"/>
              <a:cs typeface="Calibri"/>
            </a:endParaRPr>
          </a:p>
          <a:p>
            <a:endParaRPr lang="en-US">
              <a:latin typeface="Aptos" panose="02110004020202020204"/>
              <a:ea typeface="Calibri"/>
              <a:cs typeface="Calibri"/>
            </a:endParaRPr>
          </a:p>
          <a:p>
            <a:r>
              <a:rPr lang="en-US" b="1"/>
              <a:t>CX Platform Updates</a:t>
            </a:r>
            <a:endParaRPr lang="en-US"/>
          </a:p>
          <a:p>
            <a:r>
              <a:rPr lang="en-US"/>
              <a:t>Contact Center / CRM module tweaks</a:t>
            </a:r>
          </a:p>
          <a:p>
            <a:r>
              <a:rPr lang="en-US"/>
              <a:t>Inferred from Customer Services sub-team (Slide 19)</a:t>
            </a:r>
          </a:p>
          <a:p>
            <a:endParaRPr lang="en-US">
              <a:latin typeface="Aptos" panose="02110004020202020204"/>
              <a:ea typeface="Calibri"/>
              <a:cs typeface="Calibri"/>
            </a:endParaRPr>
          </a:p>
          <a:p>
            <a:endParaRPr lang="en-US">
              <a:latin typeface="Aptos" panose="02110004020202020204"/>
              <a:ea typeface="Calibri"/>
              <a:cs typeface="Calibri"/>
            </a:endParaRPr>
          </a:p>
          <a:p>
            <a:r>
              <a:rPr lang="en-US" b="1"/>
              <a:t>IRTH (Locate Services)</a:t>
            </a:r>
            <a:endParaRPr lang="en-US"/>
          </a:p>
          <a:p>
            <a:r>
              <a:rPr lang="en-US"/>
              <a:t>Service platform update</a:t>
            </a:r>
          </a:p>
          <a:p>
            <a:r>
              <a:rPr lang="en-US"/>
              <a:t>APR 2026 IT</a:t>
            </a:r>
          </a:p>
          <a:p>
            <a:endParaRPr lang="en-US">
              <a:solidFill>
                <a:srgbClr val="000000"/>
              </a:solidFill>
              <a:latin typeface="Aptos" panose="02110004020202020204"/>
              <a:ea typeface="Calibri"/>
              <a:cs typeface="Calibri"/>
            </a:endParaRPr>
          </a:p>
          <a:p>
            <a:endParaRPr lang="en-US">
              <a:solidFill>
                <a:srgbClr val="000000"/>
              </a:solidFill>
              <a:latin typeface="Aptos" panose="02110004020202020204"/>
              <a:ea typeface="Calibri"/>
              <a:cs typeface="Calibri"/>
            </a:endParaRPr>
          </a:p>
          <a:p>
            <a:endParaRPr lang="en-US" b="1">
              <a:solidFill>
                <a:srgbClr val="BFBFBF"/>
              </a:solidFill>
              <a:highlight>
                <a:srgbClr val="191A1B"/>
              </a:highlight>
              <a:latin typeface="Aptos" panose="02110004020202020204"/>
              <a:ea typeface="Calibri"/>
              <a:cs typeface="Calibri"/>
            </a:endParaRPr>
          </a:p>
          <a:p>
            <a:endParaRPr lang="en-US">
              <a:latin typeface="Calibri"/>
              <a:ea typeface="Calibri"/>
              <a:cs typeface="Calibri"/>
            </a:endParaRPr>
          </a:p>
        </p:txBody>
      </p:sp>
      <p:sp>
        <p:nvSpPr>
          <p:cNvPr id="4" name="Espaço Reservado para Número de Slide 3">
            <a:extLst>
              <a:ext uri="{FF2B5EF4-FFF2-40B4-BE49-F238E27FC236}">
                <a16:creationId xmlns:a16="http://schemas.microsoft.com/office/drawing/2014/main" id="{5C3E274D-7A4B-ED9B-2542-4357BF3EC668}"/>
              </a:ext>
            </a:extLst>
          </p:cNvPr>
          <p:cNvSpPr>
            <a:spLocks noGrp="1"/>
          </p:cNvSpPr>
          <p:nvPr>
            <p:ph type="sldNum" sz="quarter" idx="5"/>
          </p:nvPr>
        </p:nvSpPr>
        <p:spPr/>
        <p:txBody>
          <a:bodyPr/>
          <a:lstStyle/>
          <a:p>
            <a:fld id="{BC0CFED2-9709-4FC9-ABC4-AA1D773337AA}" type="slidenum">
              <a:rPr lang="en-US" smtClean="0"/>
              <a:t>28</a:t>
            </a:fld>
            <a:endParaRPr lang="en-US"/>
          </a:p>
        </p:txBody>
      </p:sp>
    </p:spTree>
    <p:extLst>
      <p:ext uri="{BB962C8B-B14F-4D97-AF65-F5344CB8AC3E}">
        <p14:creationId xmlns:p14="http://schemas.microsoft.com/office/powerpoint/2010/main" val="210154322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106D9B-142E-6799-099F-87491BE85D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67EF8F-57B3-0406-5572-CF7B70D0A6BE}"/>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A4BEDE98-0DC3-8D2C-12A3-8B53D37B0B9B}"/>
              </a:ext>
            </a:extLst>
          </p:cNvPr>
          <p:cNvSpPr>
            <a:spLocks noGrp="1"/>
          </p:cNvSpPr>
          <p:nvPr>
            <p:ph type="body" idx="1"/>
          </p:nvPr>
        </p:nvSpPr>
        <p:spPr/>
        <p:txBody>
          <a:bodyPr/>
          <a:lstStyle/>
          <a:p>
            <a:r>
              <a:rPr lang="en-US"/>
              <a:t>*Poner Tambien lo </a:t>
            </a:r>
            <a:r>
              <a:rPr lang="en-US" err="1"/>
              <a:t>externo</a:t>
            </a:r>
            <a:r>
              <a:rPr lang="en-US"/>
              <a:t> (</a:t>
            </a:r>
            <a:r>
              <a:rPr lang="en-US" err="1"/>
              <a:t>Proveedores</a:t>
            </a:r>
            <a:r>
              <a:rPr lang="en-US"/>
              <a:t>, </a:t>
            </a:r>
            <a:r>
              <a:rPr lang="en-US" err="1"/>
              <a:t>etc</a:t>
            </a:r>
            <a:r>
              <a:rPr lang="en-US"/>
              <a:t>)</a:t>
            </a:r>
          </a:p>
          <a:p>
            <a:endParaRPr lang="en-US"/>
          </a:p>
        </p:txBody>
      </p:sp>
      <p:sp>
        <p:nvSpPr>
          <p:cNvPr id="4" name="Slide Number Placeholder 3">
            <a:extLst>
              <a:ext uri="{FF2B5EF4-FFF2-40B4-BE49-F238E27FC236}">
                <a16:creationId xmlns:a16="http://schemas.microsoft.com/office/drawing/2014/main" id="{46859E20-5AE2-FD3C-FF18-FC0E2503E93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EA62C3-F454-4F5D-AAB0-802A83F207C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20452757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52348A-2A5F-88B3-D195-26B99042CDD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AE55C54-FF4E-8E63-C29C-CAEE55BF198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E828273-30D2-6026-9330-480042C307FB}"/>
              </a:ext>
            </a:extLst>
          </p:cNvPr>
          <p:cNvSpPr>
            <a:spLocks noGrp="1"/>
          </p:cNvSpPr>
          <p:nvPr>
            <p:ph type="body" idx="1"/>
          </p:nvPr>
        </p:nvSpPr>
        <p:spPr/>
        <p:txBody>
          <a:bodyPr/>
          <a:lstStyle/>
          <a:p>
            <a:endParaRPr lang="en-US"/>
          </a:p>
        </p:txBody>
      </p:sp>
      <p:sp>
        <p:nvSpPr>
          <p:cNvPr id="4" name="Marcador de número de diapositiva 3">
            <a:extLst>
              <a:ext uri="{FF2B5EF4-FFF2-40B4-BE49-F238E27FC236}">
                <a16:creationId xmlns:a16="http://schemas.microsoft.com/office/drawing/2014/main" id="{05F56C5D-C203-C42E-35BB-0857415F3282}"/>
              </a:ext>
            </a:extLst>
          </p:cNvPr>
          <p:cNvSpPr>
            <a:spLocks noGrp="1"/>
          </p:cNvSpPr>
          <p:nvPr>
            <p:ph type="sldNum" sz="quarter" idx="5"/>
          </p:nvPr>
        </p:nvSpPr>
        <p:spPr/>
        <p:txBody>
          <a:bodyPr/>
          <a:lstStyle/>
          <a:p>
            <a:fld id="{3ABF52DC-EC59-4DE1-BAC7-23B3848E6B8A}" type="slidenum">
              <a:rPr lang="en-US" smtClean="0"/>
              <a:pPr/>
              <a:t>30</a:t>
            </a:fld>
            <a:endParaRPr lang="en-US"/>
          </a:p>
        </p:txBody>
      </p:sp>
    </p:spTree>
    <p:extLst>
      <p:ext uri="{BB962C8B-B14F-4D97-AF65-F5344CB8AC3E}">
        <p14:creationId xmlns:p14="http://schemas.microsoft.com/office/powerpoint/2010/main" val="186190889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a:p>
        </p:txBody>
      </p:sp>
      <p:sp>
        <p:nvSpPr>
          <p:cNvPr id="4" name="Marcador de número de diapositiva 3"/>
          <p:cNvSpPr>
            <a:spLocks noGrp="1"/>
          </p:cNvSpPr>
          <p:nvPr>
            <p:ph type="sldNum" sz="quarter" idx="5"/>
          </p:nvPr>
        </p:nvSpPr>
        <p:spPr/>
        <p:txBody>
          <a:bodyPr/>
          <a:lstStyle/>
          <a:p>
            <a:fld id="{BC0CFED2-9709-4FC9-ABC4-AA1D773337AA}" type="slidenum">
              <a:rPr lang="en-US" smtClean="0"/>
              <a:t>31</a:t>
            </a:fld>
            <a:endParaRPr lang="en-US"/>
          </a:p>
        </p:txBody>
      </p:sp>
    </p:spTree>
    <p:extLst>
      <p:ext uri="{BB962C8B-B14F-4D97-AF65-F5344CB8AC3E}">
        <p14:creationId xmlns:p14="http://schemas.microsoft.com/office/powerpoint/2010/main" val="8364040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C0CFED2-9709-4FC9-ABC4-AA1D773337AA}" type="slidenum">
              <a:rPr lang="en-US" smtClean="0"/>
              <a:t>35</a:t>
            </a:fld>
            <a:endParaRPr lang="en-US"/>
          </a:p>
        </p:txBody>
      </p:sp>
    </p:spTree>
    <p:extLst>
      <p:ext uri="{BB962C8B-B14F-4D97-AF65-F5344CB8AC3E}">
        <p14:creationId xmlns:p14="http://schemas.microsoft.com/office/powerpoint/2010/main" val="150165106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26A6F7-A420-A3A1-C050-3D3331A359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57B969-1BA4-2005-286C-2048C5BAEE92}"/>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EFB2FB85-BD6C-2D21-4A6C-AAE358CA808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5DD62F8-D009-978B-87C0-BDA4C5A60A24}"/>
              </a:ext>
            </a:extLst>
          </p:cNvPr>
          <p:cNvSpPr>
            <a:spLocks noGrp="1"/>
          </p:cNvSpPr>
          <p:nvPr>
            <p:ph type="sldNum" sz="quarter" idx="5"/>
          </p:nvPr>
        </p:nvSpPr>
        <p:spPr/>
        <p:txBody>
          <a:bodyPr/>
          <a:lstStyle/>
          <a:p>
            <a:fld id="{F5EA62C3-F454-4F5D-AAB0-802A83F207C1}" type="slidenum">
              <a:rPr lang="en-US" smtClean="0"/>
              <a:t>38</a:t>
            </a:fld>
            <a:endParaRPr lang="en-US"/>
          </a:p>
        </p:txBody>
      </p:sp>
    </p:spTree>
    <p:extLst>
      <p:ext uri="{BB962C8B-B14F-4D97-AF65-F5344CB8AC3E}">
        <p14:creationId xmlns:p14="http://schemas.microsoft.com/office/powerpoint/2010/main" val="7347850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639A31-29E9-64A6-349F-271D47D56F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2AEF08-ACD9-337D-5551-2860247B7D3F}"/>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C46ED4F2-33AC-2042-EB79-C7C49220017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93A276F-EC5B-1C7E-EFAD-4DD9451AB30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EA62C3-F454-4F5D-AAB0-802A83F207C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358613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F7B30-FBD5-7920-F77C-8DE9F651C0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ADF4DC-6A1B-7D36-5B56-E9D6B108D9C5}"/>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8D629B8E-E767-EA49-B2C5-5B884A05090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87E3DF0-FCFC-B762-41B9-9DE78375C09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EA62C3-F454-4F5D-AAB0-802A83F207C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89195188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6CF84F-10A1-27CD-4AED-474606F639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54965E-BE39-97FB-AA1D-FCFC55D848C6}"/>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E21EA953-42AA-CCB9-D68D-9C832FED782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DDA9704-4FB6-B7A5-8D2B-D8847554CEB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EA62C3-F454-4F5D-AAB0-802A83F207C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7788836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FD06A7-A324-7938-3028-6AA14E7556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EB1062-CABD-53D2-E8AB-C8AAE475B59F}"/>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59CE7F06-49D8-7D6D-6B59-62199E91324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C67143C-1E3C-357D-42CD-CB613BD855EC}"/>
              </a:ext>
            </a:extLst>
          </p:cNvPr>
          <p:cNvSpPr>
            <a:spLocks noGrp="1"/>
          </p:cNvSpPr>
          <p:nvPr>
            <p:ph type="sldNum" sz="quarter" idx="5"/>
          </p:nvPr>
        </p:nvSpPr>
        <p:spPr/>
        <p:txBody>
          <a:bodyPr/>
          <a:lstStyle/>
          <a:p>
            <a:fld id="{F5EA62C3-F454-4F5D-AAB0-802A83F207C1}" type="slidenum">
              <a:rPr lang="en-US" smtClean="0"/>
              <a:t>43</a:t>
            </a:fld>
            <a:endParaRPr lang="en-US"/>
          </a:p>
        </p:txBody>
      </p:sp>
    </p:spTree>
    <p:extLst>
      <p:ext uri="{BB962C8B-B14F-4D97-AF65-F5344CB8AC3E}">
        <p14:creationId xmlns:p14="http://schemas.microsoft.com/office/powerpoint/2010/main" val="257092251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BA2442-7A5A-47F5-D2AB-4D123603978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5890E1E-7657-EE10-72CD-267C7E5B7DC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6D8F9A7-3731-8226-60B6-70D4A507F966}"/>
              </a:ext>
            </a:extLst>
          </p:cNvPr>
          <p:cNvSpPr>
            <a:spLocks noGrp="1"/>
          </p:cNvSpPr>
          <p:nvPr>
            <p:ph type="body" idx="1"/>
          </p:nvPr>
        </p:nvSpPr>
        <p:spPr/>
        <p:txBody>
          <a:bodyPr/>
          <a:lstStyle/>
          <a:p>
            <a:pPr lvl="0">
              <a:defRPr/>
            </a:pPr>
            <a:r>
              <a:rPr lang="en-US" sz="1200">
                <a:solidFill>
                  <a:srgbClr val="505050"/>
                </a:solidFill>
                <a:latin typeface="Arial" panose="020B0604020202020204" pitchFamily="34" charset="0"/>
                <a:cs typeface="Arial" panose="020B0604020202020204" pitchFamily="34" charset="0"/>
              </a:rPr>
              <a:t>1.Single Front Door</a:t>
            </a:r>
          </a:p>
          <a:p>
            <a:pPr lvl="0">
              <a:defRPr/>
            </a:pPr>
            <a:r>
              <a:rPr lang="en-US" sz="1200">
                <a:solidFill>
                  <a:srgbClr val="505050"/>
                </a:solidFill>
                <a:latin typeface="Arial" panose="020B0604020202020204" pitchFamily="34" charset="0"/>
                <a:cs typeface="Arial" panose="020B0604020202020204" pitchFamily="34" charset="0"/>
              </a:rPr>
              <a:t>2.Value-Based Prioritization</a:t>
            </a:r>
          </a:p>
          <a:p>
            <a:pPr lvl="0">
              <a:defRPr/>
            </a:pPr>
            <a:r>
              <a:rPr lang="en-US" sz="1200">
                <a:solidFill>
                  <a:srgbClr val="505050"/>
                </a:solidFill>
                <a:latin typeface="Arial" panose="020B0604020202020204" pitchFamily="34" charset="0"/>
                <a:cs typeface="Arial" panose="020B0604020202020204" pitchFamily="34" charset="0"/>
              </a:rPr>
              <a:t>3.Capacity-Aware Assignment</a:t>
            </a:r>
          </a:p>
          <a:p>
            <a:pPr lvl="0">
              <a:defRPr/>
            </a:pPr>
            <a:r>
              <a:rPr lang="en-US" sz="1200">
                <a:solidFill>
                  <a:srgbClr val="505050"/>
                </a:solidFill>
                <a:latin typeface="Arial" panose="020B0604020202020204" pitchFamily="34" charset="0"/>
                <a:cs typeface="Arial" panose="020B0604020202020204" pitchFamily="34" charset="0"/>
              </a:rPr>
              <a:t>4.Standardized Execution (Jira)</a:t>
            </a:r>
          </a:p>
          <a:p>
            <a:pPr lvl="0">
              <a:defRPr/>
            </a:pPr>
            <a:r>
              <a:rPr lang="en-US" sz="1200">
                <a:solidFill>
                  <a:srgbClr val="505050"/>
                </a:solidFill>
                <a:latin typeface="Arial" panose="020B0604020202020204" pitchFamily="34" charset="0"/>
                <a:cs typeface="Arial" panose="020B0604020202020204" pitchFamily="34" charset="0"/>
              </a:rPr>
              <a:t>5.Integrated Toolchain</a:t>
            </a:r>
          </a:p>
          <a:p>
            <a:pPr lvl="0">
              <a:defRPr/>
            </a:pPr>
            <a:r>
              <a:rPr lang="en-US" sz="1200">
                <a:solidFill>
                  <a:srgbClr val="505050"/>
                </a:solidFill>
                <a:latin typeface="Arial" panose="020B0604020202020204" pitchFamily="34" charset="0"/>
                <a:cs typeface="Arial" panose="020B0604020202020204" pitchFamily="34" charset="0"/>
              </a:rPr>
              <a:t>6.Automated Reporting </a:t>
            </a:r>
          </a:p>
          <a:p>
            <a:pPr lvl="0">
              <a:defRPr/>
            </a:pPr>
            <a:r>
              <a:rPr lang="en-US" sz="1200">
                <a:solidFill>
                  <a:srgbClr val="505050"/>
                </a:solidFill>
                <a:latin typeface="Arial" panose="020B0604020202020204" pitchFamily="34" charset="0"/>
                <a:cs typeface="Arial" panose="020B0604020202020204" pitchFamily="34" charset="0"/>
              </a:rPr>
              <a:t>7.Defined RACI per Lifecycle Phase</a:t>
            </a:r>
          </a:p>
          <a:p>
            <a:pPr lvl="0">
              <a:defRPr/>
            </a:pPr>
            <a:r>
              <a:rPr lang="en-US" sz="1200">
                <a:solidFill>
                  <a:srgbClr val="505050"/>
                </a:solidFill>
                <a:latin typeface="Arial" panose="020B0604020202020204" pitchFamily="34" charset="0"/>
                <a:cs typeface="Arial" panose="020B0604020202020204" pitchFamily="34" charset="0"/>
              </a:rPr>
              <a:t>8.Standardized Execution Model</a:t>
            </a:r>
            <a:endParaRPr lang="es-MX" sz="1200">
              <a:solidFill>
                <a:srgbClr val="505050"/>
              </a:solidFill>
              <a:latin typeface="Arial" panose="020B0604020202020204" pitchFamily="34" charset="0"/>
              <a:cs typeface="Arial" panose="020B0604020202020204" pitchFamily="34" charset="0"/>
            </a:endParaRPr>
          </a:p>
        </p:txBody>
      </p:sp>
      <p:sp>
        <p:nvSpPr>
          <p:cNvPr id="4" name="Marcador de número de diapositiva 3">
            <a:extLst>
              <a:ext uri="{FF2B5EF4-FFF2-40B4-BE49-F238E27FC236}">
                <a16:creationId xmlns:a16="http://schemas.microsoft.com/office/drawing/2014/main" id="{BF77D197-EA37-9846-E0A4-98C78F375569}"/>
              </a:ext>
            </a:extLst>
          </p:cNvPr>
          <p:cNvSpPr>
            <a:spLocks noGrp="1"/>
          </p:cNvSpPr>
          <p:nvPr>
            <p:ph type="sldNum" sz="quarter" idx="5"/>
          </p:nvPr>
        </p:nvSpPr>
        <p:spPr/>
        <p:txBody>
          <a:bodyPr/>
          <a:lstStyle/>
          <a:p>
            <a:fld id="{BC0CFED2-9709-4FC9-ABC4-AA1D773337AA}" type="slidenum">
              <a:rPr lang="en-US" smtClean="0"/>
              <a:t>54</a:t>
            </a:fld>
            <a:endParaRPr lang="en-US"/>
          </a:p>
        </p:txBody>
      </p:sp>
    </p:spTree>
    <p:extLst>
      <p:ext uri="{BB962C8B-B14F-4D97-AF65-F5344CB8AC3E}">
        <p14:creationId xmlns:p14="http://schemas.microsoft.com/office/powerpoint/2010/main" val="125205063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*Modelo Hibrido: Modelo de referencia. </a:t>
            </a:r>
            <a:br>
              <a:rPr lang="es-MX"/>
            </a:br>
            <a:r>
              <a:rPr lang="es-MX"/>
              <a:t>*Agregar el timeline. En el executive </a:t>
            </a:r>
            <a:r>
              <a:rPr lang="es-MX" err="1"/>
              <a:t>summary</a:t>
            </a:r>
            <a:r>
              <a:rPr lang="es-MX"/>
              <a:t>.</a:t>
            </a:r>
            <a:br>
              <a:rPr lang="es-MX"/>
            </a:br>
            <a:r>
              <a:rPr lang="es-MX"/>
              <a:t>*Dani nos ayuda en la </a:t>
            </a:r>
            <a:r>
              <a:rPr lang="es-MX" err="1"/>
              <a:t>press</a:t>
            </a:r>
            <a:r>
              <a:rPr lang="es-MX"/>
              <a:t> hay que meterlo en las </a:t>
            </a:r>
            <a:r>
              <a:rPr lang="es-MX" err="1"/>
              <a:t>Dailies</a:t>
            </a:r>
            <a:r>
              <a:rPr lang="es-MX"/>
              <a:t>.</a:t>
            </a:r>
            <a:br>
              <a:rPr lang="es-MX"/>
            </a:br>
            <a:br>
              <a:rPr lang="es-MX"/>
            </a:br>
            <a:endParaRPr lang="es-MX"/>
          </a:p>
        </p:txBody>
      </p:sp>
      <p:sp>
        <p:nvSpPr>
          <p:cNvPr id="4" name="Marcador de número de diapositiva 3"/>
          <p:cNvSpPr>
            <a:spLocks noGrp="1"/>
          </p:cNvSpPr>
          <p:nvPr>
            <p:ph type="sldNum" sz="quarter" idx="5"/>
          </p:nvPr>
        </p:nvSpPr>
        <p:spPr/>
        <p:txBody>
          <a:bodyPr/>
          <a:lstStyle/>
          <a:p>
            <a:fld id="{BC0CFED2-9709-4FC9-ABC4-AA1D773337AA}" type="slidenum">
              <a:rPr lang="en-US" smtClean="0"/>
              <a:t>59</a:t>
            </a:fld>
            <a:endParaRPr lang="en-US"/>
          </a:p>
        </p:txBody>
      </p:sp>
    </p:spTree>
    <p:extLst>
      <p:ext uri="{BB962C8B-B14F-4D97-AF65-F5344CB8AC3E}">
        <p14:creationId xmlns:p14="http://schemas.microsoft.com/office/powerpoint/2010/main" val="267392149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Explicar los títulos y entonces poner los </a:t>
            </a:r>
            <a:r>
              <a:rPr lang="es-MX" err="1"/>
              <a:t>bullets</a:t>
            </a:r>
            <a:endParaRPr lang="es-MX"/>
          </a:p>
          <a:p>
            <a:endParaRPr lang="es-MX"/>
          </a:p>
        </p:txBody>
      </p:sp>
      <p:sp>
        <p:nvSpPr>
          <p:cNvPr id="4" name="Marcador de número de diapositiva 3"/>
          <p:cNvSpPr>
            <a:spLocks noGrp="1"/>
          </p:cNvSpPr>
          <p:nvPr>
            <p:ph type="sldNum" sz="quarter" idx="5"/>
          </p:nvPr>
        </p:nvSpPr>
        <p:spPr/>
        <p:txBody>
          <a:bodyPr/>
          <a:lstStyle/>
          <a:p>
            <a:fld id="{BC0CFED2-9709-4FC9-ABC4-AA1D773337AA}" type="slidenum">
              <a:rPr lang="en-US" smtClean="0"/>
              <a:t>60</a:t>
            </a:fld>
            <a:endParaRPr lang="en-US"/>
          </a:p>
        </p:txBody>
      </p:sp>
    </p:spTree>
    <p:extLst>
      <p:ext uri="{BB962C8B-B14F-4D97-AF65-F5344CB8AC3E}">
        <p14:creationId xmlns:p14="http://schemas.microsoft.com/office/powerpoint/2010/main" val="343122901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lvl="0">
              <a:defRPr/>
            </a:pPr>
            <a:r>
              <a:rPr lang="en-US" sz="1200">
                <a:solidFill>
                  <a:srgbClr val="505050"/>
                </a:solidFill>
                <a:latin typeface="Arial" panose="020B0604020202020204" pitchFamily="34" charset="0"/>
                <a:cs typeface="Arial" panose="020B0604020202020204" pitchFamily="34" charset="0"/>
              </a:rPr>
              <a:t>1.Single Front Door</a:t>
            </a:r>
          </a:p>
          <a:p>
            <a:pPr lvl="0">
              <a:defRPr/>
            </a:pPr>
            <a:r>
              <a:rPr lang="en-US" sz="1200">
                <a:solidFill>
                  <a:srgbClr val="505050"/>
                </a:solidFill>
                <a:latin typeface="Arial" panose="020B0604020202020204" pitchFamily="34" charset="0"/>
                <a:cs typeface="Arial" panose="020B0604020202020204" pitchFamily="34" charset="0"/>
              </a:rPr>
              <a:t>2.Value-Based Prioritization</a:t>
            </a:r>
          </a:p>
          <a:p>
            <a:pPr lvl="0">
              <a:defRPr/>
            </a:pPr>
            <a:r>
              <a:rPr lang="en-US" sz="1200">
                <a:solidFill>
                  <a:srgbClr val="505050"/>
                </a:solidFill>
                <a:latin typeface="Arial" panose="020B0604020202020204" pitchFamily="34" charset="0"/>
                <a:cs typeface="Arial" panose="020B0604020202020204" pitchFamily="34" charset="0"/>
              </a:rPr>
              <a:t>3.Capacity-Aware Assignment</a:t>
            </a:r>
          </a:p>
          <a:p>
            <a:pPr lvl="0">
              <a:defRPr/>
            </a:pPr>
            <a:r>
              <a:rPr lang="en-US" sz="1200">
                <a:solidFill>
                  <a:srgbClr val="505050"/>
                </a:solidFill>
                <a:latin typeface="Arial" panose="020B0604020202020204" pitchFamily="34" charset="0"/>
                <a:cs typeface="Arial" panose="020B0604020202020204" pitchFamily="34" charset="0"/>
              </a:rPr>
              <a:t>4.Standardized Execution (Jira)</a:t>
            </a:r>
          </a:p>
          <a:p>
            <a:pPr lvl="0">
              <a:defRPr/>
            </a:pPr>
            <a:r>
              <a:rPr lang="en-US" sz="1200">
                <a:solidFill>
                  <a:srgbClr val="505050"/>
                </a:solidFill>
                <a:latin typeface="Arial" panose="020B0604020202020204" pitchFamily="34" charset="0"/>
                <a:cs typeface="Arial" panose="020B0604020202020204" pitchFamily="34" charset="0"/>
              </a:rPr>
              <a:t>5.Integrated Toolchain</a:t>
            </a:r>
          </a:p>
          <a:p>
            <a:pPr lvl="0">
              <a:defRPr/>
            </a:pPr>
            <a:r>
              <a:rPr lang="en-US" sz="1200">
                <a:solidFill>
                  <a:srgbClr val="505050"/>
                </a:solidFill>
                <a:latin typeface="Arial" panose="020B0604020202020204" pitchFamily="34" charset="0"/>
                <a:cs typeface="Arial" panose="020B0604020202020204" pitchFamily="34" charset="0"/>
              </a:rPr>
              <a:t>6.Automated Reporting </a:t>
            </a:r>
          </a:p>
          <a:p>
            <a:pPr lvl="0">
              <a:defRPr/>
            </a:pPr>
            <a:r>
              <a:rPr lang="en-US" sz="1200">
                <a:solidFill>
                  <a:srgbClr val="505050"/>
                </a:solidFill>
                <a:latin typeface="Arial" panose="020B0604020202020204" pitchFamily="34" charset="0"/>
                <a:cs typeface="Arial" panose="020B0604020202020204" pitchFamily="34" charset="0"/>
              </a:rPr>
              <a:t>7.Defined RACI per Lifecycle Phase</a:t>
            </a:r>
          </a:p>
          <a:p>
            <a:pPr lvl="0">
              <a:defRPr/>
            </a:pPr>
            <a:r>
              <a:rPr lang="en-US" sz="1200">
                <a:solidFill>
                  <a:srgbClr val="505050"/>
                </a:solidFill>
                <a:latin typeface="Arial" panose="020B0604020202020204" pitchFamily="34" charset="0"/>
                <a:cs typeface="Arial" panose="020B0604020202020204" pitchFamily="34" charset="0"/>
              </a:rPr>
              <a:t>8.Standardized Execution Model</a:t>
            </a:r>
            <a:endParaRPr lang="es-MX" sz="1200">
              <a:solidFill>
                <a:srgbClr val="505050"/>
              </a:solidFill>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5"/>
          </p:nvPr>
        </p:nvSpPr>
        <p:spPr/>
        <p:txBody>
          <a:bodyPr/>
          <a:lstStyle/>
          <a:p>
            <a:fld id="{BC0CFED2-9709-4FC9-ABC4-AA1D773337AA}" type="slidenum">
              <a:rPr lang="en-US" smtClean="0"/>
              <a:t>61</a:t>
            </a:fld>
            <a:endParaRPr lang="en-US"/>
          </a:p>
        </p:txBody>
      </p:sp>
    </p:spTree>
    <p:extLst>
      <p:ext uri="{BB962C8B-B14F-4D97-AF65-F5344CB8AC3E}">
        <p14:creationId xmlns:p14="http://schemas.microsoft.com/office/powerpoint/2010/main" val="110101524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D5B375-1429-462A-3BA7-11D6FAC6F251}"/>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D186C0DB-559A-F559-CA03-5F2121547474}"/>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80E73FAB-B7A9-9704-8C3C-CD5D0BF294E5}"/>
              </a:ext>
            </a:extLst>
          </p:cNvPr>
          <p:cNvSpPr>
            <a:spLocks noGrp="1"/>
          </p:cNvSpPr>
          <p:nvPr>
            <p:ph type="body" idx="1"/>
          </p:nvPr>
        </p:nvSpPr>
        <p:spPr/>
        <p:txBody>
          <a:bodyPr/>
          <a:lstStyle/>
          <a:p>
            <a:r>
              <a:rPr lang="en-US" b="1"/>
              <a:t>AGR-CORP-25-REG-01 · Cloud ECM + Rate Case Advisor</a:t>
            </a:r>
            <a:r>
              <a:rPr lang="en-US"/>
              <a:t> </a:t>
            </a:r>
            <a:endParaRPr lang="pt-BR"/>
          </a:p>
          <a:p>
            <a:r>
              <a:rPr lang="en-US"/>
              <a:t>Regulatory project (rate case support) </a:t>
            </a:r>
          </a:p>
          <a:p>
            <a:r>
              <a:rPr lang="en-US"/>
              <a:t>APR 2026 IT Avangrid Project Status Report, Slide 10</a:t>
            </a:r>
          </a:p>
          <a:p>
            <a:endParaRPr lang="en-US"/>
          </a:p>
          <a:p>
            <a:r>
              <a:rPr lang="en-US" b="1"/>
              <a:t>AGR-2026-NET-IT (SG)-01 · MV90 Upgrade UIL</a:t>
            </a:r>
            <a:endParaRPr lang="en-US"/>
          </a:p>
          <a:p>
            <a:r>
              <a:rPr lang="en-US"/>
              <a:t>Major upgrade — metering infrastructure</a:t>
            </a:r>
          </a:p>
          <a:p>
            <a:r>
              <a:rPr lang="en-US"/>
              <a:t>APR 2026 IT Avangrid Project Status Report, Slide 6</a:t>
            </a:r>
          </a:p>
          <a:p>
            <a:endParaRPr lang="en-US">
              <a:latin typeface="Aptos" panose="02110004020202020204"/>
              <a:ea typeface="Calibri"/>
              <a:cs typeface="Calibri"/>
            </a:endParaRPr>
          </a:p>
          <a:p>
            <a:r>
              <a:rPr lang="en-US" b="1"/>
              <a:t>AGR-NET-23-IT-02 · Scheduler Project</a:t>
            </a:r>
            <a:endParaRPr lang="en-US"/>
          </a:p>
          <a:p>
            <a:r>
              <a:rPr lang="en-US"/>
              <a:t>New platform release (scheduling)</a:t>
            </a:r>
          </a:p>
          <a:p>
            <a:r>
              <a:rPr lang="en-US"/>
              <a:t>APR 2026 IT Avangrid Project Status Report, Slide 3</a:t>
            </a:r>
          </a:p>
          <a:p>
            <a:endParaRPr lang="en-US">
              <a:latin typeface="Aptos" panose="02110004020202020204"/>
              <a:ea typeface="Calibri"/>
              <a:cs typeface="Calibri"/>
            </a:endParaRPr>
          </a:p>
          <a:p>
            <a:endParaRPr lang="en-US">
              <a:latin typeface="Aptos" panose="02110004020202020204"/>
              <a:ea typeface="Calibri"/>
              <a:cs typeface="Calibri"/>
            </a:endParaRPr>
          </a:p>
          <a:p>
            <a:r>
              <a:rPr lang="en-US" b="1"/>
              <a:t>CX Platform Updates</a:t>
            </a:r>
            <a:endParaRPr lang="en-US"/>
          </a:p>
          <a:p>
            <a:r>
              <a:rPr lang="en-US"/>
              <a:t>Contact Center / CRM module tweaks</a:t>
            </a:r>
          </a:p>
          <a:p>
            <a:r>
              <a:rPr lang="en-US"/>
              <a:t>Inferred from Customer Services sub-team (Slide 19)</a:t>
            </a:r>
          </a:p>
          <a:p>
            <a:endParaRPr lang="en-US">
              <a:latin typeface="Aptos" panose="02110004020202020204"/>
              <a:ea typeface="Calibri"/>
              <a:cs typeface="Calibri"/>
            </a:endParaRPr>
          </a:p>
          <a:p>
            <a:endParaRPr lang="en-US">
              <a:latin typeface="Aptos" panose="02110004020202020204"/>
              <a:ea typeface="Calibri"/>
              <a:cs typeface="Calibri"/>
            </a:endParaRPr>
          </a:p>
          <a:p>
            <a:r>
              <a:rPr lang="en-US" b="1"/>
              <a:t>IRTH (Locate Services)</a:t>
            </a:r>
            <a:endParaRPr lang="en-US"/>
          </a:p>
          <a:p>
            <a:r>
              <a:rPr lang="en-US"/>
              <a:t>Service platform update</a:t>
            </a:r>
          </a:p>
          <a:p>
            <a:r>
              <a:rPr lang="en-US"/>
              <a:t>APR 2026 IT</a:t>
            </a:r>
          </a:p>
          <a:p>
            <a:endParaRPr lang="en-US">
              <a:solidFill>
                <a:srgbClr val="000000"/>
              </a:solidFill>
              <a:latin typeface="Aptos" panose="02110004020202020204"/>
              <a:ea typeface="Calibri"/>
              <a:cs typeface="Calibri"/>
            </a:endParaRPr>
          </a:p>
          <a:p>
            <a:endParaRPr lang="en-US">
              <a:solidFill>
                <a:srgbClr val="000000"/>
              </a:solidFill>
              <a:latin typeface="Aptos" panose="02110004020202020204"/>
              <a:ea typeface="Calibri"/>
              <a:cs typeface="Calibri"/>
            </a:endParaRPr>
          </a:p>
          <a:p>
            <a:endParaRPr lang="en-US" b="1">
              <a:solidFill>
                <a:srgbClr val="BFBFBF"/>
              </a:solidFill>
              <a:highlight>
                <a:srgbClr val="191A1B"/>
              </a:highlight>
              <a:latin typeface="Aptos" panose="02110004020202020204"/>
              <a:ea typeface="Calibri"/>
              <a:cs typeface="Calibri"/>
            </a:endParaRPr>
          </a:p>
          <a:p>
            <a:endParaRPr lang="en-US">
              <a:latin typeface="Calibri"/>
              <a:ea typeface="Calibri"/>
              <a:cs typeface="Calibri"/>
            </a:endParaRPr>
          </a:p>
        </p:txBody>
      </p:sp>
      <p:sp>
        <p:nvSpPr>
          <p:cNvPr id="4" name="Espaço Reservado para Número de Slide 3">
            <a:extLst>
              <a:ext uri="{FF2B5EF4-FFF2-40B4-BE49-F238E27FC236}">
                <a16:creationId xmlns:a16="http://schemas.microsoft.com/office/drawing/2014/main" id="{4D345432-4C5F-E410-165B-0A51AF9E3464}"/>
              </a:ext>
            </a:extLst>
          </p:cNvPr>
          <p:cNvSpPr>
            <a:spLocks noGrp="1"/>
          </p:cNvSpPr>
          <p:nvPr>
            <p:ph type="sldNum" sz="quarter" idx="5"/>
          </p:nvPr>
        </p:nvSpPr>
        <p:spPr/>
        <p:txBody>
          <a:bodyPr/>
          <a:lstStyle/>
          <a:p>
            <a:fld id="{BC0CFED2-9709-4FC9-ABC4-AA1D773337AA}" type="slidenum">
              <a:rPr lang="en-US" smtClean="0"/>
              <a:t>62</a:t>
            </a:fld>
            <a:endParaRPr lang="en-US"/>
          </a:p>
        </p:txBody>
      </p:sp>
    </p:spTree>
    <p:extLst>
      <p:ext uri="{BB962C8B-B14F-4D97-AF65-F5344CB8AC3E}">
        <p14:creationId xmlns:p14="http://schemas.microsoft.com/office/powerpoint/2010/main" val="316396330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914590-28CE-BCA6-F96E-B416EAC2C4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366776-2CB2-1010-4F28-B297A8091C6D}"/>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C8976988-BD13-8E61-09BE-AB873561076B}"/>
              </a:ext>
            </a:extLst>
          </p:cNvPr>
          <p:cNvSpPr>
            <a:spLocks noGrp="1"/>
          </p:cNvSpPr>
          <p:nvPr>
            <p:ph type="body" idx="1"/>
          </p:nvPr>
        </p:nvSpPr>
        <p:spPr/>
        <p:txBody>
          <a:bodyPr/>
          <a:lstStyle/>
          <a:p>
            <a:r>
              <a:rPr lang="en-US"/>
              <a:t>*Poner Tambien lo </a:t>
            </a:r>
            <a:r>
              <a:rPr lang="en-US" err="1"/>
              <a:t>externo</a:t>
            </a:r>
            <a:r>
              <a:rPr lang="en-US"/>
              <a:t> (</a:t>
            </a:r>
            <a:r>
              <a:rPr lang="en-US" err="1"/>
              <a:t>Proveedores</a:t>
            </a:r>
            <a:r>
              <a:rPr lang="en-US"/>
              <a:t>, </a:t>
            </a:r>
            <a:r>
              <a:rPr lang="en-US" err="1"/>
              <a:t>etc</a:t>
            </a:r>
            <a:r>
              <a:rPr lang="en-US"/>
              <a:t>)</a:t>
            </a:r>
          </a:p>
          <a:p>
            <a:endParaRPr lang="en-US"/>
          </a:p>
        </p:txBody>
      </p:sp>
      <p:sp>
        <p:nvSpPr>
          <p:cNvPr id="4" name="Slide Number Placeholder 3">
            <a:extLst>
              <a:ext uri="{FF2B5EF4-FFF2-40B4-BE49-F238E27FC236}">
                <a16:creationId xmlns:a16="http://schemas.microsoft.com/office/drawing/2014/main" id="{FC813FD3-5F51-ECFA-40B7-4569E289898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EA62C3-F454-4F5D-AAB0-802A83F207C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1989847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4/25/2026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4/25/2026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4/25/2026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4/25/2026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4/25/2026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4/25/2026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4/25/2026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4/25/2026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4/25/2026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4/25/2026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4/25/2026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over with Image">
    <p:bg>
      <p:bgPr>
        <a:solidFill>
          <a:schemeClr val="bg1">
            <a:lumMod val="95000"/>
          </a:schemeClr>
        </a:solidFill>
        <a:effectLst/>
      </p:bgPr>
    </p:bg>
    <p:spTree>
      <p:nvGrpSpPr>
        <p:cNvPr id="1" name=""/>
        <p:cNvGrpSpPr/>
        <p:nvPr/>
      </p:nvGrpSpPr>
      <p:grpSpPr>
        <a:xfrm>
          <a:off x="0" y="0"/>
          <a:ext cx="0" cy="0"/>
          <a:chOff x="0" y="0"/>
          <a:chExt cx="0" cy="0"/>
        </a:xfrm>
      </p:grpSpPr>
      <p:sp>
        <p:nvSpPr>
          <p:cNvPr id="4" name="Picture Placeholder 6">
            <a:extLst>
              <a:ext uri="{FF2B5EF4-FFF2-40B4-BE49-F238E27FC236}">
                <a16:creationId xmlns:a16="http://schemas.microsoft.com/office/drawing/2014/main" id="{30F6BA58-506E-438E-6C2B-545913116CCF}"/>
              </a:ext>
            </a:extLst>
          </p:cNvPr>
          <p:cNvSpPr>
            <a:spLocks noGrp="1"/>
          </p:cNvSpPr>
          <p:nvPr>
            <p:ph type="pic" sz="quarter" idx="13" hasCustomPrompt="1"/>
          </p:nvPr>
        </p:nvSpPr>
        <p:spPr>
          <a:xfrm>
            <a:off x="1" y="0"/>
            <a:ext cx="12192000" cy="6858000"/>
          </a:xfrm>
          <a:prstGeom prst="roundRect">
            <a:avLst>
              <a:gd name="adj" fmla="val 0"/>
            </a:avLst>
          </a:prstGeom>
        </p:spPr>
        <p:txBody>
          <a:bodyPr/>
          <a:lstStyle/>
          <a:p>
            <a:r>
              <a:rPr lang="en-US" noProof="0"/>
              <a:t>Click on the icon to add an image</a:t>
            </a:r>
          </a:p>
        </p:txBody>
      </p:sp>
      <p:sp>
        <p:nvSpPr>
          <p:cNvPr id="14" name="Marcador de texto 12">
            <a:extLst>
              <a:ext uri="{FF2B5EF4-FFF2-40B4-BE49-F238E27FC236}">
                <a16:creationId xmlns:a16="http://schemas.microsoft.com/office/drawing/2014/main" id="{3E0B9FA4-106C-E699-7911-B99C1308D599}"/>
              </a:ext>
            </a:extLst>
          </p:cNvPr>
          <p:cNvSpPr>
            <a:spLocks noGrp="1"/>
          </p:cNvSpPr>
          <p:nvPr>
            <p:ph type="body" sz="quarter" idx="10" hasCustomPrompt="1"/>
          </p:nvPr>
        </p:nvSpPr>
        <p:spPr>
          <a:xfrm>
            <a:off x="403502" y="2808051"/>
            <a:ext cx="11000786" cy="353354"/>
          </a:xfrm>
          <a:prstGeom prst="rect">
            <a:avLst/>
          </a:prstGeom>
        </p:spPr>
        <p:txBody>
          <a:bodyPr lIns="0" anchor="b" anchorCtr="0"/>
          <a:lstStyle>
            <a:lvl1pPr marL="0" indent="0">
              <a:lnSpc>
                <a:spcPct val="100000"/>
              </a:lnSpc>
              <a:spcBef>
                <a:spcPts val="0"/>
              </a:spcBef>
              <a:buNone/>
              <a:defRPr sz="2000" b="0" i="0">
                <a:solidFill>
                  <a:schemeClr val="bg1"/>
                </a:solidFill>
                <a:latin typeface="IberPangea Text Light" panose="020B0404000000000000" pitchFamily="34" charset="0"/>
                <a:ea typeface="IberPangea Text Light" panose="020B0404000000000000" pitchFamily="34" charset="0"/>
                <a:cs typeface="IberPangea Text Light" panose="020B0404000000000000" pitchFamily="34" charset="0"/>
              </a:defRPr>
            </a:lvl1pPr>
            <a:lvl2pPr marL="454212"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2pPr>
            <a:lvl3pPr marL="908423"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3pPr>
            <a:lvl4pPr marL="1362636"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4pPr>
            <a:lvl5pPr marL="1816846"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5pPr>
          </a:lstStyle>
          <a:p>
            <a:pPr lvl="0"/>
            <a:r>
              <a:rPr lang="en-US" noProof="0"/>
              <a:t>Cover Subtitle</a:t>
            </a:r>
          </a:p>
        </p:txBody>
      </p:sp>
      <p:sp>
        <p:nvSpPr>
          <p:cNvPr id="15" name="Título 14">
            <a:extLst>
              <a:ext uri="{FF2B5EF4-FFF2-40B4-BE49-F238E27FC236}">
                <a16:creationId xmlns:a16="http://schemas.microsoft.com/office/drawing/2014/main" id="{287BB230-0D91-CDCE-3890-640DA6A98A18}"/>
              </a:ext>
            </a:extLst>
          </p:cNvPr>
          <p:cNvSpPr>
            <a:spLocks noGrp="1"/>
          </p:cNvSpPr>
          <p:nvPr>
            <p:ph type="title" hasCustomPrompt="1"/>
          </p:nvPr>
        </p:nvSpPr>
        <p:spPr>
          <a:xfrm>
            <a:off x="386862" y="3284983"/>
            <a:ext cx="5488645" cy="3025329"/>
          </a:xfrm>
          <a:prstGeom prst="rect">
            <a:avLst/>
          </a:prstGeom>
        </p:spPr>
        <p:txBody>
          <a:bodyPr lIns="0" anchor="t">
            <a:noAutofit/>
          </a:bodyPr>
          <a:lstStyle>
            <a:lvl1pPr>
              <a:lnSpc>
                <a:spcPct val="80000"/>
              </a:lnSpc>
              <a:defRPr sz="6000" b="1" i="0" spc="-150">
                <a:solidFill>
                  <a:schemeClr val="bg1"/>
                </a:solidFill>
                <a:latin typeface="IberPangea Text" panose="020B0404000000000000" pitchFamily="34" charset="0"/>
                <a:ea typeface="IberPangea Text" panose="020B0404000000000000" pitchFamily="34" charset="0"/>
                <a:cs typeface="IberPangea Text" panose="020B0404000000000000" pitchFamily="34" charset="0"/>
              </a:defRPr>
            </a:lvl1pPr>
          </a:lstStyle>
          <a:p>
            <a:r>
              <a:rPr lang="en-US" noProof="0"/>
              <a:t>Small PPT Title</a:t>
            </a:r>
          </a:p>
        </p:txBody>
      </p:sp>
      <p:sp>
        <p:nvSpPr>
          <p:cNvPr id="2" name="Marcador de texto 12">
            <a:extLst>
              <a:ext uri="{FF2B5EF4-FFF2-40B4-BE49-F238E27FC236}">
                <a16:creationId xmlns:a16="http://schemas.microsoft.com/office/drawing/2014/main" id="{394C8709-5400-E9AB-2B49-4AD77847F947}"/>
              </a:ext>
            </a:extLst>
          </p:cNvPr>
          <p:cNvSpPr>
            <a:spLocks noGrp="1"/>
          </p:cNvSpPr>
          <p:nvPr>
            <p:ph type="body" sz="quarter" idx="14" hasCustomPrompt="1"/>
          </p:nvPr>
        </p:nvSpPr>
        <p:spPr>
          <a:xfrm>
            <a:off x="407221" y="6454775"/>
            <a:ext cx="4075367" cy="239158"/>
          </a:xfrm>
          <a:prstGeom prst="rect">
            <a:avLst/>
          </a:prstGeom>
        </p:spPr>
        <p:txBody>
          <a:bodyPr lIns="0"/>
          <a:lstStyle>
            <a:lvl1pPr marL="0" indent="0" algn="l">
              <a:lnSpc>
                <a:spcPct val="100000"/>
              </a:lnSpc>
              <a:spcBef>
                <a:spcPts val="0"/>
              </a:spcBef>
              <a:buNone/>
              <a:defRPr sz="1500" b="0" i="0">
                <a:solidFill>
                  <a:schemeClr val="bg1"/>
                </a:solidFill>
                <a:latin typeface="+mn-lt"/>
                <a:ea typeface="IberPangea Text Light" panose="020B0404000000000000" pitchFamily="34" charset="0"/>
                <a:cs typeface="IberPangea Text Light" panose="020B0404000000000000" pitchFamily="34" charset="0"/>
              </a:defRPr>
            </a:lvl1pPr>
            <a:lvl2pPr marL="454212"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2pPr>
            <a:lvl3pPr marL="908423"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3pPr>
            <a:lvl4pPr marL="1362636"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4pPr>
            <a:lvl5pPr marL="1816846"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5pPr>
          </a:lstStyle>
          <a:p>
            <a:r>
              <a:rPr lang="en-US" noProof="0"/>
              <a:t>Business Division</a:t>
            </a:r>
          </a:p>
        </p:txBody>
      </p:sp>
      <p:sp>
        <p:nvSpPr>
          <p:cNvPr id="3" name="TextBox 2">
            <a:extLst>
              <a:ext uri="{FF2B5EF4-FFF2-40B4-BE49-F238E27FC236}">
                <a16:creationId xmlns:a16="http://schemas.microsoft.com/office/drawing/2014/main" id="{4CB74C3D-5AB0-6A17-C266-0C6A890DAC54}"/>
              </a:ext>
            </a:extLst>
          </p:cNvPr>
          <p:cNvSpPr txBox="1"/>
          <p:nvPr/>
        </p:nvSpPr>
        <p:spPr>
          <a:xfrm>
            <a:off x="9509761" y="6454776"/>
            <a:ext cx="2273340" cy="239158"/>
          </a:xfrm>
          <a:prstGeom prst="rect">
            <a:avLst/>
          </a:prstGeom>
          <a:noFill/>
        </p:spPr>
        <p:txBody>
          <a:bodyPr wrap="square" lIns="0" tIns="0" rIns="0" bIns="0" rtlCol="0">
            <a:noAutofit/>
          </a:bodyPr>
          <a:lstStyle/>
          <a:p>
            <a:pPr algn="r"/>
            <a:fld id="{6318FB6F-139D-E242-9895-EB6663796CDE}" type="datetime1">
              <a:rPr lang="en-GB" sz="1500" smtClean="0">
                <a:solidFill>
                  <a:schemeClr val="bg1"/>
                </a:solidFill>
                <a:latin typeface="+mn-lt"/>
                <a:ea typeface="IberPangea Text Light" panose="020B0404000000000000" pitchFamily="34" charset="0"/>
                <a:cs typeface="IberPangea Text Light" panose="020B0404000000000000" pitchFamily="34" charset="0"/>
              </a:rPr>
              <a:t>25/04/2026</a:t>
            </a:fld>
            <a:endParaRPr lang="en-US" sz="1500">
              <a:solidFill>
                <a:schemeClr val="bg1"/>
              </a:solidFill>
              <a:latin typeface="+mn-lt"/>
              <a:ea typeface="IberPangea Text Light" panose="020B0404000000000000" pitchFamily="34" charset="0"/>
              <a:cs typeface="IberPangea Text Light" panose="020B0404000000000000" pitchFamily="34" charset="0"/>
            </a:endParaRPr>
          </a:p>
        </p:txBody>
      </p:sp>
      <p:grpSp>
        <p:nvGrpSpPr>
          <p:cNvPr id="5" name="Grupo 4">
            <a:extLst>
              <a:ext uri="{FF2B5EF4-FFF2-40B4-BE49-F238E27FC236}">
                <a16:creationId xmlns:a16="http://schemas.microsoft.com/office/drawing/2014/main" id="{4E568369-7479-5BCB-DA9E-55BA0A31DE0B}"/>
              </a:ext>
            </a:extLst>
          </p:cNvPr>
          <p:cNvGrpSpPr/>
          <p:nvPr/>
        </p:nvGrpSpPr>
        <p:grpSpPr>
          <a:xfrm>
            <a:off x="11064803" y="243963"/>
            <a:ext cx="473773" cy="432461"/>
            <a:chOff x="5465909" y="2845257"/>
            <a:chExt cx="729516" cy="665904"/>
          </a:xfrm>
          <a:solidFill>
            <a:schemeClr val="bg1"/>
          </a:solidFill>
        </p:grpSpPr>
        <p:sp>
          <p:nvSpPr>
            <p:cNvPr id="6" name="Forma libre: forma 5">
              <a:extLst>
                <a:ext uri="{FF2B5EF4-FFF2-40B4-BE49-F238E27FC236}">
                  <a16:creationId xmlns:a16="http://schemas.microsoft.com/office/drawing/2014/main" id="{F5461EC0-D6A0-32FD-6D8F-3BA2DC71FC1F}"/>
                </a:ext>
              </a:extLst>
            </p:cNvPr>
            <p:cNvSpPr/>
            <p:nvPr/>
          </p:nvSpPr>
          <p:spPr>
            <a:xfrm>
              <a:off x="5858424" y="2845257"/>
              <a:ext cx="337001" cy="538961"/>
            </a:xfrm>
            <a:custGeom>
              <a:avLst/>
              <a:gdLst>
                <a:gd name="connsiteX0" fmla="*/ 0 w 337001"/>
                <a:gd name="connsiteY0" fmla="*/ 384242 h 538961"/>
                <a:gd name="connsiteX1" fmla="*/ 44721 w 337001"/>
                <a:gd name="connsiteY1" fmla="*/ 492929 h 538961"/>
                <a:gd name="connsiteX2" fmla="*/ 223229 w 337001"/>
                <a:gd name="connsiteY2" fmla="*/ 522100 h 538961"/>
                <a:gd name="connsiteX3" fmla="*/ 276851 w 337001"/>
                <a:gd name="connsiteY3" fmla="*/ 0 h 538961"/>
                <a:gd name="connsiteX4" fmla="*/ 0 w 337001"/>
                <a:gd name="connsiteY4" fmla="*/ 384242 h 5389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001" h="538961">
                  <a:moveTo>
                    <a:pt x="0" y="384242"/>
                  </a:moveTo>
                  <a:cubicBezTo>
                    <a:pt x="-61" y="424938"/>
                    <a:pt x="16015" y="464008"/>
                    <a:pt x="44721" y="492929"/>
                  </a:cubicBezTo>
                  <a:cubicBezTo>
                    <a:pt x="100080" y="548152"/>
                    <a:pt x="175301" y="548072"/>
                    <a:pt x="223229" y="522100"/>
                  </a:cubicBezTo>
                  <a:cubicBezTo>
                    <a:pt x="282037" y="490315"/>
                    <a:pt x="413873" y="395095"/>
                    <a:pt x="276851" y="0"/>
                  </a:cubicBezTo>
                  <a:cubicBezTo>
                    <a:pt x="276958" y="186495"/>
                    <a:pt x="0" y="205454"/>
                    <a:pt x="0" y="384242"/>
                  </a:cubicBezTo>
                  <a:close/>
                </a:path>
              </a:pathLst>
            </a:custGeom>
            <a:grpFill/>
            <a:ln w="2663" cap="flat">
              <a:noFill/>
              <a:prstDash val="solid"/>
              <a:miter/>
            </a:ln>
          </p:spPr>
          <p:txBody>
            <a:bodyPr rtlCol="0" anchor="ctr"/>
            <a:lstStyle/>
            <a:p>
              <a:endParaRPr lang="es-ES"/>
            </a:p>
          </p:txBody>
        </p:sp>
        <p:sp>
          <p:nvSpPr>
            <p:cNvPr id="7" name="Forma libre: forma 6">
              <a:extLst>
                <a:ext uri="{FF2B5EF4-FFF2-40B4-BE49-F238E27FC236}">
                  <a16:creationId xmlns:a16="http://schemas.microsoft.com/office/drawing/2014/main" id="{DEA05D7F-7085-A6D3-747F-8F8742FE7E5D}"/>
                </a:ext>
              </a:extLst>
            </p:cNvPr>
            <p:cNvSpPr/>
            <p:nvPr/>
          </p:nvSpPr>
          <p:spPr>
            <a:xfrm>
              <a:off x="5662193" y="2845257"/>
              <a:ext cx="322293" cy="538938"/>
            </a:xfrm>
            <a:custGeom>
              <a:avLst/>
              <a:gdLst>
                <a:gd name="connsiteX0" fmla="*/ 322293 w 322293"/>
                <a:gd name="connsiteY0" fmla="*/ 163270 h 538938"/>
                <a:gd name="connsiteX1" fmla="*/ 276851 w 322293"/>
                <a:gd name="connsiteY1" fmla="*/ 0 h 538938"/>
                <a:gd name="connsiteX2" fmla="*/ 0 w 322293"/>
                <a:gd name="connsiteY2" fmla="*/ 384242 h 538938"/>
                <a:gd name="connsiteX3" fmla="*/ 44721 w 322293"/>
                <a:gd name="connsiteY3" fmla="*/ 492929 h 538938"/>
                <a:gd name="connsiteX4" fmla="*/ 223229 w 322293"/>
                <a:gd name="connsiteY4" fmla="*/ 522100 h 538938"/>
                <a:gd name="connsiteX5" fmla="*/ 322293 w 322293"/>
                <a:gd name="connsiteY5" fmla="*/ 163270 h 538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2293" h="538938">
                  <a:moveTo>
                    <a:pt x="322293" y="163270"/>
                  </a:moveTo>
                  <a:cubicBezTo>
                    <a:pt x="313205" y="114393"/>
                    <a:pt x="298637" y="64343"/>
                    <a:pt x="276851" y="0"/>
                  </a:cubicBezTo>
                  <a:cubicBezTo>
                    <a:pt x="276851" y="186495"/>
                    <a:pt x="0" y="205454"/>
                    <a:pt x="0" y="384242"/>
                  </a:cubicBezTo>
                  <a:cubicBezTo>
                    <a:pt x="-61" y="424938"/>
                    <a:pt x="16015" y="464008"/>
                    <a:pt x="44721" y="492929"/>
                  </a:cubicBezTo>
                  <a:cubicBezTo>
                    <a:pt x="100107" y="548152"/>
                    <a:pt x="175889" y="548018"/>
                    <a:pt x="223229" y="522100"/>
                  </a:cubicBezTo>
                  <a:cubicBezTo>
                    <a:pt x="112911" y="405014"/>
                    <a:pt x="151831" y="269476"/>
                    <a:pt x="322293" y="163270"/>
                  </a:cubicBezTo>
                  <a:close/>
                </a:path>
              </a:pathLst>
            </a:custGeom>
            <a:grpFill/>
            <a:ln w="2663" cap="flat">
              <a:noFill/>
              <a:prstDash val="solid"/>
              <a:miter/>
            </a:ln>
          </p:spPr>
          <p:txBody>
            <a:bodyPr rtlCol="0" anchor="ctr"/>
            <a:lstStyle/>
            <a:p>
              <a:endParaRPr lang="es-ES"/>
            </a:p>
          </p:txBody>
        </p:sp>
        <p:sp>
          <p:nvSpPr>
            <p:cNvPr id="8" name="Forma libre: forma 7">
              <a:extLst>
                <a:ext uri="{FF2B5EF4-FFF2-40B4-BE49-F238E27FC236}">
                  <a16:creationId xmlns:a16="http://schemas.microsoft.com/office/drawing/2014/main" id="{E8C6456F-33BF-ED67-1687-666967284F86}"/>
                </a:ext>
              </a:extLst>
            </p:cNvPr>
            <p:cNvSpPr/>
            <p:nvPr/>
          </p:nvSpPr>
          <p:spPr>
            <a:xfrm>
              <a:off x="5465909" y="2845257"/>
              <a:ext cx="322319" cy="665904"/>
            </a:xfrm>
            <a:custGeom>
              <a:avLst/>
              <a:gdLst>
                <a:gd name="connsiteX0" fmla="*/ 322320 w 322319"/>
                <a:gd name="connsiteY0" fmla="*/ 163270 h 665904"/>
                <a:gd name="connsiteX1" fmla="*/ 276878 w 322319"/>
                <a:gd name="connsiteY1" fmla="*/ 0 h 665904"/>
                <a:gd name="connsiteX2" fmla="*/ 0 w 322319"/>
                <a:gd name="connsiteY2" fmla="*/ 384242 h 665904"/>
                <a:gd name="connsiteX3" fmla="*/ 74472 w 322319"/>
                <a:gd name="connsiteY3" fmla="*/ 516314 h 665904"/>
                <a:gd name="connsiteX4" fmla="*/ 67415 w 322319"/>
                <a:gd name="connsiteY4" fmla="*/ 665904 h 665904"/>
                <a:gd name="connsiteX5" fmla="*/ 102914 w 322319"/>
                <a:gd name="connsiteY5" fmla="*/ 660038 h 665904"/>
                <a:gd name="connsiteX6" fmla="*/ 97327 w 322319"/>
                <a:gd name="connsiteY6" fmla="*/ 527726 h 665904"/>
                <a:gd name="connsiteX7" fmla="*/ 223256 w 322319"/>
                <a:gd name="connsiteY7" fmla="*/ 522100 h 665904"/>
                <a:gd name="connsiteX8" fmla="*/ 322320 w 322319"/>
                <a:gd name="connsiteY8" fmla="*/ 163270 h 665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2319" h="665904">
                  <a:moveTo>
                    <a:pt x="322320" y="163270"/>
                  </a:moveTo>
                  <a:cubicBezTo>
                    <a:pt x="313205" y="114393"/>
                    <a:pt x="298636" y="64343"/>
                    <a:pt x="276878" y="0"/>
                  </a:cubicBezTo>
                  <a:cubicBezTo>
                    <a:pt x="276878" y="186495"/>
                    <a:pt x="0" y="205454"/>
                    <a:pt x="0" y="384242"/>
                  </a:cubicBezTo>
                  <a:cubicBezTo>
                    <a:pt x="0" y="475943"/>
                    <a:pt x="74472" y="516314"/>
                    <a:pt x="74472" y="516314"/>
                  </a:cubicBezTo>
                  <a:cubicBezTo>
                    <a:pt x="62935" y="565321"/>
                    <a:pt x="60543" y="616030"/>
                    <a:pt x="67415" y="665904"/>
                  </a:cubicBezTo>
                  <a:lnTo>
                    <a:pt x="102914" y="660038"/>
                  </a:lnTo>
                  <a:cubicBezTo>
                    <a:pt x="85565" y="599775"/>
                    <a:pt x="96204" y="534153"/>
                    <a:pt x="97327" y="527726"/>
                  </a:cubicBezTo>
                  <a:cubicBezTo>
                    <a:pt x="142769" y="545885"/>
                    <a:pt x="189628" y="540499"/>
                    <a:pt x="223256" y="522100"/>
                  </a:cubicBezTo>
                  <a:cubicBezTo>
                    <a:pt x="112938" y="405014"/>
                    <a:pt x="151858" y="269476"/>
                    <a:pt x="322320" y="163270"/>
                  </a:cubicBezTo>
                  <a:close/>
                </a:path>
              </a:pathLst>
            </a:custGeom>
            <a:grpFill/>
            <a:ln w="2663" cap="flat">
              <a:noFill/>
              <a:prstDash val="solid"/>
              <a:miter/>
            </a:ln>
          </p:spPr>
          <p:txBody>
            <a:bodyPr rtlCol="0" anchor="ctr"/>
            <a:lstStyle/>
            <a:p>
              <a:endParaRPr lang="es-ES"/>
            </a:p>
          </p:txBody>
        </p:sp>
      </p:grpSp>
    </p:spTree>
    <p:extLst>
      <p:ext uri="{BB962C8B-B14F-4D97-AF65-F5344CB8AC3E}">
        <p14:creationId xmlns:p14="http://schemas.microsoft.com/office/powerpoint/2010/main" val="1245823237"/>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En blanco">
    <p:bg>
      <p:bgPr>
        <a:solidFill>
          <a:schemeClr val="bg1"/>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2614C848-8922-A25B-1109-44ED20D6E31F}"/>
              </a:ext>
            </a:extLst>
          </p:cNvPr>
          <p:cNvSpPr txBox="1"/>
          <p:nvPr/>
        </p:nvSpPr>
        <p:spPr>
          <a:xfrm>
            <a:off x="561408" y="6493398"/>
            <a:ext cx="0" cy="0"/>
          </a:xfrm>
          <a:prstGeom prst="rect">
            <a:avLst/>
          </a:prstGeom>
          <a:noFill/>
        </p:spPr>
        <p:txBody>
          <a:bodyPr wrap="none" lIns="0" tIns="0" rIns="0" bIns="0" rtlCol="0">
            <a:noAutofit/>
          </a:bodyPr>
          <a:lstStyle/>
          <a:p>
            <a:pPr algn="l"/>
            <a:endParaRPr lang="en-GB" sz="1000" err="1">
              <a:solidFill>
                <a:schemeClr val="accent4"/>
              </a:solidFill>
              <a:latin typeface="IberPangea Text Light" panose="020B0404000000000000" pitchFamily="34" charset="0"/>
              <a:ea typeface="IberPangea Text Light" panose="020B0404000000000000" pitchFamily="34" charset="0"/>
              <a:cs typeface="IberPangea Text Light" panose="020B0404000000000000" pitchFamily="34" charset="0"/>
            </a:endParaRPr>
          </a:p>
        </p:txBody>
      </p:sp>
      <p:sp>
        <p:nvSpPr>
          <p:cNvPr id="4" name="TextBox 3">
            <a:extLst>
              <a:ext uri="{FF2B5EF4-FFF2-40B4-BE49-F238E27FC236}">
                <a16:creationId xmlns:a16="http://schemas.microsoft.com/office/drawing/2014/main" id="{6A1844B3-DB52-C12F-FEE1-B24DD89FD74D}"/>
              </a:ext>
            </a:extLst>
          </p:cNvPr>
          <p:cNvSpPr txBox="1"/>
          <p:nvPr/>
        </p:nvSpPr>
        <p:spPr>
          <a:xfrm>
            <a:off x="11301518" y="6454776"/>
            <a:ext cx="484082" cy="208914"/>
          </a:xfrm>
          <a:prstGeom prst="rect">
            <a:avLst/>
          </a:prstGeom>
          <a:noFill/>
        </p:spPr>
        <p:txBody>
          <a:bodyPr wrap="square" lIns="0" tIns="0" rIns="0" bIns="0" rtlCol="0">
            <a:noAutofit/>
          </a:bodyPr>
          <a:lstStyle/>
          <a:p>
            <a:pPr algn="r"/>
            <a:fld id="{D5E78EB0-DDD2-2F40-8AB8-446A90E58D7D}" type="slidenum">
              <a:rPr lang="en-US" sz="900" smtClean="0">
                <a:solidFill>
                  <a:schemeClr val="accent1"/>
                </a:solidFill>
                <a:latin typeface="+mn-lt"/>
                <a:ea typeface="IberPangea Text Light" panose="020B0404000000000000" pitchFamily="34" charset="0"/>
                <a:cs typeface="IberPangea Text Light" panose="020B0404000000000000" pitchFamily="34" charset="0"/>
              </a:rPr>
              <a:pPr algn="r"/>
              <a:t>‹nº›</a:t>
            </a:fld>
            <a:endParaRPr lang="en-US" sz="900">
              <a:solidFill>
                <a:schemeClr val="accent1"/>
              </a:solidFill>
              <a:latin typeface="+mn-lt"/>
              <a:ea typeface="IberPangea Text Light" panose="020B0404000000000000" pitchFamily="34" charset="0"/>
              <a:cs typeface="IberPangea Text Light" panose="020B0404000000000000" pitchFamily="34" charset="0"/>
            </a:endParaRPr>
          </a:p>
        </p:txBody>
      </p:sp>
      <p:grpSp>
        <p:nvGrpSpPr>
          <p:cNvPr id="3" name="Grupo 2">
            <a:extLst>
              <a:ext uri="{FF2B5EF4-FFF2-40B4-BE49-F238E27FC236}">
                <a16:creationId xmlns:a16="http://schemas.microsoft.com/office/drawing/2014/main" id="{9464E0D5-7F27-0A5A-5931-24A6358E14B2}"/>
              </a:ext>
            </a:extLst>
          </p:cNvPr>
          <p:cNvGrpSpPr/>
          <p:nvPr/>
        </p:nvGrpSpPr>
        <p:grpSpPr>
          <a:xfrm>
            <a:off x="11064803" y="243963"/>
            <a:ext cx="473773" cy="432461"/>
            <a:chOff x="5465909" y="2845257"/>
            <a:chExt cx="729516" cy="665904"/>
          </a:xfrm>
        </p:grpSpPr>
        <p:sp>
          <p:nvSpPr>
            <p:cNvPr id="6" name="Forma libre: forma 5">
              <a:extLst>
                <a:ext uri="{FF2B5EF4-FFF2-40B4-BE49-F238E27FC236}">
                  <a16:creationId xmlns:a16="http://schemas.microsoft.com/office/drawing/2014/main" id="{DB9C53EC-4AB4-DBD3-46F5-265E416CEBA5}"/>
                </a:ext>
              </a:extLst>
            </p:cNvPr>
            <p:cNvSpPr/>
            <p:nvPr/>
          </p:nvSpPr>
          <p:spPr>
            <a:xfrm>
              <a:off x="5858424" y="2845257"/>
              <a:ext cx="337001" cy="538961"/>
            </a:xfrm>
            <a:custGeom>
              <a:avLst/>
              <a:gdLst>
                <a:gd name="connsiteX0" fmla="*/ 0 w 337001"/>
                <a:gd name="connsiteY0" fmla="*/ 384242 h 538961"/>
                <a:gd name="connsiteX1" fmla="*/ 44721 w 337001"/>
                <a:gd name="connsiteY1" fmla="*/ 492929 h 538961"/>
                <a:gd name="connsiteX2" fmla="*/ 223229 w 337001"/>
                <a:gd name="connsiteY2" fmla="*/ 522100 h 538961"/>
                <a:gd name="connsiteX3" fmla="*/ 276851 w 337001"/>
                <a:gd name="connsiteY3" fmla="*/ 0 h 538961"/>
                <a:gd name="connsiteX4" fmla="*/ 0 w 337001"/>
                <a:gd name="connsiteY4" fmla="*/ 384242 h 5389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001" h="538961">
                  <a:moveTo>
                    <a:pt x="0" y="384242"/>
                  </a:moveTo>
                  <a:cubicBezTo>
                    <a:pt x="-61" y="424938"/>
                    <a:pt x="16015" y="464008"/>
                    <a:pt x="44721" y="492929"/>
                  </a:cubicBezTo>
                  <a:cubicBezTo>
                    <a:pt x="100080" y="548152"/>
                    <a:pt x="175301" y="548072"/>
                    <a:pt x="223229" y="522100"/>
                  </a:cubicBezTo>
                  <a:cubicBezTo>
                    <a:pt x="282037" y="490315"/>
                    <a:pt x="413873" y="395095"/>
                    <a:pt x="276851" y="0"/>
                  </a:cubicBezTo>
                  <a:cubicBezTo>
                    <a:pt x="276958" y="186495"/>
                    <a:pt x="0" y="205454"/>
                    <a:pt x="0" y="384242"/>
                  </a:cubicBezTo>
                  <a:close/>
                </a:path>
              </a:pathLst>
            </a:custGeom>
            <a:solidFill>
              <a:srgbClr val="FF9C1A"/>
            </a:solidFill>
            <a:ln w="2663" cap="flat">
              <a:noFill/>
              <a:prstDash val="solid"/>
              <a:miter/>
            </a:ln>
          </p:spPr>
          <p:txBody>
            <a:bodyPr rtlCol="0" anchor="ctr"/>
            <a:lstStyle/>
            <a:p>
              <a:endParaRPr lang="es-ES"/>
            </a:p>
          </p:txBody>
        </p:sp>
        <p:sp>
          <p:nvSpPr>
            <p:cNvPr id="20" name="Forma libre: forma 19">
              <a:extLst>
                <a:ext uri="{FF2B5EF4-FFF2-40B4-BE49-F238E27FC236}">
                  <a16:creationId xmlns:a16="http://schemas.microsoft.com/office/drawing/2014/main" id="{FDCCD724-B10E-3454-E78B-BDD40CC27B82}"/>
                </a:ext>
              </a:extLst>
            </p:cNvPr>
            <p:cNvSpPr/>
            <p:nvPr/>
          </p:nvSpPr>
          <p:spPr>
            <a:xfrm>
              <a:off x="5662193" y="2845257"/>
              <a:ext cx="322293" cy="538938"/>
            </a:xfrm>
            <a:custGeom>
              <a:avLst/>
              <a:gdLst>
                <a:gd name="connsiteX0" fmla="*/ 322293 w 322293"/>
                <a:gd name="connsiteY0" fmla="*/ 163270 h 538938"/>
                <a:gd name="connsiteX1" fmla="*/ 276851 w 322293"/>
                <a:gd name="connsiteY1" fmla="*/ 0 h 538938"/>
                <a:gd name="connsiteX2" fmla="*/ 0 w 322293"/>
                <a:gd name="connsiteY2" fmla="*/ 384242 h 538938"/>
                <a:gd name="connsiteX3" fmla="*/ 44721 w 322293"/>
                <a:gd name="connsiteY3" fmla="*/ 492929 h 538938"/>
                <a:gd name="connsiteX4" fmla="*/ 223229 w 322293"/>
                <a:gd name="connsiteY4" fmla="*/ 522100 h 538938"/>
                <a:gd name="connsiteX5" fmla="*/ 322293 w 322293"/>
                <a:gd name="connsiteY5" fmla="*/ 163270 h 538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2293" h="538938">
                  <a:moveTo>
                    <a:pt x="322293" y="163270"/>
                  </a:moveTo>
                  <a:cubicBezTo>
                    <a:pt x="313205" y="114393"/>
                    <a:pt x="298637" y="64343"/>
                    <a:pt x="276851" y="0"/>
                  </a:cubicBezTo>
                  <a:cubicBezTo>
                    <a:pt x="276851" y="186495"/>
                    <a:pt x="0" y="205454"/>
                    <a:pt x="0" y="384242"/>
                  </a:cubicBezTo>
                  <a:cubicBezTo>
                    <a:pt x="-61" y="424938"/>
                    <a:pt x="16015" y="464008"/>
                    <a:pt x="44721" y="492929"/>
                  </a:cubicBezTo>
                  <a:cubicBezTo>
                    <a:pt x="100107" y="548152"/>
                    <a:pt x="175889" y="548018"/>
                    <a:pt x="223229" y="522100"/>
                  </a:cubicBezTo>
                  <a:cubicBezTo>
                    <a:pt x="112911" y="405014"/>
                    <a:pt x="151831" y="269476"/>
                    <a:pt x="322293" y="163270"/>
                  </a:cubicBezTo>
                  <a:close/>
                </a:path>
              </a:pathLst>
            </a:custGeom>
            <a:solidFill>
              <a:srgbClr val="0DA9FF"/>
            </a:solidFill>
            <a:ln w="2663" cap="flat">
              <a:noFill/>
              <a:prstDash val="solid"/>
              <a:miter/>
            </a:ln>
          </p:spPr>
          <p:txBody>
            <a:bodyPr rtlCol="0" anchor="ctr"/>
            <a:lstStyle/>
            <a:p>
              <a:endParaRPr lang="es-ES"/>
            </a:p>
          </p:txBody>
        </p:sp>
        <p:sp>
          <p:nvSpPr>
            <p:cNvPr id="21" name="Forma libre: forma 20">
              <a:extLst>
                <a:ext uri="{FF2B5EF4-FFF2-40B4-BE49-F238E27FC236}">
                  <a16:creationId xmlns:a16="http://schemas.microsoft.com/office/drawing/2014/main" id="{745B022A-24FE-B6A0-54F1-CD1A1E317F28}"/>
                </a:ext>
              </a:extLst>
            </p:cNvPr>
            <p:cNvSpPr/>
            <p:nvPr/>
          </p:nvSpPr>
          <p:spPr>
            <a:xfrm>
              <a:off x="5465909" y="2845257"/>
              <a:ext cx="322319" cy="665904"/>
            </a:xfrm>
            <a:custGeom>
              <a:avLst/>
              <a:gdLst>
                <a:gd name="connsiteX0" fmla="*/ 322320 w 322319"/>
                <a:gd name="connsiteY0" fmla="*/ 163270 h 665904"/>
                <a:gd name="connsiteX1" fmla="*/ 276878 w 322319"/>
                <a:gd name="connsiteY1" fmla="*/ 0 h 665904"/>
                <a:gd name="connsiteX2" fmla="*/ 0 w 322319"/>
                <a:gd name="connsiteY2" fmla="*/ 384242 h 665904"/>
                <a:gd name="connsiteX3" fmla="*/ 74472 w 322319"/>
                <a:gd name="connsiteY3" fmla="*/ 516314 h 665904"/>
                <a:gd name="connsiteX4" fmla="*/ 67415 w 322319"/>
                <a:gd name="connsiteY4" fmla="*/ 665904 h 665904"/>
                <a:gd name="connsiteX5" fmla="*/ 102914 w 322319"/>
                <a:gd name="connsiteY5" fmla="*/ 660038 h 665904"/>
                <a:gd name="connsiteX6" fmla="*/ 97327 w 322319"/>
                <a:gd name="connsiteY6" fmla="*/ 527726 h 665904"/>
                <a:gd name="connsiteX7" fmla="*/ 223256 w 322319"/>
                <a:gd name="connsiteY7" fmla="*/ 522100 h 665904"/>
                <a:gd name="connsiteX8" fmla="*/ 322320 w 322319"/>
                <a:gd name="connsiteY8" fmla="*/ 163270 h 665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2319" h="665904">
                  <a:moveTo>
                    <a:pt x="322320" y="163270"/>
                  </a:moveTo>
                  <a:cubicBezTo>
                    <a:pt x="313205" y="114393"/>
                    <a:pt x="298636" y="64343"/>
                    <a:pt x="276878" y="0"/>
                  </a:cubicBezTo>
                  <a:cubicBezTo>
                    <a:pt x="276878" y="186495"/>
                    <a:pt x="0" y="205454"/>
                    <a:pt x="0" y="384242"/>
                  </a:cubicBezTo>
                  <a:cubicBezTo>
                    <a:pt x="0" y="475943"/>
                    <a:pt x="74472" y="516314"/>
                    <a:pt x="74472" y="516314"/>
                  </a:cubicBezTo>
                  <a:cubicBezTo>
                    <a:pt x="62935" y="565321"/>
                    <a:pt x="60543" y="616030"/>
                    <a:pt x="67415" y="665904"/>
                  </a:cubicBezTo>
                  <a:lnTo>
                    <a:pt x="102914" y="660038"/>
                  </a:lnTo>
                  <a:cubicBezTo>
                    <a:pt x="85565" y="599775"/>
                    <a:pt x="96204" y="534153"/>
                    <a:pt x="97327" y="527726"/>
                  </a:cubicBezTo>
                  <a:cubicBezTo>
                    <a:pt x="142769" y="545885"/>
                    <a:pt x="189628" y="540499"/>
                    <a:pt x="223256" y="522100"/>
                  </a:cubicBezTo>
                  <a:cubicBezTo>
                    <a:pt x="112938" y="405014"/>
                    <a:pt x="151858" y="269476"/>
                    <a:pt x="322320" y="163270"/>
                  </a:cubicBezTo>
                  <a:close/>
                </a:path>
              </a:pathLst>
            </a:custGeom>
            <a:solidFill>
              <a:srgbClr val="00A443"/>
            </a:solidFill>
            <a:ln w="2663" cap="flat">
              <a:noFill/>
              <a:prstDash val="solid"/>
              <a:miter/>
            </a:ln>
          </p:spPr>
          <p:txBody>
            <a:bodyPr rtlCol="0" anchor="ctr"/>
            <a:lstStyle/>
            <a:p>
              <a:endParaRPr lang="es-ES"/>
            </a:p>
          </p:txBody>
        </p:sp>
      </p:grpSp>
    </p:spTree>
    <p:extLst>
      <p:ext uri="{BB962C8B-B14F-4D97-AF65-F5344CB8AC3E}">
        <p14:creationId xmlns:p14="http://schemas.microsoft.com/office/powerpoint/2010/main" val="15891838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1_C_Closing Slide Future Blue with Picture Light">
    <p:bg>
      <p:bgPr>
        <a:solidFill>
          <a:schemeClr val="bg1"/>
        </a:solidFill>
        <a:effectLst/>
      </p:bgPr>
    </p:bg>
    <p:spTree>
      <p:nvGrpSpPr>
        <p:cNvPr id="1" name=""/>
        <p:cNvGrpSpPr/>
        <p:nvPr/>
      </p:nvGrpSpPr>
      <p:grpSpPr>
        <a:xfrm>
          <a:off x="0" y="0"/>
          <a:ext cx="0" cy="0"/>
          <a:chOff x="0" y="0"/>
          <a:chExt cx="0" cy="0"/>
        </a:xfrm>
      </p:grpSpPr>
      <p:sp>
        <p:nvSpPr>
          <p:cNvPr id="2" name="Rectángulo 3">
            <a:extLst>
              <a:ext uri="{FF2B5EF4-FFF2-40B4-BE49-F238E27FC236}">
                <a16:creationId xmlns:a16="http://schemas.microsoft.com/office/drawing/2014/main" id="{87773E61-CD3E-3D8C-AB0E-C8A13B76AD67}"/>
              </a:ext>
            </a:extLst>
          </p:cNvPr>
          <p:cNvSpPr/>
          <p:nvPr userDrawn="1"/>
        </p:nvSpPr>
        <p:spPr>
          <a:xfrm>
            <a:off x="1" y="-1"/>
            <a:ext cx="12192000" cy="753682"/>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285750" indent="-285750" algn="ctr">
              <a:lnSpc>
                <a:spcPct val="110000"/>
              </a:lnSpc>
              <a:spcBef>
                <a:spcPts val="600"/>
              </a:spcBef>
              <a:buFont typeface="Arial" panose="020B0604020202020204" pitchFamily="34" charset="0"/>
              <a:buChar char="•"/>
            </a:pPr>
            <a:endParaRPr lang="es-MX" sz="1800"/>
          </a:p>
        </p:txBody>
      </p:sp>
      <p:pic>
        <p:nvPicPr>
          <p:cNvPr id="11" name="Imagen 10" descr="Texto&#10;&#10;El contenido generado por IA puede ser incorrecto.">
            <a:extLst>
              <a:ext uri="{FF2B5EF4-FFF2-40B4-BE49-F238E27FC236}">
                <a16:creationId xmlns:a16="http://schemas.microsoft.com/office/drawing/2014/main" id="{7BAC8AD5-DB23-293D-E660-D43371D0B3B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5421" y="196840"/>
            <a:ext cx="1309613" cy="360000"/>
          </a:xfrm>
          <a:prstGeom prst="rect">
            <a:avLst/>
          </a:prstGeom>
        </p:spPr>
      </p:pic>
      <p:pic>
        <p:nvPicPr>
          <p:cNvPr id="3" name="Graphic 2">
            <a:extLst>
              <a:ext uri="{FF2B5EF4-FFF2-40B4-BE49-F238E27FC236}">
                <a16:creationId xmlns:a16="http://schemas.microsoft.com/office/drawing/2014/main" id="{756F3679-D587-7076-53A3-7CAA16185D6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593303" y="6387082"/>
            <a:ext cx="370772" cy="339384"/>
          </a:xfrm>
          <a:prstGeom prst="rect">
            <a:avLst/>
          </a:prstGeom>
        </p:spPr>
      </p:pic>
      <p:sp>
        <p:nvSpPr>
          <p:cNvPr id="8" name="Footer Placeholder 3">
            <a:extLst>
              <a:ext uri="{FF2B5EF4-FFF2-40B4-BE49-F238E27FC236}">
                <a16:creationId xmlns:a16="http://schemas.microsoft.com/office/drawing/2014/main" id="{18FF474D-D29C-C094-67B3-0EDEDA4086BF}"/>
              </a:ext>
            </a:extLst>
          </p:cNvPr>
          <p:cNvSpPr txBox="1">
            <a:spLocks/>
          </p:cNvSpPr>
          <p:nvPr userDrawn="1"/>
        </p:nvSpPr>
        <p:spPr bwMode="gray">
          <a:xfrm>
            <a:off x="227925" y="6633764"/>
            <a:ext cx="1521735" cy="99208"/>
          </a:xfrm>
          <a:prstGeom prst="rect">
            <a:avLst/>
          </a:prstGeom>
          <a:ln>
            <a:noFill/>
          </a:ln>
        </p:spPr>
        <p:txBody>
          <a:bodyPr vert="horz" lIns="0" tIns="0" rIns="0" bIns="0" rtlCol="0" anchor="ctr">
            <a:noAutofit/>
          </a:bodyPr>
          <a:lstStyle>
            <a:defPPr>
              <a:defRPr lang="en-US"/>
            </a:defPPr>
            <a:lvl1pPr marL="0" algn="l" defTabSz="914400" rtl="0" eaLnBrk="1" latinLnBrk="0" hangingPunct="1">
              <a:lnSpc>
                <a:spcPct val="100000"/>
              </a:lnSpc>
              <a:defRPr sz="800" kern="1200">
                <a:solidFill>
                  <a:srgbClr val="6B6B6B"/>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noProof="0">
                <a:solidFill>
                  <a:schemeClr val="tx1"/>
                </a:solidFill>
                <a:latin typeface="Montserrat" pitchFamily="2" charset="77"/>
              </a:rPr>
              <a:t>© 2026 NTT DATA, Inc.</a:t>
            </a:r>
          </a:p>
        </p:txBody>
      </p:sp>
      <p:sp>
        <p:nvSpPr>
          <p:cNvPr id="6" name="Rectangle 28">
            <a:extLst>
              <a:ext uri="{FF2B5EF4-FFF2-40B4-BE49-F238E27FC236}">
                <a16:creationId xmlns:a16="http://schemas.microsoft.com/office/drawing/2014/main" id="{14B8454C-B0DF-5E74-4D1A-1B3AB3CA3428}"/>
              </a:ext>
            </a:extLst>
          </p:cNvPr>
          <p:cNvSpPr/>
          <p:nvPr userDrawn="1"/>
        </p:nvSpPr>
        <p:spPr>
          <a:xfrm>
            <a:off x="-561976" y="1891049"/>
            <a:ext cx="504913" cy="354411"/>
          </a:xfrm>
          <a:prstGeom prst="rect">
            <a:avLst/>
          </a:prstGeom>
          <a:solidFill>
            <a:srgbClr val="0DA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9" name="Rectangle 40">
            <a:extLst>
              <a:ext uri="{FF2B5EF4-FFF2-40B4-BE49-F238E27FC236}">
                <a16:creationId xmlns:a16="http://schemas.microsoft.com/office/drawing/2014/main" id="{E5D52658-0B4C-AFBC-4320-A30B43DB7F60}"/>
              </a:ext>
            </a:extLst>
          </p:cNvPr>
          <p:cNvSpPr/>
          <p:nvPr userDrawn="1"/>
        </p:nvSpPr>
        <p:spPr>
          <a:xfrm>
            <a:off x="-561976" y="1450050"/>
            <a:ext cx="504913" cy="354411"/>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2" name="Rectangle 52">
            <a:extLst>
              <a:ext uri="{FF2B5EF4-FFF2-40B4-BE49-F238E27FC236}">
                <a16:creationId xmlns:a16="http://schemas.microsoft.com/office/drawing/2014/main" id="{1F34E9A6-8B7D-8658-C5C1-2A03D14F8C0D}"/>
              </a:ext>
            </a:extLst>
          </p:cNvPr>
          <p:cNvSpPr/>
          <p:nvPr userDrawn="1"/>
        </p:nvSpPr>
        <p:spPr>
          <a:xfrm>
            <a:off x="-561976" y="1009051"/>
            <a:ext cx="504913" cy="354411"/>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8" name="Rectangle 64">
            <a:extLst>
              <a:ext uri="{FF2B5EF4-FFF2-40B4-BE49-F238E27FC236}">
                <a16:creationId xmlns:a16="http://schemas.microsoft.com/office/drawing/2014/main" id="{45AE7889-6FA1-34ED-BE70-46A959380802}"/>
              </a:ext>
            </a:extLst>
          </p:cNvPr>
          <p:cNvSpPr/>
          <p:nvPr userDrawn="1"/>
        </p:nvSpPr>
        <p:spPr>
          <a:xfrm>
            <a:off x="-561976" y="2332048"/>
            <a:ext cx="504913" cy="354411"/>
          </a:xfrm>
          <a:prstGeom prst="rect">
            <a:avLst/>
          </a:prstGeom>
          <a:solidFill>
            <a:schemeClr val="accent6">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1" name="Rectangle 64">
            <a:extLst>
              <a:ext uri="{FF2B5EF4-FFF2-40B4-BE49-F238E27FC236}">
                <a16:creationId xmlns:a16="http://schemas.microsoft.com/office/drawing/2014/main" id="{E8424815-C589-9BBC-90CD-AC2F1F03C156}"/>
              </a:ext>
            </a:extLst>
          </p:cNvPr>
          <p:cNvSpPr/>
          <p:nvPr userDrawn="1"/>
        </p:nvSpPr>
        <p:spPr>
          <a:xfrm>
            <a:off x="-561976" y="2773047"/>
            <a:ext cx="504913" cy="354411"/>
          </a:xfrm>
          <a:prstGeom prst="rect">
            <a:avLst/>
          </a:prstGeom>
          <a:solidFill>
            <a:srgbClr val="00A4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2" name="Rectangle 64">
            <a:extLst>
              <a:ext uri="{FF2B5EF4-FFF2-40B4-BE49-F238E27FC236}">
                <a16:creationId xmlns:a16="http://schemas.microsoft.com/office/drawing/2014/main" id="{92249B75-3EB2-BC03-2C86-5D195891EEC9}"/>
              </a:ext>
            </a:extLst>
          </p:cNvPr>
          <p:cNvSpPr/>
          <p:nvPr userDrawn="1"/>
        </p:nvSpPr>
        <p:spPr>
          <a:xfrm>
            <a:off x="-561976" y="3214046"/>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5" name="Rectangle 64">
            <a:extLst>
              <a:ext uri="{FF2B5EF4-FFF2-40B4-BE49-F238E27FC236}">
                <a16:creationId xmlns:a16="http://schemas.microsoft.com/office/drawing/2014/main" id="{53046E6B-9583-C81E-7341-7632C4C4B149}"/>
              </a:ext>
            </a:extLst>
          </p:cNvPr>
          <p:cNvSpPr/>
          <p:nvPr userDrawn="1"/>
        </p:nvSpPr>
        <p:spPr>
          <a:xfrm>
            <a:off x="-558101" y="3688256"/>
            <a:ext cx="504913" cy="354411"/>
          </a:xfrm>
          <a:prstGeom prst="rect">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Tree>
    <p:extLst>
      <p:ext uri="{BB962C8B-B14F-4D97-AF65-F5344CB8AC3E}">
        <p14:creationId xmlns:p14="http://schemas.microsoft.com/office/powerpoint/2010/main" val="305996642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17" name="Rectangle 16"/>
          <p:cNvSpPr/>
          <p:nvPr userDrawn="1"/>
        </p:nvSpPr>
        <p:spPr>
          <a:xfrm>
            <a:off x="11622159" y="6467061"/>
            <a:ext cx="410817" cy="39093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Picture Placeholder 5"/>
          <p:cNvSpPr>
            <a:spLocks noGrp="1"/>
          </p:cNvSpPr>
          <p:nvPr>
            <p:ph type="pic" sz="quarter" idx="10"/>
          </p:nvPr>
        </p:nvSpPr>
        <p:spPr>
          <a:xfrm>
            <a:off x="0" y="2160103"/>
            <a:ext cx="12192000" cy="2623932"/>
          </a:xfrm>
        </p:spPr>
        <p:txBody>
          <a:bodyPr/>
          <a:lstStyle/>
          <a:p>
            <a:endParaRPr lang="id-ID"/>
          </a:p>
        </p:txBody>
      </p:sp>
    </p:spTree>
    <p:extLst>
      <p:ext uri="{BB962C8B-B14F-4D97-AF65-F5344CB8AC3E}">
        <p14:creationId xmlns:p14="http://schemas.microsoft.com/office/powerpoint/2010/main" val="16763158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over center">
    <p:spTree>
      <p:nvGrpSpPr>
        <p:cNvPr id="1" name=""/>
        <p:cNvGrpSpPr/>
        <p:nvPr/>
      </p:nvGrpSpPr>
      <p:grpSpPr>
        <a:xfrm>
          <a:off x="0" y="0"/>
          <a:ext cx="0" cy="0"/>
          <a:chOff x="0" y="0"/>
          <a:chExt cx="0" cy="0"/>
        </a:xfrm>
      </p:grpSpPr>
      <p:sp>
        <p:nvSpPr>
          <p:cNvPr id="17" name="Rectangle 16"/>
          <p:cNvSpPr/>
          <p:nvPr userDrawn="1"/>
        </p:nvSpPr>
        <p:spPr>
          <a:xfrm>
            <a:off x="11622159" y="6467061"/>
            <a:ext cx="410817" cy="39093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Picture Placeholder 5"/>
          <p:cNvSpPr>
            <a:spLocks noGrp="1"/>
          </p:cNvSpPr>
          <p:nvPr>
            <p:ph type="pic" sz="quarter" idx="10"/>
          </p:nvPr>
        </p:nvSpPr>
        <p:spPr>
          <a:xfrm>
            <a:off x="1440700" y="2669365"/>
            <a:ext cx="9528313" cy="2623932"/>
          </a:xfrm>
        </p:spPr>
        <p:txBody>
          <a:bodyPr/>
          <a:lstStyle/>
          <a:p>
            <a:endParaRPr lang="id-ID"/>
          </a:p>
        </p:txBody>
      </p:sp>
    </p:spTree>
    <p:extLst>
      <p:ext uri="{BB962C8B-B14F-4D97-AF65-F5344CB8AC3E}">
        <p14:creationId xmlns:p14="http://schemas.microsoft.com/office/powerpoint/2010/main" val="78327054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Normal Center">
    <p:spTree>
      <p:nvGrpSpPr>
        <p:cNvPr id="1" name=""/>
        <p:cNvGrpSpPr/>
        <p:nvPr/>
      </p:nvGrpSpPr>
      <p:grpSpPr>
        <a:xfrm>
          <a:off x="0" y="0"/>
          <a:ext cx="0" cy="0"/>
          <a:chOff x="0" y="0"/>
          <a:chExt cx="0" cy="0"/>
        </a:xfrm>
      </p:grpSpPr>
      <p:sp>
        <p:nvSpPr>
          <p:cNvPr id="15" name="TextBox 14"/>
          <p:cNvSpPr txBox="1"/>
          <p:nvPr userDrawn="1"/>
        </p:nvSpPr>
        <p:spPr>
          <a:xfrm>
            <a:off x="11171585" y="641440"/>
            <a:ext cx="649356" cy="307777"/>
          </a:xfrm>
          <a:prstGeom prst="rect">
            <a:avLst/>
          </a:prstGeom>
          <a:noFill/>
        </p:spPr>
        <p:txBody>
          <a:bodyPr wrap="square" rtlCol="0">
            <a:spAutoFit/>
          </a:bodyPr>
          <a:lstStyle/>
          <a:p>
            <a:pPr algn="ctr"/>
            <a:fld id="{49B9A1CC-CF23-404A-A754-6B4803B2A082}" type="slidenum">
              <a:rPr lang="id-ID" sz="1400" smtClean="0">
                <a:solidFill>
                  <a:schemeClr val="bg1">
                    <a:lumMod val="50000"/>
                  </a:schemeClr>
                </a:solidFill>
              </a:rPr>
              <a:t>‹nº›</a:t>
            </a:fld>
            <a:endParaRPr lang="id-ID" sz="1400">
              <a:solidFill>
                <a:schemeClr val="bg1">
                  <a:lumMod val="50000"/>
                </a:schemeClr>
              </a:solidFill>
            </a:endParaRPr>
          </a:p>
        </p:txBody>
      </p:sp>
      <p:sp>
        <p:nvSpPr>
          <p:cNvPr id="16" name="Oval 15"/>
          <p:cNvSpPr/>
          <p:nvPr userDrawn="1"/>
        </p:nvSpPr>
        <p:spPr>
          <a:xfrm>
            <a:off x="11280263" y="584356"/>
            <a:ext cx="432000" cy="432000"/>
          </a:xfrm>
          <a:prstGeom prst="ellipse">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Tree>
    <p:extLst>
      <p:ext uri="{BB962C8B-B14F-4D97-AF65-F5344CB8AC3E}">
        <p14:creationId xmlns:p14="http://schemas.microsoft.com/office/powerpoint/2010/main" val="347897176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_Normal Center - 3 image">
    <p:spTree>
      <p:nvGrpSpPr>
        <p:cNvPr id="1" name=""/>
        <p:cNvGrpSpPr/>
        <p:nvPr/>
      </p:nvGrpSpPr>
      <p:grpSpPr>
        <a:xfrm>
          <a:off x="0" y="0"/>
          <a:ext cx="0" cy="0"/>
          <a:chOff x="0" y="0"/>
          <a:chExt cx="0" cy="0"/>
        </a:xfrm>
      </p:grpSpPr>
      <p:sp>
        <p:nvSpPr>
          <p:cNvPr id="17" name="Rectangle 16"/>
          <p:cNvSpPr/>
          <p:nvPr userDrawn="1"/>
        </p:nvSpPr>
        <p:spPr>
          <a:xfrm>
            <a:off x="11622159" y="6467061"/>
            <a:ext cx="410817" cy="39093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Picture Placeholder 3"/>
          <p:cNvSpPr>
            <a:spLocks noGrp="1" noChangeAspect="1"/>
          </p:cNvSpPr>
          <p:nvPr>
            <p:ph type="pic" sz="quarter" idx="11"/>
          </p:nvPr>
        </p:nvSpPr>
        <p:spPr>
          <a:xfrm>
            <a:off x="1915537" y="2300786"/>
            <a:ext cx="2160000" cy="2160000"/>
          </a:xfrm>
          <a:prstGeom prst="rect">
            <a:avLst/>
          </a:prstGeom>
        </p:spPr>
        <p:txBody>
          <a:bodyPr lIns="182880" tIns="91440" rIns="182880" bIns="91440"/>
          <a:lstStyle>
            <a:lvl1pPr marL="0" indent="0">
              <a:buFontTx/>
              <a:buNone/>
              <a:defRPr/>
            </a:lvl1pPr>
          </a:lstStyle>
          <a:p>
            <a:endParaRPr lang="en-US"/>
          </a:p>
        </p:txBody>
      </p:sp>
      <p:sp>
        <p:nvSpPr>
          <p:cNvPr id="16" name="Picture Placeholder 3"/>
          <p:cNvSpPr>
            <a:spLocks noGrp="1" noChangeAspect="1"/>
          </p:cNvSpPr>
          <p:nvPr>
            <p:ph type="pic" sz="quarter" idx="12"/>
          </p:nvPr>
        </p:nvSpPr>
        <p:spPr>
          <a:xfrm>
            <a:off x="4718372" y="2300786"/>
            <a:ext cx="2160000" cy="2160000"/>
          </a:xfrm>
          <a:prstGeom prst="rect">
            <a:avLst/>
          </a:prstGeom>
        </p:spPr>
        <p:txBody>
          <a:bodyPr lIns="182880" tIns="91440" rIns="182880" bIns="91440"/>
          <a:lstStyle>
            <a:lvl1pPr marL="0" indent="0">
              <a:buFontTx/>
              <a:buNone/>
              <a:defRPr/>
            </a:lvl1pPr>
          </a:lstStyle>
          <a:p>
            <a:endParaRPr lang="en-US"/>
          </a:p>
        </p:txBody>
      </p:sp>
      <p:sp>
        <p:nvSpPr>
          <p:cNvPr id="19" name="Picture Placeholder 3"/>
          <p:cNvSpPr>
            <a:spLocks noGrp="1" noChangeAspect="1"/>
          </p:cNvSpPr>
          <p:nvPr>
            <p:ph type="pic" sz="quarter" idx="13"/>
          </p:nvPr>
        </p:nvSpPr>
        <p:spPr>
          <a:xfrm>
            <a:off x="7521207" y="2300786"/>
            <a:ext cx="2160000" cy="2160000"/>
          </a:xfrm>
          <a:prstGeom prst="rect">
            <a:avLst/>
          </a:prstGeom>
        </p:spPr>
        <p:txBody>
          <a:bodyPr lIns="182880" tIns="91440" rIns="182880" bIns="91440"/>
          <a:lstStyle>
            <a:lvl1pPr marL="0" indent="0">
              <a:buFontTx/>
              <a:buNone/>
              <a:defRPr/>
            </a:lvl1pPr>
          </a:lstStyle>
          <a:p>
            <a:endParaRPr lang="en-US"/>
          </a:p>
        </p:txBody>
      </p:sp>
      <p:sp>
        <p:nvSpPr>
          <p:cNvPr id="20" name="TextBox 19"/>
          <p:cNvSpPr txBox="1"/>
          <p:nvPr userDrawn="1"/>
        </p:nvSpPr>
        <p:spPr>
          <a:xfrm>
            <a:off x="11286889" y="465183"/>
            <a:ext cx="649356" cy="307777"/>
          </a:xfrm>
          <a:prstGeom prst="rect">
            <a:avLst/>
          </a:prstGeom>
          <a:noFill/>
        </p:spPr>
        <p:txBody>
          <a:bodyPr wrap="square" rtlCol="0">
            <a:spAutoFit/>
          </a:bodyPr>
          <a:lstStyle/>
          <a:p>
            <a:pPr algn="ctr"/>
            <a:fld id="{49B9A1CC-CF23-404A-A754-6B4803B2A082}" type="slidenum">
              <a:rPr lang="id-ID" sz="1400" smtClean="0">
                <a:solidFill>
                  <a:schemeClr val="bg1">
                    <a:lumMod val="50000"/>
                  </a:schemeClr>
                </a:solidFill>
              </a:rPr>
              <a:t>‹nº›</a:t>
            </a:fld>
            <a:endParaRPr lang="id-ID" sz="1400">
              <a:solidFill>
                <a:schemeClr val="bg1">
                  <a:lumMod val="50000"/>
                </a:schemeClr>
              </a:solidFill>
            </a:endParaRPr>
          </a:p>
        </p:txBody>
      </p:sp>
      <p:sp>
        <p:nvSpPr>
          <p:cNvPr id="21" name="Oval 20"/>
          <p:cNvSpPr/>
          <p:nvPr userDrawn="1"/>
        </p:nvSpPr>
        <p:spPr>
          <a:xfrm>
            <a:off x="11395567" y="408099"/>
            <a:ext cx="432000" cy="432000"/>
          </a:xfrm>
          <a:prstGeom prst="ellipse">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Tree>
    <p:extLst>
      <p:ext uri="{BB962C8B-B14F-4D97-AF65-F5344CB8AC3E}">
        <p14:creationId xmlns:p14="http://schemas.microsoft.com/office/powerpoint/2010/main" val="37198959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_Normal Center - 3 image full">
    <p:spTree>
      <p:nvGrpSpPr>
        <p:cNvPr id="1" name=""/>
        <p:cNvGrpSpPr/>
        <p:nvPr/>
      </p:nvGrpSpPr>
      <p:grpSpPr>
        <a:xfrm>
          <a:off x="0" y="0"/>
          <a:ext cx="0" cy="0"/>
          <a:chOff x="0" y="0"/>
          <a:chExt cx="0" cy="0"/>
        </a:xfrm>
      </p:grpSpPr>
      <p:sp>
        <p:nvSpPr>
          <p:cNvPr id="20" name="Picture Placeholder 3"/>
          <p:cNvSpPr>
            <a:spLocks noGrp="1"/>
          </p:cNvSpPr>
          <p:nvPr>
            <p:ph type="pic" sz="quarter" idx="23"/>
          </p:nvPr>
        </p:nvSpPr>
        <p:spPr>
          <a:xfrm>
            <a:off x="874644" y="2819953"/>
            <a:ext cx="3328416" cy="1472184"/>
          </a:xfrm>
          <a:prstGeom prst="rect">
            <a:avLst/>
          </a:prstGeo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21" name="Picture Placeholder 3"/>
          <p:cNvSpPr>
            <a:spLocks noGrp="1"/>
          </p:cNvSpPr>
          <p:nvPr>
            <p:ph type="pic" sz="quarter" idx="24"/>
          </p:nvPr>
        </p:nvSpPr>
        <p:spPr>
          <a:xfrm>
            <a:off x="4392036" y="2819953"/>
            <a:ext cx="3328416" cy="1472184"/>
          </a:xfrm>
          <a:prstGeom prst="rect">
            <a:avLst/>
          </a:prstGeo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22" name="Picture Placeholder 3"/>
          <p:cNvSpPr>
            <a:spLocks noGrp="1"/>
          </p:cNvSpPr>
          <p:nvPr>
            <p:ph type="pic" sz="quarter" idx="25"/>
          </p:nvPr>
        </p:nvSpPr>
        <p:spPr>
          <a:xfrm>
            <a:off x="7909428" y="2819953"/>
            <a:ext cx="3328416" cy="1472184"/>
          </a:xfrm>
          <a:prstGeom prst="rect">
            <a:avLst/>
          </a:prstGeo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19" name="TextBox 18"/>
          <p:cNvSpPr txBox="1"/>
          <p:nvPr userDrawn="1"/>
        </p:nvSpPr>
        <p:spPr>
          <a:xfrm>
            <a:off x="11286889" y="465183"/>
            <a:ext cx="649356" cy="307777"/>
          </a:xfrm>
          <a:prstGeom prst="rect">
            <a:avLst/>
          </a:prstGeom>
          <a:noFill/>
        </p:spPr>
        <p:txBody>
          <a:bodyPr wrap="square" rtlCol="0">
            <a:spAutoFit/>
          </a:bodyPr>
          <a:lstStyle/>
          <a:p>
            <a:pPr algn="ctr"/>
            <a:fld id="{49B9A1CC-CF23-404A-A754-6B4803B2A082}" type="slidenum">
              <a:rPr lang="id-ID" sz="1400" smtClean="0">
                <a:solidFill>
                  <a:schemeClr val="bg1">
                    <a:lumMod val="50000"/>
                  </a:schemeClr>
                </a:solidFill>
              </a:rPr>
              <a:t>‹nº›</a:t>
            </a:fld>
            <a:endParaRPr lang="id-ID" sz="1400">
              <a:solidFill>
                <a:schemeClr val="bg1">
                  <a:lumMod val="50000"/>
                </a:schemeClr>
              </a:solidFill>
            </a:endParaRPr>
          </a:p>
        </p:txBody>
      </p:sp>
      <p:sp>
        <p:nvSpPr>
          <p:cNvPr id="23" name="Oval 22"/>
          <p:cNvSpPr/>
          <p:nvPr userDrawn="1"/>
        </p:nvSpPr>
        <p:spPr>
          <a:xfrm>
            <a:off x="11395567" y="408099"/>
            <a:ext cx="432000" cy="432000"/>
          </a:xfrm>
          <a:prstGeom prst="ellipse">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Tree>
    <p:extLst>
      <p:ext uri="{BB962C8B-B14F-4D97-AF65-F5344CB8AC3E}">
        <p14:creationId xmlns:p14="http://schemas.microsoft.com/office/powerpoint/2010/main" val="352687967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4_Normal Center - half full">
    <p:spTree>
      <p:nvGrpSpPr>
        <p:cNvPr id="1" name=""/>
        <p:cNvGrpSpPr/>
        <p:nvPr/>
      </p:nvGrpSpPr>
      <p:grpSpPr>
        <a:xfrm>
          <a:off x="0" y="0"/>
          <a:ext cx="0" cy="0"/>
          <a:chOff x="0" y="0"/>
          <a:chExt cx="0" cy="0"/>
        </a:xfrm>
      </p:grpSpPr>
      <p:sp>
        <p:nvSpPr>
          <p:cNvPr id="20" name="Picture Placeholder 3"/>
          <p:cNvSpPr>
            <a:spLocks noGrp="1"/>
          </p:cNvSpPr>
          <p:nvPr>
            <p:ph type="pic" sz="quarter" idx="23"/>
          </p:nvPr>
        </p:nvSpPr>
        <p:spPr>
          <a:xfrm>
            <a:off x="0" y="2517912"/>
            <a:ext cx="12192000" cy="2888975"/>
          </a:xfrm>
          <a:prstGeom prst="rect">
            <a:avLst/>
          </a:prstGeo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15" name="TextBox 14"/>
          <p:cNvSpPr txBox="1"/>
          <p:nvPr userDrawn="1"/>
        </p:nvSpPr>
        <p:spPr>
          <a:xfrm>
            <a:off x="11286889" y="465183"/>
            <a:ext cx="649356" cy="307777"/>
          </a:xfrm>
          <a:prstGeom prst="rect">
            <a:avLst/>
          </a:prstGeom>
          <a:noFill/>
        </p:spPr>
        <p:txBody>
          <a:bodyPr wrap="square" rtlCol="0">
            <a:spAutoFit/>
          </a:bodyPr>
          <a:lstStyle/>
          <a:p>
            <a:pPr algn="ctr"/>
            <a:fld id="{49B9A1CC-CF23-404A-A754-6B4803B2A082}" type="slidenum">
              <a:rPr lang="id-ID" sz="1400" smtClean="0">
                <a:solidFill>
                  <a:schemeClr val="bg1">
                    <a:lumMod val="50000"/>
                  </a:schemeClr>
                </a:solidFill>
              </a:rPr>
              <a:t>‹nº›</a:t>
            </a:fld>
            <a:endParaRPr lang="id-ID" sz="1400">
              <a:solidFill>
                <a:schemeClr val="bg1">
                  <a:lumMod val="50000"/>
                </a:schemeClr>
              </a:solidFill>
            </a:endParaRPr>
          </a:p>
        </p:txBody>
      </p:sp>
      <p:sp>
        <p:nvSpPr>
          <p:cNvPr id="16" name="Oval 15"/>
          <p:cNvSpPr/>
          <p:nvPr userDrawn="1"/>
        </p:nvSpPr>
        <p:spPr>
          <a:xfrm>
            <a:off x="11395567" y="408099"/>
            <a:ext cx="432000" cy="432000"/>
          </a:xfrm>
          <a:prstGeom prst="ellipse">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Tree>
    <p:extLst>
      <p:ext uri="{BB962C8B-B14F-4D97-AF65-F5344CB8AC3E}">
        <p14:creationId xmlns:p14="http://schemas.microsoft.com/office/powerpoint/2010/main" val="270261536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4_Normal Center - circle image">
    <p:spTree>
      <p:nvGrpSpPr>
        <p:cNvPr id="1" name=""/>
        <p:cNvGrpSpPr/>
        <p:nvPr/>
      </p:nvGrpSpPr>
      <p:grpSpPr>
        <a:xfrm>
          <a:off x="0" y="0"/>
          <a:ext cx="0" cy="0"/>
          <a:chOff x="0" y="0"/>
          <a:chExt cx="0" cy="0"/>
        </a:xfrm>
      </p:grpSpPr>
      <p:sp>
        <p:nvSpPr>
          <p:cNvPr id="18" name="TextBox 17"/>
          <p:cNvSpPr txBox="1"/>
          <p:nvPr userDrawn="1"/>
        </p:nvSpPr>
        <p:spPr>
          <a:xfrm>
            <a:off x="11297481" y="489759"/>
            <a:ext cx="649356" cy="307777"/>
          </a:xfrm>
          <a:prstGeom prst="rect">
            <a:avLst/>
          </a:prstGeom>
          <a:noFill/>
        </p:spPr>
        <p:txBody>
          <a:bodyPr wrap="square" rtlCol="0">
            <a:spAutoFit/>
          </a:bodyPr>
          <a:lstStyle/>
          <a:p>
            <a:pPr algn="ctr"/>
            <a:fld id="{49B9A1CC-CF23-404A-A754-6B4803B2A082}" type="slidenum">
              <a:rPr lang="id-ID" sz="1400" smtClean="0">
                <a:solidFill>
                  <a:schemeClr val="bg2">
                    <a:lumMod val="65000"/>
                  </a:schemeClr>
                </a:solidFill>
              </a:rPr>
              <a:t>‹nº›</a:t>
            </a:fld>
            <a:endParaRPr lang="id-ID" sz="1400">
              <a:solidFill>
                <a:schemeClr val="bg2">
                  <a:lumMod val="65000"/>
                </a:schemeClr>
              </a:solidFill>
            </a:endParaRPr>
          </a:p>
        </p:txBody>
      </p:sp>
      <p:sp>
        <p:nvSpPr>
          <p:cNvPr id="3" name="Oval 2"/>
          <p:cNvSpPr/>
          <p:nvPr userDrawn="1"/>
        </p:nvSpPr>
        <p:spPr>
          <a:xfrm>
            <a:off x="11406159" y="432675"/>
            <a:ext cx="432000" cy="432000"/>
          </a:xfrm>
          <a:prstGeom prst="ellipse">
            <a:avLst/>
          </a:prstGeom>
          <a:no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9" name="Picture Placeholder 3"/>
          <p:cNvSpPr>
            <a:spLocks noGrp="1" noChangeAspect="1"/>
          </p:cNvSpPr>
          <p:nvPr>
            <p:ph type="pic" sz="quarter" idx="11"/>
          </p:nvPr>
        </p:nvSpPr>
        <p:spPr>
          <a:xfrm>
            <a:off x="829850" y="2054087"/>
            <a:ext cx="2160000" cy="2160000"/>
          </a:xfrm>
          <a:prstGeom prst="ellipse">
            <a:avLst/>
          </a:prstGeom>
        </p:spPr>
        <p:txBody>
          <a:bodyPr lIns="182880" tIns="91440" rIns="182880" bIns="91440"/>
          <a:lstStyle>
            <a:lvl1pPr marL="0" indent="0">
              <a:buFontTx/>
              <a:buNone/>
              <a:defRPr/>
            </a:lvl1pPr>
          </a:lstStyle>
          <a:p>
            <a:endParaRPr lang="en-US"/>
          </a:p>
        </p:txBody>
      </p:sp>
      <p:sp>
        <p:nvSpPr>
          <p:cNvPr id="23" name="Picture Placeholder 3"/>
          <p:cNvSpPr>
            <a:spLocks noGrp="1" noChangeAspect="1"/>
          </p:cNvSpPr>
          <p:nvPr>
            <p:ph type="pic" sz="quarter" idx="12"/>
          </p:nvPr>
        </p:nvSpPr>
        <p:spPr>
          <a:xfrm>
            <a:off x="3632685" y="2054087"/>
            <a:ext cx="2160000" cy="2160000"/>
          </a:xfrm>
          <a:prstGeom prst="ellipse">
            <a:avLst/>
          </a:prstGeom>
        </p:spPr>
        <p:txBody>
          <a:bodyPr lIns="182880" tIns="91440" rIns="182880" bIns="91440"/>
          <a:lstStyle>
            <a:lvl1pPr marL="0" indent="0">
              <a:buFontTx/>
              <a:buNone/>
              <a:defRPr/>
            </a:lvl1pPr>
          </a:lstStyle>
          <a:p>
            <a:endParaRPr lang="en-US"/>
          </a:p>
        </p:txBody>
      </p:sp>
      <p:sp>
        <p:nvSpPr>
          <p:cNvPr id="24" name="Picture Placeholder 3"/>
          <p:cNvSpPr>
            <a:spLocks noGrp="1" noChangeAspect="1"/>
          </p:cNvSpPr>
          <p:nvPr>
            <p:ph type="pic" sz="quarter" idx="13"/>
          </p:nvPr>
        </p:nvSpPr>
        <p:spPr>
          <a:xfrm>
            <a:off x="6435520" y="2054087"/>
            <a:ext cx="2160000" cy="2160000"/>
          </a:xfrm>
          <a:prstGeom prst="ellipse">
            <a:avLst/>
          </a:prstGeom>
        </p:spPr>
        <p:txBody>
          <a:bodyPr lIns="182880" tIns="91440" rIns="182880" bIns="91440"/>
          <a:lstStyle>
            <a:lvl1pPr marL="0" indent="0">
              <a:buFontTx/>
              <a:buNone/>
              <a:defRPr/>
            </a:lvl1pPr>
          </a:lstStyle>
          <a:p>
            <a:endParaRPr lang="en-US"/>
          </a:p>
        </p:txBody>
      </p:sp>
      <p:sp>
        <p:nvSpPr>
          <p:cNvPr id="25" name="Picture Placeholder 3"/>
          <p:cNvSpPr>
            <a:spLocks noGrp="1" noChangeAspect="1"/>
          </p:cNvSpPr>
          <p:nvPr>
            <p:ph type="pic" sz="quarter" idx="14"/>
          </p:nvPr>
        </p:nvSpPr>
        <p:spPr>
          <a:xfrm>
            <a:off x="9238355" y="2054087"/>
            <a:ext cx="2160000" cy="2160000"/>
          </a:xfrm>
          <a:prstGeom prst="ellipse">
            <a:avLst/>
          </a:prstGeom>
        </p:spPr>
        <p:txBody>
          <a:bodyPr lIns="182880" tIns="91440" rIns="182880" bIns="91440"/>
          <a:lstStyle>
            <a:lvl1pPr marL="0" indent="0">
              <a:buFontTx/>
              <a:buNone/>
              <a:defRPr/>
            </a:lvl1pPr>
          </a:lstStyle>
          <a:p>
            <a:endParaRPr lang="en-US"/>
          </a:p>
        </p:txBody>
      </p:sp>
    </p:spTree>
    <p:extLst>
      <p:ext uri="{BB962C8B-B14F-4D97-AF65-F5344CB8AC3E}">
        <p14:creationId xmlns:p14="http://schemas.microsoft.com/office/powerpoint/2010/main" val="388233091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5_Normal Center - half full">
    <p:spTree>
      <p:nvGrpSpPr>
        <p:cNvPr id="1" name=""/>
        <p:cNvGrpSpPr/>
        <p:nvPr/>
      </p:nvGrpSpPr>
      <p:grpSpPr>
        <a:xfrm>
          <a:off x="0" y="0"/>
          <a:ext cx="0" cy="0"/>
          <a:chOff x="0" y="0"/>
          <a:chExt cx="0" cy="0"/>
        </a:xfrm>
      </p:grpSpPr>
      <p:sp>
        <p:nvSpPr>
          <p:cNvPr id="15" name="TextBox 14"/>
          <p:cNvSpPr txBox="1"/>
          <p:nvPr userDrawn="1"/>
        </p:nvSpPr>
        <p:spPr>
          <a:xfrm>
            <a:off x="11286889" y="465183"/>
            <a:ext cx="649356" cy="307777"/>
          </a:xfrm>
          <a:prstGeom prst="rect">
            <a:avLst/>
          </a:prstGeom>
          <a:noFill/>
        </p:spPr>
        <p:txBody>
          <a:bodyPr wrap="square" rtlCol="0">
            <a:spAutoFit/>
          </a:bodyPr>
          <a:lstStyle/>
          <a:p>
            <a:pPr algn="ctr"/>
            <a:fld id="{49B9A1CC-CF23-404A-A754-6B4803B2A082}" type="slidenum">
              <a:rPr lang="id-ID" sz="1400" smtClean="0">
                <a:solidFill>
                  <a:schemeClr val="bg1">
                    <a:lumMod val="50000"/>
                  </a:schemeClr>
                </a:solidFill>
              </a:rPr>
              <a:t>‹nº›</a:t>
            </a:fld>
            <a:endParaRPr lang="id-ID" sz="1400">
              <a:solidFill>
                <a:schemeClr val="bg1">
                  <a:lumMod val="50000"/>
                </a:schemeClr>
              </a:solidFill>
            </a:endParaRPr>
          </a:p>
        </p:txBody>
      </p:sp>
      <p:sp>
        <p:nvSpPr>
          <p:cNvPr id="16" name="Oval 15"/>
          <p:cNvSpPr/>
          <p:nvPr userDrawn="1"/>
        </p:nvSpPr>
        <p:spPr>
          <a:xfrm>
            <a:off x="11395567" y="408099"/>
            <a:ext cx="432000" cy="432000"/>
          </a:xfrm>
          <a:prstGeom prst="ellipse">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 name="Picture Placeholder 2"/>
          <p:cNvSpPr>
            <a:spLocks noGrp="1"/>
          </p:cNvSpPr>
          <p:nvPr>
            <p:ph type="pic" sz="quarter" idx="14"/>
          </p:nvPr>
        </p:nvSpPr>
        <p:spPr>
          <a:xfrm>
            <a:off x="857261" y="2445784"/>
            <a:ext cx="3379794" cy="1910792"/>
          </a:xfrm>
        </p:spPr>
        <p:txBody>
          <a:bodyPr>
            <a:normAutofit/>
          </a:bodyPr>
          <a:lstStyle>
            <a:lvl1pPr>
              <a:defRPr sz="1050"/>
            </a:lvl1pPr>
          </a:lstStyle>
          <a:p>
            <a:endParaRPr lang="en-US"/>
          </a:p>
        </p:txBody>
      </p:sp>
      <p:sp>
        <p:nvSpPr>
          <p:cNvPr id="12" name="Picture Placeholder 2"/>
          <p:cNvSpPr>
            <a:spLocks noGrp="1"/>
          </p:cNvSpPr>
          <p:nvPr>
            <p:ph type="pic" sz="quarter" idx="15"/>
          </p:nvPr>
        </p:nvSpPr>
        <p:spPr>
          <a:xfrm>
            <a:off x="857261" y="4548066"/>
            <a:ext cx="3379794" cy="1910792"/>
          </a:xfrm>
        </p:spPr>
        <p:txBody>
          <a:bodyPr>
            <a:normAutofit/>
          </a:bodyPr>
          <a:lstStyle>
            <a:lvl1pPr>
              <a:defRPr sz="1050"/>
            </a:lvl1pPr>
          </a:lstStyle>
          <a:p>
            <a:endParaRPr lang="en-US"/>
          </a:p>
        </p:txBody>
      </p:sp>
      <p:sp>
        <p:nvSpPr>
          <p:cNvPr id="13" name="Picture Placeholder 2"/>
          <p:cNvSpPr>
            <a:spLocks noGrp="1"/>
          </p:cNvSpPr>
          <p:nvPr>
            <p:ph type="pic" sz="quarter" idx="16"/>
          </p:nvPr>
        </p:nvSpPr>
        <p:spPr>
          <a:xfrm>
            <a:off x="4462006" y="2445784"/>
            <a:ext cx="3379794" cy="1910792"/>
          </a:xfrm>
        </p:spPr>
        <p:txBody>
          <a:bodyPr>
            <a:normAutofit/>
          </a:bodyPr>
          <a:lstStyle>
            <a:lvl1pPr>
              <a:defRPr sz="1050"/>
            </a:lvl1pPr>
          </a:lstStyle>
          <a:p>
            <a:endParaRPr lang="en-US"/>
          </a:p>
        </p:txBody>
      </p:sp>
      <p:sp>
        <p:nvSpPr>
          <p:cNvPr id="14" name="Picture Placeholder 2"/>
          <p:cNvSpPr>
            <a:spLocks noGrp="1"/>
          </p:cNvSpPr>
          <p:nvPr>
            <p:ph type="pic" sz="quarter" idx="17"/>
          </p:nvPr>
        </p:nvSpPr>
        <p:spPr>
          <a:xfrm>
            <a:off x="4462006" y="4548066"/>
            <a:ext cx="3379794" cy="1910792"/>
          </a:xfrm>
        </p:spPr>
        <p:txBody>
          <a:bodyPr>
            <a:normAutofit/>
          </a:bodyPr>
          <a:lstStyle>
            <a:lvl1pPr>
              <a:defRPr sz="1050"/>
            </a:lvl1pPr>
          </a:lstStyle>
          <a:p>
            <a:endParaRPr lang="en-US"/>
          </a:p>
        </p:txBody>
      </p:sp>
      <p:sp>
        <p:nvSpPr>
          <p:cNvPr id="17" name="Picture Placeholder 2"/>
          <p:cNvSpPr>
            <a:spLocks noGrp="1"/>
          </p:cNvSpPr>
          <p:nvPr>
            <p:ph type="pic" sz="quarter" idx="18"/>
          </p:nvPr>
        </p:nvSpPr>
        <p:spPr>
          <a:xfrm>
            <a:off x="8066752" y="2445784"/>
            <a:ext cx="3379794" cy="1910792"/>
          </a:xfrm>
        </p:spPr>
        <p:txBody>
          <a:bodyPr>
            <a:normAutofit/>
          </a:bodyPr>
          <a:lstStyle>
            <a:lvl1pPr>
              <a:defRPr sz="1050"/>
            </a:lvl1pPr>
          </a:lstStyle>
          <a:p>
            <a:endParaRPr lang="en-US"/>
          </a:p>
        </p:txBody>
      </p:sp>
      <p:sp>
        <p:nvSpPr>
          <p:cNvPr id="18" name="Picture Placeholder 2"/>
          <p:cNvSpPr>
            <a:spLocks noGrp="1"/>
          </p:cNvSpPr>
          <p:nvPr>
            <p:ph type="pic" sz="quarter" idx="19"/>
          </p:nvPr>
        </p:nvSpPr>
        <p:spPr>
          <a:xfrm>
            <a:off x="8066751" y="4548066"/>
            <a:ext cx="3379794" cy="1910792"/>
          </a:xfrm>
        </p:spPr>
        <p:txBody>
          <a:bodyPr>
            <a:normAutofit/>
          </a:bodyPr>
          <a:lstStyle>
            <a:lvl1pPr>
              <a:defRPr sz="1050"/>
            </a:lvl1pPr>
          </a:lstStyle>
          <a:p>
            <a:endParaRPr lang="en-US"/>
          </a:p>
        </p:txBody>
      </p:sp>
    </p:spTree>
    <p:extLst>
      <p:ext uri="{BB962C8B-B14F-4D97-AF65-F5344CB8AC3E}">
        <p14:creationId xmlns:p14="http://schemas.microsoft.com/office/powerpoint/2010/main" val="345054688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ortfolio 1">
    <p:spTree>
      <p:nvGrpSpPr>
        <p:cNvPr id="1" name=""/>
        <p:cNvGrpSpPr/>
        <p:nvPr/>
      </p:nvGrpSpPr>
      <p:grpSpPr>
        <a:xfrm>
          <a:off x="0" y="0"/>
          <a:ext cx="0" cy="0"/>
          <a:chOff x="0" y="0"/>
          <a:chExt cx="0" cy="0"/>
        </a:xfrm>
      </p:grpSpPr>
      <p:sp>
        <p:nvSpPr>
          <p:cNvPr id="20" name="Picture Placeholder 2"/>
          <p:cNvSpPr>
            <a:spLocks noGrp="1"/>
          </p:cNvSpPr>
          <p:nvPr>
            <p:ph type="pic" sz="quarter" idx="12" hasCustomPrompt="1"/>
          </p:nvPr>
        </p:nvSpPr>
        <p:spPr>
          <a:xfrm>
            <a:off x="1108073" y="2420547"/>
            <a:ext cx="2334807" cy="3403893"/>
          </a:xfrm>
          <a:prstGeom prst="roundRect">
            <a:avLst>
              <a:gd name="adj" fmla="val 7248"/>
            </a:avLst>
          </a:prstGeom>
          <a:solidFill>
            <a:schemeClr val="accent2"/>
          </a:solidFill>
        </p:spPr>
        <p:txBody>
          <a:bodyPr anchor="ctr">
            <a:normAutofit/>
          </a:bodyPr>
          <a:lstStyle>
            <a:lvl1pPr marL="0" indent="0" algn="ctr">
              <a:buNone/>
              <a:defRPr sz="1800" b="0" i="0" baseline="0">
                <a:latin typeface="Roboto Medium" charset="0"/>
                <a:ea typeface="Roboto Medium" charset="0"/>
                <a:cs typeface="Roboto Medium" charset="0"/>
              </a:defRPr>
            </a:lvl1pPr>
          </a:lstStyle>
          <a:p>
            <a:r>
              <a:rPr lang="en-US"/>
              <a:t>Insert Image</a:t>
            </a:r>
          </a:p>
        </p:txBody>
      </p:sp>
      <p:sp>
        <p:nvSpPr>
          <p:cNvPr id="21" name="Picture Placeholder 2"/>
          <p:cNvSpPr>
            <a:spLocks noGrp="1"/>
          </p:cNvSpPr>
          <p:nvPr>
            <p:ph type="pic" sz="quarter" idx="13" hasCustomPrompt="1"/>
          </p:nvPr>
        </p:nvSpPr>
        <p:spPr>
          <a:xfrm>
            <a:off x="3662220" y="2420547"/>
            <a:ext cx="2334807" cy="3403893"/>
          </a:xfrm>
          <a:prstGeom prst="roundRect">
            <a:avLst>
              <a:gd name="adj" fmla="val 7248"/>
            </a:avLst>
          </a:prstGeom>
          <a:solidFill>
            <a:schemeClr val="accent2"/>
          </a:solidFill>
        </p:spPr>
        <p:txBody>
          <a:bodyPr anchor="ctr">
            <a:normAutofit/>
          </a:bodyPr>
          <a:lstStyle>
            <a:lvl1pPr marL="0" indent="0" algn="ctr">
              <a:buNone/>
              <a:defRPr sz="1800" b="0" i="0" baseline="0">
                <a:latin typeface="Roboto Medium" charset="0"/>
                <a:ea typeface="Roboto Medium" charset="0"/>
                <a:cs typeface="Roboto Medium" charset="0"/>
              </a:defRPr>
            </a:lvl1pPr>
          </a:lstStyle>
          <a:p>
            <a:r>
              <a:rPr lang="en-US"/>
              <a:t>Insert Image</a:t>
            </a:r>
          </a:p>
        </p:txBody>
      </p:sp>
      <p:sp>
        <p:nvSpPr>
          <p:cNvPr id="22" name="Picture Placeholder 2"/>
          <p:cNvSpPr>
            <a:spLocks noGrp="1"/>
          </p:cNvSpPr>
          <p:nvPr>
            <p:ph type="pic" sz="quarter" idx="14" hasCustomPrompt="1"/>
          </p:nvPr>
        </p:nvSpPr>
        <p:spPr>
          <a:xfrm>
            <a:off x="6216367" y="2420547"/>
            <a:ext cx="2334807" cy="3403893"/>
          </a:xfrm>
          <a:prstGeom prst="roundRect">
            <a:avLst>
              <a:gd name="adj" fmla="val 7248"/>
            </a:avLst>
          </a:prstGeom>
          <a:solidFill>
            <a:schemeClr val="accent2"/>
          </a:solidFill>
        </p:spPr>
        <p:txBody>
          <a:bodyPr anchor="ctr">
            <a:normAutofit/>
          </a:bodyPr>
          <a:lstStyle>
            <a:lvl1pPr marL="0" indent="0" algn="ctr">
              <a:buNone/>
              <a:defRPr sz="1800" b="0" i="0" baseline="0">
                <a:latin typeface="Roboto Medium" charset="0"/>
                <a:ea typeface="Roboto Medium" charset="0"/>
                <a:cs typeface="Roboto Medium" charset="0"/>
              </a:defRPr>
            </a:lvl1pPr>
          </a:lstStyle>
          <a:p>
            <a:r>
              <a:rPr lang="en-US"/>
              <a:t>Insert Image</a:t>
            </a:r>
          </a:p>
        </p:txBody>
      </p:sp>
      <p:sp>
        <p:nvSpPr>
          <p:cNvPr id="26" name="Picture Placeholder 2"/>
          <p:cNvSpPr>
            <a:spLocks noGrp="1"/>
          </p:cNvSpPr>
          <p:nvPr>
            <p:ph type="pic" sz="quarter" idx="15" hasCustomPrompt="1"/>
          </p:nvPr>
        </p:nvSpPr>
        <p:spPr>
          <a:xfrm>
            <a:off x="8770514" y="2420547"/>
            <a:ext cx="2334807" cy="3403893"/>
          </a:xfrm>
          <a:prstGeom prst="roundRect">
            <a:avLst>
              <a:gd name="adj" fmla="val 7248"/>
            </a:avLst>
          </a:prstGeom>
          <a:solidFill>
            <a:schemeClr val="accent2"/>
          </a:solidFill>
        </p:spPr>
        <p:txBody>
          <a:bodyPr anchor="ctr">
            <a:normAutofit/>
          </a:bodyPr>
          <a:lstStyle>
            <a:lvl1pPr marL="0" indent="0" algn="ctr">
              <a:buNone/>
              <a:defRPr sz="1800" b="0" i="0" baseline="0">
                <a:latin typeface="Roboto Medium" charset="0"/>
                <a:ea typeface="Roboto Medium" charset="0"/>
                <a:cs typeface="Roboto Medium" charset="0"/>
              </a:defRPr>
            </a:lvl1pPr>
          </a:lstStyle>
          <a:p>
            <a:r>
              <a:rPr lang="en-US"/>
              <a:t>Insert Image</a:t>
            </a:r>
          </a:p>
        </p:txBody>
      </p:sp>
      <p:sp>
        <p:nvSpPr>
          <p:cNvPr id="19" name="TextBox 18"/>
          <p:cNvSpPr txBox="1"/>
          <p:nvPr userDrawn="1"/>
        </p:nvSpPr>
        <p:spPr>
          <a:xfrm>
            <a:off x="11286889" y="465183"/>
            <a:ext cx="649356" cy="307777"/>
          </a:xfrm>
          <a:prstGeom prst="rect">
            <a:avLst/>
          </a:prstGeom>
          <a:noFill/>
        </p:spPr>
        <p:txBody>
          <a:bodyPr wrap="square" rtlCol="0">
            <a:spAutoFit/>
          </a:bodyPr>
          <a:lstStyle/>
          <a:p>
            <a:pPr algn="ctr"/>
            <a:fld id="{49B9A1CC-CF23-404A-A754-6B4803B2A082}" type="slidenum">
              <a:rPr lang="id-ID" sz="1400" smtClean="0">
                <a:solidFill>
                  <a:schemeClr val="bg1">
                    <a:lumMod val="50000"/>
                  </a:schemeClr>
                </a:solidFill>
              </a:rPr>
              <a:t>‹nº›</a:t>
            </a:fld>
            <a:endParaRPr lang="id-ID" sz="1400">
              <a:solidFill>
                <a:schemeClr val="bg1">
                  <a:lumMod val="50000"/>
                </a:schemeClr>
              </a:solidFill>
            </a:endParaRPr>
          </a:p>
        </p:txBody>
      </p:sp>
      <p:sp>
        <p:nvSpPr>
          <p:cNvPr id="23" name="Oval 22"/>
          <p:cNvSpPr/>
          <p:nvPr userDrawn="1"/>
        </p:nvSpPr>
        <p:spPr>
          <a:xfrm>
            <a:off x="11395567" y="408099"/>
            <a:ext cx="432000" cy="432000"/>
          </a:xfrm>
          <a:prstGeom prst="ellipse">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Tree>
    <p:extLst>
      <p:ext uri="{BB962C8B-B14F-4D97-AF65-F5344CB8AC3E}">
        <p14:creationId xmlns:p14="http://schemas.microsoft.com/office/powerpoint/2010/main" val="62045541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portfolio 2">
    <p:spTree>
      <p:nvGrpSpPr>
        <p:cNvPr id="1" name=""/>
        <p:cNvGrpSpPr/>
        <p:nvPr/>
      </p:nvGrpSpPr>
      <p:grpSpPr>
        <a:xfrm>
          <a:off x="0" y="0"/>
          <a:ext cx="0" cy="0"/>
          <a:chOff x="0" y="0"/>
          <a:chExt cx="0" cy="0"/>
        </a:xfrm>
      </p:grpSpPr>
      <p:sp>
        <p:nvSpPr>
          <p:cNvPr id="19" name="Picture Placeholder 2"/>
          <p:cNvSpPr>
            <a:spLocks noGrp="1"/>
          </p:cNvSpPr>
          <p:nvPr>
            <p:ph type="pic" sz="quarter" idx="12" hasCustomPrompt="1"/>
          </p:nvPr>
        </p:nvSpPr>
        <p:spPr>
          <a:xfrm>
            <a:off x="682487" y="1659796"/>
            <a:ext cx="2998936" cy="4461170"/>
          </a:xfrm>
          <a:prstGeom prst="roundRect">
            <a:avLst>
              <a:gd name="adj" fmla="val 7248"/>
            </a:avLst>
          </a:prstGeom>
          <a:solidFill>
            <a:schemeClr val="accent2"/>
          </a:solidFill>
        </p:spPr>
        <p:txBody>
          <a:bodyPr anchor="ctr">
            <a:normAutofit/>
          </a:bodyPr>
          <a:lstStyle>
            <a:lvl1pPr marL="0" indent="0" algn="ctr">
              <a:buNone/>
              <a:defRPr sz="1800" b="0" i="0" baseline="0">
                <a:latin typeface="Roboto Medium" charset="0"/>
                <a:ea typeface="Roboto Medium" charset="0"/>
                <a:cs typeface="Roboto Medium" charset="0"/>
              </a:defRPr>
            </a:lvl1pPr>
          </a:lstStyle>
          <a:p>
            <a:r>
              <a:rPr lang="en-US"/>
              <a:t>Insert Image</a:t>
            </a:r>
          </a:p>
        </p:txBody>
      </p:sp>
      <p:sp>
        <p:nvSpPr>
          <p:cNvPr id="23" name="Picture Placeholder 2"/>
          <p:cNvSpPr>
            <a:spLocks noGrp="1"/>
          </p:cNvSpPr>
          <p:nvPr>
            <p:ph type="pic" sz="quarter" idx="13" hasCustomPrompt="1"/>
          </p:nvPr>
        </p:nvSpPr>
        <p:spPr>
          <a:xfrm>
            <a:off x="3900762" y="1659795"/>
            <a:ext cx="2334807" cy="2196587"/>
          </a:xfrm>
          <a:prstGeom prst="roundRect">
            <a:avLst>
              <a:gd name="adj" fmla="val 7248"/>
            </a:avLst>
          </a:prstGeom>
          <a:solidFill>
            <a:schemeClr val="accent2"/>
          </a:solidFill>
        </p:spPr>
        <p:txBody>
          <a:bodyPr anchor="ctr">
            <a:normAutofit/>
          </a:bodyPr>
          <a:lstStyle>
            <a:lvl1pPr marL="0" indent="0" algn="ctr">
              <a:buNone/>
              <a:defRPr sz="1800" b="0" i="0" baseline="0">
                <a:latin typeface="Roboto Medium" charset="0"/>
                <a:ea typeface="Roboto Medium" charset="0"/>
                <a:cs typeface="Roboto Medium" charset="0"/>
              </a:defRPr>
            </a:lvl1pPr>
          </a:lstStyle>
          <a:p>
            <a:r>
              <a:rPr lang="en-US"/>
              <a:t>Insert Image</a:t>
            </a:r>
          </a:p>
        </p:txBody>
      </p:sp>
      <p:sp>
        <p:nvSpPr>
          <p:cNvPr id="24" name="Picture Placeholder 2"/>
          <p:cNvSpPr>
            <a:spLocks noGrp="1"/>
          </p:cNvSpPr>
          <p:nvPr>
            <p:ph type="pic" sz="quarter" idx="14" hasCustomPrompt="1"/>
          </p:nvPr>
        </p:nvSpPr>
        <p:spPr>
          <a:xfrm>
            <a:off x="6454909" y="1659795"/>
            <a:ext cx="2334807" cy="2196587"/>
          </a:xfrm>
          <a:prstGeom prst="roundRect">
            <a:avLst>
              <a:gd name="adj" fmla="val 7248"/>
            </a:avLst>
          </a:prstGeom>
          <a:solidFill>
            <a:schemeClr val="accent2"/>
          </a:solidFill>
        </p:spPr>
        <p:txBody>
          <a:bodyPr anchor="ctr">
            <a:normAutofit/>
          </a:bodyPr>
          <a:lstStyle>
            <a:lvl1pPr marL="0" indent="0" algn="ctr">
              <a:buNone/>
              <a:defRPr sz="1800" b="0" i="0" baseline="0">
                <a:latin typeface="Roboto Medium" charset="0"/>
                <a:ea typeface="Roboto Medium" charset="0"/>
                <a:cs typeface="Roboto Medium" charset="0"/>
              </a:defRPr>
            </a:lvl1pPr>
          </a:lstStyle>
          <a:p>
            <a:r>
              <a:rPr lang="en-US"/>
              <a:t>Insert Image</a:t>
            </a:r>
          </a:p>
        </p:txBody>
      </p:sp>
      <p:sp>
        <p:nvSpPr>
          <p:cNvPr id="25" name="Picture Placeholder 2"/>
          <p:cNvSpPr>
            <a:spLocks noGrp="1"/>
          </p:cNvSpPr>
          <p:nvPr>
            <p:ph type="pic" sz="quarter" idx="15" hasCustomPrompt="1"/>
          </p:nvPr>
        </p:nvSpPr>
        <p:spPr>
          <a:xfrm>
            <a:off x="9009056" y="1659795"/>
            <a:ext cx="2334807" cy="2196587"/>
          </a:xfrm>
          <a:prstGeom prst="roundRect">
            <a:avLst>
              <a:gd name="adj" fmla="val 7248"/>
            </a:avLst>
          </a:prstGeom>
          <a:solidFill>
            <a:schemeClr val="accent2"/>
          </a:solidFill>
        </p:spPr>
        <p:txBody>
          <a:bodyPr anchor="ctr">
            <a:normAutofit/>
          </a:bodyPr>
          <a:lstStyle>
            <a:lvl1pPr marL="0" indent="0" algn="ctr">
              <a:buNone/>
              <a:defRPr sz="1800" b="0" i="0" baseline="0">
                <a:latin typeface="Roboto Medium" charset="0"/>
                <a:ea typeface="Roboto Medium" charset="0"/>
                <a:cs typeface="Roboto Medium" charset="0"/>
              </a:defRPr>
            </a:lvl1pPr>
          </a:lstStyle>
          <a:p>
            <a:r>
              <a:rPr lang="en-US"/>
              <a:t>Insert Image</a:t>
            </a:r>
          </a:p>
        </p:txBody>
      </p:sp>
      <p:sp>
        <p:nvSpPr>
          <p:cNvPr id="27" name="Picture Placeholder 2"/>
          <p:cNvSpPr>
            <a:spLocks noGrp="1"/>
          </p:cNvSpPr>
          <p:nvPr>
            <p:ph type="pic" sz="quarter" idx="16" hasCustomPrompt="1"/>
          </p:nvPr>
        </p:nvSpPr>
        <p:spPr>
          <a:xfrm>
            <a:off x="3900762" y="3924379"/>
            <a:ext cx="7443101" cy="2196587"/>
          </a:xfrm>
          <a:prstGeom prst="roundRect">
            <a:avLst>
              <a:gd name="adj" fmla="val 7248"/>
            </a:avLst>
          </a:prstGeom>
          <a:solidFill>
            <a:schemeClr val="accent2"/>
          </a:solidFill>
        </p:spPr>
        <p:txBody>
          <a:bodyPr anchor="ctr">
            <a:normAutofit/>
          </a:bodyPr>
          <a:lstStyle>
            <a:lvl1pPr marL="0" indent="0" algn="ctr">
              <a:buNone/>
              <a:defRPr sz="1800" b="0" i="0" baseline="0">
                <a:latin typeface="Roboto Medium" charset="0"/>
                <a:ea typeface="Roboto Medium" charset="0"/>
                <a:cs typeface="Roboto Medium" charset="0"/>
              </a:defRPr>
            </a:lvl1pPr>
          </a:lstStyle>
          <a:p>
            <a:r>
              <a:rPr lang="en-US"/>
              <a:t>Insert Image</a:t>
            </a:r>
          </a:p>
        </p:txBody>
      </p:sp>
      <p:sp>
        <p:nvSpPr>
          <p:cNvPr id="20" name="TextBox 19"/>
          <p:cNvSpPr txBox="1"/>
          <p:nvPr userDrawn="1"/>
        </p:nvSpPr>
        <p:spPr>
          <a:xfrm>
            <a:off x="11286889" y="465183"/>
            <a:ext cx="649356" cy="307777"/>
          </a:xfrm>
          <a:prstGeom prst="rect">
            <a:avLst/>
          </a:prstGeom>
          <a:noFill/>
        </p:spPr>
        <p:txBody>
          <a:bodyPr wrap="square" rtlCol="0">
            <a:spAutoFit/>
          </a:bodyPr>
          <a:lstStyle/>
          <a:p>
            <a:pPr algn="ctr"/>
            <a:fld id="{49B9A1CC-CF23-404A-A754-6B4803B2A082}" type="slidenum">
              <a:rPr lang="id-ID" sz="1400" smtClean="0">
                <a:solidFill>
                  <a:schemeClr val="bg1">
                    <a:lumMod val="50000"/>
                  </a:schemeClr>
                </a:solidFill>
              </a:rPr>
              <a:t>‹nº›</a:t>
            </a:fld>
            <a:endParaRPr lang="id-ID" sz="1400">
              <a:solidFill>
                <a:schemeClr val="bg1">
                  <a:lumMod val="50000"/>
                </a:schemeClr>
              </a:solidFill>
            </a:endParaRPr>
          </a:p>
        </p:txBody>
      </p:sp>
      <p:sp>
        <p:nvSpPr>
          <p:cNvPr id="21" name="Oval 20"/>
          <p:cNvSpPr/>
          <p:nvPr userDrawn="1"/>
        </p:nvSpPr>
        <p:spPr>
          <a:xfrm>
            <a:off x="11395567" y="408099"/>
            <a:ext cx="432000" cy="432000"/>
          </a:xfrm>
          <a:prstGeom prst="ellipse">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Tree>
    <p:extLst>
      <p:ext uri="{BB962C8B-B14F-4D97-AF65-F5344CB8AC3E}">
        <p14:creationId xmlns:p14="http://schemas.microsoft.com/office/powerpoint/2010/main" val="213955671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portfolio 3">
    <p:spTree>
      <p:nvGrpSpPr>
        <p:cNvPr id="1" name=""/>
        <p:cNvGrpSpPr/>
        <p:nvPr/>
      </p:nvGrpSpPr>
      <p:grpSpPr>
        <a:xfrm>
          <a:off x="0" y="0"/>
          <a:ext cx="0" cy="0"/>
          <a:chOff x="0" y="0"/>
          <a:chExt cx="0" cy="0"/>
        </a:xfrm>
      </p:grpSpPr>
      <p:sp>
        <p:nvSpPr>
          <p:cNvPr id="18" name="TextBox 17"/>
          <p:cNvSpPr txBox="1"/>
          <p:nvPr userDrawn="1"/>
        </p:nvSpPr>
        <p:spPr>
          <a:xfrm>
            <a:off x="11286889" y="489759"/>
            <a:ext cx="649356" cy="307777"/>
          </a:xfrm>
          <a:prstGeom prst="rect">
            <a:avLst/>
          </a:prstGeom>
          <a:noFill/>
        </p:spPr>
        <p:txBody>
          <a:bodyPr wrap="square" rtlCol="0">
            <a:spAutoFit/>
          </a:bodyPr>
          <a:lstStyle/>
          <a:p>
            <a:pPr algn="ctr"/>
            <a:fld id="{49B9A1CC-CF23-404A-A754-6B4803B2A082}" type="slidenum">
              <a:rPr lang="id-ID" sz="1400" smtClean="0">
                <a:solidFill>
                  <a:schemeClr val="bg2">
                    <a:lumMod val="65000"/>
                  </a:schemeClr>
                </a:solidFill>
              </a:rPr>
              <a:t>‹nº›</a:t>
            </a:fld>
            <a:endParaRPr lang="id-ID" sz="1400">
              <a:solidFill>
                <a:schemeClr val="bg2">
                  <a:lumMod val="65000"/>
                </a:schemeClr>
              </a:solidFill>
            </a:endParaRPr>
          </a:p>
        </p:txBody>
      </p:sp>
      <p:sp>
        <p:nvSpPr>
          <p:cNvPr id="3" name="Oval 2"/>
          <p:cNvSpPr/>
          <p:nvPr userDrawn="1"/>
        </p:nvSpPr>
        <p:spPr>
          <a:xfrm>
            <a:off x="11395567" y="432675"/>
            <a:ext cx="432000" cy="432000"/>
          </a:xfrm>
          <a:prstGeom prst="ellipse">
            <a:avLst/>
          </a:prstGeom>
          <a:no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0" name="Picture Placeholder 2"/>
          <p:cNvSpPr>
            <a:spLocks noGrp="1"/>
          </p:cNvSpPr>
          <p:nvPr>
            <p:ph type="pic" sz="quarter" idx="13" hasCustomPrompt="1"/>
          </p:nvPr>
        </p:nvSpPr>
        <p:spPr>
          <a:xfrm>
            <a:off x="8571894" y="4001696"/>
            <a:ext cx="1893203" cy="2009001"/>
          </a:xfrm>
          <a:custGeom>
            <a:avLst/>
            <a:gdLst>
              <a:gd name="connsiteX0" fmla="*/ 0 w 1501342"/>
              <a:gd name="connsiteY0" fmla="*/ 84976 h 1501342"/>
              <a:gd name="connsiteX1" fmla="*/ 84976 w 1501342"/>
              <a:gd name="connsiteY1" fmla="*/ 0 h 1501342"/>
              <a:gd name="connsiteX2" fmla="*/ 1416366 w 1501342"/>
              <a:gd name="connsiteY2" fmla="*/ 0 h 1501342"/>
              <a:gd name="connsiteX3" fmla="*/ 1501342 w 1501342"/>
              <a:gd name="connsiteY3" fmla="*/ 84976 h 1501342"/>
              <a:gd name="connsiteX4" fmla="*/ 1501342 w 1501342"/>
              <a:gd name="connsiteY4" fmla="*/ 1416366 h 1501342"/>
              <a:gd name="connsiteX5" fmla="*/ 1416366 w 1501342"/>
              <a:gd name="connsiteY5" fmla="*/ 1501342 h 1501342"/>
              <a:gd name="connsiteX6" fmla="*/ 84976 w 1501342"/>
              <a:gd name="connsiteY6" fmla="*/ 1501342 h 1501342"/>
              <a:gd name="connsiteX7" fmla="*/ 0 w 1501342"/>
              <a:gd name="connsiteY7" fmla="*/ 1416366 h 1501342"/>
              <a:gd name="connsiteX8" fmla="*/ 0 w 1501342"/>
              <a:gd name="connsiteY8" fmla="*/ 84976 h 1501342"/>
              <a:gd name="connsiteX0" fmla="*/ 0 w 1501342"/>
              <a:gd name="connsiteY0" fmla="*/ 84976 h 1501342"/>
              <a:gd name="connsiteX1" fmla="*/ 84976 w 1501342"/>
              <a:gd name="connsiteY1" fmla="*/ 0 h 1501342"/>
              <a:gd name="connsiteX2" fmla="*/ 1416366 w 1501342"/>
              <a:gd name="connsiteY2" fmla="*/ 0 h 1501342"/>
              <a:gd name="connsiteX3" fmla="*/ 1501342 w 1501342"/>
              <a:gd name="connsiteY3" fmla="*/ 84976 h 1501342"/>
              <a:gd name="connsiteX4" fmla="*/ 1501342 w 1501342"/>
              <a:gd name="connsiteY4" fmla="*/ 1416366 h 1501342"/>
              <a:gd name="connsiteX5" fmla="*/ 1416366 w 1501342"/>
              <a:gd name="connsiteY5" fmla="*/ 1501342 h 1501342"/>
              <a:gd name="connsiteX6" fmla="*/ 84976 w 1501342"/>
              <a:gd name="connsiteY6" fmla="*/ 1501342 h 1501342"/>
              <a:gd name="connsiteX7" fmla="*/ 0 w 1501342"/>
              <a:gd name="connsiteY7" fmla="*/ 1416366 h 1501342"/>
              <a:gd name="connsiteX8" fmla="*/ 0 w 1501342"/>
              <a:gd name="connsiteY8" fmla="*/ 84976 h 1501342"/>
              <a:gd name="connsiteX0" fmla="*/ 0 w 1501342"/>
              <a:gd name="connsiteY0" fmla="*/ 1416366 h 1501342"/>
              <a:gd name="connsiteX1" fmla="*/ 84976 w 1501342"/>
              <a:gd name="connsiteY1" fmla="*/ 0 h 1501342"/>
              <a:gd name="connsiteX2" fmla="*/ 1416366 w 1501342"/>
              <a:gd name="connsiteY2" fmla="*/ 0 h 1501342"/>
              <a:gd name="connsiteX3" fmla="*/ 1501342 w 1501342"/>
              <a:gd name="connsiteY3" fmla="*/ 84976 h 1501342"/>
              <a:gd name="connsiteX4" fmla="*/ 1501342 w 1501342"/>
              <a:gd name="connsiteY4" fmla="*/ 1416366 h 1501342"/>
              <a:gd name="connsiteX5" fmla="*/ 1416366 w 1501342"/>
              <a:gd name="connsiteY5" fmla="*/ 1501342 h 1501342"/>
              <a:gd name="connsiteX6" fmla="*/ 84976 w 1501342"/>
              <a:gd name="connsiteY6" fmla="*/ 1501342 h 1501342"/>
              <a:gd name="connsiteX7" fmla="*/ 0 w 1501342"/>
              <a:gd name="connsiteY7" fmla="*/ 1416366 h 1501342"/>
              <a:gd name="connsiteX0" fmla="*/ 166423 w 1582789"/>
              <a:gd name="connsiteY0" fmla="*/ 1501342 h 1501342"/>
              <a:gd name="connsiteX1" fmla="*/ 166423 w 1582789"/>
              <a:gd name="connsiteY1" fmla="*/ 0 h 1501342"/>
              <a:gd name="connsiteX2" fmla="*/ 1497813 w 1582789"/>
              <a:gd name="connsiteY2" fmla="*/ 0 h 1501342"/>
              <a:gd name="connsiteX3" fmla="*/ 1582789 w 1582789"/>
              <a:gd name="connsiteY3" fmla="*/ 84976 h 1501342"/>
              <a:gd name="connsiteX4" fmla="*/ 1582789 w 1582789"/>
              <a:gd name="connsiteY4" fmla="*/ 1416366 h 1501342"/>
              <a:gd name="connsiteX5" fmla="*/ 1497813 w 1582789"/>
              <a:gd name="connsiteY5" fmla="*/ 1501342 h 1501342"/>
              <a:gd name="connsiteX6" fmla="*/ 166423 w 1582789"/>
              <a:gd name="connsiteY6" fmla="*/ 1501342 h 1501342"/>
              <a:gd name="connsiteX0" fmla="*/ 0 w 1416366"/>
              <a:gd name="connsiteY0" fmla="*/ 1501342 h 1501342"/>
              <a:gd name="connsiteX1" fmla="*/ 0 w 1416366"/>
              <a:gd name="connsiteY1" fmla="*/ 0 h 1501342"/>
              <a:gd name="connsiteX2" fmla="*/ 1331390 w 1416366"/>
              <a:gd name="connsiteY2" fmla="*/ 0 h 1501342"/>
              <a:gd name="connsiteX3" fmla="*/ 1416366 w 1416366"/>
              <a:gd name="connsiteY3" fmla="*/ 84976 h 1501342"/>
              <a:gd name="connsiteX4" fmla="*/ 1416366 w 1416366"/>
              <a:gd name="connsiteY4" fmla="*/ 1416366 h 1501342"/>
              <a:gd name="connsiteX5" fmla="*/ 1331390 w 1416366"/>
              <a:gd name="connsiteY5" fmla="*/ 1501342 h 1501342"/>
              <a:gd name="connsiteX6" fmla="*/ 0 w 1416366"/>
              <a:gd name="connsiteY6" fmla="*/ 1501342 h 150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16366" h="1501342">
                <a:moveTo>
                  <a:pt x="0" y="1501342"/>
                </a:moveTo>
                <a:lnTo>
                  <a:pt x="0" y="0"/>
                </a:lnTo>
                <a:lnTo>
                  <a:pt x="1331390" y="0"/>
                </a:lnTo>
                <a:cubicBezTo>
                  <a:pt x="1378321" y="0"/>
                  <a:pt x="1416366" y="38045"/>
                  <a:pt x="1416366" y="84976"/>
                </a:cubicBezTo>
                <a:lnTo>
                  <a:pt x="1416366" y="1416366"/>
                </a:lnTo>
                <a:cubicBezTo>
                  <a:pt x="1416366" y="1463297"/>
                  <a:pt x="1378321" y="1501342"/>
                  <a:pt x="1331390" y="1501342"/>
                </a:cubicBezTo>
                <a:lnTo>
                  <a:pt x="0" y="1501342"/>
                </a:lnTo>
                <a:close/>
              </a:path>
            </a:pathLst>
          </a:custGeom>
          <a:solidFill>
            <a:schemeClr val="accent2"/>
          </a:solidFill>
        </p:spPr>
        <p:txBody>
          <a:bodyPr anchor="ctr">
            <a:normAutofit/>
          </a:bodyPr>
          <a:lstStyle>
            <a:lvl1pPr marL="0" indent="0" algn="ctr">
              <a:buNone/>
              <a:defRPr sz="1800" b="0" i="0" baseline="0">
                <a:latin typeface="Roboto Medium" charset="0"/>
                <a:ea typeface="Roboto Medium" charset="0"/>
                <a:cs typeface="Roboto Medium" charset="0"/>
              </a:defRPr>
            </a:lvl1pPr>
          </a:lstStyle>
          <a:p>
            <a:r>
              <a:rPr lang="en-US"/>
              <a:t>Insert Image</a:t>
            </a:r>
          </a:p>
        </p:txBody>
      </p:sp>
      <p:sp>
        <p:nvSpPr>
          <p:cNvPr id="21" name="Picture Placeholder 2"/>
          <p:cNvSpPr>
            <a:spLocks noGrp="1"/>
          </p:cNvSpPr>
          <p:nvPr>
            <p:ph type="pic" sz="quarter" idx="14" hasCustomPrompt="1"/>
          </p:nvPr>
        </p:nvSpPr>
        <p:spPr>
          <a:xfrm>
            <a:off x="8571893" y="1873524"/>
            <a:ext cx="1893203" cy="2009001"/>
          </a:xfrm>
          <a:custGeom>
            <a:avLst/>
            <a:gdLst>
              <a:gd name="connsiteX0" fmla="*/ 0 w 1501342"/>
              <a:gd name="connsiteY0" fmla="*/ 84976 h 1501342"/>
              <a:gd name="connsiteX1" fmla="*/ 84976 w 1501342"/>
              <a:gd name="connsiteY1" fmla="*/ 0 h 1501342"/>
              <a:gd name="connsiteX2" fmla="*/ 1416366 w 1501342"/>
              <a:gd name="connsiteY2" fmla="*/ 0 h 1501342"/>
              <a:gd name="connsiteX3" fmla="*/ 1501342 w 1501342"/>
              <a:gd name="connsiteY3" fmla="*/ 84976 h 1501342"/>
              <a:gd name="connsiteX4" fmla="*/ 1501342 w 1501342"/>
              <a:gd name="connsiteY4" fmla="*/ 1416366 h 1501342"/>
              <a:gd name="connsiteX5" fmla="*/ 1416366 w 1501342"/>
              <a:gd name="connsiteY5" fmla="*/ 1501342 h 1501342"/>
              <a:gd name="connsiteX6" fmla="*/ 84976 w 1501342"/>
              <a:gd name="connsiteY6" fmla="*/ 1501342 h 1501342"/>
              <a:gd name="connsiteX7" fmla="*/ 0 w 1501342"/>
              <a:gd name="connsiteY7" fmla="*/ 1416366 h 1501342"/>
              <a:gd name="connsiteX8" fmla="*/ 0 w 1501342"/>
              <a:gd name="connsiteY8" fmla="*/ 84976 h 1501342"/>
              <a:gd name="connsiteX0" fmla="*/ 0 w 1501342"/>
              <a:gd name="connsiteY0" fmla="*/ 84976 h 1501342"/>
              <a:gd name="connsiteX1" fmla="*/ 84976 w 1501342"/>
              <a:gd name="connsiteY1" fmla="*/ 0 h 1501342"/>
              <a:gd name="connsiteX2" fmla="*/ 1416366 w 1501342"/>
              <a:gd name="connsiteY2" fmla="*/ 0 h 1501342"/>
              <a:gd name="connsiteX3" fmla="*/ 1501342 w 1501342"/>
              <a:gd name="connsiteY3" fmla="*/ 84976 h 1501342"/>
              <a:gd name="connsiteX4" fmla="*/ 1501342 w 1501342"/>
              <a:gd name="connsiteY4" fmla="*/ 1416366 h 1501342"/>
              <a:gd name="connsiteX5" fmla="*/ 1416366 w 1501342"/>
              <a:gd name="connsiteY5" fmla="*/ 1501342 h 1501342"/>
              <a:gd name="connsiteX6" fmla="*/ 84976 w 1501342"/>
              <a:gd name="connsiteY6" fmla="*/ 1501342 h 1501342"/>
              <a:gd name="connsiteX7" fmla="*/ 0 w 1501342"/>
              <a:gd name="connsiteY7" fmla="*/ 1416366 h 1501342"/>
              <a:gd name="connsiteX8" fmla="*/ 0 w 1501342"/>
              <a:gd name="connsiteY8" fmla="*/ 84976 h 1501342"/>
              <a:gd name="connsiteX0" fmla="*/ 0 w 1501342"/>
              <a:gd name="connsiteY0" fmla="*/ 1416366 h 1501342"/>
              <a:gd name="connsiteX1" fmla="*/ 84976 w 1501342"/>
              <a:gd name="connsiteY1" fmla="*/ 0 h 1501342"/>
              <a:gd name="connsiteX2" fmla="*/ 1416366 w 1501342"/>
              <a:gd name="connsiteY2" fmla="*/ 0 h 1501342"/>
              <a:gd name="connsiteX3" fmla="*/ 1501342 w 1501342"/>
              <a:gd name="connsiteY3" fmla="*/ 84976 h 1501342"/>
              <a:gd name="connsiteX4" fmla="*/ 1501342 w 1501342"/>
              <a:gd name="connsiteY4" fmla="*/ 1416366 h 1501342"/>
              <a:gd name="connsiteX5" fmla="*/ 1416366 w 1501342"/>
              <a:gd name="connsiteY5" fmla="*/ 1501342 h 1501342"/>
              <a:gd name="connsiteX6" fmla="*/ 84976 w 1501342"/>
              <a:gd name="connsiteY6" fmla="*/ 1501342 h 1501342"/>
              <a:gd name="connsiteX7" fmla="*/ 0 w 1501342"/>
              <a:gd name="connsiteY7" fmla="*/ 1416366 h 1501342"/>
              <a:gd name="connsiteX0" fmla="*/ 166423 w 1582789"/>
              <a:gd name="connsiteY0" fmla="*/ 1501342 h 1501342"/>
              <a:gd name="connsiteX1" fmla="*/ 166423 w 1582789"/>
              <a:gd name="connsiteY1" fmla="*/ 0 h 1501342"/>
              <a:gd name="connsiteX2" fmla="*/ 1497813 w 1582789"/>
              <a:gd name="connsiteY2" fmla="*/ 0 h 1501342"/>
              <a:gd name="connsiteX3" fmla="*/ 1582789 w 1582789"/>
              <a:gd name="connsiteY3" fmla="*/ 84976 h 1501342"/>
              <a:gd name="connsiteX4" fmla="*/ 1582789 w 1582789"/>
              <a:gd name="connsiteY4" fmla="*/ 1416366 h 1501342"/>
              <a:gd name="connsiteX5" fmla="*/ 1497813 w 1582789"/>
              <a:gd name="connsiteY5" fmla="*/ 1501342 h 1501342"/>
              <a:gd name="connsiteX6" fmla="*/ 166423 w 1582789"/>
              <a:gd name="connsiteY6" fmla="*/ 1501342 h 1501342"/>
              <a:gd name="connsiteX0" fmla="*/ 0 w 1416366"/>
              <a:gd name="connsiteY0" fmla="*/ 1501342 h 1501342"/>
              <a:gd name="connsiteX1" fmla="*/ 0 w 1416366"/>
              <a:gd name="connsiteY1" fmla="*/ 0 h 1501342"/>
              <a:gd name="connsiteX2" fmla="*/ 1331390 w 1416366"/>
              <a:gd name="connsiteY2" fmla="*/ 0 h 1501342"/>
              <a:gd name="connsiteX3" fmla="*/ 1416366 w 1416366"/>
              <a:gd name="connsiteY3" fmla="*/ 84976 h 1501342"/>
              <a:gd name="connsiteX4" fmla="*/ 1416366 w 1416366"/>
              <a:gd name="connsiteY4" fmla="*/ 1416366 h 1501342"/>
              <a:gd name="connsiteX5" fmla="*/ 1331390 w 1416366"/>
              <a:gd name="connsiteY5" fmla="*/ 1501342 h 1501342"/>
              <a:gd name="connsiteX6" fmla="*/ 0 w 1416366"/>
              <a:gd name="connsiteY6" fmla="*/ 1501342 h 150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16366" h="1501342">
                <a:moveTo>
                  <a:pt x="0" y="1501342"/>
                </a:moveTo>
                <a:lnTo>
                  <a:pt x="0" y="0"/>
                </a:lnTo>
                <a:lnTo>
                  <a:pt x="1331390" y="0"/>
                </a:lnTo>
                <a:cubicBezTo>
                  <a:pt x="1378321" y="0"/>
                  <a:pt x="1416366" y="38045"/>
                  <a:pt x="1416366" y="84976"/>
                </a:cubicBezTo>
                <a:lnTo>
                  <a:pt x="1416366" y="1416366"/>
                </a:lnTo>
                <a:cubicBezTo>
                  <a:pt x="1416366" y="1463297"/>
                  <a:pt x="1378321" y="1501342"/>
                  <a:pt x="1331390" y="1501342"/>
                </a:cubicBezTo>
                <a:lnTo>
                  <a:pt x="0" y="1501342"/>
                </a:lnTo>
                <a:close/>
              </a:path>
            </a:pathLst>
          </a:custGeom>
          <a:solidFill>
            <a:schemeClr val="accent2"/>
          </a:solidFill>
        </p:spPr>
        <p:txBody>
          <a:bodyPr anchor="ctr">
            <a:normAutofit/>
          </a:bodyPr>
          <a:lstStyle>
            <a:lvl1pPr marL="0" indent="0" algn="ctr">
              <a:buNone/>
              <a:defRPr sz="1800" b="0" i="0" baseline="0">
                <a:latin typeface="Roboto Medium" charset="0"/>
                <a:ea typeface="Roboto Medium" charset="0"/>
                <a:cs typeface="Roboto Medium" charset="0"/>
              </a:defRPr>
            </a:lvl1pPr>
          </a:lstStyle>
          <a:p>
            <a:r>
              <a:rPr lang="en-US"/>
              <a:t>Insert Image</a:t>
            </a:r>
          </a:p>
        </p:txBody>
      </p:sp>
      <p:sp>
        <p:nvSpPr>
          <p:cNvPr id="22" name="Picture Placeholder 2"/>
          <p:cNvSpPr>
            <a:spLocks noGrp="1"/>
          </p:cNvSpPr>
          <p:nvPr>
            <p:ph type="pic" sz="quarter" idx="15" hasCustomPrompt="1"/>
          </p:nvPr>
        </p:nvSpPr>
        <p:spPr>
          <a:xfrm flipH="1">
            <a:off x="1318593" y="4001697"/>
            <a:ext cx="1893203" cy="2009001"/>
          </a:xfrm>
          <a:custGeom>
            <a:avLst/>
            <a:gdLst>
              <a:gd name="connsiteX0" fmla="*/ 0 w 1501342"/>
              <a:gd name="connsiteY0" fmla="*/ 84976 h 1501342"/>
              <a:gd name="connsiteX1" fmla="*/ 84976 w 1501342"/>
              <a:gd name="connsiteY1" fmla="*/ 0 h 1501342"/>
              <a:gd name="connsiteX2" fmla="*/ 1416366 w 1501342"/>
              <a:gd name="connsiteY2" fmla="*/ 0 h 1501342"/>
              <a:gd name="connsiteX3" fmla="*/ 1501342 w 1501342"/>
              <a:gd name="connsiteY3" fmla="*/ 84976 h 1501342"/>
              <a:gd name="connsiteX4" fmla="*/ 1501342 w 1501342"/>
              <a:gd name="connsiteY4" fmla="*/ 1416366 h 1501342"/>
              <a:gd name="connsiteX5" fmla="*/ 1416366 w 1501342"/>
              <a:gd name="connsiteY5" fmla="*/ 1501342 h 1501342"/>
              <a:gd name="connsiteX6" fmla="*/ 84976 w 1501342"/>
              <a:gd name="connsiteY6" fmla="*/ 1501342 h 1501342"/>
              <a:gd name="connsiteX7" fmla="*/ 0 w 1501342"/>
              <a:gd name="connsiteY7" fmla="*/ 1416366 h 1501342"/>
              <a:gd name="connsiteX8" fmla="*/ 0 w 1501342"/>
              <a:gd name="connsiteY8" fmla="*/ 84976 h 1501342"/>
              <a:gd name="connsiteX0" fmla="*/ 0 w 1501342"/>
              <a:gd name="connsiteY0" fmla="*/ 84976 h 1501342"/>
              <a:gd name="connsiteX1" fmla="*/ 84976 w 1501342"/>
              <a:gd name="connsiteY1" fmla="*/ 0 h 1501342"/>
              <a:gd name="connsiteX2" fmla="*/ 1416366 w 1501342"/>
              <a:gd name="connsiteY2" fmla="*/ 0 h 1501342"/>
              <a:gd name="connsiteX3" fmla="*/ 1501342 w 1501342"/>
              <a:gd name="connsiteY3" fmla="*/ 84976 h 1501342"/>
              <a:gd name="connsiteX4" fmla="*/ 1501342 w 1501342"/>
              <a:gd name="connsiteY4" fmla="*/ 1416366 h 1501342"/>
              <a:gd name="connsiteX5" fmla="*/ 1416366 w 1501342"/>
              <a:gd name="connsiteY5" fmla="*/ 1501342 h 1501342"/>
              <a:gd name="connsiteX6" fmla="*/ 84976 w 1501342"/>
              <a:gd name="connsiteY6" fmla="*/ 1501342 h 1501342"/>
              <a:gd name="connsiteX7" fmla="*/ 0 w 1501342"/>
              <a:gd name="connsiteY7" fmla="*/ 1416366 h 1501342"/>
              <a:gd name="connsiteX8" fmla="*/ 0 w 1501342"/>
              <a:gd name="connsiteY8" fmla="*/ 84976 h 1501342"/>
              <a:gd name="connsiteX0" fmla="*/ 0 w 1501342"/>
              <a:gd name="connsiteY0" fmla="*/ 1416366 h 1501342"/>
              <a:gd name="connsiteX1" fmla="*/ 84976 w 1501342"/>
              <a:gd name="connsiteY1" fmla="*/ 0 h 1501342"/>
              <a:gd name="connsiteX2" fmla="*/ 1416366 w 1501342"/>
              <a:gd name="connsiteY2" fmla="*/ 0 h 1501342"/>
              <a:gd name="connsiteX3" fmla="*/ 1501342 w 1501342"/>
              <a:gd name="connsiteY3" fmla="*/ 84976 h 1501342"/>
              <a:gd name="connsiteX4" fmla="*/ 1501342 w 1501342"/>
              <a:gd name="connsiteY4" fmla="*/ 1416366 h 1501342"/>
              <a:gd name="connsiteX5" fmla="*/ 1416366 w 1501342"/>
              <a:gd name="connsiteY5" fmla="*/ 1501342 h 1501342"/>
              <a:gd name="connsiteX6" fmla="*/ 84976 w 1501342"/>
              <a:gd name="connsiteY6" fmla="*/ 1501342 h 1501342"/>
              <a:gd name="connsiteX7" fmla="*/ 0 w 1501342"/>
              <a:gd name="connsiteY7" fmla="*/ 1416366 h 1501342"/>
              <a:gd name="connsiteX0" fmla="*/ 166423 w 1582789"/>
              <a:gd name="connsiteY0" fmla="*/ 1501342 h 1501342"/>
              <a:gd name="connsiteX1" fmla="*/ 166423 w 1582789"/>
              <a:gd name="connsiteY1" fmla="*/ 0 h 1501342"/>
              <a:gd name="connsiteX2" fmla="*/ 1497813 w 1582789"/>
              <a:gd name="connsiteY2" fmla="*/ 0 h 1501342"/>
              <a:gd name="connsiteX3" fmla="*/ 1582789 w 1582789"/>
              <a:gd name="connsiteY3" fmla="*/ 84976 h 1501342"/>
              <a:gd name="connsiteX4" fmla="*/ 1582789 w 1582789"/>
              <a:gd name="connsiteY4" fmla="*/ 1416366 h 1501342"/>
              <a:gd name="connsiteX5" fmla="*/ 1497813 w 1582789"/>
              <a:gd name="connsiteY5" fmla="*/ 1501342 h 1501342"/>
              <a:gd name="connsiteX6" fmla="*/ 166423 w 1582789"/>
              <a:gd name="connsiteY6" fmla="*/ 1501342 h 1501342"/>
              <a:gd name="connsiteX0" fmla="*/ 0 w 1416366"/>
              <a:gd name="connsiteY0" fmla="*/ 1501342 h 1501342"/>
              <a:gd name="connsiteX1" fmla="*/ 0 w 1416366"/>
              <a:gd name="connsiteY1" fmla="*/ 0 h 1501342"/>
              <a:gd name="connsiteX2" fmla="*/ 1331390 w 1416366"/>
              <a:gd name="connsiteY2" fmla="*/ 0 h 1501342"/>
              <a:gd name="connsiteX3" fmla="*/ 1416366 w 1416366"/>
              <a:gd name="connsiteY3" fmla="*/ 84976 h 1501342"/>
              <a:gd name="connsiteX4" fmla="*/ 1416366 w 1416366"/>
              <a:gd name="connsiteY4" fmla="*/ 1416366 h 1501342"/>
              <a:gd name="connsiteX5" fmla="*/ 1331390 w 1416366"/>
              <a:gd name="connsiteY5" fmla="*/ 1501342 h 1501342"/>
              <a:gd name="connsiteX6" fmla="*/ 0 w 1416366"/>
              <a:gd name="connsiteY6" fmla="*/ 1501342 h 150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16366" h="1501342">
                <a:moveTo>
                  <a:pt x="0" y="1501342"/>
                </a:moveTo>
                <a:lnTo>
                  <a:pt x="0" y="0"/>
                </a:lnTo>
                <a:lnTo>
                  <a:pt x="1331390" y="0"/>
                </a:lnTo>
                <a:cubicBezTo>
                  <a:pt x="1378321" y="0"/>
                  <a:pt x="1416366" y="38045"/>
                  <a:pt x="1416366" y="84976"/>
                </a:cubicBezTo>
                <a:lnTo>
                  <a:pt x="1416366" y="1416366"/>
                </a:lnTo>
                <a:cubicBezTo>
                  <a:pt x="1416366" y="1463297"/>
                  <a:pt x="1378321" y="1501342"/>
                  <a:pt x="1331390" y="1501342"/>
                </a:cubicBezTo>
                <a:lnTo>
                  <a:pt x="0" y="1501342"/>
                </a:lnTo>
                <a:close/>
              </a:path>
            </a:pathLst>
          </a:custGeom>
          <a:solidFill>
            <a:schemeClr val="accent2"/>
          </a:solidFill>
        </p:spPr>
        <p:txBody>
          <a:bodyPr anchor="ctr">
            <a:normAutofit/>
          </a:bodyPr>
          <a:lstStyle>
            <a:lvl1pPr marL="0" indent="0" algn="ctr">
              <a:buNone/>
              <a:defRPr sz="1800" b="0" i="0" baseline="0">
                <a:latin typeface="Roboto Medium" charset="0"/>
                <a:ea typeface="Roboto Medium" charset="0"/>
                <a:cs typeface="Roboto Medium" charset="0"/>
              </a:defRPr>
            </a:lvl1pPr>
          </a:lstStyle>
          <a:p>
            <a:r>
              <a:rPr lang="en-US"/>
              <a:t>Insert Image</a:t>
            </a:r>
          </a:p>
        </p:txBody>
      </p:sp>
      <p:sp>
        <p:nvSpPr>
          <p:cNvPr id="26" name="Picture Placeholder 2"/>
          <p:cNvSpPr>
            <a:spLocks noGrp="1"/>
          </p:cNvSpPr>
          <p:nvPr>
            <p:ph type="pic" sz="quarter" idx="16" hasCustomPrompt="1"/>
          </p:nvPr>
        </p:nvSpPr>
        <p:spPr>
          <a:xfrm flipH="1">
            <a:off x="1318592" y="1848714"/>
            <a:ext cx="1893203" cy="2009001"/>
          </a:xfrm>
          <a:custGeom>
            <a:avLst/>
            <a:gdLst>
              <a:gd name="connsiteX0" fmla="*/ 0 w 1501342"/>
              <a:gd name="connsiteY0" fmla="*/ 84976 h 1501342"/>
              <a:gd name="connsiteX1" fmla="*/ 84976 w 1501342"/>
              <a:gd name="connsiteY1" fmla="*/ 0 h 1501342"/>
              <a:gd name="connsiteX2" fmla="*/ 1416366 w 1501342"/>
              <a:gd name="connsiteY2" fmla="*/ 0 h 1501342"/>
              <a:gd name="connsiteX3" fmla="*/ 1501342 w 1501342"/>
              <a:gd name="connsiteY3" fmla="*/ 84976 h 1501342"/>
              <a:gd name="connsiteX4" fmla="*/ 1501342 w 1501342"/>
              <a:gd name="connsiteY4" fmla="*/ 1416366 h 1501342"/>
              <a:gd name="connsiteX5" fmla="*/ 1416366 w 1501342"/>
              <a:gd name="connsiteY5" fmla="*/ 1501342 h 1501342"/>
              <a:gd name="connsiteX6" fmla="*/ 84976 w 1501342"/>
              <a:gd name="connsiteY6" fmla="*/ 1501342 h 1501342"/>
              <a:gd name="connsiteX7" fmla="*/ 0 w 1501342"/>
              <a:gd name="connsiteY7" fmla="*/ 1416366 h 1501342"/>
              <a:gd name="connsiteX8" fmla="*/ 0 w 1501342"/>
              <a:gd name="connsiteY8" fmla="*/ 84976 h 1501342"/>
              <a:gd name="connsiteX0" fmla="*/ 0 w 1501342"/>
              <a:gd name="connsiteY0" fmla="*/ 84976 h 1501342"/>
              <a:gd name="connsiteX1" fmla="*/ 84976 w 1501342"/>
              <a:gd name="connsiteY1" fmla="*/ 0 h 1501342"/>
              <a:gd name="connsiteX2" fmla="*/ 1416366 w 1501342"/>
              <a:gd name="connsiteY2" fmla="*/ 0 h 1501342"/>
              <a:gd name="connsiteX3" fmla="*/ 1501342 w 1501342"/>
              <a:gd name="connsiteY3" fmla="*/ 84976 h 1501342"/>
              <a:gd name="connsiteX4" fmla="*/ 1501342 w 1501342"/>
              <a:gd name="connsiteY4" fmla="*/ 1416366 h 1501342"/>
              <a:gd name="connsiteX5" fmla="*/ 1416366 w 1501342"/>
              <a:gd name="connsiteY5" fmla="*/ 1501342 h 1501342"/>
              <a:gd name="connsiteX6" fmla="*/ 84976 w 1501342"/>
              <a:gd name="connsiteY6" fmla="*/ 1501342 h 1501342"/>
              <a:gd name="connsiteX7" fmla="*/ 0 w 1501342"/>
              <a:gd name="connsiteY7" fmla="*/ 1416366 h 1501342"/>
              <a:gd name="connsiteX8" fmla="*/ 0 w 1501342"/>
              <a:gd name="connsiteY8" fmla="*/ 84976 h 1501342"/>
              <a:gd name="connsiteX0" fmla="*/ 0 w 1501342"/>
              <a:gd name="connsiteY0" fmla="*/ 1416366 h 1501342"/>
              <a:gd name="connsiteX1" fmla="*/ 84976 w 1501342"/>
              <a:gd name="connsiteY1" fmla="*/ 0 h 1501342"/>
              <a:gd name="connsiteX2" fmla="*/ 1416366 w 1501342"/>
              <a:gd name="connsiteY2" fmla="*/ 0 h 1501342"/>
              <a:gd name="connsiteX3" fmla="*/ 1501342 w 1501342"/>
              <a:gd name="connsiteY3" fmla="*/ 84976 h 1501342"/>
              <a:gd name="connsiteX4" fmla="*/ 1501342 w 1501342"/>
              <a:gd name="connsiteY4" fmla="*/ 1416366 h 1501342"/>
              <a:gd name="connsiteX5" fmla="*/ 1416366 w 1501342"/>
              <a:gd name="connsiteY5" fmla="*/ 1501342 h 1501342"/>
              <a:gd name="connsiteX6" fmla="*/ 84976 w 1501342"/>
              <a:gd name="connsiteY6" fmla="*/ 1501342 h 1501342"/>
              <a:gd name="connsiteX7" fmla="*/ 0 w 1501342"/>
              <a:gd name="connsiteY7" fmla="*/ 1416366 h 1501342"/>
              <a:gd name="connsiteX0" fmla="*/ 166423 w 1582789"/>
              <a:gd name="connsiteY0" fmla="*/ 1501342 h 1501342"/>
              <a:gd name="connsiteX1" fmla="*/ 166423 w 1582789"/>
              <a:gd name="connsiteY1" fmla="*/ 0 h 1501342"/>
              <a:gd name="connsiteX2" fmla="*/ 1497813 w 1582789"/>
              <a:gd name="connsiteY2" fmla="*/ 0 h 1501342"/>
              <a:gd name="connsiteX3" fmla="*/ 1582789 w 1582789"/>
              <a:gd name="connsiteY3" fmla="*/ 84976 h 1501342"/>
              <a:gd name="connsiteX4" fmla="*/ 1582789 w 1582789"/>
              <a:gd name="connsiteY4" fmla="*/ 1416366 h 1501342"/>
              <a:gd name="connsiteX5" fmla="*/ 1497813 w 1582789"/>
              <a:gd name="connsiteY5" fmla="*/ 1501342 h 1501342"/>
              <a:gd name="connsiteX6" fmla="*/ 166423 w 1582789"/>
              <a:gd name="connsiteY6" fmla="*/ 1501342 h 1501342"/>
              <a:gd name="connsiteX0" fmla="*/ 0 w 1416366"/>
              <a:gd name="connsiteY0" fmla="*/ 1501342 h 1501342"/>
              <a:gd name="connsiteX1" fmla="*/ 0 w 1416366"/>
              <a:gd name="connsiteY1" fmla="*/ 0 h 1501342"/>
              <a:gd name="connsiteX2" fmla="*/ 1331390 w 1416366"/>
              <a:gd name="connsiteY2" fmla="*/ 0 h 1501342"/>
              <a:gd name="connsiteX3" fmla="*/ 1416366 w 1416366"/>
              <a:gd name="connsiteY3" fmla="*/ 84976 h 1501342"/>
              <a:gd name="connsiteX4" fmla="*/ 1416366 w 1416366"/>
              <a:gd name="connsiteY4" fmla="*/ 1416366 h 1501342"/>
              <a:gd name="connsiteX5" fmla="*/ 1331390 w 1416366"/>
              <a:gd name="connsiteY5" fmla="*/ 1501342 h 1501342"/>
              <a:gd name="connsiteX6" fmla="*/ 0 w 1416366"/>
              <a:gd name="connsiteY6" fmla="*/ 1501342 h 150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16366" h="1501342">
                <a:moveTo>
                  <a:pt x="0" y="1501342"/>
                </a:moveTo>
                <a:lnTo>
                  <a:pt x="0" y="0"/>
                </a:lnTo>
                <a:lnTo>
                  <a:pt x="1331390" y="0"/>
                </a:lnTo>
                <a:cubicBezTo>
                  <a:pt x="1378321" y="0"/>
                  <a:pt x="1416366" y="38045"/>
                  <a:pt x="1416366" y="84976"/>
                </a:cubicBezTo>
                <a:lnTo>
                  <a:pt x="1416366" y="1416366"/>
                </a:lnTo>
                <a:cubicBezTo>
                  <a:pt x="1416366" y="1463297"/>
                  <a:pt x="1378321" y="1501342"/>
                  <a:pt x="1331390" y="1501342"/>
                </a:cubicBezTo>
                <a:lnTo>
                  <a:pt x="0" y="1501342"/>
                </a:lnTo>
                <a:close/>
              </a:path>
            </a:pathLst>
          </a:custGeom>
          <a:solidFill>
            <a:schemeClr val="accent2"/>
          </a:solidFill>
        </p:spPr>
        <p:txBody>
          <a:bodyPr anchor="ctr">
            <a:normAutofit/>
          </a:bodyPr>
          <a:lstStyle>
            <a:lvl1pPr marL="0" indent="0" algn="ctr">
              <a:buNone/>
              <a:defRPr sz="1800" b="0" i="0" baseline="0">
                <a:latin typeface="Roboto Medium" charset="0"/>
                <a:ea typeface="Roboto Medium" charset="0"/>
                <a:cs typeface="Roboto Medium" charset="0"/>
              </a:defRPr>
            </a:lvl1pPr>
          </a:lstStyle>
          <a:p>
            <a:r>
              <a:rPr lang="en-US"/>
              <a:t>Insert Image</a:t>
            </a:r>
          </a:p>
        </p:txBody>
      </p:sp>
    </p:spTree>
    <p:extLst>
      <p:ext uri="{BB962C8B-B14F-4D97-AF65-F5344CB8AC3E}">
        <p14:creationId xmlns:p14="http://schemas.microsoft.com/office/powerpoint/2010/main" val="162495076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_portfolio 4">
    <p:spTree>
      <p:nvGrpSpPr>
        <p:cNvPr id="1" name=""/>
        <p:cNvGrpSpPr/>
        <p:nvPr/>
      </p:nvGrpSpPr>
      <p:grpSpPr>
        <a:xfrm>
          <a:off x="0" y="0"/>
          <a:ext cx="0" cy="0"/>
          <a:chOff x="0" y="0"/>
          <a:chExt cx="0" cy="0"/>
        </a:xfrm>
      </p:grpSpPr>
      <p:sp>
        <p:nvSpPr>
          <p:cNvPr id="19" name="Picture Placeholder 2"/>
          <p:cNvSpPr>
            <a:spLocks noGrp="1"/>
          </p:cNvSpPr>
          <p:nvPr>
            <p:ph type="pic" sz="quarter" idx="13" hasCustomPrompt="1"/>
          </p:nvPr>
        </p:nvSpPr>
        <p:spPr>
          <a:xfrm>
            <a:off x="4219887" y="1816365"/>
            <a:ext cx="1893203" cy="2009001"/>
          </a:xfrm>
          <a:custGeom>
            <a:avLst/>
            <a:gdLst>
              <a:gd name="connsiteX0" fmla="*/ 0 w 1501342"/>
              <a:gd name="connsiteY0" fmla="*/ 84976 h 1501342"/>
              <a:gd name="connsiteX1" fmla="*/ 84976 w 1501342"/>
              <a:gd name="connsiteY1" fmla="*/ 0 h 1501342"/>
              <a:gd name="connsiteX2" fmla="*/ 1416366 w 1501342"/>
              <a:gd name="connsiteY2" fmla="*/ 0 h 1501342"/>
              <a:gd name="connsiteX3" fmla="*/ 1501342 w 1501342"/>
              <a:gd name="connsiteY3" fmla="*/ 84976 h 1501342"/>
              <a:gd name="connsiteX4" fmla="*/ 1501342 w 1501342"/>
              <a:gd name="connsiteY4" fmla="*/ 1416366 h 1501342"/>
              <a:gd name="connsiteX5" fmla="*/ 1416366 w 1501342"/>
              <a:gd name="connsiteY5" fmla="*/ 1501342 h 1501342"/>
              <a:gd name="connsiteX6" fmla="*/ 84976 w 1501342"/>
              <a:gd name="connsiteY6" fmla="*/ 1501342 h 1501342"/>
              <a:gd name="connsiteX7" fmla="*/ 0 w 1501342"/>
              <a:gd name="connsiteY7" fmla="*/ 1416366 h 1501342"/>
              <a:gd name="connsiteX8" fmla="*/ 0 w 1501342"/>
              <a:gd name="connsiteY8" fmla="*/ 84976 h 1501342"/>
              <a:gd name="connsiteX0" fmla="*/ 0 w 1501342"/>
              <a:gd name="connsiteY0" fmla="*/ 84976 h 1501342"/>
              <a:gd name="connsiteX1" fmla="*/ 84976 w 1501342"/>
              <a:gd name="connsiteY1" fmla="*/ 0 h 1501342"/>
              <a:gd name="connsiteX2" fmla="*/ 1416366 w 1501342"/>
              <a:gd name="connsiteY2" fmla="*/ 0 h 1501342"/>
              <a:gd name="connsiteX3" fmla="*/ 1501342 w 1501342"/>
              <a:gd name="connsiteY3" fmla="*/ 84976 h 1501342"/>
              <a:gd name="connsiteX4" fmla="*/ 1501342 w 1501342"/>
              <a:gd name="connsiteY4" fmla="*/ 1416366 h 1501342"/>
              <a:gd name="connsiteX5" fmla="*/ 1416366 w 1501342"/>
              <a:gd name="connsiteY5" fmla="*/ 1501342 h 1501342"/>
              <a:gd name="connsiteX6" fmla="*/ 84976 w 1501342"/>
              <a:gd name="connsiteY6" fmla="*/ 1501342 h 1501342"/>
              <a:gd name="connsiteX7" fmla="*/ 0 w 1501342"/>
              <a:gd name="connsiteY7" fmla="*/ 1416366 h 1501342"/>
              <a:gd name="connsiteX8" fmla="*/ 0 w 1501342"/>
              <a:gd name="connsiteY8" fmla="*/ 84976 h 1501342"/>
              <a:gd name="connsiteX0" fmla="*/ 0 w 1501342"/>
              <a:gd name="connsiteY0" fmla="*/ 1416366 h 1501342"/>
              <a:gd name="connsiteX1" fmla="*/ 84976 w 1501342"/>
              <a:gd name="connsiteY1" fmla="*/ 0 h 1501342"/>
              <a:gd name="connsiteX2" fmla="*/ 1416366 w 1501342"/>
              <a:gd name="connsiteY2" fmla="*/ 0 h 1501342"/>
              <a:gd name="connsiteX3" fmla="*/ 1501342 w 1501342"/>
              <a:gd name="connsiteY3" fmla="*/ 84976 h 1501342"/>
              <a:gd name="connsiteX4" fmla="*/ 1501342 w 1501342"/>
              <a:gd name="connsiteY4" fmla="*/ 1416366 h 1501342"/>
              <a:gd name="connsiteX5" fmla="*/ 1416366 w 1501342"/>
              <a:gd name="connsiteY5" fmla="*/ 1501342 h 1501342"/>
              <a:gd name="connsiteX6" fmla="*/ 84976 w 1501342"/>
              <a:gd name="connsiteY6" fmla="*/ 1501342 h 1501342"/>
              <a:gd name="connsiteX7" fmla="*/ 0 w 1501342"/>
              <a:gd name="connsiteY7" fmla="*/ 1416366 h 1501342"/>
              <a:gd name="connsiteX0" fmla="*/ 166423 w 1582789"/>
              <a:gd name="connsiteY0" fmla="*/ 1501342 h 1501342"/>
              <a:gd name="connsiteX1" fmla="*/ 166423 w 1582789"/>
              <a:gd name="connsiteY1" fmla="*/ 0 h 1501342"/>
              <a:gd name="connsiteX2" fmla="*/ 1497813 w 1582789"/>
              <a:gd name="connsiteY2" fmla="*/ 0 h 1501342"/>
              <a:gd name="connsiteX3" fmla="*/ 1582789 w 1582789"/>
              <a:gd name="connsiteY3" fmla="*/ 84976 h 1501342"/>
              <a:gd name="connsiteX4" fmla="*/ 1582789 w 1582789"/>
              <a:gd name="connsiteY4" fmla="*/ 1416366 h 1501342"/>
              <a:gd name="connsiteX5" fmla="*/ 1497813 w 1582789"/>
              <a:gd name="connsiteY5" fmla="*/ 1501342 h 1501342"/>
              <a:gd name="connsiteX6" fmla="*/ 166423 w 1582789"/>
              <a:gd name="connsiteY6" fmla="*/ 1501342 h 1501342"/>
              <a:gd name="connsiteX0" fmla="*/ 0 w 1416366"/>
              <a:gd name="connsiteY0" fmla="*/ 1501342 h 1501342"/>
              <a:gd name="connsiteX1" fmla="*/ 0 w 1416366"/>
              <a:gd name="connsiteY1" fmla="*/ 0 h 1501342"/>
              <a:gd name="connsiteX2" fmla="*/ 1331390 w 1416366"/>
              <a:gd name="connsiteY2" fmla="*/ 0 h 1501342"/>
              <a:gd name="connsiteX3" fmla="*/ 1416366 w 1416366"/>
              <a:gd name="connsiteY3" fmla="*/ 84976 h 1501342"/>
              <a:gd name="connsiteX4" fmla="*/ 1416366 w 1416366"/>
              <a:gd name="connsiteY4" fmla="*/ 1416366 h 1501342"/>
              <a:gd name="connsiteX5" fmla="*/ 1331390 w 1416366"/>
              <a:gd name="connsiteY5" fmla="*/ 1501342 h 1501342"/>
              <a:gd name="connsiteX6" fmla="*/ 0 w 1416366"/>
              <a:gd name="connsiteY6" fmla="*/ 1501342 h 150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16366" h="1501342">
                <a:moveTo>
                  <a:pt x="0" y="1501342"/>
                </a:moveTo>
                <a:lnTo>
                  <a:pt x="0" y="0"/>
                </a:lnTo>
                <a:lnTo>
                  <a:pt x="1331390" y="0"/>
                </a:lnTo>
                <a:cubicBezTo>
                  <a:pt x="1378321" y="0"/>
                  <a:pt x="1416366" y="38045"/>
                  <a:pt x="1416366" y="84976"/>
                </a:cubicBezTo>
                <a:lnTo>
                  <a:pt x="1416366" y="1416366"/>
                </a:lnTo>
                <a:cubicBezTo>
                  <a:pt x="1416366" y="1463297"/>
                  <a:pt x="1378321" y="1501342"/>
                  <a:pt x="1331390" y="1501342"/>
                </a:cubicBezTo>
                <a:lnTo>
                  <a:pt x="0" y="1501342"/>
                </a:lnTo>
                <a:close/>
              </a:path>
            </a:pathLst>
          </a:custGeom>
          <a:solidFill>
            <a:schemeClr val="accent2"/>
          </a:solidFill>
        </p:spPr>
        <p:txBody>
          <a:bodyPr anchor="ctr">
            <a:normAutofit/>
          </a:bodyPr>
          <a:lstStyle>
            <a:lvl1pPr marL="0" indent="0" algn="ctr">
              <a:buNone/>
              <a:defRPr sz="1800" b="0" i="0" baseline="0">
                <a:latin typeface="Roboto Medium" charset="0"/>
                <a:ea typeface="Roboto Medium" charset="0"/>
                <a:cs typeface="Roboto Medium" charset="0"/>
              </a:defRPr>
            </a:lvl1pPr>
          </a:lstStyle>
          <a:p>
            <a:r>
              <a:rPr lang="en-US"/>
              <a:t>Insert Image</a:t>
            </a:r>
          </a:p>
        </p:txBody>
      </p:sp>
      <p:sp>
        <p:nvSpPr>
          <p:cNvPr id="23" name="Picture Placeholder 2"/>
          <p:cNvSpPr>
            <a:spLocks noGrp="1"/>
          </p:cNvSpPr>
          <p:nvPr>
            <p:ph type="pic" sz="quarter" idx="14" hasCustomPrompt="1"/>
          </p:nvPr>
        </p:nvSpPr>
        <p:spPr>
          <a:xfrm>
            <a:off x="9440069" y="1816365"/>
            <a:ext cx="1893203" cy="2009001"/>
          </a:xfrm>
          <a:custGeom>
            <a:avLst/>
            <a:gdLst>
              <a:gd name="connsiteX0" fmla="*/ 0 w 1501342"/>
              <a:gd name="connsiteY0" fmla="*/ 84976 h 1501342"/>
              <a:gd name="connsiteX1" fmla="*/ 84976 w 1501342"/>
              <a:gd name="connsiteY1" fmla="*/ 0 h 1501342"/>
              <a:gd name="connsiteX2" fmla="*/ 1416366 w 1501342"/>
              <a:gd name="connsiteY2" fmla="*/ 0 h 1501342"/>
              <a:gd name="connsiteX3" fmla="*/ 1501342 w 1501342"/>
              <a:gd name="connsiteY3" fmla="*/ 84976 h 1501342"/>
              <a:gd name="connsiteX4" fmla="*/ 1501342 w 1501342"/>
              <a:gd name="connsiteY4" fmla="*/ 1416366 h 1501342"/>
              <a:gd name="connsiteX5" fmla="*/ 1416366 w 1501342"/>
              <a:gd name="connsiteY5" fmla="*/ 1501342 h 1501342"/>
              <a:gd name="connsiteX6" fmla="*/ 84976 w 1501342"/>
              <a:gd name="connsiteY6" fmla="*/ 1501342 h 1501342"/>
              <a:gd name="connsiteX7" fmla="*/ 0 w 1501342"/>
              <a:gd name="connsiteY7" fmla="*/ 1416366 h 1501342"/>
              <a:gd name="connsiteX8" fmla="*/ 0 w 1501342"/>
              <a:gd name="connsiteY8" fmla="*/ 84976 h 1501342"/>
              <a:gd name="connsiteX0" fmla="*/ 0 w 1501342"/>
              <a:gd name="connsiteY0" fmla="*/ 84976 h 1501342"/>
              <a:gd name="connsiteX1" fmla="*/ 84976 w 1501342"/>
              <a:gd name="connsiteY1" fmla="*/ 0 h 1501342"/>
              <a:gd name="connsiteX2" fmla="*/ 1416366 w 1501342"/>
              <a:gd name="connsiteY2" fmla="*/ 0 h 1501342"/>
              <a:gd name="connsiteX3" fmla="*/ 1501342 w 1501342"/>
              <a:gd name="connsiteY3" fmla="*/ 84976 h 1501342"/>
              <a:gd name="connsiteX4" fmla="*/ 1501342 w 1501342"/>
              <a:gd name="connsiteY4" fmla="*/ 1416366 h 1501342"/>
              <a:gd name="connsiteX5" fmla="*/ 1416366 w 1501342"/>
              <a:gd name="connsiteY5" fmla="*/ 1501342 h 1501342"/>
              <a:gd name="connsiteX6" fmla="*/ 84976 w 1501342"/>
              <a:gd name="connsiteY6" fmla="*/ 1501342 h 1501342"/>
              <a:gd name="connsiteX7" fmla="*/ 0 w 1501342"/>
              <a:gd name="connsiteY7" fmla="*/ 1416366 h 1501342"/>
              <a:gd name="connsiteX8" fmla="*/ 0 w 1501342"/>
              <a:gd name="connsiteY8" fmla="*/ 84976 h 1501342"/>
              <a:gd name="connsiteX0" fmla="*/ 0 w 1501342"/>
              <a:gd name="connsiteY0" fmla="*/ 1416366 h 1501342"/>
              <a:gd name="connsiteX1" fmla="*/ 84976 w 1501342"/>
              <a:gd name="connsiteY1" fmla="*/ 0 h 1501342"/>
              <a:gd name="connsiteX2" fmla="*/ 1416366 w 1501342"/>
              <a:gd name="connsiteY2" fmla="*/ 0 h 1501342"/>
              <a:gd name="connsiteX3" fmla="*/ 1501342 w 1501342"/>
              <a:gd name="connsiteY3" fmla="*/ 84976 h 1501342"/>
              <a:gd name="connsiteX4" fmla="*/ 1501342 w 1501342"/>
              <a:gd name="connsiteY4" fmla="*/ 1416366 h 1501342"/>
              <a:gd name="connsiteX5" fmla="*/ 1416366 w 1501342"/>
              <a:gd name="connsiteY5" fmla="*/ 1501342 h 1501342"/>
              <a:gd name="connsiteX6" fmla="*/ 84976 w 1501342"/>
              <a:gd name="connsiteY6" fmla="*/ 1501342 h 1501342"/>
              <a:gd name="connsiteX7" fmla="*/ 0 w 1501342"/>
              <a:gd name="connsiteY7" fmla="*/ 1416366 h 1501342"/>
              <a:gd name="connsiteX0" fmla="*/ 166423 w 1582789"/>
              <a:gd name="connsiteY0" fmla="*/ 1501342 h 1501342"/>
              <a:gd name="connsiteX1" fmla="*/ 166423 w 1582789"/>
              <a:gd name="connsiteY1" fmla="*/ 0 h 1501342"/>
              <a:gd name="connsiteX2" fmla="*/ 1497813 w 1582789"/>
              <a:gd name="connsiteY2" fmla="*/ 0 h 1501342"/>
              <a:gd name="connsiteX3" fmla="*/ 1582789 w 1582789"/>
              <a:gd name="connsiteY3" fmla="*/ 84976 h 1501342"/>
              <a:gd name="connsiteX4" fmla="*/ 1582789 w 1582789"/>
              <a:gd name="connsiteY4" fmla="*/ 1416366 h 1501342"/>
              <a:gd name="connsiteX5" fmla="*/ 1497813 w 1582789"/>
              <a:gd name="connsiteY5" fmla="*/ 1501342 h 1501342"/>
              <a:gd name="connsiteX6" fmla="*/ 166423 w 1582789"/>
              <a:gd name="connsiteY6" fmla="*/ 1501342 h 1501342"/>
              <a:gd name="connsiteX0" fmla="*/ 0 w 1416366"/>
              <a:gd name="connsiteY0" fmla="*/ 1501342 h 1501342"/>
              <a:gd name="connsiteX1" fmla="*/ 0 w 1416366"/>
              <a:gd name="connsiteY1" fmla="*/ 0 h 1501342"/>
              <a:gd name="connsiteX2" fmla="*/ 1331390 w 1416366"/>
              <a:gd name="connsiteY2" fmla="*/ 0 h 1501342"/>
              <a:gd name="connsiteX3" fmla="*/ 1416366 w 1416366"/>
              <a:gd name="connsiteY3" fmla="*/ 84976 h 1501342"/>
              <a:gd name="connsiteX4" fmla="*/ 1416366 w 1416366"/>
              <a:gd name="connsiteY4" fmla="*/ 1416366 h 1501342"/>
              <a:gd name="connsiteX5" fmla="*/ 1331390 w 1416366"/>
              <a:gd name="connsiteY5" fmla="*/ 1501342 h 1501342"/>
              <a:gd name="connsiteX6" fmla="*/ 0 w 1416366"/>
              <a:gd name="connsiteY6" fmla="*/ 1501342 h 150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16366" h="1501342">
                <a:moveTo>
                  <a:pt x="0" y="1501342"/>
                </a:moveTo>
                <a:lnTo>
                  <a:pt x="0" y="0"/>
                </a:lnTo>
                <a:lnTo>
                  <a:pt x="1331390" y="0"/>
                </a:lnTo>
                <a:cubicBezTo>
                  <a:pt x="1378321" y="0"/>
                  <a:pt x="1416366" y="38045"/>
                  <a:pt x="1416366" y="84976"/>
                </a:cubicBezTo>
                <a:lnTo>
                  <a:pt x="1416366" y="1416366"/>
                </a:lnTo>
                <a:cubicBezTo>
                  <a:pt x="1416366" y="1463297"/>
                  <a:pt x="1378321" y="1501342"/>
                  <a:pt x="1331390" y="1501342"/>
                </a:cubicBezTo>
                <a:lnTo>
                  <a:pt x="0" y="1501342"/>
                </a:lnTo>
                <a:close/>
              </a:path>
            </a:pathLst>
          </a:custGeom>
          <a:solidFill>
            <a:schemeClr val="accent2"/>
          </a:solidFill>
        </p:spPr>
        <p:txBody>
          <a:bodyPr anchor="ctr">
            <a:normAutofit/>
          </a:bodyPr>
          <a:lstStyle>
            <a:lvl1pPr marL="0" indent="0" algn="ctr">
              <a:buNone/>
              <a:defRPr sz="1800" b="0" i="0" baseline="0">
                <a:latin typeface="Roboto Medium" charset="0"/>
                <a:ea typeface="Roboto Medium" charset="0"/>
                <a:cs typeface="Roboto Medium" charset="0"/>
              </a:defRPr>
            </a:lvl1pPr>
          </a:lstStyle>
          <a:p>
            <a:r>
              <a:rPr lang="en-US"/>
              <a:t>Insert Image</a:t>
            </a:r>
          </a:p>
        </p:txBody>
      </p:sp>
      <p:sp>
        <p:nvSpPr>
          <p:cNvPr id="24" name="Picture Placeholder 2"/>
          <p:cNvSpPr>
            <a:spLocks noGrp="1"/>
          </p:cNvSpPr>
          <p:nvPr>
            <p:ph type="pic" sz="quarter" idx="15" hasCustomPrompt="1"/>
          </p:nvPr>
        </p:nvSpPr>
        <p:spPr>
          <a:xfrm flipH="1">
            <a:off x="1141021" y="4061854"/>
            <a:ext cx="1893203" cy="2009001"/>
          </a:xfrm>
          <a:custGeom>
            <a:avLst/>
            <a:gdLst>
              <a:gd name="connsiteX0" fmla="*/ 0 w 1501342"/>
              <a:gd name="connsiteY0" fmla="*/ 84976 h 1501342"/>
              <a:gd name="connsiteX1" fmla="*/ 84976 w 1501342"/>
              <a:gd name="connsiteY1" fmla="*/ 0 h 1501342"/>
              <a:gd name="connsiteX2" fmla="*/ 1416366 w 1501342"/>
              <a:gd name="connsiteY2" fmla="*/ 0 h 1501342"/>
              <a:gd name="connsiteX3" fmla="*/ 1501342 w 1501342"/>
              <a:gd name="connsiteY3" fmla="*/ 84976 h 1501342"/>
              <a:gd name="connsiteX4" fmla="*/ 1501342 w 1501342"/>
              <a:gd name="connsiteY4" fmla="*/ 1416366 h 1501342"/>
              <a:gd name="connsiteX5" fmla="*/ 1416366 w 1501342"/>
              <a:gd name="connsiteY5" fmla="*/ 1501342 h 1501342"/>
              <a:gd name="connsiteX6" fmla="*/ 84976 w 1501342"/>
              <a:gd name="connsiteY6" fmla="*/ 1501342 h 1501342"/>
              <a:gd name="connsiteX7" fmla="*/ 0 w 1501342"/>
              <a:gd name="connsiteY7" fmla="*/ 1416366 h 1501342"/>
              <a:gd name="connsiteX8" fmla="*/ 0 w 1501342"/>
              <a:gd name="connsiteY8" fmla="*/ 84976 h 1501342"/>
              <a:gd name="connsiteX0" fmla="*/ 0 w 1501342"/>
              <a:gd name="connsiteY0" fmla="*/ 84976 h 1501342"/>
              <a:gd name="connsiteX1" fmla="*/ 84976 w 1501342"/>
              <a:gd name="connsiteY1" fmla="*/ 0 h 1501342"/>
              <a:gd name="connsiteX2" fmla="*/ 1416366 w 1501342"/>
              <a:gd name="connsiteY2" fmla="*/ 0 h 1501342"/>
              <a:gd name="connsiteX3" fmla="*/ 1501342 w 1501342"/>
              <a:gd name="connsiteY3" fmla="*/ 84976 h 1501342"/>
              <a:gd name="connsiteX4" fmla="*/ 1501342 w 1501342"/>
              <a:gd name="connsiteY4" fmla="*/ 1416366 h 1501342"/>
              <a:gd name="connsiteX5" fmla="*/ 1416366 w 1501342"/>
              <a:gd name="connsiteY5" fmla="*/ 1501342 h 1501342"/>
              <a:gd name="connsiteX6" fmla="*/ 84976 w 1501342"/>
              <a:gd name="connsiteY6" fmla="*/ 1501342 h 1501342"/>
              <a:gd name="connsiteX7" fmla="*/ 0 w 1501342"/>
              <a:gd name="connsiteY7" fmla="*/ 1416366 h 1501342"/>
              <a:gd name="connsiteX8" fmla="*/ 0 w 1501342"/>
              <a:gd name="connsiteY8" fmla="*/ 84976 h 1501342"/>
              <a:gd name="connsiteX0" fmla="*/ 0 w 1501342"/>
              <a:gd name="connsiteY0" fmla="*/ 1416366 h 1501342"/>
              <a:gd name="connsiteX1" fmla="*/ 84976 w 1501342"/>
              <a:gd name="connsiteY1" fmla="*/ 0 h 1501342"/>
              <a:gd name="connsiteX2" fmla="*/ 1416366 w 1501342"/>
              <a:gd name="connsiteY2" fmla="*/ 0 h 1501342"/>
              <a:gd name="connsiteX3" fmla="*/ 1501342 w 1501342"/>
              <a:gd name="connsiteY3" fmla="*/ 84976 h 1501342"/>
              <a:gd name="connsiteX4" fmla="*/ 1501342 w 1501342"/>
              <a:gd name="connsiteY4" fmla="*/ 1416366 h 1501342"/>
              <a:gd name="connsiteX5" fmla="*/ 1416366 w 1501342"/>
              <a:gd name="connsiteY5" fmla="*/ 1501342 h 1501342"/>
              <a:gd name="connsiteX6" fmla="*/ 84976 w 1501342"/>
              <a:gd name="connsiteY6" fmla="*/ 1501342 h 1501342"/>
              <a:gd name="connsiteX7" fmla="*/ 0 w 1501342"/>
              <a:gd name="connsiteY7" fmla="*/ 1416366 h 1501342"/>
              <a:gd name="connsiteX0" fmla="*/ 166423 w 1582789"/>
              <a:gd name="connsiteY0" fmla="*/ 1501342 h 1501342"/>
              <a:gd name="connsiteX1" fmla="*/ 166423 w 1582789"/>
              <a:gd name="connsiteY1" fmla="*/ 0 h 1501342"/>
              <a:gd name="connsiteX2" fmla="*/ 1497813 w 1582789"/>
              <a:gd name="connsiteY2" fmla="*/ 0 h 1501342"/>
              <a:gd name="connsiteX3" fmla="*/ 1582789 w 1582789"/>
              <a:gd name="connsiteY3" fmla="*/ 84976 h 1501342"/>
              <a:gd name="connsiteX4" fmla="*/ 1582789 w 1582789"/>
              <a:gd name="connsiteY4" fmla="*/ 1416366 h 1501342"/>
              <a:gd name="connsiteX5" fmla="*/ 1497813 w 1582789"/>
              <a:gd name="connsiteY5" fmla="*/ 1501342 h 1501342"/>
              <a:gd name="connsiteX6" fmla="*/ 166423 w 1582789"/>
              <a:gd name="connsiteY6" fmla="*/ 1501342 h 1501342"/>
              <a:gd name="connsiteX0" fmla="*/ 0 w 1416366"/>
              <a:gd name="connsiteY0" fmla="*/ 1501342 h 1501342"/>
              <a:gd name="connsiteX1" fmla="*/ 0 w 1416366"/>
              <a:gd name="connsiteY1" fmla="*/ 0 h 1501342"/>
              <a:gd name="connsiteX2" fmla="*/ 1331390 w 1416366"/>
              <a:gd name="connsiteY2" fmla="*/ 0 h 1501342"/>
              <a:gd name="connsiteX3" fmla="*/ 1416366 w 1416366"/>
              <a:gd name="connsiteY3" fmla="*/ 84976 h 1501342"/>
              <a:gd name="connsiteX4" fmla="*/ 1416366 w 1416366"/>
              <a:gd name="connsiteY4" fmla="*/ 1416366 h 1501342"/>
              <a:gd name="connsiteX5" fmla="*/ 1331390 w 1416366"/>
              <a:gd name="connsiteY5" fmla="*/ 1501342 h 1501342"/>
              <a:gd name="connsiteX6" fmla="*/ 0 w 1416366"/>
              <a:gd name="connsiteY6" fmla="*/ 1501342 h 150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16366" h="1501342">
                <a:moveTo>
                  <a:pt x="0" y="1501342"/>
                </a:moveTo>
                <a:lnTo>
                  <a:pt x="0" y="0"/>
                </a:lnTo>
                <a:lnTo>
                  <a:pt x="1331390" y="0"/>
                </a:lnTo>
                <a:cubicBezTo>
                  <a:pt x="1378321" y="0"/>
                  <a:pt x="1416366" y="38045"/>
                  <a:pt x="1416366" y="84976"/>
                </a:cubicBezTo>
                <a:lnTo>
                  <a:pt x="1416366" y="1416366"/>
                </a:lnTo>
                <a:cubicBezTo>
                  <a:pt x="1416366" y="1463297"/>
                  <a:pt x="1378321" y="1501342"/>
                  <a:pt x="1331390" y="1501342"/>
                </a:cubicBezTo>
                <a:lnTo>
                  <a:pt x="0" y="1501342"/>
                </a:lnTo>
                <a:close/>
              </a:path>
            </a:pathLst>
          </a:custGeom>
          <a:solidFill>
            <a:schemeClr val="accent2"/>
          </a:solidFill>
        </p:spPr>
        <p:txBody>
          <a:bodyPr anchor="ctr">
            <a:normAutofit/>
          </a:bodyPr>
          <a:lstStyle>
            <a:lvl1pPr marL="0" indent="0" algn="ctr">
              <a:buNone/>
              <a:defRPr sz="1800" b="0" i="0" baseline="0">
                <a:latin typeface="Roboto Medium" charset="0"/>
                <a:ea typeface="Roboto Medium" charset="0"/>
                <a:cs typeface="Roboto Medium" charset="0"/>
              </a:defRPr>
            </a:lvl1pPr>
          </a:lstStyle>
          <a:p>
            <a:r>
              <a:rPr lang="en-US"/>
              <a:t>Insert Image</a:t>
            </a:r>
          </a:p>
        </p:txBody>
      </p:sp>
      <p:sp>
        <p:nvSpPr>
          <p:cNvPr id="25" name="Picture Placeholder 2"/>
          <p:cNvSpPr>
            <a:spLocks noGrp="1"/>
          </p:cNvSpPr>
          <p:nvPr>
            <p:ph type="pic" sz="quarter" idx="16" hasCustomPrompt="1"/>
          </p:nvPr>
        </p:nvSpPr>
        <p:spPr>
          <a:xfrm flipH="1">
            <a:off x="6361203" y="4061854"/>
            <a:ext cx="1893203" cy="2009001"/>
          </a:xfrm>
          <a:custGeom>
            <a:avLst/>
            <a:gdLst>
              <a:gd name="connsiteX0" fmla="*/ 0 w 1501342"/>
              <a:gd name="connsiteY0" fmla="*/ 84976 h 1501342"/>
              <a:gd name="connsiteX1" fmla="*/ 84976 w 1501342"/>
              <a:gd name="connsiteY1" fmla="*/ 0 h 1501342"/>
              <a:gd name="connsiteX2" fmla="*/ 1416366 w 1501342"/>
              <a:gd name="connsiteY2" fmla="*/ 0 h 1501342"/>
              <a:gd name="connsiteX3" fmla="*/ 1501342 w 1501342"/>
              <a:gd name="connsiteY3" fmla="*/ 84976 h 1501342"/>
              <a:gd name="connsiteX4" fmla="*/ 1501342 w 1501342"/>
              <a:gd name="connsiteY4" fmla="*/ 1416366 h 1501342"/>
              <a:gd name="connsiteX5" fmla="*/ 1416366 w 1501342"/>
              <a:gd name="connsiteY5" fmla="*/ 1501342 h 1501342"/>
              <a:gd name="connsiteX6" fmla="*/ 84976 w 1501342"/>
              <a:gd name="connsiteY6" fmla="*/ 1501342 h 1501342"/>
              <a:gd name="connsiteX7" fmla="*/ 0 w 1501342"/>
              <a:gd name="connsiteY7" fmla="*/ 1416366 h 1501342"/>
              <a:gd name="connsiteX8" fmla="*/ 0 w 1501342"/>
              <a:gd name="connsiteY8" fmla="*/ 84976 h 1501342"/>
              <a:gd name="connsiteX0" fmla="*/ 0 w 1501342"/>
              <a:gd name="connsiteY0" fmla="*/ 84976 h 1501342"/>
              <a:gd name="connsiteX1" fmla="*/ 84976 w 1501342"/>
              <a:gd name="connsiteY1" fmla="*/ 0 h 1501342"/>
              <a:gd name="connsiteX2" fmla="*/ 1416366 w 1501342"/>
              <a:gd name="connsiteY2" fmla="*/ 0 h 1501342"/>
              <a:gd name="connsiteX3" fmla="*/ 1501342 w 1501342"/>
              <a:gd name="connsiteY3" fmla="*/ 84976 h 1501342"/>
              <a:gd name="connsiteX4" fmla="*/ 1501342 w 1501342"/>
              <a:gd name="connsiteY4" fmla="*/ 1416366 h 1501342"/>
              <a:gd name="connsiteX5" fmla="*/ 1416366 w 1501342"/>
              <a:gd name="connsiteY5" fmla="*/ 1501342 h 1501342"/>
              <a:gd name="connsiteX6" fmla="*/ 84976 w 1501342"/>
              <a:gd name="connsiteY6" fmla="*/ 1501342 h 1501342"/>
              <a:gd name="connsiteX7" fmla="*/ 0 w 1501342"/>
              <a:gd name="connsiteY7" fmla="*/ 1416366 h 1501342"/>
              <a:gd name="connsiteX8" fmla="*/ 0 w 1501342"/>
              <a:gd name="connsiteY8" fmla="*/ 84976 h 1501342"/>
              <a:gd name="connsiteX0" fmla="*/ 0 w 1501342"/>
              <a:gd name="connsiteY0" fmla="*/ 1416366 h 1501342"/>
              <a:gd name="connsiteX1" fmla="*/ 84976 w 1501342"/>
              <a:gd name="connsiteY1" fmla="*/ 0 h 1501342"/>
              <a:gd name="connsiteX2" fmla="*/ 1416366 w 1501342"/>
              <a:gd name="connsiteY2" fmla="*/ 0 h 1501342"/>
              <a:gd name="connsiteX3" fmla="*/ 1501342 w 1501342"/>
              <a:gd name="connsiteY3" fmla="*/ 84976 h 1501342"/>
              <a:gd name="connsiteX4" fmla="*/ 1501342 w 1501342"/>
              <a:gd name="connsiteY4" fmla="*/ 1416366 h 1501342"/>
              <a:gd name="connsiteX5" fmla="*/ 1416366 w 1501342"/>
              <a:gd name="connsiteY5" fmla="*/ 1501342 h 1501342"/>
              <a:gd name="connsiteX6" fmla="*/ 84976 w 1501342"/>
              <a:gd name="connsiteY6" fmla="*/ 1501342 h 1501342"/>
              <a:gd name="connsiteX7" fmla="*/ 0 w 1501342"/>
              <a:gd name="connsiteY7" fmla="*/ 1416366 h 1501342"/>
              <a:gd name="connsiteX0" fmla="*/ 166423 w 1582789"/>
              <a:gd name="connsiteY0" fmla="*/ 1501342 h 1501342"/>
              <a:gd name="connsiteX1" fmla="*/ 166423 w 1582789"/>
              <a:gd name="connsiteY1" fmla="*/ 0 h 1501342"/>
              <a:gd name="connsiteX2" fmla="*/ 1497813 w 1582789"/>
              <a:gd name="connsiteY2" fmla="*/ 0 h 1501342"/>
              <a:gd name="connsiteX3" fmla="*/ 1582789 w 1582789"/>
              <a:gd name="connsiteY3" fmla="*/ 84976 h 1501342"/>
              <a:gd name="connsiteX4" fmla="*/ 1582789 w 1582789"/>
              <a:gd name="connsiteY4" fmla="*/ 1416366 h 1501342"/>
              <a:gd name="connsiteX5" fmla="*/ 1497813 w 1582789"/>
              <a:gd name="connsiteY5" fmla="*/ 1501342 h 1501342"/>
              <a:gd name="connsiteX6" fmla="*/ 166423 w 1582789"/>
              <a:gd name="connsiteY6" fmla="*/ 1501342 h 1501342"/>
              <a:gd name="connsiteX0" fmla="*/ 0 w 1416366"/>
              <a:gd name="connsiteY0" fmla="*/ 1501342 h 1501342"/>
              <a:gd name="connsiteX1" fmla="*/ 0 w 1416366"/>
              <a:gd name="connsiteY1" fmla="*/ 0 h 1501342"/>
              <a:gd name="connsiteX2" fmla="*/ 1331390 w 1416366"/>
              <a:gd name="connsiteY2" fmla="*/ 0 h 1501342"/>
              <a:gd name="connsiteX3" fmla="*/ 1416366 w 1416366"/>
              <a:gd name="connsiteY3" fmla="*/ 84976 h 1501342"/>
              <a:gd name="connsiteX4" fmla="*/ 1416366 w 1416366"/>
              <a:gd name="connsiteY4" fmla="*/ 1416366 h 1501342"/>
              <a:gd name="connsiteX5" fmla="*/ 1331390 w 1416366"/>
              <a:gd name="connsiteY5" fmla="*/ 1501342 h 1501342"/>
              <a:gd name="connsiteX6" fmla="*/ 0 w 1416366"/>
              <a:gd name="connsiteY6" fmla="*/ 1501342 h 150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16366" h="1501342">
                <a:moveTo>
                  <a:pt x="0" y="1501342"/>
                </a:moveTo>
                <a:lnTo>
                  <a:pt x="0" y="0"/>
                </a:lnTo>
                <a:lnTo>
                  <a:pt x="1331390" y="0"/>
                </a:lnTo>
                <a:cubicBezTo>
                  <a:pt x="1378321" y="0"/>
                  <a:pt x="1416366" y="38045"/>
                  <a:pt x="1416366" y="84976"/>
                </a:cubicBezTo>
                <a:lnTo>
                  <a:pt x="1416366" y="1416366"/>
                </a:lnTo>
                <a:cubicBezTo>
                  <a:pt x="1416366" y="1463297"/>
                  <a:pt x="1378321" y="1501342"/>
                  <a:pt x="1331390" y="1501342"/>
                </a:cubicBezTo>
                <a:lnTo>
                  <a:pt x="0" y="1501342"/>
                </a:lnTo>
                <a:close/>
              </a:path>
            </a:pathLst>
          </a:custGeom>
          <a:solidFill>
            <a:schemeClr val="accent2"/>
          </a:solidFill>
        </p:spPr>
        <p:txBody>
          <a:bodyPr anchor="ctr">
            <a:normAutofit/>
          </a:bodyPr>
          <a:lstStyle>
            <a:lvl1pPr marL="0" indent="0" algn="ctr">
              <a:buNone/>
              <a:defRPr sz="1800" b="0" i="0" baseline="0">
                <a:latin typeface="Roboto Medium" charset="0"/>
                <a:ea typeface="Roboto Medium" charset="0"/>
                <a:cs typeface="Roboto Medium" charset="0"/>
              </a:defRPr>
            </a:lvl1pPr>
          </a:lstStyle>
          <a:p>
            <a:r>
              <a:rPr lang="en-US"/>
              <a:t>Insert Image</a:t>
            </a:r>
          </a:p>
        </p:txBody>
      </p:sp>
      <p:sp>
        <p:nvSpPr>
          <p:cNvPr id="20" name="TextBox 19"/>
          <p:cNvSpPr txBox="1"/>
          <p:nvPr userDrawn="1"/>
        </p:nvSpPr>
        <p:spPr>
          <a:xfrm>
            <a:off x="11286889" y="465183"/>
            <a:ext cx="649356" cy="307777"/>
          </a:xfrm>
          <a:prstGeom prst="rect">
            <a:avLst/>
          </a:prstGeom>
          <a:noFill/>
        </p:spPr>
        <p:txBody>
          <a:bodyPr wrap="square" rtlCol="0">
            <a:spAutoFit/>
          </a:bodyPr>
          <a:lstStyle/>
          <a:p>
            <a:pPr algn="ctr"/>
            <a:fld id="{49B9A1CC-CF23-404A-A754-6B4803B2A082}" type="slidenum">
              <a:rPr lang="id-ID" sz="1400" smtClean="0">
                <a:solidFill>
                  <a:schemeClr val="bg1">
                    <a:lumMod val="50000"/>
                  </a:schemeClr>
                </a:solidFill>
              </a:rPr>
              <a:t>‹nº›</a:t>
            </a:fld>
            <a:endParaRPr lang="id-ID" sz="1400">
              <a:solidFill>
                <a:schemeClr val="bg1">
                  <a:lumMod val="50000"/>
                </a:schemeClr>
              </a:solidFill>
            </a:endParaRPr>
          </a:p>
        </p:txBody>
      </p:sp>
      <p:sp>
        <p:nvSpPr>
          <p:cNvPr id="21" name="Oval 20"/>
          <p:cNvSpPr/>
          <p:nvPr userDrawn="1"/>
        </p:nvSpPr>
        <p:spPr>
          <a:xfrm>
            <a:off x="11395567" y="408099"/>
            <a:ext cx="432000" cy="432000"/>
          </a:xfrm>
          <a:prstGeom prst="ellipse">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Tree>
    <p:extLst>
      <p:ext uri="{BB962C8B-B14F-4D97-AF65-F5344CB8AC3E}">
        <p14:creationId xmlns:p14="http://schemas.microsoft.com/office/powerpoint/2010/main" val="206942746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_portfolio 5">
    <p:spTree>
      <p:nvGrpSpPr>
        <p:cNvPr id="1" name=""/>
        <p:cNvGrpSpPr/>
        <p:nvPr/>
      </p:nvGrpSpPr>
      <p:grpSpPr>
        <a:xfrm>
          <a:off x="0" y="0"/>
          <a:ext cx="0" cy="0"/>
          <a:chOff x="0" y="0"/>
          <a:chExt cx="0" cy="0"/>
        </a:xfrm>
      </p:grpSpPr>
      <p:sp>
        <p:nvSpPr>
          <p:cNvPr id="20" name="Picture Placeholder 2"/>
          <p:cNvSpPr>
            <a:spLocks noGrp="1"/>
          </p:cNvSpPr>
          <p:nvPr>
            <p:ph type="pic" sz="quarter" idx="19"/>
          </p:nvPr>
        </p:nvSpPr>
        <p:spPr>
          <a:xfrm>
            <a:off x="0" y="2212975"/>
            <a:ext cx="3037024" cy="2438400"/>
          </a:xfrm>
          <a:prstGeom prst="rect">
            <a:avLst/>
          </a:prstGeom>
        </p:spPr>
        <p:txBody>
          <a:bodyPr/>
          <a:lstStyle/>
          <a:p>
            <a:endParaRPr lang="id-ID"/>
          </a:p>
        </p:txBody>
      </p:sp>
      <p:sp>
        <p:nvSpPr>
          <p:cNvPr id="21" name="Picture Placeholder 2"/>
          <p:cNvSpPr>
            <a:spLocks noGrp="1"/>
          </p:cNvSpPr>
          <p:nvPr>
            <p:ph type="pic" sz="quarter" idx="20"/>
          </p:nvPr>
        </p:nvSpPr>
        <p:spPr>
          <a:xfrm>
            <a:off x="3047585" y="2212975"/>
            <a:ext cx="2991886" cy="2438400"/>
          </a:xfrm>
          <a:prstGeom prst="rect">
            <a:avLst/>
          </a:prstGeom>
        </p:spPr>
        <p:txBody>
          <a:bodyPr/>
          <a:lstStyle/>
          <a:p>
            <a:endParaRPr lang="id-ID"/>
          </a:p>
        </p:txBody>
      </p:sp>
      <p:sp>
        <p:nvSpPr>
          <p:cNvPr id="22" name="Picture Placeholder 2"/>
          <p:cNvSpPr>
            <a:spLocks noGrp="1"/>
          </p:cNvSpPr>
          <p:nvPr>
            <p:ph type="pic" sz="quarter" idx="21"/>
          </p:nvPr>
        </p:nvSpPr>
        <p:spPr>
          <a:xfrm>
            <a:off x="6063284" y="2212975"/>
            <a:ext cx="3100594" cy="2438400"/>
          </a:xfrm>
          <a:prstGeom prst="rect">
            <a:avLst/>
          </a:prstGeom>
        </p:spPr>
        <p:txBody>
          <a:bodyPr/>
          <a:lstStyle/>
          <a:p>
            <a:endParaRPr lang="id-ID"/>
          </a:p>
        </p:txBody>
      </p:sp>
      <p:sp>
        <p:nvSpPr>
          <p:cNvPr id="26" name="Picture Placeholder 2"/>
          <p:cNvSpPr>
            <a:spLocks noGrp="1"/>
          </p:cNvSpPr>
          <p:nvPr>
            <p:ph type="pic" sz="quarter" idx="22"/>
          </p:nvPr>
        </p:nvSpPr>
        <p:spPr>
          <a:xfrm>
            <a:off x="9163878" y="2212975"/>
            <a:ext cx="3028122" cy="2438400"/>
          </a:xfrm>
          <a:prstGeom prst="rect">
            <a:avLst/>
          </a:prstGeom>
        </p:spPr>
        <p:txBody>
          <a:bodyPr/>
          <a:lstStyle/>
          <a:p>
            <a:endParaRPr lang="id-ID"/>
          </a:p>
        </p:txBody>
      </p:sp>
      <p:sp>
        <p:nvSpPr>
          <p:cNvPr id="19" name="TextBox 18"/>
          <p:cNvSpPr txBox="1"/>
          <p:nvPr userDrawn="1"/>
        </p:nvSpPr>
        <p:spPr>
          <a:xfrm>
            <a:off x="11286889" y="465183"/>
            <a:ext cx="649356" cy="307777"/>
          </a:xfrm>
          <a:prstGeom prst="rect">
            <a:avLst/>
          </a:prstGeom>
          <a:noFill/>
        </p:spPr>
        <p:txBody>
          <a:bodyPr wrap="square" rtlCol="0">
            <a:spAutoFit/>
          </a:bodyPr>
          <a:lstStyle/>
          <a:p>
            <a:pPr algn="ctr"/>
            <a:fld id="{49B9A1CC-CF23-404A-A754-6B4803B2A082}" type="slidenum">
              <a:rPr lang="id-ID" sz="1400" smtClean="0">
                <a:solidFill>
                  <a:schemeClr val="bg1">
                    <a:lumMod val="50000"/>
                  </a:schemeClr>
                </a:solidFill>
              </a:rPr>
              <a:t>‹nº›</a:t>
            </a:fld>
            <a:endParaRPr lang="id-ID" sz="1400">
              <a:solidFill>
                <a:schemeClr val="bg1">
                  <a:lumMod val="50000"/>
                </a:schemeClr>
              </a:solidFill>
            </a:endParaRPr>
          </a:p>
        </p:txBody>
      </p:sp>
      <p:sp>
        <p:nvSpPr>
          <p:cNvPr id="23" name="Oval 22"/>
          <p:cNvSpPr/>
          <p:nvPr userDrawn="1"/>
        </p:nvSpPr>
        <p:spPr>
          <a:xfrm>
            <a:off x="11395567" y="408099"/>
            <a:ext cx="432000" cy="432000"/>
          </a:xfrm>
          <a:prstGeom prst="ellipse">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Tree>
    <p:extLst>
      <p:ext uri="{BB962C8B-B14F-4D97-AF65-F5344CB8AC3E}">
        <p14:creationId xmlns:p14="http://schemas.microsoft.com/office/powerpoint/2010/main" val="135204209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5_portfolio 4 full">
    <p:spTree>
      <p:nvGrpSpPr>
        <p:cNvPr id="1" name=""/>
        <p:cNvGrpSpPr/>
        <p:nvPr/>
      </p:nvGrpSpPr>
      <p:grpSpPr>
        <a:xfrm>
          <a:off x="0" y="0"/>
          <a:ext cx="0" cy="0"/>
          <a:chOff x="0" y="0"/>
          <a:chExt cx="0" cy="0"/>
        </a:xfrm>
      </p:grpSpPr>
      <p:sp>
        <p:nvSpPr>
          <p:cNvPr id="20" name="Picture Placeholder 2"/>
          <p:cNvSpPr>
            <a:spLocks noGrp="1"/>
          </p:cNvSpPr>
          <p:nvPr>
            <p:ph type="pic" sz="quarter" idx="19"/>
          </p:nvPr>
        </p:nvSpPr>
        <p:spPr>
          <a:xfrm>
            <a:off x="0" y="1"/>
            <a:ext cx="3037024" cy="3472070"/>
          </a:xfrm>
          <a:prstGeom prst="rect">
            <a:avLst/>
          </a:prstGeom>
        </p:spPr>
        <p:txBody>
          <a:bodyPr/>
          <a:lstStyle/>
          <a:p>
            <a:endParaRPr lang="id-ID"/>
          </a:p>
        </p:txBody>
      </p:sp>
      <p:sp>
        <p:nvSpPr>
          <p:cNvPr id="21" name="Picture Placeholder 2"/>
          <p:cNvSpPr>
            <a:spLocks noGrp="1"/>
          </p:cNvSpPr>
          <p:nvPr>
            <p:ph type="pic" sz="quarter" idx="20"/>
          </p:nvPr>
        </p:nvSpPr>
        <p:spPr>
          <a:xfrm>
            <a:off x="3047584" y="0"/>
            <a:ext cx="2991887" cy="3472071"/>
          </a:xfrm>
          <a:prstGeom prst="rect">
            <a:avLst/>
          </a:prstGeom>
        </p:spPr>
        <p:txBody>
          <a:bodyPr/>
          <a:lstStyle/>
          <a:p>
            <a:endParaRPr lang="id-ID"/>
          </a:p>
        </p:txBody>
      </p:sp>
      <p:sp>
        <p:nvSpPr>
          <p:cNvPr id="22" name="Picture Placeholder 2"/>
          <p:cNvSpPr>
            <a:spLocks noGrp="1"/>
          </p:cNvSpPr>
          <p:nvPr>
            <p:ph type="pic" sz="quarter" idx="21"/>
          </p:nvPr>
        </p:nvSpPr>
        <p:spPr>
          <a:xfrm>
            <a:off x="6063284" y="0"/>
            <a:ext cx="3100594" cy="3472071"/>
          </a:xfrm>
          <a:prstGeom prst="rect">
            <a:avLst/>
          </a:prstGeom>
        </p:spPr>
        <p:txBody>
          <a:bodyPr/>
          <a:lstStyle/>
          <a:p>
            <a:endParaRPr lang="id-ID"/>
          </a:p>
        </p:txBody>
      </p:sp>
      <p:sp>
        <p:nvSpPr>
          <p:cNvPr id="26" name="Picture Placeholder 2"/>
          <p:cNvSpPr>
            <a:spLocks noGrp="1"/>
          </p:cNvSpPr>
          <p:nvPr>
            <p:ph type="pic" sz="quarter" idx="22"/>
          </p:nvPr>
        </p:nvSpPr>
        <p:spPr>
          <a:xfrm>
            <a:off x="9187690" y="0"/>
            <a:ext cx="3004309" cy="3472071"/>
          </a:xfrm>
          <a:prstGeom prst="rect">
            <a:avLst/>
          </a:prstGeom>
        </p:spPr>
        <p:txBody>
          <a:bodyPr/>
          <a:lstStyle/>
          <a:p>
            <a:endParaRPr lang="id-ID"/>
          </a:p>
        </p:txBody>
      </p:sp>
    </p:spTree>
    <p:extLst>
      <p:ext uri="{BB962C8B-B14F-4D97-AF65-F5344CB8AC3E}">
        <p14:creationId xmlns:p14="http://schemas.microsoft.com/office/powerpoint/2010/main" val="222761737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5_portfolio 7">
    <p:spTree>
      <p:nvGrpSpPr>
        <p:cNvPr id="1" name=""/>
        <p:cNvGrpSpPr/>
        <p:nvPr/>
      </p:nvGrpSpPr>
      <p:grpSpPr>
        <a:xfrm>
          <a:off x="0" y="0"/>
          <a:ext cx="0" cy="0"/>
          <a:chOff x="0" y="0"/>
          <a:chExt cx="0" cy="0"/>
        </a:xfrm>
      </p:grpSpPr>
      <p:sp>
        <p:nvSpPr>
          <p:cNvPr id="19" name="Picture Placeholder 4"/>
          <p:cNvSpPr>
            <a:spLocks noGrp="1"/>
          </p:cNvSpPr>
          <p:nvPr>
            <p:ph type="pic" sz="quarter" idx="10"/>
          </p:nvPr>
        </p:nvSpPr>
        <p:spPr>
          <a:xfrm>
            <a:off x="10177670" y="304800"/>
            <a:ext cx="1749287" cy="6321287"/>
          </a:xfrm>
        </p:spPr>
        <p:txBody>
          <a:bodyPr/>
          <a:lstStyle/>
          <a:p>
            <a:endParaRPr lang="id-ID"/>
          </a:p>
        </p:txBody>
      </p:sp>
      <p:sp>
        <p:nvSpPr>
          <p:cNvPr id="23" name="Picture Placeholder 4"/>
          <p:cNvSpPr>
            <a:spLocks noGrp="1"/>
          </p:cNvSpPr>
          <p:nvPr>
            <p:ph type="pic" sz="quarter" idx="11"/>
          </p:nvPr>
        </p:nvSpPr>
        <p:spPr>
          <a:xfrm>
            <a:off x="8256104" y="302331"/>
            <a:ext cx="1749287" cy="6321287"/>
          </a:xfrm>
        </p:spPr>
        <p:txBody>
          <a:bodyPr/>
          <a:lstStyle/>
          <a:p>
            <a:endParaRPr lang="id-ID"/>
          </a:p>
        </p:txBody>
      </p:sp>
      <p:sp>
        <p:nvSpPr>
          <p:cNvPr id="24" name="Picture Placeholder 4"/>
          <p:cNvSpPr>
            <a:spLocks noGrp="1"/>
          </p:cNvSpPr>
          <p:nvPr>
            <p:ph type="pic" sz="quarter" idx="12"/>
          </p:nvPr>
        </p:nvSpPr>
        <p:spPr>
          <a:xfrm>
            <a:off x="6334538" y="302330"/>
            <a:ext cx="1749287" cy="6321287"/>
          </a:xfrm>
        </p:spPr>
        <p:txBody>
          <a:bodyPr/>
          <a:lstStyle/>
          <a:p>
            <a:endParaRPr lang="id-ID"/>
          </a:p>
        </p:txBody>
      </p:sp>
    </p:spTree>
    <p:extLst>
      <p:ext uri="{BB962C8B-B14F-4D97-AF65-F5344CB8AC3E}">
        <p14:creationId xmlns:p14="http://schemas.microsoft.com/office/powerpoint/2010/main" val="265421710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6_portfolio dia">
    <p:spTree>
      <p:nvGrpSpPr>
        <p:cNvPr id="1" name=""/>
        <p:cNvGrpSpPr/>
        <p:nvPr/>
      </p:nvGrpSpPr>
      <p:grpSpPr>
        <a:xfrm>
          <a:off x="0" y="0"/>
          <a:ext cx="0" cy="0"/>
          <a:chOff x="0" y="0"/>
          <a:chExt cx="0" cy="0"/>
        </a:xfrm>
      </p:grpSpPr>
      <p:sp>
        <p:nvSpPr>
          <p:cNvPr id="16" name="Picture Placeholder 13"/>
          <p:cNvSpPr>
            <a:spLocks noGrp="1"/>
          </p:cNvSpPr>
          <p:nvPr>
            <p:ph type="pic" sz="quarter" idx="32" hasCustomPrompt="1"/>
          </p:nvPr>
        </p:nvSpPr>
        <p:spPr>
          <a:xfrm flipH="1">
            <a:off x="-1567350" y="-543339"/>
            <a:ext cx="4683926" cy="3816626"/>
          </a:xfrm>
          <a:custGeom>
            <a:avLst/>
            <a:gdLst>
              <a:gd name="connsiteX0" fmla="*/ 7187484 w 8328384"/>
              <a:gd name="connsiteY0" fmla="*/ 3202389 h 4794329"/>
              <a:gd name="connsiteX1" fmla="*/ 7336349 w 8328384"/>
              <a:gd name="connsiteY1" fmla="*/ 3264051 h 4794329"/>
              <a:gd name="connsiteX2" fmla="*/ 7336349 w 8328384"/>
              <a:gd name="connsiteY2" fmla="*/ 3561781 h 4794329"/>
              <a:gd name="connsiteX3" fmla="*/ 6675910 w 8328384"/>
              <a:gd name="connsiteY3" fmla="*/ 4222219 h 4794329"/>
              <a:gd name="connsiteX4" fmla="*/ 6378180 w 8328384"/>
              <a:gd name="connsiteY4" fmla="*/ 4222219 h 4794329"/>
              <a:gd name="connsiteX5" fmla="*/ 6378181 w 8328384"/>
              <a:gd name="connsiteY5" fmla="*/ 4222219 h 4794329"/>
              <a:gd name="connsiteX6" fmla="*/ 6378181 w 8328384"/>
              <a:gd name="connsiteY6" fmla="*/ 3924488 h 4794329"/>
              <a:gd name="connsiteX7" fmla="*/ 7038619 w 8328384"/>
              <a:gd name="connsiteY7" fmla="*/ 3264051 h 4794329"/>
              <a:gd name="connsiteX8" fmla="*/ 7187484 w 8328384"/>
              <a:gd name="connsiteY8" fmla="*/ 3202389 h 4794329"/>
              <a:gd name="connsiteX9" fmla="*/ 7154253 w 8328384"/>
              <a:gd name="connsiteY9" fmla="*/ 1896653 h 4794329"/>
              <a:gd name="connsiteX10" fmla="*/ 7303118 w 8328384"/>
              <a:gd name="connsiteY10" fmla="*/ 1958315 h 4794329"/>
              <a:gd name="connsiteX11" fmla="*/ 7303118 w 8328384"/>
              <a:gd name="connsiteY11" fmla="*/ 2256046 h 4794329"/>
              <a:gd name="connsiteX12" fmla="*/ 4826495 w 8328384"/>
              <a:gd name="connsiteY12" fmla="*/ 4732667 h 4794329"/>
              <a:gd name="connsiteX13" fmla="*/ 4528765 w 8328384"/>
              <a:gd name="connsiteY13" fmla="*/ 4732667 h 4794329"/>
              <a:gd name="connsiteX14" fmla="*/ 4528767 w 8328384"/>
              <a:gd name="connsiteY14" fmla="*/ 4732667 h 4794329"/>
              <a:gd name="connsiteX15" fmla="*/ 4528767 w 8328384"/>
              <a:gd name="connsiteY15" fmla="*/ 4434937 h 4794329"/>
              <a:gd name="connsiteX16" fmla="*/ 7005388 w 8328384"/>
              <a:gd name="connsiteY16" fmla="*/ 1958315 h 4794329"/>
              <a:gd name="connsiteX17" fmla="*/ 7154253 w 8328384"/>
              <a:gd name="connsiteY17" fmla="*/ 1896653 h 4794329"/>
              <a:gd name="connsiteX18" fmla="*/ 8117857 w 8328384"/>
              <a:gd name="connsiteY18" fmla="*/ 1606041 h 4794329"/>
              <a:gd name="connsiteX19" fmla="*/ 8266722 w 8328384"/>
              <a:gd name="connsiteY19" fmla="*/ 1667703 h 4794329"/>
              <a:gd name="connsiteX20" fmla="*/ 8266722 w 8328384"/>
              <a:gd name="connsiteY20" fmla="*/ 1965433 h 4794329"/>
              <a:gd name="connsiteX21" fmla="*/ 6381647 w 8328384"/>
              <a:gd name="connsiteY21" fmla="*/ 3850507 h 4794329"/>
              <a:gd name="connsiteX22" fmla="*/ 6083917 w 8328384"/>
              <a:gd name="connsiteY22" fmla="*/ 3850507 h 4794329"/>
              <a:gd name="connsiteX23" fmla="*/ 6083918 w 8328384"/>
              <a:gd name="connsiteY23" fmla="*/ 3850507 h 4794329"/>
              <a:gd name="connsiteX24" fmla="*/ 6083918 w 8328384"/>
              <a:gd name="connsiteY24" fmla="*/ 3552777 h 4794329"/>
              <a:gd name="connsiteX25" fmla="*/ 7968992 w 8328384"/>
              <a:gd name="connsiteY25" fmla="*/ 1667703 h 4794329"/>
              <a:gd name="connsiteX26" fmla="*/ 8117857 w 8328384"/>
              <a:gd name="connsiteY26" fmla="*/ 1606041 h 4794329"/>
              <a:gd name="connsiteX27" fmla="*/ 677527 w 8328384"/>
              <a:gd name="connsiteY27" fmla="*/ 898884 h 4794329"/>
              <a:gd name="connsiteX28" fmla="*/ 1028254 w 8328384"/>
              <a:gd name="connsiteY28" fmla="*/ 898884 h 4794329"/>
              <a:gd name="connsiteX29" fmla="*/ 1705781 w 8328384"/>
              <a:gd name="connsiteY29" fmla="*/ 1576410 h 4794329"/>
              <a:gd name="connsiteX30" fmla="*/ 1028254 w 8328384"/>
              <a:gd name="connsiteY30" fmla="*/ 2253937 h 4794329"/>
              <a:gd name="connsiteX31" fmla="*/ 677527 w 8328384"/>
              <a:gd name="connsiteY31" fmla="*/ 2253937 h 4794329"/>
              <a:gd name="connsiteX32" fmla="*/ 0 w 8328384"/>
              <a:gd name="connsiteY32" fmla="*/ 1576410 h 4794329"/>
              <a:gd name="connsiteX33" fmla="*/ 677527 w 8328384"/>
              <a:gd name="connsiteY33" fmla="*/ 898884 h 4794329"/>
              <a:gd name="connsiteX34" fmla="*/ 7665818 w 8328384"/>
              <a:gd name="connsiteY34" fmla="*/ 717042 h 4794329"/>
              <a:gd name="connsiteX35" fmla="*/ 7814683 w 8328384"/>
              <a:gd name="connsiteY35" fmla="*/ 778704 h 4794329"/>
              <a:gd name="connsiteX36" fmla="*/ 7814683 w 8328384"/>
              <a:gd name="connsiteY36" fmla="*/ 1076435 h 4794329"/>
              <a:gd name="connsiteX37" fmla="*/ 4739492 w 8328384"/>
              <a:gd name="connsiteY37" fmla="*/ 4151624 h 4794329"/>
              <a:gd name="connsiteX38" fmla="*/ 4441762 w 8328384"/>
              <a:gd name="connsiteY38" fmla="*/ 4151624 h 4794329"/>
              <a:gd name="connsiteX39" fmla="*/ 4441763 w 8328384"/>
              <a:gd name="connsiteY39" fmla="*/ 4151624 h 4794329"/>
              <a:gd name="connsiteX40" fmla="*/ 4441763 w 8328384"/>
              <a:gd name="connsiteY40" fmla="*/ 3853894 h 4794329"/>
              <a:gd name="connsiteX41" fmla="*/ 7516953 w 8328384"/>
              <a:gd name="connsiteY41" fmla="*/ 778704 h 4794329"/>
              <a:gd name="connsiteX42" fmla="*/ 7665818 w 8328384"/>
              <a:gd name="connsiteY42" fmla="*/ 717042 h 4794329"/>
              <a:gd name="connsiteX43" fmla="*/ 7109580 w 8328384"/>
              <a:gd name="connsiteY43" fmla="*/ 598413 h 4794329"/>
              <a:gd name="connsiteX44" fmla="*/ 7258445 w 8328384"/>
              <a:gd name="connsiteY44" fmla="*/ 660075 h 4794329"/>
              <a:gd name="connsiteX45" fmla="*/ 7258445 w 8328384"/>
              <a:gd name="connsiteY45" fmla="*/ 957805 h 4794329"/>
              <a:gd name="connsiteX46" fmla="*/ 3512618 w 8328384"/>
              <a:gd name="connsiteY46" fmla="*/ 4703631 h 4794329"/>
              <a:gd name="connsiteX47" fmla="*/ 3214888 w 8328384"/>
              <a:gd name="connsiteY47" fmla="*/ 4703631 h 4794329"/>
              <a:gd name="connsiteX48" fmla="*/ 3214889 w 8328384"/>
              <a:gd name="connsiteY48" fmla="*/ 4703631 h 4794329"/>
              <a:gd name="connsiteX49" fmla="*/ 3214889 w 8328384"/>
              <a:gd name="connsiteY49" fmla="*/ 4405901 h 4794329"/>
              <a:gd name="connsiteX50" fmla="*/ 6960715 w 8328384"/>
              <a:gd name="connsiteY50" fmla="*/ 660075 h 4794329"/>
              <a:gd name="connsiteX51" fmla="*/ 7109580 w 8328384"/>
              <a:gd name="connsiteY51" fmla="*/ 598413 h 4794329"/>
              <a:gd name="connsiteX52" fmla="*/ 5839303 w 8328384"/>
              <a:gd name="connsiteY52" fmla="*/ 530016 h 4794329"/>
              <a:gd name="connsiteX53" fmla="*/ 5988168 w 8328384"/>
              <a:gd name="connsiteY53" fmla="*/ 591677 h 4794329"/>
              <a:gd name="connsiteX54" fmla="*/ 5988168 w 8328384"/>
              <a:gd name="connsiteY54" fmla="*/ 889408 h 4794329"/>
              <a:gd name="connsiteX55" fmla="*/ 2912977 w 8328384"/>
              <a:gd name="connsiteY55" fmla="*/ 3964597 h 4794329"/>
              <a:gd name="connsiteX56" fmla="*/ 2615248 w 8328384"/>
              <a:gd name="connsiteY56" fmla="*/ 3964597 h 4794329"/>
              <a:gd name="connsiteX57" fmla="*/ 2615249 w 8328384"/>
              <a:gd name="connsiteY57" fmla="*/ 3964597 h 4794329"/>
              <a:gd name="connsiteX58" fmla="*/ 2615249 w 8328384"/>
              <a:gd name="connsiteY58" fmla="*/ 3666867 h 4794329"/>
              <a:gd name="connsiteX59" fmla="*/ 5690438 w 8328384"/>
              <a:gd name="connsiteY59" fmla="*/ 591677 h 4794329"/>
              <a:gd name="connsiteX60" fmla="*/ 5839303 w 8328384"/>
              <a:gd name="connsiteY60" fmla="*/ 530016 h 4794329"/>
              <a:gd name="connsiteX61" fmla="*/ 6693121 w 8328384"/>
              <a:gd name="connsiteY61" fmla="*/ 347526 h 4794329"/>
              <a:gd name="connsiteX62" fmla="*/ 6841986 w 8328384"/>
              <a:gd name="connsiteY62" fmla="*/ 409188 h 4794329"/>
              <a:gd name="connsiteX63" fmla="*/ 6841986 w 8328384"/>
              <a:gd name="connsiteY63" fmla="*/ 706919 h 4794329"/>
              <a:gd name="connsiteX64" fmla="*/ 3766795 w 8328384"/>
              <a:gd name="connsiteY64" fmla="*/ 3782108 h 4794329"/>
              <a:gd name="connsiteX65" fmla="*/ 3469065 w 8328384"/>
              <a:gd name="connsiteY65" fmla="*/ 3782108 h 4794329"/>
              <a:gd name="connsiteX66" fmla="*/ 3469066 w 8328384"/>
              <a:gd name="connsiteY66" fmla="*/ 3782108 h 4794329"/>
              <a:gd name="connsiteX67" fmla="*/ 3469066 w 8328384"/>
              <a:gd name="connsiteY67" fmla="*/ 3484378 h 4794329"/>
              <a:gd name="connsiteX68" fmla="*/ 6544256 w 8328384"/>
              <a:gd name="connsiteY68" fmla="*/ 409188 h 4794329"/>
              <a:gd name="connsiteX69" fmla="*/ 6693121 w 8328384"/>
              <a:gd name="connsiteY69" fmla="*/ 347526 h 4794329"/>
              <a:gd name="connsiteX70" fmla="*/ 4217989 w 8328384"/>
              <a:gd name="connsiteY70" fmla="*/ 126303 h 4794329"/>
              <a:gd name="connsiteX71" fmla="*/ 4366854 w 8328384"/>
              <a:gd name="connsiteY71" fmla="*/ 187965 h 4794329"/>
              <a:gd name="connsiteX72" fmla="*/ 4366854 w 8328384"/>
              <a:gd name="connsiteY72" fmla="*/ 485695 h 4794329"/>
              <a:gd name="connsiteX73" fmla="*/ 3108136 w 8328384"/>
              <a:gd name="connsiteY73" fmla="*/ 1744412 h 4794329"/>
              <a:gd name="connsiteX74" fmla="*/ 2810405 w 8328384"/>
              <a:gd name="connsiteY74" fmla="*/ 1744412 h 4794329"/>
              <a:gd name="connsiteX75" fmla="*/ 2810407 w 8328384"/>
              <a:gd name="connsiteY75" fmla="*/ 1744412 h 4794329"/>
              <a:gd name="connsiteX76" fmla="*/ 2810407 w 8328384"/>
              <a:gd name="connsiteY76" fmla="*/ 1446682 h 4794329"/>
              <a:gd name="connsiteX77" fmla="*/ 4069124 w 8328384"/>
              <a:gd name="connsiteY77" fmla="*/ 187965 h 4794329"/>
              <a:gd name="connsiteX78" fmla="*/ 4217989 w 8328384"/>
              <a:gd name="connsiteY78" fmla="*/ 126303 h 4794329"/>
              <a:gd name="connsiteX79" fmla="*/ 5679047 w 8328384"/>
              <a:gd name="connsiteY79" fmla="*/ 18853 h 4794329"/>
              <a:gd name="connsiteX80" fmla="*/ 5827912 w 8328384"/>
              <a:gd name="connsiteY80" fmla="*/ 80515 h 4794329"/>
              <a:gd name="connsiteX81" fmla="*/ 5827912 w 8328384"/>
              <a:gd name="connsiteY81" fmla="*/ 378245 h 4794329"/>
              <a:gd name="connsiteX82" fmla="*/ 3106228 w 8328384"/>
              <a:gd name="connsiteY82" fmla="*/ 3099928 h 4794329"/>
              <a:gd name="connsiteX83" fmla="*/ 2808498 w 8328384"/>
              <a:gd name="connsiteY83" fmla="*/ 3099928 h 4794329"/>
              <a:gd name="connsiteX84" fmla="*/ 2808499 w 8328384"/>
              <a:gd name="connsiteY84" fmla="*/ 3099928 h 4794329"/>
              <a:gd name="connsiteX85" fmla="*/ 2808499 w 8328384"/>
              <a:gd name="connsiteY85" fmla="*/ 2802198 h 4794329"/>
              <a:gd name="connsiteX86" fmla="*/ 5530182 w 8328384"/>
              <a:gd name="connsiteY86" fmla="*/ 80515 h 4794329"/>
              <a:gd name="connsiteX87" fmla="*/ 5679047 w 8328384"/>
              <a:gd name="connsiteY87" fmla="*/ 18853 h 4794329"/>
              <a:gd name="connsiteX88" fmla="*/ 5019170 w 8328384"/>
              <a:gd name="connsiteY88" fmla="*/ 0 h 4794329"/>
              <a:gd name="connsiteX89" fmla="*/ 5168035 w 8328384"/>
              <a:gd name="connsiteY89" fmla="*/ 61662 h 4794329"/>
              <a:gd name="connsiteX90" fmla="*/ 5168035 w 8328384"/>
              <a:gd name="connsiteY90" fmla="*/ 359392 h 4794329"/>
              <a:gd name="connsiteX91" fmla="*/ 3186355 w 8328384"/>
              <a:gd name="connsiteY91" fmla="*/ 2341071 h 4794329"/>
              <a:gd name="connsiteX92" fmla="*/ 2888624 w 8328384"/>
              <a:gd name="connsiteY92" fmla="*/ 2341071 h 4794329"/>
              <a:gd name="connsiteX93" fmla="*/ 2888626 w 8328384"/>
              <a:gd name="connsiteY93" fmla="*/ 2341071 h 4794329"/>
              <a:gd name="connsiteX94" fmla="*/ 2888626 w 8328384"/>
              <a:gd name="connsiteY94" fmla="*/ 2043341 h 4794329"/>
              <a:gd name="connsiteX95" fmla="*/ 4870305 w 8328384"/>
              <a:gd name="connsiteY95" fmla="*/ 61662 h 4794329"/>
              <a:gd name="connsiteX96" fmla="*/ 5019170 w 8328384"/>
              <a:gd name="connsiteY96" fmla="*/ 0 h 4794329"/>
              <a:gd name="connsiteX0" fmla="*/ 7193726 w 8334626"/>
              <a:gd name="connsiteY0" fmla="*/ 3202389 h 4794329"/>
              <a:gd name="connsiteX1" fmla="*/ 7342591 w 8334626"/>
              <a:gd name="connsiteY1" fmla="*/ 3264051 h 4794329"/>
              <a:gd name="connsiteX2" fmla="*/ 7342591 w 8334626"/>
              <a:gd name="connsiteY2" fmla="*/ 3561781 h 4794329"/>
              <a:gd name="connsiteX3" fmla="*/ 6682152 w 8334626"/>
              <a:gd name="connsiteY3" fmla="*/ 4222219 h 4794329"/>
              <a:gd name="connsiteX4" fmla="*/ 6384422 w 8334626"/>
              <a:gd name="connsiteY4" fmla="*/ 4222219 h 4794329"/>
              <a:gd name="connsiteX5" fmla="*/ 6384423 w 8334626"/>
              <a:gd name="connsiteY5" fmla="*/ 4222219 h 4794329"/>
              <a:gd name="connsiteX6" fmla="*/ 6384423 w 8334626"/>
              <a:gd name="connsiteY6" fmla="*/ 3924488 h 4794329"/>
              <a:gd name="connsiteX7" fmla="*/ 7044861 w 8334626"/>
              <a:gd name="connsiteY7" fmla="*/ 3264051 h 4794329"/>
              <a:gd name="connsiteX8" fmla="*/ 7193726 w 8334626"/>
              <a:gd name="connsiteY8" fmla="*/ 3202389 h 4794329"/>
              <a:gd name="connsiteX9" fmla="*/ 7160495 w 8334626"/>
              <a:gd name="connsiteY9" fmla="*/ 1896653 h 4794329"/>
              <a:gd name="connsiteX10" fmla="*/ 7309360 w 8334626"/>
              <a:gd name="connsiteY10" fmla="*/ 1958315 h 4794329"/>
              <a:gd name="connsiteX11" fmla="*/ 7309360 w 8334626"/>
              <a:gd name="connsiteY11" fmla="*/ 2256046 h 4794329"/>
              <a:gd name="connsiteX12" fmla="*/ 4832737 w 8334626"/>
              <a:gd name="connsiteY12" fmla="*/ 4732667 h 4794329"/>
              <a:gd name="connsiteX13" fmla="*/ 4535007 w 8334626"/>
              <a:gd name="connsiteY13" fmla="*/ 4732667 h 4794329"/>
              <a:gd name="connsiteX14" fmla="*/ 4535009 w 8334626"/>
              <a:gd name="connsiteY14" fmla="*/ 4732667 h 4794329"/>
              <a:gd name="connsiteX15" fmla="*/ 4535009 w 8334626"/>
              <a:gd name="connsiteY15" fmla="*/ 4434937 h 4794329"/>
              <a:gd name="connsiteX16" fmla="*/ 7011630 w 8334626"/>
              <a:gd name="connsiteY16" fmla="*/ 1958315 h 4794329"/>
              <a:gd name="connsiteX17" fmla="*/ 7160495 w 8334626"/>
              <a:gd name="connsiteY17" fmla="*/ 1896653 h 4794329"/>
              <a:gd name="connsiteX18" fmla="*/ 8124099 w 8334626"/>
              <a:gd name="connsiteY18" fmla="*/ 1606041 h 4794329"/>
              <a:gd name="connsiteX19" fmla="*/ 8272964 w 8334626"/>
              <a:gd name="connsiteY19" fmla="*/ 1667703 h 4794329"/>
              <a:gd name="connsiteX20" fmla="*/ 8272964 w 8334626"/>
              <a:gd name="connsiteY20" fmla="*/ 1965433 h 4794329"/>
              <a:gd name="connsiteX21" fmla="*/ 6387889 w 8334626"/>
              <a:gd name="connsiteY21" fmla="*/ 3850507 h 4794329"/>
              <a:gd name="connsiteX22" fmla="*/ 6090159 w 8334626"/>
              <a:gd name="connsiteY22" fmla="*/ 3850507 h 4794329"/>
              <a:gd name="connsiteX23" fmla="*/ 6090160 w 8334626"/>
              <a:gd name="connsiteY23" fmla="*/ 3850507 h 4794329"/>
              <a:gd name="connsiteX24" fmla="*/ 6090160 w 8334626"/>
              <a:gd name="connsiteY24" fmla="*/ 3552777 h 4794329"/>
              <a:gd name="connsiteX25" fmla="*/ 7975234 w 8334626"/>
              <a:gd name="connsiteY25" fmla="*/ 1667703 h 4794329"/>
              <a:gd name="connsiteX26" fmla="*/ 8124099 w 8334626"/>
              <a:gd name="connsiteY26" fmla="*/ 1606041 h 4794329"/>
              <a:gd name="connsiteX27" fmla="*/ 6242 w 8334626"/>
              <a:gd name="connsiteY27" fmla="*/ 1576410 h 4794329"/>
              <a:gd name="connsiteX28" fmla="*/ 1034496 w 8334626"/>
              <a:gd name="connsiteY28" fmla="*/ 898884 h 4794329"/>
              <a:gd name="connsiteX29" fmla="*/ 1712023 w 8334626"/>
              <a:gd name="connsiteY29" fmla="*/ 1576410 h 4794329"/>
              <a:gd name="connsiteX30" fmla="*/ 1034496 w 8334626"/>
              <a:gd name="connsiteY30" fmla="*/ 2253937 h 4794329"/>
              <a:gd name="connsiteX31" fmla="*/ 683769 w 8334626"/>
              <a:gd name="connsiteY31" fmla="*/ 2253937 h 4794329"/>
              <a:gd name="connsiteX32" fmla="*/ 6242 w 8334626"/>
              <a:gd name="connsiteY32" fmla="*/ 1576410 h 4794329"/>
              <a:gd name="connsiteX33" fmla="*/ 7672060 w 8334626"/>
              <a:gd name="connsiteY33" fmla="*/ 717042 h 4794329"/>
              <a:gd name="connsiteX34" fmla="*/ 7820925 w 8334626"/>
              <a:gd name="connsiteY34" fmla="*/ 778704 h 4794329"/>
              <a:gd name="connsiteX35" fmla="*/ 7820925 w 8334626"/>
              <a:gd name="connsiteY35" fmla="*/ 1076435 h 4794329"/>
              <a:gd name="connsiteX36" fmla="*/ 4745734 w 8334626"/>
              <a:gd name="connsiteY36" fmla="*/ 4151624 h 4794329"/>
              <a:gd name="connsiteX37" fmla="*/ 4448004 w 8334626"/>
              <a:gd name="connsiteY37" fmla="*/ 4151624 h 4794329"/>
              <a:gd name="connsiteX38" fmla="*/ 4448005 w 8334626"/>
              <a:gd name="connsiteY38" fmla="*/ 4151624 h 4794329"/>
              <a:gd name="connsiteX39" fmla="*/ 4448005 w 8334626"/>
              <a:gd name="connsiteY39" fmla="*/ 3853894 h 4794329"/>
              <a:gd name="connsiteX40" fmla="*/ 7523195 w 8334626"/>
              <a:gd name="connsiteY40" fmla="*/ 778704 h 4794329"/>
              <a:gd name="connsiteX41" fmla="*/ 7672060 w 8334626"/>
              <a:gd name="connsiteY41" fmla="*/ 717042 h 4794329"/>
              <a:gd name="connsiteX42" fmla="*/ 7115822 w 8334626"/>
              <a:gd name="connsiteY42" fmla="*/ 598413 h 4794329"/>
              <a:gd name="connsiteX43" fmla="*/ 7264687 w 8334626"/>
              <a:gd name="connsiteY43" fmla="*/ 660075 h 4794329"/>
              <a:gd name="connsiteX44" fmla="*/ 7264687 w 8334626"/>
              <a:gd name="connsiteY44" fmla="*/ 957805 h 4794329"/>
              <a:gd name="connsiteX45" fmla="*/ 3518860 w 8334626"/>
              <a:gd name="connsiteY45" fmla="*/ 4703631 h 4794329"/>
              <a:gd name="connsiteX46" fmla="*/ 3221130 w 8334626"/>
              <a:gd name="connsiteY46" fmla="*/ 4703631 h 4794329"/>
              <a:gd name="connsiteX47" fmla="*/ 3221131 w 8334626"/>
              <a:gd name="connsiteY47" fmla="*/ 4703631 h 4794329"/>
              <a:gd name="connsiteX48" fmla="*/ 3221131 w 8334626"/>
              <a:gd name="connsiteY48" fmla="*/ 4405901 h 4794329"/>
              <a:gd name="connsiteX49" fmla="*/ 6966957 w 8334626"/>
              <a:gd name="connsiteY49" fmla="*/ 660075 h 4794329"/>
              <a:gd name="connsiteX50" fmla="*/ 7115822 w 8334626"/>
              <a:gd name="connsiteY50" fmla="*/ 598413 h 4794329"/>
              <a:gd name="connsiteX51" fmla="*/ 5845545 w 8334626"/>
              <a:gd name="connsiteY51" fmla="*/ 530016 h 4794329"/>
              <a:gd name="connsiteX52" fmla="*/ 5994410 w 8334626"/>
              <a:gd name="connsiteY52" fmla="*/ 591677 h 4794329"/>
              <a:gd name="connsiteX53" fmla="*/ 5994410 w 8334626"/>
              <a:gd name="connsiteY53" fmla="*/ 889408 h 4794329"/>
              <a:gd name="connsiteX54" fmla="*/ 2919219 w 8334626"/>
              <a:gd name="connsiteY54" fmla="*/ 3964597 h 4794329"/>
              <a:gd name="connsiteX55" fmla="*/ 2621490 w 8334626"/>
              <a:gd name="connsiteY55" fmla="*/ 3964597 h 4794329"/>
              <a:gd name="connsiteX56" fmla="*/ 2621491 w 8334626"/>
              <a:gd name="connsiteY56" fmla="*/ 3964597 h 4794329"/>
              <a:gd name="connsiteX57" fmla="*/ 2621491 w 8334626"/>
              <a:gd name="connsiteY57" fmla="*/ 3666867 h 4794329"/>
              <a:gd name="connsiteX58" fmla="*/ 5696680 w 8334626"/>
              <a:gd name="connsiteY58" fmla="*/ 591677 h 4794329"/>
              <a:gd name="connsiteX59" fmla="*/ 5845545 w 8334626"/>
              <a:gd name="connsiteY59" fmla="*/ 530016 h 4794329"/>
              <a:gd name="connsiteX60" fmla="*/ 6699363 w 8334626"/>
              <a:gd name="connsiteY60" fmla="*/ 347526 h 4794329"/>
              <a:gd name="connsiteX61" fmla="*/ 6848228 w 8334626"/>
              <a:gd name="connsiteY61" fmla="*/ 409188 h 4794329"/>
              <a:gd name="connsiteX62" fmla="*/ 6848228 w 8334626"/>
              <a:gd name="connsiteY62" fmla="*/ 706919 h 4794329"/>
              <a:gd name="connsiteX63" fmla="*/ 3773037 w 8334626"/>
              <a:gd name="connsiteY63" fmla="*/ 3782108 h 4794329"/>
              <a:gd name="connsiteX64" fmla="*/ 3475307 w 8334626"/>
              <a:gd name="connsiteY64" fmla="*/ 3782108 h 4794329"/>
              <a:gd name="connsiteX65" fmla="*/ 3475308 w 8334626"/>
              <a:gd name="connsiteY65" fmla="*/ 3782108 h 4794329"/>
              <a:gd name="connsiteX66" fmla="*/ 3475308 w 8334626"/>
              <a:gd name="connsiteY66" fmla="*/ 3484378 h 4794329"/>
              <a:gd name="connsiteX67" fmla="*/ 6550498 w 8334626"/>
              <a:gd name="connsiteY67" fmla="*/ 409188 h 4794329"/>
              <a:gd name="connsiteX68" fmla="*/ 6699363 w 8334626"/>
              <a:gd name="connsiteY68" fmla="*/ 347526 h 4794329"/>
              <a:gd name="connsiteX69" fmla="*/ 4224231 w 8334626"/>
              <a:gd name="connsiteY69" fmla="*/ 126303 h 4794329"/>
              <a:gd name="connsiteX70" fmla="*/ 4373096 w 8334626"/>
              <a:gd name="connsiteY70" fmla="*/ 187965 h 4794329"/>
              <a:gd name="connsiteX71" fmla="*/ 4373096 w 8334626"/>
              <a:gd name="connsiteY71" fmla="*/ 485695 h 4794329"/>
              <a:gd name="connsiteX72" fmla="*/ 3114378 w 8334626"/>
              <a:gd name="connsiteY72" fmla="*/ 1744412 h 4794329"/>
              <a:gd name="connsiteX73" fmla="*/ 2816647 w 8334626"/>
              <a:gd name="connsiteY73" fmla="*/ 1744412 h 4794329"/>
              <a:gd name="connsiteX74" fmla="*/ 2816649 w 8334626"/>
              <a:gd name="connsiteY74" fmla="*/ 1744412 h 4794329"/>
              <a:gd name="connsiteX75" fmla="*/ 2816649 w 8334626"/>
              <a:gd name="connsiteY75" fmla="*/ 1446682 h 4794329"/>
              <a:gd name="connsiteX76" fmla="*/ 4075366 w 8334626"/>
              <a:gd name="connsiteY76" fmla="*/ 187965 h 4794329"/>
              <a:gd name="connsiteX77" fmla="*/ 4224231 w 8334626"/>
              <a:gd name="connsiteY77" fmla="*/ 126303 h 4794329"/>
              <a:gd name="connsiteX78" fmla="*/ 5685289 w 8334626"/>
              <a:gd name="connsiteY78" fmla="*/ 18853 h 4794329"/>
              <a:gd name="connsiteX79" fmla="*/ 5834154 w 8334626"/>
              <a:gd name="connsiteY79" fmla="*/ 80515 h 4794329"/>
              <a:gd name="connsiteX80" fmla="*/ 5834154 w 8334626"/>
              <a:gd name="connsiteY80" fmla="*/ 378245 h 4794329"/>
              <a:gd name="connsiteX81" fmla="*/ 3112470 w 8334626"/>
              <a:gd name="connsiteY81" fmla="*/ 3099928 h 4794329"/>
              <a:gd name="connsiteX82" fmla="*/ 2814740 w 8334626"/>
              <a:gd name="connsiteY82" fmla="*/ 3099928 h 4794329"/>
              <a:gd name="connsiteX83" fmla="*/ 2814741 w 8334626"/>
              <a:gd name="connsiteY83" fmla="*/ 3099928 h 4794329"/>
              <a:gd name="connsiteX84" fmla="*/ 2814741 w 8334626"/>
              <a:gd name="connsiteY84" fmla="*/ 2802198 h 4794329"/>
              <a:gd name="connsiteX85" fmla="*/ 5536424 w 8334626"/>
              <a:gd name="connsiteY85" fmla="*/ 80515 h 4794329"/>
              <a:gd name="connsiteX86" fmla="*/ 5685289 w 8334626"/>
              <a:gd name="connsiteY86" fmla="*/ 18853 h 4794329"/>
              <a:gd name="connsiteX87" fmla="*/ 5025412 w 8334626"/>
              <a:gd name="connsiteY87" fmla="*/ 0 h 4794329"/>
              <a:gd name="connsiteX88" fmla="*/ 5174277 w 8334626"/>
              <a:gd name="connsiteY88" fmla="*/ 61662 h 4794329"/>
              <a:gd name="connsiteX89" fmla="*/ 5174277 w 8334626"/>
              <a:gd name="connsiteY89" fmla="*/ 359392 h 4794329"/>
              <a:gd name="connsiteX90" fmla="*/ 3192597 w 8334626"/>
              <a:gd name="connsiteY90" fmla="*/ 2341071 h 4794329"/>
              <a:gd name="connsiteX91" fmla="*/ 2894866 w 8334626"/>
              <a:gd name="connsiteY91" fmla="*/ 2341071 h 4794329"/>
              <a:gd name="connsiteX92" fmla="*/ 2894868 w 8334626"/>
              <a:gd name="connsiteY92" fmla="*/ 2341071 h 4794329"/>
              <a:gd name="connsiteX93" fmla="*/ 2894868 w 8334626"/>
              <a:gd name="connsiteY93" fmla="*/ 2043341 h 4794329"/>
              <a:gd name="connsiteX94" fmla="*/ 4876547 w 8334626"/>
              <a:gd name="connsiteY94" fmla="*/ 61662 h 4794329"/>
              <a:gd name="connsiteX95" fmla="*/ 5025412 w 8334626"/>
              <a:gd name="connsiteY95" fmla="*/ 0 h 4794329"/>
              <a:gd name="connsiteX0" fmla="*/ 7223556 w 8364456"/>
              <a:gd name="connsiteY0" fmla="*/ 3202389 h 4794329"/>
              <a:gd name="connsiteX1" fmla="*/ 7372421 w 8364456"/>
              <a:gd name="connsiteY1" fmla="*/ 3264051 h 4794329"/>
              <a:gd name="connsiteX2" fmla="*/ 7372421 w 8364456"/>
              <a:gd name="connsiteY2" fmla="*/ 3561781 h 4794329"/>
              <a:gd name="connsiteX3" fmla="*/ 6711982 w 8364456"/>
              <a:gd name="connsiteY3" fmla="*/ 4222219 h 4794329"/>
              <a:gd name="connsiteX4" fmla="*/ 6414252 w 8364456"/>
              <a:gd name="connsiteY4" fmla="*/ 4222219 h 4794329"/>
              <a:gd name="connsiteX5" fmla="*/ 6414253 w 8364456"/>
              <a:gd name="connsiteY5" fmla="*/ 4222219 h 4794329"/>
              <a:gd name="connsiteX6" fmla="*/ 6414253 w 8364456"/>
              <a:gd name="connsiteY6" fmla="*/ 3924488 h 4794329"/>
              <a:gd name="connsiteX7" fmla="*/ 7074691 w 8364456"/>
              <a:gd name="connsiteY7" fmla="*/ 3264051 h 4794329"/>
              <a:gd name="connsiteX8" fmla="*/ 7223556 w 8364456"/>
              <a:gd name="connsiteY8" fmla="*/ 3202389 h 4794329"/>
              <a:gd name="connsiteX9" fmla="*/ 7190325 w 8364456"/>
              <a:gd name="connsiteY9" fmla="*/ 1896653 h 4794329"/>
              <a:gd name="connsiteX10" fmla="*/ 7339190 w 8364456"/>
              <a:gd name="connsiteY10" fmla="*/ 1958315 h 4794329"/>
              <a:gd name="connsiteX11" fmla="*/ 7339190 w 8364456"/>
              <a:gd name="connsiteY11" fmla="*/ 2256046 h 4794329"/>
              <a:gd name="connsiteX12" fmla="*/ 4862567 w 8364456"/>
              <a:gd name="connsiteY12" fmla="*/ 4732667 h 4794329"/>
              <a:gd name="connsiteX13" fmla="*/ 4564837 w 8364456"/>
              <a:gd name="connsiteY13" fmla="*/ 4732667 h 4794329"/>
              <a:gd name="connsiteX14" fmla="*/ 4564839 w 8364456"/>
              <a:gd name="connsiteY14" fmla="*/ 4732667 h 4794329"/>
              <a:gd name="connsiteX15" fmla="*/ 4564839 w 8364456"/>
              <a:gd name="connsiteY15" fmla="*/ 4434937 h 4794329"/>
              <a:gd name="connsiteX16" fmla="*/ 7041460 w 8364456"/>
              <a:gd name="connsiteY16" fmla="*/ 1958315 h 4794329"/>
              <a:gd name="connsiteX17" fmla="*/ 7190325 w 8364456"/>
              <a:gd name="connsiteY17" fmla="*/ 1896653 h 4794329"/>
              <a:gd name="connsiteX18" fmla="*/ 8153929 w 8364456"/>
              <a:gd name="connsiteY18" fmla="*/ 1606041 h 4794329"/>
              <a:gd name="connsiteX19" fmla="*/ 8302794 w 8364456"/>
              <a:gd name="connsiteY19" fmla="*/ 1667703 h 4794329"/>
              <a:gd name="connsiteX20" fmla="*/ 8302794 w 8364456"/>
              <a:gd name="connsiteY20" fmla="*/ 1965433 h 4794329"/>
              <a:gd name="connsiteX21" fmla="*/ 6417719 w 8364456"/>
              <a:gd name="connsiteY21" fmla="*/ 3850507 h 4794329"/>
              <a:gd name="connsiteX22" fmla="*/ 6119989 w 8364456"/>
              <a:gd name="connsiteY22" fmla="*/ 3850507 h 4794329"/>
              <a:gd name="connsiteX23" fmla="*/ 6119990 w 8364456"/>
              <a:gd name="connsiteY23" fmla="*/ 3850507 h 4794329"/>
              <a:gd name="connsiteX24" fmla="*/ 6119990 w 8364456"/>
              <a:gd name="connsiteY24" fmla="*/ 3552777 h 4794329"/>
              <a:gd name="connsiteX25" fmla="*/ 8005064 w 8364456"/>
              <a:gd name="connsiteY25" fmla="*/ 1667703 h 4794329"/>
              <a:gd name="connsiteX26" fmla="*/ 8153929 w 8364456"/>
              <a:gd name="connsiteY26" fmla="*/ 1606041 h 4794329"/>
              <a:gd name="connsiteX27" fmla="*/ 36072 w 8364456"/>
              <a:gd name="connsiteY27" fmla="*/ 1576410 h 4794329"/>
              <a:gd name="connsiteX28" fmla="*/ 1741853 w 8364456"/>
              <a:gd name="connsiteY28" fmla="*/ 1576410 h 4794329"/>
              <a:gd name="connsiteX29" fmla="*/ 1064326 w 8364456"/>
              <a:gd name="connsiteY29" fmla="*/ 2253937 h 4794329"/>
              <a:gd name="connsiteX30" fmla="*/ 713599 w 8364456"/>
              <a:gd name="connsiteY30" fmla="*/ 2253937 h 4794329"/>
              <a:gd name="connsiteX31" fmla="*/ 36072 w 8364456"/>
              <a:gd name="connsiteY31" fmla="*/ 1576410 h 4794329"/>
              <a:gd name="connsiteX32" fmla="*/ 7701890 w 8364456"/>
              <a:gd name="connsiteY32" fmla="*/ 717042 h 4794329"/>
              <a:gd name="connsiteX33" fmla="*/ 7850755 w 8364456"/>
              <a:gd name="connsiteY33" fmla="*/ 778704 h 4794329"/>
              <a:gd name="connsiteX34" fmla="*/ 7850755 w 8364456"/>
              <a:gd name="connsiteY34" fmla="*/ 1076435 h 4794329"/>
              <a:gd name="connsiteX35" fmla="*/ 4775564 w 8364456"/>
              <a:gd name="connsiteY35" fmla="*/ 4151624 h 4794329"/>
              <a:gd name="connsiteX36" fmla="*/ 4477834 w 8364456"/>
              <a:gd name="connsiteY36" fmla="*/ 4151624 h 4794329"/>
              <a:gd name="connsiteX37" fmla="*/ 4477835 w 8364456"/>
              <a:gd name="connsiteY37" fmla="*/ 4151624 h 4794329"/>
              <a:gd name="connsiteX38" fmla="*/ 4477835 w 8364456"/>
              <a:gd name="connsiteY38" fmla="*/ 3853894 h 4794329"/>
              <a:gd name="connsiteX39" fmla="*/ 7553025 w 8364456"/>
              <a:gd name="connsiteY39" fmla="*/ 778704 h 4794329"/>
              <a:gd name="connsiteX40" fmla="*/ 7701890 w 8364456"/>
              <a:gd name="connsiteY40" fmla="*/ 717042 h 4794329"/>
              <a:gd name="connsiteX41" fmla="*/ 7145652 w 8364456"/>
              <a:gd name="connsiteY41" fmla="*/ 598413 h 4794329"/>
              <a:gd name="connsiteX42" fmla="*/ 7294517 w 8364456"/>
              <a:gd name="connsiteY42" fmla="*/ 660075 h 4794329"/>
              <a:gd name="connsiteX43" fmla="*/ 7294517 w 8364456"/>
              <a:gd name="connsiteY43" fmla="*/ 957805 h 4794329"/>
              <a:gd name="connsiteX44" fmla="*/ 3548690 w 8364456"/>
              <a:gd name="connsiteY44" fmla="*/ 4703631 h 4794329"/>
              <a:gd name="connsiteX45" fmla="*/ 3250960 w 8364456"/>
              <a:gd name="connsiteY45" fmla="*/ 4703631 h 4794329"/>
              <a:gd name="connsiteX46" fmla="*/ 3250961 w 8364456"/>
              <a:gd name="connsiteY46" fmla="*/ 4703631 h 4794329"/>
              <a:gd name="connsiteX47" fmla="*/ 3250961 w 8364456"/>
              <a:gd name="connsiteY47" fmla="*/ 4405901 h 4794329"/>
              <a:gd name="connsiteX48" fmla="*/ 6996787 w 8364456"/>
              <a:gd name="connsiteY48" fmla="*/ 660075 h 4794329"/>
              <a:gd name="connsiteX49" fmla="*/ 7145652 w 8364456"/>
              <a:gd name="connsiteY49" fmla="*/ 598413 h 4794329"/>
              <a:gd name="connsiteX50" fmla="*/ 5875375 w 8364456"/>
              <a:gd name="connsiteY50" fmla="*/ 530016 h 4794329"/>
              <a:gd name="connsiteX51" fmla="*/ 6024240 w 8364456"/>
              <a:gd name="connsiteY51" fmla="*/ 591677 h 4794329"/>
              <a:gd name="connsiteX52" fmla="*/ 6024240 w 8364456"/>
              <a:gd name="connsiteY52" fmla="*/ 889408 h 4794329"/>
              <a:gd name="connsiteX53" fmla="*/ 2949049 w 8364456"/>
              <a:gd name="connsiteY53" fmla="*/ 3964597 h 4794329"/>
              <a:gd name="connsiteX54" fmla="*/ 2651320 w 8364456"/>
              <a:gd name="connsiteY54" fmla="*/ 3964597 h 4794329"/>
              <a:gd name="connsiteX55" fmla="*/ 2651321 w 8364456"/>
              <a:gd name="connsiteY55" fmla="*/ 3964597 h 4794329"/>
              <a:gd name="connsiteX56" fmla="*/ 2651321 w 8364456"/>
              <a:gd name="connsiteY56" fmla="*/ 3666867 h 4794329"/>
              <a:gd name="connsiteX57" fmla="*/ 5726510 w 8364456"/>
              <a:gd name="connsiteY57" fmla="*/ 591677 h 4794329"/>
              <a:gd name="connsiteX58" fmla="*/ 5875375 w 8364456"/>
              <a:gd name="connsiteY58" fmla="*/ 530016 h 4794329"/>
              <a:gd name="connsiteX59" fmla="*/ 6729193 w 8364456"/>
              <a:gd name="connsiteY59" fmla="*/ 347526 h 4794329"/>
              <a:gd name="connsiteX60" fmla="*/ 6878058 w 8364456"/>
              <a:gd name="connsiteY60" fmla="*/ 409188 h 4794329"/>
              <a:gd name="connsiteX61" fmla="*/ 6878058 w 8364456"/>
              <a:gd name="connsiteY61" fmla="*/ 706919 h 4794329"/>
              <a:gd name="connsiteX62" fmla="*/ 3802867 w 8364456"/>
              <a:gd name="connsiteY62" fmla="*/ 3782108 h 4794329"/>
              <a:gd name="connsiteX63" fmla="*/ 3505137 w 8364456"/>
              <a:gd name="connsiteY63" fmla="*/ 3782108 h 4794329"/>
              <a:gd name="connsiteX64" fmla="*/ 3505138 w 8364456"/>
              <a:gd name="connsiteY64" fmla="*/ 3782108 h 4794329"/>
              <a:gd name="connsiteX65" fmla="*/ 3505138 w 8364456"/>
              <a:gd name="connsiteY65" fmla="*/ 3484378 h 4794329"/>
              <a:gd name="connsiteX66" fmla="*/ 6580328 w 8364456"/>
              <a:gd name="connsiteY66" fmla="*/ 409188 h 4794329"/>
              <a:gd name="connsiteX67" fmla="*/ 6729193 w 8364456"/>
              <a:gd name="connsiteY67" fmla="*/ 347526 h 4794329"/>
              <a:gd name="connsiteX68" fmla="*/ 4254061 w 8364456"/>
              <a:gd name="connsiteY68" fmla="*/ 126303 h 4794329"/>
              <a:gd name="connsiteX69" fmla="*/ 4402926 w 8364456"/>
              <a:gd name="connsiteY69" fmla="*/ 187965 h 4794329"/>
              <a:gd name="connsiteX70" fmla="*/ 4402926 w 8364456"/>
              <a:gd name="connsiteY70" fmla="*/ 485695 h 4794329"/>
              <a:gd name="connsiteX71" fmla="*/ 3144208 w 8364456"/>
              <a:gd name="connsiteY71" fmla="*/ 1744412 h 4794329"/>
              <a:gd name="connsiteX72" fmla="*/ 2846477 w 8364456"/>
              <a:gd name="connsiteY72" fmla="*/ 1744412 h 4794329"/>
              <a:gd name="connsiteX73" fmla="*/ 2846479 w 8364456"/>
              <a:gd name="connsiteY73" fmla="*/ 1744412 h 4794329"/>
              <a:gd name="connsiteX74" fmla="*/ 2846479 w 8364456"/>
              <a:gd name="connsiteY74" fmla="*/ 1446682 h 4794329"/>
              <a:gd name="connsiteX75" fmla="*/ 4105196 w 8364456"/>
              <a:gd name="connsiteY75" fmla="*/ 187965 h 4794329"/>
              <a:gd name="connsiteX76" fmla="*/ 4254061 w 8364456"/>
              <a:gd name="connsiteY76" fmla="*/ 126303 h 4794329"/>
              <a:gd name="connsiteX77" fmla="*/ 5715119 w 8364456"/>
              <a:gd name="connsiteY77" fmla="*/ 18853 h 4794329"/>
              <a:gd name="connsiteX78" fmla="*/ 5863984 w 8364456"/>
              <a:gd name="connsiteY78" fmla="*/ 80515 h 4794329"/>
              <a:gd name="connsiteX79" fmla="*/ 5863984 w 8364456"/>
              <a:gd name="connsiteY79" fmla="*/ 378245 h 4794329"/>
              <a:gd name="connsiteX80" fmla="*/ 3142300 w 8364456"/>
              <a:gd name="connsiteY80" fmla="*/ 3099928 h 4794329"/>
              <a:gd name="connsiteX81" fmla="*/ 2844570 w 8364456"/>
              <a:gd name="connsiteY81" fmla="*/ 3099928 h 4794329"/>
              <a:gd name="connsiteX82" fmla="*/ 2844571 w 8364456"/>
              <a:gd name="connsiteY82" fmla="*/ 3099928 h 4794329"/>
              <a:gd name="connsiteX83" fmla="*/ 2844571 w 8364456"/>
              <a:gd name="connsiteY83" fmla="*/ 2802198 h 4794329"/>
              <a:gd name="connsiteX84" fmla="*/ 5566254 w 8364456"/>
              <a:gd name="connsiteY84" fmla="*/ 80515 h 4794329"/>
              <a:gd name="connsiteX85" fmla="*/ 5715119 w 8364456"/>
              <a:gd name="connsiteY85" fmla="*/ 18853 h 4794329"/>
              <a:gd name="connsiteX86" fmla="*/ 5055242 w 8364456"/>
              <a:gd name="connsiteY86" fmla="*/ 0 h 4794329"/>
              <a:gd name="connsiteX87" fmla="*/ 5204107 w 8364456"/>
              <a:gd name="connsiteY87" fmla="*/ 61662 h 4794329"/>
              <a:gd name="connsiteX88" fmla="*/ 5204107 w 8364456"/>
              <a:gd name="connsiteY88" fmla="*/ 359392 h 4794329"/>
              <a:gd name="connsiteX89" fmla="*/ 3222427 w 8364456"/>
              <a:gd name="connsiteY89" fmla="*/ 2341071 h 4794329"/>
              <a:gd name="connsiteX90" fmla="*/ 2924696 w 8364456"/>
              <a:gd name="connsiteY90" fmla="*/ 2341071 h 4794329"/>
              <a:gd name="connsiteX91" fmla="*/ 2924698 w 8364456"/>
              <a:gd name="connsiteY91" fmla="*/ 2341071 h 4794329"/>
              <a:gd name="connsiteX92" fmla="*/ 2924698 w 8364456"/>
              <a:gd name="connsiteY92" fmla="*/ 2043341 h 4794329"/>
              <a:gd name="connsiteX93" fmla="*/ 4906377 w 8364456"/>
              <a:gd name="connsiteY93" fmla="*/ 61662 h 4794329"/>
              <a:gd name="connsiteX94" fmla="*/ 5055242 w 8364456"/>
              <a:gd name="connsiteY94" fmla="*/ 0 h 4794329"/>
              <a:gd name="connsiteX0" fmla="*/ 7193727 w 8334627"/>
              <a:gd name="connsiteY0" fmla="*/ 3202389 h 4794329"/>
              <a:gd name="connsiteX1" fmla="*/ 7342592 w 8334627"/>
              <a:gd name="connsiteY1" fmla="*/ 3264051 h 4794329"/>
              <a:gd name="connsiteX2" fmla="*/ 7342592 w 8334627"/>
              <a:gd name="connsiteY2" fmla="*/ 3561781 h 4794329"/>
              <a:gd name="connsiteX3" fmla="*/ 6682153 w 8334627"/>
              <a:gd name="connsiteY3" fmla="*/ 4222219 h 4794329"/>
              <a:gd name="connsiteX4" fmla="*/ 6384423 w 8334627"/>
              <a:gd name="connsiteY4" fmla="*/ 4222219 h 4794329"/>
              <a:gd name="connsiteX5" fmla="*/ 6384424 w 8334627"/>
              <a:gd name="connsiteY5" fmla="*/ 4222219 h 4794329"/>
              <a:gd name="connsiteX6" fmla="*/ 6384424 w 8334627"/>
              <a:gd name="connsiteY6" fmla="*/ 3924488 h 4794329"/>
              <a:gd name="connsiteX7" fmla="*/ 7044862 w 8334627"/>
              <a:gd name="connsiteY7" fmla="*/ 3264051 h 4794329"/>
              <a:gd name="connsiteX8" fmla="*/ 7193727 w 8334627"/>
              <a:gd name="connsiteY8" fmla="*/ 3202389 h 4794329"/>
              <a:gd name="connsiteX9" fmla="*/ 7160496 w 8334627"/>
              <a:gd name="connsiteY9" fmla="*/ 1896653 h 4794329"/>
              <a:gd name="connsiteX10" fmla="*/ 7309361 w 8334627"/>
              <a:gd name="connsiteY10" fmla="*/ 1958315 h 4794329"/>
              <a:gd name="connsiteX11" fmla="*/ 7309361 w 8334627"/>
              <a:gd name="connsiteY11" fmla="*/ 2256046 h 4794329"/>
              <a:gd name="connsiteX12" fmla="*/ 4832738 w 8334627"/>
              <a:gd name="connsiteY12" fmla="*/ 4732667 h 4794329"/>
              <a:gd name="connsiteX13" fmla="*/ 4535008 w 8334627"/>
              <a:gd name="connsiteY13" fmla="*/ 4732667 h 4794329"/>
              <a:gd name="connsiteX14" fmla="*/ 4535010 w 8334627"/>
              <a:gd name="connsiteY14" fmla="*/ 4732667 h 4794329"/>
              <a:gd name="connsiteX15" fmla="*/ 4535010 w 8334627"/>
              <a:gd name="connsiteY15" fmla="*/ 4434937 h 4794329"/>
              <a:gd name="connsiteX16" fmla="*/ 7011631 w 8334627"/>
              <a:gd name="connsiteY16" fmla="*/ 1958315 h 4794329"/>
              <a:gd name="connsiteX17" fmla="*/ 7160496 w 8334627"/>
              <a:gd name="connsiteY17" fmla="*/ 1896653 h 4794329"/>
              <a:gd name="connsiteX18" fmla="*/ 8124100 w 8334627"/>
              <a:gd name="connsiteY18" fmla="*/ 1606041 h 4794329"/>
              <a:gd name="connsiteX19" fmla="*/ 8272965 w 8334627"/>
              <a:gd name="connsiteY19" fmla="*/ 1667703 h 4794329"/>
              <a:gd name="connsiteX20" fmla="*/ 8272965 w 8334627"/>
              <a:gd name="connsiteY20" fmla="*/ 1965433 h 4794329"/>
              <a:gd name="connsiteX21" fmla="*/ 6387890 w 8334627"/>
              <a:gd name="connsiteY21" fmla="*/ 3850507 h 4794329"/>
              <a:gd name="connsiteX22" fmla="*/ 6090160 w 8334627"/>
              <a:gd name="connsiteY22" fmla="*/ 3850507 h 4794329"/>
              <a:gd name="connsiteX23" fmla="*/ 6090161 w 8334627"/>
              <a:gd name="connsiteY23" fmla="*/ 3850507 h 4794329"/>
              <a:gd name="connsiteX24" fmla="*/ 6090161 w 8334627"/>
              <a:gd name="connsiteY24" fmla="*/ 3552777 h 4794329"/>
              <a:gd name="connsiteX25" fmla="*/ 7975235 w 8334627"/>
              <a:gd name="connsiteY25" fmla="*/ 1667703 h 4794329"/>
              <a:gd name="connsiteX26" fmla="*/ 8124100 w 8334627"/>
              <a:gd name="connsiteY26" fmla="*/ 1606041 h 4794329"/>
              <a:gd name="connsiteX27" fmla="*/ 6243 w 8334627"/>
              <a:gd name="connsiteY27" fmla="*/ 1576410 h 4794329"/>
              <a:gd name="connsiteX28" fmla="*/ 1034497 w 8334627"/>
              <a:gd name="connsiteY28" fmla="*/ 2253937 h 4794329"/>
              <a:gd name="connsiteX29" fmla="*/ 683770 w 8334627"/>
              <a:gd name="connsiteY29" fmla="*/ 2253937 h 4794329"/>
              <a:gd name="connsiteX30" fmla="*/ 6243 w 8334627"/>
              <a:gd name="connsiteY30" fmla="*/ 1576410 h 4794329"/>
              <a:gd name="connsiteX31" fmla="*/ 7672061 w 8334627"/>
              <a:gd name="connsiteY31" fmla="*/ 717042 h 4794329"/>
              <a:gd name="connsiteX32" fmla="*/ 7820926 w 8334627"/>
              <a:gd name="connsiteY32" fmla="*/ 778704 h 4794329"/>
              <a:gd name="connsiteX33" fmla="*/ 7820926 w 8334627"/>
              <a:gd name="connsiteY33" fmla="*/ 1076435 h 4794329"/>
              <a:gd name="connsiteX34" fmla="*/ 4745735 w 8334627"/>
              <a:gd name="connsiteY34" fmla="*/ 4151624 h 4794329"/>
              <a:gd name="connsiteX35" fmla="*/ 4448005 w 8334627"/>
              <a:gd name="connsiteY35" fmla="*/ 4151624 h 4794329"/>
              <a:gd name="connsiteX36" fmla="*/ 4448006 w 8334627"/>
              <a:gd name="connsiteY36" fmla="*/ 4151624 h 4794329"/>
              <a:gd name="connsiteX37" fmla="*/ 4448006 w 8334627"/>
              <a:gd name="connsiteY37" fmla="*/ 3853894 h 4794329"/>
              <a:gd name="connsiteX38" fmla="*/ 7523196 w 8334627"/>
              <a:gd name="connsiteY38" fmla="*/ 778704 h 4794329"/>
              <a:gd name="connsiteX39" fmla="*/ 7672061 w 8334627"/>
              <a:gd name="connsiteY39" fmla="*/ 717042 h 4794329"/>
              <a:gd name="connsiteX40" fmla="*/ 7115823 w 8334627"/>
              <a:gd name="connsiteY40" fmla="*/ 598413 h 4794329"/>
              <a:gd name="connsiteX41" fmla="*/ 7264688 w 8334627"/>
              <a:gd name="connsiteY41" fmla="*/ 660075 h 4794329"/>
              <a:gd name="connsiteX42" fmla="*/ 7264688 w 8334627"/>
              <a:gd name="connsiteY42" fmla="*/ 957805 h 4794329"/>
              <a:gd name="connsiteX43" fmla="*/ 3518861 w 8334627"/>
              <a:gd name="connsiteY43" fmla="*/ 4703631 h 4794329"/>
              <a:gd name="connsiteX44" fmla="*/ 3221131 w 8334627"/>
              <a:gd name="connsiteY44" fmla="*/ 4703631 h 4794329"/>
              <a:gd name="connsiteX45" fmla="*/ 3221132 w 8334627"/>
              <a:gd name="connsiteY45" fmla="*/ 4703631 h 4794329"/>
              <a:gd name="connsiteX46" fmla="*/ 3221132 w 8334627"/>
              <a:gd name="connsiteY46" fmla="*/ 4405901 h 4794329"/>
              <a:gd name="connsiteX47" fmla="*/ 6966958 w 8334627"/>
              <a:gd name="connsiteY47" fmla="*/ 660075 h 4794329"/>
              <a:gd name="connsiteX48" fmla="*/ 7115823 w 8334627"/>
              <a:gd name="connsiteY48" fmla="*/ 598413 h 4794329"/>
              <a:gd name="connsiteX49" fmla="*/ 5845546 w 8334627"/>
              <a:gd name="connsiteY49" fmla="*/ 530016 h 4794329"/>
              <a:gd name="connsiteX50" fmla="*/ 5994411 w 8334627"/>
              <a:gd name="connsiteY50" fmla="*/ 591677 h 4794329"/>
              <a:gd name="connsiteX51" fmla="*/ 5994411 w 8334627"/>
              <a:gd name="connsiteY51" fmla="*/ 889408 h 4794329"/>
              <a:gd name="connsiteX52" fmla="*/ 2919220 w 8334627"/>
              <a:gd name="connsiteY52" fmla="*/ 3964597 h 4794329"/>
              <a:gd name="connsiteX53" fmla="*/ 2621491 w 8334627"/>
              <a:gd name="connsiteY53" fmla="*/ 3964597 h 4794329"/>
              <a:gd name="connsiteX54" fmla="*/ 2621492 w 8334627"/>
              <a:gd name="connsiteY54" fmla="*/ 3964597 h 4794329"/>
              <a:gd name="connsiteX55" fmla="*/ 2621492 w 8334627"/>
              <a:gd name="connsiteY55" fmla="*/ 3666867 h 4794329"/>
              <a:gd name="connsiteX56" fmla="*/ 5696681 w 8334627"/>
              <a:gd name="connsiteY56" fmla="*/ 591677 h 4794329"/>
              <a:gd name="connsiteX57" fmla="*/ 5845546 w 8334627"/>
              <a:gd name="connsiteY57" fmla="*/ 530016 h 4794329"/>
              <a:gd name="connsiteX58" fmla="*/ 6699364 w 8334627"/>
              <a:gd name="connsiteY58" fmla="*/ 347526 h 4794329"/>
              <a:gd name="connsiteX59" fmla="*/ 6848229 w 8334627"/>
              <a:gd name="connsiteY59" fmla="*/ 409188 h 4794329"/>
              <a:gd name="connsiteX60" fmla="*/ 6848229 w 8334627"/>
              <a:gd name="connsiteY60" fmla="*/ 706919 h 4794329"/>
              <a:gd name="connsiteX61" fmla="*/ 3773038 w 8334627"/>
              <a:gd name="connsiteY61" fmla="*/ 3782108 h 4794329"/>
              <a:gd name="connsiteX62" fmla="*/ 3475308 w 8334627"/>
              <a:gd name="connsiteY62" fmla="*/ 3782108 h 4794329"/>
              <a:gd name="connsiteX63" fmla="*/ 3475309 w 8334627"/>
              <a:gd name="connsiteY63" fmla="*/ 3782108 h 4794329"/>
              <a:gd name="connsiteX64" fmla="*/ 3475309 w 8334627"/>
              <a:gd name="connsiteY64" fmla="*/ 3484378 h 4794329"/>
              <a:gd name="connsiteX65" fmla="*/ 6550499 w 8334627"/>
              <a:gd name="connsiteY65" fmla="*/ 409188 h 4794329"/>
              <a:gd name="connsiteX66" fmla="*/ 6699364 w 8334627"/>
              <a:gd name="connsiteY66" fmla="*/ 347526 h 4794329"/>
              <a:gd name="connsiteX67" fmla="*/ 4224232 w 8334627"/>
              <a:gd name="connsiteY67" fmla="*/ 126303 h 4794329"/>
              <a:gd name="connsiteX68" fmla="*/ 4373097 w 8334627"/>
              <a:gd name="connsiteY68" fmla="*/ 187965 h 4794329"/>
              <a:gd name="connsiteX69" fmla="*/ 4373097 w 8334627"/>
              <a:gd name="connsiteY69" fmla="*/ 485695 h 4794329"/>
              <a:gd name="connsiteX70" fmla="*/ 3114379 w 8334627"/>
              <a:gd name="connsiteY70" fmla="*/ 1744412 h 4794329"/>
              <a:gd name="connsiteX71" fmla="*/ 2816648 w 8334627"/>
              <a:gd name="connsiteY71" fmla="*/ 1744412 h 4794329"/>
              <a:gd name="connsiteX72" fmla="*/ 2816650 w 8334627"/>
              <a:gd name="connsiteY72" fmla="*/ 1744412 h 4794329"/>
              <a:gd name="connsiteX73" fmla="*/ 2816650 w 8334627"/>
              <a:gd name="connsiteY73" fmla="*/ 1446682 h 4794329"/>
              <a:gd name="connsiteX74" fmla="*/ 4075367 w 8334627"/>
              <a:gd name="connsiteY74" fmla="*/ 187965 h 4794329"/>
              <a:gd name="connsiteX75" fmla="*/ 4224232 w 8334627"/>
              <a:gd name="connsiteY75" fmla="*/ 126303 h 4794329"/>
              <a:gd name="connsiteX76" fmla="*/ 5685290 w 8334627"/>
              <a:gd name="connsiteY76" fmla="*/ 18853 h 4794329"/>
              <a:gd name="connsiteX77" fmla="*/ 5834155 w 8334627"/>
              <a:gd name="connsiteY77" fmla="*/ 80515 h 4794329"/>
              <a:gd name="connsiteX78" fmla="*/ 5834155 w 8334627"/>
              <a:gd name="connsiteY78" fmla="*/ 378245 h 4794329"/>
              <a:gd name="connsiteX79" fmla="*/ 3112471 w 8334627"/>
              <a:gd name="connsiteY79" fmla="*/ 3099928 h 4794329"/>
              <a:gd name="connsiteX80" fmla="*/ 2814741 w 8334627"/>
              <a:gd name="connsiteY80" fmla="*/ 3099928 h 4794329"/>
              <a:gd name="connsiteX81" fmla="*/ 2814742 w 8334627"/>
              <a:gd name="connsiteY81" fmla="*/ 3099928 h 4794329"/>
              <a:gd name="connsiteX82" fmla="*/ 2814742 w 8334627"/>
              <a:gd name="connsiteY82" fmla="*/ 2802198 h 4794329"/>
              <a:gd name="connsiteX83" fmla="*/ 5536425 w 8334627"/>
              <a:gd name="connsiteY83" fmla="*/ 80515 h 4794329"/>
              <a:gd name="connsiteX84" fmla="*/ 5685290 w 8334627"/>
              <a:gd name="connsiteY84" fmla="*/ 18853 h 4794329"/>
              <a:gd name="connsiteX85" fmla="*/ 5025413 w 8334627"/>
              <a:gd name="connsiteY85" fmla="*/ 0 h 4794329"/>
              <a:gd name="connsiteX86" fmla="*/ 5174278 w 8334627"/>
              <a:gd name="connsiteY86" fmla="*/ 61662 h 4794329"/>
              <a:gd name="connsiteX87" fmla="*/ 5174278 w 8334627"/>
              <a:gd name="connsiteY87" fmla="*/ 359392 h 4794329"/>
              <a:gd name="connsiteX88" fmla="*/ 3192598 w 8334627"/>
              <a:gd name="connsiteY88" fmla="*/ 2341071 h 4794329"/>
              <a:gd name="connsiteX89" fmla="*/ 2894867 w 8334627"/>
              <a:gd name="connsiteY89" fmla="*/ 2341071 h 4794329"/>
              <a:gd name="connsiteX90" fmla="*/ 2894869 w 8334627"/>
              <a:gd name="connsiteY90" fmla="*/ 2341071 h 4794329"/>
              <a:gd name="connsiteX91" fmla="*/ 2894869 w 8334627"/>
              <a:gd name="connsiteY91" fmla="*/ 2043341 h 4794329"/>
              <a:gd name="connsiteX92" fmla="*/ 4876548 w 8334627"/>
              <a:gd name="connsiteY92" fmla="*/ 61662 h 4794329"/>
              <a:gd name="connsiteX93" fmla="*/ 5025413 w 8334627"/>
              <a:gd name="connsiteY93" fmla="*/ 0 h 4794329"/>
              <a:gd name="connsiteX0" fmla="*/ 7187484 w 8328384"/>
              <a:gd name="connsiteY0" fmla="*/ 3202389 h 4794329"/>
              <a:gd name="connsiteX1" fmla="*/ 7336349 w 8328384"/>
              <a:gd name="connsiteY1" fmla="*/ 3264051 h 4794329"/>
              <a:gd name="connsiteX2" fmla="*/ 7336349 w 8328384"/>
              <a:gd name="connsiteY2" fmla="*/ 3561781 h 4794329"/>
              <a:gd name="connsiteX3" fmla="*/ 6675910 w 8328384"/>
              <a:gd name="connsiteY3" fmla="*/ 4222219 h 4794329"/>
              <a:gd name="connsiteX4" fmla="*/ 6378180 w 8328384"/>
              <a:gd name="connsiteY4" fmla="*/ 4222219 h 4794329"/>
              <a:gd name="connsiteX5" fmla="*/ 6378181 w 8328384"/>
              <a:gd name="connsiteY5" fmla="*/ 4222219 h 4794329"/>
              <a:gd name="connsiteX6" fmla="*/ 6378181 w 8328384"/>
              <a:gd name="connsiteY6" fmla="*/ 3924488 h 4794329"/>
              <a:gd name="connsiteX7" fmla="*/ 7038619 w 8328384"/>
              <a:gd name="connsiteY7" fmla="*/ 3264051 h 4794329"/>
              <a:gd name="connsiteX8" fmla="*/ 7187484 w 8328384"/>
              <a:gd name="connsiteY8" fmla="*/ 3202389 h 4794329"/>
              <a:gd name="connsiteX9" fmla="*/ 7154253 w 8328384"/>
              <a:gd name="connsiteY9" fmla="*/ 1896653 h 4794329"/>
              <a:gd name="connsiteX10" fmla="*/ 7303118 w 8328384"/>
              <a:gd name="connsiteY10" fmla="*/ 1958315 h 4794329"/>
              <a:gd name="connsiteX11" fmla="*/ 7303118 w 8328384"/>
              <a:gd name="connsiteY11" fmla="*/ 2256046 h 4794329"/>
              <a:gd name="connsiteX12" fmla="*/ 4826495 w 8328384"/>
              <a:gd name="connsiteY12" fmla="*/ 4732667 h 4794329"/>
              <a:gd name="connsiteX13" fmla="*/ 4528765 w 8328384"/>
              <a:gd name="connsiteY13" fmla="*/ 4732667 h 4794329"/>
              <a:gd name="connsiteX14" fmla="*/ 4528767 w 8328384"/>
              <a:gd name="connsiteY14" fmla="*/ 4732667 h 4794329"/>
              <a:gd name="connsiteX15" fmla="*/ 4528767 w 8328384"/>
              <a:gd name="connsiteY15" fmla="*/ 4434937 h 4794329"/>
              <a:gd name="connsiteX16" fmla="*/ 7005388 w 8328384"/>
              <a:gd name="connsiteY16" fmla="*/ 1958315 h 4794329"/>
              <a:gd name="connsiteX17" fmla="*/ 7154253 w 8328384"/>
              <a:gd name="connsiteY17" fmla="*/ 1896653 h 4794329"/>
              <a:gd name="connsiteX18" fmla="*/ 8117857 w 8328384"/>
              <a:gd name="connsiteY18" fmla="*/ 1606041 h 4794329"/>
              <a:gd name="connsiteX19" fmla="*/ 8266722 w 8328384"/>
              <a:gd name="connsiteY19" fmla="*/ 1667703 h 4794329"/>
              <a:gd name="connsiteX20" fmla="*/ 8266722 w 8328384"/>
              <a:gd name="connsiteY20" fmla="*/ 1965433 h 4794329"/>
              <a:gd name="connsiteX21" fmla="*/ 6381647 w 8328384"/>
              <a:gd name="connsiteY21" fmla="*/ 3850507 h 4794329"/>
              <a:gd name="connsiteX22" fmla="*/ 6083917 w 8328384"/>
              <a:gd name="connsiteY22" fmla="*/ 3850507 h 4794329"/>
              <a:gd name="connsiteX23" fmla="*/ 6083918 w 8328384"/>
              <a:gd name="connsiteY23" fmla="*/ 3850507 h 4794329"/>
              <a:gd name="connsiteX24" fmla="*/ 6083918 w 8328384"/>
              <a:gd name="connsiteY24" fmla="*/ 3552777 h 4794329"/>
              <a:gd name="connsiteX25" fmla="*/ 7968992 w 8328384"/>
              <a:gd name="connsiteY25" fmla="*/ 1667703 h 4794329"/>
              <a:gd name="connsiteX26" fmla="*/ 8117857 w 8328384"/>
              <a:gd name="connsiteY26" fmla="*/ 1606041 h 4794329"/>
              <a:gd name="connsiteX27" fmla="*/ 0 w 8328384"/>
              <a:gd name="connsiteY27" fmla="*/ 1576410 h 4794329"/>
              <a:gd name="connsiteX28" fmla="*/ 677527 w 8328384"/>
              <a:gd name="connsiteY28" fmla="*/ 2253937 h 4794329"/>
              <a:gd name="connsiteX29" fmla="*/ 0 w 8328384"/>
              <a:gd name="connsiteY29" fmla="*/ 1576410 h 4794329"/>
              <a:gd name="connsiteX30" fmla="*/ 7665818 w 8328384"/>
              <a:gd name="connsiteY30" fmla="*/ 717042 h 4794329"/>
              <a:gd name="connsiteX31" fmla="*/ 7814683 w 8328384"/>
              <a:gd name="connsiteY31" fmla="*/ 778704 h 4794329"/>
              <a:gd name="connsiteX32" fmla="*/ 7814683 w 8328384"/>
              <a:gd name="connsiteY32" fmla="*/ 1076435 h 4794329"/>
              <a:gd name="connsiteX33" fmla="*/ 4739492 w 8328384"/>
              <a:gd name="connsiteY33" fmla="*/ 4151624 h 4794329"/>
              <a:gd name="connsiteX34" fmla="*/ 4441762 w 8328384"/>
              <a:gd name="connsiteY34" fmla="*/ 4151624 h 4794329"/>
              <a:gd name="connsiteX35" fmla="*/ 4441763 w 8328384"/>
              <a:gd name="connsiteY35" fmla="*/ 4151624 h 4794329"/>
              <a:gd name="connsiteX36" fmla="*/ 4441763 w 8328384"/>
              <a:gd name="connsiteY36" fmla="*/ 3853894 h 4794329"/>
              <a:gd name="connsiteX37" fmla="*/ 7516953 w 8328384"/>
              <a:gd name="connsiteY37" fmla="*/ 778704 h 4794329"/>
              <a:gd name="connsiteX38" fmla="*/ 7665818 w 8328384"/>
              <a:gd name="connsiteY38" fmla="*/ 717042 h 4794329"/>
              <a:gd name="connsiteX39" fmla="*/ 7109580 w 8328384"/>
              <a:gd name="connsiteY39" fmla="*/ 598413 h 4794329"/>
              <a:gd name="connsiteX40" fmla="*/ 7258445 w 8328384"/>
              <a:gd name="connsiteY40" fmla="*/ 660075 h 4794329"/>
              <a:gd name="connsiteX41" fmla="*/ 7258445 w 8328384"/>
              <a:gd name="connsiteY41" fmla="*/ 957805 h 4794329"/>
              <a:gd name="connsiteX42" fmla="*/ 3512618 w 8328384"/>
              <a:gd name="connsiteY42" fmla="*/ 4703631 h 4794329"/>
              <a:gd name="connsiteX43" fmla="*/ 3214888 w 8328384"/>
              <a:gd name="connsiteY43" fmla="*/ 4703631 h 4794329"/>
              <a:gd name="connsiteX44" fmla="*/ 3214889 w 8328384"/>
              <a:gd name="connsiteY44" fmla="*/ 4703631 h 4794329"/>
              <a:gd name="connsiteX45" fmla="*/ 3214889 w 8328384"/>
              <a:gd name="connsiteY45" fmla="*/ 4405901 h 4794329"/>
              <a:gd name="connsiteX46" fmla="*/ 6960715 w 8328384"/>
              <a:gd name="connsiteY46" fmla="*/ 660075 h 4794329"/>
              <a:gd name="connsiteX47" fmla="*/ 7109580 w 8328384"/>
              <a:gd name="connsiteY47" fmla="*/ 598413 h 4794329"/>
              <a:gd name="connsiteX48" fmla="*/ 5839303 w 8328384"/>
              <a:gd name="connsiteY48" fmla="*/ 530016 h 4794329"/>
              <a:gd name="connsiteX49" fmla="*/ 5988168 w 8328384"/>
              <a:gd name="connsiteY49" fmla="*/ 591677 h 4794329"/>
              <a:gd name="connsiteX50" fmla="*/ 5988168 w 8328384"/>
              <a:gd name="connsiteY50" fmla="*/ 889408 h 4794329"/>
              <a:gd name="connsiteX51" fmla="*/ 2912977 w 8328384"/>
              <a:gd name="connsiteY51" fmla="*/ 3964597 h 4794329"/>
              <a:gd name="connsiteX52" fmla="*/ 2615248 w 8328384"/>
              <a:gd name="connsiteY52" fmla="*/ 3964597 h 4794329"/>
              <a:gd name="connsiteX53" fmla="*/ 2615249 w 8328384"/>
              <a:gd name="connsiteY53" fmla="*/ 3964597 h 4794329"/>
              <a:gd name="connsiteX54" fmla="*/ 2615249 w 8328384"/>
              <a:gd name="connsiteY54" fmla="*/ 3666867 h 4794329"/>
              <a:gd name="connsiteX55" fmla="*/ 5690438 w 8328384"/>
              <a:gd name="connsiteY55" fmla="*/ 591677 h 4794329"/>
              <a:gd name="connsiteX56" fmla="*/ 5839303 w 8328384"/>
              <a:gd name="connsiteY56" fmla="*/ 530016 h 4794329"/>
              <a:gd name="connsiteX57" fmla="*/ 6693121 w 8328384"/>
              <a:gd name="connsiteY57" fmla="*/ 347526 h 4794329"/>
              <a:gd name="connsiteX58" fmla="*/ 6841986 w 8328384"/>
              <a:gd name="connsiteY58" fmla="*/ 409188 h 4794329"/>
              <a:gd name="connsiteX59" fmla="*/ 6841986 w 8328384"/>
              <a:gd name="connsiteY59" fmla="*/ 706919 h 4794329"/>
              <a:gd name="connsiteX60" fmla="*/ 3766795 w 8328384"/>
              <a:gd name="connsiteY60" fmla="*/ 3782108 h 4794329"/>
              <a:gd name="connsiteX61" fmla="*/ 3469065 w 8328384"/>
              <a:gd name="connsiteY61" fmla="*/ 3782108 h 4794329"/>
              <a:gd name="connsiteX62" fmla="*/ 3469066 w 8328384"/>
              <a:gd name="connsiteY62" fmla="*/ 3782108 h 4794329"/>
              <a:gd name="connsiteX63" fmla="*/ 3469066 w 8328384"/>
              <a:gd name="connsiteY63" fmla="*/ 3484378 h 4794329"/>
              <a:gd name="connsiteX64" fmla="*/ 6544256 w 8328384"/>
              <a:gd name="connsiteY64" fmla="*/ 409188 h 4794329"/>
              <a:gd name="connsiteX65" fmla="*/ 6693121 w 8328384"/>
              <a:gd name="connsiteY65" fmla="*/ 347526 h 4794329"/>
              <a:gd name="connsiteX66" fmla="*/ 4217989 w 8328384"/>
              <a:gd name="connsiteY66" fmla="*/ 126303 h 4794329"/>
              <a:gd name="connsiteX67" fmla="*/ 4366854 w 8328384"/>
              <a:gd name="connsiteY67" fmla="*/ 187965 h 4794329"/>
              <a:gd name="connsiteX68" fmla="*/ 4366854 w 8328384"/>
              <a:gd name="connsiteY68" fmla="*/ 485695 h 4794329"/>
              <a:gd name="connsiteX69" fmla="*/ 3108136 w 8328384"/>
              <a:gd name="connsiteY69" fmla="*/ 1744412 h 4794329"/>
              <a:gd name="connsiteX70" fmla="*/ 2810405 w 8328384"/>
              <a:gd name="connsiteY70" fmla="*/ 1744412 h 4794329"/>
              <a:gd name="connsiteX71" fmla="*/ 2810407 w 8328384"/>
              <a:gd name="connsiteY71" fmla="*/ 1744412 h 4794329"/>
              <a:gd name="connsiteX72" fmla="*/ 2810407 w 8328384"/>
              <a:gd name="connsiteY72" fmla="*/ 1446682 h 4794329"/>
              <a:gd name="connsiteX73" fmla="*/ 4069124 w 8328384"/>
              <a:gd name="connsiteY73" fmla="*/ 187965 h 4794329"/>
              <a:gd name="connsiteX74" fmla="*/ 4217989 w 8328384"/>
              <a:gd name="connsiteY74" fmla="*/ 126303 h 4794329"/>
              <a:gd name="connsiteX75" fmla="*/ 5679047 w 8328384"/>
              <a:gd name="connsiteY75" fmla="*/ 18853 h 4794329"/>
              <a:gd name="connsiteX76" fmla="*/ 5827912 w 8328384"/>
              <a:gd name="connsiteY76" fmla="*/ 80515 h 4794329"/>
              <a:gd name="connsiteX77" fmla="*/ 5827912 w 8328384"/>
              <a:gd name="connsiteY77" fmla="*/ 378245 h 4794329"/>
              <a:gd name="connsiteX78" fmla="*/ 3106228 w 8328384"/>
              <a:gd name="connsiteY78" fmla="*/ 3099928 h 4794329"/>
              <a:gd name="connsiteX79" fmla="*/ 2808498 w 8328384"/>
              <a:gd name="connsiteY79" fmla="*/ 3099928 h 4794329"/>
              <a:gd name="connsiteX80" fmla="*/ 2808499 w 8328384"/>
              <a:gd name="connsiteY80" fmla="*/ 3099928 h 4794329"/>
              <a:gd name="connsiteX81" fmla="*/ 2808499 w 8328384"/>
              <a:gd name="connsiteY81" fmla="*/ 2802198 h 4794329"/>
              <a:gd name="connsiteX82" fmla="*/ 5530182 w 8328384"/>
              <a:gd name="connsiteY82" fmla="*/ 80515 h 4794329"/>
              <a:gd name="connsiteX83" fmla="*/ 5679047 w 8328384"/>
              <a:gd name="connsiteY83" fmla="*/ 18853 h 4794329"/>
              <a:gd name="connsiteX84" fmla="*/ 5019170 w 8328384"/>
              <a:gd name="connsiteY84" fmla="*/ 0 h 4794329"/>
              <a:gd name="connsiteX85" fmla="*/ 5168035 w 8328384"/>
              <a:gd name="connsiteY85" fmla="*/ 61662 h 4794329"/>
              <a:gd name="connsiteX86" fmla="*/ 5168035 w 8328384"/>
              <a:gd name="connsiteY86" fmla="*/ 359392 h 4794329"/>
              <a:gd name="connsiteX87" fmla="*/ 3186355 w 8328384"/>
              <a:gd name="connsiteY87" fmla="*/ 2341071 h 4794329"/>
              <a:gd name="connsiteX88" fmla="*/ 2888624 w 8328384"/>
              <a:gd name="connsiteY88" fmla="*/ 2341071 h 4794329"/>
              <a:gd name="connsiteX89" fmla="*/ 2888626 w 8328384"/>
              <a:gd name="connsiteY89" fmla="*/ 2341071 h 4794329"/>
              <a:gd name="connsiteX90" fmla="*/ 2888626 w 8328384"/>
              <a:gd name="connsiteY90" fmla="*/ 2043341 h 4794329"/>
              <a:gd name="connsiteX91" fmla="*/ 4870305 w 8328384"/>
              <a:gd name="connsiteY91" fmla="*/ 61662 h 4794329"/>
              <a:gd name="connsiteX92" fmla="*/ 5019170 w 8328384"/>
              <a:gd name="connsiteY92" fmla="*/ 0 h 4794329"/>
              <a:gd name="connsiteX0" fmla="*/ 4633897 w 5774797"/>
              <a:gd name="connsiteY0" fmla="*/ 3202389 h 4794329"/>
              <a:gd name="connsiteX1" fmla="*/ 4782762 w 5774797"/>
              <a:gd name="connsiteY1" fmla="*/ 3264051 h 4794329"/>
              <a:gd name="connsiteX2" fmla="*/ 4782762 w 5774797"/>
              <a:gd name="connsiteY2" fmla="*/ 3561781 h 4794329"/>
              <a:gd name="connsiteX3" fmla="*/ 4122323 w 5774797"/>
              <a:gd name="connsiteY3" fmla="*/ 4222219 h 4794329"/>
              <a:gd name="connsiteX4" fmla="*/ 3824593 w 5774797"/>
              <a:gd name="connsiteY4" fmla="*/ 4222219 h 4794329"/>
              <a:gd name="connsiteX5" fmla="*/ 3824594 w 5774797"/>
              <a:gd name="connsiteY5" fmla="*/ 4222219 h 4794329"/>
              <a:gd name="connsiteX6" fmla="*/ 3824594 w 5774797"/>
              <a:gd name="connsiteY6" fmla="*/ 3924488 h 4794329"/>
              <a:gd name="connsiteX7" fmla="*/ 4485032 w 5774797"/>
              <a:gd name="connsiteY7" fmla="*/ 3264051 h 4794329"/>
              <a:gd name="connsiteX8" fmla="*/ 4633897 w 5774797"/>
              <a:gd name="connsiteY8" fmla="*/ 3202389 h 4794329"/>
              <a:gd name="connsiteX9" fmla="*/ 4600666 w 5774797"/>
              <a:gd name="connsiteY9" fmla="*/ 1896653 h 4794329"/>
              <a:gd name="connsiteX10" fmla="*/ 4749531 w 5774797"/>
              <a:gd name="connsiteY10" fmla="*/ 1958315 h 4794329"/>
              <a:gd name="connsiteX11" fmla="*/ 4749531 w 5774797"/>
              <a:gd name="connsiteY11" fmla="*/ 2256046 h 4794329"/>
              <a:gd name="connsiteX12" fmla="*/ 2272908 w 5774797"/>
              <a:gd name="connsiteY12" fmla="*/ 4732667 h 4794329"/>
              <a:gd name="connsiteX13" fmla="*/ 1975178 w 5774797"/>
              <a:gd name="connsiteY13" fmla="*/ 4732667 h 4794329"/>
              <a:gd name="connsiteX14" fmla="*/ 1975180 w 5774797"/>
              <a:gd name="connsiteY14" fmla="*/ 4732667 h 4794329"/>
              <a:gd name="connsiteX15" fmla="*/ 1975180 w 5774797"/>
              <a:gd name="connsiteY15" fmla="*/ 4434937 h 4794329"/>
              <a:gd name="connsiteX16" fmla="*/ 4451801 w 5774797"/>
              <a:gd name="connsiteY16" fmla="*/ 1958315 h 4794329"/>
              <a:gd name="connsiteX17" fmla="*/ 4600666 w 5774797"/>
              <a:gd name="connsiteY17" fmla="*/ 1896653 h 4794329"/>
              <a:gd name="connsiteX18" fmla="*/ 5564270 w 5774797"/>
              <a:gd name="connsiteY18" fmla="*/ 1606041 h 4794329"/>
              <a:gd name="connsiteX19" fmla="*/ 5713135 w 5774797"/>
              <a:gd name="connsiteY19" fmla="*/ 1667703 h 4794329"/>
              <a:gd name="connsiteX20" fmla="*/ 5713135 w 5774797"/>
              <a:gd name="connsiteY20" fmla="*/ 1965433 h 4794329"/>
              <a:gd name="connsiteX21" fmla="*/ 3828060 w 5774797"/>
              <a:gd name="connsiteY21" fmla="*/ 3850507 h 4794329"/>
              <a:gd name="connsiteX22" fmla="*/ 3530330 w 5774797"/>
              <a:gd name="connsiteY22" fmla="*/ 3850507 h 4794329"/>
              <a:gd name="connsiteX23" fmla="*/ 3530331 w 5774797"/>
              <a:gd name="connsiteY23" fmla="*/ 3850507 h 4794329"/>
              <a:gd name="connsiteX24" fmla="*/ 3530331 w 5774797"/>
              <a:gd name="connsiteY24" fmla="*/ 3552777 h 4794329"/>
              <a:gd name="connsiteX25" fmla="*/ 5415405 w 5774797"/>
              <a:gd name="connsiteY25" fmla="*/ 1667703 h 4794329"/>
              <a:gd name="connsiteX26" fmla="*/ 5564270 w 5774797"/>
              <a:gd name="connsiteY26" fmla="*/ 1606041 h 4794329"/>
              <a:gd name="connsiteX27" fmla="*/ 5112231 w 5774797"/>
              <a:gd name="connsiteY27" fmla="*/ 717042 h 4794329"/>
              <a:gd name="connsiteX28" fmla="*/ 5261096 w 5774797"/>
              <a:gd name="connsiteY28" fmla="*/ 778704 h 4794329"/>
              <a:gd name="connsiteX29" fmla="*/ 5261096 w 5774797"/>
              <a:gd name="connsiteY29" fmla="*/ 1076435 h 4794329"/>
              <a:gd name="connsiteX30" fmla="*/ 2185905 w 5774797"/>
              <a:gd name="connsiteY30" fmla="*/ 4151624 h 4794329"/>
              <a:gd name="connsiteX31" fmla="*/ 1888175 w 5774797"/>
              <a:gd name="connsiteY31" fmla="*/ 4151624 h 4794329"/>
              <a:gd name="connsiteX32" fmla="*/ 1888176 w 5774797"/>
              <a:gd name="connsiteY32" fmla="*/ 4151624 h 4794329"/>
              <a:gd name="connsiteX33" fmla="*/ 1888176 w 5774797"/>
              <a:gd name="connsiteY33" fmla="*/ 3853894 h 4794329"/>
              <a:gd name="connsiteX34" fmla="*/ 4963366 w 5774797"/>
              <a:gd name="connsiteY34" fmla="*/ 778704 h 4794329"/>
              <a:gd name="connsiteX35" fmla="*/ 5112231 w 5774797"/>
              <a:gd name="connsiteY35" fmla="*/ 717042 h 4794329"/>
              <a:gd name="connsiteX36" fmla="*/ 4555993 w 5774797"/>
              <a:gd name="connsiteY36" fmla="*/ 598413 h 4794329"/>
              <a:gd name="connsiteX37" fmla="*/ 4704858 w 5774797"/>
              <a:gd name="connsiteY37" fmla="*/ 660075 h 4794329"/>
              <a:gd name="connsiteX38" fmla="*/ 4704858 w 5774797"/>
              <a:gd name="connsiteY38" fmla="*/ 957805 h 4794329"/>
              <a:gd name="connsiteX39" fmla="*/ 959031 w 5774797"/>
              <a:gd name="connsiteY39" fmla="*/ 4703631 h 4794329"/>
              <a:gd name="connsiteX40" fmla="*/ 661301 w 5774797"/>
              <a:gd name="connsiteY40" fmla="*/ 4703631 h 4794329"/>
              <a:gd name="connsiteX41" fmla="*/ 661302 w 5774797"/>
              <a:gd name="connsiteY41" fmla="*/ 4703631 h 4794329"/>
              <a:gd name="connsiteX42" fmla="*/ 661302 w 5774797"/>
              <a:gd name="connsiteY42" fmla="*/ 4405901 h 4794329"/>
              <a:gd name="connsiteX43" fmla="*/ 4407128 w 5774797"/>
              <a:gd name="connsiteY43" fmla="*/ 660075 h 4794329"/>
              <a:gd name="connsiteX44" fmla="*/ 4555993 w 5774797"/>
              <a:gd name="connsiteY44" fmla="*/ 598413 h 4794329"/>
              <a:gd name="connsiteX45" fmla="*/ 3285716 w 5774797"/>
              <a:gd name="connsiteY45" fmla="*/ 530016 h 4794329"/>
              <a:gd name="connsiteX46" fmla="*/ 3434581 w 5774797"/>
              <a:gd name="connsiteY46" fmla="*/ 591677 h 4794329"/>
              <a:gd name="connsiteX47" fmla="*/ 3434581 w 5774797"/>
              <a:gd name="connsiteY47" fmla="*/ 889408 h 4794329"/>
              <a:gd name="connsiteX48" fmla="*/ 359390 w 5774797"/>
              <a:gd name="connsiteY48" fmla="*/ 3964597 h 4794329"/>
              <a:gd name="connsiteX49" fmla="*/ 61661 w 5774797"/>
              <a:gd name="connsiteY49" fmla="*/ 3964597 h 4794329"/>
              <a:gd name="connsiteX50" fmla="*/ 61662 w 5774797"/>
              <a:gd name="connsiteY50" fmla="*/ 3964597 h 4794329"/>
              <a:gd name="connsiteX51" fmla="*/ 61662 w 5774797"/>
              <a:gd name="connsiteY51" fmla="*/ 3666867 h 4794329"/>
              <a:gd name="connsiteX52" fmla="*/ 3136851 w 5774797"/>
              <a:gd name="connsiteY52" fmla="*/ 591677 h 4794329"/>
              <a:gd name="connsiteX53" fmla="*/ 3285716 w 5774797"/>
              <a:gd name="connsiteY53" fmla="*/ 530016 h 4794329"/>
              <a:gd name="connsiteX54" fmla="*/ 4139534 w 5774797"/>
              <a:gd name="connsiteY54" fmla="*/ 347526 h 4794329"/>
              <a:gd name="connsiteX55" fmla="*/ 4288399 w 5774797"/>
              <a:gd name="connsiteY55" fmla="*/ 409188 h 4794329"/>
              <a:gd name="connsiteX56" fmla="*/ 4288399 w 5774797"/>
              <a:gd name="connsiteY56" fmla="*/ 706919 h 4794329"/>
              <a:gd name="connsiteX57" fmla="*/ 1213208 w 5774797"/>
              <a:gd name="connsiteY57" fmla="*/ 3782108 h 4794329"/>
              <a:gd name="connsiteX58" fmla="*/ 915478 w 5774797"/>
              <a:gd name="connsiteY58" fmla="*/ 3782108 h 4794329"/>
              <a:gd name="connsiteX59" fmla="*/ 915479 w 5774797"/>
              <a:gd name="connsiteY59" fmla="*/ 3782108 h 4794329"/>
              <a:gd name="connsiteX60" fmla="*/ 915479 w 5774797"/>
              <a:gd name="connsiteY60" fmla="*/ 3484378 h 4794329"/>
              <a:gd name="connsiteX61" fmla="*/ 3990669 w 5774797"/>
              <a:gd name="connsiteY61" fmla="*/ 409188 h 4794329"/>
              <a:gd name="connsiteX62" fmla="*/ 4139534 w 5774797"/>
              <a:gd name="connsiteY62" fmla="*/ 347526 h 4794329"/>
              <a:gd name="connsiteX63" fmla="*/ 1664402 w 5774797"/>
              <a:gd name="connsiteY63" fmla="*/ 126303 h 4794329"/>
              <a:gd name="connsiteX64" fmla="*/ 1813267 w 5774797"/>
              <a:gd name="connsiteY64" fmla="*/ 187965 h 4794329"/>
              <a:gd name="connsiteX65" fmla="*/ 1813267 w 5774797"/>
              <a:gd name="connsiteY65" fmla="*/ 485695 h 4794329"/>
              <a:gd name="connsiteX66" fmla="*/ 554549 w 5774797"/>
              <a:gd name="connsiteY66" fmla="*/ 1744412 h 4794329"/>
              <a:gd name="connsiteX67" fmla="*/ 256818 w 5774797"/>
              <a:gd name="connsiteY67" fmla="*/ 1744412 h 4794329"/>
              <a:gd name="connsiteX68" fmla="*/ 256820 w 5774797"/>
              <a:gd name="connsiteY68" fmla="*/ 1744412 h 4794329"/>
              <a:gd name="connsiteX69" fmla="*/ 256820 w 5774797"/>
              <a:gd name="connsiteY69" fmla="*/ 1446682 h 4794329"/>
              <a:gd name="connsiteX70" fmla="*/ 1515537 w 5774797"/>
              <a:gd name="connsiteY70" fmla="*/ 187965 h 4794329"/>
              <a:gd name="connsiteX71" fmla="*/ 1664402 w 5774797"/>
              <a:gd name="connsiteY71" fmla="*/ 126303 h 4794329"/>
              <a:gd name="connsiteX72" fmla="*/ 3125460 w 5774797"/>
              <a:gd name="connsiteY72" fmla="*/ 18853 h 4794329"/>
              <a:gd name="connsiteX73" fmla="*/ 3274325 w 5774797"/>
              <a:gd name="connsiteY73" fmla="*/ 80515 h 4794329"/>
              <a:gd name="connsiteX74" fmla="*/ 3274325 w 5774797"/>
              <a:gd name="connsiteY74" fmla="*/ 378245 h 4794329"/>
              <a:gd name="connsiteX75" fmla="*/ 552641 w 5774797"/>
              <a:gd name="connsiteY75" fmla="*/ 3099928 h 4794329"/>
              <a:gd name="connsiteX76" fmla="*/ 254911 w 5774797"/>
              <a:gd name="connsiteY76" fmla="*/ 3099928 h 4794329"/>
              <a:gd name="connsiteX77" fmla="*/ 254912 w 5774797"/>
              <a:gd name="connsiteY77" fmla="*/ 3099928 h 4794329"/>
              <a:gd name="connsiteX78" fmla="*/ 254912 w 5774797"/>
              <a:gd name="connsiteY78" fmla="*/ 2802198 h 4794329"/>
              <a:gd name="connsiteX79" fmla="*/ 2976595 w 5774797"/>
              <a:gd name="connsiteY79" fmla="*/ 80515 h 4794329"/>
              <a:gd name="connsiteX80" fmla="*/ 3125460 w 5774797"/>
              <a:gd name="connsiteY80" fmla="*/ 18853 h 4794329"/>
              <a:gd name="connsiteX81" fmla="*/ 2465583 w 5774797"/>
              <a:gd name="connsiteY81" fmla="*/ 0 h 4794329"/>
              <a:gd name="connsiteX82" fmla="*/ 2614448 w 5774797"/>
              <a:gd name="connsiteY82" fmla="*/ 61662 h 4794329"/>
              <a:gd name="connsiteX83" fmla="*/ 2614448 w 5774797"/>
              <a:gd name="connsiteY83" fmla="*/ 359392 h 4794329"/>
              <a:gd name="connsiteX84" fmla="*/ 632768 w 5774797"/>
              <a:gd name="connsiteY84" fmla="*/ 2341071 h 4794329"/>
              <a:gd name="connsiteX85" fmla="*/ 335037 w 5774797"/>
              <a:gd name="connsiteY85" fmla="*/ 2341071 h 4794329"/>
              <a:gd name="connsiteX86" fmla="*/ 335039 w 5774797"/>
              <a:gd name="connsiteY86" fmla="*/ 2341071 h 4794329"/>
              <a:gd name="connsiteX87" fmla="*/ 335039 w 5774797"/>
              <a:gd name="connsiteY87" fmla="*/ 2043341 h 4794329"/>
              <a:gd name="connsiteX88" fmla="*/ 2316718 w 5774797"/>
              <a:gd name="connsiteY88" fmla="*/ 61662 h 4794329"/>
              <a:gd name="connsiteX89" fmla="*/ 2465583 w 5774797"/>
              <a:gd name="connsiteY89" fmla="*/ 0 h 4794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5774797" h="4794329">
                <a:moveTo>
                  <a:pt x="4633897" y="3202389"/>
                </a:moveTo>
                <a:cubicBezTo>
                  <a:pt x="4687776" y="3202389"/>
                  <a:pt x="4741654" y="3222943"/>
                  <a:pt x="4782762" y="3264051"/>
                </a:cubicBezTo>
                <a:cubicBezTo>
                  <a:pt x="4864978" y="3346267"/>
                  <a:pt x="4864978" y="3479565"/>
                  <a:pt x="4782762" y="3561781"/>
                </a:cubicBezTo>
                <a:lnTo>
                  <a:pt x="4122323" y="4222219"/>
                </a:lnTo>
                <a:cubicBezTo>
                  <a:pt x="4040107" y="4304435"/>
                  <a:pt x="3906809" y="4304435"/>
                  <a:pt x="3824593" y="4222219"/>
                </a:cubicBezTo>
                <a:lnTo>
                  <a:pt x="3824594" y="4222219"/>
                </a:lnTo>
                <a:cubicBezTo>
                  <a:pt x="3742378" y="4140003"/>
                  <a:pt x="3742378" y="4006704"/>
                  <a:pt x="3824594" y="3924488"/>
                </a:cubicBezTo>
                <a:lnTo>
                  <a:pt x="4485032" y="3264051"/>
                </a:lnTo>
                <a:cubicBezTo>
                  <a:pt x="4526140" y="3222943"/>
                  <a:pt x="4580018" y="3202389"/>
                  <a:pt x="4633897" y="3202389"/>
                </a:cubicBezTo>
                <a:close/>
                <a:moveTo>
                  <a:pt x="4600666" y="1896653"/>
                </a:moveTo>
                <a:cubicBezTo>
                  <a:pt x="4654544" y="1896653"/>
                  <a:pt x="4708423" y="1917207"/>
                  <a:pt x="4749531" y="1958315"/>
                </a:cubicBezTo>
                <a:cubicBezTo>
                  <a:pt x="4831747" y="2040531"/>
                  <a:pt x="4831747" y="2173830"/>
                  <a:pt x="4749531" y="2256046"/>
                </a:cubicBezTo>
                <a:lnTo>
                  <a:pt x="2272908" y="4732667"/>
                </a:lnTo>
                <a:cubicBezTo>
                  <a:pt x="2190692" y="4814883"/>
                  <a:pt x="2057394" y="4814883"/>
                  <a:pt x="1975178" y="4732667"/>
                </a:cubicBezTo>
                <a:lnTo>
                  <a:pt x="1975180" y="4732667"/>
                </a:lnTo>
                <a:cubicBezTo>
                  <a:pt x="1892964" y="4650451"/>
                  <a:pt x="1892964" y="4517153"/>
                  <a:pt x="1975180" y="4434937"/>
                </a:cubicBezTo>
                <a:lnTo>
                  <a:pt x="4451801" y="1958315"/>
                </a:lnTo>
                <a:cubicBezTo>
                  <a:pt x="4492909" y="1917207"/>
                  <a:pt x="4546787" y="1896653"/>
                  <a:pt x="4600666" y="1896653"/>
                </a:cubicBezTo>
                <a:close/>
                <a:moveTo>
                  <a:pt x="5564270" y="1606041"/>
                </a:moveTo>
                <a:cubicBezTo>
                  <a:pt x="5618148" y="1606041"/>
                  <a:pt x="5672027" y="1626595"/>
                  <a:pt x="5713135" y="1667703"/>
                </a:cubicBezTo>
                <a:cubicBezTo>
                  <a:pt x="5795351" y="1749919"/>
                  <a:pt x="5795351" y="1883217"/>
                  <a:pt x="5713135" y="1965433"/>
                </a:cubicBezTo>
                <a:lnTo>
                  <a:pt x="3828060" y="3850507"/>
                </a:lnTo>
                <a:cubicBezTo>
                  <a:pt x="3745844" y="3932723"/>
                  <a:pt x="3612546" y="3932723"/>
                  <a:pt x="3530330" y="3850507"/>
                </a:cubicBezTo>
                <a:lnTo>
                  <a:pt x="3530331" y="3850507"/>
                </a:lnTo>
                <a:cubicBezTo>
                  <a:pt x="3448115" y="3768291"/>
                  <a:pt x="3448115" y="3634993"/>
                  <a:pt x="3530331" y="3552777"/>
                </a:cubicBezTo>
                <a:lnTo>
                  <a:pt x="5415405" y="1667703"/>
                </a:lnTo>
                <a:cubicBezTo>
                  <a:pt x="5456513" y="1626595"/>
                  <a:pt x="5510391" y="1606041"/>
                  <a:pt x="5564270" y="1606041"/>
                </a:cubicBezTo>
                <a:close/>
                <a:moveTo>
                  <a:pt x="5112231" y="717042"/>
                </a:moveTo>
                <a:cubicBezTo>
                  <a:pt x="5166109" y="717042"/>
                  <a:pt x="5219988" y="737596"/>
                  <a:pt x="5261096" y="778704"/>
                </a:cubicBezTo>
                <a:cubicBezTo>
                  <a:pt x="5343312" y="860920"/>
                  <a:pt x="5343312" y="994218"/>
                  <a:pt x="5261096" y="1076435"/>
                </a:cubicBezTo>
                <a:lnTo>
                  <a:pt x="2185905" y="4151624"/>
                </a:lnTo>
                <a:cubicBezTo>
                  <a:pt x="2103689" y="4233840"/>
                  <a:pt x="1970391" y="4233840"/>
                  <a:pt x="1888175" y="4151624"/>
                </a:cubicBezTo>
                <a:lnTo>
                  <a:pt x="1888176" y="4151624"/>
                </a:lnTo>
                <a:cubicBezTo>
                  <a:pt x="1805960" y="4069408"/>
                  <a:pt x="1805960" y="3936110"/>
                  <a:pt x="1888176" y="3853894"/>
                </a:cubicBezTo>
                <a:lnTo>
                  <a:pt x="4963366" y="778704"/>
                </a:lnTo>
                <a:cubicBezTo>
                  <a:pt x="5004474" y="737596"/>
                  <a:pt x="5058352" y="717042"/>
                  <a:pt x="5112231" y="717042"/>
                </a:cubicBezTo>
                <a:close/>
                <a:moveTo>
                  <a:pt x="4555993" y="598413"/>
                </a:moveTo>
                <a:cubicBezTo>
                  <a:pt x="4609872" y="598413"/>
                  <a:pt x="4663750" y="618967"/>
                  <a:pt x="4704858" y="660075"/>
                </a:cubicBezTo>
                <a:cubicBezTo>
                  <a:pt x="4787074" y="742291"/>
                  <a:pt x="4787074" y="875589"/>
                  <a:pt x="4704858" y="957805"/>
                </a:cubicBezTo>
                <a:lnTo>
                  <a:pt x="959031" y="4703631"/>
                </a:lnTo>
                <a:cubicBezTo>
                  <a:pt x="876815" y="4785847"/>
                  <a:pt x="743517" y="4785847"/>
                  <a:pt x="661301" y="4703631"/>
                </a:cubicBezTo>
                <a:lnTo>
                  <a:pt x="661302" y="4703631"/>
                </a:lnTo>
                <a:cubicBezTo>
                  <a:pt x="579087" y="4621415"/>
                  <a:pt x="579087" y="4488117"/>
                  <a:pt x="661302" y="4405901"/>
                </a:cubicBezTo>
                <a:lnTo>
                  <a:pt x="4407128" y="660075"/>
                </a:lnTo>
                <a:cubicBezTo>
                  <a:pt x="4448236" y="618967"/>
                  <a:pt x="4502115" y="598413"/>
                  <a:pt x="4555993" y="598413"/>
                </a:cubicBezTo>
                <a:close/>
                <a:moveTo>
                  <a:pt x="3285716" y="530016"/>
                </a:moveTo>
                <a:cubicBezTo>
                  <a:pt x="3339595" y="530015"/>
                  <a:pt x="3393473" y="550569"/>
                  <a:pt x="3434581" y="591677"/>
                </a:cubicBezTo>
                <a:cubicBezTo>
                  <a:pt x="3516797" y="673894"/>
                  <a:pt x="3516797" y="807191"/>
                  <a:pt x="3434581" y="889408"/>
                </a:cubicBezTo>
                <a:lnTo>
                  <a:pt x="359390" y="3964597"/>
                </a:lnTo>
                <a:cubicBezTo>
                  <a:pt x="277175" y="4046813"/>
                  <a:pt x="143876" y="4046813"/>
                  <a:pt x="61661" y="3964597"/>
                </a:cubicBezTo>
                <a:lnTo>
                  <a:pt x="61662" y="3964597"/>
                </a:lnTo>
                <a:cubicBezTo>
                  <a:pt x="-20554" y="3882381"/>
                  <a:pt x="-20554" y="3749083"/>
                  <a:pt x="61662" y="3666867"/>
                </a:cubicBezTo>
                <a:lnTo>
                  <a:pt x="3136851" y="591677"/>
                </a:lnTo>
                <a:cubicBezTo>
                  <a:pt x="3177959" y="550569"/>
                  <a:pt x="3231837" y="530015"/>
                  <a:pt x="3285716" y="530016"/>
                </a:cubicBezTo>
                <a:close/>
                <a:moveTo>
                  <a:pt x="4139534" y="347526"/>
                </a:moveTo>
                <a:cubicBezTo>
                  <a:pt x="4193413" y="347526"/>
                  <a:pt x="4247291" y="368080"/>
                  <a:pt x="4288399" y="409188"/>
                </a:cubicBezTo>
                <a:cubicBezTo>
                  <a:pt x="4370615" y="491405"/>
                  <a:pt x="4370615" y="624702"/>
                  <a:pt x="4288399" y="706919"/>
                </a:cubicBezTo>
                <a:lnTo>
                  <a:pt x="1213208" y="3782108"/>
                </a:lnTo>
                <a:cubicBezTo>
                  <a:pt x="1130992" y="3864324"/>
                  <a:pt x="997694" y="3864324"/>
                  <a:pt x="915478" y="3782108"/>
                </a:cubicBezTo>
                <a:lnTo>
                  <a:pt x="915479" y="3782108"/>
                </a:lnTo>
                <a:cubicBezTo>
                  <a:pt x="833263" y="3699892"/>
                  <a:pt x="833263" y="3566594"/>
                  <a:pt x="915479" y="3484378"/>
                </a:cubicBezTo>
                <a:lnTo>
                  <a:pt x="3990669" y="409188"/>
                </a:lnTo>
                <a:cubicBezTo>
                  <a:pt x="4031777" y="368080"/>
                  <a:pt x="4085655" y="347526"/>
                  <a:pt x="4139534" y="347526"/>
                </a:cubicBezTo>
                <a:close/>
                <a:moveTo>
                  <a:pt x="1664402" y="126303"/>
                </a:moveTo>
                <a:cubicBezTo>
                  <a:pt x="1718280" y="126303"/>
                  <a:pt x="1772159" y="146856"/>
                  <a:pt x="1813267" y="187965"/>
                </a:cubicBezTo>
                <a:cubicBezTo>
                  <a:pt x="1895483" y="270181"/>
                  <a:pt x="1895483" y="403479"/>
                  <a:pt x="1813267" y="485695"/>
                </a:cubicBezTo>
                <a:lnTo>
                  <a:pt x="554549" y="1744412"/>
                </a:lnTo>
                <a:cubicBezTo>
                  <a:pt x="472333" y="1826628"/>
                  <a:pt x="339035" y="1826628"/>
                  <a:pt x="256818" y="1744412"/>
                </a:cubicBezTo>
                <a:lnTo>
                  <a:pt x="256820" y="1744412"/>
                </a:lnTo>
                <a:cubicBezTo>
                  <a:pt x="174605" y="1662196"/>
                  <a:pt x="174605" y="1528898"/>
                  <a:pt x="256820" y="1446682"/>
                </a:cubicBezTo>
                <a:lnTo>
                  <a:pt x="1515537" y="187965"/>
                </a:lnTo>
                <a:cubicBezTo>
                  <a:pt x="1556645" y="146856"/>
                  <a:pt x="1610523" y="126303"/>
                  <a:pt x="1664402" y="126303"/>
                </a:cubicBezTo>
                <a:close/>
                <a:moveTo>
                  <a:pt x="3125460" y="18853"/>
                </a:moveTo>
                <a:cubicBezTo>
                  <a:pt x="3179339" y="18853"/>
                  <a:pt x="3233217" y="39407"/>
                  <a:pt x="3274325" y="80515"/>
                </a:cubicBezTo>
                <a:cubicBezTo>
                  <a:pt x="3356541" y="162731"/>
                  <a:pt x="3356541" y="296029"/>
                  <a:pt x="3274325" y="378245"/>
                </a:cubicBezTo>
                <a:lnTo>
                  <a:pt x="552641" y="3099928"/>
                </a:lnTo>
                <a:cubicBezTo>
                  <a:pt x="470425" y="3182144"/>
                  <a:pt x="337126" y="3182144"/>
                  <a:pt x="254911" y="3099928"/>
                </a:cubicBezTo>
                <a:lnTo>
                  <a:pt x="254912" y="3099928"/>
                </a:lnTo>
                <a:cubicBezTo>
                  <a:pt x="172696" y="3017712"/>
                  <a:pt x="172696" y="2884414"/>
                  <a:pt x="254912" y="2802198"/>
                </a:cubicBezTo>
                <a:lnTo>
                  <a:pt x="2976595" y="80515"/>
                </a:lnTo>
                <a:cubicBezTo>
                  <a:pt x="3017703" y="39407"/>
                  <a:pt x="3071581" y="18853"/>
                  <a:pt x="3125460" y="18853"/>
                </a:cubicBezTo>
                <a:close/>
                <a:moveTo>
                  <a:pt x="2465583" y="0"/>
                </a:moveTo>
                <a:cubicBezTo>
                  <a:pt x="2519461" y="0"/>
                  <a:pt x="2573340" y="20554"/>
                  <a:pt x="2614448" y="61662"/>
                </a:cubicBezTo>
                <a:cubicBezTo>
                  <a:pt x="2696664" y="143878"/>
                  <a:pt x="2696664" y="277176"/>
                  <a:pt x="2614448" y="359392"/>
                </a:cubicBezTo>
                <a:lnTo>
                  <a:pt x="632768" y="2341071"/>
                </a:lnTo>
                <a:cubicBezTo>
                  <a:pt x="550552" y="2423287"/>
                  <a:pt x="417253" y="2423287"/>
                  <a:pt x="335037" y="2341071"/>
                </a:cubicBezTo>
                <a:lnTo>
                  <a:pt x="335039" y="2341071"/>
                </a:lnTo>
                <a:cubicBezTo>
                  <a:pt x="252822" y="2258855"/>
                  <a:pt x="252822" y="2125557"/>
                  <a:pt x="335039" y="2043341"/>
                </a:cubicBezTo>
                <a:lnTo>
                  <a:pt x="2316718" y="61662"/>
                </a:lnTo>
                <a:cubicBezTo>
                  <a:pt x="2357826" y="20554"/>
                  <a:pt x="2411704" y="0"/>
                  <a:pt x="2465583" y="0"/>
                </a:cubicBezTo>
                <a:close/>
              </a:path>
            </a:pathLst>
          </a:custGeom>
          <a:pattFill prst="pct20">
            <a:fgClr>
              <a:schemeClr val="bg1">
                <a:lumMod val="50000"/>
                <a:lumOff val="50000"/>
              </a:schemeClr>
            </a:fgClr>
            <a:bgClr>
              <a:schemeClr val="bg1"/>
            </a:bgClr>
          </a:pattFill>
        </p:spPr>
        <p:txBody>
          <a:bodyPr wrap="square" anchor="ctr">
            <a:noAutofit/>
          </a:bodyPr>
          <a:lstStyle>
            <a:lvl1pPr marL="0" indent="0" algn="ctr">
              <a:buNone/>
              <a:defRPr sz="1600" baseline="0"/>
            </a:lvl1pPr>
          </a:lstStyle>
          <a:p>
            <a:r>
              <a:rPr lang="en-US"/>
              <a:t>Insert Image</a:t>
            </a:r>
          </a:p>
        </p:txBody>
      </p:sp>
      <p:sp>
        <p:nvSpPr>
          <p:cNvPr id="15" name="Picture Placeholder 13"/>
          <p:cNvSpPr>
            <a:spLocks noGrp="1"/>
          </p:cNvSpPr>
          <p:nvPr>
            <p:ph type="pic" sz="quarter" idx="33" hasCustomPrompt="1"/>
          </p:nvPr>
        </p:nvSpPr>
        <p:spPr>
          <a:xfrm flipH="1">
            <a:off x="-584447" y="801512"/>
            <a:ext cx="4683926" cy="3816626"/>
          </a:xfrm>
          <a:custGeom>
            <a:avLst/>
            <a:gdLst>
              <a:gd name="connsiteX0" fmla="*/ 7187484 w 8328384"/>
              <a:gd name="connsiteY0" fmla="*/ 3202389 h 4794329"/>
              <a:gd name="connsiteX1" fmla="*/ 7336349 w 8328384"/>
              <a:gd name="connsiteY1" fmla="*/ 3264051 h 4794329"/>
              <a:gd name="connsiteX2" fmla="*/ 7336349 w 8328384"/>
              <a:gd name="connsiteY2" fmla="*/ 3561781 h 4794329"/>
              <a:gd name="connsiteX3" fmla="*/ 6675910 w 8328384"/>
              <a:gd name="connsiteY3" fmla="*/ 4222219 h 4794329"/>
              <a:gd name="connsiteX4" fmla="*/ 6378180 w 8328384"/>
              <a:gd name="connsiteY4" fmla="*/ 4222219 h 4794329"/>
              <a:gd name="connsiteX5" fmla="*/ 6378181 w 8328384"/>
              <a:gd name="connsiteY5" fmla="*/ 4222219 h 4794329"/>
              <a:gd name="connsiteX6" fmla="*/ 6378181 w 8328384"/>
              <a:gd name="connsiteY6" fmla="*/ 3924488 h 4794329"/>
              <a:gd name="connsiteX7" fmla="*/ 7038619 w 8328384"/>
              <a:gd name="connsiteY7" fmla="*/ 3264051 h 4794329"/>
              <a:gd name="connsiteX8" fmla="*/ 7187484 w 8328384"/>
              <a:gd name="connsiteY8" fmla="*/ 3202389 h 4794329"/>
              <a:gd name="connsiteX9" fmla="*/ 7154253 w 8328384"/>
              <a:gd name="connsiteY9" fmla="*/ 1896653 h 4794329"/>
              <a:gd name="connsiteX10" fmla="*/ 7303118 w 8328384"/>
              <a:gd name="connsiteY10" fmla="*/ 1958315 h 4794329"/>
              <a:gd name="connsiteX11" fmla="*/ 7303118 w 8328384"/>
              <a:gd name="connsiteY11" fmla="*/ 2256046 h 4794329"/>
              <a:gd name="connsiteX12" fmla="*/ 4826495 w 8328384"/>
              <a:gd name="connsiteY12" fmla="*/ 4732667 h 4794329"/>
              <a:gd name="connsiteX13" fmla="*/ 4528765 w 8328384"/>
              <a:gd name="connsiteY13" fmla="*/ 4732667 h 4794329"/>
              <a:gd name="connsiteX14" fmla="*/ 4528767 w 8328384"/>
              <a:gd name="connsiteY14" fmla="*/ 4732667 h 4794329"/>
              <a:gd name="connsiteX15" fmla="*/ 4528767 w 8328384"/>
              <a:gd name="connsiteY15" fmla="*/ 4434937 h 4794329"/>
              <a:gd name="connsiteX16" fmla="*/ 7005388 w 8328384"/>
              <a:gd name="connsiteY16" fmla="*/ 1958315 h 4794329"/>
              <a:gd name="connsiteX17" fmla="*/ 7154253 w 8328384"/>
              <a:gd name="connsiteY17" fmla="*/ 1896653 h 4794329"/>
              <a:gd name="connsiteX18" fmla="*/ 8117857 w 8328384"/>
              <a:gd name="connsiteY18" fmla="*/ 1606041 h 4794329"/>
              <a:gd name="connsiteX19" fmla="*/ 8266722 w 8328384"/>
              <a:gd name="connsiteY19" fmla="*/ 1667703 h 4794329"/>
              <a:gd name="connsiteX20" fmla="*/ 8266722 w 8328384"/>
              <a:gd name="connsiteY20" fmla="*/ 1965433 h 4794329"/>
              <a:gd name="connsiteX21" fmla="*/ 6381647 w 8328384"/>
              <a:gd name="connsiteY21" fmla="*/ 3850507 h 4794329"/>
              <a:gd name="connsiteX22" fmla="*/ 6083917 w 8328384"/>
              <a:gd name="connsiteY22" fmla="*/ 3850507 h 4794329"/>
              <a:gd name="connsiteX23" fmla="*/ 6083918 w 8328384"/>
              <a:gd name="connsiteY23" fmla="*/ 3850507 h 4794329"/>
              <a:gd name="connsiteX24" fmla="*/ 6083918 w 8328384"/>
              <a:gd name="connsiteY24" fmla="*/ 3552777 h 4794329"/>
              <a:gd name="connsiteX25" fmla="*/ 7968992 w 8328384"/>
              <a:gd name="connsiteY25" fmla="*/ 1667703 h 4794329"/>
              <a:gd name="connsiteX26" fmla="*/ 8117857 w 8328384"/>
              <a:gd name="connsiteY26" fmla="*/ 1606041 h 4794329"/>
              <a:gd name="connsiteX27" fmla="*/ 677527 w 8328384"/>
              <a:gd name="connsiteY27" fmla="*/ 898884 h 4794329"/>
              <a:gd name="connsiteX28" fmla="*/ 1028254 w 8328384"/>
              <a:gd name="connsiteY28" fmla="*/ 898884 h 4794329"/>
              <a:gd name="connsiteX29" fmla="*/ 1705781 w 8328384"/>
              <a:gd name="connsiteY29" fmla="*/ 1576410 h 4794329"/>
              <a:gd name="connsiteX30" fmla="*/ 1028254 w 8328384"/>
              <a:gd name="connsiteY30" fmla="*/ 2253937 h 4794329"/>
              <a:gd name="connsiteX31" fmla="*/ 677527 w 8328384"/>
              <a:gd name="connsiteY31" fmla="*/ 2253937 h 4794329"/>
              <a:gd name="connsiteX32" fmla="*/ 0 w 8328384"/>
              <a:gd name="connsiteY32" fmla="*/ 1576410 h 4794329"/>
              <a:gd name="connsiteX33" fmla="*/ 677527 w 8328384"/>
              <a:gd name="connsiteY33" fmla="*/ 898884 h 4794329"/>
              <a:gd name="connsiteX34" fmla="*/ 7665818 w 8328384"/>
              <a:gd name="connsiteY34" fmla="*/ 717042 h 4794329"/>
              <a:gd name="connsiteX35" fmla="*/ 7814683 w 8328384"/>
              <a:gd name="connsiteY35" fmla="*/ 778704 h 4794329"/>
              <a:gd name="connsiteX36" fmla="*/ 7814683 w 8328384"/>
              <a:gd name="connsiteY36" fmla="*/ 1076435 h 4794329"/>
              <a:gd name="connsiteX37" fmla="*/ 4739492 w 8328384"/>
              <a:gd name="connsiteY37" fmla="*/ 4151624 h 4794329"/>
              <a:gd name="connsiteX38" fmla="*/ 4441762 w 8328384"/>
              <a:gd name="connsiteY38" fmla="*/ 4151624 h 4794329"/>
              <a:gd name="connsiteX39" fmla="*/ 4441763 w 8328384"/>
              <a:gd name="connsiteY39" fmla="*/ 4151624 h 4794329"/>
              <a:gd name="connsiteX40" fmla="*/ 4441763 w 8328384"/>
              <a:gd name="connsiteY40" fmla="*/ 3853894 h 4794329"/>
              <a:gd name="connsiteX41" fmla="*/ 7516953 w 8328384"/>
              <a:gd name="connsiteY41" fmla="*/ 778704 h 4794329"/>
              <a:gd name="connsiteX42" fmla="*/ 7665818 w 8328384"/>
              <a:gd name="connsiteY42" fmla="*/ 717042 h 4794329"/>
              <a:gd name="connsiteX43" fmla="*/ 7109580 w 8328384"/>
              <a:gd name="connsiteY43" fmla="*/ 598413 h 4794329"/>
              <a:gd name="connsiteX44" fmla="*/ 7258445 w 8328384"/>
              <a:gd name="connsiteY44" fmla="*/ 660075 h 4794329"/>
              <a:gd name="connsiteX45" fmla="*/ 7258445 w 8328384"/>
              <a:gd name="connsiteY45" fmla="*/ 957805 h 4794329"/>
              <a:gd name="connsiteX46" fmla="*/ 3512618 w 8328384"/>
              <a:gd name="connsiteY46" fmla="*/ 4703631 h 4794329"/>
              <a:gd name="connsiteX47" fmla="*/ 3214888 w 8328384"/>
              <a:gd name="connsiteY47" fmla="*/ 4703631 h 4794329"/>
              <a:gd name="connsiteX48" fmla="*/ 3214889 w 8328384"/>
              <a:gd name="connsiteY48" fmla="*/ 4703631 h 4794329"/>
              <a:gd name="connsiteX49" fmla="*/ 3214889 w 8328384"/>
              <a:gd name="connsiteY49" fmla="*/ 4405901 h 4794329"/>
              <a:gd name="connsiteX50" fmla="*/ 6960715 w 8328384"/>
              <a:gd name="connsiteY50" fmla="*/ 660075 h 4794329"/>
              <a:gd name="connsiteX51" fmla="*/ 7109580 w 8328384"/>
              <a:gd name="connsiteY51" fmla="*/ 598413 h 4794329"/>
              <a:gd name="connsiteX52" fmla="*/ 5839303 w 8328384"/>
              <a:gd name="connsiteY52" fmla="*/ 530016 h 4794329"/>
              <a:gd name="connsiteX53" fmla="*/ 5988168 w 8328384"/>
              <a:gd name="connsiteY53" fmla="*/ 591677 h 4794329"/>
              <a:gd name="connsiteX54" fmla="*/ 5988168 w 8328384"/>
              <a:gd name="connsiteY54" fmla="*/ 889408 h 4794329"/>
              <a:gd name="connsiteX55" fmla="*/ 2912977 w 8328384"/>
              <a:gd name="connsiteY55" fmla="*/ 3964597 h 4794329"/>
              <a:gd name="connsiteX56" fmla="*/ 2615248 w 8328384"/>
              <a:gd name="connsiteY56" fmla="*/ 3964597 h 4794329"/>
              <a:gd name="connsiteX57" fmla="*/ 2615249 w 8328384"/>
              <a:gd name="connsiteY57" fmla="*/ 3964597 h 4794329"/>
              <a:gd name="connsiteX58" fmla="*/ 2615249 w 8328384"/>
              <a:gd name="connsiteY58" fmla="*/ 3666867 h 4794329"/>
              <a:gd name="connsiteX59" fmla="*/ 5690438 w 8328384"/>
              <a:gd name="connsiteY59" fmla="*/ 591677 h 4794329"/>
              <a:gd name="connsiteX60" fmla="*/ 5839303 w 8328384"/>
              <a:gd name="connsiteY60" fmla="*/ 530016 h 4794329"/>
              <a:gd name="connsiteX61" fmla="*/ 6693121 w 8328384"/>
              <a:gd name="connsiteY61" fmla="*/ 347526 h 4794329"/>
              <a:gd name="connsiteX62" fmla="*/ 6841986 w 8328384"/>
              <a:gd name="connsiteY62" fmla="*/ 409188 h 4794329"/>
              <a:gd name="connsiteX63" fmla="*/ 6841986 w 8328384"/>
              <a:gd name="connsiteY63" fmla="*/ 706919 h 4794329"/>
              <a:gd name="connsiteX64" fmla="*/ 3766795 w 8328384"/>
              <a:gd name="connsiteY64" fmla="*/ 3782108 h 4794329"/>
              <a:gd name="connsiteX65" fmla="*/ 3469065 w 8328384"/>
              <a:gd name="connsiteY65" fmla="*/ 3782108 h 4794329"/>
              <a:gd name="connsiteX66" fmla="*/ 3469066 w 8328384"/>
              <a:gd name="connsiteY66" fmla="*/ 3782108 h 4794329"/>
              <a:gd name="connsiteX67" fmla="*/ 3469066 w 8328384"/>
              <a:gd name="connsiteY67" fmla="*/ 3484378 h 4794329"/>
              <a:gd name="connsiteX68" fmla="*/ 6544256 w 8328384"/>
              <a:gd name="connsiteY68" fmla="*/ 409188 h 4794329"/>
              <a:gd name="connsiteX69" fmla="*/ 6693121 w 8328384"/>
              <a:gd name="connsiteY69" fmla="*/ 347526 h 4794329"/>
              <a:gd name="connsiteX70" fmla="*/ 4217989 w 8328384"/>
              <a:gd name="connsiteY70" fmla="*/ 126303 h 4794329"/>
              <a:gd name="connsiteX71" fmla="*/ 4366854 w 8328384"/>
              <a:gd name="connsiteY71" fmla="*/ 187965 h 4794329"/>
              <a:gd name="connsiteX72" fmla="*/ 4366854 w 8328384"/>
              <a:gd name="connsiteY72" fmla="*/ 485695 h 4794329"/>
              <a:gd name="connsiteX73" fmla="*/ 3108136 w 8328384"/>
              <a:gd name="connsiteY73" fmla="*/ 1744412 h 4794329"/>
              <a:gd name="connsiteX74" fmla="*/ 2810405 w 8328384"/>
              <a:gd name="connsiteY74" fmla="*/ 1744412 h 4794329"/>
              <a:gd name="connsiteX75" fmla="*/ 2810407 w 8328384"/>
              <a:gd name="connsiteY75" fmla="*/ 1744412 h 4794329"/>
              <a:gd name="connsiteX76" fmla="*/ 2810407 w 8328384"/>
              <a:gd name="connsiteY76" fmla="*/ 1446682 h 4794329"/>
              <a:gd name="connsiteX77" fmla="*/ 4069124 w 8328384"/>
              <a:gd name="connsiteY77" fmla="*/ 187965 h 4794329"/>
              <a:gd name="connsiteX78" fmla="*/ 4217989 w 8328384"/>
              <a:gd name="connsiteY78" fmla="*/ 126303 h 4794329"/>
              <a:gd name="connsiteX79" fmla="*/ 5679047 w 8328384"/>
              <a:gd name="connsiteY79" fmla="*/ 18853 h 4794329"/>
              <a:gd name="connsiteX80" fmla="*/ 5827912 w 8328384"/>
              <a:gd name="connsiteY80" fmla="*/ 80515 h 4794329"/>
              <a:gd name="connsiteX81" fmla="*/ 5827912 w 8328384"/>
              <a:gd name="connsiteY81" fmla="*/ 378245 h 4794329"/>
              <a:gd name="connsiteX82" fmla="*/ 3106228 w 8328384"/>
              <a:gd name="connsiteY82" fmla="*/ 3099928 h 4794329"/>
              <a:gd name="connsiteX83" fmla="*/ 2808498 w 8328384"/>
              <a:gd name="connsiteY83" fmla="*/ 3099928 h 4794329"/>
              <a:gd name="connsiteX84" fmla="*/ 2808499 w 8328384"/>
              <a:gd name="connsiteY84" fmla="*/ 3099928 h 4794329"/>
              <a:gd name="connsiteX85" fmla="*/ 2808499 w 8328384"/>
              <a:gd name="connsiteY85" fmla="*/ 2802198 h 4794329"/>
              <a:gd name="connsiteX86" fmla="*/ 5530182 w 8328384"/>
              <a:gd name="connsiteY86" fmla="*/ 80515 h 4794329"/>
              <a:gd name="connsiteX87" fmla="*/ 5679047 w 8328384"/>
              <a:gd name="connsiteY87" fmla="*/ 18853 h 4794329"/>
              <a:gd name="connsiteX88" fmla="*/ 5019170 w 8328384"/>
              <a:gd name="connsiteY88" fmla="*/ 0 h 4794329"/>
              <a:gd name="connsiteX89" fmla="*/ 5168035 w 8328384"/>
              <a:gd name="connsiteY89" fmla="*/ 61662 h 4794329"/>
              <a:gd name="connsiteX90" fmla="*/ 5168035 w 8328384"/>
              <a:gd name="connsiteY90" fmla="*/ 359392 h 4794329"/>
              <a:gd name="connsiteX91" fmla="*/ 3186355 w 8328384"/>
              <a:gd name="connsiteY91" fmla="*/ 2341071 h 4794329"/>
              <a:gd name="connsiteX92" fmla="*/ 2888624 w 8328384"/>
              <a:gd name="connsiteY92" fmla="*/ 2341071 h 4794329"/>
              <a:gd name="connsiteX93" fmla="*/ 2888626 w 8328384"/>
              <a:gd name="connsiteY93" fmla="*/ 2341071 h 4794329"/>
              <a:gd name="connsiteX94" fmla="*/ 2888626 w 8328384"/>
              <a:gd name="connsiteY94" fmla="*/ 2043341 h 4794329"/>
              <a:gd name="connsiteX95" fmla="*/ 4870305 w 8328384"/>
              <a:gd name="connsiteY95" fmla="*/ 61662 h 4794329"/>
              <a:gd name="connsiteX96" fmla="*/ 5019170 w 8328384"/>
              <a:gd name="connsiteY96" fmla="*/ 0 h 4794329"/>
              <a:gd name="connsiteX0" fmla="*/ 7193726 w 8334626"/>
              <a:gd name="connsiteY0" fmla="*/ 3202389 h 4794329"/>
              <a:gd name="connsiteX1" fmla="*/ 7342591 w 8334626"/>
              <a:gd name="connsiteY1" fmla="*/ 3264051 h 4794329"/>
              <a:gd name="connsiteX2" fmla="*/ 7342591 w 8334626"/>
              <a:gd name="connsiteY2" fmla="*/ 3561781 h 4794329"/>
              <a:gd name="connsiteX3" fmla="*/ 6682152 w 8334626"/>
              <a:gd name="connsiteY3" fmla="*/ 4222219 h 4794329"/>
              <a:gd name="connsiteX4" fmla="*/ 6384422 w 8334626"/>
              <a:gd name="connsiteY4" fmla="*/ 4222219 h 4794329"/>
              <a:gd name="connsiteX5" fmla="*/ 6384423 w 8334626"/>
              <a:gd name="connsiteY5" fmla="*/ 4222219 h 4794329"/>
              <a:gd name="connsiteX6" fmla="*/ 6384423 w 8334626"/>
              <a:gd name="connsiteY6" fmla="*/ 3924488 h 4794329"/>
              <a:gd name="connsiteX7" fmla="*/ 7044861 w 8334626"/>
              <a:gd name="connsiteY7" fmla="*/ 3264051 h 4794329"/>
              <a:gd name="connsiteX8" fmla="*/ 7193726 w 8334626"/>
              <a:gd name="connsiteY8" fmla="*/ 3202389 h 4794329"/>
              <a:gd name="connsiteX9" fmla="*/ 7160495 w 8334626"/>
              <a:gd name="connsiteY9" fmla="*/ 1896653 h 4794329"/>
              <a:gd name="connsiteX10" fmla="*/ 7309360 w 8334626"/>
              <a:gd name="connsiteY10" fmla="*/ 1958315 h 4794329"/>
              <a:gd name="connsiteX11" fmla="*/ 7309360 w 8334626"/>
              <a:gd name="connsiteY11" fmla="*/ 2256046 h 4794329"/>
              <a:gd name="connsiteX12" fmla="*/ 4832737 w 8334626"/>
              <a:gd name="connsiteY12" fmla="*/ 4732667 h 4794329"/>
              <a:gd name="connsiteX13" fmla="*/ 4535007 w 8334626"/>
              <a:gd name="connsiteY13" fmla="*/ 4732667 h 4794329"/>
              <a:gd name="connsiteX14" fmla="*/ 4535009 w 8334626"/>
              <a:gd name="connsiteY14" fmla="*/ 4732667 h 4794329"/>
              <a:gd name="connsiteX15" fmla="*/ 4535009 w 8334626"/>
              <a:gd name="connsiteY15" fmla="*/ 4434937 h 4794329"/>
              <a:gd name="connsiteX16" fmla="*/ 7011630 w 8334626"/>
              <a:gd name="connsiteY16" fmla="*/ 1958315 h 4794329"/>
              <a:gd name="connsiteX17" fmla="*/ 7160495 w 8334626"/>
              <a:gd name="connsiteY17" fmla="*/ 1896653 h 4794329"/>
              <a:gd name="connsiteX18" fmla="*/ 8124099 w 8334626"/>
              <a:gd name="connsiteY18" fmla="*/ 1606041 h 4794329"/>
              <a:gd name="connsiteX19" fmla="*/ 8272964 w 8334626"/>
              <a:gd name="connsiteY19" fmla="*/ 1667703 h 4794329"/>
              <a:gd name="connsiteX20" fmla="*/ 8272964 w 8334626"/>
              <a:gd name="connsiteY20" fmla="*/ 1965433 h 4794329"/>
              <a:gd name="connsiteX21" fmla="*/ 6387889 w 8334626"/>
              <a:gd name="connsiteY21" fmla="*/ 3850507 h 4794329"/>
              <a:gd name="connsiteX22" fmla="*/ 6090159 w 8334626"/>
              <a:gd name="connsiteY22" fmla="*/ 3850507 h 4794329"/>
              <a:gd name="connsiteX23" fmla="*/ 6090160 w 8334626"/>
              <a:gd name="connsiteY23" fmla="*/ 3850507 h 4794329"/>
              <a:gd name="connsiteX24" fmla="*/ 6090160 w 8334626"/>
              <a:gd name="connsiteY24" fmla="*/ 3552777 h 4794329"/>
              <a:gd name="connsiteX25" fmla="*/ 7975234 w 8334626"/>
              <a:gd name="connsiteY25" fmla="*/ 1667703 h 4794329"/>
              <a:gd name="connsiteX26" fmla="*/ 8124099 w 8334626"/>
              <a:gd name="connsiteY26" fmla="*/ 1606041 h 4794329"/>
              <a:gd name="connsiteX27" fmla="*/ 6242 w 8334626"/>
              <a:gd name="connsiteY27" fmla="*/ 1576410 h 4794329"/>
              <a:gd name="connsiteX28" fmla="*/ 1034496 w 8334626"/>
              <a:gd name="connsiteY28" fmla="*/ 898884 h 4794329"/>
              <a:gd name="connsiteX29" fmla="*/ 1712023 w 8334626"/>
              <a:gd name="connsiteY29" fmla="*/ 1576410 h 4794329"/>
              <a:gd name="connsiteX30" fmla="*/ 1034496 w 8334626"/>
              <a:gd name="connsiteY30" fmla="*/ 2253937 h 4794329"/>
              <a:gd name="connsiteX31" fmla="*/ 683769 w 8334626"/>
              <a:gd name="connsiteY31" fmla="*/ 2253937 h 4794329"/>
              <a:gd name="connsiteX32" fmla="*/ 6242 w 8334626"/>
              <a:gd name="connsiteY32" fmla="*/ 1576410 h 4794329"/>
              <a:gd name="connsiteX33" fmla="*/ 7672060 w 8334626"/>
              <a:gd name="connsiteY33" fmla="*/ 717042 h 4794329"/>
              <a:gd name="connsiteX34" fmla="*/ 7820925 w 8334626"/>
              <a:gd name="connsiteY34" fmla="*/ 778704 h 4794329"/>
              <a:gd name="connsiteX35" fmla="*/ 7820925 w 8334626"/>
              <a:gd name="connsiteY35" fmla="*/ 1076435 h 4794329"/>
              <a:gd name="connsiteX36" fmla="*/ 4745734 w 8334626"/>
              <a:gd name="connsiteY36" fmla="*/ 4151624 h 4794329"/>
              <a:gd name="connsiteX37" fmla="*/ 4448004 w 8334626"/>
              <a:gd name="connsiteY37" fmla="*/ 4151624 h 4794329"/>
              <a:gd name="connsiteX38" fmla="*/ 4448005 w 8334626"/>
              <a:gd name="connsiteY38" fmla="*/ 4151624 h 4794329"/>
              <a:gd name="connsiteX39" fmla="*/ 4448005 w 8334626"/>
              <a:gd name="connsiteY39" fmla="*/ 3853894 h 4794329"/>
              <a:gd name="connsiteX40" fmla="*/ 7523195 w 8334626"/>
              <a:gd name="connsiteY40" fmla="*/ 778704 h 4794329"/>
              <a:gd name="connsiteX41" fmla="*/ 7672060 w 8334626"/>
              <a:gd name="connsiteY41" fmla="*/ 717042 h 4794329"/>
              <a:gd name="connsiteX42" fmla="*/ 7115822 w 8334626"/>
              <a:gd name="connsiteY42" fmla="*/ 598413 h 4794329"/>
              <a:gd name="connsiteX43" fmla="*/ 7264687 w 8334626"/>
              <a:gd name="connsiteY43" fmla="*/ 660075 h 4794329"/>
              <a:gd name="connsiteX44" fmla="*/ 7264687 w 8334626"/>
              <a:gd name="connsiteY44" fmla="*/ 957805 h 4794329"/>
              <a:gd name="connsiteX45" fmla="*/ 3518860 w 8334626"/>
              <a:gd name="connsiteY45" fmla="*/ 4703631 h 4794329"/>
              <a:gd name="connsiteX46" fmla="*/ 3221130 w 8334626"/>
              <a:gd name="connsiteY46" fmla="*/ 4703631 h 4794329"/>
              <a:gd name="connsiteX47" fmla="*/ 3221131 w 8334626"/>
              <a:gd name="connsiteY47" fmla="*/ 4703631 h 4794329"/>
              <a:gd name="connsiteX48" fmla="*/ 3221131 w 8334626"/>
              <a:gd name="connsiteY48" fmla="*/ 4405901 h 4794329"/>
              <a:gd name="connsiteX49" fmla="*/ 6966957 w 8334626"/>
              <a:gd name="connsiteY49" fmla="*/ 660075 h 4794329"/>
              <a:gd name="connsiteX50" fmla="*/ 7115822 w 8334626"/>
              <a:gd name="connsiteY50" fmla="*/ 598413 h 4794329"/>
              <a:gd name="connsiteX51" fmla="*/ 5845545 w 8334626"/>
              <a:gd name="connsiteY51" fmla="*/ 530016 h 4794329"/>
              <a:gd name="connsiteX52" fmla="*/ 5994410 w 8334626"/>
              <a:gd name="connsiteY52" fmla="*/ 591677 h 4794329"/>
              <a:gd name="connsiteX53" fmla="*/ 5994410 w 8334626"/>
              <a:gd name="connsiteY53" fmla="*/ 889408 h 4794329"/>
              <a:gd name="connsiteX54" fmla="*/ 2919219 w 8334626"/>
              <a:gd name="connsiteY54" fmla="*/ 3964597 h 4794329"/>
              <a:gd name="connsiteX55" fmla="*/ 2621490 w 8334626"/>
              <a:gd name="connsiteY55" fmla="*/ 3964597 h 4794329"/>
              <a:gd name="connsiteX56" fmla="*/ 2621491 w 8334626"/>
              <a:gd name="connsiteY56" fmla="*/ 3964597 h 4794329"/>
              <a:gd name="connsiteX57" fmla="*/ 2621491 w 8334626"/>
              <a:gd name="connsiteY57" fmla="*/ 3666867 h 4794329"/>
              <a:gd name="connsiteX58" fmla="*/ 5696680 w 8334626"/>
              <a:gd name="connsiteY58" fmla="*/ 591677 h 4794329"/>
              <a:gd name="connsiteX59" fmla="*/ 5845545 w 8334626"/>
              <a:gd name="connsiteY59" fmla="*/ 530016 h 4794329"/>
              <a:gd name="connsiteX60" fmla="*/ 6699363 w 8334626"/>
              <a:gd name="connsiteY60" fmla="*/ 347526 h 4794329"/>
              <a:gd name="connsiteX61" fmla="*/ 6848228 w 8334626"/>
              <a:gd name="connsiteY61" fmla="*/ 409188 h 4794329"/>
              <a:gd name="connsiteX62" fmla="*/ 6848228 w 8334626"/>
              <a:gd name="connsiteY62" fmla="*/ 706919 h 4794329"/>
              <a:gd name="connsiteX63" fmla="*/ 3773037 w 8334626"/>
              <a:gd name="connsiteY63" fmla="*/ 3782108 h 4794329"/>
              <a:gd name="connsiteX64" fmla="*/ 3475307 w 8334626"/>
              <a:gd name="connsiteY64" fmla="*/ 3782108 h 4794329"/>
              <a:gd name="connsiteX65" fmla="*/ 3475308 w 8334626"/>
              <a:gd name="connsiteY65" fmla="*/ 3782108 h 4794329"/>
              <a:gd name="connsiteX66" fmla="*/ 3475308 w 8334626"/>
              <a:gd name="connsiteY66" fmla="*/ 3484378 h 4794329"/>
              <a:gd name="connsiteX67" fmla="*/ 6550498 w 8334626"/>
              <a:gd name="connsiteY67" fmla="*/ 409188 h 4794329"/>
              <a:gd name="connsiteX68" fmla="*/ 6699363 w 8334626"/>
              <a:gd name="connsiteY68" fmla="*/ 347526 h 4794329"/>
              <a:gd name="connsiteX69" fmla="*/ 4224231 w 8334626"/>
              <a:gd name="connsiteY69" fmla="*/ 126303 h 4794329"/>
              <a:gd name="connsiteX70" fmla="*/ 4373096 w 8334626"/>
              <a:gd name="connsiteY70" fmla="*/ 187965 h 4794329"/>
              <a:gd name="connsiteX71" fmla="*/ 4373096 w 8334626"/>
              <a:gd name="connsiteY71" fmla="*/ 485695 h 4794329"/>
              <a:gd name="connsiteX72" fmla="*/ 3114378 w 8334626"/>
              <a:gd name="connsiteY72" fmla="*/ 1744412 h 4794329"/>
              <a:gd name="connsiteX73" fmla="*/ 2816647 w 8334626"/>
              <a:gd name="connsiteY73" fmla="*/ 1744412 h 4794329"/>
              <a:gd name="connsiteX74" fmla="*/ 2816649 w 8334626"/>
              <a:gd name="connsiteY74" fmla="*/ 1744412 h 4794329"/>
              <a:gd name="connsiteX75" fmla="*/ 2816649 w 8334626"/>
              <a:gd name="connsiteY75" fmla="*/ 1446682 h 4794329"/>
              <a:gd name="connsiteX76" fmla="*/ 4075366 w 8334626"/>
              <a:gd name="connsiteY76" fmla="*/ 187965 h 4794329"/>
              <a:gd name="connsiteX77" fmla="*/ 4224231 w 8334626"/>
              <a:gd name="connsiteY77" fmla="*/ 126303 h 4794329"/>
              <a:gd name="connsiteX78" fmla="*/ 5685289 w 8334626"/>
              <a:gd name="connsiteY78" fmla="*/ 18853 h 4794329"/>
              <a:gd name="connsiteX79" fmla="*/ 5834154 w 8334626"/>
              <a:gd name="connsiteY79" fmla="*/ 80515 h 4794329"/>
              <a:gd name="connsiteX80" fmla="*/ 5834154 w 8334626"/>
              <a:gd name="connsiteY80" fmla="*/ 378245 h 4794329"/>
              <a:gd name="connsiteX81" fmla="*/ 3112470 w 8334626"/>
              <a:gd name="connsiteY81" fmla="*/ 3099928 h 4794329"/>
              <a:gd name="connsiteX82" fmla="*/ 2814740 w 8334626"/>
              <a:gd name="connsiteY82" fmla="*/ 3099928 h 4794329"/>
              <a:gd name="connsiteX83" fmla="*/ 2814741 w 8334626"/>
              <a:gd name="connsiteY83" fmla="*/ 3099928 h 4794329"/>
              <a:gd name="connsiteX84" fmla="*/ 2814741 w 8334626"/>
              <a:gd name="connsiteY84" fmla="*/ 2802198 h 4794329"/>
              <a:gd name="connsiteX85" fmla="*/ 5536424 w 8334626"/>
              <a:gd name="connsiteY85" fmla="*/ 80515 h 4794329"/>
              <a:gd name="connsiteX86" fmla="*/ 5685289 w 8334626"/>
              <a:gd name="connsiteY86" fmla="*/ 18853 h 4794329"/>
              <a:gd name="connsiteX87" fmla="*/ 5025412 w 8334626"/>
              <a:gd name="connsiteY87" fmla="*/ 0 h 4794329"/>
              <a:gd name="connsiteX88" fmla="*/ 5174277 w 8334626"/>
              <a:gd name="connsiteY88" fmla="*/ 61662 h 4794329"/>
              <a:gd name="connsiteX89" fmla="*/ 5174277 w 8334626"/>
              <a:gd name="connsiteY89" fmla="*/ 359392 h 4794329"/>
              <a:gd name="connsiteX90" fmla="*/ 3192597 w 8334626"/>
              <a:gd name="connsiteY90" fmla="*/ 2341071 h 4794329"/>
              <a:gd name="connsiteX91" fmla="*/ 2894866 w 8334626"/>
              <a:gd name="connsiteY91" fmla="*/ 2341071 h 4794329"/>
              <a:gd name="connsiteX92" fmla="*/ 2894868 w 8334626"/>
              <a:gd name="connsiteY92" fmla="*/ 2341071 h 4794329"/>
              <a:gd name="connsiteX93" fmla="*/ 2894868 w 8334626"/>
              <a:gd name="connsiteY93" fmla="*/ 2043341 h 4794329"/>
              <a:gd name="connsiteX94" fmla="*/ 4876547 w 8334626"/>
              <a:gd name="connsiteY94" fmla="*/ 61662 h 4794329"/>
              <a:gd name="connsiteX95" fmla="*/ 5025412 w 8334626"/>
              <a:gd name="connsiteY95" fmla="*/ 0 h 4794329"/>
              <a:gd name="connsiteX0" fmla="*/ 7223556 w 8364456"/>
              <a:gd name="connsiteY0" fmla="*/ 3202389 h 4794329"/>
              <a:gd name="connsiteX1" fmla="*/ 7372421 w 8364456"/>
              <a:gd name="connsiteY1" fmla="*/ 3264051 h 4794329"/>
              <a:gd name="connsiteX2" fmla="*/ 7372421 w 8364456"/>
              <a:gd name="connsiteY2" fmla="*/ 3561781 h 4794329"/>
              <a:gd name="connsiteX3" fmla="*/ 6711982 w 8364456"/>
              <a:gd name="connsiteY3" fmla="*/ 4222219 h 4794329"/>
              <a:gd name="connsiteX4" fmla="*/ 6414252 w 8364456"/>
              <a:gd name="connsiteY4" fmla="*/ 4222219 h 4794329"/>
              <a:gd name="connsiteX5" fmla="*/ 6414253 w 8364456"/>
              <a:gd name="connsiteY5" fmla="*/ 4222219 h 4794329"/>
              <a:gd name="connsiteX6" fmla="*/ 6414253 w 8364456"/>
              <a:gd name="connsiteY6" fmla="*/ 3924488 h 4794329"/>
              <a:gd name="connsiteX7" fmla="*/ 7074691 w 8364456"/>
              <a:gd name="connsiteY7" fmla="*/ 3264051 h 4794329"/>
              <a:gd name="connsiteX8" fmla="*/ 7223556 w 8364456"/>
              <a:gd name="connsiteY8" fmla="*/ 3202389 h 4794329"/>
              <a:gd name="connsiteX9" fmla="*/ 7190325 w 8364456"/>
              <a:gd name="connsiteY9" fmla="*/ 1896653 h 4794329"/>
              <a:gd name="connsiteX10" fmla="*/ 7339190 w 8364456"/>
              <a:gd name="connsiteY10" fmla="*/ 1958315 h 4794329"/>
              <a:gd name="connsiteX11" fmla="*/ 7339190 w 8364456"/>
              <a:gd name="connsiteY11" fmla="*/ 2256046 h 4794329"/>
              <a:gd name="connsiteX12" fmla="*/ 4862567 w 8364456"/>
              <a:gd name="connsiteY12" fmla="*/ 4732667 h 4794329"/>
              <a:gd name="connsiteX13" fmla="*/ 4564837 w 8364456"/>
              <a:gd name="connsiteY13" fmla="*/ 4732667 h 4794329"/>
              <a:gd name="connsiteX14" fmla="*/ 4564839 w 8364456"/>
              <a:gd name="connsiteY14" fmla="*/ 4732667 h 4794329"/>
              <a:gd name="connsiteX15" fmla="*/ 4564839 w 8364456"/>
              <a:gd name="connsiteY15" fmla="*/ 4434937 h 4794329"/>
              <a:gd name="connsiteX16" fmla="*/ 7041460 w 8364456"/>
              <a:gd name="connsiteY16" fmla="*/ 1958315 h 4794329"/>
              <a:gd name="connsiteX17" fmla="*/ 7190325 w 8364456"/>
              <a:gd name="connsiteY17" fmla="*/ 1896653 h 4794329"/>
              <a:gd name="connsiteX18" fmla="*/ 8153929 w 8364456"/>
              <a:gd name="connsiteY18" fmla="*/ 1606041 h 4794329"/>
              <a:gd name="connsiteX19" fmla="*/ 8302794 w 8364456"/>
              <a:gd name="connsiteY19" fmla="*/ 1667703 h 4794329"/>
              <a:gd name="connsiteX20" fmla="*/ 8302794 w 8364456"/>
              <a:gd name="connsiteY20" fmla="*/ 1965433 h 4794329"/>
              <a:gd name="connsiteX21" fmla="*/ 6417719 w 8364456"/>
              <a:gd name="connsiteY21" fmla="*/ 3850507 h 4794329"/>
              <a:gd name="connsiteX22" fmla="*/ 6119989 w 8364456"/>
              <a:gd name="connsiteY22" fmla="*/ 3850507 h 4794329"/>
              <a:gd name="connsiteX23" fmla="*/ 6119990 w 8364456"/>
              <a:gd name="connsiteY23" fmla="*/ 3850507 h 4794329"/>
              <a:gd name="connsiteX24" fmla="*/ 6119990 w 8364456"/>
              <a:gd name="connsiteY24" fmla="*/ 3552777 h 4794329"/>
              <a:gd name="connsiteX25" fmla="*/ 8005064 w 8364456"/>
              <a:gd name="connsiteY25" fmla="*/ 1667703 h 4794329"/>
              <a:gd name="connsiteX26" fmla="*/ 8153929 w 8364456"/>
              <a:gd name="connsiteY26" fmla="*/ 1606041 h 4794329"/>
              <a:gd name="connsiteX27" fmla="*/ 36072 w 8364456"/>
              <a:gd name="connsiteY27" fmla="*/ 1576410 h 4794329"/>
              <a:gd name="connsiteX28" fmla="*/ 1741853 w 8364456"/>
              <a:gd name="connsiteY28" fmla="*/ 1576410 h 4794329"/>
              <a:gd name="connsiteX29" fmla="*/ 1064326 w 8364456"/>
              <a:gd name="connsiteY29" fmla="*/ 2253937 h 4794329"/>
              <a:gd name="connsiteX30" fmla="*/ 713599 w 8364456"/>
              <a:gd name="connsiteY30" fmla="*/ 2253937 h 4794329"/>
              <a:gd name="connsiteX31" fmla="*/ 36072 w 8364456"/>
              <a:gd name="connsiteY31" fmla="*/ 1576410 h 4794329"/>
              <a:gd name="connsiteX32" fmla="*/ 7701890 w 8364456"/>
              <a:gd name="connsiteY32" fmla="*/ 717042 h 4794329"/>
              <a:gd name="connsiteX33" fmla="*/ 7850755 w 8364456"/>
              <a:gd name="connsiteY33" fmla="*/ 778704 h 4794329"/>
              <a:gd name="connsiteX34" fmla="*/ 7850755 w 8364456"/>
              <a:gd name="connsiteY34" fmla="*/ 1076435 h 4794329"/>
              <a:gd name="connsiteX35" fmla="*/ 4775564 w 8364456"/>
              <a:gd name="connsiteY35" fmla="*/ 4151624 h 4794329"/>
              <a:gd name="connsiteX36" fmla="*/ 4477834 w 8364456"/>
              <a:gd name="connsiteY36" fmla="*/ 4151624 h 4794329"/>
              <a:gd name="connsiteX37" fmla="*/ 4477835 w 8364456"/>
              <a:gd name="connsiteY37" fmla="*/ 4151624 h 4794329"/>
              <a:gd name="connsiteX38" fmla="*/ 4477835 w 8364456"/>
              <a:gd name="connsiteY38" fmla="*/ 3853894 h 4794329"/>
              <a:gd name="connsiteX39" fmla="*/ 7553025 w 8364456"/>
              <a:gd name="connsiteY39" fmla="*/ 778704 h 4794329"/>
              <a:gd name="connsiteX40" fmla="*/ 7701890 w 8364456"/>
              <a:gd name="connsiteY40" fmla="*/ 717042 h 4794329"/>
              <a:gd name="connsiteX41" fmla="*/ 7145652 w 8364456"/>
              <a:gd name="connsiteY41" fmla="*/ 598413 h 4794329"/>
              <a:gd name="connsiteX42" fmla="*/ 7294517 w 8364456"/>
              <a:gd name="connsiteY42" fmla="*/ 660075 h 4794329"/>
              <a:gd name="connsiteX43" fmla="*/ 7294517 w 8364456"/>
              <a:gd name="connsiteY43" fmla="*/ 957805 h 4794329"/>
              <a:gd name="connsiteX44" fmla="*/ 3548690 w 8364456"/>
              <a:gd name="connsiteY44" fmla="*/ 4703631 h 4794329"/>
              <a:gd name="connsiteX45" fmla="*/ 3250960 w 8364456"/>
              <a:gd name="connsiteY45" fmla="*/ 4703631 h 4794329"/>
              <a:gd name="connsiteX46" fmla="*/ 3250961 w 8364456"/>
              <a:gd name="connsiteY46" fmla="*/ 4703631 h 4794329"/>
              <a:gd name="connsiteX47" fmla="*/ 3250961 w 8364456"/>
              <a:gd name="connsiteY47" fmla="*/ 4405901 h 4794329"/>
              <a:gd name="connsiteX48" fmla="*/ 6996787 w 8364456"/>
              <a:gd name="connsiteY48" fmla="*/ 660075 h 4794329"/>
              <a:gd name="connsiteX49" fmla="*/ 7145652 w 8364456"/>
              <a:gd name="connsiteY49" fmla="*/ 598413 h 4794329"/>
              <a:gd name="connsiteX50" fmla="*/ 5875375 w 8364456"/>
              <a:gd name="connsiteY50" fmla="*/ 530016 h 4794329"/>
              <a:gd name="connsiteX51" fmla="*/ 6024240 w 8364456"/>
              <a:gd name="connsiteY51" fmla="*/ 591677 h 4794329"/>
              <a:gd name="connsiteX52" fmla="*/ 6024240 w 8364456"/>
              <a:gd name="connsiteY52" fmla="*/ 889408 h 4794329"/>
              <a:gd name="connsiteX53" fmla="*/ 2949049 w 8364456"/>
              <a:gd name="connsiteY53" fmla="*/ 3964597 h 4794329"/>
              <a:gd name="connsiteX54" fmla="*/ 2651320 w 8364456"/>
              <a:gd name="connsiteY54" fmla="*/ 3964597 h 4794329"/>
              <a:gd name="connsiteX55" fmla="*/ 2651321 w 8364456"/>
              <a:gd name="connsiteY55" fmla="*/ 3964597 h 4794329"/>
              <a:gd name="connsiteX56" fmla="*/ 2651321 w 8364456"/>
              <a:gd name="connsiteY56" fmla="*/ 3666867 h 4794329"/>
              <a:gd name="connsiteX57" fmla="*/ 5726510 w 8364456"/>
              <a:gd name="connsiteY57" fmla="*/ 591677 h 4794329"/>
              <a:gd name="connsiteX58" fmla="*/ 5875375 w 8364456"/>
              <a:gd name="connsiteY58" fmla="*/ 530016 h 4794329"/>
              <a:gd name="connsiteX59" fmla="*/ 6729193 w 8364456"/>
              <a:gd name="connsiteY59" fmla="*/ 347526 h 4794329"/>
              <a:gd name="connsiteX60" fmla="*/ 6878058 w 8364456"/>
              <a:gd name="connsiteY60" fmla="*/ 409188 h 4794329"/>
              <a:gd name="connsiteX61" fmla="*/ 6878058 w 8364456"/>
              <a:gd name="connsiteY61" fmla="*/ 706919 h 4794329"/>
              <a:gd name="connsiteX62" fmla="*/ 3802867 w 8364456"/>
              <a:gd name="connsiteY62" fmla="*/ 3782108 h 4794329"/>
              <a:gd name="connsiteX63" fmla="*/ 3505137 w 8364456"/>
              <a:gd name="connsiteY63" fmla="*/ 3782108 h 4794329"/>
              <a:gd name="connsiteX64" fmla="*/ 3505138 w 8364456"/>
              <a:gd name="connsiteY64" fmla="*/ 3782108 h 4794329"/>
              <a:gd name="connsiteX65" fmla="*/ 3505138 w 8364456"/>
              <a:gd name="connsiteY65" fmla="*/ 3484378 h 4794329"/>
              <a:gd name="connsiteX66" fmla="*/ 6580328 w 8364456"/>
              <a:gd name="connsiteY66" fmla="*/ 409188 h 4794329"/>
              <a:gd name="connsiteX67" fmla="*/ 6729193 w 8364456"/>
              <a:gd name="connsiteY67" fmla="*/ 347526 h 4794329"/>
              <a:gd name="connsiteX68" fmla="*/ 4254061 w 8364456"/>
              <a:gd name="connsiteY68" fmla="*/ 126303 h 4794329"/>
              <a:gd name="connsiteX69" fmla="*/ 4402926 w 8364456"/>
              <a:gd name="connsiteY69" fmla="*/ 187965 h 4794329"/>
              <a:gd name="connsiteX70" fmla="*/ 4402926 w 8364456"/>
              <a:gd name="connsiteY70" fmla="*/ 485695 h 4794329"/>
              <a:gd name="connsiteX71" fmla="*/ 3144208 w 8364456"/>
              <a:gd name="connsiteY71" fmla="*/ 1744412 h 4794329"/>
              <a:gd name="connsiteX72" fmla="*/ 2846477 w 8364456"/>
              <a:gd name="connsiteY72" fmla="*/ 1744412 h 4794329"/>
              <a:gd name="connsiteX73" fmla="*/ 2846479 w 8364456"/>
              <a:gd name="connsiteY73" fmla="*/ 1744412 h 4794329"/>
              <a:gd name="connsiteX74" fmla="*/ 2846479 w 8364456"/>
              <a:gd name="connsiteY74" fmla="*/ 1446682 h 4794329"/>
              <a:gd name="connsiteX75" fmla="*/ 4105196 w 8364456"/>
              <a:gd name="connsiteY75" fmla="*/ 187965 h 4794329"/>
              <a:gd name="connsiteX76" fmla="*/ 4254061 w 8364456"/>
              <a:gd name="connsiteY76" fmla="*/ 126303 h 4794329"/>
              <a:gd name="connsiteX77" fmla="*/ 5715119 w 8364456"/>
              <a:gd name="connsiteY77" fmla="*/ 18853 h 4794329"/>
              <a:gd name="connsiteX78" fmla="*/ 5863984 w 8364456"/>
              <a:gd name="connsiteY78" fmla="*/ 80515 h 4794329"/>
              <a:gd name="connsiteX79" fmla="*/ 5863984 w 8364456"/>
              <a:gd name="connsiteY79" fmla="*/ 378245 h 4794329"/>
              <a:gd name="connsiteX80" fmla="*/ 3142300 w 8364456"/>
              <a:gd name="connsiteY80" fmla="*/ 3099928 h 4794329"/>
              <a:gd name="connsiteX81" fmla="*/ 2844570 w 8364456"/>
              <a:gd name="connsiteY81" fmla="*/ 3099928 h 4794329"/>
              <a:gd name="connsiteX82" fmla="*/ 2844571 w 8364456"/>
              <a:gd name="connsiteY82" fmla="*/ 3099928 h 4794329"/>
              <a:gd name="connsiteX83" fmla="*/ 2844571 w 8364456"/>
              <a:gd name="connsiteY83" fmla="*/ 2802198 h 4794329"/>
              <a:gd name="connsiteX84" fmla="*/ 5566254 w 8364456"/>
              <a:gd name="connsiteY84" fmla="*/ 80515 h 4794329"/>
              <a:gd name="connsiteX85" fmla="*/ 5715119 w 8364456"/>
              <a:gd name="connsiteY85" fmla="*/ 18853 h 4794329"/>
              <a:gd name="connsiteX86" fmla="*/ 5055242 w 8364456"/>
              <a:gd name="connsiteY86" fmla="*/ 0 h 4794329"/>
              <a:gd name="connsiteX87" fmla="*/ 5204107 w 8364456"/>
              <a:gd name="connsiteY87" fmla="*/ 61662 h 4794329"/>
              <a:gd name="connsiteX88" fmla="*/ 5204107 w 8364456"/>
              <a:gd name="connsiteY88" fmla="*/ 359392 h 4794329"/>
              <a:gd name="connsiteX89" fmla="*/ 3222427 w 8364456"/>
              <a:gd name="connsiteY89" fmla="*/ 2341071 h 4794329"/>
              <a:gd name="connsiteX90" fmla="*/ 2924696 w 8364456"/>
              <a:gd name="connsiteY90" fmla="*/ 2341071 h 4794329"/>
              <a:gd name="connsiteX91" fmla="*/ 2924698 w 8364456"/>
              <a:gd name="connsiteY91" fmla="*/ 2341071 h 4794329"/>
              <a:gd name="connsiteX92" fmla="*/ 2924698 w 8364456"/>
              <a:gd name="connsiteY92" fmla="*/ 2043341 h 4794329"/>
              <a:gd name="connsiteX93" fmla="*/ 4906377 w 8364456"/>
              <a:gd name="connsiteY93" fmla="*/ 61662 h 4794329"/>
              <a:gd name="connsiteX94" fmla="*/ 5055242 w 8364456"/>
              <a:gd name="connsiteY94" fmla="*/ 0 h 4794329"/>
              <a:gd name="connsiteX0" fmla="*/ 7193727 w 8334627"/>
              <a:gd name="connsiteY0" fmla="*/ 3202389 h 4794329"/>
              <a:gd name="connsiteX1" fmla="*/ 7342592 w 8334627"/>
              <a:gd name="connsiteY1" fmla="*/ 3264051 h 4794329"/>
              <a:gd name="connsiteX2" fmla="*/ 7342592 w 8334627"/>
              <a:gd name="connsiteY2" fmla="*/ 3561781 h 4794329"/>
              <a:gd name="connsiteX3" fmla="*/ 6682153 w 8334627"/>
              <a:gd name="connsiteY3" fmla="*/ 4222219 h 4794329"/>
              <a:gd name="connsiteX4" fmla="*/ 6384423 w 8334627"/>
              <a:gd name="connsiteY4" fmla="*/ 4222219 h 4794329"/>
              <a:gd name="connsiteX5" fmla="*/ 6384424 w 8334627"/>
              <a:gd name="connsiteY5" fmla="*/ 4222219 h 4794329"/>
              <a:gd name="connsiteX6" fmla="*/ 6384424 w 8334627"/>
              <a:gd name="connsiteY6" fmla="*/ 3924488 h 4794329"/>
              <a:gd name="connsiteX7" fmla="*/ 7044862 w 8334627"/>
              <a:gd name="connsiteY7" fmla="*/ 3264051 h 4794329"/>
              <a:gd name="connsiteX8" fmla="*/ 7193727 w 8334627"/>
              <a:gd name="connsiteY8" fmla="*/ 3202389 h 4794329"/>
              <a:gd name="connsiteX9" fmla="*/ 7160496 w 8334627"/>
              <a:gd name="connsiteY9" fmla="*/ 1896653 h 4794329"/>
              <a:gd name="connsiteX10" fmla="*/ 7309361 w 8334627"/>
              <a:gd name="connsiteY10" fmla="*/ 1958315 h 4794329"/>
              <a:gd name="connsiteX11" fmla="*/ 7309361 w 8334627"/>
              <a:gd name="connsiteY11" fmla="*/ 2256046 h 4794329"/>
              <a:gd name="connsiteX12" fmla="*/ 4832738 w 8334627"/>
              <a:gd name="connsiteY12" fmla="*/ 4732667 h 4794329"/>
              <a:gd name="connsiteX13" fmla="*/ 4535008 w 8334627"/>
              <a:gd name="connsiteY13" fmla="*/ 4732667 h 4794329"/>
              <a:gd name="connsiteX14" fmla="*/ 4535010 w 8334627"/>
              <a:gd name="connsiteY14" fmla="*/ 4732667 h 4794329"/>
              <a:gd name="connsiteX15" fmla="*/ 4535010 w 8334627"/>
              <a:gd name="connsiteY15" fmla="*/ 4434937 h 4794329"/>
              <a:gd name="connsiteX16" fmla="*/ 7011631 w 8334627"/>
              <a:gd name="connsiteY16" fmla="*/ 1958315 h 4794329"/>
              <a:gd name="connsiteX17" fmla="*/ 7160496 w 8334627"/>
              <a:gd name="connsiteY17" fmla="*/ 1896653 h 4794329"/>
              <a:gd name="connsiteX18" fmla="*/ 8124100 w 8334627"/>
              <a:gd name="connsiteY18" fmla="*/ 1606041 h 4794329"/>
              <a:gd name="connsiteX19" fmla="*/ 8272965 w 8334627"/>
              <a:gd name="connsiteY19" fmla="*/ 1667703 h 4794329"/>
              <a:gd name="connsiteX20" fmla="*/ 8272965 w 8334627"/>
              <a:gd name="connsiteY20" fmla="*/ 1965433 h 4794329"/>
              <a:gd name="connsiteX21" fmla="*/ 6387890 w 8334627"/>
              <a:gd name="connsiteY21" fmla="*/ 3850507 h 4794329"/>
              <a:gd name="connsiteX22" fmla="*/ 6090160 w 8334627"/>
              <a:gd name="connsiteY22" fmla="*/ 3850507 h 4794329"/>
              <a:gd name="connsiteX23" fmla="*/ 6090161 w 8334627"/>
              <a:gd name="connsiteY23" fmla="*/ 3850507 h 4794329"/>
              <a:gd name="connsiteX24" fmla="*/ 6090161 w 8334627"/>
              <a:gd name="connsiteY24" fmla="*/ 3552777 h 4794329"/>
              <a:gd name="connsiteX25" fmla="*/ 7975235 w 8334627"/>
              <a:gd name="connsiteY25" fmla="*/ 1667703 h 4794329"/>
              <a:gd name="connsiteX26" fmla="*/ 8124100 w 8334627"/>
              <a:gd name="connsiteY26" fmla="*/ 1606041 h 4794329"/>
              <a:gd name="connsiteX27" fmla="*/ 6243 w 8334627"/>
              <a:gd name="connsiteY27" fmla="*/ 1576410 h 4794329"/>
              <a:gd name="connsiteX28" fmla="*/ 1034497 w 8334627"/>
              <a:gd name="connsiteY28" fmla="*/ 2253937 h 4794329"/>
              <a:gd name="connsiteX29" fmla="*/ 683770 w 8334627"/>
              <a:gd name="connsiteY29" fmla="*/ 2253937 h 4794329"/>
              <a:gd name="connsiteX30" fmla="*/ 6243 w 8334627"/>
              <a:gd name="connsiteY30" fmla="*/ 1576410 h 4794329"/>
              <a:gd name="connsiteX31" fmla="*/ 7672061 w 8334627"/>
              <a:gd name="connsiteY31" fmla="*/ 717042 h 4794329"/>
              <a:gd name="connsiteX32" fmla="*/ 7820926 w 8334627"/>
              <a:gd name="connsiteY32" fmla="*/ 778704 h 4794329"/>
              <a:gd name="connsiteX33" fmla="*/ 7820926 w 8334627"/>
              <a:gd name="connsiteY33" fmla="*/ 1076435 h 4794329"/>
              <a:gd name="connsiteX34" fmla="*/ 4745735 w 8334627"/>
              <a:gd name="connsiteY34" fmla="*/ 4151624 h 4794329"/>
              <a:gd name="connsiteX35" fmla="*/ 4448005 w 8334627"/>
              <a:gd name="connsiteY35" fmla="*/ 4151624 h 4794329"/>
              <a:gd name="connsiteX36" fmla="*/ 4448006 w 8334627"/>
              <a:gd name="connsiteY36" fmla="*/ 4151624 h 4794329"/>
              <a:gd name="connsiteX37" fmla="*/ 4448006 w 8334627"/>
              <a:gd name="connsiteY37" fmla="*/ 3853894 h 4794329"/>
              <a:gd name="connsiteX38" fmla="*/ 7523196 w 8334627"/>
              <a:gd name="connsiteY38" fmla="*/ 778704 h 4794329"/>
              <a:gd name="connsiteX39" fmla="*/ 7672061 w 8334627"/>
              <a:gd name="connsiteY39" fmla="*/ 717042 h 4794329"/>
              <a:gd name="connsiteX40" fmla="*/ 7115823 w 8334627"/>
              <a:gd name="connsiteY40" fmla="*/ 598413 h 4794329"/>
              <a:gd name="connsiteX41" fmla="*/ 7264688 w 8334627"/>
              <a:gd name="connsiteY41" fmla="*/ 660075 h 4794329"/>
              <a:gd name="connsiteX42" fmla="*/ 7264688 w 8334627"/>
              <a:gd name="connsiteY42" fmla="*/ 957805 h 4794329"/>
              <a:gd name="connsiteX43" fmla="*/ 3518861 w 8334627"/>
              <a:gd name="connsiteY43" fmla="*/ 4703631 h 4794329"/>
              <a:gd name="connsiteX44" fmla="*/ 3221131 w 8334627"/>
              <a:gd name="connsiteY44" fmla="*/ 4703631 h 4794329"/>
              <a:gd name="connsiteX45" fmla="*/ 3221132 w 8334627"/>
              <a:gd name="connsiteY45" fmla="*/ 4703631 h 4794329"/>
              <a:gd name="connsiteX46" fmla="*/ 3221132 w 8334627"/>
              <a:gd name="connsiteY46" fmla="*/ 4405901 h 4794329"/>
              <a:gd name="connsiteX47" fmla="*/ 6966958 w 8334627"/>
              <a:gd name="connsiteY47" fmla="*/ 660075 h 4794329"/>
              <a:gd name="connsiteX48" fmla="*/ 7115823 w 8334627"/>
              <a:gd name="connsiteY48" fmla="*/ 598413 h 4794329"/>
              <a:gd name="connsiteX49" fmla="*/ 5845546 w 8334627"/>
              <a:gd name="connsiteY49" fmla="*/ 530016 h 4794329"/>
              <a:gd name="connsiteX50" fmla="*/ 5994411 w 8334627"/>
              <a:gd name="connsiteY50" fmla="*/ 591677 h 4794329"/>
              <a:gd name="connsiteX51" fmla="*/ 5994411 w 8334627"/>
              <a:gd name="connsiteY51" fmla="*/ 889408 h 4794329"/>
              <a:gd name="connsiteX52" fmla="*/ 2919220 w 8334627"/>
              <a:gd name="connsiteY52" fmla="*/ 3964597 h 4794329"/>
              <a:gd name="connsiteX53" fmla="*/ 2621491 w 8334627"/>
              <a:gd name="connsiteY53" fmla="*/ 3964597 h 4794329"/>
              <a:gd name="connsiteX54" fmla="*/ 2621492 w 8334627"/>
              <a:gd name="connsiteY54" fmla="*/ 3964597 h 4794329"/>
              <a:gd name="connsiteX55" fmla="*/ 2621492 w 8334627"/>
              <a:gd name="connsiteY55" fmla="*/ 3666867 h 4794329"/>
              <a:gd name="connsiteX56" fmla="*/ 5696681 w 8334627"/>
              <a:gd name="connsiteY56" fmla="*/ 591677 h 4794329"/>
              <a:gd name="connsiteX57" fmla="*/ 5845546 w 8334627"/>
              <a:gd name="connsiteY57" fmla="*/ 530016 h 4794329"/>
              <a:gd name="connsiteX58" fmla="*/ 6699364 w 8334627"/>
              <a:gd name="connsiteY58" fmla="*/ 347526 h 4794329"/>
              <a:gd name="connsiteX59" fmla="*/ 6848229 w 8334627"/>
              <a:gd name="connsiteY59" fmla="*/ 409188 h 4794329"/>
              <a:gd name="connsiteX60" fmla="*/ 6848229 w 8334627"/>
              <a:gd name="connsiteY60" fmla="*/ 706919 h 4794329"/>
              <a:gd name="connsiteX61" fmla="*/ 3773038 w 8334627"/>
              <a:gd name="connsiteY61" fmla="*/ 3782108 h 4794329"/>
              <a:gd name="connsiteX62" fmla="*/ 3475308 w 8334627"/>
              <a:gd name="connsiteY62" fmla="*/ 3782108 h 4794329"/>
              <a:gd name="connsiteX63" fmla="*/ 3475309 w 8334627"/>
              <a:gd name="connsiteY63" fmla="*/ 3782108 h 4794329"/>
              <a:gd name="connsiteX64" fmla="*/ 3475309 w 8334627"/>
              <a:gd name="connsiteY64" fmla="*/ 3484378 h 4794329"/>
              <a:gd name="connsiteX65" fmla="*/ 6550499 w 8334627"/>
              <a:gd name="connsiteY65" fmla="*/ 409188 h 4794329"/>
              <a:gd name="connsiteX66" fmla="*/ 6699364 w 8334627"/>
              <a:gd name="connsiteY66" fmla="*/ 347526 h 4794329"/>
              <a:gd name="connsiteX67" fmla="*/ 4224232 w 8334627"/>
              <a:gd name="connsiteY67" fmla="*/ 126303 h 4794329"/>
              <a:gd name="connsiteX68" fmla="*/ 4373097 w 8334627"/>
              <a:gd name="connsiteY68" fmla="*/ 187965 h 4794329"/>
              <a:gd name="connsiteX69" fmla="*/ 4373097 w 8334627"/>
              <a:gd name="connsiteY69" fmla="*/ 485695 h 4794329"/>
              <a:gd name="connsiteX70" fmla="*/ 3114379 w 8334627"/>
              <a:gd name="connsiteY70" fmla="*/ 1744412 h 4794329"/>
              <a:gd name="connsiteX71" fmla="*/ 2816648 w 8334627"/>
              <a:gd name="connsiteY71" fmla="*/ 1744412 h 4794329"/>
              <a:gd name="connsiteX72" fmla="*/ 2816650 w 8334627"/>
              <a:gd name="connsiteY72" fmla="*/ 1744412 h 4794329"/>
              <a:gd name="connsiteX73" fmla="*/ 2816650 w 8334627"/>
              <a:gd name="connsiteY73" fmla="*/ 1446682 h 4794329"/>
              <a:gd name="connsiteX74" fmla="*/ 4075367 w 8334627"/>
              <a:gd name="connsiteY74" fmla="*/ 187965 h 4794329"/>
              <a:gd name="connsiteX75" fmla="*/ 4224232 w 8334627"/>
              <a:gd name="connsiteY75" fmla="*/ 126303 h 4794329"/>
              <a:gd name="connsiteX76" fmla="*/ 5685290 w 8334627"/>
              <a:gd name="connsiteY76" fmla="*/ 18853 h 4794329"/>
              <a:gd name="connsiteX77" fmla="*/ 5834155 w 8334627"/>
              <a:gd name="connsiteY77" fmla="*/ 80515 h 4794329"/>
              <a:gd name="connsiteX78" fmla="*/ 5834155 w 8334627"/>
              <a:gd name="connsiteY78" fmla="*/ 378245 h 4794329"/>
              <a:gd name="connsiteX79" fmla="*/ 3112471 w 8334627"/>
              <a:gd name="connsiteY79" fmla="*/ 3099928 h 4794329"/>
              <a:gd name="connsiteX80" fmla="*/ 2814741 w 8334627"/>
              <a:gd name="connsiteY80" fmla="*/ 3099928 h 4794329"/>
              <a:gd name="connsiteX81" fmla="*/ 2814742 w 8334627"/>
              <a:gd name="connsiteY81" fmla="*/ 3099928 h 4794329"/>
              <a:gd name="connsiteX82" fmla="*/ 2814742 w 8334627"/>
              <a:gd name="connsiteY82" fmla="*/ 2802198 h 4794329"/>
              <a:gd name="connsiteX83" fmla="*/ 5536425 w 8334627"/>
              <a:gd name="connsiteY83" fmla="*/ 80515 h 4794329"/>
              <a:gd name="connsiteX84" fmla="*/ 5685290 w 8334627"/>
              <a:gd name="connsiteY84" fmla="*/ 18853 h 4794329"/>
              <a:gd name="connsiteX85" fmla="*/ 5025413 w 8334627"/>
              <a:gd name="connsiteY85" fmla="*/ 0 h 4794329"/>
              <a:gd name="connsiteX86" fmla="*/ 5174278 w 8334627"/>
              <a:gd name="connsiteY86" fmla="*/ 61662 h 4794329"/>
              <a:gd name="connsiteX87" fmla="*/ 5174278 w 8334627"/>
              <a:gd name="connsiteY87" fmla="*/ 359392 h 4794329"/>
              <a:gd name="connsiteX88" fmla="*/ 3192598 w 8334627"/>
              <a:gd name="connsiteY88" fmla="*/ 2341071 h 4794329"/>
              <a:gd name="connsiteX89" fmla="*/ 2894867 w 8334627"/>
              <a:gd name="connsiteY89" fmla="*/ 2341071 h 4794329"/>
              <a:gd name="connsiteX90" fmla="*/ 2894869 w 8334627"/>
              <a:gd name="connsiteY90" fmla="*/ 2341071 h 4794329"/>
              <a:gd name="connsiteX91" fmla="*/ 2894869 w 8334627"/>
              <a:gd name="connsiteY91" fmla="*/ 2043341 h 4794329"/>
              <a:gd name="connsiteX92" fmla="*/ 4876548 w 8334627"/>
              <a:gd name="connsiteY92" fmla="*/ 61662 h 4794329"/>
              <a:gd name="connsiteX93" fmla="*/ 5025413 w 8334627"/>
              <a:gd name="connsiteY93" fmla="*/ 0 h 4794329"/>
              <a:gd name="connsiteX0" fmla="*/ 7187484 w 8328384"/>
              <a:gd name="connsiteY0" fmla="*/ 3202389 h 4794329"/>
              <a:gd name="connsiteX1" fmla="*/ 7336349 w 8328384"/>
              <a:gd name="connsiteY1" fmla="*/ 3264051 h 4794329"/>
              <a:gd name="connsiteX2" fmla="*/ 7336349 w 8328384"/>
              <a:gd name="connsiteY2" fmla="*/ 3561781 h 4794329"/>
              <a:gd name="connsiteX3" fmla="*/ 6675910 w 8328384"/>
              <a:gd name="connsiteY3" fmla="*/ 4222219 h 4794329"/>
              <a:gd name="connsiteX4" fmla="*/ 6378180 w 8328384"/>
              <a:gd name="connsiteY4" fmla="*/ 4222219 h 4794329"/>
              <a:gd name="connsiteX5" fmla="*/ 6378181 w 8328384"/>
              <a:gd name="connsiteY5" fmla="*/ 4222219 h 4794329"/>
              <a:gd name="connsiteX6" fmla="*/ 6378181 w 8328384"/>
              <a:gd name="connsiteY6" fmla="*/ 3924488 h 4794329"/>
              <a:gd name="connsiteX7" fmla="*/ 7038619 w 8328384"/>
              <a:gd name="connsiteY7" fmla="*/ 3264051 h 4794329"/>
              <a:gd name="connsiteX8" fmla="*/ 7187484 w 8328384"/>
              <a:gd name="connsiteY8" fmla="*/ 3202389 h 4794329"/>
              <a:gd name="connsiteX9" fmla="*/ 7154253 w 8328384"/>
              <a:gd name="connsiteY9" fmla="*/ 1896653 h 4794329"/>
              <a:gd name="connsiteX10" fmla="*/ 7303118 w 8328384"/>
              <a:gd name="connsiteY10" fmla="*/ 1958315 h 4794329"/>
              <a:gd name="connsiteX11" fmla="*/ 7303118 w 8328384"/>
              <a:gd name="connsiteY11" fmla="*/ 2256046 h 4794329"/>
              <a:gd name="connsiteX12" fmla="*/ 4826495 w 8328384"/>
              <a:gd name="connsiteY12" fmla="*/ 4732667 h 4794329"/>
              <a:gd name="connsiteX13" fmla="*/ 4528765 w 8328384"/>
              <a:gd name="connsiteY13" fmla="*/ 4732667 h 4794329"/>
              <a:gd name="connsiteX14" fmla="*/ 4528767 w 8328384"/>
              <a:gd name="connsiteY14" fmla="*/ 4732667 h 4794329"/>
              <a:gd name="connsiteX15" fmla="*/ 4528767 w 8328384"/>
              <a:gd name="connsiteY15" fmla="*/ 4434937 h 4794329"/>
              <a:gd name="connsiteX16" fmla="*/ 7005388 w 8328384"/>
              <a:gd name="connsiteY16" fmla="*/ 1958315 h 4794329"/>
              <a:gd name="connsiteX17" fmla="*/ 7154253 w 8328384"/>
              <a:gd name="connsiteY17" fmla="*/ 1896653 h 4794329"/>
              <a:gd name="connsiteX18" fmla="*/ 8117857 w 8328384"/>
              <a:gd name="connsiteY18" fmla="*/ 1606041 h 4794329"/>
              <a:gd name="connsiteX19" fmla="*/ 8266722 w 8328384"/>
              <a:gd name="connsiteY19" fmla="*/ 1667703 h 4794329"/>
              <a:gd name="connsiteX20" fmla="*/ 8266722 w 8328384"/>
              <a:gd name="connsiteY20" fmla="*/ 1965433 h 4794329"/>
              <a:gd name="connsiteX21" fmla="*/ 6381647 w 8328384"/>
              <a:gd name="connsiteY21" fmla="*/ 3850507 h 4794329"/>
              <a:gd name="connsiteX22" fmla="*/ 6083917 w 8328384"/>
              <a:gd name="connsiteY22" fmla="*/ 3850507 h 4794329"/>
              <a:gd name="connsiteX23" fmla="*/ 6083918 w 8328384"/>
              <a:gd name="connsiteY23" fmla="*/ 3850507 h 4794329"/>
              <a:gd name="connsiteX24" fmla="*/ 6083918 w 8328384"/>
              <a:gd name="connsiteY24" fmla="*/ 3552777 h 4794329"/>
              <a:gd name="connsiteX25" fmla="*/ 7968992 w 8328384"/>
              <a:gd name="connsiteY25" fmla="*/ 1667703 h 4794329"/>
              <a:gd name="connsiteX26" fmla="*/ 8117857 w 8328384"/>
              <a:gd name="connsiteY26" fmla="*/ 1606041 h 4794329"/>
              <a:gd name="connsiteX27" fmla="*/ 0 w 8328384"/>
              <a:gd name="connsiteY27" fmla="*/ 1576410 h 4794329"/>
              <a:gd name="connsiteX28" fmla="*/ 677527 w 8328384"/>
              <a:gd name="connsiteY28" fmla="*/ 2253937 h 4794329"/>
              <a:gd name="connsiteX29" fmla="*/ 0 w 8328384"/>
              <a:gd name="connsiteY29" fmla="*/ 1576410 h 4794329"/>
              <a:gd name="connsiteX30" fmla="*/ 7665818 w 8328384"/>
              <a:gd name="connsiteY30" fmla="*/ 717042 h 4794329"/>
              <a:gd name="connsiteX31" fmla="*/ 7814683 w 8328384"/>
              <a:gd name="connsiteY31" fmla="*/ 778704 h 4794329"/>
              <a:gd name="connsiteX32" fmla="*/ 7814683 w 8328384"/>
              <a:gd name="connsiteY32" fmla="*/ 1076435 h 4794329"/>
              <a:gd name="connsiteX33" fmla="*/ 4739492 w 8328384"/>
              <a:gd name="connsiteY33" fmla="*/ 4151624 h 4794329"/>
              <a:gd name="connsiteX34" fmla="*/ 4441762 w 8328384"/>
              <a:gd name="connsiteY34" fmla="*/ 4151624 h 4794329"/>
              <a:gd name="connsiteX35" fmla="*/ 4441763 w 8328384"/>
              <a:gd name="connsiteY35" fmla="*/ 4151624 h 4794329"/>
              <a:gd name="connsiteX36" fmla="*/ 4441763 w 8328384"/>
              <a:gd name="connsiteY36" fmla="*/ 3853894 h 4794329"/>
              <a:gd name="connsiteX37" fmla="*/ 7516953 w 8328384"/>
              <a:gd name="connsiteY37" fmla="*/ 778704 h 4794329"/>
              <a:gd name="connsiteX38" fmla="*/ 7665818 w 8328384"/>
              <a:gd name="connsiteY38" fmla="*/ 717042 h 4794329"/>
              <a:gd name="connsiteX39" fmla="*/ 7109580 w 8328384"/>
              <a:gd name="connsiteY39" fmla="*/ 598413 h 4794329"/>
              <a:gd name="connsiteX40" fmla="*/ 7258445 w 8328384"/>
              <a:gd name="connsiteY40" fmla="*/ 660075 h 4794329"/>
              <a:gd name="connsiteX41" fmla="*/ 7258445 w 8328384"/>
              <a:gd name="connsiteY41" fmla="*/ 957805 h 4794329"/>
              <a:gd name="connsiteX42" fmla="*/ 3512618 w 8328384"/>
              <a:gd name="connsiteY42" fmla="*/ 4703631 h 4794329"/>
              <a:gd name="connsiteX43" fmla="*/ 3214888 w 8328384"/>
              <a:gd name="connsiteY43" fmla="*/ 4703631 h 4794329"/>
              <a:gd name="connsiteX44" fmla="*/ 3214889 w 8328384"/>
              <a:gd name="connsiteY44" fmla="*/ 4703631 h 4794329"/>
              <a:gd name="connsiteX45" fmla="*/ 3214889 w 8328384"/>
              <a:gd name="connsiteY45" fmla="*/ 4405901 h 4794329"/>
              <a:gd name="connsiteX46" fmla="*/ 6960715 w 8328384"/>
              <a:gd name="connsiteY46" fmla="*/ 660075 h 4794329"/>
              <a:gd name="connsiteX47" fmla="*/ 7109580 w 8328384"/>
              <a:gd name="connsiteY47" fmla="*/ 598413 h 4794329"/>
              <a:gd name="connsiteX48" fmla="*/ 5839303 w 8328384"/>
              <a:gd name="connsiteY48" fmla="*/ 530016 h 4794329"/>
              <a:gd name="connsiteX49" fmla="*/ 5988168 w 8328384"/>
              <a:gd name="connsiteY49" fmla="*/ 591677 h 4794329"/>
              <a:gd name="connsiteX50" fmla="*/ 5988168 w 8328384"/>
              <a:gd name="connsiteY50" fmla="*/ 889408 h 4794329"/>
              <a:gd name="connsiteX51" fmla="*/ 2912977 w 8328384"/>
              <a:gd name="connsiteY51" fmla="*/ 3964597 h 4794329"/>
              <a:gd name="connsiteX52" fmla="*/ 2615248 w 8328384"/>
              <a:gd name="connsiteY52" fmla="*/ 3964597 h 4794329"/>
              <a:gd name="connsiteX53" fmla="*/ 2615249 w 8328384"/>
              <a:gd name="connsiteY53" fmla="*/ 3964597 h 4794329"/>
              <a:gd name="connsiteX54" fmla="*/ 2615249 w 8328384"/>
              <a:gd name="connsiteY54" fmla="*/ 3666867 h 4794329"/>
              <a:gd name="connsiteX55" fmla="*/ 5690438 w 8328384"/>
              <a:gd name="connsiteY55" fmla="*/ 591677 h 4794329"/>
              <a:gd name="connsiteX56" fmla="*/ 5839303 w 8328384"/>
              <a:gd name="connsiteY56" fmla="*/ 530016 h 4794329"/>
              <a:gd name="connsiteX57" fmla="*/ 6693121 w 8328384"/>
              <a:gd name="connsiteY57" fmla="*/ 347526 h 4794329"/>
              <a:gd name="connsiteX58" fmla="*/ 6841986 w 8328384"/>
              <a:gd name="connsiteY58" fmla="*/ 409188 h 4794329"/>
              <a:gd name="connsiteX59" fmla="*/ 6841986 w 8328384"/>
              <a:gd name="connsiteY59" fmla="*/ 706919 h 4794329"/>
              <a:gd name="connsiteX60" fmla="*/ 3766795 w 8328384"/>
              <a:gd name="connsiteY60" fmla="*/ 3782108 h 4794329"/>
              <a:gd name="connsiteX61" fmla="*/ 3469065 w 8328384"/>
              <a:gd name="connsiteY61" fmla="*/ 3782108 h 4794329"/>
              <a:gd name="connsiteX62" fmla="*/ 3469066 w 8328384"/>
              <a:gd name="connsiteY62" fmla="*/ 3782108 h 4794329"/>
              <a:gd name="connsiteX63" fmla="*/ 3469066 w 8328384"/>
              <a:gd name="connsiteY63" fmla="*/ 3484378 h 4794329"/>
              <a:gd name="connsiteX64" fmla="*/ 6544256 w 8328384"/>
              <a:gd name="connsiteY64" fmla="*/ 409188 h 4794329"/>
              <a:gd name="connsiteX65" fmla="*/ 6693121 w 8328384"/>
              <a:gd name="connsiteY65" fmla="*/ 347526 h 4794329"/>
              <a:gd name="connsiteX66" fmla="*/ 4217989 w 8328384"/>
              <a:gd name="connsiteY66" fmla="*/ 126303 h 4794329"/>
              <a:gd name="connsiteX67" fmla="*/ 4366854 w 8328384"/>
              <a:gd name="connsiteY67" fmla="*/ 187965 h 4794329"/>
              <a:gd name="connsiteX68" fmla="*/ 4366854 w 8328384"/>
              <a:gd name="connsiteY68" fmla="*/ 485695 h 4794329"/>
              <a:gd name="connsiteX69" fmla="*/ 3108136 w 8328384"/>
              <a:gd name="connsiteY69" fmla="*/ 1744412 h 4794329"/>
              <a:gd name="connsiteX70" fmla="*/ 2810405 w 8328384"/>
              <a:gd name="connsiteY70" fmla="*/ 1744412 h 4794329"/>
              <a:gd name="connsiteX71" fmla="*/ 2810407 w 8328384"/>
              <a:gd name="connsiteY71" fmla="*/ 1744412 h 4794329"/>
              <a:gd name="connsiteX72" fmla="*/ 2810407 w 8328384"/>
              <a:gd name="connsiteY72" fmla="*/ 1446682 h 4794329"/>
              <a:gd name="connsiteX73" fmla="*/ 4069124 w 8328384"/>
              <a:gd name="connsiteY73" fmla="*/ 187965 h 4794329"/>
              <a:gd name="connsiteX74" fmla="*/ 4217989 w 8328384"/>
              <a:gd name="connsiteY74" fmla="*/ 126303 h 4794329"/>
              <a:gd name="connsiteX75" fmla="*/ 5679047 w 8328384"/>
              <a:gd name="connsiteY75" fmla="*/ 18853 h 4794329"/>
              <a:gd name="connsiteX76" fmla="*/ 5827912 w 8328384"/>
              <a:gd name="connsiteY76" fmla="*/ 80515 h 4794329"/>
              <a:gd name="connsiteX77" fmla="*/ 5827912 w 8328384"/>
              <a:gd name="connsiteY77" fmla="*/ 378245 h 4794329"/>
              <a:gd name="connsiteX78" fmla="*/ 3106228 w 8328384"/>
              <a:gd name="connsiteY78" fmla="*/ 3099928 h 4794329"/>
              <a:gd name="connsiteX79" fmla="*/ 2808498 w 8328384"/>
              <a:gd name="connsiteY79" fmla="*/ 3099928 h 4794329"/>
              <a:gd name="connsiteX80" fmla="*/ 2808499 w 8328384"/>
              <a:gd name="connsiteY80" fmla="*/ 3099928 h 4794329"/>
              <a:gd name="connsiteX81" fmla="*/ 2808499 w 8328384"/>
              <a:gd name="connsiteY81" fmla="*/ 2802198 h 4794329"/>
              <a:gd name="connsiteX82" fmla="*/ 5530182 w 8328384"/>
              <a:gd name="connsiteY82" fmla="*/ 80515 h 4794329"/>
              <a:gd name="connsiteX83" fmla="*/ 5679047 w 8328384"/>
              <a:gd name="connsiteY83" fmla="*/ 18853 h 4794329"/>
              <a:gd name="connsiteX84" fmla="*/ 5019170 w 8328384"/>
              <a:gd name="connsiteY84" fmla="*/ 0 h 4794329"/>
              <a:gd name="connsiteX85" fmla="*/ 5168035 w 8328384"/>
              <a:gd name="connsiteY85" fmla="*/ 61662 h 4794329"/>
              <a:gd name="connsiteX86" fmla="*/ 5168035 w 8328384"/>
              <a:gd name="connsiteY86" fmla="*/ 359392 h 4794329"/>
              <a:gd name="connsiteX87" fmla="*/ 3186355 w 8328384"/>
              <a:gd name="connsiteY87" fmla="*/ 2341071 h 4794329"/>
              <a:gd name="connsiteX88" fmla="*/ 2888624 w 8328384"/>
              <a:gd name="connsiteY88" fmla="*/ 2341071 h 4794329"/>
              <a:gd name="connsiteX89" fmla="*/ 2888626 w 8328384"/>
              <a:gd name="connsiteY89" fmla="*/ 2341071 h 4794329"/>
              <a:gd name="connsiteX90" fmla="*/ 2888626 w 8328384"/>
              <a:gd name="connsiteY90" fmla="*/ 2043341 h 4794329"/>
              <a:gd name="connsiteX91" fmla="*/ 4870305 w 8328384"/>
              <a:gd name="connsiteY91" fmla="*/ 61662 h 4794329"/>
              <a:gd name="connsiteX92" fmla="*/ 5019170 w 8328384"/>
              <a:gd name="connsiteY92" fmla="*/ 0 h 4794329"/>
              <a:gd name="connsiteX0" fmla="*/ 4633897 w 5774797"/>
              <a:gd name="connsiteY0" fmla="*/ 3202389 h 4794329"/>
              <a:gd name="connsiteX1" fmla="*/ 4782762 w 5774797"/>
              <a:gd name="connsiteY1" fmla="*/ 3264051 h 4794329"/>
              <a:gd name="connsiteX2" fmla="*/ 4782762 w 5774797"/>
              <a:gd name="connsiteY2" fmla="*/ 3561781 h 4794329"/>
              <a:gd name="connsiteX3" fmla="*/ 4122323 w 5774797"/>
              <a:gd name="connsiteY3" fmla="*/ 4222219 h 4794329"/>
              <a:gd name="connsiteX4" fmla="*/ 3824593 w 5774797"/>
              <a:gd name="connsiteY4" fmla="*/ 4222219 h 4794329"/>
              <a:gd name="connsiteX5" fmla="*/ 3824594 w 5774797"/>
              <a:gd name="connsiteY5" fmla="*/ 4222219 h 4794329"/>
              <a:gd name="connsiteX6" fmla="*/ 3824594 w 5774797"/>
              <a:gd name="connsiteY6" fmla="*/ 3924488 h 4794329"/>
              <a:gd name="connsiteX7" fmla="*/ 4485032 w 5774797"/>
              <a:gd name="connsiteY7" fmla="*/ 3264051 h 4794329"/>
              <a:gd name="connsiteX8" fmla="*/ 4633897 w 5774797"/>
              <a:gd name="connsiteY8" fmla="*/ 3202389 h 4794329"/>
              <a:gd name="connsiteX9" fmla="*/ 4600666 w 5774797"/>
              <a:gd name="connsiteY9" fmla="*/ 1896653 h 4794329"/>
              <a:gd name="connsiteX10" fmla="*/ 4749531 w 5774797"/>
              <a:gd name="connsiteY10" fmla="*/ 1958315 h 4794329"/>
              <a:gd name="connsiteX11" fmla="*/ 4749531 w 5774797"/>
              <a:gd name="connsiteY11" fmla="*/ 2256046 h 4794329"/>
              <a:gd name="connsiteX12" fmla="*/ 2272908 w 5774797"/>
              <a:gd name="connsiteY12" fmla="*/ 4732667 h 4794329"/>
              <a:gd name="connsiteX13" fmla="*/ 1975178 w 5774797"/>
              <a:gd name="connsiteY13" fmla="*/ 4732667 h 4794329"/>
              <a:gd name="connsiteX14" fmla="*/ 1975180 w 5774797"/>
              <a:gd name="connsiteY14" fmla="*/ 4732667 h 4794329"/>
              <a:gd name="connsiteX15" fmla="*/ 1975180 w 5774797"/>
              <a:gd name="connsiteY15" fmla="*/ 4434937 h 4794329"/>
              <a:gd name="connsiteX16" fmla="*/ 4451801 w 5774797"/>
              <a:gd name="connsiteY16" fmla="*/ 1958315 h 4794329"/>
              <a:gd name="connsiteX17" fmla="*/ 4600666 w 5774797"/>
              <a:gd name="connsiteY17" fmla="*/ 1896653 h 4794329"/>
              <a:gd name="connsiteX18" fmla="*/ 5564270 w 5774797"/>
              <a:gd name="connsiteY18" fmla="*/ 1606041 h 4794329"/>
              <a:gd name="connsiteX19" fmla="*/ 5713135 w 5774797"/>
              <a:gd name="connsiteY19" fmla="*/ 1667703 h 4794329"/>
              <a:gd name="connsiteX20" fmla="*/ 5713135 w 5774797"/>
              <a:gd name="connsiteY20" fmla="*/ 1965433 h 4794329"/>
              <a:gd name="connsiteX21" fmla="*/ 3828060 w 5774797"/>
              <a:gd name="connsiteY21" fmla="*/ 3850507 h 4794329"/>
              <a:gd name="connsiteX22" fmla="*/ 3530330 w 5774797"/>
              <a:gd name="connsiteY22" fmla="*/ 3850507 h 4794329"/>
              <a:gd name="connsiteX23" fmla="*/ 3530331 w 5774797"/>
              <a:gd name="connsiteY23" fmla="*/ 3850507 h 4794329"/>
              <a:gd name="connsiteX24" fmla="*/ 3530331 w 5774797"/>
              <a:gd name="connsiteY24" fmla="*/ 3552777 h 4794329"/>
              <a:gd name="connsiteX25" fmla="*/ 5415405 w 5774797"/>
              <a:gd name="connsiteY25" fmla="*/ 1667703 h 4794329"/>
              <a:gd name="connsiteX26" fmla="*/ 5564270 w 5774797"/>
              <a:gd name="connsiteY26" fmla="*/ 1606041 h 4794329"/>
              <a:gd name="connsiteX27" fmla="*/ 5112231 w 5774797"/>
              <a:gd name="connsiteY27" fmla="*/ 717042 h 4794329"/>
              <a:gd name="connsiteX28" fmla="*/ 5261096 w 5774797"/>
              <a:gd name="connsiteY28" fmla="*/ 778704 h 4794329"/>
              <a:gd name="connsiteX29" fmla="*/ 5261096 w 5774797"/>
              <a:gd name="connsiteY29" fmla="*/ 1076435 h 4794329"/>
              <a:gd name="connsiteX30" fmla="*/ 2185905 w 5774797"/>
              <a:gd name="connsiteY30" fmla="*/ 4151624 h 4794329"/>
              <a:gd name="connsiteX31" fmla="*/ 1888175 w 5774797"/>
              <a:gd name="connsiteY31" fmla="*/ 4151624 h 4794329"/>
              <a:gd name="connsiteX32" fmla="*/ 1888176 w 5774797"/>
              <a:gd name="connsiteY32" fmla="*/ 4151624 h 4794329"/>
              <a:gd name="connsiteX33" fmla="*/ 1888176 w 5774797"/>
              <a:gd name="connsiteY33" fmla="*/ 3853894 h 4794329"/>
              <a:gd name="connsiteX34" fmla="*/ 4963366 w 5774797"/>
              <a:gd name="connsiteY34" fmla="*/ 778704 h 4794329"/>
              <a:gd name="connsiteX35" fmla="*/ 5112231 w 5774797"/>
              <a:gd name="connsiteY35" fmla="*/ 717042 h 4794329"/>
              <a:gd name="connsiteX36" fmla="*/ 4555993 w 5774797"/>
              <a:gd name="connsiteY36" fmla="*/ 598413 h 4794329"/>
              <a:gd name="connsiteX37" fmla="*/ 4704858 w 5774797"/>
              <a:gd name="connsiteY37" fmla="*/ 660075 h 4794329"/>
              <a:gd name="connsiteX38" fmla="*/ 4704858 w 5774797"/>
              <a:gd name="connsiteY38" fmla="*/ 957805 h 4794329"/>
              <a:gd name="connsiteX39" fmla="*/ 959031 w 5774797"/>
              <a:gd name="connsiteY39" fmla="*/ 4703631 h 4794329"/>
              <a:gd name="connsiteX40" fmla="*/ 661301 w 5774797"/>
              <a:gd name="connsiteY40" fmla="*/ 4703631 h 4794329"/>
              <a:gd name="connsiteX41" fmla="*/ 661302 w 5774797"/>
              <a:gd name="connsiteY41" fmla="*/ 4703631 h 4794329"/>
              <a:gd name="connsiteX42" fmla="*/ 661302 w 5774797"/>
              <a:gd name="connsiteY42" fmla="*/ 4405901 h 4794329"/>
              <a:gd name="connsiteX43" fmla="*/ 4407128 w 5774797"/>
              <a:gd name="connsiteY43" fmla="*/ 660075 h 4794329"/>
              <a:gd name="connsiteX44" fmla="*/ 4555993 w 5774797"/>
              <a:gd name="connsiteY44" fmla="*/ 598413 h 4794329"/>
              <a:gd name="connsiteX45" fmla="*/ 3285716 w 5774797"/>
              <a:gd name="connsiteY45" fmla="*/ 530016 h 4794329"/>
              <a:gd name="connsiteX46" fmla="*/ 3434581 w 5774797"/>
              <a:gd name="connsiteY46" fmla="*/ 591677 h 4794329"/>
              <a:gd name="connsiteX47" fmla="*/ 3434581 w 5774797"/>
              <a:gd name="connsiteY47" fmla="*/ 889408 h 4794329"/>
              <a:gd name="connsiteX48" fmla="*/ 359390 w 5774797"/>
              <a:gd name="connsiteY48" fmla="*/ 3964597 h 4794329"/>
              <a:gd name="connsiteX49" fmla="*/ 61661 w 5774797"/>
              <a:gd name="connsiteY49" fmla="*/ 3964597 h 4794329"/>
              <a:gd name="connsiteX50" fmla="*/ 61662 w 5774797"/>
              <a:gd name="connsiteY50" fmla="*/ 3964597 h 4794329"/>
              <a:gd name="connsiteX51" fmla="*/ 61662 w 5774797"/>
              <a:gd name="connsiteY51" fmla="*/ 3666867 h 4794329"/>
              <a:gd name="connsiteX52" fmla="*/ 3136851 w 5774797"/>
              <a:gd name="connsiteY52" fmla="*/ 591677 h 4794329"/>
              <a:gd name="connsiteX53" fmla="*/ 3285716 w 5774797"/>
              <a:gd name="connsiteY53" fmla="*/ 530016 h 4794329"/>
              <a:gd name="connsiteX54" fmla="*/ 4139534 w 5774797"/>
              <a:gd name="connsiteY54" fmla="*/ 347526 h 4794329"/>
              <a:gd name="connsiteX55" fmla="*/ 4288399 w 5774797"/>
              <a:gd name="connsiteY55" fmla="*/ 409188 h 4794329"/>
              <a:gd name="connsiteX56" fmla="*/ 4288399 w 5774797"/>
              <a:gd name="connsiteY56" fmla="*/ 706919 h 4794329"/>
              <a:gd name="connsiteX57" fmla="*/ 1213208 w 5774797"/>
              <a:gd name="connsiteY57" fmla="*/ 3782108 h 4794329"/>
              <a:gd name="connsiteX58" fmla="*/ 915478 w 5774797"/>
              <a:gd name="connsiteY58" fmla="*/ 3782108 h 4794329"/>
              <a:gd name="connsiteX59" fmla="*/ 915479 w 5774797"/>
              <a:gd name="connsiteY59" fmla="*/ 3782108 h 4794329"/>
              <a:gd name="connsiteX60" fmla="*/ 915479 w 5774797"/>
              <a:gd name="connsiteY60" fmla="*/ 3484378 h 4794329"/>
              <a:gd name="connsiteX61" fmla="*/ 3990669 w 5774797"/>
              <a:gd name="connsiteY61" fmla="*/ 409188 h 4794329"/>
              <a:gd name="connsiteX62" fmla="*/ 4139534 w 5774797"/>
              <a:gd name="connsiteY62" fmla="*/ 347526 h 4794329"/>
              <a:gd name="connsiteX63" fmla="*/ 1664402 w 5774797"/>
              <a:gd name="connsiteY63" fmla="*/ 126303 h 4794329"/>
              <a:gd name="connsiteX64" fmla="*/ 1813267 w 5774797"/>
              <a:gd name="connsiteY64" fmla="*/ 187965 h 4794329"/>
              <a:gd name="connsiteX65" fmla="*/ 1813267 w 5774797"/>
              <a:gd name="connsiteY65" fmla="*/ 485695 h 4794329"/>
              <a:gd name="connsiteX66" fmla="*/ 554549 w 5774797"/>
              <a:gd name="connsiteY66" fmla="*/ 1744412 h 4794329"/>
              <a:gd name="connsiteX67" fmla="*/ 256818 w 5774797"/>
              <a:gd name="connsiteY67" fmla="*/ 1744412 h 4794329"/>
              <a:gd name="connsiteX68" fmla="*/ 256820 w 5774797"/>
              <a:gd name="connsiteY68" fmla="*/ 1744412 h 4794329"/>
              <a:gd name="connsiteX69" fmla="*/ 256820 w 5774797"/>
              <a:gd name="connsiteY69" fmla="*/ 1446682 h 4794329"/>
              <a:gd name="connsiteX70" fmla="*/ 1515537 w 5774797"/>
              <a:gd name="connsiteY70" fmla="*/ 187965 h 4794329"/>
              <a:gd name="connsiteX71" fmla="*/ 1664402 w 5774797"/>
              <a:gd name="connsiteY71" fmla="*/ 126303 h 4794329"/>
              <a:gd name="connsiteX72" fmla="*/ 3125460 w 5774797"/>
              <a:gd name="connsiteY72" fmla="*/ 18853 h 4794329"/>
              <a:gd name="connsiteX73" fmla="*/ 3274325 w 5774797"/>
              <a:gd name="connsiteY73" fmla="*/ 80515 h 4794329"/>
              <a:gd name="connsiteX74" fmla="*/ 3274325 w 5774797"/>
              <a:gd name="connsiteY74" fmla="*/ 378245 h 4794329"/>
              <a:gd name="connsiteX75" fmla="*/ 552641 w 5774797"/>
              <a:gd name="connsiteY75" fmla="*/ 3099928 h 4794329"/>
              <a:gd name="connsiteX76" fmla="*/ 254911 w 5774797"/>
              <a:gd name="connsiteY76" fmla="*/ 3099928 h 4794329"/>
              <a:gd name="connsiteX77" fmla="*/ 254912 w 5774797"/>
              <a:gd name="connsiteY77" fmla="*/ 3099928 h 4794329"/>
              <a:gd name="connsiteX78" fmla="*/ 254912 w 5774797"/>
              <a:gd name="connsiteY78" fmla="*/ 2802198 h 4794329"/>
              <a:gd name="connsiteX79" fmla="*/ 2976595 w 5774797"/>
              <a:gd name="connsiteY79" fmla="*/ 80515 h 4794329"/>
              <a:gd name="connsiteX80" fmla="*/ 3125460 w 5774797"/>
              <a:gd name="connsiteY80" fmla="*/ 18853 h 4794329"/>
              <a:gd name="connsiteX81" fmla="*/ 2465583 w 5774797"/>
              <a:gd name="connsiteY81" fmla="*/ 0 h 4794329"/>
              <a:gd name="connsiteX82" fmla="*/ 2614448 w 5774797"/>
              <a:gd name="connsiteY82" fmla="*/ 61662 h 4794329"/>
              <a:gd name="connsiteX83" fmla="*/ 2614448 w 5774797"/>
              <a:gd name="connsiteY83" fmla="*/ 359392 h 4794329"/>
              <a:gd name="connsiteX84" fmla="*/ 632768 w 5774797"/>
              <a:gd name="connsiteY84" fmla="*/ 2341071 h 4794329"/>
              <a:gd name="connsiteX85" fmla="*/ 335037 w 5774797"/>
              <a:gd name="connsiteY85" fmla="*/ 2341071 h 4794329"/>
              <a:gd name="connsiteX86" fmla="*/ 335039 w 5774797"/>
              <a:gd name="connsiteY86" fmla="*/ 2341071 h 4794329"/>
              <a:gd name="connsiteX87" fmla="*/ 335039 w 5774797"/>
              <a:gd name="connsiteY87" fmla="*/ 2043341 h 4794329"/>
              <a:gd name="connsiteX88" fmla="*/ 2316718 w 5774797"/>
              <a:gd name="connsiteY88" fmla="*/ 61662 h 4794329"/>
              <a:gd name="connsiteX89" fmla="*/ 2465583 w 5774797"/>
              <a:gd name="connsiteY89" fmla="*/ 0 h 4794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5774797" h="4794329">
                <a:moveTo>
                  <a:pt x="4633897" y="3202389"/>
                </a:moveTo>
                <a:cubicBezTo>
                  <a:pt x="4687776" y="3202389"/>
                  <a:pt x="4741654" y="3222943"/>
                  <a:pt x="4782762" y="3264051"/>
                </a:cubicBezTo>
                <a:cubicBezTo>
                  <a:pt x="4864978" y="3346267"/>
                  <a:pt x="4864978" y="3479565"/>
                  <a:pt x="4782762" y="3561781"/>
                </a:cubicBezTo>
                <a:lnTo>
                  <a:pt x="4122323" y="4222219"/>
                </a:lnTo>
                <a:cubicBezTo>
                  <a:pt x="4040107" y="4304435"/>
                  <a:pt x="3906809" y="4304435"/>
                  <a:pt x="3824593" y="4222219"/>
                </a:cubicBezTo>
                <a:lnTo>
                  <a:pt x="3824594" y="4222219"/>
                </a:lnTo>
                <a:cubicBezTo>
                  <a:pt x="3742378" y="4140003"/>
                  <a:pt x="3742378" y="4006704"/>
                  <a:pt x="3824594" y="3924488"/>
                </a:cubicBezTo>
                <a:lnTo>
                  <a:pt x="4485032" y="3264051"/>
                </a:lnTo>
                <a:cubicBezTo>
                  <a:pt x="4526140" y="3222943"/>
                  <a:pt x="4580018" y="3202389"/>
                  <a:pt x="4633897" y="3202389"/>
                </a:cubicBezTo>
                <a:close/>
                <a:moveTo>
                  <a:pt x="4600666" y="1896653"/>
                </a:moveTo>
                <a:cubicBezTo>
                  <a:pt x="4654544" y="1896653"/>
                  <a:pt x="4708423" y="1917207"/>
                  <a:pt x="4749531" y="1958315"/>
                </a:cubicBezTo>
                <a:cubicBezTo>
                  <a:pt x="4831747" y="2040531"/>
                  <a:pt x="4831747" y="2173830"/>
                  <a:pt x="4749531" y="2256046"/>
                </a:cubicBezTo>
                <a:lnTo>
                  <a:pt x="2272908" y="4732667"/>
                </a:lnTo>
                <a:cubicBezTo>
                  <a:pt x="2190692" y="4814883"/>
                  <a:pt x="2057394" y="4814883"/>
                  <a:pt x="1975178" y="4732667"/>
                </a:cubicBezTo>
                <a:lnTo>
                  <a:pt x="1975180" y="4732667"/>
                </a:lnTo>
                <a:cubicBezTo>
                  <a:pt x="1892964" y="4650451"/>
                  <a:pt x="1892964" y="4517153"/>
                  <a:pt x="1975180" y="4434937"/>
                </a:cubicBezTo>
                <a:lnTo>
                  <a:pt x="4451801" y="1958315"/>
                </a:lnTo>
                <a:cubicBezTo>
                  <a:pt x="4492909" y="1917207"/>
                  <a:pt x="4546787" y="1896653"/>
                  <a:pt x="4600666" y="1896653"/>
                </a:cubicBezTo>
                <a:close/>
                <a:moveTo>
                  <a:pt x="5564270" y="1606041"/>
                </a:moveTo>
                <a:cubicBezTo>
                  <a:pt x="5618148" y="1606041"/>
                  <a:pt x="5672027" y="1626595"/>
                  <a:pt x="5713135" y="1667703"/>
                </a:cubicBezTo>
                <a:cubicBezTo>
                  <a:pt x="5795351" y="1749919"/>
                  <a:pt x="5795351" y="1883217"/>
                  <a:pt x="5713135" y="1965433"/>
                </a:cubicBezTo>
                <a:lnTo>
                  <a:pt x="3828060" y="3850507"/>
                </a:lnTo>
                <a:cubicBezTo>
                  <a:pt x="3745844" y="3932723"/>
                  <a:pt x="3612546" y="3932723"/>
                  <a:pt x="3530330" y="3850507"/>
                </a:cubicBezTo>
                <a:lnTo>
                  <a:pt x="3530331" y="3850507"/>
                </a:lnTo>
                <a:cubicBezTo>
                  <a:pt x="3448115" y="3768291"/>
                  <a:pt x="3448115" y="3634993"/>
                  <a:pt x="3530331" y="3552777"/>
                </a:cubicBezTo>
                <a:lnTo>
                  <a:pt x="5415405" y="1667703"/>
                </a:lnTo>
                <a:cubicBezTo>
                  <a:pt x="5456513" y="1626595"/>
                  <a:pt x="5510391" y="1606041"/>
                  <a:pt x="5564270" y="1606041"/>
                </a:cubicBezTo>
                <a:close/>
                <a:moveTo>
                  <a:pt x="5112231" y="717042"/>
                </a:moveTo>
                <a:cubicBezTo>
                  <a:pt x="5166109" y="717042"/>
                  <a:pt x="5219988" y="737596"/>
                  <a:pt x="5261096" y="778704"/>
                </a:cubicBezTo>
                <a:cubicBezTo>
                  <a:pt x="5343312" y="860920"/>
                  <a:pt x="5343312" y="994218"/>
                  <a:pt x="5261096" y="1076435"/>
                </a:cubicBezTo>
                <a:lnTo>
                  <a:pt x="2185905" y="4151624"/>
                </a:lnTo>
                <a:cubicBezTo>
                  <a:pt x="2103689" y="4233840"/>
                  <a:pt x="1970391" y="4233840"/>
                  <a:pt x="1888175" y="4151624"/>
                </a:cubicBezTo>
                <a:lnTo>
                  <a:pt x="1888176" y="4151624"/>
                </a:lnTo>
                <a:cubicBezTo>
                  <a:pt x="1805960" y="4069408"/>
                  <a:pt x="1805960" y="3936110"/>
                  <a:pt x="1888176" y="3853894"/>
                </a:cubicBezTo>
                <a:lnTo>
                  <a:pt x="4963366" y="778704"/>
                </a:lnTo>
                <a:cubicBezTo>
                  <a:pt x="5004474" y="737596"/>
                  <a:pt x="5058352" y="717042"/>
                  <a:pt x="5112231" y="717042"/>
                </a:cubicBezTo>
                <a:close/>
                <a:moveTo>
                  <a:pt x="4555993" y="598413"/>
                </a:moveTo>
                <a:cubicBezTo>
                  <a:pt x="4609872" y="598413"/>
                  <a:pt x="4663750" y="618967"/>
                  <a:pt x="4704858" y="660075"/>
                </a:cubicBezTo>
                <a:cubicBezTo>
                  <a:pt x="4787074" y="742291"/>
                  <a:pt x="4787074" y="875589"/>
                  <a:pt x="4704858" y="957805"/>
                </a:cubicBezTo>
                <a:lnTo>
                  <a:pt x="959031" y="4703631"/>
                </a:lnTo>
                <a:cubicBezTo>
                  <a:pt x="876815" y="4785847"/>
                  <a:pt x="743517" y="4785847"/>
                  <a:pt x="661301" y="4703631"/>
                </a:cubicBezTo>
                <a:lnTo>
                  <a:pt x="661302" y="4703631"/>
                </a:lnTo>
                <a:cubicBezTo>
                  <a:pt x="579087" y="4621415"/>
                  <a:pt x="579087" y="4488117"/>
                  <a:pt x="661302" y="4405901"/>
                </a:cubicBezTo>
                <a:lnTo>
                  <a:pt x="4407128" y="660075"/>
                </a:lnTo>
                <a:cubicBezTo>
                  <a:pt x="4448236" y="618967"/>
                  <a:pt x="4502115" y="598413"/>
                  <a:pt x="4555993" y="598413"/>
                </a:cubicBezTo>
                <a:close/>
                <a:moveTo>
                  <a:pt x="3285716" y="530016"/>
                </a:moveTo>
                <a:cubicBezTo>
                  <a:pt x="3339595" y="530015"/>
                  <a:pt x="3393473" y="550569"/>
                  <a:pt x="3434581" y="591677"/>
                </a:cubicBezTo>
                <a:cubicBezTo>
                  <a:pt x="3516797" y="673894"/>
                  <a:pt x="3516797" y="807191"/>
                  <a:pt x="3434581" y="889408"/>
                </a:cubicBezTo>
                <a:lnTo>
                  <a:pt x="359390" y="3964597"/>
                </a:lnTo>
                <a:cubicBezTo>
                  <a:pt x="277175" y="4046813"/>
                  <a:pt x="143876" y="4046813"/>
                  <a:pt x="61661" y="3964597"/>
                </a:cubicBezTo>
                <a:lnTo>
                  <a:pt x="61662" y="3964597"/>
                </a:lnTo>
                <a:cubicBezTo>
                  <a:pt x="-20554" y="3882381"/>
                  <a:pt x="-20554" y="3749083"/>
                  <a:pt x="61662" y="3666867"/>
                </a:cubicBezTo>
                <a:lnTo>
                  <a:pt x="3136851" y="591677"/>
                </a:lnTo>
                <a:cubicBezTo>
                  <a:pt x="3177959" y="550569"/>
                  <a:pt x="3231837" y="530015"/>
                  <a:pt x="3285716" y="530016"/>
                </a:cubicBezTo>
                <a:close/>
                <a:moveTo>
                  <a:pt x="4139534" y="347526"/>
                </a:moveTo>
                <a:cubicBezTo>
                  <a:pt x="4193413" y="347526"/>
                  <a:pt x="4247291" y="368080"/>
                  <a:pt x="4288399" y="409188"/>
                </a:cubicBezTo>
                <a:cubicBezTo>
                  <a:pt x="4370615" y="491405"/>
                  <a:pt x="4370615" y="624702"/>
                  <a:pt x="4288399" y="706919"/>
                </a:cubicBezTo>
                <a:lnTo>
                  <a:pt x="1213208" y="3782108"/>
                </a:lnTo>
                <a:cubicBezTo>
                  <a:pt x="1130992" y="3864324"/>
                  <a:pt x="997694" y="3864324"/>
                  <a:pt x="915478" y="3782108"/>
                </a:cubicBezTo>
                <a:lnTo>
                  <a:pt x="915479" y="3782108"/>
                </a:lnTo>
                <a:cubicBezTo>
                  <a:pt x="833263" y="3699892"/>
                  <a:pt x="833263" y="3566594"/>
                  <a:pt x="915479" y="3484378"/>
                </a:cubicBezTo>
                <a:lnTo>
                  <a:pt x="3990669" y="409188"/>
                </a:lnTo>
                <a:cubicBezTo>
                  <a:pt x="4031777" y="368080"/>
                  <a:pt x="4085655" y="347526"/>
                  <a:pt x="4139534" y="347526"/>
                </a:cubicBezTo>
                <a:close/>
                <a:moveTo>
                  <a:pt x="1664402" y="126303"/>
                </a:moveTo>
                <a:cubicBezTo>
                  <a:pt x="1718280" y="126303"/>
                  <a:pt x="1772159" y="146856"/>
                  <a:pt x="1813267" y="187965"/>
                </a:cubicBezTo>
                <a:cubicBezTo>
                  <a:pt x="1895483" y="270181"/>
                  <a:pt x="1895483" y="403479"/>
                  <a:pt x="1813267" y="485695"/>
                </a:cubicBezTo>
                <a:lnTo>
                  <a:pt x="554549" y="1744412"/>
                </a:lnTo>
                <a:cubicBezTo>
                  <a:pt x="472333" y="1826628"/>
                  <a:pt x="339035" y="1826628"/>
                  <a:pt x="256818" y="1744412"/>
                </a:cubicBezTo>
                <a:lnTo>
                  <a:pt x="256820" y="1744412"/>
                </a:lnTo>
                <a:cubicBezTo>
                  <a:pt x="174605" y="1662196"/>
                  <a:pt x="174605" y="1528898"/>
                  <a:pt x="256820" y="1446682"/>
                </a:cubicBezTo>
                <a:lnTo>
                  <a:pt x="1515537" y="187965"/>
                </a:lnTo>
                <a:cubicBezTo>
                  <a:pt x="1556645" y="146856"/>
                  <a:pt x="1610523" y="126303"/>
                  <a:pt x="1664402" y="126303"/>
                </a:cubicBezTo>
                <a:close/>
                <a:moveTo>
                  <a:pt x="3125460" y="18853"/>
                </a:moveTo>
                <a:cubicBezTo>
                  <a:pt x="3179339" y="18853"/>
                  <a:pt x="3233217" y="39407"/>
                  <a:pt x="3274325" y="80515"/>
                </a:cubicBezTo>
                <a:cubicBezTo>
                  <a:pt x="3356541" y="162731"/>
                  <a:pt x="3356541" y="296029"/>
                  <a:pt x="3274325" y="378245"/>
                </a:cubicBezTo>
                <a:lnTo>
                  <a:pt x="552641" y="3099928"/>
                </a:lnTo>
                <a:cubicBezTo>
                  <a:pt x="470425" y="3182144"/>
                  <a:pt x="337126" y="3182144"/>
                  <a:pt x="254911" y="3099928"/>
                </a:cubicBezTo>
                <a:lnTo>
                  <a:pt x="254912" y="3099928"/>
                </a:lnTo>
                <a:cubicBezTo>
                  <a:pt x="172696" y="3017712"/>
                  <a:pt x="172696" y="2884414"/>
                  <a:pt x="254912" y="2802198"/>
                </a:cubicBezTo>
                <a:lnTo>
                  <a:pt x="2976595" y="80515"/>
                </a:lnTo>
                <a:cubicBezTo>
                  <a:pt x="3017703" y="39407"/>
                  <a:pt x="3071581" y="18853"/>
                  <a:pt x="3125460" y="18853"/>
                </a:cubicBezTo>
                <a:close/>
                <a:moveTo>
                  <a:pt x="2465583" y="0"/>
                </a:moveTo>
                <a:cubicBezTo>
                  <a:pt x="2519461" y="0"/>
                  <a:pt x="2573340" y="20554"/>
                  <a:pt x="2614448" y="61662"/>
                </a:cubicBezTo>
                <a:cubicBezTo>
                  <a:pt x="2696664" y="143878"/>
                  <a:pt x="2696664" y="277176"/>
                  <a:pt x="2614448" y="359392"/>
                </a:cubicBezTo>
                <a:lnTo>
                  <a:pt x="632768" y="2341071"/>
                </a:lnTo>
                <a:cubicBezTo>
                  <a:pt x="550552" y="2423287"/>
                  <a:pt x="417253" y="2423287"/>
                  <a:pt x="335037" y="2341071"/>
                </a:cubicBezTo>
                <a:lnTo>
                  <a:pt x="335039" y="2341071"/>
                </a:lnTo>
                <a:cubicBezTo>
                  <a:pt x="252822" y="2258855"/>
                  <a:pt x="252822" y="2125557"/>
                  <a:pt x="335039" y="2043341"/>
                </a:cubicBezTo>
                <a:lnTo>
                  <a:pt x="2316718" y="61662"/>
                </a:lnTo>
                <a:cubicBezTo>
                  <a:pt x="2357826" y="20554"/>
                  <a:pt x="2411704" y="0"/>
                  <a:pt x="2465583" y="0"/>
                </a:cubicBezTo>
                <a:close/>
              </a:path>
            </a:pathLst>
          </a:custGeom>
          <a:pattFill prst="pct20">
            <a:fgClr>
              <a:schemeClr val="bg1">
                <a:lumMod val="50000"/>
                <a:lumOff val="50000"/>
              </a:schemeClr>
            </a:fgClr>
            <a:bgClr>
              <a:schemeClr val="bg1"/>
            </a:bgClr>
          </a:pattFill>
        </p:spPr>
        <p:txBody>
          <a:bodyPr wrap="square" anchor="ctr">
            <a:noAutofit/>
          </a:bodyPr>
          <a:lstStyle>
            <a:lvl1pPr marL="0" indent="0" algn="ctr">
              <a:buNone/>
              <a:defRPr sz="1600" baseline="0"/>
            </a:lvl1pPr>
          </a:lstStyle>
          <a:p>
            <a:r>
              <a:rPr lang="en-US"/>
              <a:t>Insert Image</a:t>
            </a:r>
          </a:p>
        </p:txBody>
      </p:sp>
      <p:sp>
        <p:nvSpPr>
          <p:cNvPr id="19" name="TextBox 18"/>
          <p:cNvSpPr txBox="1"/>
          <p:nvPr userDrawn="1"/>
        </p:nvSpPr>
        <p:spPr>
          <a:xfrm>
            <a:off x="11286889" y="465183"/>
            <a:ext cx="649356" cy="307777"/>
          </a:xfrm>
          <a:prstGeom prst="rect">
            <a:avLst/>
          </a:prstGeom>
          <a:noFill/>
        </p:spPr>
        <p:txBody>
          <a:bodyPr wrap="square" rtlCol="0">
            <a:spAutoFit/>
          </a:bodyPr>
          <a:lstStyle/>
          <a:p>
            <a:pPr algn="ctr"/>
            <a:fld id="{49B9A1CC-CF23-404A-A754-6B4803B2A082}" type="slidenum">
              <a:rPr lang="id-ID" sz="1400" smtClean="0">
                <a:solidFill>
                  <a:schemeClr val="bg1">
                    <a:lumMod val="50000"/>
                  </a:schemeClr>
                </a:solidFill>
              </a:rPr>
              <a:t>‹nº›</a:t>
            </a:fld>
            <a:endParaRPr lang="id-ID" sz="1400">
              <a:solidFill>
                <a:schemeClr val="bg1">
                  <a:lumMod val="50000"/>
                </a:schemeClr>
              </a:solidFill>
            </a:endParaRPr>
          </a:p>
        </p:txBody>
      </p:sp>
      <p:sp>
        <p:nvSpPr>
          <p:cNvPr id="20" name="Oval 19"/>
          <p:cNvSpPr/>
          <p:nvPr userDrawn="1"/>
        </p:nvSpPr>
        <p:spPr>
          <a:xfrm>
            <a:off x="11395567" y="408099"/>
            <a:ext cx="432000" cy="432000"/>
          </a:xfrm>
          <a:prstGeom prst="ellipse">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Tree>
    <p:extLst>
      <p:ext uri="{BB962C8B-B14F-4D97-AF65-F5344CB8AC3E}">
        <p14:creationId xmlns:p14="http://schemas.microsoft.com/office/powerpoint/2010/main" val="120573422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5_portfolio 6">
    <p:spTree>
      <p:nvGrpSpPr>
        <p:cNvPr id="1" name=""/>
        <p:cNvGrpSpPr/>
        <p:nvPr/>
      </p:nvGrpSpPr>
      <p:grpSpPr>
        <a:xfrm>
          <a:off x="0" y="0"/>
          <a:ext cx="0" cy="0"/>
          <a:chOff x="0" y="0"/>
          <a:chExt cx="0" cy="0"/>
        </a:xfrm>
      </p:grpSpPr>
      <p:sp>
        <p:nvSpPr>
          <p:cNvPr id="24" name="Picture Placeholder 3"/>
          <p:cNvSpPr>
            <a:spLocks noGrp="1"/>
          </p:cNvSpPr>
          <p:nvPr>
            <p:ph type="pic" sz="quarter" idx="11"/>
          </p:nvPr>
        </p:nvSpPr>
        <p:spPr>
          <a:xfrm>
            <a:off x="-18288" y="0"/>
            <a:ext cx="3063240" cy="3438144"/>
          </a:xfrm>
          <a:prstGeom prst="rect">
            <a:avLst/>
          </a:prstGeom>
        </p:spPr>
        <p:txBody>
          <a:bodyPr lIns="182880" tIns="91440" rIns="182880" bIns="91440"/>
          <a:lstStyle>
            <a:lvl1pPr marL="0" indent="0">
              <a:buFontTx/>
              <a:buNone/>
              <a:defRPr/>
            </a:lvl1pPr>
          </a:lstStyle>
          <a:p>
            <a:endParaRPr lang="en-US"/>
          </a:p>
        </p:txBody>
      </p:sp>
      <p:sp>
        <p:nvSpPr>
          <p:cNvPr id="25" name="Picture Placeholder 3"/>
          <p:cNvSpPr>
            <a:spLocks noGrp="1"/>
          </p:cNvSpPr>
          <p:nvPr>
            <p:ph type="pic" sz="quarter" idx="12"/>
          </p:nvPr>
        </p:nvSpPr>
        <p:spPr>
          <a:xfrm>
            <a:off x="6079744" y="0"/>
            <a:ext cx="3063240" cy="3438144"/>
          </a:xfrm>
          <a:prstGeom prst="rect">
            <a:avLst/>
          </a:prstGeom>
        </p:spPr>
        <p:txBody>
          <a:bodyPr lIns="182880" tIns="91440" rIns="182880" bIns="91440"/>
          <a:lstStyle>
            <a:lvl1pPr marL="0" indent="0">
              <a:buFontTx/>
              <a:buNone/>
              <a:defRPr/>
            </a:lvl1pPr>
          </a:lstStyle>
          <a:p>
            <a:endParaRPr lang="en-US"/>
          </a:p>
        </p:txBody>
      </p:sp>
      <p:sp>
        <p:nvSpPr>
          <p:cNvPr id="27" name="Picture Placeholder 3"/>
          <p:cNvSpPr>
            <a:spLocks noGrp="1"/>
          </p:cNvSpPr>
          <p:nvPr>
            <p:ph type="pic" sz="quarter" idx="15"/>
          </p:nvPr>
        </p:nvSpPr>
        <p:spPr>
          <a:xfrm>
            <a:off x="3030728" y="3438144"/>
            <a:ext cx="3063240" cy="3438144"/>
          </a:xfrm>
          <a:prstGeom prst="rect">
            <a:avLst/>
          </a:prstGeom>
        </p:spPr>
        <p:txBody>
          <a:bodyPr lIns="182880" tIns="91440" rIns="182880" bIns="91440"/>
          <a:lstStyle>
            <a:lvl1pPr marL="0" indent="0">
              <a:buFontTx/>
              <a:buNone/>
              <a:defRPr/>
            </a:lvl1pPr>
          </a:lstStyle>
          <a:p>
            <a:endParaRPr lang="en-US"/>
          </a:p>
        </p:txBody>
      </p:sp>
      <p:sp>
        <p:nvSpPr>
          <p:cNvPr id="28" name="Picture Placeholder 3"/>
          <p:cNvSpPr>
            <a:spLocks noGrp="1"/>
          </p:cNvSpPr>
          <p:nvPr>
            <p:ph type="pic" sz="quarter" idx="17"/>
          </p:nvPr>
        </p:nvSpPr>
        <p:spPr>
          <a:xfrm>
            <a:off x="9128760" y="3438144"/>
            <a:ext cx="3063240" cy="3438144"/>
          </a:xfrm>
          <a:prstGeom prst="rect">
            <a:avLst/>
          </a:prstGeom>
        </p:spPr>
        <p:txBody>
          <a:bodyPr lIns="182880" tIns="91440" rIns="182880" bIns="91440"/>
          <a:lstStyle>
            <a:lvl1pPr marL="0" indent="0">
              <a:buFontTx/>
              <a:buNone/>
              <a:defRPr/>
            </a:lvl1pPr>
          </a:lstStyle>
          <a:p>
            <a:endParaRPr lang="en-US"/>
          </a:p>
        </p:txBody>
      </p:sp>
    </p:spTree>
    <p:extLst>
      <p:ext uri="{BB962C8B-B14F-4D97-AF65-F5344CB8AC3E}">
        <p14:creationId xmlns:p14="http://schemas.microsoft.com/office/powerpoint/2010/main" val="268843681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_Normal Center image">
    <p:spTree>
      <p:nvGrpSpPr>
        <p:cNvPr id="1" name=""/>
        <p:cNvGrpSpPr/>
        <p:nvPr/>
      </p:nvGrpSpPr>
      <p:grpSpPr>
        <a:xfrm>
          <a:off x="0" y="0"/>
          <a:ext cx="0" cy="0"/>
          <a:chOff x="0" y="0"/>
          <a:chExt cx="0" cy="0"/>
        </a:xfrm>
      </p:grpSpPr>
      <p:sp>
        <p:nvSpPr>
          <p:cNvPr id="15" name="Picture Placeholder 5"/>
          <p:cNvSpPr>
            <a:spLocks noGrp="1"/>
          </p:cNvSpPr>
          <p:nvPr>
            <p:ph type="pic" sz="quarter" idx="11"/>
          </p:nvPr>
        </p:nvSpPr>
        <p:spPr>
          <a:xfrm>
            <a:off x="0" y="1910449"/>
            <a:ext cx="12192000" cy="3708476"/>
          </a:xfrm>
        </p:spPr>
        <p:txBody>
          <a:bodyPr/>
          <a:lstStyle/>
          <a:p>
            <a:endParaRPr lang="id-ID"/>
          </a:p>
        </p:txBody>
      </p:sp>
      <p:sp>
        <p:nvSpPr>
          <p:cNvPr id="25" name="TextBox 24"/>
          <p:cNvSpPr txBox="1"/>
          <p:nvPr userDrawn="1"/>
        </p:nvSpPr>
        <p:spPr>
          <a:xfrm>
            <a:off x="11286889" y="465183"/>
            <a:ext cx="649356" cy="307777"/>
          </a:xfrm>
          <a:prstGeom prst="rect">
            <a:avLst/>
          </a:prstGeom>
          <a:noFill/>
        </p:spPr>
        <p:txBody>
          <a:bodyPr wrap="square" rtlCol="0">
            <a:spAutoFit/>
          </a:bodyPr>
          <a:lstStyle/>
          <a:p>
            <a:pPr algn="ctr"/>
            <a:fld id="{49B9A1CC-CF23-404A-A754-6B4803B2A082}" type="slidenum">
              <a:rPr lang="id-ID" sz="1400" smtClean="0">
                <a:solidFill>
                  <a:schemeClr val="bg1">
                    <a:lumMod val="50000"/>
                  </a:schemeClr>
                </a:solidFill>
              </a:rPr>
              <a:t>‹nº›</a:t>
            </a:fld>
            <a:endParaRPr lang="id-ID" sz="1400">
              <a:solidFill>
                <a:schemeClr val="bg1">
                  <a:lumMod val="50000"/>
                </a:schemeClr>
              </a:solidFill>
            </a:endParaRPr>
          </a:p>
        </p:txBody>
      </p:sp>
      <p:sp>
        <p:nvSpPr>
          <p:cNvPr id="26" name="Oval 25"/>
          <p:cNvSpPr/>
          <p:nvPr userDrawn="1"/>
        </p:nvSpPr>
        <p:spPr>
          <a:xfrm>
            <a:off x="11395567" y="408099"/>
            <a:ext cx="432000" cy="432000"/>
          </a:xfrm>
          <a:prstGeom prst="ellipse">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Tree>
    <p:extLst>
      <p:ext uri="{BB962C8B-B14F-4D97-AF65-F5344CB8AC3E}">
        <p14:creationId xmlns:p14="http://schemas.microsoft.com/office/powerpoint/2010/main" val="131054664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4 placeholder">
    <p:spTree>
      <p:nvGrpSpPr>
        <p:cNvPr id="1" name=""/>
        <p:cNvGrpSpPr/>
        <p:nvPr/>
      </p:nvGrpSpPr>
      <p:grpSpPr>
        <a:xfrm>
          <a:off x="0" y="0"/>
          <a:ext cx="0" cy="0"/>
          <a:chOff x="0" y="0"/>
          <a:chExt cx="0" cy="0"/>
        </a:xfrm>
      </p:grpSpPr>
      <p:sp>
        <p:nvSpPr>
          <p:cNvPr id="29" name="Picture Placeholder 7"/>
          <p:cNvSpPr>
            <a:spLocks noGrp="1"/>
          </p:cNvSpPr>
          <p:nvPr>
            <p:ph type="pic" sz="quarter" idx="11"/>
          </p:nvPr>
        </p:nvSpPr>
        <p:spPr>
          <a:xfrm>
            <a:off x="1354515" y="2400839"/>
            <a:ext cx="1839260" cy="2016978"/>
          </a:xfrm>
          <a:custGeom>
            <a:avLst/>
            <a:gdLst>
              <a:gd name="connsiteX0" fmla="*/ 1938542 w 3877082"/>
              <a:gd name="connsiteY0" fmla="*/ 0 h 4497415"/>
              <a:gd name="connsiteX1" fmla="*/ 3877082 w 3877082"/>
              <a:gd name="connsiteY1" fmla="*/ 969271 h 4497415"/>
              <a:gd name="connsiteX2" fmla="*/ 3877082 w 3877082"/>
              <a:gd name="connsiteY2" fmla="*/ 3528144 h 4497415"/>
              <a:gd name="connsiteX3" fmla="*/ 1938542 w 3877082"/>
              <a:gd name="connsiteY3" fmla="*/ 4497415 h 4497415"/>
              <a:gd name="connsiteX4" fmla="*/ 0 w 3877082"/>
              <a:gd name="connsiteY4" fmla="*/ 3528144 h 4497415"/>
              <a:gd name="connsiteX5" fmla="*/ 0 w 3877082"/>
              <a:gd name="connsiteY5" fmla="*/ 969271 h 4497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77082" h="4497415">
                <a:moveTo>
                  <a:pt x="1938542" y="0"/>
                </a:moveTo>
                <a:lnTo>
                  <a:pt x="3877082" y="969271"/>
                </a:lnTo>
                <a:lnTo>
                  <a:pt x="3877082" y="3528144"/>
                </a:lnTo>
                <a:lnTo>
                  <a:pt x="1938542" y="4497415"/>
                </a:lnTo>
                <a:lnTo>
                  <a:pt x="0" y="3528144"/>
                </a:lnTo>
                <a:lnTo>
                  <a:pt x="0" y="969271"/>
                </a:lnTo>
                <a:close/>
              </a:path>
            </a:pathLst>
          </a:custGeom>
        </p:spPr>
        <p:txBody>
          <a:bodyPr wrap="square">
            <a:noAutofit/>
          </a:bodyPr>
          <a:lstStyle/>
          <a:p>
            <a:endParaRPr lang="en-US"/>
          </a:p>
        </p:txBody>
      </p:sp>
      <p:sp>
        <p:nvSpPr>
          <p:cNvPr id="30" name="Picture Placeholder 7"/>
          <p:cNvSpPr>
            <a:spLocks noGrp="1"/>
          </p:cNvSpPr>
          <p:nvPr>
            <p:ph type="pic" sz="quarter" idx="12"/>
          </p:nvPr>
        </p:nvSpPr>
        <p:spPr>
          <a:xfrm>
            <a:off x="3898932" y="2400839"/>
            <a:ext cx="1839260" cy="2016978"/>
          </a:xfrm>
          <a:custGeom>
            <a:avLst/>
            <a:gdLst>
              <a:gd name="connsiteX0" fmla="*/ 1938542 w 3877082"/>
              <a:gd name="connsiteY0" fmla="*/ 0 h 4497415"/>
              <a:gd name="connsiteX1" fmla="*/ 3877082 w 3877082"/>
              <a:gd name="connsiteY1" fmla="*/ 969271 h 4497415"/>
              <a:gd name="connsiteX2" fmla="*/ 3877082 w 3877082"/>
              <a:gd name="connsiteY2" fmla="*/ 3528144 h 4497415"/>
              <a:gd name="connsiteX3" fmla="*/ 1938542 w 3877082"/>
              <a:gd name="connsiteY3" fmla="*/ 4497415 h 4497415"/>
              <a:gd name="connsiteX4" fmla="*/ 0 w 3877082"/>
              <a:gd name="connsiteY4" fmla="*/ 3528144 h 4497415"/>
              <a:gd name="connsiteX5" fmla="*/ 0 w 3877082"/>
              <a:gd name="connsiteY5" fmla="*/ 969271 h 4497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77082" h="4497415">
                <a:moveTo>
                  <a:pt x="1938542" y="0"/>
                </a:moveTo>
                <a:lnTo>
                  <a:pt x="3877082" y="969271"/>
                </a:lnTo>
                <a:lnTo>
                  <a:pt x="3877082" y="3528144"/>
                </a:lnTo>
                <a:lnTo>
                  <a:pt x="1938542" y="4497415"/>
                </a:lnTo>
                <a:lnTo>
                  <a:pt x="0" y="3528144"/>
                </a:lnTo>
                <a:lnTo>
                  <a:pt x="0" y="969271"/>
                </a:lnTo>
                <a:close/>
              </a:path>
            </a:pathLst>
          </a:custGeom>
        </p:spPr>
        <p:txBody>
          <a:bodyPr wrap="square">
            <a:noAutofit/>
          </a:bodyPr>
          <a:lstStyle/>
          <a:p>
            <a:endParaRPr lang="en-US"/>
          </a:p>
        </p:txBody>
      </p:sp>
      <p:sp>
        <p:nvSpPr>
          <p:cNvPr id="31" name="Picture Placeholder 7"/>
          <p:cNvSpPr>
            <a:spLocks noGrp="1"/>
          </p:cNvSpPr>
          <p:nvPr>
            <p:ph type="pic" sz="quarter" idx="13"/>
          </p:nvPr>
        </p:nvSpPr>
        <p:spPr>
          <a:xfrm>
            <a:off x="6443349" y="2400839"/>
            <a:ext cx="1839260" cy="2016978"/>
          </a:xfrm>
          <a:custGeom>
            <a:avLst/>
            <a:gdLst>
              <a:gd name="connsiteX0" fmla="*/ 1938542 w 3877082"/>
              <a:gd name="connsiteY0" fmla="*/ 0 h 4497415"/>
              <a:gd name="connsiteX1" fmla="*/ 3877082 w 3877082"/>
              <a:gd name="connsiteY1" fmla="*/ 969271 h 4497415"/>
              <a:gd name="connsiteX2" fmla="*/ 3877082 w 3877082"/>
              <a:gd name="connsiteY2" fmla="*/ 3528144 h 4497415"/>
              <a:gd name="connsiteX3" fmla="*/ 1938542 w 3877082"/>
              <a:gd name="connsiteY3" fmla="*/ 4497415 h 4497415"/>
              <a:gd name="connsiteX4" fmla="*/ 0 w 3877082"/>
              <a:gd name="connsiteY4" fmla="*/ 3528144 h 4497415"/>
              <a:gd name="connsiteX5" fmla="*/ 0 w 3877082"/>
              <a:gd name="connsiteY5" fmla="*/ 969271 h 4497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77082" h="4497415">
                <a:moveTo>
                  <a:pt x="1938542" y="0"/>
                </a:moveTo>
                <a:lnTo>
                  <a:pt x="3877082" y="969271"/>
                </a:lnTo>
                <a:lnTo>
                  <a:pt x="3877082" y="3528144"/>
                </a:lnTo>
                <a:lnTo>
                  <a:pt x="1938542" y="4497415"/>
                </a:lnTo>
                <a:lnTo>
                  <a:pt x="0" y="3528144"/>
                </a:lnTo>
                <a:lnTo>
                  <a:pt x="0" y="969271"/>
                </a:lnTo>
                <a:close/>
              </a:path>
            </a:pathLst>
          </a:custGeom>
        </p:spPr>
        <p:txBody>
          <a:bodyPr wrap="square">
            <a:noAutofit/>
          </a:bodyPr>
          <a:lstStyle/>
          <a:p>
            <a:endParaRPr lang="en-US"/>
          </a:p>
        </p:txBody>
      </p:sp>
      <p:sp>
        <p:nvSpPr>
          <p:cNvPr id="32" name="Picture Placeholder 7"/>
          <p:cNvSpPr>
            <a:spLocks noGrp="1"/>
          </p:cNvSpPr>
          <p:nvPr>
            <p:ph type="pic" sz="quarter" idx="14"/>
          </p:nvPr>
        </p:nvSpPr>
        <p:spPr>
          <a:xfrm>
            <a:off x="8987766" y="2397093"/>
            <a:ext cx="1839260" cy="2016978"/>
          </a:xfrm>
          <a:custGeom>
            <a:avLst/>
            <a:gdLst>
              <a:gd name="connsiteX0" fmla="*/ 1938542 w 3877082"/>
              <a:gd name="connsiteY0" fmla="*/ 0 h 4497415"/>
              <a:gd name="connsiteX1" fmla="*/ 3877082 w 3877082"/>
              <a:gd name="connsiteY1" fmla="*/ 969271 h 4497415"/>
              <a:gd name="connsiteX2" fmla="*/ 3877082 w 3877082"/>
              <a:gd name="connsiteY2" fmla="*/ 3528144 h 4497415"/>
              <a:gd name="connsiteX3" fmla="*/ 1938542 w 3877082"/>
              <a:gd name="connsiteY3" fmla="*/ 4497415 h 4497415"/>
              <a:gd name="connsiteX4" fmla="*/ 0 w 3877082"/>
              <a:gd name="connsiteY4" fmla="*/ 3528144 h 4497415"/>
              <a:gd name="connsiteX5" fmla="*/ 0 w 3877082"/>
              <a:gd name="connsiteY5" fmla="*/ 969271 h 4497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77082" h="4497415">
                <a:moveTo>
                  <a:pt x="1938542" y="0"/>
                </a:moveTo>
                <a:lnTo>
                  <a:pt x="3877082" y="969271"/>
                </a:lnTo>
                <a:lnTo>
                  <a:pt x="3877082" y="3528144"/>
                </a:lnTo>
                <a:lnTo>
                  <a:pt x="1938542" y="4497415"/>
                </a:lnTo>
                <a:lnTo>
                  <a:pt x="0" y="3528144"/>
                </a:lnTo>
                <a:lnTo>
                  <a:pt x="0" y="969271"/>
                </a:lnTo>
                <a:close/>
              </a:path>
            </a:pathLst>
          </a:custGeom>
        </p:spPr>
        <p:txBody>
          <a:bodyPr wrap="square">
            <a:noAutofit/>
          </a:bodyPr>
          <a:lstStyle/>
          <a:p>
            <a:endParaRPr lang="en-US"/>
          </a:p>
        </p:txBody>
      </p:sp>
      <p:sp>
        <p:nvSpPr>
          <p:cNvPr id="19" name="TextBox 18"/>
          <p:cNvSpPr txBox="1"/>
          <p:nvPr userDrawn="1"/>
        </p:nvSpPr>
        <p:spPr>
          <a:xfrm>
            <a:off x="11286889" y="465183"/>
            <a:ext cx="649356" cy="307777"/>
          </a:xfrm>
          <a:prstGeom prst="rect">
            <a:avLst/>
          </a:prstGeom>
          <a:noFill/>
        </p:spPr>
        <p:txBody>
          <a:bodyPr wrap="square" rtlCol="0">
            <a:spAutoFit/>
          </a:bodyPr>
          <a:lstStyle/>
          <a:p>
            <a:pPr algn="ctr"/>
            <a:fld id="{49B9A1CC-CF23-404A-A754-6B4803B2A082}" type="slidenum">
              <a:rPr lang="id-ID" sz="1400" smtClean="0">
                <a:solidFill>
                  <a:schemeClr val="bg1">
                    <a:lumMod val="50000"/>
                  </a:schemeClr>
                </a:solidFill>
              </a:rPr>
              <a:t>‹nº›</a:t>
            </a:fld>
            <a:endParaRPr lang="id-ID" sz="1400">
              <a:solidFill>
                <a:schemeClr val="bg1">
                  <a:lumMod val="50000"/>
                </a:schemeClr>
              </a:solidFill>
            </a:endParaRPr>
          </a:p>
        </p:txBody>
      </p:sp>
      <p:sp>
        <p:nvSpPr>
          <p:cNvPr id="20" name="Oval 19"/>
          <p:cNvSpPr/>
          <p:nvPr userDrawn="1"/>
        </p:nvSpPr>
        <p:spPr>
          <a:xfrm>
            <a:off x="11395567" y="408099"/>
            <a:ext cx="432000" cy="432000"/>
          </a:xfrm>
          <a:prstGeom prst="ellipse">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Tree>
    <p:extLst>
      <p:ext uri="{BB962C8B-B14F-4D97-AF65-F5344CB8AC3E}">
        <p14:creationId xmlns:p14="http://schemas.microsoft.com/office/powerpoint/2010/main" val="94048858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ottom image">
    <p:spTree>
      <p:nvGrpSpPr>
        <p:cNvPr id="1" name=""/>
        <p:cNvGrpSpPr/>
        <p:nvPr/>
      </p:nvGrpSpPr>
      <p:grpSpPr>
        <a:xfrm>
          <a:off x="0" y="0"/>
          <a:ext cx="0" cy="0"/>
          <a:chOff x="0" y="0"/>
          <a:chExt cx="0" cy="0"/>
        </a:xfrm>
      </p:grpSpPr>
      <p:sp>
        <p:nvSpPr>
          <p:cNvPr id="17" name="Rectangle 16"/>
          <p:cNvSpPr/>
          <p:nvPr userDrawn="1"/>
        </p:nvSpPr>
        <p:spPr>
          <a:xfrm>
            <a:off x="11622159" y="6467061"/>
            <a:ext cx="410817" cy="39093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Picture Placeholder 5"/>
          <p:cNvSpPr>
            <a:spLocks noGrp="1"/>
          </p:cNvSpPr>
          <p:nvPr>
            <p:ph type="pic" sz="quarter" idx="11"/>
          </p:nvPr>
        </p:nvSpPr>
        <p:spPr>
          <a:xfrm>
            <a:off x="0" y="4234068"/>
            <a:ext cx="12192000" cy="2623932"/>
          </a:xfrm>
        </p:spPr>
        <p:txBody>
          <a:bodyPr/>
          <a:lstStyle/>
          <a:p>
            <a:endParaRPr lang="id-ID"/>
          </a:p>
        </p:txBody>
      </p:sp>
      <p:sp>
        <p:nvSpPr>
          <p:cNvPr id="16" name="TextBox 15"/>
          <p:cNvSpPr txBox="1"/>
          <p:nvPr userDrawn="1"/>
        </p:nvSpPr>
        <p:spPr>
          <a:xfrm>
            <a:off x="11286889" y="465183"/>
            <a:ext cx="649356" cy="307777"/>
          </a:xfrm>
          <a:prstGeom prst="rect">
            <a:avLst/>
          </a:prstGeom>
          <a:noFill/>
        </p:spPr>
        <p:txBody>
          <a:bodyPr wrap="square" rtlCol="0">
            <a:spAutoFit/>
          </a:bodyPr>
          <a:lstStyle/>
          <a:p>
            <a:pPr algn="ctr"/>
            <a:fld id="{49B9A1CC-CF23-404A-A754-6B4803B2A082}" type="slidenum">
              <a:rPr lang="id-ID" sz="1400" smtClean="0">
                <a:solidFill>
                  <a:schemeClr val="bg1">
                    <a:lumMod val="50000"/>
                  </a:schemeClr>
                </a:solidFill>
              </a:rPr>
              <a:t>‹nº›</a:t>
            </a:fld>
            <a:endParaRPr lang="id-ID" sz="1400">
              <a:solidFill>
                <a:schemeClr val="bg1">
                  <a:lumMod val="50000"/>
                </a:schemeClr>
              </a:solidFill>
            </a:endParaRPr>
          </a:p>
        </p:txBody>
      </p:sp>
      <p:sp>
        <p:nvSpPr>
          <p:cNvPr id="18" name="Oval 17"/>
          <p:cNvSpPr/>
          <p:nvPr userDrawn="1"/>
        </p:nvSpPr>
        <p:spPr>
          <a:xfrm>
            <a:off x="11395567" y="408099"/>
            <a:ext cx="432000" cy="432000"/>
          </a:xfrm>
          <a:prstGeom prst="ellipse">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Tree>
    <p:extLst>
      <p:ext uri="{BB962C8B-B14F-4D97-AF65-F5344CB8AC3E}">
        <p14:creationId xmlns:p14="http://schemas.microsoft.com/office/powerpoint/2010/main" val="282902236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bottom image no title">
    <p:spTree>
      <p:nvGrpSpPr>
        <p:cNvPr id="1" name=""/>
        <p:cNvGrpSpPr/>
        <p:nvPr/>
      </p:nvGrpSpPr>
      <p:grpSpPr>
        <a:xfrm>
          <a:off x="0" y="0"/>
          <a:ext cx="0" cy="0"/>
          <a:chOff x="0" y="0"/>
          <a:chExt cx="0" cy="0"/>
        </a:xfrm>
      </p:grpSpPr>
      <p:sp>
        <p:nvSpPr>
          <p:cNvPr id="17" name="Rectangle 16"/>
          <p:cNvSpPr/>
          <p:nvPr userDrawn="1"/>
        </p:nvSpPr>
        <p:spPr>
          <a:xfrm>
            <a:off x="11622159" y="6467061"/>
            <a:ext cx="410817" cy="39093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Picture Placeholder 5"/>
          <p:cNvSpPr>
            <a:spLocks noGrp="1"/>
          </p:cNvSpPr>
          <p:nvPr>
            <p:ph type="pic" sz="quarter" idx="11"/>
          </p:nvPr>
        </p:nvSpPr>
        <p:spPr>
          <a:xfrm>
            <a:off x="0" y="4234068"/>
            <a:ext cx="12192000" cy="2623932"/>
          </a:xfrm>
        </p:spPr>
        <p:txBody>
          <a:bodyPr/>
          <a:lstStyle/>
          <a:p>
            <a:endParaRPr lang="id-ID"/>
          </a:p>
        </p:txBody>
      </p:sp>
      <p:sp>
        <p:nvSpPr>
          <p:cNvPr id="13" name="TextBox 12"/>
          <p:cNvSpPr txBox="1"/>
          <p:nvPr userDrawn="1"/>
        </p:nvSpPr>
        <p:spPr>
          <a:xfrm>
            <a:off x="11286889" y="465183"/>
            <a:ext cx="649356" cy="307777"/>
          </a:xfrm>
          <a:prstGeom prst="rect">
            <a:avLst/>
          </a:prstGeom>
          <a:noFill/>
        </p:spPr>
        <p:txBody>
          <a:bodyPr wrap="square" rtlCol="0">
            <a:spAutoFit/>
          </a:bodyPr>
          <a:lstStyle/>
          <a:p>
            <a:pPr algn="ctr"/>
            <a:fld id="{49B9A1CC-CF23-404A-A754-6B4803B2A082}" type="slidenum">
              <a:rPr lang="id-ID" sz="1400" smtClean="0">
                <a:solidFill>
                  <a:schemeClr val="bg1">
                    <a:lumMod val="50000"/>
                  </a:schemeClr>
                </a:solidFill>
              </a:rPr>
              <a:t>‹nº›</a:t>
            </a:fld>
            <a:endParaRPr lang="id-ID" sz="1400">
              <a:solidFill>
                <a:schemeClr val="bg1">
                  <a:lumMod val="50000"/>
                </a:schemeClr>
              </a:solidFill>
            </a:endParaRPr>
          </a:p>
        </p:txBody>
      </p:sp>
      <p:sp>
        <p:nvSpPr>
          <p:cNvPr id="14" name="Oval 13"/>
          <p:cNvSpPr/>
          <p:nvPr userDrawn="1"/>
        </p:nvSpPr>
        <p:spPr>
          <a:xfrm>
            <a:off x="11395567" y="408099"/>
            <a:ext cx="432000" cy="432000"/>
          </a:xfrm>
          <a:prstGeom prst="ellipse">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Tree>
    <p:extLst>
      <p:ext uri="{BB962C8B-B14F-4D97-AF65-F5344CB8AC3E}">
        <p14:creationId xmlns:p14="http://schemas.microsoft.com/office/powerpoint/2010/main" val="44578279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_bottom image arrow">
    <p:spTree>
      <p:nvGrpSpPr>
        <p:cNvPr id="1" name=""/>
        <p:cNvGrpSpPr/>
        <p:nvPr/>
      </p:nvGrpSpPr>
      <p:grpSpPr>
        <a:xfrm>
          <a:off x="0" y="0"/>
          <a:ext cx="0" cy="0"/>
          <a:chOff x="0" y="0"/>
          <a:chExt cx="0" cy="0"/>
        </a:xfrm>
      </p:grpSpPr>
      <p:sp>
        <p:nvSpPr>
          <p:cNvPr id="17" name="Rectangle 16"/>
          <p:cNvSpPr/>
          <p:nvPr userDrawn="1"/>
        </p:nvSpPr>
        <p:spPr>
          <a:xfrm>
            <a:off x="11622159" y="6467061"/>
            <a:ext cx="410817" cy="39093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Picture Placeholder 6"/>
          <p:cNvSpPr>
            <a:spLocks noGrp="1"/>
          </p:cNvSpPr>
          <p:nvPr>
            <p:ph type="pic" sz="quarter" idx="10"/>
          </p:nvPr>
        </p:nvSpPr>
        <p:spPr>
          <a:xfrm>
            <a:off x="0" y="1"/>
            <a:ext cx="6930887" cy="6858000"/>
          </a:xfrm>
          <a:prstGeom prst="rtTriangle">
            <a:avLst/>
          </a:prstGeom>
        </p:spPr>
        <p:txBody>
          <a:bodyPr/>
          <a:lstStyle/>
          <a:p>
            <a:endParaRPr lang="id-ID"/>
          </a:p>
        </p:txBody>
      </p:sp>
    </p:spTree>
    <p:extLst>
      <p:ext uri="{BB962C8B-B14F-4D97-AF65-F5344CB8AC3E}">
        <p14:creationId xmlns:p14="http://schemas.microsoft.com/office/powerpoint/2010/main" val="33664662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3_bottom image combination">
    <p:spTree>
      <p:nvGrpSpPr>
        <p:cNvPr id="1" name=""/>
        <p:cNvGrpSpPr/>
        <p:nvPr/>
      </p:nvGrpSpPr>
      <p:grpSpPr>
        <a:xfrm>
          <a:off x="0" y="0"/>
          <a:ext cx="0" cy="0"/>
          <a:chOff x="0" y="0"/>
          <a:chExt cx="0" cy="0"/>
        </a:xfrm>
      </p:grpSpPr>
      <p:sp>
        <p:nvSpPr>
          <p:cNvPr id="17" name="Rectangle 16"/>
          <p:cNvSpPr/>
          <p:nvPr userDrawn="1"/>
        </p:nvSpPr>
        <p:spPr>
          <a:xfrm>
            <a:off x="11622159" y="6467061"/>
            <a:ext cx="410817" cy="39093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Picture Placeholder 6"/>
          <p:cNvSpPr>
            <a:spLocks noGrp="1"/>
          </p:cNvSpPr>
          <p:nvPr>
            <p:ph type="pic" sz="quarter" idx="10"/>
          </p:nvPr>
        </p:nvSpPr>
        <p:spPr>
          <a:xfrm>
            <a:off x="0" y="1"/>
            <a:ext cx="6930887" cy="6858000"/>
          </a:xfrm>
          <a:prstGeom prst="rtTriangle">
            <a:avLst/>
          </a:prstGeom>
        </p:spPr>
        <p:txBody>
          <a:bodyPr/>
          <a:lstStyle/>
          <a:p>
            <a:endParaRPr lang="id-ID"/>
          </a:p>
        </p:txBody>
      </p:sp>
      <p:sp>
        <p:nvSpPr>
          <p:cNvPr id="4" name="Picture Placeholder 13"/>
          <p:cNvSpPr>
            <a:spLocks noGrp="1"/>
          </p:cNvSpPr>
          <p:nvPr>
            <p:ph type="pic" sz="quarter" idx="33" hasCustomPrompt="1"/>
          </p:nvPr>
        </p:nvSpPr>
        <p:spPr>
          <a:xfrm flipH="1">
            <a:off x="1217849" y="1520688"/>
            <a:ext cx="4683926" cy="3816626"/>
          </a:xfrm>
          <a:custGeom>
            <a:avLst/>
            <a:gdLst>
              <a:gd name="connsiteX0" fmla="*/ 7187484 w 8328384"/>
              <a:gd name="connsiteY0" fmla="*/ 3202389 h 4794329"/>
              <a:gd name="connsiteX1" fmla="*/ 7336349 w 8328384"/>
              <a:gd name="connsiteY1" fmla="*/ 3264051 h 4794329"/>
              <a:gd name="connsiteX2" fmla="*/ 7336349 w 8328384"/>
              <a:gd name="connsiteY2" fmla="*/ 3561781 h 4794329"/>
              <a:gd name="connsiteX3" fmla="*/ 6675910 w 8328384"/>
              <a:gd name="connsiteY3" fmla="*/ 4222219 h 4794329"/>
              <a:gd name="connsiteX4" fmla="*/ 6378180 w 8328384"/>
              <a:gd name="connsiteY4" fmla="*/ 4222219 h 4794329"/>
              <a:gd name="connsiteX5" fmla="*/ 6378181 w 8328384"/>
              <a:gd name="connsiteY5" fmla="*/ 4222219 h 4794329"/>
              <a:gd name="connsiteX6" fmla="*/ 6378181 w 8328384"/>
              <a:gd name="connsiteY6" fmla="*/ 3924488 h 4794329"/>
              <a:gd name="connsiteX7" fmla="*/ 7038619 w 8328384"/>
              <a:gd name="connsiteY7" fmla="*/ 3264051 h 4794329"/>
              <a:gd name="connsiteX8" fmla="*/ 7187484 w 8328384"/>
              <a:gd name="connsiteY8" fmla="*/ 3202389 h 4794329"/>
              <a:gd name="connsiteX9" fmla="*/ 7154253 w 8328384"/>
              <a:gd name="connsiteY9" fmla="*/ 1896653 h 4794329"/>
              <a:gd name="connsiteX10" fmla="*/ 7303118 w 8328384"/>
              <a:gd name="connsiteY10" fmla="*/ 1958315 h 4794329"/>
              <a:gd name="connsiteX11" fmla="*/ 7303118 w 8328384"/>
              <a:gd name="connsiteY11" fmla="*/ 2256046 h 4794329"/>
              <a:gd name="connsiteX12" fmla="*/ 4826495 w 8328384"/>
              <a:gd name="connsiteY12" fmla="*/ 4732667 h 4794329"/>
              <a:gd name="connsiteX13" fmla="*/ 4528765 w 8328384"/>
              <a:gd name="connsiteY13" fmla="*/ 4732667 h 4794329"/>
              <a:gd name="connsiteX14" fmla="*/ 4528767 w 8328384"/>
              <a:gd name="connsiteY14" fmla="*/ 4732667 h 4794329"/>
              <a:gd name="connsiteX15" fmla="*/ 4528767 w 8328384"/>
              <a:gd name="connsiteY15" fmla="*/ 4434937 h 4794329"/>
              <a:gd name="connsiteX16" fmla="*/ 7005388 w 8328384"/>
              <a:gd name="connsiteY16" fmla="*/ 1958315 h 4794329"/>
              <a:gd name="connsiteX17" fmla="*/ 7154253 w 8328384"/>
              <a:gd name="connsiteY17" fmla="*/ 1896653 h 4794329"/>
              <a:gd name="connsiteX18" fmla="*/ 8117857 w 8328384"/>
              <a:gd name="connsiteY18" fmla="*/ 1606041 h 4794329"/>
              <a:gd name="connsiteX19" fmla="*/ 8266722 w 8328384"/>
              <a:gd name="connsiteY19" fmla="*/ 1667703 h 4794329"/>
              <a:gd name="connsiteX20" fmla="*/ 8266722 w 8328384"/>
              <a:gd name="connsiteY20" fmla="*/ 1965433 h 4794329"/>
              <a:gd name="connsiteX21" fmla="*/ 6381647 w 8328384"/>
              <a:gd name="connsiteY21" fmla="*/ 3850507 h 4794329"/>
              <a:gd name="connsiteX22" fmla="*/ 6083917 w 8328384"/>
              <a:gd name="connsiteY22" fmla="*/ 3850507 h 4794329"/>
              <a:gd name="connsiteX23" fmla="*/ 6083918 w 8328384"/>
              <a:gd name="connsiteY23" fmla="*/ 3850507 h 4794329"/>
              <a:gd name="connsiteX24" fmla="*/ 6083918 w 8328384"/>
              <a:gd name="connsiteY24" fmla="*/ 3552777 h 4794329"/>
              <a:gd name="connsiteX25" fmla="*/ 7968992 w 8328384"/>
              <a:gd name="connsiteY25" fmla="*/ 1667703 h 4794329"/>
              <a:gd name="connsiteX26" fmla="*/ 8117857 w 8328384"/>
              <a:gd name="connsiteY26" fmla="*/ 1606041 h 4794329"/>
              <a:gd name="connsiteX27" fmla="*/ 677527 w 8328384"/>
              <a:gd name="connsiteY27" fmla="*/ 898884 h 4794329"/>
              <a:gd name="connsiteX28" fmla="*/ 1028254 w 8328384"/>
              <a:gd name="connsiteY28" fmla="*/ 898884 h 4794329"/>
              <a:gd name="connsiteX29" fmla="*/ 1705781 w 8328384"/>
              <a:gd name="connsiteY29" fmla="*/ 1576410 h 4794329"/>
              <a:gd name="connsiteX30" fmla="*/ 1028254 w 8328384"/>
              <a:gd name="connsiteY30" fmla="*/ 2253937 h 4794329"/>
              <a:gd name="connsiteX31" fmla="*/ 677527 w 8328384"/>
              <a:gd name="connsiteY31" fmla="*/ 2253937 h 4794329"/>
              <a:gd name="connsiteX32" fmla="*/ 0 w 8328384"/>
              <a:gd name="connsiteY32" fmla="*/ 1576410 h 4794329"/>
              <a:gd name="connsiteX33" fmla="*/ 677527 w 8328384"/>
              <a:gd name="connsiteY33" fmla="*/ 898884 h 4794329"/>
              <a:gd name="connsiteX34" fmla="*/ 7665818 w 8328384"/>
              <a:gd name="connsiteY34" fmla="*/ 717042 h 4794329"/>
              <a:gd name="connsiteX35" fmla="*/ 7814683 w 8328384"/>
              <a:gd name="connsiteY35" fmla="*/ 778704 h 4794329"/>
              <a:gd name="connsiteX36" fmla="*/ 7814683 w 8328384"/>
              <a:gd name="connsiteY36" fmla="*/ 1076435 h 4794329"/>
              <a:gd name="connsiteX37" fmla="*/ 4739492 w 8328384"/>
              <a:gd name="connsiteY37" fmla="*/ 4151624 h 4794329"/>
              <a:gd name="connsiteX38" fmla="*/ 4441762 w 8328384"/>
              <a:gd name="connsiteY38" fmla="*/ 4151624 h 4794329"/>
              <a:gd name="connsiteX39" fmla="*/ 4441763 w 8328384"/>
              <a:gd name="connsiteY39" fmla="*/ 4151624 h 4794329"/>
              <a:gd name="connsiteX40" fmla="*/ 4441763 w 8328384"/>
              <a:gd name="connsiteY40" fmla="*/ 3853894 h 4794329"/>
              <a:gd name="connsiteX41" fmla="*/ 7516953 w 8328384"/>
              <a:gd name="connsiteY41" fmla="*/ 778704 h 4794329"/>
              <a:gd name="connsiteX42" fmla="*/ 7665818 w 8328384"/>
              <a:gd name="connsiteY42" fmla="*/ 717042 h 4794329"/>
              <a:gd name="connsiteX43" fmla="*/ 7109580 w 8328384"/>
              <a:gd name="connsiteY43" fmla="*/ 598413 h 4794329"/>
              <a:gd name="connsiteX44" fmla="*/ 7258445 w 8328384"/>
              <a:gd name="connsiteY44" fmla="*/ 660075 h 4794329"/>
              <a:gd name="connsiteX45" fmla="*/ 7258445 w 8328384"/>
              <a:gd name="connsiteY45" fmla="*/ 957805 h 4794329"/>
              <a:gd name="connsiteX46" fmla="*/ 3512618 w 8328384"/>
              <a:gd name="connsiteY46" fmla="*/ 4703631 h 4794329"/>
              <a:gd name="connsiteX47" fmla="*/ 3214888 w 8328384"/>
              <a:gd name="connsiteY47" fmla="*/ 4703631 h 4794329"/>
              <a:gd name="connsiteX48" fmla="*/ 3214889 w 8328384"/>
              <a:gd name="connsiteY48" fmla="*/ 4703631 h 4794329"/>
              <a:gd name="connsiteX49" fmla="*/ 3214889 w 8328384"/>
              <a:gd name="connsiteY49" fmla="*/ 4405901 h 4794329"/>
              <a:gd name="connsiteX50" fmla="*/ 6960715 w 8328384"/>
              <a:gd name="connsiteY50" fmla="*/ 660075 h 4794329"/>
              <a:gd name="connsiteX51" fmla="*/ 7109580 w 8328384"/>
              <a:gd name="connsiteY51" fmla="*/ 598413 h 4794329"/>
              <a:gd name="connsiteX52" fmla="*/ 5839303 w 8328384"/>
              <a:gd name="connsiteY52" fmla="*/ 530016 h 4794329"/>
              <a:gd name="connsiteX53" fmla="*/ 5988168 w 8328384"/>
              <a:gd name="connsiteY53" fmla="*/ 591677 h 4794329"/>
              <a:gd name="connsiteX54" fmla="*/ 5988168 w 8328384"/>
              <a:gd name="connsiteY54" fmla="*/ 889408 h 4794329"/>
              <a:gd name="connsiteX55" fmla="*/ 2912977 w 8328384"/>
              <a:gd name="connsiteY55" fmla="*/ 3964597 h 4794329"/>
              <a:gd name="connsiteX56" fmla="*/ 2615248 w 8328384"/>
              <a:gd name="connsiteY56" fmla="*/ 3964597 h 4794329"/>
              <a:gd name="connsiteX57" fmla="*/ 2615249 w 8328384"/>
              <a:gd name="connsiteY57" fmla="*/ 3964597 h 4794329"/>
              <a:gd name="connsiteX58" fmla="*/ 2615249 w 8328384"/>
              <a:gd name="connsiteY58" fmla="*/ 3666867 h 4794329"/>
              <a:gd name="connsiteX59" fmla="*/ 5690438 w 8328384"/>
              <a:gd name="connsiteY59" fmla="*/ 591677 h 4794329"/>
              <a:gd name="connsiteX60" fmla="*/ 5839303 w 8328384"/>
              <a:gd name="connsiteY60" fmla="*/ 530016 h 4794329"/>
              <a:gd name="connsiteX61" fmla="*/ 6693121 w 8328384"/>
              <a:gd name="connsiteY61" fmla="*/ 347526 h 4794329"/>
              <a:gd name="connsiteX62" fmla="*/ 6841986 w 8328384"/>
              <a:gd name="connsiteY62" fmla="*/ 409188 h 4794329"/>
              <a:gd name="connsiteX63" fmla="*/ 6841986 w 8328384"/>
              <a:gd name="connsiteY63" fmla="*/ 706919 h 4794329"/>
              <a:gd name="connsiteX64" fmla="*/ 3766795 w 8328384"/>
              <a:gd name="connsiteY64" fmla="*/ 3782108 h 4794329"/>
              <a:gd name="connsiteX65" fmla="*/ 3469065 w 8328384"/>
              <a:gd name="connsiteY65" fmla="*/ 3782108 h 4794329"/>
              <a:gd name="connsiteX66" fmla="*/ 3469066 w 8328384"/>
              <a:gd name="connsiteY66" fmla="*/ 3782108 h 4794329"/>
              <a:gd name="connsiteX67" fmla="*/ 3469066 w 8328384"/>
              <a:gd name="connsiteY67" fmla="*/ 3484378 h 4794329"/>
              <a:gd name="connsiteX68" fmla="*/ 6544256 w 8328384"/>
              <a:gd name="connsiteY68" fmla="*/ 409188 h 4794329"/>
              <a:gd name="connsiteX69" fmla="*/ 6693121 w 8328384"/>
              <a:gd name="connsiteY69" fmla="*/ 347526 h 4794329"/>
              <a:gd name="connsiteX70" fmla="*/ 4217989 w 8328384"/>
              <a:gd name="connsiteY70" fmla="*/ 126303 h 4794329"/>
              <a:gd name="connsiteX71" fmla="*/ 4366854 w 8328384"/>
              <a:gd name="connsiteY71" fmla="*/ 187965 h 4794329"/>
              <a:gd name="connsiteX72" fmla="*/ 4366854 w 8328384"/>
              <a:gd name="connsiteY72" fmla="*/ 485695 h 4794329"/>
              <a:gd name="connsiteX73" fmla="*/ 3108136 w 8328384"/>
              <a:gd name="connsiteY73" fmla="*/ 1744412 h 4794329"/>
              <a:gd name="connsiteX74" fmla="*/ 2810405 w 8328384"/>
              <a:gd name="connsiteY74" fmla="*/ 1744412 h 4794329"/>
              <a:gd name="connsiteX75" fmla="*/ 2810407 w 8328384"/>
              <a:gd name="connsiteY75" fmla="*/ 1744412 h 4794329"/>
              <a:gd name="connsiteX76" fmla="*/ 2810407 w 8328384"/>
              <a:gd name="connsiteY76" fmla="*/ 1446682 h 4794329"/>
              <a:gd name="connsiteX77" fmla="*/ 4069124 w 8328384"/>
              <a:gd name="connsiteY77" fmla="*/ 187965 h 4794329"/>
              <a:gd name="connsiteX78" fmla="*/ 4217989 w 8328384"/>
              <a:gd name="connsiteY78" fmla="*/ 126303 h 4794329"/>
              <a:gd name="connsiteX79" fmla="*/ 5679047 w 8328384"/>
              <a:gd name="connsiteY79" fmla="*/ 18853 h 4794329"/>
              <a:gd name="connsiteX80" fmla="*/ 5827912 w 8328384"/>
              <a:gd name="connsiteY80" fmla="*/ 80515 h 4794329"/>
              <a:gd name="connsiteX81" fmla="*/ 5827912 w 8328384"/>
              <a:gd name="connsiteY81" fmla="*/ 378245 h 4794329"/>
              <a:gd name="connsiteX82" fmla="*/ 3106228 w 8328384"/>
              <a:gd name="connsiteY82" fmla="*/ 3099928 h 4794329"/>
              <a:gd name="connsiteX83" fmla="*/ 2808498 w 8328384"/>
              <a:gd name="connsiteY83" fmla="*/ 3099928 h 4794329"/>
              <a:gd name="connsiteX84" fmla="*/ 2808499 w 8328384"/>
              <a:gd name="connsiteY84" fmla="*/ 3099928 h 4794329"/>
              <a:gd name="connsiteX85" fmla="*/ 2808499 w 8328384"/>
              <a:gd name="connsiteY85" fmla="*/ 2802198 h 4794329"/>
              <a:gd name="connsiteX86" fmla="*/ 5530182 w 8328384"/>
              <a:gd name="connsiteY86" fmla="*/ 80515 h 4794329"/>
              <a:gd name="connsiteX87" fmla="*/ 5679047 w 8328384"/>
              <a:gd name="connsiteY87" fmla="*/ 18853 h 4794329"/>
              <a:gd name="connsiteX88" fmla="*/ 5019170 w 8328384"/>
              <a:gd name="connsiteY88" fmla="*/ 0 h 4794329"/>
              <a:gd name="connsiteX89" fmla="*/ 5168035 w 8328384"/>
              <a:gd name="connsiteY89" fmla="*/ 61662 h 4794329"/>
              <a:gd name="connsiteX90" fmla="*/ 5168035 w 8328384"/>
              <a:gd name="connsiteY90" fmla="*/ 359392 h 4794329"/>
              <a:gd name="connsiteX91" fmla="*/ 3186355 w 8328384"/>
              <a:gd name="connsiteY91" fmla="*/ 2341071 h 4794329"/>
              <a:gd name="connsiteX92" fmla="*/ 2888624 w 8328384"/>
              <a:gd name="connsiteY92" fmla="*/ 2341071 h 4794329"/>
              <a:gd name="connsiteX93" fmla="*/ 2888626 w 8328384"/>
              <a:gd name="connsiteY93" fmla="*/ 2341071 h 4794329"/>
              <a:gd name="connsiteX94" fmla="*/ 2888626 w 8328384"/>
              <a:gd name="connsiteY94" fmla="*/ 2043341 h 4794329"/>
              <a:gd name="connsiteX95" fmla="*/ 4870305 w 8328384"/>
              <a:gd name="connsiteY95" fmla="*/ 61662 h 4794329"/>
              <a:gd name="connsiteX96" fmla="*/ 5019170 w 8328384"/>
              <a:gd name="connsiteY96" fmla="*/ 0 h 4794329"/>
              <a:gd name="connsiteX0" fmla="*/ 7193726 w 8334626"/>
              <a:gd name="connsiteY0" fmla="*/ 3202389 h 4794329"/>
              <a:gd name="connsiteX1" fmla="*/ 7342591 w 8334626"/>
              <a:gd name="connsiteY1" fmla="*/ 3264051 h 4794329"/>
              <a:gd name="connsiteX2" fmla="*/ 7342591 w 8334626"/>
              <a:gd name="connsiteY2" fmla="*/ 3561781 h 4794329"/>
              <a:gd name="connsiteX3" fmla="*/ 6682152 w 8334626"/>
              <a:gd name="connsiteY3" fmla="*/ 4222219 h 4794329"/>
              <a:gd name="connsiteX4" fmla="*/ 6384422 w 8334626"/>
              <a:gd name="connsiteY4" fmla="*/ 4222219 h 4794329"/>
              <a:gd name="connsiteX5" fmla="*/ 6384423 w 8334626"/>
              <a:gd name="connsiteY5" fmla="*/ 4222219 h 4794329"/>
              <a:gd name="connsiteX6" fmla="*/ 6384423 w 8334626"/>
              <a:gd name="connsiteY6" fmla="*/ 3924488 h 4794329"/>
              <a:gd name="connsiteX7" fmla="*/ 7044861 w 8334626"/>
              <a:gd name="connsiteY7" fmla="*/ 3264051 h 4794329"/>
              <a:gd name="connsiteX8" fmla="*/ 7193726 w 8334626"/>
              <a:gd name="connsiteY8" fmla="*/ 3202389 h 4794329"/>
              <a:gd name="connsiteX9" fmla="*/ 7160495 w 8334626"/>
              <a:gd name="connsiteY9" fmla="*/ 1896653 h 4794329"/>
              <a:gd name="connsiteX10" fmla="*/ 7309360 w 8334626"/>
              <a:gd name="connsiteY10" fmla="*/ 1958315 h 4794329"/>
              <a:gd name="connsiteX11" fmla="*/ 7309360 w 8334626"/>
              <a:gd name="connsiteY11" fmla="*/ 2256046 h 4794329"/>
              <a:gd name="connsiteX12" fmla="*/ 4832737 w 8334626"/>
              <a:gd name="connsiteY12" fmla="*/ 4732667 h 4794329"/>
              <a:gd name="connsiteX13" fmla="*/ 4535007 w 8334626"/>
              <a:gd name="connsiteY13" fmla="*/ 4732667 h 4794329"/>
              <a:gd name="connsiteX14" fmla="*/ 4535009 w 8334626"/>
              <a:gd name="connsiteY14" fmla="*/ 4732667 h 4794329"/>
              <a:gd name="connsiteX15" fmla="*/ 4535009 w 8334626"/>
              <a:gd name="connsiteY15" fmla="*/ 4434937 h 4794329"/>
              <a:gd name="connsiteX16" fmla="*/ 7011630 w 8334626"/>
              <a:gd name="connsiteY16" fmla="*/ 1958315 h 4794329"/>
              <a:gd name="connsiteX17" fmla="*/ 7160495 w 8334626"/>
              <a:gd name="connsiteY17" fmla="*/ 1896653 h 4794329"/>
              <a:gd name="connsiteX18" fmla="*/ 8124099 w 8334626"/>
              <a:gd name="connsiteY18" fmla="*/ 1606041 h 4794329"/>
              <a:gd name="connsiteX19" fmla="*/ 8272964 w 8334626"/>
              <a:gd name="connsiteY19" fmla="*/ 1667703 h 4794329"/>
              <a:gd name="connsiteX20" fmla="*/ 8272964 w 8334626"/>
              <a:gd name="connsiteY20" fmla="*/ 1965433 h 4794329"/>
              <a:gd name="connsiteX21" fmla="*/ 6387889 w 8334626"/>
              <a:gd name="connsiteY21" fmla="*/ 3850507 h 4794329"/>
              <a:gd name="connsiteX22" fmla="*/ 6090159 w 8334626"/>
              <a:gd name="connsiteY22" fmla="*/ 3850507 h 4794329"/>
              <a:gd name="connsiteX23" fmla="*/ 6090160 w 8334626"/>
              <a:gd name="connsiteY23" fmla="*/ 3850507 h 4794329"/>
              <a:gd name="connsiteX24" fmla="*/ 6090160 w 8334626"/>
              <a:gd name="connsiteY24" fmla="*/ 3552777 h 4794329"/>
              <a:gd name="connsiteX25" fmla="*/ 7975234 w 8334626"/>
              <a:gd name="connsiteY25" fmla="*/ 1667703 h 4794329"/>
              <a:gd name="connsiteX26" fmla="*/ 8124099 w 8334626"/>
              <a:gd name="connsiteY26" fmla="*/ 1606041 h 4794329"/>
              <a:gd name="connsiteX27" fmla="*/ 6242 w 8334626"/>
              <a:gd name="connsiteY27" fmla="*/ 1576410 h 4794329"/>
              <a:gd name="connsiteX28" fmla="*/ 1034496 w 8334626"/>
              <a:gd name="connsiteY28" fmla="*/ 898884 h 4794329"/>
              <a:gd name="connsiteX29" fmla="*/ 1712023 w 8334626"/>
              <a:gd name="connsiteY29" fmla="*/ 1576410 h 4794329"/>
              <a:gd name="connsiteX30" fmla="*/ 1034496 w 8334626"/>
              <a:gd name="connsiteY30" fmla="*/ 2253937 h 4794329"/>
              <a:gd name="connsiteX31" fmla="*/ 683769 w 8334626"/>
              <a:gd name="connsiteY31" fmla="*/ 2253937 h 4794329"/>
              <a:gd name="connsiteX32" fmla="*/ 6242 w 8334626"/>
              <a:gd name="connsiteY32" fmla="*/ 1576410 h 4794329"/>
              <a:gd name="connsiteX33" fmla="*/ 7672060 w 8334626"/>
              <a:gd name="connsiteY33" fmla="*/ 717042 h 4794329"/>
              <a:gd name="connsiteX34" fmla="*/ 7820925 w 8334626"/>
              <a:gd name="connsiteY34" fmla="*/ 778704 h 4794329"/>
              <a:gd name="connsiteX35" fmla="*/ 7820925 w 8334626"/>
              <a:gd name="connsiteY35" fmla="*/ 1076435 h 4794329"/>
              <a:gd name="connsiteX36" fmla="*/ 4745734 w 8334626"/>
              <a:gd name="connsiteY36" fmla="*/ 4151624 h 4794329"/>
              <a:gd name="connsiteX37" fmla="*/ 4448004 w 8334626"/>
              <a:gd name="connsiteY37" fmla="*/ 4151624 h 4794329"/>
              <a:gd name="connsiteX38" fmla="*/ 4448005 w 8334626"/>
              <a:gd name="connsiteY38" fmla="*/ 4151624 h 4794329"/>
              <a:gd name="connsiteX39" fmla="*/ 4448005 w 8334626"/>
              <a:gd name="connsiteY39" fmla="*/ 3853894 h 4794329"/>
              <a:gd name="connsiteX40" fmla="*/ 7523195 w 8334626"/>
              <a:gd name="connsiteY40" fmla="*/ 778704 h 4794329"/>
              <a:gd name="connsiteX41" fmla="*/ 7672060 w 8334626"/>
              <a:gd name="connsiteY41" fmla="*/ 717042 h 4794329"/>
              <a:gd name="connsiteX42" fmla="*/ 7115822 w 8334626"/>
              <a:gd name="connsiteY42" fmla="*/ 598413 h 4794329"/>
              <a:gd name="connsiteX43" fmla="*/ 7264687 w 8334626"/>
              <a:gd name="connsiteY43" fmla="*/ 660075 h 4794329"/>
              <a:gd name="connsiteX44" fmla="*/ 7264687 w 8334626"/>
              <a:gd name="connsiteY44" fmla="*/ 957805 h 4794329"/>
              <a:gd name="connsiteX45" fmla="*/ 3518860 w 8334626"/>
              <a:gd name="connsiteY45" fmla="*/ 4703631 h 4794329"/>
              <a:gd name="connsiteX46" fmla="*/ 3221130 w 8334626"/>
              <a:gd name="connsiteY46" fmla="*/ 4703631 h 4794329"/>
              <a:gd name="connsiteX47" fmla="*/ 3221131 w 8334626"/>
              <a:gd name="connsiteY47" fmla="*/ 4703631 h 4794329"/>
              <a:gd name="connsiteX48" fmla="*/ 3221131 w 8334626"/>
              <a:gd name="connsiteY48" fmla="*/ 4405901 h 4794329"/>
              <a:gd name="connsiteX49" fmla="*/ 6966957 w 8334626"/>
              <a:gd name="connsiteY49" fmla="*/ 660075 h 4794329"/>
              <a:gd name="connsiteX50" fmla="*/ 7115822 w 8334626"/>
              <a:gd name="connsiteY50" fmla="*/ 598413 h 4794329"/>
              <a:gd name="connsiteX51" fmla="*/ 5845545 w 8334626"/>
              <a:gd name="connsiteY51" fmla="*/ 530016 h 4794329"/>
              <a:gd name="connsiteX52" fmla="*/ 5994410 w 8334626"/>
              <a:gd name="connsiteY52" fmla="*/ 591677 h 4794329"/>
              <a:gd name="connsiteX53" fmla="*/ 5994410 w 8334626"/>
              <a:gd name="connsiteY53" fmla="*/ 889408 h 4794329"/>
              <a:gd name="connsiteX54" fmla="*/ 2919219 w 8334626"/>
              <a:gd name="connsiteY54" fmla="*/ 3964597 h 4794329"/>
              <a:gd name="connsiteX55" fmla="*/ 2621490 w 8334626"/>
              <a:gd name="connsiteY55" fmla="*/ 3964597 h 4794329"/>
              <a:gd name="connsiteX56" fmla="*/ 2621491 w 8334626"/>
              <a:gd name="connsiteY56" fmla="*/ 3964597 h 4794329"/>
              <a:gd name="connsiteX57" fmla="*/ 2621491 w 8334626"/>
              <a:gd name="connsiteY57" fmla="*/ 3666867 h 4794329"/>
              <a:gd name="connsiteX58" fmla="*/ 5696680 w 8334626"/>
              <a:gd name="connsiteY58" fmla="*/ 591677 h 4794329"/>
              <a:gd name="connsiteX59" fmla="*/ 5845545 w 8334626"/>
              <a:gd name="connsiteY59" fmla="*/ 530016 h 4794329"/>
              <a:gd name="connsiteX60" fmla="*/ 6699363 w 8334626"/>
              <a:gd name="connsiteY60" fmla="*/ 347526 h 4794329"/>
              <a:gd name="connsiteX61" fmla="*/ 6848228 w 8334626"/>
              <a:gd name="connsiteY61" fmla="*/ 409188 h 4794329"/>
              <a:gd name="connsiteX62" fmla="*/ 6848228 w 8334626"/>
              <a:gd name="connsiteY62" fmla="*/ 706919 h 4794329"/>
              <a:gd name="connsiteX63" fmla="*/ 3773037 w 8334626"/>
              <a:gd name="connsiteY63" fmla="*/ 3782108 h 4794329"/>
              <a:gd name="connsiteX64" fmla="*/ 3475307 w 8334626"/>
              <a:gd name="connsiteY64" fmla="*/ 3782108 h 4794329"/>
              <a:gd name="connsiteX65" fmla="*/ 3475308 w 8334626"/>
              <a:gd name="connsiteY65" fmla="*/ 3782108 h 4794329"/>
              <a:gd name="connsiteX66" fmla="*/ 3475308 w 8334626"/>
              <a:gd name="connsiteY66" fmla="*/ 3484378 h 4794329"/>
              <a:gd name="connsiteX67" fmla="*/ 6550498 w 8334626"/>
              <a:gd name="connsiteY67" fmla="*/ 409188 h 4794329"/>
              <a:gd name="connsiteX68" fmla="*/ 6699363 w 8334626"/>
              <a:gd name="connsiteY68" fmla="*/ 347526 h 4794329"/>
              <a:gd name="connsiteX69" fmla="*/ 4224231 w 8334626"/>
              <a:gd name="connsiteY69" fmla="*/ 126303 h 4794329"/>
              <a:gd name="connsiteX70" fmla="*/ 4373096 w 8334626"/>
              <a:gd name="connsiteY70" fmla="*/ 187965 h 4794329"/>
              <a:gd name="connsiteX71" fmla="*/ 4373096 w 8334626"/>
              <a:gd name="connsiteY71" fmla="*/ 485695 h 4794329"/>
              <a:gd name="connsiteX72" fmla="*/ 3114378 w 8334626"/>
              <a:gd name="connsiteY72" fmla="*/ 1744412 h 4794329"/>
              <a:gd name="connsiteX73" fmla="*/ 2816647 w 8334626"/>
              <a:gd name="connsiteY73" fmla="*/ 1744412 h 4794329"/>
              <a:gd name="connsiteX74" fmla="*/ 2816649 w 8334626"/>
              <a:gd name="connsiteY74" fmla="*/ 1744412 h 4794329"/>
              <a:gd name="connsiteX75" fmla="*/ 2816649 w 8334626"/>
              <a:gd name="connsiteY75" fmla="*/ 1446682 h 4794329"/>
              <a:gd name="connsiteX76" fmla="*/ 4075366 w 8334626"/>
              <a:gd name="connsiteY76" fmla="*/ 187965 h 4794329"/>
              <a:gd name="connsiteX77" fmla="*/ 4224231 w 8334626"/>
              <a:gd name="connsiteY77" fmla="*/ 126303 h 4794329"/>
              <a:gd name="connsiteX78" fmla="*/ 5685289 w 8334626"/>
              <a:gd name="connsiteY78" fmla="*/ 18853 h 4794329"/>
              <a:gd name="connsiteX79" fmla="*/ 5834154 w 8334626"/>
              <a:gd name="connsiteY79" fmla="*/ 80515 h 4794329"/>
              <a:gd name="connsiteX80" fmla="*/ 5834154 w 8334626"/>
              <a:gd name="connsiteY80" fmla="*/ 378245 h 4794329"/>
              <a:gd name="connsiteX81" fmla="*/ 3112470 w 8334626"/>
              <a:gd name="connsiteY81" fmla="*/ 3099928 h 4794329"/>
              <a:gd name="connsiteX82" fmla="*/ 2814740 w 8334626"/>
              <a:gd name="connsiteY82" fmla="*/ 3099928 h 4794329"/>
              <a:gd name="connsiteX83" fmla="*/ 2814741 w 8334626"/>
              <a:gd name="connsiteY83" fmla="*/ 3099928 h 4794329"/>
              <a:gd name="connsiteX84" fmla="*/ 2814741 w 8334626"/>
              <a:gd name="connsiteY84" fmla="*/ 2802198 h 4794329"/>
              <a:gd name="connsiteX85" fmla="*/ 5536424 w 8334626"/>
              <a:gd name="connsiteY85" fmla="*/ 80515 h 4794329"/>
              <a:gd name="connsiteX86" fmla="*/ 5685289 w 8334626"/>
              <a:gd name="connsiteY86" fmla="*/ 18853 h 4794329"/>
              <a:gd name="connsiteX87" fmla="*/ 5025412 w 8334626"/>
              <a:gd name="connsiteY87" fmla="*/ 0 h 4794329"/>
              <a:gd name="connsiteX88" fmla="*/ 5174277 w 8334626"/>
              <a:gd name="connsiteY88" fmla="*/ 61662 h 4794329"/>
              <a:gd name="connsiteX89" fmla="*/ 5174277 w 8334626"/>
              <a:gd name="connsiteY89" fmla="*/ 359392 h 4794329"/>
              <a:gd name="connsiteX90" fmla="*/ 3192597 w 8334626"/>
              <a:gd name="connsiteY90" fmla="*/ 2341071 h 4794329"/>
              <a:gd name="connsiteX91" fmla="*/ 2894866 w 8334626"/>
              <a:gd name="connsiteY91" fmla="*/ 2341071 h 4794329"/>
              <a:gd name="connsiteX92" fmla="*/ 2894868 w 8334626"/>
              <a:gd name="connsiteY92" fmla="*/ 2341071 h 4794329"/>
              <a:gd name="connsiteX93" fmla="*/ 2894868 w 8334626"/>
              <a:gd name="connsiteY93" fmla="*/ 2043341 h 4794329"/>
              <a:gd name="connsiteX94" fmla="*/ 4876547 w 8334626"/>
              <a:gd name="connsiteY94" fmla="*/ 61662 h 4794329"/>
              <a:gd name="connsiteX95" fmla="*/ 5025412 w 8334626"/>
              <a:gd name="connsiteY95" fmla="*/ 0 h 4794329"/>
              <a:gd name="connsiteX0" fmla="*/ 7223556 w 8364456"/>
              <a:gd name="connsiteY0" fmla="*/ 3202389 h 4794329"/>
              <a:gd name="connsiteX1" fmla="*/ 7372421 w 8364456"/>
              <a:gd name="connsiteY1" fmla="*/ 3264051 h 4794329"/>
              <a:gd name="connsiteX2" fmla="*/ 7372421 w 8364456"/>
              <a:gd name="connsiteY2" fmla="*/ 3561781 h 4794329"/>
              <a:gd name="connsiteX3" fmla="*/ 6711982 w 8364456"/>
              <a:gd name="connsiteY3" fmla="*/ 4222219 h 4794329"/>
              <a:gd name="connsiteX4" fmla="*/ 6414252 w 8364456"/>
              <a:gd name="connsiteY4" fmla="*/ 4222219 h 4794329"/>
              <a:gd name="connsiteX5" fmla="*/ 6414253 w 8364456"/>
              <a:gd name="connsiteY5" fmla="*/ 4222219 h 4794329"/>
              <a:gd name="connsiteX6" fmla="*/ 6414253 w 8364456"/>
              <a:gd name="connsiteY6" fmla="*/ 3924488 h 4794329"/>
              <a:gd name="connsiteX7" fmla="*/ 7074691 w 8364456"/>
              <a:gd name="connsiteY7" fmla="*/ 3264051 h 4794329"/>
              <a:gd name="connsiteX8" fmla="*/ 7223556 w 8364456"/>
              <a:gd name="connsiteY8" fmla="*/ 3202389 h 4794329"/>
              <a:gd name="connsiteX9" fmla="*/ 7190325 w 8364456"/>
              <a:gd name="connsiteY9" fmla="*/ 1896653 h 4794329"/>
              <a:gd name="connsiteX10" fmla="*/ 7339190 w 8364456"/>
              <a:gd name="connsiteY10" fmla="*/ 1958315 h 4794329"/>
              <a:gd name="connsiteX11" fmla="*/ 7339190 w 8364456"/>
              <a:gd name="connsiteY11" fmla="*/ 2256046 h 4794329"/>
              <a:gd name="connsiteX12" fmla="*/ 4862567 w 8364456"/>
              <a:gd name="connsiteY12" fmla="*/ 4732667 h 4794329"/>
              <a:gd name="connsiteX13" fmla="*/ 4564837 w 8364456"/>
              <a:gd name="connsiteY13" fmla="*/ 4732667 h 4794329"/>
              <a:gd name="connsiteX14" fmla="*/ 4564839 w 8364456"/>
              <a:gd name="connsiteY14" fmla="*/ 4732667 h 4794329"/>
              <a:gd name="connsiteX15" fmla="*/ 4564839 w 8364456"/>
              <a:gd name="connsiteY15" fmla="*/ 4434937 h 4794329"/>
              <a:gd name="connsiteX16" fmla="*/ 7041460 w 8364456"/>
              <a:gd name="connsiteY16" fmla="*/ 1958315 h 4794329"/>
              <a:gd name="connsiteX17" fmla="*/ 7190325 w 8364456"/>
              <a:gd name="connsiteY17" fmla="*/ 1896653 h 4794329"/>
              <a:gd name="connsiteX18" fmla="*/ 8153929 w 8364456"/>
              <a:gd name="connsiteY18" fmla="*/ 1606041 h 4794329"/>
              <a:gd name="connsiteX19" fmla="*/ 8302794 w 8364456"/>
              <a:gd name="connsiteY19" fmla="*/ 1667703 h 4794329"/>
              <a:gd name="connsiteX20" fmla="*/ 8302794 w 8364456"/>
              <a:gd name="connsiteY20" fmla="*/ 1965433 h 4794329"/>
              <a:gd name="connsiteX21" fmla="*/ 6417719 w 8364456"/>
              <a:gd name="connsiteY21" fmla="*/ 3850507 h 4794329"/>
              <a:gd name="connsiteX22" fmla="*/ 6119989 w 8364456"/>
              <a:gd name="connsiteY22" fmla="*/ 3850507 h 4794329"/>
              <a:gd name="connsiteX23" fmla="*/ 6119990 w 8364456"/>
              <a:gd name="connsiteY23" fmla="*/ 3850507 h 4794329"/>
              <a:gd name="connsiteX24" fmla="*/ 6119990 w 8364456"/>
              <a:gd name="connsiteY24" fmla="*/ 3552777 h 4794329"/>
              <a:gd name="connsiteX25" fmla="*/ 8005064 w 8364456"/>
              <a:gd name="connsiteY25" fmla="*/ 1667703 h 4794329"/>
              <a:gd name="connsiteX26" fmla="*/ 8153929 w 8364456"/>
              <a:gd name="connsiteY26" fmla="*/ 1606041 h 4794329"/>
              <a:gd name="connsiteX27" fmla="*/ 36072 w 8364456"/>
              <a:gd name="connsiteY27" fmla="*/ 1576410 h 4794329"/>
              <a:gd name="connsiteX28" fmla="*/ 1741853 w 8364456"/>
              <a:gd name="connsiteY28" fmla="*/ 1576410 h 4794329"/>
              <a:gd name="connsiteX29" fmla="*/ 1064326 w 8364456"/>
              <a:gd name="connsiteY29" fmla="*/ 2253937 h 4794329"/>
              <a:gd name="connsiteX30" fmla="*/ 713599 w 8364456"/>
              <a:gd name="connsiteY30" fmla="*/ 2253937 h 4794329"/>
              <a:gd name="connsiteX31" fmla="*/ 36072 w 8364456"/>
              <a:gd name="connsiteY31" fmla="*/ 1576410 h 4794329"/>
              <a:gd name="connsiteX32" fmla="*/ 7701890 w 8364456"/>
              <a:gd name="connsiteY32" fmla="*/ 717042 h 4794329"/>
              <a:gd name="connsiteX33" fmla="*/ 7850755 w 8364456"/>
              <a:gd name="connsiteY33" fmla="*/ 778704 h 4794329"/>
              <a:gd name="connsiteX34" fmla="*/ 7850755 w 8364456"/>
              <a:gd name="connsiteY34" fmla="*/ 1076435 h 4794329"/>
              <a:gd name="connsiteX35" fmla="*/ 4775564 w 8364456"/>
              <a:gd name="connsiteY35" fmla="*/ 4151624 h 4794329"/>
              <a:gd name="connsiteX36" fmla="*/ 4477834 w 8364456"/>
              <a:gd name="connsiteY36" fmla="*/ 4151624 h 4794329"/>
              <a:gd name="connsiteX37" fmla="*/ 4477835 w 8364456"/>
              <a:gd name="connsiteY37" fmla="*/ 4151624 h 4794329"/>
              <a:gd name="connsiteX38" fmla="*/ 4477835 w 8364456"/>
              <a:gd name="connsiteY38" fmla="*/ 3853894 h 4794329"/>
              <a:gd name="connsiteX39" fmla="*/ 7553025 w 8364456"/>
              <a:gd name="connsiteY39" fmla="*/ 778704 h 4794329"/>
              <a:gd name="connsiteX40" fmla="*/ 7701890 w 8364456"/>
              <a:gd name="connsiteY40" fmla="*/ 717042 h 4794329"/>
              <a:gd name="connsiteX41" fmla="*/ 7145652 w 8364456"/>
              <a:gd name="connsiteY41" fmla="*/ 598413 h 4794329"/>
              <a:gd name="connsiteX42" fmla="*/ 7294517 w 8364456"/>
              <a:gd name="connsiteY42" fmla="*/ 660075 h 4794329"/>
              <a:gd name="connsiteX43" fmla="*/ 7294517 w 8364456"/>
              <a:gd name="connsiteY43" fmla="*/ 957805 h 4794329"/>
              <a:gd name="connsiteX44" fmla="*/ 3548690 w 8364456"/>
              <a:gd name="connsiteY44" fmla="*/ 4703631 h 4794329"/>
              <a:gd name="connsiteX45" fmla="*/ 3250960 w 8364456"/>
              <a:gd name="connsiteY45" fmla="*/ 4703631 h 4794329"/>
              <a:gd name="connsiteX46" fmla="*/ 3250961 w 8364456"/>
              <a:gd name="connsiteY46" fmla="*/ 4703631 h 4794329"/>
              <a:gd name="connsiteX47" fmla="*/ 3250961 w 8364456"/>
              <a:gd name="connsiteY47" fmla="*/ 4405901 h 4794329"/>
              <a:gd name="connsiteX48" fmla="*/ 6996787 w 8364456"/>
              <a:gd name="connsiteY48" fmla="*/ 660075 h 4794329"/>
              <a:gd name="connsiteX49" fmla="*/ 7145652 w 8364456"/>
              <a:gd name="connsiteY49" fmla="*/ 598413 h 4794329"/>
              <a:gd name="connsiteX50" fmla="*/ 5875375 w 8364456"/>
              <a:gd name="connsiteY50" fmla="*/ 530016 h 4794329"/>
              <a:gd name="connsiteX51" fmla="*/ 6024240 w 8364456"/>
              <a:gd name="connsiteY51" fmla="*/ 591677 h 4794329"/>
              <a:gd name="connsiteX52" fmla="*/ 6024240 w 8364456"/>
              <a:gd name="connsiteY52" fmla="*/ 889408 h 4794329"/>
              <a:gd name="connsiteX53" fmla="*/ 2949049 w 8364456"/>
              <a:gd name="connsiteY53" fmla="*/ 3964597 h 4794329"/>
              <a:gd name="connsiteX54" fmla="*/ 2651320 w 8364456"/>
              <a:gd name="connsiteY54" fmla="*/ 3964597 h 4794329"/>
              <a:gd name="connsiteX55" fmla="*/ 2651321 w 8364456"/>
              <a:gd name="connsiteY55" fmla="*/ 3964597 h 4794329"/>
              <a:gd name="connsiteX56" fmla="*/ 2651321 w 8364456"/>
              <a:gd name="connsiteY56" fmla="*/ 3666867 h 4794329"/>
              <a:gd name="connsiteX57" fmla="*/ 5726510 w 8364456"/>
              <a:gd name="connsiteY57" fmla="*/ 591677 h 4794329"/>
              <a:gd name="connsiteX58" fmla="*/ 5875375 w 8364456"/>
              <a:gd name="connsiteY58" fmla="*/ 530016 h 4794329"/>
              <a:gd name="connsiteX59" fmla="*/ 6729193 w 8364456"/>
              <a:gd name="connsiteY59" fmla="*/ 347526 h 4794329"/>
              <a:gd name="connsiteX60" fmla="*/ 6878058 w 8364456"/>
              <a:gd name="connsiteY60" fmla="*/ 409188 h 4794329"/>
              <a:gd name="connsiteX61" fmla="*/ 6878058 w 8364456"/>
              <a:gd name="connsiteY61" fmla="*/ 706919 h 4794329"/>
              <a:gd name="connsiteX62" fmla="*/ 3802867 w 8364456"/>
              <a:gd name="connsiteY62" fmla="*/ 3782108 h 4794329"/>
              <a:gd name="connsiteX63" fmla="*/ 3505137 w 8364456"/>
              <a:gd name="connsiteY63" fmla="*/ 3782108 h 4794329"/>
              <a:gd name="connsiteX64" fmla="*/ 3505138 w 8364456"/>
              <a:gd name="connsiteY64" fmla="*/ 3782108 h 4794329"/>
              <a:gd name="connsiteX65" fmla="*/ 3505138 w 8364456"/>
              <a:gd name="connsiteY65" fmla="*/ 3484378 h 4794329"/>
              <a:gd name="connsiteX66" fmla="*/ 6580328 w 8364456"/>
              <a:gd name="connsiteY66" fmla="*/ 409188 h 4794329"/>
              <a:gd name="connsiteX67" fmla="*/ 6729193 w 8364456"/>
              <a:gd name="connsiteY67" fmla="*/ 347526 h 4794329"/>
              <a:gd name="connsiteX68" fmla="*/ 4254061 w 8364456"/>
              <a:gd name="connsiteY68" fmla="*/ 126303 h 4794329"/>
              <a:gd name="connsiteX69" fmla="*/ 4402926 w 8364456"/>
              <a:gd name="connsiteY69" fmla="*/ 187965 h 4794329"/>
              <a:gd name="connsiteX70" fmla="*/ 4402926 w 8364456"/>
              <a:gd name="connsiteY70" fmla="*/ 485695 h 4794329"/>
              <a:gd name="connsiteX71" fmla="*/ 3144208 w 8364456"/>
              <a:gd name="connsiteY71" fmla="*/ 1744412 h 4794329"/>
              <a:gd name="connsiteX72" fmla="*/ 2846477 w 8364456"/>
              <a:gd name="connsiteY72" fmla="*/ 1744412 h 4794329"/>
              <a:gd name="connsiteX73" fmla="*/ 2846479 w 8364456"/>
              <a:gd name="connsiteY73" fmla="*/ 1744412 h 4794329"/>
              <a:gd name="connsiteX74" fmla="*/ 2846479 w 8364456"/>
              <a:gd name="connsiteY74" fmla="*/ 1446682 h 4794329"/>
              <a:gd name="connsiteX75" fmla="*/ 4105196 w 8364456"/>
              <a:gd name="connsiteY75" fmla="*/ 187965 h 4794329"/>
              <a:gd name="connsiteX76" fmla="*/ 4254061 w 8364456"/>
              <a:gd name="connsiteY76" fmla="*/ 126303 h 4794329"/>
              <a:gd name="connsiteX77" fmla="*/ 5715119 w 8364456"/>
              <a:gd name="connsiteY77" fmla="*/ 18853 h 4794329"/>
              <a:gd name="connsiteX78" fmla="*/ 5863984 w 8364456"/>
              <a:gd name="connsiteY78" fmla="*/ 80515 h 4794329"/>
              <a:gd name="connsiteX79" fmla="*/ 5863984 w 8364456"/>
              <a:gd name="connsiteY79" fmla="*/ 378245 h 4794329"/>
              <a:gd name="connsiteX80" fmla="*/ 3142300 w 8364456"/>
              <a:gd name="connsiteY80" fmla="*/ 3099928 h 4794329"/>
              <a:gd name="connsiteX81" fmla="*/ 2844570 w 8364456"/>
              <a:gd name="connsiteY81" fmla="*/ 3099928 h 4794329"/>
              <a:gd name="connsiteX82" fmla="*/ 2844571 w 8364456"/>
              <a:gd name="connsiteY82" fmla="*/ 3099928 h 4794329"/>
              <a:gd name="connsiteX83" fmla="*/ 2844571 w 8364456"/>
              <a:gd name="connsiteY83" fmla="*/ 2802198 h 4794329"/>
              <a:gd name="connsiteX84" fmla="*/ 5566254 w 8364456"/>
              <a:gd name="connsiteY84" fmla="*/ 80515 h 4794329"/>
              <a:gd name="connsiteX85" fmla="*/ 5715119 w 8364456"/>
              <a:gd name="connsiteY85" fmla="*/ 18853 h 4794329"/>
              <a:gd name="connsiteX86" fmla="*/ 5055242 w 8364456"/>
              <a:gd name="connsiteY86" fmla="*/ 0 h 4794329"/>
              <a:gd name="connsiteX87" fmla="*/ 5204107 w 8364456"/>
              <a:gd name="connsiteY87" fmla="*/ 61662 h 4794329"/>
              <a:gd name="connsiteX88" fmla="*/ 5204107 w 8364456"/>
              <a:gd name="connsiteY88" fmla="*/ 359392 h 4794329"/>
              <a:gd name="connsiteX89" fmla="*/ 3222427 w 8364456"/>
              <a:gd name="connsiteY89" fmla="*/ 2341071 h 4794329"/>
              <a:gd name="connsiteX90" fmla="*/ 2924696 w 8364456"/>
              <a:gd name="connsiteY90" fmla="*/ 2341071 h 4794329"/>
              <a:gd name="connsiteX91" fmla="*/ 2924698 w 8364456"/>
              <a:gd name="connsiteY91" fmla="*/ 2341071 h 4794329"/>
              <a:gd name="connsiteX92" fmla="*/ 2924698 w 8364456"/>
              <a:gd name="connsiteY92" fmla="*/ 2043341 h 4794329"/>
              <a:gd name="connsiteX93" fmla="*/ 4906377 w 8364456"/>
              <a:gd name="connsiteY93" fmla="*/ 61662 h 4794329"/>
              <a:gd name="connsiteX94" fmla="*/ 5055242 w 8364456"/>
              <a:gd name="connsiteY94" fmla="*/ 0 h 4794329"/>
              <a:gd name="connsiteX0" fmla="*/ 7193727 w 8334627"/>
              <a:gd name="connsiteY0" fmla="*/ 3202389 h 4794329"/>
              <a:gd name="connsiteX1" fmla="*/ 7342592 w 8334627"/>
              <a:gd name="connsiteY1" fmla="*/ 3264051 h 4794329"/>
              <a:gd name="connsiteX2" fmla="*/ 7342592 w 8334627"/>
              <a:gd name="connsiteY2" fmla="*/ 3561781 h 4794329"/>
              <a:gd name="connsiteX3" fmla="*/ 6682153 w 8334627"/>
              <a:gd name="connsiteY3" fmla="*/ 4222219 h 4794329"/>
              <a:gd name="connsiteX4" fmla="*/ 6384423 w 8334627"/>
              <a:gd name="connsiteY4" fmla="*/ 4222219 h 4794329"/>
              <a:gd name="connsiteX5" fmla="*/ 6384424 w 8334627"/>
              <a:gd name="connsiteY5" fmla="*/ 4222219 h 4794329"/>
              <a:gd name="connsiteX6" fmla="*/ 6384424 w 8334627"/>
              <a:gd name="connsiteY6" fmla="*/ 3924488 h 4794329"/>
              <a:gd name="connsiteX7" fmla="*/ 7044862 w 8334627"/>
              <a:gd name="connsiteY7" fmla="*/ 3264051 h 4794329"/>
              <a:gd name="connsiteX8" fmla="*/ 7193727 w 8334627"/>
              <a:gd name="connsiteY8" fmla="*/ 3202389 h 4794329"/>
              <a:gd name="connsiteX9" fmla="*/ 7160496 w 8334627"/>
              <a:gd name="connsiteY9" fmla="*/ 1896653 h 4794329"/>
              <a:gd name="connsiteX10" fmla="*/ 7309361 w 8334627"/>
              <a:gd name="connsiteY10" fmla="*/ 1958315 h 4794329"/>
              <a:gd name="connsiteX11" fmla="*/ 7309361 w 8334627"/>
              <a:gd name="connsiteY11" fmla="*/ 2256046 h 4794329"/>
              <a:gd name="connsiteX12" fmla="*/ 4832738 w 8334627"/>
              <a:gd name="connsiteY12" fmla="*/ 4732667 h 4794329"/>
              <a:gd name="connsiteX13" fmla="*/ 4535008 w 8334627"/>
              <a:gd name="connsiteY13" fmla="*/ 4732667 h 4794329"/>
              <a:gd name="connsiteX14" fmla="*/ 4535010 w 8334627"/>
              <a:gd name="connsiteY14" fmla="*/ 4732667 h 4794329"/>
              <a:gd name="connsiteX15" fmla="*/ 4535010 w 8334627"/>
              <a:gd name="connsiteY15" fmla="*/ 4434937 h 4794329"/>
              <a:gd name="connsiteX16" fmla="*/ 7011631 w 8334627"/>
              <a:gd name="connsiteY16" fmla="*/ 1958315 h 4794329"/>
              <a:gd name="connsiteX17" fmla="*/ 7160496 w 8334627"/>
              <a:gd name="connsiteY17" fmla="*/ 1896653 h 4794329"/>
              <a:gd name="connsiteX18" fmla="*/ 8124100 w 8334627"/>
              <a:gd name="connsiteY18" fmla="*/ 1606041 h 4794329"/>
              <a:gd name="connsiteX19" fmla="*/ 8272965 w 8334627"/>
              <a:gd name="connsiteY19" fmla="*/ 1667703 h 4794329"/>
              <a:gd name="connsiteX20" fmla="*/ 8272965 w 8334627"/>
              <a:gd name="connsiteY20" fmla="*/ 1965433 h 4794329"/>
              <a:gd name="connsiteX21" fmla="*/ 6387890 w 8334627"/>
              <a:gd name="connsiteY21" fmla="*/ 3850507 h 4794329"/>
              <a:gd name="connsiteX22" fmla="*/ 6090160 w 8334627"/>
              <a:gd name="connsiteY22" fmla="*/ 3850507 h 4794329"/>
              <a:gd name="connsiteX23" fmla="*/ 6090161 w 8334627"/>
              <a:gd name="connsiteY23" fmla="*/ 3850507 h 4794329"/>
              <a:gd name="connsiteX24" fmla="*/ 6090161 w 8334627"/>
              <a:gd name="connsiteY24" fmla="*/ 3552777 h 4794329"/>
              <a:gd name="connsiteX25" fmla="*/ 7975235 w 8334627"/>
              <a:gd name="connsiteY25" fmla="*/ 1667703 h 4794329"/>
              <a:gd name="connsiteX26" fmla="*/ 8124100 w 8334627"/>
              <a:gd name="connsiteY26" fmla="*/ 1606041 h 4794329"/>
              <a:gd name="connsiteX27" fmla="*/ 6243 w 8334627"/>
              <a:gd name="connsiteY27" fmla="*/ 1576410 h 4794329"/>
              <a:gd name="connsiteX28" fmla="*/ 1034497 w 8334627"/>
              <a:gd name="connsiteY28" fmla="*/ 2253937 h 4794329"/>
              <a:gd name="connsiteX29" fmla="*/ 683770 w 8334627"/>
              <a:gd name="connsiteY29" fmla="*/ 2253937 h 4794329"/>
              <a:gd name="connsiteX30" fmla="*/ 6243 w 8334627"/>
              <a:gd name="connsiteY30" fmla="*/ 1576410 h 4794329"/>
              <a:gd name="connsiteX31" fmla="*/ 7672061 w 8334627"/>
              <a:gd name="connsiteY31" fmla="*/ 717042 h 4794329"/>
              <a:gd name="connsiteX32" fmla="*/ 7820926 w 8334627"/>
              <a:gd name="connsiteY32" fmla="*/ 778704 h 4794329"/>
              <a:gd name="connsiteX33" fmla="*/ 7820926 w 8334627"/>
              <a:gd name="connsiteY33" fmla="*/ 1076435 h 4794329"/>
              <a:gd name="connsiteX34" fmla="*/ 4745735 w 8334627"/>
              <a:gd name="connsiteY34" fmla="*/ 4151624 h 4794329"/>
              <a:gd name="connsiteX35" fmla="*/ 4448005 w 8334627"/>
              <a:gd name="connsiteY35" fmla="*/ 4151624 h 4794329"/>
              <a:gd name="connsiteX36" fmla="*/ 4448006 w 8334627"/>
              <a:gd name="connsiteY36" fmla="*/ 4151624 h 4794329"/>
              <a:gd name="connsiteX37" fmla="*/ 4448006 w 8334627"/>
              <a:gd name="connsiteY37" fmla="*/ 3853894 h 4794329"/>
              <a:gd name="connsiteX38" fmla="*/ 7523196 w 8334627"/>
              <a:gd name="connsiteY38" fmla="*/ 778704 h 4794329"/>
              <a:gd name="connsiteX39" fmla="*/ 7672061 w 8334627"/>
              <a:gd name="connsiteY39" fmla="*/ 717042 h 4794329"/>
              <a:gd name="connsiteX40" fmla="*/ 7115823 w 8334627"/>
              <a:gd name="connsiteY40" fmla="*/ 598413 h 4794329"/>
              <a:gd name="connsiteX41" fmla="*/ 7264688 w 8334627"/>
              <a:gd name="connsiteY41" fmla="*/ 660075 h 4794329"/>
              <a:gd name="connsiteX42" fmla="*/ 7264688 w 8334627"/>
              <a:gd name="connsiteY42" fmla="*/ 957805 h 4794329"/>
              <a:gd name="connsiteX43" fmla="*/ 3518861 w 8334627"/>
              <a:gd name="connsiteY43" fmla="*/ 4703631 h 4794329"/>
              <a:gd name="connsiteX44" fmla="*/ 3221131 w 8334627"/>
              <a:gd name="connsiteY44" fmla="*/ 4703631 h 4794329"/>
              <a:gd name="connsiteX45" fmla="*/ 3221132 w 8334627"/>
              <a:gd name="connsiteY45" fmla="*/ 4703631 h 4794329"/>
              <a:gd name="connsiteX46" fmla="*/ 3221132 w 8334627"/>
              <a:gd name="connsiteY46" fmla="*/ 4405901 h 4794329"/>
              <a:gd name="connsiteX47" fmla="*/ 6966958 w 8334627"/>
              <a:gd name="connsiteY47" fmla="*/ 660075 h 4794329"/>
              <a:gd name="connsiteX48" fmla="*/ 7115823 w 8334627"/>
              <a:gd name="connsiteY48" fmla="*/ 598413 h 4794329"/>
              <a:gd name="connsiteX49" fmla="*/ 5845546 w 8334627"/>
              <a:gd name="connsiteY49" fmla="*/ 530016 h 4794329"/>
              <a:gd name="connsiteX50" fmla="*/ 5994411 w 8334627"/>
              <a:gd name="connsiteY50" fmla="*/ 591677 h 4794329"/>
              <a:gd name="connsiteX51" fmla="*/ 5994411 w 8334627"/>
              <a:gd name="connsiteY51" fmla="*/ 889408 h 4794329"/>
              <a:gd name="connsiteX52" fmla="*/ 2919220 w 8334627"/>
              <a:gd name="connsiteY52" fmla="*/ 3964597 h 4794329"/>
              <a:gd name="connsiteX53" fmla="*/ 2621491 w 8334627"/>
              <a:gd name="connsiteY53" fmla="*/ 3964597 h 4794329"/>
              <a:gd name="connsiteX54" fmla="*/ 2621492 w 8334627"/>
              <a:gd name="connsiteY54" fmla="*/ 3964597 h 4794329"/>
              <a:gd name="connsiteX55" fmla="*/ 2621492 w 8334627"/>
              <a:gd name="connsiteY55" fmla="*/ 3666867 h 4794329"/>
              <a:gd name="connsiteX56" fmla="*/ 5696681 w 8334627"/>
              <a:gd name="connsiteY56" fmla="*/ 591677 h 4794329"/>
              <a:gd name="connsiteX57" fmla="*/ 5845546 w 8334627"/>
              <a:gd name="connsiteY57" fmla="*/ 530016 h 4794329"/>
              <a:gd name="connsiteX58" fmla="*/ 6699364 w 8334627"/>
              <a:gd name="connsiteY58" fmla="*/ 347526 h 4794329"/>
              <a:gd name="connsiteX59" fmla="*/ 6848229 w 8334627"/>
              <a:gd name="connsiteY59" fmla="*/ 409188 h 4794329"/>
              <a:gd name="connsiteX60" fmla="*/ 6848229 w 8334627"/>
              <a:gd name="connsiteY60" fmla="*/ 706919 h 4794329"/>
              <a:gd name="connsiteX61" fmla="*/ 3773038 w 8334627"/>
              <a:gd name="connsiteY61" fmla="*/ 3782108 h 4794329"/>
              <a:gd name="connsiteX62" fmla="*/ 3475308 w 8334627"/>
              <a:gd name="connsiteY62" fmla="*/ 3782108 h 4794329"/>
              <a:gd name="connsiteX63" fmla="*/ 3475309 w 8334627"/>
              <a:gd name="connsiteY63" fmla="*/ 3782108 h 4794329"/>
              <a:gd name="connsiteX64" fmla="*/ 3475309 w 8334627"/>
              <a:gd name="connsiteY64" fmla="*/ 3484378 h 4794329"/>
              <a:gd name="connsiteX65" fmla="*/ 6550499 w 8334627"/>
              <a:gd name="connsiteY65" fmla="*/ 409188 h 4794329"/>
              <a:gd name="connsiteX66" fmla="*/ 6699364 w 8334627"/>
              <a:gd name="connsiteY66" fmla="*/ 347526 h 4794329"/>
              <a:gd name="connsiteX67" fmla="*/ 4224232 w 8334627"/>
              <a:gd name="connsiteY67" fmla="*/ 126303 h 4794329"/>
              <a:gd name="connsiteX68" fmla="*/ 4373097 w 8334627"/>
              <a:gd name="connsiteY68" fmla="*/ 187965 h 4794329"/>
              <a:gd name="connsiteX69" fmla="*/ 4373097 w 8334627"/>
              <a:gd name="connsiteY69" fmla="*/ 485695 h 4794329"/>
              <a:gd name="connsiteX70" fmla="*/ 3114379 w 8334627"/>
              <a:gd name="connsiteY70" fmla="*/ 1744412 h 4794329"/>
              <a:gd name="connsiteX71" fmla="*/ 2816648 w 8334627"/>
              <a:gd name="connsiteY71" fmla="*/ 1744412 h 4794329"/>
              <a:gd name="connsiteX72" fmla="*/ 2816650 w 8334627"/>
              <a:gd name="connsiteY72" fmla="*/ 1744412 h 4794329"/>
              <a:gd name="connsiteX73" fmla="*/ 2816650 w 8334627"/>
              <a:gd name="connsiteY73" fmla="*/ 1446682 h 4794329"/>
              <a:gd name="connsiteX74" fmla="*/ 4075367 w 8334627"/>
              <a:gd name="connsiteY74" fmla="*/ 187965 h 4794329"/>
              <a:gd name="connsiteX75" fmla="*/ 4224232 w 8334627"/>
              <a:gd name="connsiteY75" fmla="*/ 126303 h 4794329"/>
              <a:gd name="connsiteX76" fmla="*/ 5685290 w 8334627"/>
              <a:gd name="connsiteY76" fmla="*/ 18853 h 4794329"/>
              <a:gd name="connsiteX77" fmla="*/ 5834155 w 8334627"/>
              <a:gd name="connsiteY77" fmla="*/ 80515 h 4794329"/>
              <a:gd name="connsiteX78" fmla="*/ 5834155 w 8334627"/>
              <a:gd name="connsiteY78" fmla="*/ 378245 h 4794329"/>
              <a:gd name="connsiteX79" fmla="*/ 3112471 w 8334627"/>
              <a:gd name="connsiteY79" fmla="*/ 3099928 h 4794329"/>
              <a:gd name="connsiteX80" fmla="*/ 2814741 w 8334627"/>
              <a:gd name="connsiteY80" fmla="*/ 3099928 h 4794329"/>
              <a:gd name="connsiteX81" fmla="*/ 2814742 w 8334627"/>
              <a:gd name="connsiteY81" fmla="*/ 3099928 h 4794329"/>
              <a:gd name="connsiteX82" fmla="*/ 2814742 w 8334627"/>
              <a:gd name="connsiteY82" fmla="*/ 2802198 h 4794329"/>
              <a:gd name="connsiteX83" fmla="*/ 5536425 w 8334627"/>
              <a:gd name="connsiteY83" fmla="*/ 80515 h 4794329"/>
              <a:gd name="connsiteX84" fmla="*/ 5685290 w 8334627"/>
              <a:gd name="connsiteY84" fmla="*/ 18853 h 4794329"/>
              <a:gd name="connsiteX85" fmla="*/ 5025413 w 8334627"/>
              <a:gd name="connsiteY85" fmla="*/ 0 h 4794329"/>
              <a:gd name="connsiteX86" fmla="*/ 5174278 w 8334627"/>
              <a:gd name="connsiteY86" fmla="*/ 61662 h 4794329"/>
              <a:gd name="connsiteX87" fmla="*/ 5174278 w 8334627"/>
              <a:gd name="connsiteY87" fmla="*/ 359392 h 4794329"/>
              <a:gd name="connsiteX88" fmla="*/ 3192598 w 8334627"/>
              <a:gd name="connsiteY88" fmla="*/ 2341071 h 4794329"/>
              <a:gd name="connsiteX89" fmla="*/ 2894867 w 8334627"/>
              <a:gd name="connsiteY89" fmla="*/ 2341071 h 4794329"/>
              <a:gd name="connsiteX90" fmla="*/ 2894869 w 8334627"/>
              <a:gd name="connsiteY90" fmla="*/ 2341071 h 4794329"/>
              <a:gd name="connsiteX91" fmla="*/ 2894869 w 8334627"/>
              <a:gd name="connsiteY91" fmla="*/ 2043341 h 4794329"/>
              <a:gd name="connsiteX92" fmla="*/ 4876548 w 8334627"/>
              <a:gd name="connsiteY92" fmla="*/ 61662 h 4794329"/>
              <a:gd name="connsiteX93" fmla="*/ 5025413 w 8334627"/>
              <a:gd name="connsiteY93" fmla="*/ 0 h 4794329"/>
              <a:gd name="connsiteX0" fmla="*/ 7187484 w 8328384"/>
              <a:gd name="connsiteY0" fmla="*/ 3202389 h 4794329"/>
              <a:gd name="connsiteX1" fmla="*/ 7336349 w 8328384"/>
              <a:gd name="connsiteY1" fmla="*/ 3264051 h 4794329"/>
              <a:gd name="connsiteX2" fmla="*/ 7336349 w 8328384"/>
              <a:gd name="connsiteY2" fmla="*/ 3561781 h 4794329"/>
              <a:gd name="connsiteX3" fmla="*/ 6675910 w 8328384"/>
              <a:gd name="connsiteY3" fmla="*/ 4222219 h 4794329"/>
              <a:gd name="connsiteX4" fmla="*/ 6378180 w 8328384"/>
              <a:gd name="connsiteY4" fmla="*/ 4222219 h 4794329"/>
              <a:gd name="connsiteX5" fmla="*/ 6378181 w 8328384"/>
              <a:gd name="connsiteY5" fmla="*/ 4222219 h 4794329"/>
              <a:gd name="connsiteX6" fmla="*/ 6378181 w 8328384"/>
              <a:gd name="connsiteY6" fmla="*/ 3924488 h 4794329"/>
              <a:gd name="connsiteX7" fmla="*/ 7038619 w 8328384"/>
              <a:gd name="connsiteY7" fmla="*/ 3264051 h 4794329"/>
              <a:gd name="connsiteX8" fmla="*/ 7187484 w 8328384"/>
              <a:gd name="connsiteY8" fmla="*/ 3202389 h 4794329"/>
              <a:gd name="connsiteX9" fmla="*/ 7154253 w 8328384"/>
              <a:gd name="connsiteY9" fmla="*/ 1896653 h 4794329"/>
              <a:gd name="connsiteX10" fmla="*/ 7303118 w 8328384"/>
              <a:gd name="connsiteY10" fmla="*/ 1958315 h 4794329"/>
              <a:gd name="connsiteX11" fmla="*/ 7303118 w 8328384"/>
              <a:gd name="connsiteY11" fmla="*/ 2256046 h 4794329"/>
              <a:gd name="connsiteX12" fmla="*/ 4826495 w 8328384"/>
              <a:gd name="connsiteY12" fmla="*/ 4732667 h 4794329"/>
              <a:gd name="connsiteX13" fmla="*/ 4528765 w 8328384"/>
              <a:gd name="connsiteY13" fmla="*/ 4732667 h 4794329"/>
              <a:gd name="connsiteX14" fmla="*/ 4528767 w 8328384"/>
              <a:gd name="connsiteY14" fmla="*/ 4732667 h 4794329"/>
              <a:gd name="connsiteX15" fmla="*/ 4528767 w 8328384"/>
              <a:gd name="connsiteY15" fmla="*/ 4434937 h 4794329"/>
              <a:gd name="connsiteX16" fmla="*/ 7005388 w 8328384"/>
              <a:gd name="connsiteY16" fmla="*/ 1958315 h 4794329"/>
              <a:gd name="connsiteX17" fmla="*/ 7154253 w 8328384"/>
              <a:gd name="connsiteY17" fmla="*/ 1896653 h 4794329"/>
              <a:gd name="connsiteX18" fmla="*/ 8117857 w 8328384"/>
              <a:gd name="connsiteY18" fmla="*/ 1606041 h 4794329"/>
              <a:gd name="connsiteX19" fmla="*/ 8266722 w 8328384"/>
              <a:gd name="connsiteY19" fmla="*/ 1667703 h 4794329"/>
              <a:gd name="connsiteX20" fmla="*/ 8266722 w 8328384"/>
              <a:gd name="connsiteY20" fmla="*/ 1965433 h 4794329"/>
              <a:gd name="connsiteX21" fmla="*/ 6381647 w 8328384"/>
              <a:gd name="connsiteY21" fmla="*/ 3850507 h 4794329"/>
              <a:gd name="connsiteX22" fmla="*/ 6083917 w 8328384"/>
              <a:gd name="connsiteY22" fmla="*/ 3850507 h 4794329"/>
              <a:gd name="connsiteX23" fmla="*/ 6083918 w 8328384"/>
              <a:gd name="connsiteY23" fmla="*/ 3850507 h 4794329"/>
              <a:gd name="connsiteX24" fmla="*/ 6083918 w 8328384"/>
              <a:gd name="connsiteY24" fmla="*/ 3552777 h 4794329"/>
              <a:gd name="connsiteX25" fmla="*/ 7968992 w 8328384"/>
              <a:gd name="connsiteY25" fmla="*/ 1667703 h 4794329"/>
              <a:gd name="connsiteX26" fmla="*/ 8117857 w 8328384"/>
              <a:gd name="connsiteY26" fmla="*/ 1606041 h 4794329"/>
              <a:gd name="connsiteX27" fmla="*/ 0 w 8328384"/>
              <a:gd name="connsiteY27" fmla="*/ 1576410 h 4794329"/>
              <a:gd name="connsiteX28" fmla="*/ 677527 w 8328384"/>
              <a:gd name="connsiteY28" fmla="*/ 2253937 h 4794329"/>
              <a:gd name="connsiteX29" fmla="*/ 0 w 8328384"/>
              <a:gd name="connsiteY29" fmla="*/ 1576410 h 4794329"/>
              <a:gd name="connsiteX30" fmla="*/ 7665818 w 8328384"/>
              <a:gd name="connsiteY30" fmla="*/ 717042 h 4794329"/>
              <a:gd name="connsiteX31" fmla="*/ 7814683 w 8328384"/>
              <a:gd name="connsiteY31" fmla="*/ 778704 h 4794329"/>
              <a:gd name="connsiteX32" fmla="*/ 7814683 w 8328384"/>
              <a:gd name="connsiteY32" fmla="*/ 1076435 h 4794329"/>
              <a:gd name="connsiteX33" fmla="*/ 4739492 w 8328384"/>
              <a:gd name="connsiteY33" fmla="*/ 4151624 h 4794329"/>
              <a:gd name="connsiteX34" fmla="*/ 4441762 w 8328384"/>
              <a:gd name="connsiteY34" fmla="*/ 4151624 h 4794329"/>
              <a:gd name="connsiteX35" fmla="*/ 4441763 w 8328384"/>
              <a:gd name="connsiteY35" fmla="*/ 4151624 h 4794329"/>
              <a:gd name="connsiteX36" fmla="*/ 4441763 w 8328384"/>
              <a:gd name="connsiteY36" fmla="*/ 3853894 h 4794329"/>
              <a:gd name="connsiteX37" fmla="*/ 7516953 w 8328384"/>
              <a:gd name="connsiteY37" fmla="*/ 778704 h 4794329"/>
              <a:gd name="connsiteX38" fmla="*/ 7665818 w 8328384"/>
              <a:gd name="connsiteY38" fmla="*/ 717042 h 4794329"/>
              <a:gd name="connsiteX39" fmla="*/ 7109580 w 8328384"/>
              <a:gd name="connsiteY39" fmla="*/ 598413 h 4794329"/>
              <a:gd name="connsiteX40" fmla="*/ 7258445 w 8328384"/>
              <a:gd name="connsiteY40" fmla="*/ 660075 h 4794329"/>
              <a:gd name="connsiteX41" fmla="*/ 7258445 w 8328384"/>
              <a:gd name="connsiteY41" fmla="*/ 957805 h 4794329"/>
              <a:gd name="connsiteX42" fmla="*/ 3512618 w 8328384"/>
              <a:gd name="connsiteY42" fmla="*/ 4703631 h 4794329"/>
              <a:gd name="connsiteX43" fmla="*/ 3214888 w 8328384"/>
              <a:gd name="connsiteY43" fmla="*/ 4703631 h 4794329"/>
              <a:gd name="connsiteX44" fmla="*/ 3214889 w 8328384"/>
              <a:gd name="connsiteY44" fmla="*/ 4703631 h 4794329"/>
              <a:gd name="connsiteX45" fmla="*/ 3214889 w 8328384"/>
              <a:gd name="connsiteY45" fmla="*/ 4405901 h 4794329"/>
              <a:gd name="connsiteX46" fmla="*/ 6960715 w 8328384"/>
              <a:gd name="connsiteY46" fmla="*/ 660075 h 4794329"/>
              <a:gd name="connsiteX47" fmla="*/ 7109580 w 8328384"/>
              <a:gd name="connsiteY47" fmla="*/ 598413 h 4794329"/>
              <a:gd name="connsiteX48" fmla="*/ 5839303 w 8328384"/>
              <a:gd name="connsiteY48" fmla="*/ 530016 h 4794329"/>
              <a:gd name="connsiteX49" fmla="*/ 5988168 w 8328384"/>
              <a:gd name="connsiteY49" fmla="*/ 591677 h 4794329"/>
              <a:gd name="connsiteX50" fmla="*/ 5988168 w 8328384"/>
              <a:gd name="connsiteY50" fmla="*/ 889408 h 4794329"/>
              <a:gd name="connsiteX51" fmla="*/ 2912977 w 8328384"/>
              <a:gd name="connsiteY51" fmla="*/ 3964597 h 4794329"/>
              <a:gd name="connsiteX52" fmla="*/ 2615248 w 8328384"/>
              <a:gd name="connsiteY52" fmla="*/ 3964597 h 4794329"/>
              <a:gd name="connsiteX53" fmla="*/ 2615249 w 8328384"/>
              <a:gd name="connsiteY53" fmla="*/ 3964597 h 4794329"/>
              <a:gd name="connsiteX54" fmla="*/ 2615249 w 8328384"/>
              <a:gd name="connsiteY54" fmla="*/ 3666867 h 4794329"/>
              <a:gd name="connsiteX55" fmla="*/ 5690438 w 8328384"/>
              <a:gd name="connsiteY55" fmla="*/ 591677 h 4794329"/>
              <a:gd name="connsiteX56" fmla="*/ 5839303 w 8328384"/>
              <a:gd name="connsiteY56" fmla="*/ 530016 h 4794329"/>
              <a:gd name="connsiteX57" fmla="*/ 6693121 w 8328384"/>
              <a:gd name="connsiteY57" fmla="*/ 347526 h 4794329"/>
              <a:gd name="connsiteX58" fmla="*/ 6841986 w 8328384"/>
              <a:gd name="connsiteY58" fmla="*/ 409188 h 4794329"/>
              <a:gd name="connsiteX59" fmla="*/ 6841986 w 8328384"/>
              <a:gd name="connsiteY59" fmla="*/ 706919 h 4794329"/>
              <a:gd name="connsiteX60" fmla="*/ 3766795 w 8328384"/>
              <a:gd name="connsiteY60" fmla="*/ 3782108 h 4794329"/>
              <a:gd name="connsiteX61" fmla="*/ 3469065 w 8328384"/>
              <a:gd name="connsiteY61" fmla="*/ 3782108 h 4794329"/>
              <a:gd name="connsiteX62" fmla="*/ 3469066 w 8328384"/>
              <a:gd name="connsiteY62" fmla="*/ 3782108 h 4794329"/>
              <a:gd name="connsiteX63" fmla="*/ 3469066 w 8328384"/>
              <a:gd name="connsiteY63" fmla="*/ 3484378 h 4794329"/>
              <a:gd name="connsiteX64" fmla="*/ 6544256 w 8328384"/>
              <a:gd name="connsiteY64" fmla="*/ 409188 h 4794329"/>
              <a:gd name="connsiteX65" fmla="*/ 6693121 w 8328384"/>
              <a:gd name="connsiteY65" fmla="*/ 347526 h 4794329"/>
              <a:gd name="connsiteX66" fmla="*/ 4217989 w 8328384"/>
              <a:gd name="connsiteY66" fmla="*/ 126303 h 4794329"/>
              <a:gd name="connsiteX67" fmla="*/ 4366854 w 8328384"/>
              <a:gd name="connsiteY67" fmla="*/ 187965 h 4794329"/>
              <a:gd name="connsiteX68" fmla="*/ 4366854 w 8328384"/>
              <a:gd name="connsiteY68" fmla="*/ 485695 h 4794329"/>
              <a:gd name="connsiteX69" fmla="*/ 3108136 w 8328384"/>
              <a:gd name="connsiteY69" fmla="*/ 1744412 h 4794329"/>
              <a:gd name="connsiteX70" fmla="*/ 2810405 w 8328384"/>
              <a:gd name="connsiteY70" fmla="*/ 1744412 h 4794329"/>
              <a:gd name="connsiteX71" fmla="*/ 2810407 w 8328384"/>
              <a:gd name="connsiteY71" fmla="*/ 1744412 h 4794329"/>
              <a:gd name="connsiteX72" fmla="*/ 2810407 w 8328384"/>
              <a:gd name="connsiteY72" fmla="*/ 1446682 h 4794329"/>
              <a:gd name="connsiteX73" fmla="*/ 4069124 w 8328384"/>
              <a:gd name="connsiteY73" fmla="*/ 187965 h 4794329"/>
              <a:gd name="connsiteX74" fmla="*/ 4217989 w 8328384"/>
              <a:gd name="connsiteY74" fmla="*/ 126303 h 4794329"/>
              <a:gd name="connsiteX75" fmla="*/ 5679047 w 8328384"/>
              <a:gd name="connsiteY75" fmla="*/ 18853 h 4794329"/>
              <a:gd name="connsiteX76" fmla="*/ 5827912 w 8328384"/>
              <a:gd name="connsiteY76" fmla="*/ 80515 h 4794329"/>
              <a:gd name="connsiteX77" fmla="*/ 5827912 w 8328384"/>
              <a:gd name="connsiteY77" fmla="*/ 378245 h 4794329"/>
              <a:gd name="connsiteX78" fmla="*/ 3106228 w 8328384"/>
              <a:gd name="connsiteY78" fmla="*/ 3099928 h 4794329"/>
              <a:gd name="connsiteX79" fmla="*/ 2808498 w 8328384"/>
              <a:gd name="connsiteY79" fmla="*/ 3099928 h 4794329"/>
              <a:gd name="connsiteX80" fmla="*/ 2808499 w 8328384"/>
              <a:gd name="connsiteY80" fmla="*/ 3099928 h 4794329"/>
              <a:gd name="connsiteX81" fmla="*/ 2808499 w 8328384"/>
              <a:gd name="connsiteY81" fmla="*/ 2802198 h 4794329"/>
              <a:gd name="connsiteX82" fmla="*/ 5530182 w 8328384"/>
              <a:gd name="connsiteY82" fmla="*/ 80515 h 4794329"/>
              <a:gd name="connsiteX83" fmla="*/ 5679047 w 8328384"/>
              <a:gd name="connsiteY83" fmla="*/ 18853 h 4794329"/>
              <a:gd name="connsiteX84" fmla="*/ 5019170 w 8328384"/>
              <a:gd name="connsiteY84" fmla="*/ 0 h 4794329"/>
              <a:gd name="connsiteX85" fmla="*/ 5168035 w 8328384"/>
              <a:gd name="connsiteY85" fmla="*/ 61662 h 4794329"/>
              <a:gd name="connsiteX86" fmla="*/ 5168035 w 8328384"/>
              <a:gd name="connsiteY86" fmla="*/ 359392 h 4794329"/>
              <a:gd name="connsiteX87" fmla="*/ 3186355 w 8328384"/>
              <a:gd name="connsiteY87" fmla="*/ 2341071 h 4794329"/>
              <a:gd name="connsiteX88" fmla="*/ 2888624 w 8328384"/>
              <a:gd name="connsiteY88" fmla="*/ 2341071 h 4794329"/>
              <a:gd name="connsiteX89" fmla="*/ 2888626 w 8328384"/>
              <a:gd name="connsiteY89" fmla="*/ 2341071 h 4794329"/>
              <a:gd name="connsiteX90" fmla="*/ 2888626 w 8328384"/>
              <a:gd name="connsiteY90" fmla="*/ 2043341 h 4794329"/>
              <a:gd name="connsiteX91" fmla="*/ 4870305 w 8328384"/>
              <a:gd name="connsiteY91" fmla="*/ 61662 h 4794329"/>
              <a:gd name="connsiteX92" fmla="*/ 5019170 w 8328384"/>
              <a:gd name="connsiteY92" fmla="*/ 0 h 4794329"/>
              <a:gd name="connsiteX0" fmla="*/ 4633897 w 5774797"/>
              <a:gd name="connsiteY0" fmla="*/ 3202389 h 4794329"/>
              <a:gd name="connsiteX1" fmla="*/ 4782762 w 5774797"/>
              <a:gd name="connsiteY1" fmla="*/ 3264051 h 4794329"/>
              <a:gd name="connsiteX2" fmla="*/ 4782762 w 5774797"/>
              <a:gd name="connsiteY2" fmla="*/ 3561781 h 4794329"/>
              <a:gd name="connsiteX3" fmla="*/ 4122323 w 5774797"/>
              <a:gd name="connsiteY3" fmla="*/ 4222219 h 4794329"/>
              <a:gd name="connsiteX4" fmla="*/ 3824593 w 5774797"/>
              <a:gd name="connsiteY4" fmla="*/ 4222219 h 4794329"/>
              <a:gd name="connsiteX5" fmla="*/ 3824594 w 5774797"/>
              <a:gd name="connsiteY5" fmla="*/ 4222219 h 4794329"/>
              <a:gd name="connsiteX6" fmla="*/ 3824594 w 5774797"/>
              <a:gd name="connsiteY6" fmla="*/ 3924488 h 4794329"/>
              <a:gd name="connsiteX7" fmla="*/ 4485032 w 5774797"/>
              <a:gd name="connsiteY7" fmla="*/ 3264051 h 4794329"/>
              <a:gd name="connsiteX8" fmla="*/ 4633897 w 5774797"/>
              <a:gd name="connsiteY8" fmla="*/ 3202389 h 4794329"/>
              <a:gd name="connsiteX9" fmla="*/ 4600666 w 5774797"/>
              <a:gd name="connsiteY9" fmla="*/ 1896653 h 4794329"/>
              <a:gd name="connsiteX10" fmla="*/ 4749531 w 5774797"/>
              <a:gd name="connsiteY10" fmla="*/ 1958315 h 4794329"/>
              <a:gd name="connsiteX11" fmla="*/ 4749531 w 5774797"/>
              <a:gd name="connsiteY11" fmla="*/ 2256046 h 4794329"/>
              <a:gd name="connsiteX12" fmla="*/ 2272908 w 5774797"/>
              <a:gd name="connsiteY12" fmla="*/ 4732667 h 4794329"/>
              <a:gd name="connsiteX13" fmla="*/ 1975178 w 5774797"/>
              <a:gd name="connsiteY13" fmla="*/ 4732667 h 4794329"/>
              <a:gd name="connsiteX14" fmla="*/ 1975180 w 5774797"/>
              <a:gd name="connsiteY14" fmla="*/ 4732667 h 4794329"/>
              <a:gd name="connsiteX15" fmla="*/ 1975180 w 5774797"/>
              <a:gd name="connsiteY15" fmla="*/ 4434937 h 4794329"/>
              <a:gd name="connsiteX16" fmla="*/ 4451801 w 5774797"/>
              <a:gd name="connsiteY16" fmla="*/ 1958315 h 4794329"/>
              <a:gd name="connsiteX17" fmla="*/ 4600666 w 5774797"/>
              <a:gd name="connsiteY17" fmla="*/ 1896653 h 4794329"/>
              <a:gd name="connsiteX18" fmla="*/ 5564270 w 5774797"/>
              <a:gd name="connsiteY18" fmla="*/ 1606041 h 4794329"/>
              <a:gd name="connsiteX19" fmla="*/ 5713135 w 5774797"/>
              <a:gd name="connsiteY19" fmla="*/ 1667703 h 4794329"/>
              <a:gd name="connsiteX20" fmla="*/ 5713135 w 5774797"/>
              <a:gd name="connsiteY20" fmla="*/ 1965433 h 4794329"/>
              <a:gd name="connsiteX21" fmla="*/ 3828060 w 5774797"/>
              <a:gd name="connsiteY21" fmla="*/ 3850507 h 4794329"/>
              <a:gd name="connsiteX22" fmla="*/ 3530330 w 5774797"/>
              <a:gd name="connsiteY22" fmla="*/ 3850507 h 4794329"/>
              <a:gd name="connsiteX23" fmla="*/ 3530331 w 5774797"/>
              <a:gd name="connsiteY23" fmla="*/ 3850507 h 4794329"/>
              <a:gd name="connsiteX24" fmla="*/ 3530331 w 5774797"/>
              <a:gd name="connsiteY24" fmla="*/ 3552777 h 4794329"/>
              <a:gd name="connsiteX25" fmla="*/ 5415405 w 5774797"/>
              <a:gd name="connsiteY25" fmla="*/ 1667703 h 4794329"/>
              <a:gd name="connsiteX26" fmla="*/ 5564270 w 5774797"/>
              <a:gd name="connsiteY26" fmla="*/ 1606041 h 4794329"/>
              <a:gd name="connsiteX27" fmla="*/ 5112231 w 5774797"/>
              <a:gd name="connsiteY27" fmla="*/ 717042 h 4794329"/>
              <a:gd name="connsiteX28" fmla="*/ 5261096 w 5774797"/>
              <a:gd name="connsiteY28" fmla="*/ 778704 h 4794329"/>
              <a:gd name="connsiteX29" fmla="*/ 5261096 w 5774797"/>
              <a:gd name="connsiteY29" fmla="*/ 1076435 h 4794329"/>
              <a:gd name="connsiteX30" fmla="*/ 2185905 w 5774797"/>
              <a:gd name="connsiteY30" fmla="*/ 4151624 h 4794329"/>
              <a:gd name="connsiteX31" fmla="*/ 1888175 w 5774797"/>
              <a:gd name="connsiteY31" fmla="*/ 4151624 h 4794329"/>
              <a:gd name="connsiteX32" fmla="*/ 1888176 w 5774797"/>
              <a:gd name="connsiteY32" fmla="*/ 4151624 h 4794329"/>
              <a:gd name="connsiteX33" fmla="*/ 1888176 w 5774797"/>
              <a:gd name="connsiteY33" fmla="*/ 3853894 h 4794329"/>
              <a:gd name="connsiteX34" fmla="*/ 4963366 w 5774797"/>
              <a:gd name="connsiteY34" fmla="*/ 778704 h 4794329"/>
              <a:gd name="connsiteX35" fmla="*/ 5112231 w 5774797"/>
              <a:gd name="connsiteY35" fmla="*/ 717042 h 4794329"/>
              <a:gd name="connsiteX36" fmla="*/ 4555993 w 5774797"/>
              <a:gd name="connsiteY36" fmla="*/ 598413 h 4794329"/>
              <a:gd name="connsiteX37" fmla="*/ 4704858 w 5774797"/>
              <a:gd name="connsiteY37" fmla="*/ 660075 h 4794329"/>
              <a:gd name="connsiteX38" fmla="*/ 4704858 w 5774797"/>
              <a:gd name="connsiteY38" fmla="*/ 957805 h 4794329"/>
              <a:gd name="connsiteX39" fmla="*/ 959031 w 5774797"/>
              <a:gd name="connsiteY39" fmla="*/ 4703631 h 4794329"/>
              <a:gd name="connsiteX40" fmla="*/ 661301 w 5774797"/>
              <a:gd name="connsiteY40" fmla="*/ 4703631 h 4794329"/>
              <a:gd name="connsiteX41" fmla="*/ 661302 w 5774797"/>
              <a:gd name="connsiteY41" fmla="*/ 4703631 h 4794329"/>
              <a:gd name="connsiteX42" fmla="*/ 661302 w 5774797"/>
              <a:gd name="connsiteY42" fmla="*/ 4405901 h 4794329"/>
              <a:gd name="connsiteX43" fmla="*/ 4407128 w 5774797"/>
              <a:gd name="connsiteY43" fmla="*/ 660075 h 4794329"/>
              <a:gd name="connsiteX44" fmla="*/ 4555993 w 5774797"/>
              <a:gd name="connsiteY44" fmla="*/ 598413 h 4794329"/>
              <a:gd name="connsiteX45" fmla="*/ 3285716 w 5774797"/>
              <a:gd name="connsiteY45" fmla="*/ 530016 h 4794329"/>
              <a:gd name="connsiteX46" fmla="*/ 3434581 w 5774797"/>
              <a:gd name="connsiteY46" fmla="*/ 591677 h 4794329"/>
              <a:gd name="connsiteX47" fmla="*/ 3434581 w 5774797"/>
              <a:gd name="connsiteY47" fmla="*/ 889408 h 4794329"/>
              <a:gd name="connsiteX48" fmla="*/ 359390 w 5774797"/>
              <a:gd name="connsiteY48" fmla="*/ 3964597 h 4794329"/>
              <a:gd name="connsiteX49" fmla="*/ 61661 w 5774797"/>
              <a:gd name="connsiteY49" fmla="*/ 3964597 h 4794329"/>
              <a:gd name="connsiteX50" fmla="*/ 61662 w 5774797"/>
              <a:gd name="connsiteY50" fmla="*/ 3964597 h 4794329"/>
              <a:gd name="connsiteX51" fmla="*/ 61662 w 5774797"/>
              <a:gd name="connsiteY51" fmla="*/ 3666867 h 4794329"/>
              <a:gd name="connsiteX52" fmla="*/ 3136851 w 5774797"/>
              <a:gd name="connsiteY52" fmla="*/ 591677 h 4794329"/>
              <a:gd name="connsiteX53" fmla="*/ 3285716 w 5774797"/>
              <a:gd name="connsiteY53" fmla="*/ 530016 h 4794329"/>
              <a:gd name="connsiteX54" fmla="*/ 4139534 w 5774797"/>
              <a:gd name="connsiteY54" fmla="*/ 347526 h 4794329"/>
              <a:gd name="connsiteX55" fmla="*/ 4288399 w 5774797"/>
              <a:gd name="connsiteY55" fmla="*/ 409188 h 4794329"/>
              <a:gd name="connsiteX56" fmla="*/ 4288399 w 5774797"/>
              <a:gd name="connsiteY56" fmla="*/ 706919 h 4794329"/>
              <a:gd name="connsiteX57" fmla="*/ 1213208 w 5774797"/>
              <a:gd name="connsiteY57" fmla="*/ 3782108 h 4794329"/>
              <a:gd name="connsiteX58" fmla="*/ 915478 w 5774797"/>
              <a:gd name="connsiteY58" fmla="*/ 3782108 h 4794329"/>
              <a:gd name="connsiteX59" fmla="*/ 915479 w 5774797"/>
              <a:gd name="connsiteY59" fmla="*/ 3782108 h 4794329"/>
              <a:gd name="connsiteX60" fmla="*/ 915479 w 5774797"/>
              <a:gd name="connsiteY60" fmla="*/ 3484378 h 4794329"/>
              <a:gd name="connsiteX61" fmla="*/ 3990669 w 5774797"/>
              <a:gd name="connsiteY61" fmla="*/ 409188 h 4794329"/>
              <a:gd name="connsiteX62" fmla="*/ 4139534 w 5774797"/>
              <a:gd name="connsiteY62" fmla="*/ 347526 h 4794329"/>
              <a:gd name="connsiteX63" fmla="*/ 1664402 w 5774797"/>
              <a:gd name="connsiteY63" fmla="*/ 126303 h 4794329"/>
              <a:gd name="connsiteX64" fmla="*/ 1813267 w 5774797"/>
              <a:gd name="connsiteY64" fmla="*/ 187965 h 4794329"/>
              <a:gd name="connsiteX65" fmla="*/ 1813267 w 5774797"/>
              <a:gd name="connsiteY65" fmla="*/ 485695 h 4794329"/>
              <a:gd name="connsiteX66" fmla="*/ 554549 w 5774797"/>
              <a:gd name="connsiteY66" fmla="*/ 1744412 h 4794329"/>
              <a:gd name="connsiteX67" fmla="*/ 256818 w 5774797"/>
              <a:gd name="connsiteY67" fmla="*/ 1744412 h 4794329"/>
              <a:gd name="connsiteX68" fmla="*/ 256820 w 5774797"/>
              <a:gd name="connsiteY68" fmla="*/ 1744412 h 4794329"/>
              <a:gd name="connsiteX69" fmla="*/ 256820 w 5774797"/>
              <a:gd name="connsiteY69" fmla="*/ 1446682 h 4794329"/>
              <a:gd name="connsiteX70" fmla="*/ 1515537 w 5774797"/>
              <a:gd name="connsiteY70" fmla="*/ 187965 h 4794329"/>
              <a:gd name="connsiteX71" fmla="*/ 1664402 w 5774797"/>
              <a:gd name="connsiteY71" fmla="*/ 126303 h 4794329"/>
              <a:gd name="connsiteX72" fmla="*/ 3125460 w 5774797"/>
              <a:gd name="connsiteY72" fmla="*/ 18853 h 4794329"/>
              <a:gd name="connsiteX73" fmla="*/ 3274325 w 5774797"/>
              <a:gd name="connsiteY73" fmla="*/ 80515 h 4794329"/>
              <a:gd name="connsiteX74" fmla="*/ 3274325 w 5774797"/>
              <a:gd name="connsiteY74" fmla="*/ 378245 h 4794329"/>
              <a:gd name="connsiteX75" fmla="*/ 552641 w 5774797"/>
              <a:gd name="connsiteY75" fmla="*/ 3099928 h 4794329"/>
              <a:gd name="connsiteX76" fmla="*/ 254911 w 5774797"/>
              <a:gd name="connsiteY76" fmla="*/ 3099928 h 4794329"/>
              <a:gd name="connsiteX77" fmla="*/ 254912 w 5774797"/>
              <a:gd name="connsiteY77" fmla="*/ 3099928 h 4794329"/>
              <a:gd name="connsiteX78" fmla="*/ 254912 w 5774797"/>
              <a:gd name="connsiteY78" fmla="*/ 2802198 h 4794329"/>
              <a:gd name="connsiteX79" fmla="*/ 2976595 w 5774797"/>
              <a:gd name="connsiteY79" fmla="*/ 80515 h 4794329"/>
              <a:gd name="connsiteX80" fmla="*/ 3125460 w 5774797"/>
              <a:gd name="connsiteY80" fmla="*/ 18853 h 4794329"/>
              <a:gd name="connsiteX81" fmla="*/ 2465583 w 5774797"/>
              <a:gd name="connsiteY81" fmla="*/ 0 h 4794329"/>
              <a:gd name="connsiteX82" fmla="*/ 2614448 w 5774797"/>
              <a:gd name="connsiteY82" fmla="*/ 61662 h 4794329"/>
              <a:gd name="connsiteX83" fmla="*/ 2614448 w 5774797"/>
              <a:gd name="connsiteY83" fmla="*/ 359392 h 4794329"/>
              <a:gd name="connsiteX84" fmla="*/ 632768 w 5774797"/>
              <a:gd name="connsiteY84" fmla="*/ 2341071 h 4794329"/>
              <a:gd name="connsiteX85" fmla="*/ 335037 w 5774797"/>
              <a:gd name="connsiteY85" fmla="*/ 2341071 h 4794329"/>
              <a:gd name="connsiteX86" fmla="*/ 335039 w 5774797"/>
              <a:gd name="connsiteY86" fmla="*/ 2341071 h 4794329"/>
              <a:gd name="connsiteX87" fmla="*/ 335039 w 5774797"/>
              <a:gd name="connsiteY87" fmla="*/ 2043341 h 4794329"/>
              <a:gd name="connsiteX88" fmla="*/ 2316718 w 5774797"/>
              <a:gd name="connsiteY88" fmla="*/ 61662 h 4794329"/>
              <a:gd name="connsiteX89" fmla="*/ 2465583 w 5774797"/>
              <a:gd name="connsiteY89" fmla="*/ 0 h 4794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5774797" h="4794329">
                <a:moveTo>
                  <a:pt x="4633897" y="3202389"/>
                </a:moveTo>
                <a:cubicBezTo>
                  <a:pt x="4687776" y="3202389"/>
                  <a:pt x="4741654" y="3222943"/>
                  <a:pt x="4782762" y="3264051"/>
                </a:cubicBezTo>
                <a:cubicBezTo>
                  <a:pt x="4864978" y="3346267"/>
                  <a:pt x="4864978" y="3479565"/>
                  <a:pt x="4782762" y="3561781"/>
                </a:cubicBezTo>
                <a:lnTo>
                  <a:pt x="4122323" y="4222219"/>
                </a:lnTo>
                <a:cubicBezTo>
                  <a:pt x="4040107" y="4304435"/>
                  <a:pt x="3906809" y="4304435"/>
                  <a:pt x="3824593" y="4222219"/>
                </a:cubicBezTo>
                <a:lnTo>
                  <a:pt x="3824594" y="4222219"/>
                </a:lnTo>
                <a:cubicBezTo>
                  <a:pt x="3742378" y="4140003"/>
                  <a:pt x="3742378" y="4006704"/>
                  <a:pt x="3824594" y="3924488"/>
                </a:cubicBezTo>
                <a:lnTo>
                  <a:pt x="4485032" y="3264051"/>
                </a:lnTo>
                <a:cubicBezTo>
                  <a:pt x="4526140" y="3222943"/>
                  <a:pt x="4580018" y="3202389"/>
                  <a:pt x="4633897" y="3202389"/>
                </a:cubicBezTo>
                <a:close/>
                <a:moveTo>
                  <a:pt x="4600666" y="1896653"/>
                </a:moveTo>
                <a:cubicBezTo>
                  <a:pt x="4654544" y="1896653"/>
                  <a:pt x="4708423" y="1917207"/>
                  <a:pt x="4749531" y="1958315"/>
                </a:cubicBezTo>
                <a:cubicBezTo>
                  <a:pt x="4831747" y="2040531"/>
                  <a:pt x="4831747" y="2173830"/>
                  <a:pt x="4749531" y="2256046"/>
                </a:cubicBezTo>
                <a:lnTo>
                  <a:pt x="2272908" y="4732667"/>
                </a:lnTo>
                <a:cubicBezTo>
                  <a:pt x="2190692" y="4814883"/>
                  <a:pt x="2057394" y="4814883"/>
                  <a:pt x="1975178" y="4732667"/>
                </a:cubicBezTo>
                <a:lnTo>
                  <a:pt x="1975180" y="4732667"/>
                </a:lnTo>
                <a:cubicBezTo>
                  <a:pt x="1892964" y="4650451"/>
                  <a:pt x="1892964" y="4517153"/>
                  <a:pt x="1975180" y="4434937"/>
                </a:cubicBezTo>
                <a:lnTo>
                  <a:pt x="4451801" y="1958315"/>
                </a:lnTo>
                <a:cubicBezTo>
                  <a:pt x="4492909" y="1917207"/>
                  <a:pt x="4546787" y="1896653"/>
                  <a:pt x="4600666" y="1896653"/>
                </a:cubicBezTo>
                <a:close/>
                <a:moveTo>
                  <a:pt x="5564270" y="1606041"/>
                </a:moveTo>
                <a:cubicBezTo>
                  <a:pt x="5618148" y="1606041"/>
                  <a:pt x="5672027" y="1626595"/>
                  <a:pt x="5713135" y="1667703"/>
                </a:cubicBezTo>
                <a:cubicBezTo>
                  <a:pt x="5795351" y="1749919"/>
                  <a:pt x="5795351" y="1883217"/>
                  <a:pt x="5713135" y="1965433"/>
                </a:cubicBezTo>
                <a:lnTo>
                  <a:pt x="3828060" y="3850507"/>
                </a:lnTo>
                <a:cubicBezTo>
                  <a:pt x="3745844" y="3932723"/>
                  <a:pt x="3612546" y="3932723"/>
                  <a:pt x="3530330" y="3850507"/>
                </a:cubicBezTo>
                <a:lnTo>
                  <a:pt x="3530331" y="3850507"/>
                </a:lnTo>
                <a:cubicBezTo>
                  <a:pt x="3448115" y="3768291"/>
                  <a:pt x="3448115" y="3634993"/>
                  <a:pt x="3530331" y="3552777"/>
                </a:cubicBezTo>
                <a:lnTo>
                  <a:pt x="5415405" y="1667703"/>
                </a:lnTo>
                <a:cubicBezTo>
                  <a:pt x="5456513" y="1626595"/>
                  <a:pt x="5510391" y="1606041"/>
                  <a:pt x="5564270" y="1606041"/>
                </a:cubicBezTo>
                <a:close/>
                <a:moveTo>
                  <a:pt x="5112231" y="717042"/>
                </a:moveTo>
                <a:cubicBezTo>
                  <a:pt x="5166109" y="717042"/>
                  <a:pt x="5219988" y="737596"/>
                  <a:pt x="5261096" y="778704"/>
                </a:cubicBezTo>
                <a:cubicBezTo>
                  <a:pt x="5343312" y="860920"/>
                  <a:pt x="5343312" y="994218"/>
                  <a:pt x="5261096" y="1076435"/>
                </a:cubicBezTo>
                <a:lnTo>
                  <a:pt x="2185905" y="4151624"/>
                </a:lnTo>
                <a:cubicBezTo>
                  <a:pt x="2103689" y="4233840"/>
                  <a:pt x="1970391" y="4233840"/>
                  <a:pt x="1888175" y="4151624"/>
                </a:cubicBezTo>
                <a:lnTo>
                  <a:pt x="1888176" y="4151624"/>
                </a:lnTo>
                <a:cubicBezTo>
                  <a:pt x="1805960" y="4069408"/>
                  <a:pt x="1805960" y="3936110"/>
                  <a:pt x="1888176" y="3853894"/>
                </a:cubicBezTo>
                <a:lnTo>
                  <a:pt x="4963366" y="778704"/>
                </a:lnTo>
                <a:cubicBezTo>
                  <a:pt x="5004474" y="737596"/>
                  <a:pt x="5058352" y="717042"/>
                  <a:pt x="5112231" y="717042"/>
                </a:cubicBezTo>
                <a:close/>
                <a:moveTo>
                  <a:pt x="4555993" y="598413"/>
                </a:moveTo>
                <a:cubicBezTo>
                  <a:pt x="4609872" y="598413"/>
                  <a:pt x="4663750" y="618967"/>
                  <a:pt x="4704858" y="660075"/>
                </a:cubicBezTo>
                <a:cubicBezTo>
                  <a:pt x="4787074" y="742291"/>
                  <a:pt x="4787074" y="875589"/>
                  <a:pt x="4704858" y="957805"/>
                </a:cubicBezTo>
                <a:lnTo>
                  <a:pt x="959031" y="4703631"/>
                </a:lnTo>
                <a:cubicBezTo>
                  <a:pt x="876815" y="4785847"/>
                  <a:pt x="743517" y="4785847"/>
                  <a:pt x="661301" y="4703631"/>
                </a:cubicBezTo>
                <a:lnTo>
                  <a:pt x="661302" y="4703631"/>
                </a:lnTo>
                <a:cubicBezTo>
                  <a:pt x="579087" y="4621415"/>
                  <a:pt x="579087" y="4488117"/>
                  <a:pt x="661302" y="4405901"/>
                </a:cubicBezTo>
                <a:lnTo>
                  <a:pt x="4407128" y="660075"/>
                </a:lnTo>
                <a:cubicBezTo>
                  <a:pt x="4448236" y="618967"/>
                  <a:pt x="4502115" y="598413"/>
                  <a:pt x="4555993" y="598413"/>
                </a:cubicBezTo>
                <a:close/>
                <a:moveTo>
                  <a:pt x="3285716" y="530016"/>
                </a:moveTo>
                <a:cubicBezTo>
                  <a:pt x="3339595" y="530015"/>
                  <a:pt x="3393473" y="550569"/>
                  <a:pt x="3434581" y="591677"/>
                </a:cubicBezTo>
                <a:cubicBezTo>
                  <a:pt x="3516797" y="673894"/>
                  <a:pt x="3516797" y="807191"/>
                  <a:pt x="3434581" y="889408"/>
                </a:cubicBezTo>
                <a:lnTo>
                  <a:pt x="359390" y="3964597"/>
                </a:lnTo>
                <a:cubicBezTo>
                  <a:pt x="277175" y="4046813"/>
                  <a:pt x="143876" y="4046813"/>
                  <a:pt x="61661" y="3964597"/>
                </a:cubicBezTo>
                <a:lnTo>
                  <a:pt x="61662" y="3964597"/>
                </a:lnTo>
                <a:cubicBezTo>
                  <a:pt x="-20554" y="3882381"/>
                  <a:pt x="-20554" y="3749083"/>
                  <a:pt x="61662" y="3666867"/>
                </a:cubicBezTo>
                <a:lnTo>
                  <a:pt x="3136851" y="591677"/>
                </a:lnTo>
                <a:cubicBezTo>
                  <a:pt x="3177959" y="550569"/>
                  <a:pt x="3231837" y="530015"/>
                  <a:pt x="3285716" y="530016"/>
                </a:cubicBezTo>
                <a:close/>
                <a:moveTo>
                  <a:pt x="4139534" y="347526"/>
                </a:moveTo>
                <a:cubicBezTo>
                  <a:pt x="4193413" y="347526"/>
                  <a:pt x="4247291" y="368080"/>
                  <a:pt x="4288399" y="409188"/>
                </a:cubicBezTo>
                <a:cubicBezTo>
                  <a:pt x="4370615" y="491405"/>
                  <a:pt x="4370615" y="624702"/>
                  <a:pt x="4288399" y="706919"/>
                </a:cubicBezTo>
                <a:lnTo>
                  <a:pt x="1213208" y="3782108"/>
                </a:lnTo>
                <a:cubicBezTo>
                  <a:pt x="1130992" y="3864324"/>
                  <a:pt x="997694" y="3864324"/>
                  <a:pt x="915478" y="3782108"/>
                </a:cubicBezTo>
                <a:lnTo>
                  <a:pt x="915479" y="3782108"/>
                </a:lnTo>
                <a:cubicBezTo>
                  <a:pt x="833263" y="3699892"/>
                  <a:pt x="833263" y="3566594"/>
                  <a:pt x="915479" y="3484378"/>
                </a:cubicBezTo>
                <a:lnTo>
                  <a:pt x="3990669" y="409188"/>
                </a:lnTo>
                <a:cubicBezTo>
                  <a:pt x="4031777" y="368080"/>
                  <a:pt x="4085655" y="347526"/>
                  <a:pt x="4139534" y="347526"/>
                </a:cubicBezTo>
                <a:close/>
                <a:moveTo>
                  <a:pt x="1664402" y="126303"/>
                </a:moveTo>
                <a:cubicBezTo>
                  <a:pt x="1718280" y="126303"/>
                  <a:pt x="1772159" y="146856"/>
                  <a:pt x="1813267" y="187965"/>
                </a:cubicBezTo>
                <a:cubicBezTo>
                  <a:pt x="1895483" y="270181"/>
                  <a:pt x="1895483" y="403479"/>
                  <a:pt x="1813267" y="485695"/>
                </a:cubicBezTo>
                <a:lnTo>
                  <a:pt x="554549" y="1744412"/>
                </a:lnTo>
                <a:cubicBezTo>
                  <a:pt x="472333" y="1826628"/>
                  <a:pt x="339035" y="1826628"/>
                  <a:pt x="256818" y="1744412"/>
                </a:cubicBezTo>
                <a:lnTo>
                  <a:pt x="256820" y="1744412"/>
                </a:lnTo>
                <a:cubicBezTo>
                  <a:pt x="174605" y="1662196"/>
                  <a:pt x="174605" y="1528898"/>
                  <a:pt x="256820" y="1446682"/>
                </a:cubicBezTo>
                <a:lnTo>
                  <a:pt x="1515537" y="187965"/>
                </a:lnTo>
                <a:cubicBezTo>
                  <a:pt x="1556645" y="146856"/>
                  <a:pt x="1610523" y="126303"/>
                  <a:pt x="1664402" y="126303"/>
                </a:cubicBezTo>
                <a:close/>
                <a:moveTo>
                  <a:pt x="3125460" y="18853"/>
                </a:moveTo>
                <a:cubicBezTo>
                  <a:pt x="3179339" y="18853"/>
                  <a:pt x="3233217" y="39407"/>
                  <a:pt x="3274325" y="80515"/>
                </a:cubicBezTo>
                <a:cubicBezTo>
                  <a:pt x="3356541" y="162731"/>
                  <a:pt x="3356541" y="296029"/>
                  <a:pt x="3274325" y="378245"/>
                </a:cubicBezTo>
                <a:lnTo>
                  <a:pt x="552641" y="3099928"/>
                </a:lnTo>
                <a:cubicBezTo>
                  <a:pt x="470425" y="3182144"/>
                  <a:pt x="337126" y="3182144"/>
                  <a:pt x="254911" y="3099928"/>
                </a:cubicBezTo>
                <a:lnTo>
                  <a:pt x="254912" y="3099928"/>
                </a:lnTo>
                <a:cubicBezTo>
                  <a:pt x="172696" y="3017712"/>
                  <a:pt x="172696" y="2884414"/>
                  <a:pt x="254912" y="2802198"/>
                </a:cubicBezTo>
                <a:lnTo>
                  <a:pt x="2976595" y="80515"/>
                </a:lnTo>
                <a:cubicBezTo>
                  <a:pt x="3017703" y="39407"/>
                  <a:pt x="3071581" y="18853"/>
                  <a:pt x="3125460" y="18853"/>
                </a:cubicBezTo>
                <a:close/>
                <a:moveTo>
                  <a:pt x="2465583" y="0"/>
                </a:moveTo>
                <a:cubicBezTo>
                  <a:pt x="2519461" y="0"/>
                  <a:pt x="2573340" y="20554"/>
                  <a:pt x="2614448" y="61662"/>
                </a:cubicBezTo>
                <a:cubicBezTo>
                  <a:pt x="2696664" y="143878"/>
                  <a:pt x="2696664" y="277176"/>
                  <a:pt x="2614448" y="359392"/>
                </a:cubicBezTo>
                <a:lnTo>
                  <a:pt x="632768" y="2341071"/>
                </a:lnTo>
                <a:cubicBezTo>
                  <a:pt x="550552" y="2423287"/>
                  <a:pt x="417253" y="2423287"/>
                  <a:pt x="335037" y="2341071"/>
                </a:cubicBezTo>
                <a:lnTo>
                  <a:pt x="335039" y="2341071"/>
                </a:lnTo>
                <a:cubicBezTo>
                  <a:pt x="252822" y="2258855"/>
                  <a:pt x="252822" y="2125557"/>
                  <a:pt x="335039" y="2043341"/>
                </a:cubicBezTo>
                <a:lnTo>
                  <a:pt x="2316718" y="61662"/>
                </a:lnTo>
                <a:cubicBezTo>
                  <a:pt x="2357826" y="20554"/>
                  <a:pt x="2411704" y="0"/>
                  <a:pt x="2465583" y="0"/>
                </a:cubicBezTo>
                <a:close/>
              </a:path>
            </a:pathLst>
          </a:custGeom>
          <a:pattFill prst="pct20">
            <a:fgClr>
              <a:schemeClr val="bg1">
                <a:lumMod val="50000"/>
                <a:lumOff val="50000"/>
              </a:schemeClr>
            </a:fgClr>
            <a:bgClr>
              <a:schemeClr val="bg1"/>
            </a:bgClr>
          </a:pattFill>
        </p:spPr>
        <p:txBody>
          <a:bodyPr wrap="square" anchor="ctr">
            <a:noAutofit/>
          </a:bodyPr>
          <a:lstStyle>
            <a:lvl1pPr marL="0" indent="0" algn="ctr">
              <a:buNone/>
              <a:defRPr sz="1600" baseline="0"/>
            </a:lvl1pPr>
          </a:lstStyle>
          <a:p>
            <a:r>
              <a:rPr lang="en-US"/>
              <a:t>Insert Image</a:t>
            </a:r>
          </a:p>
        </p:txBody>
      </p:sp>
    </p:spTree>
    <p:extLst>
      <p:ext uri="{BB962C8B-B14F-4D97-AF65-F5344CB8AC3E}">
        <p14:creationId xmlns:p14="http://schemas.microsoft.com/office/powerpoint/2010/main" val="220263770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3_bottom image right">
    <p:spTree>
      <p:nvGrpSpPr>
        <p:cNvPr id="1" name=""/>
        <p:cNvGrpSpPr/>
        <p:nvPr/>
      </p:nvGrpSpPr>
      <p:grpSpPr>
        <a:xfrm>
          <a:off x="0" y="0"/>
          <a:ext cx="0" cy="0"/>
          <a:chOff x="0" y="0"/>
          <a:chExt cx="0" cy="0"/>
        </a:xfrm>
      </p:grpSpPr>
      <p:sp>
        <p:nvSpPr>
          <p:cNvPr id="17" name="Rectangle 16"/>
          <p:cNvSpPr/>
          <p:nvPr userDrawn="1"/>
        </p:nvSpPr>
        <p:spPr>
          <a:xfrm>
            <a:off x="11622159" y="6467061"/>
            <a:ext cx="410817" cy="39093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Picture Placeholder 6"/>
          <p:cNvSpPr>
            <a:spLocks noGrp="1"/>
          </p:cNvSpPr>
          <p:nvPr>
            <p:ph type="pic" sz="quarter" idx="10"/>
          </p:nvPr>
        </p:nvSpPr>
        <p:spPr>
          <a:xfrm flipH="1">
            <a:off x="5261113" y="0"/>
            <a:ext cx="6930887" cy="6858000"/>
          </a:xfrm>
          <a:prstGeom prst="rtTriangle">
            <a:avLst/>
          </a:prstGeom>
        </p:spPr>
        <p:txBody>
          <a:bodyPr/>
          <a:lstStyle/>
          <a:p>
            <a:endParaRPr lang="id-ID"/>
          </a:p>
        </p:txBody>
      </p:sp>
    </p:spTree>
    <p:extLst>
      <p:ext uri="{BB962C8B-B14F-4D97-AF65-F5344CB8AC3E}">
        <p14:creationId xmlns:p14="http://schemas.microsoft.com/office/powerpoint/2010/main" val="76451342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diagonal placeholder">
    <p:spTree>
      <p:nvGrpSpPr>
        <p:cNvPr id="1" name=""/>
        <p:cNvGrpSpPr/>
        <p:nvPr/>
      </p:nvGrpSpPr>
      <p:grpSpPr>
        <a:xfrm>
          <a:off x="0" y="0"/>
          <a:ext cx="0" cy="0"/>
          <a:chOff x="0" y="0"/>
          <a:chExt cx="0" cy="0"/>
        </a:xfrm>
      </p:grpSpPr>
      <p:sp>
        <p:nvSpPr>
          <p:cNvPr id="17" name="Rectangle 16"/>
          <p:cNvSpPr/>
          <p:nvPr userDrawn="1"/>
        </p:nvSpPr>
        <p:spPr>
          <a:xfrm>
            <a:off x="11622159" y="6467061"/>
            <a:ext cx="410817" cy="39093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Picture Placeholder 12"/>
          <p:cNvSpPr>
            <a:spLocks noGrp="1"/>
          </p:cNvSpPr>
          <p:nvPr>
            <p:ph type="pic" sz="quarter" idx="12"/>
          </p:nvPr>
        </p:nvSpPr>
        <p:spPr>
          <a:xfrm>
            <a:off x="1" y="-1"/>
            <a:ext cx="4744278" cy="6858001"/>
          </a:xfrm>
          <a:custGeom>
            <a:avLst/>
            <a:gdLst>
              <a:gd name="connsiteX0" fmla="*/ 0 w 15806056"/>
              <a:gd name="connsiteY0" fmla="*/ 0 h 13716000"/>
              <a:gd name="connsiteX1" fmla="*/ 9050443 w 15806056"/>
              <a:gd name="connsiteY1" fmla="*/ 0 h 13716000"/>
              <a:gd name="connsiteX2" fmla="*/ 15806056 w 15806056"/>
              <a:gd name="connsiteY2" fmla="*/ 13716000 h 13716000"/>
              <a:gd name="connsiteX3" fmla="*/ 0 w 15806056"/>
              <a:gd name="connsiteY3" fmla="*/ 13716000 h 13716000"/>
            </a:gdLst>
            <a:ahLst/>
            <a:cxnLst>
              <a:cxn ang="0">
                <a:pos x="connsiteX0" y="connsiteY0"/>
              </a:cxn>
              <a:cxn ang="0">
                <a:pos x="connsiteX1" y="connsiteY1"/>
              </a:cxn>
              <a:cxn ang="0">
                <a:pos x="connsiteX2" y="connsiteY2"/>
              </a:cxn>
              <a:cxn ang="0">
                <a:pos x="connsiteX3" y="connsiteY3"/>
              </a:cxn>
            </a:cxnLst>
            <a:rect l="l" t="t" r="r" b="b"/>
            <a:pathLst>
              <a:path w="15806056" h="13716000">
                <a:moveTo>
                  <a:pt x="0" y="0"/>
                </a:moveTo>
                <a:lnTo>
                  <a:pt x="9050443" y="0"/>
                </a:lnTo>
                <a:lnTo>
                  <a:pt x="15806056" y="13716000"/>
                </a:lnTo>
                <a:lnTo>
                  <a:pt x="0" y="13716000"/>
                </a:lnTo>
                <a:close/>
              </a:path>
            </a:pathLst>
          </a:custGeom>
        </p:spPr>
        <p:txBody>
          <a:bodyPr wrap="square">
            <a:noAutofit/>
          </a:bodyPr>
          <a:lstStyle>
            <a:lvl1pPr>
              <a:defRPr sz="900"/>
            </a:lvl1pPr>
          </a:lstStyle>
          <a:p>
            <a:endParaRPr lang="en-US"/>
          </a:p>
        </p:txBody>
      </p:sp>
    </p:spTree>
    <p:extLst>
      <p:ext uri="{BB962C8B-B14F-4D97-AF65-F5344CB8AC3E}">
        <p14:creationId xmlns:p14="http://schemas.microsoft.com/office/powerpoint/2010/main" val="344947870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diagonal placeholder RIGHT">
    <p:spTree>
      <p:nvGrpSpPr>
        <p:cNvPr id="1" name=""/>
        <p:cNvGrpSpPr/>
        <p:nvPr/>
      </p:nvGrpSpPr>
      <p:grpSpPr>
        <a:xfrm>
          <a:off x="0" y="0"/>
          <a:ext cx="0" cy="0"/>
          <a:chOff x="0" y="0"/>
          <a:chExt cx="0" cy="0"/>
        </a:xfrm>
      </p:grpSpPr>
      <p:sp>
        <p:nvSpPr>
          <p:cNvPr id="15" name="Picture Placeholder 12"/>
          <p:cNvSpPr>
            <a:spLocks noGrp="1"/>
          </p:cNvSpPr>
          <p:nvPr>
            <p:ph type="pic" sz="quarter" idx="12"/>
          </p:nvPr>
        </p:nvSpPr>
        <p:spPr>
          <a:xfrm flipH="1">
            <a:off x="7447722" y="0"/>
            <a:ext cx="4744278" cy="6858000"/>
          </a:xfrm>
          <a:custGeom>
            <a:avLst/>
            <a:gdLst>
              <a:gd name="connsiteX0" fmla="*/ 0 w 15806056"/>
              <a:gd name="connsiteY0" fmla="*/ 0 h 13716000"/>
              <a:gd name="connsiteX1" fmla="*/ 9050443 w 15806056"/>
              <a:gd name="connsiteY1" fmla="*/ 0 h 13716000"/>
              <a:gd name="connsiteX2" fmla="*/ 15806056 w 15806056"/>
              <a:gd name="connsiteY2" fmla="*/ 13716000 h 13716000"/>
              <a:gd name="connsiteX3" fmla="*/ 0 w 15806056"/>
              <a:gd name="connsiteY3" fmla="*/ 13716000 h 13716000"/>
            </a:gdLst>
            <a:ahLst/>
            <a:cxnLst>
              <a:cxn ang="0">
                <a:pos x="connsiteX0" y="connsiteY0"/>
              </a:cxn>
              <a:cxn ang="0">
                <a:pos x="connsiteX1" y="connsiteY1"/>
              </a:cxn>
              <a:cxn ang="0">
                <a:pos x="connsiteX2" y="connsiteY2"/>
              </a:cxn>
              <a:cxn ang="0">
                <a:pos x="connsiteX3" y="connsiteY3"/>
              </a:cxn>
            </a:cxnLst>
            <a:rect l="l" t="t" r="r" b="b"/>
            <a:pathLst>
              <a:path w="15806056" h="13716000">
                <a:moveTo>
                  <a:pt x="0" y="0"/>
                </a:moveTo>
                <a:lnTo>
                  <a:pt x="9050443" y="0"/>
                </a:lnTo>
                <a:lnTo>
                  <a:pt x="15806056" y="13716000"/>
                </a:lnTo>
                <a:lnTo>
                  <a:pt x="0" y="13716000"/>
                </a:lnTo>
                <a:close/>
              </a:path>
            </a:pathLst>
          </a:custGeom>
        </p:spPr>
        <p:txBody>
          <a:bodyPr wrap="square">
            <a:noAutofit/>
          </a:bodyPr>
          <a:lstStyle>
            <a:lvl1pPr>
              <a:defRPr sz="900"/>
            </a:lvl1pPr>
          </a:lstStyle>
          <a:p>
            <a:endParaRPr lang="en-US"/>
          </a:p>
        </p:txBody>
      </p:sp>
    </p:spTree>
    <p:extLst>
      <p:ext uri="{BB962C8B-B14F-4D97-AF65-F5344CB8AC3E}">
        <p14:creationId xmlns:p14="http://schemas.microsoft.com/office/powerpoint/2010/main" val="334424156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image halh top">
    <p:spTree>
      <p:nvGrpSpPr>
        <p:cNvPr id="1" name=""/>
        <p:cNvGrpSpPr/>
        <p:nvPr/>
      </p:nvGrpSpPr>
      <p:grpSpPr>
        <a:xfrm>
          <a:off x="0" y="0"/>
          <a:ext cx="0" cy="0"/>
          <a:chOff x="0" y="0"/>
          <a:chExt cx="0" cy="0"/>
        </a:xfrm>
      </p:grpSpPr>
      <p:sp>
        <p:nvSpPr>
          <p:cNvPr id="15" name="Picture Placeholder 4"/>
          <p:cNvSpPr>
            <a:spLocks noGrp="1"/>
          </p:cNvSpPr>
          <p:nvPr>
            <p:ph type="pic" sz="quarter" idx="10"/>
          </p:nvPr>
        </p:nvSpPr>
        <p:spPr>
          <a:xfrm>
            <a:off x="0" y="1"/>
            <a:ext cx="12192000" cy="3472069"/>
          </a:xfrm>
        </p:spPr>
        <p:txBody>
          <a:bodyPr/>
          <a:lstStyle/>
          <a:p>
            <a:endParaRPr lang="id-ID"/>
          </a:p>
        </p:txBody>
      </p:sp>
    </p:spTree>
    <p:extLst>
      <p:ext uri="{BB962C8B-B14F-4D97-AF65-F5344CB8AC3E}">
        <p14:creationId xmlns:p14="http://schemas.microsoft.com/office/powerpoint/2010/main" val="264975393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image full">
    <p:spTree>
      <p:nvGrpSpPr>
        <p:cNvPr id="1" name=""/>
        <p:cNvGrpSpPr/>
        <p:nvPr/>
      </p:nvGrpSpPr>
      <p:grpSpPr>
        <a:xfrm>
          <a:off x="0" y="0"/>
          <a:ext cx="0" cy="0"/>
          <a:chOff x="0" y="0"/>
          <a:chExt cx="0" cy="0"/>
        </a:xfrm>
      </p:grpSpPr>
      <p:sp>
        <p:nvSpPr>
          <p:cNvPr id="15" name="Picture Placeholder 4"/>
          <p:cNvSpPr>
            <a:spLocks noGrp="1"/>
          </p:cNvSpPr>
          <p:nvPr>
            <p:ph type="pic" sz="quarter" idx="10"/>
          </p:nvPr>
        </p:nvSpPr>
        <p:spPr>
          <a:xfrm>
            <a:off x="0" y="1"/>
            <a:ext cx="12192000" cy="6857999"/>
          </a:xfrm>
        </p:spPr>
        <p:txBody>
          <a:bodyPr/>
          <a:lstStyle/>
          <a:p>
            <a:endParaRPr lang="id-ID"/>
          </a:p>
        </p:txBody>
      </p:sp>
    </p:spTree>
    <p:extLst>
      <p:ext uri="{BB962C8B-B14F-4D97-AF65-F5344CB8AC3E}">
        <p14:creationId xmlns:p14="http://schemas.microsoft.com/office/powerpoint/2010/main" val="424293860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2_image left side">
    <p:spTree>
      <p:nvGrpSpPr>
        <p:cNvPr id="1" name=""/>
        <p:cNvGrpSpPr/>
        <p:nvPr/>
      </p:nvGrpSpPr>
      <p:grpSpPr>
        <a:xfrm>
          <a:off x="0" y="0"/>
          <a:ext cx="0" cy="0"/>
          <a:chOff x="0" y="0"/>
          <a:chExt cx="0" cy="0"/>
        </a:xfrm>
      </p:grpSpPr>
      <p:sp>
        <p:nvSpPr>
          <p:cNvPr id="17" name="Rectangle 16"/>
          <p:cNvSpPr/>
          <p:nvPr userDrawn="1"/>
        </p:nvSpPr>
        <p:spPr>
          <a:xfrm>
            <a:off x="11622159" y="6467061"/>
            <a:ext cx="410817" cy="39093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Picture Placeholder 4"/>
          <p:cNvSpPr>
            <a:spLocks noGrp="1"/>
          </p:cNvSpPr>
          <p:nvPr>
            <p:ph type="pic" sz="quarter" idx="10"/>
          </p:nvPr>
        </p:nvSpPr>
        <p:spPr>
          <a:xfrm>
            <a:off x="0" y="1"/>
            <a:ext cx="4505739" cy="6857999"/>
          </a:xfrm>
        </p:spPr>
        <p:txBody>
          <a:bodyPr/>
          <a:lstStyle/>
          <a:p>
            <a:endParaRPr lang="id-ID"/>
          </a:p>
        </p:txBody>
      </p:sp>
      <p:sp>
        <p:nvSpPr>
          <p:cNvPr id="16" name="TextBox 15"/>
          <p:cNvSpPr txBox="1"/>
          <p:nvPr userDrawn="1"/>
        </p:nvSpPr>
        <p:spPr>
          <a:xfrm>
            <a:off x="11286889" y="465183"/>
            <a:ext cx="649356" cy="307777"/>
          </a:xfrm>
          <a:prstGeom prst="rect">
            <a:avLst/>
          </a:prstGeom>
          <a:noFill/>
        </p:spPr>
        <p:txBody>
          <a:bodyPr wrap="square" rtlCol="0">
            <a:spAutoFit/>
          </a:bodyPr>
          <a:lstStyle/>
          <a:p>
            <a:pPr algn="ctr"/>
            <a:fld id="{49B9A1CC-CF23-404A-A754-6B4803B2A082}" type="slidenum">
              <a:rPr lang="id-ID" sz="1400" smtClean="0">
                <a:solidFill>
                  <a:schemeClr val="bg1">
                    <a:lumMod val="50000"/>
                  </a:schemeClr>
                </a:solidFill>
              </a:rPr>
              <a:t>‹nº›</a:t>
            </a:fld>
            <a:endParaRPr lang="id-ID" sz="1400">
              <a:solidFill>
                <a:schemeClr val="bg1">
                  <a:lumMod val="50000"/>
                </a:schemeClr>
              </a:solidFill>
            </a:endParaRPr>
          </a:p>
        </p:txBody>
      </p:sp>
      <p:sp>
        <p:nvSpPr>
          <p:cNvPr id="19" name="Oval 18"/>
          <p:cNvSpPr/>
          <p:nvPr userDrawn="1"/>
        </p:nvSpPr>
        <p:spPr>
          <a:xfrm>
            <a:off x="11395567" y="408099"/>
            <a:ext cx="432000" cy="432000"/>
          </a:xfrm>
          <a:prstGeom prst="ellipse">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Tree>
    <p:extLst>
      <p:ext uri="{BB962C8B-B14F-4D97-AF65-F5344CB8AC3E}">
        <p14:creationId xmlns:p14="http://schemas.microsoft.com/office/powerpoint/2010/main" val="386193851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3_image center side">
    <p:spTree>
      <p:nvGrpSpPr>
        <p:cNvPr id="1" name=""/>
        <p:cNvGrpSpPr/>
        <p:nvPr/>
      </p:nvGrpSpPr>
      <p:grpSpPr>
        <a:xfrm>
          <a:off x="0" y="0"/>
          <a:ext cx="0" cy="0"/>
          <a:chOff x="0" y="0"/>
          <a:chExt cx="0" cy="0"/>
        </a:xfrm>
      </p:grpSpPr>
      <p:sp>
        <p:nvSpPr>
          <p:cNvPr id="15" name="Picture Placeholder 4"/>
          <p:cNvSpPr>
            <a:spLocks noGrp="1"/>
          </p:cNvSpPr>
          <p:nvPr>
            <p:ph type="pic" sz="quarter" idx="10"/>
          </p:nvPr>
        </p:nvSpPr>
        <p:spPr>
          <a:xfrm>
            <a:off x="3432313" y="1"/>
            <a:ext cx="2133600" cy="6857999"/>
          </a:xfrm>
        </p:spPr>
        <p:txBody>
          <a:bodyPr/>
          <a:lstStyle/>
          <a:p>
            <a:endParaRPr lang="id-ID"/>
          </a:p>
        </p:txBody>
      </p:sp>
      <p:sp>
        <p:nvSpPr>
          <p:cNvPr id="16" name="TextBox 15"/>
          <p:cNvSpPr txBox="1"/>
          <p:nvPr userDrawn="1"/>
        </p:nvSpPr>
        <p:spPr>
          <a:xfrm>
            <a:off x="11286889" y="465183"/>
            <a:ext cx="649356" cy="307777"/>
          </a:xfrm>
          <a:prstGeom prst="rect">
            <a:avLst/>
          </a:prstGeom>
          <a:noFill/>
        </p:spPr>
        <p:txBody>
          <a:bodyPr wrap="square" rtlCol="0">
            <a:spAutoFit/>
          </a:bodyPr>
          <a:lstStyle/>
          <a:p>
            <a:pPr algn="ctr"/>
            <a:fld id="{49B9A1CC-CF23-404A-A754-6B4803B2A082}" type="slidenum">
              <a:rPr lang="id-ID" sz="1400" smtClean="0">
                <a:solidFill>
                  <a:schemeClr val="bg1">
                    <a:lumMod val="50000"/>
                  </a:schemeClr>
                </a:solidFill>
              </a:rPr>
              <a:t>‹nº›</a:t>
            </a:fld>
            <a:endParaRPr lang="id-ID" sz="1400">
              <a:solidFill>
                <a:schemeClr val="bg1">
                  <a:lumMod val="50000"/>
                </a:schemeClr>
              </a:solidFill>
            </a:endParaRPr>
          </a:p>
        </p:txBody>
      </p:sp>
      <p:sp>
        <p:nvSpPr>
          <p:cNvPr id="19" name="Oval 18"/>
          <p:cNvSpPr/>
          <p:nvPr userDrawn="1"/>
        </p:nvSpPr>
        <p:spPr>
          <a:xfrm>
            <a:off x="11395567" y="408099"/>
            <a:ext cx="432000" cy="432000"/>
          </a:xfrm>
          <a:prstGeom prst="ellipse">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Tree>
    <p:extLst>
      <p:ext uri="{BB962C8B-B14F-4D97-AF65-F5344CB8AC3E}">
        <p14:creationId xmlns:p14="http://schemas.microsoft.com/office/powerpoint/2010/main" val="258304740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4_image center side 2">
    <p:spTree>
      <p:nvGrpSpPr>
        <p:cNvPr id="1" name=""/>
        <p:cNvGrpSpPr/>
        <p:nvPr/>
      </p:nvGrpSpPr>
      <p:grpSpPr>
        <a:xfrm>
          <a:off x="0" y="0"/>
          <a:ext cx="0" cy="0"/>
          <a:chOff x="0" y="0"/>
          <a:chExt cx="0" cy="0"/>
        </a:xfrm>
      </p:grpSpPr>
      <p:sp>
        <p:nvSpPr>
          <p:cNvPr id="15" name="Picture Placeholder 4"/>
          <p:cNvSpPr>
            <a:spLocks noGrp="1"/>
          </p:cNvSpPr>
          <p:nvPr>
            <p:ph type="pic" sz="quarter" idx="10"/>
          </p:nvPr>
        </p:nvSpPr>
        <p:spPr>
          <a:xfrm>
            <a:off x="7566991" y="1"/>
            <a:ext cx="2133600" cy="6857999"/>
          </a:xfrm>
        </p:spPr>
        <p:txBody>
          <a:bodyPr/>
          <a:lstStyle/>
          <a:p>
            <a:endParaRPr lang="id-ID"/>
          </a:p>
        </p:txBody>
      </p:sp>
    </p:spTree>
    <p:extLst>
      <p:ext uri="{BB962C8B-B14F-4D97-AF65-F5344CB8AC3E}">
        <p14:creationId xmlns:p14="http://schemas.microsoft.com/office/powerpoint/2010/main" val="119432949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4_image small side left">
    <p:spTree>
      <p:nvGrpSpPr>
        <p:cNvPr id="1" name=""/>
        <p:cNvGrpSpPr/>
        <p:nvPr/>
      </p:nvGrpSpPr>
      <p:grpSpPr>
        <a:xfrm>
          <a:off x="0" y="0"/>
          <a:ext cx="0" cy="0"/>
          <a:chOff x="0" y="0"/>
          <a:chExt cx="0" cy="0"/>
        </a:xfrm>
      </p:grpSpPr>
      <p:sp>
        <p:nvSpPr>
          <p:cNvPr id="15" name="Picture Placeholder 4"/>
          <p:cNvSpPr>
            <a:spLocks noGrp="1"/>
          </p:cNvSpPr>
          <p:nvPr>
            <p:ph type="pic" sz="quarter" idx="10"/>
          </p:nvPr>
        </p:nvSpPr>
        <p:spPr>
          <a:xfrm>
            <a:off x="0" y="0"/>
            <a:ext cx="2875722" cy="6857999"/>
          </a:xfrm>
        </p:spPr>
        <p:txBody>
          <a:bodyPr/>
          <a:lstStyle/>
          <a:p>
            <a:endParaRPr lang="id-ID"/>
          </a:p>
        </p:txBody>
      </p:sp>
      <p:sp>
        <p:nvSpPr>
          <p:cNvPr id="16" name="TextBox 15"/>
          <p:cNvSpPr txBox="1"/>
          <p:nvPr userDrawn="1"/>
        </p:nvSpPr>
        <p:spPr>
          <a:xfrm>
            <a:off x="11286889" y="465183"/>
            <a:ext cx="649356" cy="307777"/>
          </a:xfrm>
          <a:prstGeom prst="rect">
            <a:avLst/>
          </a:prstGeom>
          <a:noFill/>
        </p:spPr>
        <p:txBody>
          <a:bodyPr wrap="square" rtlCol="0">
            <a:spAutoFit/>
          </a:bodyPr>
          <a:lstStyle/>
          <a:p>
            <a:pPr algn="ctr"/>
            <a:fld id="{49B9A1CC-CF23-404A-A754-6B4803B2A082}" type="slidenum">
              <a:rPr lang="id-ID" sz="1400" smtClean="0">
                <a:solidFill>
                  <a:schemeClr val="bg1">
                    <a:lumMod val="50000"/>
                  </a:schemeClr>
                </a:solidFill>
              </a:rPr>
              <a:t>‹nº›</a:t>
            </a:fld>
            <a:endParaRPr lang="id-ID" sz="1400">
              <a:solidFill>
                <a:schemeClr val="bg1">
                  <a:lumMod val="50000"/>
                </a:schemeClr>
              </a:solidFill>
            </a:endParaRPr>
          </a:p>
        </p:txBody>
      </p:sp>
      <p:sp>
        <p:nvSpPr>
          <p:cNvPr id="19" name="Oval 18"/>
          <p:cNvSpPr/>
          <p:nvPr userDrawn="1"/>
        </p:nvSpPr>
        <p:spPr>
          <a:xfrm>
            <a:off x="11395567" y="408099"/>
            <a:ext cx="432000" cy="432000"/>
          </a:xfrm>
          <a:prstGeom prst="ellipse">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Tree>
    <p:extLst>
      <p:ext uri="{BB962C8B-B14F-4D97-AF65-F5344CB8AC3E}">
        <p14:creationId xmlns:p14="http://schemas.microsoft.com/office/powerpoint/2010/main" val="365014255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5_image small 2 side ">
    <p:spTree>
      <p:nvGrpSpPr>
        <p:cNvPr id="1" name=""/>
        <p:cNvGrpSpPr/>
        <p:nvPr/>
      </p:nvGrpSpPr>
      <p:grpSpPr>
        <a:xfrm>
          <a:off x="0" y="0"/>
          <a:ext cx="0" cy="0"/>
          <a:chOff x="0" y="0"/>
          <a:chExt cx="0" cy="0"/>
        </a:xfrm>
      </p:grpSpPr>
      <p:sp>
        <p:nvSpPr>
          <p:cNvPr id="15" name="Picture Placeholder 4"/>
          <p:cNvSpPr>
            <a:spLocks noGrp="1"/>
          </p:cNvSpPr>
          <p:nvPr>
            <p:ph type="pic" sz="quarter" idx="10"/>
          </p:nvPr>
        </p:nvSpPr>
        <p:spPr>
          <a:xfrm>
            <a:off x="0" y="0"/>
            <a:ext cx="3299791" cy="6857999"/>
          </a:xfrm>
        </p:spPr>
        <p:txBody>
          <a:bodyPr/>
          <a:lstStyle/>
          <a:p>
            <a:endParaRPr lang="id-ID"/>
          </a:p>
        </p:txBody>
      </p:sp>
      <p:sp>
        <p:nvSpPr>
          <p:cNvPr id="19" name="Picture Placeholder 4"/>
          <p:cNvSpPr>
            <a:spLocks noGrp="1"/>
          </p:cNvSpPr>
          <p:nvPr>
            <p:ph type="pic" sz="quarter" idx="11"/>
          </p:nvPr>
        </p:nvSpPr>
        <p:spPr>
          <a:xfrm>
            <a:off x="9051234" y="1"/>
            <a:ext cx="3140765" cy="6857999"/>
          </a:xfrm>
        </p:spPr>
        <p:txBody>
          <a:bodyPr/>
          <a:lstStyle/>
          <a:p>
            <a:endParaRPr lang="id-ID"/>
          </a:p>
        </p:txBody>
      </p:sp>
    </p:spTree>
    <p:extLst>
      <p:ext uri="{BB962C8B-B14F-4D97-AF65-F5344CB8AC3E}">
        <p14:creationId xmlns:p14="http://schemas.microsoft.com/office/powerpoint/2010/main" val="198032490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5_image small side right">
    <p:spTree>
      <p:nvGrpSpPr>
        <p:cNvPr id="1" name=""/>
        <p:cNvGrpSpPr/>
        <p:nvPr/>
      </p:nvGrpSpPr>
      <p:grpSpPr>
        <a:xfrm>
          <a:off x="0" y="0"/>
          <a:ext cx="0" cy="0"/>
          <a:chOff x="0" y="0"/>
          <a:chExt cx="0" cy="0"/>
        </a:xfrm>
      </p:grpSpPr>
      <p:sp>
        <p:nvSpPr>
          <p:cNvPr id="15" name="Picture Placeholder 4"/>
          <p:cNvSpPr>
            <a:spLocks noGrp="1"/>
          </p:cNvSpPr>
          <p:nvPr>
            <p:ph type="pic" sz="quarter" idx="10"/>
          </p:nvPr>
        </p:nvSpPr>
        <p:spPr>
          <a:xfrm>
            <a:off x="9316278" y="1"/>
            <a:ext cx="2875722" cy="6857999"/>
          </a:xfrm>
        </p:spPr>
        <p:txBody>
          <a:bodyPr/>
          <a:lstStyle/>
          <a:p>
            <a:endParaRPr lang="id-ID"/>
          </a:p>
        </p:txBody>
      </p:sp>
    </p:spTree>
    <p:extLst>
      <p:ext uri="{BB962C8B-B14F-4D97-AF65-F5344CB8AC3E}">
        <p14:creationId xmlns:p14="http://schemas.microsoft.com/office/powerpoint/2010/main" val="336499259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image left side">
    <p:spTree>
      <p:nvGrpSpPr>
        <p:cNvPr id="1" name=""/>
        <p:cNvGrpSpPr/>
        <p:nvPr/>
      </p:nvGrpSpPr>
      <p:grpSpPr>
        <a:xfrm>
          <a:off x="0" y="0"/>
          <a:ext cx="0" cy="0"/>
          <a:chOff x="0" y="0"/>
          <a:chExt cx="0" cy="0"/>
        </a:xfrm>
      </p:grpSpPr>
      <p:sp>
        <p:nvSpPr>
          <p:cNvPr id="16" name="Picture Placeholder 6"/>
          <p:cNvSpPr>
            <a:spLocks noGrp="1"/>
          </p:cNvSpPr>
          <p:nvPr>
            <p:ph type="pic" sz="quarter" idx="10"/>
          </p:nvPr>
        </p:nvSpPr>
        <p:spPr>
          <a:xfrm>
            <a:off x="698409" y="848138"/>
            <a:ext cx="3180522" cy="5121965"/>
          </a:xfrm>
          <a:prstGeom prst="foldedCorner">
            <a:avLst/>
          </a:prstGeom>
        </p:spPr>
        <p:txBody>
          <a:bodyPr/>
          <a:lstStyle/>
          <a:p>
            <a:endParaRPr lang="id-ID"/>
          </a:p>
        </p:txBody>
      </p:sp>
      <p:sp>
        <p:nvSpPr>
          <p:cNvPr id="15" name="TextBox 14"/>
          <p:cNvSpPr txBox="1"/>
          <p:nvPr userDrawn="1"/>
        </p:nvSpPr>
        <p:spPr>
          <a:xfrm>
            <a:off x="11286889" y="465183"/>
            <a:ext cx="649356" cy="307777"/>
          </a:xfrm>
          <a:prstGeom prst="rect">
            <a:avLst/>
          </a:prstGeom>
          <a:noFill/>
        </p:spPr>
        <p:txBody>
          <a:bodyPr wrap="square" rtlCol="0">
            <a:spAutoFit/>
          </a:bodyPr>
          <a:lstStyle/>
          <a:p>
            <a:pPr algn="ctr"/>
            <a:fld id="{49B9A1CC-CF23-404A-A754-6B4803B2A082}" type="slidenum">
              <a:rPr lang="id-ID" sz="1400" smtClean="0">
                <a:solidFill>
                  <a:schemeClr val="bg1">
                    <a:lumMod val="50000"/>
                  </a:schemeClr>
                </a:solidFill>
              </a:rPr>
              <a:t>‹nº›</a:t>
            </a:fld>
            <a:endParaRPr lang="id-ID" sz="1400">
              <a:solidFill>
                <a:schemeClr val="bg1">
                  <a:lumMod val="50000"/>
                </a:schemeClr>
              </a:solidFill>
            </a:endParaRPr>
          </a:p>
        </p:txBody>
      </p:sp>
      <p:sp>
        <p:nvSpPr>
          <p:cNvPr id="19" name="Oval 18"/>
          <p:cNvSpPr/>
          <p:nvPr userDrawn="1"/>
        </p:nvSpPr>
        <p:spPr>
          <a:xfrm>
            <a:off x="11395567" y="408099"/>
            <a:ext cx="432000" cy="432000"/>
          </a:xfrm>
          <a:prstGeom prst="ellipse">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Tree>
    <p:extLst>
      <p:ext uri="{BB962C8B-B14F-4D97-AF65-F5344CB8AC3E}">
        <p14:creationId xmlns:p14="http://schemas.microsoft.com/office/powerpoint/2010/main" val="345417794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3_image right side">
    <p:spTree>
      <p:nvGrpSpPr>
        <p:cNvPr id="1" name=""/>
        <p:cNvGrpSpPr/>
        <p:nvPr/>
      </p:nvGrpSpPr>
      <p:grpSpPr>
        <a:xfrm>
          <a:off x="0" y="0"/>
          <a:ext cx="0" cy="0"/>
          <a:chOff x="0" y="0"/>
          <a:chExt cx="0" cy="0"/>
        </a:xfrm>
      </p:grpSpPr>
      <p:sp>
        <p:nvSpPr>
          <p:cNvPr id="15" name="Picture Placeholder 4"/>
          <p:cNvSpPr>
            <a:spLocks noGrp="1"/>
          </p:cNvSpPr>
          <p:nvPr>
            <p:ph type="pic" sz="quarter" idx="10"/>
          </p:nvPr>
        </p:nvSpPr>
        <p:spPr>
          <a:xfrm>
            <a:off x="7686261" y="1"/>
            <a:ext cx="4505739" cy="6857999"/>
          </a:xfrm>
        </p:spPr>
        <p:txBody>
          <a:bodyPr/>
          <a:lstStyle/>
          <a:p>
            <a:endParaRPr lang="id-ID"/>
          </a:p>
        </p:txBody>
      </p:sp>
    </p:spTree>
    <p:extLst>
      <p:ext uri="{BB962C8B-B14F-4D97-AF65-F5344CB8AC3E}">
        <p14:creationId xmlns:p14="http://schemas.microsoft.com/office/powerpoint/2010/main" val="56402958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1_Section 2 with picture">
    <p:spTree>
      <p:nvGrpSpPr>
        <p:cNvPr id="1" name=""/>
        <p:cNvGrpSpPr/>
        <p:nvPr/>
      </p:nvGrpSpPr>
      <p:grpSpPr>
        <a:xfrm>
          <a:off x="0" y="0"/>
          <a:ext cx="0" cy="0"/>
          <a:chOff x="0" y="0"/>
          <a:chExt cx="0" cy="0"/>
        </a:xfrm>
      </p:grpSpPr>
      <p:sp>
        <p:nvSpPr>
          <p:cNvPr id="10" name="Título 1">
            <a:extLst>
              <a:ext uri="{FF2B5EF4-FFF2-40B4-BE49-F238E27FC236}">
                <a16:creationId xmlns:a16="http://schemas.microsoft.com/office/drawing/2014/main" id="{37EE0A72-4482-C14E-ABB0-F387E71A05F9}"/>
              </a:ext>
            </a:extLst>
          </p:cNvPr>
          <p:cNvSpPr>
            <a:spLocks noGrp="1"/>
          </p:cNvSpPr>
          <p:nvPr>
            <p:ph type="ctrTitle" hasCustomPrompt="1"/>
          </p:nvPr>
        </p:nvSpPr>
        <p:spPr>
          <a:xfrm>
            <a:off x="1828304" y="1131142"/>
            <a:ext cx="4482849" cy="2143006"/>
          </a:xfrm>
        </p:spPr>
        <p:txBody>
          <a:bodyPr anchor="t" anchorCtr="0">
            <a:noAutofit/>
          </a:bodyPr>
          <a:lstStyle>
            <a:lvl1pPr algn="l">
              <a:defRPr sz="4600">
                <a:solidFill>
                  <a:schemeClr val="bg1"/>
                </a:solidFill>
                <a:latin typeface="Segoe UI" panose="020B0502040204020203" pitchFamily="34" charset="0"/>
              </a:defRPr>
            </a:lvl1pPr>
          </a:lstStyle>
          <a:p>
            <a:r>
              <a:rPr lang="en-US" noProof="0"/>
              <a:t>Section</a:t>
            </a:r>
            <a:br>
              <a:rPr lang="en-US" noProof="0"/>
            </a:br>
            <a:r>
              <a:rPr lang="en-US" noProof="0"/>
              <a:t>name – up to 3 lines (font 46)</a:t>
            </a:r>
          </a:p>
        </p:txBody>
      </p:sp>
      <p:sp>
        <p:nvSpPr>
          <p:cNvPr id="11" name="Subtítulo 2">
            <a:extLst>
              <a:ext uri="{FF2B5EF4-FFF2-40B4-BE49-F238E27FC236}">
                <a16:creationId xmlns:a16="http://schemas.microsoft.com/office/drawing/2014/main" id="{9D27D318-2B74-B64D-8BBB-F343E58EC46A}"/>
              </a:ext>
            </a:extLst>
          </p:cNvPr>
          <p:cNvSpPr>
            <a:spLocks noGrp="1"/>
          </p:cNvSpPr>
          <p:nvPr>
            <p:ph type="subTitle" idx="1" hasCustomPrompt="1"/>
          </p:nvPr>
        </p:nvSpPr>
        <p:spPr>
          <a:xfrm>
            <a:off x="1828304" y="3887076"/>
            <a:ext cx="3819461" cy="1002424"/>
          </a:xfrm>
        </p:spPr>
        <p:txBody>
          <a:bodyPr>
            <a:noAutofit/>
          </a:bodyPr>
          <a:lstStyle>
            <a:lvl1pPr marL="0" indent="0" algn="l">
              <a:lnSpc>
                <a:spcPct val="100000"/>
              </a:lnSpc>
              <a:buNone/>
              <a:defRPr sz="1600">
                <a:solidFill>
                  <a:schemeClr val="bg1"/>
                </a:solidFill>
                <a:latin typeface="Segoe UI" panose="020B050204020402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Section description – up to 4 lines               (font 16)</a:t>
            </a:r>
          </a:p>
        </p:txBody>
      </p:sp>
      <p:sp>
        <p:nvSpPr>
          <p:cNvPr id="3" name="Date Placeholder 2">
            <a:extLst>
              <a:ext uri="{FF2B5EF4-FFF2-40B4-BE49-F238E27FC236}">
                <a16:creationId xmlns:a16="http://schemas.microsoft.com/office/drawing/2014/main" id="{C890E506-C699-514E-BA06-2C972241C62B}"/>
              </a:ext>
            </a:extLst>
          </p:cNvPr>
          <p:cNvSpPr>
            <a:spLocks noGrp="1"/>
          </p:cNvSpPr>
          <p:nvPr>
            <p:ph type="dt" sz="half" idx="33"/>
          </p:nvPr>
        </p:nvSpPr>
        <p:spPr>
          <a:xfrm>
            <a:off x="654113" y="6356350"/>
            <a:ext cx="2927287" cy="365125"/>
          </a:xfrm>
          <a:prstGeom prst="rect">
            <a:avLst/>
          </a:prstGeom>
        </p:spPr>
        <p:txBody>
          <a:bodyPr/>
          <a:lstStyle>
            <a:lvl1pPr>
              <a:defRPr>
                <a:solidFill>
                  <a:schemeClr val="bg1"/>
                </a:solidFill>
                <a:latin typeface="Segoe UI" panose="020B0502040204020203" pitchFamily="34" charset="0"/>
              </a:defRPr>
            </a:lvl1pPr>
          </a:lstStyle>
          <a:p>
            <a:fld id="{C62BDB9C-98A7-6947-B035-93B3EDFFAF54}" type="datetime4">
              <a:rPr lang="en-US" smtClean="0">
                <a:solidFill>
                  <a:srgbClr val="FFFFFF"/>
                </a:solidFill>
              </a:rPr>
              <a:pPr/>
              <a:t>April 25, 2026</a:t>
            </a:fld>
            <a:endParaRPr lang="en-US">
              <a:solidFill>
                <a:srgbClr val="FFFFFF"/>
              </a:solidFill>
            </a:endParaRPr>
          </a:p>
        </p:txBody>
      </p:sp>
      <p:sp>
        <p:nvSpPr>
          <p:cNvPr id="5" name="Slide Number Placeholder 4">
            <a:extLst>
              <a:ext uri="{FF2B5EF4-FFF2-40B4-BE49-F238E27FC236}">
                <a16:creationId xmlns:a16="http://schemas.microsoft.com/office/drawing/2014/main" id="{7DC9642D-8E1C-D24C-BFDB-3C9E36185EEA}"/>
              </a:ext>
            </a:extLst>
          </p:cNvPr>
          <p:cNvSpPr>
            <a:spLocks noGrp="1"/>
          </p:cNvSpPr>
          <p:nvPr>
            <p:ph type="sldNum" sz="quarter" idx="35"/>
          </p:nvPr>
        </p:nvSpPr>
        <p:spPr>
          <a:xfrm>
            <a:off x="11265031" y="6356350"/>
            <a:ext cx="648590" cy="365125"/>
          </a:xfrm>
          <a:prstGeom prst="rect">
            <a:avLst/>
          </a:prstGeom>
        </p:spPr>
        <p:txBody>
          <a:bodyPr/>
          <a:lstStyle>
            <a:lvl1pPr>
              <a:defRPr>
                <a:solidFill>
                  <a:schemeClr val="bg1"/>
                </a:solidFill>
                <a:latin typeface="Segoe UI" panose="020B0502040204020203" pitchFamily="34" charset="0"/>
              </a:defRPr>
            </a:lvl1pPr>
          </a:lstStyle>
          <a:p>
            <a:fld id="{AD6D3279-9C4E-C94A-B134-5F196FB90914}" type="slidenum">
              <a:rPr lang="en-US" smtClean="0">
                <a:solidFill>
                  <a:srgbClr val="FFFFFF"/>
                </a:solidFill>
              </a:rPr>
              <a:pPr/>
              <a:t>‹nº›</a:t>
            </a:fld>
            <a:endParaRPr lang="en-US">
              <a:solidFill>
                <a:srgbClr val="FFFFFF"/>
              </a:solidFill>
            </a:endParaRPr>
          </a:p>
        </p:txBody>
      </p:sp>
    </p:spTree>
    <p:extLst>
      <p:ext uri="{BB962C8B-B14F-4D97-AF65-F5344CB8AC3E}">
        <p14:creationId xmlns:p14="http://schemas.microsoft.com/office/powerpoint/2010/main" val="3109869392"/>
      </p:ext>
    </p:extLst>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7.xml"/><Relationship Id="rId18" Type="http://schemas.openxmlformats.org/officeDocument/2006/relationships/slideLayout" Target="../slideLayouts/slideLayout32.xml"/><Relationship Id="rId26" Type="http://schemas.openxmlformats.org/officeDocument/2006/relationships/slideLayout" Target="../slideLayouts/slideLayout40.xml"/><Relationship Id="rId21" Type="http://schemas.openxmlformats.org/officeDocument/2006/relationships/slideLayout" Target="../slideLayouts/slideLayout35.xml"/><Relationship Id="rId34" Type="http://schemas.openxmlformats.org/officeDocument/2006/relationships/slideLayout" Target="../slideLayouts/slideLayout48.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17" Type="http://schemas.openxmlformats.org/officeDocument/2006/relationships/slideLayout" Target="../slideLayouts/slideLayout31.xml"/><Relationship Id="rId25" Type="http://schemas.openxmlformats.org/officeDocument/2006/relationships/slideLayout" Target="../slideLayouts/slideLayout39.xml"/><Relationship Id="rId33" Type="http://schemas.openxmlformats.org/officeDocument/2006/relationships/slideLayout" Target="../slideLayouts/slideLayout47.xml"/><Relationship Id="rId38" Type="http://schemas.openxmlformats.org/officeDocument/2006/relationships/theme" Target="../theme/theme2.xml"/><Relationship Id="rId2" Type="http://schemas.openxmlformats.org/officeDocument/2006/relationships/slideLayout" Target="../slideLayouts/slideLayout16.xml"/><Relationship Id="rId16" Type="http://schemas.openxmlformats.org/officeDocument/2006/relationships/slideLayout" Target="../slideLayouts/slideLayout30.xml"/><Relationship Id="rId20" Type="http://schemas.openxmlformats.org/officeDocument/2006/relationships/slideLayout" Target="../slideLayouts/slideLayout34.xml"/><Relationship Id="rId29" Type="http://schemas.openxmlformats.org/officeDocument/2006/relationships/slideLayout" Target="../slideLayouts/slideLayout43.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24" Type="http://schemas.openxmlformats.org/officeDocument/2006/relationships/slideLayout" Target="../slideLayouts/slideLayout38.xml"/><Relationship Id="rId32" Type="http://schemas.openxmlformats.org/officeDocument/2006/relationships/slideLayout" Target="../slideLayouts/slideLayout46.xml"/><Relationship Id="rId37" Type="http://schemas.openxmlformats.org/officeDocument/2006/relationships/slideLayout" Target="../slideLayouts/slideLayout51.xml"/><Relationship Id="rId5" Type="http://schemas.openxmlformats.org/officeDocument/2006/relationships/slideLayout" Target="../slideLayouts/slideLayout19.xml"/><Relationship Id="rId15" Type="http://schemas.openxmlformats.org/officeDocument/2006/relationships/slideLayout" Target="../slideLayouts/slideLayout29.xml"/><Relationship Id="rId23" Type="http://schemas.openxmlformats.org/officeDocument/2006/relationships/slideLayout" Target="../slideLayouts/slideLayout37.xml"/><Relationship Id="rId28" Type="http://schemas.openxmlformats.org/officeDocument/2006/relationships/slideLayout" Target="../slideLayouts/slideLayout42.xml"/><Relationship Id="rId36" Type="http://schemas.openxmlformats.org/officeDocument/2006/relationships/slideLayout" Target="../slideLayouts/slideLayout50.xml"/><Relationship Id="rId10" Type="http://schemas.openxmlformats.org/officeDocument/2006/relationships/slideLayout" Target="../slideLayouts/slideLayout24.xml"/><Relationship Id="rId19" Type="http://schemas.openxmlformats.org/officeDocument/2006/relationships/slideLayout" Target="../slideLayouts/slideLayout33.xml"/><Relationship Id="rId31" Type="http://schemas.openxmlformats.org/officeDocument/2006/relationships/slideLayout" Target="../slideLayouts/slideLayout45.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 Id="rId22" Type="http://schemas.openxmlformats.org/officeDocument/2006/relationships/slideLayout" Target="../slideLayouts/slideLayout36.xml"/><Relationship Id="rId27" Type="http://schemas.openxmlformats.org/officeDocument/2006/relationships/slideLayout" Target="../slideLayouts/slideLayout41.xml"/><Relationship Id="rId30" Type="http://schemas.openxmlformats.org/officeDocument/2006/relationships/slideLayout" Target="../slideLayouts/slideLayout44.xml"/><Relationship Id="rId35" Type="http://schemas.openxmlformats.org/officeDocument/2006/relationships/slideLayout" Target="../slideLayouts/slideLayout49.xml"/><Relationship Id="rId8" Type="http://schemas.openxmlformats.org/officeDocument/2006/relationships/slideLayout" Target="../slideLayouts/slideLayout22.xml"/><Relationship Id="rId3"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4/25/2026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‹nº›</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id-ID"/>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BB34C31-475E-4A2F-A9AA-BA95AC06B52C}" type="datetimeFigureOut">
              <a:rPr lang="id-ID" smtClean="0"/>
              <a:t>25/04/2026</a:t>
            </a:fld>
            <a:endParaRPr lang="id-ID"/>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d-ID"/>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E43B4A-7628-478F-BD81-93B0BA7BE246}" type="slidenum">
              <a:rPr lang="id-ID" smtClean="0"/>
              <a:t>‹nº›</a:t>
            </a:fld>
            <a:endParaRPr lang="id-ID"/>
          </a:p>
        </p:txBody>
      </p:sp>
    </p:spTree>
    <p:extLst>
      <p:ext uri="{BB962C8B-B14F-4D97-AF65-F5344CB8AC3E}">
        <p14:creationId xmlns:p14="http://schemas.microsoft.com/office/powerpoint/2010/main" val="3092921745"/>
      </p:ext>
    </p:extLst>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 id="2147483722" r:id="rId12"/>
    <p:sldLayoutId id="2147483723" r:id="rId13"/>
    <p:sldLayoutId id="2147483724" r:id="rId14"/>
    <p:sldLayoutId id="2147483725" r:id="rId15"/>
    <p:sldLayoutId id="2147483726" r:id="rId16"/>
    <p:sldLayoutId id="2147483727" r:id="rId17"/>
    <p:sldLayoutId id="2147483728" r:id="rId18"/>
    <p:sldLayoutId id="2147483729" r:id="rId19"/>
    <p:sldLayoutId id="2147483730" r:id="rId20"/>
    <p:sldLayoutId id="2147483731" r:id="rId21"/>
    <p:sldLayoutId id="2147483732" r:id="rId22"/>
    <p:sldLayoutId id="2147483733" r:id="rId23"/>
    <p:sldLayoutId id="2147483734" r:id="rId24"/>
    <p:sldLayoutId id="2147483735" r:id="rId25"/>
    <p:sldLayoutId id="2147483736" r:id="rId26"/>
    <p:sldLayoutId id="2147483737" r:id="rId27"/>
    <p:sldLayoutId id="2147483738" r:id="rId28"/>
    <p:sldLayoutId id="2147483739" r:id="rId29"/>
    <p:sldLayoutId id="2147483740" r:id="rId30"/>
    <p:sldLayoutId id="2147483741" r:id="rId31"/>
    <p:sldLayoutId id="2147483742" r:id="rId32"/>
    <p:sldLayoutId id="2147483743" r:id="rId33"/>
    <p:sldLayoutId id="2147483744" r:id="rId34"/>
    <p:sldLayoutId id="2147483745" r:id="rId35"/>
    <p:sldLayoutId id="2147483746" r:id="rId36"/>
    <p:sldLayoutId id="2147483747" r:id="rId3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microsoft.com/office/2007/relationships/hdphoto" Target="../media/hdphoto1.wdp"/><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4.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microsoft.com/office/2018/10/relationships/comments" Target="../comments/modernComment_109_D7E5891.xml"/><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4.xml"/><Relationship Id="rId6" Type="http://schemas.openxmlformats.org/officeDocument/2006/relationships/image" Target="../media/image12.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14.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3" Type="http://schemas.microsoft.com/office/2018/10/relationships/comments" Target="../comments/modernComment_110_AFC9E6A1.xml"/><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microsoft.com/office/2018/10/relationships/comments" Target="../comments/modernComment_120_FB564890.xml"/><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3" Type="http://schemas.microsoft.com/office/2018/10/relationships/comments" Target="../comments/modernComment_11B_296D12D8.xml"/><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3" Type="http://schemas.microsoft.com/office/2018/10/relationships/comments" Target="../comments/modernComment_124_7B53B7CD.xml"/><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3" Type="http://schemas.microsoft.com/office/2018/10/relationships/comments" Target="../comments/modernComment_123_93BA62AB.xml"/><Relationship Id="rId2" Type="http://schemas.openxmlformats.org/officeDocument/2006/relationships/notesSlide" Target="../notesSlides/notesSlide22.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3" Type="http://schemas.microsoft.com/office/2018/10/relationships/comments" Target="../comments/modernComment_126_E30F2003.xml"/><Relationship Id="rId2" Type="http://schemas.openxmlformats.org/officeDocument/2006/relationships/notesSlide" Target="../notesSlides/notesSlide24.xml"/><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3" Type="http://schemas.microsoft.com/office/2018/10/relationships/comments" Target="../comments/modernComment_105_F3471CD2.xml"/><Relationship Id="rId2" Type="http://schemas.openxmlformats.org/officeDocument/2006/relationships/notesSlide" Target="../notesSlides/notesSlide25.xml"/><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3" Type="http://schemas.microsoft.com/office/2018/10/relationships/comments" Target="../comments/modernComment_11D_7B6DD36E.xml"/><Relationship Id="rId2" Type="http://schemas.openxmlformats.org/officeDocument/2006/relationships/notesSlide" Target="../notesSlides/notesSlide26.xml"/><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3" Type="http://schemas.microsoft.com/office/2018/10/relationships/comments" Target="../comments/modernComment_10C_AA8C03FA.xml"/><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microsoft.com/office/2018/10/relationships/comments" Target="../comments/modernComment_7FFFE8A0_5D1B2852.xml"/><Relationship Id="rId2" Type="http://schemas.openxmlformats.org/officeDocument/2006/relationships/notesSlide" Target="../notesSlides/notesSlide28.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notesSlide" Target="../notesSlides/notesSlide31.xml"/><Relationship Id="rId1" Type="http://schemas.openxmlformats.org/officeDocument/2006/relationships/slideLayout" Target="../slideLayouts/slideLayout14.xml"/><Relationship Id="rId6" Type="http://schemas.openxmlformats.org/officeDocument/2006/relationships/image" Target="../media/image24.svg"/><Relationship Id="rId5" Type="http://schemas.openxmlformats.org/officeDocument/2006/relationships/image" Target="../media/image23.svg"/><Relationship Id="rId4" Type="http://schemas.openxmlformats.org/officeDocument/2006/relationships/image" Target="../media/image22.svg"/></Relationships>
</file>

<file path=ppt/slides/_rels/slide32.xml.rels><?xml version="1.0" encoding="UTF-8" standalone="yes"?>
<Relationships xmlns="http://schemas.openxmlformats.org/package/2006/relationships"><Relationship Id="rId3" Type="http://schemas.openxmlformats.org/officeDocument/2006/relationships/image" Target="../media/image25.svg"/><Relationship Id="rId2" Type="http://schemas.microsoft.com/office/2018/10/relationships/comments" Target="../comments/modernComment_7FFFE88F_68D21C67.xml"/><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3" Type="http://schemas.openxmlformats.org/officeDocument/2006/relationships/image" Target="../media/image26.svg"/><Relationship Id="rId2" Type="http://schemas.microsoft.com/office/2018/10/relationships/comments" Target="../comments/modernComment_7FFFE897_FD2BE021.xml"/><Relationship Id="rId1" Type="http://schemas.openxmlformats.org/officeDocument/2006/relationships/slideLayout" Target="../slideLayouts/slideLayout14.xml"/><Relationship Id="rId5" Type="http://schemas.openxmlformats.org/officeDocument/2006/relationships/image" Target="../media/image28.svg"/><Relationship Id="rId4" Type="http://schemas.openxmlformats.org/officeDocument/2006/relationships/image" Target="../media/image27.svg"/></Relationships>
</file>

<file path=ppt/slides/_rels/slide34.xml.rels><?xml version="1.0" encoding="UTF-8" standalone="yes"?>
<Relationships xmlns="http://schemas.openxmlformats.org/package/2006/relationships"><Relationship Id="rId3" Type="http://schemas.openxmlformats.org/officeDocument/2006/relationships/image" Target="../media/image26.svg"/><Relationship Id="rId2" Type="http://schemas.microsoft.com/office/2018/10/relationships/comments" Target="../comments/modernComment_7FFFE89C_C878D993.xml"/><Relationship Id="rId1" Type="http://schemas.openxmlformats.org/officeDocument/2006/relationships/slideLayout" Target="../slideLayouts/slideLayout14.xml"/><Relationship Id="rId6" Type="http://schemas.openxmlformats.org/officeDocument/2006/relationships/image" Target="../media/image28.svg"/><Relationship Id="rId5" Type="http://schemas.openxmlformats.org/officeDocument/2006/relationships/image" Target="../media/image29.svg"/><Relationship Id="rId4" Type="http://schemas.openxmlformats.org/officeDocument/2006/relationships/image" Target="../media/image27.svg"/></Relationships>
</file>

<file path=ppt/slides/_rels/slide35.xml.rels><?xml version="1.0" encoding="UTF-8" standalone="yes"?>
<Relationships xmlns="http://schemas.openxmlformats.org/package/2006/relationships"><Relationship Id="rId3" Type="http://schemas.microsoft.com/office/2018/10/relationships/comments" Target="../comments/modernComment_7FFFE898_F741CE44.xml"/><Relationship Id="rId2" Type="http://schemas.openxmlformats.org/officeDocument/2006/relationships/notesSlide" Target="../notesSlides/notesSlide32.xml"/><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3" Type="http://schemas.openxmlformats.org/officeDocument/2006/relationships/image" Target="../media/image31.svg"/><Relationship Id="rId7" Type="http://schemas.openxmlformats.org/officeDocument/2006/relationships/image" Target="../media/image35.svg"/><Relationship Id="rId2" Type="http://schemas.openxmlformats.org/officeDocument/2006/relationships/image" Target="../media/image30.svg"/><Relationship Id="rId1" Type="http://schemas.openxmlformats.org/officeDocument/2006/relationships/slideLayout" Target="../slideLayouts/slideLayout14.xml"/><Relationship Id="rId6" Type="http://schemas.openxmlformats.org/officeDocument/2006/relationships/image" Target="../media/image34.svg"/><Relationship Id="rId5" Type="http://schemas.openxmlformats.org/officeDocument/2006/relationships/image" Target="../media/image33.svg"/><Relationship Id="rId4" Type="http://schemas.openxmlformats.org/officeDocument/2006/relationships/image" Target="../media/image32.svg"/></Relationships>
</file>

<file path=ppt/slides/_rels/slide37.xml.rels><?xml version="1.0" encoding="UTF-8" standalone="yes"?>
<Relationships xmlns="http://schemas.openxmlformats.org/package/2006/relationships"><Relationship Id="rId2" Type="http://schemas.microsoft.com/office/2018/10/relationships/comments" Target="../comments/modernComment_130_0.xml"/><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3.xml"/><Relationship Id="rId1" Type="http://schemas.openxmlformats.org/officeDocument/2006/relationships/slideLayout" Target="../slideLayouts/slideLayout14.xml"/><Relationship Id="rId6" Type="http://schemas.openxmlformats.org/officeDocument/2006/relationships/image" Target="../media/image39.svg"/><Relationship Id="rId5" Type="http://schemas.openxmlformats.org/officeDocument/2006/relationships/image" Target="../media/image38.svg"/><Relationship Id="rId4" Type="http://schemas.openxmlformats.org/officeDocument/2006/relationships/image" Target="../media/image37.sv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1.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40.png"/><Relationship Id="rId7" Type="http://schemas.openxmlformats.org/officeDocument/2006/relationships/image" Target="../media/image44.png"/><Relationship Id="rId2" Type="http://schemas.microsoft.com/office/2018/10/relationships/comments" Target="../comments/modernComment_7FFFE882_B9807DFE.xml"/><Relationship Id="rId1" Type="http://schemas.openxmlformats.org/officeDocument/2006/relationships/slideLayout" Target="../slideLayouts/slideLayout14.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52.xml.rels><?xml version="1.0" encoding="UTF-8" standalone="yes"?>
<Relationships xmlns="http://schemas.openxmlformats.org/package/2006/relationships"><Relationship Id="rId3" Type="http://schemas.microsoft.com/office/2018/10/relationships/comments" Target="../comments/modernComment_7FFFE88A_ADF0B799.xml"/><Relationship Id="rId2" Type="http://schemas.openxmlformats.org/officeDocument/2006/relationships/slideLayout" Target="../slideLayouts/slideLayout14.xml"/><Relationship Id="rId1" Type="http://schemas.openxmlformats.org/officeDocument/2006/relationships/tags" Target="../tags/tag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4.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46.png"/><Relationship Id="rId7" Type="http://schemas.openxmlformats.org/officeDocument/2006/relationships/image" Target="../media/image50.png"/><Relationship Id="rId2" Type="http://schemas.openxmlformats.org/officeDocument/2006/relationships/notesSlide" Target="../notesSlides/notesSlide38.xml"/><Relationship Id="rId1" Type="http://schemas.openxmlformats.org/officeDocument/2006/relationships/slideLayout" Target="../slideLayouts/slideLayout14.xml"/><Relationship Id="rId6" Type="http://schemas.openxmlformats.org/officeDocument/2006/relationships/image" Target="../media/image49.png"/><Relationship Id="rId5" Type="http://schemas.openxmlformats.org/officeDocument/2006/relationships/image" Target="../media/image48.png"/><Relationship Id="rId10" Type="http://schemas.openxmlformats.org/officeDocument/2006/relationships/image" Target="../media/image53.png"/><Relationship Id="rId4" Type="http://schemas.openxmlformats.org/officeDocument/2006/relationships/image" Target="../media/image47.png"/><Relationship Id="rId9" Type="http://schemas.openxmlformats.org/officeDocument/2006/relationships/image" Target="../media/image52.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14.xml"/><Relationship Id="rId5" Type="http://schemas.openxmlformats.org/officeDocument/2006/relationships/image" Target="../media/image57.png"/><Relationship Id="rId4" Type="http://schemas.openxmlformats.org/officeDocument/2006/relationships/image" Target="../media/image56.png"/></Relationships>
</file>

<file path=ppt/slides/_rels/slide57.xml.rels><?xml version="1.0" encoding="UTF-8" standalone="yes"?>
<Relationships xmlns="http://schemas.openxmlformats.org/package/2006/relationships"><Relationship Id="rId3" Type="http://schemas.openxmlformats.org/officeDocument/2006/relationships/image" Target="../media/image54.png"/><Relationship Id="rId2" Type="http://schemas.microsoft.com/office/2018/10/relationships/comments" Target="../comments/modernComment_12D_3FD0203A.xml"/><Relationship Id="rId1" Type="http://schemas.openxmlformats.org/officeDocument/2006/relationships/slideLayout" Target="../slideLayouts/slideLayout14.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58.xml.rels><?xml version="1.0" encoding="UTF-8" standalone="yes"?>
<Relationships xmlns="http://schemas.openxmlformats.org/package/2006/relationships"><Relationship Id="rId2" Type="http://schemas.microsoft.com/office/2018/10/relationships/comments" Target="../comments/modernComment_7FFFE896_4F2AD77D.xml"/><Relationship Id="rId1" Type="http://schemas.openxmlformats.org/officeDocument/2006/relationships/slideLayout" Target="../slideLayouts/slideLayout14.xml"/></Relationships>
</file>

<file path=ppt/slides/_rels/slide59.xml.rels><?xml version="1.0" encoding="UTF-8" standalone="yes"?>
<Relationships xmlns="http://schemas.openxmlformats.org/package/2006/relationships"><Relationship Id="rId3" Type="http://schemas.microsoft.com/office/2018/10/relationships/comments" Target="../comments/modernComment_131_0.xml"/><Relationship Id="rId2" Type="http://schemas.openxmlformats.org/officeDocument/2006/relationships/notesSlide" Target="../notesSlides/notesSlide39.xml"/><Relationship Id="rId1" Type="http://schemas.openxmlformats.org/officeDocument/2006/relationships/slideLayout" Target="../slideLayouts/slideLayout14.xml"/></Relationships>
</file>

<file path=ppt/slides/_rels/slide60.xml.rels><?xml version="1.0" encoding="UTF-8" standalone="yes"?>
<Relationships xmlns="http://schemas.openxmlformats.org/package/2006/relationships"><Relationship Id="rId3" Type="http://schemas.openxmlformats.org/officeDocument/2006/relationships/image" Target="../media/image54.png"/><Relationship Id="rId7" Type="http://schemas.openxmlformats.org/officeDocument/2006/relationships/image" Target="../media/image58.png"/><Relationship Id="rId2" Type="http://schemas.openxmlformats.org/officeDocument/2006/relationships/notesSlide" Target="../notesSlides/notesSlide40.xml"/><Relationship Id="rId1" Type="http://schemas.openxmlformats.org/officeDocument/2006/relationships/slideLayout" Target="../slideLayouts/slideLayout14.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61.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46.png"/><Relationship Id="rId7" Type="http://schemas.openxmlformats.org/officeDocument/2006/relationships/image" Target="../media/image50.png"/><Relationship Id="rId2" Type="http://schemas.openxmlformats.org/officeDocument/2006/relationships/notesSlide" Target="../notesSlides/notesSlide41.xml"/><Relationship Id="rId1" Type="http://schemas.openxmlformats.org/officeDocument/2006/relationships/slideLayout" Target="../slideLayouts/slideLayout14.xml"/><Relationship Id="rId6" Type="http://schemas.openxmlformats.org/officeDocument/2006/relationships/image" Target="../media/image49.png"/><Relationship Id="rId5" Type="http://schemas.openxmlformats.org/officeDocument/2006/relationships/image" Target="../media/image48.png"/><Relationship Id="rId10" Type="http://schemas.openxmlformats.org/officeDocument/2006/relationships/image" Target="../media/image53.png"/><Relationship Id="rId4" Type="http://schemas.openxmlformats.org/officeDocument/2006/relationships/image" Target="../media/image47.png"/><Relationship Id="rId9" Type="http://schemas.openxmlformats.org/officeDocument/2006/relationships/image" Target="../media/image52.png"/></Relationships>
</file>

<file path=ppt/slides/_rels/slide62.xml.rels><?xml version="1.0" encoding="UTF-8" standalone="yes"?>
<Relationships xmlns="http://schemas.openxmlformats.org/package/2006/relationships"><Relationship Id="rId3" Type="http://schemas.microsoft.com/office/2018/10/relationships/comments" Target="../comments/modernComment_7FFFE89E_33C09155.xml"/><Relationship Id="rId7" Type="http://schemas.openxmlformats.org/officeDocument/2006/relationships/image" Target="../media/image62.png"/><Relationship Id="rId2" Type="http://schemas.openxmlformats.org/officeDocument/2006/relationships/notesSlide" Target="../notesSlides/notesSlide42.xml"/><Relationship Id="rId1" Type="http://schemas.openxmlformats.org/officeDocument/2006/relationships/slideLayout" Target="../slideLayouts/slideLayout14.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Marcador de posición de imagen 16">
            <a:extLst>
              <a:ext uri="{FF2B5EF4-FFF2-40B4-BE49-F238E27FC236}">
                <a16:creationId xmlns:a16="http://schemas.microsoft.com/office/drawing/2014/main" id="{FA1F303E-4C1C-A033-7BE6-1109196C577A}"/>
              </a:ext>
            </a:extLst>
          </p:cNvPr>
          <p:cNvPicPr>
            <a:picLocks noGrp="1" noChangeAspect="1"/>
          </p:cNvPicPr>
          <p:nvPr>
            <p:ph type="pic" sz="quarter" idx="13"/>
          </p:nvPr>
        </p:nvPicPr>
        <p:blipFill rotWithShape="1">
          <a:blip r:embed="rId3" cstate="email">
            <a:extLst>
              <a:ext uri="{28A0092B-C50C-407E-A947-70E740481C1C}">
                <a14:useLocalDpi xmlns:a14="http://schemas.microsoft.com/office/drawing/2010/main"/>
              </a:ext>
            </a:extLst>
          </a:blip>
          <a:srcRect/>
          <a:stretch/>
        </p:blipFill>
        <p:spPr>
          <a:prstGeom prst="roundRect">
            <a:avLst>
              <a:gd name="adj" fmla="val 0"/>
            </a:avLst>
          </a:prstGeom>
        </p:spPr>
      </p:pic>
      <p:sp>
        <p:nvSpPr>
          <p:cNvPr id="5" name="Rectangle 4">
            <a:extLst>
              <a:ext uri="{FF2B5EF4-FFF2-40B4-BE49-F238E27FC236}">
                <a16:creationId xmlns:a16="http://schemas.microsoft.com/office/drawing/2014/main" id="{C265C6E6-7198-7297-0B9C-462641DD8069}"/>
              </a:ext>
            </a:extLst>
          </p:cNvPr>
          <p:cNvSpPr/>
          <p:nvPr/>
        </p:nvSpPr>
        <p:spPr>
          <a:xfrm>
            <a:off x="-87086" y="-60960"/>
            <a:ext cx="12374880" cy="7019109"/>
          </a:xfrm>
          <a:prstGeom prst="rect">
            <a:avLst/>
          </a:prstGeom>
          <a:solidFill>
            <a:schemeClr val="accent1">
              <a:alpha val="3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grpSp>
        <p:nvGrpSpPr>
          <p:cNvPr id="23" name="Grupo 22">
            <a:extLst>
              <a:ext uri="{FF2B5EF4-FFF2-40B4-BE49-F238E27FC236}">
                <a16:creationId xmlns:a16="http://schemas.microsoft.com/office/drawing/2014/main" id="{EAE32353-6B46-AFB6-DC96-5DC33026E6B2}"/>
              </a:ext>
            </a:extLst>
          </p:cNvPr>
          <p:cNvGrpSpPr/>
          <p:nvPr/>
        </p:nvGrpSpPr>
        <p:grpSpPr>
          <a:xfrm>
            <a:off x="11064802" y="243963"/>
            <a:ext cx="473773" cy="432461"/>
            <a:chOff x="5465909" y="2845257"/>
            <a:chExt cx="729516" cy="665904"/>
          </a:xfrm>
          <a:solidFill>
            <a:srgbClr val="FFFFFF"/>
          </a:solidFill>
        </p:grpSpPr>
        <p:sp>
          <p:nvSpPr>
            <p:cNvPr id="24" name="Forma libre: forma 23">
              <a:extLst>
                <a:ext uri="{FF2B5EF4-FFF2-40B4-BE49-F238E27FC236}">
                  <a16:creationId xmlns:a16="http://schemas.microsoft.com/office/drawing/2014/main" id="{4BF41849-BFB5-E12B-9141-7A64463E1BB9}"/>
                </a:ext>
              </a:extLst>
            </p:cNvPr>
            <p:cNvSpPr/>
            <p:nvPr/>
          </p:nvSpPr>
          <p:spPr>
            <a:xfrm>
              <a:off x="5858424" y="2845257"/>
              <a:ext cx="337001" cy="538961"/>
            </a:xfrm>
            <a:custGeom>
              <a:avLst/>
              <a:gdLst>
                <a:gd name="connsiteX0" fmla="*/ 0 w 337001"/>
                <a:gd name="connsiteY0" fmla="*/ 384242 h 538961"/>
                <a:gd name="connsiteX1" fmla="*/ 44721 w 337001"/>
                <a:gd name="connsiteY1" fmla="*/ 492929 h 538961"/>
                <a:gd name="connsiteX2" fmla="*/ 223229 w 337001"/>
                <a:gd name="connsiteY2" fmla="*/ 522100 h 538961"/>
                <a:gd name="connsiteX3" fmla="*/ 276851 w 337001"/>
                <a:gd name="connsiteY3" fmla="*/ 0 h 538961"/>
                <a:gd name="connsiteX4" fmla="*/ 0 w 337001"/>
                <a:gd name="connsiteY4" fmla="*/ 384242 h 5389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001" h="538961">
                  <a:moveTo>
                    <a:pt x="0" y="384242"/>
                  </a:moveTo>
                  <a:cubicBezTo>
                    <a:pt x="-61" y="424938"/>
                    <a:pt x="16015" y="464008"/>
                    <a:pt x="44721" y="492929"/>
                  </a:cubicBezTo>
                  <a:cubicBezTo>
                    <a:pt x="100080" y="548152"/>
                    <a:pt x="175301" y="548072"/>
                    <a:pt x="223229" y="522100"/>
                  </a:cubicBezTo>
                  <a:cubicBezTo>
                    <a:pt x="282037" y="490315"/>
                    <a:pt x="413873" y="395095"/>
                    <a:pt x="276851" y="0"/>
                  </a:cubicBezTo>
                  <a:cubicBezTo>
                    <a:pt x="276958" y="186495"/>
                    <a:pt x="0" y="205454"/>
                    <a:pt x="0" y="384242"/>
                  </a:cubicBezTo>
                  <a:close/>
                </a:path>
              </a:pathLst>
            </a:custGeom>
            <a:grpFill/>
            <a:ln w="2663" cap="flat">
              <a:noFill/>
              <a:prstDash val="solid"/>
              <a:miter/>
            </a:ln>
          </p:spPr>
          <p:txBody>
            <a:bodyPr rtlCol="0" anchor="ctr"/>
            <a:lstStyle/>
            <a:p>
              <a:endParaRPr lang="en-US" noProof="0"/>
            </a:p>
          </p:txBody>
        </p:sp>
        <p:sp>
          <p:nvSpPr>
            <p:cNvPr id="25" name="Forma libre: forma 24">
              <a:extLst>
                <a:ext uri="{FF2B5EF4-FFF2-40B4-BE49-F238E27FC236}">
                  <a16:creationId xmlns:a16="http://schemas.microsoft.com/office/drawing/2014/main" id="{10B67799-C400-AF1C-85DE-CC7C4C49B74E}"/>
                </a:ext>
              </a:extLst>
            </p:cNvPr>
            <p:cNvSpPr/>
            <p:nvPr/>
          </p:nvSpPr>
          <p:spPr>
            <a:xfrm>
              <a:off x="5662193" y="2845257"/>
              <a:ext cx="322293" cy="538938"/>
            </a:xfrm>
            <a:custGeom>
              <a:avLst/>
              <a:gdLst>
                <a:gd name="connsiteX0" fmla="*/ 322293 w 322293"/>
                <a:gd name="connsiteY0" fmla="*/ 163270 h 538938"/>
                <a:gd name="connsiteX1" fmla="*/ 276851 w 322293"/>
                <a:gd name="connsiteY1" fmla="*/ 0 h 538938"/>
                <a:gd name="connsiteX2" fmla="*/ 0 w 322293"/>
                <a:gd name="connsiteY2" fmla="*/ 384242 h 538938"/>
                <a:gd name="connsiteX3" fmla="*/ 44721 w 322293"/>
                <a:gd name="connsiteY3" fmla="*/ 492929 h 538938"/>
                <a:gd name="connsiteX4" fmla="*/ 223229 w 322293"/>
                <a:gd name="connsiteY4" fmla="*/ 522100 h 538938"/>
                <a:gd name="connsiteX5" fmla="*/ 322293 w 322293"/>
                <a:gd name="connsiteY5" fmla="*/ 163270 h 538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2293" h="538938">
                  <a:moveTo>
                    <a:pt x="322293" y="163270"/>
                  </a:moveTo>
                  <a:cubicBezTo>
                    <a:pt x="313205" y="114393"/>
                    <a:pt x="298637" y="64343"/>
                    <a:pt x="276851" y="0"/>
                  </a:cubicBezTo>
                  <a:cubicBezTo>
                    <a:pt x="276851" y="186495"/>
                    <a:pt x="0" y="205454"/>
                    <a:pt x="0" y="384242"/>
                  </a:cubicBezTo>
                  <a:cubicBezTo>
                    <a:pt x="-61" y="424938"/>
                    <a:pt x="16015" y="464008"/>
                    <a:pt x="44721" y="492929"/>
                  </a:cubicBezTo>
                  <a:cubicBezTo>
                    <a:pt x="100107" y="548152"/>
                    <a:pt x="175889" y="548018"/>
                    <a:pt x="223229" y="522100"/>
                  </a:cubicBezTo>
                  <a:cubicBezTo>
                    <a:pt x="112911" y="405014"/>
                    <a:pt x="151831" y="269476"/>
                    <a:pt x="322293" y="163270"/>
                  </a:cubicBezTo>
                  <a:close/>
                </a:path>
              </a:pathLst>
            </a:custGeom>
            <a:grpFill/>
            <a:ln w="2663" cap="flat">
              <a:noFill/>
              <a:prstDash val="solid"/>
              <a:miter/>
            </a:ln>
          </p:spPr>
          <p:txBody>
            <a:bodyPr rtlCol="0" anchor="ctr"/>
            <a:lstStyle/>
            <a:p>
              <a:endParaRPr lang="en-US" noProof="0"/>
            </a:p>
          </p:txBody>
        </p:sp>
        <p:sp>
          <p:nvSpPr>
            <p:cNvPr id="26" name="Forma libre: forma 25">
              <a:extLst>
                <a:ext uri="{FF2B5EF4-FFF2-40B4-BE49-F238E27FC236}">
                  <a16:creationId xmlns:a16="http://schemas.microsoft.com/office/drawing/2014/main" id="{82B1BB46-5612-0FD7-D3A9-FEB3FF2F9CF6}"/>
                </a:ext>
              </a:extLst>
            </p:cNvPr>
            <p:cNvSpPr/>
            <p:nvPr/>
          </p:nvSpPr>
          <p:spPr>
            <a:xfrm>
              <a:off x="5465909" y="2845257"/>
              <a:ext cx="322319" cy="665904"/>
            </a:xfrm>
            <a:custGeom>
              <a:avLst/>
              <a:gdLst>
                <a:gd name="connsiteX0" fmla="*/ 322320 w 322319"/>
                <a:gd name="connsiteY0" fmla="*/ 163270 h 665904"/>
                <a:gd name="connsiteX1" fmla="*/ 276878 w 322319"/>
                <a:gd name="connsiteY1" fmla="*/ 0 h 665904"/>
                <a:gd name="connsiteX2" fmla="*/ 0 w 322319"/>
                <a:gd name="connsiteY2" fmla="*/ 384242 h 665904"/>
                <a:gd name="connsiteX3" fmla="*/ 74472 w 322319"/>
                <a:gd name="connsiteY3" fmla="*/ 516314 h 665904"/>
                <a:gd name="connsiteX4" fmla="*/ 67415 w 322319"/>
                <a:gd name="connsiteY4" fmla="*/ 665904 h 665904"/>
                <a:gd name="connsiteX5" fmla="*/ 102914 w 322319"/>
                <a:gd name="connsiteY5" fmla="*/ 660038 h 665904"/>
                <a:gd name="connsiteX6" fmla="*/ 97327 w 322319"/>
                <a:gd name="connsiteY6" fmla="*/ 527726 h 665904"/>
                <a:gd name="connsiteX7" fmla="*/ 223256 w 322319"/>
                <a:gd name="connsiteY7" fmla="*/ 522100 h 665904"/>
                <a:gd name="connsiteX8" fmla="*/ 322320 w 322319"/>
                <a:gd name="connsiteY8" fmla="*/ 163270 h 665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2319" h="665904">
                  <a:moveTo>
                    <a:pt x="322320" y="163270"/>
                  </a:moveTo>
                  <a:cubicBezTo>
                    <a:pt x="313205" y="114393"/>
                    <a:pt x="298636" y="64343"/>
                    <a:pt x="276878" y="0"/>
                  </a:cubicBezTo>
                  <a:cubicBezTo>
                    <a:pt x="276878" y="186495"/>
                    <a:pt x="0" y="205454"/>
                    <a:pt x="0" y="384242"/>
                  </a:cubicBezTo>
                  <a:cubicBezTo>
                    <a:pt x="0" y="475943"/>
                    <a:pt x="74472" y="516314"/>
                    <a:pt x="74472" y="516314"/>
                  </a:cubicBezTo>
                  <a:cubicBezTo>
                    <a:pt x="62935" y="565321"/>
                    <a:pt x="60543" y="616030"/>
                    <a:pt x="67415" y="665904"/>
                  </a:cubicBezTo>
                  <a:lnTo>
                    <a:pt x="102914" y="660038"/>
                  </a:lnTo>
                  <a:cubicBezTo>
                    <a:pt x="85565" y="599775"/>
                    <a:pt x="96204" y="534153"/>
                    <a:pt x="97327" y="527726"/>
                  </a:cubicBezTo>
                  <a:cubicBezTo>
                    <a:pt x="142769" y="545885"/>
                    <a:pt x="189628" y="540499"/>
                    <a:pt x="223256" y="522100"/>
                  </a:cubicBezTo>
                  <a:cubicBezTo>
                    <a:pt x="112938" y="405014"/>
                    <a:pt x="151858" y="269476"/>
                    <a:pt x="322320" y="163270"/>
                  </a:cubicBezTo>
                  <a:close/>
                </a:path>
              </a:pathLst>
            </a:custGeom>
            <a:grpFill/>
            <a:ln w="2663" cap="flat">
              <a:noFill/>
              <a:prstDash val="solid"/>
              <a:miter/>
            </a:ln>
          </p:spPr>
          <p:txBody>
            <a:bodyPr rtlCol="0" anchor="ctr"/>
            <a:lstStyle/>
            <a:p>
              <a:endParaRPr lang="en-US" noProof="0"/>
            </a:p>
          </p:txBody>
        </p:sp>
      </p:grpSp>
      <p:sp>
        <p:nvSpPr>
          <p:cNvPr id="4" name="Text 0">
            <a:extLst>
              <a:ext uri="{FF2B5EF4-FFF2-40B4-BE49-F238E27FC236}">
                <a16:creationId xmlns:a16="http://schemas.microsoft.com/office/drawing/2014/main" id="{824C128F-D5DF-F4AC-196E-C39349503646}"/>
              </a:ext>
            </a:extLst>
          </p:cNvPr>
          <p:cNvSpPr/>
          <p:nvPr/>
        </p:nvSpPr>
        <p:spPr>
          <a:xfrm>
            <a:off x="485209" y="547688"/>
            <a:ext cx="8174348" cy="1985962"/>
          </a:xfrm>
          <a:prstGeom prst="rect">
            <a:avLst/>
          </a:prstGeom>
          <a:noFill/>
          <a:ln/>
        </p:spPr>
        <p:txBody>
          <a:bodyPr wrap="square" lIns="0" tIns="0" rIns="0" bIns="0" rtlCol="0" anchor="t">
            <a:noAutofit/>
          </a:bodyPr>
          <a:lstStyle/>
          <a:p>
            <a:pPr>
              <a:spcBef>
                <a:spcPts val="0"/>
              </a:spcBef>
              <a:spcAft>
                <a:spcPts val="0"/>
              </a:spcAft>
              <a:defRPr/>
            </a:pPr>
            <a:endParaRPr lang="en-US" sz="3600" noProof="0">
              <a:solidFill>
                <a:schemeClr val="bg1"/>
              </a:solidFill>
              <a:latin typeface="+mj-lt"/>
              <a:ea typeface="Noto Serif" panose="02020502060505020204" pitchFamily="18" charset="0"/>
              <a:cs typeface="Noto Serif" panose="02020502060505020204" pitchFamily="18" charset="0"/>
              <a:sym typeface="Gordita Bold"/>
            </a:endParaRPr>
          </a:p>
          <a:p>
            <a:pPr>
              <a:spcBef>
                <a:spcPts val="0"/>
              </a:spcBef>
              <a:spcAft>
                <a:spcPts val="0"/>
              </a:spcAft>
              <a:defRPr/>
            </a:pPr>
            <a:r>
              <a:rPr lang="en-US" sz="5400" b="1" noProof="0">
                <a:solidFill>
                  <a:schemeClr val="bg1"/>
                </a:solidFill>
                <a:latin typeface="+mj-lt"/>
                <a:sym typeface="Gordita Bold"/>
              </a:rPr>
              <a:t>Digital Products Project</a:t>
            </a:r>
            <a:endParaRPr lang="en-US" noProof="0">
              <a:solidFill>
                <a:schemeClr val="bg1"/>
              </a:solidFill>
            </a:endParaRPr>
          </a:p>
        </p:txBody>
      </p:sp>
      <p:pic>
        <p:nvPicPr>
          <p:cNvPr id="12" name="Imagen 11" descr="Imagen en blanco y negro&#10;&#10;Descripción generada automáticamente con confianza media">
            <a:extLst>
              <a:ext uri="{FF2B5EF4-FFF2-40B4-BE49-F238E27FC236}">
                <a16:creationId xmlns:a16="http://schemas.microsoft.com/office/drawing/2014/main" id="{0D2514F8-5897-F1A6-9445-6B2DA287A147}"/>
              </a:ext>
            </a:extLst>
          </p:cNvPr>
          <p:cNvPicPr>
            <a:picLocks noChangeAspect="1"/>
          </p:cNvPicPr>
          <p:nvPr/>
        </p:nvPicPr>
        <p:blipFill>
          <a:blip r:embed="rId4" cstate="screen">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a:ext>
            </a:extLst>
          </a:blip>
          <a:stretch>
            <a:fillRect/>
          </a:stretch>
        </p:blipFill>
        <p:spPr>
          <a:xfrm>
            <a:off x="9619071" y="3854823"/>
            <a:ext cx="2348753" cy="2348753"/>
          </a:xfrm>
          <a:prstGeom prst="rect">
            <a:avLst/>
          </a:prstGeom>
        </p:spPr>
      </p:pic>
      <p:sp>
        <p:nvSpPr>
          <p:cNvPr id="13" name="NTT DATA Global Logo">
            <a:extLst>
              <a:ext uri="{FF2B5EF4-FFF2-40B4-BE49-F238E27FC236}">
                <a16:creationId xmlns:a16="http://schemas.microsoft.com/office/drawing/2014/main" id="{19948726-1D29-3444-115C-F08A00460FF8}"/>
              </a:ext>
            </a:extLst>
          </p:cNvPr>
          <p:cNvSpPr/>
          <p:nvPr/>
        </p:nvSpPr>
        <p:spPr bwMode="black">
          <a:xfrm>
            <a:off x="485209" y="6355025"/>
            <a:ext cx="1415813" cy="288491"/>
          </a:xfrm>
          <a:custGeom>
            <a:avLst/>
            <a:gdLst>
              <a:gd name="connsiteX0" fmla="*/ 9329240 w 10020924"/>
              <a:gd name="connsiteY0" fmla="*/ 1080290 h 2041903"/>
              <a:gd name="connsiteX1" fmla="*/ 9251983 w 10020924"/>
              <a:gd name="connsiteY1" fmla="*/ 1187029 h 2041903"/>
              <a:gd name="connsiteX2" fmla="*/ 9329240 w 10020924"/>
              <a:gd name="connsiteY2" fmla="*/ 1296468 h 2041903"/>
              <a:gd name="connsiteX3" fmla="*/ 9782722 w 10020924"/>
              <a:gd name="connsiteY3" fmla="*/ 1296468 h 2041903"/>
              <a:gd name="connsiteX4" fmla="*/ 9782722 w 10020924"/>
              <a:gd name="connsiteY4" fmla="*/ 1080290 h 2041903"/>
              <a:gd name="connsiteX5" fmla="*/ 7331825 w 10020924"/>
              <a:gd name="connsiteY5" fmla="*/ 1080290 h 2041903"/>
              <a:gd name="connsiteX6" fmla="*/ 7254583 w 10020924"/>
              <a:gd name="connsiteY6" fmla="*/ 1187029 h 2041903"/>
              <a:gd name="connsiteX7" fmla="*/ 7331825 w 10020924"/>
              <a:gd name="connsiteY7" fmla="*/ 1296468 h 2041903"/>
              <a:gd name="connsiteX8" fmla="*/ 7785307 w 10020924"/>
              <a:gd name="connsiteY8" fmla="*/ 1296468 h 2041903"/>
              <a:gd name="connsiteX9" fmla="*/ 7785307 w 10020924"/>
              <a:gd name="connsiteY9" fmla="*/ 1080290 h 2041903"/>
              <a:gd name="connsiteX10" fmla="*/ 6171264 w 10020924"/>
              <a:gd name="connsiteY10" fmla="*/ 689323 h 2041903"/>
              <a:gd name="connsiteX11" fmla="*/ 6171264 w 10020924"/>
              <a:gd name="connsiteY11" fmla="*/ 1297318 h 2041903"/>
              <a:gd name="connsiteX12" fmla="*/ 6558679 w 10020924"/>
              <a:gd name="connsiteY12" fmla="*/ 1297318 h 2041903"/>
              <a:gd name="connsiteX13" fmla="*/ 6679368 w 10020924"/>
              <a:gd name="connsiteY13" fmla="*/ 1156413 h 2041903"/>
              <a:gd name="connsiteX14" fmla="*/ 6679368 w 10020924"/>
              <a:gd name="connsiteY14" fmla="*/ 830244 h 2041903"/>
              <a:gd name="connsiteX15" fmla="*/ 6558679 w 10020924"/>
              <a:gd name="connsiteY15" fmla="*/ 689323 h 2041903"/>
              <a:gd name="connsiteX16" fmla="*/ 9072763 w 10020924"/>
              <a:gd name="connsiteY16" fmla="*/ 463851 h 2041903"/>
              <a:gd name="connsiteX17" fmla="*/ 9678449 w 10020924"/>
              <a:gd name="connsiteY17" fmla="*/ 463851 h 2041903"/>
              <a:gd name="connsiteX18" fmla="*/ 10020924 w 10020924"/>
              <a:gd name="connsiteY18" fmla="*/ 826574 h 2041903"/>
              <a:gd name="connsiteX19" fmla="*/ 10020924 w 10020924"/>
              <a:gd name="connsiteY19" fmla="*/ 1522671 h 2041903"/>
              <a:gd name="connsiteX20" fmla="*/ 9304207 w 10020924"/>
              <a:gd name="connsiteY20" fmla="*/ 1522671 h 2041903"/>
              <a:gd name="connsiteX21" fmla="*/ 9015771 w 10020924"/>
              <a:gd name="connsiteY21" fmla="*/ 1219793 h 2041903"/>
              <a:gd name="connsiteX22" fmla="*/ 9015771 w 10020924"/>
              <a:gd name="connsiteY22" fmla="*/ 1169781 h 2041903"/>
              <a:gd name="connsiteX23" fmla="*/ 9294061 w 10020924"/>
              <a:gd name="connsiteY23" fmla="*/ 866738 h 2041903"/>
              <a:gd name="connsiteX24" fmla="*/ 9782829 w 10020924"/>
              <a:gd name="connsiteY24" fmla="*/ 866738 h 2041903"/>
              <a:gd name="connsiteX25" fmla="*/ 9782707 w 10020924"/>
              <a:gd name="connsiteY25" fmla="*/ 829349 h 2041903"/>
              <a:gd name="connsiteX26" fmla="*/ 9662481 w 10020924"/>
              <a:gd name="connsiteY26" fmla="*/ 688428 h 2041903"/>
              <a:gd name="connsiteX27" fmla="*/ 9072763 w 10020924"/>
              <a:gd name="connsiteY27" fmla="*/ 688428 h 2041903"/>
              <a:gd name="connsiteX28" fmla="*/ 8071817 w 10020924"/>
              <a:gd name="connsiteY28" fmla="*/ 463851 h 2041903"/>
              <a:gd name="connsiteX29" fmla="*/ 8991911 w 10020924"/>
              <a:gd name="connsiteY29" fmla="*/ 463851 h 2041903"/>
              <a:gd name="connsiteX30" fmla="*/ 8991911 w 10020924"/>
              <a:gd name="connsiteY30" fmla="*/ 686668 h 2041903"/>
              <a:gd name="connsiteX31" fmla="*/ 8652240 w 10020924"/>
              <a:gd name="connsiteY31" fmla="*/ 686668 h 2041903"/>
              <a:gd name="connsiteX32" fmla="*/ 8652240 w 10020924"/>
              <a:gd name="connsiteY32" fmla="*/ 1522955 h 2041903"/>
              <a:gd name="connsiteX33" fmla="*/ 8411534 w 10020924"/>
              <a:gd name="connsiteY33" fmla="*/ 1522955 h 2041903"/>
              <a:gd name="connsiteX34" fmla="*/ 8411534 w 10020924"/>
              <a:gd name="connsiteY34" fmla="*/ 686668 h 2041903"/>
              <a:gd name="connsiteX35" fmla="*/ 8071817 w 10020924"/>
              <a:gd name="connsiteY35" fmla="*/ 686668 h 2041903"/>
              <a:gd name="connsiteX36" fmla="*/ 7075333 w 10020924"/>
              <a:gd name="connsiteY36" fmla="*/ 463851 h 2041903"/>
              <a:gd name="connsiteX37" fmla="*/ 7681075 w 10020924"/>
              <a:gd name="connsiteY37" fmla="*/ 463851 h 2041903"/>
              <a:gd name="connsiteX38" fmla="*/ 8023417 w 10020924"/>
              <a:gd name="connsiteY38" fmla="*/ 826574 h 2041903"/>
              <a:gd name="connsiteX39" fmla="*/ 8023417 w 10020924"/>
              <a:gd name="connsiteY39" fmla="*/ 1522671 h 2041903"/>
              <a:gd name="connsiteX40" fmla="*/ 7306759 w 10020924"/>
              <a:gd name="connsiteY40" fmla="*/ 1522671 h 2041903"/>
              <a:gd name="connsiteX41" fmla="*/ 7018293 w 10020924"/>
              <a:gd name="connsiteY41" fmla="*/ 1219793 h 2041903"/>
              <a:gd name="connsiteX42" fmla="*/ 7018293 w 10020924"/>
              <a:gd name="connsiteY42" fmla="*/ 1169781 h 2041903"/>
              <a:gd name="connsiteX43" fmla="*/ 7296628 w 10020924"/>
              <a:gd name="connsiteY43" fmla="*/ 866738 h 2041903"/>
              <a:gd name="connsiteX44" fmla="*/ 7785307 w 10020924"/>
              <a:gd name="connsiteY44" fmla="*/ 866738 h 2041903"/>
              <a:gd name="connsiteX45" fmla="*/ 7785307 w 10020924"/>
              <a:gd name="connsiteY45" fmla="*/ 829349 h 2041903"/>
              <a:gd name="connsiteX46" fmla="*/ 7665080 w 10020924"/>
              <a:gd name="connsiteY46" fmla="*/ 688428 h 2041903"/>
              <a:gd name="connsiteX47" fmla="*/ 7075333 w 10020924"/>
              <a:gd name="connsiteY47" fmla="*/ 688428 h 2041903"/>
              <a:gd name="connsiteX48" fmla="*/ 5930572 w 10020924"/>
              <a:gd name="connsiteY48" fmla="*/ 463851 h 2041903"/>
              <a:gd name="connsiteX49" fmla="*/ 6574718 w 10020924"/>
              <a:gd name="connsiteY49" fmla="*/ 463851 h 2041903"/>
              <a:gd name="connsiteX50" fmla="*/ 6925013 w 10020924"/>
              <a:gd name="connsiteY50" fmla="*/ 834884 h 2041903"/>
              <a:gd name="connsiteX51" fmla="*/ 6925013 w 10020924"/>
              <a:gd name="connsiteY51" fmla="*/ 1151743 h 2041903"/>
              <a:gd name="connsiteX52" fmla="*/ 6585968 w 10020924"/>
              <a:gd name="connsiteY52" fmla="*/ 1522671 h 2041903"/>
              <a:gd name="connsiteX53" fmla="*/ 5930572 w 10020924"/>
              <a:gd name="connsiteY53" fmla="*/ 1522671 h 2041903"/>
              <a:gd name="connsiteX54" fmla="*/ 4717895 w 10020924"/>
              <a:gd name="connsiteY54" fmla="*/ 463851 h 2041903"/>
              <a:gd name="connsiteX55" fmla="*/ 5638093 w 10020924"/>
              <a:gd name="connsiteY55" fmla="*/ 463851 h 2041903"/>
              <a:gd name="connsiteX56" fmla="*/ 5638093 w 10020924"/>
              <a:gd name="connsiteY56" fmla="*/ 686668 h 2041903"/>
              <a:gd name="connsiteX57" fmla="*/ 5298318 w 10020924"/>
              <a:gd name="connsiteY57" fmla="*/ 686668 h 2041903"/>
              <a:gd name="connsiteX58" fmla="*/ 5298318 w 10020924"/>
              <a:gd name="connsiteY58" fmla="*/ 1522955 h 2041903"/>
              <a:gd name="connsiteX59" fmla="*/ 5057626 w 10020924"/>
              <a:gd name="connsiteY59" fmla="*/ 1522955 h 2041903"/>
              <a:gd name="connsiteX60" fmla="*/ 5057626 w 10020924"/>
              <a:gd name="connsiteY60" fmla="*/ 686668 h 2041903"/>
              <a:gd name="connsiteX61" fmla="*/ 4717895 w 10020924"/>
              <a:gd name="connsiteY61" fmla="*/ 686668 h 2041903"/>
              <a:gd name="connsiteX62" fmla="*/ 3721291 w 10020924"/>
              <a:gd name="connsiteY62" fmla="*/ 463851 h 2041903"/>
              <a:gd name="connsiteX63" fmla="*/ 4641430 w 10020924"/>
              <a:gd name="connsiteY63" fmla="*/ 463851 h 2041903"/>
              <a:gd name="connsiteX64" fmla="*/ 4641430 w 10020924"/>
              <a:gd name="connsiteY64" fmla="*/ 686668 h 2041903"/>
              <a:gd name="connsiteX65" fmla="*/ 4301654 w 10020924"/>
              <a:gd name="connsiteY65" fmla="*/ 686668 h 2041903"/>
              <a:gd name="connsiteX66" fmla="*/ 4301654 w 10020924"/>
              <a:gd name="connsiteY66" fmla="*/ 1522955 h 2041903"/>
              <a:gd name="connsiteX67" fmla="*/ 4061067 w 10020924"/>
              <a:gd name="connsiteY67" fmla="*/ 1522955 h 2041903"/>
              <a:gd name="connsiteX68" fmla="*/ 4061067 w 10020924"/>
              <a:gd name="connsiteY68" fmla="*/ 686668 h 2041903"/>
              <a:gd name="connsiteX69" fmla="*/ 3721291 w 10020924"/>
              <a:gd name="connsiteY69" fmla="*/ 686668 h 2041903"/>
              <a:gd name="connsiteX70" fmla="*/ 2809822 w 10020924"/>
              <a:gd name="connsiteY70" fmla="*/ 452019 h 2041903"/>
              <a:gd name="connsiteX71" fmla="*/ 3016077 w 10020924"/>
              <a:gd name="connsiteY71" fmla="*/ 572753 h 2041903"/>
              <a:gd name="connsiteX72" fmla="*/ 3381948 w 10020924"/>
              <a:gd name="connsiteY72" fmla="*/ 1270566 h 2041903"/>
              <a:gd name="connsiteX73" fmla="*/ 3400240 w 10020924"/>
              <a:gd name="connsiteY73" fmla="*/ 1281756 h 2041903"/>
              <a:gd name="connsiteX74" fmla="*/ 3406134 w 10020924"/>
              <a:gd name="connsiteY74" fmla="*/ 1255736 h 2041903"/>
              <a:gd name="connsiteX75" fmla="*/ 3402657 w 10020924"/>
              <a:gd name="connsiteY75" fmla="*/ 1123946 h 2041903"/>
              <a:gd name="connsiteX76" fmla="*/ 3402657 w 10020924"/>
              <a:gd name="connsiteY76" fmla="*/ 463522 h 2041903"/>
              <a:gd name="connsiteX77" fmla="*/ 3639813 w 10020924"/>
              <a:gd name="connsiteY77" fmla="*/ 463522 h 2041903"/>
              <a:gd name="connsiteX78" fmla="*/ 3639813 w 10020924"/>
              <a:gd name="connsiteY78" fmla="*/ 1255333 h 2041903"/>
              <a:gd name="connsiteX79" fmla="*/ 3425426 w 10020924"/>
              <a:gd name="connsiteY79" fmla="*/ 1534727 h 2041903"/>
              <a:gd name="connsiteX80" fmla="*/ 3219125 w 10020924"/>
              <a:gd name="connsiteY80" fmla="*/ 1413949 h 2041903"/>
              <a:gd name="connsiteX81" fmla="*/ 2853165 w 10020924"/>
              <a:gd name="connsiteY81" fmla="*/ 716135 h 2041903"/>
              <a:gd name="connsiteX82" fmla="*/ 2834887 w 10020924"/>
              <a:gd name="connsiteY82" fmla="*/ 704930 h 2041903"/>
              <a:gd name="connsiteX83" fmla="*/ 2829009 w 10020924"/>
              <a:gd name="connsiteY83" fmla="*/ 730980 h 2041903"/>
              <a:gd name="connsiteX84" fmla="*/ 2832590 w 10020924"/>
              <a:gd name="connsiteY84" fmla="*/ 862725 h 2041903"/>
              <a:gd name="connsiteX85" fmla="*/ 2832590 w 10020924"/>
              <a:gd name="connsiteY85" fmla="*/ 1523194 h 2041903"/>
              <a:gd name="connsiteX86" fmla="*/ 2595360 w 10020924"/>
              <a:gd name="connsiteY86" fmla="*/ 1523194 h 2041903"/>
              <a:gd name="connsiteX87" fmla="*/ 2595360 w 10020924"/>
              <a:gd name="connsiteY87" fmla="*/ 731368 h 2041903"/>
              <a:gd name="connsiteX88" fmla="*/ 2809822 w 10020924"/>
              <a:gd name="connsiteY88" fmla="*/ 452019 h 2041903"/>
              <a:gd name="connsiteX89" fmla="*/ 1079247 w 10020924"/>
              <a:gd name="connsiteY89" fmla="*/ 330967 h 2041903"/>
              <a:gd name="connsiteX90" fmla="*/ 952084 w 10020924"/>
              <a:gd name="connsiteY90" fmla="*/ 465588 h 2041903"/>
              <a:gd name="connsiteX91" fmla="*/ 887125 w 10020924"/>
              <a:gd name="connsiteY91" fmla="*/ 684091 h 2041903"/>
              <a:gd name="connsiteX92" fmla="*/ 940315 w 10020924"/>
              <a:gd name="connsiteY92" fmla="*/ 833769 h 2041903"/>
              <a:gd name="connsiteX93" fmla="*/ 1079206 w 10020924"/>
              <a:gd name="connsiteY93" fmla="*/ 894946 h 2041903"/>
              <a:gd name="connsiteX94" fmla="*/ 1218097 w 10020924"/>
              <a:gd name="connsiteY94" fmla="*/ 833769 h 2041903"/>
              <a:gd name="connsiteX95" fmla="*/ 1271286 w 10020924"/>
              <a:gd name="connsiteY95" fmla="*/ 684091 h 2041903"/>
              <a:gd name="connsiteX96" fmla="*/ 1206328 w 10020924"/>
              <a:gd name="connsiteY96" fmla="*/ 465588 h 2041903"/>
              <a:gd name="connsiteX97" fmla="*/ 1079247 w 10020924"/>
              <a:gd name="connsiteY97" fmla="*/ 330967 h 2041903"/>
              <a:gd name="connsiteX98" fmla="*/ 805966 w 10020924"/>
              <a:gd name="connsiteY98" fmla="*/ 263259 h 2041903"/>
              <a:gd name="connsiteX99" fmla="*/ 446364 w 10020924"/>
              <a:gd name="connsiteY99" fmla="*/ 449558 h 2041903"/>
              <a:gd name="connsiteX100" fmla="*/ 316290 w 10020924"/>
              <a:gd name="connsiteY100" fmla="*/ 671430 h 2041903"/>
              <a:gd name="connsiteX101" fmla="*/ 265280 w 10020924"/>
              <a:gd name="connsiteY101" fmla="*/ 958605 h 2041903"/>
              <a:gd name="connsiteX102" fmla="*/ 329833 w 10020924"/>
              <a:gd name="connsiteY102" fmla="*/ 1280240 h 2041903"/>
              <a:gd name="connsiteX103" fmla="*/ 505249 w 10020924"/>
              <a:gd name="connsiteY103" fmla="*/ 1539802 h 2041903"/>
              <a:gd name="connsiteX104" fmla="*/ 764163 w 10020924"/>
              <a:gd name="connsiteY104" fmla="*/ 1713204 h 2041903"/>
              <a:gd name="connsiteX105" fmla="*/ 1079208 w 10020924"/>
              <a:gd name="connsiteY105" fmla="*/ 1776358 h 2041903"/>
              <a:gd name="connsiteX106" fmla="*/ 1394254 w 10020924"/>
              <a:gd name="connsiteY106" fmla="*/ 1713204 h 2041903"/>
              <a:gd name="connsiteX107" fmla="*/ 1653167 w 10020924"/>
              <a:gd name="connsiteY107" fmla="*/ 1539802 h 2041903"/>
              <a:gd name="connsiteX108" fmla="*/ 1828584 w 10020924"/>
              <a:gd name="connsiteY108" fmla="*/ 1280240 h 2041903"/>
              <a:gd name="connsiteX109" fmla="*/ 1893137 w 10020924"/>
              <a:gd name="connsiteY109" fmla="*/ 958605 h 2041903"/>
              <a:gd name="connsiteX110" fmla="*/ 1843297 w 10020924"/>
              <a:gd name="connsiteY110" fmla="*/ 674433 h 2041903"/>
              <a:gd name="connsiteX111" fmla="*/ 1715171 w 10020924"/>
              <a:gd name="connsiteY111" fmla="*/ 452650 h 2041903"/>
              <a:gd name="connsiteX112" fmla="*/ 1352451 w 10020924"/>
              <a:gd name="connsiteY112" fmla="*/ 263259 h 2041903"/>
              <a:gd name="connsiteX113" fmla="*/ 1489332 w 10020924"/>
              <a:gd name="connsiteY113" fmla="*/ 469668 h 2041903"/>
              <a:gd name="connsiteX114" fmla="*/ 1533501 w 10020924"/>
              <a:gd name="connsiteY114" fmla="*/ 697463 h 2041903"/>
              <a:gd name="connsiteX115" fmla="*/ 1395669 w 10020924"/>
              <a:gd name="connsiteY115" fmla="*/ 1031243 h 2041903"/>
              <a:gd name="connsiteX116" fmla="*/ 1079208 w 10020924"/>
              <a:gd name="connsiteY116" fmla="*/ 1160853 h 2041903"/>
              <a:gd name="connsiteX117" fmla="*/ 762748 w 10020924"/>
              <a:gd name="connsiteY117" fmla="*/ 1031243 h 2041903"/>
              <a:gd name="connsiteX118" fmla="*/ 624916 w 10020924"/>
              <a:gd name="connsiteY118" fmla="*/ 697463 h 2041903"/>
              <a:gd name="connsiteX119" fmla="*/ 673201 w 10020924"/>
              <a:gd name="connsiteY119" fmla="*/ 463015 h 2041903"/>
              <a:gd name="connsiteX120" fmla="*/ 805966 w 10020924"/>
              <a:gd name="connsiteY120" fmla="*/ 263259 h 2041903"/>
              <a:gd name="connsiteX121" fmla="*/ 817834 w 10020924"/>
              <a:gd name="connsiteY121" fmla="*/ 0 h 2041903"/>
              <a:gd name="connsiteX122" fmla="*/ 963091 w 10020924"/>
              <a:gd name="connsiteY122" fmla="*/ 14770 h 2041903"/>
              <a:gd name="connsiteX123" fmla="*/ 1079167 w 10020924"/>
              <a:gd name="connsiteY123" fmla="*/ 48893 h 2041903"/>
              <a:gd name="connsiteX124" fmla="*/ 1194646 w 10020924"/>
              <a:gd name="connsiteY124" fmla="*/ 14436 h 2041903"/>
              <a:gd name="connsiteX125" fmla="*/ 1340583 w 10020924"/>
              <a:gd name="connsiteY125" fmla="*/ 0 h 2041903"/>
              <a:gd name="connsiteX126" fmla="*/ 1649693 w 10020924"/>
              <a:gd name="connsiteY126" fmla="*/ 72213 h 2041903"/>
              <a:gd name="connsiteX127" fmla="*/ 1910677 w 10020924"/>
              <a:gd name="connsiteY127" fmla="*/ 272891 h 2041903"/>
              <a:gd name="connsiteX128" fmla="*/ 2091072 w 10020924"/>
              <a:gd name="connsiteY128" fmla="*/ 578096 h 2041903"/>
              <a:gd name="connsiteX129" fmla="*/ 2158417 w 10020924"/>
              <a:gd name="connsiteY129" fmla="*/ 963886 h 2041903"/>
              <a:gd name="connsiteX130" fmla="*/ 2071704 w 10020924"/>
              <a:gd name="connsiteY130" fmla="*/ 1388805 h 2041903"/>
              <a:gd name="connsiteX131" fmla="*/ 1837251 w 10020924"/>
              <a:gd name="connsiteY131" fmla="*/ 1730875 h 2041903"/>
              <a:gd name="connsiteX132" fmla="*/ 1493585 w 10020924"/>
              <a:gd name="connsiteY132" fmla="*/ 1958956 h 2041903"/>
              <a:gd name="connsiteX133" fmla="*/ 1079208 w 10020924"/>
              <a:gd name="connsiteY133" fmla="*/ 2041903 h 2041903"/>
              <a:gd name="connsiteX134" fmla="*/ 664832 w 10020924"/>
              <a:gd name="connsiteY134" fmla="*/ 1958956 h 2041903"/>
              <a:gd name="connsiteX135" fmla="*/ 321166 w 10020924"/>
              <a:gd name="connsiteY135" fmla="*/ 1730875 h 2041903"/>
              <a:gd name="connsiteX136" fmla="*/ 86713 w 10020924"/>
              <a:gd name="connsiteY136" fmla="*/ 1388805 h 2041903"/>
              <a:gd name="connsiteX137" fmla="*/ 0 w 10020924"/>
              <a:gd name="connsiteY137" fmla="*/ 963886 h 2041903"/>
              <a:gd name="connsiteX138" fmla="*/ 67345 w 10020924"/>
              <a:gd name="connsiteY138" fmla="*/ 578096 h 2041903"/>
              <a:gd name="connsiteX139" fmla="*/ 247740 w 10020924"/>
              <a:gd name="connsiteY139" fmla="*/ 272891 h 2041903"/>
              <a:gd name="connsiteX140" fmla="*/ 508723 w 10020924"/>
              <a:gd name="connsiteY140" fmla="*/ 72213 h 2041903"/>
              <a:gd name="connsiteX141" fmla="*/ 817834 w 10020924"/>
              <a:gd name="connsiteY141" fmla="*/ 0 h 2041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0020924" h="2041903">
                <a:moveTo>
                  <a:pt x="9329240" y="1080290"/>
                </a:moveTo>
                <a:cubicBezTo>
                  <a:pt x="9292358" y="1080290"/>
                  <a:pt x="9251983" y="1096116"/>
                  <a:pt x="9251983" y="1187029"/>
                </a:cubicBezTo>
                <a:cubicBezTo>
                  <a:pt x="9251983" y="1277880"/>
                  <a:pt x="9292801" y="1296468"/>
                  <a:pt x="9329240" y="1296468"/>
                </a:cubicBezTo>
                <a:lnTo>
                  <a:pt x="9782722" y="1296468"/>
                </a:lnTo>
                <a:lnTo>
                  <a:pt x="9782722" y="1080290"/>
                </a:lnTo>
                <a:close/>
                <a:moveTo>
                  <a:pt x="7331825" y="1080290"/>
                </a:moveTo>
                <a:cubicBezTo>
                  <a:pt x="7294927" y="1080290"/>
                  <a:pt x="7254583" y="1096116"/>
                  <a:pt x="7254583" y="1187029"/>
                </a:cubicBezTo>
                <a:cubicBezTo>
                  <a:pt x="7254583" y="1277880"/>
                  <a:pt x="7295379" y="1296468"/>
                  <a:pt x="7331825" y="1296468"/>
                </a:cubicBezTo>
                <a:lnTo>
                  <a:pt x="7785307" y="1296468"/>
                </a:lnTo>
                <a:lnTo>
                  <a:pt x="7785307" y="1080290"/>
                </a:lnTo>
                <a:close/>
                <a:moveTo>
                  <a:pt x="6171264" y="689323"/>
                </a:moveTo>
                <a:lnTo>
                  <a:pt x="6171264" y="1297318"/>
                </a:lnTo>
                <a:lnTo>
                  <a:pt x="6558679" y="1297318"/>
                </a:lnTo>
                <a:cubicBezTo>
                  <a:pt x="6645146" y="1297318"/>
                  <a:pt x="6679368" y="1257837"/>
                  <a:pt x="6679368" y="1156413"/>
                </a:cubicBezTo>
                <a:lnTo>
                  <a:pt x="6679368" y="830244"/>
                </a:lnTo>
                <a:cubicBezTo>
                  <a:pt x="6679368" y="728827"/>
                  <a:pt x="6645146" y="689323"/>
                  <a:pt x="6558679" y="689323"/>
                </a:cubicBezTo>
                <a:close/>
                <a:moveTo>
                  <a:pt x="9072763" y="463851"/>
                </a:moveTo>
                <a:lnTo>
                  <a:pt x="9678449" y="463851"/>
                </a:lnTo>
                <a:cubicBezTo>
                  <a:pt x="9932730" y="463851"/>
                  <a:pt x="10020924" y="559816"/>
                  <a:pt x="10020924" y="826574"/>
                </a:cubicBezTo>
                <a:lnTo>
                  <a:pt x="10020924" y="1522671"/>
                </a:lnTo>
                <a:lnTo>
                  <a:pt x="9304207" y="1522671"/>
                </a:lnTo>
                <a:cubicBezTo>
                  <a:pt x="9111641" y="1522671"/>
                  <a:pt x="9015771" y="1435849"/>
                  <a:pt x="9015771" y="1219793"/>
                </a:cubicBezTo>
                <a:lnTo>
                  <a:pt x="9015771" y="1169781"/>
                </a:lnTo>
                <a:cubicBezTo>
                  <a:pt x="9015771" y="959714"/>
                  <a:pt x="9108248" y="866738"/>
                  <a:pt x="9294061" y="866738"/>
                </a:cubicBezTo>
                <a:lnTo>
                  <a:pt x="9782829" y="866738"/>
                </a:lnTo>
                <a:cubicBezTo>
                  <a:pt x="9782829" y="858122"/>
                  <a:pt x="9782707" y="829861"/>
                  <a:pt x="9782707" y="829349"/>
                </a:cubicBezTo>
                <a:cubicBezTo>
                  <a:pt x="9782707" y="727955"/>
                  <a:pt x="9749047" y="688428"/>
                  <a:pt x="9662481" y="688428"/>
                </a:cubicBezTo>
                <a:lnTo>
                  <a:pt x="9072763" y="688428"/>
                </a:lnTo>
                <a:close/>
                <a:moveTo>
                  <a:pt x="8071817" y="463851"/>
                </a:moveTo>
                <a:lnTo>
                  <a:pt x="8991911" y="463851"/>
                </a:lnTo>
                <a:lnTo>
                  <a:pt x="8991911" y="686668"/>
                </a:lnTo>
                <a:lnTo>
                  <a:pt x="8652240" y="686668"/>
                </a:lnTo>
                <a:lnTo>
                  <a:pt x="8652240" y="1522955"/>
                </a:lnTo>
                <a:lnTo>
                  <a:pt x="8411534" y="1522955"/>
                </a:lnTo>
                <a:lnTo>
                  <a:pt x="8411534" y="686668"/>
                </a:lnTo>
                <a:lnTo>
                  <a:pt x="8071817" y="686668"/>
                </a:lnTo>
                <a:close/>
                <a:moveTo>
                  <a:pt x="7075333" y="463851"/>
                </a:moveTo>
                <a:lnTo>
                  <a:pt x="7681075" y="463851"/>
                </a:lnTo>
                <a:cubicBezTo>
                  <a:pt x="7935303" y="463851"/>
                  <a:pt x="8023424" y="559816"/>
                  <a:pt x="8023417" y="826574"/>
                </a:cubicBezTo>
                <a:lnTo>
                  <a:pt x="8023417" y="1522671"/>
                </a:lnTo>
                <a:lnTo>
                  <a:pt x="7306759" y="1522671"/>
                </a:lnTo>
                <a:cubicBezTo>
                  <a:pt x="7114170" y="1522671"/>
                  <a:pt x="7018293" y="1435849"/>
                  <a:pt x="7018293" y="1219793"/>
                </a:cubicBezTo>
                <a:lnTo>
                  <a:pt x="7018293" y="1169781"/>
                </a:lnTo>
                <a:cubicBezTo>
                  <a:pt x="7018293" y="959714"/>
                  <a:pt x="7110792" y="866738"/>
                  <a:pt x="7296628" y="866738"/>
                </a:cubicBezTo>
                <a:lnTo>
                  <a:pt x="7785307" y="866738"/>
                </a:lnTo>
                <a:lnTo>
                  <a:pt x="7785307" y="829349"/>
                </a:lnTo>
                <a:cubicBezTo>
                  <a:pt x="7785307" y="727955"/>
                  <a:pt x="7751547" y="688428"/>
                  <a:pt x="7665080" y="688428"/>
                </a:cubicBezTo>
                <a:lnTo>
                  <a:pt x="7075333" y="688428"/>
                </a:lnTo>
                <a:close/>
                <a:moveTo>
                  <a:pt x="5930572" y="463851"/>
                </a:moveTo>
                <a:lnTo>
                  <a:pt x="6574718" y="463851"/>
                </a:lnTo>
                <a:cubicBezTo>
                  <a:pt x="6817412" y="463851"/>
                  <a:pt x="6925013" y="557409"/>
                  <a:pt x="6925013" y="834884"/>
                </a:cubicBezTo>
                <a:lnTo>
                  <a:pt x="6925013" y="1151743"/>
                </a:lnTo>
                <a:cubicBezTo>
                  <a:pt x="6925013" y="1394650"/>
                  <a:pt x="6843589" y="1522671"/>
                  <a:pt x="6585968" y="1522671"/>
                </a:cubicBezTo>
                <a:lnTo>
                  <a:pt x="5930572" y="1522671"/>
                </a:lnTo>
                <a:close/>
                <a:moveTo>
                  <a:pt x="4717895" y="463851"/>
                </a:moveTo>
                <a:lnTo>
                  <a:pt x="5638093" y="463851"/>
                </a:lnTo>
                <a:lnTo>
                  <a:pt x="5638093" y="686668"/>
                </a:lnTo>
                <a:lnTo>
                  <a:pt x="5298318" y="686668"/>
                </a:lnTo>
                <a:lnTo>
                  <a:pt x="5298318" y="1522955"/>
                </a:lnTo>
                <a:lnTo>
                  <a:pt x="5057626" y="1522955"/>
                </a:lnTo>
                <a:lnTo>
                  <a:pt x="5057626" y="686668"/>
                </a:lnTo>
                <a:lnTo>
                  <a:pt x="4717895" y="686668"/>
                </a:lnTo>
                <a:close/>
                <a:moveTo>
                  <a:pt x="3721291" y="463851"/>
                </a:moveTo>
                <a:lnTo>
                  <a:pt x="4641430" y="463851"/>
                </a:lnTo>
                <a:lnTo>
                  <a:pt x="4641430" y="686668"/>
                </a:lnTo>
                <a:lnTo>
                  <a:pt x="4301654" y="686668"/>
                </a:lnTo>
                <a:lnTo>
                  <a:pt x="4301654" y="1522955"/>
                </a:lnTo>
                <a:lnTo>
                  <a:pt x="4061067" y="1522955"/>
                </a:lnTo>
                <a:lnTo>
                  <a:pt x="4061067" y="686668"/>
                </a:lnTo>
                <a:lnTo>
                  <a:pt x="3721291" y="686668"/>
                </a:lnTo>
                <a:close/>
                <a:moveTo>
                  <a:pt x="2809822" y="452019"/>
                </a:moveTo>
                <a:cubicBezTo>
                  <a:pt x="2915562" y="452019"/>
                  <a:pt x="2970732" y="501487"/>
                  <a:pt x="3016077" y="572753"/>
                </a:cubicBezTo>
                <a:cubicBezTo>
                  <a:pt x="3055320" y="634446"/>
                  <a:pt x="3376830" y="1260842"/>
                  <a:pt x="3381948" y="1270566"/>
                </a:cubicBezTo>
                <a:cubicBezTo>
                  <a:pt x="3386677" y="1279328"/>
                  <a:pt x="3393442" y="1285729"/>
                  <a:pt x="3400240" y="1281756"/>
                </a:cubicBezTo>
                <a:cubicBezTo>
                  <a:pt x="3406237" y="1278349"/>
                  <a:pt x="3406646" y="1267378"/>
                  <a:pt x="3406134" y="1255736"/>
                </a:cubicBezTo>
                <a:cubicBezTo>
                  <a:pt x="3405492" y="1241619"/>
                  <a:pt x="3402657" y="1171378"/>
                  <a:pt x="3402657" y="1123946"/>
                </a:cubicBezTo>
                <a:lnTo>
                  <a:pt x="3402657" y="463522"/>
                </a:lnTo>
                <a:lnTo>
                  <a:pt x="3639813" y="463522"/>
                </a:lnTo>
                <a:lnTo>
                  <a:pt x="3639813" y="1255333"/>
                </a:lnTo>
                <a:cubicBezTo>
                  <a:pt x="3639813" y="1491113"/>
                  <a:pt x="3523557" y="1534727"/>
                  <a:pt x="3425426" y="1534727"/>
                </a:cubicBezTo>
                <a:cubicBezTo>
                  <a:pt x="3319670" y="1534727"/>
                  <a:pt x="3264509" y="1485221"/>
                  <a:pt x="3219125" y="1413949"/>
                </a:cubicBezTo>
                <a:cubicBezTo>
                  <a:pt x="3155813" y="1314503"/>
                  <a:pt x="2857763" y="724966"/>
                  <a:pt x="2853165" y="716135"/>
                </a:cubicBezTo>
                <a:cubicBezTo>
                  <a:pt x="2848558" y="707335"/>
                  <a:pt x="2841793" y="701034"/>
                  <a:pt x="2834887" y="704930"/>
                </a:cubicBezTo>
                <a:cubicBezTo>
                  <a:pt x="2829005" y="708344"/>
                  <a:pt x="2828497" y="719338"/>
                  <a:pt x="2829009" y="730980"/>
                </a:cubicBezTo>
                <a:cubicBezTo>
                  <a:pt x="2829628" y="745090"/>
                  <a:pt x="2832590" y="815378"/>
                  <a:pt x="2832590" y="862725"/>
                </a:cubicBezTo>
                <a:lnTo>
                  <a:pt x="2832590" y="1523194"/>
                </a:lnTo>
                <a:lnTo>
                  <a:pt x="2595360" y="1523194"/>
                </a:lnTo>
                <a:lnTo>
                  <a:pt x="2595360" y="731368"/>
                </a:lnTo>
                <a:cubicBezTo>
                  <a:pt x="2595360" y="495611"/>
                  <a:pt x="2711606" y="452019"/>
                  <a:pt x="2809822" y="452019"/>
                </a:cubicBezTo>
                <a:close/>
                <a:moveTo>
                  <a:pt x="1079247" y="330967"/>
                </a:moveTo>
                <a:cubicBezTo>
                  <a:pt x="1039101" y="354484"/>
                  <a:pt x="989740" y="403598"/>
                  <a:pt x="952084" y="465588"/>
                </a:cubicBezTo>
                <a:cubicBezTo>
                  <a:pt x="914427" y="527577"/>
                  <a:pt x="887125" y="603548"/>
                  <a:pt x="887125" y="684091"/>
                </a:cubicBezTo>
                <a:cubicBezTo>
                  <a:pt x="887125" y="743091"/>
                  <a:pt x="906578" y="795805"/>
                  <a:pt x="940315" y="833769"/>
                </a:cubicBezTo>
                <a:cubicBezTo>
                  <a:pt x="974052" y="871732"/>
                  <a:pt x="1022072" y="894946"/>
                  <a:pt x="1079206" y="894946"/>
                </a:cubicBezTo>
                <a:cubicBezTo>
                  <a:pt x="1136340" y="894946"/>
                  <a:pt x="1184360" y="871732"/>
                  <a:pt x="1218097" y="833769"/>
                </a:cubicBezTo>
                <a:cubicBezTo>
                  <a:pt x="1251833" y="795805"/>
                  <a:pt x="1271286" y="743091"/>
                  <a:pt x="1271286" y="684091"/>
                </a:cubicBezTo>
                <a:cubicBezTo>
                  <a:pt x="1271286" y="603548"/>
                  <a:pt x="1243984" y="527577"/>
                  <a:pt x="1206328" y="465588"/>
                </a:cubicBezTo>
                <a:cubicBezTo>
                  <a:pt x="1168672" y="403598"/>
                  <a:pt x="1110735" y="347874"/>
                  <a:pt x="1079247" y="330967"/>
                </a:cubicBezTo>
                <a:close/>
                <a:moveTo>
                  <a:pt x="805966" y="263259"/>
                </a:moveTo>
                <a:cubicBezTo>
                  <a:pt x="686954" y="257894"/>
                  <a:pt x="551782" y="326830"/>
                  <a:pt x="446364" y="449558"/>
                </a:cubicBezTo>
                <a:cubicBezTo>
                  <a:pt x="393654" y="510922"/>
                  <a:pt x="348383" y="585734"/>
                  <a:pt x="316290" y="671430"/>
                </a:cubicBezTo>
                <a:cubicBezTo>
                  <a:pt x="284196" y="757125"/>
                  <a:pt x="265280" y="853705"/>
                  <a:pt x="265280" y="958605"/>
                </a:cubicBezTo>
                <a:cubicBezTo>
                  <a:pt x="265280" y="1073486"/>
                  <a:pt x="288318" y="1182036"/>
                  <a:pt x="329833" y="1280240"/>
                </a:cubicBezTo>
                <a:cubicBezTo>
                  <a:pt x="371348" y="1378444"/>
                  <a:pt x="431341" y="1466303"/>
                  <a:pt x="505249" y="1539802"/>
                </a:cubicBezTo>
                <a:cubicBezTo>
                  <a:pt x="579158" y="1613301"/>
                  <a:pt x="666983" y="1672440"/>
                  <a:pt x="764163" y="1713204"/>
                </a:cubicBezTo>
                <a:cubicBezTo>
                  <a:pt x="861343" y="1753969"/>
                  <a:pt x="967878" y="1776358"/>
                  <a:pt x="1079208" y="1776358"/>
                </a:cubicBezTo>
                <a:cubicBezTo>
                  <a:pt x="1190538" y="1776358"/>
                  <a:pt x="1297074" y="1753969"/>
                  <a:pt x="1394254" y="1713204"/>
                </a:cubicBezTo>
                <a:cubicBezTo>
                  <a:pt x="1491434" y="1672440"/>
                  <a:pt x="1579259" y="1613301"/>
                  <a:pt x="1653167" y="1539802"/>
                </a:cubicBezTo>
                <a:cubicBezTo>
                  <a:pt x="1727076" y="1466303"/>
                  <a:pt x="1787068" y="1378444"/>
                  <a:pt x="1828584" y="1280240"/>
                </a:cubicBezTo>
                <a:cubicBezTo>
                  <a:pt x="1870099" y="1182036"/>
                  <a:pt x="1893137" y="1073486"/>
                  <a:pt x="1893137" y="958605"/>
                </a:cubicBezTo>
                <a:cubicBezTo>
                  <a:pt x="1893137" y="855344"/>
                  <a:pt x="1874740" y="759689"/>
                  <a:pt x="1843297" y="674433"/>
                </a:cubicBezTo>
                <a:cubicBezTo>
                  <a:pt x="1811852" y="589176"/>
                  <a:pt x="1767361" y="514318"/>
                  <a:pt x="1715171" y="452650"/>
                </a:cubicBezTo>
                <a:cubicBezTo>
                  <a:pt x="1610792" y="329313"/>
                  <a:pt x="1475621" y="258738"/>
                  <a:pt x="1352451" y="263259"/>
                </a:cubicBezTo>
                <a:cubicBezTo>
                  <a:pt x="1412945" y="322179"/>
                  <a:pt x="1458865" y="394141"/>
                  <a:pt x="1489332" y="469668"/>
                </a:cubicBezTo>
                <a:cubicBezTo>
                  <a:pt x="1519800" y="545194"/>
                  <a:pt x="1534815" y="624285"/>
                  <a:pt x="1533501" y="697463"/>
                </a:cubicBezTo>
                <a:cubicBezTo>
                  <a:pt x="1533501" y="833577"/>
                  <a:pt x="1479467" y="949424"/>
                  <a:pt x="1395669" y="1031243"/>
                </a:cubicBezTo>
                <a:cubicBezTo>
                  <a:pt x="1311871" y="1113062"/>
                  <a:pt x="1198308" y="1160853"/>
                  <a:pt x="1079208" y="1160853"/>
                </a:cubicBezTo>
                <a:cubicBezTo>
                  <a:pt x="960109" y="1160853"/>
                  <a:pt x="846546" y="1113062"/>
                  <a:pt x="762748" y="1031243"/>
                </a:cubicBezTo>
                <a:cubicBezTo>
                  <a:pt x="678950" y="949424"/>
                  <a:pt x="624916" y="833577"/>
                  <a:pt x="624916" y="697463"/>
                </a:cubicBezTo>
                <a:cubicBezTo>
                  <a:pt x="624916" y="618236"/>
                  <a:pt x="642018" y="537734"/>
                  <a:pt x="673201" y="463015"/>
                </a:cubicBezTo>
                <a:cubicBezTo>
                  <a:pt x="704383" y="388296"/>
                  <a:pt x="749646" y="319359"/>
                  <a:pt x="805966" y="263259"/>
                </a:cubicBezTo>
                <a:close/>
                <a:moveTo>
                  <a:pt x="817834" y="0"/>
                </a:moveTo>
                <a:cubicBezTo>
                  <a:pt x="866589" y="0"/>
                  <a:pt x="917272" y="5772"/>
                  <a:pt x="963091" y="14770"/>
                </a:cubicBezTo>
                <a:cubicBezTo>
                  <a:pt x="1008909" y="23768"/>
                  <a:pt x="1049865" y="35991"/>
                  <a:pt x="1079167" y="48893"/>
                </a:cubicBezTo>
                <a:cubicBezTo>
                  <a:pt x="1107617" y="35545"/>
                  <a:pt x="1148593" y="23322"/>
                  <a:pt x="1194646" y="14436"/>
                </a:cubicBezTo>
                <a:cubicBezTo>
                  <a:pt x="1240699" y="5549"/>
                  <a:pt x="1291827" y="0"/>
                  <a:pt x="1340583" y="0"/>
                </a:cubicBezTo>
                <a:cubicBezTo>
                  <a:pt x="1448034" y="0"/>
                  <a:pt x="1552874" y="25401"/>
                  <a:pt x="1649693" y="72213"/>
                </a:cubicBezTo>
                <a:cubicBezTo>
                  <a:pt x="1746513" y="119025"/>
                  <a:pt x="1835310" y="187248"/>
                  <a:pt x="1910677" y="272891"/>
                </a:cubicBezTo>
                <a:cubicBezTo>
                  <a:pt x="1986043" y="358535"/>
                  <a:pt x="2047978" y="461600"/>
                  <a:pt x="2091072" y="578096"/>
                </a:cubicBezTo>
                <a:cubicBezTo>
                  <a:pt x="2134165" y="694592"/>
                  <a:pt x="2158417" y="824518"/>
                  <a:pt x="2158417" y="963886"/>
                </a:cubicBezTo>
                <a:cubicBezTo>
                  <a:pt x="2158417" y="1115873"/>
                  <a:pt x="2127372" y="1259243"/>
                  <a:pt x="2071704" y="1388805"/>
                </a:cubicBezTo>
                <a:cubicBezTo>
                  <a:pt x="2016036" y="1518366"/>
                  <a:pt x="1935744" y="1634120"/>
                  <a:pt x="1837251" y="1730875"/>
                </a:cubicBezTo>
                <a:cubicBezTo>
                  <a:pt x="1738759" y="1827631"/>
                  <a:pt x="1622064" y="1905388"/>
                  <a:pt x="1493585" y="1958956"/>
                </a:cubicBezTo>
                <a:cubicBezTo>
                  <a:pt x="1365105" y="2012524"/>
                  <a:pt x="1224841" y="2041903"/>
                  <a:pt x="1079208" y="2041903"/>
                </a:cubicBezTo>
                <a:cubicBezTo>
                  <a:pt x="933576" y="2041903"/>
                  <a:pt x="793312" y="2012524"/>
                  <a:pt x="664832" y="1958956"/>
                </a:cubicBezTo>
                <a:cubicBezTo>
                  <a:pt x="536353" y="1905388"/>
                  <a:pt x="419658" y="1827631"/>
                  <a:pt x="321166" y="1730875"/>
                </a:cubicBezTo>
                <a:cubicBezTo>
                  <a:pt x="222673" y="1634120"/>
                  <a:pt x="142381" y="1518366"/>
                  <a:pt x="86713" y="1388805"/>
                </a:cubicBezTo>
                <a:cubicBezTo>
                  <a:pt x="31045" y="1259243"/>
                  <a:pt x="0" y="1115873"/>
                  <a:pt x="0" y="963886"/>
                </a:cubicBezTo>
                <a:cubicBezTo>
                  <a:pt x="0" y="824518"/>
                  <a:pt x="24252" y="694592"/>
                  <a:pt x="67345" y="578096"/>
                </a:cubicBezTo>
                <a:cubicBezTo>
                  <a:pt x="110439" y="461600"/>
                  <a:pt x="172374" y="358535"/>
                  <a:pt x="247740" y="272891"/>
                </a:cubicBezTo>
                <a:cubicBezTo>
                  <a:pt x="323106" y="187248"/>
                  <a:pt x="411904" y="119025"/>
                  <a:pt x="508723" y="72213"/>
                </a:cubicBezTo>
                <a:cubicBezTo>
                  <a:pt x="605542" y="25401"/>
                  <a:pt x="710382" y="0"/>
                  <a:pt x="817834" y="0"/>
                </a:cubicBezTo>
                <a:close/>
              </a:path>
            </a:pathLst>
          </a:custGeom>
          <a:solidFill>
            <a:schemeClr val="bg1"/>
          </a:solidFill>
          <a:ln w="763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21707694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E2EFC5-D63C-F6C8-354A-A0CAF1808645}"/>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DB2CBC67-36C1-33D5-A86F-079E6BA0BD7C}"/>
              </a:ext>
            </a:extLst>
          </p:cNvPr>
          <p:cNvSpPr/>
          <p:nvPr/>
        </p:nvSpPr>
        <p:spPr>
          <a:xfrm>
            <a:off x="458724" y="1730642"/>
            <a:ext cx="5415763" cy="430887"/>
          </a:xfrm>
          <a:prstGeom prst="roundRect">
            <a:avLst>
              <a:gd name="adj" fmla="val 7825"/>
            </a:avLst>
          </a:prstGeom>
          <a:solidFill>
            <a:srgbClr val="2C578B"/>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noProof="0"/>
          </a:p>
        </p:txBody>
      </p:sp>
      <p:sp>
        <p:nvSpPr>
          <p:cNvPr id="6" name="Rectangle: Rounded Corners 5">
            <a:extLst>
              <a:ext uri="{FF2B5EF4-FFF2-40B4-BE49-F238E27FC236}">
                <a16:creationId xmlns:a16="http://schemas.microsoft.com/office/drawing/2014/main" id="{AB9F0419-5873-2798-6009-A26287027FDF}"/>
              </a:ext>
            </a:extLst>
          </p:cNvPr>
          <p:cNvSpPr/>
          <p:nvPr/>
        </p:nvSpPr>
        <p:spPr>
          <a:xfrm>
            <a:off x="6424035" y="1730642"/>
            <a:ext cx="5301053" cy="430887"/>
          </a:xfrm>
          <a:prstGeom prst="roundRect">
            <a:avLst>
              <a:gd name="adj" fmla="val 7825"/>
            </a:avLst>
          </a:prstGeom>
          <a:solidFill>
            <a:srgbClr val="2C578B"/>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noProof="0"/>
          </a:p>
        </p:txBody>
      </p:sp>
      <p:sp>
        <p:nvSpPr>
          <p:cNvPr id="4" name="TextBox 80">
            <a:extLst>
              <a:ext uri="{FF2B5EF4-FFF2-40B4-BE49-F238E27FC236}">
                <a16:creationId xmlns:a16="http://schemas.microsoft.com/office/drawing/2014/main" id="{F64D8ECC-6566-6ED5-7CC9-987F37696C18}"/>
              </a:ext>
            </a:extLst>
          </p:cNvPr>
          <p:cNvSpPr txBox="1"/>
          <p:nvPr/>
        </p:nvSpPr>
        <p:spPr>
          <a:xfrm>
            <a:off x="616765" y="1821180"/>
            <a:ext cx="5029200" cy="187424"/>
          </a:xfrm>
          <a:prstGeom prst="rect">
            <a:avLst/>
          </a:prstGeom>
          <a:noFill/>
        </p:spPr>
        <p:txBody>
          <a:bodyPr wrap="square" lIns="0" tIns="0" rIns="0" bIns="0" anchor="t">
            <a:spAutoFit/>
          </a:bodyPr>
          <a:lstStyle/>
          <a:p>
            <a:pPr algn="ctr">
              <a:lnSpc>
                <a:spcPct val="110000"/>
              </a:lnSpc>
              <a:spcBef>
                <a:spcPts val="0"/>
              </a:spcBef>
              <a:spcAft>
                <a:spcPts val="0"/>
              </a:spcAft>
            </a:pPr>
            <a:r>
              <a:rPr lang="en-US" sz="1200" b="1" i="0" noProof="0">
                <a:solidFill>
                  <a:schemeClr val="bg1"/>
                </a:solidFill>
                <a:latin typeface="Arial" panose="020B0604020202020204" pitchFamily="34" charset="0"/>
                <a:cs typeface="Arial" panose="020B0604020202020204" pitchFamily="34" charset="0"/>
              </a:rPr>
              <a:t>PROJECT SCOPE</a:t>
            </a:r>
          </a:p>
        </p:txBody>
      </p:sp>
      <p:sp>
        <p:nvSpPr>
          <p:cNvPr id="2" name="Título 2">
            <a:extLst>
              <a:ext uri="{FF2B5EF4-FFF2-40B4-BE49-F238E27FC236}">
                <a16:creationId xmlns:a16="http://schemas.microsoft.com/office/drawing/2014/main" id="{12D02C9B-7463-C0B8-71D9-75D673A45FBA}"/>
              </a:ext>
            </a:extLst>
          </p:cNvPr>
          <p:cNvSpPr txBox="1">
            <a:spLocks/>
          </p:cNvSpPr>
          <p:nvPr/>
        </p:nvSpPr>
        <p:spPr>
          <a:xfrm>
            <a:off x="180918" y="127319"/>
            <a:ext cx="8857204"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r>
              <a:rPr lang="en-US" sz="2400" noProof="0">
                <a:latin typeface="Arial" panose="020B0604020202020204" pitchFamily="34" charset="0"/>
                <a:cs typeface="Arial" panose="020B0604020202020204" pitchFamily="34" charset="0"/>
              </a:rPr>
              <a:t>INTRODUCTION</a:t>
            </a:r>
          </a:p>
          <a:p>
            <a:r>
              <a:rPr lang="en-US" sz="1200" noProof="0">
                <a:latin typeface="Arial"/>
              </a:rPr>
              <a:t>OBJECTIVES OF THE DOCUMENT</a:t>
            </a:r>
          </a:p>
        </p:txBody>
      </p:sp>
      <p:sp>
        <p:nvSpPr>
          <p:cNvPr id="86" name="TextBox 85">
            <a:extLst>
              <a:ext uri="{FF2B5EF4-FFF2-40B4-BE49-F238E27FC236}">
                <a16:creationId xmlns:a16="http://schemas.microsoft.com/office/drawing/2014/main" id="{F4D97B79-3A8C-6EA2-E1BD-58DBCD3E04B3}"/>
              </a:ext>
            </a:extLst>
          </p:cNvPr>
          <p:cNvSpPr txBox="1"/>
          <p:nvPr/>
        </p:nvSpPr>
        <p:spPr>
          <a:xfrm>
            <a:off x="458724" y="932575"/>
            <a:ext cx="11274552" cy="430887"/>
          </a:xfrm>
          <a:prstGeom prst="rect">
            <a:avLst/>
          </a:prstGeom>
          <a:noFill/>
        </p:spPr>
        <p:txBody>
          <a:bodyPr wrap="square" lIns="0" tIns="0" rIns="0" bIns="0" rtlCol="0">
            <a:noAutofit/>
          </a:bodyPr>
          <a:lstStyle>
            <a:defPPr>
              <a:defRPr lang="en-US"/>
            </a:defPPr>
            <a:lvl1pPr algn="ctr">
              <a:defRPr sz="1400" b="1">
                <a:solidFill>
                  <a:schemeClr val="accent4">
                    <a:lumMod val="75000"/>
                  </a:schemeClr>
                </a:solidFill>
                <a:latin typeface="Arial" panose="020B0604020202020204" pitchFamily="34" charset="0"/>
                <a:cs typeface="Arial" panose="020B0604020202020204" pitchFamily="34" charset="0"/>
              </a:defRPr>
            </a:lvl1pPr>
          </a:lstStyle>
          <a:p>
            <a:pPr algn="just"/>
            <a:r>
              <a:rPr lang="en-US" noProof="0"/>
              <a:t>Avangrid is consolidating SAP </a:t>
            </a:r>
            <a:r>
              <a:rPr lang="en-US" noProof="0" err="1"/>
              <a:t>CoE</a:t>
            </a:r>
            <a:r>
              <a:rPr lang="en-US" noProof="0"/>
              <a:t> and Applications into a single Digital Products organization — demand fragmentation is the structural risk the TOM must resolve.</a:t>
            </a:r>
          </a:p>
        </p:txBody>
      </p:sp>
      <p:sp>
        <p:nvSpPr>
          <p:cNvPr id="5" name="TextBox 81">
            <a:extLst>
              <a:ext uri="{FF2B5EF4-FFF2-40B4-BE49-F238E27FC236}">
                <a16:creationId xmlns:a16="http://schemas.microsoft.com/office/drawing/2014/main" id="{9CB48650-B454-433F-3019-F0150985ED40}"/>
              </a:ext>
            </a:extLst>
          </p:cNvPr>
          <p:cNvSpPr txBox="1"/>
          <p:nvPr/>
        </p:nvSpPr>
        <p:spPr>
          <a:xfrm>
            <a:off x="458724" y="2359294"/>
            <a:ext cx="5415763" cy="2825453"/>
          </a:xfrm>
          <a:prstGeom prst="rect">
            <a:avLst/>
          </a:prstGeom>
          <a:noFill/>
        </p:spPr>
        <p:txBody>
          <a:bodyPr wrap="square" lIns="0" tIns="0" rIns="0" bIns="0" anchor="t">
            <a:spAutoFit/>
          </a:bodyPr>
          <a:lstStyle/>
          <a:p>
            <a:pPr>
              <a:lnSpc>
                <a:spcPct val="110000"/>
              </a:lnSpc>
            </a:pPr>
            <a:r>
              <a:rPr lang="en-US" sz="1400" b="0" i="0" noProof="0">
                <a:solidFill>
                  <a:srgbClr val="2C3E50"/>
                </a:solidFill>
                <a:latin typeface="Arial" panose="020B0604020202020204" pitchFamily="34" charset="0"/>
                <a:cs typeface="Arial" panose="020B0604020202020204" pitchFamily="34" charset="0"/>
              </a:rPr>
              <a:t>▸  </a:t>
            </a:r>
            <a:r>
              <a:rPr lang="en-US" sz="1400" b="1" noProof="0">
                <a:solidFill>
                  <a:srgbClr val="2C3E50"/>
                </a:solidFill>
                <a:latin typeface="Arial" panose="020B0604020202020204" pitchFamily="34" charset="0"/>
                <a:cs typeface="Arial" panose="020B0604020202020204" pitchFamily="34" charset="0"/>
              </a:rPr>
              <a:t>Digital</a:t>
            </a:r>
            <a:r>
              <a:rPr lang="en-US" sz="1400" b="1" i="0" noProof="0">
                <a:solidFill>
                  <a:srgbClr val="2C3E50"/>
                </a:solidFill>
                <a:latin typeface="Arial" panose="020B0604020202020204" pitchFamily="34" charset="0"/>
                <a:cs typeface="Arial" panose="020B0604020202020204" pitchFamily="34" charset="0"/>
              </a:rPr>
              <a:t> </a:t>
            </a:r>
            <a:r>
              <a:rPr lang="en-US" sz="1400" b="1" noProof="0">
                <a:solidFill>
                  <a:srgbClr val="2C3E50"/>
                </a:solidFill>
                <a:latin typeface="Arial" panose="020B0604020202020204" pitchFamily="34" charset="0"/>
                <a:cs typeface="Arial" panose="020B0604020202020204" pitchFamily="34" charset="0"/>
              </a:rPr>
              <a:t>Products </a:t>
            </a:r>
            <a:r>
              <a:rPr lang="en-US" sz="1400" b="1" i="0" noProof="0">
                <a:solidFill>
                  <a:srgbClr val="2C3E50"/>
                </a:solidFill>
                <a:latin typeface="Arial" panose="020B0604020202020204" pitchFamily="34" charset="0"/>
                <a:cs typeface="Arial" panose="020B0604020202020204" pitchFamily="34" charset="0"/>
              </a:rPr>
              <a:t>in scope</a:t>
            </a:r>
            <a:r>
              <a:rPr lang="en-US" sz="1400" b="0" i="0" noProof="0">
                <a:solidFill>
                  <a:srgbClr val="2C3E50"/>
                </a:solidFill>
                <a:latin typeface="Arial" panose="020B0604020202020204" pitchFamily="34" charset="0"/>
                <a:cs typeface="Arial" panose="020B0604020202020204" pitchFamily="34" charset="0"/>
              </a:rPr>
              <a:t>: IT </a:t>
            </a:r>
            <a:r>
              <a:rPr lang="en-US" sz="1400" noProof="0">
                <a:solidFill>
                  <a:srgbClr val="2C3E50"/>
                </a:solidFill>
                <a:latin typeface="Arial" panose="020B0604020202020204" pitchFamily="34" charset="0"/>
                <a:cs typeface="Arial" panose="020B0604020202020204" pitchFamily="34" charset="0"/>
              </a:rPr>
              <a:t>Business Applications</a:t>
            </a:r>
            <a:r>
              <a:rPr lang="en-US" sz="1400" b="0" i="0" noProof="0">
                <a:solidFill>
                  <a:srgbClr val="2C3E50"/>
                </a:solidFill>
                <a:latin typeface="Arial" panose="020B0604020202020204" pitchFamily="34" charset="0"/>
                <a:cs typeface="Arial" panose="020B0604020202020204" pitchFamily="34" charset="0"/>
              </a:rPr>
              <a:t> (4 teams, ~26 FTE) and Customer Services</a:t>
            </a:r>
            <a:r>
              <a:rPr lang="en-US" sz="1400" noProof="0">
                <a:solidFill>
                  <a:srgbClr val="2C3E50"/>
                </a:solidFill>
                <a:latin typeface="Arial" panose="020B0604020202020204" pitchFamily="34" charset="0"/>
                <a:cs typeface="Arial" panose="020B0604020202020204" pitchFamily="34" charset="0"/>
              </a:rPr>
              <a:t> Apps </a:t>
            </a:r>
            <a:r>
              <a:rPr lang="en-US" sz="1400" b="0" i="0" noProof="0">
                <a:solidFill>
                  <a:srgbClr val="2C3E50"/>
                </a:solidFill>
                <a:latin typeface="Arial" panose="020B0604020202020204" pitchFamily="34" charset="0"/>
                <a:cs typeface="Arial" panose="020B0604020202020204" pitchFamily="34" charset="0"/>
              </a:rPr>
              <a:t>(5 teams, ~24 FTE, 2 Sr. Manager vacancies).</a:t>
            </a:r>
          </a:p>
          <a:p>
            <a:pPr algn="l">
              <a:lnSpc>
                <a:spcPct val="110000"/>
              </a:lnSpc>
              <a:spcBef>
                <a:spcPts val="0"/>
              </a:spcBef>
              <a:spcAft>
                <a:spcPts val="0"/>
              </a:spcAft>
            </a:pPr>
            <a:endParaRPr lang="en-US" sz="1400" b="0" i="0" noProof="0">
              <a:solidFill>
                <a:srgbClr val="2C3E50"/>
              </a:solidFill>
              <a:latin typeface="Arial" panose="020B0604020202020204" pitchFamily="34" charset="0"/>
              <a:cs typeface="Arial" panose="020B0604020202020204" pitchFamily="34" charset="0"/>
            </a:endParaRPr>
          </a:p>
          <a:p>
            <a:pPr algn="l">
              <a:lnSpc>
                <a:spcPct val="110000"/>
              </a:lnSpc>
              <a:spcBef>
                <a:spcPts val="0"/>
              </a:spcBef>
              <a:spcAft>
                <a:spcPts val="0"/>
              </a:spcAft>
            </a:pPr>
            <a:r>
              <a:rPr lang="en-US" sz="1400" b="0" i="0" noProof="0">
                <a:solidFill>
                  <a:srgbClr val="2C3E50"/>
                </a:solidFill>
                <a:latin typeface="Arial" panose="020B0604020202020204" pitchFamily="34" charset="0"/>
                <a:cs typeface="Arial" panose="020B0604020202020204" pitchFamily="34" charset="0"/>
              </a:rPr>
              <a:t>▸  </a:t>
            </a:r>
            <a:r>
              <a:rPr lang="en-US" sz="1400" b="1" i="0" noProof="0">
                <a:solidFill>
                  <a:srgbClr val="2C3E50"/>
                </a:solidFill>
                <a:latin typeface="Arial" panose="020B0604020202020204" pitchFamily="34" charset="0"/>
                <a:cs typeface="Arial" panose="020B0604020202020204" pitchFamily="34" charset="0"/>
              </a:rPr>
              <a:t>Five end-to-end stages assessed per team</a:t>
            </a:r>
            <a:r>
              <a:rPr lang="en-US" sz="1400" b="0" i="0" noProof="0">
                <a:solidFill>
                  <a:srgbClr val="2C3E50"/>
                </a:solidFill>
                <a:latin typeface="Arial" panose="020B0604020202020204" pitchFamily="34" charset="0"/>
                <a:cs typeface="Arial" panose="020B0604020202020204" pitchFamily="34" charset="0"/>
              </a:rPr>
              <a:t>: Intake → Classification → Prioritization → Portfolio → Delivery.</a:t>
            </a:r>
          </a:p>
          <a:p>
            <a:pPr algn="l">
              <a:lnSpc>
                <a:spcPct val="110000"/>
              </a:lnSpc>
              <a:spcBef>
                <a:spcPts val="0"/>
              </a:spcBef>
              <a:spcAft>
                <a:spcPts val="0"/>
              </a:spcAft>
            </a:pPr>
            <a:endParaRPr lang="en-US" sz="1400" b="0" i="0" noProof="0">
              <a:solidFill>
                <a:srgbClr val="2C3E50"/>
              </a:solidFill>
              <a:latin typeface="Arial" panose="020B0604020202020204" pitchFamily="34" charset="0"/>
              <a:cs typeface="Arial" panose="020B0604020202020204" pitchFamily="34" charset="0"/>
            </a:endParaRPr>
          </a:p>
          <a:p>
            <a:pPr>
              <a:lnSpc>
                <a:spcPct val="110000"/>
              </a:lnSpc>
            </a:pPr>
            <a:r>
              <a:rPr lang="en-US" sz="1400" b="0" i="0" noProof="0">
                <a:solidFill>
                  <a:srgbClr val="2C3E50"/>
                </a:solidFill>
                <a:latin typeface="Arial" panose="020B0604020202020204" pitchFamily="34" charset="0"/>
                <a:cs typeface="Arial" panose="020B0604020202020204" pitchFamily="34" charset="0"/>
              </a:rPr>
              <a:t>▸  </a:t>
            </a:r>
            <a:r>
              <a:rPr lang="en-US" sz="1400" b="1" i="0" noProof="0">
                <a:solidFill>
                  <a:srgbClr val="2C3E50"/>
                </a:solidFill>
                <a:latin typeface="Arial" panose="020B0604020202020204" pitchFamily="34" charset="0"/>
                <a:cs typeface="Arial" panose="020B0604020202020204" pitchFamily="34" charset="0"/>
              </a:rPr>
              <a:t>Baseline</a:t>
            </a:r>
            <a:r>
              <a:rPr lang="en-US" sz="1400" b="0" i="0" noProof="0">
                <a:solidFill>
                  <a:srgbClr val="2C3E50"/>
                </a:solidFill>
                <a:latin typeface="Arial" panose="020B0604020202020204" pitchFamily="34" charset="0"/>
                <a:cs typeface="Arial" panose="020B0604020202020204" pitchFamily="34" charset="0"/>
              </a:rPr>
              <a:t> grounded in interview </a:t>
            </a:r>
            <a:r>
              <a:rPr lang="en-US" sz="1400" noProof="0">
                <a:solidFill>
                  <a:srgbClr val="2C3E50"/>
                </a:solidFill>
                <a:latin typeface="Arial" panose="020B0604020202020204" pitchFamily="34" charset="0"/>
                <a:cs typeface="Arial" panose="020B0604020202020204" pitchFamily="34" charset="0"/>
              </a:rPr>
              <a:t>evidence and RFI data received from the teams.</a:t>
            </a:r>
          </a:p>
          <a:p>
            <a:pPr algn="l">
              <a:lnSpc>
                <a:spcPct val="110000"/>
              </a:lnSpc>
              <a:spcBef>
                <a:spcPts val="0"/>
              </a:spcBef>
              <a:spcAft>
                <a:spcPts val="0"/>
              </a:spcAft>
            </a:pPr>
            <a:endParaRPr lang="en-US" sz="1400" b="0" i="0" noProof="0">
              <a:solidFill>
                <a:srgbClr val="2C3E50"/>
              </a:solidFill>
              <a:latin typeface="Arial" panose="020B0604020202020204" pitchFamily="34" charset="0"/>
              <a:cs typeface="Arial" panose="020B0604020202020204" pitchFamily="34" charset="0"/>
            </a:endParaRPr>
          </a:p>
          <a:p>
            <a:pPr algn="l">
              <a:lnSpc>
                <a:spcPct val="110000"/>
              </a:lnSpc>
              <a:spcBef>
                <a:spcPts val="0"/>
              </a:spcBef>
              <a:spcAft>
                <a:spcPts val="0"/>
              </a:spcAft>
            </a:pPr>
            <a:r>
              <a:rPr lang="en-US" sz="1400" b="0" i="0" noProof="0">
                <a:solidFill>
                  <a:srgbClr val="2C3E50"/>
                </a:solidFill>
                <a:latin typeface="Arial" panose="020B0604020202020204" pitchFamily="34" charset="0"/>
                <a:cs typeface="Arial" panose="020B0604020202020204" pitchFamily="34" charset="0"/>
              </a:rPr>
              <a:t>▸  </a:t>
            </a:r>
            <a:r>
              <a:rPr lang="en-US" sz="1400" b="1" i="0" noProof="0">
                <a:solidFill>
                  <a:srgbClr val="2C3E50"/>
                </a:solidFill>
                <a:latin typeface="Arial" panose="020B0604020202020204" pitchFamily="34" charset="0"/>
                <a:cs typeface="Arial" panose="020B0604020202020204" pitchFamily="34" charset="0"/>
              </a:rPr>
              <a:t>Wave 1 delivers</a:t>
            </a:r>
            <a:r>
              <a:rPr lang="en-US" sz="1400" b="0" i="0" noProof="0">
                <a:solidFill>
                  <a:srgbClr val="2C3E50"/>
                </a:solidFill>
                <a:latin typeface="Arial" panose="020B0604020202020204" pitchFamily="34" charset="0"/>
                <a:cs typeface="Arial" panose="020B0604020202020204" pitchFamily="34" charset="0"/>
              </a:rPr>
              <a:t>: Baseline Report, Demand Map, Portfolio Landscape</a:t>
            </a:r>
            <a:r>
              <a:rPr lang="en-US" sz="1400" noProof="0">
                <a:solidFill>
                  <a:srgbClr val="2C3E50"/>
                </a:solidFill>
                <a:latin typeface="Arial" panose="020B0604020202020204" pitchFamily="34" charset="0"/>
                <a:cs typeface="Arial" panose="020B0604020202020204" pitchFamily="34" charset="0"/>
              </a:rPr>
              <a:t>,</a:t>
            </a:r>
            <a:r>
              <a:rPr lang="en-US" sz="1400" b="0" i="0" noProof="0">
                <a:solidFill>
                  <a:srgbClr val="2C3E50"/>
                </a:solidFill>
                <a:latin typeface="Arial" panose="020B0604020202020204" pitchFamily="34" charset="0"/>
                <a:cs typeface="Arial" panose="020B0604020202020204" pitchFamily="34" charset="0"/>
              </a:rPr>
              <a:t> Lifecycle v1.0, Jira Config v1.0, and a live BRS pilot.</a:t>
            </a:r>
          </a:p>
        </p:txBody>
      </p:sp>
      <p:sp>
        <p:nvSpPr>
          <p:cNvPr id="7" name="Rectangle 38">
            <a:extLst>
              <a:ext uri="{FF2B5EF4-FFF2-40B4-BE49-F238E27FC236}">
                <a16:creationId xmlns:a16="http://schemas.microsoft.com/office/drawing/2014/main" id="{F3BB47A4-9279-4019-C7C1-4705C1C5A95D}"/>
              </a:ext>
            </a:extLst>
          </p:cNvPr>
          <p:cNvSpPr/>
          <p:nvPr/>
        </p:nvSpPr>
        <p:spPr>
          <a:xfrm>
            <a:off x="6090137" y="1821180"/>
            <a:ext cx="45719" cy="4105027"/>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8" name="TextBox 80">
            <a:extLst>
              <a:ext uri="{FF2B5EF4-FFF2-40B4-BE49-F238E27FC236}">
                <a16:creationId xmlns:a16="http://schemas.microsoft.com/office/drawing/2014/main" id="{1FCC6F4D-465B-D118-6149-971DEAF67538}"/>
              </a:ext>
            </a:extLst>
          </p:cNvPr>
          <p:cNvSpPr txBox="1"/>
          <p:nvPr/>
        </p:nvSpPr>
        <p:spPr>
          <a:xfrm>
            <a:off x="6810598" y="1821180"/>
            <a:ext cx="4922678" cy="187424"/>
          </a:xfrm>
          <a:prstGeom prst="rect">
            <a:avLst/>
          </a:prstGeom>
          <a:noFill/>
        </p:spPr>
        <p:txBody>
          <a:bodyPr wrap="square" lIns="0" tIns="0" rIns="0" bIns="0" anchor="t">
            <a:spAutoFit/>
          </a:bodyPr>
          <a:lstStyle/>
          <a:p>
            <a:pPr algn="ctr">
              <a:lnSpc>
                <a:spcPct val="110000"/>
              </a:lnSpc>
              <a:spcBef>
                <a:spcPts val="0"/>
              </a:spcBef>
              <a:spcAft>
                <a:spcPts val="0"/>
              </a:spcAft>
            </a:pPr>
            <a:r>
              <a:rPr lang="en-US" sz="1200" b="1" i="0" noProof="0">
                <a:solidFill>
                  <a:schemeClr val="bg1"/>
                </a:solidFill>
                <a:latin typeface="Arial" panose="020B0604020202020204" pitchFamily="34" charset="0"/>
                <a:cs typeface="Arial" panose="020B0604020202020204" pitchFamily="34" charset="0"/>
              </a:rPr>
              <a:t>OBJECTIVES OF THIS DOCUMENT</a:t>
            </a:r>
          </a:p>
        </p:txBody>
      </p:sp>
      <p:sp>
        <p:nvSpPr>
          <p:cNvPr id="15" name="CuadroTexto 14">
            <a:extLst>
              <a:ext uri="{FF2B5EF4-FFF2-40B4-BE49-F238E27FC236}">
                <a16:creationId xmlns:a16="http://schemas.microsoft.com/office/drawing/2014/main" id="{96CC6BE9-A175-7BF7-A3B3-0F6C2363AD97}"/>
              </a:ext>
            </a:extLst>
          </p:cNvPr>
          <p:cNvSpPr txBox="1"/>
          <p:nvPr/>
        </p:nvSpPr>
        <p:spPr>
          <a:xfrm>
            <a:off x="6954675" y="2357260"/>
            <a:ext cx="4262253" cy="2625014"/>
          </a:xfrm>
          <a:prstGeom prst="rect">
            <a:avLst/>
          </a:prstGeom>
          <a:noFill/>
        </p:spPr>
        <p:txBody>
          <a:bodyPr wrap="square" lIns="0" tIns="0" rIns="0" bIns="0" anchor="t">
            <a:spAutoFit/>
          </a:bodyPr>
          <a:lstStyle>
            <a:defPPr>
              <a:defRPr lang="en-US"/>
            </a:defPPr>
            <a:lvl1pPr>
              <a:lnSpc>
                <a:spcPct val="110000"/>
              </a:lnSpc>
              <a:defRPr sz="1400" b="0" i="0">
                <a:solidFill>
                  <a:srgbClr val="2C3E50"/>
                </a:solidFill>
                <a:latin typeface="Helvetica Neue"/>
              </a:defRPr>
            </a:lvl1pPr>
          </a:lstStyle>
          <a:p>
            <a:r>
              <a:rPr lang="en-US" sz="1200" noProof="0">
                <a:latin typeface="Arial" panose="020B0604020202020204" pitchFamily="34" charset="0"/>
                <a:cs typeface="Arial" panose="020B0604020202020204" pitchFamily="34" charset="0"/>
              </a:rPr>
              <a:t>Provide </a:t>
            </a:r>
            <a:r>
              <a:rPr lang="en-US" sz="1200" b="1" noProof="0">
                <a:latin typeface="Arial" panose="020B0604020202020204" pitchFamily="34" charset="0"/>
                <a:cs typeface="Arial" panose="020B0604020202020204" pitchFamily="34" charset="0"/>
              </a:rPr>
              <a:t>context and establish the foundation </a:t>
            </a:r>
            <a:r>
              <a:rPr lang="en-US" sz="1200" noProof="0">
                <a:latin typeface="Arial" panose="020B0604020202020204" pitchFamily="34" charset="0"/>
                <a:cs typeface="Arial" panose="020B0604020202020204" pitchFamily="34" charset="0"/>
              </a:rPr>
              <a:t>of the project, including a </a:t>
            </a:r>
            <a:r>
              <a:rPr lang="en-US" sz="1200" b="1" noProof="0">
                <a:latin typeface="Arial" panose="020B0604020202020204" pitchFamily="34" charset="0"/>
                <a:cs typeface="Arial" panose="020B0604020202020204" pitchFamily="34" charset="0"/>
              </a:rPr>
              <a:t>structured methodology </a:t>
            </a:r>
            <a:r>
              <a:rPr lang="en-US" sz="1200" noProof="0">
                <a:latin typeface="Arial" panose="020B0604020202020204" pitchFamily="34" charset="0"/>
                <a:cs typeface="Arial" panose="020B0604020202020204" pitchFamily="34" charset="0"/>
              </a:rPr>
              <a:t>to guide </a:t>
            </a:r>
            <a:r>
              <a:rPr lang="en-US" sz="1200" b="1" noProof="0">
                <a:latin typeface="Arial" panose="020B0604020202020204" pitchFamily="34" charset="0"/>
                <a:cs typeface="Arial" panose="020B0604020202020204" pitchFamily="34" charset="0"/>
              </a:rPr>
              <a:t>phases, activities, and deliverables</a:t>
            </a:r>
            <a:endParaRPr lang="en-US" sz="1200" noProof="0">
              <a:latin typeface="Arial" panose="020B0604020202020204" pitchFamily="34" charset="0"/>
              <a:cs typeface="Arial" panose="020B0604020202020204" pitchFamily="34" charset="0"/>
            </a:endParaRPr>
          </a:p>
          <a:p>
            <a:endParaRPr lang="en-US" sz="1200" noProof="0">
              <a:latin typeface="Arial" panose="020B0604020202020204" pitchFamily="34" charset="0"/>
              <a:cs typeface="Arial" panose="020B0604020202020204" pitchFamily="34" charset="0"/>
            </a:endParaRPr>
          </a:p>
          <a:p>
            <a:r>
              <a:rPr lang="en-US" sz="1200" noProof="0">
                <a:latin typeface="Arial" panose="020B0604020202020204" pitchFamily="34" charset="0"/>
                <a:cs typeface="Arial" panose="020B0604020202020204" pitchFamily="34" charset="0"/>
              </a:rPr>
              <a:t>Analyze the </a:t>
            </a:r>
            <a:r>
              <a:rPr lang="en-US" sz="1200" b="1" noProof="0">
                <a:latin typeface="Arial" panose="020B0604020202020204" pitchFamily="34" charset="0"/>
                <a:cs typeface="Arial" panose="020B0604020202020204" pitchFamily="34" charset="0"/>
              </a:rPr>
              <a:t>current state of Digital Products</a:t>
            </a:r>
            <a:r>
              <a:rPr lang="en-US" sz="1200" noProof="0">
                <a:latin typeface="Arial" panose="020B0604020202020204" pitchFamily="34" charset="0"/>
                <a:cs typeface="Arial" panose="020B0604020202020204" pitchFamily="34" charset="0"/>
              </a:rPr>
              <a:t>, covering </a:t>
            </a:r>
            <a:r>
              <a:rPr lang="en-US" sz="1200" b="1" noProof="0">
                <a:latin typeface="Arial" panose="020B0604020202020204" pitchFamily="34" charset="0"/>
                <a:cs typeface="Arial" panose="020B0604020202020204" pitchFamily="34" charset="0"/>
              </a:rPr>
              <a:t>roles and responsibilities, value streams, tools, and governance </a:t>
            </a:r>
          </a:p>
          <a:p>
            <a:endParaRPr lang="en-US" sz="1200" noProof="0">
              <a:latin typeface="Arial" panose="020B0604020202020204" pitchFamily="34" charset="0"/>
              <a:cs typeface="Arial" panose="020B0604020202020204" pitchFamily="34" charset="0"/>
            </a:endParaRPr>
          </a:p>
          <a:p>
            <a:r>
              <a:rPr lang="en-US" sz="1200" noProof="0">
                <a:latin typeface="Arial" panose="020B0604020202020204" pitchFamily="34" charset="0"/>
                <a:cs typeface="Arial" panose="020B0604020202020204" pitchFamily="34" charset="0"/>
              </a:rPr>
              <a:t>Assess the </a:t>
            </a:r>
            <a:r>
              <a:rPr lang="en-US" sz="1200" b="1" noProof="0">
                <a:latin typeface="Arial" panose="020B0604020202020204" pitchFamily="34" charset="0"/>
                <a:cs typeface="Arial" panose="020B0604020202020204" pitchFamily="34" charset="0"/>
              </a:rPr>
              <a:t>project portfolio landscape, </a:t>
            </a:r>
            <a:r>
              <a:rPr lang="en-US" sz="1200" noProof="0">
                <a:latin typeface="Arial" panose="020B0604020202020204" pitchFamily="34" charset="0"/>
                <a:cs typeface="Arial" panose="020B0604020202020204" pitchFamily="34" charset="0"/>
              </a:rPr>
              <a:t>including </a:t>
            </a:r>
            <a:r>
              <a:rPr lang="en-US" sz="1200" b="1" noProof="0">
                <a:latin typeface="Arial" panose="020B0604020202020204" pitchFamily="34" charset="0"/>
                <a:cs typeface="Arial" panose="020B0604020202020204" pitchFamily="34" charset="0"/>
              </a:rPr>
              <a:t>demand, tools, capabilities, and alignment </a:t>
            </a:r>
            <a:r>
              <a:rPr lang="en-US" sz="1200" noProof="0">
                <a:latin typeface="Arial" panose="020B0604020202020204" pitchFamily="34" charset="0"/>
                <a:cs typeface="Arial" panose="020B0604020202020204" pitchFamily="34" charset="0"/>
              </a:rPr>
              <a:t>with strategic priorities </a:t>
            </a:r>
          </a:p>
          <a:p>
            <a:endParaRPr lang="en-US" sz="1200" noProof="0">
              <a:latin typeface="Arial" panose="020B0604020202020204" pitchFamily="34" charset="0"/>
              <a:cs typeface="Arial" panose="020B0604020202020204" pitchFamily="34" charset="0"/>
            </a:endParaRPr>
          </a:p>
          <a:p>
            <a:r>
              <a:rPr lang="en-US" sz="1200" noProof="0">
                <a:latin typeface="Arial" panose="020B0604020202020204" pitchFamily="34" charset="0"/>
                <a:cs typeface="Arial" panose="020B0604020202020204" pitchFamily="34" charset="0"/>
              </a:rPr>
              <a:t>Synthesize </a:t>
            </a:r>
            <a:r>
              <a:rPr lang="en-US" sz="1200" b="1" noProof="0">
                <a:latin typeface="Arial" panose="020B0604020202020204" pitchFamily="34" charset="0"/>
                <a:cs typeface="Arial" panose="020B0604020202020204" pitchFamily="34" charset="0"/>
              </a:rPr>
              <a:t>key insights and define the foundations for the Target Operating Model </a:t>
            </a:r>
            <a:r>
              <a:rPr lang="en-US" sz="1200" noProof="0">
                <a:latin typeface="Arial" panose="020B0604020202020204" pitchFamily="34" charset="0"/>
                <a:cs typeface="Arial" panose="020B0604020202020204" pitchFamily="34" charset="0"/>
              </a:rPr>
              <a:t>that will shape </a:t>
            </a:r>
            <a:r>
              <a:rPr lang="en-US" sz="1200" b="1" noProof="0">
                <a:latin typeface="Arial" panose="020B0604020202020204" pitchFamily="34" charset="0"/>
                <a:cs typeface="Arial" panose="020B0604020202020204" pitchFamily="34" charset="0"/>
              </a:rPr>
              <a:t>future ways of working </a:t>
            </a:r>
          </a:p>
        </p:txBody>
      </p:sp>
    </p:spTree>
    <p:extLst>
      <p:ext uri="{BB962C8B-B14F-4D97-AF65-F5344CB8AC3E}">
        <p14:creationId xmlns:p14="http://schemas.microsoft.com/office/powerpoint/2010/main" val="13702422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530C76-BCA8-3673-712D-19407157B459}"/>
            </a:ext>
          </a:extLst>
        </p:cNvPr>
        <p:cNvGrpSpPr/>
        <p:nvPr/>
      </p:nvGrpSpPr>
      <p:grpSpPr>
        <a:xfrm>
          <a:off x="0" y="0"/>
          <a:ext cx="0" cy="0"/>
          <a:chOff x="0" y="0"/>
          <a:chExt cx="0" cy="0"/>
        </a:xfrm>
      </p:grpSpPr>
      <p:grpSp>
        <p:nvGrpSpPr>
          <p:cNvPr id="30" name="Group 29">
            <a:extLst>
              <a:ext uri="{FF2B5EF4-FFF2-40B4-BE49-F238E27FC236}">
                <a16:creationId xmlns:a16="http://schemas.microsoft.com/office/drawing/2014/main" id="{0DE4CAE1-B3B0-682C-7DEC-A191B751BF13}"/>
              </a:ext>
            </a:extLst>
          </p:cNvPr>
          <p:cNvGrpSpPr/>
          <p:nvPr/>
        </p:nvGrpSpPr>
        <p:grpSpPr>
          <a:xfrm>
            <a:off x="4133725" y="358821"/>
            <a:ext cx="520273" cy="520273"/>
            <a:chOff x="3199239" y="747211"/>
            <a:chExt cx="520273" cy="520273"/>
          </a:xfrm>
        </p:grpSpPr>
        <p:sp>
          <p:nvSpPr>
            <p:cNvPr id="4" name="Freeform 4">
              <a:extLst>
                <a:ext uri="{FF2B5EF4-FFF2-40B4-BE49-F238E27FC236}">
                  <a16:creationId xmlns:a16="http://schemas.microsoft.com/office/drawing/2014/main" id="{48ABF682-6D94-F084-52E8-FC3BB636DE88}"/>
                </a:ext>
              </a:extLst>
            </p:cNvPr>
            <p:cNvSpPr/>
            <p:nvPr/>
          </p:nvSpPr>
          <p:spPr>
            <a:xfrm>
              <a:off x="3199239" y="747211"/>
              <a:ext cx="520273" cy="520273"/>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66675" cap="sq">
              <a:solidFill>
                <a:schemeClr val="accent1"/>
              </a:solidFill>
              <a:prstDash val="solid"/>
              <a:miter/>
            </a:ln>
          </p:spPr>
          <p:txBody>
            <a:bodyPr/>
            <a:lstStyle/>
            <a:p>
              <a:endParaRPr lang="en-US" sz="900" noProof="0">
                <a:solidFill>
                  <a:srgbClr val="000000"/>
                </a:solidFill>
                <a:latin typeface="Arial" panose="020B0604020202020204" pitchFamily="34" charset="0"/>
                <a:cs typeface="Arial" panose="020B0604020202020204" pitchFamily="34" charset="0"/>
              </a:endParaRPr>
            </a:p>
          </p:txBody>
        </p:sp>
        <p:sp>
          <p:nvSpPr>
            <p:cNvPr id="6" name="AutoShape 6">
              <a:extLst>
                <a:ext uri="{FF2B5EF4-FFF2-40B4-BE49-F238E27FC236}">
                  <a16:creationId xmlns:a16="http://schemas.microsoft.com/office/drawing/2014/main" id="{CDFFA258-0151-03C5-D6FF-B215954CF87E}"/>
                </a:ext>
              </a:extLst>
            </p:cNvPr>
            <p:cNvSpPr/>
            <p:nvPr/>
          </p:nvSpPr>
          <p:spPr>
            <a:xfrm>
              <a:off x="3288741" y="1007348"/>
              <a:ext cx="341269" cy="0"/>
            </a:xfrm>
            <a:prstGeom prst="line">
              <a:avLst/>
            </a:prstGeom>
            <a:ln w="73569" cap="flat">
              <a:solidFill>
                <a:schemeClr val="accent1"/>
              </a:solidFill>
              <a:prstDash val="solid"/>
              <a:headEnd type="none" w="sm" len="sm"/>
              <a:tailEnd type="arrow" w="med" len="sm"/>
            </a:ln>
          </p:spPr>
          <p:txBody>
            <a:bodyPr/>
            <a:lstStyle/>
            <a:p>
              <a:endParaRPr lang="en-US" sz="900" noProof="0">
                <a:solidFill>
                  <a:srgbClr val="000000"/>
                </a:solidFill>
                <a:latin typeface="Arial" panose="020B0604020202020204" pitchFamily="34" charset="0"/>
                <a:cs typeface="Arial" panose="020B0604020202020204" pitchFamily="34" charset="0"/>
              </a:endParaRPr>
            </a:p>
          </p:txBody>
        </p:sp>
      </p:grpSp>
      <p:sp>
        <p:nvSpPr>
          <p:cNvPr id="10" name="TextBox 10">
            <a:extLst>
              <a:ext uri="{FF2B5EF4-FFF2-40B4-BE49-F238E27FC236}">
                <a16:creationId xmlns:a16="http://schemas.microsoft.com/office/drawing/2014/main" id="{2F417B05-7006-8258-8756-149CEB3843EE}"/>
              </a:ext>
            </a:extLst>
          </p:cNvPr>
          <p:cNvSpPr txBox="1"/>
          <p:nvPr/>
        </p:nvSpPr>
        <p:spPr>
          <a:xfrm>
            <a:off x="1077073" y="1141030"/>
            <a:ext cx="462060" cy="512448"/>
          </a:xfrm>
          <a:prstGeom prst="rect">
            <a:avLst/>
          </a:prstGeom>
        </p:spPr>
        <p:txBody>
          <a:bodyPr wrap="square" lIns="0" tIns="0" rIns="0" bIns="0" rtlCol="0" anchor="t">
            <a:spAutoFit/>
          </a:bodyPr>
          <a:lstStyle/>
          <a:p>
            <a:pPr>
              <a:lnSpc>
                <a:spcPts val="4608"/>
              </a:lnSpc>
            </a:pPr>
            <a:r>
              <a:rPr lang="en-US" sz="2400" b="1" noProof="0">
                <a:solidFill>
                  <a:schemeClr val="accent1"/>
                </a:solidFill>
                <a:latin typeface="Arial" panose="020B0604020202020204" pitchFamily="34" charset="0"/>
                <a:ea typeface="Gordita Bold"/>
                <a:cs typeface="Arial" panose="020B0604020202020204" pitchFamily="34" charset="0"/>
                <a:sym typeface="Gordita Bold"/>
              </a:rPr>
              <a:t>01</a:t>
            </a:r>
          </a:p>
        </p:txBody>
      </p:sp>
      <p:sp>
        <p:nvSpPr>
          <p:cNvPr id="14" name="TextBox 14">
            <a:extLst>
              <a:ext uri="{FF2B5EF4-FFF2-40B4-BE49-F238E27FC236}">
                <a16:creationId xmlns:a16="http://schemas.microsoft.com/office/drawing/2014/main" id="{73863929-6DE1-DFB9-F7DA-51C6A96AD828}"/>
              </a:ext>
            </a:extLst>
          </p:cNvPr>
          <p:cNvSpPr txBox="1"/>
          <p:nvPr/>
        </p:nvSpPr>
        <p:spPr>
          <a:xfrm>
            <a:off x="1063128" y="2827839"/>
            <a:ext cx="537158"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03</a:t>
            </a:r>
          </a:p>
        </p:txBody>
      </p:sp>
      <p:grpSp>
        <p:nvGrpSpPr>
          <p:cNvPr id="23" name="Grupo 22">
            <a:extLst>
              <a:ext uri="{FF2B5EF4-FFF2-40B4-BE49-F238E27FC236}">
                <a16:creationId xmlns:a16="http://schemas.microsoft.com/office/drawing/2014/main" id="{285D1B1D-3DA2-8F31-2763-7D482041B952}"/>
              </a:ext>
            </a:extLst>
          </p:cNvPr>
          <p:cNvGrpSpPr/>
          <p:nvPr/>
        </p:nvGrpSpPr>
        <p:grpSpPr>
          <a:xfrm>
            <a:off x="1854199" y="2802178"/>
            <a:ext cx="9571333" cy="824754"/>
            <a:chOff x="1816102" y="2594699"/>
            <a:chExt cx="9571333" cy="824754"/>
          </a:xfrm>
        </p:grpSpPr>
        <p:sp>
          <p:nvSpPr>
            <p:cNvPr id="15" name="TextBox 15">
              <a:extLst>
                <a:ext uri="{FF2B5EF4-FFF2-40B4-BE49-F238E27FC236}">
                  <a16:creationId xmlns:a16="http://schemas.microsoft.com/office/drawing/2014/main" id="{E91F26D4-446E-A575-E535-DAFBBFFA12BC}"/>
                </a:ext>
              </a:extLst>
            </p:cNvPr>
            <p:cNvSpPr txBox="1"/>
            <p:nvPr/>
          </p:nvSpPr>
          <p:spPr>
            <a:xfrm>
              <a:off x="1816102" y="2594699"/>
              <a:ext cx="9571333"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Methodology</a:t>
              </a:r>
            </a:p>
          </p:txBody>
        </p:sp>
        <p:sp>
          <p:nvSpPr>
            <p:cNvPr id="16" name="TextBox 16">
              <a:extLst>
                <a:ext uri="{FF2B5EF4-FFF2-40B4-BE49-F238E27FC236}">
                  <a16:creationId xmlns:a16="http://schemas.microsoft.com/office/drawing/2014/main" id="{22CB40DF-EFA4-D3E3-6463-15214DC64971}"/>
                </a:ext>
              </a:extLst>
            </p:cNvPr>
            <p:cNvSpPr txBox="1"/>
            <p:nvPr/>
          </p:nvSpPr>
          <p:spPr>
            <a:xfrm>
              <a:off x="1816102" y="2983372"/>
              <a:ext cx="7868967" cy="436081"/>
            </a:xfrm>
            <a:prstGeom prst="rect">
              <a:avLst/>
            </a:prstGeom>
          </p:spPr>
          <p:txBody>
            <a:bodyPr wrap="square" lIns="0" tIns="0" rIns="0" bIns="0" rtlCol="0" anchor="t">
              <a:spAutoFit/>
            </a:bodyPr>
            <a:lstStyle/>
            <a:p>
              <a:pPr>
                <a:lnSpc>
                  <a:spcPts val="1820"/>
                </a:lnSpc>
              </a:pPr>
              <a:r>
                <a:rPr lang="en-US" sz="1200" noProof="0">
                  <a:solidFill>
                    <a:srgbClr val="000000"/>
                  </a:solidFill>
                  <a:latin typeface="Arial" panose="020B0604020202020204" pitchFamily="34" charset="0"/>
                  <a:ea typeface="Gordita"/>
                  <a:cs typeface="Arial" panose="020B0604020202020204" pitchFamily="34" charset="0"/>
                  <a:sym typeface="Gordita"/>
                </a:rPr>
                <a:t>A structured approach that defines the phases, activities, and deliverables required to consistently and efficiently achieve project objectives</a:t>
              </a:r>
            </a:p>
          </p:txBody>
        </p:sp>
      </p:grpSp>
      <p:sp>
        <p:nvSpPr>
          <p:cNvPr id="20" name="TextBox 20">
            <a:extLst>
              <a:ext uri="{FF2B5EF4-FFF2-40B4-BE49-F238E27FC236}">
                <a16:creationId xmlns:a16="http://schemas.microsoft.com/office/drawing/2014/main" id="{68CFAC99-4EBF-7847-06EE-3E37E3CC3180}"/>
              </a:ext>
            </a:extLst>
          </p:cNvPr>
          <p:cNvSpPr txBox="1"/>
          <p:nvPr/>
        </p:nvSpPr>
        <p:spPr>
          <a:xfrm>
            <a:off x="1854197" y="4994789"/>
            <a:ext cx="7482132" cy="205249"/>
          </a:xfrm>
          <a:prstGeom prst="rect">
            <a:avLst/>
          </a:prstGeom>
        </p:spPr>
        <p:txBody>
          <a:bodyPr wrap="square" lIns="0" tIns="0" rIns="0" bIns="0" rtlCol="0" anchor="t">
            <a:spAutoFit/>
          </a:bodyPr>
          <a:lstStyle/>
          <a:p>
            <a:pPr>
              <a:lnSpc>
                <a:spcPts val="1820"/>
              </a:lnSpc>
            </a:pPr>
            <a:endParaRPr lang="en-US" sz="1100" noProof="0">
              <a:solidFill>
                <a:srgbClr val="000000"/>
              </a:solidFill>
              <a:latin typeface="Arial" panose="020B0604020202020204" pitchFamily="34" charset="0"/>
              <a:ea typeface="Gordita"/>
              <a:cs typeface="Arial" panose="020B0604020202020204" pitchFamily="34" charset="0"/>
              <a:sym typeface="Gordita"/>
            </a:endParaRPr>
          </a:p>
        </p:txBody>
      </p:sp>
      <p:sp>
        <p:nvSpPr>
          <p:cNvPr id="22" name="TextBox 22">
            <a:extLst>
              <a:ext uri="{FF2B5EF4-FFF2-40B4-BE49-F238E27FC236}">
                <a16:creationId xmlns:a16="http://schemas.microsoft.com/office/drawing/2014/main" id="{C74964A7-1C1D-B3C8-4F81-6F2C92FF3764}"/>
              </a:ext>
            </a:extLst>
          </p:cNvPr>
          <p:cNvSpPr txBox="1"/>
          <p:nvPr/>
        </p:nvSpPr>
        <p:spPr>
          <a:xfrm>
            <a:off x="1063128" y="4600799"/>
            <a:ext cx="487952"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05</a:t>
            </a:r>
          </a:p>
        </p:txBody>
      </p:sp>
      <p:grpSp>
        <p:nvGrpSpPr>
          <p:cNvPr id="26" name="Grupo 25">
            <a:extLst>
              <a:ext uri="{FF2B5EF4-FFF2-40B4-BE49-F238E27FC236}">
                <a16:creationId xmlns:a16="http://schemas.microsoft.com/office/drawing/2014/main" id="{122474EF-3A59-DAE6-EA50-8BF8F6E57184}"/>
              </a:ext>
            </a:extLst>
          </p:cNvPr>
          <p:cNvGrpSpPr/>
          <p:nvPr/>
        </p:nvGrpSpPr>
        <p:grpSpPr>
          <a:xfrm>
            <a:off x="1847402" y="3676508"/>
            <a:ext cx="9571333" cy="596872"/>
            <a:chOff x="1809305" y="3510392"/>
            <a:chExt cx="9571333" cy="596872"/>
          </a:xfrm>
        </p:grpSpPr>
        <p:sp>
          <p:nvSpPr>
            <p:cNvPr id="13" name="TextBox 15">
              <a:extLst>
                <a:ext uri="{FF2B5EF4-FFF2-40B4-BE49-F238E27FC236}">
                  <a16:creationId xmlns:a16="http://schemas.microsoft.com/office/drawing/2014/main" id="{DBEF8F8D-E8D8-5F43-7292-DACFA5F64FB6}"/>
                </a:ext>
              </a:extLst>
            </p:cNvPr>
            <p:cNvSpPr txBox="1"/>
            <p:nvPr/>
          </p:nvSpPr>
          <p:spPr>
            <a:xfrm>
              <a:off x="1809305" y="3510392"/>
              <a:ext cx="9571333"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Current State Analysis</a:t>
              </a:r>
            </a:p>
          </p:txBody>
        </p:sp>
        <p:sp>
          <p:nvSpPr>
            <p:cNvPr id="17" name="TextBox 16">
              <a:extLst>
                <a:ext uri="{FF2B5EF4-FFF2-40B4-BE49-F238E27FC236}">
                  <a16:creationId xmlns:a16="http://schemas.microsoft.com/office/drawing/2014/main" id="{49582787-E174-01E1-674C-125CF9131E0D}"/>
                </a:ext>
              </a:extLst>
            </p:cNvPr>
            <p:cNvSpPr txBox="1"/>
            <p:nvPr/>
          </p:nvSpPr>
          <p:spPr>
            <a:xfrm>
              <a:off x="1809305" y="3899065"/>
              <a:ext cx="7868967" cy="208199"/>
            </a:xfrm>
            <a:prstGeom prst="rect">
              <a:avLst/>
            </a:prstGeom>
          </p:spPr>
          <p:txBody>
            <a:bodyPr wrap="square" lIns="0" tIns="0" rIns="0" bIns="0" rtlCol="0" anchor="t">
              <a:spAutoFit/>
            </a:bodyPr>
            <a:lstStyle>
              <a:defPPr>
                <a:defRPr lang="en-US"/>
              </a:defPPr>
              <a:lvl1pPr>
                <a:lnSpc>
                  <a:spcPts val="1820"/>
                </a:lnSpc>
                <a:defRPr sz="1400">
                  <a:solidFill>
                    <a:srgbClr val="000000"/>
                  </a:solidFill>
                  <a:ea typeface="Gordita"/>
                  <a:cs typeface="Gordita"/>
                </a:defRPr>
              </a:lvl1pPr>
            </a:lstStyle>
            <a:p>
              <a:r>
                <a:rPr lang="en-US" sz="1200" noProof="0">
                  <a:latin typeface="Arial" panose="020B0604020202020204" pitchFamily="34" charset="0"/>
                  <a:cs typeface="Arial" panose="020B0604020202020204" pitchFamily="34" charset="0"/>
                </a:rPr>
                <a:t>Includes explanations for Roles and Responsibilities, Value stream Mapping, tools  and Governance Mapping</a:t>
              </a:r>
              <a:endParaRPr lang="en-US" sz="1200" noProof="0">
                <a:latin typeface="Arial" panose="020B0604020202020204" pitchFamily="34" charset="0"/>
                <a:cs typeface="Arial" panose="020B0604020202020204" pitchFamily="34" charset="0"/>
                <a:sym typeface="Gordita"/>
              </a:endParaRPr>
            </a:p>
          </p:txBody>
        </p:sp>
      </p:grpSp>
      <p:sp>
        <p:nvSpPr>
          <p:cNvPr id="12" name="TextBox 22">
            <a:extLst>
              <a:ext uri="{FF2B5EF4-FFF2-40B4-BE49-F238E27FC236}">
                <a16:creationId xmlns:a16="http://schemas.microsoft.com/office/drawing/2014/main" id="{0544091C-4AF7-0AAE-0C87-7BD2F67F27A5}"/>
              </a:ext>
            </a:extLst>
          </p:cNvPr>
          <p:cNvSpPr txBox="1"/>
          <p:nvPr/>
        </p:nvSpPr>
        <p:spPr>
          <a:xfrm>
            <a:off x="1063128" y="5501791"/>
            <a:ext cx="487952"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06</a:t>
            </a:r>
          </a:p>
        </p:txBody>
      </p:sp>
      <p:grpSp>
        <p:nvGrpSpPr>
          <p:cNvPr id="21" name="Grupo 20">
            <a:extLst>
              <a:ext uri="{FF2B5EF4-FFF2-40B4-BE49-F238E27FC236}">
                <a16:creationId xmlns:a16="http://schemas.microsoft.com/office/drawing/2014/main" id="{EB7024E9-36B4-A8D3-B7BD-A5A6C42E0CB9}"/>
              </a:ext>
            </a:extLst>
          </p:cNvPr>
          <p:cNvGrpSpPr/>
          <p:nvPr/>
        </p:nvGrpSpPr>
        <p:grpSpPr>
          <a:xfrm>
            <a:off x="1861346" y="1170058"/>
            <a:ext cx="9578128" cy="554333"/>
            <a:chOff x="1809304" y="1852249"/>
            <a:chExt cx="9578128" cy="554333"/>
          </a:xfrm>
        </p:grpSpPr>
        <p:sp>
          <p:nvSpPr>
            <p:cNvPr id="11" name="TextBox 11">
              <a:extLst>
                <a:ext uri="{FF2B5EF4-FFF2-40B4-BE49-F238E27FC236}">
                  <a16:creationId xmlns:a16="http://schemas.microsoft.com/office/drawing/2014/main" id="{C72C7B1E-58BE-4F3F-C78F-E2CE8C034664}"/>
                </a:ext>
              </a:extLst>
            </p:cNvPr>
            <p:cNvSpPr txBox="1"/>
            <p:nvPr/>
          </p:nvSpPr>
          <p:spPr>
            <a:xfrm>
              <a:off x="1816100" y="1852249"/>
              <a:ext cx="9571332"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cs typeface="Arial" panose="020B0604020202020204" pitchFamily="34" charset="0"/>
                </a:rPr>
                <a:t>Context</a:t>
              </a:r>
              <a:endParaRPr lang="en-US" sz="2000" noProof="0">
                <a:solidFill>
                  <a:srgbClr val="000000"/>
                </a:solidFill>
                <a:latin typeface="Arial" panose="020B0604020202020204" pitchFamily="34" charset="0"/>
                <a:ea typeface="Gordita"/>
                <a:cs typeface="Arial" panose="020B0604020202020204" pitchFamily="34" charset="0"/>
                <a:sym typeface="Gordita"/>
              </a:endParaRPr>
            </a:p>
          </p:txBody>
        </p:sp>
        <p:sp>
          <p:nvSpPr>
            <p:cNvPr id="24" name="TextBox 16">
              <a:extLst>
                <a:ext uri="{FF2B5EF4-FFF2-40B4-BE49-F238E27FC236}">
                  <a16:creationId xmlns:a16="http://schemas.microsoft.com/office/drawing/2014/main" id="{96D0E3B5-625F-947C-2421-F0DF09A7B183}"/>
                </a:ext>
              </a:extLst>
            </p:cNvPr>
            <p:cNvSpPr txBox="1"/>
            <p:nvPr/>
          </p:nvSpPr>
          <p:spPr>
            <a:xfrm>
              <a:off x="1809304" y="2198383"/>
              <a:ext cx="7868967" cy="208199"/>
            </a:xfrm>
            <a:prstGeom prst="rect">
              <a:avLst/>
            </a:prstGeom>
          </p:spPr>
          <p:txBody>
            <a:bodyPr wrap="square" lIns="0" tIns="0" rIns="0" bIns="0" rtlCol="0" anchor="t">
              <a:spAutoFit/>
            </a:bodyPr>
            <a:lstStyle/>
            <a:p>
              <a:pPr>
                <a:lnSpc>
                  <a:spcPts val="1820"/>
                </a:lnSpc>
              </a:pPr>
              <a:r>
                <a:rPr lang="en-US" sz="1200" noProof="0">
                  <a:solidFill>
                    <a:srgbClr val="000000"/>
                  </a:solidFill>
                  <a:latin typeface="Arial" panose="020B0604020202020204" pitchFamily="34" charset="0"/>
                  <a:cs typeface="Arial" panose="020B0604020202020204" pitchFamily="34" charset="0"/>
                </a:rPr>
                <a:t>Document summary</a:t>
              </a:r>
              <a:endParaRPr lang="en-US" sz="1200" noProof="0">
                <a:solidFill>
                  <a:srgbClr val="000000"/>
                </a:solidFill>
                <a:latin typeface="Arial" panose="020B0604020202020204" pitchFamily="34" charset="0"/>
                <a:ea typeface="Gordita"/>
                <a:cs typeface="Arial" panose="020B0604020202020204" pitchFamily="34" charset="0"/>
                <a:sym typeface="Gordita"/>
              </a:endParaRPr>
            </a:p>
          </p:txBody>
        </p:sp>
      </p:grpSp>
      <p:grpSp>
        <p:nvGrpSpPr>
          <p:cNvPr id="31" name="Grupo 30">
            <a:extLst>
              <a:ext uri="{FF2B5EF4-FFF2-40B4-BE49-F238E27FC236}">
                <a16:creationId xmlns:a16="http://schemas.microsoft.com/office/drawing/2014/main" id="{5DA65C2C-DD47-A00A-6517-F93ED8133A70}"/>
              </a:ext>
            </a:extLst>
          </p:cNvPr>
          <p:cNvGrpSpPr/>
          <p:nvPr/>
        </p:nvGrpSpPr>
        <p:grpSpPr>
          <a:xfrm>
            <a:off x="1847401" y="4582202"/>
            <a:ext cx="9571332" cy="602794"/>
            <a:chOff x="1809305" y="5419675"/>
            <a:chExt cx="9571332" cy="602794"/>
          </a:xfrm>
        </p:grpSpPr>
        <p:sp>
          <p:nvSpPr>
            <p:cNvPr id="9" name="TextBox 19">
              <a:extLst>
                <a:ext uri="{FF2B5EF4-FFF2-40B4-BE49-F238E27FC236}">
                  <a16:creationId xmlns:a16="http://schemas.microsoft.com/office/drawing/2014/main" id="{463F0236-545B-DA51-4974-28DF39BF617F}"/>
                </a:ext>
              </a:extLst>
            </p:cNvPr>
            <p:cNvSpPr txBox="1"/>
            <p:nvPr/>
          </p:nvSpPr>
          <p:spPr>
            <a:xfrm>
              <a:off x="1809305" y="5419675"/>
              <a:ext cx="9571332"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Project Portfolio Landscape</a:t>
              </a:r>
            </a:p>
          </p:txBody>
        </p:sp>
        <p:sp>
          <p:nvSpPr>
            <p:cNvPr id="27" name="TextBox 16">
              <a:extLst>
                <a:ext uri="{FF2B5EF4-FFF2-40B4-BE49-F238E27FC236}">
                  <a16:creationId xmlns:a16="http://schemas.microsoft.com/office/drawing/2014/main" id="{6D94AC92-63FC-DC83-D575-2451FDEB9726}"/>
                </a:ext>
              </a:extLst>
            </p:cNvPr>
            <p:cNvSpPr txBox="1"/>
            <p:nvPr/>
          </p:nvSpPr>
          <p:spPr>
            <a:xfrm>
              <a:off x="1809305" y="5814270"/>
              <a:ext cx="7868967" cy="208199"/>
            </a:xfrm>
            <a:prstGeom prst="rect">
              <a:avLst/>
            </a:prstGeom>
          </p:spPr>
          <p:txBody>
            <a:bodyPr wrap="square" lIns="0" tIns="0" rIns="0" bIns="0" rtlCol="0" anchor="t">
              <a:spAutoFit/>
            </a:bodyPr>
            <a:lstStyle/>
            <a:p>
              <a:pPr>
                <a:lnSpc>
                  <a:spcPts val="1820"/>
                </a:lnSpc>
              </a:pPr>
              <a:r>
                <a:rPr lang="en-US" sz="1200" noProof="0">
                  <a:solidFill>
                    <a:srgbClr val="000000"/>
                  </a:solidFill>
                  <a:latin typeface="Arial" panose="020B0604020202020204" pitchFamily="34" charset="0"/>
                  <a:ea typeface="Gordita"/>
                  <a:cs typeface="Arial" panose="020B0604020202020204" pitchFamily="34" charset="0"/>
                  <a:sym typeface="Gordita"/>
                </a:rPr>
                <a:t>An overview of the Digital Products’ current demand and tool portfolio</a:t>
              </a:r>
            </a:p>
          </p:txBody>
        </p:sp>
      </p:grpSp>
      <p:grpSp>
        <p:nvGrpSpPr>
          <p:cNvPr id="33" name="Grupo 30">
            <a:extLst>
              <a:ext uri="{FF2B5EF4-FFF2-40B4-BE49-F238E27FC236}">
                <a16:creationId xmlns:a16="http://schemas.microsoft.com/office/drawing/2014/main" id="{6E2A9363-D128-2A3F-9140-D61D181AED0F}"/>
              </a:ext>
            </a:extLst>
          </p:cNvPr>
          <p:cNvGrpSpPr/>
          <p:nvPr/>
        </p:nvGrpSpPr>
        <p:grpSpPr>
          <a:xfrm>
            <a:off x="1847401" y="5519041"/>
            <a:ext cx="9571332" cy="602794"/>
            <a:chOff x="1809305" y="5419675"/>
            <a:chExt cx="9571332" cy="602794"/>
          </a:xfrm>
        </p:grpSpPr>
        <p:sp>
          <p:nvSpPr>
            <p:cNvPr id="34" name="TextBox 19">
              <a:extLst>
                <a:ext uri="{FF2B5EF4-FFF2-40B4-BE49-F238E27FC236}">
                  <a16:creationId xmlns:a16="http://schemas.microsoft.com/office/drawing/2014/main" id="{A200E0DA-AECD-94EE-310B-2473C5699056}"/>
                </a:ext>
              </a:extLst>
            </p:cNvPr>
            <p:cNvSpPr txBox="1"/>
            <p:nvPr/>
          </p:nvSpPr>
          <p:spPr>
            <a:xfrm>
              <a:off x="1809305" y="5419675"/>
              <a:ext cx="9571332"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Insights &amp; Key Definitions for To-Be Model</a:t>
              </a:r>
            </a:p>
          </p:txBody>
        </p:sp>
        <p:sp>
          <p:nvSpPr>
            <p:cNvPr id="35" name="TextBox 16">
              <a:extLst>
                <a:ext uri="{FF2B5EF4-FFF2-40B4-BE49-F238E27FC236}">
                  <a16:creationId xmlns:a16="http://schemas.microsoft.com/office/drawing/2014/main" id="{BEE80BD9-E96D-9090-7B12-5CA00E345125}"/>
                </a:ext>
              </a:extLst>
            </p:cNvPr>
            <p:cNvSpPr txBox="1"/>
            <p:nvPr/>
          </p:nvSpPr>
          <p:spPr>
            <a:xfrm>
              <a:off x="1809305" y="5814270"/>
              <a:ext cx="7868967" cy="208199"/>
            </a:xfrm>
            <a:prstGeom prst="rect">
              <a:avLst/>
            </a:prstGeom>
          </p:spPr>
          <p:txBody>
            <a:bodyPr wrap="square" lIns="0" tIns="0" rIns="0" bIns="0" rtlCol="0" anchor="t">
              <a:spAutoFit/>
            </a:bodyPr>
            <a:lstStyle>
              <a:defPPr>
                <a:defRPr lang="en-US"/>
              </a:defPPr>
              <a:lvl1pPr>
                <a:lnSpc>
                  <a:spcPts val="1820"/>
                </a:lnSpc>
                <a:defRPr sz="1400">
                  <a:solidFill>
                    <a:srgbClr val="000000"/>
                  </a:solidFill>
                  <a:ea typeface="Gordita"/>
                  <a:cs typeface="Gordita"/>
                </a:defRPr>
              </a:lvl1pPr>
            </a:lstStyle>
            <a:p>
              <a:r>
                <a:rPr lang="en-US" sz="1200" noProof="0">
                  <a:latin typeface="Arial" panose="020B0604020202020204" pitchFamily="34" charset="0"/>
                  <a:cs typeface="Arial" panose="020B0604020202020204" pitchFamily="34" charset="0"/>
                </a:rPr>
                <a:t>A synthesis of key insights and foundational definitions shaping the design of the target operating model​</a:t>
              </a:r>
              <a:endParaRPr lang="en-US" sz="1200" noProof="0">
                <a:latin typeface="Arial" panose="020B0604020202020204" pitchFamily="34" charset="0"/>
                <a:cs typeface="Arial" panose="020B0604020202020204" pitchFamily="34" charset="0"/>
                <a:sym typeface="Gordita"/>
              </a:endParaRPr>
            </a:p>
          </p:txBody>
        </p:sp>
      </p:grpSp>
      <p:sp>
        <p:nvSpPr>
          <p:cNvPr id="2" name="TextBox 14">
            <a:extLst>
              <a:ext uri="{FF2B5EF4-FFF2-40B4-BE49-F238E27FC236}">
                <a16:creationId xmlns:a16="http://schemas.microsoft.com/office/drawing/2014/main" id="{1D93D7BE-A086-C164-4AC8-FF5B207E9EC1}"/>
              </a:ext>
            </a:extLst>
          </p:cNvPr>
          <p:cNvSpPr txBox="1"/>
          <p:nvPr/>
        </p:nvSpPr>
        <p:spPr>
          <a:xfrm>
            <a:off x="1070275" y="2006772"/>
            <a:ext cx="537158"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02</a:t>
            </a:r>
          </a:p>
        </p:txBody>
      </p:sp>
      <p:grpSp>
        <p:nvGrpSpPr>
          <p:cNvPr id="3" name="Grupo 2">
            <a:extLst>
              <a:ext uri="{FF2B5EF4-FFF2-40B4-BE49-F238E27FC236}">
                <a16:creationId xmlns:a16="http://schemas.microsoft.com/office/drawing/2014/main" id="{4114E697-8FBA-798C-8712-82C65100AE90}"/>
              </a:ext>
            </a:extLst>
          </p:cNvPr>
          <p:cNvGrpSpPr/>
          <p:nvPr/>
        </p:nvGrpSpPr>
        <p:grpSpPr>
          <a:xfrm>
            <a:off x="1861346" y="1981111"/>
            <a:ext cx="9571333" cy="596872"/>
            <a:chOff x="1816102" y="2594699"/>
            <a:chExt cx="9571333" cy="596872"/>
          </a:xfrm>
        </p:grpSpPr>
        <p:sp>
          <p:nvSpPr>
            <p:cNvPr id="5" name="TextBox 15">
              <a:extLst>
                <a:ext uri="{FF2B5EF4-FFF2-40B4-BE49-F238E27FC236}">
                  <a16:creationId xmlns:a16="http://schemas.microsoft.com/office/drawing/2014/main" id="{92C62EBD-BCB6-BA91-4F25-A818A4FCD3BF}"/>
                </a:ext>
              </a:extLst>
            </p:cNvPr>
            <p:cNvSpPr txBox="1"/>
            <p:nvPr/>
          </p:nvSpPr>
          <p:spPr>
            <a:xfrm>
              <a:off x="1816102" y="2594699"/>
              <a:ext cx="9571333"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Executive Summary</a:t>
              </a:r>
            </a:p>
          </p:txBody>
        </p:sp>
        <p:sp>
          <p:nvSpPr>
            <p:cNvPr id="7" name="TextBox 16">
              <a:extLst>
                <a:ext uri="{FF2B5EF4-FFF2-40B4-BE49-F238E27FC236}">
                  <a16:creationId xmlns:a16="http://schemas.microsoft.com/office/drawing/2014/main" id="{D966C437-C578-4EC2-FBBF-49A00821C371}"/>
                </a:ext>
              </a:extLst>
            </p:cNvPr>
            <p:cNvSpPr txBox="1"/>
            <p:nvPr/>
          </p:nvSpPr>
          <p:spPr>
            <a:xfrm>
              <a:off x="1816102" y="2983372"/>
              <a:ext cx="7868967" cy="208199"/>
            </a:xfrm>
            <a:prstGeom prst="rect">
              <a:avLst/>
            </a:prstGeom>
          </p:spPr>
          <p:txBody>
            <a:bodyPr wrap="square" lIns="0" tIns="0" rIns="0" bIns="0" rtlCol="0" anchor="t">
              <a:spAutoFit/>
            </a:bodyPr>
            <a:lstStyle>
              <a:defPPr>
                <a:defRPr lang="en-US"/>
              </a:defPPr>
              <a:lvl1pPr>
                <a:lnSpc>
                  <a:spcPts val="1820"/>
                </a:lnSpc>
                <a:defRPr sz="1400">
                  <a:solidFill>
                    <a:srgbClr val="000000"/>
                  </a:solidFill>
                  <a:latin typeface="+mj-lt"/>
                  <a:ea typeface="Gordita"/>
                  <a:cs typeface="Gordita"/>
                </a:defRPr>
              </a:lvl1pPr>
            </a:lstStyle>
            <a:p>
              <a:r>
                <a:rPr lang="en-US" sz="1200" noProof="0">
                  <a:latin typeface="Arial" panose="020B0604020202020204" pitchFamily="34" charset="0"/>
                  <a:cs typeface="Arial" panose="020B0604020202020204" pitchFamily="34" charset="0"/>
                </a:rPr>
                <a:t>Why we are here. Executive findings &amp; implications. Methodology (Wave 1 Step 1 sources).</a:t>
              </a:r>
              <a:endParaRPr lang="en-US" sz="1200" noProof="0">
                <a:latin typeface="Arial" panose="020B0604020202020204" pitchFamily="34" charset="0"/>
                <a:cs typeface="Arial" panose="020B0604020202020204" pitchFamily="34" charset="0"/>
                <a:sym typeface="Gordita"/>
              </a:endParaRPr>
            </a:p>
          </p:txBody>
        </p:sp>
      </p:grpSp>
      <p:sp>
        <p:nvSpPr>
          <p:cNvPr id="19" name="TextBox 10">
            <a:extLst>
              <a:ext uri="{FF2B5EF4-FFF2-40B4-BE49-F238E27FC236}">
                <a16:creationId xmlns:a16="http://schemas.microsoft.com/office/drawing/2014/main" id="{376836C2-34D4-B75C-3483-6A71AAC2151A}"/>
              </a:ext>
            </a:extLst>
          </p:cNvPr>
          <p:cNvSpPr txBox="1"/>
          <p:nvPr/>
        </p:nvSpPr>
        <p:spPr>
          <a:xfrm>
            <a:off x="1063127" y="277976"/>
            <a:ext cx="3495835" cy="524182"/>
          </a:xfrm>
          <a:prstGeom prst="rect">
            <a:avLst/>
          </a:prstGeom>
        </p:spPr>
        <p:txBody>
          <a:bodyPr wrap="square" lIns="0" tIns="0" rIns="0" bIns="0" rtlCol="0" anchor="t">
            <a:spAutoFit/>
          </a:bodyPr>
          <a:lstStyle/>
          <a:p>
            <a:pPr>
              <a:lnSpc>
                <a:spcPts val="4608"/>
              </a:lnSpc>
            </a:pPr>
            <a:r>
              <a:rPr lang="en-US" sz="2800" b="1" noProof="0">
                <a:solidFill>
                  <a:schemeClr val="accent1"/>
                </a:solidFill>
                <a:latin typeface="Arial" panose="020B0604020202020204" pitchFamily="34" charset="0"/>
                <a:ea typeface="Gordita Bold"/>
                <a:cs typeface="Arial" panose="020B0604020202020204" pitchFamily="34" charset="0"/>
                <a:sym typeface="Gordita Bold"/>
              </a:rPr>
              <a:t>Table of contents</a:t>
            </a:r>
          </a:p>
        </p:txBody>
      </p:sp>
      <p:sp>
        <p:nvSpPr>
          <p:cNvPr id="8" name="TextBox 18">
            <a:extLst>
              <a:ext uri="{FF2B5EF4-FFF2-40B4-BE49-F238E27FC236}">
                <a16:creationId xmlns:a16="http://schemas.microsoft.com/office/drawing/2014/main" id="{B2BCE250-372B-7D1F-D5C8-61C35E862261}"/>
              </a:ext>
            </a:extLst>
          </p:cNvPr>
          <p:cNvSpPr txBox="1"/>
          <p:nvPr/>
        </p:nvSpPr>
        <p:spPr>
          <a:xfrm>
            <a:off x="1063128" y="3699805"/>
            <a:ext cx="525169"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04</a:t>
            </a:r>
          </a:p>
        </p:txBody>
      </p:sp>
    </p:spTree>
    <p:extLst>
      <p:ext uri="{BB962C8B-B14F-4D97-AF65-F5344CB8AC3E}">
        <p14:creationId xmlns:p14="http://schemas.microsoft.com/office/powerpoint/2010/main" val="15110769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5D6A8-857C-44CF-D659-B8528DF427B1}"/>
            </a:ext>
          </a:extLst>
        </p:cNvPr>
        <p:cNvGrpSpPr/>
        <p:nvPr/>
      </p:nvGrpSpPr>
      <p:grpSpPr>
        <a:xfrm>
          <a:off x="0" y="0"/>
          <a:ext cx="0" cy="0"/>
          <a:chOff x="0" y="0"/>
          <a:chExt cx="0" cy="0"/>
        </a:xfrm>
      </p:grpSpPr>
      <p:grpSp>
        <p:nvGrpSpPr>
          <p:cNvPr id="30" name="Group 29">
            <a:extLst>
              <a:ext uri="{FF2B5EF4-FFF2-40B4-BE49-F238E27FC236}">
                <a16:creationId xmlns:a16="http://schemas.microsoft.com/office/drawing/2014/main" id="{EFB1443A-21A4-0ED2-82E4-468D8BB696B8}"/>
              </a:ext>
            </a:extLst>
          </p:cNvPr>
          <p:cNvGrpSpPr/>
          <p:nvPr/>
        </p:nvGrpSpPr>
        <p:grpSpPr>
          <a:xfrm>
            <a:off x="4133725" y="358821"/>
            <a:ext cx="520273" cy="520273"/>
            <a:chOff x="3199239" y="747211"/>
            <a:chExt cx="520273" cy="520273"/>
          </a:xfrm>
        </p:grpSpPr>
        <p:sp>
          <p:nvSpPr>
            <p:cNvPr id="4" name="Freeform 4">
              <a:extLst>
                <a:ext uri="{FF2B5EF4-FFF2-40B4-BE49-F238E27FC236}">
                  <a16:creationId xmlns:a16="http://schemas.microsoft.com/office/drawing/2014/main" id="{73FA1FD2-DE07-394F-3A33-505671DE7769}"/>
                </a:ext>
              </a:extLst>
            </p:cNvPr>
            <p:cNvSpPr/>
            <p:nvPr/>
          </p:nvSpPr>
          <p:spPr>
            <a:xfrm>
              <a:off x="3199239" y="747211"/>
              <a:ext cx="520273" cy="520273"/>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66675" cap="sq">
              <a:solidFill>
                <a:schemeClr val="accent1"/>
              </a:solidFill>
              <a:prstDash val="solid"/>
              <a:miter/>
            </a:ln>
          </p:spPr>
          <p:txBody>
            <a:bodyPr/>
            <a:lstStyle/>
            <a:p>
              <a:endParaRPr lang="en-US" sz="900" noProof="0">
                <a:solidFill>
                  <a:srgbClr val="000000"/>
                </a:solidFill>
                <a:latin typeface="Arial" panose="020B0604020202020204" pitchFamily="34" charset="0"/>
                <a:cs typeface="Arial" panose="020B0604020202020204" pitchFamily="34" charset="0"/>
              </a:endParaRPr>
            </a:p>
          </p:txBody>
        </p:sp>
        <p:sp>
          <p:nvSpPr>
            <p:cNvPr id="6" name="AutoShape 6">
              <a:extLst>
                <a:ext uri="{FF2B5EF4-FFF2-40B4-BE49-F238E27FC236}">
                  <a16:creationId xmlns:a16="http://schemas.microsoft.com/office/drawing/2014/main" id="{84F24F21-2145-13C8-D2B1-04EACD80E4C8}"/>
                </a:ext>
              </a:extLst>
            </p:cNvPr>
            <p:cNvSpPr/>
            <p:nvPr/>
          </p:nvSpPr>
          <p:spPr>
            <a:xfrm>
              <a:off x="3288741" y="1007348"/>
              <a:ext cx="341269" cy="0"/>
            </a:xfrm>
            <a:prstGeom prst="line">
              <a:avLst/>
            </a:prstGeom>
            <a:ln w="73569" cap="flat">
              <a:solidFill>
                <a:schemeClr val="accent1"/>
              </a:solidFill>
              <a:prstDash val="solid"/>
              <a:headEnd type="none" w="sm" len="sm"/>
              <a:tailEnd type="arrow" w="med" len="sm"/>
            </a:ln>
          </p:spPr>
          <p:txBody>
            <a:bodyPr/>
            <a:lstStyle/>
            <a:p>
              <a:endParaRPr lang="en-US" sz="900" noProof="0">
                <a:solidFill>
                  <a:srgbClr val="000000"/>
                </a:solidFill>
                <a:latin typeface="Arial" panose="020B0604020202020204" pitchFamily="34" charset="0"/>
                <a:cs typeface="Arial" panose="020B0604020202020204" pitchFamily="34" charset="0"/>
              </a:endParaRPr>
            </a:p>
          </p:txBody>
        </p:sp>
      </p:grpSp>
      <p:sp>
        <p:nvSpPr>
          <p:cNvPr id="14" name="TextBox 14">
            <a:extLst>
              <a:ext uri="{FF2B5EF4-FFF2-40B4-BE49-F238E27FC236}">
                <a16:creationId xmlns:a16="http://schemas.microsoft.com/office/drawing/2014/main" id="{95C8852B-76F0-017F-A8E2-C5EC17BF4A8C}"/>
              </a:ext>
            </a:extLst>
          </p:cNvPr>
          <p:cNvSpPr txBox="1"/>
          <p:nvPr/>
        </p:nvSpPr>
        <p:spPr>
          <a:xfrm>
            <a:off x="1063128" y="2827839"/>
            <a:ext cx="537158"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03</a:t>
            </a:r>
          </a:p>
        </p:txBody>
      </p:sp>
      <p:grpSp>
        <p:nvGrpSpPr>
          <p:cNvPr id="23" name="Grupo 22">
            <a:extLst>
              <a:ext uri="{FF2B5EF4-FFF2-40B4-BE49-F238E27FC236}">
                <a16:creationId xmlns:a16="http://schemas.microsoft.com/office/drawing/2014/main" id="{90556143-2E17-CCAD-6796-FCAF64A9FF77}"/>
              </a:ext>
            </a:extLst>
          </p:cNvPr>
          <p:cNvGrpSpPr/>
          <p:nvPr/>
        </p:nvGrpSpPr>
        <p:grpSpPr>
          <a:xfrm>
            <a:off x="1854199" y="2802178"/>
            <a:ext cx="9571333" cy="824754"/>
            <a:chOff x="1816102" y="2594699"/>
            <a:chExt cx="9571333" cy="824754"/>
          </a:xfrm>
        </p:grpSpPr>
        <p:sp>
          <p:nvSpPr>
            <p:cNvPr id="15" name="TextBox 15">
              <a:extLst>
                <a:ext uri="{FF2B5EF4-FFF2-40B4-BE49-F238E27FC236}">
                  <a16:creationId xmlns:a16="http://schemas.microsoft.com/office/drawing/2014/main" id="{0DEB3660-CBEA-56C0-E29C-DCCC0F661BCF}"/>
                </a:ext>
              </a:extLst>
            </p:cNvPr>
            <p:cNvSpPr txBox="1"/>
            <p:nvPr/>
          </p:nvSpPr>
          <p:spPr>
            <a:xfrm>
              <a:off x="1816102" y="2594699"/>
              <a:ext cx="9571333"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Methodology</a:t>
              </a:r>
            </a:p>
          </p:txBody>
        </p:sp>
        <p:sp>
          <p:nvSpPr>
            <p:cNvPr id="16" name="TextBox 16">
              <a:extLst>
                <a:ext uri="{FF2B5EF4-FFF2-40B4-BE49-F238E27FC236}">
                  <a16:creationId xmlns:a16="http://schemas.microsoft.com/office/drawing/2014/main" id="{09BFC13D-98E6-E756-6E61-CA60B0EF7CC4}"/>
                </a:ext>
              </a:extLst>
            </p:cNvPr>
            <p:cNvSpPr txBox="1"/>
            <p:nvPr/>
          </p:nvSpPr>
          <p:spPr>
            <a:xfrm>
              <a:off x="1816102" y="2983372"/>
              <a:ext cx="7868967" cy="436081"/>
            </a:xfrm>
            <a:prstGeom prst="rect">
              <a:avLst/>
            </a:prstGeom>
          </p:spPr>
          <p:txBody>
            <a:bodyPr wrap="square" lIns="0" tIns="0" rIns="0" bIns="0" rtlCol="0" anchor="t">
              <a:spAutoFit/>
            </a:bodyPr>
            <a:lstStyle/>
            <a:p>
              <a:pPr>
                <a:lnSpc>
                  <a:spcPts val="1820"/>
                </a:lnSpc>
              </a:pPr>
              <a:r>
                <a:rPr lang="en-US" sz="1200" noProof="0">
                  <a:solidFill>
                    <a:srgbClr val="000000"/>
                  </a:solidFill>
                  <a:latin typeface="Arial" panose="020B0604020202020204" pitchFamily="34" charset="0"/>
                  <a:ea typeface="Gordita"/>
                  <a:cs typeface="Arial" panose="020B0604020202020204" pitchFamily="34" charset="0"/>
                  <a:sym typeface="Gordita"/>
                </a:rPr>
                <a:t>A structured approach that defines the phases, activities, and deliverables required to consistently and efficiently achieve project objectives</a:t>
              </a:r>
            </a:p>
          </p:txBody>
        </p:sp>
      </p:grpSp>
      <p:sp>
        <p:nvSpPr>
          <p:cNvPr id="18" name="TextBox 18">
            <a:extLst>
              <a:ext uri="{FF2B5EF4-FFF2-40B4-BE49-F238E27FC236}">
                <a16:creationId xmlns:a16="http://schemas.microsoft.com/office/drawing/2014/main" id="{2BEE4C3C-A2FA-62BB-7A25-97A72B247C7B}"/>
              </a:ext>
            </a:extLst>
          </p:cNvPr>
          <p:cNvSpPr txBox="1"/>
          <p:nvPr/>
        </p:nvSpPr>
        <p:spPr>
          <a:xfrm>
            <a:off x="1063128" y="3699805"/>
            <a:ext cx="525169"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04</a:t>
            </a:r>
          </a:p>
        </p:txBody>
      </p:sp>
      <p:sp>
        <p:nvSpPr>
          <p:cNvPr id="20" name="TextBox 20">
            <a:extLst>
              <a:ext uri="{FF2B5EF4-FFF2-40B4-BE49-F238E27FC236}">
                <a16:creationId xmlns:a16="http://schemas.microsoft.com/office/drawing/2014/main" id="{68CC9521-9025-13DF-2A7B-F5FE9F00BA0A}"/>
              </a:ext>
            </a:extLst>
          </p:cNvPr>
          <p:cNvSpPr txBox="1"/>
          <p:nvPr/>
        </p:nvSpPr>
        <p:spPr>
          <a:xfrm>
            <a:off x="1854197" y="4994789"/>
            <a:ext cx="7482132" cy="205249"/>
          </a:xfrm>
          <a:prstGeom prst="rect">
            <a:avLst/>
          </a:prstGeom>
        </p:spPr>
        <p:txBody>
          <a:bodyPr wrap="square" lIns="0" tIns="0" rIns="0" bIns="0" rtlCol="0" anchor="t">
            <a:spAutoFit/>
          </a:bodyPr>
          <a:lstStyle/>
          <a:p>
            <a:pPr>
              <a:lnSpc>
                <a:spcPts val="1820"/>
              </a:lnSpc>
            </a:pPr>
            <a:endParaRPr lang="en-US" sz="1100" noProof="0">
              <a:solidFill>
                <a:srgbClr val="000000"/>
              </a:solidFill>
              <a:latin typeface="Arial" panose="020B0604020202020204" pitchFamily="34" charset="0"/>
              <a:ea typeface="Gordita"/>
              <a:cs typeface="Arial" panose="020B0604020202020204" pitchFamily="34" charset="0"/>
              <a:sym typeface="Gordita"/>
            </a:endParaRPr>
          </a:p>
        </p:txBody>
      </p:sp>
      <p:sp>
        <p:nvSpPr>
          <p:cNvPr id="22" name="TextBox 22">
            <a:extLst>
              <a:ext uri="{FF2B5EF4-FFF2-40B4-BE49-F238E27FC236}">
                <a16:creationId xmlns:a16="http://schemas.microsoft.com/office/drawing/2014/main" id="{77EE3473-06DE-D114-9DB3-FD9354DC4E5C}"/>
              </a:ext>
            </a:extLst>
          </p:cNvPr>
          <p:cNvSpPr txBox="1"/>
          <p:nvPr/>
        </p:nvSpPr>
        <p:spPr>
          <a:xfrm>
            <a:off x="1063128" y="4600799"/>
            <a:ext cx="487952"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05</a:t>
            </a:r>
          </a:p>
        </p:txBody>
      </p:sp>
      <p:grpSp>
        <p:nvGrpSpPr>
          <p:cNvPr id="26" name="Grupo 25">
            <a:extLst>
              <a:ext uri="{FF2B5EF4-FFF2-40B4-BE49-F238E27FC236}">
                <a16:creationId xmlns:a16="http://schemas.microsoft.com/office/drawing/2014/main" id="{0EB16A3E-BDD5-820A-1953-B10E3E9DA7B5}"/>
              </a:ext>
            </a:extLst>
          </p:cNvPr>
          <p:cNvGrpSpPr/>
          <p:nvPr/>
        </p:nvGrpSpPr>
        <p:grpSpPr>
          <a:xfrm>
            <a:off x="1847402" y="3676508"/>
            <a:ext cx="9571333" cy="596872"/>
            <a:chOff x="1809305" y="3510392"/>
            <a:chExt cx="9571333" cy="596872"/>
          </a:xfrm>
        </p:grpSpPr>
        <p:sp>
          <p:nvSpPr>
            <p:cNvPr id="13" name="TextBox 15">
              <a:extLst>
                <a:ext uri="{FF2B5EF4-FFF2-40B4-BE49-F238E27FC236}">
                  <a16:creationId xmlns:a16="http://schemas.microsoft.com/office/drawing/2014/main" id="{FEA4516F-172A-9578-D757-273860E2766E}"/>
                </a:ext>
              </a:extLst>
            </p:cNvPr>
            <p:cNvSpPr txBox="1"/>
            <p:nvPr/>
          </p:nvSpPr>
          <p:spPr>
            <a:xfrm>
              <a:off x="1809305" y="3510392"/>
              <a:ext cx="9571333"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Current State Analysis</a:t>
              </a:r>
            </a:p>
          </p:txBody>
        </p:sp>
        <p:sp>
          <p:nvSpPr>
            <p:cNvPr id="17" name="TextBox 16">
              <a:extLst>
                <a:ext uri="{FF2B5EF4-FFF2-40B4-BE49-F238E27FC236}">
                  <a16:creationId xmlns:a16="http://schemas.microsoft.com/office/drawing/2014/main" id="{772E9CBB-0B35-5E8F-85FB-0901DAE8934D}"/>
                </a:ext>
              </a:extLst>
            </p:cNvPr>
            <p:cNvSpPr txBox="1"/>
            <p:nvPr/>
          </p:nvSpPr>
          <p:spPr>
            <a:xfrm>
              <a:off x="1809305" y="3899065"/>
              <a:ext cx="7868967" cy="208199"/>
            </a:xfrm>
            <a:prstGeom prst="rect">
              <a:avLst/>
            </a:prstGeom>
          </p:spPr>
          <p:txBody>
            <a:bodyPr wrap="square" lIns="0" tIns="0" rIns="0" bIns="0" rtlCol="0" anchor="t">
              <a:spAutoFit/>
            </a:bodyPr>
            <a:lstStyle>
              <a:defPPr>
                <a:defRPr lang="en-US"/>
              </a:defPPr>
              <a:lvl1pPr>
                <a:lnSpc>
                  <a:spcPts val="1820"/>
                </a:lnSpc>
                <a:defRPr sz="1400">
                  <a:solidFill>
                    <a:srgbClr val="000000"/>
                  </a:solidFill>
                  <a:ea typeface="Gordita"/>
                  <a:cs typeface="Gordita"/>
                </a:defRPr>
              </a:lvl1pPr>
            </a:lstStyle>
            <a:p>
              <a:r>
                <a:rPr lang="en-US" sz="1200" noProof="0">
                  <a:latin typeface="Arial" panose="020B0604020202020204" pitchFamily="34" charset="0"/>
                  <a:cs typeface="Arial" panose="020B0604020202020204" pitchFamily="34" charset="0"/>
                </a:rPr>
                <a:t>Includes explanations for Roles and Responsibilities, Value stream Mapping, tools  and Governance Mapping</a:t>
              </a:r>
              <a:endParaRPr lang="en-US" sz="1200" noProof="0">
                <a:latin typeface="Arial" panose="020B0604020202020204" pitchFamily="34" charset="0"/>
                <a:cs typeface="Arial" panose="020B0604020202020204" pitchFamily="34" charset="0"/>
                <a:sym typeface="Gordita"/>
              </a:endParaRPr>
            </a:p>
          </p:txBody>
        </p:sp>
      </p:grpSp>
      <p:sp>
        <p:nvSpPr>
          <p:cNvPr id="12" name="TextBox 22">
            <a:extLst>
              <a:ext uri="{FF2B5EF4-FFF2-40B4-BE49-F238E27FC236}">
                <a16:creationId xmlns:a16="http://schemas.microsoft.com/office/drawing/2014/main" id="{7BA50D68-B0D5-6EAB-F657-C5047F198DB3}"/>
              </a:ext>
            </a:extLst>
          </p:cNvPr>
          <p:cNvSpPr txBox="1"/>
          <p:nvPr/>
        </p:nvSpPr>
        <p:spPr>
          <a:xfrm>
            <a:off x="1063128" y="5501791"/>
            <a:ext cx="487952"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06</a:t>
            </a:r>
          </a:p>
        </p:txBody>
      </p:sp>
      <p:grpSp>
        <p:nvGrpSpPr>
          <p:cNvPr id="31" name="Grupo 30">
            <a:extLst>
              <a:ext uri="{FF2B5EF4-FFF2-40B4-BE49-F238E27FC236}">
                <a16:creationId xmlns:a16="http://schemas.microsoft.com/office/drawing/2014/main" id="{48CE0415-A53A-D49E-6FDA-DCC2FB918E0A}"/>
              </a:ext>
            </a:extLst>
          </p:cNvPr>
          <p:cNvGrpSpPr/>
          <p:nvPr/>
        </p:nvGrpSpPr>
        <p:grpSpPr>
          <a:xfrm>
            <a:off x="1847401" y="4582202"/>
            <a:ext cx="9571332" cy="602794"/>
            <a:chOff x="1809305" y="5419675"/>
            <a:chExt cx="9571332" cy="602794"/>
          </a:xfrm>
        </p:grpSpPr>
        <p:sp>
          <p:nvSpPr>
            <p:cNvPr id="9" name="TextBox 19">
              <a:extLst>
                <a:ext uri="{FF2B5EF4-FFF2-40B4-BE49-F238E27FC236}">
                  <a16:creationId xmlns:a16="http://schemas.microsoft.com/office/drawing/2014/main" id="{65B932D6-3664-6816-0966-08827987BBB1}"/>
                </a:ext>
              </a:extLst>
            </p:cNvPr>
            <p:cNvSpPr txBox="1"/>
            <p:nvPr/>
          </p:nvSpPr>
          <p:spPr>
            <a:xfrm>
              <a:off x="1809305" y="5419675"/>
              <a:ext cx="9571332"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Project Portfolio Landscape</a:t>
              </a:r>
            </a:p>
          </p:txBody>
        </p:sp>
        <p:sp>
          <p:nvSpPr>
            <p:cNvPr id="27" name="TextBox 16">
              <a:extLst>
                <a:ext uri="{FF2B5EF4-FFF2-40B4-BE49-F238E27FC236}">
                  <a16:creationId xmlns:a16="http://schemas.microsoft.com/office/drawing/2014/main" id="{F40DEF3E-D7B8-DEEB-94C7-ECBDF2BE20A2}"/>
                </a:ext>
              </a:extLst>
            </p:cNvPr>
            <p:cNvSpPr txBox="1"/>
            <p:nvPr/>
          </p:nvSpPr>
          <p:spPr>
            <a:xfrm>
              <a:off x="1809305" y="5814270"/>
              <a:ext cx="7868967" cy="208199"/>
            </a:xfrm>
            <a:prstGeom prst="rect">
              <a:avLst/>
            </a:prstGeom>
          </p:spPr>
          <p:txBody>
            <a:bodyPr wrap="square" lIns="0" tIns="0" rIns="0" bIns="0" rtlCol="0" anchor="t">
              <a:spAutoFit/>
            </a:bodyPr>
            <a:lstStyle/>
            <a:p>
              <a:pPr>
                <a:lnSpc>
                  <a:spcPts val="1820"/>
                </a:lnSpc>
              </a:pPr>
              <a:r>
                <a:rPr lang="en-US" sz="1200" noProof="0">
                  <a:solidFill>
                    <a:srgbClr val="000000"/>
                  </a:solidFill>
                  <a:latin typeface="Arial" panose="020B0604020202020204" pitchFamily="34" charset="0"/>
                  <a:ea typeface="Gordita"/>
                  <a:cs typeface="Arial" panose="020B0604020202020204" pitchFamily="34" charset="0"/>
                  <a:sym typeface="Gordita"/>
                </a:rPr>
                <a:t>An overview of the Digital Products’ current demand and tool portfolio</a:t>
              </a:r>
            </a:p>
          </p:txBody>
        </p:sp>
      </p:grpSp>
      <p:grpSp>
        <p:nvGrpSpPr>
          <p:cNvPr id="33" name="Grupo 30">
            <a:extLst>
              <a:ext uri="{FF2B5EF4-FFF2-40B4-BE49-F238E27FC236}">
                <a16:creationId xmlns:a16="http://schemas.microsoft.com/office/drawing/2014/main" id="{D29B75CE-AA67-C473-C450-230591661F29}"/>
              </a:ext>
            </a:extLst>
          </p:cNvPr>
          <p:cNvGrpSpPr/>
          <p:nvPr/>
        </p:nvGrpSpPr>
        <p:grpSpPr>
          <a:xfrm>
            <a:off x="1847401" y="5519041"/>
            <a:ext cx="9571332" cy="602794"/>
            <a:chOff x="1809305" y="5419675"/>
            <a:chExt cx="9571332" cy="602794"/>
          </a:xfrm>
        </p:grpSpPr>
        <p:sp>
          <p:nvSpPr>
            <p:cNvPr id="34" name="TextBox 19">
              <a:extLst>
                <a:ext uri="{FF2B5EF4-FFF2-40B4-BE49-F238E27FC236}">
                  <a16:creationId xmlns:a16="http://schemas.microsoft.com/office/drawing/2014/main" id="{650E577F-CA6B-2407-0324-913279A58971}"/>
                </a:ext>
              </a:extLst>
            </p:cNvPr>
            <p:cNvSpPr txBox="1"/>
            <p:nvPr/>
          </p:nvSpPr>
          <p:spPr>
            <a:xfrm>
              <a:off x="1809305" y="5419675"/>
              <a:ext cx="9571332"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Insights &amp; Key Definitions for To-Be Model</a:t>
              </a:r>
            </a:p>
          </p:txBody>
        </p:sp>
        <p:sp>
          <p:nvSpPr>
            <p:cNvPr id="35" name="TextBox 16">
              <a:extLst>
                <a:ext uri="{FF2B5EF4-FFF2-40B4-BE49-F238E27FC236}">
                  <a16:creationId xmlns:a16="http://schemas.microsoft.com/office/drawing/2014/main" id="{C39E15AE-2D17-5FC6-3524-B544B95BA405}"/>
                </a:ext>
              </a:extLst>
            </p:cNvPr>
            <p:cNvSpPr txBox="1"/>
            <p:nvPr/>
          </p:nvSpPr>
          <p:spPr>
            <a:xfrm>
              <a:off x="1809305" y="5814270"/>
              <a:ext cx="7868967" cy="208199"/>
            </a:xfrm>
            <a:prstGeom prst="rect">
              <a:avLst/>
            </a:prstGeom>
          </p:spPr>
          <p:txBody>
            <a:bodyPr wrap="square" lIns="0" tIns="0" rIns="0" bIns="0" rtlCol="0" anchor="t">
              <a:spAutoFit/>
            </a:bodyPr>
            <a:lstStyle>
              <a:defPPr>
                <a:defRPr lang="en-US"/>
              </a:defPPr>
              <a:lvl1pPr>
                <a:lnSpc>
                  <a:spcPts val="1820"/>
                </a:lnSpc>
                <a:defRPr sz="1400">
                  <a:solidFill>
                    <a:srgbClr val="000000"/>
                  </a:solidFill>
                  <a:ea typeface="Gordita"/>
                  <a:cs typeface="Gordita"/>
                </a:defRPr>
              </a:lvl1pPr>
            </a:lstStyle>
            <a:p>
              <a:r>
                <a:rPr lang="en-US" sz="1200" noProof="0">
                  <a:latin typeface="Arial" panose="020B0604020202020204" pitchFamily="34" charset="0"/>
                  <a:cs typeface="Arial" panose="020B0604020202020204" pitchFamily="34" charset="0"/>
                </a:rPr>
                <a:t>A synthesis of key insights and foundational definitions shaping the design of the target operating model​</a:t>
              </a:r>
              <a:endParaRPr lang="en-US" sz="1200" noProof="0">
                <a:latin typeface="Arial" panose="020B0604020202020204" pitchFamily="34" charset="0"/>
                <a:cs typeface="Arial" panose="020B0604020202020204" pitchFamily="34" charset="0"/>
                <a:sym typeface="Gordita"/>
              </a:endParaRPr>
            </a:p>
          </p:txBody>
        </p:sp>
      </p:grpSp>
      <p:sp>
        <p:nvSpPr>
          <p:cNvPr id="2" name="TextBox 14">
            <a:extLst>
              <a:ext uri="{FF2B5EF4-FFF2-40B4-BE49-F238E27FC236}">
                <a16:creationId xmlns:a16="http://schemas.microsoft.com/office/drawing/2014/main" id="{3155F8C6-6ACB-C4B7-343B-30F9F03D4918}"/>
              </a:ext>
            </a:extLst>
          </p:cNvPr>
          <p:cNvSpPr txBox="1"/>
          <p:nvPr/>
        </p:nvSpPr>
        <p:spPr>
          <a:xfrm>
            <a:off x="1070275" y="2006772"/>
            <a:ext cx="537158"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02</a:t>
            </a:r>
          </a:p>
        </p:txBody>
      </p:sp>
      <p:grpSp>
        <p:nvGrpSpPr>
          <p:cNvPr id="3" name="Grupo 2">
            <a:extLst>
              <a:ext uri="{FF2B5EF4-FFF2-40B4-BE49-F238E27FC236}">
                <a16:creationId xmlns:a16="http://schemas.microsoft.com/office/drawing/2014/main" id="{8D28EED2-6E51-7B0D-E0AA-F57050E49917}"/>
              </a:ext>
            </a:extLst>
          </p:cNvPr>
          <p:cNvGrpSpPr/>
          <p:nvPr/>
        </p:nvGrpSpPr>
        <p:grpSpPr>
          <a:xfrm>
            <a:off x="1861346" y="1981111"/>
            <a:ext cx="9571333" cy="596872"/>
            <a:chOff x="1816102" y="2594699"/>
            <a:chExt cx="9571333" cy="596872"/>
          </a:xfrm>
        </p:grpSpPr>
        <p:sp>
          <p:nvSpPr>
            <p:cNvPr id="5" name="TextBox 15">
              <a:extLst>
                <a:ext uri="{FF2B5EF4-FFF2-40B4-BE49-F238E27FC236}">
                  <a16:creationId xmlns:a16="http://schemas.microsoft.com/office/drawing/2014/main" id="{2361B347-BA01-E132-F8C9-475ADD9687F6}"/>
                </a:ext>
              </a:extLst>
            </p:cNvPr>
            <p:cNvSpPr txBox="1"/>
            <p:nvPr/>
          </p:nvSpPr>
          <p:spPr>
            <a:xfrm>
              <a:off x="1816102" y="2594699"/>
              <a:ext cx="9571333"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Executive Summary</a:t>
              </a:r>
            </a:p>
          </p:txBody>
        </p:sp>
        <p:sp>
          <p:nvSpPr>
            <p:cNvPr id="7" name="TextBox 16">
              <a:extLst>
                <a:ext uri="{FF2B5EF4-FFF2-40B4-BE49-F238E27FC236}">
                  <a16:creationId xmlns:a16="http://schemas.microsoft.com/office/drawing/2014/main" id="{67313C34-662A-94F7-2C90-83A587F6D73F}"/>
                </a:ext>
              </a:extLst>
            </p:cNvPr>
            <p:cNvSpPr txBox="1"/>
            <p:nvPr/>
          </p:nvSpPr>
          <p:spPr>
            <a:xfrm>
              <a:off x="1816102" y="2983372"/>
              <a:ext cx="7868967" cy="208199"/>
            </a:xfrm>
            <a:prstGeom prst="rect">
              <a:avLst/>
            </a:prstGeom>
          </p:spPr>
          <p:txBody>
            <a:bodyPr wrap="square" lIns="0" tIns="0" rIns="0" bIns="0" rtlCol="0" anchor="t">
              <a:spAutoFit/>
            </a:bodyPr>
            <a:lstStyle>
              <a:defPPr>
                <a:defRPr lang="en-US"/>
              </a:defPPr>
              <a:lvl1pPr>
                <a:lnSpc>
                  <a:spcPts val="1820"/>
                </a:lnSpc>
                <a:defRPr sz="1400">
                  <a:solidFill>
                    <a:srgbClr val="000000"/>
                  </a:solidFill>
                  <a:latin typeface="+mj-lt"/>
                  <a:ea typeface="Gordita"/>
                  <a:cs typeface="Gordita"/>
                </a:defRPr>
              </a:lvl1pPr>
            </a:lstStyle>
            <a:p>
              <a:r>
                <a:rPr lang="en-US" sz="1200" noProof="0">
                  <a:latin typeface="Arial" panose="020B0604020202020204" pitchFamily="34" charset="0"/>
                  <a:cs typeface="Arial" panose="020B0604020202020204" pitchFamily="34" charset="0"/>
                </a:rPr>
                <a:t>Why we are here. Executive findings &amp; implications. Methodology (Wave 1 Step 1 sources).</a:t>
              </a:r>
              <a:endParaRPr lang="en-US" sz="1200" noProof="0">
                <a:latin typeface="Arial" panose="020B0604020202020204" pitchFamily="34" charset="0"/>
                <a:cs typeface="Arial" panose="020B0604020202020204" pitchFamily="34" charset="0"/>
                <a:sym typeface="Gordita"/>
              </a:endParaRPr>
            </a:p>
          </p:txBody>
        </p:sp>
      </p:grpSp>
      <p:sp>
        <p:nvSpPr>
          <p:cNvPr id="19" name="TextBox 10">
            <a:extLst>
              <a:ext uri="{FF2B5EF4-FFF2-40B4-BE49-F238E27FC236}">
                <a16:creationId xmlns:a16="http://schemas.microsoft.com/office/drawing/2014/main" id="{4800FFE5-1175-C951-86A6-70ED5739F6B6}"/>
              </a:ext>
            </a:extLst>
          </p:cNvPr>
          <p:cNvSpPr txBox="1"/>
          <p:nvPr/>
        </p:nvSpPr>
        <p:spPr>
          <a:xfrm>
            <a:off x="1063127" y="277976"/>
            <a:ext cx="3495835" cy="524182"/>
          </a:xfrm>
          <a:prstGeom prst="rect">
            <a:avLst/>
          </a:prstGeom>
        </p:spPr>
        <p:txBody>
          <a:bodyPr wrap="square" lIns="0" tIns="0" rIns="0" bIns="0" rtlCol="0" anchor="t">
            <a:spAutoFit/>
          </a:bodyPr>
          <a:lstStyle/>
          <a:p>
            <a:pPr>
              <a:lnSpc>
                <a:spcPts val="4608"/>
              </a:lnSpc>
            </a:pPr>
            <a:r>
              <a:rPr lang="en-US" sz="2800" b="1" noProof="0">
                <a:solidFill>
                  <a:schemeClr val="accent1"/>
                </a:solidFill>
                <a:latin typeface="Arial" panose="020B0604020202020204" pitchFamily="34" charset="0"/>
                <a:ea typeface="Gordita Bold"/>
                <a:cs typeface="Arial" panose="020B0604020202020204" pitchFamily="34" charset="0"/>
                <a:sym typeface="Gordita Bold"/>
              </a:rPr>
              <a:t>Table of contents</a:t>
            </a:r>
          </a:p>
        </p:txBody>
      </p:sp>
      <p:sp>
        <p:nvSpPr>
          <p:cNvPr id="8" name="Rectangle: Rounded Corners 7">
            <a:extLst>
              <a:ext uri="{FF2B5EF4-FFF2-40B4-BE49-F238E27FC236}">
                <a16:creationId xmlns:a16="http://schemas.microsoft.com/office/drawing/2014/main" id="{36C50024-498C-595A-CF47-B30E46A3ADC4}"/>
              </a:ext>
            </a:extLst>
          </p:cNvPr>
          <p:cNvSpPr/>
          <p:nvPr/>
        </p:nvSpPr>
        <p:spPr>
          <a:xfrm>
            <a:off x="752526" y="1141030"/>
            <a:ext cx="9343974" cy="815851"/>
          </a:xfrm>
          <a:prstGeom prst="roundRect">
            <a:avLst/>
          </a:prstGeom>
          <a:solidFill>
            <a:schemeClr val="tx2">
              <a:lumMod val="10000"/>
              <a:lumOff val="90000"/>
              <a:alpha val="41961"/>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0" name="TextBox 10">
            <a:extLst>
              <a:ext uri="{FF2B5EF4-FFF2-40B4-BE49-F238E27FC236}">
                <a16:creationId xmlns:a16="http://schemas.microsoft.com/office/drawing/2014/main" id="{AF3FE328-95A9-B5DF-5FC6-18D4D7EE4978}"/>
              </a:ext>
            </a:extLst>
          </p:cNvPr>
          <p:cNvSpPr txBox="1"/>
          <p:nvPr/>
        </p:nvSpPr>
        <p:spPr>
          <a:xfrm>
            <a:off x="1077073" y="1141030"/>
            <a:ext cx="462060" cy="512448"/>
          </a:xfrm>
          <a:prstGeom prst="rect">
            <a:avLst/>
          </a:prstGeom>
        </p:spPr>
        <p:txBody>
          <a:bodyPr wrap="square" lIns="0" tIns="0" rIns="0" bIns="0" rtlCol="0" anchor="t">
            <a:spAutoFit/>
          </a:bodyPr>
          <a:lstStyle/>
          <a:p>
            <a:pPr>
              <a:lnSpc>
                <a:spcPts val="4608"/>
              </a:lnSpc>
            </a:pPr>
            <a:r>
              <a:rPr lang="en-US" sz="2400" b="1" noProof="0">
                <a:solidFill>
                  <a:schemeClr val="accent1"/>
                </a:solidFill>
                <a:latin typeface="Arial" panose="020B0604020202020204" pitchFamily="34" charset="0"/>
                <a:ea typeface="Gordita Bold"/>
                <a:cs typeface="Arial" panose="020B0604020202020204" pitchFamily="34" charset="0"/>
                <a:sym typeface="Gordita Bold"/>
              </a:rPr>
              <a:t>01</a:t>
            </a:r>
          </a:p>
        </p:txBody>
      </p:sp>
      <p:grpSp>
        <p:nvGrpSpPr>
          <p:cNvPr id="21" name="Grupo 20">
            <a:extLst>
              <a:ext uri="{FF2B5EF4-FFF2-40B4-BE49-F238E27FC236}">
                <a16:creationId xmlns:a16="http://schemas.microsoft.com/office/drawing/2014/main" id="{9D9B635A-FC5E-DB26-677D-E2AAFA5BF412}"/>
              </a:ext>
            </a:extLst>
          </p:cNvPr>
          <p:cNvGrpSpPr/>
          <p:nvPr/>
        </p:nvGrpSpPr>
        <p:grpSpPr>
          <a:xfrm>
            <a:off x="1861346" y="1170058"/>
            <a:ext cx="9578128" cy="554333"/>
            <a:chOff x="1809304" y="1852249"/>
            <a:chExt cx="9578128" cy="554333"/>
          </a:xfrm>
        </p:grpSpPr>
        <p:sp>
          <p:nvSpPr>
            <p:cNvPr id="11" name="TextBox 11">
              <a:extLst>
                <a:ext uri="{FF2B5EF4-FFF2-40B4-BE49-F238E27FC236}">
                  <a16:creationId xmlns:a16="http://schemas.microsoft.com/office/drawing/2014/main" id="{830D5BDE-2D6A-1F27-0678-A759F3ABF79A}"/>
                </a:ext>
              </a:extLst>
            </p:cNvPr>
            <p:cNvSpPr txBox="1"/>
            <p:nvPr/>
          </p:nvSpPr>
          <p:spPr>
            <a:xfrm>
              <a:off x="1816100" y="1852249"/>
              <a:ext cx="9571332"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cs typeface="Arial" panose="020B0604020202020204" pitchFamily="34" charset="0"/>
                </a:rPr>
                <a:t>Context</a:t>
              </a:r>
              <a:endParaRPr lang="en-US" sz="2000" noProof="0">
                <a:solidFill>
                  <a:srgbClr val="000000"/>
                </a:solidFill>
                <a:latin typeface="Arial" panose="020B0604020202020204" pitchFamily="34" charset="0"/>
                <a:ea typeface="Gordita"/>
                <a:cs typeface="Arial" panose="020B0604020202020204" pitchFamily="34" charset="0"/>
                <a:sym typeface="Gordita"/>
              </a:endParaRPr>
            </a:p>
          </p:txBody>
        </p:sp>
        <p:sp>
          <p:nvSpPr>
            <p:cNvPr id="24" name="TextBox 16">
              <a:extLst>
                <a:ext uri="{FF2B5EF4-FFF2-40B4-BE49-F238E27FC236}">
                  <a16:creationId xmlns:a16="http://schemas.microsoft.com/office/drawing/2014/main" id="{3706ADD9-50D0-A90F-F359-CFDA73D990EA}"/>
                </a:ext>
              </a:extLst>
            </p:cNvPr>
            <p:cNvSpPr txBox="1"/>
            <p:nvPr/>
          </p:nvSpPr>
          <p:spPr>
            <a:xfrm>
              <a:off x="1809304" y="2198383"/>
              <a:ext cx="7868967" cy="208199"/>
            </a:xfrm>
            <a:prstGeom prst="rect">
              <a:avLst/>
            </a:prstGeom>
          </p:spPr>
          <p:txBody>
            <a:bodyPr wrap="square" lIns="0" tIns="0" rIns="0" bIns="0" rtlCol="0" anchor="t">
              <a:spAutoFit/>
            </a:bodyPr>
            <a:lstStyle/>
            <a:p>
              <a:pPr>
                <a:lnSpc>
                  <a:spcPts val="1820"/>
                </a:lnSpc>
              </a:pPr>
              <a:r>
                <a:rPr lang="en-US" sz="1200" noProof="0">
                  <a:solidFill>
                    <a:srgbClr val="000000"/>
                  </a:solidFill>
                  <a:latin typeface="Arial" panose="020B0604020202020204" pitchFamily="34" charset="0"/>
                  <a:cs typeface="Arial" panose="020B0604020202020204" pitchFamily="34" charset="0"/>
                </a:rPr>
                <a:t>Document summary</a:t>
              </a:r>
              <a:endParaRPr lang="en-US" sz="1200" noProof="0">
                <a:solidFill>
                  <a:srgbClr val="000000"/>
                </a:solidFill>
                <a:latin typeface="Arial" panose="020B0604020202020204" pitchFamily="34" charset="0"/>
                <a:ea typeface="Gordita"/>
                <a:cs typeface="Arial" panose="020B0604020202020204" pitchFamily="34" charset="0"/>
                <a:sym typeface="Gordita"/>
              </a:endParaRPr>
            </a:p>
          </p:txBody>
        </p:sp>
      </p:grpSp>
    </p:spTree>
    <p:extLst>
      <p:ext uri="{BB962C8B-B14F-4D97-AF65-F5344CB8AC3E}">
        <p14:creationId xmlns:p14="http://schemas.microsoft.com/office/powerpoint/2010/main" val="35927861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5D6C4B-2233-3AC3-D113-01C8CB8C5756}"/>
            </a:ext>
          </a:extLst>
        </p:cNvPr>
        <p:cNvGrpSpPr/>
        <p:nvPr/>
      </p:nvGrpSpPr>
      <p:grpSpPr>
        <a:xfrm>
          <a:off x="0" y="0"/>
          <a:ext cx="0" cy="0"/>
          <a:chOff x="0" y="0"/>
          <a:chExt cx="0" cy="0"/>
        </a:xfrm>
      </p:grpSpPr>
      <p:sp>
        <p:nvSpPr>
          <p:cNvPr id="2" name="Título 2">
            <a:extLst>
              <a:ext uri="{FF2B5EF4-FFF2-40B4-BE49-F238E27FC236}">
                <a16:creationId xmlns:a16="http://schemas.microsoft.com/office/drawing/2014/main" id="{4F87945C-21A6-184B-FF52-B2081CB0A206}"/>
              </a:ext>
            </a:extLst>
          </p:cNvPr>
          <p:cNvSpPr txBox="1">
            <a:spLocks/>
          </p:cNvSpPr>
          <p:nvPr/>
        </p:nvSpPr>
        <p:spPr>
          <a:xfrm>
            <a:off x="180918" y="127319"/>
            <a:ext cx="8857204"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r>
              <a:rPr lang="en-US" sz="2400" noProof="0">
                <a:latin typeface="Arial" panose="020B0604020202020204" pitchFamily="34" charset="0"/>
                <a:cs typeface="Arial" panose="020B0604020202020204" pitchFamily="34" charset="0"/>
              </a:rPr>
              <a:t>CONTEXT</a:t>
            </a:r>
          </a:p>
          <a:p>
            <a:r>
              <a:rPr lang="en-US" sz="1200" noProof="0">
                <a:latin typeface="Arial"/>
              </a:rPr>
              <a:t>WHY WE’RE HERE</a:t>
            </a:r>
          </a:p>
        </p:txBody>
      </p:sp>
      <p:sp>
        <p:nvSpPr>
          <p:cNvPr id="79" name="TextBox 78">
            <a:extLst>
              <a:ext uri="{FF2B5EF4-FFF2-40B4-BE49-F238E27FC236}">
                <a16:creationId xmlns:a16="http://schemas.microsoft.com/office/drawing/2014/main" id="{D3FCD0D8-BD27-E0F0-E05E-B2257B4908E5}"/>
              </a:ext>
            </a:extLst>
          </p:cNvPr>
          <p:cNvSpPr txBox="1"/>
          <p:nvPr/>
        </p:nvSpPr>
        <p:spPr>
          <a:xfrm>
            <a:off x="599035" y="2361719"/>
            <a:ext cx="4790440" cy="2828147"/>
          </a:xfrm>
          <a:prstGeom prst="rect">
            <a:avLst/>
          </a:prstGeom>
          <a:noFill/>
        </p:spPr>
        <p:txBody>
          <a:bodyPr wrap="square" lIns="0" tIns="0" rIns="0" bIns="0" anchor="t">
            <a:spAutoFit/>
          </a:bodyPr>
          <a:lstStyle/>
          <a:p>
            <a:pPr algn="just">
              <a:lnSpc>
                <a:spcPct val="110000"/>
              </a:lnSpc>
              <a:spcBef>
                <a:spcPts val="0"/>
              </a:spcBef>
              <a:spcAft>
                <a:spcPts val="0"/>
              </a:spcAft>
            </a:pPr>
            <a:r>
              <a:rPr lang="en-US" sz="1200" b="0" i="0" noProof="0">
                <a:solidFill>
                  <a:srgbClr val="2C3E50"/>
                </a:solidFill>
                <a:latin typeface="Arial" panose="020B0604020202020204" pitchFamily="34" charset="0"/>
                <a:cs typeface="Arial" panose="020B0604020202020204" pitchFamily="34" charset="0"/>
              </a:rPr>
              <a:t>Digital Products is being re-founded under VP Vitor Cruz as a new department, </a:t>
            </a:r>
            <a:r>
              <a:rPr lang="en-US" sz="1200" b="1" i="0" noProof="0">
                <a:solidFill>
                  <a:srgbClr val="2C3E50"/>
                </a:solidFill>
                <a:latin typeface="Arial" panose="020B0604020202020204" pitchFamily="34" charset="0"/>
                <a:cs typeface="Arial" panose="020B0604020202020204" pitchFamily="34" charset="0"/>
              </a:rPr>
              <a:t>consolidating Applications and Customer Services Apps </a:t>
            </a:r>
            <a:r>
              <a:rPr lang="en-US" sz="1200" b="0" i="0" noProof="0">
                <a:solidFill>
                  <a:srgbClr val="2C3E50"/>
                </a:solidFill>
                <a:latin typeface="Arial" panose="020B0604020202020204" pitchFamily="34" charset="0"/>
                <a:cs typeface="Arial" panose="020B0604020202020204" pitchFamily="34" charset="0"/>
              </a:rPr>
              <a:t>into a single ~50-FTE organization to </a:t>
            </a:r>
            <a:r>
              <a:rPr lang="en-US" sz="1200" b="1" i="0" noProof="0">
                <a:solidFill>
                  <a:srgbClr val="2C3E50"/>
                </a:solidFill>
                <a:latin typeface="Arial" panose="020B0604020202020204" pitchFamily="34" charset="0"/>
                <a:cs typeface="Arial" panose="020B0604020202020204" pitchFamily="34" charset="0"/>
              </a:rPr>
              <a:t>improve alignment, efficiency, and cross-team collaboration</a:t>
            </a:r>
            <a:r>
              <a:rPr lang="en-US" sz="1200" b="0" i="0" noProof="0">
                <a:solidFill>
                  <a:srgbClr val="2C3E50"/>
                </a:solidFill>
                <a:latin typeface="Arial" panose="020B0604020202020204" pitchFamily="34" charset="0"/>
                <a:cs typeface="Arial" panose="020B0604020202020204" pitchFamily="34" charset="0"/>
              </a:rPr>
              <a:t>. </a:t>
            </a:r>
          </a:p>
          <a:p>
            <a:pPr algn="just">
              <a:lnSpc>
                <a:spcPct val="110000"/>
              </a:lnSpc>
              <a:spcBef>
                <a:spcPts val="0"/>
              </a:spcBef>
              <a:spcAft>
                <a:spcPts val="0"/>
              </a:spcAft>
            </a:pPr>
            <a:endParaRPr lang="en-US" sz="1200" b="0" i="0" noProof="0">
              <a:solidFill>
                <a:srgbClr val="2C3E50"/>
              </a:solidFill>
              <a:latin typeface="Arial" panose="020B0604020202020204" pitchFamily="34" charset="0"/>
              <a:cs typeface="Arial" panose="020B0604020202020204" pitchFamily="34" charset="0"/>
            </a:endParaRPr>
          </a:p>
          <a:p>
            <a:pPr algn="just">
              <a:lnSpc>
                <a:spcPct val="110000"/>
              </a:lnSpc>
              <a:spcBef>
                <a:spcPts val="0"/>
              </a:spcBef>
              <a:spcAft>
                <a:spcPts val="0"/>
              </a:spcAft>
            </a:pPr>
            <a:r>
              <a:rPr lang="en-US" sz="1200" b="1" i="0" noProof="0">
                <a:solidFill>
                  <a:srgbClr val="2C3E50"/>
                </a:solidFill>
                <a:latin typeface="Arial" panose="020B0604020202020204" pitchFamily="34" charset="0"/>
                <a:cs typeface="Arial" panose="020B0604020202020204" pitchFamily="34" charset="0"/>
              </a:rPr>
              <a:t>The teams is expected to grow by 30–50% </a:t>
            </a:r>
            <a:r>
              <a:rPr lang="en-US" sz="1200" b="0" i="0" noProof="0">
                <a:solidFill>
                  <a:srgbClr val="2C3E50"/>
                </a:solidFill>
                <a:latin typeface="Arial" panose="020B0604020202020204" pitchFamily="34" charset="0"/>
                <a:cs typeface="Arial" panose="020B0604020202020204" pitchFamily="34" charset="0"/>
              </a:rPr>
              <a:t>across SAP and Applications department</a:t>
            </a:r>
            <a:r>
              <a:rPr lang="en-US" sz="1200" b="1" noProof="0">
                <a:solidFill>
                  <a:srgbClr val="2C3E50"/>
                </a:solidFill>
                <a:latin typeface="Arial" panose="020B0604020202020204" pitchFamily="34" charset="0"/>
                <a:cs typeface="Arial" panose="020B0604020202020204" pitchFamily="34" charset="0"/>
              </a:rPr>
              <a:t>)</a:t>
            </a:r>
            <a:r>
              <a:rPr lang="en-US" sz="1200" b="0" i="0" noProof="0">
                <a:solidFill>
                  <a:srgbClr val="2C3E50"/>
                </a:solidFill>
                <a:latin typeface="Arial" panose="020B0604020202020204" pitchFamily="34" charset="0"/>
                <a:cs typeface="Arial" panose="020B0604020202020204" pitchFamily="34" charset="0"/>
              </a:rPr>
              <a:t>, risking a </a:t>
            </a:r>
            <a:r>
              <a:rPr lang="en-US" sz="1200" b="1" i="0" noProof="0">
                <a:solidFill>
                  <a:srgbClr val="2C3E50"/>
                </a:solidFill>
                <a:latin typeface="Arial" panose="020B0604020202020204" pitchFamily="34" charset="0"/>
                <a:cs typeface="Arial" panose="020B0604020202020204" pitchFamily="34" charset="0"/>
              </a:rPr>
              <a:t>ack of a unified intake, classification</a:t>
            </a:r>
            <a:r>
              <a:rPr lang="en-US" sz="1200" b="0" i="0" noProof="0">
                <a:solidFill>
                  <a:srgbClr val="2C3E50"/>
                </a:solidFill>
                <a:latin typeface="Arial" panose="020B0604020202020204" pitchFamily="34" charset="0"/>
                <a:cs typeface="Arial" panose="020B0604020202020204" pitchFamily="34" charset="0"/>
              </a:rPr>
              <a:t>, and </a:t>
            </a:r>
            <a:r>
              <a:rPr lang="en-US" sz="1200" b="1" i="0" noProof="0">
                <a:solidFill>
                  <a:srgbClr val="2C3E50"/>
                </a:solidFill>
                <a:latin typeface="Arial" panose="020B0604020202020204" pitchFamily="34" charset="0"/>
                <a:cs typeface="Arial" panose="020B0604020202020204" pitchFamily="34" charset="0"/>
              </a:rPr>
              <a:t>prioritization model</a:t>
            </a:r>
            <a:r>
              <a:rPr lang="en-US" sz="1200" b="0" i="0" noProof="0">
                <a:solidFill>
                  <a:srgbClr val="2C3E50"/>
                </a:solidFill>
                <a:latin typeface="Arial" panose="020B0604020202020204" pitchFamily="34" charset="0"/>
                <a:cs typeface="Arial" panose="020B0604020202020204" pitchFamily="34" charset="0"/>
              </a:rPr>
              <a:t>, which leads to </a:t>
            </a:r>
            <a:r>
              <a:rPr lang="en-US" sz="1200" b="1" i="0" noProof="0">
                <a:solidFill>
                  <a:srgbClr val="2C3E50"/>
                </a:solidFill>
                <a:latin typeface="Arial" panose="020B0604020202020204" pitchFamily="34" charset="0"/>
                <a:cs typeface="Arial" panose="020B0604020202020204" pitchFamily="34" charset="0"/>
              </a:rPr>
              <a:t>inconsistent handling </a:t>
            </a:r>
            <a:r>
              <a:rPr lang="en-US" sz="1200" b="0" i="0" noProof="0">
                <a:solidFill>
                  <a:srgbClr val="2C3E50"/>
                </a:solidFill>
                <a:latin typeface="Arial" panose="020B0604020202020204" pitchFamily="34" charset="0"/>
                <a:cs typeface="Arial" panose="020B0604020202020204" pitchFamily="34" charset="0"/>
              </a:rPr>
              <a:t>of requests and limited alignment with business priorities. </a:t>
            </a:r>
          </a:p>
          <a:p>
            <a:pPr algn="just">
              <a:lnSpc>
                <a:spcPct val="110000"/>
              </a:lnSpc>
              <a:spcBef>
                <a:spcPts val="0"/>
              </a:spcBef>
              <a:spcAft>
                <a:spcPts val="0"/>
              </a:spcAft>
            </a:pPr>
            <a:endParaRPr lang="en-US" sz="1200" b="0" i="0" noProof="0">
              <a:solidFill>
                <a:srgbClr val="2C3E50"/>
              </a:solidFill>
              <a:latin typeface="Arial" panose="020B0604020202020204" pitchFamily="34" charset="0"/>
              <a:cs typeface="Arial" panose="020B0604020202020204" pitchFamily="34" charset="0"/>
            </a:endParaRPr>
          </a:p>
          <a:p>
            <a:pPr algn="just">
              <a:lnSpc>
                <a:spcPct val="110000"/>
              </a:lnSpc>
              <a:spcBef>
                <a:spcPts val="0"/>
              </a:spcBef>
              <a:spcAft>
                <a:spcPts val="0"/>
              </a:spcAft>
            </a:pPr>
            <a:r>
              <a:rPr lang="en-US" sz="1200" b="0" i="0" noProof="0">
                <a:solidFill>
                  <a:srgbClr val="2C3E50"/>
                </a:solidFill>
                <a:latin typeface="Arial" panose="020B0604020202020204" pitchFamily="34" charset="0"/>
                <a:cs typeface="Arial" panose="020B0604020202020204" pitchFamily="34" charset="0"/>
              </a:rPr>
              <a:t>The </a:t>
            </a:r>
            <a:r>
              <a:rPr lang="en-US" sz="1200" b="1" i="0" noProof="0">
                <a:solidFill>
                  <a:srgbClr val="2C3E50"/>
                </a:solidFill>
                <a:latin typeface="Arial" panose="020B0604020202020204" pitchFamily="34" charset="0"/>
                <a:cs typeface="Arial" panose="020B0604020202020204" pitchFamily="34" charset="0"/>
              </a:rPr>
              <a:t>delivery model remains fragmented</a:t>
            </a:r>
            <a:r>
              <a:rPr lang="en-US" sz="1200" b="0" i="0" noProof="0">
                <a:solidFill>
                  <a:srgbClr val="2C3E50"/>
                </a:solidFill>
                <a:latin typeface="Arial" panose="020B0604020202020204" pitchFamily="34" charset="0"/>
                <a:cs typeface="Arial" panose="020B0604020202020204" pitchFamily="34" charset="0"/>
              </a:rPr>
              <a:t>, operating across a </a:t>
            </a:r>
            <a:r>
              <a:rPr lang="en-US" sz="1200" b="1" i="0" noProof="0">
                <a:solidFill>
                  <a:srgbClr val="2C3E50"/>
                </a:solidFill>
                <a:latin typeface="Arial" panose="020B0604020202020204" pitchFamily="34" charset="0"/>
                <a:cs typeface="Arial" panose="020B0604020202020204" pitchFamily="34" charset="0"/>
              </a:rPr>
              <a:t>disconnected ecosystem with unclear roles, inconsistent tools, and limited reporting</a:t>
            </a:r>
            <a:r>
              <a:rPr lang="en-US" sz="1200" b="0" i="0" noProof="0">
                <a:solidFill>
                  <a:srgbClr val="2C3E50"/>
                </a:solidFill>
                <a:latin typeface="Arial" panose="020B0604020202020204" pitchFamily="34" charset="0"/>
                <a:cs typeface="Arial" panose="020B0604020202020204" pitchFamily="34" charset="0"/>
              </a:rPr>
              <a:t>, reducing the organization’s ability to effectively guide execution and monitor performance. </a:t>
            </a:r>
          </a:p>
        </p:txBody>
      </p:sp>
      <p:sp>
        <p:nvSpPr>
          <p:cNvPr id="83" name="Rectangle 82">
            <a:extLst>
              <a:ext uri="{FF2B5EF4-FFF2-40B4-BE49-F238E27FC236}">
                <a16:creationId xmlns:a16="http://schemas.microsoft.com/office/drawing/2014/main" id="{C0B9C4D1-6F0F-181F-7C73-8E9AA1D328D9}"/>
              </a:ext>
            </a:extLst>
          </p:cNvPr>
          <p:cNvSpPr/>
          <p:nvPr/>
        </p:nvSpPr>
        <p:spPr>
          <a:xfrm>
            <a:off x="386080" y="5620877"/>
            <a:ext cx="11419840" cy="7021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10000"/>
              </a:lnSpc>
            </a:pPr>
            <a:r>
              <a:rPr lang="en-US" sz="1400" noProof="0">
                <a:latin typeface="Arial" panose="020B0604020202020204" pitchFamily="34" charset="0"/>
                <a:cs typeface="Arial" panose="020B0604020202020204" pitchFamily="34" charset="0"/>
              </a:rPr>
              <a:t>Digital Products, in partnership with NTT DATA, is defining its future ways of working to tackle gaps in transparency, prioritization, and delivery. The objective is to build a scalable, aligned, and value-driven operating model.</a:t>
            </a:r>
            <a:endParaRPr lang="en-US" sz="1400" noProof="0">
              <a:solidFill>
                <a:srgbClr val="FFFFFF"/>
              </a:solidFill>
              <a:latin typeface="Arial" panose="020B0604020202020204" pitchFamily="34" charset="0"/>
              <a:cs typeface="Arial" panose="020B0604020202020204" pitchFamily="34" charset="0"/>
            </a:endParaRPr>
          </a:p>
        </p:txBody>
      </p:sp>
      <p:sp>
        <p:nvSpPr>
          <p:cNvPr id="86" name="TextBox 85">
            <a:extLst>
              <a:ext uri="{FF2B5EF4-FFF2-40B4-BE49-F238E27FC236}">
                <a16:creationId xmlns:a16="http://schemas.microsoft.com/office/drawing/2014/main" id="{144294D0-6A7C-33AB-C62B-BE2B8F9E7EC2}"/>
              </a:ext>
            </a:extLst>
          </p:cNvPr>
          <p:cNvSpPr txBox="1"/>
          <p:nvPr/>
        </p:nvSpPr>
        <p:spPr>
          <a:xfrm>
            <a:off x="458724" y="932575"/>
            <a:ext cx="11274552" cy="430887"/>
          </a:xfrm>
          <a:prstGeom prst="rect">
            <a:avLst/>
          </a:prstGeom>
          <a:noFill/>
        </p:spPr>
        <p:txBody>
          <a:bodyPr wrap="square" lIns="0" tIns="0" rIns="0" bIns="0" rtlCol="0">
            <a:noAutofit/>
          </a:bodyPr>
          <a:lstStyle>
            <a:defPPr>
              <a:defRPr lang="en-US"/>
            </a:defPPr>
            <a:lvl1pPr algn="ctr">
              <a:defRPr sz="1400" b="1">
                <a:solidFill>
                  <a:schemeClr val="accent4">
                    <a:lumMod val="75000"/>
                  </a:schemeClr>
                </a:solidFill>
                <a:latin typeface="Arial" panose="020B0604020202020204" pitchFamily="34" charset="0"/>
                <a:cs typeface="Arial" panose="020B0604020202020204" pitchFamily="34" charset="0"/>
              </a:defRPr>
            </a:lvl1pPr>
          </a:lstStyle>
          <a:p>
            <a:pPr algn="just"/>
            <a:r>
              <a:rPr lang="en-US" noProof="0"/>
              <a:t>Avangrid is consolidating SAP </a:t>
            </a:r>
            <a:r>
              <a:rPr lang="en-US" noProof="0" err="1"/>
              <a:t>CoE</a:t>
            </a:r>
            <a:r>
              <a:rPr lang="en-US" noProof="0"/>
              <a:t> and Applications into a single Digital Products organization — demand fragmentation is the structural risk the TOM must resolve.</a:t>
            </a:r>
          </a:p>
        </p:txBody>
      </p:sp>
      <p:sp>
        <p:nvSpPr>
          <p:cNvPr id="10" name="Rectangle 6">
            <a:extLst>
              <a:ext uri="{FF2B5EF4-FFF2-40B4-BE49-F238E27FC236}">
                <a16:creationId xmlns:a16="http://schemas.microsoft.com/office/drawing/2014/main" id="{53062F34-3BF2-B0D7-D701-8E7287B35C21}"/>
              </a:ext>
            </a:extLst>
          </p:cNvPr>
          <p:cNvSpPr/>
          <p:nvPr/>
        </p:nvSpPr>
        <p:spPr>
          <a:xfrm>
            <a:off x="6843371" y="2728123"/>
            <a:ext cx="4846320" cy="4114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1" name="Rectangle 9">
            <a:extLst>
              <a:ext uri="{FF2B5EF4-FFF2-40B4-BE49-F238E27FC236}">
                <a16:creationId xmlns:a16="http://schemas.microsoft.com/office/drawing/2014/main" id="{D11C9B65-CACE-CBD7-6159-E21AF00D937B}"/>
              </a:ext>
            </a:extLst>
          </p:cNvPr>
          <p:cNvSpPr/>
          <p:nvPr/>
        </p:nvSpPr>
        <p:spPr>
          <a:xfrm>
            <a:off x="6843371" y="3139603"/>
            <a:ext cx="4846320" cy="4114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2" name="Rectangle 13">
            <a:extLst>
              <a:ext uri="{FF2B5EF4-FFF2-40B4-BE49-F238E27FC236}">
                <a16:creationId xmlns:a16="http://schemas.microsoft.com/office/drawing/2014/main" id="{EB58A86E-7094-BC01-8B54-7274142E7FC1}"/>
              </a:ext>
            </a:extLst>
          </p:cNvPr>
          <p:cNvSpPr/>
          <p:nvPr/>
        </p:nvSpPr>
        <p:spPr>
          <a:xfrm>
            <a:off x="6843371" y="3551083"/>
            <a:ext cx="4846320" cy="4114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noProof="0">
              <a:latin typeface="Arial" panose="020B0604020202020204" pitchFamily="34" charset="0"/>
              <a:cs typeface="Arial" panose="020B0604020202020204" pitchFamily="34" charset="0"/>
            </a:endParaRPr>
          </a:p>
        </p:txBody>
      </p:sp>
      <p:sp>
        <p:nvSpPr>
          <p:cNvPr id="13" name="Rectangle 18">
            <a:extLst>
              <a:ext uri="{FF2B5EF4-FFF2-40B4-BE49-F238E27FC236}">
                <a16:creationId xmlns:a16="http://schemas.microsoft.com/office/drawing/2014/main" id="{56C70BBA-16A9-75D3-B972-EC9B39011D88}"/>
              </a:ext>
            </a:extLst>
          </p:cNvPr>
          <p:cNvSpPr/>
          <p:nvPr/>
        </p:nvSpPr>
        <p:spPr>
          <a:xfrm>
            <a:off x="6843371" y="3962563"/>
            <a:ext cx="4846320" cy="4114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noProof="0">
              <a:latin typeface="Arial" panose="020B0604020202020204" pitchFamily="34" charset="0"/>
              <a:cs typeface="Arial" panose="020B0604020202020204" pitchFamily="34" charset="0"/>
            </a:endParaRPr>
          </a:p>
        </p:txBody>
      </p:sp>
      <p:pic>
        <p:nvPicPr>
          <p:cNvPr id="16" name="Image 0" descr="preencoded.png">
            <a:extLst>
              <a:ext uri="{FF2B5EF4-FFF2-40B4-BE49-F238E27FC236}">
                <a16:creationId xmlns:a16="http://schemas.microsoft.com/office/drawing/2014/main" id="{A2C59B0B-877D-74BB-D143-262CC33155FC}"/>
              </a:ext>
            </a:extLst>
          </p:cNvPr>
          <p:cNvPicPr>
            <a:picLocks noChangeAspect="1"/>
          </p:cNvPicPr>
          <p:nvPr/>
        </p:nvPicPr>
        <p:blipFill>
          <a:blip r:embed="rId3">
            <a:duotone>
              <a:prstClr val="black"/>
              <a:schemeClr val="accent1">
                <a:tint val="45000"/>
                <a:satMod val="400000"/>
              </a:schemeClr>
            </a:duotone>
          </a:blip>
          <a:srcRect l="-80" r="-80"/>
          <a:stretch/>
        </p:blipFill>
        <p:spPr>
          <a:xfrm>
            <a:off x="6899641" y="2558302"/>
            <a:ext cx="340932" cy="272310"/>
          </a:xfrm>
          <a:prstGeom prst="rect">
            <a:avLst/>
          </a:prstGeom>
          <a:noFill/>
          <a:ln>
            <a:noFill/>
          </a:ln>
        </p:spPr>
      </p:pic>
      <p:sp>
        <p:nvSpPr>
          <p:cNvPr id="17" name="Text 10">
            <a:extLst>
              <a:ext uri="{FF2B5EF4-FFF2-40B4-BE49-F238E27FC236}">
                <a16:creationId xmlns:a16="http://schemas.microsoft.com/office/drawing/2014/main" id="{2394AF1B-DC51-98A1-962F-DD669809EA39}"/>
              </a:ext>
            </a:extLst>
          </p:cNvPr>
          <p:cNvSpPr txBox="1"/>
          <p:nvPr/>
        </p:nvSpPr>
        <p:spPr>
          <a:xfrm>
            <a:off x="7502761" y="2245320"/>
            <a:ext cx="3304085" cy="505663"/>
          </a:xfrm>
          <a:prstGeom prst="rect">
            <a:avLst/>
          </a:prstGeom>
          <a:noFill/>
          <a:ln>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effectLst/>
                <a:uLnTx/>
                <a:uFillTx/>
                <a:latin typeface="Arial" panose="020B0604020202020204" pitchFamily="34" charset="0"/>
                <a:ea typeface="Montserrat" pitchFamily="34" charset="-122"/>
                <a:cs typeface="Arial" panose="020B0604020202020204" pitchFamily="34" charset="0"/>
              </a:rPr>
              <a:t>No Operational Transparency</a:t>
            </a:r>
            <a:endParaRPr kumimoji="0" lang="en-US" sz="1600" b="0" i="0" u="none" strike="noStrike" kern="1200" cap="none" spc="0" normalizeH="0" baseline="0" noProof="0">
              <a:ln>
                <a:noFill/>
              </a:ln>
              <a:effectLst/>
              <a:uLnTx/>
              <a:uFillTx/>
              <a:latin typeface="Arial" panose="020B0604020202020204" pitchFamily="34" charset="0"/>
              <a:cs typeface="Arial" panose="020B0604020202020204" pitchFamily="34" charset="0"/>
            </a:endParaRPr>
          </a:p>
        </p:txBody>
      </p:sp>
      <p:pic>
        <p:nvPicPr>
          <p:cNvPr id="18" name="Image 2" descr="preencoded.png">
            <a:extLst>
              <a:ext uri="{FF2B5EF4-FFF2-40B4-BE49-F238E27FC236}">
                <a16:creationId xmlns:a16="http://schemas.microsoft.com/office/drawing/2014/main" id="{081840A7-107F-128A-C4B1-B490CC4691F9}"/>
              </a:ext>
            </a:extLst>
          </p:cNvPr>
          <p:cNvPicPr>
            <a:picLocks noChangeAspect="1"/>
          </p:cNvPicPr>
          <p:nvPr/>
        </p:nvPicPr>
        <p:blipFill>
          <a:blip r:embed="rId4">
            <a:duotone>
              <a:prstClr val="black"/>
              <a:schemeClr val="accent1">
                <a:tint val="45000"/>
                <a:satMod val="400000"/>
              </a:schemeClr>
            </a:duotone>
          </a:blip>
          <a:srcRect l="-80" r="-80"/>
          <a:stretch/>
        </p:blipFill>
        <p:spPr>
          <a:xfrm>
            <a:off x="6892581" y="3504611"/>
            <a:ext cx="355052" cy="283588"/>
          </a:xfrm>
          <a:prstGeom prst="rect">
            <a:avLst/>
          </a:prstGeom>
          <a:noFill/>
          <a:ln>
            <a:noFill/>
          </a:ln>
        </p:spPr>
      </p:pic>
      <p:sp>
        <p:nvSpPr>
          <p:cNvPr id="19" name="Text 20">
            <a:extLst>
              <a:ext uri="{FF2B5EF4-FFF2-40B4-BE49-F238E27FC236}">
                <a16:creationId xmlns:a16="http://schemas.microsoft.com/office/drawing/2014/main" id="{3EABF434-B986-C8B6-CB8C-DB125D3D51E4}"/>
              </a:ext>
            </a:extLst>
          </p:cNvPr>
          <p:cNvSpPr txBox="1"/>
          <p:nvPr/>
        </p:nvSpPr>
        <p:spPr>
          <a:xfrm>
            <a:off x="7502761" y="3202980"/>
            <a:ext cx="3480198" cy="505663"/>
          </a:xfrm>
          <a:prstGeom prst="rect">
            <a:avLst/>
          </a:prstGeom>
          <a:noFill/>
          <a:ln>
            <a:noFill/>
          </a:ln>
        </p:spPr>
        <p:txBody>
          <a:bodyPr wrap="square" lIns="0" tIns="0" rIns="0" bIns="0" rtlCol="0" anchor="ctr"/>
          <a:lstStyle>
            <a:defPPr>
              <a:defRPr lang="en-US"/>
            </a:defPPr>
            <a:lvl1pPr marR="0" lvl="0" indent="0" fontAlgn="auto">
              <a:lnSpc>
                <a:spcPct val="100000"/>
              </a:lnSpc>
              <a:spcBef>
                <a:spcPts val="0"/>
              </a:spcBef>
              <a:spcAft>
                <a:spcPts val="0"/>
              </a:spcAft>
              <a:buClrTx/>
              <a:buSzTx/>
              <a:buFontTx/>
              <a:buNone/>
              <a:tabLst/>
              <a:defRPr kumimoji="0" sz="1600" b="1" i="0" u="none" strike="noStrike" cap="none" spc="0" normalizeH="0" baseline="0">
                <a:ln>
                  <a:noFill/>
                </a:ln>
                <a:solidFill>
                  <a:srgbClr val="BC4328"/>
                </a:solidFill>
                <a:effectLst/>
                <a:uLnTx/>
                <a:uFillTx/>
                <a:latin typeface="Montserrat" panose="00000500000000000000" pitchFamily="2" charset="0"/>
                <a:ea typeface="Montserrat" pitchFamily="34" charset="-122"/>
                <a:cs typeface="Montserrat" pitchFamily="34" charset="-120"/>
              </a:defRPr>
            </a:lvl1pPr>
          </a:lstStyle>
          <a:p>
            <a:r>
              <a:rPr lang="en-US" noProof="0">
                <a:solidFill>
                  <a:schemeClr val="tx1"/>
                </a:solidFill>
                <a:latin typeface="Arial" panose="020B0604020202020204" pitchFamily="34" charset="0"/>
                <a:cs typeface="Arial" panose="020B0604020202020204" pitchFamily="34" charset="0"/>
              </a:rPr>
              <a:t>No Standardized Value Criteria</a:t>
            </a:r>
          </a:p>
        </p:txBody>
      </p:sp>
      <p:pic>
        <p:nvPicPr>
          <p:cNvPr id="20" name="Image 4" descr="preencoded.png">
            <a:extLst>
              <a:ext uri="{FF2B5EF4-FFF2-40B4-BE49-F238E27FC236}">
                <a16:creationId xmlns:a16="http://schemas.microsoft.com/office/drawing/2014/main" id="{47E2FA67-3EF5-FEF8-2B9B-AF26BAFC8DAA}"/>
              </a:ext>
            </a:extLst>
          </p:cNvPr>
          <p:cNvPicPr>
            <a:picLocks noChangeAspect="1"/>
          </p:cNvPicPr>
          <p:nvPr/>
        </p:nvPicPr>
        <p:blipFill>
          <a:blip r:embed="rId5">
            <a:duotone>
              <a:prstClr val="black"/>
              <a:schemeClr val="accent1">
                <a:tint val="45000"/>
                <a:satMod val="400000"/>
              </a:schemeClr>
            </a:duotone>
          </a:blip>
          <a:srcRect/>
          <a:stretch/>
        </p:blipFill>
        <p:spPr>
          <a:xfrm>
            <a:off x="6932822" y="4429196"/>
            <a:ext cx="274570" cy="274570"/>
          </a:xfrm>
          <a:prstGeom prst="rect">
            <a:avLst/>
          </a:prstGeom>
          <a:noFill/>
          <a:ln>
            <a:noFill/>
          </a:ln>
        </p:spPr>
      </p:pic>
      <p:sp>
        <p:nvSpPr>
          <p:cNvPr id="21" name="Text 30">
            <a:extLst>
              <a:ext uri="{FF2B5EF4-FFF2-40B4-BE49-F238E27FC236}">
                <a16:creationId xmlns:a16="http://schemas.microsoft.com/office/drawing/2014/main" id="{F9430A51-F9CF-AB00-91F8-FA69A7159D57}"/>
              </a:ext>
            </a:extLst>
          </p:cNvPr>
          <p:cNvSpPr txBox="1"/>
          <p:nvPr/>
        </p:nvSpPr>
        <p:spPr>
          <a:xfrm>
            <a:off x="7502761" y="4116957"/>
            <a:ext cx="3115444" cy="505663"/>
          </a:xfrm>
          <a:prstGeom prst="rect">
            <a:avLst/>
          </a:prstGeom>
          <a:noFill/>
          <a:ln>
            <a:noFill/>
          </a:ln>
        </p:spPr>
        <p:txBody>
          <a:bodyPr wrap="square" lIns="0" tIns="0" rIns="0" bIns="0" rtlCol="0" anchor="ctr"/>
          <a:lstStyle>
            <a:defPPr>
              <a:defRPr lang="en-US"/>
            </a:defPPr>
            <a:lvl1pPr marR="0" lvl="0" indent="0" fontAlgn="auto">
              <a:lnSpc>
                <a:spcPct val="100000"/>
              </a:lnSpc>
              <a:spcBef>
                <a:spcPts val="0"/>
              </a:spcBef>
              <a:spcAft>
                <a:spcPts val="0"/>
              </a:spcAft>
              <a:buClrTx/>
              <a:buSzTx/>
              <a:buFontTx/>
              <a:buNone/>
              <a:tabLst/>
              <a:defRPr kumimoji="0" sz="1600" b="1" i="0" u="none" strike="noStrike" cap="none" spc="0" normalizeH="0" baseline="0">
                <a:ln>
                  <a:noFill/>
                </a:ln>
                <a:solidFill>
                  <a:srgbClr val="BC4328"/>
                </a:solidFill>
                <a:effectLst/>
                <a:uLnTx/>
                <a:uFillTx/>
                <a:latin typeface="Montserrat" panose="00000500000000000000" pitchFamily="2" charset="0"/>
                <a:ea typeface="Montserrat" pitchFamily="34" charset="-122"/>
                <a:cs typeface="Montserrat" pitchFamily="34" charset="-120"/>
              </a:defRPr>
            </a:lvl1pPr>
          </a:lstStyle>
          <a:p>
            <a:r>
              <a:rPr lang="en-US" noProof="0">
                <a:solidFill>
                  <a:schemeClr val="tx1"/>
                </a:solidFill>
                <a:latin typeface="Arial" panose="020B0604020202020204" pitchFamily="34" charset="0"/>
                <a:cs typeface="Arial" panose="020B0604020202020204" pitchFamily="34" charset="0"/>
              </a:rPr>
              <a:t>Operational Fragmentation</a:t>
            </a:r>
          </a:p>
        </p:txBody>
      </p:sp>
      <p:sp>
        <p:nvSpPr>
          <p:cNvPr id="25" name="Text 14">
            <a:extLst>
              <a:ext uri="{FF2B5EF4-FFF2-40B4-BE49-F238E27FC236}">
                <a16:creationId xmlns:a16="http://schemas.microsoft.com/office/drawing/2014/main" id="{7E65BBAE-01F7-F359-8AE2-E5A04B9C45A3}"/>
              </a:ext>
            </a:extLst>
          </p:cNvPr>
          <p:cNvSpPr txBox="1"/>
          <p:nvPr/>
        </p:nvSpPr>
        <p:spPr>
          <a:xfrm>
            <a:off x="7502761" y="2636698"/>
            <a:ext cx="4062476" cy="600761"/>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srgbClr val="1F2937"/>
                </a:solidFill>
                <a:effectLst/>
                <a:uLnTx/>
                <a:uFillTx/>
                <a:latin typeface="Arial" panose="020B0604020202020204" pitchFamily="34" charset="0"/>
                <a:ea typeface="Open Sans" pitchFamily="34" charset="-122"/>
                <a:cs typeface="Arial" panose="020B0604020202020204" pitchFamily="34" charset="0"/>
              </a:rPr>
              <a:t>Inability to effectively manage capacity or predict delivery timelines for the projected 30-50% growth.</a:t>
            </a:r>
            <a:endParaRPr kumimoji="0" lang="en-US" sz="120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6" name="Text 24">
            <a:extLst>
              <a:ext uri="{FF2B5EF4-FFF2-40B4-BE49-F238E27FC236}">
                <a16:creationId xmlns:a16="http://schemas.microsoft.com/office/drawing/2014/main" id="{FB926C48-08CB-5455-C632-34EB778CF200}"/>
              </a:ext>
            </a:extLst>
          </p:cNvPr>
          <p:cNvSpPr txBox="1"/>
          <p:nvPr/>
        </p:nvSpPr>
        <p:spPr>
          <a:xfrm>
            <a:off x="7502761" y="3561258"/>
            <a:ext cx="4084015" cy="600761"/>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srgbClr val="1F2937"/>
                </a:solidFill>
                <a:effectLst/>
                <a:uLnTx/>
                <a:uFillTx/>
                <a:latin typeface="Arial" panose="020B0604020202020204" pitchFamily="34" charset="0"/>
                <a:ea typeface="Open Sans" pitchFamily="34" charset="-122"/>
                <a:cs typeface="Arial" panose="020B0604020202020204" pitchFamily="34" charset="0"/>
              </a:rPr>
              <a:t>Resources may be allocated to low-value initiatives while strategic priorities face delays.</a:t>
            </a:r>
            <a:endParaRPr kumimoji="0" lang="en-US" sz="120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7" name="Text 34">
            <a:extLst>
              <a:ext uri="{FF2B5EF4-FFF2-40B4-BE49-F238E27FC236}">
                <a16:creationId xmlns:a16="http://schemas.microsoft.com/office/drawing/2014/main" id="{0446C02D-36BA-9D25-9532-DA7FCD5838E5}"/>
              </a:ext>
            </a:extLst>
          </p:cNvPr>
          <p:cNvSpPr txBox="1"/>
          <p:nvPr/>
        </p:nvSpPr>
        <p:spPr>
          <a:xfrm>
            <a:off x="7502761" y="4485818"/>
            <a:ext cx="3880815" cy="8001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srgbClr val="1F2937"/>
                </a:solidFill>
                <a:effectLst/>
                <a:uLnTx/>
                <a:uFillTx/>
                <a:latin typeface="Arial" panose="020B0604020202020204" pitchFamily="34" charset="0"/>
                <a:ea typeface="Open Sans" pitchFamily="34" charset="-122"/>
                <a:cs typeface="Arial" panose="020B0604020202020204" pitchFamily="34" charset="0"/>
              </a:rPr>
              <a:t>High operational overhead, data inconsistency, and increased risk of requirements getting lost in translation.</a:t>
            </a:r>
            <a:endParaRPr kumimoji="0" lang="en-US" sz="120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4" name="Rounded Rectangle 4">
            <a:extLst>
              <a:ext uri="{FF2B5EF4-FFF2-40B4-BE49-F238E27FC236}">
                <a16:creationId xmlns:a16="http://schemas.microsoft.com/office/drawing/2014/main" id="{5DC05BDF-7E6A-0EAD-B9E6-F811C82DB9F9}"/>
              </a:ext>
            </a:extLst>
          </p:cNvPr>
          <p:cNvSpPr/>
          <p:nvPr/>
        </p:nvSpPr>
        <p:spPr>
          <a:xfrm>
            <a:off x="543155" y="1813723"/>
            <a:ext cx="4846320" cy="411480"/>
          </a:xfrm>
          <a:prstGeom prst="roundRect">
            <a:avLst>
              <a:gd name="adj" fmla="val 5093"/>
            </a:avLst>
          </a:prstGeom>
          <a:solidFill>
            <a:srgbClr val="0F1C5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110000"/>
              </a:lnSpc>
            </a:pPr>
            <a:r>
              <a:rPr lang="en-US" sz="1200" b="1" noProof="0">
                <a:solidFill>
                  <a:schemeClr val="bg1"/>
                </a:solidFill>
                <a:latin typeface="Arial" panose="020B0604020202020204" pitchFamily="34" charset="0"/>
                <a:cs typeface="Arial" panose="020B0604020202020204" pitchFamily="34" charset="0"/>
              </a:rPr>
              <a:t>WHY WE ARE HERE</a:t>
            </a:r>
          </a:p>
        </p:txBody>
      </p:sp>
      <p:sp>
        <p:nvSpPr>
          <p:cNvPr id="6" name="Rounded Rectangle 4">
            <a:extLst>
              <a:ext uri="{FF2B5EF4-FFF2-40B4-BE49-F238E27FC236}">
                <a16:creationId xmlns:a16="http://schemas.microsoft.com/office/drawing/2014/main" id="{61E7F217-9E25-E1C1-9F6E-077D78503F57}"/>
              </a:ext>
            </a:extLst>
          </p:cNvPr>
          <p:cNvSpPr/>
          <p:nvPr/>
        </p:nvSpPr>
        <p:spPr>
          <a:xfrm>
            <a:off x="6811875" y="1813723"/>
            <a:ext cx="4846320" cy="411480"/>
          </a:xfrm>
          <a:prstGeom prst="roundRect">
            <a:avLst>
              <a:gd name="adj" fmla="val 5093"/>
            </a:avLst>
          </a:prstGeom>
          <a:solidFill>
            <a:srgbClr val="74747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1200" b="1" noProof="0">
                <a:solidFill>
                  <a:srgbClr val="FFFFFF"/>
                </a:solidFill>
                <a:latin typeface="Arial" panose="020B0604020202020204" pitchFamily="34" charset="0"/>
                <a:cs typeface="Arial" panose="020B0604020202020204" pitchFamily="34" charset="0"/>
              </a:rPr>
              <a:t>THE CHALLENGE</a:t>
            </a:r>
          </a:p>
        </p:txBody>
      </p:sp>
      <p:sp>
        <p:nvSpPr>
          <p:cNvPr id="4" name="Elipse 3">
            <a:extLst>
              <a:ext uri="{FF2B5EF4-FFF2-40B4-BE49-F238E27FC236}">
                <a16:creationId xmlns:a16="http://schemas.microsoft.com/office/drawing/2014/main" id="{F853DA9A-307D-6EEC-80B7-19799F87A319}"/>
              </a:ext>
            </a:extLst>
          </p:cNvPr>
          <p:cNvSpPr/>
          <p:nvPr/>
        </p:nvSpPr>
        <p:spPr>
          <a:xfrm>
            <a:off x="-1456661" y="170120"/>
            <a:ext cx="1286540" cy="38277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a:t>Daniel</a:t>
            </a:r>
          </a:p>
        </p:txBody>
      </p:sp>
    </p:spTree>
    <p:extLst>
      <p:ext uri="{BB962C8B-B14F-4D97-AF65-F5344CB8AC3E}">
        <p14:creationId xmlns:p14="http://schemas.microsoft.com/office/powerpoint/2010/main" val="29551535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FF6000-E1B9-1BCA-025D-A3B5EBC554BE}"/>
            </a:ext>
          </a:extLst>
        </p:cNvPr>
        <p:cNvGrpSpPr/>
        <p:nvPr/>
      </p:nvGrpSpPr>
      <p:grpSpPr>
        <a:xfrm>
          <a:off x="0" y="0"/>
          <a:ext cx="0" cy="0"/>
          <a:chOff x="0" y="0"/>
          <a:chExt cx="0" cy="0"/>
        </a:xfrm>
      </p:grpSpPr>
      <p:sp>
        <p:nvSpPr>
          <p:cNvPr id="70" name="Shape 14">
            <a:extLst>
              <a:ext uri="{FF2B5EF4-FFF2-40B4-BE49-F238E27FC236}">
                <a16:creationId xmlns:a16="http://schemas.microsoft.com/office/drawing/2014/main" id="{D881C30A-F963-15CA-8105-D45FB850FD6F}"/>
              </a:ext>
            </a:extLst>
          </p:cNvPr>
          <p:cNvSpPr/>
          <p:nvPr/>
        </p:nvSpPr>
        <p:spPr>
          <a:xfrm>
            <a:off x="1206805" y="2121258"/>
            <a:ext cx="4419295" cy="889478"/>
          </a:xfrm>
          <a:prstGeom prst="rect">
            <a:avLst/>
          </a:prstGeom>
          <a:solidFill>
            <a:srgbClr val="00A443">
              <a:alpha val="30000"/>
            </a:srgbClr>
          </a:solidFill>
          <a:ln/>
        </p:spPr>
        <p:txBody>
          <a:bodyPr/>
          <a:lstStyle/>
          <a:p>
            <a:endParaRPr lang="en-US" sz="2000" noProof="0">
              <a:latin typeface="Arial" panose="020B0604020202020204" pitchFamily="34" charset="0"/>
              <a:cs typeface="Arial" panose="020B0604020202020204" pitchFamily="34" charset="0"/>
            </a:endParaRPr>
          </a:p>
        </p:txBody>
      </p:sp>
      <p:sp>
        <p:nvSpPr>
          <p:cNvPr id="71" name="Shape 14">
            <a:extLst>
              <a:ext uri="{FF2B5EF4-FFF2-40B4-BE49-F238E27FC236}">
                <a16:creationId xmlns:a16="http://schemas.microsoft.com/office/drawing/2014/main" id="{D2DA8801-32B1-0A43-6053-7601EFBCE6F7}"/>
              </a:ext>
            </a:extLst>
          </p:cNvPr>
          <p:cNvSpPr/>
          <p:nvPr/>
        </p:nvSpPr>
        <p:spPr>
          <a:xfrm>
            <a:off x="1206805" y="3095492"/>
            <a:ext cx="4419295" cy="889478"/>
          </a:xfrm>
          <a:prstGeom prst="rect">
            <a:avLst/>
          </a:prstGeom>
          <a:solidFill>
            <a:srgbClr val="00A443">
              <a:alpha val="30000"/>
            </a:srgbClr>
          </a:solidFill>
          <a:ln/>
        </p:spPr>
        <p:txBody>
          <a:bodyPr/>
          <a:lstStyle/>
          <a:p>
            <a:endParaRPr lang="en-US" sz="2000" noProof="0">
              <a:latin typeface="Arial" panose="020B0604020202020204" pitchFamily="34" charset="0"/>
              <a:cs typeface="Arial" panose="020B0604020202020204" pitchFamily="34" charset="0"/>
            </a:endParaRPr>
          </a:p>
        </p:txBody>
      </p:sp>
      <p:sp>
        <p:nvSpPr>
          <p:cNvPr id="72" name="Shape 14">
            <a:extLst>
              <a:ext uri="{FF2B5EF4-FFF2-40B4-BE49-F238E27FC236}">
                <a16:creationId xmlns:a16="http://schemas.microsoft.com/office/drawing/2014/main" id="{41F18845-01A0-8EF3-CA5D-150FA023DBF5}"/>
              </a:ext>
            </a:extLst>
          </p:cNvPr>
          <p:cNvSpPr/>
          <p:nvPr/>
        </p:nvSpPr>
        <p:spPr>
          <a:xfrm>
            <a:off x="1206805" y="4069726"/>
            <a:ext cx="4419295" cy="889478"/>
          </a:xfrm>
          <a:prstGeom prst="rect">
            <a:avLst/>
          </a:prstGeom>
          <a:solidFill>
            <a:srgbClr val="00A443">
              <a:alpha val="30000"/>
            </a:srgbClr>
          </a:solidFill>
          <a:ln/>
        </p:spPr>
        <p:txBody>
          <a:bodyPr/>
          <a:lstStyle/>
          <a:p>
            <a:endParaRPr lang="en-US" sz="2000" noProof="0">
              <a:latin typeface="Arial" panose="020B0604020202020204" pitchFamily="34" charset="0"/>
              <a:cs typeface="Arial" panose="020B0604020202020204" pitchFamily="34" charset="0"/>
            </a:endParaRPr>
          </a:p>
        </p:txBody>
      </p:sp>
      <p:sp>
        <p:nvSpPr>
          <p:cNvPr id="73" name="Shape 14">
            <a:extLst>
              <a:ext uri="{FF2B5EF4-FFF2-40B4-BE49-F238E27FC236}">
                <a16:creationId xmlns:a16="http://schemas.microsoft.com/office/drawing/2014/main" id="{39A7DB04-8C8C-BC76-1EC0-F162B92AE464}"/>
              </a:ext>
            </a:extLst>
          </p:cNvPr>
          <p:cNvSpPr/>
          <p:nvPr/>
        </p:nvSpPr>
        <p:spPr>
          <a:xfrm>
            <a:off x="1206805" y="5043962"/>
            <a:ext cx="4419295" cy="889478"/>
          </a:xfrm>
          <a:prstGeom prst="rect">
            <a:avLst/>
          </a:prstGeom>
          <a:solidFill>
            <a:srgbClr val="00A443">
              <a:alpha val="30000"/>
            </a:srgbClr>
          </a:solidFill>
          <a:ln/>
        </p:spPr>
        <p:txBody>
          <a:bodyPr/>
          <a:lstStyle/>
          <a:p>
            <a:endParaRPr lang="en-US" sz="2000" noProof="0">
              <a:latin typeface="Arial" panose="020B0604020202020204" pitchFamily="34" charset="0"/>
              <a:cs typeface="Arial" panose="020B0604020202020204" pitchFamily="34" charset="0"/>
            </a:endParaRPr>
          </a:p>
        </p:txBody>
      </p:sp>
      <p:sp>
        <p:nvSpPr>
          <p:cNvPr id="16" name="Título 2">
            <a:extLst>
              <a:ext uri="{FF2B5EF4-FFF2-40B4-BE49-F238E27FC236}">
                <a16:creationId xmlns:a16="http://schemas.microsoft.com/office/drawing/2014/main" id="{FDE8D4C8-009A-7DE9-FF68-16732E5E5E68}"/>
              </a:ext>
            </a:extLst>
          </p:cNvPr>
          <p:cNvSpPr txBox="1">
            <a:spLocks/>
          </p:cNvSpPr>
          <p:nvPr/>
        </p:nvSpPr>
        <p:spPr>
          <a:xfrm>
            <a:off x="180918" y="127319"/>
            <a:ext cx="6576167" cy="514011"/>
          </a:xfrm>
          <a:prstGeom prst="rect">
            <a:avLst/>
          </a:prstGeom>
        </p:spPr>
        <p:txBody>
          <a:bodyPr anchor="ctr">
            <a:noAutofit/>
          </a:bodyPr>
          <a:lstStyle>
            <a:defPPr>
              <a:defRPr lang="en-US"/>
            </a:defPPr>
            <a:lvl1pPr>
              <a:lnSpc>
                <a:spcPct val="90000"/>
              </a:lnSpc>
              <a:spcBef>
                <a:spcPct val="0"/>
              </a:spcBef>
              <a:buNone/>
              <a:defRPr sz="2400" b="1">
                <a:solidFill>
                  <a:schemeClr val="bg1"/>
                </a:solidFill>
                <a:latin typeface="Montserrat" pitchFamily="2" charset="77"/>
                <a:ea typeface="+mj-ea"/>
                <a:cs typeface="+mj-cs"/>
              </a:defRPr>
            </a:lvl1pPr>
          </a:lstStyle>
          <a:p>
            <a:r>
              <a:rPr lang="en-US" noProof="0">
                <a:latin typeface="Arial" panose="020B0604020202020204" pitchFamily="34" charset="0"/>
                <a:cs typeface="Arial" panose="020B0604020202020204" pitchFamily="34" charset="0"/>
              </a:rPr>
              <a:t>CONTEXT</a:t>
            </a:r>
          </a:p>
          <a:p>
            <a:r>
              <a:rPr lang="en-US" sz="1200" noProof="0">
                <a:latin typeface="Arial"/>
              </a:rPr>
              <a:t>WHY WE’RE HERE</a:t>
            </a:r>
          </a:p>
        </p:txBody>
      </p:sp>
      <p:sp>
        <p:nvSpPr>
          <p:cNvPr id="27" name="TextBox 26">
            <a:extLst>
              <a:ext uri="{FF2B5EF4-FFF2-40B4-BE49-F238E27FC236}">
                <a16:creationId xmlns:a16="http://schemas.microsoft.com/office/drawing/2014/main" id="{716C00E8-59E4-35F8-3CB2-03F98AF16E14}"/>
              </a:ext>
            </a:extLst>
          </p:cNvPr>
          <p:cNvSpPr txBox="1"/>
          <p:nvPr/>
        </p:nvSpPr>
        <p:spPr>
          <a:xfrm>
            <a:off x="1636371" y="2322341"/>
            <a:ext cx="3921149" cy="487313"/>
          </a:xfrm>
          <a:prstGeom prst="rect">
            <a:avLst/>
          </a:prstGeom>
          <a:noFill/>
        </p:spPr>
        <p:txBody>
          <a:bodyPr wrap="square">
            <a:spAutoFit/>
          </a:bodyPr>
          <a:lstStyle/>
          <a:p>
            <a:pPr>
              <a:spcBef>
                <a:spcPts val="100"/>
              </a:spcBef>
              <a:spcAft>
                <a:spcPts val="100"/>
              </a:spcAft>
            </a:pPr>
            <a:r>
              <a:rPr lang="en-US" sz="1300" b="1" noProof="0">
                <a:solidFill>
                  <a:srgbClr val="333333"/>
                </a:solidFill>
                <a:latin typeface="Arial" panose="020B0604020202020204" pitchFamily="34" charset="0"/>
                <a:cs typeface="Arial" panose="020B0604020202020204" pitchFamily="34" charset="0"/>
              </a:rPr>
              <a:t>Lifecycle &amp; Strategy</a:t>
            </a:r>
          </a:p>
          <a:p>
            <a:pPr>
              <a:spcBef>
                <a:spcPts val="100"/>
              </a:spcBef>
              <a:spcAft>
                <a:spcPts val="100"/>
              </a:spcAft>
            </a:pPr>
            <a:r>
              <a:rPr lang="en-US" sz="1100" noProof="0">
                <a:solidFill>
                  <a:srgbClr val="666666"/>
                </a:solidFill>
                <a:latin typeface="Arial" panose="020B0604020202020204" pitchFamily="34" charset="0"/>
                <a:cs typeface="Arial" panose="020B0604020202020204" pitchFamily="34" charset="0"/>
              </a:rPr>
              <a:t>One intake → Value Based Prioritization </a:t>
            </a:r>
            <a:r>
              <a:rPr lang="en-US" sz="1100" b="0" noProof="0">
                <a:solidFill>
                  <a:srgbClr val="666666"/>
                </a:solidFill>
                <a:latin typeface="Arial" panose="020B0604020202020204" pitchFamily="34" charset="0"/>
                <a:cs typeface="Arial" panose="020B0604020202020204" pitchFamily="34" charset="0"/>
              </a:rPr>
              <a:t>→ E2E traceability</a:t>
            </a:r>
          </a:p>
        </p:txBody>
      </p:sp>
      <p:sp>
        <p:nvSpPr>
          <p:cNvPr id="30" name="TextBox 29">
            <a:extLst>
              <a:ext uri="{FF2B5EF4-FFF2-40B4-BE49-F238E27FC236}">
                <a16:creationId xmlns:a16="http://schemas.microsoft.com/office/drawing/2014/main" id="{9DA47C0E-B522-392D-B3FD-62DE3AE116CD}"/>
              </a:ext>
            </a:extLst>
          </p:cNvPr>
          <p:cNvSpPr txBox="1"/>
          <p:nvPr/>
        </p:nvSpPr>
        <p:spPr>
          <a:xfrm>
            <a:off x="1636371" y="3181328"/>
            <a:ext cx="3921149" cy="656590"/>
          </a:xfrm>
          <a:prstGeom prst="rect">
            <a:avLst/>
          </a:prstGeom>
          <a:noFill/>
        </p:spPr>
        <p:txBody>
          <a:bodyPr wrap="square">
            <a:spAutoFit/>
          </a:bodyPr>
          <a:lstStyle/>
          <a:p>
            <a:pPr>
              <a:spcBef>
                <a:spcPts val="100"/>
              </a:spcBef>
              <a:spcAft>
                <a:spcPts val="100"/>
              </a:spcAft>
            </a:pPr>
            <a:r>
              <a:rPr lang="en-US" sz="1300" b="1" noProof="0">
                <a:solidFill>
                  <a:srgbClr val="333333"/>
                </a:solidFill>
                <a:latin typeface="Arial" panose="020B0604020202020204" pitchFamily="34" charset="0"/>
                <a:cs typeface="Arial" panose="020B0604020202020204" pitchFamily="34" charset="0"/>
              </a:rPr>
              <a:t>Tools &amp; Transparency</a:t>
            </a:r>
          </a:p>
          <a:p>
            <a:pPr>
              <a:spcBef>
                <a:spcPts val="100"/>
              </a:spcBef>
              <a:spcAft>
                <a:spcPts val="100"/>
              </a:spcAft>
            </a:pPr>
            <a:r>
              <a:rPr lang="en-US" sz="1100" b="0" noProof="0">
                <a:solidFill>
                  <a:srgbClr val="666666"/>
                </a:solidFill>
                <a:latin typeface="Arial" panose="020B0604020202020204" pitchFamily="34" charset="0"/>
                <a:cs typeface="Arial" panose="020B0604020202020204" pitchFamily="34" charset="0"/>
              </a:rPr>
              <a:t>Jira workflows → PPMNow visibility → Real-time dashboards</a:t>
            </a:r>
          </a:p>
        </p:txBody>
      </p:sp>
      <p:sp>
        <p:nvSpPr>
          <p:cNvPr id="33" name="TextBox 32">
            <a:extLst>
              <a:ext uri="{FF2B5EF4-FFF2-40B4-BE49-F238E27FC236}">
                <a16:creationId xmlns:a16="http://schemas.microsoft.com/office/drawing/2014/main" id="{F99465B1-CA58-BBF9-EE3C-6207FE65865B}"/>
              </a:ext>
            </a:extLst>
          </p:cNvPr>
          <p:cNvSpPr txBox="1"/>
          <p:nvPr/>
        </p:nvSpPr>
        <p:spPr>
          <a:xfrm>
            <a:off x="1636371" y="4186170"/>
            <a:ext cx="3910989" cy="656590"/>
          </a:xfrm>
          <a:prstGeom prst="rect">
            <a:avLst/>
          </a:prstGeom>
          <a:noFill/>
        </p:spPr>
        <p:txBody>
          <a:bodyPr wrap="square">
            <a:spAutoFit/>
          </a:bodyPr>
          <a:lstStyle/>
          <a:p>
            <a:pPr>
              <a:spcBef>
                <a:spcPts val="100"/>
              </a:spcBef>
              <a:spcAft>
                <a:spcPts val="100"/>
              </a:spcAft>
            </a:pPr>
            <a:r>
              <a:rPr lang="en-US" sz="1300" b="1" noProof="0">
                <a:solidFill>
                  <a:srgbClr val="333333"/>
                </a:solidFill>
                <a:latin typeface="Arial" panose="020B0604020202020204" pitchFamily="34" charset="0"/>
                <a:cs typeface="Arial" panose="020B0604020202020204" pitchFamily="34" charset="0"/>
              </a:rPr>
              <a:t>People &amp; Governance</a:t>
            </a:r>
          </a:p>
          <a:p>
            <a:pPr>
              <a:spcBef>
                <a:spcPts val="100"/>
              </a:spcBef>
              <a:spcAft>
                <a:spcPts val="100"/>
              </a:spcAft>
            </a:pPr>
            <a:r>
              <a:rPr lang="en-US" sz="1100" b="0" noProof="0">
                <a:solidFill>
                  <a:srgbClr val="666666"/>
                </a:solidFill>
                <a:latin typeface="Arial" panose="020B0604020202020204" pitchFamily="34" charset="0"/>
                <a:cs typeface="Arial" panose="020B0604020202020204" pitchFamily="34" charset="0"/>
              </a:rPr>
              <a:t>RACI across lifecycle → Champions per area → Governance model</a:t>
            </a:r>
          </a:p>
        </p:txBody>
      </p:sp>
      <p:sp>
        <p:nvSpPr>
          <p:cNvPr id="36" name="TextBox 35">
            <a:extLst>
              <a:ext uri="{FF2B5EF4-FFF2-40B4-BE49-F238E27FC236}">
                <a16:creationId xmlns:a16="http://schemas.microsoft.com/office/drawing/2014/main" id="{62F710D7-B084-64DE-2B28-8430F410BD0E}"/>
              </a:ext>
            </a:extLst>
          </p:cNvPr>
          <p:cNvSpPr txBox="1"/>
          <p:nvPr/>
        </p:nvSpPr>
        <p:spPr>
          <a:xfrm>
            <a:off x="1636371" y="5245045"/>
            <a:ext cx="3910989" cy="487313"/>
          </a:xfrm>
          <a:prstGeom prst="rect">
            <a:avLst/>
          </a:prstGeom>
          <a:noFill/>
        </p:spPr>
        <p:txBody>
          <a:bodyPr wrap="square">
            <a:spAutoFit/>
          </a:bodyPr>
          <a:lstStyle/>
          <a:p>
            <a:pPr>
              <a:spcBef>
                <a:spcPts val="100"/>
              </a:spcBef>
              <a:spcAft>
                <a:spcPts val="100"/>
              </a:spcAft>
            </a:pPr>
            <a:r>
              <a:rPr lang="en-US" sz="1300" b="1" noProof="0">
                <a:solidFill>
                  <a:srgbClr val="333333"/>
                </a:solidFill>
                <a:latin typeface="Arial" panose="020B0604020202020204" pitchFamily="34" charset="0"/>
                <a:cs typeface="Arial" panose="020B0604020202020204" pitchFamily="34" charset="0"/>
              </a:rPr>
              <a:t>Pilot &amp; Adoption</a:t>
            </a:r>
          </a:p>
          <a:p>
            <a:pPr>
              <a:spcBef>
                <a:spcPts val="100"/>
              </a:spcBef>
              <a:spcAft>
                <a:spcPts val="100"/>
              </a:spcAft>
            </a:pPr>
            <a:r>
              <a:rPr lang="en-US" sz="1100" b="0" noProof="0">
                <a:solidFill>
                  <a:srgbClr val="666666"/>
                </a:solidFill>
                <a:latin typeface="Arial" panose="020B0604020202020204" pitchFamily="34" charset="0"/>
                <a:cs typeface="Arial" panose="020B0604020202020204" pitchFamily="34" charset="0"/>
              </a:rPr>
              <a:t>BRS pilot → WoW Playbook → Validated for Wave 2</a:t>
            </a:r>
          </a:p>
        </p:txBody>
      </p:sp>
      <p:sp>
        <p:nvSpPr>
          <p:cNvPr id="37" name="Rounded Rectangle 29">
            <a:extLst>
              <a:ext uri="{FF2B5EF4-FFF2-40B4-BE49-F238E27FC236}">
                <a16:creationId xmlns:a16="http://schemas.microsoft.com/office/drawing/2014/main" id="{02D6DAC7-A84E-D36A-1367-54694BAA135A}"/>
              </a:ext>
            </a:extLst>
          </p:cNvPr>
          <p:cNvSpPr/>
          <p:nvPr/>
        </p:nvSpPr>
        <p:spPr>
          <a:xfrm>
            <a:off x="715945" y="6136604"/>
            <a:ext cx="10598496" cy="411480"/>
          </a:xfrm>
          <a:prstGeom prst="roundRect">
            <a:avLst>
              <a:gd name="adj" fmla="val 9722"/>
            </a:avLst>
          </a:prstGeom>
          <a:solidFill>
            <a:schemeClr val="accent3"/>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1600" b="1" noProof="0">
                <a:solidFill>
                  <a:srgbClr val="FFFFFF"/>
                </a:solidFill>
                <a:latin typeface="Arial" panose="020B0604020202020204" pitchFamily="34" charset="0"/>
                <a:cs typeface="Arial" panose="020B0604020202020204" pitchFamily="34" charset="0"/>
              </a:rPr>
              <a:t>14 weeks  •  1 pilot (BRS)  •  Built on proven assets from 4 projects  •  Scalable to all OPCOs</a:t>
            </a:r>
          </a:p>
        </p:txBody>
      </p:sp>
      <p:sp>
        <p:nvSpPr>
          <p:cNvPr id="45" name="TextBox 44">
            <a:extLst>
              <a:ext uri="{FF2B5EF4-FFF2-40B4-BE49-F238E27FC236}">
                <a16:creationId xmlns:a16="http://schemas.microsoft.com/office/drawing/2014/main" id="{7F0A1BBA-4819-F003-E72F-67B4E9057161}"/>
              </a:ext>
            </a:extLst>
          </p:cNvPr>
          <p:cNvSpPr txBox="1"/>
          <p:nvPr/>
        </p:nvSpPr>
        <p:spPr>
          <a:xfrm>
            <a:off x="458724" y="928644"/>
            <a:ext cx="11133201" cy="523220"/>
          </a:xfrm>
          <a:prstGeom prst="rect">
            <a:avLst/>
          </a:prstGeom>
          <a:noFill/>
        </p:spPr>
        <p:txBody>
          <a:bodyPr wrap="square" lIns="0" tIns="0" rIns="0" bIns="0" rtlCol="0">
            <a:noAutofit/>
          </a:bodyPr>
          <a:lstStyle>
            <a:defPPr>
              <a:defRPr lang="en-US"/>
            </a:defPPr>
            <a:lvl1pPr algn="just">
              <a:defRPr sz="1400" b="1">
                <a:solidFill>
                  <a:schemeClr val="accent4">
                    <a:lumMod val="75000"/>
                  </a:schemeClr>
                </a:solidFill>
                <a:latin typeface="Arial" panose="020B0604020202020204" pitchFamily="34" charset="0"/>
                <a:cs typeface="Arial" panose="020B0604020202020204" pitchFamily="34" charset="0"/>
              </a:defRPr>
            </a:lvl1pPr>
          </a:lstStyle>
          <a:p>
            <a:r>
              <a:rPr lang="en-US" noProof="0"/>
              <a:t>Digital Products is growing 30-50% — but without a unified operating model, growth creates chaos. We analyzed 4 existing Avangrid projects and will reuse what works across four dimensions.</a:t>
            </a:r>
          </a:p>
        </p:txBody>
      </p:sp>
      <p:sp>
        <p:nvSpPr>
          <p:cNvPr id="44" name="Shape 14">
            <a:extLst>
              <a:ext uri="{FF2B5EF4-FFF2-40B4-BE49-F238E27FC236}">
                <a16:creationId xmlns:a16="http://schemas.microsoft.com/office/drawing/2014/main" id="{B1A94186-707D-E273-25B0-07BEDC203BEB}"/>
              </a:ext>
            </a:extLst>
          </p:cNvPr>
          <p:cNvSpPr/>
          <p:nvPr/>
        </p:nvSpPr>
        <p:spPr>
          <a:xfrm>
            <a:off x="6479845" y="2121258"/>
            <a:ext cx="4419295" cy="476402"/>
          </a:xfrm>
          <a:prstGeom prst="rect">
            <a:avLst/>
          </a:prstGeom>
          <a:solidFill>
            <a:srgbClr val="D1EDFE">
              <a:alpha val="69000"/>
            </a:srgbClr>
          </a:solidFill>
          <a:ln/>
        </p:spPr>
        <p:txBody>
          <a:bodyPr/>
          <a:lstStyle/>
          <a:p>
            <a:endParaRPr lang="en-US" sz="1200" noProof="0">
              <a:latin typeface="Arial" panose="020B0604020202020204" pitchFamily="34" charset="0"/>
              <a:cs typeface="Arial" panose="020B0604020202020204" pitchFamily="34" charset="0"/>
            </a:endParaRPr>
          </a:p>
        </p:txBody>
      </p:sp>
      <p:sp>
        <p:nvSpPr>
          <p:cNvPr id="46" name="Shape 20">
            <a:extLst>
              <a:ext uri="{FF2B5EF4-FFF2-40B4-BE49-F238E27FC236}">
                <a16:creationId xmlns:a16="http://schemas.microsoft.com/office/drawing/2014/main" id="{851CD9D8-1E64-4925-DDD0-A120A1C49E0E}"/>
              </a:ext>
            </a:extLst>
          </p:cNvPr>
          <p:cNvSpPr/>
          <p:nvPr/>
        </p:nvSpPr>
        <p:spPr>
          <a:xfrm>
            <a:off x="6479845" y="2673555"/>
            <a:ext cx="4419295" cy="476402"/>
          </a:xfrm>
          <a:prstGeom prst="rect">
            <a:avLst/>
          </a:prstGeom>
          <a:solidFill>
            <a:srgbClr val="D1EDFE">
              <a:alpha val="69000"/>
            </a:srgbClr>
          </a:solidFill>
          <a:ln/>
        </p:spPr>
        <p:txBody>
          <a:bodyPr/>
          <a:lstStyle/>
          <a:p>
            <a:endParaRPr lang="en-US" sz="1200" noProof="0">
              <a:latin typeface="Arial" panose="020B0604020202020204" pitchFamily="34" charset="0"/>
              <a:cs typeface="Arial" panose="020B0604020202020204" pitchFamily="34" charset="0"/>
            </a:endParaRPr>
          </a:p>
        </p:txBody>
      </p:sp>
      <p:sp>
        <p:nvSpPr>
          <p:cNvPr id="47" name="Shape 26">
            <a:extLst>
              <a:ext uri="{FF2B5EF4-FFF2-40B4-BE49-F238E27FC236}">
                <a16:creationId xmlns:a16="http://schemas.microsoft.com/office/drawing/2014/main" id="{98E4F092-508D-8C62-B057-CEF51999C1D1}"/>
              </a:ext>
            </a:extLst>
          </p:cNvPr>
          <p:cNvSpPr/>
          <p:nvPr/>
        </p:nvSpPr>
        <p:spPr>
          <a:xfrm>
            <a:off x="6479845" y="3226767"/>
            <a:ext cx="4419295" cy="476402"/>
          </a:xfrm>
          <a:prstGeom prst="rect">
            <a:avLst/>
          </a:prstGeom>
          <a:solidFill>
            <a:srgbClr val="D1EDFE">
              <a:alpha val="69000"/>
            </a:srgbClr>
          </a:solidFill>
          <a:ln/>
        </p:spPr>
        <p:txBody>
          <a:bodyPr/>
          <a:lstStyle/>
          <a:p>
            <a:endParaRPr lang="en-US" sz="1200" noProof="0">
              <a:latin typeface="Arial" panose="020B0604020202020204" pitchFamily="34" charset="0"/>
              <a:cs typeface="Arial" panose="020B0604020202020204" pitchFamily="34" charset="0"/>
            </a:endParaRPr>
          </a:p>
        </p:txBody>
      </p:sp>
      <p:sp>
        <p:nvSpPr>
          <p:cNvPr id="48" name="Shape 32">
            <a:extLst>
              <a:ext uri="{FF2B5EF4-FFF2-40B4-BE49-F238E27FC236}">
                <a16:creationId xmlns:a16="http://schemas.microsoft.com/office/drawing/2014/main" id="{36757912-75F7-156E-D8B4-BC222AAFC27D}"/>
              </a:ext>
            </a:extLst>
          </p:cNvPr>
          <p:cNvSpPr/>
          <p:nvPr/>
        </p:nvSpPr>
        <p:spPr>
          <a:xfrm>
            <a:off x="6479845" y="3779065"/>
            <a:ext cx="4419295" cy="476402"/>
          </a:xfrm>
          <a:prstGeom prst="rect">
            <a:avLst/>
          </a:prstGeom>
          <a:solidFill>
            <a:srgbClr val="D1EDFE">
              <a:alpha val="69000"/>
            </a:srgbClr>
          </a:solidFill>
          <a:ln/>
        </p:spPr>
        <p:txBody>
          <a:bodyPr/>
          <a:lstStyle/>
          <a:p>
            <a:endParaRPr lang="en-US" sz="1200" noProof="0">
              <a:latin typeface="Arial" panose="020B0604020202020204" pitchFamily="34" charset="0"/>
              <a:cs typeface="Arial" panose="020B0604020202020204" pitchFamily="34" charset="0"/>
            </a:endParaRPr>
          </a:p>
        </p:txBody>
      </p:sp>
      <p:sp>
        <p:nvSpPr>
          <p:cNvPr id="49" name="Shape 38">
            <a:extLst>
              <a:ext uri="{FF2B5EF4-FFF2-40B4-BE49-F238E27FC236}">
                <a16:creationId xmlns:a16="http://schemas.microsoft.com/office/drawing/2014/main" id="{D50E17F7-2FB6-8FFC-5815-DC207AB15A9F}"/>
              </a:ext>
            </a:extLst>
          </p:cNvPr>
          <p:cNvSpPr/>
          <p:nvPr/>
        </p:nvSpPr>
        <p:spPr>
          <a:xfrm>
            <a:off x="6479845" y="4331362"/>
            <a:ext cx="4419295" cy="476402"/>
          </a:xfrm>
          <a:prstGeom prst="rect">
            <a:avLst/>
          </a:prstGeom>
          <a:solidFill>
            <a:srgbClr val="D1EDFE">
              <a:alpha val="69000"/>
            </a:srgbClr>
          </a:solidFill>
          <a:ln/>
        </p:spPr>
        <p:txBody>
          <a:bodyPr/>
          <a:lstStyle/>
          <a:p>
            <a:endParaRPr lang="en-US" sz="1200" noProof="0">
              <a:latin typeface="Arial" panose="020B0604020202020204" pitchFamily="34" charset="0"/>
              <a:cs typeface="Arial" panose="020B0604020202020204" pitchFamily="34" charset="0"/>
            </a:endParaRPr>
          </a:p>
        </p:txBody>
      </p:sp>
      <p:sp>
        <p:nvSpPr>
          <p:cNvPr id="50" name="Shape 44">
            <a:extLst>
              <a:ext uri="{FF2B5EF4-FFF2-40B4-BE49-F238E27FC236}">
                <a16:creationId xmlns:a16="http://schemas.microsoft.com/office/drawing/2014/main" id="{7CACCAE0-184A-29FD-B810-EA73D817EF00}"/>
              </a:ext>
            </a:extLst>
          </p:cNvPr>
          <p:cNvSpPr/>
          <p:nvPr/>
        </p:nvSpPr>
        <p:spPr>
          <a:xfrm>
            <a:off x="6479845" y="4883660"/>
            <a:ext cx="4419295" cy="476402"/>
          </a:xfrm>
          <a:prstGeom prst="rect">
            <a:avLst/>
          </a:prstGeom>
          <a:solidFill>
            <a:srgbClr val="D1EDFE">
              <a:alpha val="69000"/>
            </a:srgbClr>
          </a:solidFill>
          <a:ln/>
        </p:spPr>
        <p:txBody>
          <a:bodyPr/>
          <a:lstStyle/>
          <a:p>
            <a:endParaRPr lang="en-US" sz="1200" noProof="0">
              <a:latin typeface="Arial" panose="020B0604020202020204" pitchFamily="34" charset="0"/>
              <a:cs typeface="Arial" panose="020B0604020202020204" pitchFamily="34" charset="0"/>
            </a:endParaRPr>
          </a:p>
        </p:txBody>
      </p:sp>
      <p:sp>
        <p:nvSpPr>
          <p:cNvPr id="51" name="Shape 50">
            <a:extLst>
              <a:ext uri="{FF2B5EF4-FFF2-40B4-BE49-F238E27FC236}">
                <a16:creationId xmlns:a16="http://schemas.microsoft.com/office/drawing/2014/main" id="{4393A72B-B353-BFD4-2FE8-60E6C2C9DCD1}"/>
              </a:ext>
            </a:extLst>
          </p:cNvPr>
          <p:cNvSpPr/>
          <p:nvPr/>
        </p:nvSpPr>
        <p:spPr>
          <a:xfrm>
            <a:off x="6479845" y="5435958"/>
            <a:ext cx="4419295" cy="476402"/>
          </a:xfrm>
          <a:prstGeom prst="rect">
            <a:avLst/>
          </a:prstGeom>
          <a:solidFill>
            <a:srgbClr val="D1EDFE">
              <a:alpha val="69000"/>
            </a:srgbClr>
          </a:solidFill>
          <a:ln/>
        </p:spPr>
        <p:txBody>
          <a:bodyPr/>
          <a:lstStyle/>
          <a:p>
            <a:endParaRPr lang="en-US" sz="1200" noProof="0">
              <a:latin typeface="Arial" panose="020B0604020202020204" pitchFamily="34" charset="0"/>
              <a:cs typeface="Arial" panose="020B0604020202020204" pitchFamily="34" charset="0"/>
            </a:endParaRPr>
          </a:p>
        </p:txBody>
      </p:sp>
      <p:sp>
        <p:nvSpPr>
          <p:cNvPr id="52" name="Shape 10">
            <a:extLst>
              <a:ext uri="{FF2B5EF4-FFF2-40B4-BE49-F238E27FC236}">
                <a16:creationId xmlns:a16="http://schemas.microsoft.com/office/drawing/2014/main" id="{662BDE2A-BC18-B8D7-393F-7837BEA18BC4}"/>
              </a:ext>
            </a:extLst>
          </p:cNvPr>
          <p:cNvSpPr/>
          <p:nvPr/>
        </p:nvSpPr>
        <p:spPr>
          <a:xfrm>
            <a:off x="6489700" y="1512267"/>
            <a:ext cx="4419295" cy="533095"/>
          </a:xfrm>
          <a:prstGeom prst="rect">
            <a:avLst/>
          </a:prstGeom>
          <a:solidFill>
            <a:srgbClr val="005B96"/>
          </a:solidFill>
          <a:ln/>
        </p:spPr>
        <p:txBody>
          <a:bodyPr anchor="ctr"/>
          <a:lstStyle/>
          <a:p>
            <a:pPr algn="ctr"/>
            <a:r>
              <a:rPr lang="en-US" sz="1200" b="1" noProof="0">
                <a:solidFill>
                  <a:schemeClr val="bg1"/>
                </a:solidFill>
                <a:latin typeface="Arial" panose="020B0604020202020204" pitchFamily="34" charset="0"/>
                <a:cs typeface="Arial" panose="020B0604020202020204" pitchFamily="34" charset="0"/>
              </a:rPr>
              <a:t>FUTURE STATE (WHAT WE AIM TO ACHIEVE)</a:t>
            </a:r>
          </a:p>
        </p:txBody>
      </p:sp>
      <p:sp>
        <p:nvSpPr>
          <p:cNvPr id="53" name="Shape 11">
            <a:extLst>
              <a:ext uri="{FF2B5EF4-FFF2-40B4-BE49-F238E27FC236}">
                <a16:creationId xmlns:a16="http://schemas.microsoft.com/office/drawing/2014/main" id="{1203DBC3-F81C-6211-EE70-850FBD173971}"/>
              </a:ext>
            </a:extLst>
          </p:cNvPr>
          <p:cNvSpPr/>
          <p:nvPr/>
        </p:nvSpPr>
        <p:spPr>
          <a:xfrm>
            <a:off x="6489700" y="2056640"/>
            <a:ext cx="4419295" cy="19202"/>
          </a:xfrm>
          <a:prstGeom prst="rect">
            <a:avLst/>
          </a:prstGeom>
          <a:solidFill>
            <a:schemeClr val="tx1"/>
          </a:solidFill>
          <a:ln w="12700">
            <a:solidFill>
              <a:srgbClr val="047857">
                <a:alpha val="0"/>
              </a:srgbClr>
            </a:solidFill>
            <a:prstDash val="solid"/>
          </a:ln>
        </p:spPr>
        <p:txBody>
          <a:bodyPr/>
          <a:lstStyle/>
          <a:p>
            <a:endParaRPr lang="en-US" sz="1200" noProof="0">
              <a:latin typeface="Arial" panose="020B0604020202020204" pitchFamily="34" charset="0"/>
              <a:cs typeface="Arial" panose="020B0604020202020204" pitchFamily="34" charset="0"/>
            </a:endParaRPr>
          </a:p>
        </p:txBody>
      </p:sp>
      <p:sp>
        <p:nvSpPr>
          <p:cNvPr id="55" name="Text 18">
            <a:extLst>
              <a:ext uri="{FF2B5EF4-FFF2-40B4-BE49-F238E27FC236}">
                <a16:creationId xmlns:a16="http://schemas.microsoft.com/office/drawing/2014/main" id="{968B2D2A-6543-9732-AA69-00FFABE95CC5}"/>
              </a:ext>
            </a:extLst>
          </p:cNvPr>
          <p:cNvSpPr txBox="1"/>
          <p:nvPr/>
        </p:nvSpPr>
        <p:spPr>
          <a:xfrm>
            <a:off x="6871005" y="2266647"/>
            <a:ext cx="4002329" cy="191110"/>
          </a:xfrm>
          <a:prstGeom prst="rect">
            <a:avLst/>
          </a:prstGeom>
          <a:noFill/>
          <a:ln/>
        </p:spPr>
        <p:txBody>
          <a:bodyPr wrap="square" lIns="0" tIns="0" rIns="0" bIns="0" rtlCol="0" anchor="ctr"/>
          <a:lstStyle/>
          <a:p>
            <a:pPr marL="0" indent="0" algn="l">
              <a:buNone/>
            </a:pPr>
            <a:r>
              <a:rPr lang="en-US" sz="1200" noProof="0">
                <a:latin typeface="Arial" panose="020B0604020202020204" pitchFamily="34" charset="0"/>
                <a:ea typeface="Open Sans" pitchFamily="34" charset="-122"/>
                <a:cs typeface="Arial" panose="020B0604020202020204" pitchFamily="34" charset="0"/>
              </a:rPr>
              <a:t>Single structured intake process for all demand types</a:t>
            </a:r>
            <a:endParaRPr lang="en-US" sz="1200" noProof="0">
              <a:latin typeface="Arial" panose="020B0604020202020204" pitchFamily="34" charset="0"/>
              <a:cs typeface="Arial" panose="020B0604020202020204" pitchFamily="34" charset="0"/>
            </a:endParaRPr>
          </a:p>
        </p:txBody>
      </p:sp>
      <p:pic>
        <p:nvPicPr>
          <p:cNvPr id="56" name="Image 6" descr="preencoded.png">
            <a:extLst>
              <a:ext uri="{FF2B5EF4-FFF2-40B4-BE49-F238E27FC236}">
                <a16:creationId xmlns:a16="http://schemas.microsoft.com/office/drawing/2014/main" id="{27CAF99F-604D-F219-5EAD-47B950B579CE}"/>
              </a:ext>
            </a:extLst>
          </p:cNvPr>
          <p:cNvPicPr>
            <a:picLocks noChangeAspect="1"/>
          </p:cNvPicPr>
          <p:nvPr/>
        </p:nvPicPr>
        <p:blipFill>
          <a:blip r:embed="rId3">
            <a:duotone>
              <a:prstClr val="black"/>
              <a:schemeClr val="accent5">
                <a:tint val="45000"/>
                <a:satMod val="400000"/>
              </a:schemeClr>
            </a:duotone>
          </a:blip>
          <a:srcRect l="-2571" r="-2571"/>
          <a:stretch/>
        </p:blipFill>
        <p:spPr>
          <a:xfrm>
            <a:off x="6689954" y="2299566"/>
            <a:ext cx="105156" cy="114300"/>
          </a:xfrm>
          <a:prstGeom prst="rect">
            <a:avLst/>
          </a:prstGeom>
        </p:spPr>
      </p:pic>
      <p:sp>
        <p:nvSpPr>
          <p:cNvPr id="57" name="Text 24">
            <a:extLst>
              <a:ext uri="{FF2B5EF4-FFF2-40B4-BE49-F238E27FC236}">
                <a16:creationId xmlns:a16="http://schemas.microsoft.com/office/drawing/2014/main" id="{9C3E06E7-239A-B8E8-657D-DE7EF74D9FFB}"/>
              </a:ext>
            </a:extLst>
          </p:cNvPr>
          <p:cNvSpPr txBox="1"/>
          <p:nvPr/>
        </p:nvSpPr>
        <p:spPr>
          <a:xfrm>
            <a:off x="6871005" y="2818945"/>
            <a:ext cx="3963010" cy="191110"/>
          </a:xfrm>
          <a:prstGeom prst="rect">
            <a:avLst/>
          </a:prstGeom>
          <a:noFill/>
          <a:ln/>
        </p:spPr>
        <p:txBody>
          <a:bodyPr wrap="square" lIns="0" tIns="0" rIns="0" bIns="0" rtlCol="0" anchor="ctr"/>
          <a:lstStyle/>
          <a:p>
            <a:pPr marL="0" indent="0" algn="l">
              <a:buNone/>
            </a:pPr>
            <a:r>
              <a:rPr lang="en-US" sz="1200" noProof="0">
                <a:latin typeface="Arial" panose="020B0604020202020204" pitchFamily="34" charset="0"/>
                <a:ea typeface="Open Sans" pitchFamily="34" charset="-122"/>
                <a:cs typeface="Arial" panose="020B0604020202020204" pitchFamily="34" charset="0"/>
              </a:rPr>
              <a:t>Value-based framework </a:t>
            </a:r>
            <a:endParaRPr lang="en-US" sz="1200" noProof="0">
              <a:latin typeface="Arial" panose="020B0604020202020204" pitchFamily="34" charset="0"/>
              <a:cs typeface="Arial" panose="020B0604020202020204" pitchFamily="34" charset="0"/>
            </a:endParaRPr>
          </a:p>
        </p:txBody>
      </p:sp>
      <p:pic>
        <p:nvPicPr>
          <p:cNvPr id="58" name="Image 11" descr="preencoded.png">
            <a:extLst>
              <a:ext uri="{FF2B5EF4-FFF2-40B4-BE49-F238E27FC236}">
                <a16:creationId xmlns:a16="http://schemas.microsoft.com/office/drawing/2014/main" id="{B0C54D50-68D2-5E6E-FA2C-980D5DF8EF92}"/>
              </a:ext>
            </a:extLst>
          </p:cNvPr>
          <p:cNvPicPr>
            <a:picLocks noChangeAspect="1"/>
          </p:cNvPicPr>
          <p:nvPr/>
        </p:nvPicPr>
        <p:blipFill>
          <a:blip r:embed="rId3">
            <a:duotone>
              <a:prstClr val="black"/>
              <a:schemeClr val="accent5">
                <a:tint val="45000"/>
                <a:satMod val="400000"/>
              </a:schemeClr>
            </a:duotone>
          </a:blip>
          <a:srcRect l="-2571" r="-2571"/>
          <a:stretch/>
        </p:blipFill>
        <p:spPr>
          <a:xfrm>
            <a:off x="6689954" y="2852778"/>
            <a:ext cx="105156" cy="114300"/>
          </a:xfrm>
          <a:prstGeom prst="rect">
            <a:avLst/>
          </a:prstGeom>
        </p:spPr>
      </p:pic>
      <p:sp>
        <p:nvSpPr>
          <p:cNvPr id="59" name="Text 30">
            <a:extLst>
              <a:ext uri="{FF2B5EF4-FFF2-40B4-BE49-F238E27FC236}">
                <a16:creationId xmlns:a16="http://schemas.microsoft.com/office/drawing/2014/main" id="{B1901AD7-243B-4DA9-3394-D15572C35F7B}"/>
              </a:ext>
            </a:extLst>
          </p:cNvPr>
          <p:cNvSpPr txBox="1"/>
          <p:nvPr/>
        </p:nvSpPr>
        <p:spPr>
          <a:xfrm>
            <a:off x="6871005" y="3371242"/>
            <a:ext cx="4002329" cy="191110"/>
          </a:xfrm>
          <a:prstGeom prst="rect">
            <a:avLst/>
          </a:prstGeom>
          <a:noFill/>
          <a:ln/>
        </p:spPr>
        <p:txBody>
          <a:bodyPr wrap="square" lIns="0" tIns="0" rIns="0" bIns="0" rtlCol="0" anchor="ctr"/>
          <a:lstStyle/>
          <a:p>
            <a:pPr marL="0" indent="0" algn="l">
              <a:buNone/>
            </a:pPr>
            <a:r>
              <a:rPr lang="en-US" sz="1200" noProof="0">
                <a:latin typeface="Arial" panose="020B0604020202020204" pitchFamily="34" charset="0"/>
                <a:ea typeface="Open Sans" pitchFamily="34" charset="-122"/>
                <a:cs typeface="Arial" panose="020B0604020202020204" pitchFamily="34" charset="0"/>
              </a:rPr>
              <a:t>Structured analysis phase &amp; capacity-aware assignment</a:t>
            </a:r>
            <a:endParaRPr lang="en-US" sz="1200" noProof="0">
              <a:latin typeface="Arial" panose="020B0604020202020204" pitchFamily="34" charset="0"/>
              <a:cs typeface="Arial" panose="020B0604020202020204" pitchFamily="34" charset="0"/>
            </a:endParaRPr>
          </a:p>
        </p:txBody>
      </p:sp>
      <p:pic>
        <p:nvPicPr>
          <p:cNvPr id="60" name="Image 16" descr="preencoded.png">
            <a:extLst>
              <a:ext uri="{FF2B5EF4-FFF2-40B4-BE49-F238E27FC236}">
                <a16:creationId xmlns:a16="http://schemas.microsoft.com/office/drawing/2014/main" id="{5EB542B0-239D-7C30-1711-7FCEEACA2E5F}"/>
              </a:ext>
            </a:extLst>
          </p:cNvPr>
          <p:cNvPicPr>
            <a:picLocks noChangeAspect="1"/>
          </p:cNvPicPr>
          <p:nvPr/>
        </p:nvPicPr>
        <p:blipFill>
          <a:blip r:embed="rId3">
            <a:duotone>
              <a:prstClr val="black"/>
              <a:schemeClr val="accent5">
                <a:tint val="45000"/>
                <a:satMod val="400000"/>
              </a:schemeClr>
            </a:duotone>
          </a:blip>
          <a:srcRect l="-2571" r="-2571"/>
          <a:stretch/>
        </p:blipFill>
        <p:spPr>
          <a:xfrm>
            <a:off x="6689954" y="3405075"/>
            <a:ext cx="105156" cy="114300"/>
          </a:xfrm>
          <a:prstGeom prst="rect">
            <a:avLst/>
          </a:prstGeom>
        </p:spPr>
      </p:pic>
      <p:sp>
        <p:nvSpPr>
          <p:cNvPr id="61" name="Text 36">
            <a:extLst>
              <a:ext uri="{FF2B5EF4-FFF2-40B4-BE49-F238E27FC236}">
                <a16:creationId xmlns:a16="http://schemas.microsoft.com/office/drawing/2014/main" id="{B32D7B4F-55A0-AA7B-4BF6-3C9D1C44BA8D}"/>
              </a:ext>
            </a:extLst>
          </p:cNvPr>
          <p:cNvSpPr txBox="1"/>
          <p:nvPr/>
        </p:nvSpPr>
        <p:spPr>
          <a:xfrm>
            <a:off x="6871005" y="3924454"/>
            <a:ext cx="4002329" cy="191110"/>
          </a:xfrm>
          <a:prstGeom prst="rect">
            <a:avLst/>
          </a:prstGeom>
          <a:noFill/>
          <a:ln/>
        </p:spPr>
        <p:txBody>
          <a:bodyPr wrap="square" lIns="0" tIns="0" rIns="0" bIns="0" rtlCol="0" anchor="ctr"/>
          <a:lstStyle/>
          <a:p>
            <a:pPr marL="0" indent="0" algn="l">
              <a:buNone/>
            </a:pPr>
            <a:r>
              <a:rPr lang="en-US" sz="1200" noProof="0">
                <a:latin typeface="Arial" panose="020B0604020202020204" pitchFamily="34" charset="0"/>
                <a:ea typeface="Open Sans" pitchFamily="34" charset="-122"/>
                <a:cs typeface="Arial" panose="020B0604020202020204" pitchFamily="34" charset="0"/>
              </a:rPr>
              <a:t>Standardized workflows (Jira) across Digital Products</a:t>
            </a:r>
            <a:endParaRPr lang="en-US" sz="1200" noProof="0">
              <a:latin typeface="Arial" panose="020B0604020202020204" pitchFamily="34" charset="0"/>
              <a:cs typeface="Arial" panose="020B0604020202020204" pitchFamily="34" charset="0"/>
            </a:endParaRPr>
          </a:p>
        </p:txBody>
      </p:sp>
      <p:pic>
        <p:nvPicPr>
          <p:cNvPr id="62" name="Image 21" descr="preencoded.png">
            <a:extLst>
              <a:ext uri="{FF2B5EF4-FFF2-40B4-BE49-F238E27FC236}">
                <a16:creationId xmlns:a16="http://schemas.microsoft.com/office/drawing/2014/main" id="{87442692-FC22-CB42-B032-C943A4A24998}"/>
              </a:ext>
            </a:extLst>
          </p:cNvPr>
          <p:cNvPicPr>
            <a:picLocks noChangeAspect="1"/>
          </p:cNvPicPr>
          <p:nvPr/>
        </p:nvPicPr>
        <p:blipFill>
          <a:blip r:embed="rId3">
            <a:duotone>
              <a:prstClr val="black"/>
              <a:schemeClr val="accent5">
                <a:tint val="45000"/>
                <a:satMod val="400000"/>
              </a:schemeClr>
            </a:duotone>
          </a:blip>
          <a:srcRect l="-2571" r="-2571"/>
          <a:stretch/>
        </p:blipFill>
        <p:spPr>
          <a:xfrm>
            <a:off x="6689954" y="3957373"/>
            <a:ext cx="105156" cy="114300"/>
          </a:xfrm>
          <a:prstGeom prst="rect">
            <a:avLst/>
          </a:prstGeom>
        </p:spPr>
      </p:pic>
      <p:sp>
        <p:nvSpPr>
          <p:cNvPr id="63" name="Text 42">
            <a:extLst>
              <a:ext uri="{FF2B5EF4-FFF2-40B4-BE49-F238E27FC236}">
                <a16:creationId xmlns:a16="http://schemas.microsoft.com/office/drawing/2014/main" id="{37875DBB-40E0-C055-5C1C-9795807EA9C3}"/>
              </a:ext>
            </a:extLst>
          </p:cNvPr>
          <p:cNvSpPr txBox="1"/>
          <p:nvPr/>
        </p:nvSpPr>
        <p:spPr>
          <a:xfrm>
            <a:off x="6871005" y="4476752"/>
            <a:ext cx="3963010" cy="191110"/>
          </a:xfrm>
          <a:prstGeom prst="rect">
            <a:avLst/>
          </a:prstGeom>
          <a:noFill/>
          <a:ln/>
        </p:spPr>
        <p:txBody>
          <a:bodyPr wrap="square" lIns="0" tIns="0" rIns="0" bIns="0" rtlCol="0" anchor="ctr"/>
          <a:lstStyle/>
          <a:p>
            <a:pPr marL="0" indent="0" algn="l">
              <a:buNone/>
            </a:pPr>
            <a:r>
              <a:rPr lang="en-US" sz="1200" noProof="0">
                <a:latin typeface="Arial" panose="020B0604020202020204" pitchFamily="34" charset="0"/>
                <a:ea typeface="Open Sans" pitchFamily="34" charset="-122"/>
                <a:cs typeface="Arial" panose="020B0604020202020204" pitchFamily="34" charset="0"/>
              </a:rPr>
              <a:t>Automated dashboards from single source of truth</a:t>
            </a:r>
            <a:endParaRPr lang="en-US" sz="1200" noProof="0">
              <a:latin typeface="Arial" panose="020B0604020202020204" pitchFamily="34" charset="0"/>
              <a:cs typeface="Arial" panose="020B0604020202020204" pitchFamily="34" charset="0"/>
            </a:endParaRPr>
          </a:p>
        </p:txBody>
      </p:sp>
      <p:pic>
        <p:nvPicPr>
          <p:cNvPr id="64" name="Image 26" descr="preencoded.png">
            <a:extLst>
              <a:ext uri="{FF2B5EF4-FFF2-40B4-BE49-F238E27FC236}">
                <a16:creationId xmlns:a16="http://schemas.microsoft.com/office/drawing/2014/main" id="{43F000F1-1CBE-B395-ACBA-29A38340A7A8}"/>
              </a:ext>
            </a:extLst>
          </p:cNvPr>
          <p:cNvPicPr>
            <a:picLocks noChangeAspect="1"/>
          </p:cNvPicPr>
          <p:nvPr/>
        </p:nvPicPr>
        <p:blipFill>
          <a:blip r:embed="rId3">
            <a:duotone>
              <a:prstClr val="black"/>
              <a:schemeClr val="accent5">
                <a:tint val="45000"/>
                <a:satMod val="400000"/>
              </a:schemeClr>
            </a:duotone>
          </a:blip>
          <a:srcRect l="-2571" r="-2571"/>
          <a:stretch/>
        </p:blipFill>
        <p:spPr>
          <a:xfrm>
            <a:off x="6689954" y="4509670"/>
            <a:ext cx="105156" cy="114300"/>
          </a:xfrm>
          <a:prstGeom prst="rect">
            <a:avLst/>
          </a:prstGeom>
        </p:spPr>
      </p:pic>
      <p:sp>
        <p:nvSpPr>
          <p:cNvPr id="65" name="Text 48">
            <a:extLst>
              <a:ext uri="{FF2B5EF4-FFF2-40B4-BE49-F238E27FC236}">
                <a16:creationId xmlns:a16="http://schemas.microsoft.com/office/drawing/2014/main" id="{70150391-CBF3-89BF-F5D4-99CBC5B34C8E}"/>
              </a:ext>
            </a:extLst>
          </p:cNvPr>
          <p:cNvSpPr txBox="1"/>
          <p:nvPr/>
        </p:nvSpPr>
        <p:spPr>
          <a:xfrm>
            <a:off x="6871005" y="5029050"/>
            <a:ext cx="3963010" cy="191110"/>
          </a:xfrm>
          <a:prstGeom prst="rect">
            <a:avLst/>
          </a:prstGeom>
          <a:noFill/>
          <a:ln/>
        </p:spPr>
        <p:txBody>
          <a:bodyPr wrap="square" lIns="0" tIns="0" rIns="0" bIns="0" rtlCol="0" anchor="ctr"/>
          <a:lstStyle/>
          <a:p>
            <a:pPr marL="0" indent="0" algn="l">
              <a:buNone/>
            </a:pPr>
            <a:r>
              <a:rPr lang="en-US" sz="1200" noProof="0">
                <a:latin typeface="Arial" panose="020B0604020202020204" pitchFamily="34" charset="0"/>
                <a:ea typeface="Open Sans" pitchFamily="34" charset="-122"/>
                <a:cs typeface="Arial" panose="020B0604020202020204" pitchFamily="34" charset="0"/>
              </a:rPr>
              <a:t>Integrated Ecosystem Design (Intake + Jira + PPMNow)</a:t>
            </a:r>
            <a:endParaRPr lang="en-US" sz="1200" noProof="0">
              <a:latin typeface="Arial" panose="020B0604020202020204" pitchFamily="34" charset="0"/>
              <a:cs typeface="Arial" panose="020B0604020202020204" pitchFamily="34" charset="0"/>
            </a:endParaRPr>
          </a:p>
        </p:txBody>
      </p:sp>
      <p:pic>
        <p:nvPicPr>
          <p:cNvPr id="66" name="Image 31" descr="preencoded.png">
            <a:extLst>
              <a:ext uri="{FF2B5EF4-FFF2-40B4-BE49-F238E27FC236}">
                <a16:creationId xmlns:a16="http://schemas.microsoft.com/office/drawing/2014/main" id="{DC2A2217-4547-71E3-B0B0-3929C86BE969}"/>
              </a:ext>
            </a:extLst>
          </p:cNvPr>
          <p:cNvPicPr>
            <a:picLocks noChangeAspect="1"/>
          </p:cNvPicPr>
          <p:nvPr/>
        </p:nvPicPr>
        <p:blipFill>
          <a:blip r:embed="rId3">
            <a:duotone>
              <a:prstClr val="black"/>
              <a:schemeClr val="accent5">
                <a:tint val="45000"/>
                <a:satMod val="400000"/>
              </a:schemeClr>
            </a:duotone>
          </a:blip>
          <a:srcRect l="-2571" r="-2571"/>
          <a:stretch/>
        </p:blipFill>
        <p:spPr>
          <a:xfrm>
            <a:off x="6689954" y="5061968"/>
            <a:ext cx="105156" cy="114300"/>
          </a:xfrm>
          <a:prstGeom prst="rect">
            <a:avLst/>
          </a:prstGeom>
        </p:spPr>
      </p:pic>
      <p:sp>
        <p:nvSpPr>
          <p:cNvPr id="67" name="Text 54">
            <a:extLst>
              <a:ext uri="{FF2B5EF4-FFF2-40B4-BE49-F238E27FC236}">
                <a16:creationId xmlns:a16="http://schemas.microsoft.com/office/drawing/2014/main" id="{557E381C-55E0-22CA-7AA3-6F2D11E65F66}"/>
              </a:ext>
            </a:extLst>
          </p:cNvPr>
          <p:cNvSpPr txBox="1"/>
          <p:nvPr/>
        </p:nvSpPr>
        <p:spPr>
          <a:xfrm>
            <a:off x="6871005" y="5581347"/>
            <a:ext cx="3963010" cy="191110"/>
          </a:xfrm>
          <a:prstGeom prst="rect">
            <a:avLst/>
          </a:prstGeom>
          <a:noFill/>
          <a:ln/>
        </p:spPr>
        <p:txBody>
          <a:bodyPr wrap="square" lIns="0" tIns="0" rIns="0" bIns="0" rtlCol="0" anchor="ctr"/>
          <a:lstStyle/>
          <a:p>
            <a:pPr marL="0" indent="0" algn="l">
              <a:buNone/>
            </a:pPr>
            <a:r>
              <a:rPr lang="en-US" sz="1200" noProof="0">
                <a:latin typeface="Arial" panose="020B0604020202020204" pitchFamily="34" charset="0"/>
                <a:ea typeface="Open Sans" pitchFamily="34" charset="-122"/>
                <a:cs typeface="Arial" panose="020B0604020202020204" pitchFamily="34" charset="0"/>
              </a:rPr>
              <a:t>Defined RACI per lifecycle phase</a:t>
            </a:r>
            <a:endParaRPr lang="en-US" sz="1200" noProof="0">
              <a:latin typeface="Arial" panose="020B0604020202020204" pitchFamily="34" charset="0"/>
              <a:cs typeface="Arial" panose="020B0604020202020204" pitchFamily="34" charset="0"/>
            </a:endParaRPr>
          </a:p>
        </p:txBody>
      </p:sp>
      <p:pic>
        <p:nvPicPr>
          <p:cNvPr id="68" name="Image 36" descr="preencoded.png">
            <a:extLst>
              <a:ext uri="{FF2B5EF4-FFF2-40B4-BE49-F238E27FC236}">
                <a16:creationId xmlns:a16="http://schemas.microsoft.com/office/drawing/2014/main" id="{277DC086-1B43-8752-7F64-6A60828FA63E}"/>
              </a:ext>
            </a:extLst>
          </p:cNvPr>
          <p:cNvPicPr>
            <a:picLocks noChangeAspect="1"/>
          </p:cNvPicPr>
          <p:nvPr/>
        </p:nvPicPr>
        <p:blipFill>
          <a:blip r:embed="rId3">
            <a:duotone>
              <a:prstClr val="black"/>
              <a:schemeClr val="accent5">
                <a:tint val="45000"/>
                <a:satMod val="400000"/>
              </a:schemeClr>
            </a:duotone>
          </a:blip>
          <a:srcRect l="-2571" r="-2571"/>
          <a:stretch/>
        </p:blipFill>
        <p:spPr>
          <a:xfrm>
            <a:off x="6689954" y="5614266"/>
            <a:ext cx="105156" cy="114300"/>
          </a:xfrm>
          <a:prstGeom prst="rect">
            <a:avLst/>
          </a:prstGeom>
        </p:spPr>
      </p:pic>
      <p:sp>
        <p:nvSpPr>
          <p:cNvPr id="69" name="Shape 10">
            <a:extLst>
              <a:ext uri="{FF2B5EF4-FFF2-40B4-BE49-F238E27FC236}">
                <a16:creationId xmlns:a16="http://schemas.microsoft.com/office/drawing/2014/main" id="{251D839B-6E69-4357-90BB-99122AB9AD67}"/>
              </a:ext>
            </a:extLst>
          </p:cNvPr>
          <p:cNvSpPr/>
          <p:nvPr/>
        </p:nvSpPr>
        <p:spPr>
          <a:xfrm>
            <a:off x="1196340" y="1512267"/>
            <a:ext cx="4419295" cy="533095"/>
          </a:xfrm>
          <a:prstGeom prst="rect">
            <a:avLst/>
          </a:prstGeom>
          <a:solidFill>
            <a:srgbClr val="196B24"/>
          </a:solidFill>
          <a:ln/>
        </p:spPr>
        <p:txBody>
          <a:bodyPr anchor="ctr"/>
          <a:lstStyle/>
          <a:p>
            <a:pPr algn="ctr"/>
            <a:r>
              <a:rPr lang="en-US" sz="1200" b="1" noProof="0">
                <a:solidFill>
                  <a:srgbClr val="FFFFFF"/>
                </a:solidFill>
                <a:latin typeface="Arial" panose="020B0604020202020204" pitchFamily="34" charset="0"/>
                <a:cs typeface="Arial" panose="020B0604020202020204" pitchFamily="34" charset="0"/>
              </a:rPr>
              <a:t>OUR RESPONSE — 4 DIMENSIONS</a:t>
            </a:r>
          </a:p>
        </p:txBody>
      </p:sp>
    </p:spTree>
    <p:extLst>
      <p:ext uri="{BB962C8B-B14F-4D97-AF65-F5344CB8AC3E}">
        <p14:creationId xmlns:p14="http://schemas.microsoft.com/office/powerpoint/2010/main" val="10264121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F3A54D-5C03-A294-C9C8-3B71FD3FFC43}"/>
            </a:ext>
          </a:extLst>
        </p:cNvPr>
        <p:cNvGrpSpPr/>
        <p:nvPr/>
      </p:nvGrpSpPr>
      <p:grpSpPr>
        <a:xfrm>
          <a:off x="0" y="0"/>
          <a:ext cx="0" cy="0"/>
          <a:chOff x="0" y="0"/>
          <a:chExt cx="0" cy="0"/>
        </a:xfrm>
      </p:grpSpPr>
      <p:grpSp>
        <p:nvGrpSpPr>
          <p:cNvPr id="30" name="Group 29">
            <a:extLst>
              <a:ext uri="{FF2B5EF4-FFF2-40B4-BE49-F238E27FC236}">
                <a16:creationId xmlns:a16="http://schemas.microsoft.com/office/drawing/2014/main" id="{DEBBC011-C36E-1296-F231-E9EFF927FDEF}"/>
              </a:ext>
            </a:extLst>
          </p:cNvPr>
          <p:cNvGrpSpPr/>
          <p:nvPr/>
        </p:nvGrpSpPr>
        <p:grpSpPr>
          <a:xfrm>
            <a:off x="4133725" y="358821"/>
            <a:ext cx="520273" cy="520273"/>
            <a:chOff x="3199239" y="747211"/>
            <a:chExt cx="520273" cy="520273"/>
          </a:xfrm>
        </p:grpSpPr>
        <p:sp>
          <p:nvSpPr>
            <p:cNvPr id="4" name="Freeform 4">
              <a:extLst>
                <a:ext uri="{FF2B5EF4-FFF2-40B4-BE49-F238E27FC236}">
                  <a16:creationId xmlns:a16="http://schemas.microsoft.com/office/drawing/2014/main" id="{603CA6AB-FCFA-8863-F715-7FF41D0B1B29}"/>
                </a:ext>
              </a:extLst>
            </p:cNvPr>
            <p:cNvSpPr/>
            <p:nvPr/>
          </p:nvSpPr>
          <p:spPr>
            <a:xfrm>
              <a:off x="3199239" y="747211"/>
              <a:ext cx="520273" cy="520273"/>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66675" cap="sq">
              <a:solidFill>
                <a:schemeClr val="accent1"/>
              </a:solidFill>
              <a:prstDash val="solid"/>
              <a:miter/>
            </a:ln>
          </p:spPr>
          <p:txBody>
            <a:bodyPr/>
            <a:lstStyle/>
            <a:p>
              <a:endParaRPr lang="en-US" sz="900" noProof="0">
                <a:solidFill>
                  <a:srgbClr val="000000"/>
                </a:solidFill>
                <a:latin typeface="Arial" panose="020B0604020202020204" pitchFamily="34" charset="0"/>
                <a:cs typeface="Arial" panose="020B0604020202020204" pitchFamily="34" charset="0"/>
              </a:endParaRPr>
            </a:p>
          </p:txBody>
        </p:sp>
        <p:sp>
          <p:nvSpPr>
            <p:cNvPr id="6" name="AutoShape 6">
              <a:extLst>
                <a:ext uri="{FF2B5EF4-FFF2-40B4-BE49-F238E27FC236}">
                  <a16:creationId xmlns:a16="http://schemas.microsoft.com/office/drawing/2014/main" id="{BCDE6F30-6D35-3815-9B24-FB83F0D03141}"/>
                </a:ext>
              </a:extLst>
            </p:cNvPr>
            <p:cNvSpPr/>
            <p:nvPr/>
          </p:nvSpPr>
          <p:spPr>
            <a:xfrm>
              <a:off x="3288741" y="1007348"/>
              <a:ext cx="341269" cy="0"/>
            </a:xfrm>
            <a:prstGeom prst="line">
              <a:avLst/>
            </a:prstGeom>
            <a:ln w="73569" cap="flat">
              <a:solidFill>
                <a:schemeClr val="accent1"/>
              </a:solidFill>
              <a:prstDash val="solid"/>
              <a:headEnd type="none" w="sm" len="sm"/>
              <a:tailEnd type="arrow" w="med" len="sm"/>
            </a:ln>
          </p:spPr>
          <p:txBody>
            <a:bodyPr/>
            <a:lstStyle/>
            <a:p>
              <a:endParaRPr lang="en-US" sz="900" noProof="0">
                <a:solidFill>
                  <a:srgbClr val="000000"/>
                </a:solidFill>
                <a:latin typeface="Arial" panose="020B0604020202020204" pitchFamily="34" charset="0"/>
                <a:cs typeface="Arial" panose="020B0604020202020204" pitchFamily="34" charset="0"/>
              </a:endParaRPr>
            </a:p>
          </p:txBody>
        </p:sp>
      </p:grpSp>
      <p:sp>
        <p:nvSpPr>
          <p:cNvPr id="10" name="TextBox 10">
            <a:extLst>
              <a:ext uri="{FF2B5EF4-FFF2-40B4-BE49-F238E27FC236}">
                <a16:creationId xmlns:a16="http://schemas.microsoft.com/office/drawing/2014/main" id="{F797F991-8DD0-66C1-0B94-F719C8D59711}"/>
              </a:ext>
            </a:extLst>
          </p:cNvPr>
          <p:cNvSpPr txBox="1"/>
          <p:nvPr/>
        </p:nvSpPr>
        <p:spPr>
          <a:xfrm>
            <a:off x="1077073" y="1141030"/>
            <a:ext cx="462060" cy="512448"/>
          </a:xfrm>
          <a:prstGeom prst="rect">
            <a:avLst/>
          </a:prstGeom>
        </p:spPr>
        <p:txBody>
          <a:bodyPr wrap="square" lIns="0" tIns="0" rIns="0" bIns="0" rtlCol="0" anchor="t">
            <a:spAutoFit/>
          </a:bodyPr>
          <a:lstStyle/>
          <a:p>
            <a:pPr>
              <a:lnSpc>
                <a:spcPts val="4608"/>
              </a:lnSpc>
            </a:pPr>
            <a:r>
              <a:rPr lang="en-US" sz="2400" b="1" noProof="0">
                <a:solidFill>
                  <a:schemeClr val="accent1"/>
                </a:solidFill>
                <a:latin typeface="Arial" panose="020B0604020202020204" pitchFamily="34" charset="0"/>
                <a:ea typeface="Gordita Bold"/>
                <a:cs typeface="Arial" panose="020B0604020202020204" pitchFamily="34" charset="0"/>
                <a:sym typeface="Gordita Bold"/>
              </a:rPr>
              <a:t>01</a:t>
            </a:r>
          </a:p>
        </p:txBody>
      </p:sp>
      <p:sp>
        <p:nvSpPr>
          <p:cNvPr id="14" name="TextBox 14">
            <a:extLst>
              <a:ext uri="{FF2B5EF4-FFF2-40B4-BE49-F238E27FC236}">
                <a16:creationId xmlns:a16="http://schemas.microsoft.com/office/drawing/2014/main" id="{06C8A7EE-36C1-4437-5B69-D9C8B3BF18CD}"/>
              </a:ext>
            </a:extLst>
          </p:cNvPr>
          <p:cNvSpPr txBox="1"/>
          <p:nvPr/>
        </p:nvSpPr>
        <p:spPr>
          <a:xfrm>
            <a:off x="1063128" y="2827839"/>
            <a:ext cx="537158"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03</a:t>
            </a:r>
          </a:p>
        </p:txBody>
      </p:sp>
      <p:grpSp>
        <p:nvGrpSpPr>
          <p:cNvPr id="23" name="Grupo 22">
            <a:extLst>
              <a:ext uri="{FF2B5EF4-FFF2-40B4-BE49-F238E27FC236}">
                <a16:creationId xmlns:a16="http://schemas.microsoft.com/office/drawing/2014/main" id="{AC34744F-CE6C-E409-6236-4316D10C2708}"/>
              </a:ext>
            </a:extLst>
          </p:cNvPr>
          <p:cNvGrpSpPr/>
          <p:nvPr/>
        </p:nvGrpSpPr>
        <p:grpSpPr>
          <a:xfrm>
            <a:off x="1854199" y="2802178"/>
            <a:ext cx="9571333" cy="824754"/>
            <a:chOff x="1816102" y="2594699"/>
            <a:chExt cx="9571333" cy="824754"/>
          </a:xfrm>
        </p:grpSpPr>
        <p:sp>
          <p:nvSpPr>
            <p:cNvPr id="15" name="TextBox 15">
              <a:extLst>
                <a:ext uri="{FF2B5EF4-FFF2-40B4-BE49-F238E27FC236}">
                  <a16:creationId xmlns:a16="http://schemas.microsoft.com/office/drawing/2014/main" id="{768AB3EF-7A41-0C37-86F0-51919979FC23}"/>
                </a:ext>
              </a:extLst>
            </p:cNvPr>
            <p:cNvSpPr txBox="1"/>
            <p:nvPr/>
          </p:nvSpPr>
          <p:spPr>
            <a:xfrm>
              <a:off x="1816102" y="2594699"/>
              <a:ext cx="9571333"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Methodology</a:t>
              </a:r>
            </a:p>
          </p:txBody>
        </p:sp>
        <p:sp>
          <p:nvSpPr>
            <p:cNvPr id="16" name="TextBox 16">
              <a:extLst>
                <a:ext uri="{FF2B5EF4-FFF2-40B4-BE49-F238E27FC236}">
                  <a16:creationId xmlns:a16="http://schemas.microsoft.com/office/drawing/2014/main" id="{E8F24FF2-2BB0-805D-A5A3-07A0A16F8BE9}"/>
                </a:ext>
              </a:extLst>
            </p:cNvPr>
            <p:cNvSpPr txBox="1"/>
            <p:nvPr/>
          </p:nvSpPr>
          <p:spPr>
            <a:xfrm>
              <a:off x="1816102" y="2983372"/>
              <a:ext cx="7868967" cy="436081"/>
            </a:xfrm>
            <a:prstGeom prst="rect">
              <a:avLst/>
            </a:prstGeom>
          </p:spPr>
          <p:txBody>
            <a:bodyPr wrap="square" lIns="0" tIns="0" rIns="0" bIns="0" rtlCol="0" anchor="t">
              <a:spAutoFit/>
            </a:bodyPr>
            <a:lstStyle/>
            <a:p>
              <a:pPr>
                <a:lnSpc>
                  <a:spcPts val="1820"/>
                </a:lnSpc>
              </a:pPr>
              <a:r>
                <a:rPr lang="en-US" sz="1200" noProof="0">
                  <a:solidFill>
                    <a:srgbClr val="000000"/>
                  </a:solidFill>
                  <a:latin typeface="Arial" panose="020B0604020202020204" pitchFamily="34" charset="0"/>
                  <a:ea typeface="Gordita"/>
                  <a:cs typeface="Arial" panose="020B0604020202020204" pitchFamily="34" charset="0"/>
                  <a:sym typeface="Gordita"/>
                </a:rPr>
                <a:t>A structured approach that defines the phases, activities, and deliverables required to consistently and efficiently achieve project objectives</a:t>
              </a:r>
            </a:p>
          </p:txBody>
        </p:sp>
      </p:grpSp>
      <p:sp>
        <p:nvSpPr>
          <p:cNvPr id="18" name="TextBox 18">
            <a:extLst>
              <a:ext uri="{FF2B5EF4-FFF2-40B4-BE49-F238E27FC236}">
                <a16:creationId xmlns:a16="http://schemas.microsoft.com/office/drawing/2014/main" id="{65B6559F-6993-AA5D-A49D-346E2BA1A7B1}"/>
              </a:ext>
            </a:extLst>
          </p:cNvPr>
          <p:cNvSpPr txBox="1"/>
          <p:nvPr/>
        </p:nvSpPr>
        <p:spPr>
          <a:xfrm>
            <a:off x="1063128" y="3699805"/>
            <a:ext cx="525169"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04</a:t>
            </a:r>
          </a:p>
        </p:txBody>
      </p:sp>
      <p:sp>
        <p:nvSpPr>
          <p:cNvPr id="20" name="TextBox 20">
            <a:extLst>
              <a:ext uri="{FF2B5EF4-FFF2-40B4-BE49-F238E27FC236}">
                <a16:creationId xmlns:a16="http://schemas.microsoft.com/office/drawing/2014/main" id="{323B085B-879A-C7DF-CDDE-B0320375A8F9}"/>
              </a:ext>
            </a:extLst>
          </p:cNvPr>
          <p:cNvSpPr txBox="1"/>
          <p:nvPr/>
        </p:nvSpPr>
        <p:spPr>
          <a:xfrm>
            <a:off x="1854197" y="4994789"/>
            <a:ext cx="7482132" cy="205249"/>
          </a:xfrm>
          <a:prstGeom prst="rect">
            <a:avLst/>
          </a:prstGeom>
        </p:spPr>
        <p:txBody>
          <a:bodyPr wrap="square" lIns="0" tIns="0" rIns="0" bIns="0" rtlCol="0" anchor="t">
            <a:spAutoFit/>
          </a:bodyPr>
          <a:lstStyle/>
          <a:p>
            <a:pPr>
              <a:lnSpc>
                <a:spcPts val="1820"/>
              </a:lnSpc>
            </a:pPr>
            <a:endParaRPr lang="en-US" sz="1100" noProof="0">
              <a:solidFill>
                <a:srgbClr val="000000"/>
              </a:solidFill>
              <a:latin typeface="Arial" panose="020B0604020202020204" pitchFamily="34" charset="0"/>
              <a:ea typeface="Gordita"/>
              <a:cs typeface="Arial" panose="020B0604020202020204" pitchFamily="34" charset="0"/>
              <a:sym typeface="Gordita"/>
            </a:endParaRPr>
          </a:p>
        </p:txBody>
      </p:sp>
      <p:sp>
        <p:nvSpPr>
          <p:cNvPr id="22" name="TextBox 22">
            <a:extLst>
              <a:ext uri="{FF2B5EF4-FFF2-40B4-BE49-F238E27FC236}">
                <a16:creationId xmlns:a16="http://schemas.microsoft.com/office/drawing/2014/main" id="{8E0FFFBE-67D1-0AB4-7F31-2E3CEBFD15B8}"/>
              </a:ext>
            </a:extLst>
          </p:cNvPr>
          <p:cNvSpPr txBox="1"/>
          <p:nvPr/>
        </p:nvSpPr>
        <p:spPr>
          <a:xfrm>
            <a:off x="1063128" y="4600799"/>
            <a:ext cx="487952"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05</a:t>
            </a:r>
          </a:p>
        </p:txBody>
      </p:sp>
      <p:grpSp>
        <p:nvGrpSpPr>
          <p:cNvPr id="26" name="Grupo 25">
            <a:extLst>
              <a:ext uri="{FF2B5EF4-FFF2-40B4-BE49-F238E27FC236}">
                <a16:creationId xmlns:a16="http://schemas.microsoft.com/office/drawing/2014/main" id="{2A1CAC57-539D-0189-9F0D-936C7AC2CC54}"/>
              </a:ext>
            </a:extLst>
          </p:cNvPr>
          <p:cNvGrpSpPr/>
          <p:nvPr/>
        </p:nvGrpSpPr>
        <p:grpSpPr>
          <a:xfrm>
            <a:off x="1847402" y="3676508"/>
            <a:ext cx="9571333" cy="596872"/>
            <a:chOff x="1809305" y="3510392"/>
            <a:chExt cx="9571333" cy="596872"/>
          </a:xfrm>
        </p:grpSpPr>
        <p:sp>
          <p:nvSpPr>
            <p:cNvPr id="13" name="TextBox 15">
              <a:extLst>
                <a:ext uri="{FF2B5EF4-FFF2-40B4-BE49-F238E27FC236}">
                  <a16:creationId xmlns:a16="http://schemas.microsoft.com/office/drawing/2014/main" id="{4F12FF82-8B13-8CC5-0DDA-0F9F39F496CD}"/>
                </a:ext>
              </a:extLst>
            </p:cNvPr>
            <p:cNvSpPr txBox="1"/>
            <p:nvPr/>
          </p:nvSpPr>
          <p:spPr>
            <a:xfrm>
              <a:off x="1809305" y="3510392"/>
              <a:ext cx="9571333"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Current State Analysis</a:t>
              </a:r>
            </a:p>
          </p:txBody>
        </p:sp>
        <p:sp>
          <p:nvSpPr>
            <p:cNvPr id="17" name="TextBox 16">
              <a:extLst>
                <a:ext uri="{FF2B5EF4-FFF2-40B4-BE49-F238E27FC236}">
                  <a16:creationId xmlns:a16="http://schemas.microsoft.com/office/drawing/2014/main" id="{5134A8C2-7567-5807-418C-224C2EA24ACC}"/>
                </a:ext>
              </a:extLst>
            </p:cNvPr>
            <p:cNvSpPr txBox="1"/>
            <p:nvPr/>
          </p:nvSpPr>
          <p:spPr>
            <a:xfrm>
              <a:off x="1809305" y="3899065"/>
              <a:ext cx="7868967" cy="208199"/>
            </a:xfrm>
            <a:prstGeom prst="rect">
              <a:avLst/>
            </a:prstGeom>
          </p:spPr>
          <p:txBody>
            <a:bodyPr wrap="square" lIns="0" tIns="0" rIns="0" bIns="0" rtlCol="0" anchor="t">
              <a:spAutoFit/>
            </a:bodyPr>
            <a:lstStyle>
              <a:defPPr>
                <a:defRPr lang="en-US"/>
              </a:defPPr>
              <a:lvl1pPr>
                <a:lnSpc>
                  <a:spcPts val="1820"/>
                </a:lnSpc>
                <a:defRPr sz="1400">
                  <a:solidFill>
                    <a:srgbClr val="000000"/>
                  </a:solidFill>
                  <a:ea typeface="Gordita"/>
                  <a:cs typeface="Gordita"/>
                </a:defRPr>
              </a:lvl1pPr>
            </a:lstStyle>
            <a:p>
              <a:r>
                <a:rPr lang="en-US" sz="1200" noProof="0">
                  <a:latin typeface="Arial" panose="020B0604020202020204" pitchFamily="34" charset="0"/>
                  <a:cs typeface="Arial" panose="020B0604020202020204" pitchFamily="34" charset="0"/>
                </a:rPr>
                <a:t>Includes explanations for Roles and Responsibilities, Value stream Mapping, tools  and Governance Mapping</a:t>
              </a:r>
              <a:endParaRPr lang="en-US" sz="1200" noProof="0">
                <a:latin typeface="Arial" panose="020B0604020202020204" pitchFamily="34" charset="0"/>
                <a:cs typeface="Arial" panose="020B0604020202020204" pitchFamily="34" charset="0"/>
                <a:sym typeface="Gordita"/>
              </a:endParaRPr>
            </a:p>
          </p:txBody>
        </p:sp>
      </p:grpSp>
      <p:sp>
        <p:nvSpPr>
          <p:cNvPr id="12" name="TextBox 22">
            <a:extLst>
              <a:ext uri="{FF2B5EF4-FFF2-40B4-BE49-F238E27FC236}">
                <a16:creationId xmlns:a16="http://schemas.microsoft.com/office/drawing/2014/main" id="{2E506DBE-F204-DD6D-C159-9A182AF04BE2}"/>
              </a:ext>
            </a:extLst>
          </p:cNvPr>
          <p:cNvSpPr txBox="1"/>
          <p:nvPr/>
        </p:nvSpPr>
        <p:spPr>
          <a:xfrm>
            <a:off x="1063128" y="5501791"/>
            <a:ext cx="487952"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06</a:t>
            </a:r>
          </a:p>
        </p:txBody>
      </p:sp>
      <p:grpSp>
        <p:nvGrpSpPr>
          <p:cNvPr id="21" name="Grupo 20">
            <a:extLst>
              <a:ext uri="{FF2B5EF4-FFF2-40B4-BE49-F238E27FC236}">
                <a16:creationId xmlns:a16="http://schemas.microsoft.com/office/drawing/2014/main" id="{8DC2B460-7E85-C8AA-73BA-BAC022796C53}"/>
              </a:ext>
            </a:extLst>
          </p:cNvPr>
          <p:cNvGrpSpPr/>
          <p:nvPr/>
        </p:nvGrpSpPr>
        <p:grpSpPr>
          <a:xfrm>
            <a:off x="1861346" y="1170058"/>
            <a:ext cx="9578128" cy="554333"/>
            <a:chOff x="1809304" y="1852249"/>
            <a:chExt cx="9578128" cy="554333"/>
          </a:xfrm>
        </p:grpSpPr>
        <p:sp>
          <p:nvSpPr>
            <p:cNvPr id="11" name="TextBox 11">
              <a:extLst>
                <a:ext uri="{FF2B5EF4-FFF2-40B4-BE49-F238E27FC236}">
                  <a16:creationId xmlns:a16="http://schemas.microsoft.com/office/drawing/2014/main" id="{C535CE04-5856-36E3-0AF1-AEDFC2BB987B}"/>
                </a:ext>
              </a:extLst>
            </p:cNvPr>
            <p:cNvSpPr txBox="1"/>
            <p:nvPr/>
          </p:nvSpPr>
          <p:spPr>
            <a:xfrm>
              <a:off x="1816100" y="1852249"/>
              <a:ext cx="9571332"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cs typeface="Arial" panose="020B0604020202020204" pitchFamily="34" charset="0"/>
                </a:rPr>
                <a:t>Context</a:t>
              </a:r>
              <a:endParaRPr lang="en-US" sz="2000" noProof="0">
                <a:solidFill>
                  <a:srgbClr val="000000"/>
                </a:solidFill>
                <a:latin typeface="Arial" panose="020B0604020202020204" pitchFamily="34" charset="0"/>
                <a:ea typeface="Gordita"/>
                <a:cs typeface="Arial" panose="020B0604020202020204" pitchFamily="34" charset="0"/>
                <a:sym typeface="Gordita"/>
              </a:endParaRPr>
            </a:p>
          </p:txBody>
        </p:sp>
        <p:sp>
          <p:nvSpPr>
            <p:cNvPr id="24" name="TextBox 16">
              <a:extLst>
                <a:ext uri="{FF2B5EF4-FFF2-40B4-BE49-F238E27FC236}">
                  <a16:creationId xmlns:a16="http://schemas.microsoft.com/office/drawing/2014/main" id="{045F7440-E3C6-D44D-7258-D50F9B109F10}"/>
                </a:ext>
              </a:extLst>
            </p:cNvPr>
            <p:cNvSpPr txBox="1"/>
            <p:nvPr/>
          </p:nvSpPr>
          <p:spPr>
            <a:xfrm>
              <a:off x="1809304" y="2198383"/>
              <a:ext cx="7868967" cy="208199"/>
            </a:xfrm>
            <a:prstGeom prst="rect">
              <a:avLst/>
            </a:prstGeom>
          </p:spPr>
          <p:txBody>
            <a:bodyPr wrap="square" lIns="0" tIns="0" rIns="0" bIns="0" rtlCol="0" anchor="t">
              <a:spAutoFit/>
            </a:bodyPr>
            <a:lstStyle/>
            <a:p>
              <a:pPr>
                <a:lnSpc>
                  <a:spcPts val="1820"/>
                </a:lnSpc>
              </a:pPr>
              <a:r>
                <a:rPr lang="en-US" sz="1200" noProof="0">
                  <a:solidFill>
                    <a:srgbClr val="000000"/>
                  </a:solidFill>
                  <a:latin typeface="Arial" panose="020B0604020202020204" pitchFamily="34" charset="0"/>
                  <a:cs typeface="Arial" panose="020B0604020202020204" pitchFamily="34" charset="0"/>
                </a:rPr>
                <a:t>Document summary</a:t>
              </a:r>
              <a:endParaRPr lang="en-US" sz="1200" noProof="0">
                <a:solidFill>
                  <a:srgbClr val="000000"/>
                </a:solidFill>
                <a:latin typeface="Arial" panose="020B0604020202020204" pitchFamily="34" charset="0"/>
                <a:ea typeface="Gordita"/>
                <a:cs typeface="Arial" panose="020B0604020202020204" pitchFamily="34" charset="0"/>
                <a:sym typeface="Gordita"/>
              </a:endParaRPr>
            </a:p>
          </p:txBody>
        </p:sp>
      </p:grpSp>
      <p:grpSp>
        <p:nvGrpSpPr>
          <p:cNvPr id="31" name="Grupo 30">
            <a:extLst>
              <a:ext uri="{FF2B5EF4-FFF2-40B4-BE49-F238E27FC236}">
                <a16:creationId xmlns:a16="http://schemas.microsoft.com/office/drawing/2014/main" id="{294F1D55-B888-F716-846E-02D3CBD823E7}"/>
              </a:ext>
            </a:extLst>
          </p:cNvPr>
          <p:cNvGrpSpPr/>
          <p:nvPr/>
        </p:nvGrpSpPr>
        <p:grpSpPr>
          <a:xfrm>
            <a:off x="1847401" y="4582202"/>
            <a:ext cx="9571332" cy="602794"/>
            <a:chOff x="1809305" y="5419675"/>
            <a:chExt cx="9571332" cy="602794"/>
          </a:xfrm>
        </p:grpSpPr>
        <p:sp>
          <p:nvSpPr>
            <p:cNvPr id="9" name="TextBox 19">
              <a:extLst>
                <a:ext uri="{FF2B5EF4-FFF2-40B4-BE49-F238E27FC236}">
                  <a16:creationId xmlns:a16="http://schemas.microsoft.com/office/drawing/2014/main" id="{EFB28786-CD8F-8362-E49C-DE94070BC727}"/>
                </a:ext>
              </a:extLst>
            </p:cNvPr>
            <p:cNvSpPr txBox="1"/>
            <p:nvPr/>
          </p:nvSpPr>
          <p:spPr>
            <a:xfrm>
              <a:off x="1809305" y="5419675"/>
              <a:ext cx="9571332"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Project Portfolio Landscape</a:t>
              </a:r>
            </a:p>
          </p:txBody>
        </p:sp>
        <p:sp>
          <p:nvSpPr>
            <p:cNvPr id="27" name="TextBox 16">
              <a:extLst>
                <a:ext uri="{FF2B5EF4-FFF2-40B4-BE49-F238E27FC236}">
                  <a16:creationId xmlns:a16="http://schemas.microsoft.com/office/drawing/2014/main" id="{A60DB2EA-324B-BFC2-6FB5-5C15625F1322}"/>
                </a:ext>
              </a:extLst>
            </p:cNvPr>
            <p:cNvSpPr txBox="1"/>
            <p:nvPr/>
          </p:nvSpPr>
          <p:spPr>
            <a:xfrm>
              <a:off x="1809305" y="5814270"/>
              <a:ext cx="7868967" cy="208199"/>
            </a:xfrm>
            <a:prstGeom prst="rect">
              <a:avLst/>
            </a:prstGeom>
          </p:spPr>
          <p:txBody>
            <a:bodyPr wrap="square" lIns="0" tIns="0" rIns="0" bIns="0" rtlCol="0" anchor="t">
              <a:spAutoFit/>
            </a:bodyPr>
            <a:lstStyle/>
            <a:p>
              <a:pPr>
                <a:lnSpc>
                  <a:spcPts val="1820"/>
                </a:lnSpc>
              </a:pPr>
              <a:r>
                <a:rPr lang="en-US" sz="1200" noProof="0">
                  <a:solidFill>
                    <a:srgbClr val="000000"/>
                  </a:solidFill>
                  <a:latin typeface="Arial" panose="020B0604020202020204" pitchFamily="34" charset="0"/>
                  <a:ea typeface="Gordita"/>
                  <a:cs typeface="Arial" panose="020B0604020202020204" pitchFamily="34" charset="0"/>
                  <a:sym typeface="Gordita"/>
                </a:rPr>
                <a:t>An overview of the Digital Products’ current demand and tool portfolio</a:t>
              </a:r>
            </a:p>
          </p:txBody>
        </p:sp>
      </p:grpSp>
      <p:grpSp>
        <p:nvGrpSpPr>
          <p:cNvPr id="33" name="Grupo 30">
            <a:extLst>
              <a:ext uri="{FF2B5EF4-FFF2-40B4-BE49-F238E27FC236}">
                <a16:creationId xmlns:a16="http://schemas.microsoft.com/office/drawing/2014/main" id="{C59C2537-1023-0DD3-7600-6B9364EE41DC}"/>
              </a:ext>
            </a:extLst>
          </p:cNvPr>
          <p:cNvGrpSpPr/>
          <p:nvPr/>
        </p:nvGrpSpPr>
        <p:grpSpPr>
          <a:xfrm>
            <a:off x="1847401" y="5519041"/>
            <a:ext cx="9571332" cy="602794"/>
            <a:chOff x="1809305" y="5419675"/>
            <a:chExt cx="9571332" cy="602794"/>
          </a:xfrm>
        </p:grpSpPr>
        <p:sp>
          <p:nvSpPr>
            <p:cNvPr id="34" name="TextBox 19">
              <a:extLst>
                <a:ext uri="{FF2B5EF4-FFF2-40B4-BE49-F238E27FC236}">
                  <a16:creationId xmlns:a16="http://schemas.microsoft.com/office/drawing/2014/main" id="{96DF83D9-672D-FF97-8DCE-6A659D33AFF4}"/>
                </a:ext>
              </a:extLst>
            </p:cNvPr>
            <p:cNvSpPr txBox="1"/>
            <p:nvPr/>
          </p:nvSpPr>
          <p:spPr>
            <a:xfrm>
              <a:off x="1809305" y="5419675"/>
              <a:ext cx="9571332"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Insights &amp; Key Definitions for To-Be Model</a:t>
              </a:r>
            </a:p>
          </p:txBody>
        </p:sp>
        <p:sp>
          <p:nvSpPr>
            <p:cNvPr id="35" name="TextBox 16">
              <a:extLst>
                <a:ext uri="{FF2B5EF4-FFF2-40B4-BE49-F238E27FC236}">
                  <a16:creationId xmlns:a16="http://schemas.microsoft.com/office/drawing/2014/main" id="{DDCA063A-1ED6-CE44-3473-E988013F7849}"/>
                </a:ext>
              </a:extLst>
            </p:cNvPr>
            <p:cNvSpPr txBox="1"/>
            <p:nvPr/>
          </p:nvSpPr>
          <p:spPr>
            <a:xfrm>
              <a:off x="1809305" y="5814270"/>
              <a:ext cx="7868967" cy="208199"/>
            </a:xfrm>
            <a:prstGeom prst="rect">
              <a:avLst/>
            </a:prstGeom>
          </p:spPr>
          <p:txBody>
            <a:bodyPr wrap="square" lIns="0" tIns="0" rIns="0" bIns="0" rtlCol="0" anchor="t">
              <a:spAutoFit/>
            </a:bodyPr>
            <a:lstStyle>
              <a:defPPr>
                <a:defRPr lang="en-US"/>
              </a:defPPr>
              <a:lvl1pPr>
                <a:lnSpc>
                  <a:spcPts val="1820"/>
                </a:lnSpc>
                <a:defRPr sz="1400">
                  <a:solidFill>
                    <a:srgbClr val="000000"/>
                  </a:solidFill>
                  <a:ea typeface="Gordita"/>
                  <a:cs typeface="Gordita"/>
                </a:defRPr>
              </a:lvl1pPr>
            </a:lstStyle>
            <a:p>
              <a:r>
                <a:rPr lang="en-US" sz="1200" noProof="0">
                  <a:latin typeface="Arial" panose="020B0604020202020204" pitchFamily="34" charset="0"/>
                  <a:cs typeface="Arial" panose="020B0604020202020204" pitchFamily="34" charset="0"/>
                </a:rPr>
                <a:t>A synthesis of key insights and foundational definitions shaping the design of the target operating model​</a:t>
              </a:r>
              <a:endParaRPr lang="en-US" sz="1200" noProof="0">
                <a:latin typeface="Arial" panose="020B0604020202020204" pitchFamily="34" charset="0"/>
                <a:cs typeface="Arial" panose="020B0604020202020204" pitchFamily="34" charset="0"/>
                <a:sym typeface="Gordita"/>
              </a:endParaRPr>
            </a:p>
          </p:txBody>
        </p:sp>
      </p:grpSp>
      <p:sp>
        <p:nvSpPr>
          <p:cNvPr id="19" name="TextBox 10">
            <a:extLst>
              <a:ext uri="{FF2B5EF4-FFF2-40B4-BE49-F238E27FC236}">
                <a16:creationId xmlns:a16="http://schemas.microsoft.com/office/drawing/2014/main" id="{22F6E09C-CF9E-BD2B-1754-666821B71CF0}"/>
              </a:ext>
            </a:extLst>
          </p:cNvPr>
          <p:cNvSpPr txBox="1"/>
          <p:nvPr/>
        </p:nvSpPr>
        <p:spPr>
          <a:xfrm>
            <a:off x="1063127" y="277976"/>
            <a:ext cx="3495835" cy="524182"/>
          </a:xfrm>
          <a:prstGeom prst="rect">
            <a:avLst/>
          </a:prstGeom>
        </p:spPr>
        <p:txBody>
          <a:bodyPr wrap="square" lIns="0" tIns="0" rIns="0" bIns="0" rtlCol="0" anchor="t">
            <a:spAutoFit/>
          </a:bodyPr>
          <a:lstStyle/>
          <a:p>
            <a:pPr>
              <a:lnSpc>
                <a:spcPts val="4608"/>
              </a:lnSpc>
            </a:pPr>
            <a:r>
              <a:rPr lang="en-US" sz="2800" b="1" noProof="0">
                <a:solidFill>
                  <a:schemeClr val="accent1"/>
                </a:solidFill>
                <a:latin typeface="Arial" panose="020B0604020202020204" pitchFamily="34" charset="0"/>
                <a:ea typeface="Gordita Bold"/>
                <a:cs typeface="Arial" panose="020B0604020202020204" pitchFamily="34" charset="0"/>
                <a:sym typeface="Gordita Bold"/>
              </a:rPr>
              <a:t>Table of contents</a:t>
            </a:r>
          </a:p>
        </p:txBody>
      </p:sp>
      <p:sp>
        <p:nvSpPr>
          <p:cNvPr id="8" name="Rectangle: Rounded Corners 7">
            <a:extLst>
              <a:ext uri="{FF2B5EF4-FFF2-40B4-BE49-F238E27FC236}">
                <a16:creationId xmlns:a16="http://schemas.microsoft.com/office/drawing/2014/main" id="{4469FF2B-87CB-6146-5F60-B50A4BCC6DC9}"/>
              </a:ext>
            </a:extLst>
          </p:cNvPr>
          <p:cNvSpPr/>
          <p:nvPr/>
        </p:nvSpPr>
        <p:spPr>
          <a:xfrm>
            <a:off x="759321" y="1953647"/>
            <a:ext cx="9343974" cy="815851"/>
          </a:xfrm>
          <a:prstGeom prst="roundRect">
            <a:avLst/>
          </a:prstGeom>
          <a:solidFill>
            <a:schemeClr val="tx2">
              <a:lumMod val="10000"/>
              <a:lumOff val="90000"/>
              <a:alpha val="41961"/>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extBox 14">
            <a:extLst>
              <a:ext uri="{FF2B5EF4-FFF2-40B4-BE49-F238E27FC236}">
                <a16:creationId xmlns:a16="http://schemas.microsoft.com/office/drawing/2014/main" id="{B9D8E1F9-2C72-EA6A-B437-E88750D7AA4B}"/>
              </a:ext>
            </a:extLst>
          </p:cNvPr>
          <p:cNvSpPr txBox="1"/>
          <p:nvPr/>
        </p:nvSpPr>
        <p:spPr>
          <a:xfrm>
            <a:off x="1070275" y="2006772"/>
            <a:ext cx="537158"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02</a:t>
            </a:r>
          </a:p>
        </p:txBody>
      </p:sp>
      <p:grpSp>
        <p:nvGrpSpPr>
          <p:cNvPr id="3" name="Grupo 2">
            <a:extLst>
              <a:ext uri="{FF2B5EF4-FFF2-40B4-BE49-F238E27FC236}">
                <a16:creationId xmlns:a16="http://schemas.microsoft.com/office/drawing/2014/main" id="{6A33C157-5642-D8F9-399F-600CA02D5372}"/>
              </a:ext>
            </a:extLst>
          </p:cNvPr>
          <p:cNvGrpSpPr/>
          <p:nvPr/>
        </p:nvGrpSpPr>
        <p:grpSpPr>
          <a:xfrm>
            <a:off x="1861346" y="1981111"/>
            <a:ext cx="9571333" cy="596872"/>
            <a:chOff x="1816102" y="2594699"/>
            <a:chExt cx="9571333" cy="596872"/>
          </a:xfrm>
        </p:grpSpPr>
        <p:sp>
          <p:nvSpPr>
            <p:cNvPr id="5" name="TextBox 15">
              <a:extLst>
                <a:ext uri="{FF2B5EF4-FFF2-40B4-BE49-F238E27FC236}">
                  <a16:creationId xmlns:a16="http://schemas.microsoft.com/office/drawing/2014/main" id="{36BF4A04-8E09-F487-E652-28572D28856E}"/>
                </a:ext>
              </a:extLst>
            </p:cNvPr>
            <p:cNvSpPr txBox="1"/>
            <p:nvPr/>
          </p:nvSpPr>
          <p:spPr>
            <a:xfrm>
              <a:off x="1816102" y="2594699"/>
              <a:ext cx="9571333"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Executive Summary</a:t>
              </a:r>
            </a:p>
          </p:txBody>
        </p:sp>
        <p:sp>
          <p:nvSpPr>
            <p:cNvPr id="7" name="TextBox 16">
              <a:extLst>
                <a:ext uri="{FF2B5EF4-FFF2-40B4-BE49-F238E27FC236}">
                  <a16:creationId xmlns:a16="http://schemas.microsoft.com/office/drawing/2014/main" id="{66A00942-F62D-05A6-48CE-4320A9FE12F1}"/>
                </a:ext>
              </a:extLst>
            </p:cNvPr>
            <p:cNvSpPr txBox="1"/>
            <p:nvPr/>
          </p:nvSpPr>
          <p:spPr>
            <a:xfrm>
              <a:off x="1816102" y="2983372"/>
              <a:ext cx="7868967" cy="208199"/>
            </a:xfrm>
            <a:prstGeom prst="rect">
              <a:avLst/>
            </a:prstGeom>
          </p:spPr>
          <p:txBody>
            <a:bodyPr wrap="square" lIns="0" tIns="0" rIns="0" bIns="0" rtlCol="0" anchor="t">
              <a:spAutoFit/>
            </a:bodyPr>
            <a:lstStyle>
              <a:defPPr>
                <a:defRPr lang="en-US"/>
              </a:defPPr>
              <a:lvl1pPr>
                <a:lnSpc>
                  <a:spcPts val="1820"/>
                </a:lnSpc>
                <a:defRPr sz="1400">
                  <a:solidFill>
                    <a:srgbClr val="000000"/>
                  </a:solidFill>
                  <a:latin typeface="+mj-lt"/>
                  <a:ea typeface="Gordita"/>
                  <a:cs typeface="Gordita"/>
                </a:defRPr>
              </a:lvl1pPr>
            </a:lstStyle>
            <a:p>
              <a:r>
                <a:rPr lang="en-US" sz="1200" noProof="0">
                  <a:latin typeface="Arial" panose="020B0604020202020204" pitchFamily="34" charset="0"/>
                  <a:cs typeface="Arial" panose="020B0604020202020204" pitchFamily="34" charset="0"/>
                </a:rPr>
                <a:t>Why we are here. Executive findings &amp; implications. Methodology (Wave 1 Step 1 sources).</a:t>
              </a:r>
              <a:endParaRPr lang="en-US" sz="1200" noProof="0">
                <a:latin typeface="Arial" panose="020B0604020202020204" pitchFamily="34" charset="0"/>
                <a:cs typeface="Arial" panose="020B0604020202020204" pitchFamily="34" charset="0"/>
                <a:sym typeface="Gordita"/>
              </a:endParaRPr>
            </a:p>
          </p:txBody>
        </p:sp>
      </p:grpSp>
    </p:spTree>
    <p:extLst>
      <p:ext uri="{BB962C8B-B14F-4D97-AF65-F5344CB8AC3E}">
        <p14:creationId xmlns:p14="http://schemas.microsoft.com/office/powerpoint/2010/main" val="226384017"/>
      </p:ext>
    </p:extLst>
  </p:cSld>
  <p:clrMapOvr>
    <a:masterClrMapping/>
  </p:clrMapOvr>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9A3A9A-310C-EAB3-5F39-863504F0BB8C}"/>
            </a:ext>
          </a:extLst>
        </p:cNvPr>
        <p:cNvGrpSpPr/>
        <p:nvPr/>
      </p:nvGrpSpPr>
      <p:grpSpPr>
        <a:xfrm>
          <a:off x="0" y="0"/>
          <a:ext cx="0" cy="0"/>
          <a:chOff x="0" y="0"/>
          <a:chExt cx="0" cy="0"/>
        </a:xfrm>
      </p:grpSpPr>
      <p:sp>
        <p:nvSpPr>
          <p:cNvPr id="2" name="Título 2">
            <a:extLst>
              <a:ext uri="{FF2B5EF4-FFF2-40B4-BE49-F238E27FC236}">
                <a16:creationId xmlns:a16="http://schemas.microsoft.com/office/drawing/2014/main" id="{BC6AF5E7-67C5-181A-4864-F0FD9874F2D1}"/>
              </a:ext>
            </a:extLst>
          </p:cNvPr>
          <p:cNvSpPr txBox="1">
            <a:spLocks/>
          </p:cNvSpPr>
          <p:nvPr/>
        </p:nvSpPr>
        <p:spPr>
          <a:xfrm>
            <a:off x="180918" y="127319"/>
            <a:ext cx="8857204"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r>
              <a:rPr lang="en-US" sz="2400" noProof="0"/>
              <a:t>EXECUTIVE SUMMARY</a:t>
            </a:r>
            <a:endParaRPr lang="en-US" sz="1100" noProof="0"/>
          </a:p>
        </p:txBody>
      </p:sp>
      <p:sp>
        <p:nvSpPr>
          <p:cNvPr id="11" name="Rectangle 10">
            <a:extLst>
              <a:ext uri="{FF2B5EF4-FFF2-40B4-BE49-F238E27FC236}">
                <a16:creationId xmlns:a16="http://schemas.microsoft.com/office/drawing/2014/main" id="{2A0B8D80-7A0F-1C8B-9D2E-2D28F706FB99}"/>
              </a:ext>
            </a:extLst>
          </p:cNvPr>
          <p:cNvSpPr/>
          <p:nvPr/>
        </p:nvSpPr>
        <p:spPr>
          <a:xfrm>
            <a:off x="457200" y="1607824"/>
            <a:ext cx="11429998" cy="7772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12" name="TextBox 11">
            <a:extLst>
              <a:ext uri="{FF2B5EF4-FFF2-40B4-BE49-F238E27FC236}">
                <a16:creationId xmlns:a16="http://schemas.microsoft.com/office/drawing/2014/main" id="{20C8553E-B9C9-4367-C3F1-0E217AC9E23A}"/>
              </a:ext>
            </a:extLst>
          </p:cNvPr>
          <p:cNvSpPr txBox="1"/>
          <p:nvPr/>
        </p:nvSpPr>
        <p:spPr>
          <a:xfrm>
            <a:off x="731520" y="1621721"/>
            <a:ext cx="11018518" cy="776879"/>
          </a:xfrm>
          <a:prstGeom prst="rect">
            <a:avLst/>
          </a:prstGeom>
          <a:noFill/>
        </p:spPr>
        <p:txBody>
          <a:bodyPr wrap="square" lIns="137160" tIns="91440" rIns="137160" bIns="91440" anchor="ctr">
            <a:spAutoFit/>
          </a:bodyPr>
          <a:lstStyle/>
          <a:p>
            <a:pPr algn="l">
              <a:lnSpc>
                <a:spcPct val="110000"/>
              </a:lnSpc>
              <a:spcBef>
                <a:spcPts val="0"/>
              </a:spcBef>
              <a:spcAft>
                <a:spcPts val="0"/>
              </a:spcAft>
            </a:pPr>
            <a:r>
              <a:rPr lang="en-US" sz="1200" b="1" i="1" noProof="0">
                <a:solidFill>
                  <a:srgbClr val="FFFFFF"/>
                </a:solidFill>
                <a:latin typeface="Arial" panose="020B0604020202020204" pitchFamily="34" charset="0"/>
                <a:ea typeface="Helvetica Neue" panose="02000503000000020004" pitchFamily="2" charset="0"/>
                <a:cs typeface="Arial" panose="020B0604020202020204" pitchFamily="34" charset="0"/>
              </a:rPr>
              <a:t>GOVERNING THOUGHT  —  Fragmentation is structural, not local — across flow AND capacity. Every team has a working answer for large PDD-funded demand; no team has one for small/medium demand at scale, none has formal capacity planning, and knowledge is concentrated in named individuals. The TOM must standardize the end-to-end lifecycle AND install capacity + reporting discipline across both director branches.</a:t>
            </a:r>
          </a:p>
        </p:txBody>
      </p:sp>
      <p:sp>
        <p:nvSpPr>
          <p:cNvPr id="41" name="Rectangle 40">
            <a:extLst>
              <a:ext uri="{FF2B5EF4-FFF2-40B4-BE49-F238E27FC236}">
                <a16:creationId xmlns:a16="http://schemas.microsoft.com/office/drawing/2014/main" id="{CF63F033-670A-39F1-39EB-DA68D22C314C}"/>
              </a:ext>
            </a:extLst>
          </p:cNvPr>
          <p:cNvSpPr/>
          <p:nvPr/>
        </p:nvSpPr>
        <p:spPr>
          <a:xfrm>
            <a:off x="443484" y="5794248"/>
            <a:ext cx="11443714"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42" name="TextBox 41">
            <a:extLst>
              <a:ext uri="{FF2B5EF4-FFF2-40B4-BE49-F238E27FC236}">
                <a16:creationId xmlns:a16="http://schemas.microsoft.com/office/drawing/2014/main" id="{A2B2CB42-B24E-5921-77C9-0C2B296AA499}"/>
              </a:ext>
            </a:extLst>
          </p:cNvPr>
          <p:cNvSpPr txBox="1"/>
          <p:nvPr/>
        </p:nvSpPr>
        <p:spPr>
          <a:xfrm>
            <a:off x="672084" y="5959819"/>
            <a:ext cx="10979654" cy="171778"/>
          </a:xfrm>
          <a:prstGeom prst="rect">
            <a:avLst/>
          </a:prstGeom>
          <a:noFill/>
        </p:spPr>
        <p:txBody>
          <a:bodyPr wrap="square" lIns="0" tIns="0" rIns="0" bIns="0" anchor="ctr">
            <a:spAutoFit/>
          </a:bodyPr>
          <a:lstStyle/>
          <a:p>
            <a:pPr algn="l">
              <a:lnSpc>
                <a:spcPct val="110000"/>
              </a:lnSpc>
              <a:spcBef>
                <a:spcPts val="0"/>
              </a:spcBef>
              <a:spcAft>
                <a:spcPts val="0"/>
              </a:spcAft>
            </a:pPr>
            <a:r>
              <a:rPr lang="en-US" sz="1100" b="0" i="0" noProof="0">
                <a:solidFill>
                  <a:srgbClr val="FFFFFF"/>
                </a:solidFill>
                <a:latin typeface="Arial" panose="020B0604020202020204" pitchFamily="34" charset="0"/>
                <a:ea typeface="Helvetica Neue" panose="02000503000000020004" pitchFamily="2" charset="0"/>
                <a:cs typeface="Arial" panose="020B0604020202020204" pitchFamily="34" charset="0"/>
              </a:rPr>
              <a:t>The rest of this deck walks the evidence per team — then consolidates bottlenecks and structural insights into the TOM scope</a:t>
            </a:r>
          </a:p>
        </p:txBody>
      </p:sp>
      <p:sp>
        <p:nvSpPr>
          <p:cNvPr id="44" name="TextBox 43">
            <a:extLst>
              <a:ext uri="{FF2B5EF4-FFF2-40B4-BE49-F238E27FC236}">
                <a16:creationId xmlns:a16="http://schemas.microsoft.com/office/drawing/2014/main" id="{B1B0F56A-663F-2D2E-94AE-C5F2FD6BD66E}"/>
              </a:ext>
            </a:extLst>
          </p:cNvPr>
          <p:cNvSpPr txBox="1"/>
          <p:nvPr/>
        </p:nvSpPr>
        <p:spPr>
          <a:xfrm>
            <a:off x="458724" y="932575"/>
            <a:ext cx="11274552" cy="430887"/>
          </a:xfrm>
          <a:prstGeom prst="rect">
            <a:avLst/>
          </a:prstGeom>
          <a:noFill/>
        </p:spPr>
        <p:txBody>
          <a:bodyPr wrap="square" lIns="0" tIns="0" rIns="0" bIns="0" rtlCol="0">
            <a:noAutofit/>
          </a:bodyPr>
          <a:lstStyle>
            <a:defPPr>
              <a:defRPr lang="en-US"/>
            </a:defPPr>
            <a:lvl1pPr algn="ctr">
              <a:defRPr sz="1400" b="1">
                <a:solidFill>
                  <a:schemeClr val="accent4">
                    <a:lumMod val="75000"/>
                  </a:schemeClr>
                </a:solidFill>
                <a:latin typeface="Arial" panose="020B0604020202020204" pitchFamily="34" charset="0"/>
                <a:cs typeface="Arial" panose="020B0604020202020204" pitchFamily="34" charset="0"/>
              </a:defRPr>
            </a:lvl1pPr>
          </a:lstStyle>
          <a:p>
            <a:pPr algn="l"/>
            <a:r>
              <a:rPr lang="en-US" noProof="0"/>
              <a:t>Digital Products runs nine sub-teams on six disconnected intake channels — with no shared prioritization logic, two Sr. Manager vacancies in Customer Services, and knowledge concentrated in named individuals across every single team</a:t>
            </a:r>
          </a:p>
        </p:txBody>
      </p:sp>
      <p:sp>
        <p:nvSpPr>
          <p:cNvPr id="45" name="Rectangle 44"/>
          <p:cNvSpPr/>
          <p:nvPr/>
        </p:nvSpPr>
        <p:spPr>
          <a:xfrm>
            <a:off x="457200" y="2487168"/>
            <a:ext cx="2743200" cy="3200400"/>
          </a:xfrm>
          <a:prstGeom prst="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46" name="Rectangle 45"/>
          <p:cNvSpPr/>
          <p:nvPr/>
        </p:nvSpPr>
        <p:spPr>
          <a:xfrm>
            <a:off x="457200" y="2487168"/>
            <a:ext cx="2743200" cy="54864"/>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47" name="TextBox 46"/>
          <p:cNvSpPr txBox="1"/>
          <p:nvPr/>
        </p:nvSpPr>
        <p:spPr>
          <a:xfrm>
            <a:off x="640080" y="2651760"/>
            <a:ext cx="640080" cy="393954"/>
          </a:xfrm>
          <a:prstGeom prst="rect">
            <a:avLst/>
          </a:prstGeom>
          <a:noFill/>
        </p:spPr>
        <p:txBody>
          <a:bodyPr wrap="square" lIns="54864" tIns="27432" rIns="54864" bIns="27432" anchor="t">
            <a:spAutoFit/>
          </a:bodyPr>
          <a:lstStyle/>
          <a:p>
            <a:pPr algn="l"/>
            <a:r>
              <a:rPr lang="en-US" sz="2200" b="1" noProof="0">
                <a:latin typeface="Arial" panose="020B0604020202020204" pitchFamily="34" charset="0"/>
                <a:cs typeface="Arial" panose="020B0604020202020204" pitchFamily="34" charset="0"/>
              </a:rPr>
              <a:t>01</a:t>
            </a:r>
          </a:p>
        </p:txBody>
      </p:sp>
      <p:sp>
        <p:nvSpPr>
          <p:cNvPr id="48" name="TextBox 47"/>
          <p:cNvSpPr txBox="1"/>
          <p:nvPr/>
        </p:nvSpPr>
        <p:spPr>
          <a:xfrm>
            <a:off x="1280160" y="2676906"/>
            <a:ext cx="1828800" cy="393954"/>
          </a:xfrm>
          <a:prstGeom prst="rect">
            <a:avLst/>
          </a:prstGeom>
          <a:noFill/>
        </p:spPr>
        <p:txBody>
          <a:bodyPr wrap="square" lIns="54864" tIns="27432" rIns="54864" bIns="27432" anchor="t">
            <a:spAutoFit/>
          </a:bodyPr>
          <a:lstStyle/>
          <a:p>
            <a:pPr algn="l"/>
            <a:r>
              <a:rPr lang="en-US" sz="1100" b="1" noProof="0">
                <a:latin typeface="Arial" panose="020B0604020202020204" pitchFamily="34" charset="0"/>
                <a:cs typeface="Arial" panose="020B0604020202020204" pitchFamily="34" charset="0"/>
              </a:rPr>
              <a:t>INTAKE  &amp;  CLASSIFICATION</a:t>
            </a:r>
          </a:p>
        </p:txBody>
      </p:sp>
      <p:sp>
        <p:nvSpPr>
          <p:cNvPr id="49" name="TextBox 48"/>
          <p:cNvSpPr txBox="1"/>
          <p:nvPr/>
        </p:nvSpPr>
        <p:spPr>
          <a:xfrm>
            <a:off x="640080" y="3310128"/>
            <a:ext cx="2377440" cy="193899"/>
          </a:xfrm>
          <a:prstGeom prst="rect">
            <a:avLst/>
          </a:prstGeom>
          <a:noFill/>
        </p:spPr>
        <p:txBody>
          <a:bodyPr wrap="square" lIns="54864" tIns="27432" rIns="54864" bIns="27432" anchor="t">
            <a:spAutoFit/>
          </a:bodyPr>
          <a:lstStyle/>
          <a:p>
            <a:pPr algn="l"/>
            <a:r>
              <a:rPr lang="en-US" sz="900" b="1" noProof="0">
                <a:solidFill>
                  <a:srgbClr val="1F3A68"/>
                </a:solidFill>
                <a:latin typeface="Arial" panose="020B0604020202020204" pitchFamily="34" charset="0"/>
                <a:ea typeface="Helvetica Neue" panose="02000503000000020004" pitchFamily="2" charset="0"/>
                <a:cs typeface="Arial" panose="020B0604020202020204" pitchFamily="34" charset="0"/>
              </a:rPr>
              <a:t>FINDING</a:t>
            </a:r>
          </a:p>
        </p:txBody>
      </p:sp>
      <p:sp>
        <p:nvSpPr>
          <p:cNvPr id="50" name="TextBox 49"/>
          <p:cNvSpPr txBox="1"/>
          <p:nvPr/>
        </p:nvSpPr>
        <p:spPr>
          <a:xfrm>
            <a:off x="640080" y="3511296"/>
            <a:ext cx="2377440" cy="670953"/>
          </a:xfrm>
          <a:prstGeom prst="rect">
            <a:avLst/>
          </a:prstGeom>
          <a:noFill/>
        </p:spPr>
        <p:txBody>
          <a:bodyPr wrap="square" lIns="54864" tIns="27432" rIns="54864" bIns="27432" anchor="t">
            <a:spAutoFit/>
          </a:bodyPr>
          <a:lstStyle/>
          <a:p>
            <a:pPr algn="l"/>
            <a:r>
              <a:rPr lang="en-US" sz="1000" b="0" noProof="0">
                <a:solidFill>
                  <a:srgbClr val="4A4A4A"/>
                </a:solidFill>
                <a:latin typeface="Arial" panose="020B0604020202020204" pitchFamily="34" charset="0"/>
                <a:ea typeface="Helvetica Neue" panose="02000503000000020004" pitchFamily="2" charset="0"/>
                <a:cs typeface="Arial" panose="020B0604020202020204" pitchFamily="34" charset="0"/>
              </a:rPr>
              <a:t>6+ channels active (Jira, IT Now, RITM, SharePoint, Email, Word). G&amp;E is fully email-driven; Corporate still uses Word for requirements.</a:t>
            </a:r>
          </a:p>
        </p:txBody>
      </p:sp>
      <p:sp>
        <p:nvSpPr>
          <p:cNvPr id="51" name="TextBox 50"/>
          <p:cNvSpPr txBox="1"/>
          <p:nvPr/>
        </p:nvSpPr>
        <p:spPr>
          <a:xfrm>
            <a:off x="640080" y="4818888"/>
            <a:ext cx="2377440" cy="193899"/>
          </a:xfrm>
          <a:prstGeom prst="rect">
            <a:avLst/>
          </a:prstGeom>
          <a:noFill/>
        </p:spPr>
        <p:txBody>
          <a:bodyPr wrap="square" lIns="54864" tIns="27432" rIns="54864" bIns="27432" anchor="t">
            <a:spAutoFit/>
          </a:bodyPr>
          <a:lstStyle/>
          <a:p>
            <a:pPr algn="l"/>
            <a:r>
              <a:rPr lang="en-US" sz="900" b="1" noProof="0">
                <a:solidFill>
                  <a:srgbClr val="1F3A68"/>
                </a:solidFill>
                <a:latin typeface="Arial" panose="020B0604020202020204" pitchFamily="34" charset="0"/>
                <a:ea typeface="Helvetica Neue" panose="02000503000000020004" pitchFamily="2" charset="0"/>
                <a:cs typeface="Arial" panose="020B0604020202020204" pitchFamily="34" charset="0"/>
              </a:rPr>
              <a:t>SO WHAT</a:t>
            </a:r>
          </a:p>
        </p:txBody>
      </p:sp>
      <p:sp>
        <p:nvSpPr>
          <p:cNvPr id="52" name="TextBox 51"/>
          <p:cNvSpPr txBox="1"/>
          <p:nvPr/>
        </p:nvSpPr>
        <p:spPr>
          <a:xfrm>
            <a:off x="640080" y="5029200"/>
            <a:ext cx="2377440" cy="363176"/>
          </a:xfrm>
          <a:prstGeom prst="rect">
            <a:avLst/>
          </a:prstGeom>
          <a:noFill/>
        </p:spPr>
        <p:txBody>
          <a:bodyPr wrap="square" lIns="54864" tIns="27432" rIns="54864" bIns="27432" anchor="t">
            <a:spAutoFit/>
          </a:bodyPr>
          <a:lstStyle/>
          <a:p>
            <a:pPr algn="l"/>
            <a:r>
              <a:rPr lang="en-US" sz="1000" b="0" noProof="0">
                <a:solidFill>
                  <a:srgbClr val="1F3A68"/>
                </a:solidFill>
                <a:latin typeface="Arial" panose="020B0604020202020204" pitchFamily="34" charset="0"/>
                <a:ea typeface="Helvetica Neue" panose="02000503000000020004" pitchFamily="2" charset="0"/>
                <a:cs typeface="Arial" panose="020B0604020202020204" pitchFamily="34" charset="0"/>
              </a:rPr>
              <a:t>No single front door. Volumes and duplicates are invisible.</a:t>
            </a:r>
          </a:p>
        </p:txBody>
      </p:sp>
      <p:sp>
        <p:nvSpPr>
          <p:cNvPr id="53" name="Rectangle 52"/>
          <p:cNvSpPr/>
          <p:nvPr/>
        </p:nvSpPr>
        <p:spPr>
          <a:xfrm>
            <a:off x="3291840" y="2487168"/>
            <a:ext cx="2743200" cy="3200400"/>
          </a:xfrm>
          <a:prstGeom prst="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54" name="Rectangle 53"/>
          <p:cNvSpPr/>
          <p:nvPr/>
        </p:nvSpPr>
        <p:spPr>
          <a:xfrm>
            <a:off x="3291840" y="2487168"/>
            <a:ext cx="2743200" cy="54864"/>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55" name="TextBox 54"/>
          <p:cNvSpPr txBox="1"/>
          <p:nvPr/>
        </p:nvSpPr>
        <p:spPr>
          <a:xfrm>
            <a:off x="3474720" y="2651760"/>
            <a:ext cx="640080" cy="393954"/>
          </a:xfrm>
          <a:prstGeom prst="rect">
            <a:avLst/>
          </a:prstGeom>
          <a:noFill/>
        </p:spPr>
        <p:txBody>
          <a:bodyPr wrap="square" lIns="54864" tIns="27432" rIns="54864" bIns="27432" anchor="t">
            <a:spAutoFit/>
          </a:bodyPr>
          <a:lstStyle/>
          <a:p>
            <a:pPr algn="l"/>
            <a:r>
              <a:rPr lang="en-US" sz="2200" b="1" noProof="0">
                <a:latin typeface="Arial" panose="020B0604020202020204" pitchFamily="34" charset="0"/>
                <a:cs typeface="Arial" panose="020B0604020202020204" pitchFamily="34" charset="0"/>
              </a:rPr>
              <a:t>02</a:t>
            </a:r>
          </a:p>
        </p:txBody>
      </p:sp>
      <p:sp>
        <p:nvSpPr>
          <p:cNvPr id="56" name="TextBox 55"/>
          <p:cNvSpPr txBox="1"/>
          <p:nvPr/>
        </p:nvSpPr>
        <p:spPr>
          <a:xfrm>
            <a:off x="4114800" y="2676906"/>
            <a:ext cx="1828800" cy="393954"/>
          </a:xfrm>
          <a:prstGeom prst="rect">
            <a:avLst/>
          </a:prstGeom>
          <a:noFill/>
        </p:spPr>
        <p:txBody>
          <a:bodyPr wrap="square" lIns="54864" tIns="27432" rIns="54864" bIns="27432" anchor="t">
            <a:spAutoFit/>
          </a:bodyPr>
          <a:lstStyle/>
          <a:p>
            <a:pPr algn="l"/>
            <a:r>
              <a:rPr lang="en-US" sz="1100" b="1" noProof="0">
                <a:latin typeface="Arial" panose="020B0604020202020204" pitchFamily="34" charset="0"/>
                <a:cs typeface="Arial" panose="020B0604020202020204" pitchFamily="34" charset="0"/>
              </a:rPr>
              <a:t>PRIORITIZATION  &amp;  PORTFOLIO</a:t>
            </a:r>
          </a:p>
        </p:txBody>
      </p:sp>
      <p:sp>
        <p:nvSpPr>
          <p:cNvPr id="57" name="TextBox 56"/>
          <p:cNvSpPr txBox="1"/>
          <p:nvPr/>
        </p:nvSpPr>
        <p:spPr>
          <a:xfrm>
            <a:off x="3474720" y="3310128"/>
            <a:ext cx="2377440" cy="193899"/>
          </a:xfrm>
          <a:prstGeom prst="rect">
            <a:avLst/>
          </a:prstGeom>
          <a:noFill/>
        </p:spPr>
        <p:txBody>
          <a:bodyPr wrap="square" lIns="54864" tIns="27432" rIns="54864" bIns="27432" anchor="t">
            <a:spAutoFit/>
          </a:bodyPr>
          <a:lstStyle/>
          <a:p>
            <a:pPr algn="l"/>
            <a:r>
              <a:rPr lang="en-US" sz="900" b="1" noProof="0">
                <a:solidFill>
                  <a:srgbClr val="1F3A68"/>
                </a:solidFill>
                <a:latin typeface="Arial" panose="020B0604020202020204" pitchFamily="34" charset="0"/>
                <a:ea typeface="Helvetica Neue" panose="02000503000000020004" pitchFamily="2" charset="0"/>
                <a:cs typeface="Arial" panose="020B0604020202020204" pitchFamily="34" charset="0"/>
              </a:rPr>
              <a:t>FINDING</a:t>
            </a:r>
          </a:p>
        </p:txBody>
      </p:sp>
      <p:sp>
        <p:nvSpPr>
          <p:cNvPr id="58" name="TextBox 57"/>
          <p:cNvSpPr txBox="1"/>
          <p:nvPr/>
        </p:nvSpPr>
        <p:spPr>
          <a:xfrm>
            <a:off x="3474720" y="3511296"/>
            <a:ext cx="2377440" cy="824841"/>
          </a:xfrm>
          <a:prstGeom prst="rect">
            <a:avLst/>
          </a:prstGeom>
          <a:noFill/>
        </p:spPr>
        <p:txBody>
          <a:bodyPr wrap="square" lIns="54864" tIns="27432" rIns="54864" bIns="27432" anchor="t">
            <a:spAutoFit/>
          </a:bodyPr>
          <a:lstStyle/>
          <a:p>
            <a:pPr algn="l"/>
            <a:r>
              <a:rPr lang="en-US" sz="1000" b="0" noProof="0">
                <a:solidFill>
                  <a:srgbClr val="4A4A4A"/>
                </a:solidFill>
                <a:latin typeface="Arial" panose="020B0604020202020204" pitchFamily="34" charset="0"/>
                <a:ea typeface="Helvetica Neue" panose="02000503000000020004" pitchFamily="2" charset="0"/>
                <a:cs typeface="Arial" panose="020B0604020202020204" pitchFamily="34" charset="0"/>
              </a:rPr>
              <a:t>Each team applies a different logic — PDD, impact × users, criticality, or intrinsic common sense. Only Smart Metering uses a portfolio tool (PPM Now).</a:t>
            </a:r>
          </a:p>
        </p:txBody>
      </p:sp>
      <p:sp>
        <p:nvSpPr>
          <p:cNvPr id="59" name="TextBox 58"/>
          <p:cNvSpPr txBox="1"/>
          <p:nvPr/>
        </p:nvSpPr>
        <p:spPr>
          <a:xfrm>
            <a:off x="3474720" y="4818888"/>
            <a:ext cx="2377440" cy="193899"/>
          </a:xfrm>
          <a:prstGeom prst="rect">
            <a:avLst/>
          </a:prstGeom>
          <a:noFill/>
        </p:spPr>
        <p:txBody>
          <a:bodyPr wrap="square" lIns="54864" tIns="27432" rIns="54864" bIns="27432" anchor="t">
            <a:spAutoFit/>
          </a:bodyPr>
          <a:lstStyle/>
          <a:p>
            <a:pPr algn="l"/>
            <a:r>
              <a:rPr lang="en-US" sz="900" b="1" noProof="0">
                <a:solidFill>
                  <a:srgbClr val="1F3A68"/>
                </a:solidFill>
                <a:latin typeface="Arial" panose="020B0604020202020204" pitchFamily="34" charset="0"/>
                <a:ea typeface="Helvetica Neue" panose="02000503000000020004" pitchFamily="2" charset="0"/>
                <a:cs typeface="Arial" panose="020B0604020202020204" pitchFamily="34" charset="0"/>
              </a:rPr>
              <a:t>SO WHAT</a:t>
            </a:r>
          </a:p>
        </p:txBody>
      </p:sp>
      <p:sp>
        <p:nvSpPr>
          <p:cNvPr id="60" name="TextBox 59"/>
          <p:cNvSpPr txBox="1"/>
          <p:nvPr/>
        </p:nvSpPr>
        <p:spPr>
          <a:xfrm>
            <a:off x="3474720" y="5029200"/>
            <a:ext cx="2377440" cy="517065"/>
          </a:xfrm>
          <a:prstGeom prst="rect">
            <a:avLst/>
          </a:prstGeom>
          <a:noFill/>
        </p:spPr>
        <p:txBody>
          <a:bodyPr wrap="square" lIns="54864" tIns="27432" rIns="54864" bIns="27432" anchor="t">
            <a:spAutoFit/>
          </a:bodyPr>
          <a:lstStyle/>
          <a:p>
            <a:pPr algn="l"/>
            <a:r>
              <a:rPr lang="en-US" sz="1000" b="0" noProof="0">
                <a:solidFill>
                  <a:srgbClr val="1F3A68"/>
                </a:solidFill>
                <a:latin typeface="Arial" panose="020B0604020202020204" pitchFamily="34" charset="0"/>
                <a:ea typeface="Helvetica Neue" panose="02000503000000020004" pitchFamily="2" charset="0"/>
                <a:cs typeface="Arial" panose="020B0604020202020204" pitchFamily="34" charset="0"/>
              </a:rPr>
              <a:t>Capacity cannot be reconciled across the branch. Strategic work loses to incident volume.</a:t>
            </a:r>
          </a:p>
        </p:txBody>
      </p:sp>
      <p:sp>
        <p:nvSpPr>
          <p:cNvPr id="61" name="Rectangle 60"/>
          <p:cNvSpPr/>
          <p:nvPr/>
        </p:nvSpPr>
        <p:spPr>
          <a:xfrm>
            <a:off x="6126480" y="2487168"/>
            <a:ext cx="2743200" cy="3200400"/>
          </a:xfrm>
          <a:prstGeom prst="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62" name="Rectangle 61"/>
          <p:cNvSpPr/>
          <p:nvPr/>
        </p:nvSpPr>
        <p:spPr>
          <a:xfrm>
            <a:off x="6126480" y="2487168"/>
            <a:ext cx="2743200" cy="54864"/>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63" name="TextBox 62"/>
          <p:cNvSpPr txBox="1"/>
          <p:nvPr/>
        </p:nvSpPr>
        <p:spPr>
          <a:xfrm>
            <a:off x="6309360" y="2651760"/>
            <a:ext cx="640080" cy="393954"/>
          </a:xfrm>
          <a:prstGeom prst="rect">
            <a:avLst/>
          </a:prstGeom>
          <a:noFill/>
        </p:spPr>
        <p:txBody>
          <a:bodyPr wrap="square" lIns="54864" tIns="27432" rIns="54864" bIns="27432" anchor="t">
            <a:spAutoFit/>
          </a:bodyPr>
          <a:lstStyle/>
          <a:p>
            <a:pPr algn="l"/>
            <a:r>
              <a:rPr lang="en-US" sz="2200" b="1" noProof="0">
                <a:latin typeface="Arial" panose="020B0604020202020204" pitchFamily="34" charset="0"/>
                <a:cs typeface="Arial" panose="020B0604020202020204" pitchFamily="34" charset="0"/>
              </a:rPr>
              <a:t>03</a:t>
            </a:r>
          </a:p>
        </p:txBody>
      </p:sp>
      <p:sp>
        <p:nvSpPr>
          <p:cNvPr id="64" name="TextBox 63"/>
          <p:cNvSpPr txBox="1"/>
          <p:nvPr/>
        </p:nvSpPr>
        <p:spPr>
          <a:xfrm>
            <a:off x="6949440" y="2676906"/>
            <a:ext cx="1828800" cy="393954"/>
          </a:xfrm>
          <a:prstGeom prst="rect">
            <a:avLst/>
          </a:prstGeom>
          <a:noFill/>
        </p:spPr>
        <p:txBody>
          <a:bodyPr wrap="square" lIns="54864" tIns="27432" rIns="54864" bIns="27432" anchor="t">
            <a:spAutoFit/>
          </a:bodyPr>
          <a:lstStyle/>
          <a:p>
            <a:r>
              <a:rPr lang="en-US" sz="1100" b="1" noProof="0">
                <a:latin typeface="Arial" panose="020B0604020202020204" pitchFamily="34" charset="0"/>
                <a:cs typeface="Arial" panose="020B0604020202020204" pitchFamily="34" charset="0"/>
              </a:rPr>
              <a:t>ORGANIZATION  &amp;  DELIVERY</a:t>
            </a:r>
          </a:p>
        </p:txBody>
      </p:sp>
      <p:sp>
        <p:nvSpPr>
          <p:cNvPr id="65" name="TextBox 64"/>
          <p:cNvSpPr txBox="1"/>
          <p:nvPr/>
        </p:nvSpPr>
        <p:spPr>
          <a:xfrm>
            <a:off x="6309360" y="3310128"/>
            <a:ext cx="2377440" cy="193899"/>
          </a:xfrm>
          <a:prstGeom prst="rect">
            <a:avLst/>
          </a:prstGeom>
          <a:noFill/>
        </p:spPr>
        <p:txBody>
          <a:bodyPr wrap="square" lIns="54864" tIns="27432" rIns="54864" bIns="27432" anchor="t">
            <a:spAutoFit/>
          </a:bodyPr>
          <a:lstStyle/>
          <a:p>
            <a:pPr algn="l"/>
            <a:r>
              <a:rPr lang="en-US" sz="900" b="1" noProof="0">
                <a:solidFill>
                  <a:srgbClr val="1F3A68"/>
                </a:solidFill>
                <a:latin typeface="Arial" panose="020B0604020202020204" pitchFamily="34" charset="0"/>
                <a:ea typeface="Helvetica Neue" panose="02000503000000020004" pitchFamily="2" charset="0"/>
                <a:cs typeface="Arial" panose="020B0604020202020204" pitchFamily="34" charset="0"/>
              </a:rPr>
              <a:t>FINDING</a:t>
            </a:r>
          </a:p>
        </p:txBody>
      </p:sp>
      <p:sp>
        <p:nvSpPr>
          <p:cNvPr id="66" name="TextBox 65"/>
          <p:cNvSpPr txBox="1"/>
          <p:nvPr/>
        </p:nvSpPr>
        <p:spPr>
          <a:xfrm>
            <a:off x="6309360" y="3511296"/>
            <a:ext cx="2377440" cy="824841"/>
          </a:xfrm>
          <a:prstGeom prst="rect">
            <a:avLst/>
          </a:prstGeom>
          <a:noFill/>
        </p:spPr>
        <p:txBody>
          <a:bodyPr wrap="square" lIns="54864" tIns="27432" rIns="54864" bIns="27432" anchor="t">
            <a:spAutoFit/>
          </a:bodyPr>
          <a:lstStyle/>
          <a:p>
            <a:pPr algn="l"/>
            <a:r>
              <a:rPr lang="en-US" sz="1000" b="0" noProof="0">
                <a:solidFill>
                  <a:srgbClr val="4A4A4A"/>
                </a:solidFill>
                <a:latin typeface="Arial" panose="020B0604020202020204" pitchFamily="34" charset="0"/>
                <a:ea typeface="Helvetica Neue" panose="02000503000000020004" pitchFamily="2" charset="0"/>
                <a:cs typeface="Arial" panose="020B0604020202020204" pitchFamily="34" charset="0"/>
              </a:rPr>
              <a:t>Two Sr. Manager vacancies in Customer Services (CRM &amp; Contact Center Ops, SAP &amp; CS Architecture). Delivery leans heavily on Accenture + SWF + vendor muscle.</a:t>
            </a:r>
          </a:p>
        </p:txBody>
      </p:sp>
      <p:sp>
        <p:nvSpPr>
          <p:cNvPr id="67" name="TextBox 66"/>
          <p:cNvSpPr txBox="1"/>
          <p:nvPr/>
        </p:nvSpPr>
        <p:spPr>
          <a:xfrm>
            <a:off x="6309360" y="4818888"/>
            <a:ext cx="2377440" cy="193899"/>
          </a:xfrm>
          <a:prstGeom prst="rect">
            <a:avLst/>
          </a:prstGeom>
          <a:noFill/>
        </p:spPr>
        <p:txBody>
          <a:bodyPr wrap="square" lIns="54864" tIns="27432" rIns="54864" bIns="27432" anchor="t">
            <a:spAutoFit/>
          </a:bodyPr>
          <a:lstStyle/>
          <a:p>
            <a:pPr algn="l"/>
            <a:r>
              <a:rPr lang="en-US" sz="900" b="1" noProof="0">
                <a:solidFill>
                  <a:srgbClr val="1F3A68"/>
                </a:solidFill>
                <a:latin typeface="Arial" panose="020B0604020202020204" pitchFamily="34" charset="0"/>
                <a:ea typeface="Helvetica Neue" panose="02000503000000020004" pitchFamily="2" charset="0"/>
                <a:cs typeface="Arial" panose="020B0604020202020204" pitchFamily="34" charset="0"/>
              </a:rPr>
              <a:t>SO WHAT</a:t>
            </a:r>
          </a:p>
        </p:txBody>
      </p:sp>
      <p:sp>
        <p:nvSpPr>
          <p:cNvPr id="68" name="TextBox 67"/>
          <p:cNvSpPr txBox="1"/>
          <p:nvPr/>
        </p:nvSpPr>
        <p:spPr>
          <a:xfrm>
            <a:off x="6309360" y="5029200"/>
            <a:ext cx="2377440" cy="363176"/>
          </a:xfrm>
          <a:prstGeom prst="rect">
            <a:avLst/>
          </a:prstGeom>
          <a:noFill/>
        </p:spPr>
        <p:txBody>
          <a:bodyPr wrap="square" lIns="54864" tIns="27432" rIns="54864" bIns="27432" anchor="t">
            <a:spAutoFit/>
          </a:bodyPr>
          <a:lstStyle/>
          <a:p>
            <a:pPr algn="l"/>
            <a:r>
              <a:rPr lang="en-US" sz="1000" b="0" noProof="0">
                <a:solidFill>
                  <a:srgbClr val="1F3A68"/>
                </a:solidFill>
                <a:latin typeface="Arial" panose="020B0604020202020204" pitchFamily="34" charset="0"/>
                <a:ea typeface="Helvetica Neue" panose="02000503000000020004" pitchFamily="2" charset="0"/>
                <a:cs typeface="Arial" panose="020B0604020202020204" pitchFamily="34" charset="0"/>
              </a:rPr>
              <a:t>Leadership gap + vendor concentration create structural risk for scaling.</a:t>
            </a:r>
          </a:p>
        </p:txBody>
      </p:sp>
      <p:sp>
        <p:nvSpPr>
          <p:cNvPr id="69" name="Rectangle 68"/>
          <p:cNvSpPr/>
          <p:nvPr/>
        </p:nvSpPr>
        <p:spPr>
          <a:xfrm>
            <a:off x="8961120" y="2487168"/>
            <a:ext cx="2743200" cy="3200400"/>
          </a:xfrm>
          <a:prstGeom prst="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70" name="Rectangle 69"/>
          <p:cNvSpPr/>
          <p:nvPr/>
        </p:nvSpPr>
        <p:spPr>
          <a:xfrm>
            <a:off x="8961120" y="2487168"/>
            <a:ext cx="2743200" cy="54864"/>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71" name="TextBox 70"/>
          <p:cNvSpPr txBox="1"/>
          <p:nvPr/>
        </p:nvSpPr>
        <p:spPr>
          <a:xfrm>
            <a:off x="9144000" y="2651760"/>
            <a:ext cx="640080" cy="393954"/>
          </a:xfrm>
          <a:prstGeom prst="rect">
            <a:avLst/>
          </a:prstGeom>
          <a:noFill/>
        </p:spPr>
        <p:txBody>
          <a:bodyPr wrap="square" lIns="54864" tIns="27432" rIns="54864" bIns="27432" anchor="t">
            <a:spAutoFit/>
          </a:bodyPr>
          <a:lstStyle/>
          <a:p>
            <a:pPr algn="l"/>
            <a:r>
              <a:rPr lang="en-US" sz="2200" b="1" noProof="0">
                <a:latin typeface="Arial" panose="020B0604020202020204" pitchFamily="34" charset="0"/>
                <a:cs typeface="Arial" panose="020B0604020202020204" pitchFamily="34" charset="0"/>
              </a:rPr>
              <a:t>04</a:t>
            </a:r>
          </a:p>
        </p:txBody>
      </p:sp>
      <p:sp>
        <p:nvSpPr>
          <p:cNvPr id="72" name="TextBox 71"/>
          <p:cNvSpPr txBox="1"/>
          <p:nvPr/>
        </p:nvSpPr>
        <p:spPr>
          <a:xfrm>
            <a:off x="9784080" y="2676906"/>
            <a:ext cx="1468120" cy="393954"/>
          </a:xfrm>
          <a:prstGeom prst="rect">
            <a:avLst/>
          </a:prstGeom>
          <a:noFill/>
        </p:spPr>
        <p:txBody>
          <a:bodyPr wrap="square" lIns="54864" tIns="27432" rIns="54864" bIns="27432" anchor="t">
            <a:spAutoFit/>
          </a:bodyPr>
          <a:lstStyle>
            <a:defPPr>
              <a:defRPr lang="en-US"/>
            </a:defPPr>
            <a:lvl1pPr>
              <a:defRPr sz="1100" b="1">
                <a:solidFill>
                  <a:srgbClr val="3B7D23"/>
                </a:solidFill>
                <a:latin typeface="Helvetica Neue"/>
              </a:defRPr>
            </a:lvl1pPr>
          </a:lstStyle>
          <a:p>
            <a:r>
              <a:rPr lang="en-US" noProof="0">
                <a:solidFill>
                  <a:schemeClr val="tx1"/>
                </a:solidFill>
                <a:latin typeface="Arial" panose="020B0604020202020204" pitchFamily="34" charset="0"/>
                <a:cs typeface="Arial" panose="020B0604020202020204" pitchFamily="34" charset="0"/>
              </a:rPr>
              <a:t>CAPACITY  &amp;  REPORTING</a:t>
            </a:r>
          </a:p>
        </p:txBody>
      </p:sp>
      <p:sp>
        <p:nvSpPr>
          <p:cNvPr id="73" name="TextBox 72"/>
          <p:cNvSpPr txBox="1"/>
          <p:nvPr/>
        </p:nvSpPr>
        <p:spPr>
          <a:xfrm>
            <a:off x="9144000" y="3310128"/>
            <a:ext cx="2377440" cy="193899"/>
          </a:xfrm>
          <a:prstGeom prst="rect">
            <a:avLst/>
          </a:prstGeom>
          <a:noFill/>
        </p:spPr>
        <p:txBody>
          <a:bodyPr wrap="square" lIns="54864" tIns="27432" rIns="54864" bIns="27432" anchor="t">
            <a:spAutoFit/>
          </a:bodyPr>
          <a:lstStyle/>
          <a:p>
            <a:pPr algn="l"/>
            <a:r>
              <a:rPr lang="en-US" sz="900" b="1" noProof="0">
                <a:solidFill>
                  <a:srgbClr val="1F3A68"/>
                </a:solidFill>
                <a:latin typeface="Arial" panose="020B0604020202020204" pitchFamily="34" charset="0"/>
                <a:ea typeface="Helvetica Neue" panose="02000503000000020004" pitchFamily="2" charset="0"/>
                <a:cs typeface="Arial" panose="020B0604020202020204" pitchFamily="34" charset="0"/>
              </a:rPr>
              <a:t>FINDING</a:t>
            </a:r>
          </a:p>
        </p:txBody>
      </p:sp>
      <p:sp>
        <p:nvSpPr>
          <p:cNvPr id="74" name="TextBox 73"/>
          <p:cNvSpPr txBox="1"/>
          <p:nvPr/>
        </p:nvSpPr>
        <p:spPr>
          <a:xfrm>
            <a:off x="9144000" y="3511296"/>
            <a:ext cx="2377440" cy="824841"/>
          </a:xfrm>
          <a:prstGeom prst="rect">
            <a:avLst/>
          </a:prstGeom>
          <a:noFill/>
        </p:spPr>
        <p:txBody>
          <a:bodyPr wrap="square" lIns="54864" tIns="27432" rIns="54864" bIns="27432" anchor="t">
            <a:spAutoFit/>
          </a:bodyPr>
          <a:lstStyle/>
          <a:p>
            <a:r>
              <a:rPr lang="en-US" sz="1000" noProof="0">
                <a:solidFill>
                  <a:srgbClr val="4A4A4A"/>
                </a:solidFill>
                <a:latin typeface="Arial"/>
                <a:ea typeface="Helvetica Neue" panose="02000503000000020004" pitchFamily="2" charset="0"/>
                <a:cs typeface="Arial"/>
              </a:rPr>
              <a:t>No formal capacity planning in place.</a:t>
            </a:r>
            <a:r>
              <a:rPr lang="en-US" sz="1000" b="0" noProof="0">
                <a:solidFill>
                  <a:srgbClr val="4A4A4A"/>
                </a:solidFill>
                <a:latin typeface="Arial"/>
                <a:ea typeface="Helvetica Neue" panose="02000503000000020004" pitchFamily="2" charset="0"/>
                <a:cs typeface="Arial"/>
              </a:rPr>
              <a:t> Knowledge concentrated in named individuals in every team. 2 teams self-describe as KPI-less; only Global SAP has a single KPI (incident count).</a:t>
            </a:r>
          </a:p>
        </p:txBody>
      </p:sp>
      <p:sp>
        <p:nvSpPr>
          <p:cNvPr id="75" name="TextBox 74"/>
          <p:cNvSpPr txBox="1"/>
          <p:nvPr/>
        </p:nvSpPr>
        <p:spPr>
          <a:xfrm>
            <a:off x="9144000" y="4818888"/>
            <a:ext cx="2377440" cy="193899"/>
          </a:xfrm>
          <a:prstGeom prst="rect">
            <a:avLst/>
          </a:prstGeom>
          <a:noFill/>
        </p:spPr>
        <p:txBody>
          <a:bodyPr wrap="square" lIns="54864" tIns="27432" rIns="54864" bIns="27432" anchor="t">
            <a:spAutoFit/>
          </a:bodyPr>
          <a:lstStyle/>
          <a:p>
            <a:pPr algn="l"/>
            <a:r>
              <a:rPr lang="en-US" sz="900" b="1" noProof="0">
                <a:solidFill>
                  <a:srgbClr val="1F3A68"/>
                </a:solidFill>
                <a:latin typeface="Arial" panose="020B0604020202020204" pitchFamily="34" charset="0"/>
                <a:ea typeface="Helvetica Neue" panose="02000503000000020004" pitchFamily="2" charset="0"/>
                <a:cs typeface="Arial" panose="020B0604020202020204" pitchFamily="34" charset="0"/>
              </a:rPr>
              <a:t>SO WHAT</a:t>
            </a:r>
          </a:p>
        </p:txBody>
      </p:sp>
      <p:sp>
        <p:nvSpPr>
          <p:cNvPr id="76" name="TextBox 75"/>
          <p:cNvSpPr txBox="1"/>
          <p:nvPr/>
        </p:nvSpPr>
        <p:spPr>
          <a:xfrm>
            <a:off x="9144000" y="5029200"/>
            <a:ext cx="2377440" cy="670953"/>
          </a:xfrm>
          <a:prstGeom prst="rect">
            <a:avLst/>
          </a:prstGeom>
          <a:noFill/>
        </p:spPr>
        <p:txBody>
          <a:bodyPr wrap="square" lIns="54864" tIns="27432" rIns="54864" bIns="27432" anchor="t">
            <a:spAutoFit/>
          </a:bodyPr>
          <a:lstStyle/>
          <a:p>
            <a:pPr algn="l"/>
            <a:r>
              <a:rPr lang="en-US" sz="1000" b="0" noProof="0">
                <a:solidFill>
                  <a:srgbClr val="1F3A68"/>
                </a:solidFill>
                <a:latin typeface="Arial" panose="020B0604020202020204" pitchFamily="34" charset="0"/>
                <a:ea typeface="Helvetica Neue" panose="02000503000000020004" pitchFamily="2" charset="0"/>
                <a:cs typeface="Arial" panose="020B0604020202020204" pitchFamily="34" charset="0"/>
              </a:rPr>
              <a:t>Can't measure delivery performance or reconcile demand vs capacity. Key-person risk is the single most repeated finding across the canvases.</a:t>
            </a:r>
          </a:p>
        </p:txBody>
      </p:sp>
    </p:spTree>
    <p:extLst>
      <p:ext uri="{BB962C8B-B14F-4D97-AF65-F5344CB8AC3E}">
        <p14:creationId xmlns:p14="http://schemas.microsoft.com/office/powerpoint/2010/main" val="18714252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F92998-F286-86EC-91F7-19FC2F52158D}"/>
            </a:ext>
          </a:extLst>
        </p:cNvPr>
        <p:cNvGrpSpPr/>
        <p:nvPr/>
      </p:nvGrpSpPr>
      <p:grpSpPr>
        <a:xfrm>
          <a:off x="0" y="0"/>
          <a:ext cx="0" cy="0"/>
          <a:chOff x="0" y="0"/>
          <a:chExt cx="0" cy="0"/>
        </a:xfrm>
      </p:grpSpPr>
      <p:grpSp>
        <p:nvGrpSpPr>
          <p:cNvPr id="30" name="Group 29">
            <a:extLst>
              <a:ext uri="{FF2B5EF4-FFF2-40B4-BE49-F238E27FC236}">
                <a16:creationId xmlns:a16="http://schemas.microsoft.com/office/drawing/2014/main" id="{F338BE27-D84E-C4BE-624D-CE84B5EDF658}"/>
              </a:ext>
            </a:extLst>
          </p:cNvPr>
          <p:cNvGrpSpPr/>
          <p:nvPr/>
        </p:nvGrpSpPr>
        <p:grpSpPr>
          <a:xfrm>
            <a:off x="4133725" y="358821"/>
            <a:ext cx="520273" cy="520273"/>
            <a:chOff x="3199239" y="747211"/>
            <a:chExt cx="520273" cy="520273"/>
          </a:xfrm>
        </p:grpSpPr>
        <p:sp>
          <p:nvSpPr>
            <p:cNvPr id="4" name="Freeform 4">
              <a:extLst>
                <a:ext uri="{FF2B5EF4-FFF2-40B4-BE49-F238E27FC236}">
                  <a16:creationId xmlns:a16="http://schemas.microsoft.com/office/drawing/2014/main" id="{09872B63-2072-6A49-1CA5-CE60F83D2922}"/>
                </a:ext>
              </a:extLst>
            </p:cNvPr>
            <p:cNvSpPr/>
            <p:nvPr/>
          </p:nvSpPr>
          <p:spPr>
            <a:xfrm>
              <a:off x="3199239" y="747211"/>
              <a:ext cx="520273" cy="520273"/>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66675" cap="sq">
              <a:solidFill>
                <a:schemeClr val="accent1"/>
              </a:solidFill>
              <a:prstDash val="solid"/>
              <a:miter/>
            </a:ln>
          </p:spPr>
          <p:txBody>
            <a:bodyPr/>
            <a:lstStyle/>
            <a:p>
              <a:endParaRPr lang="en-US" sz="900" noProof="0">
                <a:solidFill>
                  <a:srgbClr val="000000"/>
                </a:solidFill>
                <a:latin typeface="Arial" panose="020B0604020202020204" pitchFamily="34" charset="0"/>
                <a:cs typeface="Arial" panose="020B0604020202020204" pitchFamily="34" charset="0"/>
              </a:endParaRPr>
            </a:p>
          </p:txBody>
        </p:sp>
        <p:sp>
          <p:nvSpPr>
            <p:cNvPr id="6" name="AutoShape 6">
              <a:extLst>
                <a:ext uri="{FF2B5EF4-FFF2-40B4-BE49-F238E27FC236}">
                  <a16:creationId xmlns:a16="http://schemas.microsoft.com/office/drawing/2014/main" id="{81BFDB3B-3285-A5B9-CD18-42B592C3CC39}"/>
                </a:ext>
              </a:extLst>
            </p:cNvPr>
            <p:cNvSpPr/>
            <p:nvPr/>
          </p:nvSpPr>
          <p:spPr>
            <a:xfrm>
              <a:off x="3288741" y="1007348"/>
              <a:ext cx="341269" cy="0"/>
            </a:xfrm>
            <a:prstGeom prst="line">
              <a:avLst/>
            </a:prstGeom>
            <a:ln w="73569" cap="flat">
              <a:solidFill>
                <a:schemeClr val="accent1"/>
              </a:solidFill>
              <a:prstDash val="solid"/>
              <a:headEnd type="none" w="sm" len="sm"/>
              <a:tailEnd type="arrow" w="med" len="sm"/>
            </a:ln>
          </p:spPr>
          <p:txBody>
            <a:bodyPr/>
            <a:lstStyle/>
            <a:p>
              <a:endParaRPr lang="en-US" sz="900" noProof="0">
                <a:solidFill>
                  <a:srgbClr val="000000"/>
                </a:solidFill>
                <a:latin typeface="Arial" panose="020B0604020202020204" pitchFamily="34" charset="0"/>
                <a:cs typeface="Arial" panose="020B0604020202020204" pitchFamily="34" charset="0"/>
              </a:endParaRPr>
            </a:p>
          </p:txBody>
        </p:sp>
      </p:grpSp>
      <p:sp>
        <p:nvSpPr>
          <p:cNvPr id="10" name="TextBox 10">
            <a:extLst>
              <a:ext uri="{FF2B5EF4-FFF2-40B4-BE49-F238E27FC236}">
                <a16:creationId xmlns:a16="http://schemas.microsoft.com/office/drawing/2014/main" id="{203372BA-41D6-FE81-8FCF-5AF05CEE7DE0}"/>
              </a:ext>
            </a:extLst>
          </p:cNvPr>
          <p:cNvSpPr txBox="1"/>
          <p:nvPr/>
        </p:nvSpPr>
        <p:spPr>
          <a:xfrm>
            <a:off x="1077073" y="1141030"/>
            <a:ext cx="462060" cy="512448"/>
          </a:xfrm>
          <a:prstGeom prst="rect">
            <a:avLst/>
          </a:prstGeom>
        </p:spPr>
        <p:txBody>
          <a:bodyPr wrap="square" lIns="0" tIns="0" rIns="0" bIns="0" rtlCol="0" anchor="t">
            <a:spAutoFit/>
          </a:bodyPr>
          <a:lstStyle/>
          <a:p>
            <a:pPr>
              <a:lnSpc>
                <a:spcPts val="4608"/>
              </a:lnSpc>
            </a:pPr>
            <a:r>
              <a:rPr lang="en-US" sz="2400" b="1" noProof="0">
                <a:solidFill>
                  <a:schemeClr val="accent1"/>
                </a:solidFill>
                <a:latin typeface="Arial" panose="020B0604020202020204" pitchFamily="34" charset="0"/>
                <a:ea typeface="Gordita Bold"/>
                <a:cs typeface="Arial" panose="020B0604020202020204" pitchFamily="34" charset="0"/>
                <a:sym typeface="Gordita Bold"/>
              </a:rPr>
              <a:t>01</a:t>
            </a:r>
          </a:p>
        </p:txBody>
      </p:sp>
      <p:grpSp>
        <p:nvGrpSpPr>
          <p:cNvPr id="23" name="Grupo 22">
            <a:extLst>
              <a:ext uri="{FF2B5EF4-FFF2-40B4-BE49-F238E27FC236}">
                <a16:creationId xmlns:a16="http://schemas.microsoft.com/office/drawing/2014/main" id="{F1808343-475E-AB3C-9133-ACEBCF950F93}"/>
              </a:ext>
            </a:extLst>
          </p:cNvPr>
          <p:cNvGrpSpPr/>
          <p:nvPr/>
        </p:nvGrpSpPr>
        <p:grpSpPr>
          <a:xfrm>
            <a:off x="1854199" y="2802178"/>
            <a:ext cx="9571333" cy="824754"/>
            <a:chOff x="1816102" y="2594699"/>
            <a:chExt cx="9571333" cy="824754"/>
          </a:xfrm>
        </p:grpSpPr>
        <p:sp>
          <p:nvSpPr>
            <p:cNvPr id="15" name="TextBox 15">
              <a:extLst>
                <a:ext uri="{FF2B5EF4-FFF2-40B4-BE49-F238E27FC236}">
                  <a16:creationId xmlns:a16="http://schemas.microsoft.com/office/drawing/2014/main" id="{5C0E340F-1036-4406-346A-6517BB4D9774}"/>
                </a:ext>
              </a:extLst>
            </p:cNvPr>
            <p:cNvSpPr txBox="1"/>
            <p:nvPr/>
          </p:nvSpPr>
          <p:spPr>
            <a:xfrm>
              <a:off x="1816102" y="2594699"/>
              <a:ext cx="9571333"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Methodology</a:t>
              </a:r>
            </a:p>
          </p:txBody>
        </p:sp>
        <p:sp>
          <p:nvSpPr>
            <p:cNvPr id="16" name="TextBox 16">
              <a:extLst>
                <a:ext uri="{FF2B5EF4-FFF2-40B4-BE49-F238E27FC236}">
                  <a16:creationId xmlns:a16="http://schemas.microsoft.com/office/drawing/2014/main" id="{B8E6DCBE-6409-65EC-EB61-A0538261595A}"/>
                </a:ext>
              </a:extLst>
            </p:cNvPr>
            <p:cNvSpPr txBox="1"/>
            <p:nvPr/>
          </p:nvSpPr>
          <p:spPr>
            <a:xfrm>
              <a:off x="1816102" y="2983372"/>
              <a:ext cx="7868967" cy="436081"/>
            </a:xfrm>
            <a:prstGeom prst="rect">
              <a:avLst/>
            </a:prstGeom>
          </p:spPr>
          <p:txBody>
            <a:bodyPr wrap="square" lIns="0" tIns="0" rIns="0" bIns="0" rtlCol="0" anchor="t">
              <a:spAutoFit/>
            </a:bodyPr>
            <a:lstStyle/>
            <a:p>
              <a:pPr>
                <a:lnSpc>
                  <a:spcPts val="1820"/>
                </a:lnSpc>
              </a:pPr>
              <a:r>
                <a:rPr lang="en-US" sz="1200" noProof="0">
                  <a:solidFill>
                    <a:srgbClr val="000000"/>
                  </a:solidFill>
                  <a:latin typeface="Arial" panose="020B0604020202020204" pitchFamily="34" charset="0"/>
                  <a:ea typeface="Gordita"/>
                  <a:cs typeface="Arial" panose="020B0604020202020204" pitchFamily="34" charset="0"/>
                  <a:sym typeface="Gordita"/>
                </a:rPr>
                <a:t>A structured approach that defines the phases, activities, and deliverables required to consistently and efficiently achieve project objectives</a:t>
              </a:r>
            </a:p>
          </p:txBody>
        </p:sp>
      </p:grpSp>
      <p:sp>
        <p:nvSpPr>
          <p:cNvPr id="18" name="TextBox 18">
            <a:extLst>
              <a:ext uri="{FF2B5EF4-FFF2-40B4-BE49-F238E27FC236}">
                <a16:creationId xmlns:a16="http://schemas.microsoft.com/office/drawing/2014/main" id="{994C861F-1625-0F1A-8927-D997876FF527}"/>
              </a:ext>
            </a:extLst>
          </p:cNvPr>
          <p:cNvSpPr txBox="1"/>
          <p:nvPr/>
        </p:nvSpPr>
        <p:spPr>
          <a:xfrm>
            <a:off x="1063128" y="3699805"/>
            <a:ext cx="525169"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04</a:t>
            </a:r>
          </a:p>
        </p:txBody>
      </p:sp>
      <p:sp>
        <p:nvSpPr>
          <p:cNvPr id="20" name="TextBox 20">
            <a:extLst>
              <a:ext uri="{FF2B5EF4-FFF2-40B4-BE49-F238E27FC236}">
                <a16:creationId xmlns:a16="http://schemas.microsoft.com/office/drawing/2014/main" id="{E38EDD92-1BF3-0011-F9A7-38C651F9910D}"/>
              </a:ext>
            </a:extLst>
          </p:cNvPr>
          <p:cNvSpPr txBox="1"/>
          <p:nvPr/>
        </p:nvSpPr>
        <p:spPr>
          <a:xfrm>
            <a:off x="1854197" y="4994789"/>
            <a:ext cx="7482132" cy="205249"/>
          </a:xfrm>
          <a:prstGeom prst="rect">
            <a:avLst/>
          </a:prstGeom>
        </p:spPr>
        <p:txBody>
          <a:bodyPr wrap="square" lIns="0" tIns="0" rIns="0" bIns="0" rtlCol="0" anchor="t">
            <a:spAutoFit/>
          </a:bodyPr>
          <a:lstStyle/>
          <a:p>
            <a:pPr>
              <a:lnSpc>
                <a:spcPts val="1820"/>
              </a:lnSpc>
            </a:pPr>
            <a:endParaRPr lang="en-US" sz="1100" noProof="0">
              <a:solidFill>
                <a:srgbClr val="000000"/>
              </a:solidFill>
              <a:latin typeface="Arial" panose="020B0604020202020204" pitchFamily="34" charset="0"/>
              <a:ea typeface="Gordita"/>
              <a:cs typeface="Arial" panose="020B0604020202020204" pitchFamily="34" charset="0"/>
              <a:sym typeface="Gordita"/>
            </a:endParaRPr>
          </a:p>
        </p:txBody>
      </p:sp>
      <p:sp>
        <p:nvSpPr>
          <p:cNvPr id="22" name="TextBox 22">
            <a:extLst>
              <a:ext uri="{FF2B5EF4-FFF2-40B4-BE49-F238E27FC236}">
                <a16:creationId xmlns:a16="http://schemas.microsoft.com/office/drawing/2014/main" id="{59D32BB7-BBB4-CC97-62C6-AC58A498D318}"/>
              </a:ext>
            </a:extLst>
          </p:cNvPr>
          <p:cNvSpPr txBox="1"/>
          <p:nvPr/>
        </p:nvSpPr>
        <p:spPr>
          <a:xfrm>
            <a:off x="1063128" y="4600799"/>
            <a:ext cx="487952"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05</a:t>
            </a:r>
          </a:p>
        </p:txBody>
      </p:sp>
      <p:grpSp>
        <p:nvGrpSpPr>
          <p:cNvPr id="26" name="Grupo 25">
            <a:extLst>
              <a:ext uri="{FF2B5EF4-FFF2-40B4-BE49-F238E27FC236}">
                <a16:creationId xmlns:a16="http://schemas.microsoft.com/office/drawing/2014/main" id="{704C682B-2D04-4700-6398-575D4AE30294}"/>
              </a:ext>
            </a:extLst>
          </p:cNvPr>
          <p:cNvGrpSpPr/>
          <p:nvPr/>
        </p:nvGrpSpPr>
        <p:grpSpPr>
          <a:xfrm>
            <a:off x="1847402" y="3676508"/>
            <a:ext cx="9571333" cy="596872"/>
            <a:chOff x="1809305" y="3510392"/>
            <a:chExt cx="9571333" cy="596872"/>
          </a:xfrm>
        </p:grpSpPr>
        <p:sp>
          <p:nvSpPr>
            <p:cNvPr id="13" name="TextBox 15">
              <a:extLst>
                <a:ext uri="{FF2B5EF4-FFF2-40B4-BE49-F238E27FC236}">
                  <a16:creationId xmlns:a16="http://schemas.microsoft.com/office/drawing/2014/main" id="{32691FD7-BC35-C373-983E-ADA5C289511A}"/>
                </a:ext>
              </a:extLst>
            </p:cNvPr>
            <p:cNvSpPr txBox="1"/>
            <p:nvPr/>
          </p:nvSpPr>
          <p:spPr>
            <a:xfrm>
              <a:off x="1809305" y="3510392"/>
              <a:ext cx="9571333"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Current State Analysis</a:t>
              </a:r>
            </a:p>
          </p:txBody>
        </p:sp>
        <p:sp>
          <p:nvSpPr>
            <p:cNvPr id="17" name="TextBox 16">
              <a:extLst>
                <a:ext uri="{FF2B5EF4-FFF2-40B4-BE49-F238E27FC236}">
                  <a16:creationId xmlns:a16="http://schemas.microsoft.com/office/drawing/2014/main" id="{6610A5ED-FE0D-57A3-37AE-CFD5474CDBF2}"/>
                </a:ext>
              </a:extLst>
            </p:cNvPr>
            <p:cNvSpPr txBox="1"/>
            <p:nvPr/>
          </p:nvSpPr>
          <p:spPr>
            <a:xfrm>
              <a:off x="1809305" y="3899065"/>
              <a:ext cx="7868967" cy="208199"/>
            </a:xfrm>
            <a:prstGeom prst="rect">
              <a:avLst/>
            </a:prstGeom>
          </p:spPr>
          <p:txBody>
            <a:bodyPr wrap="square" lIns="0" tIns="0" rIns="0" bIns="0" rtlCol="0" anchor="t">
              <a:spAutoFit/>
            </a:bodyPr>
            <a:lstStyle>
              <a:defPPr>
                <a:defRPr lang="en-US"/>
              </a:defPPr>
              <a:lvl1pPr>
                <a:lnSpc>
                  <a:spcPts val="1820"/>
                </a:lnSpc>
                <a:defRPr sz="1400">
                  <a:solidFill>
                    <a:srgbClr val="000000"/>
                  </a:solidFill>
                  <a:ea typeface="Gordita"/>
                  <a:cs typeface="Gordita"/>
                </a:defRPr>
              </a:lvl1pPr>
            </a:lstStyle>
            <a:p>
              <a:r>
                <a:rPr lang="en-US" sz="1200" noProof="0">
                  <a:latin typeface="Arial" panose="020B0604020202020204" pitchFamily="34" charset="0"/>
                  <a:cs typeface="Arial" panose="020B0604020202020204" pitchFamily="34" charset="0"/>
                </a:rPr>
                <a:t>Includes explanations for Roles and Responsibilities, Value stream Mapping, tools  and Governance Mapping</a:t>
              </a:r>
              <a:endParaRPr lang="en-US" sz="1200" noProof="0">
                <a:latin typeface="Arial" panose="020B0604020202020204" pitchFamily="34" charset="0"/>
                <a:cs typeface="Arial" panose="020B0604020202020204" pitchFamily="34" charset="0"/>
                <a:sym typeface="Gordita"/>
              </a:endParaRPr>
            </a:p>
          </p:txBody>
        </p:sp>
      </p:grpSp>
      <p:sp>
        <p:nvSpPr>
          <p:cNvPr id="12" name="TextBox 22">
            <a:extLst>
              <a:ext uri="{FF2B5EF4-FFF2-40B4-BE49-F238E27FC236}">
                <a16:creationId xmlns:a16="http://schemas.microsoft.com/office/drawing/2014/main" id="{D296158A-578B-2618-AB9B-C8FDF393F86E}"/>
              </a:ext>
            </a:extLst>
          </p:cNvPr>
          <p:cNvSpPr txBox="1"/>
          <p:nvPr/>
        </p:nvSpPr>
        <p:spPr>
          <a:xfrm>
            <a:off x="1063128" y="5501791"/>
            <a:ext cx="487952"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06</a:t>
            </a:r>
          </a:p>
        </p:txBody>
      </p:sp>
      <p:grpSp>
        <p:nvGrpSpPr>
          <p:cNvPr id="21" name="Grupo 20">
            <a:extLst>
              <a:ext uri="{FF2B5EF4-FFF2-40B4-BE49-F238E27FC236}">
                <a16:creationId xmlns:a16="http://schemas.microsoft.com/office/drawing/2014/main" id="{5EC7219C-B477-EECA-B718-4F567177C1A2}"/>
              </a:ext>
            </a:extLst>
          </p:cNvPr>
          <p:cNvGrpSpPr/>
          <p:nvPr/>
        </p:nvGrpSpPr>
        <p:grpSpPr>
          <a:xfrm>
            <a:off x="1861346" y="1170058"/>
            <a:ext cx="9578128" cy="554333"/>
            <a:chOff x="1809304" y="1852249"/>
            <a:chExt cx="9578128" cy="554333"/>
          </a:xfrm>
        </p:grpSpPr>
        <p:sp>
          <p:nvSpPr>
            <p:cNvPr id="11" name="TextBox 11">
              <a:extLst>
                <a:ext uri="{FF2B5EF4-FFF2-40B4-BE49-F238E27FC236}">
                  <a16:creationId xmlns:a16="http://schemas.microsoft.com/office/drawing/2014/main" id="{8A2624A4-B0D8-F493-47F3-B089AFE074AA}"/>
                </a:ext>
              </a:extLst>
            </p:cNvPr>
            <p:cNvSpPr txBox="1"/>
            <p:nvPr/>
          </p:nvSpPr>
          <p:spPr>
            <a:xfrm>
              <a:off x="1816100" y="1852249"/>
              <a:ext cx="9571332"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cs typeface="Arial" panose="020B0604020202020204" pitchFamily="34" charset="0"/>
                </a:rPr>
                <a:t>Context</a:t>
              </a:r>
              <a:endParaRPr lang="en-US" sz="2000" noProof="0">
                <a:solidFill>
                  <a:srgbClr val="000000"/>
                </a:solidFill>
                <a:latin typeface="Arial" panose="020B0604020202020204" pitchFamily="34" charset="0"/>
                <a:ea typeface="Gordita"/>
                <a:cs typeface="Arial" panose="020B0604020202020204" pitchFamily="34" charset="0"/>
                <a:sym typeface="Gordita"/>
              </a:endParaRPr>
            </a:p>
          </p:txBody>
        </p:sp>
        <p:sp>
          <p:nvSpPr>
            <p:cNvPr id="24" name="TextBox 16">
              <a:extLst>
                <a:ext uri="{FF2B5EF4-FFF2-40B4-BE49-F238E27FC236}">
                  <a16:creationId xmlns:a16="http://schemas.microsoft.com/office/drawing/2014/main" id="{4873F704-087F-2915-0DDE-243C4362EE50}"/>
                </a:ext>
              </a:extLst>
            </p:cNvPr>
            <p:cNvSpPr txBox="1"/>
            <p:nvPr/>
          </p:nvSpPr>
          <p:spPr>
            <a:xfrm>
              <a:off x="1809304" y="2198383"/>
              <a:ext cx="7868967" cy="208199"/>
            </a:xfrm>
            <a:prstGeom prst="rect">
              <a:avLst/>
            </a:prstGeom>
          </p:spPr>
          <p:txBody>
            <a:bodyPr wrap="square" lIns="0" tIns="0" rIns="0" bIns="0" rtlCol="0" anchor="t">
              <a:spAutoFit/>
            </a:bodyPr>
            <a:lstStyle/>
            <a:p>
              <a:pPr>
                <a:lnSpc>
                  <a:spcPts val="1820"/>
                </a:lnSpc>
              </a:pPr>
              <a:r>
                <a:rPr lang="en-US" sz="1200" noProof="0">
                  <a:solidFill>
                    <a:srgbClr val="000000"/>
                  </a:solidFill>
                  <a:latin typeface="Arial" panose="020B0604020202020204" pitchFamily="34" charset="0"/>
                  <a:cs typeface="Arial" panose="020B0604020202020204" pitchFamily="34" charset="0"/>
                </a:rPr>
                <a:t>Document summary</a:t>
              </a:r>
              <a:endParaRPr lang="en-US" sz="1200" noProof="0">
                <a:solidFill>
                  <a:srgbClr val="000000"/>
                </a:solidFill>
                <a:latin typeface="Arial" panose="020B0604020202020204" pitchFamily="34" charset="0"/>
                <a:ea typeface="Gordita"/>
                <a:cs typeface="Arial" panose="020B0604020202020204" pitchFamily="34" charset="0"/>
                <a:sym typeface="Gordita"/>
              </a:endParaRPr>
            </a:p>
          </p:txBody>
        </p:sp>
      </p:grpSp>
      <p:grpSp>
        <p:nvGrpSpPr>
          <p:cNvPr id="31" name="Grupo 30">
            <a:extLst>
              <a:ext uri="{FF2B5EF4-FFF2-40B4-BE49-F238E27FC236}">
                <a16:creationId xmlns:a16="http://schemas.microsoft.com/office/drawing/2014/main" id="{53AE85CB-E1D5-10F6-3EDF-9BDF5721079C}"/>
              </a:ext>
            </a:extLst>
          </p:cNvPr>
          <p:cNvGrpSpPr/>
          <p:nvPr/>
        </p:nvGrpSpPr>
        <p:grpSpPr>
          <a:xfrm>
            <a:off x="1847401" y="4582202"/>
            <a:ext cx="9571332" cy="602794"/>
            <a:chOff x="1809305" y="5419675"/>
            <a:chExt cx="9571332" cy="602794"/>
          </a:xfrm>
        </p:grpSpPr>
        <p:sp>
          <p:nvSpPr>
            <p:cNvPr id="9" name="TextBox 19">
              <a:extLst>
                <a:ext uri="{FF2B5EF4-FFF2-40B4-BE49-F238E27FC236}">
                  <a16:creationId xmlns:a16="http://schemas.microsoft.com/office/drawing/2014/main" id="{71141F94-41DC-8F5D-60BC-D00BB85524E6}"/>
                </a:ext>
              </a:extLst>
            </p:cNvPr>
            <p:cNvSpPr txBox="1"/>
            <p:nvPr/>
          </p:nvSpPr>
          <p:spPr>
            <a:xfrm>
              <a:off x="1809305" y="5419675"/>
              <a:ext cx="9571332"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Project Portfolio Landscape</a:t>
              </a:r>
            </a:p>
          </p:txBody>
        </p:sp>
        <p:sp>
          <p:nvSpPr>
            <p:cNvPr id="27" name="TextBox 16">
              <a:extLst>
                <a:ext uri="{FF2B5EF4-FFF2-40B4-BE49-F238E27FC236}">
                  <a16:creationId xmlns:a16="http://schemas.microsoft.com/office/drawing/2014/main" id="{EE07E738-FE84-6497-ECD0-5E828BD0B35F}"/>
                </a:ext>
              </a:extLst>
            </p:cNvPr>
            <p:cNvSpPr txBox="1"/>
            <p:nvPr/>
          </p:nvSpPr>
          <p:spPr>
            <a:xfrm>
              <a:off x="1809305" y="5814270"/>
              <a:ext cx="7868967" cy="208199"/>
            </a:xfrm>
            <a:prstGeom prst="rect">
              <a:avLst/>
            </a:prstGeom>
          </p:spPr>
          <p:txBody>
            <a:bodyPr wrap="square" lIns="0" tIns="0" rIns="0" bIns="0" rtlCol="0" anchor="t">
              <a:spAutoFit/>
            </a:bodyPr>
            <a:lstStyle/>
            <a:p>
              <a:pPr>
                <a:lnSpc>
                  <a:spcPts val="1820"/>
                </a:lnSpc>
              </a:pPr>
              <a:r>
                <a:rPr lang="en-US" sz="1200" noProof="0">
                  <a:solidFill>
                    <a:srgbClr val="000000"/>
                  </a:solidFill>
                  <a:latin typeface="Arial" panose="020B0604020202020204" pitchFamily="34" charset="0"/>
                  <a:ea typeface="Gordita"/>
                  <a:cs typeface="Arial" panose="020B0604020202020204" pitchFamily="34" charset="0"/>
                  <a:sym typeface="Gordita"/>
                </a:rPr>
                <a:t>An overview of the Digital Products’ current demand and tool portfolio</a:t>
              </a:r>
            </a:p>
          </p:txBody>
        </p:sp>
      </p:grpSp>
      <p:grpSp>
        <p:nvGrpSpPr>
          <p:cNvPr id="33" name="Grupo 30">
            <a:extLst>
              <a:ext uri="{FF2B5EF4-FFF2-40B4-BE49-F238E27FC236}">
                <a16:creationId xmlns:a16="http://schemas.microsoft.com/office/drawing/2014/main" id="{A7D6C9AF-708F-399D-B39F-0EF3C2223EEF}"/>
              </a:ext>
            </a:extLst>
          </p:cNvPr>
          <p:cNvGrpSpPr/>
          <p:nvPr/>
        </p:nvGrpSpPr>
        <p:grpSpPr>
          <a:xfrm>
            <a:off x="1847401" y="5519041"/>
            <a:ext cx="9571332" cy="602794"/>
            <a:chOff x="1809305" y="5419675"/>
            <a:chExt cx="9571332" cy="602794"/>
          </a:xfrm>
        </p:grpSpPr>
        <p:sp>
          <p:nvSpPr>
            <p:cNvPr id="34" name="TextBox 19">
              <a:extLst>
                <a:ext uri="{FF2B5EF4-FFF2-40B4-BE49-F238E27FC236}">
                  <a16:creationId xmlns:a16="http://schemas.microsoft.com/office/drawing/2014/main" id="{E67FC928-42DD-B649-23A4-C0E3392D1B00}"/>
                </a:ext>
              </a:extLst>
            </p:cNvPr>
            <p:cNvSpPr txBox="1"/>
            <p:nvPr/>
          </p:nvSpPr>
          <p:spPr>
            <a:xfrm>
              <a:off x="1809305" y="5419675"/>
              <a:ext cx="9571332"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Insights &amp; Key Definitions for To-Be Model</a:t>
              </a:r>
            </a:p>
          </p:txBody>
        </p:sp>
        <p:sp>
          <p:nvSpPr>
            <p:cNvPr id="35" name="TextBox 16">
              <a:extLst>
                <a:ext uri="{FF2B5EF4-FFF2-40B4-BE49-F238E27FC236}">
                  <a16:creationId xmlns:a16="http://schemas.microsoft.com/office/drawing/2014/main" id="{F7049E62-031C-344F-44F3-8FBFCE949984}"/>
                </a:ext>
              </a:extLst>
            </p:cNvPr>
            <p:cNvSpPr txBox="1"/>
            <p:nvPr/>
          </p:nvSpPr>
          <p:spPr>
            <a:xfrm>
              <a:off x="1809305" y="5814270"/>
              <a:ext cx="7868967" cy="208199"/>
            </a:xfrm>
            <a:prstGeom prst="rect">
              <a:avLst/>
            </a:prstGeom>
          </p:spPr>
          <p:txBody>
            <a:bodyPr wrap="square" lIns="0" tIns="0" rIns="0" bIns="0" rtlCol="0" anchor="t">
              <a:spAutoFit/>
            </a:bodyPr>
            <a:lstStyle>
              <a:defPPr>
                <a:defRPr lang="en-US"/>
              </a:defPPr>
              <a:lvl1pPr>
                <a:lnSpc>
                  <a:spcPts val="1820"/>
                </a:lnSpc>
                <a:defRPr sz="1400">
                  <a:solidFill>
                    <a:srgbClr val="000000"/>
                  </a:solidFill>
                  <a:ea typeface="Gordita"/>
                  <a:cs typeface="Gordita"/>
                </a:defRPr>
              </a:lvl1pPr>
            </a:lstStyle>
            <a:p>
              <a:r>
                <a:rPr lang="en-US" sz="1200" noProof="0">
                  <a:latin typeface="Arial" panose="020B0604020202020204" pitchFamily="34" charset="0"/>
                  <a:cs typeface="Arial" panose="020B0604020202020204" pitchFamily="34" charset="0"/>
                </a:rPr>
                <a:t>A synthesis of key insights and foundational definitions shaping the design of the target operating model​</a:t>
              </a:r>
              <a:endParaRPr lang="en-US" sz="1200" noProof="0">
                <a:latin typeface="Arial" panose="020B0604020202020204" pitchFamily="34" charset="0"/>
                <a:cs typeface="Arial" panose="020B0604020202020204" pitchFamily="34" charset="0"/>
                <a:sym typeface="Gordita"/>
              </a:endParaRPr>
            </a:p>
          </p:txBody>
        </p:sp>
      </p:grpSp>
      <p:sp>
        <p:nvSpPr>
          <p:cNvPr id="2" name="TextBox 14">
            <a:extLst>
              <a:ext uri="{FF2B5EF4-FFF2-40B4-BE49-F238E27FC236}">
                <a16:creationId xmlns:a16="http://schemas.microsoft.com/office/drawing/2014/main" id="{3FEBDD96-A894-3BB6-2AB3-9A4FB8DD1F34}"/>
              </a:ext>
            </a:extLst>
          </p:cNvPr>
          <p:cNvSpPr txBox="1"/>
          <p:nvPr/>
        </p:nvSpPr>
        <p:spPr>
          <a:xfrm>
            <a:off x="1070275" y="2006772"/>
            <a:ext cx="537158"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02</a:t>
            </a:r>
          </a:p>
        </p:txBody>
      </p:sp>
      <p:grpSp>
        <p:nvGrpSpPr>
          <p:cNvPr id="3" name="Grupo 2">
            <a:extLst>
              <a:ext uri="{FF2B5EF4-FFF2-40B4-BE49-F238E27FC236}">
                <a16:creationId xmlns:a16="http://schemas.microsoft.com/office/drawing/2014/main" id="{92E14FD4-B6F5-E026-64D2-E3027CF12555}"/>
              </a:ext>
            </a:extLst>
          </p:cNvPr>
          <p:cNvGrpSpPr/>
          <p:nvPr/>
        </p:nvGrpSpPr>
        <p:grpSpPr>
          <a:xfrm>
            <a:off x="1861346" y="1981111"/>
            <a:ext cx="9571333" cy="596872"/>
            <a:chOff x="1816102" y="2594699"/>
            <a:chExt cx="9571333" cy="596872"/>
          </a:xfrm>
        </p:grpSpPr>
        <p:sp>
          <p:nvSpPr>
            <p:cNvPr id="5" name="TextBox 15">
              <a:extLst>
                <a:ext uri="{FF2B5EF4-FFF2-40B4-BE49-F238E27FC236}">
                  <a16:creationId xmlns:a16="http://schemas.microsoft.com/office/drawing/2014/main" id="{98D7559E-400D-2EFA-D15F-394E6FA400D7}"/>
                </a:ext>
              </a:extLst>
            </p:cNvPr>
            <p:cNvSpPr txBox="1"/>
            <p:nvPr/>
          </p:nvSpPr>
          <p:spPr>
            <a:xfrm>
              <a:off x="1816102" y="2594699"/>
              <a:ext cx="9571333"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Executive Summary</a:t>
              </a:r>
            </a:p>
          </p:txBody>
        </p:sp>
        <p:sp>
          <p:nvSpPr>
            <p:cNvPr id="7" name="TextBox 16">
              <a:extLst>
                <a:ext uri="{FF2B5EF4-FFF2-40B4-BE49-F238E27FC236}">
                  <a16:creationId xmlns:a16="http://schemas.microsoft.com/office/drawing/2014/main" id="{A6A4697C-D7AC-289C-EFD2-D1ABA7368ACB}"/>
                </a:ext>
              </a:extLst>
            </p:cNvPr>
            <p:cNvSpPr txBox="1"/>
            <p:nvPr/>
          </p:nvSpPr>
          <p:spPr>
            <a:xfrm>
              <a:off x="1816102" y="2983372"/>
              <a:ext cx="7868967" cy="208199"/>
            </a:xfrm>
            <a:prstGeom prst="rect">
              <a:avLst/>
            </a:prstGeom>
          </p:spPr>
          <p:txBody>
            <a:bodyPr wrap="square" lIns="0" tIns="0" rIns="0" bIns="0" rtlCol="0" anchor="t">
              <a:spAutoFit/>
            </a:bodyPr>
            <a:lstStyle>
              <a:defPPr>
                <a:defRPr lang="en-US"/>
              </a:defPPr>
              <a:lvl1pPr>
                <a:lnSpc>
                  <a:spcPts val="1820"/>
                </a:lnSpc>
                <a:defRPr sz="1400">
                  <a:solidFill>
                    <a:srgbClr val="000000"/>
                  </a:solidFill>
                  <a:latin typeface="+mj-lt"/>
                  <a:ea typeface="Gordita"/>
                  <a:cs typeface="Gordita"/>
                </a:defRPr>
              </a:lvl1pPr>
            </a:lstStyle>
            <a:p>
              <a:r>
                <a:rPr lang="en-US" sz="1200" noProof="0">
                  <a:latin typeface="Arial" panose="020B0604020202020204" pitchFamily="34" charset="0"/>
                  <a:cs typeface="Arial" panose="020B0604020202020204" pitchFamily="34" charset="0"/>
                </a:rPr>
                <a:t>Why we are here. Executive findings &amp; implications. Methodology (Wave 1 Step 1 sources).</a:t>
              </a:r>
              <a:endParaRPr lang="en-US" sz="1200" noProof="0">
                <a:latin typeface="Arial" panose="020B0604020202020204" pitchFamily="34" charset="0"/>
                <a:cs typeface="Arial" panose="020B0604020202020204" pitchFamily="34" charset="0"/>
                <a:sym typeface="Gordita"/>
              </a:endParaRPr>
            </a:p>
          </p:txBody>
        </p:sp>
      </p:grpSp>
      <p:sp>
        <p:nvSpPr>
          <p:cNvPr id="19" name="TextBox 10">
            <a:extLst>
              <a:ext uri="{FF2B5EF4-FFF2-40B4-BE49-F238E27FC236}">
                <a16:creationId xmlns:a16="http://schemas.microsoft.com/office/drawing/2014/main" id="{28AA847B-E07E-5707-6309-0554CADE2773}"/>
              </a:ext>
            </a:extLst>
          </p:cNvPr>
          <p:cNvSpPr txBox="1"/>
          <p:nvPr/>
        </p:nvSpPr>
        <p:spPr>
          <a:xfrm>
            <a:off x="1063127" y="277976"/>
            <a:ext cx="3495835" cy="524182"/>
          </a:xfrm>
          <a:prstGeom prst="rect">
            <a:avLst/>
          </a:prstGeom>
        </p:spPr>
        <p:txBody>
          <a:bodyPr wrap="square" lIns="0" tIns="0" rIns="0" bIns="0" rtlCol="0" anchor="t">
            <a:spAutoFit/>
          </a:bodyPr>
          <a:lstStyle/>
          <a:p>
            <a:pPr>
              <a:lnSpc>
                <a:spcPts val="4608"/>
              </a:lnSpc>
            </a:pPr>
            <a:r>
              <a:rPr lang="en-US" sz="2800" b="1" noProof="0">
                <a:solidFill>
                  <a:schemeClr val="accent1"/>
                </a:solidFill>
                <a:latin typeface="Arial" panose="020B0604020202020204" pitchFamily="34" charset="0"/>
                <a:ea typeface="Gordita Bold"/>
                <a:cs typeface="Arial" panose="020B0604020202020204" pitchFamily="34" charset="0"/>
                <a:sym typeface="Gordita Bold"/>
              </a:rPr>
              <a:t>Table of contents</a:t>
            </a:r>
          </a:p>
        </p:txBody>
      </p:sp>
      <p:sp>
        <p:nvSpPr>
          <p:cNvPr id="8" name="Rectangle: Rounded Corners 7">
            <a:extLst>
              <a:ext uri="{FF2B5EF4-FFF2-40B4-BE49-F238E27FC236}">
                <a16:creationId xmlns:a16="http://schemas.microsoft.com/office/drawing/2014/main" id="{CC6ED5FA-3B12-2F88-F9A1-F65037F0E3D3}"/>
              </a:ext>
            </a:extLst>
          </p:cNvPr>
          <p:cNvSpPr/>
          <p:nvPr/>
        </p:nvSpPr>
        <p:spPr>
          <a:xfrm>
            <a:off x="568821" y="2810036"/>
            <a:ext cx="9343974" cy="915169"/>
          </a:xfrm>
          <a:prstGeom prst="roundRect">
            <a:avLst/>
          </a:prstGeom>
          <a:solidFill>
            <a:schemeClr val="tx2">
              <a:lumMod val="10000"/>
              <a:lumOff val="90000"/>
              <a:alpha val="41961"/>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4" name="TextBox 14">
            <a:extLst>
              <a:ext uri="{FF2B5EF4-FFF2-40B4-BE49-F238E27FC236}">
                <a16:creationId xmlns:a16="http://schemas.microsoft.com/office/drawing/2014/main" id="{DD69A1DA-49D0-77F5-BDB4-165E92EBEF85}"/>
              </a:ext>
            </a:extLst>
          </p:cNvPr>
          <p:cNvSpPr txBox="1"/>
          <p:nvPr/>
        </p:nvSpPr>
        <p:spPr>
          <a:xfrm>
            <a:off x="1063128" y="2827839"/>
            <a:ext cx="537158"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03</a:t>
            </a:r>
          </a:p>
        </p:txBody>
      </p:sp>
    </p:spTree>
    <p:extLst>
      <p:ext uri="{BB962C8B-B14F-4D97-AF65-F5344CB8AC3E}">
        <p14:creationId xmlns:p14="http://schemas.microsoft.com/office/powerpoint/2010/main" val="41610448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4284B0-9335-83FB-26DD-1340D4BD5F8B}"/>
            </a:ext>
          </a:extLst>
        </p:cNvPr>
        <p:cNvGrpSpPr/>
        <p:nvPr/>
      </p:nvGrpSpPr>
      <p:grpSpPr>
        <a:xfrm>
          <a:off x="0" y="0"/>
          <a:ext cx="0" cy="0"/>
          <a:chOff x="0" y="0"/>
          <a:chExt cx="0" cy="0"/>
        </a:xfrm>
      </p:grpSpPr>
      <p:sp>
        <p:nvSpPr>
          <p:cNvPr id="2" name="Título 2">
            <a:extLst>
              <a:ext uri="{FF2B5EF4-FFF2-40B4-BE49-F238E27FC236}">
                <a16:creationId xmlns:a16="http://schemas.microsoft.com/office/drawing/2014/main" id="{6EC9F8D2-A604-92DB-1096-C4A2D2A1C2E8}"/>
              </a:ext>
            </a:extLst>
          </p:cNvPr>
          <p:cNvSpPr txBox="1">
            <a:spLocks/>
          </p:cNvSpPr>
          <p:nvPr/>
        </p:nvSpPr>
        <p:spPr>
          <a:xfrm>
            <a:off x="180918" y="127319"/>
            <a:ext cx="6576167" cy="514011"/>
          </a:xfrm>
          <a:prstGeom prst="rect">
            <a:avLst/>
          </a:prstGeom>
        </p:spPr>
        <p:txBody>
          <a:bodyPr anchor="ctr">
            <a:noAutofit/>
          </a:bodyPr>
          <a:lstStyle>
            <a:defPPr>
              <a:defRPr lang="en-US"/>
            </a:defPPr>
            <a:lvl1pPr>
              <a:lnSpc>
                <a:spcPct val="90000"/>
              </a:lnSpc>
              <a:spcBef>
                <a:spcPct val="0"/>
              </a:spcBef>
              <a:buNone/>
              <a:defRPr sz="2400" b="1">
                <a:solidFill>
                  <a:schemeClr val="bg1"/>
                </a:solidFill>
                <a:latin typeface="Montserrat" pitchFamily="2" charset="77"/>
                <a:ea typeface="+mj-ea"/>
                <a:cs typeface="+mj-cs"/>
              </a:defRPr>
            </a:lvl1pPr>
          </a:lstStyle>
          <a:p>
            <a:r>
              <a:rPr lang="en-US" noProof="0">
                <a:latin typeface="Arial" panose="020B0604020202020204" pitchFamily="34" charset="0"/>
                <a:cs typeface="Arial" panose="020B0604020202020204" pitchFamily="34" charset="0"/>
              </a:rPr>
              <a:t>METHODOLOGY</a:t>
            </a:r>
          </a:p>
        </p:txBody>
      </p:sp>
      <p:sp>
        <p:nvSpPr>
          <p:cNvPr id="3" name="Shape 54">
            <a:extLst>
              <a:ext uri="{FF2B5EF4-FFF2-40B4-BE49-F238E27FC236}">
                <a16:creationId xmlns:a16="http://schemas.microsoft.com/office/drawing/2014/main" id="{A1ABF156-89DE-44B0-5B75-88EA01B73E7B}"/>
              </a:ext>
            </a:extLst>
          </p:cNvPr>
          <p:cNvSpPr/>
          <p:nvPr/>
        </p:nvSpPr>
        <p:spPr>
          <a:xfrm>
            <a:off x="333153" y="1583918"/>
            <a:ext cx="2195509" cy="4858411"/>
          </a:xfrm>
          <a:prstGeom prst="roundRect">
            <a:avLst>
              <a:gd name="adj" fmla="val 2656"/>
            </a:avLst>
          </a:prstGeom>
          <a:solidFill>
            <a:srgbClr val="E7F0F9"/>
          </a:solidFill>
          <a:ln/>
          <a:effectLst>
            <a:outerShdw blurRad="63500" dist="38100" dir="16200000" algn="bl" rotWithShape="0">
              <a:srgbClr val="000000">
                <a:alpha val="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4" name="Shape 55">
            <a:extLst>
              <a:ext uri="{FF2B5EF4-FFF2-40B4-BE49-F238E27FC236}">
                <a16:creationId xmlns:a16="http://schemas.microsoft.com/office/drawing/2014/main" id="{204D85BD-E258-5D7D-F105-EFEA122BD306}"/>
              </a:ext>
            </a:extLst>
          </p:cNvPr>
          <p:cNvSpPr/>
          <p:nvPr/>
        </p:nvSpPr>
        <p:spPr>
          <a:xfrm>
            <a:off x="333158" y="1583919"/>
            <a:ext cx="2195509" cy="47549"/>
          </a:xfrm>
          <a:prstGeom prst="roundRect">
            <a:avLst>
              <a:gd name="adj" fmla="val 201105"/>
            </a:avLst>
          </a:prstGeom>
          <a:solidFill>
            <a:srgbClr val="2C578B"/>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5" name="Shape 56">
            <a:extLst>
              <a:ext uri="{FF2B5EF4-FFF2-40B4-BE49-F238E27FC236}">
                <a16:creationId xmlns:a16="http://schemas.microsoft.com/office/drawing/2014/main" id="{5E7B06D6-0A5B-CA3C-25A9-DA7208BFD7A3}"/>
              </a:ext>
            </a:extLst>
          </p:cNvPr>
          <p:cNvSpPr/>
          <p:nvPr/>
        </p:nvSpPr>
        <p:spPr>
          <a:xfrm>
            <a:off x="575006" y="1783084"/>
            <a:ext cx="404702" cy="401271"/>
          </a:xfrm>
          <a:prstGeom prst="ellipse">
            <a:avLst/>
          </a:prstGeom>
          <a:solidFill>
            <a:srgbClr val="2C578B"/>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effectLst/>
              <a:uLnTx/>
              <a:uFillTx/>
              <a:latin typeface="Arial" panose="020B0604020202020204" pitchFamily="34" charset="0"/>
              <a:cs typeface="Arial" panose="020B0604020202020204" pitchFamily="34" charset="0"/>
            </a:endParaRPr>
          </a:p>
        </p:txBody>
      </p:sp>
      <p:sp>
        <p:nvSpPr>
          <p:cNvPr id="6" name="Text 57">
            <a:extLst>
              <a:ext uri="{FF2B5EF4-FFF2-40B4-BE49-F238E27FC236}">
                <a16:creationId xmlns:a16="http://schemas.microsoft.com/office/drawing/2014/main" id="{9DDCE41A-068A-7CB6-9AE3-FE3F1959FCE6}"/>
              </a:ext>
            </a:extLst>
          </p:cNvPr>
          <p:cNvSpPr txBox="1"/>
          <p:nvPr/>
        </p:nvSpPr>
        <p:spPr>
          <a:xfrm>
            <a:off x="1151307" y="1867626"/>
            <a:ext cx="1377358" cy="324612"/>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effectLst/>
                <a:uLnTx/>
                <a:uFillTx/>
                <a:latin typeface="Arial" panose="020B0604020202020204" pitchFamily="34" charset="0"/>
                <a:ea typeface="Montserrat" pitchFamily="34" charset="-122"/>
                <a:cs typeface="Arial" panose="020B0604020202020204" pitchFamily="34" charset="0"/>
              </a:rPr>
              <a:t>Step 1</a:t>
            </a:r>
            <a:endParaRPr kumimoji="0" lang="en-US" sz="1000" b="0" i="0" u="none" strike="noStrike" kern="1200" cap="none" spc="0" normalizeH="0" baseline="0" noProof="0">
              <a:ln>
                <a:noFill/>
              </a:ln>
              <a:effectLst/>
              <a:uLnTx/>
              <a:uFillTx/>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effectLst/>
                <a:uLnTx/>
                <a:uFillTx/>
                <a:latin typeface="Arial" panose="020B0604020202020204" pitchFamily="34" charset="0"/>
                <a:ea typeface="Montserrat" pitchFamily="34" charset="-122"/>
                <a:cs typeface="Arial" panose="020B0604020202020204" pitchFamily="34" charset="0"/>
              </a:rPr>
              <a:t>Enablement</a:t>
            </a:r>
            <a:endParaRPr kumimoji="0" lang="en-US" sz="1000" b="0" i="0" u="none" strike="noStrike" kern="1200" cap="none" spc="0" normalizeH="0" baseline="0" noProof="0">
              <a:ln>
                <a:noFill/>
              </a:ln>
              <a:effectLst/>
              <a:uLnTx/>
              <a:uFillTx/>
              <a:latin typeface="Arial" panose="020B0604020202020204" pitchFamily="34" charset="0"/>
              <a:cs typeface="Arial" panose="020B0604020202020204" pitchFamily="34" charset="0"/>
            </a:endParaRPr>
          </a:p>
        </p:txBody>
      </p:sp>
      <p:sp>
        <p:nvSpPr>
          <p:cNvPr id="7" name="Text 59">
            <a:extLst>
              <a:ext uri="{FF2B5EF4-FFF2-40B4-BE49-F238E27FC236}">
                <a16:creationId xmlns:a16="http://schemas.microsoft.com/office/drawing/2014/main" id="{44B91682-0EE4-77F5-B3DB-EF75E090D32B}"/>
              </a:ext>
            </a:extLst>
          </p:cNvPr>
          <p:cNvSpPr txBox="1"/>
          <p:nvPr/>
        </p:nvSpPr>
        <p:spPr>
          <a:xfrm>
            <a:off x="548026" y="2382480"/>
            <a:ext cx="1851171" cy="348896"/>
          </a:xfrm>
          <a:prstGeom prst="rect">
            <a:avLst/>
          </a:prstGeom>
          <a:solidFill>
            <a:srgbClr val="FFFFFF">
              <a:alpha val="0"/>
            </a:srgbClr>
          </a:solidFill>
          <a:ln>
            <a:solidFill>
              <a:srgbClr val="FFFFFF">
                <a:alpha val="0"/>
              </a:srgbClr>
            </a:solidFill>
          </a:ln>
        </p:spPr>
        <p:txBody>
          <a:bodyPr wrap="square" lIns="0" tIns="0" rIns="0" bIns="0" rtlCol="0" anchor="t"/>
          <a:lstStyle/>
          <a:p>
            <a:pPr lvl="0">
              <a:defRPr/>
            </a:pPr>
            <a:r>
              <a:rPr lang="en-US" sz="1100" b="1" i="1" noProof="0">
                <a:solidFill>
                  <a:schemeClr val="accent1"/>
                </a:solidFill>
                <a:latin typeface="Arial" panose="020B0604020202020204" pitchFamily="34" charset="0"/>
                <a:ea typeface="Open Sans" pitchFamily="34" charset="-122"/>
                <a:cs typeface="Arial" panose="020B0604020202020204" pitchFamily="34" charset="0"/>
              </a:rPr>
              <a:t>Where are we starting from?</a:t>
            </a:r>
            <a:endParaRPr lang="en-US" sz="1100" b="1" noProof="0">
              <a:solidFill>
                <a:schemeClr val="accent1"/>
              </a:solidFill>
              <a:latin typeface="Arial" panose="020B0604020202020204" pitchFamily="34" charset="0"/>
              <a:cs typeface="Arial" panose="020B0604020202020204" pitchFamily="34" charset="0"/>
            </a:endParaRPr>
          </a:p>
        </p:txBody>
      </p:sp>
      <p:sp>
        <p:nvSpPr>
          <p:cNvPr id="8" name="Shape 54">
            <a:extLst>
              <a:ext uri="{FF2B5EF4-FFF2-40B4-BE49-F238E27FC236}">
                <a16:creationId xmlns:a16="http://schemas.microsoft.com/office/drawing/2014/main" id="{6E58B2A8-0612-CE95-BEEC-8F34CD098932}"/>
              </a:ext>
            </a:extLst>
          </p:cNvPr>
          <p:cNvSpPr/>
          <p:nvPr/>
        </p:nvSpPr>
        <p:spPr>
          <a:xfrm>
            <a:off x="2667706" y="1583918"/>
            <a:ext cx="2195509" cy="4858411"/>
          </a:xfrm>
          <a:prstGeom prst="roundRect">
            <a:avLst>
              <a:gd name="adj" fmla="val 6561"/>
            </a:avLst>
          </a:prstGeom>
          <a:solidFill>
            <a:srgbClr val="EAEAEA"/>
          </a:solidFill>
          <a:ln/>
          <a:effectLst>
            <a:outerShdw blurRad="63500" dist="38100" dir="16200000" algn="bl" rotWithShape="0">
              <a:srgbClr val="000000">
                <a:alpha val="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9" name="Shape 55">
            <a:extLst>
              <a:ext uri="{FF2B5EF4-FFF2-40B4-BE49-F238E27FC236}">
                <a16:creationId xmlns:a16="http://schemas.microsoft.com/office/drawing/2014/main" id="{7DABEFE6-A472-596F-923D-183CEF4FAA7B}"/>
              </a:ext>
            </a:extLst>
          </p:cNvPr>
          <p:cNvSpPr/>
          <p:nvPr/>
        </p:nvSpPr>
        <p:spPr>
          <a:xfrm>
            <a:off x="2667710" y="1583919"/>
            <a:ext cx="2195509" cy="47549"/>
          </a:xfrm>
          <a:prstGeom prst="roundRect">
            <a:avLst>
              <a:gd name="adj" fmla="val 201105"/>
            </a:avLst>
          </a:prstGeom>
          <a:solidFill>
            <a:srgbClr val="2C578B"/>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10" name="Shape 56">
            <a:extLst>
              <a:ext uri="{FF2B5EF4-FFF2-40B4-BE49-F238E27FC236}">
                <a16:creationId xmlns:a16="http://schemas.microsoft.com/office/drawing/2014/main" id="{30F7D54F-60CD-B20C-9E9C-482CD57B9C03}"/>
              </a:ext>
            </a:extLst>
          </p:cNvPr>
          <p:cNvSpPr/>
          <p:nvPr/>
        </p:nvSpPr>
        <p:spPr>
          <a:xfrm>
            <a:off x="2909559" y="1783084"/>
            <a:ext cx="404702" cy="401271"/>
          </a:xfrm>
          <a:prstGeom prst="ellipse">
            <a:avLst/>
          </a:prstGeom>
          <a:solidFill>
            <a:srgbClr val="2C578B"/>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effectLst/>
              <a:uLnTx/>
              <a:uFillTx/>
              <a:latin typeface="Arial" panose="020B0604020202020204" pitchFamily="34" charset="0"/>
              <a:cs typeface="Arial" panose="020B0604020202020204" pitchFamily="34" charset="0"/>
            </a:endParaRPr>
          </a:p>
        </p:txBody>
      </p:sp>
      <p:sp>
        <p:nvSpPr>
          <p:cNvPr id="11" name="Text 57">
            <a:extLst>
              <a:ext uri="{FF2B5EF4-FFF2-40B4-BE49-F238E27FC236}">
                <a16:creationId xmlns:a16="http://schemas.microsoft.com/office/drawing/2014/main" id="{78A36D37-4688-F837-FDA2-4023947B3729}"/>
              </a:ext>
            </a:extLst>
          </p:cNvPr>
          <p:cNvSpPr txBox="1"/>
          <p:nvPr/>
        </p:nvSpPr>
        <p:spPr>
          <a:xfrm>
            <a:off x="3485860" y="1867626"/>
            <a:ext cx="1377358" cy="324612"/>
          </a:xfrm>
          <a:prstGeom prst="rect">
            <a:avLst/>
          </a:prstGeom>
          <a:noFill/>
          <a:ln/>
        </p:spPr>
        <p:txBody>
          <a:bodyPr wrap="square" lIns="0" tIns="0" rIns="0" bIns="0" rtlCol="0" anchor="t"/>
          <a:lstStyle/>
          <a:p>
            <a:pPr lvl="0">
              <a:defRPr/>
            </a:pPr>
            <a:r>
              <a:rPr lang="en-US" sz="1000" b="1" noProof="0">
                <a:latin typeface="Arial" panose="020B0604020202020204" pitchFamily="34" charset="0"/>
                <a:ea typeface="Montserrat" pitchFamily="34" charset="-122"/>
                <a:cs typeface="Arial" panose="020B0604020202020204" pitchFamily="34" charset="0"/>
              </a:rPr>
              <a:t>Step 2</a:t>
            </a:r>
            <a:endParaRPr lang="en-US" sz="1000" noProof="0">
              <a:latin typeface="Arial" panose="020B0604020202020204" pitchFamily="34" charset="0"/>
              <a:cs typeface="Arial" panose="020B0604020202020204" pitchFamily="34" charset="0"/>
            </a:endParaRPr>
          </a:p>
          <a:p>
            <a:pPr lvl="0">
              <a:defRPr/>
            </a:pPr>
            <a:r>
              <a:rPr lang="en-US" sz="1000" b="1" noProof="0">
                <a:latin typeface="Arial" panose="020B0604020202020204" pitchFamily="34" charset="0"/>
                <a:ea typeface="Montserrat" pitchFamily="34" charset="-122"/>
                <a:cs typeface="Arial" panose="020B0604020202020204" pitchFamily="34" charset="0"/>
              </a:rPr>
              <a:t>Define Lifecycle</a:t>
            </a:r>
            <a:endParaRPr lang="en-US" sz="1000" noProof="0">
              <a:latin typeface="Arial" panose="020B0604020202020204" pitchFamily="34" charset="0"/>
              <a:cs typeface="Arial" panose="020B0604020202020204" pitchFamily="34" charset="0"/>
            </a:endParaRPr>
          </a:p>
        </p:txBody>
      </p:sp>
      <p:sp>
        <p:nvSpPr>
          <p:cNvPr id="12" name="Text 59">
            <a:extLst>
              <a:ext uri="{FF2B5EF4-FFF2-40B4-BE49-F238E27FC236}">
                <a16:creationId xmlns:a16="http://schemas.microsoft.com/office/drawing/2014/main" id="{738FF9EA-35D1-05D4-9674-68E2610D3E9D}"/>
              </a:ext>
            </a:extLst>
          </p:cNvPr>
          <p:cNvSpPr txBox="1"/>
          <p:nvPr/>
        </p:nvSpPr>
        <p:spPr>
          <a:xfrm>
            <a:off x="2882579" y="2382480"/>
            <a:ext cx="1851171" cy="348896"/>
          </a:xfrm>
          <a:prstGeom prst="rect">
            <a:avLst/>
          </a:prstGeom>
          <a:solidFill>
            <a:srgbClr val="FFFFFF">
              <a:alpha val="0"/>
            </a:srgbClr>
          </a:solidFill>
          <a:ln>
            <a:solidFill>
              <a:srgbClr val="FFFFFF">
                <a:alpha val="0"/>
              </a:srgbClr>
            </a:solidFill>
          </a:ln>
        </p:spPr>
        <p:txBody>
          <a:bodyPr wrap="square" lIns="0" tIns="0" rIns="0" bIns="0" rtlCol="0" anchor="t"/>
          <a:lstStyle/>
          <a:p>
            <a:pPr lvl="0">
              <a:defRPr/>
            </a:pPr>
            <a:r>
              <a:rPr lang="en-US" sz="1100" b="1" i="1" noProof="0">
                <a:solidFill>
                  <a:schemeClr val="accent1"/>
                </a:solidFill>
                <a:latin typeface="Arial" panose="020B0604020202020204" pitchFamily="34" charset="0"/>
                <a:ea typeface="Open Sans" pitchFamily="34" charset="-122"/>
                <a:cs typeface="Arial" panose="020B0604020202020204" pitchFamily="34" charset="0"/>
              </a:rPr>
              <a:t>How should we work?</a:t>
            </a:r>
            <a:endParaRPr lang="en-US" sz="1100" b="1" noProof="0">
              <a:solidFill>
                <a:schemeClr val="accent1"/>
              </a:solidFill>
              <a:latin typeface="Arial" panose="020B0604020202020204" pitchFamily="34" charset="0"/>
              <a:cs typeface="Arial" panose="020B0604020202020204" pitchFamily="34" charset="0"/>
            </a:endParaRPr>
          </a:p>
        </p:txBody>
      </p:sp>
      <p:sp>
        <p:nvSpPr>
          <p:cNvPr id="13" name="Shape 54">
            <a:extLst>
              <a:ext uri="{FF2B5EF4-FFF2-40B4-BE49-F238E27FC236}">
                <a16:creationId xmlns:a16="http://schemas.microsoft.com/office/drawing/2014/main" id="{846BD75B-BDBC-DEFE-EE75-292450ADC853}"/>
              </a:ext>
            </a:extLst>
          </p:cNvPr>
          <p:cNvSpPr/>
          <p:nvPr/>
        </p:nvSpPr>
        <p:spPr>
          <a:xfrm>
            <a:off x="5002259" y="1583918"/>
            <a:ext cx="2195509" cy="4858411"/>
          </a:xfrm>
          <a:prstGeom prst="roundRect">
            <a:avLst>
              <a:gd name="adj" fmla="val 6561"/>
            </a:avLst>
          </a:prstGeom>
          <a:solidFill>
            <a:srgbClr val="EAEAEA"/>
          </a:solidFill>
          <a:ln/>
          <a:effectLst>
            <a:outerShdw blurRad="63500" dist="38100" dir="16200000" algn="bl" rotWithShape="0">
              <a:srgbClr val="000000">
                <a:alpha val="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14" name="Shape 55">
            <a:extLst>
              <a:ext uri="{FF2B5EF4-FFF2-40B4-BE49-F238E27FC236}">
                <a16:creationId xmlns:a16="http://schemas.microsoft.com/office/drawing/2014/main" id="{8FBC4532-B648-B65F-DBAE-88A1B466B7CC}"/>
              </a:ext>
            </a:extLst>
          </p:cNvPr>
          <p:cNvSpPr/>
          <p:nvPr/>
        </p:nvSpPr>
        <p:spPr>
          <a:xfrm>
            <a:off x="5002264" y="1583919"/>
            <a:ext cx="2195509" cy="47549"/>
          </a:xfrm>
          <a:prstGeom prst="roundRect">
            <a:avLst>
              <a:gd name="adj" fmla="val 201105"/>
            </a:avLst>
          </a:prstGeom>
          <a:solidFill>
            <a:srgbClr val="2C578B"/>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15" name="Shape 56">
            <a:extLst>
              <a:ext uri="{FF2B5EF4-FFF2-40B4-BE49-F238E27FC236}">
                <a16:creationId xmlns:a16="http://schemas.microsoft.com/office/drawing/2014/main" id="{A5830849-3D5B-F4A4-E6C6-04944EB831CC}"/>
              </a:ext>
            </a:extLst>
          </p:cNvPr>
          <p:cNvSpPr/>
          <p:nvPr/>
        </p:nvSpPr>
        <p:spPr>
          <a:xfrm>
            <a:off x="5244112" y="1783084"/>
            <a:ext cx="404702" cy="401271"/>
          </a:xfrm>
          <a:prstGeom prst="ellipse">
            <a:avLst/>
          </a:prstGeom>
          <a:solidFill>
            <a:srgbClr val="2C578B"/>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effectLst/>
              <a:uLnTx/>
              <a:uFillTx/>
              <a:latin typeface="Arial" panose="020B0604020202020204" pitchFamily="34" charset="0"/>
              <a:cs typeface="Arial" panose="020B0604020202020204" pitchFamily="34" charset="0"/>
            </a:endParaRPr>
          </a:p>
        </p:txBody>
      </p:sp>
      <p:sp>
        <p:nvSpPr>
          <p:cNvPr id="16" name="Text 57">
            <a:extLst>
              <a:ext uri="{FF2B5EF4-FFF2-40B4-BE49-F238E27FC236}">
                <a16:creationId xmlns:a16="http://schemas.microsoft.com/office/drawing/2014/main" id="{5E1A9484-5F2D-B535-F17B-600CCB127413}"/>
              </a:ext>
            </a:extLst>
          </p:cNvPr>
          <p:cNvSpPr txBox="1"/>
          <p:nvPr/>
        </p:nvSpPr>
        <p:spPr>
          <a:xfrm>
            <a:off x="5751544" y="1775028"/>
            <a:ext cx="1515094" cy="324612"/>
          </a:xfrm>
          <a:prstGeom prst="rect">
            <a:avLst/>
          </a:prstGeom>
          <a:noFill/>
          <a:ln/>
        </p:spPr>
        <p:txBody>
          <a:bodyPr wrap="square" lIns="0" tIns="0" rIns="0" bIns="0" rtlCol="0" anchor="t"/>
          <a:lstStyle/>
          <a:p>
            <a:pPr lvl="0">
              <a:defRPr/>
            </a:pPr>
            <a:r>
              <a:rPr lang="en-US" sz="1000" b="1" noProof="0">
                <a:latin typeface="Arial" panose="020B0604020202020204" pitchFamily="34" charset="0"/>
                <a:ea typeface="Montserrat" pitchFamily="34" charset="-122"/>
                <a:cs typeface="Arial" panose="020B0604020202020204" pitchFamily="34" charset="0"/>
              </a:rPr>
              <a:t>Step 3</a:t>
            </a:r>
            <a:endParaRPr lang="en-US" sz="1000" noProof="0">
              <a:latin typeface="Arial" panose="020B0604020202020204" pitchFamily="34" charset="0"/>
              <a:cs typeface="Arial" panose="020B0604020202020204" pitchFamily="34" charset="0"/>
            </a:endParaRPr>
          </a:p>
          <a:p>
            <a:pPr lvl="0">
              <a:defRPr/>
            </a:pPr>
            <a:r>
              <a:rPr lang="en-US" sz="1000" b="1" noProof="0">
                <a:latin typeface="Arial" panose="020B0604020202020204" pitchFamily="34" charset="0"/>
                <a:ea typeface="Montserrat" pitchFamily="34" charset="-122"/>
                <a:cs typeface="Arial" panose="020B0604020202020204" pitchFamily="34" charset="0"/>
              </a:rPr>
              <a:t>Design Tool Ecosystem</a:t>
            </a:r>
            <a:endParaRPr lang="en-US" sz="1000" noProof="0">
              <a:latin typeface="Arial" panose="020B0604020202020204" pitchFamily="34" charset="0"/>
              <a:cs typeface="Arial" panose="020B0604020202020204" pitchFamily="34" charset="0"/>
            </a:endParaRPr>
          </a:p>
        </p:txBody>
      </p:sp>
      <p:sp>
        <p:nvSpPr>
          <p:cNvPr id="17" name="Text 59">
            <a:extLst>
              <a:ext uri="{FF2B5EF4-FFF2-40B4-BE49-F238E27FC236}">
                <a16:creationId xmlns:a16="http://schemas.microsoft.com/office/drawing/2014/main" id="{C41D4D37-A4E8-8914-F2B9-64BBE5990767}"/>
              </a:ext>
            </a:extLst>
          </p:cNvPr>
          <p:cNvSpPr txBox="1"/>
          <p:nvPr/>
        </p:nvSpPr>
        <p:spPr>
          <a:xfrm>
            <a:off x="5217133" y="2382480"/>
            <a:ext cx="1851171" cy="348896"/>
          </a:xfrm>
          <a:prstGeom prst="rect">
            <a:avLst/>
          </a:prstGeom>
          <a:solidFill>
            <a:srgbClr val="FFFFFF">
              <a:alpha val="0"/>
            </a:srgbClr>
          </a:solidFill>
          <a:ln>
            <a:solidFill>
              <a:srgbClr val="FFFFFF">
                <a:alpha val="0"/>
              </a:srgbClr>
            </a:solidFill>
          </a:ln>
        </p:spPr>
        <p:txBody>
          <a:bodyPr wrap="square" lIns="0" tIns="0" rIns="0" bIns="0" rtlCol="0" anchor="t"/>
          <a:lstStyle/>
          <a:p>
            <a:pPr lvl="0">
              <a:defRPr/>
            </a:pPr>
            <a:r>
              <a:rPr lang="en-US" sz="1100" b="1" i="1" noProof="0">
                <a:solidFill>
                  <a:schemeClr val="accent1"/>
                </a:solidFill>
                <a:latin typeface="Arial" panose="020B0604020202020204" pitchFamily="34" charset="0"/>
                <a:ea typeface="Open Sans" pitchFamily="34" charset="-122"/>
                <a:cs typeface="Arial" panose="020B0604020202020204" pitchFamily="34" charset="0"/>
              </a:rPr>
              <a:t>What supports the process?</a:t>
            </a:r>
            <a:endParaRPr lang="en-US" sz="1100" b="1" noProof="0">
              <a:solidFill>
                <a:schemeClr val="accent1"/>
              </a:solidFill>
              <a:latin typeface="Arial" panose="020B0604020202020204" pitchFamily="34" charset="0"/>
              <a:cs typeface="Arial" panose="020B0604020202020204" pitchFamily="34" charset="0"/>
            </a:endParaRPr>
          </a:p>
        </p:txBody>
      </p:sp>
      <p:sp>
        <p:nvSpPr>
          <p:cNvPr id="18" name="Shape 54">
            <a:extLst>
              <a:ext uri="{FF2B5EF4-FFF2-40B4-BE49-F238E27FC236}">
                <a16:creationId xmlns:a16="http://schemas.microsoft.com/office/drawing/2014/main" id="{3FA10F24-4915-2813-9A0B-8C81677347DF}"/>
              </a:ext>
            </a:extLst>
          </p:cNvPr>
          <p:cNvSpPr/>
          <p:nvPr/>
        </p:nvSpPr>
        <p:spPr>
          <a:xfrm>
            <a:off x="7336812" y="1583918"/>
            <a:ext cx="2195509" cy="4858411"/>
          </a:xfrm>
          <a:prstGeom prst="roundRect">
            <a:avLst>
              <a:gd name="adj" fmla="val 6561"/>
            </a:avLst>
          </a:prstGeom>
          <a:solidFill>
            <a:srgbClr val="EAEAEA"/>
          </a:solidFill>
          <a:ln/>
          <a:effectLst>
            <a:outerShdw blurRad="63500" dist="38100" dir="16200000" algn="bl" rotWithShape="0">
              <a:srgbClr val="000000">
                <a:alpha val="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19" name="Shape 55">
            <a:extLst>
              <a:ext uri="{FF2B5EF4-FFF2-40B4-BE49-F238E27FC236}">
                <a16:creationId xmlns:a16="http://schemas.microsoft.com/office/drawing/2014/main" id="{7E4EBAB4-D88B-A0AD-6E3E-DA77AA8E76EE}"/>
              </a:ext>
            </a:extLst>
          </p:cNvPr>
          <p:cNvSpPr/>
          <p:nvPr/>
        </p:nvSpPr>
        <p:spPr>
          <a:xfrm>
            <a:off x="7336817" y="1583919"/>
            <a:ext cx="2195509" cy="47549"/>
          </a:xfrm>
          <a:prstGeom prst="roundRect">
            <a:avLst>
              <a:gd name="adj" fmla="val 201105"/>
            </a:avLst>
          </a:prstGeom>
          <a:solidFill>
            <a:srgbClr val="2C578B"/>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0" name="Shape 56">
            <a:extLst>
              <a:ext uri="{FF2B5EF4-FFF2-40B4-BE49-F238E27FC236}">
                <a16:creationId xmlns:a16="http://schemas.microsoft.com/office/drawing/2014/main" id="{AF817F62-9F0D-C233-A1D1-F66E72AD07BE}"/>
              </a:ext>
            </a:extLst>
          </p:cNvPr>
          <p:cNvSpPr/>
          <p:nvPr/>
        </p:nvSpPr>
        <p:spPr>
          <a:xfrm>
            <a:off x="7578665" y="1783084"/>
            <a:ext cx="404702" cy="401271"/>
          </a:xfrm>
          <a:prstGeom prst="ellipse">
            <a:avLst/>
          </a:prstGeom>
          <a:solidFill>
            <a:srgbClr val="2C578B"/>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effectLst/>
              <a:uLnTx/>
              <a:uFillTx/>
              <a:latin typeface="Arial" panose="020B0604020202020204" pitchFamily="34" charset="0"/>
              <a:cs typeface="Arial" panose="020B0604020202020204" pitchFamily="34" charset="0"/>
            </a:endParaRPr>
          </a:p>
        </p:txBody>
      </p:sp>
      <p:sp>
        <p:nvSpPr>
          <p:cNvPr id="21" name="Text 57">
            <a:extLst>
              <a:ext uri="{FF2B5EF4-FFF2-40B4-BE49-F238E27FC236}">
                <a16:creationId xmlns:a16="http://schemas.microsoft.com/office/drawing/2014/main" id="{8C41045D-5EA5-623D-ABDD-08833E2360F4}"/>
              </a:ext>
            </a:extLst>
          </p:cNvPr>
          <p:cNvSpPr txBox="1"/>
          <p:nvPr/>
        </p:nvSpPr>
        <p:spPr>
          <a:xfrm>
            <a:off x="8154966" y="1775028"/>
            <a:ext cx="1377358" cy="324612"/>
          </a:xfrm>
          <a:prstGeom prst="rect">
            <a:avLst/>
          </a:prstGeom>
          <a:noFill/>
          <a:ln/>
        </p:spPr>
        <p:txBody>
          <a:bodyPr wrap="square" lIns="0" tIns="0" rIns="0" bIns="0" rtlCol="0" anchor="t"/>
          <a:lstStyle/>
          <a:p>
            <a:pPr lvl="0">
              <a:defRPr/>
            </a:pPr>
            <a:r>
              <a:rPr lang="en-US" sz="1000" b="1" noProof="0">
                <a:latin typeface="Arial" panose="020B0604020202020204" pitchFamily="34" charset="0"/>
                <a:ea typeface="Montserrat" pitchFamily="34" charset="-122"/>
                <a:cs typeface="Arial" panose="020B0604020202020204" pitchFamily="34" charset="0"/>
              </a:rPr>
              <a:t>Step 4</a:t>
            </a:r>
            <a:endParaRPr lang="en-US" sz="1000" noProof="0">
              <a:latin typeface="Arial" panose="020B0604020202020204" pitchFamily="34" charset="0"/>
              <a:cs typeface="Arial" panose="020B0604020202020204" pitchFamily="34" charset="0"/>
            </a:endParaRPr>
          </a:p>
          <a:p>
            <a:pPr lvl="0">
              <a:defRPr/>
            </a:pPr>
            <a:r>
              <a:rPr lang="en-US" sz="1000" b="1" noProof="0">
                <a:latin typeface="Arial" panose="020B0604020202020204" pitchFamily="34" charset="0"/>
                <a:ea typeface="Montserrat" pitchFamily="34" charset="-122"/>
                <a:cs typeface="Arial" panose="020B0604020202020204" pitchFamily="34" charset="0"/>
              </a:rPr>
              <a:t>Pilot Execution (BRS)</a:t>
            </a:r>
            <a:endParaRPr lang="en-US" sz="1000" noProof="0">
              <a:latin typeface="Arial" panose="020B0604020202020204" pitchFamily="34" charset="0"/>
              <a:cs typeface="Arial" panose="020B0604020202020204" pitchFamily="34" charset="0"/>
            </a:endParaRPr>
          </a:p>
        </p:txBody>
      </p:sp>
      <p:sp>
        <p:nvSpPr>
          <p:cNvPr id="22" name="Text 59">
            <a:extLst>
              <a:ext uri="{FF2B5EF4-FFF2-40B4-BE49-F238E27FC236}">
                <a16:creationId xmlns:a16="http://schemas.microsoft.com/office/drawing/2014/main" id="{E5AB5A6E-C871-82EC-617D-C34133CADFF3}"/>
              </a:ext>
            </a:extLst>
          </p:cNvPr>
          <p:cNvSpPr txBox="1"/>
          <p:nvPr/>
        </p:nvSpPr>
        <p:spPr>
          <a:xfrm>
            <a:off x="7551685" y="2382480"/>
            <a:ext cx="1851171" cy="348896"/>
          </a:xfrm>
          <a:prstGeom prst="rect">
            <a:avLst/>
          </a:prstGeom>
          <a:solidFill>
            <a:srgbClr val="FFFFFF">
              <a:alpha val="0"/>
            </a:srgbClr>
          </a:solidFill>
          <a:ln>
            <a:solidFill>
              <a:srgbClr val="FFFFFF">
                <a:alpha val="0"/>
              </a:srgbClr>
            </a:solidFill>
          </a:ln>
        </p:spPr>
        <p:txBody>
          <a:bodyPr wrap="square" lIns="0" tIns="0" rIns="0" bIns="0" rtlCol="0" anchor="t"/>
          <a:lstStyle/>
          <a:p>
            <a:pPr lvl="0">
              <a:defRPr/>
            </a:pPr>
            <a:r>
              <a:rPr lang="en-US" sz="1100" b="1" i="1" noProof="0">
                <a:solidFill>
                  <a:schemeClr val="accent1"/>
                </a:solidFill>
                <a:latin typeface="Arial" panose="020B0604020202020204" pitchFamily="34" charset="0"/>
                <a:ea typeface="Open Sans" pitchFamily="34" charset="-122"/>
                <a:cs typeface="Arial" panose="020B0604020202020204" pitchFamily="34" charset="0"/>
              </a:rPr>
              <a:t>Does it work in reality?</a:t>
            </a:r>
            <a:endParaRPr lang="en-US" sz="1100" b="1" noProof="0">
              <a:solidFill>
                <a:schemeClr val="accent1"/>
              </a:solidFill>
              <a:latin typeface="Arial" panose="020B0604020202020204" pitchFamily="34" charset="0"/>
              <a:cs typeface="Arial" panose="020B0604020202020204" pitchFamily="34" charset="0"/>
            </a:endParaRPr>
          </a:p>
        </p:txBody>
      </p:sp>
      <p:sp>
        <p:nvSpPr>
          <p:cNvPr id="23" name="Shape 54">
            <a:extLst>
              <a:ext uri="{FF2B5EF4-FFF2-40B4-BE49-F238E27FC236}">
                <a16:creationId xmlns:a16="http://schemas.microsoft.com/office/drawing/2014/main" id="{B9C89038-C79B-ACEF-A820-641B604DE893}"/>
              </a:ext>
            </a:extLst>
          </p:cNvPr>
          <p:cNvSpPr/>
          <p:nvPr/>
        </p:nvSpPr>
        <p:spPr>
          <a:xfrm>
            <a:off x="9671366" y="1583918"/>
            <a:ext cx="2195509" cy="4858411"/>
          </a:xfrm>
          <a:prstGeom prst="roundRect">
            <a:avLst>
              <a:gd name="adj" fmla="val 6561"/>
            </a:avLst>
          </a:prstGeom>
          <a:solidFill>
            <a:srgbClr val="EAEAEA"/>
          </a:solidFill>
          <a:ln/>
          <a:effectLst>
            <a:outerShdw blurRad="63500" dist="38100" dir="16200000" algn="bl" rotWithShape="0">
              <a:srgbClr val="000000">
                <a:alpha val="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4" name="Shape 55">
            <a:extLst>
              <a:ext uri="{FF2B5EF4-FFF2-40B4-BE49-F238E27FC236}">
                <a16:creationId xmlns:a16="http://schemas.microsoft.com/office/drawing/2014/main" id="{2059C02F-6D03-090D-C62C-1E5204C39013}"/>
              </a:ext>
            </a:extLst>
          </p:cNvPr>
          <p:cNvSpPr/>
          <p:nvPr/>
        </p:nvSpPr>
        <p:spPr>
          <a:xfrm>
            <a:off x="9671371" y="1583919"/>
            <a:ext cx="2195509" cy="47549"/>
          </a:xfrm>
          <a:prstGeom prst="roundRect">
            <a:avLst>
              <a:gd name="adj" fmla="val 201105"/>
            </a:avLst>
          </a:prstGeom>
          <a:solidFill>
            <a:srgbClr val="2C578B"/>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5" name="Shape 56">
            <a:extLst>
              <a:ext uri="{FF2B5EF4-FFF2-40B4-BE49-F238E27FC236}">
                <a16:creationId xmlns:a16="http://schemas.microsoft.com/office/drawing/2014/main" id="{27FA7EB5-3D23-CAD3-C2F6-3BDFF9994E9B}"/>
              </a:ext>
            </a:extLst>
          </p:cNvPr>
          <p:cNvSpPr/>
          <p:nvPr/>
        </p:nvSpPr>
        <p:spPr>
          <a:xfrm>
            <a:off x="9913219" y="1783084"/>
            <a:ext cx="404702" cy="401271"/>
          </a:xfrm>
          <a:prstGeom prst="ellipse">
            <a:avLst/>
          </a:prstGeom>
          <a:solidFill>
            <a:srgbClr val="2C578B"/>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effectLst/>
              <a:uLnTx/>
              <a:uFillTx/>
              <a:latin typeface="Arial" panose="020B0604020202020204" pitchFamily="34" charset="0"/>
              <a:cs typeface="Arial" panose="020B0604020202020204" pitchFamily="34" charset="0"/>
            </a:endParaRPr>
          </a:p>
        </p:txBody>
      </p:sp>
      <p:sp>
        <p:nvSpPr>
          <p:cNvPr id="26" name="Text 57">
            <a:extLst>
              <a:ext uri="{FF2B5EF4-FFF2-40B4-BE49-F238E27FC236}">
                <a16:creationId xmlns:a16="http://schemas.microsoft.com/office/drawing/2014/main" id="{0FA59F3C-7FDF-FABA-DF4D-6B9D28D513A0}"/>
              </a:ext>
            </a:extLst>
          </p:cNvPr>
          <p:cNvSpPr txBox="1"/>
          <p:nvPr/>
        </p:nvSpPr>
        <p:spPr>
          <a:xfrm>
            <a:off x="10489520" y="1867626"/>
            <a:ext cx="1377358" cy="324612"/>
          </a:xfrm>
          <a:prstGeom prst="rect">
            <a:avLst/>
          </a:prstGeom>
          <a:noFill/>
          <a:ln/>
        </p:spPr>
        <p:txBody>
          <a:bodyPr wrap="square" lIns="0" tIns="0" rIns="0" bIns="0" rtlCol="0" anchor="t"/>
          <a:lstStyle/>
          <a:p>
            <a:pPr lvl="0">
              <a:defRPr/>
            </a:pPr>
            <a:r>
              <a:rPr lang="en-US" sz="1000" b="1" noProof="0">
                <a:latin typeface="Arial" panose="020B0604020202020204" pitchFamily="34" charset="0"/>
                <a:ea typeface="Montserrat" pitchFamily="34" charset="-122"/>
                <a:cs typeface="Arial" panose="020B0604020202020204" pitchFamily="34" charset="0"/>
              </a:rPr>
              <a:t>Step 5</a:t>
            </a:r>
            <a:endParaRPr lang="en-US" sz="1000" noProof="0">
              <a:latin typeface="Arial" panose="020B0604020202020204" pitchFamily="34" charset="0"/>
              <a:cs typeface="Arial" panose="020B0604020202020204" pitchFamily="34" charset="0"/>
            </a:endParaRPr>
          </a:p>
          <a:p>
            <a:pPr lvl="0">
              <a:defRPr/>
            </a:pPr>
            <a:r>
              <a:rPr lang="en-US" sz="1000" b="1" noProof="0">
                <a:latin typeface="Arial" panose="020B0604020202020204" pitchFamily="34" charset="0"/>
                <a:ea typeface="Montserrat" pitchFamily="34" charset="-122"/>
                <a:cs typeface="Arial" panose="020B0604020202020204" pitchFamily="34" charset="0"/>
              </a:rPr>
              <a:t>Learn &amp; Adjust</a:t>
            </a:r>
            <a:endParaRPr lang="en-US" sz="1000" noProof="0">
              <a:latin typeface="Arial" panose="020B0604020202020204" pitchFamily="34" charset="0"/>
              <a:cs typeface="Arial" panose="020B0604020202020204" pitchFamily="34" charset="0"/>
            </a:endParaRPr>
          </a:p>
        </p:txBody>
      </p:sp>
      <p:sp>
        <p:nvSpPr>
          <p:cNvPr id="27" name="Text 59">
            <a:extLst>
              <a:ext uri="{FF2B5EF4-FFF2-40B4-BE49-F238E27FC236}">
                <a16:creationId xmlns:a16="http://schemas.microsoft.com/office/drawing/2014/main" id="{89F4148D-D51C-0673-80B0-D70905326D95}"/>
              </a:ext>
            </a:extLst>
          </p:cNvPr>
          <p:cNvSpPr txBox="1"/>
          <p:nvPr/>
        </p:nvSpPr>
        <p:spPr>
          <a:xfrm>
            <a:off x="9886239" y="2382480"/>
            <a:ext cx="1851171" cy="348896"/>
          </a:xfrm>
          <a:prstGeom prst="rect">
            <a:avLst/>
          </a:prstGeom>
          <a:solidFill>
            <a:srgbClr val="FFFFFF">
              <a:alpha val="0"/>
            </a:srgbClr>
          </a:solidFill>
          <a:ln>
            <a:solidFill>
              <a:srgbClr val="FFFFFF">
                <a:alpha val="0"/>
              </a:srgbClr>
            </a:solidFill>
          </a:ln>
        </p:spPr>
        <p:txBody>
          <a:bodyPr wrap="square" lIns="0" tIns="0" rIns="0" bIns="0" rtlCol="0" anchor="t"/>
          <a:lstStyle/>
          <a:p>
            <a:pPr lvl="0">
              <a:defRPr/>
            </a:pPr>
            <a:r>
              <a:rPr lang="en-US" sz="1100" b="1" i="1" noProof="0">
                <a:solidFill>
                  <a:schemeClr val="accent1"/>
                </a:solidFill>
                <a:latin typeface="Arial" panose="020B0604020202020204" pitchFamily="34" charset="0"/>
                <a:ea typeface="Open Sans" pitchFamily="34" charset="-122"/>
                <a:cs typeface="Arial" panose="020B0604020202020204" pitchFamily="34" charset="0"/>
              </a:rPr>
              <a:t>What needs refinement?</a:t>
            </a:r>
            <a:endParaRPr lang="en-US" sz="1100" b="1" noProof="0">
              <a:solidFill>
                <a:schemeClr val="accent1"/>
              </a:solidFill>
              <a:latin typeface="Arial" panose="020B0604020202020204" pitchFamily="34" charset="0"/>
              <a:cs typeface="Arial" panose="020B0604020202020204" pitchFamily="34" charset="0"/>
            </a:endParaRPr>
          </a:p>
        </p:txBody>
      </p:sp>
      <p:sp>
        <p:nvSpPr>
          <p:cNvPr id="28" name="Shape 38">
            <a:extLst>
              <a:ext uri="{FF2B5EF4-FFF2-40B4-BE49-F238E27FC236}">
                <a16:creationId xmlns:a16="http://schemas.microsoft.com/office/drawing/2014/main" id="{5098331E-ABCE-C5C6-9E23-B6C3E5C33757}"/>
              </a:ext>
            </a:extLst>
          </p:cNvPr>
          <p:cNvSpPr/>
          <p:nvPr/>
        </p:nvSpPr>
        <p:spPr>
          <a:xfrm>
            <a:off x="5113880" y="4782900"/>
            <a:ext cx="2012400" cy="237744"/>
          </a:xfrm>
          <a:prstGeom prst="roundRect">
            <a:avLst>
              <a:gd name="adj" fmla="val 123077"/>
            </a:avLst>
          </a:prstGeom>
          <a:solidFill>
            <a:schemeClr val="accent1">
              <a:lumMod val="20000"/>
              <a:lumOff val="80000"/>
            </a:schemeClr>
          </a:solidFill>
          <a:ln w="12700">
            <a:solidFill>
              <a:srgbClr val="E2E8F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9" name="Text 39">
            <a:extLst>
              <a:ext uri="{FF2B5EF4-FFF2-40B4-BE49-F238E27FC236}">
                <a16:creationId xmlns:a16="http://schemas.microsoft.com/office/drawing/2014/main" id="{D70484D4-36E2-3BE0-B95A-15D62C1251E3}"/>
              </a:ext>
            </a:extLst>
          </p:cNvPr>
          <p:cNvSpPr txBox="1"/>
          <p:nvPr/>
        </p:nvSpPr>
        <p:spPr>
          <a:xfrm>
            <a:off x="5362429" y="4782900"/>
            <a:ext cx="825705" cy="238658"/>
          </a:xfrm>
          <a:prstGeom prst="rect">
            <a:avLst/>
          </a:prstGeom>
          <a:solidFill>
            <a:srgbClr val="FFFFFF">
              <a:alpha val="0"/>
            </a:srgbClr>
          </a:solidFill>
          <a:ln>
            <a:solidFill>
              <a:srgbClr val="FFFFFF">
                <a:alpha val="0"/>
              </a:srgbClr>
            </a:solidFill>
          </a:ln>
        </p:spPr>
        <p:txBody>
          <a:bodyPr wrap="square" lIns="76200" tIns="38100" rIns="76200" bIns="381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 Tool Design</a:t>
            </a:r>
            <a:endParaRPr kumimoji="0" lang="en-US" sz="8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pic>
        <p:nvPicPr>
          <p:cNvPr id="30" name="Image 5" descr="preencoded.png">
            <a:extLst>
              <a:ext uri="{FF2B5EF4-FFF2-40B4-BE49-F238E27FC236}">
                <a16:creationId xmlns:a16="http://schemas.microsoft.com/office/drawing/2014/main" id="{57782DA3-792C-9EA4-AD4D-8DABFA343C5C}"/>
              </a:ext>
            </a:extLst>
          </p:cNvPr>
          <p:cNvPicPr>
            <a:picLocks noChangeAspect="1"/>
          </p:cNvPicPr>
          <p:nvPr/>
        </p:nvPicPr>
        <p:blipFill>
          <a:blip r:embed="rId3"/>
          <a:srcRect l="-1923" r="-1923"/>
          <a:stretch/>
        </p:blipFill>
        <p:spPr>
          <a:xfrm>
            <a:off x="5199833" y="4844699"/>
            <a:ext cx="123444" cy="95098"/>
          </a:xfrm>
          <a:prstGeom prst="rect">
            <a:avLst/>
          </a:prstGeom>
        </p:spPr>
      </p:pic>
      <p:sp>
        <p:nvSpPr>
          <p:cNvPr id="31" name="Text 40">
            <a:extLst>
              <a:ext uri="{FF2B5EF4-FFF2-40B4-BE49-F238E27FC236}">
                <a16:creationId xmlns:a16="http://schemas.microsoft.com/office/drawing/2014/main" id="{90157973-77A4-E66E-C517-F9F6FE356FC8}"/>
              </a:ext>
            </a:extLst>
          </p:cNvPr>
          <p:cNvSpPr txBox="1"/>
          <p:nvPr/>
        </p:nvSpPr>
        <p:spPr>
          <a:xfrm>
            <a:off x="5130991" y="2801981"/>
            <a:ext cx="1969198" cy="1800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Jira Configuration V1.0</a:t>
            </a:r>
            <a:endParaRPr kumimoji="0" lang="en-US" sz="1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32" name="Text 41">
            <a:extLst>
              <a:ext uri="{FF2B5EF4-FFF2-40B4-BE49-F238E27FC236}">
                <a16:creationId xmlns:a16="http://schemas.microsoft.com/office/drawing/2014/main" id="{46531BFA-FD9B-8842-E23F-F8380579DB7B}"/>
              </a:ext>
            </a:extLst>
          </p:cNvPr>
          <p:cNvSpPr txBox="1"/>
          <p:nvPr/>
        </p:nvSpPr>
        <p:spPr>
          <a:xfrm>
            <a:off x="5130991" y="2974515"/>
            <a:ext cx="1969198" cy="1800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Intake Form Design</a:t>
            </a:r>
            <a:endParaRPr kumimoji="0" lang="en-US" sz="1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33" name="Text 42">
            <a:extLst>
              <a:ext uri="{FF2B5EF4-FFF2-40B4-BE49-F238E27FC236}">
                <a16:creationId xmlns:a16="http://schemas.microsoft.com/office/drawing/2014/main" id="{AD5C3181-3325-C084-43B3-35AB31DD07CF}"/>
              </a:ext>
            </a:extLst>
          </p:cNvPr>
          <p:cNvSpPr txBox="1"/>
          <p:nvPr/>
        </p:nvSpPr>
        <p:spPr>
          <a:xfrm>
            <a:off x="5130991" y="3164510"/>
            <a:ext cx="1969198" cy="1800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PPM Now Integration Concept</a:t>
            </a:r>
            <a:endParaRPr kumimoji="0" lang="en-US" sz="1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34" name="Text 11">
            <a:extLst>
              <a:ext uri="{FF2B5EF4-FFF2-40B4-BE49-F238E27FC236}">
                <a16:creationId xmlns:a16="http://schemas.microsoft.com/office/drawing/2014/main" id="{5E297E2A-32A3-7BA2-A97E-EC039C5D780D}"/>
              </a:ext>
            </a:extLst>
          </p:cNvPr>
          <p:cNvSpPr txBox="1"/>
          <p:nvPr/>
        </p:nvSpPr>
        <p:spPr>
          <a:xfrm>
            <a:off x="514371" y="2801981"/>
            <a:ext cx="1799311" cy="1800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Prior materials review</a:t>
            </a:r>
            <a:endParaRPr kumimoji="0" lang="en-US" sz="1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35" name="Text 12">
            <a:extLst>
              <a:ext uri="{FF2B5EF4-FFF2-40B4-BE49-F238E27FC236}">
                <a16:creationId xmlns:a16="http://schemas.microsoft.com/office/drawing/2014/main" id="{87F6EEF3-62FA-11FA-9267-B8C954DFA44C}"/>
              </a:ext>
            </a:extLst>
          </p:cNvPr>
          <p:cNvSpPr txBox="1"/>
          <p:nvPr/>
        </p:nvSpPr>
        <p:spPr>
          <a:xfrm>
            <a:off x="514371" y="2974515"/>
            <a:ext cx="1799311" cy="1800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Stakeholder interviews</a:t>
            </a:r>
            <a:endParaRPr kumimoji="0" lang="en-US" sz="1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36" name="Text 13">
            <a:extLst>
              <a:ext uri="{FF2B5EF4-FFF2-40B4-BE49-F238E27FC236}">
                <a16:creationId xmlns:a16="http://schemas.microsoft.com/office/drawing/2014/main" id="{4AC81956-4A33-99E0-9A60-86F1816E7BB7}"/>
              </a:ext>
            </a:extLst>
          </p:cNvPr>
          <p:cNvSpPr txBox="1"/>
          <p:nvPr/>
        </p:nvSpPr>
        <p:spPr>
          <a:xfrm>
            <a:off x="514371" y="3164510"/>
            <a:ext cx="1910429" cy="1800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Portfolio Assessment</a:t>
            </a:r>
            <a:endParaRPr kumimoji="0" lang="en-US" sz="1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37" name="Shape 14">
            <a:extLst>
              <a:ext uri="{FF2B5EF4-FFF2-40B4-BE49-F238E27FC236}">
                <a16:creationId xmlns:a16="http://schemas.microsoft.com/office/drawing/2014/main" id="{1F120FE9-BD1B-F0AD-03A8-A61D2B5FA577}"/>
              </a:ext>
            </a:extLst>
          </p:cNvPr>
          <p:cNvSpPr/>
          <p:nvPr/>
        </p:nvSpPr>
        <p:spPr>
          <a:xfrm>
            <a:off x="423620" y="4817627"/>
            <a:ext cx="2012400" cy="237744"/>
          </a:xfrm>
          <a:prstGeom prst="roundRect">
            <a:avLst>
              <a:gd name="adj" fmla="val 123077"/>
            </a:avLst>
          </a:prstGeom>
          <a:solidFill>
            <a:schemeClr val="accent1">
              <a:lumMod val="20000"/>
              <a:lumOff val="80000"/>
            </a:schemeClr>
          </a:solidFill>
          <a:ln w="12700">
            <a:solidFill>
              <a:srgbClr val="E2E8F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38" name="Text 15">
            <a:extLst>
              <a:ext uri="{FF2B5EF4-FFF2-40B4-BE49-F238E27FC236}">
                <a16:creationId xmlns:a16="http://schemas.microsoft.com/office/drawing/2014/main" id="{8220AC05-26A3-2249-0FA2-4BE4F9BAA6B1}"/>
              </a:ext>
            </a:extLst>
          </p:cNvPr>
          <p:cNvSpPr txBox="1"/>
          <p:nvPr/>
        </p:nvSpPr>
        <p:spPr>
          <a:xfrm>
            <a:off x="616765" y="4817627"/>
            <a:ext cx="1121512" cy="238658"/>
          </a:xfrm>
          <a:prstGeom prst="rect">
            <a:avLst/>
          </a:prstGeom>
          <a:solidFill>
            <a:srgbClr val="FFFFFF">
              <a:alpha val="0"/>
            </a:srgbClr>
          </a:solidFill>
          <a:ln>
            <a:solidFill>
              <a:srgbClr val="FFFFFF">
                <a:alpha val="0"/>
              </a:srgbClr>
            </a:solidFill>
          </a:ln>
        </p:spPr>
        <p:txBody>
          <a:bodyPr wrap="square" lIns="76200" tIns="38100" rIns="76200" bIns="381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 Baseline Report</a:t>
            </a:r>
            <a:endParaRPr kumimoji="0" lang="en-US" sz="8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pic>
        <p:nvPicPr>
          <p:cNvPr id="39" name="Image 1" descr="preencoded.png">
            <a:extLst>
              <a:ext uri="{FF2B5EF4-FFF2-40B4-BE49-F238E27FC236}">
                <a16:creationId xmlns:a16="http://schemas.microsoft.com/office/drawing/2014/main" id="{5A362D1F-31CC-D77E-2403-A77E790F75E0}"/>
              </a:ext>
            </a:extLst>
          </p:cNvPr>
          <p:cNvPicPr>
            <a:picLocks noChangeAspect="1"/>
          </p:cNvPicPr>
          <p:nvPr/>
        </p:nvPicPr>
        <p:blipFill>
          <a:blip r:embed="rId4"/>
          <a:srcRect l="-3205" r="-3205"/>
          <a:stretch/>
        </p:blipFill>
        <p:spPr>
          <a:xfrm>
            <a:off x="509574" y="4888951"/>
            <a:ext cx="75895" cy="95098"/>
          </a:xfrm>
          <a:prstGeom prst="rect">
            <a:avLst/>
          </a:prstGeom>
        </p:spPr>
      </p:pic>
      <p:sp>
        <p:nvSpPr>
          <p:cNvPr id="40" name="Shape 14">
            <a:extLst>
              <a:ext uri="{FF2B5EF4-FFF2-40B4-BE49-F238E27FC236}">
                <a16:creationId xmlns:a16="http://schemas.microsoft.com/office/drawing/2014/main" id="{6B3BA125-4B20-FCF0-853D-75A3F44787AC}"/>
              </a:ext>
            </a:extLst>
          </p:cNvPr>
          <p:cNvSpPr/>
          <p:nvPr/>
        </p:nvSpPr>
        <p:spPr>
          <a:xfrm>
            <a:off x="9752816" y="4817627"/>
            <a:ext cx="2012400" cy="237744"/>
          </a:xfrm>
          <a:prstGeom prst="roundRect">
            <a:avLst>
              <a:gd name="adj" fmla="val 123077"/>
            </a:avLst>
          </a:prstGeom>
          <a:solidFill>
            <a:schemeClr val="accent1">
              <a:lumMod val="20000"/>
              <a:lumOff val="80000"/>
            </a:schemeClr>
          </a:solidFill>
          <a:ln w="12700">
            <a:solidFill>
              <a:srgbClr val="E2E8F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41" name="Text 15">
            <a:extLst>
              <a:ext uri="{FF2B5EF4-FFF2-40B4-BE49-F238E27FC236}">
                <a16:creationId xmlns:a16="http://schemas.microsoft.com/office/drawing/2014/main" id="{35A1C3F6-49CE-53B0-BF43-7A70F8BEF2B8}"/>
              </a:ext>
            </a:extLst>
          </p:cNvPr>
          <p:cNvSpPr txBox="1"/>
          <p:nvPr/>
        </p:nvSpPr>
        <p:spPr>
          <a:xfrm>
            <a:off x="9945961" y="4817627"/>
            <a:ext cx="1121512" cy="238658"/>
          </a:xfrm>
          <a:prstGeom prst="rect">
            <a:avLst/>
          </a:prstGeom>
          <a:solidFill>
            <a:srgbClr val="FFFFFF">
              <a:alpha val="0"/>
            </a:srgbClr>
          </a:solidFill>
          <a:ln>
            <a:solidFill>
              <a:srgbClr val="FFFFFF">
                <a:alpha val="0"/>
              </a:srgbClr>
            </a:solidFill>
          </a:ln>
        </p:spPr>
        <p:txBody>
          <a:bodyPr wrap="square" lIns="76200" tIns="38100" rIns="76200" bIns="381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Config v2.0</a:t>
            </a:r>
            <a:endParaRPr kumimoji="0" lang="en-US" sz="8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42" name="Text 29">
            <a:extLst>
              <a:ext uri="{FF2B5EF4-FFF2-40B4-BE49-F238E27FC236}">
                <a16:creationId xmlns:a16="http://schemas.microsoft.com/office/drawing/2014/main" id="{4E7D7586-9202-1127-BF22-3EBCE8ACAA49}"/>
              </a:ext>
            </a:extLst>
          </p:cNvPr>
          <p:cNvSpPr txBox="1"/>
          <p:nvPr/>
        </p:nvSpPr>
        <p:spPr>
          <a:xfrm>
            <a:off x="2767781" y="2801981"/>
            <a:ext cx="1969198" cy="1800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End-to-End Process Map</a:t>
            </a:r>
            <a:endParaRPr kumimoji="0" lang="en-US" sz="1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43" name="Text 30">
            <a:extLst>
              <a:ext uri="{FF2B5EF4-FFF2-40B4-BE49-F238E27FC236}">
                <a16:creationId xmlns:a16="http://schemas.microsoft.com/office/drawing/2014/main" id="{DF0E2541-9548-A454-1449-21E0E4A0FD2C}"/>
              </a:ext>
            </a:extLst>
          </p:cNvPr>
          <p:cNvSpPr txBox="1"/>
          <p:nvPr/>
        </p:nvSpPr>
        <p:spPr>
          <a:xfrm>
            <a:off x="2767781" y="2974515"/>
            <a:ext cx="1969198" cy="1800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Value Framework V1.0</a:t>
            </a:r>
            <a:endParaRPr kumimoji="0" lang="en-US" sz="1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44" name="Text 31">
            <a:extLst>
              <a:ext uri="{FF2B5EF4-FFF2-40B4-BE49-F238E27FC236}">
                <a16:creationId xmlns:a16="http://schemas.microsoft.com/office/drawing/2014/main" id="{59FD0D5E-0150-CADF-024C-7D23D5AC5D51}"/>
              </a:ext>
            </a:extLst>
          </p:cNvPr>
          <p:cNvSpPr txBox="1"/>
          <p:nvPr/>
        </p:nvSpPr>
        <p:spPr>
          <a:xfrm>
            <a:off x="2767781" y="3164510"/>
            <a:ext cx="1969198" cy="1800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Roles &amp; RACI Matrix</a:t>
            </a:r>
            <a:endParaRPr kumimoji="0" lang="en-US" sz="1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45" name="Text 73">
            <a:extLst>
              <a:ext uri="{FF2B5EF4-FFF2-40B4-BE49-F238E27FC236}">
                <a16:creationId xmlns:a16="http://schemas.microsoft.com/office/drawing/2014/main" id="{EB1EB3A3-7550-D3AE-EC9B-720911AA23BD}"/>
              </a:ext>
            </a:extLst>
          </p:cNvPr>
          <p:cNvSpPr txBox="1"/>
          <p:nvPr/>
        </p:nvSpPr>
        <p:spPr>
          <a:xfrm>
            <a:off x="7382264" y="2801981"/>
            <a:ext cx="2084442" cy="1800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Execute 1 BRS Project</a:t>
            </a:r>
            <a:endParaRPr kumimoji="0" lang="en-US" sz="1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46" name="Text 74">
            <a:extLst>
              <a:ext uri="{FF2B5EF4-FFF2-40B4-BE49-F238E27FC236}">
                <a16:creationId xmlns:a16="http://schemas.microsoft.com/office/drawing/2014/main" id="{F49F51E2-04C9-2BC5-4E42-1018A9CBE69C}"/>
              </a:ext>
            </a:extLst>
          </p:cNvPr>
          <p:cNvSpPr txBox="1"/>
          <p:nvPr/>
        </p:nvSpPr>
        <p:spPr>
          <a:xfrm>
            <a:off x="7382264" y="2974515"/>
            <a:ext cx="2084442" cy="1800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End-to-End Run </a:t>
            </a:r>
            <a:r>
              <a:rPr kumimoji="0" lang="en-US" sz="8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(Intake → Report)</a:t>
            </a:r>
            <a:endParaRPr kumimoji="0" lang="en-US" sz="8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47" name="Text 75">
            <a:extLst>
              <a:ext uri="{FF2B5EF4-FFF2-40B4-BE49-F238E27FC236}">
                <a16:creationId xmlns:a16="http://schemas.microsoft.com/office/drawing/2014/main" id="{1EE453F8-6D5D-E851-43B5-F54180FAB843}"/>
              </a:ext>
            </a:extLst>
          </p:cNvPr>
          <p:cNvSpPr txBox="1"/>
          <p:nvPr/>
        </p:nvSpPr>
        <p:spPr>
          <a:xfrm>
            <a:off x="7382264" y="3164510"/>
            <a:ext cx="2084442" cy="1800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Real-time Feedback Log</a:t>
            </a:r>
            <a:endParaRPr kumimoji="0" lang="en-US" sz="1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48" name="Text 75">
            <a:extLst>
              <a:ext uri="{FF2B5EF4-FFF2-40B4-BE49-F238E27FC236}">
                <a16:creationId xmlns:a16="http://schemas.microsoft.com/office/drawing/2014/main" id="{4A0F0601-E932-F612-2D5E-AD77B79E492F}"/>
              </a:ext>
            </a:extLst>
          </p:cNvPr>
          <p:cNvSpPr txBox="1"/>
          <p:nvPr/>
        </p:nvSpPr>
        <p:spPr>
          <a:xfrm>
            <a:off x="7382264" y="3378764"/>
            <a:ext cx="2084442" cy="180000"/>
          </a:xfrm>
          <a:prstGeom prst="rect">
            <a:avLst/>
          </a:prstGeom>
          <a:solidFill>
            <a:schemeClr val="tx2">
              <a:lumMod val="25000"/>
              <a:lumOff val="75000"/>
            </a:schemeClr>
          </a:solid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Pilot team training</a:t>
            </a:r>
            <a:endParaRPr kumimoji="0" lang="en-US" sz="1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pic>
        <p:nvPicPr>
          <p:cNvPr id="49" name="Image 7" descr="preencoded.png">
            <a:extLst>
              <a:ext uri="{FF2B5EF4-FFF2-40B4-BE49-F238E27FC236}">
                <a16:creationId xmlns:a16="http://schemas.microsoft.com/office/drawing/2014/main" id="{66795554-386E-5CB8-BB0C-015E75864B7C}"/>
              </a:ext>
            </a:extLst>
          </p:cNvPr>
          <p:cNvPicPr>
            <a:picLocks noChangeAspect="1"/>
          </p:cNvPicPr>
          <p:nvPr/>
        </p:nvPicPr>
        <p:blipFill>
          <a:blip r:embed="rId5"/>
          <a:srcRect/>
          <a:stretch/>
        </p:blipFill>
        <p:spPr>
          <a:xfrm>
            <a:off x="9855859" y="4912099"/>
            <a:ext cx="95098" cy="95098"/>
          </a:xfrm>
          <a:prstGeom prst="rect">
            <a:avLst/>
          </a:prstGeom>
        </p:spPr>
      </p:pic>
      <p:sp>
        <p:nvSpPr>
          <p:cNvPr id="50" name="Text 51">
            <a:extLst>
              <a:ext uri="{FF2B5EF4-FFF2-40B4-BE49-F238E27FC236}">
                <a16:creationId xmlns:a16="http://schemas.microsoft.com/office/drawing/2014/main" id="{29199855-F1B1-90D6-30FF-CFB54B62A3A3}"/>
              </a:ext>
            </a:extLst>
          </p:cNvPr>
          <p:cNvSpPr txBox="1"/>
          <p:nvPr/>
        </p:nvSpPr>
        <p:spPr>
          <a:xfrm>
            <a:off x="9768056" y="2801981"/>
            <a:ext cx="1827426" cy="1800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Analyze Pilot Data</a:t>
            </a:r>
            <a:endParaRPr kumimoji="0" lang="en-US" sz="1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51" name="Text 52">
            <a:extLst>
              <a:ext uri="{FF2B5EF4-FFF2-40B4-BE49-F238E27FC236}">
                <a16:creationId xmlns:a16="http://schemas.microsoft.com/office/drawing/2014/main" id="{79FB659C-9ED5-B11F-D6B4-29B87B7E438B}"/>
              </a:ext>
            </a:extLst>
          </p:cNvPr>
          <p:cNvSpPr txBox="1"/>
          <p:nvPr/>
        </p:nvSpPr>
        <p:spPr>
          <a:xfrm>
            <a:off x="9768056" y="2974515"/>
            <a:ext cx="1799311" cy="1800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Refine Jira Config (V2.0)</a:t>
            </a:r>
            <a:endParaRPr kumimoji="0" lang="en-US" sz="1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52" name="Text 53">
            <a:extLst>
              <a:ext uri="{FF2B5EF4-FFF2-40B4-BE49-F238E27FC236}">
                <a16:creationId xmlns:a16="http://schemas.microsoft.com/office/drawing/2014/main" id="{0E110B77-83A0-E134-6D68-5A3A63BBAD22}"/>
              </a:ext>
            </a:extLst>
          </p:cNvPr>
          <p:cNvSpPr txBox="1"/>
          <p:nvPr/>
        </p:nvSpPr>
        <p:spPr>
          <a:xfrm>
            <a:off x="9768056" y="3164510"/>
            <a:ext cx="1910429" cy="1800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Adjust Value Scoring</a:t>
            </a:r>
            <a:endParaRPr kumimoji="0" lang="en-US" sz="1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53" name="Text 53">
            <a:extLst>
              <a:ext uri="{FF2B5EF4-FFF2-40B4-BE49-F238E27FC236}">
                <a16:creationId xmlns:a16="http://schemas.microsoft.com/office/drawing/2014/main" id="{8BE45AB8-6893-D907-0606-697F2FF4A24C}"/>
              </a:ext>
            </a:extLst>
          </p:cNvPr>
          <p:cNvSpPr txBox="1"/>
          <p:nvPr/>
        </p:nvSpPr>
        <p:spPr>
          <a:xfrm>
            <a:off x="9768056" y="3377879"/>
            <a:ext cx="1910429" cy="180000"/>
          </a:xfrm>
          <a:prstGeom prst="rect">
            <a:avLst/>
          </a:prstGeom>
          <a:solidFill>
            <a:schemeClr val="tx2">
              <a:lumMod val="25000"/>
              <a:lumOff val="75000"/>
            </a:schemeClr>
          </a:solid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Playbook</a:t>
            </a:r>
            <a:endParaRPr kumimoji="0" lang="en-US" sz="1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54" name="CuadroTexto 171">
            <a:extLst>
              <a:ext uri="{FF2B5EF4-FFF2-40B4-BE49-F238E27FC236}">
                <a16:creationId xmlns:a16="http://schemas.microsoft.com/office/drawing/2014/main" id="{0B86E3AD-6513-A263-D3D5-A22F0A8CC61E}"/>
              </a:ext>
            </a:extLst>
          </p:cNvPr>
          <p:cNvSpPr txBox="1"/>
          <p:nvPr/>
        </p:nvSpPr>
        <p:spPr>
          <a:xfrm>
            <a:off x="407473" y="3980367"/>
            <a:ext cx="2046868" cy="861774"/>
          </a:xfrm>
          <a:prstGeom prst="rect">
            <a:avLst/>
          </a:prstGeom>
          <a:noFill/>
          <a:ln/>
        </p:spPr>
        <p:txBody>
          <a:bodyPr wrap="square" lIns="0" tIns="0" rIns="0" bIns="0" rtlCol="0" anchor="t"/>
          <a:lstStyle>
            <a:defPPr>
              <a:defRPr lang="en-US"/>
            </a:defPPr>
            <a:lvl1pPr marR="0" lvl="0" indent="0" fontAlgn="auto">
              <a:lnSpc>
                <a:spcPct val="100000"/>
              </a:lnSpc>
              <a:spcBef>
                <a:spcPts val="0"/>
              </a:spcBef>
              <a:spcAft>
                <a:spcPts val="0"/>
              </a:spcAft>
              <a:buClrTx/>
              <a:buSzTx/>
              <a:buFontTx/>
              <a:buNone/>
              <a:tabLst/>
              <a:defRPr kumimoji="0" sz="1000" b="0" i="0" u="none" strike="noStrike" cap="none" spc="0" normalizeH="0" baseline="0">
                <a:ln>
                  <a:noFill/>
                </a:ln>
                <a:solidFill>
                  <a:srgbClr val="4A5568"/>
                </a:solidFill>
                <a:effectLst/>
                <a:uLnTx/>
                <a:uFillTx/>
                <a:latin typeface="Montserrat" panose="00000500000000000000" pitchFamily="2" charset="0"/>
                <a:ea typeface="Open Sans" pitchFamily="34" charset="-122"/>
                <a:cs typeface="Open Sans" pitchFamily="34" charset="-120"/>
              </a:defRPr>
            </a:lvl1pPr>
          </a:lstStyle>
          <a:p>
            <a:pPr algn="ctr"/>
            <a:r>
              <a:rPr lang="en-US" noProof="0">
                <a:latin typeface="Arial" panose="020B0604020202020204" pitchFamily="34" charset="0"/>
                <a:cs typeface="Arial" panose="020B0604020202020204" pitchFamily="34" charset="0"/>
              </a:rPr>
              <a:t>To establish a fact-based understanding of the current state and identify the key gaps that must be addressed in the new model.</a:t>
            </a:r>
          </a:p>
        </p:txBody>
      </p:sp>
      <p:sp>
        <p:nvSpPr>
          <p:cNvPr id="55" name="CuadroTexto 172">
            <a:extLst>
              <a:ext uri="{FF2B5EF4-FFF2-40B4-BE49-F238E27FC236}">
                <a16:creationId xmlns:a16="http://schemas.microsoft.com/office/drawing/2014/main" id="{405208D3-DCA4-9629-68DF-72F62F2B71E6}"/>
              </a:ext>
            </a:extLst>
          </p:cNvPr>
          <p:cNvSpPr txBox="1"/>
          <p:nvPr/>
        </p:nvSpPr>
        <p:spPr>
          <a:xfrm>
            <a:off x="2742026" y="3980367"/>
            <a:ext cx="2046868" cy="861774"/>
          </a:xfrm>
          <a:prstGeom prst="rect">
            <a:avLst/>
          </a:prstGeom>
          <a:noFill/>
          <a:ln/>
        </p:spPr>
        <p:txBody>
          <a:bodyPr wrap="square" lIns="0" tIns="0" rIns="0" bIns="0" rtlCol="0" anchor="t"/>
          <a:lstStyle>
            <a:defPPr>
              <a:defRPr lang="en-US"/>
            </a:defPPr>
            <a:lvl1pPr marR="0" lvl="0" indent="0" fontAlgn="auto">
              <a:lnSpc>
                <a:spcPct val="100000"/>
              </a:lnSpc>
              <a:spcBef>
                <a:spcPts val="0"/>
              </a:spcBef>
              <a:spcAft>
                <a:spcPts val="0"/>
              </a:spcAft>
              <a:buClrTx/>
              <a:buSzTx/>
              <a:buFontTx/>
              <a:buNone/>
              <a:tabLst/>
              <a:defRPr kumimoji="0" sz="1000" b="0" i="0" u="none" strike="noStrike" cap="none" spc="0" normalizeH="0" baseline="0">
                <a:ln>
                  <a:noFill/>
                </a:ln>
                <a:solidFill>
                  <a:srgbClr val="4A5568"/>
                </a:solidFill>
                <a:effectLst/>
                <a:uLnTx/>
                <a:uFillTx/>
                <a:latin typeface="Montserrat" panose="00000500000000000000" pitchFamily="2" charset="0"/>
                <a:ea typeface="Open Sans" pitchFamily="34" charset="-122"/>
                <a:cs typeface="Open Sans" pitchFamily="34" charset="-120"/>
              </a:defRPr>
            </a:lvl1pPr>
          </a:lstStyle>
          <a:p>
            <a:pPr algn="ctr"/>
            <a:r>
              <a:rPr lang="en-US" noProof="0">
                <a:latin typeface="Arial" panose="020B0604020202020204" pitchFamily="34" charset="0"/>
                <a:cs typeface="Arial" panose="020B0604020202020204" pitchFamily="34" charset="0"/>
              </a:rPr>
              <a:t>To create a clear, standardized way of working that aligns roles, decisions, and value-based prioritization end-to-end.</a:t>
            </a:r>
          </a:p>
        </p:txBody>
      </p:sp>
      <p:sp>
        <p:nvSpPr>
          <p:cNvPr id="56" name="CuadroTexto 173">
            <a:extLst>
              <a:ext uri="{FF2B5EF4-FFF2-40B4-BE49-F238E27FC236}">
                <a16:creationId xmlns:a16="http://schemas.microsoft.com/office/drawing/2014/main" id="{4B460AD4-B240-7D89-3E6D-88EAEC34F8A4}"/>
              </a:ext>
            </a:extLst>
          </p:cNvPr>
          <p:cNvSpPr txBox="1"/>
          <p:nvPr/>
        </p:nvSpPr>
        <p:spPr>
          <a:xfrm>
            <a:off x="5076579" y="3980367"/>
            <a:ext cx="2046868" cy="861774"/>
          </a:xfrm>
          <a:prstGeom prst="rect">
            <a:avLst/>
          </a:prstGeom>
          <a:noFill/>
          <a:ln/>
        </p:spPr>
        <p:txBody>
          <a:bodyPr wrap="square" lIns="0" tIns="0" rIns="0" bIns="0" rtlCol="0" anchor="t"/>
          <a:lstStyle>
            <a:defPPr>
              <a:defRPr lang="en-US"/>
            </a:defPPr>
            <a:lvl1pPr marR="0" lvl="0" indent="0" fontAlgn="auto">
              <a:lnSpc>
                <a:spcPct val="100000"/>
              </a:lnSpc>
              <a:spcBef>
                <a:spcPts val="0"/>
              </a:spcBef>
              <a:spcAft>
                <a:spcPts val="0"/>
              </a:spcAft>
              <a:buClrTx/>
              <a:buSzTx/>
              <a:buFontTx/>
              <a:buNone/>
              <a:tabLst/>
              <a:defRPr kumimoji="0" sz="1000" b="0" i="0" u="none" strike="noStrike" cap="none" spc="0" normalizeH="0" baseline="0">
                <a:ln>
                  <a:noFill/>
                </a:ln>
                <a:solidFill>
                  <a:srgbClr val="4A5568"/>
                </a:solidFill>
                <a:effectLst/>
                <a:uLnTx/>
                <a:uFillTx/>
                <a:latin typeface="Montserrat" panose="00000500000000000000" pitchFamily="2" charset="0"/>
                <a:ea typeface="Open Sans" pitchFamily="34" charset="-122"/>
                <a:cs typeface="Open Sans" pitchFamily="34" charset="-120"/>
              </a:defRPr>
            </a:lvl1pPr>
          </a:lstStyle>
          <a:p>
            <a:pPr algn="ctr"/>
            <a:r>
              <a:rPr lang="en-US" noProof="0">
                <a:latin typeface="Arial" panose="020B0604020202020204" pitchFamily="34" charset="0"/>
                <a:cs typeface="Arial" panose="020B0604020202020204" pitchFamily="34" charset="0"/>
              </a:rPr>
              <a:t>To ensure the right tools and configurations support the new lifecycle and enable integration, visibility, and scalability.</a:t>
            </a:r>
          </a:p>
        </p:txBody>
      </p:sp>
      <p:sp>
        <p:nvSpPr>
          <p:cNvPr id="57" name="CuadroTexto 174">
            <a:extLst>
              <a:ext uri="{FF2B5EF4-FFF2-40B4-BE49-F238E27FC236}">
                <a16:creationId xmlns:a16="http://schemas.microsoft.com/office/drawing/2014/main" id="{FD462B0D-6021-D560-1C2D-9E02792B3912}"/>
              </a:ext>
            </a:extLst>
          </p:cNvPr>
          <p:cNvSpPr txBox="1"/>
          <p:nvPr/>
        </p:nvSpPr>
        <p:spPr>
          <a:xfrm>
            <a:off x="7411132" y="3980367"/>
            <a:ext cx="2046868" cy="861774"/>
          </a:xfrm>
          <a:prstGeom prst="rect">
            <a:avLst/>
          </a:prstGeom>
          <a:noFill/>
          <a:ln/>
        </p:spPr>
        <p:txBody>
          <a:bodyPr wrap="square" lIns="0" tIns="0" rIns="0" bIns="0" rtlCol="0" anchor="t"/>
          <a:lstStyle>
            <a:defPPr>
              <a:defRPr lang="en-US"/>
            </a:defPPr>
            <a:lvl1pPr marR="0" lvl="0" indent="0" fontAlgn="auto">
              <a:lnSpc>
                <a:spcPct val="100000"/>
              </a:lnSpc>
              <a:spcBef>
                <a:spcPts val="0"/>
              </a:spcBef>
              <a:spcAft>
                <a:spcPts val="0"/>
              </a:spcAft>
              <a:buClrTx/>
              <a:buSzTx/>
              <a:buFontTx/>
              <a:buNone/>
              <a:tabLst/>
              <a:defRPr kumimoji="0" sz="1000" b="0" i="0" u="none" strike="noStrike" cap="none" spc="0" normalizeH="0" baseline="0">
                <a:ln>
                  <a:noFill/>
                </a:ln>
                <a:solidFill>
                  <a:srgbClr val="4A5568"/>
                </a:solidFill>
                <a:effectLst/>
                <a:uLnTx/>
                <a:uFillTx/>
                <a:latin typeface="Montserrat" panose="00000500000000000000" pitchFamily="2" charset="0"/>
                <a:ea typeface="Open Sans" pitchFamily="34" charset="-122"/>
                <a:cs typeface="Open Sans" pitchFamily="34" charset="-120"/>
              </a:defRPr>
            </a:lvl1pPr>
          </a:lstStyle>
          <a:p>
            <a:pPr algn="ctr"/>
            <a:r>
              <a:rPr lang="en-US" noProof="0">
                <a:latin typeface="Arial" panose="020B0604020202020204" pitchFamily="34" charset="0"/>
                <a:cs typeface="Arial" panose="020B0604020202020204" pitchFamily="34" charset="0"/>
              </a:rPr>
              <a:t>To validate the new operating model in a real project and test whether it works effectively in practice.</a:t>
            </a:r>
          </a:p>
        </p:txBody>
      </p:sp>
      <p:sp>
        <p:nvSpPr>
          <p:cNvPr id="58" name="CuadroTexto 175">
            <a:extLst>
              <a:ext uri="{FF2B5EF4-FFF2-40B4-BE49-F238E27FC236}">
                <a16:creationId xmlns:a16="http://schemas.microsoft.com/office/drawing/2014/main" id="{E9A5E354-8991-F9F1-6A19-D9809EEF5343}"/>
              </a:ext>
            </a:extLst>
          </p:cNvPr>
          <p:cNvSpPr txBox="1"/>
          <p:nvPr/>
        </p:nvSpPr>
        <p:spPr>
          <a:xfrm>
            <a:off x="9745686" y="3980367"/>
            <a:ext cx="2046868" cy="861774"/>
          </a:xfrm>
          <a:prstGeom prst="rect">
            <a:avLst/>
          </a:prstGeom>
          <a:noFill/>
          <a:ln/>
        </p:spPr>
        <p:txBody>
          <a:bodyPr wrap="square" lIns="0" tIns="0" rIns="0" bIns="0" rtlCol="0" anchor="t"/>
          <a:lstStyle>
            <a:defPPr>
              <a:defRPr lang="en-US"/>
            </a:defPPr>
            <a:lvl1pPr marR="0" lvl="0" indent="0" fontAlgn="auto">
              <a:lnSpc>
                <a:spcPct val="100000"/>
              </a:lnSpc>
              <a:spcBef>
                <a:spcPts val="0"/>
              </a:spcBef>
              <a:spcAft>
                <a:spcPts val="0"/>
              </a:spcAft>
              <a:buClrTx/>
              <a:buSzTx/>
              <a:buFontTx/>
              <a:buNone/>
              <a:tabLst/>
              <a:defRPr kumimoji="0" sz="1000" b="0" i="0" u="none" strike="noStrike" cap="none" spc="0" normalizeH="0" baseline="0">
                <a:ln>
                  <a:noFill/>
                </a:ln>
                <a:solidFill>
                  <a:srgbClr val="4A5568"/>
                </a:solidFill>
                <a:effectLst/>
                <a:uLnTx/>
                <a:uFillTx/>
                <a:latin typeface="Montserrat" panose="00000500000000000000" pitchFamily="2" charset="0"/>
                <a:ea typeface="Open Sans" pitchFamily="34" charset="-122"/>
                <a:cs typeface="Open Sans" pitchFamily="34" charset="-120"/>
              </a:defRPr>
            </a:lvl1pPr>
          </a:lstStyle>
          <a:p>
            <a:pPr algn="ctr"/>
            <a:r>
              <a:rPr lang="en-US" noProof="0">
                <a:latin typeface="Arial" panose="020B0604020202020204" pitchFamily="34" charset="0"/>
                <a:cs typeface="Arial" panose="020B0604020202020204" pitchFamily="34" charset="0"/>
              </a:rPr>
              <a:t>To refine the model based on real feedback and prepare a stronger, scalable version for broader adoption.</a:t>
            </a:r>
          </a:p>
        </p:txBody>
      </p:sp>
      <p:sp>
        <p:nvSpPr>
          <p:cNvPr id="59" name="Shape 55">
            <a:extLst>
              <a:ext uri="{FF2B5EF4-FFF2-40B4-BE49-F238E27FC236}">
                <a16:creationId xmlns:a16="http://schemas.microsoft.com/office/drawing/2014/main" id="{647FF6F8-AAE1-DF9D-668D-2157BC35AC0C}"/>
              </a:ext>
            </a:extLst>
          </p:cNvPr>
          <p:cNvSpPr/>
          <p:nvPr/>
        </p:nvSpPr>
        <p:spPr>
          <a:xfrm flipV="1">
            <a:off x="867591" y="3717569"/>
            <a:ext cx="1126643" cy="123331"/>
          </a:xfrm>
          <a:prstGeom prst="triangle">
            <a:avLst/>
          </a:prstGeom>
          <a:solidFill>
            <a:schemeClr val="tx2">
              <a:lumMod val="25000"/>
              <a:lumOff val="75000"/>
            </a:schemeClr>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60" name="Shape 55">
            <a:extLst>
              <a:ext uri="{FF2B5EF4-FFF2-40B4-BE49-F238E27FC236}">
                <a16:creationId xmlns:a16="http://schemas.microsoft.com/office/drawing/2014/main" id="{BC270A29-30C5-0D98-32B9-0042AF05DA9D}"/>
              </a:ext>
            </a:extLst>
          </p:cNvPr>
          <p:cNvSpPr/>
          <p:nvPr/>
        </p:nvSpPr>
        <p:spPr>
          <a:xfrm flipV="1">
            <a:off x="3202143" y="3717569"/>
            <a:ext cx="1126643" cy="123331"/>
          </a:xfrm>
          <a:prstGeom prst="triangle">
            <a:avLst/>
          </a:prstGeom>
          <a:solidFill>
            <a:schemeClr val="tx2">
              <a:lumMod val="25000"/>
              <a:lumOff val="75000"/>
            </a:schemeClr>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61" name="Shape 55">
            <a:extLst>
              <a:ext uri="{FF2B5EF4-FFF2-40B4-BE49-F238E27FC236}">
                <a16:creationId xmlns:a16="http://schemas.microsoft.com/office/drawing/2014/main" id="{36059403-B291-1A4B-7398-BC42020000A2}"/>
              </a:ext>
            </a:extLst>
          </p:cNvPr>
          <p:cNvSpPr/>
          <p:nvPr/>
        </p:nvSpPr>
        <p:spPr>
          <a:xfrm flipV="1">
            <a:off x="5536697" y="3717569"/>
            <a:ext cx="1126643" cy="123331"/>
          </a:xfrm>
          <a:prstGeom prst="triangle">
            <a:avLst/>
          </a:prstGeom>
          <a:solidFill>
            <a:schemeClr val="tx2">
              <a:lumMod val="25000"/>
              <a:lumOff val="75000"/>
            </a:schemeClr>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62" name="Shape 55">
            <a:extLst>
              <a:ext uri="{FF2B5EF4-FFF2-40B4-BE49-F238E27FC236}">
                <a16:creationId xmlns:a16="http://schemas.microsoft.com/office/drawing/2014/main" id="{82B4ADAB-9B02-FC23-E6F2-B5F2881777D6}"/>
              </a:ext>
            </a:extLst>
          </p:cNvPr>
          <p:cNvSpPr/>
          <p:nvPr/>
        </p:nvSpPr>
        <p:spPr>
          <a:xfrm flipV="1">
            <a:off x="7871250" y="3717569"/>
            <a:ext cx="1126643" cy="123331"/>
          </a:xfrm>
          <a:prstGeom prst="triangle">
            <a:avLst/>
          </a:prstGeom>
          <a:solidFill>
            <a:schemeClr val="tx2">
              <a:lumMod val="25000"/>
              <a:lumOff val="75000"/>
            </a:schemeClr>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63" name="Shape 55">
            <a:extLst>
              <a:ext uri="{FF2B5EF4-FFF2-40B4-BE49-F238E27FC236}">
                <a16:creationId xmlns:a16="http://schemas.microsoft.com/office/drawing/2014/main" id="{AB6F8939-A2FF-E537-538E-A3540342116B}"/>
              </a:ext>
            </a:extLst>
          </p:cNvPr>
          <p:cNvSpPr/>
          <p:nvPr/>
        </p:nvSpPr>
        <p:spPr>
          <a:xfrm flipV="1">
            <a:off x="10205804" y="3717569"/>
            <a:ext cx="1126643" cy="123331"/>
          </a:xfrm>
          <a:prstGeom prst="triangle">
            <a:avLst/>
          </a:prstGeom>
          <a:solidFill>
            <a:schemeClr val="tx2">
              <a:lumMod val="25000"/>
              <a:lumOff val="75000"/>
            </a:schemeClr>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64" name="Shape 55">
            <a:extLst>
              <a:ext uri="{FF2B5EF4-FFF2-40B4-BE49-F238E27FC236}">
                <a16:creationId xmlns:a16="http://schemas.microsoft.com/office/drawing/2014/main" id="{3154AF89-9FF3-B6AD-76CD-BB422B09CAD8}"/>
              </a:ext>
            </a:extLst>
          </p:cNvPr>
          <p:cNvSpPr/>
          <p:nvPr/>
        </p:nvSpPr>
        <p:spPr>
          <a:xfrm>
            <a:off x="333158" y="5287818"/>
            <a:ext cx="2195509" cy="47549"/>
          </a:xfrm>
          <a:prstGeom prst="roundRect">
            <a:avLst>
              <a:gd name="adj" fmla="val 201105"/>
            </a:avLst>
          </a:prstGeom>
          <a:solidFill>
            <a:srgbClr val="2C578B"/>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65" name="Shape 55">
            <a:extLst>
              <a:ext uri="{FF2B5EF4-FFF2-40B4-BE49-F238E27FC236}">
                <a16:creationId xmlns:a16="http://schemas.microsoft.com/office/drawing/2014/main" id="{28526930-B851-0684-837A-B18A066F0D48}"/>
              </a:ext>
            </a:extLst>
          </p:cNvPr>
          <p:cNvSpPr/>
          <p:nvPr/>
        </p:nvSpPr>
        <p:spPr>
          <a:xfrm>
            <a:off x="2667710" y="5287818"/>
            <a:ext cx="2195509" cy="47549"/>
          </a:xfrm>
          <a:prstGeom prst="roundRect">
            <a:avLst>
              <a:gd name="adj" fmla="val 201105"/>
            </a:avLst>
          </a:prstGeom>
          <a:solidFill>
            <a:srgbClr val="2C578B"/>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66" name="Shape 55">
            <a:extLst>
              <a:ext uri="{FF2B5EF4-FFF2-40B4-BE49-F238E27FC236}">
                <a16:creationId xmlns:a16="http://schemas.microsoft.com/office/drawing/2014/main" id="{7A7E212A-DEC4-38DF-424E-E91A3D2A1FA5}"/>
              </a:ext>
            </a:extLst>
          </p:cNvPr>
          <p:cNvSpPr/>
          <p:nvPr/>
        </p:nvSpPr>
        <p:spPr>
          <a:xfrm>
            <a:off x="5002264" y="5287818"/>
            <a:ext cx="2195509" cy="47549"/>
          </a:xfrm>
          <a:prstGeom prst="roundRect">
            <a:avLst>
              <a:gd name="adj" fmla="val 201105"/>
            </a:avLst>
          </a:prstGeom>
          <a:solidFill>
            <a:srgbClr val="2C578B"/>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67" name="Shape 55">
            <a:extLst>
              <a:ext uri="{FF2B5EF4-FFF2-40B4-BE49-F238E27FC236}">
                <a16:creationId xmlns:a16="http://schemas.microsoft.com/office/drawing/2014/main" id="{D4EBE3FD-8CC5-F0D5-390B-6FFBC3CB0899}"/>
              </a:ext>
            </a:extLst>
          </p:cNvPr>
          <p:cNvSpPr/>
          <p:nvPr/>
        </p:nvSpPr>
        <p:spPr>
          <a:xfrm>
            <a:off x="7336817" y="5287818"/>
            <a:ext cx="2195509" cy="47549"/>
          </a:xfrm>
          <a:prstGeom prst="roundRect">
            <a:avLst>
              <a:gd name="adj" fmla="val 201105"/>
            </a:avLst>
          </a:prstGeom>
          <a:solidFill>
            <a:srgbClr val="2C578B"/>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68" name="Shape 55">
            <a:extLst>
              <a:ext uri="{FF2B5EF4-FFF2-40B4-BE49-F238E27FC236}">
                <a16:creationId xmlns:a16="http://schemas.microsoft.com/office/drawing/2014/main" id="{4228A373-3D02-2DDC-D798-4369EF71C7B7}"/>
              </a:ext>
            </a:extLst>
          </p:cNvPr>
          <p:cNvSpPr/>
          <p:nvPr/>
        </p:nvSpPr>
        <p:spPr>
          <a:xfrm>
            <a:off x="9671371" y="5287818"/>
            <a:ext cx="2195509" cy="47549"/>
          </a:xfrm>
          <a:prstGeom prst="roundRect">
            <a:avLst>
              <a:gd name="adj" fmla="val 201105"/>
            </a:avLst>
          </a:prstGeom>
          <a:solidFill>
            <a:srgbClr val="2C578B"/>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pic>
        <p:nvPicPr>
          <p:cNvPr id="69" name="Image 0" descr="preencoded.png">
            <a:extLst>
              <a:ext uri="{FF2B5EF4-FFF2-40B4-BE49-F238E27FC236}">
                <a16:creationId xmlns:a16="http://schemas.microsoft.com/office/drawing/2014/main" id="{6D5D4B0E-E74F-E11F-DC3E-B3223AD48C22}"/>
              </a:ext>
            </a:extLst>
          </p:cNvPr>
          <p:cNvPicPr>
            <a:picLocks noChangeAspect="1"/>
          </p:cNvPicPr>
          <p:nvPr/>
        </p:nvPicPr>
        <p:blipFill>
          <a:blip r:embed="rId6"/>
          <a:srcRect/>
          <a:stretch/>
        </p:blipFill>
        <p:spPr>
          <a:xfrm>
            <a:off x="645332" y="1849165"/>
            <a:ext cx="260158" cy="260158"/>
          </a:xfrm>
          <a:prstGeom prst="rect">
            <a:avLst/>
          </a:prstGeom>
          <a:noFill/>
        </p:spPr>
      </p:pic>
      <p:pic>
        <p:nvPicPr>
          <p:cNvPr id="70" name="Image 2" descr="preencoded.png">
            <a:extLst>
              <a:ext uri="{FF2B5EF4-FFF2-40B4-BE49-F238E27FC236}">
                <a16:creationId xmlns:a16="http://schemas.microsoft.com/office/drawing/2014/main" id="{4F7BE37D-2367-0F2F-341B-FD83FC54EB95}"/>
              </a:ext>
            </a:extLst>
          </p:cNvPr>
          <p:cNvPicPr>
            <a:picLocks noChangeAspect="1"/>
          </p:cNvPicPr>
          <p:nvPr/>
        </p:nvPicPr>
        <p:blipFill>
          <a:blip r:embed="rId7"/>
          <a:srcRect l="-837" r="-837"/>
          <a:stretch/>
        </p:blipFill>
        <p:spPr>
          <a:xfrm>
            <a:off x="2960424" y="1849165"/>
            <a:ext cx="297580" cy="260158"/>
          </a:xfrm>
          <a:prstGeom prst="rect">
            <a:avLst/>
          </a:prstGeom>
          <a:noFill/>
        </p:spPr>
      </p:pic>
      <p:pic>
        <p:nvPicPr>
          <p:cNvPr id="71" name="Image 4" descr="preencoded.png">
            <a:extLst>
              <a:ext uri="{FF2B5EF4-FFF2-40B4-BE49-F238E27FC236}">
                <a16:creationId xmlns:a16="http://schemas.microsoft.com/office/drawing/2014/main" id="{191BF61E-0FD1-D00F-158E-9D80D4A2192F}"/>
              </a:ext>
            </a:extLst>
          </p:cNvPr>
          <p:cNvPicPr>
            <a:picLocks noChangeAspect="1"/>
          </p:cNvPicPr>
          <p:nvPr/>
        </p:nvPicPr>
        <p:blipFill>
          <a:blip r:embed="rId8"/>
          <a:srcRect/>
          <a:stretch/>
        </p:blipFill>
        <p:spPr>
          <a:xfrm>
            <a:off x="5319643" y="1859325"/>
            <a:ext cx="260158" cy="260158"/>
          </a:xfrm>
          <a:prstGeom prst="rect">
            <a:avLst/>
          </a:prstGeom>
          <a:noFill/>
        </p:spPr>
      </p:pic>
      <p:pic>
        <p:nvPicPr>
          <p:cNvPr id="72" name="Image 6" descr="preencoded.png">
            <a:extLst>
              <a:ext uri="{FF2B5EF4-FFF2-40B4-BE49-F238E27FC236}">
                <a16:creationId xmlns:a16="http://schemas.microsoft.com/office/drawing/2014/main" id="{448A1C47-D452-76B3-B3EC-59C1AF1394A2}"/>
              </a:ext>
            </a:extLst>
          </p:cNvPr>
          <p:cNvPicPr>
            <a:picLocks noChangeAspect="1"/>
          </p:cNvPicPr>
          <p:nvPr/>
        </p:nvPicPr>
        <p:blipFill>
          <a:blip r:embed="rId9"/>
          <a:srcRect/>
          <a:stretch/>
        </p:blipFill>
        <p:spPr>
          <a:xfrm>
            <a:off x="9987757" y="1859325"/>
            <a:ext cx="260158" cy="260158"/>
          </a:xfrm>
          <a:prstGeom prst="rect">
            <a:avLst/>
          </a:prstGeom>
          <a:noFill/>
        </p:spPr>
      </p:pic>
      <p:pic>
        <p:nvPicPr>
          <p:cNvPr id="73" name="Image 10" descr="preencoded.png">
            <a:extLst>
              <a:ext uri="{FF2B5EF4-FFF2-40B4-BE49-F238E27FC236}">
                <a16:creationId xmlns:a16="http://schemas.microsoft.com/office/drawing/2014/main" id="{89C129EE-9A43-1B9A-FB87-0DBB5FDB4519}"/>
              </a:ext>
            </a:extLst>
          </p:cNvPr>
          <p:cNvPicPr>
            <a:picLocks noChangeAspect="1"/>
          </p:cNvPicPr>
          <p:nvPr/>
        </p:nvPicPr>
        <p:blipFill>
          <a:blip r:embed="rId10"/>
          <a:srcRect l="-1507" r="-1507"/>
          <a:stretch/>
        </p:blipFill>
        <p:spPr>
          <a:xfrm>
            <a:off x="7634961" y="1871151"/>
            <a:ext cx="304545" cy="236507"/>
          </a:xfrm>
          <a:prstGeom prst="rect">
            <a:avLst/>
          </a:prstGeom>
          <a:noFill/>
        </p:spPr>
      </p:pic>
      <p:sp>
        <p:nvSpPr>
          <p:cNvPr id="74" name="Text 38">
            <a:extLst>
              <a:ext uri="{FF2B5EF4-FFF2-40B4-BE49-F238E27FC236}">
                <a16:creationId xmlns:a16="http://schemas.microsoft.com/office/drawing/2014/main" id="{05D551AA-771A-FB77-A5AA-65CBCF32AC2B}"/>
              </a:ext>
            </a:extLst>
          </p:cNvPr>
          <p:cNvSpPr txBox="1"/>
          <p:nvPr/>
        </p:nvSpPr>
        <p:spPr>
          <a:xfrm>
            <a:off x="376888" y="5509118"/>
            <a:ext cx="2105863" cy="568443"/>
          </a:xfrm>
          <a:prstGeom prst="rect">
            <a:avLst/>
          </a:prstGeom>
          <a:noFill/>
          <a:ln/>
        </p:spPr>
        <p:txBody>
          <a:bodyPr wrap="square" lIns="0" tIns="0" rIns="0" bIns="0" rtlCol="0" anchor="t"/>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i="0" u="none" strike="noStrike" kern="1200" cap="none" spc="0" normalizeH="0" baseline="0" noProof="0">
                <a:ln>
                  <a:noFill/>
                </a:ln>
                <a:uLnTx/>
                <a:uFillTx/>
                <a:latin typeface="Arial" panose="020B0604020202020204" pitchFamily="34" charset="0"/>
                <a:ea typeface="Open Sans" pitchFamily="34" charset="-122"/>
                <a:cs typeface="Arial" panose="020B0604020202020204" pitchFamily="34" charset="0"/>
              </a:rPr>
              <a:t>Baseline Report</a:t>
            </a:r>
            <a:endParaRPr kumimoji="0" lang="en-US" sz="1000" i="0" u="none" strike="noStrike" kern="1200" cap="none" spc="0" normalizeH="0" baseline="0" noProof="0">
              <a:ln>
                <a:noFill/>
              </a:ln>
              <a:uLnTx/>
              <a:uFillTx/>
              <a:latin typeface="Arial" panose="020B0604020202020204" pitchFamily="34" charset="0"/>
              <a:cs typeface="Arial" panose="020B0604020202020204" pitchFamily="34" charset="0"/>
            </a:endParaRPr>
          </a:p>
          <a:p>
            <a:pPr marL="171450" lvl="0" indent="-171450">
              <a:buFont typeface="Arial" panose="020B0604020202020204" pitchFamily="34" charset="0"/>
              <a:buChar char="•"/>
              <a:defRPr/>
            </a:pPr>
            <a:r>
              <a:rPr lang="en-US" sz="1000" noProof="0">
                <a:latin typeface="Arial" panose="020B0604020202020204" pitchFamily="34" charset="0"/>
                <a:ea typeface="Open Sans" pitchFamily="34" charset="-122"/>
                <a:cs typeface="Arial" panose="020B0604020202020204" pitchFamily="34" charset="0"/>
              </a:rPr>
              <a:t>Demand Map</a:t>
            </a:r>
            <a:endParaRPr lang="en-US" sz="1000" noProof="0">
              <a:latin typeface="Arial" panose="020B0604020202020204" pitchFamily="34" charset="0"/>
              <a:cs typeface="Arial" panose="020B0604020202020204" pitchFamily="34" charset="0"/>
            </a:endParaRPr>
          </a:p>
          <a:p>
            <a:pPr marL="171450" lvl="0" indent="-171450">
              <a:buFont typeface="Arial" panose="020B0604020202020204" pitchFamily="34" charset="0"/>
              <a:buChar char="•"/>
              <a:defRPr/>
            </a:pPr>
            <a:r>
              <a:rPr lang="en-US" sz="1000" noProof="0">
                <a:latin typeface="Arial" panose="020B0604020202020204" pitchFamily="34" charset="0"/>
                <a:ea typeface="Open Sans" pitchFamily="34" charset="-122"/>
                <a:cs typeface="Arial" panose="020B0604020202020204" pitchFamily="34" charset="0"/>
              </a:rPr>
              <a:t>Project Portfolio Landscape (SAP)</a:t>
            </a:r>
            <a:endParaRPr lang="en-US" sz="1000" noProof="0">
              <a:latin typeface="Arial" panose="020B0604020202020204" pitchFamily="34" charset="0"/>
              <a:cs typeface="Arial" panose="020B0604020202020204" pitchFamily="34" charset="0"/>
            </a:endParaRPr>
          </a:p>
        </p:txBody>
      </p:sp>
      <p:sp>
        <p:nvSpPr>
          <p:cNvPr id="75" name="Text 38">
            <a:extLst>
              <a:ext uri="{FF2B5EF4-FFF2-40B4-BE49-F238E27FC236}">
                <a16:creationId xmlns:a16="http://schemas.microsoft.com/office/drawing/2014/main" id="{5942A60A-3FE4-7FDB-6758-E9531321E4D6}"/>
              </a:ext>
            </a:extLst>
          </p:cNvPr>
          <p:cNvSpPr txBox="1"/>
          <p:nvPr/>
        </p:nvSpPr>
        <p:spPr>
          <a:xfrm>
            <a:off x="2737355" y="5515226"/>
            <a:ext cx="2105863" cy="568443"/>
          </a:xfrm>
          <a:prstGeom prst="rect">
            <a:avLst/>
          </a:prstGeom>
          <a:noFill/>
          <a:ln/>
        </p:spPr>
        <p:txBody>
          <a:bodyPr wrap="square" lIns="0" tIns="0" rIns="0" bIns="0" rtlCol="0" anchor="t"/>
          <a:lstStyle>
            <a:defPPr>
              <a:defRPr lang="en-US"/>
            </a:defPPr>
            <a:lvl1pPr marL="171450" marR="0" lvl="0" indent="-171450" fontAlgn="auto">
              <a:lnSpc>
                <a:spcPct val="100000"/>
              </a:lnSpc>
              <a:spcBef>
                <a:spcPts val="0"/>
              </a:spcBef>
              <a:spcAft>
                <a:spcPts val="0"/>
              </a:spcAft>
              <a:buClrTx/>
              <a:buSzTx/>
              <a:buFont typeface="Arial" panose="020B0604020202020204" pitchFamily="34" charset="0"/>
              <a:buChar char="•"/>
              <a:tabLst/>
              <a:defRPr kumimoji="0" sz="1000" i="0" u="none" strike="noStrike" cap="none" spc="0" normalizeH="0" baseline="0">
                <a:ln>
                  <a:noFill/>
                </a:ln>
                <a:uLnTx/>
                <a:uFillTx/>
                <a:latin typeface="Montserrat" panose="00000500000000000000" pitchFamily="2" charset="0"/>
                <a:ea typeface="Open Sans" pitchFamily="34" charset="-122"/>
                <a:cs typeface="Open Sans" pitchFamily="34" charset="-120"/>
              </a:defRPr>
            </a:lvl1pPr>
          </a:lstStyle>
          <a:p>
            <a:r>
              <a:rPr lang="en-US" noProof="0">
                <a:latin typeface="Arial" panose="020B0604020202020204" pitchFamily="34" charset="0"/>
                <a:cs typeface="Arial" panose="020B0604020202020204" pitchFamily="34" charset="0"/>
              </a:rPr>
              <a:t>Lifecycle Map v1.0</a:t>
            </a:r>
          </a:p>
          <a:p>
            <a:r>
              <a:rPr lang="en-US" noProof="0">
                <a:latin typeface="Arial" panose="020B0604020202020204" pitchFamily="34" charset="0"/>
                <a:cs typeface="Arial" panose="020B0604020202020204" pitchFamily="34" charset="0"/>
              </a:rPr>
              <a:t>Demand Typology</a:t>
            </a:r>
          </a:p>
          <a:p>
            <a:r>
              <a:rPr lang="en-US" noProof="0">
                <a:latin typeface="Arial" panose="020B0604020202020204" pitchFamily="34" charset="0"/>
                <a:cs typeface="Arial" panose="020B0604020202020204" pitchFamily="34" charset="0"/>
              </a:rPr>
              <a:t>Prioritization Framework</a:t>
            </a:r>
          </a:p>
          <a:p>
            <a:r>
              <a:rPr lang="en-US" noProof="0">
                <a:latin typeface="Arial" panose="020B0604020202020204" pitchFamily="34" charset="0"/>
                <a:cs typeface="Arial" panose="020B0604020202020204" pitchFamily="34" charset="0"/>
              </a:rPr>
              <a:t>Roles &amp; RACI Matrix</a:t>
            </a:r>
          </a:p>
          <a:p>
            <a:endParaRPr lang="en-US" noProof="0">
              <a:latin typeface="Arial" panose="020B0604020202020204" pitchFamily="34" charset="0"/>
              <a:cs typeface="Arial" panose="020B0604020202020204" pitchFamily="34" charset="0"/>
            </a:endParaRPr>
          </a:p>
        </p:txBody>
      </p:sp>
      <p:sp>
        <p:nvSpPr>
          <p:cNvPr id="76" name="Text 38">
            <a:extLst>
              <a:ext uri="{FF2B5EF4-FFF2-40B4-BE49-F238E27FC236}">
                <a16:creationId xmlns:a16="http://schemas.microsoft.com/office/drawing/2014/main" id="{718E1F8E-48F2-8DBF-C814-185C042CDFF3}"/>
              </a:ext>
            </a:extLst>
          </p:cNvPr>
          <p:cNvSpPr txBox="1"/>
          <p:nvPr/>
        </p:nvSpPr>
        <p:spPr>
          <a:xfrm>
            <a:off x="5055452" y="5450362"/>
            <a:ext cx="2105863" cy="568443"/>
          </a:xfrm>
          <a:prstGeom prst="rect">
            <a:avLst/>
          </a:prstGeom>
          <a:noFill/>
          <a:ln/>
        </p:spPr>
        <p:txBody>
          <a:bodyPr wrap="square" lIns="0" tIns="0" rIns="0" bIns="0" rtlCol="0" anchor="ctr"/>
          <a:lstStyle>
            <a:defPPr>
              <a:defRPr lang="en-US"/>
            </a:defPPr>
            <a:lvl1pPr marL="171450" marR="0" lvl="0" indent="-171450" fontAlgn="auto">
              <a:lnSpc>
                <a:spcPct val="100000"/>
              </a:lnSpc>
              <a:spcBef>
                <a:spcPts val="0"/>
              </a:spcBef>
              <a:spcAft>
                <a:spcPts val="0"/>
              </a:spcAft>
              <a:buClrTx/>
              <a:buSzTx/>
              <a:buFont typeface="Arial" panose="020B0604020202020204" pitchFamily="34" charset="0"/>
              <a:buChar char="•"/>
              <a:tabLst/>
              <a:defRPr kumimoji="0" sz="1000" i="0" u="none" strike="noStrike" cap="none" spc="0" normalizeH="0" baseline="0">
                <a:ln>
                  <a:noFill/>
                </a:ln>
                <a:uLnTx/>
                <a:uFillTx/>
                <a:latin typeface="Montserrat" panose="00000500000000000000" pitchFamily="2" charset="0"/>
                <a:ea typeface="Open Sans" pitchFamily="34" charset="-122"/>
                <a:cs typeface="Open Sans" pitchFamily="34" charset="-120"/>
              </a:defRPr>
            </a:lvl1pPr>
          </a:lstStyle>
          <a:p>
            <a:r>
              <a:rPr lang="en-US" noProof="0">
                <a:latin typeface="Arial" panose="020B0604020202020204" pitchFamily="34" charset="0"/>
                <a:cs typeface="Arial" panose="020B0604020202020204" pitchFamily="34" charset="0"/>
              </a:rPr>
              <a:t>Tool Ecosystem Design</a:t>
            </a:r>
          </a:p>
          <a:p>
            <a:r>
              <a:rPr lang="en-US" noProof="0">
                <a:latin typeface="Arial" panose="020B0604020202020204" pitchFamily="34" charset="0"/>
                <a:cs typeface="Arial" panose="020B0604020202020204" pitchFamily="34" charset="0"/>
              </a:rPr>
              <a:t>Jira Configuration v1.0</a:t>
            </a:r>
          </a:p>
          <a:p>
            <a:r>
              <a:rPr lang="en-US" noProof="0">
                <a:latin typeface="Arial" panose="020B0604020202020204" pitchFamily="34" charset="0"/>
                <a:cs typeface="Arial" panose="020B0604020202020204" pitchFamily="34" charset="0"/>
              </a:rPr>
              <a:t>Portfolio Concept Blueprint</a:t>
            </a:r>
          </a:p>
        </p:txBody>
      </p:sp>
      <p:sp>
        <p:nvSpPr>
          <p:cNvPr id="77" name="Text 38">
            <a:extLst>
              <a:ext uri="{FF2B5EF4-FFF2-40B4-BE49-F238E27FC236}">
                <a16:creationId xmlns:a16="http://schemas.microsoft.com/office/drawing/2014/main" id="{0A1979A1-D4AF-CE3D-B928-778036339A47}"/>
              </a:ext>
            </a:extLst>
          </p:cNvPr>
          <p:cNvSpPr txBox="1"/>
          <p:nvPr/>
        </p:nvSpPr>
        <p:spPr>
          <a:xfrm>
            <a:off x="7390900" y="5450362"/>
            <a:ext cx="2105863" cy="568443"/>
          </a:xfrm>
          <a:prstGeom prst="rect">
            <a:avLst/>
          </a:prstGeom>
          <a:noFill/>
          <a:ln/>
        </p:spPr>
        <p:txBody>
          <a:bodyPr wrap="square" lIns="0" tIns="0" rIns="0" bIns="0" rtlCol="0" anchor="ctr"/>
          <a:lstStyle>
            <a:defPPr>
              <a:defRPr lang="en-US"/>
            </a:defPPr>
            <a:lvl1pPr marL="171450" marR="0" lvl="0" indent="-171450" fontAlgn="auto">
              <a:lnSpc>
                <a:spcPct val="100000"/>
              </a:lnSpc>
              <a:spcBef>
                <a:spcPts val="0"/>
              </a:spcBef>
              <a:spcAft>
                <a:spcPts val="0"/>
              </a:spcAft>
              <a:buClrTx/>
              <a:buSzTx/>
              <a:buFont typeface="Arial" panose="020B0604020202020204" pitchFamily="34" charset="0"/>
              <a:buChar char="•"/>
              <a:tabLst/>
              <a:defRPr kumimoji="0" sz="1000" i="0" u="none" strike="noStrike" cap="none" spc="0" normalizeH="0" baseline="0">
                <a:ln>
                  <a:noFill/>
                </a:ln>
                <a:uLnTx/>
                <a:uFillTx/>
                <a:latin typeface="Montserrat" panose="00000500000000000000" pitchFamily="2" charset="0"/>
                <a:ea typeface="Open Sans" pitchFamily="34" charset="-122"/>
                <a:cs typeface="Open Sans" pitchFamily="34" charset="-120"/>
              </a:defRPr>
            </a:lvl1pPr>
          </a:lstStyle>
          <a:p>
            <a:r>
              <a:rPr lang="en-US" noProof="0">
                <a:latin typeface="Arial" panose="020B0604020202020204" pitchFamily="34" charset="0"/>
                <a:cs typeface="Arial" panose="020B0604020202020204" pitchFamily="34" charset="0"/>
              </a:rPr>
              <a:t>Pilot Execution Report</a:t>
            </a:r>
          </a:p>
          <a:p>
            <a:r>
              <a:rPr lang="en-US" noProof="0">
                <a:latin typeface="Arial" panose="020B0604020202020204" pitchFamily="34" charset="0"/>
                <a:cs typeface="Arial" panose="020B0604020202020204" pitchFamily="34" charset="0"/>
              </a:rPr>
              <a:t>First Reporting Output</a:t>
            </a:r>
          </a:p>
          <a:p>
            <a:r>
              <a:rPr lang="en-US" noProof="0">
                <a:latin typeface="Arial" panose="020B0604020202020204" pitchFamily="34" charset="0"/>
                <a:cs typeface="Arial" panose="020B0604020202020204" pitchFamily="34" charset="0"/>
              </a:rPr>
              <a:t>Structured Feedback Log</a:t>
            </a:r>
          </a:p>
        </p:txBody>
      </p:sp>
      <p:sp>
        <p:nvSpPr>
          <p:cNvPr id="78" name="Text 38">
            <a:extLst>
              <a:ext uri="{FF2B5EF4-FFF2-40B4-BE49-F238E27FC236}">
                <a16:creationId xmlns:a16="http://schemas.microsoft.com/office/drawing/2014/main" id="{79F7EB9A-048B-D15E-9EEA-3CF040325D84}"/>
              </a:ext>
            </a:extLst>
          </p:cNvPr>
          <p:cNvSpPr txBox="1"/>
          <p:nvPr/>
        </p:nvSpPr>
        <p:spPr>
          <a:xfrm>
            <a:off x="9726349" y="5450362"/>
            <a:ext cx="2105863" cy="568443"/>
          </a:xfrm>
          <a:prstGeom prst="rect">
            <a:avLst/>
          </a:prstGeom>
          <a:noFill/>
          <a:ln/>
        </p:spPr>
        <p:txBody>
          <a:bodyPr wrap="square" lIns="0" tIns="0" rIns="0" bIns="0" rtlCol="0" anchor="ctr"/>
          <a:lstStyle>
            <a:defPPr>
              <a:defRPr lang="en-US"/>
            </a:defPPr>
            <a:lvl1pPr marL="171450" marR="0" lvl="0" indent="-171450" fontAlgn="auto">
              <a:lnSpc>
                <a:spcPct val="100000"/>
              </a:lnSpc>
              <a:spcBef>
                <a:spcPts val="0"/>
              </a:spcBef>
              <a:spcAft>
                <a:spcPts val="0"/>
              </a:spcAft>
              <a:buClrTx/>
              <a:buSzTx/>
              <a:buFont typeface="Arial" panose="020B0604020202020204" pitchFamily="34" charset="0"/>
              <a:buChar char="•"/>
              <a:tabLst/>
              <a:defRPr kumimoji="0" sz="1000" i="0" u="none" strike="noStrike" cap="none" spc="0" normalizeH="0" baseline="0">
                <a:ln>
                  <a:noFill/>
                </a:ln>
                <a:uLnTx/>
                <a:uFillTx/>
                <a:latin typeface="Montserrat" panose="00000500000000000000" pitchFamily="2" charset="0"/>
                <a:ea typeface="Open Sans" pitchFamily="34" charset="-122"/>
                <a:cs typeface="Open Sans" pitchFamily="34" charset="-120"/>
              </a:defRPr>
            </a:lvl1pPr>
          </a:lstStyle>
          <a:p>
            <a:r>
              <a:rPr lang="en-US" noProof="0">
                <a:latin typeface="Arial" panose="020B0604020202020204" pitchFamily="34" charset="0"/>
                <a:cs typeface="Arial" panose="020B0604020202020204" pitchFamily="34" charset="0"/>
              </a:rPr>
              <a:t>Lifecycle Map v2.0</a:t>
            </a:r>
          </a:p>
          <a:p>
            <a:r>
              <a:rPr lang="en-US" noProof="0">
                <a:latin typeface="Arial" panose="020B0604020202020204" pitchFamily="34" charset="0"/>
                <a:cs typeface="Arial" panose="020B0604020202020204" pitchFamily="34" charset="0"/>
              </a:rPr>
              <a:t>Jira Config v2.0</a:t>
            </a:r>
          </a:p>
          <a:p>
            <a:r>
              <a:rPr lang="en-US" noProof="0">
                <a:latin typeface="Arial" panose="020B0604020202020204" pitchFamily="34" charset="0"/>
                <a:cs typeface="Arial" panose="020B0604020202020204" pitchFamily="34" charset="0"/>
              </a:rPr>
              <a:t>Value Criteria Framework v2.0</a:t>
            </a:r>
          </a:p>
        </p:txBody>
      </p:sp>
      <p:sp>
        <p:nvSpPr>
          <p:cNvPr id="79" name="CuadroTexto 204">
            <a:extLst>
              <a:ext uri="{FF2B5EF4-FFF2-40B4-BE49-F238E27FC236}">
                <a16:creationId xmlns:a16="http://schemas.microsoft.com/office/drawing/2014/main" id="{EA2531D1-4BDD-E8FE-7F83-8AE2E71D7533}"/>
              </a:ext>
            </a:extLst>
          </p:cNvPr>
          <p:cNvSpPr txBox="1"/>
          <p:nvPr/>
        </p:nvSpPr>
        <p:spPr>
          <a:xfrm>
            <a:off x="549301" y="864643"/>
            <a:ext cx="11280749" cy="738664"/>
          </a:xfrm>
          <a:prstGeom prst="rect">
            <a:avLst/>
          </a:prstGeom>
          <a:noFill/>
        </p:spPr>
        <p:txBody>
          <a:bodyPr wrap="square">
            <a:spAutoFit/>
          </a:bodyPr>
          <a:lstStyle/>
          <a:p>
            <a:r>
              <a:rPr lang="en-US" sz="1400" b="1" noProof="0">
                <a:solidFill>
                  <a:schemeClr val="accent4">
                    <a:lumMod val="75000"/>
                  </a:schemeClr>
                </a:solidFill>
                <a:latin typeface="Arial" panose="020B0604020202020204" pitchFamily="34" charset="0"/>
                <a:cs typeface="Arial" panose="020B0604020202020204" pitchFamily="34" charset="0"/>
              </a:rPr>
              <a:t>Wave 1 follows a structured, end-to-end approach to assess the current state, design the future operating model, enable it through tools, validate it in a live pilot, and refine it for scaling. Each step builds progressively to ensure measurable impact and readiness for broader adoption.</a:t>
            </a:r>
          </a:p>
        </p:txBody>
      </p:sp>
      <p:sp>
        <p:nvSpPr>
          <p:cNvPr id="80" name="Rectangle 28">
            <a:extLst>
              <a:ext uri="{FF2B5EF4-FFF2-40B4-BE49-F238E27FC236}">
                <a16:creationId xmlns:a16="http://schemas.microsoft.com/office/drawing/2014/main" id="{3F0C783C-A5D0-37E0-393E-945E3AB8361E}"/>
              </a:ext>
            </a:extLst>
          </p:cNvPr>
          <p:cNvSpPr/>
          <p:nvPr/>
        </p:nvSpPr>
        <p:spPr>
          <a:xfrm>
            <a:off x="-561976" y="1891049"/>
            <a:ext cx="504913" cy="354411"/>
          </a:xfrm>
          <a:prstGeom prst="rect">
            <a:avLst/>
          </a:prstGeom>
          <a:solidFill>
            <a:srgbClr val="0DA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81" name="Rectangle 40">
            <a:extLst>
              <a:ext uri="{FF2B5EF4-FFF2-40B4-BE49-F238E27FC236}">
                <a16:creationId xmlns:a16="http://schemas.microsoft.com/office/drawing/2014/main" id="{CC07EB39-DC8B-99A4-81BC-5B4ABC19D31B}"/>
              </a:ext>
            </a:extLst>
          </p:cNvPr>
          <p:cNvSpPr/>
          <p:nvPr/>
        </p:nvSpPr>
        <p:spPr>
          <a:xfrm>
            <a:off x="-561976" y="1450050"/>
            <a:ext cx="504913" cy="354411"/>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82" name="Rectangle 52">
            <a:extLst>
              <a:ext uri="{FF2B5EF4-FFF2-40B4-BE49-F238E27FC236}">
                <a16:creationId xmlns:a16="http://schemas.microsoft.com/office/drawing/2014/main" id="{3506D188-E2A2-9A88-ACC8-C0FC4DBB742B}"/>
              </a:ext>
            </a:extLst>
          </p:cNvPr>
          <p:cNvSpPr/>
          <p:nvPr/>
        </p:nvSpPr>
        <p:spPr>
          <a:xfrm>
            <a:off x="-561976" y="1009051"/>
            <a:ext cx="504913" cy="354411"/>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83" name="Rectangle 64">
            <a:extLst>
              <a:ext uri="{FF2B5EF4-FFF2-40B4-BE49-F238E27FC236}">
                <a16:creationId xmlns:a16="http://schemas.microsoft.com/office/drawing/2014/main" id="{C45EF9D4-ADE4-1D54-05FD-38AD0A424CDE}"/>
              </a:ext>
            </a:extLst>
          </p:cNvPr>
          <p:cNvSpPr/>
          <p:nvPr/>
        </p:nvSpPr>
        <p:spPr>
          <a:xfrm>
            <a:off x="-561976" y="2332048"/>
            <a:ext cx="504913" cy="354411"/>
          </a:xfrm>
          <a:prstGeom prst="rect">
            <a:avLst/>
          </a:prstGeom>
          <a:solidFill>
            <a:schemeClr val="accent6">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84" name="Rectangle 64">
            <a:extLst>
              <a:ext uri="{FF2B5EF4-FFF2-40B4-BE49-F238E27FC236}">
                <a16:creationId xmlns:a16="http://schemas.microsoft.com/office/drawing/2014/main" id="{7EB61E6C-FC5C-4B3D-C8AA-C7029A1B6300}"/>
              </a:ext>
            </a:extLst>
          </p:cNvPr>
          <p:cNvSpPr/>
          <p:nvPr/>
        </p:nvSpPr>
        <p:spPr>
          <a:xfrm>
            <a:off x="-561976" y="2773047"/>
            <a:ext cx="504913" cy="354411"/>
          </a:xfrm>
          <a:prstGeom prst="rect">
            <a:avLst/>
          </a:prstGeom>
          <a:solidFill>
            <a:srgbClr val="00A4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85" name="Rectangle 64">
            <a:extLst>
              <a:ext uri="{FF2B5EF4-FFF2-40B4-BE49-F238E27FC236}">
                <a16:creationId xmlns:a16="http://schemas.microsoft.com/office/drawing/2014/main" id="{36A997CD-0F78-A47D-BFD9-560172FE5940}"/>
              </a:ext>
            </a:extLst>
          </p:cNvPr>
          <p:cNvSpPr/>
          <p:nvPr/>
        </p:nvSpPr>
        <p:spPr>
          <a:xfrm>
            <a:off x="-561976" y="3214046"/>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86" name="Rectangle 64">
            <a:extLst>
              <a:ext uri="{FF2B5EF4-FFF2-40B4-BE49-F238E27FC236}">
                <a16:creationId xmlns:a16="http://schemas.microsoft.com/office/drawing/2014/main" id="{D90B30BC-CABA-D6F5-27A5-6A706F5D9CF4}"/>
              </a:ext>
            </a:extLst>
          </p:cNvPr>
          <p:cNvSpPr/>
          <p:nvPr/>
        </p:nvSpPr>
        <p:spPr>
          <a:xfrm>
            <a:off x="-561976" y="3655047"/>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87" name="Retângulo 86">
            <a:extLst>
              <a:ext uri="{FF2B5EF4-FFF2-40B4-BE49-F238E27FC236}">
                <a16:creationId xmlns:a16="http://schemas.microsoft.com/office/drawing/2014/main" id="{CC1F992A-1BAC-1902-EEB1-F91AC9BA3223}"/>
              </a:ext>
            </a:extLst>
          </p:cNvPr>
          <p:cNvSpPr/>
          <p:nvPr/>
        </p:nvSpPr>
        <p:spPr>
          <a:xfrm>
            <a:off x="2672790" y="1583917"/>
            <a:ext cx="9199169" cy="4858411"/>
          </a:xfrm>
          <a:prstGeom prst="rect">
            <a:avLst/>
          </a:prstGeom>
          <a:solidFill>
            <a:schemeClr val="bg2">
              <a:alpha val="43273"/>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472242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CF6C1-6241-623E-B242-98B9BE95B596}"/>
            </a:ext>
          </a:extLst>
        </p:cNvPr>
        <p:cNvGrpSpPr/>
        <p:nvPr/>
      </p:nvGrpSpPr>
      <p:grpSpPr>
        <a:xfrm>
          <a:off x="0" y="0"/>
          <a:ext cx="0" cy="0"/>
          <a:chOff x="0" y="0"/>
          <a:chExt cx="0" cy="0"/>
        </a:xfrm>
      </p:grpSpPr>
      <p:sp>
        <p:nvSpPr>
          <p:cNvPr id="2" name="Título 2">
            <a:extLst>
              <a:ext uri="{FF2B5EF4-FFF2-40B4-BE49-F238E27FC236}">
                <a16:creationId xmlns:a16="http://schemas.microsoft.com/office/drawing/2014/main" id="{415DB9F0-65DE-C635-8F5D-2BC8C3B4FF9C}"/>
              </a:ext>
            </a:extLst>
          </p:cNvPr>
          <p:cNvSpPr txBox="1">
            <a:spLocks/>
          </p:cNvSpPr>
          <p:nvPr/>
        </p:nvSpPr>
        <p:spPr>
          <a:xfrm>
            <a:off x="180918" y="127319"/>
            <a:ext cx="8857204"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r>
              <a:rPr lang="en-US" sz="2400" noProof="0">
                <a:latin typeface="Arial" panose="020B0604020202020204" pitchFamily="34" charset="0"/>
                <a:cs typeface="Arial" panose="020B0604020202020204" pitchFamily="34" charset="0"/>
              </a:rPr>
              <a:t>METHODOLOGY</a:t>
            </a:r>
            <a:endParaRPr lang="en-US" sz="1100" noProof="0">
              <a:latin typeface="Arial" panose="020B0604020202020204" pitchFamily="34" charset="0"/>
              <a:cs typeface="Arial" panose="020B0604020202020204" pitchFamily="34" charset="0"/>
            </a:endParaRPr>
          </a:p>
        </p:txBody>
      </p:sp>
      <p:sp>
        <p:nvSpPr>
          <p:cNvPr id="3" name="Rectangle 28">
            <a:extLst>
              <a:ext uri="{FF2B5EF4-FFF2-40B4-BE49-F238E27FC236}">
                <a16:creationId xmlns:a16="http://schemas.microsoft.com/office/drawing/2014/main" id="{4F4B79E5-86E3-A48F-013F-69FD88E45969}"/>
              </a:ext>
            </a:extLst>
          </p:cNvPr>
          <p:cNvSpPr/>
          <p:nvPr/>
        </p:nvSpPr>
        <p:spPr>
          <a:xfrm>
            <a:off x="-561976" y="1891049"/>
            <a:ext cx="504913" cy="354411"/>
          </a:xfrm>
          <a:prstGeom prst="rect">
            <a:avLst/>
          </a:prstGeom>
          <a:solidFill>
            <a:srgbClr val="0DA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 name="Rectangle 40">
            <a:extLst>
              <a:ext uri="{FF2B5EF4-FFF2-40B4-BE49-F238E27FC236}">
                <a16:creationId xmlns:a16="http://schemas.microsoft.com/office/drawing/2014/main" id="{A5FE38FC-F264-72F2-EF3E-3986F7FB3A77}"/>
              </a:ext>
            </a:extLst>
          </p:cNvPr>
          <p:cNvSpPr/>
          <p:nvPr/>
        </p:nvSpPr>
        <p:spPr>
          <a:xfrm>
            <a:off x="-561976" y="1450050"/>
            <a:ext cx="504913" cy="354411"/>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 name="Rectangle 52">
            <a:extLst>
              <a:ext uri="{FF2B5EF4-FFF2-40B4-BE49-F238E27FC236}">
                <a16:creationId xmlns:a16="http://schemas.microsoft.com/office/drawing/2014/main" id="{B2635F4A-9A15-E0BC-E9FF-0A1BACB07D10}"/>
              </a:ext>
            </a:extLst>
          </p:cNvPr>
          <p:cNvSpPr/>
          <p:nvPr/>
        </p:nvSpPr>
        <p:spPr>
          <a:xfrm>
            <a:off x="-561976" y="1009051"/>
            <a:ext cx="504913" cy="354411"/>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7" name="Rectangle 64">
            <a:extLst>
              <a:ext uri="{FF2B5EF4-FFF2-40B4-BE49-F238E27FC236}">
                <a16:creationId xmlns:a16="http://schemas.microsoft.com/office/drawing/2014/main" id="{1CFB22B2-620E-F88C-D48E-B0DF1982C5AD}"/>
              </a:ext>
            </a:extLst>
          </p:cNvPr>
          <p:cNvSpPr/>
          <p:nvPr/>
        </p:nvSpPr>
        <p:spPr>
          <a:xfrm>
            <a:off x="-561976" y="2332048"/>
            <a:ext cx="504913" cy="354411"/>
          </a:xfrm>
          <a:prstGeom prst="rect">
            <a:avLst/>
          </a:prstGeom>
          <a:solidFill>
            <a:schemeClr val="accent6">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8" name="Rectangle 64">
            <a:extLst>
              <a:ext uri="{FF2B5EF4-FFF2-40B4-BE49-F238E27FC236}">
                <a16:creationId xmlns:a16="http://schemas.microsoft.com/office/drawing/2014/main" id="{CBF862F0-CEB0-F09F-9F7D-7004F3E7D938}"/>
              </a:ext>
            </a:extLst>
          </p:cNvPr>
          <p:cNvSpPr/>
          <p:nvPr/>
        </p:nvSpPr>
        <p:spPr>
          <a:xfrm>
            <a:off x="-561976" y="2773047"/>
            <a:ext cx="504913" cy="354411"/>
          </a:xfrm>
          <a:prstGeom prst="rect">
            <a:avLst/>
          </a:prstGeom>
          <a:solidFill>
            <a:srgbClr val="00A4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9" name="Rectangle 64">
            <a:extLst>
              <a:ext uri="{FF2B5EF4-FFF2-40B4-BE49-F238E27FC236}">
                <a16:creationId xmlns:a16="http://schemas.microsoft.com/office/drawing/2014/main" id="{903D062A-CA00-8D1F-B3F7-9F5C519A2A73}"/>
              </a:ext>
            </a:extLst>
          </p:cNvPr>
          <p:cNvSpPr/>
          <p:nvPr/>
        </p:nvSpPr>
        <p:spPr>
          <a:xfrm>
            <a:off x="-561976" y="3214046"/>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5" name="Rectangle 64">
            <a:extLst>
              <a:ext uri="{FF2B5EF4-FFF2-40B4-BE49-F238E27FC236}">
                <a16:creationId xmlns:a16="http://schemas.microsoft.com/office/drawing/2014/main" id="{190395E4-C9EA-FB23-C4C1-19C827231A6B}"/>
              </a:ext>
            </a:extLst>
          </p:cNvPr>
          <p:cNvSpPr/>
          <p:nvPr/>
        </p:nvSpPr>
        <p:spPr>
          <a:xfrm>
            <a:off x="-561976" y="3655047"/>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8" name="Rectangle 17">
            <a:extLst>
              <a:ext uri="{FF2B5EF4-FFF2-40B4-BE49-F238E27FC236}">
                <a16:creationId xmlns:a16="http://schemas.microsoft.com/office/drawing/2014/main" id="{B4AA586C-1B8B-1655-45AF-078013BE3628}"/>
              </a:ext>
            </a:extLst>
          </p:cNvPr>
          <p:cNvSpPr/>
          <p:nvPr/>
        </p:nvSpPr>
        <p:spPr>
          <a:xfrm>
            <a:off x="457200" y="800100"/>
            <a:ext cx="11274552" cy="1371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4" name="TextBox 43">
            <a:extLst>
              <a:ext uri="{FF2B5EF4-FFF2-40B4-BE49-F238E27FC236}">
                <a16:creationId xmlns:a16="http://schemas.microsoft.com/office/drawing/2014/main" id="{F9E9DACF-D65B-248D-36B9-C5BC586DD591}"/>
              </a:ext>
            </a:extLst>
          </p:cNvPr>
          <p:cNvSpPr txBox="1"/>
          <p:nvPr/>
        </p:nvSpPr>
        <p:spPr>
          <a:xfrm>
            <a:off x="458724" y="932575"/>
            <a:ext cx="11274552" cy="430887"/>
          </a:xfrm>
          <a:prstGeom prst="rect">
            <a:avLst/>
          </a:prstGeom>
          <a:noFill/>
        </p:spPr>
        <p:txBody>
          <a:bodyPr wrap="square" lIns="0" tIns="0" rIns="0" bIns="0" rtlCol="0">
            <a:noAutofit/>
          </a:bodyPr>
          <a:lstStyle>
            <a:defPPr>
              <a:defRPr lang="en-US"/>
            </a:defPPr>
            <a:lvl1pPr algn="just">
              <a:defRPr sz="1400" b="1">
                <a:solidFill>
                  <a:schemeClr val="accent4">
                    <a:lumMod val="75000"/>
                  </a:schemeClr>
                </a:solidFill>
                <a:latin typeface="Arial" panose="020B0604020202020204" pitchFamily="34" charset="0"/>
                <a:cs typeface="Arial" panose="020B0604020202020204" pitchFamily="34" charset="0"/>
              </a:defRPr>
            </a:lvl1pPr>
          </a:lstStyle>
          <a:p>
            <a:r>
              <a:rPr lang="en-US" noProof="0"/>
              <a:t>Grounding the baseline through Stakeholder interviews, demand &amp; portfolio mapping, and demand &amp; reporting mapping before lifecycle design</a:t>
            </a:r>
          </a:p>
        </p:txBody>
      </p:sp>
      <p:sp>
        <p:nvSpPr>
          <p:cNvPr id="68" name="Rectangle 67">
            <a:extLst>
              <a:ext uri="{FF2B5EF4-FFF2-40B4-BE49-F238E27FC236}">
                <a16:creationId xmlns:a16="http://schemas.microsoft.com/office/drawing/2014/main" id="{F2DFEEA4-3B91-CAF7-5DF8-178CCA748B49}"/>
              </a:ext>
            </a:extLst>
          </p:cNvPr>
          <p:cNvSpPr/>
          <p:nvPr/>
        </p:nvSpPr>
        <p:spPr>
          <a:xfrm>
            <a:off x="2770632" y="1513601"/>
            <a:ext cx="2240280" cy="11430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69" name="Rectangle 68">
            <a:extLst>
              <a:ext uri="{FF2B5EF4-FFF2-40B4-BE49-F238E27FC236}">
                <a16:creationId xmlns:a16="http://schemas.microsoft.com/office/drawing/2014/main" id="{F7079041-4309-7AB3-E150-0884236B168A}"/>
              </a:ext>
            </a:extLst>
          </p:cNvPr>
          <p:cNvSpPr/>
          <p:nvPr/>
        </p:nvSpPr>
        <p:spPr>
          <a:xfrm>
            <a:off x="5084064" y="1513601"/>
            <a:ext cx="2240280" cy="11430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70" name="Rectangle 69">
            <a:extLst>
              <a:ext uri="{FF2B5EF4-FFF2-40B4-BE49-F238E27FC236}">
                <a16:creationId xmlns:a16="http://schemas.microsoft.com/office/drawing/2014/main" id="{ECFE0C02-BB32-CF03-627D-06B1006A228A}"/>
              </a:ext>
            </a:extLst>
          </p:cNvPr>
          <p:cNvSpPr/>
          <p:nvPr/>
        </p:nvSpPr>
        <p:spPr>
          <a:xfrm>
            <a:off x="7397496" y="1513601"/>
            <a:ext cx="2240280" cy="11430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71" name="Rectangle 70">
            <a:extLst>
              <a:ext uri="{FF2B5EF4-FFF2-40B4-BE49-F238E27FC236}">
                <a16:creationId xmlns:a16="http://schemas.microsoft.com/office/drawing/2014/main" id="{C2ED932F-D815-1BF5-7826-016B9AC40D9B}"/>
              </a:ext>
            </a:extLst>
          </p:cNvPr>
          <p:cNvSpPr/>
          <p:nvPr/>
        </p:nvSpPr>
        <p:spPr>
          <a:xfrm>
            <a:off x="9710928" y="1513601"/>
            <a:ext cx="2240280" cy="11430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72" name="Rectangle 71">
            <a:extLst>
              <a:ext uri="{FF2B5EF4-FFF2-40B4-BE49-F238E27FC236}">
                <a16:creationId xmlns:a16="http://schemas.microsoft.com/office/drawing/2014/main" id="{F8B45FBF-2C0E-A439-0DE4-D60D250D4A9D}"/>
              </a:ext>
            </a:extLst>
          </p:cNvPr>
          <p:cNvSpPr/>
          <p:nvPr/>
        </p:nvSpPr>
        <p:spPr>
          <a:xfrm>
            <a:off x="457200" y="1143000"/>
            <a:ext cx="11274552" cy="1371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73" name="Rectangle 72">
            <a:extLst>
              <a:ext uri="{FF2B5EF4-FFF2-40B4-BE49-F238E27FC236}">
                <a16:creationId xmlns:a16="http://schemas.microsoft.com/office/drawing/2014/main" id="{D7B7BB8F-42F0-F376-2ED3-0F2D64DF32E8}"/>
              </a:ext>
            </a:extLst>
          </p:cNvPr>
          <p:cNvSpPr/>
          <p:nvPr/>
        </p:nvSpPr>
        <p:spPr>
          <a:xfrm>
            <a:off x="457200" y="1513601"/>
            <a:ext cx="2240280" cy="1143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74" name="TextBox 73">
            <a:extLst>
              <a:ext uri="{FF2B5EF4-FFF2-40B4-BE49-F238E27FC236}">
                <a16:creationId xmlns:a16="http://schemas.microsoft.com/office/drawing/2014/main" id="{7010D061-BA10-6226-FF8E-3A053473C12A}"/>
              </a:ext>
            </a:extLst>
          </p:cNvPr>
          <p:cNvSpPr txBox="1"/>
          <p:nvPr/>
        </p:nvSpPr>
        <p:spPr>
          <a:xfrm>
            <a:off x="594360" y="1605041"/>
            <a:ext cx="1965960" cy="156133"/>
          </a:xfrm>
          <a:prstGeom prst="rect">
            <a:avLst/>
          </a:prstGeom>
          <a:noFill/>
        </p:spPr>
        <p:txBody>
          <a:bodyPr wrap="square" lIns="0" tIns="0" rIns="0" bIns="0" anchor="t">
            <a:spAutoFit/>
          </a:bodyPr>
          <a:lstStyle/>
          <a:p>
            <a:pPr algn="l">
              <a:lnSpc>
                <a:spcPct val="110000"/>
              </a:lnSpc>
              <a:spcBef>
                <a:spcPts val="0"/>
              </a:spcBef>
              <a:spcAft>
                <a:spcPts val="0"/>
              </a:spcAft>
            </a:pPr>
            <a:r>
              <a:rPr lang="en-US" sz="1000" b="1" i="0" noProof="0">
                <a:solidFill>
                  <a:schemeClr val="bg1"/>
                </a:solidFill>
                <a:latin typeface="Arial" panose="020B0604020202020204" pitchFamily="34" charset="0"/>
                <a:cs typeface="Arial" panose="020B0604020202020204" pitchFamily="34" charset="0"/>
              </a:rPr>
              <a:t>Step 01</a:t>
            </a:r>
          </a:p>
        </p:txBody>
      </p:sp>
      <p:sp>
        <p:nvSpPr>
          <p:cNvPr id="75" name="TextBox 74">
            <a:extLst>
              <a:ext uri="{FF2B5EF4-FFF2-40B4-BE49-F238E27FC236}">
                <a16:creationId xmlns:a16="http://schemas.microsoft.com/office/drawing/2014/main" id="{D522B3C0-EC1B-1310-E85C-E2441E56E5FA}"/>
              </a:ext>
            </a:extLst>
          </p:cNvPr>
          <p:cNvSpPr txBox="1"/>
          <p:nvPr/>
        </p:nvSpPr>
        <p:spPr>
          <a:xfrm>
            <a:off x="594360" y="1784110"/>
            <a:ext cx="1965960" cy="187424"/>
          </a:xfrm>
          <a:prstGeom prst="rect">
            <a:avLst/>
          </a:prstGeom>
          <a:noFill/>
        </p:spPr>
        <p:txBody>
          <a:bodyPr wrap="square" lIns="0" tIns="0" rIns="0" bIns="0" anchor="t">
            <a:spAutoFit/>
          </a:bodyPr>
          <a:lstStyle/>
          <a:p>
            <a:pPr algn="l">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Enablement</a:t>
            </a:r>
          </a:p>
        </p:txBody>
      </p:sp>
      <p:sp>
        <p:nvSpPr>
          <p:cNvPr id="76" name="TextBox 75">
            <a:extLst>
              <a:ext uri="{FF2B5EF4-FFF2-40B4-BE49-F238E27FC236}">
                <a16:creationId xmlns:a16="http://schemas.microsoft.com/office/drawing/2014/main" id="{F1696984-0870-5EB3-1B29-0F8A4143384E}"/>
              </a:ext>
            </a:extLst>
          </p:cNvPr>
          <p:cNvSpPr txBox="1"/>
          <p:nvPr/>
        </p:nvSpPr>
        <p:spPr>
          <a:xfrm>
            <a:off x="594360" y="2245120"/>
            <a:ext cx="1965960"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1" noProof="0">
                <a:solidFill>
                  <a:schemeClr val="bg1"/>
                </a:solidFill>
                <a:latin typeface="Arial" panose="020B0604020202020204" pitchFamily="34" charset="0"/>
                <a:cs typeface="Arial" panose="020B0604020202020204" pitchFamily="34" charset="0"/>
              </a:rPr>
              <a:t>Where are we starting from?</a:t>
            </a:r>
          </a:p>
        </p:txBody>
      </p:sp>
      <p:sp>
        <p:nvSpPr>
          <p:cNvPr id="77" name="Right Arrow 7">
            <a:extLst>
              <a:ext uri="{FF2B5EF4-FFF2-40B4-BE49-F238E27FC236}">
                <a16:creationId xmlns:a16="http://schemas.microsoft.com/office/drawing/2014/main" id="{47B9F203-85F2-BB5E-AEDC-8299529BFF94}"/>
              </a:ext>
            </a:extLst>
          </p:cNvPr>
          <p:cNvSpPr/>
          <p:nvPr/>
        </p:nvSpPr>
        <p:spPr>
          <a:xfrm>
            <a:off x="2621661" y="2000900"/>
            <a:ext cx="237744" cy="228600"/>
          </a:xfrm>
          <a:prstGeom prst="rightArrow">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noProof="0">
              <a:latin typeface="Arial" panose="020B0604020202020204" pitchFamily="34" charset="0"/>
              <a:cs typeface="Arial" panose="020B0604020202020204" pitchFamily="34" charset="0"/>
            </a:endParaRPr>
          </a:p>
        </p:txBody>
      </p:sp>
      <p:sp>
        <p:nvSpPr>
          <p:cNvPr id="78" name="TextBox 77">
            <a:extLst>
              <a:ext uri="{FF2B5EF4-FFF2-40B4-BE49-F238E27FC236}">
                <a16:creationId xmlns:a16="http://schemas.microsoft.com/office/drawing/2014/main" id="{EEF5C717-2D66-2C14-7D51-6977DF0D8702}"/>
              </a:ext>
            </a:extLst>
          </p:cNvPr>
          <p:cNvSpPr txBox="1"/>
          <p:nvPr/>
        </p:nvSpPr>
        <p:spPr>
          <a:xfrm>
            <a:off x="2907792" y="1605041"/>
            <a:ext cx="1965960" cy="156133"/>
          </a:xfrm>
          <a:prstGeom prst="rect">
            <a:avLst/>
          </a:prstGeom>
          <a:noFill/>
        </p:spPr>
        <p:txBody>
          <a:bodyPr wrap="square" lIns="0" tIns="0" rIns="0" bIns="0" anchor="t">
            <a:spAutoFit/>
          </a:bodyPr>
          <a:lstStyle/>
          <a:p>
            <a:pPr algn="l">
              <a:lnSpc>
                <a:spcPct val="110000"/>
              </a:lnSpc>
              <a:spcBef>
                <a:spcPts val="0"/>
              </a:spcBef>
              <a:spcAft>
                <a:spcPts val="0"/>
              </a:spcAft>
            </a:pPr>
            <a:r>
              <a:rPr lang="en-US" sz="1000" b="1" i="0" noProof="0">
                <a:solidFill>
                  <a:srgbClr val="95A5A6"/>
                </a:solidFill>
                <a:latin typeface="Arial" panose="020B0604020202020204" pitchFamily="34" charset="0"/>
                <a:cs typeface="Arial" panose="020B0604020202020204" pitchFamily="34" charset="0"/>
              </a:rPr>
              <a:t>Step 02</a:t>
            </a:r>
          </a:p>
        </p:txBody>
      </p:sp>
      <p:sp>
        <p:nvSpPr>
          <p:cNvPr id="79" name="TextBox 78">
            <a:extLst>
              <a:ext uri="{FF2B5EF4-FFF2-40B4-BE49-F238E27FC236}">
                <a16:creationId xmlns:a16="http://schemas.microsoft.com/office/drawing/2014/main" id="{9BC9C6D0-8F68-6670-B6DA-A4CD1A086990}"/>
              </a:ext>
            </a:extLst>
          </p:cNvPr>
          <p:cNvSpPr txBox="1"/>
          <p:nvPr/>
        </p:nvSpPr>
        <p:spPr>
          <a:xfrm>
            <a:off x="2907792" y="1784110"/>
            <a:ext cx="1965960" cy="187424"/>
          </a:xfrm>
          <a:prstGeom prst="rect">
            <a:avLst/>
          </a:prstGeom>
          <a:noFill/>
        </p:spPr>
        <p:txBody>
          <a:bodyPr wrap="square" lIns="0" tIns="0" rIns="0" bIns="0" anchor="t">
            <a:spAutoFit/>
          </a:bodyPr>
          <a:lstStyle/>
          <a:p>
            <a:pPr algn="l">
              <a:lnSpc>
                <a:spcPct val="110000"/>
              </a:lnSpc>
              <a:spcBef>
                <a:spcPts val="0"/>
              </a:spcBef>
              <a:spcAft>
                <a:spcPts val="0"/>
              </a:spcAft>
            </a:pPr>
            <a:r>
              <a:rPr lang="en-US" sz="1200" b="1" i="0" noProof="0">
                <a:solidFill>
                  <a:srgbClr val="2C3E50"/>
                </a:solidFill>
                <a:latin typeface="Arial" panose="020B0604020202020204" pitchFamily="34" charset="0"/>
                <a:cs typeface="Arial" panose="020B0604020202020204" pitchFamily="34" charset="0"/>
              </a:rPr>
              <a:t>Define Lifecycle</a:t>
            </a:r>
          </a:p>
        </p:txBody>
      </p:sp>
      <p:sp>
        <p:nvSpPr>
          <p:cNvPr id="80" name="TextBox 79">
            <a:extLst>
              <a:ext uri="{FF2B5EF4-FFF2-40B4-BE49-F238E27FC236}">
                <a16:creationId xmlns:a16="http://schemas.microsoft.com/office/drawing/2014/main" id="{977D4088-88A0-1D38-9387-CD145AAF7167}"/>
              </a:ext>
            </a:extLst>
          </p:cNvPr>
          <p:cNvSpPr txBox="1"/>
          <p:nvPr/>
        </p:nvSpPr>
        <p:spPr>
          <a:xfrm>
            <a:off x="2907792" y="2245120"/>
            <a:ext cx="1965960"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1" noProof="0">
                <a:solidFill>
                  <a:srgbClr val="95A5A6"/>
                </a:solidFill>
                <a:latin typeface="Arial" panose="020B0604020202020204" pitchFamily="34" charset="0"/>
                <a:cs typeface="Arial" panose="020B0604020202020204" pitchFamily="34" charset="0"/>
              </a:rPr>
              <a:t>How should we work?</a:t>
            </a:r>
          </a:p>
        </p:txBody>
      </p:sp>
      <p:sp>
        <p:nvSpPr>
          <p:cNvPr id="81" name="Right Arrow 12">
            <a:extLst>
              <a:ext uri="{FF2B5EF4-FFF2-40B4-BE49-F238E27FC236}">
                <a16:creationId xmlns:a16="http://schemas.microsoft.com/office/drawing/2014/main" id="{BFA1DBF3-0E7B-F3D4-7B12-C466D7CAE801}"/>
              </a:ext>
            </a:extLst>
          </p:cNvPr>
          <p:cNvSpPr/>
          <p:nvPr/>
        </p:nvSpPr>
        <p:spPr>
          <a:xfrm>
            <a:off x="4935093" y="2000900"/>
            <a:ext cx="237744" cy="228600"/>
          </a:xfrm>
          <a:prstGeom prst="rightArrow">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noProof="0">
              <a:latin typeface="Arial" panose="020B0604020202020204" pitchFamily="34" charset="0"/>
              <a:cs typeface="Arial" panose="020B0604020202020204" pitchFamily="34" charset="0"/>
            </a:endParaRPr>
          </a:p>
        </p:txBody>
      </p:sp>
      <p:sp>
        <p:nvSpPr>
          <p:cNvPr id="82" name="TextBox 81">
            <a:extLst>
              <a:ext uri="{FF2B5EF4-FFF2-40B4-BE49-F238E27FC236}">
                <a16:creationId xmlns:a16="http://schemas.microsoft.com/office/drawing/2014/main" id="{EC2CE458-6731-201E-A11C-9164750B9366}"/>
              </a:ext>
            </a:extLst>
          </p:cNvPr>
          <p:cNvSpPr txBox="1"/>
          <p:nvPr/>
        </p:nvSpPr>
        <p:spPr>
          <a:xfrm>
            <a:off x="5221224" y="1605041"/>
            <a:ext cx="1965960" cy="156133"/>
          </a:xfrm>
          <a:prstGeom prst="rect">
            <a:avLst/>
          </a:prstGeom>
          <a:noFill/>
        </p:spPr>
        <p:txBody>
          <a:bodyPr wrap="square" lIns="0" tIns="0" rIns="0" bIns="0" anchor="t">
            <a:spAutoFit/>
          </a:bodyPr>
          <a:lstStyle/>
          <a:p>
            <a:pPr algn="l">
              <a:lnSpc>
                <a:spcPct val="110000"/>
              </a:lnSpc>
              <a:spcBef>
                <a:spcPts val="0"/>
              </a:spcBef>
              <a:spcAft>
                <a:spcPts val="0"/>
              </a:spcAft>
            </a:pPr>
            <a:r>
              <a:rPr lang="en-US" sz="1000" b="1" i="0" noProof="0">
                <a:solidFill>
                  <a:srgbClr val="95A5A6"/>
                </a:solidFill>
                <a:latin typeface="Arial" panose="020B0604020202020204" pitchFamily="34" charset="0"/>
                <a:cs typeface="Arial" panose="020B0604020202020204" pitchFamily="34" charset="0"/>
              </a:rPr>
              <a:t>Step 03</a:t>
            </a:r>
          </a:p>
        </p:txBody>
      </p:sp>
      <p:sp>
        <p:nvSpPr>
          <p:cNvPr id="83" name="TextBox 82">
            <a:extLst>
              <a:ext uri="{FF2B5EF4-FFF2-40B4-BE49-F238E27FC236}">
                <a16:creationId xmlns:a16="http://schemas.microsoft.com/office/drawing/2014/main" id="{F6A90099-8A84-D8BE-781B-B8064334DD86}"/>
              </a:ext>
            </a:extLst>
          </p:cNvPr>
          <p:cNvSpPr txBox="1"/>
          <p:nvPr/>
        </p:nvSpPr>
        <p:spPr>
          <a:xfrm>
            <a:off x="5221224" y="1784110"/>
            <a:ext cx="1965960" cy="187424"/>
          </a:xfrm>
          <a:prstGeom prst="rect">
            <a:avLst/>
          </a:prstGeom>
          <a:noFill/>
        </p:spPr>
        <p:txBody>
          <a:bodyPr wrap="square" lIns="0" tIns="0" rIns="0" bIns="0" anchor="t">
            <a:spAutoFit/>
          </a:bodyPr>
          <a:lstStyle/>
          <a:p>
            <a:pPr algn="l">
              <a:lnSpc>
                <a:spcPct val="110000"/>
              </a:lnSpc>
              <a:spcBef>
                <a:spcPts val="0"/>
              </a:spcBef>
              <a:spcAft>
                <a:spcPts val="0"/>
              </a:spcAft>
            </a:pPr>
            <a:r>
              <a:rPr lang="en-US" sz="1200" b="1" i="0" noProof="0">
                <a:solidFill>
                  <a:srgbClr val="2C3E50"/>
                </a:solidFill>
                <a:latin typeface="Arial" panose="020B0604020202020204" pitchFamily="34" charset="0"/>
                <a:cs typeface="Arial" panose="020B0604020202020204" pitchFamily="34" charset="0"/>
              </a:rPr>
              <a:t>Design Tool Ecosystem</a:t>
            </a:r>
          </a:p>
        </p:txBody>
      </p:sp>
      <p:sp>
        <p:nvSpPr>
          <p:cNvPr id="84" name="TextBox 83">
            <a:extLst>
              <a:ext uri="{FF2B5EF4-FFF2-40B4-BE49-F238E27FC236}">
                <a16:creationId xmlns:a16="http://schemas.microsoft.com/office/drawing/2014/main" id="{34D41A8D-4C42-A9DD-26EE-3FCE5A6E0A03}"/>
              </a:ext>
            </a:extLst>
          </p:cNvPr>
          <p:cNvSpPr txBox="1"/>
          <p:nvPr/>
        </p:nvSpPr>
        <p:spPr>
          <a:xfrm>
            <a:off x="5221224" y="2245120"/>
            <a:ext cx="1965960"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1" noProof="0">
                <a:solidFill>
                  <a:srgbClr val="95A5A6"/>
                </a:solidFill>
                <a:latin typeface="Arial" panose="020B0604020202020204" pitchFamily="34" charset="0"/>
                <a:cs typeface="Arial" panose="020B0604020202020204" pitchFamily="34" charset="0"/>
              </a:rPr>
              <a:t>What supports the process?</a:t>
            </a:r>
          </a:p>
        </p:txBody>
      </p:sp>
      <p:sp>
        <p:nvSpPr>
          <p:cNvPr id="85" name="Right Arrow 17">
            <a:extLst>
              <a:ext uri="{FF2B5EF4-FFF2-40B4-BE49-F238E27FC236}">
                <a16:creationId xmlns:a16="http://schemas.microsoft.com/office/drawing/2014/main" id="{AA7890C0-0FD2-20EE-A43F-EB1F880595BD}"/>
              </a:ext>
            </a:extLst>
          </p:cNvPr>
          <p:cNvSpPr/>
          <p:nvPr/>
        </p:nvSpPr>
        <p:spPr>
          <a:xfrm>
            <a:off x="7248525" y="2000900"/>
            <a:ext cx="237744" cy="228600"/>
          </a:xfrm>
          <a:prstGeom prst="rightArrow">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noProof="0">
              <a:latin typeface="Arial" panose="020B0604020202020204" pitchFamily="34" charset="0"/>
              <a:cs typeface="Arial" panose="020B0604020202020204" pitchFamily="34" charset="0"/>
            </a:endParaRPr>
          </a:p>
        </p:txBody>
      </p:sp>
      <p:sp>
        <p:nvSpPr>
          <p:cNvPr id="86" name="TextBox 85">
            <a:extLst>
              <a:ext uri="{FF2B5EF4-FFF2-40B4-BE49-F238E27FC236}">
                <a16:creationId xmlns:a16="http://schemas.microsoft.com/office/drawing/2014/main" id="{FE098781-32AA-4107-72E8-F8462EF6AEF3}"/>
              </a:ext>
            </a:extLst>
          </p:cNvPr>
          <p:cNvSpPr txBox="1"/>
          <p:nvPr/>
        </p:nvSpPr>
        <p:spPr>
          <a:xfrm>
            <a:off x="7534656" y="1605041"/>
            <a:ext cx="1965960" cy="156133"/>
          </a:xfrm>
          <a:prstGeom prst="rect">
            <a:avLst/>
          </a:prstGeom>
          <a:noFill/>
        </p:spPr>
        <p:txBody>
          <a:bodyPr wrap="square" lIns="0" tIns="0" rIns="0" bIns="0" anchor="t">
            <a:spAutoFit/>
          </a:bodyPr>
          <a:lstStyle/>
          <a:p>
            <a:pPr algn="l">
              <a:lnSpc>
                <a:spcPct val="110000"/>
              </a:lnSpc>
              <a:spcBef>
                <a:spcPts val="0"/>
              </a:spcBef>
              <a:spcAft>
                <a:spcPts val="0"/>
              </a:spcAft>
            </a:pPr>
            <a:r>
              <a:rPr lang="en-US" sz="1000" b="1" i="0" noProof="0">
                <a:solidFill>
                  <a:srgbClr val="95A5A6"/>
                </a:solidFill>
                <a:latin typeface="Arial" panose="020B0604020202020204" pitchFamily="34" charset="0"/>
                <a:cs typeface="Arial" panose="020B0604020202020204" pitchFamily="34" charset="0"/>
              </a:rPr>
              <a:t>Step 04</a:t>
            </a:r>
          </a:p>
        </p:txBody>
      </p:sp>
      <p:sp>
        <p:nvSpPr>
          <p:cNvPr id="87" name="TextBox 86">
            <a:extLst>
              <a:ext uri="{FF2B5EF4-FFF2-40B4-BE49-F238E27FC236}">
                <a16:creationId xmlns:a16="http://schemas.microsoft.com/office/drawing/2014/main" id="{BA108A81-3AD1-39A0-90A1-296516E2C964}"/>
              </a:ext>
            </a:extLst>
          </p:cNvPr>
          <p:cNvSpPr txBox="1"/>
          <p:nvPr/>
        </p:nvSpPr>
        <p:spPr>
          <a:xfrm>
            <a:off x="7534656" y="1784110"/>
            <a:ext cx="1965960" cy="187424"/>
          </a:xfrm>
          <a:prstGeom prst="rect">
            <a:avLst/>
          </a:prstGeom>
          <a:noFill/>
        </p:spPr>
        <p:txBody>
          <a:bodyPr wrap="square" lIns="0" tIns="0" rIns="0" bIns="0" anchor="t">
            <a:spAutoFit/>
          </a:bodyPr>
          <a:lstStyle/>
          <a:p>
            <a:pPr algn="l">
              <a:lnSpc>
                <a:spcPct val="110000"/>
              </a:lnSpc>
              <a:spcBef>
                <a:spcPts val="0"/>
              </a:spcBef>
              <a:spcAft>
                <a:spcPts val="0"/>
              </a:spcAft>
            </a:pPr>
            <a:r>
              <a:rPr lang="en-US" sz="1200" b="1" i="0" noProof="0">
                <a:solidFill>
                  <a:srgbClr val="2C3E50"/>
                </a:solidFill>
                <a:latin typeface="Arial" panose="020B0604020202020204" pitchFamily="34" charset="0"/>
                <a:cs typeface="Arial" panose="020B0604020202020204" pitchFamily="34" charset="0"/>
              </a:rPr>
              <a:t>Pilot Execution (BRS)</a:t>
            </a:r>
          </a:p>
        </p:txBody>
      </p:sp>
      <p:sp>
        <p:nvSpPr>
          <p:cNvPr id="88" name="TextBox 87">
            <a:extLst>
              <a:ext uri="{FF2B5EF4-FFF2-40B4-BE49-F238E27FC236}">
                <a16:creationId xmlns:a16="http://schemas.microsoft.com/office/drawing/2014/main" id="{793B6C56-86F4-9F2D-3663-572E711BF8C3}"/>
              </a:ext>
            </a:extLst>
          </p:cNvPr>
          <p:cNvSpPr txBox="1"/>
          <p:nvPr/>
        </p:nvSpPr>
        <p:spPr>
          <a:xfrm>
            <a:off x="7534656" y="2245120"/>
            <a:ext cx="1965960"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1" noProof="0">
                <a:solidFill>
                  <a:srgbClr val="95A5A6"/>
                </a:solidFill>
                <a:latin typeface="Arial" panose="020B0604020202020204" pitchFamily="34" charset="0"/>
                <a:cs typeface="Arial" panose="020B0604020202020204" pitchFamily="34" charset="0"/>
              </a:rPr>
              <a:t>Does it work in reality?</a:t>
            </a:r>
          </a:p>
        </p:txBody>
      </p:sp>
      <p:sp>
        <p:nvSpPr>
          <p:cNvPr id="89" name="Right Arrow 22">
            <a:extLst>
              <a:ext uri="{FF2B5EF4-FFF2-40B4-BE49-F238E27FC236}">
                <a16:creationId xmlns:a16="http://schemas.microsoft.com/office/drawing/2014/main" id="{2DDD8581-9F76-AE52-5781-FE2C0B4839FD}"/>
              </a:ext>
            </a:extLst>
          </p:cNvPr>
          <p:cNvSpPr/>
          <p:nvPr/>
        </p:nvSpPr>
        <p:spPr>
          <a:xfrm>
            <a:off x="9561957" y="2000900"/>
            <a:ext cx="237744" cy="228600"/>
          </a:xfrm>
          <a:prstGeom prst="rightArrow">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noProof="0">
              <a:latin typeface="Arial" panose="020B0604020202020204" pitchFamily="34" charset="0"/>
              <a:cs typeface="Arial" panose="020B0604020202020204" pitchFamily="34" charset="0"/>
            </a:endParaRPr>
          </a:p>
        </p:txBody>
      </p:sp>
      <p:sp>
        <p:nvSpPr>
          <p:cNvPr id="90" name="TextBox 89">
            <a:extLst>
              <a:ext uri="{FF2B5EF4-FFF2-40B4-BE49-F238E27FC236}">
                <a16:creationId xmlns:a16="http://schemas.microsoft.com/office/drawing/2014/main" id="{CF97E9AE-B2B2-6110-C08C-7BD0FB4203B0}"/>
              </a:ext>
            </a:extLst>
          </p:cNvPr>
          <p:cNvSpPr txBox="1"/>
          <p:nvPr/>
        </p:nvSpPr>
        <p:spPr>
          <a:xfrm>
            <a:off x="9848088" y="1605041"/>
            <a:ext cx="1965960" cy="156133"/>
          </a:xfrm>
          <a:prstGeom prst="rect">
            <a:avLst/>
          </a:prstGeom>
          <a:noFill/>
        </p:spPr>
        <p:txBody>
          <a:bodyPr wrap="square" lIns="0" tIns="0" rIns="0" bIns="0" anchor="t">
            <a:spAutoFit/>
          </a:bodyPr>
          <a:lstStyle/>
          <a:p>
            <a:pPr algn="l">
              <a:lnSpc>
                <a:spcPct val="110000"/>
              </a:lnSpc>
              <a:spcBef>
                <a:spcPts val="0"/>
              </a:spcBef>
              <a:spcAft>
                <a:spcPts val="0"/>
              </a:spcAft>
            </a:pPr>
            <a:r>
              <a:rPr lang="en-US" sz="1000" b="1" i="0" noProof="0">
                <a:solidFill>
                  <a:srgbClr val="95A5A6"/>
                </a:solidFill>
                <a:latin typeface="Arial" panose="020B0604020202020204" pitchFamily="34" charset="0"/>
                <a:cs typeface="Arial" panose="020B0604020202020204" pitchFamily="34" charset="0"/>
              </a:rPr>
              <a:t>Step 05</a:t>
            </a:r>
          </a:p>
        </p:txBody>
      </p:sp>
      <p:sp>
        <p:nvSpPr>
          <p:cNvPr id="91" name="TextBox 90">
            <a:extLst>
              <a:ext uri="{FF2B5EF4-FFF2-40B4-BE49-F238E27FC236}">
                <a16:creationId xmlns:a16="http://schemas.microsoft.com/office/drawing/2014/main" id="{6382B055-3AE1-6CDA-64F4-99B901A3B21A}"/>
              </a:ext>
            </a:extLst>
          </p:cNvPr>
          <p:cNvSpPr txBox="1"/>
          <p:nvPr/>
        </p:nvSpPr>
        <p:spPr>
          <a:xfrm>
            <a:off x="9848088" y="1784110"/>
            <a:ext cx="1965960" cy="187424"/>
          </a:xfrm>
          <a:prstGeom prst="rect">
            <a:avLst/>
          </a:prstGeom>
          <a:noFill/>
        </p:spPr>
        <p:txBody>
          <a:bodyPr wrap="square" lIns="0" tIns="0" rIns="0" bIns="0" anchor="t">
            <a:spAutoFit/>
          </a:bodyPr>
          <a:lstStyle/>
          <a:p>
            <a:pPr algn="l">
              <a:lnSpc>
                <a:spcPct val="110000"/>
              </a:lnSpc>
              <a:spcBef>
                <a:spcPts val="0"/>
              </a:spcBef>
              <a:spcAft>
                <a:spcPts val="0"/>
              </a:spcAft>
            </a:pPr>
            <a:r>
              <a:rPr lang="en-US" sz="1200" b="1" i="0" noProof="0">
                <a:solidFill>
                  <a:srgbClr val="2C3E50"/>
                </a:solidFill>
                <a:latin typeface="Arial" panose="020B0604020202020204" pitchFamily="34" charset="0"/>
                <a:cs typeface="Arial" panose="020B0604020202020204" pitchFamily="34" charset="0"/>
              </a:rPr>
              <a:t>Learn &amp; Adjust</a:t>
            </a:r>
          </a:p>
        </p:txBody>
      </p:sp>
      <p:sp>
        <p:nvSpPr>
          <p:cNvPr id="92" name="TextBox 91">
            <a:extLst>
              <a:ext uri="{FF2B5EF4-FFF2-40B4-BE49-F238E27FC236}">
                <a16:creationId xmlns:a16="http://schemas.microsoft.com/office/drawing/2014/main" id="{CAC935C6-498F-C33A-EF44-3BDB7A3043BB}"/>
              </a:ext>
            </a:extLst>
          </p:cNvPr>
          <p:cNvSpPr txBox="1"/>
          <p:nvPr/>
        </p:nvSpPr>
        <p:spPr>
          <a:xfrm>
            <a:off x="9848088" y="2245120"/>
            <a:ext cx="1965960"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1" noProof="0">
                <a:solidFill>
                  <a:srgbClr val="95A5A6"/>
                </a:solidFill>
                <a:latin typeface="Arial" panose="020B0604020202020204" pitchFamily="34" charset="0"/>
                <a:cs typeface="Arial" panose="020B0604020202020204" pitchFamily="34" charset="0"/>
              </a:rPr>
              <a:t>What needs refinement?</a:t>
            </a:r>
          </a:p>
        </p:txBody>
      </p:sp>
      <p:sp>
        <p:nvSpPr>
          <p:cNvPr id="93" name="Rectangle 92">
            <a:extLst>
              <a:ext uri="{FF2B5EF4-FFF2-40B4-BE49-F238E27FC236}">
                <a16:creationId xmlns:a16="http://schemas.microsoft.com/office/drawing/2014/main" id="{979FA030-A4DC-509B-331C-17698492FCE1}"/>
              </a:ext>
            </a:extLst>
          </p:cNvPr>
          <p:cNvSpPr/>
          <p:nvPr/>
        </p:nvSpPr>
        <p:spPr>
          <a:xfrm>
            <a:off x="457200" y="2744993"/>
            <a:ext cx="11509248" cy="347472"/>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94" name="TextBox 93">
            <a:extLst>
              <a:ext uri="{FF2B5EF4-FFF2-40B4-BE49-F238E27FC236}">
                <a16:creationId xmlns:a16="http://schemas.microsoft.com/office/drawing/2014/main" id="{21BEA7C6-F3B4-F5FF-2585-EDBF4677432C}"/>
              </a:ext>
            </a:extLst>
          </p:cNvPr>
          <p:cNvSpPr txBox="1"/>
          <p:nvPr/>
        </p:nvSpPr>
        <p:spPr>
          <a:xfrm>
            <a:off x="457200" y="2825017"/>
            <a:ext cx="11274552" cy="187424"/>
          </a:xfrm>
          <a:prstGeom prst="rect">
            <a:avLst/>
          </a:prstGeom>
          <a:no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STEP 1  —  ENABLEMENT  ·  ZOOM IN</a:t>
            </a:r>
          </a:p>
        </p:txBody>
      </p:sp>
      <p:sp>
        <p:nvSpPr>
          <p:cNvPr id="95" name="TextBox 94">
            <a:extLst>
              <a:ext uri="{FF2B5EF4-FFF2-40B4-BE49-F238E27FC236}">
                <a16:creationId xmlns:a16="http://schemas.microsoft.com/office/drawing/2014/main" id="{8DAA5A37-CCC5-AB87-CFD2-48DE1828F30D}"/>
              </a:ext>
            </a:extLst>
          </p:cNvPr>
          <p:cNvSpPr txBox="1"/>
          <p:nvPr/>
        </p:nvSpPr>
        <p:spPr>
          <a:xfrm>
            <a:off x="457200" y="3220481"/>
            <a:ext cx="6858000" cy="156133"/>
          </a:xfrm>
          <a:prstGeom prst="rect">
            <a:avLst/>
          </a:prstGeom>
          <a:noFill/>
        </p:spPr>
        <p:txBody>
          <a:bodyPr wrap="square" lIns="0" tIns="0" rIns="0" bIns="0" anchor="t">
            <a:spAutoFit/>
          </a:bodyPr>
          <a:lstStyle/>
          <a:p>
            <a:pPr algn="l">
              <a:lnSpc>
                <a:spcPct val="110000"/>
              </a:lnSpc>
              <a:spcBef>
                <a:spcPts val="0"/>
              </a:spcBef>
              <a:spcAft>
                <a:spcPts val="0"/>
              </a:spcAft>
            </a:pPr>
            <a:r>
              <a:rPr lang="en-US" sz="1000" b="1" i="0" noProof="0">
                <a:solidFill>
                  <a:srgbClr val="0B76A0"/>
                </a:solidFill>
                <a:latin typeface="Arial" panose="020B0604020202020204" pitchFamily="34" charset="0"/>
                <a:cs typeface="Arial" panose="020B0604020202020204" pitchFamily="34" charset="0"/>
              </a:rPr>
              <a:t>WHAT WE DID</a:t>
            </a:r>
          </a:p>
        </p:txBody>
      </p:sp>
      <p:sp>
        <p:nvSpPr>
          <p:cNvPr id="96" name="Rectangle 95">
            <a:extLst>
              <a:ext uri="{FF2B5EF4-FFF2-40B4-BE49-F238E27FC236}">
                <a16:creationId xmlns:a16="http://schemas.microsoft.com/office/drawing/2014/main" id="{D3981AA5-DDEE-F9C0-4B98-2A403926EB53}"/>
              </a:ext>
            </a:extLst>
          </p:cNvPr>
          <p:cNvSpPr/>
          <p:nvPr/>
        </p:nvSpPr>
        <p:spPr>
          <a:xfrm>
            <a:off x="457200" y="3513089"/>
            <a:ext cx="73152" cy="71323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97" name="TextBox 96">
            <a:extLst>
              <a:ext uri="{FF2B5EF4-FFF2-40B4-BE49-F238E27FC236}">
                <a16:creationId xmlns:a16="http://schemas.microsoft.com/office/drawing/2014/main" id="{43A885BE-14D8-7794-0F2E-E8C14D31420F}"/>
              </a:ext>
            </a:extLst>
          </p:cNvPr>
          <p:cNvSpPr txBox="1"/>
          <p:nvPr/>
        </p:nvSpPr>
        <p:spPr>
          <a:xfrm>
            <a:off x="640080" y="3513089"/>
            <a:ext cx="6492240"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rgbClr val="0B76A0"/>
                </a:solidFill>
                <a:latin typeface="Arial" panose="020B0604020202020204" pitchFamily="34" charset="0"/>
                <a:cs typeface="Arial" panose="020B0604020202020204" pitchFamily="34" charset="0"/>
              </a:rPr>
              <a:t>Prior Materials Review</a:t>
            </a:r>
          </a:p>
        </p:txBody>
      </p:sp>
      <p:sp>
        <p:nvSpPr>
          <p:cNvPr id="98" name="TextBox 97">
            <a:extLst>
              <a:ext uri="{FF2B5EF4-FFF2-40B4-BE49-F238E27FC236}">
                <a16:creationId xmlns:a16="http://schemas.microsoft.com/office/drawing/2014/main" id="{204A045C-F078-2222-523C-A088F4218D7F}"/>
              </a:ext>
            </a:extLst>
          </p:cNvPr>
          <p:cNvSpPr txBox="1"/>
          <p:nvPr/>
        </p:nvSpPr>
        <p:spPr>
          <a:xfrm>
            <a:off x="640080" y="3750833"/>
            <a:ext cx="6492240" cy="324384"/>
          </a:xfrm>
          <a:prstGeom prst="rect">
            <a:avLst/>
          </a:prstGeom>
          <a:noFill/>
        </p:spPr>
        <p:txBody>
          <a:bodyPr wrap="square" lIns="0" tIns="0" rIns="0" bIns="0" anchor="t">
            <a:spAutoFit/>
          </a:bodyPr>
          <a:lstStyle/>
          <a:p>
            <a:pPr algn="l">
              <a:lnSpc>
                <a:spcPct val="110000"/>
              </a:lnSpc>
              <a:spcBef>
                <a:spcPts val="0"/>
              </a:spcBef>
              <a:spcAft>
                <a:spcPts val="0"/>
              </a:spcAft>
            </a:pPr>
            <a:r>
              <a:rPr lang="en-US" sz="1000" b="0" i="0" noProof="0">
                <a:solidFill>
                  <a:srgbClr val="2C3E50"/>
                </a:solidFill>
                <a:latin typeface="Arial" panose="020B0604020202020204" pitchFamily="34" charset="0"/>
                <a:cs typeface="Arial" panose="020B0604020202020204" pitchFamily="34" charset="0"/>
              </a:rPr>
              <a:t>Reviewed 40+ prior artifacts: IT CS Operating Model, P&amp;S Playbook, DTO NextGen, Org Chart, Competency Framework.</a:t>
            </a:r>
          </a:p>
        </p:txBody>
      </p:sp>
      <p:sp>
        <p:nvSpPr>
          <p:cNvPr id="99" name="Rectangle 98">
            <a:extLst>
              <a:ext uri="{FF2B5EF4-FFF2-40B4-BE49-F238E27FC236}">
                <a16:creationId xmlns:a16="http://schemas.microsoft.com/office/drawing/2014/main" id="{60DE9C39-2A15-AB72-DFB8-B41804565A5B}"/>
              </a:ext>
            </a:extLst>
          </p:cNvPr>
          <p:cNvSpPr/>
          <p:nvPr/>
        </p:nvSpPr>
        <p:spPr>
          <a:xfrm>
            <a:off x="457200" y="4290329"/>
            <a:ext cx="73152" cy="71323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00" name="TextBox 99">
            <a:extLst>
              <a:ext uri="{FF2B5EF4-FFF2-40B4-BE49-F238E27FC236}">
                <a16:creationId xmlns:a16="http://schemas.microsoft.com/office/drawing/2014/main" id="{96CA6CB0-043F-E560-F0DC-100521F58760}"/>
              </a:ext>
            </a:extLst>
          </p:cNvPr>
          <p:cNvSpPr txBox="1"/>
          <p:nvPr/>
        </p:nvSpPr>
        <p:spPr>
          <a:xfrm>
            <a:off x="640080" y="4290329"/>
            <a:ext cx="6492240"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rgbClr val="0B76A0"/>
                </a:solidFill>
                <a:latin typeface="Arial" panose="020B0604020202020204" pitchFamily="34" charset="0"/>
                <a:cs typeface="Arial" panose="020B0604020202020204" pitchFamily="34" charset="0"/>
              </a:rPr>
              <a:t>Stakeholder Interviews</a:t>
            </a:r>
          </a:p>
        </p:txBody>
      </p:sp>
      <p:sp>
        <p:nvSpPr>
          <p:cNvPr id="101" name="TextBox 100">
            <a:extLst>
              <a:ext uri="{FF2B5EF4-FFF2-40B4-BE49-F238E27FC236}">
                <a16:creationId xmlns:a16="http://schemas.microsoft.com/office/drawing/2014/main" id="{3387EB32-73FE-57B3-8F1C-7526DB18031C}"/>
              </a:ext>
            </a:extLst>
          </p:cNvPr>
          <p:cNvSpPr txBox="1"/>
          <p:nvPr/>
        </p:nvSpPr>
        <p:spPr>
          <a:xfrm>
            <a:off x="640080" y="4528073"/>
            <a:ext cx="6492240" cy="493661"/>
          </a:xfrm>
          <a:prstGeom prst="rect">
            <a:avLst/>
          </a:prstGeom>
          <a:noFill/>
        </p:spPr>
        <p:txBody>
          <a:bodyPr wrap="square" lIns="0" tIns="0" rIns="0" bIns="0" anchor="t">
            <a:spAutoFit/>
          </a:bodyPr>
          <a:lstStyle/>
          <a:p>
            <a:pPr algn="l">
              <a:lnSpc>
                <a:spcPct val="110000"/>
              </a:lnSpc>
              <a:spcBef>
                <a:spcPts val="0"/>
              </a:spcBef>
              <a:spcAft>
                <a:spcPts val="0"/>
              </a:spcAft>
            </a:pPr>
            <a:r>
              <a:rPr lang="en-US" sz="1000" noProof="0">
                <a:solidFill>
                  <a:srgbClr val="2C3E50"/>
                </a:solidFill>
                <a:latin typeface="Arial" panose="020B0604020202020204" pitchFamily="34" charset="0"/>
                <a:cs typeface="Arial" panose="020B0604020202020204" pitchFamily="34" charset="0"/>
              </a:rPr>
              <a:t>C</a:t>
            </a:r>
            <a:r>
              <a:rPr lang="en-US" sz="1000" b="0" i="0" noProof="0">
                <a:solidFill>
                  <a:srgbClr val="2C3E50"/>
                </a:solidFill>
                <a:latin typeface="Arial" panose="020B0604020202020204" pitchFamily="34" charset="0"/>
                <a:cs typeface="Arial" panose="020B0604020202020204" pitchFamily="34" charset="0"/>
              </a:rPr>
              <a:t>hampion interviews (GIS, Corporate, G&amp;E, Global SAP, Smart Metering (IT Business Applications) and SAP (Customer Services)) + </a:t>
            </a:r>
            <a:r>
              <a:rPr lang="en-US" sz="1000" noProof="0">
                <a:solidFill>
                  <a:srgbClr val="2C3E50"/>
                </a:solidFill>
                <a:latin typeface="Arial" panose="020B0604020202020204" pitchFamily="34" charset="0"/>
                <a:cs typeface="Arial" panose="020B0604020202020204" pitchFamily="34" charset="0"/>
              </a:rPr>
              <a:t>Senior Management </a:t>
            </a:r>
            <a:r>
              <a:rPr lang="en-US" sz="1000" b="0" i="0" noProof="0">
                <a:solidFill>
                  <a:srgbClr val="2C3E50"/>
                </a:solidFill>
                <a:latin typeface="Arial" panose="020B0604020202020204" pitchFamily="34" charset="0"/>
                <a:cs typeface="Arial" panose="020B0604020202020204" pitchFamily="34" charset="0"/>
              </a:rPr>
              <a:t>sessions (</a:t>
            </a:r>
            <a:r>
              <a:rPr lang="en-US" sz="1000" b="0" i="0" noProof="0" err="1">
                <a:solidFill>
                  <a:srgbClr val="2C3E50"/>
                </a:solidFill>
                <a:latin typeface="Arial" panose="020B0604020202020204" pitchFamily="34" charset="0"/>
                <a:cs typeface="Arial" panose="020B0604020202020204" pitchFamily="34" charset="0"/>
              </a:rPr>
              <a:t>Vtior</a:t>
            </a:r>
            <a:r>
              <a:rPr lang="en-US" sz="1000" b="0" i="0" noProof="0">
                <a:solidFill>
                  <a:srgbClr val="2C3E50"/>
                </a:solidFill>
                <a:latin typeface="Arial" panose="020B0604020202020204" pitchFamily="34" charset="0"/>
                <a:cs typeface="Arial" panose="020B0604020202020204" pitchFamily="34" charset="0"/>
              </a:rPr>
              <a:t>, Heather, Carlos &amp; Kumar). Captured intake channels, tools, roles, pain points and aspirations per team.</a:t>
            </a:r>
          </a:p>
        </p:txBody>
      </p:sp>
      <p:sp>
        <p:nvSpPr>
          <p:cNvPr id="102" name="Rectangle 101">
            <a:extLst>
              <a:ext uri="{FF2B5EF4-FFF2-40B4-BE49-F238E27FC236}">
                <a16:creationId xmlns:a16="http://schemas.microsoft.com/office/drawing/2014/main" id="{DA0FC179-EAD1-FC08-2611-94A6352B781C}"/>
              </a:ext>
            </a:extLst>
          </p:cNvPr>
          <p:cNvSpPr/>
          <p:nvPr/>
        </p:nvSpPr>
        <p:spPr>
          <a:xfrm>
            <a:off x="457200" y="5067569"/>
            <a:ext cx="73152" cy="71323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03" name="TextBox 102">
            <a:extLst>
              <a:ext uri="{FF2B5EF4-FFF2-40B4-BE49-F238E27FC236}">
                <a16:creationId xmlns:a16="http://schemas.microsoft.com/office/drawing/2014/main" id="{86F86687-4B71-F8D2-A684-ED8CA93A8336}"/>
              </a:ext>
            </a:extLst>
          </p:cNvPr>
          <p:cNvSpPr txBox="1"/>
          <p:nvPr/>
        </p:nvSpPr>
        <p:spPr>
          <a:xfrm>
            <a:off x="640080" y="5067569"/>
            <a:ext cx="6492240" cy="171778"/>
          </a:xfrm>
          <a:prstGeom prst="rect">
            <a:avLst/>
          </a:prstGeom>
          <a:noFill/>
        </p:spPr>
        <p:txBody>
          <a:bodyPr wrap="square" lIns="0" tIns="0" rIns="0" bIns="0" anchor="t">
            <a:spAutoFit/>
          </a:bodyPr>
          <a:lstStyle/>
          <a:p>
            <a:pPr>
              <a:lnSpc>
                <a:spcPct val="110000"/>
              </a:lnSpc>
            </a:pPr>
            <a:r>
              <a:rPr lang="en-US" sz="1100" b="1" noProof="0">
                <a:solidFill>
                  <a:srgbClr val="0B76A0"/>
                </a:solidFill>
                <a:latin typeface="Arial" panose="020B0604020202020204" pitchFamily="34" charset="0"/>
                <a:cs typeface="Arial" panose="020B0604020202020204" pitchFamily="34" charset="0"/>
              </a:rPr>
              <a:t>Demand &amp; Portfolio Interviews</a:t>
            </a:r>
            <a:endParaRPr lang="en-US" sz="1100" b="1" i="0" noProof="0">
              <a:solidFill>
                <a:srgbClr val="0B76A0"/>
              </a:solidFill>
              <a:latin typeface="Arial" panose="020B0604020202020204" pitchFamily="34" charset="0"/>
              <a:cs typeface="Arial" panose="020B0604020202020204" pitchFamily="34" charset="0"/>
            </a:endParaRPr>
          </a:p>
        </p:txBody>
      </p:sp>
      <p:sp>
        <p:nvSpPr>
          <p:cNvPr id="104" name="TextBox 103">
            <a:extLst>
              <a:ext uri="{FF2B5EF4-FFF2-40B4-BE49-F238E27FC236}">
                <a16:creationId xmlns:a16="http://schemas.microsoft.com/office/drawing/2014/main" id="{75C58383-D5A8-B4B0-311D-DE83EF176AA8}"/>
              </a:ext>
            </a:extLst>
          </p:cNvPr>
          <p:cNvSpPr txBox="1"/>
          <p:nvPr/>
        </p:nvSpPr>
        <p:spPr>
          <a:xfrm>
            <a:off x="640080" y="5305312"/>
            <a:ext cx="6492240" cy="325410"/>
          </a:xfrm>
          <a:prstGeom prst="rect">
            <a:avLst/>
          </a:prstGeom>
          <a:noFill/>
        </p:spPr>
        <p:txBody>
          <a:bodyPr wrap="square" lIns="0" tIns="0" rIns="0" bIns="0" anchor="t">
            <a:spAutoFit/>
          </a:bodyPr>
          <a:lstStyle/>
          <a:p>
            <a:pPr>
              <a:lnSpc>
                <a:spcPct val="110000"/>
              </a:lnSpc>
            </a:pPr>
            <a:r>
              <a:rPr lang="en-US" sz="1000" noProof="0">
                <a:solidFill>
                  <a:srgbClr val="2C3E50"/>
                </a:solidFill>
                <a:latin typeface="Arial"/>
                <a:cs typeface="Arial"/>
              </a:rPr>
              <a:t>Mapped demand typology per team across the 5 lifecycle stages — volume mix (incidents · small/medium · large projects), channel split, portfolio inventory </a:t>
            </a:r>
          </a:p>
        </p:txBody>
      </p:sp>
      <p:sp>
        <p:nvSpPr>
          <p:cNvPr id="105" name="TextBox 104">
            <a:extLst>
              <a:ext uri="{FF2B5EF4-FFF2-40B4-BE49-F238E27FC236}">
                <a16:creationId xmlns:a16="http://schemas.microsoft.com/office/drawing/2014/main" id="{6108A55C-7C5B-34FE-2185-DD5450F34D2F}"/>
              </a:ext>
            </a:extLst>
          </p:cNvPr>
          <p:cNvSpPr txBox="1"/>
          <p:nvPr/>
        </p:nvSpPr>
        <p:spPr>
          <a:xfrm>
            <a:off x="7772400" y="3220481"/>
            <a:ext cx="4114800" cy="156133"/>
          </a:xfrm>
          <a:prstGeom prst="rect">
            <a:avLst/>
          </a:prstGeom>
          <a:noFill/>
        </p:spPr>
        <p:txBody>
          <a:bodyPr wrap="square" lIns="0" tIns="0" rIns="0" bIns="0" anchor="t">
            <a:spAutoFit/>
          </a:bodyPr>
          <a:lstStyle/>
          <a:p>
            <a:pPr algn="l">
              <a:lnSpc>
                <a:spcPct val="110000"/>
              </a:lnSpc>
              <a:spcBef>
                <a:spcPts val="0"/>
              </a:spcBef>
              <a:spcAft>
                <a:spcPts val="0"/>
              </a:spcAft>
            </a:pPr>
            <a:r>
              <a:rPr lang="en-US" sz="1000" b="1" i="0" noProof="0">
                <a:solidFill>
                  <a:srgbClr val="00A443"/>
                </a:solidFill>
                <a:latin typeface="Arial" panose="020B0604020202020204" pitchFamily="34" charset="0"/>
                <a:cs typeface="Arial" panose="020B0604020202020204" pitchFamily="34" charset="0"/>
              </a:rPr>
              <a:t>DELIVERABLES OF STEP 1</a:t>
            </a:r>
          </a:p>
        </p:txBody>
      </p:sp>
      <p:sp>
        <p:nvSpPr>
          <p:cNvPr id="106" name="Rectangle 105">
            <a:extLst>
              <a:ext uri="{FF2B5EF4-FFF2-40B4-BE49-F238E27FC236}">
                <a16:creationId xmlns:a16="http://schemas.microsoft.com/office/drawing/2014/main" id="{CD28CEA3-4EEE-555A-2ADB-18E3CD596A37}"/>
              </a:ext>
            </a:extLst>
          </p:cNvPr>
          <p:cNvSpPr/>
          <p:nvPr/>
        </p:nvSpPr>
        <p:spPr>
          <a:xfrm>
            <a:off x="7772400" y="3522233"/>
            <a:ext cx="4194048" cy="822643"/>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07" name="Rectangle 106">
            <a:extLst>
              <a:ext uri="{FF2B5EF4-FFF2-40B4-BE49-F238E27FC236}">
                <a16:creationId xmlns:a16="http://schemas.microsoft.com/office/drawing/2014/main" id="{2A7D7554-02CA-2790-209C-EDAC8AC94D30}"/>
              </a:ext>
            </a:extLst>
          </p:cNvPr>
          <p:cNvSpPr/>
          <p:nvPr/>
        </p:nvSpPr>
        <p:spPr>
          <a:xfrm>
            <a:off x="7772400" y="3522232"/>
            <a:ext cx="73152" cy="822643"/>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08" name="TextBox 107">
            <a:extLst>
              <a:ext uri="{FF2B5EF4-FFF2-40B4-BE49-F238E27FC236}">
                <a16:creationId xmlns:a16="http://schemas.microsoft.com/office/drawing/2014/main" id="{B5CE39DE-8F3E-7128-20A3-6F91EC7CE8F8}"/>
              </a:ext>
            </a:extLst>
          </p:cNvPr>
          <p:cNvSpPr txBox="1"/>
          <p:nvPr/>
        </p:nvSpPr>
        <p:spPr>
          <a:xfrm>
            <a:off x="8001000" y="3596312"/>
            <a:ext cx="3657600" cy="507831"/>
          </a:xfrm>
          <a:prstGeom prst="rect">
            <a:avLst/>
          </a:prstGeom>
          <a:noFill/>
        </p:spPr>
        <p:txBody>
          <a:bodyPr wrap="square" lIns="0" tIns="0" rIns="0" bIns="0" anchor="t">
            <a:spAutoFit/>
          </a:bodyPr>
          <a:lstStyle/>
          <a:p>
            <a:pPr marL="171450" lvl="0" indent="-171450">
              <a:buFont typeface="Arial" panose="020B0604020202020204" pitchFamily="34" charset="0"/>
              <a:buChar char="•"/>
              <a:defRPr/>
            </a:pPr>
            <a:r>
              <a:rPr lang="en-US" sz="1100" noProof="0">
                <a:solidFill>
                  <a:srgbClr val="2C3E50"/>
                </a:solidFill>
                <a:latin typeface="Arial" panose="020B0604020202020204" pitchFamily="34" charset="0"/>
                <a:cs typeface="Arial" panose="020B0604020202020204" pitchFamily="34" charset="0"/>
              </a:rPr>
              <a:t>Baseline Report (this deck)</a:t>
            </a:r>
          </a:p>
          <a:p>
            <a:pPr marL="628650" lvl="1" indent="-171450">
              <a:buFont typeface="Arial" panose="020B0604020202020204" pitchFamily="34" charset="0"/>
              <a:buChar char="•"/>
              <a:defRPr/>
            </a:pPr>
            <a:r>
              <a:rPr lang="en-US" sz="1100" noProof="0">
                <a:solidFill>
                  <a:srgbClr val="2C3E50"/>
                </a:solidFill>
                <a:latin typeface="Arial" panose="020B0604020202020204" pitchFamily="34" charset="0"/>
                <a:cs typeface="Arial" panose="020B0604020202020204" pitchFamily="34" charset="0"/>
              </a:rPr>
              <a:t>Demand Map</a:t>
            </a:r>
          </a:p>
          <a:p>
            <a:pPr marL="628650" lvl="1" indent="-171450">
              <a:buFont typeface="Arial" panose="020B0604020202020204" pitchFamily="34" charset="0"/>
              <a:buChar char="•"/>
              <a:defRPr/>
            </a:pPr>
            <a:r>
              <a:rPr lang="en-US" sz="1100" noProof="0">
                <a:solidFill>
                  <a:srgbClr val="2C3E50"/>
                </a:solidFill>
                <a:latin typeface="Arial" panose="020B0604020202020204" pitchFamily="34" charset="0"/>
                <a:cs typeface="Arial" panose="020B0604020202020204" pitchFamily="34" charset="0"/>
              </a:rPr>
              <a:t>Project Portfolio Landscape (</a:t>
            </a:r>
            <a:endParaRPr lang="en-US" sz="1100" b="0" i="0" noProof="0">
              <a:solidFill>
                <a:srgbClr val="2C3E50"/>
              </a:solidFill>
              <a:latin typeface="Arial" panose="020B0604020202020204" pitchFamily="34" charset="0"/>
              <a:cs typeface="Arial" panose="020B0604020202020204" pitchFamily="34" charset="0"/>
            </a:endParaRPr>
          </a:p>
        </p:txBody>
      </p:sp>
      <p:sp>
        <p:nvSpPr>
          <p:cNvPr id="110" name="TextBox 109">
            <a:extLst>
              <a:ext uri="{FF2B5EF4-FFF2-40B4-BE49-F238E27FC236}">
                <a16:creationId xmlns:a16="http://schemas.microsoft.com/office/drawing/2014/main" id="{321D6012-BDF0-F3DC-AB47-20EA342777EB}"/>
              </a:ext>
            </a:extLst>
          </p:cNvPr>
          <p:cNvSpPr txBox="1"/>
          <p:nvPr/>
        </p:nvSpPr>
        <p:spPr>
          <a:xfrm>
            <a:off x="670560" y="5960316"/>
            <a:ext cx="10817352" cy="171778"/>
          </a:xfrm>
          <a:prstGeom prst="rect">
            <a:avLst/>
          </a:prstGeom>
          <a:noFill/>
        </p:spPr>
        <p:txBody>
          <a:bodyPr wrap="square" lIns="0" tIns="0" rIns="0" bIns="0" anchor="ctr">
            <a:spAutoFit/>
          </a:bodyPr>
          <a:lstStyle/>
          <a:p>
            <a:pPr algn="l">
              <a:lnSpc>
                <a:spcPct val="110000"/>
              </a:lnSpc>
              <a:spcBef>
                <a:spcPts val="0"/>
              </a:spcBef>
              <a:spcAft>
                <a:spcPts val="0"/>
              </a:spcAft>
            </a:pPr>
            <a:r>
              <a:rPr lang="en-US" sz="1100" b="0" i="0" noProof="0">
                <a:solidFill>
                  <a:srgbClr val="FFFFFF"/>
                </a:solidFill>
                <a:latin typeface="Arial" panose="020B0604020202020204" pitchFamily="34" charset="0"/>
                <a:cs typeface="Arial" panose="020B0604020202020204" pitchFamily="34" charset="0"/>
              </a:rPr>
              <a:t>The Demand Map is the evidence backbone — Step 2 (Define Lifecycle) consumes these findings to draft the Lifecycle v1.0, Demand Typology and Roles &amp; RACI</a:t>
            </a:r>
          </a:p>
        </p:txBody>
      </p:sp>
      <p:sp>
        <p:nvSpPr>
          <p:cNvPr id="6" name="Rectangle 101">
            <a:extLst>
              <a:ext uri="{FF2B5EF4-FFF2-40B4-BE49-F238E27FC236}">
                <a16:creationId xmlns:a16="http://schemas.microsoft.com/office/drawing/2014/main" id="{4055C667-E763-CAAA-24DB-15FF3AEA1F02}"/>
              </a:ext>
            </a:extLst>
          </p:cNvPr>
          <p:cNvSpPr/>
          <p:nvPr/>
        </p:nvSpPr>
        <p:spPr>
          <a:xfrm>
            <a:off x="457200" y="5826636"/>
            <a:ext cx="73152" cy="71323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0" name="TextBox 102">
            <a:extLst>
              <a:ext uri="{FF2B5EF4-FFF2-40B4-BE49-F238E27FC236}">
                <a16:creationId xmlns:a16="http://schemas.microsoft.com/office/drawing/2014/main" id="{63F8F221-AE0C-F6E9-FEF4-3C95F3D00CAB}"/>
              </a:ext>
            </a:extLst>
          </p:cNvPr>
          <p:cNvSpPr txBox="1"/>
          <p:nvPr/>
        </p:nvSpPr>
        <p:spPr>
          <a:xfrm>
            <a:off x="640080" y="5826636"/>
            <a:ext cx="6492240" cy="171778"/>
          </a:xfrm>
          <a:prstGeom prst="rect">
            <a:avLst/>
          </a:prstGeom>
          <a:noFill/>
        </p:spPr>
        <p:txBody>
          <a:bodyPr wrap="square" lIns="0" tIns="0" rIns="0" bIns="0" anchor="t">
            <a:spAutoFit/>
          </a:bodyPr>
          <a:lstStyle/>
          <a:p>
            <a:pPr>
              <a:lnSpc>
                <a:spcPct val="110000"/>
              </a:lnSpc>
            </a:pPr>
            <a:r>
              <a:rPr lang="en-US" sz="1100" b="1" noProof="0">
                <a:solidFill>
                  <a:srgbClr val="0B76A0"/>
                </a:solidFill>
                <a:latin typeface="Arial" panose="020B0604020202020204" pitchFamily="34" charset="0"/>
                <a:cs typeface="Arial" panose="020B0604020202020204" pitchFamily="34" charset="0"/>
              </a:rPr>
              <a:t>Capacity &amp; Reporting </a:t>
            </a:r>
            <a:endParaRPr lang="en-US" sz="1100" b="1" i="0" noProof="0">
              <a:solidFill>
                <a:srgbClr val="0B76A0"/>
              </a:solidFill>
              <a:latin typeface="Arial" panose="020B0604020202020204" pitchFamily="34" charset="0"/>
              <a:cs typeface="Arial" panose="020B0604020202020204" pitchFamily="34" charset="0"/>
            </a:endParaRPr>
          </a:p>
        </p:txBody>
      </p:sp>
      <p:sp>
        <p:nvSpPr>
          <p:cNvPr id="11" name="TextBox 103">
            <a:extLst>
              <a:ext uri="{FF2B5EF4-FFF2-40B4-BE49-F238E27FC236}">
                <a16:creationId xmlns:a16="http://schemas.microsoft.com/office/drawing/2014/main" id="{08B6BCCB-7333-5150-3FC9-C69393850C25}"/>
              </a:ext>
            </a:extLst>
          </p:cNvPr>
          <p:cNvSpPr txBox="1"/>
          <p:nvPr/>
        </p:nvSpPr>
        <p:spPr>
          <a:xfrm>
            <a:off x="640080" y="6064379"/>
            <a:ext cx="6492240" cy="325410"/>
          </a:xfrm>
          <a:prstGeom prst="rect">
            <a:avLst/>
          </a:prstGeom>
          <a:noFill/>
        </p:spPr>
        <p:txBody>
          <a:bodyPr wrap="square" lIns="0" tIns="0" rIns="0" bIns="0" anchor="t">
            <a:spAutoFit/>
          </a:bodyPr>
          <a:lstStyle/>
          <a:p>
            <a:pPr>
              <a:lnSpc>
                <a:spcPct val="110000"/>
              </a:lnSpc>
            </a:pPr>
            <a:r>
              <a:rPr lang="en-US" sz="1000" noProof="0">
                <a:solidFill>
                  <a:srgbClr val="2C3E50"/>
                </a:solidFill>
                <a:latin typeface="Arial"/>
                <a:cs typeface="Arial"/>
              </a:rPr>
              <a:t>Captured capacity baseline per area. Reviewed current reporting cadence (IT Now · Jira · PPM Now · PDD) and identified data gaps against a single source of truth for KPI dashboards.</a:t>
            </a:r>
          </a:p>
        </p:txBody>
      </p:sp>
    </p:spTree>
    <p:extLst>
      <p:ext uri="{BB962C8B-B14F-4D97-AF65-F5344CB8AC3E}">
        <p14:creationId xmlns:p14="http://schemas.microsoft.com/office/powerpoint/2010/main" val="7991858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C7C4FC-6C83-243C-7401-535217A27F6F}"/>
            </a:ext>
          </a:extLst>
        </p:cNvPr>
        <p:cNvGrpSpPr/>
        <p:nvPr/>
      </p:nvGrpSpPr>
      <p:grpSpPr>
        <a:xfrm>
          <a:off x="0" y="0"/>
          <a:ext cx="0" cy="0"/>
          <a:chOff x="0" y="0"/>
          <a:chExt cx="0" cy="0"/>
        </a:xfrm>
      </p:grpSpPr>
      <p:grpSp>
        <p:nvGrpSpPr>
          <p:cNvPr id="30" name="Group 29">
            <a:extLst>
              <a:ext uri="{FF2B5EF4-FFF2-40B4-BE49-F238E27FC236}">
                <a16:creationId xmlns:a16="http://schemas.microsoft.com/office/drawing/2014/main" id="{752847EA-2D63-CABA-8E70-F9C22AF52724}"/>
              </a:ext>
            </a:extLst>
          </p:cNvPr>
          <p:cNvGrpSpPr/>
          <p:nvPr/>
        </p:nvGrpSpPr>
        <p:grpSpPr>
          <a:xfrm>
            <a:off x="4133725" y="358821"/>
            <a:ext cx="520273" cy="520273"/>
            <a:chOff x="3199239" y="747211"/>
            <a:chExt cx="520273" cy="520273"/>
          </a:xfrm>
        </p:grpSpPr>
        <p:sp>
          <p:nvSpPr>
            <p:cNvPr id="4" name="Freeform 4">
              <a:extLst>
                <a:ext uri="{FF2B5EF4-FFF2-40B4-BE49-F238E27FC236}">
                  <a16:creationId xmlns:a16="http://schemas.microsoft.com/office/drawing/2014/main" id="{E3633691-DEB1-F4A6-1E25-2F2126A4EE8B}"/>
                </a:ext>
              </a:extLst>
            </p:cNvPr>
            <p:cNvSpPr/>
            <p:nvPr/>
          </p:nvSpPr>
          <p:spPr>
            <a:xfrm>
              <a:off x="3199239" y="747211"/>
              <a:ext cx="520273" cy="520273"/>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66675" cap="sq">
              <a:solidFill>
                <a:schemeClr val="accent1"/>
              </a:solidFill>
              <a:prstDash val="solid"/>
              <a:miter/>
            </a:ln>
          </p:spPr>
          <p:txBody>
            <a:bodyPr/>
            <a:lstStyle/>
            <a:p>
              <a:endParaRPr lang="en-US" sz="900" noProof="0">
                <a:solidFill>
                  <a:srgbClr val="000000"/>
                </a:solidFill>
                <a:latin typeface="Arial" panose="020B0604020202020204" pitchFamily="34" charset="0"/>
                <a:cs typeface="Arial" panose="020B0604020202020204" pitchFamily="34" charset="0"/>
              </a:endParaRPr>
            </a:p>
          </p:txBody>
        </p:sp>
        <p:sp>
          <p:nvSpPr>
            <p:cNvPr id="6" name="AutoShape 6">
              <a:extLst>
                <a:ext uri="{FF2B5EF4-FFF2-40B4-BE49-F238E27FC236}">
                  <a16:creationId xmlns:a16="http://schemas.microsoft.com/office/drawing/2014/main" id="{96851315-94B2-199F-C859-684CDB1CF225}"/>
                </a:ext>
              </a:extLst>
            </p:cNvPr>
            <p:cNvSpPr/>
            <p:nvPr/>
          </p:nvSpPr>
          <p:spPr>
            <a:xfrm>
              <a:off x="3288741" y="1007348"/>
              <a:ext cx="341269" cy="0"/>
            </a:xfrm>
            <a:prstGeom prst="line">
              <a:avLst/>
            </a:prstGeom>
            <a:ln w="73569" cap="flat">
              <a:solidFill>
                <a:schemeClr val="accent1"/>
              </a:solidFill>
              <a:prstDash val="solid"/>
              <a:headEnd type="none" w="sm" len="sm"/>
              <a:tailEnd type="arrow" w="med" len="sm"/>
            </a:ln>
          </p:spPr>
          <p:txBody>
            <a:bodyPr/>
            <a:lstStyle/>
            <a:p>
              <a:endParaRPr lang="en-US" sz="900" noProof="0">
                <a:solidFill>
                  <a:srgbClr val="000000"/>
                </a:solidFill>
                <a:latin typeface="Arial" panose="020B0604020202020204" pitchFamily="34" charset="0"/>
                <a:cs typeface="Arial" panose="020B0604020202020204" pitchFamily="34" charset="0"/>
              </a:endParaRPr>
            </a:p>
          </p:txBody>
        </p:sp>
      </p:grpSp>
      <p:sp>
        <p:nvSpPr>
          <p:cNvPr id="10" name="TextBox 10">
            <a:extLst>
              <a:ext uri="{FF2B5EF4-FFF2-40B4-BE49-F238E27FC236}">
                <a16:creationId xmlns:a16="http://schemas.microsoft.com/office/drawing/2014/main" id="{40AF2F43-10AE-417B-4EE8-DF58D78129E7}"/>
              </a:ext>
            </a:extLst>
          </p:cNvPr>
          <p:cNvSpPr txBox="1"/>
          <p:nvPr/>
        </p:nvSpPr>
        <p:spPr>
          <a:xfrm>
            <a:off x="1077073" y="1141030"/>
            <a:ext cx="462060" cy="512448"/>
          </a:xfrm>
          <a:prstGeom prst="rect">
            <a:avLst/>
          </a:prstGeom>
        </p:spPr>
        <p:txBody>
          <a:bodyPr wrap="square" lIns="0" tIns="0" rIns="0" bIns="0" rtlCol="0" anchor="t">
            <a:spAutoFit/>
          </a:bodyPr>
          <a:lstStyle/>
          <a:p>
            <a:pPr>
              <a:lnSpc>
                <a:spcPts val="4608"/>
              </a:lnSpc>
            </a:pPr>
            <a:r>
              <a:rPr lang="en-US" sz="2400" b="1" noProof="0">
                <a:solidFill>
                  <a:schemeClr val="accent1"/>
                </a:solidFill>
                <a:latin typeface="Arial" panose="020B0604020202020204" pitchFamily="34" charset="0"/>
                <a:ea typeface="Gordita Bold"/>
                <a:cs typeface="Arial" panose="020B0604020202020204" pitchFamily="34" charset="0"/>
                <a:sym typeface="Gordita Bold"/>
              </a:rPr>
              <a:t>01</a:t>
            </a:r>
          </a:p>
        </p:txBody>
      </p:sp>
      <p:sp>
        <p:nvSpPr>
          <p:cNvPr id="14" name="TextBox 14">
            <a:extLst>
              <a:ext uri="{FF2B5EF4-FFF2-40B4-BE49-F238E27FC236}">
                <a16:creationId xmlns:a16="http://schemas.microsoft.com/office/drawing/2014/main" id="{8F2F0A35-4FB5-573D-FC3F-268B8B319C81}"/>
              </a:ext>
            </a:extLst>
          </p:cNvPr>
          <p:cNvSpPr txBox="1"/>
          <p:nvPr/>
        </p:nvSpPr>
        <p:spPr>
          <a:xfrm>
            <a:off x="1063128" y="2827839"/>
            <a:ext cx="537158"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03</a:t>
            </a:r>
          </a:p>
        </p:txBody>
      </p:sp>
      <p:grpSp>
        <p:nvGrpSpPr>
          <p:cNvPr id="23" name="Grupo 22">
            <a:extLst>
              <a:ext uri="{FF2B5EF4-FFF2-40B4-BE49-F238E27FC236}">
                <a16:creationId xmlns:a16="http://schemas.microsoft.com/office/drawing/2014/main" id="{B5E7C95E-65C4-614E-B6E3-C3E2F36E6189}"/>
              </a:ext>
            </a:extLst>
          </p:cNvPr>
          <p:cNvGrpSpPr/>
          <p:nvPr/>
        </p:nvGrpSpPr>
        <p:grpSpPr>
          <a:xfrm>
            <a:off x="1854199" y="2802178"/>
            <a:ext cx="9571333" cy="824754"/>
            <a:chOff x="1816102" y="2594699"/>
            <a:chExt cx="9571333" cy="824754"/>
          </a:xfrm>
        </p:grpSpPr>
        <p:sp>
          <p:nvSpPr>
            <p:cNvPr id="15" name="TextBox 15">
              <a:extLst>
                <a:ext uri="{FF2B5EF4-FFF2-40B4-BE49-F238E27FC236}">
                  <a16:creationId xmlns:a16="http://schemas.microsoft.com/office/drawing/2014/main" id="{72B14159-95FB-F46E-E036-C9B4E8C63C24}"/>
                </a:ext>
              </a:extLst>
            </p:cNvPr>
            <p:cNvSpPr txBox="1"/>
            <p:nvPr/>
          </p:nvSpPr>
          <p:spPr>
            <a:xfrm>
              <a:off x="1816102" y="2594699"/>
              <a:ext cx="9571333"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Methodology</a:t>
              </a:r>
            </a:p>
          </p:txBody>
        </p:sp>
        <p:sp>
          <p:nvSpPr>
            <p:cNvPr id="16" name="TextBox 16">
              <a:extLst>
                <a:ext uri="{FF2B5EF4-FFF2-40B4-BE49-F238E27FC236}">
                  <a16:creationId xmlns:a16="http://schemas.microsoft.com/office/drawing/2014/main" id="{6413E7D4-039F-70ED-27CC-7969BCE1ED5D}"/>
                </a:ext>
              </a:extLst>
            </p:cNvPr>
            <p:cNvSpPr txBox="1"/>
            <p:nvPr/>
          </p:nvSpPr>
          <p:spPr>
            <a:xfrm>
              <a:off x="1816102" y="2983372"/>
              <a:ext cx="7868967" cy="436081"/>
            </a:xfrm>
            <a:prstGeom prst="rect">
              <a:avLst/>
            </a:prstGeom>
          </p:spPr>
          <p:txBody>
            <a:bodyPr wrap="square" lIns="0" tIns="0" rIns="0" bIns="0" rtlCol="0" anchor="t">
              <a:spAutoFit/>
            </a:bodyPr>
            <a:lstStyle/>
            <a:p>
              <a:pPr>
                <a:lnSpc>
                  <a:spcPts val="1820"/>
                </a:lnSpc>
              </a:pPr>
              <a:r>
                <a:rPr lang="en-US" sz="1200" noProof="0">
                  <a:solidFill>
                    <a:srgbClr val="000000"/>
                  </a:solidFill>
                  <a:latin typeface="Arial" panose="020B0604020202020204" pitchFamily="34" charset="0"/>
                  <a:ea typeface="Gordita"/>
                  <a:cs typeface="Arial" panose="020B0604020202020204" pitchFamily="34" charset="0"/>
                  <a:sym typeface="Gordita"/>
                </a:rPr>
                <a:t>A structured approach that defines the phases, activities, and deliverables required to consistently and efficiently achieve project objectives</a:t>
              </a:r>
            </a:p>
          </p:txBody>
        </p:sp>
      </p:grpSp>
      <p:sp>
        <p:nvSpPr>
          <p:cNvPr id="20" name="TextBox 20">
            <a:extLst>
              <a:ext uri="{FF2B5EF4-FFF2-40B4-BE49-F238E27FC236}">
                <a16:creationId xmlns:a16="http://schemas.microsoft.com/office/drawing/2014/main" id="{E9B611B3-5F04-C282-9BE0-002741A114E0}"/>
              </a:ext>
            </a:extLst>
          </p:cNvPr>
          <p:cNvSpPr txBox="1"/>
          <p:nvPr/>
        </p:nvSpPr>
        <p:spPr>
          <a:xfrm>
            <a:off x="1854197" y="4994789"/>
            <a:ext cx="7482132" cy="205249"/>
          </a:xfrm>
          <a:prstGeom prst="rect">
            <a:avLst/>
          </a:prstGeom>
        </p:spPr>
        <p:txBody>
          <a:bodyPr wrap="square" lIns="0" tIns="0" rIns="0" bIns="0" rtlCol="0" anchor="t">
            <a:spAutoFit/>
          </a:bodyPr>
          <a:lstStyle/>
          <a:p>
            <a:pPr>
              <a:lnSpc>
                <a:spcPts val="1820"/>
              </a:lnSpc>
            </a:pPr>
            <a:endParaRPr lang="en-US" sz="1100" noProof="0">
              <a:solidFill>
                <a:srgbClr val="000000"/>
              </a:solidFill>
              <a:latin typeface="Arial" panose="020B0604020202020204" pitchFamily="34" charset="0"/>
              <a:ea typeface="Gordita"/>
              <a:cs typeface="Arial" panose="020B0604020202020204" pitchFamily="34" charset="0"/>
              <a:sym typeface="Gordita"/>
            </a:endParaRPr>
          </a:p>
        </p:txBody>
      </p:sp>
      <p:sp>
        <p:nvSpPr>
          <p:cNvPr id="22" name="TextBox 22">
            <a:extLst>
              <a:ext uri="{FF2B5EF4-FFF2-40B4-BE49-F238E27FC236}">
                <a16:creationId xmlns:a16="http://schemas.microsoft.com/office/drawing/2014/main" id="{D43E8BF2-DC8F-E7C3-0A20-B21E266FF15C}"/>
              </a:ext>
            </a:extLst>
          </p:cNvPr>
          <p:cNvSpPr txBox="1"/>
          <p:nvPr/>
        </p:nvSpPr>
        <p:spPr>
          <a:xfrm>
            <a:off x="1063128" y="4600799"/>
            <a:ext cx="487952"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05</a:t>
            </a:r>
          </a:p>
        </p:txBody>
      </p:sp>
      <p:sp>
        <p:nvSpPr>
          <p:cNvPr id="12" name="TextBox 22">
            <a:extLst>
              <a:ext uri="{FF2B5EF4-FFF2-40B4-BE49-F238E27FC236}">
                <a16:creationId xmlns:a16="http://schemas.microsoft.com/office/drawing/2014/main" id="{BB661633-4069-9F9F-73FD-0B9A440775F6}"/>
              </a:ext>
            </a:extLst>
          </p:cNvPr>
          <p:cNvSpPr txBox="1"/>
          <p:nvPr/>
        </p:nvSpPr>
        <p:spPr>
          <a:xfrm>
            <a:off x="1063128" y="5501791"/>
            <a:ext cx="487952"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06</a:t>
            </a:r>
          </a:p>
        </p:txBody>
      </p:sp>
      <p:grpSp>
        <p:nvGrpSpPr>
          <p:cNvPr id="21" name="Grupo 20">
            <a:extLst>
              <a:ext uri="{FF2B5EF4-FFF2-40B4-BE49-F238E27FC236}">
                <a16:creationId xmlns:a16="http://schemas.microsoft.com/office/drawing/2014/main" id="{790C2535-5FBB-5FCE-C56A-060F53D03AB7}"/>
              </a:ext>
            </a:extLst>
          </p:cNvPr>
          <p:cNvGrpSpPr/>
          <p:nvPr/>
        </p:nvGrpSpPr>
        <p:grpSpPr>
          <a:xfrm>
            <a:off x="1861346" y="1170058"/>
            <a:ext cx="9578128" cy="554333"/>
            <a:chOff x="1809304" y="1852249"/>
            <a:chExt cx="9578128" cy="554333"/>
          </a:xfrm>
        </p:grpSpPr>
        <p:sp>
          <p:nvSpPr>
            <p:cNvPr id="11" name="TextBox 11">
              <a:extLst>
                <a:ext uri="{FF2B5EF4-FFF2-40B4-BE49-F238E27FC236}">
                  <a16:creationId xmlns:a16="http://schemas.microsoft.com/office/drawing/2014/main" id="{C886AEB1-0730-CAE4-FC9F-5C96608106E9}"/>
                </a:ext>
              </a:extLst>
            </p:cNvPr>
            <p:cNvSpPr txBox="1"/>
            <p:nvPr/>
          </p:nvSpPr>
          <p:spPr>
            <a:xfrm>
              <a:off x="1816100" y="1852249"/>
              <a:ext cx="9571332"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cs typeface="Arial" panose="020B0604020202020204" pitchFamily="34" charset="0"/>
                </a:rPr>
                <a:t>Context</a:t>
              </a:r>
              <a:endParaRPr lang="en-US" sz="2000" noProof="0">
                <a:solidFill>
                  <a:srgbClr val="000000"/>
                </a:solidFill>
                <a:latin typeface="Arial" panose="020B0604020202020204" pitchFamily="34" charset="0"/>
                <a:ea typeface="Gordita"/>
                <a:cs typeface="Arial" panose="020B0604020202020204" pitchFamily="34" charset="0"/>
                <a:sym typeface="Gordita"/>
              </a:endParaRPr>
            </a:p>
          </p:txBody>
        </p:sp>
        <p:sp>
          <p:nvSpPr>
            <p:cNvPr id="24" name="TextBox 16">
              <a:extLst>
                <a:ext uri="{FF2B5EF4-FFF2-40B4-BE49-F238E27FC236}">
                  <a16:creationId xmlns:a16="http://schemas.microsoft.com/office/drawing/2014/main" id="{A05E58D9-3548-30D9-26A7-11153101025F}"/>
                </a:ext>
              </a:extLst>
            </p:cNvPr>
            <p:cNvSpPr txBox="1"/>
            <p:nvPr/>
          </p:nvSpPr>
          <p:spPr>
            <a:xfrm>
              <a:off x="1809304" y="2198383"/>
              <a:ext cx="7868967" cy="208199"/>
            </a:xfrm>
            <a:prstGeom prst="rect">
              <a:avLst/>
            </a:prstGeom>
          </p:spPr>
          <p:txBody>
            <a:bodyPr wrap="square" lIns="0" tIns="0" rIns="0" bIns="0" rtlCol="0" anchor="t">
              <a:spAutoFit/>
            </a:bodyPr>
            <a:lstStyle/>
            <a:p>
              <a:pPr>
                <a:lnSpc>
                  <a:spcPts val="1820"/>
                </a:lnSpc>
              </a:pPr>
              <a:r>
                <a:rPr lang="en-US" sz="1200" noProof="0">
                  <a:solidFill>
                    <a:srgbClr val="000000"/>
                  </a:solidFill>
                  <a:latin typeface="Arial" panose="020B0604020202020204" pitchFamily="34" charset="0"/>
                  <a:cs typeface="Arial" panose="020B0604020202020204" pitchFamily="34" charset="0"/>
                </a:rPr>
                <a:t>Document summary</a:t>
              </a:r>
              <a:endParaRPr lang="en-US" sz="1200" noProof="0">
                <a:solidFill>
                  <a:srgbClr val="000000"/>
                </a:solidFill>
                <a:latin typeface="Arial" panose="020B0604020202020204" pitchFamily="34" charset="0"/>
                <a:ea typeface="Gordita"/>
                <a:cs typeface="Arial" panose="020B0604020202020204" pitchFamily="34" charset="0"/>
                <a:sym typeface="Gordita"/>
              </a:endParaRPr>
            </a:p>
          </p:txBody>
        </p:sp>
      </p:grpSp>
      <p:grpSp>
        <p:nvGrpSpPr>
          <p:cNvPr id="31" name="Grupo 30">
            <a:extLst>
              <a:ext uri="{FF2B5EF4-FFF2-40B4-BE49-F238E27FC236}">
                <a16:creationId xmlns:a16="http://schemas.microsoft.com/office/drawing/2014/main" id="{4C77C9A1-C57A-893A-4CB1-BA240D5834F2}"/>
              </a:ext>
            </a:extLst>
          </p:cNvPr>
          <p:cNvGrpSpPr/>
          <p:nvPr/>
        </p:nvGrpSpPr>
        <p:grpSpPr>
          <a:xfrm>
            <a:off x="1847401" y="4582202"/>
            <a:ext cx="9571332" cy="602794"/>
            <a:chOff x="1809305" y="5419675"/>
            <a:chExt cx="9571332" cy="602794"/>
          </a:xfrm>
        </p:grpSpPr>
        <p:sp>
          <p:nvSpPr>
            <p:cNvPr id="9" name="TextBox 19">
              <a:extLst>
                <a:ext uri="{FF2B5EF4-FFF2-40B4-BE49-F238E27FC236}">
                  <a16:creationId xmlns:a16="http://schemas.microsoft.com/office/drawing/2014/main" id="{2385FE7F-9981-121B-81B2-40B5759145B2}"/>
                </a:ext>
              </a:extLst>
            </p:cNvPr>
            <p:cNvSpPr txBox="1"/>
            <p:nvPr/>
          </p:nvSpPr>
          <p:spPr>
            <a:xfrm>
              <a:off x="1809305" y="5419675"/>
              <a:ext cx="9571332"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Project Portfolio Landscape</a:t>
              </a:r>
            </a:p>
          </p:txBody>
        </p:sp>
        <p:sp>
          <p:nvSpPr>
            <p:cNvPr id="27" name="TextBox 16">
              <a:extLst>
                <a:ext uri="{FF2B5EF4-FFF2-40B4-BE49-F238E27FC236}">
                  <a16:creationId xmlns:a16="http://schemas.microsoft.com/office/drawing/2014/main" id="{4CA6C921-4464-D301-3C65-3B06B5B6C517}"/>
                </a:ext>
              </a:extLst>
            </p:cNvPr>
            <p:cNvSpPr txBox="1"/>
            <p:nvPr/>
          </p:nvSpPr>
          <p:spPr>
            <a:xfrm>
              <a:off x="1809305" y="5814270"/>
              <a:ext cx="7868967" cy="208199"/>
            </a:xfrm>
            <a:prstGeom prst="rect">
              <a:avLst/>
            </a:prstGeom>
          </p:spPr>
          <p:txBody>
            <a:bodyPr wrap="square" lIns="0" tIns="0" rIns="0" bIns="0" rtlCol="0" anchor="t">
              <a:spAutoFit/>
            </a:bodyPr>
            <a:lstStyle/>
            <a:p>
              <a:pPr>
                <a:lnSpc>
                  <a:spcPts val="1820"/>
                </a:lnSpc>
              </a:pPr>
              <a:r>
                <a:rPr lang="en-US" sz="1200" noProof="0">
                  <a:solidFill>
                    <a:srgbClr val="000000"/>
                  </a:solidFill>
                  <a:latin typeface="Arial" panose="020B0604020202020204" pitchFamily="34" charset="0"/>
                  <a:ea typeface="Gordita"/>
                  <a:cs typeface="Arial" panose="020B0604020202020204" pitchFamily="34" charset="0"/>
                  <a:sym typeface="Gordita"/>
                </a:rPr>
                <a:t>An overview of the Digital Products’ current demand and tool portfolio</a:t>
              </a:r>
            </a:p>
          </p:txBody>
        </p:sp>
      </p:grpSp>
      <p:grpSp>
        <p:nvGrpSpPr>
          <p:cNvPr id="33" name="Grupo 30">
            <a:extLst>
              <a:ext uri="{FF2B5EF4-FFF2-40B4-BE49-F238E27FC236}">
                <a16:creationId xmlns:a16="http://schemas.microsoft.com/office/drawing/2014/main" id="{DDE84B89-5CB6-CF5E-CC8F-642EE3265879}"/>
              </a:ext>
            </a:extLst>
          </p:cNvPr>
          <p:cNvGrpSpPr/>
          <p:nvPr/>
        </p:nvGrpSpPr>
        <p:grpSpPr>
          <a:xfrm>
            <a:off x="1847401" y="5519041"/>
            <a:ext cx="9571332" cy="602794"/>
            <a:chOff x="1809305" y="5419675"/>
            <a:chExt cx="9571332" cy="602794"/>
          </a:xfrm>
        </p:grpSpPr>
        <p:sp>
          <p:nvSpPr>
            <p:cNvPr id="34" name="TextBox 19">
              <a:extLst>
                <a:ext uri="{FF2B5EF4-FFF2-40B4-BE49-F238E27FC236}">
                  <a16:creationId xmlns:a16="http://schemas.microsoft.com/office/drawing/2014/main" id="{810F6F4B-1E1A-E544-CC96-532EA06CE979}"/>
                </a:ext>
              </a:extLst>
            </p:cNvPr>
            <p:cNvSpPr txBox="1"/>
            <p:nvPr/>
          </p:nvSpPr>
          <p:spPr>
            <a:xfrm>
              <a:off x="1809305" y="5419675"/>
              <a:ext cx="9571332"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Insights &amp; Key Definitions for To-Be Model</a:t>
              </a:r>
            </a:p>
          </p:txBody>
        </p:sp>
        <p:sp>
          <p:nvSpPr>
            <p:cNvPr id="35" name="TextBox 16">
              <a:extLst>
                <a:ext uri="{FF2B5EF4-FFF2-40B4-BE49-F238E27FC236}">
                  <a16:creationId xmlns:a16="http://schemas.microsoft.com/office/drawing/2014/main" id="{DA31FE8C-CEF9-AEB1-78F6-650C81E97975}"/>
                </a:ext>
              </a:extLst>
            </p:cNvPr>
            <p:cNvSpPr txBox="1"/>
            <p:nvPr/>
          </p:nvSpPr>
          <p:spPr>
            <a:xfrm>
              <a:off x="1809305" y="5814270"/>
              <a:ext cx="7868967" cy="208199"/>
            </a:xfrm>
            <a:prstGeom prst="rect">
              <a:avLst/>
            </a:prstGeom>
          </p:spPr>
          <p:txBody>
            <a:bodyPr wrap="square" lIns="0" tIns="0" rIns="0" bIns="0" rtlCol="0" anchor="t">
              <a:spAutoFit/>
            </a:bodyPr>
            <a:lstStyle>
              <a:defPPr>
                <a:defRPr lang="en-US"/>
              </a:defPPr>
              <a:lvl1pPr>
                <a:lnSpc>
                  <a:spcPts val="1820"/>
                </a:lnSpc>
                <a:defRPr sz="1400">
                  <a:solidFill>
                    <a:srgbClr val="000000"/>
                  </a:solidFill>
                  <a:ea typeface="Gordita"/>
                  <a:cs typeface="Gordita"/>
                </a:defRPr>
              </a:lvl1pPr>
            </a:lstStyle>
            <a:p>
              <a:r>
                <a:rPr lang="en-US" sz="1200" noProof="0">
                  <a:latin typeface="Arial" panose="020B0604020202020204" pitchFamily="34" charset="0"/>
                  <a:cs typeface="Arial" panose="020B0604020202020204" pitchFamily="34" charset="0"/>
                </a:rPr>
                <a:t>A synthesis of key insights and foundational definitions shaping the design of the target operating model​</a:t>
              </a:r>
              <a:endParaRPr lang="en-US" sz="1200" noProof="0">
                <a:latin typeface="Arial" panose="020B0604020202020204" pitchFamily="34" charset="0"/>
                <a:cs typeface="Arial" panose="020B0604020202020204" pitchFamily="34" charset="0"/>
                <a:sym typeface="Gordita"/>
              </a:endParaRPr>
            </a:p>
          </p:txBody>
        </p:sp>
      </p:grpSp>
      <p:sp>
        <p:nvSpPr>
          <p:cNvPr id="2" name="TextBox 14">
            <a:extLst>
              <a:ext uri="{FF2B5EF4-FFF2-40B4-BE49-F238E27FC236}">
                <a16:creationId xmlns:a16="http://schemas.microsoft.com/office/drawing/2014/main" id="{402EB45B-B821-96D3-0B41-22DF63E7117C}"/>
              </a:ext>
            </a:extLst>
          </p:cNvPr>
          <p:cNvSpPr txBox="1"/>
          <p:nvPr/>
        </p:nvSpPr>
        <p:spPr>
          <a:xfrm>
            <a:off x="1070275" y="2006772"/>
            <a:ext cx="537158"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02</a:t>
            </a:r>
          </a:p>
        </p:txBody>
      </p:sp>
      <p:grpSp>
        <p:nvGrpSpPr>
          <p:cNvPr id="3" name="Grupo 2">
            <a:extLst>
              <a:ext uri="{FF2B5EF4-FFF2-40B4-BE49-F238E27FC236}">
                <a16:creationId xmlns:a16="http://schemas.microsoft.com/office/drawing/2014/main" id="{866E1F69-B8FB-FFBC-2493-FAAF12A088FA}"/>
              </a:ext>
            </a:extLst>
          </p:cNvPr>
          <p:cNvGrpSpPr/>
          <p:nvPr/>
        </p:nvGrpSpPr>
        <p:grpSpPr>
          <a:xfrm>
            <a:off x="1861346" y="1981111"/>
            <a:ext cx="9571333" cy="596872"/>
            <a:chOff x="1816102" y="2594699"/>
            <a:chExt cx="9571333" cy="596872"/>
          </a:xfrm>
        </p:grpSpPr>
        <p:sp>
          <p:nvSpPr>
            <p:cNvPr id="5" name="TextBox 15">
              <a:extLst>
                <a:ext uri="{FF2B5EF4-FFF2-40B4-BE49-F238E27FC236}">
                  <a16:creationId xmlns:a16="http://schemas.microsoft.com/office/drawing/2014/main" id="{FA1C9217-5D8A-5AF9-544F-2E0EC6E7E088}"/>
                </a:ext>
              </a:extLst>
            </p:cNvPr>
            <p:cNvSpPr txBox="1"/>
            <p:nvPr/>
          </p:nvSpPr>
          <p:spPr>
            <a:xfrm>
              <a:off x="1816102" y="2594699"/>
              <a:ext cx="9571333"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Executive Summary</a:t>
              </a:r>
            </a:p>
          </p:txBody>
        </p:sp>
        <p:sp>
          <p:nvSpPr>
            <p:cNvPr id="7" name="TextBox 16">
              <a:extLst>
                <a:ext uri="{FF2B5EF4-FFF2-40B4-BE49-F238E27FC236}">
                  <a16:creationId xmlns:a16="http://schemas.microsoft.com/office/drawing/2014/main" id="{45CE8A9E-AC67-BEF6-185D-18DEEBEB669A}"/>
                </a:ext>
              </a:extLst>
            </p:cNvPr>
            <p:cNvSpPr txBox="1"/>
            <p:nvPr/>
          </p:nvSpPr>
          <p:spPr>
            <a:xfrm>
              <a:off x="1816102" y="2983372"/>
              <a:ext cx="7868967" cy="208199"/>
            </a:xfrm>
            <a:prstGeom prst="rect">
              <a:avLst/>
            </a:prstGeom>
          </p:spPr>
          <p:txBody>
            <a:bodyPr wrap="square" lIns="0" tIns="0" rIns="0" bIns="0" rtlCol="0" anchor="t">
              <a:spAutoFit/>
            </a:bodyPr>
            <a:lstStyle>
              <a:defPPr>
                <a:defRPr lang="en-US"/>
              </a:defPPr>
              <a:lvl1pPr>
                <a:lnSpc>
                  <a:spcPts val="1820"/>
                </a:lnSpc>
                <a:defRPr sz="1400">
                  <a:solidFill>
                    <a:srgbClr val="000000"/>
                  </a:solidFill>
                  <a:latin typeface="+mj-lt"/>
                  <a:ea typeface="Gordita"/>
                  <a:cs typeface="Gordita"/>
                </a:defRPr>
              </a:lvl1pPr>
            </a:lstStyle>
            <a:p>
              <a:r>
                <a:rPr lang="en-US" sz="1200" noProof="0">
                  <a:latin typeface="Arial" panose="020B0604020202020204" pitchFamily="34" charset="0"/>
                  <a:cs typeface="Arial" panose="020B0604020202020204" pitchFamily="34" charset="0"/>
                </a:rPr>
                <a:t>Why we are here. Executive findings &amp; implications. Methodology (Wave 1 Step 1 sources).</a:t>
              </a:r>
              <a:endParaRPr lang="en-US" sz="1200" noProof="0">
                <a:latin typeface="Arial" panose="020B0604020202020204" pitchFamily="34" charset="0"/>
                <a:cs typeface="Arial" panose="020B0604020202020204" pitchFamily="34" charset="0"/>
                <a:sym typeface="Gordita"/>
              </a:endParaRPr>
            </a:p>
          </p:txBody>
        </p:sp>
      </p:grpSp>
      <p:sp>
        <p:nvSpPr>
          <p:cNvPr id="19" name="TextBox 10">
            <a:extLst>
              <a:ext uri="{FF2B5EF4-FFF2-40B4-BE49-F238E27FC236}">
                <a16:creationId xmlns:a16="http://schemas.microsoft.com/office/drawing/2014/main" id="{8706839F-C07E-3577-FE73-87AE25735EA2}"/>
              </a:ext>
            </a:extLst>
          </p:cNvPr>
          <p:cNvSpPr txBox="1"/>
          <p:nvPr/>
        </p:nvSpPr>
        <p:spPr>
          <a:xfrm>
            <a:off x="1063127" y="277976"/>
            <a:ext cx="3495835" cy="524182"/>
          </a:xfrm>
          <a:prstGeom prst="rect">
            <a:avLst/>
          </a:prstGeom>
        </p:spPr>
        <p:txBody>
          <a:bodyPr wrap="square" lIns="0" tIns="0" rIns="0" bIns="0" rtlCol="0" anchor="t">
            <a:spAutoFit/>
          </a:bodyPr>
          <a:lstStyle/>
          <a:p>
            <a:pPr>
              <a:lnSpc>
                <a:spcPts val="4608"/>
              </a:lnSpc>
            </a:pPr>
            <a:r>
              <a:rPr lang="en-US" sz="2800" b="1" noProof="0">
                <a:solidFill>
                  <a:schemeClr val="accent1"/>
                </a:solidFill>
                <a:latin typeface="Arial" panose="020B0604020202020204" pitchFamily="34" charset="0"/>
                <a:ea typeface="Gordita Bold"/>
                <a:cs typeface="Arial" panose="020B0604020202020204" pitchFamily="34" charset="0"/>
                <a:sym typeface="Gordita Bold"/>
              </a:rPr>
              <a:t>Table of contents</a:t>
            </a:r>
          </a:p>
        </p:txBody>
      </p:sp>
      <p:sp>
        <p:nvSpPr>
          <p:cNvPr id="8" name="Rectangle: Rounded Corners 7">
            <a:extLst>
              <a:ext uri="{FF2B5EF4-FFF2-40B4-BE49-F238E27FC236}">
                <a16:creationId xmlns:a16="http://schemas.microsoft.com/office/drawing/2014/main" id="{C32C6D37-2B2E-E27C-BC98-0ED0B5CCF439}"/>
              </a:ext>
            </a:extLst>
          </p:cNvPr>
          <p:cNvSpPr/>
          <p:nvPr/>
        </p:nvSpPr>
        <p:spPr>
          <a:xfrm>
            <a:off x="773265" y="3655688"/>
            <a:ext cx="9343974" cy="815851"/>
          </a:xfrm>
          <a:prstGeom prst="roundRect">
            <a:avLst/>
          </a:prstGeom>
          <a:solidFill>
            <a:schemeClr val="tx2">
              <a:lumMod val="10000"/>
              <a:lumOff val="90000"/>
              <a:alpha val="41961"/>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8" name="TextBox 18">
            <a:extLst>
              <a:ext uri="{FF2B5EF4-FFF2-40B4-BE49-F238E27FC236}">
                <a16:creationId xmlns:a16="http://schemas.microsoft.com/office/drawing/2014/main" id="{FA3DE230-5AEC-2AF4-58C9-F3182C37A5AA}"/>
              </a:ext>
            </a:extLst>
          </p:cNvPr>
          <p:cNvSpPr txBox="1"/>
          <p:nvPr/>
        </p:nvSpPr>
        <p:spPr>
          <a:xfrm>
            <a:off x="1063128" y="3699805"/>
            <a:ext cx="525169"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04</a:t>
            </a:r>
          </a:p>
        </p:txBody>
      </p:sp>
      <p:grpSp>
        <p:nvGrpSpPr>
          <p:cNvPr id="26" name="Grupo 25">
            <a:extLst>
              <a:ext uri="{FF2B5EF4-FFF2-40B4-BE49-F238E27FC236}">
                <a16:creationId xmlns:a16="http://schemas.microsoft.com/office/drawing/2014/main" id="{9041A255-0E98-FC1F-3241-F0FD814B1342}"/>
              </a:ext>
            </a:extLst>
          </p:cNvPr>
          <p:cNvGrpSpPr/>
          <p:nvPr/>
        </p:nvGrpSpPr>
        <p:grpSpPr>
          <a:xfrm>
            <a:off x="1847402" y="3676508"/>
            <a:ext cx="9571333" cy="596872"/>
            <a:chOff x="1809305" y="3510392"/>
            <a:chExt cx="9571333" cy="596872"/>
          </a:xfrm>
        </p:grpSpPr>
        <p:sp>
          <p:nvSpPr>
            <p:cNvPr id="13" name="TextBox 15">
              <a:extLst>
                <a:ext uri="{FF2B5EF4-FFF2-40B4-BE49-F238E27FC236}">
                  <a16:creationId xmlns:a16="http://schemas.microsoft.com/office/drawing/2014/main" id="{502352D8-00E9-63EA-7BA4-D9FA75A91CD4}"/>
                </a:ext>
              </a:extLst>
            </p:cNvPr>
            <p:cNvSpPr txBox="1"/>
            <p:nvPr/>
          </p:nvSpPr>
          <p:spPr>
            <a:xfrm>
              <a:off x="1809305" y="3510392"/>
              <a:ext cx="9571333"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Current State Analysis</a:t>
              </a:r>
            </a:p>
          </p:txBody>
        </p:sp>
        <p:sp>
          <p:nvSpPr>
            <p:cNvPr id="17" name="TextBox 16">
              <a:extLst>
                <a:ext uri="{FF2B5EF4-FFF2-40B4-BE49-F238E27FC236}">
                  <a16:creationId xmlns:a16="http://schemas.microsoft.com/office/drawing/2014/main" id="{B0DBA618-872A-526C-0F8E-119F1DBDEB56}"/>
                </a:ext>
              </a:extLst>
            </p:cNvPr>
            <p:cNvSpPr txBox="1"/>
            <p:nvPr/>
          </p:nvSpPr>
          <p:spPr>
            <a:xfrm>
              <a:off x="1809305" y="3899065"/>
              <a:ext cx="7868967" cy="208199"/>
            </a:xfrm>
            <a:prstGeom prst="rect">
              <a:avLst/>
            </a:prstGeom>
          </p:spPr>
          <p:txBody>
            <a:bodyPr wrap="square" lIns="0" tIns="0" rIns="0" bIns="0" rtlCol="0" anchor="t">
              <a:spAutoFit/>
            </a:bodyPr>
            <a:lstStyle>
              <a:defPPr>
                <a:defRPr lang="en-US"/>
              </a:defPPr>
              <a:lvl1pPr>
                <a:lnSpc>
                  <a:spcPts val="1820"/>
                </a:lnSpc>
                <a:defRPr sz="1400">
                  <a:solidFill>
                    <a:srgbClr val="000000"/>
                  </a:solidFill>
                  <a:ea typeface="Gordita"/>
                  <a:cs typeface="Gordita"/>
                </a:defRPr>
              </a:lvl1pPr>
            </a:lstStyle>
            <a:p>
              <a:r>
                <a:rPr lang="en-US" sz="1200" noProof="0">
                  <a:latin typeface="Arial" panose="020B0604020202020204" pitchFamily="34" charset="0"/>
                  <a:cs typeface="Arial" panose="020B0604020202020204" pitchFamily="34" charset="0"/>
                </a:rPr>
                <a:t>Includes explanations for Roles and Responsibilities, Value stream Mapping, tools  and Governance Mapping</a:t>
              </a:r>
              <a:endParaRPr lang="en-US" sz="1200" noProof="0">
                <a:latin typeface="Arial" panose="020B0604020202020204" pitchFamily="34" charset="0"/>
                <a:cs typeface="Arial" panose="020B0604020202020204" pitchFamily="34" charset="0"/>
                <a:sym typeface="Gordita"/>
              </a:endParaRPr>
            </a:p>
          </p:txBody>
        </p:sp>
      </p:grpSp>
    </p:spTree>
    <p:extLst>
      <p:ext uri="{BB962C8B-B14F-4D97-AF65-F5344CB8AC3E}">
        <p14:creationId xmlns:p14="http://schemas.microsoft.com/office/powerpoint/2010/main" val="5291460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DF4FA1-6978-8EAB-309A-2A79334A47E3}"/>
            </a:ext>
          </a:extLst>
        </p:cNvPr>
        <p:cNvGrpSpPr/>
        <p:nvPr/>
      </p:nvGrpSpPr>
      <p:grpSpPr>
        <a:xfrm>
          <a:off x="0" y="0"/>
          <a:ext cx="0" cy="0"/>
          <a:chOff x="0" y="0"/>
          <a:chExt cx="0" cy="0"/>
        </a:xfrm>
      </p:grpSpPr>
      <p:sp>
        <p:nvSpPr>
          <p:cNvPr id="5" name="Rectangle 52">
            <a:extLst>
              <a:ext uri="{FF2B5EF4-FFF2-40B4-BE49-F238E27FC236}">
                <a16:creationId xmlns:a16="http://schemas.microsoft.com/office/drawing/2014/main" id="{21C8F8B2-8FED-F89B-0424-8B4E26D98120}"/>
              </a:ext>
            </a:extLst>
          </p:cNvPr>
          <p:cNvSpPr/>
          <p:nvPr/>
        </p:nvSpPr>
        <p:spPr>
          <a:xfrm>
            <a:off x="-561976" y="1009051"/>
            <a:ext cx="504913" cy="354411"/>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48" name="TextBox 147">
            <a:extLst>
              <a:ext uri="{FF2B5EF4-FFF2-40B4-BE49-F238E27FC236}">
                <a16:creationId xmlns:a16="http://schemas.microsoft.com/office/drawing/2014/main" id="{E3F191EC-BB3A-A8F0-462A-85129BEB089B}"/>
              </a:ext>
            </a:extLst>
          </p:cNvPr>
          <p:cNvSpPr txBox="1"/>
          <p:nvPr/>
        </p:nvSpPr>
        <p:spPr>
          <a:xfrm>
            <a:off x="458724" y="932575"/>
            <a:ext cx="11274552" cy="430887"/>
          </a:xfrm>
          <a:prstGeom prst="rect">
            <a:avLst/>
          </a:prstGeom>
          <a:noFill/>
        </p:spPr>
        <p:txBody>
          <a:bodyPr wrap="square" lIns="0" tIns="0" rIns="0" bIns="0" rtlCol="0">
            <a:noAutofit/>
          </a:bodyPr>
          <a:lstStyle>
            <a:defPPr>
              <a:defRPr lang="en-US"/>
            </a:defPPr>
            <a:lvl1pPr algn="ctr">
              <a:defRPr sz="1400" b="1">
                <a:solidFill>
                  <a:schemeClr val="accent4">
                    <a:lumMod val="75000"/>
                  </a:schemeClr>
                </a:solidFill>
                <a:latin typeface="Arial" panose="020B0604020202020204" pitchFamily="34" charset="0"/>
                <a:cs typeface="Arial" panose="020B0604020202020204" pitchFamily="34" charset="0"/>
              </a:defRPr>
            </a:lvl1pPr>
          </a:lstStyle>
          <a:p>
            <a:pPr algn="just">
              <a:defRPr/>
            </a:pPr>
            <a:r>
              <a:rPr lang="en-US" noProof="0">
                <a:solidFill>
                  <a:srgbClr val="0F9ED5">
                    <a:lumMod val="75000"/>
                  </a:srgbClr>
                </a:solidFill>
              </a:rPr>
              <a:t>Digital Products is currently structured around three core teams, following the recent establishment of the Product Management function. Digital Applications and SAP Customer Service. </a:t>
            </a:r>
          </a:p>
        </p:txBody>
      </p:sp>
      <p:sp>
        <p:nvSpPr>
          <p:cNvPr id="15" name="Título 2">
            <a:extLst>
              <a:ext uri="{FF2B5EF4-FFF2-40B4-BE49-F238E27FC236}">
                <a16:creationId xmlns:a16="http://schemas.microsoft.com/office/drawing/2014/main" id="{9300049E-BB34-F33A-5E06-5AFB8A89C767}"/>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r>
              <a:rPr lang="en-US" sz="2400" noProof="0">
                <a:latin typeface="Arial" panose="020B0604020202020204" pitchFamily="34" charset="0"/>
                <a:cs typeface="Arial" panose="020B0604020202020204" pitchFamily="34" charset="0"/>
              </a:rPr>
              <a:t>CURRENT STATE ANALYSIS</a:t>
            </a:r>
          </a:p>
        </p:txBody>
      </p:sp>
      <p:sp>
        <p:nvSpPr>
          <p:cNvPr id="37" name="object 9">
            <a:extLst>
              <a:ext uri="{FF2B5EF4-FFF2-40B4-BE49-F238E27FC236}">
                <a16:creationId xmlns:a16="http://schemas.microsoft.com/office/drawing/2014/main" id="{9F0E2791-ED85-61A4-A600-19C131150252}"/>
              </a:ext>
            </a:extLst>
          </p:cNvPr>
          <p:cNvSpPr txBox="1"/>
          <p:nvPr/>
        </p:nvSpPr>
        <p:spPr>
          <a:xfrm>
            <a:off x="8057840" y="1887515"/>
            <a:ext cx="3320163" cy="1065035"/>
          </a:xfrm>
          <a:prstGeom prst="rect">
            <a:avLst/>
          </a:prstGeom>
        </p:spPr>
        <p:txBody>
          <a:bodyPr vert="horz" wrap="square" lIns="0" tIns="48895" rIns="0" bIns="0" rtlCol="0">
            <a:spAutoFit/>
          </a:bodyPr>
          <a:lstStyle>
            <a:defPPr>
              <a:defRPr lang="en-US"/>
            </a:defPPr>
            <a:lvl1pPr marL="12700" lvl="0">
              <a:spcBef>
                <a:spcPts val="385"/>
              </a:spcBef>
              <a:buClr>
                <a:srgbClr val="00A243"/>
              </a:buClr>
              <a:tabLst>
                <a:tab pos="184785" algn="l"/>
              </a:tabLst>
              <a:defRPr sz="1100">
                <a:latin typeface="Arial" panose="020B0604020202020204" pitchFamily="34" charset="0"/>
                <a:cs typeface="Arial" panose="020B0604020202020204" pitchFamily="34" charset="0"/>
              </a:defRPr>
            </a:lvl1pPr>
          </a:lstStyle>
          <a:p>
            <a:r>
              <a:rPr lang="en-US" noProof="0"/>
              <a:t>The Customer Service team is responsible for designing, building, testing, and supporting technology solutions in close collaboration with Product Management by delivering scalable, secure, and reliable systems that </a:t>
            </a:r>
            <a:r>
              <a:rPr lang="en-US" b="1" noProof="0"/>
              <a:t>enable</a:t>
            </a:r>
            <a:r>
              <a:rPr lang="en-US" noProof="0"/>
              <a:t> </a:t>
            </a:r>
            <a:r>
              <a:rPr lang="en-US" b="1" noProof="0"/>
              <a:t>Customer Services processes.</a:t>
            </a:r>
          </a:p>
        </p:txBody>
      </p:sp>
      <p:sp>
        <p:nvSpPr>
          <p:cNvPr id="38" name="Rectangle 54">
            <a:extLst>
              <a:ext uri="{FF2B5EF4-FFF2-40B4-BE49-F238E27FC236}">
                <a16:creationId xmlns:a16="http://schemas.microsoft.com/office/drawing/2014/main" id="{720320C2-7134-C3AC-B6C5-07B6BD444543}"/>
              </a:ext>
            </a:extLst>
          </p:cNvPr>
          <p:cNvSpPr/>
          <p:nvPr/>
        </p:nvSpPr>
        <p:spPr>
          <a:xfrm>
            <a:off x="7991368" y="1539469"/>
            <a:ext cx="3432756" cy="1686117"/>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pitchFamily="34" charset="0"/>
              <a:cs typeface="Arial" panose="020B0604020202020204" pitchFamily="34" charset="0"/>
            </a:endParaRPr>
          </a:p>
        </p:txBody>
      </p:sp>
      <p:sp>
        <p:nvSpPr>
          <p:cNvPr id="41" name="object 9">
            <a:extLst>
              <a:ext uri="{FF2B5EF4-FFF2-40B4-BE49-F238E27FC236}">
                <a16:creationId xmlns:a16="http://schemas.microsoft.com/office/drawing/2014/main" id="{EE9ACB9C-AF9B-2928-140C-53C25F182099}"/>
              </a:ext>
            </a:extLst>
          </p:cNvPr>
          <p:cNvSpPr txBox="1"/>
          <p:nvPr/>
        </p:nvSpPr>
        <p:spPr>
          <a:xfrm>
            <a:off x="815336" y="1887515"/>
            <a:ext cx="3356535" cy="895758"/>
          </a:xfrm>
          <a:prstGeom prst="rect">
            <a:avLst/>
          </a:prstGeom>
        </p:spPr>
        <p:txBody>
          <a:bodyPr vert="horz" wrap="square" lIns="0" tIns="48895" rIns="0" bIns="0" rtlCol="0">
            <a:spAutoFit/>
          </a:bodyPr>
          <a:lstStyle>
            <a:defPPr>
              <a:defRPr lang="en-US"/>
            </a:defPPr>
            <a:lvl1pPr marL="12700" lvl="0">
              <a:spcBef>
                <a:spcPts val="385"/>
              </a:spcBef>
              <a:buClr>
                <a:srgbClr val="00A243"/>
              </a:buClr>
              <a:tabLst>
                <a:tab pos="184785" algn="l"/>
              </a:tabLst>
              <a:defRPr sz="1100">
                <a:latin typeface="Arial" panose="020B0604020202020204" pitchFamily="34" charset="0"/>
                <a:cs typeface="Arial" panose="020B0604020202020204" pitchFamily="34" charset="0"/>
              </a:defRPr>
            </a:lvl1pPr>
          </a:lstStyle>
          <a:p>
            <a:r>
              <a:rPr lang="en-US" noProof="0"/>
              <a:t>The Digital Applications team is responsible for designing, building, testing, and supporting technology solutions in by delivering scalable, secure, and reliable systems that </a:t>
            </a:r>
            <a:r>
              <a:rPr lang="en-US" b="1" noProof="0"/>
              <a:t>enable both field operations and back-office processes.</a:t>
            </a:r>
          </a:p>
        </p:txBody>
      </p:sp>
      <p:sp>
        <p:nvSpPr>
          <p:cNvPr id="42" name="Rectangle 54">
            <a:extLst>
              <a:ext uri="{FF2B5EF4-FFF2-40B4-BE49-F238E27FC236}">
                <a16:creationId xmlns:a16="http://schemas.microsoft.com/office/drawing/2014/main" id="{BB7BE8EB-6475-2785-F006-F02FC3A9A110}"/>
              </a:ext>
            </a:extLst>
          </p:cNvPr>
          <p:cNvSpPr/>
          <p:nvPr/>
        </p:nvSpPr>
        <p:spPr>
          <a:xfrm>
            <a:off x="767876" y="1539469"/>
            <a:ext cx="3465231" cy="1612893"/>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pitchFamily="34" charset="0"/>
              <a:cs typeface="Arial" panose="020B0604020202020204" pitchFamily="34" charset="0"/>
            </a:endParaRPr>
          </a:p>
        </p:txBody>
      </p:sp>
      <p:sp>
        <p:nvSpPr>
          <p:cNvPr id="43" name="object 9">
            <a:extLst>
              <a:ext uri="{FF2B5EF4-FFF2-40B4-BE49-F238E27FC236}">
                <a16:creationId xmlns:a16="http://schemas.microsoft.com/office/drawing/2014/main" id="{257376CF-2991-3DB7-7FEB-A8FC1387C4EA}"/>
              </a:ext>
            </a:extLst>
          </p:cNvPr>
          <p:cNvSpPr txBox="1"/>
          <p:nvPr/>
        </p:nvSpPr>
        <p:spPr>
          <a:xfrm>
            <a:off x="4400169" y="4446884"/>
            <a:ext cx="3455381" cy="726481"/>
          </a:xfrm>
          <a:prstGeom prst="rect">
            <a:avLst/>
          </a:prstGeom>
        </p:spPr>
        <p:txBody>
          <a:bodyPr vert="horz" wrap="square" lIns="0" tIns="48895" rIns="0" bIns="0" rtlCol="0">
            <a:spAutoFit/>
          </a:bodyPr>
          <a:lstStyle>
            <a:defPPr>
              <a:defRPr lang="en-US"/>
            </a:defPPr>
            <a:lvl1pPr marL="12700" lvl="0">
              <a:spcBef>
                <a:spcPts val="385"/>
              </a:spcBef>
              <a:buClr>
                <a:srgbClr val="00A243"/>
              </a:buClr>
              <a:tabLst>
                <a:tab pos="184785" algn="l"/>
              </a:tabLst>
              <a:defRPr sz="1000">
                <a:latin typeface="Arial" panose="020B0604020202020204" pitchFamily="34" charset="0"/>
                <a:cs typeface="Arial" panose="020B0604020202020204" pitchFamily="34" charset="0"/>
              </a:defRPr>
            </a:lvl1pPr>
          </a:lstStyle>
          <a:p>
            <a:r>
              <a:rPr lang="en-US" sz="1100" noProof="0"/>
              <a:t>This team align priorities, ensure business technological enablement and coordinate execution with business and IT to realize business value and set a delivery roadmap</a:t>
            </a:r>
          </a:p>
        </p:txBody>
      </p:sp>
      <p:sp>
        <p:nvSpPr>
          <p:cNvPr id="44" name="Rectangle 51">
            <a:extLst>
              <a:ext uri="{FF2B5EF4-FFF2-40B4-BE49-F238E27FC236}">
                <a16:creationId xmlns:a16="http://schemas.microsoft.com/office/drawing/2014/main" id="{C0A191B3-5852-D5C6-A16A-ECE5336DE16E}"/>
              </a:ext>
            </a:extLst>
          </p:cNvPr>
          <p:cNvSpPr/>
          <p:nvPr/>
        </p:nvSpPr>
        <p:spPr>
          <a:xfrm>
            <a:off x="4358008" y="4098838"/>
            <a:ext cx="3550070" cy="1173551"/>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solidFill>
                <a:srgbClr val="FFFFFF"/>
              </a:solidFill>
              <a:latin typeface="Arial" panose="020B0604020202020204" pitchFamily="34" charset="0"/>
              <a:cs typeface="Arial" panose="020B0604020202020204" pitchFamily="34" charset="0"/>
            </a:endParaRPr>
          </a:p>
        </p:txBody>
      </p:sp>
      <p:sp>
        <p:nvSpPr>
          <p:cNvPr id="45" name="Flowchart: Extract 1">
            <a:extLst>
              <a:ext uri="{FF2B5EF4-FFF2-40B4-BE49-F238E27FC236}">
                <a16:creationId xmlns:a16="http://schemas.microsoft.com/office/drawing/2014/main" id="{88DE796F-642E-ADC2-1C95-E91CBFAB6526}"/>
              </a:ext>
            </a:extLst>
          </p:cNvPr>
          <p:cNvSpPr/>
          <p:nvPr/>
        </p:nvSpPr>
        <p:spPr>
          <a:xfrm flipV="1">
            <a:off x="5019233" y="2004770"/>
            <a:ext cx="2153532" cy="1321311"/>
          </a:xfrm>
          <a:prstGeom prst="flowChartExtract">
            <a:avLst/>
          </a:prstGeom>
          <a:solidFill>
            <a:srgbClr val="0C84B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pitchFamily="34" charset="0"/>
              <a:cs typeface="Arial" panose="020B0604020202020204" pitchFamily="34" charset="0"/>
            </a:endParaRPr>
          </a:p>
        </p:txBody>
      </p:sp>
      <p:sp>
        <p:nvSpPr>
          <p:cNvPr id="46" name="Oval 27">
            <a:extLst>
              <a:ext uri="{FF2B5EF4-FFF2-40B4-BE49-F238E27FC236}">
                <a16:creationId xmlns:a16="http://schemas.microsoft.com/office/drawing/2014/main" id="{61CFC285-644E-E08C-B5DD-4D8F5C1A080E}"/>
              </a:ext>
            </a:extLst>
          </p:cNvPr>
          <p:cNvSpPr/>
          <p:nvPr/>
        </p:nvSpPr>
        <p:spPr>
          <a:xfrm>
            <a:off x="5691020" y="2068855"/>
            <a:ext cx="809958" cy="81150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a:ln>
                <a:noFill/>
              </a:ln>
              <a:solidFill>
                <a:srgbClr val="3A3734"/>
              </a:solidFill>
              <a:effectLst/>
              <a:uLnTx/>
              <a:uFillTx/>
              <a:latin typeface="Arial" panose="020B0604020202020204" pitchFamily="34" charset="0"/>
              <a:cs typeface="Arial" panose="020B0604020202020204" pitchFamily="34" charset="0"/>
            </a:endParaRPr>
          </a:p>
        </p:txBody>
      </p:sp>
      <p:sp>
        <p:nvSpPr>
          <p:cNvPr id="48" name="Oval 29">
            <a:extLst>
              <a:ext uri="{FF2B5EF4-FFF2-40B4-BE49-F238E27FC236}">
                <a16:creationId xmlns:a16="http://schemas.microsoft.com/office/drawing/2014/main" id="{CD2E89A2-F108-340B-9194-06573A40CE73}"/>
              </a:ext>
            </a:extLst>
          </p:cNvPr>
          <p:cNvSpPr/>
          <p:nvPr/>
        </p:nvSpPr>
        <p:spPr>
          <a:xfrm>
            <a:off x="4408711" y="1722694"/>
            <a:ext cx="457200" cy="458073"/>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a:ln>
                <a:noFill/>
              </a:ln>
              <a:solidFill>
                <a:srgbClr val="3A3734"/>
              </a:solidFill>
              <a:effectLst/>
              <a:uLnTx/>
              <a:uFillTx/>
              <a:latin typeface="Arial" panose="020B0604020202020204" pitchFamily="34" charset="0"/>
              <a:cs typeface="Arial" panose="020B0604020202020204" pitchFamily="34" charset="0"/>
            </a:endParaRPr>
          </a:p>
        </p:txBody>
      </p:sp>
      <p:sp>
        <p:nvSpPr>
          <p:cNvPr id="49" name="Oval 30">
            <a:extLst>
              <a:ext uri="{FF2B5EF4-FFF2-40B4-BE49-F238E27FC236}">
                <a16:creationId xmlns:a16="http://schemas.microsoft.com/office/drawing/2014/main" id="{3BDF83A9-BD98-7DCE-B1B1-E809171CA042}"/>
              </a:ext>
            </a:extLst>
          </p:cNvPr>
          <p:cNvSpPr/>
          <p:nvPr/>
        </p:nvSpPr>
        <p:spPr>
          <a:xfrm>
            <a:off x="5895682" y="3570863"/>
            <a:ext cx="457200" cy="458073"/>
          </a:xfrm>
          <a:prstGeom prst="ellipse">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a:ln>
                <a:noFill/>
              </a:ln>
              <a:solidFill>
                <a:srgbClr val="3A3734"/>
              </a:solidFill>
              <a:effectLst/>
              <a:uLnTx/>
              <a:uFillTx/>
              <a:latin typeface="Arial" panose="020B0604020202020204" pitchFamily="34" charset="0"/>
              <a:cs typeface="Arial" panose="020B0604020202020204" pitchFamily="34" charset="0"/>
            </a:endParaRPr>
          </a:p>
        </p:txBody>
      </p:sp>
      <p:sp>
        <p:nvSpPr>
          <p:cNvPr id="50" name="Oval 31">
            <a:extLst>
              <a:ext uri="{FF2B5EF4-FFF2-40B4-BE49-F238E27FC236}">
                <a16:creationId xmlns:a16="http://schemas.microsoft.com/office/drawing/2014/main" id="{1CFF8569-FD8B-4AAF-AC11-15DA7FFD5115}"/>
              </a:ext>
            </a:extLst>
          </p:cNvPr>
          <p:cNvSpPr/>
          <p:nvPr/>
        </p:nvSpPr>
        <p:spPr>
          <a:xfrm>
            <a:off x="7376619" y="1722694"/>
            <a:ext cx="457200" cy="458073"/>
          </a:xfrm>
          <a:prstGeom prst="ellipse">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a:ln>
                <a:noFill/>
              </a:ln>
              <a:solidFill>
                <a:srgbClr val="3A3734"/>
              </a:solidFill>
              <a:effectLst/>
              <a:uLnTx/>
              <a:uFillTx/>
              <a:latin typeface="Arial" panose="020B0604020202020204" pitchFamily="34" charset="0"/>
              <a:cs typeface="Arial" panose="020B0604020202020204" pitchFamily="34" charset="0"/>
            </a:endParaRPr>
          </a:p>
        </p:txBody>
      </p:sp>
      <p:pic>
        <p:nvPicPr>
          <p:cNvPr id="51" name="Picture 32">
            <a:extLst>
              <a:ext uri="{FF2B5EF4-FFF2-40B4-BE49-F238E27FC236}">
                <a16:creationId xmlns:a16="http://schemas.microsoft.com/office/drawing/2014/main" id="{6A628F47-2AC9-9B42-2037-BC50D093F60F}"/>
              </a:ext>
            </a:extLst>
          </p:cNvPr>
          <p:cNvPicPr>
            <a:picLocks noChangeAspect="1"/>
          </p:cNvPicPr>
          <p:nvPr/>
        </p:nvPicPr>
        <p:blipFill>
          <a:blip r:embed="rId3"/>
          <a:stretch>
            <a:fillRect/>
          </a:stretch>
        </p:blipFill>
        <p:spPr>
          <a:xfrm>
            <a:off x="4497569" y="1811989"/>
            <a:ext cx="279483" cy="279483"/>
          </a:xfrm>
          <a:prstGeom prst="rect">
            <a:avLst/>
          </a:prstGeom>
        </p:spPr>
      </p:pic>
      <p:pic>
        <p:nvPicPr>
          <p:cNvPr id="52" name="Picture 33">
            <a:extLst>
              <a:ext uri="{FF2B5EF4-FFF2-40B4-BE49-F238E27FC236}">
                <a16:creationId xmlns:a16="http://schemas.microsoft.com/office/drawing/2014/main" id="{C6049555-4071-458F-F531-36E0A5CC4A79}"/>
              </a:ext>
            </a:extLst>
          </p:cNvPr>
          <p:cNvPicPr>
            <a:picLocks noChangeAspect="1"/>
          </p:cNvPicPr>
          <p:nvPr/>
        </p:nvPicPr>
        <p:blipFill>
          <a:blip r:embed="rId4"/>
          <a:stretch>
            <a:fillRect/>
          </a:stretch>
        </p:blipFill>
        <p:spPr>
          <a:xfrm>
            <a:off x="5987034" y="3648125"/>
            <a:ext cx="279483" cy="279483"/>
          </a:xfrm>
          <a:prstGeom prst="rect">
            <a:avLst/>
          </a:prstGeom>
        </p:spPr>
      </p:pic>
      <p:pic>
        <p:nvPicPr>
          <p:cNvPr id="54" name="Picture 34">
            <a:extLst>
              <a:ext uri="{FF2B5EF4-FFF2-40B4-BE49-F238E27FC236}">
                <a16:creationId xmlns:a16="http://schemas.microsoft.com/office/drawing/2014/main" id="{08FE304D-933E-EADC-2858-B7D0E3829A18}"/>
              </a:ext>
            </a:extLst>
          </p:cNvPr>
          <p:cNvPicPr>
            <a:picLocks noChangeAspect="1"/>
          </p:cNvPicPr>
          <p:nvPr/>
        </p:nvPicPr>
        <p:blipFill>
          <a:blip r:embed="rId5"/>
          <a:stretch>
            <a:fillRect/>
          </a:stretch>
        </p:blipFill>
        <p:spPr>
          <a:xfrm>
            <a:off x="7465477" y="1811989"/>
            <a:ext cx="279483" cy="279483"/>
          </a:xfrm>
          <a:prstGeom prst="rect">
            <a:avLst/>
          </a:prstGeom>
        </p:spPr>
      </p:pic>
      <p:pic>
        <p:nvPicPr>
          <p:cNvPr id="55" name="Picture 50">
            <a:extLst>
              <a:ext uri="{FF2B5EF4-FFF2-40B4-BE49-F238E27FC236}">
                <a16:creationId xmlns:a16="http://schemas.microsoft.com/office/drawing/2014/main" id="{C5458CE0-1B48-46C8-36D6-73828FBA5B8D}"/>
              </a:ext>
            </a:extLst>
          </p:cNvPr>
          <p:cNvPicPr>
            <a:picLocks noChangeAspect="1"/>
          </p:cNvPicPr>
          <p:nvPr/>
        </p:nvPicPr>
        <p:blipFill>
          <a:blip r:embed="rId6"/>
          <a:stretch>
            <a:fillRect/>
          </a:stretch>
        </p:blipFill>
        <p:spPr>
          <a:xfrm>
            <a:off x="5870945" y="2249552"/>
            <a:ext cx="450109" cy="450109"/>
          </a:xfrm>
          <a:prstGeom prst="rect">
            <a:avLst/>
          </a:prstGeom>
        </p:spPr>
      </p:pic>
      <p:sp>
        <p:nvSpPr>
          <p:cNvPr id="57" name="Rectangle 26">
            <a:extLst>
              <a:ext uri="{FF2B5EF4-FFF2-40B4-BE49-F238E27FC236}">
                <a16:creationId xmlns:a16="http://schemas.microsoft.com/office/drawing/2014/main" id="{70A6D61F-AE45-98CC-435F-2345D9438BCA}"/>
              </a:ext>
            </a:extLst>
          </p:cNvPr>
          <p:cNvSpPr/>
          <p:nvPr/>
        </p:nvSpPr>
        <p:spPr>
          <a:xfrm>
            <a:off x="770550" y="1535687"/>
            <a:ext cx="3471458" cy="333971"/>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t>DIGITAL APPLICATIONS</a:t>
            </a:r>
          </a:p>
        </p:txBody>
      </p:sp>
      <p:sp>
        <p:nvSpPr>
          <p:cNvPr id="58" name="Rectangle 26">
            <a:extLst>
              <a:ext uri="{FF2B5EF4-FFF2-40B4-BE49-F238E27FC236}">
                <a16:creationId xmlns:a16="http://schemas.microsoft.com/office/drawing/2014/main" id="{D48BE71E-EFF0-676B-BE96-97BD295E16BD}"/>
              </a:ext>
            </a:extLst>
          </p:cNvPr>
          <p:cNvSpPr/>
          <p:nvPr/>
        </p:nvSpPr>
        <p:spPr>
          <a:xfrm>
            <a:off x="7984986" y="1535687"/>
            <a:ext cx="3438925" cy="333971"/>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t>SAP CUSTOMER SERVICE</a:t>
            </a:r>
          </a:p>
        </p:txBody>
      </p:sp>
      <p:sp>
        <p:nvSpPr>
          <p:cNvPr id="59" name="Rectangle 26">
            <a:extLst>
              <a:ext uri="{FF2B5EF4-FFF2-40B4-BE49-F238E27FC236}">
                <a16:creationId xmlns:a16="http://schemas.microsoft.com/office/drawing/2014/main" id="{0F394E3A-5079-332B-352B-6B17091A7916}"/>
              </a:ext>
            </a:extLst>
          </p:cNvPr>
          <p:cNvSpPr/>
          <p:nvPr/>
        </p:nvSpPr>
        <p:spPr>
          <a:xfrm>
            <a:off x="4354407" y="4095056"/>
            <a:ext cx="3557290" cy="333971"/>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t>PRODUCT MANAGEMENT</a:t>
            </a:r>
          </a:p>
        </p:txBody>
      </p:sp>
      <p:sp>
        <p:nvSpPr>
          <p:cNvPr id="4" name="CuadroTexto 3">
            <a:extLst>
              <a:ext uri="{FF2B5EF4-FFF2-40B4-BE49-F238E27FC236}">
                <a16:creationId xmlns:a16="http://schemas.microsoft.com/office/drawing/2014/main" id="{71AF0232-4EF8-9518-2FC4-0B1E0156F1F0}"/>
              </a:ext>
            </a:extLst>
          </p:cNvPr>
          <p:cNvSpPr txBox="1"/>
          <p:nvPr/>
        </p:nvSpPr>
        <p:spPr>
          <a:xfrm>
            <a:off x="65744" y="5418748"/>
            <a:ext cx="12060513" cy="954107"/>
          </a:xfrm>
          <a:prstGeom prst="rect">
            <a:avLst/>
          </a:prstGeom>
          <a:solidFill>
            <a:srgbClr val="6785C1"/>
          </a:solidFill>
        </p:spPr>
        <p:txBody>
          <a:bodyPr wrap="square" anchor="ctr">
            <a:spAutoFit/>
          </a:bodyPr>
          <a:lstStyle/>
          <a:p>
            <a:pPr algn="ctr">
              <a:defRPr/>
            </a:pPr>
            <a:r>
              <a:rPr lang="en-US" sz="1400" b="1" noProof="0">
                <a:solidFill>
                  <a:schemeClr val="bg1"/>
                </a:solidFill>
                <a:latin typeface="Arial" panose="020B0604020202020204" pitchFamily="34" charset="0"/>
                <a:cs typeface="Arial" panose="020B0604020202020204" pitchFamily="34" charset="0"/>
              </a:rPr>
              <a:t>Digital applications an SAP Customer Service areas are responsible for translating business requirements into actionable specifications across back-, middle-, and front-office domains, ensuring effective solution design and development. Complementing this, the Product Management team plays a central role in aligning priorities, coordinating execution between Business and IT, and driving the product roadmap to ensure consistent value delivery.</a:t>
            </a:r>
          </a:p>
        </p:txBody>
      </p:sp>
    </p:spTree>
    <p:extLst>
      <p:ext uri="{BB962C8B-B14F-4D97-AF65-F5344CB8AC3E}">
        <p14:creationId xmlns:p14="http://schemas.microsoft.com/office/powerpoint/2010/main" val="42751918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9E927C-F737-F357-2263-FC79C04C3890}"/>
            </a:ext>
          </a:extLst>
        </p:cNvPr>
        <p:cNvGrpSpPr/>
        <p:nvPr/>
      </p:nvGrpSpPr>
      <p:grpSpPr>
        <a:xfrm>
          <a:off x="0" y="0"/>
          <a:ext cx="0" cy="0"/>
          <a:chOff x="0" y="0"/>
          <a:chExt cx="0" cy="0"/>
        </a:xfrm>
      </p:grpSpPr>
      <p:sp>
        <p:nvSpPr>
          <p:cNvPr id="3" name="Rectangle 28">
            <a:extLst>
              <a:ext uri="{FF2B5EF4-FFF2-40B4-BE49-F238E27FC236}">
                <a16:creationId xmlns:a16="http://schemas.microsoft.com/office/drawing/2014/main" id="{6AD6F699-671D-D97D-A9AD-BCB729AECC70}"/>
              </a:ext>
            </a:extLst>
          </p:cNvPr>
          <p:cNvSpPr/>
          <p:nvPr/>
        </p:nvSpPr>
        <p:spPr>
          <a:xfrm>
            <a:off x="-561976" y="1891049"/>
            <a:ext cx="504913" cy="354411"/>
          </a:xfrm>
          <a:prstGeom prst="rect">
            <a:avLst/>
          </a:prstGeom>
          <a:solidFill>
            <a:srgbClr val="0DA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4" name="Rectangle 40">
            <a:extLst>
              <a:ext uri="{FF2B5EF4-FFF2-40B4-BE49-F238E27FC236}">
                <a16:creationId xmlns:a16="http://schemas.microsoft.com/office/drawing/2014/main" id="{B10A3F45-458E-97BA-2EF3-44715442B49B}"/>
              </a:ext>
            </a:extLst>
          </p:cNvPr>
          <p:cNvSpPr/>
          <p:nvPr/>
        </p:nvSpPr>
        <p:spPr>
          <a:xfrm>
            <a:off x="-561976" y="1450050"/>
            <a:ext cx="504913" cy="354411"/>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5" name="Rectangle 52">
            <a:extLst>
              <a:ext uri="{FF2B5EF4-FFF2-40B4-BE49-F238E27FC236}">
                <a16:creationId xmlns:a16="http://schemas.microsoft.com/office/drawing/2014/main" id="{9CBE970F-B1EA-0A9C-8718-0B31D2929D38}"/>
              </a:ext>
            </a:extLst>
          </p:cNvPr>
          <p:cNvSpPr/>
          <p:nvPr/>
        </p:nvSpPr>
        <p:spPr>
          <a:xfrm>
            <a:off x="-561976" y="1009051"/>
            <a:ext cx="504913" cy="354411"/>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7" name="Rectangle 64">
            <a:extLst>
              <a:ext uri="{FF2B5EF4-FFF2-40B4-BE49-F238E27FC236}">
                <a16:creationId xmlns:a16="http://schemas.microsoft.com/office/drawing/2014/main" id="{7337EEEA-D725-3197-8F6C-32472057047A}"/>
              </a:ext>
            </a:extLst>
          </p:cNvPr>
          <p:cNvSpPr/>
          <p:nvPr/>
        </p:nvSpPr>
        <p:spPr>
          <a:xfrm>
            <a:off x="-561976" y="2332048"/>
            <a:ext cx="504913" cy="354411"/>
          </a:xfrm>
          <a:prstGeom prst="rect">
            <a:avLst/>
          </a:prstGeom>
          <a:solidFill>
            <a:schemeClr val="accent6">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8" name="Rectangle 64">
            <a:extLst>
              <a:ext uri="{FF2B5EF4-FFF2-40B4-BE49-F238E27FC236}">
                <a16:creationId xmlns:a16="http://schemas.microsoft.com/office/drawing/2014/main" id="{3C4AC189-A755-BC6F-DB43-3FACE44C6B13}"/>
              </a:ext>
            </a:extLst>
          </p:cNvPr>
          <p:cNvSpPr/>
          <p:nvPr/>
        </p:nvSpPr>
        <p:spPr>
          <a:xfrm>
            <a:off x="-561976" y="2773047"/>
            <a:ext cx="504913" cy="354411"/>
          </a:xfrm>
          <a:prstGeom prst="rect">
            <a:avLst/>
          </a:prstGeom>
          <a:solidFill>
            <a:srgbClr val="00A4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9" name="Rectangle 64">
            <a:extLst>
              <a:ext uri="{FF2B5EF4-FFF2-40B4-BE49-F238E27FC236}">
                <a16:creationId xmlns:a16="http://schemas.microsoft.com/office/drawing/2014/main" id="{09C3DC64-D084-4F99-9DCA-81E41A5E7ADF}"/>
              </a:ext>
            </a:extLst>
          </p:cNvPr>
          <p:cNvSpPr/>
          <p:nvPr/>
        </p:nvSpPr>
        <p:spPr>
          <a:xfrm>
            <a:off x="-561976" y="3214046"/>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8" name="Rectangle 17">
            <a:extLst>
              <a:ext uri="{FF2B5EF4-FFF2-40B4-BE49-F238E27FC236}">
                <a16:creationId xmlns:a16="http://schemas.microsoft.com/office/drawing/2014/main" id="{0BA0E19A-FFE6-166C-86DF-3DF8E8238F92}"/>
              </a:ext>
            </a:extLst>
          </p:cNvPr>
          <p:cNvSpPr/>
          <p:nvPr/>
        </p:nvSpPr>
        <p:spPr>
          <a:xfrm>
            <a:off x="506481" y="1303356"/>
            <a:ext cx="11115675"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20" name="TextBox 19">
            <a:extLst>
              <a:ext uri="{FF2B5EF4-FFF2-40B4-BE49-F238E27FC236}">
                <a16:creationId xmlns:a16="http://schemas.microsoft.com/office/drawing/2014/main" id="{10F30EF9-ACC5-760D-A73C-7A06C8D33565}"/>
              </a:ext>
            </a:extLst>
          </p:cNvPr>
          <p:cNvSpPr txBox="1"/>
          <p:nvPr/>
        </p:nvSpPr>
        <p:spPr>
          <a:xfrm>
            <a:off x="5068956" y="1408398"/>
            <a:ext cx="2103120" cy="292837"/>
          </a:xfrm>
          <a:prstGeom prst="rect">
            <a:avLst/>
          </a:prstGeom>
          <a:noFill/>
          <a:ln>
            <a:noFill/>
          </a:ln>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900" b="1"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t>Vitor Cruz</a:t>
            </a:r>
          </a:p>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900" b="1"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t>VP — IT Business Solutions Delivery</a:t>
            </a:r>
          </a:p>
        </p:txBody>
      </p:sp>
      <p:sp>
        <p:nvSpPr>
          <p:cNvPr id="139" name="Rectangle 138">
            <a:extLst>
              <a:ext uri="{FF2B5EF4-FFF2-40B4-BE49-F238E27FC236}">
                <a16:creationId xmlns:a16="http://schemas.microsoft.com/office/drawing/2014/main" id="{8149480B-C761-264D-103B-1E2793B9BB60}"/>
              </a:ext>
            </a:extLst>
          </p:cNvPr>
          <p:cNvSpPr/>
          <p:nvPr/>
        </p:nvSpPr>
        <p:spPr>
          <a:xfrm>
            <a:off x="1553575" y="6553820"/>
            <a:ext cx="228600" cy="2286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40" name="TextBox 139">
            <a:extLst>
              <a:ext uri="{FF2B5EF4-FFF2-40B4-BE49-F238E27FC236}">
                <a16:creationId xmlns:a16="http://schemas.microsoft.com/office/drawing/2014/main" id="{F52C6630-D669-A48E-A2E9-80E565F4521F}"/>
              </a:ext>
            </a:extLst>
          </p:cNvPr>
          <p:cNvSpPr txBox="1"/>
          <p:nvPr/>
        </p:nvSpPr>
        <p:spPr>
          <a:xfrm>
            <a:off x="1840957" y="6580832"/>
            <a:ext cx="1807029" cy="156133"/>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2C3E50"/>
                </a:solidFill>
                <a:effectLst/>
                <a:uLnTx/>
                <a:uFillTx/>
                <a:latin typeface="Arial"/>
                <a:cs typeface="Arial"/>
              </a:rPr>
              <a:t>Area champion identified (</a:t>
            </a:r>
            <a:r>
              <a:rPr lang="en-US" sz="1000" b="1" noProof="0">
                <a:solidFill>
                  <a:srgbClr val="2C3E50"/>
                </a:solidFill>
                <a:latin typeface="Arial"/>
                <a:cs typeface="Arial"/>
              </a:rPr>
              <a:t>6</a:t>
            </a:r>
            <a:r>
              <a:rPr kumimoji="0" lang="en-US" sz="1000" b="1" i="0" u="none" strike="noStrike" kern="1200" cap="none" spc="0" normalizeH="0" baseline="0" noProof="0">
                <a:ln>
                  <a:noFill/>
                </a:ln>
                <a:solidFill>
                  <a:srgbClr val="2C3E50"/>
                </a:solidFill>
                <a:effectLst/>
                <a:uLnTx/>
                <a:uFillTx/>
                <a:latin typeface="Arial"/>
                <a:cs typeface="Arial"/>
              </a:rPr>
              <a:t>)</a:t>
            </a:r>
          </a:p>
        </p:txBody>
      </p:sp>
      <p:sp>
        <p:nvSpPr>
          <p:cNvPr id="145" name="Rectangle 144">
            <a:extLst>
              <a:ext uri="{FF2B5EF4-FFF2-40B4-BE49-F238E27FC236}">
                <a16:creationId xmlns:a16="http://schemas.microsoft.com/office/drawing/2014/main" id="{DE91348F-3D88-9F72-EF4B-563C19740480}"/>
              </a:ext>
            </a:extLst>
          </p:cNvPr>
          <p:cNvSpPr/>
          <p:nvPr/>
        </p:nvSpPr>
        <p:spPr>
          <a:xfrm>
            <a:off x="257597" y="5997386"/>
            <a:ext cx="11274552" cy="343501"/>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46" name="TextBox 145">
            <a:extLst>
              <a:ext uri="{FF2B5EF4-FFF2-40B4-BE49-F238E27FC236}">
                <a16:creationId xmlns:a16="http://schemas.microsoft.com/office/drawing/2014/main" id="{A9563AFB-E1F9-9340-FD9B-04DD73CFCC91}"/>
              </a:ext>
            </a:extLst>
          </p:cNvPr>
          <p:cNvSpPr txBox="1"/>
          <p:nvPr/>
        </p:nvSpPr>
        <p:spPr>
          <a:xfrm>
            <a:off x="486197" y="6114911"/>
            <a:ext cx="10817352" cy="117326"/>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Arial" panose="020B0604020202020204" pitchFamily="34" charset="0"/>
                <a:cs typeface="Arial" panose="020B0604020202020204" pitchFamily="34" charset="0"/>
              </a:rPr>
              <a:t>Two Sr. Manager vacancies leave Customer Services running at 60% leadership coverage — a structural risk the TOM must address before scaling</a:t>
            </a:r>
          </a:p>
        </p:txBody>
      </p:sp>
      <p:sp>
        <p:nvSpPr>
          <p:cNvPr id="148" name="TextBox 147">
            <a:extLst>
              <a:ext uri="{FF2B5EF4-FFF2-40B4-BE49-F238E27FC236}">
                <a16:creationId xmlns:a16="http://schemas.microsoft.com/office/drawing/2014/main" id="{85F78EB4-AFC4-2153-882E-1203D6BD9292}"/>
              </a:ext>
            </a:extLst>
          </p:cNvPr>
          <p:cNvSpPr txBox="1"/>
          <p:nvPr/>
        </p:nvSpPr>
        <p:spPr>
          <a:xfrm>
            <a:off x="458724" y="932575"/>
            <a:ext cx="11274552" cy="430887"/>
          </a:xfrm>
          <a:prstGeom prst="rect">
            <a:avLst/>
          </a:prstGeom>
          <a:noFill/>
        </p:spPr>
        <p:txBody>
          <a:bodyPr wrap="square" lIns="0" tIns="0" rIns="0" bIns="0" rtlCol="0" anchor="t">
            <a:noAutofit/>
          </a:bodyPr>
          <a:lstStyle>
            <a:defPPr>
              <a:defRPr lang="en-US"/>
            </a:defPPr>
            <a:lvl1pPr algn="ctr">
              <a:defRPr sz="1400" b="1">
                <a:solidFill>
                  <a:schemeClr val="accent4">
                    <a:lumMod val="75000"/>
                  </a:schemeClr>
                </a:solidFill>
                <a:latin typeface="Arial" panose="020B0604020202020204" pitchFamily="34" charset="0"/>
                <a:cs typeface="Arial" panose="020B0604020202020204" pitchFamily="34" charset="0"/>
              </a:defRPr>
            </a:lvl1p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F9ED5">
                    <a:lumMod val="75000"/>
                  </a:srgbClr>
                </a:solidFill>
                <a:effectLst/>
                <a:uLnTx/>
                <a:uFillTx/>
                <a:latin typeface="Arial"/>
                <a:cs typeface="Arial"/>
              </a:rPr>
              <a:t>Digital Products spans two director branches (~50 FTE) across nine sub-teams </a:t>
            </a:r>
            <a:endParaRPr lang="en-US" noProof="0">
              <a:latin typeface="Arial"/>
              <a:cs typeface="Arial"/>
            </a:endParaRPr>
          </a:p>
        </p:txBody>
      </p:sp>
      <p:sp>
        <p:nvSpPr>
          <p:cNvPr id="15" name="Título 2">
            <a:extLst>
              <a:ext uri="{FF2B5EF4-FFF2-40B4-BE49-F238E27FC236}">
                <a16:creationId xmlns:a16="http://schemas.microsoft.com/office/drawing/2014/main" id="{0BDD90E9-AB1C-D885-8E68-56EC57327A08}"/>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r>
              <a:rPr lang="en-US" sz="2400" noProof="0">
                <a:latin typeface="Arial" panose="020B0604020202020204" pitchFamily="34" charset="0"/>
                <a:cs typeface="Arial" panose="020B0604020202020204" pitchFamily="34" charset="0"/>
              </a:rPr>
              <a:t>CURRENT STATE ANALYSIS</a:t>
            </a:r>
          </a:p>
        </p:txBody>
      </p:sp>
      <p:sp>
        <p:nvSpPr>
          <p:cNvPr id="2" name="Rectangle 55">
            <a:extLst>
              <a:ext uri="{FF2B5EF4-FFF2-40B4-BE49-F238E27FC236}">
                <a16:creationId xmlns:a16="http://schemas.microsoft.com/office/drawing/2014/main" id="{BBE8722F-3392-12B1-704D-EF1FAEE8F5FE}"/>
              </a:ext>
            </a:extLst>
          </p:cNvPr>
          <p:cNvSpPr/>
          <p:nvPr/>
        </p:nvSpPr>
        <p:spPr>
          <a:xfrm>
            <a:off x="6627149" y="2410682"/>
            <a:ext cx="2770334" cy="325233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t"/>
          <a:lstStyle/>
          <a:p>
            <a:pPr algn="just"/>
            <a:r>
              <a:rPr lang="en-US" sz="1000" noProof="0">
                <a:solidFill>
                  <a:srgbClr val="0F1C50"/>
                </a:solidFill>
                <a:latin typeface="Arial" panose="020B0604020202020204" pitchFamily="34" charset="0"/>
                <a:cs typeface="Arial" panose="020B0604020202020204" pitchFamily="34" charset="0"/>
              </a:rPr>
              <a:t>This team </a:t>
            </a:r>
            <a:r>
              <a:rPr lang="en-US" sz="1000" b="1" noProof="0">
                <a:solidFill>
                  <a:srgbClr val="0F1C50"/>
                </a:solidFill>
                <a:latin typeface="Arial" panose="020B0604020202020204" pitchFamily="34" charset="0"/>
                <a:cs typeface="Arial" panose="020B0604020202020204" pitchFamily="34" charset="0"/>
              </a:rPr>
              <a:t>acts as the strategic coordination layer </a:t>
            </a:r>
            <a:r>
              <a:rPr lang="en-US" sz="1000" noProof="0">
                <a:solidFill>
                  <a:srgbClr val="0F1C50"/>
                </a:solidFill>
                <a:latin typeface="Arial" panose="020B0604020202020204" pitchFamily="34" charset="0"/>
                <a:cs typeface="Arial" panose="020B0604020202020204" pitchFamily="34" charset="0"/>
              </a:rPr>
              <a:t>across delivery and execution teams, ensuring alignment between business priorities and technical implementation. </a:t>
            </a:r>
          </a:p>
          <a:p>
            <a:pPr algn="just"/>
            <a:endParaRPr lang="en-US" sz="1000" noProof="0">
              <a:solidFill>
                <a:srgbClr val="0F1C50"/>
              </a:solidFill>
              <a:latin typeface="Arial" panose="020B0604020202020204" pitchFamily="34" charset="0"/>
              <a:cs typeface="Arial" panose="020B0604020202020204" pitchFamily="34" charset="0"/>
            </a:endParaRPr>
          </a:p>
          <a:p>
            <a:pPr algn="just"/>
            <a:r>
              <a:rPr lang="en-US" sz="1000" b="1" noProof="0">
                <a:solidFill>
                  <a:srgbClr val="0F1C50"/>
                </a:solidFill>
                <a:latin typeface="Arial" panose="020B0604020202020204" pitchFamily="34" charset="0"/>
                <a:cs typeface="Arial" panose="020B0604020202020204" pitchFamily="34" charset="0"/>
              </a:rPr>
              <a:t>It is responsible for shaping and supporting the prioritization </a:t>
            </a:r>
            <a:r>
              <a:rPr lang="en-US" sz="1000" noProof="0">
                <a:solidFill>
                  <a:srgbClr val="0F1C50"/>
                </a:solidFill>
                <a:latin typeface="Arial" panose="020B0604020202020204" pitchFamily="34" charset="0"/>
                <a:cs typeface="Arial" panose="020B0604020202020204" pitchFamily="34" charset="0"/>
              </a:rPr>
              <a:t>of work, providing direction and guidance to both teams throughout execution and development activities. In this role, the </a:t>
            </a:r>
            <a:r>
              <a:rPr lang="en-US" sz="1000" b="1" noProof="0">
                <a:solidFill>
                  <a:srgbClr val="0F1C50"/>
                </a:solidFill>
                <a:latin typeface="Arial" panose="020B0604020202020204" pitchFamily="34" charset="0"/>
                <a:cs typeface="Arial" panose="020B0604020202020204" pitchFamily="34" charset="0"/>
              </a:rPr>
              <a:t>team enables consistent focus on value creation</a:t>
            </a:r>
            <a:r>
              <a:rPr lang="en-US" sz="1000" noProof="0">
                <a:solidFill>
                  <a:srgbClr val="0F1C50"/>
                </a:solidFill>
                <a:latin typeface="Arial" panose="020B0604020202020204" pitchFamily="34" charset="0"/>
                <a:cs typeface="Arial" panose="020B0604020202020204" pitchFamily="34" charset="0"/>
              </a:rPr>
              <a:t>, ensuring that efforts are aligned with business outcomes and delivered efficiently through the effective orchestration of dependent teams.</a:t>
            </a:r>
          </a:p>
        </p:txBody>
      </p:sp>
      <p:sp>
        <p:nvSpPr>
          <p:cNvPr id="27" name="Rectangle 26">
            <a:extLst>
              <a:ext uri="{FF2B5EF4-FFF2-40B4-BE49-F238E27FC236}">
                <a16:creationId xmlns:a16="http://schemas.microsoft.com/office/drawing/2014/main" id="{F843EBDA-6CDE-11CD-C5A1-D8B1B007C12D}"/>
              </a:ext>
            </a:extLst>
          </p:cNvPr>
          <p:cNvSpPr/>
          <p:nvPr/>
        </p:nvSpPr>
        <p:spPr>
          <a:xfrm>
            <a:off x="569891" y="1951337"/>
            <a:ext cx="2885908" cy="4521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36" name="TextBox 35">
            <a:extLst>
              <a:ext uri="{FF2B5EF4-FFF2-40B4-BE49-F238E27FC236}">
                <a16:creationId xmlns:a16="http://schemas.microsoft.com/office/drawing/2014/main" id="{1D153E7A-B9BE-2318-60C7-1956C7BDDB20}"/>
              </a:ext>
            </a:extLst>
          </p:cNvPr>
          <p:cNvSpPr txBox="1"/>
          <p:nvPr/>
        </p:nvSpPr>
        <p:spPr>
          <a:xfrm>
            <a:off x="673695" y="2032835"/>
            <a:ext cx="2463814" cy="325410"/>
          </a:xfrm>
          <a:prstGeom prst="rect">
            <a:avLst/>
          </a:prstGeom>
          <a:noFill/>
          <a:ln>
            <a:noFill/>
          </a:ln>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t>Carlos Garbin  —  Director IT Business Applications  (~26 FTE)</a:t>
            </a:r>
          </a:p>
        </p:txBody>
      </p:sp>
      <p:sp>
        <p:nvSpPr>
          <p:cNvPr id="39" name="Rectangle 38">
            <a:extLst>
              <a:ext uri="{FF2B5EF4-FFF2-40B4-BE49-F238E27FC236}">
                <a16:creationId xmlns:a16="http://schemas.microsoft.com/office/drawing/2014/main" id="{164A4B0F-994E-105E-AB52-A0EF35E6428E}"/>
              </a:ext>
            </a:extLst>
          </p:cNvPr>
          <p:cNvSpPr/>
          <p:nvPr/>
        </p:nvSpPr>
        <p:spPr>
          <a:xfrm>
            <a:off x="3601927" y="1955765"/>
            <a:ext cx="2884554" cy="4521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40" name="TextBox 39">
            <a:extLst>
              <a:ext uri="{FF2B5EF4-FFF2-40B4-BE49-F238E27FC236}">
                <a16:creationId xmlns:a16="http://schemas.microsoft.com/office/drawing/2014/main" id="{CB05D540-6431-2701-D1D5-FFAF183F976C}"/>
              </a:ext>
            </a:extLst>
          </p:cNvPr>
          <p:cNvSpPr txBox="1"/>
          <p:nvPr/>
        </p:nvSpPr>
        <p:spPr>
          <a:xfrm>
            <a:off x="3601928" y="2037263"/>
            <a:ext cx="2586839" cy="325410"/>
          </a:xfrm>
          <a:prstGeom prst="rect">
            <a:avLst/>
          </a:prstGeom>
          <a:noFill/>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t>Kumar </a:t>
            </a:r>
            <a:r>
              <a:rPr kumimoji="0" lang="en-US" sz="1000" b="1" i="0" u="none" strike="noStrike" kern="1200" cap="none" spc="0" normalizeH="0" baseline="0" noProof="0" err="1">
                <a:ln>
                  <a:noFill/>
                </a:ln>
                <a:solidFill>
                  <a:prstClr val="white"/>
                </a:solidFill>
                <a:effectLst/>
                <a:uLnTx/>
                <a:uFillTx/>
                <a:latin typeface="Arial" panose="020B0604020202020204" pitchFamily="34" charset="0"/>
                <a:cs typeface="Arial" panose="020B0604020202020204" pitchFamily="34" charset="0"/>
              </a:rPr>
              <a:t>Jaladanki</a:t>
            </a:r>
            <a:r>
              <a:rPr kumimoji="0" lang="en-US" sz="1000" b="1"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t>  —  Director Customer Services Apps  (~24 FTE)</a:t>
            </a:r>
          </a:p>
        </p:txBody>
      </p:sp>
      <p:sp>
        <p:nvSpPr>
          <p:cNvPr id="47" name="Rectangle 46">
            <a:extLst>
              <a:ext uri="{FF2B5EF4-FFF2-40B4-BE49-F238E27FC236}">
                <a16:creationId xmlns:a16="http://schemas.microsoft.com/office/drawing/2014/main" id="{9E40F849-BE3B-9616-4007-2EE85940E874}"/>
              </a:ext>
            </a:extLst>
          </p:cNvPr>
          <p:cNvSpPr/>
          <p:nvPr/>
        </p:nvSpPr>
        <p:spPr>
          <a:xfrm>
            <a:off x="569892" y="2637136"/>
            <a:ext cx="55746" cy="648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56" name="Rectangle 55">
            <a:extLst>
              <a:ext uri="{FF2B5EF4-FFF2-40B4-BE49-F238E27FC236}">
                <a16:creationId xmlns:a16="http://schemas.microsoft.com/office/drawing/2014/main" id="{C34F132B-DCFC-F7DF-29ED-AEBC6AEB4303}"/>
              </a:ext>
            </a:extLst>
          </p:cNvPr>
          <p:cNvSpPr/>
          <p:nvPr/>
        </p:nvSpPr>
        <p:spPr>
          <a:xfrm>
            <a:off x="618550" y="2637136"/>
            <a:ext cx="2837250" cy="6480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65" name="TextBox 64">
            <a:extLst>
              <a:ext uri="{FF2B5EF4-FFF2-40B4-BE49-F238E27FC236}">
                <a16:creationId xmlns:a16="http://schemas.microsoft.com/office/drawing/2014/main" id="{9AAC5F6A-7DF6-90B0-09E9-B19EBF0FE054}"/>
              </a:ext>
            </a:extLst>
          </p:cNvPr>
          <p:cNvSpPr txBox="1"/>
          <p:nvPr/>
        </p:nvSpPr>
        <p:spPr>
          <a:xfrm>
            <a:off x="705052" y="2682856"/>
            <a:ext cx="1319508" cy="171778"/>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Bruno </a:t>
            </a:r>
            <a:r>
              <a:rPr kumimoji="0" lang="en-US" sz="1100" b="1" i="0" u="none" strike="noStrike" kern="1200" cap="none" spc="0" normalizeH="0" baseline="0" noProof="0" err="1">
                <a:ln>
                  <a:noFill/>
                </a:ln>
                <a:solidFill>
                  <a:srgbClr val="0F1C50"/>
                </a:solidFill>
                <a:effectLst/>
                <a:uLnTx/>
                <a:uFillTx/>
                <a:latin typeface="Arial" panose="020B0604020202020204" pitchFamily="34" charset="0"/>
                <a:cs typeface="Arial" panose="020B0604020202020204" pitchFamily="34" charset="0"/>
              </a:rPr>
              <a:t>Moreto</a:t>
            </a:r>
            <a:endParaRPr kumimoji="0" lang="en-US" sz="1100" b="1" i="0"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endParaRPr>
          </a:p>
        </p:txBody>
      </p:sp>
      <p:sp>
        <p:nvSpPr>
          <p:cNvPr id="79" name="TextBox 78">
            <a:extLst>
              <a:ext uri="{FF2B5EF4-FFF2-40B4-BE49-F238E27FC236}">
                <a16:creationId xmlns:a16="http://schemas.microsoft.com/office/drawing/2014/main" id="{0F3C29DB-BD23-D602-DCF4-A8FBEEF67E88}"/>
              </a:ext>
            </a:extLst>
          </p:cNvPr>
          <p:cNvSpPr txBox="1"/>
          <p:nvPr/>
        </p:nvSpPr>
        <p:spPr>
          <a:xfrm>
            <a:off x="705052" y="2938889"/>
            <a:ext cx="1319508" cy="156133"/>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Electric &amp; Gas Ops</a:t>
            </a:r>
          </a:p>
        </p:txBody>
      </p:sp>
      <p:sp>
        <p:nvSpPr>
          <p:cNvPr id="80" name="Rounded Rectangle 13">
            <a:extLst>
              <a:ext uri="{FF2B5EF4-FFF2-40B4-BE49-F238E27FC236}">
                <a16:creationId xmlns:a16="http://schemas.microsoft.com/office/drawing/2014/main" id="{E41FA41A-5817-2ADB-5BC3-62F76DA818D4}"/>
              </a:ext>
            </a:extLst>
          </p:cNvPr>
          <p:cNvSpPr/>
          <p:nvPr/>
        </p:nvSpPr>
        <p:spPr>
          <a:xfrm>
            <a:off x="2116125" y="2765153"/>
            <a:ext cx="321982" cy="274611"/>
          </a:xfrm>
          <a:prstGeom prst="round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81" name="TextBox 80">
            <a:extLst>
              <a:ext uri="{FF2B5EF4-FFF2-40B4-BE49-F238E27FC236}">
                <a16:creationId xmlns:a16="http://schemas.microsoft.com/office/drawing/2014/main" id="{BA28A9A0-DE30-E444-5B8C-03449EDE02D0}"/>
              </a:ext>
            </a:extLst>
          </p:cNvPr>
          <p:cNvSpPr txBox="1"/>
          <p:nvPr/>
        </p:nvSpPr>
        <p:spPr>
          <a:xfrm>
            <a:off x="2121702" y="2846728"/>
            <a:ext cx="321982" cy="140488"/>
          </a:xfrm>
          <a:prstGeom prst="rect">
            <a:avLst/>
          </a:prstGeom>
          <a:noFill/>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900" b="1" i="0" u="none" strike="noStrike" kern="1200" cap="none" spc="0" normalizeH="0" baseline="0" noProof="0">
                <a:ln>
                  <a:noFill/>
                </a:ln>
                <a:solidFill>
                  <a:srgbClr val="FFFFFF"/>
                </a:solidFill>
                <a:effectLst/>
                <a:uLnTx/>
                <a:uFillTx/>
                <a:latin typeface="Arial" panose="020B0604020202020204" pitchFamily="34" charset="0"/>
                <a:cs typeface="Arial" panose="020B0604020202020204" pitchFamily="34" charset="0"/>
              </a:rPr>
              <a:t>7 FTE</a:t>
            </a:r>
          </a:p>
        </p:txBody>
      </p:sp>
      <p:sp>
        <p:nvSpPr>
          <p:cNvPr id="82" name="TextBox 81">
            <a:extLst>
              <a:ext uri="{FF2B5EF4-FFF2-40B4-BE49-F238E27FC236}">
                <a16:creationId xmlns:a16="http://schemas.microsoft.com/office/drawing/2014/main" id="{FAC9FA2B-84D9-484A-C2E0-C6B35BEF4B77}"/>
              </a:ext>
            </a:extLst>
          </p:cNvPr>
          <p:cNvSpPr txBox="1"/>
          <p:nvPr/>
        </p:nvSpPr>
        <p:spPr>
          <a:xfrm>
            <a:off x="2503585" y="2701782"/>
            <a:ext cx="952215" cy="445186"/>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1"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G&amp;E Champion: </a:t>
            </a:r>
            <a:r>
              <a:rPr kumimoji="0" lang="en-US" sz="900" b="1" i="1"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Andrew McGibbon</a:t>
            </a:r>
          </a:p>
        </p:txBody>
      </p:sp>
      <p:sp>
        <p:nvSpPr>
          <p:cNvPr id="83" name="Rectangle 82">
            <a:extLst>
              <a:ext uri="{FF2B5EF4-FFF2-40B4-BE49-F238E27FC236}">
                <a16:creationId xmlns:a16="http://schemas.microsoft.com/office/drawing/2014/main" id="{940DE772-1EAE-CA35-0963-8693A9E1F69F}"/>
              </a:ext>
            </a:extLst>
          </p:cNvPr>
          <p:cNvSpPr/>
          <p:nvPr/>
        </p:nvSpPr>
        <p:spPr>
          <a:xfrm>
            <a:off x="569892" y="3408219"/>
            <a:ext cx="55746" cy="648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84" name="Rectangle 83">
            <a:extLst>
              <a:ext uri="{FF2B5EF4-FFF2-40B4-BE49-F238E27FC236}">
                <a16:creationId xmlns:a16="http://schemas.microsoft.com/office/drawing/2014/main" id="{E9A66747-A33F-99C3-EA77-3F3795E1E786}"/>
              </a:ext>
            </a:extLst>
          </p:cNvPr>
          <p:cNvSpPr/>
          <p:nvPr/>
        </p:nvSpPr>
        <p:spPr>
          <a:xfrm>
            <a:off x="618550" y="3408219"/>
            <a:ext cx="2837250" cy="6480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85" name="TextBox 84">
            <a:extLst>
              <a:ext uri="{FF2B5EF4-FFF2-40B4-BE49-F238E27FC236}">
                <a16:creationId xmlns:a16="http://schemas.microsoft.com/office/drawing/2014/main" id="{9A6206E1-499B-B776-BE44-FC52FBB14C75}"/>
              </a:ext>
            </a:extLst>
          </p:cNvPr>
          <p:cNvSpPr txBox="1"/>
          <p:nvPr/>
        </p:nvSpPr>
        <p:spPr>
          <a:xfrm>
            <a:off x="705052" y="3453940"/>
            <a:ext cx="1319508" cy="171778"/>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George Porto</a:t>
            </a:r>
          </a:p>
        </p:txBody>
      </p:sp>
      <p:sp>
        <p:nvSpPr>
          <p:cNvPr id="86" name="TextBox 85">
            <a:extLst>
              <a:ext uri="{FF2B5EF4-FFF2-40B4-BE49-F238E27FC236}">
                <a16:creationId xmlns:a16="http://schemas.microsoft.com/office/drawing/2014/main" id="{42EEF0D4-06AC-57D5-3BF6-05EC03099828}"/>
              </a:ext>
            </a:extLst>
          </p:cNvPr>
          <p:cNvSpPr txBox="1"/>
          <p:nvPr/>
        </p:nvSpPr>
        <p:spPr>
          <a:xfrm>
            <a:off x="705052" y="3709971"/>
            <a:ext cx="1319508" cy="156133"/>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GIS &amp; OSG</a:t>
            </a:r>
          </a:p>
        </p:txBody>
      </p:sp>
      <p:sp>
        <p:nvSpPr>
          <p:cNvPr id="87" name="Rounded Rectangle 20">
            <a:extLst>
              <a:ext uri="{FF2B5EF4-FFF2-40B4-BE49-F238E27FC236}">
                <a16:creationId xmlns:a16="http://schemas.microsoft.com/office/drawing/2014/main" id="{3D08A442-5D58-8D36-898F-455FA3FB1E2B}"/>
              </a:ext>
            </a:extLst>
          </p:cNvPr>
          <p:cNvSpPr/>
          <p:nvPr/>
        </p:nvSpPr>
        <p:spPr>
          <a:xfrm>
            <a:off x="2116125" y="3536236"/>
            <a:ext cx="321982" cy="274611"/>
          </a:xfrm>
          <a:prstGeom prst="round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88" name="TextBox 87">
            <a:extLst>
              <a:ext uri="{FF2B5EF4-FFF2-40B4-BE49-F238E27FC236}">
                <a16:creationId xmlns:a16="http://schemas.microsoft.com/office/drawing/2014/main" id="{D8CEB0CD-9374-4076-DC9B-5AB99DC8CC76}"/>
              </a:ext>
            </a:extLst>
          </p:cNvPr>
          <p:cNvSpPr txBox="1"/>
          <p:nvPr/>
        </p:nvSpPr>
        <p:spPr>
          <a:xfrm>
            <a:off x="2121702" y="3617811"/>
            <a:ext cx="321982" cy="140488"/>
          </a:xfrm>
          <a:prstGeom prst="rect">
            <a:avLst/>
          </a:prstGeom>
          <a:noFill/>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900" b="1" i="0" u="none" strike="noStrike" kern="1200" cap="none" spc="0" normalizeH="0" baseline="0" noProof="0">
                <a:ln>
                  <a:noFill/>
                </a:ln>
                <a:solidFill>
                  <a:srgbClr val="FFFFFF"/>
                </a:solidFill>
                <a:effectLst/>
                <a:uLnTx/>
                <a:uFillTx/>
                <a:latin typeface="Arial" panose="020B0604020202020204" pitchFamily="34" charset="0"/>
                <a:cs typeface="Arial" panose="020B0604020202020204" pitchFamily="34" charset="0"/>
              </a:rPr>
              <a:t>6 FTE</a:t>
            </a:r>
          </a:p>
        </p:txBody>
      </p:sp>
      <p:sp>
        <p:nvSpPr>
          <p:cNvPr id="89" name="TextBox 88">
            <a:extLst>
              <a:ext uri="{FF2B5EF4-FFF2-40B4-BE49-F238E27FC236}">
                <a16:creationId xmlns:a16="http://schemas.microsoft.com/office/drawing/2014/main" id="{03D94FE9-944D-05CD-6DE7-C418D103F838}"/>
              </a:ext>
            </a:extLst>
          </p:cNvPr>
          <p:cNvSpPr txBox="1"/>
          <p:nvPr/>
        </p:nvSpPr>
        <p:spPr>
          <a:xfrm>
            <a:off x="2503585" y="3556297"/>
            <a:ext cx="952215" cy="292837"/>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1"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GIS Champion: </a:t>
            </a:r>
            <a:r>
              <a:rPr kumimoji="0" lang="en-US" sz="900" b="1" i="1"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George Porto</a:t>
            </a:r>
          </a:p>
        </p:txBody>
      </p:sp>
      <p:grpSp>
        <p:nvGrpSpPr>
          <p:cNvPr id="14" name="Grupo 13">
            <a:extLst>
              <a:ext uri="{FF2B5EF4-FFF2-40B4-BE49-F238E27FC236}">
                <a16:creationId xmlns:a16="http://schemas.microsoft.com/office/drawing/2014/main" id="{91AC07C7-28F2-1E02-51BB-59A09EF47C5A}"/>
              </a:ext>
            </a:extLst>
          </p:cNvPr>
          <p:cNvGrpSpPr/>
          <p:nvPr/>
        </p:nvGrpSpPr>
        <p:grpSpPr>
          <a:xfrm>
            <a:off x="569892" y="4151310"/>
            <a:ext cx="2885908" cy="648000"/>
            <a:chOff x="527031" y="4012800"/>
            <a:chExt cx="3050631" cy="648000"/>
          </a:xfrm>
        </p:grpSpPr>
        <p:grpSp>
          <p:nvGrpSpPr>
            <p:cNvPr id="13" name="Grupo 12">
              <a:extLst>
                <a:ext uri="{FF2B5EF4-FFF2-40B4-BE49-F238E27FC236}">
                  <a16:creationId xmlns:a16="http://schemas.microsoft.com/office/drawing/2014/main" id="{8B5A5DE6-21A8-6F51-C0DB-029DA3049015}"/>
                </a:ext>
              </a:extLst>
            </p:cNvPr>
            <p:cNvGrpSpPr/>
            <p:nvPr/>
          </p:nvGrpSpPr>
          <p:grpSpPr>
            <a:xfrm>
              <a:off x="527031" y="4012800"/>
              <a:ext cx="3050630" cy="648000"/>
              <a:chOff x="527031" y="4012800"/>
              <a:chExt cx="3050630" cy="648000"/>
            </a:xfrm>
          </p:grpSpPr>
          <p:sp>
            <p:nvSpPr>
              <p:cNvPr id="90" name="Rectangle 89">
                <a:extLst>
                  <a:ext uri="{FF2B5EF4-FFF2-40B4-BE49-F238E27FC236}">
                    <a16:creationId xmlns:a16="http://schemas.microsoft.com/office/drawing/2014/main" id="{55AD8F59-3EAF-DC60-15E3-4301AB953D2B}"/>
                  </a:ext>
                </a:extLst>
              </p:cNvPr>
              <p:cNvSpPr/>
              <p:nvPr/>
            </p:nvSpPr>
            <p:spPr>
              <a:xfrm>
                <a:off x="527031" y="4012800"/>
                <a:ext cx="58928" cy="648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91" name="Rectangle 90">
                <a:extLst>
                  <a:ext uri="{FF2B5EF4-FFF2-40B4-BE49-F238E27FC236}">
                    <a16:creationId xmlns:a16="http://schemas.microsoft.com/office/drawing/2014/main" id="{EA249954-9106-E548-DC20-18B11F7F8F3E}"/>
                  </a:ext>
                </a:extLst>
              </p:cNvPr>
              <p:cNvSpPr/>
              <p:nvPr/>
            </p:nvSpPr>
            <p:spPr>
              <a:xfrm>
                <a:off x="578466" y="4012800"/>
                <a:ext cx="2999195" cy="6480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sp>
          <p:nvSpPr>
            <p:cNvPr id="92" name="TextBox 91">
              <a:extLst>
                <a:ext uri="{FF2B5EF4-FFF2-40B4-BE49-F238E27FC236}">
                  <a16:creationId xmlns:a16="http://schemas.microsoft.com/office/drawing/2014/main" id="{96274045-445E-9496-DC8F-A71CAE7509E4}"/>
                </a:ext>
              </a:extLst>
            </p:cNvPr>
            <p:cNvSpPr txBox="1"/>
            <p:nvPr/>
          </p:nvSpPr>
          <p:spPr>
            <a:xfrm>
              <a:off x="669906" y="4058521"/>
              <a:ext cx="1394823" cy="171778"/>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Sarath </a:t>
              </a:r>
              <a:r>
                <a:rPr kumimoji="0" lang="en-US" sz="1100" b="1" i="0" u="none" strike="noStrike" kern="1200" cap="none" spc="0" normalizeH="0" baseline="0" noProof="0" err="1">
                  <a:ln>
                    <a:noFill/>
                  </a:ln>
                  <a:solidFill>
                    <a:srgbClr val="0F1C50"/>
                  </a:solidFill>
                  <a:effectLst/>
                  <a:uLnTx/>
                  <a:uFillTx/>
                  <a:latin typeface="Arial" panose="020B0604020202020204" pitchFamily="34" charset="0"/>
                  <a:cs typeface="Arial" panose="020B0604020202020204" pitchFamily="34" charset="0"/>
                </a:rPr>
                <a:t>Garikapati</a:t>
              </a:r>
              <a:endParaRPr kumimoji="0" lang="en-US" sz="1100" b="1" i="0"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endParaRPr>
            </a:p>
          </p:txBody>
        </p:sp>
        <p:sp>
          <p:nvSpPr>
            <p:cNvPr id="93" name="TextBox 92">
              <a:extLst>
                <a:ext uri="{FF2B5EF4-FFF2-40B4-BE49-F238E27FC236}">
                  <a16:creationId xmlns:a16="http://schemas.microsoft.com/office/drawing/2014/main" id="{E9C82096-5AB3-AE36-0458-14D8A5D8F4EA}"/>
                </a:ext>
              </a:extLst>
            </p:cNvPr>
            <p:cNvSpPr txBox="1"/>
            <p:nvPr/>
          </p:nvSpPr>
          <p:spPr>
            <a:xfrm>
              <a:off x="669906" y="4314553"/>
              <a:ext cx="1394823" cy="156133"/>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Corporate Applications</a:t>
              </a:r>
            </a:p>
          </p:txBody>
        </p:sp>
        <p:sp>
          <p:nvSpPr>
            <p:cNvPr id="94" name="Rounded Rectangle 27">
              <a:extLst>
                <a:ext uri="{FF2B5EF4-FFF2-40B4-BE49-F238E27FC236}">
                  <a16:creationId xmlns:a16="http://schemas.microsoft.com/office/drawing/2014/main" id="{60C8B683-A3F5-B785-44A3-C08FBBA7DB82}"/>
                </a:ext>
              </a:extLst>
            </p:cNvPr>
            <p:cNvSpPr/>
            <p:nvPr/>
          </p:nvSpPr>
          <p:spPr>
            <a:xfrm>
              <a:off x="2161520" y="4140817"/>
              <a:ext cx="340360" cy="274611"/>
            </a:xfrm>
            <a:prstGeom prst="round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95" name="TextBox 94">
              <a:extLst>
                <a:ext uri="{FF2B5EF4-FFF2-40B4-BE49-F238E27FC236}">
                  <a16:creationId xmlns:a16="http://schemas.microsoft.com/office/drawing/2014/main" id="{2E9DD177-08FA-B504-A8CC-EE67B410FC8F}"/>
                </a:ext>
              </a:extLst>
            </p:cNvPr>
            <p:cNvSpPr txBox="1"/>
            <p:nvPr/>
          </p:nvSpPr>
          <p:spPr>
            <a:xfrm>
              <a:off x="2167416" y="4222392"/>
              <a:ext cx="340360" cy="140488"/>
            </a:xfrm>
            <a:prstGeom prst="rect">
              <a:avLst/>
            </a:prstGeom>
            <a:noFill/>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900" b="1" i="0" u="none" strike="noStrike" kern="1200" cap="none" spc="0" normalizeH="0" baseline="0" noProof="0">
                  <a:ln>
                    <a:noFill/>
                  </a:ln>
                  <a:solidFill>
                    <a:srgbClr val="FFFFFF"/>
                  </a:solidFill>
                  <a:effectLst/>
                  <a:uLnTx/>
                  <a:uFillTx/>
                  <a:latin typeface="Arial" panose="020B0604020202020204" pitchFamily="34" charset="0"/>
                  <a:cs typeface="Arial" panose="020B0604020202020204" pitchFamily="34" charset="0"/>
                </a:rPr>
                <a:t>8 FTE</a:t>
              </a:r>
            </a:p>
          </p:txBody>
        </p:sp>
        <p:sp>
          <p:nvSpPr>
            <p:cNvPr id="96" name="TextBox 95">
              <a:extLst>
                <a:ext uri="{FF2B5EF4-FFF2-40B4-BE49-F238E27FC236}">
                  <a16:creationId xmlns:a16="http://schemas.microsoft.com/office/drawing/2014/main" id="{AE652F80-755D-58ED-9636-6531A91FD973}"/>
                </a:ext>
              </a:extLst>
            </p:cNvPr>
            <p:cNvSpPr txBox="1"/>
            <p:nvPr/>
          </p:nvSpPr>
          <p:spPr>
            <a:xfrm>
              <a:off x="2571096" y="4084702"/>
              <a:ext cx="1006566" cy="445186"/>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1"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Corporate Champion: </a:t>
              </a:r>
              <a:r>
                <a:rPr kumimoji="0" lang="en-US" sz="900" b="1" i="1"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Amit Patel</a:t>
              </a:r>
            </a:p>
          </p:txBody>
        </p:sp>
      </p:grpSp>
      <p:grpSp>
        <p:nvGrpSpPr>
          <p:cNvPr id="16" name="Grupo 15">
            <a:extLst>
              <a:ext uri="{FF2B5EF4-FFF2-40B4-BE49-F238E27FC236}">
                <a16:creationId xmlns:a16="http://schemas.microsoft.com/office/drawing/2014/main" id="{385A57EB-3839-2869-505B-970FBFBBCC2B}"/>
              </a:ext>
            </a:extLst>
          </p:cNvPr>
          <p:cNvGrpSpPr/>
          <p:nvPr/>
        </p:nvGrpSpPr>
        <p:grpSpPr>
          <a:xfrm>
            <a:off x="569892" y="4894398"/>
            <a:ext cx="2885907" cy="648000"/>
            <a:chOff x="527031" y="4914510"/>
            <a:chExt cx="3050630" cy="648000"/>
          </a:xfrm>
        </p:grpSpPr>
        <p:sp>
          <p:nvSpPr>
            <p:cNvPr id="97" name="Rectangle 96">
              <a:extLst>
                <a:ext uri="{FF2B5EF4-FFF2-40B4-BE49-F238E27FC236}">
                  <a16:creationId xmlns:a16="http://schemas.microsoft.com/office/drawing/2014/main" id="{883A6C0A-06A2-D8BF-D338-FAA845CD017F}"/>
                </a:ext>
              </a:extLst>
            </p:cNvPr>
            <p:cNvSpPr/>
            <p:nvPr/>
          </p:nvSpPr>
          <p:spPr>
            <a:xfrm>
              <a:off x="527031" y="4914510"/>
              <a:ext cx="58928" cy="648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98" name="Rectangle 97">
              <a:extLst>
                <a:ext uri="{FF2B5EF4-FFF2-40B4-BE49-F238E27FC236}">
                  <a16:creationId xmlns:a16="http://schemas.microsoft.com/office/drawing/2014/main" id="{858F5AC0-D34C-DF5A-30B0-75363387426E}"/>
                </a:ext>
              </a:extLst>
            </p:cNvPr>
            <p:cNvSpPr/>
            <p:nvPr/>
          </p:nvSpPr>
          <p:spPr>
            <a:xfrm>
              <a:off x="578466" y="4914510"/>
              <a:ext cx="2999195" cy="6480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99" name="TextBox 98">
              <a:extLst>
                <a:ext uri="{FF2B5EF4-FFF2-40B4-BE49-F238E27FC236}">
                  <a16:creationId xmlns:a16="http://schemas.microsoft.com/office/drawing/2014/main" id="{2704EC51-DCD6-51DF-EE76-C04AD0BD46AD}"/>
                </a:ext>
              </a:extLst>
            </p:cNvPr>
            <p:cNvSpPr txBox="1"/>
            <p:nvPr/>
          </p:nvSpPr>
          <p:spPr>
            <a:xfrm>
              <a:off x="669906" y="4960231"/>
              <a:ext cx="1394823" cy="171778"/>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Vanessa Colombo</a:t>
              </a:r>
            </a:p>
          </p:txBody>
        </p:sp>
        <p:sp>
          <p:nvSpPr>
            <p:cNvPr id="100" name="TextBox 99">
              <a:extLst>
                <a:ext uri="{FF2B5EF4-FFF2-40B4-BE49-F238E27FC236}">
                  <a16:creationId xmlns:a16="http://schemas.microsoft.com/office/drawing/2014/main" id="{AE15457C-A45A-64A1-5E8D-2B2131525EBA}"/>
                </a:ext>
              </a:extLst>
            </p:cNvPr>
            <p:cNvSpPr txBox="1"/>
            <p:nvPr/>
          </p:nvSpPr>
          <p:spPr>
            <a:xfrm>
              <a:off x="664604" y="5216263"/>
              <a:ext cx="1534306" cy="325410"/>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Global SAP — Iberdrola</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FI, PO, Budget (Spain)</a:t>
              </a:r>
            </a:p>
          </p:txBody>
        </p:sp>
        <p:sp>
          <p:nvSpPr>
            <p:cNvPr id="101" name="Rounded Rectangle 34">
              <a:extLst>
                <a:ext uri="{FF2B5EF4-FFF2-40B4-BE49-F238E27FC236}">
                  <a16:creationId xmlns:a16="http://schemas.microsoft.com/office/drawing/2014/main" id="{09EC34E7-9B95-215B-AD92-2614BF85F5E1}"/>
                </a:ext>
              </a:extLst>
            </p:cNvPr>
            <p:cNvSpPr/>
            <p:nvPr/>
          </p:nvSpPr>
          <p:spPr>
            <a:xfrm>
              <a:off x="2161520" y="5042527"/>
              <a:ext cx="340360" cy="274611"/>
            </a:xfrm>
            <a:prstGeom prst="round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02" name="TextBox 101">
              <a:extLst>
                <a:ext uri="{FF2B5EF4-FFF2-40B4-BE49-F238E27FC236}">
                  <a16:creationId xmlns:a16="http://schemas.microsoft.com/office/drawing/2014/main" id="{CDD2AE5C-762D-954E-12FF-238B9F75C65B}"/>
                </a:ext>
              </a:extLst>
            </p:cNvPr>
            <p:cNvSpPr txBox="1"/>
            <p:nvPr/>
          </p:nvSpPr>
          <p:spPr>
            <a:xfrm>
              <a:off x="2167416" y="5124102"/>
              <a:ext cx="340360" cy="140488"/>
            </a:xfrm>
            <a:prstGeom prst="rect">
              <a:avLst/>
            </a:prstGeom>
            <a:noFill/>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900" b="1" i="0" u="none" strike="noStrike" kern="1200" cap="none" spc="0" normalizeH="0" baseline="0" noProof="0">
                  <a:ln>
                    <a:noFill/>
                  </a:ln>
                  <a:solidFill>
                    <a:srgbClr val="FFFFFF"/>
                  </a:solidFill>
                  <a:effectLst/>
                  <a:uLnTx/>
                  <a:uFillTx/>
                  <a:latin typeface="Arial" panose="020B0604020202020204" pitchFamily="34" charset="0"/>
                  <a:cs typeface="Arial" panose="020B0604020202020204" pitchFamily="34" charset="0"/>
                </a:rPr>
                <a:t>5 FTE</a:t>
              </a:r>
            </a:p>
          </p:txBody>
        </p:sp>
        <p:sp>
          <p:nvSpPr>
            <p:cNvPr id="103" name="TextBox 102">
              <a:extLst>
                <a:ext uri="{FF2B5EF4-FFF2-40B4-BE49-F238E27FC236}">
                  <a16:creationId xmlns:a16="http://schemas.microsoft.com/office/drawing/2014/main" id="{1DFDFA29-189E-98D2-0DCB-EED18914C959}"/>
                </a:ext>
              </a:extLst>
            </p:cNvPr>
            <p:cNvSpPr txBox="1"/>
            <p:nvPr/>
          </p:nvSpPr>
          <p:spPr>
            <a:xfrm>
              <a:off x="2571096" y="4979155"/>
              <a:ext cx="947637" cy="445186"/>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1"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Global SAP Champion: </a:t>
              </a:r>
              <a:r>
                <a:rPr kumimoji="0" lang="en-US" sz="900" b="1" i="1"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Michael Dubois</a:t>
              </a:r>
            </a:p>
          </p:txBody>
        </p:sp>
      </p:grpSp>
      <p:grpSp>
        <p:nvGrpSpPr>
          <p:cNvPr id="26" name="Grupo 25">
            <a:extLst>
              <a:ext uri="{FF2B5EF4-FFF2-40B4-BE49-F238E27FC236}">
                <a16:creationId xmlns:a16="http://schemas.microsoft.com/office/drawing/2014/main" id="{F96283E6-1012-46C9-9E53-C13749F98E64}"/>
              </a:ext>
            </a:extLst>
          </p:cNvPr>
          <p:cNvGrpSpPr/>
          <p:nvPr/>
        </p:nvGrpSpPr>
        <p:grpSpPr>
          <a:xfrm>
            <a:off x="3610756" y="2641565"/>
            <a:ext cx="2886148" cy="648000"/>
            <a:chOff x="7758541" y="2781436"/>
            <a:chExt cx="3050885" cy="648000"/>
          </a:xfrm>
        </p:grpSpPr>
        <p:sp>
          <p:nvSpPr>
            <p:cNvPr id="104" name="Rectangle 103">
              <a:extLst>
                <a:ext uri="{FF2B5EF4-FFF2-40B4-BE49-F238E27FC236}">
                  <a16:creationId xmlns:a16="http://schemas.microsoft.com/office/drawing/2014/main" id="{7E595531-5177-5003-E8A8-18E7725A129F}"/>
                </a:ext>
              </a:extLst>
            </p:cNvPr>
            <p:cNvSpPr/>
            <p:nvPr/>
          </p:nvSpPr>
          <p:spPr>
            <a:xfrm>
              <a:off x="7758541" y="2781436"/>
              <a:ext cx="58928" cy="648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05" name="Rectangle 104">
              <a:extLst>
                <a:ext uri="{FF2B5EF4-FFF2-40B4-BE49-F238E27FC236}">
                  <a16:creationId xmlns:a16="http://schemas.microsoft.com/office/drawing/2014/main" id="{62FF972F-6742-E143-F5D3-6B102582166F}"/>
                </a:ext>
              </a:extLst>
            </p:cNvPr>
            <p:cNvSpPr/>
            <p:nvPr/>
          </p:nvSpPr>
          <p:spPr>
            <a:xfrm>
              <a:off x="7821426" y="2781436"/>
              <a:ext cx="2988000" cy="6480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06" name="TextBox 105">
              <a:extLst>
                <a:ext uri="{FF2B5EF4-FFF2-40B4-BE49-F238E27FC236}">
                  <a16:creationId xmlns:a16="http://schemas.microsoft.com/office/drawing/2014/main" id="{148E9004-518A-8BAB-4F6C-A98977AD27BD}"/>
                </a:ext>
              </a:extLst>
            </p:cNvPr>
            <p:cNvSpPr txBox="1"/>
            <p:nvPr/>
          </p:nvSpPr>
          <p:spPr>
            <a:xfrm>
              <a:off x="7912867" y="2920835"/>
              <a:ext cx="1236618" cy="156133"/>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Ivelisse Velazquez</a:t>
              </a:r>
            </a:p>
          </p:txBody>
        </p:sp>
        <p:sp>
          <p:nvSpPr>
            <p:cNvPr id="107" name="TextBox 106">
              <a:extLst>
                <a:ext uri="{FF2B5EF4-FFF2-40B4-BE49-F238E27FC236}">
                  <a16:creationId xmlns:a16="http://schemas.microsoft.com/office/drawing/2014/main" id="{6FCBEAE6-589A-388F-4B7B-5CFE4D1D8613}"/>
                </a:ext>
              </a:extLst>
            </p:cNvPr>
            <p:cNvSpPr txBox="1"/>
            <p:nvPr/>
          </p:nvSpPr>
          <p:spPr>
            <a:xfrm>
              <a:off x="7912867" y="3122004"/>
              <a:ext cx="1236618" cy="124906"/>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8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FICA, Billing &amp; Collection</a:t>
              </a:r>
            </a:p>
          </p:txBody>
        </p:sp>
        <p:sp>
          <p:nvSpPr>
            <p:cNvPr id="108" name="Rounded Rectangle 41">
              <a:extLst>
                <a:ext uri="{FF2B5EF4-FFF2-40B4-BE49-F238E27FC236}">
                  <a16:creationId xmlns:a16="http://schemas.microsoft.com/office/drawing/2014/main" id="{925DF9E3-3296-A355-39C1-8A654EDDC1CD}"/>
                </a:ext>
              </a:extLst>
            </p:cNvPr>
            <p:cNvSpPr/>
            <p:nvPr/>
          </p:nvSpPr>
          <p:spPr>
            <a:xfrm>
              <a:off x="9324214" y="2947522"/>
              <a:ext cx="309155" cy="245292"/>
            </a:xfrm>
            <a:prstGeom prst="round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09" name="TextBox 108">
              <a:extLst>
                <a:ext uri="{FF2B5EF4-FFF2-40B4-BE49-F238E27FC236}">
                  <a16:creationId xmlns:a16="http://schemas.microsoft.com/office/drawing/2014/main" id="{CC49231B-1D79-1108-A566-53C56FEC0518}"/>
                </a:ext>
              </a:extLst>
            </p:cNvPr>
            <p:cNvSpPr txBox="1"/>
            <p:nvPr/>
          </p:nvSpPr>
          <p:spPr>
            <a:xfrm>
              <a:off x="9324214" y="3014972"/>
              <a:ext cx="309155" cy="124906"/>
            </a:xfrm>
            <a:prstGeom prst="rect">
              <a:avLst/>
            </a:prstGeom>
            <a:noFill/>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Arial" panose="020B0604020202020204" pitchFamily="34" charset="0"/>
                  <a:cs typeface="Arial" panose="020B0604020202020204" pitchFamily="34" charset="0"/>
                </a:rPr>
                <a:t>8 FTE</a:t>
              </a:r>
            </a:p>
          </p:txBody>
        </p:sp>
        <p:sp>
          <p:nvSpPr>
            <p:cNvPr id="110" name="TextBox 109">
              <a:extLst>
                <a:ext uri="{FF2B5EF4-FFF2-40B4-BE49-F238E27FC236}">
                  <a16:creationId xmlns:a16="http://schemas.microsoft.com/office/drawing/2014/main" id="{8264C208-0CDD-C919-6356-03AF8893F904}"/>
                </a:ext>
              </a:extLst>
            </p:cNvPr>
            <p:cNvSpPr txBox="1"/>
            <p:nvPr/>
          </p:nvSpPr>
          <p:spPr>
            <a:xfrm>
              <a:off x="9749691" y="2949110"/>
              <a:ext cx="1006566" cy="292837"/>
            </a:xfrm>
            <a:prstGeom prst="rect">
              <a:avLst/>
            </a:prstGeom>
            <a:noFill/>
          </p:spPr>
          <p:txBody>
            <a:bodyPr wrap="square" lIns="0" tIns="0" rIns="0" bIns="0" anchor="ctr">
              <a:spAutoFit/>
            </a:bodyPr>
            <a:lstStyle>
              <a:defPPr>
                <a:defRPr lang="en-US"/>
              </a:defPPr>
              <a:lvl1pPr>
                <a:lnSpc>
                  <a:spcPct val="110000"/>
                </a:lnSpc>
                <a:spcBef>
                  <a:spcPts val="0"/>
                </a:spcBef>
                <a:spcAft>
                  <a:spcPts val="0"/>
                </a:spcAft>
                <a:defRPr sz="900" b="0" i="1">
                  <a:solidFill>
                    <a:srgbClr val="0F1C50"/>
                  </a:solidFill>
                  <a:latin typeface="Helvetica Neue"/>
                </a:defRPr>
              </a:lvl1p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1"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SAP Champion: </a:t>
              </a:r>
              <a:r>
                <a:rPr kumimoji="0" lang="en-US" sz="900" b="1" i="1"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Stephanie</a:t>
              </a:r>
            </a:p>
          </p:txBody>
        </p:sp>
      </p:grpSp>
      <p:grpSp>
        <p:nvGrpSpPr>
          <p:cNvPr id="29" name="Grupo 28">
            <a:extLst>
              <a:ext uri="{FF2B5EF4-FFF2-40B4-BE49-F238E27FC236}">
                <a16:creationId xmlns:a16="http://schemas.microsoft.com/office/drawing/2014/main" id="{57BBB860-9A1B-AE48-B8C7-E34D307DB36C}"/>
              </a:ext>
            </a:extLst>
          </p:cNvPr>
          <p:cNvGrpSpPr/>
          <p:nvPr/>
        </p:nvGrpSpPr>
        <p:grpSpPr>
          <a:xfrm>
            <a:off x="3606852" y="3373988"/>
            <a:ext cx="2886917" cy="2350538"/>
            <a:chOff x="8531712" y="3618596"/>
            <a:chExt cx="2774261" cy="1942592"/>
          </a:xfrm>
        </p:grpSpPr>
        <p:sp>
          <p:nvSpPr>
            <p:cNvPr id="111" name="Rectangle 110">
              <a:extLst>
                <a:ext uri="{FF2B5EF4-FFF2-40B4-BE49-F238E27FC236}">
                  <a16:creationId xmlns:a16="http://schemas.microsoft.com/office/drawing/2014/main" id="{B6BF4FF3-BB0A-8348-D613-96C0D4CCF48B}"/>
                </a:ext>
              </a:extLst>
            </p:cNvPr>
            <p:cNvSpPr/>
            <p:nvPr/>
          </p:nvSpPr>
          <p:spPr>
            <a:xfrm>
              <a:off x="8531712" y="3618596"/>
              <a:ext cx="58928" cy="40640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12" name="Rectangle 111">
              <a:extLst>
                <a:ext uri="{FF2B5EF4-FFF2-40B4-BE49-F238E27FC236}">
                  <a16:creationId xmlns:a16="http://schemas.microsoft.com/office/drawing/2014/main" id="{F8014F1E-AF2B-0677-EB3F-D864670FA010}"/>
                </a:ext>
              </a:extLst>
            </p:cNvPr>
            <p:cNvSpPr/>
            <p:nvPr/>
          </p:nvSpPr>
          <p:spPr>
            <a:xfrm>
              <a:off x="8650584" y="3618596"/>
              <a:ext cx="2655389" cy="4064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13" name="TextBox 112">
              <a:extLst>
                <a:ext uri="{FF2B5EF4-FFF2-40B4-BE49-F238E27FC236}">
                  <a16:creationId xmlns:a16="http://schemas.microsoft.com/office/drawing/2014/main" id="{780A31B3-307F-64C8-A38A-25995253BBA4}"/>
                </a:ext>
              </a:extLst>
            </p:cNvPr>
            <p:cNvSpPr txBox="1"/>
            <p:nvPr/>
          </p:nvSpPr>
          <p:spPr>
            <a:xfrm>
              <a:off x="8742024" y="3646027"/>
              <a:ext cx="1236618" cy="156133"/>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TBD (vacant)</a:t>
              </a:r>
            </a:p>
          </p:txBody>
        </p:sp>
        <p:sp>
          <p:nvSpPr>
            <p:cNvPr id="114" name="TextBox 113">
              <a:extLst>
                <a:ext uri="{FF2B5EF4-FFF2-40B4-BE49-F238E27FC236}">
                  <a16:creationId xmlns:a16="http://schemas.microsoft.com/office/drawing/2014/main" id="{725FF288-58B6-2A0C-38B2-C4E5610E69F6}"/>
                </a:ext>
              </a:extLst>
            </p:cNvPr>
            <p:cNvSpPr txBox="1"/>
            <p:nvPr/>
          </p:nvSpPr>
          <p:spPr>
            <a:xfrm>
              <a:off x="8742024" y="3847196"/>
              <a:ext cx="1236618" cy="260328"/>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8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CRM &amp; Contact Center Ops</a:t>
              </a:r>
            </a:p>
          </p:txBody>
        </p:sp>
        <p:sp>
          <p:nvSpPr>
            <p:cNvPr id="115" name="Rounded Rectangle 48">
              <a:extLst>
                <a:ext uri="{FF2B5EF4-FFF2-40B4-BE49-F238E27FC236}">
                  <a16:creationId xmlns:a16="http://schemas.microsoft.com/office/drawing/2014/main" id="{01FC1DE3-4116-1709-F577-4434D819855E}"/>
                </a:ext>
              </a:extLst>
            </p:cNvPr>
            <p:cNvSpPr/>
            <p:nvPr/>
          </p:nvSpPr>
          <p:spPr>
            <a:xfrm>
              <a:off x="10909152" y="3710036"/>
              <a:ext cx="309155" cy="245292"/>
            </a:xfrm>
            <a:prstGeom prst="round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16" name="TextBox 115">
              <a:extLst>
                <a:ext uri="{FF2B5EF4-FFF2-40B4-BE49-F238E27FC236}">
                  <a16:creationId xmlns:a16="http://schemas.microsoft.com/office/drawing/2014/main" id="{F65DA037-3C04-2004-A1BD-B42264C2672C}"/>
                </a:ext>
              </a:extLst>
            </p:cNvPr>
            <p:cNvSpPr txBox="1"/>
            <p:nvPr/>
          </p:nvSpPr>
          <p:spPr>
            <a:xfrm>
              <a:off x="10909152" y="3777486"/>
              <a:ext cx="309155" cy="124906"/>
            </a:xfrm>
            <a:prstGeom prst="rect">
              <a:avLst/>
            </a:prstGeom>
            <a:noFill/>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Arial" panose="020B0604020202020204" pitchFamily="34" charset="0"/>
                  <a:cs typeface="Arial" panose="020B0604020202020204" pitchFamily="34" charset="0"/>
                </a:rPr>
                <a:t>4 FTE</a:t>
              </a:r>
            </a:p>
          </p:txBody>
        </p:sp>
        <p:sp>
          <p:nvSpPr>
            <p:cNvPr id="118" name="Rectangle 117">
              <a:extLst>
                <a:ext uri="{FF2B5EF4-FFF2-40B4-BE49-F238E27FC236}">
                  <a16:creationId xmlns:a16="http://schemas.microsoft.com/office/drawing/2014/main" id="{E30B091D-D391-52F2-9ECB-58C9DE14E738}"/>
                </a:ext>
              </a:extLst>
            </p:cNvPr>
            <p:cNvSpPr/>
            <p:nvPr/>
          </p:nvSpPr>
          <p:spPr>
            <a:xfrm>
              <a:off x="8531712" y="4130660"/>
              <a:ext cx="58928" cy="4064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19" name="Rectangle 118">
              <a:extLst>
                <a:ext uri="{FF2B5EF4-FFF2-40B4-BE49-F238E27FC236}">
                  <a16:creationId xmlns:a16="http://schemas.microsoft.com/office/drawing/2014/main" id="{D73FCBC9-6406-B5F9-0462-02229F20581D}"/>
                </a:ext>
              </a:extLst>
            </p:cNvPr>
            <p:cNvSpPr/>
            <p:nvPr/>
          </p:nvSpPr>
          <p:spPr>
            <a:xfrm>
              <a:off x="8650584" y="4130660"/>
              <a:ext cx="2655389" cy="4064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20" name="TextBox 119">
              <a:extLst>
                <a:ext uri="{FF2B5EF4-FFF2-40B4-BE49-F238E27FC236}">
                  <a16:creationId xmlns:a16="http://schemas.microsoft.com/office/drawing/2014/main" id="{CC3EB9AD-044B-72BB-CFB8-080535545559}"/>
                </a:ext>
              </a:extLst>
            </p:cNvPr>
            <p:cNvSpPr txBox="1"/>
            <p:nvPr/>
          </p:nvSpPr>
          <p:spPr>
            <a:xfrm>
              <a:off x="8742024" y="4158092"/>
              <a:ext cx="1236618" cy="156133"/>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Vincent Lam</a:t>
              </a:r>
            </a:p>
          </p:txBody>
        </p:sp>
        <p:sp>
          <p:nvSpPr>
            <p:cNvPr id="121" name="TextBox 120">
              <a:extLst>
                <a:ext uri="{FF2B5EF4-FFF2-40B4-BE49-F238E27FC236}">
                  <a16:creationId xmlns:a16="http://schemas.microsoft.com/office/drawing/2014/main" id="{AB80BCEA-862E-F05D-390D-2895A823D364}"/>
                </a:ext>
              </a:extLst>
            </p:cNvPr>
            <p:cNvSpPr txBox="1"/>
            <p:nvPr/>
          </p:nvSpPr>
          <p:spPr>
            <a:xfrm>
              <a:off x="8742024" y="4325673"/>
              <a:ext cx="1236618" cy="103228"/>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8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Billing, Device &amp; Metering </a:t>
              </a:r>
            </a:p>
          </p:txBody>
        </p:sp>
        <p:sp>
          <p:nvSpPr>
            <p:cNvPr id="122" name="Rounded Rectangle 55">
              <a:extLst>
                <a:ext uri="{FF2B5EF4-FFF2-40B4-BE49-F238E27FC236}">
                  <a16:creationId xmlns:a16="http://schemas.microsoft.com/office/drawing/2014/main" id="{BD04AEFD-9B25-43A4-9B75-879419932408}"/>
                </a:ext>
              </a:extLst>
            </p:cNvPr>
            <p:cNvSpPr/>
            <p:nvPr/>
          </p:nvSpPr>
          <p:spPr>
            <a:xfrm>
              <a:off x="9958353" y="4215924"/>
              <a:ext cx="309155" cy="245292"/>
            </a:xfrm>
            <a:prstGeom prst="round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23" name="TextBox 122">
              <a:extLst>
                <a:ext uri="{FF2B5EF4-FFF2-40B4-BE49-F238E27FC236}">
                  <a16:creationId xmlns:a16="http://schemas.microsoft.com/office/drawing/2014/main" id="{9616EBA6-862F-F6B2-9EFF-60F545E68AC6}"/>
                </a:ext>
              </a:extLst>
            </p:cNvPr>
            <p:cNvSpPr txBox="1"/>
            <p:nvPr/>
          </p:nvSpPr>
          <p:spPr>
            <a:xfrm>
              <a:off x="9958353" y="4283375"/>
              <a:ext cx="309155" cy="124906"/>
            </a:xfrm>
            <a:prstGeom prst="rect">
              <a:avLst/>
            </a:prstGeom>
            <a:noFill/>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Arial" panose="020B0604020202020204" pitchFamily="34" charset="0"/>
                  <a:cs typeface="Arial" panose="020B0604020202020204" pitchFamily="34" charset="0"/>
                </a:rPr>
                <a:t>8 FTE</a:t>
              </a:r>
            </a:p>
          </p:txBody>
        </p:sp>
        <p:sp>
          <p:nvSpPr>
            <p:cNvPr id="125" name="Rectangle 124">
              <a:extLst>
                <a:ext uri="{FF2B5EF4-FFF2-40B4-BE49-F238E27FC236}">
                  <a16:creationId xmlns:a16="http://schemas.microsoft.com/office/drawing/2014/main" id="{0DAADC4D-28CD-7DF0-3D0F-A2128C7D9C11}"/>
                </a:ext>
              </a:extLst>
            </p:cNvPr>
            <p:cNvSpPr/>
            <p:nvPr/>
          </p:nvSpPr>
          <p:spPr>
            <a:xfrm>
              <a:off x="8531712" y="4642724"/>
              <a:ext cx="58928" cy="40640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26" name="Rectangle 125">
              <a:extLst>
                <a:ext uri="{FF2B5EF4-FFF2-40B4-BE49-F238E27FC236}">
                  <a16:creationId xmlns:a16="http://schemas.microsoft.com/office/drawing/2014/main" id="{26A196EA-75B4-E845-BDF7-C3A06C19F5E8}"/>
                </a:ext>
              </a:extLst>
            </p:cNvPr>
            <p:cNvSpPr/>
            <p:nvPr/>
          </p:nvSpPr>
          <p:spPr>
            <a:xfrm>
              <a:off x="8650584" y="4642724"/>
              <a:ext cx="2655389" cy="4064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27" name="TextBox 126">
              <a:extLst>
                <a:ext uri="{FF2B5EF4-FFF2-40B4-BE49-F238E27FC236}">
                  <a16:creationId xmlns:a16="http://schemas.microsoft.com/office/drawing/2014/main" id="{5179606C-4286-AA18-EA99-FD54CBFBEA16}"/>
                </a:ext>
              </a:extLst>
            </p:cNvPr>
            <p:cNvSpPr txBox="1"/>
            <p:nvPr/>
          </p:nvSpPr>
          <p:spPr>
            <a:xfrm>
              <a:off x="8742024" y="4670156"/>
              <a:ext cx="1236618" cy="156133"/>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Open (vacant)</a:t>
              </a:r>
            </a:p>
          </p:txBody>
        </p:sp>
        <p:sp>
          <p:nvSpPr>
            <p:cNvPr id="128" name="TextBox 127">
              <a:extLst>
                <a:ext uri="{FF2B5EF4-FFF2-40B4-BE49-F238E27FC236}">
                  <a16:creationId xmlns:a16="http://schemas.microsoft.com/office/drawing/2014/main" id="{9848A21B-A0C0-568D-205B-3FD4A9EF30A9}"/>
                </a:ext>
              </a:extLst>
            </p:cNvPr>
            <p:cNvSpPr txBox="1"/>
            <p:nvPr/>
          </p:nvSpPr>
          <p:spPr>
            <a:xfrm>
              <a:off x="8742024" y="4871324"/>
              <a:ext cx="1236618" cy="124906"/>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8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SAP &amp; CS Architecture</a:t>
              </a:r>
            </a:p>
          </p:txBody>
        </p:sp>
        <p:sp>
          <p:nvSpPr>
            <p:cNvPr id="129" name="Rounded Rectangle 62">
              <a:extLst>
                <a:ext uri="{FF2B5EF4-FFF2-40B4-BE49-F238E27FC236}">
                  <a16:creationId xmlns:a16="http://schemas.microsoft.com/office/drawing/2014/main" id="{2BF3CC0D-69F5-6FDC-99DE-A5C8C4C15402}"/>
                </a:ext>
              </a:extLst>
            </p:cNvPr>
            <p:cNvSpPr/>
            <p:nvPr/>
          </p:nvSpPr>
          <p:spPr>
            <a:xfrm>
              <a:off x="10909152" y="4734164"/>
              <a:ext cx="309155" cy="245292"/>
            </a:xfrm>
            <a:prstGeom prst="round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30" name="TextBox 129">
              <a:extLst>
                <a:ext uri="{FF2B5EF4-FFF2-40B4-BE49-F238E27FC236}">
                  <a16:creationId xmlns:a16="http://schemas.microsoft.com/office/drawing/2014/main" id="{3F0C75B0-1944-36D5-6D4A-77A73275FE1F}"/>
                </a:ext>
              </a:extLst>
            </p:cNvPr>
            <p:cNvSpPr txBox="1"/>
            <p:nvPr/>
          </p:nvSpPr>
          <p:spPr>
            <a:xfrm>
              <a:off x="10909152" y="4812453"/>
              <a:ext cx="309155" cy="103228"/>
            </a:xfrm>
            <a:prstGeom prst="rect">
              <a:avLst/>
            </a:prstGeom>
            <a:noFill/>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lang="en-US" sz="800" b="1" noProof="0">
                  <a:solidFill>
                    <a:srgbClr val="FFFFFF"/>
                  </a:solidFill>
                  <a:latin typeface="Arial" panose="020B0604020202020204" pitchFamily="34" charset="0"/>
                  <a:cs typeface="Arial" panose="020B0604020202020204" pitchFamily="34" charset="0"/>
                </a:rPr>
                <a:t>1</a:t>
              </a:r>
              <a:r>
                <a:rPr kumimoji="0" lang="en-US" sz="800" b="1" i="0" u="none" strike="noStrike" kern="1200" cap="none" spc="0" normalizeH="0" baseline="0" noProof="0">
                  <a:ln>
                    <a:noFill/>
                  </a:ln>
                  <a:solidFill>
                    <a:srgbClr val="FFFFFF"/>
                  </a:solidFill>
                  <a:effectLst/>
                  <a:uLnTx/>
                  <a:uFillTx/>
                  <a:latin typeface="Arial" panose="020B0604020202020204" pitchFamily="34" charset="0"/>
                  <a:cs typeface="Arial" panose="020B0604020202020204" pitchFamily="34" charset="0"/>
                </a:rPr>
                <a:t> FTE</a:t>
              </a:r>
            </a:p>
          </p:txBody>
        </p:sp>
        <p:sp>
          <p:nvSpPr>
            <p:cNvPr id="132" name="Rectangle 131">
              <a:extLst>
                <a:ext uri="{FF2B5EF4-FFF2-40B4-BE49-F238E27FC236}">
                  <a16:creationId xmlns:a16="http://schemas.microsoft.com/office/drawing/2014/main" id="{32267DBF-3162-9A16-6A2F-0CA7E50F6784}"/>
                </a:ext>
              </a:extLst>
            </p:cNvPr>
            <p:cNvSpPr/>
            <p:nvPr/>
          </p:nvSpPr>
          <p:spPr>
            <a:xfrm>
              <a:off x="8531712" y="5154788"/>
              <a:ext cx="58928" cy="40640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33" name="Rectangle 132">
              <a:extLst>
                <a:ext uri="{FF2B5EF4-FFF2-40B4-BE49-F238E27FC236}">
                  <a16:creationId xmlns:a16="http://schemas.microsoft.com/office/drawing/2014/main" id="{3F00BFB5-D605-6901-BD36-254B18FA75FD}"/>
                </a:ext>
              </a:extLst>
            </p:cNvPr>
            <p:cNvSpPr/>
            <p:nvPr/>
          </p:nvSpPr>
          <p:spPr>
            <a:xfrm>
              <a:off x="8650584" y="5154788"/>
              <a:ext cx="2655389" cy="4064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34" name="TextBox 133">
              <a:extLst>
                <a:ext uri="{FF2B5EF4-FFF2-40B4-BE49-F238E27FC236}">
                  <a16:creationId xmlns:a16="http://schemas.microsoft.com/office/drawing/2014/main" id="{FF49B69C-5188-9899-1A27-D34344177707}"/>
                </a:ext>
              </a:extLst>
            </p:cNvPr>
            <p:cNvSpPr txBox="1"/>
            <p:nvPr/>
          </p:nvSpPr>
          <p:spPr>
            <a:xfrm>
              <a:off x="8742024" y="5182220"/>
              <a:ext cx="1236618" cy="156133"/>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Nagi Reddy</a:t>
              </a:r>
            </a:p>
          </p:txBody>
        </p:sp>
        <p:sp>
          <p:nvSpPr>
            <p:cNvPr id="135" name="TextBox 134">
              <a:extLst>
                <a:ext uri="{FF2B5EF4-FFF2-40B4-BE49-F238E27FC236}">
                  <a16:creationId xmlns:a16="http://schemas.microsoft.com/office/drawing/2014/main" id="{46D0A62F-5248-6661-9F4D-331E25075777}"/>
                </a:ext>
              </a:extLst>
            </p:cNvPr>
            <p:cNvSpPr txBox="1"/>
            <p:nvPr/>
          </p:nvSpPr>
          <p:spPr>
            <a:xfrm>
              <a:off x="8742024" y="5383388"/>
              <a:ext cx="1236618" cy="124906"/>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8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SAP Basis</a:t>
              </a:r>
            </a:p>
          </p:txBody>
        </p:sp>
        <p:sp>
          <p:nvSpPr>
            <p:cNvPr id="136" name="Rounded Rectangle 69">
              <a:extLst>
                <a:ext uri="{FF2B5EF4-FFF2-40B4-BE49-F238E27FC236}">
                  <a16:creationId xmlns:a16="http://schemas.microsoft.com/office/drawing/2014/main" id="{6C08BE1A-64E2-CF3E-8074-99751A778540}"/>
                </a:ext>
              </a:extLst>
            </p:cNvPr>
            <p:cNvSpPr/>
            <p:nvPr/>
          </p:nvSpPr>
          <p:spPr>
            <a:xfrm>
              <a:off x="10909152" y="5246228"/>
              <a:ext cx="309155" cy="245292"/>
            </a:xfrm>
            <a:prstGeom prst="round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37" name="TextBox 136">
              <a:extLst>
                <a:ext uri="{FF2B5EF4-FFF2-40B4-BE49-F238E27FC236}">
                  <a16:creationId xmlns:a16="http://schemas.microsoft.com/office/drawing/2014/main" id="{80AEDC6D-F87C-ECC9-9743-14B312C0FD32}"/>
                </a:ext>
              </a:extLst>
            </p:cNvPr>
            <p:cNvSpPr txBox="1"/>
            <p:nvPr/>
          </p:nvSpPr>
          <p:spPr>
            <a:xfrm>
              <a:off x="10909152" y="5313678"/>
              <a:ext cx="309155" cy="124906"/>
            </a:xfrm>
            <a:prstGeom prst="rect">
              <a:avLst/>
            </a:prstGeom>
            <a:noFill/>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Arial" panose="020B0604020202020204" pitchFamily="34" charset="0"/>
                  <a:cs typeface="Arial" panose="020B0604020202020204" pitchFamily="34" charset="0"/>
                </a:rPr>
                <a:t>2 FTE</a:t>
              </a:r>
            </a:p>
          </p:txBody>
        </p:sp>
      </p:grpSp>
      <p:sp>
        <p:nvSpPr>
          <p:cNvPr id="10" name="Rectangle 26">
            <a:extLst>
              <a:ext uri="{FF2B5EF4-FFF2-40B4-BE49-F238E27FC236}">
                <a16:creationId xmlns:a16="http://schemas.microsoft.com/office/drawing/2014/main" id="{15E22844-22A9-48A3-D37D-5C150A7BDB5C}"/>
              </a:ext>
            </a:extLst>
          </p:cNvPr>
          <p:cNvSpPr/>
          <p:nvPr/>
        </p:nvSpPr>
        <p:spPr>
          <a:xfrm>
            <a:off x="6619332" y="1963954"/>
            <a:ext cx="2778151" cy="4521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10000"/>
              </a:lnSpc>
            </a:pPr>
            <a:r>
              <a:rPr lang="en-US" sz="1000" b="1" noProof="0">
                <a:solidFill>
                  <a:prstClr val="white"/>
                </a:solidFill>
                <a:latin typeface="Arial" panose="020B0604020202020204" pitchFamily="34" charset="0"/>
                <a:cs typeface="Arial" panose="020B0604020202020204" pitchFamily="34" charset="0"/>
              </a:rPr>
              <a:t>Heather Lajoie, - Director of Product Management (2 FTEs)</a:t>
            </a:r>
          </a:p>
        </p:txBody>
      </p:sp>
      <p:sp>
        <p:nvSpPr>
          <p:cNvPr id="17" name="TextBox 81">
            <a:extLst>
              <a:ext uri="{FF2B5EF4-FFF2-40B4-BE49-F238E27FC236}">
                <a16:creationId xmlns:a16="http://schemas.microsoft.com/office/drawing/2014/main" id="{DCDF9D54-F2B6-B0ED-CEA3-AF4803B77BB8}"/>
              </a:ext>
            </a:extLst>
          </p:cNvPr>
          <p:cNvSpPr txBox="1"/>
          <p:nvPr/>
        </p:nvSpPr>
        <p:spPr>
          <a:xfrm>
            <a:off x="5517584" y="4015137"/>
            <a:ext cx="952215" cy="597536"/>
          </a:xfrm>
          <a:prstGeom prst="rect">
            <a:avLst/>
          </a:prstGeom>
          <a:noFill/>
        </p:spPr>
        <p:txBody>
          <a:bodyPr wrap="square" lIns="0" tIns="0" rIns="0" bIns="0" anchor="ctr">
            <a:spAutoFit/>
          </a:bodyPr>
          <a:lstStyle/>
          <a:p>
            <a:pPr>
              <a:lnSpc>
                <a:spcPct val="110000"/>
              </a:lnSpc>
              <a:defRPr/>
            </a:pPr>
            <a:r>
              <a:rPr lang="en-US" sz="900" i="1" noProof="0">
                <a:solidFill>
                  <a:srgbClr val="0F1C50"/>
                </a:solidFill>
                <a:latin typeface="Arial"/>
                <a:cs typeface="Arial"/>
              </a:rPr>
              <a:t>Smart</a:t>
            </a:r>
            <a:r>
              <a:rPr kumimoji="0" lang="en-US" sz="900" b="0" i="1" u="none" strike="noStrike" kern="1200" cap="none" spc="0" normalizeH="0" baseline="0" noProof="0">
                <a:ln>
                  <a:noFill/>
                </a:ln>
                <a:solidFill>
                  <a:srgbClr val="0F1C50"/>
                </a:solidFill>
                <a:effectLst/>
                <a:uLnTx/>
                <a:uFillTx/>
                <a:latin typeface="Arial"/>
                <a:cs typeface="Arial"/>
              </a:rPr>
              <a:t> </a:t>
            </a:r>
            <a:r>
              <a:rPr lang="en-US" sz="900" i="1" noProof="0">
                <a:solidFill>
                  <a:srgbClr val="0F1C50"/>
                </a:solidFill>
                <a:latin typeface="Arial"/>
                <a:cs typeface="Arial"/>
              </a:rPr>
              <a:t>Metering </a:t>
            </a:r>
            <a:r>
              <a:rPr kumimoji="0" lang="en-US" sz="900" b="0" i="1" u="none" strike="noStrike" kern="1200" cap="none" spc="0" normalizeH="0" baseline="0" noProof="0">
                <a:ln>
                  <a:noFill/>
                </a:ln>
                <a:solidFill>
                  <a:srgbClr val="0F1C50"/>
                </a:solidFill>
                <a:effectLst/>
                <a:uLnTx/>
                <a:uFillTx/>
                <a:latin typeface="Arial"/>
                <a:cs typeface="Arial"/>
              </a:rPr>
              <a:t>Champion: </a:t>
            </a:r>
            <a:endParaRPr lang="en-US" noProof="0">
              <a:solidFill>
                <a:srgbClr val="000000"/>
              </a:solidFill>
              <a:latin typeface="Aptos" panose="020B0004020202020204"/>
              <a:ea typeface="+mn-lt"/>
              <a:cs typeface="Arial"/>
            </a:endParaRPr>
          </a:p>
          <a:p>
            <a:pPr>
              <a:lnSpc>
                <a:spcPct val="110000"/>
              </a:lnSpc>
              <a:defRPr/>
            </a:pPr>
            <a:r>
              <a:rPr lang="en-US" sz="900" b="1" i="1" noProof="0">
                <a:solidFill>
                  <a:srgbClr val="0F1C50"/>
                </a:solidFill>
                <a:latin typeface="Arial"/>
                <a:ea typeface="+mn-lt"/>
                <a:cs typeface="Arial"/>
              </a:rPr>
              <a:t>Iram Chowdhury</a:t>
            </a:r>
            <a:r>
              <a:rPr lang="en-US" sz="900" i="1" noProof="0">
                <a:solidFill>
                  <a:srgbClr val="0F1C50"/>
                </a:solidFill>
                <a:latin typeface="Arial"/>
                <a:ea typeface="+mn-lt"/>
                <a:cs typeface="Arial"/>
              </a:rPr>
              <a:t> </a:t>
            </a:r>
            <a:endParaRPr lang="en-US" noProof="0">
              <a:solidFill>
                <a:srgbClr val="000000"/>
              </a:solidFill>
              <a:latin typeface="Aptos" panose="020B0004020202020204"/>
              <a:ea typeface="+mn-lt"/>
              <a:cs typeface="Arial"/>
            </a:endParaRPr>
          </a:p>
          <a:p>
            <a:pPr>
              <a:lnSpc>
                <a:spcPct val="110000"/>
              </a:lnSpc>
              <a:defRPr/>
            </a:pPr>
            <a:endParaRPr lang="en-US" sz="900" i="1" u="none" strike="noStrike" kern="1200" cap="none" spc="0" normalizeH="0" baseline="0" noProof="0">
              <a:ln>
                <a:noFill/>
              </a:ln>
              <a:solidFill>
                <a:srgbClr val="0F1C50"/>
              </a:solidFill>
              <a:effectLst/>
              <a:uLnTx/>
              <a:uFillTx/>
              <a:latin typeface="Arial"/>
              <a:cs typeface="Arial" panose="020B0604020202020204" pitchFamily="34" charset="0"/>
            </a:endParaRPr>
          </a:p>
        </p:txBody>
      </p:sp>
      <p:sp>
        <p:nvSpPr>
          <p:cNvPr id="25" name="Rectangle 26">
            <a:extLst>
              <a:ext uri="{FF2B5EF4-FFF2-40B4-BE49-F238E27FC236}">
                <a16:creationId xmlns:a16="http://schemas.microsoft.com/office/drawing/2014/main" id="{A8381707-A4F1-995A-6E4D-68D5FD6CAD17}"/>
              </a:ext>
            </a:extLst>
          </p:cNvPr>
          <p:cNvSpPr/>
          <p:nvPr/>
        </p:nvSpPr>
        <p:spPr>
          <a:xfrm>
            <a:off x="9545931" y="1963954"/>
            <a:ext cx="2087266" cy="4521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10000"/>
              </a:lnSpc>
            </a:pPr>
            <a:r>
              <a:rPr lang="en-US" sz="1000" b="1" noProof="0">
                <a:solidFill>
                  <a:prstClr val="white"/>
                </a:solidFill>
                <a:latin typeface="Arial" panose="020B0604020202020204" pitchFamily="34" charset="0"/>
                <a:cs typeface="Arial" panose="020B0604020202020204" pitchFamily="34" charset="0"/>
              </a:rPr>
              <a:t>IT Program Delivery (Vacant)</a:t>
            </a:r>
          </a:p>
        </p:txBody>
      </p:sp>
    </p:spTree>
    <p:extLst>
      <p:ext uri="{BB962C8B-B14F-4D97-AF65-F5344CB8AC3E}">
        <p14:creationId xmlns:p14="http://schemas.microsoft.com/office/powerpoint/2010/main" val="30227932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C3F793-5F71-5699-117C-E263C367DB6D}"/>
            </a:ext>
          </a:extLst>
        </p:cNvPr>
        <p:cNvGrpSpPr/>
        <p:nvPr/>
      </p:nvGrpSpPr>
      <p:grpSpPr>
        <a:xfrm>
          <a:off x="0" y="0"/>
          <a:ext cx="0" cy="0"/>
          <a:chOff x="0" y="0"/>
          <a:chExt cx="0" cy="0"/>
        </a:xfrm>
      </p:grpSpPr>
      <p:sp>
        <p:nvSpPr>
          <p:cNvPr id="3" name="Rectangle 28">
            <a:extLst>
              <a:ext uri="{FF2B5EF4-FFF2-40B4-BE49-F238E27FC236}">
                <a16:creationId xmlns:a16="http://schemas.microsoft.com/office/drawing/2014/main" id="{2E23CCBF-D339-FC17-786F-356785498E2C}"/>
              </a:ext>
            </a:extLst>
          </p:cNvPr>
          <p:cNvSpPr/>
          <p:nvPr/>
        </p:nvSpPr>
        <p:spPr>
          <a:xfrm>
            <a:off x="-561976" y="1891049"/>
            <a:ext cx="504913" cy="354411"/>
          </a:xfrm>
          <a:prstGeom prst="rect">
            <a:avLst/>
          </a:prstGeom>
          <a:solidFill>
            <a:srgbClr val="0DA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 name="Rectangle 40">
            <a:extLst>
              <a:ext uri="{FF2B5EF4-FFF2-40B4-BE49-F238E27FC236}">
                <a16:creationId xmlns:a16="http://schemas.microsoft.com/office/drawing/2014/main" id="{E1A027FB-F1D8-DD8F-1C25-88EC94E84C09}"/>
              </a:ext>
            </a:extLst>
          </p:cNvPr>
          <p:cNvSpPr/>
          <p:nvPr/>
        </p:nvSpPr>
        <p:spPr>
          <a:xfrm>
            <a:off x="-561976" y="1450050"/>
            <a:ext cx="504913" cy="354411"/>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 name="Rectangle 52">
            <a:extLst>
              <a:ext uri="{FF2B5EF4-FFF2-40B4-BE49-F238E27FC236}">
                <a16:creationId xmlns:a16="http://schemas.microsoft.com/office/drawing/2014/main" id="{4F081BE5-F207-F6E1-C3ED-ECCDC2411A5C}"/>
              </a:ext>
            </a:extLst>
          </p:cNvPr>
          <p:cNvSpPr/>
          <p:nvPr/>
        </p:nvSpPr>
        <p:spPr>
          <a:xfrm>
            <a:off x="-561976" y="1009051"/>
            <a:ext cx="504913" cy="354411"/>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7" name="Rectangle 64">
            <a:extLst>
              <a:ext uri="{FF2B5EF4-FFF2-40B4-BE49-F238E27FC236}">
                <a16:creationId xmlns:a16="http://schemas.microsoft.com/office/drawing/2014/main" id="{913CF10F-6E9F-E547-A1C7-3EBAEC5BAA8A}"/>
              </a:ext>
            </a:extLst>
          </p:cNvPr>
          <p:cNvSpPr/>
          <p:nvPr/>
        </p:nvSpPr>
        <p:spPr>
          <a:xfrm>
            <a:off x="-561976" y="2332048"/>
            <a:ext cx="504913" cy="354411"/>
          </a:xfrm>
          <a:prstGeom prst="rect">
            <a:avLst/>
          </a:prstGeom>
          <a:solidFill>
            <a:schemeClr val="accent6">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8" name="Rectangle 64">
            <a:extLst>
              <a:ext uri="{FF2B5EF4-FFF2-40B4-BE49-F238E27FC236}">
                <a16:creationId xmlns:a16="http://schemas.microsoft.com/office/drawing/2014/main" id="{AC1D18B4-F892-9DCA-ADC4-014524504363}"/>
              </a:ext>
            </a:extLst>
          </p:cNvPr>
          <p:cNvSpPr/>
          <p:nvPr/>
        </p:nvSpPr>
        <p:spPr>
          <a:xfrm>
            <a:off x="-561976" y="2773047"/>
            <a:ext cx="504913" cy="354411"/>
          </a:xfrm>
          <a:prstGeom prst="rect">
            <a:avLst/>
          </a:prstGeom>
          <a:solidFill>
            <a:srgbClr val="00A4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9" name="Rectangle 64">
            <a:extLst>
              <a:ext uri="{FF2B5EF4-FFF2-40B4-BE49-F238E27FC236}">
                <a16:creationId xmlns:a16="http://schemas.microsoft.com/office/drawing/2014/main" id="{8A633922-0272-5E2E-C9BB-0122EA85E75C}"/>
              </a:ext>
            </a:extLst>
          </p:cNvPr>
          <p:cNvSpPr/>
          <p:nvPr/>
        </p:nvSpPr>
        <p:spPr>
          <a:xfrm>
            <a:off x="-561976" y="3214046"/>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5" name="Rectangle 64">
            <a:extLst>
              <a:ext uri="{FF2B5EF4-FFF2-40B4-BE49-F238E27FC236}">
                <a16:creationId xmlns:a16="http://schemas.microsoft.com/office/drawing/2014/main" id="{04A21062-C9DB-B4F7-C725-52B2E18B60B4}"/>
              </a:ext>
            </a:extLst>
          </p:cNvPr>
          <p:cNvSpPr/>
          <p:nvPr/>
        </p:nvSpPr>
        <p:spPr>
          <a:xfrm>
            <a:off x="-561976" y="3655047"/>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39" name="Rectangle 138">
            <a:extLst>
              <a:ext uri="{FF2B5EF4-FFF2-40B4-BE49-F238E27FC236}">
                <a16:creationId xmlns:a16="http://schemas.microsoft.com/office/drawing/2014/main" id="{6B0E2B2E-5C95-24FF-B026-0FD21EEB4E72}"/>
              </a:ext>
            </a:extLst>
          </p:cNvPr>
          <p:cNvSpPr/>
          <p:nvPr/>
        </p:nvSpPr>
        <p:spPr>
          <a:xfrm>
            <a:off x="457200" y="2933541"/>
            <a:ext cx="5623560" cy="1501329"/>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0" name="Rectangle 139">
            <a:extLst>
              <a:ext uri="{FF2B5EF4-FFF2-40B4-BE49-F238E27FC236}">
                <a16:creationId xmlns:a16="http://schemas.microsoft.com/office/drawing/2014/main" id="{8425A2EC-FF37-839C-FA41-D86B69967BAE}"/>
              </a:ext>
            </a:extLst>
          </p:cNvPr>
          <p:cNvSpPr/>
          <p:nvPr/>
        </p:nvSpPr>
        <p:spPr>
          <a:xfrm>
            <a:off x="457200" y="2899411"/>
            <a:ext cx="5623560" cy="67612"/>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1" name="Rectangle 140">
            <a:extLst>
              <a:ext uri="{FF2B5EF4-FFF2-40B4-BE49-F238E27FC236}">
                <a16:creationId xmlns:a16="http://schemas.microsoft.com/office/drawing/2014/main" id="{F4DC439D-1C3F-F351-2CEA-5032C4A82F18}"/>
              </a:ext>
            </a:extLst>
          </p:cNvPr>
          <p:cNvSpPr/>
          <p:nvPr/>
        </p:nvSpPr>
        <p:spPr>
          <a:xfrm>
            <a:off x="6226342" y="1355601"/>
            <a:ext cx="5623560" cy="1501329"/>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2" name="Rectangle 141">
            <a:extLst>
              <a:ext uri="{FF2B5EF4-FFF2-40B4-BE49-F238E27FC236}">
                <a16:creationId xmlns:a16="http://schemas.microsoft.com/office/drawing/2014/main" id="{47F52D19-C93D-8CC7-80F8-A2F6E479ACCE}"/>
              </a:ext>
            </a:extLst>
          </p:cNvPr>
          <p:cNvSpPr/>
          <p:nvPr/>
        </p:nvSpPr>
        <p:spPr>
          <a:xfrm>
            <a:off x="6226342" y="1321470"/>
            <a:ext cx="5623560" cy="67612"/>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3" name="Rectangle 142">
            <a:extLst>
              <a:ext uri="{FF2B5EF4-FFF2-40B4-BE49-F238E27FC236}">
                <a16:creationId xmlns:a16="http://schemas.microsoft.com/office/drawing/2014/main" id="{B74E5FA5-87A5-F910-FC4F-3BE5C0F08757}"/>
              </a:ext>
            </a:extLst>
          </p:cNvPr>
          <p:cNvSpPr/>
          <p:nvPr/>
        </p:nvSpPr>
        <p:spPr>
          <a:xfrm>
            <a:off x="472440" y="4582641"/>
            <a:ext cx="5623560" cy="1501329"/>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7" name="Rectangle 146">
            <a:extLst>
              <a:ext uri="{FF2B5EF4-FFF2-40B4-BE49-F238E27FC236}">
                <a16:creationId xmlns:a16="http://schemas.microsoft.com/office/drawing/2014/main" id="{A82903FF-CB89-72C4-C000-C0470D40ADCA}"/>
              </a:ext>
            </a:extLst>
          </p:cNvPr>
          <p:cNvSpPr/>
          <p:nvPr/>
        </p:nvSpPr>
        <p:spPr>
          <a:xfrm>
            <a:off x="457200" y="1355601"/>
            <a:ext cx="5623560" cy="1501329"/>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9" name="Rectangle 148">
            <a:extLst>
              <a:ext uri="{FF2B5EF4-FFF2-40B4-BE49-F238E27FC236}">
                <a16:creationId xmlns:a16="http://schemas.microsoft.com/office/drawing/2014/main" id="{5BE35A4A-D2C7-2B44-66D7-27645A2E667F}"/>
              </a:ext>
            </a:extLst>
          </p:cNvPr>
          <p:cNvSpPr/>
          <p:nvPr/>
        </p:nvSpPr>
        <p:spPr>
          <a:xfrm>
            <a:off x="457200" y="1321470"/>
            <a:ext cx="5623560" cy="67612"/>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50" name="TextBox 149">
            <a:extLst>
              <a:ext uri="{FF2B5EF4-FFF2-40B4-BE49-F238E27FC236}">
                <a16:creationId xmlns:a16="http://schemas.microsoft.com/office/drawing/2014/main" id="{98A82B56-390F-40A4-6CA8-71476EC92216}"/>
              </a:ext>
            </a:extLst>
          </p:cNvPr>
          <p:cNvSpPr txBox="1"/>
          <p:nvPr/>
        </p:nvSpPr>
        <p:spPr>
          <a:xfrm>
            <a:off x="658368" y="1406572"/>
            <a:ext cx="5257800"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chemeClr val="accent3"/>
                </a:solidFill>
                <a:latin typeface="Arial" panose="020B0604020202020204" pitchFamily="34" charset="0"/>
                <a:cs typeface="Arial" panose="020B0604020202020204" pitchFamily="34" charset="0"/>
              </a:rPr>
              <a:t>NATURE OF WORK</a:t>
            </a:r>
          </a:p>
        </p:txBody>
      </p:sp>
      <p:sp>
        <p:nvSpPr>
          <p:cNvPr id="151" name="TextBox 150">
            <a:extLst>
              <a:ext uri="{FF2B5EF4-FFF2-40B4-BE49-F238E27FC236}">
                <a16:creationId xmlns:a16="http://schemas.microsoft.com/office/drawing/2014/main" id="{E0230735-2E46-66F2-0F4F-C9EDB0979737}"/>
              </a:ext>
            </a:extLst>
          </p:cNvPr>
          <p:cNvSpPr txBox="1"/>
          <p:nvPr/>
        </p:nvSpPr>
        <p:spPr>
          <a:xfrm>
            <a:off x="3809238" y="1442322"/>
            <a:ext cx="5257800" cy="140489"/>
          </a:xfrm>
          <a:prstGeom prst="rect">
            <a:avLst/>
          </a:prstGeom>
          <a:noFill/>
        </p:spPr>
        <p:txBody>
          <a:bodyPr wrap="square" lIns="0" tIns="0" rIns="0" bIns="0" anchor="t">
            <a:spAutoFit/>
          </a:bodyPr>
          <a:lstStyle/>
          <a:p>
            <a:pPr>
              <a:lnSpc>
                <a:spcPct val="110000"/>
              </a:lnSpc>
            </a:pPr>
            <a:r>
              <a:rPr lang="en-US" sz="900" b="0" i="1" noProof="0">
                <a:solidFill>
                  <a:schemeClr val="accent1"/>
                </a:solidFill>
                <a:latin typeface="Arial" panose="020B0604020202020204" pitchFamily="34" charset="0"/>
                <a:cs typeface="Arial" panose="020B0604020202020204" pitchFamily="34" charset="0"/>
              </a:rPr>
              <a:t>Operational continuity + regulated change</a:t>
            </a:r>
          </a:p>
        </p:txBody>
      </p:sp>
      <p:sp>
        <p:nvSpPr>
          <p:cNvPr id="152" name="TextBox 151">
            <a:extLst>
              <a:ext uri="{FF2B5EF4-FFF2-40B4-BE49-F238E27FC236}">
                <a16:creationId xmlns:a16="http://schemas.microsoft.com/office/drawing/2014/main" id="{5A2EFE96-1797-DDFE-1181-B809F534C97D}"/>
              </a:ext>
            </a:extLst>
          </p:cNvPr>
          <p:cNvSpPr txBox="1"/>
          <p:nvPr/>
        </p:nvSpPr>
        <p:spPr>
          <a:xfrm>
            <a:off x="6400800" y="1406572"/>
            <a:ext cx="5257800"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chemeClr val="accent3"/>
                </a:solidFill>
                <a:latin typeface="Arial" panose="020B0604020202020204" pitchFamily="34" charset="0"/>
                <a:cs typeface="Arial" panose="020B0604020202020204" pitchFamily="34" charset="0"/>
              </a:rPr>
              <a:t>APPLICATIONS IN SCOPE</a:t>
            </a:r>
          </a:p>
        </p:txBody>
      </p:sp>
      <p:sp>
        <p:nvSpPr>
          <p:cNvPr id="153" name="TextBox 152">
            <a:extLst>
              <a:ext uri="{FF2B5EF4-FFF2-40B4-BE49-F238E27FC236}">
                <a16:creationId xmlns:a16="http://schemas.microsoft.com/office/drawing/2014/main" id="{4DFE3BED-ABD9-35C1-D3EF-BEBCAD0A8631}"/>
              </a:ext>
            </a:extLst>
          </p:cNvPr>
          <p:cNvSpPr txBox="1"/>
          <p:nvPr/>
        </p:nvSpPr>
        <p:spPr>
          <a:xfrm>
            <a:off x="9620163" y="1415426"/>
            <a:ext cx="2038437"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1" noProof="0">
                <a:solidFill>
                  <a:schemeClr val="accent1"/>
                </a:solidFill>
                <a:latin typeface="Arial" panose="020B0604020202020204" pitchFamily="34" charset="0"/>
                <a:cs typeface="Arial" panose="020B0604020202020204" pitchFamily="34" charset="0"/>
              </a:rPr>
              <a:t>Four technology domains under Carlos</a:t>
            </a:r>
          </a:p>
        </p:txBody>
      </p:sp>
      <p:sp>
        <p:nvSpPr>
          <p:cNvPr id="158" name="TextBox 157">
            <a:extLst>
              <a:ext uri="{FF2B5EF4-FFF2-40B4-BE49-F238E27FC236}">
                <a16:creationId xmlns:a16="http://schemas.microsoft.com/office/drawing/2014/main" id="{4114AC28-7DF5-62B9-8FB7-ED925A3D6183}"/>
              </a:ext>
            </a:extLst>
          </p:cNvPr>
          <p:cNvSpPr txBox="1"/>
          <p:nvPr/>
        </p:nvSpPr>
        <p:spPr>
          <a:xfrm>
            <a:off x="649946" y="4660316"/>
            <a:ext cx="5257800"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chemeClr val="accent3"/>
                </a:solidFill>
                <a:latin typeface="Arial" panose="020B0604020202020204" pitchFamily="34" charset="0"/>
                <a:cs typeface="Arial" panose="020B0604020202020204" pitchFamily="34" charset="0"/>
              </a:rPr>
              <a:t>TEAMS UNDER CARLOS</a:t>
            </a:r>
          </a:p>
        </p:txBody>
      </p:sp>
      <p:sp>
        <p:nvSpPr>
          <p:cNvPr id="159" name="TextBox 158">
            <a:extLst>
              <a:ext uri="{FF2B5EF4-FFF2-40B4-BE49-F238E27FC236}">
                <a16:creationId xmlns:a16="http://schemas.microsoft.com/office/drawing/2014/main" id="{C7A8FDA7-8178-F359-C99A-CA536286CB89}"/>
              </a:ext>
            </a:extLst>
          </p:cNvPr>
          <p:cNvSpPr txBox="1"/>
          <p:nvPr/>
        </p:nvSpPr>
        <p:spPr>
          <a:xfrm>
            <a:off x="4743089" y="4657756"/>
            <a:ext cx="1769444" cy="14048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1" noProof="0">
                <a:solidFill>
                  <a:schemeClr val="accent1"/>
                </a:solidFill>
                <a:latin typeface="Arial" panose="020B0604020202020204" pitchFamily="34" charset="0"/>
                <a:cs typeface="Arial" panose="020B0604020202020204" pitchFamily="34" charset="0"/>
              </a:rPr>
              <a:t>75% are Sr Manager</a:t>
            </a:r>
          </a:p>
        </p:txBody>
      </p:sp>
      <p:sp>
        <p:nvSpPr>
          <p:cNvPr id="160" name="TextBox 159">
            <a:extLst>
              <a:ext uri="{FF2B5EF4-FFF2-40B4-BE49-F238E27FC236}">
                <a16:creationId xmlns:a16="http://schemas.microsoft.com/office/drawing/2014/main" id="{6AFB3D6C-8C54-D259-E4FE-277D8B5D27FF}"/>
              </a:ext>
            </a:extLst>
          </p:cNvPr>
          <p:cNvSpPr txBox="1"/>
          <p:nvPr/>
        </p:nvSpPr>
        <p:spPr>
          <a:xfrm>
            <a:off x="631658" y="2995003"/>
            <a:ext cx="5257800"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chemeClr val="accent3"/>
                </a:solidFill>
                <a:latin typeface="Arial" panose="020B0604020202020204" pitchFamily="34" charset="0"/>
                <a:cs typeface="Arial" panose="020B0604020202020204" pitchFamily="34" charset="0"/>
              </a:rPr>
              <a:t>WAY OF WORKING  &amp;  INTERACTIONS</a:t>
            </a:r>
          </a:p>
        </p:txBody>
      </p:sp>
      <p:sp>
        <p:nvSpPr>
          <p:cNvPr id="161" name="TextBox 160">
            <a:extLst>
              <a:ext uri="{FF2B5EF4-FFF2-40B4-BE49-F238E27FC236}">
                <a16:creationId xmlns:a16="http://schemas.microsoft.com/office/drawing/2014/main" id="{0AC6ED2C-25B0-114E-CDE9-7BADFAC535B3}"/>
              </a:ext>
            </a:extLst>
          </p:cNvPr>
          <p:cNvSpPr txBox="1"/>
          <p:nvPr/>
        </p:nvSpPr>
        <p:spPr>
          <a:xfrm>
            <a:off x="3793958" y="2992061"/>
            <a:ext cx="2269958" cy="140488"/>
          </a:xfrm>
          <a:prstGeom prst="rect">
            <a:avLst/>
          </a:prstGeom>
          <a:noFill/>
        </p:spPr>
        <p:txBody>
          <a:bodyPr wrap="square" lIns="0" tIns="0" rIns="0" bIns="0" anchor="t">
            <a:spAutoFit/>
          </a:bodyPr>
          <a:lstStyle/>
          <a:p>
            <a:pPr>
              <a:lnSpc>
                <a:spcPct val="110000"/>
              </a:lnSpc>
            </a:pPr>
            <a:r>
              <a:rPr lang="en-US" sz="900" i="1" noProof="0">
                <a:solidFill>
                  <a:schemeClr val="accent1"/>
                </a:solidFill>
                <a:latin typeface="Arial" panose="020B0604020202020204" pitchFamily="34" charset="0"/>
                <a:cs typeface="Arial" panose="020B0604020202020204" pitchFamily="34" charset="0"/>
              </a:rPr>
              <a:t>Inside-IT + vendor + business triangulation</a:t>
            </a:r>
          </a:p>
        </p:txBody>
      </p:sp>
      <p:sp>
        <p:nvSpPr>
          <p:cNvPr id="162" name="TextBox 161">
            <a:extLst>
              <a:ext uri="{FF2B5EF4-FFF2-40B4-BE49-F238E27FC236}">
                <a16:creationId xmlns:a16="http://schemas.microsoft.com/office/drawing/2014/main" id="{BFD11743-9991-B949-8C18-EB586784794A}"/>
              </a:ext>
            </a:extLst>
          </p:cNvPr>
          <p:cNvSpPr txBox="1"/>
          <p:nvPr/>
        </p:nvSpPr>
        <p:spPr>
          <a:xfrm>
            <a:off x="658368" y="1851471"/>
            <a:ext cx="5257800" cy="5975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latin typeface="Arial" panose="020B0604020202020204" pitchFamily="34" charset="0"/>
                <a:cs typeface="Arial" panose="020B0604020202020204" pitchFamily="34" charset="0"/>
              </a:rPr>
              <a:t>▪  Keep the lights on — break/fix is the dominant pattern (GIS, G&amp;E, Corporate).</a:t>
            </a:r>
          </a:p>
          <a:p>
            <a:pPr algn="l">
              <a:lnSpc>
                <a:spcPct val="110000"/>
              </a:lnSpc>
              <a:spcBef>
                <a:spcPts val="0"/>
              </a:spcBef>
              <a:spcAft>
                <a:spcPts val="0"/>
              </a:spcAft>
            </a:pPr>
            <a:r>
              <a:rPr lang="en-US" sz="900" b="0" i="0" noProof="0">
                <a:latin typeface="Arial" panose="020B0604020202020204" pitchFamily="34" charset="0"/>
                <a:cs typeface="Arial" panose="020B0604020202020204" pitchFamily="34" charset="0"/>
              </a:rPr>
              <a:t>▪  Large demand planned yearly via PDD; small/medium demand handled ad-hoc.</a:t>
            </a:r>
          </a:p>
          <a:p>
            <a:pPr algn="l">
              <a:lnSpc>
                <a:spcPct val="110000"/>
              </a:lnSpc>
              <a:spcBef>
                <a:spcPts val="0"/>
              </a:spcBef>
              <a:spcAft>
                <a:spcPts val="0"/>
              </a:spcAft>
            </a:pPr>
            <a:r>
              <a:rPr lang="en-US" sz="900" b="0" i="0" noProof="0">
                <a:latin typeface="Arial" panose="020B0604020202020204" pitchFamily="34" charset="0"/>
                <a:cs typeface="Arial" panose="020B0604020202020204" pitchFamily="34" charset="0"/>
              </a:rPr>
              <a:t>▪  Regulatory and employee-facing systems (Corporate) run under continuous compliance pressure.</a:t>
            </a:r>
          </a:p>
          <a:p>
            <a:pPr algn="l">
              <a:lnSpc>
                <a:spcPct val="110000"/>
              </a:lnSpc>
              <a:spcBef>
                <a:spcPts val="0"/>
              </a:spcBef>
              <a:spcAft>
                <a:spcPts val="0"/>
              </a:spcAft>
            </a:pPr>
            <a:r>
              <a:rPr lang="en-US" sz="900" b="0" i="0" noProof="0">
                <a:latin typeface="Arial" panose="020B0604020202020204" pitchFamily="34" charset="0"/>
                <a:cs typeface="Arial" panose="020B0604020202020204" pitchFamily="34" charset="0"/>
              </a:rPr>
              <a:t>▪  Version upgrades (</a:t>
            </a:r>
            <a:r>
              <a:rPr lang="en-US" sz="900" b="0" i="0" noProof="0" err="1">
                <a:latin typeface="Arial" panose="020B0604020202020204" pitchFamily="34" charset="0"/>
                <a:cs typeface="Arial" panose="020B0604020202020204" pitchFamily="34" charset="0"/>
              </a:rPr>
              <a:t>Projectwise</a:t>
            </a:r>
            <a:r>
              <a:rPr lang="en-US" sz="900" b="0" i="0" noProof="0">
                <a:latin typeface="Arial" panose="020B0604020202020204" pitchFamily="34" charset="0"/>
                <a:cs typeface="Arial" panose="020B0604020202020204" pitchFamily="34" charset="0"/>
              </a:rPr>
              <a:t>, </a:t>
            </a:r>
            <a:r>
              <a:rPr lang="en-US" sz="900" b="0" i="0" noProof="0" err="1">
                <a:latin typeface="Arial" panose="020B0604020202020204" pitchFamily="34" charset="0"/>
                <a:cs typeface="Arial" panose="020B0604020202020204" pitchFamily="34" charset="0"/>
              </a:rPr>
              <a:t>Microstation</a:t>
            </a:r>
            <a:r>
              <a:rPr lang="en-US" sz="900" b="0" i="0" noProof="0">
                <a:latin typeface="Arial" panose="020B0604020202020204" pitchFamily="34" charset="0"/>
                <a:cs typeface="Arial" panose="020B0604020202020204" pitchFamily="34" charset="0"/>
              </a:rPr>
              <a:t>) gate-kept by Third-Party Risk assessment.</a:t>
            </a:r>
          </a:p>
        </p:txBody>
      </p:sp>
      <p:sp>
        <p:nvSpPr>
          <p:cNvPr id="163" name="TextBox 162">
            <a:extLst>
              <a:ext uri="{FF2B5EF4-FFF2-40B4-BE49-F238E27FC236}">
                <a16:creationId xmlns:a16="http://schemas.microsoft.com/office/drawing/2014/main" id="{A276BEEE-59CE-DFFA-CE9B-4553D4046353}"/>
              </a:ext>
            </a:extLst>
          </p:cNvPr>
          <p:cNvSpPr txBox="1"/>
          <p:nvPr/>
        </p:nvSpPr>
        <p:spPr>
          <a:xfrm>
            <a:off x="6409222" y="1656505"/>
            <a:ext cx="5379720" cy="666593"/>
          </a:xfrm>
          <a:prstGeom prst="rect">
            <a:avLst/>
          </a:prstGeom>
          <a:noFill/>
        </p:spPr>
        <p:txBody>
          <a:bodyPr wrap="square" lIns="0" tIns="0" rIns="0" bIns="0" anchor="t">
            <a:spAutoFit/>
          </a:bodyPr>
          <a:lstStyle/>
          <a:p>
            <a:pPr algn="l">
              <a:lnSpc>
                <a:spcPct val="110000"/>
              </a:lnSpc>
              <a:spcBef>
                <a:spcPts val="0"/>
              </a:spcBef>
              <a:spcAft>
                <a:spcPts val="0"/>
              </a:spcAft>
            </a:pPr>
            <a:r>
              <a:rPr lang="en-US" sz="800" b="0" i="0" noProof="0">
                <a:latin typeface="Arial"/>
                <a:cs typeface="Arial"/>
              </a:rPr>
              <a:t>▪  GIS &amp; OSG  —  SAP HANA, ARCFM, GIS web apps, data replication, SWF platform (George Porto, ~6 FTE).</a:t>
            </a:r>
          </a:p>
          <a:p>
            <a:pPr>
              <a:lnSpc>
                <a:spcPct val="110000"/>
              </a:lnSpc>
            </a:pPr>
            <a:r>
              <a:rPr lang="en-US" sz="800" b="0" i="0" noProof="0">
                <a:latin typeface="Arial"/>
                <a:cs typeface="Arial"/>
              </a:rPr>
              <a:t>▪  Electric &amp; Gas Ops  —  70–90 apps, android/tablets, doc viewer (Bruno </a:t>
            </a:r>
            <a:r>
              <a:rPr lang="en-US" sz="800" b="0" i="0" noProof="0" err="1">
                <a:latin typeface="Arial"/>
                <a:cs typeface="Arial"/>
              </a:rPr>
              <a:t>Moreto</a:t>
            </a:r>
            <a:r>
              <a:rPr lang="en-US" sz="800" b="0" i="0" noProof="0">
                <a:latin typeface="Arial"/>
                <a:cs typeface="Arial"/>
              </a:rPr>
              <a:t> + Andrew McGibbon, ~7 FTE).</a:t>
            </a:r>
          </a:p>
          <a:p>
            <a:pPr algn="l">
              <a:lnSpc>
                <a:spcPct val="110000"/>
              </a:lnSpc>
              <a:spcBef>
                <a:spcPts val="0"/>
              </a:spcBef>
              <a:spcAft>
                <a:spcPts val="0"/>
              </a:spcAft>
            </a:pPr>
            <a:r>
              <a:rPr lang="en-US" sz="800" b="0" i="0" noProof="0">
                <a:latin typeface="Arial"/>
                <a:cs typeface="Arial"/>
              </a:rPr>
              <a:t>▪  Corporate Applications  —  5-6 PMs, 2 tech leads, corporate + network apps, SWF tooling (Sarath + Amit, ~8 FTE).</a:t>
            </a:r>
          </a:p>
          <a:p>
            <a:pPr algn="l">
              <a:lnSpc>
                <a:spcPct val="110000"/>
              </a:lnSpc>
              <a:spcBef>
                <a:spcPts val="0"/>
              </a:spcBef>
              <a:spcAft>
                <a:spcPts val="0"/>
              </a:spcAft>
            </a:pPr>
            <a:r>
              <a:rPr lang="en-US" sz="800" b="0" i="0" noProof="0">
                <a:latin typeface="Arial"/>
                <a:cs typeface="Arial"/>
              </a:rPr>
              <a:t>▪  Global SAP (Iberdrola)  —  FI, PO, Budget — Spain-side SAP module support (Vanessa + Michael, ~5 FTE).</a:t>
            </a:r>
          </a:p>
          <a:p>
            <a:pPr>
              <a:lnSpc>
                <a:spcPct val="110000"/>
              </a:lnSpc>
            </a:pPr>
            <a:endParaRPr lang="en-US" sz="800" noProof="0">
              <a:latin typeface="Arial"/>
              <a:cs typeface="Arial"/>
            </a:endParaRPr>
          </a:p>
        </p:txBody>
      </p:sp>
      <p:sp>
        <p:nvSpPr>
          <p:cNvPr id="165" name="TextBox 164">
            <a:extLst>
              <a:ext uri="{FF2B5EF4-FFF2-40B4-BE49-F238E27FC236}">
                <a16:creationId xmlns:a16="http://schemas.microsoft.com/office/drawing/2014/main" id="{1A9E9970-0ED8-1F20-FAE6-8BEA641015ED}"/>
              </a:ext>
            </a:extLst>
          </p:cNvPr>
          <p:cNvSpPr txBox="1"/>
          <p:nvPr/>
        </p:nvSpPr>
        <p:spPr>
          <a:xfrm>
            <a:off x="631658" y="3369661"/>
            <a:ext cx="5257800" cy="749885"/>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latin typeface="Arial" panose="020B0604020202020204" pitchFamily="34" charset="0"/>
                <a:cs typeface="Arial" panose="020B0604020202020204" pitchFamily="34" charset="0"/>
              </a:rPr>
              <a:t>▪  Inside Applications: GIS ↔ G&amp;E (shared SAP/GIS data); Corporate ↔ all teams (shared PMs).</a:t>
            </a:r>
          </a:p>
          <a:p>
            <a:pPr algn="l">
              <a:lnSpc>
                <a:spcPct val="110000"/>
              </a:lnSpc>
              <a:spcBef>
                <a:spcPts val="0"/>
              </a:spcBef>
              <a:spcAft>
                <a:spcPts val="0"/>
              </a:spcAft>
            </a:pPr>
            <a:r>
              <a:rPr lang="en-US" sz="900" b="0" i="0" noProof="0">
                <a:latin typeface="Arial" panose="020B0604020202020204" pitchFamily="34" charset="0"/>
                <a:cs typeface="Arial" panose="020B0604020202020204" pitchFamily="34" charset="0"/>
              </a:rPr>
              <a:t>▪  With SAP branch: Global SAP ↔ Kumar's SAP (Billing, FICA); P&amp;T is the intermediary with Business.</a:t>
            </a:r>
          </a:p>
          <a:p>
            <a:pPr algn="l">
              <a:lnSpc>
                <a:spcPct val="110000"/>
              </a:lnSpc>
              <a:spcBef>
                <a:spcPts val="0"/>
              </a:spcBef>
              <a:spcAft>
                <a:spcPts val="0"/>
              </a:spcAft>
            </a:pPr>
            <a:r>
              <a:rPr lang="en-US" sz="900" b="0" i="0" noProof="0">
                <a:latin typeface="Arial" panose="020B0604020202020204" pitchFamily="34" charset="0"/>
                <a:cs typeface="Arial" panose="020B0604020202020204" pitchFamily="34" charset="0"/>
              </a:rPr>
              <a:t>▪  With vendors: Accenture (Global SAP + Corporate), SWF / Software Factory (all teams), business vendors (G&amp;E).</a:t>
            </a:r>
          </a:p>
          <a:p>
            <a:pPr algn="l">
              <a:lnSpc>
                <a:spcPct val="110000"/>
              </a:lnSpc>
              <a:spcBef>
                <a:spcPts val="0"/>
              </a:spcBef>
              <a:spcAft>
                <a:spcPts val="0"/>
              </a:spcAft>
            </a:pPr>
            <a:r>
              <a:rPr lang="en-US" sz="900" b="0" i="0" noProof="0">
                <a:latin typeface="Arial" panose="020B0604020202020204" pitchFamily="34" charset="0"/>
                <a:cs typeface="Arial" panose="020B0604020202020204" pitchFamily="34" charset="0"/>
              </a:rPr>
              <a:t>▪  Tools mix: Jira (</a:t>
            </a:r>
            <a:r>
              <a:rPr lang="en-US" sz="900" b="0" i="0" noProof="0" err="1">
                <a:latin typeface="Arial" panose="020B0604020202020204" pitchFamily="34" charset="0"/>
                <a:cs typeface="Arial" panose="020B0604020202020204" pitchFamily="34" charset="0"/>
              </a:rPr>
              <a:t>misc</a:t>
            </a:r>
            <a:r>
              <a:rPr lang="en-US" sz="900" b="0" i="0" noProof="0">
                <a:latin typeface="Arial" panose="020B0604020202020204" pitchFamily="34" charset="0"/>
                <a:cs typeface="Arial" panose="020B0604020202020204" pitchFamily="34" charset="0"/>
              </a:rPr>
              <a:t>), IT Now (incidents), PDD (large), SharePoint + Teams + OneNote + Email (PM).</a:t>
            </a:r>
          </a:p>
        </p:txBody>
      </p:sp>
      <p:sp>
        <p:nvSpPr>
          <p:cNvPr id="10" name="TextBox 9">
            <a:extLst>
              <a:ext uri="{FF2B5EF4-FFF2-40B4-BE49-F238E27FC236}">
                <a16:creationId xmlns:a16="http://schemas.microsoft.com/office/drawing/2014/main" id="{1E747C57-4119-EB6A-7333-EB42F4107658}"/>
              </a:ext>
            </a:extLst>
          </p:cNvPr>
          <p:cNvSpPr txBox="1"/>
          <p:nvPr/>
        </p:nvSpPr>
        <p:spPr>
          <a:xfrm>
            <a:off x="458724" y="826697"/>
            <a:ext cx="11274552" cy="455184"/>
          </a:xfrm>
          <a:prstGeom prst="rect">
            <a:avLst/>
          </a:prstGeom>
          <a:noFill/>
        </p:spPr>
        <p:txBody>
          <a:bodyPr wrap="square" lIns="0" tIns="0" rIns="0" bIns="0" rtlCol="0">
            <a:noAutofit/>
          </a:bodyPr>
          <a:lstStyle>
            <a:defPPr>
              <a:defRPr lang="en-US"/>
            </a:defPPr>
            <a:lvl1pPr algn="ctr">
              <a:defRPr sz="1400" b="1">
                <a:solidFill>
                  <a:schemeClr val="accent4">
                    <a:lumMod val="75000"/>
                  </a:schemeClr>
                </a:solidFill>
                <a:latin typeface="Arial" panose="020B0604020202020204" pitchFamily="34" charset="0"/>
                <a:cs typeface="Arial" panose="020B0604020202020204" pitchFamily="34" charset="0"/>
              </a:defRPr>
            </a:lvl1pPr>
          </a:lstStyle>
          <a:p>
            <a:pPr algn="just"/>
            <a:r>
              <a:rPr lang="en-US" noProof="0"/>
              <a:t>Applications runs Avangrid's non-SAP operational backbone — four teams supporting Electric &amp; Gas, GIS, Corporate and Iberdrola Global SAP.</a:t>
            </a:r>
          </a:p>
        </p:txBody>
      </p:sp>
      <p:sp>
        <p:nvSpPr>
          <p:cNvPr id="14" name="TextBox 13">
            <a:extLst>
              <a:ext uri="{FF2B5EF4-FFF2-40B4-BE49-F238E27FC236}">
                <a16:creationId xmlns:a16="http://schemas.microsoft.com/office/drawing/2014/main" id="{5E1F910B-5668-59EA-9555-84222413E3EB}"/>
              </a:ext>
            </a:extLst>
          </p:cNvPr>
          <p:cNvSpPr txBox="1"/>
          <p:nvPr/>
        </p:nvSpPr>
        <p:spPr>
          <a:xfrm>
            <a:off x="658368" y="4942202"/>
            <a:ext cx="5257800" cy="597536"/>
          </a:xfrm>
          <a:prstGeom prst="rect">
            <a:avLst/>
          </a:prstGeom>
          <a:noFill/>
        </p:spPr>
        <p:txBody>
          <a:bodyPr wrap="square" lIns="0" tIns="0" rIns="0" bIns="0" anchor="t">
            <a:spAutoFit/>
          </a:bodyPr>
          <a:lstStyle>
            <a:defPPr>
              <a:defRPr lang="en-US"/>
            </a:defPPr>
            <a:lvl1pPr>
              <a:lnSpc>
                <a:spcPct val="110000"/>
              </a:lnSpc>
              <a:spcBef>
                <a:spcPts val="0"/>
              </a:spcBef>
              <a:spcAft>
                <a:spcPts val="0"/>
              </a:spcAft>
              <a:defRPr sz="900" b="0" i="0">
                <a:latin typeface="Helvetica Neue"/>
              </a:defRPr>
            </a:lvl1pPr>
          </a:lstStyle>
          <a:p>
            <a:r>
              <a:rPr lang="en-US" noProof="0">
                <a:latin typeface="Arial" panose="020B0604020202020204" pitchFamily="34" charset="0"/>
                <a:cs typeface="Arial" panose="020B0604020202020204" pitchFamily="34" charset="0"/>
              </a:rPr>
              <a:t>▪  Bruno </a:t>
            </a:r>
            <a:r>
              <a:rPr lang="en-US" noProof="0" err="1">
                <a:latin typeface="Arial" panose="020B0604020202020204" pitchFamily="34" charset="0"/>
                <a:cs typeface="Arial" panose="020B0604020202020204" pitchFamily="34" charset="0"/>
              </a:rPr>
              <a:t>Moreto</a:t>
            </a:r>
            <a:r>
              <a:rPr lang="en-US" noProof="0">
                <a:latin typeface="Arial" panose="020B0604020202020204" pitchFamily="34" charset="0"/>
                <a:cs typeface="Arial" panose="020B0604020202020204" pitchFamily="34" charset="0"/>
              </a:rPr>
              <a:t> – Sr, Manager Electric &amp;Gas Operations Products​</a:t>
            </a:r>
          </a:p>
          <a:p>
            <a:r>
              <a:rPr lang="en-US" noProof="0">
                <a:latin typeface="Arial" panose="020B0604020202020204" pitchFamily="34" charset="0"/>
                <a:cs typeface="Arial" panose="020B0604020202020204" pitchFamily="34" charset="0"/>
              </a:rPr>
              <a:t>▪  George Porto —  Sr Manager GIS &amp; OSG</a:t>
            </a:r>
          </a:p>
          <a:p>
            <a:r>
              <a:rPr lang="en-US" noProof="0">
                <a:latin typeface="Arial" panose="020B0604020202020204" pitchFamily="34" charset="0"/>
                <a:cs typeface="Arial" panose="020B0604020202020204" pitchFamily="34" charset="0"/>
              </a:rPr>
              <a:t>▪  Sarath </a:t>
            </a:r>
            <a:r>
              <a:rPr lang="en-US" noProof="0" err="1">
                <a:latin typeface="Arial" panose="020B0604020202020204" pitchFamily="34" charset="0"/>
                <a:cs typeface="Arial" panose="020B0604020202020204" pitchFamily="34" charset="0"/>
              </a:rPr>
              <a:t>Garikapati</a:t>
            </a:r>
            <a:r>
              <a:rPr lang="en-US" noProof="0">
                <a:latin typeface="Arial" panose="020B0604020202020204" pitchFamily="34" charset="0"/>
                <a:cs typeface="Arial" panose="020B0604020202020204" pitchFamily="34" charset="0"/>
              </a:rPr>
              <a:t>  — Sr. Manager Corporate Applications</a:t>
            </a:r>
          </a:p>
          <a:p>
            <a:r>
              <a:rPr lang="en-US" noProof="0">
                <a:latin typeface="Arial" panose="020B0604020202020204" pitchFamily="34" charset="0"/>
                <a:cs typeface="Arial" panose="020B0604020202020204" pitchFamily="34" charset="0"/>
              </a:rPr>
              <a:t>▪  Vanessa Colombo —  Manager IT Apps Global SAP</a:t>
            </a:r>
          </a:p>
        </p:txBody>
      </p:sp>
      <p:sp>
        <p:nvSpPr>
          <p:cNvPr id="20" name="Título 2">
            <a:extLst>
              <a:ext uri="{FF2B5EF4-FFF2-40B4-BE49-F238E27FC236}">
                <a16:creationId xmlns:a16="http://schemas.microsoft.com/office/drawing/2014/main" id="{87A1E1C9-E9ED-9199-E505-411CF089AA73}"/>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r>
              <a:rPr lang="en-US" sz="2400" noProof="0">
                <a:latin typeface="Arial" panose="020B0604020202020204" pitchFamily="34" charset="0"/>
                <a:cs typeface="Arial" panose="020B0604020202020204" pitchFamily="34" charset="0"/>
              </a:rPr>
              <a:t>CURRENT STATE ANALYSIS</a:t>
            </a:r>
          </a:p>
        </p:txBody>
      </p:sp>
      <p:sp>
        <p:nvSpPr>
          <p:cNvPr id="21" name="Rectangle 20">
            <a:extLst>
              <a:ext uri="{FF2B5EF4-FFF2-40B4-BE49-F238E27FC236}">
                <a16:creationId xmlns:a16="http://schemas.microsoft.com/office/drawing/2014/main" id="{9038726B-54A7-AA56-5690-F6029D8D1B0D}"/>
              </a:ext>
            </a:extLst>
          </p:cNvPr>
          <p:cNvSpPr/>
          <p:nvPr/>
        </p:nvSpPr>
        <p:spPr>
          <a:xfrm>
            <a:off x="6239978" y="2943651"/>
            <a:ext cx="5623560" cy="1501329"/>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2" name="Rectangle 21">
            <a:extLst>
              <a:ext uri="{FF2B5EF4-FFF2-40B4-BE49-F238E27FC236}">
                <a16:creationId xmlns:a16="http://schemas.microsoft.com/office/drawing/2014/main" id="{8508E7AA-3451-4994-FA24-E7406C313441}"/>
              </a:ext>
            </a:extLst>
          </p:cNvPr>
          <p:cNvSpPr/>
          <p:nvPr/>
        </p:nvSpPr>
        <p:spPr>
          <a:xfrm>
            <a:off x="6239978" y="2909521"/>
            <a:ext cx="5623560" cy="67612"/>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3" name="TextBox 22">
            <a:extLst>
              <a:ext uri="{FF2B5EF4-FFF2-40B4-BE49-F238E27FC236}">
                <a16:creationId xmlns:a16="http://schemas.microsoft.com/office/drawing/2014/main" id="{F064B1DD-1104-4277-0B15-B763E4DD9A0B}"/>
              </a:ext>
            </a:extLst>
          </p:cNvPr>
          <p:cNvSpPr txBox="1"/>
          <p:nvPr/>
        </p:nvSpPr>
        <p:spPr>
          <a:xfrm>
            <a:off x="6417484" y="3000823"/>
            <a:ext cx="5257800"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chemeClr val="accent3"/>
                </a:solidFill>
                <a:latin typeface="Arial" panose="020B0604020202020204" pitchFamily="34" charset="0"/>
                <a:cs typeface="Arial" panose="020B0604020202020204" pitchFamily="34" charset="0"/>
              </a:rPr>
              <a:t>PRIORITIES TODAY</a:t>
            </a:r>
          </a:p>
        </p:txBody>
      </p:sp>
      <p:sp>
        <p:nvSpPr>
          <p:cNvPr id="24" name="TextBox 23">
            <a:extLst>
              <a:ext uri="{FF2B5EF4-FFF2-40B4-BE49-F238E27FC236}">
                <a16:creationId xmlns:a16="http://schemas.microsoft.com/office/drawing/2014/main" id="{E0985B67-BFE4-F72F-D213-901BBEB99772}"/>
              </a:ext>
            </a:extLst>
          </p:cNvPr>
          <p:cNvSpPr txBox="1"/>
          <p:nvPr/>
        </p:nvSpPr>
        <p:spPr>
          <a:xfrm>
            <a:off x="9447998" y="3027787"/>
            <a:ext cx="2574758"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1" noProof="0">
                <a:solidFill>
                  <a:schemeClr val="accent1"/>
                </a:solidFill>
                <a:latin typeface="Arial" panose="020B0604020202020204" pitchFamily="34" charset="0"/>
                <a:cs typeface="Arial" panose="020B0604020202020204" pitchFamily="34" charset="0"/>
              </a:rPr>
              <a:t>Break/fix first, regulatory second, strategic last</a:t>
            </a:r>
          </a:p>
        </p:txBody>
      </p:sp>
      <p:sp>
        <p:nvSpPr>
          <p:cNvPr id="25" name="TextBox 24">
            <a:extLst>
              <a:ext uri="{FF2B5EF4-FFF2-40B4-BE49-F238E27FC236}">
                <a16:creationId xmlns:a16="http://schemas.microsoft.com/office/drawing/2014/main" id="{4D2D3565-6E4E-DFC4-C63D-D0C8B23F1540}"/>
              </a:ext>
            </a:extLst>
          </p:cNvPr>
          <p:cNvSpPr txBox="1"/>
          <p:nvPr/>
        </p:nvSpPr>
        <p:spPr>
          <a:xfrm>
            <a:off x="6425906" y="3397714"/>
            <a:ext cx="5257800" cy="5975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latin typeface="Arial" panose="020B0604020202020204" pitchFamily="34" charset="0"/>
                <a:cs typeface="Arial" panose="020B0604020202020204" pitchFamily="34" charset="0"/>
              </a:rPr>
              <a:t>▪  GIS: keep the lights on; team &amp; SWF resource management; future technology roadmap.</a:t>
            </a:r>
          </a:p>
          <a:p>
            <a:pPr algn="l">
              <a:lnSpc>
                <a:spcPct val="110000"/>
              </a:lnSpc>
              <a:spcBef>
                <a:spcPts val="0"/>
              </a:spcBef>
              <a:spcAft>
                <a:spcPts val="0"/>
              </a:spcAft>
            </a:pPr>
            <a:r>
              <a:rPr lang="en-US" sz="900" b="0" i="0" noProof="0">
                <a:latin typeface="Arial" panose="020B0604020202020204" pitchFamily="34" charset="0"/>
                <a:cs typeface="Arial" panose="020B0604020202020204" pitchFamily="34" charset="0"/>
              </a:rPr>
              <a:t>▪  Corporate: regulatory and employee-facing systems — always priority; continuous new requirements.</a:t>
            </a:r>
          </a:p>
          <a:p>
            <a:pPr algn="l">
              <a:lnSpc>
                <a:spcPct val="110000"/>
              </a:lnSpc>
              <a:spcBef>
                <a:spcPts val="0"/>
              </a:spcBef>
              <a:spcAft>
                <a:spcPts val="0"/>
              </a:spcAft>
            </a:pPr>
            <a:r>
              <a:rPr lang="en-US" sz="900" b="0" i="0" noProof="0">
                <a:latin typeface="Arial" panose="020B0604020202020204" pitchFamily="34" charset="0"/>
                <a:cs typeface="Arial" panose="020B0604020202020204" pitchFamily="34" charset="0"/>
              </a:rPr>
              <a:t>▪  G&amp;E: ProjectWise + </a:t>
            </a:r>
            <a:r>
              <a:rPr lang="en-US" sz="900" b="0" i="0" noProof="0" err="1">
                <a:latin typeface="Arial" panose="020B0604020202020204" pitchFamily="34" charset="0"/>
                <a:cs typeface="Arial" panose="020B0604020202020204" pitchFamily="34" charset="0"/>
              </a:rPr>
              <a:t>Microstation</a:t>
            </a:r>
            <a:r>
              <a:rPr lang="en-US" sz="900" b="0" i="0" noProof="0">
                <a:latin typeface="Arial" panose="020B0604020202020204" pitchFamily="34" charset="0"/>
                <a:cs typeface="Arial" panose="020B0604020202020204" pitchFamily="34" charset="0"/>
              </a:rPr>
              <a:t> upgrades; third-party risk interface; business case approvals (slow).</a:t>
            </a:r>
          </a:p>
          <a:p>
            <a:pPr algn="l">
              <a:lnSpc>
                <a:spcPct val="110000"/>
              </a:lnSpc>
              <a:spcBef>
                <a:spcPts val="0"/>
              </a:spcBef>
              <a:spcAft>
                <a:spcPts val="0"/>
              </a:spcAft>
            </a:pPr>
            <a:r>
              <a:rPr lang="en-US" sz="900" b="0" i="0" noProof="0">
                <a:latin typeface="Arial" panose="020B0604020202020204" pitchFamily="34" charset="0"/>
                <a:cs typeface="Arial" panose="020B0604020202020204" pitchFamily="34" charset="0"/>
              </a:rPr>
              <a:t>▪  Global SAP: incident volume dominates — strategic projects slip; 1-year hiring lag amplifies load.</a:t>
            </a:r>
          </a:p>
        </p:txBody>
      </p:sp>
      <p:sp>
        <p:nvSpPr>
          <p:cNvPr id="19" name="Rectangle: Rounded Corners 18">
            <a:extLst>
              <a:ext uri="{FF2B5EF4-FFF2-40B4-BE49-F238E27FC236}">
                <a16:creationId xmlns:a16="http://schemas.microsoft.com/office/drawing/2014/main" id="{9025065E-0173-73DF-21A9-D9B15C9248F6}"/>
              </a:ext>
            </a:extLst>
          </p:cNvPr>
          <p:cNvSpPr/>
          <p:nvPr/>
        </p:nvSpPr>
        <p:spPr>
          <a:xfrm>
            <a:off x="5336339" y="171587"/>
            <a:ext cx="1668780" cy="343539"/>
          </a:xfrm>
          <a:prstGeom prst="roundRect">
            <a:avLst/>
          </a:prstGeom>
          <a:solidFill>
            <a:schemeClr val="accent3"/>
          </a:solid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a:t>IT Business Apps</a:t>
            </a:r>
          </a:p>
        </p:txBody>
      </p:sp>
      <p:sp>
        <p:nvSpPr>
          <p:cNvPr id="26" name="Rectangle: Rounded Corners 25">
            <a:extLst>
              <a:ext uri="{FF2B5EF4-FFF2-40B4-BE49-F238E27FC236}">
                <a16:creationId xmlns:a16="http://schemas.microsoft.com/office/drawing/2014/main" id="{F3A570A3-038F-302C-8CB9-11F785C6B2FD}"/>
              </a:ext>
            </a:extLst>
          </p:cNvPr>
          <p:cNvSpPr/>
          <p:nvPr/>
        </p:nvSpPr>
        <p:spPr>
          <a:xfrm>
            <a:off x="7068491" y="171587"/>
            <a:ext cx="1668780" cy="343539"/>
          </a:xfrm>
          <a:prstGeom prst="roundRect">
            <a:avLst/>
          </a:prstGeom>
          <a:solidFill>
            <a:schemeClr val="accent4">
              <a:lumMod val="75000"/>
            </a:schemeClr>
          </a:solidFill>
          <a:ln>
            <a:solidFill>
              <a:schemeClr val="accent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a:solidFill>
                  <a:schemeClr val="bg1">
                    <a:lumMod val="85000"/>
                  </a:schemeClr>
                </a:solidFill>
              </a:rPr>
              <a:t>Customer Services Apps</a:t>
            </a:r>
          </a:p>
        </p:txBody>
      </p:sp>
      <p:sp>
        <p:nvSpPr>
          <p:cNvPr id="27" name="Rectangle: Rounded Corners 26">
            <a:extLst>
              <a:ext uri="{FF2B5EF4-FFF2-40B4-BE49-F238E27FC236}">
                <a16:creationId xmlns:a16="http://schemas.microsoft.com/office/drawing/2014/main" id="{5FF38DE1-79F7-A22B-E13F-75D01B7C1C75}"/>
              </a:ext>
            </a:extLst>
          </p:cNvPr>
          <p:cNvSpPr/>
          <p:nvPr/>
        </p:nvSpPr>
        <p:spPr>
          <a:xfrm>
            <a:off x="8800643" y="173010"/>
            <a:ext cx="1668780" cy="343539"/>
          </a:xfrm>
          <a:prstGeom prst="roundRect">
            <a:avLst/>
          </a:prstGeom>
          <a:solidFill>
            <a:schemeClr val="accent4">
              <a:lumMod val="75000"/>
            </a:schemeClr>
          </a:solidFill>
          <a:ln>
            <a:solidFill>
              <a:schemeClr val="accent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a:solidFill>
                  <a:schemeClr val="bg1">
                    <a:lumMod val="85000"/>
                  </a:schemeClr>
                </a:solidFill>
              </a:rPr>
              <a:t>Product Management</a:t>
            </a:r>
          </a:p>
        </p:txBody>
      </p:sp>
      <p:sp>
        <p:nvSpPr>
          <p:cNvPr id="28" name="Rectangle 27">
            <a:extLst>
              <a:ext uri="{FF2B5EF4-FFF2-40B4-BE49-F238E27FC236}">
                <a16:creationId xmlns:a16="http://schemas.microsoft.com/office/drawing/2014/main" id="{9F9252C8-4640-7D22-633B-B2E818437513}"/>
              </a:ext>
            </a:extLst>
          </p:cNvPr>
          <p:cNvSpPr/>
          <p:nvPr/>
        </p:nvSpPr>
        <p:spPr>
          <a:xfrm>
            <a:off x="471489" y="4526816"/>
            <a:ext cx="5623560" cy="67612"/>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8" name="Rectángulo 17">
            <a:extLst>
              <a:ext uri="{FF2B5EF4-FFF2-40B4-BE49-F238E27FC236}">
                <a16:creationId xmlns:a16="http://schemas.microsoft.com/office/drawing/2014/main" id="{466B6BD1-3495-6967-78AB-AE4FFFDD2CA8}"/>
              </a:ext>
            </a:extLst>
          </p:cNvPr>
          <p:cNvSpPr/>
          <p:nvPr/>
        </p:nvSpPr>
        <p:spPr>
          <a:xfrm>
            <a:off x="6339840" y="4572000"/>
            <a:ext cx="4399280" cy="1513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a:t>Meter </a:t>
            </a:r>
            <a:r>
              <a:rPr lang="en-US" noProof="0" err="1"/>
              <a:t>componenente</a:t>
            </a:r>
            <a:r>
              <a:rPr lang="en-US" noProof="0"/>
              <a:t> de </a:t>
            </a:r>
            <a:r>
              <a:rPr lang="en-US" noProof="0" err="1"/>
              <a:t>qué</a:t>
            </a:r>
            <a:r>
              <a:rPr lang="en-US" noProof="0"/>
              <a:t> </a:t>
            </a:r>
            <a:r>
              <a:rPr lang="en-US" noProof="0" err="1"/>
              <a:t>roels</a:t>
            </a:r>
            <a:r>
              <a:rPr lang="en-US" noProof="0"/>
              <a:t> </a:t>
            </a:r>
            <a:r>
              <a:rPr lang="en-US" noProof="0" err="1"/>
              <a:t>relacionados</a:t>
            </a:r>
            <a:r>
              <a:rPr lang="en-US" noProof="0"/>
              <a:t> con Product </a:t>
            </a:r>
            <a:r>
              <a:rPr lang="en-US" noProof="0" err="1"/>
              <a:t>hacen</a:t>
            </a:r>
            <a:r>
              <a:rPr lang="en-US" noProof="0"/>
              <a:t> </a:t>
            </a:r>
            <a:r>
              <a:rPr lang="en-US" noProof="0" err="1"/>
              <a:t>falta</a:t>
            </a:r>
            <a:r>
              <a:rPr lang="en-US" noProof="0"/>
              <a:t> (</a:t>
            </a:r>
            <a:r>
              <a:rPr lang="en-US" noProof="0" err="1"/>
              <a:t>revisarlo</a:t>
            </a:r>
            <a:r>
              <a:rPr lang="en-US" noProof="0"/>
              <a:t> </a:t>
            </a:r>
            <a:r>
              <a:rPr lang="en-US" noProof="0" err="1"/>
              <a:t>en</a:t>
            </a:r>
            <a:r>
              <a:rPr lang="en-US" noProof="0"/>
              <a:t> </a:t>
            </a:r>
            <a:r>
              <a:rPr lang="en-US" noProof="0" err="1"/>
              <a:t>todas</a:t>
            </a:r>
            <a:r>
              <a:rPr lang="en-US" noProof="0"/>
              <a:t> las </a:t>
            </a:r>
            <a:r>
              <a:rPr lang="en-US" noProof="0" err="1"/>
              <a:t>fichas</a:t>
            </a:r>
            <a:r>
              <a:rPr lang="en-US" noProof="0"/>
              <a:t>)</a:t>
            </a:r>
          </a:p>
        </p:txBody>
      </p:sp>
    </p:spTree>
    <p:extLst>
      <p:ext uri="{BB962C8B-B14F-4D97-AF65-F5344CB8AC3E}">
        <p14:creationId xmlns:p14="http://schemas.microsoft.com/office/powerpoint/2010/main" val="2949244577"/>
      </p:ext>
    </p:extLst>
  </p:cSld>
  <p:clrMapOvr>
    <a:masterClrMapping/>
  </p:clrMapOvr>
  <p:extLst>
    <p:ext uri="{6950BFC3-D8DA-4A85-94F7-54DA5524770B}">
      <p188:commentRel xmlns:p188="http://schemas.microsoft.com/office/powerpoint/2018/8/main" r:id="rId3"/>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A06D88-8B12-E50D-3822-550D360AFC17}"/>
            </a:ext>
          </a:extLst>
        </p:cNvPr>
        <p:cNvGrpSpPr/>
        <p:nvPr/>
      </p:nvGrpSpPr>
      <p:grpSpPr>
        <a:xfrm>
          <a:off x="0" y="0"/>
          <a:ext cx="0" cy="0"/>
          <a:chOff x="0" y="0"/>
          <a:chExt cx="0" cy="0"/>
        </a:xfrm>
      </p:grpSpPr>
      <p:sp>
        <p:nvSpPr>
          <p:cNvPr id="3" name="Rectangle 28">
            <a:extLst>
              <a:ext uri="{FF2B5EF4-FFF2-40B4-BE49-F238E27FC236}">
                <a16:creationId xmlns:a16="http://schemas.microsoft.com/office/drawing/2014/main" id="{E10663A1-95A3-6A11-43CB-D592C20A7A47}"/>
              </a:ext>
            </a:extLst>
          </p:cNvPr>
          <p:cNvSpPr/>
          <p:nvPr/>
        </p:nvSpPr>
        <p:spPr>
          <a:xfrm>
            <a:off x="-561976" y="1891049"/>
            <a:ext cx="504913" cy="354411"/>
          </a:xfrm>
          <a:prstGeom prst="rect">
            <a:avLst/>
          </a:prstGeom>
          <a:solidFill>
            <a:srgbClr val="0DA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 name="Rectangle 40">
            <a:extLst>
              <a:ext uri="{FF2B5EF4-FFF2-40B4-BE49-F238E27FC236}">
                <a16:creationId xmlns:a16="http://schemas.microsoft.com/office/drawing/2014/main" id="{F6B038AA-B292-7609-69DC-C00E7B655E40}"/>
              </a:ext>
            </a:extLst>
          </p:cNvPr>
          <p:cNvSpPr/>
          <p:nvPr/>
        </p:nvSpPr>
        <p:spPr>
          <a:xfrm>
            <a:off x="-561976" y="1450050"/>
            <a:ext cx="504913" cy="354411"/>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 name="Rectangle 52">
            <a:extLst>
              <a:ext uri="{FF2B5EF4-FFF2-40B4-BE49-F238E27FC236}">
                <a16:creationId xmlns:a16="http://schemas.microsoft.com/office/drawing/2014/main" id="{D3A25A4C-2B61-80AF-4383-FCF17B37F78F}"/>
              </a:ext>
            </a:extLst>
          </p:cNvPr>
          <p:cNvSpPr/>
          <p:nvPr/>
        </p:nvSpPr>
        <p:spPr>
          <a:xfrm>
            <a:off x="-561976" y="1009051"/>
            <a:ext cx="504913" cy="354411"/>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7" name="Rectangle 64">
            <a:extLst>
              <a:ext uri="{FF2B5EF4-FFF2-40B4-BE49-F238E27FC236}">
                <a16:creationId xmlns:a16="http://schemas.microsoft.com/office/drawing/2014/main" id="{072E093E-432C-FD12-498F-29B9DCE4F116}"/>
              </a:ext>
            </a:extLst>
          </p:cNvPr>
          <p:cNvSpPr/>
          <p:nvPr/>
        </p:nvSpPr>
        <p:spPr>
          <a:xfrm>
            <a:off x="-561976" y="2332048"/>
            <a:ext cx="504913" cy="354411"/>
          </a:xfrm>
          <a:prstGeom prst="rect">
            <a:avLst/>
          </a:prstGeom>
          <a:solidFill>
            <a:schemeClr val="accent6">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8" name="Rectangle 64">
            <a:extLst>
              <a:ext uri="{FF2B5EF4-FFF2-40B4-BE49-F238E27FC236}">
                <a16:creationId xmlns:a16="http://schemas.microsoft.com/office/drawing/2014/main" id="{D958FC71-41E7-AB87-8657-6B8A8D4303CB}"/>
              </a:ext>
            </a:extLst>
          </p:cNvPr>
          <p:cNvSpPr/>
          <p:nvPr/>
        </p:nvSpPr>
        <p:spPr>
          <a:xfrm>
            <a:off x="-561976" y="2773047"/>
            <a:ext cx="504913" cy="354411"/>
          </a:xfrm>
          <a:prstGeom prst="rect">
            <a:avLst/>
          </a:prstGeom>
          <a:solidFill>
            <a:srgbClr val="00A4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9" name="Rectangle 64">
            <a:extLst>
              <a:ext uri="{FF2B5EF4-FFF2-40B4-BE49-F238E27FC236}">
                <a16:creationId xmlns:a16="http://schemas.microsoft.com/office/drawing/2014/main" id="{3F3E35D2-58F5-D3FB-5E0B-C17FF2A0BBD3}"/>
              </a:ext>
            </a:extLst>
          </p:cNvPr>
          <p:cNvSpPr/>
          <p:nvPr/>
        </p:nvSpPr>
        <p:spPr>
          <a:xfrm>
            <a:off x="-561976" y="3214046"/>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5" name="Rectangle 64">
            <a:extLst>
              <a:ext uri="{FF2B5EF4-FFF2-40B4-BE49-F238E27FC236}">
                <a16:creationId xmlns:a16="http://schemas.microsoft.com/office/drawing/2014/main" id="{5360DE0D-62BB-4EF4-BAEA-1A71AFFAA323}"/>
              </a:ext>
            </a:extLst>
          </p:cNvPr>
          <p:cNvSpPr/>
          <p:nvPr/>
        </p:nvSpPr>
        <p:spPr>
          <a:xfrm>
            <a:off x="-561976" y="3655047"/>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37" name="Rectangle 136">
            <a:extLst>
              <a:ext uri="{FF2B5EF4-FFF2-40B4-BE49-F238E27FC236}">
                <a16:creationId xmlns:a16="http://schemas.microsoft.com/office/drawing/2014/main" id="{BC08C3A1-C083-F55B-9DE2-B742DCB28973}"/>
              </a:ext>
            </a:extLst>
          </p:cNvPr>
          <p:cNvSpPr/>
          <p:nvPr/>
        </p:nvSpPr>
        <p:spPr>
          <a:xfrm>
            <a:off x="6226342" y="4574050"/>
            <a:ext cx="5623560" cy="1501329"/>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38" name="Rectangle 137">
            <a:extLst>
              <a:ext uri="{FF2B5EF4-FFF2-40B4-BE49-F238E27FC236}">
                <a16:creationId xmlns:a16="http://schemas.microsoft.com/office/drawing/2014/main" id="{C097C309-AD49-6194-74D8-976444141155}"/>
              </a:ext>
            </a:extLst>
          </p:cNvPr>
          <p:cNvSpPr/>
          <p:nvPr/>
        </p:nvSpPr>
        <p:spPr>
          <a:xfrm>
            <a:off x="481263" y="4531204"/>
            <a:ext cx="5623560" cy="67612"/>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39" name="Rectangle 138">
            <a:extLst>
              <a:ext uri="{FF2B5EF4-FFF2-40B4-BE49-F238E27FC236}">
                <a16:creationId xmlns:a16="http://schemas.microsoft.com/office/drawing/2014/main" id="{27EB1502-5586-1B9F-0528-A1CAD9F6922F}"/>
              </a:ext>
            </a:extLst>
          </p:cNvPr>
          <p:cNvSpPr/>
          <p:nvPr/>
        </p:nvSpPr>
        <p:spPr>
          <a:xfrm>
            <a:off x="481263" y="2934895"/>
            <a:ext cx="5623560" cy="1501329"/>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0" name="Rectangle 139">
            <a:extLst>
              <a:ext uri="{FF2B5EF4-FFF2-40B4-BE49-F238E27FC236}">
                <a16:creationId xmlns:a16="http://schemas.microsoft.com/office/drawing/2014/main" id="{87650414-C683-8872-818E-19E1F3A5A10E}"/>
              </a:ext>
            </a:extLst>
          </p:cNvPr>
          <p:cNvSpPr/>
          <p:nvPr/>
        </p:nvSpPr>
        <p:spPr>
          <a:xfrm>
            <a:off x="481263" y="2900765"/>
            <a:ext cx="5623560" cy="67612"/>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1" name="Rectangle 140">
            <a:extLst>
              <a:ext uri="{FF2B5EF4-FFF2-40B4-BE49-F238E27FC236}">
                <a16:creationId xmlns:a16="http://schemas.microsoft.com/office/drawing/2014/main" id="{AD3A390C-6D85-577A-B375-214B2885956D}"/>
              </a:ext>
            </a:extLst>
          </p:cNvPr>
          <p:cNvSpPr/>
          <p:nvPr/>
        </p:nvSpPr>
        <p:spPr>
          <a:xfrm>
            <a:off x="6226342" y="1355601"/>
            <a:ext cx="5623560" cy="2441564"/>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2" name="Rectangle 141">
            <a:extLst>
              <a:ext uri="{FF2B5EF4-FFF2-40B4-BE49-F238E27FC236}">
                <a16:creationId xmlns:a16="http://schemas.microsoft.com/office/drawing/2014/main" id="{8F563FE5-C383-04BA-F4D3-C6FA1FC25FF1}"/>
              </a:ext>
            </a:extLst>
          </p:cNvPr>
          <p:cNvSpPr/>
          <p:nvPr/>
        </p:nvSpPr>
        <p:spPr>
          <a:xfrm>
            <a:off x="6226342" y="1321470"/>
            <a:ext cx="5623560" cy="67612"/>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3" name="Rectangle 142">
            <a:extLst>
              <a:ext uri="{FF2B5EF4-FFF2-40B4-BE49-F238E27FC236}">
                <a16:creationId xmlns:a16="http://schemas.microsoft.com/office/drawing/2014/main" id="{335A9BA0-A251-A74C-E388-7709238C48F3}"/>
              </a:ext>
            </a:extLst>
          </p:cNvPr>
          <p:cNvSpPr/>
          <p:nvPr/>
        </p:nvSpPr>
        <p:spPr>
          <a:xfrm>
            <a:off x="472440" y="4582641"/>
            <a:ext cx="5623560" cy="1501329"/>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4" name="Rectangle 143">
            <a:extLst>
              <a:ext uri="{FF2B5EF4-FFF2-40B4-BE49-F238E27FC236}">
                <a16:creationId xmlns:a16="http://schemas.microsoft.com/office/drawing/2014/main" id="{E7081C04-0520-8484-76DA-92177A623C41}"/>
              </a:ext>
            </a:extLst>
          </p:cNvPr>
          <p:cNvSpPr/>
          <p:nvPr/>
        </p:nvSpPr>
        <p:spPr>
          <a:xfrm>
            <a:off x="6235165" y="4519802"/>
            <a:ext cx="5623560" cy="67612"/>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7" name="Rectangle 146">
            <a:extLst>
              <a:ext uri="{FF2B5EF4-FFF2-40B4-BE49-F238E27FC236}">
                <a16:creationId xmlns:a16="http://schemas.microsoft.com/office/drawing/2014/main" id="{697294D1-4F9B-9EE2-FAF5-E6AA1FD313D4}"/>
              </a:ext>
            </a:extLst>
          </p:cNvPr>
          <p:cNvSpPr/>
          <p:nvPr/>
        </p:nvSpPr>
        <p:spPr>
          <a:xfrm>
            <a:off x="457200" y="1355601"/>
            <a:ext cx="5623560" cy="1501329"/>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9" name="Rectangle 148">
            <a:extLst>
              <a:ext uri="{FF2B5EF4-FFF2-40B4-BE49-F238E27FC236}">
                <a16:creationId xmlns:a16="http://schemas.microsoft.com/office/drawing/2014/main" id="{51C132FA-B6E9-6EFC-154A-A5FC099FE05B}"/>
              </a:ext>
            </a:extLst>
          </p:cNvPr>
          <p:cNvSpPr/>
          <p:nvPr/>
        </p:nvSpPr>
        <p:spPr>
          <a:xfrm>
            <a:off x="457200" y="1321470"/>
            <a:ext cx="5623560" cy="67612"/>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50" name="TextBox 149">
            <a:extLst>
              <a:ext uri="{FF2B5EF4-FFF2-40B4-BE49-F238E27FC236}">
                <a16:creationId xmlns:a16="http://schemas.microsoft.com/office/drawing/2014/main" id="{9F4E9297-3053-9685-7488-E6207E988017}"/>
              </a:ext>
            </a:extLst>
          </p:cNvPr>
          <p:cNvSpPr txBox="1"/>
          <p:nvPr/>
        </p:nvSpPr>
        <p:spPr>
          <a:xfrm>
            <a:off x="658368" y="1435449"/>
            <a:ext cx="5257800"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chemeClr val="accent3"/>
                </a:solidFill>
                <a:latin typeface="Arial" panose="020B0604020202020204" pitchFamily="34" charset="0"/>
                <a:cs typeface="Arial" panose="020B0604020202020204" pitchFamily="34" charset="0"/>
              </a:rPr>
              <a:t>NATURE OF WORK</a:t>
            </a:r>
          </a:p>
        </p:txBody>
      </p:sp>
      <p:sp>
        <p:nvSpPr>
          <p:cNvPr id="151" name="TextBox 150">
            <a:extLst>
              <a:ext uri="{FF2B5EF4-FFF2-40B4-BE49-F238E27FC236}">
                <a16:creationId xmlns:a16="http://schemas.microsoft.com/office/drawing/2014/main" id="{7A60BF0C-8144-5241-472C-AA7F54AAC201}"/>
              </a:ext>
            </a:extLst>
          </p:cNvPr>
          <p:cNvSpPr txBox="1"/>
          <p:nvPr/>
        </p:nvSpPr>
        <p:spPr>
          <a:xfrm>
            <a:off x="3524651" y="1439833"/>
            <a:ext cx="5257800" cy="140489"/>
          </a:xfrm>
          <a:prstGeom prst="rect">
            <a:avLst/>
          </a:prstGeom>
          <a:noFill/>
        </p:spPr>
        <p:txBody>
          <a:bodyPr wrap="square" lIns="0" tIns="0" rIns="0" bIns="0" anchor="t">
            <a:spAutoFit/>
          </a:bodyPr>
          <a:lstStyle/>
          <a:p>
            <a:pPr>
              <a:lnSpc>
                <a:spcPct val="110000"/>
              </a:lnSpc>
            </a:pPr>
            <a:r>
              <a:rPr lang="en-US" sz="900" i="1" noProof="0">
                <a:solidFill>
                  <a:schemeClr val="accent1"/>
                </a:solidFill>
                <a:latin typeface="Arial" panose="020B0604020202020204" pitchFamily="34" charset="0"/>
                <a:cs typeface="Arial" panose="020B0604020202020204" pitchFamily="34" charset="0"/>
              </a:rPr>
              <a:t>Customer-facing SAP + metering + contact center</a:t>
            </a:r>
          </a:p>
        </p:txBody>
      </p:sp>
      <p:sp>
        <p:nvSpPr>
          <p:cNvPr id="152" name="TextBox 151">
            <a:extLst>
              <a:ext uri="{FF2B5EF4-FFF2-40B4-BE49-F238E27FC236}">
                <a16:creationId xmlns:a16="http://schemas.microsoft.com/office/drawing/2014/main" id="{972BADC3-3D44-9917-C81F-B1E0392B637D}"/>
              </a:ext>
            </a:extLst>
          </p:cNvPr>
          <p:cNvSpPr txBox="1"/>
          <p:nvPr/>
        </p:nvSpPr>
        <p:spPr>
          <a:xfrm>
            <a:off x="6400800" y="1435449"/>
            <a:ext cx="5257800" cy="171778"/>
          </a:xfrm>
          <a:prstGeom prst="rect">
            <a:avLst/>
          </a:prstGeom>
          <a:noFill/>
        </p:spPr>
        <p:txBody>
          <a:bodyPr wrap="square" lIns="0" tIns="0" rIns="0" bIns="0" anchor="t">
            <a:spAutoFit/>
          </a:bodyPr>
          <a:lstStyle>
            <a:defPPr>
              <a:defRPr lang="en-US"/>
            </a:defPPr>
            <a:lvl1pPr>
              <a:lnSpc>
                <a:spcPct val="110000"/>
              </a:lnSpc>
              <a:spcBef>
                <a:spcPts val="0"/>
              </a:spcBef>
              <a:spcAft>
                <a:spcPts val="0"/>
              </a:spcAft>
              <a:defRPr sz="1100" b="1" i="0">
                <a:solidFill>
                  <a:schemeClr val="accent3"/>
                </a:solidFill>
                <a:latin typeface="Helvetica Neue"/>
              </a:defRPr>
            </a:lvl1pPr>
          </a:lstStyle>
          <a:p>
            <a:r>
              <a:rPr lang="en-US" noProof="0">
                <a:latin typeface="Arial" panose="020B0604020202020204" pitchFamily="34" charset="0"/>
                <a:cs typeface="Arial" panose="020B0604020202020204" pitchFamily="34" charset="0"/>
              </a:rPr>
              <a:t>APPLICATIONS IN SCOPE</a:t>
            </a:r>
          </a:p>
        </p:txBody>
      </p:sp>
      <p:sp>
        <p:nvSpPr>
          <p:cNvPr id="156" name="TextBox 155">
            <a:extLst>
              <a:ext uri="{FF2B5EF4-FFF2-40B4-BE49-F238E27FC236}">
                <a16:creationId xmlns:a16="http://schemas.microsoft.com/office/drawing/2014/main" id="{D17E171A-9D6A-EEB8-87ED-348939C411D0}"/>
              </a:ext>
            </a:extLst>
          </p:cNvPr>
          <p:cNvSpPr txBox="1"/>
          <p:nvPr/>
        </p:nvSpPr>
        <p:spPr>
          <a:xfrm>
            <a:off x="6400800" y="4650690"/>
            <a:ext cx="5257800"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chemeClr val="accent3"/>
                </a:solidFill>
                <a:latin typeface="Arial" panose="020B0604020202020204" pitchFamily="34" charset="0"/>
                <a:cs typeface="Arial" panose="020B0604020202020204" pitchFamily="34" charset="0"/>
              </a:rPr>
              <a:t>BRS  /  OPCO LANDSCAPE</a:t>
            </a:r>
          </a:p>
        </p:txBody>
      </p:sp>
      <p:sp>
        <p:nvSpPr>
          <p:cNvPr id="157" name="TextBox 156">
            <a:extLst>
              <a:ext uri="{FF2B5EF4-FFF2-40B4-BE49-F238E27FC236}">
                <a16:creationId xmlns:a16="http://schemas.microsoft.com/office/drawing/2014/main" id="{9A4E25A4-8C1C-1372-1FD3-29D422FE0C8D}"/>
              </a:ext>
            </a:extLst>
          </p:cNvPr>
          <p:cNvSpPr txBox="1"/>
          <p:nvPr/>
        </p:nvSpPr>
        <p:spPr>
          <a:xfrm>
            <a:off x="9221003" y="4661360"/>
            <a:ext cx="2666198" cy="140488"/>
          </a:xfrm>
          <a:prstGeom prst="rect">
            <a:avLst/>
          </a:prstGeom>
          <a:noFill/>
        </p:spPr>
        <p:txBody>
          <a:bodyPr wrap="square" lIns="0" tIns="0" rIns="0" bIns="0" anchor="t">
            <a:spAutoFit/>
          </a:bodyPr>
          <a:lstStyle/>
          <a:p>
            <a:pPr>
              <a:lnSpc>
                <a:spcPct val="110000"/>
              </a:lnSpc>
            </a:pPr>
            <a:r>
              <a:rPr lang="en-US" sz="900" i="1" noProof="0">
                <a:solidFill>
                  <a:schemeClr val="accent1"/>
                </a:solidFill>
                <a:latin typeface="Arial" panose="020B0604020202020204" pitchFamily="34" charset="0"/>
                <a:cs typeface="Arial" panose="020B0604020202020204" pitchFamily="34" charset="0"/>
              </a:rPr>
              <a:t>3 BRS groups representing 7 operating companies</a:t>
            </a:r>
          </a:p>
        </p:txBody>
      </p:sp>
      <p:sp>
        <p:nvSpPr>
          <p:cNvPr id="158" name="TextBox 157">
            <a:extLst>
              <a:ext uri="{FF2B5EF4-FFF2-40B4-BE49-F238E27FC236}">
                <a16:creationId xmlns:a16="http://schemas.microsoft.com/office/drawing/2014/main" id="{8FE5C472-A9CF-C9CA-DCEC-7FE94F0A5759}"/>
              </a:ext>
            </a:extLst>
          </p:cNvPr>
          <p:cNvSpPr txBox="1"/>
          <p:nvPr/>
        </p:nvSpPr>
        <p:spPr>
          <a:xfrm>
            <a:off x="649946" y="4660316"/>
            <a:ext cx="5257800"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chemeClr val="accent3"/>
                </a:solidFill>
                <a:latin typeface="Arial" panose="020B0604020202020204" pitchFamily="34" charset="0"/>
                <a:cs typeface="Arial" panose="020B0604020202020204" pitchFamily="34" charset="0"/>
              </a:rPr>
              <a:t>TEAMS UNDER KUMAR</a:t>
            </a:r>
          </a:p>
        </p:txBody>
      </p:sp>
      <p:sp>
        <p:nvSpPr>
          <p:cNvPr id="159" name="TextBox 158">
            <a:extLst>
              <a:ext uri="{FF2B5EF4-FFF2-40B4-BE49-F238E27FC236}">
                <a16:creationId xmlns:a16="http://schemas.microsoft.com/office/drawing/2014/main" id="{42FC4BB0-3C4C-E590-50C3-2250B617DE41}"/>
              </a:ext>
            </a:extLst>
          </p:cNvPr>
          <p:cNvSpPr txBox="1"/>
          <p:nvPr/>
        </p:nvSpPr>
        <p:spPr>
          <a:xfrm>
            <a:off x="4153542" y="4657756"/>
            <a:ext cx="5257800" cy="140489"/>
          </a:xfrm>
          <a:prstGeom prst="rect">
            <a:avLst/>
          </a:prstGeom>
          <a:noFill/>
        </p:spPr>
        <p:txBody>
          <a:bodyPr wrap="square" lIns="0" tIns="0" rIns="0" bIns="0" anchor="t">
            <a:spAutoFit/>
          </a:bodyPr>
          <a:lstStyle/>
          <a:p>
            <a:pPr>
              <a:lnSpc>
                <a:spcPct val="110000"/>
              </a:lnSpc>
            </a:pPr>
            <a:r>
              <a:rPr lang="en-US" sz="900" i="1" noProof="0">
                <a:solidFill>
                  <a:schemeClr val="accent1"/>
                </a:solidFill>
                <a:latin typeface="Arial" panose="020B0604020202020204" pitchFamily="34" charset="0"/>
                <a:cs typeface="Arial" panose="020B0604020202020204" pitchFamily="34" charset="0"/>
              </a:rPr>
              <a:t>5 sub-teams, heterogeneous maturity</a:t>
            </a:r>
          </a:p>
        </p:txBody>
      </p:sp>
      <p:sp>
        <p:nvSpPr>
          <p:cNvPr id="160" name="TextBox 159">
            <a:extLst>
              <a:ext uri="{FF2B5EF4-FFF2-40B4-BE49-F238E27FC236}">
                <a16:creationId xmlns:a16="http://schemas.microsoft.com/office/drawing/2014/main" id="{A44382EA-C2B3-65F6-E316-FD23A4A1FD37}"/>
              </a:ext>
            </a:extLst>
          </p:cNvPr>
          <p:cNvSpPr txBox="1"/>
          <p:nvPr/>
        </p:nvSpPr>
        <p:spPr>
          <a:xfrm>
            <a:off x="655721" y="3015606"/>
            <a:ext cx="5257800"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chemeClr val="accent3"/>
                </a:solidFill>
                <a:latin typeface="Arial" panose="020B0604020202020204" pitchFamily="34" charset="0"/>
                <a:cs typeface="Arial" panose="020B0604020202020204" pitchFamily="34" charset="0"/>
              </a:rPr>
              <a:t>WAY OF WORKING  &amp;  INTERACTIONS</a:t>
            </a:r>
          </a:p>
        </p:txBody>
      </p:sp>
      <p:sp>
        <p:nvSpPr>
          <p:cNvPr id="10" name="TextBox 9">
            <a:extLst>
              <a:ext uri="{FF2B5EF4-FFF2-40B4-BE49-F238E27FC236}">
                <a16:creationId xmlns:a16="http://schemas.microsoft.com/office/drawing/2014/main" id="{7D683193-28DC-2B5A-4AEE-5C9F4B9E6D40}"/>
              </a:ext>
            </a:extLst>
          </p:cNvPr>
          <p:cNvSpPr txBox="1"/>
          <p:nvPr/>
        </p:nvSpPr>
        <p:spPr>
          <a:xfrm>
            <a:off x="458724" y="826697"/>
            <a:ext cx="11274552" cy="424533"/>
          </a:xfrm>
          <a:prstGeom prst="rect">
            <a:avLst/>
          </a:prstGeom>
          <a:noFill/>
        </p:spPr>
        <p:txBody>
          <a:bodyPr wrap="square" lIns="0" tIns="0" rIns="0" bIns="0" rtlCol="0" anchor="t">
            <a:noAutofit/>
          </a:bodyPr>
          <a:lstStyle>
            <a:defPPr>
              <a:defRPr lang="en-US"/>
            </a:defPPr>
            <a:lvl1pPr algn="ctr">
              <a:defRPr sz="1400" b="1">
                <a:solidFill>
                  <a:schemeClr val="accent4">
                    <a:lumMod val="75000"/>
                  </a:schemeClr>
                </a:solidFill>
                <a:latin typeface="Arial" panose="020B0604020202020204" pitchFamily="34" charset="0"/>
                <a:cs typeface="Arial" panose="020B0604020202020204" pitchFamily="34" charset="0"/>
              </a:defRPr>
            </a:lvl1pPr>
          </a:lstStyle>
          <a:p>
            <a:pPr algn="just"/>
            <a:r>
              <a:rPr lang="en-US" noProof="0">
                <a:latin typeface="Arial"/>
                <a:cs typeface="Arial"/>
              </a:rPr>
              <a:t>Customer Services Apps serves 7 OPCOs across three BRS groups — with SAP (Billing, CRM, FICA, Metering) as the operational core.</a:t>
            </a:r>
          </a:p>
        </p:txBody>
      </p:sp>
      <p:sp>
        <p:nvSpPr>
          <p:cNvPr id="6" name="TextBox 5">
            <a:extLst>
              <a:ext uri="{FF2B5EF4-FFF2-40B4-BE49-F238E27FC236}">
                <a16:creationId xmlns:a16="http://schemas.microsoft.com/office/drawing/2014/main" id="{57E65968-50A0-0E72-47BB-BE3D5AC500C3}"/>
              </a:ext>
            </a:extLst>
          </p:cNvPr>
          <p:cNvSpPr txBox="1"/>
          <p:nvPr/>
        </p:nvSpPr>
        <p:spPr>
          <a:xfrm>
            <a:off x="658368" y="1860301"/>
            <a:ext cx="5257800" cy="5975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latin typeface="Arial" panose="020B0604020202020204" pitchFamily="34" charset="0"/>
                <a:cs typeface="Arial" panose="020B0604020202020204" pitchFamily="34" charset="0"/>
              </a:rPr>
              <a:t>▪  SAP (Avangrid US) — Billing, FICA, CRM, Metering — distinct from Global SAP (Iberdrola Spain).</a:t>
            </a:r>
          </a:p>
          <a:p>
            <a:pPr algn="l">
              <a:lnSpc>
                <a:spcPct val="110000"/>
              </a:lnSpc>
              <a:spcBef>
                <a:spcPts val="0"/>
              </a:spcBef>
              <a:spcAft>
                <a:spcPts val="0"/>
              </a:spcAft>
            </a:pPr>
            <a:r>
              <a:rPr lang="en-US" sz="900" b="0" i="0" noProof="0">
                <a:latin typeface="Arial" panose="020B0604020202020204" pitchFamily="34" charset="0"/>
                <a:cs typeface="Arial" panose="020B0604020202020204" pitchFamily="34" charset="0"/>
              </a:rPr>
              <a:t>▪  Demand split across BRS (business), PMO (large projects) and IT-funded (Kumar's teams).</a:t>
            </a:r>
          </a:p>
          <a:p>
            <a:pPr algn="l">
              <a:lnSpc>
                <a:spcPct val="110000"/>
              </a:lnSpc>
              <a:spcBef>
                <a:spcPts val="0"/>
              </a:spcBef>
              <a:spcAft>
                <a:spcPts val="0"/>
              </a:spcAft>
            </a:pPr>
            <a:r>
              <a:rPr lang="en-US" sz="900" b="0" i="0" noProof="0">
                <a:latin typeface="Arial" panose="020B0604020202020204" pitchFamily="34" charset="0"/>
                <a:cs typeface="Arial" panose="020B0604020202020204" pitchFamily="34" charset="0"/>
              </a:rPr>
              <a:t>▪  Incidents + small/medium demand dominate volume; large projects run via annual PDD.</a:t>
            </a:r>
          </a:p>
          <a:p>
            <a:pPr algn="l">
              <a:lnSpc>
                <a:spcPct val="110000"/>
              </a:lnSpc>
              <a:spcBef>
                <a:spcPts val="0"/>
              </a:spcBef>
              <a:spcAft>
                <a:spcPts val="0"/>
              </a:spcAft>
            </a:pPr>
            <a:r>
              <a:rPr lang="en-US" sz="900" b="0" i="0" noProof="0">
                <a:latin typeface="Arial" panose="020B0604020202020204" pitchFamily="34" charset="0"/>
                <a:cs typeface="Arial" panose="020B0604020202020204" pitchFamily="34" charset="0"/>
              </a:rPr>
              <a:t>▪  Software Factory (SWF) executes; Accenture supports incidents + projects.</a:t>
            </a:r>
          </a:p>
        </p:txBody>
      </p:sp>
      <p:sp>
        <p:nvSpPr>
          <p:cNvPr id="13" name="TextBox 12">
            <a:extLst>
              <a:ext uri="{FF2B5EF4-FFF2-40B4-BE49-F238E27FC236}">
                <a16:creationId xmlns:a16="http://schemas.microsoft.com/office/drawing/2014/main" id="{1DD54C12-EE2B-27BE-F81F-D7442EDF8600}"/>
              </a:ext>
            </a:extLst>
          </p:cNvPr>
          <p:cNvSpPr txBox="1"/>
          <p:nvPr/>
        </p:nvSpPr>
        <p:spPr>
          <a:xfrm>
            <a:off x="6400800" y="4946360"/>
            <a:ext cx="5449102" cy="749885"/>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latin typeface="Arial" panose="020B0604020202020204" pitchFamily="34" charset="0"/>
                <a:cs typeface="Arial" panose="020B0604020202020204" pitchFamily="34" charset="0"/>
              </a:rPr>
              <a:t>▪  BRS UIL  —  United Illuminating, SCG, CNG, BGC (Connecticut cluster).</a:t>
            </a:r>
          </a:p>
          <a:p>
            <a:pPr algn="l">
              <a:lnSpc>
                <a:spcPct val="110000"/>
              </a:lnSpc>
              <a:spcBef>
                <a:spcPts val="0"/>
              </a:spcBef>
              <a:spcAft>
                <a:spcPts val="0"/>
              </a:spcAft>
            </a:pPr>
            <a:r>
              <a:rPr lang="en-US" sz="900" b="0" i="0" noProof="0">
                <a:latin typeface="Arial" panose="020B0604020202020204" pitchFamily="34" charset="0"/>
                <a:cs typeface="Arial" panose="020B0604020202020204" pitchFamily="34" charset="0"/>
              </a:rPr>
              <a:t>▪  BRS CMP  —  Central Maine Power (Maine operations).</a:t>
            </a:r>
          </a:p>
          <a:p>
            <a:pPr algn="l">
              <a:lnSpc>
                <a:spcPct val="110000"/>
              </a:lnSpc>
              <a:spcBef>
                <a:spcPts val="0"/>
              </a:spcBef>
              <a:spcAft>
                <a:spcPts val="0"/>
              </a:spcAft>
            </a:pPr>
            <a:r>
              <a:rPr lang="en-US" sz="900" b="0" i="0" noProof="0">
                <a:latin typeface="Arial" panose="020B0604020202020204" pitchFamily="34" charset="0"/>
                <a:cs typeface="Arial" panose="020B0604020202020204" pitchFamily="34" charset="0"/>
              </a:rPr>
              <a:t>▪  BRS NY  —  NYSEG + RGE (New York cluster).</a:t>
            </a:r>
          </a:p>
          <a:p>
            <a:pPr algn="l">
              <a:lnSpc>
                <a:spcPct val="110000"/>
              </a:lnSpc>
              <a:spcBef>
                <a:spcPts val="0"/>
              </a:spcBef>
              <a:spcAft>
                <a:spcPts val="0"/>
              </a:spcAft>
            </a:pPr>
            <a:r>
              <a:rPr lang="en-US" sz="900" b="0" i="0" noProof="0">
                <a:latin typeface="Arial" panose="020B0604020202020204" pitchFamily="34" charset="0"/>
                <a:cs typeface="Arial" panose="020B0604020202020204" pitchFamily="34" charset="0"/>
              </a:rPr>
              <a:t>▪  Plus Digital </a:t>
            </a:r>
            <a:r>
              <a:rPr lang="en-US" sz="900" b="0" i="0" noProof="0" err="1">
                <a:latin typeface="Arial" panose="020B0604020202020204" pitchFamily="34" charset="0"/>
                <a:cs typeface="Arial" panose="020B0604020202020204" pitchFamily="34" charset="0"/>
              </a:rPr>
              <a:t>CoE</a:t>
            </a:r>
            <a:r>
              <a:rPr lang="en-US" sz="900" b="0" i="0" noProof="0">
                <a:latin typeface="Arial" panose="020B0604020202020204" pitchFamily="34" charset="0"/>
                <a:cs typeface="Arial" panose="020B0604020202020204" pitchFamily="34" charset="0"/>
              </a:rPr>
              <a:t> (customer apps / websites) and Call Center (contact interactions — Kumar).</a:t>
            </a:r>
          </a:p>
          <a:p>
            <a:pPr algn="l">
              <a:lnSpc>
                <a:spcPct val="110000"/>
              </a:lnSpc>
              <a:spcBef>
                <a:spcPts val="0"/>
              </a:spcBef>
              <a:spcAft>
                <a:spcPts val="0"/>
              </a:spcAft>
            </a:pPr>
            <a:r>
              <a:rPr lang="en-US" sz="900" b="0" i="0" noProof="0">
                <a:latin typeface="Arial" panose="020B0604020202020204" pitchFamily="34" charset="0"/>
                <a:cs typeface="Arial" panose="020B0604020202020204" pitchFamily="34" charset="0"/>
              </a:rPr>
              <a:t>▪  Each OPCO competes for the same IT capacity — multi-OPCO prioritization is a daily pressure.</a:t>
            </a:r>
          </a:p>
        </p:txBody>
      </p:sp>
      <p:sp>
        <p:nvSpPr>
          <p:cNvPr id="14" name="TextBox 13">
            <a:extLst>
              <a:ext uri="{FF2B5EF4-FFF2-40B4-BE49-F238E27FC236}">
                <a16:creationId xmlns:a16="http://schemas.microsoft.com/office/drawing/2014/main" id="{0FD2772E-74FF-6386-5944-2F8EA3E400DC}"/>
              </a:ext>
            </a:extLst>
          </p:cNvPr>
          <p:cNvSpPr txBox="1"/>
          <p:nvPr/>
        </p:nvSpPr>
        <p:spPr>
          <a:xfrm>
            <a:off x="658368" y="4942202"/>
            <a:ext cx="5257800" cy="749885"/>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latin typeface="Arial" panose="020B0604020202020204" pitchFamily="34" charset="0"/>
                <a:cs typeface="Arial" panose="020B0604020202020204" pitchFamily="34" charset="0"/>
              </a:rPr>
              <a:t>▪  Ivelisse Velazquez  —  FICA, Billing &amp; Collection (~8 FTE).</a:t>
            </a:r>
          </a:p>
          <a:p>
            <a:pPr algn="l">
              <a:lnSpc>
                <a:spcPct val="110000"/>
              </a:lnSpc>
              <a:spcBef>
                <a:spcPts val="0"/>
              </a:spcBef>
              <a:spcAft>
                <a:spcPts val="0"/>
              </a:spcAft>
            </a:pPr>
            <a:r>
              <a:rPr lang="en-US" sz="900" b="0" i="0" noProof="0">
                <a:latin typeface="Arial" panose="020B0604020202020204" pitchFamily="34" charset="0"/>
                <a:cs typeface="Arial" panose="020B0604020202020204" pitchFamily="34" charset="0"/>
              </a:rPr>
              <a:t>▪  Vincent Lam  —  Device &amp; Metering (Iram Chowdhury / Smart Metering sits here, ~8 FTE).</a:t>
            </a:r>
          </a:p>
          <a:p>
            <a:pPr algn="l">
              <a:lnSpc>
                <a:spcPct val="110000"/>
              </a:lnSpc>
              <a:spcBef>
                <a:spcPts val="0"/>
              </a:spcBef>
              <a:spcAft>
                <a:spcPts val="0"/>
              </a:spcAft>
            </a:pPr>
            <a:r>
              <a:rPr lang="en-US" sz="900" b="0" i="0" noProof="0">
                <a:latin typeface="Arial" panose="020B0604020202020204" pitchFamily="34" charset="0"/>
                <a:cs typeface="Arial" panose="020B0604020202020204" pitchFamily="34" charset="0"/>
              </a:rPr>
              <a:t>▪  Nagi Reddy  —  SAP Basis (platform / infrastructure, ~2 FTE).</a:t>
            </a:r>
          </a:p>
          <a:p>
            <a:pPr algn="l">
              <a:lnSpc>
                <a:spcPct val="110000"/>
              </a:lnSpc>
              <a:spcBef>
                <a:spcPts val="0"/>
              </a:spcBef>
              <a:spcAft>
                <a:spcPts val="0"/>
              </a:spcAft>
            </a:pPr>
            <a:r>
              <a:rPr lang="en-US" sz="900" b="0" i="0" noProof="0">
                <a:latin typeface="Arial" panose="020B0604020202020204" pitchFamily="34" charset="0"/>
                <a:cs typeface="Arial" panose="020B0604020202020204" pitchFamily="34" charset="0"/>
              </a:rPr>
              <a:t>▪  TBD (vacant)  —  Sr. Manager CRM &amp; Contact Center Ops (~4 FTE) — leadership gap.</a:t>
            </a:r>
          </a:p>
          <a:p>
            <a:pPr algn="l">
              <a:lnSpc>
                <a:spcPct val="110000"/>
              </a:lnSpc>
              <a:spcBef>
                <a:spcPts val="0"/>
              </a:spcBef>
              <a:spcAft>
                <a:spcPts val="0"/>
              </a:spcAft>
            </a:pPr>
            <a:r>
              <a:rPr lang="en-US" sz="900" b="0" i="0" noProof="0">
                <a:latin typeface="Arial" panose="020B0604020202020204" pitchFamily="34" charset="0"/>
                <a:cs typeface="Arial" panose="020B0604020202020204" pitchFamily="34" charset="0"/>
              </a:rPr>
              <a:t>▪  Open (vacant)  —  Sr. Manager SAP &amp; CS Architecture (~2 FTE) — leadership gap.</a:t>
            </a:r>
          </a:p>
        </p:txBody>
      </p:sp>
      <p:sp>
        <p:nvSpPr>
          <p:cNvPr id="16" name="TextBox 15">
            <a:extLst>
              <a:ext uri="{FF2B5EF4-FFF2-40B4-BE49-F238E27FC236}">
                <a16:creationId xmlns:a16="http://schemas.microsoft.com/office/drawing/2014/main" id="{C2418FF3-B3A7-4FAD-7E56-1E77123BDDBD}"/>
              </a:ext>
            </a:extLst>
          </p:cNvPr>
          <p:cNvSpPr txBox="1"/>
          <p:nvPr/>
        </p:nvSpPr>
        <p:spPr>
          <a:xfrm>
            <a:off x="655721" y="3364622"/>
            <a:ext cx="5257800" cy="749885"/>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latin typeface="Arial" panose="020B0604020202020204" pitchFamily="34" charset="0"/>
                <a:cs typeface="Arial" panose="020B0604020202020204" pitchFamily="34" charset="0"/>
              </a:rPr>
              <a:t>▪  Small/medium demand via Jira; large via PPM Now (only Smart Metering consistently).</a:t>
            </a:r>
          </a:p>
          <a:p>
            <a:pPr algn="l">
              <a:lnSpc>
                <a:spcPct val="110000"/>
              </a:lnSpc>
              <a:spcBef>
                <a:spcPts val="0"/>
              </a:spcBef>
              <a:spcAft>
                <a:spcPts val="0"/>
              </a:spcAft>
            </a:pPr>
            <a:r>
              <a:rPr lang="en-US" sz="900" b="0" i="0" noProof="0">
                <a:latin typeface="Arial" panose="020B0604020202020204" pitchFamily="34" charset="0"/>
                <a:cs typeface="Arial" panose="020B0604020202020204" pitchFamily="34" charset="0"/>
              </a:rPr>
              <a:t>▪  Incidents: IT Now; Minor requests: RITM; Major projects: SharePoint + Teams.</a:t>
            </a:r>
          </a:p>
          <a:p>
            <a:pPr algn="l">
              <a:lnSpc>
                <a:spcPct val="110000"/>
              </a:lnSpc>
              <a:spcBef>
                <a:spcPts val="0"/>
              </a:spcBef>
              <a:spcAft>
                <a:spcPts val="0"/>
              </a:spcAft>
            </a:pPr>
            <a:r>
              <a:rPr lang="en-US" sz="900" b="0" i="0" noProof="0">
                <a:latin typeface="Arial" panose="020B0604020202020204" pitchFamily="34" charset="0"/>
                <a:cs typeface="Arial" panose="020B0604020202020204" pitchFamily="34" charset="0"/>
              </a:rPr>
              <a:t>▪  Interactions: Kumar (PMO for large projects);  BRS leads (business demand); Vanessa (Global SAP).</a:t>
            </a:r>
          </a:p>
          <a:p>
            <a:pPr algn="l">
              <a:lnSpc>
                <a:spcPct val="110000"/>
              </a:lnSpc>
              <a:spcBef>
                <a:spcPts val="0"/>
              </a:spcBef>
              <a:spcAft>
                <a:spcPts val="0"/>
              </a:spcAft>
            </a:pPr>
            <a:r>
              <a:rPr lang="en-US" sz="900" b="0" i="0" noProof="0">
                <a:latin typeface="Arial" panose="020B0604020202020204" pitchFamily="34" charset="0"/>
                <a:cs typeface="Arial" panose="020B0604020202020204" pitchFamily="34" charset="0"/>
              </a:rPr>
              <a:t>▪  Vendor concentration: Smart Metering is 100% vendor-delivered (requirements + code); other teams rely on Accenture + SWF.</a:t>
            </a:r>
          </a:p>
        </p:txBody>
      </p:sp>
      <p:sp>
        <p:nvSpPr>
          <p:cNvPr id="18" name="TextBox 17">
            <a:extLst>
              <a:ext uri="{FF2B5EF4-FFF2-40B4-BE49-F238E27FC236}">
                <a16:creationId xmlns:a16="http://schemas.microsoft.com/office/drawing/2014/main" id="{ED32357B-67F3-2CA6-2745-5C34895527FA}"/>
              </a:ext>
            </a:extLst>
          </p:cNvPr>
          <p:cNvSpPr txBox="1"/>
          <p:nvPr/>
        </p:nvSpPr>
        <p:spPr>
          <a:xfrm>
            <a:off x="6418045" y="1677116"/>
            <a:ext cx="5257800" cy="1900970"/>
          </a:xfrm>
          <a:prstGeom prst="rect">
            <a:avLst/>
          </a:prstGeom>
          <a:noFill/>
        </p:spPr>
        <p:txBody>
          <a:bodyPr wrap="square" lIns="0" tIns="0" rIns="0" bIns="0" anchor="t">
            <a:spAutoFit/>
          </a:bodyPr>
          <a:lstStyle>
            <a:defPPr>
              <a:defRPr lang="en-US"/>
            </a:defPPr>
            <a:lvl1pPr>
              <a:lnSpc>
                <a:spcPct val="110000"/>
              </a:lnSpc>
              <a:spcBef>
                <a:spcPts val="0"/>
              </a:spcBef>
              <a:spcAft>
                <a:spcPts val="0"/>
              </a:spcAft>
              <a:defRPr sz="900" b="0" i="0">
                <a:latin typeface="Helvetica Neue"/>
              </a:defRPr>
            </a:lvl1pPr>
          </a:lstStyle>
          <a:p>
            <a:pPr marL="171450" indent="-171450">
              <a:buFont typeface="Arial" panose="020B0604020202020204" pitchFamily="34" charset="0"/>
              <a:buChar char="•"/>
            </a:pPr>
            <a:r>
              <a:rPr lang="en-US" sz="800" noProof="0">
                <a:latin typeface="Arial" panose="020B0604020202020204" pitchFamily="34" charset="0"/>
                <a:cs typeface="Arial" panose="020B0604020202020204" pitchFamily="34" charset="0"/>
              </a:rPr>
              <a:t>Gold Client- Used for SAP Data management, including client copies and data refreshes </a:t>
            </a:r>
          </a:p>
          <a:p>
            <a:pPr marL="171450" indent="-171450">
              <a:buFont typeface="Arial" panose="020B0604020202020204" pitchFamily="34" charset="0"/>
              <a:buChar char="•"/>
            </a:pPr>
            <a:r>
              <a:rPr lang="en-US" sz="800" b="1" i="1" noProof="0">
                <a:solidFill>
                  <a:schemeClr val="accent1"/>
                </a:solidFill>
                <a:latin typeface="Arial" panose="020B0604020202020204" pitchFamily="34" charset="0"/>
                <a:cs typeface="Arial" panose="020B0604020202020204" pitchFamily="34" charset="0"/>
              </a:rPr>
              <a:t>Group 8760 (EDI)- </a:t>
            </a:r>
            <a:r>
              <a:rPr lang="en-US" sz="800" noProof="0">
                <a:latin typeface="Arial" panose="020B0604020202020204" pitchFamily="34" charset="0"/>
                <a:cs typeface="Arial" panose="020B0604020202020204" pitchFamily="34" charset="0"/>
              </a:rPr>
              <a:t>Manages electronic data interchange with external partners and vendors</a:t>
            </a:r>
          </a:p>
          <a:p>
            <a:pPr marL="171450" indent="-171450">
              <a:buFont typeface="Arial" panose="020B0604020202020204" pitchFamily="34" charset="0"/>
              <a:buChar char="•"/>
            </a:pPr>
            <a:r>
              <a:rPr lang="en-US" sz="800" noProof="0">
                <a:latin typeface="Arial" panose="020B0604020202020204" pitchFamily="34" charset="0"/>
                <a:cs typeface="Arial" panose="020B0604020202020204" pitchFamily="34" charset="0"/>
              </a:rPr>
              <a:t>HCL - Nuance- Provide system support, integration services and managed services </a:t>
            </a:r>
          </a:p>
          <a:p>
            <a:pPr marL="171450" indent="-171450">
              <a:buFont typeface="Arial" panose="020B0604020202020204" pitchFamily="34" charset="0"/>
              <a:buChar char="•"/>
            </a:pPr>
            <a:r>
              <a:rPr lang="en-US" sz="800" noProof="0">
                <a:latin typeface="Arial" panose="020B0604020202020204" pitchFamily="34" charset="0"/>
                <a:cs typeface="Arial" panose="020B0604020202020204" pitchFamily="34" charset="0"/>
              </a:rPr>
              <a:t>Infosys- Provide system support, integration services and managed services </a:t>
            </a:r>
          </a:p>
          <a:p>
            <a:pPr marL="171450" indent="-171450">
              <a:buFont typeface="Arial" panose="020B0604020202020204" pitchFamily="34" charset="0"/>
              <a:buChar char="•"/>
            </a:pPr>
            <a:r>
              <a:rPr lang="en-US" sz="800" noProof="0">
                <a:latin typeface="Arial" panose="020B0604020202020204" pitchFamily="34" charset="0"/>
                <a:cs typeface="Arial" panose="020B0604020202020204" pitchFamily="34" charset="0"/>
              </a:rPr>
              <a:t>Medallia VHT- Captures customer feedback</a:t>
            </a:r>
          </a:p>
          <a:p>
            <a:pPr marL="171450" indent="-171450">
              <a:buFont typeface="Arial" panose="020B0604020202020204" pitchFamily="34" charset="0"/>
              <a:buChar char="•"/>
            </a:pPr>
            <a:r>
              <a:rPr lang="en-US" sz="800" b="1" i="1" noProof="0">
                <a:solidFill>
                  <a:schemeClr val="accent1"/>
                </a:solidFill>
                <a:latin typeface="Arial" panose="020B0604020202020204" pitchFamily="34" charset="0"/>
                <a:cs typeface="Arial" panose="020B0604020202020204" pitchFamily="34" charset="0"/>
              </a:rPr>
              <a:t>SAP ECC </a:t>
            </a:r>
            <a:r>
              <a:rPr lang="en-US" sz="800" noProof="0">
                <a:latin typeface="Arial" panose="020B0604020202020204" pitchFamily="34" charset="0"/>
                <a:cs typeface="Arial" panose="020B0604020202020204" pitchFamily="34" charset="0"/>
              </a:rPr>
              <a:t>(Back office)-Core financial and operational system. Handles Billing, invoicing, GL, AR,AP and core business transactions</a:t>
            </a:r>
          </a:p>
          <a:p>
            <a:pPr marL="171450" indent="-171450">
              <a:buFont typeface="Arial" panose="020B0604020202020204" pitchFamily="34" charset="0"/>
              <a:buChar char="•"/>
            </a:pPr>
            <a:r>
              <a:rPr lang="en-US" sz="800" noProof="0">
                <a:latin typeface="Arial" panose="020B0604020202020204" pitchFamily="34" charset="0"/>
                <a:cs typeface="Arial" panose="020B0604020202020204" pitchFamily="34" charset="0"/>
              </a:rPr>
              <a:t>SAP WPB Enable Now- Provides user training, documentation and digital adoption support </a:t>
            </a:r>
          </a:p>
          <a:p>
            <a:pPr marL="171450" indent="-171450">
              <a:buFont typeface="Arial" panose="020B0604020202020204" pitchFamily="34" charset="0"/>
              <a:buChar char="•"/>
            </a:pPr>
            <a:r>
              <a:rPr lang="en-US" sz="800" b="1" i="1" noProof="0">
                <a:solidFill>
                  <a:schemeClr val="accent1"/>
                </a:solidFill>
                <a:latin typeface="Arial" panose="020B0604020202020204" pitchFamily="34" charset="0"/>
                <a:cs typeface="Arial" panose="020B0604020202020204" pitchFamily="34" charset="0"/>
              </a:rPr>
              <a:t>SOVOS </a:t>
            </a:r>
            <a:r>
              <a:rPr lang="en-US" sz="800" b="1" i="1" noProof="0" err="1">
                <a:solidFill>
                  <a:schemeClr val="accent1"/>
                </a:solidFill>
                <a:latin typeface="Arial" panose="020B0604020202020204" pitchFamily="34" charset="0"/>
                <a:cs typeface="Arial" panose="020B0604020202020204" pitchFamily="34" charset="0"/>
              </a:rPr>
              <a:t>Taxware</a:t>
            </a:r>
            <a:r>
              <a:rPr lang="en-US" sz="800" b="1" i="1" noProof="0">
                <a:solidFill>
                  <a:schemeClr val="accent1"/>
                </a:solidFill>
                <a:latin typeface="Arial" panose="020B0604020202020204" pitchFamily="34" charset="0"/>
                <a:cs typeface="Arial" panose="020B0604020202020204" pitchFamily="34" charset="0"/>
              </a:rPr>
              <a:t>-</a:t>
            </a:r>
            <a:r>
              <a:rPr lang="en-US" sz="800" noProof="0">
                <a:latin typeface="Arial" panose="020B0604020202020204" pitchFamily="34" charset="0"/>
                <a:cs typeface="Arial" panose="020B0604020202020204" pitchFamily="34" charset="0"/>
              </a:rPr>
              <a:t>Tax calculation and compliance</a:t>
            </a:r>
          </a:p>
          <a:p>
            <a:pPr marL="171450" indent="-171450">
              <a:buFont typeface="Arial" panose="020B0604020202020204" pitchFamily="34" charset="0"/>
              <a:buChar char="•"/>
            </a:pPr>
            <a:r>
              <a:rPr lang="en-US" sz="800" b="1" i="1" noProof="0" err="1">
                <a:solidFill>
                  <a:schemeClr val="accent1"/>
                </a:solidFill>
                <a:latin typeface="Arial" panose="020B0604020202020204" pitchFamily="34" charset="0"/>
                <a:cs typeface="Arial" panose="020B0604020202020204" pitchFamily="34" charset="0"/>
              </a:rPr>
              <a:t>StreamServe</a:t>
            </a:r>
            <a:r>
              <a:rPr lang="en-US" sz="800" b="1" i="1" noProof="0">
                <a:solidFill>
                  <a:schemeClr val="accent1"/>
                </a:solidFill>
                <a:latin typeface="Arial" panose="020B0604020202020204" pitchFamily="34" charset="0"/>
                <a:cs typeface="Arial" panose="020B0604020202020204" pitchFamily="34" charset="0"/>
              </a:rPr>
              <a:t>-</a:t>
            </a:r>
            <a:r>
              <a:rPr lang="en-US" sz="800" noProof="0">
                <a:latin typeface="Arial" panose="020B0604020202020204" pitchFamily="34" charset="0"/>
                <a:cs typeface="Arial" panose="020B0604020202020204" pitchFamily="34" charset="0"/>
              </a:rPr>
              <a:t> Billing, invoice letters, Simulations, archives, EBPP processing</a:t>
            </a:r>
          </a:p>
          <a:p>
            <a:pPr marL="171450" indent="-171450">
              <a:buFont typeface="Arial" panose="020B0604020202020204" pitchFamily="34" charset="0"/>
              <a:buChar char="•"/>
            </a:pPr>
            <a:r>
              <a:rPr lang="en-US" sz="800" b="1" i="1" noProof="0">
                <a:solidFill>
                  <a:schemeClr val="accent1"/>
                </a:solidFill>
                <a:latin typeface="Arial" panose="020B0604020202020204" pitchFamily="34" charset="0"/>
                <a:cs typeface="Arial" panose="020B0604020202020204" pitchFamily="34" charset="0"/>
              </a:rPr>
              <a:t>Precisely</a:t>
            </a:r>
            <a:r>
              <a:rPr lang="en-US" sz="800" noProof="0">
                <a:latin typeface="Arial" panose="020B0604020202020204" pitchFamily="34" charset="0"/>
                <a:cs typeface="Arial" panose="020B0604020202020204" pitchFamily="34" charset="0"/>
              </a:rPr>
              <a:t> - Pitney Bowes- Supports address validation, document processing and mailing services </a:t>
            </a:r>
          </a:p>
          <a:p>
            <a:pPr marL="171450" indent="-171450">
              <a:buFont typeface="Arial" panose="020B0604020202020204" pitchFamily="34" charset="0"/>
              <a:buChar char="•"/>
            </a:pPr>
            <a:r>
              <a:rPr lang="en-US" sz="800" b="1" i="1" noProof="0">
                <a:solidFill>
                  <a:schemeClr val="accent1"/>
                </a:solidFill>
                <a:latin typeface="Arial" panose="020B0604020202020204" pitchFamily="34" charset="0"/>
                <a:cs typeface="Arial" panose="020B0604020202020204" pitchFamily="34" charset="0"/>
              </a:rPr>
              <a:t>SAP CRM </a:t>
            </a:r>
            <a:r>
              <a:rPr lang="en-US" sz="800" noProof="0">
                <a:latin typeface="Arial" panose="020B0604020202020204" pitchFamily="34" charset="0"/>
                <a:cs typeface="Arial" panose="020B0604020202020204" pitchFamily="34" charset="0"/>
              </a:rPr>
              <a:t>(Front office)- Manages customer interactions, service requests and account management.</a:t>
            </a:r>
          </a:p>
          <a:p>
            <a:pPr marL="171450" indent="-171450">
              <a:buFont typeface="Arial" panose="020B0604020202020204" pitchFamily="34" charset="0"/>
              <a:buChar char="•"/>
            </a:pPr>
            <a:r>
              <a:rPr lang="en-US" sz="800" noProof="0">
                <a:latin typeface="Arial" panose="020B0604020202020204" pitchFamily="34" charset="0"/>
                <a:cs typeface="Arial" panose="020B0604020202020204" pitchFamily="34" charset="0"/>
              </a:rPr>
              <a:t>Blue Prism (RPA Platform)- Automates repetitive business processes and improves operational efficiency</a:t>
            </a:r>
          </a:p>
          <a:p>
            <a:pPr marL="171450" indent="-171450">
              <a:buFont typeface="Arial" panose="020B0604020202020204" pitchFamily="34" charset="0"/>
              <a:buChar char="•"/>
            </a:pPr>
            <a:r>
              <a:rPr lang="en-US" sz="800" noProof="0">
                <a:latin typeface="Arial" panose="020B0604020202020204" pitchFamily="34" charset="0"/>
                <a:cs typeface="Arial" panose="020B0604020202020204" pitchFamily="34" charset="0"/>
              </a:rPr>
              <a:t>SAP </a:t>
            </a:r>
            <a:r>
              <a:rPr lang="en-US" sz="800" noProof="0" err="1">
                <a:latin typeface="Arial" panose="020B0604020202020204" pitchFamily="34" charset="0"/>
                <a:cs typeface="Arial" panose="020B0604020202020204" pitchFamily="34" charset="0"/>
              </a:rPr>
              <a:t>Tricentis</a:t>
            </a:r>
            <a:r>
              <a:rPr lang="en-US" sz="800" noProof="0">
                <a:latin typeface="Arial" panose="020B0604020202020204" pitchFamily="34" charset="0"/>
                <a:cs typeface="Arial" panose="020B0604020202020204" pitchFamily="34" charset="0"/>
              </a:rPr>
              <a:t> TOSCA Platform- Used for Test automation ad QA across SAP Systems</a:t>
            </a:r>
          </a:p>
        </p:txBody>
      </p:sp>
      <p:sp>
        <p:nvSpPr>
          <p:cNvPr id="21" name="Título 2">
            <a:extLst>
              <a:ext uri="{FF2B5EF4-FFF2-40B4-BE49-F238E27FC236}">
                <a16:creationId xmlns:a16="http://schemas.microsoft.com/office/drawing/2014/main" id="{FB3CA0D8-C5E1-5DD2-068E-D339658DD19A}"/>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r>
              <a:rPr lang="en-US" sz="2400" noProof="0">
                <a:latin typeface="Arial" panose="020B0604020202020204" pitchFamily="34" charset="0"/>
                <a:cs typeface="Arial" panose="020B0604020202020204" pitchFamily="34" charset="0"/>
              </a:rPr>
              <a:t>CURRENT STATE ANALYSIS</a:t>
            </a:r>
          </a:p>
        </p:txBody>
      </p:sp>
      <p:sp>
        <p:nvSpPr>
          <p:cNvPr id="22" name="Rectangle 21">
            <a:extLst>
              <a:ext uri="{FF2B5EF4-FFF2-40B4-BE49-F238E27FC236}">
                <a16:creationId xmlns:a16="http://schemas.microsoft.com/office/drawing/2014/main" id="{7FEC840E-E3AB-02C8-E7AD-2AEF041429B1}"/>
              </a:ext>
            </a:extLst>
          </p:cNvPr>
          <p:cNvSpPr/>
          <p:nvPr/>
        </p:nvSpPr>
        <p:spPr>
          <a:xfrm>
            <a:off x="6223294" y="3905242"/>
            <a:ext cx="5623560" cy="57785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4" name="TextBox 23">
            <a:extLst>
              <a:ext uri="{FF2B5EF4-FFF2-40B4-BE49-F238E27FC236}">
                <a16:creationId xmlns:a16="http://schemas.microsoft.com/office/drawing/2014/main" id="{B1956A98-16CC-9D42-2111-167AB4F7EEEC}"/>
              </a:ext>
            </a:extLst>
          </p:cNvPr>
          <p:cNvSpPr txBox="1"/>
          <p:nvPr/>
        </p:nvSpPr>
        <p:spPr>
          <a:xfrm>
            <a:off x="6400800" y="3962413"/>
            <a:ext cx="5257800"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chemeClr val="accent3"/>
                </a:solidFill>
                <a:latin typeface="Arial" panose="020B0604020202020204" pitchFamily="34" charset="0"/>
                <a:cs typeface="Arial" panose="020B0604020202020204" pitchFamily="34" charset="0"/>
              </a:rPr>
              <a:t>PRIORITIES TODAY</a:t>
            </a:r>
          </a:p>
        </p:txBody>
      </p:sp>
      <p:sp>
        <p:nvSpPr>
          <p:cNvPr id="25" name="TextBox 24">
            <a:extLst>
              <a:ext uri="{FF2B5EF4-FFF2-40B4-BE49-F238E27FC236}">
                <a16:creationId xmlns:a16="http://schemas.microsoft.com/office/drawing/2014/main" id="{3F3892EA-C7FD-5B37-4B9A-7C5C029D488E}"/>
              </a:ext>
            </a:extLst>
          </p:cNvPr>
          <p:cNvSpPr txBox="1"/>
          <p:nvPr/>
        </p:nvSpPr>
        <p:spPr>
          <a:xfrm>
            <a:off x="6423419" y="4225095"/>
            <a:ext cx="5257800"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latin typeface="Arial" panose="020B0604020202020204" pitchFamily="34" charset="0"/>
                <a:cs typeface="Arial" panose="020B0604020202020204" pitchFamily="34" charset="0"/>
              </a:rPr>
              <a:t>▪  S/4 Hana Implementations</a:t>
            </a:r>
          </a:p>
          <a:p>
            <a:pPr algn="l">
              <a:lnSpc>
                <a:spcPct val="110000"/>
              </a:lnSpc>
              <a:spcBef>
                <a:spcPts val="0"/>
              </a:spcBef>
              <a:spcAft>
                <a:spcPts val="0"/>
              </a:spcAft>
            </a:pPr>
            <a:endParaRPr lang="en-US" sz="900" b="0" i="0" noProof="0">
              <a:latin typeface="Arial" panose="020B0604020202020204" pitchFamily="34" charset="0"/>
              <a:cs typeface="Arial" panose="020B0604020202020204" pitchFamily="34" charset="0"/>
            </a:endParaRPr>
          </a:p>
        </p:txBody>
      </p:sp>
      <p:sp>
        <p:nvSpPr>
          <p:cNvPr id="26" name="TextBox 25">
            <a:extLst>
              <a:ext uri="{FF2B5EF4-FFF2-40B4-BE49-F238E27FC236}">
                <a16:creationId xmlns:a16="http://schemas.microsoft.com/office/drawing/2014/main" id="{387CEF6A-3F6F-A95F-AA95-4EF3589D4128}"/>
              </a:ext>
            </a:extLst>
          </p:cNvPr>
          <p:cNvSpPr txBox="1"/>
          <p:nvPr/>
        </p:nvSpPr>
        <p:spPr>
          <a:xfrm>
            <a:off x="9275424" y="1439428"/>
            <a:ext cx="2786113" cy="140488"/>
          </a:xfrm>
          <a:prstGeom prst="rect">
            <a:avLst/>
          </a:prstGeom>
          <a:noFill/>
        </p:spPr>
        <p:txBody>
          <a:bodyPr wrap="square" lIns="0" tIns="0" rIns="0" bIns="0" anchor="t">
            <a:spAutoFit/>
          </a:bodyPr>
          <a:lstStyle/>
          <a:p>
            <a:pPr>
              <a:lnSpc>
                <a:spcPct val="110000"/>
              </a:lnSpc>
            </a:pPr>
            <a:r>
              <a:rPr lang="en-US" sz="900" i="1" noProof="0">
                <a:solidFill>
                  <a:schemeClr val="accent1"/>
                </a:solidFill>
                <a:latin typeface="Arial" panose="020B0604020202020204" pitchFamily="34" charset="0"/>
                <a:cs typeface="Arial" panose="020B0604020202020204" pitchFamily="34" charset="0"/>
              </a:rPr>
              <a:t>Critical applications are higgled with this color</a:t>
            </a:r>
          </a:p>
        </p:txBody>
      </p:sp>
      <p:sp>
        <p:nvSpPr>
          <p:cNvPr id="2" name="Rectangle: Rounded Corners 1">
            <a:extLst>
              <a:ext uri="{FF2B5EF4-FFF2-40B4-BE49-F238E27FC236}">
                <a16:creationId xmlns:a16="http://schemas.microsoft.com/office/drawing/2014/main" id="{4B16D0AF-2503-B415-7C2D-1CD2F266B4DD}"/>
              </a:ext>
            </a:extLst>
          </p:cNvPr>
          <p:cNvSpPr/>
          <p:nvPr/>
        </p:nvSpPr>
        <p:spPr>
          <a:xfrm>
            <a:off x="5336339" y="171587"/>
            <a:ext cx="1668780" cy="343539"/>
          </a:xfrm>
          <a:prstGeom prst="roundRect">
            <a:avLst/>
          </a:prstGeom>
          <a:solidFill>
            <a:schemeClr val="accent4">
              <a:lumMod val="75000"/>
            </a:schemeClr>
          </a:solidFill>
          <a:ln>
            <a:solidFill>
              <a:schemeClr val="accent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a:solidFill>
                  <a:schemeClr val="bg1">
                    <a:lumMod val="85000"/>
                  </a:schemeClr>
                </a:solidFill>
              </a:rPr>
              <a:t>IT Business Apps</a:t>
            </a:r>
          </a:p>
        </p:txBody>
      </p:sp>
      <p:sp>
        <p:nvSpPr>
          <p:cNvPr id="20" name="Rectangle: Rounded Corners 19">
            <a:extLst>
              <a:ext uri="{FF2B5EF4-FFF2-40B4-BE49-F238E27FC236}">
                <a16:creationId xmlns:a16="http://schemas.microsoft.com/office/drawing/2014/main" id="{830E5919-D3A5-78B0-FFDE-A4B7138AE0E7}"/>
              </a:ext>
            </a:extLst>
          </p:cNvPr>
          <p:cNvSpPr/>
          <p:nvPr/>
        </p:nvSpPr>
        <p:spPr>
          <a:xfrm>
            <a:off x="7068491" y="171587"/>
            <a:ext cx="1668780" cy="343539"/>
          </a:xfrm>
          <a:prstGeom prst="roundRect">
            <a:avLst/>
          </a:prstGeom>
          <a:solidFill>
            <a:schemeClr val="accent3"/>
          </a:solid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a:t>Customer Services Apps</a:t>
            </a:r>
          </a:p>
        </p:txBody>
      </p:sp>
      <p:sp>
        <p:nvSpPr>
          <p:cNvPr id="27" name="Rectangle: Rounded Corners 26">
            <a:extLst>
              <a:ext uri="{FF2B5EF4-FFF2-40B4-BE49-F238E27FC236}">
                <a16:creationId xmlns:a16="http://schemas.microsoft.com/office/drawing/2014/main" id="{B7913753-49B7-8944-EFAB-B1BCD44DDD25}"/>
              </a:ext>
            </a:extLst>
          </p:cNvPr>
          <p:cNvSpPr/>
          <p:nvPr/>
        </p:nvSpPr>
        <p:spPr>
          <a:xfrm>
            <a:off x="8800643" y="173010"/>
            <a:ext cx="1668780" cy="343539"/>
          </a:xfrm>
          <a:prstGeom prst="roundRect">
            <a:avLst/>
          </a:prstGeom>
          <a:solidFill>
            <a:schemeClr val="accent4">
              <a:lumMod val="75000"/>
            </a:schemeClr>
          </a:solidFill>
          <a:ln>
            <a:solidFill>
              <a:schemeClr val="accent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a:solidFill>
                  <a:schemeClr val="bg1">
                    <a:lumMod val="85000"/>
                  </a:schemeClr>
                </a:solidFill>
              </a:rPr>
              <a:t>Product Management</a:t>
            </a:r>
          </a:p>
        </p:txBody>
      </p:sp>
      <p:sp>
        <p:nvSpPr>
          <p:cNvPr id="28" name="Rectangle 27">
            <a:extLst>
              <a:ext uri="{FF2B5EF4-FFF2-40B4-BE49-F238E27FC236}">
                <a16:creationId xmlns:a16="http://schemas.microsoft.com/office/drawing/2014/main" id="{543B9ADC-42A1-0F50-8445-395C04A6C9C7}"/>
              </a:ext>
            </a:extLst>
          </p:cNvPr>
          <p:cNvSpPr/>
          <p:nvPr/>
        </p:nvSpPr>
        <p:spPr>
          <a:xfrm>
            <a:off x="481263" y="4493794"/>
            <a:ext cx="5623560" cy="67612"/>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9" name="Rectangle 28">
            <a:extLst>
              <a:ext uri="{FF2B5EF4-FFF2-40B4-BE49-F238E27FC236}">
                <a16:creationId xmlns:a16="http://schemas.microsoft.com/office/drawing/2014/main" id="{FF07B8A0-ABDE-0DD9-BECB-E726E69CD42E}"/>
              </a:ext>
            </a:extLst>
          </p:cNvPr>
          <p:cNvSpPr/>
          <p:nvPr/>
        </p:nvSpPr>
        <p:spPr>
          <a:xfrm>
            <a:off x="6220301" y="3870304"/>
            <a:ext cx="5623560" cy="67612"/>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0" name="Rectángulo 29">
            <a:extLst>
              <a:ext uri="{FF2B5EF4-FFF2-40B4-BE49-F238E27FC236}">
                <a16:creationId xmlns:a16="http://schemas.microsoft.com/office/drawing/2014/main" id="{9EE0616C-E234-6F25-0CB1-D2C55F8F826E}"/>
              </a:ext>
            </a:extLst>
          </p:cNvPr>
          <p:cNvSpPr/>
          <p:nvPr/>
        </p:nvSpPr>
        <p:spPr>
          <a:xfrm>
            <a:off x="2346960" y="5455920"/>
            <a:ext cx="2550160" cy="7315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a:t>Poner </a:t>
            </a:r>
            <a:r>
              <a:rPr lang="en-US" noProof="0" err="1"/>
              <a:t>más</a:t>
            </a:r>
            <a:r>
              <a:rPr lang="en-US" noProof="0"/>
              <a:t> </a:t>
            </a:r>
            <a:r>
              <a:rPr lang="en-US" noProof="0" err="1"/>
              <a:t>el</a:t>
            </a:r>
            <a:r>
              <a:rPr lang="en-US" noProof="0"/>
              <a:t> business sense de </a:t>
            </a:r>
            <a:r>
              <a:rPr lang="en-US" noProof="0" err="1"/>
              <a:t>los</a:t>
            </a:r>
            <a:r>
              <a:rPr lang="en-US" noProof="0"/>
              <a:t> </a:t>
            </a:r>
            <a:r>
              <a:rPr lang="en-US" noProof="0" err="1"/>
              <a:t>equipos</a:t>
            </a:r>
            <a:endParaRPr lang="en-US" noProof="0"/>
          </a:p>
        </p:txBody>
      </p:sp>
    </p:spTree>
    <p:extLst>
      <p:ext uri="{BB962C8B-B14F-4D97-AF65-F5344CB8AC3E}">
        <p14:creationId xmlns:p14="http://schemas.microsoft.com/office/powerpoint/2010/main" val="4216735888"/>
      </p:ext>
    </p:extLst>
  </p:cSld>
  <p:clrMapOvr>
    <a:masterClrMapping/>
  </p:clrMapOvr>
  <p:extLst>
    <p:ext uri="{6950BFC3-D8DA-4A85-94F7-54DA5524770B}">
      <p188:commentRel xmlns:p188="http://schemas.microsoft.com/office/powerpoint/2018/8/main" r:id="rId3"/>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A89C9-5E42-2768-5EEB-73843B14AE49}"/>
            </a:ext>
          </a:extLst>
        </p:cNvPr>
        <p:cNvGrpSpPr/>
        <p:nvPr/>
      </p:nvGrpSpPr>
      <p:grpSpPr>
        <a:xfrm>
          <a:off x="0" y="0"/>
          <a:ext cx="0" cy="0"/>
          <a:chOff x="0" y="0"/>
          <a:chExt cx="0" cy="0"/>
        </a:xfrm>
      </p:grpSpPr>
      <p:sp>
        <p:nvSpPr>
          <p:cNvPr id="139" name="Rectangle 138">
            <a:extLst>
              <a:ext uri="{FF2B5EF4-FFF2-40B4-BE49-F238E27FC236}">
                <a16:creationId xmlns:a16="http://schemas.microsoft.com/office/drawing/2014/main" id="{15DB2CAD-810C-5141-58E4-21D479A7642D}"/>
              </a:ext>
            </a:extLst>
          </p:cNvPr>
          <p:cNvSpPr/>
          <p:nvPr/>
        </p:nvSpPr>
        <p:spPr>
          <a:xfrm>
            <a:off x="6226342" y="1427179"/>
            <a:ext cx="5623560" cy="222782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40" name="Rectangle 139">
            <a:extLst>
              <a:ext uri="{FF2B5EF4-FFF2-40B4-BE49-F238E27FC236}">
                <a16:creationId xmlns:a16="http://schemas.microsoft.com/office/drawing/2014/main" id="{8C4B0931-B1EF-5768-DC64-2862442FF83C}"/>
              </a:ext>
            </a:extLst>
          </p:cNvPr>
          <p:cNvSpPr/>
          <p:nvPr/>
        </p:nvSpPr>
        <p:spPr>
          <a:xfrm>
            <a:off x="6226342" y="1393048"/>
            <a:ext cx="5623560" cy="67612"/>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45" name="Rectangle 144">
            <a:extLst>
              <a:ext uri="{FF2B5EF4-FFF2-40B4-BE49-F238E27FC236}">
                <a16:creationId xmlns:a16="http://schemas.microsoft.com/office/drawing/2014/main" id="{84EF500E-57AE-7121-0A66-A9394F7B3F0C}"/>
              </a:ext>
            </a:extLst>
          </p:cNvPr>
          <p:cNvSpPr/>
          <p:nvPr/>
        </p:nvSpPr>
        <p:spPr>
          <a:xfrm>
            <a:off x="472440" y="2865790"/>
            <a:ext cx="5623560" cy="118091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46" name="Rectangle 145">
            <a:extLst>
              <a:ext uri="{FF2B5EF4-FFF2-40B4-BE49-F238E27FC236}">
                <a16:creationId xmlns:a16="http://schemas.microsoft.com/office/drawing/2014/main" id="{5E9AC48B-2EB1-BB97-628F-C729A923183C}"/>
              </a:ext>
            </a:extLst>
          </p:cNvPr>
          <p:cNvSpPr/>
          <p:nvPr/>
        </p:nvSpPr>
        <p:spPr>
          <a:xfrm>
            <a:off x="472440" y="2831659"/>
            <a:ext cx="5623560" cy="67612"/>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47" name="Rectangle 146">
            <a:extLst>
              <a:ext uri="{FF2B5EF4-FFF2-40B4-BE49-F238E27FC236}">
                <a16:creationId xmlns:a16="http://schemas.microsoft.com/office/drawing/2014/main" id="{788E88CB-CDBE-625B-F0EC-5FDC1C4BA21C}"/>
              </a:ext>
            </a:extLst>
          </p:cNvPr>
          <p:cNvSpPr/>
          <p:nvPr/>
        </p:nvSpPr>
        <p:spPr>
          <a:xfrm>
            <a:off x="457200" y="1413969"/>
            <a:ext cx="5623560" cy="1280594"/>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49" name="Rectangle 148">
            <a:extLst>
              <a:ext uri="{FF2B5EF4-FFF2-40B4-BE49-F238E27FC236}">
                <a16:creationId xmlns:a16="http://schemas.microsoft.com/office/drawing/2014/main" id="{5F41F4DC-6711-3528-4DE9-851C60E75CE8}"/>
              </a:ext>
            </a:extLst>
          </p:cNvPr>
          <p:cNvSpPr/>
          <p:nvPr/>
        </p:nvSpPr>
        <p:spPr>
          <a:xfrm>
            <a:off x="457200" y="1379838"/>
            <a:ext cx="5623560" cy="67612"/>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50" name="TextBox 149">
            <a:extLst>
              <a:ext uri="{FF2B5EF4-FFF2-40B4-BE49-F238E27FC236}">
                <a16:creationId xmlns:a16="http://schemas.microsoft.com/office/drawing/2014/main" id="{1F44540A-66FE-7ADF-C91C-9476B0FD209B}"/>
              </a:ext>
            </a:extLst>
          </p:cNvPr>
          <p:cNvSpPr txBox="1"/>
          <p:nvPr/>
        </p:nvSpPr>
        <p:spPr>
          <a:xfrm>
            <a:off x="658368" y="1493817"/>
            <a:ext cx="5257800"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chemeClr val="accent3"/>
                </a:solidFill>
                <a:latin typeface="Helvetica Neue"/>
              </a:rPr>
              <a:t>ROLE &amp; INTENDED MANDATE</a:t>
            </a:r>
          </a:p>
        </p:txBody>
      </p:sp>
      <p:sp>
        <p:nvSpPr>
          <p:cNvPr id="154" name="TextBox 153">
            <a:extLst>
              <a:ext uri="{FF2B5EF4-FFF2-40B4-BE49-F238E27FC236}">
                <a16:creationId xmlns:a16="http://schemas.microsoft.com/office/drawing/2014/main" id="{D1057705-1AD7-02F6-4D59-17B5F45C0C81}"/>
              </a:ext>
            </a:extLst>
          </p:cNvPr>
          <p:cNvSpPr txBox="1"/>
          <p:nvPr/>
        </p:nvSpPr>
        <p:spPr>
          <a:xfrm>
            <a:off x="649946" y="2922961"/>
            <a:ext cx="5257800"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chemeClr val="accent3"/>
                </a:solidFill>
                <a:latin typeface="Helvetica Neue"/>
              </a:rPr>
              <a:t>PRIORITIZATION &amp; DEMAND MANAGEMENT TODAY</a:t>
            </a:r>
          </a:p>
        </p:txBody>
      </p:sp>
      <p:sp>
        <p:nvSpPr>
          <p:cNvPr id="155" name="TextBox 154">
            <a:extLst>
              <a:ext uri="{FF2B5EF4-FFF2-40B4-BE49-F238E27FC236}">
                <a16:creationId xmlns:a16="http://schemas.microsoft.com/office/drawing/2014/main" id="{3A1D2626-411E-2E1D-964D-6977BFC6B8C4}"/>
              </a:ext>
            </a:extLst>
          </p:cNvPr>
          <p:cNvSpPr txBox="1"/>
          <p:nvPr/>
        </p:nvSpPr>
        <p:spPr>
          <a:xfrm>
            <a:off x="3680460" y="3086114"/>
            <a:ext cx="5257800" cy="14048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1" noProof="0">
                <a:solidFill>
                  <a:schemeClr val="accent1"/>
                </a:solidFill>
                <a:latin typeface="Helvetica Neue"/>
              </a:rPr>
              <a:t>…</a:t>
            </a:r>
          </a:p>
        </p:txBody>
      </p:sp>
      <p:sp>
        <p:nvSpPr>
          <p:cNvPr id="160" name="TextBox 159">
            <a:extLst>
              <a:ext uri="{FF2B5EF4-FFF2-40B4-BE49-F238E27FC236}">
                <a16:creationId xmlns:a16="http://schemas.microsoft.com/office/drawing/2014/main" id="{FFE9DE8D-B0FD-1C77-C1CD-C168DE4DB225}"/>
              </a:ext>
            </a:extLst>
          </p:cNvPr>
          <p:cNvSpPr txBox="1"/>
          <p:nvPr/>
        </p:nvSpPr>
        <p:spPr>
          <a:xfrm>
            <a:off x="6400800" y="1507889"/>
            <a:ext cx="5257800" cy="254036"/>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chemeClr val="accent3"/>
                </a:solidFill>
                <a:latin typeface="Helvetica Neue"/>
              </a:rPr>
              <a:t>WAY OF WORKING  &amp;  INTERACTIONS</a:t>
            </a:r>
          </a:p>
        </p:txBody>
      </p:sp>
      <p:sp>
        <p:nvSpPr>
          <p:cNvPr id="10" name="TextBox 9">
            <a:extLst>
              <a:ext uri="{FF2B5EF4-FFF2-40B4-BE49-F238E27FC236}">
                <a16:creationId xmlns:a16="http://schemas.microsoft.com/office/drawing/2014/main" id="{92AD68EA-706C-B9EB-2476-D9AD1018E904}"/>
              </a:ext>
            </a:extLst>
          </p:cNvPr>
          <p:cNvSpPr txBox="1"/>
          <p:nvPr/>
        </p:nvSpPr>
        <p:spPr>
          <a:xfrm>
            <a:off x="458724" y="826697"/>
            <a:ext cx="11274552" cy="424533"/>
          </a:xfrm>
          <a:prstGeom prst="rect">
            <a:avLst/>
          </a:prstGeom>
          <a:noFill/>
        </p:spPr>
        <p:txBody>
          <a:bodyPr wrap="square" lIns="0" tIns="0" rIns="0" bIns="0" rtlCol="0">
            <a:noAutofit/>
          </a:bodyPr>
          <a:lstStyle>
            <a:defPPr>
              <a:defRPr lang="en-US"/>
            </a:defPPr>
            <a:lvl1pPr algn="ctr">
              <a:defRPr sz="1400" b="1">
                <a:solidFill>
                  <a:schemeClr val="accent4">
                    <a:lumMod val="75000"/>
                  </a:schemeClr>
                </a:solidFill>
                <a:latin typeface="Arial" panose="020B0604020202020204" pitchFamily="34" charset="0"/>
                <a:cs typeface="Arial" panose="020B0604020202020204" pitchFamily="34" charset="0"/>
              </a:defRPr>
            </a:lvl1pPr>
          </a:lstStyle>
          <a:p>
            <a:pPr algn="just"/>
            <a:r>
              <a:rPr lang="en-US" noProof="0"/>
              <a:t>Product Management acts as the intended integrator between Business and IT — but lacks formal ownership of prioritization, intake, and portfolio decisions</a:t>
            </a:r>
          </a:p>
        </p:txBody>
      </p:sp>
      <p:sp>
        <p:nvSpPr>
          <p:cNvPr id="6" name="TextBox 5">
            <a:extLst>
              <a:ext uri="{FF2B5EF4-FFF2-40B4-BE49-F238E27FC236}">
                <a16:creationId xmlns:a16="http://schemas.microsoft.com/office/drawing/2014/main" id="{E2059810-0A96-1874-B4E1-0E6C2921DD0E}"/>
              </a:ext>
            </a:extLst>
          </p:cNvPr>
          <p:cNvSpPr txBox="1"/>
          <p:nvPr/>
        </p:nvSpPr>
        <p:spPr>
          <a:xfrm>
            <a:off x="658368" y="1772752"/>
            <a:ext cx="5257800" cy="749885"/>
          </a:xfrm>
          <a:prstGeom prst="rect">
            <a:avLst/>
          </a:prstGeom>
          <a:noFill/>
        </p:spPr>
        <p:txBody>
          <a:bodyPr wrap="square" lIns="0" tIns="0" rIns="0" bIns="0" anchor="t">
            <a:spAutoFit/>
          </a:bodyPr>
          <a:lstStyle>
            <a:defPPr>
              <a:defRPr lang="en-US"/>
            </a:defPPr>
            <a:lvl1pPr>
              <a:lnSpc>
                <a:spcPct val="110000"/>
              </a:lnSpc>
              <a:spcBef>
                <a:spcPts val="0"/>
              </a:spcBef>
              <a:spcAft>
                <a:spcPts val="0"/>
              </a:spcAft>
              <a:defRPr sz="900" b="0" i="0">
                <a:latin typeface="Arial" panose="020B0604020202020204" pitchFamily="34" charset="0"/>
                <a:cs typeface="Arial" panose="020B0604020202020204" pitchFamily="34" charset="0"/>
              </a:defRPr>
            </a:lvl1pPr>
          </a:lstStyle>
          <a:p>
            <a:pPr marL="171450" indent="-171450">
              <a:buFont typeface="Arial" panose="020B0604020202020204" pitchFamily="34" charset="0"/>
              <a:buChar char="•"/>
            </a:pPr>
            <a:r>
              <a:rPr lang="en-US" noProof="0"/>
              <a:t>Acts as the bridge between Business (BRS), IT, and delivery teams</a:t>
            </a:r>
          </a:p>
          <a:p>
            <a:pPr marL="171450" indent="-171450">
              <a:buFont typeface="Arial" panose="020B0604020202020204" pitchFamily="34" charset="0"/>
              <a:buChar char="•"/>
            </a:pPr>
            <a:r>
              <a:rPr lang="en-US" noProof="0"/>
              <a:t>Supports demand planning and BRD definition, ensuring value is captured</a:t>
            </a:r>
          </a:p>
          <a:p>
            <a:pPr marL="171450" indent="-171450">
              <a:buFont typeface="Arial" panose="020B0604020202020204" pitchFamily="34" charset="0"/>
              <a:buChar char="•"/>
            </a:pPr>
            <a:r>
              <a:rPr lang="en-US" noProof="0"/>
              <a:t>Provides input into prioritization and portfolio discussions</a:t>
            </a:r>
          </a:p>
          <a:p>
            <a:pPr marL="171450" indent="-171450">
              <a:buFont typeface="Arial" panose="020B0604020202020204" pitchFamily="34" charset="0"/>
              <a:buChar char="•"/>
            </a:pPr>
            <a:r>
              <a:rPr lang="en-US" noProof="0"/>
              <a:t>Participates in planning cadences (Big Room, backlog, dailies)Expected to align demand with business outcomes and capacity</a:t>
            </a:r>
          </a:p>
        </p:txBody>
      </p:sp>
      <p:sp>
        <p:nvSpPr>
          <p:cNvPr id="16" name="TextBox 15">
            <a:extLst>
              <a:ext uri="{FF2B5EF4-FFF2-40B4-BE49-F238E27FC236}">
                <a16:creationId xmlns:a16="http://schemas.microsoft.com/office/drawing/2014/main" id="{509AD664-73A1-D5B6-6DFC-9D3B6F260784}"/>
              </a:ext>
            </a:extLst>
          </p:cNvPr>
          <p:cNvSpPr txBox="1"/>
          <p:nvPr/>
        </p:nvSpPr>
        <p:spPr>
          <a:xfrm>
            <a:off x="6400800" y="1827720"/>
            <a:ext cx="5257800" cy="1511632"/>
          </a:xfrm>
          <a:prstGeom prst="rect">
            <a:avLst/>
          </a:prstGeom>
          <a:noFill/>
        </p:spPr>
        <p:txBody>
          <a:bodyPr wrap="square" lIns="0" tIns="0" rIns="0" bIns="0" anchor="t">
            <a:spAutoFit/>
          </a:bodyPr>
          <a:lstStyle>
            <a:defPPr>
              <a:defRPr lang="en-US"/>
            </a:defPPr>
            <a:lvl1pPr marL="171450" indent="-171450">
              <a:lnSpc>
                <a:spcPct val="110000"/>
              </a:lnSpc>
              <a:spcBef>
                <a:spcPts val="0"/>
              </a:spcBef>
              <a:spcAft>
                <a:spcPts val="0"/>
              </a:spcAft>
              <a:buFont typeface="Arial" panose="020B0604020202020204" pitchFamily="34" charset="0"/>
              <a:buChar char="•"/>
              <a:defRPr sz="900" b="0" i="0">
                <a:latin typeface="Arial" panose="020B0604020202020204" pitchFamily="34" charset="0"/>
                <a:cs typeface="Arial" panose="020B0604020202020204" pitchFamily="34" charset="0"/>
              </a:defRPr>
            </a:lvl1pPr>
          </a:lstStyle>
          <a:p>
            <a:r>
              <a:rPr lang="en-US" noProof="0"/>
              <a:t>Strong interaction with BRS through BSS log with two standardized </a:t>
            </a:r>
            <a:r>
              <a:rPr lang="en-US" noProof="0" err="1"/>
              <a:t>OpCos</a:t>
            </a:r>
            <a:r>
              <a:rPr lang="en-US" noProof="0"/>
              <a:t> and a third non-</a:t>
            </a:r>
            <a:r>
              <a:rPr lang="en-US" noProof="0" err="1"/>
              <a:t>standar</a:t>
            </a:r>
            <a:r>
              <a:rPr lang="en-US" noProof="0"/>
              <a:t> Process for the third </a:t>
            </a:r>
            <a:r>
              <a:rPr lang="en-US" noProof="0" err="1"/>
              <a:t>OpCo</a:t>
            </a:r>
            <a:endParaRPr lang="en-US" noProof="0"/>
          </a:p>
          <a:p>
            <a:r>
              <a:rPr lang="en-US" noProof="0"/>
              <a:t>Strong interaction with SAP Customer Services for demand shaping and value definition </a:t>
            </a:r>
          </a:p>
          <a:p>
            <a:r>
              <a:rPr lang="en-US" noProof="0"/>
              <a:t>Engagement across different teams, including backlog and delivery discussions </a:t>
            </a:r>
          </a:p>
          <a:p>
            <a:r>
              <a:rPr lang="en-US" noProof="0"/>
              <a:t>Participation in Big Room Planning (quarterly) and daily team syncs </a:t>
            </a:r>
          </a:p>
          <a:p>
            <a:r>
              <a:rPr lang="en-US" noProof="0"/>
              <a:t>Interfaces with: </a:t>
            </a:r>
          </a:p>
          <a:p>
            <a:pPr marL="360363" indent="-185738"/>
            <a:r>
              <a:rPr lang="en-US" noProof="0"/>
              <a:t>Business (requirements, value) </a:t>
            </a:r>
          </a:p>
          <a:p>
            <a:pPr marL="360363" indent="-185738"/>
            <a:r>
              <a:rPr lang="en-US" noProof="0"/>
              <a:t>IT (delivery, feasibility) </a:t>
            </a:r>
          </a:p>
          <a:p>
            <a:pPr marL="360363" indent="-185738"/>
            <a:r>
              <a:rPr lang="en-US" noProof="0"/>
              <a:t>PMO / leadership (large initiatives) </a:t>
            </a:r>
          </a:p>
          <a:p>
            <a:pPr marL="360363" indent="-185738"/>
            <a:r>
              <a:rPr lang="en-US" noProof="0"/>
              <a:t>Tools &amp; channels fragmented: JIRA, PDD, email, meetings.</a:t>
            </a:r>
          </a:p>
        </p:txBody>
      </p:sp>
      <p:sp>
        <p:nvSpPr>
          <p:cNvPr id="20" name="TextBox 19">
            <a:extLst>
              <a:ext uri="{FF2B5EF4-FFF2-40B4-BE49-F238E27FC236}">
                <a16:creationId xmlns:a16="http://schemas.microsoft.com/office/drawing/2014/main" id="{E2E7A1ED-F1A2-2DE2-B1B0-45FE7AFDEF3B}"/>
              </a:ext>
            </a:extLst>
          </p:cNvPr>
          <p:cNvSpPr txBox="1"/>
          <p:nvPr/>
        </p:nvSpPr>
        <p:spPr>
          <a:xfrm>
            <a:off x="672565" y="3185642"/>
            <a:ext cx="5257800" cy="749885"/>
          </a:xfrm>
          <a:prstGeom prst="rect">
            <a:avLst/>
          </a:prstGeom>
          <a:noFill/>
        </p:spPr>
        <p:txBody>
          <a:bodyPr wrap="square" lIns="0" tIns="0" rIns="0" bIns="0" anchor="t">
            <a:spAutoFit/>
          </a:bodyPr>
          <a:lstStyle>
            <a:defPPr>
              <a:defRPr lang="en-US"/>
            </a:defPPr>
            <a:lvl1pPr marL="171450" indent="-171450">
              <a:lnSpc>
                <a:spcPct val="110000"/>
              </a:lnSpc>
              <a:spcBef>
                <a:spcPts val="0"/>
              </a:spcBef>
              <a:spcAft>
                <a:spcPts val="0"/>
              </a:spcAft>
              <a:buFont typeface="Arial" panose="020B0604020202020204" pitchFamily="34" charset="0"/>
              <a:buChar char="•"/>
              <a:defRPr sz="900" b="0" i="0">
                <a:latin typeface="Arial" panose="020B0604020202020204" pitchFamily="34" charset="0"/>
                <a:cs typeface="Arial" panose="020B0604020202020204" pitchFamily="34" charset="0"/>
              </a:defRPr>
            </a:lvl1pPr>
          </a:lstStyle>
          <a:p>
            <a:r>
              <a:rPr lang="en-US" noProof="0"/>
              <a:t>Prioritization varies by </a:t>
            </a:r>
            <a:r>
              <a:rPr lang="en-US" noProof="0" err="1"/>
              <a:t>OpCo</a:t>
            </a:r>
            <a:r>
              <a:rPr lang="en-US" noProof="0"/>
              <a:t>, with no common framework </a:t>
            </a:r>
          </a:p>
          <a:p>
            <a:r>
              <a:rPr lang="en-US" noProof="0"/>
              <a:t>Regulatory and incidents take precedence over strategic initiatives </a:t>
            </a:r>
          </a:p>
          <a:p>
            <a:r>
              <a:rPr lang="en-US" noProof="0"/>
              <a:t>No standardized scoring model or trade-off mechanism </a:t>
            </a:r>
          </a:p>
          <a:p>
            <a:r>
              <a:rPr lang="en-US" noProof="0"/>
              <a:t>Demand enters through multiple channels (PDD, JIRA, email, business requests) </a:t>
            </a:r>
          </a:p>
          <a:p>
            <a:r>
              <a:rPr lang="en-US" noProof="0"/>
              <a:t>Backlog is not actively managed (items remain without rejection/closure) </a:t>
            </a:r>
          </a:p>
        </p:txBody>
      </p:sp>
      <p:sp>
        <p:nvSpPr>
          <p:cNvPr id="21" name="Título 2">
            <a:extLst>
              <a:ext uri="{FF2B5EF4-FFF2-40B4-BE49-F238E27FC236}">
                <a16:creationId xmlns:a16="http://schemas.microsoft.com/office/drawing/2014/main" id="{7AFE94E4-E3B4-90E8-0BB8-2FD6AF599B18}"/>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r>
              <a:rPr lang="en-US" sz="2400" noProof="0">
                <a:latin typeface="Arial" panose="020B0604020202020204" pitchFamily="34" charset="0"/>
                <a:cs typeface="Arial" panose="020B0604020202020204" pitchFamily="34" charset="0"/>
              </a:rPr>
              <a:t>CURRENT STATE ANALYSIS</a:t>
            </a:r>
          </a:p>
        </p:txBody>
      </p:sp>
      <p:sp>
        <p:nvSpPr>
          <p:cNvPr id="2" name="Rectangle: Rounded Corners 1">
            <a:extLst>
              <a:ext uri="{FF2B5EF4-FFF2-40B4-BE49-F238E27FC236}">
                <a16:creationId xmlns:a16="http://schemas.microsoft.com/office/drawing/2014/main" id="{E16C7FA4-1B50-4888-8713-8249222AF81F}"/>
              </a:ext>
            </a:extLst>
          </p:cNvPr>
          <p:cNvSpPr/>
          <p:nvPr/>
        </p:nvSpPr>
        <p:spPr>
          <a:xfrm>
            <a:off x="5336339" y="171587"/>
            <a:ext cx="1668780" cy="343539"/>
          </a:xfrm>
          <a:prstGeom prst="roundRect">
            <a:avLst/>
          </a:prstGeom>
          <a:solidFill>
            <a:schemeClr val="accent4">
              <a:lumMod val="75000"/>
            </a:schemeClr>
          </a:solidFill>
          <a:ln>
            <a:solidFill>
              <a:schemeClr val="accent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a:solidFill>
                  <a:schemeClr val="bg1">
                    <a:lumMod val="85000"/>
                  </a:schemeClr>
                </a:solidFill>
              </a:rPr>
              <a:t>IT Business Apps</a:t>
            </a:r>
          </a:p>
        </p:txBody>
      </p:sp>
      <p:sp>
        <p:nvSpPr>
          <p:cNvPr id="13" name="Rectangle: Rounded Corners 12">
            <a:extLst>
              <a:ext uri="{FF2B5EF4-FFF2-40B4-BE49-F238E27FC236}">
                <a16:creationId xmlns:a16="http://schemas.microsoft.com/office/drawing/2014/main" id="{A0A17C98-924D-CAE5-BB40-98AD9AB715A1}"/>
              </a:ext>
            </a:extLst>
          </p:cNvPr>
          <p:cNvSpPr/>
          <p:nvPr/>
        </p:nvSpPr>
        <p:spPr>
          <a:xfrm>
            <a:off x="7068491" y="171587"/>
            <a:ext cx="1668780" cy="343539"/>
          </a:xfrm>
          <a:prstGeom prst="roundRect">
            <a:avLst/>
          </a:prstGeom>
          <a:solidFill>
            <a:schemeClr val="accent4">
              <a:lumMod val="75000"/>
            </a:schemeClr>
          </a:solidFill>
          <a:ln>
            <a:solidFill>
              <a:schemeClr val="accent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a:solidFill>
                  <a:schemeClr val="bg1">
                    <a:lumMod val="85000"/>
                  </a:schemeClr>
                </a:solidFill>
              </a:rPr>
              <a:t>Customer Services Apps</a:t>
            </a:r>
          </a:p>
        </p:txBody>
      </p:sp>
      <p:sp>
        <p:nvSpPr>
          <p:cNvPr id="14" name="Rectangle: Rounded Corners 13">
            <a:extLst>
              <a:ext uri="{FF2B5EF4-FFF2-40B4-BE49-F238E27FC236}">
                <a16:creationId xmlns:a16="http://schemas.microsoft.com/office/drawing/2014/main" id="{9164DB85-CE0F-F37D-8013-1CCBF1EB88EC}"/>
              </a:ext>
            </a:extLst>
          </p:cNvPr>
          <p:cNvSpPr/>
          <p:nvPr/>
        </p:nvSpPr>
        <p:spPr>
          <a:xfrm>
            <a:off x="8800643" y="173010"/>
            <a:ext cx="1668780" cy="343539"/>
          </a:xfrm>
          <a:prstGeom prst="roundRect">
            <a:avLst/>
          </a:prstGeom>
          <a:solidFill>
            <a:schemeClr val="accent3"/>
          </a:solid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a:t>Product Management</a:t>
            </a:r>
          </a:p>
        </p:txBody>
      </p:sp>
      <p:sp>
        <p:nvSpPr>
          <p:cNvPr id="26" name="Rectangle 144">
            <a:extLst>
              <a:ext uri="{FF2B5EF4-FFF2-40B4-BE49-F238E27FC236}">
                <a16:creationId xmlns:a16="http://schemas.microsoft.com/office/drawing/2014/main" id="{720422AB-EBBA-72C5-24ED-3146149B982A}"/>
              </a:ext>
            </a:extLst>
          </p:cNvPr>
          <p:cNvSpPr/>
          <p:nvPr/>
        </p:nvSpPr>
        <p:spPr>
          <a:xfrm>
            <a:off x="6221486" y="3773271"/>
            <a:ext cx="5623560" cy="1588615"/>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7" name="Rectangle 145">
            <a:extLst>
              <a:ext uri="{FF2B5EF4-FFF2-40B4-BE49-F238E27FC236}">
                <a16:creationId xmlns:a16="http://schemas.microsoft.com/office/drawing/2014/main" id="{54122996-2A54-78CC-7DE5-FF6F9A991E3B}"/>
              </a:ext>
            </a:extLst>
          </p:cNvPr>
          <p:cNvSpPr/>
          <p:nvPr/>
        </p:nvSpPr>
        <p:spPr>
          <a:xfrm>
            <a:off x="6221486" y="3739141"/>
            <a:ext cx="5623560" cy="67612"/>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8" name="TextBox 153">
            <a:extLst>
              <a:ext uri="{FF2B5EF4-FFF2-40B4-BE49-F238E27FC236}">
                <a16:creationId xmlns:a16="http://schemas.microsoft.com/office/drawing/2014/main" id="{4E23E55D-6920-8127-5D00-E754F9A3097E}"/>
              </a:ext>
            </a:extLst>
          </p:cNvPr>
          <p:cNvSpPr txBox="1"/>
          <p:nvPr/>
        </p:nvSpPr>
        <p:spPr>
          <a:xfrm>
            <a:off x="6398992" y="3830443"/>
            <a:ext cx="5257800"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chemeClr val="accent3"/>
                </a:solidFill>
                <a:latin typeface="Helvetica Neue"/>
              </a:rPr>
              <a:t>PORTFOLIO &amp; ROADMAP VISIBILITY</a:t>
            </a:r>
          </a:p>
        </p:txBody>
      </p:sp>
      <p:sp>
        <p:nvSpPr>
          <p:cNvPr id="29" name="TextBox 19">
            <a:extLst>
              <a:ext uri="{FF2B5EF4-FFF2-40B4-BE49-F238E27FC236}">
                <a16:creationId xmlns:a16="http://schemas.microsoft.com/office/drawing/2014/main" id="{578DAEC7-8AEF-A67C-C77C-2C7694D19385}"/>
              </a:ext>
            </a:extLst>
          </p:cNvPr>
          <p:cNvSpPr txBox="1"/>
          <p:nvPr/>
        </p:nvSpPr>
        <p:spPr>
          <a:xfrm>
            <a:off x="6421611" y="4054212"/>
            <a:ext cx="5257800" cy="1206933"/>
          </a:xfrm>
          <a:prstGeom prst="rect">
            <a:avLst/>
          </a:prstGeom>
          <a:noFill/>
        </p:spPr>
        <p:txBody>
          <a:bodyPr wrap="square" lIns="0" tIns="0" rIns="0" bIns="0" anchor="t">
            <a:spAutoFit/>
          </a:bodyPr>
          <a:lstStyle>
            <a:defPPr>
              <a:defRPr lang="en-US"/>
            </a:defPPr>
            <a:lvl1pPr marL="171450" indent="-171450">
              <a:lnSpc>
                <a:spcPct val="110000"/>
              </a:lnSpc>
              <a:spcBef>
                <a:spcPts val="0"/>
              </a:spcBef>
              <a:spcAft>
                <a:spcPts val="0"/>
              </a:spcAft>
              <a:buFont typeface="Arial" panose="020B0604020202020204" pitchFamily="34" charset="0"/>
              <a:buChar char="•"/>
              <a:defRPr sz="900" b="0" i="0">
                <a:latin typeface="Arial" panose="020B0604020202020204" pitchFamily="34" charset="0"/>
                <a:cs typeface="Arial" panose="020B0604020202020204" pitchFamily="34" charset="0"/>
              </a:defRPr>
            </a:lvl1pPr>
          </a:lstStyle>
          <a:p>
            <a:r>
              <a:rPr lang="en-US" noProof="0"/>
              <a:t>No consolidated portfolio view across products or demand types</a:t>
            </a:r>
          </a:p>
          <a:p>
            <a:r>
              <a:rPr lang="en-US" noProof="0"/>
              <a:t>Limited tracking of demand volume, capacity, and delivery progress</a:t>
            </a:r>
          </a:p>
          <a:p>
            <a:r>
              <a:rPr lang="en-US" noProof="0"/>
              <a:t>Roadmaps are short-term (~1 year) and lack defined initiatives</a:t>
            </a:r>
          </a:p>
          <a:p>
            <a:r>
              <a:rPr lang="en-US" noProof="0"/>
              <a:t>No clear linkage between:</a:t>
            </a:r>
          </a:p>
          <a:p>
            <a:pPr marL="360363" indent="-185738"/>
            <a:r>
              <a:rPr lang="en-US" noProof="0"/>
              <a:t>Demand</a:t>
            </a:r>
          </a:p>
          <a:p>
            <a:pPr marL="360363" indent="-185738"/>
            <a:r>
              <a:rPr lang="en-US" noProof="0"/>
              <a:t>Prioritization</a:t>
            </a:r>
          </a:p>
          <a:p>
            <a:pPr marL="360363" indent="-185738"/>
            <a:r>
              <a:rPr lang="en-US" noProof="0"/>
              <a:t>Execution</a:t>
            </a:r>
          </a:p>
          <a:p>
            <a:pPr marL="360363" indent="-185738"/>
            <a:r>
              <a:rPr lang="en-US" noProof="0"/>
              <a:t>value delivered</a:t>
            </a:r>
          </a:p>
        </p:txBody>
      </p:sp>
      <p:sp>
        <p:nvSpPr>
          <p:cNvPr id="30" name="Rectangle 144">
            <a:extLst>
              <a:ext uri="{FF2B5EF4-FFF2-40B4-BE49-F238E27FC236}">
                <a16:creationId xmlns:a16="http://schemas.microsoft.com/office/drawing/2014/main" id="{3C2DB433-6961-2B38-8E84-607160AE36CB}"/>
              </a:ext>
            </a:extLst>
          </p:cNvPr>
          <p:cNvSpPr/>
          <p:nvPr/>
        </p:nvSpPr>
        <p:spPr>
          <a:xfrm>
            <a:off x="472440" y="4198480"/>
            <a:ext cx="5623560" cy="118091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31" name="Rectangle 145">
            <a:extLst>
              <a:ext uri="{FF2B5EF4-FFF2-40B4-BE49-F238E27FC236}">
                <a16:creationId xmlns:a16="http://schemas.microsoft.com/office/drawing/2014/main" id="{01BDCDDB-5837-A4F5-7E62-1A9881E8F20A}"/>
              </a:ext>
            </a:extLst>
          </p:cNvPr>
          <p:cNvSpPr/>
          <p:nvPr/>
        </p:nvSpPr>
        <p:spPr>
          <a:xfrm>
            <a:off x="472440" y="4164349"/>
            <a:ext cx="5623560" cy="67612"/>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32" name="TextBox 153">
            <a:extLst>
              <a:ext uri="{FF2B5EF4-FFF2-40B4-BE49-F238E27FC236}">
                <a16:creationId xmlns:a16="http://schemas.microsoft.com/office/drawing/2014/main" id="{9E7EC41D-0F23-0809-A0A9-52F60AD797BC}"/>
              </a:ext>
            </a:extLst>
          </p:cNvPr>
          <p:cNvSpPr txBox="1"/>
          <p:nvPr/>
        </p:nvSpPr>
        <p:spPr>
          <a:xfrm>
            <a:off x="649946" y="4255651"/>
            <a:ext cx="5257800"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chemeClr val="accent3"/>
                </a:solidFill>
                <a:latin typeface="Helvetica Neue"/>
              </a:rPr>
              <a:t>KEY LIMITATIONS</a:t>
            </a:r>
          </a:p>
        </p:txBody>
      </p:sp>
      <p:sp>
        <p:nvSpPr>
          <p:cNvPr id="33" name="TextBox 19">
            <a:extLst>
              <a:ext uri="{FF2B5EF4-FFF2-40B4-BE49-F238E27FC236}">
                <a16:creationId xmlns:a16="http://schemas.microsoft.com/office/drawing/2014/main" id="{4AF51124-1B40-8036-5D1E-A710FDE97CDE}"/>
              </a:ext>
            </a:extLst>
          </p:cNvPr>
          <p:cNvSpPr txBox="1"/>
          <p:nvPr/>
        </p:nvSpPr>
        <p:spPr>
          <a:xfrm>
            <a:off x="672565" y="4518332"/>
            <a:ext cx="5257800" cy="749885"/>
          </a:xfrm>
          <a:prstGeom prst="rect">
            <a:avLst/>
          </a:prstGeom>
          <a:noFill/>
        </p:spPr>
        <p:txBody>
          <a:bodyPr wrap="square" lIns="0" tIns="0" rIns="0" bIns="0" anchor="t">
            <a:spAutoFit/>
          </a:bodyPr>
          <a:lstStyle>
            <a:defPPr>
              <a:defRPr lang="en-US"/>
            </a:defPPr>
            <a:lvl1pPr marL="171450" indent="-171450">
              <a:lnSpc>
                <a:spcPct val="110000"/>
              </a:lnSpc>
              <a:spcBef>
                <a:spcPts val="0"/>
              </a:spcBef>
              <a:spcAft>
                <a:spcPts val="0"/>
              </a:spcAft>
              <a:buFont typeface="Arial" panose="020B0604020202020204" pitchFamily="34" charset="0"/>
              <a:buChar char="•"/>
              <a:defRPr sz="900" b="0" i="0">
                <a:latin typeface="Arial" panose="020B0604020202020204" pitchFamily="34" charset="0"/>
                <a:cs typeface="Arial" panose="020B0604020202020204" pitchFamily="34" charset="0"/>
              </a:defRPr>
            </a:lvl1pPr>
          </a:lstStyle>
          <a:p>
            <a:r>
              <a:rPr lang="en-US" noProof="0"/>
              <a:t>No formal ownership of intake, backlog, or prioritization decisions</a:t>
            </a:r>
          </a:p>
          <a:p>
            <a:r>
              <a:rPr lang="en-US" noProof="0"/>
              <a:t>Limited influence on large initiatives (PDD / budget-driven projects)</a:t>
            </a:r>
          </a:p>
          <a:p>
            <a:r>
              <a:rPr lang="en-US" noProof="0"/>
              <a:t>Lack of standard processes and governance across </a:t>
            </a:r>
            <a:r>
              <a:rPr lang="en-US" noProof="0" err="1"/>
              <a:t>OpCos</a:t>
            </a:r>
            <a:endParaRPr lang="en-US" noProof="0"/>
          </a:p>
          <a:p>
            <a:r>
              <a:rPr lang="en-US" noProof="0"/>
              <a:t>Communication gaps on what is prioritized and why</a:t>
            </a:r>
          </a:p>
          <a:p>
            <a:r>
              <a:rPr lang="en-US" noProof="0"/>
              <a:t>Weak alignment between work delivered and business value</a:t>
            </a:r>
          </a:p>
        </p:txBody>
      </p:sp>
    </p:spTree>
    <p:extLst>
      <p:ext uri="{BB962C8B-B14F-4D97-AF65-F5344CB8AC3E}">
        <p14:creationId xmlns:p14="http://schemas.microsoft.com/office/powerpoint/2010/main" val="24936786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F6809-7900-FBE6-5AD7-D49E2E8D3EFB}"/>
            </a:ext>
          </a:extLst>
        </p:cNvPr>
        <p:cNvGrpSpPr/>
        <p:nvPr/>
      </p:nvGrpSpPr>
      <p:grpSpPr>
        <a:xfrm>
          <a:off x="0" y="0"/>
          <a:ext cx="0" cy="0"/>
          <a:chOff x="0" y="0"/>
          <a:chExt cx="0" cy="0"/>
        </a:xfrm>
      </p:grpSpPr>
      <p:sp>
        <p:nvSpPr>
          <p:cNvPr id="5" name="Título 2">
            <a:extLst>
              <a:ext uri="{FF2B5EF4-FFF2-40B4-BE49-F238E27FC236}">
                <a16:creationId xmlns:a16="http://schemas.microsoft.com/office/drawing/2014/main" id="{9B4726B8-A11B-4006-B882-799A51537EB2}"/>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r>
              <a:rPr lang="en-US" sz="2400" noProof="0">
                <a:latin typeface="Arial" panose="020B0604020202020204" pitchFamily="34" charset="0"/>
                <a:cs typeface="Arial" panose="020B0604020202020204" pitchFamily="34" charset="0"/>
              </a:rPr>
              <a:t>CURRENT STATE ANALYSIS</a:t>
            </a:r>
          </a:p>
          <a:p>
            <a:r>
              <a:rPr lang="en-US" sz="1200" noProof="0">
                <a:latin typeface="Arial" panose="020B0604020202020204" pitchFamily="34" charset="0"/>
                <a:cs typeface="Arial" panose="020B0604020202020204" pitchFamily="34" charset="0"/>
              </a:rPr>
              <a:t>VALUE STREAM MAPPING - METHODOLOGY</a:t>
            </a:r>
          </a:p>
        </p:txBody>
      </p:sp>
      <p:sp>
        <p:nvSpPr>
          <p:cNvPr id="2" name="Rectangle 28">
            <a:extLst>
              <a:ext uri="{FF2B5EF4-FFF2-40B4-BE49-F238E27FC236}">
                <a16:creationId xmlns:a16="http://schemas.microsoft.com/office/drawing/2014/main" id="{9F2F13F8-24EE-60D6-2774-D07AF7A159A1}"/>
              </a:ext>
            </a:extLst>
          </p:cNvPr>
          <p:cNvSpPr/>
          <p:nvPr/>
        </p:nvSpPr>
        <p:spPr>
          <a:xfrm>
            <a:off x="-561976" y="1891049"/>
            <a:ext cx="504913" cy="354411"/>
          </a:xfrm>
          <a:prstGeom prst="rect">
            <a:avLst/>
          </a:prstGeom>
          <a:solidFill>
            <a:srgbClr val="0DA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6" name="Rectangle 40">
            <a:extLst>
              <a:ext uri="{FF2B5EF4-FFF2-40B4-BE49-F238E27FC236}">
                <a16:creationId xmlns:a16="http://schemas.microsoft.com/office/drawing/2014/main" id="{E0BD6DAD-FC10-FA6C-1AB4-5DC44BB7A6E4}"/>
              </a:ext>
            </a:extLst>
          </p:cNvPr>
          <p:cNvSpPr/>
          <p:nvPr/>
        </p:nvSpPr>
        <p:spPr>
          <a:xfrm>
            <a:off x="-561976" y="1450050"/>
            <a:ext cx="504913" cy="354411"/>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7" name="Rectangle 52">
            <a:extLst>
              <a:ext uri="{FF2B5EF4-FFF2-40B4-BE49-F238E27FC236}">
                <a16:creationId xmlns:a16="http://schemas.microsoft.com/office/drawing/2014/main" id="{45FF5744-5833-624D-C5DF-65A8BD558E89}"/>
              </a:ext>
            </a:extLst>
          </p:cNvPr>
          <p:cNvSpPr/>
          <p:nvPr/>
        </p:nvSpPr>
        <p:spPr>
          <a:xfrm>
            <a:off x="-561976" y="1009051"/>
            <a:ext cx="504913" cy="354411"/>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8" name="Rectangle 64">
            <a:extLst>
              <a:ext uri="{FF2B5EF4-FFF2-40B4-BE49-F238E27FC236}">
                <a16:creationId xmlns:a16="http://schemas.microsoft.com/office/drawing/2014/main" id="{F8B396B5-99E6-93C5-3D6B-55C4E65BAEE3}"/>
              </a:ext>
            </a:extLst>
          </p:cNvPr>
          <p:cNvSpPr/>
          <p:nvPr/>
        </p:nvSpPr>
        <p:spPr>
          <a:xfrm>
            <a:off x="-561976" y="2332048"/>
            <a:ext cx="504913" cy="354411"/>
          </a:xfrm>
          <a:prstGeom prst="rect">
            <a:avLst/>
          </a:prstGeom>
          <a:solidFill>
            <a:schemeClr val="accent6">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0" name="Rectangle 64">
            <a:extLst>
              <a:ext uri="{FF2B5EF4-FFF2-40B4-BE49-F238E27FC236}">
                <a16:creationId xmlns:a16="http://schemas.microsoft.com/office/drawing/2014/main" id="{CE558095-E2E6-5D19-8C21-036FEF19A235}"/>
              </a:ext>
            </a:extLst>
          </p:cNvPr>
          <p:cNvSpPr/>
          <p:nvPr/>
        </p:nvSpPr>
        <p:spPr>
          <a:xfrm>
            <a:off x="-561976" y="2773047"/>
            <a:ext cx="504913" cy="354411"/>
          </a:xfrm>
          <a:prstGeom prst="rect">
            <a:avLst/>
          </a:prstGeom>
          <a:solidFill>
            <a:srgbClr val="00A4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1" name="Rectangle 64">
            <a:extLst>
              <a:ext uri="{FF2B5EF4-FFF2-40B4-BE49-F238E27FC236}">
                <a16:creationId xmlns:a16="http://schemas.microsoft.com/office/drawing/2014/main" id="{CAD87EAA-EC91-DE9D-186C-F15D56FA9D37}"/>
              </a:ext>
            </a:extLst>
          </p:cNvPr>
          <p:cNvSpPr/>
          <p:nvPr/>
        </p:nvSpPr>
        <p:spPr>
          <a:xfrm>
            <a:off x="-561976" y="3214046"/>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3" name="Rectangle 64">
            <a:extLst>
              <a:ext uri="{FF2B5EF4-FFF2-40B4-BE49-F238E27FC236}">
                <a16:creationId xmlns:a16="http://schemas.microsoft.com/office/drawing/2014/main" id="{EDD17208-7E69-CDBF-FF7B-E8D4C537FE8A}"/>
              </a:ext>
            </a:extLst>
          </p:cNvPr>
          <p:cNvSpPr/>
          <p:nvPr/>
        </p:nvSpPr>
        <p:spPr>
          <a:xfrm>
            <a:off x="-561976" y="3655047"/>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65" name="TextBox 2">
            <a:extLst>
              <a:ext uri="{FF2B5EF4-FFF2-40B4-BE49-F238E27FC236}">
                <a16:creationId xmlns:a16="http://schemas.microsoft.com/office/drawing/2014/main" id="{9092D913-45B4-78A0-A020-2546C262B3B8}"/>
              </a:ext>
            </a:extLst>
          </p:cNvPr>
          <p:cNvSpPr txBox="1"/>
          <p:nvPr/>
        </p:nvSpPr>
        <p:spPr>
          <a:xfrm>
            <a:off x="457201" y="964799"/>
            <a:ext cx="11258549" cy="429660"/>
          </a:xfrm>
          <a:prstGeom prst="rect">
            <a:avLst/>
          </a:prstGeom>
          <a:noFill/>
        </p:spPr>
        <p:txBody>
          <a:bodyPr wrap="square" lIns="0" tIns="0" rIns="0" bIns="0" rtlCol="0">
            <a:noAutofit/>
          </a:bodyPr>
          <a:lstStyle>
            <a:defPPr>
              <a:defRPr lang="en-US"/>
            </a:defPPr>
            <a:lvl1pPr algn="just">
              <a:defRPr sz="1400" b="1">
                <a:solidFill>
                  <a:schemeClr val="accent4">
                    <a:lumMod val="75000"/>
                  </a:schemeClr>
                </a:solidFill>
                <a:latin typeface="Arial" panose="020B0604020202020204" pitchFamily="34" charset="0"/>
                <a:cs typeface="Arial" panose="020B0604020202020204" pitchFamily="34" charset="0"/>
              </a:defRPr>
            </a:lvl1pPr>
            <a:lvl2pPr marL="228586" algn="l" rtl="0" eaLnBrk="0" fontAlgn="base" hangingPunct="0">
              <a:spcBef>
                <a:spcPct val="0"/>
              </a:spcBef>
              <a:spcAft>
                <a:spcPct val="0"/>
              </a:spcAft>
              <a:defRPr kern="1200">
                <a:solidFill>
                  <a:schemeClr val="tx1"/>
                </a:solidFill>
                <a:latin typeface="Arial" pitchFamily="2" charset="77"/>
                <a:ea typeface="+mn-ea"/>
                <a:cs typeface="+mn-cs"/>
              </a:defRPr>
            </a:lvl2pPr>
            <a:lvl3pPr marL="457172" algn="l" rtl="0" eaLnBrk="0" fontAlgn="base" hangingPunct="0">
              <a:spcBef>
                <a:spcPct val="0"/>
              </a:spcBef>
              <a:spcAft>
                <a:spcPct val="0"/>
              </a:spcAft>
              <a:defRPr kern="1200">
                <a:solidFill>
                  <a:schemeClr val="tx1"/>
                </a:solidFill>
                <a:latin typeface="Arial" pitchFamily="2" charset="77"/>
                <a:ea typeface="+mn-ea"/>
                <a:cs typeface="+mn-cs"/>
              </a:defRPr>
            </a:lvl3pPr>
            <a:lvl4pPr marL="685757" algn="l" rtl="0" eaLnBrk="0" fontAlgn="base" hangingPunct="0">
              <a:spcBef>
                <a:spcPct val="0"/>
              </a:spcBef>
              <a:spcAft>
                <a:spcPct val="0"/>
              </a:spcAft>
              <a:defRPr kern="1200">
                <a:solidFill>
                  <a:schemeClr val="tx1"/>
                </a:solidFill>
                <a:latin typeface="Arial" pitchFamily="2" charset="77"/>
                <a:ea typeface="+mn-ea"/>
                <a:cs typeface="+mn-cs"/>
              </a:defRPr>
            </a:lvl4pPr>
            <a:lvl5pPr marL="914343" algn="l" rtl="0" eaLnBrk="0" fontAlgn="base" hangingPunct="0">
              <a:spcBef>
                <a:spcPct val="0"/>
              </a:spcBef>
              <a:spcAft>
                <a:spcPct val="0"/>
              </a:spcAft>
              <a:defRPr kern="1200">
                <a:solidFill>
                  <a:schemeClr val="tx1"/>
                </a:solidFill>
                <a:latin typeface="Arial" pitchFamily="2" charset="77"/>
                <a:ea typeface="+mn-ea"/>
                <a:cs typeface="+mn-cs"/>
              </a:defRPr>
            </a:lvl5pPr>
            <a:lvl6pPr marL="1142929" algn="l" defTabSz="457172" rtl="0" eaLnBrk="1" latinLnBrk="0" hangingPunct="1">
              <a:defRPr kern="1200">
                <a:solidFill>
                  <a:schemeClr val="tx1"/>
                </a:solidFill>
                <a:latin typeface="Arial" pitchFamily="2" charset="77"/>
                <a:ea typeface="+mn-ea"/>
                <a:cs typeface="+mn-cs"/>
              </a:defRPr>
            </a:lvl6pPr>
            <a:lvl7pPr marL="1371515" algn="l" defTabSz="457172" rtl="0" eaLnBrk="1" latinLnBrk="0" hangingPunct="1">
              <a:defRPr kern="1200">
                <a:solidFill>
                  <a:schemeClr val="tx1"/>
                </a:solidFill>
                <a:latin typeface="Arial" pitchFamily="2" charset="77"/>
                <a:ea typeface="+mn-ea"/>
                <a:cs typeface="+mn-cs"/>
              </a:defRPr>
            </a:lvl7pPr>
            <a:lvl8pPr marL="1600100" algn="l" defTabSz="457172" rtl="0" eaLnBrk="1" latinLnBrk="0" hangingPunct="1">
              <a:defRPr kern="1200">
                <a:solidFill>
                  <a:schemeClr val="tx1"/>
                </a:solidFill>
                <a:latin typeface="Arial" pitchFamily="2" charset="77"/>
                <a:ea typeface="+mn-ea"/>
                <a:cs typeface="+mn-cs"/>
              </a:defRPr>
            </a:lvl8pPr>
            <a:lvl9pPr marL="1828686" algn="l" defTabSz="457172" rtl="0" eaLnBrk="1" latinLnBrk="0" hangingPunct="1">
              <a:defRPr kern="1200">
                <a:solidFill>
                  <a:schemeClr val="tx1"/>
                </a:solidFill>
                <a:latin typeface="Arial" pitchFamily="2" charset="77"/>
                <a:ea typeface="+mn-ea"/>
                <a:cs typeface="+mn-cs"/>
              </a:defRPr>
            </a:lvl9pPr>
          </a:lstStyle>
          <a:p>
            <a:r>
              <a:rPr lang="en-US" noProof="0"/>
              <a:t>Five sequential stages and four maturity levels — the same analytical grid applied to every team, so fragmentation can be measured, not just described.</a:t>
            </a:r>
          </a:p>
        </p:txBody>
      </p:sp>
      <p:grpSp>
        <p:nvGrpSpPr>
          <p:cNvPr id="16" name="Group 15">
            <a:extLst>
              <a:ext uri="{FF2B5EF4-FFF2-40B4-BE49-F238E27FC236}">
                <a16:creationId xmlns:a16="http://schemas.microsoft.com/office/drawing/2014/main" id="{1C19D271-1F38-6B53-13C8-8AD05A7A66AC}"/>
              </a:ext>
            </a:extLst>
          </p:cNvPr>
          <p:cNvGrpSpPr/>
          <p:nvPr/>
        </p:nvGrpSpPr>
        <p:grpSpPr>
          <a:xfrm>
            <a:off x="659127" y="4982428"/>
            <a:ext cx="10931270" cy="1403815"/>
            <a:chOff x="930282" y="4982428"/>
            <a:chExt cx="10213060" cy="1403815"/>
          </a:xfrm>
        </p:grpSpPr>
        <p:sp>
          <p:nvSpPr>
            <p:cNvPr id="9" name="Rectangle 165">
              <a:extLst>
                <a:ext uri="{FF2B5EF4-FFF2-40B4-BE49-F238E27FC236}">
                  <a16:creationId xmlns:a16="http://schemas.microsoft.com/office/drawing/2014/main" id="{4A0533F9-EDB3-D03A-D1D9-BDD4D6D3F46F}"/>
                </a:ext>
              </a:extLst>
            </p:cNvPr>
            <p:cNvSpPr/>
            <p:nvPr/>
          </p:nvSpPr>
          <p:spPr>
            <a:xfrm>
              <a:off x="930282" y="4982429"/>
              <a:ext cx="3291840" cy="1403814"/>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12" name="Rectangle 166">
              <a:extLst>
                <a:ext uri="{FF2B5EF4-FFF2-40B4-BE49-F238E27FC236}">
                  <a16:creationId xmlns:a16="http://schemas.microsoft.com/office/drawing/2014/main" id="{E44A5684-3737-16D1-86D4-E179EB88C627}"/>
                </a:ext>
              </a:extLst>
            </p:cNvPr>
            <p:cNvSpPr/>
            <p:nvPr/>
          </p:nvSpPr>
          <p:spPr>
            <a:xfrm>
              <a:off x="930282" y="4982429"/>
              <a:ext cx="3291840" cy="5486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35" name="TextBox 167">
              <a:extLst>
                <a:ext uri="{FF2B5EF4-FFF2-40B4-BE49-F238E27FC236}">
                  <a16:creationId xmlns:a16="http://schemas.microsoft.com/office/drawing/2014/main" id="{EFED878E-3A56-0945-5593-9AD3A5EAC0B8}"/>
                </a:ext>
              </a:extLst>
            </p:cNvPr>
            <p:cNvSpPr txBox="1"/>
            <p:nvPr/>
          </p:nvSpPr>
          <p:spPr>
            <a:xfrm>
              <a:off x="1113162" y="5092157"/>
              <a:ext cx="2926080" cy="194284"/>
            </a:xfrm>
            <a:prstGeom prst="rect">
              <a:avLst/>
            </a:prstGeom>
            <a:noFill/>
          </p:spPr>
          <p:txBody>
            <a:bodyPr wrap="square" lIns="0" tIns="0" rIns="0" bIns="0" anchor="t">
              <a:spAutoFit/>
            </a:bodyPr>
            <a:lstStyle/>
            <a:p>
              <a:pPr algn="l">
                <a:lnSpc>
                  <a:spcPct val="115000"/>
                </a:lnSpc>
                <a:spcBef>
                  <a:spcPts val="0"/>
                </a:spcBef>
                <a:spcAft>
                  <a:spcPts val="0"/>
                </a:spcAft>
              </a:pPr>
              <a:r>
                <a:rPr lang="en-US" sz="1200" b="1" i="0" noProof="0">
                  <a:solidFill>
                    <a:srgbClr val="1F4E79"/>
                  </a:solidFill>
                  <a:latin typeface="Arial" panose="020B0604020202020204" pitchFamily="34" charset="0"/>
                  <a:cs typeface="Arial" panose="020B0604020202020204" pitchFamily="34" charset="0"/>
                </a:rPr>
                <a:t>THE FRAMEWORK</a:t>
              </a:r>
            </a:p>
          </p:txBody>
        </p:sp>
        <p:sp>
          <p:nvSpPr>
            <p:cNvPr id="36" name="TextBox 168">
              <a:extLst>
                <a:ext uri="{FF2B5EF4-FFF2-40B4-BE49-F238E27FC236}">
                  <a16:creationId xmlns:a16="http://schemas.microsoft.com/office/drawing/2014/main" id="{BAA805F4-9C94-BC93-4939-DD740F3A620F}"/>
                </a:ext>
              </a:extLst>
            </p:cNvPr>
            <p:cNvSpPr txBox="1"/>
            <p:nvPr/>
          </p:nvSpPr>
          <p:spPr>
            <a:xfrm>
              <a:off x="1113162" y="5366477"/>
              <a:ext cx="2926080" cy="727507"/>
            </a:xfrm>
            <a:prstGeom prst="rect">
              <a:avLst/>
            </a:prstGeom>
            <a:noFill/>
          </p:spPr>
          <p:txBody>
            <a:bodyPr wrap="square" lIns="0" tIns="0" rIns="0" bIns="0" anchor="t">
              <a:spAutoFit/>
            </a:bodyPr>
            <a:lstStyle/>
            <a:p>
              <a:pPr algn="l">
                <a:lnSpc>
                  <a:spcPct val="115000"/>
                </a:lnSpc>
                <a:spcBef>
                  <a:spcPts val="0"/>
                </a:spcBef>
                <a:spcAft>
                  <a:spcPts val="0"/>
                </a:spcAft>
              </a:pPr>
              <a:r>
                <a:rPr lang="en-US" sz="1050" b="0" i="0" noProof="0">
                  <a:solidFill>
                    <a:srgbClr val="1A1A1A"/>
                  </a:solidFill>
                  <a:latin typeface="Arial" panose="020B0604020202020204" pitchFamily="34" charset="0"/>
                  <a:cs typeface="Arial" panose="020B0604020202020204" pitchFamily="34" charset="0"/>
                </a:rPr>
                <a:t>Value-Stream Mapping of the end-to-end demand lifecycle — 5 sequential stages that every demand must pass through, from the moment it arrives to the moment it is delivered.</a:t>
              </a:r>
            </a:p>
          </p:txBody>
        </p:sp>
        <p:sp>
          <p:nvSpPr>
            <p:cNvPr id="37" name="Rectangle 169">
              <a:extLst>
                <a:ext uri="{FF2B5EF4-FFF2-40B4-BE49-F238E27FC236}">
                  <a16:creationId xmlns:a16="http://schemas.microsoft.com/office/drawing/2014/main" id="{BD28075F-E227-FE59-123D-759D493EAAAA}"/>
                </a:ext>
              </a:extLst>
            </p:cNvPr>
            <p:cNvSpPr/>
            <p:nvPr/>
          </p:nvSpPr>
          <p:spPr>
            <a:xfrm>
              <a:off x="4340994" y="4982428"/>
              <a:ext cx="3291840" cy="1403813"/>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38" name="Rectangle 170">
              <a:extLst>
                <a:ext uri="{FF2B5EF4-FFF2-40B4-BE49-F238E27FC236}">
                  <a16:creationId xmlns:a16="http://schemas.microsoft.com/office/drawing/2014/main" id="{2F7E88A6-6718-887B-5977-72EE26474CA6}"/>
                </a:ext>
              </a:extLst>
            </p:cNvPr>
            <p:cNvSpPr/>
            <p:nvPr/>
          </p:nvSpPr>
          <p:spPr>
            <a:xfrm>
              <a:off x="4340994" y="4982429"/>
              <a:ext cx="3291840" cy="54864"/>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39" name="TextBox 171">
              <a:extLst>
                <a:ext uri="{FF2B5EF4-FFF2-40B4-BE49-F238E27FC236}">
                  <a16:creationId xmlns:a16="http://schemas.microsoft.com/office/drawing/2014/main" id="{042BDF11-AF41-A124-4DBF-687E6F7C9EAB}"/>
                </a:ext>
              </a:extLst>
            </p:cNvPr>
            <p:cNvSpPr txBox="1"/>
            <p:nvPr/>
          </p:nvSpPr>
          <p:spPr>
            <a:xfrm>
              <a:off x="4523874" y="5092157"/>
              <a:ext cx="2926080" cy="194284"/>
            </a:xfrm>
            <a:prstGeom prst="rect">
              <a:avLst/>
            </a:prstGeom>
            <a:noFill/>
          </p:spPr>
          <p:txBody>
            <a:bodyPr wrap="square" lIns="0" tIns="0" rIns="0" bIns="0" anchor="t">
              <a:spAutoFit/>
            </a:bodyPr>
            <a:lstStyle/>
            <a:p>
              <a:pPr algn="l">
                <a:lnSpc>
                  <a:spcPct val="115000"/>
                </a:lnSpc>
                <a:spcBef>
                  <a:spcPts val="0"/>
                </a:spcBef>
                <a:spcAft>
                  <a:spcPts val="0"/>
                </a:spcAft>
              </a:pPr>
              <a:r>
                <a:rPr lang="en-US" sz="1200" b="1" i="0" noProof="0">
                  <a:solidFill>
                    <a:srgbClr val="2E75B6"/>
                  </a:solidFill>
                  <a:latin typeface="Arial" panose="020B0604020202020204" pitchFamily="34" charset="0"/>
                  <a:cs typeface="Arial" panose="020B0604020202020204" pitchFamily="34" charset="0"/>
                </a:rPr>
                <a:t>WHY WE USE IT</a:t>
              </a:r>
            </a:p>
          </p:txBody>
        </p:sp>
        <p:sp>
          <p:nvSpPr>
            <p:cNvPr id="40" name="TextBox 172">
              <a:extLst>
                <a:ext uri="{FF2B5EF4-FFF2-40B4-BE49-F238E27FC236}">
                  <a16:creationId xmlns:a16="http://schemas.microsoft.com/office/drawing/2014/main" id="{3B971FDC-6E62-3C5E-796E-58535AAADDCD}"/>
                </a:ext>
              </a:extLst>
            </p:cNvPr>
            <p:cNvSpPr txBox="1"/>
            <p:nvPr/>
          </p:nvSpPr>
          <p:spPr>
            <a:xfrm>
              <a:off x="4523874" y="5366477"/>
              <a:ext cx="2926080" cy="913327"/>
            </a:xfrm>
            <a:prstGeom prst="rect">
              <a:avLst/>
            </a:prstGeom>
            <a:noFill/>
          </p:spPr>
          <p:txBody>
            <a:bodyPr wrap="square" lIns="0" tIns="0" rIns="0" bIns="0" anchor="t">
              <a:spAutoFit/>
            </a:bodyPr>
            <a:lstStyle/>
            <a:p>
              <a:pPr algn="l">
                <a:lnSpc>
                  <a:spcPct val="115000"/>
                </a:lnSpc>
                <a:spcBef>
                  <a:spcPts val="0"/>
                </a:spcBef>
                <a:spcAft>
                  <a:spcPts val="0"/>
                </a:spcAft>
              </a:pPr>
              <a:r>
                <a:rPr lang="en-US" sz="1050" b="0" i="0" noProof="0">
                  <a:solidFill>
                    <a:srgbClr val="1A1A1A"/>
                  </a:solidFill>
                  <a:latin typeface="Arial" panose="020B0604020202020204" pitchFamily="34" charset="0"/>
                  <a:cs typeface="Arial" panose="020B0604020202020204" pitchFamily="34" charset="0"/>
                </a:rPr>
                <a:t>Provides a standardized lens to compare heterogeneous teams (6 intake channels, 6 prioritization logics) apples-to-apples — without this, every area's working answer looks locally valid but none scales.</a:t>
              </a:r>
            </a:p>
          </p:txBody>
        </p:sp>
        <p:sp>
          <p:nvSpPr>
            <p:cNvPr id="41" name="Rectangle 173">
              <a:extLst>
                <a:ext uri="{FF2B5EF4-FFF2-40B4-BE49-F238E27FC236}">
                  <a16:creationId xmlns:a16="http://schemas.microsoft.com/office/drawing/2014/main" id="{2F48A561-09AE-6731-97B2-C3092B659586}"/>
                </a:ext>
              </a:extLst>
            </p:cNvPr>
            <p:cNvSpPr/>
            <p:nvPr/>
          </p:nvSpPr>
          <p:spPr>
            <a:xfrm>
              <a:off x="7751706" y="4982429"/>
              <a:ext cx="3391636" cy="140381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42" name="Rectangle 174">
              <a:extLst>
                <a:ext uri="{FF2B5EF4-FFF2-40B4-BE49-F238E27FC236}">
                  <a16:creationId xmlns:a16="http://schemas.microsoft.com/office/drawing/2014/main" id="{BF2A125D-DE2B-936A-19D9-8752993EB8B1}"/>
                </a:ext>
              </a:extLst>
            </p:cNvPr>
            <p:cNvSpPr/>
            <p:nvPr/>
          </p:nvSpPr>
          <p:spPr>
            <a:xfrm>
              <a:off x="7751705" y="4982429"/>
              <a:ext cx="3391635" cy="54864"/>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43" name="TextBox 175">
              <a:extLst>
                <a:ext uri="{FF2B5EF4-FFF2-40B4-BE49-F238E27FC236}">
                  <a16:creationId xmlns:a16="http://schemas.microsoft.com/office/drawing/2014/main" id="{14DBA99C-2F3A-1F26-F333-6871ADBF4D5A}"/>
                </a:ext>
              </a:extLst>
            </p:cNvPr>
            <p:cNvSpPr txBox="1"/>
            <p:nvPr/>
          </p:nvSpPr>
          <p:spPr>
            <a:xfrm>
              <a:off x="7934585" y="5092157"/>
              <a:ext cx="2926080" cy="194284"/>
            </a:xfrm>
            <a:prstGeom prst="rect">
              <a:avLst/>
            </a:prstGeom>
            <a:noFill/>
          </p:spPr>
          <p:txBody>
            <a:bodyPr wrap="square" lIns="0" tIns="0" rIns="0" bIns="0" anchor="t">
              <a:spAutoFit/>
            </a:bodyPr>
            <a:lstStyle/>
            <a:p>
              <a:pPr algn="l">
                <a:lnSpc>
                  <a:spcPct val="115000"/>
                </a:lnSpc>
                <a:spcBef>
                  <a:spcPts val="0"/>
                </a:spcBef>
                <a:spcAft>
                  <a:spcPts val="0"/>
                </a:spcAft>
              </a:pPr>
              <a:r>
                <a:rPr lang="en-US" sz="1200" b="1" i="0" noProof="0">
                  <a:solidFill>
                    <a:schemeClr val="accent3"/>
                  </a:solidFill>
                  <a:latin typeface="Arial" panose="020B0604020202020204" pitchFamily="34" charset="0"/>
                  <a:cs typeface="Arial" panose="020B0604020202020204" pitchFamily="34" charset="0"/>
                </a:rPr>
                <a:t>WHAT IT REVEALS</a:t>
              </a:r>
            </a:p>
          </p:txBody>
        </p:sp>
        <p:sp>
          <p:nvSpPr>
            <p:cNvPr id="44" name="TextBox 176">
              <a:extLst>
                <a:ext uri="{FF2B5EF4-FFF2-40B4-BE49-F238E27FC236}">
                  <a16:creationId xmlns:a16="http://schemas.microsoft.com/office/drawing/2014/main" id="{B3ECEDEB-E6A3-F9E5-5223-E55F7053A307}"/>
                </a:ext>
              </a:extLst>
            </p:cNvPr>
            <p:cNvSpPr txBox="1"/>
            <p:nvPr/>
          </p:nvSpPr>
          <p:spPr>
            <a:xfrm>
              <a:off x="7934585" y="5366477"/>
              <a:ext cx="2926080" cy="727507"/>
            </a:xfrm>
            <a:prstGeom prst="rect">
              <a:avLst/>
            </a:prstGeom>
            <a:noFill/>
          </p:spPr>
          <p:txBody>
            <a:bodyPr wrap="square" lIns="0" tIns="0" rIns="0" bIns="0" anchor="t">
              <a:spAutoFit/>
            </a:bodyPr>
            <a:lstStyle/>
            <a:p>
              <a:pPr algn="l">
                <a:lnSpc>
                  <a:spcPct val="115000"/>
                </a:lnSpc>
                <a:spcBef>
                  <a:spcPts val="0"/>
                </a:spcBef>
                <a:spcAft>
                  <a:spcPts val="0"/>
                </a:spcAft>
              </a:pPr>
              <a:r>
                <a:rPr lang="en-US" sz="1050" b="0" i="0" noProof="0">
                  <a:solidFill>
                    <a:srgbClr val="1A1A1A"/>
                  </a:solidFill>
                  <a:latin typeface="Arial" panose="020B0604020202020204" pitchFamily="34" charset="0"/>
                  <a:cs typeface="Arial" panose="020B0604020202020204" pitchFamily="34" charset="0"/>
                </a:rPr>
                <a:t>Per-stage maturity gaps per team, cross-branch fragmentation, and the specific bottlenecks the TOM must resolve — converting anecdote into structured evidence for the Baseline Report.</a:t>
              </a:r>
            </a:p>
          </p:txBody>
        </p:sp>
      </p:grpSp>
      <p:grpSp>
        <p:nvGrpSpPr>
          <p:cNvPr id="15" name="Group 14">
            <a:extLst>
              <a:ext uri="{FF2B5EF4-FFF2-40B4-BE49-F238E27FC236}">
                <a16:creationId xmlns:a16="http://schemas.microsoft.com/office/drawing/2014/main" id="{AAFF7515-ADCE-C2B8-0A9C-6577D5139B49}"/>
              </a:ext>
            </a:extLst>
          </p:cNvPr>
          <p:cNvGrpSpPr/>
          <p:nvPr/>
        </p:nvGrpSpPr>
        <p:grpSpPr>
          <a:xfrm>
            <a:off x="659126" y="3883019"/>
            <a:ext cx="10934699" cy="1000628"/>
            <a:chOff x="960117" y="3883019"/>
            <a:chExt cx="10186416" cy="1000628"/>
          </a:xfrm>
        </p:grpSpPr>
        <p:sp>
          <p:nvSpPr>
            <p:cNvPr id="45" name="Rectangle 177">
              <a:extLst>
                <a:ext uri="{FF2B5EF4-FFF2-40B4-BE49-F238E27FC236}">
                  <a16:creationId xmlns:a16="http://schemas.microsoft.com/office/drawing/2014/main" id="{45B6B62A-81E9-C28E-275B-AF0960155632}"/>
                </a:ext>
              </a:extLst>
            </p:cNvPr>
            <p:cNvSpPr/>
            <p:nvPr/>
          </p:nvSpPr>
          <p:spPr>
            <a:xfrm>
              <a:off x="960117" y="3883019"/>
              <a:ext cx="10183223" cy="10006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46" name="TextBox 178">
              <a:extLst>
                <a:ext uri="{FF2B5EF4-FFF2-40B4-BE49-F238E27FC236}">
                  <a16:creationId xmlns:a16="http://schemas.microsoft.com/office/drawing/2014/main" id="{A3C757A0-1E5F-AA41-0F8E-AEF058C5761E}"/>
                </a:ext>
              </a:extLst>
            </p:cNvPr>
            <p:cNvSpPr txBox="1"/>
            <p:nvPr/>
          </p:nvSpPr>
          <p:spPr>
            <a:xfrm>
              <a:off x="1092706" y="4000789"/>
              <a:ext cx="2743200" cy="170047"/>
            </a:xfrm>
            <a:prstGeom prst="rect">
              <a:avLst/>
            </a:prstGeom>
            <a:noFill/>
          </p:spPr>
          <p:txBody>
            <a:bodyPr wrap="square" lIns="0" tIns="0" rIns="0" bIns="0" anchor="t">
              <a:spAutoFit/>
            </a:bodyPr>
            <a:lstStyle/>
            <a:p>
              <a:pPr algn="l">
                <a:lnSpc>
                  <a:spcPct val="115000"/>
                </a:lnSpc>
                <a:spcBef>
                  <a:spcPts val="0"/>
                </a:spcBef>
                <a:spcAft>
                  <a:spcPts val="0"/>
                </a:spcAft>
              </a:pPr>
              <a:r>
                <a:rPr lang="en-US" sz="1050" b="1" i="0" noProof="0">
                  <a:solidFill>
                    <a:srgbClr val="FFFFFF"/>
                  </a:solidFill>
                  <a:latin typeface="Arial" panose="020B0604020202020204" pitchFamily="34" charset="0"/>
                  <a:cs typeface="Arial" panose="020B0604020202020204" pitchFamily="34" charset="0"/>
                </a:rPr>
                <a:t>MATURITY SCALE</a:t>
              </a:r>
            </a:p>
          </p:txBody>
        </p:sp>
        <p:sp>
          <p:nvSpPr>
            <p:cNvPr id="47" name="TextBox 179">
              <a:extLst>
                <a:ext uri="{FF2B5EF4-FFF2-40B4-BE49-F238E27FC236}">
                  <a16:creationId xmlns:a16="http://schemas.microsoft.com/office/drawing/2014/main" id="{3AD65799-F703-06A3-C200-772A15017911}"/>
                </a:ext>
              </a:extLst>
            </p:cNvPr>
            <p:cNvSpPr txBox="1"/>
            <p:nvPr/>
          </p:nvSpPr>
          <p:spPr>
            <a:xfrm>
              <a:off x="1092706" y="4229389"/>
              <a:ext cx="2743200" cy="170047"/>
            </a:xfrm>
            <a:prstGeom prst="rect">
              <a:avLst/>
            </a:prstGeom>
            <a:noFill/>
          </p:spPr>
          <p:txBody>
            <a:bodyPr wrap="square" lIns="0" tIns="0" rIns="0" bIns="0" anchor="t">
              <a:spAutoFit/>
            </a:bodyPr>
            <a:lstStyle/>
            <a:p>
              <a:pPr algn="l">
                <a:lnSpc>
                  <a:spcPct val="115000"/>
                </a:lnSpc>
                <a:spcBef>
                  <a:spcPts val="0"/>
                </a:spcBef>
                <a:spcAft>
                  <a:spcPts val="0"/>
                </a:spcAft>
              </a:pPr>
              <a:r>
                <a:rPr lang="en-US" sz="1050" b="0" i="1" noProof="0">
                  <a:solidFill>
                    <a:srgbClr val="CCDDEE"/>
                  </a:solidFill>
                  <a:latin typeface="Arial" panose="020B0604020202020204" pitchFamily="34" charset="0"/>
                  <a:cs typeface="Arial" panose="020B0604020202020204" pitchFamily="34" charset="0"/>
                </a:rPr>
                <a:t>Applied to every cell of the AS-IS matrix</a:t>
              </a:r>
            </a:p>
          </p:txBody>
        </p:sp>
        <p:sp>
          <p:nvSpPr>
            <p:cNvPr id="48" name="Oval 47">
              <a:extLst>
                <a:ext uri="{FF2B5EF4-FFF2-40B4-BE49-F238E27FC236}">
                  <a16:creationId xmlns:a16="http://schemas.microsoft.com/office/drawing/2014/main" id="{1EF76DC4-A3E6-59FB-D46B-EFED694CE253}"/>
                </a:ext>
              </a:extLst>
            </p:cNvPr>
            <p:cNvSpPr/>
            <p:nvPr/>
          </p:nvSpPr>
          <p:spPr>
            <a:xfrm>
              <a:off x="4023357" y="3968296"/>
              <a:ext cx="201168" cy="201168"/>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49" name="TextBox 181">
              <a:extLst>
                <a:ext uri="{FF2B5EF4-FFF2-40B4-BE49-F238E27FC236}">
                  <a16:creationId xmlns:a16="http://schemas.microsoft.com/office/drawing/2014/main" id="{5AB94B55-E8BF-FB53-7249-59589BA7317D}"/>
                </a:ext>
              </a:extLst>
            </p:cNvPr>
            <p:cNvSpPr txBox="1"/>
            <p:nvPr/>
          </p:nvSpPr>
          <p:spPr>
            <a:xfrm>
              <a:off x="4315966" y="3983857"/>
              <a:ext cx="1399032" cy="170047"/>
            </a:xfrm>
            <a:prstGeom prst="rect">
              <a:avLst/>
            </a:prstGeom>
            <a:noFill/>
          </p:spPr>
          <p:txBody>
            <a:bodyPr wrap="square" lIns="0" tIns="0" rIns="0" bIns="0" anchor="t">
              <a:spAutoFit/>
            </a:bodyPr>
            <a:lstStyle/>
            <a:p>
              <a:pPr algn="l">
                <a:lnSpc>
                  <a:spcPct val="115000"/>
                </a:lnSpc>
                <a:spcBef>
                  <a:spcPts val="0"/>
                </a:spcBef>
                <a:spcAft>
                  <a:spcPts val="0"/>
                </a:spcAft>
              </a:pPr>
              <a:r>
                <a:rPr lang="en-US" sz="1050" b="1" i="0" noProof="0">
                  <a:solidFill>
                    <a:srgbClr val="FFFFFF"/>
                  </a:solidFill>
                  <a:latin typeface="Arial" panose="020B0604020202020204" pitchFamily="34" charset="0"/>
                  <a:cs typeface="Arial" panose="020B0604020202020204" pitchFamily="34" charset="0"/>
                </a:rPr>
                <a:t>CRITICAL</a:t>
              </a:r>
            </a:p>
          </p:txBody>
        </p:sp>
        <p:sp>
          <p:nvSpPr>
            <p:cNvPr id="50" name="TextBox 182">
              <a:extLst>
                <a:ext uri="{FF2B5EF4-FFF2-40B4-BE49-F238E27FC236}">
                  <a16:creationId xmlns:a16="http://schemas.microsoft.com/office/drawing/2014/main" id="{3230592D-8CF4-D04F-C4BA-8D58C0F90E85}"/>
                </a:ext>
              </a:extLst>
            </p:cNvPr>
            <p:cNvSpPr txBox="1"/>
            <p:nvPr/>
          </p:nvSpPr>
          <p:spPr>
            <a:xfrm>
              <a:off x="4023357" y="4248780"/>
              <a:ext cx="1691639" cy="338875"/>
            </a:xfrm>
            <a:prstGeom prst="rect">
              <a:avLst/>
            </a:prstGeom>
            <a:noFill/>
          </p:spPr>
          <p:txBody>
            <a:bodyPr wrap="square" lIns="0" tIns="0" rIns="0" bIns="0" anchor="t">
              <a:spAutoFit/>
            </a:bodyPr>
            <a:lstStyle/>
            <a:p>
              <a:pPr algn="l">
                <a:lnSpc>
                  <a:spcPct val="115000"/>
                </a:lnSpc>
                <a:spcBef>
                  <a:spcPts val="0"/>
                </a:spcBef>
                <a:spcAft>
                  <a:spcPts val="0"/>
                </a:spcAft>
              </a:pPr>
              <a:r>
                <a:rPr lang="en-US" sz="1000" b="0" i="1" noProof="0">
                  <a:solidFill>
                    <a:srgbClr val="E8EEF5"/>
                  </a:solidFill>
                  <a:latin typeface="Arial" panose="020B0604020202020204" pitchFamily="34" charset="0"/>
                  <a:cs typeface="Arial" panose="020B0604020202020204" pitchFamily="34" charset="0"/>
                </a:rPr>
                <a:t>Missing or broken — requires immediate redesign</a:t>
              </a:r>
            </a:p>
          </p:txBody>
        </p:sp>
        <p:sp>
          <p:nvSpPr>
            <p:cNvPr id="51" name="Oval 50">
              <a:extLst>
                <a:ext uri="{FF2B5EF4-FFF2-40B4-BE49-F238E27FC236}">
                  <a16:creationId xmlns:a16="http://schemas.microsoft.com/office/drawing/2014/main" id="{4EED61E8-D6A5-164F-3752-16009B596AD1}"/>
                </a:ext>
              </a:extLst>
            </p:cNvPr>
            <p:cNvSpPr/>
            <p:nvPr/>
          </p:nvSpPr>
          <p:spPr>
            <a:xfrm>
              <a:off x="5823022" y="3968296"/>
              <a:ext cx="201168" cy="201168"/>
            </a:xfrm>
            <a:prstGeom prst="ellipse">
              <a:avLst/>
            </a:prstGeom>
            <a:solidFill>
              <a:srgbClr val="E67E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52" name="TextBox 184">
              <a:extLst>
                <a:ext uri="{FF2B5EF4-FFF2-40B4-BE49-F238E27FC236}">
                  <a16:creationId xmlns:a16="http://schemas.microsoft.com/office/drawing/2014/main" id="{6D1B001C-1191-E376-9E6C-D3518D728A69}"/>
                </a:ext>
              </a:extLst>
            </p:cNvPr>
            <p:cNvSpPr txBox="1"/>
            <p:nvPr/>
          </p:nvSpPr>
          <p:spPr>
            <a:xfrm>
              <a:off x="6126477" y="3983857"/>
              <a:ext cx="1399032" cy="170047"/>
            </a:xfrm>
            <a:prstGeom prst="rect">
              <a:avLst/>
            </a:prstGeom>
            <a:noFill/>
          </p:spPr>
          <p:txBody>
            <a:bodyPr wrap="square" lIns="0" tIns="0" rIns="0" bIns="0" anchor="t">
              <a:spAutoFit/>
            </a:bodyPr>
            <a:lstStyle/>
            <a:p>
              <a:pPr algn="l">
                <a:lnSpc>
                  <a:spcPct val="115000"/>
                </a:lnSpc>
                <a:spcBef>
                  <a:spcPts val="0"/>
                </a:spcBef>
                <a:spcAft>
                  <a:spcPts val="0"/>
                </a:spcAft>
              </a:pPr>
              <a:r>
                <a:rPr lang="en-US" sz="1050" b="1" i="0" noProof="0">
                  <a:solidFill>
                    <a:srgbClr val="FFFFFF"/>
                  </a:solidFill>
                  <a:latin typeface="Arial" panose="020B0604020202020204" pitchFamily="34" charset="0"/>
                  <a:cs typeface="Arial" panose="020B0604020202020204" pitchFamily="34" charset="0"/>
                </a:rPr>
                <a:t>GAP</a:t>
              </a:r>
            </a:p>
          </p:txBody>
        </p:sp>
        <p:sp>
          <p:nvSpPr>
            <p:cNvPr id="53" name="TextBox 185">
              <a:extLst>
                <a:ext uri="{FF2B5EF4-FFF2-40B4-BE49-F238E27FC236}">
                  <a16:creationId xmlns:a16="http://schemas.microsoft.com/office/drawing/2014/main" id="{71AA26A6-1E7A-5D8A-5222-ABDE42DC2CE3}"/>
                </a:ext>
              </a:extLst>
            </p:cNvPr>
            <p:cNvSpPr txBox="1"/>
            <p:nvPr/>
          </p:nvSpPr>
          <p:spPr>
            <a:xfrm>
              <a:off x="5833869" y="4248780"/>
              <a:ext cx="1691639" cy="338875"/>
            </a:xfrm>
            <a:prstGeom prst="rect">
              <a:avLst/>
            </a:prstGeom>
            <a:noFill/>
          </p:spPr>
          <p:txBody>
            <a:bodyPr wrap="square" lIns="0" tIns="0" rIns="0" bIns="0" anchor="t">
              <a:spAutoFit/>
            </a:bodyPr>
            <a:lstStyle/>
            <a:p>
              <a:pPr algn="l">
                <a:lnSpc>
                  <a:spcPct val="115000"/>
                </a:lnSpc>
                <a:spcBef>
                  <a:spcPts val="0"/>
                </a:spcBef>
                <a:spcAft>
                  <a:spcPts val="0"/>
                </a:spcAft>
              </a:pPr>
              <a:r>
                <a:rPr lang="en-US" sz="1000" b="0" i="1" noProof="0">
                  <a:solidFill>
                    <a:srgbClr val="E8EEF5"/>
                  </a:solidFill>
                  <a:latin typeface="Arial" panose="020B0604020202020204" pitchFamily="34" charset="0"/>
                  <a:cs typeface="Arial" panose="020B0604020202020204" pitchFamily="34" charset="0"/>
                </a:rPr>
                <a:t>Exists but inadequate — insufficient</a:t>
              </a:r>
            </a:p>
          </p:txBody>
        </p:sp>
        <p:sp>
          <p:nvSpPr>
            <p:cNvPr id="54" name="Oval 53">
              <a:extLst>
                <a:ext uri="{FF2B5EF4-FFF2-40B4-BE49-F238E27FC236}">
                  <a16:creationId xmlns:a16="http://schemas.microsoft.com/office/drawing/2014/main" id="{9A52AD87-3533-235D-0480-2E8F8326BFBE}"/>
                </a:ext>
              </a:extLst>
            </p:cNvPr>
            <p:cNvSpPr/>
            <p:nvPr/>
          </p:nvSpPr>
          <p:spPr>
            <a:xfrm>
              <a:off x="7644380" y="3968296"/>
              <a:ext cx="201168" cy="201168"/>
            </a:xfrm>
            <a:prstGeom prst="ellipse">
              <a:avLst/>
            </a:prstGeom>
            <a:solidFill>
              <a:srgbClr val="F1C4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55" name="TextBox 187">
              <a:extLst>
                <a:ext uri="{FF2B5EF4-FFF2-40B4-BE49-F238E27FC236}">
                  <a16:creationId xmlns:a16="http://schemas.microsoft.com/office/drawing/2014/main" id="{1003AF01-4747-277E-D5CF-82F75D5DCA58}"/>
                </a:ext>
              </a:extLst>
            </p:cNvPr>
            <p:cNvSpPr txBox="1"/>
            <p:nvPr/>
          </p:nvSpPr>
          <p:spPr>
            <a:xfrm>
              <a:off x="7936990" y="3983857"/>
              <a:ext cx="1399032" cy="170047"/>
            </a:xfrm>
            <a:prstGeom prst="rect">
              <a:avLst/>
            </a:prstGeom>
            <a:noFill/>
          </p:spPr>
          <p:txBody>
            <a:bodyPr wrap="square" lIns="0" tIns="0" rIns="0" bIns="0" anchor="t">
              <a:spAutoFit/>
            </a:bodyPr>
            <a:lstStyle/>
            <a:p>
              <a:pPr algn="l">
                <a:lnSpc>
                  <a:spcPct val="115000"/>
                </a:lnSpc>
                <a:spcBef>
                  <a:spcPts val="0"/>
                </a:spcBef>
                <a:spcAft>
                  <a:spcPts val="0"/>
                </a:spcAft>
              </a:pPr>
              <a:r>
                <a:rPr lang="en-US" sz="1050" b="1" i="0" noProof="0">
                  <a:solidFill>
                    <a:srgbClr val="FFFFFF"/>
                  </a:solidFill>
                  <a:latin typeface="Arial" panose="020B0604020202020204" pitchFamily="34" charset="0"/>
                  <a:cs typeface="Arial" panose="020B0604020202020204" pitchFamily="34" charset="0"/>
                </a:rPr>
                <a:t>PARTIAL</a:t>
              </a:r>
            </a:p>
          </p:txBody>
        </p:sp>
        <p:sp>
          <p:nvSpPr>
            <p:cNvPr id="56" name="TextBox 188">
              <a:extLst>
                <a:ext uri="{FF2B5EF4-FFF2-40B4-BE49-F238E27FC236}">
                  <a16:creationId xmlns:a16="http://schemas.microsoft.com/office/drawing/2014/main" id="{4C23360B-98CF-7ED3-8684-4C8898E3B6E4}"/>
                </a:ext>
              </a:extLst>
            </p:cNvPr>
            <p:cNvSpPr txBox="1"/>
            <p:nvPr/>
          </p:nvSpPr>
          <p:spPr>
            <a:xfrm>
              <a:off x="7644382" y="4248780"/>
              <a:ext cx="1545802" cy="338875"/>
            </a:xfrm>
            <a:prstGeom prst="rect">
              <a:avLst/>
            </a:prstGeom>
            <a:noFill/>
          </p:spPr>
          <p:txBody>
            <a:bodyPr wrap="square" lIns="0" tIns="0" rIns="0" bIns="0" anchor="t">
              <a:spAutoFit/>
            </a:bodyPr>
            <a:lstStyle/>
            <a:p>
              <a:pPr algn="l">
                <a:lnSpc>
                  <a:spcPct val="115000"/>
                </a:lnSpc>
                <a:spcBef>
                  <a:spcPts val="0"/>
                </a:spcBef>
                <a:spcAft>
                  <a:spcPts val="0"/>
                </a:spcAft>
              </a:pPr>
              <a:r>
                <a:rPr lang="en-US" sz="1000" b="0" i="1" noProof="0">
                  <a:solidFill>
                    <a:srgbClr val="E8EEF5"/>
                  </a:solidFill>
                  <a:latin typeface="Arial" panose="020B0604020202020204" pitchFamily="34" charset="0"/>
                  <a:cs typeface="Arial" panose="020B0604020202020204" pitchFamily="34" charset="0"/>
                </a:rPr>
                <a:t>Functional but inconsistent across teams</a:t>
              </a:r>
            </a:p>
          </p:txBody>
        </p:sp>
        <p:sp>
          <p:nvSpPr>
            <p:cNvPr id="57" name="Oval 56">
              <a:extLst>
                <a:ext uri="{FF2B5EF4-FFF2-40B4-BE49-F238E27FC236}">
                  <a16:creationId xmlns:a16="http://schemas.microsoft.com/office/drawing/2014/main" id="{47FBAC73-81EC-650B-0DA1-030A9D1D7772}"/>
                </a:ext>
              </a:extLst>
            </p:cNvPr>
            <p:cNvSpPr/>
            <p:nvPr/>
          </p:nvSpPr>
          <p:spPr>
            <a:xfrm>
              <a:off x="9454894" y="3968296"/>
              <a:ext cx="201168" cy="201168"/>
            </a:xfrm>
            <a:prstGeom prst="ellipse">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58" name="TextBox 190">
              <a:extLst>
                <a:ext uri="{FF2B5EF4-FFF2-40B4-BE49-F238E27FC236}">
                  <a16:creationId xmlns:a16="http://schemas.microsoft.com/office/drawing/2014/main" id="{E1D3EEAC-38C5-E703-31F7-40387E270D8A}"/>
                </a:ext>
              </a:extLst>
            </p:cNvPr>
            <p:cNvSpPr txBox="1"/>
            <p:nvPr/>
          </p:nvSpPr>
          <p:spPr>
            <a:xfrm>
              <a:off x="9747501" y="3983857"/>
              <a:ext cx="1399032" cy="170047"/>
            </a:xfrm>
            <a:prstGeom prst="rect">
              <a:avLst/>
            </a:prstGeom>
            <a:noFill/>
          </p:spPr>
          <p:txBody>
            <a:bodyPr wrap="square" lIns="0" tIns="0" rIns="0" bIns="0" anchor="t">
              <a:spAutoFit/>
            </a:bodyPr>
            <a:lstStyle/>
            <a:p>
              <a:pPr algn="l">
                <a:lnSpc>
                  <a:spcPct val="115000"/>
                </a:lnSpc>
                <a:spcBef>
                  <a:spcPts val="0"/>
                </a:spcBef>
                <a:spcAft>
                  <a:spcPts val="0"/>
                </a:spcAft>
              </a:pPr>
              <a:r>
                <a:rPr lang="en-US" sz="1050" b="1" i="0" noProof="0">
                  <a:solidFill>
                    <a:srgbClr val="FFFFFF"/>
                  </a:solidFill>
                  <a:latin typeface="Arial" panose="020B0604020202020204" pitchFamily="34" charset="0"/>
                  <a:cs typeface="Arial" panose="020B0604020202020204" pitchFamily="34" charset="0"/>
                </a:rPr>
                <a:t>SCALABLE</a:t>
              </a:r>
            </a:p>
          </p:txBody>
        </p:sp>
        <p:sp>
          <p:nvSpPr>
            <p:cNvPr id="59" name="TextBox 191">
              <a:extLst>
                <a:ext uri="{FF2B5EF4-FFF2-40B4-BE49-F238E27FC236}">
                  <a16:creationId xmlns:a16="http://schemas.microsoft.com/office/drawing/2014/main" id="{D97D943C-7E87-9A2A-37AA-FE4408F2A084}"/>
                </a:ext>
              </a:extLst>
            </p:cNvPr>
            <p:cNvSpPr txBox="1"/>
            <p:nvPr/>
          </p:nvSpPr>
          <p:spPr>
            <a:xfrm>
              <a:off x="9454894" y="4248780"/>
              <a:ext cx="1405770" cy="515847"/>
            </a:xfrm>
            <a:prstGeom prst="rect">
              <a:avLst/>
            </a:prstGeom>
            <a:noFill/>
          </p:spPr>
          <p:txBody>
            <a:bodyPr wrap="square" lIns="0" tIns="0" rIns="0" bIns="0" anchor="t">
              <a:spAutoFit/>
            </a:bodyPr>
            <a:lstStyle/>
            <a:p>
              <a:pPr algn="l">
                <a:lnSpc>
                  <a:spcPct val="115000"/>
                </a:lnSpc>
                <a:spcBef>
                  <a:spcPts val="0"/>
                </a:spcBef>
                <a:spcAft>
                  <a:spcPts val="0"/>
                </a:spcAft>
              </a:pPr>
              <a:r>
                <a:rPr lang="en-US" sz="1000" b="0" i="1" noProof="0">
                  <a:solidFill>
                    <a:srgbClr val="E8EEF5"/>
                  </a:solidFill>
                  <a:latin typeface="Arial" panose="020B0604020202020204" pitchFamily="34" charset="0"/>
                  <a:cs typeface="Arial" panose="020B0604020202020204" pitchFamily="34" charset="0"/>
                </a:rPr>
                <a:t>Mature and scalable — import to Target Operating Model</a:t>
              </a:r>
            </a:p>
          </p:txBody>
        </p:sp>
      </p:grpSp>
      <p:grpSp>
        <p:nvGrpSpPr>
          <p:cNvPr id="14" name="Group 13">
            <a:extLst>
              <a:ext uri="{FF2B5EF4-FFF2-40B4-BE49-F238E27FC236}">
                <a16:creationId xmlns:a16="http://schemas.microsoft.com/office/drawing/2014/main" id="{046EEC61-B2E2-9E9E-4A84-BDA36C833F6A}"/>
              </a:ext>
            </a:extLst>
          </p:cNvPr>
          <p:cNvGrpSpPr/>
          <p:nvPr/>
        </p:nvGrpSpPr>
        <p:grpSpPr>
          <a:xfrm>
            <a:off x="659127" y="2015655"/>
            <a:ext cx="10934699" cy="1341608"/>
            <a:chOff x="938637" y="2032880"/>
            <a:chExt cx="10204703" cy="1341608"/>
          </a:xfrm>
        </p:grpSpPr>
        <p:sp>
          <p:nvSpPr>
            <p:cNvPr id="60" name="Rectangle 192">
              <a:extLst>
                <a:ext uri="{FF2B5EF4-FFF2-40B4-BE49-F238E27FC236}">
                  <a16:creationId xmlns:a16="http://schemas.microsoft.com/office/drawing/2014/main" id="{C7D3B0C0-057C-B119-E914-474322A49315}"/>
                </a:ext>
              </a:extLst>
            </p:cNvPr>
            <p:cNvSpPr/>
            <p:nvPr/>
          </p:nvSpPr>
          <p:spPr>
            <a:xfrm>
              <a:off x="938637" y="2032880"/>
              <a:ext cx="1953158" cy="1341608"/>
            </a:xfrm>
            <a:prstGeom prst="rect">
              <a:avLst/>
            </a:prstGeom>
            <a:solidFill>
              <a:srgbClr val="FFFFFF"/>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61" name="Rectangle 193">
              <a:extLst>
                <a:ext uri="{FF2B5EF4-FFF2-40B4-BE49-F238E27FC236}">
                  <a16:creationId xmlns:a16="http://schemas.microsoft.com/office/drawing/2014/main" id="{A3C6ED98-636C-5555-0C72-8F2DA5C8EA77}"/>
                </a:ext>
              </a:extLst>
            </p:cNvPr>
            <p:cNvSpPr/>
            <p:nvPr/>
          </p:nvSpPr>
          <p:spPr>
            <a:xfrm>
              <a:off x="938637" y="2032880"/>
              <a:ext cx="1953158" cy="20116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62" name="TextBox 194">
              <a:extLst>
                <a:ext uri="{FF2B5EF4-FFF2-40B4-BE49-F238E27FC236}">
                  <a16:creationId xmlns:a16="http://schemas.microsoft.com/office/drawing/2014/main" id="{1424D3C3-EA29-9047-D1DE-AE299B164F65}"/>
                </a:ext>
              </a:extLst>
            </p:cNvPr>
            <p:cNvSpPr txBox="1"/>
            <p:nvPr/>
          </p:nvSpPr>
          <p:spPr>
            <a:xfrm>
              <a:off x="1030077" y="2051168"/>
              <a:ext cx="1770278" cy="170047"/>
            </a:xfrm>
            <a:prstGeom prst="rect">
              <a:avLst/>
            </a:prstGeom>
            <a:noFill/>
          </p:spPr>
          <p:txBody>
            <a:bodyPr wrap="square" lIns="0" tIns="0" rIns="0" bIns="0" anchor="t">
              <a:spAutoFit/>
            </a:bodyPr>
            <a:lstStyle/>
            <a:p>
              <a:pPr algn="l">
                <a:lnSpc>
                  <a:spcPct val="115000"/>
                </a:lnSpc>
                <a:spcBef>
                  <a:spcPts val="0"/>
                </a:spcBef>
                <a:spcAft>
                  <a:spcPts val="0"/>
                </a:spcAft>
              </a:pPr>
              <a:r>
                <a:rPr lang="en-US" sz="1050" b="1" i="0" noProof="0">
                  <a:solidFill>
                    <a:srgbClr val="FFFFFF"/>
                  </a:solidFill>
                  <a:latin typeface="Arial" panose="020B0604020202020204" pitchFamily="34" charset="0"/>
                  <a:cs typeface="Arial" panose="020B0604020202020204" pitchFamily="34" charset="0"/>
                </a:rPr>
                <a:t>01 INTAKE</a:t>
              </a:r>
            </a:p>
          </p:txBody>
        </p:sp>
        <p:sp>
          <p:nvSpPr>
            <p:cNvPr id="63" name="TextBox 195">
              <a:extLst>
                <a:ext uri="{FF2B5EF4-FFF2-40B4-BE49-F238E27FC236}">
                  <a16:creationId xmlns:a16="http://schemas.microsoft.com/office/drawing/2014/main" id="{DB83535E-DF45-E33A-D1CC-9C3C0B9A68D5}"/>
                </a:ext>
              </a:extLst>
            </p:cNvPr>
            <p:cNvSpPr txBox="1"/>
            <p:nvPr/>
          </p:nvSpPr>
          <p:spPr>
            <a:xfrm>
              <a:off x="1030077" y="2279768"/>
              <a:ext cx="1770278" cy="161904"/>
            </a:xfrm>
            <a:prstGeom prst="rect">
              <a:avLst/>
            </a:prstGeom>
            <a:noFill/>
          </p:spPr>
          <p:txBody>
            <a:bodyPr wrap="square" lIns="0" tIns="0" rIns="0" bIns="0" anchor="t">
              <a:spAutoFit/>
            </a:bodyPr>
            <a:lstStyle/>
            <a:p>
              <a:pPr algn="l">
                <a:lnSpc>
                  <a:spcPct val="115000"/>
                </a:lnSpc>
                <a:spcBef>
                  <a:spcPts val="0"/>
                </a:spcBef>
                <a:spcAft>
                  <a:spcPts val="0"/>
                </a:spcAft>
              </a:pPr>
              <a:r>
                <a:rPr lang="en-US" sz="1000" b="0" i="1" noProof="0">
                  <a:solidFill>
                    <a:srgbClr val="2E75B6"/>
                  </a:solidFill>
                  <a:latin typeface="Arial" panose="020B0604020202020204" pitchFamily="34" charset="0"/>
                  <a:cs typeface="Arial" panose="020B0604020202020204" pitchFamily="34" charset="0"/>
                </a:rPr>
                <a:t>Channels · Sources</a:t>
              </a:r>
            </a:p>
          </p:txBody>
        </p:sp>
        <p:sp>
          <p:nvSpPr>
            <p:cNvPr id="128" name="TextBox 196">
              <a:extLst>
                <a:ext uri="{FF2B5EF4-FFF2-40B4-BE49-F238E27FC236}">
                  <a16:creationId xmlns:a16="http://schemas.microsoft.com/office/drawing/2014/main" id="{7CC3E75A-4F93-AC32-D518-81DAD86A7F5E}"/>
                </a:ext>
              </a:extLst>
            </p:cNvPr>
            <p:cNvSpPr txBox="1"/>
            <p:nvPr/>
          </p:nvSpPr>
          <p:spPr>
            <a:xfrm>
              <a:off x="1030077" y="2471792"/>
              <a:ext cx="1770278" cy="727507"/>
            </a:xfrm>
            <a:prstGeom prst="rect">
              <a:avLst/>
            </a:prstGeom>
            <a:noFill/>
          </p:spPr>
          <p:txBody>
            <a:bodyPr wrap="square" lIns="0" tIns="0" rIns="0" bIns="0" anchor="t">
              <a:spAutoFit/>
            </a:bodyPr>
            <a:lstStyle/>
            <a:p>
              <a:pPr algn="l">
                <a:lnSpc>
                  <a:spcPct val="115000"/>
                </a:lnSpc>
                <a:spcBef>
                  <a:spcPts val="0"/>
                </a:spcBef>
                <a:spcAft>
                  <a:spcPts val="0"/>
                </a:spcAft>
              </a:pPr>
              <a:r>
                <a:rPr lang="en-US" sz="1050" b="0" i="0" noProof="0">
                  <a:solidFill>
                    <a:srgbClr val="1A1A1A"/>
                  </a:solidFill>
                  <a:latin typeface="Arial" panose="020B0604020202020204" pitchFamily="34" charset="0"/>
                  <a:cs typeface="Arial" panose="020B0604020202020204" pitchFamily="34" charset="0"/>
                </a:rPr>
                <a:t>How work arrives today: Jira, IT Now, Email, SharePoint, Word. Who submits, how often, what type.</a:t>
              </a:r>
            </a:p>
          </p:txBody>
        </p:sp>
        <p:sp>
          <p:nvSpPr>
            <p:cNvPr id="129" name="Rectangle 197">
              <a:extLst>
                <a:ext uri="{FF2B5EF4-FFF2-40B4-BE49-F238E27FC236}">
                  <a16:creationId xmlns:a16="http://schemas.microsoft.com/office/drawing/2014/main" id="{ACE4E282-1C81-62EB-78B5-A889121F4BA5}"/>
                </a:ext>
              </a:extLst>
            </p:cNvPr>
            <p:cNvSpPr/>
            <p:nvPr/>
          </p:nvSpPr>
          <p:spPr>
            <a:xfrm>
              <a:off x="3001523" y="2032880"/>
              <a:ext cx="1953158" cy="1341608"/>
            </a:xfrm>
            <a:prstGeom prst="rect">
              <a:avLst/>
            </a:prstGeom>
            <a:solidFill>
              <a:srgbClr val="FFFFFF"/>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130" name="Rectangle 198">
              <a:extLst>
                <a:ext uri="{FF2B5EF4-FFF2-40B4-BE49-F238E27FC236}">
                  <a16:creationId xmlns:a16="http://schemas.microsoft.com/office/drawing/2014/main" id="{7CBE922C-9A77-4907-37C6-F23A206009A1}"/>
                </a:ext>
              </a:extLst>
            </p:cNvPr>
            <p:cNvSpPr/>
            <p:nvPr/>
          </p:nvSpPr>
          <p:spPr>
            <a:xfrm>
              <a:off x="3001523" y="2032880"/>
              <a:ext cx="1953158" cy="20116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131" name="TextBox 199">
              <a:extLst>
                <a:ext uri="{FF2B5EF4-FFF2-40B4-BE49-F238E27FC236}">
                  <a16:creationId xmlns:a16="http://schemas.microsoft.com/office/drawing/2014/main" id="{31677D87-B4B8-D24B-79E1-3CAE77D244D9}"/>
                </a:ext>
              </a:extLst>
            </p:cNvPr>
            <p:cNvSpPr txBox="1"/>
            <p:nvPr/>
          </p:nvSpPr>
          <p:spPr>
            <a:xfrm>
              <a:off x="3092963" y="2051168"/>
              <a:ext cx="1770278" cy="170047"/>
            </a:xfrm>
            <a:prstGeom prst="rect">
              <a:avLst/>
            </a:prstGeom>
            <a:noFill/>
          </p:spPr>
          <p:txBody>
            <a:bodyPr wrap="square" lIns="0" tIns="0" rIns="0" bIns="0" anchor="t">
              <a:spAutoFit/>
            </a:bodyPr>
            <a:lstStyle/>
            <a:p>
              <a:pPr algn="l">
                <a:lnSpc>
                  <a:spcPct val="115000"/>
                </a:lnSpc>
                <a:spcBef>
                  <a:spcPts val="0"/>
                </a:spcBef>
                <a:spcAft>
                  <a:spcPts val="0"/>
                </a:spcAft>
              </a:pPr>
              <a:r>
                <a:rPr lang="en-US" sz="1050" b="1" i="0" noProof="0">
                  <a:solidFill>
                    <a:srgbClr val="FFFFFF"/>
                  </a:solidFill>
                  <a:latin typeface="Arial" panose="020B0604020202020204" pitchFamily="34" charset="0"/>
                  <a:cs typeface="Arial" panose="020B0604020202020204" pitchFamily="34" charset="0"/>
                </a:rPr>
                <a:t>02 CLASSIFICATION</a:t>
              </a:r>
            </a:p>
          </p:txBody>
        </p:sp>
        <p:sp>
          <p:nvSpPr>
            <p:cNvPr id="132" name="TextBox 200">
              <a:extLst>
                <a:ext uri="{FF2B5EF4-FFF2-40B4-BE49-F238E27FC236}">
                  <a16:creationId xmlns:a16="http://schemas.microsoft.com/office/drawing/2014/main" id="{563EC7A1-B780-24FB-614F-C67B2E1DE9FD}"/>
                </a:ext>
              </a:extLst>
            </p:cNvPr>
            <p:cNvSpPr txBox="1"/>
            <p:nvPr/>
          </p:nvSpPr>
          <p:spPr>
            <a:xfrm>
              <a:off x="3092963" y="2279768"/>
              <a:ext cx="1770278" cy="161904"/>
            </a:xfrm>
            <a:prstGeom prst="rect">
              <a:avLst/>
            </a:prstGeom>
            <a:noFill/>
          </p:spPr>
          <p:txBody>
            <a:bodyPr wrap="square" lIns="0" tIns="0" rIns="0" bIns="0" anchor="t">
              <a:spAutoFit/>
            </a:bodyPr>
            <a:lstStyle/>
            <a:p>
              <a:pPr algn="l">
                <a:lnSpc>
                  <a:spcPct val="115000"/>
                </a:lnSpc>
                <a:spcBef>
                  <a:spcPts val="0"/>
                </a:spcBef>
                <a:spcAft>
                  <a:spcPts val="0"/>
                </a:spcAft>
              </a:pPr>
              <a:r>
                <a:rPr lang="en-US" sz="1000" b="0" i="1" noProof="0">
                  <a:solidFill>
                    <a:srgbClr val="2E75B6"/>
                  </a:solidFill>
                  <a:latin typeface="Arial" panose="020B0604020202020204" pitchFamily="34" charset="0"/>
                  <a:cs typeface="Arial" panose="020B0604020202020204" pitchFamily="34" charset="0"/>
                </a:rPr>
                <a:t>Type · Size · Urgency</a:t>
              </a:r>
            </a:p>
          </p:txBody>
        </p:sp>
        <p:sp>
          <p:nvSpPr>
            <p:cNvPr id="133" name="TextBox 201">
              <a:extLst>
                <a:ext uri="{FF2B5EF4-FFF2-40B4-BE49-F238E27FC236}">
                  <a16:creationId xmlns:a16="http://schemas.microsoft.com/office/drawing/2014/main" id="{E314CA28-A6F5-DE86-90DA-BEC622F0FEB4}"/>
                </a:ext>
              </a:extLst>
            </p:cNvPr>
            <p:cNvSpPr txBox="1"/>
            <p:nvPr/>
          </p:nvSpPr>
          <p:spPr>
            <a:xfrm>
              <a:off x="3092963" y="2471792"/>
              <a:ext cx="1770278" cy="727507"/>
            </a:xfrm>
            <a:prstGeom prst="rect">
              <a:avLst/>
            </a:prstGeom>
            <a:noFill/>
          </p:spPr>
          <p:txBody>
            <a:bodyPr wrap="square" lIns="0" tIns="0" rIns="0" bIns="0" anchor="t">
              <a:spAutoFit/>
            </a:bodyPr>
            <a:lstStyle/>
            <a:p>
              <a:pPr algn="l">
                <a:lnSpc>
                  <a:spcPct val="115000"/>
                </a:lnSpc>
                <a:spcBef>
                  <a:spcPts val="0"/>
                </a:spcBef>
                <a:spcAft>
                  <a:spcPts val="0"/>
                </a:spcAft>
              </a:pPr>
              <a:r>
                <a:rPr lang="en-US" sz="1050" b="0" i="0" noProof="0">
                  <a:solidFill>
                    <a:srgbClr val="1A1A1A"/>
                  </a:solidFill>
                  <a:latin typeface="Arial" panose="020B0604020202020204" pitchFamily="34" charset="0"/>
                  <a:cs typeface="Arial" panose="020B0604020202020204" pitchFamily="34" charset="0"/>
                </a:rPr>
                <a:t>How requests are categorized: small vs. large, regulatory flags, acceptance criteria.</a:t>
              </a:r>
            </a:p>
          </p:txBody>
        </p:sp>
        <p:sp>
          <p:nvSpPr>
            <p:cNvPr id="134" name="Rectangle 202">
              <a:extLst>
                <a:ext uri="{FF2B5EF4-FFF2-40B4-BE49-F238E27FC236}">
                  <a16:creationId xmlns:a16="http://schemas.microsoft.com/office/drawing/2014/main" id="{C700F7EE-1D1A-3DB8-3310-16D584E41078}"/>
                </a:ext>
              </a:extLst>
            </p:cNvPr>
            <p:cNvSpPr/>
            <p:nvPr/>
          </p:nvSpPr>
          <p:spPr>
            <a:xfrm>
              <a:off x="5064409" y="2032880"/>
              <a:ext cx="1953158" cy="1341608"/>
            </a:xfrm>
            <a:prstGeom prst="rect">
              <a:avLst/>
            </a:prstGeom>
            <a:solidFill>
              <a:srgbClr val="FFFFFF"/>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135" name="Rectangle 203">
              <a:extLst>
                <a:ext uri="{FF2B5EF4-FFF2-40B4-BE49-F238E27FC236}">
                  <a16:creationId xmlns:a16="http://schemas.microsoft.com/office/drawing/2014/main" id="{7B1A375D-93B5-FDA5-A52F-7292746938CE}"/>
                </a:ext>
              </a:extLst>
            </p:cNvPr>
            <p:cNvSpPr/>
            <p:nvPr/>
          </p:nvSpPr>
          <p:spPr>
            <a:xfrm>
              <a:off x="5064409" y="2032880"/>
              <a:ext cx="1953158" cy="20116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136" name="TextBox 204">
              <a:extLst>
                <a:ext uri="{FF2B5EF4-FFF2-40B4-BE49-F238E27FC236}">
                  <a16:creationId xmlns:a16="http://schemas.microsoft.com/office/drawing/2014/main" id="{3F971F2F-3DE5-4B43-43A8-A6CF008705DA}"/>
                </a:ext>
              </a:extLst>
            </p:cNvPr>
            <p:cNvSpPr txBox="1"/>
            <p:nvPr/>
          </p:nvSpPr>
          <p:spPr>
            <a:xfrm>
              <a:off x="5155849" y="2051168"/>
              <a:ext cx="1770278" cy="170047"/>
            </a:xfrm>
            <a:prstGeom prst="rect">
              <a:avLst/>
            </a:prstGeom>
            <a:noFill/>
          </p:spPr>
          <p:txBody>
            <a:bodyPr wrap="square" lIns="0" tIns="0" rIns="0" bIns="0" anchor="t">
              <a:spAutoFit/>
            </a:bodyPr>
            <a:lstStyle/>
            <a:p>
              <a:pPr algn="l">
                <a:lnSpc>
                  <a:spcPct val="115000"/>
                </a:lnSpc>
                <a:spcBef>
                  <a:spcPts val="0"/>
                </a:spcBef>
                <a:spcAft>
                  <a:spcPts val="0"/>
                </a:spcAft>
              </a:pPr>
              <a:r>
                <a:rPr lang="en-US" sz="1050" b="1" i="0" noProof="0">
                  <a:solidFill>
                    <a:srgbClr val="FFFFFF"/>
                  </a:solidFill>
                  <a:latin typeface="Arial" panose="020B0604020202020204" pitchFamily="34" charset="0"/>
                  <a:cs typeface="Arial" panose="020B0604020202020204" pitchFamily="34" charset="0"/>
                </a:rPr>
                <a:t>03 PRIORITIZATION</a:t>
              </a:r>
            </a:p>
          </p:txBody>
        </p:sp>
        <p:sp>
          <p:nvSpPr>
            <p:cNvPr id="137" name="TextBox 205">
              <a:extLst>
                <a:ext uri="{FF2B5EF4-FFF2-40B4-BE49-F238E27FC236}">
                  <a16:creationId xmlns:a16="http://schemas.microsoft.com/office/drawing/2014/main" id="{7298E5FE-55AC-3F72-CD49-582F6A53BAF1}"/>
                </a:ext>
              </a:extLst>
            </p:cNvPr>
            <p:cNvSpPr txBox="1"/>
            <p:nvPr/>
          </p:nvSpPr>
          <p:spPr>
            <a:xfrm>
              <a:off x="5155849" y="2279768"/>
              <a:ext cx="1770278" cy="161904"/>
            </a:xfrm>
            <a:prstGeom prst="rect">
              <a:avLst/>
            </a:prstGeom>
            <a:noFill/>
          </p:spPr>
          <p:txBody>
            <a:bodyPr wrap="square" lIns="0" tIns="0" rIns="0" bIns="0" anchor="t">
              <a:spAutoFit/>
            </a:bodyPr>
            <a:lstStyle/>
            <a:p>
              <a:pPr algn="l">
                <a:lnSpc>
                  <a:spcPct val="115000"/>
                </a:lnSpc>
                <a:spcBef>
                  <a:spcPts val="0"/>
                </a:spcBef>
                <a:spcAft>
                  <a:spcPts val="0"/>
                </a:spcAft>
              </a:pPr>
              <a:r>
                <a:rPr lang="en-US" sz="1000" b="0" i="1" noProof="0">
                  <a:solidFill>
                    <a:srgbClr val="2E75B6"/>
                  </a:solidFill>
                  <a:latin typeface="Arial" panose="020B0604020202020204" pitchFamily="34" charset="0"/>
                  <a:cs typeface="Arial" panose="020B0604020202020204" pitchFamily="34" charset="0"/>
                </a:rPr>
                <a:t>Scoring · Criteria</a:t>
              </a:r>
            </a:p>
          </p:txBody>
        </p:sp>
        <p:sp>
          <p:nvSpPr>
            <p:cNvPr id="138" name="TextBox 206">
              <a:extLst>
                <a:ext uri="{FF2B5EF4-FFF2-40B4-BE49-F238E27FC236}">
                  <a16:creationId xmlns:a16="http://schemas.microsoft.com/office/drawing/2014/main" id="{C6B788EE-71F9-CF9A-939E-72158C30F7AA}"/>
                </a:ext>
              </a:extLst>
            </p:cNvPr>
            <p:cNvSpPr txBox="1"/>
            <p:nvPr/>
          </p:nvSpPr>
          <p:spPr>
            <a:xfrm>
              <a:off x="5155849" y="2471792"/>
              <a:ext cx="1770278" cy="541687"/>
            </a:xfrm>
            <a:prstGeom prst="rect">
              <a:avLst/>
            </a:prstGeom>
            <a:noFill/>
          </p:spPr>
          <p:txBody>
            <a:bodyPr wrap="square" lIns="0" tIns="0" rIns="0" bIns="0" anchor="t">
              <a:spAutoFit/>
            </a:bodyPr>
            <a:lstStyle/>
            <a:p>
              <a:pPr algn="l">
                <a:lnSpc>
                  <a:spcPct val="115000"/>
                </a:lnSpc>
                <a:spcBef>
                  <a:spcPts val="0"/>
                </a:spcBef>
                <a:spcAft>
                  <a:spcPts val="0"/>
                </a:spcAft>
              </a:pPr>
              <a:r>
                <a:rPr lang="en-US" sz="1050" b="0" i="0" noProof="0">
                  <a:solidFill>
                    <a:srgbClr val="1A1A1A"/>
                  </a:solidFill>
                  <a:latin typeface="Arial" panose="020B0604020202020204" pitchFamily="34" charset="0"/>
                  <a:cs typeface="Arial" panose="020B0604020202020204" pitchFamily="34" charset="0"/>
                </a:rPr>
                <a:t>How work is ranked: who decides, which criteria apply, how conflicts are resolved.</a:t>
              </a:r>
            </a:p>
          </p:txBody>
        </p:sp>
        <p:sp>
          <p:nvSpPr>
            <p:cNvPr id="139" name="Rectangle 207">
              <a:extLst>
                <a:ext uri="{FF2B5EF4-FFF2-40B4-BE49-F238E27FC236}">
                  <a16:creationId xmlns:a16="http://schemas.microsoft.com/office/drawing/2014/main" id="{18121474-CC38-402B-3138-FBB66F150840}"/>
                </a:ext>
              </a:extLst>
            </p:cNvPr>
            <p:cNvSpPr/>
            <p:nvPr/>
          </p:nvSpPr>
          <p:spPr>
            <a:xfrm>
              <a:off x="7127296" y="2032880"/>
              <a:ext cx="1953158" cy="1341608"/>
            </a:xfrm>
            <a:prstGeom prst="rect">
              <a:avLst/>
            </a:prstGeom>
            <a:solidFill>
              <a:srgbClr val="FFFFFF"/>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140" name="Rectangle 208">
              <a:extLst>
                <a:ext uri="{FF2B5EF4-FFF2-40B4-BE49-F238E27FC236}">
                  <a16:creationId xmlns:a16="http://schemas.microsoft.com/office/drawing/2014/main" id="{C6CF19F5-4CED-781D-00C9-1674A845AFD8}"/>
                </a:ext>
              </a:extLst>
            </p:cNvPr>
            <p:cNvSpPr/>
            <p:nvPr/>
          </p:nvSpPr>
          <p:spPr>
            <a:xfrm>
              <a:off x="7127296" y="2032880"/>
              <a:ext cx="1953158" cy="20116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141" name="TextBox 209">
              <a:extLst>
                <a:ext uri="{FF2B5EF4-FFF2-40B4-BE49-F238E27FC236}">
                  <a16:creationId xmlns:a16="http://schemas.microsoft.com/office/drawing/2014/main" id="{DD2F6B75-210B-8890-2AF2-50D033157085}"/>
                </a:ext>
              </a:extLst>
            </p:cNvPr>
            <p:cNvSpPr txBox="1"/>
            <p:nvPr/>
          </p:nvSpPr>
          <p:spPr>
            <a:xfrm>
              <a:off x="7218736" y="2051168"/>
              <a:ext cx="1770278" cy="170047"/>
            </a:xfrm>
            <a:prstGeom prst="rect">
              <a:avLst/>
            </a:prstGeom>
            <a:noFill/>
          </p:spPr>
          <p:txBody>
            <a:bodyPr wrap="square" lIns="0" tIns="0" rIns="0" bIns="0" anchor="t">
              <a:spAutoFit/>
            </a:bodyPr>
            <a:lstStyle/>
            <a:p>
              <a:pPr algn="l">
                <a:lnSpc>
                  <a:spcPct val="115000"/>
                </a:lnSpc>
                <a:spcBef>
                  <a:spcPts val="0"/>
                </a:spcBef>
                <a:spcAft>
                  <a:spcPts val="0"/>
                </a:spcAft>
              </a:pPr>
              <a:r>
                <a:rPr lang="en-US" sz="1050" b="1" i="0" noProof="0">
                  <a:solidFill>
                    <a:srgbClr val="FFFFFF"/>
                  </a:solidFill>
                  <a:latin typeface="Arial" panose="020B0604020202020204" pitchFamily="34" charset="0"/>
                  <a:cs typeface="Arial" panose="020B0604020202020204" pitchFamily="34" charset="0"/>
                </a:rPr>
                <a:t>04 PORTFOLIO</a:t>
              </a:r>
            </a:p>
          </p:txBody>
        </p:sp>
        <p:sp>
          <p:nvSpPr>
            <p:cNvPr id="142" name="TextBox 210">
              <a:extLst>
                <a:ext uri="{FF2B5EF4-FFF2-40B4-BE49-F238E27FC236}">
                  <a16:creationId xmlns:a16="http://schemas.microsoft.com/office/drawing/2014/main" id="{FB0221C1-0495-71D4-9717-782D7852F7EF}"/>
                </a:ext>
              </a:extLst>
            </p:cNvPr>
            <p:cNvSpPr txBox="1"/>
            <p:nvPr/>
          </p:nvSpPr>
          <p:spPr>
            <a:xfrm>
              <a:off x="7218736" y="2279768"/>
              <a:ext cx="1770278" cy="161904"/>
            </a:xfrm>
            <a:prstGeom prst="rect">
              <a:avLst/>
            </a:prstGeom>
            <a:noFill/>
          </p:spPr>
          <p:txBody>
            <a:bodyPr wrap="square" lIns="0" tIns="0" rIns="0" bIns="0" anchor="t">
              <a:spAutoFit/>
            </a:bodyPr>
            <a:lstStyle/>
            <a:p>
              <a:pPr algn="l">
                <a:lnSpc>
                  <a:spcPct val="115000"/>
                </a:lnSpc>
                <a:spcBef>
                  <a:spcPts val="0"/>
                </a:spcBef>
                <a:spcAft>
                  <a:spcPts val="0"/>
                </a:spcAft>
              </a:pPr>
              <a:r>
                <a:rPr lang="en-US" sz="1000" b="0" i="1" noProof="0">
                  <a:solidFill>
                    <a:srgbClr val="2E75B6"/>
                  </a:solidFill>
                  <a:latin typeface="Arial" panose="020B0604020202020204" pitchFamily="34" charset="0"/>
                  <a:cs typeface="Arial" panose="020B0604020202020204" pitchFamily="34" charset="0"/>
                </a:rPr>
                <a:t>Governance · Decision</a:t>
              </a:r>
            </a:p>
          </p:txBody>
        </p:sp>
        <p:sp>
          <p:nvSpPr>
            <p:cNvPr id="143" name="TextBox 211">
              <a:extLst>
                <a:ext uri="{FF2B5EF4-FFF2-40B4-BE49-F238E27FC236}">
                  <a16:creationId xmlns:a16="http://schemas.microsoft.com/office/drawing/2014/main" id="{13579241-6AD2-DAFF-D71E-1D8514E00998}"/>
                </a:ext>
              </a:extLst>
            </p:cNvPr>
            <p:cNvSpPr txBox="1"/>
            <p:nvPr/>
          </p:nvSpPr>
          <p:spPr>
            <a:xfrm>
              <a:off x="7218736" y="2471792"/>
              <a:ext cx="1770278" cy="727507"/>
            </a:xfrm>
            <a:prstGeom prst="rect">
              <a:avLst/>
            </a:prstGeom>
            <a:noFill/>
          </p:spPr>
          <p:txBody>
            <a:bodyPr wrap="square" lIns="0" tIns="0" rIns="0" bIns="0" anchor="t">
              <a:spAutoFit/>
            </a:bodyPr>
            <a:lstStyle/>
            <a:p>
              <a:pPr algn="l">
                <a:lnSpc>
                  <a:spcPct val="115000"/>
                </a:lnSpc>
                <a:spcBef>
                  <a:spcPts val="0"/>
                </a:spcBef>
                <a:spcAft>
                  <a:spcPts val="0"/>
                </a:spcAft>
              </a:pPr>
              <a:r>
                <a:rPr lang="en-US" sz="1050" b="0" i="0" noProof="0">
                  <a:solidFill>
                    <a:srgbClr val="1A1A1A"/>
                  </a:solidFill>
                  <a:latin typeface="Arial" panose="020B0604020202020204" pitchFamily="34" charset="0"/>
                  <a:cs typeface="Arial" panose="020B0604020202020204" pitchFamily="34" charset="0"/>
                </a:rPr>
                <a:t>Where initiatives live: PDD approval, portfolio tool, funding model, steering forums.</a:t>
              </a:r>
            </a:p>
          </p:txBody>
        </p:sp>
        <p:sp>
          <p:nvSpPr>
            <p:cNvPr id="144" name="Rectangle 212">
              <a:extLst>
                <a:ext uri="{FF2B5EF4-FFF2-40B4-BE49-F238E27FC236}">
                  <a16:creationId xmlns:a16="http://schemas.microsoft.com/office/drawing/2014/main" id="{C34B7DB7-DB72-DF5E-0888-8C93221E539C}"/>
                </a:ext>
              </a:extLst>
            </p:cNvPr>
            <p:cNvSpPr/>
            <p:nvPr/>
          </p:nvSpPr>
          <p:spPr>
            <a:xfrm>
              <a:off x="9190182" y="2032880"/>
              <a:ext cx="1953158" cy="1341608"/>
            </a:xfrm>
            <a:prstGeom prst="rect">
              <a:avLst/>
            </a:prstGeom>
            <a:solidFill>
              <a:srgbClr val="FFFFFF"/>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145" name="Rectangle 213">
              <a:extLst>
                <a:ext uri="{FF2B5EF4-FFF2-40B4-BE49-F238E27FC236}">
                  <a16:creationId xmlns:a16="http://schemas.microsoft.com/office/drawing/2014/main" id="{BF55A183-6837-03B9-8361-913DE219D7F0}"/>
                </a:ext>
              </a:extLst>
            </p:cNvPr>
            <p:cNvSpPr/>
            <p:nvPr/>
          </p:nvSpPr>
          <p:spPr>
            <a:xfrm>
              <a:off x="9190182" y="2032880"/>
              <a:ext cx="1953158" cy="20116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146" name="TextBox 214">
              <a:extLst>
                <a:ext uri="{FF2B5EF4-FFF2-40B4-BE49-F238E27FC236}">
                  <a16:creationId xmlns:a16="http://schemas.microsoft.com/office/drawing/2014/main" id="{32F0990B-2A98-359C-867B-88D2AD549CFC}"/>
                </a:ext>
              </a:extLst>
            </p:cNvPr>
            <p:cNvSpPr txBox="1"/>
            <p:nvPr/>
          </p:nvSpPr>
          <p:spPr>
            <a:xfrm>
              <a:off x="9281622" y="2051168"/>
              <a:ext cx="1770278" cy="170047"/>
            </a:xfrm>
            <a:prstGeom prst="rect">
              <a:avLst/>
            </a:prstGeom>
            <a:noFill/>
          </p:spPr>
          <p:txBody>
            <a:bodyPr wrap="square" lIns="0" tIns="0" rIns="0" bIns="0" anchor="t">
              <a:spAutoFit/>
            </a:bodyPr>
            <a:lstStyle/>
            <a:p>
              <a:pPr algn="l">
                <a:lnSpc>
                  <a:spcPct val="115000"/>
                </a:lnSpc>
                <a:spcBef>
                  <a:spcPts val="0"/>
                </a:spcBef>
                <a:spcAft>
                  <a:spcPts val="0"/>
                </a:spcAft>
              </a:pPr>
              <a:r>
                <a:rPr lang="en-US" sz="1050" b="1" i="0" noProof="0">
                  <a:solidFill>
                    <a:srgbClr val="FFFFFF"/>
                  </a:solidFill>
                  <a:latin typeface="Arial" panose="020B0604020202020204" pitchFamily="34" charset="0"/>
                  <a:cs typeface="Arial" panose="020B0604020202020204" pitchFamily="34" charset="0"/>
                </a:rPr>
                <a:t>05 DELIVERY</a:t>
              </a:r>
            </a:p>
          </p:txBody>
        </p:sp>
        <p:sp>
          <p:nvSpPr>
            <p:cNvPr id="147" name="TextBox 215">
              <a:extLst>
                <a:ext uri="{FF2B5EF4-FFF2-40B4-BE49-F238E27FC236}">
                  <a16:creationId xmlns:a16="http://schemas.microsoft.com/office/drawing/2014/main" id="{E7AB408E-9A00-9155-C41A-7A56B0D15D9F}"/>
                </a:ext>
              </a:extLst>
            </p:cNvPr>
            <p:cNvSpPr txBox="1"/>
            <p:nvPr/>
          </p:nvSpPr>
          <p:spPr>
            <a:xfrm>
              <a:off x="9281622" y="2279768"/>
              <a:ext cx="1770278" cy="161904"/>
            </a:xfrm>
            <a:prstGeom prst="rect">
              <a:avLst/>
            </a:prstGeom>
            <a:noFill/>
          </p:spPr>
          <p:txBody>
            <a:bodyPr wrap="square" lIns="0" tIns="0" rIns="0" bIns="0" anchor="t">
              <a:spAutoFit/>
            </a:bodyPr>
            <a:lstStyle/>
            <a:p>
              <a:pPr algn="l">
                <a:lnSpc>
                  <a:spcPct val="115000"/>
                </a:lnSpc>
                <a:spcBef>
                  <a:spcPts val="0"/>
                </a:spcBef>
                <a:spcAft>
                  <a:spcPts val="0"/>
                </a:spcAft>
              </a:pPr>
              <a:r>
                <a:rPr lang="en-US" sz="1000" b="0" i="1" noProof="0">
                  <a:solidFill>
                    <a:srgbClr val="2E75B6"/>
                  </a:solidFill>
                  <a:latin typeface="Arial" panose="020B0604020202020204" pitchFamily="34" charset="0"/>
                  <a:cs typeface="Arial" panose="020B0604020202020204" pitchFamily="34" charset="0"/>
                </a:rPr>
                <a:t>Execution · Flow</a:t>
              </a:r>
            </a:p>
          </p:txBody>
        </p:sp>
        <p:sp>
          <p:nvSpPr>
            <p:cNvPr id="148" name="TextBox 216">
              <a:extLst>
                <a:ext uri="{FF2B5EF4-FFF2-40B4-BE49-F238E27FC236}">
                  <a16:creationId xmlns:a16="http://schemas.microsoft.com/office/drawing/2014/main" id="{EEE44B6C-6D29-1D47-0AAB-81A90784F761}"/>
                </a:ext>
              </a:extLst>
            </p:cNvPr>
            <p:cNvSpPr txBox="1"/>
            <p:nvPr/>
          </p:nvSpPr>
          <p:spPr>
            <a:xfrm>
              <a:off x="9281622" y="2471792"/>
              <a:ext cx="1770278" cy="541687"/>
            </a:xfrm>
            <a:prstGeom prst="rect">
              <a:avLst/>
            </a:prstGeom>
            <a:noFill/>
          </p:spPr>
          <p:txBody>
            <a:bodyPr wrap="square" lIns="0" tIns="0" rIns="0" bIns="0" anchor="t">
              <a:spAutoFit/>
            </a:bodyPr>
            <a:lstStyle/>
            <a:p>
              <a:pPr algn="l">
                <a:lnSpc>
                  <a:spcPct val="115000"/>
                </a:lnSpc>
                <a:spcBef>
                  <a:spcPts val="0"/>
                </a:spcBef>
                <a:spcAft>
                  <a:spcPts val="0"/>
                </a:spcAft>
              </a:pPr>
              <a:r>
                <a:rPr lang="en-US" sz="1050" b="0" i="0" noProof="0">
                  <a:solidFill>
                    <a:srgbClr val="1A1A1A"/>
                  </a:solidFill>
                  <a:latin typeface="Arial" panose="020B0604020202020204" pitchFamily="34" charset="0"/>
                  <a:cs typeface="Arial" panose="020B0604020202020204" pitchFamily="34" charset="0"/>
                </a:rPr>
                <a:t>How work gets done: internal / SWF / Vendor mix, progress tracking, release cadence.</a:t>
              </a:r>
            </a:p>
          </p:txBody>
        </p:sp>
      </p:grpSp>
      <p:sp>
        <p:nvSpPr>
          <p:cNvPr id="3" name="Rectangle 177">
            <a:extLst>
              <a:ext uri="{FF2B5EF4-FFF2-40B4-BE49-F238E27FC236}">
                <a16:creationId xmlns:a16="http://schemas.microsoft.com/office/drawing/2014/main" id="{A3FD8A21-AA02-A371-D304-0DF344AFEC96}"/>
              </a:ext>
            </a:extLst>
          </p:cNvPr>
          <p:cNvSpPr/>
          <p:nvPr/>
        </p:nvSpPr>
        <p:spPr>
          <a:xfrm>
            <a:off x="671397" y="3438088"/>
            <a:ext cx="10927437" cy="385785"/>
          </a:xfrm>
          <a:prstGeom prst="rect">
            <a:avLst/>
          </a:prstGeom>
          <a:solidFill>
            <a:srgbClr val="0F1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b="1" noProof="0">
                <a:latin typeface="Arial" panose="020B0604020202020204" pitchFamily="34" charset="0"/>
                <a:cs typeface="Arial" panose="020B0604020202020204" pitchFamily="34" charset="0"/>
              </a:rPr>
              <a:t>MATURITY ASSESSMENT</a:t>
            </a:r>
          </a:p>
        </p:txBody>
      </p:sp>
      <p:sp>
        <p:nvSpPr>
          <p:cNvPr id="4" name="Rectangle 177">
            <a:extLst>
              <a:ext uri="{FF2B5EF4-FFF2-40B4-BE49-F238E27FC236}">
                <a16:creationId xmlns:a16="http://schemas.microsoft.com/office/drawing/2014/main" id="{D0E1A1B5-8D45-B19D-F254-C46F91FBD061}"/>
              </a:ext>
            </a:extLst>
          </p:cNvPr>
          <p:cNvSpPr/>
          <p:nvPr/>
        </p:nvSpPr>
        <p:spPr>
          <a:xfrm>
            <a:off x="671397" y="1505116"/>
            <a:ext cx="10927437" cy="385785"/>
          </a:xfrm>
          <a:prstGeom prst="rect">
            <a:avLst/>
          </a:prstGeom>
          <a:solidFill>
            <a:srgbClr val="0F1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b="1" noProof="0">
                <a:latin typeface="Arial" panose="020B0604020202020204" pitchFamily="34" charset="0"/>
                <a:cs typeface="Arial" panose="020B0604020202020204" pitchFamily="34" charset="0"/>
              </a:rPr>
              <a:t>STANDARD LIFECYLE MAP</a:t>
            </a:r>
          </a:p>
        </p:txBody>
      </p:sp>
    </p:spTree>
    <p:extLst>
      <p:ext uri="{BB962C8B-B14F-4D97-AF65-F5344CB8AC3E}">
        <p14:creationId xmlns:p14="http://schemas.microsoft.com/office/powerpoint/2010/main" val="11196892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B5C173-CA64-8659-796E-D6B85CB60776}"/>
            </a:ext>
          </a:extLst>
        </p:cNvPr>
        <p:cNvGrpSpPr/>
        <p:nvPr/>
      </p:nvGrpSpPr>
      <p:grpSpPr>
        <a:xfrm>
          <a:off x="0" y="0"/>
          <a:ext cx="0" cy="0"/>
          <a:chOff x="0" y="0"/>
          <a:chExt cx="0" cy="0"/>
        </a:xfrm>
      </p:grpSpPr>
      <p:sp>
        <p:nvSpPr>
          <p:cNvPr id="14" name="Rectangle 177">
            <a:extLst>
              <a:ext uri="{FF2B5EF4-FFF2-40B4-BE49-F238E27FC236}">
                <a16:creationId xmlns:a16="http://schemas.microsoft.com/office/drawing/2014/main" id="{BE9500F0-ADF1-3076-BDD9-9901928CE9A3}"/>
              </a:ext>
            </a:extLst>
          </p:cNvPr>
          <p:cNvSpPr/>
          <p:nvPr/>
        </p:nvSpPr>
        <p:spPr>
          <a:xfrm>
            <a:off x="3866763" y="5930003"/>
            <a:ext cx="4491174" cy="343027"/>
          </a:xfrm>
          <a:prstGeom prst="rect">
            <a:avLst/>
          </a:prstGeom>
          <a:solidFill>
            <a:srgbClr val="155F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solidFill>
                <a:schemeClr val="bg1"/>
              </a:solidFill>
              <a:latin typeface="Arial" panose="020B0604020202020204" pitchFamily="34" charset="0"/>
              <a:cs typeface="Arial" panose="020B0604020202020204" pitchFamily="34" charset="0"/>
            </a:endParaRPr>
          </a:p>
        </p:txBody>
      </p:sp>
      <p:sp>
        <p:nvSpPr>
          <p:cNvPr id="5" name="Título 2">
            <a:extLst>
              <a:ext uri="{FF2B5EF4-FFF2-40B4-BE49-F238E27FC236}">
                <a16:creationId xmlns:a16="http://schemas.microsoft.com/office/drawing/2014/main" id="{0E7D9766-A967-678C-02F2-5DD75F528F88}"/>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r>
              <a:rPr lang="en-US" sz="2400" noProof="0">
                <a:latin typeface="Arial" panose="020B0604020202020204" pitchFamily="34" charset="0"/>
                <a:cs typeface="Arial" panose="020B0604020202020204" pitchFamily="34" charset="0"/>
              </a:rPr>
              <a:t>CURRENT STATE ANALYSIS</a:t>
            </a:r>
          </a:p>
          <a:p>
            <a:r>
              <a:rPr lang="en-US" sz="1200" noProof="0">
                <a:latin typeface="Arial" panose="020B0604020202020204" pitchFamily="34" charset="0"/>
                <a:cs typeface="Arial" panose="020B0604020202020204" pitchFamily="34" charset="0"/>
              </a:rPr>
              <a:t>VALUE STREAM MAPPING - DEMAND FLOW</a:t>
            </a:r>
          </a:p>
        </p:txBody>
      </p:sp>
      <p:sp>
        <p:nvSpPr>
          <p:cNvPr id="163" name="Rectangle 153">
            <a:extLst>
              <a:ext uri="{FF2B5EF4-FFF2-40B4-BE49-F238E27FC236}">
                <a16:creationId xmlns:a16="http://schemas.microsoft.com/office/drawing/2014/main" id="{F8B1B18E-2507-D8EE-C6C9-44035A673AE1}"/>
              </a:ext>
            </a:extLst>
          </p:cNvPr>
          <p:cNvSpPr/>
          <p:nvPr/>
        </p:nvSpPr>
        <p:spPr>
          <a:xfrm>
            <a:off x="423176" y="6309022"/>
            <a:ext cx="11274552" cy="38661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64" name="TextBox 154">
            <a:extLst>
              <a:ext uri="{FF2B5EF4-FFF2-40B4-BE49-F238E27FC236}">
                <a16:creationId xmlns:a16="http://schemas.microsoft.com/office/drawing/2014/main" id="{EEE6F159-DC56-06F3-46CA-11B8B1152D89}"/>
              </a:ext>
            </a:extLst>
          </p:cNvPr>
          <p:cNvSpPr txBox="1"/>
          <p:nvPr/>
        </p:nvSpPr>
        <p:spPr>
          <a:xfrm>
            <a:off x="599592" y="6390189"/>
            <a:ext cx="10992815" cy="171778"/>
          </a:xfrm>
          <a:prstGeom prst="rect">
            <a:avLst/>
          </a:prstGeom>
          <a:noFill/>
        </p:spPr>
        <p:txBody>
          <a:bodyPr wrap="square" lIns="0" tIns="0" rIns="0" bIns="0" anchor="ctr">
            <a:spAutoFit/>
          </a:bodyPr>
          <a:lstStyle/>
          <a:p>
            <a:pPr algn="l">
              <a:lnSpc>
                <a:spcPct val="110000"/>
              </a:lnSpc>
              <a:spcBef>
                <a:spcPts val="0"/>
              </a:spcBef>
              <a:spcAft>
                <a:spcPts val="0"/>
              </a:spcAft>
            </a:pPr>
            <a:r>
              <a:rPr lang="en-US" sz="1100" b="0" i="0" noProof="0">
                <a:solidFill>
                  <a:srgbClr val="FFFFFF"/>
                </a:solidFill>
                <a:latin typeface="Arial" panose="020B0604020202020204" pitchFamily="34" charset="0"/>
                <a:cs typeface="Arial" panose="020B0604020202020204" pitchFamily="34" charset="0"/>
              </a:rPr>
              <a:t>Zero standardization across units: 6 different sources, 6 intake models, 6 prioritization logics, only 1 area uses a portfolio tool — fragmentation is structural, not local</a:t>
            </a:r>
          </a:p>
        </p:txBody>
      </p:sp>
      <p:sp>
        <p:nvSpPr>
          <p:cNvPr id="165" name="TextBox 2">
            <a:extLst>
              <a:ext uri="{FF2B5EF4-FFF2-40B4-BE49-F238E27FC236}">
                <a16:creationId xmlns:a16="http://schemas.microsoft.com/office/drawing/2014/main" id="{8A45A8C7-9CCF-99D2-3593-545A0D41C311}"/>
              </a:ext>
            </a:extLst>
          </p:cNvPr>
          <p:cNvSpPr txBox="1"/>
          <p:nvPr/>
        </p:nvSpPr>
        <p:spPr>
          <a:xfrm>
            <a:off x="520870" y="917592"/>
            <a:ext cx="11463124" cy="354411"/>
          </a:xfrm>
          <a:prstGeom prst="rect">
            <a:avLst/>
          </a:prstGeom>
          <a:noFill/>
        </p:spPr>
        <p:txBody>
          <a:bodyPr wrap="square" lIns="0" tIns="0" rIns="0" bIns="0" rtlCol="0" anchor="t">
            <a:noAutofit/>
          </a:bodyPr>
          <a:lstStyle>
            <a:defPPr>
              <a:defRPr lang="en-US"/>
            </a:defPPr>
            <a:lvl1pPr algn="just">
              <a:defRPr sz="1400" b="1">
                <a:solidFill>
                  <a:schemeClr val="accent4">
                    <a:lumMod val="75000"/>
                  </a:schemeClr>
                </a:solidFill>
                <a:latin typeface="Arial" panose="020B0604020202020204" pitchFamily="34" charset="0"/>
                <a:cs typeface="Arial" panose="020B0604020202020204" pitchFamily="34" charset="0"/>
              </a:defRPr>
            </a:lvl1pPr>
            <a:lvl2pPr marL="228586" algn="l" rtl="0" eaLnBrk="0" fontAlgn="base" hangingPunct="0">
              <a:spcBef>
                <a:spcPct val="0"/>
              </a:spcBef>
              <a:spcAft>
                <a:spcPct val="0"/>
              </a:spcAft>
              <a:defRPr kern="1200">
                <a:solidFill>
                  <a:schemeClr val="tx1"/>
                </a:solidFill>
                <a:latin typeface="Arial" pitchFamily="2" charset="77"/>
                <a:ea typeface="+mn-ea"/>
                <a:cs typeface="+mn-cs"/>
              </a:defRPr>
            </a:lvl2pPr>
            <a:lvl3pPr marL="457172" algn="l" rtl="0" eaLnBrk="0" fontAlgn="base" hangingPunct="0">
              <a:spcBef>
                <a:spcPct val="0"/>
              </a:spcBef>
              <a:spcAft>
                <a:spcPct val="0"/>
              </a:spcAft>
              <a:defRPr kern="1200">
                <a:solidFill>
                  <a:schemeClr val="tx1"/>
                </a:solidFill>
                <a:latin typeface="Arial" pitchFamily="2" charset="77"/>
                <a:ea typeface="+mn-ea"/>
                <a:cs typeface="+mn-cs"/>
              </a:defRPr>
            </a:lvl3pPr>
            <a:lvl4pPr marL="685757" algn="l" rtl="0" eaLnBrk="0" fontAlgn="base" hangingPunct="0">
              <a:spcBef>
                <a:spcPct val="0"/>
              </a:spcBef>
              <a:spcAft>
                <a:spcPct val="0"/>
              </a:spcAft>
              <a:defRPr kern="1200">
                <a:solidFill>
                  <a:schemeClr val="tx1"/>
                </a:solidFill>
                <a:latin typeface="Arial" pitchFamily="2" charset="77"/>
                <a:ea typeface="+mn-ea"/>
                <a:cs typeface="+mn-cs"/>
              </a:defRPr>
            </a:lvl4pPr>
            <a:lvl5pPr marL="914343" algn="l" rtl="0" eaLnBrk="0" fontAlgn="base" hangingPunct="0">
              <a:spcBef>
                <a:spcPct val="0"/>
              </a:spcBef>
              <a:spcAft>
                <a:spcPct val="0"/>
              </a:spcAft>
              <a:defRPr kern="1200">
                <a:solidFill>
                  <a:schemeClr val="tx1"/>
                </a:solidFill>
                <a:latin typeface="Arial" pitchFamily="2" charset="77"/>
                <a:ea typeface="+mn-ea"/>
                <a:cs typeface="+mn-cs"/>
              </a:defRPr>
            </a:lvl5pPr>
            <a:lvl6pPr marL="1142929" algn="l" defTabSz="457172" rtl="0" eaLnBrk="1" latinLnBrk="0" hangingPunct="1">
              <a:defRPr kern="1200">
                <a:solidFill>
                  <a:schemeClr val="tx1"/>
                </a:solidFill>
                <a:latin typeface="Arial" pitchFamily="2" charset="77"/>
                <a:ea typeface="+mn-ea"/>
                <a:cs typeface="+mn-cs"/>
              </a:defRPr>
            </a:lvl6pPr>
            <a:lvl7pPr marL="1371515" algn="l" defTabSz="457172" rtl="0" eaLnBrk="1" latinLnBrk="0" hangingPunct="1">
              <a:defRPr kern="1200">
                <a:solidFill>
                  <a:schemeClr val="tx1"/>
                </a:solidFill>
                <a:latin typeface="Arial" pitchFamily="2" charset="77"/>
                <a:ea typeface="+mn-ea"/>
                <a:cs typeface="+mn-cs"/>
              </a:defRPr>
            </a:lvl7pPr>
            <a:lvl8pPr marL="1600100" algn="l" defTabSz="457172" rtl="0" eaLnBrk="1" latinLnBrk="0" hangingPunct="1">
              <a:defRPr kern="1200">
                <a:solidFill>
                  <a:schemeClr val="tx1"/>
                </a:solidFill>
                <a:latin typeface="Arial" pitchFamily="2" charset="77"/>
                <a:ea typeface="+mn-ea"/>
                <a:cs typeface="+mn-cs"/>
              </a:defRPr>
            </a:lvl8pPr>
            <a:lvl9pPr marL="1828686" algn="l" defTabSz="457172" rtl="0" eaLnBrk="1" latinLnBrk="0" hangingPunct="1">
              <a:defRPr kern="1200">
                <a:solidFill>
                  <a:schemeClr val="tx1"/>
                </a:solidFill>
                <a:latin typeface="Arial" pitchFamily="2" charset="77"/>
                <a:ea typeface="+mn-ea"/>
                <a:cs typeface="+mn-cs"/>
              </a:defRPr>
            </a:lvl9pPr>
          </a:lstStyle>
          <a:p>
            <a:r>
              <a:rPr lang="en-US" noProof="0">
                <a:latin typeface="Arial"/>
                <a:cs typeface="Arial"/>
              </a:rPr>
              <a:t>Across both Applications and CS , Digital Products runs 6+ disconnected intake channels — no two teams share the same demand flow</a:t>
            </a:r>
          </a:p>
        </p:txBody>
      </p:sp>
      <p:sp>
        <p:nvSpPr>
          <p:cNvPr id="38" name="TextBox 165">
            <a:extLst>
              <a:ext uri="{FF2B5EF4-FFF2-40B4-BE49-F238E27FC236}">
                <a16:creationId xmlns:a16="http://schemas.microsoft.com/office/drawing/2014/main" id="{B4EF053F-3682-B574-F2A2-829752550DFA}"/>
              </a:ext>
            </a:extLst>
          </p:cNvPr>
          <p:cNvSpPr txBox="1"/>
          <p:nvPr/>
        </p:nvSpPr>
        <p:spPr>
          <a:xfrm>
            <a:off x="3866763" y="5999996"/>
            <a:ext cx="743960" cy="193899"/>
          </a:xfrm>
          <a:prstGeom prst="rect">
            <a:avLst/>
          </a:prstGeom>
          <a:noFill/>
        </p:spPr>
        <p:txBody>
          <a:bodyPr wrap="square" lIns="54864" tIns="27432" rIns="54864" bIns="27432" anchor="ctr">
            <a:spAutoFit/>
          </a:bodyPr>
          <a:lstStyle/>
          <a:p>
            <a:pPr algn="l"/>
            <a:r>
              <a:rPr lang="en-US" sz="900" b="1" noProof="0">
                <a:solidFill>
                  <a:schemeClr val="bg1"/>
                </a:solidFill>
                <a:latin typeface="Arial" panose="020B0604020202020204" pitchFamily="34" charset="0"/>
                <a:cs typeface="Arial" panose="020B0604020202020204" pitchFamily="34" charset="0"/>
              </a:rPr>
              <a:t>MATURITY:</a:t>
            </a:r>
            <a:endParaRPr lang="en-US" sz="800" b="1" noProof="0">
              <a:solidFill>
                <a:schemeClr val="bg1"/>
              </a:solidFill>
              <a:latin typeface="Arial" panose="020B0604020202020204" pitchFamily="34" charset="0"/>
              <a:cs typeface="Arial" panose="020B0604020202020204" pitchFamily="34" charset="0"/>
            </a:endParaRPr>
          </a:p>
        </p:txBody>
      </p:sp>
      <p:sp>
        <p:nvSpPr>
          <p:cNvPr id="80" name="Oval 79">
            <a:extLst>
              <a:ext uri="{FF2B5EF4-FFF2-40B4-BE49-F238E27FC236}">
                <a16:creationId xmlns:a16="http://schemas.microsoft.com/office/drawing/2014/main" id="{F40B3B2E-901D-3531-761B-2105F7266F33}"/>
              </a:ext>
            </a:extLst>
          </p:cNvPr>
          <p:cNvSpPr/>
          <p:nvPr/>
        </p:nvSpPr>
        <p:spPr>
          <a:xfrm>
            <a:off x="4685151" y="6032937"/>
            <a:ext cx="137160" cy="137160"/>
          </a:xfrm>
          <a:prstGeom prst="ellipse">
            <a:avLst/>
          </a:prstGeom>
          <a:solidFill>
            <a:srgbClr val="BC43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noProof="0">
              <a:latin typeface="Arial" panose="020B0604020202020204" pitchFamily="34" charset="0"/>
              <a:cs typeface="Arial" panose="020B0604020202020204" pitchFamily="34" charset="0"/>
            </a:endParaRPr>
          </a:p>
        </p:txBody>
      </p:sp>
      <p:sp>
        <p:nvSpPr>
          <p:cNvPr id="166" name="TextBox 167">
            <a:extLst>
              <a:ext uri="{FF2B5EF4-FFF2-40B4-BE49-F238E27FC236}">
                <a16:creationId xmlns:a16="http://schemas.microsoft.com/office/drawing/2014/main" id="{5CAD8843-2A6C-75B0-4CC5-A1BE9E751873}"/>
              </a:ext>
            </a:extLst>
          </p:cNvPr>
          <p:cNvSpPr txBox="1"/>
          <p:nvPr/>
        </p:nvSpPr>
        <p:spPr>
          <a:xfrm>
            <a:off x="4849743" y="6007690"/>
            <a:ext cx="777240" cy="178510"/>
          </a:xfrm>
          <a:prstGeom prst="rect">
            <a:avLst/>
          </a:prstGeom>
          <a:noFill/>
        </p:spPr>
        <p:txBody>
          <a:bodyPr wrap="square" lIns="54864" tIns="27432" rIns="54864" bIns="27432" anchor="ctr">
            <a:spAutoFit/>
          </a:bodyPr>
          <a:lstStyle/>
          <a:p>
            <a:pPr algn="l"/>
            <a:r>
              <a:rPr lang="en-US" sz="800" b="1" noProof="0">
                <a:solidFill>
                  <a:schemeClr val="bg1"/>
                </a:solidFill>
                <a:latin typeface="Arial" panose="020B0604020202020204" pitchFamily="34" charset="0"/>
                <a:cs typeface="Arial" panose="020B0604020202020204" pitchFamily="34" charset="0"/>
              </a:rPr>
              <a:t>CRITICAL</a:t>
            </a:r>
          </a:p>
        </p:txBody>
      </p:sp>
      <p:sp>
        <p:nvSpPr>
          <p:cNvPr id="167" name="Oval 166">
            <a:extLst>
              <a:ext uri="{FF2B5EF4-FFF2-40B4-BE49-F238E27FC236}">
                <a16:creationId xmlns:a16="http://schemas.microsoft.com/office/drawing/2014/main" id="{041838AC-653E-5596-EFAF-F06E9A125F27}"/>
              </a:ext>
            </a:extLst>
          </p:cNvPr>
          <p:cNvSpPr/>
          <p:nvPr/>
        </p:nvSpPr>
        <p:spPr>
          <a:xfrm>
            <a:off x="5645271" y="6032937"/>
            <a:ext cx="137160" cy="137160"/>
          </a:xfrm>
          <a:prstGeom prst="ellipse">
            <a:avLst/>
          </a:prstGeom>
          <a:solidFill>
            <a:srgbClr val="E87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noProof="0">
              <a:latin typeface="Arial" panose="020B0604020202020204" pitchFamily="34" charset="0"/>
              <a:cs typeface="Arial" panose="020B0604020202020204" pitchFamily="34" charset="0"/>
            </a:endParaRPr>
          </a:p>
        </p:txBody>
      </p:sp>
      <p:sp>
        <p:nvSpPr>
          <p:cNvPr id="168" name="TextBox 169">
            <a:extLst>
              <a:ext uri="{FF2B5EF4-FFF2-40B4-BE49-F238E27FC236}">
                <a16:creationId xmlns:a16="http://schemas.microsoft.com/office/drawing/2014/main" id="{9DA7E807-871E-B9CE-0BEE-19AEB24C1781}"/>
              </a:ext>
            </a:extLst>
          </p:cNvPr>
          <p:cNvSpPr txBox="1"/>
          <p:nvPr/>
        </p:nvSpPr>
        <p:spPr>
          <a:xfrm>
            <a:off x="5809862" y="6007690"/>
            <a:ext cx="777240" cy="178510"/>
          </a:xfrm>
          <a:prstGeom prst="rect">
            <a:avLst/>
          </a:prstGeom>
          <a:noFill/>
        </p:spPr>
        <p:txBody>
          <a:bodyPr wrap="square" lIns="54864" tIns="27432" rIns="54864" bIns="27432" anchor="ctr">
            <a:spAutoFit/>
          </a:bodyPr>
          <a:lstStyle/>
          <a:p>
            <a:pPr algn="l"/>
            <a:r>
              <a:rPr lang="en-US" sz="800" b="1" noProof="0">
                <a:solidFill>
                  <a:schemeClr val="bg1"/>
                </a:solidFill>
                <a:latin typeface="Arial" panose="020B0604020202020204" pitchFamily="34" charset="0"/>
                <a:cs typeface="Arial" panose="020B0604020202020204" pitchFamily="34" charset="0"/>
              </a:rPr>
              <a:t>GAP</a:t>
            </a:r>
          </a:p>
        </p:txBody>
      </p:sp>
      <p:sp>
        <p:nvSpPr>
          <p:cNvPr id="169" name="Oval 168">
            <a:extLst>
              <a:ext uri="{FF2B5EF4-FFF2-40B4-BE49-F238E27FC236}">
                <a16:creationId xmlns:a16="http://schemas.microsoft.com/office/drawing/2014/main" id="{7B447D0E-CD53-C4CF-EA0F-22EF1A0A40CC}"/>
              </a:ext>
            </a:extLst>
          </p:cNvPr>
          <p:cNvSpPr/>
          <p:nvPr/>
        </p:nvSpPr>
        <p:spPr>
          <a:xfrm>
            <a:off x="6605391" y="6032937"/>
            <a:ext cx="137160" cy="137160"/>
          </a:xfrm>
          <a:prstGeom prst="ellipse">
            <a:avLst/>
          </a:prstGeom>
          <a:solidFill>
            <a:srgbClr val="F9A8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noProof="0">
              <a:latin typeface="Arial" panose="020B0604020202020204" pitchFamily="34" charset="0"/>
              <a:cs typeface="Arial" panose="020B0604020202020204" pitchFamily="34" charset="0"/>
            </a:endParaRPr>
          </a:p>
        </p:txBody>
      </p:sp>
      <p:sp>
        <p:nvSpPr>
          <p:cNvPr id="170" name="TextBox 171">
            <a:extLst>
              <a:ext uri="{FF2B5EF4-FFF2-40B4-BE49-F238E27FC236}">
                <a16:creationId xmlns:a16="http://schemas.microsoft.com/office/drawing/2014/main" id="{47082D8D-7355-416C-9B07-DCDBF57F090D}"/>
              </a:ext>
            </a:extLst>
          </p:cNvPr>
          <p:cNvSpPr txBox="1"/>
          <p:nvPr/>
        </p:nvSpPr>
        <p:spPr>
          <a:xfrm>
            <a:off x="6769983" y="6007690"/>
            <a:ext cx="777240" cy="178510"/>
          </a:xfrm>
          <a:prstGeom prst="rect">
            <a:avLst/>
          </a:prstGeom>
          <a:noFill/>
        </p:spPr>
        <p:txBody>
          <a:bodyPr wrap="square" lIns="54864" tIns="27432" rIns="54864" bIns="27432" anchor="ctr">
            <a:spAutoFit/>
          </a:bodyPr>
          <a:lstStyle/>
          <a:p>
            <a:pPr algn="l"/>
            <a:r>
              <a:rPr lang="en-US" sz="800" b="1" noProof="0">
                <a:solidFill>
                  <a:schemeClr val="bg1"/>
                </a:solidFill>
                <a:latin typeface="Arial" panose="020B0604020202020204" pitchFamily="34" charset="0"/>
                <a:cs typeface="Arial" panose="020B0604020202020204" pitchFamily="34" charset="0"/>
              </a:rPr>
              <a:t>PARTIAL</a:t>
            </a:r>
          </a:p>
        </p:txBody>
      </p:sp>
      <p:sp>
        <p:nvSpPr>
          <p:cNvPr id="171" name="Oval 170">
            <a:extLst>
              <a:ext uri="{FF2B5EF4-FFF2-40B4-BE49-F238E27FC236}">
                <a16:creationId xmlns:a16="http://schemas.microsoft.com/office/drawing/2014/main" id="{68692178-F311-03C3-A74E-216A93610DD9}"/>
              </a:ext>
            </a:extLst>
          </p:cNvPr>
          <p:cNvSpPr/>
          <p:nvPr/>
        </p:nvSpPr>
        <p:spPr>
          <a:xfrm>
            <a:off x="7565511" y="6032937"/>
            <a:ext cx="137160" cy="13716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noProof="0">
              <a:latin typeface="Arial" panose="020B0604020202020204" pitchFamily="34" charset="0"/>
              <a:cs typeface="Arial" panose="020B0604020202020204" pitchFamily="34" charset="0"/>
            </a:endParaRPr>
          </a:p>
        </p:txBody>
      </p:sp>
      <p:sp>
        <p:nvSpPr>
          <p:cNvPr id="172" name="TextBox 173">
            <a:extLst>
              <a:ext uri="{FF2B5EF4-FFF2-40B4-BE49-F238E27FC236}">
                <a16:creationId xmlns:a16="http://schemas.microsoft.com/office/drawing/2014/main" id="{14F67952-973A-478A-52E7-372372A2BD66}"/>
              </a:ext>
            </a:extLst>
          </p:cNvPr>
          <p:cNvSpPr txBox="1"/>
          <p:nvPr/>
        </p:nvSpPr>
        <p:spPr>
          <a:xfrm>
            <a:off x="7702671" y="6015240"/>
            <a:ext cx="777240" cy="178510"/>
          </a:xfrm>
          <a:prstGeom prst="rect">
            <a:avLst/>
          </a:prstGeom>
          <a:noFill/>
        </p:spPr>
        <p:txBody>
          <a:bodyPr wrap="square" lIns="54864" tIns="27432" rIns="54864" bIns="27432" anchor="ctr">
            <a:spAutoFit/>
          </a:bodyPr>
          <a:lstStyle/>
          <a:p>
            <a:pPr algn="l"/>
            <a:r>
              <a:rPr lang="en-US" sz="800" b="1" noProof="0">
                <a:solidFill>
                  <a:schemeClr val="bg1"/>
                </a:solidFill>
                <a:latin typeface="Arial" panose="020B0604020202020204" pitchFamily="34" charset="0"/>
                <a:cs typeface="Arial" panose="020B0604020202020204" pitchFamily="34" charset="0"/>
              </a:rPr>
              <a:t>SCALABLE</a:t>
            </a:r>
          </a:p>
        </p:txBody>
      </p:sp>
      <p:sp>
        <p:nvSpPr>
          <p:cNvPr id="3" name="Rectangle 4">
            <a:extLst>
              <a:ext uri="{FF2B5EF4-FFF2-40B4-BE49-F238E27FC236}">
                <a16:creationId xmlns:a16="http://schemas.microsoft.com/office/drawing/2014/main" id="{EC265221-EE9B-CC94-2D5A-2BBD9A9CD9C8}"/>
              </a:ext>
            </a:extLst>
          </p:cNvPr>
          <p:cNvSpPr/>
          <p:nvPr/>
        </p:nvSpPr>
        <p:spPr>
          <a:xfrm>
            <a:off x="1647515" y="1271734"/>
            <a:ext cx="1645920" cy="502920"/>
          </a:xfrm>
          <a:prstGeom prst="rect">
            <a:avLst/>
          </a:prstGeom>
          <a:solidFill>
            <a:srgbClr val="155F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 name="TextBox 5">
            <a:extLst>
              <a:ext uri="{FF2B5EF4-FFF2-40B4-BE49-F238E27FC236}">
                <a16:creationId xmlns:a16="http://schemas.microsoft.com/office/drawing/2014/main" id="{C4FC05E0-6ACC-AC1D-4D9E-978512D0ACBB}"/>
              </a:ext>
            </a:extLst>
          </p:cNvPr>
          <p:cNvSpPr txBox="1"/>
          <p:nvPr/>
        </p:nvSpPr>
        <p:spPr>
          <a:xfrm>
            <a:off x="1647515" y="1299166"/>
            <a:ext cx="1645920" cy="154979"/>
          </a:xfrm>
          <a:prstGeom prst="rect">
            <a:avLst/>
          </a:prstGeom>
          <a:noFill/>
        </p:spPr>
        <p:txBody>
          <a:bodyPr wrap="square" lIns="0" tIns="0" rIns="0" bIns="0" anchor="t">
            <a:spAutoFit/>
          </a:bodyPr>
          <a:lstStyle/>
          <a:p>
            <a:pPr algn="ctr">
              <a:lnSpc>
                <a:spcPct val="110000"/>
              </a:lnSpc>
              <a:spcBef>
                <a:spcPts val="0"/>
              </a:spcBef>
              <a:spcAft>
                <a:spcPts val="0"/>
              </a:spcAft>
            </a:pPr>
            <a:r>
              <a:rPr lang="en-US" sz="1000" b="1" i="0" noProof="0">
                <a:solidFill>
                  <a:srgbClr val="FFFFFF"/>
                </a:solidFill>
                <a:latin typeface="Arial" panose="020B0604020202020204" pitchFamily="34" charset="0"/>
                <a:cs typeface="Arial" panose="020B0604020202020204" pitchFamily="34" charset="0"/>
              </a:rPr>
              <a:t>SOURCE</a:t>
            </a:r>
          </a:p>
        </p:txBody>
      </p:sp>
      <p:sp>
        <p:nvSpPr>
          <p:cNvPr id="9" name="TextBox 6">
            <a:extLst>
              <a:ext uri="{FF2B5EF4-FFF2-40B4-BE49-F238E27FC236}">
                <a16:creationId xmlns:a16="http://schemas.microsoft.com/office/drawing/2014/main" id="{D7355813-B3CF-8089-5559-F48855E7DBDB}"/>
              </a:ext>
            </a:extLst>
          </p:cNvPr>
          <p:cNvSpPr txBox="1"/>
          <p:nvPr/>
        </p:nvSpPr>
        <p:spPr>
          <a:xfrm>
            <a:off x="1647515" y="1527766"/>
            <a:ext cx="1645920" cy="139590"/>
          </a:xfrm>
          <a:prstGeom prst="rect">
            <a:avLst/>
          </a:prstGeom>
          <a:noFill/>
        </p:spPr>
        <p:txBody>
          <a:bodyPr wrap="square" lIns="0" tIns="0" rIns="0" bIns="0" anchor="t">
            <a:spAutoFit/>
          </a:bodyPr>
          <a:lstStyle/>
          <a:p>
            <a:pPr algn="ctr">
              <a:lnSpc>
                <a:spcPct val="110000"/>
              </a:lnSpc>
              <a:spcBef>
                <a:spcPts val="0"/>
              </a:spcBef>
              <a:spcAft>
                <a:spcPts val="0"/>
              </a:spcAft>
            </a:pPr>
            <a:r>
              <a:rPr lang="en-US" sz="900" b="0" i="0" noProof="0">
                <a:solidFill>
                  <a:srgbClr val="FFFFFF"/>
                </a:solidFill>
                <a:latin typeface="Arial" panose="020B0604020202020204" pitchFamily="34" charset="0"/>
                <a:cs typeface="Arial" panose="020B0604020202020204" pitchFamily="34" charset="0"/>
              </a:rPr>
              <a:t>Who sends the demand</a:t>
            </a:r>
          </a:p>
        </p:txBody>
      </p:sp>
      <p:sp>
        <p:nvSpPr>
          <p:cNvPr id="12" name="Rectangle 7">
            <a:extLst>
              <a:ext uri="{FF2B5EF4-FFF2-40B4-BE49-F238E27FC236}">
                <a16:creationId xmlns:a16="http://schemas.microsoft.com/office/drawing/2014/main" id="{2DFB6110-EBE7-0C4E-AFFE-29A9FC145A9F}"/>
              </a:ext>
            </a:extLst>
          </p:cNvPr>
          <p:cNvSpPr/>
          <p:nvPr/>
        </p:nvSpPr>
        <p:spPr>
          <a:xfrm>
            <a:off x="3339155" y="1271734"/>
            <a:ext cx="1554480" cy="502920"/>
          </a:xfrm>
          <a:prstGeom prst="rect">
            <a:avLst/>
          </a:prstGeom>
          <a:solidFill>
            <a:srgbClr val="155F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66" name="TextBox 8">
            <a:extLst>
              <a:ext uri="{FF2B5EF4-FFF2-40B4-BE49-F238E27FC236}">
                <a16:creationId xmlns:a16="http://schemas.microsoft.com/office/drawing/2014/main" id="{ACBC6BAA-8E8F-37F0-F004-6CC6E4797B9F}"/>
              </a:ext>
            </a:extLst>
          </p:cNvPr>
          <p:cNvSpPr txBox="1"/>
          <p:nvPr/>
        </p:nvSpPr>
        <p:spPr>
          <a:xfrm>
            <a:off x="3339155" y="1299166"/>
            <a:ext cx="1554480" cy="154979"/>
          </a:xfrm>
          <a:prstGeom prst="rect">
            <a:avLst/>
          </a:prstGeom>
          <a:noFill/>
        </p:spPr>
        <p:txBody>
          <a:bodyPr wrap="square" lIns="0" tIns="0" rIns="0" bIns="0" anchor="t">
            <a:spAutoFit/>
          </a:bodyPr>
          <a:lstStyle/>
          <a:p>
            <a:pPr algn="ctr">
              <a:lnSpc>
                <a:spcPct val="110000"/>
              </a:lnSpc>
              <a:spcBef>
                <a:spcPts val="0"/>
              </a:spcBef>
              <a:spcAft>
                <a:spcPts val="0"/>
              </a:spcAft>
            </a:pPr>
            <a:r>
              <a:rPr lang="en-US" sz="1000" b="1" i="0" noProof="0">
                <a:solidFill>
                  <a:srgbClr val="FFFFFF"/>
                </a:solidFill>
                <a:latin typeface="Arial" panose="020B0604020202020204" pitchFamily="34" charset="0"/>
                <a:cs typeface="Arial" panose="020B0604020202020204" pitchFamily="34" charset="0"/>
              </a:rPr>
              <a:t>TYPES</a:t>
            </a:r>
          </a:p>
        </p:txBody>
      </p:sp>
      <p:sp>
        <p:nvSpPr>
          <p:cNvPr id="84" name="TextBox 9">
            <a:extLst>
              <a:ext uri="{FF2B5EF4-FFF2-40B4-BE49-F238E27FC236}">
                <a16:creationId xmlns:a16="http://schemas.microsoft.com/office/drawing/2014/main" id="{76CE88DE-DFFD-33E9-06AF-273464D4A59F}"/>
              </a:ext>
            </a:extLst>
          </p:cNvPr>
          <p:cNvSpPr txBox="1"/>
          <p:nvPr/>
        </p:nvSpPr>
        <p:spPr>
          <a:xfrm>
            <a:off x="3339155" y="1527766"/>
            <a:ext cx="1554480" cy="139590"/>
          </a:xfrm>
          <a:prstGeom prst="rect">
            <a:avLst/>
          </a:prstGeom>
          <a:noFill/>
        </p:spPr>
        <p:txBody>
          <a:bodyPr wrap="square" lIns="0" tIns="0" rIns="0" bIns="0" anchor="t">
            <a:spAutoFit/>
          </a:bodyPr>
          <a:lstStyle/>
          <a:p>
            <a:pPr algn="ctr">
              <a:lnSpc>
                <a:spcPct val="110000"/>
              </a:lnSpc>
              <a:spcBef>
                <a:spcPts val="0"/>
              </a:spcBef>
              <a:spcAft>
                <a:spcPts val="0"/>
              </a:spcAft>
            </a:pPr>
            <a:r>
              <a:rPr lang="en-US" sz="900" b="0" i="0" noProof="0">
                <a:solidFill>
                  <a:srgbClr val="FFFFFF"/>
                </a:solidFill>
                <a:latin typeface="Arial" panose="020B0604020202020204" pitchFamily="34" charset="0"/>
                <a:cs typeface="Arial" panose="020B0604020202020204" pitchFamily="34" charset="0"/>
              </a:rPr>
              <a:t>What kind of demand</a:t>
            </a:r>
          </a:p>
        </p:txBody>
      </p:sp>
      <p:sp>
        <p:nvSpPr>
          <p:cNvPr id="87" name="Rectangle 10">
            <a:extLst>
              <a:ext uri="{FF2B5EF4-FFF2-40B4-BE49-F238E27FC236}">
                <a16:creationId xmlns:a16="http://schemas.microsoft.com/office/drawing/2014/main" id="{613B8E36-BAD6-7D32-7DB0-81B3C733CA39}"/>
              </a:ext>
            </a:extLst>
          </p:cNvPr>
          <p:cNvSpPr/>
          <p:nvPr/>
        </p:nvSpPr>
        <p:spPr>
          <a:xfrm>
            <a:off x="4939354" y="1271734"/>
            <a:ext cx="1358798"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90" name="TextBox 11">
            <a:extLst>
              <a:ext uri="{FF2B5EF4-FFF2-40B4-BE49-F238E27FC236}">
                <a16:creationId xmlns:a16="http://schemas.microsoft.com/office/drawing/2014/main" id="{5EB7A5D8-825D-6C7D-C636-D455EC376BF9}"/>
              </a:ext>
            </a:extLst>
          </p:cNvPr>
          <p:cNvSpPr txBox="1"/>
          <p:nvPr/>
        </p:nvSpPr>
        <p:spPr>
          <a:xfrm>
            <a:off x="4939354" y="1299166"/>
            <a:ext cx="1358798" cy="139525"/>
          </a:xfrm>
          <a:prstGeom prst="rect">
            <a:avLst/>
          </a:prstGeom>
          <a:noFill/>
        </p:spPr>
        <p:txBody>
          <a:bodyPr wrap="square" lIns="0" tIns="0" rIns="0" bIns="0" anchor="t">
            <a:spAutoFit/>
          </a:bodyPr>
          <a:lstStyle/>
          <a:p>
            <a:pPr algn="ctr">
              <a:lnSpc>
                <a:spcPct val="110000"/>
              </a:lnSpc>
              <a:spcBef>
                <a:spcPts val="0"/>
              </a:spcBef>
              <a:spcAft>
                <a:spcPts val="0"/>
              </a:spcAft>
            </a:pPr>
            <a:r>
              <a:rPr lang="en-US" sz="900" b="1" i="0" noProof="0">
                <a:solidFill>
                  <a:srgbClr val="FFFFFF"/>
                </a:solidFill>
                <a:latin typeface="Arial" panose="020B0604020202020204" pitchFamily="34" charset="0"/>
                <a:cs typeface="Arial" panose="020B0604020202020204" pitchFamily="34" charset="0"/>
              </a:rPr>
              <a:t>01 INTAKE</a:t>
            </a:r>
          </a:p>
        </p:txBody>
      </p:sp>
      <p:sp>
        <p:nvSpPr>
          <p:cNvPr id="93" name="TextBox 12">
            <a:extLst>
              <a:ext uri="{FF2B5EF4-FFF2-40B4-BE49-F238E27FC236}">
                <a16:creationId xmlns:a16="http://schemas.microsoft.com/office/drawing/2014/main" id="{8D837CBD-3006-8A21-CF2E-995F1C04B0F5}"/>
              </a:ext>
            </a:extLst>
          </p:cNvPr>
          <p:cNvSpPr txBox="1"/>
          <p:nvPr/>
        </p:nvSpPr>
        <p:spPr>
          <a:xfrm>
            <a:off x="4939354" y="1527766"/>
            <a:ext cx="1358798" cy="139590"/>
          </a:xfrm>
          <a:prstGeom prst="rect">
            <a:avLst/>
          </a:prstGeom>
          <a:noFill/>
        </p:spPr>
        <p:txBody>
          <a:bodyPr wrap="square" lIns="0" tIns="0" rIns="0" bIns="0" anchor="t">
            <a:spAutoFit/>
          </a:bodyPr>
          <a:lstStyle/>
          <a:p>
            <a:pPr algn="ctr">
              <a:lnSpc>
                <a:spcPct val="110000"/>
              </a:lnSpc>
              <a:spcBef>
                <a:spcPts val="0"/>
              </a:spcBef>
              <a:spcAft>
                <a:spcPts val="0"/>
              </a:spcAft>
            </a:pPr>
            <a:r>
              <a:rPr lang="en-US" sz="900" b="0" i="0" noProof="0">
                <a:solidFill>
                  <a:srgbClr val="FFFFFF"/>
                </a:solidFill>
                <a:latin typeface="Arial" panose="020B0604020202020204" pitchFamily="34" charset="0"/>
                <a:cs typeface="Arial" panose="020B0604020202020204" pitchFamily="34" charset="0"/>
              </a:rPr>
              <a:t>Channels</a:t>
            </a:r>
          </a:p>
        </p:txBody>
      </p:sp>
      <p:sp>
        <p:nvSpPr>
          <p:cNvPr id="96" name="Rectangle 13">
            <a:extLst>
              <a:ext uri="{FF2B5EF4-FFF2-40B4-BE49-F238E27FC236}">
                <a16:creationId xmlns:a16="http://schemas.microsoft.com/office/drawing/2014/main" id="{A65ADB74-CE71-CC91-131F-B00F54A9748E}"/>
              </a:ext>
            </a:extLst>
          </p:cNvPr>
          <p:cNvSpPr/>
          <p:nvPr/>
        </p:nvSpPr>
        <p:spPr>
          <a:xfrm>
            <a:off x="6343873" y="1271734"/>
            <a:ext cx="1358798"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11" name="TextBox 14">
            <a:extLst>
              <a:ext uri="{FF2B5EF4-FFF2-40B4-BE49-F238E27FC236}">
                <a16:creationId xmlns:a16="http://schemas.microsoft.com/office/drawing/2014/main" id="{BDDD884F-8FFC-A279-8BFD-1F360090FD20}"/>
              </a:ext>
            </a:extLst>
          </p:cNvPr>
          <p:cNvSpPr txBox="1"/>
          <p:nvPr/>
        </p:nvSpPr>
        <p:spPr>
          <a:xfrm>
            <a:off x="6343873" y="1299166"/>
            <a:ext cx="1358798" cy="139525"/>
          </a:xfrm>
          <a:prstGeom prst="rect">
            <a:avLst/>
          </a:prstGeom>
          <a:noFill/>
        </p:spPr>
        <p:txBody>
          <a:bodyPr wrap="square" lIns="0" tIns="0" rIns="0" bIns="0" anchor="t">
            <a:spAutoFit/>
          </a:bodyPr>
          <a:lstStyle/>
          <a:p>
            <a:pPr algn="ctr">
              <a:lnSpc>
                <a:spcPct val="110000"/>
              </a:lnSpc>
              <a:spcBef>
                <a:spcPts val="0"/>
              </a:spcBef>
              <a:spcAft>
                <a:spcPts val="0"/>
              </a:spcAft>
            </a:pPr>
            <a:r>
              <a:rPr lang="en-US" sz="900" b="1" i="0" noProof="0">
                <a:solidFill>
                  <a:srgbClr val="FFFFFF"/>
                </a:solidFill>
                <a:latin typeface="Arial" panose="020B0604020202020204" pitchFamily="34" charset="0"/>
                <a:cs typeface="Arial" panose="020B0604020202020204" pitchFamily="34" charset="0"/>
              </a:rPr>
              <a:t>02 CLASSIFICATION</a:t>
            </a:r>
          </a:p>
        </p:txBody>
      </p:sp>
      <p:sp>
        <p:nvSpPr>
          <p:cNvPr id="140" name="TextBox 15">
            <a:extLst>
              <a:ext uri="{FF2B5EF4-FFF2-40B4-BE49-F238E27FC236}">
                <a16:creationId xmlns:a16="http://schemas.microsoft.com/office/drawing/2014/main" id="{6E376847-9530-BB8D-1441-C9C54A2AA084}"/>
              </a:ext>
            </a:extLst>
          </p:cNvPr>
          <p:cNvSpPr txBox="1"/>
          <p:nvPr/>
        </p:nvSpPr>
        <p:spPr>
          <a:xfrm>
            <a:off x="6343873" y="1527766"/>
            <a:ext cx="1358798" cy="139590"/>
          </a:xfrm>
          <a:prstGeom prst="rect">
            <a:avLst/>
          </a:prstGeom>
          <a:noFill/>
        </p:spPr>
        <p:txBody>
          <a:bodyPr wrap="square" lIns="0" tIns="0" rIns="0" bIns="0" anchor="t">
            <a:spAutoFit/>
          </a:bodyPr>
          <a:lstStyle/>
          <a:p>
            <a:pPr algn="ctr">
              <a:lnSpc>
                <a:spcPct val="110000"/>
              </a:lnSpc>
              <a:spcBef>
                <a:spcPts val="0"/>
              </a:spcBef>
              <a:spcAft>
                <a:spcPts val="0"/>
              </a:spcAft>
            </a:pPr>
            <a:r>
              <a:rPr lang="en-US" sz="900" b="0" i="0" noProof="0">
                <a:solidFill>
                  <a:srgbClr val="FFFFFF"/>
                </a:solidFill>
                <a:latin typeface="Arial" panose="020B0604020202020204" pitchFamily="34" charset="0"/>
                <a:cs typeface="Arial" panose="020B0604020202020204" pitchFamily="34" charset="0"/>
              </a:rPr>
              <a:t>Type, Size, Urgency</a:t>
            </a:r>
          </a:p>
        </p:txBody>
      </p:sp>
      <p:sp>
        <p:nvSpPr>
          <p:cNvPr id="149" name="Rectangle 16">
            <a:extLst>
              <a:ext uri="{FF2B5EF4-FFF2-40B4-BE49-F238E27FC236}">
                <a16:creationId xmlns:a16="http://schemas.microsoft.com/office/drawing/2014/main" id="{DDC6DA78-AC31-E785-B590-6D70C06603AD}"/>
              </a:ext>
            </a:extLst>
          </p:cNvPr>
          <p:cNvSpPr/>
          <p:nvPr/>
        </p:nvSpPr>
        <p:spPr>
          <a:xfrm>
            <a:off x="7748391" y="1271734"/>
            <a:ext cx="1358798"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55" name="TextBox 17">
            <a:extLst>
              <a:ext uri="{FF2B5EF4-FFF2-40B4-BE49-F238E27FC236}">
                <a16:creationId xmlns:a16="http://schemas.microsoft.com/office/drawing/2014/main" id="{A62247BB-F088-2A08-DA45-9C46C9E00055}"/>
              </a:ext>
            </a:extLst>
          </p:cNvPr>
          <p:cNvSpPr txBox="1"/>
          <p:nvPr/>
        </p:nvSpPr>
        <p:spPr>
          <a:xfrm>
            <a:off x="7748391" y="1299166"/>
            <a:ext cx="1358798" cy="139525"/>
          </a:xfrm>
          <a:prstGeom prst="rect">
            <a:avLst/>
          </a:prstGeom>
          <a:noFill/>
        </p:spPr>
        <p:txBody>
          <a:bodyPr wrap="square" lIns="0" tIns="0" rIns="0" bIns="0" anchor="t">
            <a:spAutoFit/>
          </a:bodyPr>
          <a:lstStyle/>
          <a:p>
            <a:pPr algn="ctr">
              <a:lnSpc>
                <a:spcPct val="110000"/>
              </a:lnSpc>
              <a:spcBef>
                <a:spcPts val="0"/>
              </a:spcBef>
              <a:spcAft>
                <a:spcPts val="0"/>
              </a:spcAft>
            </a:pPr>
            <a:r>
              <a:rPr lang="en-US" sz="900" b="1" i="0" noProof="0">
                <a:solidFill>
                  <a:srgbClr val="FFFFFF"/>
                </a:solidFill>
                <a:latin typeface="Arial" panose="020B0604020202020204" pitchFamily="34" charset="0"/>
                <a:cs typeface="Arial" panose="020B0604020202020204" pitchFamily="34" charset="0"/>
              </a:rPr>
              <a:t>03 PRIORITIZATION</a:t>
            </a:r>
          </a:p>
        </p:txBody>
      </p:sp>
      <p:sp>
        <p:nvSpPr>
          <p:cNvPr id="158" name="TextBox 18">
            <a:extLst>
              <a:ext uri="{FF2B5EF4-FFF2-40B4-BE49-F238E27FC236}">
                <a16:creationId xmlns:a16="http://schemas.microsoft.com/office/drawing/2014/main" id="{0D76770E-DEC9-2805-E0CC-7667EF9C738E}"/>
              </a:ext>
            </a:extLst>
          </p:cNvPr>
          <p:cNvSpPr txBox="1"/>
          <p:nvPr/>
        </p:nvSpPr>
        <p:spPr>
          <a:xfrm>
            <a:off x="7748391" y="1527766"/>
            <a:ext cx="1358798" cy="139590"/>
          </a:xfrm>
          <a:prstGeom prst="rect">
            <a:avLst/>
          </a:prstGeom>
          <a:noFill/>
        </p:spPr>
        <p:txBody>
          <a:bodyPr wrap="square" lIns="0" tIns="0" rIns="0" bIns="0" anchor="t">
            <a:spAutoFit/>
          </a:bodyPr>
          <a:lstStyle/>
          <a:p>
            <a:pPr algn="ctr">
              <a:lnSpc>
                <a:spcPct val="110000"/>
              </a:lnSpc>
              <a:spcBef>
                <a:spcPts val="0"/>
              </a:spcBef>
              <a:spcAft>
                <a:spcPts val="0"/>
              </a:spcAft>
            </a:pPr>
            <a:r>
              <a:rPr lang="en-US" sz="900" b="0" i="0" noProof="0">
                <a:solidFill>
                  <a:srgbClr val="FFFFFF"/>
                </a:solidFill>
                <a:latin typeface="Arial" panose="020B0604020202020204" pitchFamily="34" charset="0"/>
                <a:cs typeface="Arial" panose="020B0604020202020204" pitchFamily="34" charset="0"/>
              </a:rPr>
              <a:t>Scoring &amp; Criteria</a:t>
            </a:r>
          </a:p>
        </p:txBody>
      </p:sp>
      <p:sp>
        <p:nvSpPr>
          <p:cNvPr id="183" name="Rectangle 19">
            <a:extLst>
              <a:ext uri="{FF2B5EF4-FFF2-40B4-BE49-F238E27FC236}">
                <a16:creationId xmlns:a16="http://schemas.microsoft.com/office/drawing/2014/main" id="{B51EDB3C-A9D2-6373-6463-B180A3B660A1}"/>
              </a:ext>
            </a:extLst>
          </p:cNvPr>
          <p:cNvSpPr/>
          <p:nvPr/>
        </p:nvSpPr>
        <p:spPr>
          <a:xfrm>
            <a:off x="9152910" y="1271734"/>
            <a:ext cx="1358798"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84" name="TextBox 20">
            <a:extLst>
              <a:ext uri="{FF2B5EF4-FFF2-40B4-BE49-F238E27FC236}">
                <a16:creationId xmlns:a16="http://schemas.microsoft.com/office/drawing/2014/main" id="{DE4A3276-33C6-FB52-4C27-49D953166F02}"/>
              </a:ext>
            </a:extLst>
          </p:cNvPr>
          <p:cNvSpPr txBox="1"/>
          <p:nvPr/>
        </p:nvSpPr>
        <p:spPr>
          <a:xfrm>
            <a:off x="9152910" y="1299166"/>
            <a:ext cx="1358798" cy="139525"/>
          </a:xfrm>
          <a:prstGeom prst="rect">
            <a:avLst/>
          </a:prstGeom>
          <a:noFill/>
        </p:spPr>
        <p:txBody>
          <a:bodyPr wrap="square" lIns="0" tIns="0" rIns="0" bIns="0" anchor="t">
            <a:spAutoFit/>
          </a:bodyPr>
          <a:lstStyle/>
          <a:p>
            <a:pPr algn="ctr">
              <a:lnSpc>
                <a:spcPct val="110000"/>
              </a:lnSpc>
              <a:spcBef>
                <a:spcPts val="0"/>
              </a:spcBef>
              <a:spcAft>
                <a:spcPts val="0"/>
              </a:spcAft>
            </a:pPr>
            <a:r>
              <a:rPr lang="en-US" sz="900" b="1" i="0" noProof="0">
                <a:solidFill>
                  <a:srgbClr val="FFFFFF"/>
                </a:solidFill>
                <a:latin typeface="Arial" panose="020B0604020202020204" pitchFamily="34" charset="0"/>
                <a:cs typeface="Arial" panose="020B0604020202020204" pitchFamily="34" charset="0"/>
              </a:rPr>
              <a:t>04 PORTFOLIO</a:t>
            </a:r>
          </a:p>
        </p:txBody>
      </p:sp>
      <p:sp>
        <p:nvSpPr>
          <p:cNvPr id="185" name="TextBox 21">
            <a:extLst>
              <a:ext uri="{FF2B5EF4-FFF2-40B4-BE49-F238E27FC236}">
                <a16:creationId xmlns:a16="http://schemas.microsoft.com/office/drawing/2014/main" id="{A74B8A1E-613C-E18A-004C-647697CF534C}"/>
              </a:ext>
            </a:extLst>
          </p:cNvPr>
          <p:cNvSpPr txBox="1"/>
          <p:nvPr/>
        </p:nvSpPr>
        <p:spPr>
          <a:xfrm>
            <a:off x="9152910" y="1527766"/>
            <a:ext cx="1358798" cy="139590"/>
          </a:xfrm>
          <a:prstGeom prst="rect">
            <a:avLst/>
          </a:prstGeom>
          <a:noFill/>
        </p:spPr>
        <p:txBody>
          <a:bodyPr wrap="square" lIns="0" tIns="0" rIns="0" bIns="0" anchor="t">
            <a:spAutoFit/>
          </a:bodyPr>
          <a:lstStyle/>
          <a:p>
            <a:pPr algn="ctr">
              <a:lnSpc>
                <a:spcPct val="110000"/>
              </a:lnSpc>
              <a:spcBef>
                <a:spcPts val="0"/>
              </a:spcBef>
              <a:spcAft>
                <a:spcPts val="0"/>
              </a:spcAft>
            </a:pPr>
            <a:r>
              <a:rPr lang="en-US" sz="900" b="0" i="0" noProof="0">
                <a:solidFill>
                  <a:srgbClr val="FFFFFF"/>
                </a:solidFill>
                <a:latin typeface="Arial" panose="020B0604020202020204" pitchFamily="34" charset="0"/>
                <a:cs typeface="Arial" panose="020B0604020202020204" pitchFamily="34" charset="0"/>
              </a:rPr>
              <a:t>Governance</a:t>
            </a:r>
          </a:p>
        </p:txBody>
      </p:sp>
      <p:sp>
        <p:nvSpPr>
          <p:cNvPr id="186" name="Rectangle 22">
            <a:extLst>
              <a:ext uri="{FF2B5EF4-FFF2-40B4-BE49-F238E27FC236}">
                <a16:creationId xmlns:a16="http://schemas.microsoft.com/office/drawing/2014/main" id="{C3449699-BD9B-E7E5-58DA-6B9D2B3050E0}"/>
              </a:ext>
            </a:extLst>
          </p:cNvPr>
          <p:cNvSpPr/>
          <p:nvPr/>
        </p:nvSpPr>
        <p:spPr>
          <a:xfrm>
            <a:off x="10557428" y="1271734"/>
            <a:ext cx="1358798"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87" name="TextBox 23">
            <a:extLst>
              <a:ext uri="{FF2B5EF4-FFF2-40B4-BE49-F238E27FC236}">
                <a16:creationId xmlns:a16="http://schemas.microsoft.com/office/drawing/2014/main" id="{C9F483FD-26FF-4DBC-3B6F-690A59A3BE47}"/>
              </a:ext>
            </a:extLst>
          </p:cNvPr>
          <p:cNvSpPr txBox="1"/>
          <p:nvPr/>
        </p:nvSpPr>
        <p:spPr>
          <a:xfrm>
            <a:off x="10557428" y="1299166"/>
            <a:ext cx="1358798" cy="139525"/>
          </a:xfrm>
          <a:prstGeom prst="rect">
            <a:avLst/>
          </a:prstGeom>
          <a:noFill/>
        </p:spPr>
        <p:txBody>
          <a:bodyPr wrap="square" lIns="0" tIns="0" rIns="0" bIns="0" anchor="t">
            <a:spAutoFit/>
          </a:bodyPr>
          <a:lstStyle/>
          <a:p>
            <a:pPr algn="ctr">
              <a:lnSpc>
                <a:spcPct val="110000"/>
              </a:lnSpc>
              <a:spcBef>
                <a:spcPts val="0"/>
              </a:spcBef>
              <a:spcAft>
                <a:spcPts val="0"/>
              </a:spcAft>
            </a:pPr>
            <a:r>
              <a:rPr lang="en-US" sz="900" b="1" i="0" noProof="0">
                <a:solidFill>
                  <a:srgbClr val="FFFFFF"/>
                </a:solidFill>
                <a:latin typeface="Arial" panose="020B0604020202020204" pitchFamily="34" charset="0"/>
                <a:cs typeface="Arial" panose="020B0604020202020204" pitchFamily="34" charset="0"/>
              </a:rPr>
              <a:t>05 DELIVERY</a:t>
            </a:r>
          </a:p>
        </p:txBody>
      </p:sp>
      <p:sp>
        <p:nvSpPr>
          <p:cNvPr id="188" name="TextBox 24">
            <a:extLst>
              <a:ext uri="{FF2B5EF4-FFF2-40B4-BE49-F238E27FC236}">
                <a16:creationId xmlns:a16="http://schemas.microsoft.com/office/drawing/2014/main" id="{86993AF8-4646-BA90-D2FC-F27DF0DE59FF}"/>
              </a:ext>
            </a:extLst>
          </p:cNvPr>
          <p:cNvSpPr txBox="1"/>
          <p:nvPr/>
        </p:nvSpPr>
        <p:spPr>
          <a:xfrm>
            <a:off x="10557428" y="1527766"/>
            <a:ext cx="1358798" cy="139590"/>
          </a:xfrm>
          <a:prstGeom prst="rect">
            <a:avLst/>
          </a:prstGeom>
          <a:noFill/>
        </p:spPr>
        <p:txBody>
          <a:bodyPr wrap="square" lIns="0" tIns="0" rIns="0" bIns="0" anchor="t">
            <a:spAutoFit/>
          </a:bodyPr>
          <a:lstStyle/>
          <a:p>
            <a:pPr algn="ctr">
              <a:lnSpc>
                <a:spcPct val="110000"/>
              </a:lnSpc>
              <a:spcBef>
                <a:spcPts val="0"/>
              </a:spcBef>
              <a:spcAft>
                <a:spcPts val="0"/>
              </a:spcAft>
            </a:pPr>
            <a:r>
              <a:rPr lang="en-US" sz="900" b="0" i="0" noProof="0">
                <a:solidFill>
                  <a:srgbClr val="FFFFFF"/>
                </a:solidFill>
                <a:latin typeface="Arial" panose="020B0604020202020204" pitchFamily="34" charset="0"/>
                <a:cs typeface="Arial" panose="020B0604020202020204" pitchFamily="34" charset="0"/>
              </a:rPr>
              <a:t>Execution</a:t>
            </a:r>
          </a:p>
        </p:txBody>
      </p:sp>
      <p:sp>
        <p:nvSpPr>
          <p:cNvPr id="189" name="Rectangle 25">
            <a:extLst>
              <a:ext uri="{FF2B5EF4-FFF2-40B4-BE49-F238E27FC236}">
                <a16:creationId xmlns:a16="http://schemas.microsoft.com/office/drawing/2014/main" id="{E5EC19E7-5DED-F0D2-AE79-F26B07DDE3D1}"/>
              </a:ext>
            </a:extLst>
          </p:cNvPr>
          <p:cNvSpPr/>
          <p:nvPr/>
        </p:nvSpPr>
        <p:spPr>
          <a:xfrm>
            <a:off x="458795" y="2052171"/>
            <a:ext cx="1143000" cy="54864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190" name="TextBox 26">
            <a:extLst>
              <a:ext uri="{FF2B5EF4-FFF2-40B4-BE49-F238E27FC236}">
                <a16:creationId xmlns:a16="http://schemas.microsoft.com/office/drawing/2014/main" id="{9AFEF594-62C5-B228-2B26-9A94C7AF0972}"/>
              </a:ext>
            </a:extLst>
          </p:cNvPr>
          <p:cNvSpPr txBox="1"/>
          <p:nvPr/>
        </p:nvSpPr>
        <p:spPr>
          <a:xfrm>
            <a:off x="460304" y="2250510"/>
            <a:ext cx="1143000" cy="154979"/>
          </a:xfrm>
          <a:prstGeom prst="rect">
            <a:avLst/>
          </a:prstGeom>
          <a:noFill/>
        </p:spPr>
        <p:txBody>
          <a:bodyPr wrap="square" lIns="0" tIns="0" rIns="0" bIns="0" anchor="ctr">
            <a:spAutoFit/>
          </a:bodyPr>
          <a:lstStyle/>
          <a:p>
            <a:pPr algn="ctr">
              <a:lnSpc>
                <a:spcPct val="110000"/>
              </a:lnSpc>
              <a:spcBef>
                <a:spcPts val="0"/>
              </a:spcBef>
              <a:spcAft>
                <a:spcPts val="0"/>
              </a:spcAft>
            </a:pPr>
            <a:r>
              <a:rPr lang="en-US" sz="1000" b="1" i="0" noProof="0">
                <a:solidFill>
                  <a:srgbClr val="FFFFFF"/>
                </a:solidFill>
                <a:latin typeface="Arial" panose="020B0604020202020204" pitchFamily="34" charset="0"/>
                <a:cs typeface="Arial" panose="020B0604020202020204" pitchFamily="34" charset="0"/>
              </a:rPr>
              <a:t>GIS</a:t>
            </a:r>
          </a:p>
        </p:txBody>
      </p:sp>
      <p:sp>
        <p:nvSpPr>
          <p:cNvPr id="191" name="Rectangle 27">
            <a:extLst>
              <a:ext uri="{FF2B5EF4-FFF2-40B4-BE49-F238E27FC236}">
                <a16:creationId xmlns:a16="http://schemas.microsoft.com/office/drawing/2014/main" id="{D2656754-88D9-DD87-D684-05754B5761D5}"/>
              </a:ext>
            </a:extLst>
          </p:cNvPr>
          <p:cNvSpPr/>
          <p:nvPr/>
        </p:nvSpPr>
        <p:spPr>
          <a:xfrm>
            <a:off x="1647515" y="2052171"/>
            <a:ext cx="1645920"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sz="900" noProof="0">
                <a:solidFill>
                  <a:srgbClr val="0F1C50"/>
                </a:solidFill>
                <a:latin typeface="Arial" panose="020B0604020202020204" pitchFamily="34" charset="0"/>
                <a:cs typeface="Arial" panose="020B0604020202020204" pitchFamily="34" charset="0"/>
              </a:rPr>
              <a:t>Electric &amp; Gas Field Operations · OSG</a:t>
            </a:r>
            <a:endParaRPr lang="en-US" sz="2000" noProof="0">
              <a:latin typeface="Arial" panose="020B0604020202020204" pitchFamily="34" charset="0"/>
              <a:cs typeface="Arial" panose="020B0604020202020204" pitchFamily="34" charset="0"/>
            </a:endParaRPr>
          </a:p>
        </p:txBody>
      </p:sp>
      <p:sp>
        <p:nvSpPr>
          <p:cNvPr id="192" name="Rectangle 29">
            <a:extLst>
              <a:ext uri="{FF2B5EF4-FFF2-40B4-BE49-F238E27FC236}">
                <a16:creationId xmlns:a16="http://schemas.microsoft.com/office/drawing/2014/main" id="{B80FE7E4-893C-7F35-B16B-22FE5C1F7096}"/>
              </a:ext>
            </a:extLst>
          </p:cNvPr>
          <p:cNvSpPr/>
          <p:nvPr/>
        </p:nvSpPr>
        <p:spPr>
          <a:xfrm>
            <a:off x="3339155" y="2052171"/>
            <a:ext cx="1554480"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193" name="TextBox 30">
            <a:extLst>
              <a:ext uri="{FF2B5EF4-FFF2-40B4-BE49-F238E27FC236}">
                <a16:creationId xmlns:a16="http://schemas.microsoft.com/office/drawing/2014/main" id="{70F5681A-38D0-D66A-6DEF-9454F4838329}"/>
              </a:ext>
            </a:extLst>
          </p:cNvPr>
          <p:cNvSpPr txBox="1"/>
          <p:nvPr/>
        </p:nvSpPr>
        <p:spPr>
          <a:xfrm>
            <a:off x="3412307" y="2256728"/>
            <a:ext cx="1408176" cy="139525"/>
          </a:xfrm>
          <a:prstGeom prst="rect">
            <a:avLst/>
          </a:prstGeom>
          <a:noFill/>
        </p:spPr>
        <p:txBody>
          <a:bodyPr wrap="square" lIns="0" tIns="0" rIns="0" bIns="0" anchor="ctr">
            <a:spAutoFit/>
          </a:bodyPr>
          <a:lstStyle/>
          <a:p>
            <a:pPr algn="l">
              <a:lnSpc>
                <a:spcPct val="110000"/>
              </a:lnSpc>
              <a:spcBef>
                <a:spcPts val="0"/>
              </a:spcBef>
              <a:spcAft>
                <a:spcPts val="0"/>
              </a:spcAft>
            </a:pPr>
            <a:r>
              <a:rPr lang="en-US" sz="900" noProof="0">
                <a:solidFill>
                  <a:srgbClr val="2C3E50"/>
                </a:solidFill>
                <a:latin typeface="Arial" panose="020B0604020202020204" pitchFamily="34" charset="0"/>
                <a:cs typeface="Arial" panose="020B0604020202020204" pitchFamily="34" charset="0"/>
              </a:rPr>
              <a:t>Break/fix · Small · Large</a:t>
            </a:r>
          </a:p>
        </p:txBody>
      </p:sp>
      <p:sp>
        <p:nvSpPr>
          <p:cNvPr id="194" name="Rectangle 31">
            <a:extLst>
              <a:ext uri="{FF2B5EF4-FFF2-40B4-BE49-F238E27FC236}">
                <a16:creationId xmlns:a16="http://schemas.microsoft.com/office/drawing/2014/main" id="{A430E7E9-75AC-077E-2658-9136D16E3B28}"/>
              </a:ext>
            </a:extLst>
          </p:cNvPr>
          <p:cNvSpPr/>
          <p:nvPr/>
        </p:nvSpPr>
        <p:spPr>
          <a:xfrm>
            <a:off x="4939354" y="2052171"/>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195" name="TextBox 33">
            <a:extLst>
              <a:ext uri="{FF2B5EF4-FFF2-40B4-BE49-F238E27FC236}">
                <a16:creationId xmlns:a16="http://schemas.microsoft.com/office/drawing/2014/main" id="{0E42FDE3-5F47-7675-480A-B969EECFBF8D}"/>
              </a:ext>
            </a:extLst>
          </p:cNvPr>
          <p:cNvSpPr txBox="1"/>
          <p:nvPr/>
        </p:nvSpPr>
        <p:spPr>
          <a:xfrm>
            <a:off x="5174758" y="2192300"/>
            <a:ext cx="1084478" cy="445186"/>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a:ea typeface="+mn-lt"/>
                <a:cs typeface="Arial"/>
              </a:rPr>
              <a:t>No SLA, no volume tracking</a:t>
            </a:r>
            <a:endParaRPr lang="en-US" noProof="0"/>
          </a:p>
          <a:p>
            <a:pPr>
              <a:lnSpc>
                <a:spcPct val="110000"/>
              </a:lnSpc>
            </a:pPr>
            <a:endParaRPr lang="en-US" sz="900" noProof="0">
              <a:solidFill>
                <a:srgbClr val="2C3E50"/>
              </a:solidFill>
              <a:latin typeface="Arial" panose="020B0604020202020204" pitchFamily="34" charset="0"/>
              <a:cs typeface="Arial" panose="020B0604020202020204" pitchFamily="34" charset="0"/>
            </a:endParaRPr>
          </a:p>
        </p:txBody>
      </p:sp>
      <p:sp>
        <p:nvSpPr>
          <p:cNvPr id="196" name="Rectangle 34">
            <a:extLst>
              <a:ext uri="{FF2B5EF4-FFF2-40B4-BE49-F238E27FC236}">
                <a16:creationId xmlns:a16="http://schemas.microsoft.com/office/drawing/2014/main" id="{D403870C-FFB7-ACF9-4CFE-FDA9BDD231CE}"/>
              </a:ext>
            </a:extLst>
          </p:cNvPr>
          <p:cNvSpPr/>
          <p:nvPr/>
        </p:nvSpPr>
        <p:spPr>
          <a:xfrm>
            <a:off x="6343873" y="2052171"/>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197" name="TextBox 36">
            <a:extLst>
              <a:ext uri="{FF2B5EF4-FFF2-40B4-BE49-F238E27FC236}">
                <a16:creationId xmlns:a16="http://schemas.microsoft.com/office/drawing/2014/main" id="{60F5D7FA-911B-722C-FA57-391EAEDC93FE}"/>
              </a:ext>
            </a:extLst>
          </p:cNvPr>
          <p:cNvSpPr txBox="1"/>
          <p:nvPr/>
        </p:nvSpPr>
        <p:spPr>
          <a:xfrm>
            <a:off x="6586080" y="2192300"/>
            <a:ext cx="1084478" cy="445186"/>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a:ea typeface="+mn-lt"/>
                <a:cs typeface="Arial"/>
              </a:rPr>
              <a:t>No classification rule below PDD threshold</a:t>
            </a:r>
          </a:p>
          <a:p>
            <a:pPr>
              <a:lnSpc>
                <a:spcPct val="110000"/>
              </a:lnSpc>
              <a:spcBef>
                <a:spcPts val="0"/>
              </a:spcBef>
              <a:spcAft>
                <a:spcPts val="0"/>
              </a:spcAft>
            </a:pPr>
            <a:endParaRPr lang="en-US" sz="900" noProof="0">
              <a:solidFill>
                <a:srgbClr val="2C3E50"/>
              </a:solidFill>
              <a:latin typeface="Arial"/>
              <a:ea typeface="+mn-lt"/>
              <a:cs typeface="Arial"/>
            </a:endParaRPr>
          </a:p>
        </p:txBody>
      </p:sp>
      <p:sp>
        <p:nvSpPr>
          <p:cNvPr id="198" name="Rectangle 37">
            <a:extLst>
              <a:ext uri="{FF2B5EF4-FFF2-40B4-BE49-F238E27FC236}">
                <a16:creationId xmlns:a16="http://schemas.microsoft.com/office/drawing/2014/main" id="{D3AAF2F2-50C3-84C1-CB80-2AD92E92D690}"/>
              </a:ext>
            </a:extLst>
          </p:cNvPr>
          <p:cNvSpPr/>
          <p:nvPr/>
        </p:nvSpPr>
        <p:spPr>
          <a:xfrm>
            <a:off x="7748391" y="2052171"/>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199" name="TextBox 39">
            <a:extLst>
              <a:ext uri="{FF2B5EF4-FFF2-40B4-BE49-F238E27FC236}">
                <a16:creationId xmlns:a16="http://schemas.microsoft.com/office/drawing/2014/main" id="{3FA8427B-6EA9-B64A-6A63-0B048625A931}"/>
              </a:ext>
            </a:extLst>
          </p:cNvPr>
          <p:cNvSpPr txBox="1"/>
          <p:nvPr/>
        </p:nvSpPr>
        <p:spPr>
          <a:xfrm>
            <a:off x="7976991" y="2192300"/>
            <a:ext cx="1084478" cy="417487"/>
          </a:xfrm>
          <a:prstGeom prst="rect">
            <a:avLst/>
          </a:prstGeom>
          <a:noFill/>
        </p:spPr>
        <p:txBody>
          <a:bodyPr wrap="square" lIns="0" tIns="0" rIns="0" bIns="0" anchor="ctr">
            <a:spAutoFit/>
          </a:bodyPr>
          <a:lstStyle/>
          <a:p>
            <a:r>
              <a:rPr lang="en-US" sz="900" noProof="0">
                <a:solidFill>
                  <a:srgbClr val="2C3E50"/>
                </a:solidFill>
                <a:latin typeface="Arial"/>
                <a:ea typeface="+mn-lt"/>
                <a:cs typeface="Arial"/>
              </a:rPr>
              <a:t>Heuristic-based; no scoring model</a:t>
            </a:r>
          </a:p>
          <a:p>
            <a:pPr algn="l">
              <a:lnSpc>
                <a:spcPct val="110000"/>
              </a:lnSpc>
              <a:spcBef>
                <a:spcPts val="0"/>
              </a:spcBef>
              <a:spcAft>
                <a:spcPts val="0"/>
              </a:spcAft>
            </a:pPr>
            <a:endParaRPr lang="en-US" sz="900" noProof="0">
              <a:solidFill>
                <a:srgbClr val="2C3E50"/>
              </a:solidFill>
              <a:latin typeface="Arial"/>
              <a:ea typeface="+mn-lt"/>
              <a:cs typeface="Arial"/>
            </a:endParaRPr>
          </a:p>
        </p:txBody>
      </p:sp>
      <p:sp>
        <p:nvSpPr>
          <p:cNvPr id="200" name="Rectangle 40">
            <a:extLst>
              <a:ext uri="{FF2B5EF4-FFF2-40B4-BE49-F238E27FC236}">
                <a16:creationId xmlns:a16="http://schemas.microsoft.com/office/drawing/2014/main" id="{CF2392C0-9C7B-1D24-C0AB-7B141622AF31}"/>
              </a:ext>
            </a:extLst>
          </p:cNvPr>
          <p:cNvSpPr/>
          <p:nvPr/>
        </p:nvSpPr>
        <p:spPr>
          <a:xfrm>
            <a:off x="9152910" y="2052171"/>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201" name="TextBox 42">
            <a:extLst>
              <a:ext uri="{FF2B5EF4-FFF2-40B4-BE49-F238E27FC236}">
                <a16:creationId xmlns:a16="http://schemas.microsoft.com/office/drawing/2014/main" id="{A1AB317E-C2E4-C3AF-4194-C7EB88FD07BB}"/>
              </a:ext>
            </a:extLst>
          </p:cNvPr>
          <p:cNvSpPr txBox="1"/>
          <p:nvPr/>
        </p:nvSpPr>
        <p:spPr>
          <a:xfrm>
            <a:off x="9381510" y="2192300"/>
            <a:ext cx="1084478" cy="297261"/>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a:ea typeface="+mn-lt"/>
                <a:cs typeface="Arial"/>
              </a:rPr>
              <a:t>Informal portfolio management</a:t>
            </a:r>
            <a:endParaRPr lang="en-US" noProof="0"/>
          </a:p>
        </p:txBody>
      </p:sp>
      <p:sp>
        <p:nvSpPr>
          <p:cNvPr id="202" name="Rectangle 43">
            <a:extLst>
              <a:ext uri="{FF2B5EF4-FFF2-40B4-BE49-F238E27FC236}">
                <a16:creationId xmlns:a16="http://schemas.microsoft.com/office/drawing/2014/main" id="{050A2BDF-8BF8-8CC0-0122-140185624A28}"/>
              </a:ext>
            </a:extLst>
          </p:cNvPr>
          <p:cNvSpPr/>
          <p:nvPr/>
        </p:nvSpPr>
        <p:spPr>
          <a:xfrm>
            <a:off x="10557428" y="2052171"/>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203" name="TextBox 45">
            <a:extLst>
              <a:ext uri="{FF2B5EF4-FFF2-40B4-BE49-F238E27FC236}">
                <a16:creationId xmlns:a16="http://schemas.microsoft.com/office/drawing/2014/main" id="{4B6193AC-B0E0-419D-77EB-DC6AC03D6397}"/>
              </a:ext>
            </a:extLst>
          </p:cNvPr>
          <p:cNvSpPr txBox="1"/>
          <p:nvPr/>
        </p:nvSpPr>
        <p:spPr>
          <a:xfrm>
            <a:off x="10786028" y="2192300"/>
            <a:ext cx="1084478" cy="297261"/>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a:ea typeface="+mn-lt"/>
                <a:cs typeface="Arial"/>
              </a:rPr>
              <a:t>Ad-hoc delivery; no release KPIs</a:t>
            </a:r>
            <a:endParaRPr lang="en-US" noProof="0"/>
          </a:p>
        </p:txBody>
      </p:sp>
      <p:sp>
        <p:nvSpPr>
          <p:cNvPr id="204" name="Rectangle 46">
            <a:extLst>
              <a:ext uri="{FF2B5EF4-FFF2-40B4-BE49-F238E27FC236}">
                <a16:creationId xmlns:a16="http://schemas.microsoft.com/office/drawing/2014/main" id="{6E6FF9CB-4740-4180-9157-E166D963B3C2}"/>
              </a:ext>
            </a:extLst>
          </p:cNvPr>
          <p:cNvSpPr/>
          <p:nvPr/>
        </p:nvSpPr>
        <p:spPr>
          <a:xfrm>
            <a:off x="458795" y="2655675"/>
            <a:ext cx="1143000" cy="54864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205" name="TextBox 47">
            <a:extLst>
              <a:ext uri="{FF2B5EF4-FFF2-40B4-BE49-F238E27FC236}">
                <a16:creationId xmlns:a16="http://schemas.microsoft.com/office/drawing/2014/main" id="{3F696757-AA74-51C3-3F11-0FA51A706FA1}"/>
              </a:ext>
            </a:extLst>
          </p:cNvPr>
          <p:cNvSpPr txBox="1"/>
          <p:nvPr/>
        </p:nvSpPr>
        <p:spPr>
          <a:xfrm>
            <a:off x="460304" y="2854014"/>
            <a:ext cx="1143000" cy="154979"/>
          </a:xfrm>
          <a:prstGeom prst="rect">
            <a:avLst/>
          </a:prstGeom>
          <a:noFill/>
        </p:spPr>
        <p:txBody>
          <a:bodyPr wrap="square" lIns="0" tIns="0" rIns="0" bIns="0" anchor="ctr">
            <a:spAutoFit/>
          </a:bodyPr>
          <a:lstStyle/>
          <a:p>
            <a:pPr algn="ctr">
              <a:lnSpc>
                <a:spcPct val="110000"/>
              </a:lnSpc>
              <a:spcBef>
                <a:spcPts val="0"/>
              </a:spcBef>
              <a:spcAft>
                <a:spcPts val="0"/>
              </a:spcAft>
            </a:pPr>
            <a:r>
              <a:rPr lang="en-US" sz="1000" b="1" i="0" noProof="0">
                <a:solidFill>
                  <a:srgbClr val="FFFFFF"/>
                </a:solidFill>
                <a:latin typeface="Arial" panose="020B0604020202020204" pitchFamily="34" charset="0"/>
                <a:cs typeface="Arial" panose="020B0604020202020204" pitchFamily="34" charset="0"/>
              </a:rPr>
              <a:t>Corporate</a:t>
            </a:r>
          </a:p>
        </p:txBody>
      </p:sp>
      <p:sp>
        <p:nvSpPr>
          <p:cNvPr id="206" name="Rectangle 48">
            <a:extLst>
              <a:ext uri="{FF2B5EF4-FFF2-40B4-BE49-F238E27FC236}">
                <a16:creationId xmlns:a16="http://schemas.microsoft.com/office/drawing/2014/main" id="{3DC66EC9-3B49-1E2E-3312-1D4A362E3B43}"/>
              </a:ext>
            </a:extLst>
          </p:cNvPr>
          <p:cNvSpPr/>
          <p:nvPr/>
        </p:nvSpPr>
        <p:spPr>
          <a:xfrm>
            <a:off x="1647515" y="2655675"/>
            <a:ext cx="1645920"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207" name="TextBox 49">
            <a:extLst>
              <a:ext uri="{FF2B5EF4-FFF2-40B4-BE49-F238E27FC236}">
                <a16:creationId xmlns:a16="http://schemas.microsoft.com/office/drawing/2014/main" id="{78899AB4-99ED-D396-B0D2-CF097372B409}"/>
              </a:ext>
            </a:extLst>
          </p:cNvPr>
          <p:cNvSpPr txBox="1"/>
          <p:nvPr/>
        </p:nvSpPr>
        <p:spPr>
          <a:xfrm>
            <a:off x="1720667" y="2784089"/>
            <a:ext cx="1499616" cy="291811"/>
          </a:xfrm>
          <a:prstGeom prst="rect">
            <a:avLst/>
          </a:prstGeom>
          <a:noFill/>
        </p:spPr>
        <p:txBody>
          <a:bodyPr wrap="square" lIns="0" tIns="0" rIns="0" bIns="0" anchor="ctr">
            <a:spAutoFit/>
          </a:bodyPr>
          <a:lstStyle/>
          <a:p>
            <a:pPr algn="l">
              <a:lnSpc>
                <a:spcPct val="110000"/>
              </a:lnSpc>
              <a:spcBef>
                <a:spcPts val="0"/>
              </a:spcBef>
              <a:spcAft>
                <a:spcPts val="0"/>
              </a:spcAft>
            </a:pPr>
            <a:r>
              <a:rPr lang="en-US" sz="900" noProof="0">
                <a:solidFill>
                  <a:srgbClr val="0F1C50"/>
                </a:solidFill>
                <a:latin typeface="Arial" panose="020B0604020202020204" pitchFamily="34" charset="0"/>
                <a:cs typeface="Arial" panose="020B0604020202020204" pitchFamily="34" charset="0"/>
              </a:rPr>
              <a:t>Finance · HR · Procurement · Legal ·  Regulatory</a:t>
            </a:r>
          </a:p>
        </p:txBody>
      </p:sp>
      <p:sp>
        <p:nvSpPr>
          <p:cNvPr id="208" name="Rectangle 50">
            <a:extLst>
              <a:ext uri="{FF2B5EF4-FFF2-40B4-BE49-F238E27FC236}">
                <a16:creationId xmlns:a16="http://schemas.microsoft.com/office/drawing/2014/main" id="{A85D1B38-084B-4B54-0995-CAC8156CE9B9}"/>
              </a:ext>
            </a:extLst>
          </p:cNvPr>
          <p:cNvSpPr/>
          <p:nvPr/>
        </p:nvSpPr>
        <p:spPr>
          <a:xfrm>
            <a:off x="3339155" y="2655675"/>
            <a:ext cx="1554480"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209" name="TextBox 51">
            <a:extLst>
              <a:ext uri="{FF2B5EF4-FFF2-40B4-BE49-F238E27FC236}">
                <a16:creationId xmlns:a16="http://schemas.microsoft.com/office/drawing/2014/main" id="{9543DD90-AB86-F18C-5873-4D2F50110693}"/>
              </a:ext>
            </a:extLst>
          </p:cNvPr>
          <p:cNvSpPr txBox="1"/>
          <p:nvPr/>
        </p:nvSpPr>
        <p:spPr>
          <a:xfrm>
            <a:off x="3412307" y="2860199"/>
            <a:ext cx="1408176" cy="139590"/>
          </a:xfrm>
          <a:prstGeom prst="rect">
            <a:avLst/>
          </a:prstGeom>
          <a:noFill/>
        </p:spPr>
        <p:txBody>
          <a:bodyPr wrap="square" lIns="0" tIns="0" rIns="0" bIns="0" anchor="ctr">
            <a:spAutoFit/>
          </a:bodyPr>
          <a:lstStyle/>
          <a:p>
            <a:pPr algn="l">
              <a:lnSpc>
                <a:spcPct val="110000"/>
              </a:lnSpc>
              <a:spcBef>
                <a:spcPts val="0"/>
              </a:spcBef>
              <a:spcAft>
                <a:spcPts val="0"/>
              </a:spcAft>
            </a:pPr>
            <a:r>
              <a:rPr lang="en-US" sz="900" i="0" noProof="0">
                <a:solidFill>
                  <a:srgbClr val="0F1C50"/>
                </a:solidFill>
                <a:latin typeface="Arial" panose="020B0604020202020204" pitchFamily="34" charset="0"/>
                <a:cs typeface="Arial" panose="020B0604020202020204" pitchFamily="34" charset="0"/>
              </a:rPr>
              <a:t>Regulatory · Small/Medium</a:t>
            </a:r>
          </a:p>
        </p:txBody>
      </p:sp>
      <p:sp>
        <p:nvSpPr>
          <p:cNvPr id="210" name="Rectangle 52">
            <a:extLst>
              <a:ext uri="{FF2B5EF4-FFF2-40B4-BE49-F238E27FC236}">
                <a16:creationId xmlns:a16="http://schemas.microsoft.com/office/drawing/2014/main" id="{13FB53EA-573C-0FA9-BFDA-93E9DD5EFD97}"/>
              </a:ext>
            </a:extLst>
          </p:cNvPr>
          <p:cNvSpPr/>
          <p:nvPr/>
        </p:nvSpPr>
        <p:spPr>
          <a:xfrm>
            <a:off x="4939354" y="2655675"/>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211" name="TextBox 54">
            <a:extLst>
              <a:ext uri="{FF2B5EF4-FFF2-40B4-BE49-F238E27FC236}">
                <a16:creationId xmlns:a16="http://schemas.microsoft.com/office/drawing/2014/main" id="{411F525C-2ADB-CE09-9D0F-8CB8A626E52D}"/>
              </a:ext>
            </a:extLst>
          </p:cNvPr>
          <p:cNvSpPr txBox="1"/>
          <p:nvPr/>
        </p:nvSpPr>
        <p:spPr>
          <a:xfrm>
            <a:off x="5174758" y="2780461"/>
            <a:ext cx="1084478" cy="445186"/>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a:ea typeface="+mn-lt"/>
                <a:cs typeface="Arial"/>
              </a:rPr>
              <a:t>Requirements in docs; digital trail breaks</a:t>
            </a:r>
          </a:p>
        </p:txBody>
      </p:sp>
      <p:sp>
        <p:nvSpPr>
          <p:cNvPr id="212" name="Rectangle 55">
            <a:extLst>
              <a:ext uri="{FF2B5EF4-FFF2-40B4-BE49-F238E27FC236}">
                <a16:creationId xmlns:a16="http://schemas.microsoft.com/office/drawing/2014/main" id="{D9957575-3D8C-8DB5-196A-FB692C175949}"/>
              </a:ext>
            </a:extLst>
          </p:cNvPr>
          <p:cNvSpPr/>
          <p:nvPr/>
        </p:nvSpPr>
        <p:spPr>
          <a:xfrm>
            <a:off x="6343873" y="2655675"/>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213" name="TextBox 57">
            <a:extLst>
              <a:ext uri="{FF2B5EF4-FFF2-40B4-BE49-F238E27FC236}">
                <a16:creationId xmlns:a16="http://schemas.microsoft.com/office/drawing/2014/main" id="{3D8BE20D-245B-7DBD-5D29-727A315B0810}"/>
              </a:ext>
            </a:extLst>
          </p:cNvPr>
          <p:cNvSpPr txBox="1"/>
          <p:nvPr/>
        </p:nvSpPr>
        <p:spPr>
          <a:xfrm>
            <a:off x="6572473" y="3317152"/>
            <a:ext cx="1084478" cy="144911"/>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a:ea typeface="+mn-lt"/>
                <a:cs typeface="Arial"/>
              </a:rPr>
              <a:t>PDD </a:t>
            </a:r>
            <a:r>
              <a:rPr lang="en-US" sz="900" noProof="0">
                <a:solidFill>
                  <a:srgbClr val="2C3E50"/>
                </a:solidFill>
                <a:latin typeface="Arial"/>
                <a:cs typeface="Arial"/>
              </a:rPr>
              <a:t>driver</a:t>
            </a:r>
            <a:endParaRPr lang="en-US" noProof="0"/>
          </a:p>
        </p:txBody>
      </p:sp>
      <p:sp>
        <p:nvSpPr>
          <p:cNvPr id="214" name="Rectangle 58">
            <a:extLst>
              <a:ext uri="{FF2B5EF4-FFF2-40B4-BE49-F238E27FC236}">
                <a16:creationId xmlns:a16="http://schemas.microsoft.com/office/drawing/2014/main" id="{5617E118-1B43-2120-2080-883351852870}"/>
              </a:ext>
            </a:extLst>
          </p:cNvPr>
          <p:cNvSpPr/>
          <p:nvPr/>
        </p:nvSpPr>
        <p:spPr>
          <a:xfrm>
            <a:off x="7748391" y="2655675"/>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215" name="TextBox 60">
            <a:extLst>
              <a:ext uri="{FF2B5EF4-FFF2-40B4-BE49-F238E27FC236}">
                <a16:creationId xmlns:a16="http://schemas.microsoft.com/office/drawing/2014/main" id="{ABA8DBC7-4BED-66D5-7D75-7696E0E576A4}"/>
              </a:ext>
            </a:extLst>
          </p:cNvPr>
          <p:cNvSpPr txBox="1"/>
          <p:nvPr/>
        </p:nvSpPr>
        <p:spPr>
          <a:xfrm>
            <a:off x="7976991" y="2715824"/>
            <a:ext cx="1084478" cy="449610"/>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a:ea typeface="+mn-lt"/>
                <a:cs typeface="Arial"/>
              </a:rPr>
              <a:t>Regulatory is the default priority; no scoring</a:t>
            </a:r>
            <a:endParaRPr lang="en-US" noProof="0"/>
          </a:p>
        </p:txBody>
      </p:sp>
      <p:sp>
        <p:nvSpPr>
          <p:cNvPr id="216" name="Rectangle 61">
            <a:extLst>
              <a:ext uri="{FF2B5EF4-FFF2-40B4-BE49-F238E27FC236}">
                <a16:creationId xmlns:a16="http://schemas.microsoft.com/office/drawing/2014/main" id="{AA410C52-B888-2484-CBD6-0893F5B0231C}"/>
              </a:ext>
            </a:extLst>
          </p:cNvPr>
          <p:cNvSpPr/>
          <p:nvPr/>
        </p:nvSpPr>
        <p:spPr>
          <a:xfrm>
            <a:off x="9152910" y="2655675"/>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217" name="TextBox 63">
            <a:extLst>
              <a:ext uri="{FF2B5EF4-FFF2-40B4-BE49-F238E27FC236}">
                <a16:creationId xmlns:a16="http://schemas.microsoft.com/office/drawing/2014/main" id="{8BBA6502-D959-7524-0C29-0FFC076C0C8C}"/>
              </a:ext>
            </a:extLst>
          </p:cNvPr>
          <p:cNvSpPr txBox="1"/>
          <p:nvPr/>
        </p:nvSpPr>
        <p:spPr>
          <a:xfrm>
            <a:off x="9381510" y="2791998"/>
            <a:ext cx="1084478" cy="297261"/>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a:ea typeface="+mn-lt"/>
                <a:cs typeface="Arial"/>
              </a:rPr>
              <a:t>Governed portfolio with formal approvals</a:t>
            </a:r>
            <a:endParaRPr lang="en-US" noProof="0"/>
          </a:p>
        </p:txBody>
      </p:sp>
      <p:sp>
        <p:nvSpPr>
          <p:cNvPr id="218" name="Rectangle 64">
            <a:extLst>
              <a:ext uri="{FF2B5EF4-FFF2-40B4-BE49-F238E27FC236}">
                <a16:creationId xmlns:a16="http://schemas.microsoft.com/office/drawing/2014/main" id="{25E493AE-F246-8E88-7899-AB99A9287320}"/>
              </a:ext>
            </a:extLst>
          </p:cNvPr>
          <p:cNvSpPr/>
          <p:nvPr/>
        </p:nvSpPr>
        <p:spPr>
          <a:xfrm>
            <a:off x="10557428" y="2655675"/>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219" name="TextBox 66">
            <a:extLst>
              <a:ext uri="{FF2B5EF4-FFF2-40B4-BE49-F238E27FC236}">
                <a16:creationId xmlns:a16="http://schemas.microsoft.com/office/drawing/2014/main" id="{920BA4F1-70B3-338A-937C-20CD1042451B}"/>
              </a:ext>
            </a:extLst>
          </p:cNvPr>
          <p:cNvSpPr txBox="1"/>
          <p:nvPr/>
        </p:nvSpPr>
        <p:spPr>
          <a:xfrm>
            <a:off x="10786028" y="2795805"/>
            <a:ext cx="1084478" cy="297261"/>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a:ea typeface="+mn-lt"/>
                <a:cs typeface="Arial"/>
              </a:rPr>
              <a:t>One-year plan; no release KPIs</a:t>
            </a:r>
            <a:endParaRPr lang="en-US" noProof="0"/>
          </a:p>
        </p:txBody>
      </p:sp>
      <p:sp>
        <p:nvSpPr>
          <p:cNvPr id="220" name="Rectangle 67">
            <a:extLst>
              <a:ext uri="{FF2B5EF4-FFF2-40B4-BE49-F238E27FC236}">
                <a16:creationId xmlns:a16="http://schemas.microsoft.com/office/drawing/2014/main" id="{5207750E-08CB-2123-4E7E-070B325D4CAD}"/>
              </a:ext>
            </a:extLst>
          </p:cNvPr>
          <p:cNvSpPr/>
          <p:nvPr/>
        </p:nvSpPr>
        <p:spPr>
          <a:xfrm>
            <a:off x="458795" y="3259179"/>
            <a:ext cx="1143000" cy="54864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221" name="TextBox 68">
            <a:extLst>
              <a:ext uri="{FF2B5EF4-FFF2-40B4-BE49-F238E27FC236}">
                <a16:creationId xmlns:a16="http://schemas.microsoft.com/office/drawing/2014/main" id="{316E446D-E17B-3925-B67D-70196E92B721}"/>
              </a:ext>
            </a:extLst>
          </p:cNvPr>
          <p:cNvSpPr txBox="1"/>
          <p:nvPr/>
        </p:nvSpPr>
        <p:spPr>
          <a:xfrm>
            <a:off x="460304" y="3457518"/>
            <a:ext cx="1143000" cy="154979"/>
          </a:xfrm>
          <a:prstGeom prst="rect">
            <a:avLst/>
          </a:prstGeom>
          <a:noFill/>
        </p:spPr>
        <p:txBody>
          <a:bodyPr wrap="square" lIns="0" tIns="0" rIns="0" bIns="0" anchor="ctr">
            <a:spAutoFit/>
          </a:bodyPr>
          <a:lstStyle/>
          <a:p>
            <a:pPr algn="ctr">
              <a:lnSpc>
                <a:spcPct val="110000"/>
              </a:lnSpc>
              <a:spcBef>
                <a:spcPts val="0"/>
              </a:spcBef>
              <a:spcAft>
                <a:spcPts val="0"/>
              </a:spcAft>
            </a:pPr>
            <a:r>
              <a:rPr lang="en-US" sz="1000" b="1" i="0" noProof="0">
                <a:solidFill>
                  <a:srgbClr val="FFFFFF"/>
                </a:solidFill>
                <a:latin typeface="Arial" panose="020B0604020202020204" pitchFamily="34" charset="0"/>
                <a:cs typeface="Arial" panose="020B0604020202020204" pitchFamily="34" charset="0"/>
              </a:rPr>
              <a:t>G&amp;E</a:t>
            </a:r>
          </a:p>
        </p:txBody>
      </p:sp>
      <p:sp>
        <p:nvSpPr>
          <p:cNvPr id="222" name="Rectangle 69">
            <a:extLst>
              <a:ext uri="{FF2B5EF4-FFF2-40B4-BE49-F238E27FC236}">
                <a16:creationId xmlns:a16="http://schemas.microsoft.com/office/drawing/2014/main" id="{29D56B84-7630-3C23-925F-6F042EBE673E}"/>
              </a:ext>
            </a:extLst>
          </p:cNvPr>
          <p:cNvSpPr/>
          <p:nvPr/>
        </p:nvSpPr>
        <p:spPr>
          <a:xfrm>
            <a:off x="1647515" y="3259179"/>
            <a:ext cx="1645920"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sz="900" noProof="0">
                <a:solidFill>
                  <a:srgbClr val="0F1C50"/>
                </a:solidFill>
                <a:latin typeface="Arial" panose="020B0604020202020204" pitchFamily="34" charset="0"/>
                <a:cs typeface="Arial" panose="020B0604020202020204" pitchFamily="34" charset="0"/>
              </a:rPr>
              <a:t>Electric &amp; Gas Operations · Field Services · Outage Management · Regulatory</a:t>
            </a:r>
          </a:p>
        </p:txBody>
      </p:sp>
      <p:sp>
        <p:nvSpPr>
          <p:cNvPr id="223" name="Rectangle 71">
            <a:extLst>
              <a:ext uri="{FF2B5EF4-FFF2-40B4-BE49-F238E27FC236}">
                <a16:creationId xmlns:a16="http://schemas.microsoft.com/office/drawing/2014/main" id="{23423FC5-3C0E-F3D2-98D7-EE655BB904F4}"/>
              </a:ext>
            </a:extLst>
          </p:cNvPr>
          <p:cNvSpPr/>
          <p:nvPr/>
        </p:nvSpPr>
        <p:spPr>
          <a:xfrm>
            <a:off x="3339155" y="3259179"/>
            <a:ext cx="1554480"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224" name="TextBox 72">
            <a:extLst>
              <a:ext uri="{FF2B5EF4-FFF2-40B4-BE49-F238E27FC236}">
                <a16:creationId xmlns:a16="http://schemas.microsoft.com/office/drawing/2014/main" id="{E4045B84-91EC-2E03-596F-5C1B533B3353}"/>
              </a:ext>
            </a:extLst>
          </p:cNvPr>
          <p:cNvSpPr txBox="1"/>
          <p:nvPr/>
        </p:nvSpPr>
        <p:spPr>
          <a:xfrm>
            <a:off x="3412307" y="3463703"/>
            <a:ext cx="1408176" cy="139590"/>
          </a:xfrm>
          <a:prstGeom prst="rect">
            <a:avLst/>
          </a:prstGeom>
          <a:noFill/>
        </p:spPr>
        <p:txBody>
          <a:bodyPr wrap="square" lIns="0" tIns="0" rIns="0" bIns="0" anchor="ctr">
            <a:spAutoFit/>
          </a:bodyPr>
          <a:lstStyle/>
          <a:p>
            <a:pPr algn="l">
              <a:lnSpc>
                <a:spcPct val="110000"/>
              </a:lnSpc>
              <a:spcBef>
                <a:spcPts val="0"/>
              </a:spcBef>
              <a:spcAft>
                <a:spcPts val="0"/>
              </a:spcAft>
            </a:pPr>
            <a:r>
              <a:rPr lang="en-US" sz="900" i="0" noProof="0">
                <a:solidFill>
                  <a:srgbClr val="0F1C50"/>
                </a:solidFill>
                <a:latin typeface="Arial" panose="020B0604020202020204" pitchFamily="34" charset="0"/>
                <a:cs typeface="Arial" panose="020B0604020202020204" pitchFamily="34" charset="0"/>
              </a:rPr>
              <a:t>Version upgrades · Ad-hoc</a:t>
            </a:r>
          </a:p>
        </p:txBody>
      </p:sp>
      <p:sp>
        <p:nvSpPr>
          <p:cNvPr id="225" name="Rectangle 73">
            <a:extLst>
              <a:ext uri="{FF2B5EF4-FFF2-40B4-BE49-F238E27FC236}">
                <a16:creationId xmlns:a16="http://schemas.microsoft.com/office/drawing/2014/main" id="{321738AA-76FC-A746-5907-B1B423150610}"/>
              </a:ext>
            </a:extLst>
          </p:cNvPr>
          <p:cNvSpPr/>
          <p:nvPr/>
        </p:nvSpPr>
        <p:spPr>
          <a:xfrm>
            <a:off x="4939354" y="3259179"/>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226" name="TextBox 75">
            <a:extLst>
              <a:ext uri="{FF2B5EF4-FFF2-40B4-BE49-F238E27FC236}">
                <a16:creationId xmlns:a16="http://schemas.microsoft.com/office/drawing/2014/main" id="{2F058DA6-009C-6470-74D3-CF0AFC296E28}"/>
              </a:ext>
            </a:extLst>
          </p:cNvPr>
          <p:cNvSpPr txBox="1"/>
          <p:nvPr/>
        </p:nvSpPr>
        <p:spPr>
          <a:xfrm>
            <a:off x="5167954" y="3404328"/>
            <a:ext cx="1084478" cy="297261"/>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a:ea typeface="+mn-lt"/>
                <a:cs typeface="Arial"/>
              </a:rPr>
              <a:t>Single channel; no structured intake</a:t>
            </a:r>
            <a:endParaRPr lang="en-US" noProof="0"/>
          </a:p>
        </p:txBody>
      </p:sp>
      <p:sp>
        <p:nvSpPr>
          <p:cNvPr id="227" name="Rectangle 76">
            <a:extLst>
              <a:ext uri="{FF2B5EF4-FFF2-40B4-BE49-F238E27FC236}">
                <a16:creationId xmlns:a16="http://schemas.microsoft.com/office/drawing/2014/main" id="{9D10B2D7-D68B-097A-CC13-CA7FA5FE053A}"/>
              </a:ext>
            </a:extLst>
          </p:cNvPr>
          <p:cNvSpPr/>
          <p:nvPr/>
        </p:nvSpPr>
        <p:spPr>
          <a:xfrm>
            <a:off x="6343873" y="3259179"/>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228" name="TextBox 78">
            <a:extLst>
              <a:ext uri="{FF2B5EF4-FFF2-40B4-BE49-F238E27FC236}">
                <a16:creationId xmlns:a16="http://schemas.microsoft.com/office/drawing/2014/main" id="{E00E3E8E-ACD0-5684-5FD0-2DBDC54D0DEE}"/>
              </a:ext>
            </a:extLst>
          </p:cNvPr>
          <p:cNvSpPr txBox="1"/>
          <p:nvPr/>
        </p:nvSpPr>
        <p:spPr>
          <a:xfrm>
            <a:off x="6586080" y="3429520"/>
            <a:ext cx="1084478" cy="297261"/>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a:ea typeface="+mn-lt"/>
                <a:cs typeface="Arial"/>
              </a:rPr>
              <a:t>Depends on type; no rule</a:t>
            </a:r>
            <a:endParaRPr lang="en-US" noProof="0"/>
          </a:p>
        </p:txBody>
      </p:sp>
      <p:sp>
        <p:nvSpPr>
          <p:cNvPr id="229" name="Rectangle 79">
            <a:extLst>
              <a:ext uri="{FF2B5EF4-FFF2-40B4-BE49-F238E27FC236}">
                <a16:creationId xmlns:a16="http://schemas.microsoft.com/office/drawing/2014/main" id="{DD63D3EB-53B1-E5B8-0072-290220BE1CD7}"/>
              </a:ext>
            </a:extLst>
          </p:cNvPr>
          <p:cNvSpPr/>
          <p:nvPr/>
        </p:nvSpPr>
        <p:spPr>
          <a:xfrm>
            <a:off x="7748391" y="3259179"/>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230" name="TextBox 81">
            <a:extLst>
              <a:ext uri="{FF2B5EF4-FFF2-40B4-BE49-F238E27FC236}">
                <a16:creationId xmlns:a16="http://schemas.microsoft.com/office/drawing/2014/main" id="{97C4B756-0197-2A15-AF13-EA09CAD6DF4A}"/>
              </a:ext>
            </a:extLst>
          </p:cNvPr>
          <p:cNvSpPr txBox="1"/>
          <p:nvPr/>
        </p:nvSpPr>
        <p:spPr>
          <a:xfrm>
            <a:off x="7976991" y="3426523"/>
            <a:ext cx="1084478" cy="297261"/>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a:ea typeface="+mn-lt"/>
                <a:cs typeface="Arial"/>
              </a:rPr>
              <a:t>Urgency drives priority</a:t>
            </a:r>
            <a:endParaRPr lang="en-US" noProof="0"/>
          </a:p>
        </p:txBody>
      </p:sp>
      <p:sp>
        <p:nvSpPr>
          <p:cNvPr id="231" name="Rectangle 82">
            <a:extLst>
              <a:ext uri="{FF2B5EF4-FFF2-40B4-BE49-F238E27FC236}">
                <a16:creationId xmlns:a16="http://schemas.microsoft.com/office/drawing/2014/main" id="{828FA293-314E-2352-DBF0-0B48A40CEB39}"/>
              </a:ext>
            </a:extLst>
          </p:cNvPr>
          <p:cNvSpPr/>
          <p:nvPr/>
        </p:nvSpPr>
        <p:spPr>
          <a:xfrm>
            <a:off x="9152910" y="3225872"/>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232" name="TextBox 84">
            <a:extLst>
              <a:ext uri="{FF2B5EF4-FFF2-40B4-BE49-F238E27FC236}">
                <a16:creationId xmlns:a16="http://schemas.microsoft.com/office/drawing/2014/main" id="{D4AEED1B-F041-39DD-C80E-CC0E9DA44EEC}"/>
              </a:ext>
            </a:extLst>
          </p:cNvPr>
          <p:cNvSpPr txBox="1"/>
          <p:nvPr/>
        </p:nvSpPr>
        <p:spPr>
          <a:xfrm>
            <a:off x="9381510" y="3419720"/>
            <a:ext cx="1084478" cy="297261"/>
          </a:xfrm>
          <a:prstGeom prst="rect">
            <a:avLst/>
          </a:prstGeom>
          <a:noFill/>
        </p:spPr>
        <p:txBody>
          <a:bodyPr wrap="square" lIns="0" tIns="0" rIns="0" bIns="0" anchor="ctr">
            <a:spAutoFit/>
          </a:bodyPr>
          <a:lstStyle/>
          <a:p>
            <a:pPr>
              <a:lnSpc>
                <a:spcPct val="110000"/>
              </a:lnSpc>
            </a:pPr>
            <a:r>
              <a:rPr lang="en-US" sz="900" b="0" noProof="0">
                <a:solidFill>
                  <a:srgbClr val="2C3E50"/>
                </a:solidFill>
                <a:latin typeface="Arial"/>
                <a:ea typeface="+mn-lt"/>
                <a:cs typeface="Arial"/>
              </a:rPr>
              <a:t>Vendor sets timeline</a:t>
            </a:r>
            <a:r>
              <a:rPr lang="en-US" sz="900" noProof="0">
                <a:solidFill>
                  <a:srgbClr val="2C3E50"/>
                </a:solidFill>
                <a:latin typeface="Arial"/>
                <a:ea typeface="+mn-lt"/>
                <a:cs typeface="Arial"/>
              </a:rPr>
              <a:t> &amp; budget</a:t>
            </a:r>
            <a:endParaRPr lang="en-US" noProof="0"/>
          </a:p>
        </p:txBody>
      </p:sp>
      <p:sp>
        <p:nvSpPr>
          <p:cNvPr id="233" name="Rectangle 85">
            <a:extLst>
              <a:ext uri="{FF2B5EF4-FFF2-40B4-BE49-F238E27FC236}">
                <a16:creationId xmlns:a16="http://schemas.microsoft.com/office/drawing/2014/main" id="{238CF383-3DD9-9999-203B-81C1865B11F0}"/>
              </a:ext>
            </a:extLst>
          </p:cNvPr>
          <p:cNvSpPr/>
          <p:nvPr/>
        </p:nvSpPr>
        <p:spPr>
          <a:xfrm>
            <a:off x="10516607" y="3231965"/>
            <a:ext cx="1406422"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234" name="TextBox 87">
            <a:extLst>
              <a:ext uri="{FF2B5EF4-FFF2-40B4-BE49-F238E27FC236}">
                <a16:creationId xmlns:a16="http://schemas.microsoft.com/office/drawing/2014/main" id="{0FC6053F-54AC-724D-0FCA-9A00B8F1524A}"/>
              </a:ext>
            </a:extLst>
          </p:cNvPr>
          <p:cNvSpPr txBox="1"/>
          <p:nvPr/>
        </p:nvSpPr>
        <p:spPr>
          <a:xfrm>
            <a:off x="10786028" y="3312525"/>
            <a:ext cx="1084478" cy="449610"/>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a:ea typeface="+mn-lt"/>
                <a:cs typeface="Arial"/>
              </a:rPr>
              <a:t>Vendor-owned delivery; 3rd-party risk slow</a:t>
            </a:r>
            <a:endParaRPr lang="en-US" noProof="0"/>
          </a:p>
        </p:txBody>
      </p:sp>
      <p:sp>
        <p:nvSpPr>
          <p:cNvPr id="235" name="Rectangle 88">
            <a:extLst>
              <a:ext uri="{FF2B5EF4-FFF2-40B4-BE49-F238E27FC236}">
                <a16:creationId xmlns:a16="http://schemas.microsoft.com/office/drawing/2014/main" id="{0709DA90-FBE0-A63B-D7C9-500D4EB0B15E}"/>
              </a:ext>
            </a:extLst>
          </p:cNvPr>
          <p:cNvSpPr/>
          <p:nvPr/>
        </p:nvSpPr>
        <p:spPr>
          <a:xfrm>
            <a:off x="458795" y="3862683"/>
            <a:ext cx="1143000" cy="54864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236" name="TextBox 89">
            <a:extLst>
              <a:ext uri="{FF2B5EF4-FFF2-40B4-BE49-F238E27FC236}">
                <a16:creationId xmlns:a16="http://schemas.microsoft.com/office/drawing/2014/main" id="{34471265-64B6-4B9F-6E56-5C02154E0964}"/>
              </a:ext>
            </a:extLst>
          </p:cNvPr>
          <p:cNvSpPr txBox="1"/>
          <p:nvPr/>
        </p:nvSpPr>
        <p:spPr>
          <a:xfrm>
            <a:off x="460304" y="3976384"/>
            <a:ext cx="1143000" cy="324256"/>
          </a:xfrm>
          <a:prstGeom prst="rect">
            <a:avLst/>
          </a:prstGeom>
          <a:noFill/>
        </p:spPr>
        <p:txBody>
          <a:bodyPr wrap="square" lIns="0" tIns="0" rIns="0" bIns="0" anchor="ctr">
            <a:spAutoFit/>
          </a:bodyPr>
          <a:lstStyle/>
          <a:p>
            <a:pPr algn="ctr">
              <a:lnSpc>
                <a:spcPct val="110000"/>
              </a:lnSpc>
              <a:spcBef>
                <a:spcPts val="0"/>
              </a:spcBef>
              <a:spcAft>
                <a:spcPts val="0"/>
              </a:spcAft>
            </a:pPr>
            <a:r>
              <a:rPr lang="en-US" sz="1000" b="1" i="0" noProof="0">
                <a:solidFill>
                  <a:srgbClr val="FFFFFF"/>
                </a:solidFill>
                <a:latin typeface="Arial" panose="020B0604020202020204" pitchFamily="34" charset="0"/>
                <a:cs typeface="Arial" panose="020B0604020202020204" pitchFamily="34" charset="0"/>
              </a:rPr>
              <a:t>Global SAP</a:t>
            </a:r>
          </a:p>
          <a:p>
            <a:pPr algn="ctr">
              <a:lnSpc>
                <a:spcPct val="110000"/>
              </a:lnSpc>
              <a:spcBef>
                <a:spcPts val="0"/>
              </a:spcBef>
              <a:spcAft>
                <a:spcPts val="0"/>
              </a:spcAft>
            </a:pPr>
            <a:r>
              <a:rPr lang="en-US" sz="1000" b="1" i="0" noProof="0">
                <a:solidFill>
                  <a:srgbClr val="FFFFFF"/>
                </a:solidFill>
                <a:latin typeface="Arial" panose="020B0604020202020204" pitchFamily="34" charset="0"/>
                <a:cs typeface="Arial" panose="020B0604020202020204" pitchFamily="34" charset="0"/>
              </a:rPr>
              <a:t>(Iberdrola)</a:t>
            </a:r>
          </a:p>
        </p:txBody>
      </p:sp>
      <p:sp>
        <p:nvSpPr>
          <p:cNvPr id="237" name="Rectangle 90">
            <a:extLst>
              <a:ext uri="{FF2B5EF4-FFF2-40B4-BE49-F238E27FC236}">
                <a16:creationId xmlns:a16="http://schemas.microsoft.com/office/drawing/2014/main" id="{F3872215-5A75-2C97-CE4E-BE687EB11062}"/>
              </a:ext>
            </a:extLst>
          </p:cNvPr>
          <p:cNvSpPr/>
          <p:nvPr/>
        </p:nvSpPr>
        <p:spPr>
          <a:xfrm>
            <a:off x="1647515" y="3862683"/>
            <a:ext cx="1645920"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238" name="TextBox 91">
            <a:extLst>
              <a:ext uri="{FF2B5EF4-FFF2-40B4-BE49-F238E27FC236}">
                <a16:creationId xmlns:a16="http://schemas.microsoft.com/office/drawing/2014/main" id="{389B4260-629B-AC9A-AEEE-DE9B660027BA}"/>
              </a:ext>
            </a:extLst>
          </p:cNvPr>
          <p:cNvSpPr txBox="1"/>
          <p:nvPr/>
        </p:nvSpPr>
        <p:spPr>
          <a:xfrm>
            <a:off x="1720667" y="3914410"/>
            <a:ext cx="1499616" cy="445186"/>
          </a:xfrm>
          <a:prstGeom prst="rect">
            <a:avLst/>
          </a:prstGeom>
          <a:noFill/>
        </p:spPr>
        <p:txBody>
          <a:bodyPr wrap="square" lIns="0" tIns="0" rIns="0" bIns="0" anchor="ctr">
            <a:spAutoFit/>
          </a:bodyPr>
          <a:lstStyle/>
          <a:p>
            <a:pPr algn="l">
              <a:lnSpc>
                <a:spcPct val="110000"/>
              </a:lnSpc>
              <a:spcBef>
                <a:spcPts val="0"/>
              </a:spcBef>
              <a:spcAft>
                <a:spcPts val="0"/>
              </a:spcAft>
            </a:pPr>
            <a:r>
              <a:rPr lang="en-US" sz="900" noProof="0">
                <a:solidFill>
                  <a:srgbClr val="0F1C50"/>
                </a:solidFill>
                <a:latin typeface="Arial" panose="020B0604020202020204" pitchFamily="34" charset="0"/>
                <a:cs typeface="Arial" panose="020B0604020202020204" pitchFamily="34" charset="0"/>
              </a:rPr>
              <a:t>Iberdrola Finance · Controlling · Procurement · Vendor</a:t>
            </a:r>
          </a:p>
        </p:txBody>
      </p:sp>
      <p:sp>
        <p:nvSpPr>
          <p:cNvPr id="239" name="Rectangle 92">
            <a:extLst>
              <a:ext uri="{FF2B5EF4-FFF2-40B4-BE49-F238E27FC236}">
                <a16:creationId xmlns:a16="http://schemas.microsoft.com/office/drawing/2014/main" id="{3C871752-6495-3953-6DAC-2B1233D87C9F}"/>
              </a:ext>
            </a:extLst>
          </p:cNvPr>
          <p:cNvSpPr/>
          <p:nvPr/>
        </p:nvSpPr>
        <p:spPr>
          <a:xfrm>
            <a:off x="3339155" y="3862683"/>
            <a:ext cx="1554480"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240" name="TextBox 93">
            <a:extLst>
              <a:ext uri="{FF2B5EF4-FFF2-40B4-BE49-F238E27FC236}">
                <a16:creationId xmlns:a16="http://schemas.microsoft.com/office/drawing/2014/main" id="{1C6A36B3-7561-DB97-53F9-6032324C487A}"/>
              </a:ext>
            </a:extLst>
          </p:cNvPr>
          <p:cNvSpPr txBox="1"/>
          <p:nvPr/>
        </p:nvSpPr>
        <p:spPr>
          <a:xfrm>
            <a:off x="3412307" y="3991065"/>
            <a:ext cx="1408176" cy="291875"/>
          </a:xfrm>
          <a:prstGeom prst="rect">
            <a:avLst/>
          </a:prstGeom>
          <a:noFill/>
        </p:spPr>
        <p:txBody>
          <a:bodyPr wrap="square" lIns="0" tIns="0" rIns="0" bIns="0" anchor="ctr">
            <a:spAutoFit/>
          </a:bodyPr>
          <a:lstStyle/>
          <a:p>
            <a:pPr algn="l">
              <a:lnSpc>
                <a:spcPct val="110000"/>
              </a:lnSpc>
              <a:spcBef>
                <a:spcPts val="0"/>
              </a:spcBef>
              <a:spcAft>
                <a:spcPts val="0"/>
              </a:spcAft>
            </a:pPr>
            <a:r>
              <a:rPr lang="en-US" sz="900" i="0" noProof="0">
                <a:solidFill>
                  <a:srgbClr val="0F1C50"/>
                </a:solidFill>
                <a:latin typeface="Arial" panose="020B0604020202020204" pitchFamily="34" charset="0"/>
                <a:cs typeface="Arial" panose="020B0604020202020204" pitchFamily="34" charset="0"/>
              </a:rPr>
              <a:t>Incidents · Small · Minor · Large</a:t>
            </a:r>
          </a:p>
        </p:txBody>
      </p:sp>
      <p:sp>
        <p:nvSpPr>
          <p:cNvPr id="241" name="Rectangle 94">
            <a:extLst>
              <a:ext uri="{FF2B5EF4-FFF2-40B4-BE49-F238E27FC236}">
                <a16:creationId xmlns:a16="http://schemas.microsoft.com/office/drawing/2014/main" id="{C5FAB201-DDAE-994B-27AD-DF5755078ED8}"/>
              </a:ext>
            </a:extLst>
          </p:cNvPr>
          <p:cNvSpPr/>
          <p:nvPr/>
        </p:nvSpPr>
        <p:spPr>
          <a:xfrm>
            <a:off x="4939354" y="3862683"/>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242" name="TextBox 96">
            <a:extLst>
              <a:ext uri="{FF2B5EF4-FFF2-40B4-BE49-F238E27FC236}">
                <a16:creationId xmlns:a16="http://schemas.microsoft.com/office/drawing/2014/main" id="{08A871FB-1DC7-6ED7-B668-FD305F1EFEC8}"/>
              </a:ext>
            </a:extLst>
          </p:cNvPr>
          <p:cNvSpPr txBox="1"/>
          <p:nvPr/>
        </p:nvSpPr>
        <p:spPr>
          <a:xfrm>
            <a:off x="5167954" y="3932106"/>
            <a:ext cx="1084478" cy="449610"/>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a:ea typeface="+mn-lt"/>
                <a:cs typeface="Arial"/>
              </a:rPr>
              <a:t> Structured channel taxonomy in place but informal</a:t>
            </a:r>
            <a:endParaRPr lang="en-US" noProof="0"/>
          </a:p>
        </p:txBody>
      </p:sp>
      <p:sp>
        <p:nvSpPr>
          <p:cNvPr id="243" name="Rectangle 97">
            <a:extLst>
              <a:ext uri="{FF2B5EF4-FFF2-40B4-BE49-F238E27FC236}">
                <a16:creationId xmlns:a16="http://schemas.microsoft.com/office/drawing/2014/main" id="{A9B98995-5159-A76E-B470-13E36C032DA1}"/>
              </a:ext>
            </a:extLst>
          </p:cNvPr>
          <p:cNvSpPr/>
          <p:nvPr/>
        </p:nvSpPr>
        <p:spPr>
          <a:xfrm>
            <a:off x="6343873" y="3862683"/>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244" name="TextBox 99">
            <a:extLst>
              <a:ext uri="{FF2B5EF4-FFF2-40B4-BE49-F238E27FC236}">
                <a16:creationId xmlns:a16="http://schemas.microsoft.com/office/drawing/2014/main" id="{7C893922-201A-16DE-C390-0F98E368C2EE}"/>
              </a:ext>
            </a:extLst>
          </p:cNvPr>
          <p:cNvSpPr txBox="1"/>
          <p:nvPr/>
        </p:nvSpPr>
        <p:spPr>
          <a:xfrm>
            <a:off x="6572473" y="3912197"/>
            <a:ext cx="1084478" cy="449610"/>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a:cs typeface="Arial"/>
              </a:rPr>
              <a:t>No model for small/medium</a:t>
            </a:r>
            <a:endParaRPr lang="en-US" sz="900" noProof="0">
              <a:solidFill>
                <a:srgbClr val="000000"/>
              </a:solidFill>
              <a:latin typeface="Arial"/>
              <a:cs typeface="Arial"/>
            </a:endParaRPr>
          </a:p>
          <a:p>
            <a:pPr>
              <a:lnSpc>
                <a:spcPct val="110000"/>
              </a:lnSpc>
            </a:pPr>
            <a:r>
              <a:rPr lang="en-US" sz="900" noProof="0">
                <a:solidFill>
                  <a:srgbClr val="2C3E50"/>
                </a:solidFill>
                <a:latin typeface="Arial"/>
                <a:cs typeface="Arial"/>
              </a:rPr>
              <a:t> demand</a:t>
            </a:r>
            <a:endParaRPr lang="en-US" noProof="0"/>
          </a:p>
        </p:txBody>
      </p:sp>
      <p:sp>
        <p:nvSpPr>
          <p:cNvPr id="245" name="Rectangle 100">
            <a:extLst>
              <a:ext uri="{FF2B5EF4-FFF2-40B4-BE49-F238E27FC236}">
                <a16:creationId xmlns:a16="http://schemas.microsoft.com/office/drawing/2014/main" id="{7EFA9174-AB79-7133-3D83-A0BDA4EB9EA5}"/>
              </a:ext>
            </a:extLst>
          </p:cNvPr>
          <p:cNvSpPr/>
          <p:nvPr/>
        </p:nvSpPr>
        <p:spPr>
          <a:xfrm>
            <a:off x="7748391" y="3862683"/>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246" name="TextBox 102">
            <a:extLst>
              <a:ext uri="{FF2B5EF4-FFF2-40B4-BE49-F238E27FC236}">
                <a16:creationId xmlns:a16="http://schemas.microsoft.com/office/drawing/2014/main" id="{03492EA0-97DA-B0E6-1476-42B5BE84CA22}"/>
              </a:ext>
            </a:extLst>
          </p:cNvPr>
          <p:cNvSpPr txBox="1"/>
          <p:nvPr/>
        </p:nvSpPr>
        <p:spPr>
          <a:xfrm>
            <a:off x="7976991" y="4009616"/>
            <a:ext cx="1084478" cy="297261"/>
          </a:xfrm>
          <a:prstGeom prst="rect">
            <a:avLst/>
          </a:prstGeom>
          <a:noFill/>
        </p:spPr>
        <p:txBody>
          <a:bodyPr wrap="square" lIns="0" tIns="0" rIns="0" bIns="0" anchor="ctr">
            <a:spAutoFit/>
          </a:bodyPr>
          <a:lstStyle/>
          <a:p>
            <a:pPr>
              <a:lnSpc>
                <a:spcPct val="110000"/>
              </a:lnSpc>
            </a:pPr>
            <a:r>
              <a:rPr lang="en-US" sz="900" b="0" noProof="0">
                <a:solidFill>
                  <a:srgbClr val="2C3E50"/>
                </a:solidFill>
                <a:latin typeface="Arial"/>
                <a:ea typeface="+mn-lt"/>
                <a:cs typeface="Arial"/>
              </a:rPr>
              <a:t>Incidents first </a:t>
            </a:r>
            <a:r>
              <a:rPr lang="en-US" sz="900" noProof="0">
                <a:solidFill>
                  <a:srgbClr val="2C3E50"/>
                </a:solidFill>
                <a:latin typeface="Arial"/>
                <a:ea typeface="+mn-lt"/>
                <a:cs typeface="Arial"/>
              </a:rPr>
              <a:t>→ strategic starved</a:t>
            </a:r>
            <a:endParaRPr lang="en-US" noProof="0"/>
          </a:p>
        </p:txBody>
      </p:sp>
      <p:sp>
        <p:nvSpPr>
          <p:cNvPr id="247" name="Rectangle 103">
            <a:extLst>
              <a:ext uri="{FF2B5EF4-FFF2-40B4-BE49-F238E27FC236}">
                <a16:creationId xmlns:a16="http://schemas.microsoft.com/office/drawing/2014/main" id="{18EB5AC9-8A69-E24A-2EB9-7FF92FB35BEB}"/>
              </a:ext>
            </a:extLst>
          </p:cNvPr>
          <p:cNvSpPr/>
          <p:nvPr/>
        </p:nvSpPr>
        <p:spPr>
          <a:xfrm>
            <a:off x="9152910" y="3862683"/>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248" name="TextBox 105">
            <a:extLst>
              <a:ext uri="{FF2B5EF4-FFF2-40B4-BE49-F238E27FC236}">
                <a16:creationId xmlns:a16="http://schemas.microsoft.com/office/drawing/2014/main" id="{F185612E-79E9-CDCB-F534-AA3F9FCC4C81}"/>
              </a:ext>
            </a:extLst>
          </p:cNvPr>
          <p:cNvSpPr txBox="1"/>
          <p:nvPr/>
        </p:nvSpPr>
        <p:spPr>
          <a:xfrm>
            <a:off x="9381510" y="4009616"/>
            <a:ext cx="1084478" cy="297261"/>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a:ea typeface="+mn-lt"/>
                <a:cs typeface="Arial"/>
              </a:rPr>
              <a:t>Cadenced review; partial governance</a:t>
            </a:r>
            <a:endParaRPr lang="en-US" noProof="0"/>
          </a:p>
        </p:txBody>
      </p:sp>
      <p:sp>
        <p:nvSpPr>
          <p:cNvPr id="249" name="Rectangle 106">
            <a:extLst>
              <a:ext uri="{FF2B5EF4-FFF2-40B4-BE49-F238E27FC236}">
                <a16:creationId xmlns:a16="http://schemas.microsoft.com/office/drawing/2014/main" id="{26F845AA-3FE2-4530-9654-87A6BC35EC4D}"/>
              </a:ext>
            </a:extLst>
          </p:cNvPr>
          <p:cNvSpPr/>
          <p:nvPr/>
        </p:nvSpPr>
        <p:spPr>
          <a:xfrm>
            <a:off x="10557428" y="3862683"/>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250" name="TextBox 108">
            <a:extLst>
              <a:ext uri="{FF2B5EF4-FFF2-40B4-BE49-F238E27FC236}">
                <a16:creationId xmlns:a16="http://schemas.microsoft.com/office/drawing/2014/main" id="{4FEE72C1-63B6-F25D-F340-AA00C5F089A2}"/>
              </a:ext>
            </a:extLst>
          </p:cNvPr>
          <p:cNvSpPr txBox="1"/>
          <p:nvPr/>
        </p:nvSpPr>
        <p:spPr>
          <a:xfrm>
            <a:off x="10786028" y="3963652"/>
            <a:ext cx="1084478" cy="449610"/>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a:ea typeface="+mn-lt"/>
                <a:cs typeface="Arial"/>
              </a:rPr>
              <a:t>KT loss on vendor turnover; 1-yr hiring lag</a:t>
            </a:r>
            <a:endParaRPr lang="en-US" noProof="0"/>
          </a:p>
        </p:txBody>
      </p:sp>
      <p:sp>
        <p:nvSpPr>
          <p:cNvPr id="251" name="Rectangle 109">
            <a:extLst>
              <a:ext uri="{FF2B5EF4-FFF2-40B4-BE49-F238E27FC236}">
                <a16:creationId xmlns:a16="http://schemas.microsoft.com/office/drawing/2014/main" id="{2022CFEC-DAEA-2211-25C9-6685BCE9370F}"/>
              </a:ext>
            </a:extLst>
          </p:cNvPr>
          <p:cNvSpPr/>
          <p:nvPr/>
        </p:nvSpPr>
        <p:spPr>
          <a:xfrm>
            <a:off x="458794" y="4466186"/>
            <a:ext cx="11457431" cy="6139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252" name="TextBox 110">
            <a:extLst>
              <a:ext uri="{FF2B5EF4-FFF2-40B4-BE49-F238E27FC236}">
                <a16:creationId xmlns:a16="http://schemas.microsoft.com/office/drawing/2014/main" id="{55923CBF-417B-55AA-8220-5F2305416DAD}"/>
              </a:ext>
            </a:extLst>
          </p:cNvPr>
          <p:cNvSpPr txBox="1"/>
          <p:nvPr/>
        </p:nvSpPr>
        <p:spPr>
          <a:xfrm>
            <a:off x="458795" y="4564595"/>
            <a:ext cx="6400800" cy="139525"/>
          </a:xfrm>
          <a:prstGeom prst="rect">
            <a:avLst/>
          </a:prstGeom>
          <a:noFill/>
        </p:spPr>
        <p:txBody>
          <a:bodyPr wrap="square" lIns="0" tIns="0" rIns="0" bIns="0" anchor="t">
            <a:spAutoFit/>
          </a:bodyPr>
          <a:lstStyle/>
          <a:p>
            <a:pPr algn="l">
              <a:lnSpc>
                <a:spcPct val="110000"/>
              </a:lnSpc>
              <a:spcBef>
                <a:spcPts val="0"/>
              </a:spcBef>
              <a:spcAft>
                <a:spcPts val="0"/>
              </a:spcAft>
            </a:pPr>
            <a:r>
              <a:rPr lang="en-US" sz="900" b="1" i="0" noProof="0">
                <a:solidFill>
                  <a:schemeClr val="accent1"/>
                </a:solidFill>
                <a:latin typeface="Arial" panose="020B0604020202020204" pitchFamily="34" charset="0"/>
                <a:cs typeface="Arial" panose="020B0604020202020204" pitchFamily="34" charset="0"/>
              </a:rPr>
              <a:t>CUSTOMER SERVICES APPS </a:t>
            </a:r>
          </a:p>
        </p:txBody>
      </p:sp>
      <p:sp>
        <p:nvSpPr>
          <p:cNvPr id="253" name="Rectangle 111">
            <a:extLst>
              <a:ext uri="{FF2B5EF4-FFF2-40B4-BE49-F238E27FC236}">
                <a16:creationId xmlns:a16="http://schemas.microsoft.com/office/drawing/2014/main" id="{EC496BC8-2EFC-AED4-8A1F-2200F7E17392}"/>
              </a:ext>
            </a:extLst>
          </p:cNvPr>
          <p:cNvSpPr/>
          <p:nvPr/>
        </p:nvSpPr>
        <p:spPr>
          <a:xfrm>
            <a:off x="458795" y="4722219"/>
            <a:ext cx="1143000" cy="5486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254" name="TextBox 112">
            <a:extLst>
              <a:ext uri="{FF2B5EF4-FFF2-40B4-BE49-F238E27FC236}">
                <a16:creationId xmlns:a16="http://schemas.microsoft.com/office/drawing/2014/main" id="{C1523177-DE34-6FB3-8ADD-F9DF6F2FA1EE}"/>
              </a:ext>
            </a:extLst>
          </p:cNvPr>
          <p:cNvSpPr txBox="1"/>
          <p:nvPr/>
        </p:nvSpPr>
        <p:spPr>
          <a:xfrm>
            <a:off x="460304" y="4758825"/>
            <a:ext cx="1143000" cy="493533"/>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000" b="1" i="0" noProof="0">
                <a:solidFill>
                  <a:srgbClr val="FFFFFF"/>
                </a:solidFill>
                <a:latin typeface="Arial" panose="020B0604020202020204" pitchFamily="34" charset="0"/>
                <a:cs typeface="Arial" panose="020B0604020202020204" pitchFamily="34" charset="0"/>
              </a:rPr>
              <a:t>Smart Metering</a:t>
            </a:r>
          </a:p>
          <a:p>
            <a:pPr algn="ctr">
              <a:lnSpc>
                <a:spcPct val="110000"/>
              </a:lnSpc>
              <a:spcBef>
                <a:spcPts val="0"/>
              </a:spcBef>
              <a:spcAft>
                <a:spcPts val="0"/>
              </a:spcAft>
            </a:pPr>
            <a:r>
              <a:rPr lang="en-US" sz="1000" b="1" i="0" noProof="0">
                <a:solidFill>
                  <a:srgbClr val="FFFFFF"/>
                </a:solidFill>
                <a:latin typeface="Arial" panose="020B0604020202020204" pitchFamily="34" charset="0"/>
                <a:cs typeface="Arial" panose="020B0604020202020204" pitchFamily="34" charset="0"/>
              </a:rPr>
              <a:t>(Device &amp; Metering)</a:t>
            </a:r>
          </a:p>
        </p:txBody>
      </p:sp>
      <p:sp>
        <p:nvSpPr>
          <p:cNvPr id="255" name="Rectangle 113">
            <a:extLst>
              <a:ext uri="{FF2B5EF4-FFF2-40B4-BE49-F238E27FC236}">
                <a16:creationId xmlns:a16="http://schemas.microsoft.com/office/drawing/2014/main" id="{CA2FDB28-A2BF-8FE2-8EAE-7C40FC7B71A3}"/>
              </a:ext>
            </a:extLst>
          </p:cNvPr>
          <p:cNvSpPr/>
          <p:nvPr/>
        </p:nvSpPr>
        <p:spPr>
          <a:xfrm>
            <a:off x="1647515" y="4722219"/>
            <a:ext cx="1645920"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256" name="TextBox 114">
            <a:extLst>
              <a:ext uri="{FF2B5EF4-FFF2-40B4-BE49-F238E27FC236}">
                <a16:creationId xmlns:a16="http://schemas.microsoft.com/office/drawing/2014/main" id="{42BF50CE-E9B0-EA79-D322-2B65CCDDD802}"/>
              </a:ext>
            </a:extLst>
          </p:cNvPr>
          <p:cNvSpPr txBox="1"/>
          <p:nvPr/>
        </p:nvSpPr>
        <p:spPr>
          <a:xfrm>
            <a:off x="1720667" y="4774458"/>
            <a:ext cx="1499616" cy="444161"/>
          </a:xfrm>
          <a:prstGeom prst="rect">
            <a:avLst/>
          </a:prstGeom>
          <a:noFill/>
        </p:spPr>
        <p:txBody>
          <a:bodyPr wrap="square" lIns="0" tIns="0" rIns="0" bIns="0" anchor="ctr">
            <a:spAutoFit/>
          </a:bodyPr>
          <a:lstStyle/>
          <a:p>
            <a:pPr>
              <a:lnSpc>
                <a:spcPct val="110000"/>
              </a:lnSpc>
            </a:pPr>
            <a:r>
              <a:rPr lang="en-US" sz="900" noProof="0">
                <a:solidFill>
                  <a:srgbClr val="0F1C50"/>
                </a:solidFill>
                <a:latin typeface="Arial" panose="020B0604020202020204" pitchFamily="34" charset="0"/>
                <a:cs typeface="Arial" panose="020B0604020202020204" pitchFamily="34" charset="0"/>
              </a:rPr>
              <a:t>Customer Ops · Field Services · Billing · BRS · Vendors</a:t>
            </a:r>
          </a:p>
        </p:txBody>
      </p:sp>
      <p:sp>
        <p:nvSpPr>
          <p:cNvPr id="257" name="Rectangle 115">
            <a:extLst>
              <a:ext uri="{FF2B5EF4-FFF2-40B4-BE49-F238E27FC236}">
                <a16:creationId xmlns:a16="http://schemas.microsoft.com/office/drawing/2014/main" id="{7B7CC6AE-A4B1-D371-41C2-29E8A7BFC516}"/>
              </a:ext>
            </a:extLst>
          </p:cNvPr>
          <p:cNvSpPr/>
          <p:nvPr/>
        </p:nvSpPr>
        <p:spPr>
          <a:xfrm>
            <a:off x="3339155" y="4722219"/>
            <a:ext cx="1554480"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258" name="TextBox 116">
            <a:extLst>
              <a:ext uri="{FF2B5EF4-FFF2-40B4-BE49-F238E27FC236}">
                <a16:creationId xmlns:a16="http://schemas.microsoft.com/office/drawing/2014/main" id="{57E12260-C955-6DCF-EE93-484B370FD35F}"/>
              </a:ext>
            </a:extLst>
          </p:cNvPr>
          <p:cNvSpPr txBox="1"/>
          <p:nvPr/>
        </p:nvSpPr>
        <p:spPr>
          <a:xfrm>
            <a:off x="3412307" y="4926776"/>
            <a:ext cx="1408176" cy="139525"/>
          </a:xfrm>
          <a:prstGeom prst="rect">
            <a:avLst/>
          </a:prstGeom>
          <a:noFill/>
        </p:spPr>
        <p:txBody>
          <a:bodyPr wrap="square" lIns="0" tIns="0" rIns="0" bIns="0" anchor="ctr">
            <a:spAutoFit/>
          </a:bodyPr>
          <a:lstStyle/>
          <a:p>
            <a:pPr algn="l">
              <a:lnSpc>
                <a:spcPct val="110000"/>
              </a:lnSpc>
              <a:spcBef>
                <a:spcPts val="0"/>
              </a:spcBef>
              <a:spcAft>
                <a:spcPts val="0"/>
              </a:spcAft>
            </a:pPr>
            <a:r>
              <a:rPr lang="en-US" sz="900" i="0" noProof="0">
                <a:solidFill>
                  <a:srgbClr val="0F1C50"/>
                </a:solidFill>
                <a:latin typeface="Arial" panose="020B0604020202020204" pitchFamily="34" charset="0"/>
                <a:cs typeface="Arial" panose="020B0604020202020204" pitchFamily="34" charset="0"/>
              </a:rPr>
              <a:t>Incidents · Large · Small</a:t>
            </a:r>
          </a:p>
        </p:txBody>
      </p:sp>
      <p:sp>
        <p:nvSpPr>
          <p:cNvPr id="259" name="Rectangle 117">
            <a:extLst>
              <a:ext uri="{FF2B5EF4-FFF2-40B4-BE49-F238E27FC236}">
                <a16:creationId xmlns:a16="http://schemas.microsoft.com/office/drawing/2014/main" id="{0CBA1054-A6BF-7068-7D4C-66C10034406B}"/>
              </a:ext>
            </a:extLst>
          </p:cNvPr>
          <p:cNvSpPr/>
          <p:nvPr/>
        </p:nvSpPr>
        <p:spPr>
          <a:xfrm>
            <a:off x="4939354" y="4722219"/>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260" name="TextBox 119">
            <a:extLst>
              <a:ext uri="{FF2B5EF4-FFF2-40B4-BE49-F238E27FC236}">
                <a16:creationId xmlns:a16="http://schemas.microsoft.com/office/drawing/2014/main" id="{D3616753-6220-4857-E843-C227628F5135}"/>
              </a:ext>
            </a:extLst>
          </p:cNvPr>
          <p:cNvSpPr txBox="1"/>
          <p:nvPr/>
        </p:nvSpPr>
        <p:spPr>
          <a:xfrm>
            <a:off x="5167954" y="4850121"/>
            <a:ext cx="1084478" cy="292837"/>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a:cs typeface="Arial"/>
              </a:rPr>
              <a:t>Informal intake process</a:t>
            </a:r>
            <a:endParaRPr lang="en-US" sz="900" b="0" i="0" noProof="0">
              <a:solidFill>
                <a:srgbClr val="2C3E50"/>
              </a:solidFill>
              <a:latin typeface="Arial" panose="020B0604020202020204" pitchFamily="34" charset="0"/>
              <a:cs typeface="Arial" panose="020B0604020202020204" pitchFamily="34" charset="0"/>
            </a:endParaRPr>
          </a:p>
        </p:txBody>
      </p:sp>
      <p:sp>
        <p:nvSpPr>
          <p:cNvPr id="261" name="Rectangle 120">
            <a:extLst>
              <a:ext uri="{FF2B5EF4-FFF2-40B4-BE49-F238E27FC236}">
                <a16:creationId xmlns:a16="http://schemas.microsoft.com/office/drawing/2014/main" id="{974DDEC0-CE7A-808B-30CD-D69D1844B482}"/>
              </a:ext>
            </a:extLst>
          </p:cNvPr>
          <p:cNvSpPr/>
          <p:nvPr/>
        </p:nvSpPr>
        <p:spPr>
          <a:xfrm>
            <a:off x="6343873" y="4722219"/>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262" name="TextBox 122">
            <a:extLst>
              <a:ext uri="{FF2B5EF4-FFF2-40B4-BE49-F238E27FC236}">
                <a16:creationId xmlns:a16="http://schemas.microsoft.com/office/drawing/2014/main" id="{6E3BF51A-8004-11C1-4819-299D7F6322AB}"/>
              </a:ext>
            </a:extLst>
          </p:cNvPr>
          <p:cNvSpPr txBox="1"/>
          <p:nvPr/>
        </p:nvSpPr>
        <p:spPr>
          <a:xfrm>
            <a:off x="6586080" y="4847909"/>
            <a:ext cx="1084478" cy="297261"/>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a:cs typeface="Arial"/>
              </a:rPr>
              <a:t>Relies on tool template</a:t>
            </a:r>
            <a:endParaRPr lang="en-US" noProof="0"/>
          </a:p>
        </p:txBody>
      </p:sp>
      <p:sp>
        <p:nvSpPr>
          <p:cNvPr id="263" name="Rectangle 123">
            <a:extLst>
              <a:ext uri="{FF2B5EF4-FFF2-40B4-BE49-F238E27FC236}">
                <a16:creationId xmlns:a16="http://schemas.microsoft.com/office/drawing/2014/main" id="{9A21AB0D-C782-9B7B-AE90-199DB215E25A}"/>
              </a:ext>
            </a:extLst>
          </p:cNvPr>
          <p:cNvSpPr/>
          <p:nvPr/>
        </p:nvSpPr>
        <p:spPr>
          <a:xfrm>
            <a:off x="7748391" y="4722219"/>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264" name="TextBox 125">
            <a:extLst>
              <a:ext uri="{FF2B5EF4-FFF2-40B4-BE49-F238E27FC236}">
                <a16:creationId xmlns:a16="http://schemas.microsoft.com/office/drawing/2014/main" id="{D6D49A45-4710-3C22-6D98-4E4579F8D634}"/>
              </a:ext>
            </a:extLst>
          </p:cNvPr>
          <p:cNvSpPr txBox="1"/>
          <p:nvPr/>
        </p:nvSpPr>
        <p:spPr>
          <a:xfrm>
            <a:off x="7976991" y="4889563"/>
            <a:ext cx="1084478" cy="297261"/>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a:ea typeface="+mn-lt"/>
                <a:cs typeface="Arial"/>
              </a:rPr>
              <a:t>'Intrinsic common sense'; not scored</a:t>
            </a:r>
            <a:endParaRPr lang="en-US" noProof="0"/>
          </a:p>
        </p:txBody>
      </p:sp>
      <p:sp>
        <p:nvSpPr>
          <p:cNvPr id="265" name="Rectangle 126">
            <a:extLst>
              <a:ext uri="{FF2B5EF4-FFF2-40B4-BE49-F238E27FC236}">
                <a16:creationId xmlns:a16="http://schemas.microsoft.com/office/drawing/2014/main" id="{1FD72E77-802E-0BF5-EC9B-0F98F96416FC}"/>
              </a:ext>
            </a:extLst>
          </p:cNvPr>
          <p:cNvSpPr/>
          <p:nvPr/>
        </p:nvSpPr>
        <p:spPr>
          <a:xfrm>
            <a:off x="9152910" y="4722219"/>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266" name="TextBox 128">
            <a:extLst>
              <a:ext uri="{FF2B5EF4-FFF2-40B4-BE49-F238E27FC236}">
                <a16:creationId xmlns:a16="http://schemas.microsoft.com/office/drawing/2014/main" id="{291A1C75-9B44-DFE8-11BB-0AFE0A19627A}"/>
              </a:ext>
            </a:extLst>
          </p:cNvPr>
          <p:cNvSpPr txBox="1"/>
          <p:nvPr/>
        </p:nvSpPr>
        <p:spPr>
          <a:xfrm>
            <a:off x="9381510" y="4926294"/>
            <a:ext cx="1084478" cy="140488"/>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a:cs typeface="Arial"/>
              </a:rPr>
              <a:t>Partial governance</a:t>
            </a:r>
            <a:endParaRPr lang="en-US" sz="900" b="0" i="0" noProof="0">
              <a:solidFill>
                <a:srgbClr val="2C3E50"/>
              </a:solidFill>
              <a:latin typeface="Arial" panose="020B0604020202020204" pitchFamily="34" charset="0"/>
              <a:cs typeface="Arial" panose="020B0604020202020204" pitchFamily="34" charset="0"/>
            </a:endParaRPr>
          </a:p>
        </p:txBody>
      </p:sp>
      <p:sp>
        <p:nvSpPr>
          <p:cNvPr id="267" name="Rectangle 129">
            <a:extLst>
              <a:ext uri="{FF2B5EF4-FFF2-40B4-BE49-F238E27FC236}">
                <a16:creationId xmlns:a16="http://schemas.microsoft.com/office/drawing/2014/main" id="{8769424E-D720-7931-CA1F-FB6DEA2DE634}"/>
              </a:ext>
            </a:extLst>
          </p:cNvPr>
          <p:cNvSpPr/>
          <p:nvPr/>
        </p:nvSpPr>
        <p:spPr>
          <a:xfrm>
            <a:off x="10557428" y="4722219"/>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268" name="TextBox 131">
            <a:extLst>
              <a:ext uri="{FF2B5EF4-FFF2-40B4-BE49-F238E27FC236}">
                <a16:creationId xmlns:a16="http://schemas.microsoft.com/office/drawing/2014/main" id="{4B535C96-7C9C-070F-6C61-3D5B0B41C92C}"/>
              </a:ext>
            </a:extLst>
          </p:cNvPr>
          <p:cNvSpPr txBox="1"/>
          <p:nvPr/>
        </p:nvSpPr>
        <p:spPr>
          <a:xfrm>
            <a:off x="10786028" y="4899363"/>
            <a:ext cx="1084478" cy="297261"/>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a:ea typeface="+mn-lt"/>
                <a:cs typeface="Arial"/>
              </a:rPr>
              <a:t>Execution knowledge not owned</a:t>
            </a:r>
            <a:endParaRPr lang="en-US" noProof="0"/>
          </a:p>
        </p:txBody>
      </p:sp>
      <p:sp>
        <p:nvSpPr>
          <p:cNvPr id="269" name="Rectangle 132">
            <a:extLst>
              <a:ext uri="{FF2B5EF4-FFF2-40B4-BE49-F238E27FC236}">
                <a16:creationId xmlns:a16="http://schemas.microsoft.com/office/drawing/2014/main" id="{1CAF0621-3518-5305-5092-AB9FC08F7AE6}"/>
              </a:ext>
            </a:extLst>
          </p:cNvPr>
          <p:cNvSpPr/>
          <p:nvPr/>
        </p:nvSpPr>
        <p:spPr>
          <a:xfrm>
            <a:off x="458795" y="5295840"/>
            <a:ext cx="1143000" cy="86987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270" name="TextBox 133">
            <a:extLst>
              <a:ext uri="{FF2B5EF4-FFF2-40B4-BE49-F238E27FC236}">
                <a16:creationId xmlns:a16="http://schemas.microsoft.com/office/drawing/2014/main" id="{FE4F59E7-2DCE-2B99-0F32-0E5C218F6E7A}"/>
              </a:ext>
            </a:extLst>
          </p:cNvPr>
          <p:cNvSpPr txBox="1"/>
          <p:nvPr/>
        </p:nvSpPr>
        <p:spPr>
          <a:xfrm>
            <a:off x="460304" y="5354785"/>
            <a:ext cx="1143000" cy="493533"/>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000" b="1" i="0" noProof="0">
                <a:solidFill>
                  <a:srgbClr val="FFFFFF"/>
                </a:solidFill>
                <a:latin typeface="Arial" panose="020B0604020202020204" pitchFamily="34" charset="0"/>
                <a:cs typeface="Arial" panose="020B0604020202020204" pitchFamily="34" charset="0"/>
              </a:rPr>
              <a:t>Customer Services</a:t>
            </a:r>
          </a:p>
          <a:p>
            <a:pPr algn="ctr">
              <a:lnSpc>
                <a:spcPct val="110000"/>
              </a:lnSpc>
              <a:spcBef>
                <a:spcPts val="0"/>
              </a:spcBef>
              <a:spcAft>
                <a:spcPts val="0"/>
              </a:spcAft>
            </a:pPr>
            <a:r>
              <a:rPr lang="en-US" sz="1000" b="1" i="0" noProof="0">
                <a:solidFill>
                  <a:srgbClr val="FFFFFF"/>
                </a:solidFill>
                <a:latin typeface="Arial" panose="020B0604020202020204" pitchFamily="34" charset="0"/>
                <a:cs typeface="Arial" panose="020B0604020202020204" pitchFamily="34" charset="0"/>
              </a:rPr>
              <a:t>(4 teams TBC)</a:t>
            </a:r>
          </a:p>
        </p:txBody>
      </p:sp>
      <p:sp>
        <p:nvSpPr>
          <p:cNvPr id="271" name="Rectangle 134">
            <a:extLst>
              <a:ext uri="{FF2B5EF4-FFF2-40B4-BE49-F238E27FC236}">
                <a16:creationId xmlns:a16="http://schemas.microsoft.com/office/drawing/2014/main" id="{2D9A2D2D-18BA-6D96-CAED-D1D2E6A40B63}"/>
              </a:ext>
            </a:extLst>
          </p:cNvPr>
          <p:cNvSpPr/>
          <p:nvPr/>
        </p:nvSpPr>
        <p:spPr>
          <a:xfrm>
            <a:off x="1606694" y="5298509"/>
            <a:ext cx="1653390" cy="87401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72" name="TextBox 135">
            <a:extLst>
              <a:ext uri="{FF2B5EF4-FFF2-40B4-BE49-F238E27FC236}">
                <a16:creationId xmlns:a16="http://schemas.microsoft.com/office/drawing/2014/main" id="{B7BD06AB-DB5E-32B0-C093-52DAE1E07449}"/>
              </a:ext>
            </a:extLst>
          </p:cNvPr>
          <p:cNvSpPr txBox="1"/>
          <p:nvPr/>
        </p:nvSpPr>
        <p:spPr>
          <a:xfrm>
            <a:off x="1724001" y="5399642"/>
            <a:ext cx="1492146" cy="1054584"/>
          </a:xfrm>
          <a:prstGeom prst="rect">
            <a:avLst/>
          </a:prstGeom>
          <a:noFill/>
        </p:spPr>
        <p:txBody>
          <a:bodyPr wrap="square" lIns="0" tIns="0" rIns="0" bIns="0" anchor="ctr">
            <a:spAutoFit/>
          </a:bodyPr>
          <a:lstStyle/>
          <a:p>
            <a:pPr>
              <a:lnSpc>
                <a:spcPct val="110000"/>
              </a:lnSpc>
            </a:pPr>
            <a:r>
              <a:rPr lang="en-US" sz="900" noProof="0">
                <a:solidFill>
                  <a:srgbClr val="0F1C50"/>
                </a:solidFill>
                <a:latin typeface="Arial"/>
                <a:cs typeface="Arial"/>
              </a:rPr>
              <a:t>7 OPCOs via BRS · PMO · OT · Digital </a:t>
            </a:r>
            <a:r>
              <a:rPr lang="en-US" sz="900" noProof="0" err="1">
                <a:solidFill>
                  <a:srgbClr val="0F1C50"/>
                </a:solidFill>
                <a:latin typeface="Arial"/>
                <a:cs typeface="Arial"/>
              </a:rPr>
              <a:t>CoE</a:t>
            </a:r>
            <a:r>
              <a:rPr lang="en-US" sz="900" noProof="0">
                <a:solidFill>
                  <a:srgbClr val="0F1C50"/>
                </a:solidFill>
                <a:latin typeface="Arial"/>
                <a:cs typeface="Arial"/>
              </a:rPr>
              <a:t> </a:t>
            </a:r>
            <a:r>
              <a:rPr lang="en-US" sz="900" noProof="0">
                <a:solidFill>
                  <a:srgbClr val="0F1C50"/>
                </a:solidFill>
                <a:latin typeface="Arial"/>
                <a:ea typeface="Calibri"/>
                <a:cs typeface="Arial"/>
              </a:rPr>
              <a:t>· Infrastructure · Data &amp; Analytics · Regulatory ·</a:t>
            </a:r>
          </a:p>
          <a:p>
            <a:pPr>
              <a:lnSpc>
                <a:spcPct val="110000"/>
              </a:lnSpc>
            </a:pPr>
            <a:r>
              <a:rPr lang="en-US" sz="900" noProof="0">
                <a:solidFill>
                  <a:srgbClr val="0F1C50"/>
                </a:solidFill>
                <a:latin typeface="Arial"/>
                <a:ea typeface="Calibri"/>
                <a:cs typeface="Arial"/>
              </a:rPr>
              <a:t>OT</a:t>
            </a:r>
          </a:p>
          <a:p>
            <a:pPr>
              <a:lnSpc>
                <a:spcPct val="110000"/>
              </a:lnSpc>
            </a:pPr>
            <a:endParaRPr lang="en-US" sz="900" noProof="0">
              <a:solidFill>
                <a:srgbClr val="0F1C50"/>
              </a:solidFill>
              <a:latin typeface="Arial"/>
              <a:ea typeface="Calibri"/>
              <a:cs typeface="Arial"/>
            </a:endParaRPr>
          </a:p>
          <a:p>
            <a:pPr>
              <a:lnSpc>
                <a:spcPct val="110000"/>
              </a:lnSpc>
            </a:pPr>
            <a:endParaRPr lang="en-US" sz="900" noProof="0">
              <a:solidFill>
                <a:srgbClr val="0F1C50"/>
              </a:solidFill>
              <a:latin typeface="Arial"/>
              <a:cs typeface="Arial"/>
            </a:endParaRPr>
          </a:p>
        </p:txBody>
      </p:sp>
      <p:sp>
        <p:nvSpPr>
          <p:cNvPr id="273" name="Rectangle 136">
            <a:extLst>
              <a:ext uri="{FF2B5EF4-FFF2-40B4-BE49-F238E27FC236}">
                <a16:creationId xmlns:a16="http://schemas.microsoft.com/office/drawing/2014/main" id="{E3A13F06-A92C-F6FC-0C71-4BA4C6B39B23}"/>
              </a:ext>
            </a:extLst>
          </p:cNvPr>
          <p:cNvSpPr/>
          <p:nvPr/>
        </p:nvSpPr>
        <p:spPr>
          <a:xfrm>
            <a:off x="3339155" y="5325723"/>
            <a:ext cx="1554480"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274" name="TextBox 137">
            <a:extLst>
              <a:ext uri="{FF2B5EF4-FFF2-40B4-BE49-F238E27FC236}">
                <a16:creationId xmlns:a16="http://schemas.microsoft.com/office/drawing/2014/main" id="{26277550-6F59-F1BA-D0E9-C5889EFA7C6C}"/>
              </a:ext>
            </a:extLst>
          </p:cNvPr>
          <p:cNvSpPr txBox="1"/>
          <p:nvPr/>
        </p:nvSpPr>
        <p:spPr>
          <a:xfrm>
            <a:off x="3412307" y="5453624"/>
            <a:ext cx="1408176" cy="292837"/>
          </a:xfrm>
          <a:prstGeom prst="rect">
            <a:avLst/>
          </a:prstGeom>
          <a:noFill/>
        </p:spPr>
        <p:txBody>
          <a:bodyPr wrap="square" lIns="0" tIns="0" rIns="0" bIns="0" anchor="ctr">
            <a:spAutoFit/>
          </a:bodyPr>
          <a:lstStyle/>
          <a:p>
            <a:pPr algn="l">
              <a:lnSpc>
                <a:spcPct val="110000"/>
              </a:lnSpc>
              <a:spcBef>
                <a:spcPts val="0"/>
              </a:spcBef>
              <a:spcAft>
                <a:spcPts val="0"/>
              </a:spcAft>
            </a:pPr>
            <a:r>
              <a:rPr lang="en-US" sz="900" i="0" noProof="0">
                <a:solidFill>
                  <a:srgbClr val="0F1C50"/>
                </a:solidFill>
                <a:latin typeface="Arial" panose="020B0604020202020204" pitchFamily="34" charset="0"/>
                <a:cs typeface="Arial" panose="020B0604020202020204" pitchFamily="34" charset="0"/>
              </a:rPr>
              <a:t>Regulatory · Large · Small/Medium </a:t>
            </a:r>
          </a:p>
        </p:txBody>
      </p:sp>
      <p:sp>
        <p:nvSpPr>
          <p:cNvPr id="275" name="Rectangle 138">
            <a:extLst>
              <a:ext uri="{FF2B5EF4-FFF2-40B4-BE49-F238E27FC236}">
                <a16:creationId xmlns:a16="http://schemas.microsoft.com/office/drawing/2014/main" id="{1CA7A55A-A909-FE9E-02B4-1B0ABABFF900}"/>
              </a:ext>
            </a:extLst>
          </p:cNvPr>
          <p:cNvSpPr/>
          <p:nvPr/>
        </p:nvSpPr>
        <p:spPr>
          <a:xfrm>
            <a:off x="4939354" y="5325723"/>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276" name="TextBox 140">
            <a:extLst>
              <a:ext uri="{FF2B5EF4-FFF2-40B4-BE49-F238E27FC236}">
                <a16:creationId xmlns:a16="http://schemas.microsoft.com/office/drawing/2014/main" id="{8D4F624A-F05E-7C8B-7785-846D69ABD0EA}"/>
              </a:ext>
            </a:extLst>
          </p:cNvPr>
          <p:cNvSpPr txBox="1"/>
          <p:nvPr/>
        </p:nvSpPr>
        <p:spPr>
          <a:xfrm>
            <a:off x="5167954" y="5488519"/>
            <a:ext cx="1084478" cy="140488"/>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a:cs typeface="Arial"/>
              </a:rPr>
              <a:t>No shared channel</a:t>
            </a:r>
          </a:p>
        </p:txBody>
      </p:sp>
      <p:sp>
        <p:nvSpPr>
          <p:cNvPr id="277" name="Rectangle 141">
            <a:extLst>
              <a:ext uri="{FF2B5EF4-FFF2-40B4-BE49-F238E27FC236}">
                <a16:creationId xmlns:a16="http://schemas.microsoft.com/office/drawing/2014/main" id="{A399E36E-FC2B-583D-92C0-ABE02FA6932A}"/>
              </a:ext>
            </a:extLst>
          </p:cNvPr>
          <p:cNvSpPr/>
          <p:nvPr/>
        </p:nvSpPr>
        <p:spPr>
          <a:xfrm>
            <a:off x="6343873" y="5325723"/>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278" name="TextBox 143">
            <a:extLst>
              <a:ext uri="{FF2B5EF4-FFF2-40B4-BE49-F238E27FC236}">
                <a16:creationId xmlns:a16="http://schemas.microsoft.com/office/drawing/2014/main" id="{8CCEA4C7-F8B7-3FF1-CBF6-EDCC1AF1AA73}"/>
              </a:ext>
            </a:extLst>
          </p:cNvPr>
          <p:cNvSpPr txBox="1"/>
          <p:nvPr/>
        </p:nvSpPr>
        <p:spPr>
          <a:xfrm>
            <a:off x="6572473" y="5451412"/>
            <a:ext cx="1084478" cy="297261"/>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a:cs typeface="Arial"/>
              </a:rPr>
              <a:t>No model defined for classification</a:t>
            </a:r>
            <a:endParaRPr lang="en-US" noProof="0"/>
          </a:p>
        </p:txBody>
      </p:sp>
      <p:sp>
        <p:nvSpPr>
          <p:cNvPr id="279" name="Rectangle 144">
            <a:extLst>
              <a:ext uri="{FF2B5EF4-FFF2-40B4-BE49-F238E27FC236}">
                <a16:creationId xmlns:a16="http://schemas.microsoft.com/office/drawing/2014/main" id="{7FFAC339-91A6-D643-2419-D0FAD10593A6}"/>
              </a:ext>
            </a:extLst>
          </p:cNvPr>
          <p:cNvSpPr/>
          <p:nvPr/>
        </p:nvSpPr>
        <p:spPr>
          <a:xfrm>
            <a:off x="7748391" y="5325723"/>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280" name="TextBox 146">
            <a:extLst>
              <a:ext uri="{FF2B5EF4-FFF2-40B4-BE49-F238E27FC236}">
                <a16:creationId xmlns:a16="http://schemas.microsoft.com/office/drawing/2014/main" id="{729A42E7-6CB3-CD59-7554-23C7914EBB1C}"/>
              </a:ext>
            </a:extLst>
          </p:cNvPr>
          <p:cNvSpPr txBox="1"/>
          <p:nvPr/>
        </p:nvSpPr>
        <p:spPr>
          <a:xfrm>
            <a:off x="7976991" y="5453624"/>
            <a:ext cx="1084478" cy="292837"/>
          </a:xfrm>
          <a:prstGeom prst="rect">
            <a:avLst/>
          </a:prstGeom>
          <a:noFill/>
        </p:spPr>
        <p:txBody>
          <a:bodyPr wrap="square" lIns="0" tIns="0" rIns="0" bIns="0" anchor="ctr">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Done by Director or managers locally</a:t>
            </a:r>
          </a:p>
        </p:txBody>
      </p:sp>
      <p:sp>
        <p:nvSpPr>
          <p:cNvPr id="281" name="Rectangle 147">
            <a:extLst>
              <a:ext uri="{FF2B5EF4-FFF2-40B4-BE49-F238E27FC236}">
                <a16:creationId xmlns:a16="http://schemas.microsoft.com/office/drawing/2014/main" id="{E23BFC3F-90F8-EF63-A3BA-A5C0477530A6}"/>
              </a:ext>
            </a:extLst>
          </p:cNvPr>
          <p:cNvSpPr/>
          <p:nvPr/>
        </p:nvSpPr>
        <p:spPr>
          <a:xfrm>
            <a:off x="9152910" y="5325723"/>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282" name="TextBox 149">
            <a:extLst>
              <a:ext uri="{FF2B5EF4-FFF2-40B4-BE49-F238E27FC236}">
                <a16:creationId xmlns:a16="http://schemas.microsoft.com/office/drawing/2014/main" id="{AE08CF9D-CF8F-CE9E-3C66-9C10BC719C30}"/>
              </a:ext>
            </a:extLst>
          </p:cNvPr>
          <p:cNvSpPr txBox="1"/>
          <p:nvPr/>
        </p:nvSpPr>
        <p:spPr>
          <a:xfrm>
            <a:off x="9381510" y="5453625"/>
            <a:ext cx="1084478" cy="292837"/>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a:cs typeface="Arial"/>
              </a:rPr>
              <a:t>Priority competition between </a:t>
            </a:r>
            <a:r>
              <a:rPr lang="en-US" sz="900" noProof="0" err="1">
                <a:solidFill>
                  <a:srgbClr val="2C3E50"/>
                </a:solidFill>
                <a:latin typeface="Arial"/>
                <a:cs typeface="Arial"/>
              </a:rPr>
              <a:t>OpCos</a:t>
            </a:r>
            <a:endParaRPr lang="en-US" sz="900" noProof="0">
              <a:solidFill>
                <a:srgbClr val="2C3E50"/>
              </a:solidFill>
              <a:latin typeface="Arial"/>
              <a:cs typeface="Arial"/>
            </a:endParaRPr>
          </a:p>
        </p:txBody>
      </p:sp>
      <p:sp>
        <p:nvSpPr>
          <p:cNvPr id="283" name="Rectangle 150">
            <a:extLst>
              <a:ext uri="{FF2B5EF4-FFF2-40B4-BE49-F238E27FC236}">
                <a16:creationId xmlns:a16="http://schemas.microsoft.com/office/drawing/2014/main" id="{3057F073-2BA0-C67A-DF05-68852E5DD3EB}"/>
              </a:ext>
            </a:extLst>
          </p:cNvPr>
          <p:cNvSpPr/>
          <p:nvPr/>
        </p:nvSpPr>
        <p:spPr>
          <a:xfrm>
            <a:off x="10557428" y="5325723"/>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284" name="TextBox 152">
            <a:extLst>
              <a:ext uri="{FF2B5EF4-FFF2-40B4-BE49-F238E27FC236}">
                <a16:creationId xmlns:a16="http://schemas.microsoft.com/office/drawing/2014/main" id="{FCA16C7C-BA23-CCB5-ACC5-F4E55DEF65E5}"/>
              </a:ext>
            </a:extLst>
          </p:cNvPr>
          <p:cNvSpPr txBox="1"/>
          <p:nvPr/>
        </p:nvSpPr>
        <p:spPr>
          <a:xfrm>
            <a:off x="10826849" y="5451796"/>
            <a:ext cx="1084478" cy="297261"/>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a:ea typeface="+mn-lt"/>
                <a:cs typeface="Arial"/>
              </a:rPr>
              <a:t>Ad-hoc delivery governance</a:t>
            </a:r>
            <a:endParaRPr lang="en-US" noProof="0"/>
          </a:p>
        </p:txBody>
      </p:sp>
      <p:sp>
        <p:nvSpPr>
          <p:cNvPr id="285" name="Oval 284">
            <a:extLst>
              <a:ext uri="{FF2B5EF4-FFF2-40B4-BE49-F238E27FC236}">
                <a16:creationId xmlns:a16="http://schemas.microsoft.com/office/drawing/2014/main" id="{311320C0-4D6E-78BA-3584-06925093D10A}"/>
              </a:ext>
            </a:extLst>
          </p:cNvPr>
          <p:cNvSpPr/>
          <p:nvPr/>
        </p:nvSpPr>
        <p:spPr>
          <a:xfrm>
            <a:off x="4994218" y="2116512"/>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286" name="Oval 285">
            <a:extLst>
              <a:ext uri="{FF2B5EF4-FFF2-40B4-BE49-F238E27FC236}">
                <a16:creationId xmlns:a16="http://schemas.microsoft.com/office/drawing/2014/main" id="{B41AB986-732A-7B9A-54CC-E2ED7FD1D3BC}"/>
              </a:ext>
            </a:extLst>
          </p:cNvPr>
          <p:cNvSpPr/>
          <p:nvPr/>
        </p:nvSpPr>
        <p:spPr>
          <a:xfrm>
            <a:off x="6398737" y="2116512"/>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287" name="Oval 286">
            <a:extLst>
              <a:ext uri="{FF2B5EF4-FFF2-40B4-BE49-F238E27FC236}">
                <a16:creationId xmlns:a16="http://schemas.microsoft.com/office/drawing/2014/main" id="{187654ED-FC32-B21B-B8FF-FDE41AAAA4EC}"/>
              </a:ext>
            </a:extLst>
          </p:cNvPr>
          <p:cNvSpPr/>
          <p:nvPr/>
        </p:nvSpPr>
        <p:spPr>
          <a:xfrm>
            <a:off x="7803255" y="2116512"/>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290" name="Oval 289">
            <a:extLst>
              <a:ext uri="{FF2B5EF4-FFF2-40B4-BE49-F238E27FC236}">
                <a16:creationId xmlns:a16="http://schemas.microsoft.com/office/drawing/2014/main" id="{F7B5D9E8-22FF-4EDB-9D14-1894DFB3EC74}"/>
              </a:ext>
            </a:extLst>
          </p:cNvPr>
          <p:cNvSpPr/>
          <p:nvPr/>
        </p:nvSpPr>
        <p:spPr>
          <a:xfrm>
            <a:off x="4994218" y="2728827"/>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292" name="Oval 291">
            <a:extLst>
              <a:ext uri="{FF2B5EF4-FFF2-40B4-BE49-F238E27FC236}">
                <a16:creationId xmlns:a16="http://schemas.microsoft.com/office/drawing/2014/main" id="{4AD9E115-B4FA-6D43-EA93-4224BC3710CE}"/>
              </a:ext>
            </a:extLst>
          </p:cNvPr>
          <p:cNvSpPr/>
          <p:nvPr/>
        </p:nvSpPr>
        <p:spPr>
          <a:xfrm>
            <a:off x="7803255" y="2728827"/>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294" name="Oval 293">
            <a:extLst>
              <a:ext uri="{FF2B5EF4-FFF2-40B4-BE49-F238E27FC236}">
                <a16:creationId xmlns:a16="http://schemas.microsoft.com/office/drawing/2014/main" id="{2737ACB3-594A-E56A-3B41-24D8841A608A}"/>
              </a:ext>
            </a:extLst>
          </p:cNvPr>
          <p:cNvSpPr/>
          <p:nvPr/>
        </p:nvSpPr>
        <p:spPr>
          <a:xfrm>
            <a:off x="10612292" y="2728827"/>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295" name="Oval 294">
            <a:extLst>
              <a:ext uri="{FF2B5EF4-FFF2-40B4-BE49-F238E27FC236}">
                <a16:creationId xmlns:a16="http://schemas.microsoft.com/office/drawing/2014/main" id="{312F4E9D-BDBE-20C2-7243-EDF043934F80}"/>
              </a:ext>
            </a:extLst>
          </p:cNvPr>
          <p:cNvSpPr/>
          <p:nvPr/>
        </p:nvSpPr>
        <p:spPr>
          <a:xfrm>
            <a:off x="4994218" y="3332331"/>
            <a:ext cx="128016" cy="128016"/>
          </a:xfrm>
          <a:prstGeom prst="ellipse">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296" name="Oval 295">
            <a:extLst>
              <a:ext uri="{FF2B5EF4-FFF2-40B4-BE49-F238E27FC236}">
                <a16:creationId xmlns:a16="http://schemas.microsoft.com/office/drawing/2014/main" id="{66AED27B-7D76-1948-1D4E-9BB5512C65B5}"/>
              </a:ext>
            </a:extLst>
          </p:cNvPr>
          <p:cNvSpPr/>
          <p:nvPr/>
        </p:nvSpPr>
        <p:spPr>
          <a:xfrm>
            <a:off x="6398737" y="3332331"/>
            <a:ext cx="128016" cy="128016"/>
          </a:xfrm>
          <a:prstGeom prst="ellipse">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297" name="Oval 296">
            <a:extLst>
              <a:ext uri="{FF2B5EF4-FFF2-40B4-BE49-F238E27FC236}">
                <a16:creationId xmlns:a16="http://schemas.microsoft.com/office/drawing/2014/main" id="{EF44D777-33E6-0B97-050F-93C95806D993}"/>
              </a:ext>
            </a:extLst>
          </p:cNvPr>
          <p:cNvSpPr/>
          <p:nvPr/>
        </p:nvSpPr>
        <p:spPr>
          <a:xfrm>
            <a:off x="7803255" y="3332331"/>
            <a:ext cx="128016" cy="128016"/>
          </a:xfrm>
          <a:prstGeom prst="ellipse">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298" name="Oval 297">
            <a:extLst>
              <a:ext uri="{FF2B5EF4-FFF2-40B4-BE49-F238E27FC236}">
                <a16:creationId xmlns:a16="http://schemas.microsoft.com/office/drawing/2014/main" id="{D39700E3-BBBC-C9CD-CDA4-6E0D4363B1BB}"/>
              </a:ext>
            </a:extLst>
          </p:cNvPr>
          <p:cNvSpPr/>
          <p:nvPr/>
        </p:nvSpPr>
        <p:spPr>
          <a:xfrm>
            <a:off x="9207774" y="3332331"/>
            <a:ext cx="128016" cy="128016"/>
          </a:xfrm>
          <a:prstGeom prst="ellipse">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299" name="Oval 298">
            <a:extLst>
              <a:ext uri="{FF2B5EF4-FFF2-40B4-BE49-F238E27FC236}">
                <a16:creationId xmlns:a16="http://schemas.microsoft.com/office/drawing/2014/main" id="{2E967EDA-8019-8B1F-4C03-759D935E86C0}"/>
              </a:ext>
            </a:extLst>
          </p:cNvPr>
          <p:cNvSpPr/>
          <p:nvPr/>
        </p:nvSpPr>
        <p:spPr>
          <a:xfrm>
            <a:off x="10612292" y="3332331"/>
            <a:ext cx="128016" cy="128016"/>
          </a:xfrm>
          <a:prstGeom prst="ellipse">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302" name="Oval 301">
            <a:extLst>
              <a:ext uri="{FF2B5EF4-FFF2-40B4-BE49-F238E27FC236}">
                <a16:creationId xmlns:a16="http://schemas.microsoft.com/office/drawing/2014/main" id="{382512EA-5D15-960E-BE4D-597E0ABAD832}"/>
              </a:ext>
            </a:extLst>
          </p:cNvPr>
          <p:cNvSpPr/>
          <p:nvPr/>
        </p:nvSpPr>
        <p:spPr>
          <a:xfrm>
            <a:off x="7803255" y="3935835"/>
            <a:ext cx="128016" cy="128016"/>
          </a:xfrm>
          <a:prstGeom prst="ellipse">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304" name="Oval 303">
            <a:extLst>
              <a:ext uri="{FF2B5EF4-FFF2-40B4-BE49-F238E27FC236}">
                <a16:creationId xmlns:a16="http://schemas.microsoft.com/office/drawing/2014/main" id="{530470A2-5332-831E-72FF-41377E24A73A}"/>
              </a:ext>
            </a:extLst>
          </p:cNvPr>
          <p:cNvSpPr/>
          <p:nvPr/>
        </p:nvSpPr>
        <p:spPr>
          <a:xfrm>
            <a:off x="10612292" y="3935835"/>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305" name="Oval 304">
            <a:extLst>
              <a:ext uri="{FF2B5EF4-FFF2-40B4-BE49-F238E27FC236}">
                <a16:creationId xmlns:a16="http://schemas.microsoft.com/office/drawing/2014/main" id="{5A7D5A65-C3BE-E0F4-BD37-AF1D7A10CB6E}"/>
              </a:ext>
            </a:extLst>
          </p:cNvPr>
          <p:cNvSpPr/>
          <p:nvPr/>
        </p:nvSpPr>
        <p:spPr>
          <a:xfrm>
            <a:off x="4994218" y="4795371"/>
            <a:ext cx="128016" cy="128016"/>
          </a:xfrm>
          <a:prstGeom prst="ellipse">
            <a:avLst/>
          </a:prstGeom>
          <a:solidFill>
            <a:srgbClr val="E87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307" name="Oval 306">
            <a:extLst>
              <a:ext uri="{FF2B5EF4-FFF2-40B4-BE49-F238E27FC236}">
                <a16:creationId xmlns:a16="http://schemas.microsoft.com/office/drawing/2014/main" id="{A8DD45C1-68AC-F48E-B163-F1AF026205A1}"/>
              </a:ext>
            </a:extLst>
          </p:cNvPr>
          <p:cNvSpPr/>
          <p:nvPr/>
        </p:nvSpPr>
        <p:spPr>
          <a:xfrm>
            <a:off x="7803255" y="4795371"/>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309" name="Oval 308">
            <a:extLst>
              <a:ext uri="{FF2B5EF4-FFF2-40B4-BE49-F238E27FC236}">
                <a16:creationId xmlns:a16="http://schemas.microsoft.com/office/drawing/2014/main" id="{994ADADD-B05E-FEBC-275B-EB2FC38575EF}"/>
              </a:ext>
            </a:extLst>
          </p:cNvPr>
          <p:cNvSpPr/>
          <p:nvPr/>
        </p:nvSpPr>
        <p:spPr>
          <a:xfrm>
            <a:off x="10612292" y="4795371"/>
            <a:ext cx="128016" cy="128016"/>
          </a:xfrm>
          <a:prstGeom prst="ellipse">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311" name="Oval 310">
            <a:extLst>
              <a:ext uri="{FF2B5EF4-FFF2-40B4-BE49-F238E27FC236}">
                <a16:creationId xmlns:a16="http://schemas.microsoft.com/office/drawing/2014/main" id="{C3852E3D-657D-45BE-6F7B-12A586ED41F7}"/>
              </a:ext>
            </a:extLst>
          </p:cNvPr>
          <p:cNvSpPr/>
          <p:nvPr/>
        </p:nvSpPr>
        <p:spPr>
          <a:xfrm>
            <a:off x="9253494" y="5375567"/>
            <a:ext cx="128016" cy="128016"/>
          </a:xfrm>
          <a:prstGeom prst="ellipse">
            <a:avLst/>
          </a:prstGeom>
          <a:solidFill>
            <a:srgbClr val="E87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16" name="TextBox 110">
            <a:extLst>
              <a:ext uri="{FF2B5EF4-FFF2-40B4-BE49-F238E27FC236}">
                <a16:creationId xmlns:a16="http://schemas.microsoft.com/office/drawing/2014/main" id="{25DD00AC-D3FE-1EFC-894E-5858B139190F}"/>
              </a:ext>
            </a:extLst>
          </p:cNvPr>
          <p:cNvSpPr txBox="1"/>
          <p:nvPr/>
        </p:nvSpPr>
        <p:spPr>
          <a:xfrm>
            <a:off x="457200" y="1861890"/>
            <a:ext cx="6400800" cy="139525"/>
          </a:xfrm>
          <a:prstGeom prst="rect">
            <a:avLst/>
          </a:prstGeom>
          <a:noFill/>
        </p:spPr>
        <p:txBody>
          <a:bodyPr wrap="square" lIns="0" tIns="0" rIns="0" bIns="0" anchor="t">
            <a:spAutoFit/>
          </a:bodyPr>
          <a:lstStyle/>
          <a:p>
            <a:pPr algn="l">
              <a:lnSpc>
                <a:spcPct val="110000"/>
              </a:lnSpc>
              <a:spcBef>
                <a:spcPts val="0"/>
              </a:spcBef>
              <a:spcAft>
                <a:spcPts val="0"/>
              </a:spcAft>
            </a:pPr>
            <a:r>
              <a:rPr lang="en-US" sz="900" b="1" i="0" noProof="0">
                <a:solidFill>
                  <a:srgbClr val="6583BE"/>
                </a:solidFill>
                <a:latin typeface="Arial" panose="020B0604020202020204" pitchFamily="34" charset="0"/>
                <a:cs typeface="Arial" panose="020B0604020202020204" pitchFamily="34" charset="0"/>
              </a:rPr>
              <a:t>IT BUSINESS APPLICATIONS</a:t>
            </a:r>
          </a:p>
        </p:txBody>
      </p:sp>
      <p:sp>
        <p:nvSpPr>
          <p:cNvPr id="19" name="Rectangle 109">
            <a:extLst>
              <a:ext uri="{FF2B5EF4-FFF2-40B4-BE49-F238E27FC236}">
                <a16:creationId xmlns:a16="http://schemas.microsoft.com/office/drawing/2014/main" id="{F8F31007-230E-E0E5-BBB7-F202B4C92EFF}"/>
              </a:ext>
            </a:extLst>
          </p:cNvPr>
          <p:cNvSpPr/>
          <p:nvPr/>
        </p:nvSpPr>
        <p:spPr>
          <a:xfrm>
            <a:off x="458795" y="1786880"/>
            <a:ext cx="11457431" cy="6139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21" name="Oval 20">
            <a:extLst>
              <a:ext uri="{FF2B5EF4-FFF2-40B4-BE49-F238E27FC236}">
                <a16:creationId xmlns:a16="http://schemas.microsoft.com/office/drawing/2014/main" id="{3E461D38-D458-F76B-60B8-2C1FE1EFD503}"/>
              </a:ext>
            </a:extLst>
          </p:cNvPr>
          <p:cNvSpPr/>
          <p:nvPr/>
        </p:nvSpPr>
        <p:spPr>
          <a:xfrm>
            <a:off x="9207773" y="2116512"/>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22" name="Oval 21">
            <a:extLst>
              <a:ext uri="{FF2B5EF4-FFF2-40B4-BE49-F238E27FC236}">
                <a16:creationId xmlns:a16="http://schemas.microsoft.com/office/drawing/2014/main" id="{34F73A3D-A2C2-FCCF-5297-A501BB67EC8C}"/>
              </a:ext>
            </a:extLst>
          </p:cNvPr>
          <p:cNvSpPr/>
          <p:nvPr/>
        </p:nvSpPr>
        <p:spPr>
          <a:xfrm>
            <a:off x="10621971" y="2116512"/>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23" name="Oval 22">
            <a:extLst>
              <a:ext uri="{FF2B5EF4-FFF2-40B4-BE49-F238E27FC236}">
                <a16:creationId xmlns:a16="http://schemas.microsoft.com/office/drawing/2014/main" id="{994A17BF-0AB9-F3BB-A18C-5A34633E72B2}"/>
              </a:ext>
            </a:extLst>
          </p:cNvPr>
          <p:cNvSpPr/>
          <p:nvPr/>
        </p:nvSpPr>
        <p:spPr>
          <a:xfrm>
            <a:off x="6398727" y="2720017"/>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24" name="Oval 23">
            <a:extLst>
              <a:ext uri="{FF2B5EF4-FFF2-40B4-BE49-F238E27FC236}">
                <a16:creationId xmlns:a16="http://schemas.microsoft.com/office/drawing/2014/main" id="{FD7F8FE3-AB21-0727-D83E-DCFA92296584}"/>
              </a:ext>
            </a:extLst>
          </p:cNvPr>
          <p:cNvSpPr/>
          <p:nvPr/>
        </p:nvSpPr>
        <p:spPr>
          <a:xfrm>
            <a:off x="9209432" y="2709039"/>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28" name="Oval 27">
            <a:extLst>
              <a:ext uri="{FF2B5EF4-FFF2-40B4-BE49-F238E27FC236}">
                <a16:creationId xmlns:a16="http://schemas.microsoft.com/office/drawing/2014/main" id="{6A197A31-5C31-9506-8E50-648F12BAD83D}"/>
              </a:ext>
            </a:extLst>
          </p:cNvPr>
          <p:cNvSpPr/>
          <p:nvPr/>
        </p:nvSpPr>
        <p:spPr>
          <a:xfrm>
            <a:off x="6407001" y="3896838"/>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29" name="Oval 28">
            <a:extLst>
              <a:ext uri="{FF2B5EF4-FFF2-40B4-BE49-F238E27FC236}">
                <a16:creationId xmlns:a16="http://schemas.microsoft.com/office/drawing/2014/main" id="{179783B1-141C-7C57-A433-842E7C435D23}"/>
              </a:ext>
            </a:extLst>
          </p:cNvPr>
          <p:cNvSpPr/>
          <p:nvPr/>
        </p:nvSpPr>
        <p:spPr>
          <a:xfrm>
            <a:off x="5002482" y="3914229"/>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30" name="Oval 29">
            <a:extLst>
              <a:ext uri="{FF2B5EF4-FFF2-40B4-BE49-F238E27FC236}">
                <a16:creationId xmlns:a16="http://schemas.microsoft.com/office/drawing/2014/main" id="{7674B10B-D420-D216-B5D7-4B2ECF2AF5AA}"/>
              </a:ext>
            </a:extLst>
          </p:cNvPr>
          <p:cNvSpPr/>
          <p:nvPr/>
        </p:nvSpPr>
        <p:spPr>
          <a:xfrm>
            <a:off x="6433897" y="4766416"/>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31" name="Oval 30">
            <a:extLst>
              <a:ext uri="{FF2B5EF4-FFF2-40B4-BE49-F238E27FC236}">
                <a16:creationId xmlns:a16="http://schemas.microsoft.com/office/drawing/2014/main" id="{ADE5F6FC-E4CC-797D-25E0-8626E04C9F7F}"/>
              </a:ext>
            </a:extLst>
          </p:cNvPr>
          <p:cNvSpPr/>
          <p:nvPr/>
        </p:nvSpPr>
        <p:spPr>
          <a:xfrm>
            <a:off x="9216038" y="4772063"/>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32" name="Oval 31">
            <a:extLst>
              <a:ext uri="{FF2B5EF4-FFF2-40B4-BE49-F238E27FC236}">
                <a16:creationId xmlns:a16="http://schemas.microsoft.com/office/drawing/2014/main" id="{1B0B0645-7322-1DFA-64E4-5E19110D8AAC}"/>
              </a:ext>
            </a:extLst>
          </p:cNvPr>
          <p:cNvSpPr/>
          <p:nvPr/>
        </p:nvSpPr>
        <p:spPr>
          <a:xfrm>
            <a:off x="5002483" y="5366512"/>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33" name="Oval 32">
            <a:extLst>
              <a:ext uri="{FF2B5EF4-FFF2-40B4-BE49-F238E27FC236}">
                <a16:creationId xmlns:a16="http://schemas.microsoft.com/office/drawing/2014/main" id="{23034909-577A-6AEC-24D5-BAC8F5A54533}"/>
              </a:ext>
            </a:extLst>
          </p:cNvPr>
          <p:cNvSpPr/>
          <p:nvPr/>
        </p:nvSpPr>
        <p:spPr>
          <a:xfrm>
            <a:off x="7811519" y="5375567"/>
            <a:ext cx="128016" cy="128016"/>
          </a:xfrm>
          <a:prstGeom prst="ellipse">
            <a:avLst/>
          </a:prstGeom>
          <a:solidFill>
            <a:srgbClr val="E87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34" name="Oval 33">
            <a:extLst>
              <a:ext uri="{FF2B5EF4-FFF2-40B4-BE49-F238E27FC236}">
                <a16:creationId xmlns:a16="http://schemas.microsoft.com/office/drawing/2014/main" id="{C606F856-3FB8-1A1A-2969-78F268687BF8}"/>
              </a:ext>
            </a:extLst>
          </p:cNvPr>
          <p:cNvSpPr/>
          <p:nvPr/>
        </p:nvSpPr>
        <p:spPr>
          <a:xfrm>
            <a:off x="6418909" y="5375474"/>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36" name="Oval 35">
            <a:extLst>
              <a:ext uri="{FF2B5EF4-FFF2-40B4-BE49-F238E27FC236}">
                <a16:creationId xmlns:a16="http://schemas.microsoft.com/office/drawing/2014/main" id="{626DD893-EAEC-EDAA-6ED8-EE68504E1349}"/>
              </a:ext>
            </a:extLst>
          </p:cNvPr>
          <p:cNvSpPr/>
          <p:nvPr/>
        </p:nvSpPr>
        <p:spPr>
          <a:xfrm>
            <a:off x="9222760" y="3926869"/>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37" name="Oval 36">
            <a:extLst>
              <a:ext uri="{FF2B5EF4-FFF2-40B4-BE49-F238E27FC236}">
                <a16:creationId xmlns:a16="http://schemas.microsoft.com/office/drawing/2014/main" id="{C856BC26-2617-1745-B47A-32E1FD7EF782}"/>
              </a:ext>
            </a:extLst>
          </p:cNvPr>
          <p:cNvSpPr/>
          <p:nvPr/>
        </p:nvSpPr>
        <p:spPr>
          <a:xfrm>
            <a:off x="10630222" y="5361227"/>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2" name="TextBox 36">
            <a:extLst>
              <a:ext uri="{FF2B5EF4-FFF2-40B4-BE49-F238E27FC236}">
                <a16:creationId xmlns:a16="http://schemas.microsoft.com/office/drawing/2014/main" id="{E7A073E6-6675-5A8C-9E86-990C9382C9F9}"/>
              </a:ext>
            </a:extLst>
          </p:cNvPr>
          <p:cNvSpPr txBox="1"/>
          <p:nvPr/>
        </p:nvSpPr>
        <p:spPr>
          <a:xfrm>
            <a:off x="6572474" y="2734761"/>
            <a:ext cx="1166120" cy="597536"/>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a:ea typeface="+mn-lt"/>
                <a:cs typeface="Arial"/>
              </a:rPr>
              <a:t>No model for small/medium</a:t>
            </a:r>
            <a:endParaRPr lang="en-US" noProof="0">
              <a:solidFill>
                <a:srgbClr val="000000"/>
              </a:solidFill>
              <a:latin typeface="Aptos" panose="020B0004020202020204"/>
              <a:ea typeface="+mn-lt"/>
              <a:cs typeface="Arial"/>
            </a:endParaRPr>
          </a:p>
          <a:p>
            <a:pPr>
              <a:lnSpc>
                <a:spcPct val="110000"/>
              </a:lnSpc>
            </a:pPr>
            <a:r>
              <a:rPr lang="en-US" sz="900" noProof="0">
                <a:solidFill>
                  <a:srgbClr val="2C3E50"/>
                </a:solidFill>
                <a:latin typeface="Arial"/>
                <a:ea typeface="+mn-lt"/>
                <a:cs typeface="Arial"/>
              </a:rPr>
              <a:t> demand</a:t>
            </a:r>
            <a:endParaRPr lang="en-US" noProof="0"/>
          </a:p>
          <a:p>
            <a:pPr>
              <a:lnSpc>
                <a:spcPct val="110000"/>
              </a:lnSpc>
              <a:spcBef>
                <a:spcPts val="0"/>
              </a:spcBef>
              <a:spcAft>
                <a:spcPts val="0"/>
              </a:spcAft>
            </a:pPr>
            <a:endParaRPr lang="en-US" sz="900" noProof="0">
              <a:solidFill>
                <a:srgbClr val="2C3E50"/>
              </a:solidFill>
              <a:latin typeface="Arial"/>
              <a:ea typeface="+mn-lt"/>
              <a:cs typeface="Arial"/>
            </a:endParaRPr>
          </a:p>
        </p:txBody>
      </p:sp>
      <p:sp>
        <p:nvSpPr>
          <p:cNvPr id="6" name="Rectángulo 5">
            <a:extLst>
              <a:ext uri="{FF2B5EF4-FFF2-40B4-BE49-F238E27FC236}">
                <a16:creationId xmlns:a16="http://schemas.microsoft.com/office/drawing/2014/main" id="{3CFF4EA5-6A2A-D500-B0EB-8E27112204D3}"/>
              </a:ext>
            </a:extLst>
          </p:cNvPr>
          <p:cNvSpPr/>
          <p:nvPr/>
        </p:nvSpPr>
        <p:spPr>
          <a:xfrm>
            <a:off x="7573112" y="3230880"/>
            <a:ext cx="4462577" cy="5181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a:t>Portfolio inicia con BRP ya hay </a:t>
            </a:r>
            <a:r>
              <a:rPr lang="es-MX" err="1"/>
              <a:t>scoring</a:t>
            </a:r>
            <a:r>
              <a:rPr lang="es-MX"/>
              <a:t> de </a:t>
            </a:r>
            <a:r>
              <a:rPr lang="es-MX" err="1"/>
              <a:t>priorization</a:t>
            </a:r>
            <a:endParaRPr lang="es-MX"/>
          </a:p>
        </p:txBody>
      </p:sp>
    </p:spTree>
    <p:extLst>
      <p:ext uri="{BB962C8B-B14F-4D97-AF65-F5344CB8AC3E}">
        <p14:creationId xmlns:p14="http://schemas.microsoft.com/office/powerpoint/2010/main" val="695014104"/>
      </p:ext>
    </p:extLst>
  </p:cSld>
  <p:clrMapOvr>
    <a:masterClrMapping/>
  </p:clrMapOvr>
  <p:extLst>
    <p:ext uri="{6950BFC3-D8DA-4A85-94F7-54DA5524770B}">
      <p188:commentRel xmlns:p188="http://schemas.microsoft.com/office/powerpoint/2018/8/main" r:id="rId3"/>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BDD42C-4D24-6C75-EDCF-28A3007CA15A}"/>
            </a:ext>
          </a:extLst>
        </p:cNvPr>
        <p:cNvGrpSpPr/>
        <p:nvPr/>
      </p:nvGrpSpPr>
      <p:grpSpPr>
        <a:xfrm>
          <a:off x="0" y="0"/>
          <a:ext cx="0" cy="0"/>
          <a:chOff x="0" y="0"/>
          <a:chExt cx="0" cy="0"/>
        </a:xfrm>
      </p:grpSpPr>
      <p:sp>
        <p:nvSpPr>
          <p:cNvPr id="17" name="Rounded Rectangle 26">
            <a:extLst>
              <a:ext uri="{FF2B5EF4-FFF2-40B4-BE49-F238E27FC236}">
                <a16:creationId xmlns:a16="http://schemas.microsoft.com/office/drawing/2014/main" id="{464B41BA-D620-A872-1064-39AE0078BEBE}"/>
              </a:ext>
            </a:extLst>
          </p:cNvPr>
          <p:cNvSpPr/>
          <p:nvPr/>
        </p:nvSpPr>
        <p:spPr>
          <a:xfrm>
            <a:off x="3846238" y="2199665"/>
            <a:ext cx="1097280" cy="182880"/>
          </a:xfrm>
          <a:prstGeom prst="round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8" name="TextBox 133">
            <a:extLst>
              <a:ext uri="{FF2B5EF4-FFF2-40B4-BE49-F238E27FC236}">
                <a16:creationId xmlns:a16="http://schemas.microsoft.com/office/drawing/2014/main" id="{49DB1893-45FD-F6F0-10B4-801D0EB5B895}"/>
              </a:ext>
            </a:extLst>
          </p:cNvPr>
          <p:cNvSpPr txBox="1"/>
          <p:nvPr/>
        </p:nvSpPr>
        <p:spPr>
          <a:xfrm>
            <a:off x="3859954" y="2215943"/>
            <a:ext cx="1097280" cy="139525"/>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noProof="0">
                <a:solidFill>
                  <a:srgbClr val="FFFFFF"/>
                </a:solidFill>
                <a:latin typeface="Arial" panose="020B0604020202020204" pitchFamily="34" charset="0"/>
                <a:cs typeface="Arial" panose="020B0604020202020204" pitchFamily="34" charset="0"/>
              </a:rPr>
              <a:t>PARTIAL</a:t>
            </a:r>
          </a:p>
        </p:txBody>
      </p:sp>
      <p:sp>
        <p:nvSpPr>
          <p:cNvPr id="15" name="Rounded Rectangle 26">
            <a:extLst>
              <a:ext uri="{FF2B5EF4-FFF2-40B4-BE49-F238E27FC236}">
                <a16:creationId xmlns:a16="http://schemas.microsoft.com/office/drawing/2014/main" id="{3B962DE7-47D8-0374-B121-F370995E7156}"/>
              </a:ext>
            </a:extLst>
          </p:cNvPr>
          <p:cNvSpPr/>
          <p:nvPr/>
        </p:nvSpPr>
        <p:spPr>
          <a:xfrm>
            <a:off x="6089904" y="2203002"/>
            <a:ext cx="1097280" cy="182880"/>
          </a:xfrm>
          <a:prstGeom prst="round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6" name="TextBox 133">
            <a:extLst>
              <a:ext uri="{FF2B5EF4-FFF2-40B4-BE49-F238E27FC236}">
                <a16:creationId xmlns:a16="http://schemas.microsoft.com/office/drawing/2014/main" id="{CF9B4F87-3B3B-78EC-C9AC-10AEA8495431}"/>
              </a:ext>
            </a:extLst>
          </p:cNvPr>
          <p:cNvSpPr txBox="1"/>
          <p:nvPr/>
        </p:nvSpPr>
        <p:spPr>
          <a:xfrm>
            <a:off x="6103620" y="2232004"/>
            <a:ext cx="1097280" cy="139525"/>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noProof="0">
                <a:solidFill>
                  <a:srgbClr val="FFFFFF"/>
                </a:solidFill>
                <a:latin typeface="Arial" panose="020B0604020202020204" pitchFamily="34" charset="0"/>
                <a:cs typeface="Arial" panose="020B0604020202020204" pitchFamily="34" charset="0"/>
              </a:rPr>
              <a:t>PARTIAL</a:t>
            </a:r>
          </a:p>
        </p:txBody>
      </p:sp>
      <p:sp>
        <p:nvSpPr>
          <p:cNvPr id="5" name="Título 2">
            <a:extLst>
              <a:ext uri="{FF2B5EF4-FFF2-40B4-BE49-F238E27FC236}">
                <a16:creationId xmlns:a16="http://schemas.microsoft.com/office/drawing/2014/main" id="{4CB1D8C6-2AD0-5C71-D8D9-0CB2379090C1}"/>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r>
              <a:rPr lang="en-US" sz="2400" noProof="0">
                <a:latin typeface="Arial" panose="020B0604020202020204" pitchFamily="34" charset="0"/>
                <a:cs typeface="Arial" panose="020B0604020202020204" pitchFamily="34" charset="0"/>
              </a:rPr>
              <a:t>CURRENT STATE ANALYSIS</a:t>
            </a:r>
          </a:p>
          <a:p>
            <a:r>
              <a:rPr lang="en-US" sz="1200" noProof="0">
                <a:latin typeface="Arial" panose="020B0604020202020204" pitchFamily="34" charset="0"/>
                <a:cs typeface="Arial" panose="020B0604020202020204" pitchFamily="34" charset="0"/>
              </a:rPr>
              <a:t>VALUE STREAM MAPPING - DEMAND FLOW</a:t>
            </a:r>
          </a:p>
        </p:txBody>
      </p:sp>
      <p:sp>
        <p:nvSpPr>
          <p:cNvPr id="2" name="Rectangle 28">
            <a:extLst>
              <a:ext uri="{FF2B5EF4-FFF2-40B4-BE49-F238E27FC236}">
                <a16:creationId xmlns:a16="http://schemas.microsoft.com/office/drawing/2014/main" id="{8644960E-6EA7-BFBB-3219-1E3D10514006}"/>
              </a:ext>
            </a:extLst>
          </p:cNvPr>
          <p:cNvSpPr/>
          <p:nvPr/>
        </p:nvSpPr>
        <p:spPr>
          <a:xfrm>
            <a:off x="-561976" y="1891049"/>
            <a:ext cx="504913" cy="354411"/>
          </a:xfrm>
          <a:prstGeom prst="rect">
            <a:avLst/>
          </a:prstGeom>
          <a:solidFill>
            <a:srgbClr val="0DA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6" name="Rectangle 40">
            <a:extLst>
              <a:ext uri="{FF2B5EF4-FFF2-40B4-BE49-F238E27FC236}">
                <a16:creationId xmlns:a16="http://schemas.microsoft.com/office/drawing/2014/main" id="{3BC7B974-7E59-CCD8-241D-9BDB65981DC8}"/>
              </a:ext>
            </a:extLst>
          </p:cNvPr>
          <p:cNvSpPr/>
          <p:nvPr/>
        </p:nvSpPr>
        <p:spPr>
          <a:xfrm>
            <a:off x="-561976" y="1450050"/>
            <a:ext cx="504913" cy="354411"/>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7" name="Rectangle 52">
            <a:extLst>
              <a:ext uri="{FF2B5EF4-FFF2-40B4-BE49-F238E27FC236}">
                <a16:creationId xmlns:a16="http://schemas.microsoft.com/office/drawing/2014/main" id="{BD0F9C54-3C76-4839-5C9B-21964C9D6468}"/>
              </a:ext>
            </a:extLst>
          </p:cNvPr>
          <p:cNvSpPr/>
          <p:nvPr/>
        </p:nvSpPr>
        <p:spPr>
          <a:xfrm>
            <a:off x="-561976" y="1009051"/>
            <a:ext cx="504913" cy="354411"/>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8" name="Rectangle 64">
            <a:extLst>
              <a:ext uri="{FF2B5EF4-FFF2-40B4-BE49-F238E27FC236}">
                <a16:creationId xmlns:a16="http://schemas.microsoft.com/office/drawing/2014/main" id="{706E5911-96BD-102D-3C73-7198318A03F2}"/>
              </a:ext>
            </a:extLst>
          </p:cNvPr>
          <p:cNvSpPr/>
          <p:nvPr/>
        </p:nvSpPr>
        <p:spPr>
          <a:xfrm>
            <a:off x="-561976" y="2332048"/>
            <a:ext cx="504913" cy="354411"/>
          </a:xfrm>
          <a:prstGeom prst="rect">
            <a:avLst/>
          </a:prstGeom>
          <a:solidFill>
            <a:schemeClr val="accent6">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0" name="Rectangle 64">
            <a:extLst>
              <a:ext uri="{FF2B5EF4-FFF2-40B4-BE49-F238E27FC236}">
                <a16:creationId xmlns:a16="http://schemas.microsoft.com/office/drawing/2014/main" id="{E1EFAC53-6CDA-28DD-779E-3E707ED32EE9}"/>
              </a:ext>
            </a:extLst>
          </p:cNvPr>
          <p:cNvSpPr/>
          <p:nvPr/>
        </p:nvSpPr>
        <p:spPr>
          <a:xfrm>
            <a:off x="-561976" y="2773047"/>
            <a:ext cx="504913" cy="354411"/>
          </a:xfrm>
          <a:prstGeom prst="rect">
            <a:avLst/>
          </a:prstGeom>
          <a:solidFill>
            <a:srgbClr val="00A4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1" name="Rectangle 64">
            <a:extLst>
              <a:ext uri="{FF2B5EF4-FFF2-40B4-BE49-F238E27FC236}">
                <a16:creationId xmlns:a16="http://schemas.microsoft.com/office/drawing/2014/main" id="{BF326880-99CE-B6AB-7AFB-7E147E7C1513}"/>
              </a:ext>
            </a:extLst>
          </p:cNvPr>
          <p:cNvSpPr/>
          <p:nvPr/>
        </p:nvSpPr>
        <p:spPr>
          <a:xfrm>
            <a:off x="-561976" y="3214046"/>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3" name="Rectangle 64">
            <a:extLst>
              <a:ext uri="{FF2B5EF4-FFF2-40B4-BE49-F238E27FC236}">
                <a16:creationId xmlns:a16="http://schemas.microsoft.com/office/drawing/2014/main" id="{55728735-2F01-E068-BCB8-08D1F08A72CC}"/>
              </a:ext>
            </a:extLst>
          </p:cNvPr>
          <p:cNvSpPr/>
          <p:nvPr/>
        </p:nvSpPr>
        <p:spPr>
          <a:xfrm>
            <a:off x="-561976" y="3655047"/>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65" name="TextBox 2">
            <a:extLst>
              <a:ext uri="{FF2B5EF4-FFF2-40B4-BE49-F238E27FC236}">
                <a16:creationId xmlns:a16="http://schemas.microsoft.com/office/drawing/2014/main" id="{FD2F8AB6-8B00-075F-93EB-5AD306D76320}"/>
              </a:ext>
            </a:extLst>
          </p:cNvPr>
          <p:cNvSpPr txBox="1"/>
          <p:nvPr/>
        </p:nvSpPr>
        <p:spPr>
          <a:xfrm>
            <a:off x="457201" y="964799"/>
            <a:ext cx="11463124" cy="523220"/>
          </a:xfrm>
          <a:prstGeom prst="rect">
            <a:avLst/>
          </a:prstGeom>
          <a:noFill/>
        </p:spPr>
        <p:txBody>
          <a:bodyPr wrap="square" lIns="0" tIns="0" rIns="0" bIns="0" rtlCol="0">
            <a:noAutofit/>
          </a:bodyPr>
          <a:lstStyle>
            <a:defPPr>
              <a:defRPr lang="en-US"/>
            </a:defPPr>
            <a:lvl1pPr algn="just">
              <a:defRPr sz="1400" b="1">
                <a:solidFill>
                  <a:schemeClr val="accent4">
                    <a:lumMod val="75000"/>
                  </a:schemeClr>
                </a:solidFill>
                <a:latin typeface="Arial" panose="020B0604020202020204" pitchFamily="34" charset="0"/>
                <a:cs typeface="Arial" panose="020B0604020202020204" pitchFamily="34" charset="0"/>
              </a:defRPr>
            </a:lvl1pPr>
            <a:lvl2pPr marL="228586" algn="l" rtl="0" eaLnBrk="0" fontAlgn="base" hangingPunct="0">
              <a:spcBef>
                <a:spcPct val="0"/>
              </a:spcBef>
              <a:spcAft>
                <a:spcPct val="0"/>
              </a:spcAft>
              <a:defRPr kern="1200">
                <a:solidFill>
                  <a:schemeClr val="tx1"/>
                </a:solidFill>
                <a:latin typeface="Arial" pitchFamily="2" charset="77"/>
                <a:ea typeface="+mn-ea"/>
                <a:cs typeface="+mn-cs"/>
              </a:defRPr>
            </a:lvl2pPr>
            <a:lvl3pPr marL="457172" algn="l" rtl="0" eaLnBrk="0" fontAlgn="base" hangingPunct="0">
              <a:spcBef>
                <a:spcPct val="0"/>
              </a:spcBef>
              <a:spcAft>
                <a:spcPct val="0"/>
              </a:spcAft>
              <a:defRPr kern="1200">
                <a:solidFill>
                  <a:schemeClr val="tx1"/>
                </a:solidFill>
                <a:latin typeface="Arial" pitchFamily="2" charset="77"/>
                <a:ea typeface="+mn-ea"/>
                <a:cs typeface="+mn-cs"/>
              </a:defRPr>
            </a:lvl3pPr>
            <a:lvl4pPr marL="685757" algn="l" rtl="0" eaLnBrk="0" fontAlgn="base" hangingPunct="0">
              <a:spcBef>
                <a:spcPct val="0"/>
              </a:spcBef>
              <a:spcAft>
                <a:spcPct val="0"/>
              </a:spcAft>
              <a:defRPr kern="1200">
                <a:solidFill>
                  <a:schemeClr val="tx1"/>
                </a:solidFill>
                <a:latin typeface="Arial" pitchFamily="2" charset="77"/>
                <a:ea typeface="+mn-ea"/>
                <a:cs typeface="+mn-cs"/>
              </a:defRPr>
            </a:lvl4pPr>
            <a:lvl5pPr marL="914343" algn="l" rtl="0" eaLnBrk="0" fontAlgn="base" hangingPunct="0">
              <a:spcBef>
                <a:spcPct val="0"/>
              </a:spcBef>
              <a:spcAft>
                <a:spcPct val="0"/>
              </a:spcAft>
              <a:defRPr kern="1200">
                <a:solidFill>
                  <a:schemeClr val="tx1"/>
                </a:solidFill>
                <a:latin typeface="Arial" pitchFamily="2" charset="77"/>
                <a:ea typeface="+mn-ea"/>
                <a:cs typeface="+mn-cs"/>
              </a:defRPr>
            </a:lvl5pPr>
            <a:lvl6pPr marL="1142929" algn="l" defTabSz="457172" rtl="0" eaLnBrk="1" latinLnBrk="0" hangingPunct="1">
              <a:defRPr kern="1200">
                <a:solidFill>
                  <a:schemeClr val="tx1"/>
                </a:solidFill>
                <a:latin typeface="Arial" pitchFamily="2" charset="77"/>
                <a:ea typeface="+mn-ea"/>
                <a:cs typeface="+mn-cs"/>
              </a:defRPr>
            </a:lvl6pPr>
            <a:lvl7pPr marL="1371515" algn="l" defTabSz="457172" rtl="0" eaLnBrk="1" latinLnBrk="0" hangingPunct="1">
              <a:defRPr kern="1200">
                <a:solidFill>
                  <a:schemeClr val="tx1"/>
                </a:solidFill>
                <a:latin typeface="Arial" pitchFamily="2" charset="77"/>
                <a:ea typeface="+mn-ea"/>
                <a:cs typeface="+mn-cs"/>
              </a:defRPr>
            </a:lvl7pPr>
            <a:lvl8pPr marL="1600100" algn="l" defTabSz="457172" rtl="0" eaLnBrk="1" latinLnBrk="0" hangingPunct="1">
              <a:defRPr kern="1200">
                <a:solidFill>
                  <a:schemeClr val="tx1"/>
                </a:solidFill>
                <a:latin typeface="Arial" pitchFamily="2" charset="77"/>
                <a:ea typeface="+mn-ea"/>
                <a:cs typeface="+mn-cs"/>
              </a:defRPr>
            </a:lvl8pPr>
            <a:lvl9pPr marL="1828686" algn="l" defTabSz="457172" rtl="0" eaLnBrk="1" latinLnBrk="0" hangingPunct="1">
              <a:defRPr kern="1200">
                <a:solidFill>
                  <a:schemeClr val="tx1"/>
                </a:solidFill>
                <a:latin typeface="Arial" pitchFamily="2" charset="77"/>
                <a:ea typeface="+mn-ea"/>
                <a:cs typeface="+mn-cs"/>
              </a:defRPr>
            </a:lvl9pPr>
          </a:lstStyle>
          <a:p>
            <a:r>
              <a:rPr lang="en-US" noProof="0"/>
              <a:t>GIS balances break/fix urgency against yearly PDD planning — with no formal channel for small demand</a:t>
            </a:r>
          </a:p>
          <a:p>
            <a:endParaRPr lang="en-US" noProof="0"/>
          </a:p>
        </p:txBody>
      </p:sp>
      <p:sp>
        <p:nvSpPr>
          <p:cNvPr id="4" name="Rectangle 3">
            <a:extLst>
              <a:ext uri="{FF2B5EF4-FFF2-40B4-BE49-F238E27FC236}">
                <a16:creationId xmlns:a16="http://schemas.microsoft.com/office/drawing/2014/main" id="{0AE7786B-9A39-B3A1-2355-176B3B6B9864}"/>
              </a:ext>
            </a:extLst>
          </p:cNvPr>
          <p:cNvSpPr/>
          <p:nvPr/>
        </p:nvSpPr>
        <p:spPr>
          <a:xfrm>
            <a:off x="457200" y="1415953"/>
            <a:ext cx="11274552"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53C993C0-0A93-1DF7-55DA-C1C2D44CE97D}"/>
              </a:ext>
            </a:extLst>
          </p:cNvPr>
          <p:cNvSpPr/>
          <p:nvPr/>
        </p:nvSpPr>
        <p:spPr>
          <a:xfrm>
            <a:off x="457200" y="1415953"/>
            <a:ext cx="1828800" cy="274320"/>
          </a:xfrm>
          <a:prstGeom prst="rect">
            <a:avLst/>
          </a:prstGeom>
          <a:solidFill>
            <a:schemeClr val="accent4">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52D4592A-03C0-A5C1-AFC4-FE6311944622}"/>
              </a:ext>
            </a:extLst>
          </p:cNvPr>
          <p:cNvSpPr txBox="1"/>
          <p:nvPr/>
        </p:nvSpPr>
        <p:spPr>
          <a:xfrm>
            <a:off x="457200" y="1482869"/>
            <a:ext cx="1828800" cy="140488"/>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i="0" noProof="0">
                <a:latin typeface="Arial" panose="020B0604020202020204" pitchFamily="34" charset="0"/>
                <a:cs typeface="Arial" panose="020B0604020202020204" pitchFamily="34" charset="0"/>
              </a:rPr>
              <a:t>BUSINESS REQUESTERS</a:t>
            </a:r>
          </a:p>
        </p:txBody>
      </p:sp>
      <p:sp>
        <p:nvSpPr>
          <p:cNvPr id="50" name="TextBox 49">
            <a:extLst>
              <a:ext uri="{FF2B5EF4-FFF2-40B4-BE49-F238E27FC236}">
                <a16:creationId xmlns:a16="http://schemas.microsoft.com/office/drawing/2014/main" id="{EA45EFE6-17DB-6DE2-DE1A-0BB99A4ED9CB}"/>
              </a:ext>
            </a:extLst>
          </p:cNvPr>
          <p:cNvSpPr txBox="1"/>
          <p:nvPr/>
        </p:nvSpPr>
        <p:spPr>
          <a:xfrm>
            <a:off x="2377440" y="1483318"/>
            <a:ext cx="9281160" cy="139590"/>
          </a:xfrm>
          <a:prstGeom prst="rect">
            <a:avLst/>
          </a:prstGeom>
          <a:noFill/>
        </p:spPr>
        <p:txBody>
          <a:bodyPr wrap="square" lIns="0" tIns="0" rIns="0" bIns="0" anchor="ctr">
            <a:spAutoFit/>
          </a:bodyPr>
          <a:lstStyle/>
          <a:p>
            <a:pPr algn="l">
              <a:lnSpc>
                <a:spcPct val="110000"/>
              </a:lnSpc>
              <a:spcBef>
                <a:spcPts val="0"/>
              </a:spcBef>
              <a:spcAft>
                <a:spcPts val="0"/>
              </a:spcAft>
            </a:pPr>
            <a:r>
              <a:rPr lang="en-US" sz="900" b="0" i="0" noProof="0">
                <a:solidFill>
                  <a:srgbClr val="FFFFFF"/>
                </a:solidFill>
                <a:latin typeface="Arial" panose="020B0604020202020204" pitchFamily="34" charset="0"/>
                <a:cs typeface="Arial" panose="020B0604020202020204" pitchFamily="34" charset="0"/>
              </a:rPr>
              <a:t>Electric &amp; Gas Field Operations · OSG (Operational Support Group)</a:t>
            </a:r>
          </a:p>
        </p:txBody>
      </p:sp>
      <p:sp>
        <p:nvSpPr>
          <p:cNvPr id="51" name="Rectangle 50">
            <a:extLst>
              <a:ext uri="{FF2B5EF4-FFF2-40B4-BE49-F238E27FC236}">
                <a16:creationId xmlns:a16="http://schemas.microsoft.com/office/drawing/2014/main" id="{F7DE1434-A450-8E65-7377-7DD081F8CABF}"/>
              </a:ext>
            </a:extLst>
          </p:cNvPr>
          <p:cNvSpPr/>
          <p:nvPr/>
        </p:nvSpPr>
        <p:spPr>
          <a:xfrm>
            <a:off x="1097280" y="1800001"/>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2" name="TextBox 51">
            <a:extLst>
              <a:ext uri="{FF2B5EF4-FFF2-40B4-BE49-F238E27FC236}">
                <a16:creationId xmlns:a16="http://schemas.microsoft.com/office/drawing/2014/main" id="{BB3A9D86-ED40-2DAD-F82F-8EA3CCED8FAC}"/>
              </a:ext>
            </a:extLst>
          </p:cNvPr>
          <p:cNvSpPr txBox="1"/>
          <p:nvPr/>
        </p:nvSpPr>
        <p:spPr>
          <a:xfrm>
            <a:off x="1097280" y="1880025"/>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01 INTAKE</a:t>
            </a:r>
          </a:p>
        </p:txBody>
      </p:sp>
      <p:sp>
        <p:nvSpPr>
          <p:cNvPr id="55" name="Rectangle 54">
            <a:extLst>
              <a:ext uri="{FF2B5EF4-FFF2-40B4-BE49-F238E27FC236}">
                <a16:creationId xmlns:a16="http://schemas.microsoft.com/office/drawing/2014/main" id="{CDE66A85-7EC5-96AE-AEF0-6BABBB949574}"/>
              </a:ext>
            </a:extLst>
          </p:cNvPr>
          <p:cNvSpPr/>
          <p:nvPr/>
        </p:nvSpPr>
        <p:spPr>
          <a:xfrm>
            <a:off x="3319272" y="1800001"/>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6" name="TextBox 55">
            <a:extLst>
              <a:ext uri="{FF2B5EF4-FFF2-40B4-BE49-F238E27FC236}">
                <a16:creationId xmlns:a16="http://schemas.microsoft.com/office/drawing/2014/main" id="{DC543FE2-7BCA-636E-2EE8-27918BF933A2}"/>
              </a:ext>
            </a:extLst>
          </p:cNvPr>
          <p:cNvSpPr txBox="1"/>
          <p:nvPr/>
        </p:nvSpPr>
        <p:spPr>
          <a:xfrm>
            <a:off x="3319272" y="1880025"/>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02 CLASSIFICATION</a:t>
            </a:r>
          </a:p>
        </p:txBody>
      </p:sp>
      <p:sp>
        <p:nvSpPr>
          <p:cNvPr id="59" name="Rectangle 58">
            <a:extLst>
              <a:ext uri="{FF2B5EF4-FFF2-40B4-BE49-F238E27FC236}">
                <a16:creationId xmlns:a16="http://schemas.microsoft.com/office/drawing/2014/main" id="{6E96CBEE-58A1-0A32-4064-5C743C1FE302}"/>
              </a:ext>
            </a:extLst>
          </p:cNvPr>
          <p:cNvSpPr/>
          <p:nvPr/>
        </p:nvSpPr>
        <p:spPr>
          <a:xfrm>
            <a:off x="5541264" y="1800001"/>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60" name="TextBox 59">
            <a:extLst>
              <a:ext uri="{FF2B5EF4-FFF2-40B4-BE49-F238E27FC236}">
                <a16:creationId xmlns:a16="http://schemas.microsoft.com/office/drawing/2014/main" id="{14A1C365-A91D-CF3A-E9FB-B8052D2E37BC}"/>
              </a:ext>
            </a:extLst>
          </p:cNvPr>
          <p:cNvSpPr txBox="1"/>
          <p:nvPr/>
        </p:nvSpPr>
        <p:spPr>
          <a:xfrm>
            <a:off x="5541264" y="1880025"/>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03 PRIORITIZATION</a:t>
            </a:r>
          </a:p>
        </p:txBody>
      </p:sp>
      <p:sp>
        <p:nvSpPr>
          <p:cNvPr id="63" name="Rectangle 62">
            <a:extLst>
              <a:ext uri="{FF2B5EF4-FFF2-40B4-BE49-F238E27FC236}">
                <a16:creationId xmlns:a16="http://schemas.microsoft.com/office/drawing/2014/main" id="{235D5D59-9050-56E9-69E6-99F0394C8720}"/>
              </a:ext>
            </a:extLst>
          </p:cNvPr>
          <p:cNvSpPr/>
          <p:nvPr/>
        </p:nvSpPr>
        <p:spPr>
          <a:xfrm>
            <a:off x="7763256" y="1800001"/>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28" name="TextBox 127">
            <a:extLst>
              <a:ext uri="{FF2B5EF4-FFF2-40B4-BE49-F238E27FC236}">
                <a16:creationId xmlns:a16="http://schemas.microsoft.com/office/drawing/2014/main" id="{205B3E54-078A-ADAB-F0CF-D0AA29BEDB30}"/>
              </a:ext>
            </a:extLst>
          </p:cNvPr>
          <p:cNvSpPr txBox="1"/>
          <p:nvPr/>
        </p:nvSpPr>
        <p:spPr>
          <a:xfrm>
            <a:off x="7763256" y="1880025"/>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04 PORTFOLIO</a:t>
            </a:r>
          </a:p>
        </p:txBody>
      </p:sp>
      <p:sp>
        <p:nvSpPr>
          <p:cNvPr id="131" name="Rectangle 130">
            <a:extLst>
              <a:ext uri="{FF2B5EF4-FFF2-40B4-BE49-F238E27FC236}">
                <a16:creationId xmlns:a16="http://schemas.microsoft.com/office/drawing/2014/main" id="{6E8EDA39-0252-02E4-E8FC-51E64B2833D1}"/>
              </a:ext>
            </a:extLst>
          </p:cNvPr>
          <p:cNvSpPr/>
          <p:nvPr/>
        </p:nvSpPr>
        <p:spPr>
          <a:xfrm>
            <a:off x="9985248" y="1800001"/>
            <a:ext cx="1737089" cy="32483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32" name="TextBox 131">
            <a:extLst>
              <a:ext uri="{FF2B5EF4-FFF2-40B4-BE49-F238E27FC236}">
                <a16:creationId xmlns:a16="http://schemas.microsoft.com/office/drawing/2014/main" id="{BB4F1BCC-E8CB-A2DE-DD2B-41AB877137F8}"/>
              </a:ext>
            </a:extLst>
          </p:cNvPr>
          <p:cNvSpPr txBox="1"/>
          <p:nvPr/>
        </p:nvSpPr>
        <p:spPr>
          <a:xfrm>
            <a:off x="9985248" y="1868709"/>
            <a:ext cx="1737089"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05 DELIVERY</a:t>
            </a:r>
          </a:p>
        </p:txBody>
      </p:sp>
      <p:sp>
        <p:nvSpPr>
          <p:cNvPr id="135" name="Rectangle 134">
            <a:extLst>
              <a:ext uri="{FF2B5EF4-FFF2-40B4-BE49-F238E27FC236}">
                <a16:creationId xmlns:a16="http://schemas.microsoft.com/office/drawing/2014/main" id="{62708FDA-DB5D-AA18-25E6-FEC80D201F4C}"/>
              </a:ext>
            </a:extLst>
          </p:cNvPr>
          <p:cNvSpPr/>
          <p:nvPr/>
        </p:nvSpPr>
        <p:spPr>
          <a:xfrm>
            <a:off x="457200" y="2440081"/>
            <a:ext cx="594360" cy="49377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36" name="TextBox 135">
            <a:extLst>
              <a:ext uri="{FF2B5EF4-FFF2-40B4-BE49-F238E27FC236}">
                <a16:creationId xmlns:a16="http://schemas.microsoft.com/office/drawing/2014/main" id="{40F8E90E-4018-80FF-3FCB-F1C8077C0694}"/>
              </a:ext>
            </a:extLst>
          </p:cNvPr>
          <p:cNvSpPr txBox="1"/>
          <p:nvPr/>
        </p:nvSpPr>
        <p:spPr>
          <a:xfrm>
            <a:off x="457200" y="2513812"/>
            <a:ext cx="594360" cy="346313"/>
          </a:xfrm>
          <a:prstGeom prst="rect">
            <a:avLst/>
          </a:prstGeom>
          <a:solidFill>
            <a:srgbClr val="156082"/>
          </a:solidFill>
        </p:spPr>
        <p:txBody>
          <a:bodyPr wrap="square" lIns="0" tIns="0" rIns="0" bIns="0" anchor="ctr">
            <a:spAutoFit/>
          </a:bodyPr>
          <a:lstStyle/>
          <a:p>
            <a:pPr algn="ctr">
              <a:lnSpc>
                <a:spcPct val="110000"/>
              </a:lnSpc>
              <a:spcBef>
                <a:spcPts val="0"/>
              </a:spcBef>
              <a:spcAft>
                <a:spcPts val="0"/>
              </a:spcAft>
            </a:pPr>
            <a:r>
              <a:rPr lang="en-US" sz="700" b="1" i="0" noProof="0">
                <a:solidFill>
                  <a:srgbClr val="FFFFFF"/>
                </a:solidFill>
                <a:latin typeface="Arial" panose="020B0604020202020204" pitchFamily="34" charset="0"/>
                <a:cs typeface="Arial" panose="020B0604020202020204" pitchFamily="34" charset="0"/>
              </a:rPr>
              <a:t>CHANNELS  ·  HOW IT ARRIVES</a:t>
            </a:r>
          </a:p>
        </p:txBody>
      </p:sp>
      <p:sp>
        <p:nvSpPr>
          <p:cNvPr id="137" name="Rectangle 136">
            <a:extLst>
              <a:ext uri="{FF2B5EF4-FFF2-40B4-BE49-F238E27FC236}">
                <a16:creationId xmlns:a16="http://schemas.microsoft.com/office/drawing/2014/main" id="{3AD0C208-9507-5F6B-B5B8-16DDC322E2BC}"/>
              </a:ext>
            </a:extLst>
          </p:cNvPr>
          <p:cNvSpPr/>
          <p:nvPr/>
        </p:nvSpPr>
        <p:spPr>
          <a:xfrm>
            <a:off x="1097280" y="2440081"/>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38" name="TextBox 137">
            <a:extLst>
              <a:ext uri="{FF2B5EF4-FFF2-40B4-BE49-F238E27FC236}">
                <a16:creationId xmlns:a16="http://schemas.microsoft.com/office/drawing/2014/main" id="{5084DB45-D7AC-670C-8F81-BCA8AA0FE639}"/>
              </a:ext>
            </a:extLst>
          </p:cNvPr>
          <p:cNvSpPr txBox="1"/>
          <p:nvPr/>
        </p:nvSpPr>
        <p:spPr>
          <a:xfrm>
            <a:off x="1188720" y="2485801"/>
            <a:ext cx="1984248" cy="29193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Jira (misc. work) + Email / Meetings + IT-Now (daily break/fix)</a:t>
            </a:r>
          </a:p>
        </p:txBody>
      </p:sp>
      <p:sp>
        <p:nvSpPr>
          <p:cNvPr id="139" name="Rectangle 138">
            <a:extLst>
              <a:ext uri="{FF2B5EF4-FFF2-40B4-BE49-F238E27FC236}">
                <a16:creationId xmlns:a16="http://schemas.microsoft.com/office/drawing/2014/main" id="{BB63F39F-7C94-9D12-D66A-925DEB55E9D1}"/>
              </a:ext>
            </a:extLst>
          </p:cNvPr>
          <p:cNvSpPr/>
          <p:nvPr/>
        </p:nvSpPr>
        <p:spPr>
          <a:xfrm>
            <a:off x="3319272" y="2440081"/>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0" name="TextBox 139">
            <a:extLst>
              <a:ext uri="{FF2B5EF4-FFF2-40B4-BE49-F238E27FC236}">
                <a16:creationId xmlns:a16="http://schemas.microsoft.com/office/drawing/2014/main" id="{9184EE81-95ED-6E49-7577-6AACC08F627A}"/>
              </a:ext>
            </a:extLst>
          </p:cNvPr>
          <p:cNvSpPr txBox="1"/>
          <p:nvPr/>
        </p:nvSpPr>
        <p:spPr>
          <a:xfrm>
            <a:off x="3410712" y="2485801"/>
            <a:ext cx="1984248" cy="44518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Small: email, Jira ; Incidents: IT Now ; Large: yearly PDD process with no formal classification </a:t>
            </a:r>
          </a:p>
        </p:txBody>
      </p:sp>
      <p:sp>
        <p:nvSpPr>
          <p:cNvPr id="141" name="Rectangle 140">
            <a:extLst>
              <a:ext uri="{FF2B5EF4-FFF2-40B4-BE49-F238E27FC236}">
                <a16:creationId xmlns:a16="http://schemas.microsoft.com/office/drawing/2014/main" id="{F09E447A-ED83-CEF0-AB91-408748DBC6B2}"/>
              </a:ext>
            </a:extLst>
          </p:cNvPr>
          <p:cNvSpPr/>
          <p:nvPr/>
        </p:nvSpPr>
        <p:spPr>
          <a:xfrm>
            <a:off x="5541264" y="2440081"/>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2" name="TextBox 141">
            <a:extLst>
              <a:ext uri="{FF2B5EF4-FFF2-40B4-BE49-F238E27FC236}">
                <a16:creationId xmlns:a16="http://schemas.microsoft.com/office/drawing/2014/main" id="{E2A97402-1261-3626-2E72-8DF3A9442E3E}"/>
              </a:ext>
            </a:extLst>
          </p:cNvPr>
          <p:cNvSpPr txBox="1"/>
          <p:nvPr/>
        </p:nvSpPr>
        <p:spPr>
          <a:xfrm>
            <a:off x="5632704" y="2485801"/>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Business drives prioritization; P&amp;T is the face for small demand</a:t>
            </a:r>
          </a:p>
        </p:txBody>
      </p:sp>
      <p:sp>
        <p:nvSpPr>
          <p:cNvPr id="143" name="Rectangle 142">
            <a:extLst>
              <a:ext uri="{FF2B5EF4-FFF2-40B4-BE49-F238E27FC236}">
                <a16:creationId xmlns:a16="http://schemas.microsoft.com/office/drawing/2014/main" id="{DDFAF861-B78E-90CB-DAB7-A07FD6D48A58}"/>
              </a:ext>
            </a:extLst>
          </p:cNvPr>
          <p:cNvSpPr/>
          <p:nvPr/>
        </p:nvSpPr>
        <p:spPr>
          <a:xfrm>
            <a:off x="7763256" y="2440081"/>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4" name="TextBox 143">
            <a:extLst>
              <a:ext uri="{FF2B5EF4-FFF2-40B4-BE49-F238E27FC236}">
                <a16:creationId xmlns:a16="http://schemas.microsoft.com/office/drawing/2014/main" id="{AB0D332B-7F1C-9374-823F-923D7FEEA796}"/>
              </a:ext>
            </a:extLst>
          </p:cNvPr>
          <p:cNvSpPr txBox="1"/>
          <p:nvPr/>
        </p:nvSpPr>
        <p:spPr>
          <a:xfrm>
            <a:off x="7854696" y="2485801"/>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PDD-approved portfolio; no dedicated portfolio tool</a:t>
            </a:r>
          </a:p>
        </p:txBody>
      </p:sp>
      <p:sp>
        <p:nvSpPr>
          <p:cNvPr id="145" name="Rectangle 144">
            <a:extLst>
              <a:ext uri="{FF2B5EF4-FFF2-40B4-BE49-F238E27FC236}">
                <a16:creationId xmlns:a16="http://schemas.microsoft.com/office/drawing/2014/main" id="{829256AD-1734-E164-203C-A93F3F902794}"/>
              </a:ext>
            </a:extLst>
          </p:cNvPr>
          <p:cNvSpPr/>
          <p:nvPr/>
        </p:nvSpPr>
        <p:spPr>
          <a:xfrm>
            <a:off x="9985248" y="2440081"/>
            <a:ext cx="1737089" cy="456054"/>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6" name="TextBox 145">
            <a:extLst>
              <a:ext uri="{FF2B5EF4-FFF2-40B4-BE49-F238E27FC236}">
                <a16:creationId xmlns:a16="http://schemas.microsoft.com/office/drawing/2014/main" id="{387D6A7D-B717-03D0-9D6F-9ADE6B659584}"/>
              </a:ext>
            </a:extLst>
          </p:cNvPr>
          <p:cNvSpPr txBox="1"/>
          <p:nvPr/>
        </p:nvSpPr>
        <p:spPr>
          <a:xfrm>
            <a:off x="10076688" y="2485801"/>
            <a:ext cx="1591932" cy="44518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Internal team for break/fix; SWF brought in for resource impact</a:t>
            </a:r>
          </a:p>
        </p:txBody>
      </p:sp>
      <p:sp>
        <p:nvSpPr>
          <p:cNvPr id="147" name="Rectangle 146">
            <a:extLst>
              <a:ext uri="{FF2B5EF4-FFF2-40B4-BE49-F238E27FC236}">
                <a16:creationId xmlns:a16="http://schemas.microsoft.com/office/drawing/2014/main" id="{67DD8F22-7D59-BCC6-C00B-2F198A4EA0AF}"/>
              </a:ext>
            </a:extLst>
          </p:cNvPr>
          <p:cNvSpPr/>
          <p:nvPr/>
        </p:nvSpPr>
        <p:spPr>
          <a:xfrm>
            <a:off x="457200" y="2970433"/>
            <a:ext cx="594360" cy="49377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8" name="TextBox 147">
            <a:extLst>
              <a:ext uri="{FF2B5EF4-FFF2-40B4-BE49-F238E27FC236}">
                <a16:creationId xmlns:a16="http://schemas.microsoft.com/office/drawing/2014/main" id="{93A5E69B-C523-7988-6301-1B323A5AF075}"/>
              </a:ext>
            </a:extLst>
          </p:cNvPr>
          <p:cNvSpPr txBox="1"/>
          <p:nvPr/>
        </p:nvSpPr>
        <p:spPr>
          <a:xfrm>
            <a:off x="457200" y="3162658"/>
            <a:ext cx="594360" cy="109325"/>
          </a:xfrm>
          <a:prstGeom prst="rect">
            <a:avLst/>
          </a:prstGeom>
          <a:solidFill>
            <a:srgbClr val="156082"/>
          </a:solidFill>
        </p:spPr>
        <p:txBody>
          <a:bodyPr wrap="square" lIns="0" tIns="0" rIns="0" bIns="0" anchor="ctr">
            <a:spAutoFit/>
          </a:bodyPr>
          <a:lstStyle/>
          <a:p>
            <a:pPr algn="ctr">
              <a:lnSpc>
                <a:spcPct val="110000"/>
              </a:lnSpc>
              <a:spcBef>
                <a:spcPts val="0"/>
              </a:spcBef>
              <a:spcAft>
                <a:spcPts val="0"/>
              </a:spcAft>
            </a:pPr>
            <a:r>
              <a:rPr lang="en-US" sz="700" b="1" i="0" noProof="0">
                <a:solidFill>
                  <a:srgbClr val="FFFFFF"/>
                </a:solidFill>
                <a:latin typeface="Arial" panose="020B0604020202020204" pitchFamily="34" charset="0"/>
                <a:cs typeface="Arial" panose="020B0604020202020204" pitchFamily="34" charset="0"/>
              </a:rPr>
              <a:t>ROLES</a:t>
            </a:r>
          </a:p>
        </p:txBody>
      </p:sp>
      <p:sp>
        <p:nvSpPr>
          <p:cNvPr id="149" name="Rectangle 148">
            <a:extLst>
              <a:ext uri="{FF2B5EF4-FFF2-40B4-BE49-F238E27FC236}">
                <a16:creationId xmlns:a16="http://schemas.microsoft.com/office/drawing/2014/main" id="{39AD3A03-FE6E-AD38-3393-22D51F162FB8}"/>
              </a:ext>
            </a:extLst>
          </p:cNvPr>
          <p:cNvSpPr/>
          <p:nvPr/>
        </p:nvSpPr>
        <p:spPr>
          <a:xfrm>
            <a:off x="1097280" y="2970433"/>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50" name="TextBox 149">
            <a:extLst>
              <a:ext uri="{FF2B5EF4-FFF2-40B4-BE49-F238E27FC236}">
                <a16:creationId xmlns:a16="http://schemas.microsoft.com/office/drawing/2014/main" id="{558D40D7-4431-0645-E38C-E47EBA8C4DD9}"/>
              </a:ext>
            </a:extLst>
          </p:cNvPr>
          <p:cNvSpPr txBox="1"/>
          <p:nvPr/>
        </p:nvSpPr>
        <p:spPr>
          <a:xfrm>
            <a:off x="1188720" y="3016153"/>
            <a:ext cx="1984248" cy="29193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Business users open tickets; GIS Sr Manager team receives</a:t>
            </a:r>
          </a:p>
        </p:txBody>
      </p:sp>
      <p:sp>
        <p:nvSpPr>
          <p:cNvPr id="151" name="Rectangle 150">
            <a:extLst>
              <a:ext uri="{FF2B5EF4-FFF2-40B4-BE49-F238E27FC236}">
                <a16:creationId xmlns:a16="http://schemas.microsoft.com/office/drawing/2014/main" id="{FB037303-07ED-8B6B-7121-5BD529837D24}"/>
              </a:ext>
            </a:extLst>
          </p:cNvPr>
          <p:cNvSpPr/>
          <p:nvPr/>
        </p:nvSpPr>
        <p:spPr>
          <a:xfrm>
            <a:off x="3319272" y="2970433"/>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52" name="TextBox 151">
            <a:extLst>
              <a:ext uri="{FF2B5EF4-FFF2-40B4-BE49-F238E27FC236}">
                <a16:creationId xmlns:a16="http://schemas.microsoft.com/office/drawing/2014/main" id="{441309F2-D71D-01B9-0157-FB8DCF362595}"/>
              </a:ext>
            </a:extLst>
          </p:cNvPr>
          <p:cNvSpPr txBox="1"/>
          <p:nvPr/>
        </p:nvSpPr>
        <p:spPr>
          <a:xfrm>
            <a:off x="3410712" y="3016153"/>
            <a:ext cx="1984248" cy="29193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GIS Senior Manager + team classify; PDD committee for large demand</a:t>
            </a:r>
          </a:p>
        </p:txBody>
      </p:sp>
      <p:sp>
        <p:nvSpPr>
          <p:cNvPr id="153" name="Rectangle 152">
            <a:extLst>
              <a:ext uri="{FF2B5EF4-FFF2-40B4-BE49-F238E27FC236}">
                <a16:creationId xmlns:a16="http://schemas.microsoft.com/office/drawing/2014/main" id="{DCA11622-9270-746B-2917-267B514D2F8B}"/>
              </a:ext>
            </a:extLst>
          </p:cNvPr>
          <p:cNvSpPr/>
          <p:nvPr/>
        </p:nvSpPr>
        <p:spPr>
          <a:xfrm>
            <a:off x="5541264" y="2970433"/>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54" name="TextBox 153">
            <a:extLst>
              <a:ext uri="{FF2B5EF4-FFF2-40B4-BE49-F238E27FC236}">
                <a16:creationId xmlns:a16="http://schemas.microsoft.com/office/drawing/2014/main" id="{E8F608F9-9A28-E3B6-4D4C-B1C753AAD549}"/>
              </a:ext>
            </a:extLst>
          </p:cNvPr>
          <p:cNvSpPr txBox="1"/>
          <p:nvPr/>
        </p:nvSpPr>
        <p:spPr>
          <a:xfrm>
            <a:off x="5632704" y="3016153"/>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"Impact to most users" rule (GIS Champion); PDD approvers for large</a:t>
            </a:r>
          </a:p>
        </p:txBody>
      </p:sp>
      <p:sp>
        <p:nvSpPr>
          <p:cNvPr id="155" name="Rectangle 154">
            <a:extLst>
              <a:ext uri="{FF2B5EF4-FFF2-40B4-BE49-F238E27FC236}">
                <a16:creationId xmlns:a16="http://schemas.microsoft.com/office/drawing/2014/main" id="{434FD864-A6F9-887E-FD60-B9C299006ACD}"/>
              </a:ext>
            </a:extLst>
          </p:cNvPr>
          <p:cNvSpPr/>
          <p:nvPr/>
        </p:nvSpPr>
        <p:spPr>
          <a:xfrm>
            <a:off x="7763256" y="2970433"/>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56" name="TextBox 155">
            <a:extLst>
              <a:ext uri="{FF2B5EF4-FFF2-40B4-BE49-F238E27FC236}">
                <a16:creationId xmlns:a16="http://schemas.microsoft.com/office/drawing/2014/main" id="{3B54D9E6-0BE8-F939-8A5F-F27934931F07}"/>
              </a:ext>
            </a:extLst>
          </p:cNvPr>
          <p:cNvSpPr txBox="1"/>
          <p:nvPr/>
        </p:nvSpPr>
        <p:spPr>
          <a:xfrm>
            <a:off x="7854696" y="3016153"/>
            <a:ext cx="1984248" cy="44428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Informal Portfolio Management — GIS </a:t>
            </a:r>
            <a:r>
              <a:rPr lang="en-US" sz="900" noProof="0">
                <a:solidFill>
                  <a:srgbClr val="2C3E50"/>
                </a:solidFill>
                <a:latin typeface="Arial" panose="020B0604020202020204" pitchFamily="34" charset="0"/>
                <a:cs typeface="Arial" panose="020B0604020202020204" pitchFamily="34" charset="0"/>
              </a:rPr>
              <a:t>Senior Manager </a:t>
            </a:r>
            <a:r>
              <a:rPr lang="en-US" sz="900" b="0" i="0" noProof="0">
                <a:solidFill>
                  <a:srgbClr val="2C3E50"/>
                </a:solidFill>
                <a:latin typeface="Arial" panose="020B0604020202020204" pitchFamily="34" charset="0"/>
                <a:cs typeface="Arial" panose="020B0604020202020204" pitchFamily="34" charset="0"/>
              </a:rPr>
              <a:t>manages via OneNote / Teams / spreadsheets</a:t>
            </a:r>
          </a:p>
        </p:txBody>
      </p:sp>
      <p:sp>
        <p:nvSpPr>
          <p:cNvPr id="157" name="Rectangle 156">
            <a:extLst>
              <a:ext uri="{FF2B5EF4-FFF2-40B4-BE49-F238E27FC236}">
                <a16:creationId xmlns:a16="http://schemas.microsoft.com/office/drawing/2014/main" id="{42277BD3-7F0F-6554-8402-33ADD5013D5F}"/>
              </a:ext>
            </a:extLst>
          </p:cNvPr>
          <p:cNvSpPr/>
          <p:nvPr/>
        </p:nvSpPr>
        <p:spPr>
          <a:xfrm>
            <a:off x="9985248" y="2970433"/>
            <a:ext cx="1737089" cy="456054"/>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58" name="TextBox 157">
            <a:extLst>
              <a:ext uri="{FF2B5EF4-FFF2-40B4-BE49-F238E27FC236}">
                <a16:creationId xmlns:a16="http://schemas.microsoft.com/office/drawing/2014/main" id="{A3208CF5-D063-A43B-7C2A-CD7B3237D1B7}"/>
              </a:ext>
            </a:extLst>
          </p:cNvPr>
          <p:cNvSpPr txBox="1"/>
          <p:nvPr/>
        </p:nvSpPr>
        <p:spPr>
          <a:xfrm>
            <a:off x="10076688" y="3016153"/>
            <a:ext cx="1591932" cy="44518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GIS team + Software Factory (shared server infra: SAP HANA, ARCFM)</a:t>
            </a:r>
          </a:p>
        </p:txBody>
      </p:sp>
      <p:sp>
        <p:nvSpPr>
          <p:cNvPr id="159" name="Rectangle 158">
            <a:extLst>
              <a:ext uri="{FF2B5EF4-FFF2-40B4-BE49-F238E27FC236}">
                <a16:creationId xmlns:a16="http://schemas.microsoft.com/office/drawing/2014/main" id="{12EAAEBD-8DCE-6052-1DE9-F48522C6F096}"/>
              </a:ext>
            </a:extLst>
          </p:cNvPr>
          <p:cNvSpPr/>
          <p:nvPr/>
        </p:nvSpPr>
        <p:spPr>
          <a:xfrm>
            <a:off x="457200" y="3500785"/>
            <a:ext cx="594360" cy="49377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60" name="TextBox 159">
            <a:extLst>
              <a:ext uri="{FF2B5EF4-FFF2-40B4-BE49-F238E27FC236}">
                <a16:creationId xmlns:a16="http://schemas.microsoft.com/office/drawing/2014/main" id="{F8945DDB-5B27-354E-43BB-D89542C80A6A}"/>
              </a:ext>
            </a:extLst>
          </p:cNvPr>
          <p:cNvSpPr txBox="1"/>
          <p:nvPr/>
        </p:nvSpPr>
        <p:spPr>
          <a:xfrm>
            <a:off x="457200" y="3693010"/>
            <a:ext cx="594360" cy="109325"/>
          </a:xfrm>
          <a:prstGeom prst="rect">
            <a:avLst/>
          </a:prstGeom>
          <a:solidFill>
            <a:srgbClr val="156082"/>
          </a:solidFill>
        </p:spPr>
        <p:txBody>
          <a:bodyPr wrap="square" lIns="0" tIns="0" rIns="0" bIns="0" anchor="ctr">
            <a:spAutoFit/>
          </a:bodyPr>
          <a:lstStyle/>
          <a:p>
            <a:pPr algn="ctr">
              <a:lnSpc>
                <a:spcPct val="110000"/>
              </a:lnSpc>
              <a:spcBef>
                <a:spcPts val="0"/>
              </a:spcBef>
              <a:spcAft>
                <a:spcPts val="0"/>
              </a:spcAft>
            </a:pPr>
            <a:r>
              <a:rPr lang="en-US" sz="700" b="1" i="0" noProof="0">
                <a:solidFill>
                  <a:srgbClr val="FFFFFF"/>
                </a:solidFill>
                <a:latin typeface="Arial" panose="020B0604020202020204" pitchFamily="34" charset="0"/>
                <a:cs typeface="Arial" panose="020B0604020202020204" pitchFamily="34" charset="0"/>
              </a:rPr>
              <a:t>TOOLS</a:t>
            </a:r>
          </a:p>
        </p:txBody>
      </p:sp>
      <p:sp>
        <p:nvSpPr>
          <p:cNvPr id="161" name="Rectangle 160">
            <a:extLst>
              <a:ext uri="{FF2B5EF4-FFF2-40B4-BE49-F238E27FC236}">
                <a16:creationId xmlns:a16="http://schemas.microsoft.com/office/drawing/2014/main" id="{59C1D1C4-5818-AABD-0802-66EE6350FD06}"/>
              </a:ext>
            </a:extLst>
          </p:cNvPr>
          <p:cNvSpPr/>
          <p:nvPr/>
        </p:nvSpPr>
        <p:spPr>
          <a:xfrm>
            <a:off x="1097280" y="3500785"/>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62" name="TextBox 161">
            <a:extLst>
              <a:ext uri="{FF2B5EF4-FFF2-40B4-BE49-F238E27FC236}">
                <a16:creationId xmlns:a16="http://schemas.microsoft.com/office/drawing/2014/main" id="{DE87F80A-6B8B-A0E3-42AC-6FF24F248577}"/>
              </a:ext>
            </a:extLst>
          </p:cNvPr>
          <p:cNvSpPr txBox="1"/>
          <p:nvPr/>
        </p:nvSpPr>
        <p:spPr>
          <a:xfrm>
            <a:off x="1188720" y="3546505"/>
            <a:ext cx="1984248" cy="29193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Jira + Email + Meetings + IT-Now (RITM)</a:t>
            </a:r>
          </a:p>
        </p:txBody>
      </p:sp>
      <p:sp>
        <p:nvSpPr>
          <p:cNvPr id="163" name="Rectangle 162">
            <a:extLst>
              <a:ext uri="{FF2B5EF4-FFF2-40B4-BE49-F238E27FC236}">
                <a16:creationId xmlns:a16="http://schemas.microsoft.com/office/drawing/2014/main" id="{0C0FC875-00A2-0A7E-F263-789207A177F0}"/>
              </a:ext>
            </a:extLst>
          </p:cNvPr>
          <p:cNvSpPr/>
          <p:nvPr/>
        </p:nvSpPr>
        <p:spPr>
          <a:xfrm>
            <a:off x="3319272" y="3500785"/>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64" name="TextBox 163">
            <a:extLst>
              <a:ext uri="{FF2B5EF4-FFF2-40B4-BE49-F238E27FC236}">
                <a16:creationId xmlns:a16="http://schemas.microsoft.com/office/drawing/2014/main" id="{5B85B3AC-C892-1EF5-8553-D2A9AD5B74BD}"/>
              </a:ext>
            </a:extLst>
          </p:cNvPr>
          <p:cNvSpPr txBox="1"/>
          <p:nvPr/>
        </p:nvSpPr>
        <p:spPr>
          <a:xfrm>
            <a:off x="3410712" y="3546505"/>
            <a:ext cx="1984248" cy="29193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No single tool — Jira tags + PDD workbook</a:t>
            </a:r>
          </a:p>
        </p:txBody>
      </p:sp>
      <p:sp>
        <p:nvSpPr>
          <p:cNvPr id="166" name="Rectangle 165">
            <a:extLst>
              <a:ext uri="{FF2B5EF4-FFF2-40B4-BE49-F238E27FC236}">
                <a16:creationId xmlns:a16="http://schemas.microsoft.com/office/drawing/2014/main" id="{ED846B27-1191-D15F-1738-C3997C31D9A4}"/>
              </a:ext>
            </a:extLst>
          </p:cNvPr>
          <p:cNvSpPr/>
          <p:nvPr/>
        </p:nvSpPr>
        <p:spPr>
          <a:xfrm>
            <a:off x="5541264" y="3500785"/>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67" name="TextBox 166">
            <a:extLst>
              <a:ext uri="{FF2B5EF4-FFF2-40B4-BE49-F238E27FC236}">
                <a16:creationId xmlns:a16="http://schemas.microsoft.com/office/drawing/2014/main" id="{26872B27-6681-9CD1-74B3-2A6577CEB972}"/>
              </a:ext>
            </a:extLst>
          </p:cNvPr>
          <p:cNvSpPr txBox="1"/>
          <p:nvPr/>
        </p:nvSpPr>
        <p:spPr>
          <a:xfrm>
            <a:off x="5632704" y="3546505"/>
            <a:ext cx="1984248"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Spreadsheet-based; no scoring tool</a:t>
            </a:r>
          </a:p>
        </p:txBody>
      </p:sp>
      <p:sp>
        <p:nvSpPr>
          <p:cNvPr id="168" name="Rectangle 167">
            <a:extLst>
              <a:ext uri="{FF2B5EF4-FFF2-40B4-BE49-F238E27FC236}">
                <a16:creationId xmlns:a16="http://schemas.microsoft.com/office/drawing/2014/main" id="{8379B635-B3E1-31E7-07C0-F02A85A53D5D}"/>
              </a:ext>
            </a:extLst>
          </p:cNvPr>
          <p:cNvSpPr/>
          <p:nvPr/>
        </p:nvSpPr>
        <p:spPr>
          <a:xfrm>
            <a:off x="7763256" y="3500785"/>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69" name="TextBox 168">
            <a:extLst>
              <a:ext uri="{FF2B5EF4-FFF2-40B4-BE49-F238E27FC236}">
                <a16:creationId xmlns:a16="http://schemas.microsoft.com/office/drawing/2014/main" id="{278F3513-5403-266C-48AE-B6A2B7BF1ED5}"/>
              </a:ext>
            </a:extLst>
          </p:cNvPr>
          <p:cNvSpPr txBox="1"/>
          <p:nvPr/>
        </p:nvSpPr>
        <p:spPr>
          <a:xfrm>
            <a:off x="7854696" y="3546505"/>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OneNote + Teams + Spreadsheets (informal) + PDD (large)</a:t>
            </a:r>
          </a:p>
        </p:txBody>
      </p:sp>
      <p:sp>
        <p:nvSpPr>
          <p:cNvPr id="170" name="Rectangle 169">
            <a:extLst>
              <a:ext uri="{FF2B5EF4-FFF2-40B4-BE49-F238E27FC236}">
                <a16:creationId xmlns:a16="http://schemas.microsoft.com/office/drawing/2014/main" id="{EB5C9C07-23FB-47B2-CAEA-0E0E0AB8BCE5}"/>
              </a:ext>
            </a:extLst>
          </p:cNvPr>
          <p:cNvSpPr/>
          <p:nvPr/>
        </p:nvSpPr>
        <p:spPr>
          <a:xfrm>
            <a:off x="9985248" y="3500785"/>
            <a:ext cx="1737089" cy="456054"/>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71" name="TextBox 170">
            <a:extLst>
              <a:ext uri="{FF2B5EF4-FFF2-40B4-BE49-F238E27FC236}">
                <a16:creationId xmlns:a16="http://schemas.microsoft.com/office/drawing/2014/main" id="{5FBF2656-3291-E886-2293-4E35600E7C15}"/>
              </a:ext>
            </a:extLst>
          </p:cNvPr>
          <p:cNvSpPr txBox="1"/>
          <p:nvPr/>
        </p:nvSpPr>
        <p:spPr>
          <a:xfrm>
            <a:off x="10076688" y="3546505"/>
            <a:ext cx="1591932"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Jira (internal) + SWF process (vendor capacity)</a:t>
            </a:r>
          </a:p>
        </p:txBody>
      </p:sp>
      <p:sp>
        <p:nvSpPr>
          <p:cNvPr id="172" name="Rectangle 171">
            <a:extLst>
              <a:ext uri="{FF2B5EF4-FFF2-40B4-BE49-F238E27FC236}">
                <a16:creationId xmlns:a16="http://schemas.microsoft.com/office/drawing/2014/main" id="{20108E08-0056-DF5B-C0F4-0580B89424AB}"/>
              </a:ext>
            </a:extLst>
          </p:cNvPr>
          <p:cNvSpPr/>
          <p:nvPr/>
        </p:nvSpPr>
        <p:spPr>
          <a:xfrm>
            <a:off x="457200" y="4031137"/>
            <a:ext cx="594360" cy="493776"/>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73" name="TextBox 172">
            <a:extLst>
              <a:ext uri="{FF2B5EF4-FFF2-40B4-BE49-F238E27FC236}">
                <a16:creationId xmlns:a16="http://schemas.microsoft.com/office/drawing/2014/main" id="{7A44FB24-427E-B54E-44C6-9C0324DAEE00}"/>
              </a:ext>
            </a:extLst>
          </p:cNvPr>
          <p:cNvSpPr txBox="1"/>
          <p:nvPr/>
        </p:nvSpPr>
        <p:spPr>
          <a:xfrm>
            <a:off x="457200" y="4180402"/>
            <a:ext cx="594360" cy="195246"/>
          </a:xfrm>
          <a:prstGeom prst="rect">
            <a:avLst/>
          </a:prstGeom>
          <a:noFill/>
        </p:spPr>
        <p:txBody>
          <a:bodyPr wrap="square" lIns="0" tIns="0" rIns="0" bIns="0" anchor="ctr">
            <a:spAutoFit/>
          </a:bodyPr>
          <a:lstStyle/>
          <a:p>
            <a:pPr algn="ctr">
              <a:lnSpc>
                <a:spcPct val="110000"/>
              </a:lnSpc>
              <a:spcBef>
                <a:spcPts val="0"/>
              </a:spcBef>
              <a:spcAft>
                <a:spcPts val="0"/>
              </a:spcAft>
            </a:pPr>
            <a:r>
              <a:rPr lang="en-US" sz="600" b="1" i="0" noProof="0">
                <a:solidFill>
                  <a:srgbClr val="FFFFFF"/>
                </a:solidFill>
                <a:latin typeface="Arial" panose="020B0604020202020204" pitchFamily="34" charset="0"/>
                <a:cs typeface="Arial" panose="020B0604020202020204" pitchFamily="34" charset="0"/>
              </a:rPr>
              <a:t>GOVERNANCE  &amp;  METRICS</a:t>
            </a:r>
          </a:p>
        </p:txBody>
      </p:sp>
      <p:sp>
        <p:nvSpPr>
          <p:cNvPr id="174" name="Rectangle 173">
            <a:extLst>
              <a:ext uri="{FF2B5EF4-FFF2-40B4-BE49-F238E27FC236}">
                <a16:creationId xmlns:a16="http://schemas.microsoft.com/office/drawing/2014/main" id="{6AAFF43A-5C23-8C39-89A1-F4F81D80554A}"/>
              </a:ext>
            </a:extLst>
          </p:cNvPr>
          <p:cNvSpPr/>
          <p:nvPr/>
        </p:nvSpPr>
        <p:spPr>
          <a:xfrm>
            <a:off x="1097280" y="4031137"/>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75" name="TextBox 174">
            <a:extLst>
              <a:ext uri="{FF2B5EF4-FFF2-40B4-BE49-F238E27FC236}">
                <a16:creationId xmlns:a16="http://schemas.microsoft.com/office/drawing/2014/main" id="{F5D8F4ED-DDB7-11DC-A342-489DDB94050E}"/>
              </a:ext>
            </a:extLst>
          </p:cNvPr>
          <p:cNvSpPr txBox="1"/>
          <p:nvPr/>
        </p:nvSpPr>
        <p:spPr>
          <a:xfrm>
            <a:off x="1188720" y="4076857"/>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No SLA on small demand; no volume tracking. No </a:t>
            </a:r>
            <a:r>
              <a:rPr lang="en-US" sz="900" b="0" i="0" noProof="0" err="1">
                <a:solidFill>
                  <a:srgbClr val="2C3E50"/>
                </a:solidFill>
                <a:latin typeface="Arial" panose="020B0604020202020204" pitchFamily="34" charset="0"/>
                <a:cs typeface="Arial" panose="020B0604020202020204" pitchFamily="34" charset="0"/>
              </a:rPr>
              <a:t>DoR</a:t>
            </a:r>
            <a:r>
              <a:rPr lang="en-US" sz="900" b="0" i="0" noProof="0">
                <a:solidFill>
                  <a:srgbClr val="2C3E50"/>
                </a:solidFill>
                <a:latin typeface="Arial" panose="020B0604020202020204" pitchFamily="34" charset="0"/>
                <a:cs typeface="Arial" panose="020B0604020202020204" pitchFamily="34" charset="0"/>
              </a:rPr>
              <a:t> / triage rule </a:t>
            </a:r>
          </a:p>
        </p:txBody>
      </p:sp>
      <p:sp>
        <p:nvSpPr>
          <p:cNvPr id="176" name="Rectangle 175">
            <a:extLst>
              <a:ext uri="{FF2B5EF4-FFF2-40B4-BE49-F238E27FC236}">
                <a16:creationId xmlns:a16="http://schemas.microsoft.com/office/drawing/2014/main" id="{2CE4261A-B072-8B00-31DB-97D541CA55E0}"/>
              </a:ext>
            </a:extLst>
          </p:cNvPr>
          <p:cNvSpPr/>
          <p:nvPr/>
        </p:nvSpPr>
        <p:spPr>
          <a:xfrm>
            <a:off x="3319272" y="4031137"/>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77" name="TextBox 176">
            <a:extLst>
              <a:ext uri="{FF2B5EF4-FFF2-40B4-BE49-F238E27FC236}">
                <a16:creationId xmlns:a16="http://schemas.microsoft.com/office/drawing/2014/main" id="{5F821AC6-4582-9B63-2A54-38598FE67D64}"/>
              </a:ext>
            </a:extLst>
          </p:cNvPr>
          <p:cNvSpPr txBox="1"/>
          <p:nvPr/>
        </p:nvSpPr>
        <p:spPr>
          <a:xfrm>
            <a:off x="3410712" y="4076857"/>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No classification rule below PDD threshold</a:t>
            </a:r>
          </a:p>
        </p:txBody>
      </p:sp>
      <p:sp>
        <p:nvSpPr>
          <p:cNvPr id="178" name="Rectangle 177">
            <a:extLst>
              <a:ext uri="{FF2B5EF4-FFF2-40B4-BE49-F238E27FC236}">
                <a16:creationId xmlns:a16="http://schemas.microsoft.com/office/drawing/2014/main" id="{D1C6A0A4-CD5C-3DCA-9852-77AEF6A56B6C}"/>
              </a:ext>
            </a:extLst>
          </p:cNvPr>
          <p:cNvSpPr/>
          <p:nvPr/>
        </p:nvSpPr>
        <p:spPr>
          <a:xfrm>
            <a:off x="5541264" y="4031137"/>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79" name="TextBox 178">
            <a:extLst>
              <a:ext uri="{FF2B5EF4-FFF2-40B4-BE49-F238E27FC236}">
                <a16:creationId xmlns:a16="http://schemas.microsoft.com/office/drawing/2014/main" id="{E16119C8-D0FC-F8F7-CF69-3C84699C5BFE}"/>
              </a:ext>
            </a:extLst>
          </p:cNvPr>
          <p:cNvSpPr txBox="1"/>
          <p:nvPr/>
        </p:nvSpPr>
        <p:spPr>
          <a:xfrm>
            <a:off x="5632704" y="4076857"/>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"Highest impact / most users" — heuristic, not scored</a:t>
            </a:r>
          </a:p>
        </p:txBody>
      </p:sp>
      <p:sp>
        <p:nvSpPr>
          <p:cNvPr id="180" name="Rectangle 179">
            <a:extLst>
              <a:ext uri="{FF2B5EF4-FFF2-40B4-BE49-F238E27FC236}">
                <a16:creationId xmlns:a16="http://schemas.microsoft.com/office/drawing/2014/main" id="{6F930E64-20A5-508C-36B1-711F249F46AF}"/>
              </a:ext>
            </a:extLst>
          </p:cNvPr>
          <p:cNvSpPr/>
          <p:nvPr/>
        </p:nvSpPr>
        <p:spPr>
          <a:xfrm>
            <a:off x="7763256" y="4031137"/>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81" name="TextBox 180">
            <a:extLst>
              <a:ext uri="{FF2B5EF4-FFF2-40B4-BE49-F238E27FC236}">
                <a16:creationId xmlns:a16="http://schemas.microsoft.com/office/drawing/2014/main" id="{043D4588-438F-1497-D969-38E0EFA6B6C1}"/>
              </a:ext>
            </a:extLst>
          </p:cNvPr>
          <p:cNvSpPr txBox="1"/>
          <p:nvPr/>
        </p:nvSpPr>
        <p:spPr>
          <a:xfrm>
            <a:off x="7854696" y="4076857"/>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PDD governance works for large; no below-threshold governance</a:t>
            </a:r>
          </a:p>
        </p:txBody>
      </p:sp>
      <p:sp>
        <p:nvSpPr>
          <p:cNvPr id="182" name="Rectangle 181">
            <a:extLst>
              <a:ext uri="{FF2B5EF4-FFF2-40B4-BE49-F238E27FC236}">
                <a16:creationId xmlns:a16="http://schemas.microsoft.com/office/drawing/2014/main" id="{34823A2A-CE17-A0E3-83C8-A79F16A7503E}"/>
              </a:ext>
            </a:extLst>
          </p:cNvPr>
          <p:cNvSpPr/>
          <p:nvPr/>
        </p:nvSpPr>
        <p:spPr>
          <a:xfrm>
            <a:off x="9985248" y="4031137"/>
            <a:ext cx="1737089" cy="456054"/>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83" name="TextBox 182">
            <a:extLst>
              <a:ext uri="{FF2B5EF4-FFF2-40B4-BE49-F238E27FC236}">
                <a16:creationId xmlns:a16="http://schemas.microsoft.com/office/drawing/2014/main" id="{A1018FC0-A327-FF65-15F0-05AEEA0F6C6B}"/>
              </a:ext>
            </a:extLst>
          </p:cNvPr>
          <p:cNvSpPr txBox="1"/>
          <p:nvPr/>
        </p:nvSpPr>
        <p:spPr>
          <a:xfrm>
            <a:off x="10076688" y="4076857"/>
            <a:ext cx="1591932"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SWF engagement tracked ad-hoc; no KPIs per release</a:t>
            </a:r>
          </a:p>
        </p:txBody>
      </p:sp>
      <p:sp>
        <p:nvSpPr>
          <p:cNvPr id="184" name="Rectangle 183">
            <a:extLst>
              <a:ext uri="{FF2B5EF4-FFF2-40B4-BE49-F238E27FC236}">
                <a16:creationId xmlns:a16="http://schemas.microsoft.com/office/drawing/2014/main" id="{069C9485-A140-A1F7-5C2C-D064B1B041D8}"/>
              </a:ext>
            </a:extLst>
          </p:cNvPr>
          <p:cNvSpPr/>
          <p:nvPr/>
        </p:nvSpPr>
        <p:spPr>
          <a:xfrm>
            <a:off x="457200" y="4645152"/>
            <a:ext cx="11274552" cy="1021795"/>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85" name="Rectangle 184">
            <a:extLst>
              <a:ext uri="{FF2B5EF4-FFF2-40B4-BE49-F238E27FC236}">
                <a16:creationId xmlns:a16="http://schemas.microsoft.com/office/drawing/2014/main" id="{B1A93C10-B0E0-B2BE-1BB1-4E546977C00E}"/>
              </a:ext>
            </a:extLst>
          </p:cNvPr>
          <p:cNvSpPr/>
          <p:nvPr/>
        </p:nvSpPr>
        <p:spPr>
          <a:xfrm>
            <a:off x="457200" y="4645152"/>
            <a:ext cx="73152" cy="102179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86" name="TextBox 185">
            <a:extLst>
              <a:ext uri="{FF2B5EF4-FFF2-40B4-BE49-F238E27FC236}">
                <a16:creationId xmlns:a16="http://schemas.microsoft.com/office/drawing/2014/main" id="{C85C1B0B-89D0-22C6-1CAE-C34917261A69}"/>
              </a:ext>
            </a:extLst>
          </p:cNvPr>
          <p:cNvSpPr txBox="1"/>
          <p:nvPr/>
        </p:nvSpPr>
        <p:spPr>
          <a:xfrm>
            <a:off x="640080" y="4680361"/>
            <a:ext cx="5486400"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1" i="0" noProof="0">
                <a:solidFill>
                  <a:schemeClr val="accent1"/>
                </a:solidFill>
                <a:latin typeface="Arial" panose="020B0604020202020204" pitchFamily="34" charset="0"/>
                <a:cs typeface="Arial" panose="020B0604020202020204" pitchFamily="34" charset="0"/>
              </a:rPr>
              <a:t>KEY PATTERNS  —  WHAT THE FINDINGS REVEAL</a:t>
            </a:r>
          </a:p>
        </p:txBody>
      </p:sp>
      <p:sp>
        <p:nvSpPr>
          <p:cNvPr id="187" name="TextBox 186">
            <a:extLst>
              <a:ext uri="{FF2B5EF4-FFF2-40B4-BE49-F238E27FC236}">
                <a16:creationId xmlns:a16="http://schemas.microsoft.com/office/drawing/2014/main" id="{143B0CAB-A9DD-A26A-8E87-B89610E0E86B}"/>
              </a:ext>
            </a:extLst>
          </p:cNvPr>
          <p:cNvSpPr txBox="1"/>
          <p:nvPr/>
        </p:nvSpPr>
        <p:spPr>
          <a:xfrm>
            <a:off x="6400800" y="4680361"/>
            <a:ext cx="5166360"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1" i="0" noProof="0">
                <a:solidFill>
                  <a:srgbClr val="00A443"/>
                </a:solidFill>
                <a:latin typeface="Arial" panose="020B0604020202020204" pitchFamily="34" charset="0"/>
                <a:cs typeface="Arial" panose="020B0604020202020204" pitchFamily="34" charset="0"/>
              </a:rPr>
              <a:t>SUPPORTING QUOTE</a:t>
            </a:r>
          </a:p>
        </p:txBody>
      </p:sp>
      <p:sp>
        <p:nvSpPr>
          <p:cNvPr id="188" name="TextBox 187">
            <a:extLst>
              <a:ext uri="{FF2B5EF4-FFF2-40B4-BE49-F238E27FC236}">
                <a16:creationId xmlns:a16="http://schemas.microsoft.com/office/drawing/2014/main" id="{33DB44ED-C441-4E9F-BB0A-0FF43C789652}"/>
              </a:ext>
            </a:extLst>
          </p:cNvPr>
          <p:cNvSpPr txBox="1"/>
          <p:nvPr/>
        </p:nvSpPr>
        <p:spPr>
          <a:xfrm>
            <a:off x="6400800" y="4927249"/>
            <a:ext cx="5166360"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1" noProof="0">
                <a:solidFill>
                  <a:srgbClr val="2C3E50"/>
                </a:solidFill>
                <a:latin typeface="Arial" panose="020B0604020202020204" pitchFamily="34" charset="0"/>
                <a:cs typeface="Arial" panose="020B0604020202020204" pitchFamily="34" charset="0"/>
              </a:rPr>
              <a:t>"I prioritize things that have the highest impact to the most users. In most cases these are break/fix requests" — GIS Sr. Manager / Champion</a:t>
            </a:r>
          </a:p>
        </p:txBody>
      </p:sp>
      <p:sp>
        <p:nvSpPr>
          <p:cNvPr id="189" name="TextBox 188">
            <a:extLst>
              <a:ext uri="{FF2B5EF4-FFF2-40B4-BE49-F238E27FC236}">
                <a16:creationId xmlns:a16="http://schemas.microsoft.com/office/drawing/2014/main" id="{DF9B9376-D11E-BAE5-38F2-0372B3B94115}"/>
              </a:ext>
            </a:extLst>
          </p:cNvPr>
          <p:cNvSpPr txBox="1"/>
          <p:nvPr/>
        </p:nvSpPr>
        <p:spPr>
          <a:xfrm>
            <a:off x="640080" y="4927249"/>
            <a:ext cx="5486400" cy="5975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  GIS treats "small demand" and "break/fix" as interchangeable — volume grows, prioritization logic doesn't scale</a:t>
            </a:r>
          </a:p>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  PDD works for large projects but leaves 60-70% of actual work (break/fix + small) ungoverned</a:t>
            </a:r>
          </a:p>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  SWF is the elasticity valve — predictable capacity relief, but vendor-dependent and untracked</a:t>
            </a:r>
          </a:p>
        </p:txBody>
      </p:sp>
      <p:sp>
        <p:nvSpPr>
          <p:cNvPr id="190" name="Rectangle 189">
            <a:extLst>
              <a:ext uri="{FF2B5EF4-FFF2-40B4-BE49-F238E27FC236}">
                <a16:creationId xmlns:a16="http://schemas.microsoft.com/office/drawing/2014/main" id="{3ACD6A3D-6277-890C-A622-1D5CEE40EA97}"/>
              </a:ext>
            </a:extLst>
          </p:cNvPr>
          <p:cNvSpPr/>
          <p:nvPr/>
        </p:nvSpPr>
        <p:spPr>
          <a:xfrm>
            <a:off x="458724" y="5794074"/>
            <a:ext cx="11274552" cy="5029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91" name="TextBox 190">
            <a:extLst>
              <a:ext uri="{FF2B5EF4-FFF2-40B4-BE49-F238E27FC236}">
                <a16:creationId xmlns:a16="http://schemas.microsoft.com/office/drawing/2014/main" id="{71EBD29B-C8DD-38D8-42B9-0507F9E2756F}"/>
              </a:ext>
            </a:extLst>
          </p:cNvPr>
          <p:cNvSpPr txBox="1"/>
          <p:nvPr/>
        </p:nvSpPr>
        <p:spPr>
          <a:xfrm>
            <a:off x="687324" y="5959645"/>
            <a:ext cx="10817352" cy="171778"/>
          </a:xfrm>
          <a:prstGeom prst="rect">
            <a:avLst/>
          </a:prstGeom>
          <a:noFill/>
        </p:spPr>
        <p:txBody>
          <a:bodyPr wrap="square" lIns="0" tIns="0" rIns="0" bIns="0" anchor="ctr">
            <a:spAutoFit/>
          </a:bodyPr>
          <a:lstStyle/>
          <a:p>
            <a:pPr algn="l">
              <a:lnSpc>
                <a:spcPct val="110000"/>
              </a:lnSpc>
              <a:spcBef>
                <a:spcPts val="0"/>
              </a:spcBef>
              <a:spcAft>
                <a:spcPts val="0"/>
              </a:spcAft>
            </a:pPr>
            <a:r>
              <a:rPr lang="en-US" sz="1100" b="0" i="0" noProof="0">
                <a:solidFill>
                  <a:srgbClr val="FFFFFF"/>
                </a:solidFill>
                <a:latin typeface="Arial" panose="020B0604020202020204" pitchFamily="34" charset="0"/>
                <a:cs typeface="Arial" panose="020B0604020202020204" pitchFamily="34" charset="0"/>
              </a:rPr>
              <a:t>GIS has a working large-project process (PDD) but relies on email + meetings for small demand — capacity risk as volume grows</a:t>
            </a:r>
          </a:p>
        </p:txBody>
      </p:sp>
      <p:sp>
        <p:nvSpPr>
          <p:cNvPr id="19" name="Rounded Rectangle 26">
            <a:extLst>
              <a:ext uri="{FF2B5EF4-FFF2-40B4-BE49-F238E27FC236}">
                <a16:creationId xmlns:a16="http://schemas.microsoft.com/office/drawing/2014/main" id="{C6BAFA19-EDDF-5BAE-6116-E5A97F395309}"/>
              </a:ext>
            </a:extLst>
          </p:cNvPr>
          <p:cNvSpPr/>
          <p:nvPr/>
        </p:nvSpPr>
        <p:spPr>
          <a:xfrm>
            <a:off x="1624246" y="2193971"/>
            <a:ext cx="1097280" cy="182880"/>
          </a:xfrm>
          <a:prstGeom prst="round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0" name="TextBox 133">
            <a:extLst>
              <a:ext uri="{FF2B5EF4-FFF2-40B4-BE49-F238E27FC236}">
                <a16:creationId xmlns:a16="http://schemas.microsoft.com/office/drawing/2014/main" id="{ED54C50B-FF8C-2178-8443-39536E9E4AEE}"/>
              </a:ext>
            </a:extLst>
          </p:cNvPr>
          <p:cNvSpPr txBox="1"/>
          <p:nvPr/>
        </p:nvSpPr>
        <p:spPr>
          <a:xfrm>
            <a:off x="1637962" y="2210249"/>
            <a:ext cx="1097280" cy="139525"/>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noProof="0">
                <a:solidFill>
                  <a:srgbClr val="FFFFFF"/>
                </a:solidFill>
                <a:latin typeface="Arial" panose="020B0604020202020204" pitchFamily="34" charset="0"/>
                <a:cs typeface="Arial" panose="020B0604020202020204" pitchFamily="34" charset="0"/>
              </a:rPr>
              <a:t>PARTIAL</a:t>
            </a:r>
          </a:p>
        </p:txBody>
      </p:sp>
      <p:sp>
        <p:nvSpPr>
          <p:cNvPr id="14" name="Rounded Rectangle 26">
            <a:extLst>
              <a:ext uri="{FF2B5EF4-FFF2-40B4-BE49-F238E27FC236}">
                <a16:creationId xmlns:a16="http://schemas.microsoft.com/office/drawing/2014/main" id="{A178CBA0-7688-91C2-6CD9-5B3C4DD67810}"/>
              </a:ext>
            </a:extLst>
          </p:cNvPr>
          <p:cNvSpPr/>
          <p:nvPr/>
        </p:nvSpPr>
        <p:spPr>
          <a:xfrm>
            <a:off x="8333570" y="2193325"/>
            <a:ext cx="1097280" cy="182880"/>
          </a:xfrm>
          <a:prstGeom prst="round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1" name="TextBox 133">
            <a:extLst>
              <a:ext uri="{FF2B5EF4-FFF2-40B4-BE49-F238E27FC236}">
                <a16:creationId xmlns:a16="http://schemas.microsoft.com/office/drawing/2014/main" id="{8A9284BF-A03C-1713-6701-E8AF5B1DB0A1}"/>
              </a:ext>
            </a:extLst>
          </p:cNvPr>
          <p:cNvSpPr txBox="1"/>
          <p:nvPr/>
        </p:nvSpPr>
        <p:spPr>
          <a:xfrm>
            <a:off x="8347286" y="2222327"/>
            <a:ext cx="1097280" cy="139525"/>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noProof="0">
                <a:solidFill>
                  <a:srgbClr val="FFFFFF"/>
                </a:solidFill>
                <a:latin typeface="Arial" panose="020B0604020202020204" pitchFamily="34" charset="0"/>
                <a:cs typeface="Arial" panose="020B0604020202020204" pitchFamily="34" charset="0"/>
              </a:rPr>
              <a:t>PARTIAL</a:t>
            </a:r>
          </a:p>
        </p:txBody>
      </p:sp>
      <p:sp>
        <p:nvSpPr>
          <p:cNvPr id="22" name="Rounded Rectangle 26">
            <a:extLst>
              <a:ext uri="{FF2B5EF4-FFF2-40B4-BE49-F238E27FC236}">
                <a16:creationId xmlns:a16="http://schemas.microsoft.com/office/drawing/2014/main" id="{64410D8C-8479-5629-AC22-0871A0154F1A}"/>
              </a:ext>
            </a:extLst>
          </p:cNvPr>
          <p:cNvSpPr/>
          <p:nvPr/>
        </p:nvSpPr>
        <p:spPr>
          <a:xfrm>
            <a:off x="10322791" y="2177224"/>
            <a:ext cx="1097280" cy="182880"/>
          </a:xfrm>
          <a:prstGeom prst="round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3" name="TextBox 133">
            <a:extLst>
              <a:ext uri="{FF2B5EF4-FFF2-40B4-BE49-F238E27FC236}">
                <a16:creationId xmlns:a16="http://schemas.microsoft.com/office/drawing/2014/main" id="{4055C15C-E051-BD6C-E2F9-0BFC0C72C719}"/>
              </a:ext>
            </a:extLst>
          </p:cNvPr>
          <p:cNvSpPr txBox="1"/>
          <p:nvPr/>
        </p:nvSpPr>
        <p:spPr>
          <a:xfrm>
            <a:off x="10336507" y="2206226"/>
            <a:ext cx="1097280" cy="139525"/>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noProof="0">
                <a:solidFill>
                  <a:srgbClr val="FFFFFF"/>
                </a:solidFill>
                <a:latin typeface="Arial" panose="020B0604020202020204" pitchFamily="34" charset="0"/>
                <a:cs typeface="Arial" panose="020B0604020202020204" pitchFamily="34" charset="0"/>
              </a:rPr>
              <a:t>PARTIAL</a:t>
            </a:r>
          </a:p>
        </p:txBody>
      </p:sp>
      <p:sp>
        <p:nvSpPr>
          <p:cNvPr id="24" name="Rectangle: Rounded Corners 18">
            <a:extLst>
              <a:ext uri="{FF2B5EF4-FFF2-40B4-BE49-F238E27FC236}">
                <a16:creationId xmlns:a16="http://schemas.microsoft.com/office/drawing/2014/main" id="{8D9A5BE4-3BE3-DE0F-07AE-96D7076C45AF}"/>
              </a:ext>
            </a:extLst>
          </p:cNvPr>
          <p:cNvSpPr/>
          <p:nvPr/>
        </p:nvSpPr>
        <p:spPr>
          <a:xfrm>
            <a:off x="7039633" y="186528"/>
            <a:ext cx="1668780" cy="343539"/>
          </a:xfrm>
          <a:prstGeom prst="roundRect">
            <a:avLst/>
          </a:prstGeom>
          <a:solidFill>
            <a:schemeClr val="accent3"/>
          </a:solid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a:t>IT Business Apps</a:t>
            </a:r>
          </a:p>
        </p:txBody>
      </p:sp>
      <p:sp>
        <p:nvSpPr>
          <p:cNvPr id="26" name="Rectangle: Rounded Corners 25">
            <a:extLst>
              <a:ext uri="{FF2B5EF4-FFF2-40B4-BE49-F238E27FC236}">
                <a16:creationId xmlns:a16="http://schemas.microsoft.com/office/drawing/2014/main" id="{D7834EAA-4BB4-FE3E-396E-65939FE52D55}"/>
              </a:ext>
            </a:extLst>
          </p:cNvPr>
          <p:cNvSpPr/>
          <p:nvPr/>
        </p:nvSpPr>
        <p:spPr>
          <a:xfrm>
            <a:off x="8771785" y="186528"/>
            <a:ext cx="1668780" cy="343539"/>
          </a:xfrm>
          <a:prstGeom prst="roundRect">
            <a:avLst/>
          </a:prstGeom>
          <a:solidFill>
            <a:schemeClr val="accent4">
              <a:lumMod val="75000"/>
            </a:schemeClr>
          </a:solidFill>
          <a:ln>
            <a:solidFill>
              <a:schemeClr val="accent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a:solidFill>
                  <a:schemeClr val="bg1">
                    <a:lumMod val="85000"/>
                  </a:schemeClr>
                </a:solidFill>
              </a:rPr>
              <a:t>Customer Services Apps</a:t>
            </a:r>
          </a:p>
        </p:txBody>
      </p:sp>
    </p:spTree>
    <p:extLst>
      <p:ext uri="{BB962C8B-B14F-4D97-AF65-F5344CB8AC3E}">
        <p14:creationId xmlns:p14="http://schemas.microsoft.com/office/powerpoint/2010/main" val="2069084109"/>
      </p:ext>
    </p:extLst>
  </p:cSld>
  <p:clrMapOvr>
    <a:masterClrMapping/>
  </p:clrMapOvr>
  <p:extLst>
    <p:ext uri="{6950BFC3-D8DA-4A85-94F7-54DA5524770B}">
      <p188:commentRel xmlns:p188="http://schemas.microsoft.com/office/powerpoint/2018/8/main" r:id="rId3"/>
    </p:ext>
  </p:extLs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DC4329-88B2-D154-98F2-8053014A339E}"/>
            </a:ext>
          </a:extLst>
        </p:cNvPr>
        <p:cNvGrpSpPr/>
        <p:nvPr/>
      </p:nvGrpSpPr>
      <p:grpSpPr>
        <a:xfrm>
          <a:off x="0" y="0"/>
          <a:ext cx="0" cy="0"/>
          <a:chOff x="0" y="0"/>
          <a:chExt cx="0" cy="0"/>
        </a:xfrm>
      </p:grpSpPr>
      <p:sp>
        <p:nvSpPr>
          <p:cNvPr id="5" name="Título 2">
            <a:extLst>
              <a:ext uri="{FF2B5EF4-FFF2-40B4-BE49-F238E27FC236}">
                <a16:creationId xmlns:a16="http://schemas.microsoft.com/office/drawing/2014/main" id="{68970A71-8FAF-1000-2303-D6D0D63A0027}"/>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r>
              <a:rPr lang="en-US" sz="2400" noProof="0">
                <a:latin typeface="Arial" panose="020B0604020202020204" pitchFamily="34" charset="0"/>
                <a:cs typeface="Arial" panose="020B0604020202020204" pitchFamily="34" charset="0"/>
              </a:rPr>
              <a:t>CURRENT STATE ANALYSIS</a:t>
            </a:r>
          </a:p>
          <a:p>
            <a:r>
              <a:rPr lang="en-US" sz="1200" noProof="0">
                <a:latin typeface="Arial" panose="020B0604020202020204" pitchFamily="34" charset="0"/>
                <a:cs typeface="Arial" panose="020B0604020202020204" pitchFamily="34" charset="0"/>
              </a:rPr>
              <a:t>VALUE STREAM MAPPING - DEMAND FLOW</a:t>
            </a:r>
          </a:p>
        </p:txBody>
      </p:sp>
      <p:sp>
        <p:nvSpPr>
          <p:cNvPr id="165" name="TextBox 2">
            <a:extLst>
              <a:ext uri="{FF2B5EF4-FFF2-40B4-BE49-F238E27FC236}">
                <a16:creationId xmlns:a16="http://schemas.microsoft.com/office/drawing/2014/main" id="{036620FD-C3F7-2F37-FB24-B1762AF4B223}"/>
              </a:ext>
            </a:extLst>
          </p:cNvPr>
          <p:cNvSpPr txBox="1"/>
          <p:nvPr/>
        </p:nvSpPr>
        <p:spPr>
          <a:xfrm>
            <a:off x="457201" y="964799"/>
            <a:ext cx="11463124" cy="523220"/>
          </a:xfrm>
          <a:prstGeom prst="rect">
            <a:avLst/>
          </a:prstGeom>
          <a:noFill/>
        </p:spPr>
        <p:txBody>
          <a:bodyPr wrap="square" lIns="0" tIns="0" rIns="0" bIns="0" rtlCol="0">
            <a:noAutofit/>
          </a:bodyPr>
          <a:lstStyle>
            <a:defPPr>
              <a:defRPr lang="en-US"/>
            </a:defPPr>
            <a:lvl1pPr algn="just">
              <a:defRPr sz="1400" b="1">
                <a:solidFill>
                  <a:schemeClr val="accent4">
                    <a:lumMod val="75000"/>
                  </a:schemeClr>
                </a:solidFill>
                <a:latin typeface="Arial" panose="020B0604020202020204" pitchFamily="34" charset="0"/>
                <a:cs typeface="Arial" panose="020B0604020202020204" pitchFamily="34" charset="0"/>
              </a:defRPr>
            </a:lvl1pPr>
            <a:lvl2pPr marL="228586" algn="l" rtl="0" eaLnBrk="0" fontAlgn="base" hangingPunct="0">
              <a:spcBef>
                <a:spcPct val="0"/>
              </a:spcBef>
              <a:spcAft>
                <a:spcPct val="0"/>
              </a:spcAft>
              <a:defRPr kern="1200">
                <a:solidFill>
                  <a:schemeClr val="tx1"/>
                </a:solidFill>
                <a:latin typeface="Arial" pitchFamily="2" charset="77"/>
                <a:ea typeface="+mn-ea"/>
                <a:cs typeface="+mn-cs"/>
              </a:defRPr>
            </a:lvl2pPr>
            <a:lvl3pPr marL="457172" algn="l" rtl="0" eaLnBrk="0" fontAlgn="base" hangingPunct="0">
              <a:spcBef>
                <a:spcPct val="0"/>
              </a:spcBef>
              <a:spcAft>
                <a:spcPct val="0"/>
              </a:spcAft>
              <a:defRPr kern="1200">
                <a:solidFill>
                  <a:schemeClr val="tx1"/>
                </a:solidFill>
                <a:latin typeface="Arial" pitchFamily="2" charset="77"/>
                <a:ea typeface="+mn-ea"/>
                <a:cs typeface="+mn-cs"/>
              </a:defRPr>
            </a:lvl3pPr>
            <a:lvl4pPr marL="685757" algn="l" rtl="0" eaLnBrk="0" fontAlgn="base" hangingPunct="0">
              <a:spcBef>
                <a:spcPct val="0"/>
              </a:spcBef>
              <a:spcAft>
                <a:spcPct val="0"/>
              </a:spcAft>
              <a:defRPr kern="1200">
                <a:solidFill>
                  <a:schemeClr val="tx1"/>
                </a:solidFill>
                <a:latin typeface="Arial" pitchFamily="2" charset="77"/>
                <a:ea typeface="+mn-ea"/>
                <a:cs typeface="+mn-cs"/>
              </a:defRPr>
            </a:lvl4pPr>
            <a:lvl5pPr marL="914343" algn="l" rtl="0" eaLnBrk="0" fontAlgn="base" hangingPunct="0">
              <a:spcBef>
                <a:spcPct val="0"/>
              </a:spcBef>
              <a:spcAft>
                <a:spcPct val="0"/>
              </a:spcAft>
              <a:defRPr kern="1200">
                <a:solidFill>
                  <a:schemeClr val="tx1"/>
                </a:solidFill>
                <a:latin typeface="Arial" pitchFamily="2" charset="77"/>
                <a:ea typeface="+mn-ea"/>
                <a:cs typeface="+mn-cs"/>
              </a:defRPr>
            </a:lvl5pPr>
            <a:lvl6pPr marL="1142929" algn="l" defTabSz="457172" rtl="0" eaLnBrk="1" latinLnBrk="0" hangingPunct="1">
              <a:defRPr kern="1200">
                <a:solidFill>
                  <a:schemeClr val="tx1"/>
                </a:solidFill>
                <a:latin typeface="Arial" pitchFamily="2" charset="77"/>
                <a:ea typeface="+mn-ea"/>
                <a:cs typeface="+mn-cs"/>
              </a:defRPr>
            </a:lvl6pPr>
            <a:lvl7pPr marL="1371515" algn="l" defTabSz="457172" rtl="0" eaLnBrk="1" latinLnBrk="0" hangingPunct="1">
              <a:defRPr kern="1200">
                <a:solidFill>
                  <a:schemeClr val="tx1"/>
                </a:solidFill>
                <a:latin typeface="Arial" pitchFamily="2" charset="77"/>
                <a:ea typeface="+mn-ea"/>
                <a:cs typeface="+mn-cs"/>
              </a:defRPr>
            </a:lvl7pPr>
            <a:lvl8pPr marL="1600100" algn="l" defTabSz="457172" rtl="0" eaLnBrk="1" latinLnBrk="0" hangingPunct="1">
              <a:defRPr kern="1200">
                <a:solidFill>
                  <a:schemeClr val="tx1"/>
                </a:solidFill>
                <a:latin typeface="Arial" pitchFamily="2" charset="77"/>
                <a:ea typeface="+mn-ea"/>
                <a:cs typeface="+mn-cs"/>
              </a:defRPr>
            </a:lvl8pPr>
            <a:lvl9pPr marL="1828686" algn="l" defTabSz="457172" rtl="0" eaLnBrk="1" latinLnBrk="0" hangingPunct="1">
              <a:defRPr kern="1200">
                <a:solidFill>
                  <a:schemeClr val="tx1"/>
                </a:solidFill>
                <a:latin typeface="Arial" pitchFamily="2" charset="77"/>
                <a:ea typeface="+mn-ea"/>
                <a:cs typeface="+mn-cs"/>
              </a:defRPr>
            </a:lvl9pPr>
          </a:lstStyle>
          <a:p>
            <a:r>
              <a:rPr lang="en-US" noProof="0"/>
              <a:t>Corporate runs demand through Jira, Confluence and Word — standardization gap despite the highest regulatory pressure</a:t>
            </a:r>
          </a:p>
        </p:txBody>
      </p:sp>
      <p:sp>
        <p:nvSpPr>
          <p:cNvPr id="15" name="Rectangle 14">
            <a:extLst>
              <a:ext uri="{FF2B5EF4-FFF2-40B4-BE49-F238E27FC236}">
                <a16:creationId xmlns:a16="http://schemas.microsoft.com/office/drawing/2014/main" id="{8768EAA7-1222-FB6E-1465-2A6627136967}"/>
              </a:ext>
            </a:extLst>
          </p:cNvPr>
          <p:cNvSpPr/>
          <p:nvPr/>
        </p:nvSpPr>
        <p:spPr>
          <a:xfrm>
            <a:off x="457201" y="1411950"/>
            <a:ext cx="11274552"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0DF6FE64-9665-67F1-7439-330F593E89B3}"/>
              </a:ext>
            </a:extLst>
          </p:cNvPr>
          <p:cNvSpPr/>
          <p:nvPr/>
        </p:nvSpPr>
        <p:spPr>
          <a:xfrm>
            <a:off x="457201" y="1411950"/>
            <a:ext cx="1828800" cy="274320"/>
          </a:xfrm>
          <a:prstGeom prst="rect">
            <a:avLst/>
          </a:prstGeom>
          <a:solidFill>
            <a:schemeClr val="accent4">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40279C32-2318-1756-C57D-405BF6B561AD}"/>
              </a:ext>
            </a:extLst>
          </p:cNvPr>
          <p:cNvSpPr txBox="1"/>
          <p:nvPr/>
        </p:nvSpPr>
        <p:spPr>
          <a:xfrm>
            <a:off x="457201" y="1478866"/>
            <a:ext cx="1828800" cy="140488"/>
          </a:xfrm>
          <a:prstGeom prst="rect">
            <a:avLst/>
          </a:prstGeom>
          <a:solidFill>
            <a:schemeClr val="accent4">
              <a:lumMod val="20000"/>
              <a:lumOff val="80000"/>
            </a:schemeClr>
          </a:solidFill>
        </p:spPr>
        <p:txBody>
          <a:bodyPr wrap="square" lIns="0" tIns="0" rIns="0" bIns="0" anchor="ctr">
            <a:spAutoFit/>
          </a:bodyPr>
          <a:lstStyle/>
          <a:p>
            <a:pPr algn="ctr">
              <a:lnSpc>
                <a:spcPct val="110000"/>
              </a:lnSpc>
              <a:spcBef>
                <a:spcPts val="0"/>
              </a:spcBef>
              <a:spcAft>
                <a:spcPts val="0"/>
              </a:spcAft>
            </a:pPr>
            <a:r>
              <a:rPr lang="en-US" sz="900" b="1" i="0" noProof="0">
                <a:latin typeface="Arial" panose="020B0604020202020204" pitchFamily="34" charset="0"/>
                <a:cs typeface="Arial" panose="020B0604020202020204" pitchFamily="34" charset="0"/>
              </a:rPr>
              <a:t>BUSINESS REQUESTERS</a:t>
            </a:r>
          </a:p>
        </p:txBody>
      </p:sp>
      <p:sp>
        <p:nvSpPr>
          <p:cNvPr id="18" name="TextBox 17">
            <a:extLst>
              <a:ext uri="{FF2B5EF4-FFF2-40B4-BE49-F238E27FC236}">
                <a16:creationId xmlns:a16="http://schemas.microsoft.com/office/drawing/2014/main" id="{A3760FE3-B3A1-3B23-F23A-697942DCD8B0}"/>
              </a:ext>
            </a:extLst>
          </p:cNvPr>
          <p:cNvSpPr txBox="1"/>
          <p:nvPr/>
        </p:nvSpPr>
        <p:spPr>
          <a:xfrm>
            <a:off x="2377441" y="1479315"/>
            <a:ext cx="9281160" cy="139590"/>
          </a:xfrm>
          <a:prstGeom prst="rect">
            <a:avLst/>
          </a:prstGeom>
          <a:solidFill>
            <a:schemeClr val="accent1"/>
          </a:solidFill>
        </p:spPr>
        <p:txBody>
          <a:bodyPr wrap="square" lIns="0" tIns="0" rIns="0" bIns="0" anchor="ctr">
            <a:spAutoFit/>
          </a:bodyPr>
          <a:lstStyle/>
          <a:p>
            <a:pPr algn="l">
              <a:lnSpc>
                <a:spcPct val="110000"/>
              </a:lnSpc>
              <a:spcBef>
                <a:spcPts val="0"/>
              </a:spcBef>
              <a:spcAft>
                <a:spcPts val="0"/>
              </a:spcAft>
            </a:pPr>
            <a:r>
              <a:rPr lang="en-US" sz="900" b="0" i="0" noProof="0">
                <a:solidFill>
                  <a:srgbClr val="FFFFFF"/>
                </a:solidFill>
                <a:latin typeface="Arial" panose="020B0604020202020204" pitchFamily="34" charset="0"/>
                <a:cs typeface="Arial" panose="020B0604020202020204" pitchFamily="34" charset="0"/>
              </a:rPr>
              <a:t>Finance · HR / People · Procurement · Legal &amp; Compliance · Regulatory</a:t>
            </a:r>
          </a:p>
        </p:txBody>
      </p:sp>
      <p:sp>
        <p:nvSpPr>
          <p:cNvPr id="19" name="Rectangle 18">
            <a:extLst>
              <a:ext uri="{FF2B5EF4-FFF2-40B4-BE49-F238E27FC236}">
                <a16:creationId xmlns:a16="http://schemas.microsoft.com/office/drawing/2014/main" id="{715EF96B-A73E-D2FE-1180-C43E9BB3E68B}"/>
              </a:ext>
            </a:extLst>
          </p:cNvPr>
          <p:cNvSpPr/>
          <p:nvPr/>
        </p:nvSpPr>
        <p:spPr>
          <a:xfrm>
            <a:off x="1097281" y="1795998"/>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0" name="TextBox 19">
            <a:extLst>
              <a:ext uri="{FF2B5EF4-FFF2-40B4-BE49-F238E27FC236}">
                <a16:creationId xmlns:a16="http://schemas.microsoft.com/office/drawing/2014/main" id="{BE6F1F9D-2DF4-ADD1-2FF7-BA5EDA46841E}"/>
              </a:ext>
            </a:extLst>
          </p:cNvPr>
          <p:cNvSpPr txBox="1"/>
          <p:nvPr/>
        </p:nvSpPr>
        <p:spPr>
          <a:xfrm>
            <a:off x="1097281" y="1876022"/>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01 INTAKE</a:t>
            </a:r>
          </a:p>
        </p:txBody>
      </p:sp>
      <p:sp>
        <p:nvSpPr>
          <p:cNvPr id="21" name="Rounded Rectangle 10">
            <a:extLst>
              <a:ext uri="{FF2B5EF4-FFF2-40B4-BE49-F238E27FC236}">
                <a16:creationId xmlns:a16="http://schemas.microsoft.com/office/drawing/2014/main" id="{0EEF0350-97A5-4D3C-1372-FE6711AD116F}"/>
              </a:ext>
            </a:extLst>
          </p:cNvPr>
          <p:cNvSpPr/>
          <p:nvPr/>
        </p:nvSpPr>
        <p:spPr>
          <a:xfrm>
            <a:off x="1632205" y="2198334"/>
            <a:ext cx="1097280" cy="182880"/>
          </a:xfr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23" name="Rectangle 22">
            <a:extLst>
              <a:ext uri="{FF2B5EF4-FFF2-40B4-BE49-F238E27FC236}">
                <a16:creationId xmlns:a16="http://schemas.microsoft.com/office/drawing/2014/main" id="{8200E7FB-B17B-1099-C226-08E460357508}"/>
              </a:ext>
            </a:extLst>
          </p:cNvPr>
          <p:cNvSpPr/>
          <p:nvPr/>
        </p:nvSpPr>
        <p:spPr>
          <a:xfrm>
            <a:off x="3319273" y="1795998"/>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4" name="TextBox 23">
            <a:extLst>
              <a:ext uri="{FF2B5EF4-FFF2-40B4-BE49-F238E27FC236}">
                <a16:creationId xmlns:a16="http://schemas.microsoft.com/office/drawing/2014/main" id="{06C3D603-EF2C-1CBE-D6E4-146F00BB3490}"/>
              </a:ext>
            </a:extLst>
          </p:cNvPr>
          <p:cNvSpPr txBox="1"/>
          <p:nvPr/>
        </p:nvSpPr>
        <p:spPr>
          <a:xfrm>
            <a:off x="3319273" y="1876022"/>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02 CLASSIFICATION</a:t>
            </a:r>
          </a:p>
        </p:txBody>
      </p:sp>
      <p:sp>
        <p:nvSpPr>
          <p:cNvPr id="27" name="Rectangle 26">
            <a:extLst>
              <a:ext uri="{FF2B5EF4-FFF2-40B4-BE49-F238E27FC236}">
                <a16:creationId xmlns:a16="http://schemas.microsoft.com/office/drawing/2014/main" id="{5E35777C-D773-3DBC-4B3B-9786FF58D657}"/>
              </a:ext>
            </a:extLst>
          </p:cNvPr>
          <p:cNvSpPr/>
          <p:nvPr/>
        </p:nvSpPr>
        <p:spPr>
          <a:xfrm>
            <a:off x="5541265" y="1795998"/>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8" name="TextBox 27">
            <a:extLst>
              <a:ext uri="{FF2B5EF4-FFF2-40B4-BE49-F238E27FC236}">
                <a16:creationId xmlns:a16="http://schemas.microsoft.com/office/drawing/2014/main" id="{139386DC-B7AA-89CC-C0E5-56AF57CCF35B}"/>
              </a:ext>
            </a:extLst>
          </p:cNvPr>
          <p:cNvSpPr txBox="1"/>
          <p:nvPr/>
        </p:nvSpPr>
        <p:spPr>
          <a:xfrm>
            <a:off x="5541265" y="1876022"/>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03 PRIORITIZATION</a:t>
            </a:r>
          </a:p>
        </p:txBody>
      </p:sp>
      <p:sp>
        <p:nvSpPr>
          <p:cNvPr id="29" name="Rounded Rectangle 18">
            <a:extLst>
              <a:ext uri="{FF2B5EF4-FFF2-40B4-BE49-F238E27FC236}">
                <a16:creationId xmlns:a16="http://schemas.microsoft.com/office/drawing/2014/main" id="{6D493706-909E-FCC1-9686-CCE9D22FB41E}"/>
              </a:ext>
            </a:extLst>
          </p:cNvPr>
          <p:cNvSpPr/>
          <p:nvPr/>
        </p:nvSpPr>
        <p:spPr>
          <a:xfrm>
            <a:off x="6076189" y="2198334"/>
            <a:ext cx="1097280" cy="182880"/>
          </a:xfr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31" name="Rectangle 30">
            <a:extLst>
              <a:ext uri="{FF2B5EF4-FFF2-40B4-BE49-F238E27FC236}">
                <a16:creationId xmlns:a16="http://schemas.microsoft.com/office/drawing/2014/main" id="{1AFF5E89-BBE2-DD45-7EA4-120894B8CC59}"/>
              </a:ext>
            </a:extLst>
          </p:cNvPr>
          <p:cNvSpPr/>
          <p:nvPr/>
        </p:nvSpPr>
        <p:spPr>
          <a:xfrm>
            <a:off x="7763257" y="1795998"/>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2" name="TextBox 31">
            <a:extLst>
              <a:ext uri="{FF2B5EF4-FFF2-40B4-BE49-F238E27FC236}">
                <a16:creationId xmlns:a16="http://schemas.microsoft.com/office/drawing/2014/main" id="{A1066F4F-B580-9E87-8B1A-B1C68CDDBC28}"/>
              </a:ext>
            </a:extLst>
          </p:cNvPr>
          <p:cNvSpPr txBox="1"/>
          <p:nvPr/>
        </p:nvSpPr>
        <p:spPr>
          <a:xfrm>
            <a:off x="7763257" y="1876022"/>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04 PORTFOLIO</a:t>
            </a:r>
          </a:p>
        </p:txBody>
      </p:sp>
      <p:sp>
        <p:nvSpPr>
          <p:cNvPr id="35" name="Rectangle 34">
            <a:extLst>
              <a:ext uri="{FF2B5EF4-FFF2-40B4-BE49-F238E27FC236}">
                <a16:creationId xmlns:a16="http://schemas.microsoft.com/office/drawing/2014/main" id="{B8F73105-BF3D-809F-CC56-89B48ED3B84C}"/>
              </a:ext>
            </a:extLst>
          </p:cNvPr>
          <p:cNvSpPr/>
          <p:nvPr/>
        </p:nvSpPr>
        <p:spPr>
          <a:xfrm>
            <a:off x="9985249" y="1795998"/>
            <a:ext cx="1746504"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6" name="TextBox 35">
            <a:extLst>
              <a:ext uri="{FF2B5EF4-FFF2-40B4-BE49-F238E27FC236}">
                <a16:creationId xmlns:a16="http://schemas.microsoft.com/office/drawing/2014/main" id="{B7CD4277-4833-3712-F946-B07A2C1EF0FA}"/>
              </a:ext>
            </a:extLst>
          </p:cNvPr>
          <p:cNvSpPr txBox="1"/>
          <p:nvPr/>
        </p:nvSpPr>
        <p:spPr>
          <a:xfrm>
            <a:off x="9985249" y="1876022"/>
            <a:ext cx="1746504"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05 DELIVERY</a:t>
            </a:r>
          </a:p>
        </p:txBody>
      </p:sp>
      <p:sp>
        <p:nvSpPr>
          <p:cNvPr id="37" name="Rounded Rectangle 26">
            <a:extLst>
              <a:ext uri="{FF2B5EF4-FFF2-40B4-BE49-F238E27FC236}">
                <a16:creationId xmlns:a16="http://schemas.microsoft.com/office/drawing/2014/main" id="{C15ED6C0-8562-E768-96D3-68FDF45A8236}"/>
              </a:ext>
            </a:extLst>
          </p:cNvPr>
          <p:cNvSpPr/>
          <p:nvPr/>
        </p:nvSpPr>
        <p:spPr>
          <a:xfrm>
            <a:off x="10282560" y="2198334"/>
            <a:ext cx="1097280" cy="182880"/>
          </a:xfr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41" name="Rectangle 40">
            <a:extLst>
              <a:ext uri="{FF2B5EF4-FFF2-40B4-BE49-F238E27FC236}">
                <a16:creationId xmlns:a16="http://schemas.microsoft.com/office/drawing/2014/main" id="{EBD51D67-C75C-FE93-1FF5-E75E3633C591}"/>
              </a:ext>
            </a:extLst>
          </p:cNvPr>
          <p:cNvSpPr/>
          <p:nvPr/>
        </p:nvSpPr>
        <p:spPr>
          <a:xfrm>
            <a:off x="1097281" y="2436078"/>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2" name="TextBox 41">
            <a:extLst>
              <a:ext uri="{FF2B5EF4-FFF2-40B4-BE49-F238E27FC236}">
                <a16:creationId xmlns:a16="http://schemas.microsoft.com/office/drawing/2014/main" id="{127E245E-0967-7D8E-8718-9C0A48D0D1FF}"/>
              </a:ext>
            </a:extLst>
          </p:cNvPr>
          <p:cNvSpPr txBox="1"/>
          <p:nvPr/>
        </p:nvSpPr>
        <p:spPr>
          <a:xfrm>
            <a:off x="1188721" y="2481798"/>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PM via Jira + Confluence; Word docs for business requirements</a:t>
            </a:r>
          </a:p>
        </p:txBody>
      </p:sp>
      <p:sp>
        <p:nvSpPr>
          <p:cNvPr id="43" name="Rectangle 42">
            <a:extLst>
              <a:ext uri="{FF2B5EF4-FFF2-40B4-BE49-F238E27FC236}">
                <a16:creationId xmlns:a16="http://schemas.microsoft.com/office/drawing/2014/main" id="{90122A9E-8FB0-0BEC-772F-39B0EB8F6D6C}"/>
              </a:ext>
            </a:extLst>
          </p:cNvPr>
          <p:cNvSpPr/>
          <p:nvPr/>
        </p:nvSpPr>
        <p:spPr>
          <a:xfrm>
            <a:off x="3319273" y="2436078"/>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4" name="TextBox 43">
            <a:extLst>
              <a:ext uri="{FF2B5EF4-FFF2-40B4-BE49-F238E27FC236}">
                <a16:creationId xmlns:a16="http://schemas.microsoft.com/office/drawing/2014/main" id="{9F0E8F95-454C-9BAA-5673-FBF70CF3EB2B}"/>
              </a:ext>
            </a:extLst>
          </p:cNvPr>
          <p:cNvSpPr txBox="1"/>
          <p:nvPr/>
        </p:nvSpPr>
        <p:spPr>
          <a:xfrm>
            <a:off x="3410713" y="2481798"/>
            <a:ext cx="1984248"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Small and Medium: PDD</a:t>
            </a:r>
          </a:p>
        </p:txBody>
      </p:sp>
      <p:sp>
        <p:nvSpPr>
          <p:cNvPr id="45" name="Rectangle 44">
            <a:extLst>
              <a:ext uri="{FF2B5EF4-FFF2-40B4-BE49-F238E27FC236}">
                <a16:creationId xmlns:a16="http://schemas.microsoft.com/office/drawing/2014/main" id="{A4413688-4DEF-B91E-09A0-B18107D4FBE2}"/>
              </a:ext>
            </a:extLst>
          </p:cNvPr>
          <p:cNvSpPr/>
          <p:nvPr/>
        </p:nvSpPr>
        <p:spPr>
          <a:xfrm>
            <a:off x="5541265" y="2436078"/>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6" name="TextBox 45">
            <a:extLst>
              <a:ext uri="{FF2B5EF4-FFF2-40B4-BE49-F238E27FC236}">
                <a16:creationId xmlns:a16="http://schemas.microsoft.com/office/drawing/2014/main" id="{FCEC47A0-8ED1-C3D3-2317-22D9C1280A95}"/>
              </a:ext>
            </a:extLst>
          </p:cNvPr>
          <p:cNvSpPr txBox="1"/>
          <p:nvPr/>
        </p:nvSpPr>
        <p:spPr>
          <a:xfrm>
            <a:off x="5632705" y="2481798"/>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PDD is the driver; regulatory is treated as standing priority</a:t>
            </a:r>
          </a:p>
        </p:txBody>
      </p:sp>
      <p:sp>
        <p:nvSpPr>
          <p:cNvPr id="47" name="Rectangle 46">
            <a:extLst>
              <a:ext uri="{FF2B5EF4-FFF2-40B4-BE49-F238E27FC236}">
                <a16:creationId xmlns:a16="http://schemas.microsoft.com/office/drawing/2014/main" id="{E23C79E9-ED1C-1B25-92B6-947956DF0F08}"/>
              </a:ext>
            </a:extLst>
          </p:cNvPr>
          <p:cNvSpPr/>
          <p:nvPr/>
        </p:nvSpPr>
        <p:spPr>
          <a:xfrm>
            <a:off x="7763257" y="2436078"/>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8" name="TextBox 47">
            <a:extLst>
              <a:ext uri="{FF2B5EF4-FFF2-40B4-BE49-F238E27FC236}">
                <a16:creationId xmlns:a16="http://schemas.microsoft.com/office/drawing/2014/main" id="{1F51303A-EC57-43EA-8E48-804BD92C9948}"/>
              </a:ext>
            </a:extLst>
          </p:cNvPr>
          <p:cNvSpPr txBox="1"/>
          <p:nvPr/>
        </p:nvSpPr>
        <p:spPr>
          <a:xfrm>
            <a:off x="7854697" y="2481798"/>
            <a:ext cx="1984248"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PDD-approved portfolio; </a:t>
            </a:r>
          </a:p>
        </p:txBody>
      </p:sp>
      <p:sp>
        <p:nvSpPr>
          <p:cNvPr id="49" name="Rectangle 48">
            <a:extLst>
              <a:ext uri="{FF2B5EF4-FFF2-40B4-BE49-F238E27FC236}">
                <a16:creationId xmlns:a16="http://schemas.microsoft.com/office/drawing/2014/main" id="{57AD46B2-3193-B099-4016-FE6F0852E094}"/>
              </a:ext>
            </a:extLst>
          </p:cNvPr>
          <p:cNvSpPr/>
          <p:nvPr/>
        </p:nvSpPr>
        <p:spPr>
          <a:xfrm>
            <a:off x="9985249" y="2436078"/>
            <a:ext cx="1746504"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92" name="TextBox 191">
            <a:extLst>
              <a:ext uri="{FF2B5EF4-FFF2-40B4-BE49-F238E27FC236}">
                <a16:creationId xmlns:a16="http://schemas.microsoft.com/office/drawing/2014/main" id="{B689A76E-861A-01C2-2033-39B6EA6524EF}"/>
              </a:ext>
            </a:extLst>
          </p:cNvPr>
          <p:cNvSpPr txBox="1"/>
          <p:nvPr/>
        </p:nvSpPr>
        <p:spPr>
          <a:xfrm>
            <a:off x="10076689" y="2481798"/>
            <a:ext cx="1599120" cy="44428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Internal + Vendor split; regulatory-driven release cadence</a:t>
            </a:r>
          </a:p>
        </p:txBody>
      </p:sp>
      <p:sp>
        <p:nvSpPr>
          <p:cNvPr id="195" name="Rectangle 194">
            <a:extLst>
              <a:ext uri="{FF2B5EF4-FFF2-40B4-BE49-F238E27FC236}">
                <a16:creationId xmlns:a16="http://schemas.microsoft.com/office/drawing/2014/main" id="{B1BADBB8-BE69-5CF4-8622-2A25FE09EC4E}"/>
              </a:ext>
            </a:extLst>
          </p:cNvPr>
          <p:cNvSpPr/>
          <p:nvPr/>
        </p:nvSpPr>
        <p:spPr>
          <a:xfrm>
            <a:off x="1097281" y="2966430"/>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96" name="TextBox 195">
            <a:extLst>
              <a:ext uri="{FF2B5EF4-FFF2-40B4-BE49-F238E27FC236}">
                <a16:creationId xmlns:a16="http://schemas.microsoft.com/office/drawing/2014/main" id="{A5998394-AFB1-9730-6386-92C9E192BEF8}"/>
              </a:ext>
            </a:extLst>
          </p:cNvPr>
          <p:cNvSpPr txBox="1"/>
          <p:nvPr/>
        </p:nvSpPr>
        <p:spPr>
          <a:xfrm>
            <a:off x="1188721" y="3012150"/>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Business analysts send requirements; PMs own Jira intake</a:t>
            </a:r>
          </a:p>
        </p:txBody>
      </p:sp>
      <p:sp>
        <p:nvSpPr>
          <p:cNvPr id="197" name="Rectangle 196">
            <a:extLst>
              <a:ext uri="{FF2B5EF4-FFF2-40B4-BE49-F238E27FC236}">
                <a16:creationId xmlns:a16="http://schemas.microsoft.com/office/drawing/2014/main" id="{BFBE9B3E-2B4E-2106-1870-080427E55774}"/>
              </a:ext>
            </a:extLst>
          </p:cNvPr>
          <p:cNvSpPr/>
          <p:nvPr/>
        </p:nvSpPr>
        <p:spPr>
          <a:xfrm>
            <a:off x="3319273" y="2966430"/>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98" name="TextBox 197">
            <a:extLst>
              <a:ext uri="{FF2B5EF4-FFF2-40B4-BE49-F238E27FC236}">
                <a16:creationId xmlns:a16="http://schemas.microsoft.com/office/drawing/2014/main" id="{EAD2B0F1-E812-9F67-908A-2259148B1CF5}"/>
              </a:ext>
            </a:extLst>
          </p:cNvPr>
          <p:cNvSpPr txBox="1"/>
          <p:nvPr/>
        </p:nvSpPr>
        <p:spPr>
          <a:xfrm>
            <a:off x="3410713" y="3012150"/>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5-6 PMs + 2 Tech Leads classify (central PM pool sits here)</a:t>
            </a:r>
          </a:p>
        </p:txBody>
      </p:sp>
      <p:sp>
        <p:nvSpPr>
          <p:cNvPr id="199" name="Rectangle 198">
            <a:extLst>
              <a:ext uri="{FF2B5EF4-FFF2-40B4-BE49-F238E27FC236}">
                <a16:creationId xmlns:a16="http://schemas.microsoft.com/office/drawing/2014/main" id="{2CD107E7-28D9-39C7-C6B0-D71652486471}"/>
              </a:ext>
            </a:extLst>
          </p:cNvPr>
          <p:cNvSpPr/>
          <p:nvPr/>
        </p:nvSpPr>
        <p:spPr>
          <a:xfrm>
            <a:off x="5541265" y="2966430"/>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00" name="TextBox 199">
            <a:extLst>
              <a:ext uri="{FF2B5EF4-FFF2-40B4-BE49-F238E27FC236}">
                <a16:creationId xmlns:a16="http://schemas.microsoft.com/office/drawing/2014/main" id="{26C85922-2776-1F45-C43B-2C784950DE01}"/>
              </a:ext>
            </a:extLst>
          </p:cNvPr>
          <p:cNvSpPr txBox="1"/>
          <p:nvPr/>
        </p:nvSpPr>
        <p:spPr>
          <a:xfrm>
            <a:off x="5632705" y="3012150"/>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PMs + business leadership — regulatory always lifted</a:t>
            </a:r>
          </a:p>
        </p:txBody>
      </p:sp>
      <p:sp>
        <p:nvSpPr>
          <p:cNvPr id="201" name="Rectangle 200">
            <a:extLst>
              <a:ext uri="{FF2B5EF4-FFF2-40B4-BE49-F238E27FC236}">
                <a16:creationId xmlns:a16="http://schemas.microsoft.com/office/drawing/2014/main" id="{3EEB7BF7-F9E2-F732-A4CB-44EC1EE71888}"/>
              </a:ext>
            </a:extLst>
          </p:cNvPr>
          <p:cNvSpPr/>
          <p:nvPr/>
        </p:nvSpPr>
        <p:spPr>
          <a:xfrm>
            <a:off x="7763257" y="2966430"/>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02" name="TextBox 201">
            <a:extLst>
              <a:ext uri="{FF2B5EF4-FFF2-40B4-BE49-F238E27FC236}">
                <a16:creationId xmlns:a16="http://schemas.microsoft.com/office/drawing/2014/main" id="{041DE3BA-9929-B417-D8EC-FE213EAD6E9A}"/>
              </a:ext>
            </a:extLst>
          </p:cNvPr>
          <p:cNvSpPr txBox="1"/>
          <p:nvPr/>
        </p:nvSpPr>
        <p:spPr>
          <a:xfrm>
            <a:off x="7854697" y="3012150"/>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PMs track Jira; overlap visible but not resolved upstream</a:t>
            </a:r>
          </a:p>
        </p:txBody>
      </p:sp>
      <p:sp>
        <p:nvSpPr>
          <p:cNvPr id="203" name="Rectangle 202">
            <a:extLst>
              <a:ext uri="{FF2B5EF4-FFF2-40B4-BE49-F238E27FC236}">
                <a16:creationId xmlns:a16="http://schemas.microsoft.com/office/drawing/2014/main" id="{9EB0221A-D33C-300F-2386-43A9BFC409B5}"/>
              </a:ext>
            </a:extLst>
          </p:cNvPr>
          <p:cNvSpPr/>
          <p:nvPr/>
        </p:nvSpPr>
        <p:spPr>
          <a:xfrm>
            <a:off x="9985249" y="2966430"/>
            <a:ext cx="1746504"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04" name="TextBox 203">
            <a:extLst>
              <a:ext uri="{FF2B5EF4-FFF2-40B4-BE49-F238E27FC236}">
                <a16:creationId xmlns:a16="http://schemas.microsoft.com/office/drawing/2014/main" id="{E0F9B7EE-1215-96B8-644F-5418794B5D02}"/>
              </a:ext>
            </a:extLst>
          </p:cNvPr>
          <p:cNvSpPr txBox="1"/>
          <p:nvPr/>
        </p:nvSpPr>
        <p:spPr>
          <a:xfrm>
            <a:off x="10076689" y="3012150"/>
            <a:ext cx="1599120" cy="29193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Internal team + SWF + vendors for specific modules</a:t>
            </a:r>
          </a:p>
        </p:txBody>
      </p:sp>
      <p:sp>
        <p:nvSpPr>
          <p:cNvPr id="207" name="Rectangle 206">
            <a:extLst>
              <a:ext uri="{FF2B5EF4-FFF2-40B4-BE49-F238E27FC236}">
                <a16:creationId xmlns:a16="http://schemas.microsoft.com/office/drawing/2014/main" id="{B1FB02F0-FDDF-D8BA-FB4F-2B50E6E85CEF}"/>
              </a:ext>
            </a:extLst>
          </p:cNvPr>
          <p:cNvSpPr/>
          <p:nvPr/>
        </p:nvSpPr>
        <p:spPr>
          <a:xfrm>
            <a:off x="1097281" y="3496782"/>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08" name="TextBox 207">
            <a:extLst>
              <a:ext uri="{FF2B5EF4-FFF2-40B4-BE49-F238E27FC236}">
                <a16:creationId xmlns:a16="http://schemas.microsoft.com/office/drawing/2014/main" id="{781690A2-2DB0-1289-F064-F47838F9ED06}"/>
              </a:ext>
            </a:extLst>
          </p:cNvPr>
          <p:cNvSpPr txBox="1"/>
          <p:nvPr/>
        </p:nvSpPr>
        <p:spPr>
          <a:xfrm>
            <a:off x="1188721" y="3542502"/>
            <a:ext cx="1984248" cy="292837"/>
          </a:xfrm>
          <a:prstGeom prst="rect">
            <a:avLst/>
          </a:prstGeom>
          <a:noFill/>
        </p:spPr>
        <p:txBody>
          <a:bodyPr wrap="square" lIns="0" tIns="0" rIns="0" bIns="0" anchor="t">
            <a:spAutoFit/>
          </a:bodyPr>
          <a:lstStyle/>
          <a:p>
            <a:pPr>
              <a:lnSpc>
                <a:spcPct val="110000"/>
              </a:lnSpc>
            </a:pPr>
            <a:r>
              <a:rPr lang="en-US" sz="900" b="0" i="0" noProof="0">
                <a:solidFill>
                  <a:srgbClr val="2C3E50"/>
                </a:solidFill>
                <a:latin typeface="Arial" panose="020B0604020202020204" pitchFamily="34" charset="0"/>
                <a:cs typeface="Arial" panose="020B0604020202020204" pitchFamily="34" charset="0"/>
              </a:rPr>
              <a:t>Jira · Confluence · Word </a:t>
            </a:r>
            <a:r>
              <a:rPr lang="en-US" sz="900" noProof="0">
                <a:solidFill>
                  <a:srgbClr val="2C3E50"/>
                </a:solidFill>
                <a:latin typeface="Arial" panose="020B0604020202020204" pitchFamily="34" charset="0"/>
                <a:cs typeface="Arial" panose="020B0604020202020204" pitchFamily="34" charset="0"/>
              </a:rPr>
              <a:t>docs · PPM Now</a:t>
            </a:r>
            <a:endParaRPr lang="en-US" sz="900" b="0" i="0" noProof="0">
              <a:solidFill>
                <a:srgbClr val="2C3E50"/>
              </a:solidFill>
              <a:latin typeface="Arial" panose="020B0604020202020204" pitchFamily="34" charset="0"/>
              <a:cs typeface="Arial" panose="020B0604020202020204" pitchFamily="34" charset="0"/>
            </a:endParaRPr>
          </a:p>
        </p:txBody>
      </p:sp>
      <p:sp>
        <p:nvSpPr>
          <p:cNvPr id="209" name="Rectangle 208">
            <a:extLst>
              <a:ext uri="{FF2B5EF4-FFF2-40B4-BE49-F238E27FC236}">
                <a16:creationId xmlns:a16="http://schemas.microsoft.com/office/drawing/2014/main" id="{A8549931-5000-2143-183A-8353347A9CFE}"/>
              </a:ext>
            </a:extLst>
          </p:cNvPr>
          <p:cNvSpPr/>
          <p:nvPr/>
        </p:nvSpPr>
        <p:spPr>
          <a:xfrm>
            <a:off x="3319273" y="3496782"/>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10" name="TextBox 209">
            <a:extLst>
              <a:ext uri="{FF2B5EF4-FFF2-40B4-BE49-F238E27FC236}">
                <a16:creationId xmlns:a16="http://schemas.microsoft.com/office/drawing/2014/main" id="{F85DF857-3A33-2033-3B1B-D92DD3605437}"/>
              </a:ext>
            </a:extLst>
          </p:cNvPr>
          <p:cNvSpPr txBox="1"/>
          <p:nvPr/>
        </p:nvSpPr>
        <p:spPr>
          <a:xfrm>
            <a:off x="3410713" y="3542502"/>
            <a:ext cx="1984248"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Jira labels + PDD workbook</a:t>
            </a:r>
          </a:p>
        </p:txBody>
      </p:sp>
      <p:sp>
        <p:nvSpPr>
          <p:cNvPr id="211" name="Rectangle 210">
            <a:extLst>
              <a:ext uri="{FF2B5EF4-FFF2-40B4-BE49-F238E27FC236}">
                <a16:creationId xmlns:a16="http://schemas.microsoft.com/office/drawing/2014/main" id="{ECE077EC-3084-3687-070F-7195F1E68DA5}"/>
              </a:ext>
            </a:extLst>
          </p:cNvPr>
          <p:cNvSpPr/>
          <p:nvPr/>
        </p:nvSpPr>
        <p:spPr>
          <a:xfrm>
            <a:off x="5541265" y="3496782"/>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12" name="TextBox 211">
            <a:extLst>
              <a:ext uri="{FF2B5EF4-FFF2-40B4-BE49-F238E27FC236}">
                <a16:creationId xmlns:a16="http://schemas.microsoft.com/office/drawing/2014/main" id="{838EDE5B-B7A7-6030-7939-BF81AFE737E8}"/>
              </a:ext>
            </a:extLst>
          </p:cNvPr>
          <p:cNvSpPr txBox="1"/>
          <p:nvPr/>
        </p:nvSpPr>
        <p:spPr>
          <a:xfrm>
            <a:off x="5632705" y="3542502"/>
            <a:ext cx="1984248" cy="139590"/>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No scoring tool — regulatory = priority</a:t>
            </a:r>
          </a:p>
        </p:txBody>
      </p:sp>
      <p:sp>
        <p:nvSpPr>
          <p:cNvPr id="213" name="Rectangle 212">
            <a:extLst>
              <a:ext uri="{FF2B5EF4-FFF2-40B4-BE49-F238E27FC236}">
                <a16:creationId xmlns:a16="http://schemas.microsoft.com/office/drawing/2014/main" id="{A9778C16-3ED8-49D1-1B55-4A505C02CE8E}"/>
              </a:ext>
            </a:extLst>
          </p:cNvPr>
          <p:cNvSpPr/>
          <p:nvPr/>
        </p:nvSpPr>
        <p:spPr>
          <a:xfrm>
            <a:off x="7763257" y="3496782"/>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14" name="TextBox 213">
            <a:extLst>
              <a:ext uri="{FF2B5EF4-FFF2-40B4-BE49-F238E27FC236}">
                <a16:creationId xmlns:a16="http://schemas.microsoft.com/office/drawing/2014/main" id="{C43F5FA9-8E06-F8E1-48FC-F9F917225522}"/>
              </a:ext>
            </a:extLst>
          </p:cNvPr>
          <p:cNvSpPr txBox="1"/>
          <p:nvPr/>
        </p:nvSpPr>
        <p:spPr>
          <a:xfrm>
            <a:off x="7854697" y="3542502"/>
            <a:ext cx="1984248"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Confluence + PPM Now</a:t>
            </a:r>
          </a:p>
        </p:txBody>
      </p:sp>
      <p:sp>
        <p:nvSpPr>
          <p:cNvPr id="215" name="Rectangle 214">
            <a:extLst>
              <a:ext uri="{FF2B5EF4-FFF2-40B4-BE49-F238E27FC236}">
                <a16:creationId xmlns:a16="http://schemas.microsoft.com/office/drawing/2014/main" id="{EC39460E-3701-D075-2F96-7B08B255B1A6}"/>
              </a:ext>
            </a:extLst>
          </p:cNvPr>
          <p:cNvSpPr/>
          <p:nvPr/>
        </p:nvSpPr>
        <p:spPr>
          <a:xfrm>
            <a:off x="9985249" y="3496782"/>
            <a:ext cx="1746504"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16" name="TextBox 215">
            <a:extLst>
              <a:ext uri="{FF2B5EF4-FFF2-40B4-BE49-F238E27FC236}">
                <a16:creationId xmlns:a16="http://schemas.microsoft.com/office/drawing/2014/main" id="{4B52C3B9-6AB7-20CD-45F7-C1FF8386B8CB}"/>
              </a:ext>
            </a:extLst>
          </p:cNvPr>
          <p:cNvSpPr txBox="1"/>
          <p:nvPr/>
        </p:nvSpPr>
        <p:spPr>
          <a:xfrm>
            <a:off x="10076689" y="3542502"/>
            <a:ext cx="1599120" cy="29193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Jira + Confluence; SWF for vendor capacity</a:t>
            </a:r>
          </a:p>
        </p:txBody>
      </p:sp>
      <p:sp>
        <p:nvSpPr>
          <p:cNvPr id="219" name="Rectangle 218">
            <a:extLst>
              <a:ext uri="{FF2B5EF4-FFF2-40B4-BE49-F238E27FC236}">
                <a16:creationId xmlns:a16="http://schemas.microsoft.com/office/drawing/2014/main" id="{A6D98D63-21E9-235A-149A-59E955D5CEFF}"/>
              </a:ext>
            </a:extLst>
          </p:cNvPr>
          <p:cNvSpPr/>
          <p:nvPr/>
        </p:nvSpPr>
        <p:spPr>
          <a:xfrm>
            <a:off x="1097281" y="4027134"/>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20" name="TextBox 219">
            <a:extLst>
              <a:ext uri="{FF2B5EF4-FFF2-40B4-BE49-F238E27FC236}">
                <a16:creationId xmlns:a16="http://schemas.microsoft.com/office/drawing/2014/main" id="{655AC642-3CA1-DD5C-6B0E-90B914AAB291}"/>
              </a:ext>
            </a:extLst>
          </p:cNvPr>
          <p:cNvSpPr txBox="1"/>
          <p:nvPr/>
        </p:nvSpPr>
        <p:spPr>
          <a:xfrm>
            <a:off x="1188721" y="4072854"/>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No consolidated intake funnel; Word breaks digital trail</a:t>
            </a:r>
          </a:p>
        </p:txBody>
      </p:sp>
      <p:sp>
        <p:nvSpPr>
          <p:cNvPr id="221" name="Rectangle 220">
            <a:extLst>
              <a:ext uri="{FF2B5EF4-FFF2-40B4-BE49-F238E27FC236}">
                <a16:creationId xmlns:a16="http://schemas.microsoft.com/office/drawing/2014/main" id="{180B2F03-2157-3265-D41D-AD380B591670}"/>
              </a:ext>
            </a:extLst>
          </p:cNvPr>
          <p:cNvSpPr/>
          <p:nvPr/>
        </p:nvSpPr>
        <p:spPr>
          <a:xfrm>
            <a:off x="3319273" y="4027134"/>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22" name="TextBox 221">
            <a:extLst>
              <a:ext uri="{FF2B5EF4-FFF2-40B4-BE49-F238E27FC236}">
                <a16:creationId xmlns:a16="http://schemas.microsoft.com/office/drawing/2014/main" id="{1065D159-87EF-7680-21D2-5F84B0713AFE}"/>
              </a:ext>
            </a:extLst>
          </p:cNvPr>
          <p:cNvSpPr txBox="1"/>
          <p:nvPr/>
        </p:nvSpPr>
        <p:spPr>
          <a:xfrm>
            <a:off x="3410713" y="4072854"/>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No deduplication between overlapping PDDs</a:t>
            </a:r>
          </a:p>
        </p:txBody>
      </p:sp>
      <p:sp>
        <p:nvSpPr>
          <p:cNvPr id="223" name="Rectangle 222">
            <a:extLst>
              <a:ext uri="{FF2B5EF4-FFF2-40B4-BE49-F238E27FC236}">
                <a16:creationId xmlns:a16="http://schemas.microsoft.com/office/drawing/2014/main" id="{022CD4E7-42AB-491A-012A-788D7F259C4F}"/>
              </a:ext>
            </a:extLst>
          </p:cNvPr>
          <p:cNvSpPr/>
          <p:nvPr/>
        </p:nvSpPr>
        <p:spPr>
          <a:xfrm>
            <a:off x="5541265" y="4027134"/>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24" name="TextBox 223">
            <a:extLst>
              <a:ext uri="{FF2B5EF4-FFF2-40B4-BE49-F238E27FC236}">
                <a16:creationId xmlns:a16="http://schemas.microsoft.com/office/drawing/2014/main" id="{063379DE-2F44-5287-4B0F-398EBEBA46EA}"/>
              </a:ext>
            </a:extLst>
          </p:cNvPr>
          <p:cNvSpPr txBox="1"/>
          <p:nvPr/>
        </p:nvSpPr>
        <p:spPr>
          <a:xfrm>
            <a:off x="5632705" y="4072854"/>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Regulatory urgency is exception-driven, not scored</a:t>
            </a:r>
          </a:p>
        </p:txBody>
      </p:sp>
      <p:sp>
        <p:nvSpPr>
          <p:cNvPr id="225" name="Rectangle 224">
            <a:extLst>
              <a:ext uri="{FF2B5EF4-FFF2-40B4-BE49-F238E27FC236}">
                <a16:creationId xmlns:a16="http://schemas.microsoft.com/office/drawing/2014/main" id="{4A7ADB56-5742-64D2-B4A5-50B20973C995}"/>
              </a:ext>
            </a:extLst>
          </p:cNvPr>
          <p:cNvSpPr/>
          <p:nvPr/>
        </p:nvSpPr>
        <p:spPr>
          <a:xfrm>
            <a:off x="7763257" y="4027134"/>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26" name="TextBox 225">
            <a:extLst>
              <a:ext uri="{FF2B5EF4-FFF2-40B4-BE49-F238E27FC236}">
                <a16:creationId xmlns:a16="http://schemas.microsoft.com/office/drawing/2014/main" id="{8BBFF6D9-D468-65F9-0D91-0A94E4A5A3B7}"/>
              </a:ext>
            </a:extLst>
          </p:cNvPr>
          <p:cNvSpPr txBox="1"/>
          <p:nvPr/>
        </p:nvSpPr>
        <p:spPr>
          <a:xfrm>
            <a:off x="7854697" y="4072854"/>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PDD approvals govern; below-threshold demand untracked</a:t>
            </a:r>
          </a:p>
        </p:txBody>
      </p:sp>
      <p:sp>
        <p:nvSpPr>
          <p:cNvPr id="227" name="Rectangle 226">
            <a:extLst>
              <a:ext uri="{FF2B5EF4-FFF2-40B4-BE49-F238E27FC236}">
                <a16:creationId xmlns:a16="http://schemas.microsoft.com/office/drawing/2014/main" id="{9220B470-6427-B3EB-B9A7-BE225526073C}"/>
              </a:ext>
            </a:extLst>
          </p:cNvPr>
          <p:cNvSpPr/>
          <p:nvPr/>
        </p:nvSpPr>
        <p:spPr>
          <a:xfrm>
            <a:off x="9985249" y="4027134"/>
            <a:ext cx="1746504"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28" name="TextBox 227">
            <a:extLst>
              <a:ext uri="{FF2B5EF4-FFF2-40B4-BE49-F238E27FC236}">
                <a16:creationId xmlns:a16="http://schemas.microsoft.com/office/drawing/2014/main" id="{5B45F0E9-B210-D9FE-1D86-A646B696D7C2}"/>
              </a:ext>
            </a:extLst>
          </p:cNvPr>
          <p:cNvSpPr txBox="1"/>
          <p:nvPr/>
        </p:nvSpPr>
        <p:spPr>
          <a:xfrm>
            <a:off x="10076689" y="4072854"/>
            <a:ext cx="1599120" cy="29193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One-year plan + recurring training; no release KPIs</a:t>
            </a:r>
          </a:p>
        </p:txBody>
      </p:sp>
      <p:sp>
        <p:nvSpPr>
          <p:cNvPr id="229" name="Rectangle 228">
            <a:extLst>
              <a:ext uri="{FF2B5EF4-FFF2-40B4-BE49-F238E27FC236}">
                <a16:creationId xmlns:a16="http://schemas.microsoft.com/office/drawing/2014/main" id="{4D753764-D17E-051E-F889-010F7442F0F3}"/>
              </a:ext>
            </a:extLst>
          </p:cNvPr>
          <p:cNvSpPr/>
          <p:nvPr/>
        </p:nvSpPr>
        <p:spPr>
          <a:xfrm>
            <a:off x="457201" y="4630638"/>
            <a:ext cx="11274552" cy="1093887"/>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30" name="Rectangle 229">
            <a:extLst>
              <a:ext uri="{FF2B5EF4-FFF2-40B4-BE49-F238E27FC236}">
                <a16:creationId xmlns:a16="http://schemas.microsoft.com/office/drawing/2014/main" id="{886471F7-EAA8-9F52-9D0C-00072F96025D}"/>
              </a:ext>
            </a:extLst>
          </p:cNvPr>
          <p:cNvSpPr/>
          <p:nvPr/>
        </p:nvSpPr>
        <p:spPr>
          <a:xfrm>
            <a:off x="457201" y="4630638"/>
            <a:ext cx="73152" cy="108912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31" name="TextBox 230">
            <a:extLst>
              <a:ext uri="{FF2B5EF4-FFF2-40B4-BE49-F238E27FC236}">
                <a16:creationId xmlns:a16="http://schemas.microsoft.com/office/drawing/2014/main" id="{C03F7851-A37B-E4E1-8EC5-C194A0D31882}"/>
              </a:ext>
            </a:extLst>
          </p:cNvPr>
          <p:cNvSpPr txBox="1"/>
          <p:nvPr/>
        </p:nvSpPr>
        <p:spPr>
          <a:xfrm>
            <a:off x="640081" y="4676358"/>
            <a:ext cx="5486400"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1" i="0" noProof="0">
                <a:solidFill>
                  <a:schemeClr val="accent1"/>
                </a:solidFill>
                <a:latin typeface="Arial" panose="020B0604020202020204" pitchFamily="34" charset="0"/>
                <a:cs typeface="Arial" panose="020B0604020202020204" pitchFamily="34" charset="0"/>
              </a:rPr>
              <a:t>KEY PATTERNS  —  WHAT THE FINDINGS REVEAL</a:t>
            </a:r>
          </a:p>
        </p:txBody>
      </p:sp>
      <p:sp>
        <p:nvSpPr>
          <p:cNvPr id="232" name="TextBox 231">
            <a:extLst>
              <a:ext uri="{FF2B5EF4-FFF2-40B4-BE49-F238E27FC236}">
                <a16:creationId xmlns:a16="http://schemas.microsoft.com/office/drawing/2014/main" id="{E08AAD0D-BA08-F6F5-C270-25EFF1C98A78}"/>
              </a:ext>
            </a:extLst>
          </p:cNvPr>
          <p:cNvSpPr txBox="1"/>
          <p:nvPr/>
        </p:nvSpPr>
        <p:spPr>
          <a:xfrm>
            <a:off x="6400801" y="4676358"/>
            <a:ext cx="5166360"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1" i="0" noProof="0">
                <a:solidFill>
                  <a:schemeClr val="accent3"/>
                </a:solidFill>
                <a:latin typeface="Arial" panose="020B0604020202020204" pitchFamily="34" charset="0"/>
                <a:cs typeface="Arial" panose="020B0604020202020204" pitchFamily="34" charset="0"/>
              </a:rPr>
              <a:t>SUPPORTING QUOTE</a:t>
            </a:r>
          </a:p>
        </p:txBody>
      </p:sp>
      <p:sp>
        <p:nvSpPr>
          <p:cNvPr id="233" name="TextBox 232">
            <a:extLst>
              <a:ext uri="{FF2B5EF4-FFF2-40B4-BE49-F238E27FC236}">
                <a16:creationId xmlns:a16="http://schemas.microsoft.com/office/drawing/2014/main" id="{67DB0363-8064-57A2-F236-1013F2979E7C}"/>
              </a:ext>
            </a:extLst>
          </p:cNvPr>
          <p:cNvSpPr txBox="1"/>
          <p:nvPr/>
        </p:nvSpPr>
        <p:spPr>
          <a:xfrm>
            <a:off x="6400801" y="4923246"/>
            <a:ext cx="5166360" cy="292837"/>
          </a:xfrm>
          <a:prstGeom prst="rect">
            <a:avLst/>
          </a:prstGeom>
          <a:noFill/>
        </p:spPr>
        <p:txBody>
          <a:bodyPr wrap="square" lIns="0" tIns="0" rIns="0" bIns="0" anchor="t">
            <a:spAutoFit/>
          </a:bodyPr>
          <a:lstStyle/>
          <a:p>
            <a:pPr>
              <a:lnSpc>
                <a:spcPct val="110000"/>
              </a:lnSpc>
            </a:pPr>
            <a:r>
              <a:rPr lang="en-US" sz="900" b="0" i="1" noProof="0">
                <a:solidFill>
                  <a:srgbClr val="2C3E50"/>
                </a:solidFill>
                <a:latin typeface="Arial"/>
                <a:cs typeface="Arial"/>
              </a:rPr>
              <a:t>"</a:t>
            </a:r>
            <a:r>
              <a:rPr lang="en-US" sz="900" i="1" noProof="0">
                <a:solidFill>
                  <a:srgbClr val="2C3E50"/>
                </a:solidFill>
                <a:latin typeface="Arial"/>
                <a:ea typeface="+mn-lt"/>
                <a:cs typeface="Arial"/>
              </a:rPr>
              <a:t>No prioritization variables defined but forums to prioritize. Currently in the forums: if it's strategic, operational urgency, regulatory (most important doesn't matter the size)"</a:t>
            </a:r>
            <a:r>
              <a:rPr lang="en-US" sz="900" b="0" i="1" noProof="0">
                <a:solidFill>
                  <a:srgbClr val="2C3E50"/>
                </a:solidFill>
                <a:latin typeface="Arial"/>
                <a:cs typeface="Arial"/>
              </a:rPr>
              <a:t> — Amitkumar Patel</a:t>
            </a:r>
          </a:p>
        </p:txBody>
      </p:sp>
      <p:sp>
        <p:nvSpPr>
          <p:cNvPr id="234" name="TextBox 233">
            <a:extLst>
              <a:ext uri="{FF2B5EF4-FFF2-40B4-BE49-F238E27FC236}">
                <a16:creationId xmlns:a16="http://schemas.microsoft.com/office/drawing/2014/main" id="{8CF426B3-4B49-4A29-A168-7DA3197407DC}"/>
              </a:ext>
            </a:extLst>
          </p:cNvPr>
          <p:cNvSpPr txBox="1"/>
          <p:nvPr/>
        </p:nvSpPr>
        <p:spPr>
          <a:xfrm>
            <a:off x="640081" y="4923246"/>
            <a:ext cx="5486400" cy="749885"/>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  Word-document requirements betray a pre-agile posture — downstream Jira adoption is superficial, not structural</a:t>
            </a:r>
          </a:p>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  "Overlapping projects" signals classification breakdown: multiple PDDs chase similar outcomes because intake doesn't deduplicate</a:t>
            </a:r>
          </a:p>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  Regulatory pressure masks the lack of formal scoring — everything becomes urgent by exception</a:t>
            </a:r>
          </a:p>
        </p:txBody>
      </p:sp>
      <p:sp>
        <p:nvSpPr>
          <p:cNvPr id="235" name="Rectangle 234">
            <a:extLst>
              <a:ext uri="{FF2B5EF4-FFF2-40B4-BE49-F238E27FC236}">
                <a16:creationId xmlns:a16="http://schemas.microsoft.com/office/drawing/2014/main" id="{7B527C1A-9F3A-973D-9759-A7699E78F80B}"/>
              </a:ext>
            </a:extLst>
          </p:cNvPr>
          <p:cNvSpPr/>
          <p:nvPr/>
        </p:nvSpPr>
        <p:spPr>
          <a:xfrm>
            <a:off x="457201" y="5809706"/>
            <a:ext cx="11274552" cy="5029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36" name="TextBox 235">
            <a:extLst>
              <a:ext uri="{FF2B5EF4-FFF2-40B4-BE49-F238E27FC236}">
                <a16:creationId xmlns:a16="http://schemas.microsoft.com/office/drawing/2014/main" id="{1C6B0D85-5B30-7035-B987-21C6CBF3CDB7}"/>
              </a:ext>
            </a:extLst>
          </p:cNvPr>
          <p:cNvSpPr txBox="1"/>
          <p:nvPr/>
        </p:nvSpPr>
        <p:spPr>
          <a:xfrm>
            <a:off x="685801" y="5975277"/>
            <a:ext cx="10817352" cy="171778"/>
          </a:xfrm>
          <a:prstGeom prst="rect">
            <a:avLst/>
          </a:prstGeom>
          <a:noFill/>
        </p:spPr>
        <p:txBody>
          <a:bodyPr wrap="square" lIns="0" tIns="0" rIns="0" bIns="0" anchor="ctr">
            <a:spAutoFit/>
          </a:bodyPr>
          <a:lstStyle/>
          <a:p>
            <a:pPr algn="l">
              <a:lnSpc>
                <a:spcPct val="110000"/>
              </a:lnSpc>
              <a:spcBef>
                <a:spcPts val="0"/>
              </a:spcBef>
              <a:spcAft>
                <a:spcPts val="0"/>
              </a:spcAft>
            </a:pPr>
            <a:r>
              <a:rPr lang="en-US" sz="1100" b="0" i="0" noProof="0">
                <a:solidFill>
                  <a:srgbClr val="FFFFFF"/>
                </a:solidFill>
                <a:latin typeface="Arial" panose="020B0604020202020204" pitchFamily="34" charset="0"/>
                <a:cs typeface="Arial" panose="020B0604020202020204" pitchFamily="34" charset="0"/>
              </a:rPr>
              <a:t>Corporate absorbs regulatory volatility through PDD — but Word-doc intake and overlap between projects create duplication and rework</a:t>
            </a:r>
          </a:p>
        </p:txBody>
      </p:sp>
      <p:sp>
        <p:nvSpPr>
          <p:cNvPr id="50" name="Rectangle 134">
            <a:extLst>
              <a:ext uri="{FF2B5EF4-FFF2-40B4-BE49-F238E27FC236}">
                <a16:creationId xmlns:a16="http://schemas.microsoft.com/office/drawing/2014/main" id="{35F18D0E-6A44-E91D-C2C1-20F992002EAB}"/>
              </a:ext>
            </a:extLst>
          </p:cNvPr>
          <p:cNvSpPr/>
          <p:nvPr/>
        </p:nvSpPr>
        <p:spPr>
          <a:xfrm>
            <a:off x="457200" y="2440081"/>
            <a:ext cx="594360" cy="49377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1" name="TextBox 135">
            <a:extLst>
              <a:ext uri="{FF2B5EF4-FFF2-40B4-BE49-F238E27FC236}">
                <a16:creationId xmlns:a16="http://schemas.microsoft.com/office/drawing/2014/main" id="{E02A0C18-81D7-CE42-860A-F6117D1AFE7E}"/>
              </a:ext>
            </a:extLst>
          </p:cNvPr>
          <p:cNvSpPr txBox="1"/>
          <p:nvPr/>
        </p:nvSpPr>
        <p:spPr>
          <a:xfrm>
            <a:off x="457200" y="2513812"/>
            <a:ext cx="594360" cy="346313"/>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700" b="1" i="0" noProof="0">
                <a:solidFill>
                  <a:srgbClr val="FFFFFF"/>
                </a:solidFill>
                <a:latin typeface="Arial" panose="020B0604020202020204" pitchFamily="34" charset="0"/>
                <a:cs typeface="Arial" panose="020B0604020202020204" pitchFamily="34" charset="0"/>
              </a:rPr>
              <a:t>CHANNELS  ·  HOW IT ARRIVES</a:t>
            </a:r>
          </a:p>
        </p:txBody>
      </p:sp>
      <p:sp>
        <p:nvSpPr>
          <p:cNvPr id="52" name="Rectangle 146">
            <a:extLst>
              <a:ext uri="{FF2B5EF4-FFF2-40B4-BE49-F238E27FC236}">
                <a16:creationId xmlns:a16="http://schemas.microsoft.com/office/drawing/2014/main" id="{2FA040D4-C73F-F8BE-719D-758340EC47AB}"/>
              </a:ext>
            </a:extLst>
          </p:cNvPr>
          <p:cNvSpPr/>
          <p:nvPr/>
        </p:nvSpPr>
        <p:spPr>
          <a:xfrm>
            <a:off x="457200" y="2970433"/>
            <a:ext cx="594360" cy="49377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3" name="TextBox 147">
            <a:extLst>
              <a:ext uri="{FF2B5EF4-FFF2-40B4-BE49-F238E27FC236}">
                <a16:creationId xmlns:a16="http://schemas.microsoft.com/office/drawing/2014/main" id="{05708ABC-1B15-A049-1B04-67378C974B38}"/>
              </a:ext>
            </a:extLst>
          </p:cNvPr>
          <p:cNvSpPr txBox="1"/>
          <p:nvPr/>
        </p:nvSpPr>
        <p:spPr>
          <a:xfrm>
            <a:off x="457200" y="3162658"/>
            <a:ext cx="594360" cy="109325"/>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700" b="1" i="0" noProof="0">
                <a:solidFill>
                  <a:srgbClr val="FFFFFF"/>
                </a:solidFill>
                <a:latin typeface="Arial" panose="020B0604020202020204" pitchFamily="34" charset="0"/>
                <a:cs typeface="Arial" panose="020B0604020202020204" pitchFamily="34" charset="0"/>
              </a:rPr>
              <a:t>ROLES</a:t>
            </a:r>
          </a:p>
        </p:txBody>
      </p:sp>
      <p:sp>
        <p:nvSpPr>
          <p:cNvPr id="54" name="Rectangle 158">
            <a:extLst>
              <a:ext uri="{FF2B5EF4-FFF2-40B4-BE49-F238E27FC236}">
                <a16:creationId xmlns:a16="http://schemas.microsoft.com/office/drawing/2014/main" id="{7AFB2F9D-CF22-8068-A849-E330E754D0C2}"/>
              </a:ext>
            </a:extLst>
          </p:cNvPr>
          <p:cNvSpPr/>
          <p:nvPr/>
        </p:nvSpPr>
        <p:spPr>
          <a:xfrm>
            <a:off x="457200" y="3500785"/>
            <a:ext cx="594360" cy="49377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5" name="TextBox 159">
            <a:extLst>
              <a:ext uri="{FF2B5EF4-FFF2-40B4-BE49-F238E27FC236}">
                <a16:creationId xmlns:a16="http://schemas.microsoft.com/office/drawing/2014/main" id="{78F68509-38FB-E1B1-058C-D02E5E1B7207}"/>
              </a:ext>
            </a:extLst>
          </p:cNvPr>
          <p:cNvSpPr txBox="1"/>
          <p:nvPr/>
        </p:nvSpPr>
        <p:spPr>
          <a:xfrm>
            <a:off x="457200" y="3693010"/>
            <a:ext cx="594360" cy="109325"/>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700" b="1" i="0" noProof="0">
                <a:solidFill>
                  <a:srgbClr val="FFFFFF"/>
                </a:solidFill>
                <a:latin typeface="Arial" panose="020B0604020202020204" pitchFamily="34" charset="0"/>
                <a:cs typeface="Arial" panose="020B0604020202020204" pitchFamily="34" charset="0"/>
              </a:rPr>
              <a:t>TOOLS</a:t>
            </a:r>
          </a:p>
        </p:txBody>
      </p:sp>
      <p:sp>
        <p:nvSpPr>
          <p:cNvPr id="56" name="Rectangle 171">
            <a:extLst>
              <a:ext uri="{FF2B5EF4-FFF2-40B4-BE49-F238E27FC236}">
                <a16:creationId xmlns:a16="http://schemas.microsoft.com/office/drawing/2014/main" id="{27DC9C8D-995A-6F4F-34C8-6CF10C80E908}"/>
              </a:ext>
            </a:extLst>
          </p:cNvPr>
          <p:cNvSpPr/>
          <p:nvPr/>
        </p:nvSpPr>
        <p:spPr>
          <a:xfrm>
            <a:off x="457200" y="4031137"/>
            <a:ext cx="594360" cy="49377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7" name="TextBox 172">
            <a:extLst>
              <a:ext uri="{FF2B5EF4-FFF2-40B4-BE49-F238E27FC236}">
                <a16:creationId xmlns:a16="http://schemas.microsoft.com/office/drawing/2014/main" id="{3586A018-C47B-CB15-C1B1-5A8E0E09A13D}"/>
              </a:ext>
            </a:extLst>
          </p:cNvPr>
          <p:cNvSpPr txBox="1"/>
          <p:nvPr/>
        </p:nvSpPr>
        <p:spPr>
          <a:xfrm>
            <a:off x="457200" y="4180402"/>
            <a:ext cx="594360" cy="195246"/>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600" b="1" i="0" noProof="0">
                <a:solidFill>
                  <a:srgbClr val="FFFFFF"/>
                </a:solidFill>
                <a:latin typeface="Arial" panose="020B0604020202020204" pitchFamily="34" charset="0"/>
                <a:cs typeface="Arial" panose="020B0604020202020204" pitchFamily="34" charset="0"/>
              </a:rPr>
              <a:t>GOVERNANCE  &amp;  METRICS</a:t>
            </a:r>
          </a:p>
        </p:txBody>
      </p:sp>
      <p:sp>
        <p:nvSpPr>
          <p:cNvPr id="3" name="Rounded Rectangle 26">
            <a:extLst>
              <a:ext uri="{FF2B5EF4-FFF2-40B4-BE49-F238E27FC236}">
                <a16:creationId xmlns:a16="http://schemas.microsoft.com/office/drawing/2014/main" id="{34D311ED-B916-227D-B77F-7A96615983F1}"/>
              </a:ext>
            </a:extLst>
          </p:cNvPr>
          <p:cNvSpPr/>
          <p:nvPr/>
        </p:nvSpPr>
        <p:spPr>
          <a:xfrm>
            <a:off x="1624247" y="2186311"/>
            <a:ext cx="1097280" cy="182880"/>
          </a:xfrm>
          <a:prstGeom prst="round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 name="TextBox 133">
            <a:extLst>
              <a:ext uri="{FF2B5EF4-FFF2-40B4-BE49-F238E27FC236}">
                <a16:creationId xmlns:a16="http://schemas.microsoft.com/office/drawing/2014/main" id="{0CA241A5-AD5D-61E5-692A-FDEA3CE77A5B}"/>
              </a:ext>
            </a:extLst>
          </p:cNvPr>
          <p:cNvSpPr txBox="1"/>
          <p:nvPr/>
        </p:nvSpPr>
        <p:spPr>
          <a:xfrm>
            <a:off x="1637963" y="2202589"/>
            <a:ext cx="1097280" cy="139525"/>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noProof="0">
                <a:solidFill>
                  <a:srgbClr val="FFFFFF"/>
                </a:solidFill>
                <a:latin typeface="Arial" panose="020B0604020202020204" pitchFamily="34" charset="0"/>
                <a:cs typeface="Arial" panose="020B0604020202020204" pitchFamily="34" charset="0"/>
              </a:rPr>
              <a:t>PARTIAL</a:t>
            </a:r>
          </a:p>
        </p:txBody>
      </p:sp>
      <p:sp>
        <p:nvSpPr>
          <p:cNvPr id="9" name="Rounded Rectangle 26">
            <a:extLst>
              <a:ext uri="{FF2B5EF4-FFF2-40B4-BE49-F238E27FC236}">
                <a16:creationId xmlns:a16="http://schemas.microsoft.com/office/drawing/2014/main" id="{3BB00FD0-16F1-3B2D-3E43-0E9A79B4A059}"/>
              </a:ext>
            </a:extLst>
          </p:cNvPr>
          <p:cNvSpPr/>
          <p:nvPr/>
        </p:nvSpPr>
        <p:spPr>
          <a:xfrm>
            <a:off x="6112765" y="2194818"/>
            <a:ext cx="1097280" cy="182880"/>
          </a:xfrm>
          <a:prstGeom prst="round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2" name="TextBox 133">
            <a:extLst>
              <a:ext uri="{FF2B5EF4-FFF2-40B4-BE49-F238E27FC236}">
                <a16:creationId xmlns:a16="http://schemas.microsoft.com/office/drawing/2014/main" id="{CDFDB7A1-2C44-4862-3F45-8510E964BC22}"/>
              </a:ext>
            </a:extLst>
          </p:cNvPr>
          <p:cNvSpPr txBox="1"/>
          <p:nvPr/>
        </p:nvSpPr>
        <p:spPr>
          <a:xfrm>
            <a:off x="6126481" y="2211096"/>
            <a:ext cx="1097280" cy="139525"/>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noProof="0">
                <a:solidFill>
                  <a:srgbClr val="FFFFFF"/>
                </a:solidFill>
                <a:latin typeface="Arial" panose="020B0604020202020204" pitchFamily="34" charset="0"/>
                <a:cs typeface="Arial" panose="020B0604020202020204" pitchFamily="34" charset="0"/>
              </a:rPr>
              <a:t>PARTIAL</a:t>
            </a:r>
          </a:p>
        </p:txBody>
      </p:sp>
      <p:sp>
        <p:nvSpPr>
          <p:cNvPr id="39" name="Rounded Rectangle 26">
            <a:extLst>
              <a:ext uri="{FF2B5EF4-FFF2-40B4-BE49-F238E27FC236}">
                <a16:creationId xmlns:a16="http://schemas.microsoft.com/office/drawing/2014/main" id="{9AEAB0B6-A114-8D89-EE2E-D543E8B5532B}"/>
              </a:ext>
            </a:extLst>
          </p:cNvPr>
          <p:cNvSpPr/>
          <p:nvPr/>
        </p:nvSpPr>
        <p:spPr>
          <a:xfrm>
            <a:off x="10341062" y="2194586"/>
            <a:ext cx="1097280" cy="182880"/>
          </a:xfrm>
          <a:prstGeom prst="round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0" name="TextBox 133">
            <a:extLst>
              <a:ext uri="{FF2B5EF4-FFF2-40B4-BE49-F238E27FC236}">
                <a16:creationId xmlns:a16="http://schemas.microsoft.com/office/drawing/2014/main" id="{B4D5AD42-2812-4ED8-E2DE-6581C6FAAAF6}"/>
              </a:ext>
            </a:extLst>
          </p:cNvPr>
          <p:cNvSpPr txBox="1"/>
          <p:nvPr/>
        </p:nvSpPr>
        <p:spPr>
          <a:xfrm>
            <a:off x="10354778" y="2210864"/>
            <a:ext cx="1097280" cy="139525"/>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noProof="0">
                <a:solidFill>
                  <a:srgbClr val="FFFFFF"/>
                </a:solidFill>
                <a:latin typeface="Arial" panose="020B0604020202020204" pitchFamily="34" charset="0"/>
                <a:cs typeface="Arial" panose="020B0604020202020204" pitchFamily="34" charset="0"/>
              </a:rPr>
              <a:t>PARTIAL</a:t>
            </a:r>
          </a:p>
        </p:txBody>
      </p:sp>
      <p:sp>
        <p:nvSpPr>
          <p:cNvPr id="22" name="Rounded Rectangle 18">
            <a:extLst>
              <a:ext uri="{FF2B5EF4-FFF2-40B4-BE49-F238E27FC236}">
                <a16:creationId xmlns:a16="http://schemas.microsoft.com/office/drawing/2014/main" id="{993DB448-FF54-7F2F-3FA3-2F3D43EF69F1}"/>
              </a:ext>
            </a:extLst>
          </p:cNvPr>
          <p:cNvSpPr/>
          <p:nvPr/>
        </p:nvSpPr>
        <p:spPr>
          <a:xfrm>
            <a:off x="3846239" y="2190196"/>
            <a:ext cx="1097280" cy="182880"/>
          </a:xfr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26" name="Rounded Rectangle 26">
            <a:extLst>
              <a:ext uri="{FF2B5EF4-FFF2-40B4-BE49-F238E27FC236}">
                <a16:creationId xmlns:a16="http://schemas.microsoft.com/office/drawing/2014/main" id="{F9B62043-67FC-7516-C960-36FBB731A2A6}"/>
              </a:ext>
            </a:extLst>
          </p:cNvPr>
          <p:cNvSpPr/>
          <p:nvPr/>
        </p:nvSpPr>
        <p:spPr>
          <a:xfrm>
            <a:off x="3882815" y="2186680"/>
            <a:ext cx="1097280" cy="182880"/>
          </a:xfrm>
          <a:prstGeom prst="round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0" name="TextBox 133">
            <a:extLst>
              <a:ext uri="{FF2B5EF4-FFF2-40B4-BE49-F238E27FC236}">
                <a16:creationId xmlns:a16="http://schemas.microsoft.com/office/drawing/2014/main" id="{F2297C7A-4AE9-139A-222E-410080C287A8}"/>
              </a:ext>
            </a:extLst>
          </p:cNvPr>
          <p:cNvSpPr txBox="1"/>
          <p:nvPr/>
        </p:nvSpPr>
        <p:spPr>
          <a:xfrm>
            <a:off x="3896531" y="2202958"/>
            <a:ext cx="1097280" cy="139525"/>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noProof="0">
                <a:solidFill>
                  <a:srgbClr val="FFFFFF"/>
                </a:solidFill>
                <a:latin typeface="Arial" panose="020B0604020202020204" pitchFamily="34" charset="0"/>
                <a:cs typeface="Arial" panose="020B0604020202020204" pitchFamily="34" charset="0"/>
              </a:rPr>
              <a:t>PARTIAL</a:t>
            </a:r>
          </a:p>
        </p:txBody>
      </p:sp>
      <p:sp>
        <p:nvSpPr>
          <p:cNvPr id="34" name="Rounded Rectangle 26">
            <a:extLst>
              <a:ext uri="{FF2B5EF4-FFF2-40B4-BE49-F238E27FC236}">
                <a16:creationId xmlns:a16="http://schemas.microsoft.com/office/drawing/2014/main" id="{E42D5D8C-F6F6-3988-0F2D-BCCA4DC7A49D}"/>
              </a:ext>
            </a:extLst>
          </p:cNvPr>
          <p:cNvSpPr/>
          <p:nvPr/>
        </p:nvSpPr>
        <p:spPr>
          <a:xfrm>
            <a:off x="8253234" y="2190059"/>
            <a:ext cx="1097280" cy="182880"/>
          </a:xfr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38" name="Rounded Rectangle 26">
            <a:extLst>
              <a:ext uri="{FF2B5EF4-FFF2-40B4-BE49-F238E27FC236}">
                <a16:creationId xmlns:a16="http://schemas.microsoft.com/office/drawing/2014/main" id="{42FD9D4D-11FE-3E69-75DB-81C0038CB801}"/>
              </a:ext>
            </a:extLst>
          </p:cNvPr>
          <p:cNvSpPr/>
          <p:nvPr/>
        </p:nvSpPr>
        <p:spPr>
          <a:xfrm>
            <a:off x="8311736" y="2186311"/>
            <a:ext cx="1097280" cy="182880"/>
          </a:xfrm>
          <a:prstGeom prst="round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62" name="TextBox 133">
            <a:extLst>
              <a:ext uri="{FF2B5EF4-FFF2-40B4-BE49-F238E27FC236}">
                <a16:creationId xmlns:a16="http://schemas.microsoft.com/office/drawing/2014/main" id="{05898599-1512-EF09-E41F-F67C045FEA05}"/>
              </a:ext>
            </a:extLst>
          </p:cNvPr>
          <p:cNvSpPr txBox="1"/>
          <p:nvPr/>
        </p:nvSpPr>
        <p:spPr>
          <a:xfrm>
            <a:off x="8325452" y="2202589"/>
            <a:ext cx="1097280" cy="139525"/>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noProof="0">
                <a:solidFill>
                  <a:srgbClr val="FFFFFF"/>
                </a:solidFill>
                <a:latin typeface="Arial" panose="020B0604020202020204" pitchFamily="34" charset="0"/>
                <a:cs typeface="Arial" panose="020B0604020202020204" pitchFamily="34" charset="0"/>
              </a:rPr>
              <a:t>PARTIAL</a:t>
            </a:r>
          </a:p>
        </p:txBody>
      </p:sp>
      <p:sp>
        <p:nvSpPr>
          <p:cNvPr id="14" name="Rectangle: Rounded Corners 18">
            <a:extLst>
              <a:ext uri="{FF2B5EF4-FFF2-40B4-BE49-F238E27FC236}">
                <a16:creationId xmlns:a16="http://schemas.microsoft.com/office/drawing/2014/main" id="{214F93BB-37FB-6C22-1095-FAD45926AD39}"/>
              </a:ext>
            </a:extLst>
          </p:cNvPr>
          <p:cNvSpPr/>
          <p:nvPr/>
        </p:nvSpPr>
        <p:spPr>
          <a:xfrm>
            <a:off x="7039633" y="186528"/>
            <a:ext cx="1668780" cy="343539"/>
          </a:xfrm>
          <a:prstGeom prst="roundRect">
            <a:avLst/>
          </a:prstGeom>
          <a:solidFill>
            <a:schemeClr val="accent3"/>
          </a:solid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a:t>IT Business Apps</a:t>
            </a:r>
          </a:p>
        </p:txBody>
      </p:sp>
      <p:sp>
        <p:nvSpPr>
          <p:cNvPr id="33" name="Rectangle: Rounded Corners 25">
            <a:extLst>
              <a:ext uri="{FF2B5EF4-FFF2-40B4-BE49-F238E27FC236}">
                <a16:creationId xmlns:a16="http://schemas.microsoft.com/office/drawing/2014/main" id="{8DD246C1-99AE-1B8B-298A-131BF474A84B}"/>
              </a:ext>
            </a:extLst>
          </p:cNvPr>
          <p:cNvSpPr/>
          <p:nvPr/>
        </p:nvSpPr>
        <p:spPr>
          <a:xfrm>
            <a:off x="8771785" y="186528"/>
            <a:ext cx="1668780" cy="343539"/>
          </a:xfrm>
          <a:prstGeom prst="roundRect">
            <a:avLst/>
          </a:prstGeom>
          <a:solidFill>
            <a:schemeClr val="accent4">
              <a:lumMod val="75000"/>
            </a:schemeClr>
          </a:solidFill>
          <a:ln>
            <a:solidFill>
              <a:schemeClr val="accent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a:solidFill>
                  <a:schemeClr val="bg1">
                    <a:lumMod val="85000"/>
                  </a:schemeClr>
                </a:solidFill>
              </a:rPr>
              <a:t>Customer Services Apps</a:t>
            </a:r>
          </a:p>
        </p:txBody>
      </p:sp>
    </p:spTree>
    <p:extLst>
      <p:ext uri="{BB962C8B-B14F-4D97-AF65-F5344CB8AC3E}">
        <p14:creationId xmlns:p14="http://schemas.microsoft.com/office/powerpoint/2010/main" val="18635039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FED9D-2EA8-257F-31B9-C6395F64A0B2}"/>
            </a:ext>
          </a:extLst>
        </p:cNvPr>
        <p:cNvGrpSpPr/>
        <p:nvPr/>
      </p:nvGrpSpPr>
      <p:grpSpPr>
        <a:xfrm>
          <a:off x="0" y="0"/>
          <a:ext cx="0" cy="0"/>
          <a:chOff x="0" y="0"/>
          <a:chExt cx="0" cy="0"/>
        </a:xfrm>
      </p:grpSpPr>
      <p:sp>
        <p:nvSpPr>
          <p:cNvPr id="238" name="TextBox 2">
            <a:extLst>
              <a:ext uri="{FF2B5EF4-FFF2-40B4-BE49-F238E27FC236}">
                <a16:creationId xmlns:a16="http://schemas.microsoft.com/office/drawing/2014/main" id="{D143211E-BF3A-7F32-6B0A-6A8D18BCC5D9}"/>
              </a:ext>
            </a:extLst>
          </p:cNvPr>
          <p:cNvSpPr txBox="1"/>
          <p:nvPr/>
        </p:nvSpPr>
        <p:spPr>
          <a:xfrm>
            <a:off x="449730" y="964799"/>
            <a:ext cx="11463124" cy="523220"/>
          </a:xfrm>
          <a:prstGeom prst="rect">
            <a:avLst/>
          </a:prstGeom>
          <a:noFill/>
        </p:spPr>
        <p:txBody>
          <a:bodyPr wrap="square" lIns="0" tIns="0" rIns="0" bIns="0" rtlCol="0">
            <a:noAutofit/>
          </a:bodyPr>
          <a:lstStyle>
            <a:defPPr>
              <a:defRPr lang="en-US"/>
            </a:defPPr>
            <a:lvl1pPr algn="just">
              <a:defRPr sz="1400" b="1">
                <a:solidFill>
                  <a:schemeClr val="accent4">
                    <a:lumMod val="75000"/>
                  </a:schemeClr>
                </a:solidFill>
                <a:latin typeface="Arial" panose="020B0604020202020204" pitchFamily="34" charset="0"/>
                <a:cs typeface="Arial" panose="020B0604020202020204" pitchFamily="34" charset="0"/>
              </a:defRPr>
            </a:lvl1pPr>
            <a:lvl2pPr marL="228586" algn="l" rtl="0" eaLnBrk="0" fontAlgn="base" hangingPunct="0">
              <a:spcBef>
                <a:spcPct val="0"/>
              </a:spcBef>
              <a:spcAft>
                <a:spcPct val="0"/>
              </a:spcAft>
              <a:defRPr kern="1200">
                <a:solidFill>
                  <a:schemeClr val="tx1"/>
                </a:solidFill>
                <a:latin typeface="Arial" pitchFamily="2" charset="77"/>
                <a:ea typeface="+mn-ea"/>
                <a:cs typeface="+mn-cs"/>
              </a:defRPr>
            </a:lvl2pPr>
            <a:lvl3pPr marL="457172" algn="l" rtl="0" eaLnBrk="0" fontAlgn="base" hangingPunct="0">
              <a:spcBef>
                <a:spcPct val="0"/>
              </a:spcBef>
              <a:spcAft>
                <a:spcPct val="0"/>
              </a:spcAft>
              <a:defRPr kern="1200">
                <a:solidFill>
                  <a:schemeClr val="tx1"/>
                </a:solidFill>
                <a:latin typeface="Arial" pitchFamily="2" charset="77"/>
                <a:ea typeface="+mn-ea"/>
                <a:cs typeface="+mn-cs"/>
              </a:defRPr>
            </a:lvl3pPr>
            <a:lvl4pPr marL="685757" algn="l" rtl="0" eaLnBrk="0" fontAlgn="base" hangingPunct="0">
              <a:spcBef>
                <a:spcPct val="0"/>
              </a:spcBef>
              <a:spcAft>
                <a:spcPct val="0"/>
              </a:spcAft>
              <a:defRPr kern="1200">
                <a:solidFill>
                  <a:schemeClr val="tx1"/>
                </a:solidFill>
                <a:latin typeface="Arial" pitchFamily="2" charset="77"/>
                <a:ea typeface="+mn-ea"/>
                <a:cs typeface="+mn-cs"/>
              </a:defRPr>
            </a:lvl4pPr>
            <a:lvl5pPr marL="914343" algn="l" rtl="0" eaLnBrk="0" fontAlgn="base" hangingPunct="0">
              <a:spcBef>
                <a:spcPct val="0"/>
              </a:spcBef>
              <a:spcAft>
                <a:spcPct val="0"/>
              </a:spcAft>
              <a:defRPr kern="1200">
                <a:solidFill>
                  <a:schemeClr val="tx1"/>
                </a:solidFill>
                <a:latin typeface="Arial" pitchFamily="2" charset="77"/>
                <a:ea typeface="+mn-ea"/>
                <a:cs typeface="+mn-cs"/>
              </a:defRPr>
            </a:lvl5pPr>
            <a:lvl6pPr marL="1142929" algn="l" defTabSz="457172" rtl="0" eaLnBrk="1" latinLnBrk="0" hangingPunct="1">
              <a:defRPr kern="1200">
                <a:solidFill>
                  <a:schemeClr val="tx1"/>
                </a:solidFill>
                <a:latin typeface="Arial" pitchFamily="2" charset="77"/>
                <a:ea typeface="+mn-ea"/>
                <a:cs typeface="+mn-cs"/>
              </a:defRPr>
            </a:lvl6pPr>
            <a:lvl7pPr marL="1371515" algn="l" defTabSz="457172" rtl="0" eaLnBrk="1" latinLnBrk="0" hangingPunct="1">
              <a:defRPr kern="1200">
                <a:solidFill>
                  <a:schemeClr val="tx1"/>
                </a:solidFill>
                <a:latin typeface="Arial" pitchFamily="2" charset="77"/>
                <a:ea typeface="+mn-ea"/>
                <a:cs typeface="+mn-cs"/>
              </a:defRPr>
            </a:lvl7pPr>
            <a:lvl8pPr marL="1600100" algn="l" defTabSz="457172" rtl="0" eaLnBrk="1" latinLnBrk="0" hangingPunct="1">
              <a:defRPr kern="1200">
                <a:solidFill>
                  <a:schemeClr val="tx1"/>
                </a:solidFill>
                <a:latin typeface="Arial" pitchFamily="2" charset="77"/>
                <a:ea typeface="+mn-ea"/>
                <a:cs typeface="+mn-cs"/>
              </a:defRPr>
            </a:lvl8pPr>
            <a:lvl9pPr marL="1828686" algn="l" defTabSz="457172" rtl="0" eaLnBrk="1" latinLnBrk="0" hangingPunct="1">
              <a:defRPr kern="1200">
                <a:solidFill>
                  <a:schemeClr val="tx1"/>
                </a:solidFill>
                <a:latin typeface="Arial" pitchFamily="2" charset="77"/>
                <a:ea typeface="+mn-ea"/>
                <a:cs typeface="+mn-cs"/>
              </a:defRPr>
            </a:lvl9pPr>
          </a:lstStyle>
          <a:p>
            <a:r>
              <a:rPr lang="en-US" noProof="0"/>
              <a:t>G&amp;E is the only area with NO formal digital intake — every request arrives via email from business or vendor</a:t>
            </a:r>
          </a:p>
          <a:p>
            <a:endParaRPr lang="en-US" noProof="0"/>
          </a:p>
        </p:txBody>
      </p:sp>
      <p:sp>
        <p:nvSpPr>
          <p:cNvPr id="5" name="Título 2">
            <a:extLst>
              <a:ext uri="{FF2B5EF4-FFF2-40B4-BE49-F238E27FC236}">
                <a16:creationId xmlns:a16="http://schemas.microsoft.com/office/drawing/2014/main" id="{3ECCDA13-9E9F-4A59-4E2B-B512B1532B19}"/>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r>
              <a:rPr lang="en-US" sz="2400" noProof="0">
                <a:latin typeface="Arial" panose="020B0604020202020204" pitchFamily="34" charset="0"/>
                <a:cs typeface="Arial" panose="020B0604020202020204" pitchFamily="34" charset="0"/>
              </a:rPr>
              <a:t>CURRENT STATE ANALYSIS</a:t>
            </a:r>
          </a:p>
          <a:p>
            <a:r>
              <a:rPr lang="en-US" sz="1200" noProof="0">
                <a:latin typeface="Arial" panose="020B0604020202020204" pitchFamily="34" charset="0"/>
                <a:cs typeface="Arial" panose="020B0604020202020204" pitchFamily="34" charset="0"/>
              </a:rPr>
              <a:t>VALUE STREAM MAPPING - DEMAND FLOW</a:t>
            </a:r>
          </a:p>
        </p:txBody>
      </p:sp>
      <p:sp>
        <p:nvSpPr>
          <p:cNvPr id="2" name="Rectangle 28">
            <a:extLst>
              <a:ext uri="{FF2B5EF4-FFF2-40B4-BE49-F238E27FC236}">
                <a16:creationId xmlns:a16="http://schemas.microsoft.com/office/drawing/2014/main" id="{5A7A5CD1-1CBA-D506-4BE0-4BF4D808EA97}"/>
              </a:ext>
            </a:extLst>
          </p:cNvPr>
          <p:cNvSpPr/>
          <p:nvPr/>
        </p:nvSpPr>
        <p:spPr>
          <a:xfrm>
            <a:off x="-561976" y="1891049"/>
            <a:ext cx="504913" cy="354411"/>
          </a:xfrm>
          <a:prstGeom prst="rect">
            <a:avLst/>
          </a:prstGeom>
          <a:solidFill>
            <a:srgbClr val="0DA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6" name="Rectangle 40">
            <a:extLst>
              <a:ext uri="{FF2B5EF4-FFF2-40B4-BE49-F238E27FC236}">
                <a16:creationId xmlns:a16="http://schemas.microsoft.com/office/drawing/2014/main" id="{D1903AEA-6D85-6552-7D9E-B9D808EF9F7C}"/>
              </a:ext>
            </a:extLst>
          </p:cNvPr>
          <p:cNvSpPr/>
          <p:nvPr/>
        </p:nvSpPr>
        <p:spPr>
          <a:xfrm>
            <a:off x="-561976" y="1450050"/>
            <a:ext cx="504913" cy="354411"/>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7" name="Rectangle 52">
            <a:extLst>
              <a:ext uri="{FF2B5EF4-FFF2-40B4-BE49-F238E27FC236}">
                <a16:creationId xmlns:a16="http://schemas.microsoft.com/office/drawing/2014/main" id="{CC23CE03-D4AC-BC11-1084-3DB543BB45DB}"/>
              </a:ext>
            </a:extLst>
          </p:cNvPr>
          <p:cNvSpPr/>
          <p:nvPr/>
        </p:nvSpPr>
        <p:spPr>
          <a:xfrm>
            <a:off x="-561976" y="1009051"/>
            <a:ext cx="504913" cy="354411"/>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8" name="Rectangle 64">
            <a:extLst>
              <a:ext uri="{FF2B5EF4-FFF2-40B4-BE49-F238E27FC236}">
                <a16:creationId xmlns:a16="http://schemas.microsoft.com/office/drawing/2014/main" id="{E7CB9535-62D7-8EC3-757D-A6E470376174}"/>
              </a:ext>
            </a:extLst>
          </p:cNvPr>
          <p:cNvSpPr/>
          <p:nvPr/>
        </p:nvSpPr>
        <p:spPr>
          <a:xfrm>
            <a:off x="-561976" y="2332048"/>
            <a:ext cx="504913" cy="354411"/>
          </a:xfrm>
          <a:prstGeom prst="rect">
            <a:avLst/>
          </a:prstGeom>
          <a:solidFill>
            <a:schemeClr val="accent6">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0" name="Rectangle 64">
            <a:extLst>
              <a:ext uri="{FF2B5EF4-FFF2-40B4-BE49-F238E27FC236}">
                <a16:creationId xmlns:a16="http://schemas.microsoft.com/office/drawing/2014/main" id="{339F2759-0F6D-6A4D-169B-0D1F40937D7E}"/>
              </a:ext>
            </a:extLst>
          </p:cNvPr>
          <p:cNvSpPr/>
          <p:nvPr/>
        </p:nvSpPr>
        <p:spPr>
          <a:xfrm>
            <a:off x="-561976" y="2773047"/>
            <a:ext cx="504913" cy="354411"/>
          </a:xfrm>
          <a:prstGeom prst="rect">
            <a:avLst/>
          </a:prstGeom>
          <a:solidFill>
            <a:srgbClr val="00A4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1" name="Rectangle 64">
            <a:extLst>
              <a:ext uri="{FF2B5EF4-FFF2-40B4-BE49-F238E27FC236}">
                <a16:creationId xmlns:a16="http://schemas.microsoft.com/office/drawing/2014/main" id="{DDBB6CD5-EF81-F715-DF6F-804D5253FAAC}"/>
              </a:ext>
            </a:extLst>
          </p:cNvPr>
          <p:cNvSpPr/>
          <p:nvPr/>
        </p:nvSpPr>
        <p:spPr>
          <a:xfrm>
            <a:off x="-561976" y="3214046"/>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3" name="Rectangle 64">
            <a:extLst>
              <a:ext uri="{FF2B5EF4-FFF2-40B4-BE49-F238E27FC236}">
                <a16:creationId xmlns:a16="http://schemas.microsoft.com/office/drawing/2014/main" id="{10E9D4F1-B244-44FC-5B3A-FCE7EA3F5FC1}"/>
              </a:ext>
            </a:extLst>
          </p:cNvPr>
          <p:cNvSpPr/>
          <p:nvPr/>
        </p:nvSpPr>
        <p:spPr>
          <a:xfrm>
            <a:off x="-561976" y="3655047"/>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86CF05F2-2EB7-8922-1CE5-7FC26F7AAF6B}"/>
              </a:ext>
            </a:extLst>
          </p:cNvPr>
          <p:cNvSpPr/>
          <p:nvPr/>
        </p:nvSpPr>
        <p:spPr>
          <a:xfrm>
            <a:off x="449729" y="1407414"/>
            <a:ext cx="11274552"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64C5AD15-F031-7BE2-F9A0-7770B287C555}"/>
              </a:ext>
            </a:extLst>
          </p:cNvPr>
          <p:cNvSpPr/>
          <p:nvPr/>
        </p:nvSpPr>
        <p:spPr>
          <a:xfrm>
            <a:off x="449729" y="1407414"/>
            <a:ext cx="1828800" cy="274320"/>
          </a:xfrm>
          <a:prstGeom prst="rect">
            <a:avLst/>
          </a:prstGeom>
          <a:solidFill>
            <a:schemeClr val="accent4">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solidFill>
                <a:schemeClr val="tx1"/>
              </a:solidFill>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E3A2D6F2-F52A-7792-9D21-3DCD47D7A69F}"/>
              </a:ext>
            </a:extLst>
          </p:cNvPr>
          <p:cNvSpPr txBox="1"/>
          <p:nvPr/>
        </p:nvSpPr>
        <p:spPr>
          <a:xfrm>
            <a:off x="449729" y="1474330"/>
            <a:ext cx="1828800" cy="140488"/>
          </a:xfrm>
          <a:prstGeom prst="rect">
            <a:avLst/>
          </a:prstGeom>
          <a:solidFill>
            <a:schemeClr val="accent4">
              <a:lumMod val="20000"/>
              <a:lumOff val="80000"/>
            </a:schemeClr>
          </a:solidFill>
        </p:spPr>
        <p:txBody>
          <a:bodyPr wrap="square" lIns="0" tIns="0" rIns="0" bIns="0" anchor="ctr">
            <a:spAutoFit/>
          </a:bodyPr>
          <a:lstStyle/>
          <a:p>
            <a:pPr algn="ctr">
              <a:lnSpc>
                <a:spcPct val="110000"/>
              </a:lnSpc>
              <a:spcBef>
                <a:spcPts val="0"/>
              </a:spcBef>
              <a:spcAft>
                <a:spcPts val="0"/>
              </a:spcAft>
            </a:pPr>
            <a:r>
              <a:rPr lang="en-US" sz="900" b="1" i="0" noProof="0">
                <a:latin typeface="Arial" panose="020B0604020202020204" pitchFamily="34" charset="0"/>
                <a:cs typeface="Arial" panose="020B0604020202020204" pitchFamily="34" charset="0"/>
              </a:rPr>
              <a:t>BUSINESS REQUESTERS</a:t>
            </a:r>
          </a:p>
        </p:txBody>
      </p:sp>
      <p:sp>
        <p:nvSpPr>
          <p:cNvPr id="50" name="TextBox 49">
            <a:extLst>
              <a:ext uri="{FF2B5EF4-FFF2-40B4-BE49-F238E27FC236}">
                <a16:creationId xmlns:a16="http://schemas.microsoft.com/office/drawing/2014/main" id="{BB884429-AF98-E560-2B15-5764BB2A0199}"/>
              </a:ext>
            </a:extLst>
          </p:cNvPr>
          <p:cNvSpPr txBox="1"/>
          <p:nvPr/>
        </p:nvSpPr>
        <p:spPr>
          <a:xfrm>
            <a:off x="2369969" y="1474330"/>
            <a:ext cx="9281160" cy="140488"/>
          </a:xfrm>
          <a:prstGeom prst="rect">
            <a:avLst/>
          </a:prstGeom>
          <a:solidFill>
            <a:schemeClr val="accent1"/>
          </a:solidFill>
        </p:spPr>
        <p:txBody>
          <a:bodyPr wrap="square" lIns="0" tIns="0" rIns="0" bIns="0" anchor="ctr">
            <a:spAutoFit/>
          </a:bodyPr>
          <a:lstStyle/>
          <a:p>
            <a:r>
              <a:rPr lang="en-US" sz="900" noProof="0">
                <a:solidFill>
                  <a:schemeClr val="bg1"/>
                </a:solidFill>
                <a:latin typeface="Arial" panose="020B0604020202020204" pitchFamily="34" charset="0"/>
                <a:cs typeface="Arial" panose="020B0604020202020204" pitchFamily="34" charset="0"/>
              </a:rPr>
              <a:t>Electric &amp; Gas Operations · Field Services · Outage Management · Regulatory</a:t>
            </a:r>
          </a:p>
        </p:txBody>
      </p:sp>
      <p:sp>
        <p:nvSpPr>
          <p:cNvPr id="51" name="Rectangle 50">
            <a:extLst>
              <a:ext uri="{FF2B5EF4-FFF2-40B4-BE49-F238E27FC236}">
                <a16:creationId xmlns:a16="http://schemas.microsoft.com/office/drawing/2014/main" id="{18F5DBAC-ED27-4C16-73C6-6E26D4F6B7A6}"/>
              </a:ext>
            </a:extLst>
          </p:cNvPr>
          <p:cNvSpPr/>
          <p:nvPr/>
        </p:nvSpPr>
        <p:spPr>
          <a:xfrm>
            <a:off x="1089809" y="1791462"/>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2" name="TextBox 51">
            <a:extLst>
              <a:ext uri="{FF2B5EF4-FFF2-40B4-BE49-F238E27FC236}">
                <a16:creationId xmlns:a16="http://schemas.microsoft.com/office/drawing/2014/main" id="{F913F196-15F7-A63A-7EF3-184FAB7EF2B2}"/>
              </a:ext>
            </a:extLst>
          </p:cNvPr>
          <p:cNvSpPr txBox="1"/>
          <p:nvPr/>
        </p:nvSpPr>
        <p:spPr>
          <a:xfrm>
            <a:off x="1097280" y="1871486"/>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01 INTAKE</a:t>
            </a:r>
          </a:p>
        </p:txBody>
      </p:sp>
      <p:sp>
        <p:nvSpPr>
          <p:cNvPr id="53" name="Rounded Rectangle 10">
            <a:extLst>
              <a:ext uri="{FF2B5EF4-FFF2-40B4-BE49-F238E27FC236}">
                <a16:creationId xmlns:a16="http://schemas.microsoft.com/office/drawing/2014/main" id="{102FCF10-AAF6-76B7-316E-96D36CFEBCF1}"/>
              </a:ext>
            </a:extLst>
          </p:cNvPr>
          <p:cNvSpPr/>
          <p:nvPr/>
        </p:nvSpPr>
        <p:spPr>
          <a:xfrm>
            <a:off x="1624733" y="2193798"/>
            <a:ext cx="1097280" cy="182880"/>
          </a:xfr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5" name="Rectangle 54">
            <a:extLst>
              <a:ext uri="{FF2B5EF4-FFF2-40B4-BE49-F238E27FC236}">
                <a16:creationId xmlns:a16="http://schemas.microsoft.com/office/drawing/2014/main" id="{9AA80BDD-0C43-2B35-C7AC-61CB53A7A85B}"/>
              </a:ext>
            </a:extLst>
          </p:cNvPr>
          <p:cNvSpPr/>
          <p:nvPr/>
        </p:nvSpPr>
        <p:spPr>
          <a:xfrm>
            <a:off x="3311801" y="1791462"/>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6" name="TextBox 55">
            <a:extLst>
              <a:ext uri="{FF2B5EF4-FFF2-40B4-BE49-F238E27FC236}">
                <a16:creationId xmlns:a16="http://schemas.microsoft.com/office/drawing/2014/main" id="{E31D4F7E-4DAB-541D-D368-8980D9BFC4EE}"/>
              </a:ext>
            </a:extLst>
          </p:cNvPr>
          <p:cNvSpPr txBox="1"/>
          <p:nvPr/>
        </p:nvSpPr>
        <p:spPr>
          <a:xfrm>
            <a:off x="3311801" y="1871486"/>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02 CLASSIFICATION</a:t>
            </a:r>
          </a:p>
        </p:txBody>
      </p:sp>
      <p:sp>
        <p:nvSpPr>
          <p:cNvPr id="57" name="Rounded Rectangle 14">
            <a:extLst>
              <a:ext uri="{FF2B5EF4-FFF2-40B4-BE49-F238E27FC236}">
                <a16:creationId xmlns:a16="http://schemas.microsoft.com/office/drawing/2014/main" id="{449FD437-98F7-7CA8-2930-7F8DF5ABAD19}"/>
              </a:ext>
            </a:extLst>
          </p:cNvPr>
          <p:cNvSpPr/>
          <p:nvPr/>
        </p:nvSpPr>
        <p:spPr>
          <a:xfrm>
            <a:off x="3846725" y="2193798"/>
            <a:ext cx="1097280" cy="182880"/>
          </a:xfr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9" name="Rectangle 58">
            <a:extLst>
              <a:ext uri="{FF2B5EF4-FFF2-40B4-BE49-F238E27FC236}">
                <a16:creationId xmlns:a16="http://schemas.microsoft.com/office/drawing/2014/main" id="{AF316E95-1325-E8C3-1C07-AB98EFA193B5}"/>
              </a:ext>
            </a:extLst>
          </p:cNvPr>
          <p:cNvSpPr/>
          <p:nvPr/>
        </p:nvSpPr>
        <p:spPr>
          <a:xfrm>
            <a:off x="5533793" y="1791462"/>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60" name="TextBox 59">
            <a:extLst>
              <a:ext uri="{FF2B5EF4-FFF2-40B4-BE49-F238E27FC236}">
                <a16:creationId xmlns:a16="http://schemas.microsoft.com/office/drawing/2014/main" id="{A0131B8E-3F3D-5366-BDC5-F45DF7D374BD}"/>
              </a:ext>
            </a:extLst>
          </p:cNvPr>
          <p:cNvSpPr txBox="1"/>
          <p:nvPr/>
        </p:nvSpPr>
        <p:spPr>
          <a:xfrm>
            <a:off x="5533793" y="1871486"/>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03 PRIORITIZATION</a:t>
            </a:r>
          </a:p>
        </p:txBody>
      </p:sp>
      <p:sp>
        <p:nvSpPr>
          <p:cNvPr id="61" name="Rounded Rectangle 18">
            <a:extLst>
              <a:ext uri="{FF2B5EF4-FFF2-40B4-BE49-F238E27FC236}">
                <a16:creationId xmlns:a16="http://schemas.microsoft.com/office/drawing/2014/main" id="{0C19F86D-168A-AC54-8C15-7DAA9AC86E27}"/>
              </a:ext>
            </a:extLst>
          </p:cNvPr>
          <p:cNvSpPr/>
          <p:nvPr/>
        </p:nvSpPr>
        <p:spPr>
          <a:xfrm>
            <a:off x="6068717" y="2193798"/>
            <a:ext cx="1097280" cy="182880"/>
          </a:xfr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63" name="Rectangle 62">
            <a:extLst>
              <a:ext uri="{FF2B5EF4-FFF2-40B4-BE49-F238E27FC236}">
                <a16:creationId xmlns:a16="http://schemas.microsoft.com/office/drawing/2014/main" id="{9EFB0CCF-B032-68EA-E97C-BC2B533093CE}"/>
              </a:ext>
            </a:extLst>
          </p:cNvPr>
          <p:cNvSpPr/>
          <p:nvPr/>
        </p:nvSpPr>
        <p:spPr>
          <a:xfrm>
            <a:off x="7755785" y="1791462"/>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28" name="TextBox 127">
            <a:extLst>
              <a:ext uri="{FF2B5EF4-FFF2-40B4-BE49-F238E27FC236}">
                <a16:creationId xmlns:a16="http://schemas.microsoft.com/office/drawing/2014/main" id="{223EBDE4-92E7-59ED-9B2C-5F83528773AB}"/>
              </a:ext>
            </a:extLst>
          </p:cNvPr>
          <p:cNvSpPr txBox="1"/>
          <p:nvPr/>
        </p:nvSpPr>
        <p:spPr>
          <a:xfrm>
            <a:off x="7755785" y="1871486"/>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04 PORTFOLIO</a:t>
            </a:r>
          </a:p>
        </p:txBody>
      </p:sp>
      <p:sp>
        <p:nvSpPr>
          <p:cNvPr id="129" name="Rounded Rectangle 22">
            <a:extLst>
              <a:ext uri="{FF2B5EF4-FFF2-40B4-BE49-F238E27FC236}">
                <a16:creationId xmlns:a16="http://schemas.microsoft.com/office/drawing/2014/main" id="{4DAAC219-F10A-61B5-8EF4-B1CBFC55E2FE}"/>
              </a:ext>
            </a:extLst>
          </p:cNvPr>
          <p:cNvSpPr/>
          <p:nvPr/>
        </p:nvSpPr>
        <p:spPr>
          <a:xfrm>
            <a:off x="8290709" y="2193798"/>
            <a:ext cx="1097280" cy="182880"/>
          </a:xfr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31" name="Rectangle 130">
            <a:extLst>
              <a:ext uri="{FF2B5EF4-FFF2-40B4-BE49-F238E27FC236}">
                <a16:creationId xmlns:a16="http://schemas.microsoft.com/office/drawing/2014/main" id="{CE3AB5D2-91CA-55DB-113A-BF938B0C2130}"/>
              </a:ext>
            </a:extLst>
          </p:cNvPr>
          <p:cNvSpPr/>
          <p:nvPr/>
        </p:nvSpPr>
        <p:spPr>
          <a:xfrm>
            <a:off x="9977777" y="1791462"/>
            <a:ext cx="1737089" cy="332383"/>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32" name="TextBox 131">
            <a:extLst>
              <a:ext uri="{FF2B5EF4-FFF2-40B4-BE49-F238E27FC236}">
                <a16:creationId xmlns:a16="http://schemas.microsoft.com/office/drawing/2014/main" id="{59ACE821-5B68-AC40-07A8-B3CE7B47A413}"/>
              </a:ext>
            </a:extLst>
          </p:cNvPr>
          <p:cNvSpPr txBox="1"/>
          <p:nvPr/>
        </p:nvSpPr>
        <p:spPr>
          <a:xfrm>
            <a:off x="9977777" y="1863942"/>
            <a:ext cx="1737089"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05 DELIVERY</a:t>
            </a:r>
          </a:p>
        </p:txBody>
      </p:sp>
      <p:sp>
        <p:nvSpPr>
          <p:cNvPr id="133" name="Rounded Rectangle 26">
            <a:extLst>
              <a:ext uri="{FF2B5EF4-FFF2-40B4-BE49-F238E27FC236}">
                <a16:creationId xmlns:a16="http://schemas.microsoft.com/office/drawing/2014/main" id="{111232CF-4F22-0452-E62A-A58D4300EE3C}"/>
              </a:ext>
            </a:extLst>
          </p:cNvPr>
          <p:cNvSpPr/>
          <p:nvPr/>
        </p:nvSpPr>
        <p:spPr>
          <a:xfrm>
            <a:off x="10512701" y="2193798"/>
            <a:ext cx="1097280" cy="182880"/>
          </a:xfr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35" name="Rectangle 134">
            <a:extLst>
              <a:ext uri="{FF2B5EF4-FFF2-40B4-BE49-F238E27FC236}">
                <a16:creationId xmlns:a16="http://schemas.microsoft.com/office/drawing/2014/main" id="{CCF37F02-518B-10EC-EACB-FF99EB59CF4F}"/>
              </a:ext>
            </a:extLst>
          </p:cNvPr>
          <p:cNvSpPr/>
          <p:nvPr/>
        </p:nvSpPr>
        <p:spPr>
          <a:xfrm>
            <a:off x="449729" y="2431542"/>
            <a:ext cx="594360" cy="49377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36" name="TextBox 135">
            <a:extLst>
              <a:ext uri="{FF2B5EF4-FFF2-40B4-BE49-F238E27FC236}">
                <a16:creationId xmlns:a16="http://schemas.microsoft.com/office/drawing/2014/main" id="{41912263-1E83-12A8-3F6D-E0023BD160EA}"/>
              </a:ext>
            </a:extLst>
          </p:cNvPr>
          <p:cNvSpPr txBox="1"/>
          <p:nvPr/>
        </p:nvSpPr>
        <p:spPr>
          <a:xfrm>
            <a:off x="449729" y="2505273"/>
            <a:ext cx="594360" cy="346313"/>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700" b="1" i="0" noProof="0">
                <a:solidFill>
                  <a:srgbClr val="FFFFFF"/>
                </a:solidFill>
                <a:latin typeface="Arial" panose="020B0604020202020204" pitchFamily="34" charset="0"/>
                <a:cs typeface="Arial" panose="020B0604020202020204" pitchFamily="34" charset="0"/>
              </a:rPr>
              <a:t>CHANNELS  ·  HOW IT ARRIVES</a:t>
            </a:r>
          </a:p>
        </p:txBody>
      </p:sp>
      <p:sp>
        <p:nvSpPr>
          <p:cNvPr id="137" name="Rectangle 136">
            <a:extLst>
              <a:ext uri="{FF2B5EF4-FFF2-40B4-BE49-F238E27FC236}">
                <a16:creationId xmlns:a16="http://schemas.microsoft.com/office/drawing/2014/main" id="{03B026C9-9A6A-04D5-3C87-CC5317495CBD}"/>
              </a:ext>
            </a:extLst>
          </p:cNvPr>
          <p:cNvSpPr/>
          <p:nvPr/>
        </p:nvSpPr>
        <p:spPr>
          <a:xfrm>
            <a:off x="1089809" y="2431542"/>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38" name="TextBox 137">
            <a:extLst>
              <a:ext uri="{FF2B5EF4-FFF2-40B4-BE49-F238E27FC236}">
                <a16:creationId xmlns:a16="http://schemas.microsoft.com/office/drawing/2014/main" id="{9E915106-53F0-58AF-C956-EDB83B68D795}"/>
              </a:ext>
            </a:extLst>
          </p:cNvPr>
          <p:cNvSpPr txBox="1"/>
          <p:nvPr/>
        </p:nvSpPr>
        <p:spPr>
          <a:xfrm>
            <a:off x="1181249" y="2477262"/>
            <a:ext cx="1984248" cy="29193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Emails only — from business AND from vendor; no ticketing</a:t>
            </a:r>
          </a:p>
        </p:txBody>
      </p:sp>
      <p:sp>
        <p:nvSpPr>
          <p:cNvPr id="139" name="Rectangle 138">
            <a:extLst>
              <a:ext uri="{FF2B5EF4-FFF2-40B4-BE49-F238E27FC236}">
                <a16:creationId xmlns:a16="http://schemas.microsoft.com/office/drawing/2014/main" id="{A224B567-71C7-C2A7-6B62-ECDD2AF96865}"/>
              </a:ext>
            </a:extLst>
          </p:cNvPr>
          <p:cNvSpPr/>
          <p:nvPr/>
        </p:nvSpPr>
        <p:spPr>
          <a:xfrm>
            <a:off x="3311801" y="2431542"/>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0" name="TextBox 139">
            <a:extLst>
              <a:ext uri="{FF2B5EF4-FFF2-40B4-BE49-F238E27FC236}">
                <a16:creationId xmlns:a16="http://schemas.microsoft.com/office/drawing/2014/main" id="{831072A1-A308-D6C0-4B15-31502B6215EE}"/>
              </a:ext>
            </a:extLst>
          </p:cNvPr>
          <p:cNvSpPr txBox="1"/>
          <p:nvPr/>
        </p:nvSpPr>
        <p:spPr>
          <a:xfrm>
            <a:off x="3403241" y="2477262"/>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No classification set; depends on upgrade type</a:t>
            </a:r>
          </a:p>
        </p:txBody>
      </p:sp>
      <p:sp>
        <p:nvSpPr>
          <p:cNvPr id="141" name="Rectangle 140">
            <a:extLst>
              <a:ext uri="{FF2B5EF4-FFF2-40B4-BE49-F238E27FC236}">
                <a16:creationId xmlns:a16="http://schemas.microsoft.com/office/drawing/2014/main" id="{8285BCA2-0AAE-BD67-A8D9-AA947581B4C9}"/>
              </a:ext>
            </a:extLst>
          </p:cNvPr>
          <p:cNvSpPr/>
          <p:nvPr/>
        </p:nvSpPr>
        <p:spPr>
          <a:xfrm>
            <a:off x="5533793" y="2431542"/>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2" name="TextBox 141">
            <a:extLst>
              <a:ext uri="{FF2B5EF4-FFF2-40B4-BE49-F238E27FC236}">
                <a16:creationId xmlns:a16="http://schemas.microsoft.com/office/drawing/2014/main" id="{2081E89C-9AAF-626B-43C0-008E51E44B06}"/>
              </a:ext>
            </a:extLst>
          </p:cNvPr>
          <p:cNvSpPr txBox="1"/>
          <p:nvPr/>
        </p:nvSpPr>
        <p:spPr>
          <a:xfrm>
            <a:off x="5625233" y="2477262"/>
            <a:ext cx="1984248" cy="291939"/>
          </a:xfrm>
          <a:prstGeom prst="rect">
            <a:avLst/>
          </a:prstGeom>
          <a:noFill/>
        </p:spPr>
        <p:txBody>
          <a:bodyPr wrap="square" lIns="0" tIns="0" rIns="0" bIns="0" anchor="t">
            <a:spAutoFit/>
          </a:bodyPr>
          <a:lstStyle/>
          <a:p>
            <a:pPr>
              <a:lnSpc>
                <a:spcPct val="110000"/>
              </a:lnSpc>
            </a:pPr>
            <a:r>
              <a:rPr lang="en-US" sz="900" noProof="0">
                <a:solidFill>
                  <a:srgbClr val="2C3E50"/>
                </a:solidFill>
                <a:latin typeface="Arial" panose="020B0604020202020204" pitchFamily="34" charset="0"/>
                <a:cs typeface="Arial" panose="020B0604020202020204" pitchFamily="34" charset="0"/>
              </a:rPr>
              <a:t>Tech lead</a:t>
            </a:r>
            <a:r>
              <a:rPr lang="en-US" sz="900" b="0" i="0" noProof="0">
                <a:solidFill>
                  <a:srgbClr val="2C3E50"/>
                </a:solidFill>
                <a:latin typeface="Arial" panose="020B0604020202020204" pitchFamily="34" charset="0"/>
                <a:cs typeface="Arial" panose="020B0604020202020204" pitchFamily="34" charset="0"/>
              </a:rPr>
              <a:t> internal call — operational = urgent</a:t>
            </a:r>
          </a:p>
        </p:txBody>
      </p:sp>
      <p:sp>
        <p:nvSpPr>
          <p:cNvPr id="143" name="Rectangle 142">
            <a:extLst>
              <a:ext uri="{FF2B5EF4-FFF2-40B4-BE49-F238E27FC236}">
                <a16:creationId xmlns:a16="http://schemas.microsoft.com/office/drawing/2014/main" id="{941249A0-3E2A-DE9E-D963-0974715D273D}"/>
              </a:ext>
            </a:extLst>
          </p:cNvPr>
          <p:cNvSpPr/>
          <p:nvPr/>
        </p:nvSpPr>
        <p:spPr>
          <a:xfrm>
            <a:off x="7755785" y="2431542"/>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4" name="TextBox 143">
            <a:extLst>
              <a:ext uri="{FF2B5EF4-FFF2-40B4-BE49-F238E27FC236}">
                <a16:creationId xmlns:a16="http://schemas.microsoft.com/office/drawing/2014/main" id="{932A709A-62D3-81E7-0840-F5A5BCC22305}"/>
              </a:ext>
            </a:extLst>
          </p:cNvPr>
          <p:cNvSpPr txBox="1"/>
          <p:nvPr/>
        </p:nvSpPr>
        <p:spPr>
          <a:xfrm>
            <a:off x="7847225" y="2477262"/>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Vendor sets its own timeline; upgrades need budget/time eval</a:t>
            </a:r>
          </a:p>
        </p:txBody>
      </p:sp>
      <p:sp>
        <p:nvSpPr>
          <p:cNvPr id="145" name="Rectangle 144">
            <a:extLst>
              <a:ext uri="{FF2B5EF4-FFF2-40B4-BE49-F238E27FC236}">
                <a16:creationId xmlns:a16="http://schemas.microsoft.com/office/drawing/2014/main" id="{618DDB50-438B-8B85-9D10-127931ADBF41}"/>
              </a:ext>
            </a:extLst>
          </p:cNvPr>
          <p:cNvSpPr/>
          <p:nvPr/>
        </p:nvSpPr>
        <p:spPr>
          <a:xfrm>
            <a:off x="9977777" y="2431542"/>
            <a:ext cx="1737089" cy="478687"/>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6" name="TextBox 145">
            <a:extLst>
              <a:ext uri="{FF2B5EF4-FFF2-40B4-BE49-F238E27FC236}">
                <a16:creationId xmlns:a16="http://schemas.microsoft.com/office/drawing/2014/main" id="{FC332E1D-5E74-78C1-035E-9BB89F0574DE}"/>
              </a:ext>
            </a:extLst>
          </p:cNvPr>
          <p:cNvSpPr txBox="1"/>
          <p:nvPr/>
        </p:nvSpPr>
        <p:spPr>
          <a:xfrm>
            <a:off x="10069217" y="2477262"/>
            <a:ext cx="1591932"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Vendor-led delivery; competing priorities without triage</a:t>
            </a:r>
          </a:p>
        </p:txBody>
      </p:sp>
      <p:sp>
        <p:nvSpPr>
          <p:cNvPr id="147" name="Rectangle 146">
            <a:extLst>
              <a:ext uri="{FF2B5EF4-FFF2-40B4-BE49-F238E27FC236}">
                <a16:creationId xmlns:a16="http://schemas.microsoft.com/office/drawing/2014/main" id="{F9CF3E29-DA8B-D9AF-F070-DC6788398B4A}"/>
              </a:ext>
            </a:extLst>
          </p:cNvPr>
          <p:cNvSpPr/>
          <p:nvPr/>
        </p:nvSpPr>
        <p:spPr>
          <a:xfrm>
            <a:off x="449729" y="2961894"/>
            <a:ext cx="594360" cy="49377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8" name="TextBox 147">
            <a:extLst>
              <a:ext uri="{FF2B5EF4-FFF2-40B4-BE49-F238E27FC236}">
                <a16:creationId xmlns:a16="http://schemas.microsoft.com/office/drawing/2014/main" id="{AB962084-A037-40DF-5BC5-B63314E9B92D}"/>
              </a:ext>
            </a:extLst>
          </p:cNvPr>
          <p:cNvSpPr txBox="1"/>
          <p:nvPr/>
        </p:nvSpPr>
        <p:spPr>
          <a:xfrm>
            <a:off x="449729" y="3154119"/>
            <a:ext cx="594360" cy="109325"/>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700" b="1" i="0" noProof="0">
                <a:solidFill>
                  <a:srgbClr val="FFFFFF"/>
                </a:solidFill>
                <a:latin typeface="Arial" panose="020B0604020202020204" pitchFamily="34" charset="0"/>
                <a:cs typeface="Arial" panose="020B0604020202020204" pitchFamily="34" charset="0"/>
              </a:rPr>
              <a:t>ROLES</a:t>
            </a:r>
          </a:p>
        </p:txBody>
      </p:sp>
      <p:sp>
        <p:nvSpPr>
          <p:cNvPr id="149" name="Rectangle 148">
            <a:extLst>
              <a:ext uri="{FF2B5EF4-FFF2-40B4-BE49-F238E27FC236}">
                <a16:creationId xmlns:a16="http://schemas.microsoft.com/office/drawing/2014/main" id="{5D28A7E1-49F3-A545-B8D2-37FAF00C0171}"/>
              </a:ext>
            </a:extLst>
          </p:cNvPr>
          <p:cNvSpPr/>
          <p:nvPr/>
        </p:nvSpPr>
        <p:spPr>
          <a:xfrm>
            <a:off x="1089809" y="2961894"/>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50" name="TextBox 149">
            <a:extLst>
              <a:ext uri="{FF2B5EF4-FFF2-40B4-BE49-F238E27FC236}">
                <a16:creationId xmlns:a16="http://schemas.microsoft.com/office/drawing/2014/main" id="{22BDA3C8-BB17-1E16-359C-A161037FA612}"/>
              </a:ext>
            </a:extLst>
          </p:cNvPr>
          <p:cNvSpPr txBox="1"/>
          <p:nvPr/>
        </p:nvSpPr>
        <p:spPr>
          <a:xfrm>
            <a:off x="1181249" y="3007614"/>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Business + vendor send email → G&amp;E Tech Lead receives</a:t>
            </a:r>
          </a:p>
        </p:txBody>
      </p:sp>
      <p:sp>
        <p:nvSpPr>
          <p:cNvPr id="151" name="Rectangle 150">
            <a:extLst>
              <a:ext uri="{FF2B5EF4-FFF2-40B4-BE49-F238E27FC236}">
                <a16:creationId xmlns:a16="http://schemas.microsoft.com/office/drawing/2014/main" id="{B033436F-F847-12B4-2A98-1A6998154B62}"/>
              </a:ext>
            </a:extLst>
          </p:cNvPr>
          <p:cNvSpPr/>
          <p:nvPr/>
        </p:nvSpPr>
        <p:spPr>
          <a:xfrm>
            <a:off x="3311801" y="2961894"/>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52" name="TextBox 151">
            <a:extLst>
              <a:ext uri="{FF2B5EF4-FFF2-40B4-BE49-F238E27FC236}">
                <a16:creationId xmlns:a16="http://schemas.microsoft.com/office/drawing/2014/main" id="{F52BF158-54A3-FF46-556B-6EC26CE39501}"/>
              </a:ext>
            </a:extLst>
          </p:cNvPr>
          <p:cNvSpPr txBox="1"/>
          <p:nvPr/>
        </p:nvSpPr>
        <p:spPr>
          <a:xfrm>
            <a:off x="3403241" y="3007614"/>
            <a:ext cx="1984248" cy="291939"/>
          </a:xfrm>
          <a:prstGeom prst="rect">
            <a:avLst/>
          </a:prstGeom>
          <a:noFill/>
        </p:spPr>
        <p:txBody>
          <a:bodyPr wrap="square" lIns="0" tIns="0" rIns="0" bIns="0" anchor="t">
            <a:spAutoFit/>
          </a:bodyPr>
          <a:lstStyle/>
          <a:p>
            <a:pPr>
              <a:lnSpc>
                <a:spcPct val="110000"/>
              </a:lnSpc>
            </a:pPr>
            <a:r>
              <a:rPr lang="en-US" sz="900" noProof="0">
                <a:solidFill>
                  <a:srgbClr val="2C3E50"/>
                </a:solidFill>
                <a:latin typeface="Arial" panose="020B0604020202020204" pitchFamily="34" charset="0"/>
                <a:cs typeface="Arial" panose="020B0604020202020204" pitchFamily="34" charset="0"/>
              </a:rPr>
              <a:t>Tech lead</a:t>
            </a:r>
            <a:r>
              <a:rPr lang="en-US" sz="900" b="0" i="0" noProof="0">
                <a:solidFill>
                  <a:srgbClr val="2C3E50"/>
                </a:solidFill>
                <a:latin typeface="Arial" panose="020B0604020202020204" pitchFamily="34" charset="0"/>
                <a:cs typeface="Arial" panose="020B0604020202020204" pitchFamily="34" charset="0"/>
              </a:rPr>
              <a:t> alone classifies — no second reviewer</a:t>
            </a:r>
          </a:p>
        </p:txBody>
      </p:sp>
      <p:sp>
        <p:nvSpPr>
          <p:cNvPr id="153" name="Rectangle 152">
            <a:extLst>
              <a:ext uri="{FF2B5EF4-FFF2-40B4-BE49-F238E27FC236}">
                <a16:creationId xmlns:a16="http://schemas.microsoft.com/office/drawing/2014/main" id="{B5DB07BD-83D1-A8CE-53B0-5A0EA6ED7DEF}"/>
              </a:ext>
            </a:extLst>
          </p:cNvPr>
          <p:cNvSpPr/>
          <p:nvPr/>
        </p:nvSpPr>
        <p:spPr>
          <a:xfrm>
            <a:off x="5533793" y="2961894"/>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54" name="TextBox 153">
            <a:extLst>
              <a:ext uri="{FF2B5EF4-FFF2-40B4-BE49-F238E27FC236}">
                <a16:creationId xmlns:a16="http://schemas.microsoft.com/office/drawing/2014/main" id="{9DB9FE9F-E57A-61BE-9086-2D5FC44A5A8C}"/>
              </a:ext>
            </a:extLst>
          </p:cNvPr>
          <p:cNvSpPr txBox="1"/>
          <p:nvPr/>
        </p:nvSpPr>
        <p:spPr>
          <a:xfrm>
            <a:off x="5625233" y="3007614"/>
            <a:ext cx="1984248" cy="291939"/>
          </a:xfrm>
          <a:prstGeom prst="rect">
            <a:avLst/>
          </a:prstGeom>
          <a:noFill/>
        </p:spPr>
        <p:txBody>
          <a:bodyPr wrap="square" lIns="0" tIns="0" rIns="0" bIns="0" anchor="t">
            <a:spAutoFit/>
          </a:bodyPr>
          <a:lstStyle/>
          <a:p>
            <a:pPr>
              <a:lnSpc>
                <a:spcPct val="110000"/>
              </a:lnSpc>
            </a:pPr>
            <a:r>
              <a:rPr lang="en-US" sz="900" noProof="0">
                <a:solidFill>
                  <a:srgbClr val="2C3E50"/>
                </a:solidFill>
                <a:latin typeface="Arial" panose="020B0604020202020204" pitchFamily="34" charset="0"/>
                <a:cs typeface="Arial" panose="020B0604020202020204" pitchFamily="34" charset="0"/>
              </a:rPr>
              <a:t>Tech lead</a:t>
            </a:r>
            <a:r>
              <a:rPr lang="en-US" sz="900" b="0" i="0" noProof="0">
                <a:solidFill>
                  <a:srgbClr val="2C3E50"/>
                </a:solidFill>
                <a:latin typeface="Arial" panose="020B0604020202020204" pitchFamily="34" charset="0"/>
                <a:cs typeface="Arial" panose="020B0604020202020204" pitchFamily="34" charset="0"/>
              </a:rPr>
              <a:t> prioritizes; cyber / legal / third-party weighted</a:t>
            </a:r>
          </a:p>
        </p:txBody>
      </p:sp>
      <p:sp>
        <p:nvSpPr>
          <p:cNvPr id="155" name="Rectangle 154">
            <a:extLst>
              <a:ext uri="{FF2B5EF4-FFF2-40B4-BE49-F238E27FC236}">
                <a16:creationId xmlns:a16="http://schemas.microsoft.com/office/drawing/2014/main" id="{41E8EEB7-02CC-DAC7-DC4D-BBEDD3A3ECD2}"/>
              </a:ext>
            </a:extLst>
          </p:cNvPr>
          <p:cNvSpPr/>
          <p:nvPr/>
        </p:nvSpPr>
        <p:spPr>
          <a:xfrm>
            <a:off x="7755785" y="2961894"/>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56" name="TextBox 155">
            <a:extLst>
              <a:ext uri="{FF2B5EF4-FFF2-40B4-BE49-F238E27FC236}">
                <a16:creationId xmlns:a16="http://schemas.microsoft.com/office/drawing/2014/main" id="{4EDD5239-E447-B870-AB39-E10AF2D45073}"/>
              </a:ext>
            </a:extLst>
          </p:cNvPr>
          <p:cNvSpPr txBox="1"/>
          <p:nvPr/>
        </p:nvSpPr>
        <p:spPr>
          <a:xfrm>
            <a:off x="7847225" y="3007614"/>
            <a:ext cx="1984248" cy="292837"/>
          </a:xfrm>
          <a:prstGeom prst="rect">
            <a:avLst/>
          </a:prstGeom>
          <a:noFill/>
        </p:spPr>
        <p:txBody>
          <a:bodyPr wrap="square" lIns="0" tIns="0" rIns="0" bIns="0" anchor="t">
            <a:spAutoFit/>
          </a:bodyPr>
          <a:lstStyle/>
          <a:p>
            <a:pPr>
              <a:lnSpc>
                <a:spcPct val="110000"/>
              </a:lnSpc>
            </a:pPr>
            <a:r>
              <a:rPr lang="en-US" sz="900" b="0" i="0" noProof="0">
                <a:solidFill>
                  <a:srgbClr val="2C3E50"/>
                </a:solidFill>
                <a:latin typeface="Arial" panose="020B0604020202020204" pitchFamily="34" charset="0"/>
                <a:cs typeface="Arial" panose="020B0604020202020204" pitchFamily="34" charset="0"/>
              </a:rPr>
              <a:t>Vendor owns timeline; </a:t>
            </a:r>
            <a:r>
              <a:rPr lang="en-US" sz="900" noProof="0">
                <a:solidFill>
                  <a:srgbClr val="2C3E50"/>
                </a:solidFill>
                <a:latin typeface="Arial" panose="020B0604020202020204" pitchFamily="34" charset="0"/>
                <a:cs typeface="Arial" panose="020B0604020202020204" pitchFamily="34" charset="0"/>
              </a:rPr>
              <a:t>Tech lead</a:t>
            </a:r>
            <a:r>
              <a:rPr lang="en-US" sz="900" b="0" i="0" noProof="0">
                <a:solidFill>
                  <a:srgbClr val="2C3E50"/>
                </a:solidFill>
                <a:latin typeface="Arial" panose="020B0604020202020204" pitchFamily="34" charset="0"/>
                <a:cs typeface="Arial" panose="020B0604020202020204" pitchFamily="34" charset="0"/>
              </a:rPr>
              <a:t> tracks manually</a:t>
            </a:r>
          </a:p>
        </p:txBody>
      </p:sp>
      <p:sp>
        <p:nvSpPr>
          <p:cNvPr id="157" name="Rectangle 156">
            <a:extLst>
              <a:ext uri="{FF2B5EF4-FFF2-40B4-BE49-F238E27FC236}">
                <a16:creationId xmlns:a16="http://schemas.microsoft.com/office/drawing/2014/main" id="{EAEEEB0A-F075-C104-22AA-130516557E35}"/>
              </a:ext>
            </a:extLst>
          </p:cNvPr>
          <p:cNvSpPr/>
          <p:nvPr/>
        </p:nvSpPr>
        <p:spPr>
          <a:xfrm>
            <a:off x="9977777" y="2961894"/>
            <a:ext cx="1737089" cy="478687"/>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58" name="TextBox 157">
            <a:extLst>
              <a:ext uri="{FF2B5EF4-FFF2-40B4-BE49-F238E27FC236}">
                <a16:creationId xmlns:a16="http://schemas.microsoft.com/office/drawing/2014/main" id="{AF81C8DA-B739-9E7C-E054-BD6BD4EBEC9A}"/>
              </a:ext>
            </a:extLst>
          </p:cNvPr>
          <p:cNvSpPr txBox="1"/>
          <p:nvPr/>
        </p:nvSpPr>
        <p:spPr>
          <a:xfrm>
            <a:off x="10069217" y="3007614"/>
            <a:ext cx="1591932"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Vendor + </a:t>
            </a:r>
            <a:r>
              <a:rPr lang="en-US" sz="900" noProof="0">
                <a:solidFill>
                  <a:srgbClr val="2C3E50"/>
                </a:solidFill>
                <a:latin typeface="Arial" panose="020B0604020202020204" pitchFamily="34" charset="0"/>
                <a:cs typeface="Arial" panose="020B0604020202020204" pitchFamily="34" charset="0"/>
              </a:rPr>
              <a:t>Tech</a:t>
            </a:r>
            <a:r>
              <a:rPr lang="en-US" sz="900" b="0" i="0" noProof="0">
                <a:solidFill>
                  <a:srgbClr val="2C3E50"/>
                </a:solidFill>
                <a:latin typeface="Arial" panose="020B0604020202020204" pitchFamily="34" charset="0"/>
                <a:cs typeface="Arial" panose="020B0604020202020204" pitchFamily="34" charset="0"/>
              </a:rPr>
              <a:t> </a:t>
            </a:r>
            <a:r>
              <a:rPr lang="en-US" sz="900" noProof="0">
                <a:solidFill>
                  <a:srgbClr val="2C3E50"/>
                </a:solidFill>
                <a:latin typeface="Arial" panose="020B0604020202020204" pitchFamily="34" charset="0"/>
                <a:cs typeface="Arial" panose="020B0604020202020204" pitchFamily="34" charset="0"/>
              </a:rPr>
              <a:t>lead</a:t>
            </a:r>
            <a:r>
              <a:rPr lang="en-US" sz="900" b="0" i="0" noProof="0">
                <a:solidFill>
                  <a:srgbClr val="2C3E50"/>
                </a:solidFill>
                <a:latin typeface="Arial" panose="020B0604020202020204" pitchFamily="34" charset="0"/>
                <a:cs typeface="Arial" panose="020B0604020202020204" pitchFamily="34" charset="0"/>
              </a:rPr>
              <a:t>; no internal release role</a:t>
            </a:r>
          </a:p>
        </p:txBody>
      </p:sp>
      <p:sp>
        <p:nvSpPr>
          <p:cNvPr id="159" name="Rectangle 158">
            <a:extLst>
              <a:ext uri="{FF2B5EF4-FFF2-40B4-BE49-F238E27FC236}">
                <a16:creationId xmlns:a16="http://schemas.microsoft.com/office/drawing/2014/main" id="{0B8756D2-CE47-FFDE-2B6C-A9490A273059}"/>
              </a:ext>
            </a:extLst>
          </p:cNvPr>
          <p:cNvSpPr/>
          <p:nvPr/>
        </p:nvSpPr>
        <p:spPr>
          <a:xfrm>
            <a:off x="449729" y="3492246"/>
            <a:ext cx="594360" cy="49377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60" name="TextBox 159">
            <a:extLst>
              <a:ext uri="{FF2B5EF4-FFF2-40B4-BE49-F238E27FC236}">
                <a16:creationId xmlns:a16="http://schemas.microsoft.com/office/drawing/2014/main" id="{B8A76B99-F32E-3129-4EFE-DE8F7A591A38}"/>
              </a:ext>
            </a:extLst>
          </p:cNvPr>
          <p:cNvSpPr txBox="1"/>
          <p:nvPr/>
        </p:nvSpPr>
        <p:spPr>
          <a:xfrm>
            <a:off x="449729" y="3684471"/>
            <a:ext cx="594360" cy="109325"/>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700" b="1" i="0" noProof="0">
                <a:solidFill>
                  <a:srgbClr val="FFFFFF"/>
                </a:solidFill>
                <a:latin typeface="Arial" panose="020B0604020202020204" pitchFamily="34" charset="0"/>
                <a:cs typeface="Arial" panose="020B0604020202020204" pitchFamily="34" charset="0"/>
              </a:rPr>
              <a:t>TOOLS</a:t>
            </a:r>
          </a:p>
        </p:txBody>
      </p:sp>
      <p:sp>
        <p:nvSpPr>
          <p:cNvPr id="161" name="Rectangle 160">
            <a:extLst>
              <a:ext uri="{FF2B5EF4-FFF2-40B4-BE49-F238E27FC236}">
                <a16:creationId xmlns:a16="http://schemas.microsoft.com/office/drawing/2014/main" id="{B12010AD-2C56-BA1D-5BAB-25A82F161CD7}"/>
              </a:ext>
            </a:extLst>
          </p:cNvPr>
          <p:cNvSpPr/>
          <p:nvPr/>
        </p:nvSpPr>
        <p:spPr>
          <a:xfrm>
            <a:off x="1089809" y="3492246"/>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62" name="TextBox 161">
            <a:extLst>
              <a:ext uri="{FF2B5EF4-FFF2-40B4-BE49-F238E27FC236}">
                <a16:creationId xmlns:a16="http://schemas.microsoft.com/office/drawing/2014/main" id="{839D2401-38D0-81DA-ED65-6B208A1136E7}"/>
              </a:ext>
            </a:extLst>
          </p:cNvPr>
          <p:cNvSpPr txBox="1"/>
          <p:nvPr/>
        </p:nvSpPr>
        <p:spPr>
          <a:xfrm>
            <a:off x="1181249" y="3537966"/>
            <a:ext cx="1984248"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Email (Outlook)</a:t>
            </a:r>
          </a:p>
        </p:txBody>
      </p:sp>
      <p:sp>
        <p:nvSpPr>
          <p:cNvPr id="163" name="Rectangle 162">
            <a:extLst>
              <a:ext uri="{FF2B5EF4-FFF2-40B4-BE49-F238E27FC236}">
                <a16:creationId xmlns:a16="http://schemas.microsoft.com/office/drawing/2014/main" id="{1FB4CF5C-FD79-2643-B092-662291343C59}"/>
              </a:ext>
            </a:extLst>
          </p:cNvPr>
          <p:cNvSpPr/>
          <p:nvPr/>
        </p:nvSpPr>
        <p:spPr>
          <a:xfrm>
            <a:off x="3311801" y="3492246"/>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64" name="TextBox 163">
            <a:extLst>
              <a:ext uri="{FF2B5EF4-FFF2-40B4-BE49-F238E27FC236}">
                <a16:creationId xmlns:a16="http://schemas.microsoft.com/office/drawing/2014/main" id="{AD365C75-FC37-41E9-FC82-BDF7BA215E5F}"/>
              </a:ext>
            </a:extLst>
          </p:cNvPr>
          <p:cNvSpPr txBox="1"/>
          <p:nvPr/>
        </p:nvSpPr>
        <p:spPr>
          <a:xfrm>
            <a:off x="3403241" y="3537966"/>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Email threads as the classification evidence</a:t>
            </a:r>
          </a:p>
        </p:txBody>
      </p:sp>
      <p:sp>
        <p:nvSpPr>
          <p:cNvPr id="166" name="Rectangle 165">
            <a:extLst>
              <a:ext uri="{FF2B5EF4-FFF2-40B4-BE49-F238E27FC236}">
                <a16:creationId xmlns:a16="http://schemas.microsoft.com/office/drawing/2014/main" id="{009BFC66-99CB-16AC-6B9F-FB1364BB3861}"/>
              </a:ext>
            </a:extLst>
          </p:cNvPr>
          <p:cNvSpPr/>
          <p:nvPr/>
        </p:nvSpPr>
        <p:spPr>
          <a:xfrm>
            <a:off x="5533793" y="3492246"/>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67" name="TextBox 166">
            <a:extLst>
              <a:ext uri="{FF2B5EF4-FFF2-40B4-BE49-F238E27FC236}">
                <a16:creationId xmlns:a16="http://schemas.microsoft.com/office/drawing/2014/main" id="{7118ADA0-670E-6267-8C93-E930A422881D}"/>
              </a:ext>
            </a:extLst>
          </p:cNvPr>
          <p:cNvSpPr txBox="1"/>
          <p:nvPr/>
        </p:nvSpPr>
        <p:spPr>
          <a:xfrm>
            <a:off x="5625233" y="3537966"/>
            <a:ext cx="1984248"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No scoring tool — judgment call</a:t>
            </a:r>
          </a:p>
        </p:txBody>
      </p:sp>
      <p:sp>
        <p:nvSpPr>
          <p:cNvPr id="168" name="Rectangle 167">
            <a:extLst>
              <a:ext uri="{FF2B5EF4-FFF2-40B4-BE49-F238E27FC236}">
                <a16:creationId xmlns:a16="http://schemas.microsoft.com/office/drawing/2014/main" id="{90BE8DD6-EFC2-1533-9A49-F55A8F4E949A}"/>
              </a:ext>
            </a:extLst>
          </p:cNvPr>
          <p:cNvSpPr/>
          <p:nvPr/>
        </p:nvSpPr>
        <p:spPr>
          <a:xfrm>
            <a:off x="7755785" y="3492246"/>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69" name="TextBox 168">
            <a:extLst>
              <a:ext uri="{FF2B5EF4-FFF2-40B4-BE49-F238E27FC236}">
                <a16:creationId xmlns:a16="http://schemas.microsoft.com/office/drawing/2014/main" id="{8304FE72-257B-D050-7487-C3FB4F8FC38D}"/>
              </a:ext>
            </a:extLst>
          </p:cNvPr>
          <p:cNvSpPr txBox="1"/>
          <p:nvPr/>
        </p:nvSpPr>
        <p:spPr>
          <a:xfrm>
            <a:off x="7847225" y="3537966"/>
            <a:ext cx="1984248"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No portfolio tool in use</a:t>
            </a:r>
          </a:p>
        </p:txBody>
      </p:sp>
      <p:sp>
        <p:nvSpPr>
          <p:cNvPr id="170" name="Rectangle 169">
            <a:extLst>
              <a:ext uri="{FF2B5EF4-FFF2-40B4-BE49-F238E27FC236}">
                <a16:creationId xmlns:a16="http://schemas.microsoft.com/office/drawing/2014/main" id="{3B282005-F8B5-0F4D-EA28-2E31991D696A}"/>
              </a:ext>
            </a:extLst>
          </p:cNvPr>
          <p:cNvSpPr/>
          <p:nvPr/>
        </p:nvSpPr>
        <p:spPr>
          <a:xfrm>
            <a:off x="9977777" y="3492246"/>
            <a:ext cx="1737089" cy="478687"/>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71" name="TextBox 170">
            <a:extLst>
              <a:ext uri="{FF2B5EF4-FFF2-40B4-BE49-F238E27FC236}">
                <a16:creationId xmlns:a16="http://schemas.microsoft.com/office/drawing/2014/main" id="{0258A83F-F658-5139-20C6-6C6CF9CD8D8E}"/>
              </a:ext>
            </a:extLst>
          </p:cNvPr>
          <p:cNvSpPr txBox="1"/>
          <p:nvPr/>
        </p:nvSpPr>
        <p:spPr>
          <a:xfrm>
            <a:off x="10069217" y="3537966"/>
            <a:ext cx="1591932"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No delivery tooling — vendor runs its own stack</a:t>
            </a:r>
          </a:p>
        </p:txBody>
      </p:sp>
      <p:sp>
        <p:nvSpPr>
          <p:cNvPr id="172" name="Rectangle 171">
            <a:extLst>
              <a:ext uri="{FF2B5EF4-FFF2-40B4-BE49-F238E27FC236}">
                <a16:creationId xmlns:a16="http://schemas.microsoft.com/office/drawing/2014/main" id="{77DAA722-3389-452A-48D7-61CC9ED61248}"/>
              </a:ext>
            </a:extLst>
          </p:cNvPr>
          <p:cNvSpPr/>
          <p:nvPr/>
        </p:nvSpPr>
        <p:spPr>
          <a:xfrm>
            <a:off x="449729" y="4022598"/>
            <a:ext cx="594360" cy="49377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73" name="TextBox 172">
            <a:extLst>
              <a:ext uri="{FF2B5EF4-FFF2-40B4-BE49-F238E27FC236}">
                <a16:creationId xmlns:a16="http://schemas.microsoft.com/office/drawing/2014/main" id="{85E0B431-5C35-78D0-2735-4A6105D7F7CD}"/>
              </a:ext>
            </a:extLst>
          </p:cNvPr>
          <p:cNvSpPr txBox="1"/>
          <p:nvPr/>
        </p:nvSpPr>
        <p:spPr>
          <a:xfrm>
            <a:off x="449729" y="4171863"/>
            <a:ext cx="594360" cy="195246"/>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600" b="1" i="0" noProof="0">
                <a:solidFill>
                  <a:srgbClr val="FFFFFF"/>
                </a:solidFill>
                <a:latin typeface="Arial" panose="020B0604020202020204" pitchFamily="34" charset="0"/>
                <a:cs typeface="Arial" panose="020B0604020202020204" pitchFamily="34" charset="0"/>
              </a:rPr>
              <a:t>GOVERNANCE  &amp;  METRICS</a:t>
            </a:r>
          </a:p>
        </p:txBody>
      </p:sp>
      <p:sp>
        <p:nvSpPr>
          <p:cNvPr id="174" name="Rectangle 173">
            <a:extLst>
              <a:ext uri="{FF2B5EF4-FFF2-40B4-BE49-F238E27FC236}">
                <a16:creationId xmlns:a16="http://schemas.microsoft.com/office/drawing/2014/main" id="{4030F1BD-B4FE-F311-9A30-12A537A58EDE}"/>
              </a:ext>
            </a:extLst>
          </p:cNvPr>
          <p:cNvSpPr/>
          <p:nvPr/>
        </p:nvSpPr>
        <p:spPr>
          <a:xfrm>
            <a:off x="1089809" y="4022598"/>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75" name="TextBox 174">
            <a:extLst>
              <a:ext uri="{FF2B5EF4-FFF2-40B4-BE49-F238E27FC236}">
                <a16:creationId xmlns:a16="http://schemas.microsoft.com/office/drawing/2014/main" id="{B06E9CC1-041B-1BEE-6774-A97B98A366D4}"/>
              </a:ext>
            </a:extLst>
          </p:cNvPr>
          <p:cNvSpPr txBox="1"/>
          <p:nvPr/>
        </p:nvSpPr>
        <p:spPr>
          <a:xfrm>
            <a:off x="1181249" y="4068318"/>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Zero digital trail; volumes unknown; single-person dependency</a:t>
            </a:r>
          </a:p>
        </p:txBody>
      </p:sp>
      <p:sp>
        <p:nvSpPr>
          <p:cNvPr id="176" name="Rectangle 175">
            <a:extLst>
              <a:ext uri="{FF2B5EF4-FFF2-40B4-BE49-F238E27FC236}">
                <a16:creationId xmlns:a16="http://schemas.microsoft.com/office/drawing/2014/main" id="{A9C2A932-D04D-F8E8-9629-39E5ED8DDC7D}"/>
              </a:ext>
            </a:extLst>
          </p:cNvPr>
          <p:cNvSpPr/>
          <p:nvPr/>
        </p:nvSpPr>
        <p:spPr>
          <a:xfrm>
            <a:off x="3311801" y="4022598"/>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77" name="TextBox 176">
            <a:extLst>
              <a:ext uri="{FF2B5EF4-FFF2-40B4-BE49-F238E27FC236}">
                <a16:creationId xmlns:a16="http://schemas.microsoft.com/office/drawing/2014/main" id="{08256BD3-9C2C-8C4E-407B-5F06D8552102}"/>
              </a:ext>
            </a:extLst>
          </p:cNvPr>
          <p:cNvSpPr txBox="1"/>
          <p:nvPr/>
        </p:nvSpPr>
        <p:spPr>
          <a:xfrm>
            <a:off x="3403241" y="4068318"/>
            <a:ext cx="1984248"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No written rule; no audit trail</a:t>
            </a:r>
          </a:p>
        </p:txBody>
      </p:sp>
      <p:sp>
        <p:nvSpPr>
          <p:cNvPr id="178" name="Rectangle 177">
            <a:extLst>
              <a:ext uri="{FF2B5EF4-FFF2-40B4-BE49-F238E27FC236}">
                <a16:creationId xmlns:a16="http://schemas.microsoft.com/office/drawing/2014/main" id="{F660C895-74EB-1832-7763-757B3B7283C0}"/>
              </a:ext>
            </a:extLst>
          </p:cNvPr>
          <p:cNvSpPr/>
          <p:nvPr/>
        </p:nvSpPr>
        <p:spPr>
          <a:xfrm>
            <a:off x="5533793" y="4022598"/>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79" name="TextBox 178">
            <a:extLst>
              <a:ext uri="{FF2B5EF4-FFF2-40B4-BE49-F238E27FC236}">
                <a16:creationId xmlns:a16="http://schemas.microsoft.com/office/drawing/2014/main" id="{6EF77F3B-4C78-4CDF-4090-DC8D7F60EA80}"/>
              </a:ext>
            </a:extLst>
          </p:cNvPr>
          <p:cNvSpPr txBox="1"/>
          <p:nvPr/>
        </p:nvSpPr>
        <p:spPr>
          <a:xfrm>
            <a:off x="5625233" y="4068318"/>
            <a:ext cx="1984248" cy="292837"/>
          </a:xfrm>
          <a:prstGeom prst="rect">
            <a:avLst/>
          </a:prstGeom>
          <a:noFill/>
        </p:spPr>
        <p:txBody>
          <a:bodyPr wrap="square" lIns="0" tIns="0" rIns="0" bIns="0" anchor="t">
            <a:spAutoFit/>
          </a:bodyPr>
          <a:lstStyle/>
          <a:p>
            <a:pPr>
              <a:lnSpc>
                <a:spcPct val="110000"/>
              </a:lnSpc>
            </a:pPr>
            <a:r>
              <a:rPr lang="en-US" sz="900" b="0" i="0" noProof="0">
                <a:solidFill>
                  <a:srgbClr val="2C3E50"/>
                </a:solidFill>
                <a:latin typeface="Arial" panose="020B0604020202020204" pitchFamily="34" charset="0"/>
                <a:cs typeface="Arial" panose="020B0604020202020204" pitchFamily="34" charset="0"/>
              </a:rPr>
              <a:t>Key-person risk — </a:t>
            </a:r>
            <a:r>
              <a:rPr lang="en-US" sz="900" noProof="0">
                <a:solidFill>
                  <a:srgbClr val="2C3E50"/>
                </a:solidFill>
                <a:latin typeface="Arial" panose="020B0604020202020204" pitchFamily="34" charset="0"/>
                <a:cs typeface="Arial" panose="020B0604020202020204" pitchFamily="34" charset="0"/>
              </a:rPr>
              <a:t>Tech </a:t>
            </a:r>
            <a:r>
              <a:rPr lang="en-US" sz="900" b="0" i="0" noProof="0">
                <a:solidFill>
                  <a:srgbClr val="2C3E50"/>
                </a:solidFill>
                <a:latin typeface="Arial" panose="020B0604020202020204" pitchFamily="34" charset="0"/>
                <a:cs typeface="Arial" panose="020B0604020202020204" pitchFamily="34" charset="0"/>
              </a:rPr>
              <a:t>lead = only router</a:t>
            </a:r>
          </a:p>
        </p:txBody>
      </p:sp>
      <p:sp>
        <p:nvSpPr>
          <p:cNvPr id="180" name="Rectangle 179">
            <a:extLst>
              <a:ext uri="{FF2B5EF4-FFF2-40B4-BE49-F238E27FC236}">
                <a16:creationId xmlns:a16="http://schemas.microsoft.com/office/drawing/2014/main" id="{0BC904F9-C0B3-6E7C-B3AE-C3A6CE866C69}"/>
              </a:ext>
            </a:extLst>
          </p:cNvPr>
          <p:cNvSpPr/>
          <p:nvPr/>
        </p:nvSpPr>
        <p:spPr>
          <a:xfrm>
            <a:off x="7755785" y="4022598"/>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81" name="TextBox 180">
            <a:extLst>
              <a:ext uri="{FF2B5EF4-FFF2-40B4-BE49-F238E27FC236}">
                <a16:creationId xmlns:a16="http://schemas.microsoft.com/office/drawing/2014/main" id="{2D69C391-AE8D-A111-424B-ED92B0616EC0}"/>
              </a:ext>
            </a:extLst>
          </p:cNvPr>
          <p:cNvSpPr txBox="1"/>
          <p:nvPr/>
        </p:nvSpPr>
        <p:spPr>
          <a:xfrm>
            <a:off x="7847225" y="4068318"/>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Third-Party Risk gates upgrades; interface is slow</a:t>
            </a:r>
          </a:p>
        </p:txBody>
      </p:sp>
      <p:sp>
        <p:nvSpPr>
          <p:cNvPr id="182" name="Rectangle 181">
            <a:extLst>
              <a:ext uri="{FF2B5EF4-FFF2-40B4-BE49-F238E27FC236}">
                <a16:creationId xmlns:a16="http://schemas.microsoft.com/office/drawing/2014/main" id="{3A3AE240-E6E1-9FB8-DF38-582171E545FE}"/>
              </a:ext>
            </a:extLst>
          </p:cNvPr>
          <p:cNvSpPr/>
          <p:nvPr/>
        </p:nvSpPr>
        <p:spPr>
          <a:xfrm>
            <a:off x="9977777" y="4022598"/>
            <a:ext cx="1737089" cy="478687"/>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83" name="TextBox 182">
            <a:extLst>
              <a:ext uri="{FF2B5EF4-FFF2-40B4-BE49-F238E27FC236}">
                <a16:creationId xmlns:a16="http://schemas.microsoft.com/office/drawing/2014/main" id="{DC99966B-0F4A-49B6-8A35-03144EC5B95F}"/>
              </a:ext>
            </a:extLst>
          </p:cNvPr>
          <p:cNvSpPr txBox="1"/>
          <p:nvPr/>
        </p:nvSpPr>
        <p:spPr>
          <a:xfrm>
            <a:off x="10069217" y="4068318"/>
            <a:ext cx="1591932"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Budget / time tension on every upgrade; no KPIs</a:t>
            </a:r>
          </a:p>
        </p:txBody>
      </p:sp>
      <p:sp>
        <p:nvSpPr>
          <p:cNvPr id="184" name="Rectangle 183">
            <a:extLst>
              <a:ext uri="{FF2B5EF4-FFF2-40B4-BE49-F238E27FC236}">
                <a16:creationId xmlns:a16="http://schemas.microsoft.com/office/drawing/2014/main" id="{D0F888B9-FD0F-61EB-8931-C27A2E1B4B4A}"/>
              </a:ext>
            </a:extLst>
          </p:cNvPr>
          <p:cNvSpPr/>
          <p:nvPr/>
        </p:nvSpPr>
        <p:spPr>
          <a:xfrm>
            <a:off x="449729" y="4626102"/>
            <a:ext cx="11274552" cy="129844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85" name="Rectangle 184">
            <a:extLst>
              <a:ext uri="{FF2B5EF4-FFF2-40B4-BE49-F238E27FC236}">
                <a16:creationId xmlns:a16="http://schemas.microsoft.com/office/drawing/2014/main" id="{3B039B1E-D775-383A-96BD-52FA73FF6B35}"/>
              </a:ext>
            </a:extLst>
          </p:cNvPr>
          <p:cNvSpPr/>
          <p:nvPr/>
        </p:nvSpPr>
        <p:spPr>
          <a:xfrm>
            <a:off x="449729" y="4626102"/>
            <a:ext cx="73152" cy="12984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86" name="TextBox 185">
            <a:extLst>
              <a:ext uri="{FF2B5EF4-FFF2-40B4-BE49-F238E27FC236}">
                <a16:creationId xmlns:a16="http://schemas.microsoft.com/office/drawing/2014/main" id="{A64649AA-E6C0-7BB6-CCF6-732379BE0957}"/>
              </a:ext>
            </a:extLst>
          </p:cNvPr>
          <p:cNvSpPr txBox="1"/>
          <p:nvPr/>
        </p:nvSpPr>
        <p:spPr>
          <a:xfrm>
            <a:off x="632609" y="4671822"/>
            <a:ext cx="5486400"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1" i="0" noProof="0">
                <a:solidFill>
                  <a:schemeClr val="accent1"/>
                </a:solidFill>
                <a:latin typeface="Arial" panose="020B0604020202020204" pitchFamily="34" charset="0"/>
                <a:cs typeface="Arial" panose="020B0604020202020204" pitchFamily="34" charset="0"/>
              </a:rPr>
              <a:t>KEY PATTERNS  —  WHAT THE FINDINGS REVEAL</a:t>
            </a:r>
          </a:p>
        </p:txBody>
      </p:sp>
      <p:sp>
        <p:nvSpPr>
          <p:cNvPr id="187" name="TextBox 186">
            <a:extLst>
              <a:ext uri="{FF2B5EF4-FFF2-40B4-BE49-F238E27FC236}">
                <a16:creationId xmlns:a16="http://schemas.microsoft.com/office/drawing/2014/main" id="{8DA83436-68DA-6EC4-92AE-B3AF92E1E134}"/>
              </a:ext>
            </a:extLst>
          </p:cNvPr>
          <p:cNvSpPr txBox="1"/>
          <p:nvPr/>
        </p:nvSpPr>
        <p:spPr>
          <a:xfrm>
            <a:off x="6393329" y="4671822"/>
            <a:ext cx="5166360"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1" i="0" noProof="0">
                <a:solidFill>
                  <a:schemeClr val="accent1"/>
                </a:solidFill>
                <a:latin typeface="Arial" panose="020B0604020202020204" pitchFamily="34" charset="0"/>
                <a:cs typeface="Arial" panose="020B0604020202020204" pitchFamily="34" charset="0"/>
              </a:rPr>
              <a:t>SUPPORTING QUOTE</a:t>
            </a:r>
          </a:p>
        </p:txBody>
      </p:sp>
      <p:sp>
        <p:nvSpPr>
          <p:cNvPr id="188" name="TextBox 187">
            <a:extLst>
              <a:ext uri="{FF2B5EF4-FFF2-40B4-BE49-F238E27FC236}">
                <a16:creationId xmlns:a16="http://schemas.microsoft.com/office/drawing/2014/main" id="{DE749BD9-E296-1ECC-D56B-3AF4DD513954}"/>
              </a:ext>
            </a:extLst>
          </p:cNvPr>
          <p:cNvSpPr txBox="1"/>
          <p:nvPr/>
        </p:nvSpPr>
        <p:spPr>
          <a:xfrm>
            <a:off x="6393329" y="4918710"/>
            <a:ext cx="5166360" cy="140488"/>
          </a:xfrm>
          <a:prstGeom prst="rect">
            <a:avLst/>
          </a:prstGeom>
          <a:noFill/>
        </p:spPr>
        <p:txBody>
          <a:bodyPr wrap="square" lIns="0" tIns="0" rIns="0" bIns="0" anchor="t">
            <a:spAutoFit/>
          </a:bodyPr>
          <a:lstStyle/>
          <a:p>
            <a:pPr>
              <a:lnSpc>
                <a:spcPct val="110000"/>
              </a:lnSpc>
            </a:pPr>
            <a:r>
              <a:rPr lang="en-US" sz="900" b="0" i="1" noProof="0">
                <a:solidFill>
                  <a:srgbClr val="2C3E50"/>
                </a:solidFill>
                <a:latin typeface="Arial" panose="020B0604020202020204" pitchFamily="34" charset="0"/>
                <a:cs typeface="Arial" panose="020B0604020202020204" pitchFamily="34" charset="0"/>
              </a:rPr>
              <a:t>"I receive requests/input from the business or from the vendor" — G&amp;E </a:t>
            </a:r>
            <a:r>
              <a:rPr lang="en-US" sz="900" i="1" noProof="0">
                <a:solidFill>
                  <a:srgbClr val="2C3E50"/>
                </a:solidFill>
                <a:latin typeface="Arial" panose="020B0604020202020204" pitchFamily="34" charset="0"/>
                <a:cs typeface="Arial" panose="020B0604020202020204" pitchFamily="34" charset="0"/>
              </a:rPr>
              <a:t>lead </a:t>
            </a:r>
            <a:r>
              <a:rPr lang="en-US" sz="900" b="0" i="1" noProof="0">
                <a:solidFill>
                  <a:srgbClr val="2C3E50"/>
                </a:solidFill>
                <a:latin typeface="Arial" panose="020B0604020202020204" pitchFamily="34" charset="0"/>
                <a:cs typeface="Arial" panose="020B0604020202020204" pitchFamily="34" charset="0"/>
              </a:rPr>
              <a:t>(Tech Lead, 70-90 apps) </a:t>
            </a:r>
          </a:p>
        </p:txBody>
      </p:sp>
      <p:sp>
        <p:nvSpPr>
          <p:cNvPr id="189" name="TextBox 188">
            <a:extLst>
              <a:ext uri="{FF2B5EF4-FFF2-40B4-BE49-F238E27FC236}">
                <a16:creationId xmlns:a16="http://schemas.microsoft.com/office/drawing/2014/main" id="{9AB79842-4F33-2515-35C5-8D62EC07BB79}"/>
              </a:ext>
            </a:extLst>
          </p:cNvPr>
          <p:cNvSpPr txBox="1"/>
          <p:nvPr/>
        </p:nvSpPr>
        <p:spPr>
          <a:xfrm>
            <a:off x="632609" y="4918710"/>
            <a:ext cx="5486400" cy="749692"/>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  Vendor-led model creates structural dependency: Avangrid cannot estimate or schedule its own work — budget/timeline are exogenous</a:t>
            </a:r>
          </a:p>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  Third-party risk assessments add hidden lead time — upgrades routinely stall at this interface, invisible in any tracking system</a:t>
            </a:r>
          </a:p>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  Single-person routing (G&amp;E Champion) is a key-person risk</a:t>
            </a:r>
          </a:p>
        </p:txBody>
      </p:sp>
      <p:sp>
        <p:nvSpPr>
          <p:cNvPr id="190" name="Rectangle 189">
            <a:extLst>
              <a:ext uri="{FF2B5EF4-FFF2-40B4-BE49-F238E27FC236}">
                <a16:creationId xmlns:a16="http://schemas.microsoft.com/office/drawing/2014/main" id="{9EC23360-8F2D-A423-FA4E-A3F9970791FA}"/>
              </a:ext>
            </a:extLst>
          </p:cNvPr>
          <p:cNvSpPr/>
          <p:nvPr/>
        </p:nvSpPr>
        <p:spPr>
          <a:xfrm>
            <a:off x="457200" y="5970270"/>
            <a:ext cx="11274552" cy="5029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91" name="TextBox 190">
            <a:extLst>
              <a:ext uri="{FF2B5EF4-FFF2-40B4-BE49-F238E27FC236}">
                <a16:creationId xmlns:a16="http://schemas.microsoft.com/office/drawing/2014/main" id="{CA98F99C-55FE-D679-71E4-833C780BA14E}"/>
              </a:ext>
            </a:extLst>
          </p:cNvPr>
          <p:cNvSpPr txBox="1"/>
          <p:nvPr/>
        </p:nvSpPr>
        <p:spPr>
          <a:xfrm>
            <a:off x="685800" y="6135841"/>
            <a:ext cx="10817352" cy="171778"/>
          </a:xfrm>
          <a:prstGeom prst="rect">
            <a:avLst/>
          </a:prstGeom>
          <a:noFill/>
        </p:spPr>
        <p:txBody>
          <a:bodyPr wrap="square" lIns="0" tIns="0" rIns="0" bIns="0" anchor="ctr">
            <a:spAutoFit/>
          </a:bodyPr>
          <a:lstStyle/>
          <a:p>
            <a:pPr algn="l">
              <a:lnSpc>
                <a:spcPct val="110000"/>
              </a:lnSpc>
              <a:spcBef>
                <a:spcPts val="0"/>
              </a:spcBef>
              <a:spcAft>
                <a:spcPts val="0"/>
              </a:spcAft>
            </a:pPr>
            <a:r>
              <a:rPr lang="en-US" sz="1100" b="0" i="0" noProof="0">
                <a:solidFill>
                  <a:srgbClr val="FFFFFF"/>
                </a:solidFill>
                <a:latin typeface="Arial" panose="020B0604020202020204" pitchFamily="34" charset="0"/>
                <a:cs typeface="Arial" panose="020B0604020202020204" pitchFamily="34" charset="0"/>
              </a:rPr>
              <a:t>G&amp;E is the canary of intake fragmentation — zero digital trail, every decision is individual and unreproducible; must be the first area addressed in the TOM</a:t>
            </a:r>
          </a:p>
        </p:txBody>
      </p:sp>
      <p:sp>
        <p:nvSpPr>
          <p:cNvPr id="17" name="Rounded Rectangle 14">
            <a:extLst>
              <a:ext uri="{FF2B5EF4-FFF2-40B4-BE49-F238E27FC236}">
                <a16:creationId xmlns:a16="http://schemas.microsoft.com/office/drawing/2014/main" id="{C99B5E55-9363-3A6A-5183-6800F2CC4674}"/>
              </a:ext>
            </a:extLst>
          </p:cNvPr>
          <p:cNvSpPr/>
          <p:nvPr/>
        </p:nvSpPr>
        <p:spPr>
          <a:xfrm>
            <a:off x="3846726" y="2198334"/>
            <a:ext cx="1097280" cy="182880"/>
          </a:xfr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18" name="Rounded Rectangle 26">
            <a:extLst>
              <a:ext uri="{FF2B5EF4-FFF2-40B4-BE49-F238E27FC236}">
                <a16:creationId xmlns:a16="http://schemas.microsoft.com/office/drawing/2014/main" id="{567B21FF-E410-A7DC-F82D-6D7A8A00E58B}"/>
              </a:ext>
            </a:extLst>
          </p:cNvPr>
          <p:cNvSpPr/>
          <p:nvPr/>
        </p:nvSpPr>
        <p:spPr>
          <a:xfrm>
            <a:off x="3886349" y="2204277"/>
            <a:ext cx="1097280" cy="182880"/>
          </a:xfrm>
          <a:prstGeom prst="round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9" name="TextBox 133">
            <a:extLst>
              <a:ext uri="{FF2B5EF4-FFF2-40B4-BE49-F238E27FC236}">
                <a16:creationId xmlns:a16="http://schemas.microsoft.com/office/drawing/2014/main" id="{C3FEBC41-F098-114B-013F-E642DEC97585}"/>
              </a:ext>
            </a:extLst>
          </p:cNvPr>
          <p:cNvSpPr txBox="1"/>
          <p:nvPr/>
        </p:nvSpPr>
        <p:spPr>
          <a:xfrm>
            <a:off x="3899405" y="2220011"/>
            <a:ext cx="1097280" cy="139525"/>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noProof="0">
                <a:solidFill>
                  <a:srgbClr val="FFFFFF"/>
                </a:solidFill>
                <a:latin typeface="Arial" panose="020B0604020202020204" pitchFamily="34" charset="0"/>
                <a:cs typeface="Arial" panose="020B0604020202020204" pitchFamily="34" charset="0"/>
              </a:rPr>
              <a:t>CRITICAL</a:t>
            </a:r>
          </a:p>
        </p:txBody>
      </p:sp>
      <p:sp>
        <p:nvSpPr>
          <p:cNvPr id="20" name="Rounded Rectangle 14">
            <a:extLst>
              <a:ext uri="{FF2B5EF4-FFF2-40B4-BE49-F238E27FC236}">
                <a16:creationId xmlns:a16="http://schemas.microsoft.com/office/drawing/2014/main" id="{9187EBB2-B57C-7238-D960-DEE9EDEBCED9}"/>
              </a:ext>
            </a:extLst>
          </p:cNvPr>
          <p:cNvSpPr/>
          <p:nvPr/>
        </p:nvSpPr>
        <p:spPr>
          <a:xfrm>
            <a:off x="6003415" y="2198674"/>
            <a:ext cx="1097280" cy="182880"/>
          </a:xfr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21" name="Rounded Rectangle 26">
            <a:extLst>
              <a:ext uri="{FF2B5EF4-FFF2-40B4-BE49-F238E27FC236}">
                <a16:creationId xmlns:a16="http://schemas.microsoft.com/office/drawing/2014/main" id="{B1B77FF8-132D-C20F-FF69-6AB3EE931DBA}"/>
              </a:ext>
            </a:extLst>
          </p:cNvPr>
          <p:cNvSpPr/>
          <p:nvPr/>
        </p:nvSpPr>
        <p:spPr>
          <a:xfrm>
            <a:off x="6043038" y="2204617"/>
            <a:ext cx="1097280" cy="182880"/>
          </a:xfrm>
          <a:prstGeom prst="round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2" name="TextBox 133">
            <a:extLst>
              <a:ext uri="{FF2B5EF4-FFF2-40B4-BE49-F238E27FC236}">
                <a16:creationId xmlns:a16="http://schemas.microsoft.com/office/drawing/2014/main" id="{25FD254E-59C7-3086-3DE2-3423569E22F5}"/>
              </a:ext>
            </a:extLst>
          </p:cNvPr>
          <p:cNvSpPr txBox="1"/>
          <p:nvPr/>
        </p:nvSpPr>
        <p:spPr>
          <a:xfrm>
            <a:off x="6056094" y="2220351"/>
            <a:ext cx="1097280" cy="139525"/>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noProof="0">
                <a:solidFill>
                  <a:srgbClr val="FFFFFF"/>
                </a:solidFill>
                <a:latin typeface="Arial" panose="020B0604020202020204" pitchFamily="34" charset="0"/>
                <a:cs typeface="Arial" panose="020B0604020202020204" pitchFamily="34" charset="0"/>
              </a:rPr>
              <a:t>CRITICAL</a:t>
            </a:r>
          </a:p>
        </p:txBody>
      </p:sp>
      <p:sp>
        <p:nvSpPr>
          <p:cNvPr id="23" name="Rounded Rectangle 14">
            <a:extLst>
              <a:ext uri="{FF2B5EF4-FFF2-40B4-BE49-F238E27FC236}">
                <a16:creationId xmlns:a16="http://schemas.microsoft.com/office/drawing/2014/main" id="{C5B6EF46-D746-0259-09EF-BAD339E74297}"/>
              </a:ext>
            </a:extLst>
          </p:cNvPr>
          <p:cNvSpPr/>
          <p:nvPr/>
        </p:nvSpPr>
        <p:spPr>
          <a:xfrm>
            <a:off x="8277153" y="2189657"/>
            <a:ext cx="1097280" cy="182880"/>
          </a:xfr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24" name="Rounded Rectangle 26">
            <a:extLst>
              <a:ext uri="{FF2B5EF4-FFF2-40B4-BE49-F238E27FC236}">
                <a16:creationId xmlns:a16="http://schemas.microsoft.com/office/drawing/2014/main" id="{C4D90AA1-4D47-4FE0-4427-C19D84F1D93B}"/>
              </a:ext>
            </a:extLst>
          </p:cNvPr>
          <p:cNvSpPr/>
          <p:nvPr/>
        </p:nvSpPr>
        <p:spPr>
          <a:xfrm>
            <a:off x="8316776" y="2195600"/>
            <a:ext cx="1097280" cy="182880"/>
          </a:xfrm>
          <a:prstGeom prst="round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5" name="TextBox 133">
            <a:extLst>
              <a:ext uri="{FF2B5EF4-FFF2-40B4-BE49-F238E27FC236}">
                <a16:creationId xmlns:a16="http://schemas.microsoft.com/office/drawing/2014/main" id="{82F8E2E6-E041-A7FC-A845-3815E80C8361}"/>
              </a:ext>
            </a:extLst>
          </p:cNvPr>
          <p:cNvSpPr txBox="1"/>
          <p:nvPr/>
        </p:nvSpPr>
        <p:spPr>
          <a:xfrm>
            <a:off x="8329832" y="2211334"/>
            <a:ext cx="1097280" cy="139525"/>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noProof="0">
                <a:solidFill>
                  <a:srgbClr val="FFFFFF"/>
                </a:solidFill>
                <a:latin typeface="Arial" panose="020B0604020202020204" pitchFamily="34" charset="0"/>
                <a:cs typeface="Arial" panose="020B0604020202020204" pitchFamily="34" charset="0"/>
              </a:rPr>
              <a:t>CRITICAL</a:t>
            </a:r>
          </a:p>
        </p:txBody>
      </p:sp>
      <p:sp>
        <p:nvSpPr>
          <p:cNvPr id="26" name="Rounded Rectangle 14">
            <a:extLst>
              <a:ext uri="{FF2B5EF4-FFF2-40B4-BE49-F238E27FC236}">
                <a16:creationId xmlns:a16="http://schemas.microsoft.com/office/drawing/2014/main" id="{09792BB8-BAAC-AE39-FED0-814AAC5D504D}"/>
              </a:ext>
            </a:extLst>
          </p:cNvPr>
          <p:cNvSpPr/>
          <p:nvPr/>
        </p:nvSpPr>
        <p:spPr>
          <a:xfrm>
            <a:off x="1559431" y="2192547"/>
            <a:ext cx="1097280" cy="182880"/>
          </a:xfr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27" name="Rounded Rectangle 26">
            <a:extLst>
              <a:ext uri="{FF2B5EF4-FFF2-40B4-BE49-F238E27FC236}">
                <a16:creationId xmlns:a16="http://schemas.microsoft.com/office/drawing/2014/main" id="{E89780AE-D59B-B2B2-783A-66916715B26E}"/>
              </a:ext>
            </a:extLst>
          </p:cNvPr>
          <p:cNvSpPr/>
          <p:nvPr/>
        </p:nvSpPr>
        <p:spPr>
          <a:xfrm>
            <a:off x="1599054" y="2198490"/>
            <a:ext cx="1097280" cy="182880"/>
          </a:xfrm>
          <a:prstGeom prst="round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8" name="TextBox 133">
            <a:extLst>
              <a:ext uri="{FF2B5EF4-FFF2-40B4-BE49-F238E27FC236}">
                <a16:creationId xmlns:a16="http://schemas.microsoft.com/office/drawing/2014/main" id="{FB688644-A054-B5E1-BCC7-230018BF6F17}"/>
              </a:ext>
            </a:extLst>
          </p:cNvPr>
          <p:cNvSpPr txBox="1"/>
          <p:nvPr/>
        </p:nvSpPr>
        <p:spPr>
          <a:xfrm>
            <a:off x="1612110" y="2214224"/>
            <a:ext cx="1097280" cy="139525"/>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noProof="0">
                <a:solidFill>
                  <a:srgbClr val="FFFFFF"/>
                </a:solidFill>
                <a:latin typeface="Arial" panose="020B0604020202020204" pitchFamily="34" charset="0"/>
                <a:cs typeface="Arial" panose="020B0604020202020204" pitchFamily="34" charset="0"/>
              </a:rPr>
              <a:t>CRITICAL</a:t>
            </a:r>
          </a:p>
        </p:txBody>
      </p:sp>
      <p:sp>
        <p:nvSpPr>
          <p:cNvPr id="29" name="Rounded Rectangle 14">
            <a:extLst>
              <a:ext uri="{FF2B5EF4-FFF2-40B4-BE49-F238E27FC236}">
                <a16:creationId xmlns:a16="http://schemas.microsoft.com/office/drawing/2014/main" id="{AA991ADF-115A-338D-5231-4970565968A0}"/>
              </a:ext>
            </a:extLst>
          </p:cNvPr>
          <p:cNvSpPr/>
          <p:nvPr/>
        </p:nvSpPr>
        <p:spPr>
          <a:xfrm>
            <a:off x="10279610" y="2182215"/>
            <a:ext cx="1097280" cy="182880"/>
          </a:xfr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30" name="Rounded Rectangle 26">
            <a:extLst>
              <a:ext uri="{FF2B5EF4-FFF2-40B4-BE49-F238E27FC236}">
                <a16:creationId xmlns:a16="http://schemas.microsoft.com/office/drawing/2014/main" id="{B507F956-4C6D-4691-8050-C3BCFF60D5F8}"/>
              </a:ext>
            </a:extLst>
          </p:cNvPr>
          <p:cNvSpPr/>
          <p:nvPr/>
        </p:nvSpPr>
        <p:spPr>
          <a:xfrm>
            <a:off x="10319233" y="2188158"/>
            <a:ext cx="1097280" cy="182880"/>
          </a:xfrm>
          <a:prstGeom prst="round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1" name="TextBox 133">
            <a:extLst>
              <a:ext uri="{FF2B5EF4-FFF2-40B4-BE49-F238E27FC236}">
                <a16:creationId xmlns:a16="http://schemas.microsoft.com/office/drawing/2014/main" id="{C115B7EC-42A7-F234-94D9-A6D750F0626F}"/>
              </a:ext>
            </a:extLst>
          </p:cNvPr>
          <p:cNvSpPr txBox="1"/>
          <p:nvPr/>
        </p:nvSpPr>
        <p:spPr>
          <a:xfrm>
            <a:off x="10332289" y="2203892"/>
            <a:ext cx="1097280" cy="139525"/>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noProof="0">
                <a:solidFill>
                  <a:srgbClr val="FFFFFF"/>
                </a:solidFill>
                <a:latin typeface="Arial" panose="020B0604020202020204" pitchFamily="34" charset="0"/>
                <a:cs typeface="Arial" panose="020B0604020202020204" pitchFamily="34" charset="0"/>
              </a:rPr>
              <a:t>CRITICAL</a:t>
            </a:r>
          </a:p>
        </p:txBody>
      </p:sp>
      <p:sp>
        <p:nvSpPr>
          <p:cNvPr id="14" name="Rectangle: Rounded Corners 18">
            <a:extLst>
              <a:ext uri="{FF2B5EF4-FFF2-40B4-BE49-F238E27FC236}">
                <a16:creationId xmlns:a16="http://schemas.microsoft.com/office/drawing/2014/main" id="{30E1F564-4991-52DB-D92F-2E8C8EFE3715}"/>
              </a:ext>
            </a:extLst>
          </p:cNvPr>
          <p:cNvSpPr/>
          <p:nvPr/>
        </p:nvSpPr>
        <p:spPr>
          <a:xfrm>
            <a:off x="7039633" y="186528"/>
            <a:ext cx="1668780" cy="343539"/>
          </a:xfrm>
          <a:prstGeom prst="roundRect">
            <a:avLst/>
          </a:prstGeom>
          <a:solidFill>
            <a:schemeClr val="accent3"/>
          </a:solid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a:t>IT Business Apps</a:t>
            </a:r>
          </a:p>
        </p:txBody>
      </p:sp>
      <p:sp>
        <p:nvSpPr>
          <p:cNvPr id="16" name="Rectangle: Rounded Corners 25">
            <a:extLst>
              <a:ext uri="{FF2B5EF4-FFF2-40B4-BE49-F238E27FC236}">
                <a16:creationId xmlns:a16="http://schemas.microsoft.com/office/drawing/2014/main" id="{74AEACB9-7599-06A6-C8AA-22CF4BEAE47F}"/>
              </a:ext>
            </a:extLst>
          </p:cNvPr>
          <p:cNvSpPr/>
          <p:nvPr/>
        </p:nvSpPr>
        <p:spPr>
          <a:xfrm>
            <a:off x="8771785" y="186528"/>
            <a:ext cx="1668780" cy="343539"/>
          </a:xfrm>
          <a:prstGeom prst="roundRect">
            <a:avLst/>
          </a:prstGeom>
          <a:solidFill>
            <a:schemeClr val="accent4">
              <a:lumMod val="75000"/>
            </a:schemeClr>
          </a:solidFill>
          <a:ln>
            <a:solidFill>
              <a:schemeClr val="accent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a:solidFill>
                  <a:schemeClr val="bg1">
                    <a:lumMod val="85000"/>
                  </a:schemeClr>
                </a:solidFill>
              </a:rPr>
              <a:t>Customer Services Apps</a:t>
            </a:r>
          </a:p>
        </p:txBody>
      </p:sp>
    </p:spTree>
    <p:extLst>
      <p:ext uri="{BB962C8B-B14F-4D97-AF65-F5344CB8AC3E}">
        <p14:creationId xmlns:p14="http://schemas.microsoft.com/office/powerpoint/2010/main" val="2478465707"/>
      </p:ext>
    </p:extLst>
  </p:cSld>
  <p:clrMapOvr>
    <a:masterClrMapping/>
  </p:clrMapOvr>
  <p:extLst>
    <p:ext uri="{6950BFC3-D8DA-4A85-94F7-54DA5524770B}">
      <p188:commentRel xmlns:p188="http://schemas.microsoft.com/office/powerpoint/2018/8/main" r:id="rId3"/>
    </p:ext>
  </p:extLs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CD07A6-81CF-ED45-71ED-164984AC4031}"/>
            </a:ext>
          </a:extLst>
        </p:cNvPr>
        <p:cNvGrpSpPr/>
        <p:nvPr/>
      </p:nvGrpSpPr>
      <p:grpSpPr>
        <a:xfrm>
          <a:off x="0" y="0"/>
          <a:ext cx="0" cy="0"/>
          <a:chOff x="0" y="0"/>
          <a:chExt cx="0" cy="0"/>
        </a:xfrm>
      </p:grpSpPr>
      <p:sp>
        <p:nvSpPr>
          <p:cNvPr id="238" name="TextBox 2">
            <a:extLst>
              <a:ext uri="{FF2B5EF4-FFF2-40B4-BE49-F238E27FC236}">
                <a16:creationId xmlns:a16="http://schemas.microsoft.com/office/drawing/2014/main" id="{1EF05140-21A2-BBA3-7DBF-749DC78932B5}"/>
              </a:ext>
            </a:extLst>
          </p:cNvPr>
          <p:cNvSpPr txBox="1"/>
          <p:nvPr/>
        </p:nvSpPr>
        <p:spPr>
          <a:xfrm>
            <a:off x="457201" y="964799"/>
            <a:ext cx="11463124" cy="523220"/>
          </a:xfrm>
          <a:prstGeom prst="rect">
            <a:avLst/>
          </a:prstGeom>
          <a:noFill/>
        </p:spPr>
        <p:txBody>
          <a:bodyPr wrap="square" lIns="0" tIns="0" rIns="0" bIns="0" rtlCol="0">
            <a:noAutofit/>
          </a:bodyPr>
          <a:lstStyle>
            <a:defPPr>
              <a:defRPr lang="en-US"/>
            </a:defPPr>
            <a:lvl1pPr algn="just">
              <a:defRPr sz="1400" b="1">
                <a:solidFill>
                  <a:schemeClr val="accent4">
                    <a:lumMod val="75000"/>
                  </a:schemeClr>
                </a:solidFill>
                <a:latin typeface="Arial" panose="020B0604020202020204" pitchFamily="34" charset="0"/>
                <a:cs typeface="Arial" panose="020B0604020202020204" pitchFamily="34" charset="0"/>
              </a:defRPr>
            </a:lvl1pPr>
            <a:lvl2pPr marL="228586" algn="l" rtl="0" eaLnBrk="0" fontAlgn="base" hangingPunct="0">
              <a:spcBef>
                <a:spcPct val="0"/>
              </a:spcBef>
              <a:spcAft>
                <a:spcPct val="0"/>
              </a:spcAft>
              <a:defRPr kern="1200">
                <a:solidFill>
                  <a:schemeClr val="tx1"/>
                </a:solidFill>
                <a:latin typeface="Arial" pitchFamily="2" charset="77"/>
                <a:ea typeface="+mn-ea"/>
                <a:cs typeface="+mn-cs"/>
              </a:defRPr>
            </a:lvl2pPr>
            <a:lvl3pPr marL="457172" algn="l" rtl="0" eaLnBrk="0" fontAlgn="base" hangingPunct="0">
              <a:spcBef>
                <a:spcPct val="0"/>
              </a:spcBef>
              <a:spcAft>
                <a:spcPct val="0"/>
              </a:spcAft>
              <a:defRPr kern="1200">
                <a:solidFill>
                  <a:schemeClr val="tx1"/>
                </a:solidFill>
                <a:latin typeface="Arial" pitchFamily="2" charset="77"/>
                <a:ea typeface="+mn-ea"/>
                <a:cs typeface="+mn-cs"/>
              </a:defRPr>
            </a:lvl3pPr>
            <a:lvl4pPr marL="685757" algn="l" rtl="0" eaLnBrk="0" fontAlgn="base" hangingPunct="0">
              <a:spcBef>
                <a:spcPct val="0"/>
              </a:spcBef>
              <a:spcAft>
                <a:spcPct val="0"/>
              </a:spcAft>
              <a:defRPr kern="1200">
                <a:solidFill>
                  <a:schemeClr val="tx1"/>
                </a:solidFill>
                <a:latin typeface="Arial" pitchFamily="2" charset="77"/>
                <a:ea typeface="+mn-ea"/>
                <a:cs typeface="+mn-cs"/>
              </a:defRPr>
            </a:lvl4pPr>
            <a:lvl5pPr marL="914343" algn="l" rtl="0" eaLnBrk="0" fontAlgn="base" hangingPunct="0">
              <a:spcBef>
                <a:spcPct val="0"/>
              </a:spcBef>
              <a:spcAft>
                <a:spcPct val="0"/>
              </a:spcAft>
              <a:defRPr kern="1200">
                <a:solidFill>
                  <a:schemeClr val="tx1"/>
                </a:solidFill>
                <a:latin typeface="Arial" pitchFamily="2" charset="77"/>
                <a:ea typeface="+mn-ea"/>
                <a:cs typeface="+mn-cs"/>
              </a:defRPr>
            </a:lvl5pPr>
            <a:lvl6pPr marL="1142929" algn="l" defTabSz="457172" rtl="0" eaLnBrk="1" latinLnBrk="0" hangingPunct="1">
              <a:defRPr kern="1200">
                <a:solidFill>
                  <a:schemeClr val="tx1"/>
                </a:solidFill>
                <a:latin typeface="Arial" pitchFamily="2" charset="77"/>
                <a:ea typeface="+mn-ea"/>
                <a:cs typeface="+mn-cs"/>
              </a:defRPr>
            </a:lvl6pPr>
            <a:lvl7pPr marL="1371515" algn="l" defTabSz="457172" rtl="0" eaLnBrk="1" latinLnBrk="0" hangingPunct="1">
              <a:defRPr kern="1200">
                <a:solidFill>
                  <a:schemeClr val="tx1"/>
                </a:solidFill>
                <a:latin typeface="Arial" pitchFamily="2" charset="77"/>
                <a:ea typeface="+mn-ea"/>
                <a:cs typeface="+mn-cs"/>
              </a:defRPr>
            </a:lvl7pPr>
            <a:lvl8pPr marL="1600100" algn="l" defTabSz="457172" rtl="0" eaLnBrk="1" latinLnBrk="0" hangingPunct="1">
              <a:defRPr kern="1200">
                <a:solidFill>
                  <a:schemeClr val="tx1"/>
                </a:solidFill>
                <a:latin typeface="Arial" pitchFamily="2" charset="77"/>
                <a:ea typeface="+mn-ea"/>
                <a:cs typeface="+mn-cs"/>
              </a:defRPr>
            </a:lvl8pPr>
            <a:lvl9pPr marL="1828686" algn="l" defTabSz="457172" rtl="0" eaLnBrk="1" latinLnBrk="0" hangingPunct="1">
              <a:defRPr kern="1200">
                <a:solidFill>
                  <a:schemeClr val="tx1"/>
                </a:solidFill>
                <a:latin typeface="Arial" pitchFamily="2" charset="77"/>
                <a:ea typeface="+mn-ea"/>
                <a:cs typeface="+mn-cs"/>
              </a:defRPr>
            </a:lvl9pPr>
          </a:lstStyle>
          <a:p>
            <a:r>
              <a:rPr lang="en-US" noProof="0"/>
              <a:t>Global SAP — Iberdrola has the most mature channel taxonomy — but is trapped by incident overload</a:t>
            </a:r>
          </a:p>
          <a:p>
            <a:endParaRPr lang="en-US" noProof="0"/>
          </a:p>
          <a:p>
            <a:endParaRPr lang="en-US" noProof="0"/>
          </a:p>
        </p:txBody>
      </p:sp>
      <p:sp>
        <p:nvSpPr>
          <p:cNvPr id="5" name="Título 2">
            <a:extLst>
              <a:ext uri="{FF2B5EF4-FFF2-40B4-BE49-F238E27FC236}">
                <a16:creationId xmlns:a16="http://schemas.microsoft.com/office/drawing/2014/main" id="{3415CF05-32EB-BDE7-62A2-ED6A2A103C16}"/>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r>
              <a:rPr lang="en-US" sz="2400" noProof="0">
                <a:latin typeface="Arial" panose="020B0604020202020204" pitchFamily="34" charset="0"/>
                <a:cs typeface="Arial" panose="020B0604020202020204" pitchFamily="34" charset="0"/>
              </a:rPr>
              <a:t>CURRENT STATE ANALYSIS</a:t>
            </a:r>
          </a:p>
          <a:p>
            <a:r>
              <a:rPr lang="en-US" sz="1200" noProof="0">
                <a:latin typeface="Arial" panose="020B0604020202020204" pitchFamily="34" charset="0"/>
                <a:cs typeface="Arial" panose="020B0604020202020204" pitchFamily="34" charset="0"/>
              </a:rPr>
              <a:t>VALUE STREAM MAPPING - DEMAND FLOW</a:t>
            </a:r>
          </a:p>
        </p:txBody>
      </p:sp>
      <p:sp>
        <p:nvSpPr>
          <p:cNvPr id="16" name="Rectangle 15">
            <a:extLst>
              <a:ext uri="{FF2B5EF4-FFF2-40B4-BE49-F238E27FC236}">
                <a16:creationId xmlns:a16="http://schemas.microsoft.com/office/drawing/2014/main" id="{49C08E27-0A09-CEE8-D2F8-B20A1A31A1E0}"/>
              </a:ext>
            </a:extLst>
          </p:cNvPr>
          <p:cNvSpPr/>
          <p:nvPr/>
        </p:nvSpPr>
        <p:spPr>
          <a:xfrm>
            <a:off x="457200" y="1407211"/>
            <a:ext cx="11274552"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7" name="Rectangle 16">
            <a:extLst>
              <a:ext uri="{FF2B5EF4-FFF2-40B4-BE49-F238E27FC236}">
                <a16:creationId xmlns:a16="http://schemas.microsoft.com/office/drawing/2014/main" id="{9F94A319-08BF-1782-128C-E71C5E16CFAC}"/>
              </a:ext>
            </a:extLst>
          </p:cNvPr>
          <p:cNvSpPr/>
          <p:nvPr/>
        </p:nvSpPr>
        <p:spPr>
          <a:xfrm>
            <a:off x="457200" y="1407211"/>
            <a:ext cx="1828800" cy="274320"/>
          </a:xfrm>
          <a:prstGeom prst="rect">
            <a:avLst/>
          </a:prstGeom>
          <a:solidFill>
            <a:schemeClr val="accent4">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solidFill>
                <a:schemeClr val="tx1"/>
              </a:solidFill>
              <a:latin typeface="Arial" panose="020B0604020202020204" pitchFamily="34" charset="0"/>
              <a:cs typeface="Arial" panose="020B0604020202020204" pitchFamily="34" charset="0"/>
            </a:endParaRPr>
          </a:p>
        </p:txBody>
      </p:sp>
      <p:sp>
        <p:nvSpPr>
          <p:cNvPr id="18" name="TextBox 17">
            <a:extLst>
              <a:ext uri="{FF2B5EF4-FFF2-40B4-BE49-F238E27FC236}">
                <a16:creationId xmlns:a16="http://schemas.microsoft.com/office/drawing/2014/main" id="{BA8F5F18-3315-CB62-CEAD-3B88786D8B49}"/>
              </a:ext>
            </a:extLst>
          </p:cNvPr>
          <p:cNvSpPr txBox="1"/>
          <p:nvPr/>
        </p:nvSpPr>
        <p:spPr>
          <a:xfrm>
            <a:off x="457200" y="1474127"/>
            <a:ext cx="1828800" cy="140488"/>
          </a:xfrm>
          <a:prstGeom prst="rect">
            <a:avLst/>
          </a:prstGeom>
          <a:solidFill>
            <a:schemeClr val="accent4">
              <a:lumMod val="20000"/>
              <a:lumOff val="80000"/>
            </a:schemeClr>
          </a:solidFill>
        </p:spPr>
        <p:txBody>
          <a:bodyPr wrap="square" lIns="0" tIns="0" rIns="0" bIns="0" anchor="ctr">
            <a:spAutoFit/>
          </a:bodyPr>
          <a:lstStyle/>
          <a:p>
            <a:pPr algn="ctr">
              <a:lnSpc>
                <a:spcPct val="110000"/>
              </a:lnSpc>
              <a:spcBef>
                <a:spcPts val="0"/>
              </a:spcBef>
              <a:spcAft>
                <a:spcPts val="0"/>
              </a:spcAft>
            </a:pPr>
            <a:r>
              <a:rPr lang="en-US" sz="900" b="1" i="0" noProof="0">
                <a:latin typeface="Arial" panose="020B0604020202020204" pitchFamily="34" charset="0"/>
                <a:cs typeface="Arial" panose="020B0604020202020204" pitchFamily="34" charset="0"/>
              </a:rPr>
              <a:t>BUSINESS REQUESTERS</a:t>
            </a:r>
          </a:p>
        </p:txBody>
      </p:sp>
      <p:sp>
        <p:nvSpPr>
          <p:cNvPr id="19" name="TextBox 18">
            <a:extLst>
              <a:ext uri="{FF2B5EF4-FFF2-40B4-BE49-F238E27FC236}">
                <a16:creationId xmlns:a16="http://schemas.microsoft.com/office/drawing/2014/main" id="{7A69397F-9DE4-E3B3-8043-F5B6ECD162D5}"/>
              </a:ext>
            </a:extLst>
          </p:cNvPr>
          <p:cNvSpPr txBox="1"/>
          <p:nvPr/>
        </p:nvSpPr>
        <p:spPr>
          <a:xfrm>
            <a:off x="2377440" y="1474127"/>
            <a:ext cx="9281160" cy="140488"/>
          </a:xfrm>
          <a:prstGeom prst="rect">
            <a:avLst/>
          </a:prstGeom>
          <a:solidFill>
            <a:schemeClr val="accent1"/>
          </a:solidFill>
        </p:spPr>
        <p:txBody>
          <a:bodyPr wrap="square" lIns="0" tIns="0" rIns="0" bIns="0" anchor="ctr">
            <a:spAutoFit/>
          </a:bodyPr>
          <a:lstStyle/>
          <a:p>
            <a:pPr>
              <a:lnSpc>
                <a:spcPct val="110000"/>
              </a:lnSpc>
            </a:pPr>
            <a:r>
              <a:rPr lang="en-US" sz="900" noProof="0">
                <a:solidFill>
                  <a:schemeClr val="bg1"/>
                </a:solidFill>
                <a:latin typeface="Arial" panose="020B0604020202020204" pitchFamily="34" charset="0"/>
                <a:cs typeface="Arial" panose="020B0604020202020204" pitchFamily="34" charset="0"/>
              </a:rPr>
              <a:t>Iberdrola Finance · Controlling · Procurement · Vendor</a:t>
            </a:r>
          </a:p>
        </p:txBody>
      </p:sp>
      <p:sp>
        <p:nvSpPr>
          <p:cNvPr id="20" name="Rectangle 19">
            <a:extLst>
              <a:ext uri="{FF2B5EF4-FFF2-40B4-BE49-F238E27FC236}">
                <a16:creationId xmlns:a16="http://schemas.microsoft.com/office/drawing/2014/main" id="{3D69B7B7-F7FE-1F58-3C97-8603ED2CB2BF}"/>
              </a:ext>
            </a:extLst>
          </p:cNvPr>
          <p:cNvSpPr/>
          <p:nvPr/>
        </p:nvSpPr>
        <p:spPr>
          <a:xfrm>
            <a:off x="1097280" y="1800887"/>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DE763A18-C744-3CB7-F24B-8E3AC1BF1F6F}"/>
              </a:ext>
            </a:extLst>
          </p:cNvPr>
          <p:cNvSpPr txBox="1"/>
          <p:nvPr/>
        </p:nvSpPr>
        <p:spPr>
          <a:xfrm>
            <a:off x="1097280" y="1880911"/>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01 INTAKE</a:t>
            </a:r>
          </a:p>
        </p:txBody>
      </p:sp>
      <p:sp>
        <p:nvSpPr>
          <p:cNvPr id="24" name="Rectangle 23">
            <a:extLst>
              <a:ext uri="{FF2B5EF4-FFF2-40B4-BE49-F238E27FC236}">
                <a16:creationId xmlns:a16="http://schemas.microsoft.com/office/drawing/2014/main" id="{8E2D517C-A7A7-F8E0-343A-B7C006594EE7}"/>
              </a:ext>
            </a:extLst>
          </p:cNvPr>
          <p:cNvSpPr/>
          <p:nvPr/>
        </p:nvSpPr>
        <p:spPr>
          <a:xfrm>
            <a:off x="3319272" y="1800887"/>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5" name="TextBox 24">
            <a:extLst>
              <a:ext uri="{FF2B5EF4-FFF2-40B4-BE49-F238E27FC236}">
                <a16:creationId xmlns:a16="http://schemas.microsoft.com/office/drawing/2014/main" id="{F7E29658-2AAF-176B-1863-8C4246DFA21F}"/>
              </a:ext>
            </a:extLst>
          </p:cNvPr>
          <p:cNvSpPr txBox="1"/>
          <p:nvPr/>
        </p:nvSpPr>
        <p:spPr>
          <a:xfrm>
            <a:off x="3319272" y="1880911"/>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02 CLASSIFICATION</a:t>
            </a:r>
          </a:p>
        </p:txBody>
      </p:sp>
      <p:sp>
        <p:nvSpPr>
          <p:cNvPr id="28" name="Rectangle 27">
            <a:extLst>
              <a:ext uri="{FF2B5EF4-FFF2-40B4-BE49-F238E27FC236}">
                <a16:creationId xmlns:a16="http://schemas.microsoft.com/office/drawing/2014/main" id="{1275E712-F0BC-E616-E8E3-1BFE5FD82DC2}"/>
              </a:ext>
            </a:extLst>
          </p:cNvPr>
          <p:cNvSpPr/>
          <p:nvPr/>
        </p:nvSpPr>
        <p:spPr>
          <a:xfrm>
            <a:off x="5541264" y="1800887"/>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9" name="TextBox 28">
            <a:extLst>
              <a:ext uri="{FF2B5EF4-FFF2-40B4-BE49-F238E27FC236}">
                <a16:creationId xmlns:a16="http://schemas.microsoft.com/office/drawing/2014/main" id="{3F0420E3-5DB2-B38F-1AA6-331A7D703CBE}"/>
              </a:ext>
            </a:extLst>
          </p:cNvPr>
          <p:cNvSpPr txBox="1"/>
          <p:nvPr/>
        </p:nvSpPr>
        <p:spPr>
          <a:xfrm>
            <a:off x="5541264" y="1880911"/>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03 PRIORITIZATION</a:t>
            </a:r>
          </a:p>
        </p:txBody>
      </p:sp>
      <p:sp>
        <p:nvSpPr>
          <p:cNvPr id="32" name="Rectangle 31">
            <a:extLst>
              <a:ext uri="{FF2B5EF4-FFF2-40B4-BE49-F238E27FC236}">
                <a16:creationId xmlns:a16="http://schemas.microsoft.com/office/drawing/2014/main" id="{B3D6ABE7-3244-334E-B6B9-57837EBD6404}"/>
              </a:ext>
            </a:extLst>
          </p:cNvPr>
          <p:cNvSpPr/>
          <p:nvPr/>
        </p:nvSpPr>
        <p:spPr>
          <a:xfrm>
            <a:off x="7763256" y="1800887"/>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3" name="TextBox 32">
            <a:extLst>
              <a:ext uri="{FF2B5EF4-FFF2-40B4-BE49-F238E27FC236}">
                <a16:creationId xmlns:a16="http://schemas.microsoft.com/office/drawing/2014/main" id="{FA540CDC-1BB4-F1DC-9ADF-82DF47070B91}"/>
              </a:ext>
            </a:extLst>
          </p:cNvPr>
          <p:cNvSpPr txBox="1"/>
          <p:nvPr/>
        </p:nvSpPr>
        <p:spPr>
          <a:xfrm>
            <a:off x="7763256" y="1880911"/>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04 PORTFOLIO</a:t>
            </a:r>
          </a:p>
        </p:txBody>
      </p:sp>
      <p:sp>
        <p:nvSpPr>
          <p:cNvPr id="36" name="Rectangle 35">
            <a:extLst>
              <a:ext uri="{FF2B5EF4-FFF2-40B4-BE49-F238E27FC236}">
                <a16:creationId xmlns:a16="http://schemas.microsoft.com/office/drawing/2014/main" id="{48E4F48C-3BA1-830A-5B10-5807D832FD4E}"/>
              </a:ext>
            </a:extLst>
          </p:cNvPr>
          <p:cNvSpPr/>
          <p:nvPr/>
        </p:nvSpPr>
        <p:spPr>
          <a:xfrm>
            <a:off x="9985248" y="1800887"/>
            <a:ext cx="1746504"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7" name="TextBox 36">
            <a:extLst>
              <a:ext uri="{FF2B5EF4-FFF2-40B4-BE49-F238E27FC236}">
                <a16:creationId xmlns:a16="http://schemas.microsoft.com/office/drawing/2014/main" id="{6484EA92-A308-A41A-79AB-F894E8EE153F}"/>
              </a:ext>
            </a:extLst>
          </p:cNvPr>
          <p:cNvSpPr txBox="1"/>
          <p:nvPr/>
        </p:nvSpPr>
        <p:spPr>
          <a:xfrm>
            <a:off x="9985248" y="1880911"/>
            <a:ext cx="1746504"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05 DELIVERY</a:t>
            </a:r>
          </a:p>
        </p:txBody>
      </p:sp>
      <p:sp>
        <p:nvSpPr>
          <p:cNvPr id="40" name="Rectangle 39">
            <a:extLst>
              <a:ext uri="{FF2B5EF4-FFF2-40B4-BE49-F238E27FC236}">
                <a16:creationId xmlns:a16="http://schemas.microsoft.com/office/drawing/2014/main" id="{31B5D4C0-36FA-560A-BF2A-21696E4CD4CE}"/>
              </a:ext>
            </a:extLst>
          </p:cNvPr>
          <p:cNvSpPr/>
          <p:nvPr/>
        </p:nvSpPr>
        <p:spPr>
          <a:xfrm>
            <a:off x="457200" y="2440967"/>
            <a:ext cx="594360" cy="49377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 name="TextBox 40">
            <a:extLst>
              <a:ext uri="{FF2B5EF4-FFF2-40B4-BE49-F238E27FC236}">
                <a16:creationId xmlns:a16="http://schemas.microsoft.com/office/drawing/2014/main" id="{36718142-5EDC-8FAD-09CE-CD0613D4BE20}"/>
              </a:ext>
            </a:extLst>
          </p:cNvPr>
          <p:cNvSpPr txBox="1"/>
          <p:nvPr/>
        </p:nvSpPr>
        <p:spPr>
          <a:xfrm>
            <a:off x="457200" y="2514698"/>
            <a:ext cx="594360" cy="346313"/>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700" b="1" i="0" noProof="0">
                <a:solidFill>
                  <a:srgbClr val="FFFFFF"/>
                </a:solidFill>
                <a:latin typeface="Arial" panose="020B0604020202020204" pitchFamily="34" charset="0"/>
                <a:cs typeface="Arial" panose="020B0604020202020204" pitchFamily="34" charset="0"/>
              </a:rPr>
              <a:t>CHANNELS  ·  HOW IT ARRIVES</a:t>
            </a:r>
          </a:p>
        </p:txBody>
      </p:sp>
      <p:sp>
        <p:nvSpPr>
          <p:cNvPr id="42" name="Rectangle 41">
            <a:extLst>
              <a:ext uri="{FF2B5EF4-FFF2-40B4-BE49-F238E27FC236}">
                <a16:creationId xmlns:a16="http://schemas.microsoft.com/office/drawing/2014/main" id="{86F0FE47-51A2-2C1F-ADB2-3877F9F5DBC3}"/>
              </a:ext>
            </a:extLst>
          </p:cNvPr>
          <p:cNvSpPr/>
          <p:nvPr/>
        </p:nvSpPr>
        <p:spPr>
          <a:xfrm>
            <a:off x="1097280" y="2440967"/>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3" name="TextBox 42">
            <a:extLst>
              <a:ext uri="{FF2B5EF4-FFF2-40B4-BE49-F238E27FC236}">
                <a16:creationId xmlns:a16="http://schemas.microsoft.com/office/drawing/2014/main" id="{E8DA5030-564B-58FE-30BA-505E340F1456}"/>
              </a:ext>
            </a:extLst>
          </p:cNvPr>
          <p:cNvSpPr txBox="1"/>
          <p:nvPr/>
        </p:nvSpPr>
        <p:spPr>
          <a:xfrm>
            <a:off x="1188720" y="2486687"/>
            <a:ext cx="1984248" cy="44518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IT Now (Incidents) · RITM (Minor) · Jira (Small Demands) · SharePoint + Teams (Projects)</a:t>
            </a:r>
          </a:p>
        </p:txBody>
      </p:sp>
      <p:sp>
        <p:nvSpPr>
          <p:cNvPr id="44" name="Rectangle 43">
            <a:extLst>
              <a:ext uri="{FF2B5EF4-FFF2-40B4-BE49-F238E27FC236}">
                <a16:creationId xmlns:a16="http://schemas.microsoft.com/office/drawing/2014/main" id="{FC305FDF-B19F-DAAB-69FD-9D7B8B0D136C}"/>
              </a:ext>
            </a:extLst>
          </p:cNvPr>
          <p:cNvSpPr/>
          <p:nvPr/>
        </p:nvSpPr>
        <p:spPr>
          <a:xfrm>
            <a:off x="3319272" y="2440967"/>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5" name="TextBox 44">
            <a:extLst>
              <a:ext uri="{FF2B5EF4-FFF2-40B4-BE49-F238E27FC236}">
                <a16:creationId xmlns:a16="http://schemas.microsoft.com/office/drawing/2014/main" id="{C72A773F-3CD7-D644-A1F3-CC277E854F62}"/>
              </a:ext>
            </a:extLst>
          </p:cNvPr>
          <p:cNvSpPr txBox="1"/>
          <p:nvPr/>
        </p:nvSpPr>
        <p:spPr>
          <a:xfrm>
            <a:off x="3410712" y="2486687"/>
            <a:ext cx="1984248" cy="293350"/>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 Small: JIRA · Minor: RITM · Major: SharePoint </a:t>
            </a:r>
          </a:p>
        </p:txBody>
      </p:sp>
      <p:sp>
        <p:nvSpPr>
          <p:cNvPr id="46" name="Rectangle 45">
            <a:extLst>
              <a:ext uri="{FF2B5EF4-FFF2-40B4-BE49-F238E27FC236}">
                <a16:creationId xmlns:a16="http://schemas.microsoft.com/office/drawing/2014/main" id="{DC2AB727-A3F8-3647-4AC6-59C13EC04C9E}"/>
              </a:ext>
            </a:extLst>
          </p:cNvPr>
          <p:cNvSpPr/>
          <p:nvPr/>
        </p:nvSpPr>
        <p:spPr>
          <a:xfrm>
            <a:off x="5541264" y="2440967"/>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7" name="TextBox 46">
            <a:extLst>
              <a:ext uri="{FF2B5EF4-FFF2-40B4-BE49-F238E27FC236}">
                <a16:creationId xmlns:a16="http://schemas.microsoft.com/office/drawing/2014/main" id="{DFC5A220-CA69-1E16-19D0-980ADFA4B6D5}"/>
              </a:ext>
            </a:extLst>
          </p:cNvPr>
          <p:cNvSpPr txBox="1"/>
          <p:nvPr/>
        </p:nvSpPr>
        <p:spPr>
          <a:xfrm>
            <a:off x="5632704" y="2486687"/>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#1 Incidents always first; #2 Small + Major; P&amp;T prioritizes projects</a:t>
            </a:r>
          </a:p>
        </p:txBody>
      </p:sp>
      <p:sp>
        <p:nvSpPr>
          <p:cNvPr id="48" name="Rectangle 47">
            <a:extLst>
              <a:ext uri="{FF2B5EF4-FFF2-40B4-BE49-F238E27FC236}">
                <a16:creationId xmlns:a16="http://schemas.microsoft.com/office/drawing/2014/main" id="{88A8976B-C90F-42AE-04AE-734193179383}"/>
              </a:ext>
            </a:extLst>
          </p:cNvPr>
          <p:cNvSpPr/>
          <p:nvPr/>
        </p:nvSpPr>
        <p:spPr>
          <a:xfrm>
            <a:off x="7763256" y="2440967"/>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9" name="TextBox 48">
            <a:extLst>
              <a:ext uri="{FF2B5EF4-FFF2-40B4-BE49-F238E27FC236}">
                <a16:creationId xmlns:a16="http://schemas.microsoft.com/office/drawing/2014/main" id="{228E7014-97DA-C0FF-4EFA-ECD0AC6164D8}"/>
              </a:ext>
            </a:extLst>
          </p:cNvPr>
          <p:cNvSpPr txBox="1"/>
          <p:nvPr/>
        </p:nvSpPr>
        <p:spPr>
          <a:xfrm>
            <a:off x="7854696" y="2486687"/>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PDD for major projects; SharePoint is project home</a:t>
            </a:r>
          </a:p>
        </p:txBody>
      </p:sp>
      <p:sp>
        <p:nvSpPr>
          <p:cNvPr id="165" name="Rectangle 164">
            <a:extLst>
              <a:ext uri="{FF2B5EF4-FFF2-40B4-BE49-F238E27FC236}">
                <a16:creationId xmlns:a16="http://schemas.microsoft.com/office/drawing/2014/main" id="{4FE75387-1EEF-8AF8-7FAF-CCFB336B2A8C}"/>
              </a:ext>
            </a:extLst>
          </p:cNvPr>
          <p:cNvSpPr/>
          <p:nvPr/>
        </p:nvSpPr>
        <p:spPr>
          <a:xfrm>
            <a:off x="9985248" y="2440967"/>
            <a:ext cx="1746504"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92" name="TextBox 191">
            <a:extLst>
              <a:ext uri="{FF2B5EF4-FFF2-40B4-BE49-F238E27FC236}">
                <a16:creationId xmlns:a16="http://schemas.microsoft.com/office/drawing/2014/main" id="{9EE8AC43-22A0-5A6E-22F7-0AED1C43188A}"/>
              </a:ext>
            </a:extLst>
          </p:cNvPr>
          <p:cNvSpPr txBox="1"/>
          <p:nvPr/>
        </p:nvSpPr>
        <p:spPr>
          <a:xfrm>
            <a:off x="10076688" y="2486687"/>
            <a:ext cx="1599120"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Vendor + SWF run delivery</a:t>
            </a:r>
          </a:p>
        </p:txBody>
      </p:sp>
      <p:sp>
        <p:nvSpPr>
          <p:cNvPr id="193" name="Rectangle 192">
            <a:extLst>
              <a:ext uri="{FF2B5EF4-FFF2-40B4-BE49-F238E27FC236}">
                <a16:creationId xmlns:a16="http://schemas.microsoft.com/office/drawing/2014/main" id="{D5034AFF-59FD-C39C-B45D-001ABE543751}"/>
              </a:ext>
            </a:extLst>
          </p:cNvPr>
          <p:cNvSpPr/>
          <p:nvPr/>
        </p:nvSpPr>
        <p:spPr>
          <a:xfrm>
            <a:off x="457200" y="2971319"/>
            <a:ext cx="594360" cy="49377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94" name="TextBox 193">
            <a:extLst>
              <a:ext uri="{FF2B5EF4-FFF2-40B4-BE49-F238E27FC236}">
                <a16:creationId xmlns:a16="http://schemas.microsoft.com/office/drawing/2014/main" id="{1959F40A-527C-F7A4-FC6B-1A360ADB46AF}"/>
              </a:ext>
            </a:extLst>
          </p:cNvPr>
          <p:cNvSpPr txBox="1"/>
          <p:nvPr/>
        </p:nvSpPr>
        <p:spPr>
          <a:xfrm>
            <a:off x="457200" y="3163544"/>
            <a:ext cx="594360" cy="109325"/>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700" b="1" i="0" noProof="0">
                <a:solidFill>
                  <a:srgbClr val="FFFFFF"/>
                </a:solidFill>
                <a:latin typeface="Arial" panose="020B0604020202020204" pitchFamily="34" charset="0"/>
                <a:cs typeface="Arial" panose="020B0604020202020204" pitchFamily="34" charset="0"/>
              </a:rPr>
              <a:t>ROLES</a:t>
            </a:r>
          </a:p>
        </p:txBody>
      </p:sp>
      <p:sp>
        <p:nvSpPr>
          <p:cNvPr id="195" name="Rectangle 194">
            <a:extLst>
              <a:ext uri="{FF2B5EF4-FFF2-40B4-BE49-F238E27FC236}">
                <a16:creationId xmlns:a16="http://schemas.microsoft.com/office/drawing/2014/main" id="{067C3345-5561-BADC-075E-52CF7D1E06D6}"/>
              </a:ext>
            </a:extLst>
          </p:cNvPr>
          <p:cNvSpPr/>
          <p:nvPr/>
        </p:nvSpPr>
        <p:spPr>
          <a:xfrm>
            <a:off x="1097280" y="2971319"/>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96" name="TextBox 195">
            <a:extLst>
              <a:ext uri="{FF2B5EF4-FFF2-40B4-BE49-F238E27FC236}">
                <a16:creationId xmlns:a16="http://schemas.microsoft.com/office/drawing/2014/main" id="{047217D1-20AD-52C8-26DA-FBCA47DDD843}"/>
              </a:ext>
            </a:extLst>
          </p:cNvPr>
          <p:cNvSpPr txBox="1"/>
          <p:nvPr/>
        </p:nvSpPr>
        <p:spPr>
          <a:xfrm>
            <a:off x="1188720" y="3017039"/>
            <a:ext cx="1984248" cy="29193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Business users open tickets; Global SAP team receives</a:t>
            </a:r>
          </a:p>
        </p:txBody>
      </p:sp>
      <p:sp>
        <p:nvSpPr>
          <p:cNvPr id="197" name="Rectangle 196">
            <a:extLst>
              <a:ext uri="{FF2B5EF4-FFF2-40B4-BE49-F238E27FC236}">
                <a16:creationId xmlns:a16="http://schemas.microsoft.com/office/drawing/2014/main" id="{8E6CEAF3-1561-1039-9CFE-5CE37D9B5A78}"/>
              </a:ext>
            </a:extLst>
          </p:cNvPr>
          <p:cNvSpPr/>
          <p:nvPr/>
        </p:nvSpPr>
        <p:spPr>
          <a:xfrm>
            <a:off x="3319272" y="2971319"/>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98" name="TextBox 197">
            <a:extLst>
              <a:ext uri="{FF2B5EF4-FFF2-40B4-BE49-F238E27FC236}">
                <a16:creationId xmlns:a16="http://schemas.microsoft.com/office/drawing/2014/main" id="{66A05DE9-FF1A-D8FB-BE7A-62F7F6BBE3CF}"/>
              </a:ext>
            </a:extLst>
          </p:cNvPr>
          <p:cNvSpPr txBox="1"/>
          <p:nvPr/>
        </p:nvSpPr>
        <p:spPr>
          <a:xfrm>
            <a:off x="3410712" y="3017039"/>
            <a:ext cx="1984248" cy="29193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Classification is tool-driven — channel = classification</a:t>
            </a:r>
          </a:p>
        </p:txBody>
      </p:sp>
      <p:sp>
        <p:nvSpPr>
          <p:cNvPr id="199" name="Rectangle 198">
            <a:extLst>
              <a:ext uri="{FF2B5EF4-FFF2-40B4-BE49-F238E27FC236}">
                <a16:creationId xmlns:a16="http://schemas.microsoft.com/office/drawing/2014/main" id="{DACFE4CE-8414-613B-324A-9323F84CAF10}"/>
              </a:ext>
            </a:extLst>
          </p:cNvPr>
          <p:cNvSpPr/>
          <p:nvPr/>
        </p:nvSpPr>
        <p:spPr>
          <a:xfrm>
            <a:off x="5541264" y="2971319"/>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00" name="TextBox 199">
            <a:extLst>
              <a:ext uri="{FF2B5EF4-FFF2-40B4-BE49-F238E27FC236}">
                <a16:creationId xmlns:a16="http://schemas.microsoft.com/office/drawing/2014/main" id="{C7DD9DB3-7456-189A-25AD-3D2FF539E0AE}"/>
              </a:ext>
            </a:extLst>
          </p:cNvPr>
          <p:cNvSpPr txBox="1"/>
          <p:nvPr/>
        </p:nvSpPr>
        <p:spPr>
          <a:xfrm>
            <a:off x="5632704" y="3017039"/>
            <a:ext cx="1984248" cy="29193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Leader prioritizes + leadership call incidents first; P&amp;T helps with projects</a:t>
            </a:r>
          </a:p>
        </p:txBody>
      </p:sp>
      <p:sp>
        <p:nvSpPr>
          <p:cNvPr id="201" name="Rectangle 200">
            <a:extLst>
              <a:ext uri="{FF2B5EF4-FFF2-40B4-BE49-F238E27FC236}">
                <a16:creationId xmlns:a16="http://schemas.microsoft.com/office/drawing/2014/main" id="{BE64B67E-F49D-9136-0A17-8F9A3DF806DF}"/>
              </a:ext>
            </a:extLst>
          </p:cNvPr>
          <p:cNvSpPr/>
          <p:nvPr/>
        </p:nvSpPr>
        <p:spPr>
          <a:xfrm>
            <a:off x="7763256" y="2971319"/>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02" name="TextBox 201">
            <a:extLst>
              <a:ext uri="{FF2B5EF4-FFF2-40B4-BE49-F238E27FC236}">
                <a16:creationId xmlns:a16="http://schemas.microsoft.com/office/drawing/2014/main" id="{41B3A6E4-E4A1-DC3E-1E3F-019BFA82D87B}"/>
              </a:ext>
            </a:extLst>
          </p:cNvPr>
          <p:cNvSpPr txBox="1"/>
          <p:nvPr/>
        </p:nvSpPr>
        <p:spPr>
          <a:xfrm>
            <a:off x="7854696" y="3017039"/>
            <a:ext cx="1984248" cy="29193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Leader owns weekly incident review (Thursday, with Accenture)</a:t>
            </a:r>
          </a:p>
        </p:txBody>
      </p:sp>
      <p:sp>
        <p:nvSpPr>
          <p:cNvPr id="203" name="Rectangle 202">
            <a:extLst>
              <a:ext uri="{FF2B5EF4-FFF2-40B4-BE49-F238E27FC236}">
                <a16:creationId xmlns:a16="http://schemas.microsoft.com/office/drawing/2014/main" id="{41FECA4F-9F5A-38FA-35FB-DF0C2281D93D}"/>
              </a:ext>
            </a:extLst>
          </p:cNvPr>
          <p:cNvSpPr/>
          <p:nvPr/>
        </p:nvSpPr>
        <p:spPr>
          <a:xfrm>
            <a:off x="9985248" y="2971319"/>
            <a:ext cx="1746504"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04" name="TextBox 203">
            <a:extLst>
              <a:ext uri="{FF2B5EF4-FFF2-40B4-BE49-F238E27FC236}">
                <a16:creationId xmlns:a16="http://schemas.microsoft.com/office/drawing/2014/main" id="{D014C6F9-4461-A182-13CF-208B15A7FD81}"/>
              </a:ext>
            </a:extLst>
          </p:cNvPr>
          <p:cNvSpPr txBox="1"/>
          <p:nvPr/>
        </p:nvSpPr>
        <p:spPr>
          <a:xfrm>
            <a:off x="10076688" y="3017039"/>
            <a:ext cx="1599120"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Vendor </a:t>
            </a:r>
            <a:r>
              <a:rPr lang="en-US" sz="900" noProof="0">
                <a:solidFill>
                  <a:srgbClr val="2C3E50"/>
                </a:solidFill>
                <a:latin typeface="Arial" panose="020B0604020202020204" pitchFamily="34" charset="0"/>
                <a:cs typeface="Arial" panose="020B0604020202020204" pitchFamily="34" charset="0"/>
              </a:rPr>
              <a:t>for </a:t>
            </a:r>
            <a:r>
              <a:rPr lang="en-US" sz="900" b="0" i="0" noProof="0">
                <a:solidFill>
                  <a:srgbClr val="2C3E50"/>
                </a:solidFill>
                <a:latin typeface="Arial" panose="020B0604020202020204" pitchFamily="34" charset="0"/>
                <a:cs typeface="Arial" panose="020B0604020202020204" pitchFamily="34" charset="0"/>
              </a:rPr>
              <a:t>incidents; SWF for  projects; P&amp;T for intermediary</a:t>
            </a:r>
          </a:p>
        </p:txBody>
      </p:sp>
      <p:sp>
        <p:nvSpPr>
          <p:cNvPr id="205" name="Rectangle 204">
            <a:extLst>
              <a:ext uri="{FF2B5EF4-FFF2-40B4-BE49-F238E27FC236}">
                <a16:creationId xmlns:a16="http://schemas.microsoft.com/office/drawing/2014/main" id="{D61994AE-3AE4-9B14-A272-25EAB5CA4CC5}"/>
              </a:ext>
            </a:extLst>
          </p:cNvPr>
          <p:cNvSpPr/>
          <p:nvPr/>
        </p:nvSpPr>
        <p:spPr>
          <a:xfrm>
            <a:off x="457200" y="3501671"/>
            <a:ext cx="594360" cy="49377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06" name="TextBox 205">
            <a:extLst>
              <a:ext uri="{FF2B5EF4-FFF2-40B4-BE49-F238E27FC236}">
                <a16:creationId xmlns:a16="http://schemas.microsoft.com/office/drawing/2014/main" id="{893F0F88-1DEC-5A5D-8BCC-E60A8D207183}"/>
              </a:ext>
            </a:extLst>
          </p:cNvPr>
          <p:cNvSpPr txBox="1"/>
          <p:nvPr/>
        </p:nvSpPr>
        <p:spPr>
          <a:xfrm>
            <a:off x="457200" y="3693896"/>
            <a:ext cx="594360" cy="109325"/>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700" b="1" i="0" noProof="0">
                <a:solidFill>
                  <a:srgbClr val="FFFFFF"/>
                </a:solidFill>
                <a:latin typeface="Arial" panose="020B0604020202020204" pitchFamily="34" charset="0"/>
                <a:cs typeface="Arial" panose="020B0604020202020204" pitchFamily="34" charset="0"/>
              </a:rPr>
              <a:t>TOOLS</a:t>
            </a:r>
          </a:p>
        </p:txBody>
      </p:sp>
      <p:sp>
        <p:nvSpPr>
          <p:cNvPr id="207" name="Rectangle 206">
            <a:extLst>
              <a:ext uri="{FF2B5EF4-FFF2-40B4-BE49-F238E27FC236}">
                <a16:creationId xmlns:a16="http://schemas.microsoft.com/office/drawing/2014/main" id="{34237500-9B02-9DB9-1D0D-D686060BA950}"/>
              </a:ext>
            </a:extLst>
          </p:cNvPr>
          <p:cNvSpPr/>
          <p:nvPr/>
        </p:nvSpPr>
        <p:spPr>
          <a:xfrm>
            <a:off x="1097280" y="3501671"/>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08" name="TextBox 207">
            <a:extLst>
              <a:ext uri="{FF2B5EF4-FFF2-40B4-BE49-F238E27FC236}">
                <a16:creationId xmlns:a16="http://schemas.microsoft.com/office/drawing/2014/main" id="{C95F942A-0965-4BDB-6299-92B49609ECAD}"/>
              </a:ext>
            </a:extLst>
          </p:cNvPr>
          <p:cNvSpPr txBox="1"/>
          <p:nvPr/>
        </p:nvSpPr>
        <p:spPr>
          <a:xfrm>
            <a:off x="1188720" y="3547391"/>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IT Now · IT Now RITM · Jira · SharePoint · Teams</a:t>
            </a:r>
          </a:p>
        </p:txBody>
      </p:sp>
      <p:sp>
        <p:nvSpPr>
          <p:cNvPr id="209" name="Rectangle 208">
            <a:extLst>
              <a:ext uri="{FF2B5EF4-FFF2-40B4-BE49-F238E27FC236}">
                <a16:creationId xmlns:a16="http://schemas.microsoft.com/office/drawing/2014/main" id="{2C7CD807-7835-4849-6EA3-A5C530FD4EEC}"/>
              </a:ext>
            </a:extLst>
          </p:cNvPr>
          <p:cNvSpPr/>
          <p:nvPr/>
        </p:nvSpPr>
        <p:spPr>
          <a:xfrm>
            <a:off x="3319272" y="3501671"/>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10" name="TextBox 209">
            <a:extLst>
              <a:ext uri="{FF2B5EF4-FFF2-40B4-BE49-F238E27FC236}">
                <a16:creationId xmlns:a16="http://schemas.microsoft.com/office/drawing/2014/main" id="{1AA5EF70-D234-B849-3577-FDF6D261A952}"/>
              </a:ext>
            </a:extLst>
          </p:cNvPr>
          <p:cNvSpPr txBox="1"/>
          <p:nvPr/>
        </p:nvSpPr>
        <p:spPr>
          <a:xfrm>
            <a:off x="3410712" y="3547391"/>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IT Now + Jira + SharePoint (by channel)</a:t>
            </a:r>
          </a:p>
        </p:txBody>
      </p:sp>
      <p:sp>
        <p:nvSpPr>
          <p:cNvPr id="211" name="Rectangle 210">
            <a:extLst>
              <a:ext uri="{FF2B5EF4-FFF2-40B4-BE49-F238E27FC236}">
                <a16:creationId xmlns:a16="http://schemas.microsoft.com/office/drawing/2014/main" id="{D32D528F-DB74-D4CB-EAC8-088D2D6864CE}"/>
              </a:ext>
            </a:extLst>
          </p:cNvPr>
          <p:cNvSpPr/>
          <p:nvPr/>
        </p:nvSpPr>
        <p:spPr>
          <a:xfrm>
            <a:off x="5541264" y="3501671"/>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12" name="TextBox 211">
            <a:extLst>
              <a:ext uri="{FF2B5EF4-FFF2-40B4-BE49-F238E27FC236}">
                <a16:creationId xmlns:a16="http://schemas.microsoft.com/office/drawing/2014/main" id="{EA09B40A-28FD-D877-9EE1-96CB914C7F38}"/>
              </a:ext>
            </a:extLst>
          </p:cNvPr>
          <p:cNvSpPr txBox="1"/>
          <p:nvPr/>
        </p:nvSpPr>
        <p:spPr>
          <a:xfrm>
            <a:off x="5632704" y="3547391"/>
            <a:ext cx="1984248"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No scoring tool — incidents-first rule</a:t>
            </a:r>
          </a:p>
        </p:txBody>
      </p:sp>
      <p:sp>
        <p:nvSpPr>
          <p:cNvPr id="213" name="Rectangle 212">
            <a:extLst>
              <a:ext uri="{FF2B5EF4-FFF2-40B4-BE49-F238E27FC236}">
                <a16:creationId xmlns:a16="http://schemas.microsoft.com/office/drawing/2014/main" id="{47FF50E7-23A2-F85E-7FFD-4845554BCB8B}"/>
              </a:ext>
            </a:extLst>
          </p:cNvPr>
          <p:cNvSpPr/>
          <p:nvPr/>
        </p:nvSpPr>
        <p:spPr>
          <a:xfrm>
            <a:off x="7763256" y="3501671"/>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14" name="TextBox 213">
            <a:extLst>
              <a:ext uri="{FF2B5EF4-FFF2-40B4-BE49-F238E27FC236}">
                <a16:creationId xmlns:a16="http://schemas.microsoft.com/office/drawing/2014/main" id="{42ABF091-B17C-B46C-68F5-010B0C1F1A9A}"/>
              </a:ext>
            </a:extLst>
          </p:cNvPr>
          <p:cNvSpPr txBox="1"/>
          <p:nvPr/>
        </p:nvSpPr>
        <p:spPr>
          <a:xfrm>
            <a:off x="7854696" y="3547391"/>
            <a:ext cx="1984248" cy="44518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SharePoint (projects) + PDD (approval) + Thursday incident meeting</a:t>
            </a:r>
          </a:p>
        </p:txBody>
      </p:sp>
      <p:sp>
        <p:nvSpPr>
          <p:cNvPr id="215" name="Rectangle 214">
            <a:extLst>
              <a:ext uri="{FF2B5EF4-FFF2-40B4-BE49-F238E27FC236}">
                <a16:creationId xmlns:a16="http://schemas.microsoft.com/office/drawing/2014/main" id="{D22E16B7-4997-A92E-E816-0C46F6E0840C}"/>
              </a:ext>
            </a:extLst>
          </p:cNvPr>
          <p:cNvSpPr/>
          <p:nvPr/>
        </p:nvSpPr>
        <p:spPr>
          <a:xfrm>
            <a:off x="9985248" y="3501671"/>
            <a:ext cx="1746504"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16" name="TextBox 215">
            <a:extLst>
              <a:ext uri="{FF2B5EF4-FFF2-40B4-BE49-F238E27FC236}">
                <a16:creationId xmlns:a16="http://schemas.microsoft.com/office/drawing/2014/main" id="{28FDB84B-2A5F-7F07-C8DE-D1A87BBF3709}"/>
              </a:ext>
            </a:extLst>
          </p:cNvPr>
          <p:cNvSpPr txBox="1"/>
          <p:nvPr/>
        </p:nvSpPr>
        <p:spPr>
          <a:xfrm>
            <a:off x="10076688" y="3547391"/>
            <a:ext cx="1599120" cy="29193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Vendors delivery stack + SWF pipeline</a:t>
            </a:r>
          </a:p>
        </p:txBody>
      </p:sp>
      <p:sp>
        <p:nvSpPr>
          <p:cNvPr id="217" name="Rectangle 216">
            <a:extLst>
              <a:ext uri="{FF2B5EF4-FFF2-40B4-BE49-F238E27FC236}">
                <a16:creationId xmlns:a16="http://schemas.microsoft.com/office/drawing/2014/main" id="{049F6D76-6A11-51D6-E90B-0367E2DB2748}"/>
              </a:ext>
            </a:extLst>
          </p:cNvPr>
          <p:cNvSpPr/>
          <p:nvPr/>
        </p:nvSpPr>
        <p:spPr>
          <a:xfrm>
            <a:off x="457200" y="4032023"/>
            <a:ext cx="594360" cy="49377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18" name="TextBox 217">
            <a:extLst>
              <a:ext uri="{FF2B5EF4-FFF2-40B4-BE49-F238E27FC236}">
                <a16:creationId xmlns:a16="http://schemas.microsoft.com/office/drawing/2014/main" id="{5393C14E-3410-88D2-6C3D-6E0D9F17A6B4}"/>
              </a:ext>
            </a:extLst>
          </p:cNvPr>
          <p:cNvSpPr txBox="1"/>
          <p:nvPr/>
        </p:nvSpPr>
        <p:spPr>
          <a:xfrm>
            <a:off x="457200" y="4181641"/>
            <a:ext cx="594360" cy="194540"/>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600" b="1" i="0" noProof="0">
                <a:solidFill>
                  <a:srgbClr val="FFFFFF"/>
                </a:solidFill>
                <a:latin typeface="Arial" panose="020B0604020202020204" pitchFamily="34" charset="0"/>
                <a:cs typeface="Arial" panose="020B0604020202020204" pitchFamily="34" charset="0"/>
              </a:rPr>
              <a:t>GOVERNANCE  &amp;  METRICS</a:t>
            </a:r>
          </a:p>
        </p:txBody>
      </p:sp>
      <p:sp>
        <p:nvSpPr>
          <p:cNvPr id="219" name="Rectangle 218">
            <a:extLst>
              <a:ext uri="{FF2B5EF4-FFF2-40B4-BE49-F238E27FC236}">
                <a16:creationId xmlns:a16="http://schemas.microsoft.com/office/drawing/2014/main" id="{160C10AB-66C2-9DEB-7F8A-0BD3D1AABA30}"/>
              </a:ext>
            </a:extLst>
          </p:cNvPr>
          <p:cNvSpPr/>
          <p:nvPr/>
        </p:nvSpPr>
        <p:spPr>
          <a:xfrm>
            <a:off x="1097280" y="4032023"/>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20" name="TextBox 219">
            <a:extLst>
              <a:ext uri="{FF2B5EF4-FFF2-40B4-BE49-F238E27FC236}">
                <a16:creationId xmlns:a16="http://schemas.microsoft.com/office/drawing/2014/main" id="{8822E6E5-6B4D-D04A-707F-4758340A9CD9}"/>
              </a:ext>
            </a:extLst>
          </p:cNvPr>
          <p:cNvSpPr txBox="1"/>
          <p:nvPr/>
        </p:nvSpPr>
        <p:spPr>
          <a:xfrm>
            <a:off x="1188720" y="4077743"/>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Strongest channel taxonomy in the org — but tuned for incidents</a:t>
            </a:r>
          </a:p>
        </p:txBody>
      </p:sp>
      <p:sp>
        <p:nvSpPr>
          <p:cNvPr id="221" name="Rectangle 220">
            <a:extLst>
              <a:ext uri="{FF2B5EF4-FFF2-40B4-BE49-F238E27FC236}">
                <a16:creationId xmlns:a16="http://schemas.microsoft.com/office/drawing/2014/main" id="{CFA8042C-7AF2-C045-54AC-8EBCC5810497}"/>
              </a:ext>
            </a:extLst>
          </p:cNvPr>
          <p:cNvSpPr/>
          <p:nvPr/>
        </p:nvSpPr>
        <p:spPr>
          <a:xfrm>
            <a:off x="3319272" y="4032023"/>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22" name="TextBox 221">
            <a:extLst>
              <a:ext uri="{FF2B5EF4-FFF2-40B4-BE49-F238E27FC236}">
                <a16:creationId xmlns:a16="http://schemas.microsoft.com/office/drawing/2014/main" id="{263D9A23-B6CC-F474-8816-AFC34D3E6C61}"/>
              </a:ext>
            </a:extLst>
          </p:cNvPr>
          <p:cNvSpPr txBox="1"/>
          <p:nvPr/>
        </p:nvSpPr>
        <p:spPr>
          <a:xfrm>
            <a:off x="3410712" y="4077743"/>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Channel taxonomy = de-facto classification</a:t>
            </a:r>
          </a:p>
        </p:txBody>
      </p:sp>
      <p:sp>
        <p:nvSpPr>
          <p:cNvPr id="223" name="Rectangle 222">
            <a:extLst>
              <a:ext uri="{FF2B5EF4-FFF2-40B4-BE49-F238E27FC236}">
                <a16:creationId xmlns:a16="http://schemas.microsoft.com/office/drawing/2014/main" id="{B650E6E7-A8B0-F6F9-7929-99358B7799AB}"/>
              </a:ext>
            </a:extLst>
          </p:cNvPr>
          <p:cNvSpPr/>
          <p:nvPr/>
        </p:nvSpPr>
        <p:spPr>
          <a:xfrm>
            <a:off x="5541264" y="4032023"/>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24" name="TextBox 223">
            <a:extLst>
              <a:ext uri="{FF2B5EF4-FFF2-40B4-BE49-F238E27FC236}">
                <a16:creationId xmlns:a16="http://schemas.microsoft.com/office/drawing/2014/main" id="{123B1E4B-07AE-7AC1-21FA-E901AF09234A}"/>
              </a:ext>
            </a:extLst>
          </p:cNvPr>
          <p:cNvSpPr txBox="1"/>
          <p:nvPr/>
        </p:nvSpPr>
        <p:spPr>
          <a:xfrm>
            <a:off x="5632704" y="4077743"/>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Incident volume caps strategic capacity ("entire team on incidents")</a:t>
            </a:r>
          </a:p>
        </p:txBody>
      </p:sp>
      <p:sp>
        <p:nvSpPr>
          <p:cNvPr id="225" name="Rectangle 224">
            <a:extLst>
              <a:ext uri="{FF2B5EF4-FFF2-40B4-BE49-F238E27FC236}">
                <a16:creationId xmlns:a16="http://schemas.microsoft.com/office/drawing/2014/main" id="{5DAA7841-FEF3-2D6E-4BDF-3BFE5F036EED}"/>
              </a:ext>
            </a:extLst>
          </p:cNvPr>
          <p:cNvSpPr/>
          <p:nvPr/>
        </p:nvSpPr>
        <p:spPr>
          <a:xfrm>
            <a:off x="7763256" y="4032023"/>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26" name="TextBox 225">
            <a:extLst>
              <a:ext uri="{FF2B5EF4-FFF2-40B4-BE49-F238E27FC236}">
                <a16:creationId xmlns:a16="http://schemas.microsoft.com/office/drawing/2014/main" id="{FBDFA8DC-7386-94B0-1D39-832AA1115DD5}"/>
              </a:ext>
            </a:extLst>
          </p:cNvPr>
          <p:cNvSpPr txBox="1"/>
          <p:nvPr/>
        </p:nvSpPr>
        <p:spPr>
          <a:xfrm>
            <a:off x="7854696" y="4077743"/>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Weekly Vendor incident review governs incidents; projects via PDD</a:t>
            </a:r>
          </a:p>
        </p:txBody>
      </p:sp>
      <p:sp>
        <p:nvSpPr>
          <p:cNvPr id="227" name="Rectangle 226">
            <a:extLst>
              <a:ext uri="{FF2B5EF4-FFF2-40B4-BE49-F238E27FC236}">
                <a16:creationId xmlns:a16="http://schemas.microsoft.com/office/drawing/2014/main" id="{CBD84EDA-A669-BB18-EE58-8C0BBDCE9970}"/>
              </a:ext>
            </a:extLst>
          </p:cNvPr>
          <p:cNvSpPr/>
          <p:nvPr/>
        </p:nvSpPr>
        <p:spPr>
          <a:xfrm>
            <a:off x="9985248" y="4032023"/>
            <a:ext cx="1746504"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28" name="TextBox 227">
            <a:extLst>
              <a:ext uri="{FF2B5EF4-FFF2-40B4-BE49-F238E27FC236}">
                <a16:creationId xmlns:a16="http://schemas.microsoft.com/office/drawing/2014/main" id="{DE637EC0-E6B6-1354-CEB8-C21C37678F15}"/>
              </a:ext>
            </a:extLst>
          </p:cNvPr>
          <p:cNvSpPr txBox="1"/>
          <p:nvPr/>
        </p:nvSpPr>
        <p:spPr>
          <a:xfrm>
            <a:off x="10076688" y="4077743"/>
            <a:ext cx="1599120" cy="44428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Knowledge transfer loss at every turnover — 1-year hiring lag</a:t>
            </a:r>
          </a:p>
        </p:txBody>
      </p:sp>
      <p:sp>
        <p:nvSpPr>
          <p:cNvPr id="229" name="Rectangle 228">
            <a:extLst>
              <a:ext uri="{FF2B5EF4-FFF2-40B4-BE49-F238E27FC236}">
                <a16:creationId xmlns:a16="http://schemas.microsoft.com/office/drawing/2014/main" id="{EC058882-B5DE-AE33-98B0-7CDFA3BDE115}"/>
              </a:ext>
            </a:extLst>
          </p:cNvPr>
          <p:cNvSpPr/>
          <p:nvPr/>
        </p:nvSpPr>
        <p:spPr>
          <a:xfrm>
            <a:off x="457200" y="4587902"/>
            <a:ext cx="11274552" cy="1248049"/>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30" name="Rectangle 229">
            <a:extLst>
              <a:ext uri="{FF2B5EF4-FFF2-40B4-BE49-F238E27FC236}">
                <a16:creationId xmlns:a16="http://schemas.microsoft.com/office/drawing/2014/main" id="{EAE8306B-B5FF-59CF-2A6A-33B7CCDDF78E}"/>
              </a:ext>
            </a:extLst>
          </p:cNvPr>
          <p:cNvSpPr/>
          <p:nvPr/>
        </p:nvSpPr>
        <p:spPr>
          <a:xfrm>
            <a:off x="457200" y="4587902"/>
            <a:ext cx="73152" cy="124804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31" name="TextBox 230">
            <a:extLst>
              <a:ext uri="{FF2B5EF4-FFF2-40B4-BE49-F238E27FC236}">
                <a16:creationId xmlns:a16="http://schemas.microsoft.com/office/drawing/2014/main" id="{88CA6228-0E66-0203-5ADD-F53185CAA918}"/>
              </a:ext>
            </a:extLst>
          </p:cNvPr>
          <p:cNvSpPr txBox="1"/>
          <p:nvPr/>
        </p:nvSpPr>
        <p:spPr>
          <a:xfrm>
            <a:off x="640080" y="4633622"/>
            <a:ext cx="5486400"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1" i="0" noProof="0">
                <a:solidFill>
                  <a:schemeClr val="accent1"/>
                </a:solidFill>
                <a:latin typeface="Arial" panose="020B0604020202020204" pitchFamily="34" charset="0"/>
                <a:cs typeface="Arial" panose="020B0604020202020204" pitchFamily="34" charset="0"/>
              </a:rPr>
              <a:t>KEY PATTERNS  —  WHAT THE FINDINGS REVEAL</a:t>
            </a:r>
          </a:p>
        </p:txBody>
      </p:sp>
      <p:sp>
        <p:nvSpPr>
          <p:cNvPr id="232" name="TextBox 231">
            <a:extLst>
              <a:ext uri="{FF2B5EF4-FFF2-40B4-BE49-F238E27FC236}">
                <a16:creationId xmlns:a16="http://schemas.microsoft.com/office/drawing/2014/main" id="{32E1B6F6-A914-30D1-7001-D9ECF5A56663}"/>
              </a:ext>
            </a:extLst>
          </p:cNvPr>
          <p:cNvSpPr txBox="1"/>
          <p:nvPr/>
        </p:nvSpPr>
        <p:spPr>
          <a:xfrm>
            <a:off x="6400800" y="4633622"/>
            <a:ext cx="5166360"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1" i="0" noProof="0">
                <a:solidFill>
                  <a:schemeClr val="accent3"/>
                </a:solidFill>
                <a:latin typeface="Arial" panose="020B0604020202020204" pitchFamily="34" charset="0"/>
                <a:cs typeface="Arial" panose="020B0604020202020204" pitchFamily="34" charset="0"/>
              </a:rPr>
              <a:t>SUPPORTING QUOTE</a:t>
            </a:r>
          </a:p>
        </p:txBody>
      </p:sp>
      <p:sp>
        <p:nvSpPr>
          <p:cNvPr id="233" name="TextBox 232">
            <a:extLst>
              <a:ext uri="{FF2B5EF4-FFF2-40B4-BE49-F238E27FC236}">
                <a16:creationId xmlns:a16="http://schemas.microsoft.com/office/drawing/2014/main" id="{4D037B71-3D8E-B44A-E8FB-09706B605CE3}"/>
              </a:ext>
            </a:extLst>
          </p:cNvPr>
          <p:cNvSpPr txBox="1"/>
          <p:nvPr/>
        </p:nvSpPr>
        <p:spPr>
          <a:xfrm>
            <a:off x="6400800" y="4880510"/>
            <a:ext cx="5166360"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1" noProof="0">
                <a:solidFill>
                  <a:srgbClr val="2C3E50"/>
                </a:solidFill>
                <a:latin typeface="Arial" panose="020B0604020202020204" pitchFamily="34" charset="0"/>
                <a:cs typeface="Arial" panose="020B0604020202020204" pitchFamily="34" charset="0"/>
              </a:rPr>
              <a:t>"Balance all the demands: Incidents, Small Demands, Major projects (PDD). Limited resources — 1 year to hire someone" — Michael Dubois</a:t>
            </a:r>
          </a:p>
        </p:txBody>
      </p:sp>
      <p:sp>
        <p:nvSpPr>
          <p:cNvPr id="234" name="TextBox 233">
            <a:extLst>
              <a:ext uri="{FF2B5EF4-FFF2-40B4-BE49-F238E27FC236}">
                <a16:creationId xmlns:a16="http://schemas.microsoft.com/office/drawing/2014/main" id="{248993F9-0CC6-0FEF-1B5A-041653CA8CBD}"/>
              </a:ext>
            </a:extLst>
          </p:cNvPr>
          <p:cNvSpPr txBox="1"/>
          <p:nvPr/>
        </p:nvSpPr>
        <p:spPr>
          <a:xfrm>
            <a:off x="640080" y="4880510"/>
            <a:ext cx="5486400" cy="9326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  Channel taxonomy is the strongest in the organization — but it was designed around incidents, not strategic demand as it has most of the demand</a:t>
            </a:r>
          </a:p>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  Incidents-first rule means strategic work enters a de-facto waiting queue — hiring lag (1 year) keeps the queue deep</a:t>
            </a:r>
          </a:p>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  Vendor + SWF dependency is the hidden scaling mechanism — cost and knowledge concentrate outside Avangrid</a:t>
            </a:r>
          </a:p>
        </p:txBody>
      </p:sp>
      <p:sp>
        <p:nvSpPr>
          <p:cNvPr id="235" name="Rectangle 234">
            <a:extLst>
              <a:ext uri="{FF2B5EF4-FFF2-40B4-BE49-F238E27FC236}">
                <a16:creationId xmlns:a16="http://schemas.microsoft.com/office/drawing/2014/main" id="{2FB9B276-C386-BF64-4E5A-FA3BE5E3E7C2}"/>
              </a:ext>
            </a:extLst>
          </p:cNvPr>
          <p:cNvSpPr/>
          <p:nvPr/>
        </p:nvSpPr>
        <p:spPr>
          <a:xfrm>
            <a:off x="457200" y="5874920"/>
            <a:ext cx="11274552" cy="5029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36" name="TextBox 235">
            <a:extLst>
              <a:ext uri="{FF2B5EF4-FFF2-40B4-BE49-F238E27FC236}">
                <a16:creationId xmlns:a16="http://schemas.microsoft.com/office/drawing/2014/main" id="{E11E0E72-2880-1E47-4CCF-3DBC9F8754F0}"/>
              </a:ext>
            </a:extLst>
          </p:cNvPr>
          <p:cNvSpPr txBox="1"/>
          <p:nvPr/>
        </p:nvSpPr>
        <p:spPr>
          <a:xfrm>
            <a:off x="685800" y="6040491"/>
            <a:ext cx="10817352" cy="171778"/>
          </a:xfrm>
          <a:prstGeom prst="rect">
            <a:avLst/>
          </a:prstGeom>
          <a:noFill/>
        </p:spPr>
        <p:txBody>
          <a:bodyPr wrap="square" lIns="0" tIns="0" rIns="0" bIns="0" anchor="ctr">
            <a:spAutoFit/>
          </a:bodyPr>
          <a:lstStyle/>
          <a:p>
            <a:pPr algn="l">
              <a:lnSpc>
                <a:spcPct val="110000"/>
              </a:lnSpc>
              <a:spcBef>
                <a:spcPts val="0"/>
              </a:spcBef>
              <a:spcAft>
                <a:spcPts val="0"/>
              </a:spcAft>
            </a:pPr>
            <a:r>
              <a:rPr lang="en-US" sz="1100" b="0" i="0" noProof="0">
                <a:solidFill>
                  <a:srgbClr val="FFFFFF"/>
                </a:solidFill>
                <a:latin typeface="Arial" panose="020B0604020202020204" pitchFamily="34" charset="0"/>
                <a:cs typeface="Arial" panose="020B0604020202020204" pitchFamily="34" charset="0"/>
              </a:rPr>
              <a:t>Global SAP's channel taxonomy - incident flood caps strategic capacity; reducing incident load is the leverage point</a:t>
            </a:r>
          </a:p>
        </p:txBody>
      </p:sp>
      <p:sp>
        <p:nvSpPr>
          <p:cNvPr id="2" name="Rounded Rectangle 14">
            <a:extLst>
              <a:ext uri="{FF2B5EF4-FFF2-40B4-BE49-F238E27FC236}">
                <a16:creationId xmlns:a16="http://schemas.microsoft.com/office/drawing/2014/main" id="{C3130423-2B7A-63FA-388B-AFCD8C41698E}"/>
              </a:ext>
            </a:extLst>
          </p:cNvPr>
          <p:cNvSpPr/>
          <p:nvPr/>
        </p:nvSpPr>
        <p:spPr>
          <a:xfrm>
            <a:off x="6090567" y="2207896"/>
            <a:ext cx="1097280" cy="182880"/>
          </a:xfr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3" name="Rounded Rectangle 26">
            <a:extLst>
              <a:ext uri="{FF2B5EF4-FFF2-40B4-BE49-F238E27FC236}">
                <a16:creationId xmlns:a16="http://schemas.microsoft.com/office/drawing/2014/main" id="{3CADE2D0-8C6E-F594-AF7D-C99C9420B366}"/>
              </a:ext>
            </a:extLst>
          </p:cNvPr>
          <p:cNvSpPr/>
          <p:nvPr/>
        </p:nvSpPr>
        <p:spPr>
          <a:xfrm>
            <a:off x="6130190" y="2213839"/>
            <a:ext cx="1097280" cy="182880"/>
          </a:xfrm>
          <a:prstGeom prst="round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 name="TextBox 133">
            <a:extLst>
              <a:ext uri="{FF2B5EF4-FFF2-40B4-BE49-F238E27FC236}">
                <a16:creationId xmlns:a16="http://schemas.microsoft.com/office/drawing/2014/main" id="{A496429D-3263-4CE5-70D6-FB6C297907A1}"/>
              </a:ext>
            </a:extLst>
          </p:cNvPr>
          <p:cNvSpPr txBox="1"/>
          <p:nvPr/>
        </p:nvSpPr>
        <p:spPr>
          <a:xfrm>
            <a:off x="6143246" y="2229573"/>
            <a:ext cx="1097280" cy="139525"/>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noProof="0">
                <a:solidFill>
                  <a:srgbClr val="FFFFFF"/>
                </a:solidFill>
                <a:latin typeface="Arial" panose="020B0604020202020204" pitchFamily="34" charset="0"/>
                <a:cs typeface="Arial" panose="020B0604020202020204" pitchFamily="34" charset="0"/>
              </a:rPr>
              <a:t>CRITICAL</a:t>
            </a:r>
          </a:p>
        </p:txBody>
      </p:sp>
      <p:sp>
        <p:nvSpPr>
          <p:cNvPr id="13" name="Rounded Rectangle 18">
            <a:extLst>
              <a:ext uri="{FF2B5EF4-FFF2-40B4-BE49-F238E27FC236}">
                <a16:creationId xmlns:a16="http://schemas.microsoft.com/office/drawing/2014/main" id="{0EAD0913-349E-F8F5-1AB5-8BCB142DA2F1}"/>
              </a:ext>
            </a:extLst>
          </p:cNvPr>
          <p:cNvSpPr/>
          <p:nvPr/>
        </p:nvSpPr>
        <p:spPr>
          <a:xfrm>
            <a:off x="8306042" y="2206112"/>
            <a:ext cx="1097280" cy="182880"/>
          </a:xfr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14" name="Rounded Rectangle 26">
            <a:extLst>
              <a:ext uri="{FF2B5EF4-FFF2-40B4-BE49-F238E27FC236}">
                <a16:creationId xmlns:a16="http://schemas.microsoft.com/office/drawing/2014/main" id="{F8EA3D5B-7970-1DCD-FD3C-863ED01253B8}"/>
              </a:ext>
            </a:extLst>
          </p:cNvPr>
          <p:cNvSpPr/>
          <p:nvPr/>
        </p:nvSpPr>
        <p:spPr>
          <a:xfrm>
            <a:off x="8342618" y="2202596"/>
            <a:ext cx="1097280" cy="182880"/>
          </a:xfrm>
          <a:prstGeom prst="round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0" name="TextBox 133">
            <a:extLst>
              <a:ext uri="{FF2B5EF4-FFF2-40B4-BE49-F238E27FC236}">
                <a16:creationId xmlns:a16="http://schemas.microsoft.com/office/drawing/2014/main" id="{D85BED2F-6A62-FA45-AA50-A862FD6C937B}"/>
              </a:ext>
            </a:extLst>
          </p:cNvPr>
          <p:cNvSpPr txBox="1"/>
          <p:nvPr/>
        </p:nvSpPr>
        <p:spPr>
          <a:xfrm>
            <a:off x="8356334" y="2218874"/>
            <a:ext cx="1097280" cy="139525"/>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noProof="0">
                <a:solidFill>
                  <a:srgbClr val="FFFFFF"/>
                </a:solidFill>
                <a:latin typeface="Arial" panose="020B0604020202020204" pitchFamily="34" charset="0"/>
                <a:cs typeface="Arial" panose="020B0604020202020204" pitchFamily="34" charset="0"/>
              </a:rPr>
              <a:t>PARTIAL</a:t>
            </a:r>
          </a:p>
        </p:txBody>
      </p:sp>
      <p:sp>
        <p:nvSpPr>
          <p:cNvPr id="34" name="Rounded Rectangle 18">
            <a:extLst>
              <a:ext uri="{FF2B5EF4-FFF2-40B4-BE49-F238E27FC236}">
                <a16:creationId xmlns:a16="http://schemas.microsoft.com/office/drawing/2014/main" id="{A5CDE6BB-BC8A-64B7-7778-14D94372F80B}"/>
              </a:ext>
            </a:extLst>
          </p:cNvPr>
          <p:cNvSpPr/>
          <p:nvPr/>
        </p:nvSpPr>
        <p:spPr>
          <a:xfrm>
            <a:off x="10280043" y="2206600"/>
            <a:ext cx="1097280" cy="182880"/>
          </a:xfr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38" name="Rounded Rectangle 26">
            <a:extLst>
              <a:ext uri="{FF2B5EF4-FFF2-40B4-BE49-F238E27FC236}">
                <a16:creationId xmlns:a16="http://schemas.microsoft.com/office/drawing/2014/main" id="{35A22734-D617-497D-0B39-A453E434555F}"/>
              </a:ext>
            </a:extLst>
          </p:cNvPr>
          <p:cNvSpPr/>
          <p:nvPr/>
        </p:nvSpPr>
        <p:spPr>
          <a:xfrm>
            <a:off x="10316619" y="2203084"/>
            <a:ext cx="1097280" cy="182880"/>
          </a:xfrm>
          <a:prstGeom prst="round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0" name="TextBox 133">
            <a:extLst>
              <a:ext uri="{FF2B5EF4-FFF2-40B4-BE49-F238E27FC236}">
                <a16:creationId xmlns:a16="http://schemas.microsoft.com/office/drawing/2014/main" id="{34C11AAE-7744-372B-0769-BFF9B1B26B9D}"/>
              </a:ext>
            </a:extLst>
          </p:cNvPr>
          <p:cNvSpPr txBox="1"/>
          <p:nvPr/>
        </p:nvSpPr>
        <p:spPr>
          <a:xfrm>
            <a:off x="10330335" y="2219362"/>
            <a:ext cx="1097280" cy="139525"/>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noProof="0">
                <a:solidFill>
                  <a:srgbClr val="FFFFFF"/>
                </a:solidFill>
                <a:latin typeface="Arial" panose="020B0604020202020204" pitchFamily="34" charset="0"/>
                <a:cs typeface="Arial" panose="020B0604020202020204" pitchFamily="34" charset="0"/>
              </a:rPr>
              <a:t>PARTIAL</a:t>
            </a:r>
          </a:p>
        </p:txBody>
      </p:sp>
      <p:sp>
        <p:nvSpPr>
          <p:cNvPr id="8" name="Rectangle: Rounded Corners 18">
            <a:extLst>
              <a:ext uri="{FF2B5EF4-FFF2-40B4-BE49-F238E27FC236}">
                <a16:creationId xmlns:a16="http://schemas.microsoft.com/office/drawing/2014/main" id="{BD5C7F18-5266-92A1-3EA4-CEFB7D51588F}"/>
              </a:ext>
            </a:extLst>
          </p:cNvPr>
          <p:cNvSpPr/>
          <p:nvPr/>
        </p:nvSpPr>
        <p:spPr>
          <a:xfrm>
            <a:off x="7039633" y="186528"/>
            <a:ext cx="1668780" cy="343539"/>
          </a:xfrm>
          <a:prstGeom prst="roundRect">
            <a:avLst/>
          </a:prstGeom>
          <a:solidFill>
            <a:schemeClr val="accent3"/>
          </a:solid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a:t>IT Business Apps</a:t>
            </a:r>
          </a:p>
        </p:txBody>
      </p:sp>
      <p:sp>
        <p:nvSpPr>
          <p:cNvPr id="11" name="Rectangle: Rounded Corners 25">
            <a:extLst>
              <a:ext uri="{FF2B5EF4-FFF2-40B4-BE49-F238E27FC236}">
                <a16:creationId xmlns:a16="http://schemas.microsoft.com/office/drawing/2014/main" id="{F21A00C3-CC96-B5A5-50A1-ED8C60425267}"/>
              </a:ext>
            </a:extLst>
          </p:cNvPr>
          <p:cNvSpPr/>
          <p:nvPr/>
        </p:nvSpPr>
        <p:spPr>
          <a:xfrm>
            <a:off x="8771785" y="186528"/>
            <a:ext cx="1668780" cy="343539"/>
          </a:xfrm>
          <a:prstGeom prst="roundRect">
            <a:avLst/>
          </a:prstGeom>
          <a:solidFill>
            <a:schemeClr val="accent4">
              <a:lumMod val="75000"/>
            </a:schemeClr>
          </a:solidFill>
          <a:ln>
            <a:solidFill>
              <a:schemeClr val="accent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a:solidFill>
                  <a:schemeClr val="bg1">
                    <a:lumMod val="85000"/>
                  </a:schemeClr>
                </a:solidFill>
              </a:rPr>
              <a:t>Customer Services Apps</a:t>
            </a:r>
          </a:p>
        </p:txBody>
      </p:sp>
      <p:sp>
        <p:nvSpPr>
          <p:cNvPr id="12" name="Rounded Rectangle 18">
            <a:extLst>
              <a:ext uri="{FF2B5EF4-FFF2-40B4-BE49-F238E27FC236}">
                <a16:creationId xmlns:a16="http://schemas.microsoft.com/office/drawing/2014/main" id="{EA2555F2-099A-C199-9528-9CA51B9624D2}"/>
              </a:ext>
            </a:extLst>
          </p:cNvPr>
          <p:cNvSpPr/>
          <p:nvPr/>
        </p:nvSpPr>
        <p:spPr>
          <a:xfrm>
            <a:off x="3883454" y="2198641"/>
            <a:ext cx="1097280" cy="182880"/>
          </a:xfr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15" name="Rounded Rectangle 26">
            <a:extLst>
              <a:ext uri="{FF2B5EF4-FFF2-40B4-BE49-F238E27FC236}">
                <a16:creationId xmlns:a16="http://schemas.microsoft.com/office/drawing/2014/main" id="{EFD484CB-F23B-E95A-CCCB-469D22D51E6F}"/>
              </a:ext>
            </a:extLst>
          </p:cNvPr>
          <p:cNvSpPr/>
          <p:nvPr/>
        </p:nvSpPr>
        <p:spPr>
          <a:xfrm>
            <a:off x="3920030" y="2195125"/>
            <a:ext cx="1097280" cy="182880"/>
          </a:xfrm>
          <a:prstGeom prst="round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2" name="TextBox 133">
            <a:extLst>
              <a:ext uri="{FF2B5EF4-FFF2-40B4-BE49-F238E27FC236}">
                <a16:creationId xmlns:a16="http://schemas.microsoft.com/office/drawing/2014/main" id="{91868233-B3AB-D5E2-B680-77DA5586DC14}"/>
              </a:ext>
            </a:extLst>
          </p:cNvPr>
          <p:cNvSpPr txBox="1"/>
          <p:nvPr/>
        </p:nvSpPr>
        <p:spPr>
          <a:xfrm>
            <a:off x="3933746" y="2211403"/>
            <a:ext cx="1097280" cy="139525"/>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noProof="0">
                <a:solidFill>
                  <a:srgbClr val="FFFFFF"/>
                </a:solidFill>
                <a:latin typeface="Arial" panose="020B0604020202020204" pitchFamily="34" charset="0"/>
                <a:cs typeface="Arial" panose="020B0604020202020204" pitchFamily="34" charset="0"/>
              </a:rPr>
              <a:t>PARTIAL</a:t>
            </a:r>
          </a:p>
        </p:txBody>
      </p:sp>
      <p:sp>
        <p:nvSpPr>
          <p:cNvPr id="51" name="Rounded Rectangle 18">
            <a:extLst>
              <a:ext uri="{FF2B5EF4-FFF2-40B4-BE49-F238E27FC236}">
                <a16:creationId xmlns:a16="http://schemas.microsoft.com/office/drawing/2014/main" id="{CBDF37CF-D0C2-CE80-7F1B-E15BE326432F}"/>
              </a:ext>
            </a:extLst>
          </p:cNvPr>
          <p:cNvSpPr/>
          <p:nvPr/>
        </p:nvSpPr>
        <p:spPr>
          <a:xfrm>
            <a:off x="1545159" y="2191170"/>
            <a:ext cx="1097280" cy="182880"/>
          </a:xfr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52" name="Rounded Rectangle 26">
            <a:extLst>
              <a:ext uri="{FF2B5EF4-FFF2-40B4-BE49-F238E27FC236}">
                <a16:creationId xmlns:a16="http://schemas.microsoft.com/office/drawing/2014/main" id="{E2DB847D-9E20-2702-3731-757C2054C6FE}"/>
              </a:ext>
            </a:extLst>
          </p:cNvPr>
          <p:cNvSpPr/>
          <p:nvPr/>
        </p:nvSpPr>
        <p:spPr>
          <a:xfrm>
            <a:off x="1581735" y="2187654"/>
            <a:ext cx="1097280" cy="182880"/>
          </a:xfrm>
          <a:prstGeom prst="round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3" name="TextBox 133">
            <a:extLst>
              <a:ext uri="{FF2B5EF4-FFF2-40B4-BE49-F238E27FC236}">
                <a16:creationId xmlns:a16="http://schemas.microsoft.com/office/drawing/2014/main" id="{6C0CD733-2446-A2DD-26BF-63616999D2E3}"/>
              </a:ext>
            </a:extLst>
          </p:cNvPr>
          <p:cNvSpPr txBox="1"/>
          <p:nvPr/>
        </p:nvSpPr>
        <p:spPr>
          <a:xfrm>
            <a:off x="1595451" y="2203932"/>
            <a:ext cx="1097280" cy="139525"/>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noProof="0">
                <a:solidFill>
                  <a:srgbClr val="FFFFFF"/>
                </a:solidFill>
                <a:latin typeface="Arial" panose="020B0604020202020204" pitchFamily="34" charset="0"/>
                <a:cs typeface="Arial" panose="020B0604020202020204" pitchFamily="34" charset="0"/>
              </a:rPr>
              <a:t>PARTIAL</a:t>
            </a:r>
          </a:p>
        </p:txBody>
      </p:sp>
    </p:spTree>
    <p:extLst>
      <p:ext uri="{BB962C8B-B14F-4D97-AF65-F5344CB8AC3E}">
        <p14:creationId xmlns:p14="http://schemas.microsoft.com/office/powerpoint/2010/main" val="5290010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9244DB-CEF6-52DC-54CB-4F3713D6D41B}"/>
            </a:ext>
          </a:extLst>
        </p:cNvPr>
        <p:cNvGrpSpPr/>
        <p:nvPr/>
      </p:nvGrpSpPr>
      <p:grpSpPr>
        <a:xfrm>
          <a:off x="0" y="0"/>
          <a:ext cx="0" cy="0"/>
          <a:chOff x="0" y="0"/>
          <a:chExt cx="0" cy="0"/>
        </a:xfrm>
      </p:grpSpPr>
      <p:sp>
        <p:nvSpPr>
          <p:cNvPr id="20" name="Rounded Rectangle 26">
            <a:extLst>
              <a:ext uri="{FF2B5EF4-FFF2-40B4-BE49-F238E27FC236}">
                <a16:creationId xmlns:a16="http://schemas.microsoft.com/office/drawing/2014/main" id="{7F61E22E-C42A-0B24-FD55-5AE5E3383FDD}"/>
              </a:ext>
            </a:extLst>
          </p:cNvPr>
          <p:cNvSpPr/>
          <p:nvPr/>
        </p:nvSpPr>
        <p:spPr>
          <a:xfrm>
            <a:off x="6098792" y="2276522"/>
            <a:ext cx="1097280" cy="182880"/>
          </a:xfrm>
          <a:prstGeom prst="round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86" name="Rectangle 185">
            <a:extLst>
              <a:ext uri="{FF2B5EF4-FFF2-40B4-BE49-F238E27FC236}">
                <a16:creationId xmlns:a16="http://schemas.microsoft.com/office/drawing/2014/main" id="{2AC6E34C-DD4B-F559-7587-B8C776EE5CC3}"/>
              </a:ext>
            </a:extLst>
          </p:cNvPr>
          <p:cNvSpPr/>
          <p:nvPr/>
        </p:nvSpPr>
        <p:spPr>
          <a:xfrm>
            <a:off x="180918" y="6327040"/>
            <a:ext cx="11906307" cy="50292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38" name="TextBox 2">
            <a:extLst>
              <a:ext uri="{FF2B5EF4-FFF2-40B4-BE49-F238E27FC236}">
                <a16:creationId xmlns:a16="http://schemas.microsoft.com/office/drawing/2014/main" id="{10BA7B63-1212-79B6-60AD-545FD03B72E2}"/>
              </a:ext>
            </a:extLst>
          </p:cNvPr>
          <p:cNvSpPr txBox="1"/>
          <p:nvPr/>
        </p:nvSpPr>
        <p:spPr>
          <a:xfrm>
            <a:off x="457201" y="964799"/>
            <a:ext cx="11463124" cy="523220"/>
          </a:xfrm>
          <a:prstGeom prst="rect">
            <a:avLst/>
          </a:prstGeom>
          <a:noFill/>
        </p:spPr>
        <p:txBody>
          <a:bodyPr wrap="square" lIns="0" tIns="0" rIns="0" bIns="0" rtlCol="0">
            <a:noAutofit/>
          </a:bodyPr>
          <a:lstStyle>
            <a:defPPr>
              <a:defRPr lang="en-US"/>
            </a:defPPr>
            <a:lvl1pPr algn="just">
              <a:defRPr sz="1400" b="1">
                <a:solidFill>
                  <a:schemeClr val="accent4">
                    <a:lumMod val="75000"/>
                  </a:schemeClr>
                </a:solidFill>
                <a:latin typeface="Arial" panose="020B0604020202020204" pitchFamily="34" charset="0"/>
                <a:cs typeface="Arial" panose="020B0604020202020204" pitchFamily="34" charset="0"/>
              </a:defRPr>
            </a:lvl1pPr>
            <a:lvl2pPr marL="228586" algn="l" rtl="0" eaLnBrk="0" fontAlgn="base" hangingPunct="0">
              <a:spcBef>
                <a:spcPct val="0"/>
              </a:spcBef>
              <a:spcAft>
                <a:spcPct val="0"/>
              </a:spcAft>
              <a:defRPr kern="1200">
                <a:solidFill>
                  <a:schemeClr val="tx1"/>
                </a:solidFill>
                <a:latin typeface="Arial" pitchFamily="2" charset="77"/>
                <a:ea typeface="+mn-ea"/>
                <a:cs typeface="+mn-cs"/>
              </a:defRPr>
            </a:lvl2pPr>
            <a:lvl3pPr marL="457172" algn="l" rtl="0" eaLnBrk="0" fontAlgn="base" hangingPunct="0">
              <a:spcBef>
                <a:spcPct val="0"/>
              </a:spcBef>
              <a:spcAft>
                <a:spcPct val="0"/>
              </a:spcAft>
              <a:defRPr kern="1200">
                <a:solidFill>
                  <a:schemeClr val="tx1"/>
                </a:solidFill>
                <a:latin typeface="Arial" pitchFamily="2" charset="77"/>
                <a:ea typeface="+mn-ea"/>
                <a:cs typeface="+mn-cs"/>
              </a:defRPr>
            </a:lvl3pPr>
            <a:lvl4pPr marL="685757" algn="l" rtl="0" eaLnBrk="0" fontAlgn="base" hangingPunct="0">
              <a:spcBef>
                <a:spcPct val="0"/>
              </a:spcBef>
              <a:spcAft>
                <a:spcPct val="0"/>
              </a:spcAft>
              <a:defRPr kern="1200">
                <a:solidFill>
                  <a:schemeClr val="tx1"/>
                </a:solidFill>
                <a:latin typeface="Arial" pitchFamily="2" charset="77"/>
                <a:ea typeface="+mn-ea"/>
                <a:cs typeface="+mn-cs"/>
              </a:defRPr>
            </a:lvl4pPr>
            <a:lvl5pPr marL="914343" algn="l" rtl="0" eaLnBrk="0" fontAlgn="base" hangingPunct="0">
              <a:spcBef>
                <a:spcPct val="0"/>
              </a:spcBef>
              <a:spcAft>
                <a:spcPct val="0"/>
              </a:spcAft>
              <a:defRPr kern="1200">
                <a:solidFill>
                  <a:schemeClr val="tx1"/>
                </a:solidFill>
                <a:latin typeface="Arial" pitchFamily="2" charset="77"/>
                <a:ea typeface="+mn-ea"/>
                <a:cs typeface="+mn-cs"/>
              </a:defRPr>
            </a:lvl5pPr>
            <a:lvl6pPr marL="1142929" algn="l" defTabSz="457172" rtl="0" eaLnBrk="1" latinLnBrk="0" hangingPunct="1">
              <a:defRPr kern="1200">
                <a:solidFill>
                  <a:schemeClr val="tx1"/>
                </a:solidFill>
                <a:latin typeface="Arial" pitchFamily="2" charset="77"/>
                <a:ea typeface="+mn-ea"/>
                <a:cs typeface="+mn-cs"/>
              </a:defRPr>
            </a:lvl6pPr>
            <a:lvl7pPr marL="1371515" algn="l" defTabSz="457172" rtl="0" eaLnBrk="1" latinLnBrk="0" hangingPunct="1">
              <a:defRPr kern="1200">
                <a:solidFill>
                  <a:schemeClr val="tx1"/>
                </a:solidFill>
                <a:latin typeface="Arial" pitchFamily="2" charset="77"/>
                <a:ea typeface="+mn-ea"/>
                <a:cs typeface="+mn-cs"/>
              </a:defRPr>
            </a:lvl7pPr>
            <a:lvl8pPr marL="1600100" algn="l" defTabSz="457172" rtl="0" eaLnBrk="1" latinLnBrk="0" hangingPunct="1">
              <a:defRPr kern="1200">
                <a:solidFill>
                  <a:schemeClr val="tx1"/>
                </a:solidFill>
                <a:latin typeface="Arial" pitchFamily="2" charset="77"/>
                <a:ea typeface="+mn-ea"/>
                <a:cs typeface="+mn-cs"/>
              </a:defRPr>
            </a:lvl8pPr>
            <a:lvl9pPr marL="1828686" algn="l" defTabSz="457172" rtl="0" eaLnBrk="1" latinLnBrk="0" hangingPunct="1">
              <a:defRPr kern="1200">
                <a:solidFill>
                  <a:schemeClr val="tx1"/>
                </a:solidFill>
                <a:latin typeface="Arial" pitchFamily="2" charset="77"/>
                <a:ea typeface="+mn-ea"/>
                <a:cs typeface="+mn-cs"/>
              </a:defRPr>
            </a:lvl9pPr>
          </a:lstStyle>
          <a:p>
            <a:r>
              <a:rPr lang="en-US" noProof="0"/>
              <a:t>Smart Metering is the only area fully vendor-delivered with PPM Now + Confluence — but relies on "intrinsic common sense" for prioritization</a:t>
            </a:r>
          </a:p>
          <a:p>
            <a:endParaRPr lang="en-US" noProof="0"/>
          </a:p>
        </p:txBody>
      </p:sp>
      <p:sp>
        <p:nvSpPr>
          <p:cNvPr id="5" name="Título 2">
            <a:extLst>
              <a:ext uri="{FF2B5EF4-FFF2-40B4-BE49-F238E27FC236}">
                <a16:creationId xmlns:a16="http://schemas.microsoft.com/office/drawing/2014/main" id="{49F2B58B-E0D7-36C9-982F-F8C5FA7C1E9D}"/>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r>
              <a:rPr lang="en-US" sz="2400" noProof="0">
                <a:latin typeface="Arial" panose="020B0604020202020204" pitchFamily="34" charset="0"/>
                <a:cs typeface="Arial" panose="020B0604020202020204" pitchFamily="34" charset="0"/>
              </a:rPr>
              <a:t>CURRENT STATE ANALYSIS</a:t>
            </a:r>
          </a:p>
          <a:p>
            <a:r>
              <a:rPr lang="en-US" sz="1200" noProof="0">
                <a:latin typeface="Arial" panose="020B0604020202020204" pitchFamily="34" charset="0"/>
                <a:cs typeface="Arial" panose="020B0604020202020204" pitchFamily="34" charset="0"/>
              </a:rPr>
              <a:t>VALUE STREAM MAPPING - DEMAND FLOW</a:t>
            </a:r>
          </a:p>
        </p:txBody>
      </p:sp>
      <p:sp>
        <p:nvSpPr>
          <p:cNvPr id="3" name="Rectangle 2">
            <a:extLst>
              <a:ext uri="{FF2B5EF4-FFF2-40B4-BE49-F238E27FC236}">
                <a16:creationId xmlns:a16="http://schemas.microsoft.com/office/drawing/2014/main" id="{C3373DC9-0748-35F1-F32B-F1BA6335084F}"/>
              </a:ext>
            </a:extLst>
          </p:cNvPr>
          <p:cNvSpPr/>
          <p:nvPr/>
        </p:nvSpPr>
        <p:spPr>
          <a:xfrm>
            <a:off x="460247" y="1488019"/>
            <a:ext cx="11274552" cy="2743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A83D0E79-066F-F0BD-41B2-42F0A412FD69}"/>
              </a:ext>
            </a:extLst>
          </p:cNvPr>
          <p:cNvSpPr/>
          <p:nvPr/>
        </p:nvSpPr>
        <p:spPr>
          <a:xfrm>
            <a:off x="460247" y="1488019"/>
            <a:ext cx="1828800" cy="274320"/>
          </a:xfrm>
          <a:prstGeom prst="rect">
            <a:avLst/>
          </a:prstGeom>
          <a:solidFill>
            <a:schemeClr val="accent4">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solidFill>
                <a:schemeClr val="tx1"/>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A27B427C-F789-E4C2-D5F3-ABEA8CC29F69}"/>
              </a:ext>
            </a:extLst>
          </p:cNvPr>
          <p:cNvSpPr txBox="1"/>
          <p:nvPr/>
        </p:nvSpPr>
        <p:spPr>
          <a:xfrm>
            <a:off x="460247" y="1554935"/>
            <a:ext cx="1828800" cy="140488"/>
          </a:xfrm>
          <a:prstGeom prst="rect">
            <a:avLst/>
          </a:prstGeom>
          <a:solidFill>
            <a:schemeClr val="accent4">
              <a:lumMod val="20000"/>
              <a:lumOff val="80000"/>
            </a:schemeClr>
          </a:solidFill>
        </p:spPr>
        <p:txBody>
          <a:bodyPr wrap="square" lIns="0" tIns="0" rIns="0" bIns="0" anchor="ctr">
            <a:spAutoFit/>
          </a:bodyPr>
          <a:lstStyle/>
          <a:p>
            <a:pPr algn="ctr">
              <a:lnSpc>
                <a:spcPct val="110000"/>
              </a:lnSpc>
              <a:spcBef>
                <a:spcPts val="0"/>
              </a:spcBef>
              <a:spcAft>
                <a:spcPts val="0"/>
              </a:spcAft>
            </a:pPr>
            <a:r>
              <a:rPr lang="en-US" sz="900" b="1" i="0" noProof="0">
                <a:latin typeface="Arial" panose="020B0604020202020204" pitchFamily="34" charset="0"/>
                <a:cs typeface="Arial" panose="020B0604020202020204" pitchFamily="34" charset="0"/>
              </a:rPr>
              <a:t>BUSINESS REQUESTERS</a:t>
            </a:r>
          </a:p>
        </p:txBody>
      </p:sp>
      <p:sp>
        <p:nvSpPr>
          <p:cNvPr id="8" name="TextBox 7">
            <a:extLst>
              <a:ext uri="{FF2B5EF4-FFF2-40B4-BE49-F238E27FC236}">
                <a16:creationId xmlns:a16="http://schemas.microsoft.com/office/drawing/2014/main" id="{1A9E4361-285B-CC22-9BBA-44B713DA91DF}"/>
              </a:ext>
            </a:extLst>
          </p:cNvPr>
          <p:cNvSpPr txBox="1"/>
          <p:nvPr/>
        </p:nvSpPr>
        <p:spPr>
          <a:xfrm>
            <a:off x="2380487" y="1554935"/>
            <a:ext cx="9281160" cy="140488"/>
          </a:xfrm>
          <a:prstGeom prst="rect">
            <a:avLst/>
          </a:prstGeom>
          <a:solidFill>
            <a:schemeClr val="accent1"/>
          </a:solidFill>
        </p:spPr>
        <p:txBody>
          <a:bodyPr wrap="square" lIns="0" tIns="0" rIns="0" bIns="0" anchor="ctr">
            <a:spAutoFit/>
          </a:bodyPr>
          <a:lstStyle/>
          <a:p>
            <a:pPr>
              <a:lnSpc>
                <a:spcPct val="110000"/>
              </a:lnSpc>
            </a:pPr>
            <a:r>
              <a:rPr lang="en-US" sz="900" noProof="0">
                <a:solidFill>
                  <a:schemeClr val="bg1"/>
                </a:solidFill>
                <a:latin typeface="Arial" panose="020B0604020202020204" pitchFamily="34" charset="0"/>
                <a:cs typeface="Arial" panose="020B0604020202020204" pitchFamily="34" charset="0"/>
              </a:rPr>
              <a:t>Customer Ops · Field Services · Billing · BRS · Vendors</a:t>
            </a:r>
          </a:p>
        </p:txBody>
      </p:sp>
      <p:sp>
        <p:nvSpPr>
          <p:cNvPr id="9" name="Rectangle 8">
            <a:extLst>
              <a:ext uri="{FF2B5EF4-FFF2-40B4-BE49-F238E27FC236}">
                <a16:creationId xmlns:a16="http://schemas.microsoft.com/office/drawing/2014/main" id="{B0527FF7-4AA6-7915-7FD2-D001BED27314}"/>
              </a:ext>
            </a:extLst>
          </p:cNvPr>
          <p:cNvSpPr/>
          <p:nvPr/>
        </p:nvSpPr>
        <p:spPr>
          <a:xfrm>
            <a:off x="1100327" y="1872067"/>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4ADF0A70-E27A-FA4E-B627-35C70974F1BE}"/>
              </a:ext>
            </a:extLst>
          </p:cNvPr>
          <p:cNvSpPr txBox="1"/>
          <p:nvPr/>
        </p:nvSpPr>
        <p:spPr>
          <a:xfrm>
            <a:off x="1100327" y="1952091"/>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01 INTAKE</a:t>
            </a:r>
          </a:p>
        </p:txBody>
      </p:sp>
      <p:sp>
        <p:nvSpPr>
          <p:cNvPr id="13" name="Rectangle 12">
            <a:extLst>
              <a:ext uri="{FF2B5EF4-FFF2-40B4-BE49-F238E27FC236}">
                <a16:creationId xmlns:a16="http://schemas.microsoft.com/office/drawing/2014/main" id="{52C2D118-2FF0-86E7-40A1-44E4AE7AF199}"/>
              </a:ext>
            </a:extLst>
          </p:cNvPr>
          <p:cNvSpPr/>
          <p:nvPr/>
        </p:nvSpPr>
        <p:spPr>
          <a:xfrm>
            <a:off x="3322319" y="1872067"/>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DA48C3F2-C668-EE4C-7BE0-CCFD6ECEE386}"/>
              </a:ext>
            </a:extLst>
          </p:cNvPr>
          <p:cNvSpPr txBox="1"/>
          <p:nvPr/>
        </p:nvSpPr>
        <p:spPr>
          <a:xfrm>
            <a:off x="3322319" y="1952091"/>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02 CLASSIFICATION</a:t>
            </a:r>
          </a:p>
        </p:txBody>
      </p:sp>
      <p:sp>
        <p:nvSpPr>
          <p:cNvPr id="52" name="Rectangle 51">
            <a:extLst>
              <a:ext uri="{FF2B5EF4-FFF2-40B4-BE49-F238E27FC236}">
                <a16:creationId xmlns:a16="http://schemas.microsoft.com/office/drawing/2014/main" id="{577D1232-EC8D-E7F2-CD17-5BEF0FFB460A}"/>
              </a:ext>
            </a:extLst>
          </p:cNvPr>
          <p:cNvSpPr/>
          <p:nvPr/>
        </p:nvSpPr>
        <p:spPr>
          <a:xfrm>
            <a:off x="5544311" y="1872067"/>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3" name="TextBox 52">
            <a:extLst>
              <a:ext uri="{FF2B5EF4-FFF2-40B4-BE49-F238E27FC236}">
                <a16:creationId xmlns:a16="http://schemas.microsoft.com/office/drawing/2014/main" id="{E9FB41F8-EA25-32FD-9874-F9A59F57C87A}"/>
              </a:ext>
            </a:extLst>
          </p:cNvPr>
          <p:cNvSpPr txBox="1"/>
          <p:nvPr/>
        </p:nvSpPr>
        <p:spPr>
          <a:xfrm>
            <a:off x="5544311" y="1952091"/>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03 PRIORITIZATION</a:t>
            </a:r>
          </a:p>
        </p:txBody>
      </p:sp>
      <p:sp>
        <p:nvSpPr>
          <p:cNvPr id="55" name="TextBox 54">
            <a:extLst>
              <a:ext uri="{FF2B5EF4-FFF2-40B4-BE49-F238E27FC236}">
                <a16:creationId xmlns:a16="http://schemas.microsoft.com/office/drawing/2014/main" id="{CCEB99B3-542D-FF36-F18A-13C6BC7E1A94}"/>
              </a:ext>
            </a:extLst>
          </p:cNvPr>
          <p:cNvSpPr txBox="1"/>
          <p:nvPr/>
        </p:nvSpPr>
        <p:spPr>
          <a:xfrm>
            <a:off x="6097523" y="2295599"/>
            <a:ext cx="1097280" cy="140488"/>
          </a:xfrm>
          <a:prstGeom prst="rect">
            <a:avLst/>
          </a:prstGeom>
          <a:noFill/>
          <a:ln>
            <a:noFill/>
          </a:ln>
        </p:spPr>
        <p:txBody>
          <a:bodyPr wrap="square" lIns="0" tIns="0" rIns="0" bIns="0" anchor="ctr">
            <a:spAutoFit/>
          </a:bodyPr>
          <a:lstStyle/>
          <a:p>
            <a:pPr algn="ctr">
              <a:lnSpc>
                <a:spcPct val="110000"/>
              </a:lnSpc>
              <a:spcBef>
                <a:spcPts val="0"/>
              </a:spcBef>
              <a:spcAft>
                <a:spcPts val="0"/>
              </a:spcAft>
            </a:pPr>
            <a:r>
              <a:rPr lang="en-US" sz="900" b="1" i="0" noProof="0">
                <a:solidFill>
                  <a:schemeClr val="bg1"/>
                </a:solidFill>
                <a:latin typeface="Arial" panose="020B0604020202020204" pitchFamily="34" charset="0"/>
                <a:cs typeface="Arial" panose="020B0604020202020204" pitchFamily="34" charset="0"/>
              </a:rPr>
              <a:t>PARTIAL</a:t>
            </a:r>
          </a:p>
        </p:txBody>
      </p:sp>
      <p:sp>
        <p:nvSpPr>
          <p:cNvPr id="56" name="Rectangle 55">
            <a:extLst>
              <a:ext uri="{FF2B5EF4-FFF2-40B4-BE49-F238E27FC236}">
                <a16:creationId xmlns:a16="http://schemas.microsoft.com/office/drawing/2014/main" id="{41A4161E-0EEB-C03A-0832-6F4FF39F442E}"/>
              </a:ext>
            </a:extLst>
          </p:cNvPr>
          <p:cNvSpPr/>
          <p:nvPr/>
        </p:nvSpPr>
        <p:spPr>
          <a:xfrm>
            <a:off x="7766303" y="1872067"/>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7" name="TextBox 56">
            <a:extLst>
              <a:ext uri="{FF2B5EF4-FFF2-40B4-BE49-F238E27FC236}">
                <a16:creationId xmlns:a16="http://schemas.microsoft.com/office/drawing/2014/main" id="{E1D87B14-2A7A-F92B-E3D2-8553326181BB}"/>
              </a:ext>
            </a:extLst>
          </p:cNvPr>
          <p:cNvSpPr txBox="1"/>
          <p:nvPr/>
        </p:nvSpPr>
        <p:spPr>
          <a:xfrm>
            <a:off x="7766303" y="1952091"/>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04 PORTFOLIO</a:t>
            </a:r>
          </a:p>
        </p:txBody>
      </p:sp>
      <p:sp>
        <p:nvSpPr>
          <p:cNvPr id="60" name="Rectangle 59">
            <a:extLst>
              <a:ext uri="{FF2B5EF4-FFF2-40B4-BE49-F238E27FC236}">
                <a16:creationId xmlns:a16="http://schemas.microsoft.com/office/drawing/2014/main" id="{41FBD060-2EA6-E410-AA76-1A9CE0401527}"/>
              </a:ext>
            </a:extLst>
          </p:cNvPr>
          <p:cNvSpPr/>
          <p:nvPr/>
        </p:nvSpPr>
        <p:spPr>
          <a:xfrm>
            <a:off x="9988295" y="1872067"/>
            <a:ext cx="1746504"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61" name="TextBox 60">
            <a:extLst>
              <a:ext uri="{FF2B5EF4-FFF2-40B4-BE49-F238E27FC236}">
                <a16:creationId xmlns:a16="http://schemas.microsoft.com/office/drawing/2014/main" id="{D5E10395-0FE8-61D0-BA5C-2BAE63CAC13D}"/>
              </a:ext>
            </a:extLst>
          </p:cNvPr>
          <p:cNvSpPr txBox="1"/>
          <p:nvPr/>
        </p:nvSpPr>
        <p:spPr>
          <a:xfrm>
            <a:off x="9988295" y="1952091"/>
            <a:ext cx="1746504"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05 DELIVERY</a:t>
            </a:r>
          </a:p>
        </p:txBody>
      </p:sp>
      <p:sp>
        <p:nvSpPr>
          <p:cNvPr id="128" name="Rectangle 127">
            <a:extLst>
              <a:ext uri="{FF2B5EF4-FFF2-40B4-BE49-F238E27FC236}">
                <a16:creationId xmlns:a16="http://schemas.microsoft.com/office/drawing/2014/main" id="{33F1F695-7521-0408-53EA-BB76D15DFB28}"/>
              </a:ext>
            </a:extLst>
          </p:cNvPr>
          <p:cNvSpPr/>
          <p:nvPr/>
        </p:nvSpPr>
        <p:spPr>
          <a:xfrm>
            <a:off x="460247" y="2512147"/>
            <a:ext cx="594360" cy="49377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29" name="TextBox 128">
            <a:extLst>
              <a:ext uri="{FF2B5EF4-FFF2-40B4-BE49-F238E27FC236}">
                <a16:creationId xmlns:a16="http://schemas.microsoft.com/office/drawing/2014/main" id="{AD252058-F11E-AE2D-D0DC-3FC514EBC207}"/>
              </a:ext>
            </a:extLst>
          </p:cNvPr>
          <p:cNvSpPr txBox="1"/>
          <p:nvPr/>
        </p:nvSpPr>
        <p:spPr>
          <a:xfrm>
            <a:off x="460247" y="2585878"/>
            <a:ext cx="594360" cy="346313"/>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700" b="1" i="0" noProof="0">
                <a:solidFill>
                  <a:srgbClr val="FFFFFF"/>
                </a:solidFill>
                <a:latin typeface="Arial" panose="020B0604020202020204" pitchFamily="34" charset="0"/>
                <a:cs typeface="Arial" panose="020B0604020202020204" pitchFamily="34" charset="0"/>
              </a:rPr>
              <a:t>CHANNELS  ·  HOW IT ARRIVES</a:t>
            </a:r>
          </a:p>
        </p:txBody>
      </p:sp>
      <p:sp>
        <p:nvSpPr>
          <p:cNvPr id="130" name="Rectangle 129">
            <a:extLst>
              <a:ext uri="{FF2B5EF4-FFF2-40B4-BE49-F238E27FC236}">
                <a16:creationId xmlns:a16="http://schemas.microsoft.com/office/drawing/2014/main" id="{B619FE6A-08FE-455B-DD12-C66E0F6CAF19}"/>
              </a:ext>
            </a:extLst>
          </p:cNvPr>
          <p:cNvSpPr/>
          <p:nvPr/>
        </p:nvSpPr>
        <p:spPr>
          <a:xfrm>
            <a:off x="1100327" y="2512147"/>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31" name="TextBox 130">
            <a:extLst>
              <a:ext uri="{FF2B5EF4-FFF2-40B4-BE49-F238E27FC236}">
                <a16:creationId xmlns:a16="http://schemas.microsoft.com/office/drawing/2014/main" id="{94FE7A73-3C39-5005-A58B-EB1264CC7D6F}"/>
              </a:ext>
            </a:extLst>
          </p:cNvPr>
          <p:cNvSpPr txBox="1"/>
          <p:nvPr/>
        </p:nvSpPr>
        <p:spPr>
          <a:xfrm>
            <a:off x="1191767" y="2557867"/>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Small demands via email (IT Now); normal flow — not seasonal</a:t>
            </a:r>
          </a:p>
        </p:txBody>
      </p:sp>
      <p:sp>
        <p:nvSpPr>
          <p:cNvPr id="132" name="Rectangle 131">
            <a:extLst>
              <a:ext uri="{FF2B5EF4-FFF2-40B4-BE49-F238E27FC236}">
                <a16:creationId xmlns:a16="http://schemas.microsoft.com/office/drawing/2014/main" id="{38A09478-3F49-5CB0-7386-238D6225F242}"/>
              </a:ext>
            </a:extLst>
          </p:cNvPr>
          <p:cNvSpPr/>
          <p:nvPr/>
        </p:nvSpPr>
        <p:spPr>
          <a:xfrm>
            <a:off x="3322319" y="2512147"/>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33" name="TextBox 132">
            <a:extLst>
              <a:ext uri="{FF2B5EF4-FFF2-40B4-BE49-F238E27FC236}">
                <a16:creationId xmlns:a16="http://schemas.microsoft.com/office/drawing/2014/main" id="{8D5BD6A3-194A-E173-47EF-150F1F145775}"/>
              </a:ext>
            </a:extLst>
          </p:cNvPr>
          <p:cNvSpPr txBox="1"/>
          <p:nvPr/>
        </p:nvSpPr>
        <p:spPr>
          <a:xfrm>
            <a:off x="3413759" y="2557867"/>
            <a:ext cx="1984248" cy="29193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Incidents: IT Now template; requirements usually clear</a:t>
            </a:r>
          </a:p>
        </p:txBody>
      </p:sp>
      <p:sp>
        <p:nvSpPr>
          <p:cNvPr id="134" name="Rectangle 133">
            <a:extLst>
              <a:ext uri="{FF2B5EF4-FFF2-40B4-BE49-F238E27FC236}">
                <a16:creationId xmlns:a16="http://schemas.microsoft.com/office/drawing/2014/main" id="{D5DB579F-1D91-A89E-9DF4-938BD849E018}"/>
              </a:ext>
            </a:extLst>
          </p:cNvPr>
          <p:cNvSpPr/>
          <p:nvPr/>
        </p:nvSpPr>
        <p:spPr>
          <a:xfrm>
            <a:off x="5544311" y="2512147"/>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35" name="TextBox 134">
            <a:extLst>
              <a:ext uri="{FF2B5EF4-FFF2-40B4-BE49-F238E27FC236}">
                <a16:creationId xmlns:a16="http://schemas.microsoft.com/office/drawing/2014/main" id="{F0A935C9-0B74-290A-F8F2-A81AEC2049FC}"/>
              </a:ext>
            </a:extLst>
          </p:cNvPr>
          <p:cNvSpPr txBox="1"/>
          <p:nvPr/>
        </p:nvSpPr>
        <p:spPr>
          <a:xfrm>
            <a:off x="5635751" y="2557867"/>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Criticality + deadline + application priority</a:t>
            </a:r>
          </a:p>
        </p:txBody>
      </p:sp>
      <p:sp>
        <p:nvSpPr>
          <p:cNvPr id="136" name="Rectangle 135">
            <a:extLst>
              <a:ext uri="{FF2B5EF4-FFF2-40B4-BE49-F238E27FC236}">
                <a16:creationId xmlns:a16="http://schemas.microsoft.com/office/drawing/2014/main" id="{59002298-AD55-0577-E454-DE3E38B2A5D3}"/>
              </a:ext>
            </a:extLst>
          </p:cNvPr>
          <p:cNvSpPr/>
          <p:nvPr/>
        </p:nvSpPr>
        <p:spPr>
          <a:xfrm>
            <a:off x="7766303" y="2512147"/>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37" name="TextBox 136">
            <a:extLst>
              <a:ext uri="{FF2B5EF4-FFF2-40B4-BE49-F238E27FC236}">
                <a16:creationId xmlns:a16="http://schemas.microsoft.com/office/drawing/2014/main" id="{DEE2B568-CB2B-9B4F-D5E9-CEDE0BCA91E1}"/>
              </a:ext>
            </a:extLst>
          </p:cNvPr>
          <p:cNvSpPr txBox="1"/>
          <p:nvPr/>
        </p:nvSpPr>
        <p:spPr>
          <a:xfrm>
            <a:off x="7857743" y="2557867"/>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PPM Now (large) + Jira + Confluence (PM-to-PM)</a:t>
            </a:r>
          </a:p>
        </p:txBody>
      </p:sp>
      <p:sp>
        <p:nvSpPr>
          <p:cNvPr id="138" name="Rectangle 137">
            <a:extLst>
              <a:ext uri="{FF2B5EF4-FFF2-40B4-BE49-F238E27FC236}">
                <a16:creationId xmlns:a16="http://schemas.microsoft.com/office/drawing/2014/main" id="{6C544072-BD1B-3A2D-693F-E82E6BAC47F9}"/>
              </a:ext>
            </a:extLst>
          </p:cNvPr>
          <p:cNvSpPr/>
          <p:nvPr/>
        </p:nvSpPr>
        <p:spPr>
          <a:xfrm>
            <a:off x="9988295" y="2512147"/>
            <a:ext cx="1746504"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39" name="TextBox 138">
            <a:extLst>
              <a:ext uri="{FF2B5EF4-FFF2-40B4-BE49-F238E27FC236}">
                <a16:creationId xmlns:a16="http://schemas.microsoft.com/office/drawing/2014/main" id="{FDF22866-1EE2-5C28-2D0F-1232D17D5E98}"/>
              </a:ext>
            </a:extLst>
          </p:cNvPr>
          <p:cNvSpPr txBox="1"/>
          <p:nvPr/>
        </p:nvSpPr>
        <p:spPr>
          <a:xfrm>
            <a:off x="10079735" y="2557867"/>
            <a:ext cx="1599120" cy="44428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100% vendor-delivered portfolio — vendors = consultants + code</a:t>
            </a:r>
          </a:p>
        </p:txBody>
      </p:sp>
      <p:sp>
        <p:nvSpPr>
          <p:cNvPr id="140" name="Rectangle 139">
            <a:extLst>
              <a:ext uri="{FF2B5EF4-FFF2-40B4-BE49-F238E27FC236}">
                <a16:creationId xmlns:a16="http://schemas.microsoft.com/office/drawing/2014/main" id="{2B8EAF5C-61CC-1C99-822F-CFC6CB7B7392}"/>
              </a:ext>
            </a:extLst>
          </p:cNvPr>
          <p:cNvSpPr/>
          <p:nvPr/>
        </p:nvSpPr>
        <p:spPr>
          <a:xfrm>
            <a:off x="460247" y="3042499"/>
            <a:ext cx="594360" cy="49377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1" name="TextBox 140">
            <a:extLst>
              <a:ext uri="{FF2B5EF4-FFF2-40B4-BE49-F238E27FC236}">
                <a16:creationId xmlns:a16="http://schemas.microsoft.com/office/drawing/2014/main" id="{11DE145E-E54E-9DED-2069-C7CABB626170}"/>
              </a:ext>
            </a:extLst>
          </p:cNvPr>
          <p:cNvSpPr txBox="1"/>
          <p:nvPr/>
        </p:nvSpPr>
        <p:spPr>
          <a:xfrm>
            <a:off x="460247" y="3234724"/>
            <a:ext cx="594360" cy="109325"/>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700" b="1" i="0" noProof="0">
                <a:solidFill>
                  <a:srgbClr val="FFFFFF"/>
                </a:solidFill>
                <a:latin typeface="Arial" panose="020B0604020202020204" pitchFamily="34" charset="0"/>
                <a:cs typeface="Arial" panose="020B0604020202020204" pitchFamily="34" charset="0"/>
              </a:rPr>
              <a:t>ROLES</a:t>
            </a:r>
          </a:p>
        </p:txBody>
      </p:sp>
      <p:sp>
        <p:nvSpPr>
          <p:cNvPr id="142" name="Rectangle 141">
            <a:extLst>
              <a:ext uri="{FF2B5EF4-FFF2-40B4-BE49-F238E27FC236}">
                <a16:creationId xmlns:a16="http://schemas.microsoft.com/office/drawing/2014/main" id="{325BF07C-BB99-88C0-0D0F-B8D5DE390F1C}"/>
              </a:ext>
            </a:extLst>
          </p:cNvPr>
          <p:cNvSpPr/>
          <p:nvPr/>
        </p:nvSpPr>
        <p:spPr>
          <a:xfrm>
            <a:off x="1100327" y="3042499"/>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3" name="TextBox 142">
            <a:extLst>
              <a:ext uri="{FF2B5EF4-FFF2-40B4-BE49-F238E27FC236}">
                <a16:creationId xmlns:a16="http://schemas.microsoft.com/office/drawing/2014/main" id="{2B40DB71-4449-8E9C-56A6-26582993B9E6}"/>
              </a:ext>
            </a:extLst>
          </p:cNvPr>
          <p:cNvSpPr txBox="1"/>
          <p:nvPr/>
        </p:nvSpPr>
        <p:spPr>
          <a:xfrm>
            <a:off x="1191767" y="3088219"/>
            <a:ext cx="1984248" cy="44428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Business </a:t>
            </a:r>
            <a:r>
              <a:rPr lang="en-US" sz="900" noProof="0">
                <a:solidFill>
                  <a:srgbClr val="2C3E50"/>
                </a:solidFill>
                <a:latin typeface="Arial" panose="020B0604020202020204" pitchFamily="34" charset="0"/>
                <a:cs typeface="Arial" panose="020B0604020202020204" pitchFamily="34" charset="0"/>
              </a:rPr>
              <a:t>users</a:t>
            </a:r>
            <a:r>
              <a:rPr lang="en-US" sz="900" b="0" i="0" noProof="0">
                <a:solidFill>
                  <a:srgbClr val="2C3E50"/>
                </a:solidFill>
                <a:latin typeface="Arial" panose="020B0604020202020204" pitchFamily="34" charset="0"/>
                <a:cs typeface="Arial" panose="020B0604020202020204" pitchFamily="34" charset="0"/>
              </a:rPr>
              <a:t> opens IT Now / email; Smart Metering Champion (PM) receives</a:t>
            </a:r>
          </a:p>
        </p:txBody>
      </p:sp>
      <p:sp>
        <p:nvSpPr>
          <p:cNvPr id="144" name="Rectangle 143">
            <a:extLst>
              <a:ext uri="{FF2B5EF4-FFF2-40B4-BE49-F238E27FC236}">
                <a16:creationId xmlns:a16="http://schemas.microsoft.com/office/drawing/2014/main" id="{9E166B99-536B-9C18-EE3B-1327E8454ECE}"/>
              </a:ext>
            </a:extLst>
          </p:cNvPr>
          <p:cNvSpPr/>
          <p:nvPr/>
        </p:nvSpPr>
        <p:spPr>
          <a:xfrm>
            <a:off x="3322319" y="3042499"/>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5" name="TextBox 144">
            <a:extLst>
              <a:ext uri="{FF2B5EF4-FFF2-40B4-BE49-F238E27FC236}">
                <a16:creationId xmlns:a16="http://schemas.microsoft.com/office/drawing/2014/main" id="{2A6EE7E3-F2D3-FC7D-D1AF-99229B2CE39A}"/>
              </a:ext>
            </a:extLst>
          </p:cNvPr>
          <p:cNvSpPr txBox="1"/>
          <p:nvPr/>
        </p:nvSpPr>
        <p:spPr>
          <a:xfrm>
            <a:off x="3413759" y="3088219"/>
            <a:ext cx="1984248" cy="29193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Smart Metering PM + team classify by template; vendor tech lead joins</a:t>
            </a:r>
          </a:p>
        </p:txBody>
      </p:sp>
      <p:sp>
        <p:nvSpPr>
          <p:cNvPr id="146" name="Rectangle 145">
            <a:extLst>
              <a:ext uri="{FF2B5EF4-FFF2-40B4-BE49-F238E27FC236}">
                <a16:creationId xmlns:a16="http://schemas.microsoft.com/office/drawing/2014/main" id="{C192A10D-5798-BC40-F0CE-0BD045A516CE}"/>
              </a:ext>
            </a:extLst>
          </p:cNvPr>
          <p:cNvSpPr/>
          <p:nvPr/>
        </p:nvSpPr>
        <p:spPr>
          <a:xfrm>
            <a:off x="5544311" y="3042499"/>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7" name="TextBox 146">
            <a:extLst>
              <a:ext uri="{FF2B5EF4-FFF2-40B4-BE49-F238E27FC236}">
                <a16:creationId xmlns:a16="http://schemas.microsoft.com/office/drawing/2014/main" id="{392A76FD-F200-D2AF-391C-332BC90EB17B}"/>
              </a:ext>
            </a:extLst>
          </p:cNvPr>
          <p:cNvSpPr txBox="1"/>
          <p:nvPr/>
        </p:nvSpPr>
        <p:spPr>
          <a:xfrm>
            <a:off x="5635751" y="3088219"/>
            <a:ext cx="1984248" cy="44428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Smart Metering PM prioritizes on deadline + criticality — "intrinsic common sense"</a:t>
            </a:r>
          </a:p>
        </p:txBody>
      </p:sp>
      <p:sp>
        <p:nvSpPr>
          <p:cNvPr id="148" name="Rectangle 147">
            <a:extLst>
              <a:ext uri="{FF2B5EF4-FFF2-40B4-BE49-F238E27FC236}">
                <a16:creationId xmlns:a16="http://schemas.microsoft.com/office/drawing/2014/main" id="{5E0C0499-D25B-2516-AEE4-887DCA4ABDF9}"/>
              </a:ext>
            </a:extLst>
          </p:cNvPr>
          <p:cNvSpPr/>
          <p:nvPr/>
        </p:nvSpPr>
        <p:spPr>
          <a:xfrm>
            <a:off x="7766303" y="3042499"/>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9" name="TextBox 148">
            <a:extLst>
              <a:ext uri="{FF2B5EF4-FFF2-40B4-BE49-F238E27FC236}">
                <a16:creationId xmlns:a16="http://schemas.microsoft.com/office/drawing/2014/main" id="{5FD93721-2EDE-7D1D-B410-E877BE629FBB}"/>
              </a:ext>
            </a:extLst>
          </p:cNvPr>
          <p:cNvSpPr txBox="1"/>
          <p:nvPr/>
        </p:nvSpPr>
        <p:spPr>
          <a:xfrm>
            <a:off x="7857743" y="3088219"/>
            <a:ext cx="1984248" cy="44428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Smart Metering </a:t>
            </a:r>
            <a:r>
              <a:rPr lang="en-US" sz="900" noProof="0">
                <a:solidFill>
                  <a:srgbClr val="2C3E50"/>
                </a:solidFill>
                <a:latin typeface="Arial" panose="020B0604020202020204" pitchFamily="34" charset="0"/>
                <a:cs typeface="Arial" panose="020B0604020202020204" pitchFamily="34" charset="0"/>
              </a:rPr>
              <a:t>PM</a:t>
            </a:r>
            <a:r>
              <a:rPr lang="en-US" sz="900" b="0" i="0" noProof="0">
                <a:solidFill>
                  <a:srgbClr val="2C3E50"/>
                </a:solidFill>
                <a:latin typeface="Arial" panose="020B0604020202020204" pitchFamily="34" charset="0"/>
                <a:cs typeface="Arial" panose="020B0604020202020204" pitchFamily="34" charset="0"/>
              </a:rPr>
              <a:t> + manager (weekly); vendor PMs help PMs prioritize</a:t>
            </a:r>
          </a:p>
        </p:txBody>
      </p:sp>
      <p:sp>
        <p:nvSpPr>
          <p:cNvPr id="150" name="Rectangle 149">
            <a:extLst>
              <a:ext uri="{FF2B5EF4-FFF2-40B4-BE49-F238E27FC236}">
                <a16:creationId xmlns:a16="http://schemas.microsoft.com/office/drawing/2014/main" id="{6B885EE5-DF01-DAFD-2EA1-320BCE1F04B1}"/>
              </a:ext>
            </a:extLst>
          </p:cNvPr>
          <p:cNvSpPr/>
          <p:nvPr/>
        </p:nvSpPr>
        <p:spPr>
          <a:xfrm>
            <a:off x="9988295" y="3042499"/>
            <a:ext cx="1746504"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51" name="TextBox 150">
            <a:extLst>
              <a:ext uri="{FF2B5EF4-FFF2-40B4-BE49-F238E27FC236}">
                <a16:creationId xmlns:a16="http://schemas.microsoft.com/office/drawing/2014/main" id="{6F092F7C-5869-EC4A-B83F-1B1D71611962}"/>
              </a:ext>
            </a:extLst>
          </p:cNvPr>
          <p:cNvSpPr txBox="1"/>
          <p:nvPr/>
        </p:nvSpPr>
        <p:spPr>
          <a:xfrm>
            <a:off x="10079735" y="3088219"/>
            <a:ext cx="1599120" cy="44428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Vendors do requirements AND code; Avangrid = product owner</a:t>
            </a:r>
          </a:p>
        </p:txBody>
      </p:sp>
      <p:sp>
        <p:nvSpPr>
          <p:cNvPr id="152" name="Rectangle 151">
            <a:extLst>
              <a:ext uri="{FF2B5EF4-FFF2-40B4-BE49-F238E27FC236}">
                <a16:creationId xmlns:a16="http://schemas.microsoft.com/office/drawing/2014/main" id="{143326C8-FAF9-CEE5-EB93-736A4420F33A}"/>
              </a:ext>
            </a:extLst>
          </p:cNvPr>
          <p:cNvSpPr/>
          <p:nvPr/>
        </p:nvSpPr>
        <p:spPr>
          <a:xfrm>
            <a:off x="460247" y="3572851"/>
            <a:ext cx="594360" cy="49377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53" name="TextBox 152">
            <a:extLst>
              <a:ext uri="{FF2B5EF4-FFF2-40B4-BE49-F238E27FC236}">
                <a16:creationId xmlns:a16="http://schemas.microsoft.com/office/drawing/2014/main" id="{EA7FEC7C-C794-179F-60D2-9136F9DC1A6C}"/>
              </a:ext>
            </a:extLst>
          </p:cNvPr>
          <p:cNvSpPr txBox="1"/>
          <p:nvPr/>
        </p:nvSpPr>
        <p:spPr>
          <a:xfrm>
            <a:off x="460247" y="3765076"/>
            <a:ext cx="594360" cy="109325"/>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700" b="1" i="0" noProof="0">
                <a:solidFill>
                  <a:srgbClr val="FFFFFF"/>
                </a:solidFill>
                <a:latin typeface="Arial" panose="020B0604020202020204" pitchFamily="34" charset="0"/>
                <a:cs typeface="Arial" panose="020B0604020202020204" pitchFamily="34" charset="0"/>
              </a:rPr>
              <a:t>TOOLS</a:t>
            </a:r>
          </a:p>
        </p:txBody>
      </p:sp>
      <p:sp>
        <p:nvSpPr>
          <p:cNvPr id="154" name="Rectangle 153">
            <a:extLst>
              <a:ext uri="{FF2B5EF4-FFF2-40B4-BE49-F238E27FC236}">
                <a16:creationId xmlns:a16="http://schemas.microsoft.com/office/drawing/2014/main" id="{A7343F74-EABF-EFE3-C54A-B2C5DFC9F7CE}"/>
              </a:ext>
            </a:extLst>
          </p:cNvPr>
          <p:cNvSpPr/>
          <p:nvPr/>
        </p:nvSpPr>
        <p:spPr>
          <a:xfrm>
            <a:off x="1100327" y="3572851"/>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55" name="TextBox 154">
            <a:extLst>
              <a:ext uri="{FF2B5EF4-FFF2-40B4-BE49-F238E27FC236}">
                <a16:creationId xmlns:a16="http://schemas.microsoft.com/office/drawing/2014/main" id="{0A1FEFE4-FC6F-473B-4056-94BAE2BA17C7}"/>
              </a:ext>
            </a:extLst>
          </p:cNvPr>
          <p:cNvSpPr txBox="1"/>
          <p:nvPr/>
        </p:nvSpPr>
        <p:spPr>
          <a:xfrm>
            <a:off x="1191767" y="3618571"/>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Email · IT Now (template) · occasional RITM</a:t>
            </a:r>
          </a:p>
        </p:txBody>
      </p:sp>
      <p:sp>
        <p:nvSpPr>
          <p:cNvPr id="156" name="Rectangle 155">
            <a:extLst>
              <a:ext uri="{FF2B5EF4-FFF2-40B4-BE49-F238E27FC236}">
                <a16:creationId xmlns:a16="http://schemas.microsoft.com/office/drawing/2014/main" id="{5479AAC4-A007-DB4C-DC7E-9FB5FBDD4173}"/>
              </a:ext>
            </a:extLst>
          </p:cNvPr>
          <p:cNvSpPr/>
          <p:nvPr/>
        </p:nvSpPr>
        <p:spPr>
          <a:xfrm>
            <a:off x="3322319" y="3572851"/>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57" name="TextBox 156">
            <a:extLst>
              <a:ext uri="{FF2B5EF4-FFF2-40B4-BE49-F238E27FC236}">
                <a16:creationId xmlns:a16="http://schemas.microsoft.com/office/drawing/2014/main" id="{AA03DDBA-B1FC-7529-C0CC-C3E80AD4B0F8}"/>
              </a:ext>
            </a:extLst>
          </p:cNvPr>
          <p:cNvSpPr txBox="1"/>
          <p:nvPr/>
        </p:nvSpPr>
        <p:spPr>
          <a:xfrm>
            <a:off x="3413759" y="3618571"/>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IT Now template = primary classification</a:t>
            </a:r>
          </a:p>
        </p:txBody>
      </p:sp>
      <p:sp>
        <p:nvSpPr>
          <p:cNvPr id="158" name="Rectangle 157">
            <a:extLst>
              <a:ext uri="{FF2B5EF4-FFF2-40B4-BE49-F238E27FC236}">
                <a16:creationId xmlns:a16="http://schemas.microsoft.com/office/drawing/2014/main" id="{0AD5966D-DABD-4D99-2C22-861B743A584B}"/>
              </a:ext>
            </a:extLst>
          </p:cNvPr>
          <p:cNvSpPr/>
          <p:nvPr/>
        </p:nvSpPr>
        <p:spPr>
          <a:xfrm>
            <a:off x="5544311" y="3572851"/>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59" name="TextBox 158">
            <a:extLst>
              <a:ext uri="{FF2B5EF4-FFF2-40B4-BE49-F238E27FC236}">
                <a16:creationId xmlns:a16="http://schemas.microsoft.com/office/drawing/2014/main" id="{1FF56E15-7F61-27FE-D800-BA7CFDA0EE34}"/>
              </a:ext>
            </a:extLst>
          </p:cNvPr>
          <p:cNvSpPr txBox="1"/>
          <p:nvPr/>
        </p:nvSpPr>
        <p:spPr>
          <a:xfrm>
            <a:off x="5635751" y="3618571"/>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No scoring tool — judgment + weekly cadence</a:t>
            </a:r>
          </a:p>
        </p:txBody>
      </p:sp>
      <p:sp>
        <p:nvSpPr>
          <p:cNvPr id="160" name="Rectangle 159">
            <a:extLst>
              <a:ext uri="{FF2B5EF4-FFF2-40B4-BE49-F238E27FC236}">
                <a16:creationId xmlns:a16="http://schemas.microsoft.com/office/drawing/2014/main" id="{7BCB8361-59B5-6080-8645-D475C5140105}"/>
              </a:ext>
            </a:extLst>
          </p:cNvPr>
          <p:cNvSpPr/>
          <p:nvPr/>
        </p:nvSpPr>
        <p:spPr>
          <a:xfrm>
            <a:off x="7766303" y="3572851"/>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61" name="TextBox 160">
            <a:extLst>
              <a:ext uri="{FF2B5EF4-FFF2-40B4-BE49-F238E27FC236}">
                <a16:creationId xmlns:a16="http://schemas.microsoft.com/office/drawing/2014/main" id="{AC4780F5-1FCD-9E06-5249-089697926AE9}"/>
              </a:ext>
            </a:extLst>
          </p:cNvPr>
          <p:cNvSpPr txBox="1"/>
          <p:nvPr/>
        </p:nvSpPr>
        <p:spPr>
          <a:xfrm>
            <a:off x="7857743" y="3618571"/>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PPM Now + Confluence + Jira — most mature stack in scope</a:t>
            </a:r>
          </a:p>
        </p:txBody>
      </p:sp>
      <p:sp>
        <p:nvSpPr>
          <p:cNvPr id="162" name="Rectangle 161">
            <a:extLst>
              <a:ext uri="{FF2B5EF4-FFF2-40B4-BE49-F238E27FC236}">
                <a16:creationId xmlns:a16="http://schemas.microsoft.com/office/drawing/2014/main" id="{2C1C24BB-DDF4-3D98-68DD-B19EEC2C1BF8}"/>
              </a:ext>
            </a:extLst>
          </p:cNvPr>
          <p:cNvSpPr/>
          <p:nvPr/>
        </p:nvSpPr>
        <p:spPr>
          <a:xfrm>
            <a:off x="9988295" y="3572851"/>
            <a:ext cx="1746504"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63" name="TextBox 162">
            <a:extLst>
              <a:ext uri="{FF2B5EF4-FFF2-40B4-BE49-F238E27FC236}">
                <a16:creationId xmlns:a16="http://schemas.microsoft.com/office/drawing/2014/main" id="{26FEB02A-7D77-8C06-9DA0-F68EB9691064}"/>
              </a:ext>
            </a:extLst>
          </p:cNvPr>
          <p:cNvSpPr txBox="1"/>
          <p:nvPr/>
        </p:nvSpPr>
        <p:spPr>
          <a:xfrm>
            <a:off x="10079735" y="3618571"/>
            <a:ext cx="1599120" cy="44428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Vendor stack for build; Confluence for portfolio documentation</a:t>
            </a:r>
          </a:p>
        </p:txBody>
      </p:sp>
      <p:sp>
        <p:nvSpPr>
          <p:cNvPr id="164" name="Rectangle 163">
            <a:extLst>
              <a:ext uri="{FF2B5EF4-FFF2-40B4-BE49-F238E27FC236}">
                <a16:creationId xmlns:a16="http://schemas.microsoft.com/office/drawing/2014/main" id="{9C7C444F-5424-20BE-C8B2-BD5C943EDF60}"/>
              </a:ext>
            </a:extLst>
          </p:cNvPr>
          <p:cNvSpPr/>
          <p:nvPr/>
        </p:nvSpPr>
        <p:spPr>
          <a:xfrm>
            <a:off x="460247" y="4103203"/>
            <a:ext cx="594360" cy="49377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66" name="TextBox 165">
            <a:extLst>
              <a:ext uri="{FF2B5EF4-FFF2-40B4-BE49-F238E27FC236}">
                <a16:creationId xmlns:a16="http://schemas.microsoft.com/office/drawing/2014/main" id="{D9CB8DBB-DC16-4515-EA3F-4064F0ADCAAB}"/>
              </a:ext>
            </a:extLst>
          </p:cNvPr>
          <p:cNvSpPr txBox="1"/>
          <p:nvPr/>
        </p:nvSpPr>
        <p:spPr>
          <a:xfrm>
            <a:off x="460247" y="4252468"/>
            <a:ext cx="594360" cy="195246"/>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600" b="1" i="0" noProof="0">
                <a:solidFill>
                  <a:srgbClr val="FFFFFF"/>
                </a:solidFill>
                <a:latin typeface="Arial" panose="020B0604020202020204" pitchFamily="34" charset="0"/>
                <a:cs typeface="Arial" panose="020B0604020202020204" pitchFamily="34" charset="0"/>
              </a:rPr>
              <a:t>GOVERNANCE  &amp;  METRICS</a:t>
            </a:r>
          </a:p>
        </p:txBody>
      </p:sp>
      <p:sp>
        <p:nvSpPr>
          <p:cNvPr id="167" name="Rectangle 166">
            <a:extLst>
              <a:ext uri="{FF2B5EF4-FFF2-40B4-BE49-F238E27FC236}">
                <a16:creationId xmlns:a16="http://schemas.microsoft.com/office/drawing/2014/main" id="{D4B92487-ACCE-4F49-B06C-D1D70FB70E39}"/>
              </a:ext>
            </a:extLst>
          </p:cNvPr>
          <p:cNvSpPr/>
          <p:nvPr/>
        </p:nvSpPr>
        <p:spPr>
          <a:xfrm>
            <a:off x="1100327" y="4103203"/>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68" name="TextBox 167">
            <a:extLst>
              <a:ext uri="{FF2B5EF4-FFF2-40B4-BE49-F238E27FC236}">
                <a16:creationId xmlns:a16="http://schemas.microsoft.com/office/drawing/2014/main" id="{C1CF1764-6A7B-A742-0764-BFD597728C77}"/>
              </a:ext>
            </a:extLst>
          </p:cNvPr>
          <p:cNvSpPr txBox="1"/>
          <p:nvPr/>
        </p:nvSpPr>
        <p:spPr>
          <a:xfrm>
            <a:off x="1191767" y="4148923"/>
            <a:ext cx="1984248" cy="445186"/>
          </a:xfrm>
          <a:prstGeom prst="rect">
            <a:avLst/>
          </a:prstGeom>
          <a:noFill/>
        </p:spPr>
        <p:txBody>
          <a:bodyPr wrap="square" lIns="0" tIns="0" rIns="0" bIns="0" anchor="t">
            <a:spAutoFit/>
          </a:bodyPr>
          <a:lstStyle/>
          <a:p>
            <a:pPr>
              <a:lnSpc>
                <a:spcPct val="110000"/>
              </a:lnSpc>
            </a:pPr>
            <a:r>
              <a:rPr lang="en-US" sz="900" noProof="0">
                <a:solidFill>
                  <a:srgbClr val="2C3E50"/>
                </a:solidFill>
                <a:latin typeface="Arial" panose="020B0604020202020204" pitchFamily="34" charset="0"/>
                <a:cs typeface="Arial" panose="020B0604020202020204" pitchFamily="34" charset="0"/>
              </a:rPr>
              <a:t>Channel-based taxonomy formalizes intake— but SLA, aging &amp; volume tracking exist only for IT Now</a:t>
            </a:r>
          </a:p>
        </p:txBody>
      </p:sp>
      <p:sp>
        <p:nvSpPr>
          <p:cNvPr id="169" name="Rectangle 168">
            <a:extLst>
              <a:ext uri="{FF2B5EF4-FFF2-40B4-BE49-F238E27FC236}">
                <a16:creationId xmlns:a16="http://schemas.microsoft.com/office/drawing/2014/main" id="{CC901BE6-8DB7-8E0A-1B83-0CCCB17DA1E3}"/>
              </a:ext>
            </a:extLst>
          </p:cNvPr>
          <p:cNvSpPr/>
          <p:nvPr/>
        </p:nvSpPr>
        <p:spPr>
          <a:xfrm>
            <a:off x="3322319" y="4103203"/>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70" name="TextBox 169">
            <a:extLst>
              <a:ext uri="{FF2B5EF4-FFF2-40B4-BE49-F238E27FC236}">
                <a16:creationId xmlns:a16="http://schemas.microsoft.com/office/drawing/2014/main" id="{5C3491FB-04DA-71A4-FB7A-9729400E105E}"/>
              </a:ext>
            </a:extLst>
          </p:cNvPr>
          <p:cNvSpPr txBox="1"/>
          <p:nvPr/>
        </p:nvSpPr>
        <p:spPr>
          <a:xfrm>
            <a:off x="3413759" y="4148923"/>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Template-based → consistent, but no cross-team view</a:t>
            </a:r>
          </a:p>
        </p:txBody>
      </p:sp>
      <p:sp>
        <p:nvSpPr>
          <p:cNvPr id="171" name="Rectangle 170">
            <a:extLst>
              <a:ext uri="{FF2B5EF4-FFF2-40B4-BE49-F238E27FC236}">
                <a16:creationId xmlns:a16="http://schemas.microsoft.com/office/drawing/2014/main" id="{070D81F1-12A2-3DC2-7D19-2EDFDBBD3AFA}"/>
              </a:ext>
            </a:extLst>
          </p:cNvPr>
          <p:cNvSpPr/>
          <p:nvPr/>
        </p:nvSpPr>
        <p:spPr>
          <a:xfrm>
            <a:off x="5544311" y="4103203"/>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72" name="TextBox 171">
            <a:extLst>
              <a:ext uri="{FF2B5EF4-FFF2-40B4-BE49-F238E27FC236}">
                <a16:creationId xmlns:a16="http://schemas.microsoft.com/office/drawing/2014/main" id="{C226FEC6-6D40-07F7-9079-009D59D19EDA}"/>
              </a:ext>
            </a:extLst>
          </p:cNvPr>
          <p:cNvSpPr txBox="1"/>
          <p:nvPr/>
        </p:nvSpPr>
        <p:spPr>
          <a:xfrm>
            <a:off x="5635751" y="4148923"/>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"Intrinsic common sense" = tribal knowledge risk</a:t>
            </a:r>
          </a:p>
        </p:txBody>
      </p:sp>
      <p:sp>
        <p:nvSpPr>
          <p:cNvPr id="173" name="Rectangle 172">
            <a:extLst>
              <a:ext uri="{FF2B5EF4-FFF2-40B4-BE49-F238E27FC236}">
                <a16:creationId xmlns:a16="http://schemas.microsoft.com/office/drawing/2014/main" id="{BA995B42-6C21-6962-3B54-FDE5F27693D5}"/>
              </a:ext>
            </a:extLst>
          </p:cNvPr>
          <p:cNvSpPr/>
          <p:nvPr/>
        </p:nvSpPr>
        <p:spPr>
          <a:xfrm>
            <a:off x="7766303" y="4103203"/>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74" name="TextBox 173">
            <a:extLst>
              <a:ext uri="{FF2B5EF4-FFF2-40B4-BE49-F238E27FC236}">
                <a16:creationId xmlns:a16="http://schemas.microsoft.com/office/drawing/2014/main" id="{65B2508B-B5BB-51A6-DE1D-9423767EDD39}"/>
              </a:ext>
            </a:extLst>
          </p:cNvPr>
          <p:cNvSpPr txBox="1"/>
          <p:nvPr/>
        </p:nvSpPr>
        <p:spPr>
          <a:xfrm>
            <a:off x="7857743" y="4148923"/>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Weekly meeting governs; PPM Now = only portfolio instance in CS branch</a:t>
            </a:r>
          </a:p>
        </p:txBody>
      </p:sp>
      <p:sp>
        <p:nvSpPr>
          <p:cNvPr id="175" name="Rectangle 174">
            <a:extLst>
              <a:ext uri="{FF2B5EF4-FFF2-40B4-BE49-F238E27FC236}">
                <a16:creationId xmlns:a16="http://schemas.microsoft.com/office/drawing/2014/main" id="{971F94BB-A19D-24C2-937B-9E8808FFD92B}"/>
              </a:ext>
            </a:extLst>
          </p:cNvPr>
          <p:cNvSpPr/>
          <p:nvPr/>
        </p:nvSpPr>
        <p:spPr>
          <a:xfrm>
            <a:off x="9988295" y="4103203"/>
            <a:ext cx="1746504"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76" name="TextBox 175">
            <a:extLst>
              <a:ext uri="{FF2B5EF4-FFF2-40B4-BE49-F238E27FC236}">
                <a16:creationId xmlns:a16="http://schemas.microsoft.com/office/drawing/2014/main" id="{46F1D2DF-810F-A60B-9583-7046C9D46FED}"/>
              </a:ext>
            </a:extLst>
          </p:cNvPr>
          <p:cNvSpPr txBox="1"/>
          <p:nvPr/>
        </p:nvSpPr>
        <p:spPr>
          <a:xfrm>
            <a:off x="10079735" y="4148923"/>
            <a:ext cx="1599120" cy="44428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If vendor exits, execution knowledge is lost — 100% dependency</a:t>
            </a:r>
          </a:p>
        </p:txBody>
      </p:sp>
      <p:sp>
        <p:nvSpPr>
          <p:cNvPr id="177" name="Rectangle 176">
            <a:extLst>
              <a:ext uri="{FF2B5EF4-FFF2-40B4-BE49-F238E27FC236}">
                <a16:creationId xmlns:a16="http://schemas.microsoft.com/office/drawing/2014/main" id="{FAF4736A-FC8C-936E-D4D4-CDBCDF489155}"/>
              </a:ext>
            </a:extLst>
          </p:cNvPr>
          <p:cNvSpPr/>
          <p:nvPr/>
        </p:nvSpPr>
        <p:spPr>
          <a:xfrm>
            <a:off x="460247" y="4706707"/>
            <a:ext cx="11274552" cy="129844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78" name="Rectangle 177">
            <a:extLst>
              <a:ext uri="{FF2B5EF4-FFF2-40B4-BE49-F238E27FC236}">
                <a16:creationId xmlns:a16="http://schemas.microsoft.com/office/drawing/2014/main" id="{1AA4210C-D35C-38B7-5DE4-19C389D5D38F}"/>
              </a:ext>
            </a:extLst>
          </p:cNvPr>
          <p:cNvSpPr/>
          <p:nvPr/>
        </p:nvSpPr>
        <p:spPr>
          <a:xfrm>
            <a:off x="460247" y="4706707"/>
            <a:ext cx="73152" cy="12984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79" name="TextBox 178">
            <a:extLst>
              <a:ext uri="{FF2B5EF4-FFF2-40B4-BE49-F238E27FC236}">
                <a16:creationId xmlns:a16="http://schemas.microsoft.com/office/drawing/2014/main" id="{5AF7B111-BEDA-3EB2-F111-3E289307BA9F}"/>
              </a:ext>
            </a:extLst>
          </p:cNvPr>
          <p:cNvSpPr txBox="1"/>
          <p:nvPr/>
        </p:nvSpPr>
        <p:spPr>
          <a:xfrm>
            <a:off x="643127" y="4752427"/>
            <a:ext cx="5486400"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1" i="0" noProof="0">
                <a:solidFill>
                  <a:schemeClr val="accent1"/>
                </a:solidFill>
                <a:latin typeface="Arial" panose="020B0604020202020204" pitchFamily="34" charset="0"/>
                <a:cs typeface="Arial" panose="020B0604020202020204" pitchFamily="34" charset="0"/>
              </a:rPr>
              <a:t>KEY PATTERNS  —  WHAT THE FINDINGS REVEAL</a:t>
            </a:r>
          </a:p>
        </p:txBody>
      </p:sp>
      <p:sp>
        <p:nvSpPr>
          <p:cNvPr id="180" name="TextBox 179">
            <a:extLst>
              <a:ext uri="{FF2B5EF4-FFF2-40B4-BE49-F238E27FC236}">
                <a16:creationId xmlns:a16="http://schemas.microsoft.com/office/drawing/2014/main" id="{4FC207D9-7D5D-3F59-7D27-91D7DAC8470A}"/>
              </a:ext>
            </a:extLst>
          </p:cNvPr>
          <p:cNvSpPr txBox="1"/>
          <p:nvPr/>
        </p:nvSpPr>
        <p:spPr>
          <a:xfrm>
            <a:off x="6403847" y="4752427"/>
            <a:ext cx="5166360"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1" i="0" noProof="0">
                <a:solidFill>
                  <a:srgbClr val="00A443"/>
                </a:solidFill>
                <a:latin typeface="Arial" panose="020B0604020202020204" pitchFamily="34" charset="0"/>
                <a:cs typeface="Arial" panose="020B0604020202020204" pitchFamily="34" charset="0"/>
              </a:rPr>
              <a:t>SUPPORTING QUOTE</a:t>
            </a:r>
          </a:p>
        </p:txBody>
      </p:sp>
      <p:sp>
        <p:nvSpPr>
          <p:cNvPr id="181" name="TextBox 180">
            <a:extLst>
              <a:ext uri="{FF2B5EF4-FFF2-40B4-BE49-F238E27FC236}">
                <a16:creationId xmlns:a16="http://schemas.microsoft.com/office/drawing/2014/main" id="{04F086CC-5F7C-E04D-8678-CE3C2E393BA8}"/>
              </a:ext>
            </a:extLst>
          </p:cNvPr>
          <p:cNvSpPr txBox="1"/>
          <p:nvPr/>
        </p:nvSpPr>
        <p:spPr>
          <a:xfrm>
            <a:off x="6403847" y="4999315"/>
            <a:ext cx="5166360"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1" noProof="0">
                <a:solidFill>
                  <a:srgbClr val="2C3E50"/>
                </a:solidFill>
                <a:latin typeface="Arial" panose="020B0604020202020204" pitchFamily="34" charset="0"/>
                <a:cs typeface="Arial" panose="020B0604020202020204" pitchFamily="34" charset="0"/>
              </a:rPr>
              <a:t>"All portfolio in vendor. Vendors are the consultants for the work — getting requirements on tech side, steps to follow and do the code also — all custom applications" — Smart Metering Champion (PM)</a:t>
            </a:r>
          </a:p>
        </p:txBody>
      </p:sp>
      <p:sp>
        <p:nvSpPr>
          <p:cNvPr id="182" name="TextBox 181">
            <a:extLst>
              <a:ext uri="{FF2B5EF4-FFF2-40B4-BE49-F238E27FC236}">
                <a16:creationId xmlns:a16="http://schemas.microsoft.com/office/drawing/2014/main" id="{6CCF391D-9BF2-0768-DF54-4BAB3271ADC8}"/>
              </a:ext>
            </a:extLst>
          </p:cNvPr>
          <p:cNvSpPr txBox="1"/>
          <p:nvPr/>
        </p:nvSpPr>
        <p:spPr>
          <a:xfrm>
            <a:off x="643127" y="4999315"/>
            <a:ext cx="5486400" cy="9326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  Only area using PPM Now + Confluence — the stack is right, but it exists as one-team exception rather than branch standard</a:t>
            </a:r>
          </a:p>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  100% vendor delivery (requirements + code) means Avangrid owns no execution knowledge — if the vendor exits, everything stops</a:t>
            </a:r>
          </a:p>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  "Intrinsic common sense" for prioritization signals tribal knowledge — works at current scale, fails on leadership transition</a:t>
            </a:r>
          </a:p>
        </p:txBody>
      </p:sp>
      <p:sp>
        <p:nvSpPr>
          <p:cNvPr id="183" name="Rectangle 182">
            <a:extLst>
              <a:ext uri="{FF2B5EF4-FFF2-40B4-BE49-F238E27FC236}">
                <a16:creationId xmlns:a16="http://schemas.microsoft.com/office/drawing/2014/main" id="{FE3F83CB-D9D6-3903-57E6-863D4A405AE8}"/>
              </a:ext>
            </a:extLst>
          </p:cNvPr>
          <p:cNvSpPr/>
          <p:nvPr/>
        </p:nvSpPr>
        <p:spPr>
          <a:xfrm>
            <a:off x="460247" y="6050875"/>
            <a:ext cx="11274552" cy="5029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84" name="TextBox 183">
            <a:extLst>
              <a:ext uri="{FF2B5EF4-FFF2-40B4-BE49-F238E27FC236}">
                <a16:creationId xmlns:a16="http://schemas.microsoft.com/office/drawing/2014/main" id="{84ABCCA8-52B5-60E8-191C-1C7132C15928}"/>
              </a:ext>
            </a:extLst>
          </p:cNvPr>
          <p:cNvSpPr txBox="1"/>
          <p:nvPr/>
        </p:nvSpPr>
        <p:spPr>
          <a:xfrm>
            <a:off x="688847" y="6216446"/>
            <a:ext cx="10817352" cy="171778"/>
          </a:xfrm>
          <a:prstGeom prst="rect">
            <a:avLst/>
          </a:prstGeom>
          <a:noFill/>
        </p:spPr>
        <p:txBody>
          <a:bodyPr wrap="square" lIns="0" tIns="0" rIns="0" bIns="0" anchor="ctr">
            <a:spAutoFit/>
          </a:bodyPr>
          <a:lstStyle/>
          <a:p>
            <a:pPr algn="l">
              <a:lnSpc>
                <a:spcPct val="110000"/>
              </a:lnSpc>
              <a:spcBef>
                <a:spcPts val="0"/>
              </a:spcBef>
              <a:spcAft>
                <a:spcPts val="0"/>
              </a:spcAft>
            </a:pPr>
            <a:r>
              <a:rPr lang="en-US" sz="1100" b="0" i="0" noProof="0">
                <a:solidFill>
                  <a:srgbClr val="FFFFFF"/>
                </a:solidFill>
                <a:latin typeface="Arial" panose="020B0604020202020204" pitchFamily="34" charset="0"/>
                <a:cs typeface="Arial" panose="020B0604020202020204" pitchFamily="34" charset="0"/>
              </a:rPr>
              <a:t>Smart Metering is the most tool-mature area — but full vendor dependency and intuitive prioritization create knowledge and governance risk</a:t>
            </a:r>
          </a:p>
        </p:txBody>
      </p:sp>
      <p:sp>
        <p:nvSpPr>
          <p:cNvPr id="2" name="Rounded Rectangle 26">
            <a:extLst>
              <a:ext uri="{FF2B5EF4-FFF2-40B4-BE49-F238E27FC236}">
                <a16:creationId xmlns:a16="http://schemas.microsoft.com/office/drawing/2014/main" id="{286DEBD7-631A-7BC0-19CD-6B4623AFF310}"/>
              </a:ext>
            </a:extLst>
          </p:cNvPr>
          <p:cNvSpPr/>
          <p:nvPr/>
        </p:nvSpPr>
        <p:spPr>
          <a:xfrm>
            <a:off x="3819398" y="2268902"/>
            <a:ext cx="1097280" cy="182880"/>
          </a:xfrm>
          <a:prstGeom prst="round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7" name="TextBox 11">
            <a:extLst>
              <a:ext uri="{FF2B5EF4-FFF2-40B4-BE49-F238E27FC236}">
                <a16:creationId xmlns:a16="http://schemas.microsoft.com/office/drawing/2014/main" id="{4A7FFB07-F2EC-56C5-7DBD-31A8C51B89B1}"/>
              </a:ext>
            </a:extLst>
          </p:cNvPr>
          <p:cNvSpPr txBox="1"/>
          <p:nvPr/>
        </p:nvSpPr>
        <p:spPr>
          <a:xfrm>
            <a:off x="3819398" y="2295599"/>
            <a:ext cx="1097280" cy="140488"/>
          </a:xfrm>
          <a:prstGeom prst="rect">
            <a:avLst/>
          </a:prstGeom>
          <a:noFill/>
          <a:ln>
            <a:noFill/>
          </a:ln>
        </p:spPr>
        <p:txBody>
          <a:bodyPr wrap="square" lIns="0" tIns="0" rIns="0" bIns="0" anchor="ctr">
            <a:spAutoFit/>
          </a:bodyPr>
          <a:lstStyle/>
          <a:p>
            <a:pPr algn="ctr">
              <a:lnSpc>
                <a:spcPct val="110000"/>
              </a:lnSpc>
              <a:spcBef>
                <a:spcPts val="0"/>
              </a:spcBef>
              <a:spcAft>
                <a:spcPts val="0"/>
              </a:spcAft>
            </a:pPr>
            <a:r>
              <a:rPr lang="en-US" sz="900" b="1" i="0" noProof="0">
                <a:solidFill>
                  <a:schemeClr val="bg1"/>
                </a:solidFill>
                <a:latin typeface="Arial" panose="020B0604020202020204" pitchFamily="34" charset="0"/>
                <a:cs typeface="Arial" panose="020B0604020202020204" pitchFamily="34" charset="0"/>
              </a:rPr>
              <a:t>PARTIAL</a:t>
            </a:r>
          </a:p>
        </p:txBody>
      </p:sp>
      <p:sp>
        <p:nvSpPr>
          <p:cNvPr id="11" name="Rounded Rectangle 26">
            <a:extLst>
              <a:ext uri="{FF2B5EF4-FFF2-40B4-BE49-F238E27FC236}">
                <a16:creationId xmlns:a16="http://schemas.microsoft.com/office/drawing/2014/main" id="{A4384069-D014-D344-5816-76A9DD0A1DF1}"/>
              </a:ext>
            </a:extLst>
          </p:cNvPr>
          <p:cNvSpPr/>
          <p:nvPr/>
        </p:nvSpPr>
        <p:spPr>
          <a:xfrm>
            <a:off x="8322039" y="2267607"/>
            <a:ext cx="1097280" cy="182880"/>
          </a:xfrm>
          <a:prstGeom prst="round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5" name="TextBox 54">
            <a:extLst>
              <a:ext uri="{FF2B5EF4-FFF2-40B4-BE49-F238E27FC236}">
                <a16:creationId xmlns:a16="http://schemas.microsoft.com/office/drawing/2014/main" id="{D4A673E7-610A-64AB-CED8-E0F5867D2A05}"/>
              </a:ext>
            </a:extLst>
          </p:cNvPr>
          <p:cNvSpPr txBox="1"/>
          <p:nvPr/>
        </p:nvSpPr>
        <p:spPr>
          <a:xfrm>
            <a:off x="8320770" y="2286684"/>
            <a:ext cx="1097280" cy="140488"/>
          </a:xfrm>
          <a:prstGeom prst="rect">
            <a:avLst/>
          </a:prstGeom>
          <a:noFill/>
          <a:ln>
            <a:noFill/>
          </a:ln>
        </p:spPr>
        <p:txBody>
          <a:bodyPr wrap="square" lIns="0" tIns="0" rIns="0" bIns="0" anchor="ctr">
            <a:spAutoFit/>
          </a:bodyPr>
          <a:lstStyle/>
          <a:p>
            <a:pPr algn="ctr">
              <a:lnSpc>
                <a:spcPct val="110000"/>
              </a:lnSpc>
              <a:spcBef>
                <a:spcPts val="0"/>
              </a:spcBef>
              <a:spcAft>
                <a:spcPts val="0"/>
              </a:spcAft>
            </a:pPr>
            <a:r>
              <a:rPr lang="en-US" sz="900" b="1" i="0" noProof="0">
                <a:solidFill>
                  <a:schemeClr val="bg1"/>
                </a:solidFill>
                <a:latin typeface="Arial" panose="020B0604020202020204" pitchFamily="34" charset="0"/>
                <a:cs typeface="Arial" panose="020B0604020202020204" pitchFamily="34" charset="0"/>
              </a:rPr>
              <a:t>PARTIAL</a:t>
            </a:r>
          </a:p>
        </p:txBody>
      </p:sp>
      <p:sp>
        <p:nvSpPr>
          <p:cNvPr id="17" name="Rounded Rectangle 26">
            <a:extLst>
              <a:ext uri="{FF2B5EF4-FFF2-40B4-BE49-F238E27FC236}">
                <a16:creationId xmlns:a16="http://schemas.microsoft.com/office/drawing/2014/main" id="{C2A9BEF5-CB66-C566-FE6A-EF027696CBEA}"/>
              </a:ext>
            </a:extLst>
          </p:cNvPr>
          <p:cNvSpPr/>
          <p:nvPr/>
        </p:nvSpPr>
        <p:spPr>
          <a:xfrm>
            <a:off x="1481566" y="2257606"/>
            <a:ext cx="1097280" cy="182880"/>
          </a:xfrm>
          <a:prstGeom prst="round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8" name="TextBox 62">
            <a:extLst>
              <a:ext uri="{FF2B5EF4-FFF2-40B4-BE49-F238E27FC236}">
                <a16:creationId xmlns:a16="http://schemas.microsoft.com/office/drawing/2014/main" id="{1BD9BDA1-ABF8-6F93-B6E2-3E4CDA058457}"/>
              </a:ext>
            </a:extLst>
          </p:cNvPr>
          <p:cNvSpPr txBox="1"/>
          <p:nvPr/>
        </p:nvSpPr>
        <p:spPr>
          <a:xfrm>
            <a:off x="1481566" y="2278802"/>
            <a:ext cx="1097280" cy="140488"/>
          </a:xfrm>
          <a:prstGeom prst="rect">
            <a:avLst/>
          </a:prstGeom>
          <a:solidFill>
            <a:schemeClr val="accent2"/>
          </a:solidFill>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Arial" panose="020B0604020202020204" pitchFamily="34" charset="0"/>
                <a:cs typeface="Arial" panose="020B0604020202020204" pitchFamily="34" charset="0"/>
              </a:rPr>
              <a:t>GAP</a:t>
            </a:r>
          </a:p>
        </p:txBody>
      </p:sp>
      <p:sp>
        <p:nvSpPr>
          <p:cNvPr id="21" name="Rounded Rectangle 14">
            <a:extLst>
              <a:ext uri="{FF2B5EF4-FFF2-40B4-BE49-F238E27FC236}">
                <a16:creationId xmlns:a16="http://schemas.microsoft.com/office/drawing/2014/main" id="{3A5CEF14-3F62-E0BC-B4E4-543BB1DE13AF}"/>
              </a:ext>
            </a:extLst>
          </p:cNvPr>
          <p:cNvSpPr/>
          <p:nvPr/>
        </p:nvSpPr>
        <p:spPr>
          <a:xfrm>
            <a:off x="10356240" y="2257976"/>
            <a:ext cx="1097280" cy="182880"/>
          </a:xfr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22" name="Rounded Rectangle 26">
            <a:extLst>
              <a:ext uri="{FF2B5EF4-FFF2-40B4-BE49-F238E27FC236}">
                <a16:creationId xmlns:a16="http://schemas.microsoft.com/office/drawing/2014/main" id="{BD0B2A16-8A8C-059F-6732-A66F36354EB4}"/>
              </a:ext>
            </a:extLst>
          </p:cNvPr>
          <p:cNvSpPr/>
          <p:nvPr/>
        </p:nvSpPr>
        <p:spPr>
          <a:xfrm>
            <a:off x="10395863" y="2263919"/>
            <a:ext cx="1097280" cy="182880"/>
          </a:xfrm>
          <a:prstGeom prst="round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3" name="TextBox 133">
            <a:extLst>
              <a:ext uri="{FF2B5EF4-FFF2-40B4-BE49-F238E27FC236}">
                <a16:creationId xmlns:a16="http://schemas.microsoft.com/office/drawing/2014/main" id="{D5FF9F2E-95E8-078C-439B-92295E485781}"/>
              </a:ext>
            </a:extLst>
          </p:cNvPr>
          <p:cNvSpPr txBox="1"/>
          <p:nvPr/>
        </p:nvSpPr>
        <p:spPr>
          <a:xfrm>
            <a:off x="10408919" y="2279653"/>
            <a:ext cx="1097280" cy="139525"/>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noProof="0">
                <a:solidFill>
                  <a:srgbClr val="FFFFFF"/>
                </a:solidFill>
                <a:latin typeface="Arial" panose="020B0604020202020204" pitchFamily="34" charset="0"/>
                <a:cs typeface="Arial" panose="020B0604020202020204" pitchFamily="34" charset="0"/>
              </a:rPr>
              <a:t>CRITICAL</a:t>
            </a:r>
          </a:p>
        </p:txBody>
      </p:sp>
      <p:sp>
        <p:nvSpPr>
          <p:cNvPr id="26" name="Rectangle: Rounded Corners 1">
            <a:extLst>
              <a:ext uri="{FF2B5EF4-FFF2-40B4-BE49-F238E27FC236}">
                <a16:creationId xmlns:a16="http://schemas.microsoft.com/office/drawing/2014/main" id="{95B1AF0A-99CA-EBC6-EF5D-3859E5A6E5F2}"/>
              </a:ext>
            </a:extLst>
          </p:cNvPr>
          <p:cNvSpPr/>
          <p:nvPr/>
        </p:nvSpPr>
        <p:spPr>
          <a:xfrm>
            <a:off x="7114339" y="186528"/>
            <a:ext cx="1668780" cy="343539"/>
          </a:xfrm>
          <a:prstGeom prst="roundRect">
            <a:avLst/>
          </a:prstGeom>
          <a:solidFill>
            <a:schemeClr val="accent4">
              <a:lumMod val="75000"/>
            </a:schemeClr>
          </a:solidFill>
          <a:ln>
            <a:solidFill>
              <a:schemeClr val="accent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a:solidFill>
                  <a:schemeClr val="bg1">
                    <a:lumMod val="85000"/>
                  </a:schemeClr>
                </a:solidFill>
              </a:rPr>
              <a:t>IT Business Apps</a:t>
            </a:r>
          </a:p>
        </p:txBody>
      </p:sp>
      <p:sp>
        <p:nvSpPr>
          <p:cNvPr id="28" name="Rectangle: Rounded Corners 19">
            <a:extLst>
              <a:ext uri="{FF2B5EF4-FFF2-40B4-BE49-F238E27FC236}">
                <a16:creationId xmlns:a16="http://schemas.microsoft.com/office/drawing/2014/main" id="{3EFD12F3-76D7-0281-94C1-7696FCC02330}"/>
              </a:ext>
            </a:extLst>
          </p:cNvPr>
          <p:cNvSpPr/>
          <p:nvPr/>
        </p:nvSpPr>
        <p:spPr>
          <a:xfrm>
            <a:off x="8846491" y="186528"/>
            <a:ext cx="1668780" cy="343539"/>
          </a:xfrm>
          <a:prstGeom prst="roundRect">
            <a:avLst/>
          </a:prstGeom>
          <a:solidFill>
            <a:schemeClr val="accent3"/>
          </a:solid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a:t>Customer Services Apps</a:t>
            </a:r>
          </a:p>
        </p:txBody>
      </p:sp>
    </p:spTree>
    <p:extLst>
      <p:ext uri="{BB962C8B-B14F-4D97-AF65-F5344CB8AC3E}">
        <p14:creationId xmlns:p14="http://schemas.microsoft.com/office/powerpoint/2010/main" val="3809419267"/>
      </p:ext>
    </p:extLst>
  </p:cSld>
  <p:clrMapOvr>
    <a:masterClrMapping/>
  </p:clrMapOvr>
  <p:extLst>
    <p:ext uri="{6950BFC3-D8DA-4A85-94F7-54DA5524770B}">
      <p188:commentRel xmlns:p188="http://schemas.microsoft.com/office/powerpoint/2018/8/main" r:id="rId3"/>
    </p:ext>
  </p:extLs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1476C6-9B34-941E-C1E7-6CEC4E53AE90}"/>
            </a:ext>
          </a:extLst>
        </p:cNvPr>
        <p:cNvGrpSpPr/>
        <p:nvPr/>
      </p:nvGrpSpPr>
      <p:grpSpPr>
        <a:xfrm>
          <a:off x="0" y="0"/>
          <a:ext cx="0" cy="0"/>
          <a:chOff x="0" y="0"/>
          <a:chExt cx="0" cy="0"/>
        </a:xfrm>
      </p:grpSpPr>
      <p:sp>
        <p:nvSpPr>
          <p:cNvPr id="9" name="Rounded Rectangle 26">
            <a:extLst>
              <a:ext uri="{FF2B5EF4-FFF2-40B4-BE49-F238E27FC236}">
                <a16:creationId xmlns:a16="http://schemas.microsoft.com/office/drawing/2014/main" id="{E5D27851-C07F-2BC5-2CD7-CBFCDF20185C}"/>
              </a:ext>
            </a:extLst>
          </p:cNvPr>
          <p:cNvSpPr/>
          <p:nvPr/>
        </p:nvSpPr>
        <p:spPr>
          <a:xfrm>
            <a:off x="3902203" y="2431923"/>
            <a:ext cx="1097280" cy="182880"/>
          </a:xfrm>
          <a:prstGeom prst="round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1" name="Rounded Rectangle 26">
            <a:extLst>
              <a:ext uri="{FF2B5EF4-FFF2-40B4-BE49-F238E27FC236}">
                <a16:creationId xmlns:a16="http://schemas.microsoft.com/office/drawing/2014/main" id="{7A677B8B-9900-BA89-A43A-ADEEE0D75480}"/>
              </a:ext>
            </a:extLst>
          </p:cNvPr>
          <p:cNvSpPr/>
          <p:nvPr/>
        </p:nvSpPr>
        <p:spPr>
          <a:xfrm>
            <a:off x="10316469" y="2431923"/>
            <a:ext cx="1097280" cy="182880"/>
          </a:xfrm>
          <a:prstGeom prst="round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29" name="Rectangle 228">
            <a:extLst>
              <a:ext uri="{FF2B5EF4-FFF2-40B4-BE49-F238E27FC236}">
                <a16:creationId xmlns:a16="http://schemas.microsoft.com/office/drawing/2014/main" id="{8C087088-33F9-1676-3593-ED24BCB67EC3}"/>
              </a:ext>
            </a:extLst>
          </p:cNvPr>
          <p:cNvSpPr/>
          <p:nvPr/>
        </p:nvSpPr>
        <p:spPr>
          <a:xfrm>
            <a:off x="180918" y="6327040"/>
            <a:ext cx="11906307" cy="50292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38" name="TextBox 2">
            <a:extLst>
              <a:ext uri="{FF2B5EF4-FFF2-40B4-BE49-F238E27FC236}">
                <a16:creationId xmlns:a16="http://schemas.microsoft.com/office/drawing/2014/main" id="{FD7610C7-1142-7304-A74C-AB96B10D2BC5}"/>
              </a:ext>
            </a:extLst>
          </p:cNvPr>
          <p:cNvSpPr txBox="1"/>
          <p:nvPr/>
        </p:nvSpPr>
        <p:spPr>
          <a:xfrm>
            <a:off x="457201" y="964799"/>
            <a:ext cx="11463124" cy="523220"/>
          </a:xfrm>
          <a:prstGeom prst="rect">
            <a:avLst/>
          </a:prstGeom>
          <a:noFill/>
        </p:spPr>
        <p:txBody>
          <a:bodyPr wrap="square" lIns="0" tIns="0" rIns="0" bIns="0" rtlCol="0" anchor="t">
            <a:noAutofit/>
          </a:bodyPr>
          <a:lstStyle>
            <a:defPPr>
              <a:defRPr lang="en-US"/>
            </a:defPPr>
            <a:lvl1pPr algn="just">
              <a:defRPr sz="1400" b="1">
                <a:solidFill>
                  <a:schemeClr val="accent4">
                    <a:lumMod val="75000"/>
                  </a:schemeClr>
                </a:solidFill>
                <a:latin typeface="Arial" panose="020B0604020202020204" pitchFamily="34" charset="0"/>
                <a:cs typeface="Arial" panose="020B0604020202020204" pitchFamily="34" charset="0"/>
              </a:defRPr>
            </a:lvl1pPr>
            <a:lvl2pPr marL="228586" algn="l" rtl="0" eaLnBrk="0" fontAlgn="base" hangingPunct="0">
              <a:spcBef>
                <a:spcPct val="0"/>
              </a:spcBef>
              <a:spcAft>
                <a:spcPct val="0"/>
              </a:spcAft>
              <a:defRPr kern="1200">
                <a:solidFill>
                  <a:schemeClr val="tx1"/>
                </a:solidFill>
                <a:latin typeface="Arial" pitchFamily="2" charset="77"/>
                <a:ea typeface="+mn-ea"/>
                <a:cs typeface="+mn-cs"/>
              </a:defRPr>
            </a:lvl2pPr>
            <a:lvl3pPr marL="457172" algn="l" rtl="0" eaLnBrk="0" fontAlgn="base" hangingPunct="0">
              <a:spcBef>
                <a:spcPct val="0"/>
              </a:spcBef>
              <a:spcAft>
                <a:spcPct val="0"/>
              </a:spcAft>
              <a:defRPr kern="1200">
                <a:solidFill>
                  <a:schemeClr val="tx1"/>
                </a:solidFill>
                <a:latin typeface="Arial" pitchFamily="2" charset="77"/>
                <a:ea typeface="+mn-ea"/>
                <a:cs typeface="+mn-cs"/>
              </a:defRPr>
            </a:lvl3pPr>
            <a:lvl4pPr marL="685757" algn="l" rtl="0" eaLnBrk="0" fontAlgn="base" hangingPunct="0">
              <a:spcBef>
                <a:spcPct val="0"/>
              </a:spcBef>
              <a:spcAft>
                <a:spcPct val="0"/>
              </a:spcAft>
              <a:defRPr kern="1200">
                <a:solidFill>
                  <a:schemeClr val="tx1"/>
                </a:solidFill>
                <a:latin typeface="Arial" pitchFamily="2" charset="77"/>
                <a:ea typeface="+mn-ea"/>
                <a:cs typeface="+mn-cs"/>
              </a:defRPr>
            </a:lvl4pPr>
            <a:lvl5pPr marL="914343" algn="l" rtl="0" eaLnBrk="0" fontAlgn="base" hangingPunct="0">
              <a:spcBef>
                <a:spcPct val="0"/>
              </a:spcBef>
              <a:spcAft>
                <a:spcPct val="0"/>
              </a:spcAft>
              <a:defRPr kern="1200">
                <a:solidFill>
                  <a:schemeClr val="tx1"/>
                </a:solidFill>
                <a:latin typeface="Arial" pitchFamily="2" charset="77"/>
                <a:ea typeface="+mn-ea"/>
                <a:cs typeface="+mn-cs"/>
              </a:defRPr>
            </a:lvl5pPr>
            <a:lvl6pPr marL="1142929" algn="l" defTabSz="457172" rtl="0" eaLnBrk="1" latinLnBrk="0" hangingPunct="1">
              <a:defRPr kern="1200">
                <a:solidFill>
                  <a:schemeClr val="tx1"/>
                </a:solidFill>
                <a:latin typeface="Arial" pitchFamily="2" charset="77"/>
                <a:ea typeface="+mn-ea"/>
                <a:cs typeface="+mn-cs"/>
              </a:defRPr>
            </a:lvl6pPr>
            <a:lvl7pPr marL="1371515" algn="l" defTabSz="457172" rtl="0" eaLnBrk="1" latinLnBrk="0" hangingPunct="1">
              <a:defRPr kern="1200">
                <a:solidFill>
                  <a:schemeClr val="tx1"/>
                </a:solidFill>
                <a:latin typeface="Arial" pitchFamily="2" charset="77"/>
                <a:ea typeface="+mn-ea"/>
                <a:cs typeface="+mn-cs"/>
              </a:defRPr>
            </a:lvl7pPr>
            <a:lvl8pPr marL="1600100" algn="l" defTabSz="457172" rtl="0" eaLnBrk="1" latinLnBrk="0" hangingPunct="1">
              <a:defRPr kern="1200">
                <a:solidFill>
                  <a:schemeClr val="tx1"/>
                </a:solidFill>
                <a:latin typeface="Arial" pitchFamily="2" charset="77"/>
                <a:ea typeface="+mn-ea"/>
                <a:cs typeface="+mn-cs"/>
              </a:defRPr>
            </a:lvl8pPr>
            <a:lvl9pPr marL="1828686" algn="l" defTabSz="457172" rtl="0" eaLnBrk="1" latinLnBrk="0" hangingPunct="1">
              <a:defRPr kern="1200">
                <a:solidFill>
                  <a:schemeClr val="tx1"/>
                </a:solidFill>
                <a:latin typeface="Arial" pitchFamily="2" charset="77"/>
                <a:ea typeface="+mn-ea"/>
                <a:cs typeface="+mn-cs"/>
              </a:defRPr>
            </a:lvl9pPr>
          </a:lstStyle>
          <a:p>
            <a:r>
              <a:rPr lang="en-US" noProof="0">
                <a:latin typeface="Arial"/>
                <a:cs typeface="Arial"/>
              </a:rPr>
              <a:t>Customer Services runs 5 sub-teams with heterogeneous maturity </a:t>
            </a:r>
          </a:p>
          <a:p>
            <a:endParaRPr lang="en-US" noProof="0"/>
          </a:p>
        </p:txBody>
      </p:sp>
      <p:sp>
        <p:nvSpPr>
          <p:cNvPr id="5" name="Título 2">
            <a:extLst>
              <a:ext uri="{FF2B5EF4-FFF2-40B4-BE49-F238E27FC236}">
                <a16:creationId xmlns:a16="http://schemas.microsoft.com/office/drawing/2014/main" id="{A1FF3D88-C1FF-97A8-4427-35A835BD9721}"/>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r>
              <a:rPr lang="en-US" sz="2400" noProof="0">
                <a:latin typeface="Arial" panose="020B0604020202020204" pitchFamily="34" charset="0"/>
                <a:cs typeface="Arial" panose="020B0604020202020204" pitchFamily="34" charset="0"/>
              </a:rPr>
              <a:t>CURRENT STATE ANALYSIS</a:t>
            </a:r>
          </a:p>
          <a:p>
            <a:r>
              <a:rPr lang="en-US" sz="1200" noProof="0">
                <a:latin typeface="Arial" panose="020B0604020202020204" pitchFamily="34" charset="0"/>
                <a:cs typeface="Arial" panose="020B0604020202020204" pitchFamily="34" charset="0"/>
              </a:rPr>
              <a:t>VALUE STREAM MAPPING - DEMAND FLOW</a:t>
            </a:r>
          </a:p>
        </p:txBody>
      </p:sp>
      <p:sp>
        <p:nvSpPr>
          <p:cNvPr id="7" name="Rectangle 6">
            <a:extLst>
              <a:ext uri="{FF2B5EF4-FFF2-40B4-BE49-F238E27FC236}">
                <a16:creationId xmlns:a16="http://schemas.microsoft.com/office/drawing/2014/main" id="{138ABDDC-C45F-5660-6E89-4CD4D285E1EB}"/>
              </a:ext>
            </a:extLst>
          </p:cNvPr>
          <p:cNvSpPr/>
          <p:nvPr/>
        </p:nvSpPr>
        <p:spPr>
          <a:xfrm>
            <a:off x="457200" y="1645539"/>
            <a:ext cx="11274552"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5" name="Rectangle 14">
            <a:extLst>
              <a:ext uri="{FF2B5EF4-FFF2-40B4-BE49-F238E27FC236}">
                <a16:creationId xmlns:a16="http://schemas.microsoft.com/office/drawing/2014/main" id="{4CF1181A-F255-E527-9842-B013C1125AE3}"/>
              </a:ext>
            </a:extLst>
          </p:cNvPr>
          <p:cNvSpPr/>
          <p:nvPr/>
        </p:nvSpPr>
        <p:spPr>
          <a:xfrm>
            <a:off x="457200" y="1645539"/>
            <a:ext cx="1828800" cy="274320"/>
          </a:xfrm>
          <a:prstGeom prst="rect">
            <a:avLst/>
          </a:prstGeom>
          <a:solidFill>
            <a:schemeClr val="accent4">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solidFill>
                <a:schemeClr val="tx1"/>
              </a:solidFill>
            </a:endParaRPr>
          </a:p>
        </p:txBody>
      </p:sp>
      <p:sp>
        <p:nvSpPr>
          <p:cNvPr id="16" name="TextBox 15">
            <a:extLst>
              <a:ext uri="{FF2B5EF4-FFF2-40B4-BE49-F238E27FC236}">
                <a16:creationId xmlns:a16="http://schemas.microsoft.com/office/drawing/2014/main" id="{7154C197-91C1-B01A-4798-E9E97988D00F}"/>
              </a:ext>
            </a:extLst>
          </p:cNvPr>
          <p:cNvSpPr txBox="1"/>
          <p:nvPr/>
        </p:nvSpPr>
        <p:spPr>
          <a:xfrm>
            <a:off x="457200" y="1712455"/>
            <a:ext cx="1828800" cy="140488"/>
          </a:xfrm>
          <a:prstGeom prst="rect">
            <a:avLst/>
          </a:prstGeom>
          <a:solidFill>
            <a:schemeClr val="accent4">
              <a:lumMod val="20000"/>
              <a:lumOff val="80000"/>
            </a:schemeClr>
          </a:solidFill>
        </p:spPr>
        <p:txBody>
          <a:bodyPr wrap="square" lIns="0" tIns="0" rIns="0" bIns="0" anchor="ctr">
            <a:spAutoFit/>
          </a:bodyPr>
          <a:lstStyle/>
          <a:p>
            <a:pPr algn="ctr">
              <a:lnSpc>
                <a:spcPct val="110000"/>
              </a:lnSpc>
              <a:spcBef>
                <a:spcPts val="0"/>
              </a:spcBef>
              <a:spcAft>
                <a:spcPts val="0"/>
              </a:spcAft>
            </a:pPr>
            <a:r>
              <a:rPr lang="en-US" sz="900" b="1" i="0" noProof="0">
                <a:latin typeface="Helvetica Neue"/>
              </a:rPr>
              <a:t>BUSINESS REQUESTERS</a:t>
            </a:r>
          </a:p>
        </p:txBody>
      </p:sp>
      <p:sp>
        <p:nvSpPr>
          <p:cNvPr id="17" name="TextBox 16">
            <a:extLst>
              <a:ext uri="{FF2B5EF4-FFF2-40B4-BE49-F238E27FC236}">
                <a16:creationId xmlns:a16="http://schemas.microsoft.com/office/drawing/2014/main" id="{7CFAAAC6-5C23-5170-1025-A99642CCBF84}"/>
              </a:ext>
            </a:extLst>
          </p:cNvPr>
          <p:cNvSpPr txBox="1"/>
          <p:nvPr/>
        </p:nvSpPr>
        <p:spPr>
          <a:xfrm>
            <a:off x="2377440" y="1712904"/>
            <a:ext cx="9281160" cy="139590"/>
          </a:xfrm>
          <a:prstGeom prst="rect">
            <a:avLst/>
          </a:prstGeom>
          <a:solidFill>
            <a:schemeClr val="accent1"/>
          </a:solidFill>
        </p:spPr>
        <p:txBody>
          <a:bodyPr wrap="square" lIns="0" tIns="0" rIns="0" bIns="0" anchor="ctr">
            <a:spAutoFit/>
          </a:bodyPr>
          <a:lstStyle/>
          <a:p>
            <a:pPr>
              <a:lnSpc>
                <a:spcPct val="110000"/>
              </a:lnSpc>
            </a:pPr>
            <a:r>
              <a:rPr lang="en-US" sz="900" noProof="0">
                <a:solidFill>
                  <a:schemeClr val="bg1"/>
                </a:solidFill>
                <a:latin typeface="Arial" panose="020B0604020202020204" pitchFamily="34" charset="0"/>
                <a:cs typeface="Arial" panose="020B0604020202020204" pitchFamily="34" charset="0"/>
              </a:rPr>
              <a:t>7 OPCOs via BRS · PMO · Business users</a:t>
            </a:r>
          </a:p>
        </p:txBody>
      </p:sp>
      <p:sp>
        <p:nvSpPr>
          <p:cNvPr id="18" name="Rectangle 17">
            <a:extLst>
              <a:ext uri="{FF2B5EF4-FFF2-40B4-BE49-F238E27FC236}">
                <a16:creationId xmlns:a16="http://schemas.microsoft.com/office/drawing/2014/main" id="{9DE95D77-C446-7CB6-6B0A-14430312958D}"/>
              </a:ext>
            </a:extLst>
          </p:cNvPr>
          <p:cNvSpPr/>
          <p:nvPr/>
        </p:nvSpPr>
        <p:spPr>
          <a:xfrm>
            <a:off x="1097280" y="2029587"/>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9" name="TextBox 18">
            <a:extLst>
              <a:ext uri="{FF2B5EF4-FFF2-40B4-BE49-F238E27FC236}">
                <a16:creationId xmlns:a16="http://schemas.microsoft.com/office/drawing/2014/main" id="{D040C925-65B6-404F-4B19-590A974EA3BF}"/>
              </a:ext>
            </a:extLst>
          </p:cNvPr>
          <p:cNvSpPr txBox="1"/>
          <p:nvPr/>
        </p:nvSpPr>
        <p:spPr>
          <a:xfrm>
            <a:off x="1097280" y="2109611"/>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Helvetica Neue"/>
              </a:rPr>
              <a:t>01 INTAKE</a:t>
            </a:r>
          </a:p>
        </p:txBody>
      </p:sp>
      <p:sp>
        <p:nvSpPr>
          <p:cNvPr id="22" name="Rectangle 21">
            <a:extLst>
              <a:ext uri="{FF2B5EF4-FFF2-40B4-BE49-F238E27FC236}">
                <a16:creationId xmlns:a16="http://schemas.microsoft.com/office/drawing/2014/main" id="{3BCE0931-3A19-0EF0-EFB5-C09655DE9896}"/>
              </a:ext>
            </a:extLst>
          </p:cNvPr>
          <p:cNvSpPr/>
          <p:nvPr/>
        </p:nvSpPr>
        <p:spPr>
          <a:xfrm>
            <a:off x="3319272" y="2029587"/>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3" name="TextBox 22">
            <a:extLst>
              <a:ext uri="{FF2B5EF4-FFF2-40B4-BE49-F238E27FC236}">
                <a16:creationId xmlns:a16="http://schemas.microsoft.com/office/drawing/2014/main" id="{E4468068-0A8D-491E-867D-100216CE60B6}"/>
              </a:ext>
            </a:extLst>
          </p:cNvPr>
          <p:cNvSpPr txBox="1"/>
          <p:nvPr/>
        </p:nvSpPr>
        <p:spPr>
          <a:xfrm>
            <a:off x="3319272" y="2109611"/>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Helvetica Neue"/>
              </a:rPr>
              <a:t>02 CLASSIFICATION</a:t>
            </a:r>
          </a:p>
        </p:txBody>
      </p:sp>
      <p:sp>
        <p:nvSpPr>
          <p:cNvPr id="25" name="TextBox 24">
            <a:extLst>
              <a:ext uri="{FF2B5EF4-FFF2-40B4-BE49-F238E27FC236}">
                <a16:creationId xmlns:a16="http://schemas.microsoft.com/office/drawing/2014/main" id="{48A54201-FDB3-9DB4-62B4-AFD0F3023172}"/>
              </a:ext>
            </a:extLst>
          </p:cNvPr>
          <p:cNvSpPr txBox="1"/>
          <p:nvPr/>
        </p:nvSpPr>
        <p:spPr>
          <a:xfrm>
            <a:off x="3893821" y="2453119"/>
            <a:ext cx="1097280" cy="140488"/>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i="0" noProof="0">
                <a:solidFill>
                  <a:schemeClr val="bg1"/>
                </a:solidFill>
                <a:latin typeface="Helvetica Neue"/>
              </a:rPr>
              <a:t>PARTIAL</a:t>
            </a:r>
          </a:p>
        </p:txBody>
      </p:sp>
      <p:sp>
        <p:nvSpPr>
          <p:cNvPr id="26" name="Rectangle 25">
            <a:extLst>
              <a:ext uri="{FF2B5EF4-FFF2-40B4-BE49-F238E27FC236}">
                <a16:creationId xmlns:a16="http://schemas.microsoft.com/office/drawing/2014/main" id="{7123D834-D508-50AB-673C-65114955945D}"/>
              </a:ext>
            </a:extLst>
          </p:cNvPr>
          <p:cNvSpPr/>
          <p:nvPr/>
        </p:nvSpPr>
        <p:spPr>
          <a:xfrm>
            <a:off x="5541264" y="2029587"/>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7" name="TextBox 26">
            <a:extLst>
              <a:ext uri="{FF2B5EF4-FFF2-40B4-BE49-F238E27FC236}">
                <a16:creationId xmlns:a16="http://schemas.microsoft.com/office/drawing/2014/main" id="{819E1100-3CFE-0642-1BF5-08B5C9237FFD}"/>
              </a:ext>
            </a:extLst>
          </p:cNvPr>
          <p:cNvSpPr txBox="1"/>
          <p:nvPr/>
        </p:nvSpPr>
        <p:spPr>
          <a:xfrm>
            <a:off x="5541264" y="2109611"/>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Helvetica Neue"/>
              </a:rPr>
              <a:t>03 PRIORITIZATION</a:t>
            </a:r>
          </a:p>
        </p:txBody>
      </p:sp>
      <p:sp>
        <p:nvSpPr>
          <p:cNvPr id="29" name="TextBox 28">
            <a:extLst>
              <a:ext uri="{FF2B5EF4-FFF2-40B4-BE49-F238E27FC236}">
                <a16:creationId xmlns:a16="http://schemas.microsoft.com/office/drawing/2014/main" id="{35E6C40A-B5A7-BF66-4C14-3DF9D5B6673C}"/>
              </a:ext>
            </a:extLst>
          </p:cNvPr>
          <p:cNvSpPr txBox="1"/>
          <p:nvPr/>
        </p:nvSpPr>
        <p:spPr>
          <a:xfrm>
            <a:off x="6076188" y="2413635"/>
            <a:ext cx="1097280" cy="182880"/>
          </a:xfrm>
          <a:prstGeom prst="rect">
            <a:avLst/>
          </a:prstGeom>
          <a:solidFill>
            <a:schemeClr val="accent2"/>
          </a:solidFill>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Helvetica Neue"/>
              </a:rPr>
              <a:t>GAP</a:t>
            </a:r>
          </a:p>
        </p:txBody>
      </p:sp>
      <p:sp>
        <p:nvSpPr>
          <p:cNvPr id="30" name="Rectangle 29">
            <a:extLst>
              <a:ext uri="{FF2B5EF4-FFF2-40B4-BE49-F238E27FC236}">
                <a16:creationId xmlns:a16="http://schemas.microsoft.com/office/drawing/2014/main" id="{0ABCA8CA-1BC5-4B6D-5918-6F68C6C58E8F}"/>
              </a:ext>
            </a:extLst>
          </p:cNvPr>
          <p:cNvSpPr/>
          <p:nvPr/>
        </p:nvSpPr>
        <p:spPr>
          <a:xfrm>
            <a:off x="7763256" y="2029587"/>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31" name="TextBox 30">
            <a:extLst>
              <a:ext uri="{FF2B5EF4-FFF2-40B4-BE49-F238E27FC236}">
                <a16:creationId xmlns:a16="http://schemas.microsoft.com/office/drawing/2014/main" id="{25AF214F-BAFF-3857-FBAF-DDED5A1AD88E}"/>
              </a:ext>
            </a:extLst>
          </p:cNvPr>
          <p:cNvSpPr txBox="1"/>
          <p:nvPr/>
        </p:nvSpPr>
        <p:spPr>
          <a:xfrm>
            <a:off x="7763256" y="2109611"/>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Helvetica Neue"/>
              </a:rPr>
              <a:t>04 PORTFOLIO</a:t>
            </a:r>
          </a:p>
        </p:txBody>
      </p:sp>
      <p:sp>
        <p:nvSpPr>
          <p:cNvPr id="33" name="TextBox 32">
            <a:extLst>
              <a:ext uri="{FF2B5EF4-FFF2-40B4-BE49-F238E27FC236}">
                <a16:creationId xmlns:a16="http://schemas.microsoft.com/office/drawing/2014/main" id="{36237F64-14D2-4B35-2115-BF412ABC2497}"/>
              </a:ext>
            </a:extLst>
          </p:cNvPr>
          <p:cNvSpPr txBox="1"/>
          <p:nvPr/>
        </p:nvSpPr>
        <p:spPr>
          <a:xfrm>
            <a:off x="8316469" y="2432037"/>
            <a:ext cx="1097280" cy="182880"/>
          </a:xfrm>
          <a:prstGeom prst="rect">
            <a:avLst/>
          </a:prstGeom>
          <a:solidFill>
            <a:schemeClr val="accent2"/>
          </a:solidFill>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Helvetica Neue"/>
              </a:rPr>
              <a:t>GAP</a:t>
            </a:r>
          </a:p>
        </p:txBody>
      </p:sp>
      <p:sp>
        <p:nvSpPr>
          <p:cNvPr id="34" name="Rectangle 33">
            <a:extLst>
              <a:ext uri="{FF2B5EF4-FFF2-40B4-BE49-F238E27FC236}">
                <a16:creationId xmlns:a16="http://schemas.microsoft.com/office/drawing/2014/main" id="{25CF0329-231F-76A9-B517-F6A2A34844A8}"/>
              </a:ext>
            </a:extLst>
          </p:cNvPr>
          <p:cNvSpPr/>
          <p:nvPr/>
        </p:nvSpPr>
        <p:spPr>
          <a:xfrm>
            <a:off x="9985248" y="2029587"/>
            <a:ext cx="1722000" cy="332383"/>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35" name="TextBox 34">
            <a:extLst>
              <a:ext uri="{FF2B5EF4-FFF2-40B4-BE49-F238E27FC236}">
                <a16:creationId xmlns:a16="http://schemas.microsoft.com/office/drawing/2014/main" id="{FC3B619A-507D-C7A2-951E-952770FB73E8}"/>
              </a:ext>
            </a:extLst>
          </p:cNvPr>
          <p:cNvSpPr txBox="1"/>
          <p:nvPr/>
        </p:nvSpPr>
        <p:spPr>
          <a:xfrm>
            <a:off x="10000189" y="2098332"/>
            <a:ext cx="1669706"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Helvetica Neue"/>
              </a:rPr>
              <a:t>05 DELIVERY</a:t>
            </a:r>
          </a:p>
        </p:txBody>
      </p:sp>
      <p:sp>
        <p:nvSpPr>
          <p:cNvPr id="37" name="TextBox 36">
            <a:extLst>
              <a:ext uri="{FF2B5EF4-FFF2-40B4-BE49-F238E27FC236}">
                <a16:creationId xmlns:a16="http://schemas.microsoft.com/office/drawing/2014/main" id="{97FE20A2-FE52-4FE3-3C38-B70ACC8C7950}"/>
              </a:ext>
            </a:extLst>
          </p:cNvPr>
          <p:cNvSpPr txBox="1"/>
          <p:nvPr/>
        </p:nvSpPr>
        <p:spPr>
          <a:xfrm>
            <a:off x="10316469" y="2453119"/>
            <a:ext cx="1097280" cy="140488"/>
          </a:xfrm>
          <a:prstGeom prst="rect">
            <a:avLst/>
          </a:prstGeom>
          <a:noFill/>
          <a:ln>
            <a:noFill/>
          </a:ln>
        </p:spPr>
        <p:txBody>
          <a:bodyPr wrap="square" lIns="0" tIns="0" rIns="0" bIns="0" anchor="ctr">
            <a:spAutoFit/>
          </a:bodyPr>
          <a:lstStyle/>
          <a:p>
            <a:pPr algn="ctr">
              <a:lnSpc>
                <a:spcPct val="110000"/>
              </a:lnSpc>
              <a:spcBef>
                <a:spcPts val="0"/>
              </a:spcBef>
              <a:spcAft>
                <a:spcPts val="0"/>
              </a:spcAft>
            </a:pPr>
            <a:r>
              <a:rPr lang="en-US" sz="900" b="1" i="0" noProof="0">
                <a:solidFill>
                  <a:schemeClr val="bg1"/>
                </a:solidFill>
                <a:latin typeface="Helvetica Neue"/>
              </a:rPr>
              <a:t>PARTIAL</a:t>
            </a:r>
          </a:p>
        </p:txBody>
      </p:sp>
      <p:sp>
        <p:nvSpPr>
          <p:cNvPr id="38" name="Rectangle 37">
            <a:extLst>
              <a:ext uri="{FF2B5EF4-FFF2-40B4-BE49-F238E27FC236}">
                <a16:creationId xmlns:a16="http://schemas.microsoft.com/office/drawing/2014/main" id="{829F2D6F-BD7A-662A-B576-1357422168BE}"/>
              </a:ext>
            </a:extLst>
          </p:cNvPr>
          <p:cNvSpPr/>
          <p:nvPr/>
        </p:nvSpPr>
        <p:spPr>
          <a:xfrm>
            <a:off x="457200" y="2669667"/>
            <a:ext cx="594360" cy="493776"/>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39" name="TextBox 38">
            <a:extLst>
              <a:ext uri="{FF2B5EF4-FFF2-40B4-BE49-F238E27FC236}">
                <a16:creationId xmlns:a16="http://schemas.microsoft.com/office/drawing/2014/main" id="{C829AE6D-A726-FD7A-391D-2FF02982CA8E}"/>
              </a:ext>
            </a:extLst>
          </p:cNvPr>
          <p:cNvSpPr txBox="1"/>
          <p:nvPr/>
        </p:nvSpPr>
        <p:spPr>
          <a:xfrm>
            <a:off x="457200" y="2669667"/>
            <a:ext cx="594360" cy="493776"/>
          </a:xfrm>
          <a:prstGeom prst="rect">
            <a:avLst/>
          </a:prstGeom>
          <a:solidFill>
            <a:srgbClr val="156082"/>
          </a:solidFill>
        </p:spPr>
        <p:txBody>
          <a:bodyPr wrap="square" lIns="0" tIns="0" rIns="0" bIns="0" anchor="ctr">
            <a:spAutoFit/>
          </a:bodyPr>
          <a:lstStyle/>
          <a:p>
            <a:pPr algn="ctr">
              <a:lnSpc>
                <a:spcPct val="110000"/>
              </a:lnSpc>
              <a:spcBef>
                <a:spcPts val="0"/>
              </a:spcBef>
              <a:spcAft>
                <a:spcPts val="0"/>
              </a:spcAft>
            </a:pPr>
            <a:r>
              <a:rPr lang="en-US" sz="700" b="1" i="0" noProof="0">
                <a:solidFill>
                  <a:srgbClr val="FFFFFF"/>
                </a:solidFill>
                <a:latin typeface="Helvetica Neue"/>
              </a:rPr>
              <a:t>CHANNELS  ·  HOW IT ARRIVES</a:t>
            </a:r>
          </a:p>
        </p:txBody>
      </p:sp>
      <p:sp>
        <p:nvSpPr>
          <p:cNvPr id="40" name="Rectangle 39">
            <a:extLst>
              <a:ext uri="{FF2B5EF4-FFF2-40B4-BE49-F238E27FC236}">
                <a16:creationId xmlns:a16="http://schemas.microsoft.com/office/drawing/2014/main" id="{4E55E4FD-428D-ED83-7E19-91647BCE639A}"/>
              </a:ext>
            </a:extLst>
          </p:cNvPr>
          <p:cNvSpPr/>
          <p:nvPr/>
        </p:nvSpPr>
        <p:spPr>
          <a:xfrm>
            <a:off x="1097280" y="2669667"/>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41" name="TextBox 40">
            <a:extLst>
              <a:ext uri="{FF2B5EF4-FFF2-40B4-BE49-F238E27FC236}">
                <a16:creationId xmlns:a16="http://schemas.microsoft.com/office/drawing/2014/main" id="{20791D0B-51CA-643B-09F7-63844471697A}"/>
              </a:ext>
            </a:extLst>
          </p:cNvPr>
          <p:cNvSpPr txBox="1"/>
          <p:nvPr/>
        </p:nvSpPr>
        <p:spPr>
          <a:xfrm>
            <a:off x="1188720" y="2715387"/>
            <a:ext cx="1984248" cy="29193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Email + IT Now (Metering); Jira; no shared branch channel</a:t>
            </a:r>
          </a:p>
        </p:txBody>
      </p:sp>
      <p:sp>
        <p:nvSpPr>
          <p:cNvPr id="42" name="Rectangle 41">
            <a:extLst>
              <a:ext uri="{FF2B5EF4-FFF2-40B4-BE49-F238E27FC236}">
                <a16:creationId xmlns:a16="http://schemas.microsoft.com/office/drawing/2014/main" id="{ED6D67F0-6798-8837-8A48-505B2AE68DFE}"/>
              </a:ext>
            </a:extLst>
          </p:cNvPr>
          <p:cNvSpPr/>
          <p:nvPr/>
        </p:nvSpPr>
        <p:spPr>
          <a:xfrm>
            <a:off x="3319272" y="2669667"/>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43" name="TextBox 42">
            <a:extLst>
              <a:ext uri="{FF2B5EF4-FFF2-40B4-BE49-F238E27FC236}">
                <a16:creationId xmlns:a16="http://schemas.microsoft.com/office/drawing/2014/main" id="{38E2ADF8-A6DD-BED6-818B-797572766E12}"/>
              </a:ext>
            </a:extLst>
          </p:cNvPr>
          <p:cNvSpPr txBox="1"/>
          <p:nvPr/>
        </p:nvSpPr>
        <p:spPr>
          <a:xfrm>
            <a:off x="3410712" y="2715387"/>
            <a:ext cx="1984248" cy="293350"/>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Incidents: IT Now template; Large: PMO; Small/</a:t>
            </a:r>
            <a:r>
              <a:rPr lang="en-US" sz="900" b="0" i="0" noProof="0" err="1">
                <a:solidFill>
                  <a:srgbClr val="2C3E50"/>
                </a:solidFill>
                <a:latin typeface="Helvetica Neue"/>
              </a:rPr>
              <a:t>Med→Jira</a:t>
            </a:r>
            <a:endParaRPr lang="en-US" sz="900" b="0" i="0" noProof="0">
              <a:solidFill>
                <a:srgbClr val="2C3E50"/>
              </a:solidFill>
              <a:latin typeface="Helvetica Neue"/>
            </a:endParaRPr>
          </a:p>
        </p:txBody>
      </p:sp>
      <p:sp>
        <p:nvSpPr>
          <p:cNvPr id="44" name="Rectangle 43">
            <a:extLst>
              <a:ext uri="{FF2B5EF4-FFF2-40B4-BE49-F238E27FC236}">
                <a16:creationId xmlns:a16="http://schemas.microsoft.com/office/drawing/2014/main" id="{D3397E6E-B065-8AEB-B5F2-271C2296B344}"/>
              </a:ext>
            </a:extLst>
          </p:cNvPr>
          <p:cNvSpPr/>
          <p:nvPr/>
        </p:nvSpPr>
        <p:spPr>
          <a:xfrm>
            <a:off x="5541264" y="2669667"/>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45" name="TextBox 44">
            <a:extLst>
              <a:ext uri="{FF2B5EF4-FFF2-40B4-BE49-F238E27FC236}">
                <a16:creationId xmlns:a16="http://schemas.microsoft.com/office/drawing/2014/main" id="{41A4C23D-5895-B725-E4A4-A8FFE0A9DA55}"/>
              </a:ext>
            </a:extLst>
          </p:cNvPr>
          <p:cNvSpPr txBox="1"/>
          <p:nvPr/>
        </p:nvSpPr>
        <p:spPr>
          <a:xfrm>
            <a:off x="5632704" y="2715387"/>
            <a:ext cx="1984248" cy="292837"/>
          </a:xfrm>
          <a:prstGeom prst="rect">
            <a:avLst/>
          </a:prstGeom>
          <a:noFill/>
        </p:spPr>
        <p:txBody>
          <a:bodyPr wrap="square" lIns="0" tIns="0" rIns="0" bIns="0" anchor="t">
            <a:spAutoFit/>
          </a:bodyPr>
          <a:lstStyle/>
          <a:p>
            <a:pPr>
              <a:lnSpc>
                <a:spcPct val="110000"/>
              </a:lnSpc>
            </a:pPr>
            <a:r>
              <a:rPr lang="en-US" sz="900" b="0" i="0" noProof="0">
                <a:solidFill>
                  <a:srgbClr val="2C3E50"/>
                </a:solidFill>
                <a:latin typeface="Helvetica Neue"/>
              </a:rPr>
              <a:t>Criticality </a:t>
            </a:r>
            <a:r>
              <a:rPr lang="en-US" sz="900" noProof="0">
                <a:solidFill>
                  <a:srgbClr val="2C3E50"/>
                </a:solidFill>
                <a:latin typeface="Helvetica Neue"/>
              </a:rPr>
              <a:t>; director-level calls elsewhere</a:t>
            </a:r>
            <a:endParaRPr lang="en-US" sz="900" b="0" i="0" noProof="0">
              <a:solidFill>
                <a:srgbClr val="2C3E50"/>
              </a:solidFill>
              <a:latin typeface="Helvetica Neue"/>
            </a:endParaRPr>
          </a:p>
        </p:txBody>
      </p:sp>
      <p:sp>
        <p:nvSpPr>
          <p:cNvPr id="46" name="Rectangle 45">
            <a:extLst>
              <a:ext uri="{FF2B5EF4-FFF2-40B4-BE49-F238E27FC236}">
                <a16:creationId xmlns:a16="http://schemas.microsoft.com/office/drawing/2014/main" id="{124C98A3-F5B0-658B-E206-0BB31755850B}"/>
              </a:ext>
            </a:extLst>
          </p:cNvPr>
          <p:cNvSpPr/>
          <p:nvPr/>
        </p:nvSpPr>
        <p:spPr>
          <a:xfrm>
            <a:off x="7763256" y="2669667"/>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47" name="TextBox 46">
            <a:extLst>
              <a:ext uri="{FF2B5EF4-FFF2-40B4-BE49-F238E27FC236}">
                <a16:creationId xmlns:a16="http://schemas.microsoft.com/office/drawing/2014/main" id="{2038CEF1-26F6-4A3C-897A-6805C2A160B4}"/>
              </a:ext>
            </a:extLst>
          </p:cNvPr>
          <p:cNvSpPr txBox="1"/>
          <p:nvPr/>
        </p:nvSpPr>
        <p:spPr>
          <a:xfrm>
            <a:off x="7854696" y="2715387"/>
            <a:ext cx="1984248"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no branch-wide tool</a:t>
            </a:r>
          </a:p>
        </p:txBody>
      </p:sp>
      <p:sp>
        <p:nvSpPr>
          <p:cNvPr id="48" name="Rectangle 47">
            <a:extLst>
              <a:ext uri="{FF2B5EF4-FFF2-40B4-BE49-F238E27FC236}">
                <a16:creationId xmlns:a16="http://schemas.microsoft.com/office/drawing/2014/main" id="{35178108-0C76-66EF-7867-9D2148182294}"/>
              </a:ext>
            </a:extLst>
          </p:cNvPr>
          <p:cNvSpPr/>
          <p:nvPr/>
        </p:nvSpPr>
        <p:spPr>
          <a:xfrm>
            <a:off x="9985248" y="2669667"/>
            <a:ext cx="1722000" cy="478687"/>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49" name="TextBox 48">
            <a:extLst>
              <a:ext uri="{FF2B5EF4-FFF2-40B4-BE49-F238E27FC236}">
                <a16:creationId xmlns:a16="http://schemas.microsoft.com/office/drawing/2014/main" id="{54E63B6C-6861-F439-5017-A214408023D7}"/>
              </a:ext>
            </a:extLst>
          </p:cNvPr>
          <p:cNvSpPr txBox="1"/>
          <p:nvPr/>
        </p:nvSpPr>
        <p:spPr>
          <a:xfrm>
            <a:off x="10076688" y="2715387"/>
            <a:ext cx="1576843"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SWF + Accenture + Vendors </a:t>
            </a:r>
          </a:p>
        </p:txBody>
      </p:sp>
      <p:sp>
        <p:nvSpPr>
          <p:cNvPr id="165" name="Rectangle 164">
            <a:extLst>
              <a:ext uri="{FF2B5EF4-FFF2-40B4-BE49-F238E27FC236}">
                <a16:creationId xmlns:a16="http://schemas.microsoft.com/office/drawing/2014/main" id="{8F38761C-851E-2F81-28A5-C5E9DDCECD59}"/>
              </a:ext>
            </a:extLst>
          </p:cNvPr>
          <p:cNvSpPr/>
          <p:nvPr/>
        </p:nvSpPr>
        <p:spPr>
          <a:xfrm>
            <a:off x="457200" y="3200019"/>
            <a:ext cx="594360" cy="493776"/>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85" name="TextBox 184">
            <a:extLst>
              <a:ext uri="{FF2B5EF4-FFF2-40B4-BE49-F238E27FC236}">
                <a16:creationId xmlns:a16="http://schemas.microsoft.com/office/drawing/2014/main" id="{022021D6-3BB3-7BEB-54BD-E3B60E259897}"/>
              </a:ext>
            </a:extLst>
          </p:cNvPr>
          <p:cNvSpPr txBox="1"/>
          <p:nvPr/>
        </p:nvSpPr>
        <p:spPr>
          <a:xfrm>
            <a:off x="457200" y="3200019"/>
            <a:ext cx="594360" cy="493776"/>
          </a:xfrm>
          <a:prstGeom prst="rect">
            <a:avLst/>
          </a:prstGeom>
          <a:solidFill>
            <a:srgbClr val="156082"/>
          </a:solidFill>
        </p:spPr>
        <p:txBody>
          <a:bodyPr wrap="square" lIns="0" tIns="0" rIns="0" bIns="0" anchor="ctr">
            <a:spAutoFit/>
          </a:bodyPr>
          <a:lstStyle/>
          <a:p>
            <a:pPr algn="ctr">
              <a:lnSpc>
                <a:spcPct val="110000"/>
              </a:lnSpc>
              <a:spcBef>
                <a:spcPts val="0"/>
              </a:spcBef>
              <a:spcAft>
                <a:spcPts val="0"/>
              </a:spcAft>
            </a:pPr>
            <a:r>
              <a:rPr lang="en-US" sz="700" b="1" i="0" noProof="0">
                <a:solidFill>
                  <a:srgbClr val="FFFFFF"/>
                </a:solidFill>
                <a:latin typeface="Helvetica Neue"/>
              </a:rPr>
              <a:t>ROLES</a:t>
            </a:r>
          </a:p>
        </p:txBody>
      </p:sp>
      <p:sp>
        <p:nvSpPr>
          <p:cNvPr id="187" name="Rectangle 186">
            <a:extLst>
              <a:ext uri="{FF2B5EF4-FFF2-40B4-BE49-F238E27FC236}">
                <a16:creationId xmlns:a16="http://schemas.microsoft.com/office/drawing/2014/main" id="{2ADF0128-51EC-F33C-5B55-047A35B1A562}"/>
              </a:ext>
            </a:extLst>
          </p:cNvPr>
          <p:cNvSpPr/>
          <p:nvPr/>
        </p:nvSpPr>
        <p:spPr>
          <a:xfrm>
            <a:off x="1097280" y="3200019"/>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88" name="TextBox 187">
            <a:extLst>
              <a:ext uri="{FF2B5EF4-FFF2-40B4-BE49-F238E27FC236}">
                <a16:creationId xmlns:a16="http://schemas.microsoft.com/office/drawing/2014/main" id="{744EF578-BCEA-0CEC-47EE-EF4F203AF426}"/>
              </a:ext>
            </a:extLst>
          </p:cNvPr>
          <p:cNvSpPr txBox="1"/>
          <p:nvPr/>
        </p:nvSpPr>
        <p:spPr>
          <a:xfrm>
            <a:off x="1188720" y="3245739"/>
            <a:ext cx="1984248" cy="29193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Business users / BRS / OPCOs users open varied channels</a:t>
            </a:r>
          </a:p>
        </p:txBody>
      </p:sp>
      <p:sp>
        <p:nvSpPr>
          <p:cNvPr id="189" name="Rectangle 188">
            <a:extLst>
              <a:ext uri="{FF2B5EF4-FFF2-40B4-BE49-F238E27FC236}">
                <a16:creationId xmlns:a16="http://schemas.microsoft.com/office/drawing/2014/main" id="{1AFEBA90-DDEA-AF49-B40E-6849E5A01479}"/>
              </a:ext>
            </a:extLst>
          </p:cNvPr>
          <p:cNvSpPr/>
          <p:nvPr/>
        </p:nvSpPr>
        <p:spPr>
          <a:xfrm>
            <a:off x="3319272" y="3200019"/>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90" name="TextBox 189">
            <a:extLst>
              <a:ext uri="{FF2B5EF4-FFF2-40B4-BE49-F238E27FC236}">
                <a16:creationId xmlns:a16="http://schemas.microsoft.com/office/drawing/2014/main" id="{E0995B2E-000F-F116-D7CE-E2E9239F72E0}"/>
              </a:ext>
            </a:extLst>
          </p:cNvPr>
          <p:cNvSpPr txBox="1"/>
          <p:nvPr/>
        </p:nvSpPr>
        <p:spPr>
          <a:xfrm>
            <a:off x="3410712" y="3245739"/>
            <a:ext cx="1984248" cy="44428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By sub-team (Metering/FICA/CRM/Basis); PMO for large</a:t>
            </a:r>
          </a:p>
        </p:txBody>
      </p:sp>
      <p:sp>
        <p:nvSpPr>
          <p:cNvPr id="191" name="Rectangle 190">
            <a:extLst>
              <a:ext uri="{FF2B5EF4-FFF2-40B4-BE49-F238E27FC236}">
                <a16:creationId xmlns:a16="http://schemas.microsoft.com/office/drawing/2014/main" id="{54901BEF-3595-7AD2-677A-223EC0EBC3AD}"/>
              </a:ext>
            </a:extLst>
          </p:cNvPr>
          <p:cNvSpPr/>
          <p:nvPr/>
        </p:nvSpPr>
        <p:spPr>
          <a:xfrm>
            <a:off x="5541264" y="3200019"/>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92" name="TextBox 191">
            <a:extLst>
              <a:ext uri="{FF2B5EF4-FFF2-40B4-BE49-F238E27FC236}">
                <a16:creationId xmlns:a16="http://schemas.microsoft.com/office/drawing/2014/main" id="{F6B83242-5124-6FB4-C6C2-E4AB53E16672}"/>
              </a:ext>
            </a:extLst>
          </p:cNvPr>
          <p:cNvSpPr txBox="1"/>
          <p:nvPr/>
        </p:nvSpPr>
        <p:spPr>
          <a:xfrm>
            <a:off x="5632704" y="3245739"/>
            <a:ext cx="1984248" cy="139590"/>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CS Director + sub-team managers; </a:t>
            </a:r>
          </a:p>
        </p:txBody>
      </p:sp>
      <p:sp>
        <p:nvSpPr>
          <p:cNvPr id="193" name="Rectangle 192">
            <a:extLst>
              <a:ext uri="{FF2B5EF4-FFF2-40B4-BE49-F238E27FC236}">
                <a16:creationId xmlns:a16="http://schemas.microsoft.com/office/drawing/2014/main" id="{58174B6F-E60A-FB42-5A7A-65164508F332}"/>
              </a:ext>
            </a:extLst>
          </p:cNvPr>
          <p:cNvSpPr/>
          <p:nvPr/>
        </p:nvSpPr>
        <p:spPr>
          <a:xfrm>
            <a:off x="7763256" y="3200019"/>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94" name="TextBox 193">
            <a:extLst>
              <a:ext uri="{FF2B5EF4-FFF2-40B4-BE49-F238E27FC236}">
                <a16:creationId xmlns:a16="http://schemas.microsoft.com/office/drawing/2014/main" id="{36E0314A-012E-A2CC-5C89-D70180AF34CE}"/>
              </a:ext>
            </a:extLst>
          </p:cNvPr>
          <p:cNvSpPr txBox="1"/>
          <p:nvPr/>
        </p:nvSpPr>
        <p:spPr>
          <a:xfrm>
            <a:off x="7854696" y="3245739"/>
            <a:ext cx="1984248" cy="29193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PMO (large) + sub-team managers (small); no portfolio lead</a:t>
            </a:r>
          </a:p>
        </p:txBody>
      </p:sp>
      <p:sp>
        <p:nvSpPr>
          <p:cNvPr id="195" name="Rectangle 194">
            <a:extLst>
              <a:ext uri="{FF2B5EF4-FFF2-40B4-BE49-F238E27FC236}">
                <a16:creationId xmlns:a16="http://schemas.microsoft.com/office/drawing/2014/main" id="{9C439F96-9905-5DFE-601C-EEA13DAA9431}"/>
              </a:ext>
            </a:extLst>
          </p:cNvPr>
          <p:cNvSpPr/>
          <p:nvPr/>
        </p:nvSpPr>
        <p:spPr>
          <a:xfrm>
            <a:off x="9985248" y="3200019"/>
            <a:ext cx="1722000" cy="478687"/>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96" name="TextBox 195">
            <a:extLst>
              <a:ext uri="{FF2B5EF4-FFF2-40B4-BE49-F238E27FC236}">
                <a16:creationId xmlns:a16="http://schemas.microsoft.com/office/drawing/2014/main" id="{E3627E66-5F03-C479-EFD9-42FBBE82FBBB}"/>
              </a:ext>
            </a:extLst>
          </p:cNvPr>
          <p:cNvSpPr txBox="1"/>
          <p:nvPr/>
        </p:nvSpPr>
        <p:spPr>
          <a:xfrm>
            <a:off x="10076688" y="3245739"/>
            <a:ext cx="1576843"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SWF runs projects; PM + SAP Architect roles in place (large)</a:t>
            </a:r>
          </a:p>
        </p:txBody>
      </p:sp>
      <p:sp>
        <p:nvSpPr>
          <p:cNvPr id="197" name="Rectangle 196">
            <a:extLst>
              <a:ext uri="{FF2B5EF4-FFF2-40B4-BE49-F238E27FC236}">
                <a16:creationId xmlns:a16="http://schemas.microsoft.com/office/drawing/2014/main" id="{2D5041E2-33F9-CE29-F4E6-4E2F371F0953}"/>
              </a:ext>
            </a:extLst>
          </p:cNvPr>
          <p:cNvSpPr/>
          <p:nvPr/>
        </p:nvSpPr>
        <p:spPr>
          <a:xfrm>
            <a:off x="457200" y="3730371"/>
            <a:ext cx="594360" cy="493776"/>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98" name="TextBox 197">
            <a:extLst>
              <a:ext uri="{FF2B5EF4-FFF2-40B4-BE49-F238E27FC236}">
                <a16:creationId xmlns:a16="http://schemas.microsoft.com/office/drawing/2014/main" id="{A1D6CB8D-3019-F6B3-578B-B9152DEF69F1}"/>
              </a:ext>
            </a:extLst>
          </p:cNvPr>
          <p:cNvSpPr txBox="1"/>
          <p:nvPr/>
        </p:nvSpPr>
        <p:spPr>
          <a:xfrm>
            <a:off x="457200" y="3730371"/>
            <a:ext cx="594360" cy="493776"/>
          </a:xfrm>
          <a:prstGeom prst="rect">
            <a:avLst/>
          </a:prstGeom>
          <a:solidFill>
            <a:srgbClr val="156082"/>
          </a:solidFill>
        </p:spPr>
        <p:txBody>
          <a:bodyPr wrap="square" lIns="0" tIns="0" rIns="0" bIns="0" anchor="ctr">
            <a:spAutoFit/>
          </a:bodyPr>
          <a:lstStyle/>
          <a:p>
            <a:pPr algn="ctr">
              <a:lnSpc>
                <a:spcPct val="110000"/>
              </a:lnSpc>
              <a:spcBef>
                <a:spcPts val="0"/>
              </a:spcBef>
              <a:spcAft>
                <a:spcPts val="0"/>
              </a:spcAft>
            </a:pPr>
            <a:r>
              <a:rPr lang="en-US" sz="700" b="1" i="0" noProof="0">
                <a:solidFill>
                  <a:srgbClr val="FFFFFF"/>
                </a:solidFill>
                <a:latin typeface="Helvetica Neue"/>
              </a:rPr>
              <a:t>TOOLS</a:t>
            </a:r>
          </a:p>
        </p:txBody>
      </p:sp>
      <p:sp>
        <p:nvSpPr>
          <p:cNvPr id="199" name="Rectangle 198">
            <a:extLst>
              <a:ext uri="{FF2B5EF4-FFF2-40B4-BE49-F238E27FC236}">
                <a16:creationId xmlns:a16="http://schemas.microsoft.com/office/drawing/2014/main" id="{D7E3B583-574F-E2DF-6D2C-6C61FA9D14AA}"/>
              </a:ext>
            </a:extLst>
          </p:cNvPr>
          <p:cNvSpPr/>
          <p:nvPr/>
        </p:nvSpPr>
        <p:spPr>
          <a:xfrm>
            <a:off x="1097280" y="3730371"/>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00" name="TextBox 199">
            <a:extLst>
              <a:ext uri="{FF2B5EF4-FFF2-40B4-BE49-F238E27FC236}">
                <a16:creationId xmlns:a16="http://schemas.microsoft.com/office/drawing/2014/main" id="{0BA9F82B-D0BA-7961-9727-C08266290742}"/>
              </a:ext>
            </a:extLst>
          </p:cNvPr>
          <p:cNvSpPr txBox="1"/>
          <p:nvPr/>
        </p:nvSpPr>
        <p:spPr>
          <a:xfrm>
            <a:off x="1188720" y="3776091"/>
            <a:ext cx="1984248" cy="29193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IT Now + Email + Jira + no cross-channel funnel</a:t>
            </a:r>
          </a:p>
        </p:txBody>
      </p:sp>
      <p:sp>
        <p:nvSpPr>
          <p:cNvPr id="201" name="Rectangle 200">
            <a:extLst>
              <a:ext uri="{FF2B5EF4-FFF2-40B4-BE49-F238E27FC236}">
                <a16:creationId xmlns:a16="http://schemas.microsoft.com/office/drawing/2014/main" id="{866F10D5-97D3-20BA-F4B7-7853F2351A87}"/>
              </a:ext>
            </a:extLst>
          </p:cNvPr>
          <p:cNvSpPr/>
          <p:nvPr/>
        </p:nvSpPr>
        <p:spPr>
          <a:xfrm>
            <a:off x="3319272" y="3730371"/>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02" name="TextBox 201">
            <a:extLst>
              <a:ext uri="{FF2B5EF4-FFF2-40B4-BE49-F238E27FC236}">
                <a16:creationId xmlns:a16="http://schemas.microsoft.com/office/drawing/2014/main" id="{9F052946-95A9-D0AC-117A-E9E8BC02FC18}"/>
              </a:ext>
            </a:extLst>
          </p:cNvPr>
          <p:cNvSpPr txBox="1"/>
          <p:nvPr/>
        </p:nvSpPr>
        <p:spPr>
          <a:xfrm>
            <a:off x="3410712" y="3776091"/>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IT Now template + Jira labels + PPM (large)</a:t>
            </a:r>
          </a:p>
        </p:txBody>
      </p:sp>
      <p:sp>
        <p:nvSpPr>
          <p:cNvPr id="203" name="Rectangle 202">
            <a:extLst>
              <a:ext uri="{FF2B5EF4-FFF2-40B4-BE49-F238E27FC236}">
                <a16:creationId xmlns:a16="http://schemas.microsoft.com/office/drawing/2014/main" id="{00B6350F-030A-1356-4EFA-2E24E059CE0F}"/>
              </a:ext>
            </a:extLst>
          </p:cNvPr>
          <p:cNvSpPr/>
          <p:nvPr/>
        </p:nvSpPr>
        <p:spPr>
          <a:xfrm>
            <a:off x="5541264" y="3730371"/>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04" name="TextBox 203">
            <a:extLst>
              <a:ext uri="{FF2B5EF4-FFF2-40B4-BE49-F238E27FC236}">
                <a16:creationId xmlns:a16="http://schemas.microsoft.com/office/drawing/2014/main" id="{64127303-7D2A-FD31-CB52-3B5E8BB35A23}"/>
              </a:ext>
            </a:extLst>
          </p:cNvPr>
          <p:cNvSpPr txBox="1"/>
          <p:nvPr/>
        </p:nvSpPr>
        <p:spPr>
          <a:xfrm>
            <a:off x="5632704" y="3776091"/>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Forum criteria (strategic / ops / regulatory / size) — applied by sub-team</a:t>
            </a:r>
          </a:p>
        </p:txBody>
      </p:sp>
      <p:sp>
        <p:nvSpPr>
          <p:cNvPr id="205" name="Rectangle 204">
            <a:extLst>
              <a:ext uri="{FF2B5EF4-FFF2-40B4-BE49-F238E27FC236}">
                <a16:creationId xmlns:a16="http://schemas.microsoft.com/office/drawing/2014/main" id="{3718599A-BCBF-6EBA-89FA-EAF48A79E253}"/>
              </a:ext>
            </a:extLst>
          </p:cNvPr>
          <p:cNvSpPr/>
          <p:nvPr/>
        </p:nvSpPr>
        <p:spPr>
          <a:xfrm>
            <a:off x="7763256" y="3730371"/>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06" name="TextBox 205">
            <a:extLst>
              <a:ext uri="{FF2B5EF4-FFF2-40B4-BE49-F238E27FC236}">
                <a16:creationId xmlns:a16="http://schemas.microsoft.com/office/drawing/2014/main" id="{A90E0343-13CA-6C85-21DA-ED0A32AF9D35}"/>
              </a:ext>
            </a:extLst>
          </p:cNvPr>
          <p:cNvSpPr txBox="1"/>
          <p:nvPr/>
        </p:nvSpPr>
        <p:spPr>
          <a:xfrm>
            <a:off x="7854696" y="3776091"/>
            <a:ext cx="1984248"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 SharePoint · Confluence</a:t>
            </a:r>
          </a:p>
        </p:txBody>
      </p:sp>
      <p:sp>
        <p:nvSpPr>
          <p:cNvPr id="207" name="Rectangle 206">
            <a:extLst>
              <a:ext uri="{FF2B5EF4-FFF2-40B4-BE49-F238E27FC236}">
                <a16:creationId xmlns:a16="http://schemas.microsoft.com/office/drawing/2014/main" id="{BDCAED7D-1160-F59A-E3EE-82B3D08AA5C7}"/>
              </a:ext>
            </a:extLst>
          </p:cNvPr>
          <p:cNvSpPr/>
          <p:nvPr/>
        </p:nvSpPr>
        <p:spPr>
          <a:xfrm>
            <a:off x="9985248" y="3730371"/>
            <a:ext cx="1722000" cy="478687"/>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08" name="TextBox 207">
            <a:extLst>
              <a:ext uri="{FF2B5EF4-FFF2-40B4-BE49-F238E27FC236}">
                <a16:creationId xmlns:a16="http://schemas.microsoft.com/office/drawing/2014/main" id="{D9DD436C-1DAB-44C1-A7C3-469747D8FAE2}"/>
              </a:ext>
            </a:extLst>
          </p:cNvPr>
          <p:cNvSpPr txBox="1"/>
          <p:nvPr/>
        </p:nvSpPr>
        <p:spPr>
          <a:xfrm>
            <a:off x="10076688" y="3776091"/>
            <a:ext cx="1576843"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SWF delivery pipeline · vendor stacks (per sub-team)</a:t>
            </a:r>
          </a:p>
        </p:txBody>
      </p:sp>
      <p:sp>
        <p:nvSpPr>
          <p:cNvPr id="209" name="Rectangle 208">
            <a:extLst>
              <a:ext uri="{FF2B5EF4-FFF2-40B4-BE49-F238E27FC236}">
                <a16:creationId xmlns:a16="http://schemas.microsoft.com/office/drawing/2014/main" id="{530E9525-60DB-291D-4085-A9504144C1DC}"/>
              </a:ext>
            </a:extLst>
          </p:cNvPr>
          <p:cNvSpPr/>
          <p:nvPr/>
        </p:nvSpPr>
        <p:spPr>
          <a:xfrm>
            <a:off x="457200" y="4260723"/>
            <a:ext cx="594360" cy="493776"/>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10" name="TextBox 209">
            <a:extLst>
              <a:ext uri="{FF2B5EF4-FFF2-40B4-BE49-F238E27FC236}">
                <a16:creationId xmlns:a16="http://schemas.microsoft.com/office/drawing/2014/main" id="{D4A5E6AE-05E8-783B-AD71-95E3C74C0305}"/>
              </a:ext>
            </a:extLst>
          </p:cNvPr>
          <p:cNvSpPr txBox="1"/>
          <p:nvPr/>
        </p:nvSpPr>
        <p:spPr>
          <a:xfrm>
            <a:off x="457200" y="4409988"/>
            <a:ext cx="594360" cy="195246"/>
          </a:xfrm>
          <a:prstGeom prst="rect">
            <a:avLst/>
          </a:prstGeom>
          <a:noFill/>
        </p:spPr>
        <p:txBody>
          <a:bodyPr wrap="square" lIns="0" tIns="0" rIns="0" bIns="0" anchor="ctr">
            <a:spAutoFit/>
          </a:bodyPr>
          <a:lstStyle/>
          <a:p>
            <a:pPr algn="ctr">
              <a:lnSpc>
                <a:spcPct val="110000"/>
              </a:lnSpc>
              <a:spcBef>
                <a:spcPts val="0"/>
              </a:spcBef>
              <a:spcAft>
                <a:spcPts val="0"/>
              </a:spcAft>
            </a:pPr>
            <a:r>
              <a:rPr lang="en-US" sz="600" b="1" i="0" noProof="0">
                <a:solidFill>
                  <a:srgbClr val="FFFFFF"/>
                </a:solidFill>
                <a:latin typeface="Helvetica Neue"/>
              </a:rPr>
              <a:t>GOVERNANCE  &amp;  METRICS</a:t>
            </a:r>
          </a:p>
        </p:txBody>
      </p:sp>
      <p:sp>
        <p:nvSpPr>
          <p:cNvPr id="211" name="Rectangle 210">
            <a:extLst>
              <a:ext uri="{FF2B5EF4-FFF2-40B4-BE49-F238E27FC236}">
                <a16:creationId xmlns:a16="http://schemas.microsoft.com/office/drawing/2014/main" id="{4F65EDCD-AE8A-7E4B-8196-8BCF8DBCCC54}"/>
              </a:ext>
            </a:extLst>
          </p:cNvPr>
          <p:cNvSpPr/>
          <p:nvPr/>
        </p:nvSpPr>
        <p:spPr>
          <a:xfrm>
            <a:off x="1097280" y="4260723"/>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12" name="TextBox 211">
            <a:extLst>
              <a:ext uri="{FF2B5EF4-FFF2-40B4-BE49-F238E27FC236}">
                <a16:creationId xmlns:a16="http://schemas.microsoft.com/office/drawing/2014/main" id="{9447FF93-8DC8-5C2D-AB4A-8DA888994186}"/>
              </a:ext>
            </a:extLst>
          </p:cNvPr>
          <p:cNvSpPr txBox="1"/>
          <p:nvPr/>
        </p:nvSpPr>
        <p:spPr>
          <a:xfrm>
            <a:off x="1188720" y="4306443"/>
            <a:ext cx="1984248" cy="139590"/>
          </a:xfrm>
          <a:prstGeom prst="rect">
            <a:avLst/>
          </a:prstGeom>
          <a:noFill/>
        </p:spPr>
        <p:txBody>
          <a:bodyPr wrap="square" lIns="0" tIns="0" rIns="0" bIns="0" anchor="t">
            <a:spAutoFit/>
          </a:bodyPr>
          <a:lstStyle/>
          <a:p>
            <a:pPr>
              <a:lnSpc>
                <a:spcPct val="110000"/>
              </a:lnSpc>
            </a:pPr>
            <a:r>
              <a:rPr lang="en-US" sz="900" noProof="0">
                <a:solidFill>
                  <a:srgbClr val="2C3E50"/>
                </a:solidFill>
                <a:latin typeface="Helvetica Neue"/>
              </a:rPr>
              <a:t>No branch-wide governance</a:t>
            </a:r>
          </a:p>
        </p:txBody>
      </p:sp>
      <p:sp>
        <p:nvSpPr>
          <p:cNvPr id="213" name="Rectangle 212">
            <a:extLst>
              <a:ext uri="{FF2B5EF4-FFF2-40B4-BE49-F238E27FC236}">
                <a16:creationId xmlns:a16="http://schemas.microsoft.com/office/drawing/2014/main" id="{CCE32659-EB62-E730-252C-266BB35AB1E7}"/>
              </a:ext>
            </a:extLst>
          </p:cNvPr>
          <p:cNvSpPr/>
          <p:nvPr/>
        </p:nvSpPr>
        <p:spPr>
          <a:xfrm>
            <a:off x="3319272" y="4260723"/>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14" name="TextBox 213">
            <a:extLst>
              <a:ext uri="{FF2B5EF4-FFF2-40B4-BE49-F238E27FC236}">
                <a16:creationId xmlns:a16="http://schemas.microsoft.com/office/drawing/2014/main" id="{83DD3FA8-2D1B-35BD-8D09-828096C6724A}"/>
              </a:ext>
            </a:extLst>
          </p:cNvPr>
          <p:cNvSpPr txBox="1"/>
          <p:nvPr/>
        </p:nvSpPr>
        <p:spPr>
          <a:xfrm>
            <a:off x="3410712" y="4306443"/>
            <a:ext cx="1984248" cy="139590"/>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Double routing: PMO / BRS</a:t>
            </a:r>
          </a:p>
        </p:txBody>
      </p:sp>
      <p:sp>
        <p:nvSpPr>
          <p:cNvPr id="215" name="Rectangle 214">
            <a:extLst>
              <a:ext uri="{FF2B5EF4-FFF2-40B4-BE49-F238E27FC236}">
                <a16:creationId xmlns:a16="http://schemas.microsoft.com/office/drawing/2014/main" id="{878F99B9-2A0E-DBEA-C296-04264761EF43}"/>
              </a:ext>
            </a:extLst>
          </p:cNvPr>
          <p:cNvSpPr/>
          <p:nvPr/>
        </p:nvSpPr>
        <p:spPr>
          <a:xfrm>
            <a:off x="5541264" y="4260723"/>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16" name="TextBox 215">
            <a:extLst>
              <a:ext uri="{FF2B5EF4-FFF2-40B4-BE49-F238E27FC236}">
                <a16:creationId xmlns:a16="http://schemas.microsoft.com/office/drawing/2014/main" id="{5120BAC4-BD12-F4C6-7AD2-73349BED7C60}"/>
              </a:ext>
            </a:extLst>
          </p:cNvPr>
          <p:cNvSpPr txBox="1"/>
          <p:nvPr/>
        </p:nvSpPr>
        <p:spPr>
          <a:xfrm>
            <a:off x="5632704" y="4306443"/>
            <a:ext cx="1984248" cy="29193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No formal model; regulatory overrides size</a:t>
            </a:r>
          </a:p>
        </p:txBody>
      </p:sp>
      <p:sp>
        <p:nvSpPr>
          <p:cNvPr id="217" name="Rectangle 216">
            <a:extLst>
              <a:ext uri="{FF2B5EF4-FFF2-40B4-BE49-F238E27FC236}">
                <a16:creationId xmlns:a16="http://schemas.microsoft.com/office/drawing/2014/main" id="{C2356896-E6E0-43B3-AC0E-5C187919F458}"/>
              </a:ext>
            </a:extLst>
          </p:cNvPr>
          <p:cNvSpPr/>
          <p:nvPr/>
        </p:nvSpPr>
        <p:spPr>
          <a:xfrm>
            <a:off x="7763256" y="4260723"/>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18" name="TextBox 217">
            <a:extLst>
              <a:ext uri="{FF2B5EF4-FFF2-40B4-BE49-F238E27FC236}">
                <a16:creationId xmlns:a16="http://schemas.microsoft.com/office/drawing/2014/main" id="{FBF1B9E6-1D07-8C6D-C132-35B910BA628D}"/>
              </a:ext>
            </a:extLst>
          </p:cNvPr>
          <p:cNvSpPr txBox="1"/>
          <p:nvPr/>
        </p:nvSpPr>
        <p:spPr>
          <a:xfrm>
            <a:off x="7854696" y="4306443"/>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7 OPCOs compete for the same IT capacity — multi-OPCO contention</a:t>
            </a:r>
          </a:p>
        </p:txBody>
      </p:sp>
      <p:sp>
        <p:nvSpPr>
          <p:cNvPr id="219" name="Rectangle 218">
            <a:extLst>
              <a:ext uri="{FF2B5EF4-FFF2-40B4-BE49-F238E27FC236}">
                <a16:creationId xmlns:a16="http://schemas.microsoft.com/office/drawing/2014/main" id="{4C94FDF5-B959-D07E-5F67-0CE4D16ECFB7}"/>
              </a:ext>
            </a:extLst>
          </p:cNvPr>
          <p:cNvSpPr/>
          <p:nvPr/>
        </p:nvSpPr>
        <p:spPr>
          <a:xfrm>
            <a:off x="9985248" y="4260723"/>
            <a:ext cx="1722000" cy="478687"/>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20" name="TextBox 219">
            <a:extLst>
              <a:ext uri="{FF2B5EF4-FFF2-40B4-BE49-F238E27FC236}">
                <a16:creationId xmlns:a16="http://schemas.microsoft.com/office/drawing/2014/main" id="{0080333F-2D34-0A90-66CB-B073E6C13A61}"/>
              </a:ext>
            </a:extLst>
          </p:cNvPr>
          <p:cNvSpPr txBox="1"/>
          <p:nvPr/>
        </p:nvSpPr>
        <p:spPr>
          <a:xfrm>
            <a:off x="10076688" y="4306443"/>
            <a:ext cx="1576843"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Heavy vendor concentration; </a:t>
            </a:r>
          </a:p>
        </p:txBody>
      </p:sp>
      <p:sp>
        <p:nvSpPr>
          <p:cNvPr id="221" name="Rectangle 220">
            <a:extLst>
              <a:ext uri="{FF2B5EF4-FFF2-40B4-BE49-F238E27FC236}">
                <a16:creationId xmlns:a16="http://schemas.microsoft.com/office/drawing/2014/main" id="{0A85CEAD-FAC9-C351-BB99-2A1C452CF95A}"/>
              </a:ext>
            </a:extLst>
          </p:cNvPr>
          <p:cNvSpPr/>
          <p:nvPr/>
        </p:nvSpPr>
        <p:spPr>
          <a:xfrm>
            <a:off x="457200" y="4864226"/>
            <a:ext cx="11274552" cy="1348445"/>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22" name="Rectangle 221">
            <a:extLst>
              <a:ext uri="{FF2B5EF4-FFF2-40B4-BE49-F238E27FC236}">
                <a16:creationId xmlns:a16="http://schemas.microsoft.com/office/drawing/2014/main" id="{6DE928F7-7167-86DA-A523-B168010F1674}"/>
              </a:ext>
            </a:extLst>
          </p:cNvPr>
          <p:cNvSpPr/>
          <p:nvPr/>
        </p:nvSpPr>
        <p:spPr>
          <a:xfrm>
            <a:off x="457200" y="4864227"/>
            <a:ext cx="73152" cy="12984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23" name="TextBox 222">
            <a:extLst>
              <a:ext uri="{FF2B5EF4-FFF2-40B4-BE49-F238E27FC236}">
                <a16:creationId xmlns:a16="http://schemas.microsoft.com/office/drawing/2014/main" id="{50AD931C-B603-7284-263D-5D063C0A0F99}"/>
              </a:ext>
            </a:extLst>
          </p:cNvPr>
          <p:cNvSpPr txBox="1"/>
          <p:nvPr/>
        </p:nvSpPr>
        <p:spPr>
          <a:xfrm>
            <a:off x="640080" y="4909947"/>
            <a:ext cx="5486400"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1" i="0" noProof="0">
                <a:solidFill>
                  <a:schemeClr val="accent1"/>
                </a:solidFill>
                <a:latin typeface="Helvetica Neue"/>
              </a:rPr>
              <a:t>KEY PATTERNS  —  WHAT THE FINDINGS REVEAL</a:t>
            </a:r>
          </a:p>
        </p:txBody>
      </p:sp>
      <p:sp>
        <p:nvSpPr>
          <p:cNvPr id="224" name="TextBox 223">
            <a:extLst>
              <a:ext uri="{FF2B5EF4-FFF2-40B4-BE49-F238E27FC236}">
                <a16:creationId xmlns:a16="http://schemas.microsoft.com/office/drawing/2014/main" id="{95848E94-ED67-CC6A-2E05-EEA1FA34B8DC}"/>
              </a:ext>
            </a:extLst>
          </p:cNvPr>
          <p:cNvSpPr txBox="1"/>
          <p:nvPr/>
        </p:nvSpPr>
        <p:spPr>
          <a:xfrm>
            <a:off x="6400800" y="4909947"/>
            <a:ext cx="5166360"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1" i="0" noProof="0">
                <a:solidFill>
                  <a:srgbClr val="00B050"/>
                </a:solidFill>
                <a:latin typeface="Helvetica Neue"/>
              </a:rPr>
              <a:t>SUPPORTING QUOTE</a:t>
            </a:r>
          </a:p>
        </p:txBody>
      </p:sp>
      <p:sp>
        <p:nvSpPr>
          <p:cNvPr id="225" name="TextBox 224">
            <a:extLst>
              <a:ext uri="{FF2B5EF4-FFF2-40B4-BE49-F238E27FC236}">
                <a16:creationId xmlns:a16="http://schemas.microsoft.com/office/drawing/2014/main" id="{50600D55-E953-6F79-E1C1-53B5473A912D}"/>
              </a:ext>
            </a:extLst>
          </p:cNvPr>
          <p:cNvSpPr txBox="1"/>
          <p:nvPr/>
        </p:nvSpPr>
        <p:spPr>
          <a:xfrm>
            <a:off x="6400800" y="5156835"/>
            <a:ext cx="5166360" cy="9326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1" noProof="0">
                <a:solidFill>
                  <a:srgbClr val="2C3E50"/>
                </a:solidFill>
                <a:latin typeface="Helvetica Neue"/>
              </a:rPr>
              <a:t>"Who is in charge of what — 3 people can run the payment jobs for example. Resource allocation — multiple OPCOs competing by capacity" — CS Director + Business-side lead  —  Customer Services</a:t>
            </a:r>
          </a:p>
        </p:txBody>
      </p:sp>
      <p:sp>
        <p:nvSpPr>
          <p:cNvPr id="226" name="TextBox 225">
            <a:extLst>
              <a:ext uri="{FF2B5EF4-FFF2-40B4-BE49-F238E27FC236}">
                <a16:creationId xmlns:a16="http://schemas.microsoft.com/office/drawing/2014/main" id="{99F986B2-8D90-9791-07B0-C56200BFF5ED}"/>
              </a:ext>
            </a:extLst>
          </p:cNvPr>
          <p:cNvSpPr txBox="1"/>
          <p:nvPr/>
        </p:nvSpPr>
        <p:spPr>
          <a:xfrm>
            <a:off x="640080" y="5156835"/>
            <a:ext cx="5486400" cy="749885"/>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  Three parallel ownership tracks without a routing rule —PMO for large projects, BRS for business-funded work, IT-funded for CS Director's teams — the same request can land in any of them, blurring accountability and prioritization</a:t>
            </a:r>
          </a:p>
          <a:p>
            <a:pPr algn="l">
              <a:lnSpc>
                <a:spcPct val="110000"/>
              </a:lnSpc>
              <a:spcBef>
                <a:spcPts val="0"/>
              </a:spcBef>
              <a:spcAft>
                <a:spcPts val="0"/>
              </a:spcAft>
            </a:pPr>
            <a:r>
              <a:rPr lang="en-US" sz="900" b="0" i="0" noProof="0">
                <a:solidFill>
                  <a:srgbClr val="2C3E50"/>
                </a:solidFill>
                <a:latin typeface="Helvetica Neue"/>
              </a:rPr>
              <a:t>▸  PM + SAP Architect roles are in place for large projects— the gap is not in roles, it's in branch-wide portfolio visibility</a:t>
            </a:r>
          </a:p>
        </p:txBody>
      </p:sp>
      <p:sp>
        <p:nvSpPr>
          <p:cNvPr id="227" name="Rectangle 226">
            <a:extLst>
              <a:ext uri="{FF2B5EF4-FFF2-40B4-BE49-F238E27FC236}">
                <a16:creationId xmlns:a16="http://schemas.microsoft.com/office/drawing/2014/main" id="{632078C6-70E0-3969-CEB0-6418B714533D}"/>
              </a:ext>
            </a:extLst>
          </p:cNvPr>
          <p:cNvSpPr/>
          <p:nvPr/>
        </p:nvSpPr>
        <p:spPr>
          <a:xfrm>
            <a:off x="458724" y="6227761"/>
            <a:ext cx="11274552" cy="5029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28" name="TextBox 227">
            <a:extLst>
              <a:ext uri="{FF2B5EF4-FFF2-40B4-BE49-F238E27FC236}">
                <a16:creationId xmlns:a16="http://schemas.microsoft.com/office/drawing/2014/main" id="{0865CAD3-CE21-0E0B-D947-3BC1B45974FA}"/>
              </a:ext>
            </a:extLst>
          </p:cNvPr>
          <p:cNvSpPr txBox="1"/>
          <p:nvPr/>
        </p:nvSpPr>
        <p:spPr>
          <a:xfrm>
            <a:off x="685800" y="6281441"/>
            <a:ext cx="10817352" cy="356829"/>
          </a:xfrm>
          <a:prstGeom prst="rect">
            <a:avLst/>
          </a:prstGeom>
          <a:noFill/>
        </p:spPr>
        <p:txBody>
          <a:bodyPr wrap="square" lIns="0" tIns="0" rIns="0" bIns="0" anchor="ctr">
            <a:spAutoFit/>
          </a:bodyPr>
          <a:lstStyle/>
          <a:p>
            <a:pPr algn="l">
              <a:lnSpc>
                <a:spcPct val="110000"/>
              </a:lnSpc>
              <a:spcBef>
                <a:spcPts val="0"/>
              </a:spcBef>
              <a:spcAft>
                <a:spcPts val="0"/>
              </a:spcAft>
            </a:pPr>
            <a:r>
              <a:rPr lang="en-US" sz="1100" b="0" i="0" noProof="0">
                <a:solidFill>
                  <a:srgbClr val="FFFFFF"/>
                </a:solidFill>
                <a:highlight>
                  <a:srgbClr val="FFFF00"/>
                </a:highlight>
                <a:latin typeface="Helvetica Neue"/>
              </a:rPr>
              <a:t>Smart Metering's model (PPM Now + weekly PM meeting + 100% vendor delivery) is the only mature practice in Customer Service branch — it is also the blueprint and the warning sign</a:t>
            </a:r>
          </a:p>
        </p:txBody>
      </p:sp>
      <p:sp>
        <p:nvSpPr>
          <p:cNvPr id="3" name="Rounded Rectangle 26">
            <a:extLst>
              <a:ext uri="{FF2B5EF4-FFF2-40B4-BE49-F238E27FC236}">
                <a16:creationId xmlns:a16="http://schemas.microsoft.com/office/drawing/2014/main" id="{AAE6C0F0-6191-DF3B-20AB-846572981E92}"/>
              </a:ext>
            </a:extLst>
          </p:cNvPr>
          <p:cNvSpPr/>
          <p:nvPr/>
        </p:nvSpPr>
        <p:spPr>
          <a:xfrm>
            <a:off x="1653540" y="2422110"/>
            <a:ext cx="1097280" cy="182880"/>
          </a:xfrm>
          <a:prstGeom prst="round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4" name="TextBox 24">
            <a:extLst>
              <a:ext uri="{FF2B5EF4-FFF2-40B4-BE49-F238E27FC236}">
                <a16:creationId xmlns:a16="http://schemas.microsoft.com/office/drawing/2014/main" id="{CEEFDC86-8801-E882-8179-B22009D1A4D7}"/>
              </a:ext>
            </a:extLst>
          </p:cNvPr>
          <p:cNvSpPr txBox="1"/>
          <p:nvPr/>
        </p:nvSpPr>
        <p:spPr>
          <a:xfrm>
            <a:off x="1645158" y="2443306"/>
            <a:ext cx="1097280" cy="140488"/>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i="0" noProof="0">
                <a:solidFill>
                  <a:schemeClr val="bg1"/>
                </a:solidFill>
                <a:latin typeface="Helvetica Neue"/>
              </a:rPr>
              <a:t>PARTIAL</a:t>
            </a:r>
          </a:p>
        </p:txBody>
      </p:sp>
      <p:sp>
        <p:nvSpPr>
          <p:cNvPr id="13" name="Rectangle: Rounded Corners 1">
            <a:extLst>
              <a:ext uri="{FF2B5EF4-FFF2-40B4-BE49-F238E27FC236}">
                <a16:creationId xmlns:a16="http://schemas.microsoft.com/office/drawing/2014/main" id="{AB89F621-6660-5F87-9F15-0DCC26AB42A3}"/>
              </a:ext>
            </a:extLst>
          </p:cNvPr>
          <p:cNvSpPr/>
          <p:nvPr/>
        </p:nvSpPr>
        <p:spPr>
          <a:xfrm>
            <a:off x="7114339" y="186528"/>
            <a:ext cx="1668780" cy="343539"/>
          </a:xfrm>
          <a:prstGeom prst="roundRect">
            <a:avLst/>
          </a:prstGeom>
          <a:solidFill>
            <a:schemeClr val="accent4">
              <a:lumMod val="75000"/>
            </a:schemeClr>
          </a:solidFill>
          <a:ln>
            <a:solidFill>
              <a:schemeClr val="accent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a:solidFill>
                  <a:schemeClr val="bg1">
                    <a:lumMod val="85000"/>
                  </a:schemeClr>
                </a:solidFill>
              </a:rPr>
              <a:t>IT Business Apps</a:t>
            </a:r>
          </a:p>
        </p:txBody>
      </p:sp>
      <p:sp>
        <p:nvSpPr>
          <p:cNvPr id="20" name="Rectangle: Rounded Corners 19">
            <a:extLst>
              <a:ext uri="{FF2B5EF4-FFF2-40B4-BE49-F238E27FC236}">
                <a16:creationId xmlns:a16="http://schemas.microsoft.com/office/drawing/2014/main" id="{2BD0642B-F599-2608-899D-3E3BAB9489CA}"/>
              </a:ext>
            </a:extLst>
          </p:cNvPr>
          <p:cNvSpPr/>
          <p:nvPr/>
        </p:nvSpPr>
        <p:spPr>
          <a:xfrm>
            <a:off x="8846491" y="186528"/>
            <a:ext cx="1668780" cy="343539"/>
          </a:xfrm>
          <a:prstGeom prst="roundRect">
            <a:avLst/>
          </a:prstGeom>
          <a:solidFill>
            <a:schemeClr val="accent3"/>
          </a:solid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a:t>Customer Services Apps</a:t>
            </a:r>
          </a:p>
        </p:txBody>
      </p:sp>
    </p:spTree>
    <p:extLst>
      <p:ext uri="{BB962C8B-B14F-4D97-AF65-F5344CB8AC3E}">
        <p14:creationId xmlns:p14="http://schemas.microsoft.com/office/powerpoint/2010/main" val="4081523922"/>
      </p:ext>
    </p:extLst>
  </p:cSld>
  <p:clrMapOvr>
    <a:masterClrMapping/>
  </p:clrMapOvr>
  <p:extLst>
    <p:ext uri="{6950BFC3-D8DA-4A85-94F7-54DA5524770B}">
      <p188:commentRel xmlns:p188="http://schemas.microsoft.com/office/powerpoint/2018/8/main" r:id="rId3"/>
    </p:ext>
  </p:extLs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22DC26-74CE-E5BD-6C95-645266C1BC80}"/>
            </a:ext>
          </a:extLst>
        </p:cNvPr>
        <p:cNvGrpSpPr/>
        <p:nvPr/>
      </p:nvGrpSpPr>
      <p:grpSpPr>
        <a:xfrm>
          <a:off x="0" y="0"/>
          <a:ext cx="0" cy="0"/>
          <a:chOff x="0" y="0"/>
          <a:chExt cx="0" cy="0"/>
        </a:xfrm>
      </p:grpSpPr>
      <p:sp>
        <p:nvSpPr>
          <p:cNvPr id="165" name="TextBox 2">
            <a:extLst>
              <a:ext uri="{FF2B5EF4-FFF2-40B4-BE49-F238E27FC236}">
                <a16:creationId xmlns:a16="http://schemas.microsoft.com/office/drawing/2014/main" id="{6F1B9139-9FD4-EA6E-327F-4E59F647EEE7}"/>
              </a:ext>
            </a:extLst>
          </p:cNvPr>
          <p:cNvSpPr txBox="1"/>
          <p:nvPr/>
        </p:nvSpPr>
        <p:spPr>
          <a:xfrm>
            <a:off x="457201" y="964799"/>
            <a:ext cx="11463124" cy="523220"/>
          </a:xfrm>
          <a:prstGeom prst="rect">
            <a:avLst/>
          </a:prstGeom>
          <a:noFill/>
        </p:spPr>
        <p:txBody>
          <a:bodyPr wrap="square" lIns="0" tIns="0" rIns="0" bIns="0" rtlCol="0">
            <a:noAutofit/>
          </a:bodyPr>
          <a:lstStyle>
            <a:defPPr>
              <a:defRPr lang="en-US"/>
            </a:defPPr>
            <a:lvl1pPr algn="just">
              <a:defRPr sz="1400" b="1">
                <a:solidFill>
                  <a:schemeClr val="accent4">
                    <a:lumMod val="75000"/>
                  </a:schemeClr>
                </a:solidFill>
                <a:latin typeface="Arial" panose="020B0604020202020204" pitchFamily="34" charset="0"/>
                <a:cs typeface="Arial" panose="020B0604020202020204" pitchFamily="34" charset="0"/>
              </a:defRPr>
            </a:lvl1pPr>
            <a:lvl2pPr marL="228586" algn="l" rtl="0" eaLnBrk="0" fontAlgn="base" hangingPunct="0">
              <a:spcBef>
                <a:spcPct val="0"/>
              </a:spcBef>
              <a:spcAft>
                <a:spcPct val="0"/>
              </a:spcAft>
              <a:defRPr kern="1200">
                <a:solidFill>
                  <a:schemeClr val="tx1"/>
                </a:solidFill>
                <a:latin typeface="Arial" pitchFamily="2" charset="77"/>
                <a:ea typeface="+mn-ea"/>
                <a:cs typeface="+mn-cs"/>
              </a:defRPr>
            </a:lvl2pPr>
            <a:lvl3pPr marL="457172" algn="l" rtl="0" eaLnBrk="0" fontAlgn="base" hangingPunct="0">
              <a:spcBef>
                <a:spcPct val="0"/>
              </a:spcBef>
              <a:spcAft>
                <a:spcPct val="0"/>
              </a:spcAft>
              <a:defRPr kern="1200">
                <a:solidFill>
                  <a:schemeClr val="tx1"/>
                </a:solidFill>
                <a:latin typeface="Arial" pitchFamily="2" charset="77"/>
                <a:ea typeface="+mn-ea"/>
                <a:cs typeface="+mn-cs"/>
              </a:defRPr>
            </a:lvl3pPr>
            <a:lvl4pPr marL="685757" algn="l" rtl="0" eaLnBrk="0" fontAlgn="base" hangingPunct="0">
              <a:spcBef>
                <a:spcPct val="0"/>
              </a:spcBef>
              <a:spcAft>
                <a:spcPct val="0"/>
              </a:spcAft>
              <a:defRPr kern="1200">
                <a:solidFill>
                  <a:schemeClr val="tx1"/>
                </a:solidFill>
                <a:latin typeface="Arial" pitchFamily="2" charset="77"/>
                <a:ea typeface="+mn-ea"/>
                <a:cs typeface="+mn-cs"/>
              </a:defRPr>
            </a:lvl4pPr>
            <a:lvl5pPr marL="914343" algn="l" rtl="0" eaLnBrk="0" fontAlgn="base" hangingPunct="0">
              <a:spcBef>
                <a:spcPct val="0"/>
              </a:spcBef>
              <a:spcAft>
                <a:spcPct val="0"/>
              </a:spcAft>
              <a:defRPr kern="1200">
                <a:solidFill>
                  <a:schemeClr val="tx1"/>
                </a:solidFill>
                <a:latin typeface="Arial" pitchFamily="2" charset="77"/>
                <a:ea typeface="+mn-ea"/>
                <a:cs typeface="+mn-cs"/>
              </a:defRPr>
            </a:lvl5pPr>
            <a:lvl6pPr marL="1142929" algn="l" defTabSz="457172" rtl="0" eaLnBrk="1" latinLnBrk="0" hangingPunct="1">
              <a:defRPr kern="1200">
                <a:solidFill>
                  <a:schemeClr val="tx1"/>
                </a:solidFill>
                <a:latin typeface="Arial" pitchFamily="2" charset="77"/>
                <a:ea typeface="+mn-ea"/>
                <a:cs typeface="+mn-cs"/>
              </a:defRPr>
            </a:lvl6pPr>
            <a:lvl7pPr marL="1371515" algn="l" defTabSz="457172" rtl="0" eaLnBrk="1" latinLnBrk="0" hangingPunct="1">
              <a:defRPr kern="1200">
                <a:solidFill>
                  <a:schemeClr val="tx1"/>
                </a:solidFill>
                <a:latin typeface="Arial" pitchFamily="2" charset="77"/>
                <a:ea typeface="+mn-ea"/>
                <a:cs typeface="+mn-cs"/>
              </a:defRPr>
            </a:lvl7pPr>
            <a:lvl8pPr marL="1600100" algn="l" defTabSz="457172" rtl="0" eaLnBrk="1" latinLnBrk="0" hangingPunct="1">
              <a:defRPr kern="1200">
                <a:solidFill>
                  <a:schemeClr val="tx1"/>
                </a:solidFill>
                <a:latin typeface="Arial" pitchFamily="2" charset="77"/>
                <a:ea typeface="+mn-ea"/>
                <a:cs typeface="+mn-cs"/>
              </a:defRPr>
            </a:lvl8pPr>
            <a:lvl9pPr marL="1828686" algn="l" defTabSz="457172" rtl="0" eaLnBrk="1" latinLnBrk="0" hangingPunct="1">
              <a:defRPr kern="1200">
                <a:solidFill>
                  <a:schemeClr val="tx1"/>
                </a:solidFill>
                <a:latin typeface="Arial" pitchFamily="2" charset="77"/>
                <a:ea typeface="+mn-ea"/>
                <a:cs typeface="+mn-cs"/>
              </a:defRPr>
            </a:lvl9p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F9ED5">
                    <a:lumMod val="75000"/>
                  </a:srgbClr>
                </a:solidFill>
                <a:effectLst/>
                <a:uLnTx/>
                <a:uFillTx/>
              </a:rPr>
              <a:t>Nine recurring forums exist — but none covers portfolio-level decisions</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a:ln>
                <a:noFill/>
              </a:ln>
              <a:solidFill>
                <a:srgbClr val="0F9ED5">
                  <a:lumMod val="75000"/>
                </a:srgbClr>
              </a:solidFill>
              <a:effectLst/>
              <a:uLnTx/>
              <a:uFillTx/>
            </a:endParaRPr>
          </a:p>
        </p:txBody>
      </p:sp>
      <p:sp>
        <p:nvSpPr>
          <p:cNvPr id="14" name="Rectangle 13">
            <a:extLst>
              <a:ext uri="{FF2B5EF4-FFF2-40B4-BE49-F238E27FC236}">
                <a16:creationId xmlns:a16="http://schemas.microsoft.com/office/drawing/2014/main" id="{67000AC6-6F42-C646-6216-8F65C5B5CF7D}"/>
              </a:ext>
            </a:extLst>
          </p:cNvPr>
          <p:cNvSpPr/>
          <p:nvPr/>
        </p:nvSpPr>
        <p:spPr>
          <a:xfrm>
            <a:off x="457200" y="1417320"/>
            <a:ext cx="11274552"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92E3B2A3-496C-0D5A-0960-A1EA9A9CD2B6}"/>
              </a:ext>
            </a:extLst>
          </p:cNvPr>
          <p:cNvSpPr txBox="1"/>
          <p:nvPr/>
        </p:nvSpPr>
        <p:spPr>
          <a:xfrm>
            <a:off x="3063240" y="1529348"/>
            <a:ext cx="2743200" cy="187424"/>
          </a:xfrm>
          <a:prstGeom prst="rect">
            <a:avLst/>
          </a:prstGeom>
          <a:solidFill>
            <a:schemeClr val="accent1"/>
          </a:solid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rial" panose="020B0604020202020204" pitchFamily="34" charset="0"/>
                <a:cs typeface="Arial" panose="020B0604020202020204" pitchFamily="34" charset="0"/>
              </a:rPr>
              <a:t>FORUM</a:t>
            </a:r>
          </a:p>
        </p:txBody>
      </p:sp>
      <p:sp>
        <p:nvSpPr>
          <p:cNvPr id="16" name="TextBox 15">
            <a:extLst>
              <a:ext uri="{FF2B5EF4-FFF2-40B4-BE49-F238E27FC236}">
                <a16:creationId xmlns:a16="http://schemas.microsoft.com/office/drawing/2014/main" id="{822F6982-923F-3624-D90B-FA9BC7DEB235}"/>
              </a:ext>
            </a:extLst>
          </p:cNvPr>
          <p:cNvSpPr txBox="1"/>
          <p:nvPr/>
        </p:nvSpPr>
        <p:spPr>
          <a:xfrm>
            <a:off x="5654040" y="1529348"/>
            <a:ext cx="1097280" cy="187424"/>
          </a:xfrm>
          <a:prstGeom prst="rect">
            <a:avLst/>
          </a:prstGeom>
          <a:solidFill>
            <a:schemeClr val="accent1"/>
          </a:solid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rial" panose="020B0604020202020204" pitchFamily="34" charset="0"/>
                <a:cs typeface="Arial" panose="020B0604020202020204" pitchFamily="34" charset="0"/>
              </a:rPr>
              <a:t>CADENCE</a:t>
            </a:r>
          </a:p>
        </p:txBody>
      </p:sp>
      <p:sp>
        <p:nvSpPr>
          <p:cNvPr id="17" name="TextBox 16">
            <a:extLst>
              <a:ext uri="{FF2B5EF4-FFF2-40B4-BE49-F238E27FC236}">
                <a16:creationId xmlns:a16="http://schemas.microsoft.com/office/drawing/2014/main" id="{B1583A1A-8D2E-8F54-9E02-E66E8ACD2247}"/>
              </a:ext>
            </a:extLst>
          </p:cNvPr>
          <p:cNvSpPr txBox="1"/>
          <p:nvPr/>
        </p:nvSpPr>
        <p:spPr>
          <a:xfrm>
            <a:off x="6903720" y="1529348"/>
            <a:ext cx="3657600" cy="187424"/>
          </a:xfrm>
          <a:prstGeom prst="rect">
            <a:avLst/>
          </a:prstGeom>
          <a:solidFill>
            <a:schemeClr val="accent1"/>
          </a:solid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rial" panose="020B0604020202020204" pitchFamily="34" charset="0"/>
                <a:cs typeface="Arial" panose="020B0604020202020204" pitchFamily="34" charset="0"/>
              </a:rPr>
              <a:t>PARTICIPANTS</a:t>
            </a:r>
          </a:p>
        </p:txBody>
      </p:sp>
      <p:sp>
        <p:nvSpPr>
          <p:cNvPr id="18" name="TextBox 17">
            <a:extLst>
              <a:ext uri="{FF2B5EF4-FFF2-40B4-BE49-F238E27FC236}">
                <a16:creationId xmlns:a16="http://schemas.microsoft.com/office/drawing/2014/main" id="{D7207C72-F4A8-AC8F-ABD4-CD7A0349B3B7}"/>
              </a:ext>
            </a:extLst>
          </p:cNvPr>
          <p:cNvSpPr txBox="1"/>
          <p:nvPr/>
        </p:nvSpPr>
        <p:spPr>
          <a:xfrm>
            <a:off x="9484994" y="1518093"/>
            <a:ext cx="2139315" cy="187424"/>
          </a:xfrm>
          <a:prstGeom prst="rect">
            <a:avLst/>
          </a:prstGeom>
          <a:solidFill>
            <a:schemeClr val="accent1"/>
          </a:solid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rial" panose="020B0604020202020204" pitchFamily="34" charset="0"/>
                <a:cs typeface="Arial" panose="020B0604020202020204" pitchFamily="34" charset="0"/>
              </a:rPr>
              <a:t>DECISION SCOPE</a:t>
            </a:r>
          </a:p>
        </p:txBody>
      </p:sp>
      <p:sp>
        <p:nvSpPr>
          <p:cNvPr id="19" name="Rectangle 18">
            <a:extLst>
              <a:ext uri="{FF2B5EF4-FFF2-40B4-BE49-F238E27FC236}">
                <a16:creationId xmlns:a16="http://schemas.microsoft.com/office/drawing/2014/main" id="{B35C606B-E5CE-A4A5-0377-36D39B64C1ED}"/>
              </a:ext>
            </a:extLst>
          </p:cNvPr>
          <p:cNvSpPr/>
          <p:nvPr/>
        </p:nvSpPr>
        <p:spPr>
          <a:xfrm>
            <a:off x="457200" y="1874519"/>
            <a:ext cx="11274552" cy="31884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20" name="TextBox 19">
            <a:extLst>
              <a:ext uri="{FF2B5EF4-FFF2-40B4-BE49-F238E27FC236}">
                <a16:creationId xmlns:a16="http://schemas.microsoft.com/office/drawing/2014/main" id="{86C419B1-5A06-DC17-EEAB-ABBF578AB522}"/>
              </a:ext>
            </a:extLst>
          </p:cNvPr>
          <p:cNvSpPr txBox="1"/>
          <p:nvPr/>
        </p:nvSpPr>
        <p:spPr>
          <a:xfrm>
            <a:off x="3063240" y="1955876"/>
            <a:ext cx="274320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Critical Integrations</a:t>
            </a:r>
          </a:p>
        </p:txBody>
      </p:sp>
      <p:sp>
        <p:nvSpPr>
          <p:cNvPr id="21" name="TextBox 20">
            <a:extLst>
              <a:ext uri="{FF2B5EF4-FFF2-40B4-BE49-F238E27FC236}">
                <a16:creationId xmlns:a16="http://schemas.microsoft.com/office/drawing/2014/main" id="{500DF263-9776-ED84-D612-245C1C4B8861}"/>
              </a:ext>
            </a:extLst>
          </p:cNvPr>
          <p:cNvSpPr txBox="1"/>
          <p:nvPr/>
        </p:nvSpPr>
        <p:spPr>
          <a:xfrm>
            <a:off x="5654040" y="1955876"/>
            <a:ext cx="109728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Weekly</a:t>
            </a:r>
          </a:p>
        </p:txBody>
      </p:sp>
      <p:sp>
        <p:nvSpPr>
          <p:cNvPr id="22" name="TextBox 21">
            <a:extLst>
              <a:ext uri="{FF2B5EF4-FFF2-40B4-BE49-F238E27FC236}">
                <a16:creationId xmlns:a16="http://schemas.microsoft.com/office/drawing/2014/main" id="{99BBCFE2-A396-84D9-C370-240902C76ABC}"/>
              </a:ext>
            </a:extLst>
          </p:cNvPr>
          <p:cNvSpPr txBox="1"/>
          <p:nvPr/>
        </p:nvSpPr>
        <p:spPr>
          <a:xfrm>
            <a:off x="6903720" y="1963699"/>
            <a:ext cx="3657600" cy="140488"/>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Business Apps, P&amp;S, Digital Products</a:t>
            </a:r>
          </a:p>
        </p:txBody>
      </p:sp>
      <p:sp>
        <p:nvSpPr>
          <p:cNvPr id="23" name="TextBox 22">
            <a:extLst>
              <a:ext uri="{FF2B5EF4-FFF2-40B4-BE49-F238E27FC236}">
                <a16:creationId xmlns:a16="http://schemas.microsoft.com/office/drawing/2014/main" id="{AE62C436-0E72-CCC8-2A17-C2755B158E92}"/>
              </a:ext>
            </a:extLst>
          </p:cNvPr>
          <p:cNvSpPr txBox="1"/>
          <p:nvPr/>
        </p:nvSpPr>
        <p:spPr>
          <a:xfrm>
            <a:off x="9484994" y="1963699"/>
            <a:ext cx="3776472" cy="140488"/>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Integration decisions across business apps</a:t>
            </a:r>
          </a:p>
        </p:txBody>
      </p:sp>
      <p:sp>
        <p:nvSpPr>
          <p:cNvPr id="24" name="Rectangle 23">
            <a:extLst>
              <a:ext uri="{FF2B5EF4-FFF2-40B4-BE49-F238E27FC236}">
                <a16:creationId xmlns:a16="http://schemas.microsoft.com/office/drawing/2014/main" id="{12C119FB-E559-EB2C-6F04-15E51EF88B3E}"/>
              </a:ext>
            </a:extLst>
          </p:cNvPr>
          <p:cNvSpPr/>
          <p:nvPr/>
        </p:nvSpPr>
        <p:spPr>
          <a:xfrm>
            <a:off x="457200" y="2202477"/>
            <a:ext cx="11274552" cy="3188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25" name="TextBox 24">
            <a:extLst>
              <a:ext uri="{FF2B5EF4-FFF2-40B4-BE49-F238E27FC236}">
                <a16:creationId xmlns:a16="http://schemas.microsoft.com/office/drawing/2014/main" id="{6C0860CD-1D0F-0BC6-F56C-D9F6ED3F9DB0}"/>
              </a:ext>
            </a:extLst>
          </p:cNvPr>
          <p:cNvSpPr txBox="1"/>
          <p:nvPr/>
        </p:nvSpPr>
        <p:spPr>
          <a:xfrm>
            <a:off x="3063240" y="2283834"/>
            <a:ext cx="274320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Daily BSS BI/BW Stand Up</a:t>
            </a:r>
          </a:p>
        </p:txBody>
      </p:sp>
      <p:sp>
        <p:nvSpPr>
          <p:cNvPr id="26" name="TextBox 25">
            <a:extLst>
              <a:ext uri="{FF2B5EF4-FFF2-40B4-BE49-F238E27FC236}">
                <a16:creationId xmlns:a16="http://schemas.microsoft.com/office/drawing/2014/main" id="{5E2C263E-E53B-1213-7046-FCA93FD843A7}"/>
              </a:ext>
            </a:extLst>
          </p:cNvPr>
          <p:cNvSpPr txBox="1"/>
          <p:nvPr/>
        </p:nvSpPr>
        <p:spPr>
          <a:xfrm>
            <a:off x="5654040" y="2283834"/>
            <a:ext cx="109728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Weekly</a:t>
            </a:r>
          </a:p>
        </p:txBody>
      </p:sp>
      <p:sp>
        <p:nvSpPr>
          <p:cNvPr id="27" name="TextBox 26">
            <a:extLst>
              <a:ext uri="{FF2B5EF4-FFF2-40B4-BE49-F238E27FC236}">
                <a16:creationId xmlns:a16="http://schemas.microsoft.com/office/drawing/2014/main" id="{B3ED6D73-06A7-07D1-686F-7A61444ACEE8}"/>
              </a:ext>
            </a:extLst>
          </p:cNvPr>
          <p:cNvSpPr txBox="1"/>
          <p:nvPr/>
        </p:nvSpPr>
        <p:spPr>
          <a:xfrm>
            <a:off x="6903720" y="2291657"/>
            <a:ext cx="3657600" cy="140488"/>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Data &amp; Analytics Teams, Digital Products</a:t>
            </a:r>
          </a:p>
        </p:txBody>
      </p:sp>
      <p:sp>
        <p:nvSpPr>
          <p:cNvPr id="28" name="TextBox 27">
            <a:extLst>
              <a:ext uri="{FF2B5EF4-FFF2-40B4-BE49-F238E27FC236}">
                <a16:creationId xmlns:a16="http://schemas.microsoft.com/office/drawing/2014/main" id="{5751EE31-D89A-A55A-B134-2A07F2332447}"/>
              </a:ext>
            </a:extLst>
          </p:cNvPr>
          <p:cNvSpPr txBox="1"/>
          <p:nvPr/>
        </p:nvSpPr>
        <p:spPr>
          <a:xfrm>
            <a:off x="9484994" y="2291657"/>
            <a:ext cx="3776472" cy="140488"/>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Daily BI/BW operations alignment</a:t>
            </a:r>
          </a:p>
        </p:txBody>
      </p:sp>
      <p:sp>
        <p:nvSpPr>
          <p:cNvPr id="29" name="Rectangle 28">
            <a:extLst>
              <a:ext uri="{FF2B5EF4-FFF2-40B4-BE49-F238E27FC236}">
                <a16:creationId xmlns:a16="http://schemas.microsoft.com/office/drawing/2014/main" id="{4179D0B2-006C-9BF9-1F65-C522A0F88E27}"/>
              </a:ext>
            </a:extLst>
          </p:cNvPr>
          <p:cNvSpPr/>
          <p:nvPr/>
        </p:nvSpPr>
        <p:spPr>
          <a:xfrm>
            <a:off x="457200" y="2530435"/>
            <a:ext cx="11274552" cy="31884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30" name="TextBox 29">
            <a:extLst>
              <a:ext uri="{FF2B5EF4-FFF2-40B4-BE49-F238E27FC236}">
                <a16:creationId xmlns:a16="http://schemas.microsoft.com/office/drawing/2014/main" id="{69138006-810D-8C10-51AD-E4814C9C00AA}"/>
              </a:ext>
            </a:extLst>
          </p:cNvPr>
          <p:cNvSpPr txBox="1"/>
          <p:nvPr/>
        </p:nvSpPr>
        <p:spPr>
          <a:xfrm>
            <a:off x="3063240" y="2611792"/>
            <a:ext cx="274320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Data, Analytics &amp; Solutions Check-In</a:t>
            </a:r>
          </a:p>
        </p:txBody>
      </p:sp>
      <p:sp>
        <p:nvSpPr>
          <p:cNvPr id="31" name="TextBox 30">
            <a:extLst>
              <a:ext uri="{FF2B5EF4-FFF2-40B4-BE49-F238E27FC236}">
                <a16:creationId xmlns:a16="http://schemas.microsoft.com/office/drawing/2014/main" id="{7ED0D94B-238C-5D29-6E8B-2E20AA376A84}"/>
              </a:ext>
            </a:extLst>
          </p:cNvPr>
          <p:cNvSpPr txBox="1"/>
          <p:nvPr/>
        </p:nvSpPr>
        <p:spPr>
          <a:xfrm>
            <a:off x="5654040" y="2611792"/>
            <a:ext cx="109728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Weekly</a:t>
            </a:r>
          </a:p>
        </p:txBody>
      </p:sp>
      <p:sp>
        <p:nvSpPr>
          <p:cNvPr id="32" name="TextBox 31">
            <a:extLst>
              <a:ext uri="{FF2B5EF4-FFF2-40B4-BE49-F238E27FC236}">
                <a16:creationId xmlns:a16="http://schemas.microsoft.com/office/drawing/2014/main" id="{A3357D38-D4E0-DB72-CACD-86EB10511916}"/>
              </a:ext>
            </a:extLst>
          </p:cNvPr>
          <p:cNvSpPr txBox="1"/>
          <p:nvPr/>
        </p:nvSpPr>
        <p:spPr>
          <a:xfrm>
            <a:off x="6903720" y="2619615"/>
            <a:ext cx="3657600" cy="140488"/>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Data &amp; Analytics Teams, Digital Products</a:t>
            </a:r>
          </a:p>
        </p:txBody>
      </p:sp>
      <p:sp>
        <p:nvSpPr>
          <p:cNvPr id="33" name="TextBox 32">
            <a:extLst>
              <a:ext uri="{FF2B5EF4-FFF2-40B4-BE49-F238E27FC236}">
                <a16:creationId xmlns:a16="http://schemas.microsoft.com/office/drawing/2014/main" id="{BA0589CF-D883-1AB3-42EC-41A7EFAF9268}"/>
              </a:ext>
            </a:extLst>
          </p:cNvPr>
          <p:cNvSpPr txBox="1"/>
          <p:nvPr/>
        </p:nvSpPr>
        <p:spPr>
          <a:xfrm>
            <a:off x="9484994" y="2619615"/>
            <a:ext cx="3776472" cy="140488"/>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Data &amp; analytics demand review</a:t>
            </a:r>
          </a:p>
        </p:txBody>
      </p:sp>
      <p:sp>
        <p:nvSpPr>
          <p:cNvPr id="34" name="Rectangle 33">
            <a:extLst>
              <a:ext uri="{FF2B5EF4-FFF2-40B4-BE49-F238E27FC236}">
                <a16:creationId xmlns:a16="http://schemas.microsoft.com/office/drawing/2014/main" id="{F839A6A2-EE70-FB81-A387-1A16E83A714B}"/>
              </a:ext>
            </a:extLst>
          </p:cNvPr>
          <p:cNvSpPr/>
          <p:nvPr/>
        </p:nvSpPr>
        <p:spPr>
          <a:xfrm>
            <a:off x="457200" y="2858394"/>
            <a:ext cx="11274552" cy="3188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35" name="TextBox 34">
            <a:extLst>
              <a:ext uri="{FF2B5EF4-FFF2-40B4-BE49-F238E27FC236}">
                <a16:creationId xmlns:a16="http://schemas.microsoft.com/office/drawing/2014/main" id="{05576065-1D23-F8C9-86C5-C1501DCE4F9E}"/>
              </a:ext>
            </a:extLst>
          </p:cNvPr>
          <p:cNvSpPr txBox="1"/>
          <p:nvPr/>
        </p:nvSpPr>
        <p:spPr>
          <a:xfrm>
            <a:off x="3063240" y="2939751"/>
            <a:ext cx="274320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CX &amp; Digital CMP Update</a:t>
            </a:r>
          </a:p>
        </p:txBody>
      </p:sp>
      <p:sp>
        <p:nvSpPr>
          <p:cNvPr id="36" name="TextBox 35">
            <a:extLst>
              <a:ext uri="{FF2B5EF4-FFF2-40B4-BE49-F238E27FC236}">
                <a16:creationId xmlns:a16="http://schemas.microsoft.com/office/drawing/2014/main" id="{F3982FF9-FE1D-3B87-164E-84AA50FF4ED5}"/>
              </a:ext>
            </a:extLst>
          </p:cNvPr>
          <p:cNvSpPr txBox="1"/>
          <p:nvPr/>
        </p:nvSpPr>
        <p:spPr>
          <a:xfrm>
            <a:off x="5654040" y="2939751"/>
            <a:ext cx="109728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Monthly</a:t>
            </a:r>
          </a:p>
        </p:txBody>
      </p:sp>
      <p:sp>
        <p:nvSpPr>
          <p:cNvPr id="37" name="TextBox 36">
            <a:extLst>
              <a:ext uri="{FF2B5EF4-FFF2-40B4-BE49-F238E27FC236}">
                <a16:creationId xmlns:a16="http://schemas.microsoft.com/office/drawing/2014/main" id="{622A6B04-67AE-5DCF-302E-4E108E211C07}"/>
              </a:ext>
            </a:extLst>
          </p:cNvPr>
          <p:cNvSpPr txBox="1"/>
          <p:nvPr/>
        </p:nvSpPr>
        <p:spPr>
          <a:xfrm>
            <a:off x="6903720" y="2947574"/>
            <a:ext cx="3657600" cy="140488"/>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CX Digital, Operations, CMP President, VP CS</a:t>
            </a:r>
          </a:p>
        </p:txBody>
      </p:sp>
      <p:sp>
        <p:nvSpPr>
          <p:cNvPr id="38" name="TextBox 37">
            <a:extLst>
              <a:ext uri="{FF2B5EF4-FFF2-40B4-BE49-F238E27FC236}">
                <a16:creationId xmlns:a16="http://schemas.microsoft.com/office/drawing/2014/main" id="{EB731368-F4C8-BCD8-214B-41657AE5A957}"/>
              </a:ext>
            </a:extLst>
          </p:cNvPr>
          <p:cNvSpPr txBox="1"/>
          <p:nvPr/>
        </p:nvSpPr>
        <p:spPr>
          <a:xfrm>
            <a:off x="9484994" y="2947574"/>
            <a:ext cx="3776472" cy="140488"/>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CX-level strategic updates</a:t>
            </a:r>
          </a:p>
        </p:txBody>
      </p:sp>
      <p:sp>
        <p:nvSpPr>
          <p:cNvPr id="39" name="Rectangle 38">
            <a:extLst>
              <a:ext uri="{FF2B5EF4-FFF2-40B4-BE49-F238E27FC236}">
                <a16:creationId xmlns:a16="http://schemas.microsoft.com/office/drawing/2014/main" id="{DC70C461-57E6-D50E-588E-7183429726B0}"/>
              </a:ext>
            </a:extLst>
          </p:cNvPr>
          <p:cNvSpPr/>
          <p:nvPr/>
        </p:nvSpPr>
        <p:spPr>
          <a:xfrm>
            <a:off x="457200" y="3186352"/>
            <a:ext cx="11274552" cy="31884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40" name="TextBox 39">
            <a:extLst>
              <a:ext uri="{FF2B5EF4-FFF2-40B4-BE49-F238E27FC236}">
                <a16:creationId xmlns:a16="http://schemas.microsoft.com/office/drawing/2014/main" id="{4AC51140-7683-BDB5-EAB2-18D858EC5649}"/>
              </a:ext>
            </a:extLst>
          </p:cNvPr>
          <p:cNvSpPr txBox="1"/>
          <p:nvPr/>
        </p:nvSpPr>
        <p:spPr>
          <a:xfrm>
            <a:off x="3063240" y="3267709"/>
            <a:ext cx="274320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Manager Check-in</a:t>
            </a:r>
          </a:p>
        </p:txBody>
      </p:sp>
      <p:sp>
        <p:nvSpPr>
          <p:cNvPr id="41" name="TextBox 40">
            <a:extLst>
              <a:ext uri="{FF2B5EF4-FFF2-40B4-BE49-F238E27FC236}">
                <a16:creationId xmlns:a16="http://schemas.microsoft.com/office/drawing/2014/main" id="{60B5D243-5B27-EED2-3C67-806C8B9589BE}"/>
              </a:ext>
            </a:extLst>
          </p:cNvPr>
          <p:cNvSpPr txBox="1"/>
          <p:nvPr/>
        </p:nvSpPr>
        <p:spPr>
          <a:xfrm>
            <a:off x="5654040" y="3267709"/>
            <a:ext cx="109728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Weekly</a:t>
            </a:r>
          </a:p>
        </p:txBody>
      </p:sp>
      <p:sp>
        <p:nvSpPr>
          <p:cNvPr id="42" name="TextBox 41">
            <a:extLst>
              <a:ext uri="{FF2B5EF4-FFF2-40B4-BE49-F238E27FC236}">
                <a16:creationId xmlns:a16="http://schemas.microsoft.com/office/drawing/2014/main" id="{0C9927D3-3915-DAAE-EF7E-F697A48954B6}"/>
              </a:ext>
            </a:extLst>
          </p:cNvPr>
          <p:cNvSpPr txBox="1"/>
          <p:nvPr/>
        </p:nvSpPr>
        <p:spPr>
          <a:xfrm>
            <a:off x="6903720" y="3275532"/>
            <a:ext cx="3657600" cy="140488"/>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1" u="none" strike="noStrike" kern="1200" cap="none" spc="0" normalizeH="0" baseline="0" noProof="0">
                <a:ln>
                  <a:noFill/>
                </a:ln>
                <a:solidFill>
                  <a:srgbClr val="BC4328"/>
                </a:solidFill>
                <a:effectLst/>
                <a:uLnTx/>
                <a:uFillTx/>
                <a:latin typeface="Arial" panose="020B0604020202020204" pitchFamily="34" charset="0"/>
                <a:cs typeface="Arial" panose="020B0604020202020204" pitchFamily="34" charset="0"/>
              </a:rPr>
              <a:t>[To be confirmed]</a:t>
            </a:r>
          </a:p>
        </p:txBody>
      </p:sp>
      <p:sp>
        <p:nvSpPr>
          <p:cNvPr id="43" name="TextBox 42">
            <a:extLst>
              <a:ext uri="{FF2B5EF4-FFF2-40B4-BE49-F238E27FC236}">
                <a16:creationId xmlns:a16="http://schemas.microsoft.com/office/drawing/2014/main" id="{3A8A6448-8FAC-4640-138E-A865D0F58524}"/>
              </a:ext>
            </a:extLst>
          </p:cNvPr>
          <p:cNvSpPr txBox="1"/>
          <p:nvPr/>
        </p:nvSpPr>
        <p:spPr>
          <a:xfrm>
            <a:off x="9484994" y="3275532"/>
            <a:ext cx="3776472" cy="140488"/>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1" u="none" strike="noStrike" kern="1200" cap="none" spc="0" normalizeH="0" baseline="0" noProof="0">
                <a:ln>
                  <a:noFill/>
                </a:ln>
                <a:solidFill>
                  <a:srgbClr val="BC4328"/>
                </a:solidFill>
                <a:effectLst/>
                <a:uLnTx/>
                <a:uFillTx/>
                <a:latin typeface="Arial" panose="020B0604020202020204" pitchFamily="34" charset="0"/>
                <a:cs typeface="Arial" panose="020B0604020202020204" pitchFamily="34" charset="0"/>
              </a:rPr>
              <a:t>[To be confirmed]</a:t>
            </a:r>
          </a:p>
        </p:txBody>
      </p:sp>
      <p:sp>
        <p:nvSpPr>
          <p:cNvPr id="45" name="Rectangle 44">
            <a:extLst>
              <a:ext uri="{FF2B5EF4-FFF2-40B4-BE49-F238E27FC236}">
                <a16:creationId xmlns:a16="http://schemas.microsoft.com/office/drawing/2014/main" id="{E59B28FC-4388-8697-A8CA-17FD41EC889B}"/>
              </a:ext>
            </a:extLst>
          </p:cNvPr>
          <p:cNvSpPr/>
          <p:nvPr/>
        </p:nvSpPr>
        <p:spPr>
          <a:xfrm>
            <a:off x="457200" y="6858000"/>
            <a:ext cx="73152" cy="411480"/>
          </a:xfrm>
          <a:prstGeom prst="rect">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46" name="TextBox 45">
            <a:extLst>
              <a:ext uri="{FF2B5EF4-FFF2-40B4-BE49-F238E27FC236}">
                <a16:creationId xmlns:a16="http://schemas.microsoft.com/office/drawing/2014/main" id="{83BF0000-FD33-2CFA-89B6-29A4A02CBFFB}"/>
              </a:ext>
            </a:extLst>
          </p:cNvPr>
          <p:cNvSpPr txBox="1"/>
          <p:nvPr/>
        </p:nvSpPr>
        <p:spPr>
          <a:xfrm>
            <a:off x="621792" y="6858000"/>
            <a:ext cx="10972800" cy="140488"/>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1" i="0" u="none" strike="noStrike" kern="1200" cap="none" spc="0" normalizeH="0" baseline="0" noProof="0">
                <a:ln>
                  <a:noFill/>
                </a:ln>
                <a:solidFill>
                  <a:srgbClr val="BC4328"/>
                </a:solidFill>
                <a:effectLst/>
                <a:uLnTx/>
                <a:uFillTx/>
                <a:latin typeface="Arial" panose="020B0604020202020204" pitchFamily="34" charset="0"/>
                <a:cs typeface="Arial" panose="020B0604020202020204" pitchFamily="34" charset="0"/>
              </a:rPr>
              <a:t>WHAT'S MISSING</a:t>
            </a:r>
          </a:p>
        </p:txBody>
      </p:sp>
      <p:sp>
        <p:nvSpPr>
          <p:cNvPr id="47" name="TextBox 46">
            <a:extLst>
              <a:ext uri="{FF2B5EF4-FFF2-40B4-BE49-F238E27FC236}">
                <a16:creationId xmlns:a16="http://schemas.microsoft.com/office/drawing/2014/main" id="{7DD760BF-D8C5-0C51-1B8D-2EA8471F0964}"/>
              </a:ext>
            </a:extLst>
          </p:cNvPr>
          <p:cNvSpPr txBox="1"/>
          <p:nvPr/>
        </p:nvSpPr>
        <p:spPr>
          <a:xfrm>
            <a:off x="621792" y="7086600"/>
            <a:ext cx="10972800" cy="156133"/>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No portfolio steering forum (decisions on trade-offs across branches, budget, capacity) •  Manager Check-in participants and scope pending definition</a:t>
            </a:r>
          </a:p>
        </p:txBody>
      </p:sp>
      <p:sp>
        <p:nvSpPr>
          <p:cNvPr id="48" name="Rectangle 47">
            <a:extLst>
              <a:ext uri="{FF2B5EF4-FFF2-40B4-BE49-F238E27FC236}">
                <a16:creationId xmlns:a16="http://schemas.microsoft.com/office/drawing/2014/main" id="{D57B49EF-D344-EEF0-68C1-7FCFD110C21A}"/>
              </a:ext>
            </a:extLst>
          </p:cNvPr>
          <p:cNvSpPr/>
          <p:nvPr/>
        </p:nvSpPr>
        <p:spPr>
          <a:xfrm>
            <a:off x="457200" y="7449211"/>
            <a:ext cx="11054080"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49" name="TextBox 48">
            <a:extLst>
              <a:ext uri="{FF2B5EF4-FFF2-40B4-BE49-F238E27FC236}">
                <a16:creationId xmlns:a16="http://schemas.microsoft.com/office/drawing/2014/main" id="{404B8226-D626-C053-65AE-7779096E38A3}"/>
              </a:ext>
            </a:extLst>
          </p:cNvPr>
          <p:cNvSpPr txBox="1"/>
          <p:nvPr/>
        </p:nvSpPr>
        <p:spPr>
          <a:xfrm>
            <a:off x="685800" y="7521680"/>
            <a:ext cx="10605820" cy="35798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Arial" panose="020B0604020202020204" pitchFamily="34" charset="0"/>
                <a:cs typeface="Arial" panose="020B0604020202020204" pitchFamily="34" charset="0"/>
              </a:rPr>
              <a:t>The governance layer is operationally busy but strategically incomplete — There are some areas of improvement. For example, with a portfolio steering cadence introduced in the TOM</a:t>
            </a:r>
          </a:p>
        </p:txBody>
      </p:sp>
      <p:sp>
        <p:nvSpPr>
          <p:cNvPr id="9" name="Título 2">
            <a:extLst>
              <a:ext uri="{FF2B5EF4-FFF2-40B4-BE49-F238E27FC236}">
                <a16:creationId xmlns:a16="http://schemas.microsoft.com/office/drawing/2014/main" id="{695DAEE8-F7D5-581C-F151-4D176884DB81}"/>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t>CURRENT STATE ANALYSIS</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t>GOVERNMENT FORUMS – BRS</a:t>
            </a:r>
          </a:p>
        </p:txBody>
      </p:sp>
      <p:sp>
        <p:nvSpPr>
          <p:cNvPr id="128" name="Rectangle 127">
            <a:extLst>
              <a:ext uri="{FF2B5EF4-FFF2-40B4-BE49-F238E27FC236}">
                <a16:creationId xmlns:a16="http://schemas.microsoft.com/office/drawing/2014/main" id="{CD609EDB-5D80-0699-D7BF-863578B24908}"/>
              </a:ext>
            </a:extLst>
          </p:cNvPr>
          <p:cNvSpPr/>
          <p:nvPr/>
        </p:nvSpPr>
        <p:spPr>
          <a:xfrm>
            <a:off x="457200" y="3876614"/>
            <a:ext cx="11274552" cy="361123"/>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29" name="TextBox 128">
            <a:extLst>
              <a:ext uri="{FF2B5EF4-FFF2-40B4-BE49-F238E27FC236}">
                <a16:creationId xmlns:a16="http://schemas.microsoft.com/office/drawing/2014/main" id="{B4248961-8390-3469-B81C-EC72B89D82B5}"/>
              </a:ext>
            </a:extLst>
          </p:cNvPr>
          <p:cNvSpPr txBox="1"/>
          <p:nvPr/>
        </p:nvSpPr>
        <p:spPr>
          <a:xfrm>
            <a:off x="3063240" y="3979109"/>
            <a:ext cx="274320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Priority meeting</a:t>
            </a:r>
          </a:p>
        </p:txBody>
      </p:sp>
      <p:sp>
        <p:nvSpPr>
          <p:cNvPr id="130" name="TextBox 129">
            <a:extLst>
              <a:ext uri="{FF2B5EF4-FFF2-40B4-BE49-F238E27FC236}">
                <a16:creationId xmlns:a16="http://schemas.microsoft.com/office/drawing/2014/main" id="{0875BF89-317E-D85A-71FE-03061B13830D}"/>
              </a:ext>
            </a:extLst>
          </p:cNvPr>
          <p:cNvSpPr txBox="1"/>
          <p:nvPr/>
        </p:nvSpPr>
        <p:spPr>
          <a:xfrm>
            <a:off x="5654040" y="3979109"/>
            <a:ext cx="109728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Weekly</a:t>
            </a:r>
          </a:p>
        </p:txBody>
      </p:sp>
      <p:sp>
        <p:nvSpPr>
          <p:cNvPr id="131" name="TextBox 130">
            <a:extLst>
              <a:ext uri="{FF2B5EF4-FFF2-40B4-BE49-F238E27FC236}">
                <a16:creationId xmlns:a16="http://schemas.microsoft.com/office/drawing/2014/main" id="{3E16E570-6716-0C0D-A5D7-1DA3B1EC4B79}"/>
              </a:ext>
            </a:extLst>
          </p:cNvPr>
          <p:cNvSpPr txBox="1"/>
          <p:nvPr/>
        </p:nvSpPr>
        <p:spPr>
          <a:xfrm>
            <a:off x="6903720" y="3986932"/>
            <a:ext cx="3657600" cy="140488"/>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Project Managers</a:t>
            </a:r>
          </a:p>
        </p:txBody>
      </p:sp>
      <p:sp>
        <p:nvSpPr>
          <p:cNvPr id="132" name="TextBox 131">
            <a:extLst>
              <a:ext uri="{FF2B5EF4-FFF2-40B4-BE49-F238E27FC236}">
                <a16:creationId xmlns:a16="http://schemas.microsoft.com/office/drawing/2014/main" id="{0534E85C-BDA1-C3A2-4EF6-852E0ABCC83E}"/>
              </a:ext>
            </a:extLst>
          </p:cNvPr>
          <p:cNvSpPr txBox="1"/>
          <p:nvPr/>
        </p:nvSpPr>
        <p:spPr>
          <a:xfrm>
            <a:off x="9484994" y="3986932"/>
            <a:ext cx="3776472" cy="140488"/>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Prioritization of the demand</a:t>
            </a:r>
          </a:p>
        </p:txBody>
      </p:sp>
      <p:sp>
        <p:nvSpPr>
          <p:cNvPr id="133" name="Rectangle 132">
            <a:extLst>
              <a:ext uri="{FF2B5EF4-FFF2-40B4-BE49-F238E27FC236}">
                <a16:creationId xmlns:a16="http://schemas.microsoft.com/office/drawing/2014/main" id="{7C26EEB1-C988-10C1-AA49-ECA1D0688FD4}"/>
              </a:ext>
            </a:extLst>
          </p:cNvPr>
          <p:cNvSpPr/>
          <p:nvPr/>
        </p:nvSpPr>
        <p:spPr>
          <a:xfrm>
            <a:off x="457200" y="4248055"/>
            <a:ext cx="11274552" cy="36112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34" name="TextBox 133">
            <a:extLst>
              <a:ext uri="{FF2B5EF4-FFF2-40B4-BE49-F238E27FC236}">
                <a16:creationId xmlns:a16="http://schemas.microsoft.com/office/drawing/2014/main" id="{467B714F-4287-4E2C-464D-425696ABBE72}"/>
              </a:ext>
            </a:extLst>
          </p:cNvPr>
          <p:cNvSpPr txBox="1"/>
          <p:nvPr/>
        </p:nvSpPr>
        <p:spPr>
          <a:xfrm>
            <a:off x="3063240" y="4350550"/>
            <a:ext cx="274320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Requirements identification</a:t>
            </a:r>
          </a:p>
        </p:txBody>
      </p:sp>
      <p:sp>
        <p:nvSpPr>
          <p:cNvPr id="135" name="TextBox 134">
            <a:extLst>
              <a:ext uri="{FF2B5EF4-FFF2-40B4-BE49-F238E27FC236}">
                <a16:creationId xmlns:a16="http://schemas.microsoft.com/office/drawing/2014/main" id="{3E1B7DDC-32C5-7C6A-F933-D31A971B68F0}"/>
              </a:ext>
            </a:extLst>
          </p:cNvPr>
          <p:cNvSpPr txBox="1"/>
          <p:nvPr/>
        </p:nvSpPr>
        <p:spPr>
          <a:xfrm>
            <a:off x="5654040" y="4350550"/>
            <a:ext cx="109728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As needed</a:t>
            </a:r>
          </a:p>
        </p:txBody>
      </p:sp>
      <p:sp>
        <p:nvSpPr>
          <p:cNvPr id="136" name="TextBox 135">
            <a:extLst>
              <a:ext uri="{FF2B5EF4-FFF2-40B4-BE49-F238E27FC236}">
                <a16:creationId xmlns:a16="http://schemas.microsoft.com/office/drawing/2014/main" id="{7868E6D0-2C8B-6C25-C05D-B38266A8EA53}"/>
              </a:ext>
            </a:extLst>
          </p:cNvPr>
          <p:cNvSpPr txBox="1"/>
          <p:nvPr/>
        </p:nvSpPr>
        <p:spPr>
          <a:xfrm>
            <a:off x="6903720" y="4358372"/>
            <a:ext cx="3657600" cy="140488"/>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Vendor consultants, business team 	</a:t>
            </a:r>
          </a:p>
        </p:txBody>
      </p:sp>
      <p:sp>
        <p:nvSpPr>
          <p:cNvPr id="137" name="TextBox 136">
            <a:extLst>
              <a:ext uri="{FF2B5EF4-FFF2-40B4-BE49-F238E27FC236}">
                <a16:creationId xmlns:a16="http://schemas.microsoft.com/office/drawing/2014/main" id="{C99C2ECA-1192-3A6E-AB96-58B1905A89AC}"/>
              </a:ext>
            </a:extLst>
          </p:cNvPr>
          <p:cNvSpPr txBox="1"/>
          <p:nvPr/>
        </p:nvSpPr>
        <p:spPr>
          <a:xfrm>
            <a:off x="9484994" y="4358371"/>
            <a:ext cx="3776472" cy="140488"/>
          </a:xfrm>
          <a:prstGeom prst="rect">
            <a:avLst/>
          </a:prstGeom>
          <a:noFill/>
        </p:spPr>
        <p:txBody>
          <a:bodyPr wrap="square" lIns="0" tIns="0" rIns="0" bIns="0" anchor="ctr">
            <a:spAutoFit/>
          </a:bodyPr>
          <a:lstStyle>
            <a:defPPr>
              <a:defRPr lang="en-US"/>
            </a:defPPr>
            <a:lvl1pPr marR="0" lvl="0" indent="0" fontAlgn="auto">
              <a:lnSpc>
                <a:spcPct val="110000"/>
              </a:lnSpc>
              <a:spcBef>
                <a:spcPts val="0"/>
              </a:spcBef>
              <a:spcAft>
                <a:spcPts val="0"/>
              </a:spcAft>
              <a:buClrTx/>
              <a:buSzTx/>
              <a:buFontTx/>
              <a:buNone/>
              <a:tabLst/>
              <a:defRPr kumimoji="0" sz="900" b="0" i="0" u="none" strike="noStrike" cap="none" spc="0" normalizeH="0" baseline="0">
                <a:ln>
                  <a:noFill/>
                </a:ln>
                <a:solidFill>
                  <a:srgbClr val="2C3E50"/>
                </a:solidFill>
                <a:effectLst/>
                <a:uLnTx/>
                <a:uFillTx/>
                <a:latin typeface="Helvetica Neue"/>
              </a:defRPr>
            </a:lvl1pPr>
          </a:lstStyle>
          <a:p>
            <a:r>
              <a:rPr lang="en-US" noProof="0">
                <a:latin typeface="Arial" panose="020B0604020202020204" pitchFamily="34" charset="0"/>
                <a:cs typeface="Arial" panose="020B0604020202020204" pitchFamily="34" charset="0"/>
              </a:rPr>
              <a:t>Get requirements for tech team</a:t>
            </a:r>
          </a:p>
        </p:txBody>
      </p:sp>
      <p:sp>
        <p:nvSpPr>
          <p:cNvPr id="138" name="Rectangle 137">
            <a:extLst>
              <a:ext uri="{FF2B5EF4-FFF2-40B4-BE49-F238E27FC236}">
                <a16:creationId xmlns:a16="http://schemas.microsoft.com/office/drawing/2014/main" id="{82531580-F4EC-CB34-CB5C-B549AC3AAFAD}"/>
              </a:ext>
            </a:extLst>
          </p:cNvPr>
          <p:cNvSpPr/>
          <p:nvPr/>
        </p:nvSpPr>
        <p:spPr>
          <a:xfrm>
            <a:off x="457200" y="4619495"/>
            <a:ext cx="11274552" cy="361123"/>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39" name="TextBox 138">
            <a:extLst>
              <a:ext uri="{FF2B5EF4-FFF2-40B4-BE49-F238E27FC236}">
                <a16:creationId xmlns:a16="http://schemas.microsoft.com/office/drawing/2014/main" id="{82701EB2-0384-8498-E92F-FB68C77CDD55}"/>
              </a:ext>
            </a:extLst>
          </p:cNvPr>
          <p:cNvSpPr txBox="1"/>
          <p:nvPr/>
        </p:nvSpPr>
        <p:spPr>
          <a:xfrm>
            <a:off x="3063240" y="4721990"/>
            <a:ext cx="274320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Incident resolution</a:t>
            </a:r>
          </a:p>
        </p:txBody>
      </p:sp>
      <p:sp>
        <p:nvSpPr>
          <p:cNvPr id="140" name="TextBox 139">
            <a:extLst>
              <a:ext uri="{FF2B5EF4-FFF2-40B4-BE49-F238E27FC236}">
                <a16:creationId xmlns:a16="http://schemas.microsoft.com/office/drawing/2014/main" id="{D42767FA-1391-67A3-0044-8F51A0E45284}"/>
              </a:ext>
            </a:extLst>
          </p:cNvPr>
          <p:cNvSpPr txBox="1"/>
          <p:nvPr/>
        </p:nvSpPr>
        <p:spPr>
          <a:xfrm>
            <a:off x="5654040" y="4721990"/>
            <a:ext cx="109728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As needed</a:t>
            </a:r>
          </a:p>
        </p:txBody>
      </p:sp>
      <p:sp>
        <p:nvSpPr>
          <p:cNvPr id="141" name="TextBox 140">
            <a:extLst>
              <a:ext uri="{FF2B5EF4-FFF2-40B4-BE49-F238E27FC236}">
                <a16:creationId xmlns:a16="http://schemas.microsoft.com/office/drawing/2014/main" id="{213A3467-C6B6-2A77-2364-59173D4F8170}"/>
              </a:ext>
            </a:extLst>
          </p:cNvPr>
          <p:cNvSpPr txBox="1"/>
          <p:nvPr/>
        </p:nvSpPr>
        <p:spPr>
          <a:xfrm>
            <a:off x="6903720" y="4729813"/>
            <a:ext cx="3657600" cy="140488"/>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Vendor (Accenture) and IT Lead</a:t>
            </a:r>
          </a:p>
        </p:txBody>
      </p:sp>
      <p:sp>
        <p:nvSpPr>
          <p:cNvPr id="142" name="TextBox 141">
            <a:extLst>
              <a:ext uri="{FF2B5EF4-FFF2-40B4-BE49-F238E27FC236}">
                <a16:creationId xmlns:a16="http://schemas.microsoft.com/office/drawing/2014/main" id="{7B581907-D4F7-2DCD-4011-934F60C7E95A}"/>
              </a:ext>
            </a:extLst>
          </p:cNvPr>
          <p:cNvSpPr txBox="1"/>
          <p:nvPr/>
        </p:nvSpPr>
        <p:spPr>
          <a:xfrm>
            <a:off x="9484994" y="4729813"/>
            <a:ext cx="3776472" cy="140488"/>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Review incidents</a:t>
            </a:r>
          </a:p>
        </p:txBody>
      </p:sp>
      <p:sp>
        <p:nvSpPr>
          <p:cNvPr id="144" name="TextBox 143">
            <a:extLst>
              <a:ext uri="{FF2B5EF4-FFF2-40B4-BE49-F238E27FC236}">
                <a16:creationId xmlns:a16="http://schemas.microsoft.com/office/drawing/2014/main" id="{8CA69119-07C6-A836-598C-8C02DE5C309A}"/>
              </a:ext>
            </a:extLst>
          </p:cNvPr>
          <p:cNvSpPr txBox="1"/>
          <p:nvPr/>
        </p:nvSpPr>
        <p:spPr>
          <a:xfrm>
            <a:off x="3063240" y="3611520"/>
            <a:ext cx="274320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Incident resolution</a:t>
            </a:r>
          </a:p>
        </p:txBody>
      </p:sp>
      <p:sp>
        <p:nvSpPr>
          <p:cNvPr id="145" name="TextBox 144">
            <a:extLst>
              <a:ext uri="{FF2B5EF4-FFF2-40B4-BE49-F238E27FC236}">
                <a16:creationId xmlns:a16="http://schemas.microsoft.com/office/drawing/2014/main" id="{6A336BC5-FDA7-4FCC-30A4-8ACFB6A124B8}"/>
              </a:ext>
            </a:extLst>
          </p:cNvPr>
          <p:cNvSpPr txBox="1"/>
          <p:nvPr/>
        </p:nvSpPr>
        <p:spPr>
          <a:xfrm>
            <a:off x="5654040" y="3611520"/>
            <a:ext cx="109728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As needed</a:t>
            </a:r>
          </a:p>
        </p:txBody>
      </p:sp>
      <p:sp>
        <p:nvSpPr>
          <p:cNvPr id="146" name="TextBox 145">
            <a:extLst>
              <a:ext uri="{FF2B5EF4-FFF2-40B4-BE49-F238E27FC236}">
                <a16:creationId xmlns:a16="http://schemas.microsoft.com/office/drawing/2014/main" id="{75162EE0-3246-6B38-F2A2-3034344CD2C7}"/>
              </a:ext>
            </a:extLst>
          </p:cNvPr>
          <p:cNvSpPr txBox="1"/>
          <p:nvPr/>
        </p:nvSpPr>
        <p:spPr>
          <a:xfrm>
            <a:off x="6903720" y="3619343"/>
            <a:ext cx="3657600" cy="140488"/>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Manager and Business team</a:t>
            </a:r>
          </a:p>
        </p:txBody>
      </p:sp>
      <p:sp>
        <p:nvSpPr>
          <p:cNvPr id="147" name="TextBox 146">
            <a:extLst>
              <a:ext uri="{FF2B5EF4-FFF2-40B4-BE49-F238E27FC236}">
                <a16:creationId xmlns:a16="http://schemas.microsoft.com/office/drawing/2014/main" id="{CA1E5F80-0AB3-CB14-EC96-AEC7CBD24148}"/>
              </a:ext>
            </a:extLst>
          </p:cNvPr>
          <p:cNvSpPr txBox="1"/>
          <p:nvPr/>
        </p:nvSpPr>
        <p:spPr>
          <a:xfrm>
            <a:off x="9484994" y="3619343"/>
            <a:ext cx="3776472" cy="140488"/>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lang="en-US" sz="900" noProof="0">
                <a:solidFill>
                  <a:srgbClr val="2C3E50"/>
                </a:solidFill>
                <a:latin typeface="Arial" panose="020B0604020202020204" pitchFamily="34" charset="0"/>
                <a:cs typeface="Arial" panose="020B0604020202020204" pitchFamily="34" charset="0"/>
              </a:rPr>
              <a:t>Report incidents on UIL</a:t>
            </a:r>
            <a:endParaRPr kumimoji="0" lang="en-US" sz="9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endParaRPr>
          </a:p>
        </p:txBody>
      </p:sp>
      <p:sp>
        <p:nvSpPr>
          <p:cNvPr id="148" name="TextBox 147">
            <a:extLst>
              <a:ext uri="{FF2B5EF4-FFF2-40B4-BE49-F238E27FC236}">
                <a16:creationId xmlns:a16="http://schemas.microsoft.com/office/drawing/2014/main" id="{A27C6639-F1C6-D9E9-A3C1-6F0E8502BF5F}"/>
              </a:ext>
            </a:extLst>
          </p:cNvPr>
          <p:cNvSpPr txBox="1"/>
          <p:nvPr/>
        </p:nvSpPr>
        <p:spPr>
          <a:xfrm>
            <a:off x="481966" y="1510627"/>
            <a:ext cx="1918334" cy="187424"/>
          </a:xfrm>
          <a:prstGeom prst="rect">
            <a:avLst/>
          </a:prstGeom>
          <a:solidFill>
            <a:schemeClr val="accent1"/>
          </a:solid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rial" panose="020B0604020202020204" pitchFamily="34" charset="0"/>
                <a:cs typeface="Arial" panose="020B0604020202020204" pitchFamily="34" charset="0"/>
              </a:rPr>
              <a:t>BRAND</a:t>
            </a:r>
          </a:p>
        </p:txBody>
      </p:sp>
      <p:sp>
        <p:nvSpPr>
          <p:cNvPr id="150" name="TextBox 149">
            <a:extLst>
              <a:ext uri="{FF2B5EF4-FFF2-40B4-BE49-F238E27FC236}">
                <a16:creationId xmlns:a16="http://schemas.microsoft.com/office/drawing/2014/main" id="{9EDD5736-7E38-96B8-6AAF-BA9EAB0AC7D7}"/>
              </a:ext>
            </a:extLst>
          </p:cNvPr>
          <p:cNvSpPr txBox="1"/>
          <p:nvPr/>
        </p:nvSpPr>
        <p:spPr>
          <a:xfrm>
            <a:off x="526542" y="3980689"/>
            <a:ext cx="1902333" cy="156133"/>
          </a:xfrm>
          <a:prstGeom prst="rect">
            <a:avLst/>
          </a:prstGeom>
          <a:noFill/>
        </p:spPr>
        <p:txBody>
          <a:bodyPr wrap="square" lIns="0" tIns="0" rIns="0" bIns="0" anchor="ctr">
            <a:spAutoFit/>
          </a:bodyPr>
          <a:lstStyle>
            <a:defPPr>
              <a:defRPr lang="en-US"/>
            </a:defPPr>
            <a:lvl1pPr marR="0" lvl="0" indent="0" fontAlgn="auto">
              <a:lnSpc>
                <a:spcPct val="110000"/>
              </a:lnSpc>
              <a:spcBef>
                <a:spcPts val="0"/>
              </a:spcBef>
              <a:spcAft>
                <a:spcPts val="0"/>
              </a:spcAft>
              <a:buClrTx/>
              <a:buSzTx/>
              <a:buFontTx/>
              <a:buNone/>
              <a:tabLst/>
              <a:defRPr kumimoji="0" sz="1000" b="1" i="0" u="none" strike="noStrike" cap="none" spc="0" normalizeH="0" baseline="0">
                <a:ln>
                  <a:noFill/>
                </a:ln>
                <a:solidFill>
                  <a:srgbClr val="0F1C50"/>
                </a:solidFill>
                <a:effectLst/>
                <a:uLnTx/>
                <a:uFillTx/>
                <a:latin typeface="Helvetica Neue"/>
              </a:defRPr>
            </a:lvl1pPr>
          </a:lstStyle>
          <a:p>
            <a:r>
              <a:rPr lang="en-US" noProof="0">
                <a:latin typeface="Arial" panose="020B0604020202020204" pitchFamily="34" charset="0"/>
                <a:cs typeface="Arial" panose="020B0604020202020204" pitchFamily="34" charset="0"/>
              </a:rPr>
              <a:t>IT BUSINESS APPLICATIONS</a:t>
            </a:r>
          </a:p>
        </p:txBody>
      </p:sp>
      <p:sp>
        <p:nvSpPr>
          <p:cNvPr id="151" name="TextBox 150">
            <a:extLst>
              <a:ext uri="{FF2B5EF4-FFF2-40B4-BE49-F238E27FC236}">
                <a16:creationId xmlns:a16="http://schemas.microsoft.com/office/drawing/2014/main" id="{E32E7058-CD0E-B889-2D00-5287A0B2B745}"/>
              </a:ext>
            </a:extLst>
          </p:cNvPr>
          <p:cNvSpPr txBox="1"/>
          <p:nvPr/>
        </p:nvSpPr>
        <p:spPr>
          <a:xfrm>
            <a:off x="526542" y="4351454"/>
            <a:ext cx="1902333" cy="156133"/>
          </a:xfrm>
          <a:prstGeom prst="rect">
            <a:avLst/>
          </a:prstGeom>
          <a:noFill/>
        </p:spPr>
        <p:txBody>
          <a:bodyPr wrap="square" lIns="0" tIns="0" rIns="0" bIns="0" anchor="ctr">
            <a:spAutoFit/>
          </a:bodyPr>
          <a:lstStyle>
            <a:defPPr>
              <a:defRPr lang="en-US"/>
            </a:defPPr>
            <a:lvl1pPr marR="0" lvl="0" indent="0" fontAlgn="auto">
              <a:lnSpc>
                <a:spcPct val="110000"/>
              </a:lnSpc>
              <a:spcBef>
                <a:spcPts val="0"/>
              </a:spcBef>
              <a:spcAft>
                <a:spcPts val="0"/>
              </a:spcAft>
              <a:buClrTx/>
              <a:buSzTx/>
              <a:buFontTx/>
              <a:buNone/>
              <a:tabLst/>
              <a:defRPr kumimoji="0" sz="1000" b="1" i="0" u="none" strike="noStrike" cap="none" spc="0" normalizeH="0" baseline="0">
                <a:ln>
                  <a:noFill/>
                </a:ln>
                <a:solidFill>
                  <a:srgbClr val="0F1C50"/>
                </a:solidFill>
                <a:effectLst/>
                <a:uLnTx/>
                <a:uFillTx/>
                <a:latin typeface="Helvetica Neue"/>
              </a:defRPr>
            </a:lvl1pPr>
          </a:lstStyle>
          <a:p>
            <a:r>
              <a:rPr lang="en-US" noProof="0">
                <a:latin typeface="Arial" panose="020B0604020202020204" pitchFamily="34" charset="0"/>
                <a:cs typeface="Arial" panose="020B0604020202020204" pitchFamily="34" charset="0"/>
              </a:rPr>
              <a:t>IT BUSINESS APPLICATIONS</a:t>
            </a:r>
          </a:p>
        </p:txBody>
      </p:sp>
      <p:sp>
        <p:nvSpPr>
          <p:cNvPr id="152" name="TextBox 151">
            <a:extLst>
              <a:ext uri="{FF2B5EF4-FFF2-40B4-BE49-F238E27FC236}">
                <a16:creationId xmlns:a16="http://schemas.microsoft.com/office/drawing/2014/main" id="{F5CA6A21-8D0C-EFF5-3D06-9E6368FC648F}"/>
              </a:ext>
            </a:extLst>
          </p:cNvPr>
          <p:cNvSpPr txBox="1"/>
          <p:nvPr/>
        </p:nvSpPr>
        <p:spPr>
          <a:xfrm>
            <a:off x="526542" y="4724836"/>
            <a:ext cx="1902333" cy="156133"/>
          </a:xfrm>
          <a:prstGeom prst="rect">
            <a:avLst/>
          </a:prstGeom>
          <a:noFill/>
        </p:spPr>
        <p:txBody>
          <a:bodyPr wrap="square" lIns="0" tIns="0" rIns="0" bIns="0" anchor="ctr">
            <a:spAutoFit/>
          </a:bodyPr>
          <a:lstStyle>
            <a:defPPr>
              <a:defRPr lang="en-US"/>
            </a:defPPr>
            <a:lvl1pPr marR="0" lvl="0" indent="0" fontAlgn="auto">
              <a:lnSpc>
                <a:spcPct val="110000"/>
              </a:lnSpc>
              <a:spcBef>
                <a:spcPts val="0"/>
              </a:spcBef>
              <a:spcAft>
                <a:spcPts val="0"/>
              </a:spcAft>
              <a:buClrTx/>
              <a:buSzTx/>
              <a:buFontTx/>
              <a:buNone/>
              <a:tabLst/>
              <a:defRPr kumimoji="0" sz="1000" b="1" i="0" u="none" strike="noStrike" cap="none" spc="0" normalizeH="0" baseline="0">
                <a:ln>
                  <a:noFill/>
                </a:ln>
                <a:solidFill>
                  <a:srgbClr val="0F1C50"/>
                </a:solidFill>
                <a:effectLst/>
                <a:uLnTx/>
                <a:uFillTx/>
                <a:latin typeface="Helvetica Neue"/>
              </a:defRPr>
            </a:lvl1pPr>
          </a:lstStyle>
          <a:p>
            <a:r>
              <a:rPr lang="en-US" noProof="0">
                <a:latin typeface="Arial" panose="020B0604020202020204" pitchFamily="34" charset="0"/>
                <a:cs typeface="Arial" panose="020B0604020202020204" pitchFamily="34" charset="0"/>
              </a:rPr>
              <a:t>IT BUSINESS APPLICATIONS</a:t>
            </a:r>
          </a:p>
        </p:txBody>
      </p:sp>
      <p:sp>
        <p:nvSpPr>
          <p:cNvPr id="153" name="TextBox 152">
            <a:extLst>
              <a:ext uri="{FF2B5EF4-FFF2-40B4-BE49-F238E27FC236}">
                <a16:creationId xmlns:a16="http://schemas.microsoft.com/office/drawing/2014/main" id="{511A9880-EF09-247D-278E-AC33323B8B5E}"/>
              </a:ext>
            </a:extLst>
          </p:cNvPr>
          <p:cNvSpPr txBox="1"/>
          <p:nvPr/>
        </p:nvSpPr>
        <p:spPr>
          <a:xfrm>
            <a:off x="526542" y="2927458"/>
            <a:ext cx="1902333" cy="156133"/>
          </a:xfrm>
          <a:prstGeom prst="rect">
            <a:avLst/>
          </a:prstGeom>
          <a:noFill/>
        </p:spPr>
        <p:txBody>
          <a:bodyPr wrap="square" lIns="0" tIns="0" rIns="0" bIns="0" anchor="ctr">
            <a:spAutoFit/>
          </a:bodyPr>
          <a:lstStyle>
            <a:defPPr>
              <a:defRPr lang="en-US"/>
            </a:defPPr>
            <a:lvl1pPr marR="0" lvl="0" indent="0" fontAlgn="auto">
              <a:lnSpc>
                <a:spcPct val="110000"/>
              </a:lnSpc>
              <a:spcBef>
                <a:spcPts val="0"/>
              </a:spcBef>
              <a:spcAft>
                <a:spcPts val="0"/>
              </a:spcAft>
              <a:buClrTx/>
              <a:buSzTx/>
              <a:buFontTx/>
              <a:buNone/>
              <a:tabLst/>
              <a:defRPr kumimoji="0" sz="1000" b="1" i="0" u="none" strike="noStrike" cap="none" spc="0" normalizeH="0" baseline="0">
                <a:ln>
                  <a:noFill/>
                </a:ln>
                <a:solidFill>
                  <a:srgbClr val="0F1C50"/>
                </a:solidFill>
                <a:effectLst/>
                <a:uLnTx/>
                <a:uFillTx/>
                <a:latin typeface="Helvetica Neue"/>
              </a:defRPr>
            </a:lvl1pPr>
          </a:lstStyle>
          <a:p>
            <a:r>
              <a:rPr lang="en-US" noProof="0">
                <a:latin typeface="Arial" panose="020B0604020202020204" pitchFamily="34" charset="0"/>
                <a:cs typeface="Arial" panose="020B0604020202020204" pitchFamily="34" charset="0"/>
              </a:rPr>
              <a:t>BRS</a:t>
            </a:r>
          </a:p>
        </p:txBody>
      </p:sp>
      <p:sp>
        <p:nvSpPr>
          <p:cNvPr id="154" name="TextBox 153">
            <a:extLst>
              <a:ext uri="{FF2B5EF4-FFF2-40B4-BE49-F238E27FC236}">
                <a16:creationId xmlns:a16="http://schemas.microsoft.com/office/drawing/2014/main" id="{6480B319-4B9E-0188-85E2-B614B36D95F6}"/>
              </a:ext>
            </a:extLst>
          </p:cNvPr>
          <p:cNvSpPr txBox="1"/>
          <p:nvPr/>
        </p:nvSpPr>
        <p:spPr>
          <a:xfrm>
            <a:off x="526542" y="3269648"/>
            <a:ext cx="1902333" cy="156133"/>
          </a:xfrm>
          <a:prstGeom prst="rect">
            <a:avLst/>
          </a:prstGeom>
          <a:noFill/>
        </p:spPr>
        <p:txBody>
          <a:bodyPr wrap="square" lIns="0" tIns="0" rIns="0" bIns="0" anchor="ctr">
            <a:spAutoFit/>
          </a:bodyPr>
          <a:lstStyle>
            <a:defPPr>
              <a:defRPr lang="en-US"/>
            </a:defPPr>
            <a:lvl1pPr marR="0" lvl="0" indent="0" fontAlgn="auto">
              <a:lnSpc>
                <a:spcPct val="110000"/>
              </a:lnSpc>
              <a:spcBef>
                <a:spcPts val="0"/>
              </a:spcBef>
              <a:spcAft>
                <a:spcPts val="0"/>
              </a:spcAft>
              <a:buClrTx/>
              <a:buSzTx/>
              <a:buFontTx/>
              <a:buNone/>
              <a:tabLst/>
              <a:defRPr kumimoji="0" sz="1000" b="1" i="0" u="none" strike="noStrike" cap="none" spc="0" normalizeH="0" baseline="0">
                <a:ln>
                  <a:noFill/>
                </a:ln>
                <a:solidFill>
                  <a:srgbClr val="0F1C50"/>
                </a:solidFill>
                <a:effectLst/>
                <a:uLnTx/>
                <a:uFillTx/>
                <a:latin typeface="Helvetica Neue"/>
              </a:defRPr>
            </a:lvl1pPr>
          </a:lstStyle>
          <a:p>
            <a:r>
              <a:rPr lang="en-US" noProof="0">
                <a:latin typeface="Arial" panose="020B0604020202020204" pitchFamily="34" charset="0"/>
                <a:cs typeface="Arial" panose="020B0604020202020204" pitchFamily="34" charset="0"/>
              </a:rPr>
              <a:t>BRS</a:t>
            </a:r>
          </a:p>
        </p:txBody>
      </p:sp>
      <p:sp>
        <p:nvSpPr>
          <p:cNvPr id="157" name="TextBox 156">
            <a:extLst>
              <a:ext uri="{FF2B5EF4-FFF2-40B4-BE49-F238E27FC236}">
                <a16:creationId xmlns:a16="http://schemas.microsoft.com/office/drawing/2014/main" id="{2FC4B722-CEC5-2EA6-5353-78C632C04722}"/>
              </a:ext>
            </a:extLst>
          </p:cNvPr>
          <p:cNvSpPr txBox="1"/>
          <p:nvPr/>
        </p:nvSpPr>
        <p:spPr>
          <a:xfrm>
            <a:off x="526542" y="3603698"/>
            <a:ext cx="2454783" cy="156133"/>
          </a:xfrm>
          <a:prstGeom prst="rect">
            <a:avLst/>
          </a:prstGeom>
          <a:noFill/>
        </p:spPr>
        <p:txBody>
          <a:bodyPr wrap="square" lIns="0" tIns="0" rIns="0" bIns="0" anchor="ctr">
            <a:spAutoFit/>
          </a:bodyPr>
          <a:lstStyle>
            <a:defPPr>
              <a:defRPr lang="en-US"/>
            </a:defPPr>
            <a:lvl1pPr marR="0" lvl="0" indent="0" fontAlgn="auto">
              <a:lnSpc>
                <a:spcPct val="110000"/>
              </a:lnSpc>
              <a:spcBef>
                <a:spcPts val="0"/>
              </a:spcBef>
              <a:spcAft>
                <a:spcPts val="0"/>
              </a:spcAft>
              <a:buClrTx/>
              <a:buSzTx/>
              <a:buFontTx/>
              <a:buNone/>
              <a:tabLst/>
              <a:defRPr kumimoji="0" sz="1000" b="1" i="0" u="none" strike="noStrike" cap="none" spc="0" normalizeH="0" baseline="0">
                <a:ln>
                  <a:noFill/>
                </a:ln>
                <a:solidFill>
                  <a:srgbClr val="0F1C50"/>
                </a:solidFill>
                <a:effectLst/>
                <a:uLnTx/>
                <a:uFillTx/>
                <a:latin typeface="Helvetica Neue"/>
              </a:defRPr>
            </a:lvl1pPr>
          </a:lstStyle>
          <a:p>
            <a:r>
              <a:rPr lang="en-US" noProof="0">
                <a:latin typeface="Arial" panose="020B0604020202020204" pitchFamily="34" charset="0"/>
                <a:cs typeface="Arial" panose="020B0604020202020204" pitchFamily="34" charset="0"/>
              </a:rPr>
              <a:t>CUSTOMER SERVICE APPLICATIONS</a:t>
            </a:r>
          </a:p>
        </p:txBody>
      </p:sp>
      <p:sp>
        <p:nvSpPr>
          <p:cNvPr id="158" name="TextBox 157">
            <a:extLst>
              <a:ext uri="{FF2B5EF4-FFF2-40B4-BE49-F238E27FC236}">
                <a16:creationId xmlns:a16="http://schemas.microsoft.com/office/drawing/2014/main" id="{669D7019-7460-E57B-D01A-D696E30B5B75}"/>
              </a:ext>
            </a:extLst>
          </p:cNvPr>
          <p:cNvSpPr txBox="1"/>
          <p:nvPr/>
        </p:nvSpPr>
        <p:spPr>
          <a:xfrm>
            <a:off x="526542" y="2279698"/>
            <a:ext cx="1902333" cy="156133"/>
          </a:xfrm>
          <a:prstGeom prst="rect">
            <a:avLst/>
          </a:prstGeom>
          <a:noFill/>
        </p:spPr>
        <p:txBody>
          <a:bodyPr wrap="square" lIns="0" tIns="0" rIns="0" bIns="0" anchor="ctr">
            <a:spAutoFit/>
          </a:bodyPr>
          <a:lstStyle>
            <a:defPPr>
              <a:defRPr lang="en-US"/>
            </a:defPPr>
            <a:lvl1pPr marR="0" lvl="0" indent="0" fontAlgn="auto">
              <a:lnSpc>
                <a:spcPct val="110000"/>
              </a:lnSpc>
              <a:spcBef>
                <a:spcPts val="0"/>
              </a:spcBef>
              <a:spcAft>
                <a:spcPts val="0"/>
              </a:spcAft>
              <a:buClrTx/>
              <a:buSzTx/>
              <a:buFontTx/>
              <a:buNone/>
              <a:tabLst/>
              <a:defRPr kumimoji="0" sz="1000" b="1" i="0" u="none" strike="noStrike" cap="none" spc="0" normalizeH="0" baseline="0">
                <a:ln>
                  <a:noFill/>
                </a:ln>
                <a:solidFill>
                  <a:srgbClr val="0F1C50"/>
                </a:solidFill>
                <a:effectLst/>
                <a:uLnTx/>
                <a:uFillTx/>
                <a:latin typeface="Helvetica Neue"/>
              </a:defRPr>
            </a:lvl1pPr>
          </a:lstStyle>
          <a:p>
            <a:r>
              <a:rPr lang="en-US" noProof="0">
                <a:latin typeface="Arial" panose="020B0604020202020204" pitchFamily="34" charset="0"/>
                <a:cs typeface="Arial" panose="020B0604020202020204" pitchFamily="34" charset="0"/>
              </a:rPr>
              <a:t>BRS</a:t>
            </a:r>
          </a:p>
        </p:txBody>
      </p:sp>
      <p:sp>
        <p:nvSpPr>
          <p:cNvPr id="159" name="TextBox 158">
            <a:extLst>
              <a:ext uri="{FF2B5EF4-FFF2-40B4-BE49-F238E27FC236}">
                <a16:creationId xmlns:a16="http://schemas.microsoft.com/office/drawing/2014/main" id="{52EF6333-E669-0B78-6731-1518AC78641F}"/>
              </a:ext>
            </a:extLst>
          </p:cNvPr>
          <p:cNvSpPr txBox="1"/>
          <p:nvPr/>
        </p:nvSpPr>
        <p:spPr>
          <a:xfrm>
            <a:off x="526542" y="2621888"/>
            <a:ext cx="1902333" cy="156133"/>
          </a:xfrm>
          <a:prstGeom prst="rect">
            <a:avLst/>
          </a:prstGeom>
          <a:noFill/>
        </p:spPr>
        <p:txBody>
          <a:bodyPr wrap="square" lIns="0" tIns="0" rIns="0" bIns="0" anchor="ctr">
            <a:spAutoFit/>
          </a:bodyPr>
          <a:lstStyle>
            <a:defPPr>
              <a:defRPr lang="en-US"/>
            </a:defPPr>
            <a:lvl1pPr marR="0" lvl="0" indent="0" fontAlgn="auto">
              <a:lnSpc>
                <a:spcPct val="110000"/>
              </a:lnSpc>
              <a:spcBef>
                <a:spcPts val="0"/>
              </a:spcBef>
              <a:spcAft>
                <a:spcPts val="0"/>
              </a:spcAft>
              <a:buClrTx/>
              <a:buSzTx/>
              <a:buFontTx/>
              <a:buNone/>
              <a:tabLst/>
              <a:defRPr kumimoji="0" sz="1000" b="1" i="0" u="none" strike="noStrike" cap="none" spc="0" normalizeH="0" baseline="0">
                <a:ln>
                  <a:noFill/>
                </a:ln>
                <a:solidFill>
                  <a:srgbClr val="0F1C50"/>
                </a:solidFill>
                <a:effectLst/>
                <a:uLnTx/>
                <a:uFillTx/>
                <a:latin typeface="Helvetica Neue"/>
              </a:defRPr>
            </a:lvl1pPr>
          </a:lstStyle>
          <a:p>
            <a:r>
              <a:rPr lang="en-US" noProof="0">
                <a:latin typeface="Arial" panose="020B0604020202020204" pitchFamily="34" charset="0"/>
                <a:cs typeface="Arial" panose="020B0604020202020204" pitchFamily="34" charset="0"/>
              </a:rPr>
              <a:t>BRS</a:t>
            </a:r>
          </a:p>
        </p:txBody>
      </p:sp>
      <p:sp>
        <p:nvSpPr>
          <p:cNvPr id="160" name="TextBox 159">
            <a:extLst>
              <a:ext uri="{FF2B5EF4-FFF2-40B4-BE49-F238E27FC236}">
                <a16:creationId xmlns:a16="http://schemas.microsoft.com/office/drawing/2014/main" id="{27748373-0002-6289-BECF-BF73D37E8B0F}"/>
              </a:ext>
            </a:extLst>
          </p:cNvPr>
          <p:cNvSpPr txBox="1"/>
          <p:nvPr/>
        </p:nvSpPr>
        <p:spPr>
          <a:xfrm>
            <a:off x="526542" y="1946617"/>
            <a:ext cx="1902333" cy="156133"/>
          </a:xfrm>
          <a:prstGeom prst="rect">
            <a:avLst/>
          </a:prstGeom>
          <a:noFill/>
        </p:spPr>
        <p:txBody>
          <a:bodyPr wrap="square" lIns="0" tIns="0" rIns="0" bIns="0" anchor="ctr">
            <a:spAutoFit/>
          </a:bodyPr>
          <a:lstStyle>
            <a:defPPr>
              <a:defRPr lang="en-US"/>
            </a:defPPr>
            <a:lvl1pPr marR="0" lvl="0" indent="0" fontAlgn="auto">
              <a:lnSpc>
                <a:spcPct val="110000"/>
              </a:lnSpc>
              <a:spcBef>
                <a:spcPts val="0"/>
              </a:spcBef>
              <a:spcAft>
                <a:spcPts val="0"/>
              </a:spcAft>
              <a:buClrTx/>
              <a:buSzTx/>
              <a:buFontTx/>
              <a:buNone/>
              <a:tabLst/>
              <a:defRPr kumimoji="0" sz="1000" b="1" i="0" u="none" strike="noStrike" cap="none" spc="0" normalizeH="0" baseline="0">
                <a:ln>
                  <a:noFill/>
                </a:ln>
                <a:solidFill>
                  <a:srgbClr val="0F1C50"/>
                </a:solidFill>
                <a:effectLst/>
                <a:uLnTx/>
                <a:uFillTx/>
                <a:latin typeface="Helvetica Neue"/>
              </a:defRPr>
            </a:lvl1pPr>
          </a:lstStyle>
          <a:p>
            <a:r>
              <a:rPr lang="en-US" noProof="0">
                <a:latin typeface="Arial" panose="020B0604020202020204" pitchFamily="34" charset="0"/>
                <a:cs typeface="Arial" panose="020B0604020202020204" pitchFamily="34" charset="0"/>
              </a:rPr>
              <a:t>BRS</a:t>
            </a:r>
          </a:p>
        </p:txBody>
      </p:sp>
      <p:sp>
        <p:nvSpPr>
          <p:cNvPr id="2" name="Rectángulo 1">
            <a:extLst>
              <a:ext uri="{FF2B5EF4-FFF2-40B4-BE49-F238E27FC236}">
                <a16:creationId xmlns:a16="http://schemas.microsoft.com/office/drawing/2014/main" id="{FC35C1A5-1B3C-C5F6-8A55-8A41E9C022CA}"/>
              </a:ext>
            </a:extLst>
          </p:cNvPr>
          <p:cNvSpPr/>
          <p:nvPr/>
        </p:nvSpPr>
        <p:spPr>
          <a:xfrm>
            <a:off x="2348655" y="609600"/>
            <a:ext cx="5919891" cy="26111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err="1"/>
              <a:t>KUMAr</a:t>
            </a:r>
            <a:r>
              <a:rPr lang="es-MX" sz="1200"/>
              <a:t> y Heather; OK </a:t>
            </a:r>
          </a:p>
          <a:p>
            <a:pPr algn="ctr"/>
            <a:endParaRPr lang="es-MX" sz="1200"/>
          </a:p>
          <a:p>
            <a:pPr algn="ctr"/>
            <a:r>
              <a:rPr lang="es-MX" sz="1200"/>
              <a:t>Asier y Carlos foros identificados de una parte y otra; </a:t>
            </a:r>
            <a:r>
              <a:rPr lang="es-MX" sz="1200" err="1"/>
              <a:t>Shark</a:t>
            </a:r>
            <a:r>
              <a:rPr lang="es-MX" sz="1200"/>
              <a:t> </a:t>
            </a:r>
            <a:r>
              <a:rPr lang="es-MX" sz="1200" err="1"/>
              <a:t>Tank</a:t>
            </a:r>
            <a:r>
              <a:rPr lang="es-MX" sz="1200"/>
              <a:t> (presentar ideas de </a:t>
            </a:r>
            <a:r>
              <a:rPr lang="es-MX" sz="1200" err="1"/>
              <a:t>POs</a:t>
            </a:r>
            <a:r>
              <a:rPr lang="es-MX" sz="1200"/>
              <a:t> a aprobación, Carlos Bruno Moreto.</a:t>
            </a:r>
          </a:p>
          <a:p>
            <a:pPr algn="ctr"/>
            <a:r>
              <a:rPr lang="es-MX" sz="1200" err="1"/>
              <a:t>BigRoom</a:t>
            </a:r>
            <a:r>
              <a:rPr lang="es-MX" sz="1200"/>
              <a:t> </a:t>
            </a:r>
            <a:r>
              <a:rPr lang="es-MX" sz="1200" err="1"/>
              <a:t>Planning</a:t>
            </a:r>
            <a:r>
              <a:rPr lang="es-MX" sz="1200"/>
              <a:t> – Planificación del </a:t>
            </a:r>
            <a:r>
              <a:rPr lang="es-MX" sz="1200" err="1"/>
              <a:t>Quarter</a:t>
            </a:r>
            <a:r>
              <a:rPr lang="es-MX" sz="1200"/>
              <a:t> </a:t>
            </a:r>
            <a:r>
              <a:rPr lang="es-MX" sz="1200" err="1"/>
              <a:t>roadmaps</a:t>
            </a:r>
            <a:r>
              <a:rPr lang="es-MX" sz="1200"/>
              <a:t> y trabajo de próximos meses</a:t>
            </a:r>
          </a:p>
          <a:p>
            <a:pPr algn="ctr"/>
            <a:endParaRPr lang="es-MX" sz="1200"/>
          </a:p>
          <a:p>
            <a:pPr algn="ctr"/>
            <a:r>
              <a:rPr lang="es-MX" sz="1200"/>
              <a:t>Portfolio </a:t>
            </a:r>
            <a:r>
              <a:rPr lang="es-MX" sz="1200" err="1"/>
              <a:t>commitee</a:t>
            </a:r>
            <a:r>
              <a:rPr lang="es-MX" sz="1200"/>
              <a:t> in </a:t>
            </a:r>
            <a:r>
              <a:rPr lang="es-MX" sz="1200" err="1"/>
              <a:t>progress</a:t>
            </a:r>
            <a:r>
              <a:rPr lang="es-MX" sz="1200"/>
              <a:t>: </a:t>
            </a:r>
            <a:r>
              <a:rPr lang="es-MX" sz="1200" err="1"/>
              <a:t>programming</a:t>
            </a:r>
            <a:r>
              <a:rPr lang="es-MX" sz="1200"/>
              <a:t> Review, </a:t>
            </a:r>
            <a:r>
              <a:rPr lang="es-MX" sz="1200" err="1"/>
              <a:t>solutioning</a:t>
            </a:r>
            <a:r>
              <a:rPr lang="es-MX" sz="1200"/>
              <a:t> </a:t>
            </a:r>
            <a:r>
              <a:rPr lang="es-MX" sz="1200" err="1"/>
              <a:t>design</a:t>
            </a:r>
            <a:r>
              <a:rPr lang="es-MX" sz="1200"/>
              <a:t> sesión</a:t>
            </a:r>
          </a:p>
          <a:p>
            <a:pPr algn="ctr"/>
            <a:endParaRPr lang="es-MX" sz="1200"/>
          </a:p>
          <a:p>
            <a:pPr algn="ctr"/>
            <a:r>
              <a:rPr lang="es-MX" sz="1200"/>
              <a:t>Mas foros de </a:t>
            </a:r>
            <a:r>
              <a:rPr lang="es-MX" sz="1200" err="1"/>
              <a:t>governancel</a:t>
            </a:r>
            <a:r>
              <a:rPr lang="es-MX" sz="1200"/>
              <a:t> proyecto pasado que estén activos</a:t>
            </a:r>
          </a:p>
          <a:p>
            <a:pPr algn="ctr"/>
            <a:endParaRPr lang="es-MX" sz="1200"/>
          </a:p>
        </p:txBody>
      </p:sp>
      <p:sp>
        <p:nvSpPr>
          <p:cNvPr id="56" name="Rectangle 127">
            <a:extLst>
              <a:ext uri="{FF2B5EF4-FFF2-40B4-BE49-F238E27FC236}">
                <a16:creationId xmlns:a16="http://schemas.microsoft.com/office/drawing/2014/main" id="{BFA336B4-2BE3-4A73-196E-F8631CCCB5A6}"/>
              </a:ext>
            </a:extLst>
          </p:cNvPr>
          <p:cNvSpPr/>
          <p:nvPr/>
        </p:nvSpPr>
        <p:spPr>
          <a:xfrm>
            <a:off x="457200" y="5324414"/>
            <a:ext cx="11274552" cy="361123"/>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57" name="TextBox 128">
            <a:extLst>
              <a:ext uri="{FF2B5EF4-FFF2-40B4-BE49-F238E27FC236}">
                <a16:creationId xmlns:a16="http://schemas.microsoft.com/office/drawing/2014/main" id="{6B83C155-89D6-DF3F-AD50-C29C9AE22A03}"/>
              </a:ext>
            </a:extLst>
          </p:cNvPr>
          <p:cNvSpPr txBox="1"/>
          <p:nvPr/>
        </p:nvSpPr>
        <p:spPr>
          <a:xfrm>
            <a:off x="3063240" y="5426909"/>
            <a:ext cx="274320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Shark Tank</a:t>
            </a:r>
          </a:p>
        </p:txBody>
      </p:sp>
      <p:sp>
        <p:nvSpPr>
          <p:cNvPr id="58" name="TextBox 129">
            <a:extLst>
              <a:ext uri="{FF2B5EF4-FFF2-40B4-BE49-F238E27FC236}">
                <a16:creationId xmlns:a16="http://schemas.microsoft.com/office/drawing/2014/main" id="{6D55C861-54B4-CA8A-B47B-C50746E193C2}"/>
              </a:ext>
            </a:extLst>
          </p:cNvPr>
          <p:cNvSpPr txBox="1"/>
          <p:nvPr/>
        </p:nvSpPr>
        <p:spPr>
          <a:xfrm>
            <a:off x="5654040" y="5426909"/>
            <a:ext cx="109728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Weekly</a:t>
            </a:r>
          </a:p>
        </p:txBody>
      </p:sp>
      <p:sp>
        <p:nvSpPr>
          <p:cNvPr id="59" name="TextBox 130">
            <a:extLst>
              <a:ext uri="{FF2B5EF4-FFF2-40B4-BE49-F238E27FC236}">
                <a16:creationId xmlns:a16="http://schemas.microsoft.com/office/drawing/2014/main" id="{A16F3B9D-1A52-B042-5E27-B19288D39CB1}"/>
              </a:ext>
            </a:extLst>
          </p:cNvPr>
          <p:cNvSpPr txBox="1"/>
          <p:nvPr/>
        </p:nvSpPr>
        <p:spPr>
          <a:xfrm>
            <a:off x="6903720" y="5434732"/>
            <a:ext cx="3657600" cy="140488"/>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Project Managers</a:t>
            </a:r>
          </a:p>
        </p:txBody>
      </p:sp>
      <p:sp>
        <p:nvSpPr>
          <p:cNvPr id="60" name="Rectangle 132">
            <a:extLst>
              <a:ext uri="{FF2B5EF4-FFF2-40B4-BE49-F238E27FC236}">
                <a16:creationId xmlns:a16="http://schemas.microsoft.com/office/drawing/2014/main" id="{79C60463-A32D-3850-6E64-7310A234726D}"/>
              </a:ext>
            </a:extLst>
          </p:cNvPr>
          <p:cNvSpPr/>
          <p:nvPr/>
        </p:nvSpPr>
        <p:spPr>
          <a:xfrm>
            <a:off x="457200" y="5695855"/>
            <a:ext cx="11274552" cy="36112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61" name="TextBox 133">
            <a:extLst>
              <a:ext uri="{FF2B5EF4-FFF2-40B4-BE49-F238E27FC236}">
                <a16:creationId xmlns:a16="http://schemas.microsoft.com/office/drawing/2014/main" id="{CABE2CB5-1B55-6F9C-D3B4-B736AB6B7AFC}"/>
              </a:ext>
            </a:extLst>
          </p:cNvPr>
          <p:cNvSpPr txBox="1"/>
          <p:nvPr/>
        </p:nvSpPr>
        <p:spPr>
          <a:xfrm>
            <a:off x="3063240" y="5798350"/>
            <a:ext cx="274320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Big Room Planning</a:t>
            </a:r>
          </a:p>
        </p:txBody>
      </p:sp>
      <p:sp>
        <p:nvSpPr>
          <p:cNvPr id="62" name="TextBox 134">
            <a:extLst>
              <a:ext uri="{FF2B5EF4-FFF2-40B4-BE49-F238E27FC236}">
                <a16:creationId xmlns:a16="http://schemas.microsoft.com/office/drawing/2014/main" id="{A332A163-C634-ADCF-AB1F-EA515CDD620B}"/>
              </a:ext>
            </a:extLst>
          </p:cNvPr>
          <p:cNvSpPr txBox="1"/>
          <p:nvPr/>
        </p:nvSpPr>
        <p:spPr>
          <a:xfrm>
            <a:off x="5654040" y="5798350"/>
            <a:ext cx="109728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As needed</a:t>
            </a:r>
          </a:p>
        </p:txBody>
      </p:sp>
      <p:sp>
        <p:nvSpPr>
          <p:cNvPr id="63" name="TextBox 135">
            <a:extLst>
              <a:ext uri="{FF2B5EF4-FFF2-40B4-BE49-F238E27FC236}">
                <a16:creationId xmlns:a16="http://schemas.microsoft.com/office/drawing/2014/main" id="{F2DA9480-4B36-AEE0-6076-860C4AFB85EA}"/>
              </a:ext>
            </a:extLst>
          </p:cNvPr>
          <p:cNvSpPr txBox="1"/>
          <p:nvPr/>
        </p:nvSpPr>
        <p:spPr>
          <a:xfrm>
            <a:off x="6903720" y="5806172"/>
            <a:ext cx="3657600" cy="140488"/>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Vendor consultants, business team 	</a:t>
            </a:r>
          </a:p>
        </p:txBody>
      </p:sp>
      <p:sp>
        <p:nvSpPr>
          <p:cNvPr id="143" name="Rectangle 137">
            <a:extLst>
              <a:ext uri="{FF2B5EF4-FFF2-40B4-BE49-F238E27FC236}">
                <a16:creationId xmlns:a16="http://schemas.microsoft.com/office/drawing/2014/main" id="{422757B7-CDA5-ADCC-AFCC-DC0E9F891EE8}"/>
              </a:ext>
            </a:extLst>
          </p:cNvPr>
          <p:cNvSpPr/>
          <p:nvPr/>
        </p:nvSpPr>
        <p:spPr>
          <a:xfrm>
            <a:off x="457200" y="6067295"/>
            <a:ext cx="11274552" cy="361123"/>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49" name="TextBox 138">
            <a:extLst>
              <a:ext uri="{FF2B5EF4-FFF2-40B4-BE49-F238E27FC236}">
                <a16:creationId xmlns:a16="http://schemas.microsoft.com/office/drawing/2014/main" id="{E037EA41-6C06-7E63-0CE7-D4427A43A3D6}"/>
              </a:ext>
            </a:extLst>
          </p:cNvPr>
          <p:cNvSpPr txBox="1"/>
          <p:nvPr/>
        </p:nvSpPr>
        <p:spPr>
          <a:xfrm>
            <a:off x="3063240" y="6169790"/>
            <a:ext cx="274320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Incident resolution</a:t>
            </a:r>
          </a:p>
        </p:txBody>
      </p:sp>
      <p:sp>
        <p:nvSpPr>
          <p:cNvPr id="155" name="TextBox 139">
            <a:extLst>
              <a:ext uri="{FF2B5EF4-FFF2-40B4-BE49-F238E27FC236}">
                <a16:creationId xmlns:a16="http://schemas.microsoft.com/office/drawing/2014/main" id="{1AE64053-61E2-0545-2AB8-701CFE53A9E9}"/>
              </a:ext>
            </a:extLst>
          </p:cNvPr>
          <p:cNvSpPr txBox="1"/>
          <p:nvPr/>
        </p:nvSpPr>
        <p:spPr>
          <a:xfrm>
            <a:off x="5654040" y="6169790"/>
            <a:ext cx="109728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As needed</a:t>
            </a:r>
          </a:p>
        </p:txBody>
      </p:sp>
      <p:sp>
        <p:nvSpPr>
          <p:cNvPr id="156" name="TextBox 140">
            <a:extLst>
              <a:ext uri="{FF2B5EF4-FFF2-40B4-BE49-F238E27FC236}">
                <a16:creationId xmlns:a16="http://schemas.microsoft.com/office/drawing/2014/main" id="{B9B3D827-ABF0-2937-000A-F4E4F92BB060}"/>
              </a:ext>
            </a:extLst>
          </p:cNvPr>
          <p:cNvSpPr txBox="1"/>
          <p:nvPr/>
        </p:nvSpPr>
        <p:spPr>
          <a:xfrm>
            <a:off x="6903720" y="6177613"/>
            <a:ext cx="3657600" cy="140488"/>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Vendor (Accenture) and IT Lead</a:t>
            </a:r>
          </a:p>
        </p:txBody>
      </p:sp>
      <p:sp>
        <p:nvSpPr>
          <p:cNvPr id="161" name="TextBox 149">
            <a:extLst>
              <a:ext uri="{FF2B5EF4-FFF2-40B4-BE49-F238E27FC236}">
                <a16:creationId xmlns:a16="http://schemas.microsoft.com/office/drawing/2014/main" id="{38E8EDFE-9AFC-7684-22DA-14D190782CD4}"/>
              </a:ext>
            </a:extLst>
          </p:cNvPr>
          <p:cNvSpPr txBox="1"/>
          <p:nvPr/>
        </p:nvSpPr>
        <p:spPr>
          <a:xfrm>
            <a:off x="526542" y="5428489"/>
            <a:ext cx="1902333" cy="156133"/>
          </a:xfrm>
          <a:prstGeom prst="rect">
            <a:avLst/>
          </a:prstGeom>
          <a:noFill/>
        </p:spPr>
        <p:txBody>
          <a:bodyPr wrap="square" lIns="0" tIns="0" rIns="0" bIns="0" anchor="ctr">
            <a:spAutoFit/>
          </a:bodyPr>
          <a:lstStyle>
            <a:defPPr>
              <a:defRPr lang="en-US"/>
            </a:defPPr>
            <a:lvl1pPr marR="0" lvl="0" indent="0" fontAlgn="auto">
              <a:lnSpc>
                <a:spcPct val="110000"/>
              </a:lnSpc>
              <a:spcBef>
                <a:spcPts val="0"/>
              </a:spcBef>
              <a:spcAft>
                <a:spcPts val="0"/>
              </a:spcAft>
              <a:buClrTx/>
              <a:buSzTx/>
              <a:buFontTx/>
              <a:buNone/>
              <a:tabLst/>
              <a:defRPr kumimoji="0" sz="1000" b="1" i="0" u="none" strike="noStrike" cap="none" spc="0" normalizeH="0" baseline="0">
                <a:ln>
                  <a:noFill/>
                </a:ln>
                <a:solidFill>
                  <a:srgbClr val="0F1C50"/>
                </a:solidFill>
                <a:effectLst/>
                <a:uLnTx/>
                <a:uFillTx/>
                <a:latin typeface="Helvetica Neue"/>
              </a:defRPr>
            </a:lvl1pPr>
          </a:lstStyle>
          <a:p>
            <a:r>
              <a:rPr lang="en-US" noProof="0">
                <a:latin typeface="Arial" panose="020B0604020202020204" pitchFamily="34" charset="0"/>
                <a:cs typeface="Arial" panose="020B0604020202020204" pitchFamily="34" charset="0"/>
              </a:rPr>
              <a:t>IT BUSINESS APPLICATIONS</a:t>
            </a:r>
          </a:p>
        </p:txBody>
      </p:sp>
      <p:sp>
        <p:nvSpPr>
          <p:cNvPr id="162" name="TextBox 150">
            <a:extLst>
              <a:ext uri="{FF2B5EF4-FFF2-40B4-BE49-F238E27FC236}">
                <a16:creationId xmlns:a16="http://schemas.microsoft.com/office/drawing/2014/main" id="{74DD19BB-E27B-5FF9-28C2-F5B1B71FACC7}"/>
              </a:ext>
            </a:extLst>
          </p:cNvPr>
          <p:cNvSpPr txBox="1"/>
          <p:nvPr/>
        </p:nvSpPr>
        <p:spPr>
          <a:xfrm>
            <a:off x="526542" y="5799254"/>
            <a:ext cx="1902333" cy="156133"/>
          </a:xfrm>
          <a:prstGeom prst="rect">
            <a:avLst/>
          </a:prstGeom>
          <a:noFill/>
        </p:spPr>
        <p:txBody>
          <a:bodyPr wrap="square" lIns="0" tIns="0" rIns="0" bIns="0" anchor="ctr">
            <a:spAutoFit/>
          </a:bodyPr>
          <a:lstStyle>
            <a:defPPr>
              <a:defRPr lang="en-US"/>
            </a:defPPr>
            <a:lvl1pPr marR="0" lvl="0" indent="0" fontAlgn="auto">
              <a:lnSpc>
                <a:spcPct val="110000"/>
              </a:lnSpc>
              <a:spcBef>
                <a:spcPts val="0"/>
              </a:spcBef>
              <a:spcAft>
                <a:spcPts val="0"/>
              </a:spcAft>
              <a:buClrTx/>
              <a:buSzTx/>
              <a:buFontTx/>
              <a:buNone/>
              <a:tabLst/>
              <a:defRPr kumimoji="0" sz="1000" b="1" i="0" u="none" strike="noStrike" cap="none" spc="0" normalizeH="0" baseline="0">
                <a:ln>
                  <a:noFill/>
                </a:ln>
                <a:solidFill>
                  <a:srgbClr val="0F1C50"/>
                </a:solidFill>
                <a:effectLst/>
                <a:uLnTx/>
                <a:uFillTx/>
                <a:latin typeface="Helvetica Neue"/>
              </a:defRPr>
            </a:lvl1pPr>
          </a:lstStyle>
          <a:p>
            <a:r>
              <a:rPr lang="en-US" noProof="0">
                <a:latin typeface="Arial" panose="020B0604020202020204" pitchFamily="34" charset="0"/>
                <a:cs typeface="Arial" panose="020B0604020202020204" pitchFamily="34" charset="0"/>
              </a:rPr>
              <a:t>IT BUSINESS APPLICATIONS</a:t>
            </a:r>
          </a:p>
        </p:txBody>
      </p:sp>
      <p:sp>
        <p:nvSpPr>
          <p:cNvPr id="163" name="TextBox 151">
            <a:extLst>
              <a:ext uri="{FF2B5EF4-FFF2-40B4-BE49-F238E27FC236}">
                <a16:creationId xmlns:a16="http://schemas.microsoft.com/office/drawing/2014/main" id="{96A64900-54EA-106A-E9A4-A8BA411291BC}"/>
              </a:ext>
            </a:extLst>
          </p:cNvPr>
          <p:cNvSpPr txBox="1"/>
          <p:nvPr/>
        </p:nvSpPr>
        <p:spPr>
          <a:xfrm>
            <a:off x="526542" y="6172636"/>
            <a:ext cx="1902333" cy="156133"/>
          </a:xfrm>
          <a:prstGeom prst="rect">
            <a:avLst/>
          </a:prstGeom>
          <a:noFill/>
        </p:spPr>
        <p:txBody>
          <a:bodyPr wrap="square" lIns="0" tIns="0" rIns="0" bIns="0" anchor="ctr">
            <a:spAutoFit/>
          </a:bodyPr>
          <a:lstStyle>
            <a:defPPr>
              <a:defRPr lang="en-US"/>
            </a:defPPr>
            <a:lvl1pPr marR="0" lvl="0" indent="0" fontAlgn="auto">
              <a:lnSpc>
                <a:spcPct val="110000"/>
              </a:lnSpc>
              <a:spcBef>
                <a:spcPts val="0"/>
              </a:spcBef>
              <a:spcAft>
                <a:spcPts val="0"/>
              </a:spcAft>
              <a:buClrTx/>
              <a:buSzTx/>
              <a:buFontTx/>
              <a:buNone/>
              <a:tabLst/>
              <a:defRPr kumimoji="0" sz="1000" b="1" i="0" u="none" strike="noStrike" cap="none" spc="0" normalizeH="0" baseline="0">
                <a:ln>
                  <a:noFill/>
                </a:ln>
                <a:solidFill>
                  <a:srgbClr val="0F1C50"/>
                </a:solidFill>
                <a:effectLst/>
                <a:uLnTx/>
                <a:uFillTx/>
                <a:latin typeface="Helvetica Neue"/>
              </a:defRPr>
            </a:lvl1pPr>
          </a:lstStyle>
          <a:p>
            <a:r>
              <a:rPr lang="en-US" noProof="0">
                <a:latin typeface="Arial" panose="020B0604020202020204" pitchFamily="34" charset="0"/>
                <a:cs typeface="Arial" panose="020B0604020202020204" pitchFamily="34" charset="0"/>
              </a:rPr>
              <a:t>IT BUSINESS APPLICATIONS</a:t>
            </a:r>
          </a:p>
        </p:txBody>
      </p:sp>
      <p:sp>
        <p:nvSpPr>
          <p:cNvPr id="164" name="Rectangle 132">
            <a:extLst>
              <a:ext uri="{FF2B5EF4-FFF2-40B4-BE49-F238E27FC236}">
                <a16:creationId xmlns:a16="http://schemas.microsoft.com/office/drawing/2014/main" id="{1B60F52F-9B0C-A551-5FF6-45FC94FB8E2A}"/>
              </a:ext>
            </a:extLst>
          </p:cNvPr>
          <p:cNvSpPr/>
          <p:nvPr/>
        </p:nvSpPr>
        <p:spPr>
          <a:xfrm>
            <a:off x="457200" y="4974495"/>
            <a:ext cx="11274552" cy="36112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66" name="TextBox 133">
            <a:extLst>
              <a:ext uri="{FF2B5EF4-FFF2-40B4-BE49-F238E27FC236}">
                <a16:creationId xmlns:a16="http://schemas.microsoft.com/office/drawing/2014/main" id="{6199112B-C892-AF01-FFBA-7382AFE08D67}"/>
              </a:ext>
            </a:extLst>
          </p:cNvPr>
          <p:cNvSpPr txBox="1"/>
          <p:nvPr/>
        </p:nvSpPr>
        <p:spPr>
          <a:xfrm>
            <a:off x="3063240" y="5076990"/>
            <a:ext cx="274320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Big Room Planning</a:t>
            </a:r>
          </a:p>
        </p:txBody>
      </p:sp>
      <p:sp>
        <p:nvSpPr>
          <p:cNvPr id="167" name="TextBox 134">
            <a:extLst>
              <a:ext uri="{FF2B5EF4-FFF2-40B4-BE49-F238E27FC236}">
                <a16:creationId xmlns:a16="http://schemas.microsoft.com/office/drawing/2014/main" id="{B744C147-FEC7-92EF-448F-8AECB1B9555A}"/>
              </a:ext>
            </a:extLst>
          </p:cNvPr>
          <p:cNvSpPr txBox="1"/>
          <p:nvPr/>
        </p:nvSpPr>
        <p:spPr>
          <a:xfrm>
            <a:off x="5654040" y="5076990"/>
            <a:ext cx="109728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As needed</a:t>
            </a:r>
          </a:p>
        </p:txBody>
      </p:sp>
      <p:sp>
        <p:nvSpPr>
          <p:cNvPr id="168" name="TextBox 135">
            <a:extLst>
              <a:ext uri="{FF2B5EF4-FFF2-40B4-BE49-F238E27FC236}">
                <a16:creationId xmlns:a16="http://schemas.microsoft.com/office/drawing/2014/main" id="{9EDE0FB4-BC23-ACCE-3650-0E3E445A3FE9}"/>
              </a:ext>
            </a:extLst>
          </p:cNvPr>
          <p:cNvSpPr txBox="1"/>
          <p:nvPr/>
        </p:nvSpPr>
        <p:spPr>
          <a:xfrm>
            <a:off x="6903720" y="5084812"/>
            <a:ext cx="3657600" cy="140488"/>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Vendor consultants, business team 	</a:t>
            </a:r>
          </a:p>
        </p:txBody>
      </p:sp>
      <p:sp>
        <p:nvSpPr>
          <p:cNvPr id="169" name="TextBox 150">
            <a:extLst>
              <a:ext uri="{FF2B5EF4-FFF2-40B4-BE49-F238E27FC236}">
                <a16:creationId xmlns:a16="http://schemas.microsoft.com/office/drawing/2014/main" id="{0BE24E87-EDE3-264F-862D-B30A7694C877}"/>
              </a:ext>
            </a:extLst>
          </p:cNvPr>
          <p:cNvSpPr txBox="1"/>
          <p:nvPr/>
        </p:nvSpPr>
        <p:spPr>
          <a:xfrm>
            <a:off x="526542" y="5077894"/>
            <a:ext cx="1902333" cy="156133"/>
          </a:xfrm>
          <a:prstGeom prst="rect">
            <a:avLst/>
          </a:prstGeom>
          <a:noFill/>
        </p:spPr>
        <p:txBody>
          <a:bodyPr wrap="square" lIns="0" tIns="0" rIns="0" bIns="0" anchor="ctr">
            <a:spAutoFit/>
          </a:bodyPr>
          <a:lstStyle>
            <a:defPPr>
              <a:defRPr lang="en-US"/>
            </a:defPPr>
            <a:lvl1pPr marR="0" lvl="0" indent="0" fontAlgn="auto">
              <a:lnSpc>
                <a:spcPct val="110000"/>
              </a:lnSpc>
              <a:spcBef>
                <a:spcPts val="0"/>
              </a:spcBef>
              <a:spcAft>
                <a:spcPts val="0"/>
              </a:spcAft>
              <a:buClrTx/>
              <a:buSzTx/>
              <a:buFontTx/>
              <a:buNone/>
              <a:tabLst/>
              <a:defRPr kumimoji="0" sz="1000" b="1" i="0" u="none" strike="noStrike" cap="none" spc="0" normalizeH="0" baseline="0">
                <a:ln>
                  <a:noFill/>
                </a:ln>
                <a:solidFill>
                  <a:srgbClr val="0F1C50"/>
                </a:solidFill>
                <a:effectLst/>
                <a:uLnTx/>
                <a:uFillTx/>
                <a:latin typeface="Helvetica Neue"/>
              </a:defRPr>
            </a:lvl1pPr>
          </a:lstStyle>
          <a:p>
            <a:r>
              <a:rPr lang="en-US" noProof="0">
                <a:latin typeface="Arial" panose="020B0604020202020204" pitchFamily="34" charset="0"/>
                <a:cs typeface="Arial" panose="020B0604020202020204" pitchFamily="34" charset="0"/>
              </a:rPr>
              <a:t>IT BUSINESS APPLICATIONS</a:t>
            </a:r>
          </a:p>
        </p:txBody>
      </p:sp>
    </p:spTree>
    <p:extLst>
      <p:ext uri="{BB962C8B-B14F-4D97-AF65-F5344CB8AC3E}">
        <p14:creationId xmlns:p14="http://schemas.microsoft.com/office/powerpoint/2010/main" val="2070795118"/>
      </p:ext>
    </p:extLst>
  </p:cSld>
  <p:clrMapOvr>
    <a:masterClrMapping/>
  </p:clrMapOvr>
  <p:extLst>
    <p:ext uri="{6950BFC3-D8DA-4A85-94F7-54DA5524770B}">
      <p188:commentRel xmlns:p188="http://schemas.microsoft.com/office/powerpoint/2018/8/main" r:id="rId3"/>
    </p:ext>
  </p:extLs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F5178F-A4B3-A02B-7F16-74399AD68F63}"/>
            </a:ext>
          </a:extLst>
        </p:cNvPr>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B9ADF9EB-C468-FFDF-C8D3-C9B195D58FF5}"/>
              </a:ext>
            </a:extLst>
          </p:cNvPr>
          <p:cNvSpPr/>
          <p:nvPr/>
        </p:nvSpPr>
        <p:spPr>
          <a:xfrm>
            <a:off x="657721" y="4568871"/>
            <a:ext cx="9343974" cy="815851"/>
          </a:xfrm>
          <a:prstGeom prst="roundRect">
            <a:avLst/>
          </a:prstGeom>
          <a:solidFill>
            <a:schemeClr val="tx2">
              <a:lumMod val="10000"/>
              <a:lumOff val="90000"/>
              <a:alpha val="41961"/>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grpSp>
        <p:nvGrpSpPr>
          <p:cNvPr id="30" name="Group 29">
            <a:extLst>
              <a:ext uri="{FF2B5EF4-FFF2-40B4-BE49-F238E27FC236}">
                <a16:creationId xmlns:a16="http://schemas.microsoft.com/office/drawing/2014/main" id="{F7F50367-AF05-6320-77E0-3182EA9A4062}"/>
              </a:ext>
            </a:extLst>
          </p:cNvPr>
          <p:cNvGrpSpPr/>
          <p:nvPr/>
        </p:nvGrpSpPr>
        <p:grpSpPr>
          <a:xfrm>
            <a:off x="4133725" y="358821"/>
            <a:ext cx="520273" cy="520273"/>
            <a:chOff x="3199239" y="747211"/>
            <a:chExt cx="520273" cy="520273"/>
          </a:xfrm>
        </p:grpSpPr>
        <p:sp>
          <p:nvSpPr>
            <p:cNvPr id="4" name="Freeform 4">
              <a:extLst>
                <a:ext uri="{FF2B5EF4-FFF2-40B4-BE49-F238E27FC236}">
                  <a16:creationId xmlns:a16="http://schemas.microsoft.com/office/drawing/2014/main" id="{AB96DE4D-75CB-35C4-9FCF-F67748413776}"/>
                </a:ext>
              </a:extLst>
            </p:cNvPr>
            <p:cNvSpPr/>
            <p:nvPr/>
          </p:nvSpPr>
          <p:spPr>
            <a:xfrm>
              <a:off x="3199239" y="747211"/>
              <a:ext cx="520273" cy="520273"/>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66675" cap="sq">
              <a:solidFill>
                <a:schemeClr val="accent1"/>
              </a:solidFill>
              <a:prstDash val="solid"/>
              <a:miter/>
            </a:ln>
          </p:spPr>
          <p:txBody>
            <a:bodyPr/>
            <a:lstStyle/>
            <a:p>
              <a:endParaRPr lang="en-US" sz="900" noProof="0">
                <a:solidFill>
                  <a:srgbClr val="000000"/>
                </a:solidFill>
                <a:latin typeface="Arial" panose="020B0604020202020204" pitchFamily="34" charset="0"/>
                <a:cs typeface="Arial" panose="020B0604020202020204" pitchFamily="34" charset="0"/>
              </a:endParaRPr>
            </a:p>
          </p:txBody>
        </p:sp>
        <p:sp>
          <p:nvSpPr>
            <p:cNvPr id="6" name="AutoShape 6">
              <a:extLst>
                <a:ext uri="{FF2B5EF4-FFF2-40B4-BE49-F238E27FC236}">
                  <a16:creationId xmlns:a16="http://schemas.microsoft.com/office/drawing/2014/main" id="{41191E05-495D-5ADF-C31A-40ADDDBAF606}"/>
                </a:ext>
              </a:extLst>
            </p:cNvPr>
            <p:cNvSpPr/>
            <p:nvPr/>
          </p:nvSpPr>
          <p:spPr>
            <a:xfrm>
              <a:off x="3288741" y="1007348"/>
              <a:ext cx="341269" cy="0"/>
            </a:xfrm>
            <a:prstGeom prst="line">
              <a:avLst/>
            </a:prstGeom>
            <a:ln w="73569" cap="flat">
              <a:solidFill>
                <a:schemeClr val="accent1"/>
              </a:solidFill>
              <a:prstDash val="solid"/>
              <a:headEnd type="none" w="sm" len="sm"/>
              <a:tailEnd type="arrow" w="med" len="sm"/>
            </a:ln>
          </p:spPr>
          <p:txBody>
            <a:bodyPr/>
            <a:lstStyle/>
            <a:p>
              <a:endParaRPr lang="en-US" sz="900" noProof="0">
                <a:solidFill>
                  <a:srgbClr val="000000"/>
                </a:solidFill>
                <a:latin typeface="Arial" panose="020B0604020202020204" pitchFamily="34" charset="0"/>
                <a:cs typeface="Arial" panose="020B0604020202020204" pitchFamily="34" charset="0"/>
              </a:endParaRPr>
            </a:p>
          </p:txBody>
        </p:sp>
      </p:grpSp>
      <p:sp>
        <p:nvSpPr>
          <p:cNvPr id="10" name="TextBox 10">
            <a:extLst>
              <a:ext uri="{FF2B5EF4-FFF2-40B4-BE49-F238E27FC236}">
                <a16:creationId xmlns:a16="http://schemas.microsoft.com/office/drawing/2014/main" id="{F0998116-030D-CD25-B1E6-C7B6451E5B17}"/>
              </a:ext>
            </a:extLst>
          </p:cNvPr>
          <p:cNvSpPr txBox="1"/>
          <p:nvPr/>
        </p:nvSpPr>
        <p:spPr>
          <a:xfrm>
            <a:off x="1077073" y="1141030"/>
            <a:ext cx="462060" cy="512448"/>
          </a:xfrm>
          <a:prstGeom prst="rect">
            <a:avLst/>
          </a:prstGeom>
        </p:spPr>
        <p:txBody>
          <a:bodyPr wrap="square" lIns="0" tIns="0" rIns="0" bIns="0" rtlCol="0" anchor="t">
            <a:spAutoFit/>
          </a:bodyPr>
          <a:lstStyle/>
          <a:p>
            <a:pPr>
              <a:lnSpc>
                <a:spcPts val="4608"/>
              </a:lnSpc>
            </a:pPr>
            <a:r>
              <a:rPr lang="en-US" sz="2400" b="1" noProof="0">
                <a:solidFill>
                  <a:schemeClr val="accent1"/>
                </a:solidFill>
                <a:latin typeface="Arial" panose="020B0604020202020204" pitchFamily="34" charset="0"/>
                <a:ea typeface="Gordita Bold"/>
                <a:cs typeface="Arial" panose="020B0604020202020204" pitchFamily="34" charset="0"/>
                <a:sym typeface="Gordita Bold"/>
              </a:rPr>
              <a:t>01</a:t>
            </a:r>
          </a:p>
        </p:txBody>
      </p:sp>
      <p:sp>
        <p:nvSpPr>
          <p:cNvPr id="14" name="TextBox 14">
            <a:extLst>
              <a:ext uri="{FF2B5EF4-FFF2-40B4-BE49-F238E27FC236}">
                <a16:creationId xmlns:a16="http://schemas.microsoft.com/office/drawing/2014/main" id="{226F4B2A-E4BA-7741-0372-61CA00DA16A2}"/>
              </a:ext>
            </a:extLst>
          </p:cNvPr>
          <p:cNvSpPr txBox="1"/>
          <p:nvPr/>
        </p:nvSpPr>
        <p:spPr>
          <a:xfrm>
            <a:off x="1063128" y="2827839"/>
            <a:ext cx="537158"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03</a:t>
            </a:r>
          </a:p>
        </p:txBody>
      </p:sp>
      <p:grpSp>
        <p:nvGrpSpPr>
          <p:cNvPr id="23" name="Grupo 22">
            <a:extLst>
              <a:ext uri="{FF2B5EF4-FFF2-40B4-BE49-F238E27FC236}">
                <a16:creationId xmlns:a16="http://schemas.microsoft.com/office/drawing/2014/main" id="{1F62E5D8-E457-EDC5-427B-B92BD40CB408}"/>
              </a:ext>
            </a:extLst>
          </p:cNvPr>
          <p:cNvGrpSpPr/>
          <p:nvPr/>
        </p:nvGrpSpPr>
        <p:grpSpPr>
          <a:xfrm>
            <a:off x="1854199" y="2802178"/>
            <a:ext cx="9571333" cy="824754"/>
            <a:chOff x="1816102" y="2594699"/>
            <a:chExt cx="9571333" cy="824754"/>
          </a:xfrm>
        </p:grpSpPr>
        <p:sp>
          <p:nvSpPr>
            <p:cNvPr id="15" name="TextBox 15">
              <a:extLst>
                <a:ext uri="{FF2B5EF4-FFF2-40B4-BE49-F238E27FC236}">
                  <a16:creationId xmlns:a16="http://schemas.microsoft.com/office/drawing/2014/main" id="{8455514A-F8F5-ACA5-4096-E28DC7CE1A2C}"/>
                </a:ext>
              </a:extLst>
            </p:cNvPr>
            <p:cNvSpPr txBox="1"/>
            <p:nvPr/>
          </p:nvSpPr>
          <p:spPr>
            <a:xfrm>
              <a:off x="1816102" y="2594699"/>
              <a:ext cx="9571333"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Methodology</a:t>
              </a:r>
            </a:p>
          </p:txBody>
        </p:sp>
        <p:sp>
          <p:nvSpPr>
            <p:cNvPr id="16" name="TextBox 16">
              <a:extLst>
                <a:ext uri="{FF2B5EF4-FFF2-40B4-BE49-F238E27FC236}">
                  <a16:creationId xmlns:a16="http://schemas.microsoft.com/office/drawing/2014/main" id="{D12DF60F-8AA3-53E1-3C18-CC9984E73FF7}"/>
                </a:ext>
              </a:extLst>
            </p:cNvPr>
            <p:cNvSpPr txBox="1"/>
            <p:nvPr/>
          </p:nvSpPr>
          <p:spPr>
            <a:xfrm>
              <a:off x="1816102" y="2983372"/>
              <a:ext cx="7868967" cy="436081"/>
            </a:xfrm>
            <a:prstGeom prst="rect">
              <a:avLst/>
            </a:prstGeom>
          </p:spPr>
          <p:txBody>
            <a:bodyPr wrap="square" lIns="0" tIns="0" rIns="0" bIns="0" rtlCol="0" anchor="t">
              <a:spAutoFit/>
            </a:bodyPr>
            <a:lstStyle/>
            <a:p>
              <a:pPr>
                <a:lnSpc>
                  <a:spcPts val="1820"/>
                </a:lnSpc>
              </a:pPr>
              <a:r>
                <a:rPr lang="en-US" sz="1200" noProof="0">
                  <a:solidFill>
                    <a:srgbClr val="000000"/>
                  </a:solidFill>
                  <a:latin typeface="Arial" panose="020B0604020202020204" pitchFamily="34" charset="0"/>
                  <a:ea typeface="Gordita"/>
                  <a:cs typeface="Arial" panose="020B0604020202020204" pitchFamily="34" charset="0"/>
                  <a:sym typeface="Gordita"/>
                </a:rPr>
                <a:t>A structured approach that defines the phases, activities, and deliverables required to consistently and efficiently achieve project objectives</a:t>
              </a:r>
            </a:p>
          </p:txBody>
        </p:sp>
      </p:grpSp>
      <p:sp>
        <p:nvSpPr>
          <p:cNvPr id="18" name="TextBox 18">
            <a:extLst>
              <a:ext uri="{FF2B5EF4-FFF2-40B4-BE49-F238E27FC236}">
                <a16:creationId xmlns:a16="http://schemas.microsoft.com/office/drawing/2014/main" id="{2E1267FF-FF51-5843-56A8-F2BE8FD4D3D5}"/>
              </a:ext>
            </a:extLst>
          </p:cNvPr>
          <p:cNvSpPr txBox="1"/>
          <p:nvPr/>
        </p:nvSpPr>
        <p:spPr>
          <a:xfrm>
            <a:off x="1063128" y="3699805"/>
            <a:ext cx="525169"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04</a:t>
            </a:r>
          </a:p>
        </p:txBody>
      </p:sp>
      <p:sp>
        <p:nvSpPr>
          <p:cNvPr id="20" name="TextBox 20">
            <a:extLst>
              <a:ext uri="{FF2B5EF4-FFF2-40B4-BE49-F238E27FC236}">
                <a16:creationId xmlns:a16="http://schemas.microsoft.com/office/drawing/2014/main" id="{C2DD32E3-A9D6-5276-7B75-A5C052A21E5D}"/>
              </a:ext>
            </a:extLst>
          </p:cNvPr>
          <p:cNvSpPr txBox="1"/>
          <p:nvPr/>
        </p:nvSpPr>
        <p:spPr>
          <a:xfrm>
            <a:off x="1854197" y="4994789"/>
            <a:ext cx="7482132" cy="205249"/>
          </a:xfrm>
          <a:prstGeom prst="rect">
            <a:avLst/>
          </a:prstGeom>
        </p:spPr>
        <p:txBody>
          <a:bodyPr wrap="square" lIns="0" tIns="0" rIns="0" bIns="0" rtlCol="0" anchor="t">
            <a:spAutoFit/>
          </a:bodyPr>
          <a:lstStyle/>
          <a:p>
            <a:pPr>
              <a:lnSpc>
                <a:spcPts val="1820"/>
              </a:lnSpc>
            </a:pPr>
            <a:endParaRPr lang="en-US" sz="1100" noProof="0">
              <a:solidFill>
                <a:srgbClr val="000000"/>
              </a:solidFill>
              <a:latin typeface="Arial" panose="020B0604020202020204" pitchFamily="34" charset="0"/>
              <a:ea typeface="Gordita"/>
              <a:cs typeface="Arial" panose="020B0604020202020204" pitchFamily="34" charset="0"/>
              <a:sym typeface="Gordita"/>
            </a:endParaRPr>
          </a:p>
        </p:txBody>
      </p:sp>
      <p:sp>
        <p:nvSpPr>
          <p:cNvPr id="22" name="TextBox 22">
            <a:extLst>
              <a:ext uri="{FF2B5EF4-FFF2-40B4-BE49-F238E27FC236}">
                <a16:creationId xmlns:a16="http://schemas.microsoft.com/office/drawing/2014/main" id="{C4D8612C-AAEF-3225-34D0-278DB8A65920}"/>
              </a:ext>
            </a:extLst>
          </p:cNvPr>
          <p:cNvSpPr txBox="1"/>
          <p:nvPr/>
        </p:nvSpPr>
        <p:spPr>
          <a:xfrm>
            <a:off x="1063128" y="4600799"/>
            <a:ext cx="487952"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05</a:t>
            </a:r>
          </a:p>
        </p:txBody>
      </p:sp>
      <p:grpSp>
        <p:nvGrpSpPr>
          <p:cNvPr id="26" name="Grupo 25">
            <a:extLst>
              <a:ext uri="{FF2B5EF4-FFF2-40B4-BE49-F238E27FC236}">
                <a16:creationId xmlns:a16="http://schemas.microsoft.com/office/drawing/2014/main" id="{D2C92F0C-7C8D-BFFD-F1FB-1D5E72A5DF1C}"/>
              </a:ext>
            </a:extLst>
          </p:cNvPr>
          <p:cNvGrpSpPr/>
          <p:nvPr/>
        </p:nvGrpSpPr>
        <p:grpSpPr>
          <a:xfrm>
            <a:off x="1847402" y="3676508"/>
            <a:ext cx="9571333" cy="596872"/>
            <a:chOff x="1809305" y="3510392"/>
            <a:chExt cx="9571333" cy="596872"/>
          </a:xfrm>
        </p:grpSpPr>
        <p:sp>
          <p:nvSpPr>
            <p:cNvPr id="13" name="TextBox 15">
              <a:extLst>
                <a:ext uri="{FF2B5EF4-FFF2-40B4-BE49-F238E27FC236}">
                  <a16:creationId xmlns:a16="http://schemas.microsoft.com/office/drawing/2014/main" id="{33FC9C17-F1EA-4456-58FB-9DC85140617D}"/>
                </a:ext>
              </a:extLst>
            </p:cNvPr>
            <p:cNvSpPr txBox="1"/>
            <p:nvPr/>
          </p:nvSpPr>
          <p:spPr>
            <a:xfrm>
              <a:off x="1809305" y="3510392"/>
              <a:ext cx="9571333"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Current State Analysis</a:t>
              </a:r>
            </a:p>
          </p:txBody>
        </p:sp>
        <p:sp>
          <p:nvSpPr>
            <p:cNvPr id="17" name="TextBox 16">
              <a:extLst>
                <a:ext uri="{FF2B5EF4-FFF2-40B4-BE49-F238E27FC236}">
                  <a16:creationId xmlns:a16="http://schemas.microsoft.com/office/drawing/2014/main" id="{BF50C9D9-DEAF-ACFD-9A47-3348862423E7}"/>
                </a:ext>
              </a:extLst>
            </p:cNvPr>
            <p:cNvSpPr txBox="1"/>
            <p:nvPr/>
          </p:nvSpPr>
          <p:spPr>
            <a:xfrm>
              <a:off x="1809305" y="3899065"/>
              <a:ext cx="7868967" cy="208199"/>
            </a:xfrm>
            <a:prstGeom prst="rect">
              <a:avLst/>
            </a:prstGeom>
          </p:spPr>
          <p:txBody>
            <a:bodyPr wrap="square" lIns="0" tIns="0" rIns="0" bIns="0" rtlCol="0" anchor="t">
              <a:spAutoFit/>
            </a:bodyPr>
            <a:lstStyle>
              <a:defPPr>
                <a:defRPr lang="en-US"/>
              </a:defPPr>
              <a:lvl1pPr>
                <a:lnSpc>
                  <a:spcPts val="1820"/>
                </a:lnSpc>
                <a:defRPr sz="1400">
                  <a:solidFill>
                    <a:srgbClr val="000000"/>
                  </a:solidFill>
                  <a:ea typeface="Gordita"/>
                  <a:cs typeface="Gordita"/>
                </a:defRPr>
              </a:lvl1pPr>
            </a:lstStyle>
            <a:p>
              <a:r>
                <a:rPr lang="en-US" sz="1200" noProof="0">
                  <a:latin typeface="Arial" panose="020B0604020202020204" pitchFamily="34" charset="0"/>
                  <a:cs typeface="Arial" panose="020B0604020202020204" pitchFamily="34" charset="0"/>
                </a:rPr>
                <a:t>Includes explanations for Roles and Responsibilities, Value stream Mapping, tools  and Governance Mapping</a:t>
              </a:r>
              <a:endParaRPr lang="en-US" sz="1200" noProof="0">
                <a:latin typeface="Arial" panose="020B0604020202020204" pitchFamily="34" charset="0"/>
                <a:cs typeface="Arial" panose="020B0604020202020204" pitchFamily="34" charset="0"/>
                <a:sym typeface="Gordita"/>
              </a:endParaRPr>
            </a:p>
          </p:txBody>
        </p:sp>
      </p:grpSp>
      <p:sp>
        <p:nvSpPr>
          <p:cNvPr id="12" name="TextBox 22">
            <a:extLst>
              <a:ext uri="{FF2B5EF4-FFF2-40B4-BE49-F238E27FC236}">
                <a16:creationId xmlns:a16="http://schemas.microsoft.com/office/drawing/2014/main" id="{25CCFEA4-2F20-2B52-A9A7-D3794FF4BBC1}"/>
              </a:ext>
            </a:extLst>
          </p:cNvPr>
          <p:cNvSpPr txBox="1"/>
          <p:nvPr/>
        </p:nvSpPr>
        <p:spPr>
          <a:xfrm>
            <a:off x="1063128" y="5501791"/>
            <a:ext cx="487952"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06</a:t>
            </a:r>
          </a:p>
        </p:txBody>
      </p:sp>
      <p:grpSp>
        <p:nvGrpSpPr>
          <p:cNvPr id="21" name="Grupo 20">
            <a:extLst>
              <a:ext uri="{FF2B5EF4-FFF2-40B4-BE49-F238E27FC236}">
                <a16:creationId xmlns:a16="http://schemas.microsoft.com/office/drawing/2014/main" id="{35286C50-62E2-6306-7563-2D03457246CD}"/>
              </a:ext>
            </a:extLst>
          </p:cNvPr>
          <p:cNvGrpSpPr/>
          <p:nvPr/>
        </p:nvGrpSpPr>
        <p:grpSpPr>
          <a:xfrm>
            <a:off x="1861346" y="1170058"/>
            <a:ext cx="9578128" cy="554333"/>
            <a:chOff x="1809304" y="1852249"/>
            <a:chExt cx="9578128" cy="554333"/>
          </a:xfrm>
        </p:grpSpPr>
        <p:sp>
          <p:nvSpPr>
            <p:cNvPr id="11" name="TextBox 11">
              <a:extLst>
                <a:ext uri="{FF2B5EF4-FFF2-40B4-BE49-F238E27FC236}">
                  <a16:creationId xmlns:a16="http://schemas.microsoft.com/office/drawing/2014/main" id="{B800BD4F-BE89-E530-EF3C-75C1341BF4C0}"/>
                </a:ext>
              </a:extLst>
            </p:cNvPr>
            <p:cNvSpPr txBox="1"/>
            <p:nvPr/>
          </p:nvSpPr>
          <p:spPr>
            <a:xfrm>
              <a:off x="1816100" y="1852249"/>
              <a:ext cx="9571332"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cs typeface="Arial" panose="020B0604020202020204" pitchFamily="34" charset="0"/>
                </a:rPr>
                <a:t>Context</a:t>
              </a:r>
              <a:endParaRPr lang="en-US" sz="2000" noProof="0">
                <a:solidFill>
                  <a:srgbClr val="000000"/>
                </a:solidFill>
                <a:latin typeface="Arial" panose="020B0604020202020204" pitchFamily="34" charset="0"/>
                <a:ea typeface="Gordita"/>
                <a:cs typeface="Arial" panose="020B0604020202020204" pitchFamily="34" charset="0"/>
                <a:sym typeface="Gordita"/>
              </a:endParaRPr>
            </a:p>
          </p:txBody>
        </p:sp>
        <p:sp>
          <p:nvSpPr>
            <p:cNvPr id="24" name="TextBox 16">
              <a:extLst>
                <a:ext uri="{FF2B5EF4-FFF2-40B4-BE49-F238E27FC236}">
                  <a16:creationId xmlns:a16="http://schemas.microsoft.com/office/drawing/2014/main" id="{7B6E6A52-BA53-470E-39E4-D74418E51F23}"/>
                </a:ext>
              </a:extLst>
            </p:cNvPr>
            <p:cNvSpPr txBox="1"/>
            <p:nvPr/>
          </p:nvSpPr>
          <p:spPr>
            <a:xfrm>
              <a:off x="1809304" y="2198383"/>
              <a:ext cx="7868967" cy="208199"/>
            </a:xfrm>
            <a:prstGeom prst="rect">
              <a:avLst/>
            </a:prstGeom>
          </p:spPr>
          <p:txBody>
            <a:bodyPr wrap="square" lIns="0" tIns="0" rIns="0" bIns="0" rtlCol="0" anchor="t">
              <a:spAutoFit/>
            </a:bodyPr>
            <a:lstStyle/>
            <a:p>
              <a:pPr>
                <a:lnSpc>
                  <a:spcPts val="1820"/>
                </a:lnSpc>
              </a:pPr>
              <a:r>
                <a:rPr lang="en-US" sz="1200" noProof="0">
                  <a:solidFill>
                    <a:srgbClr val="000000"/>
                  </a:solidFill>
                  <a:latin typeface="Arial" panose="020B0604020202020204" pitchFamily="34" charset="0"/>
                  <a:cs typeface="Arial" panose="020B0604020202020204" pitchFamily="34" charset="0"/>
                </a:rPr>
                <a:t>Document summary</a:t>
              </a:r>
              <a:endParaRPr lang="en-US" sz="1200" noProof="0">
                <a:solidFill>
                  <a:srgbClr val="000000"/>
                </a:solidFill>
                <a:latin typeface="Arial" panose="020B0604020202020204" pitchFamily="34" charset="0"/>
                <a:ea typeface="Gordita"/>
                <a:cs typeface="Arial" panose="020B0604020202020204" pitchFamily="34" charset="0"/>
                <a:sym typeface="Gordita"/>
              </a:endParaRPr>
            </a:p>
          </p:txBody>
        </p:sp>
      </p:grpSp>
      <p:grpSp>
        <p:nvGrpSpPr>
          <p:cNvPr id="31" name="Grupo 30">
            <a:extLst>
              <a:ext uri="{FF2B5EF4-FFF2-40B4-BE49-F238E27FC236}">
                <a16:creationId xmlns:a16="http://schemas.microsoft.com/office/drawing/2014/main" id="{4F86EEF9-A369-1104-7740-A36030E33693}"/>
              </a:ext>
            </a:extLst>
          </p:cNvPr>
          <p:cNvGrpSpPr/>
          <p:nvPr/>
        </p:nvGrpSpPr>
        <p:grpSpPr>
          <a:xfrm>
            <a:off x="1847401" y="4582202"/>
            <a:ext cx="9571332" cy="602794"/>
            <a:chOff x="1809305" y="5419675"/>
            <a:chExt cx="9571332" cy="602794"/>
          </a:xfrm>
        </p:grpSpPr>
        <p:sp>
          <p:nvSpPr>
            <p:cNvPr id="9" name="TextBox 19">
              <a:extLst>
                <a:ext uri="{FF2B5EF4-FFF2-40B4-BE49-F238E27FC236}">
                  <a16:creationId xmlns:a16="http://schemas.microsoft.com/office/drawing/2014/main" id="{F8D0D379-AF78-7F24-3AA5-80B6BB2749BD}"/>
                </a:ext>
              </a:extLst>
            </p:cNvPr>
            <p:cNvSpPr txBox="1"/>
            <p:nvPr/>
          </p:nvSpPr>
          <p:spPr>
            <a:xfrm>
              <a:off x="1809305" y="5419675"/>
              <a:ext cx="9571332"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Project Portfolio Landscape</a:t>
              </a:r>
            </a:p>
          </p:txBody>
        </p:sp>
        <p:sp>
          <p:nvSpPr>
            <p:cNvPr id="27" name="TextBox 16">
              <a:extLst>
                <a:ext uri="{FF2B5EF4-FFF2-40B4-BE49-F238E27FC236}">
                  <a16:creationId xmlns:a16="http://schemas.microsoft.com/office/drawing/2014/main" id="{6CC63903-A14A-E8C1-87A7-4381D3DB5EB3}"/>
                </a:ext>
              </a:extLst>
            </p:cNvPr>
            <p:cNvSpPr txBox="1"/>
            <p:nvPr/>
          </p:nvSpPr>
          <p:spPr>
            <a:xfrm>
              <a:off x="1809305" y="5814270"/>
              <a:ext cx="7868967" cy="208199"/>
            </a:xfrm>
            <a:prstGeom prst="rect">
              <a:avLst/>
            </a:prstGeom>
          </p:spPr>
          <p:txBody>
            <a:bodyPr wrap="square" lIns="0" tIns="0" rIns="0" bIns="0" rtlCol="0" anchor="t">
              <a:spAutoFit/>
            </a:bodyPr>
            <a:lstStyle/>
            <a:p>
              <a:pPr>
                <a:lnSpc>
                  <a:spcPts val="1820"/>
                </a:lnSpc>
              </a:pPr>
              <a:r>
                <a:rPr lang="en-US" sz="1200" noProof="0">
                  <a:solidFill>
                    <a:srgbClr val="000000"/>
                  </a:solidFill>
                  <a:latin typeface="Arial" panose="020B0604020202020204" pitchFamily="34" charset="0"/>
                  <a:ea typeface="Gordita"/>
                  <a:cs typeface="Arial" panose="020B0604020202020204" pitchFamily="34" charset="0"/>
                  <a:sym typeface="Gordita"/>
                </a:rPr>
                <a:t>An overview of the Digital Products’ current demand and tool portfolio</a:t>
              </a:r>
            </a:p>
          </p:txBody>
        </p:sp>
      </p:grpSp>
      <p:grpSp>
        <p:nvGrpSpPr>
          <p:cNvPr id="33" name="Grupo 30">
            <a:extLst>
              <a:ext uri="{FF2B5EF4-FFF2-40B4-BE49-F238E27FC236}">
                <a16:creationId xmlns:a16="http://schemas.microsoft.com/office/drawing/2014/main" id="{3C2ED85A-CDA6-1AB9-EC4A-01F81228F03A}"/>
              </a:ext>
            </a:extLst>
          </p:cNvPr>
          <p:cNvGrpSpPr/>
          <p:nvPr/>
        </p:nvGrpSpPr>
        <p:grpSpPr>
          <a:xfrm>
            <a:off x="1847401" y="5519041"/>
            <a:ext cx="9571332" cy="602794"/>
            <a:chOff x="1809305" y="5419675"/>
            <a:chExt cx="9571332" cy="602794"/>
          </a:xfrm>
        </p:grpSpPr>
        <p:sp>
          <p:nvSpPr>
            <p:cNvPr id="34" name="TextBox 19">
              <a:extLst>
                <a:ext uri="{FF2B5EF4-FFF2-40B4-BE49-F238E27FC236}">
                  <a16:creationId xmlns:a16="http://schemas.microsoft.com/office/drawing/2014/main" id="{97D00D78-97BA-5C48-42CA-33360E202346}"/>
                </a:ext>
              </a:extLst>
            </p:cNvPr>
            <p:cNvSpPr txBox="1"/>
            <p:nvPr/>
          </p:nvSpPr>
          <p:spPr>
            <a:xfrm>
              <a:off x="1809305" y="5419675"/>
              <a:ext cx="9571332"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Insights &amp; Key Definitions for To-Be Model</a:t>
              </a:r>
            </a:p>
          </p:txBody>
        </p:sp>
        <p:sp>
          <p:nvSpPr>
            <p:cNvPr id="35" name="TextBox 16">
              <a:extLst>
                <a:ext uri="{FF2B5EF4-FFF2-40B4-BE49-F238E27FC236}">
                  <a16:creationId xmlns:a16="http://schemas.microsoft.com/office/drawing/2014/main" id="{491E02F2-AB59-7CB0-471D-3C3CB8DDB036}"/>
                </a:ext>
              </a:extLst>
            </p:cNvPr>
            <p:cNvSpPr txBox="1"/>
            <p:nvPr/>
          </p:nvSpPr>
          <p:spPr>
            <a:xfrm>
              <a:off x="1809305" y="5814270"/>
              <a:ext cx="7868967" cy="208199"/>
            </a:xfrm>
            <a:prstGeom prst="rect">
              <a:avLst/>
            </a:prstGeom>
          </p:spPr>
          <p:txBody>
            <a:bodyPr wrap="square" lIns="0" tIns="0" rIns="0" bIns="0" rtlCol="0" anchor="t">
              <a:spAutoFit/>
            </a:bodyPr>
            <a:lstStyle>
              <a:defPPr>
                <a:defRPr lang="en-US"/>
              </a:defPPr>
              <a:lvl1pPr>
                <a:lnSpc>
                  <a:spcPts val="1820"/>
                </a:lnSpc>
                <a:defRPr sz="1400">
                  <a:solidFill>
                    <a:srgbClr val="000000"/>
                  </a:solidFill>
                  <a:ea typeface="Gordita"/>
                  <a:cs typeface="Gordita"/>
                </a:defRPr>
              </a:lvl1pPr>
            </a:lstStyle>
            <a:p>
              <a:r>
                <a:rPr lang="en-US" sz="1200" noProof="0">
                  <a:latin typeface="Arial" panose="020B0604020202020204" pitchFamily="34" charset="0"/>
                  <a:cs typeface="Arial" panose="020B0604020202020204" pitchFamily="34" charset="0"/>
                </a:rPr>
                <a:t>A synthesis of key insights and foundational definitions shaping the design of the target operating model​</a:t>
              </a:r>
              <a:endParaRPr lang="en-US" sz="1200" noProof="0">
                <a:latin typeface="Arial" panose="020B0604020202020204" pitchFamily="34" charset="0"/>
                <a:cs typeface="Arial" panose="020B0604020202020204" pitchFamily="34" charset="0"/>
                <a:sym typeface="Gordita"/>
              </a:endParaRPr>
            </a:p>
          </p:txBody>
        </p:sp>
      </p:grpSp>
      <p:sp>
        <p:nvSpPr>
          <p:cNvPr id="2" name="TextBox 14">
            <a:extLst>
              <a:ext uri="{FF2B5EF4-FFF2-40B4-BE49-F238E27FC236}">
                <a16:creationId xmlns:a16="http://schemas.microsoft.com/office/drawing/2014/main" id="{4C938F4B-3DAD-772C-D978-0BF535FF1AA6}"/>
              </a:ext>
            </a:extLst>
          </p:cNvPr>
          <p:cNvSpPr txBox="1"/>
          <p:nvPr/>
        </p:nvSpPr>
        <p:spPr>
          <a:xfrm>
            <a:off x="1070275" y="2006772"/>
            <a:ext cx="537158"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02</a:t>
            </a:r>
          </a:p>
        </p:txBody>
      </p:sp>
      <p:grpSp>
        <p:nvGrpSpPr>
          <p:cNvPr id="3" name="Grupo 2">
            <a:extLst>
              <a:ext uri="{FF2B5EF4-FFF2-40B4-BE49-F238E27FC236}">
                <a16:creationId xmlns:a16="http://schemas.microsoft.com/office/drawing/2014/main" id="{73C26984-28A8-F0FF-60F8-7015EA9A713C}"/>
              </a:ext>
            </a:extLst>
          </p:cNvPr>
          <p:cNvGrpSpPr/>
          <p:nvPr/>
        </p:nvGrpSpPr>
        <p:grpSpPr>
          <a:xfrm>
            <a:off x="1861346" y="1981111"/>
            <a:ext cx="9571333" cy="596872"/>
            <a:chOff x="1816102" y="2594699"/>
            <a:chExt cx="9571333" cy="596872"/>
          </a:xfrm>
        </p:grpSpPr>
        <p:sp>
          <p:nvSpPr>
            <p:cNvPr id="5" name="TextBox 15">
              <a:extLst>
                <a:ext uri="{FF2B5EF4-FFF2-40B4-BE49-F238E27FC236}">
                  <a16:creationId xmlns:a16="http://schemas.microsoft.com/office/drawing/2014/main" id="{A5CEE3CB-14F4-BDD5-0804-44307CA5DC61}"/>
                </a:ext>
              </a:extLst>
            </p:cNvPr>
            <p:cNvSpPr txBox="1"/>
            <p:nvPr/>
          </p:nvSpPr>
          <p:spPr>
            <a:xfrm>
              <a:off x="1816102" y="2594699"/>
              <a:ext cx="9571333"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Executive Summary</a:t>
              </a:r>
            </a:p>
          </p:txBody>
        </p:sp>
        <p:sp>
          <p:nvSpPr>
            <p:cNvPr id="7" name="TextBox 16">
              <a:extLst>
                <a:ext uri="{FF2B5EF4-FFF2-40B4-BE49-F238E27FC236}">
                  <a16:creationId xmlns:a16="http://schemas.microsoft.com/office/drawing/2014/main" id="{793DDFBC-7472-B9FD-2AA0-057B58C5F0B4}"/>
                </a:ext>
              </a:extLst>
            </p:cNvPr>
            <p:cNvSpPr txBox="1"/>
            <p:nvPr/>
          </p:nvSpPr>
          <p:spPr>
            <a:xfrm>
              <a:off x="1816102" y="2983372"/>
              <a:ext cx="7868967" cy="208199"/>
            </a:xfrm>
            <a:prstGeom prst="rect">
              <a:avLst/>
            </a:prstGeom>
          </p:spPr>
          <p:txBody>
            <a:bodyPr wrap="square" lIns="0" tIns="0" rIns="0" bIns="0" rtlCol="0" anchor="t">
              <a:spAutoFit/>
            </a:bodyPr>
            <a:lstStyle>
              <a:defPPr>
                <a:defRPr lang="en-US"/>
              </a:defPPr>
              <a:lvl1pPr>
                <a:lnSpc>
                  <a:spcPts val="1820"/>
                </a:lnSpc>
                <a:defRPr sz="1400">
                  <a:solidFill>
                    <a:srgbClr val="000000"/>
                  </a:solidFill>
                  <a:latin typeface="+mj-lt"/>
                  <a:ea typeface="Gordita"/>
                  <a:cs typeface="Gordita"/>
                </a:defRPr>
              </a:lvl1pPr>
            </a:lstStyle>
            <a:p>
              <a:r>
                <a:rPr lang="en-US" sz="1200" noProof="0">
                  <a:latin typeface="Arial" panose="020B0604020202020204" pitchFamily="34" charset="0"/>
                  <a:cs typeface="Arial" panose="020B0604020202020204" pitchFamily="34" charset="0"/>
                </a:rPr>
                <a:t>Why we are here. Executive findings &amp; implications. Methodology (Wave 1 Step 1 sources).</a:t>
              </a:r>
              <a:endParaRPr lang="en-US" sz="1200" noProof="0">
                <a:latin typeface="Arial" panose="020B0604020202020204" pitchFamily="34" charset="0"/>
                <a:cs typeface="Arial" panose="020B0604020202020204" pitchFamily="34" charset="0"/>
                <a:sym typeface="Gordita"/>
              </a:endParaRPr>
            </a:p>
          </p:txBody>
        </p:sp>
      </p:grpSp>
      <p:sp>
        <p:nvSpPr>
          <p:cNvPr id="19" name="TextBox 10">
            <a:extLst>
              <a:ext uri="{FF2B5EF4-FFF2-40B4-BE49-F238E27FC236}">
                <a16:creationId xmlns:a16="http://schemas.microsoft.com/office/drawing/2014/main" id="{D00D3919-E36A-89B5-3617-4EAED6F70965}"/>
              </a:ext>
            </a:extLst>
          </p:cNvPr>
          <p:cNvSpPr txBox="1"/>
          <p:nvPr/>
        </p:nvSpPr>
        <p:spPr>
          <a:xfrm>
            <a:off x="1063127" y="277976"/>
            <a:ext cx="3495835" cy="524182"/>
          </a:xfrm>
          <a:prstGeom prst="rect">
            <a:avLst/>
          </a:prstGeom>
        </p:spPr>
        <p:txBody>
          <a:bodyPr wrap="square" lIns="0" tIns="0" rIns="0" bIns="0" rtlCol="0" anchor="t">
            <a:spAutoFit/>
          </a:bodyPr>
          <a:lstStyle/>
          <a:p>
            <a:pPr>
              <a:lnSpc>
                <a:spcPts val="4608"/>
              </a:lnSpc>
            </a:pPr>
            <a:r>
              <a:rPr lang="en-US" sz="2800" b="1" noProof="0">
                <a:solidFill>
                  <a:schemeClr val="accent1"/>
                </a:solidFill>
                <a:latin typeface="Arial" panose="020B0604020202020204" pitchFamily="34" charset="0"/>
                <a:ea typeface="Gordita Bold"/>
                <a:cs typeface="Arial" panose="020B0604020202020204" pitchFamily="34" charset="0"/>
                <a:sym typeface="Gordita Bold"/>
              </a:rPr>
              <a:t>Table of contents</a:t>
            </a:r>
          </a:p>
        </p:txBody>
      </p:sp>
    </p:spTree>
    <p:extLst>
      <p:ext uri="{BB962C8B-B14F-4D97-AF65-F5344CB8AC3E}">
        <p14:creationId xmlns:p14="http://schemas.microsoft.com/office/powerpoint/2010/main" val="2861302778"/>
      </p:ext>
    </p:extLst>
  </p:cSld>
  <p:clrMapOvr>
    <a:masterClrMapping/>
  </p:clrMapOvr>
  <p:extLst>
    <p:ext uri="{6950BFC3-D8DA-4A85-94F7-54DA5524770B}">
      <p188:commentRel xmlns:p188="http://schemas.microsoft.com/office/powerpoint/2018/8/main" r:id="rId3"/>
    </p:ext>
  </p:extLs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1A1029-D61C-73F8-8606-8765180B1DEA}"/>
            </a:ext>
          </a:extLst>
        </p:cNvPr>
        <p:cNvGrpSpPr/>
        <p:nvPr/>
      </p:nvGrpSpPr>
      <p:grpSpPr>
        <a:xfrm>
          <a:off x="0" y="0"/>
          <a:ext cx="0" cy="0"/>
          <a:chOff x="0" y="0"/>
          <a:chExt cx="0" cy="0"/>
        </a:xfrm>
      </p:grpSpPr>
      <p:sp>
        <p:nvSpPr>
          <p:cNvPr id="231" name="Título 2">
            <a:extLst>
              <a:ext uri="{FF2B5EF4-FFF2-40B4-BE49-F238E27FC236}">
                <a16:creationId xmlns:a16="http://schemas.microsoft.com/office/drawing/2014/main" id="{E8926704-82A0-29C1-A9B0-221669C9C270}"/>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r>
              <a:rPr lang="en-US" sz="2400" noProof="0">
                <a:latin typeface="Arial" panose="020B0604020202020204" pitchFamily="34" charset="0"/>
                <a:cs typeface="Arial" panose="020B0604020202020204" pitchFamily="34" charset="0"/>
              </a:rPr>
              <a:t>CURRENT STATE ANALYSIS</a:t>
            </a:r>
          </a:p>
          <a:p>
            <a:r>
              <a:rPr lang="en-US" sz="1200" noProof="0">
                <a:latin typeface="Arial" panose="020B0604020202020204" pitchFamily="34" charset="0"/>
                <a:cs typeface="Arial" panose="020B0604020202020204" pitchFamily="34" charset="0"/>
              </a:rPr>
              <a:t>VALUE STREAM MAPPING - DEMAND FLOW</a:t>
            </a:r>
          </a:p>
        </p:txBody>
      </p:sp>
      <p:sp>
        <p:nvSpPr>
          <p:cNvPr id="2" name="TextBox 5">
            <a:extLst>
              <a:ext uri="{FF2B5EF4-FFF2-40B4-BE49-F238E27FC236}">
                <a16:creationId xmlns:a16="http://schemas.microsoft.com/office/drawing/2014/main" id="{34190B6E-463A-2E31-CF8F-6986D2057D73}"/>
              </a:ext>
            </a:extLst>
          </p:cNvPr>
          <p:cNvSpPr txBox="1"/>
          <p:nvPr/>
        </p:nvSpPr>
        <p:spPr>
          <a:xfrm>
            <a:off x="457200" y="777240"/>
            <a:ext cx="11247120" cy="406265"/>
          </a:xfrm>
          <a:prstGeom prst="rect">
            <a:avLst/>
          </a:prstGeom>
          <a:noFill/>
        </p:spPr>
        <p:txBody>
          <a:bodyPr wrap="square" lIns="45720" tIns="18288" rIns="45720" bIns="18288" anchor="t">
            <a:spAutoFit/>
          </a:bodyPr>
          <a:lstStyle/>
          <a:p>
            <a:pPr algn="l"/>
            <a:r>
              <a:rPr lang="en-US" sz="1200" b="1" noProof="0">
                <a:solidFill>
                  <a:schemeClr val="accent4">
                    <a:lumMod val="75000"/>
                  </a:schemeClr>
                </a:solidFill>
                <a:latin typeface="Arial" panose="020B0604020202020204" pitchFamily="34" charset="0"/>
                <a:cs typeface="Arial" panose="020B0604020202020204" pitchFamily="34" charset="0"/>
              </a:rPr>
              <a:t>The end-to-end AS-IS demand pipeline on one page — eleven source areas funnel into fragmented channels, split by demand type, and land on one of two delivery branches</a:t>
            </a:r>
          </a:p>
        </p:txBody>
      </p:sp>
      <p:sp>
        <p:nvSpPr>
          <p:cNvPr id="15" name="TextBox 18">
            <a:extLst>
              <a:ext uri="{FF2B5EF4-FFF2-40B4-BE49-F238E27FC236}">
                <a16:creationId xmlns:a16="http://schemas.microsoft.com/office/drawing/2014/main" id="{B7AE17EF-0563-8709-5C60-E7383EA8EF44}"/>
              </a:ext>
            </a:extLst>
          </p:cNvPr>
          <p:cNvSpPr txBox="1"/>
          <p:nvPr/>
        </p:nvSpPr>
        <p:spPr>
          <a:xfrm>
            <a:off x="4617525" y="1601952"/>
            <a:ext cx="4023360" cy="152349"/>
          </a:xfrm>
          <a:prstGeom prst="rect">
            <a:avLst/>
          </a:prstGeom>
          <a:noFill/>
        </p:spPr>
        <p:txBody>
          <a:bodyPr wrap="square" lIns="45720" tIns="18288" rIns="45720" bIns="18288" anchor="t">
            <a:spAutoFit/>
          </a:bodyPr>
          <a:lstStyle/>
          <a:p>
            <a:pPr algn="ctr"/>
            <a:r>
              <a:rPr lang="en-US" sz="750" b="0" i="1" noProof="0">
                <a:solidFill>
                  <a:srgbClr val="4A4A4A"/>
                </a:solidFill>
                <a:latin typeface="Arial" panose="020B0604020202020204" pitchFamily="34" charset="0"/>
                <a:cs typeface="Arial" panose="020B0604020202020204" pitchFamily="34" charset="0"/>
              </a:rPr>
              <a:t>How the demand arrives — color by type</a:t>
            </a:r>
          </a:p>
        </p:txBody>
      </p:sp>
      <p:sp>
        <p:nvSpPr>
          <p:cNvPr id="16" name="Rectangle 19">
            <a:extLst>
              <a:ext uri="{FF2B5EF4-FFF2-40B4-BE49-F238E27FC236}">
                <a16:creationId xmlns:a16="http://schemas.microsoft.com/office/drawing/2014/main" id="{8E3CBF6C-8845-0370-D03E-1E1CC706D334}"/>
              </a:ext>
            </a:extLst>
          </p:cNvPr>
          <p:cNvSpPr/>
          <p:nvPr/>
        </p:nvSpPr>
        <p:spPr>
          <a:xfrm>
            <a:off x="8794444" y="1236192"/>
            <a:ext cx="3102022" cy="36576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7" name="TextBox 20">
            <a:extLst>
              <a:ext uri="{FF2B5EF4-FFF2-40B4-BE49-F238E27FC236}">
                <a16:creationId xmlns:a16="http://schemas.microsoft.com/office/drawing/2014/main" id="{625D4395-6597-9970-6AAF-837BEA4C69BF}"/>
              </a:ext>
            </a:extLst>
          </p:cNvPr>
          <p:cNvSpPr txBox="1"/>
          <p:nvPr/>
        </p:nvSpPr>
        <p:spPr>
          <a:xfrm>
            <a:off x="8794444" y="1310033"/>
            <a:ext cx="3102022" cy="221599"/>
          </a:xfrm>
          <a:prstGeom prst="rect">
            <a:avLst/>
          </a:prstGeom>
          <a:noFill/>
        </p:spPr>
        <p:txBody>
          <a:bodyPr wrap="square" lIns="45720" tIns="18288" rIns="45720" bIns="18288" anchor="ctr">
            <a:spAutoFit/>
          </a:bodyPr>
          <a:lstStyle/>
          <a:p>
            <a:pPr algn="ctr"/>
            <a:r>
              <a:rPr lang="en-US" sz="1200" b="1" i="0" noProof="0">
                <a:solidFill>
                  <a:srgbClr val="FFFFFF"/>
                </a:solidFill>
                <a:latin typeface="Arial" panose="020B0604020202020204" pitchFamily="34" charset="0"/>
                <a:cs typeface="Arial" panose="020B0604020202020204" pitchFamily="34" charset="0"/>
              </a:rPr>
              <a:t>03 · CLASSIFICATION</a:t>
            </a:r>
          </a:p>
        </p:txBody>
      </p:sp>
      <p:sp>
        <p:nvSpPr>
          <p:cNvPr id="18" name="TextBox 21">
            <a:extLst>
              <a:ext uri="{FF2B5EF4-FFF2-40B4-BE49-F238E27FC236}">
                <a16:creationId xmlns:a16="http://schemas.microsoft.com/office/drawing/2014/main" id="{D6BD2AF2-994A-96A7-B609-ABD89BF290C4}"/>
              </a:ext>
            </a:extLst>
          </p:cNvPr>
          <p:cNvSpPr txBox="1"/>
          <p:nvPr/>
        </p:nvSpPr>
        <p:spPr>
          <a:xfrm>
            <a:off x="8794444" y="1601952"/>
            <a:ext cx="3102022" cy="152349"/>
          </a:xfrm>
          <a:prstGeom prst="rect">
            <a:avLst/>
          </a:prstGeom>
          <a:noFill/>
        </p:spPr>
        <p:txBody>
          <a:bodyPr wrap="square" lIns="45720" tIns="18288" rIns="45720" bIns="18288" anchor="t">
            <a:spAutoFit/>
          </a:bodyPr>
          <a:lstStyle/>
          <a:p>
            <a:pPr algn="ctr"/>
            <a:r>
              <a:rPr lang="en-US" sz="750" b="0" i="1" noProof="0">
                <a:solidFill>
                  <a:srgbClr val="4A4A4A"/>
                </a:solidFill>
                <a:latin typeface="Arial" panose="020B0604020202020204" pitchFamily="34" charset="0"/>
                <a:cs typeface="Arial" panose="020B0604020202020204" pitchFamily="34" charset="0"/>
              </a:rPr>
              <a:t>What kind of demand</a:t>
            </a:r>
          </a:p>
        </p:txBody>
      </p:sp>
      <p:sp>
        <p:nvSpPr>
          <p:cNvPr id="10" name="Rectangle 13">
            <a:extLst>
              <a:ext uri="{FF2B5EF4-FFF2-40B4-BE49-F238E27FC236}">
                <a16:creationId xmlns:a16="http://schemas.microsoft.com/office/drawing/2014/main" id="{99A1C55F-1070-EC23-E990-D56678C703CD}"/>
              </a:ext>
            </a:extLst>
          </p:cNvPr>
          <p:cNvSpPr/>
          <p:nvPr/>
        </p:nvSpPr>
        <p:spPr>
          <a:xfrm>
            <a:off x="279988" y="1236192"/>
            <a:ext cx="1360264" cy="36576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1" name="TextBox 14">
            <a:extLst>
              <a:ext uri="{FF2B5EF4-FFF2-40B4-BE49-F238E27FC236}">
                <a16:creationId xmlns:a16="http://schemas.microsoft.com/office/drawing/2014/main" id="{EFFDA67D-CD6B-5B78-5B27-221E07EA43E5}"/>
              </a:ext>
            </a:extLst>
          </p:cNvPr>
          <p:cNvSpPr txBox="1"/>
          <p:nvPr/>
        </p:nvSpPr>
        <p:spPr>
          <a:xfrm>
            <a:off x="279987" y="1305624"/>
            <a:ext cx="1360264" cy="221599"/>
          </a:xfrm>
          <a:prstGeom prst="rect">
            <a:avLst/>
          </a:prstGeom>
          <a:noFill/>
        </p:spPr>
        <p:txBody>
          <a:bodyPr wrap="square" lIns="45720" tIns="18288" rIns="45720" bIns="18288" anchor="ctr">
            <a:spAutoFit/>
          </a:bodyPr>
          <a:lstStyle/>
          <a:p>
            <a:pPr algn="ctr"/>
            <a:r>
              <a:rPr lang="en-US" sz="1200" b="1" i="0" noProof="0">
                <a:solidFill>
                  <a:srgbClr val="FFFFFF"/>
                </a:solidFill>
                <a:latin typeface="Arial" panose="020B0604020202020204" pitchFamily="34" charset="0"/>
                <a:cs typeface="Arial" panose="020B0604020202020204" pitchFamily="34" charset="0"/>
              </a:rPr>
              <a:t>01 · SOURCES</a:t>
            </a:r>
          </a:p>
        </p:txBody>
      </p:sp>
      <p:sp>
        <p:nvSpPr>
          <p:cNvPr id="12" name="TextBox 15">
            <a:extLst>
              <a:ext uri="{FF2B5EF4-FFF2-40B4-BE49-F238E27FC236}">
                <a16:creationId xmlns:a16="http://schemas.microsoft.com/office/drawing/2014/main" id="{6A6603D0-A7B9-6B4E-EAC7-2A7933B55D4C}"/>
              </a:ext>
            </a:extLst>
          </p:cNvPr>
          <p:cNvSpPr txBox="1"/>
          <p:nvPr/>
        </p:nvSpPr>
        <p:spPr>
          <a:xfrm>
            <a:off x="279988" y="1601952"/>
            <a:ext cx="1360264" cy="152349"/>
          </a:xfrm>
          <a:prstGeom prst="rect">
            <a:avLst/>
          </a:prstGeom>
          <a:noFill/>
        </p:spPr>
        <p:txBody>
          <a:bodyPr wrap="square" lIns="45720" tIns="18288" rIns="45720" bIns="18288" anchor="t">
            <a:spAutoFit/>
          </a:bodyPr>
          <a:lstStyle/>
          <a:p>
            <a:pPr algn="ctr"/>
            <a:r>
              <a:rPr lang="en-US" sz="750" b="0" i="1" noProof="0">
                <a:solidFill>
                  <a:srgbClr val="4A4A4A"/>
                </a:solidFill>
                <a:latin typeface="Arial" panose="020B0604020202020204" pitchFamily="34" charset="0"/>
                <a:cs typeface="Arial" panose="020B0604020202020204" pitchFamily="34" charset="0"/>
              </a:rPr>
              <a:t>Who sends the demand</a:t>
            </a:r>
          </a:p>
        </p:txBody>
      </p:sp>
      <p:sp>
        <p:nvSpPr>
          <p:cNvPr id="197" name="Right Arrow 134">
            <a:extLst>
              <a:ext uri="{FF2B5EF4-FFF2-40B4-BE49-F238E27FC236}">
                <a16:creationId xmlns:a16="http://schemas.microsoft.com/office/drawing/2014/main" id="{985E12A7-A129-6638-0730-8F249C8F625D}"/>
              </a:ext>
            </a:extLst>
          </p:cNvPr>
          <p:cNvSpPr/>
          <p:nvPr/>
        </p:nvSpPr>
        <p:spPr>
          <a:xfrm>
            <a:off x="4169071" y="1300546"/>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98" name="Right Arrow 135">
            <a:extLst>
              <a:ext uri="{FF2B5EF4-FFF2-40B4-BE49-F238E27FC236}">
                <a16:creationId xmlns:a16="http://schemas.microsoft.com/office/drawing/2014/main" id="{5C0131CD-52DC-A4BF-6411-3650BB3213E8}"/>
              </a:ext>
            </a:extLst>
          </p:cNvPr>
          <p:cNvSpPr/>
          <p:nvPr/>
        </p:nvSpPr>
        <p:spPr>
          <a:xfrm>
            <a:off x="8618315" y="1295212"/>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3" name="Rectangle 16">
            <a:extLst>
              <a:ext uri="{FF2B5EF4-FFF2-40B4-BE49-F238E27FC236}">
                <a16:creationId xmlns:a16="http://schemas.microsoft.com/office/drawing/2014/main" id="{EF97AE87-AF31-9581-912A-6ADBDFF9260D}"/>
              </a:ext>
            </a:extLst>
          </p:cNvPr>
          <p:cNvSpPr/>
          <p:nvPr/>
        </p:nvSpPr>
        <p:spPr>
          <a:xfrm>
            <a:off x="4326754" y="1236192"/>
            <a:ext cx="4264544" cy="36576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 name="TextBox 17">
            <a:extLst>
              <a:ext uri="{FF2B5EF4-FFF2-40B4-BE49-F238E27FC236}">
                <a16:creationId xmlns:a16="http://schemas.microsoft.com/office/drawing/2014/main" id="{069637D9-B147-CB74-029E-F1EA29D27D7A}"/>
              </a:ext>
            </a:extLst>
          </p:cNvPr>
          <p:cNvSpPr txBox="1"/>
          <p:nvPr/>
        </p:nvSpPr>
        <p:spPr>
          <a:xfrm>
            <a:off x="4277165" y="1305625"/>
            <a:ext cx="4363719" cy="221599"/>
          </a:xfrm>
          <a:prstGeom prst="rect">
            <a:avLst/>
          </a:prstGeom>
          <a:noFill/>
        </p:spPr>
        <p:txBody>
          <a:bodyPr wrap="square" lIns="45720" tIns="18288" rIns="45720" bIns="18288" anchor="ctr">
            <a:spAutoFit/>
          </a:bodyPr>
          <a:lstStyle/>
          <a:p>
            <a:pPr algn="ctr"/>
            <a:r>
              <a:rPr lang="en-US" sz="1200" b="1" i="0" noProof="0">
                <a:solidFill>
                  <a:srgbClr val="FFFFFF"/>
                </a:solidFill>
                <a:latin typeface="Arial" panose="020B0604020202020204" pitchFamily="34" charset="0"/>
                <a:cs typeface="Arial" panose="020B0604020202020204" pitchFamily="34" charset="0"/>
              </a:rPr>
              <a:t>02 · CHANNELS</a:t>
            </a:r>
          </a:p>
        </p:txBody>
      </p:sp>
      <p:sp>
        <p:nvSpPr>
          <p:cNvPr id="218" name="Rounded Rectangle 118">
            <a:extLst>
              <a:ext uri="{FF2B5EF4-FFF2-40B4-BE49-F238E27FC236}">
                <a16:creationId xmlns:a16="http://schemas.microsoft.com/office/drawing/2014/main" id="{DF84C537-275D-115A-459B-F5C0AABE9498}"/>
              </a:ext>
            </a:extLst>
          </p:cNvPr>
          <p:cNvSpPr/>
          <p:nvPr/>
        </p:nvSpPr>
        <p:spPr>
          <a:xfrm>
            <a:off x="6909776" y="2044818"/>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IT Now</a:t>
            </a:r>
          </a:p>
        </p:txBody>
      </p:sp>
      <p:sp>
        <p:nvSpPr>
          <p:cNvPr id="221" name="Rounded Rectangle 118">
            <a:extLst>
              <a:ext uri="{FF2B5EF4-FFF2-40B4-BE49-F238E27FC236}">
                <a16:creationId xmlns:a16="http://schemas.microsoft.com/office/drawing/2014/main" id="{7F7613CC-D6CD-2263-3484-1C84EB634CF3}"/>
              </a:ext>
            </a:extLst>
          </p:cNvPr>
          <p:cNvSpPr/>
          <p:nvPr/>
        </p:nvSpPr>
        <p:spPr>
          <a:xfrm>
            <a:off x="5258776" y="2044818"/>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BSS Log</a:t>
            </a:r>
          </a:p>
        </p:txBody>
      </p:sp>
      <p:sp>
        <p:nvSpPr>
          <p:cNvPr id="239" name="Rounded Rectangle 118">
            <a:extLst>
              <a:ext uri="{FF2B5EF4-FFF2-40B4-BE49-F238E27FC236}">
                <a16:creationId xmlns:a16="http://schemas.microsoft.com/office/drawing/2014/main" id="{98364908-B998-CD92-32BA-6E23170A3254}"/>
              </a:ext>
            </a:extLst>
          </p:cNvPr>
          <p:cNvSpPr/>
          <p:nvPr/>
        </p:nvSpPr>
        <p:spPr>
          <a:xfrm>
            <a:off x="7737816" y="2044818"/>
            <a:ext cx="738103" cy="18958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PDD</a:t>
            </a:r>
          </a:p>
        </p:txBody>
      </p:sp>
      <p:sp>
        <p:nvSpPr>
          <p:cNvPr id="243" name="Rounded Rectangle 118">
            <a:extLst>
              <a:ext uri="{FF2B5EF4-FFF2-40B4-BE49-F238E27FC236}">
                <a16:creationId xmlns:a16="http://schemas.microsoft.com/office/drawing/2014/main" id="{7552D5D1-63B2-0F43-1518-20251FA821A0}"/>
              </a:ext>
            </a:extLst>
          </p:cNvPr>
          <p:cNvSpPr/>
          <p:nvPr/>
        </p:nvSpPr>
        <p:spPr>
          <a:xfrm>
            <a:off x="6098985" y="2044818"/>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MS Office</a:t>
            </a:r>
          </a:p>
        </p:txBody>
      </p:sp>
      <p:sp>
        <p:nvSpPr>
          <p:cNvPr id="245" name="Rounded Rectangle 118">
            <a:extLst>
              <a:ext uri="{FF2B5EF4-FFF2-40B4-BE49-F238E27FC236}">
                <a16:creationId xmlns:a16="http://schemas.microsoft.com/office/drawing/2014/main" id="{EE90AB57-AA58-F668-9881-ACE428E2BC6D}"/>
              </a:ext>
            </a:extLst>
          </p:cNvPr>
          <p:cNvSpPr/>
          <p:nvPr/>
        </p:nvSpPr>
        <p:spPr>
          <a:xfrm>
            <a:off x="5258776" y="2392739"/>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Digital PMs</a:t>
            </a:r>
          </a:p>
        </p:txBody>
      </p:sp>
      <p:sp>
        <p:nvSpPr>
          <p:cNvPr id="246" name="Rounded Rectangle 118">
            <a:extLst>
              <a:ext uri="{FF2B5EF4-FFF2-40B4-BE49-F238E27FC236}">
                <a16:creationId xmlns:a16="http://schemas.microsoft.com/office/drawing/2014/main" id="{EFBA4CE5-AE9A-E3C4-E770-86871B3D4453}"/>
              </a:ext>
            </a:extLst>
          </p:cNvPr>
          <p:cNvSpPr/>
          <p:nvPr/>
        </p:nvSpPr>
        <p:spPr>
          <a:xfrm>
            <a:off x="6909776" y="2392739"/>
            <a:ext cx="738103" cy="18958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PDD</a:t>
            </a:r>
          </a:p>
        </p:txBody>
      </p:sp>
      <p:sp>
        <p:nvSpPr>
          <p:cNvPr id="249" name="Rounded Rectangle 118">
            <a:extLst>
              <a:ext uri="{FF2B5EF4-FFF2-40B4-BE49-F238E27FC236}">
                <a16:creationId xmlns:a16="http://schemas.microsoft.com/office/drawing/2014/main" id="{D128D974-4DC9-B1E0-7EBF-C6D7EBE02DA5}"/>
              </a:ext>
            </a:extLst>
          </p:cNvPr>
          <p:cNvSpPr/>
          <p:nvPr/>
        </p:nvSpPr>
        <p:spPr>
          <a:xfrm>
            <a:off x="4416785" y="3061155"/>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err="1">
                <a:solidFill>
                  <a:srgbClr val="FFFFFF"/>
                </a:solidFill>
                <a:latin typeface="Arial" panose="020B0604020202020204" pitchFamily="34" charset="0"/>
                <a:cs typeface="Arial" panose="020B0604020202020204" pitchFamily="34" charset="0"/>
              </a:rPr>
              <a:t>Ms</a:t>
            </a:r>
            <a:r>
              <a:rPr lang="en-US" sz="800" b="1" noProof="0">
                <a:solidFill>
                  <a:srgbClr val="FFFFFF"/>
                </a:solidFill>
                <a:latin typeface="Arial" panose="020B0604020202020204" pitchFamily="34" charset="0"/>
                <a:cs typeface="Arial" panose="020B0604020202020204" pitchFamily="34" charset="0"/>
              </a:rPr>
              <a:t> Office</a:t>
            </a:r>
          </a:p>
        </p:txBody>
      </p:sp>
      <p:sp>
        <p:nvSpPr>
          <p:cNvPr id="250" name="Rounded Rectangle 118">
            <a:extLst>
              <a:ext uri="{FF2B5EF4-FFF2-40B4-BE49-F238E27FC236}">
                <a16:creationId xmlns:a16="http://schemas.microsoft.com/office/drawing/2014/main" id="{26C6D207-2A35-B50D-8DC6-624664EEC452}"/>
              </a:ext>
            </a:extLst>
          </p:cNvPr>
          <p:cNvSpPr/>
          <p:nvPr/>
        </p:nvSpPr>
        <p:spPr>
          <a:xfrm>
            <a:off x="6098985" y="2392739"/>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MS Office</a:t>
            </a:r>
          </a:p>
        </p:txBody>
      </p:sp>
      <p:sp>
        <p:nvSpPr>
          <p:cNvPr id="251" name="Rounded Rectangle 118">
            <a:extLst>
              <a:ext uri="{FF2B5EF4-FFF2-40B4-BE49-F238E27FC236}">
                <a16:creationId xmlns:a16="http://schemas.microsoft.com/office/drawing/2014/main" id="{3C6AD440-3941-80E7-8D1C-80881FC4512A}"/>
              </a:ext>
            </a:extLst>
          </p:cNvPr>
          <p:cNvSpPr/>
          <p:nvPr/>
        </p:nvSpPr>
        <p:spPr>
          <a:xfrm>
            <a:off x="5260065" y="3061155"/>
            <a:ext cx="738103" cy="18958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PDD</a:t>
            </a:r>
          </a:p>
        </p:txBody>
      </p:sp>
      <p:sp>
        <p:nvSpPr>
          <p:cNvPr id="253" name="Rounded Rectangle 118">
            <a:extLst>
              <a:ext uri="{FF2B5EF4-FFF2-40B4-BE49-F238E27FC236}">
                <a16:creationId xmlns:a16="http://schemas.microsoft.com/office/drawing/2014/main" id="{294B048D-33EC-3A5C-0AE9-44B825600C01}"/>
              </a:ext>
            </a:extLst>
          </p:cNvPr>
          <p:cNvSpPr/>
          <p:nvPr/>
        </p:nvSpPr>
        <p:spPr>
          <a:xfrm>
            <a:off x="4415496" y="2732140"/>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err="1">
                <a:solidFill>
                  <a:srgbClr val="FFFFFF"/>
                </a:solidFill>
                <a:latin typeface="Arial" panose="020B0604020202020204" pitchFamily="34" charset="0"/>
                <a:cs typeface="Arial" panose="020B0604020202020204" pitchFamily="34" charset="0"/>
              </a:rPr>
              <a:t>Sharepoint</a:t>
            </a:r>
            <a:endParaRPr lang="en-US" sz="800" b="1" noProof="0">
              <a:solidFill>
                <a:srgbClr val="FFFFFF"/>
              </a:solidFill>
              <a:latin typeface="Arial" panose="020B0604020202020204" pitchFamily="34" charset="0"/>
              <a:cs typeface="Arial" panose="020B0604020202020204" pitchFamily="34" charset="0"/>
            </a:endParaRPr>
          </a:p>
        </p:txBody>
      </p:sp>
      <p:sp>
        <p:nvSpPr>
          <p:cNvPr id="4099" name="Rounded Rectangle 118">
            <a:extLst>
              <a:ext uri="{FF2B5EF4-FFF2-40B4-BE49-F238E27FC236}">
                <a16:creationId xmlns:a16="http://schemas.microsoft.com/office/drawing/2014/main" id="{19CD68C3-4A86-2413-0080-D724AD1A0160}"/>
              </a:ext>
            </a:extLst>
          </p:cNvPr>
          <p:cNvSpPr/>
          <p:nvPr/>
        </p:nvSpPr>
        <p:spPr>
          <a:xfrm>
            <a:off x="5258776" y="2732140"/>
            <a:ext cx="738103" cy="18958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PDD</a:t>
            </a:r>
          </a:p>
        </p:txBody>
      </p:sp>
      <p:sp>
        <p:nvSpPr>
          <p:cNvPr id="4101" name="Rounded Rectangle 118">
            <a:extLst>
              <a:ext uri="{FF2B5EF4-FFF2-40B4-BE49-F238E27FC236}">
                <a16:creationId xmlns:a16="http://schemas.microsoft.com/office/drawing/2014/main" id="{32E4EB60-F857-EC3A-101F-4EEBE8F5DA13}"/>
              </a:ext>
            </a:extLst>
          </p:cNvPr>
          <p:cNvSpPr/>
          <p:nvPr/>
        </p:nvSpPr>
        <p:spPr>
          <a:xfrm>
            <a:off x="5258776" y="3732222"/>
            <a:ext cx="738103" cy="18958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PDD</a:t>
            </a:r>
          </a:p>
        </p:txBody>
      </p:sp>
      <p:sp>
        <p:nvSpPr>
          <p:cNvPr id="4102" name="Rounded Rectangle 118">
            <a:extLst>
              <a:ext uri="{FF2B5EF4-FFF2-40B4-BE49-F238E27FC236}">
                <a16:creationId xmlns:a16="http://schemas.microsoft.com/office/drawing/2014/main" id="{BADE5D18-BE2D-039C-46A6-275F34C68394}"/>
              </a:ext>
            </a:extLst>
          </p:cNvPr>
          <p:cNvSpPr/>
          <p:nvPr/>
        </p:nvSpPr>
        <p:spPr>
          <a:xfrm>
            <a:off x="5258776" y="4069702"/>
            <a:ext cx="738103" cy="18958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PDD</a:t>
            </a:r>
          </a:p>
        </p:txBody>
      </p:sp>
      <p:sp>
        <p:nvSpPr>
          <p:cNvPr id="4111" name="Rounded Rectangle 118">
            <a:extLst>
              <a:ext uri="{FF2B5EF4-FFF2-40B4-BE49-F238E27FC236}">
                <a16:creationId xmlns:a16="http://schemas.microsoft.com/office/drawing/2014/main" id="{EC820B7D-58BE-4DFC-8448-A2D8FAD5EE22}"/>
              </a:ext>
            </a:extLst>
          </p:cNvPr>
          <p:cNvSpPr/>
          <p:nvPr/>
        </p:nvSpPr>
        <p:spPr>
          <a:xfrm>
            <a:off x="5247201" y="5070866"/>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Confluence</a:t>
            </a:r>
          </a:p>
        </p:txBody>
      </p:sp>
      <p:sp>
        <p:nvSpPr>
          <p:cNvPr id="4112" name="Rounded Rectangle 118">
            <a:extLst>
              <a:ext uri="{FF2B5EF4-FFF2-40B4-BE49-F238E27FC236}">
                <a16:creationId xmlns:a16="http://schemas.microsoft.com/office/drawing/2014/main" id="{46AD9F33-42B9-CBCF-6D9D-6F833D0DDD81}"/>
              </a:ext>
            </a:extLst>
          </p:cNvPr>
          <p:cNvSpPr/>
          <p:nvPr/>
        </p:nvSpPr>
        <p:spPr>
          <a:xfrm>
            <a:off x="6087410" y="5070866"/>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MS Office</a:t>
            </a:r>
          </a:p>
        </p:txBody>
      </p:sp>
      <p:sp>
        <p:nvSpPr>
          <p:cNvPr id="4113" name="Rounded Rectangle 118">
            <a:extLst>
              <a:ext uri="{FF2B5EF4-FFF2-40B4-BE49-F238E27FC236}">
                <a16:creationId xmlns:a16="http://schemas.microsoft.com/office/drawing/2014/main" id="{C2576B3F-E2CF-550D-ED77-2E7B572BD653}"/>
              </a:ext>
            </a:extLst>
          </p:cNvPr>
          <p:cNvSpPr/>
          <p:nvPr/>
        </p:nvSpPr>
        <p:spPr>
          <a:xfrm>
            <a:off x="6921119" y="5070866"/>
            <a:ext cx="738103" cy="18958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PDD</a:t>
            </a:r>
          </a:p>
        </p:txBody>
      </p:sp>
      <p:sp>
        <p:nvSpPr>
          <p:cNvPr id="4123" name="Rounded Rectangle 118">
            <a:extLst>
              <a:ext uri="{FF2B5EF4-FFF2-40B4-BE49-F238E27FC236}">
                <a16:creationId xmlns:a16="http://schemas.microsoft.com/office/drawing/2014/main" id="{8697A0EC-4B4D-6EF3-7CAE-38D9F9CDAC38}"/>
              </a:ext>
            </a:extLst>
          </p:cNvPr>
          <p:cNvSpPr/>
          <p:nvPr/>
        </p:nvSpPr>
        <p:spPr>
          <a:xfrm>
            <a:off x="6087410" y="5416928"/>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IT Now</a:t>
            </a:r>
          </a:p>
        </p:txBody>
      </p:sp>
      <p:sp>
        <p:nvSpPr>
          <p:cNvPr id="4124" name="Rounded Rectangle 118">
            <a:extLst>
              <a:ext uri="{FF2B5EF4-FFF2-40B4-BE49-F238E27FC236}">
                <a16:creationId xmlns:a16="http://schemas.microsoft.com/office/drawing/2014/main" id="{D0951396-C74B-ACC6-244B-4ADE69BFE6BD}"/>
              </a:ext>
            </a:extLst>
          </p:cNvPr>
          <p:cNvSpPr/>
          <p:nvPr/>
        </p:nvSpPr>
        <p:spPr>
          <a:xfrm>
            <a:off x="6913441" y="5416928"/>
            <a:ext cx="738103" cy="18958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PDD</a:t>
            </a:r>
          </a:p>
        </p:txBody>
      </p:sp>
      <p:sp>
        <p:nvSpPr>
          <p:cNvPr id="4125" name="Rounded Rectangle 118">
            <a:extLst>
              <a:ext uri="{FF2B5EF4-FFF2-40B4-BE49-F238E27FC236}">
                <a16:creationId xmlns:a16="http://schemas.microsoft.com/office/drawing/2014/main" id="{9BC11F48-8BC3-2325-8047-FD178BF61467}"/>
              </a:ext>
            </a:extLst>
          </p:cNvPr>
          <p:cNvSpPr/>
          <p:nvPr/>
        </p:nvSpPr>
        <p:spPr>
          <a:xfrm>
            <a:off x="5247201" y="5416928"/>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MS Office</a:t>
            </a:r>
          </a:p>
        </p:txBody>
      </p:sp>
      <p:sp>
        <p:nvSpPr>
          <p:cNvPr id="4128" name="Rounded Rectangle 118">
            <a:extLst>
              <a:ext uri="{FF2B5EF4-FFF2-40B4-BE49-F238E27FC236}">
                <a16:creationId xmlns:a16="http://schemas.microsoft.com/office/drawing/2014/main" id="{2C8DF423-2E5F-1586-7CBC-9E0F236F39F6}"/>
              </a:ext>
            </a:extLst>
          </p:cNvPr>
          <p:cNvSpPr/>
          <p:nvPr/>
        </p:nvSpPr>
        <p:spPr>
          <a:xfrm>
            <a:off x="6097805" y="6098942"/>
            <a:ext cx="738103" cy="18958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PDD</a:t>
            </a:r>
          </a:p>
        </p:txBody>
      </p:sp>
      <p:sp>
        <p:nvSpPr>
          <p:cNvPr id="4129" name="Rounded Rectangle 118">
            <a:extLst>
              <a:ext uri="{FF2B5EF4-FFF2-40B4-BE49-F238E27FC236}">
                <a16:creationId xmlns:a16="http://schemas.microsoft.com/office/drawing/2014/main" id="{8BFB7216-6FE6-DFDA-BA60-79A2767001DA}"/>
              </a:ext>
            </a:extLst>
          </p:cNvPr>
          <p:cNvSpPr/>
          <p:nvPr/>
        </p:nvSpPr>
        <p:spPr>
          <a:xfrm>
            <a:off x="5254525" y="6098942"/>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MS Office</a:t>
            </a:r>
          </a:p>
        </p:txBody>
      </p:sp>
      <p:sp>
        <p:nvSpPr>
          <p:cNvPr id="217" name="Rounded Rectangle 118">
            <a:extLst>
              <a:ext uri="{FF2B5EF4-FFF2-40B4-BE49-F238E27FC236}">
                <a16:creationId xmlns:a16="http://schemas.microsoft.com/office/drawing/2014/main" id="{7938FD3E-5975-DE26-32A3-8A07186BAB7F}"/>
              </a:ext>
            </a:extLst>
          </p:cNvPr>
          <p:cNvSpPr/>
          <p:nvPr/>
        </p:nvSpPr>
        <p:spPr>
          <a:xfrm>
            <a:off x="4415496" y="2058052"/>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Jira</a:t>
            </a:r>
          </a:p>
        </p:txBody>
      </p:sp>
      <p:sp>
        <p:nvSpPr>
          <p:cNvPr id="244" name="Rounded Rectangle 118">
            <a:extLst>
              <a:ext uri="{FF2B5EF4-FFF2-40B4-BE49-F238E27FC236}">
                <a16:creationId xmlns:a16="http://schemas.microsoft.com/office/drawing/2014/main" id="{F87212C5-9CC2-0894-6BC7-6B7B2BEFAF34}"/>
              </a:ext>
            </a:extLst>
          </p:cNvPr>
          <p:cNvSpPr/>
          <p:nvPr/>
        </p:nvSpPr>
        <p:spPr>
          <a:xfrm>
            <a:off x="4415496" y="2405973"/>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Jira</a:t>
            </a:r>
          </a:p>
        </p:txBody>
      </p:sp>
      <p:sp>
        <p:nvSpPr>
          <p:cNvPr id="4110" name="Rounded Rectangle 118">
            <a:extLst>
              <a:ext uri="{FF2B5EF4-FFF2-40B4-BE49-F238E27FC236}">
                <a16:creationId xmlns:a16="http://schemas.microsoft.com/office/drawing/2014/main" id="{5DC9B032-E3A2-CE55-4297-8D86A16A474F}"/>
              </a:ext>
            </a:extLst>
          </p:cNvPr>
          <p:cNvSpPr/>
          <p:nvPr/>
        </p:nvSpPr>
        <p:spPr>
          <a:xfrm>
            <a:off x="4415496" y="4406458"/>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Jira</a:t>
            </a:r>
          </a:p>
        </p:txBody>
      </p:sp>
      <p:sp>
        <p:nvSpPr>
          <p:cNvPr id="22" name="Rounded Rectangle 25">
            <a:extLst>
              <a:ext uri="{FF2B5EF4-FFF2-40B4-BE49-F238E27FC236}">
                <a16:creationId xmlns:a16="http://schemas.microsoft.com/office/drawing/2014/main" id="{0974E290-3219-3839-7022-F83918155B7C}"/>
              </a:ext>
            </a:extLst>
          </p:cNvPr>
          <p:cNvSpPr/>
          <p:nvPr/>
        </p:nvSpPr>
        <p:spPr>
          <a:xfrm>
            <a:off x="279988" y="1985301"/>
            <a:ext cx="1360264" cy="307175"/>
          </a:xfrm>
          <a:prstGeom prst="roundRect">
            <a:avLst>
              <a:gd name="adj" fmla="val 25000"/>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noProof="0">
                <a:solidFill>
                  <a:srgbClr val="FFFFFF"/>
                </a:solidFill>
                <a:latin typeface="Arial" panose="020B0604020202020204" pitchFamily="34" charset="0"/>
                <a:cs typeface="Arial" panose="020B0604020202020204" pitchFamily="34" charset="0"/>
              </a:rPr>
              <a:t>BRS</a:t>
            </a:r>
            <a:endParaRPr lang="en-US" sz="1000" noProof="0">
              <a:latin typeface="Arial" panose="020B0604020202020204" pitchFamily="34" charset="0"/>
              <a:cs typeface="Arial" panose="020B0604020202020204" pitchFamily="34" charset="0"/>
            </a:endParaRPr>
          </a:p>
        </p:txBody>
      </p:sp>
      <p:sp>
        <p:nvSpPr>
          <p:cNvPr id="29" name="Rounded Rectangle 32">
            <a:extLst>
              <a:ext uri="{FF2B5EF4-FFF2-40B4-BE49-F238E27FC236}">
                <a16:creationId xmlns:a16="http://schemas.microsoft.com/office/drawing/2014/main" id="{3975D931-82B0-DCB5-F3C1-83714CA84BDF}"/>
              </a:ext>
            </a:extLst>
          </p:cNvPr>
          <p:cNvSpPr/>
          <p:nvPr/>
        </p:nvSpPr>
        <p:spPr>
          <a:xfrm>
            <a:off x="279988" y="2322599"/>
            <a:ext cx="1360264" cy="645750"/>
          </a:xfrm>
          <a:prstGeom prst="roundRect">
            <a:avLst>
              <a:gd name="adj" fmla="val 14921"/>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noProof="0">
                <a:solidFill>
                  <a:srgbClr val="FFFFFF"/>
                </a:solidFill>
                <a:latin typeface="Arial" panose="020B0604020202020204" pitchFamily="34" charset="0"/>
                <a:cs typeface="Arial" panose="020B0604020202020204" pitchFamily="34" charset="0"/>
              </a:rPr>
              <a:t>CX &amp; Digital </a:t>
            </a:r>
            <a:r>
              <a:rPr lang="en-US" sz="1000" b="1" noProof="0" err="1">
                <a:solidFill>
                  <a:srgbClr val="FFFFFF"/>
                </a:solidFill>
                <a:latin typeface="Arial" panose="020B0604020202020204" pitchFamily="34" charset="0"/>
                <a:cs typeface="Arial" panose="020B0604020202020204" pitchFamily="34" charset="0"/>
              </a:rPr>
              <a:t>CoE</a:t>
            </a:r>
            <a:endParaRPr lang="en-US" sz="1000" b="1" noProof="0">
              <a:solidFill>
                <a:srgbClr val="FFFFFF"/>
              </a:solidFill>
              <a:latin typeface="Arial" panose="020B0604020202020204" pitchFamily="34" charset="0"/>
              <a:cs typeface="Arial" panose="020B0604020202020204" pitchFamily="34" charset="0"/>
            </a:endParaRPr>
          </a:p>
          <a:p>
            <a:pPr algn="ctr"/>
            <a:endParaRPr lang="en-US" sz="1000" b="1">
              <a:solidFill>
                <a:srgbClr val="FFFFFF"/>
              </a:solidFill>
              <a:latin typeface="Arial" panose="020B0604020202020204" pitchFamily="34" charset="0"/>
              <a:cs typeface="Arial" panose="020B0604020202020204" pitchFamily="34" charset="0"/>
            </a:endParaRPr>
          </a:p>
          <a:p>
            <a:pPr algn="ctr"/>
            <a:endParaRPr lang="en-US" sz="1000" b="1">
              <a:solidFill>
                <a:srgbClr val="FFFFFF"/>
              </a:solidFill>
              <a:latin typeface="Arial" panose="020B0604020202020204" pitchFamily="34" charset="0"/>
              <a:cs typeface="Arial" panose="020B0604020202020204" pitchFamily="34" charset="0"/>
            </a:endParaRPr>
          </a:p>
        </p:txBody>
      </p:sp>
      <p:sp>
        <p:nvSpPr>
          <p:cNvPr id="36" name="Rounded Rectangle 39">
            <a:extLst>
              <a:ext uri="{FF2B5EF4-FFF2-40B4-BE49-F238E27FC236}">
                <a16:creationId xmlns:a16="http://schemas.microsoft.com/office/drawing/2014/main" id="{AA6E762C-CAD1-1BDA-44BC-AC06E4A26D1A}"/>
              </a:ext>
            </a:extLst>
          </p:cNvPr>
          <p:cNvSpPr/>
          <p:nvPr/>
        </p:nvSpPr>
        <p:spPr>
          <a:xfrm>
            <a:off x="281277" y="2998472"/>
            <a:ext cx="1360264" cy="307175"/>
          </a:xfrm>
          <a:prstGeom prst="roundRect">
            <a:avLst>
              <a:gd name="adj" fmla="val 25000"/>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noProof="0">
                <a:solidFill>
                  <a:srgbClr val="FFFFFF"/>
                </a:solidFill>
                <a:latin typeface="Arial" panose="020B0604020202020204" pitchFamily="34" charset="0"/>
                <a:cs typeface="Arial" panose="020B0604020202020204" pitchFamily="34" charset="0"/>
              </a:rPr>
              <a:t>Infrastructure</a:t>
            </a:r>
          </a:p>
        </p:txBody>
      </p:sp>
      <p:sp>
        <p:nvSpPr>
          <p:cNvPr id="49" name="Rounded Rectangle 52">
            <a:extLst>
              <a:ext uri="{FF2B5EF4-FFF2-40B4-BE49-F238E27FC236}">
                <a16:creationId xmlns:a16="http://schemas.microsoft.com/office/drawing/2014/main" id="{A09A6EF9-0124-8AF7-44E1-FC4B6DACD79E}"/>
              </a:ext>
            </a:extLst>
          </p:cNvPr>
          <p:cNvSpPr/>
          <p:nvPr/>
        </p:nvSpPr>
        <p:spPr>
          <a:xfrm>
            <a:off x="279988" y="3335771"/>
            <a:ext cx="1360264" cy="307175"/>
          </a:xfrm>
          <a:prstGeom prst="roundRect">
            <a:avLst>
              <a:gd name="adj" fmla="val 25000"/>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noProof="0">
                <a:solidFill>
                  <a:srgbClr val="FFFFFF"/>
                </a:solidFill>
                <a:latin typeface="Arial" panose="020B0604020202020204" pitchFamily="34" charset="0"/>
                <a:cs typeface="Arial" panose="020B0604020202020204" pitchFamily="34" charset="0"/>
              </a:rPr>
              <a:t>IA</a:t>
            </a:r>
            <a:endParaRPr lang="en-US" sz="1000" noProof="0">
              <a:latin typeface="Arial" panose="020B0604020202020204" pitchFamily="34" charset="0"/>
              <a:cs typeface="Arial" panose="020B0604020202020204" pitchFamily="34" charset="0"/>
            </a:endParaRPr>
          </a:p>
        </p:txBody>
      </p:sp>
      <p:sp>
        <p:nvSpPr>
          <p:cNvPr id="55" name="Rounded Rectangle 58">
            <a:extLst>
              <a:ext uri="{FF2B5EF4-FFF2-40B4-BE49-F238E27FC236}">
                <a16:creationId xmlns:a16="http://schemas.microsoft.com/office/drawing/2014/main" id="{37A7D949-7C1E-BAA7-CB8D-FB72BAB85340}"/>
              </a:ext>
            </a:extLst>
          </p:cNvPr>
          <p:cNvSpPr/>
          <p:nvPr/>
        </p:nvSpPr>
        <p:spPr>
          <a:xfrm>
            <a:off x="279988" y="3673070"/>
            <a:ext cx="1360264" cy="307175"/>
          </a:xfrm>
          <a:prstGeom prst="roundRect">
            <a:avLst>
              <a:gd name="adj" fmla="val 25000"/>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noProof="0">
                <a:solidFill>
                  <a:srgbClr val="FFFFFF"/>
                </a:solidFill>
                <a:latin typeface="Arial" panose="020B0604020202020204" pitchFamily="34" charset="0"/>
                <a:cs typeface="Arial" panose="020B0604020202020204" pitchFamily="34" charset="0"/>
              </a:rPr>
              <a:t>OT</a:t>
            </a:r>
            <a:endParaRPr lang="en-US" sz="1000" noProof="0">
              <a:latin typeface="Arial" panose="020B0604020202020204" pitchFamily="34" charset="0"/>
              <a:cs typeface="Arial" panose="020B0604020202020204" pitchFamily="34" charset="0"/>
            </a:endParaRPr>
          </a:p>
        </p:txBody>
      </p:sp>
      <p:sp>
        <p:nvSpPr>
          <p:cNvPr id="61" name="Rounded Rectangle 64">
            <a:extLst>
              <a:ext uri="{FF2B5EF4-FFF2-40B4-BE49-F238E27FC236}">
                <a16:creationId xmlns:a16="http://schemas.microsoft.com/office/drawing/2014/main" id="{A15DA28A-1E7C-0998-1F5F-2A6EADF5BCAB}"/>
              </a:ext>
            </a:extLst>
          </p:cNvPr>
          <p:cNvSpPr/>
          <p:nvPr/>
        </p:nvSpPr>
        <p:spPr>
          <a:xfrm>
            <a:off x="279988" y="4010369"/>
            <a:ext cx="1360264" cy="307175"/>
          </a:xfrm>
          <a:prstGeom prst="roundRect">
            <a:avLst>
              <a:gd name="adj" fmla="val 25000"/>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noProof="0">
                <a:solidFill>
                  <a:srgbClr val="FFFFFF"/>
                </a:solidFill>
                <a:latin typeface="Arial" panose="020B0604020202020204" pitchFamily="34" charset="0"/>
                <a:cs typeface="Arial" panose="020B0604020202020204" pitchFamily="34" charset="0"/>
              </a:rPr>
              <a:t>Procurement</a:t>
            </a:r>
          </a:p>
        </p:txBody>
      </p:sp>
      <p:sp>
        <p:nvSpPr>
          <p:cNvPr id="67" name="Rounded Rectangle 70">
            <a:extLst>
              <a:ext uri="{FF2B5EF4-FFF2-40B4-BE49-F238E27FC236}">
                <a16:creationId xmlns:a16="http://schemas.microsoft.com/office/drawing/2014/main" id="{E43D8232-8CD1-E950-C437-BB97B92F16A1}"/>
              </a:ext>
            </a:extLst>
          </p:cNvPr>
          <p:cNvSpPr/>
          <p:nvPr/>
        </p:nvSpPr>
        <p:spPr>
          <a:xfrm>
            <a:off x="279988" y="4347667"/>
            <a:ext cx="1360264" cy="307175"/>
          </a:xfrm>
          <a:prstGeom prst="roundRect">
            <a:avLst>
              <a:gd name="adj" fmla="val 25000"/>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noProof="0">
                <a:solidFill>
                  <a:srgbClr val="FFFFFF"/>
                </a:solidFill>
                <a:latin typeface="Arial" panose="020B0604020202020204" pitchFamily="34" charset="0"/>
                <a:cs typeface="Arial" panose="020B0604020202020204" pitchFamily="34" charset="0"/>
              </a:rPr>
              <a:t>Regulatory</a:t>
            </a:r>
          </a:p>
        </p:txBody>
      </p:sp>
      <p:sp>
        <p:nvSpPr>
          <p:cNvPr id="74" name="Rounded Rectangle 77">
            <a:extLst>
              <a:ext uri="{FF2B5EF4-FFF2-40B4-BE49-F238E27FC236}">
                <a16:creationId xmlns:a16="http://schemas.microsoft.com/office/drawing/2014/main" id="{8C6C21EC-B129-F688-982B-2669331E9565}"/>
              </a:ext>
            </a:extLst>
          </p:cNvPr>
          <p:cNvSpPr/>
          <p:nvPr/>
        </p:nvSpPr>
        <p:spPr>
          <a:xfrm>
            <a:off x="269828" y="5012073"/>
            <a:ext cx="1360264" cy="307175"/>
          </a:xfrm>
          <a:prstGeom prst="roundRect">
            <a:avLst>
              <a:gd name="adj" fmla="val 25000"/>
            </a:avLst>
          </a:prstGeom>
          <a:solidFill>
            <a:srgbClr val="7474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noProof="0">
                <a:solidFill>
                  <a:srgbClr val="FFFFFF"/>
                </a:solidFill>
                <a:latin typeface="Arial" panose="020B0604020202020204" pitchFamily="34" charset="0"/>
                <a:cs typeface="Arial" panose="020B0604020202020204" pitchFamily="34" charset="0"/>
              </a:rPr>
              <a:t>Corporate Areas</a:t>
            </a:r>
          </a:p>
        </p:txBody>
      </p:sp>
      <p:sp>
        <p:nvSpPr>
          <p:cNvPr id="90" name="Rounded Rectangle 91">
            <a:extLst>
              <a:ext uri="{FF2B5EF4-FFF2-40B4-BE49-F238E27FC236}">
                <a16:creationId xmlns:a16="http://schemas.microsoft.com/office/drawing/2014/main" id="{96236047-01EE-0100-84A2-2E94B2E399B7}"/>
              </a:ext>
            </a:extLst>
          </p:cNvPr>
          <p:cNvSpPr/>
          <p:nvPr/>
        </p:nvSpPr>
        <p:spPr>
          <a:xfrm>
            <a:off x="269828" y="5358135"/>
            <a:ext cx="1360264" cy="307175"/>
          </a:xfrm>
          <a:prstGeom prst="roundRect">
            <a:avLst>
              <a:gd name="adj" fmla="val 25000"/>
            </a:avLst>
          </a:prstGeom>
          <a:solidFill>
            <a:srgbClr val="7474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noProof="0">
                <a:solidFill>
                  <a:srgbClr val="FFFFFF"/>
                </a:solidFill>
                <a:latin typeface="Arial" panose="020B0604020202020204" pitchFamily="34" charset="0"/>
                <a:cs typeface="Arial" panose="020B0604020202020204" pitchFamily="34" charset="0"/>
              </a:rPr>
              <a:t>P&amp;T (GIS)</a:t>
            </a:r>
            <a:endParaRPr lang="en-US" sz="1000" noProof="0">
              <a:latin typeface="Arial" panose="020B0604020202020204" pitchFamily="34" charset="0"/>
              <a:cs typeface="Arial" panose="020B0604020202020204" pitchFamily="34" charset="0"/>
            </a:endParaRPr>
          </a:p>
        </p:txBody>
      </p:sp>
      <p:sp>
        <p:nvSpPr>
          <p:cNvPr id="81" name="Rounded Rectangle 25">
            <a:extLst>
              <a:ext uri="{FF2B5EF4-FFF2-40B4-BE49-F238E27FC236}">
                <a16:creationId xmlns:a16="http://schemas.microsoft.com/office/drawing/2014/main" id="{167ABBF7-EE96-4401-529F-BFD29149986B}"/>
              </a:ext>
            </a:extLst>
          </p:cNvPr>
          <p:cNvSpPr/>
          <p:nvPr/>
        </p:nvSpPr>
        <p:spPr>
          <a:xfrm>
            <a:off x="4338329" y="1985299"/>
            <a:ext cx="4297602" cy="307175"/>
          </a:xfrm>
          <a:prstGeom prst="roundRect">
            <a:avLst>
              <a:gd name="adj" fmla="val 25000"/>
            </a:avLst>
          </a:prstGeom>
          <a:no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16" name="Rounded Rectangle 25">
            <a:extLst>
              <a:ext uri="{FF2B5EF4-FFF2-40B4-BE49-F238E27FC236}">
                <a16:creationId xmlns:a16="http://schemas.microsoft.com/office/drawing/2014/main" id="{B6945C29-8D78-BAE5-9D9B-56E7CC7BDEAF}"/>
              </a:ext>
            </a:extLst>
          </p:cNvPr>
          <p:cNvSpPr/>
          <p:nvPr/>
        </p:nvSpPr>
        <p:spPr>
          <a:xfrm>
            <a:off x="4338329" y="2333220"/>
            <a:ext cx="4297602" cy="307175"/>
          </a:xfrm>
          <a:prstGeom prst="roundRect">
            <a:avLst>
              <a:gd name="adj" fmla="val 25000"/>
            </a:avLst>
          </a:prstGeom>
          <a:no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48" name="Rounded Rectangle 25">
            <a:extLst>
              <a:ext uri="{FF2B5EF4-FFF2-40B4-BE49-F238E27FC236}">
                <a16:creationId xmlns:a16="http://schemas.microsoft.com/office/drawing/2014/main" id="{251B829A-BAA8-E91E-6A34-987BCEC2A804}"/>
              </a:ext>
            </a:extLst>
          </p:cNvPr>
          <p:cNvSpPr/>
          <p:nvPr/>
        </p:nvSpPr>
        <p:spPr>
          <a:xfrm>
            <a:off x="4339618" y="3001636"/>
            <a:ext cx="4297602" cy="307175"/>
          </a:xfrm>
          <a:prstGeom prst="roundRect">
            <a:avLst>
              <a:gd name="adj" fmla="val 25000"/>
            </a:avLst>
          </a:prstGeom>
          <a:no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52" name="Rounded Rectangle 25">
            <a:extLst>
              <a:ext uri="{FF2B5EF4-FFF2-40B4-BE49-F238E27FC236}">
                <a16:creationId xmlns:a16="http://schemas.microsoft.com/office/drawing/2014/main" id="{04FF09A2-86EA-79D9-032F-061C76EFB82B}"/>
              </a:ext>
            </a:extLst>
          </p:cNvPr>
          <p:cNvSpPr/>
          <p:nvPr/>
        </p:nvSpPr>
        <p:spPr>
          <a:xfrm>
            <a:off x="4338329" y="2672621"/>
            <a:ext cx="4297602" cy="307175"/>
          </a:xfrm>
          <a:prstGeom prst="roundRect">
            <a:avLst>
              <a:gd name="adj" fmla="val 25000"/>
            </a:avLst>
          </a:prstGeom>
          <a:no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54" name="Rounded Rectangle 25">
            <a:extLst>
              <a:ext uri="{FF2B5EF4-FFF2-40B4-BE49-F238E27FC236}">
                <a16:creationId xmlns:a16="http://schemas.microsoft.com/office/drawing/2014/main" id="{DB33F839-4861-EA12-67A0-F8286801C31B}"/>
              </a:ext>
            </a:extLst>
          </p:cNvPr>
          <p:cNvSpPr/>
          <p:nvPr/>
        </p:nvSpPr>
        <p:spPr>
          <a:xfrm>
            <a:off x="4338329" y="3335221"/>
            <a:ext cx="4297602" cy="307175"/>
          </a:xfrm>
          <a:prstGeom prst="roundRect">
            <a:avLst>
              <a:gd name="adj" fmla="val 25000"/>
            </a:avLst>
          </a:prstGeom>
          <a:no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096" name="Rounded Rectangle 25">
            <a:extLst>
              <a:ext uri="{FF2B5EF4-FFF2-40B4-BE49-F238E27FC236}">
                <a16:creationId xmlns:a16="http://schemas.microsoft.com/office/drawing/2014/main" id="{390B1DF5-0619-33A4-9A1E-B335737271E3}"/>
              </a:ext>
            </a:extLst>
          </p:cNvPr>
          <p:cNvSpPr/>
          <p:nvPr/>
        </p:nvSpPr>
        <p:spPr>
          <a:xfrm>
            <a:off x="4338329" y="3672703"/>
            <a:ext cx="4297602" cy="307175"/>
          </a:xfrm>
          <a:prstGeom prst="roundRect">
            <a:avLst>
              <a:gd name="adj" fmla="val 25000"/>
            </a:avLst>
          </a:prstGeom>
          <a:no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03" name="Rounded Rectangle 25">
            <a:extLst>
              <a:ext uri="{FF2B5EF4-FFF2-40B4-BE49-F238E27FC236}">
                <a16:creationId xmlns:a16="http://schemas.microsoft.com/office/drawing/2014/main" id="{92831CC6-6822-5DBF-EB01-1689D72C674E}"/>
              </a:ext>
            </a:extLst>
          </p:cNvPr>
          <p:cNvSpPr/>
          <p:nvPr/>
        </p:nvSpPr>
        <p:spPr>
          <a:xfrm>
            <a:off x="4338329" y="4010183"/>
            <a:ext cx="4297602" cy="307175"/>
          </a:xfrm>
          <a:prstGeom prst="roundRect">
            <a:avLst>
              <a:gd name="adj" fmla="val 25000"/>
            </a:avLst>
          </a:prstGeom>
          <a:no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04" name="Rounded Rectangle 25">
            <a:extLst>
              <a:ext uri="{FF2B5EF4-FFF2-40B4-BE49-F238E27FC236}">
                <a16:creationId xmlns:a16="http://schemas.microsoft.com/office/drawing/2014/main" id="{340BC075-A97B-0409-F030-03F0E9F3B98E}"/>
              </a:ext>
            </a:extLst>
          </p:cNvPr>
          <p:cNvSpPr/>
          <p:nvPr/>
        </p:nvSpPr>
        <p:spPr>
          <a:xfrm>
            <a:off x="4326754" y="5012073"/>
            <a:ext cx="4297602" cy="307175"/>
          </a:xfrm>
          <a:prstGeom prst="roundRect">
            <a:avLst>
              <a:gd name="adj" fmla="val 25000"/>
            </a:avLst>
          </a:prstGeom>
          <a:no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06" name="Rounded Rectangle 25">
            <a:extLst>
              <a:ext uri="{FF2B5EF4-FFF2-40B4-BE49-F238E27FC236}">
                <a16:creationId xmlns:a16="http://schemas.microsoft.com/office/drawing/2014/main" id="{D56D6065-4CE1-F7DA-DE52-4A138AD8788B}"/>
              </a:ext>
            </a:extLst>
          </p:cNvPr>
          <p:cNvSpPr/>
          <p:nvPr/>
        </p:nvSpPr>
        <p:spPr>
          <a:xfrm>
            <a:off x="4326754" y="5358135"/>
            <a:ext cx="4297602" cy="307175"/>
          </a:xfrm>
          <a:prstGeom prst="roundRect">
            <a:avLst>
              <a:gd name="adj" fmla="val 25000"/>
            </a:avLst>
          </a:prstGeom>
          <a:no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09" name="Rounded Rectangle 25">
            <a:extLst>
              <a:ext uri="{FF2B5EF4-FFF2-40B4-BE49-F238E27FC236}">
                <a16:creationId xmlns:a16="http://schemas.microsoft.com/office/drawing/2014/main" id="{28A6B481-A5FD-320F-C3FC-5E57CD1088B6}"/>
              </a:ext>
            </a:extLst>
          </p:cNvPr>
          <p:cNvSpPr/>
          <p:nvPr/>
        </p:nvSpPr>
        <p:spPr>
          <a:xfrm>
            <a:off x="4338329" y="4347665"/>
            <a:ext cx="4297602" cy="307175"/>
          </a:xfrm>
          <a:prstGeom prst="roundRect">
            <a:avLst>
              <a:gd name="adj" fmla="val 25000"/>
            </a:avLst>
          </a:prstGeom>
          <a:no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18" name="Rounded Rectangle 91">
            <a:extLst>
              <a:ext uri="{FF2B5EF4-FFF2-40B4-BE49-F238E27FC236}">
                <a16:creationId xmlns:a16="http://schemas.microsoft.com/office/drawing/2014/main" id="{8BB4669E-3D63-D787-FC3D-17C263551931}"/>
              </a:ext>
            </a:extLst>
          </p:cNvPr>
          <p:cNvSpPr/>
          <p:nvPr/>
        </p:nvSpPr>
        <p:spPr>
          <a:xfrm>
            <a:off x="269828" y="5703185"/>
            <a:ext cx="1360264" cy="307175"/>
          </a:xfrm>
          <a:prstGeom prst="roundRect">
            <a:avLst>
              <a:gd name="adj" fmla="val 25000"/>
            </a:avLst>
          </a:prstGeom>
          <a:solidFill>
            <a:srgbClr val="7474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noProof="0">
                <a:solidFill>
                  <a:srgbClr val="FFFFFF"/>
                </a:solidFill>
                <a:latin typeface="Arial" panose="020B0604020202020204" pitchFamily="34" charset="0"/>
                <a:cs typeface="Arial" panose="020B0604020202020204" pitchFamily="34" charset="0"/>
              </a:rPr>
              <a:t>P&amp;T (Global SAP)</a:t>
            </a:r>
          </a:p>
        </p:txBody>
      </p:sp>
      <p:sp>
        <p:nvSpPr>
          <p:cNvPr id="4120" name="Rounded Rectangle 25">
            <a:extLst>
              <a:ext uri="{FF2B5EF4-FFF2-40B4-BE49-F238E27FC236}">
                <a16:creationId xmlns:a16="http://schemas.microsoft.com/office/drawing/2014/main" id="{413F162C-5476-043D-1954-39F7F7DB4694}"/>
              </a:ext>
            </a:extLst>
          </p:cNvPr>
          <p:cNvSpPr/>
          <p:nvPr/>
        </p:nvSpPr>
        <p:spPr>
          <a:xfrm>
            <a:off x="4326754" y="5703185"/>
            <a:ext cx="4297602" cy="307175"/>
          </a:xfrm>
          <a:prstGeom prst="roundRect">
            <a:avLst>
              <a:gd name="adj" fmla="val 25000"/>
            </a:avLst>
          </a:prstGeom>
          <a:no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22" name="Rounded Rectangle 118">
            <a:extLst>
              <a:ext uri="{FF2B5EF4-FFF2-40B4-BE49-F238E27FC236}">
                <a16:creationId xmlns:a16="http://schemas.microsoft.com/office/drawing/2014/main" id="{69A2C8A2-FE16-DEED-3621-D7928706785C}"/>
              </a:ext>
            </a:extLst>
          </p:cNvPr>
          <p:cNvSpPr/>
          <p:nvPr/>
        </p:nvSpPr>
        <p:spPr>
          <a:xfrm>
            <a:off x="4403921" y="5761978"/>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Jira</a:t>
            </a:r>
          </a:p>
        </p:txBody>
      </p:sp>
      <p:sp>
        <p:nvSpPr>
          <p:cNvPr id="4126" name="Rounded Rectangle 118">
            <a:extLst>
              <a:ext uri="{FF2B5EF4-FFF2-40B4-BE49-F238E27FC236}">
                <a16:creationId xmlns:a16="http://schemas.microsoft.com/office/drawing/2014/main" id="{002E172A-3496-8856-13E6-EC2DB388E432}"/>
              </a:ext>
            </a:extLst>
          </p:cNvPr>
          <p:cNvSpPr/>
          <p:nvPr/>
        </p:nvSpPr>
        <p:spPr>
          <a:xfrm>
            <a:off x="4403921" y="5416928"/>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Jira</a:t>
            </a:r>
          </a:p>
        </p:txBody>
      </p:sp>
      <p:sp>
        <p:nvSpPr>
          <p:cNvPr id="4137" name="Rounded Rectangle 91">
            <a:extLst>
              <a:ext uri="{FF2B5EF4-FFF2-40B4-BE49-F238E27FC236}">
                <a16:creationId xmlns:a16="http://schemas.microsoft.com/office/drawing/2014/main" id="{B8BAE9C4-E17E-0D3C-94D9-4C3CD634F821}"/>
              </a:ext>
            </a:extLst>
          </p:cNvPr>
          <p:cNvSpPr/>
          <p:nvPr/>
        </p:nvSpPr>
        <p:spPr>
          <a:xfrm>
            <a:off x="269828" y="6040149"/>
            <a:ext cx="1360264" cy="307175"/>
          </a:xfrm>
          <a:prstGeom prst="roundRect">
            <a:avLst>
              <a:gd name="adj" fmla="val 25000"/>
            </a:avLst>
          </a:prstGeom>
          <a:solidFill>
            <a:srgbClr val="7474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noProof="0">
                <a:solidFill>
                  <a:srgbClr val="FFFFFF"/>
                </a:solidFill>
                <a:latin typeface="Arial" panose="020B0604020202020204" pitchFamily="34" charset="0"/>
                <a:cs typeface="Arial" panose="020B0604020202020204" pitchFamily="34" charset="0"/>
              </a:rPr>
              <a:t>Gas &amp; Electric Operations</a:t>
            </a:r>
          </a:p>
        </p:txBody>
      </p:sp>
      <p:sp>
        <p:nvSpPr>
          <p:cNvPr id="4139" name="Rounded Rectangle 25">
            <a:extLst>
              <a:ext uri="{FF2B5EF4-FFF2-40B4-BE49-F238E27FC236}">
                <a16:creationId xmlns:a16="http://schemas.microsoft.com/office/drawing/2014/main" id="{9C735FD9-B2D8-CDBD-7338-0D5FBE60FEE4}"/>
              </a:ext>
            </a:extLst>
          </p:cNvPr>
          <p:cNvSpPr/>
          <p:nvPr/>
        </p:nvSpPr>
        <p:spPr>
          <a:xfrm>
            <a:off x="4326754" y="6040149"/>
            <a:ext cx="4297602" cy="307175"/>
          </a:xfrm>
          <a:prstGeom prst="roundRect">
            <a:avLst>
              <a:gd name="adj" fmla="val 25000"/>
            </a:avLst>
          </a:prstGeom>
          <a:no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45" name="Rounded Rectangle 118">
            <a:extLst>
              <a:ext uri="{FF2B5EF4-FFF2-40B4-BE49-F238E27FC236}">
                <a16:creationId xmlns:a16="http://schemas.microsoft.com/office/drawing/2014/main" id="{3F98A3F6-5806-E292-82A3-6F480192C922}"/>
              </a:ext>
            </a:extLst>
          </p:cNvPr>
          <p:cNvSpPr/>
          <p:nvPr/>
        </p:nvSpPr>
        <p:spPr>
          <a:xfrm>
            <a:off x="4403921" y="5070866"/>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Jira</a:t>
            </a:r>
          </a:p>
        </p:txBody>
      </p:sp>
      <p:sp>
        <p:nvSpPr>
          <p:cNvPr id="4151" name="Rounded Rectangle 118">
            <a:extLst>
              <a:ext uri="{FF2B5EF4-FFF2-40B4-BE49-F238E27FC236}">
                <a16:creationId xmlns:a16="http://schemas.microsoft.com/office/drawing/2014/main" id="{4A2C3CE3-C76E-BF20-6AE5-EBE14208A015}"/>
              </a:ext>
            </a:extLst>
          </p:cNvPr>
          <p:cNvSpPr/>
          <p:nvPr/>
        </p:nvSpPr>
        <p:spPr>
          <a:xfrm>
            <a:off x="4415496" y="3388997"/>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err="1">
                <a:solidFill>
                  <a:srgbClr val="FFFFFF"/>
                </a:solidFill>
                <a:latin typeface="Arial" panose="020B0604020202020204" pitchFamily="34" charset="0"/>
                <a:cs typeface="Arial" panose="020B0604020202020204" pitchFamily="34" charset="0"/>
              </a:rPr>
              <a:t>Sharepoint</a:t>
            </a:r>
            <a:endParaRPr lang="en-US" sz="800" b="1" noProof="0">
              <a:solidFill>
                <a:srgbClr val="FFFFFF"/>
              </a:solidFill>
              <a:latin typeface="Arial" panose="020B0604020202020204" pitchFamily="34" charset="0"/>
              <a:cs typeface="Arial" panose="020B0604020202020204" pitchFamily="34" charset="0"/>
            </a:endParaRPr>
          </a:p>
        </p:txBody>
      </p:sp>
      <p:sp>
        <p:nvSpPr>
          <p:cNvPr id="4152" name="Rounded Rectangle 118">
            <a:extLst>
              <a:ext uri="{FF2B5EF4-FFF2-40B4-BE49-F238E27FC236}">
                <a16:creationId xmlns:a16="http://schemas.microsoft.com/office/drawing/2014/main" id="{CDE66B28-4E53-82D4-330B-EE3B0EF9AD65}"/>
              </a:ext>
            </a:extLst>
          </p:cNvPr>
          <p:cNvSpPr/>
          <p:nvPr/>
        </p:nvSpPr>
        <p:spPr>
          <a:xfrm>
            <a:off x="5258776" y="3388997"/>
            <a:ext cx="738103" cy="18958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PDD</a:t>
            </a:r>
          </a:p>
        </p:txBody>
      </p:sp>
      <p:sp>
        <p:nvSpPr>
          <p:cNvPr id="4153" name="Rounded Rectangle 118">
            <a:extLst>
              <a:ext uri="{FF2B5EF4-FFF2-40B4-BE49-F238E27FC236}">
                <a16:creationId xmlns:a16="http://schemas.microsoft.com/office/drawing/2014/main" id="{9A635E99-253A-EAF0-B96C-E1594CEDC278}"/>
              </a:ext>
            </a:extLst>
          </p:cNvPr>
          <p:cNvSpPr/>
          <p:nvPr/>
        </p:nvSpPr>
        <p:spPr>
          <a:xfrm>
            <a:off x="4415496" y="3745457"/>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Jira</a:t>
            </a:r>
          </a:p>
        </p:txBody>
      </p:sp>
      <p:sp>
        <p:nvSpPr>
          <p:cNvPr id="4154" name="Rounded Rectangle 118">
            <a:extLst>
              <a:ext uri="{FF2B5EF4-FFF2-40B4-BE49-F238E27FC236}">
                <a16:creationId xmlns:a16="http://schemas.microsoft.com/office/drawing/2014/main" id="{EEC5E761-5A43-6B6E-48EA-F4A047913D57}"/>
              </a:ext>
            </a:extLst>
          </p:cNvPr>
          <p:cNvSpPr/>
          <p:nvPr/>
        </p:nvSpPr>
        <p:spPr>
          <a:xfrm>
            <a:off x="4415496" y="4069703"/>
            <a:ext cx="738103" cy="188135"/>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MS Office</a:t>
            </a:r>
          </a:p>
        </p:txBody>
      </p:sp>
      <p:sp>
        <p:nvSpPr>
          <p:cNvPr id="5" name="Rounded Rectangle 118">
            <a:extLst>
              <a:ext uri="{FF2B5EF4-FFF2-40B4-BE49-F238E27FC236}">
                <a16:creationId xmlns:a16="http://schemas.microsoft.com/office/drawing/2014/main" id="{8FBFAB09-CB2C-C622-0861-D630CA835CE6}"/>
              </a:ext>
            </a:extLst>
          </p:cNvPr>
          <p:cNvSpPr/>
          <p:nvPr/>
        </p:nvSpPr>
        <p:spPr>
          <a:xfrm>
            <a:off x="5233497" y="5761978"/>
            <a:ext cx="738103" cy="18958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PDD</a:t>
            </a:r>
          </a:p>
        </p:txBody>
      </p:sp>
      <p:sp>
        <p:nvSpPr>
          <p:cNvPr id="7" name="Rounded Rectangle 118">
            <a:extLst>
              <a:ext uri="{FF2B5EF4-FFF2-40B4-BE49-F238E27FC236}">
                <a16:creationId xmlns:a16="http://schemas.microsoft.com/office/drawing/2014/main" id="{F67EF935-806B-703A-E5FB-7DFAD07159FC}"/>
              </a:ext>
            </a:extLst>
          </p:cNvPr>
          <p:cNvSpPr/>
          <p:nvPr/>
        </p:nvSpPr>
        <p:spPr>
          <a:xfrm>
            <a:off x="4403921" y="6098942"/>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Jira</a:t>
            </a:r>
          </a:p>
        </p:txBody>
      </p:sp>
      <p:sp>
        <p:nvSpPr>
          <p:cNvPr id="9" name="Rounded Rectangle 118">
            <a:extLst>
              <a:ext uri="{FF2B5EF4-FFF2-40B4-BE49-F238E27FC236}">
                <a16:creationId xmlns:a16="http://schemas.microsoft.com/office/drawing/2014/main" id="{63FC65BB-13AE-7990-769C-00039E4A4A23}"/>
              </a:ext>
            </a:extLst>
          </p:cNvPr>
          <p:cNvSpPr/>
          <p:nvPr/>
        </p:nvSpPr>
        <p:spPr>
          <a:xfrm>
            <a:off x="5258776" y="4406458"/>
            <a:ext cx="738103" cy="18958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PDD</a:t>
            </a:r>
          </a:p>
        </p:txBody>
      </p:sp>
      <p:sp>
        <p:nvSpPr>
          <p:cNvPr id="19" name="Rectangle 22">
            <a:extLst>
              <a:ext uri="{FF2B5EF4-FFF2-40B4-BE49-F238E27FC236}">
                <a16:creationId xmlns:a16="http://schemas.microsoft.com/office/drawing/2014/main" id="{CE81D099-F103-7DEA-8D20-C8175A1CB8D3}"/>
              </a:ext>
            </a:extLst>
          </p:cNvPr>
          <p:cNvSpPr/>
          <p:nvPr/>
        </p:nvSpPr>
        <p:spPr>
          <a:xfrm>
            <a:off x="1847979" y="1224617"/>
            <a:ext cx="2301385" cy="384264"/>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0" name="TextBox 23">
            <a:extLst>
              <a:ext uri="{FF2B5EF4-FFF2-40B4-BE49-F238E27FC236}">
                <a16:creationId xmlns:a16="http://schemas.microsoft.com/office/drawing/2014/main" id="{640A3536-6B93-ADEE-41BF-42E731EB73DD}"/>
              </a:ext>
            </a:extLst>
          </p:cNvPr>
          <p:cNvSpPr txBox="1"/>
          <p:nvPr/>
        </p:nvSpPr>
        <p:spPr>
          <a:xfrm>
            <a:off x="2357752" y="1302867"/>
            <a:ext cx="1281839" cy="221599"/>
          </a:xfrm>
          <a:prstGeom prst="rect">
            <a:avLst/>
          </a:prstGeom>
          <a:noFill/>
        </p:spPr>
        <p:txBody>
          <a:bodyPr wrap="square" lIns="45720" tIns="18288" rIns="45720" bIns="18288" anchor="ctr">
            <a:spAutoFit/>
          </a:bodyPr>
          <a:lstStyle/>
          <a:p>
            <a:pPr algn="ctr"/>
            <a:r>
              <a:rPr lang="en-US" sz="1200" b="1" i="0" noProof="0">
                <a:solidFill>
                  <a:srgbClr val="FFFFFF"/>
                </a:solidFill>
                <a:latin typeface="Arial" panose="020B0604020202020204" pitchFamily="34" charset="0"/>
                <a:cs typeface="Arial" panose="020B0604020202020204" pitchFamily="34" charset="0"/>
              </a:rPr>
              <a:t>02 RECIPIENT</a:t>
            </a:r>
          </a:p>
        </p:txBody>
      </p:sp>
      <p:sp>
        <p:nvSpPr>
          <p:cNvPr id="21" name="TextBox 24">
            <a:extLst>
              <a:ext uri="{FF2B5EF4-FFF2-40B4-BE49-F238E27FC236}">
                <a16:creationId xmlns:a16="http://schemas.microsoft.com/office/drawing/2014/main" id="{5C1136D8-C4AC-EC57-F47A-2DB868BDCCA9}"/>
              </a:ext>
            </a:extLst>
          </p:cNvPr>
          <p:cNvSpPr txBox="1"/>
          <p:nvPr/>
        </p:nvSpPr>
        <p:spPr>
          <a:xfrm>
            <a:off x="2307551" y="1590377"/>
            <a:ext cx="1382240" cy="152349"/>
          </a:xfrm>
          <a:prstGeom prst="rect">
            <a:avLst/>
          </a:prstGeom>
          <a:noFill/>
        </p:spPr>
        <p:txBody>
          <a:bodyPr wrap="square" lIns="45720" tIns="18288" rIns="45720" bIns="18288" anchor="t">
            <a:spAutoFit/>
          </a:bodyPr>
          <a:lstStyle/>
          <a:p>
            <a:pPr algn="ctr"/>
            <a:r>
              <a:rPr lang="en-US" sz="750" b="0" i="1" noProof="0">
                <a:solidFill>
                  <a:srgbClr val="4A4A4A"/>
                </a:solidFill>
                <a:latin typeface="Arial" panose="020B0604020202020204" pitchFamily="34" charset="0"/>
                <a:cs typeface="Arial" panose="020B0604020202020204" pitchFamily="34" charset="0"/>
              </a:rPr>
              <a:t>Who resolves it</a:t>
            </a:r>
          </a:p>
        </p:txBody>
      </p:sp>
      <p:sp>
        <p:nvSpPr>
          <p:cNvPr id="114" name="Rectangle 115">
            <a:extLst>
              <a:ext uri="{FF2B5EF4-FFF2-40B4-BE49-F238E27FC236}">
                <a16:creationId xmlns:a16="http://schemas.microsoft.com/office/drawing/2014/main" id="{2F1D0B1C-FC57-BEC9-46D7-7680EB87DBFB}"/>
              </a:ext>
            </a:extLst>
          </p:cNvPr>
          <p:cNvSpPr/>
          <p:nvPr/>
        </p:nvSpPr>
        <p:spPr>
          <a:xfrm>
            <a:off x="1869316" y="4734046"/>
            <a:ext cx="2258711" cy="1713053"/>
          </a:xfrm>
          <a:prstGeom prst="rect">
            <a:avLst/>
          </a:prstGeom>
          <a:solidFill>
            <a:srgbClr val="747474"/>
          </a:solidFill>
          <a:ln>
            <a:noFill/>
          </a:ln>
          <a:effectLst/>
        </p:spPr>
        <p:style>
          <a:lnRef idx="1">
            <a:schemeClr val="accent1"/>
          </a:lnRef>
          <a:fillRef idx="3">
            <a:schemeClr val="accent1"/>
          </a:fillRef>
          <a:effectRef idx="2">
            <a:schemeClr val="accent1"/>
          </a:effectRef>
          <a:fontRef idx="minor">
            <a:schemeClr val="lt1"/>
          </a:fontRef>
        </p:style>
        <p:txBody>
          <a:bodyPr rtlCol="0" anchor="t"/>
          <a:lstStyle/>
          <a:p>
            <a:pPr algn="ctr"/>
            <a:r>
              <a:rPr lang="en-US" sz="1100" b="1" noProof="0">
                <a:solidFill>
                  <a:schemeClr val="bg1"/>
                </a:solidFill>
                <a:latin typeface="Arial" panose="020B0604020202020204" pitchFamily="34" charset="0"/>
                <a:cs typeface="Arial" panose="020B0604020202020204" pitchFamily="34" charset="0"/>
              </a:rPr>
              <a:t>IT BUSINESS APPLICATIONS</a:t>
            </a:r>
          </a:p>
        </p:txBody>
      </p:sp>
      <p:sp>
        <p:nvSpPr>
          <p:cNvPr id="124" name="Rectangle 125">
            <a:extLst>
              <a:ext uri="{FF2B5EF4-FFF2-40B4-BE49-F238E27FC236}">
                <a16:creationId xmlns:a16="http://schemas.microsoft.com/office/drawing/2014/main" id="{C10DBDD3-E95A-2392-467C-D3514CB08BE1}"/>
              </a:ext>
            </a:extLst>
          </p:cNvPr>
          <p:cNvSpPr/>
          <p:nvPr/>
        </p:nvSpPr>
        <p:spPr>
          <a:xfrm>
            <a:off x="1869316" y="1782502"/>
            <a:ext cx="2258711" cy="2882095"/>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t"/>
          <a:lstStyle/>
          <a:p>
            <a:pPr algn="ctr"/>
            <a:r>
              <a:rPr lang="en-US" sz="1100" b="1" noProof="0">
                <a:solidFill>
                  <a:schemeClr val="bg1"/>
                </a:solidFill>
                <a:latin typeface="Arial" panose="020B0604020202020204" pitchFamily="34" charset="0"/>
                <a:cs typeface="Arial" panose="020B0604020202020204" pitchFamily="34" charset="0"/>
              </a:rPr>
              <a:t>CUSTOMER SERVICES APPS</a:t>
            </a:r>
          </a:p>
        </p:txBody>
      </p:sp>
      <p:sp>
        <p:nvSpPr>
          <p:cNvPr id="45" name="Rectángulo: esquinas redondeadas 44">
            <a:extLst>
              <a:ext uri="{FF2B5EF4-FFF2-40B4-BE49-F238E27FC236}">
                <a16:creationId xmlns:a16="http://schemas.microsoft.com/office/drawing/2014/main" id="{C89EE812-F257-91BD-3D3D-2B357C8E1941}"/>
              </a:ext>
            </a:extLst>
          </p:cNvPr>
          <p:cNvSpPr/>
          <p:nvPr/>
        </p:nvSpPr>
        <p:spPr>
          <a:xfrm>
            <a:off x="2057384" y="5729078"/>
            <a:ext cx="1882575" cy="255389"/>
          </a:xfrm>
          <a:prstGeom prst="roundRect">
            <a:avLst/>
          </a:prstGeom>
          <a:solidFill>
            <a:schemeClr val="bg1"/>
          </a:solidFill>
        </p:spPr>
        <p:txBody>
          <a:bodyPr wrap="square">
            <a:spAutoFit/>
          </a:bodyPr>
          <a:lstStyle/>
          <a:p>
            <a:pPr algn="ctr"/>
            <a:r>
              <a:rPr lang="es-MX" sz="900" b="1">
                <a:solidFill>
                  <a:schemeClr val="tx1"/>
                </a:solidFill>
                <a:latin typeface="Arial" panose="020B0604020202020204" pitchFamily="34" charset="0"/>
                <a:cs typeface="Arial" panose="020B0604020202020204" pitchFamily="34" charset="0"/>
              </a:rPr>
              <a:t>Global SAP</a:t>
            </a:r>
          </a:p>
        </p:txBody>
      </p:sp>
      <p:sp>
        <p:nvSpPr>
          <p:cNvPr id="46" name="Rectángulo: esquinas redondeadas 45">
            <a:extLst>
              <a:ext uri="{FF2B5EF4-FFF2-40B4-BE49-F238E27FC236}">
                <a16:creationId xmlns:a16="http://schemas.microsoft.com/office/drawing/2014/main" id="{BD28AEAB-D46B-F65F-0BA7-C54ACDA8B8B1}"/>
              </a:ext>
            </a:extLst>
          </p:cNvPr>
          <p:cNvSpPr/>
          <p:nvPr/>
        </p:nvSpPr>
        <p:spPr>
          <a:xfrm>
            <a:off x="2057384" y="6066042"/>
            <a:ext cx="1882575" cy="255389"/>
          </a:xfrm>
          <a:prstGeom prst="roundRect">
            <a:avLst/>
          </a:prstGeom>
          <a:solidFill>
            <a:schemeClr val="bg1"/>
          </a:solidFill>
        </p:spPr>
        <p:txBody>
          <a:bodyPr wrap="square">
            <a:spAutoFit/>
          </a:bodyPr>
          <a:lstStyle/>
          <a:p>
            <a:pPr algn="ctr"/>
            <a:r>
              <a:rPr lang="es-MX" sz="900" b="1">
                <a:latin typeface="Arial" panose="020B0604020202020204" pitchFamily="34" charset="0"/>
                <a:cs typeface="Arial" panose="020B0604020202020204" pitchFamily="34" charset="0"/>
              </a:rPr>
              <a:t>G&amp;E</a:t>
            </a:r>
          </a:p>
        </p:txBody>
      </p:sp>
      <p:sp>
        <p:nvSpPr>
          <p:cNvPr id="47" name="Rectángulo: esquinas redondeadas 46">
            <a:extLst>
              <a:ext uri="{FF2B5EF4-FFF2-40B4-BE49-F238E27FC236}">
                <a16:creationId xmlns:a16="http://schemas.microsoft.com/office/drawing/2014/main" id="{3488AED0-7D29-B926-C4E6-7F6F523D4C09}"/>
              </a:ext>
            </a:extLst>
          </p:cNvPr>
          <p:cNvSpPr/>
          <p:nvPr/>
        </p:nvSpPr>
        <p:spPr>
          <a:xfrm>
            <a:off x="2057384" y="5037966"/>
            <a:ext cx="1882575" cy="255389"/>
          </a:xfrm>
          <a:prstGeom prst="roundRect">
            <a:avLst/>
          </a:prstGeom>
          <a:solidFill>
            <a:schemeClr val="bg1"/>
          </a:solidFill>
        </p:spPr>
        <p:txBody>
          <a:bodyPr wrap="square">
            <a:spAutoFit/>
          </a:bodyPr>
          <a:lstStyle/>
          <a:p>
            <a:pPr algn="ctr"/>
            <a:r>
              <a:rPr lang="es-MX" sz="900" b="1">
                <a:solidFill>
                  <a:schemeClr val="tx1"/>
                </a:solidFill>
                <a:latin typeface="Arial" panose="020B0604020202020204" pitchFamily="34" charset="0"/>
                <a:cs typeface="Arial" panose="020B0604020202020204" pitchFamily="34" charset="0"/>
              </a:rPr>
              <a:t>Corporate</a:t>
            </a:r>
          </a:p>
        </p:txBody>
      </p:sp>
      <p:sp>
        <p:nvSpPr>
          <p:cNvPr id="50" name="CuadroTexto 49">
            <a:extLst>
              <a:ext uri="{FF2B5EF4-FFF2-40B4-BE49-F238E27FC236}">
                <a16:creationId xmlns:a16="http://schemas.microsoft.com/office/drawing/2014/main" id="{9F60148E-086D-954C-EA3C-CD8FE78D19DF}"/>
              </a:ext>
            </a:extLst>
          </p:cNvPr>
          <p:cNvSpPr txBox="1"/>
          <p:nvPr/>
        </p:nvSpPr>
        <p:spPr>
          <a:xfrm>
            <a:off x="337595" y="2675605"/>
            <a:ext cx="1238954" cy="211065"/>
          </a:xfrm>
          <a:prstGeom prst="roundRect">
            <a:avLst/>
          </a:prstGeom>
          <a:solidFill>
            <a:schemeClr val="bg1"/>
          </a:solidFill>
        </p:spPr>
        <p:txBody>
          <a:bodyPr wrap="square">
            <a:spAutoFit/>
          </a:bodyPr>
          <a:lstStyle/>
          <a:p>
            <a:pPr algn="ctr"/>
            <a:r>
              <a:rPr lang="en-US" sz="900" b="1">
                <a:latin typeface="Arial" panose="020B0604020202020204" pitchFamily="34" charset="0"/>
                <a:cs typeface="Arial" panose="020B0604020202020204" pitchFamily="34" charset="0"/>
              </a:rPr>
              <a:t>Data &amp; Analytics </a:t>
            </a:r>
          </a:p>
        </p:txBody>
      </p:sp>
      <p:sp>
        <p:nvSpPr>
          <p:cNvPr id="52" name="Rectangle 19">
            <a:extLst>
              <a:ext uri="{FF2B5EF4-FFF2-40B4-BE49-F238E27FC236}">
                <a16:creationId xmlns:a16="http://schemas.microsoft.com/office/drawing/2014/main" id="{373F9515-8BD2-2D16-193D-916C4D626ADD}"/>
              </a:ext>
            </a:extLst>
          </p:cNvPr>
          <p:cNvSpPr/>
          <p:nvPr/>
        </p:nvSpPr>
        <p:spPr>
          <a:xfrm>
            <a:off x="8847771" y="1752743"/>
            <a:ext cx="3102022" cy="4590184"/>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3" name="Rounded Rectangle 25">
            <a:extLst>
              <a:ext uri="{FF2B5EF4-FFF2-40B4-BE49-F238E27FC236}">
                <a16:creationId xmlns:a16="http://schemas.microsoft.com/office/drawing/2014/main" id="{27C79FD1-A0BF-4650-13E8-87341765BF54}"/>
              </a:ext>
            </a:extLst>
          </p:cNvPr>
          <p:cNvSpPr/>
          <p:nvPr/>
        </p:nvSpPr>
        <p:spPr>
          <a:xfrm>
            <a:off x="8955164" y="3775581"/>
            <a:ext cx="2935320" cy="924114"/>
          </a:xfrm>
          <a:prstGeom prst="roundRect">
            <a:avLst>
              <a:gd name="adj" fmla="val 25000"/>
            </a:avLst>
          </a:prstGeom>
          <a:solidFill>
            <a:schemeClr val="bg1"/>
          </a:solid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t"/>
          <a:lstStyle/>
          <a:p>
            <a:r>
              <a:rPr lang="en-US" sz="1100" b="1" u="sng" noProof="0">
                <a:solidFill>
                  <a:schemeClr val="tx1"/>
                </a:solidFill>
                <a:latin typeface="Arial" panose="020B0604020202020204" pitchFamily="34" charset="0"/>
                <a:cs typeface="Arial" panose="020B0604020202020204" pitchFamily="34" charset="0"/>
              </a:rPr>
              <a:t>REGULATORY</a:t>
            </a:r>
          </a:p>
        </p:txBody>
      </p:sp>
      <p:sp>
        <p:nvSpPr>
          <p:cNvPr id="54" name="Rounded Rectangle 25">
            <a:extLst>
              <a:ext uri="{FF2B5EF4-FFF2-40B4-BE49-F238E27FC236}">
                <a16:creationId xmlns:a16="http://schemas.microsoft.com/office/drawing/2014/main" id="{670FB218-B756-15D9-DF62-37C7F191E189}"/>
              </a:ext>
            </a:extLst>
          </p:cNvPr>
          <p:cNvSpPr/>
          <p:nvPr/>
        </p:nvSpPr>
        <p:spPr>
          <a:xfrm>
            <a:off x="8955164" y="4767803"/>
            <a:ext cx="2935320" cy="924114"/>
          </a:xfrm>
          <a:prstGeom prst="roundRect">
            <a:avLst>
              <a:gd name="adj" fmla="val 25000"/>
            </a:avLst>
          </a:prstGeom>
          <a:solidFill>
            <a:schemeClr val="bg1"/>
          </a:solid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t"/>
          <a:lstStyle/>
          <a:p>
            <a:r>
              <a:rPr lang="en-US" sz="1100" b="1" u="sng" noProof="0">
                <a:solidFill>
                  <a:schemeClr val="tx1"/>
                </a:solidFill>
                <a:latin typeface="Arial" panose="020B0604020202020204" pitchFamily="34" charset="0"/>
                <a:cs typeface="Arial" panose="020B0604020202020204" pitchFamily="34" charset="0"/>
              </a:rPr>
              <a:t>NON-REGULATORY</a:t>
            </a:r>
          </a:p>
        </p:txBody>
      </p:sp>
      <p:sp>
        <p:nvSpPr>
          <p:cNvPr id="56" name="Rounded Rectangle 25">
            <a:extLst>
              <a:ext uri="{FF2B5EF4-FFF2-40B4-BE49-F238E27FC236}">
                <a16:creationId xmlns:a16="http://schemas.microsoft.com/office/drawing/2014/main" id="{93D62208-E5AA-3357-F5D1-6F96C85B5152}"/>
              </a:ext>
            </a:extLst>
          </p:cNvPr>
          <p:cNvSpPr/>
          <p:nvPr/>
        </p:nvSpPr>
        <p:spPr>
          <a:xfrm>
            <a:off x="8955164" y="2783360"/>
            <a:ext cx="2935320" cy="924114"/>
          </a:xfrm>
          <a:prstGeom prst="roundRect">
            <a:avLst>
              <a:gd name="adj" fmla="val 25000"/>
            </a:avLst>
          </a:prstGeom>
          <a:solidFill>
            <a:schemeClr val="bg1"/>
          </a:solid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t"/>
          <a:lstStyle/>
          <a:p>
            <a:r>
              <a:rPr lang="en-US" sz="1100" b="1" u="sng" noProof="0">
                <a:solidFill>
                  <a:schemeClr val="tx1"/>
                </a:solidFill>
                <a:latin typeface="Arial" panose="020B0604020202020204" pitchFamily="34" charset="0"/>
                <a:cs typeface="Arial" panose="020B0604020202020204" pitchFamily="34" charset="0"/>
              </a:rPr>
              <a:t>PRODUCTION SUPPORT</a:t>
            </a:r>
          </a:p>
        </p:txBody>
      </p:sp>
      <p:grpSp>
        <p:nvGrpSpPr>
          <p:cNvPr id="57" name="Grupo 56">
            <a:extLst>
              <a:ext uri="{FF2B5EF4-FFF2-40B4-BE49-F238E27FC236}">
                <a16:creationId xmlns:a16="http://schemas.microsoft.com/office/drawing/2014/main" id="{73C2437B-5D60-3459-8F6A-F2901CE4498D}"/>
              </a:ext>
            </a:extLst>
          </p:cNvPr>
          <p:cNvGrpSpPr/>
          <p:nvPr/>
        </p:nvGrpSpPr>
        <p:grpSpPr>
          <a:xfrm>
            <a:off x="11049713" y="2701397"/>
            <a:ext cx="733163" cy="3077262"/>
            <a:chOff x="8478779" y="4086265"/>
            <a:chExt cx="733163" cy="736672"/>
          </a:xfrm>
        </p:grpSpPr>
        <p:sp>
          <p:nvSpPr>
            <p:cNvPr id="58" name="Rounded Rectangle 7">
              <a:extLst>
                <a:ext uri="{FF2B5EF4-FFF2-40B4-BE49-F238E27FC236}">
                  <a16:creationId xmlns:a16="http://schemas.microsoft.com/office/drawing/2014/main" id="{9B6218FC-4700-15A1-735B-DA00C6B64C27}"/>
                </a:ext>
              </a:extLst>
            </p:cNvPr>
            <p:cNvSpPr/>
            <p:nvPr/>
          </p:nvSpPr>
          <p:spPr>
            <a:xfrm rot="16200000">
              <a:off x="8329544" y="4472534"/>
              <a:ext cx="499638" cy="20116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1000" b="1" i="0" noProof="0">
                  <a:solidFill>
                    <a:srgbClr val="FFFFFF"/>
                  </a:solidFill>
                  <a:latin typeface="Arial" panose="020B0604020202020204" pitchFamily="34" charset="0"/>
                  <a:cs typeface="Arial" panose="020B0604020202020204" pitchFamily="34" charset="0"/>
                </a:rPr>
                <a:t>LARGE</a:t>
              </a:r>
            </a:p>
          </p:txBody>
        </p:sp>
        <p:sp>
          <p:nvSpPr>
            <p:cNvPr id="59" name="Rounded Rectangle 9">
              <a:extLst>
                <a:ext uri="{FF2B5EF4-FFF2-40B4-BE49-F238E27FC236}">
                  <a16:creationId xmlns:a16="http://schemas.microsoft.com/office/drawing/2014/main" id="{00D6D5A0-E4C3-8920-602A-FC21F139D636}"/>
                </a:ext>
              </a:extLst>
            </p:cNvPr>
            <p:cNvSpPr/>
            <p:nvPr/>
          </p:nvSpPr>
          <p:spPr>
            <a:xfrm rot="16200000">
              <a:off x="8479601" y="4351441"/>
              <a:ext cx="731520" cy="201168"/>
            </a:xfrm>
            <a:prstGeom prst="roundRect">
              <a:avLst>
                <a:gd name="adj" fmla="val 45000"/>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1000" b="1" i="0" noProof="0">
                  <a:solidFill>
                    <a:srgbClr val="FFFFFF"/>
                  </a:solidFill>
                  <a:latin typeface="Arial" panose="020B0604020202020204" pitchFamily="34" charset="0"/>
                  <a:cs typeface="Arial" panose="020B0604020202020204" pitchFamily="34" charset="0"/>
                </a:rPr>
                <a:t>MEDIUM</a:t>
              </a:r>
            </a:p>
          </p:txBody>
        </p:sp>
        <p:sp>
          <p:nvSpPr>
            <p:cNvPr id="60" name="Rounded Rectangle 11">
              <a:extLst>
                <a:ext uri="{FF2B5EF4-FFF2-40B4-BE49-F238E27FC236}">
                  <a16:creationId xmlns:a16="http://schemas.microsoft.com/office/drawing/2014/main" id="{B2359E47-0E79-EBC6-601F-6824CF7A0AB1}"/>
                </a:ext>
              </a:extLst>
            </p:cNvPr>
            <p:cNvSpPr/>
            <p:nvPr/>
          </p:nvSpPr>
          <p:spPr>
            <a:xfrm rot="16200000">
              <a:off x="8745598" y="4351441"/>
              <a:ext cx="731520" cy="201168"/>
            </a:xfrm>
            <a:prstGeom prst="roundRect">
              <a:avLst>
                <a:gd name="adj" fmla="val 45000"/>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1000" b="1" i="0" noProof="0">
                  <a:solidFill>
                    <a:srgbClr val="FFFFFF"/>
                  </a:solidFill>
                  <a:latin typeface="Arial" panose="020B0604020202020204" pitchFamily="34" charset="0"/>
                  <a:cs typeface="Arial" panose="020B0604020202020204" pitchFamily="34" charset="0"/>
                </a:rPr>
                <a:t>SMALL</a:t>
              </a:r>
            </a:p>
          </p:txBody>
        </p:sp>
      </p:grpSp>
      <p:sp>
        <p:nvSpPr>
          <p:cNvPr id="62" name="CuadroTexto 61">
            <a:extLst>
              <a:ext uri="{FF2B5EF4-FFF2-40B4-BE49-F238E27FC236}">
                <a16:creationId xmlns:a16="http://schemas.microsoft.com/office/drawing/2014/main" id="{0A188EA9-D221-45B0-0586-7A041838AFA4}"/>
              </a:ext>
            </a:extLst>
          </p:cNvPr>
          <p:cNvSpPr txBox="1"/>
          <p:nvPr/>
        </p:nvSpPr>
        <p:spPr>
          <a:xfrm>
            <a:off x="9011315" y="3048456"/>
            <a:ext cx="2234917" cy="646331"/>
          </a:xfrm>
          <a:prstGeom prst="rect">
            <a:avLst/>
          </a:prstGeom>
          <a:noFill/>
        </p:spPr>
        <p:txBody>
          <a:bodyPr wrap="square">
            <a:spAutoFit/>
          </a:bodyPr>
          <a:lstStyle/>
          <a:p>
            <a:r>
              <a:rPr lang="en-US" sz="900" noProof="0">
                <a:solidFill>
                  <a:schemeClr val="tx1"/>
                </a:solidFill>
                <a:latin typeface="Arial" panose="020B0604020202020204" pitchFamily="34" charset="0"/>
                <a:cs typeface="Arial" panose="020B0604020202020204" pitchFamily="34" charset="0"/>
              </a:rPr>
              <a:t>Operational activities required to maintain system stability, resolve incidents, and ensure continuous service availability.</a:t>
            </a:r>
          </a:p>
        </p:txBody>
      </p:sp>
      <p:sp>
        <p:nvSpPr>
          <p:cNvPr id="63" name="CuadroTexto 62">
            <a:extLst>
              <a:ext uri="{FF2B5EF4-FFF2-40B4-BE49-F238E27FC236}">
                <a16:creationId xmlns:a16="http://schemas.microsoft.com/office/drawing/2014/main" id="{95DA275A-A2C0-229B-1D1D-097B8522BA18}"/>
              </a:ext>
            </a:extLst>
          </p:cNvPr>
          <p:cNvSpPr txBox="1"/>
          <p:nvPr/>
        </p:nvSpPr>
        <p:spPr>
          <a:xfrm>
            <a:off x="9011315" y="4040677"/>
            <a:ext cx="1744890" cy="646331"/>
          </a:xfrm>
          <a:prstGeom prst="rect">
            <a:avLst/>
          </a:prstGeom>
          <a:noFill/>
        </p:spPr>
        <p:txBody>
          <a:bodyPr wrap="square">
            <a:spAutoFit/>
          </a:bodyPr>
          <a:lstStyle/>
          <a:p>
            <a:r>
              <a:rPr lang="en-US" sz="900" noProof="0">
                <a:solidFill>
                  <a:schemeClr val="tx1"/>
                </a:solidFill>
                <a:latin typeface="Arial" panose="020B0604020202020204" pitchFamily="34" charset="0"/>
                <a:cs typeface="Arial" panose="020B0604020202020204" pitchFamily="34" charset="0"/>
              </a:rPr>
              <a:t>Mandatory initiatives driven by external regulations with fixed deadlines and non-negotiable scope.</a:t>
            </a:r>
          </a:p>
        </p:txBody>
      </p:sp>
      <p:sp>
        <p:nvSpPr>
          <p:cNvPr id="64" name="CuadroTexto 63">
            <a:extLst>
              <a:ext uri="{FF2B5EF4-FFF2-40B4-BE49-F238E27FC236}">
                <a16:creationId xmlns:a16="http://schemas.microsoft.com/office/drawing/2014/main" id="{AA6B6869-3900-6347-4A6D-FB360AE78012}"/>
              </a:ext>
            </a:extLst>
          </p:cNvPr>
          <p:cNvSpPr txBox="1"/>
          <p:nvPr/>
        </p:nvSpPr>
        <p:spPr>
          <a:xfrm>
            <a:off x="9011315" y="5040314"/>
            <a:ext cx="2031743" cy="646331"/>
          </a:xfrm>
          <a:prstGeom prst="rect">
            <a:avLst/>
          </a:prstGeom>
          <a:noFill/>
        </p:spPr>
        <p:txBody>
          <a:bodyPr wrap="square">
            <a:spAutoFit/>
          </a:bodyPr>
          <a:lstStyle>
            <a:defPPr>
              <a:defRPr lang="en-US"/>
            </a:defPPr>
            <a:lvl1pPr>
              <a:defRPr sz="900">
                <a:latin typeface="Arial" panose="020B0604020202020204" pitchFamily="34" charset="0"/>
                <a:cs typeface="Arial" panose="020B0604020202020204" pitchFamily="34" charset="0"/>
              </a:defRPr>
            </a:lvl1pPr>
          </a:lstStyle>
          <a:p>
            <a:r>
              <a:rPr lang="en-US" noProof="0"/>
              <a:t>Business-driven initiatives aimed at enhancing capabilities, improving performance, or delivering incremental business value</a:t>
            </a:r>
          </a:p>
        </p:txBody>
      </p:sp>
      <p:sp>
        <p:nvSpPr>
          <p:cNvPr id="65" name="TextBox 21">
            <a:extLst>
              <a:ext uri="{FF2B5EF4-FFF2-40B4-BE49-F238E27FC236}">
                <a16:creationId xmlns:a16="http://schemas.microsoft.com/office/drawing/2014/main" id="{40336B75-6E1C-8876-8EF4-F17FF94D6B81}"/>
              </a:ext>
            </a:extLst>
          </p:cNvPr>
          <p:cNvSpPr txBox="1"/>
          <p:nvPr/>
        </p:nvSpPr>
        <p:spPr>
          <a:xfrm>
            <a:off x="8863985" y="1910978"/>
            <a:ext cx="3102022" cy="652486"/>
          </a:xfrm>
          <a:prstGeom prst="rect">
            <a:avLst/>
          </a:prstGeom>
          <a:noFill/>
        </p:spPr>
        <p:txBody>
          <a:bodyPr wrap="square" lIns="45720" tIns="18288" rIns="45720" bIns="18288" anchor="t">
            <a:spAutoFit/>
          </a:bodyPr>
          <a:lstStyle/>
          <a:p>
            <a:pPr algn="ctr"/>
            <a:r>
              <a:rPr lang="en-US" sz="1000" b="0" i="1" noProof="0">
                <a:solidFill>
                  <a:schemeClr val="bg1"/>
                </a:solidFill>
                <a:latin typeface="Arial" panose="020B0604020202020204" pitchFamily="34" charset="0"/>
                <a:cs typeface="Arial" panose="020B0604020202020204" pitchFamily="34" charset="0"/>
              </a:rPr>
              <a:t>A multi classification level that depends both on the nature or particularity of the demand, but also on the level of effort (economics, time, and resources) required</a:t>
            </a:r>
          </a:p>
        </p:txBody>
      </p:sp>
      <p:sp>
        <p:nvSpPr>
          <p:cNvPr id="66" name="Right Arrow 134">
            <a:extLst>
              <a:ext uri="{FF2B5EF4-FFF2-40B4-BE49-F238E27FC236}">
                <a16:creationId xmlns:a16="http://schemas.microsoft.com/office/drawing/2014/main" id="{F5490EA6-6B85-BD66-4ED1-603C43B4F2C6}"/>
              </a:ext>
            </a:extLst>
          </p:cNvPr>
          <p:cNvSpPr/>
          <p:nvPr/>
        </p:nvSpPr>
        <p:spPr>
          <a:xfrm>
            <a:off x="1715240" y="1300546"/>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grpSp>
        <p:nvGrpSpPr>
          <p:cNvPr id="70" name="Grupo 69">
            <a:extLst>
              <a:ext uri="{FF2B5EF4-FFF2-40B4-BE49-F238E27FC236}">
                <a16:creationId xmlns:a16="http://schemas.microsoft.com/office/drawing/2014/main" id="{E93308E4-CB54-7CC7-A6E9-8EF7CE6884D5}"/>
              </a:ext>
            </a:extLst>
          </p:cNvPr>
          <p:cNvGrpSpPr/>
          <p:nvPr/>
        </p:nvGrpSpPr>
        <p:grpSpPr>
          <a:xfrm rot="16200000">
            <a:off x="1745817" y="2557673"/>
            <a:ext cx="2505708" cy="1540715"/>
            <a:chOff x="2029412" y="2552476"/>
            <a:chExt cx="1882575" cy="1273318"/>
          </a:xfrm>
        </p:grpSpPr>
        <p:sp>
          <p:nvSpPr>
            <p:cNvPr id="35" name="Rectángulo: esquinas redondeadas 34">
              <a:extLst>
                <a:ext uri="{FF2B5EF4-FFF2-40B4-BE49-F238E27FC236}">
                  <a16:creationId xmlns:a16="http://schemas.microsoft.com/office/drawing/2014/main" id="{809642C4-126C-A6A1-3D73-59199F12FA3E}"/>
                </a:ext>
              </a:extLst>
            </p:cNvPr>
            <p:cNvSpPr/>
            <p:nvPr/>
          </p:nvSpPr>
          <p:spPr>
            <a:xfrm>
              <a:off x="2029412" y="2552476"/>
              <a:ext cx="1882575" cy="255389"/>
            </a:xfrm>
            <a:prstGeom prst="roundRect">
              <a:avLst/>
            </a:prstGeom>
            <a:solidFill>
              <a:schemeClr val="bg1"/>
            </a:solidFill>
          </p:spPr>
          <p:txBody>
            <a:bodyPr wrap="square">
              <a:spAutoFit/>
            </a:bodyPr>
            <a:lstStyle/>
            <a:p>
              <a:pPr algn="ctr"/>
              <a:r>
                <a:rPr lang="es-MX" sz="900" b="1">
                  <a:solidFill>
                    <a:schemeClr val="tx1"/>
                  </a:solidFill>
                  <a:latin typeface="Arial" panose="020B0604020202020204" pitchFamily="34" charset="0"/>
                  <a:cs typeface="Arial" panose="020B0604020202020204" pitchFamily="34" charset="0"/>
                </a:rPr>
                <a:t>FICA / </a:t>
              </a:r>
              <a:r>
                <a:rPr lang="es-MX" sz="900" b="1" err="1">
                  <a:solidFill>
                    <a:schemeClr val="tx1"/>
                  </a:solidFill>
                  <a:latin typeface="Arial" panose="020B0604020202020204" pitchFamily="34" charset="0"/>
                  <a:cs typeface="Arial" panose="020B0604020202020204" pitchFamily="34" charset="0"/>
                </a:rPr>
                <a:t>Collection</a:t>
              </a:r>
              <a:endParaRPr lang="es-MX" sz="900" b="1">
                <a:solidFill>
                  <a:schemeClr val="tx1"/>
                </a:solidFill>
                <a:latin typeface="Arial" panose="020B0604020202020204" pitchFamily="34" charset="0"/>
                <a:cs typeface="Arial" panose="020B0604020202020204" pitchFamily="34" charset="0"/>
              </a:endParaRPr>
            </a:p>
          </p:txBody>
        </p:sp>
        <p:sp>
          <p:nvSpPr>
            <p:cNvPr id="42" name="Rectángulo: esquinas redondeadas 41">
              <a:extLst>
                <a:ext uri="{FF2B5EF4-FFF2-40B4-BE49-F238E27FC236}">
                  <a16:creationId xmlns:a16="http://schemas.microsoft.com/office/drawing/2014/main" id="{B15E0EA7-AD85-5D55-BC1E-1A43F941104C}"/>
                </a:ext>
              </a:extLst>
            </p:cNvPr>
            <p:cNvSpPr/>
            <p:nvPr/>
          </p:nvSpPr>
          <p:spPr>
            <a:xfrm>
              <a:off x="2029412" y="2891786"/>
              <a:ext cx="1882575" cy="255389"/>
            </a:xfrm>
            <a:prstGeom prst="roundRect">
              <a:avLst/>
            </a:prstGeom>
            <a:solidFill>
              <a:schemeClr val="bg1"/>
            </a:solidFill>
          </p:spPr>
          <p:txBody>
            <a:bodyPr wrap="square">
              <a:spAutoFit/>
            </a:bodyPr>
            <a:lstStyle/>
            <a:p>
              <a:pPr algn="ctr"/>
              <a:r>
                <a:rPr lang="es-MX" sz="900" b="1">
                  <a:solidFill>
                    <a:schemeClr val="tx1"/>
                  </a:solidFill>
                  <a:latin typeface="Arial" panose="020B0604020202020204" pitchFamily="34" charset="0"/>
                  <a:cs typeface="Arial" panose="020B0604020202020204" pitchFamily="34" charset="0"/>
                </a:rPr>
                <a:t>Billing, </a:t>
              </a:r>
              <a:r>
                <a:rPr lang="es-MX" sz="900" b="1" err="1">
                  <a:solidFill>
                    <a:schemeClr val="tx1"/>
                  </a:solidFill>
                  <a:latin typeface="Arial" panose="020B0604020202020204" pitchFamily="34" charset="0"/>
                  <a:cs typeface="Arial" panose="020B0604020202020204" pitchFamily="34" charset="0"/>
                </a:rPr>
                <a:t>Device</a:t>
              </a:r>
              <a:r>
                <a:rPr lang="es-MX" sz="900" b="1">
                  <a:solidFill>
                    <a:schemeClr val="tx1"/>
                  </a:solidFill>
                  <a:latin typeface="Arial" panose="020B0604020202020204" pitchFamily="34" charset="0"/>
                  <a:cs typeface="Arial" panose="020B0604020202020204" pitchFamily="34" charset="0"/>
                </a:rPr>
                <a:t> &amp; </a:t>
              </a:r>
              <a:r>
                <a:rPr lang="es-MX" sz="900" b="1" err="1">
                  <a:solidFill>
                    <a:schemeClr val="tx1"/>
                  </a:solidFill>
                  <a:latin typeface="Arial" panose="020B0604020202020204" pitchFamily="34" charset="0"/>
                  <a:cs typeface="Arial" panose="020B0604020202020204" pitchFamily="34" charset="0"/>
                </a:rPr>
                <a:t>REtail</a:t>
              </a:r>
              <a:endParaRPr lang="es-MX" sz="900" b="1">
                <a:solidFill>
                  <a:schemeClr val="tx1"/>
                </a:solidFill>
                <a:latin typeface="Arial" panose="020B0604020202020204" pitchFamily="34" charset="0"/>
                <a:cs typeface="Arial" panose="020B0604020202020204" pitchFamily="34" charset="0"/>
              </a:endParaRPr>
            </a:p>
          </p:txBody>
        </p:sp>
        <p:sp>
          <p:nvSpPr>
            <p:cNvPr id="44" name="Rectángulo: esquinas redondeadas 43">
              <a:extLst>
                <a:ext uri="{FF2B5EF4-FFF2-40B4-BE49-F238E27FC236}">
                  <a16:creationId xmlns:a16="http://schemas.microsoft.com/office/drawing/2014/main" id="{D329D635-CBD6-E0DF-824C-6BC9F5135722}"/>
                </a:ext>
              </a:extLst>
            </p:cNvPr>
            <p:cNvSpPr/>
            <p:nvPr/>
          </p:nvSpPr>
          <p:spPr>
            <a:xfrm>
              <a:off x="2029412" y="3231096"/>
              <a:ext cx="1882575" cy="255389"/>
            </a:xfrm>
            <a:prstGeom prst="roundRect">
              <a:avLst/>
            </a:prstGeom>
            <a:solidFill>
              <a:schemeClr val="bg1"/>
            </a:solidFill>
          </p:spPr>
          <p:txBody>
            <a:bodyPr wrap="square">
              <a:spAutoFit/>
            </a:bodyPr>
            <a:lstStyle/>
            <a:p>
              <a:pPr algn="ctr"/>
              <a:r>
                <a:rPr lang="es-MX" sz="900" b="1">
                  <a:solidFill>
                    <a:schemeClr val="tx1"/>
                  </a:solidFill>
                  <a:latin typeface="Arial" panose="020B0604020202020204" pitchFamily="34" charset="0"/>
                  <a:cs typeface="Arial" panose="020B0604020202020204" pitchFamily="34" charset="0"/>
                </a:rPr>
                <a:t>SAP Basis</a:t>
              </a:r>
            </a:p>
          </p:txBody>
        </p:sp>
        <p:sp>
          <p:nvSpPr>
            <p:cNvPr id="69" name="Rectángulo: esquinas redondeadas 68">
              <a:extLst>
                <a:ext uri="{FF2B5EF4-FFF2-40B4-BE49-F238E27FC236}">
                  <a16:creationId xmlns:a16="http://schemas.microsoft.com/office/drawing/2014/main" id="{247ABB12-E1DB-8D6E-A992-6F57F966C641}"/>
                </a:ext>
              </a:extLst>
            </p:cNvPr>
            <p:cNvSpPr/>
            <p:nvPr/>
          </p:nvSpPr>
          <p:spPr>
            <a:xfrm>
              <a:off x="2029412" y="3570405"/>
              <a:ext cx="1882575" cy="255389"/>
            </a:xfrm>
            <a:prstGeom prst="roundRect">
              <a:avLst/>
            </a:prstGeom>
            <a:solidFill>
              <a:schemeClr val="bg1"/>
            </a:solidFill>
          </p:spPr>
          <p:txBody>
            <a:bodyPr wrap="square">
              <a:spAutoFit/>
            </a:bodyPr>
            <a:lstStyle/>
            <a:p>
              <a:pPr algn="ctr"/>
              <a:r>
                <a:rPr lang="es-MX" sz="900" b="1">
                  <a:solidFill>
                    <a:schemeClr val="tx1"/>
                  </a:solidFill>
                  <a:latin typeface="Arial" panose="020B0604020202020204" pitchFamily="34" charset="0"/>
                  <a:cs typeface="Arial" panose="020B0604020202020204" pitchFamily="34" charset="0"/>
                </a:rPr>
                <a:t>CRM &amp; </a:t>
              </a:r>
              <a:r>
                <a:rPr lang="es-MX" sz="900" b="1" err="1">
                  <a:solidFill>
                    <a:schemeClr val="tx1"/>
                  </a:solidFill>
                  <a:latin typeface="Arial" panose="020B0604020202020204" pitchFamily="34" charset="0"/>
                  <a:cs typeface="Arial" panose="020B0604020202020204" pitchFamily="34" charset="0"/>
                </a:rPr>
                <a:t>Contact</a:t>
              </a:r>
              <a:r>
                <a:rPr lang="es-MX" sz="900" b="1">
                  <a:solidFill>
                    <a:schemeClr val="tx1"/>
                  </a:solidFill>
                  <a:latin typeface="Arial" panose="020B0604020202020204" pitchFamily="34" charset="0"/>
                  <a:cs typeface="Arial" panose="020B0604020202020204" pitchFamily="34" charset="0"/>
                </a:rPr>
                <a:t> Center</a:t>
              </a:r>
            </a:p>
          </p:txBody>
        </p:sp>
      </p:grpSp>
      <p:sp>
        <p:nvSpPr>
          <p:cNvPr id="71" name="Rectángulo: esquinas redondeadas 70">
            <a:extLst>
              <a:ext uri="{FF2B5EF4-FFF2-40B4-BE49-F238E27FC236}">
                <a16:creationId xmlns:a16="http://schemas.microsoft.com/office/drawing/2014/main" id="{EFDDCBE6-31C3-A1A0-6BF3-E0E5366DD779}"/>
              </a:ext>
            </a:extLst>
          </p:cNvPr>
          <p:cNvSpPr/>
          <p:nvPr/>
        </p:nvSpPr>
        <p:spPr>
          <a:xfrm>
            <a:off x="2057384" y="5384028"/>
            <a:ext cx="1882575" cy="255389"/>
          </a:xfrm>
          <a:prstGeom prst="roundRect">
            <a:avLst/>
          </a:prstGeom>
          <a:solidFill>
            <a:schemeClr val="bg1"/>
          </a:solidFill>
        </p:spPr>
        <p:txBody>
          <a:bodyPr wrap="square">
            <a:spAutoFit/>
          </a:bodyPr>
          <a:lstStyle/>
          <a:p>
            <a:pPr algn="ctr"/>
            <a:r>
              <a:rPr lang="es-MX" sz="900" b="1">
                <a:solidFill>
                  <a:schemeClr val="tx1"/>
                </a:solidFill>
                <a:latin typeface="Arial" panose="020B0604020202020204" pitchFamily="34" charset="0"/>
                <a:cs typeface="Arial" panose="020B0604020202020204" pitchFamily="34" charset="0"/>
              </a:rPr>
              <a:t>GIS</a:t>
            </a:r>
          </a:p>
        </p:txBody>
      </p:sp>
    </p:spTree>
    <p:extLst>
      <p:ext uri="{BB962C8B-B14F-4D97-AF65-F5344CB8AC3E}">
        <p14:creationId xmlns:p14="http://schemas.microsoft.com/office/powerpoint/2010/main" val="1562060882"/>
      </p:ext>
    </p:extLst>
  </p:cSld>
  <p:clrMapOvr>
    <a:masterClrMapping/>
  </p:clrMapOvr>
  <p:extLst>
    <p:ext uri="{6950BFC3-D8DA-4A85-94F7-54DA5524770B}">
      <p188:commentRel xmlns:p188="http://schemas.microsoft.com/office/powerpoint/2018/8/main" r:id="rId3"/>
    </p:ext>
  </p:extLs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2D3D7A-10F6-BB2B-44FF-5D80D523D20D}"/>
            </a:ext>
          </a:extLst>
        </p:cNvPr>
        <p:cNvGrpSpPr/>
        <p:nvPr/>
      </p:nvGrpSpPr>
      <p:grpSpPr>
        <a:xfrm>
          <a:off x="0" y="0"/>
          <a:ext cx="0" cy="0"/>
          <a:chOff x="0" y="0"/>
          <a:chExt cx="0" cy="0"/>
        </a:xfrm>
      </p:grpSpPr>
      <p:sp>
        <p:nvSpPr>
          <p:cNvPr id="9" name="Título 2">
            <a:extLst>
              <a:ext uri="{FF2B5EF4-FFF2-40B4-BE49-F238E27FC236}">
                <a16:creationId xmlns:a16="http://schemas.microsoft.com/office/drawing/2014/main" id="{75EA7CBF-2345-5E40-322A-93F22D644042}"/>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sz="2400" noProof="0">
                <a:solidFill>
                  <a:prstClr val="white"/>
                </a:solidFill>
                <a:latin typeface="Arial" panose="020B0604020202020204" pitchFamily="34" charset="0"/>
                <a:cs typeface="Arial" panose="020B0604020202020204" pitchFamily="34" charset="0"/>
              </a:rPr>
              <a:t>PROJECT PORTFOLIO LANDSCAPE</a:t>
            </a:r>
            <a:endParaRPr kumimoji="0" lang="en-US" sz="2400" b="1"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t>PORTFOLIO OVERVIEW BY DEMAND TYPE</a:t>
            </a:r>
          </a:p>
        </p:txBody>
      </p:sp>
      <p:sp>
        <p:nvSpPr>
          <p:cNvPr id="14" name="Rectangle 13">
            <a:extLst>
              <a:ext uri="{FF2B5EF4-FFF2-40B4-BE49-F238E27FC236}">
                <a16:creationId xmlns:a16="http://schemas.microsoft.com/office/drawing/2014/main" id="{98A5B6DA-81D6-9E31-0173-369390EADF3D}"/>
              </a:ext>
            </a:extLst>
          </p:cNvPr>
          <p:cNvSpPr/>
          <p:nvPr/>
        </p:nvSpPr>
        <p:spPr>
          <a:xfrm>
            <a:off x="5787955" y="1157711"/>
            <a:ext cx="6148021" cy="24655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t>NON-REGULATORY</a:t>
            </a:r>
          </a:p>
        </p:txBody>
      </p:sp>
      <p:sp>
        <p:nvSpPr>
          <p:cNvPr id="82" name="Rectangle 13">
            <a:extLst>
              <a:ext uri="{FF2B5EF4-FFF2-40B4-BE49-F238E27FC236}">
                <a16:creationId xmlns:a16="http://schemas.microsoft.com/office/drawing/2014/main" id="{9A21FF77-B476-974C-6785-762C5A82138E}"/>
              </a:ext>
            </a:extLst>
          </p:cNvPr>
          <p:cNvSpPr/>
          <p:nvPr/>
        </p:nvSpPr>
        <p:spPr>
          <a:xfrm>
            <a:off x="335918" y="1157711"/>
            <a:ext cx="2341263" cy="24655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noProof="0">
                <a:solidFill>
                  <a:prstClr val="white"/>
                </a:solidFill>
                <a:latin typeface="Arial" panose="020B0604020202020204" pitchFamily="34" charset="0"/>
                <a:cs typeface="Arial" panose="020B0604020202020204" pitchFamily="34" charset="0"/>
              </a:rPr>
              <a:t>PRODUCTION SUPPORT</a:t>
            </a:r>
            <a:endParaRPr kumimoji="0" lang="en-US" sz="1200" b="1"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6" name="Rectangle 13">
            <a:extLst>
              <a:ext uri="{FF2B5EF4-FFF2-40B4-BE49-F238E27FC236}">
                <a16:creationId xmlns:a16="http://schemas.microsoft.com/office/drawing/2014/main" id="{E872C240-51DB-B620-5CF9-E30A4004E509}"/>
              </a:ext>
            </a:extLst>
          </p:cNvPr>
          <p:cNvSpPr/>
          <p:nvPr/>
        </p:nvSpPr>
        <p:spPr>
          <a:xfrm>
            <a:off x="2814432" y="1157711"/>
            <a:ext cx="2873730" cy="24655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t>REGULATORY</a:t>
            </a:r>
          </a:p>
        </p:txBody>
      </p:sp>
      <p:grpSp>
        <p:nvGrpSpPr>
          <p:cNvPr id="39" name="Grupo 38">
            <a:extLst>
              <a:ext uri="{FF2B5EF4-FFF2-40B4-BE49-F238E27FC236}">
                <a16:creationId xmlns:a16="http://schemas.microsoft.com/office/drawing/2014/main" id="{51EC2556-4D6E-6890-BD43-C627F2452169}"/>
              </a:ext>
            </a:extLst>
          </p:cNvPr>
          <p:cNvGrpSpPr/>
          <p:nvPr/>
        </p:nvGrpSpPr>
        <p:grpSpPr>
          <a:xfrm>
            <a:off x="315280" y="1529475"/>
            <a:ext cx="2375274" cy="1521397"/>
            <a:chOff x="209131" y="1954593"/>
            <a:chExt cx="4633154" cy="1801886"/>
          </a:xfrm>
        </p:grpSpPr>
        <p:sp>
          <p:nvSpPr>
            <p:cNvPr id="19" name="Rectángulo 132">
              <a:extLst>
                <a:ext uri="{FF2B5EF4-FFF2-40B4-BE49-F238E27FC236}">
                  <a16:creationId xmlns:a16="http://schemas.microsoft.com/office/drawing/2014/main" id="{511A37A4-BF4F-80D1-F6ED-68BD869F1634}"/>
                </a:ext>
              </a:extLst>
            </p:cNvPr>
            <p:cNvSpPr/>
            <p:nvPr/>
          </p:nvSpPr>
          <p:spPr>
            <a:xfrm>
              <a:off x="216070" y="1954593"/>
              <a:ext cx="2279061" cy="208700"/>
            </a:xfrm>
            <a:prstGeom prst="rect">
              <a:avLst/>
            </a:prstGeom>
            <a:solidFill>
              <a:schemeClr val="bg1">
                <a:lumMod val="95000"/>
              </a:schemeClr>
            </a:solidFill>
          </p:spPr>
          <p:txBody>
            <a:bodyPr wrap="square" anchor="ctr">
              <a:noAutofit/>
            </a:bodyPr>
            <a:lstStyle/>
            <a:p>
              <a:r>
                <a:rPr lang="en-US" sz="600" noProof="0">
                  <a:solidFill>
                    <a:schemeClr val="tx1"/>
                  </a:solidFill>
                  <a:latin typeface="Arial" panose="020B0604020202020204" pitchFamily="34" charset="0"/>
                  <a:cs typeface="Arial" panose="020B0604020202020204" pitchFamily="34" charset="0"/>
                </a:rPr>
                <a:t>Account Balance, Payments and </a:t>
              </a:r>
              <a:r>
                <a:rPr lang="en-US" sz="600" noProof="0" err="1">
                  <a:solidFill>
                    <a:schemeClr val="tx1"/>
                  </a:solidFill>
                  <a:latin typeface="Arial" panose="020B0604020202020204" pitchFamily="34" charset="0"/>
                  <a:cs typeface="Arial" panose="020B0604020202020204" pitchFamily="34" charset="0"/>
                </a:rPr>
                <a:t>Taxex</a:t>
              </a:r>
              <a:endParaRPr lang="en-US" sz="600" noProof="0">
                <a:solidFill>
                  <a:schemeClr val="tx1"/>
                </a:solidFill>
                <a:latin typeface="Arial" panose="020B0604020202020204" pitchFamily="34" charset="0"/>
                <a:cs typeface="Arial" panose="020B0604020202020204" pitchFamily="34" charset="0"/>
              </a:endParaRPr>
            </a:p>
          </p:txBody>
        </p:sp>
        <p:sp>
          <p:nvSpPr>
            <p:cNvPr id="20" name="Rectángulo 133">
              <a:extLst>
                <a:ext uri="{FF2B5EF4-FFF2-40B4-BE49-F238E27FC236}">
                  <a16:creationId xmlns:a16="http://schemas.microsoft.com/office/drawing/2014/main" id="{7E6D4ECD-6D08-C9B3-1DED-8EBC85597333}"/>
                </a:ext>
              </a:extLst>
            </p:cNvPr>
            <p:cNvSpPr/>
            <p:nvPr/>
          </p:nvSpPr>
          <p:spPr>
            <a:xfrm>
              <a:off x="209131" y="2485655"/>
              <a:ext cx="2279061" cy="208700"/>
            </a:xfrm>
            <a:prstGeom prst="rect">
              <a:avLst/>
            </a:prstGeom>
            <a:solidFill>
              <a:schemeClr val="bg1">
                <a:lumMod val="95000"/>
              </a:schemeClr>
            </a:solidFill>
          </p:spPr>
          <p:txBody>
            <a:bodyPr wrap="square" anchor="ctr">
              <a:noAutofit/>
            </a:bodyPr>
            <a:lstStyle/>
            <a:p>
              <a:r>
                <a:rPr lang="en-US" sz="600" noProof="0">
                  <a:solidFill>
                    <a:schemeClr val="tx1"/>
                  </a:solidFill>
                  <a:latin typeface="Arial" panose="020B0604020202020204" pitchFamily="34" charset="0"/>
                  <a:cs typeface="Arial" panose="020B0604020202020204" pitchFamily="34" charset="0"/>
                </a:rPr>
                <a:t>Billing and Rates</a:t>
              </a:r>
            </a:p>
          </p:txBody>
        </p:sp>
        <p:sp>
          <p:nvSpPr>
            <p:cNvPr id="21" name="Rectángulo 134">
              <a:extLst>
                <a:ext uri="{FF2B5EF4-FFF2-40B4-BE49-F238E27FC236}">
                  <a16:creationId xmlns:a16="http://schemas.microsoft.com/office/drawing/2014/main" id="{9FC4442B-E2E8-87CA-41DB-B63540302184}"/>
                </a:ext>
              </a:extLst>
            </p:cNvPr>
            <p:cNvSpPr/>
            <p:nvPr/>
          </p:nvSpPr>
          <p:spPr>
            <a:xfrm>
              <a:off x="209131" y="3282248"/>
              <a:ext cx="2279061" cy="208700"/>
            </a:xfrm>
            <a:prstGeom prst="rect">
              <a:avLst/>
            </a:prstGeom>
            <a:solidFill>
              <a:schemeClr val="bg1">
                <a:lumMod val="95000"/>
              </a:schemeClr>
            </a:solidFill>
          </p:spPr>
          <p:txBody>
            <a:bodyPr wrap="square" anchor="ctr">
              <a:noAutofit/>
            </a:bodyPr>
            <a:lstStyle/>
            <a:p>
              <a:r>
                <a:rPr lang="en-US" sz="600" noProof="0">
                  <a:solidFill>
                    <a:schemeClr val="tx1"/>
                  </a:solidFill>
                  <a:latin typeface="Arial" panose="020B0604020202020204" pitchFamily="34" charset="0"/>
                  <a:cs typeface="Arial" panose="020B0604020202020204" pitchFamily="34" charset="0"/>
                </a:rPr>
                <a:t>Credit and Collections</a:t>
              </a:r>
            </a:p>
          </p:txBody>
        </p:sp>
        <p:sp>
          <p:nvSpPr>
            <p:cNvPr id="22" name="Rectángulo 135">
              <a:extLst>
                <a:ext uri="{FF2B5EF4-FFF2-40B4-BE49-F238E27FC236}">
                  <a16:creationId xmlns:a16="http://schemas.microsoft.com/office/drawing/2014/main" id="{EE976DA8-2BAE-60C2-A614-A6A9AE111C28}"/>
                </a:ext>
              </a:extLst>
            </p:cNvPr>
            <p:cNvSpPr/>
            <p:nvPr/>
          </p:nvSpPr>
          <p:spPr>
            <a:xfrm>
              <a:off x="2543769" y="1954593"/>
              <a:ext cx="2279061" cy="208700"/>
            </a:xfrm>
            <a:prstGeom prst="rect">
              <a:avLst/>
            </a:prstGeom>
            <a:solidFill>
              <a:schemeClr val="bg1">
                <a:lumMod val="95000"/>
              </a:schemeClr>
            </a:solidFill>
          </p:spPr>
          <p:txBody>
            <a:bodyPr wrap="square" anchor="ctr">
              <a:noAutofit/>
            </a:bodyPr>
            <a:lstStyle/>
            <a:p>
              <a:r>
                <a:rPr lang="en-US" sz="600" noProof="0">
                  <a:solidFill>
                    <a:schemeClr val="tx1"/>
                  </a:solidFill>
                  <a:latin typeface="Arial" panose="020B0604020202020204" pitchFamily="34" charset="0"/>
                  <a:cs typeface="Arial" panose="020B0604020202020204" pitchFamily="34" charset="0"/>
                </a:rPr>
                <a:t>Emma, </a:t>
              </a:r>
              <a:r>
                <a:rPr lang="en-US" sz="600" noProof="0" err="1">
                  <a:solidFill>
                    <a:schemeClr val="tx1"/>
                  </a:solidFill>
                  <a:latin typeface="Arial" panose="020B0604020202020204" pitchFamily="34" charset="0"/>
                  <a:cs typeface="Arial" panose="020B0604020202020204" pitchFamily="34" charset="0"/>
                </a:rPr>
                <a:t>outsorts</a:t>
              </a:r>
              <a:r>
                <a:rPr lang="en-US" sz="600" noProof="0">
                  <a:solidFill>
                    <a:schemeClr val="tx1"/>
                  </a:solidFill>
                  <a:latin typeface="Arial" panose="020B0604020202020204" pitchFamily="34" charset="0"/>
                  <a:cs typeface="Arial" panose="020B0604020202020204" pitchFamily="34" charset="0"/>
                </a:rPr>
                <a:t> and </a:t>
              </a:r>
              <a:r>
                <a:rPr lang="en-US" sz="600" noProof="0" err="1">
                  <a:solidFill>
                    <a:schemeClr val="tx1"/>
                  </a:solidFill>
                  <a:latin typeface="Arial" panose="020B0604020202020204" pitchFamily="34" charset="0"/>
                  <a:cs typeface="Arial" panose="020B0604020202020204" pitchFamily="34" charset="0"/>
                </a:rPr>
                <a:t>implausibles</a:t>
              </a:r>
              <a:endParaRPr lang="en-US" sz="600" noProof="0">
                <a:solidFill>
                  <a:schemeClr val="tx1"/>
                </a:solidFill>
                <a:latin typeface="Arial" panose="020B0604020202020204" pitchFamily="34" charset="0"/>
                <a:cs typeface="Arial" panose="020B0604020202020204" pitchFamily="34" charset="0"/>
              </a:endParaRPr>
            </a:p>
          </p:txBody>
        </p:sp>
        <p:sp>
          <p:nvSpPr>
            <p:cNvPr id="23" name="Rectángulo 136">
              <a:extLst>
                <a:ext uri="{FF2B5EF4-FFF2-40B4-BE49-F238E27FC236}">
                  <a16:creationId xmlns:a16="http://schemas.microsoft.com/office/drawing/2014/main" id="{BB145FAC-D3BD-C8CC-975C-525ECF1DF64A}"/>
                </a:ext>
              </a:extLst>
            </p:cNvPr>
            <p:cNvSpPr/>
            <p:nvPr/>
          </p:nvSpPr>
          <p:spPr>
            <a:xfrm>
              <a:off x="2543769" y="2485655"/>
              <a:ext cx="2279061" cy="208700"/>
            </a:xfrm>
            <a:prstGeom prst="rect">
              <a:avLst/>
            </a:prstGeom>
            <a:solidFill>
              <a:schemeClr val="bg1">
                <a:lumMod val="95000"/>
              </a:schemeClr>
            </a:solidFill>
          </p:spPr>
          <p:txBody>
            <a:bodyPr wrap="square" anchor="ctr">
              <a:noAutofit/>
            </a:bodyPr>
            <a:lstStyle/>
            <a:p>
              <a:r>
                <a:rPr lang="en-US" sz="600" noProof="0">
                  <a:solidFill>
                    <a:schemeClr val="tx1"/>
                  </a:solidFill>
                  <a:latin typeface="Arial" panose="020B0604020202020204" pitchFamily="34" charset="0"/>
                  <a:cs typeface="Arial" panose="020B0604020202020204" pitchFamily="34" charset="0"/>
                </a:rPr>
                <a:t>METERS AND Master data</a:t>
              </a:r>
            </a:p>
          </p:txBody>
        </p:sp>
        <p:sp>
          <p:nvSpPr>
            <p:cNvPr id="24" name="Rectángulo 137">
              <a:extLst>
                <a:ext uri="{FF2B5EF4-FFF2-40B4-BE49-F238E27FC236}">
                  <a16:creationId xmlns:a16="http://schemas.microsoft.com/office/drawing/2014/main" id="{D50A870C-1E58-70A6-55E1-56B6210640C5}"/>
                </a:ext>
              </a:extLst>
            </p:cNvPr>
            <p:cNvSpPr/>
            <p:nvPr/>
          </p:nvSpPr>
          <p:spPr>
            <a:xfrm>
              <a:off x="2543769" y="3016717"/>
              <a:ext cx="2279061" cy="208700"/>
            </a:xfrm>
            <a:prstGeom prst="rect">
              <a:avLst/>
            </a:prstGeom>
            <a:solidFill>
              <a:schemeClr val="bg1">
                <a:lumMod val="95000"/>
              </a:schemeClr>
            </a:solidFill>
          </p:spPr>
          <p:txBody>
            <a:bodyPr wrap="square" anchor="ctr">
              <a:noAutofit/>
            </a:bodyPr>
            <a:lstStyle/>
            <a:p>
              <a:r>
                <a:rPr lang="en-US" sz="600" noProof="0">
                  <a:solidFill>
                    <a:schemeClr val="tx1"/>
                  </a:solidFill>
                  <a:latin typeface="Arial" panose="020B0604020202020204" pitchFamily="34" charset="0"/>
                  <a:cs typeface="Arial" panose="020B0604020202020204" pitchFamily="34" charset="0"/>
                </a:rPr>
                <a:t>Outbound Recorded Calls</a:t>
              </a:r>
            </a:p>
          </p:txBody>
        </p:sp>
        <p:sp>
          <p:nvSpPr>
            <p:cNvPr id="25" name="Rectángulo 138">
              <a:extLst>
                <a:ext uri="{FF2B5EF4-FFF2-40B4-BE49-F238E27FC236}">
                  <a16:creationId xmlns:a16="http://schemas.microsoft.com/office/drawing/2014/main" id="{5AAD805C-409A-C5EC-DBE3-D16CF1A9ECD5}"/>
                </a:ext>
              </a:extLst>
            </p:cNvPr>
            <p:cNvSpPr/>
            <p:nvPr/>
          </p:nvSpPr>
          <p:spPr>
            <a:xfrm>
              <a:off x="2543769" y="3282248"/>
              <a:ext cx="2279061" cy="208700"/>
            </a:xfrm>
            <a:prstGeom prst="rect">
              <a:avLst/>
            </a:prstGeom>
            <a:solidFill>
              <a:schemeClr val="bg1">
                <a:lumMod val="95000"/>
              </a:schemeClr>
            </a:solidFill>
          </p:spPr>
          <p:txBody>
            <a:bodyPr wrap="square" anchor="ctr">
              <a:noAutofit/>
            </a:bodyPr>
            <a:lstStyle/>
            <a:p>
              <a:r>
                <a:rPr lang="en-US" sz="600" noProof="0" err="1">
                  <a:solidFill>
                    <a:schemeClr val="tx1"/>
                  </a:solidFill>
                  <a:latin typeface="Arial" panose="020B0604020202020204" pitchFamily="34" charset="0"/>
                  <a:cs typeface="Arial" panose="020B0604020202020204" pitchFamily="34" charset="0"/>
                </a:rPr>
                <a:t>Rerports</a:t>
              </a:r>
              <a:r>
                <a:rPr lang="en-US" sz="600" noProof="0">
                  <a:solidFill>
                    <a:schemeClr val="tx1"/>
                  </a:solidFill>
                  <a:latin typeface="Arial" panose="020B0604020202020204" pitchFamily="34" charset="0"/>
                  <a:cs typeface="Arial" panose="020B0604020202020204" pitchFamily="34" charset="0"/>
                </a:rPr>
                <a:t>, Data Extracts and Analytics</a:t>
              </a:r>
            </a:p>
          </p:txBody>
        </p:sp>
        <p:sp>
          <p:nvSpPr>
            <p:cNvPr id="26" name="Rectángulo 139">
              <a:extLst>
                <a:ext uri="{FF2B5EF4-FFF2-40B4-BE49-F238E27FC236}">
                  <a16:creationId xmlns:a16="http://schemas.microsoft.com/office/drawing/2014/main" id="{A988521B-396F-89BF-AE63-E3864B82A554}"/>
                </a:ext>
              </a:extLst>
            </p:cNvPr>
            <p:cNvSpPr/>
            <p:nvPr/>
          </p:nvSpPr>
          <p:spPr>
            <a:xfrm>
              <a:off x="2563224" y="3547779"/>
              <a:ext cx="2279061" cy="208700"/>
            </a:xfrm>
            <a:prstGeom prst="rect">
              <a:avLst/>
            </a:prstGeom>
            <a:solidFill>
              <a:schemeClr val="bg1">
                <a:lumMod val="95000"/>
              </a:schemeClr>
            </a:solidFill>
          </p:spPr>
          <p:txBody>
            <a:bodyPr wrap="square" anchor="ctr">
              <a:noAutofit/>
            </a:bodyPr>
            <a:lstStyle/>
            <a:p>
              <a:r>
                <a:rPr lang="en-US" sz="600" noProof="0">
                  <a:solidFill>
                    <a:schemeClr val="tx1"/>
                  </a:solidFill>
                  <a:latin typeface="Arial" panose="020B0604020202020204" pitchFamily="34" charset="0"/>
                  <a:cs typeface="Arial" panose="020B0604020202020204" pitchFamily="34" charset="0"/>
                </a:rPr>
                <a:t>Retail Access</a:t>
              </a:r>
            </a:p>
          </p:txBody>
        </p:sp>
        <p:sp>
          <p:nvSpPr>
            <p:cNvPr id="27" name="Rectángulo 140">
              <a:extLst>
                <a:ext uri="{FF2B5EF4-FFF2-40B4-BE49-F238E27FC236}">
                  <a16:creationId xmlns:a16="http://schemas.microsoft.com/office/drawing/2014/main" id="{877428CE-B70A-05FE-288D-9D4D1A4DF9C4}"/>
                </a:ext>
              </a:extLst>
            </p:cNvPr>
            <p:cNvSpPr/>
            <p:nvPr/>
          </p:nvSpPr>
          <p:spPr>
            <a:xfrm>
              <a:off x="209131" y="2220124"/>
              <a:ext cx="2279061" cy="208700"/>
            </a:xfrm>
            <a:prstGeom prst="rect">
              <a:avLst/>
            </a:prstGeom>
            <a:solidFill>
              <a:schemeClr val="bg1">
                <a:lumMod val="95000"/>
              </a:schemeClr>
            </a:solidFill>
          </p:spPr>
          <p:txBody>
            <a:bodyPr wrap="square" anchor="ctr">
              <a:noAutofit/>
            </a:bodyPr>
            <a:lstStyle/>
            <a:p>
              <a:r>
                <a:rPr lang="en-US" sz="600" noProof="0">
                  <a:solidFill>
                    <a:schemeClr val="tx1"/>
                  </a:solidFill>
                  <a:latin typeface="Arial" panose="020B0604020202020204" pitchFamily="34" charset="0"/>
                  <a:cs typeface="Arial" panose="020B0604020202020204" pitchFamily="34" charset="0"/>
                </a:rPr>
                <a:t>WEB IVR and Digital </a:t>
              </a:r>
              <a:r>
                <a:rPr lang="en-US" sz="600" noProof="0" err="1">
                  <a:solidFill>
                    <a:schemeClr val="tx1"/>
                  </a:solidFill>
                  <a:latin typeface="Arial" panose="020B0604020202020204" pitchFamily="34" charset="0"/>
                  <a:cs typeface="Arial" panose="020B0604020202020204" pitchFamily="34" charset="0"/>
                </a:rPr>
                <a:t>PLatforms</a:t>
              </a:r>
              <a:endParaRPr lang="en-US" sz="600" noProof="0">
                <a:solidFill>
                  <a:schemeClr val="tx1"/>
                </a:solidFill>
                <a:latin typeface="Arial" panose="020B0604020202020204" pitchFamily="34" charset="0"/>
                <a:cs typeface="Arial" panose="020B0604020202020204" pitchFamily="34" charset="0"/>
              </a:endParaRPr>
            </a:p>
          </p:txBody>
        </p:sp>
        <p:sp>
          <p:nvSpPr>
            <p:cNvPr id="28" name="Rectángulo 141">
              <a:extLst>
                <a:ext uri="{FF2B5EF4-FFF2-40B4-BE49-F238E27FC236}">
                  <a16:creationId xmlns:a16="http://schemas.microsoft.com/office/drawing/2014/main" id="{2149E5D7-56B9-E3B1-27E7-E845AEB291A4}"/>
                </a:ext>
              </a:extLst>
            </p:cNvPr>
            <p:cNvSpPr/>
            <p:nvPr/>
          </p:nvSpPr>
          <p:spPr>
            <a:xfrm>
              <a:off x="209131" y="2751186"/>
              <a:ext cx="2279061" cy="208700"/>
            </a:xfrm>
            <a:prstGeom prst="rect">
              <a:avLst/>
            </a:prstGeom>
            <a:solidFill>
              <a:schemeClr val="bg1">
                <a:lumMod val="95000"/>
              </a:schemeClr>
            </a:solidFill>
          </p:spPr>
          <p:txBody>
            <a:bodyPr wrap="square" anchor="ctr">
              <a:noAutofit/>
            </a:bodyPr>
            <a:lstStyle/>
            <a:p>
              <a:r>
                <a:rPr lang="en-US" sz="600" noProof="0">
                  <a:solidFill>
                    <a:schemeClr val="tx1"/>
                  </a:solidFill>
                  <a:latin typeface="Arial" panose="020B0604020202020204" pitchFamily="34" charset="0"/>
                  <a:cs typeface="Arial" panose="020B0604020202020204" pitchFamily="34" charset="0"/>
                </a:rPr>
                <a:t>Outage Management System</a:t>
              </a:r>
            </a:p>
          </p:txBody>
        </p:sp>
        <p:sp>
          <p:nvSpPr>
            <p:cNvPr id="29" name="Rectángulo 142">
              <a:extLst>
                <a:ext uri="{FF2B5EF4-FFF2-40B4-BE49-F238E27FC236}">
                  <a16:creationId xmlns:a16="http://schemas.microsoft.com/office/drawing/2014/main" id="{ABEEC1F2-C4DE-59D3-41E6-99CB830186A3}"/>
                </a:ext>
              </a:extLst>
            </p:cNvPr>
            <p:cNvSpPr/>
            <p:nvPr/>
          </p:nvSpPr>
          <p:spPr>
            <a:xfrm>
              <a:off x="209131" y="3016717"/>
              <a:ext cx="2279061" cy="208700"/>
            </a:xfrm>
            <a:prstGeom prst="rect">
              <a:avLst/>
            </a:prstGeom>
            <a:solidFill>
              <a:schemeClr val="bg1">
                <a:lumMod val="95000"/>
              </a:schemeClr>
            </a:solidFill>
          </p:spPr>
          <p:txBody>
            <a:bodyPr wrap="square" anchor="ctr">
              <a:noAutofit/>
            </a:bodyPr>
            <a:lstStyle/>
            <a:p>
              <a:r>
                <a:rPr lang="en-US" sz="600" noProof="0">
                  <a:solidFill>
                    <a:schemeClr val="tx1"/>
                  </a:solidFill>
                  <a:latin typeface="Arial" panose="020B0604020202020204" pitchFamily="34" charset="0"/>
                  <a:cs typeface="Arial" panose="020B0604020202020204" pitchFamily="34" charset="0"/>
                </a:rPr>
                <a:t>SAP CRM</a:t>
              </a:r>
            </a:p>
          </p:txBody>
        </p:sp>
        <p:sp>
          <p:nvSpPr>
            <p:cNvPr id="30" name="Rectángulo 143">
              <a:extLst>
                <a:ext uri="{FF2B5EF4-FFF2-40B4-BE49-F238E27FC236}">
                  <a16:creationId xmlns:a16="http://schemas.microsoft.com/office/drawing/2014/main" id="{B3016C60-36E4-F46A-E3EA-C5086FD9392F}"/>
                </a:ext>
              </a:extLst>
            </p:cNvPr>
            <p:cNvSpPr/>
            <p:nvPr/>
          </p:nvSpPr>
          <p:spPr>
            <a:xfrm>
              <a:off x="209131" y="3547779"/>
              <a:ext cx="2279061" cy="208700"/>
            </a:xfrm>
            <a:prstGeom prst="rect">
              <a:avLst/>
            </a:prstGeom>
            <a:solidFill>
              <a:schemeClr val="bg1">
                <a:lumMod val="95000"/>
              </a:schemeClr>
            </a:solidFill>
          </p:spPr>
          <p:txBody>
            <a:bodyPr wrap="square" anchor="ctr">
              <a:noAutofit/>
            </a:bodyPr>
            <a:lstStyle/>
            <a:p>
              <a:r>
                <a:rPr lang="en-US" sz="600" noProof="0">
                  <a:solidFill>
                    <a:schemeClr val="tx1"/>
                  </a:solidFill>
                  <a:latin typeface="Arial" panose="020B0604020202020204" pitchFamily="34" charset="0"/>
                  <a:cs typeface="Arial" panose="020B0604020202020204" pitchFamily="34" charset="0"/>
                </a:rPr>
                <a:t>SAP CCS Front Office</a:t>
              </a:r>
            </a:p>
          </p:txBody>
        </p:sp>
        <p:sp>
          <p:nvSpPr>
            <p:cNvPr id="31" name="Rectángulo 144">
              <a:extLst>
                <a:ext uri="{FF2B5EF4-FFF2-40B4-BE49-F238E27FC236}">
                  <a16:creationId xmlns:a16="http://schemas.microsoft.com/office/drawing/2014/main" id="{C7DF4C30-A3B6-7AB1-5DDA-3C484DC2ADA2}"/>
                </a:ext>
              </a:extLst>
            </p:cNvPr>
            <p:cNvSpPr/>
            <p:nvPr/>
          </p:nvSpPr>
          <p:spPr>
            <a:xfrm>
              <a:off x="2543769" y="2220124"/>
              <a:ext cx="2279061" cy="208700"/>
            </a:xfrm>
            <a:prstGeom prst="rect">
              <a:avLst/>
            </a:prstGeom>
            <a:solidFill>
              <a:schemeClr val="bg1">
                <a:lumMod val="95000"/>
              </a:schemeClr>
            </a:solidFill>
          </p:spPr>
          <p:txBody>
            <a:bodyPr wrap="square" anchor="ctr">
              <a:noAutofit/>
            </a:bodyPr>
            <a:lstStyle/>
            <a:p>
              <a:r>
                <a:rPr lang="en-US" sz="600" noProof="0">
                  <a:solidFill>
                    <a:schemeClr val="tx1"/>
                  </a:solidFill>
                  <a:latin typeface="Arial" panose="020B0604020202020204" pitchFamily="34" charset="0"/>
                  <a:cs typeface="Arial" panose="020B0604020202020204" pitchFamily="34" charset="0"/>
                </a:rPr>
                <a:t>SAP ECC</a:t>
              </a:r>
            </a:p>
          </p:txBody>
        </p:sp>
        <p:sp>
          <p:nvSpPr>
            <p:cNvPr id="32" name="Rectángulo 145">
              <a:extLst>
                <a:ext uri="{FF2B5EF4-FFF2-40B4-BE49-F238E27FC236}">
                  <a16:creationId xmlns:a16="http://schemas.microsoft.com/office/drawing/2014/main" id="{475CF9B1-E3AE-B362-D910-9DD9222255D6}"/>
                </a:ext>
              </a:extLst>
            </p:cNvPr>
            <p:cNvSpPr/>
            <p:nvPr/>
          </p:nvSpPr>
          <p:spPr>
            <a:xfrm>
              <a:off x="2543769" y="2751186"/>
              <a:ext cx="2279061" cy="208700"/>
            </a:xfrm>
            <a:prstGeom prst="rect">
              <a:avLst/>
            </a:prstGeom>
            <a:solidFill>
              <a:schemeClr val="bg1">
                <a:lumMod val="95000"/>
              </a:schemeClr>
            </a:solidFill>
          </p:spPr>
          <p:txBody>
            <a:bodyPr wrap="square" anchor="ctr">
              <a:noAutofit/>
            </a:bodyPr>
            <a:lstStyle/>
            <a:p>
              <a:r>
                <a:rPr lang="en-US" sz="600" noProof="0">
                  <a:solidFill>
                    <a:schemeClr val="tx1"/>
                  </a:solidFill>
                  <a:latin typeface="Arial" panose="020B0604020202020204" pitchFamily="34" charset="0"/>
                  <a:cs typeface="Arial" panose="020B0604020202020204" pitchFamily="34" charset="0"/>
                </a:rPr>
                <a:t>GL Transfer Error</a:t>
              </a:r>
            </a:p>
          </p:txBody>
        </p:sp>
      </p:grpSp>
      <p:sp>
        <p:nvSpPr>
          <p:cNvPr id="41" name="Rounded Rectangle 7">
            <a:extLst>
              <a:ext uri="{FF2B5EF4-FFF2-40B4-BE49-F238E27FC236}">
                <a16:creationId xmlns:a16="http://schemas.microsoft.com/office/drawing/2014/main" id="{1FC95BF8-E044-CF06-3289-93C66CE92CF8}"/>
              </a:ext>
            </a:extLst>
          </p:cNvPr>
          <p:cNvSpPr/>
          <p:nvPr/>
        </p:nvSpPr>
        <p:spPr>
          <a:xfrm rot="16200000">
            <a:off x="-1075636" y="5079529"/>
            <a:ext cx="2468395" cy="137401"/>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1000" b="1" i="0" noProof="0">
                <a:solidFill>
                  <a:srgbClr val="FFFFFF"/>
                </a:solidFill>
                <a:latin typeface="Arial" panose="020B0604020202020204" pitchFamily="34" charset="0"/>
                <a:cs typeface="Arial" panose="020B0604020202020204" pitchFamily="34" charset="0"/>
              </a:rPr>
              <a:t>LARGE</a:t>
            </a:r>
          </a:p>
        </p:txBody>
      </p:sp>
      <p:sp>
        <p:nvSpPr>
          <p:cNvPr id="42" name="Rounded Rectangle 9">
            <a:extLst>
              <a:ext uri="{FF2B5EF4-FFF2-40B4-BE49-F238E27FC236}">
                <a16:creationId xmlns:a16="http://schemas.microsoft.com/office/drawing/2014/main" id="{CA806302-87BF-A732-326C-0BAE92661709}"/>
              </a:ext>
            </a:extLst>
          </p:cNvPr>
          <p:cNvSpPr/>
          <p:nvPr/>
        </p:nvSpPr>
        <p:spPr>
          <a:xfrm rot="16200000">
            <a:off x="-176289" y="3434741"/>
            <a:ext cx="669702" cy="137401"/>
          </a:xfrm>
          <a:prstGeom prst="roundRect">
            <a:avLst>
              <a:gd name="adj" fmla="val 45000"/>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1000" b="1" i="0" noProof="0">
                <a:solidFill>
                  <a:srgbClr val="FFFFFF"/>
                </a:solidFill>
                <a:latin typeface="Arial" panose="020B0604020202020204" pitchFamily="34" charset="0"/>
                <a:cs typeface="Arial" panose="020B0604020202020204" pitchFamily="34" charset="0"/>
              </a:rPr>
              <a:t>MEDIUM</a:t>
            </a:r>
          </a:p>
        </p:txBody>
      </p:sp>
      <p:sp>
        <p:nvSpPr>
          <p:cNvPr id="43" name="Rounded Rectangle 11">
            <a:extLst>
              <a:ext uri="{FF2B5EF4-FFF2-40B4-BE49-F238E27FC236}">
                <a16:creationId xmlns:a16="http://schemas.microsoft.com/office/drawing/2014/main" id="{BEF2E8B4-286E-1D84-2C3E-22F7CCDC5047}"/>
              </a:ext>
            </a:extLst>
          </p:cNvPr>
          <p:cNvSpPr/>
          <p:nvPr/>
        </p:nvSpPr>
        <p:spPr>
          <a:xfrm rot="16200000">
            <a:off x="-709955" y="2214385"/>
            <a:ext cx="1737033" cy="137401"/>
          </a:xfrm>
          <a:prstGeom prst="roundRect">
            <a:avLst>
              <a:gd name="adj" fmla="val 45000"/>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1000" b="1" i="0" noProof="0">
                <a:solidFill>
                  <a:srgbClr val="FFFFFF"/>
                </a:solidFill>
                <a:latin typeface="Arial" panose="020B0604020202020204" pitchFamily="34" charset="0"/>
                <a:cs typeface="Arial" panose="020B0604020202020204" pitchFamily="34" charset="0"/>
              </a:rPr>
              <a:t>SMALL</a:t>
            </a:r>
          </a:p>
        </p:txBody>
      </p:sp>
      <p:grpSp>
        <p:nvGrpSpPr>
          <p:cNvPr id="90" name="Grupo 89">
            <a:extLst>
              <a:ext uri="{FF2B5EF4-FFF2-40B4-BE49-F238E27FC236}">
                <a16:creationId xmlns:a16="http://schemas.microsoft.com/office/drawing/2014/main" id="{7F5D62CA-EE52-9C6A-575E-BDEA086E7089}"/>
              </a:ext>
            </a:extLst>
          </p:cNvPr>
          <p:cNvGrpSpPr/>
          <p:nvPr/>
        </p:nvGrpSpPr>
        <p:grpSpPr>
          <a:xfrm>
            <a:off x="3073196" y="4054240"/>
            <a:ext cx="2550383" cy="2207369"/>
            <a:chOff x="3684903" y="1716975"/>
            <a:chExt cx="2861811" cy="2100236"/>
          </a:xfrm>
        </p:grpSpPr>
        <p:sp>
          <p:nvSpPr>
            <p:cNvPr id="45" name="TextBox 15">
              <a:extLst>
                <a:ext uri="{FF2B5EF4-FFF2-40B4-BE49-F238E27FC236}">
                  <a16:creationId xmlns:a16="http://schemas.microsoft.com/office/drawing/2014/main" id="{9CD5DC25-5A03-2858-BC26-8EDA22243D05}"/>
                </a:ext>
              </a:extLst>
            </p:cNvPr>
            <p:cNvSpPr txBox="1"/>
            <p:nvPr/>
          </p:nvSpPr>
          <p:spPr>
            <a:xfrm>
              <a:off x="3684903" y="3058520"/>
              <a:ext cx="2861811" cy="222072"/>
            </a:xfrm>
            <a:prstGeom prst="rect">
              <a:avLst/>
            </a:prstGeom>
            <a:solidFill>
              <a:schemeClr val="bg1">
                <a:lumMod val="95000"/>
              </a:schemeClr>
            </a:solidFill>
          </p:spPr>
          <p:txBody>
            <a:bodyPr wrap="square" anchor="ctr">
              <a:noAutofit/>
            </a:bodyPr>
            <a:lstStyle/>
            <a:p>
              <a:r>
                <a:rPr lang="en-US" sz="700" noProof="0">
                  <a:latin typeface="Arial" panose="020B0604020202020204" pitchFamily="34" charset="0"/>
                  <a:cs typeface="Arial" panose="020B0604020202020204" pitchFamily="34" charset="0"/>
                </a:rPr>
                <a:t>EV Phase In Rate-NY</a:t>
              </a:r>
            </a:p>
          </p:txBody>
        </p:sp>
        <p:sp>
          <p:nvSpPr>
            <p:cNvPr id="46" name="TextBox 16">
              <a:extLst>
                <a:ext uri="{FF2B5EF4-FFF2-40B4-BE49-F238E27FC236}">
                  <a16:creationId xmlns:a16="http://schemas.microsoft.com/office/drawing/2014/main" id="{B4691FA9-2DAF-F553-8EED-5E989B1E638F}"/>
                </a:ext>
              </a:extLst>
            </p:cNvPr>
            <p:cNvSpPr txBox="1"/>
            <p:nvPr/>
          </p:nvSpPr>
          <p:spPr>
            <a:xfrm>
              <a:off x="3684903" y="3595139"/>
              <a:ext cx="2861811" cy="222072"/>
            </a:xfrm>
            <a:prstGeom prst="rect">
              <a:avLst/>
            </a:prstGeom>
            <a:solidFill>
              <a:schemeClr val="bg1">
                <a:lumMod val="95000"/>
              </a:schemeClr>
            </a:solidFill>
          </p:spPr>
          <p:txBody>
            <a:bodyPr wrap="square" anchor="ctr">
              <a:noAutofit/>
            </a:bodyPr>
            <a:lstStyle/>
            <a:p>
              <a:r>
                <a:rPr lang="en-US" sz="700" noProof="0">
                  <a:latin typeface="Arial" panose="020B0604020202020204" pitchFamily="34" charset="0"/>
                  <a:cs typeface="Arial" panose="020B0604020202020204" pitchFamily="34" charset="0"/>
                </a:rPr>
                <a:t>Elderly Blind Disabled (EBD) Certification Automation-NY</a:t>
              </a:r>
            </a:p>
          </p:txBody>
        </p:sp>
        <p:sp>
          <p:nvSpPr>
            <p:cNvPr id="47" name="TextBox 18">
              <a:extLst>
                <a:ext uri="{FF2B5EF4-FFF2-40B4-BE49-F238E27FC236}">
                  <a16:creationId xmlns:a16="http://schemas.microsoft.com/office/drawing/2014/main" id="{D6A436C9-FC6B-1A2A-D85D-F40200E81E8B}"/>
                </a:ext>
              </a:extLst>
            </p:cNvPr>
            <p:cNvSpPr txBox="1"/>
            <p:nvPr/>
          </p:nvSpPr>
          <p:spPr>
            <a:xfrm>
              <a:off x="3684903" y="2790211"/>
              <a:ext cx="2861811" cy="222072"/>
            </a:xfrm>
            <a:prstGeom prst="rect">
              <a:avLst/>
            </a:prstGeom>
            <a:solidFill>
              <a:schemeClr val="bg1">
                <a:lumMod val="95000"/>
              </a:schemeClr>
            </a:solidFill>
          </p:spPr>
          <p:txBody>
            <a:bodyPr wrap="square" anchor="ctr">
              <a:noAutofit/>
            </a:bodyPr>
            <a:lstStyle/>
            <a:p>
              <a:r>
                <a:rPr lang="en-US" sz="700" noProof="0">
                  <a:latin typeface="Arial" panose="020B0604020202020204" pitchFamily="34" charset="0"/>
                  <a:cs typeface="Arial" panose="020B0604020202020204" pitchFamily="34" charset="0"/>
                </a:rPr>
                <a:t>UIL Low Income Discount Rate (LIDR)-UIL</a:t>
              </a:r>
            </a:p>
          </p:txBody>
        </p:sp>
        <p:sp>
          <p:nvSpPr>
            <p:cNvPr id="48" name="TextBox 21">
              <a:extLst>
                <a:ext uri="{FF2B5EF4-FFF2-40B4-BE49-F238E27FC236}">
                  <a16:creationId xmlns:a16="http://schemas.microsoft.com/office/drawing/2014/main" id="{35B8C455-14FD-50A5-27D7-7091BDBA63D2}"/>
                </a:ext>
              </a:extLst>
            </p:cNvPr>
            <p:cNvSpPr txBox="1"/>
            <p:nvPr/>
          </p:nvSpPr>
          <p:spPr>
            <a:xfrm>
              <a:off x="3684903" y="2253593"/>
              <a:ext cx="2861811" cy="222072"/>
            </a:xfrm>
            <a:prstGeom prst="rect">
              <a:avLst/>
            </a:prstGeom>
            <a:solidFill>
              <a:schemeClr val="bg1">
                <a:lumMod val="95000"/>
              </a:schemeClr>
            </a:solidFill>
          </p:spPr>
          <p:txBody>
            <a:bodyPr wrap="square" anchor="ctr">
              <a:noAutofit/>
            </a:bodyPr>
            <a:lstStyle/>
            <a:p>
              <a:r>
                <a:rPr lang="en-US" sz="700" noProof="0">
                  <a:latin typeface="Arial" panose="020B0604020202020204" pitchFamily="34" charset="0"/>
                  <a:cs typeface="Arial" panose="020B0604020202020204" pitchFamily="34" charset="0"/>
                </a:rPr>
                <a:t>Enhanced Energy Affordability Program (EEAP)-NY</a:t>
              </a:r>
            </a:p>
          </p:txBody>
        </p:sp>
        <p:sp>
          <p:nvSpPr>
            <p:cNvPr id="49" name="TextBox 24">
              <a:extLst>
                <a:ext uri="{FF2B5EF4-FFF2-40B4-BE49-F238E27FC236}">
                  <a16:creationId xmlns:a16="http://schemas.microsoft.com/office/drawing/2014/main" id="{1BFDD3EF-9FD5-2126-02B4-973FD0CCE058}"/>
                </a:ext>
              </a:extLst>
            </p:cNvPr>
            <p:cNvSpPr txBox="1"/>
            <p:nvPr/>
          </p:nvSpPr>
          <p:spPr>
            <a:xfrm>
              <a:off x="3684903" y="1716975"/>
              <a:ext cx="2861811" cy="222072"/>
            </a:xfrm>
            <a:prstGeom prst="rect">
              <a:avLst/>
            </a:prstGeom>
            <a:solidFill>
              <a:schemeClr val="bg1">
                <a:lumMod val="95000"/>
              </a:schemeClr>
            </a:solidFill>
          </p:spPr>
          <p:txBody>
            <a:bodyPr wrap="square" anchor="ctr">
              <a:noAutofit/>
            </a:bodyPr>
            <a:lstStyle/>
            <a:p>
              <a:r>
                <a:rPr lang="en-US" sz="700" noProof="0">
                  <a:latin typeface="Arial" panose="020B0604020202020204" pitchFamily="34" charset="0"/>
                  <a:cs typeface="Arial" panose="020B0604020202020204" pitchFamily="34" charset="0"/>
                </a:rPr>
                <a:t>NY Proposed Legislation A.3875-S.3876-NY</a:t>
              </a:r>
            </a:p>
          </p:txBody>
        </p:sp>
        <p:sp>
          <p:nvSpPr>
            <p:cNvPr id="65" name="TextBox 26">
              <a:extLst>
                <a:ext uri="{FF2B5EF4-FFF2-40B4-BE49-F238E27FC236}">
                  <a16:creationId xmlns:a16="http://schemas.microsoft.com/office/drawing/2014/main" id="{BCCF6990-A16E-0ABC-1D03-5D5D62225965}"/>
                </a:ext>
              </a:extLst>
            </p:cNvPr>
            <p:cNvSpPr txBox="1"/>
            <p:nvPr/>
          </p:nvSpPr>
          <p:spPr>
            <a:xfrm>
              <a:off x="3684903" y="1985284"/>
              <a:ext cx="2861811" cy="222072"/>
            </a:xfrm>
            <a:prstGeom prst="rect">
              <a:avLst/>
            </a:prstGeom>
            <a:solidFill>
              <a:schemeClr val="bg1">
                <a:lumMod val="95000"/>
              </a:schemeClr>
            </a:solidFill>
          </p:spPr>
          <p:txBody>
            <a:bodyPr wrap="square" anchor="ctr">
              <a:noAutofit/>
            </a:bodyPr>
            <a:lstStyle/>
            <a:p>
              <a:r>
                <a:rPr lang="en-US" sz="700" noProof="0">
                  <a:latin typeface="Arial" panose="020B0604020202020204" pitchFamily="34" charset="0"/>
                  <a:cs typeface="Arial" panose="020B0604020202020204" pitchFamily="34" charset="0"/>
                </a:rPr>
                <a:t>Regulatory Driven Efforts-CMP</a:t>
              </a:r>
            </a:p>
          </p:txBody>
        </p:sp>
        <p:sp>
          <p:nvSpPr>
            <p:cNvPr id="83" name="TextBox 27">
              <a:extLst>
                <a:ext uri="{FF2B5EF4-FFF2-40B4-BE49-F238E27FC236}">
                  <a16:creationId xmlns:a16="http://schemas.microsoft.com/office/drawing/2014/main" id="{5A2FB825-9A03-9F15-9A42-8DEE949BC311}"/>
                </a:ext>
              </a:extLst>
            </p:cNvPr>
            <p:cNvSpPr txBox="1"/>
            <p:nvPr/>
          </p:nvSpPr>
          <p:spPr>
            <a:xfrm>
              <a:off x="3684903" y="3326829"/>
              <a:ext cx="2861811" cy="222072"/>
            </a:xfrm>
            <a:prstGeom prst="rect">
              <a:avLst/>
            </a:prstGeom>
            <a:solidFill>
              <a:schemeClr val="bg1">
                <a:lumMod val="95000"/>
              </a:schemeClr>
            </a:solidFill>
          </p:spPr>
          <p:txBody>
            <a:bodyPr wrap="square" anchor="ctr">
              <a:noAutofit/>
            </a:bodyPr>
            <a:lstStyle/>
            <a:p>
              <a:r>
                <a:rPr lang="en-US" sz="700" noProof="0">
                  <a:latin typeface="Arial" panose="020B0604020202020204" pitchFamily="34" charset="0"/>
                  <a:cs typeface="Arial" panose="020B0604020202020204" pitchFamily="34" charset="0"/>
                </a:rPr>
                <a:t>Regulatory Driven Efforts-NY</a:t>
              </a:r>
            </a:p>
          </p:txBody>
        </p:sp>
        <p:sp>
          <p:nvSpPr>
            <p:cNvPr id="84" name="TextBox 28">
              <a:extLst>
                <a:ext uri="{FF2B5EF4-FFF2-40B4-BE49-F238E27FC236}">
                  <a16:creationId xmlns:a16="http://schemas.microsoft.com/office/drawing/2014/main" id="{2A252494-CFA1-7EA6-42CA-9ACAE0865DA9}"/>
                </a:ext>
              </a:extLst>
            </p:cNvPr>
            <p:cNvSpPr txBox="1"/>
            <p:nvPr/>
          </p:nvSpPr>
          <p:spPr>
            <a:xfrm>
              <a:off x="3684903" y="2521902"/>
              <a:ext cx="2861811" cy="222072"/>
            </a:xfrm>
            <a:prstGeom prst="rect">
              <a:avLst/>
            </a:prstGeom>
            <a:solidFill>
              <a:schemeClr val="bg1">
                <a:lumMod val="95000"/>
              </a:schemeClr>
            </a:solidFill>
          </p:spPr>
          <p:txBody>
            <a:bodyPr wrap="square" anchor="ctr">
              <a:noAutofit/>
            </a:bodyPr>
            <a:lstStyle/>
            <a:p>
              <a:r>
                <a:rPr lang="en-US" sz="700" noProof="0">
                  <a:latin typeface="Arial" panose="020B0604020202020204" pitchFamily="34" charset="0"/>
                  <a:cs typeface="Arial" panose="020B0604020202020204" pitchFamily="34" charset="0"/>
                </a:rPr>
                <a:t>CT Advanced Termination Notice PA 23-199</a:t>
              </a:r>
            </a:p>
          </p:txBody>
        </p:sp>
      </p:grpSp>
      <p:cxnSp>
        <p:nvCxnSpPr>
          <p:cNvPr id="87" name="Conector recto 86">
            <a:extLst>
              <a:ext uri="{FF2B5EF4-FFF2-40B4-BE49-F238E27FC236}">
                <a16:creationId xmlns:a16="http://schemas.microsoft.com/office/drawing/2014/main" id="{798AAD4A-4522-E7DB-F4FE-4E5069418898}"/>
              </a:ext>
            </a:extLst>
          </p:cNvPr>
          <p:cNvCxnSpPr>
            <a:cxnSpLocks/>
          </p:cNvCxnSpPr>
          <p:nvPr/>
        </p:nvCxnSpPr>
        <p:spPr>
          <a:xfrm flipV="1">
            <a:off x="323821" y="3151601"/>
            <a:ext cx="11604076" cy="1"/>
          </a:xfrm>
          <a:prstGeom prst="line">
            <a:avLst/>
          </a:prstGeom>
          <a:ln>
            <a:prstDash val="dash"/>
          </a:ln>
        </p:spPr>
        <p:style>
          <a:lnRef idx="2">
            <a:schemeClr val="accent1"/>
          </a:lnRef>
          <a:fillRef idx="0">
            <a:schemeClr val="accent1"/>
          </a:fillRef>
          <a:effectRef idx="1">
            <a:schemeClr val="accent1"/>
          </a:effectRef>
          <a:fontRef idx="minor">
            <a:schemeClr val="tx1"/>
          </a:fontRef>
        </p:style>
      </p:cxnSp>
      <p:cxnSp>
        <p:nvCxnSpPr>
          <p:cNvPr id="88" name="Conector recto 87">
            <a:extLst>
              <a:ext uri="{FF2B5EF4-FFF2-40B4-BE49-F238E27FC236}">
                <a16:creationId xmlns:a16="http://schemas.microsoft.com/office/drawing/2014/main" id="{B8AA8886-7DFA-7125-3706-216D09AC847E}"/>
              </a:ext>
            </a:extLst>
          </p:cNvPr>
          <p:cNvCxnSpPr>
            <a:cxnSpLocks/>
          </p:cNvCxnSpPr>
          <p:nvPr/>
        </p:nvCxnSpPr>
        <p:spPr>
          <a:xfrm>
            <a:off x="315769" y="3827488"/>
            <a:ext cx="11660654" cy="0"/>
          </a:xfrm>
          <a:prstGeom prst="line">
            <a:avLst/>
          </a:prstGeom>
          <a:ln>
            <a:prstDash val="dash"/>
          </a:ln>
        </p:spPr>
        <p:style>
          <a:lnRef idx="2">
            <a:schemeClr val="accent1"/>
          </a:lnRef>
          <a:fillRef idx="0">
            <a:schemeClr val="accent1"/>
          </a:fillRef>
          <a:effectRef idx="1">
            <a:schemeClr val="accent1"/>
          </a:effectRef>
          <a:fontRef idx="minor">
            <a:schemeClr val="tx1"/>
          </a:fontRef>
        </p:style>
      </p:cxnSp>
      <p:cxnSp>
        <p:nvCxnSpPr>
          <p:cNvPr id="91" name="Conector recto 90">
            <a:extLst>
              <a:ext uri="{FF2B5EF4-FFF2-40B4-BE49-F238E27FC236}">
                <a16:creationId xmlns:a16="http://schemas.microsoft.com/office/drawing/2014/main" id="{EF7DE657-AA8A-6A7F-60B8-D097EBFD1B3D}"/>
              </a:ext>
            </a:extLst>
          </p:cNvPr>
          <p:cNvCxnSpPr/>
          <p:nvPr/>
        </p:nvCxnSpPr>
        <p:spPr>
          <a:xfrm>
            <a:off x="2762328" y="1359530"/>
            <a:ext cx="0" cy="4959760"/>
          </a:xfrm>
          <a:prstGeom prst="line">
            <a:avLst/>
          </a:prstGeom>
          <a:ln>
            <a:prstDash val="dash"/>
          </a:ln>
        </p:spPr>
        <p:style>
          <a:lnRef idx="2">
            <a:schemeClr val="accent1"/>
          </a:lnRef>
          <a:fillRef idx="0">
            <a:schemeClr val="accent1"/>
          </a:fillRef>
          <a:effectRef idx="1">
            <a:schemeClr val="accent1"/>
          </a:effectRef>
          <a:fontRef idx="minor">
            <a:schemeClr val="tx1"/>
          </a:fontRef>
        </p:style>
      </p:cxnSp>
      <p:cxnSp>
        <p:nvCxnSpPr>
          <p:cNvPr id="92" name="Conector recto 91">
            <a:extLst>
              <a:ext uri="{FF2B5EF4-FFF2-40B4-BE49-F238E27FC236}">
                <a16:creationId xmlns:a16="http://schemas.microsoft.com/office/drawing/2014/main" id="{8E0231D3-6D64-CE22-2FB9-E715C194D4AF}"/>
              </a:ext>
            </a:extLst>
          </p:cNvPr>
          <p:cNvCxnSpPr/>
          <p:nvPr/>
        </p:nvCxnSpPr>
        <p:spPr>
          <a:xfrm>
            <a:off x="5709809" y="1359530"/>
            <a:ext cx="0" cy="4959760"/>
          </a:xfrm>
          <a:prstGeom prst="line">
            <a:avLst/>
          </a:prstGeom>
          <a:ln>
            <a:prstDash val="dash"/>
          </a:ln>
        </p:spPr>
        <p:style>
          <a:lnRef idx="2">
            <a:schemeClr val="accent1"/>
          </a:lnRef>
          <a:fillRef idx="0">
            <a:schemeClr val="accent1"/>
          </a:fillRef>
          <a:effectRef idx="1">
            <a:schemeClr val="accent1"/>
          </a:effectRef>
          <a:fontRef idx="minor">
            <a:schemeClr val="tx1"/>
          </a:fontRef>
        </p:style>
      </p:cxnSp>
      <p:grpSp>
        <p:nvGrpSpPr>
          <p:cNvPr id="128" name="Grupo 127">
            <a:extLst>
              <a:ext uri="{FF2B5EF4-FFF2-40B4-BE49-F238E27FC236}">
                <a16:creationId xmlns:a16="http://schemas.microsoft.com/office/drawing/2014/main" id="{41850435-B04E-F85B-0275-69AF410F9C6A}"/>
              </a:ext>
            </a:extLst>
          </p:cNvPr>
          <p:cNvGrpSpPr/>
          <p:nvPr/>
        </p:nvGrpSpPr>
        <p:grpSpPr>
          <a:xfrm>
            <a:off x="5790313" y="3953335"/>
            <a:ext cx="6087523" cy="2496914"/>
            <a:chOff x="7396273" y="1669623"/>
            <a:chExt cx="4646053" cy="4873417"/>
          </a:xfrm>
        </p:grpSpPr>
        <p:sp>
          <p:nvSpPr>
            <p:cNvPr id="93" name="TextBox 1">
              <a:extLst>
                <a:ext uri="{FF2B5EF4-FFF2-40B4-BE49-F238E27FC236}">
                  <a16:creationId xmlns:a16="http://schemas.microsoft.com/office/drawing/2014/main" id="{B431E04E-B235-B1E2-9335-93E493C8044A}"/>
                </a:ext>
              </a:extLst>
            </p:cNvPr>
            <p:cNvSpPr txBox="1"/>
            <p:nvPr/>
          </p:nvSpPr>
          <p:spPr>
            <a:xfrm>
              <a:off x="7396273" y="2526129"/>
              <a:ext cx="2267906" cy="222072"/>
            </a:xfrm>
            <a:prstGeom prst="rect">
              <a:avLst/>
            </a:prstGeom>
            <a:solidFill>
              <a:schemeClr val="bg1">
                <a:lumMod val="95000"/>
              </a:schemeClr>
            </a:solidFill>
          </p:spPr>
          <p:txBody>
            <a:bodyPr wrap="square" anchor="ctr">
              <a:noAutofit/>
            </a:bodyPr>
            <a:lstStyle/>
            <a:p>
              <a:r>
                <a:rPr lang="en-US" sz="600" noProof="0">
                  <a:latin typeface="Arial" panose="020B0604020202020204" pitchFamily="34" charset="0"/>
                  <a:cs typeface="Arial" panose="020B0604020202020204" pitchFamily="34" charset="0"/>
                </a:rPr>
                <a:t>DPA (Minimum Payment Agreement Plan)-NY</a:t>
              </a:r>
            </a:p>
          </p:txBody>
        </p:sp>
        <p:sp>
          <p:nvSpPr>
            <p:cNvPr id="94" name="TextBox 2">
              <a:extLst>
                <a:ext uri="{FF2B5EF4-FFF2-40B4-BE49-F238E27FC236}">
                  <a16:creationId xmlns:a16="http://schemas.microsoft.com/office/drawing/2014/main" id="{87CD2EAC-6220-E876-C46A-177320769F77}"/>
                </a:ext>
              </a:extLst>
            </p:cNvPr>
            <p:cNvSpPr txBox="1"/>
            <p:nvPr/>
          </p:nvSpPr>
          <p:spPr>
            <a:xfrm>
              <a:off x="7396273" y="5158794"/>
              <a:ext cx="2267906" cy="222072"/>
            </a:xfrm>
            <a:prstGeom prst="rect">
              <a:avLst/>
            </a:prstGeom>
            <a:solidFill>
              <a:schemeClr val="bg1">
                <a:lumMod val="95000"/>
              </a:schemeClr>
            </a:solidFill>
          </p:spPr>
          <p:txBody>
            <a:bodyPr wrap="square" anchor="ctr">
              <a:noAutofit/>
            </a:bodyPr>
            <a:lstStyle/>
            <a:p>
              <a:r>
                <a:rPr lang="en-US" sz="600" noProof="0">
                  <a:latin typeface="Arial" panose="020B0604020202020204" pitchFamily="34" charset="0"/>
                  <a:cs typeface="Arial" panose="020B0604020202020204" pitchFamily="34" charset="0"/>
                </a:rPr>
                <a:t>Testing Center of Excellence (TCOE) SAP Testing Automation-AGR</a:t>
              </a:r>
            </a:p>
          </p:txBody>
        </p:sp>
        <p:sp>
          <p:nvSpPr>
            <p:cNvPr id="95" name="TextBox 3">
              <a:extLst>
                <a:ext uri="{FF2B5EF4-FFF2-40B4-BE49-F238E27FC236}">
                  <a16:creationId xmlns:a16="http://schemas.microsoft.com/office/drawing/2014/main" id="{3A3A96F1-5D5D-7501-40C0-802C5A591361}"/>
                </a:ext>
              </a:extLst>
            </p:cNvPr>
            <p:cNvSpPr txBox="1"/>
            <p:nvPr/>
          </p:nvSpPr>
          <p:spPr>
            <a:xfrm>
              <a:off x="7396273" y="5739882"/>
              <a:ext cx="2267906" cy="222072"/>
            </a:xfrm>
            <a:prstGeom prst="rect">
              <a:avLst/>
            </a:prstGeom>
            <a:solidFill>
              <a:schemeClr val="bg1">
                <a:lumMod val="95000"/>
              </a:schemeClr>
            </a:solidFill>
          </p:spPr>
          <p:txBody>
            <a:bodyPr wrap="square" anchor="ctr">
              <a:noAutofit/>
            </a:bodyPr>
            <a:lstStyle/>
            <a:p>
              <a:r>
                <a:rPr lang="en-US" sz="600" noProof="0">
                  <a:latin typeface="Arial" panose="020B0604020202020204" pitchFamily="34" charset="0"/>
                  <a:cs typeface="Arial" panose="020B0604020202020204" pitchFamily="34" charset="0"/>
                </a:rPr>
                <a:t>Distributed Generation SAP Billing Automations Program-NY</a:t>
              </a:r>
            </a:p>
          </p:txBody>
        </p:sp>
        <p:sp>
          <p:nvSpPr>
            <p:cNvPr id="96" name="TextBox 4">
              <a:extLst>
                <a:ext uri="{FF2B5EF4-FFF2-40B4-BE49-F238E27FC236}">
                  <a16:creationId xmlns:a16="http://schemas.microsoft.com/office/drawing/2014/main" id="{3F9981B1-3516-9CD5-F1E0-A207722633D8}"/>
                </a:ext>
              </a:extLst>
            </p:cNvPr>
            <p:cNvSpPr txBox="1"/>
            <p:nvPr/>
          </p:nvSpPr>
          <p:spPr>
            <a:xfrm>
              <a:off x="7396273" y="3107217"/>
              <a:ext cx="2267906" cy="222072"/>
            </a:xfrm>
            <a:prstGeom prst="rect">
              <a:avLst/>
            </a:prstGeom>
            <a:solidFill>
              <a:schemeClr val="bg1">
                <a:lumMod val="95000"/>
              </a:schemeClr>
            </a:solidFill>
          </p:spPr>
          <p:txBody>
            <a:bodyPr wrap="square" anchor="ctr">
              <a:noAutofit/>
            </a:bodyPr>
            <a:lstStyle/>
            <a:p>
              <a:r>
                <a:rPr lang="en-US" sz="600" noProof="0">
                  <a:latin typeface="Arial" panose="020B0604020202020204" pitchFamily="34" charset="0"/>
                  <a:cs typeface="Arial" panose="020B0604020202020204" pitchFamily="34" charset="0"/>
                </a:rPr>
                <a:t>Statewide Solar For All-NY</a:t>
              </a:r>
            </a:p>
          </p:txBody>
        </p:sp>
        <p:sp>
          <p:nvSpPr>
            <p:cNvPr id="97" name="TextBox 5">
              <a:extLst>
                <a:ext uri="{FF2B5EF4-FFF2-40B4-BE49-F238E27FC236}">
                  <a16:creationId xmlns:a16="http://schemas.microsoft.com/office/drawing/2014/main" id="{15521EE6-A553-24D9-073F-CA104A495C82}"/>
                </a:ext>
              </a:extLst>
            </p:cNvPr>
            <p:cNvSpPr txBox="1"/>
            <p:nvPr/>
          </p:nvSpPr>
          <p:spPr>
            <a:xfrm>
              <a:off x="9774420" y="5999886"/>
              <a:ext cx="2267906" cy="222072"/>
            </a:xfrm>
            <a:prstGeom prst="rect">
              <a:avLst/>
            </a:prstGeom>
            <a:solidFill>
              <a:schemeClr val="bg1">
                <a:lumMod val="95000"/>
              </a:schemeClr>
            </a:solidFill>
          </p:spPr>
          <p:txBody>
            <a:bodyPr wrap="square" anchor="ctr">
              <a:noAutofit/>
            </a:bodyPr>
            <a:lstStyle/>
            <a:p>
              <a:r>
                <a:rPr lang="en-US" sz="600" noProof="0">
                  <a:latin typeface="Arial" panose="020B0604020202020204" pitchFamily="34" charset="0"/>
                  <a:cs typeface="Arial" panose="020B0604020202020204" pitchFamily="34" charset="0"/>
                </a:rPr>
                <a:t>New IVR and Voice Solution-AGR</a:t>
              </a:r>
            </a:p>
          </p:txBody>
        </p:sp>
        <p:sp>
          <p:nvSpPr>
            <p:cNvPr id="98" name="TextBox 6">
              <a:extLst>
                <a:ext uri="{FF2B5EF4-FFF2-40B4-BE49-F238E27FC236}">
                  <a16:creationId xmlns:a16="http://schemas.microsoft.com/office/drawing/2014/main" id="{BE6DC038-72E0-6B62-F627-5AA163FAD084}"/>
                </a:ext>
              </a:extLst>
            </p:cNvPr>
            <p:cNvSpPr txBox="1"/>
            <p:nvPr/>
          </p:nvSpPr>
          <p:spPr>
            <a:xfrm>
              <a:off x="7396273" y="3978849"/>
              <a:ext cx="2267906" cy="222072"/>
            </a:xfrm>
            <a:prstGeom prst="rect">
              <a:avLst/>
            </a:prstGeom>
            <a:solidFill>
              <a:schemeClr val="bg1">
                <a:lumMod val="95000"/>
              </a:schemeClr>
            </a:solidFill>
          </p:spPr>
          <p:txBody>
            <a:bodyPr wrap="square" anchor="ctr">
              <a:noAutofit/>
            </a:bodyPr>
            <a:lstStyle/>
            <a:p>
              <a:r>
                <a:rPr lang="en-US" sz="600" noProof="0">
                  <a:latin typeface="Arial" panose="020B0604020202020204" pitchFamily="34" charset="0"/>
                  <a:cs typeface="Arial" panose="020B0604020202020204" pitchFamily="34" charset="0"/>
                </a:rPr>
                <a:t>High Bill High Usage Redesign-AGR</a:t>
              </a:r>
            </a:p>
          </p:txBody>
        </p:sp>
        <p:sp>
          <p:nvSpPr>
            <p:cNvPr id="99" name="TextBox 7">
              <a:extLst>
                <a:ext uri="{FF2B5EF4-FFF2-40B4-BE49-F238E27FC236}">
                  <a16:creationId xmlns:a16="http://schemas.microsoft.com/office/drawing/2014/main" id="{828A36C2-7167-9BD8-2665-27EC807550E5}"/>
                </a:ext>
              </a:extLst>
            </p:cNvPr>
            <p:cNvSpPr txBox="1"/>
            <p:nvPr/>
          </p:nvSpPr>
          <p:spPr>
            <a:xfrm>
              <a:off x="7396273" y="2816673"/>
              <a:ext cx="2267906" cy="222072"/>
            </a:xfrm>
            <a:prstGeom prst="rect">
              <a:avLst/>
            </a:prstGeom>
            <a:solidFill>
              <a:schemeClr val="bg1">
                <a:lumMod val="95000"/>
              </a:schemeClr>
            </a:solidFill>
          </p:spPr>
          <p:txBody>
            <a:bodyPr wrap="square" anchor="ctr">
              <a:noAutofit/>
            </a:bodyPr>
            <a:lstStyle/>
            <a:p>
              <a:r>
                <a:rPr lang="en-US" sz="600" noProof="0">
                  <a:latin typeface="Arial" panose="020B0604020202020204" pitchFamily="34" charset="0"/>
                  <a:cs typeface="Arial" panose="020B0604020202020204" pitchFamily="34" charset="0"/>
                </a:rPr>
                <a:t>Digital Tech Stack Lifecycle Upgrades-AGR</a:t>
              </a:r>
            </a:p>
          </p:txBody>
        </p:sp>
        <p:sp>
          <p:nvSpPr>
            <p:cNvPr id="100" name="TextBox 8">
              <a:extLst>
                <a:ext uri="{FF2B5EF4-FFF2-40B4-BE49-F238E27FC236}">
                  <a16:creationId xmlns:a16="http://schemas.microsoft.com/office/drawing/2014/main" id="{B340F747-BF4B-005E-2F50-D645A16A2BAE}"/>
                </a:ext>
              </a:extLst>
            </p:cNvPr>
            <p:cNvSpPr txBox="1"/>
            <p:nvPr/>
          </p:nvSpPr>
          <p:spPr>
            <a:xfrm>
              <a:off x="7396273" y="4269393"/>
              <a:ext cx="2267906" cy="222072"/>
            </a:xfrm>
            <a:prstGeom prst="rect">
              <a:avLst/>
            </a:prstGeom>
            <a:solidFill>
              <a:schemeClr val="bg1">
                <a:lumMod val="95000"/>
              </a:schemeClr>
            </a:solidFill>
          </p:spPr>
          <p:txBody>
            <a:bodyPr wrap="square" anchor="ctr">
              <a:noAutofit/>
            </a:bodyPr>
            <a:lstStyle/>
            <a:p>
              <a:r>
                <a:rPr lang="en-US" sz="600" noProof="0">
                  <a:latin typeface="Arial" panose="020B0604020202020204" pitchFamily="34" charset="0"/>
                  <a:cs typeface="Arial" panose="020B0604020202020204" pitchFamily="34" charset="0"/>
                </a:rPr>
                <a:t>Energy Manager Enhancements-AGR</a:t>
              </a:r>
            </a:p>
          </p:txBody>
        </p:sp>
        <p:sp>
          <p:nvSpPr>
            <p:cNvPr id="101" name="TextBox 9">
              <a:extLst>
                <a:ext uri="{FF2B5EF4-FFF2-40B4-BE49-F238E27FC236}">
                  <a16:creationId xmlns:a16="http://schemas.microsoft.com/office/drawing/2014/main" id="{93DF2165-6A7C-3165-BC34-17C01407D710}"/>
                </a:ext>
              </a:extLst>
            </p:cNvPr>
            <p:cNvSpPr txBox="1"/>
            <p:nvPr/>
          </p:nvSpPr>
          <p:spPr>
            <a:xfrm>
              <a:off x="7396273" y="4868250"/>
              <a:ext cx="2267906" cy="222072"/>
            </a:xfrm>
            <a:prstGeom prst="rect">
              <a:avLst/>
            </a:prstGeom>
            <a:solidFill>
              <a:schemeClr val="bg1">
                <a:lumMod val="95000"/>
              </a:schemeClr>
            </a:solidFill>
          </p:spPr>
          <p:txBody>
            <a:bodyPr wrap="square" anchor="ctr">
              <a:noAutofit/>
            </a:bodyPr>
            <a:lstStyle/>
            <a:p>
              <a:r>
                <a:rPr lang="en-US" sz="600" noProof="0">
                  <a:latin typeface="Arial" panose="020B0604020202020204" pitchFamily="34" charset="0"/>
                  <a:cs typeface="Arial" panose="020B0604020202020204" pitchFamily="34" charset="0"/>
                </a:rPr>
                <a:t>Customer Service Generative AI-AGR</a:t>
              </a:r>
            </a:p>
          </p:txBody>
        </p:sp>
        <p:sp>
          <p:nvSpPr>
            <p:cNvPr id="102" name="TextBox 10">
              <a:extLst>
                <a:ext uri="{FF2B5EF4-FFF2-40B4-BE49-F238E27FC236}">
                  <a16:creationId xmlns:a16="http://schemas.microsoft.com/office/drawing/2014/main" id="{44EB0EBD-029A-1D1C-1193-1F8B241A72B8}"/>
                </a:ext>
              </a:extLst>
            </p:cNvPr>
            <p:cNvSpPr txBox="1"/>
            <p:nvPr/>
          </p:nvSpPr>
          <p:spPr>
            <a:xfrm>
              <a:off x="9774420" y="5709342"/>
              <a:ext cx="2267906" cy="222072"/>
            </a:xfrm>
            <a:prstGeom prst="rect">
              <a:avLst/>
            </a:prstGeom>
            <a:solidFill>
              <a:schemeClr val="bg1">
                <a:lumMod val="95000"/>
              </a:schemeClr>
            </a:solidFill>
          </p:spPr>
          <p:txBody>
            <a:bodyPr wrap="square" anchor="ctr">
              <a:noAutofit/>
            </a:bodyPr>
            <a:lstStyle/>
            <a:p>
              <a:r>
                <a:rPr lang="en-US" sz="600" noProof="0">
                  <a:latin typeface="Arial" panose="020B0604020202020204" pitchFamily="34" charset="0"/>
                  <a:cs typeface="Arial" panose="020B0604020202020204" pitchFamily="34" charset="0"/>
                </a:rPr>
                <a:t>CS Improvements-NY</a:t>
              </a:r>
            </a:p>
          </p:txBody>
        </p:sp>
        <p:sp>
          <p:nvSpPr>
            <p:cNvPr id="103" name="TextBox 11">
              <a:extLst>
                <a:ext uri="{FF2B5EF4-FFF2-40B4-BE49-F238E27FC236}">
                  <a16:creationId xmlns:a16="http://schemas.microsoft.com/office/drawing/2014/main" id="{B3BAA83F-F920-8A6F-5C7A-AD63F057641D}"/>
                </a:ext>
              </a:extLst>
            </p:cNvPr>
            <p:cNvSpPr txBox="1"/>
            <p:nvPr/>
          </p:nvSpPr>
          <p:spPr>
            <a:xfrm>
              <a:off x="7396273" y="6030426"/>
              <a:ext cx="2267906" cy="222072"/>
            </a:xfrm>
            <a:prstGeom prst="rect">
              <a:avLst/>
            </a:prstGeom>
            <a:solidFill>
              <a:schemeClr val="bg1">
                <a:lumMod val="95000"/>
              </a:schemeClr>
            </a:solidFill>
          </p:spPr>
          <p:txBody>
            <a:bodyPr wrap="square" anchor="ctr">
              <a:noAutofit/>
            </a:bodyPr>
            <a:lstStyle/>
            <a:p>
              <a:r>
                <a:rPr lang="en-US" sz="600" noProof="0">
                  <a:latin typeface="Arial" panose="020B0604020202020204" pitchFamily="34" charset="0"/>
                  <a:cs typeface="Arial" panose="020B0604020202020204" pitchFamily="34" charset="0"/>
                </a:rPr>
                <a:t>RPA IPA Customer Service-AGR</a:t>
              </a:r>
            </a:p>
          </p:txBody>
        </p:sp>
        <p:sp>
          <p:nvSpPr>
            <p:cNvPr id="104" name="TextBox 12">
              <a:extLst>
                <a:ext uri="{FF2B5EF4-FFF2-40B4-BE49-F238E27FC236}">
                  <a16:creationId xmlns:a16="http://schemas.microsoft.com/office/drawing/2014/main" id="{3457D9B2-4C09-6549-1DD0-1D9A539B3B90}"/>
                </a:ext>
              </a:extLst>
            </p:cNvPr>
            <p:cNvSpPr txBox="1"/>
            <p:nvPr/>
          </p:nvSpPr>
          <p:spPr>
            <a:xfrm>
              <a:off x="9774420" y="4837710"/>
              <a:ext cx="2267906" cy="222072"/>
            </a:xfrm>
            <a:prstGeom prst="rect">
              <a:avLst/>
            </a:prstGeom>
            <a:solidFill>
              <a:schemeClr val="bg1">
                <a:lumMod val="95000"/>
              </a:schemeClr>
            </a:solidFill>
          </p:spPr>
          <p:txBody>
            <a:bodyPr wrap="square" anchor="ctr">
              <a:noAutofit/>
            </a:bodyPr>
            <a:lstStyle/>
            <a:p>
              <a:r>
                <a:rPr lang="en-US" sz="600" noProof="0">
                  <a:latin typeface="Arial" panose="020B0604020202020204" pitchFamily="34" charset="0"/>
                  <a:cs typeface="Arial" panose="020B0604020202020204" pitchFamily="34" charset="0"/>
                </a:rPr>
                <a:t>Mobile Redesign-AGR</a:t>
              </a:r>
            </a:p>
          </p:txBody>
        </p:sp>
        <p:sp>
          <p:nvSpPr>
            <p:cNvPr id="105" name="TextBox 13">
              <a:extLst>
                <a:ext uri="{FF2B5EF4-FFF2-40B4-BE49-F238E27FC236}">
                  <a16:creationId xmlns:a16="http://schemas.microsoft.com/office/drawing/2014/main" id="{81652C81-CE1A-B27B-737E-4982ABBD636E}"/>
                </a:ext>
              </a:extLst>
            </p:cNvPr>
            <p:cNvSpPr txBox="1"/>
            <p:nvPr/>
          </p:nvSpPr>
          <p:spPr>
            <a:xfrm>
              <a:off x="9774420" y="6290429"/>
              <a:ext cx="2267906" cy="222072"/>
            </a:xfrm>
            <a:prstGeom prst="rect">
              <a:avLst/>
            </a:prstGeom>
            <a:solidFill>
              <a:schemeClr val="bg1">
                <a:lumMod val="95000"/>
              </a:schemeClr>
            </a:solidFill>
          </p:spPr>
          <p:txBody>
            <a:bodyPr wrap="square" anchor="ctr">
              <a:noAutofit/>
            </a:bodyPr>
            <a:lstStyle/>
            <a:p>
              <a:r>
                <a:rPr lang="en-US" sz="600" noProof="0">
                  <a:latin typeface="Arial" panose="020B0604020202020204" pitchFamily="34" charset="0"/>
                  <a:cs typeface="Arial" panose="020B0604020202020204" pitchFamily="34" charset="0"/>
                </a:rPr>
                <a:t>Hardship Communications Track-UIL</a:t>
              </a:r>
            </a:p>
          </p:txBody>
        </p:sp>
        <p:sp>
          <p:nvSpPr>
            <p:cNvPr id="106" name="TextBox 14">
              <a:extLst>
                <a:ext uri="{FF2B5EF4-FFF2-40B4-BE49-F238E27FC236}">
                  <a16:creationId xmlns:a16="http://schemas.microsoft.com/office/drawing/2014/main" id="{A765C8FC-619B-4622-CF1E-B53961B92EB1}"/>
                </a:ext>
              </a:extLst>
            </p:cNvPr>
            <p:cNvSpPr txBox="1"/>
            <p:nvPr/>
          </p:nvSpPr>
          <p:spPr>
            <a:xfrm>
              <a:off x="7396273" y="1960167"/>
              <a:ext cx="2267906" cy="222072"/>
            </a:xfrm>
            <a:prstGeom prst="rect">
              <a:avLst/>
            </a:prstGeom>
            <a:solidFill>
              <a:schemeClr val="bg1">
                <a:lumMod val="95000"/>
              </a:schemeClr>
            </a:solidFill>
          </p:spPr>
          <p:txBody>
            <a:bodyPr wrap="square" anchor="ctr">
              <a:noAutofit/>
            </a:bodyPr>
            <a:lstStyle/>
            <a:p>
              <a:r>
                <a:rPr lang="en-US" sz="600" noProof="0">
                  <a:latin typeface="Arial" panose="020B0604020202020204" pitchFamily="34" charset="0"/>
                  <a:cs typeface="Arial" panose="020B0604020202020204" pitchFamily="34" charset="0"/>
                </a:rPr>
                <a:t>S4 HANA Implementation-AGR</a:t>
              </a:r>
            </a:p>
          </p:txBody>
        </p:sp>
        <p:sp>
          <p:nvSpPr>
            <p:cNvPr id="107" name="TextBox 17">
              <a:extLst>
                <a:ext uri="{FF2B5EF4-FFF2-40B4-BE49-F238E27FC236}">
                  <a16:creationId xmlns:a16="http://schemas.microsoft.com/office/drawing/2014/main" id="{81171E55-3BE5-D21F-505C-E80059335222}"/>
                </a:ext>
              </a:extLst>
            </p:cNvPr>
            <p:cNvSpPr txBox="1"/>
            <p:nvPr/>
          </p:nvSpPr>
          <p:spPr>
            <a:xfrm>
              <a:off x="7396273" y="3397761"/>
              <a:ext cx="2267906" cy="222072"/>
            </a:xfrm>
            <a:prstGeom prst="rect">
              <a:avLst/>
            </a:prstGeom>
            <a:solidFill>
              <a:schemeClr val="bg1">
                <a:lumMod val="95000"/>
              </a:schemeClr>
            </a:solidFill>
          </p:spPr>
          <p:txBody>
            <a:bodyPr wrap="square" anchor="ctr">
              <a:noAutofit/>
            </a:bodyPr>
            <a:lstStyle/>
            <a:p>
              <a:r>
                <a:rPr lang="en-US" sz="600" noProof="0">
                  <a:latin typeface="Arial" panose="020B0604020202020204" pitchFamily="34" charset="0"/>
                  <a:cs typeface="Arial" panose="020B0604020202020204" pitchFamily="34" charset="0"/>
                </a:rPr>
                <a:t>Quality Management System-AGR</a:t>
              </a:r>
            </a:p>
          </p:txBody>
        </p:sp>
        <p:sp>
          <p:nvSpPr>
            <p:cNvPr id="108" name="TextBox 19">
              <a:extLst>
                <a:ext uri="{FF2B5EF4-FFF2-40B4-BE49-F238E27FC236}">
                  <a16:creationId xmlns:a16="http://schemas.microsoft.com/office/drawing/2014/main" id="{B21D3D2E-7618-2807-986C-8F7E0593DFBB}"/>
                </a:ext>
              </a:extLst>
            </p:cNvPr>
            <p:cNvSpPr txBox="1"/>
            <p:nvPr/>
          </p:nvSpPr>
          <p:spPr>
            <a:xfrm>
              <a:off x="7396273" y="3688305"/>
              <a:ext cx="2267906" cy="222072"/>
            </a:xfrm>
            <a:prstGeom prst="rect">
              <a:avLst/>
            </a:prstGeom>
            <a:solidFill>
              <a:schemeClr val="bg1">
                <a:lumMod val="95000"/>
              </a:schemeClr>
            </a:solidFill>
          </p:spPr>
          <p:txBody>
            <a:bodyPr wrap="square" anchor="ctr">
              <a:noAutofit/>
            </a:bodyPr>
            <a:lstStyle/>
            <a:p>
              <a:r>
                <a:rPr lang="en-US" sz="600" noProof="0">
                  <a:latin typeface="Arial" panose="020B0604020202020204" pitchFamily="34" charset="0"/>
                  <a:cs typeface="Arial" panose="020B0604020202020204" pitchFamily="34" charset="0"/>
                </a:rPr>
                <a:t>MV90-NY</a:t>
              </a:r>
            </a:p>
          </p:txBody>
        </p:sp>
        <p:sp>
          <p:nvSpPr>
            <p:cNvPr id="109" name="TextBox 20">
              <a:extLst>
                <a:ext uri="{FF2B5EF4-FFF2-40B4-BE49-F238E27FC236}">
                  <a16:creationId xmlns:a16="http://schemas.microsoft.com/office/drawing/2014/main" id="{2A5C158E-895D-BE33-1B9B-63B99B163397}"/>
                </a:ext>
              </a:extLst>
            </p:cNvPr>
            <p:cNvSpPr txBox="1"/>
            <p:nvPr/>
          </p:nvSpPr>
          <p:spPr>
            <a:xfrm>
              <a:off x="7396273" y="5449338"/>
              <a:ext cx="2267906" cy="222072"/>
            </a:xfrm>
            <a:prstGeom prst="rect">
              <a:avLst/>
            </a:prstGeom>
            <a:solidFill>
              <a:schemeClr val="bg1">
                <a:lumMod val="95000"/>
              </a:schemeClr>
            </a:solidFill>
          </p:spPr>
          <p:txBody>
            <a:bodyPr wrap="square" anchor="ctr">
              <a:noAutofit/>
            </a:bodyPr>
            <a:lstStyle/>
            <a:p>
              <a:r>
                <a:rPr lang="en-US" sz="600" noProof="0">
                  <a:latin typeface="Arial" panose="020B0604020202020204" pitchFamily="34" charset="0"/>
                  <a:cs typeface="Arial" panose="020B0604020202020204" pitchFamily="34" charset="0"/>
                </a:rPr>
                <a:t>AI, Intelligent Automation and Analytics for Contact Centers and Billing Exceptions</a:t>
              </a:r>
            </a:p>
          </p:txBody>
        </p:sp>
        <p:sp>
          <p:nvSpPr>
            <p:cNvPr id="110" name="TextBox 22">
              <a:extLst>
                <a:ext uri="{FF2B5EF4-FFF2-40B4-BE49-F238E27FC236}">
                  <a16:creationId xmlns:a16="http://schemas.microsoft.com/office/drawing/2014/main" id="{58C1AC0E-7F42-C61A-07BE-F737F07150FC}"/>
                </a:ext>
              </a:extLst>
            </p:cNvPr>
            <p:cNvSpPr txBox="1"/>
            <p:nvPr/>
          </p:nvSpPr>
          <p:spPr>
            <a:xfrm>
              <a:off x="9774420" y="5418798"/>
              <a:ext cx="2267906" cy="222072"/>
            </a:xfrm>
            <a:prstGeom prst="rect">
              <a:avLst/>
            </a:prstGeom>
            <a:solidFill>
              <a:schemeClr val="bg1">
                <a:lumMod val="95000"/>
              </a:schemeClr>
            </a:solidFill>
          </p:spPr>
          <p:txBody>
            <a:bodyPr wrap="square" anchor="ctr">
              <a:noAutofit/>
            </a:bodyPr>
            <a:lstStyle/>
            <a:p>
              <a:r>
                <a:rPr lang="en-US" sz="600" noProof="0">
                  <a:latin typeface="Arial" panose="020B0604020202020204" pitchFamily="34" charset="0"/>
                  <a:cs typeface="Arial" panose="020B0604020202020204" pitchFamily="34" charset="0"/>
                </a:rPr>
                <a:t>Customer Journey Enhancements Wave 3-AGR</a:t>
              </a:r>
            </a:p>
          </p:txBody>
        </p:sp>
        <p:sp>
          <p:nvSpPr>
            <p:cNvPr id="111" name="TextBox 23">
              <a:extLst>
                <a:ext uri="{FF2B5EF4-FFF2-40B4-BE49-F238E27FC236}">
                  <a16:creationId xmlns:a16="http://schemas.microsoft.com/office/drawing/2014/main" id="{61F94380-831B-97D4-2359-0D1ABCF87008}"/>
                </a:ext>
              </a:extLst>
            </p:cNvPr>
            <p:cNvSpPr txBox="1"/>
            <p:nvPr/>
          </p:nvSpPr>
          <p:spPr>
            <a:xfrm>
              <a:off x="9774420" y="5128254"/>
              <a:ext cx="2267906" cy="222072"/>
            </a:xfrm>
            <a:prstGeom prst="rect">
              <a:avLst/>
            </a:prstGeom>
            <a:solidFill>
              <a:schemeClr val="bg1">
                <a:lumMod val="95000"/>
              </a:schemeClr>
            </a:solidFill>
          </p:spPr>
          <p:txBody>
            <a:bodyPr wrap="square" anchor="ctr">
              <a:noAutofit/>
            </a:bodyPr>
            <a:lstStyle/>
            <a:p>
              <a:r>
                <a:rPr lang="en-US" sz="600" noProof="0">
                  <a:latin typeface="Arial" panose="020B0604020202020204" pitchFamily="34" charset="0"/>
                  <a:cs typeface="Arial" panose="020B0604020202020204" pitchFamily="34" charset="0"/>
                </a:rPr>
                <a:t>Digital Communications-AGR</a:t>
              </a:r>
            </a:p>
          </p:txBody>
        </p:sp>
        <p:sp>
          <p:nvSpPr>
            <p:cNvPr id="112" name="TextBox 25">
              <a:extLst>
                <a:ext uri="{FF2B5EF4-FFF2-40B4-BE49-F238E27FC236}">
                  <a16:creationId xmlns:a16="http://schemas.microsoft.com/office/drawing/2014/main" id="{5F370FD4-67D0-A0C9-5D30-E5FB41AA51DB}"/>
                </a:ext>
              </a:extLst>
            </p:cNvPr>
            <p:cNvSpPr txBox="1"/>
            <p:nvPr/>
          </p:nvSpPr>
          <p:spPr>
            <a:xfrm>
              <a:off x="7396273" y="6320968"/>
              <a:ext cx="2267906" cy="222072"/>
            </a:xfrm>
            <a:prstGeom prst="rect">
              <a:avLst/>
            </a:prstGeom>
            <a:solidFill>
              <a:schemeClr val="bg1">
                <a:lumMod val="95000"/>
              </a:schemeClr>
            </a:solidFill>
          </p:spPr>
          <p:txBody>
            <a:bodyPr wrap="square" anchor="ctr">
              <a:noAutofit/>
            </a:bodyPr>
            <a:lstStyle/>
            <a:p>
              <a:r>
                <a:rPr lang="en-US" sz="600" noProof="0">
                  <a:latin typeface="Arial" panose="020B0604020202020204" pitchFamily="34" charset="0"/>
                  <a:cs typeface="Arial" panose="020B0604020202020204" pitchFamily="34" charset="0"/>
                </a:rPr>
                <a:t>Digital Customer 360 Analytics-AGR</a:t>
              </a:r>
            </a:p>
          </p:txBody>
        </p:sp>
        <p:sp>
          <p:nvSpPr>
            <p:cNvPr id="113" name="TextBox 1">
              <a:extLst>
                <a:ext uri="{FF2B5EF4-FFF2-40B4-BE49-F238E27FC236}">
                  <a16:creationId xmlns:a16="http://schemas.microsoft.com/office/drawing/2014/main" id="{5AC35175-3072-55B1-095C-BE7319CD74C0}"/>
                </a:ext>
              </a:extLst>
            </p:cNvPr>
            <p:cNvSpPr txBox="1"/>
            <p:nvPr/>
          </p:nvSpPr>
          <p:spPr>
            <a:xfrm>
              <a:off x="9774420" y="4547166"/>
              <a:ext cx="2267906" cy="222072"/>
            </a:xfrm>
            <a:prstGeom prst="rect">
              <a:avLst/>
            </a:prstGeom>
            <a:solidFill>
              <a:srgbClr val="00B050"/>
            </a:solidFill>
          </p:spPr>
          <p:txBody>
            <a:bodyPr wrap="square" anchor="ctr">
              <a:noAutofit/>
            </a:bodyPr>
            <a:lstStyle/>
            <a:p>
              <a:pPr algn="ctr"/>
              <a:r>
                <a:rPr lang="en-US" sz="800" b="1" noProof="0">
                  <a:solidFill>
                    <a:schemeClr val="bg1"/>
                  </a:solidFill>
                  <a:latin typeface="Arial" panose="020B0604020202020204" pitchFamily="34" charset="0"/>
                  <a:cs typeface="Arial" panose="020B0604020202020204" pitchFamily="34" charset="0"/>
                </a:rPr>
                <a:t>DIGITAL CUSTOMER</a:t>
              </a:r>
            </a:p>
          </p:txBody>
        </p:sp>
        <p:sp>
          <p:nvSpPr>
            <p:cNvPr id="114" name="TextBox 1">
              <a:extLst>
                <a:ext uri="{FF2B5EF4-FFF2-40B4-BE49-F238E27FC236}">
                  <a16:creationId xmlns:a16="http://schemas.microsoft.com/office/drawing/2014/main" id="{73375B18-0781-945B-9E2B-D80B8D045203}"/>
                </a:ext>
              </a:extLst>
            </p:cNvPr>
            <p:cNvSpPr txBox="1"/>
            <p:nvPr/>
          </p:nvSpPr>
          <p:spPr>
            <a:xfrm>
              <a:off x="7396273" y="4577706"/>
              <a:ext cx="2267906" cy="222072"/>
            </a:xfrm>
            <a:prstGeom prst="rect">
              <a:avLst/>
            </a:prstGeom>
            <a:solidFill>
              <a:srgbClr val="00B050"/>
            </a:solidFill>
          </p:spPr>
          <p:txBody>
            <a:bodyPr wrap="square" anchor="ctr">
              <a:noAutofit/>
            </a:bodyPr>
            <a:lstStyle/>
            <a:p>
              <a:pPr algn="ctr"/>
              <a:r>
                <a:rPr lang="en-US" sz="800" b="1" noProof="0">
                  <a:solidFill>
                    <a:schemeClr val="bg1"/>
                  </a:solidFill>
                  <a:latin typeface="Arial" panose="020B0604020202020204" pitchFamily="34" charset="0"/>
                  <a:cs typeface="Arial" panose="020B0604020202020204" pitchFamily="34" charset="0"/>
                </a:rPr>
                <a:t>AUTOMATION, ANALYTICS &amp; GEN AI</a:t>
              </a:r>
            </a:p>
          </p:txBody>
        </p:sp>
        <p:sp>
          <p:nvSpPr>
            <p:cNvPr id="115" name="TextBox 1">
              <a:extLst>
                <a:ext uri="{FF2B5EF4-FFF2-40B4-BE49-F238E27FC236}">
                  <a16:creationId xmlns:a16="http://schemas.microsoft.com/office/drawing/2014/main" id="{181B5A15-5938-BD1D-A19C-A8F637950F19}"/>
                </a:ext>
              </a:extLst>
            </p:cNvPr>
            <p:cNvSpPr txBox="1"/>
            <p:nvPr/>
          </p:nvSpPr>
          <p:spPr>
            <a:xfrm>
              <a:off x="7396273" y="1669623"/>
              <a:ext cx="2267906" cy="222072"/>
            </a:xfrm>
            <a:prstGeom prst="rect">
              <a:avLst/>
            </a:prstGeom>
            <a:solidFill>
              <a:srgbClr val="00B050"/>
            </a:solidFill>
          </p:spPr>
          <p:txBody>
            <a:bodyPr wrap="square" anchor="ctr">
              <a:noAutofit/>
            </a:bodyPr>
            <a:lstStyle/>
            <a:p>
              <a:pPr algn="ctr"/>
              <a:r>
                <a:rPr lang="en-US" sz="800" b="1" noProof="0">
                  <a:solidFill>
                    <a:schemeClr val="bg1"/>
                  </a:solidFill>
                  <a:latin typeface="Arial" panose="020B0604020202020204" pitchFamily="34" charset="0"/>
                  <a:cs typeface="Arial" panose="020B0604020202020204" pitchFamily="34" charset="0"/>
                </a:rPr>
                <a:t>ENABLE THE BUSINESS / OTHERS</a:t>
              </a:r>
            </a:p>
          </p:txBody>
        </p:sp>
        <p:sp>
          <p:nvSpPr>
            <p:cNvPr id="116" name="CuadroTexto 115">
              <a:extLst>
                <a:ext uri="{FF2B5EF4-FFF2-40B4-BE49-F238E27FC236}">
                  <a16:creationId xmlns:a16="http://schemas.microsoft.com/office/drawing/2014/main" id="{DC20A57C-EA32-EB7B-DC52-6D691C8F5F46}"/>
                </a:ext>
              </a:extLst>
            </p:cNvPr>
            <p:cNvSpPr txBox="1"/>
            <p:nvPr/>
          </p:nvSpPr>
          <p:spPr>
            <a:xfrm>
              <a:off x="9772306" y="3112663"/>
              <a:ext cx="2266681" cy="223510"/>
            </a:xfrm>
            <a:prstGeom prst="rect">
              <a:avLst/>
            </a:prstGeom>
            <a:solidFill>
              <a:schemeClr val="bg1">
                <a:lumMod val="75000"/>
              </a:schemeClr>
            </a:solidFill>
          </p:spPr>
          <p:txBody>
            <a:bodyPr wrap="square" anchor="ctr">
              <a:noAutofit/>
            </a:bodyPr>
            <a:lstStyle>
              <a:defPPr>
                <a:defRPr lang="en-US"/>
              </a:defPPr>
              <a:lvl1pPr>
                <a:defRPr sz="700">
                  <a:latin typeface="Arial" panose="020B0604020202020204" pitchFamily="34" charset="0"/>
                  <a:cs typeface="Arial" panose="020B0604020202020204" pitchFamily="34" charset="0"/>
                </a:defRPr>
              </a:lvl1pPr>
            </a:lstStyle>
            <a:p>
              <a:r>
                <a:rPr lang="en-US" sz="600" noProof="0"/>
                <a:t>New Scheduler Project</a:t>
              </a:r>
            </a:p>
          </p:txBody>
        </p:sp>
        <p:sp>
          <p:nvSpPr>
            <p:cNvPr id="117" name="CuadroTexto 116">
              <a:extLst>
                <a:ext uri="{FF2B5EF4-FFF2-40B4-BE49-F238E27FC236}">
                  <a16:creationId xmlns:a16="http://schemas.microsoft.com/office/drawing/2014/main" id="{6BEDEE64-8D9B-861E-BD3F-001BCAB3FB62}"/>
                </a:ext>
              </a:extLst>
            </p:cNvPr>
            <p:cNvSpPr txBox="1"/>
            <p:nvPr/>
          </p:nvSpPr>
          <p:spPr>
            <a:xfrm>
              <a:off x="7396885" y="2242582"/>
              <a:ext cx="2266681" cy="223510"/>
            </a:xfrm>
            <a:prstGeom prst="rect">
              <a:avLst/>
            </a:prstGeom>
            <a:solidFill>
              <a:schemeClr val="bg1">
                <a:lumMod val="75000"/>
              </a:schemeClr>
            </a:solidFill>
          </p:spPr>
          <p:txBody>
            <a:bodyPr wrap="square" anchor="ctr">
              <a:noAutofit/>
            </a:bodyPr>
            <a:lstStyle>
              <a:defPPr>
                <a:defRPr lang="en-US"/>
              </a:defPPr>
              <a:lvl1pPr>
                <a:defRPr sz="700">
                  <a:latin typeface="Arial" panose="020B0604020202020204" pitchFamily="34" charset="0"/>
                  <a:cs typeface="Arial" panose="020B0604020202020204" pitchFamily="34" charset="0"/>
                </a:defRPr>
              </a:lvl1pPr>
            </a:lstStyle>
            <a:p>
              <a:r>
                <a:rPr lang="en-US" sz="600" noProof="0"/>
                <a:t>Global S/4Hana </a:t>
              </a:r>
            </a:p>
          </p:txBody>
        </p:sp>
        <p:sp>
          <p:nvSpPr>
            <p:cNvPr id="118" name="CuadroTexto 117">
              <a:extLst>
                <a:ext uri="{FF2B5EF4-FFF2-40B4-BE49-F238E27FC236}">
                  <a16:creationId xmlns:a16="http://schemas.microsoft.com/office/drawing/2014/main" id="{470C6774-9890-F3AC-C2B0-A74952EC4AD2}"/>
                </a:ext>
              </a:extLst>
            </p:cNvPr>
            <p:cNvSpPr txBox="1"/>
            <p:nvPr/>
          </p:nvSpPr>
          <p:spPr>
            <a:xfrm>
              <a:off x="9772306" y="2534296"/>
              <a:ext cx="2266681" cy="223510"/>
            </a:xfrm>
            <a:prstGeom prst="rect">
              <a:avLst/>
            </a:prstGeom>
            <a:solidFill>
              <a:schemeClr val="bg1">
                <a:lumMod val="75000"/>
              </a:schemeClr>
            </a:solidFill>
          </p:spPr>
          <p:txBody>
            <a:bodyPr wrap="square" anchor="ctr">
              <a:noAutofit/>
            </a:bodyPr>
            <a:lstStyle>
              <a:defPPr>
                <a:defRPr lang="en-US"/>
              </a:defPPr>
              <a:lvl1pPr>
                <a:defRPr sz="700">
                  <a:latin typeface="Arial" panose="020B0604020202020204" pitchFamily="34" charset="0"/>
                  <a:cs typeface="Arial" panose="020B0604020202020204" pitchFamily="34" charset="0"/>
                </a:defRPr>
              </a:lvl1pPr>
            </a:lstStyle>
            <a:p>
              <a:r>
                <a:rPr lang="en-US" sz="600" noProof="0"/>
                <a:t>Supply Chain Digitization </a:t>
              </a:r>
            </a:p>
          </p:txBody>
        </p:sp>
        <p:sp>
          <p:nvSpPr>
            <p:cNvPr id="119" name="CuadroTexto 118">
              <a:extLst>
                <a:ext uri="{FF2B5EF4-FFF2-40B4-BE49-F238E27FC236}">
                  <a16:creationId xmlns:a16="http://schemas.microsoft.com/office/drawing/2014/main" id="{AAD0F889-747C-5958-F1B9-2421C0D779DF}"/>
                </a:ext>
              </a:extLst>
            </p:cNvPr>
            <p:cNvSpPr txBox="1"/>
            <p:nvPr/>
          </p:nvSpPr>
          <p:spPr>
            <a:xfrm>
              <a:off x="9772306" y="3401846"/>
              <a:ext cx="2266681" cy="223510"/>
            </a:xfrm>
            <a:prstGeom prst="rect">
              <a:avLst/>
            </a:prstGeom>
            <a:solidFill>
              <a:schemeClr val="bg1">
                <a:lumMod val="75000"/>
              </a:schemeClr>
            </a:solidFill>
          </p:spPr>
          <p:txBody>
            <a:bodyPr wrap="square" anchor="ctr">
              <a:noAutofit/>
            </a:bodyPr>
            <a:lstStyle>
              <a:defPPr>
                <a:defRPr lang="en-US"/>
              </a:defPPr>
              <a:lvl1pPr>
                <a:defRPr sz="700">
                  <a:latin typeface="Arial" panose="020B0604020202020204" pitchFamily="34" charset="0"/>
                  <a:cs typeface="Arial" panose="020B0604020202020204" pitchFamily="34" charset="0"/>
                </a:defRPr>
              </a:lvl1pPr>
            </a:lstStyle>
            <a:p>
              <a:r>
                <a:rPr lang="en-US" sz="600" noProof="0"/>
                <a:t>MV90 Upgrade UIL </a:t>
              </a:r>
            </a:p>
          </p:txBody>
        </p:sp>
        <p:sp>
          <p:nvSpPr>
            <p:cNvPr id="120" name="CuadroTexto 119">
              <a:extLst>
                <a:ext uri="{FF2B5EF4-FFF2-40B4-BE49-F238E27FC236}">
                  <a16:creationId xmlns:a16="http://schemas.microsoft.com/office/drawing/2014/main" id="{8AE2E7B2-EDB9-DCF1-846F-AE81C5B82F05}"/>
                </a:ext>
              </a:extLst>
            </p:cNvPr>
            <p:cNvSpPr txBox="1"/>
            <p:nvPr/>
          </p:nvSpPr>
          <p:spPr>
            <a:xfrm>
              <a:off x="9772306" y="3691030"/>
              <a:ext cx="2266681" cy="223510"/>
            </a:xfrm>
            <a:prstGeom prst="rect">
              <a:avLst/>
            </a:prstGeom>
            <a:solidFill>
              <a:schemeClr val="bg1">
                <a:lumMod val="75000"/>
              </a:schemeClr>
            </a:solidFill>
          </p:spPr>
          <p:txBody>
            <a:bodyPr wrap="square" anchor="ctr">
              <a:noAutofit/>
            </a:bodyPr>
            <a:lstStyle>
              <a:defPPr>
                <a:defRPr lang="en-US"/>
              </a:defPPr>
              <a:lvl1pPr>
                <a:defRPr sz="700">
                  <a:latin typeface="Arial" panose="020B0604020202020204" pitchFamily="34" charset="0"/>
                  <a:cs typeface="Arial" panose="020B0604020202020204" pitchFamily="34" charset="0"/>
                </a:defRPr>
              </a:lvl1pPr>
            </a:lstStyle>
            <a:p>
              <a:r>
                <a:rPr lang="en-US" sz="600" noProof="0"/>
                <a:t>Networks Lifecycle Apps </a:t>
              </a:r>
            </a:p>
          </p:txBody>
        </p:sp>
        <p:sp>
          <p:nvSpPr>
            <p:cNvPr id="121" name="CuadroTexto 120">
              <a:extLst>
                <a:ext uri="{FF2B5EF4-FFF2-40B4-BE49-F238E27FC236}">
                  <a16:creationId xmlns:a16="http://schemas.microsoft.com/office/drawing/2014/main" id="{CE6D6BE1-2501-FB80-A146-65BE27068FAA}"/>
                </a:ext>
              </a:extLst>
            </p:cNvPr>
            <p:cNvSpPr txBox="1"/>
            <p:nvPr/>
          </p:nvSpPr>
          <p:spPr>
            <a:xfrm>
              <a:off x="9772306" y="3980213"/>
              <a:ext cx="2266681" cy="223510"/>
            </a:xfrm>
            <a:prstGeom prst="rect">
              <a:avLst/>
            </a:prstGeom>
            <a:solidFill>
              <a:schemeClr val="bg1">
                <a:lumMod val="75000"/>
              </a:schemeClr>
            </a:solidFill>
          </p:spPr>
          <p:txBody>
            <a:bodyPr wrap="square" anchor="ctr">
              <a:noAutofit/>
            </a:bodyPr>
            <a:lstStyle>
              <a:defPPr>
                <a:defRPr lang="en-US"/>
              </a:defPPr>
              <a:lvl1pPr>
                <a:defRPr sz="700">
                  <a:latin typeface="Arial" panose="020B0604020202020204" pitchFamily="34" charset="0"/>
                  <a:cs typeface="Arial" panose="020B0604020202020204" pitchFamily="34" charset="0"/>
                </a:defRPr>
              </a:lvl1pPr>
            </a:lstStyle>
            <a:p>
              <a:r>
                <a:rPr lang="en-US" sz="600" noProof="0"/>
                <a:t>Networks Mobility Program Digitalization </a:t>
              </a:r>
            </a:p>
          </p:txBody>
        </p:sp>
        <p:sp>
          <p:nvSpPr>
            <p:cNvPr id="122" name="CuadroTexto 121">
              <a:extLst>
                <a:ext uri="{FF2B5EF4-FFF2-40B4-BE49-F238E27FC236}">
                  <a16:creationId xmlns:a16="http://schemas.microsoft.com/office/drawing/2014/main" id="{748AC570-C14E-6D34-FE49-6EBB9525FFB6}"/>
                </a:ext>
              </a:extLst>
            </p:cNvPr>
            <p:cNvSpPr txBox="1"/>
            <p:nvPr/>
          </p:nvSpPr>
          <p:spPr>
            <a:xfrm>
              <a:off x="9772306" y="4269393"/>
              <a:ext cx="2266681" cy="223510"/>
            </a:xfrm>
            <a:prstGeom prst="rect">
              <a:avLst/>
            </a:prstGeom>
            <a:solidFill>
              <a:schemeClr val="bg1">
                <a:lumMod val="75000"/>
              </a:schemeClr>
            </a:solidFill>
          </p:spPr>
          <p:txBody>
            <a:bodyPr wrap="square" anchor="ctr">
              <a:noAutofit/>
            </a:bodyPr>
            <a:lstStyle>
              <a:defPPr>
                <a:defRPr lang="en-US"/>
              </a:defPPr>
              <a:lvl1pPr>
                <a:defRPr sz="700">
                  <a:latin typeface="Arial" panose="020B0604020202020204" pitchFamily="34" charset="0"/>
                  <a:cs typeface="Arial" panose="020B0604020202020204" pitchFamily="34" charset="0"/>
                </a:defRPr>
              </a:lvl1pPr>
            </a:lstStyle>
            <a:p>
              <a:r>
                <a:rPr lang="en-US" sz="600" noProof="0"/>
                <a:t>ESRI UN Deployment</a:t>
              </a:r>
            </a:p>
          </p:txBody>
        </p:sp>
        <p:sp>
          <p:nvSpPr>
            <p:cNvPr id="123" name="CuadroTexto 122">
              <a:extLst>
                <a:ext uri="{FF2B5EF4-FFF2-40B4-BE49-F238E27FC236}">
                  <a16:creationId xmlns:a16="http://schemas.microsoft.com/office/drawing/2014/main" id="{ABC7B8CE-BAD5-FC6D-41E1-5BEB8C925899}"/>
                </a:ext>
              </a:extLst>
            </p:cNvPr>
            <p:cNvSpPr txBox="1"/>
            <p:nvPr/>
          </p:nvSpPr>
          <p:spPr>
            <a:xfrm>
              <a:off x="9772306" y="2823480"/>
              <a:ext cx="2266681" cy="223510"/>
            </a:xfrm>
            <a:prstGeom prst="rect">
              <a:avLst/>
            </a:prstGeom>
            <a:solidFill>
              <a:schemeClr val="bg1">
                <a:lumMod val="75000"/>
              </a:schemeClr>
            </a:solidFill>
          </p:spPr>
          <p:txBody>
            <a:bodyPr wrap="square" anchor="ctr">
              <a:noAutofit/>
            </a:bodyPr>
            <a:lstStyle>
              <a:defPPr>
                <a:defRPr lang="en-US"/>
              </a:defPPr>
              <a:lvl1pPr>
                <a:defRPr sz="700">
                  <a:latin typeface="Arial" panose="020B0604020202020204" pitchFamily="34" charset="0"/>
                  <a:cs typeface="Arial" panose="020B0604020202020204" pitchFamily="34" charset="0"/>
                </a:defRPr>
              </a:lvl1pPr>
            </a:lstStyle>
            <a:p>
              <a:r>
                <a:rPr lang="en-US" sz="600" noProof="0"/>
                <a:t>OpenText Cloud ECM and Rate Case Advisor </a:t>
              </a:r>
            </a:p>
          </p:txBody>
        </p:sp>
        <p:sp>
          <p:nvSpPr>
            <p:cNvPr id="124" name="CuadroTexto 123">
              <a:extLst>
                <a:ext uri="{FF2B5EF4-FFF2-40B4-BE49-F238E27FC236}">
                  <a16:creationId xmlns:a16="http://schemas.microsoft.com/office/drawing/2014/main" id="{A68A960B-7DFD-BB45-1660-ABD66866B5C6}"/>
                </a:ext>
              </a:extLst>
            </p:cNvPr>
            <p:cNvSpPr txBox="1"/>
            <p:nvPr/>
          </p:nvSpPr>
          <p:spPr>
            <a:xfrm>
              <a:off x="9772306" y="1957368"/>
              <a:ext cx="2266681" cy="223510"/>
            </a:xfrm>
            <a:prstGeom prst="rect">
              <a:avLst/>
            </a:prstGeom>
            <a:solidFill>
              <a:schemeClr val="bg1">
                <a:lumMod val="75000"/>
              </a:schemeClr>
            </a:solidFill>
          </p:spPr>
          <p:txBody>
            <a:bodyPr wrap="square" anchor="ctr">
              <a:noAutofit/>
            </a:bodyPr>
            <a:lstStyle>
              <a:defPPr>
                <a:defRPr lang="en-US"/>
              </a:defPPr>
              <a:lvl1pPr>
                <a:defRPr sz="700">
                  <a:latin typeface="Arial" panose="020B0604020202020204" pitchFamily="34" charset="0"/>
                  <a:cs typeface="Arial" panose="020B0604020202020204" pitchFamily="34" charset="0"/>
                </a:defRPr>
              </a:lvl1pPr>
            </a:lstStyle>
            <a:p>
              <a:r>
                <a:rPr lang="en-US" sz="600" noProof="0"/>
                <a:t>On-prem SharePoint migration to O365​</a:t>
              </a:r>
            </a:p>
          </p:txBody>
        </p:sp>
        <p:sp>
          <p:nvSpPr>
            <p:cNvPr id="125" name="TextBox 1">
              <a:extLst>
                <a:ext uri="{FF2B5EF4-FFF2-40B4-BE49-F238E27FC236}">
                  <a16:creationId xmlns:a16="http://schemas.microsoft.com/office/drawing/2014/main" id="{1E376A05-8BEE-C328-F43A-9739FFB428F3}"/>
                </a:ext>
              </a:extLst>
            </p:cNvPr>
            <p:cNvSpPr txBox="1"/>
            <p:nvPr/>
          </p:nvSpPr>
          <p:spPr>
            <a:xfrm>
              <a:off x="9771694" y="1669623"/>
              <a:ext cx="2267906" cy="222072"/>
            </a:xfrm>
            <a:prstGeom prst="rect">
              <a:avLst/>
            </a:prstGeom>
            <a:solidFill>
              <a:srgbClr val="00B050"/>
            </a:solidFill>
          </p:spPr>
          <p:txBody>
            <a:bodyPr wrap="square" anchor="ctr">
              <a:noAutofit/>
            </a:bodyPr>
            <a:lstStyle/>
            <a:p>
              <a:pPr algn="ctr"/>
              <a:r>
                <a:rPr lang="en-US" sz="800" b="1" noProof="0">
                  <a:solidFill>
                    <a:schemeClr val="bg1"/>
                  </a:solidFill>
                  <a:latin typeface="Arial" panose="020B0604020202020204" pitchFamily="34" charset="0"/>
                  <a:cs typeface="Arial" panose="020B0604020202020204" pitchFamily="34" charset="0"/>
                </a:rPr>
                <a:t>SUPPORT</a:t>
              </a:r>
            </a:p>
          </p:txBody>
        </p:sp>
        <p:sp>
          <p:nvSpPr>
            <p:cNvPr id="126" name="TextBox 1">
              <a:extLst>
                <a:ext uri="{FF2B5EF4-FFF2-40B4-BE49-F238E27FC236}">
                  <a16:creationId xmlns:a16="http://schemas.microsoft.com/office/drawing/2014/main" id="{6C3C7258-08F5-777E-CA50-18311ECED5F7}"/>
                </a:ext>
              </a:extLst>
            </p:cNvPr>
            <p:cNvSpPr txBox="1"/>
            <p:nvPr/>
          </p:nvSpPr>
          <p:spPr>
            <a:xfrm>
              <a:off x="9771694" y="2246551"/>
              <a:ext cx="2267906" cy="222072"/>
            </a:xfrm>
            <a:prstGeom prst="rect">
              <a:avLst/>
            </a:prstGeom>
            <a:solidFill>
              <a:srgbClr val="00B050"/>
            </a:solidFill>
          </p:spPr>
          <p:txBody>
            <a:bodyPr wrap="square" anchor="ctr">
              <a:noAutofit/>
            </a:bodyPr>
            <a:lstStyle/>
            <a:p>
              <a:pPr algn="ctr"/>
              <a:r>
                <a:rPr lang="en-US" sz="800" b="1" noProof="0">
                  <a:solidFill>
                    <a:schemeClr val="bg1"/>
                  </a:solidFill>
                  <a:latin typeface="Arial" panose="020B0604020202020204" pitchFamily="34" charset="0"/>
                  <a:cs typeface="Arial" panose="020B0604020202020204" pitchFamily="34" charset="0"/>
                </a:rPr>
                <a:t>SUPPLY CHAIN &amp; NETWORKS</a:t>
              </a:r>
            </a:p>
          </p:txBody>
        </p:sp>
      </p:grpSp>
      <p:sp>
        <p:nvSpPr>
          <p:cNvPr id="130" name="TextBox 5">
            <a:extLst>
              <a:ext uri="{FF2B5EF4-FFF2-40B4-BE49-F238E27FC236}">
                <a16:creationId xmlns:a16="http://schemas.microsoft.com/office/drawing/2014/main" id="{D81327BF-195F-F513-597D-76ADC40B9E65}"/>
              </a:ext>
            </a:extLst>
          </p:cNvPr>
          <p:cNvSpPr txBox="1"/>
          <p:nvPr/>
        </p:nvSpPr>
        <p:spPr>
          <a:xfrm>
            <a:off x="457200" y="777240"/>
            <a:ext cx="11247120" cy="406265"/>
          </a:xfrm>
          <a:prstGeom prst="rect">
            <a:avLst/>
          </a:prstGeom>
          <a:noFill/>
        </p:spPr>
        <p:txBody>
          <a:bodyPr wrap="square" lIns="45720" tIns="18288" rIns="45720" bIns="18288" anchor="t">
            <a:spAutoFit/>
          </a:bodyPr>
          <a:lstStyle/>
          <a:p>
            <a:pPr algn="l"/>
            <a:r>
              <a:rPr lang="en-US" sz="1200" b="1" noProof="0">
                <a:solidFill>
                  <a:schemeClr val="accent4">
                    <a:lumMod val="75000"/>
                  </a:schemeClr>
                </a:solidFill>
                <a:latin typeface="Arial" panose="020B0604020202020204" pitchFamily="34" charset="0"/>
                <a:cs typeface="Arial" panose="020B0604020202020204" pitchFamily="34" charset="0"/>
              </a:rPr>
              <a:t>We have developed an initial portfolio classification across demand types and sizes to provide directional </a:t>
            </a:r>
            <a:r>
              <a:rPr lang="en-US" sz="1200" b="1" noProof="0" err="1">
                <a:solidFill>
                  <a:schemeClr val="accent4">
                    <a:lumMod val="75000"/>
                  </a:schemeClr>
                </a:solidFill>
                <a:latin typeface="Arial" panose="020B0604020202020204" pitchFamily="34" charset="0"/>
                <a:cs typeface="Arial" panose="020B0604020202020204" pitchFamily="34" charset="0"/>
              </a:rPr>
              <a:t>visibility.However</a:t>
            </a:r>
            <a:r>
              <a:rPr lang="en-US" sz="1200" b="1" noProof="0">
                <a:solidFill>
                  <a:schemeClr val="accent4">
                    <a:lumMod val="75000"/>
                  </a:schemeClr>
                </a:solidFill>
                <a:latin typeface="Arial" panose="020B0604020202020204" pitchFamily="34" charset="0"/>
                <a:cs typeface="Arial" panose="020B0604020202020204" pitchFamily="34" charset="0"/>
              </a:rPr>
              <a:t>, this view is not exhaustive, as it is based on limited and fragmented data currently available.</a:t>
            </a:r>
          </a:p>
        </p:txBody>
      </p:sp>
    </p:spTree>
    <p:extLst>
      <p:ext uri="{BB962C8B-B14F-4D97-AF65-F5344CB8AC3E}">
        <p14:creationId xmlns:p14="http://schemas.microsoft.com/office/powerpoint/2010/main" val="7355985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B498E-2692-09E2-7942-C7300823E081}"/>
            </a:ext>
          </a:extLst>
        </p:cNvPr>
        <p:cNvGrpSpPr/>
        <p:nvPr/>
      </p:nvGrpSpPr>
      <p:grpSpPr>
        <a:xfrm>
          <a:off x="0" y="0"/>
          <a:ext cx="0" cy="0"/>
          <a:chOff x="0" y="0"/>
          <a:chExt cx="0" cy="0"/>
        </a:xfrm>
      </p:grpSpPr>
      <p:grpSp>
        <p:nvGrpSpPr>
          <p:cNvPr id="30" name="Group 29">
            <a:extLst>
              <a:ext uri="{FF2B5EF4-FFF2-40B4-BE49-F238E27FC236}">
                <a16:creationId xmlns:a16="http://schemas.microsoft.com/office/drawing/2014/main" id="{4294D609-405E-C7F0-0798-FAFD8B972B5E}"/>
              </a:ext>
            </a:extLst>
          </p:cNvPr>
          <p:cNvGrpSpPr/>
          <p:nvPr/>
        </p:nvGrpSpPr>
        <p:grpSpPr>
          <a:xfrm>
            <a:off x="4133725" y="358821"/>
            <a:ext cx="520273" cy="520273"/>
            <a:chOff x="3199239" y="747211"/>
            <a:chExt cx="520273" cy="520273"/>
          </a:xfrm>
        </p:grpSpPr>
        <p:sp>
          <p:nvSpPr>
            <p:cNvPr id="4" name="Freeform 4">
              <a:extLst>
                <a:ext uri="{FF2B5EF4-FFF2-40B4-BE49-F238E27FC236}">
                  <a16:creationId xmlns:a16="http://schemas.microsoft.com/office/drawing/2014/main" id="{50CFEB63-60E1-FF9A-F28C-B07EFA8DE109}"/>
                </a:ext>
              </a:extLst>
            </p:cNvPr>
            <p:cNvSpPr/>
            <p:nvPr/>
          </p:nvSpPr>
          <p:spPr>
            <a:xfrm>
              <a:off x="3199239" y="747211"/>
              <a:ext cx="520273" cy="520273"/>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66675" cap="sq">
              <a:solidFill>
                <a:schemeClr val="accent1"/>
              </a:solidFill>
              <a:prstDash val="solid"/>
              <a:miter/>
            </a:ln>
          </p:spPr>
          <p:txBody>
            <a:bodyPr/>
            <a:lstStyle/>
            <a:p>
              <a:endParaRPr lang="en-US" sz="900" noProof="0">
                <a:solidFill>
                  <a:srgbClr val="000000"/>
                </a:solidFill>
                <a:latin typeface="Arial" panose="020B0604020202020204" pitchFamily="34" charset="0"/>
                <a:cs typeface="Arial" panose="020B0604020202020204" pitchFamily="34" charset="0"/>
              </a:endParaRPr>
            </a:p>
          </p:txBody>
        </p:sp>
        <p:sp>
          <p:nvSpPr>
            <p:cNvPr id="6" name="AutoShape 6">
              <a:extLst>
                <a:ext uri="{FF2B5EF4-FFF2-40B4-BE49-F238E27FC236}">
                  <a16:creationId xmlns:a16="http://schemas.microsoft.com/office/drawing/2014/main" id="{560B4732-2C85-B006-EF2C-068A4E0F1B55}"/>
                </a:ext>
              </a:extLst>
            </p:cNvPr>
            <p:cNvSpPr/>
            <p:nvPr/>
          </p:nvSpPr>
          <p:spPr>
            <a:xfrm>
              <a:off x="3288741" y="1007348"/>
              <a:ext cx="341269" cy="0"/>
            </a:xfrm>
            <a:prstGeom prst="line">
              <a:avLst/>
            </a:prstGeom>
            <a:ln w="73569" cap="flat">
              <a:solidFill>
                <a:schemeClr val="accent1"/>
              </a:solidFill>
              <a:prstDash val="solid"/>
              <a:headEnd type="none" w="sm" len="sm"/>
              <a:tailEnd type="arrow" w="med" len="sm"/>
            </a:ln>
          </p:spPr>
          <p:txBody>
            <a:bodyPr/>
            <a:lstStyle/>
            <a:p>
              <a:endParaRPr lang="en-US" sz="900" noProof="0">
                <a:solidFill>
                  <a:srgbClr val="000000"/>
                </a:solidFill>
                <a:latin typeface="Arial" panose="020B0604020202020204" pitchFamily="34" charset="0"/>
                <a:cs typeface="Arial" panose="020B0604020202020204" pitchFamily="34" charset="0"/>
              </a:endParaRPr>
            </a:p>
          </p:txBody>
        </p:sp>
      </p:grpSp>
      <p:sp>
        <p:nvSpPr>
          <p:cNvPr id="10" name="TextBox 10">
            <a:extLst>
              <a:ext uri="{FF2B5EF4-FFF2-40B4-BE49-F238E27FC236}">
                <a16:creationId xmlns:a16="http://schemas.microsoft.com/office/drawing/2014/main" id="{DEA8C7CE-1E39-DEDD-6F79-2E4D2386455D}"/>
              </a:ext>
            </a:extLst>
          </p:cNvPr>
          <p:cNvSpPr txBox="1"/>
          <p:nvPr/>
        </p:nvSpPr>
        <p:spPr>
          <a:xfrm>
            <a:off x="1077073" y="1141030"/>
            <a:ext cx="462060" cy="512448"/>
          </a:xfrm>
          <a:prstGeom prst="rect">
            <a:avLst/>
          </a:prstGeom>
        </p:spPr>
        <p:txBody>
          <a:bodyPr wrap="square" lIns="0" tIns="0" rIns="0" bIns="0" rtlCol="0" anchor="t">
            <a:spAutoFit/>
          </a:bodyPr>
          <a:lstStyle/>
          <a:p>
            <a:pPr>
              <a:lnSpc>
                <a:spcPts val="4608"/>
              </a:lnSpc>
            </a:pPr>
            <a:r>
              <a:rPr lang="en-US" sz="2400" b="1" noProof="0">
                <a:solidFill>
                  <a:schemeClr val="accent1"/>
                </a:solidFill>
                <a:latin typeface="Arial" panose="020B0604020202020204" pitchFamily="34" charset="0"/>
                <a:ea typeface="Gordita Bold"/>
                <a:cs typeface="Arial" panose="020B0604020202020204" pitchFamily="34" charset="0"/>
                <a:sym typeface="Gordita Bold"/>
              </a:rPr>
              <a:t>01</a:t>
            </a:r>
          </a:p>
        </p:txBody>
      </p:sp>
      <p:sp>
        <p:nvSpPr>
          <p:cNvPr id="14" name="TextBox 14">
            <a:extLst>
              <a:ext uri="{FF2B5EF4-FFF2-40B4-BE49-F238E27FC236}">
                <a16:creationId xmlns:a16="http://schemas.microsoft.com/office/drawing/2014/main" id="{35F50E69-ECFF-EB66-EB91-EA8169E53437}"/>
              </a:ext>
            </a:extLst>
          </p:cNvPr>
          <p:cNvSpPr txBox="1"/>
          <p:nvPr/>
        </p:nvSpPr>
        <p:spPr>
          <a:xfrm>
            <a:off x="1063128" y="2827839"/>
            <a:ext cx="537158"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03</a:t>
            </a:r>
          </a:p>
        </p:txBody>
      </p:sp>
      <p:grpSp>
        <p:nvGrpSpPr>
          <p:cNvPr id="23" name="Grupo 22">
            <a:extLst>
              <a:ext uri="{FF2B5EF4-FFF2-40B4-BE49-F238E27FC236}">
                <a16:creationId xmlns:a16="http://schemas.microsoft.com/office/drawing/2014/main" id="{9EEEC3CE-AFB1-E04F-E54A-0562FEAC6B40}"/>
              </a:ext>
            </a:extLst>
          </p:cNvPr>
          <p:cNvGrpSpPr/>
          <p:nvPr/>
        </p:nvGrpSpPr>
        <p:grpSpPr>
          <a:xfrm>
            <a:off x="1854199" y="2802178"/>
            <a:ext cx="9571333" cy="824754"/>
            <a:chOff x="1816102" y="2594699"/>
            <a:chExt cx="9571333" cy="824754"/>
          </a:xfrm>
        </p:grpSpPr>
        <p:sp>
          <p:nvSpPr>
            <p:cNvPr id="15" name="TextBox 15">
              <a:extLst>
                <a:ext uri="{FF2B5EF4-FFF2-40B4-BE49-F238E27FC236}">
                  <a16:creationId xmlns:a16="http://schemas.microsoft.com/office/drawing/2014/main" id="{12C98765-86C2-AA72-E8FA-391BA1BAB135}"/>
                </a:ext>
              </a:extLst>
            </p:cNvPr>
            <p:cNvSpPr txBox="1"/>
            <p:nvPr/>
          </p:nvSpPr>
          <p:spPr>
            <a:xfrm>
              <a:off x="1816102" y="2594699"/>
              <a:ext cx="9571333"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Methodology</a:t>
              </a:r>
            </a:p>
          </p:txBody>
        </p:sp>
        <p:sp>
          <p:nvSpPr>
            <p:cNvPr id="16" name="TextBox 16">
              <a:extLst>
                <a:ext uri="{FF2B5EF4-FFF2-40B4-BE49-F238E27FC236}">
                  <a16:creationId xmlns:a16="http://schemas.microsoft.com/office/drawing/2014/main" id="{F64086FE-F8FE-FCBA-2E13-3C4D1247E4D3}"/>
                </a:ext>
              </a:extLst>
            </p:cNvPr>
            <p:cNvSpPr txBox="1"/>
            <p:nvPr/>
          </p:nvSpPr>
          <p:spPr>
            <a:xfrm>
              <a:off x="1816102" y="2983372"/>
              <a:ext cx="7868967" cy="436081"/>
            </a:xfrm>
            <a:prstGeom prst="rect">
              <a:avLst/>
            </a:prstGeom>
          </p:spPr>
          <p:txBody>
            <a:bodyPr wrap="square" lIns="0" tIns="0" rIns="0" bIns="0" rtlCol="0" anchor="t">
              <a:spAutoFit/>
            </a:bodyPr>
            <a:lstStyle/>
            <a:p>
              <a:pPr>
                <a:lnSpc>
                  <a:spcPts val="1820"/>
                </a:lnSpc>
              </a:pPr>
              <a:r>
                <a:rPr lang="en-US" sz="1200" noProof="0">
                  <a:solidFill>
                    <a:srgbClr val="000000"/>
                  </a:solidFill>
                  <a:latin typeface="Arial" panose="020B0604020202020204" pitchFamily="34" charset="0"/>
                  <a:ea typeface="Gordita"/>
                  <a:cs typeface="Arial" panose="020B0604020202020204" pitchFamily="34" charset="0"/>
                  <a:sym typeface="Gordita"/>
                </a:rPr>
                <a:t>A structured approach that defines the phases, activities, and deliverables required to consistently and efficiently achieve project objectives</a:t>
              </a:r>
            </a:p>
          </p:txBody>
        </p:sp>
      </p:grpSp>
      <p:sp>
        <p:nvSpPr>
          <p:cNvPr id="18" name="TextBox 18">
            <a:extLst>
              <a:ext uri="{FF2B5EF4-FFF2-40B4-BE49-F238E27FC236}">
                <a16:creationId xmlns:a16="http://schemas.microsoft.com/office/drawing/2014/main" id="{3AF91900-4839-34CD-BD11-AFEA2C16A3B3}"/>
              </a:ext>
            </a:extLst>
          </p:cNvPr>
          <p:cNvSpPr txBox="1"/>
          <p:nvPr/>
        </p:nvSpPr>
        <p:spPr>
          <a:xfrm>
            <a:off x="1063128" y="3699805"/>
            <a:ext cx="525169"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04</a:t>
            </a:r>
          </a:p>
        </p:txBody>
      </p:sp>
      <p:sp>
        <p:nvSpPr>
          <p:cNvPr id="20" name="TextBox 20">
            <a:extLst>
              <a:ext uri="{FF2B5EF4-FFF2-40B4-BE49-F238E27FC236}">
                <a16:creationId xmlns:a16="http://schemas.microsoft.com/office/drawing/2014/main" id="{ED8F3D49-9F0F-A95A-9B95-D488EC8E9D6A}"/>
              </a:ext>
            </a:extLst>
          </p:cNvPr>
          <p:cNvSpPr txBox="1"/>
          <p:nvPr/>
        </p:nvSpPr>
        <p:spPr>
          <a:xfrm>
            <a:off x="1854197" y="4994789"/>
            <a:ext cx="7482132" cy="205249"/>
          </a:xfrm>
          <a:prstGeom prst="rect">
            <a:avLst/>
          </a:prstGeom>
        </p:spPr>
        <p:txBody>
          <a:bodyPr wrap="square" lIns="0" tIns="0" rIns="0" bIns="0" rtlCol="0" anchor="t">
            <a:spAutoFit/>
          </a:bodyPr>
          <a:lstStyle/>
          <a:p>
            <a:pPr>
              <a:lnSpc>
                <a:spcPts val="1820"/>
              </a:lnSpc>
            </a:pPr>
            <a:endParaRPr lang="en-US" sz="1100" noProof="0">
              <a:solidFill>
                <a:srgbClr val="000000"/>
              </a:solidFill>
              <a:latin typeface="Arial" panose="020B0604020202020204" pitchFamily="34" charset="0"/>
              <a:ea typeface="Gordita"/>
              <a:cs typeface="Arial" panose="020B0604020202020204" pitchFamily="34" charset="0"/>
              <a:sym typeface="Gordita"/>
            </a:endParaRPr>
          </a:p>
        </p:txBody>
      </p:sp>
      <p:sp>
        <p:nvSpPr>
          <p:cNvPr id="22" name="TextBox 22">
            <a:extLst>
              <a:ext uri="{FF2B5EF4-FFF2-40B4-BE49-F238E27FC236}">
                <a16:creationId xmlns:a16="http://schemas.microsoft.com/office/drawing/2014/main" id="{2EC0E33F-3721-C057-0898-78A46316069A}"/>
              </a:ext>
            </a:extLst>
          </p:cNvPr>
          <p:cNvSpPr txBox="1"/>
          <p:nvPr/>
        </p:nvSpPr>
        <p:spPr>
          <a:xfrm>
            <a:off x="1063128" y="4600799"/>
            <a:ext cx="487952"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05</a:t>
            </a:r>
          </a:p>
        </p:txBody>
      </p:sp>
      <p:grpSp>
        <p:nvGrpSpPr>
          <p:cNvPr id="26" name="Grupo 25">
            <a:extLst>
              <a:ext uri="{FF2B5EF4-FFF2-40B4-BE49-F238E27FC236}">
                <a16:creationId xmlns:a16="http://schemas.microsoft.com/office/drawing/2014/main" id="{F68CF2F5-49E7-6D32-F6C9-B1BF8F6886D5}"/>
              </a:ext>
            </a:extLst>
          </p:cNvPr>
          <p:cNvGrpSpPr/>
          <p:nvPr/>
        </p:nvGrpSpPr>
        <p:grpSpPr>
          <a:xfrm>
            <a:off x="1847402" y="3676508"/>
            <a:ext cx="9571333" cy="596872"/>
            <a:chOff x="1809305" y="3510392"/>
            <a:chExt cx="9571333" cy="596872"/>
          </a:xfrm>
        </p:grpSpPr>
        <p:sp>
          <p:nvSpPr>
            <p:cNvPr id="13" name="TextBox 15">
              <a:extLst>
                <a:ext uri="{FF2B5EF4-FFF2-40B4-BE49-F238E27FC236}">
                  <a16:creationId xmlns:a16="http://schemas.microsoft.com/office/drawing/2014/main" id="{6B45119F-7F36-0A0C-FCBC-AAE9188CEE8A}"/>
                </a:ext>
              </a:extLst>
            </p:cNvPr>
            <p:cNvSpPr txBox="1"/>
            <p:nvPr/>
          </p:nvSpPr>
          <p:spPr>
            <a:xfrm>
              <a:off x="1809305" y="3510392"/>
              <a:ext cx="9571333"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Current State Analysis</a:t>
              </a:r>
            </a:p>
          </p:txBody>
        </p:sp>
        <p:sp>
          <p:nvSpPr>
            <p:cNvPr id="17" name="TextBox 16">
              <a:extLst>
                <a:ext uri="{FF2B5EF4-FFF2-40B4-BE49-F238E27FC236}">
                  <a16:creationId xmlns:a16="http://schemas.microsoft.com/office/drawing/2014/main" id="{280B3715-DF86-18E3-D365-1A9F05C6DAF4}"/>
                </a:ext>
              </a:extLst>
            </p:cNvPr>
            <p:cNvSpPr txBox="1"/>
            <p:nvPr/>
          </p:nvSpPr>
          <p:spPr>
            <a:xfrm>
              <a:off x="1809305" y="3899065"/>
              <a:ext cx="7868967" cy="208199"/>
            </a:xfrm>
            <a:prstGeom prst="rect">
              <a:avLst/>
            </a:prstGeom>
          </p:spPr>
          <p:txBody>
            <a:bodyPr wrap="square" lIns="0" tIns="0" rIns="0" bIns="0" rtlCol="0" anchor="t">
              <a:spAutoFit/>
            </a:bodyPr>
            <a:lstStyle>
              <a:defPPr>
                <a:defRPr lang="en-US"/>
              </a:defPPr>
              <a:lvl1pPr>
                <a:lnSpc>
                  <a:spcPts val="1820"/>
                </a:lnSpc>
                <a:defRPr sz="1400">
                  <a:solidFill>
                    <a:srgbClr val="000000"/>
                  </a:solidFill>
                  <a:ea typeface="Gordita"/>
                  <a:cs typeface="Gordita"/>
                </a:defRPr>
              </a:lvl1pPr>
            </a:lstStyle>
            <a:p>
              <a:r>
                <a:rPr lang="en-US" sz="1200" noProof="0">
                  <a:latin typeface="Arial" panose="020B0604020202020204" pitchFamily="34" charset="0"/>
                  <a:cs typeface="Arial" panose="020B0604020202020204" pitchFamily="34" charset="0"/>
                </a:rPr>
                <a:t>Includes explanations for Roles and Responsibilities, Value stream Mapping, tools  and Governance Mapping</a:t>
              </a:r>
              <a:endParaRPr lang="en-US" sz="1200" noProof="0">
                <a:latin typeface="Arial" panose="020B0604020202020204" pitchFamily="34" charset="0"/>
                <a:cs typeface="Arial" panose="020B0604020202020204" pitchFamily="34" charset="0"/>
                <a:sym typeface="Gordita"/>
              </a:endParaRPr>
            </a:p>
          </p:txBody>
        </p:sp>
      </p:grpSp>
      <p:grpSp>
        <p:nvGrpSpPr>
          <p:cNvPr id="21" name="Grupo 20">
            <a:extLst>
              <a:ext uri="{FF2B5EF4-FFF2-40B4-BE49-F238E27FC236}">
                <a16:creationId xmlns:a16="http://schemas.microsoft.com/office/drawing/2014/main" id="{266A29AD-737A-6724-2BDF-BEA1562679B5}"/>
              </a:ext>
            </a:extLst>
          </p:cNvPr>
          <p:cNvGrpSpPr/>
          <p:nvPr/>
        </p:nvGrpSpPr>
        <p:grpSpPr>
          <a:xfrm>
            <a:off x="1861346" y="1170058"/>
            <a:ext cx="9578128" cy="554333"/>
            <a:chOff x="1809304" y="1852249"/>
            <a:chExt cx="9578128" cy="554333"/>
          </a:xfrm>
        </p:grpSpPr>
        <p:sp>
          <p:nvSpPr>
            <p:cNvPr id="11" name="TextBox 11">
              <a:extLst>
                <a:ext uri="{FF2B5EF4-FFF2-40B4-BE49-F238E27FC236}">
                  <a16:creationId xmlns:a16="http://schemas.microsoft.com/office/drawing/2014/main" id="{242CBCEA-43CA-96EC-79D3-8577E38CAC1E}"/>
                </a:ext>
              </a:extLst>
            </p:cNvPr>
            <p:cNvSpPr txBox="1"/>
            <p:nvPr/>
          </p:nvSpPr>
          <p:spPr>
            <a:xfrm>
              <a:off x="1816100" y="1852249"/>
              <a:ext cx="9571332"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cs typeface="Arial" panose="020B0604020202020204" pitchFamily="34" charset="0"/>
                </a:rPr>
                <a:t>Context</a:t>
              </a:r>
              <a:endParaRPr lang="en-US" sz="2000" noProof="0">
                <a:solidFill>
                  <a:srgbClr val="000000"/>
                </a:solidFill>
                <a:latin typeface="Arial" panose="020B0604020202020204" pitchFamily="34" charset="0"/>
                <a:ea typeface="Gordita"/>
                <a:cs typeface="Arial" panose="020B0604020202020204" pitchFamily="34" charset="0"/>
                <a:sym typeface="Gordita"/>
              </a:endParaRPr>
            </a:p>
          </p:txBody>
        </p:sp>
        <p:sp>
          <p:nvSpPr>
            <p:cNvPr id="24" name="TextBox 16">
              <a:extLst>
                <a:ext uri="{FF2B5EF4-FFF2-40B4-BE49-F238E27FC236}">
                  <a16:creationId xmlns:a16="http://schemas.microsoft.com/office/drawing/2014/main" id="{0BCB227E-AAE2-E6D3-1282-7F4A6396E3ED}"/>
                </a:ext>
              </a:extLst>
            </p:cNvPr>
            <p:cNvSpPr txBox="1"/>
            <p:nvPr/>
          </p:nvSpPr>
          <p:spPr>
            <a:xfrm>
              <a:off x="1809304" y="2198383"/>
              <a:ext cx="7868967" cy="208199"/>
            </a:xfrm>
            <a:prstGeom prst="rect">
              <a:avLst/>
            </a:prstGeom>
          </p:spPr>
          <p:txBody>
            <a:bodyPr wrap="square" lIns="0" tIns="0" rIns="0" bIns="0" rtlCol="0" anchor="t">
              <a:spAutoFit/>
            </a:bodyPr>
            <a:lstStyle/>
            <a:p>
              <a:pPr>
                <a:lnSpc>
                  <a:spcPts val="1820"/>
                </a:lnSpc>
              </a:pPr>
              <a:r>
                <a:rPr lang="en-US" sz="1200" noProof="0">
                  <a:solidFill>
                    <a:srgbClr val="000000"/>
                  </a:solidFill>
                  <a:latin typeface="Arial" panose="020B0604020202020204" pitchFamily="34" charset="0"/>
                  <a:cs typeface="Arial" panose="020B0604020202020204" pitchFamily="34" charset="0"/>
                </a:rPr>
                <a:t>Document summary</a:t>
              </a:r>
              <a:endParaRPr lang="en-US" sz="1200" noProof="0">
                <a:solidFill>
                  <a:srgbClr val="000000"/>
                </a:solidFill>
                <a:latin typeface="Arial" panose="020B0604020202020204" pitchFamily="34" charset="0"/>
                <a:ea typeface="Gordita"/>
                <a:cs typeface="Arial" panose="020B0604020202020204" pitchFamily="34" charset="0"/>
                <a:sym typeface="Gordita"/>
              </a:endParaRPr>
            </a:p>
          </p:txBody>
        </p:sp>
      </p:grpSp>
      <p:grpSp>
        <p:nvGrpSpPr>
          <p:cNvPr id="31" name="Grupo 30">
            <a:extLst>
              <a:ext uri="{FF2B5EF4-FFF2-40B4-BE49-F238E27FC236}">
                <a16:creationId xmlns:a16="http://schemas.microsoft.com/office/drawing/2014/main" id="{4BAE8D05-A673-3461-4C72-1DB4AFD63F4A}"/>
              </a:ext>
            </a:extLst>
          </p:cNvPr>
          <p:cNvGrpSpPr/>
          <p:nvPr/>
        </p:nvGrpSpPr>
        <p:grpSpPr>
          <a:xfrm>
            <a:off x="1847401" y="4582202"/>
            <a:ext cx="9571332" cy="602794"/>
            <a:chOff x="1809305" y="5419675"/>
            <a:chExt cx="9571332" cy="602794"/>
          </a:xfrm>
        </p:grpSpPr>
        <p:sp>
          <p:nvSpPr>
            <p:cNvPr id="9" name="TextBox 19">
              <a:extLst>
                <a:ext uri="{FF2B5EF4-FFF2-40B4-BE49-F238E27FC236}">
                  <a16:creationId xmlns:a16="http://schemas.microsoft.com/office/drawing/2014/main" id="{87A5B399-B332-8FD3-C0BA-A5FF59841346}"/>
                </a:ext>
              </a:extLst>
            </p:cNvPr>
            <p:cNvSpPr txBox="1"/>
            <p:nvPr/>
          </p:nvSpPr>
          <p:spPr>
            <a:xfrm>
              <a:off x="1809305" y="5419675"/>
              <a:ext cx="9571332"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Project Portfolio Landscape</a:t>
              </a:r>
            </a:p>
          </p:txBody>
        </p:sp>
        <p:sp>
          <p:nvSpPr>
            <p:cNvPr id="27" name="TextBox 16">
              <a:extLst>
                <a:ext uri="{FF2B5EF4-FFF2-40B4-BE49-F238E27FC236}">
                  <a16:creationId xmlns:a16="http://schemas.microsoft.com/office/drawing/2014/main" id="{B7FB8D5D-A4DF-A32A-B42F-B62F996C3194}"/>
                </a:ext>
              </a:extLst>
            </p:cNvPr>
            <p:cNvSpPr txBox="1"/>
            <p:nvPr/>
          </p:nvSpPr>
          <p:spPr>
            <a:xfrm>
              <a:off x="1809305" y="5814270"/>
              <a:ext cx="7868967" cy="208199"/>
            </a:xfrm>
            <a:prstGeom prst="rect">
              <a:avLst/>
            </a:prstGeom>
          </p:spPr>
          <p:txBody>
            <a:bodyPr wrap="square" lIns="0" tIns="0" rIns="0" bIns="0" rtlCol="0" anchor="t">
              <a:spAutoFit/>
            </a:bodyPr>
            <a:lstStyle/>
            <a:p>
              <a:pPr>
                <a:lnSpc>
                  <a:spcPts val="1820"/>
                </a:lnSpc>
              </a:pPr>
              <a:r>
                <a:rPr lang="en-US" sz="1200" noProof="0">
                  <a:solidFill>
                    <a:srgbClr val="000000"/>
                  </a:solidFill>
                  <a:latin typeface="Arial" panose="020B0604020202020204" pitchFamily="34" charset="0"/>
                  <a:ea typeface="Gordita"/>
                  <a:cs typeface="Arial" panose="020B0604020202020204" pitchFamily="34" charset="0"/>
                  <a:sym typeface="Gordita"/>
                </a:rPr>
                <a:t>An overview of the Digital Products’ current demand and tool portfolio</a:t>
              </a:r>
            </a:p>
          </p:txBody>
        </p:sp>
      </p:grpSp>
      <p:sp>
        <p:nvSpPr>
          <p:cNvPr id="2" name="TextBox 14">
            <a:extLst>
              <a:ext uri="{FF2B5EF4-FFF2-40B4-BE49-F238E27FC236}">
                <a16:creationId xmlns:a16="http://schemas.microsoft.com/office/drawing/2014/main" id="{C644ACD1-44E3-A5BC-6A61-FC4BE2030B09}"/>
              </a:ext>
            </a:extLst>
          </p:cNvPr>
          <p:cNvSpPr txBox="1"/>
          <p:nvPr/>
        </p:nvSpPr>
        <p:spPr>
          <a:xfrm>
            <a:off x="1070275" y="2006772"/>
            <a:ext cx="537158"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02</a:t>
            </a:r>
          </a:p>
        </p:txBody>
      </p:sp>
      <p:grpSp>
        <p:nvGrpSpPr>
          <p:cNvPr id="3" name="Grupo 2">
            <a:extLst>
              <a:ext uri="{FF2B5EF4-FFF2-40B4-BE49-F238E27FC236}">
                <a16:creationId xmlns:a16="http://schemas.microsoft.com/office/drawing/2014/main" id="{AA205968-5E72-D161-B18A-6AC82F389A45}"/>
              </a:ext>
            </a:extLst>
          </p:cNvPr>
          <p:cNvGrpSpPr/>
          <p:nvPr/>
        </p:nvGrpSpPr>
        <p:grpSpPr>
          <a:xfrm>
            <a:off x="1861346" y="1981111"/>
            <a:ext cx="9571333" cy="596872"/>
            <a:chOff x="1816102" y="2594699"/>
            <a:chExt cx="9571333" cy="596872"/>
          </a:xfrm>
        </p:grpSpPr>
        <p:sp>
          <p:nvSpPr>
            <p:cNvPr id="5" name="TextBox 15">
              <a:extLst>
                <a:ext uri="{FF2B5EF4-FFF2-40B4-BE49-F238E27FC236}">
                  <a16:creationId xmlns:a16="http://schemas.microsoft.com/office/drawing/2014/main" id="{AC49ED7A-9FF8-D608-F097-451DF6CA59A7}"/>
                </a:ext>
              </a:extLst>
            </p:cNvPr>
            <p:cNvSpPr txBox="1"/>
            <p:nvPr/>
          </p:nvSpPr>
          <p:spPr>
            <a:xfrm>
              <a:off x="1816102" y="2594699"/>
              <a:ext cx="9571333"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Executive Summary</a:t>
              </a:r>
            </a:p>
          </p:txBody>
        </p:sp>
        <p:sp>
          <p:nvSpPr>
            <p:cNvPr id="7" name="TextBox 16">
              <a:extLst>
                <a:ext uri="{FF2B5EF4-FFF2-40B4-BE49-F238E27FC236}">
                  <a16:creationId xmlns:a16="http://schemas.microsoft.com/office/drawing/2014/main" id="{5730A542-EE73-45FE-C1B4-BADEE84FF9D5}"/>
                </a:ext>
              </a:extLst>
            </p:cNvPr>
            <p:cNvSpPr txBox="1"/>
            <p:nvPr/>
          </p:nvSpPr>
          <p:spPr>
            <a:xfrm>
              <a:off x="1816102" y="2983372"/>
              <a:ext cx="7868967" cy="208199"/>
            </a:xfrm>
            <a:prstGeom prst="rect">
              <a:avLst/>
            </a:prstGeom>
          </p:spPr>
          <p:txBody>
            <a:bodyPr wrap="square" lIns="0" tIns="0" rIns="0" bIns="0" rtlCol="0" anchor="t">
              <a:spAutoFit/>
            </a:bodyPr>
            <a:lstStyle>
              <a:defPPr>
                <a:defRPr lang="en-US"/>
              </a:defPPr>
              <a:lvl1pPr>
                <a:lnSpc>
                  <a:spcPts val="1820"/>
                </a:lnSpc>
                <a:defRPr sz="1400">
                  <a:solidFill>
                    <a:srgbClr val="000000"/>
                  </a:solidFill>
                  <a:latin typeface="+mj-lt"/>
                  <a:ea typeface="Gordita"/>
                  <a:cs typeface="Gordita"/>
                </a:defRPr>
              </a:lvl1pPr>
            </a:lstStyle>
            <a:p>
              <a:r>
                <a:rPr lang="en-US" sz="1200" noProof="0">
                  <a:latin typeface="Arial" panose="020B0604020202020204" pitchFamily="34" charset="0"/>
                  <a:cs typeface="Arial" panose="020B0604020202020204" pitchFamily="34" charset="0"/>
                </a:rPr>
                <a:t>Why we are here. Executive findings &amp; implications. Methodology (Wave 1 Step 1 sources).</a:t>
              </a:r>
              <a:endParaRPr lang="en-US" sz="1200" noProof="0">
                <a:latin typeface="Arial" panose="020B0604020202020204" pitchFamily="34" charset="0"/>
                <a:cs typeface="Arial" panose="020B0604020202020204" pitchFamily="34" charset="0"/>
                <a:sym typeface="Gordita"/>
              </a:endParaRPr>
            </a:p>
          </p:txBody>
        </p:sp>
      </p:grpSp>
      <p:sp>
        <p:nvSpPr>
          <p:cNvPr id="19" name="TextBox 10">
            <a:extLst>
              <a:ext uri="{FF2B5EF4-FFF2-40B4-BE49-F238E27FC236}">
                <a16:creationId xmlns:a16="http://schemas.microsoft.com/office/drawing/2014/main" id="{BCEFDFBA-7920-76DE-EAAD-4C2B713A25EF}"/>
              </a:ext>
            </a:extLst>
          </p:cNvPr>
          <p:cNvSpPr txBox="1"/>
          <p:nvPr/>
        </p:nvSpPr>
        <p:spPr>
          <a:xfrm>
            <a:off x="1063127" y="277976"/>
            <a:ext cx="3495835" cy="524182"/>
          </a:xfrm>
          <a:prstGeom prst="rect">
            <a:avLst/>
          </a:prstGeom>
        </p:spPr>
        <p:txBody>
          <a:bodyPr wrap="square" lIns="0" tIns="0" rIns="0" bIns="0" rtlCol="0" anchor="t">
            <a:spAutoFit/>
          </a:bodyPr>
          <a:lstStyle/>
          <a:p>
            <a:pPr>
              <a:lnSpc>
                <a:spcPts val="4608"/>
              </a:lnSpc>
            </a:pPr>
            <a:r>
              <a:rPr lang="en-US" sz="2800" b="1" noProof="0">
                <a:solidFill>
                  <a:schemeClr val="accent1"/>
                </a:solidFill>
                <a:latin typeface="Arial" panose="020B0604020202020204" pitchFamily="34" charset="0"/>
                <a:ea typeface="Gordita Bold"/>
                <a:cs typeface="Arial" panose="020B0604020202020204" pitchFamily="34" charset="0"/>
                <a:sym typeface="Gordita Bold"/>
              </a:rPr>
              <a:t>Table of contents</a:t>
            </a:r>
          </a:p>
        </p:txBody>
      </p:sp>
      <p:sp>
        <p:nvSpPr>
          <p:cNvPr id="8" name="Rectangle: Rounded Corners 7">
            <a:extLst>
              <a:ext uri="{FF2B5EF4-FFF2-40B4-BE49-F238E27FC236}">
                <a16:creationId xmlns:a16="http://schemas.microsoft.com/office/drawing/2014/main" id="{70F7C734-E310-E7AA-A76A-87EB99547EBD}"/>
              </a:ext>
            </a:extLst>
          </p:cNvPr>
          <p:cNvSpPr/>
          <p:nvPr/>
        </p:nvSpPr>
        <p:spPr>
          <a:xfrm>
            <a:off x="759321" y="5498072"/>
            <a:ext cx="9343974" cy="815851"/>
          </a:xfrm>
          <a:prstGeom prst="roundRect">
            <a:avLst/>
          </a:prstGeom>
          <a:solidFill>
            <a:schemeClr val="tx2">
              <a:lumMod val="10000"/>
              <a:lumOff val="90000"/>
              <a:alpha val="41961"/>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2" name="TextBox 22">
            <a:extLst>
              <a:ext uri="{FF2B5EF4-FFF2-40B4-BE49-F238E27FC236}">
                <a16:creationId xmlns:a16="http://schemas.microsoft.com/office/drawing/2014/main" id="{A0723DC1-D2E1-8D61-8F48-12ACD8E1DDD1}"/>
              </a:ext>
            </a:extLst>
          </p:cNvPr>
          <p:cNvSpPr txBox="1"/>
          <p:nvPr/>
        </p:nvSpPr>
        <p:spPr>
          <a:xfrm>
            <a:off x="1063128" y="5501791"/>
            <a:ext cx="487952"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06</a:t>
            </a:r>
          </a:p>
        </p:txBody>
      </p:sp>
      <p:grpSp>
        <p:nvGrpSpPr>
          <p:cNvPr id="33" name="Grupo 30">
            <a:extLst>
              <a:ext uri="{FF2B5EF4-FFF2-40B4-BE49-F238E27FC236}">
                <a16:creationId xmlns:a16="http://schemas.microsoft.com/office/drawing/2014/main" id="{082BDDE0-BF4C-AFCF-FB5E-9E81D780B0E8}"/>
              </a:ext>
            </a:extLst>
          </p:cNvPr>
          <p:cNvGrpSpPr/>
          <p:nvPr/>
        </p:nvGrpSpPr>
        <p:grpSpPr>
          <a:xfrm>
            <a:off x="1847401" y="5519041"/>
            <a:ext cx="9571332" cy="602794"/>
            <a:chOff x="1809305" y="5419675"/>
            <a:chExt cx="9571332" cy="602794"/>
          </a:xfrm>
        </p:grpSpPr>
        <p:sp>
          <p:nvSpPr>
            <p:cNvPr id="34" name="TextBox 19">
              <a:extLst>
                <a:ext uri="{FF2B5EF4-FFF2-40B4-BE49-F238E27FC236}">
                  <a16:creationId xmlns:a16="http://schemas.microsoft.com/office/drawing/2014/main" id="{628DA4BB-C34C-0127-F567-4E651A090215}"/>
                </a:ext>
              </a:extLst>
            </p:cNvPr>
            <p:cNvSpPr txBox="1"/>
            <p:nvPr/>
          </p:nvSpPr>
          <p:spPr>
            <a:xfrm>
              <a:off x="1809305" y="5419675"/>
              <a:ext cx="9571332"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Insights &amp; Key Definitions for To-Be Model</a:t>
              </a:r>
            </a:p>
          </p:txBody>
        </p:sp>
        <p:sp>
          <p:nvSpPr>
            <p:cNvPr id="35" name="TextBox 16">
              <a:extLst>
                <a:ext uri="{FF2B5EF4-FFF2-40B4-BE49-F238E27FC236}">
                  <a16:creationId xmlns:a16="http://schemas.microsoft.com/office/drawing/2014/main" id="{69AA21EC-722B-75AD-88F2-8ED485D3DBC5}"/>
                </a:ext>
              </a:extLst>
            </p:cNvPr>
            <p:cNvSpPr txBox="1"/>
            <p:nvPr/>
          </p:nvSpPr>
          <p:spPr>
            <a:xfrm>
              <a:off x="1809305" y="5814270"/>
              <a:ext cx="7868967" cy="208199"/>
            </a:xfrm>
            <a:prstGeom prst="rect">
              <a:avLst/>
            </a:prstGeom>
          </p:spPr>
          <p:txBody>
            <a:bodyPr wrap="square" lIns="0" tIns="0" rIns="0" bIns="0" rtlCol="0" anchor="t">
              <a:spAutoFit/>
            </a:bodyPr>
            <a:lstStyle>
              <a:defPPr>
                <a:defRPr lang="en-US"/>
              </a:defPPr>
              <a:lvl1pPr>
                <a:lnSpc>
                  <a:spcPts val="1820"/>
                </a:lnSpc>
                <a:defRPr sz="1400">
                  <a:solidFill>
                    <a:srgbClr val="000000"/>
                  </a:solidFill>
                  <a:ea typeface="Gordita"/>
                  <a:cs typeface="Gordita"/>
                </a:defRPr>
              </a:lvl1pPr>
            </a:lstStyle>
            <a:p>
              <a:r>
                <a:rPr lang="en-US" sz="1200" noProof="0">
                  <a:latin typeface="Arial" panose="020B0604020202020204" pitchFamily="34" charset="0"/>
                  <a:cs typeface="Arial" panose="020B0604020202020204" pitchFamily="34" charset="0"/>
                </a:rPr>
                <a:t>A synthesis of key insights and foundational definitions shaping the design of the target operating model​</a:t>
              </a:r>
              <a:endParaRPr lang="en-US" sz="1200" noProof="0">
                <a:latin typeface="Arial" panose="020B0604020202020204" pitchFamily="34" charset="0"/>
                <a:cs typeface="Arial" panose="020B0604020202020204" pitchFamily="34" charset="0"/>
                <a:sym typeface="Gordita"/>
              </a:endParaRPr>
            </a:p>
          </p:txBody>
        </p:sp>
      </p:grpSp>
    </p:spTree>
    <p:extLst>
      <p:ext uri="{BB962C8B-B14F-4D97-AF65-F5344CB8AC3E}">
        <p14:creationId xmlns:p14="http://schemas.microsoft.com/office/powerpoint/2010/main" val="16681710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6EB6EBEB-4FAC-E94E-0783-B81F6D7BFF5E}"/>
              </a:ext>
            </a:extLst>
          </p:cNvPr>
          <p:cNvSpPr/>
          <p:nvPr/>
        </p:nvSpPr>
        <p:spPr>
          <a:xfrm>
            <a:off x="470662" y="5127826"/>
            <a:ext cx="11459027" cy="1238249"/>
          </a:xfrm>
          <a:prstGeom prst="rect">
            <a:avLst/>
          </a:prstGeom>
          <a:solidFill>
            <a:srgbClr val="6785C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200" noProof="0">
                <a:latin typeface="Arial" panose="020B0604020202020204" pitchFamily="34" charset="0"/>
                <a:cs typeface="Arial" panose="020B0604020202020204" pitchFamily="34" charset="0"/>
              </a:rPr>
              <a:t>GUIDING PRINCIPLES</a:t>
            </a:r>
          </a:p>
        </p:txBody>
      </p:sp>
      <p:sp>
        <p:nvSpPr>
          <p:cNvPr id="46" name="Rectangle 5">
            <a:extLst>
              <a:ext uri="{FF2B5EF4-FFF2-40B4-BE49-F238E27FC236}">
                <a16:creationId xmlns:a16="http://schemas.microsoft.com/office/drawing/2014/main" id="{1662458A-BDEF-AFDE-E6BC-BCC9448A8E06}"/>
              </a:ext>
            </a:extLst>
          </p:cNvPr>
          <p:cNvSpPr/>
          <p:nvPr/>
        </p:nvSpPr>
        <p:spPr>
          <a:xfrm>
            <a:off x="470658" y="5442149"/>
            <a:ext cx="11459026" cy="819151"/>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 name="Rectángulo 3">
            <a:extLst>
              <a:ext uri="{FF2B5EF4-FFF2-40B4-BE49-F238E27FC236}">
                <a16:creationId xmlns:a16="http://schemas.microsoft.com/office/drawing/2014/main" id="{442BB262-E8C4-78CB-A734-64985D4FD45A}"/>
              </a:ext>
            </a:extLst>
          </p:cNvPr>
          <p:cNvSpPr/>
          <p:nvPr/>
        </p:nvSpPr>
        <p:spPr>
          <a:xfrm>
            <a:off x="8433618" y="1394206"/>
            <a:ext cx="3528000" cy="41144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200" noProof="0"/>
              <a:t>STRUCTURAL MISALIGNMENT</a:t>
            </a:r>
          </a:p>
        </p:txBody>
      </p:sp>
      <p:sp>
        <p:nvSpPr>
          <p:cNvPr id="45" name="Rectangle 5">
            <a:extLst>
              <a:ext uri="{FF2B5EF4-FFF2-40B4-BE49-F238E27FC236}">
                <a16:creationId xmlns:a16="http://schemas.microsoft.com/office/drawing/2014/main" id="{4651842F-1D3B-3D3A-2ACC-C277C64B3906}"/>
              </a:ext>
            </a:extLst>
          </p:cNvPr>
          <p:cNvSpPr/>
          <p:nvPr/>
        </p:nvSpPr>
        <p:spPr>
          <a:xfrm>
            <a:off x="8434158" y="1738555"/>
            <a:ext cx="3528000" cy="2932269"/>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 name="Rectángulo 2">
            <a:extLst>
              <a:ext uri="{FF2B5EF4-FFF2-40B4-BE49-F238E27FC236}">
                <a16:creationId xmlns:a16="http://schemas.microsoft.com/office/drawing/2014/main" id="{5E01D804-9516-DE7C-B8CC-B7EB57864592}"/>
              </a:ext>
            </a:extLst>
          </p:cNvPr>
          <p:cNvSpPr/>
          <p:nvPr/>
        </p:nvSpPr>
        <p:spPr>
          <a:xfrm>
            <a:off x="4400051" y="1394206"/>
            <a:ext cx="3528000" cy="41144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200" noProof="0"/>
              <a:t>DELIVERY EXPERIENCE AND PAIN POINTS</a:t>
            </a:r>
          </a:p>
        </p:txBody>
      </p:sp>
      <p:sp>
        <p:nvSpPr>
          <p:cNvPr id="44" name="Rectangle 5">
            <a:extLst>
              <a:ext uri="{FF2B5EF4-FFF2-40B4-BE49-F238E27FC236}">
                <a16:creationId xmlns:a16="http://schemas.microsoft.com/office/drawing/2014/main" id="{323AAAEB-2129-DFE5-A4E6-A6FE68400697}"/>
              </a:ext>
            </a:extLst>
          </p:cNvPr>
          <p:cNvSpPr/>
          <p:nvPr/>
        </p:nvSpPr>
        <p:spPr>
          <a:xfrm>
            <a:off x="4393508" y="1738555"/>
            <a:ext cx="3528000" cy="2941794"/>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 name="Rectángulo 1">
            <a:extLst>
              <a:ext uri="{FF2B5EF4-FFF2-40B4-BE49-F238E27FC236}">
                <a16:creationId xmlns:a16="http://schemas.microsoft.com/office/drawing/2014/main" id="{A93629D1-7E72-6834-B3D9-188CC4B42527}"/>
              </a:ext>
            </a:extLst>
          </p:cNvPr>
          <p:cNvSpPr/>
          <p:nvPr/>
        </p:nvSpPr>
        <p:spPr>
          <a:xfrm>
            <a:off x="366484" y="1394206"/>
            <a:ext cx="3528000" cy="41144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200" noProof="0">
                <a:latin typeface="Arial" panose="020B0604020202020204" pitchFamily="34" charset="0"/>
                <a:cs typeface="Arial" panose="020B0604020202020204" pitchFamily="34" charset="0"/>
              </a:rPr>
              <a:t>OPERATING CONSTRAINTS</a:t>
            </a:r>
          </a:p>
        </p:txBody>
      </p:sp>
      <p:sp>
        <p:nvSpPr>
          <p:cNvPr id="5" name="Triángulo isósceles 4">
            <a:extLst>
              <a:ext uri="{FF2B5EF4-FFF2-40B4-BE49-F238E27FC236}">
                <a16:creationId xmlns:a16="http://schemas.microsoft.com/office/drawing/2014/main" id="{9FBECEF6-B133-9691-5549-41CC536C09D5}"/>
              </a:ext>
            </a:extLst>
          </p:cNvPr>
          <p:cNvSpPr/>
          <p:nvPr/>
        </p:nvSpPr>
        <p:spPr>
          <a:xfrm flipV="1">
            <a:off x="1175370" y="4754245"/>
            <a:ext cx="1977403" cy="315360"/>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6" name="Triángulo isósceles 5">
            <a:extLst>
              <a:ext uri="{FF2B5EF4-FFF2-40B4-BE49-F238E27FC236}">
                <a16:creationId xmlns:a16="http://schemas.microsoft.com/office/drawing/2014/main" id="{EC6A3D32-D2C7-F24D-33E6-238DE9AEADAD}"/>
              </a:ext>
            </a:extLst>
          </p:cNvPr>
          <p:cNvSpPr/>
          <p:nvPr/>
        </p:nvSpPr>
        <p:spPr>
          <a:xfrm flipV="1">
            <a:off x="5170839" y="4754245"/>
            <a:ext cx="1977403" cy="315360"/>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7" name="Triángulo isósceles 6">
            <a:extLst>
              <a:ext uri="{FF2B5EF4-FFF2-40B4-BE49-F238E27FC236}">
                <a16:creationId xmlns:a16="http://schemas.microsoft.com/office/drawing/2014/main" id="{976C2E53-BC04-11DC-AA4F-A38990878D61}"/>
              </a:ext>
            </a:extLst>
          </p:cNvPr>
          <p:cNvSpPr/>
          <p:nvPr/>
        </p:nvSpPr>
        <p:spPr>
          <a:xfrm flipV="1">
            <a:off x="9194882" y="4754245"/>
            <a:ext cx="1977403" cy="315360"/>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42" name="CuadroTexto 41">
            <a:extLst>
              <a:ext uri="{FF2B5EF4-FFF2-40B4-BE49-F238E27FC236}">
                <a16:creationId xmlns:a16="http://schemas.microsoft.com/office/drawing/2014/main" id="{3A5E52A1-404B-0559-9F48-80FCEA9ED6B2}"/>
              </a:ext>
            </a:extLst>
          </p:cNvPr>
          <p:cNvSpPr txBox="1"/>
          <p:nvPr/>
        </p:nvSpPr>
        <p:spPr>
          <a:xfrm>
            <a:off x="212709" y="920682"/>
            <a:ext cx="11766582" cy="430887"/>
          </a:xfrm>
          <a:prstGeom prst="rect">
            <a:avLst/>
          </a:prstGeom>
          <a:noFill/>
        </p:spPr>
        <p:txBody>
          <a:bodyPr wrap="square" lIns="0" tIns="0" rIns="0" bIns="0" rtlCol="0">
            <a:noAutofit/>
          </a:bodyPr>
          <a:lstStyle>
            <a:defPPr>
              <a:defRPr lang="en-US"/>
            </a:defPPr>
            <a:lvl1pPr marR="0" lvl="0" indent="0" algn="just" fontAlgn="auto">
              <a:lnSpc>
                <a:spcPct val="100000"/>
              </a:lnSpc>
              <a:spcBef>
                <a:spcPts val="0"/>
              </a:spcBef>
              <a:spcAft>
                <a:spcPts val="0"/>
              </a:spcAft>
              <a:buClrTx/>
              <a:buSzTx/>
              <a:buFontTx/>
              <a:buNone/>
              <a:tabLst/>
              <a:defRPr kumimoji="0" sz="1400" b="1" i="0" u="none" strike="noStrike" cap="none" spc="0" normalizeH="0" baseline="0">
                <a:ln>
                  <a:noFill/>
                </a:ln>
                <a:solidFill>
                  <a:srgbClr val="0F9ED5">
                    <a:lumMod val="75000"/>
                  </a:srgbClr>
                </a:solidFill>
                <a:effectLst/>
                <a:uLnTx/>
                <a:uFillTx/>
                <a:latin typeface="Arial" panose="020B0604020202020204" pitchFamily="34" charset="0"/>
                <a:cs typeface="Arial" panose="020B0604020202020204" pitchFamily="34" charset="0"/>
              </a:defRPr>
            </a:lvl1pPr>
            <a:lvl2pPr marL="228586" eaLnBrk="0" fontAlgn="base" hangingPunct="0">
              <a:spcBef>
                <a:spcPct val="0"/>
              </a:spcBef>
              <a:spcAft>
                <a:spcPct val="0"/>
              </a:spcAft>
              <a:defRPr>
                <a:latin typeface="Arial" pitchFamily="2" charset="77"/>
              </a:defRPr>
            </a:lvl2pPr>
            <a:lvl3pPr marL="457172" eaLnBrk="0" fontAlgn="base" hangingPunct="0">
              <a:spcBef>
                <a:spcPct val="0"/>
              </a:spcBef>
              <a:spcAft>
                <a:spcPct val="0"/>
              </a:spcAft>
              <a:defRPr>
                <a:latin typeface="Arial" pitchFamily="2" charset="77"/>
              </a:defRPr>
            </a:lvl3pPr>
            <a:lvl4pPr marL="685757" eaLnBrk="0" fontAlgn="base" hangingPunct="0">
              <a:spcBef>
                <a:spcPct val="0"/>
              </a:spcBef>
              <a:spcAft>
                <a:spcPct val="0"/>
              </a:spcAft>
              <a:defRPr>
                <a:latin typeface="Arial" pitchFamily="2" charset="77"/>
              </a:defRPr>
            </a:lvl4pPr>
            <a:lvl5pPr marL="914343" eaLnBrk="0" fontAlgn="base" hangingPunct="0">
              <a:spcBef>
                <a:spcPct val="0"/>
              </a:spcBef>
              <a:spcAft>
                <a:spcPct val="0"/>
              </a:spcAft>
              <a:defRPr>
                <a:latin typeface="Arial" pitchFamily="2" charset="77"/>
              </a:defRPr>
            </a:lvl5pPr>
            <a:lvl6pPr marL="1142929" defTabSz="457172">
              <a:defRPr>
                <a:latin typeface="Arial" pitchFamily="2" charset="77"/>
              </a:defRPr>
            </a:lvl6pPr>
            <a:lvl7pPr marL="1371515" defTabSz="457172">
              <a:defRPr>
                <a:latin typeface="Arial" pitchFamily="2" charset="77"/>
              </a:defRPr>
            </a:lvl7pPr>
            <a:lvl8pPr marL="1600100" defTabSz="457172">
              <a:defRPr>
                <a:latin typeface="Arial" pitchFamily="2" charset="77"/>
              </a:defRPr>
            </a:lvl8pPr>
            <a:lvl9pPr marL="1828686" defTabSz="457172">
              <a:defRPr>
                <a:latin typeface="Arial" pitchFamily="2" charset="77"/>
              </a:defRPr>
            </a:lvl9pPr>
          </a:lstStyle>
          <a:p>
            <a:r>
              <a:rPr lang="en-US" noProof="0"/>
              <a:t>Our assessment highlights opportunities to strengthen alignment, governance, and prioritization to enable a more scalable and sustainable TO‑BE operating model.</a:t>
            </a:r>
          </a:p>
        </p:txBody>
      </p:sp>
      <p:sp>
        <p:nvSpPr>
          <p:cNvPr id="43" name="Rectangle 5">
            <a:extLst>
              <a:ext uri="{FF2B5EF4-FFF2-40B4-BE49-F238E27FC236}">
                <a16:creationId xmlns:a16="http://schemas.microsoft.com/office/drawing/2014/main" id="{A9EEE1B1-AB6C-518F-DBD0-B59356BD7FAE}"/>
              </a:ext>
            </a:extLst>
          </p:cNvPr>
          <p:cNvSpPr/>
          <p:nvPr/>
        </p:nvSpPr>
        <p:spPr>
          <a:xfrm>
            <a:off x="366483" y="1738555"/>
            <a:ext cx="3528000" cy="2941794"/>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1" name="TextBox 174">
            <a:extLst>
              <a:ext uri="{FF2B5EF4-FFF2-40B4-BE49-F238E27FC236}">
                <a16:creationId xmlns:a16="http://schemas.microsoft.com/office/drawing/2014/main" id="{6D4BC5C4-8447-4B2D-B980-02E6603A7C82}"/>
              </a:ext>
            </a:extLst>
          </p:cNvPr>
          <p:cNvSpPr txBox="1"/>
          <p:nvPr/>
        </p:nvSpPr>
        <p:spPr>
          <a:xfrm>
            <a:off x="478154" y="1935327"/>
            <a:ext cx="3331845" cy="1848904"/>
          </a:xfrm>
          <a:prstGeom prst="rect">
            <a:avLst/>
          </a:prstGeom>
          <a:noFill/>
        </p:spPr>
        <p:txBody>
          <a:bodyPr wrap="square" lIns="0" tIns="0" rIns="0" bIns="0" anchor="t">
            <a:spAutoFit/>
          </a:bodyPr>
          <a:lstStyle>
            <a:defPPr>
              <a:defRPr lang="en-US"/>
            </a:defPPr>
            <a:lvl1pPr algn="ctr">
              <a:lnSpc>
                <a:spcPct val="110000"/>
              </a:lnSpc>
              <a:spcBef>
                <a:spcPts val="0"/>
              </a:spcBef>
              <a:spcAft>
                <a:spcPts val="0"/>
              </a:spcAft>
              <a:defRPr sz="900" b="1" i="0">
                <a:solidFill>
                  <a:srgbClr val="2C3E50"/>
                </a:solidFill>
                <a:latin typeface="Arial" panose="020B0604020202020204" pitchFamily="34" charset="0"/>
                <a:cs typeface="Arial" panose="020B0604020202020204" pitchFamily="34" charset="0"/>
              </a:defRPr>
            </a:lvl1pPr>
          </a:lstStyle>
          <a:p>
            <a:pPr algn="l"/>
            <a:r>
              <a:rPr lang="en-US" sz="1000" b="0" noProof="0">
                <a:solidFill>
                  <a:schemeClr val="tx1"/>
                </a:solidFill>
              </a:rPr>
              <a:t>These are the structural and operational limitations currently constraining the model’s ability to scale and deliver value consistently.</a:t>
            </a:r>
            <a:br>
              <a:rPr lang="en-US" sz="1000" b="0" noProof="0">
                <a:solidFill>
                  <a:schemeClr val="tx1"/>
                </a:solidFill>
              </a:rPr>
            </a:br>
            <a:r>
              <a:rPr lang="en-US" sz="1000" b="0" noProof="0">
                <a:solidFill>
                  <a:schemeClr val="tx1"/>
                </a:solidFill>
              </a:rPr>
              <a:t>This section outlines the key factors:</a:t>
            </a:r>
          </a:p>
          <a:p>
            <a:pPr marL="171450" lvl="0" indent="-171450" algn="l">
              <a:buFont typeface="Arial" panose="020B0604020202020204" pitchFamily="34" charset="0"/>
              <a:buChar char="•"/>
              <a:defRPr/>
            </a:pPr>
            <a:r>
              <a:rPr lang="en-US" sz="1000" b="0" noProof="0">
                <a:solidFill>
                  <a:schemeClr val="tx1"/>
                </a:solidFill>
              </a:rPr>
              <a:t>People: Capacity &amp; accountability are structurally constrained</a:t>
            </a:r>
          </a:p>
          <a:p>
            <a:pPr marL="171450" lvl="0" indent="-171450" algn="l">
              <a:buFont typeface="Arial" panose="020B0604020202020204" pitchFamily="34" charset="0"/>
              <a:buChar char="•"/>
              <a:defRPr/>
            </a:pPr>
            <a:r>
              <a:rPr lang="en-US" sz="1000" b="0" noProof="0">
                <a:solidFill>
                  <a:schemeClr val="tx1"/>
                </a:solidFill>
              </a:rPr>
              <a:t>Process: Lack of standardization drives inconsistency</a:t>
            </a:r>
          </a:p>
          <a:p>
            <a:pPr marL="171450" lvl="0" indent="-171450" algn="l">
              <a:buFont typeface="Arial" panose="020B0604020202020204" pitchFamily="34" charset="0"/>
              <a:buChar char="•"/>
              <a:defRPr/>
            </a:pPr>
            <a:r>
              <a:rPr lang="en-US" sz="1000" b="0" noProof="0">
                <a:solidFill>
                  <a:schemeClr val="tx1"/>
                </a:solidFill>
              </a:rPr>
              <a:t>Tools: Fragmented ecosystem limits visibility and control</a:t>
            </a:r>
          </a:p>
          <a:p>
            <a:pPr marL="171450" lvl="0" indent="-171450" algn="l">
              <a:buFont typeface="Arial" panose="020B0604020202020204" pitchFamily="34" charset="0"/>
              <a:buChar char="•"/>
              <a:defRPr/>
            </a:pPr>
            <a:r>
              <a:rPr lang="en-US" sz="1000" b="0" noProof="0">
                <a:solidFill>
                  <a:schemeClr val="tx1"/>
                </a:solidFill>
              </a:rPr>
              <a:t>Governance: Decision-making is fragmented</a:t>
            </a:r>
          </a:p>
          <a:p>
            <a:pPr algn="l"/>
            <a:endParaRPr lang="en-US" sz="1000" b="0" noProof="0">
              <a:solidFill>
                <a:schemeClr val="tx1"/>
              </a:solidFill>
            </a:endParaRPr>
          </a:p>
          <a:p>
            <a:pPr algn="l"/>
            <a:endParaRPr lang="en-US" sz="1000" b="0" noProof="0">
              <a:solidFill>
                <a:schemeClr val="tx1"/>
              </a:solidFill>
            </a:endParaRPr>
          </a:p>
        </p:txBody>
      </p:sp>
      <p:sp>
        <p:nvSpPr>
          <p:cNvPr id="32" name="TextBox 174">
            <a:extLst>
              <a:ext uri="{FF2B5EF4-FFF2-40B4-BE49-F238E27FC236}">
                <a16:creationId xmlns:a16="http://schemas.microsoft.com/office/drawing/2014/main" id="{D74D27EE-434B-C16E-43A3-B45F4CDD2CB7}"/>
              </a:ext>
            </a:extLst>
          </p:cNvPr>
          <p:cNvSpPr txBox="1"/>
          <p:nvPr/>
        </p:nvSpPr>
        <p:spPr>
          <a:xfrm>
            <a:off x="4509819" y="1935327"/>
            <a:ext cx="3312000" cy="613181"/>
          </a:xfrm>
          <a:prstGeom prst="rect">
            <a:avLst/>
          </a:prstGeom>
          <a:noFill/>
        </p:spPr>
        <p:txBody>
          <a:bodyPr wrap="square" lIns="0" tIns="0" rIns="0" bIns="0" anchor="t">
            <a:spAutoFit/>
          </a:bodyPr>
          <a:lstStyle>
            <a:defPPr>
              <a:defRPr lang="en-US"/>
            </a:defPPr>
            <a:lvl1pPr algn="ctr">
              <a:lnSpc>
                <a:spcPct val="110000"/>
              </a:lnSpc>
              <a:spcBef>
                <a:spcPts val="0"/>
              </a:spcBef>
              <a:spcAft>
                <a:spcPts val="0"/>
              </a:spcAft>
              <a:defRPr sz="900" b="1" i="0">
                <a:solidFill>
                  <a:srgbClr val="2C3E50"/>
                </a:solidFill>
                <a:latin typeface="Arial" panose="020B0604020202020204" pitchFamily="34" charset="0"/>
                <a:cs typeface="Arial" panose="020B0604020202020204" pitchFamily="34" charset="0"/>
              </a:defRPr>
            </a:lvl1pPr>
          </a:lstStyle>
          <a:p>
            <a:pPr algn="l"/>
            <a:r>
              <a:rPr lang="en-US" b="0" noProof="0">
                <a:solidFill>
                  <a:schemeClr val="tx1"/>
                </a:solidFill>
              </a:rPr>
              <a:t>These are the friction points impacting execution and the business or user experience.</a:t>
            </a:r>
            <a:br>
              <a:rPr lang="en-US" sz="1000" b="0" noProof="0">
                <a:solidFill>
                  <a:schemeClr val="tx1"/>
                </a:solidFill>
              </a:rPr>
            </a:br>
            <a:r>
              <a:rPr lang="en-US" b="0" noProof="0">
                <a:solidFill>
                  <a:schemeClr val="tx1"/>
                </a:solidFill>
              </a:rPr>
              <a:t>This section describes the main issues identified that affect:</a:t>
            </a:r>
          </a:p>
          <a:p>
            <a:pPr algn="l"/>
            <a:endParaRPr lang="en-US" sz="1000" b="0" noProof="0">
              <a:solidFill>
                <a:schemeClr val="tx1"/>
              </a:solidFill>
            </a:endParaRPr>
          </a:p>
        </p:txBody>
      </p:sp>
      <p:sp>
        <p:nvSpPr>
          <p:cNvPr id="36" name="Rectángulo 35">
            <a:extLst>
              <a:ext uri="{FF2B5EF4-FFF2-40B4-BE49-F238E27FC236}">
                <a16:creationId xmlns:a16="http://schemas.microsoft.com/office/drawing/2014/main" id="{67F9C205-D6A0-6778-6694-D6F5CCA42F4F}"/>
              </a:ext>
            </a:extLst>
          </p:cNvPr>
          <p:cNvSpPr/>
          <p:nvPr/>
        </p:nvSpPr>
        <p:spPr>
          <a:xfrm>
            <a:off x="4514851" y="2525757"/>
            <a:ext cx="3312000" cy="23837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lvl="0" algn="ctr">
              <a:defRPr/>
            </a:pPr>
            <a:r>
              <a:rPr lang="en-US" sz="1000" b="1" noProof="0">
                <a:solidFill>
                  <a:schemeClr val="tx1"/>
                </a:solidFill>
                <a:latin typeface="Arial" panose="020B0604020202020204" pitchFamily="34" charset="0"/>
                <a:cs typeface="Arial" panose="020B0604020202020204" pitchFamily="34" charset="0"/>
              </a:rPr>
              <a:t> Applications</a:t>
            </a:r>
          </a:p>
          <a:p>
            <a:pPr lvl="0">
              <a:defRPr/>
            </a:pPr>
            <a:endParaRPr lang="en-US" sz="1000" noProof="0">
              <a:solidFill>
                <a:schemeClr val="tx1"/>
              </a:solidFill>
              <a:latin typeface="Arial" panose="020B0604020202020204" pitchFamily="34" charset="0"/>
              <a:cs typeface="Arial" panose="020B0604020202020204" pitchFamily="34" charset="0"/>
            </a:endParaRPr>
          </a:p>
        </p:txBody>
      </p:sp>
      <p:sp>
        <p:nvSpPr>
          <p:cNvPr id="37" name="Rectángulo 36">
            <a:extLst>
              <a:ext uri="{FF2B5EF4-FFF2-40B4-BE49-F238E27FC236}">
                <a16:creationId xmlns:a16="http://schemas.microsoft.com/office/drawing/2014/main" id="{F12259BA-C7E7-A696-D879-461D255E534E}"/>
              </a:ext>
            </a:extLst>
          </p:cNvPr>
          <p:cNvSpPr/>
          <p:nvPr/>
        </p:nvSpPr>
        <p:spPr>
          <a:xfrm>
            <a:off x="4514850" y="3507680"/>
            <a:ext cx="3312000" cy="24688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lvl="0" algn="ctr">
              <a:defRPr/>
            </a:pPr>
            <a:r>
              <a:rPr lang="en-US" sz="1000" b="1" noProof="0">
                <a:solidFill>
                  <a:schemeClr val="tx1"/>
                </a:solidFill>
                <a:latin typeface="Arial" panose="020B0604020202020204" pitchFamily="34" charset="0"/>
                <a:cs typeface="Arial" panose="020B0604020202020204" pitchFamily="34" charset="0"/>
              </a:rPr>
              <a:t>Customer Service</a:t>
            </a:r>
          </a:p>
        </p:txBody>
      </p:sp>
      <p:sp>
        <p:nvSpPr>
          <p:cNvPr id="38" name="TextBox 174">
            <a:extLst>
              <a:ext uri="{FF2B5EF4-FFF2-40B4-BE49-F238E27FC236}">
                <a16:creationId xmlns:a16="http://schemas.microsoft.com/office/drawing/2014/main" id="{B0909C57-94B4-3540-B638-3D87AF0C1E84}"/>
              </a:ext>
            </a:extLst>
          </p:cNvPr>
          <p:cNvSpPr txBox="1"/>
          <p:nvPr/>
        </p:nvSpPr>
        <p:spPr>
          <a:xfrm>
            <a:off x="4514850" y="2752044"/>
            <a:ext cx="3312000" cy="771686"/>
          </a:xfrm>
          <a:prstGeom prst="rect">
            <a:avLst/>
          </a:prstGeom>
          <a:noFill/>
        </p:spPr>
        <p:txBody>
          <a:bodyPr wrap="square" lIns="0" tIns="0" rIns="0" bIns="0" anchor="t">
            <a:spAutoFit/>
          </a:bodyPr>
          <a:lstStyle>
            <a:defPPr>
              <a:defRPr lang="en-US"/>
            </a:defPPr>
            <a:lvl1pPr>
              <a:lnSpc>
                <a:spcPct val="110000"/>
              </a:lnSpc>
              <a:spcBef>
                <a:spcPts val="0"/>
              </a:spcBef>
              <a:spcAft>
                <a:spcPts val="0"/>
              </a:spcAft>
              <a:defRPr sz="1000" b="0" i="0">
                <a:solidFill>
                  <a:schemeClr val="bg1"/>
                </a:solidFill>
                <a:latin typeface="Arial" panose="020B0604020202020204" pitchFamily="34" charset="0"/>
                <a:cs typeface="Arial" panose="020B0604020202020204" pitchFamily="34" charset="0"/>
              </a:defRPr>
            </a:lvl1pPr>
          </a:lstStyle>
          <a:p>
            <a:pPr marL="171450" lvl="1" indent="-171450">
              <a:buFont typeface="Arial" panose="020B0604020202020204" pitchFamily="34" charset="0"/>
              <a:buChar char="•"/>
              <a:defRPr/>
            </a:pPr>
            <a:r>
              <a:rPr lang="en-US" sz="1000" noProof="0">
                <a:latin typeface="Arial" panose="020B0604020202020204" pitchFamily="34" charset="0"/>
                <a:cs typeface="Arial" panose="020B0604020202020204" pitchFamily="34" charset="0"/>
              </a:rPr>
              <a:t>G&amp;E Email-Only </a:t>
            </a:r>
            <a:r>
              <a:rPr lang="en-US" sz="1000" b="1" noProof="0">
                <a:latin typeface="Arial" panose="020B0604020202020204" pitchFamily="34" charset="0"/>
                <a:cs typeface="Arial" panose="020B0604020202020204" pitchFamily="34" charset="0"/>
              </a:rPr>
              <a:t>Intake</a:t>
            </a:r>
          </a:p>
          <a:p>
            <a:pPr marL="171450" lvl="1" indent="-171450">
              <a:buFont typeface="Arial" panose="020B0604020202020204" pitchFamily="34" charset="0"/>
              <a:buChar char="•"/>
              <a:defRPr/>
            </a:pPr>
            <a:r>
              <a:rPr lang="en-US" sz="1000" noProof="0">
                <a:latin typeface="Arial" panose="020B0604020202020204" pitchFamily="34" charset="0"/>
                <a:cs typeface="Arial" panose="020B0604020202020204" pitchFamily="34" charset="0"/>
              </a:rPr>
              <a:t>Global SAP </a:t>
            </a:r>
            <a:r>
              <a:rPr lang="en-US" sz="1000" b="1" noProof="0">
                <a:latin typeface="Arial" panose="020B0604020202020204" pitchFamily="34" charset="0"/>
                <a:cs typeface="Arial" panose="020B0604020202020204" pitchFamily="34" charset="0"/>
              </a:rPr>
              <a:t>Incident</a:t>
            </a:r>
            <a:r>
              <a:rPr lang="en-US" sz="1000" noProof="0">
                <a:latin typeface="Arial" panose="020B0604020202020204" pitchFamily="34" charset="0"/>
                <a:cs typeface="Arial" panose="020B0604020202020204" pitchFamily="34" charset="0"/>
              </a:rPr>
              <a:t> Flood</a:t>
            </a:r>
          </a:p>
          <a:p>
            <a:pPr marL="171450" lvl="1" indent="-171450">
              <a:buFont typeface="Arial" panose="020B0604020202020204" pitchFamily="34" charset="0"/>
              <a:buChar char="•"/>
              <a:defRPr/>
            </a:pPr>
            <a:r>
              <a:rPr lang="en-US" sz="1000" noProof="0">
                <a:latin typeface="Arial" panose="020B0604020202020204" pitchFamily="34" charset="0"/>
                <a:cs typeface="Arial" panose="020B0604020202020204" pitchFamily="34" charset="0"/>
              </a:rPr>
              <a:t>GIS Informal </a:t>
            </a:r>
            <a:r>
              <a:rPr lang="en-US" sz="1000" b="1" noProof="0">
                <a:latin typeface="Arial" panose="020B0604020202020204" pitchFamily="34" charset="0"/>
                <a:cs typeface="Arial" panose="020B0604020202020204" pitchFamily="34" charset="0"/>
              </a:rPr>
              <a:t>PM Stack</a:t>
            </a:r>
          </a:p>
          <a:p>
            <a:pPr marL="171450" lvl="1" indent="-171450">
              <a:buFont typeface="Arial" panose="020B0604020202020204" pitchFamily="34" charset="0"/>
              <a:buChar char="•"/>
              <a:defRPr/>
            </a:pPr>
            <a:r>
              <a:rPr lang="en-US" sz="1000" b="1" noProof="0">
                <a:latin typeface="Arial" panose="020B0604020202020204" pitchFamily="34" charset="0"/>
                <a:cs typeface="Arial" panose="020B0604020202020204" pitchFamily="34" charset="0"/>
              </a:rPr>
              <a:t>Corporate Project </a:t>
            </a:r>
            <a:r>
              <a:rPr lang="en-US" sz="1000" noProof="0">
                <a:latin typeface="Arial" panose="020B0604020202020204" pitchFamily="34" charset="0"/>
                <a:cs typeface="Arial" panose="020B0604020202020204" pitchFamily="34" charset="0"/>
              </a:rPr>
              <a:t>Overlap</a:t>
            </a:r>
          </a:p>
          <a:p>
            <a:endParaRPr lang="en-US" noProof="0">
              <a:solidFill>
                <a:schemeClr val="tx1"/>
              </a:solidFill>
            </a:endParaRPr>
          </a:p>
        </p:txBody>
      </p:sp>
      <p:sp>
        <p:nvSpPr>
          <p:cNvPr id="39" name="TextBox 174">
            <a:extLst>
              <a:ext uri="{FF2B5EF4-FFF2-40B4-BE49-F238E27FC236}">
                <a16:creationId xmlns:a16="http://schemas.microsoft.com/office/drawing/2014/main" id="{62AEE444-01FB-D809-65B3-F550CCD09EFA}"/>
              </a:ext>
            </a:extLst>
          </p:cNvPr>
          <p:cNvSpPr txBox="1"/>
          <p:nvPr/>
        </p:nvSpPr>
        <p:spPr>
          <a:xfrm>
            <a:off x="4514850" y="3751363"/>
            <a:ext cx="3312000" cy="615553"/>
          </a:xfrm>
          <a:prstGeom prst="rect">
            <a:avLst/>
          </a:prstGeom>
          <a:noFill/>
        </p:spPr>
        <p:txBody>
          <a:bodyPr wrap="square" lIns="0" tIns="0" rIns="0" bIns="0" anchor="t">
            <a:spAutoFit/>
          </a:bodyPr>
          <a:lstStyle>
            <a:defPPr>
              <a:defRPr lang="en-US"/>
            </a:defPPr>
            <a:lvl1pPr>
              <a:lnSpc>
                <a:spcPct val="110000"/>
              </a:lnSpc>
              <a:spcBef>
                <a:spcPts val="0"/>
              </a:spcBef>
              <a:spcAft>
                <a:spcPts val="0"/>
              </a:spcAft>
              <a:defRPr sz="1000" b="0" i="0">
                <a:solidFill>
                  <a:schemeClr val="bg1"/>
                </a:solidFill>
                <a:latin typeface="Arial" panose="020B0604020202020204" pitchFamily="34" charset="0"/>
                <a:cs typeface="Arial" panose="020B0604020202020204" pitchFamily="34" charset="0"/>
              </a:defRPr>
            </a:lvl1pPr>
          </a:lstStyle>
          <a:p>
            <a:pPr marL="171450" lvl="1" indent="-171450">
              <a:buFont typeface="Arial" panose="020B0604020202020204" pitchFamily="34" charset="0"/>
              <a:buChar char="•"/>
              <a:defRPr/>
            </a:pPr>
            <a:r>
              <a:rPr lang="en-US" sz="1000" noProof="0">
                <a:latin typeface="Arial" panose="020B0604020202020204" pitchFamily="34" charset="0"/>
                <a:cs typeface="Arial" panose="020B0604020202020204" pitchFamily="34" charset="0"/>
              </a:rPr>
              <a:t>Customer Service Leadership Gap</a:t>
            </a:r>
          </a:p>
          <a:p>
            <a:pPr marL="171450" lvl="1" indent="-171450">
              <a:buFont typeface="Arial" panose="020B0604020202020204" pitchFamily="34" charset="0"/>
              <a:buChar char="•"/>
              <a:defRPr/>
            </a:pPr>
            <a:r>
              <a:rPr lang="en-US" sz="1000" noProof="0">
                <a:latin typeface="Arial" panose="020B0604020202020204" pitchFamily="34" charset="0"/>
                <a:cs typeface="Arial" panose="020B0604020202020204" pitchFamily="34" charset="0"/>
              </a:rPr>
              <a:t>No Branch-Wide Portfolio Tool</a:t>
            </a:r>
          </a:p>
          <a:p>
            <a:pPr marL="171450" lvl="1" indent="-171450">
              <a:buFont typeface="Arial" panose="020B0604020202020204" pitchFamily="34" charset="0"/>
              <a:buChar char="•"/>
              <a:defRPr/>
            </a:pPr>
            <a:r>
              <a:rPr lang="en-US" sz="1000" noProof="0">
                <a:latin typeface="Arial" panose="020B0604020202020204" pitchFamily="34" charset="0"/>
                <a:cs typeface="Arial" panose="020B0604020202020204" pitchFamily="34" charset="0"/>
              </a:rPr>
              <a:t>Smart Metering Vendor Concentration</a:t>
            </a:r>
          </a:p>
          <a:p>
            <a:pPr marL="171450" lvl="1" indent="-171450">
              <a:buFont typeface="Arial" panose="020B0604020202020204" pitchFamily="34" charset="0"/>
              <a:buChar char="•"/>
              <a:defRPr/>
            </a:pPr>
            <a:r>
              <a:rPr lang="en-US" sz="1000" noProof="0">
                <a:latin typeface="Arial" panose="020B0604020202020204" pitchFamily="34" charset="0"/>
                <a:cs typeface="Arial" panose="020B0604020202020204" pitchFamily="34" charset="0"/>
              </a:rPr>
              <a:t>Multi-</a:t>
            </a:r>
            <a:r>
              <a:rPr lang="en-US" sz="1000" noProof="0" err="1">
                <a:latin typeface="Arial" panose="020B0604020202020204" pitchFamily="34" charset="0"/>
                <a:cs typeface="Arial" panose="020B0604020202020204" pitchFamily="34" charset="0"/>
              </a:rPr>
              <a:t>OpCo</a:t>
            </a:r>
            <a:r>
              <a:rPr lang="en-US" sz="1000" noProof="0">
                <a:latin typeface="Arial" panose="020B0604020202020204" pitchFamily="34" charset="0"/>
                <a:cs typeface="Arial" panose="020B0604020202020204" pitchFamily="34" charset="0"/>
              </a:rPr>
              <a:t> Capacity Competition</a:t>
            </a:r>
            <a:endParaRPr lang="en-US" noProof="0"/>
          </a:p>
        </p:txBody>
      </p:sp>
      <p:sp>
        <p:nvSpPr>
          <p:cNvPr id="35" name="TextBox 174">
            <a:extLst>
              <a:ext uri="{FF2B5EF4-FFF2-40B4-BE49-F238E27FC236}">
                <a16:creationId xmlns:a16="http://schemas.microsoft.com/office/drawing/2014/main" id="{2FDF6C5E-0CFD-47F1-0C08-AEDE1B6968BF}"/>
              </a:ext>
            </a:extLst>
          </p:cNvPr>
          <p:cNvSpPr txBox="1"/>
          <p:nvPr/>
        </p:nvSpPr>
        <p:spPr>
          <a:xfrm>
            <a:off x="8553449" y="1935327"/>
            <a:ext cx="3272059" cy="1848904"/>
          </a:xfrm>
          <a:prstGeom prst="rect">
            <a:avLst/>
          </a:prstGeom>
          <a:noFill/>
        </p:spPr>
        <p:txBody>
          <a:bodyPr wrap="square" lIns="0" tIns="0" rIns="0" bIns="0" anchor="t">
            <a:spAutoFit/>
          </a:bodyPr>
          <a:lstStyle>
            <a:defPPr>
              <a:defRPr lang="en-US"/>
            </a:defPPr>
            <a:lvl1pPr>
              <a:lnSpc>
                <a:spcPct val="110000"/>
              </a:lnSpc>
              <a:spcBef>
                <a:spcPts val="0"/>
              </a:spcBef>
              <a:spcAft>
                <a:spcPts val="0"/>
              </a:spcAft>
              <a:defRPr sz="1000" b="0" i="0">
                <a:solidFill>
                  <a:schemeClr val="bg1"/>
                </a:solidFill>
                <a:latin typeface="Arial" panose="020B0604020202020204" pitchFamily="34" charset="0"/>
                <a:cs typeface="Arial" panose="020B0604020202020204" pitchFamily="34" charset="0"/>
              </a:defRPr>
            </a:lvl1pPr>
          </a:lstStyle>
          <a:p>
            <a:r>
              <a:rPr lang="en-US" noProof="0">
                <a:solidFill>
                  <a:schemeClr val="tx1"/>
                </a:solidFill>
              </a:rPr>
              <a:t>This refers to the misalignment between the organizational structure, governance model, and the way products are managed and delivered.</a:t>
            </a:r>
            <a:br>
              <a:rPr lang="en-US" noProof="0">
                <a:solidFill>
                  <a:schemeClr val="tx1"/>
                </a:solidFill>
              </a:rPr>
            </a:br>
            <a:r>
              <a:rPr lang="en-US" noProof="0">
                <a:solidFill>
                  <a:schemeClr val="tx1"/>
                </a:solidFill>
              </a:rPr>
              <a:t>This section highlights the structural gaps:</a:t>
            </a:r>
          </a:p>
          <a:p>
            <a:pPr marL="171450" indent="-171450">
              <a:buFont typeface="Arial" panose="020B0604020202020204" pitchFamily="34" charset="0"/>
              <a:buChar char="•"/>
            </a:pPr>
            <a:r>
              <a:rPr lang="en-US" noProof="0">
                <a:solidFill>
                  <a:schemeClr val="tx1"/>
                </a:solidFill>
              </a:rPr>
              <a:t>No Product Entry Point</a:t>
            </a:r>
          </a:p>
          <a:p>
            <a:pPr marL="171450" indent="-171450">
              <a:buFont typeface="Arial" panose="020B0604020202020204" pitchFamily="34" charset="0"/>
              <a:buChar char="•"/>
            </a:pPr>
            <a:r>
              <a:rPr lang="en-US" noProof="0">
                <a:solidFill>
                  <a:schemeClr val="tx1"/>
                </a:solidFill>
              </a:rPr>
              <a:t>No Value-Based Decision-Making</a:t>
            </a:r>
          </a:p>
          <a:p>
            <a:pPr marL="171450" indent="-171450">
              <a:buFont typeface="Arial" panose="020B0604020202020204" pitchFamily="34" charset="0"/>
              <a:buChar char="•"/>
            </a:pPr>
            <a:r>
              <a:rPr lang="en-US" noProof="0">
                <a:solidFill>
                  <a:schemeClr val="tx1"/>
                </a:solidFill>
              </a:rPr>
              <a:t>No End-to-End Product View</a:t>
            </a:r>
          </a:p>
          <a:p>
            <a:pPr marL="171450" indent="-171450">
              <a:buFont typeface="Arial" panose="020B0604020202020204" pitchFamily="34" charset="0"/>
              <a:buChar char="•"/>
            </a:pPr>
            <a:r>
              <a:rPr lang="en-US" noProof="0">
                <a:solidFill>
                  <a:schemeClr val="tx1"/>
                </a:solidFill>
              </a:rPr>
              <a:t>No Ownership of Outcomes</a:t>
            </a:r>
          </a:p>
          <a:p>
            <a:pPr marL="171450" indent="-171450">
              <a:buFont typeface="Arial" panose="020B0604020202020204" pitchFamily="34" charset="0"/>
              <a:buChar char="•"/>
            </a:pPr>
            <a:r>
              <a:rPr lang="en-US" noProof="0">
                <a:solidFill>
                  <a:schemeClr val="tx1"/>
                </a:solidFill>
              </a:rPr>
              <a:t>No Product-Level Steering</a:t>
            </a:r>
          </a:p>
          <a:p>
            <a:pPr marL="171450" indent="-171450">
              <a:buFont typeface="Arial" panose="020B0604020202020204" pitchFamily="34" charset="0"/>
              <a:buChar char="•"/>
            </a:pPr>
            <a:r>
              <a:rPr lang="en-US" noProof="0">
                <a:solidFill>
                  <a:schemeClr val="tx1"/>
                </a:solidFill>
              </a:rPr>
              <a:t>No Common Language of Value</a:t>
            </a:r>
          </a:p>
          <a:p>
            <a:pPr marL="171450" indent="-171450">
              <a:buFont typeface="Arial" panose="020B0604020202020204" pitchFamily="34" charset="0"/>
              <a:buChar char="•"/>
            </a:pPr>
            <a:r>
              <a:rPr lang="en-US" noProof="0">
                <a:solidFill>
                  <a:schemeClr val="tx1"/>
                </a:solidFill>
              </a:rPr>
              <a:t>No Product Ownership Model</a:t>
            </a:r>
          </a:p>
        </p:txBody>
      </p:sp>
      <p:sp>
        <p:nvSpPr>
          <p:cNvPr id="24" name="Rectángulo: esquinas redondeadas 23">
            <a:extLst>
              <a:ext uri="{FF2B5EF4-FFF2-40B4-BE49-F238E27FC236}">
                <a16:creationId xmlns:a16="http://schemas.microsoft.com/office/drawing/2014/main" id="{145C7B09-FF40-F36F-C81E-7A85C00E41F9}"/>
              </a:ext>
            </a:extLst>
          </p:cNvPr>
          <p:cNvSpPr/>
          <p:nvPr/>
        </p:nvSpPr>
        <p:spPr>
          <a:xfrm>
            <a:off x="582330" y="5737518"/>
            <a:ext cx="2700000" cy="396000"/>
          </a:xfrm>
          <a:prstGeom prst="roundRect">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000" b="1" noProof="0">
                <a:solidFill>
                  <a:schemeClr val="tx1"/>
                </a:solidFill>
                <a:latin typeface="Arial" panose="020B0604020202020204" pitchFamily="34" charset="0"/>
                <a:cs typeface="Arial" panose="020B0604020202020204" pitchFamily="34" charset="0"/>
              </a:rPr>
              <a:t>Demand Intake &amp; Structuring</a:t>
            </a:r>
          </a:p>
        </p:txBody>
      </p:sp>
      <p:sp>
        <p:nvSpPr>
          <p:cNvPr id="28" name="Rectángulo: esquinas redondeadas 27">
            <a:extLst>
              <a:ext uri="{FF2B5EF4-FFF2-40B4-BE49-F238E27FC236}">
                <a16:creationId xmlns:a16="http://schemas.microsoft.com/office/drawing/2014/main" id="{C510FC52-8AC0-4444-4936-DB9393694D86}"/>
              </a:ext>
            </a:extLst>
          </p:cNvPr>
          <p:cNvSpPr/>
          <p:nvPr/>
        </p:nvSpPr>
        <p:spPr>
          <a:xfrm>
            <a:off x="3417158" y="5737518"/>
            <a:ext cx="2700000" cy="396000"/>
          </a:xfrm>
          <a:prstGeom prst="roundRect">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noProof="0">
                <a:solidFill>
                  <a:schemeClr val="tx1"/>
                </a:solidFill>
                <a:latin typeface="Arial" panose="020B0604020202020204" pitchFamily="34" charset="0"/>
                <a:cs typeface="Arial" panose="020B0604020202020204" pitchFamily="34" charset="0"/>
              </a:rPr>
              <a:t>Value-Based Prioritization</a:t>
            </a:r>
          </a:p>
        </p:txBody>
      </p:sp>
      <p:sp>
        <p:nvSpPr>
          <p:cNvPr id="29" name="Rectángulo: esquinas redondeadas 28">
            <a:extLst>
              <a:ext uri="{FF2B5EF4-FFF2-40B4-BE49-F238E27FC236}">
                <a16:creationId xmlns:a16="http://schemas.microsoft.com/office/drawing/2014/main" id="{2EAD87EA-C76B-DBE7-AD27-2F34CBD42255}"/>
              </a:ext>
            </a:extLst>
          </p:cNvPr>
          <p:cNvSpPr/>
          <p:nvPr/>
        </p:nvSpPr>
        <p:spPr>
          <a:xfrm>
            <a:off x="6251986" y="5737518"/>
            <a:ext cx="2700000" cy="396000"/>
          </a:xfrm>
          <a:prstGeom prst="roundRect">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noProof="0">
                <a:solidFill>
                  <a:schemeClr val="tx1"/>
                </a:solidFill>
                <a:latin typeface="Arial" panose="020B0604020202020204" pitchFamily="34" charset="0"/>
                <a:cs typeface="Arial" panose="020B0604020202020204" pitchFamily="34" charset="0"/>
              </a:rPr>
              <a:t>Product Portfolio Management &amp; Planning</a:t>
            </a:r>
          </a:p>
        </p:txBody>
      </p:sp>
      <p:sp>
        <p:nvSpPr>
          <p:cNvPr id="30" name="Rectángulo: esquinas redondeadas 29">
            <a:extLst>
              <a:ext uri="{FF2B5EF4-FFF2-40B4-BE49-F238E27FC236}">
                <a16:creationId xmlns:a16="http://schemas.microsoft.com/office/drawing/2014/main" id="{DEAD4AAC-B712-D9A7-417F-C38EB57D53F0}"/>
              </a:ext>
            </a:extLst>
          </p:cNvPr>
          <p:cNvSpPr/>
          <p:nvPr/>
        </p:nvSpPr>
        <p:spPr>
          <a:xfrm>
            <a:off x="9086813" y="5739155"/>
            <a:ext cx="2700000" cy="396000"/>
          </a:xfrm>
          <a:prstGeom prst="roundRect">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noProof="0">
                <a:solidFill>
                  <a:schemeClr val="tx1"/>
                </a:solidFill>
                <a:latin typeface="Arial" panose="020B0604020202020204" pitchFamily="34" charset="0"/>
                <a:cs typeface="Arial" panose="020B0604020202020204" pitchFamily="34" charset="0"/>
              </a:rPr>
              <a:t>Product Governance &amp; Ownership</a:t>
            </a:r>
          </a:p>
        </p:txBody>
      </p:sp>
      <p:sp>
        <p:nvSpPr>
          <p:cNvPr id="40" name="TextBox 174">
            <a:extLst>
              <a:ext uri="{FF2B5EF4-FFF2-40B4-BE49-F238E27FC236}">
                <a16:creationId xmlns:a16="http://schemas.microsoft.com/office/drawing/2014/main" id="{B00D2C6D-63E6-4FE8-82AD-88D2B2078D70}"/>
              </a:ext>
            </a:extLst>
          </p:cNvPr>
          <p:cNvSpPr txBox="1"/>
          <p:nvPr/>
        </p:nvSpPr>
        <p:spPr>
          <a:xfrm>
            <a:off x="591245" y="5479332"/>
            <a:ext cx="11268000" cy="159211"/>
          </a:xfrm>
          <a:prstGeom prst="rect">
            <a:avLst/>
          </a:prstGeom>
          <a:noFill/>
        </p:spPr>
        <p:txBody>
          <a:bodyPr wrap="square" lIns="0" tIns="0" rIns="0" bIns="0" anchor="t">
            <a:spAutoFit/>
          </a:bodyPr>
          <a:lstStyle>
            <a:defPPr>
              <a:defRPr lang="en-US"/>
            </a:defPPr>
            <a:lvl1pPr>
              <a:lnSpc>
                <a:spcPct val="110000"/>
              </a:lnSpc>
              <a:spcBef>
                <a:spcPts val="0"/>
              </a:spcBef>
              <a:spcAft>
                <a:spcPts val="0"/>
              </a:spcAft>
              <a:defRPr sz="1000" b="0" i="0">
                <a:latin typeface="Arial" panose="020B0604020202020204" pitchFamily="34" charset="0"/>
                <a:cs typeface="Arial" panose="020B0604020202020204" pitchFamily="34" charset="0"/>
              </a:defRPr>
            </a:lvl1pPr>
          </a:lstStyle>
          <a:p>
            <a:r>
              <a:rPr lang="en-US" noProof="0"/>
              <a:t>They will serve as a decision-making framework for designing processes, roles, and governance aligned with a more scalable, transparent, and product-oriented model.</a:t>
            </a:r>
          </a:p>
        </p:txBody>
      </p:sp>
      <p:pic>
        <p:nvPicPr>
          <p:cNvPr id="51" name="Gráfico 50" descr="Corona de usuario femenino con relleno sólido">
            <a:extLst>
              <a:ext uri="{FF2B5EF4-FFF2-40B4-BE49-F238E27FC236}">
                <a16:creationId xmlns:a16="http://schemas.microsoft.com/office/drawing/2014/main" id="{55A58A34-2E8D-B271-C117-1ED5D8B8355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26270" y="5811099"/>
            <a:ext cx="250323" cy="250323"/>
          </a:xfrm>
          <a:prstGeom prst="rect">
            <a:avLst/>
          </a:prstGeom>
        </p:spPr>
      </p:pic>
      <p:pic>
        <p:nvPicPr>
          <p:cNvPr id="52" name="Gráfico 51" descr="Inventario de búsqueda con relleno sólido">
            <a:extLst>
              <a:ext uri="{FF2B5EF4-FFF2-40B4-BE49-F238E27FC236}">
                <a16:creationId xmlns:a16="http://schemas.microsoft.com/office/drawing/2014/main" id="{E5AFA2AF-6C4A-4644-2FBD-4A2325D44FA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306757" y="5811099"/>
            <a:ext cx="250323" cy="250323"/>
          </a:xfrm>
          <a:prstGeom prst="rect">
            <a:avLst/>
          </a:prstGeom>
        </p:spPr>
      </p:pic>
      <p:pic>
        <p:nvPicPr>
          <p:cNvPr id="53" name="Gráfico 52" descr="Diamante con relleno sólido">
            <a:extLst>
              <a:ext uri="{FF2B5EF4-FFF2-40B4-BE49-F238E27FC236}">
                <a16:creationId xmlns:a16="http://schemas.microsoft.com/office/drawing/2014/main" id="{B95AADE6-E340-E92D-D062-D9171B9E564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487244" y="5811099"/>
            <a:ext cx="250323" cy="250323"/>
          </a:xfrm>
          <a:prstGeom prst="rect">
            <a:avLst/>
          </a:prstGeom>
        </p:spPr>
      </p:pic>
      <p:pic>
        <p:nvPicPr>
          <p:cNvPr id="54" name="Gráfico 53" descr="Bandeja de entrada marcada con relleno sólido">
            <a:extLst>
              <a:ext uri="{FF2B5EF4-FFF2-40B4-BE49-F238E27FC236}">
                <a16:creationId xmlns:a16="http://schemas.microsoft.com/office/drawing/2014/main" id="{830BB2F5-E529-2A1C-DA4B-7E6270FDF7F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67731" y="5811099"/>
            <a:ext cx="250323" cy="250323"/>
          </a:xfrm>
          <a:prstGeom prst="rect">
            <a:avLst/>
          </a:prstGeom>
        </p:spPr>
      </p:pic>
      <p:sp>
        <p:nvSpPr>
          <p:cNvPr id="16" name="Título 2">
            <a:extLst>
              <a:ext uri="{FF2B5EF4-FFF2-40B4-BE49-F238E27FC236}">
                <a16:creationId xmlns:a16="http://schemas.microsoft.com/office/drawing/2014/main" id="{13FF10D7-104B-0FB0-B658-E0980B3EFBC3}"/>
              </a:ext>
            </a:extLst>
          </p:cNvPr>
          <p:cNvSpPr txBox="1">
            <a:spLocks/>
          </p:cNvSpPr>
          <p:nvPr/>
        </p:nvSpPr>
        <p:spPr>
          <a:xfrm>
            <a:off x="180917" y="127319"/>
            <a:ext cx="9201207" cy="514011"/>
          </a:xfrm>
          <a:prstGeom prst="rect">
            <a:avLst/>
          </a:prstGeom>
        </p:spPr>
        <p:txBody>
          <a:bodyPr anchor="ctr">
            <a:noAutofit/>
          </a:bodyPr>
          <a:lstStyle>
            <a:defPPr>
              <a:defRPr lang="en-US"/>
            </a:defPPr>
            <a:lvl1pPr marR="0" lvl="0" indent="0" fontAlgn="auto">
              <a:lnSpc>
                <a:spcPct val="90000"/>
              </a:lnSpc>
              <a:spcBef>
                <a:spcPct val="0"/>
              </a:spcBef>
              <a:spcAft>
                <a:spcPts val="0"/>
              </a:spcAft>
              <a:buClrTx/>
              <a:buSzTx/>
              <a:buFontTx/>
              <a:buNone/>
              <a:tabLst/>
              <a:defRPr kumimoji="0" sz="2400" b="1" i="0" u="none" strike="noStrike" cap="none" spc="0" normalizeH="0" baseline="0">
                <a:ln>
                  <a:noFill/>
                </a:ln>
                <a:solidFill>
                  <a:prstClr val="white"/>
                </a:solidFill>
                <a:effectLst/>
                <a:uLnTx/>
                <a:uFillTx/>
                <a:latin typeface="Arial" panose="020B0604020202020204" pitchFamily="34" charset="0"/>
                <a:ea typeface="+mj-ea"/>
                <a:cs typeface="Arial" panose="020B0604020202020204" pitchFamily="34" charset="0"/>
              </a:defRPr>
            </a:lvl1pPr>
          </a:lstStyle>
          <a:p>
            <a:r>
              <a:rPr lang="en-US" noProof="0">
                <a:sym typeface="Gordita"/>
              </a:rPr>
              <a:t>INSIGHTS &amp; KEY DEFINITIONS FOR THE TO-BE MODEL</a:t>
            </a:r>
          </a:p>
          <a:p>
            <a:r>
              <a:rPr lang="en-US" sz="1200" noProof="0"/>
              <a:t>OVERALL CONCLUSIONS</a:t>
            </a:r>
          </a:p>
        </p:txBody>
      </p:sp>
    </p:spTree>
    <p:extLst>
      <p:ext uri="{BB962C8B-B14F-4D97-AF65-F5344CB8AC3E}">
        <p14:creationId xmlns:p14="http://schemas.microsoft.com/office/powerpoint/2010/main" val="30961424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B51845-DE05-45CC-4AF1-8013361E66AB}"/>
            </a:ext>
          </a:extLst>
        </p:cNvPr>
        <p:cNvGrpSpPr/>
        <p:nvPr/>
      </p:nvGrpSpPr>
      <p:grpSpPr>
        <a:xfrm>
          <a:off x="0" y="0"/>
          <a:ext cx="0" cy="0"/>
          <a:chOff x="0" y="0"/>
          <a:chExt cx="0" cy="0"/>
        </a:xfrm>
      </p:grpSpPr>
      <p:sp>
        <p:nvSpPr>
          <p:cNvPr id="8" name="Título 2">
            <a:extLst>
              <a:ext uri="{FF2B5EF4-FFF2-40B4-BE49-F238E27FC236}">
                <a16:creationId xmlns:a16="http://schemas.microsoft.com/office/drawing/2014/main" id="{4B2971E6-39F8-A7FD-9073-BFE480325CFB}"/>
              </a:ext>
            </a:extLst>
          </p:cNvPr>
          <p:cNvSpPr txBox="1">
            <a:spLocks/>
          </p:cNvSpPr>
          <p:nvPr/>
        </p:nvSpPr>
        <p:spPr>
          <a:xfrm>
            <a:off x="180917" y="127319"/>
            <a:ext cx="9201207" cy="514011"/>
          </a:xfrm>
          <a:prstGeom prst="rect">
            <a:avLst/>
          </a:prstGeom>
        </p:spPr>
        <p:txBody>
          <a:bodyPr anchor="ctr">
            <a:noAutofit/>
          </a:bodyPr>
          <a:lstStyle>
            <a:defPPr>
              <a:defRPr lang="en-US"/>
            </a:defPPr>
            <a:lvl1pPr marR="0" lvl="0" indent="0" fontAlgn="auto">
              <a:lnSpc>
                <a:spcPct val="90000"/>
              </a:lnSpc>
              <a:spcBef>
                <a:spcPct val="0"/>
              </a:spcBef>
              <a:spcAft>
                <a:spcPts val="0"/>
              </a:spcAft>
              <a:buClrTx/>
              <a:buSzTx/>
              <a:buFontTx/>
              <a:buNone/>
              <a:tabLst/>
              <a:defRPr kumimoji="0" sz="2400" b="1" i="0" u="none" strike="noStrike" cap="none" spc="0" normalizeH="0" baseline="0">
                <a:ln>
                  <a:noFill/>
                </a:ln>
                <a:solidFill>
                  <a:prstClr val="white"/>
                </a:solidFill>
                <a:effectLst/>
                <a:uLnTx/>
                <a:uFillTx/>
                <a:latin typeface="Arial" panose="020B0604020202020204" pitchFamily="34" charset="0"/>
                <a:ea typeface="+mj-ea"/>
                <a:cs typeface="Arial" panose="020B0604020202020204" pitchFamily="34" charset="0"/>
              </a:defRPr>
            </a:lvl1pPr>
          </a:lstStyle>
          <a:p>
            <a:r>
              <a:rPr lang="en-US" noProof="0">
                <a:sym typeface="Gordita"/>
              </a:rPr>
              <a:t>INSIGHTS &amp; KEY DEFINITIONS FOR THE TO-BE MODEL</a:t>
            </a:r>
          </a:p>
          <a:p>
            <a:r>
              <a:rPr lang="en-US" sz="1200" noProof="0"/>
              <a:t>CURRENT OPERATING CONSTRAINTS</a:t>
            </a:r>
          </a:p>
        </p:txBody>
      </p:sp>
      <p:sp>
        <p:nvSpPr>
          <p:cNvPr id="23" name="TextBox 22">
            <a:extLst>
              <a:ext uri="{FF2B5EF4-FFF2-40B4-BE49-F238E27FC236}">
                <a16:creationId xmlns:a16="http://schemas.microsoft.com/office/drawing/2014/main" id="{7574D6D4-9545-3260-DB1B-B9175477D690}"/>
              </a:ext>
            </a:extLst>
          </p:cNvPr>
          <p:cNvSpPr txBox="1"/>
          <p:nvPr/>
        </p:nvSpPr>
        <p:spPr>
          <a:xfrm>
            <a:off x="246506" y="863377"/>
            <a:ext cx="11274552" cy="215444"/>
          </a:xfrm>
          <a:prstGeom prst="rect">
            <a:avLst/>
          </a:prstGeom>
          <a:noFill/>
        </p:spPr>
        <p:txBody>
          <a:bodyPr wrap="square" lIns="0" tIns="0" rIns="0" bIns="0" rtlCol="0">
            <a:noAutofit/>
          </a:bodyPr>
          <a:lstStyle>
            <a:defPPr>
              <a:defRPr lang="en-US"/>
            </a:defPPr>
            <a:lvl1pPr marR="0" lvl="0" indent="0" algn="just" fontAlgn="auto">
              <a:lnSpc>
                <a:spcPct val="100000"/>
              </a:lnSpc>
              <a:spcBef>
                <a:spcPts val="0"/>
              </a:spcBef>
              <a:spcAft>
                <a:spcPts val="0"/>
              </a:spcAft>
              <a:buClrTx/>
              <a:buSzTx/>
              <a:buFontTx/>
              <a:buNone/>
              <a:tabLst/>
              <a:defRPr kumimoji="0" sz="1400" b="1" i="0" u="none" strike="noStrike" cap="none" spc="0" normalizeH="0" baseline="0">
                <a:ln>
                  <a:noFill/>
                </a:ln>
                <a:solidFill>
                  <a:srgbClr val="0F9ED5">
                    <a:lumMod val="75000"/>
                  </a:srgbClr>
                </a:solidFill>
                <a:effectLst/>
                <a:uLnTx/>
                <a:uFillTx/>
                <a:latin typeface="Arial" panose="020B0604020202020204" pitchFamily="34" charset="0"/>
                <a:cs typeface="Arial" panose="020B0604020202020204" pitchFamily="34" charset="0"/>
              </a:defRPr>
            </a:lvl1pPr>
            <a:lvl2pPr marL="228586" eaLnBrk="0" fontAlgn="base" hangingPunct="0">
              <a:spcBef>
                <a:spcPct val="0"/>
              </a:spcBef>
              <a:spcAft>
                <a:spcPct val="0"/>
              </a:spcAft>
              <a:defRPr>
                <a:latin typeface="Arial" pitchFamily="2" charset="77"/>
              </a:defRPr>
            </a:lvl2pPr>
            <a:lvl3pPr marL="457172" eaLnBrk="0" fontAlgn="base" hangingPunct="0">
              <a:spcBef>
                <a:spcPct val="0"/>
              </a:spcBef>
              <a:spcAft>
                <a:spcPct val="0"/>
              </a:spcAft>
              <a:defRPr>
                <a:latin typeface="Arial" pitchFamily="2" charset="77"/>
              </a:defRPr>
            </a:lvl3pPr>
            <a:lvl4pPr marL="685757" eaLnBrk="0" fontAlgn="base" hangingPunct="0">
              <a:spcBef>
                <a:spcPct val="0"/>
              </a:spcBef>
              <a:spcAft>
                <a:spcPct val="0"/>
              </a:spcAft>
              <a:defRPr>
                <a:latin typeface="Arial" pitchFamily="2" charset="77"/>
              </a:defRPr>
            </a:lvl4pPr>
            <a:lvl5pPr marL="914343" eaLnBrk="0" fontAlgn="base" hangingPunct="0">
              <a:spcBef>
                <a:spcPct val="0"/>
              </a:spcBef>
              <a:spcAft>
                <a:spcPct val="0"/>
              </a:spcAft>
              <a:defRPr>
                <a:latin typeface="Arial" pitchFamily="2" charset="77"/>
              </a:defRPr>
            </a:lvl5pPr>
            <a:lvl6pPr marL="1142929" defTabSz="457172">
              <a:defRPr>
                <a:latin typeface="Arial" pitchFamily="2" charset="77"/>
              </a:defRPr>
            </a:lvl6pPr>
            <a:lvl7pPr marL="1371515" defTabSz="457172">
              <a:defRPr>
                <a:latin typeface="Arial" pitchFamily="2" charset="77"/>
              </a:defRPr>
            </a:lvl7pPr>
            <a:lvl8pPr marL="1600100" defTabSz="457172">
              <a:defRPr>
                <a:latin typeface="Arial" pitchFamily="2" charset="77"/>
              </a:defRPr>
            </a:lvl8pPr>
            <a:lvl9pPr marL="1828686" defTabSz="457172">
              <a:defRPr>
                <a:latin typeface="Arial" pitchFamily="2" charset="77"/>
              </a:defRPr>
            </a:lvl9pPr>
          </a:lstStyle>
          <a:p>
            <a:r>
              <a:rPr lang="en-US" noProof="0"/>
              <a:t>The current operating model is constrained by fragmented ownership, inconsistent processes, and limited visibility across demand, delivery, and outcomes. These structural gaps prevent scalable execution and hinder the shift toward a value-driven, product-centric model.</a:t>
            </a:r>
          </a:p>
        </p:txBody>
      </p:sp>
      <p:sp>
        <p:nvSpPr>
          <p:cNvPr id="38" name="Rectangle 3">
            <a:extLst>
              <a:ext uri="{FF2B5EF4-FFF2-40B4-BE49-F238E27FC236}">
                <a16:creationId xmlns:a16="http://schemas.microsoft.com/office/drawing/2014/main" id="{CDEA8050-F1F9-0E9D-4A0A-9A6F34C6784F}"/>
              </a:ext>
            </a:extLst>
          </p:cNvPr>
          <p:cNvSpPr/>
          <p:nvPr/>
        </p:nvSpPr>
        <p:spPr>
          <a:xfrm>
            <a:off x="6179312" y="1865819"/>
            <a:ext cx="5804323" cy="146211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Fragmented intake and ad-hoc prioritization</a:t>
            </a:r>
            <a:r>
              <a:rPr kumimoji="0" lang="en-US" sz="105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 lead to misaligned decisions and unmanaged demand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Formal processes applied only to large initiatives</a:t>
            </a:r>
            <a:r>
              <a:rPr kumimoji="0" lang="en-US" sz="105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 leave most work without structure or governance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Inconsistent ways of working across teams</a:t>
            </a:r>
            <a:r>
              <a:rPr kumimoji="0" lang="en-US" sz="105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 (PMs, Leads, vendors) increase delivery variability </a:t>
            </a:r>
          </a:p>
          <a:p>
            <a:r>
              <a:rPr lang="en-US" sz="1100" noProof="0">
                <a:solidFill>
                  <a:schemeClr val="tx1"/>
                </a:solidFill>
                <a:latin typeface="Arial" panose="020B0604020202020204" pitchFamily="34" charset="0"/>
                <a:cs typeface="Arial" panose="020B0604020202020204" pitchFamily="34" charset="0"/>
              </a:rPr>
              <a:t> </a:t>
            </a:r>
          </a:p>
          <a:p>
            <a:pPr>
              <a:lnSpc>
                <a:spcPct val="110000"/>
              </a:lnSpc>
            </a:pPr>
            <a:endParaRPr lang="en-US" sz="1100" b="1" noProof="0">
              <a:solidFill>
                <a:schemeClr val="tx1"/>
              </a:solidFill>
              <a:latin typeface="Arial" panose="020B0604020202020204" pitchFamily="34" charset="0"/>
              <a:cs typeface="Arial" panose="020B0604020202020204" pitchFamily="34" charset="0"/>
            </a:endParaRPr>
          </a:p>
        </p:txBody>
      </p:sp>
      <p:sp>
        <p:nvSpPr>
          <p:cNvPr id="33" name="Rectángulo 32">
            <a:extLst>
              <a:ext uri="{FF2B5EF4-FFF2-40B4-BE49-F238E27FC236}">
                <a16:creationId xmlns:a16="http://schemas.microsoft.com/office/drawing/2014/main" id="{D98AC005-B423-6868-F925-BB2533D0B100}"/>
              </a:ext>
            </a:extLst>
          </p:cNvPr>
          <p:cNvSpPr/>
          <p:nvPr/>
        </p:nvSpPr>
        <p:spPr>
          <a:xfrm>
            <a:off x="251290" y="3373775"/>
            <a:ext cx="5803200" cy="527164"/>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lIns="648000" rtlCol="0" anchor="ctr"/>
          <a:lstStyle/>
          <a:p>
            <a:r>
              <a:rPr lang="en-US" sz="1200" noProof="0">
                <a:solidFill>
                  <a:schemeClr val="bg1"/>
                </a:solidFill>
                <a:latin typeface="Arial" panose="020B0604020202020204" pitchFamily="34" charset="0"/>
                <a:cs typeface="Arial" panose="020B0604020202020204" pitchFamily="34" charset="0"/>
              </a:rPr>
              <a:t>Digital Products cannot reliably scale delivery or ensure accountability, impacting timelines and quality.</a:t>
            </a:r>
          </a:p>
        </p:txBody>
      </p:sp>
      <p:sp>
        <p:nvSpPr>
          <p:cNvPr id="4" name="Rectangle 3">
            <a:extLst>
              <a:ext uri="{FF2B5EF4-FFF2-40B4-BE49-F238E27FC236}">
                <a16:creationId xmlns:a16="http://schemas.microsoft.com/office/drawing/2014/main" id="{36DC122D-ED0A-411B-99C4-F6F1315B0B14}"/>
              </a:ext>
            </a:extLst>
          </p:cNvPr>
          <p:cNvSpPr/>
          <p:nvPr/>
        </p:nvSpPr>
        <p:spPr>
          <a:xfrm>
            <a:off x="251290" y="1865819"/>
            <a:ext cx="5804323" cy="146211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t"/>
          <a:lstStyle/>
          <a:p>
            <a:r>
              <a:rPr lang="en-US" sz="1100" b="1" noProof="0">
                <a:solidFill>
                  <a:schemeClr val="tx1"/>
                </a:solidFill>
                <a:latin typeface="Arial" panose="020B0604020202020204" pitchFamily="34" charset="0"/>
                <a:cs typeface="Arial" panose="020B0604020202020204" pitchFamily="34" charset="0"/>
              </a:rPr>
              <a:t>Limited and slow-to-scale capacity</a:t>
            </a:r>
            <a:r>
              <a:rPr lang="en-US" sz="1100" noProof="0">
                <a:solidFill>
                  <a:schemeClr val="tx1"/>
                </a:solidFill>
                <a:latin typeface="Arial" panose="020B0604020202020204" pitchFamily="34" charset="0"/>
                <a:cs typeface="Arial" panose="020B0604020202020204" pitchFamily="34" charset="0"/>
              </a:rPr>
              <a:t> (e.g., ~1 year hiring cycle, open leadership roles) reduces responsiveness to growing demand </a:t>
            </a:r>
          </a:p>
          <a:p>
            <a:endParaRPr lang="en-US" sz="1100" noProof="0">
              <a:solidFill>
                <a:schemeClr val="tx1"/>
              </a:solidFill>
              <a:latin typeface="Arial" panose="020B0604020202020204" pitchFamily="34" charset="0"/>
              <a:cs typeface="Arial" panose="020B0604020202020204" pitchFamily="34" charset="0"/>
            </a:endParaRPr>
          </a:p>
          <a:p>
            <a:r>
              <a:rPr lang="en-US" sz="1100" b="1" noProof="0">
                <a:solidFill>
                  <a:schemeClr val="tx1"/>
                </a:solidFill>
                <a:latin typeface="Arial" panose="020B0604020202020204" pitchFamily="34" charset="0"/>
                <a:cs typeface="Arial" panose="020B0604020202020204" pitchFamily="34" charset="0"/>
              </a:rPr>
              <a:t>Unclear ownership and overlapping responsibilities</a:t>
            </a:r>
            <a:r>
              <a:rPr lang="en-US" sz="1100" noProof="0">
                <a:solidFill>
                  <a:schemeClr val="tx1"/>
                </a:solidFill>
                <a:latin typeface="Arial" panose="020B0604020202020204" pitchFamily="34" charset="0"/>
                <a:cs typeface="Arial" panose="020B0604020202020204" pitchFamily="34" charset="0"/>
              </a:rPr>
              <a:t> create execution risk and inefficiencies </a:t>
            </a:r>
          </a:p>
          <a:p>
            <a:endParaRPr lang="en-US" sz="1100" noProof="0">
              <a:solidFill>
                <a:schemeClr val="tx1"/>
              </a:solidFill>
              <a:latin typeface="Arial" panose="020B0604020202020204" pitchFamily="34" charset="0"/>
              <a:cs typeface="Arial" panose="020B0604020202020204" pitchFamily="34" charset="0"/>
            </a:endParaRPr>
          </a:p>
          <a:p>
            <a:r>
              <a:rPr lang="en-US" sz="1100" b="1" noProof="0">
                <a:solidFill>
                  <a:schemeClr val="tx1"/>
                </a:solidFill>
                <a:latin typeface="Arial" panose="020B0604020202020204" pitchFamily="34" charset="0"/>
                <a:cs typeface="Arial" panose="020B0604020202020204" pitchFamily="34" charset="0"/>
              </a:rPr>
              <a:t>High vendor dependency</a:t>
            </a:r>
            <a:r>
              <a:rPr lang="en-US" sz="1100" noProof="0">
                <a:solidFill>
                  <a:schemeClr val="tx1"/>
                </a:solidFill>
                <a:latin typeface="Arial" panose="020B0604020202020204" pitchFamily="34" charset="0"/>
                <a:cs typeface="Arial" panose="020B0604020202020204" pitchFamily="34" charset="0"/>
              </a:rPr>
              <a:t> limits control over delivery and increases coordination overhead</a:t>
            </a:r>
            <a:endParaRPr lang="en-US" sz="1100" b="1" noProof="0">
              <a:solidFill>
                <a:schemeClr val="tx1"/>
              </a:solidFill>
              <a:latin typeface="Arial" panose="020B0604020202020204" pitchFamily="34" charset="0"/>
              <a:cs typeface="Arial" panose="020B0604020202020204" pitchFamily="34" charset="0"/>
            </a:endParaRPr>
          </a:p>
        </p:txBody>
      </p:sp>
      <p:sp>
        <p:nvSpPr>
          <p:cNvPr id="37" name="Rectángulo 36">
            <a:extLst>
              <a:ext uri="{FF2B5EF4-FFF2-40B4-BE49-F238E27FC236}">
                <a16:creationId xmlns:a16="http://schemas.microsoft.com/office/drawing/2014/main" id="{8F67C3EC-850A-C6DC-E01D-0C84603E1C5A}"/>
              </a:ext>
            </a:extLst>
          </p:cNvPr>
          <p:cNvSpPr/>
          <p:nvPr/>
        </p:nvSpPr>
        <p:spPr>
          <a:xfrm>
            <a:off x="6180435" y="3373775"/>
            <a:ext cx="5803200" cy="527164"/>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lIns="648000" rtlCol="0" anchor="ctr"/>
          <a:lstStyle/>
          <a:p>
            <a:r>
              <a:rPr lang="en-US" sz="1200" noProof="0">
                <a:solidFill>
                  <a:schemeClr val="bg1"/>
                </a:solidFill>
                <a:latin typeface="Arial" panose="020B0604020202020204" pitchFamily="34" charset="0"/>
                <a:cs typeface="Arial" panose="020B0604020202020204" pitchFamily="34" charset="0"/>
              </a:rPr>
              <a:t>Demand is neither consistently evaluated nor executed, reducing predictability and value delivery.</a:t>
            </a:r>
          </a:p>
        </p:txBody>
      </p:sp>
      <p:sp>
        <p:nvSpPr>
          <p:cNvPr id="2" name="Rectangle 3">
            <a:extLst>
              <a:ext uri="{FF2B5EF4-FFF2-40B4-BE49-F238E27FC236}">
                <a16:creationId xmlns:a16="http://schemas.microsoft.com/office/drawing/2014/main" id="{72DAD266-25A8-EA1C-BECD-FC8A65F3487E}"/>
              </a:ext>
            </a:extLst>
          </p:cNvPr>
          <p:cNvSpPr/>
          <p:nvPr/>
        </p:nvSpPr>
        <p:spPr>
          <a:xfrm>
            <a:off x="6179312" y="4378960"/>
            <a:ext cx="5804323" cy="146211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Multiple forums without portfolio-level ownership</a:t>
            </a:r>
            <a:r>
              <a:rPr kumimoji="0" lang="en-US" sz="105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 dilute accountability and slow decisions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No standardized prioritization criteria</a:t>
            </a:r>
            <a:r>
              <a:rPr kumimoji="0" lang="en-US" sz="105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 leads to inconsistent and non-value-based trade-offs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Limited cross-team alignment mechanisms</a:t>
            </a:r>
            <a:r>
              <a:rPr kumimoji="0" lang="en-US" sz="105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 (e.g., SAP footprints, Business vs IT) create silos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50">
              <a:solidFill>
                <a:schemeClr val="tx1"/>
              </a:solidFill>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Decisions always result in acceptance causing interference with real demand planning</a:t>
            </a:r>
          </a:p>
        </p:txBody>
      </p:sp>
      <p:sp>
        <p:nvSpPr>
          <p:cNvPr id="6" name="Rectangle 3">
            <a:extLst>
              <a:ext uri="{FF2B5EF4-FFF2-40B4-BE49-F238E27FC236}">
                <a16:creationId xmlns:a16="http://schemas.microsoft.com/office/drawing/2014/main" id="{BC211EA5-9DAA-DCB1-3F8A-7111E8867CB6}"/>
              </a:ext>
            </a:extLst>
          </p:cNvPr>
          <p:cNvSpPr/>
          <p:nvPr/>
        </p:nvSpPr>
        <p:spPr>
          <a:xfrm>
            <a:off x="251290" y="4378960"/>
            <a:ext cx="5804323" cy="146211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t"/>
          <a:lstStyle/>
          <a:p>
            <a:r>
              <a:rPr lang="en-US" sz="1100" b="1">
                <a:solidFill>
                  <a:schemeClr val="tx1"/>
                </a:solidFill>
                <a:latin typeface="Arial" panose="020B0604020202020204" pitchFamily="34" charset="0"/>
                <a:cs typeface="Arial" panose="020B0604020202020204" pitchFamily="34" charset="0"/>
              </a:rPr>
              <a:t>Multiple disconnected intake and tracking tools</a:t>
            </a:r>
            <a:r>
              <a:rPr lang="en-US" sz="1100">
                <a:solidFill>
                  <a:schemeClr val="tx1"/>
                </a:solidFill>
                <a:latin typeface="Arial" panose="020B0604020202020204" pitchFamily="34" charset="0"/>
                <a:cs typeface="Arial" panose="020B0604020202020204" pitchFamily="34" charset="0"/>
              </a:rPr>
              <a:t> prevent end-to-end visibility </a:t>
            </a:r>
          </a:p>
          <a:p>
            <a:endParaRPr lang="en-US" sz="1100">
              <a:solidFill>
                <a:schemeClr val="tx1"/>
              </a:solidFill>
              <a:latin typeface="Arial" panose="020B0604020202020204" pitchFamily="34" charset="0"/>
              <a:cs typeface="Arial" panose="020B0604020202020204" pitchFamily="34" charset="0"/>
            </a:endParaRPr>
          </a:p>
          <a:p>
            <a:r>
              <a:rPr lang="en-US" sz="1100" b="1">
                <a:solidFill>
                  <a:schemeClr val="tx1"/>
                </a:solidFill>
                <a:latin typeface="Arial" panose="020B0604020202020204" pitchFamily="34" charset="0"/>
                <a:cs typeface="Arial" panose="020B0604020202020204" pitchFamily="34" charset="0"/>
              </a:rPr>
              <a:t>Lack of portfolio management capabilities</a:t>
            </a:r>
            <a:r>
              <a:rPr lang="en-US" sz="1100">
                <a:solidFill>
                  <a:schemeClr val="tx1"/>
                </a:solidFill>
                <a:latin typeface="Arial" panose="020B0604020202020204" pitchFamily="34" charset="0"/>
                <a:cs typeface="Arial" panose="020B0604020202020204" pitchFamily="34" charset="0"/>
              </a:rPr>
              <a:t> across most units limits strategic oversight </a:t>
            </a:r>
          </a:p>
          <a:p>
            <a:r>
              <a:rPr lang="en-US" sz="1100" b="1">
                <a:solidFill>
                  <a:schemeClr val="tx1"/>
                </a:solidFill>
                <a:latin typeface="Arial" panose="020B0604020202020204" pitchFamily="34" charset="0"/>
                <a:cs typeface="Arial" panose="020B0604020202020204" pitchFamily="34" charset="0"/>
              </a:rPr>
              <a:t>Inconsistent and informal tool usage</a:t>
            </a:r>
            <a:r>
              <a:rPr lang="en-US" sz="1100">
                <a:solidFill>
                  <a:schemeClr val="tx1"/>
                </a:solidFill>
                <a:latin typeface="Arial" panose="020B0604020202020204" pitchFamily="34" charset="0"/>
                <a:cs typeface="Arial" panose="020B0604020202020204" pitchFamily="34" charset="0"/>
              </a:rPr>
              <a:t> (e.g., spreadsheets, local tools) fragments information </a:t>
            </a:r>
          </a:p>
          <a:p>
            <a:endParaRPr lang="en-US" sz="1100">
              <a:solidFill>
                <a:schemeClr val="tx1"/>
              </a:solidFill>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B591C4F7-348F-AE3C-142E-BC4E491B1821}"/>
              </a:ext>
            </a:extLst>
          </p:cNvPr>
          <p:cNvSpPr/>
          <p:nvPr/>
        </p:nvSpPr>
        <p:spPr>
          <a:xfrm>
            <a:off x="251290" y="5837694"/>
            <a:ext cx="5803200" cy="527164"/>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lIns="648000" rtlCol="0" anchor="ctr"/>
          <a:lstStyle/>
          <a:p>
            <a:r>
              <a:rPr lang="en-US" sz="1200" noProof="0">
                <a:solidFill>
                  <a:schemeClr val="bg1"/>
                </a:solidFill>
                <a:latin typeface="Arial" panose="020B0604020202020204" pitchFamily="34" charset="0"/>
                <a:cs typeface="Arial" panose="020B0604020202020204" pitchFamily="34" charset="0"/>
              </a:rPr>
              <a:t>Leadership lacks real-time transparency to manage demand, capacity, and performance effectively.</a:t>
            </a:r>
          </a:p>
        </p:txBody>
      </p:sp>
      <p:sp>
        <p:nvSpPr>
          <p:cNvPr id="9" name="Rectángulo 8">
            <a:extLst>
              <a:ext uri="{FF2B5EF4-FFF2-40B4-BE49-F238E27FC236}">
                <a16:creationId xmlns:a16="http://schemas.microsoft.com/office/drawing/2014/main" id="{15B5934E-26AD-BDC3-4A21-22199C482EA5}"/>
              </a:ext>
            </a:extLst>
          </p:cNvPr>
          <p:cNvSpPr/>
          <p:nvPr/>
        </p:nvSpPr>
        <p:spPr>
          <a:xfrm>
            <a:off x="6180435" y="5837694"/>
            <a:ext cx="5803200" cy="527164"/>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lIns="648000" rtlCol="0" anchor="ctr"/>
          <a:lstStyle/>
          <a:p>
            <a:r>
              <a:rPr lang="en-US" sz="1200" noProof="0">
                <a:solidFill>
                  <a:schemeClr val="bg1"/>
                </a:solidFill>
                <a:latin typeface="Arial" panose="020B0604020202020204" pitchFamily="34" charset="0"/>
                <a:cs typeface="Arial" panose="020B0604020202020204" pitchFamily="34" charset="0"/>
              </a:rPr>
              <a:t>Decisions are reactive and uncoordinated, limiting alignment with strategic priorities.</a:t>
            </a:r>
          </a:p>
        </p:txBody>
      </p:sp>
      <p:pic>
        <p:nvPicPr>
          <p:cNvPr id="18" name="Gráfico 17" descr="Advertencia con relleno sólido">
            <a:extLst>
              <a:ext uri="{FF2B5EF4-FFF2-40B4-BE49-F238E27FC236}">
                <a16:creationId xmlns:a16="http://schemas.microsoft.com/office/drawing/2014/main" id="{ED2FC5FB-0B67-6C0D-7784-05E7B3DD19C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423" y="3417983"/>
            <a:ext cx="387795" cy="387795"/>
          </a:xfrm>
          <a:prstGeom prst="rect">
            <a:avLst/>
          </a:prstGeom>
        </p:spPr>
      </p:pic>
      <p:pic>
        <p:nvPicPr>
          <p:cNvPr id="25" name="Gráfico 24" descr="Advertencia con relleno sólido">
            <a:extLst>
              <a:ext uri="{FF2B5EF4-FFF2-40B4-BE49-F238E27FC236}">
                <a16:creationId xmlns:a16="http://schemas.microsoft.com/office/drawing/2014/main" id="{DE071F1F-B5A5-A3A5-29D3-9F51CB1D4B5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298343" y="3417983"/>
            <a:ext cx="387795" cy="387795"/>
          </a:xfrm>
          <a:prstGeom prst="rect">
            <a:avLst/>
          </a:prstGeom>
        </p:spPr>
      </p:pic>
      <p:pic>
        <p:nvPicPr>
          <p:cNvPr id="26" name="Gráfico 25" descr="Advertencia con relleno sólido">
            <a:extLst>
              <a:ext uri="{FF2B5EF4-FFF2-40B4-BE49-F238E27FC236}">
                <a16:creationId xmlns:a16="http://schemas.microsoft.com/office/drawing/2014/main" id="{4A48AEB9-D73E-08B0-20FA-F55BE25E84E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423" y="5907183"/>
            <a:ext cx="387795" cy="387795"/>
          </a:xfrm>
          <a:prstGeom prst="rect">
            <a:avLst/>
          </a:prstGeom>
        </p:spPr>
      </p:pic>
      <p:pic>
        <p:nvPicPr>
          <p:cNvPr id="27" name="Gráfico 26" descr="Advertencia con relleno sólido">
            <a:extLst>
              <a:ext uri="{FF2B5EF4-FFF2-40B4-BE49-F238E27FC236}">
                <a16:creationId xmlns:a16="http://schemas.microsoft.com/office/drawing/2014/main" id="{C1EC202B-0F38-8566-0E19-6A2510B47FC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298343" y="5907183"/>
            <a:ext cx="387795" cy="387795"/>
          </a:xfrm>
          <a:prstGeom prst="rect">
            <a:avLst/>
          </a:prstGeom>
        </p:spPr>
      </p:pic>
      <p:sp>
        <p:nvSpPr>
          <p:cNvPr id="46" name="CuadroTexto 45">
            <a:extLst>
              <a:ext uri="{FF2B5EF4-FFF2-40B4-BE49-F238E27FC236}">
                <a16:creationId xmlns:a16="http://schemas.microsoft.com/office/drawing/2014/main" id="{E5F475AE-399E-D2B9-4A4B-A9E56D9FE012}"/>
              </a:ext>
            </a:extLst>
          </p:cNvPr>
          <p:cNvSpPr txBox="1"/>
          <p:nvPr/>
        </p:nvSpPr>
        <p:spPr>
          <a:xfrm>
            <a:off x="251290" y="1586270"/>
            <a:ext cx="5803200" cy="279757"/>
          </a:xfrm>
          <a:prstGeom prst="rect">
            <a:avLst/>
          </a:prstGeom>
          <a:solidFill>
            <a:srgbClr val="6785C1"/>
          </a:solidFill>
        </p:spPr>
        <p:txBody>
          <a:bodyPr wrap="square">
            <a:spAutoFit/>
          </a:bodyPr>
          <a:lstStyle/>
          <a:p>
            <a:pPr>
              <a:lnSpc>
                <a:spcPct val="110000"/>
              </a:lnSpc>
              <a:defRPr/>
            </a:pPr>
            <a:r>
              <a:rPr lang="en-US" sz="1200" b="1" noProof="0">
                <a:solidFill>
                  <a:schemeClr val="bg1"/>
                </a:solidFill>
                <a:latin typeface="Arial" panose="020B0604020202020204" pitchFamily="34" charset="0"/>
                <a:cs typeface="Arial" panose="020B0604020202020204" pitchFamily="34" charset="0"/>
              </a:rPr>
              <a:t>PEOPLE — Capacity &amp; accountability are structurally constrained</a:t>
            </a:r>
          </a:p>
        </p:txBody>
      </p:sp>
      <p:sp>
        <p:nvSpPr>
          <p:cNvPr id="47" name="CuadroTexto 46">
            <a:extLst>
              <a:ext uri="{FF2B5EF4-FFF2-40B4-BE49-F238E27FC236}">
                <a16:creationId xmlns:a16="http://schemas.microsoft.com/office/drawing/2014/main" id="{6B814D15-6602-17E7-AD1D-D2EE548DCD2E}"/>
              </a:ext>
            </a:extLst>
          </p:cNvPr>
          <p:cNvSpPr txBox="1"/>
          <p:nvPr/>
        </p:nvSpPr>
        <p:spPr>
          <a:xfrm>
            <a:off x="6180435" y="1586270"/>
            <a:ext cx="5803200" cy="279757"/>
          </a:xfrm>
          <a:prstGeom prst="rect">
            <a:avLst/>
          </a:prstGeom>
          <a:solidFill>
            <a:srgbClr val="6785C1"/>
          </a:solidFill>
        </p:spPr>
        <p:txBody>
          <a:bodyPr wrap="square">
            <a:spAutoFit/>
          </a:bodyPr>
          <a:lstStyle/>
          <a:p>
            <a:pPr>
              <a:lnSpc>
                <a:spcPct val="110000"/>
              </a:lnSpc>
              <a:defRPr/>
            </a:pPr>
            <a:r>
              <a:rPr lang="en-US" sz="1200" b="1" noProof="0">
                <a:solidFill>
                  <a:schemeClr val="bg1"/>
                </a:solidFill>
                <a:latin typeface="Arial" panose="020B0604020202020204" pitchFamily="34" charset="0"/>
                <a:cs typeface="Arial" panose="020B0604020202020204" pitchFamily="34" charset="0"/>
              </a:rPr>
              <a:t>PROCESS — Lack of standardization drives inconsistency and inefficiency</a:t>
            </a:r>
          </a:p>
        </p:txBody>
      </p:sp>
      <p:sp>
        <p:nvSpPr>
          <p:cNvPr id="48" name="CuadroTexto 47">
            <a:extLst>
              <a:ext uri="{FF2B5EF4-FFF2-40B4-BE49-F238E27FC236}">
                <a16:creationId xmlns:a16="http://schemas.microsoft.com/office/drawing/2014/main" id="{62958742-7118-4BDE-B709-86001CB6EC31}"/>
              </a:ext>
            </a:extLst>
          </p:cNvPr>
          <p:cNvSpPr txBox="1"/>
          <p:nvPr/>
        </p:nvSpPr>
        <p:spPr>
          <a:xfrm>
            <a:off x="251290" y="4055150"/>
            <a:ext cx="5803200" cy="279757"/>
          </a:xfrm>
          <a:prstGeom prst="rect">
            <a:avLst/>
          </a:prstGeom>
          <a:solidFill>
            <a:srgbClr val="6785C1"/>
          </a:solidFill>
        </p:spPr>
        <p:txBody>
          <a:bodyPr wrap="square">
            <a:spAutoFit/>
          </a:bodyPr>
          <a:lstStyle/>
          <a:p>
            <a:pPr>
              <a:lnSpc>
                <a:spcPct val="110000"/>
              </a:lnSpc>
              <a:defRPr/>
            </a:pPr>
            <a:r>
              <a:rPr lang="en-US" sz="1200" b="1" noProof="0">
                <a:solidFill>
                  <a:schemeClr val="bg1"/>
                </a:solidFill>
                <a:latin typeface="Arial" panose="020B0604020202020204" pitchFamily="34" charset="0"/>
                <a:cs typeface="Arial" panose="020B0604020202020204" pitchFamily="34" charset="0"/>
              </a:rPr>
              <a:t>TOOLS — Fragmented ecosystem limits visibility and control</a:t>
            </a:r>
          </a:p>
        </p:txBody>
      </p:sp>
      <p:sp>
        <p:nvSpPr>
          <p:cNvPr id="49" name="CuadroTexto 48">
            <a:extLst>
              <a:ext uri="{FF2B5EF4-FFF2-40B4-BE49-F238E27FC236}">
                <a16:creationId xmlns:a16="http://schemas.microsoft.com/office/drawing/2014/main" id="{EA557239-19D6-E852-8EE9-919351D0D869}"/>
              </a:ext>
            </a:extLst>
          </p:cNvPr>
          <p:cNvSpPr txBox="1"/>
          <p:nvPr/>
        </p:nvSpPr>
        <p:spPr>
          <a:xfrm>
            <a:off x="6180435" y="4055150"/>
            <a:ext cx="5803200" cy="279757"/>
          </a:xfrm>
          <a:prstGeom prst="rect">
            <a:avLst/>
          </a:prstGeom>
          <a:solidFill>
            <a:srgbClr val="6785C1"/>
          </a:solidFill>
        </p:spPr>
        <p:txBody>
          <a:bodyPr wrap="square">
            <a:spAutoFit/>
          </a:bodyPr>
          <a:lstStyle/>
          <a:p>
            <a:pPr>
              <a:lnSpc>
                <a:spcPct val="110000"/>
              </a:lnSpc>
              <a:defRPr/>
            </a:pPr>
            <a:r>
              <a:rPr lang="en-US" sz="1200" b="1" noProof="0">
                <a:solidFill>
                  <a:schemeClr val="bg1"/>
                </a:solidFill>
                <a:latin typeface="Arial" panose="020B0604020202020204" pitchFamily="34" charset="0"/>
                <a:cs typeface="Arial" panose="020B0604020202020204" pitchFamily="34" charset="0"/>
              </a:rPr>
              <a:t>GOVERNANCE — Decision-making is fragmented and not value-driven</a:t>
            </a:r>
          </a:p>
        </p:txBody>
      </p:sp>
    </p:spTree>
    <p:extLst>
      <p:ext uri="{BB962C8B-B14F-4D97-AF65-F5344CB8AC3E}">
        <p14:creationId xmlns:p14="http://schemas.microsoft.com/office/powerpoint/2010/main" val="1758600295"/>
      </p:ext>
    </p:extLst>
  </p:cSld>
  <p:clrMapOvr>
    <a:masterClrMapping/>
  </p:clrMapOvr>
  <p:extLst>
    <p:ext uri="{6950BFC3-D8DA-4A85-94F7-54DA5524770B}">
      <p188:commentRel xmlns:p188="http://schemas.microsoft.com/office/powerpoint/2018/8/main" r:id="rId2"/>
    </p:ext>
  </p:extLs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61E0E2-F6DB-5C2F-15A7-243D0E3DA812}"/>
            </a:ext>
          </a:extLst>
        </p:cNvPr>
        <p:cNvGrpSpPr/>
        <p:nvPr/>
      </p:nvGrpSpPr>
      <p:grpSpPr>
        <a:xfrm>
          <a:off x="0" y="0"/>
          <a:ext cx="0" cy="0"/>
          <a:chOff x="0" y="0"/>
          <a:chExt cx="0" cy="0"/>
        </a:xfrm>
      </p:grpSpPr>
      <p:sp>
        <p:nvSpPr>
          <p:cNvPr id="33" name="Rectangle 32">
            <a:extLst>
              <a:ext uri="{FF2B5EF4-FFF2-40B4-BE49-F238E27FC236}">
                <a16:creationId xmlns:a16="http://schemas.microsoft.com/office/drawing/2014/main" id="{97B97FF8-A418-FA24-C04A-43DAC08ED000}"/>
              </a:ext>
            </a:extLst>
          </p:cNvPr>
          <p:cNvSpPr/>
          <p:nvPr/>
        </p:nvSpPr>
        <p:spPr>
          <a:xfrm>
            <a:off x="6098666" y="3903935"/>
            <a:ext cx="5733288" cy="21488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107D6771-0360-97EB-3545-CFD3AA9D5113}"/>
              </a:ext>
            </a:extLst>
          </p:cNvPr>
          <p:cNvSpPr/>
          <p:nvPr/>
        </p:nvSpPr>
        <p:spPr>
          <a:xfrm>
            <a:off x="246507" y="1663656"/>
            <a:ext cx="5733288" cy="21488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5" name="Rectangle 14">
            <a:extLst>
              <a:ext uri="{FF2B5EF4-FFF2-40B4-BE49-F238E27FC236}">
                <a16:creationId xmlns:a16="http://schemas.microsoft.com/office/drawing/2014/main" id="{2FE31492-980F-578F-84F8-BFA9A62F19E1}"/>
              </a:ext>
            </a:extLst>
          </p:cNvPr>
          <p:cNvSpPr/>
          <p:nvPr/>
        </p:nvSpPr>
        <p:spPr>
          <a:xfrm>
            <a:off x="6098666" y="1663656"/>
            <a:ext cx="5733288" cy="21488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5" name="Rectangle 34">
            <a:extLst>
              <a:ext uri="{FF2B5EF4-FFF2-40B4-BE49-F238E27FC236}">
                <a16:creationId xmlns:a16="http://schemas.microsoft.com/office/drawing/2014/main" id="{534D02C8-0E93-163E-29E0-E073115A2BF9}"/>
              </a:ext>
            </a:extLst>
          </p:cNvPr>
          <p:cNvSpPr/>
          <p:nvPr/>
        </p:nvSpPr>
        <p:spPr>
          <a:xfrm>
            <a:off x="246505" y="3123275"/>
            <a:ext cx="5733288" cy="687822"/>
          </a:xfrm>
          <a:prstGeom prst="rect">
            <a:avLst/>
          </a:prstGeom>
          <a:solidFill>
            <a:srgbClr val="6785C1"/>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noProof="0"/>
          </a:p>
        </p:txBody>
      </p:sp>
      <p:sp>
        <p:nvSpPr>
          <p:cNvPr id="26" name="Rectangle 25">
            <a:extLst>
              <a:ext uri="{FF2B5EF4-FFF2-40B4-BE49-F238E27FC236}">
                <a16:creationId xmlns:a16="http://schemas.microsoft.com/office/drawing/2014/main" id="{E6305B0E-049E-FCB2-FB5F-71C5D8B91E9A}"/>
              </a:ext>
            </a:extLst>
          </p:cNvPr>
          <p:cNvSpPr/>
          <p:nvPr/>
        </p:nvSpPr>
        <p:spPr>
          <a:xfrm>
            <a:off x="6098665" y="3115596"/>
            <a:ext cx="5733288" cy="687822"/>
          </a:xfrm>
          <a:prstGeom prst="rect">
            <a:avLst/>
          </a:prstGeom>
          <a:solidFill>
            <a:srgbClr val="6785C1"/>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noProof="0"/>
          </a:p>
        </p:txBody>
      </p:sp>
      <p:sp>
        <p:nvSpPr>
          <p:cNvPr id="17" name="Rectangle 16">
            <a:extLst>
              <a:ext uri="{FF2B5EF4-FFF2-40B4-BE49-F238E27FC236}">
                <a16:creationId xmlns:a16="http://schemas.microsoft.com/office/drawing/2014/main" id="{AC05150D-1D24-1557-F1CE-25C264404134}"/>
              </a:ext>
            </a:extLst>
          </p:cNvPr>
          <p:cNvSpPr/>
          <p:nvPr/>
        </p:nvSpPr>
        <p:spPr>
          <a:xfrm>
            <a:off x="6121472" y="5364348"/>
            <a:ext cx="5710308" cy="687822"/>
          </a:xfrm>
          <a:prstGeom prst="rect">
            <a:avLst/>
          </a:prstGeom>
          <a:solidFill>
            <a:srgbClr val="6785C1"/>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noProof="0"/>
          </a:p>
        </p:txBody>
      </p:sp>
      <p:sp>
        <p:nvSpPr>
          <p:cNvPr id="24" name="Rectangle 23">
            <a:extLst>
              <a:ext uri="{FF2B5EF4-FFF2-40B4-BE49-F238E27FC236}">
                <a16:creationId xmlns:a16="http://schemas.microsoft.com/office/drawing/2014/main" id="{E7B8579E-41D5-FB8A-EEC3-CD4C9E12E76C}"/>
              </a:ext>
            </a:extLst>
          </p:cNvPr>
          <p:cNvSpPr/>
          <p:nvPr/>
        </p:nvSpPr>
        <p:spPr>
          <a:xfrm>
            <a:off x="246507" y="3903935"/>
            <a:ext cx="5733288" cy="21488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9C223EA3-4EDC-FD43-25AB-1F4C573E4888}"/>
              </a:ext>
            </a:extLst>
          </p:cNvPr>
          <p:cNvSpPr/>
          <p:nvPr/>
        </p:nvSpPr>
        <p:spPr>
          <a:xfrm>
            <a:off x="246505" y="5364348"/>
            <a:ext cx="5733288" cy="687822"/>
          </a:xfrm>
          <a:prstGeom prst="rect">
            <a:avLst/>
          </a:prstGeom>
          <a:solidFill>
            <a:srgbClr val="6785C1"/>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noProof="0"/>
          </a:p>
        </p:txBody>
      </p:sp>
      <p:sp>
        <p:nvSpPr>
          <p:cNvPr id="2" name="TextBox 1">
            <a:extLst>
              <a:ext uri="{FF2B5EF4-FFF2-40B4-BE49-F238E27FC236}">
                <a16:creationId xmlns:a16="http://schemas.microsoft.com/office/drawing/2014/main" id="{EEEC8C4B-7217-5359-D78F-4486BFC04276}"/>
              </a:ext>
            </a:extLst>
          </p:cNvPr>
          <p:cNvSpPr txBox="1"/>
          <p:nvPr/>
        </p:nvSpPr>
        <p:spPr>
          <a:xfrm>
            <a:off x="246506" y="863377"/>
            <a:ext cx="11274552" cy="215444"/>
          </a:xfrm>
          <a:prstGeom prst="rect">
            <a:avLst/>
          </a:prstGeom>
          <a:noFill/>
        </p:spPr>
        <p:txBody>
          <a:bodyPr wrap="square" lIns="0" tIns="0" rIns="0" bIns="0" rtlCol="0">
            <a:noAutofit/>
          </a:bodyPr>
          <a:lstStyle>
            <a:defPPr>
              <a:defRPr lang="en-US"/>
            </a:defPPr>
            <a:lvl1pPr marR="0" lvl="0" indent="0" algn="just" fontAlgn="auto">
              <a:lnSpc>
                <a:spcPct val="100000"/>
              </a:lnSpc>
              <a:spcBef>
                <a:spcPts val="0"/>
              </a:spcBef>
              <a:spcAft>
                <a:spcPts val="0"/>
              </a:spcAft>
              <a:buClrTx/>
              <a:buSzTx/>
              <a:buFontTx/>
              <a:buNone/>
              <a:tabLst/>
              <a:defRPr kumimoji="0" sz="1400" b="1" i="0" u="none" strike="noStrike" cap="none" spc="0" normalizeH="0" baseline="0">
                <a:ln>
                  <a:noFill/>
                </a:ln>
                <a:solidFill>
                  <a:srgbClr val="0F9ED5">
                    <a:lumMod val="75000"/>
                  </a:srgbClr>
                </a:solidFill>
                <a:effectLst/>
                <a:uLnTx/>
                <a:uFillTx/>
                <a:latin typeface="Arial" panose="020B0604020202020204" pitchFamily="34" charset="0"/>
                <a:cs typeface="Arial" panose="020B0604020202020204" pitchFamily="34" charset="0"/>
              </a:defRPr>
            </a:lvl1pPr>
            <a:lvl2pPr marL="228586" eaLnBrk="0" fontAlgn="base" hangingPunct="0">
              <a:spcBef>
                <a:spcPct val="0"/>
              </a:spcBef>
              <a:spcAft>
                <a:spcPct val="0"/>
              </a:spcAft>
              <a:defRPr>
                <a:latin typeface="Arial" pitchFamily="2" charset="77"/>
              </a:defRPr>
            </a:lvl2pPr>
            <a:lvl3pPr marL="457172" eaLnBrk="0" fontAlgn="base" hangingPunct="0">
              <a:spcBef>
                <a:spcPct val="0"/>
              </a:spcBef>
              <a:spcAft>
                <a:spcPct val="0"/>
              </a:spcAft>
              <a:defRPr>
                <a:latin typeface="Arial" pitchFamily="2" charset="77"/>
              </a:defRPr>
            </a:lvl3pPr>
            <a:lvl4pPr marL="685757" eaLnBrk="0" fontAlgn="base" hangingPunct="0">
              <a:spcBef>
                <a:spcPct val="0"/>
              </a:spcBef>
              <a:spcAft>
                <a:spcPct val="0"/>
              </a:spcAft>
              <a:defRPr>
                <a:latin typeface="Arial" pitchFamily="2" charset="77"/>
              </a:defRPr>
            </a:lvl4pPr>
            <a:lvl5pPr marL="914343" eaLnBrk="0" fontAlgn="base" hangingPunct="0">
              <a:spcBef>
                <a:spcPct val="0"/>
              </a:spcBef>
              <a:spcAft>
                <a:spcPct val="0"/>
              </a:spcAft>
              <a:defRPr>
                <a:latin typeface="Arial" pitchFamily="2" charset="77"/>
              </a:defRPr>
            </a:lvl5pPr>
            <a:lvl6pPr marL="1142929" defTabSz="457172">
              <a:defRPr>
                <a:latin typeface="Arial" pitchFamily="2" charset="77"/>
              </a:defRPr>
            </a:lvl6pPr>
            <a:lvl7pPr marL="1371515" defTabSz="457172">
              <a:defRPr>
                <a:latin typeface="Arial" pitchFamily="2" charset="77"/>
              </a:defRPr>
            </a:lvl7pPr>
            <a:lvl8pPr marL="1600100" defTabSz="457172">
              <a:defRPr>
                <a:latin typeface="Arial" pitchFamily="2" charset="77"/>
              </a:defRPr>
            </a:lvl8pPr>
            <a:lvl9pPr marL="1828686" defTabSz="457172">
              <a:defRPr>
                <a:latin typeface="Arial" pitchFamily="2" charset="77"/>
              </a:defRPr>
            </a:lvl9pPr>
          </a:lstStyle>
          <a:p>
            <a:r>
              <a:rPr lang="en-US" noProof="0"/>
              <a:t>Four Applications bottlenecks concentrate demand risk — covering intake, prioritization, portfolio and classification</a:t>
            </a:r>
          </a:p>
        </p:txBody>
      </p:sp>
      <p:sp>
        <p:nvSpPr>
          <p:cNvPr id="3" name="Rectangle 2">
            <a:extLst>
              <a:ext uri="{FF2B5EF4-FFF2-40B4-BE49-F238E27FC236}">
                <a16:creationId xmlns:a16="http://schemas.microsoft.com/office/drawing/2014/main" id="{BEFDD119-ACAB-53E8-72F1-BEC5D3D67AC9}"/>
              </a:ext>
            </a:extLst>
          </p:cNvPr>
          <p:cNvSpPr/>
          <p:nvPr/>
        </p:nvSpPr>
        <p:spPr>
          <a:xfrm>
            <a:off x="246507" y="1069296"/>
            <a:ext cx="11274552" cy="1371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9A62757A-2EFE-943C-5EE3-F99B046DF99A}"/>
              </a:ext>
            </a:extLst>
          </p:cNvPr>
          <p:cNvSpPr/>
          <p:nvPr/>
        </p:nvSpPr>
        <p:spPr>
          <a:xfrm>
            <a:off x="246507" y="1316184"/>
            <a:ext cx="11585446"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b="1" noProof="0">
                <a:solidFill>
                  <a:schemeClr val="bg1"/>
                </a:solidFill>
                <a:latin typeface="Arial" panose="020B0604020202020204" pitchFamily="34" charset="0"/>
                <a:cs typeface="Arial" panose="020B0604020202020204" pitchFamily="34" charset="0"/>
              </a:rPr>
              <a:t>BUSINESS APPLICATIONS</a:t>
            </a:r>
            <a:endParaRPr lang="en-US" sz="1200" noProof="0">
              <a:solidFill>
                <a:schemeClr val="bg1"/>
              </a:solidFill>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4FF5E675-301F-0699-AFF9-887C905345F8}"/>
              </a:ext>
            </a:extLst>
          </p:cNvPr>
          <p:cNvSpPr txBox="1"/>
          <p:nvPr/>
        </p:nvSpPr>
        <p:spPr>
          <a:xfrm>
            <a:off x="931547" y="1799038"/>
            <a:ext cx="1869170" cy="124906"/>
          </a:xfrm>
          <a:prstGeom prst="rect">
            <a:avLst/>
          </a:prstGeom>
          <a:noFill/>
        </p:spPr>
        <p:txBody>
          <a:bodyPr wrap="square" lIns="0" tIns="0" rIns="0" bIns="0" anchor="t">
            <a:spAutoFit/>
          </a:bodyPr>
          <a:lstStyle/>
          <a:p>
            <a:pPr algn="l">
              <a:lnSpc>
                <a:spcPct val="110000"/>
              </a:lnSpc>
              <a:spcBef>
                <a:spcPts val="0"/>
              </a:spcBef>
              <a:spcAft>
                <a:spcPts val="0"/>
              </a:spcAft>
            </a:pPr>
            <a:r>
              <a:rPr lang="en-US" sz="800" b="1" i="0" noProof="0">
                <a:latin typeface="Arial" panose="020B0604020202020204" pitchFamily="34" charset="0"/>
                <a:cs typeface="Arial" panose="020B0604020202020204" pitchFamily="34" charset="0"/>
              </a:rPr>
              <a:t>STAGE: Intake</a:t>
            </a:r>
          </a:p>
        </p:txBody>
      </p:sp>
      <p:sp>
        <p:nvSpPr>
          <p:cNvPr id="10" name="TextBox 9">
            <a:extLst>
              <a:ext uri="{FF2B5EF4-FFF2-40B4-BE49-F238E27FC236}">
                <a16:creationId xmlns:a16="http://schemas.microsoft.com/office/drawing/2014/main" id="{048095DD-4E6C-6119-1857-0F8735FFD9E2}"/>
              </a:ext>
            </a:extLst>
          </p:cNvPr>
          <p:cNvSpPr txBox="1"/>
          <p:nvPr/>
        </p:nvSpPr>
        <p:spPr>
          <a:xfrm>
            <a:off x="931547" y="2009955"/>
            <a:ext cx="1944005" cy="203004"/>
          </a:xfrm>
          <a:prstGeom prst="rect">
            <a:avLst/>
          </a:prstGeom>
          <a:noFill/>
        </p:spPr>
        <p:txBody>
          <a:bodyPr wrap="square" lIns="0" tIns="0" rIns="0" bIns="0" anchor="t">
            <a:spAutoFit/>
          </a:bodyPr>
          <a:lstStyle/>
          <a:p>
            <a:pPr algn="l">
              <a:lnSpc>
                <a:spcPct val="110000"/>
              </a:lnSpc>
              <a:spcBef>
                <a:spcPts val="0"/>
              </a:spcBef>
              <a:spcAft>
                <a:spcPts val="0"/>
              </a:spcAft>
            </a:pPr>
            <a:r>
              <a:rPr lang="en-US" sz="1300" b="1" i="0" noProof="0">
                <a:latin typeface="Arial" panose="020B0604020202020204" pitchFamily="34" charset="0"/>
                <a:cs typeface="Arial" panose="020B0604020202020204" pitchFamily="34" charset="0"/>
              </a:rPr>
              <a:t>G&amp;E Email-Only Intake</a:t>
            </a:r>
          </a:p>
        </p:txBody>
      </p:sp>
      <p:sp>
        <p:nvSpPr>
          <p:cNvPr id="11" name="TextBox 10">
            <a:extLst>
              <a:ext uri="{FF2B5EF4-FFF2-40B4-BE49-F238E27FC236}">
                <a16:creationId xmlns:a16="http://schemas.microsoft.com/office/drawing/2014/main" id="{2FBF07AB-BA1F-88E7-D9B3-3B7985146E65}"/>
              </a:ext>
            </a:extLst>
          </p:cNvPr>
          <p:cNvSpPr txBox="1"/>
          <p:nvPr/>
        </p:nvSpPr>
        <p:spPr>
          <a:xfrm>
            <a:off x="502539" y="2382868"/>
            <a:ext cx="5230368" cy="494687"/>
          </a:xfrm>
          <a:prstGeom prst="rect">
            <a:avLst/>
          </a:prstGeom>
          <a:noFill/>
        </p:spPr>
        <p:txBody>
          <a:bodyPr wrap="square" lIns="0" tIns="0" rIns="0" bIns="0" anchor="t">
            <a:spAutoFit/>
          </a:bodyPr>
          <a:lstStyle/>
          <a:p>
            <a:pPr algn="l">
              <a:lnSpc>
                <a:spcPct val="110000"/>
              </a:lnSpc>
              <a:spcBef>
                <a:spcPts val="0"/>
              </a:spcBef>
              <a:spcAft>
                <a:spcPts val="0"/>
              </a:spcAft>
            </a:pPr>
            <a:r>
              <a:rPr lang="en-US" sz="1000" b="0" i="0" noProof="0">
                <a:solidFill>
                  <a:srgbClr val="2C3E50"/>
                </a:solidFill>
                <a:latin typeface="Arial" panose="020B0604020202020204" pitchFamily="34" charset="0"/>
                <a:cs typeface="Arial" panose="020B0604020202020204" pitchFamily="34" charset="0"/>
              </a:rPr>
              <a:t>Demand is captured through unstructured email channels, with no formal intake mechanism, tracking, or prioritization logic. Requests are handled individually, with no visibility into volume or backlog.</a:t>
            </a:r>
          </a:p>
        </p:txBody>
      </p:sp>
      <p:sp>
        <p:nvSpPr>
          <p:cNvPr id="12" name="TextBox 11">
            <a:extLst>
              <a:ext uri="{FF2B5EF4-FFF2-40B4-BE49-F238E27FC236}">
                <a16:creationId xmlns:a16="http://schemas.microsoft.com/office/drawing/2014/main" id="{603971E5-F690-E26E-522A-90DFC461E490}"/>
              </a:ext>
            </a:extLst>
          </p:cNvPr>
          <p:cNvSpPr txBox="1"/>
          <p:nvPr/>
        </p:nvSpPr>
        <p:spPr>
          <a:xfrm>
            <a:off x="863838" y="3200928"/>
            <a:ext cx="4857494" cy="124906"/>
          </a:xfrm>
          <a:prstGeom prst="rect">
            <a:avLst/>
          </a:prstGeom>
          <a:noFill/>
        </p:spPr>
        <p:txBody>
          <a:bodyPr wrap="square" lIns="0" tIns="0" rIns="0" bIns="0" anchor="t">
            <a:spAutoFit/>
          </a:bodyPr>
          <a:lstStyle/>
          <a:p>
            <a:pPr algn="l">
              <a:lnSpc>
                <a:spcPct val="110000"/>
              </a:lnSpc>
              <a:spcBef>
                <a:spcPts val="0"/>
              </a:spcBef>
              <a:spcAft>
                <a:spcPts val="0"/>
              </a:spcAft>
            </a:pPr>
            <a:r>
              <a:rPr lang="en-US" sz="800" b="1" i="0" noProof="0">
                <a:solidFill>
                  <a:schemeClr val="bg1"/>
                </a:solidFill>
                <a:latin typeface="Arial" panose="020B0604020202020204" pitchFamily="34" charset="0"/>
                <a:cs typeface="Arial" panose="020B0604020202020204" pitchFamily="34" charset="0"/>
              </a:rPr>
              <a:t>IMPACT</a:t>
            </a:r>
          </a:p>
        </p:txBody>
      </p:sp>
      <p:sp>
        <p:nvSpPr>
          <p:cNvPr id="13" name="TextBox 12">
            <a:extLst>
              <a:ext uri="{FF2B5EF4-FFF2-40B4-BE49-F238E27FC236}">
                <a16:creationId xmlns:a16="http://schemas.microsoft.com/office/drawing/2014/main" id="{6AC2B681-CEDD-2A5A-D801-6FD08F4F30F6}"/>
              </a:ext>
            </a:extLst>
          </p:cNvPr>
          <p:cNvSpPr txBox="1"/>
          <p:nvPr/>
        </p:nvSpPr>
        <p:spPr>
          <a:xfrm>
            <a:off x="863838" y="3365520"/>
            <a:ext cx="4857494" cy="390556"/>
          </a:xfrm>
          <a:prstGeom prst="rect">
            <a:avLst/>
          </a:prstGeom>
          <a:noFill/>
        </p:spPr>
        <p:txBody>
          <a:bodyPr wrap="square" lIns="0" tIns="0" rIns="0" bIns="0" anchor="t">
            <a:spAutoFit/>
          </a:bodyPr>
          <a:lstStyle/>
          <a:p>
            <a:pPr algn="l">
              <a:lnSpc>
                <a:spcPct val="110000"/>
              </a:lnSpc>
              <a:spcBef>
                <a:spcPts val="0"/>
              </a:spcBef>
              <a:spcAft>
                <a:spcPts val="0"/>
              </a:spcAft>
            </a:pPr>
            <a:r>
              <a:rPr lang="en-US" sz="1200" b="1" noProof="0">
                <a:solidFill>
                  <a:schemeClr val="bg1"/>
                </a:solidFill>
                <a:latin typeface="Arial" panose="020B0604020202020204" pitchFamily="34" charset="0"/>
                <a:cs typeface="Arial" panose="020B0604020202020204" pitchFamily="34" charset="0"/>
              </a:rPr>
              <a:t>Prevents structured demand management and limits the ability to prioritize and manage work at the product level.</a:t>
            </a:r>
          </a:p>
        </p:txBody>
      </p:sp>
      <p:sp>
        <p:nvSpPr>
          <p:cNvPr id="14" name="TextBox 13">
            <a:extLst>
              <a:ext uri="{FF2B5EF4-FFF2-40B4-BE49-F238E27FC236}">
                <a16:creationId xmlns:a16="http://schemas.microsoft.com/office/drawing/2014/main" id="{8C2F4710-A427-FC93-C10A-6B056714D9A9}"/>
              </a:ext>
            </a:extLst>
          </p:cNvPr>
          <p:cNvSpPr txBox="1"/>
          <p:nvPr/>
        </p:nvSpPr>
        <p:spPr>
          <a:xfrm>
            <a:off x="3615370" y="1817347"/>
            <a:ext cx="2218186"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1" noProof="0">
                <a:solidFill>
                  <a:srgbClr val="2C578B"/>
                </a:solidFill>
                <a:latin typeface="Arial" panose="020B0604020202020204" pitchFamily="34" charset="0"/>
                <a:cs typeface="Arial" panose="020B0604020202020204" pitchFamily="34" charset="0"/>
              </a:rPr>
              <a:t> "I receive requests/input from the business or from the vendor" — Andrew McGibbon</a:t>
            </a:r>
          </a:p>
        </p:txBody>
      </p:sp>
      <p:sp>
        <p:nvSpPr>
          <p:cNvPr id="18" name="TextBox 17">
            <a:extLst>
              <a:ext uri="{FF2B5EF4-FFF2-40B4-BE49-F238E27FC236}">
                <a16:creationId xmlns:a16="http://schemas.microsoft.com/office/drawing/2014/main" id="{23A019D6-E9EB-8376-85B1-DE31CB936E8A}"/>
              </a:ext>
            </a:extLst>
          </p:cNvPr>
          <p:cNvSpPr txBox="1"/>
          <p:nvPr/>
        </p:nvSpPr>
        <p:spPr>
          <a:xfrm>
            <a:off x="6761606" y="1818432"/>
            <a:ext cx="4407407" cy="124906"/>
          </a:xfrm>
          <a:prstGeom prst="rect">
            <a:avLst/>
          </a:prstGeom>
          <a:noFill/>
        </p:spPr>
        <p:txBody>
          <a:bodyPr wrap="square" lIns="0" tIns="0" rIns="0" bIns="0" anchor="t">
            <a:spAutoFit/>
          </a:bodyPr>
          <a:lstStyle>
            <a:defPPr>
              <a:defRPr lang="en-US"/>
            </a:defPPr>
            <a:lvl1pPr>
              <a:lnSpc>
                <a:spcPct val="110000"/>
              </a:lnSpc>
              <a:spcBef>
                <a:spcPts val="0"/>
              </a:spcBef>
              <a:spcAft>
                <a:spcPts val="0"/>
              </a:spcAft>
              <a:defRPr sz="800" b="1" i="0">
                <a:solidFill>
                  <a:srgbClr val="3B7D23"/>
                </a:solidFill>
                <a:latin typeface="Arial" panose="020B0604020202020204" pitchFamily="34" charset="0"/>
                <a:cs typeface="Arial" panose="020B0604020202020204" pitchFamily="34" charset="0"/>
              </a:defRPr>
            </a:lvl1pPr>
          </a:lstStyle>
          <a:p>
            <a:r>
              <a:rPr lang="en-US" noProof="0">
                <a:solidFill>
                  <a:schemeClr val="tx1"/>
                </a:solidFill>
              </a:rPr>
              <a:t>STAGE: Prioritization</a:t>
            </a:r>
          </a:p>
        </p:txBody>
      </p:sp>
      <p:sp>
        <p:nvSpPr>
          <p:cNvPr id="19" name="TextBox 18">
            <a:extLst>
              <a:ext uri="{FF2B5EF4-FFF2-40B4-BE49-F238E27FC236}">
                <a16:creationId xmlns:a16="http://schemas.microsoft.com/office/drawing/2014/main" id="{F6CC8487-4C76-F849-6107-428489405CC1}"/>
              </a:ext>
            </a:extLst>
          </p:cNvPr>
          <p:cNvSpPr txBox="1"/>
          <p:nvPr/>
        </p:nvSpPr>
        <p:spPr>
          <a:xfrm>
            <a:off x="6761606" y="2009955"/>
            <a:ext cx="4407407" cy="203004"/>
          </a:xfrm>
          <a:prstGeom prst="rect">
            <a:avLst/>
          </a:prstGeom>
          <a:noFill/>
        </p:spPr>
        <p:txBody>
          <a:bodyPr wrap="square" lIns="0" tIns="0" rIns="0" bIns="0" anchor="t">
            <a:spAutoFit/>
          </a:bodyPr>
          <a:lstStyle/>
          <a:p>
            <a:pPr algn="l">
              <a:lnSpc>
                <a:spcPct val="110000"/>
              </a:lnSpc>
              <a:spcBef>
                <a:spcPts val="0"/>
              </a:spcBef>
              <a:spcAft>
                <a:spcPts val="0"/>
              </a:spcAft>
            </a:pPr>
            <a:r>
              <a:rPr lang="en-US" sz="1300" b="1" i="0" noProof="0">
                <a:latin typeface="Arial" panose="020B0604020202020204" pitchFamily="34" charset="0"/>
                <a:cs typeface="Arial" panose="020B0604020202020204" pitchFamily="34" charset="0"/>
              </a:rPr>
              <a:t>Global SAP Incident Flood</a:t>
            </a:r>
          </a:p>
        </p:txBody>
      </p:sp>
      <p:sp>
        <p:nvSpPr>
          <p:cNvPr id="20" name="TextBox 19">
            <a:extLst>
              <a:ext uri="{FF2B5EF4-FFF2-40B4-BE49-F238E27FC236}">
                <a16:creationId xmlns:a16="http://schemas.microsoft.com/office/drawing/2014/main" id="{3835348F-6A59-C067-705F-9C86BE6C458D}"/>
              </a:ext>
            </a:extLst>
          </p:cNvPr>
          <p:cNvSpPr txBox="1"/>
          <p:nvPr/>
        </p:nvSpPr>
        <p:spPr>
          <a:xfrm>
            <a:off x="6354699" y="2376888"/>
            <a:ext cx="5230368" cy="494687"/>
          </a:xfrm>
          <a:prstGeom prst="rect">
            <a:avLst/>
          </a:prstGeom>
          <a:noFill/>
        </p:spPr>
        <p:txBody>
          <a:bodyPr wrap="square" lIns="0" tIns="0" rIns="0" bIns="0" anchor="t">
            <a:spAutoFit/>
          </a:bodyPr>
          <a:lstStyle/>
          <a:p>
            <a:pPr algn="l">
              <a:lnSpc>
                <a:spcPct val="110000"/>
              </a:lnSpc>
              <a:spcBef>
                <a:spcPts val="0"/>
              </a:spcBef>
              <a:spcAft>
                <a:spcPts val="0"/>
              </a:spcAft>
            </a:pPr>
            <a:r>
              <a:rPr lang="en-US" sz="1000" b="0" i="0" noProof="0">
                <a:solidFill>
                  <a:srgbClr val="2C3E50"/>
                </a:solidFill>
                <a:latin typeface="Arial" panose="020B0604020202020204" pitchFamily="34" charset="0"/>
                <a:cs typeface="Arial" panose="020B0604020202020204" pitchFamily="34" charset="0"/>
              </a:rPr>
              <a:t>Incident demand consistently takes precedence over all other work, consuming a significant portion of team capacity and displacing planned initiatives. This creates a reactive delivery environment.</a:t>
            </a:r>
          </a:p>
        </p:txBody>
      </p:sp>
      <p:sp>
        <p:nvSpPr>
          <p:cNvPr id="21" name="TextBox 20">
            <a:extLst>
              <a:ext uri="{FF2B5EF4-FFF2-40B4-BE49-F238E27FC236}">
                <a16:creationId xmlns:a16="http://schemas.microsoft.com/office/drawing/2014/main" id="{E2AA9D7D-D624-46FC-689C-718F16CA4803}"/>
              </a:ext>
            </a:extLst>
          </p:cNvPr>
          <p:cNvSpPr txBox="1"/>
          <p:nvPr/>
        </p:nvSpPr>
        <p:spPr>
          <a:xfrm>
            <a:off x="6726424" y="3200928"/>
            <a:ext cx="4935644" cy="124906"/>
          </a:xfrm>
          <a:prstGeom prst="rect">
            <a:avLst/>
          </a:prstGeom>
          <a:noFill/>
        </p:spPr>
        <p:txBody>
          <a:bodyPr wrap="square" lIns="0" tIns="0" rIns="0" bIns="0" anchor="t">
            <a:spAutoFit/>
          </a:bodyPr>
          <a:lstStyle/>
          <a:p>
            <a:pPr algn="l">
              <a:lnSpc>
                <a:spcPct val="110000"/>
              </a:lnSpc>
              <a:spcBef>
                <a:spcPts val="0"/>
              </a:spcBef>
              <a:spcAft>
                <a:spcPts val="0"/>
              </a:spcAft>
            </a:pPr>
            <a:r>
              <a:rPr lang="en-US" sz="800" b="1" i="0" noProof="0">
                <a:solidFill>
                  <a:schemeClr val="bg1"/>
                </a:solidFill>
                <a:latin typeface="Arial" panose="020B0604020202020204" pitchFamily="34" charset="0"/>
                <a:cs typeface="Arial" panose="020B0604020202020204" pitchFamily="34" charset="0"/>
              </a:rPr>
              <a:t>IMPACT</a:t>
            </a:r>
          </a:p>
        </p:txBody>
      </p:sp>
      <p:sp>
        <p:nvSpPr>
          <p:cNvPr id="22" name="TextBox 21">
            <a:extLst>
              <a:ext uri="{FF2B5EF4-FFF2-40B4-BE49-F238E27FC236}">
                <a16:creationId xmlns:a16="http://schemas.microsoft.com/office/drawing/2014/main" id="{85B266E3-608B-0FD7-501D-22280877FD29}"/>
              </a:ext>
            </a:extLst>
          </p:cNvPr>
          <p:cNvSpPr txBox="1"/>
          <p:nvPr/>
        </p:nvSpPr>
        <p:spPr>
          <a:xfrm>
            <a:off x="6726424" y="3365520"/>
            <a:ext cx="4935644" cy="390556"/>
          </a:xfrm>
          <a:prstGeom prst="rect">
            <a:avLst/>
          </a:prstGeom>
          <a:noFill/>
        </p:spPr>
        <p:txBody>
          <a:bodyPr wrap="square" lIns="0" tIns="0" rIns="0" bIns="0" anchor="t">
            <a:spAutoFit/>
          </a:bodyPr>
          <a:lstStyle/>
          <a:p>
            <a:pPr>
              <a:lnSpc>
                <a:spcPct val="110000"/>
              </a:lnSpc>
            </a:pPr>
            <a:r>
              <a:rPr lang="en-US" sz="1200" b="1" noProof="0">
                <a:solidFill>
                  <a:schemeClr val="bg1"/>
                </a:solidFill>
                <a:latin typeface="Arial" panose="020B0604020202020204" pitchFamily="34" charset="0"/>
                <a:cs typeface="Arial" panose="020B0604020202020204" pitchFamily="34" charset="0"/>
              </a:rPr>
              <a:t>Disrupts value-based prioritization and prevents capacity from being aligned to strategic product outcomes.</a:t>
            </a:r>
          </a:p>
        </p:txBody>
      </p:sp>
      <p:sp>
        <p:nvSpPr>
          <p:cNvPr id="23" name="TextBox 22">
            <a:extLst>
              <a:ext uri="{FF2B5EF4-FFF2-40B4-BE49-F238E27FC236}">
                <a16:creationId xmlns:a16="http://schemas.microsoft.com/office/drawing/2014/main" id="{818A5115-4BD2-E622-3CC1-A60DEEF9929E}"/>
              </a:ext>
            </a:extLst>
          </p:cNvPr>
          <p:cNvSpPr txBox="1"/>
          <p:nvPr/>
        </p:nvSpPr>
        <p:spPr>
          <a:xfrm>
            <a:off x="9755693" y="1832853"/>
            <a:ext cx="2218186"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1" noProof="0">
                <a:solidFill>
                  <a:srgbClr val="2C578B"/>
                </a:solidFill>
                <a:latin typeface="Arial" panose="020B0604020202020204" pitchFamily="34" charset="0"/>
                <a:cs typeface="Arial" panose="020B0604020202020204" pitchFamily="34" charset="0"/>
              </a:rPr>
              <a:t> "Sometimes entire team is focusing on incidents" — Michael Dubois</a:t>
            </a:r>
          </a:p>
        </p:txBody>
      </p:sp>
      <p:sp>
        <p:nvSpPr>
          <p:cNvPr id="27" name="TextBox 26">
            <a:extLst>
              <a:ext uri="{FF2B5EF4-FFF2-40B4-BE49-F238E27FC236}">
                <a16:creationId xmlns:a16="http://schemas.microsoft.com/office/drawing/2014/main" id="{444F93DB-BA1C-D471-53AD-3E2D89C78BBB}"/>
              </a:ext>
            </a:extLst>
          </p:cNvPr>
          <p:cNvSpPr txBox="1"/>
          <p:nvPr/>
        </p:nvSpPr>
        <p:spPr>
          <a:xfrm>
            <a:off x="936879" y="4011697"/>
            <a:ext cx="4407407" cy="124906"/>
          </a:xfrm>
          <a:prstGeom prst="rect">
            <a:avLst/>
          </a:prstGeom>
          <a:noFill/>
        </p:spPr>
        <p:txBody>
          <a:bodyPr wrap="square" lIns="0" tIns="0" rIns="0" bIns="0" anchor="t">
            <a:spAutoFit/>
          </a:bodyPr>
          <a:lstStyle>
            <a:defPPr>
              <a:defRPr lang="en-US"/>
            </a:defPPr>
            <a:lvl1pPr>
              <a:lnSpc>
                <a:spcPct val="110000"/>
              </a:lnSpc>
              <a:spcBef>
                <a:spcPts val="0"/>
              </a:spcBef>
              <a:spcAft>
                <a:spcPts val="0"/>
              </a:spcAft>
              <a:defRPr sz="800" b="1" i="0">
                <a:solidFill>
                  <a:srgbClr val="3B7D23"/>
                </a:solidFill>
                <a:latin typeface="Arial" panose="020B0604020202020204" pitchFamily="34" charset="0"/>
                <a:cs typeface="Arial" panose="020B0604020202020204" pitchFamily="34" charset="0"/>
              </a:defRPr>
            </a:lvl1pPr>
          </a:lstStyle>
          <a:p>
            <a:r>
              <a:rPr lang="en-US" noProof="0">
                <a:solidFill>
                  <a:schemeClr val="tx1"/>
                </a:solidFill>
              </a:rPr>
              <a:t>STAGES: Intake + Portfolio</a:t>
            </a:r>
          </a:p>
        </p:txBody>
      </p:sp>
      <p:sp>
        <p:nvSpPr>
          <p:cNvPr id="28" name="TextBox 27">
            <a:extLst>
              <a:ext uri="{FF2B5EF4-FFF2-40B4-BE49-F238E27FC236}">
                <a16:creationId xmlns:a16="http://schemas.microsoft.com/office/drawing/2014/main" id="{4B68D178-E1C1-E689-89AC-CF34B48E1D8E}"/>
              </a:ext>
            </a:extLst>
          </p:cNvPr>
          <p:cNvSpPr txBox="1"/>
          <p:nvPr/>
        </p:nvSpPr>
        <p:spPr>
          <a:xfrm>
            <a:off x="936879" y="4256949"/>
            <a:ext cx="4407407" cy="203004"/>
          </a:xfrm>
          <a:prstGeom prst="rect">
            <a:avLst/>
          </a:prstGeom>
          <a:noFill/>
        </p:spPr>
        <p:txBody>
          <a:bodyPr wrap="square" lIns="0" tIns="0" rIns="0" bIns="0" anchor="t">
            <a:spAutoFit/>
          </a:bodyPr>
          <a:lstStyle/>
          <a:p>
            <a:pPr algn="l">
              <a:lnSpc>
                <a:spcPct val="110000"/>
              </a:lnSpc>
              <a:spcBef>
                <a:spcPts val="0"/>
              </a:spcBef>
              <a:spcAft>
                <a:spcPts val="0"/>
              </a:spcAft>
            </a:pPr>
            <a:r>
              <a:rPr lang="en-US" sz="1300" b="1" i="0" noProof="0">
                <a:latin typeface="Arial" panose="020B0604020202020204" pitchFamily="34" charset="0"/>
                <a:cs typeface="Arial" panose="020B0604020202020204" pitchFamily="34" charset="0"/>
              </a:rPr>
              <a:t>GIS Informal PM Stack</a:t>
            </a:r>
          </a:p>
        </p:txBody>
      </p:sp>
      <p:sp>
        <p:nvSpPr>
          <p:cNvPr id="29" name="TextBox 28">
            <a:extLst>
              <a:ext uri="{FF2B5EF4-FFF2-40B4-BE49-F238E27FC236}">
                <a16:creationId xmlns:a16="http://schemas.microsoft.com/office/drawing/2014/main" id="{85C9B23A-71E2-2BF5-C3D9-0163C637EC6E}"/>
              </a:ext>
            </a:extLst>
          </p:cNvPr>
          <p:cNvSpPr txBox="1"/>
          <p:nvPr/>
        </p:nvSpPr>
        <p:spPr>
          <a:xfrm>
            <a:off x="502539" y="4617168"/>
            <a:ext cx="5230368" cy="325410"/>
          </a:xfrm>
          <a:prstGeom prst="rect">
            <a:avLst/>
          </a:prstGeom>
          <a:noFill/>
        </p:spPr>
        <p:txBody>
          <a:bodyPr wrap="square" lIns="0" tIns="0" rIns="0" bIns="0" anchor="t">
            <a:spAutoFit/>
          </a:bodyPr>
          <a:lstStyle/>
          <a:p>
            <a:pPr algn="l">
              <a:lnSpc>
                <a:spcPct val="110000"/>
              </a:lnSpc>
              <a:spcBef>
                <a:spcPts val="0"/>
              </a:spcBef>
              <a:spcAft>
                <a:spcPts val="0"/>
              </a:spcAft>
            </a:pPr>
            <a:r>
              <a:rPr lang="en-US" sz="1000" b="0" i="0" noProof="0">
                <a:solidFill>
                  <a:srgbClr val="2C3E50"/>
                </a:solidFill>
                <a:latin typeface="Arial" panose="020B0604020202020204" pitchFamily="34" charset="0"/>
                <a:cs typeface="Arial" panose="020B0604020202020204" pitchFamily="34" charset="0"/>
              </a:rPr>
              <a:t>Delivery is managed through a mix of informal tools and processes, with limited portfolio visibility outside of large initiatives. A significant portion of work remains untracked</a:t>
            </a:r>
          </a:p>
        </p:txBody>
      </p:sp>
      <p:sp>
        <p:nvSpPr>
          <p:cNvPr id="30" name="TextBox 29">
            <a:extLst>
              <a:ext uri="{FF2B5EF4-FFF2-40B4-BE49-F238E27FC236}">
                <a16:creationId xmlns:a16="http://schemas.microsoft.com/office/drawing/2014/main" id="{8FAC6CF0-AB8E-C14A-5C59-00FC992225D2}"/>
              </a:ext>
            </a:extLst>
          </p:cNvPr>
          <p:cNvSpPr txBox="1"/>
          <p:nvPr/>
        </p:nvSpPr>
        <p:spPr>
          <a:xfrm>
            <a:off x="877443" y="5466543"/>
            <a:ext cx="4855463" cy="124906"/>
          </a:xfrm>
          <a:prstGeom prst="rect">
            <a:avLst/>
          </a:prstGeom>
          <a:noFill/>
        </p:spPr>
        <p:txBody>
          <a:bodyPr wrap="square" lIns="0" tIns="0" rIns="0" bIns="0" anchor="t">
            <a:spAutoFit/>
          </a:bodyPr>
          <a:lstStyle/>
          <a:p>
            <a:pPr algn="l">
              <a:lnSpc>
                <a:spcPct val="110000"/>
              </a:lnSpc>
              <a:spcBef>
                <a:spcPts val="0"/>
              </a:spcBef>
              <a:spcAft>
                <a:spcPts val="0"/>
              </a:spcAft>
            </a:pPr>
            <a:r>
              <a:rPr lang="en-US" sz="800" b="1" i="0" noProof="0">
                <a:solidFill>
                  <a:schemeClr val="bg1"/>
                </a:solidFill>
                <a:latin typeface="Arial" panose="020B0604020202020204" pitchFamily="34" charset="0"/>
                <a:cs typeface="Arial" panose="020B0604020202020204" pitchFamily="34" charset="0"/>
              </a:rPr>
              <a:t>IMPACT</a:t>
            </a:r>
          </a:p>
        </p:txBody>
      </p:sp>
      <p:sp>
        <p:nvSpPr>
          <p:cNvPr id="31" name="TextBox 30">
            <a:extLst>
              <a:ext uri="{FF2B5EF4-FFF2-40B4-BE49-F238E27FC236}">
                <a16:creationId xmlns:a16="http://schemas.microsoft.com/office/drawing/2014/main" id="{D04E0169-FA93-6E2C-FE6C-8377FC5AC431}"/>
              </a:ext>
            </a:extLst>
          </p:cNvPr>
          <p:cNvSpPr txBox="1"/>
          <p:nvPr/>
        </p:nvSpPr>
        <p:spPr>
          <a:xfrm>
            <a:off x="877443" y="5631136"/>
            <a:ext cx="4855463" cy="390556"/>
          </a:xfrm>
          <a:prstGeom prst="rect">
            <a:avLst/>
          </a:prstGeom>
          <a:noFill/>
        </p:spPr>
        <p:txBody>
          <a:bodyPr wrap="square" lIns="0" tIns="0" rIns="0" bIns="0" anchor="t">
            <a:spAutoFit/>
          </a:bodyPr>
          <a:lstStyle/>
          <a:p>
            <a:pPr>
              <a:lnSpc>
                <a:spcPct val="110000"/>
              </a:lnSpc>
            </a:pPr>
            <a:r>
              <a:rPr lang="en-US" sz="1200" b="1" noProof="0">
                <a:solidFill>
                  <a:schemeClr val="bg1"/>
                </a:solidFill>
                <a:latin typeface="Arial" panose="020B0604020202020204" pitchFamily="34" charset="0"/>
                <a:cs typeface="Arial" panose="020B0604020202020204" pitchFamily="34" charset="0"/>
              </a:rPr>
              <a:t>Limits end-to-end visibility and constrains effective product portfolio management and capacity planning.</a:t>
            </a:r>
          </a:p>
        </p:txBody>
      </p:sp>
      <p:sp>
        <p:nvSpPr>
          <p:cNvPr id="32" name="TextBox 31">
            <a:extLst>
              <a:ext uri="{FF2B5EF4-FFF2-40B4-BE49-F238E27FC236}">
                <a16:creationId xmlns:a16="http://schemas.microsoft.com/office/drawing/2014/main" id="{543F907F-38CC-B34D-AA0E-C338A13548DA}"/>
              </a:ext>
            </a:extLst>
          </p:cNvPr>
          <p:cNvSpPr txBox="1"/>
          <p:nvPr/>
        </p:nvSpPr>
        <p:spPr>
          <a:xfrm>
            <a:off x="3674357" y="4041603"/>
            <a:ext cx="2218186" cy="44518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1" noProof="0">
                <a:solidFill>
                  <a:srgbClr val="2C578B"/>
                </a:solidFill>
                <a:latin typeface="Arial" panose="020B0604020202020204" pitchFamily="34" charset="0"/>
                <a:cs typeface="Arial" panose="020B0604020202020204" pitchFamily="34" charset="0"/>
              </a:rPr>
              <a:t> "My team uses Jira for misc. work... OneNote, Teams and Spreadsheets to manage" — George Porto</a:t>
            </a:r>
          </a:p>
        </p:txBody>
      </p:sp>
      <p:sp>
        <p:nvSpPr>
          <p:cNvPr id="36" name="TextBox 35">
            <a:extLst>
              <a:ext uri="{FF2B5EF4-FFF2-40B4-BE49-F238E27FC236}">
                <a16:creationId xmlns:a16="http://schemas.microsoft.com/office/drawing/2014/main" id="{F9EBE5A0-C396-D465-D4AF-2B2E3B441F32}"/>
              </a:ext>
            </a:extLst>
          </p:cNvPr>
          <p:cNvSpPr txBox="1"/>
          <p:nvPr/>
        </p:nvSpPr>
        <p:spPr>
          <a:xfrm>
            <a:off x="6761606" y="4037561"/>
            <a:ext cx="4407407" cy="124906"/>
          </a:xfrm>
          <a:prstGeom prst="rect">
            <a:avLst/>
          </a:prstGeom>
          <a:noFill/>
        </p:spPr>
        <p:txBody>
          <a:bodyPr wrap="square" lIns="0" tIns="0" rIns="0" bIns="0" anchor="t">
            <a:spAutoFit/>
          </a:bodyPr>
          <a:lstStyle>
            <a:defPPr>
              <a:defRPr lang="en-US"/>
            </a:defPPr>
            <a:lvl1pPr>
              <a:lnSpc>
                <a:spcPct val="110000"/>
              </a:lnSpc>
              <a:spcBef>
                <a:spcPts val="0"/>
              </a:spcBef>
              <a:spcAft>
                <a:spcPts val="0"/>
              </a:spcAft>
              <a:defRPr sz="800" b="1" i="0">
                <a:solidFill>
                  <a:srgbClr val="3B7D23"/>
                </a:solidFill>
                <a:latin typeface="Arial" panose="020B0604020202020204" pitchFamily="34" charset="0"/>
                <a:cs typeface="Arial" panose="020B0604020202020204" pitchFamily="34" charset="0"/>
              </a:defRPr>
            </a:lvl1pPr>
          </a:lstStyle>
          <a:p>
            <a:r>
              <a:rPr lang="en-US" noProof="0">
                <a:solidFill>
                  <a:schemeClr val="tx1"/>
                </a:solidFill>
              </a:rPr>
              <a:t>STAGE: Classification</a:t>
            </a:r>
          </a:p>
        </p:txBody>
      </p:sp>
      <p:sp>
        <p:nvSpPr>
          <p:cNvPr id="37" name="TextBox 36">
            <a:extLst>
              <a:ext uri="{FF2B5EF4-FFF2-40B4-BE49-F238E27FC236}">
                <a16:creationId xmlns:a16="http://schemas.microsoft.com/office/drawing/2014/main" id="{70C3AFD7-7FED-C6BE-9B85-7BDBE294037F}"/>
              </a:ext>
            </a:extLst>
          </p:cNvPr>
          <p:cNvSpPr txBox="1"/>
          <p:nvPr/>
        </p:nvSpPr>
        <p:spPr>
          <a:xfrm>
            <a:off x="6761606" y="4260798"/>
            <a:ext cx="4407407" cy="203004"/>
          </a:xfrm>
          <a:prstGeom prst="rect">
            <a:avLst/>
          </a:prstGeom>
          <a:noFill/>
        </p:spPr>
        <p:txBody>
          <a:bodyPr wrap="square" lIns="0" tIns="0" rIns="0" bIns="0" anchor="t">
            <a:spAutoFit/>
          </a:bodyPr>
          <a:lstStyle/>
          <a:p>
            <a:pPr algn="l">
              <a:lnSpc>
                <a:spcPct val="110000"/>
              </a:lnSpc>
              <a:spcBef>
                <a:spcPts val="0"/>
              </a:spcBef>
              <a:spcAft>
                <a:spcPts val="0"/>
              </a:spcAft>
            </a:pPr>
            <a:r>
              <a:rPr lang="en-US" sz="1300" b="1" i="0" noProof="0">
                <a:latin typeface="Arial" panose="020B0604020202020204" pitchFamily="34" charset="0"/>
                <a:cs typeface="Arial" panose="020B0604020202020204" pitchFamily="34" charset="0"/>
              </a:rPr>
              <a:t>Corporate Project Overlap</a:t>
            </a:r>
          </a:p>
        </p:txBody>
      </p:sp>
      <p:sp>
        <p:nvSpPr>
          <p:cNvPr id="38" name="TextBox 37">
            <a:extLst>
              <a:ext uri="{FF2B5EF4-FFF2-40B4-BE49-F238E27FC236}">
                <a16:creationId xmlns:a16="http://schemas.microsoft.com/office/drawing/2014/main" id="{38ACBCEE-F905-6085-00C4-BF61DD410A8E}"/>
              </a:ext>
            </a:extLst>
          </p:cNvPr>
          <p:cNvSpPr txBox="1"/>
          <p:nvPr/>
        </p:nvSpPr>
        <p:spPr>
          <a:xfrm>
            <a:off x="6354699" y="4617168"/>
            <a:ext cx="5230368" cy="330347"/>
          </a:xfrm>
          <a:prstGeom prst="rect">
            <a:avLst/>
          </a:prstGeom>
          <a:noFill/>
        </p:spPr>
        <p:txBody>
          <a:bodyPr wrap="square" lIns="0" tIns="0" rIns="0" bIns="0" anchor="t">
            <a:spAutoFit/>
          </a:bodyPr>
          <a:lstStyle/>
          <a:p>
            <a:pPr>
              <a:lnSpc>
                <a:spcPct val="110000"/>
              </a:lnSpc>
            </a:pPr>
            <a:r>
              <a:rPr lang="en-US" sz="1000" noProof="0">
                <a:latin typeface="Arial" panose="020B0604020202020204" pitchFamily="34" charset="0"/>
                <a:cs typeface="Arial" panose="020B0604020202020204" pitchFamily="34" charset="0"/>
              </a:rPr>
              <a:t>Multiple tools and inconsistent classification approaches lead to duplicated demand and overlapping initiatives addressing similar outcomes. Coordination across teams is limited.</a:t>
            </a:r>
            <a:endParaRPr lang="en-US" sz="1000" b="0" i="0" noProof="0">
              <a:solidFill>
                <a:srgbClr val="2C3E50"/>
              </a:solidFill>
              <a:latin typeface="Arial" panose="020B0604020202020204" pitchFamily="34" charset="0"/>
              <a:cs typeface="Arial" panose="020B0604020202020204" pitchFamily="34" charset="0"/>
            </a:endParaRPr>
          </a:p>
        </p:txBody>
      </p:sp>
      <p:sp>
        <p:nvSpPr>
          <p:cNvPr id="39" name="TextBox 38">
            <a:extLst>
              <a:ext uri="{FF2B5EF4-FFF2-40B4-BE49-F238E27FC236}">
                <a16:creationId xmlns:a16="http://schemas.microsoft.com/office/drawing/2014/main" id="{8D0714E0-725E-45E8-42A2-594AA6524E00}"/>
              </a:ext>
            </a:extLst>
          </p:cNvPr>
          <p:cNvSpPr txBox="1"/>
          <p:nvPr/>
        </p:nvSpPr>
        <p:spPr>
          <a:xfrm>
            <a:off x="6726423" y="5514668"/>
            <a:ext cx="4935645" cy="124906"/>
          </a:xfrm>
          <a:prstGeom prst="rect">
            <a:avLst/>
          </a:prstGeom>
          <a:noFill/>
        </p:spPr>
        <p:txBody>
          <a:bodyPr wrap="square" lIns="0" tIns="0" rIns="0" bIns="0" anchor="t">
            <a:spAutoFit/>
          </a:bodyPr>
          <a:lstStyle/>
          <a:p>
            <a:pPr algn="l">
              <a:lnSpc>
                <a:spcPct val="110000"/>
              </a:lnSpc>
              <a:spcBef>
                <a:spcPts val="0"/>
              </a:spcBef>
              <a:spcAft>
                <a:spcPts val="0"/>
              </a:spcAft>
            </a:pPr>
            <a:r>
              <a:rPr lang="en-US" sz="800" b="1" i="0" noProof="0">
                <a:solidFill>
                  <a:schemeClr val="bg1"/>
                </a:solidFill>
                <a:latin typeface="Arial" panose="020B0604020202020204" pitchFamily="34" charset="0"/>
                <a:cs typeface="Arial" panose="020B0604020202020204" pitchFamily="34" charset="0"/>
              </a:rPr>
              <a:t>IMPACT</a:t>
            </a:r>
          </a:p>
        </p:txBody>
      </p:sp>
      <p:sp>
        <p:nvSpPr>
          <p:cNvPr id="40" name="TextBox 39">
            <a:extLst>
              <a:ext uri="{FF2B5EF4-FFF2-40B4-BE49-F238E27FC236}">
                <a16:creationId xmlns:a16="http://schemas.microsoft.com/office/drawing/2014/main" id="{6993DE54-DAE0-1940-0984-82ED2D8A85A8}"/>
              </a:ext>
            </a:extLst>
          </p:cNvPr>
          <p:cNvSpPr txBox="1"/>
          <p:nvPr/>
        </p:nvSpPr>
        <p:spPr>
          <a:xfrm>
            <a:off x="6726423" y="5667686"/>
            <a:ext cx="4935645" cy="369332"/>
          </a:xfrm>
          <a:prstGeom prst="rect">
            <a:avLst/>
          </a:prstGeom>
          <a:noFill/>
        </p:spPr>
        <p:txBody>
          <a:bodyPr wrap="square" lIns="0" tIns="0" rIns="0" bIns="0" anchor="t">
            <a:spAutoFit/>
          </a:bodyPr>
          <a:lstStyle/>
          <a:p>
            <a:r>
              <a:rPr lang="en-US" sz="1200" b="1" noProof="0">
                <a:solidFill>
                  <a:schemeClr val="bg1"/>
                </a:solidFill>
                <a:latin typeface="Arial" panose="020B0604020202020204" pitchFamily="34" charset="0"/>
                <a:cs typeface="Arial" panose="020B0604020202020204" pitchFamily="34" charset="0"/>
              </a:rPr>
              <a:t>Reduces efficiency and prevents alignment to clear product ownership and business outcomes.</a:t>
            </a:r>
          </a:p>
        </p:txBody>
      </p:sp>
      <p:sp>
        <p:nvSpPr>
          <p:cNvPr id="41" name="TextBox 40">
            <a:extLst>
              <a:ext uri="{FF2B5EF4-FFF2-40B4-BE49-F238E27FC236}">
                <a16:creationId xmlns:a16="http://schemas.microsoft.com/office/drawing/2014/main" id="{A5EFEAB9-DF94-9CA9-C548-9CA874EC1331}"/>
              </a:ext>
            </a:extLst>
          </p:cNvPr>
          <p:cNvSpPr txBox="1"/>
          <p:nvPr/>
        </p:nvSpPr>
        <p:spPr>
          <a:xfrm>
            <a:off x="9815417" y="4037561"/>
            <a:ext cx="2016533"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1" noProof="0">
                <a:solidFill>
                  <a:srgbClr val="2C578B"/>
                </a:solidFill>
                <a:latin typeface="Arial" panose="020B0604020202020204" pitchFamily="34" charset="0"/>
                <a:cs typeface="Arial" panose="020B0604020202020204" pitchFamily="34" charset="0"/>
              </a:rPr>
              <a:t> "PDD is the driver. Lots of overlapping projects" — Amit Patel</a:t>
            </a:r>
          </a:p>
        </p:txBody>
      </p:sp>
      <p:sp>
        <p:nvSpPr>
          <p:cNvPr id="57" name="Título 2">
            <a:extLst>
              <a:ext uri="{FF2B5EF4-FFF2-40B4-BE49-F238E27FC236}">
                <a16:creationId xmlns:a16="http://schemas.microsoft.com/office/drawing/2014/main" id="{10E3B1F5-5AA0-EF53-7421-81AC8D291917}"/>
              </a:ext>
            </a:extLst>
          </p:cNvPr>
          <p:cNvSpPr txBox="1">
            <a:spLocks/>
          </p:cNvSpPr>
          <p:nvPr/>
        </p:nvSpPr>
        <p:spPr>
          <a:xfrm>
            <a:off x="180917" y="127319"/>
            <a:ext cx="8782107" cy="514011"/>
          </a:xfrm>
          <a:prstGeom prst="rect">
            <a:avLst/>
          </a:prstGeom>
        </p:spPr>
        <p:txBody>
          <a:bodyPr anchor="ctr">
            <a:noAutofit/>
          </a:bodyPr>
          <a:lstStyle>
            <a:defPPr>
              <a:defRPr lang="en-US"/>
            </a:defPPr>
            <a:lvl1pPr marR="0" lvl="0" indent="0" fontAlgn="auto">
              <a:lnSpc>
                <a:spcPct val="90000"/>
              </a:lnSpc>
              <a:spcBef>
                <a:spcPct val="0"/>
              </a:spcBef>
              <a:spcAft>
                <a:spcPts val="0"/>
              </a:spcAft>
              <a:buClrTx/>
              <a:buSzTx/>
              <a:buFontTx/>
              <a:buNone/>
              <a:tabLst/>
              <a:defRPr kumimoji="0" sz="2400" b="1" i="0" u="none" strike="noStrike" cap="none" spc="0" normalizeH="0" baseline="0">
                <a:ln>
                  <a:noFill/>
                </a:ln>
                <a:solidFill>
                  <a:prstClr val="white"/>
                </a:solidFill>
                <a:effectLst/>
                <a:uLnTx/>
                <a:uFillTx/>
                <a:latin typeface="Arial" panose="020B0604020202020204" pitchFamily="34" charset="0"/>
                <a:ea typeface="+mj-ea"/>
                <a:cs typeface="Arial" panose="020B0604020202020204" pitchFamily="34" charset="0"/>
              </a:defRPr>
            </a:lvl1pPr>
          </a:lstStyle>
          <a:p>
            <a:r>
              <a:rPr lang="en-US" noProof="0">
                <a:sym typeface="Gordita"/>
              </a:rPr>
              <a:t>INSIGHTS &amp; KEY DEFINITIONS FOR THE TO-BE MODEL</a:t>
            </a:r>
          </a:p>
          <a:p>
            <a:r>
              <a:rPr lang="en-US" sz="1200" noProof="0"/>
              <a:t>DELIVERY &amp; EXPERIENCE PAIN POINTS (1/2)</a:t>
            </a:r>
          </a:p>
        </p:txBody>
      </p:sp>
      <p:sp>
        <p:nvSpPr>
          <p:cNvPr id="42" name="Rectangle 41">
            <a:extLst>
              <a:ext uri="{FF2B5EF4-FFF2-40B4-BE49-F238E27FC236}">
                <a16:creationId xmlns:a16="http://schemas.microsoft.com/office/drawing/2014/main" id="{51A1C796-090D-0615-E810-68789B9C5DB0}"/>
              </a:ext>
            </a:extLst>
          </p:cNvPr>
          <p:cNvSpPr/>
          <p:nvPr/>
        </p:nvSpPr>
        <p:spPr>
          <a:xfrm>
            <a:off x="360046" y="1759542"/>
            <a:ext cx="506729" cy="489331"/>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4" name="TextBox 43">
            <a:extLst>
              <a:ext uri="{FF2B5EF4-FFF2-40B4-BE49-F238E27FC236}">
                <a16:creationId xmlns:a16="http://schemas.microsoft.com/office/drawing/2014/main" id="{4F9CE80D-A34C-6E44-797E-9F75B7D31E03}"/>
              </a:ext>
            </a:extLst>
          </p:cNvPr>
          <p:cNvSpPr txBox="1"/>
          <p:nvPr/>
        </p:nvSpPr>
        <p:spPr>
          <a:xfrm>
            <a:off x="470423" y="1879302"/>
            <a:ext cx="285973" cy="249812"/>
          </a:xfrm>
          <a:prstGeom prst="rect">
            <a:avLst/>
          </a:prstGeom>
          <a:noFill/>
        </p:spPr>
        <p:txBody>
          <a:bodyPr wrap="square" lIns="0" tIns="0" rIns="0" bIns="0" anchor="ctr">
            <a:spAutoFit/>
          </a:bodyPr>
          <a:lstStyle/>
          <a:p>
            <a:pPr algn="ctr">
              <a:lnSpc>
                <a:spcPct val="110000"/>
              </a:lnSpc>
              <a:spcBef>
                <a:spcPts val="0"/>
              </a:spcBef>
              <a:spcAft>
                <a:spcPts val="0"/>
              </a:spcAft>
            </a:pPr>
            <a:r>
              <a:rPr lang="en-US" sz="1600" b="1" i="0" noProof="0">
                <a:solidFill>
                  <a:srgbClr val="FFFFFF"/>
                </a:solidFill>
                <a:latin typeface="Arial" panose="020B0604020202020204" pitchFamily="34" charset="0"/>
                <a:cs typeface="Arial" panose="020B0604020202020204" pitchFamily="34" charset="0"/>
              </a:rPr>
              <a:t>01</a:t>
            </a:r>
          </a:p>
        </p:txBody>
      </p:sp>
      <p:sp>
        <p:nvSpPr>
          <p:cNvPr id="45" name="Rectangle 44">
            <a:extLst>
              <a:ext uri="{FF2B5EF4-FFF2-40B4-BE49-F238E27FC236}">
                <a16:creationId xmlns:a16="http://schemas.microsoft.com/office/drawing/2014/main" id="{89E1DD77-EFC9-286F-E4A5-2726EBA07519}"/>
              </a:ext>
            </a:extLst>
          </p:cNvPr>
          <p:cNvSpPr/>
          <p:nvPr/>
        </p:nvSpPr>
        <p:spPr>
          <a:xfrm>
            <a:off x="6163438" y="1749835"/>
            <a:ext cx="506729" cy="489331"/>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6" name="TextBox 45">
            <a:extLst>
              <a:ext uri="{FF2B5EF4-FFF2-40B4-BE49-F238E27FC236}">
                <a16:creationId xmlns:a16="http://schemas.microsoft.com/office/drawing/2014/main" id="{EB1CA95D-6DF9-FCDB-0498-52AA31F6E396}"/>
              </a:ext>
            </a:extLst>
          </p:cNvPr>
          <p:cNvSpPr txBox="1"/>
          <p:nvPr/>
        </p:nvSpPr>
        <p:spPr>
          <a:xfrm>
            <a:off x="6273815" y="1869595"/>
            <a:ext cx="285973" cy="249812"/>
          </a:xfrm>
          <a:prstGeom prst="rect">
            <a:avLst/>
          </a:prstGeom>
          <a:noFill/>
        </p:spPr>
        <p:txBody>
          <a:bodyPr wrap="square" lIns="0" tIns="0" rIns="0" bIns="0" anchor="ctr">
            <a:spAutoFit/>
          </a:bodyPr>
          <a:lstStyle/>
          <a:p>
            <a:pPr algn="ctr">
              <a:lnSpc>
                <a:spcPct val="110000"/>
              </a:lnSpc>
              <a:spcBef>
                <a:spcPts val="0"/>
              </a:spcBef>
              <a:spcAft>
                <a:spcPts val="0"/>
              </a:spcAft>
            </a:pPr>
            <a:r>
              <a:rPr lang="en-US" sz="1600" b="1" i="0" noProof="0">
                <a:solidFill>
                  <a:srgbClr val="FFFFFF"/>
                </a:solidFill>
                <a:latin typeface="Arial" panose="020B0604020202020204" pitchFamily="34" charset="0"/>
                <a:cs typeface="Arial" panose="020B0604020202020204" pitchFamily="34" charset="0"/>
              </a:rPr>
              <a:t>02</a:t>
            </a:r>
          </a:p>
        </p:txBody>
      </p:sp>
      <p:sp>
        <p:nvSpPr>
          <p:cNvPr id="47" name="Rectangle 46">
            <a:extLst>
              <a:ext uri="{FF2B5EF4-FFF2-40B4-BE49-F238E27FC236}">
                <a16:creationId xmlns:a16="http://schemas.microsoft.com/office/drawing/2014/main" id="{560D7B7C-B357-354F-C8AC-1959DAC92A98}"/>
              </a:ext>
            </a:extLst>
          </p:cNvPr>
          <p:cNvSpPr/>
          <p:nvPr/>
        </p:nvSpPr>
        <p:spPr>
          <a:xfrm>
            <a:off x="357109" y="3987791"/>
            <a:ext cx="506729" cy="489331"/>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8" name="TextBox 47">
            <a:extLst>
              <a:ext uri="{FF2B5EF4-FFF2-40B4-BE49-F238E27FC236}">
                <a16:creationId xmlns:a16="http://schemas.microsoft.com/office/drawing/2014/main" id="{0B106213-EDD2-B66B-84DA-2A01D1833B2C}"/>
              </a:ext>
            </a:extLst>
          </p:cNvPr>
          <p:cNvSpPr txBox="1"/>
          <p:nvPr/>
        </p:nvSpPr>
        <p:spPr>
          <a:xfrm>
            <a:off x="467486" y="4107551"/>
            <a:ext cx="285973" cy="249812"/>
          </a:xfrm>
          <a:prstGeom prst="rect">
            <a:avLst/>
          </a:prstGeom>
          <a:noFill/>
        </p:spPr>
        <p:txBody>
          <a:bodyPr wrap="square" lIns="0" tIns="0" rIns="0" bIns="0" anchor="ctr">
            <a:spAutoFit/>
          </a:bodyPr>
          <a:lstStyle/>
          <a:p>
            <a:pPr algn="ctr">
              <a:lnSpc>
                <a:spcPct val="110000"/>
              </a:lnSpc>
              <a:spcBef>
                <a:spcPts val="0"/>
              </a:spcBef>
              <a:spcAft>
                <a:spcPts val="0"/>
              </a:spcAft>
            </a:pPr>
            <a:r>
              <a:rPr lang="en-US" sz="1600" b="1" i="0" noProof="0">
                <a:solidFill>
                  <a:srgbClr val="FFFFFF"/>
                </a:solidFill>
                <a:latin typeface="Arial" panose="020B0604020202020204" pitchFamily="34" charset="0"/>
                <a:cs typeface="Arial" panose="020B0604020202020204" pitchFamily="34" charset="0"/>
              </a:rPr>
              <a:t>03</a:t>
            </a:r>
          </a:p>
        </p:txBody>
      </p:sp>
      <p:sp>
        <p:nvSpPr>
          <p:cNvPr id="49" name="Rectangle 48">
            <a:extLst>
              <a:ext uri="{FF2B5EF4-FFF2-40B4-BE49-F238E27FC236}">
                <a16:creationId xmlns:a16="http://schemas.microsoft.com/office/drawing/2014/main" id="{3E107434-F03D-003F-875D-E4D373976624}"/>
              </a:ext>
            </a:extLst>
          </p:cNvPr>
          <p:cNvSpPr/>
          <p:nvPr/>
        </p:nvSpPr>
        <p:spPr>
          <a:xfrm>
            <a:off x="6163438" y="3981533"/>
            <a:ext cx="506729" cy="489331"/>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0" name="TextBox 49">
            <a:extLst>
              <a:ext uri="{FF2B5EF4-FFF2-40B4-BE49-F238E27FC236}">
                <a16:creationId xmlns:a16="http://schemas.microsoft.com/office/drawing/2014/main" id="{DEC77F9B-7FB2-ADFD-0A0B-9C21EE55845E}"/>
              </a:ext>
            </a:extLst>
          </p:cNvPr>
          <p:cNvSpPr txBox="1"/>
          <p:nvPr/>
        </p:nvSpPr>
        <p:spPr>
          <a:xfrm>
            <a:off x="6273815" y="4101293"/>
            <a:ext cx="285973" cy="249812"/>
          </a:xfrm>
          <a:prstGeom prst="rect">
            <a:avLst/>
          </a:prstGeom>
          <a:noFill/>
        </p:spPr>
        <p:txBody>
          <a:bodyPr wrap="square" lIns="0" tIns="0" rIns="0" bIns="0" anchor="ctr">
            <a:spAutoFit/>
          </a:bodyPr>
          <a:lstStyle/>
          <a:p>
            <a:pPr algn="ctr">
              <a:lnSpc>
                <a:spcPct val="110000"/>
              </a:lnSpc>
              <a:spcBef>
                <a:spcPts val="0"/>
              </a:spcBef>
              <a:spcAft>
                <a:spcPts val="0"/>
              </a:spcAft>
            </a:pPr>
            <a:r>
              <a:rPr lang="en-US" sz="1600" b="1" i="0" noProof="0">
                <a:solidFill>
                  <a:srgbClr val="FFFFFF"/>
                </a:solidFill>
                <a:latin typeface="Arial" panose="020B0604020202020204" pitchFamily="34" charset="0"/>
                <a:cs typeface="Arial" panose="020B0604020202020204" pitchFamily="34" charset="0"/>
              </a:rPr>
              <a:t>04</a:t>
            </a:r>
          </a:p>
        </p:txBody>
      </p:sp>
      <p:cxnSp>
        <p:nvCxnSpPr>
          <p:cNvPr id="62" name="Straight Connector 61">
            <a:extLst>
              <a:ext uri="{FF2B5EF4-FFF2-40B4-BE49-F238E27FC236}">
                <a16:creationId xmlns:a16="http://schemas.microsoft.com/office/drawing/2014/main" id="{ECB31416-E7A4-0753-EBE8-479F1DFE861C}"/>
              </a:ext>
            </a:extLst>
          </p:cNvPr>
          <p:cNvCxnSpPr/>
          <p:nvPr/>
        </p:nvCxnSpPr>
        <p:spPr>
          <a:xfrm>
            <a:off x="863838" y="5285740"/>
            <a:ext cx="4346337" cy="0"/>
          </a:xfrm>
          <a:prstGeom prst="line">
            <a:avLst/>
          </a:prstGeom>
          <a:ln>
            <a:solidFill>
              <a:srgbClr val="6785C1"/>
            </a:solidFill>
          </a:ln>
        </p:spPr>
        <p:style>
          <a:lnRef idx="2">
            <a:schemeClr val="accent3"/>
          </a:lnRef>
          <a:fillRef idx="0">
            <a:schemeClr val="accent3"/>
          </a:fillRef>
          <a:effectRef idx="1">
            <a:schemeClr val="accent3"/>
          </a:effectRef>
          <a:fontRef idx="minor">
            <a:schemeClr val="tx1"/>
          </a:fontRef>
        </p:style>
      </p:cxnSp>
      <p:cxnSp>
        <p:nvCxnSpPr>
          <p:cNvPr id="63" name="Straight Connector 62">
            <a:extLst>
              <a:ext uri="{FF2B5EF4-FFF2-40B4-BE49-F238E27FC236}">
                <a16:creationId xmlns:a16="http://schemas.microsoft.com/office/drawing/2014/main" id="{1BD039F3-94B5-FF40-7757-AE7A277622B9}"/>
              </a:ext>
            </a:extLst>
          </p:cNvPr>
          <p:cNvCxnSpPr/>
          <p:nvPr/>
        </p:nvCxnSpPr>
        <p:spPr>
          <a:xfrm>
            <a:off x="863838" y="3061335"/>
            <a:ext cx="4346337" cy="0"/>
          </a:xfrm>
          <a:prstGeom prst="line">
            <a:avLst/>
          </a:prstGeom>
          <a:ln>
            <a:solidFill>
              <a:srgbClr val="6785C1"/>
            </a:solidFill>
          </a:ln>
        </p:spPr>
        <p:style>
          <a:lnRef idx="2">
            <a:schemeClr val="accent3"/>
          </a:lnRef>
          <a:fillRef idx="0">
            <a:schemeClr val="accent3"/>
          </a:fillRef>
          <a:effectRef idx="1">
            <a:schemeClr val="accent3"/>
          </a:effectRef>
          <a:fontRef idx="minor">
            <a:schemeClr val="tx1"/>
          </a:fontRef>
        </p:style>
      </p:cxnSp>
      <p:cxnSp>
        <p:nvCxnSpPr>
          <p:cNvPr id="64" name="Straight Connector 63">
            <a:extLst>
              <a:ext uri="{FF2B5EF4-FFF2-40B4-BE49-F238E27FC236}">
                <a16:creationId xmlns:a16="http://schemas.microsoft.com/office/drawing/2014/main" id="{DF36A988-71F4-3692-E8EB-E98C0F6561C1}"/>
              </a:ext>
            </a:extLst>
          </p:cNvPr>
          <p:cNvCxnSpPr/>
          <p:nvPr/>
        </p:nvCxnSpPr>
        <p:spPr>
          <a:xfrm>
            <a:off x="6726423" y="3061335"/>
            <a:ext cx="4346337" cy="0"/>
          </a:xfrm>
          <a:prstGeom prst="line">
            <a:avLst/>
          </a:prstGeom>
          <a:ln>
            <a:solidFill>
              <a:srgbClr val="6785C1"/>
            </a:solidFill>
          </a:ln>
        </p:spPr>
        <p:style>
          <a:lnRef idx="2">
            <a:schemeClr val="accent3"/>
          </a:lnRef>
          <a:fillRef idx="0">
            <a:schemeClr val="accent3"/>
          </a:fillRef>
          <a:effectRef idx="1">
            <a:schemeClr val="accent3"/>
          </a:effectRef>
          <a:fontRef idx="minor">
            <a:schemeClr val="tx1"/>
          </a:fontRef>
        </p:style>
      </p:cxnSp>
      <p:cxnSp>
        <p:nvCxnSpPr>
          <p:cNvPr id="65" name="Straight Connector 64">
            <a:extLst>
              <a:ext uri="{FF2B5EF4-FFF2-40B4-BE49-F238E27FC236}">
                <a16:creationId xmlns:a16="http://schemas.microsoft.com/office/drawing/2014/main" id="{AF4AEFBA-146D-1F41-FA8E-B9F9410E4DD5}"/>
              </a:ext>
            </a:extLst>
          </p:cNvPr>
          <p:cNvCxnSpPr/>
          <p:nvPr/>
        </p:nvCxnSpPr>
        <p:spPr>
          <a:xfrm>
            <a:off x="6726423" y="5285740"/>
            <a:ext cx="4346337" cy="0"/>
          </a:xfrm>
          <a:prstGeom prst="line">
            <a:avLst/>
          </a:prstGeom>
          <a:ln>
            <a:solidFill>
              <a:srgbClr val="6785C1"/>
            </a:solidFill>
          </a:ln>
        </p:spPr>
        <p:style>
          <a:lnRef idx="2">
            <a:schemeClr val="accent3"/>
          </a:lnRef>
          <a:fillRef idx="0">
            <a:schemeClr val="accent3"/>
          </a:fillRef>
          <a:effectRef idx="1">
            <a:schemeClr val="accent3"/>
          </a:effectRef>
          <a:fontRef idx="minor">
            <a:schemeClr val="tx1"/>
          </a:fontRef>
        </p:style>
      </p:cxnSp>
      <p:pic>
        <p:nvPicPr>
          <p:cNvPr id="71" name="Graphic 70" descr="Excellent with solid fill">
            <a:extLst>
              <a:ext uri="{FF2B5EF4-FFF2-40B4-BE49-F238E27FC236}">
                <a16:creationId xmlns:a16="http://schemas.microsoft.com/office/drawing/2014/main" id="{C73FEE56-940D-3453-FD5D-A69D9EC650B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163437" y="5414172"/>
            <a:ext cx="466453" cy="466453"/>
          </a:xfrm>
          <a:prstGeom prst="rect">
            <a:avLst/>
          </a:prstGeom>
        </p:spPr>
      </p:pic>
      <p:pic>
        <p:nvPicPr>
          <p:cNvPr id="72" name="Graphic 71" descr="Excellent with solid fill">
            <a:extLst>
              <a:ext uri="{FF2B5EF4-FFF2-40B4-BE49-F238E27FC236}">
                <a16:creationId xmlns:a16="http://schemas.microsoft.com/office/drawing/2014/main" id="{9C323485-7704-1C67-F18D-A52120E2D77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163438" y="3184718"/>
            <a:ext cx="466453" cy="466453"/>
          </a:xfrm>
          <a:prstGeom prst="rect">
            <a:avLst/>
          </a:prstGeom>
        </p:spPr>
      </p:pic>
      <p:pic>
        <p:nvPicPr>
          <p:cNvPr id="73" name="Graphic 72" descr="Excellent with solid fill">
            <a:extLst>
              <a:ext uri="{FF2B5EF4-FFF2-40B4-BE49-F238E27FC236}">
                <a16:creationId xmlns:a16="http://schemas.microsoft.com/office/drawing/2014/main" id="{2951246D-B4BF-F831-36E7-DBB4DE0E893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6223" y="3163140"/>
            <a:ext cx="466453" cy="466453"/>
          </a:xfrm>
          <a:prstGeom prst="rect">
            <a:avLst/>
          </a:prstGeom>
        </p:spPr>
      </p:pic>
      <p:pic>
        <p:nvPicPr>
          <p:cNvPr id="74" name="Graphic 73" descr="Excellent with solid fill">
            <a:extLst>
              <a:ext uri="{FF2B5EF4-FFF2-40B4-BE49-F238E27FC236}">
                <a16:creationId xmlns:a16="http://schemas.microsoft.com/office/drawing/2014/main" id="{F7DD7FC4-5D51-E9B2-02A9-3913DA8B016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0220" y="5438637"/>
            <a:ext cx="466453" cy="466453"/>
          </a:xfrm>
          <a:prstGeom prst="rect">
            <a:avLst/>
          </a:prstGeom>
        </p:spPr>
      </p:pic>
      <p:pic>
        <p:nvPicPr>
          <p:cNvPr id="61" name="Gráfico 60" descr="Burbuja de chat con relleno sólido">
            <a:extLst>
              <a:ext uri="{FF2B5EF4-FFF2-40B4-BE49-F238E27FC236}">
                <a16:creationId xmlns:a16="http://schemas.microsoft.com/office/drawing/2014/main" id="{F6F9570F-7B78-C508-5AEF-93AECF0D4E1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084563" y="1718043"/>
            <a:ext cx="516155" cy="516155"/>
          </a:xfrm>
          <a:prstGeom prst="rect">
            <a:avLst/>
          </a:prstGeom>
        </p:spPr>
      </p:pic>
      <p:pic>
        <p:nvPicPr>
          <p:cNvPr id="66" name="Gráfico 65" descr="Burbuja de chat con relleno sólido">
            <a:extLst>
              <a:ext uri="{FF2B5EF4-FFF2-40B4-BE49-F238E27FC236}">
                <a16:creationId xmlns:a16="http://schemas.microsoft.com/office/drawing/2014/main" id="{B7214507-22B2-3FBB-61B7-C081378C877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160243" y="1718043"/>
            <a:ext cx="516155" cy="516155"/>
          </a:xfrm>
          <a:prstGeom prst="rect">
            <a:avLst/>
          </a:prstGeom>
        </p:spPr>
      </p:pic>
      <p:pic>
        <p:nvPicPr>
          <p:cNvPr id="68" name="Gráfico 67" descr="Burbuja de chat con relleno sólido">
            <a:extLst>
              <a:ext uri="{FF2B5EF4-FFF2-40B4-BE49-F238E27FC236}">
                <a16:creationId xmlns:a16="http://schemas.microsoft.com/office/drawing/2014/main" id="{6AA0BDB2-ECAE-73B6-BE57-D53A795E4A1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084563" y="3912603"/>
            <a:ext cx="516155" cy="516155"/>
          </a:xfrm>
          <a:prstGeom prst="rect">
            <a:avLst/>
          </a:prstGeom>
        </p:spPr>
      </p:pic>
      <p:pic>
        <p:nvPicPr>
          <p:cNvPr id="75" name="Gráfico 74" descr="Burbuja de chat con relleno sólido">
            <a:extLst>
              <a:ext uri="{FF2B5EF4-FFF2-40B4-BE49-F238E27FC236}">
                <a16:creationId xmlns:a16="http://schemas.microsoft.com/office/drawing/2014/main" id="{1111F1FE-0C77-F621-9E4B-2F0AC81A59F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160243" y="3912603"/>
            <a:ext cx="516155" cy="516155"/>
          </a:xfrm>
          <a:prstGeom prst="rect">
            <a:avLst/>
          </a:prstGeom>
        </p:spPr>
      </p:pic>
    </p:spTree>
    <p:extLst>
      <p:ext uri="{BB962C8B-B14F-4D97-AF65-F5344CB8AC3E}">
        <p14:creationId xmlns:p14="http://schemas.microsoft.com/office/powerpoint/2010/main" val="4247511073"/>
      </p:ext>
    </p:extLst>
  </p:cSld>
  <p:clrMapOvr>
    <a:masterClrMapping/>
  </p:clrMapOvr>
  <p:extLst>
    <p:ext uri="{6950BFC3-D8DA-4A85-94F7-54DA5524770B}">
      <p188:commentRel xmlns:p188="http://schemas.microsoft.com/office/powerpoint/2018/8/main" r:id="rId2"/>
    </p:ext>
  </p:extLs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72B1F-20D4-5F54-F9B4-76F03D9718E6}"/>
            </a:ext>
          </a:extLst>
        </p:cNvPr>
        <p:cNvGrpSpPr/>
        <p:nvPr/>
      </p:nvGrpSpPr>
      <p:grpSpPr>
        <a:xfrm>
          <a:off x="0" y="0"/>
          <a:ext cx="0" cy="0"/>
          <a:chOff x="0" y="0"/>
          <a:chExt cx="0" cy="0"/>
        </a:xfrm>
      </p:grpSpPr>
      <p:sp>
        <p:nvSpPr>
          <p:cNvPr id="33" name="Rectangle 32">
            <a:extLst>
              <a:ext uri="{FF2B5EF4-FFF2-40B4-BE49-F238E27FC236}">
                <a16:creationId xmlns:a16="http://schemas.microsoft.com/office/drawing/2014/main" id="{BE8C5413-CD99-9C1E-8B48-D0947EE163CC}"/>
              </a:ext>
            </a:extLst>
          </p:cNvPr>
          <p:cNvSpPr/>
          <p:nvPr/>
        </p:nvSpPr>
        <p:spPr>
          <a:xfrm>
            <a:off x="6098666" y="4005535"/>
            <a:ext cx="5733288" cy="21488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7240BF3D-F0C7-4134-53C1-0548278EE9C0}"/>
              </a:ext>
            </a:extLst>
          </p:cNvPr>
          <p:cNvSpPr/>
          <p:nvPr/>
        </p:nvSpPr>
        <p:spPr>
          <a:xfrm>
            <a:off x="246507" y="1663656"/>
            <a:ext cx="5733288" cy="21488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5" name="Rectangle 14">
            <a:extLst>
              <a:ext uri="{FF2B5EF4-FFF2-40B4-BE49-F238E27FC236}">
                <a16:creationId xmlns:a16="http://schemas.microsoft.com/office/drawing/2014/main" id="{8A007CD7-8CC9-BE2E-C893-DAAB60FDA2DE}"/>
              </a:ext>
            </a:extLst>
          </p:cNvPr>
          <p:cNvSpPr/>
          <p:nvPr/>
        </p:nvSpPr>
        <p:spPr>
          <a:xfrm>
            <a:off x="6098666" y="1663656"/>
            <a:ext cx="5733288" cy="21488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5" name="Rectangle 34">
            <a:extLst>
              <a:ext uri="{FF2B5EF4-FFF2-40B4-BE49-F238E27FC236}">
                <a16:creationId xmlns:a16="http://schemas.microsoft.com/office/drawing/2014/main" id="{E8946E49-9F44-23A1-5D81-9E16FA891410}"/>
              </a:ext>
            </a:extLst>
          </p:cNvPr>
          <p:cNvSpPr/>
          <p:nvPr/>
        </p:nvSpPr>
        <p:spPr>
          <a:xfrm>
            <a:off x="246505" y="3163915"/>
            <a:ext cx="5733288" cy="687822"/>
          </a:xfrm>
          <a:prstGeom prst="rect">
            <a:avLst/>
          </a:prstGeom>
          <a:solidFill>
            <a:srgbClr val="2C578B"/>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noProof="0"/>
          </a:p>
        </p:txBody>
      </p:sp>
      <p:sp>
        <p:nvSpPr>
          <p:cNvPr id="26" name="Rectangle 25">
            <a:extLst>
              <a:ext uri="{FF2B5EF4-FFF2-40B4-BE49-F238E27FC236}">
                <a16:creationId xmlns:a16="http://schemas.microsoft.com/office/drawing/2014/main" id="{C335D299-A445-429F-A63A-850363E7B77B}"/>
              </a:ext>
            </a:extLst>
          </p:cNvPr>
          <p:cNvSpPr/>
          <p:nvPr/>
        </p:nvSpPr>
        <p:spPr>
          <a:xfrm>
            <a:off x="6098665" y="3156236"/>
            <a:ext cx="5733288" cy="687822"/>
          </a:xfrm>
          <a:prstGeom prst="rect">
            <a:avLst/>
          </a:prstGeom>
          <a:solidFill>
            <a:srgbClr val="2C578B"/>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noProof="0"/>
          </a:p>
        </p:txBody>
      </p:sp>
      <p:sp>
        <p:nvSpPr>
          <p:cNvPr id="17" name="Rectangle 16">
            <a:extLst>
              <a:ext uri="{FF2B5EF4-FFF2-40B4-BE49-F238E27FC236}">
                <a16:creationId xmlns:a16="http://schemas.microsoft.com/office/drawing/2014/main" id="{DDFF5140-67F6-86D6-B984-AA9903C27592}"/>
              </a:ext>
            </a:extLst>
          </p:cNvPr>
          <p:cNvSpPr/>
          <p:nvPr/>
        </p:nvSpPr>
        <p:spPr>
          <a:xfrm>
            <a:off x="6121472" y="5516748"/>
            <a:ext cx="5710308" cy="687822"/>
          </a:xfrm>
          <a:prstGeom prst="rect">
            <a:avLst/>
          </a:prstGeom>
          <a:solidFill>
            <a:srgbClr val="2C578B"/>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noProof="0"/>
          </a:p>
        </p:txBody>
      </p:sp>
      <p:sp>
        <p:nvSpPr>
          <p:cNvPr id="24" name="Rectangle 23">
            <a:extLst>
              <a:ext uri="{FF2B5EF4-FFF2-40B4-BE49-F238E27FC236}">
                <a16:creationId xmlns:a16="http://schemas.microsoft.com/office/drawing/2014/main" id="{FB4E3980-198D-B6B1-C66D-657CD8DBBF44}"/>
              </a:ext>
            </a:extLst>
          </p:cNvPr>
          <p:cNvSpPr/>
          <p:nvPr/>
        </p:nvSpPr>
        <p:spPr>
          <a:xfrm>
            <a:off x="246507" y="4005535"/>
            <a:ext cx="5733288" cy="21488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C95A1EE4-0307-75FC-5297-ADD1D191A05C}"/>
              </a:ext>
            </a:extLst>
          </p:cNvPr>
          <p:cNvSpPr/>
          <p:nvPr/>
        </p:nvSpPr>
        <p:spPr>
          <a:xfrm>
            <a:off x="246505" y="5516748"/>
            <a:ext cx="5733288" cy="687822"/>
          </a:xfrm>
          <a:prstGeom prst="rect">
            <a:avLst/>
          </a:prstGeom>
          <a:solidFill>
            <a:srgbClr val="2C578B"/>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noProof="0"/>
          </a:p>
        </p:txBody>
      </p:sp>
      <p:sp>
        <p:nvSpPr>
          <p:cNvPr id="2" name="TextBox 1">
            <a:extLst>
              <a:ext uri="{FF2B5EF4-FFF2-40B4-BE49-F238E27FC236}">
                <a16:creationId xmlns:a16="http://schemas.microsoft.com/office/drawing/2014/main" id="{0DA5DEDA-5D27-84C7-2EFA-8C5017AE2DD4}"/>
              </a:ext>
            </a:extLst>
          </p:cNvPr>
          <p:cNvSpPr txBox="1"/>
          <p:nvPr/>
        </p:nvSpPr>
        <p:spPr>
          <a:xfrm>
            <a:off x="246506" y="863377"/>
            <a:ext cx="11274552" cy="215444"/>
          </a:xfrm>
          <a:prstGeom prst="rect">
            <a:avLst/>
          </a:prstGeom>
          <a:noFill/>
        </p:spPr>
        <p:txBody>
          <a:bodyPr wrap="square" lIns="0" tIns="0" rIns="0" bIns="0" rtlCol="0">
            <a:noAutofit/>
          </a:bodyPr>
          <a:lstStyle>
            <a:defPPr>
              <a:defRPr lang="en-US"/>
            </a:defPPr>
            <a:lvl1pPr marR="0" lvl="0" indent="0" algn="just" fontAlgn="auto">
              <a:lnSpc>
                <a:spcPct val="100000"/>
              </a:lnSpc>
              <a:spcBef>
                <a:spcPts val="0"/>
              </a:spcBef>
              <a:spcAft>
                <a:spcPts val="0"/>
              </a:spcAft>
              <a:buClrTx/>
              <a:buSzTx/>
              <a:buFontTx/>
              <a:buNone/>
              <a:tabLst/>
              <a:defRPr kumimoji="0" sz="1400" b="1" i="0" u="none" strike="noStrike" cap="none" spc="0" normalizeH="0" baseline="0">
                <a:ln>
                  <a:noFill/>
                </a:ln>
                <a:solidFill>
                  <a:srgbClr val="0F9ED5">
                    <a:lumMod val="75000"/>
                  </a:srgbClr>
                </a:solidFill>
                <a:effectLst/>
                <a:uLnTx/>
                <a:uFillTx/>
                <a:latin typeface="Arial" panose="020B0604020202020204" pitchFamily="34" charset="0"/>
                <a:cs typeface="Arial" panose="020B0604020202020204" pitchFamily="34" charset="0"/>
              </a:defRPr>
            </a:lvl1pPr>
            <a:lvl2pPr marL="228586" eaLnBrk="0" fontAlgn="base" hangingPunct="0">
              <a:spcBef>
                <a:spcPct val="0"/>
              </a:spcBef>
              <a:spcAft>
                <a:spcPct val="0"/>
              </a:spcAft>
              <a:defRPr>
                <a:latin typeface="Arial" pitchFamily="2" charset="77"/>
              </a:defRPr>
            </a:lvl2pPr>
            <a:lvl3pPr marL="457172" eaLnBrk="0" fontAlgn="base" hangingPunct="0">
              <a:spcBef>
                <a:spcPct val="0"/>
              </a:spcBef>
              <a:spcAft>
                <a:spcPct val="0"/>
              </a:spcAft>
              <a:defRPr>
                <a:latin typeface="Arial" pitchFamily="2" charset="77"/>
              </a:defRPr>
            </a:lvl3pPr>
            <a:lvl4pPr marL="685757" eaLnBrk="0" fontAlgn="base" hangingPunct="0">
              <a:spcBef>
                <a:spcPct val="0"/>
              </a:spcBef>
              <a:spcAft>
                <a:spcPct val="0"/>
              </a:spcAft>
              <a:defRPr>
                <a:latin typeface="Arial" pitchFamily="2" charset="77"/>
              </a:defRPr>
            </a:lvl4pPr>
            <a:lvl5pPr marL="914343" eaLnBrk="0" fontAlgn="base" hangingPunct="0">
              <a:spcBef>
                <a:spcPct val="0"/>
              </a:spcBef>
              <a:spcAft>
                <a:spcPct val="0"/>
              </a:spcAft>
              <a:defRPr>
                <a:latin typeface="Arial" pitchFamily="2" charset="77"/>
              </a:defRPr>
            </a:lvl5pPr>
            <a:lvl6pPr marL="1142929" defTabSz="457172">
              <a:defRPr>
                <a:latin typeface="Arial" pitchFamily="2" charset="77"/>
              </a:defRPr>
            </a:lvl6pPr>
            <a:lvl7pPr marL="1371515" defTabSz="457172">
              <a:defRPr>
                <a:latin typeface="Arial" pitchFamily="2" charset="77"/>
              </a:defRPr>
            </a:lvl7pPr>
            <a:lvl8pPr marL="1600100" defTabSz="457172">
              <a:defRPr>
                <a:latin typeface="Arial" pitchFamily="2" charset="77"/>
              </a:defRPr>
            </a:lvl8pPr>
            <a:lvl9pPr marL="1828686" defTabSz="457172">
              <a:defRPr>
                <a:latin typeface="Arial" pitchFamily="2" charset="77"/>
              </a:defRPr>
            </a:lvl9pPr>
          </a:lstStyle>
          <a:p>
            <a:r>
              <a:rPr lang="en-US" noProof="0"/>
              <a:t>Four Applications bottlenecks concentrate demand risk — covering intake, prioritization, portfolio and classification</a:t>
            </a:r>
          </a:p>
        </p:txBody>
      </p:sp>
      <p:sp>
        <p:nvSpPr>
          <p:cNvPr id="3" name="Rectangle 2">
            <a:extLst>
              <a:ext uri="{FF2B5EF4-FFF2-40B4-BE49-F238E27FC236}">
                <a16:creationId xmlns:a16="http://schemas.microsoft.com/office/drawing/2014/main" id="{D3257874-7DBD-A51F-9A5C-F8E864350348}"/>
              </a:ext>
            </a:extLst>
          </p:cNvPr>
          <p:cNvSpPr/>
          <p:nvPr/>
        </p:nvSpPr>
        <p:spPr>
          <a:xfrm>
            <a:off x="246507" y="1069296"/>
            <a:ext cx="11274552" cy="1371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DBD67407-5C97-2DB1-9101-6169760D54B2}"/>
              </a:ext>
            </a:extLst>
          </p:cNvPr>
          <p:cNvSpPr/>
          <p:nvPr/>
        </p:nvSpPr>
        <p:spPr>
          <a:xfrm>
            <a:off x="246507" y="1316184"/>
            <a:ext cx="11585446" cy="27432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b="1">
                <a:solidFill>
                  <a:schemeClr val="bg1"/>
                </a:solidFill>
                <a:latin typeface="Arial" panose="020B0604020202020204" pitchFamily="34" charset="0"/>
                <a:cs typeface="Arial" panose="020B0604020202020204" pitchFamily="34" charset="0"/>
              </a:rPr>
              <a:t>CUSTOMER SERVICE </a:t>
            </a:r>
            <a:r>
              <a:rPr lang="en-US" sz="1200" b="1" noProof="0">
                <a:solidFill>
                  <a:schemeClr val="bg1"/>
                </a:solidFill>
                <a:latin typeface="Arial" panose="020B0604020202020204" pitchFamily="34" charset="0"/>
                <a:cs typeface="Arial" panose="020B0604020202020204" pitchFamily="34" charset="0"/>
              </a:rPr>
              <a:t>APPLICATIONS</a:t>
            </a:r>
            <a:endParaRPr lang="en-US" sz="1200" noProof="0">
              <a:solidFill>
                <a:schemeClr val="bg1"/>
              </a:solidFill>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097BDC82-7109-DF87-9C2A-E6F47C8550CE}"/>
              </a:ext>
            </a:extLst>
          </p:cNvPr>
          <p:cNvSpPr txBox="1"/>
          <p:nvPr/>
        </p:nvSpPr>
        <p:spPr>
          <a:xfrm>
            <a:off x="863838" y="3241568"/>
            <a:ext cx="4857494" cy="124906"/>
          </a:xfrm>
          <a:prstGeom prst="rect">
            <a:avLst/>
          </a:prstGeom>
          <a:noFill/>
        </p:spPr>
        <p:txBody>
          <a:bodyPr wrap="square" lIns="0" tIns="0" rIns="0" bIns="0" anchor="t">
            <a:spAutoFit/>
          </a:bodyPr>
          <a:lstStyle/>
          <a:p>
            <a:pPr algn="l">
              <a:lnSpc>
                <a:spcPct val="110000"/>
              </a:lnSpc>
              <a:spcBef>
                <a:spcPts val="0"/>
              </a:spcBef>
              <a:spcAft>
                <a:spcPts val="0"/>
              </a:spcAft>
            </a:pPr>
            <a:r>
              <a:rPr lang="en-US" sz="800" b="1" i="0" noProof="0">
                <a:solidFill>
                  <a:schemeClr val="bg1"/>
                </a:solidFill>
                <a:latin typeface="Arial" panose="020B0604020202020204" pitchFamily="34" charset="0"/>
                <a:cs typeface="Arial" panose="020B0604020202020204" pitchFamily="34" charset="0"/>
              </a:rPr>
              <a:t>IMPACT</a:t>
            </a:r>
          </a:p>
        </p:txBody>
      </p:sp>
      <p:sp>
        <p:nvSpPr>
          <p:cNvPr id="13" name="TextBox 12">
            <a:extLst>
              <a:ext uri="{FF2B5EF4-FFF2-40B4-BE49-F238E27FC236}">
                <a16:creationId xmlns:a16="http://schemas.microsoft.com/office/drawing/2014/main" id="{2756C351-190D-8B68-A733-139B0D402074}"/>
              </a:ext>
            </a:extLst>
          </p:cNvPr>
          <p:cNvSpPr txBox="1"/>
          <p:nvPr/>
        </p:nvSpPr>
        <p:spPr>
          <a:xfrm>
            <a:off x="863838" y="3406160"/>
            <a:ext cx="4857494" cy="390556"/>
          </a:xfrm>
          <a:prstGeom prst="rect">
            <a:avLst/>
          </a:prstGeom>
          <a:noFill/>
        </p:spPr>
        <p:txBody>
          <a:bodyPr wrap="square" lIns="0" tIns="0" rIns="0" bIns="0" anchor="t">
            <a:spAutoFit/>
          </a:bodyPr>
          <a:lstStyle/>
          <a:p>
            <a:pPr algn="l">
              <a:lnSpc>
                <a:spcPct val="110000"/>
              </a:lnSpc>
              <a:spcBef>
                <a:spcPts val="0"/>
              </a:spcBef>
              <a:spcAft>
                <a:spcPts val="0"/>
              </a:spcAft>
            </a:pPr>
            <a:r>
              <a:rPr lang="en-US" sz="1200" b="1" noProof="0">
                <a:solidFill>
                  <a:schemeClr val="bg1"/>
                </a:solidFill>
                <a:latin typeface="Arial" panose="020B0604020202020204" pitchFamily="34" charset="0"/>
                <a:cs typeface="Arial" panose="020B0604020202020204" pitchFamily="34" charset="0"/>
              </a:rPr>
              <a:t>Prevents consistent product-level prioritization and weakens accountability across the product portfolio.</a:t>
            </a:r>
          </a:p>
        </p:txBody>
      </p:sp>
      <p:sp>
        <p:nvSpPr>
          <p:cNvPr id="14" name="TextBox 13">
            <a:extLst>
              <a:ext uri="{FF2B5EF4-FFF2-40B4-BE49-F238E27FC236}">
                <a16:creationId xmlns:a16="http://schemas.microsoft.com/office/drawing/2014/main" id="{1E807B2A-5143-A886-6CD1-410065FD750D}"/>
              </a:ext>
            </a:extLst>
          </p:cNvPr>
          <p:cNvSpPr txBox="1"/>
          <p:nvPr/>
        </p:nvSpPr>
        <p:spPr>
          <a:xfrm>
            <a:off x="3615370" y="1817347"/>
            <a:ext cx="2218186" cy="445186"/>
          </a:xfrm>
          <a:prstGeom prst="rect">
            <a:avLst/>
          </a:prstGeom>
          <a:noFill/>
        </p:spPr>
        <p:txBody>
          <a:bodyPr wrap="square" lIns="0" tIns="0" rIns="0" bIns="0" anchor="t">
            <a:spAutoFit/>
          </a:bodyPr>
          <a:lstStyle>
            <a:defPPr>
              <a:defRPr lang="en-US"/>
            </a:defPPr>
            <a:lvl1pPr>
              <a:lnSpc>
                <a:spcPct val="110000"/>
              </a:lnSpc>
              <a:spcBef>
                <a:spcPts val="0"/>
              </a:spcBef>
              <a:spcAft>
                <a:spcPts val="0"/>
              </a:spcAft>
              <a:defRPr sz="900" b="0" i="1">
                <a:solidFill>
                  <a:srgbClr val="2C578B"/>
                </a:solidFill>
                <a:latin typeface="Arial" panose="020B0604020202020204" pitchFamily="34" charset="0"/>
                <a:cs typeface="Arial" panose="020B0604020202020204" pitchFamily="34" charset="0"/>
              </a:defRPr>
            </a:lvl1pPr>
          </a:lstStyle>
          <a:p>
            <a:r>
              <a:rPr lang="en-US" noProof="0"/>
              <a:t> "Who is in charge of what — 3 people can run the payment jobs" — Kumar + Stephanie</a:t>
            </a:r>
          </a:p>
        </p:txBody>
      </p:sp>
      <p:sp>
        <p:nvSpPr>
          <p:cNvPr id="21" name="TextBox 20">
            <a:extLst>
              <a:ext uri="{FF2B5EF4-FFF2-40B4-BE49-F238E27FC236}">
                <a16:creationId xmlns:a16="http://schemas.microsoft.com/office/drawing/2014/main" id="{22D2E443-13E6-4996-E8AD-0BC262B77360}"/>
              </a:ext>
            </a:extLst>
          </p:cNvPr>
          <p:cNvSpPr txBox="1"/>
          <p:nvPr/>
        </p:nvSpPr>
        <p:spPr>
          <a:xfrm>
            <a:off x="6726424" y="3241568"/>
            <a:ext cx="4935644" cy="124906"/>
          </a:xfrm>
          <a:prstGeom prst="rect">
            <a:avLst/>
          </a:prstGeom>
          <a:noFill/>
        </p:spPr>
        <p:txBody>
          <a:bodyPr wrap="square" lIns="0" tIns="0" rIns="0" bIns="0" anchor="t">
            <a:spAutoFit/>
          </a:bodyPr>
          <a:lstStyle/>
          <a:p>
            <a:pPr algn="l">
              <a:lnSpc>
                <a:spcPct val="110000"/>
              </a:lnSpc>
              <a:spcBef>
                <a:spcPts val="0"/>
              </a:spcBef>
              <a:spcAft>
                <a:spcPts val="0"/>
              </a:spcAft>
            </a:pPr>
            <a:r>
              <a:rPr lang="en-US" sz="800" b="1" i="0" noProof="0">
                <a:solidFill>
                  <a:schemeClr val="bg1"/>
                </a:solidFill>
                <a:latin typeface="Arial" panose="020B0604020202020204" pitchFamily="34" charset="0"/>
                <a:cs typeface="Arial" panose="020B0604020202020204" pitchFamily="34" charset="0"/>
              </a:rPr>
              <a:t>IMPACT</a:t>
            </a:r>
          </a:p>
        </p:txBody>
      </p:sp>
      <p:sp>
        <p:nvSpPr>
          <p:cNvPr id="22" name="TextBox 21">
            <a:extLst>
              <a:ext uri="{FF2B5EF4-FFF2-40B4-BE49-F238E27FC236}">
                <a16:creationId xmlns:a16="http://schemas.microsoft.com/office/drawing/2014/main" id="{A32B546A-5DFA-1BC3-0A9B-325C3C040A57}"/>
              </a:ext>
            </a:extLst>
          </p:cNvPr>
          <p:cNvSpPr txBox="1"/>
          <p:nvPr/>
        </p:nvSpPr>
        <p:spPr>
          <a:xfrm>
            <a:off x="6726424" y="3406160"/>
            <a:ext cx="4935644" cy="390556"/>
          </a:xfrm>
          <a:prstGeom prst="rect">
            <a:avLst/>
          </a:prstGeom>
          <a:noFill/>
        </p:spPr>
        <p:txBody>
          <a:bodyPr wrap="square" lIns="0" tIns="0" rIns="0" bIns="0" anchor="t">
            <a:spAutoFit/>
          </a:bodyPr>
          <a:lstStyle/>
          <a:p>
            <a:pPr>
              <a:lnSpc>
                <a:spcPct val="110000"/>
              </a:lnSpc>
            </a:pPr>
            <a:r>
              <a:rPr lang="en-US" sz="1200" b="1" noProof="0">
                <a:solidFill>
                  <a:schemeClr val="bg1"/>
                </a:solidFill>
                <a:latin typeface="Arial" panose="020B0604020202020204" pitchFamily="34" charset="0"/>
                <a:cs typeface="Arial" panose="020B0604020202020204" pitchFamily="34" charset="0"/>
              </a:rPr>
              <a:t>Constrains end-to-end product portfolio visibility and limits the ability to manage capacity and priorities holistically.</a:t>
            </a:r>
          </a:p>
        </p:txBody>
      </p:sp>
      <p:sp>
        <p:nvSpPr>
          <p:cNvPr id="23" name="TextBox 22">
            <a:extLst>
              <a:ext uri="{FF2B5EF4-FFF2-40B4-BE49-F238E27FC236}">
                <a16:creationId xmlns:a16="http://schemas.microsoft.com/office/drawing/2014/main" id="{7066C650-AFC6-0AB5-C26B-A686FBD5B01E}"/>
              </a:ext>
            </a:extLst>
          </p:cNvPr>
          <p:cNvSpPr txBox="1"/>
          <p:nvPr/>
        </p:nvSpPr>
        <p:spPr>
          <a:xfrm>
            <a:off x="9755693" y="1832853"/>
            <a:ext cx="2218186" cy="445186"/>
          </a:xfrm>
          <a:prstGeom prst="rect">
            <a:avLst/>
          </a:prstGeom>
          <a:noFill/>
        </p:spPr>
        <p:txBody>
          <a:bodyPr wrap="square" lIns="0" tIns="0" rIns="0" bIns="0" anchor="t">
            <a:spAutoFit/>
          </a:bodyPr>
          <a:lstStyle>
            <a:defPPr>
              <a:defRPr lang="en-US"/>
            </a:defPPr>
            <a:lvl1pPr>
              <a:lnSpc>
                <a:spcPct val="110000"/>
              </a:lnSpc>
              <a:spcBef>
                <a:spcPts val="0"/>
              </a:spcBef>
              <a:spcAft>
                <a:spcPts val="0"/>
              </a:spcAft>
              <a:defRPr sz="900" b="0" i="1">
                <a:solidFill>
                  <a:srgbClr val="2C578B"/>
                </a:solidFill>
                <a:latin typeface="Arial" panose="020B0604020202020204" pitchFamily="34" charset="0"/>
                <a:cs typeface="Arial" panose="020B0604020202020204" pitchFamily="34" charset="0"/>
              </a:defRPr>
            </a:lvl1pPr>
          </a:lstStyle>
          <a:p>
            <a:r>
              <a:rPr lang="en-US" noProof="0"/>
              <a:t>▸  "No tool to support portfolio management... No tools or process to manage delivery of vendors"</a:t>
            </a:r>
          </a:p>
        </p:txBody>
      </p:sp>
      <p:sp>
        <p:nvSpPr>
          <p:cNvPr id="30" name="TextBox 29">
            <a:extLst>
              <a:ext uri="{FF2B5EF4-FFF2-40B4-BE49-F238E27FC236}">
                <a16:creationId xmlns:a16="http://schemas.microsoft.com/office/drawing/2014/main" id="{5FEC88CA-8EF8-56B7-8D1D-3CF62737B40E}"/>
              </a:ext>
            </a:extLst>
          </p:cNvPr>
          <p:cNvSpPr txBox="1"/>
          <p:nvPr/>
        </p:nvSpPr>
        <p:spPr>
          <a:xfrm>
            <a:off x="877443" y="5578303"/>
            <a:ext cx="4855463" cy="124906"/>
          </a:xfrm>
          <a:prstGeom prst="rect">
            <a:avLst/>
          </a:prstGeom>
          <a:noFill/>
        </p:spPr>
        <p:txBody>
          <a:bodyPr wrap="square" lIns="0" tIns="0" rIns="0" bIns="0" anchor="t">
            <a:spAutoFit/>
          </a:bodyPr>
          <a:lstStyle/>
          <a:p>
            <a:pPr algn="l">
              <a:lnSpc>
                <a:spcPct val="110000"/>
              </a:lnSpc>
              <a:spcBef>
                <a:spcPts val="0"/>
              </a:spcBef>
              <a:spcAft>
                <a:spcPts val="0"/>
              </a:spcAft>
            </a:pPr>
            <a:r>
              <a:rPr lang="en-US" sz="800" b="1" i="0" noProof="0">
                <a:solidFill>
                  <a:schemeClr val="bg1"/>
                </a:solidFill>
                <a:latin typeface="Arial" panose="020B0604020202020204" pitchFamily="34" charset="0"/>
                <a:cs typeface="Arial" panose="020B0604020202020204" pitchFamily="34" charset="0"/>
              </a:rPr>
              <a:t>IMPACT</a:t>
            </a:r>
          </a:p>
        </p:txBody>
      </p:sp>
      <p:sp>
        <p:nvSpPr>
          <p:cNvPr id="31" name="TextBox 30">
            <a:extLst>
              <a:ext uri="{FF2B5EF4-FFF2-40B4-BE49-F238E27FC236}">
                <a16:creationId xmlns:a16="http://schemas.microsoft.com/office/drawing/2014/main" id="{7FBD7826-0866-D298-B18E-D6C8661477A7}"/>
              </a:ext>
            </a:extLst>
          </p:cNvPr>
          <p:cNvSpPr txBox="1"/>
          <p:nvPr/>
        </p:nvSpPr>
        <p:spPr>
          <a:xfrm>
            <a:off x="877443" y="5742896"/>
            <a:ext cx="4855463" cy="390556"/>
          </a:xfrm>
          <a:prstGeom prst="rect">
            <a:avLst/>
          </a:prstGeom>
          <a:noFill/>
        </p:spPr>
        <p:txBody>
          <a:bodyPr wrap="square" lIns="0" tIns="0" rIns="0" bIns="0" anchor="t">
            <a:spAutoFit/>
          </a:bodyPr>
          <a:lstStyle/>
          <a:p>
            <a:pPr>
              <a:lnSpc>
                <a:spcPct val="110000"/>
              </a:lnSpc>
            </a:pPr>
            <a:r>
              <a:rPr lang="en-US" sz="1200" b="1" noProof="0">
                <a:solidFill>
                  <a:schemeClr val="bg1"/>
                </a:solidFill>
                <a:latin typeface="Arial" panose="020B0604020202020204" pitchFamily="34" charset="0"/>
                <a:cs typeface="Arial" panose="020B0604020202020204" pitchFamily="34" charset="0"/>
              </a:rPr>
              <a:t>Weakens product ownership and creates dependency risks, limiting control over product outcomes and long-term capability</a:t>
            </a:r>
          </a:p>
        </p:txBody>
      </p:sp>
      <p:sp>
        <p:nvSpPr>
          <p:cNvPr id="32" name="TextBox 31">
            <a:extLst>
              <a:ext uri="{FF2B5EF4-FFF2-40B4-BE49-F238E27FC236}">
                <a16:creationId xmlns:a16="http://schemas.microsoft.com/office/drawing/2014/main" id="{F29925D9-5C34-7963-135B-8D73CE48B5C9}"/>
              </a:ext>
            </a:extLst>
          </p:cNvPr>
          <p:cNvSpPr txBox="1"/>
          <p:nvPr/>
        </p:nvSpPr>
        <p:spPr>
          <a:xfrm>
            <a:off x="3674357" y="4143203"/>
            <a:ext cx="2218186" cy="445186"/>
          </a:xfrm>
          <a:prstGeom prst="rect">
            <a:avLst/>
          </a:prstGeom>
          <a:noFill/>
        </p:spPr>
        <p:txBody>
          <a:bodyPr wrap="square" lIns="0" tIns="0" rIns="0" bIns="0" anchor="t">
            <a:spAutoFit/>
          </a:bodyPr>
          <a:lstStyle>
            <a:defPPr>
              <a:defRPr lang="en-US"/>
            </a:defPPr>
            <a:lvl1pPr>
              <a:lnSpc>
                <a:spcPct val="110000"/>
              </a:lnSpc>
              <a:spcBef>
                <a:spcPts val="0"/>
              </a:spcBef>
              <a:spcAft>
                <a:spcPts val="0"/>
              </a:spcAft>
              <a:defRPr sz="900" b="0" i="1">
                <a:solidFill>
                  <a:srgbClr val="2C578B"/>
                </a:solidFill>
                <a:latin typeface="Arial" panose="020B0604020202020204" pitchFamily="34" charset="0"/>
                <a:cs typeface="Arial" panose="020B0604020202020204" pitchFamily="34" charset="0"/>
              </a:defRPr>
            </a:lvl1pPr>
          </a:lstStyle>
          <a:p>
            <a:r>
              <a:rPr lang="en-US" noProof="0"/>
              <a:t>"All portfolio in vendor. Vendors are consultants for the work" — Iram Chowdhury</a:t>
            </a:r>
          </a:p>
        </p:txBody>
      </p:sp>
      <p:sp>
        <p:nvSpPr>
          <p:cNvPr id="39" name="TextBox 38">
            <a:extLst>
              <a:ext uri="{FF2B5EF4-FFF2-40B4-BE49-F238E27FC236}">
                <a16:creationId xmlns:a16="http://schemas.microsoft.com/office/drawing/2014/main" id="{5C7EA49B-2610-B671-4E7F-776612C86F74}"/>
              </a:ext>
            </a:extLst>
          </p:cNvPr>
          <p:cNvSpPr txBox="1"/>
          <p:nvPr/>
        </p:nvSpPr>
        <p:spPr>
          <a:xfrm>
            <a:off x="6726423" y="5626428"/>
            <a:ext cx="4935645" cy="124906"/>
          </a:xfrm>
          <a:prstGeom prst="rect">
            <a:avLst/>
          </a:prstGeom>
          <a:noFill/>
        </p:spPr>
        <p:txBody>
          <a:bodyPr wrap="square" lIns="0" tIns="0" rIns="0" bIns="0" anchor="t">
            <a:spAutoFit/>
          </a:bodyPr>
          <a:lstStyle/>
          <a:p>
            <a:pPr algn="l">
              <a:lnSpc>
                <a:spcPct val="110000"/>
              </a:lnSpc>
              <a:spcBef>
                <a:spcPts val="0"/>
              </a:spcBef>
              <a:spcAft>
                <a:spcPts val="0"/>
              </a:spcAft>
            </a:pPr>
            <a:r>
              <a:rPr lang="en-US" sz="800" b="1" i="0" noProof="0">
                <a:solidFill>
                  <a:schemeClr val="bg1"/>
                </a:solidFill>
                <a:latin typeface="Arial" panose="020B0604020202020204" pitchFamily="34" charset="0"/>
                <a:cs typeface="Arial" panose="020B0604020202020204" pitchFamily="34" charset="0"/>
              </a:rPr>
              <a:t>IMPACT</a:t>
            </a:r>
          </a:p>
        </p:txBody>
      </p:sp>
      <p:sp>
        <p:nvSpPr>
          <p:cNvPr id="40" name="TextBox 39">
            <a:extLst>
              <a:ext uri="{FF2B5EF4-FFF2-40B4-BE49-F238E27FC236}">
                <a16:creationId xmlns:a16="http://schemas.microsoft.com/office/drawing/2014/main" id="{33B60A24-D03B-BD36-15A6-CD4FDBD924F2}"/>
              </a:ext>
            </a:extLst>
          </p:cNvPr>
          <p:cNvSpPr txBox="1"/>
          <p:nvPr/>
        </p:nvSpPr>
        <p:spPr>
          <a:xfrm>
            <a:off x="6726423" y="5791021"/>
            <a:ext cx="4935645" cy="369332"/>
          </a:xfrm>
          <a:prstGeom prst="rect">
            <a:avLst/>
          </a:prstGeom>
          <a:noFill/>
        </p:spPr>
        <p:txBody>
          <a:bodyPr wrap="square" lIns="0" tIns="0" rIns="0" bIns="0" anchor="t">
            <a:spAutoFit/>
          </a:bodyPr>
          <a:lstStyle/>
          <a:p>
            <a:r>
              <a:rPr lang="en-US" sz="1200" b="1" noProof="0">
                <a:solidFill>
                  <a:schemeClr val="bg1"/>
                </a:solidFill>
                <a:latin typeface="Arial" panose="020B0604020202020204" pitchFamily="34" charset="0"/>
                <a:cs typeface="Arial" panose="020B0604020202020204" pitchFamily="34" charset="0"/>
              </a:rPr>
              <a:t>Prevents coordinated product planning and leads to suboptimal allocation of capacity across competing product demands.</a:t>
            </a:r>
          </a:p>
        </p:txBody>
      </p:sp>
      <p:sp>
        <p:nvSpPr>
          <p:cNvPr id="41" name="TextBox 40">
            <a:extLst>
              <a:ext uri="{FF2B5EF4-FFF2-40B4-BE49-F238E27FC236}">
                <a16:creationId xmlns:a16="http://schemas.microsoft.com/office/drawing/2014/main" id="{DED544C4-B159-712C-5579-A59D25D4CD92}"/>
              </a:ext>
            </a:extLst>
          </p:cNvPr>
          <p:cNvSpPr txBox="1"/>
          <p:nvPr/>
        </p:nvSpPr>
        <p:spPr>
          <a:xfrm>
            <a:off x="9815417" y="4068041"/>
            <a:ext cx="2016533" cy="445186"/>
          </a:xfrm>
          <a:prstGeom prst="rect">
            <a:avLst/>
          </a:prstGeom>
          <a:noFill/>
        </p:spPr>
        <p:txBody>
          <a:bodyPr wrap="square" lIns="0" tIns="0" rIns="0" bIns="0" anchor="t">
            <a:spAutoFit/>
          </a:bodyPr>
          <a:lstStyle>
            <a:defPPr>
              <a:defRPr lang="en-US"/>
            </a:defPPr>
            <a:lvl1pPr>
              <a:lnSpc>
                <a:spcPct val="110000"/>
              </a:lnSpc>
              <a:spcBef>
                <a:spcPts val="0"/>
              </a:spcBef>
              <a:spcAft>
                <a:spcPts val="0"/>
              </a:spcAft>
              <a:defRPr sz="900" b="0" i="1">
                <a:solidFill>
                  <a:srgbClr val="2C578B"/>
                </a:solidFill>
                <a:latin typeface="Arial" panose="020B0604020202020204" pitchFamily="34" charset="0"/>
                <a:cs typeface="Arial" panose="020B0604020202020204" pitchFamily="34" charset="0"/>
              </a:defRPr>
            </a:lvl1pPr>
          </a:lstStyle>
          <a:p>
            <a:r>
              <a:rPr lang="en-US" noProof="0"/>
              <a:t> "Resource allocation — multiple OPCOs competing by capacity" — Kumar + Stephanie</a:t>
            </a:r>
          </a:p>
        </p:txBody>
      </p:sp>
      <p:sp>
        <p:nvSpPr>
          <p:cNvPr id="57" name="Título 2">
            <a:extLst>
              <a:ext uri="{FF2B5EF4-FFF2-40B4-BE49-F238E27FC236}">
                <a16:creationId xmlns:a16="http://schemas.microsoft.com/office/drawing/2014/main" id="{823836DB-5CED-C050-5496-61F7C7723B4B}"/>
              </a:ext>
            </a:extLst>
          </p:cNvPr>
          <p:cNvSpPr txBox="1">
            <a:spLocks/>
          </p:cNvSpPr>
          <p:nvPr/>
        </p:nvSpPr>
        <p:spPr>
          <a:xfrm>
            <a:off x="180917" y="127319"/>
            <a:ext cx="8979325" cy="514011"/>
          </a:xfrm>
          <a:prstGeom prst="rect">
            <a:avLst/>
          </a:prstGeom>
        </p:spPr>
        <p:txBody>
          <a:bodyPr anchor="ctr">
            <a:noAutofit/>
          </a:bodyPr>
          <a:lstStyle>
            <a:defPPr>
              <a:defRPr lang="en-US"/>
            </a:defPPr>
            <a:lvl1pPr marR="0" lvl="0" indent="0" fontAlgn="auto">
              <a:lnSpc>
                <a:spcPct val="90000"/>
              </a:lnSpc>
              <a:spcBef>
                <a:spcPct val="0"/>
              </a:spcBef>
              <a:spcAft>
                <a:spcPts val="0"/>
              </a:spcAft>
              <a:buClrTx/>
              <a:buSzTx/>
              <a:buFontTx/>
              <a:buNone/>
              <a:tabLst/>
              <a:defRPr kumimoji="0" sz="2400" b="1" i="0" u="none" strike="noStrike" cap="none" spc="0" normalizeH="0" baseline="0">
                <a:ln>
                  <a:noFill/>
                </a:ln>
                <a:solidFill>
                  <a:prstClr val="white"/>
                </a:solidFill>
                <a:effectLst/>
                <a:uLnTx/>
                <a:uFillTx/>
                <a:latin typeface="Arial" panose="020B0604020202020204" pitchFamily="34" charset="0"/>
                <a:ea typeface="+mj-ea"/>
                <a:cs typeface="Arial" panose="020B0604020202020204" pitchFamily="34" charset="0"/>
              </a:defRPr>
            </a:lvl1pPr>
          </a:lstStyle>
          <a:p>
            <a:r>
              <a:rPr lang="en-US" noProof="0">
                <a:sym typeface="Gordita"/>
              </a:rPr>
              <a:t>INSIGHTS &amp; KEY DEFINITIONS FOR THE TO-BE MODEL</a:t>
            </a:r>
          </a:p>
          <a:p>
            <a:r>
              <a:rPr lang="en-US" sz="1200" noProof="0"/>
              <a:t>DELIVERY &amp; EXPERIENCE PAIN POINTS (2/2)</a:t>
            </a:r>
          </a:p>
        </p:txBody>
      </p:sp>
      <p:sp>
        <p:nvSpPr>
          <p:cNvPr id="42" name="Rectangle 41">
            <a:extLst>
              <a:ext uri="{FF2B5EF4-FFF2-40B4-BE49-F238E27FC236}">
                <a16:creationId xmlns:a16="http://schemas.microsoft.com/office/drawing/2014/main" id="{CDE735B1-18CF-6F77-1BF6-9DF06A4C0247}"/>
              </a:ext>
            </a:extLst>
          </p:cNvPr>
          <p:cNvSpPr/>
          <p:nvPr/>
        </p:nvSpPr>
        <p:spPr>
          <a:xfrm>
            <a:off x="360046" y="1759542"/>
            <a:ext cx="506729" cy="489331"/>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4" name="TextBox 43">
            <a:extLst>
              <a:ext uri="{FF2B5EF4-FFF2-40B4-BE49-F238E27FC236}">
                <a16:creationId xmlns:a16="http://schemas.microsoft.com/office/drawing/2014/main" id="{867EFA08-A9C4-4AAF-55A2-C34A9FD387DC}"/>
              </a:ext>
            </a:extLst>
          </p:cNvPr>
          <p:cNvSpPr txBox="1"/>
          <p:nvPr/>
        </p:nvSpPr>
        <p:spPr>
          <a:xfrm>
            <a:off x="470423" y="1879302"/>
            <a:ext cx="285973" cy="249812"/>
          </a:xfrm>
          <a:prstGeom prst="rect">
            <a:avLst/>
          </a:prstGeom>
          <a:noFill/>
        </p:spPr>
        <p:txBody>
          <a:bodyPr wrap="square" lIns="0" tIns="0" rIns="0" bIns="0" anchor="ctr">
            <a:spAutoFit/>
          </a:bodyPr>
          <a:lstStyle/>
          <a:p>
            <a:pPr algn="ctr">
              <a:lnSpc>
                <a:spcPct val="110000"/>
              </a:lnSpc>
              <a:spcBef>
                <a:spcPts val="0"/>
              </a:spcBef>
              <a:spcAft>
                <a:spcPts val="0"/>
              </a:spcAft>
            </a:pPr>
            <a:r>
              <a:rPr lang="en-US" sz="1600" b="1" i="0" noProof="0">
                <a:solidFill>
                  <a:srgbClr val="FFFFFF"/>
                </a:solidFill>
                <a:latin typeface="Arial" panose="020B0604020202020204" pitchFamily="34" charset="0"/>
                <a:cs typeface="Arial" panose="020B0604020202020204" pitchFamily="34" charset="0"/>
              </a:rPr>
              <a:t>01</a:t>
            </a:r>
          </a:p>
        </p:txBody>
      </p:sp>
      <p:sp>
        <p:nvSpPr>
          <p:cNvPr id="45" name="Rectangle 44">
            <a:extLst>
              <a:ext uri="{FF2B5EF4-FFF2-40B4-BE49-F238E27FC236}">
                <a16:creationId xmlns:a16="http://schemas.microsoft.com/office/drawing/2014/main" id="{B9E9515D-4D89-D230-90E6-14B382B4CE80}"/>
              </a:ext>
            </a:extLst>
          </p:cNvPr>
          <p:cNvSpPr/>
          <p:nvPr/>
        </p:nvSpPr>
        <p:spPr>
          <a:xfrm>
            <a:off x="6163438" y="1749835"/>
            <a:ext cx="506729" cy="489331"/>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6" name="TextBox 45">
            <a:extLst>
              <a:ext uri="{FF2B5EF4-FFF2-40B4-BE49-F238E27FC236}">
                <a16:creationId xmlns:a16="http://schemas.microsoft.com/office/drawing/2014/main" id="{F529FC8F-1AA7-6C0A-5F5F-0730426CA4F5}"/>
              </a:ext>
            </a:extLst>
          </p:cNvPr>
          <p:cNvSpPr txBox="1"/>
          <p:nvPr/>
        </p:nvSpPr>
        <p:spPr>
          <a:xfrm>
            <a:off x="6273815" y="1869595"/>
            <a:ext cx="285973" cy="249812"/>
          </a:xfrm>
          <a:prstGeom prst="rect">
            <a:avLst/>
          </a:prstGeom>
          <a:noFill/>
        </p:spPr>
        <p:txBody>
          <a:bodyPr wrap="square" lIns="0" tIns="0" rIns="0" bIns="0" anchor="ctr">
            <a:spAutoFit/>
          </a:bodyPr>
          <a:lstStyle/>
          <a:p>
            <a:pPr algn="ctr">
              <a:lnSpc>
                <a:spcPct val="110000"/>
              </a:lnSpc>
              <a:spcBef>
                <a:spcPts val="0"/>
              </a:spcBef>
              <a:spcAft>
                <a:spcPts val="0"/>
              </a:spcAft>
            </a:pPr>
            <a:r>
              <a:rPr lang="en-US" sz="1600" b="1" i="0" noProof="0">
                <a:solidFill>
                  <a:srgbClr val="FFFFFF"/>
                </a:solidFill>
                <a:latin typeface="Arial" panose="020B0604020202020204" pitchFamily="34" charset="0"/>
                <a:cs typeface="Arial" panose="020B0604020202020204" pitchFamily="34" charset="0"/>
              </a:rPr>
              <a:t>02</a:t>
            </a:r>
          </a:p>
        </p:txBody>
      </p:sp>
      <p:sp>
        <p:nvSpPr>
          <p:cNvPr id="47" name="Rectangle 46">
            <a:extLst>
              <a:ext uri="{FF2B5EF4-FFF2-40B4-BE49-F238E27FC236}">
                <a16:creationId xmlns:a16="http://schemas.microsoft.com/office/drawing/2014/main" id="{234A8CC8-4334-3CC4-1BB8-37BE750F0285}"/>
              </a:ext>
            </a:extLst>
          </p:cNvPr>
          <p:cNvSpPr/>
          <p:nvPr/>
        </p:nvSpPr>
        <p:spPr>
          <a:xfrm>
            <a:off x="357109" y="4089391"/>
            <a:ext cx="506729" cy="489331"/>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8" name="TextBox 47">
            <a:extLst>
              <a:ext uri="{FF2B5EF4-FFF2-40B4-BE49-F238E27FC236}">
                <a16:creationId xmlns:a16="http://schemas.microsoft.com/office/drawing/2014/main" id="{D5B4159C-0A71-12CF-8D68-64F65566621B}"/>
              </a:ext>
            </a:extLst>
          </p:cNvPr>
          <p:cNvSpPr txBox="1"/>
          <p:nvPr/>
        </p:nvSpPr>
        <p:spPr>
          <a:xfrm>
            <a:off x="467486" y="4209151"/>
            <a:ext cx="285973" cy="249812"/>
          </a:xfrm>
          <a:prstGeom prst="rect">
            <a:avLst/>
          </a:prstGeom>
          <a:noFill/>
        </p:spPr>
        <p:txBody>
          <a:bodyPr wrap="square" lIns="0" tIns="0" rIns="0" bIns="0" anchor="ctr">
            <a:spAutoFit/>
          </a:bodyPr>
          <a:lstStyle/>
          <a:p>
            <a:pPr algn="ctr">
              <a:lnSpc>
                <a:spcPct val="110000"/>
              </a:lnSpc>
              <a:spcBef>
                <a:spcPts val="0"/>
              </a:spcBef>
              <a:spcAft>
                <a:spcPts val="0"/>
              </a:spcAft>
            </a:pPr>
            <a:r>
              <a:rPr lang="en-US" sz="1600" b="1" i="0" noProof="0">
                <a:solidFill>
                  <a:srgbClr val="FFFFFF"/>
                </a:solidFill>
                <a:latin typeface="Arial" panose="020B0604020202020204" pitchFamily="34" charset="0"/>
                <a:cs typeface="Arial" panose="020B0604020202020204" pitchFamily="34" charset="0"/>
              </a:rPr>
              <a:t>03</a:t>
            </a:r>
          </a:p>
        </p:txBody>
      </p:sp>
      <p:sp>
        <p:nvSpPr>
          <p:cNvPr id="49" name="Rectangle 48">
            <a:extLst>
              <a:ext uri="{FF2B5EF4-FFF2-40B4-BE49-F238E27FC236}">
                <a16:creationId xmlns:a16="http://schemas.microsoft.com/office/drawing/2014/main" id="{D1B543C5-89F0-70E2-2909-9994C6B7801D}"/>
              </a:ext>
            </a:extLst>
          </p:cNvPr>
          <p:cNvSpPr/>
          <p:nvPr/>
        </p:nvSpPr>
        <p:spPr>
          <a:xfrm>
            <a:off x="6163438" y="4083133"/>
            <a:ext cx="506729" cy="489331"/>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0" name="TextBox 49">
            <a:extLst>
              <a:ext uri="{FF2B5EF4-FFF2-40B4-BE49-F238E27FC236}">
                <a16:creationId xmlns:a16="http://schemas.microsoft.com/office/drawing/2014/main" id="{EDF871C8-AD07-CC54-C4E8-2A7ACE78AAA4}"/>
              </a:ext>
            </a:extLst>
          </p:cNvPr>
          <p:cNvSpPr txBox="1"/>
          <p:nvPr/>
        </p:nvSpPr>
        <p:spPr>
          <a:xfrm>
            <a:off x="6273815" y="4202893"/>
            <a:ext cx="285973" cy="249812"/>
          </a:xfrm>
          <a:prstGeom prst="rect">
            <a:avLst/>
          </a:prstGeom>
          <a:noFill/>
        </p:spPr>
        <p:txBody>
          <a:bodyPr wrap="square" lIns="0" tIns="0" rIns="0" bIns="0" anchor="ctr">
            <a:spAutoFit/>
          </a:bodyPr>
          <a:lstStyle/>
          <a:p>
            <a:pPr algn="ctr">
              <a:lnSpc>
                <a:spcPct val="110000"/>
              </a:lnSpc>
              <a:spcBef>
                <a:spcPts val="0"/>
              </a:spcBef>
              <a:spcAft>
                <a:spcPts val="0"/>
              </a:spcAft>
            </a:pPr>
            <a:r>
              <a:rPr lang="en-US" sz="1600" b="1" i="0" noProof="0">
                <a:solidFill>
                  <a:srgbClr val="FFFFFF"/>
                </a:solidFill>
                <a:latin typeface="Arial" panose="020B0604020202020204" pitchFamily="34" charset="0"/>
                <a:cs typeface="Arial" panose="020B0604020202020204" pitchFamily="34" charset="0"/>
              </a:rPr>
              <a:t>04</a:t>
            </a:r>
          </a:p>
        </p:txBody>
      </p:sp>
      <p:cxnSp>
        <p:nvCxnSpPr>
          <p:cNvPr id="62" name="Straight Connector 61">
            <a:extLst>
              <a:ext uri="{FF2B5EF4-FFF2-40B4-BE49-F238E27FC236}">
                <a16:creationId xmlns:a16="http://schemas.microsoft.com/office/drawing/2014/main" id="{B43FA7D5-3679-FCC2-9E8D-599C3BEBC49E}"/>
              </a:ext>
            </a:extLst>
          </p:cNvPr>
          <p:cNvCxnSpPr/>
          <p:nvPr/>
        </p:nvCxnSpPr>
        <p:spPr>
          <a:xfrm>
            <a:off x="863838" y="5438140"/>
            <a:ext cx="4346337" cy="0"/>
          </a:xfrm>
          <a:prstGeom prst="line">
            <a:avLst/>
          </a:prstGeom>
          <a:ln>
            <a:solidFill>
              <a:srgbClr val="6785C1"/>
            </a:solidFill>
          </a:ln>
        </p:spPr>
        <p:style>
          <a:lnRef idx="2">
            <a:schemeClr val="accent3"/>
          </a:lnRef>
          <a:fillRef idx="0">
            <a:schemeClr val="accent3"/>
          </a:fillRef>
          <a:effectRef idx="1">
            <a:schemeClr val="accent3"/>
          </a:effectRef>
          <a:fontRef idx="minor">
            <a:schemeClr val="tx1"/>
          </a:fontRef>
        </p:style>
      </p:cxnSp>
      <p:cxnSp>
        <p:nvCxnSpPr>
          <p:cNvPr id="63" name="Straight Connector 62">
            <a:extLst>
              <a:ext uri="{FF2B5EF4-FFF2-40B4-BE49-F238E27FC236}">
                <a16:creationId xmlns:a16="http://schemas.microsoft.com/office/drawing/2014/main" id="{8EC778BD-9B0B-9828-2778-E9F6ADE54AB6}"/>
              </a:ext>
            </a:extLst>
          </p:cNvPr>
          <p:cNvCxnSpPr/>
          <p:nvPr/>
        </p:nvCxnSpPr>
        <p:spPr>
          <a:xfrm>
            <a:off x="863838" y="3101975"/>
            <a:ext cx="4346337" cy="0"/>
          </a:xfrm>
          <a:prstGeom prst="line">
            <a:avLst/>
          </a:prstGeom>
          <a:ln>
            <a:solidFill>
              <a:srgbClr val="6785C1"/>
            </a:solidFill>
          </a:ln>
        </p:spPr>
        <p:style>
          <a:lnRef idx="2">
            <a:schemeClr val="accent3"/>
          </a:lnRef>
          <a:fillRef idx="0">
            <a:schemeClr val="accent3"/>
          </a:fillRef>
          <a:effectRef idx="1">
            <a:schemeClr val="accent3"/>
          </a:effectRef>
          <a:fontRef idx="minor">
            <a:schemeClr val="tx1"/>
          </a:fontRef>
        </p:style>
      </p:cxnSp>
      <p:cxnSp>
        <p:nvCxnSpPr>
          <p:cNvPr id="64" name="Straight Connector 63">
            <a:extLst>
              <a:ext uri="{FF2B5EF4-FFF2-40B4-BE49-F238E27FC236}">
                <a16:creationId xmlns:a16="http://schemas.microsoft.com/office/drawing/2014/main" id="{DCB2B703-CCC9-A8C1-7E0D-B00079F8F73B}"/>
              </a:ext>
            </a:extLst>
          </p:cNvPr>
          <p:cNvCxnSpPr/>
          <p:nvPr/>
        </p:nvCxnSpPr>
        <p:spPr>
          <a:xfrm>
            <a:off x="6726423" y="3101975"/>
            <a:ext cx="4346337" cy="0"/>
          </a:xfrm>
          <a:prstGeom prst="line">
            <a:avLst/>
          </a:prstGeom>
          <a:ln>
            <a:solidFill>
              <a:srgbClr val="6785C1"/>
            </a:solidFill>
          </a:ln>
        </p:spPr>
        <p:style>
          <a:lnRef idx="2">
            <a:schemeClr val="accent3"/>
          </a:lnRef>
          <a:fillRef idx="0">
            <a:schemeClr val="accent3"/>
          </a:fillRef>
          <a:effectRef idx="1">
            <a:schemeClr val="accent3"/>
          </a:effectRef>
          <a:fontRef idx="minor">
            <a:schemeClr val="tx1"/>
          </a:fontRef>
        </p:style>
      </p:cxnSp>
      <p:cxnSp>
        <p:nvCxnSpPr>
          <p:cNvPr id="65" name="Straight Connector 64">
            <a:extLst>
              <a:ext uri="{FF2B5EF4-FFF2-40B4-BE49-F238E27FC236}">
                <a16:creationId xmlns:a16="http://schemas.microsoft.com/office/drawing/2014/main" id="{A9B05F46-0F1F-15BD-6821-2560581D5626}"/>
              </a:ext>
            </a:extLst>
          </p:cNvPr>
          <p:cNvCxnSpPr/>
          <p:nvPr/>
        </p:nvCxnSpPr>
        <p:spPr>
          <a:xfrm>
            <a:off x="6726423" y="5438140"/>
            <a:ext cx="4346337" cy="0"/>
          </a:xfrm>
          <a:prstGeom prst="line">
            <a:avLst/>
          </a:prstGeom>
          <a:ln>
            <a:solidFill>
              <a:srgbClr val="6785C1"/>
            </a:solidFill>
          </a:ln>
        </p:spPr>
        <p:style>
          <a:lnRef idx="2">
            <a:schemeClr val="accent3"/>
          </a:lnRef>
          <a:fillRef idx="0">
            <a:schemeClr val="accent3"/>
          </a:fillRef>
          <a:effectRef idx="1">
            <a:schemeClr val="accent3"/>
          </a:effectRef>
          <a:fontRef idx="minor">
            <a:schemeClr val="tx1"/>
          </a:fontRef>
        </p:style>
      </p:cxnSp>
      <p:pic>
        <p:nvPicPr>
          <p:cNvPr id="71" name="Graphic 70" descr="Excellent with solid fill">
            <a:extLst>
              <a:ext uri="{FF2B5EF4-FFF2-40B4-BE49-F238E27FC236}">
                <a16:creationId xmlns:a16="http://schemas.microsoft.com/office/drawing/2014/main" id="{32EAED8A-20A5-558F-71C2-5BD8E548792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163437" y="5525932"/>
            <a:ext cx="466453" cy="466453"/>
          </a:xfrm>
          <a:prstGeom prst="rect">
            <a:avLst/>
          </a:prstGeom>
        </p:spPr>
      </p:pic>
      <p:pic>
        <p:nvPicPr>
          <p:cNvPr id="72" name="Graphic 71" descr="Excellent with solid fill">
            <a:extLst>
              <a:ext uri="{FF2B5EF4-FFF2-40B4-BE49-F238E27FC236}">
                <a16:creationId xmlns:a16="http://schemas.microsoft.com/office/drawing/2014/main" id="{30C11172-C82B-5005-E3CD-12D0F6DF4AA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163438" y="3225358"/>
            <a:ext cx="466453" cy="466453"/>
          </a:xfrm>
          <a:prstGeom prst="rect">
            <a:avLst/>
          </a:prstGeom>
        </p:spPr>
      </p:pic>
      <p:pic>
        <p:nvPicPr>
          <p:cNvPr id="73" name="Graphic 72" descr="Excellent with solid fill">
            <a:extLst>
              <a:ext uri="{FF2B5EF4-FFF2-40B4-BE49-F238E27FC236}">
                <a16:creationId xmlns:a16="http://schemas.microsoft.com/office/drawing/2014/main" id="{511DAF0E-6AB2-408E-FDE1-EB5333E8700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6223" y="3203780"/>
            <a:ext cx="466453" cy="466453"/>
          </a:xfrm>
          <a:prstGeom prst="rect">
            <a:avLst/>
          </a:prstGeom>
        </p:spPr>
      </p:pic>
      <p:pic>
        <p:nvPicPr>
          <p:cNvPr id="74" name="Graphic 73" descr="Excellent with solid fill">
            <a:extLst>
              <a:ext uri="{FF2B5EF4-FFF2-40B4-BE49-F238E27FC236}">
                <a16:creationId xmlns:a16="http://schemas.microsoft.com/office/drawing/2014/main" id="{77A37E4D-F742-3B8B-E6E9-3D0579C4B92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0220" y="5550397"/>
            <a:ext cx="466453" cy="466453"/>
          </a:xfrm>
          <a:prstGeom prst="rect">
            <a:avLst/>
          </a:prstGeom>
        </p:spPr>
      </p:pic>
      <p:pic>
        <p:nvPicPr>
          <p:cNvPr id="61" name="Gráfico 60" descr="Burbuja de chat con relleno sólido">
            <a:extLst>
              <a:ext uri="{FF2B5EF4-FFF2-40B4-BE49-F238E27FC236}">
                <a16:creationId xmlns:a16="http://schemas.microsoft.com/office/drawing/2014/main" id="{D52B2407-368F-3A93-FAA2-663D4312266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084563" y="1718043"/>
            <a:ext cx="516155" cy="516155"/>
          </a:xfrm>
          <a:prstGeom prst="rect">
            <a:avLst/>
          </a:prstGeom>
        </p:spPr>
      </p:pic>
      <p:pic>
        <p:nvPicPr>
          <p:cNvPr id="66" name="Gráfico 65" descr="Burbuja de chat con relleno sólido">
            <a:extLst>
              <a:ext uri="{FF2B5EF4-FFF2-40B4-BE49-F238E27FC236}">
                <a16:creationId xmlns:a16="http://schemas.microsoft.com/office/drawing/2014/main" id="{49086E21-DD0D-D367-10AE-56A90126E3A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160243" y="1718043"/>
            <a:ext cx="516155" cy="516155"/>
          </a:xfrm>
          <a:prstGeom prst="rect">
            <a:avLst/>
          </a:prstGeom>
        </p:spPr>
      </p:pic>
      <p:pic>
        <p:nvPicPr>
          <p:cNvPr id="68" name="Gráfico 67" descr="Burbuja de chat con relleno sólido">
            <a:extLst>
              <a:ext uri="{FF2B5EF4-FFF2-40B4-BE49-F238E27FC236}">
                <a16:creationId xmlns:a16="http://schemas.microsoft.com/office/drawing/2014/main" id="{3E595E8C-5DAA-6E73-7FC7-710A30D8146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084563" y="4014203"/>
            <a:ext cx="516155" cy="516155"/>
          </a:xfrm>
          <a:prstGeom prst="rect">
            <a:avLst/>
          </a:prstGeom>
        </p:spPr>
      </p:pic>
      <p:pic>
        <p:nvPicPr>
          <p:cNvPr id="75" name="Gráfico 74" descr="Burbuja de chat con relleno sólido">
            <a:extLst>
              <a:ext uri="{FF2B5EF4-FFF2-40B4-BE49-F238E27FC236}">
                <a16:creationId xmlns:a16="http://schemas.microsoft.com/office/drawing/2014/main" id="{9AD02E03-F26F-5CDB-E3C5-968B2BF6D12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160243" y="4014203"/>
            <a:ext cx="516155" cy="516155"/>
          </a:xfrm>
          <a:prstGeom prst="rect">
            <a:avLst/>
          </a:prstGeom>
        </p:spPr>
      </p:pic>
      <p:sp>
        <p:nvSpPr>
          <p:cNvPr id="5" name="TextBox 8">
            <a:extLst>
              <a:ext uri="{FF2B5EF4-FFF2-40B4-BE49-F238E27FC236}">
                <a16:creationId xmlns:a16="http://schemas.microsoft.com/office/drawing/2014/main" id="{C1EEDFF2-7D40-AC63-F27D-C42196FBC643}"/>
              </a:ext>
            </a:extLst>
          </p:cNvPr>
          <p:cNvSpPr txBox="1"/>
          <p:nvPr/>
        </p:nvSpPr>
        <p:spPr>
          <a:xfrm>
            <a:off x="977152" y="1779806"/>
            <a:ext cx="4407407" cy="124906"/>
          </a:xfrm>
          <a:prstGeom prst="rect">
            <a:avLst/>
          </a:prstGeom>
          <a:noFill/>
        </p:spPr>
        <p:txBody>
          <a:bodyPr wrap="square" lIns="0" tIns="0" rIns="0" bIns="0" anchor="t">
            <a:spAutoFit/>
          </a:bodyPr>
          <a:lstStyle>
            <a:defPPr>
              <a:defRPr lang="en-US"/>
            </a:defPPr>
            <a:lvl1pPr>
              <a:lnSpc>
                <a:spcPct val="110000"/>
              </a:lnSpc>
              <a:spcBef>
                <a:spcPts val="0"/>
              </a:spcBef>
              <a:spcAft>
                <a:spcPts val="0"/>
              </a:spcAft>
              <a:defRPr sz="800" b="1" i="0">
                <a:solidFill>
                  <a:srgbClr val="3B7D23"/>
                </a:solidFill>
                <a:latin typeface="Arial" panose="020B0604020202020204" pitchFamily="34" charset="0"/>
                <a:cs typeface="Arial" panose="020B0604020202020204" pitchFamily="34" charset="0"/>
              </a:defRPr>
            </a:lvl1pPr>
          </a:lstStyle>
          <a:p>
            <a:r>
              <a:rPr lang="en-US" noProof="0">
                <a:solidFill>
                  <a:schemeClr val="tx1"/>
                </a:solidFill>
              </a:rPr>
              <a:t>STAGES: Classification + Prioritization</a:t>
            </a:r>
          </a:p>
        </p:txBody>
      </p:sp>
      <p:sp>
        <p:nvSpPr>
          <p:cNvPr id="7" name="TextBox 9">
            <a:extLst>
              <a:ext uri="{FF2B5EF4-FFF2-40B4-BE49-F238E27FC236}">
                <a16:creationId xmlns:a16="http://schemas.microsoft.com/office/drawing/2014/main" id="{7B6D638C-6857-BB5C-2027-47228797934E}"/>
              </a:ext>
            </a:extLst>
          </p:cNvPr>
          <p:cNvSpPr txBox="1"/>
          <p:nvPr/>
        </p:nvSpPr>
        <p:spPr>
          <a:xfrm>
            <a:off x="959896" y="1955006"/>
            <a:ext cx="2261696" cy="423065"/>
          </a:xfrm>
          <a:prstGeom prst="rect">
            <a:avLst/>
          </a:prstGeom>
          <a:noFill/>
        </p:spPr>
        <p:txBody>
          <a:bodyPr wrap="square" lIns="0" tIns="0" rIns="0" bIns="0" anchor="t">
            <a:spAutoFit/>
          </a:bodyPr>
          <a:lstStyle/>
          <a:p>
            <a:pPr algn="l">
              <a:lnSpc>
                <a:spcPct val="110000"/>
              </a:lnSpc>
              <a:spcBef>
                <a:spcPts val="0"/>
              </a:spcBef>
              <a:spcAft>
                <a:spcPts val="0"/>
              </a:spcAft>
            </a:pPr>
            <a:r>
              <a:rPr lang="en-US" sz="1300" b="1" i="0" noProof="0">
                <a:latin typeface="Arial" panose="020B0604020202020204" pitchFamily="34" charset="0"/>
                <a:cs typeface="Arial" panose="020B0604020202020204" pitchFamily="34" charset="0"/>
              </a:rPr>
              <a:t>Customer Services Leadership Gap</a:t>
            </a:r>
          </a:p>
        </p:txBody>
      </p:sp>
      <p:sp>
        <p:nvSpPr>
          <p:cNvPr id="16" name="TextBox 17">
            <a:extLst>
              <a:ext uri="{FF2B5EF4-FFF2-40B4-BE49-F238E27FC236}">
                <a16:creationId xmlns:a16="http://schemas.microsoft.com/office/drawing/2014/main" id="{43AF8797-06EE-D946-A2D6-492217DEF810}"/>
              </a:ext>
            </a:extLst>
          </p:cNvPr>
          <p:cNvSpPr txBox="1"/>
          <p:nvPr/>
        </p:nvSpPr>
        <p:spPr>
          <a:xfrm>
            <a:off x="6789038" y="1758497"/>
            <a:ext cx="4407407" cy="124906"/>
          </a:xfrm>
          <a:prstGeom prst="rect">
            <a:avLst/>
          </a:prstGeom>
          <a:noFill/>
        </p:spPr>
        <p:txBody>
          <a:bodyPr wrap="square" lIns="0" tIns="0" rIns="0" bIns="0" anchor="t">
            <a:spAutoFit/>
          </a:bodyPr>
          <a:lstStyle>
            <a:defPPr>
              <a:defRPr lang="en-US"/>
            </a:defPPr>
            <a:lvl1pPr>
              <a:lnSpc>
                <a:spcPct val="110000"/>
              </a:lnSpc>
              <a:spcBef>
                <a:spcPts val="0"/>
              </a:spcBef>
              <a:spcAft>
                <a:spcPts val="0"/>
              </a:spcAft>
              <a:defRPr sz="800" b="1" i="0">
                <a:solidFill>
                  <a:srgbClr val="3B7D23"/>
                </a:solidFill>
                <a:latin typeface="Arial" panose="020B0604020202020204" pitchFamily="34" charset="0"/>
                <a:cs typeface="Arial" panose="020B0604020202020204" pitchFamily="34" charset="0"/>
              </a:defRPr>
            </a:lvl1pPr>
          </a:lstStyle>
          <a:p>
            <a:r>
              <a:rPr lang="en-US" noProof="0">
                <a:solidFill>
                  <a:schemeClr val="tx1"/>
                </a:solidFill>
              </a:rPr>
              <a:t>STAGES: Portfolio + Delivery</a:t>
            </a:r>
          </a:p>
        </p:txBody>
      </p:sp>
      <p:sp>
        <p:nvSpPr>
          <p:cNvPr id="25" name="TextBox 18">
            <a:extLst>
              <a:ext uri="{FF2B5EF4-FFF2-40B4-BE49-F238E27FC236}">
                <a16:creationId xmlns:a16="http://schemas.microsoft.com/office/drawing/2014/main" id="{9FBAD3F6-672E-F3F8-296E-9A860EAD1C89}"/>
              </a:ext>
            </a:extLst>
          </p:cNvPr>
          <p:cNvSpPr txBox="1"/>
          <p:nvPr/>
        </p:nvSpPr>
        <p:spPr>
          <a:xfrm>
            <a:off x="6763288" y="1964072"/>
            <a:ext cx="2487866" cy="203004"/>
          </a:xfrm>
          <a:prstGeom prst="rect">
            <a:avLst/>
          </a:prstGeom>
          <a:noFill/>
        </p:spPr>
        <p:txBody>
          <a:bodyPr wrap="square" lIns="0" tIns="0" rIns="0" bIns="0" anchor="t">
            <a:spAutoFit/>
          </a:bodyPr>
          <a:lstStyle/>
          <a:p>
            <a:pPr algn="l">
              <a:lnSpc>
                <a:spcPct val="110000"/>
              </a:lnSpc>
              <a:spcBef>
                <a:spcPts val="0"/>
              </a:spcBef>
              <a:spcAft>
                <a:spcPts val="0"/>
              </a:spcAft>
            </a:pPr>
            <a:r>
              <a:rPr lang="en-US" sz="1300" b="1" i="0" noProof="0">
                <a:latin typeface="Arial" panose="020B0604020202020204" pitchFamily="34" charset="0"/>
                <a:cs typeface="Arial" panose="020B0604020202020204" pitchFamily="34" charset="0"/>
              </a:rPr>
              <a:t>No Branch-Wide Portfolio Tool</a:t>
            </a:r>
          </a:p>
        </p:txBody>
      </p:sp>
      <p:sp>
        <p:nvSpPr>
          <p:cNvPr id="34" name="TextBox 26">
            <a:extLst>
              <a:ext uri="{FF2B5EF4-FFF2-40B4-BE49-F238E27FC236}">
                <a16:creationId xmlns:a16="http://schemas.microsoft.com/office/drawing/2014/main" id="{E6A8E2A7-06F6-64F6-B449-CCD6C8899EC8}"/>
              </a:ext>
            </a:extLst>
          </p:cNvPr>
          <p:cNvSpPr txBox="1"/>
          <p:nvPr/>
        </p:nvSpPr>
        <p:spPr>
          <a:xfrm>
            <a:off x="1011177" y="4100445"/>
            <a:ext cx="4407407" cy="124906"/>
          </a:xfrm>
          <a:prstGeom prst="rect">
            <a:avLst/>
          </a:prstGeom>
          <a:noFill/>
        </p:spPr>
        <p:txBody>
          <a:bodyPr wrap="square" lIns="0" tIns="0" rIns="0" bIns="0" anchor="t">
            <a:spAutoFit/>
          </a:bodyPr>
          <a:lstStyle>
            <a:defPPr>
              <a:defRPr lang="en-US"/>
            </a:defPPr>
            <a:lvl1pPr>
              <a:lnSpc>
                <a:spcPct val="110000"/>
              </a:lnSpc>
              <a:spcBef>
                <a:spcPts val="0"/>
              </a:spcBef>
              <a:spcAft>
                <a:spcPts val="0"/>
              </a:spcAft>
              <a:defRPr sz="800" b="1" i="0">
                <a:solidFill>
                  <a:srgbClr val="3B7D23"/>
                </a:solidFill>
                <a:latin typeface="Arial" panose="020B0604020202020204" pitchFamily="34" charset="0"/>
                <a:cs typeface="Arial" panose="020B0604020202020204" pitchFamily="34" charset="0"/>
              </a:defRPr>
            </a:lvl1pPr>
          </a:lstStyle>
          <a:p>
            <a:r>
              <a:rPr lang="en-US" noProof="0">
                <a:solidFill>
                  <a:schemeClr val="tx1"/>
                </a:solidFill>
              </a:rPr>
              <a:t>STAGE: Delivery</a:t>
            </a:r>
          </a:p>
        </p:txBody>
      </p:sp>
      <p:sp>
        <p:nvSpPr>
          <p:cNvPr id="43" name="TextBox 27">
            <a:extLst>
              <a:ext uri="{FF2B5EF4-FFF2-40B4-BE49-F238E27FC236}">
                <a16:creationId xmlns:a16="http://schemas.microsoft.com/office/drawing/2014/main" id="{24E92AAE-1F02-D9F8-B084-463200F9CB04}"/>
              </a:ext>
            </a:extLst>
          </p:cNvPr>
          <p:cNvSpPr txBox="1"/>
          <p:nvPr/>
        </p:nvSpPr>
        <p:spPr>
          <a:xfrm>
            <a:off x="959896" y="4273099"/>
            <a:ext cx="2487866" cy="423065"/>
          </a:xfrm>
          <a:prstGeom prst="rect">
            <a:avLst/>
          </a:prstGeom>
          <a:noFill/>
        </p:spPr>
        <p:txBody>
          <a:bodyPr wrap="square" lIns="0" tIns="0" rIns="0" bIns="0" anchor="t">
            <a:spAutoFit/>
          </a:bodyPr>
          <a:lstStyle/>
          <a:p>
            <a:pPr algn="l">
              <a:lnSpc>
                <a:spcPct val="110000"/>
              </a:lnSpc>
              <a:spcBef>
                <a:spcPts val="0"/>
              </a:spcBef>
              <a:spcAft>
                <a:spcPts val="0"/>
              </a:spcAft>
            </a:pPr>
            <a:r>
              <a:rPr lang="en-US" sz="1300" b="1" i="0" noProof="0">
                <a:latin typeface="Arial" panose="020B0604020202020204" pitchFamily="34" charset="0"/>
                <a:cs typeface="Arial" panose="020B0604020202020204" pitchFamily="34" charset="0"/>
              </a:rPr>
              <a:t>Smart Metering Vendor Concentration</a:t>
            </a:r>
          </a:p>
        </p:txBody>
      </p:sp>
      <p:sp>
        <p:nvSpPr>
          <p:cNvPr id="51" name="TextBox 35">
            <a:extLst>
              <a:ext uri="{FF2B5EF4-FFF2-40B4-BE49-F238E27FC236}">
                <a16:creationId xmlns:a16="http://schemas.microsoft.com/office/drawing/2014/main" id="{3176A9F7-B48D-4346-A5FF-1D6D4266FEB0}"/>
              </a:ext>
            </a:extLst>
          </p:cNvPr>
          <p:cNvSpPr txBox="1"/>
          <p:nvPr/>
        </p:nvSpPr>
        <p:spPr>
          <a:xfrm>
            <a:off x="6789038" y="4119306"/>
            <a:ext cx="4407407" cy="124906"/>
          </a:xfrm>
          <a:prstGeom prst="rect">
            <a:avLst/>
          </a:prstGeom>
          <a:noFill/>
        </p:spPr>
        <p:txBody>
          <a:bodyPr wrap="square" lIns="0" tIns="0" rIns="0" bIns="0" anchor="t">
            <a:spAutoFit/>
          </a:bodyPr>
          <a:lstStyle>
            <a:defPPr>
              <a:defRPr lang="en-US"/>
            </a:defPPr>
            <a:lvl1pPr>
              <a:lnSpc>
                <a:spcPct val="110000"/>
              </a:lnSpc>
              <a:spcBef>
                <a:spcPts val="0"/>
              </a:spcBef>
              <a:spcAft>
                <a:spcPts val="0"/>
              </a:spcAft>
              <a:defRPr sz="800" b="1" i="0">
                <a:solidFill>
                  <a:srgbClr val="3B7D23"/>
                </a:solidFill>
                <a:latin typeface="Arial" panose="020B0604020202020204" pitchFamily="34" charset="0"/>
                <a:cs typeface="Arial" panose="020B0604020202020204" pitchFamily="34" charset="0"/>
              </a:defRPr>
            </a:lvl1pPr>
          </a:lstStyle>
          <a:p>
            <a:r>
              <a:rPr lang="en-US" noProof="0">
                <a:solidFill>
                  <a:schemeClr val="tx1"/>
                </a:solidFill>
              </a:rPr>
              <a:t>STAGE: Intake + Prioritization</a:t>
            </a:r>
          </a:p>
        </p:txBody>
      </p:sp>
      <p:sp>
        <p:nvSpPr>
          <p:cNvPr id="52" name="TextBox 36">
            <a:extLst>
              <a:ext uri="{FF2B5EF4-FFF2-40B4-BE49-F238E27FC236}">
                <a16:creationId xmlns:a16="http://schemas.microsoft.com/office/drawing/2014/main" id="{68546850-5463-EFA3-0381-0A5161CDA88F}"/>
              </a:ext>
            </a:extLst>
          </p:cNvPr>
          <p:cNvSpPr txBox="1"/>
          <p:nvPr/>
        </p:nvSpPr>
        <p:spPr>
          <a:xfrm>
            <a:off x="6789038" y="4273099"/>
            <a:ext cx="2487866" cy="423065"/>
          </a:xfrm>
          <a:prstGeom prst="rect">
            <a:avLst/>
          </a:prstGeom>
          <a:noFill/>
        </p:spPr>
        <p:txBody>
          <a:bodyPr wrap="square" lIns="0" tIns="0" rIns="0" bIns="0" anchor="t">
            <a:spAutoFit/>
          </a:bodyPr>
          <a:lstStyle/>
          <a:p>
            <a:pPr algn="l">
              <a:lnSpc>
                <a:spcPct val="110000"/>
              </a:lnSpc>
              <a:spcBef>
                <a:spcPts val="0"/>
              </a:spcBef>
              <a:spcAft>
                <a:spcPts val="0"/>
              </a:spcAft>
            </a:pPr>
            <a:r>
              <a:rPr lang="en-US" sz="1300" b="1" i="0" noProof="0">
                <a:latin typeface="Arial" panose="020B0604020202020204" pitchFamily="34" charset="0"/>
                <a:cs typeface="Arial" panose="020B0604020202020204" pitchFamily="34" charset="0"/>
              </a:rPr>
              <a:t>Multi-OPCO Capacity Competition</a:t>
            </a:r>
          </a:p>
        </p:txBody>
      </p:sp>
      <p:sp>
        <p:nvSpPr>
          <p:cNvPr id="53" name="TextBox 10">
            <a:extLst>
              <a:ext uri="{FF2B5EF4-FFF2-40B4-BE49-F238E27FC236}">
                <a16:creationId xmlns:a16="http://schemas.microsoft.com/office/drawing/2014/main" id="{E137D339-E996-2E31-4184-25BB6B363E6B}"/>
              </a:ext>
            </a:extLst>
          </p:cNvPr>
          <p:cNvSpPr txBox="1"/>
          <p:nvPr/>
        </p:nvSpPr>
        <p:spPr>
          <a:xfrm>
            <a:off x="493013" y="2397090"/>
            <a:ext cx="5230368" cy="499624"/>
          </a:xfrm>
          <a:prstGeom prst="rect">
            <a:avLst/>
          </a:prstGeom>
          <a:noFill/>
        </p:spPr>
        <p:txBody>
          <a:bodyPr wrap="square" lIns="0" tIns="0" rIns="0" bIns="0" anchor="t">
            <a:spAutoFit/>
          </a:bodyPr>
          <a:lstStyle/>
          <a:p>
            <a:pPr>
              <a:lnSpc>
                <a:spcPct val="110000"/>
              </a:lnSpc>
            </a:pPr>
            <a:r>
              <a:rPr lang="en-US" sz="1000" noProof="0">
                <a:latin typeface="Arial" panose="020B0604020202020204" pitchFamily="34" charset="0"/>
                <a:cs typeface="Arial" panose="020B0604020202020204" pitchFamily="34" charset="0"/>
              </a:rPr>
              <a:t>Key leadership roles remain unfilled, with prioritization and decision-making cascading inconsistently across sub-teams. This results in limited alignment and no consolidated view of demand at the branch level.</a:t>
            </a:r>
            <a:endParaRPr lang="en-US" sz="1000" b="0" i="0" noProof="0">
              <a:solidFill>
                <a:srgbClr val="2C3E50"/>
              </a:solidFill>
              <a:latin typeface="Arial" panose="020B0604020202020204" pitchFamily="34" charset="0"/>
              <a:cs typeface="Arial" panose="020B0604020202020204" pitchFamily="34" charset="0"/>
            </a:endParaRPr>
          </a:p>
        </p:txBody>
      </p:sp>
      <p:sp>
        <p:nvSpPr>
          <p:cNvPr id="54" name="TextBox 19">
            <a:extLst>
              <a:ext uri="{FF2B5EF4-FFF2-40B4-BE49-F238E27FC236}">
                <a16:creationId xmlns:a16="http://schemas.microsoft.com/office/drawing/2014/main" id="{822C1A95-87F3-0C3D-1503-0B576D116157}"/>
              </a:ext>
            </a:extLst>
          </p:cNvPr>
          <p:cNvSpPr txBox="1"/>
          <p:nvPr/>
        </p:nvSpPr>
        <p:spPr>
          <a:xfrm>
            <a:off x="6345173" y="2397090"/>
            <a:ext cx="5230368" cy="663964"/>
          </a:xfrm>
          <a:prstGeom prst="rect">
            <a:avLst/>
          </a:prstGeom>
          <a:noFill/>
        </p:spPr>
        <p:txBody>
          <a:bodyPr wrap="square" lIns="0" tIns="0" rIns="0" bIns="0" anchor="t">
            <a:spAutoFit/>
          </a:bodyPr>
          <a:lstStyle/>
          <a:p>
            <a:pPr>
              <a:lnSpc>
                <a:spcPct val="110000"/>
              </a:lnSpc>
            </a:pPr>
            <a:r>
              <a:rPr lang="en-US" sz="1000" noProof="0">
                <a:latin typeface="Arial" panose="020B0604020202020204" pitchFamily="34" charset="0"/>
                <a:cs typeface="Arial" panose="020B0604020202020204" pitchFamily="34" charset="0"/>
              </a:rPr>
              <a:t>Portfolio management capabilities are fragmented, with no unified view across Billing, CRM, Metering, and Basis. Existing tools support only isolated areas, limiting cross-team coordination. </a:t>
            </a:r>
            <a:r>
              <a:rPr lang="en-US" sz="1000" b="0" i="0" noProof="0">
                <a:latin typeface="Arial" panose="020B0604020202020204" pitchFamily="34" charset="0"/>
                <a:cs typeface="Arial" panose="020B0604020202020204" pitchFamily="34" charset="0"/>
              </a:rPr>
              <a:t>PPM Now exists only in Smart Metering. PMO handles large projects without a consolidated view of Billing / CRM / Metering / Basis portfolios.</a:t>
            </a:r>
          </a:p>
        </p:txBody>
      </p:sp>
      <p:sp>
        <p:nvSpPr>
          <p:cNvPr id="55" name="TextBox 28">
            <a:extLst>
              <a:ext uri="{FF2B5EF4-FFF2-40B4-BE49-F238E27FC236}">
                <a16:creationId xmlns:a16="http://schemas.microsoft.com/office/drawing/2014/main" id="{B322B762-3BEB-FBE0-F203-10CBB8B9ADDD}"/>
              </a:ext>
            </a:extLst>
          </p:cNvPr>
          <p:cNvSpPr txBox="1"/>
          <p:nvPr/>
        </p:nvSpPr>
        <p:spPr>
          <a:xfrm>
            <a:off x="493013" y="4830410"/>
            <a:ext cx="5230368" cy="494687"/>
          </a:xfrm>
          <a:prstGeom prst="rect">
            <a:avLst/>
          </a:prstGeom>
          <a:noFill/>
        </p:spPr>
        <p:txBody>
          <a:bodyPr wrap="square" lIns="0" tIns="0" rIns="0" bIns="0" anchor="t">
            <a:spAutoFit/>
          </a:bodyPr>
          <a:lstStyle/>
          <a:p>
            <a:pPr>
              <a:lnSpc>
                <a:spcPct val="110000"/>
              </a:lnSpc>
            </a:pPr>
            <a:r>
              <a:rPr lang="en-US" sz="1000" noProof="0">
                <a:latin typeface="Arial" panose="020B0604020202020204" pitchFamily="34" charset="0"/>
                <a:cs typeface="Arial" panose="020B0604020202020204" pitchFamily="34" charset="0"/>
              </a:rPr>
              <a:t>The Smart Metering portfolio is fully vendor-delivered, with vendors owning both requirements and execution. Internal capabilities to manage or challenge delivery are limited.</a:t>
            </a:r>
            <a:r>
              <a:rPr lang="en-US" sz="1000" b="0" i="0" noProof="0">
                <a:latin typeface="Arial" panose="020B0604020202020204" pitchFamily="34" charset="0"/>
                <a:cs typeface="Arial" panose="020B0604020202020204" pitchFamily="34" charset="0"/>
              </a:rPr>
              <a:t>  "Intrinsic common sense" is the prioritization rule.</a:t>
            </a:r>
          </a:p>
        </p:txBody>
      </p:sp>
      <p:sp>
        <p:nvSpPr>
          <p:cNvPr id="56" name="TextBox 37">
            <a:extLst>
              <a:ext uri="{FF2B5EF4-FFF2-40B4-BE49-F238E27FC236}">
                <a16:creationId xmlns:a16="http://schemas.microsoft.com/office/drawing/2014/main" id="{15AC9CCA-D8EE-2825-B1BA-27E009D9B8D7}"/>
              </a:ext>
            </a:extLst>
          </p:cNvPr>
          <p:cNvSpPr txBox="1"/>
          <p:nvPr/>
        </p:nvSpPr>
        <p:spPr>
          <a:xfrm>
            <a:off x="6345173" y="4830410"/>
            <a:ext cx="5230368" cy="499624"/>
          </a:xfrm>
          <a:prstGeom prst="rect">
            <a:avLst/>
          </a:prstGeom>
          <a:noFill/>
        </p:spPr>
        <p:txBody>
          <a:bodyPr wrap="square" lIns="0" tIns="0" rIns="0" bIns="0" anchor="t">
            <a:spAutoFit/>
          </a:bodyPr>
          <a:lstStyle/>
          <a:p>
            <a:pPr>
              <a:lnSpc>
                <a:spcPct val="110000"/>
              </a:lnSpc>
            </a:pPr>
            <a:r>
              <a:rPr lang="en-US" sz="1000" noProof="0">
                <a:latin typeface="Arial" panose="020B0604020202020204" pitchFamily="34" charset="0"/>
                <a:cs typeface="Arial" panose="020B0604020202020204" pitchFamily="34" charset="0"/>
              </a:rPr>
              <a:t>.</a:t>
            </a:r>
            <a:r>
              <a:rPr lang="en-US" sz="1000" b="0" i="0" noProof="0">
                <a:latin typeface="Arial" panose="020B0604020202020204" pitchFamily="34" charset="0"/>
                <a:cs typeface="Arial" panose="020B0604020202020204" pitchFamily="34" charset="0"/>
              </a:rPr>
              <a:t>7 business OPCOs compete for the same Customer Services IT capacity. </a:t>
            </a:r>
            <a:r>
              <a:rPr lang="en-US" sz="1000" noProof="0">
                <a:latin typeface="Arial" panose="020B0604020202020204" pitchFamily="34" charset="0"/>
                <a:cs typeface="Arial" panose="020B0604020202020204" pitchFamily="34" charset="0"/>
              </a:rPr>
              <a:t>, with demand routed through parallel channels and no unified prioritization mechanism. Allocation decisions are often ad hoc</a:t>
            </a:r>
            <a:endParaRPr lang="en-US" sz="1000" b="0" i="0" noProof="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63363219"/>
      </p:ext>
    </p:extLst>
  </p:cSld>
  <p:clrMapOvr>
    <a:masterClrMapping/>
  </p:clrMapOvr>
  <p:extLst>
    <p:ext uri="{6950BFC3-D8DA-4A85-94F7-54DA5524770B}">
      <p188:commentRel xmlns:p188="http://schemas.microsoft.com/office/powerpoint/2018/8/main" r:id="rId2"/>
    </p:ext>
  </p:extLs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A61A72-F0E7-08E3-B329-04254A631016}"/>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3814AD92-4B88-C073-C730-5A05062D4EA9}"/>
              </a:ext>
            </a:extLst>
          </p:cNvPr>
          <p:cNvSpPr txBox="1"/>
          <p:nvPr/>
        </p:nvSpPr>
        <p:spPr>
          <a:xfrm>
            <a:off x="919524" y="1165923"/>
            <a:ext cx="6537890" cy="714747"/>
          </a:xfrm>
          <a:prstGeom prst="rect">
            <a:avLst/>
          </a:prstGeom>
          <a:noFill/>
        </p:spPr>
        <p:txBody>
          <a:bodyPr wrap="square" lIns="0" tIns="0" rIns="0" bIns="0" anchor="t">
            <a:spAutoFit/>
          </a:bodyPr>
          <a:lstStyle/>
          <a:p>
            <a:pPr>
              <a:lnSpc>
                <a:spcPct val="110000"/>
              </a:lnSpc>
            </a:pPr>
            <a:r>
              <a:rPr lang="en-US" sz="1300" b="1" noProof="0">
                <a:solidFill>
                  <a:srgbClr val="6785C1"/>
                </a:solidFill>
                <a:latin typeface="Arial" panose="020B0604020202020204" pitchFamily="34" charset="0"/>
                <a:cs typeface="Arial" panose="020B0604020202020204" pitchFamily="34" charset="0"/>
              </a:rPr>
              <a:t>No Product Entry Point</a:t>
            </a:r>
          </a:p>
          <a:p>
            <a:pPr>
              <a:lnSpc>
                <a:spcPct val="110000"/>
              </a:lnSpc>
            </a:pPr>
            <a:r>
              <a:rPr lang="en-US" sz="1000" noProof="0">
                <a:latin typeface="Arial" panose="020B0604020202020204" pitchFamily="34" charset="0"/>
                <a:cs typeface="Arial" panose="020B0604020202020204" pitchFamily="34" charset="0"/>
              </a:rPr>
              <a:t>Demand enters through multiple disconnected channels, with no single front door aligned to products or value streams.</a:t>
            </a:r>
            <a:endParaRPr lang="en-US" sz="1000" b="0" i="0" noProof="0">
              <a:solidFill>
                <a:srgbClr val="2C3E50"/>
              </a:solidFill>
              <a:latin typeface="Arial" panose="020B0604020202020204" pitchFamily="34" charset="0"/>
              <a:cs typeface="Arial" panose="020B0604020202020204" pitchFamily="34" charset="0"/>
            </a:endParaRPr>
          </a:p>
          <a:p>
            <a:pPr algn="l">
              <a:lnSpc>
                <a:spcPct val="110000"/>
              </a:lnSpc>
              <a:spcBef>
                <a:spcPts val="0"/>
              </a:spcBef>
              <a:spcAft>
                <a:spcPts val="0"/>
              </a:spcAft>
            </a:pPr>
            <a:r>
              <a:rPr lang="en-US" sz="1000" b="0" i="1" noProof="0">
                <a:solidFill>
                  <a:schemeClr val="bg2">
                    <a:lumMod val="50000"/>
                  </a:schemeClr>
                </a:solidFill>
                <a:latin typeface="Arial" panose="020B0604020202020204" pitchFamily="34" charset="0"/>
                <a:cs typeface="Arial" panose="020B0604020202020204" pitchFamily="34" charset="0"/>
              </a:rPr>
              <a:t>(6+ disconnected channels (Jira, IT Now, RITM, SharePoint, Email, Word). No single front door.)</a:t>
            </a:r>
          </a:p>
        </p:txBody>
      </p:sp>
      <p:sp>
        <p:nvSpPr>
          <p:cNvPr id="8" name="TextBox 7">
            <a:extLst>
              <a:ext uri="{FF2B5EF4-FFF2-40B4-BE49-F238E27FC236}">
                <a16:creationId xmlns:a16="http://schemas.microsoft.com/office/drawing/2014/main" id="{4F55AC1F-BCC1-3E9C-78BF-C15DE71D7A0A}"/>
              </a:ext>
            </a:extLst>
          </p:cNvPr>
          <p:cNvSpPr txBox="1"/>
          <p:nvPr/>
        </p:nvSpPr>
        <p:spPr>
          <a:xfrm>
            <a:off x="7649704" y="1394532"/>
            <a:ext cx="4199398" cy="363369"/>
          </a:xfrm>
          <a:prstGeom prst="rect">
            <a:avLst/>
          </a:prstGeom>
          <a:noFill/>
        </p:spPr>
        <p:txBody>
          <a:bodyPr wrap="square" lIns="0" tIns="0" rIns="0" bIns="0" anchor="ctr">
            <a:spAutoFit/>
          </a:bodyPr>
          <a:lstStyle>
            <a:defPPr>
              <a:defRPr lang="en-US"/>
            </a:defPPr>
            <a:lvl1pPr>
              <a:lnSpc>
                <a:spcPct val="110000"/>
              </a:lnSpc>
              <a:defRPr sz="1100" b="1"/>
            </a:lvl1pPr>
          </a:lstStyle>
          <a:p>
            <a:pPr algn="just"/>
            <a:r>
              <a:rPr lang="en-US" b="0" noProof="0">
                <a:latin typeface="Arial" panose="020B0604020202020204" pitchFamily="34" charset="0"/>
                <a:cs typeface="Arial" panose="020B0604020202020204" pitchFamily="34" charset="0"/>
              </a:rPr>
              <a:t>Product model requires a </a:t>
            </a:r>
            <a:r>
              <a:rPr lang="en-US" noProof="0">
                <a:latin typeface="Arial" panose="020B0604020202020204" pitchFamily="34" charset="0"/>
                <a:cs typeface="Arial" panose="020B0604020202020204" pitchFamily="34" charset="0"/>
              </a:rPr>
              <a:t>unified intake layer structured around products</a:t>
            </a:r>
            <a:r>
              <a:rPr lang="en-US" b="0" noProof="0">
                <a:latin typeface="Arial" panose="020B0604020202020204" pitchFamily="34" charset="0"/>
                <a:cs typeface="Arial" panose="020B0604020202020204" pitchFamily="34" charset="0"/>
              </a:rPr>
              <a:t>, not tools or channels.</a:t>
            </a:r>
          </a:p>
        </p:txBody>
      </p:sp>
      <p:sp>
        <p:nvSpPr>
          <p:cNvPr id="11" name="TextBox 10">
            <a:extLst>
              <a:ext uri="{FF2B5EF4-FFF2-40B4-BE49-F238E27FC236}">
                <a16:creationId xmlns:a16="http://schemas.microsoft.com/office/drawing/2014/main" id="{E512EE80-613A-BD88-7AFC-DC6CFEF0F0F0}"/>
              </a:ext>
            </a:extLst>
          </p:cNvPr>
          <p:cNvSpPr txBox="1"/>
          <p:nvPr/>
        </p:nvSpPr>
        <p:spPr>
          <a:xfrm>
            <a:off x="919524" y="1982504"/>
            <a:ext cx="6537890" cy="203004"/>
          </a:xfrm>
          <a:prstGeom prst="rect">
            <a:avLst/>
          </a:prstGeom>
        </p:spPr>
        <p:txBody>
          <a:bodyPr wrap="square" lIns="0" tIns="0" rIns="0" bIns="0" anchor="t">
            <a:spAutoFit/>
          </a:bodyPr>
          <a:lstStyle/>
          <a:p>
            <a:pPr>
              <a:lnSpc>
                <a:spcPct val="110000"/>
              </a:lnSpc>
              <a:spcBef>
                <a:spcPts val="0"/>
              </a:spcBef>
              <a:spcAft>
                <a:spcPts val="0"/>
              </a:spcAft>
            </a:pPr>
            <a:r>
              <a:rPr lang="en-US" sz="1300" b="1" noProof="0">
                <a:solidFill>
                  <a:srgbClr val="6785C1"/>
                </a:solidFill>
                <a:latin typeface="Arial" panose="020B0604020202020204" pitchFamily="34" charset="0"/>
                <a:cs typeface="Arial" panose="020B0604020202020204" pitchFamily="34" charset="0"/>
              </a:rPr>
              <a:t>No Value-Based Decisioning</a:t>
            </a:r>
          </a:p>
        </p:txBody>
      </p:sp>
      <p:sp>
        <p:nvSpPr>
          <p:cNvPr id="12" name="TextBox 11">
            <a:extLst>
              <a:ext uri="{FF2B5EF4-FFF2-40B4-BE49-F238E27FC236}">
                <a16:creationId xmlns:a16="http://schemas.microsoft.com/office/drawing/2014/main" id="{12239728-9FA1-6B58-17BB-A9935F5D44E8}"/>
              </a:ext>
            </a:extLst>
          </p:cNvPr>
          <p:cNvSpPr txBox="1"/>
          <p:nvPr/>
        </p:nvSpPr>
        <p:spPr>
          <a:xfrm>
            <a:off x="919524" y="2186471"/>
            <a:ext cx="6537890" cy="325410"/>
          </a:xfrm>
          <a:prstGeom prst="rect">
            <a:avLst/>
          </a:prstGeom>
          <a:noFill/>
        </p:spPr>
        <p:txBody>
          <a:bodyPr wrap="square" lIns="0" tIns="0" rIns="0" bIns="0" anchor="t">
            <a:spAutoFit/>
          </a:bodyPr>
          <a:lstStyle/>
          <a:p>
            <a:pPr>
              <a:lnSpc>
                <a:spcPct val="110000"/>
              </a:lnSpc>
            </a:pPr>
            <a:r>
              <a:rPr lang="en-US" sz="1000" noProof="0">
                <a:latin typeface="Arial" panose="020B0604020202020204" pitchFamily="34" charset="0"/>
                <a:cs typeface="Arial" panose="020B0604020202020204" pitchFamily="34" charset="0"/>
              </a:rPr>
              <a:t>Prioritization is inconsistent and driven by local criteria, with no common definition of value across initiatives. </a:t>
            </a:r>
          </a:p>
          <a:p>
            <a:pPr>
              <a:lnSpc>
                <a:spcPct val="110000"/>
              </a:lnSpc>
            </a:pPr>
            <a:r>
              <a:rPr lang="en-US" sz="1000" i="1" noProof="0">
                <a:solidFill>
                  <a:schemeClr val="bg2">
                    <a:lumMod val="50000"/>
                  </a:schemeClr>
                </a:solidFill>
                <a:latin typeface="Arial" panose="020B0604020202020204" pitchFamily="34" charset="0"/>
                <a:cs typeface="Arial" panose="020B0604020202020204" pitchFamily="34" charset="0"/>
              </a:rPr>
              <a:t>(Each area uses different criteria — PDD, </a:t>
            </a:r>
            <a:r>
              <a:rPr lang="en-US" sz="1000" i="1" noProof="0" err="1">
                <a:solidFill>
                  <a:schemeClr val="bg2">
                    <a:lumMod val="50000"/>
                  </a:schemeClr>
                </a:solidFill>
                <a:latin typeface="Arial" panose="020B0604020202020204" pitchFamily="34" charset="0"/>
                <a:cs typeface="Arial" panose="020B0604020202020204" pitchFamily="34" charset="0"/>
              </a:rPr>
              <a:t>impac</a:t>
            </a:r>
            <a:r>
              <a:rPr lang="en-US" sz="1000" i="1" noProof="0">
                <a:solidFill>
                  <a:schemeClr val="bg2">
                    <a:lumMod val="50000"/>
                  </a:schemeClr>
                </a:solidFill>
                <a:latin typeface="Arial" panose="020B0604020202020204" pitchFamily="34" charset="0"/>
                <a:cs typeface="Arial" panose="020B0604020202020204" pitchFamily="34" charset="0"/>
              </a:rPr>
              <a:t> </a:t>
            </a:r>
            <a:r>
              <a:rPr lang="en-US" sz="1000" i="1" noProof="0" err="1">
                <a:solidFill>
                  <a:schemeClr val="bg2">
                    <a:lumMod val="50000"/>
                  </a:schemeClr>
                </a:solidFill>
                <a:latin typeface="Arial" panose="020B0604020202020204" pitchFamily="34" charset="0"/>
                <a:cs typeface="Arial" panose="020B0604020202020204" pitchFamily="34" charset="0"/>
              </a:rPr>
              <a:t>t×users</a:t>
            </a:r>
            <a:r>
              <a:rPr lang="en-US" sz="1000" i="1" noProof="0">
                <a:solidFill>
                  <a:schemeClr val="bg2">
                    <a:lumMod val="50000"/>
                  </a:schemeClr>
                </a:solidFill>
                <a:latin typeface="Arial" panose="020B0604020202020204" pitchFamily="34" charset="0"/>
                <a:cs typeface="Arial" panose="020B0604020202020204" pitchFamily="34" charset="0"/>
              </a:rPr>
              <a:t>, criticality, operational urgency, common sense.)</a:t>
            </a:r>
          </a:p>
        </p:txBody>
      </p:sp>
      <p:sp>
        <p:nvSpPr>
          <p:cNvPr id="13" name="TextBox 12">
            <a:extLst>
              <a:ext uri="{FF2B5EF4-FFF2-40B4-BE49-F238E27FC236}">
                <a16:creationId xmlns:a16="http://schemas.microsoft.com/office/drawing/2014/main" id="{1DC83C0F-0EC2-89FF-B18C-1A009268A856}"/>
              </a:ext>
            </a:extLst>
          </p:cNvPr>
          <p:cNvSpPr txBox="1"/>
          <p:nvPr/>
        </p:nvSpPr>
        <p:spPr>
          <a:xfrm>
            <a:off x="7649703" y="2170100"/>
            <a:ext cx="4199398" cy="363369"/>
          </a:xfrm>
          <a:prstGeom prst="rect">
            <a:avLst/>
          </a:prstGeom>
          <a:noFill/>
        </p:spPr>
        <p:txBody>
          <a:bodyPr wrap="square" lIns="0" tIns="0" rIns="0" bIns="0" anchor="ctr">
            <a:spAutoFit/>
          </a:bodyPr>
          <a:lstStyle/>
          <a:p>
            <a:pPr algn="just">
              <a:lnSpc>
                <a:spcPct val="110000"/>
              </a:lnSpc>
            </a:pPr>
            <a:r>
              <a:rPr lang="en-US" sz="1100" noProof="0">
                <a:latin typeface="Arial" panose="020B0604020202020204" pitchFamily="34" charset="0"/>
                <a:cs typeface="Arial" panose="020B0604020202020204" pitchFamily="34" charset="0"/>
              </a:rPr>
              <a:t>Product model requires a </a:t>
            </a:r>
            <a:r>
              <a:rPr lang="en-US" sz="1100" b="1" noProof="0">
                <a:latin typeface="Arial" panose="020B0604020202020204" pitchFamily="34" charset="0"/>
                <a:cs typeface="Arial" panose="020B0604020202020204" pitchFamily="34" charset="0"/>
              </a:rPr>
              <a:t>standardized, value-based prioritization framework </a:t>
            </a:r>
            <a:r>
              <a:rPr lang="en-US" sz="1100" noProof="0">
                <a:latin typeface="Arial" panose="020B0604020202020204" pitchFamily="34" charset="0"/>
                <a:cs typeface="Arial" panose="020B0604020202020204" pitchFamily="34" charset="0"/>
              </a:rPr>
              <a:t>tied to </a:t>
            </a:r>
            <a:r>
              <a:rPr lang="en-US" sz="1100" b="1" noProof="0">
                <a:latin typeface="Arial" panose="020B0604020202020204" pitchFamily="34" charset="0"/>
                <a:cs typeface="Arial" panose="020B0604020202020204" pitchFamily="34" charset="0"/>
              </a:rPr>
              <a:t>business outcomes</a:t>
            </a:r>
            <a:r>
              <a:rPr lang="en-US" sz="1100" noProof="0">
                <a:latin typeface="Arial" panose="020B0604020202020204" pitchFamily="34" charset="0"/>
                <a:cs typeface="Arial" panose="020B0604020202020204" pitchFamily="34" charset="0"/>
              </a:rPr>
              <a:t>.</a:t>
            </a:r>
            <a:endParaRPr lang="en-US" sz="1100" i="1" noProof="0">
              <a:latin typeface="Arial" panose="020B0604020202020204" pitchFamily="34" charset="0"/>
              <a:cs typeface="Arial" panose="020B0604020202020204" pitchFamily="34" charset="0"/>
            </a:endParaRPr>
          </a:p>
        </p:txBody>
      </p:sp>
      <p:sp>
        <p:nvSpPr>
          <p:cNvPr id="16" name="TextBox 15">
            <a:extLst>
              <a:ext uri="{FF2B5EF4-FFF2-40B4-BE49-F238E27FC236}">
                <a16:creationId xmlns:a16="http://schemas.microsoft.com/office/drawing/2014/main" id="{18C7D04E-D791-B5FA-BD3E-3DD83FA23047}"/>
              </a:ext>
            </a:extLst>
          </p:cNvPr>
          <p:cNvSpPr txBox="1"/>
          <p:nvPr/>
        </p:nvSpPr>
        <p:spPr>
          <a:xfrm>
            <a:off x="919524" y="2729234"/>
            <a:ext cx="6537890" cy="203004"/>
          </a:xfrm>
          <a:prstGeom prst="rect">
            <a:avLst/>
          </a:prstGeom>
          <a:noFill/>
        </p:spPr>
        <p:txBody>
          <a:bodyPr wrap="square" lIns="0" tIns="0" rIns="0" bIns="0" anchor="t">
            <a:spAutoFit/>
          </a:bodyPr>
          <a:lstStyle/>
          <a:p>
            <a:pPr>
              <a:lnSpc>
                <a:spcPct val="110000"/>
              </a:lnSpc>
              <a:spcBef>
                <a:spcPts val="0"/>
              </a:spcBef>
              <a:spcAft>
                <a:spcPts val="0"/>
              </a:spcAft>
            </a:pPr>
            <a:r>
              <a:rPr lang="en-US" sz="1300" b="1" noProof="0">
                <a:solidFill>
                  <a:srgbClr val="6785C1"/>
                </a:solidFill>
                <a:latin typeface="Arial" panose="020B0604020202020204" pitchFamily="34" charset="0"/>
                <a:cs typeface="Arial" panose="020B0604020202020204" pitchFamily="34" charset="0"/>
              </a:rPr>
              <a:t>No End-to-End Product View</a:t>
            </a:r>
          </a:p>
        </p:txBody>
      </p:sp>
      <p:sp>
        <p:nvSpPr>
          <p:cNvPr id="17" name="TextBox 16">
            <a:extLst>
              <a:ext uri="{FF2B5EF4-FFF2-40B4-BE49-F238E27FC236}">
                <a16:creationId xmlns:a16="http://schemas.microsoft.com/office/drawing/2014/main" id="{DCEF4582-07D7-FB25-5881-5267D994A11D}"/>
              </a:ext>
            </a:extLst>
          </p:cNvPr>
          <p:cNvSpPr txBox="1"/>
          <p:nvPr/>
        </p:nvSpPr>
        <p:spPr>
          <a:xfrm>
            <a:off x="919524" y="2941011"/>
            <a:ext cx="6537890" cy="325410"/>
          </a:xfrm>
          <a:prstGeom prst="rect">
            <a:avLst/>
          </a:prstGeom>
          <a:noFill/>
        </p:spPr>
        <p:txBody>
          <a:bodyPr wrap="square" lIns="0" tIns="0" rIns="0" bIns="0" anchor="t">
            <a:spAutoFit/>
          </a:bodyPr>
          <a:lstStyle/>
          <a:p>
            <a:pPr>
              <a:lnSpc>
                <a:spcPct val="110000"/>
              </a:lnSpc>
            </a:pPr>
            <a:r>
              <a:rPr lang="en-US" sz="1000" noProof="0">
                <a:latin typeface="Arial" panose="020B0604020202020204" pitchFamily="34" charset="0"/>
                <a:cs typeface="Arial" panose="020B0604020202020204" pitchFamily="34" charset="0"/>
              </a:rPr>
              <a:t>Portfolio management capabilities are fragmented, limiting visibility across demand, capacity, and delivery.</a:t>
            </a:r>
            <a:endParaRPr lang="en-US" sz="1000" b="0" i="0" noProof="0">
              <a:solidFill>
                <a:srgbClr val="2C3E50"/>
              </a:solidFill>
              <a:latin typeface="Arial" panose="020B0604020202020204" pitchFamily="34" charset="0"/>
              <a:cs typeface="Arial" panose="020B0604020202020204" pitchFamily="34" charset="0"/>
            </a:endParaRPr>
          </a:p>
          <a:p>
            <a:pPr algn="l">
              <a:lnSpc>
                <a:spcPct val="110000"/>
              </a:lnSpc>
              <a:spcBef>
                <a:spcPts val="0"/>
              </a:spcBef>
              <a:spcAft>
                <a:spcPts val="0"/>
              </a:spcAft>
            </a:pPr>
            <a:r>
              <a:rPr lang="en-US" sz="1000" b="0" i="0" noProof="0">
                <a:solidFill>
                  <a:srgbClr val="2C3E50"/>
                </a:solidFill>
                <a:latin typeface="Arial" panose="020B0604020202020204" pitchFamily="34" charset="0"/>
                <a:cs typeface="Arial" panose="020B0604020202020204" pitchFamily="34" charset="0"/>
              </a:rPr>
              <a:t>No consistent and standardized use of portfolio tool. Only Smart Metering uses PPM Now.</a:t>
            </a:r>
          </a:p>
        </p:txBody>
      </p:sp>
      <p:sp>
        <p:nvSpPr>
          <p:cNvPr id="18" name="TextBox 17">
            <a:extLst>
              <a:ext uri="{FF2B5EF4-FFF2-40B4-BE49-F238E27FC236}">
                <a16:creationId xmlns:a16="http://schemas.microsoft.com/office/drawing/2014/main" id="{99DE835A-B700-23D4-BB20-210F238C6A0E}"/>
              </a:ext>
            </a:extLst>
          </p:cNvPr>
          <p:cNvSpPr txBox="1"/>
          <p:nvPr/>
        </p:nvSpPr>
        <p:spPr>
          <a:xfrm>
            <a:off x="7649703" y="2922031"/>
            <a:ext cx="4199398" cy="363369"/>
          </a:xfrm>
          <a:prstGeom prst="rect">
            <a:avLst/>
          </a:prstGeom>
          <a:noFill/>
        </p:spPr>
        <p:txBody>
          <a:bodyPr wrap="square" lIns="0" tIns="0" rIns="0" bIns="0" anchor="ctr">
            <a:spAutoFit/>
          </a:bodyPr>
          <a:lstStyle/>
          <a:p>
            <a:pPr algn="just">
              <a:lnSpc>
                <a:spcPct val="110000"/>
              </a:lnSpc>
            </a:pPr>
            <a:r>
              <a:rPr lang="en-US" sz="1100" noProof="0">
                <a:latin typeface="Arial" panose="020B0604020202020204" pitchFamily="34" charset="0"/>
                <a:cs typeface="Arial" panose="020B0604020202020204" pitchFamily="34" charset="0"/>
              </a:rPr>
              <a:t>Product model requires </a:t>
            </a:r>
            <a:r>
              <a:rPr lang="en-US" sz="1100" b="1" noProof="0">
                <a:latin typeface="Arial" panose="020B0604020202020204" pitchFamily="34" charset="0"/>
                <a:cs typeface="Arial" panose="020B0604020202020204" pitchFamily="34" charset="0"/>
              </a:rPr>
              <a:t>integrated portfolio tooling to manage products holistically </a:t>
            </a:r>
            <a:r>
              <a:rPr lang="en-US" sz="1100" noProof="0">
                <a:latin typeface="Arial" panose="020B0604020202020204" pitchFamily="34" charset="0"/>
                <a:cs typeface="Arial" panose="020B0604020202020204" pitchFamily="34" charset="0"/>
              </a:rPr>
              <a:t>across their lifecycle.</a:t>
            </a:r>
            <a:endParaRPr lang="en-US" sz="1100" i="1" noProof="0">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FB87D1B4-E0CA-11BF-4195-7B3ED9F23FFB}"/>
              </a:ext>
            </a:extLst>
          </p:cNvPr>
          <p:cNvSpPr txBox="1"/>
          <p:nvPr/>
        </p:nvSpPr>
        <p:spPr>
          <a:xfrm>
            <a:off x="919524" y="3480294"/>
            <a:ext cx="6537890" cy="203004"/>
          </a:xfrm>
          <a:prstGeom prst="rect">
            <a:avLst/>
          </a:prstGeom>
          <a:noFill/>
        </p:spPr>
        <p:txBody>
          <a:bodyPr wrap="square" lIns="0" tIns="0" rIns="0" bIns="0" anchor="t">
            <a:spAutoFit/>
          </a:bodyPr>
          <a:lstStyle/>
          <a:p>
            <a:pPr>
              <a:lnSpc>
                <a:spcPct val="110000"/>
              </a:lnSpc>
              <a:spcBef>
                <a:spcPts val="0"/>
              </a:spcBef>
              <a:spcAft>
                <a:spcPts val="0"/>
              </a:spcAft>
            </a:pPr>
            <a:r>
              <a:rPr lang="en-US" sz="1300" b="1" noProof="0">
                <a:solidFill>
                  <a:srgbClr val="6785C1"/>
                </a:solidFill>
                <a:latin typeface="Arial" panose="020B0604020202020204" pitchFamily="34" charset="0"/>
                <a:cs typeface="Arial" panose="020B0604020202020204" pitchFamily="34" charset="0"/>
              </a:rPr>
              <a:t>No Ownership of Outcomes</a:t>
            </a:r>
          </a:p>
        </p:txBody>
      </p:sp>
      <p:sp>
        <p:nvSpPr>
          <p:cNvPr id="22" name="TextBox 21">
            <a:extLst>
              <a:ext uri="{FF2B5EF4-FFF2-40B4-BE49-F238E27FC236}">
                <a16:creationId xmlns:a16="http://schemas.microsoft.com/office/drawing/2014/main" id="{4CC2071C-894F-28CC-E0D5-161A6451FDE5}"/>
              </a:ext>
            </a:extLst>
          </p:cNvPr>
          <p:cNvSpPr txBox="1"/>
          <p:nvPr/>
        </p:nvSpPr>
        <p:spPr>
          <a:xfrm>
            <a:off x="919524" y="3695497"/>
            <a:ext cx="6537890" cy="325410"/>
          </a:xfrm>
          <a:prstGeom prst="rect">
            <a:avLst/>
          </a:prstGeom>
          <a:noFill/>
        </p:spPr>
        <p:txBody>
          <a:bodyPr wrap="square" lIns="0" tIns="0" rIns="0" bIns="0" anchor="t">
            <a:spAutoFit/>
          </a:bodyPr>
          <a:lstStyle/>
          <a:p>
            <a:pPr>
              <a:lnSpc>
                <a:spcPct val="110000"/>
              </a:lnSpc>
            </a:pPr>
            <a:r>
              <a:rPr lang="en-US" sz="1000" noProof="0">
                <a:latin typeface="Arial" panose="020B0604020202020204" pitchFamily="34" charset="0"/>
                <a:cs typeface="Arial" panose="020B0604020202020204" pitchFamily="34" charset="0"/>
              </a:rPr>
              <a:t>Vendors operate with high autonomy, with limited oversight on timelines, estimates, and delivery performance</a:t>
            </a:r>
            <a:r>
              <a:rPr lang="en-US" sz="1000" i="1" noProof="0">
                <a:solidFill>
                  <a:schemeClr val="bg2">
                    <a:lumMod val="50000"/>
                  </a:schemeClr>
                </a:solidFill>
                <a:latin typeface="Arial" panose="020B0604020202020204" pitchFamily="34" charset="0"/>
                <a:cs typeface="Arial" panose="020B0604020202020204" pitchFamily="34" charset="0"/>
              </a:rPr>
              <a:t>.</a:t>
            </a:r>
          </a:p>
          <a:p>
            <a:pPr>
              <a:lnSpc>
                <a:spcPct val="110000"/>
              </a:lnSpc>
            </a:pPr>
            <a:r>
              <a:rPr lang="en-US" sz="1000" i="1" noProof="0">
                <a:solidFill>
                  <a:schemeClr val="bg2">
                    <a:lumMod val="50000"/>
                  </a:schemeClr>
                </a:solidFill>
                <a:latin typeface="Arial" panose="020B0604020202020204" pitchFamily="34" charset="0"/>
                <a:cs typeface="Arial" panose="020B0604020202020204" pitchFamily="34" charset="0"/>
              </a:rPr>
              <a:t>(No standard process to manage vendor delivery. Vendors estimate, set timelines, and </a:t>
            </a:r>
            <a:r>
              <a:rPr lang="en-US" sz="1000" i="1">
                <a:solidFill>
                  <a:schemeClr val="bg2">
                    <a:lumMod val="50000"/>
                  </a:schemeClr>
                </a:solidFill>
                <a:latin typeface="Arial" panose="020B0604020202020204" pitchFamily="34" charset="0"/>
                <a:cs typeface="Arial" panose="020B0604020202020204" pitchFamily="34" charset="0"/>
              </a:rPr>
              <a:t>follow up on delivery)</a:t>
            </a:r>
            <a:endParaRPr lang="en-US" sz="1000" i="1" noProof="0">
              <a:solidFill>
                <a:schemeClr val="bg2">
                  <a:lumMod val="50000"/>
                </a:schemeClr>
              </a:solidFill>
              <a:latin typeface="Arial" panose="020B0604020202020204" pitchFamily="34" charset="0"/>
              <a:cs typeface="Arial" panose="020B0604020202020204" pitchFamily="34" charset="0"/>
            </a:endParaRPr>
          </a:p>
        </p:txBody>
      </p:sp>
      <p:sp>
        <p:nvSpPr>
          <p:cNvPr id="23" name="TextBox 22">
            <a:extLst>
              <a:ext uri="{FF2B5EF4-FFF2-40B4-BE49-F238E27FC236}">
                <a16:creationId xmlns:a16="http://schemas.microsoft.com/office/drawing/2014/main" id="{B754E0F5-B9CD-8541-5396-9CBA6303B468}"/>
              </a:ext>
            </a:extLst>
          </p:cNvPr>
          <p:cNvSpPr txBox="1"/>
          <p:nvPr/>
        </p:nvSpPr>
        <p:spPr>
          <a:xfrm>
            <a:off x="7649703" y="3676517"/>
            <a:ext cx="4199398" cy="363369"/>
          </a:xfrm>
          <a:prstGeom prst="rect">
            <a:avLst/>
          </a:prstGeom>
          <a:noFill/>
        </p:spPr>
        <p:txBody>
          <a:bodyPr wrap="square" lIns="0" tIns="0" rIns="0" bIns="0" anchor="ctr">
            <a:spAutoFit/>
          </a:bodyPr>
          <a:lstStyle/>
          <a:p>
            <a:pPr algn="just">
              <a:lnSpc>
                <a:spcPct val="110000"/>
              </a:lnSpc>
            </a:pPr>
            <a:r>
              <a:rPr lang="en-US" sz="1100" noProof="0">
                <a:latin typeface="Arial" panose="020B0604020202020204" pitchFamily="34" charset="0"/>
                <a:cs typeface="Arial" panose="020B0604020202020204" pitchFamily="34" charset="0"/>
              </a:rPr>
              <a:t>Product model requires </a:t>
            </a:r>
            <a:r>
              <a:rPr lang="en-US" sz="1100" b="1" noProof="0">
                <a:latin typeface="Arial" panose="020B0604020202020204" pitchFamily="34" charset="0"/>
                <a:cs typeface="Arial" panose="020B0604020202020204" pitchFamily="34" charset="0"/>
              </a:rPr>
              <a:t>clear ownership, performance management, and outcome-based </a:t>
            </a:r>
            <a:r>
              <a:rPr lang="en-US" sz="1100" noProof="0">
                <a:latin typeface="Arial" panose="020B0604020202020204" pitchFamily="34" charset="0"/>
                <a:cs typeface="Arial" panose="020B0604020202020204" pitchFamily="34" charset="0"/>
              </a:rPr>
              <a:t>vendor governance.</a:t>
            </a:r>
            <a:endParaRPr lang="en-US" sz="1100" i="1" noProof="0">
              <a:latin typeface="Arial" panose="020B0604020202020204" pitchFamily="34" charset="0"/>
              <a:cs typeface="Arial" panose="020B0604020202020204" pitchFamily="34" charset="0"/>
            </a:endParaRPr>
          </a:p>
        </p:txBody>
      </p:sp>
      <p:sp>
        <p:nvSpPr>
          <p:cNvPr id="26" name="TextBox 25">
            <a:extLst>
              <a:ext uri="{FF2B5EF4-FFF2-40B4-BE49-F238E27FC236}">
                <a16:creationId xmlns:a16="http://schemas.microsoft.com/office/drawing/2014/main" id="{6270B844-9C5D-C417-85DB-32C3C9C074B0}"/>
              </a:ext>
            </a:extLst>
          </p:cNvPr>
          <p:cNvSpPr txBox="1"/>
          <p:nvPr/>
        </p:nvSpPr>
        <p:spPr>
          <a:xfrm>
            <a:off x="919524" y="4234545"/>
            <a:ext cx="6537890" cy="203004"/>
          </a:xfrm>
          <a:prstGeom prst="rect">
            <a:avLst/>
          </a:prstGeom>
          <a:noFill/>
        </p:spPr>
        <p:txBody>
          <a:bodyPr wrap="square" lIns="0" tIns="0" rIns="0" bIns="0" anchor="t">
            <a:spAutoFit/>
          </a:bodyPr>
          <a:lstStyle/>
          <a:p>
            <a:pPr>
              <a:lnSpc>
                <a:spcPct val="110000"/>
              </a:lnSpc>
              <a:spcBef>
                <a:spcPts val="0"/>
              </a:spcBef>
              <a:spcAft>
                <a:spcPts val="0"/>
              </a:spcAft>
            </a:pPr>
            <a:r>
              <a:rPr lang="en-US" sz="1300" b="1" noProof="0">
                <a:solidFill>
                  <a:srgbClr val="6785C1"/>
                </a:solidFill>
                <a:latin typeface="Arial" panose="020B0604020202020204" pitchFamily="34" charset="0"/>
                <a:cs typeface="Arial" panose="020B0604020202020204" pitchFamily="34" charset="0"/>
              </a:rPr>
              <a:t>No Product-Level Steering</a:t>
            </a:r>
          </a:p>
        </p:txBody>
      </p:sp>
      <p:sp>
        <p:nvSpPr>
          <p:cNvPr id="27" name="TextBox 26">
            <a:extLst>
              <a:ext uri="{FF2B5EF4-FFF2-40B4-BE49-F238E27FC236}">
                <a16:creationId xmlns:a16="http://schemas.microsoft.com/office/drawing/2014/main" id="{6392295C-F6EB-2CD6-16CA-191F0704BCA9}"/>
              </a:ext>
            </a:extLst>
          </p:cNvPr>
          <p:cNvSpPr txBox="1"/>
          <p:nvPr/>
        </p:nvSpPr>
        <p:spPr>
          <a:xfrm>
            <a:off x="919524" y="4442709"/>
            <a:ext cx="6196321" cy="494687"/>
          </a:xfrm>
          <a:prstGeom prst="rect">
            <a:avLst/>
          </a:prstGeom>
          <a:noFill/>
        </p:spPr>
        <p:txBody>
          <a:bodyPr wrap="square" lIns="0" tIns="0" rIns="0" bIns="0" anchor="t">
            <a:spAutoFit/>
          </a:bodyPr>
          <a:lstStyle/>
          <a:p>
            <a:pPr>
              <a:lnSpc>
                <a:spcPct val="110000"/>
              </a:lnSpc>
            </a:pPr>
            <a:r>
              <a:rPr lang="en-US" sz="1000" noProof="0">
                <a:latin typeface="Arial" panose="020B0604020202020204" pitchFamily="34" charset="0"/>
                <a:cs typeface="Arial" panose="020B0604020202020204" pitchFamily="34" charset="0"/>
              </a:rPr>
              <a:t>Existing forums are not structured to drive portfolio-level or product-based decisions. </a:t>
            </a:r>
          </a:p>
          <a:p>
            <a:pPr>
              <a:lnSpc>
                <a:spcPct val="110000"/>
              </a:lnSpc>
            </a:pPr>
            <a:r>
              <a:rPr lang="en-US" sz="1000" i="1" noProof="0">
                <a:solidFill>
                  <a:schemeClr val="bg2">
                    <a:lumMod val="50000"/>
                  </a:schemeClr>
                </a:solidFill>
                <a:latin typeface="Arial" panose="020B0604020202020204" pitchFamily="34" charset="0"/>
                <a:cs typeface="Arial" panose="020B0604020202020204" pitchFamily="34" charset="0"/>
              </a:rPr>
              <a:t>(D</a:t>
            </a:r>
            <a:r>
              <a:rPr lang="en-US" sz="1000" i="1" err="1">
                <a:solidFill>
                  <a:schemeClr val="bg2">
                    <a:lumMod val="50000"/>
                  </a:schemeClr>
                </a:solidFill>
                <a:latin typeface="Arial" panose="020B0604020202020204" pitchFamily="34" charset="0"/>
                <a:cs typeface="Arial" panose="020B0604020202020204" pitchFamily="34" charset="0"/>
              </a:rPr>
              <a:t>ifferent</a:t>
            </a:r>
            <a:r>
              <a:rPr lang="en-US" sz="1000" i="1">
                <a:solidFill>
                  <a:schemeClr val="bg2">
                    <a:lumMod val="50000"/>
                  </a:schemeClr>
                </a:solidFill>
                <a:latin typeface="Arial" panose="020B0604020202020204" pitchFamily="34" charset="0"/>
                <a:cs typeface="Arial" panose="020B0604020202020204" pitchFamily="34" charset="0"/>
              </a:rPr>
              <a:t> </a:t>
            </a:r>
            <a:r>
              <a:rPr lang="en-US" sz="1000" i="1" noProof="0">
                <a:solidFill>
                  <a:schemeClr val="bg2">
                    <a:lumMod val="50000"/>
                  </a:schemeClr>
                </a:solidFill>
                <a:latin typeface="Arial" panose="020B0604020202020204" pitchFamily="34" charset="0"/>
                <a:cs typeface="Arial" panose="020B0604020202020204" pitchFamily="34" charset="0"/>
              </a:rPr>
              <a:t>recurring forums exist — but Manager Check-in participants are still TBC; no forum covers portfolio-level decisions.)</a:t>
            </a:r>
          </a:p>
        </p:txBody>
      </p:sp>
      <p:sp>
        <p:nvSpPr>
          <p:cNvPr id="28" name="TextBox 27">
            <a:extLst>
              <a:ext uri="{FF2B5EF4-FFF2-40B4-BE49-F238E27FC236}">
                <a16:creationId xmlns:a16="http://schemas.microsoft.com/office/drawing/2014/main" id="{21B543EB-5046-E649-6CCF-D83C1E0F87D7}"/>
              </a:ext>
            </a:extLst>
          </p:cNvPr>
          <p:cNvSpPr txBox="1"/>
          <p:nvPr/>
        </p:nvSpPr>
        <p:spPr>
          <a:xfrm>
            <a:off x="7649703" y="4394429"/>
            <a:ext cx="4199398" cy="363369"/>
          </a:xfrm>
          <a:prstGeom prst="rect">
            <a:avLst/>
          </a:prstGeom>
          <a:noFill/>
        </p:spPr>
        <p:txBody>
          <a:bodyPr wrap="square" lIns="0" tIns="0" rIns="0" bIns="0" anchor="ctr">
            <a:spAutoFit/>
          </a:bodyPr>
          <a:lstStyle/>
          <a:p>
            <a:pPr algn="just">
              <a:lnSpc>
                <a:spcPct val="110000"/>
              </a:lnSpc>
            </a:pPr>
            <a:r>
              <a:rPr lang="en-US" sz="1100" noProof="0">
                <a:latin typeface="Arial" panose="020B0604020202020204" pitchFamily="34" charset="0"/>
                <a:cs typeface="Arial" panose="020B0604020202020204" pitchFamily="34" charset="0"/>
              </a:rPr>
              <a:t>Product model requires </a:t>
            </a:r>
            <a:r>
              <a:rPr lang="en-US" sz="1100" b="1" noProof="0">
                <a:latin typeface="Arial" panose="020B0604020202020204" pitchFamily="34" charset="0"/>
                <a:cs typeface="Arial" panose="020B0604020202020204" pitchFamily="34" charset="0"/>
              </a:rPr>
              <a:t>governance aligned to product portfolios, with clear accountability </a:t>
            </a:r>
            <a:r>
              <a:rPr lang="en-US" sz="1100" noProof="0">
                <a:latin typeface="Arial" panose="020B0604020202020204" pitchFamily="34" charset="0"/>
                <a:cs typeface="Arial" panose="020B0604020202020204" pitchFamily="34" charset="0"/>
              </a:rPr>
              <a:t>and decision rights.</a:t>
            </a:r>
            <a:endParaRPr lang="en-US" sz="1100" i="1" noProof="0">
              <a:latin typeface="Arial" panose="020B0604020202020204" pitchFamily="34" charset="0"/>
              <a:cs typeface="Arial" panose="020B0604020202020204" pitchFamily="34" charset="0"/>
            </a:endParaRPr>
          </a:p>
        </p:txBody>
      </p:sp>
      <p:sp>
        <p:nvSpPr>
          <p:cNvPr id="31" name="TextBox 30">
            <a:extLst>
              <a:ext uri="{FF2B5EF4-FFF2-40B4-BE49-F238E27FC236}">
                <a16:creationId xmlns:a16="http://schemas.microsoft.com/office/drawing/2014/main" id="{1059A522-56FC-3D6A-F584-2FF1F0DF70AC}"/>
              </a:ext>
            </a:extLst>
          </p:cNvPr>
          <p:cNvSpPr txBox="1"/>
          <p:nvPr/>
        </p:nvSpPr>
        <p:spPr>
          <a:xfrm>
            <a:off x="919524" y="4999844"/>
            <a:ext cx="6537890" cy="203004"/>
          </a:xfrm>
          <a:prstGeom prst="rect">
            <a:avLst/>
          </a:prstGeom>
          <a:noFill/>
        </p:spPr>
        <p:txBody>
          <a:bodyPr wrap="square" lIns="0" tIns="0" rIns="0" bIns="0" anchor="t">
            <a:spAutoFit/>
          </a:bodyPr>
          <a:lstStyle/>
          <a:p>
            <a:pPr>
              <a:lnSpc>
                <a:spcPct val="110000"/>
              </a:lnSpc>
              <a:spcBef>
                <a:spcPts val="0"/>
              </a:spcBef>
              <a:spcAft>
                <a:spcPts val="0"/>
              </a:spcAft>
            </a:pPr>
            <a:r>
              <a:rPr lang="en-US" sz="1300" b="1" noProof="0">
                <a:solidFill>
                  <a:srgbClr val="6785C1"/>
                </a:solidFill>
                <a:latin typeface="Arial" panose="020B0604020202020204" pitchFamily="34" charset="0"/>
                <a:cs typeface="Arial" panose="020B0604020202020204" pitchFamily="34" charset="0"/>
              </a:rPr>
              <a:t>No Common Language of Value</a:t>
            </a:r>
          </a:p>
        </p:txBody>
      </p:sp>
      <p:sp>
        <p:nvSpPr>
          <p:cNvPr id="32" name="TextBox 31">
            <a:extLst>
              <a:ext uri="{FF2B5EF4-FFF2-40B4-BE49-F238E27FC236}">
                <a16:creationId xmlns:a16="http://schemas.microsoft.com/office/drawing/2014/main" id="{90145A56-45FD-9669-DA1D-98EF19A47C5B}"/>
              </a:ext>
            </a:extLst>
          </p:cNvPr>
          <p:cNvSpPr txBox="1"/>
          <p:nvPr/>
        </p:nvSpPr>
        <p:spPr>
          <a:xfrm>
            <a:off x="919524" y="5173283"/>
            <a:ext cx="6488273" cy="494687"/>
          </a:xfrm>
          <a:prstGeom prst="rect">
            <a:avLst/>
          </a:prstGeom>
          <a:noFill/>
        </p:spPr>
        <p:txBody>
          <a:bodyPr wrap="square" lIns="0" tIns="0" rIns="0" bIns="0" anchor="t">
            <a:spAutoFit/>
          </a:bodyPr>
          <a:lstStyle/>
          <a:p>
            <a:pPr>
              <a:lnSpc>
                <a:spcPct val="110000"/>
              </a:lnSpc>
            </a:pPr>
            <a:r>
              <a:rPr lang="en-US" sz="1000" noProof="0">
                <a:latin typeface="Arial" panose="020B0604020202020204" pitchFamily="34" charset="0"/>
                <a:cs typeface="Arial" panose="020B0604020202020204" pitchFamily="34" charset="0"/>
              </a:rPr>
              <a:t>Lack of standardized definitions of impact (client, business value) prevents consistent evaluation and comparison of work</a:t>
            </a:r>
            <a:r>
              <a:rPr lang="en-US" sz="1000" i="1" noProof="0">
                <a:solidFill>
                  <a:schemeClr val="bg2">
                    <a:lumMod val="50000"/>
                  </a:schemeClr>
                </a:solidFill>
                <a:latin typeface="Arial" panose="020B0604020202020204" pitchFamily="34" charset="0"/>
                <a:cs typeface="Arial" panose="020B0604020202020204" pitchFamily="34" charset="0"/>
              </a:rPr>
              <a:t>.</a:t>
            </a:r>
          </a:p>
          <a:p>
            <a:pPr>
              <a:lnSpc>
                <a:spcPct val="110000"/>
              </a:lnSpc>
            </a:pPr>
            <a:r>
              <a:rPr lang="en-US" sz="1000" i="1" noProof="0">
                <a:solidFill>
                  <a:schemeClr val="bg2">
                    <a:lumMod val="50000"/>
                  </a:schemeClr>
                </a:solidFill>
                <a:latin typeface="Arial" panose="020B0604020202020204" pitchFamily="34" charset="0"/>
                <a:cs typeface="Arial" panose="020B0604020202020204" pitchFamily="34" charset="0"/>
              </a:rPr>
              <a:t>Each demand request is worked depending on perception of value and Demand size</a:t>
            </a:r>
          </a:p>
        </p:txBody>
      </p:sp>
      <p:sp>
        <p:nvSpPr>
          <p:cNvPr id="33" name="TextBox 32">
            <a:extLst>
              <a:ext uri="{FF2B5EF4-FFF2-40B4-BE49-F238E27FC236}">
                <a16:creationId xmlns:a16="http://schemas.microsoft.com/office/drawing/2014/main" id="{C47F888E-5A7A-3DAA-C87E-470B249C6C65}"/>
              </a:ext>
            </a:extLst>
          </p:cNvPr>
          <p:cNvSpPr txBox="1"/>
          <p:nvPr/>
        </p:nvSpPr>
        <p:spPr>
          <a:xfrm>
            <a:off x="7649703" y="5170049"/>
            <a:ext cx="4199398" cy="363369"/>
          </a:xfrm>
          <a:prstGeom prst="rect">
            <a:avLst/>
          </a:prstGeom>
          <a:noFill/>
        </p:spPr>
        <p:txBody>
          <a:bodyPr wrap="square" lIns="0" tIns="0" rIns="0" bIns="0" anchor="ctr">
            <a:spAutoFit/>
          </a:bodyPr>
          <a:lstStyle/>
          <a:p>
            <a:pPr algn="just">
              <a:lnSpc>
                <a:spcPct val="110000"/>
              </a:lnSpc>
            </a:pPr>
            <a:r>
              <a:rPr lang="en-US" sz="1100" noProof="0">
                <a:latin typeface="Arial" panose="020B0604020202020204" pitchFamily="34" charset="0"/>
                <a:cs typeface="Arial" panose="020B0604020202020204" pitchFamily="34" charset="0"/>
              </a:rPr>
              <a:t>Product model requires </a:t>
            </a:r>
            <a:r>
              <a:rPr lang="en-US" sz="1100" b="1" noProof="0">
                <a:latin typeface="Arial" panose="020B0604020202020204" pitchFamily="34" charset="0"/>
                <a:cs typeface="Arial" panose="020B0604020202020204" pitchFamily="34" charset="0"/>
              </a:rPr>
              <a:t>a shared taxonomy and classification model </a:t>
            </a:r>
            <a:r>
              <a:rPr lang="en-US" sz="1100" noProof="0">
                <a:latin typeface="Arial" panose="020B0604020202020204" pitchFamily="34" charset="0"/>
                <a:cs typeface="Arial" panose="020B0604020202020204" pitchFamily="34" charset="0"/>
              </a:rPr>
              <a:t>as a foundation for prioritization and planning.</a:t>
            </a:r>
            <a:endParaRPr lang="en-US" sz="1100" i="1" noProof="0">
              <a:latin typeface="Arial" panose="020B0604020202020204" pitchFamily="34" charset="0"/>
              <a:cs typeface="Arial" panose="020B0604020202020204" pitchFamily="34" charset="0"/>
            </a:endParaRPr>
          </a:p>
        </p:txBody>
      </p:sp>
      <p:grpSp>
        <p:nvGrpSpPr>
          <p:cNvPr id="2" name="Group 1">
            <a:extLst>
              <a:ext uri="{FF2B5EF4-FFF2-40B4-BE49-F238E27FC236}">
                <a16:creationId xmlns:a16="http://schemas.microsoft.com/office/drawing/2014/main" id="{0FAD4405-7E24-17F7-FF54-56AAE6479F2B}"/>
              </a:ext>
            </a:extLst>
          </p:cNvPr>
          <p:cNvGrpSpPr/>
          <p:nvPr/>
        </p:nvGrpSpPr>
        <p:grpSpPr>
          <a:xfrm>
            <a:off x="180918" y="1216724"/>
            <a:ext cx="639986" cy="5207363"/>
            <a:chOff x="180918" y="1263948"/>
            <a:chExt cx="639986" cy="4948033"/>
          </a:xfrm>
          <a:solidFill>
            <a:srgbClr val="2C578B"/>
          </a:solidFill>
          <a:effectLst>
            <a:outerShdw blurRad="50800" dist="38100" dir="2700000" algn="tl" rotWithShape="0">
              <a:prstClr val="black">
                <a:alpha val="40000"/>
              </a:prstClr>
            </a:outerShdw>
          </a:effectLst>
        </p:grpSpPr>
        <p:sp>
          <p:nvSpPr>
            <p:cNvPr id="4" name="Rectangle 3">
              <a:extLst>
                <a:ext uri="{FF2B5EF4-FFF2-40B4-BE49-F238E27FC236}">
                  <a16:creationId xmlns:a16="http://schemas.microsoft.com/office/drawing/2014/main" id="{B52A5784-20FF-EB0D-909A-B8F5DC48B99B}"/>
                </a:ext>
              </a:extLst>
            </p:cNvPr>
            <p:cNvSpPr/>
            <p:nvPr/>
          </p:nvSpPr>
          <p:spPr>
            <a:xfrm>
              <a:off x="180918" y="1263948"/>
              <a:ext cx="639986" cy="636469"/>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D229A229-FF29-7FC0-0BEA-95403864A623}"/>
                </a:ext>
              </a:extLst>
            </p:cNvPr>
            <p:cNvSpPr txBox="1"/>
            <p:nvPr/>
          </p:nvSpPr>
          <p:spPr>
            <a:xfrm>
              <a:off x="328548" y="1463496"/>
              <a:ext cx="361177" cy="237371"/>
            </a:xfrm>
            <a:prstGeom prst="rect">
              <a:avLst/>
            </a:prstGeom>
            <a:grpFill/>
          </p:spPr>
          <p:txBody>
            <a:bodyPr wrap="square" lIns="0" tIns="0" rIns="0" bIns="0" anchor="ctr">
              <a:spAutoFit/>
            </a:bodyPr>
            <a:lstStyle/>
            <a:p>
              <a:pPr algn="ctr">
                <a:lnSpc>
                  <a:spcPct val="110000"/>
                </a:lnSpc>
                <a:spcBef>
                  <a:spcPts val="0"/>
                </a:spcBef>
                <a:spcAft>
                  <a:spcPts val="0"/>
                </a:spcAft>
              </a:pPr>
              <a:r>
                <a:rPr lang="en-US" sz="1600" b="1" i="0" noProof="0">
                  <a:solidFill>
                    <a:srgbClr val="FFFFFF"/>
                  </a:solidFill>
                  <a:latin typeface="Arial" panose="020B0604020202020204" pitchFamily="34" charset="0"/>
                  <a:cs typeface="Arial" panose="020B0604020202020204" pitchFamily="34" charset="0"/>
                </a:rPr>
                <a:t>01</a:t>
              </a:r>
            </a:p>
          </p:txBody>
        </p:sp>
        <p:sp>
          <p:nvSpPr>
            <p:cNvPr id="9" name="Rectangle 8">
              <a:extLst>
                <a:ext uri="{FF2B5EF4-FFF2-40B4-BE49-F238E27FC236}">
                  <a16:creationId xmlns:a16="http://schemas.microsoft.com/office/drawing/2014/main" id="{CF435038-0657-BF8A-19D3-E3607CC171D3}"/>
                </a:ext>
              </a:extLst>
            </p:cNvPr>
            <p:cNvSpPr/>
            <p:nvPr/>
          </p:nvSpPr>
          <p:spPr>
            <a:xfrm>
              <a:off x="180918" y="1982542"/>
              <a:ext cx="639986" cy="636469"/>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974B817E-5017-EE81-086E-4D2AEF92575F}"/>
                </a:ext>
              </a:extLst>
            </p:cNvPr>
            <p:cNvSpPr txBox="1"/>
            <p:nvPr/>
          </p:nvSpPr>
          <p:spPr>
            <a:xfrm>
              <a:off x="328548" y="2182090"/>
              <a:ext cx="361177" cy="237371"/>
            </a:xfrm>
            <a:prstGeom prst="rect">
              <a:avLst/>
            </a:prstGeom>
            <a:grpFill/>
          </p:spPr>
          <p:txBody>
            <a:bodyPr wrap="square" lIns="0" tIns="0" rIns="0" bIns="0" anchor="ctr">
              <a:spAutoFit/>
            </a:bodyPr>
            <a:lstStyle/>
            <a:p>
              <a:pPr algn="ctr">
                <a:lnSpc>
                  <a:spcPct val="110000"/>
                </a:lnSpc>
                <a:spcBef>
                  <a:spcPts val="0"/>
                </a:spcBef>
                <a:spcAft>
                  <a:spcPts val="0"/>
                </a:spcAft>
              </a:pPr>
              <a:r>
                <a:rPr lang="en-US" sz="1600" b="1" i="0" noProof="0">
                  <a:solidFill>
                    <a:srgbClr val="FFFFFF"/>
                  </a:solidFill>
                  <a:latin typeface="Arial" panose="020B0604020202020204" pitchFamily="34" charset="0"/>
                  <a:cs typeface="Arial" panose="020B0604020202020204" pitchFamily="34" charset="0"/>
                </a:rPr>
                <a:t>02</a:t>
              </a:r>
            </a:p>
          </p:txBody>
        </p:sp>
        <p:sp>
          <p:nvSpPr>
            <p:cNvPr id="14" name="Rectangle 13">
              <a:extLst>
                <a:ext uri="{FF2B5EF4-FFF2-40B4-BE49-F238E27FC236}">
                  <a16:creationId xmlns:a16="http://schemas.microsoft.com/office/drawing/2014/main" id="{8A43BB93-7CC2-4ADD-E58B-F50F26F10DE7}"/>
                </a:ext>
              </a:extLst>
            </p:cNvPr>
            <p:cNvSpPr/>
            <p:nvPr/>
          </p:nvSpPr>
          <p:spPr>
            <a:xfrm>
              <a:off x="180918" y="2701136"/>
              <a:ext cx="639986" cy="636469"/>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0E7B6285-CD24-BBF7-4674-885A25C82CFD}"/>
                </a:ext>
              </a:extLst>
            </p:cNvPr>
            <p:cNvSpPr txBox="1"/>
            <p:nvPr/>
          </p:nvSpPr>
          <p:spPr>
            <a:xfrm>
              <a:off x="328548" y="2900684"/>
              <a:ext cx="361177" cy="237371"/>
            </a:xfrm>
            <a:prstGeom prst="rect">
              <a:avLst/>
            </a:prstGeom>
            <a:grpFill/>
          </p:spPr>
          <p:txBody>
            <a:bodyPr wrap="square" lIns="0" tIns="0" rIns="0" bIns="0" anchor="ctr">
              <a:spAutoFit/>
            </a:bodyPr>
            <a:lstStyle/>
            <a:p>
              <a:pPr algn="ctr">
                <a:lnSpc>
                  <a:spcPct val="110000"/>
                </a:lnSpc>
                <a:spcBef>
                  <a:spcPts val="0"/>
                </a:spcBef>
                <a:spcAft>
                  <a:spcPts val="0"/>
                </a:spcAft>
              </a:pPr>
              <a:r>
                <a:rPr lang="en-US" sz="1600" b="1" i="0" noProof="0">
                  <a:solidFill>
                    <a:srgbClr val="FFFFFF"/>
                  </a:solidFill>
                  <a:latin typeface="Arial" panose="020B0604020202020204" pitchFamily="34" charset="0"/>
                  <a:cs typeface="Arial" panose="020B0604020202020204" pitchFamily="34" charset="0"/>
                </a:rPr>
                <a:t>03</a:t>
              </a:r>
            </a:p>
          </p:txBody>
        </p:sp>
        <p:sp>
          <p:nvSpPr>
            <p:cNvPr id="19" name="Rectangle 18">
              <a:extLst>
                <a:ext uri="{FF2B5EF4-FFF2-40B4-BE49-F238E27FC236}">
                  <a16:creationId xmlns:a16="http://schemas.microsoft.com/office/drawing/2014/main" id="{85F102BB-DC4D-8F72-442C-80BCBAD92368}"/>
                </a:ext>
              </a:extLst>
            </p:cNvPr>
            <p:cNvSpPr/>
            <p:nvPr/>
          </p:nvSpPr>
          <p:spPr>
            <a:xfrm>
              <a:off x="180918" y="3419730"/>
              <a:ext cx="639986" cy="636469"/>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0" name="TextBox 19">
              <a:extLst>
                <a:ext uri="{FF2B5EF4-FFF2-40B4-BE49-F238E27FC236}">
                  <a16:creationId xmlns:a16="http://schemas.microsoft.com/office/drawing/2014/main" id="{064C2E11-10FB-73E9-036A-9FCC5080E806}"/>
                </a:ext>
              </a:extLst>
            </p:cNvPr>
            <p:cNvSpPr txBox="1"/>
            <p:nvPr/>
          </p:nvSpPr>
          <p:spPr>
            <a:xfrm>
              <a:off x="328548" y="3619278"/>
              <a:ext cx="361177" cy="237371"/>
            </a:xfrm>
            <a:prstGeom prst="rect">
              <a:avLst/>
            </a:prstGeom>
            <a:grpFill/>
          </p:spPr>
          <p:txBody>
            <a:bodyPr wrap="square" lIns="0" tIns="0" rIns="0" bIns="0" anchor="ctr">
              <a:spAutoFit/>
            </a:bodyPr>
            <a:lstStyle/>
            <a:p>
              <a:pPr algn="ctr">
                <a:lnSpc>
                  <a:spcPct val="110000"/>
                </a:lnSpc>
                <a:spcBef>
                  <a:spcPts val="0"/>
                </a:spcBef>
                <a:spcAft>
                  <a:spcPts val="0"/>
                </a:spcAft>
              </a:pPr>
              <a:r>
                <a:rPr lang="en-US" sz="1600" b="1" i="0" noProof="0">
                  <a:solidFill>
                    <a:srgbClr val="FFFFFF"/>
                  </a:solidFill>
                  <a:latin typeface="Arial" panose="020B0604020202020204" pitchFamily="34" charset="0"/>
                  <a:cs typeface="Arial" panose="020B0604020202020204" pitchFamily="34" charset="0"/>
                </a:rPr>
                <a:t>04</a:t>
              </a:r>
            </a:p>
          </p:txBody>
        </p:sp>
        <p:sp>
          <p:nvSpPr>
            <p:cNvPr id="24" name="Rectangle 23">
              <a:extLst>
                <a:ext uri="{FF2B5EF4-FFF2-40B4-BE49-F238E27FC236}">
                  <a16:creationId xmlns:a16="http://schemas.microsoft.com/office/drawing/2014/main" id="{2D1BFC8F-58E8-1E5D-172B-C10AC5CD3F65}"/>
                </a:ext>
              </a:extLst>
            </p:cNvPr>
            <p:cNvSpPr/>
            <p:nvPr/>
          </p:nvSpPr>
          <p:spPr>
            <a:xfrm>
              <a:off x="180918" y="4138324"/>
              <a:ext cx="639986" cy="636469"/>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5" name="TextBox 24">
              <a:extLst>
                <a:ext uri="{FF2B5EF4-FFF2-40B4-BE49-F238E27FC236}">
                  <a16:creationId xmlns:a16="http://schemas.microsoft.com/office/drawing/2014/main" id="{F39117DE-3648-FFD1-E719-EEFE4592B08F}"/>
                </a:ext>
              </a:extLst>
            </p:cNvPr>
            <p:cNvSpPr txBox="1"/>
            <p:nvPr/>
          </p:nvSpPr>
          <p:spPr>
            <a:xfrm>
              <a:off x="328548" y="4337872"/>
              <a:ext cx="361177" cy="237371"/>
            </a:xfrm>
            <a:prstGeom prst="rect">
              <a:avLst/>
            </a:prstGeom>
            <a:grpFill/>
          </p:spPr>
          <p:txBody>
            <a:bodyPr wrap="square" lIns="0" tIns="0" rIns="0" bIns="0" anchor="ctr">
              <a:spAutoFit/>
            </a:bodyPr>
            <a:lstStyle/>
            <a:p>
              <a:pPr algn="ctr">
                <a:lnSpc>
                  <a:spcPct val="110000"/>
                </a:lnSpc>
                <a:spcBef>
                  <a:spcPts val="0"/>
                </a:spcBef>
                <a:spcAft>
                  <a:spcPts val="0"/>
                </a:spcAft>
              </a:pPr>
              <a:r>
                <a:rPr lang="en-US" sz="1600" b="1" i="0" noProof="0">
                  <a:solidFill>
                    <a:srgbClr val="FFFFFF"/>
                  </a:solidFill>
                  <a:latin typeface="Arial" panose="020B0604020202020204" pitchFamily="34" charset="0"/>
                  <a:cs typeface="Arial" panose="020B0604020202020204" pitchFamily="34" charset="0"/>
                </a:rPr>
                <a:t>05</a:t>
              </a:r>
            </a:p>
          </p:txBody>
        </p:sp>
        <p:sp>
          <p:nvSpPr>
            <p:cNvPr id="29" name="Rectangle 28">
              <a:extLst>
                <a:ext uri="{FF2B5EF4-FFF2-40B4-BE49-F238E27FC236}">
                  <a16:creationId xmlns:a16="http://schemas.microsoft.com/office/drawing/2014/main" id="{4A0BA51D-696B-A73F-40BE-3AFBAA50228B}"/>
                </a:ext>
              </a:extLst>
            </p:cNvPr>
            <p:cNvSpPr/>
            <p:nvPr/>
          </p:nvSpPr>
          <p:spPr>
            <a:xfrm>
              <a:off x="180918" y="4856918"/>
              <a:ext cx="639986" cy="636469"/>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0" name="TextBox 29">
              <a:extLst>
                <a:ext uri="{FF2B5EF4-FFF2-40B4-BE49-F238E27FC236}">
                  <a16:creationId xmlns:a16="http://schemas.microsoft.com/office/drawing/2014/main" id="{D191377D-06BA-5356-A657-64D1194BF15D}"/>
                </a:ext>
              </a:extLst>
            </p:cNvPr>
            <p:cNvSpPr txBox="1"/>
            <p:nvPr/>
          </p:nvSpPr>
          <p:spPr>
            <a:xfrm>
              <a:off x="328548" y="5056466"/>
              <a:ext cx="361177" cy="237371"/>
            </a:xfrm>
            <a:prstGeom prst="rect">
              <a:avLst/>
            </a:prstGeom>
            <a:grpFill/>
          </p:spPr>
          <p:txBody>
            <a:bodyPr wrap="square" lIns="0" tIns="0" rIns="0" bIns="0" anchor="ctr">
              <a:spAutoFit/>
            </a:bodyPr>
            <a:lstStyle/>
            <a:p>
              <a:pPr algn="ctr">
                <a:lnSpc>
                  <a:spcPct val="110000"/>
                </a:lnSpc>
                <a:spcBef>
                  <a:spcPts val="0"/>
                </a:spcBef>
                <a:spcAft>
                  <a:spcPts val="0"/>
                </a:spcAft>
              </a:pPr>
              <a:r>
                <a:rPr lang="en-US" sz="1600" b="1" i="0" noProof="0">
                  <a:solidFill>
                    <a:srgbClr val="FFFFFF"/>
                  </a:solidFill>
                  <a:latin typeface="Arial" panose="020B0604020202020204" pitchFamily="34" charset="0"/>
                  <a:cs typeface="Arial" panose="020B0604020202020204" pitchFamily="34" charset="0"/>
                </a:rPr>
                <a:t>06</a:t>
              </a:r>
            </a:p>
          </p:txBody>
        </p:sp>
        <p:sp>
          <p:nvSpPr>
            <p:cNvPr id="34" name="Rectangle 33">
              <a:extLst>
                <a:ext uri="{FF2B5EF4-FFF2-40B4-BE49-F238E27FC236}">
                  <a16:creationId xmlns:a16="http://schemas.microsoft.com/office/drawing/2014/main" id="{DCE69145-A1D8-B0B3-2E8E-BEEA28B9EB08}"/>
                </a:ext>
              </a:extLst>
            </p:cNvPr>
            <p:cNvSpPr/>
            <p:nvPr/>
          </p:nvSpPr>
          <p:spPr>
            <a:xfrm>
              <a:off x="180918" y="5575512"/>
              <a:ext cx="639986" cy="636469"/>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5" name="TextBox 34">
              <a:extLst>
                <a:ext uri="{FF2B5EF4-FFF2-40B4-BE49-F238E27FC236}">
                  <a16:creationId xmlns:a16="http://schemas.microsoft.com/office/drawing/2014/main" id="{AE0D6EEC-2B2C-801E-FAF5-A487B54A2418}"/>
                </a:ext>
              </a:extLst>
            </p:cNvPr>
            <p:cNvSpPr txBox="1"/>
            <p:nvPr/>
          </p:nvSpPr>
          <p:spPr>
            <a:xfrm>
              <a:off x="328548" y="5775060"/>
              <a:ext cx="361177" cy="237371"/>
            </a:xfrm>
            <a:prstGeom prst="rect">
              <a:avLst/>
            </a:prstGeom>
            <a:grpFill/>
          </p:spPr>
          <p:txBody>
            <a:bodyPr wrap="square" lIns="0" tIns="0" rIns="0" bIns="0" anchor="ctr">
              <a:spAutoFit/>
            </a:bodyPr>
            <a:lstStyle/>
            <a:p>
              <a:pPr algn="ctr">
                <a:lnSpc>
                  <a:spcPct val="110000"/>
                </a:lnSpc>
                <a:spcBef>
                  <a:spcPts val="0"/>
                </a:spcBef>
                <a:spcAft>
                  <a:spcPts val="0"/>
                </a:spcAft>
              </a:pPr>
              <a:r>
                <a:rPr lang="en-US" sz="1600" b="1" i="0" noProof="0">
                  <a:solidFill>
                    <a:srgbClr val="FFFFFF"/>
                  </a:solidFill>
                  <a:latin typeface="Arial" panose="020B0604020202020204" pitchFamily="34" charset="0"/>
                  <a:cs typeface="Arial" panose="020B0604020202020204" pitchFamily="34" charset="0"/>
                </a:rPr>
                <a:t>07</a:t>
              </a:r>
            </a:p>
          </p:txBody>
        </p:sp>
      </p:grpSp>
      <p:sp>
        <p:nvSpPr>
          <p:cNvPr id="36" name="TextBox 35">
            <a:extLst>
              <a:ext uri="{FF2B5EF4-FFF2-40B4-BE49-F238E27FC236}">
                <a16:creationId xmlns:a16="http://schemas.microsoft.com/office/drawing/2014/main" id="{48237032-8BF7-01F1-40D7-DDF1133B27DC}"/>
              </a:ext>
            </a:extLst>
          </p:cNvPr>
          <p:cNvSpPr txBox="1"/>
          <p:nvPr/>
        </p:nvSpPr>
        <p:spPr>
          <a:xfrm>
            <a:off x="919524" y="5754257"/>
            <a:ext cx="6537890" cy="203004"/>
          </a:xfrm>
          <a:prstGeom prst="rect">
            <a:avLst/>
          </a:prstGeom>
          <a:noFill/>
        </p:spPr>
        <p:txBody>
          <a:bodyPr wrap="square" lIns="0" tIns="0" rIns="0" bIns="0" anchor="t">
            <a:spAutoFit/>
          </a:bodyPr>
          <a:lstStyle/>
          <a:p>
            <a:pPr>
              <a:lnSpc>
                <a:spcPct val="110000"/>
              </a:lnSpc>
              <a:spcBef>
                <a:spcPts val="0"/>
              </a:spcBef>
              <a:spcAft>
                <a:spcPts val="0"/>
              </a:spcAft>
            </a:pPr>
            <a:r>
              <a:rPr lang="en-US" sz="1300" b="1" noProof="0">
                <a:solidFill>
                  <a:srgbClr val="6785C1"/>
                </a:solidFill>
                <a:latin typeface="Arial" panose="020B0604020202020204" pitchFamily="34" charset="0"/>
                <a:cs typeface="Arial" panose="020B0604020202020204" pitchFamily="34" charset="0"/>
              </a:rPr>
              <a:t>No Product Ownership Model</a:t>
            </a:r>
          </a:p>
        </p:txBody>
      </p:sp>
      <p:sp>
        <p:nvSpPr>
          <p:cNvPr id="37" name="TextBox 36">
            <a:extLst>
              <a:ext uri="{FF2B5EF4-FFF2-40B4-BE49-F238E27FC236}">
                <a16:creationId xmlns:a16="http://schemas.microsoft.com/office/drawing/2014/main" id="{E0128705-A363-CB31-1DEA-01F6FDAA2EE7}"/>
              </a:ext>
            </a:extLst>
          </p:cNvPr>
          <p:cNvSpPr txBox="1"/>
          <p:nvPr/>
        </p:nvSpPr>
        <p:spPr>
          <a:xfrm>
            <a:off x="919524" y="5966732"/>
            <a:ext cx="6363262" cy="494687"/>
          </a:xfrm>
          <a:prstGeom prst="rect">
            <a:avLst/>
          </a:prstGeom>
          <a:noFill/>
        </p:spPr>
        <p:txBody>
          <a:bodyPr wrap="square" lIns="0" tIns="0" rIns="0" bIns="0" anchor="t">
            <a:spAutoFit/>
          </a:bodyPr>
          <a:lstStyle/>
          <a:p>
            <a:pPr>
              <a:lnSpc>
                <a:spcPct val="110000"/>
              </a:lnSpc>
            </a:pPr>
            <a:r>
              <a:rPr lang="en-US" sz="1000" noProof="0">
                <a:latin typeface="Arial" panose="020B0604020202020204" pitchFamily="34" charset="0"/>
                <a:cs typeface="Arial" panose="020B0604020202020204" pitchFamily="34" charset="0"/>
              </a:rPr>
              <a:t>Work is organized around projects and applications, with limited alignment to value streams or business outcomes</a:t>
            </a:r>
            <a:r>
              <a:rPr lang="en-US" sz="1000" i="1" noProof="0">
                <a:solidFill>
                  <a:schemeClr val="bg2">
                    <a:lumMod val="50000"/>
                  </a:schemeClr>
                </a:solidFill>
                <a:latin typeface="Arial" panose="020B0604020202020204" pitchFamily="34" charset="0"/>
                <a:cs typeface="Arial" panose="020B0604020202020204" pitchFamily="34" charset="0"/>
              </a:rPr>
              <a:t>.</a:t>
            </a:r>
          </a:p>
          <a:p>
            <a:pPr>
              <a:lnSpc>
                <a:spcPct val="110000"/>
              </a:lnSpc>
            </a:pPr>
            <a:r>
              <a:rPr lang="en-US" sz="1000" i="1" noProof="0">
                <a:solidFill>
                  <a:schemeClr val="bg2">
                    <a:lumMod val="50000"/>
                  </a:schemeClr>
                </a:solidFill>
                <a:latin typeface="Arial" panose="020B0604020202020204" pitchFamily="34" charset="0"/>
                <a:cs typeface="Arial" panose="020B0604020202020204" pitchFamily="34" charset="0"/>
              </a:rPr>
              <a:t>(Demand is organized by application silo, not by Value Stream. IT requests don't trace to business OKRs)</a:t>
            </a:r>
          </a:p>
        </p:txBody>
      </p:sp>
      <p:sp>
        <p:nvSpPr>
          <p:cNvPr id="38" name="TextBox 37">
            <a:extLst>
              <a:ext uri="{FF2B5EF4-FFF2-40B4-BE49-F238E27FC236}">
                <a16:creationId xmlns:a16="http://schemas.microsoft.com/office/drawing/2014/main" id="{E94189D2-CB94-CA40-9AC6-8DFA6CA8AC2C}"/>
              </a:ext>
            </a:extLst>
          </p:cNvPr>
          <p:cNvSpPr txBox="1"/>
          <p:nvPr/>
        </p:nvSpPr>
        <p:spPr>
          <a:xfrm>
            <a:off x="7649703" y="5945669"/>
            <a:ext cx="4199398" cy="363369"/>
          </a:xfrm>
          <a:prstGeom prst="rect">
            <a:avLst/>
          </a:prstGeom>
          <a:noFill/>
        </p:spPr>
        <p:txBody>
          <a:bodyPr wrap="square" lIns="0" tIns="0" rIns="0" bIns="0" anchor="ctr">
            <a:spAutoFit/>
          </a:bodyPr>
          <a:lstStyle/>
          <a:p>
            <a:pPr algn="just">
              <a:lnSpc>
                <a:spcPct val="110000"/>
              </a:lnSpc>
            </a:pPr>
            <a:r>
              <a:rPr lang="en-US" sz="1100" noProof="0">
                <a:latin typeface="Arial" panose="020B0604020202020204" pitchFamily="34" charset="0"/>
                <a:cs typeface="Arial" panose="020B0604020202020204" pitchFamily="34" charset="0"/>
              </a:rPr>
              <a:t>Product model requires </a:t>
            </a:r>
            <a:r>
              <a:rPr lang="en-US" sz="1100" b="1" noProof="0">
                <a:latin typeface="Arial" panose="020B0604020202020204" pitchFamily="34" charset="0"/>
                <a:cs typeface="Arial" panose="020B0604020202020204" pitchFamily="34" charset="0"/>
              </a:rPr>
              <a:t>organizing around products, with clear ownership and alignment </a:t>
            </a:r>
            <a:r>
              <a:rPr lang="en-US" sz="1100" noProof="0">
                <a:latin typeface="Arial" panose="020B0604020202020204" pitchFamily="34" charset="0"/>
                <a:cs typeface="Arial" panose="020B0604020202020204" pitchFamily="34" charset="0"/>
              </a:rPr>
              <a:t>to business OKRs.</a:t>
            </a:r>
            <a:endParaRPr lang="en-US" sz="1100" i="1" noProof="0">
              <a:latin typeface="Arial" panose="020B0604020202020204" pitchFamily="34" charset="0"/>
              <a:cs typeface="Arial" panose="020B0604020202020204" pitchFamily="34" charset="0"/>
            </a:endParaRPr>
          </a:p>
        </p:txBody>
      </p:sp>
      <p:sp>
        <p:nvSpPr>
          <p:cNvPr id="54" name="Título 2">
            <a:extLst>
              <a:ext uri="{FF2B5EF4-FFF2-40B4-BE49-F238E27FC236}">
                <a16:creationId xmlns:a16="http://schemas.microsoft.com/office/drawing/2014/main" id="{03F623F5-EFD2-9D38-22C1-128E9190C211}"/>
              </a:ext>
            </a:extLst>
          </p:cNvPr>
          <p:cNvSpPr txBox="1">
            <a:spLocks/>
          </p:cNvSpPr>
          <p:nvPr/>
        </p:nvSpPr>
        <p:spPr>
          <a:xfrm>
            <a:off x="180917" y="127319"/>
            <a:ext cx="8915457" cy="514011"/>
          </a:xfrm>
          <a:prstGeom prst="rect">
            <a:avLst/>
          </a:prstGeom>
        </p:spPr>
        <p:txBody>
          <a:bodyPr anchor="ctr">
            <a:noAutofit/>
          </a:bodyPr>
          <a:lstStyle>
            <a:defPPr>
              <a:defRPr lang="en-US"/>
            </a:defPPr>
            <a:lvl1pPr marR="0" lvl="0" indent="0" fontAlgn="auto">
              <a:lnSpc>
                <a:spcPct val="90000"/>
              </a:lnSpc>
              <a:spcBef>
                <a:spcPct val="0"/>
              </a:spcBef>
              <a:spcAft>
                <a:spcPts val="0"/>
              </a:spcAft>
              <a:buClrTx/>
              <a:buSzTx/>
              <a:buFontTx/>
              <a:buNone/>
              <a:tabLst/>
              <a:defRPr kumimoji="0" sz="2400" b="1" i="0" u="none" strike="noStrike" cap="none" spc="0" normalizeH="0" baseline="0">
                <a:ln>
                  <a:noFill/>
                </a:ln>
                <a:solidFill>
                  <a:prstClr val="white"/>
                </a:solidFill>
                <a:effectLst/>
                <a:uLnTx/>
                <a:uFillTx/>
                <a:latin typeface="Arial" panose="020B0604020202020204" pitchFamily="34" charset="0"/>
                <a:ea typeface="+mj-ea"/>
                <a:cs typeface="Arial" panose="020B0604020202020204" pitchFamily="34" charset="0"/>
              </a:defRPr>
            </a:lvl1pPr>
          </a:lstStyle>
          <a:p>
            <a:r>
              <a:rPr lang="en-US" noProof="0">
                <a:sym typeface="Gordita"/>
              </a:rPr>
              <a:t>INSIGHTS &amp; KEY DEFINITIONS FOR THE TO-BE MODEL</a:t>
            </a:r>
          </a:p>
          <a:p>
            <a:r>
              <a:rPr lang="en-US" sz="1200" noProof="0"/>
              <a:t>STRUCTURAL MISALIGNMENT</a:t>
            </a:r>
          </a:p>
        </p:txBody>
      </p:sp>
      <p:sp>
        <p:nvSpPr>
          <p:cNvPr id="56" name="TextBox 55">
            <a:extLst>
              <a:ext uri="{FF2B5EF4-FFF2-40B4-BE49-F238E27FC236}">
                <a16:creationId xmlns:a16="http://schemas.microsoft.com/office/drawing/2014/main" id="{A42BB739-0AD3-F30C-96BB-BF0DD68CB1B0}"/>
              </a:ext>
            </a:extLst>
          </p:cNvPr>
          <p:cNvSpPr txBox="1"/>
          <p:nvPr/>
        </p:nvSpPr>
        <p:spPr>
          <a:xfrm>
            <a:off x="246506" y="844917"/>
            <a:ext cx="11274552" cy="215444"/>
          </a:xfrm>
          <a:prstGeom prst="rect">
            <a:avLst/>
          </a:prstGeom>
          <a:noFill/>
        </p:spPr>
        <p:txBody>
          <a:bodyPr wrap="square" lIns="0" tIns="0" rIns="0" bIns="0" rtlCol="0">
            <a:noAutofit/>
          </a:bodyPr>
          <a:lstStyle>
            <a:defPPr>
              <a:defRPr lang="en-US"/>
            </a:defPPr>
            <a:lvl1pPr marR="0" lvl="0" indent="0" algn="just" fontAlgn="auto">
              <a:lnSpc>
                <a:spcPct val="100000"/>
              </a:lnSpc>
              <a:spcBef>
                <a:spcPts val="0"/>
              </a:spcBef>
              <a:spcAft>
                <a:spcPts val="0"/>
              </a:spcAft>
              <a:buClrTx/>
              <a:buSzTx/>
              <a:buFontTx/>
              <a:buNone/>
              <a:tabLst/>
              <a:defRPr kumimoji="0" sz="1400" b="1" i="0" u="none" strike="noStrike" cap="none" spc="0" normalizeH="0" baseline="0">
                <a:ln>
                  <a:noFill/>
                </a:ln>
                <a:solidFill>
                  <a:srgbClr val="0F9ED5">
                    <a:lumMod val="75000"/>
                  </a:srgbClr>
                </a:solidFill>
                <a:effectLst/>
                <a:uLnTx/>
                <a:uFillTx/>
                <a:latin typeface="Arial" panose="020B0604020202020204" pitchFamily="34" charset="0"/>
                <a:cs typeface="Arial" panose="020B0604020202020204" pitchFamily="34" charset="0"/>
              </a:defRPr>
            </a:lvl1pPr>
            <a:lvl2pPr marL="228586" eaLnBrk="0" fontAlgn="base" hangingPunct="0">
              <a:spcBef>
                <a:spcPct val="0"/>
              </a:spcBef>
              <a:spcAft>
                <a:spcPct val="0"/>
              </a:spcAft>
              <a:defRPr>
                <a:latin typeface="Arial" pitchFamily="2" charset="77"/>
              </a:defRPr>
            </a:lvl2pPr>
            <a:lvl3pPr marL="457172" eaLnBrk="0" fontAlgn="base" hangingPunct="0">
              <a:spcBef>
                <a:spcPct val="0"/>
              </a:spcBef>
              <a:spcAft>
                <a:spcPct val="0"/>
              </a:spcAft>
              <a:defRPr>
                <a:latin typeface="Arial" pitchFamily="2" charset="77"/>
              </a:defRPr>
            </a:lvl3pPr>
            <a:lvl4pPr marL="685757" eaLnBrk="0" fontAlgn="base" hangingPunct="0">
              <a:spcBef>
                <a:spcPct val="0"/>
              </a:spcBef>
              <a:spcAft>
                <a:spcPct val="0"/>
              </a:spcAft>
              <a:defRPr>
                <a:latin typeface="Arial" pitchFamily="2" charset="77"/>
              </a:defRPr>
            </a:lvl4pPr>
            <a:lvl5pPr marL="914343" eaLnBrk="0" fontAlgn="base" hangingPunct="0">
              <a:spcBef>
                <a:spcPct val="0"/>
              </a:spcBef>
              <a:spcAft>
                <a:spcPct val="0"/>
              </a:spcAft>
              <a:defRPr>
                <a:latin typeface="Arial" pitchFamily="2" charset="77"/>
              </a:defRPr>
            </a:lvl5pPr>
            <a:lvl6pPr marL="1142929" defTabSz="457172">
              <a:defRPr>
                <a:latin typeface="Arial" pitchFamily="2" charset="77"/>
              </a:defRPr>
            </a:lvl6pPr>
            <a:lvl7pPr marL="1371515" defTabSz="457172">
              <a:defRPr>
                <a:latin typeface="Arial" pitchFamily="2" charset="77"/>
              </a:defRPr>
            </a:lvl7pPr>
            <a:lvl8pPr marL="1600100" defTabSz="457172">
              <a:defRPr>
                <a:latin typeface="Arial" pitchFamily="2" charset="77"/>
              </a:defRPr>
            </a:lvl8pPr>
            <a:lvl9pPr marL="1828686" defTabSz="457172">
              <a:defRPr>
                <a:latin typeface="Arial" pitchFamily="2" charset="77"/>
              </a:defRPr>
            </a:lvl9pPr>
          </a:lstStyle>
          <a:p>
            <a:r>
              <a:rPr lang="en-US" noProof="0"/>
              <a:t>Seven structural issues surface — no single-area fix resolves them; the TOM must standardize end-to-end</a:t>
            </a:r>
          </a:p>
        </p:txBody>
      </p:sp>
      <p:cxnSp>
        <p:nvCxnSpPr>
          <p:cNvPr id="39" name="Straight Connector 38">
            <a:extLst>
              <a:ext uri="{FF2B5EF4-FFF2-40B4-BE49-F238E27FC236}">
                <a16:creationId xmlns:a16="http://schemas.microsoft.com/office/drawing/2014/main" id="{F481F9A8-FF32-E815-DE48-2A44153EFBBE}"/>
              </a:ext>
            </a:extLst>
          </p:cNvPr>
          <p:cNvCxnSpPr>
            <a:cxnSpLocks/>
          </p:cNvCxnSpPr>
          <p:nvPr/>
        </p:nvCxnSpPr>
        <p:spPr>
          <a:xfrm flipV="1">
            <a:off x="180918" y="1909814"/>
            <a:ext cx="11668182" cy="15774"/>
          </a:xfrm>
          <a:prstGeom prst="line">
            <a:avLst/>
          </a:prstGeom>
          <a:ln>
            <a:solidFill>
              <a:srgbClr val="6785C1"/>
            </a:solidFill>
          </a:ln>
        </p:spPr>
        <p:style>
          <a:lnRef idx="2">
            <a:schemeClr val="accent3"/>
          </a:lnRef>
          <a:fillRef idx="0">
            <a:schemeClr val="accent3"/>
          </a:fillRef>
          <a:effectRef idx="1">
            <a:schemeClr val="accent3"/>
          </a:effectRef>
          <a:fontRef idx="minor">
            <a:schemeClr val="tx1"/>
          </a:fontRef>
        </p:style>
      </p:cxnSp>
      <p:cxnSp>
        <p:nvCxnSpPr>
          <p:cNvPr id="41" name="Straight Connector 40">
            <a:extLst>
              <a:ext uri="{FF2B5EF4-FFF2-40B4-BE49-F238E27FC236}">
                <a16:creationId xmlns:a16="http://schemas.microsoft.com/office/drawing/2014/main" id="{2099AB10-EA7B-3827-E78A-558A8822F000}"/>
              </a:ext>
            </a:extLst>
          </p:cNvPr>
          <p:cNvCxnSpPr>
            <a:cxnSpLocks/>
          </p:cNvCxnSpPr>
          <p:nvPr/>
        </p:nvCxnSpPr>
        <p:spPr>
          <a:xfrm flipV="1">
            <a:off x="180918" y="2663161"/>
            <a:ext cx="11668182" cy="15774"/>
          </a:xfrm>
          <a:prstGeom prst="line">
            <a:avLst/>
          </a:prstGeom>
          <a:ln>
            <a:solidFill>
              <a:srgbClr val="6785C1"/>
            </a:solidFill>
          </a:ln>
        </p:spPr>
        <p:style>
          <a:lnRef idx="2">
            <a:schemeClr val="accent3"/>
          </a:lnRef>
          <a:fillRef idx="0">
            <a:schemeClr val="accent3"/>
          </a:fillRef>
          <a:effectRef idx="1">
            <a:schemeClr val="accent3"/>
          </a:effectRef>
          <a:fontRef idx="minor">
            <a:schemeClr val="tx1"/>
          </a:fontRef>
        </p:style>
      </p:cxnSp>
      <p:cxnSp>
        <p:nvCxnSpPr>
          <p:cNvPr id="42" name="Straight Connector 41">
            <a:extLst>
              <a:ext uri="{FF2B5EF4-FFF2-40B4-BE49-F238E27FC236}">
                <a16:creationId xmlns:a16="http://schemas.microsoft.com/office/drawing/2014/main" id="{072BF85D-C85D-4DCB-E521-A2396133702F}"/>
              </a:ext>
            </a:extLst>
          </p:cNvPr>
          <p:cNvCxnSpPr>
            <a:cxnSpLocks/>
          </p:cNvCxnSpPr>
          <p:nvPr/>
        </p:nvCxnSpPr>
        <p:spPr>
          <a:xfrm flipV="1">
            <a:off x="180918" y="3427289"/>
            <a:ext cx="11668182" cy="15774"/>
          </a:xfrm>
          <a:prstGeom prst="line">
            <a:avLst/>
          </a:prstGeom>
          <a:ln>
            <a:solidFill>
              <a:srgbClr val="6785C1"/>
            </a:solidFill>
          </a:ln>
        </p:spPr>
        <p:style>
          <a:lnRef idx="2">
            <a:schemeClr val="accent3"/>
          </a:lnRef>
          <a:fillRef idx="0">
            <a:schemeClr val="accent3"/>
          </a:fillRef>
          <a:effectRef idx="1">
            <a:schemeClr val="accent3"/>
          </a:effectRef>
          <a:fontRef idx="minor">
            <a:schemeClr val="tx1"/>
          </a:fontRef>
        </p:style>
      </p:cxnSp>
      <p:cxnSp>
        <p:nvCxnSpPr>
          <p:cNvPr id="43" name="Straight Connector 42">
            <a:extLst>
              <a:ext uri="{FF2B5EF4-FFF2-40B4-BE49-F238E27FC236}">
                <a16:creationId xmlns:a16="http://schemas.microsoft.com/office/drawing/2014/main" id="{5F173203-1E08-C71A-1317-A1147BAE147E}"/>
              </a:ext>
            </a:extLst>
          </p:cNvPr>
          <p:cNvCxnSpPr>
            <a:cxnSpLocks/>
          </p:cNvCxnSpPr>
          <p:nvPr/>
        </p:nvCxnSpPr>
        <p:spPr>
          <a:xfrm flipV="1">
            <a:off x="180918" y="4180332"/>
            <a:ext cx="11668182" cy="15774"/>
          </a:xfrm>
          <a:prstGeom prst="line">
            <a:avLst/>
          </a:prstGeom>
          <a:ln>
            <a:solidFill>
              <a:srgbClr val="6785C1"/>
            </a:solidFill>
          </a:ln>
        </p:spPr>
        <p:style>
          <a:lnRef idx="2">
            <a:schemeClr val="accent3"/>
          </a:lnRef>
          <a:fillRef idx="0">
            <a:schemeClr val="accent3"/>
          </a:fillRef>
          <a:effectRef idx="1">
            <a:schemeClr val="accent3"/>
          </a:effectRef>
          <a:fontRef idx="minor">
            <a:schemeClr val="tx1"/>
          </a:fontRef>
        </p:style>
      </p:cxnSp>
      <p:cxnSp>
        <p:nvCxnSpPr>
          <p:cNvPr id="44" name="Straight Connector 43">
            <a:extLst>
              <a:ext uri="{FF2B5EF4-FFF2-40B4-BE49-F238E27FC236}">
                <a16:creationId xmlns:a16="http://schemas.microsoft.com/office/drawing/2014/main" id="{526AB619-419A-C74C-D5A9-C48E13A7F1AB}"/>
              </a:ext>
            </a:extLst>
          </p:cNvPr>
          <p:cNvCxnSpPr>
            <a:cxnSpLocks/>
          </p:cNvCxnSpPr>
          <p:nvPr/>
        </p:nvCxnSpPr>
        <p:spPr>
          <a:xfrm flipV="1">
            <a:off x="180918" y="4942556"/>
            <a:ext cx="11668182" cy="15774"/>
          </a:xfrm>
          <a:prstGeom prst="line">
            <a:avLst/>
          </a:prstGeom>
          <a:ln>
            <a:solidFill>
              <a:srgbClr val="6785C1"/>
            </a:solidFill>
          </a:ln>
        </p:spPr>
        <p:style>
          <a:lnRef idx="2">
            <a:schemeClr val="accent3"/>
          </a:lnRef>
          <a:fillRef idx="0">
            <a:schemeClr val="accent3"/>
          </a:fillRef>
          <a:effectRef idx="1">
            <a:schemeClr val="accent3"/>
          </a:effectRef>
          <a:fontRef idx="minor">
            <a:schemeClr val="tx1"/>
          </a:fontRef>
        </p:style>
      </p:cxnSp>
      <p:cxnSp>
        <p:nvCxnSpPr>
          <p:cNvPr id="45" name="Straight Connector 44">
            <a:extLst>
              <a:ext uri="{FF2B5EF4-FFF2-40B4-BE49-F238E27FC236}">
                <a16:creationId xmlns:a16="http://schemas.microsoft.com/office/drawing/2014/main" id="{2C26084E-7FBD-D69E-427B-B954F9D11C8E}"/>
              </a:ext>
            </a:extLst>
          </p:cNvPr>
          <p:cNvCxnSpPr>
            <a:cxnSpLocks/>
          </p:cNvCxnSpPr>
          <p:nvPr/>
        </p:nvCxnSpPr>
        <p:spPr>
          <a:xfrm flipV="1">
            <a:off x="180918" y="5693371"/>
            <a:ext cx="11668182" cy="15774"/>
          </a:xfrm>
          <a:prstGeom prst="line">
            <a:avLst/>
          </a:prstGeom>
          <a:ln>
            <a:solidFill>
              <a:srgbClr val="6785C1"/>
            </a:solidFill>
          </a:ln>
        </p:spPr>
        <p:style>
          <a:lnRef idx="2">
            <a:schemeClr val="accent3"/>
          </a:lnRef>
          <a:fillRef idx="0">
            <a:schemeClr val="accent3"/>
          </a:fillRef>
          <a:effectRef idx="1">
            <a:schemeClr val="accent3"/>
          </a:effectRef>
          <a:fontRef idx="minor">
            <a:schemeClr val="tx1"/>
          </a:fontRef>
        </p:style>
      </p:cxnSp>
      <p:sp>
        <p:nvSpPr>
          <p:cNvPr id="46" name="Arrow: Chevron 45">
            <a:extLst>
              <a:ext uri="{FF2B5EF4-FFF2-40B4-BE49-F238E27FC236}">
                <a16:creationId xmlns:a16="http://schemas.microsoft.com/office/drawing/2014/main" id="{4BFA41C6-61B8-4738-9A9C-2CE7999EF801}"/>
              </a:ext>
            </a:extLst>
          </p:cNvPr>
          <p:cNvSpPr/>
          <p:nvPr/>
        </p:nvSpPr>
        <p:spPr>
          <a:xfrm>
            <a:off x="7248324" y="1492692"/>
            <a:ext cx="161465" cy="161152"/>
          </a:xfrm>
          <a:prstGeom prst="chevron">
            <a:avLst/>
          </a:prstGeom>
          <a:solidFill>
            <a:srgbClr val="2C578B"/>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solidFill>
                <a:schemeClr val="tx1"/>
              </a:solidFill>
            </a:endParaRPr>
          </a:p>
        </p:txBody>
      </p:sp>
      <p:sp>
        <p:nvSpPr>
          <p:cNvPr id="47" name="Arrow: Chevron 46">
            <a:extLst>
              <a:ext uri="{FF2B5EF4-FFF2-40B4-BE49-F238E27FC236}">
                <a16:creationId xmlns:a16="http://schemas.microsoft.com/office/drawing/2014/main" id="{ADF155AE-1B56-925C-6DCA-6C878B700744}"/>
              </a:ext>
            </a:extLst>
          </p:cNvPr>
          <p:cNvSpPr/>
          <p:nvPr/>
        </p:nvSpPr>
        <p:spPr>
          <a:xfrm>
            <a:off x="7263736" y="2242220"/>
            <a:ext cx="161465" cy="161152"/>
          </a:xfrm>
          <a:prstGeom prst="chevron">
            <a:avLst/>
          </a:prstGeom>
          <a:solidFill>
            <a:srgbClr val="2C578B"/>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solidFill>
                <a:schemeClr val="tx1"/>
              </a:solidFill>
            </a:endParaRPr>
          </a:p>
        </p:txBody>
      </p:sp>
      <p:sp>
        <p:nvSpPr>
          <p:cNvPr id="48" name="Arrow: Chevron 47">
            <a:extLst>
              <a:ext uri="{FF2B5EF4-FFF2-40B4-BE49-F238E27FC236}">
                <a16:creationId xmlns:a16="http://schemas.microsoft.com/office/drawing/2014/main" id="{58E04829-2F60-A40E-715B-FC6E9B7ACE64}"/>
              </a:ext>
            </a:extLst>
          </p:cNvPr>
          <p:cNvSpPr/>
          <p:nvPr/>
        </p:nvSpPr>
        <p:spPr>
          <a:xfrm>
            <a:off x="7290338" y="3002473"/>
            <a:ext cx="161465" cy="161152"/>
          </a:xfrm>
          <a:prstGeom prst="chevron">
            <a:avLst/>
          </a:prstGeom>
          <a:solidFill>
            <a:srgbClr val="2C578B"/>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solidFill>
                <a:schemeClr val="tx1"/>
              </a:solidFill>
            </a:endParaRPr>
          </a:p>
        </p:txBody>
      </p:sp>
      <p:sp>
        <p:nvSpPr>
          <p:cNvPr id="49" name="Arrow: Chevron 48">
            <a:extLst>
              <a:ext uri="{FF2B5EF4-FFF2-40B4-BE49-F238E27FC236}">
                <a16:creationId xmlns:a16="http://schemas.microsoft.com/office/drawing/2014/main" id="{D9C7EBDF-DE92-3CEA-2ADE-C1D7F564F524}"/>
              </a:ext>
            </a:extLst>
          </p:cNvPr>
          <p:cNvSpPr/>
          <p:nvPr/>
        </p:nvSpPr>
        <p:spPr>
          <a:xfrm>
            <a:off x="7290338" y="3761742"/>
            <a:ext cx="161465" cy="161152"/>
          </a:xfrm>
          <a:prstGeom prst="chevron">
            <a:avLst/>
          </a:prstGeom>
          <a:solidFill>
            <a:srgbClr val="2C578B"/>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solidFill>
                <a:schemeClr val="tx1"/>
              </a:solidFill>
            </a:endParaRPr>
          </a:p>
        </p:txBody>
      </p:sp>
      <p:sp>
        <p:nvSpPr>
          <p:cNvPr id="50" name="Arrow: Chevron 49">
            <a:extLst>
              <a:ext uri="{FF2B5EF4-FFF2-40B4-BE49-F238E27FC236}">
                <a16:creationId xmlns:a16="http://schemas.microsoft.com/office/drawing/2014/main" id="{7115F4D8-5300-B143-E38C-D74D269A36E7}"/>
              </a:ext>
            </a:extLst>
          </p:cNvPr>
          <p:cNvSpPr/>
          <p:nvPr/>
        </p:nvSpPr>
        <p:spPr>
          <a:xfrm>
            <a:off x="7289084" y="4512429"/>
            <a:ext cx="161465" cy="161152"/>
          </a:xfrm>
          <a:prstGeom prst="chevron">
            <a:avLst/>
          </a:prstGeom>
          <a:solidFill>
            <a:srgbClr val="2C578B"/>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solidFill>
                <a:schemeClr val="tx1"/>
              </a:solidFill>
            </a:endParaRPr>
          </a:p>
        </p:txBody>
      </p:sp>
      <p:sp>
        <p:nvSpPr>
          <p:cNvPr id="51" name="Arrow: Chevron 50">
            <a:extLst>
              <a:ext uri="{FF2B5EF4-FFF2-40B4-BE49-F238E27FC236}">
                <a16:creationId xmlns:a16="http://schemas.microsoft.com/office/drawing/2014/main" id="{BB835A5B-CE13-8A8E-A8F9-F5611DA0579C}"/>
              </a:ext>
            </a:extLst>
          </p:cNvPr>
          <p:cNvSpPr/>
          <p:nvPr/>
        </p:nvSpPr>
        <p:spPr>
          <a:xfrm>
            <a:off x="7286608" y="5282189"/>
            <a:ext cx="161465" cy="161152"/>
          </a:xfrm>
          <a:prstGeom prst="chevron">
            <a:avLst/>
          </a:prstGeom>
          <a:solidFill>
            <a:srgbClr val="2C578B"/>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solidFill>
                <a:schemeClr val="tx1"/>
              </a:solidFill>
            </a:endParaRPr>
          </a:p>
        </p:txBody>
      </p:sp>
      <p:sp>
        <p:nvSpPr>
          <p:cNvPr id="52" name="Arrow: Chevron 51">
            <a:extLst>
              <a:ext uri="{FF2B5EF4-FFF2-40B4-BE49-F238E27FC236}">
                <a16:creationId xmlns:a16="http://schemas.microsoft.com/office/drawing/2014/main" id="{AD587AD5-A9C1-9071-0C65-E9459EDED365}"/>
              </a:ext>
            </a:extLst>
          </p:cNvPr>
          <p:cNvSpPr/>
          <p:nvPr/>
        </p:nvSpPr>
        <p:spPr>
          <a:xfrm>
            <a:off x="7301311" y="6069520"/>
            <a:ext cx="161465" cy="161152"/>
          </a:xfrm>
          <a:prstGeom prst="chevron">
            <a:avLst/>
          </a:prstGeom>
          <a:solidFill>
            <a:srgbClr val="2C578B"/>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solidFill>
                <a:schemeClr val="tx1"/>
              </a:solidFill>
            </a:endParaRPr>
          </a:p>
        </p:txBody>
      </p:sp>
      <p:sp>
        <p:nvSpPr>
          <p:cNvPr id="53" name="Arrow: Chevron 52">
            <a:extLst>
              <a:ext uri="{FF2B5EF4-FFF2-40B4-BE49-F238E27FC236}">
                <a16:creationId xmlns:a16="http://schemas.microsoft.com/office/drawing/2014/main" id="{B44F0441-D04D-9A98-E784-4B474C05B127}"/>
              </a:ext>
            </a:extLst>
          </p:cNvPr>
          <p:cNvSpPr/>
          <p:nvPr/>
        </p:nvSpPr>
        <p:spPr>
          <a:xfrm>
            <a:off x="7341991" y="1492692"/>
            <a:ext cx="161465" cy="161152"/>
          </a:xfrm>
          <a:prstGeom prst="chevron">
            <a:avLst/>
          </a:prstGeom>
          <a:solidFill>
            <a:schemeClr val="bg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solidFill>
                <a:schemeClr val="tx1"/>
              </a:solidFill>
            </a:endParaRPr>
          </a:p>
        </p:txBody>
      </p:sp>
      <p:sp>
        <p:nvSpPr>
          <p:cNvPr id="55" name="Arrow: Chevron 54">
            <a:extLst>
              <a:ext uri="{FF2B5EF4-FFF2-40B4-BE49-F238E27FC236}">
                <a16:creationId xmlns:a16="http://schemas.microsoft.com/office/drawing/2014/main" id="{EB499A98-A4C5-C0F0-287A-FF8A76461E39}"/>
              </a:ext>
            </a:extLst>
          </p:cNvPr>
          <p:cNvSpPr/>
          <p:nvPr/>
        </p:nvSpPr>
        <p:spPr>
          <a:xfrm>
            <a:off x="7357403" y="2242220"/>
            <a:ext cx="161465" cy="161152"/>
          </a:xfrm>
          <a:prstGeom prst="chevron">
            <a:avLst/>
          </a:prstGeom>
          <a:solidFill>
            <a:schemeClr val="bg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solidFill>
                <a:schemeClr val="tx1"/>
              </a:solidFill>
            </a:endParaRPr>
          </a:p>
        </p:txBody>
      </p:sp>
      <p:sp>
        <p:nvSpPr>
          <p:cNvPr id="57" name="Arrow: Chevron 56">
            <a:extLst>
              <a:ext uri="{FF2B5EF4-FFF2-40B4-BE49-F238E27FC236}">
                <a16:creationId xmlns:a16="http://schemas.microsoft.com/office/drawing/2014/main" id="{E61327B6-6D88-6363-1D4F-A07AC661D2D0}"/>
              </a:ext>
            </a:extLst>
          </p:cNvPr>
          <p:cNvSpPr/>
          <p:nvPr/>
        </p:nvSpPr>
        <p:spPr>
          <a:xfrm>
            <a:off x="7384005" y="3002473"/>
            <a:ext cx="161465" cy="161152"/>
          </a:xfrm>
          <a:prstGeom prst="chevron">
            <a:avLst/>
          </a:prstGeom>
          <a:solidFill>
            <a:schemeClr val="bg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solidFill>
                <a:schemeClr val="tx1"/>
              </a:solidFill>
            </a:endParaRPr>
          </a:p>
        </p:txBody>
      </p:sp>
      <p:sp>
        <p:nvSpPr>
          <p:cNvPr id="58" name="Arrow: Chevron 57">
            <a:extLst>
              <a:ext uri="{FF2B5EF4-FFF2-40B4-BE49-F238E27FC236}">
                <a16:creationId xmlns:a16="http://schemas.microsoft.com/office/drawing/2014/main" id="{50DBE760-37F0-8710-1C37-B35657F947B3}"/>
              </a:ext>
            </a:extLst>
          </p:cNvPr>
          <p:cNvSpPr/>
          <p:nvPr/>
        </p:nvSpPr>
        <p:spPr>
          <a:xfrm>
            <a:off x="7384005" y="3761742"/>
            <a:ext cx="161465" cy="161152"/>
          </a:xfrm>
          <a:prstGeom prst="chevron">
            <a:avLst/>
          </a:prstGeom>
          <a:solidFill>
            <a:schemeClr val="bg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solidFill>
                <a:schemeClr val="tx1"/>
              </a:solidFill>
            </a:endParaRPr>
          </a:p>
        </p:txBody>
      </p:sp>
      <p:sp>
        <p:nvSpPr>
          <p:cNvPr id="59" name="Arrow: Chevron 58">
            <a:extLst>
              <a:ext uri="{FF2B5EF4-FFF2-40B4-BE49-F238E27FC236}">
                <a16:creationId xmlns:a16="http://schemas.microsoft.com/office/drawing/2014/main" id="{41F67AED-BD03-F5E2-6B29-CA8819A21C02}"/>
              </a:ext>
            </a:extLst>
          </p:cNvPr>
          <p:cNvSpPr/>
          <p:nvPr/>
        </p:nvSpPr>
        <p:spPr>
          <a:xfrm>
            <a:off x="7382751" y="4512429"/>
            <a:ext cx="161465" cy="161152"/>
          </a:xfrm>
          <a:prstGeom prst="chevron">
            <a:avLst/>
          </a:prstGeom>
          <a:solidFill>
            <a:schemeClr val="bg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solidFill>
                <a:schemeClr val="tx1"/>
              </a:solidFill>
            </a:endParaRPr>
          </a:p>
        </p:txBody>
      </p:sp>
      <p:sp>
        <p:nvSpPr>
          <p:cNvPr id="60" name="Arrow: Chevron 59">
            <a:extLst>
              <a:ext uri="{FF2B5EF4-FFF2-40B4-BE49-F238E27FC236}">
                <a16:creationId xmlns:a16="http://schemas.microsoft.com/office/drawing/2014/main" id="{8C78DF2C-CDD2-7EEC-8EC8-A72654CB88E2}"/>
              </a:ext>
            </a:extLst>
          </p:cNvPr>
          <p:cNvSpPr/>
          <p:nvPr/>
        </p:nvSpPr>
        <p:spPr>
          <a:xfrm>
            <a:off x="7380275" y="5282189"/>
            <a:ext cx="161465" cy="161152"/>
          </a:xfrm>
          <a:prstGeom prst="chevron">
            <a:avLst/>
          </a:prstGeom>
          <a:solidFill>
            <a:schemeClr val="bg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solidFill>
                <a:schemeClr val="tx1"/>
              </a:solidFill>
            </a:endParaRPr>
          </a:p>
        </p:txBody>
      </p:sp>
      <p:sp>
        <p:nvSpPr>
          <p:cNvPr id="61" name="Arrow: Chevron 60">
            <a:extLst>
              <a:ext uri="{FF2B5EF4-FFF2-40B4-BE49-F238E27FC236}">
                <a16:creationId xmlns:a16="http://schemas.microsoft.com/office/drawing/2014/main" id="{787F460C-5207-BFAE-88B8-EBDE523FCDAB}"/>
              </a:ext>
            </a:extLst>
          </p:cNvPr>
          <p:cNvSpPr/>
          <p:nvPr/>
        </p:nvSpPr>
        <p:spPr>
          <a:xfrm>
            <a:off x="7394978" y="6069520"/>
            <a:ext cx="161465" cy="161152"/>
          </a:xfrm>
          <a:prstGeom prst="chevron">
            <a:avLst/>
          </a:prstGeom>
          <a:solidFill>
            <a:schemeClr val="bg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solidFill>
                <a:schemeClr val="tx1"/>
              </a:solidFill>
            </a:endParaRPr>
          </a:p>
        </p:txBody>
      </p:sp>
    </p:spTree>
    <p:extLst>
      <p:ext uri="{BB962C8B-B14F-4D97-AF65-F5344CB8AC3E}">
        <p14:creationId xmlns:p14="http://schemas.microsoft.com/office/powerpoint/2010/main" val="4148284996"/>
      </p:ext>
    </p:extLst>
  </p:cSld>
  <p:clrMapOvr>
    <a:masterClrMapping/>
  </p:clrMapOvr>
  <p:extLst>
    <p:ext uri="{6950BFC3-D8DA-4A85-94F7-54DA5524770B}">
      <p188:commentRel xmlns:p188="http://schemas.microsoft.com/office/powerpoint/2018/8/main" r:id="rId3"/>
    </p:ext>
  </p:extLs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7" name="Conector recto 26">
            <a:extLst>
              <a:ext uri="{FF2B5EF4-FFF2-40B4-BE49-F238E27FC236}">
                <a16:creationId xmlns:a16="http://schemas.microsoft.com/office/drawing/2014/main" id="{8654481F-324A-8815-FE3D-E2304C84E01C}"/>
              </a:ext>
            </a:extLst>
          </p:cNvPr>
          <p:cNvCxnSpPr>
            <a:cxnSpLocks/>
          </p:cNvCxnSpPr>
          <p:nvPr/>
        </p:nvCxnSpPr>
        <p:spPr>
          <a:xfrm>
            <a:off x="1162001" y="1972058"/>
            <a:ext cx="2187038" cy="0"/>
          </a:xfrm>
          <a:prstGeom prst="line">
            <a:avLst/>
          </a:prstGeom>
          <a:solidFill>
            <a:schemeClr val="bg1"/>
          </a:solidFill>
          <a:ln w="19050">
            <a:solidFill>
              <a:srgbClr val="D9D9D9"/>
            </a:solidFill>
            <a:prstDash val="dash"/>
          </a:ln>
        </p:spPr>
      </p:cxnSp>
      <p:cxnSp>
        <p:nvCxnSpPr>
          <p:cNvPr id="35" name="Conector recto 34">
            <a:extLst>
              <a:ext uri="{FF2B5EF4-FFF2-40B4-BE49-F238E27FC236}">
                <a16:creationId xmlns:a16="http://schemas.microsoft.com/office/drawing/2014/main" id="{B1E93184-8766-3252-E177-69C36FC100B2}"/>
              </a:ext>
            </a:extLst>
          </p:cNvPr>
          <p:cNvCxnSpPr>
            <a:cxnSpLocks/>
          </p:cNvCxnSpPr>
          <p:nvPr/>
        </p:nvCxnSpPr>
        <p:spPr>
          <a:xfrm>
            <a:off x="1162001" y="6093306"/>
            <a:ext cx="2187038" cy="0"/>
          </a:xfrm>
          <a:prstGeom prst="line">
            <a:avLst/>
          </a:prstGeom>
          <a:solidFill>
            <a:schemeClr val="bg1"/>
          </a:solidFill>
          <a:ln w="19050">
            <a:solidFill>
              <a:srgbClr val="D9D9D9"/>
            </a:solidFill>
            <a:prstDash val="dash"/>
          </a:ln>
        </p:spPr>
      </p:cxnSp>
      <p:cxnSp>
        <p:nvCxnSpPr>
          <p:cNvPr id="33" name="Conector recto 32">
            <a:extLst>
              <a:ext uri="{FF2B5EF4-FFF2-40B4-BE49-F238E27FC236}">
                <a16:creationId xmlns:a16="http://schemas.microsoft.com/office/drawing/2014/main" id="{83E7EB74-4B4B-F9D5-5AE4-566B6A68154D}"/>
              </a:ext>
            </a:extLst>
          </p:cNvPr>
          <p:cNvCxnSpPr>
            <a:cxnSpLocks/>
          </p:cNvCxnSpPr>
          <p:nvPr/>
        </p:nvCxnSpPr>
        <p:spPr>
          <a:xfrm>
            <a:off x="2489200" y="3345673"/>
            <a:ext cx="2275840" cy="0"/>
          </a:xfrm>
          <a:prstGeom prst="line">
            <a:avLst/>
          </a:prstGeom>
          <a:solidFill>
            <a:schemeClr val="bg1"/>
          </a:solidFill>
          <a:ln w="19050">
            <a:solidFill>
              <a:srgbClr val="D9D9D9"/>
            </a:solidFill>
            <a:prstDash val="dash"/>
          </a:ln>
        </p:spPr>
      </p:cxnSp>
      <p:cxnSp>
        <p:nvCxnSpPr>
          <p:cNvPr id="34" name="Conector recto 33">
            <a:extLst>
              <a:ext uri="{FF2B5EF4-FFF2-40B4-BE49-F238E27FC236}">
                <a16:creationId xmlns:a16="http://schemas.microsoft.com/office/drawing/2014/main" id="{B1A3185D-D3E3-7038-3582-7FA3898DE10B}"/>
              </a:ext>
            </a:extLst>
          </p:cNvPr>
          <p:cNvCxnSpPr>
            <a:cxnSpLocks/>
          </p:cNvCxnSpPr>
          <p:nvPr/>
        </p:nvCxnSpPr>
        <p:spPr>
          <a:xfrm>
            <a:off x="2489200" y="4719690"/>
            <a:ext cx="2275840" cy="0"/>
          </a:xfrm>
          <a:prstGeom prst="line">
            <a:avLst/>
          </a:prstGeom>
          <a:solidFill>
            <a:schemeClr val="bg1"/>
          </a:solidFill>
          <a:ln w="19050">
            <a:solidFill>
              <a:srgbClr val="D9D9D9"/>
            </a:solidFill>
            <a:prstDash val="dash"/>
          </a:ln>
        </p:spPr>
      </p:cxnSp>
      <p:sp>
        <p:nvSpPr>
          <p:cNvPr id="28" name="CuadroTexto 27">
            <a:extLst>
              <a:ext uri="{FF2B5EF4-FFF2-40B4-BE49-F238E27FC236}">
                <a16:creationId xmlns:a16="http://schemas.microsoft.com/office/drawing/2014/main" id="{24A803C9-FBD9-D0F9-6A29-13B8DBF8B491}"/>
              </a:ext>
            </a:extLst>
          </p:cNvPr>
          <p:cNvSpPr txBox="1"/>
          <p:nvPr/>
        </p:nvSpPr>
        <p:spPr>
          <a:xfrm>
            <a:off x="3281680" y="1406082"/>
            <a:ext cx="8158480" cy="1175071"/>
          </a:xfrm>
          <a:prstGeom prst="rect">
            <a:avLst/>
          </a:prstGeom>
          <a:solidFill>
            <a:schemeClr val="bg1"/>
          </a:solidFill>
          <a:ln w="19050">
            <a:solidFill>
              <a:srgbClr val="D9D9D9"/>
            </a:solidFill>
            <a:prstDash val="dash"/>
          </a:ln>
        </p:spPr>
        <p:txBody>
          <a:bodyPr wrap="square">
            <a:noAutofit/>
          </a:bodyPr>
          <a:lstStyle/>
          <a:p>
            <a:pPr>
              <a:buNone/>
            </a:pPr>
            <a:endParaRPr lang="en-US" sz="1100" noProof="0">
              <a:latin typeface="Arial" panose="020B0604020202020204" pitchFamily="34" charset="0"/>
              <a:cs typeface="Arial" panose="020B0604020202020204" pitchFamily="34" charset="0"/>
            </a:endParaRPr>
          </a:p>
        </p:txBody>
      </p:sp>
      <p:sp>
        <p:nvSpPr>
          <p:cNvPr id="29" name="CuadroTexto 28">
            <a:extLst>
              <a:ext uri="{FF2B5EF4-FFF2-40B4-BE49-F238E27FC236}">
                <a16:creationId xmlns:a16="http://schemas.microsoft.com/office/drawing/2014/main" id="{41195EA4-7175-365A-89A8-03BDDC498152}"/>
              </a:ext>
            </a:extLst>
          </p:cNvPr>
          <p:cNvSpPr txBox="1"/>
          <p:nvPr/>
        </p:nvSpPr>
        <p:spPr>
          <a:xfrm>
            <a:off x="3281680" y="2779831"/>
            <a:ext cx="8158480" cy="1175071"/>
          </a:xfrm>
          <a:prstGeom prst="rect">
            <a:avLst/>
          </a:prstGeom>
          <a:solidFill>
            <a:schemeClr val="bg1"/>
          </a:solidFill>
          <a:ln w="19050">
            <a:solidFill>
              <a:srgbClr val="D9D9D9"/>
            </a:solidFill>
            <a:prstDash val="dash"/>
          </a:ln>
        </p:spPr>
        <p:txBody>
          <a:bodyPr wrap="square">
            <a:noAutofit/>
          </a:bodyPr>
          <a:lstStyle/>
          <a:p>
            <a:pPr>
              <a:buNone/>
            </a:pPr>
            <a:endParaRPr lang="en-US" sz="1100" noProof="0">
              <a:latin typeface="Arial" panose="020B0604020202020204" pitchFamily="34" charset="0"/>
              <a:cs typeface="Arial" panose="020B0604020202020204" pitchFamily="34" charset="0"/>
            </a:endParaRPr>
          </a:p>
        </p:txBody>
      </p:sp>
      <p:sp>
        <p:nvSpPr>
          <p:cNvPr id="30" name="CuadroTexto 29">
            <a:extLst>
              <a:ext uri="{FF2B5EF4-FFF2-40B4-BE49-F238E27FC236}">
                <a16:creationId xmlns:a16="http://schemas.microsoft.com/office/drawing/2014/main" id="{5D5EEA72-A45D-6D68-639A-88270F72404B}"/>
              </a:ext>
            </a:extLst>
          </p:cNvPr>
          <p:cNvSpPr txBox="1"/>
          <p:nvPr/>
        </p:nvSpPr>
        <p:spPr>
          <a:xfrm>
            <a:off x="3281680" y="4153580"/>
            <a:ext cx="8158480" cy="1175071"/>
          </a:xfrm>
          <a:prstGeom prst="rect">
            <a:avLst/>
          </a:prstGeom>
          <a:solidFill>
            <a:schemeClr val="bg1"/>
          </a:solidFill>
          <a:ln w="19050">
            <a:solidFill>
              <a:srgbClr val="D9D9D9"/>
            </a:solidFill>
            <a:prstDash val="dash"/>
          </a:ln>
        </p:spPr>
        <p:txBody>
          <a:bodyPr wrap="square">
            <a:noAutofit/>
          </a:bodyPr>
          <a:lstStyle/>
          <a:p>
            <a:pPr>
              <a:buNone/>
            </a:pPr>
            <a:endParaRPr lang="en-US" sz="1100" noProof="0">
              <a:latin typeface="Arial" panose="020B0604020202020204" pitchFamily="34" charset="0"/>
              <a:cs typeface="Arial" panose="020B0604020202020204" pitchFamily="34" charset="0"/>
            </a:endParaRPr>
          </a:p>
        </p:txBody>
      </p:sp>
      <p:sp>
        <p:nvSpPr>
          <p:cNvPr id="31" name="CuadroTexto 30">
            <a:extLst>
              <a:ext uri="{FF2B5EF4-FFF2-40B4-BE49-F238E27FC236}">
                <a16:creationId xmlns:a16="http://schemas.microsoft.com/office/drawing/2014/main" id="{E9921B9C-FD48-447F-89B3-BC21E547C718}"/>
              </a:ext>
            </a:extLst>
          </p:cNvPr>
          <p:cNvSpPr txBox="1"/>
          <p:nvPr/>
        </p:nvSpPr>
        <p:spPr>
          <a:xfrm>
            <a:off x="3281680" y="5527330"/>
            <a:ext cx="8158480" cy="1175071"/>
          </a:xfrm>
          <a:prstGeom prst="rect">
            <a:avLst/>
          </a:prstGeom>
          <a:solidFill>
            <a:schemeClr val="bg1"/>
          </a:solidFill>
          <a:ln w="19050">
            <a:solidFill>
              <a:srgbClr val="D9D9D9"/>
            </a:solidFill>
            <a:prstDash val="dash"/>
          </a:ln>
        </p:spPr>
        <p:txBody>
          <a:bodyPr wrap="square">
            <a:noAutofit/>
          </a:bodyPr>
          <a:lstStyle/>
          <a:p>
            <a:pPr>
              <a:buNone/>
            </a:pPr>
            <a:endParaRPr lang="en-US" sz="1100" noProof="0">
              <a:latin typeface="Arial" panose="020B0604020202020204" pitchFamily="34" charset="0"/>
              <a:cs typeface="Arial" panose="020B0604020202020204" pitchFamily="34" charset="0"/>
            </a:endParaRPr>
          </a:p>
        </p:txBody>
      </p:sp>
      <p:pic>
        <p:nvPicPr>
          <p:cNvPr id="2" name="Graphic 26">
            <a:extLst>
              <a:ext uri="{FF2B5EF4-FFF2-40B4-BE49-F238E27FC236}">
                <a16:creationId xmlns:a16="http://schemas.microsoft.com/office/drawing/2014/main" id="{DF18890C-6DFF-5178-610E-FEF539F8811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20330" y="1558935"/>
            <a:ext cx="2242867" cy="4947494"/>
          </a:xfrm>
          <a:prstGeom prst="rect">
            <a:avLst/>
          </a:prstGeom>
        </p:spPr>
      </p:pic>
      <p:sp>
        <p:nvSpPr>
          <p:cNvPr id="6" name="CuadroTexto 5">
            <a:extLst>
              <a:ext uri="{FF2B5EF4-FFF2-40B4-BE49-F238E27FC236}">
                <a16:creationId xmlns:a16="http://schemas.microsoft.com/office/drawing/2014/main" id="{243591B2-D961-E9BA-32A9-9538B09446C2}"/>
              </a:ext>
            </a:extLst>
          </p:cNvPr>
          <p:cNvSpPr txBox="1"/>
          <p:nvPr/>
        </p:nvSpPr>
        <p:spPr>
          <a:xfrm>
            <a:off x="3449684" y="1833157"/>
            <a:ext cx="2457993" cy="461665"/>
          </a:xfrm>
          <a:prstGeom prst="rect">
            <a:avLst/>
          </a:prstGeom>
          <a:noFill/>
        </p:spPr>
        <p:txBody>
          <a:bodyPr wrap="square">
            <a:spAutoFit/>
          </a:bodyPr>
          <a:lstStyle/>
          <a:p>
            <a:pPr>
              <a:buNone/>
            </a:pPr>
            <a:r>
              <a:rPr lang="en-US" sz="1200" b="1" noProof="0">
                <a:solidFill>
                  <a:srgbClr val="6785C1"/>
                </a:solidFill>
                <a:latin typeface="Arial" panose="020B0604020202020204" pitchFamily="34" charset="0"/>
                <a:cs typeface="Arial" panose="020B0604020202020204" pitchFamily="34" charset="0"/>
              </a:rPr>
              <a:t>DEMAND INTAKE &amp; STRUCTURING</a:t>
            </a:r>
          </a:p>
        </p:txBody>
      </p:sp>
      <p:sp>
        <p:nvSpPr>
          <p:cNvPr id="8" name="CuadroTexto 7">
            <a:extLst>
              <a:ext uri="{FF2B5EF4-FFF2-40B4-BE49-F238E27FC236}">
                <a16:creationId xmlns:a16="http://schemas.microsoft.com/office/drawing/2014/main" id="{CC3EBE2A-7646-5F34-19A1-6B561CF9094D}"/>
              </a:ext>
            </a:extLst>
          </p:cNvPr>
          <p:cNvSpPr txBox="1"/>
          <p:nvPr/>
        </p:nvSpPr>
        <p:spPr>
          <a:xfrm>
            <a:off x="3449684" y="3114975"/>
            <a:ext cx="2457993" cy="461665"/>
          </a:xfrm>
          <a:prstGeom prst="rect">
            <a:avLst/>
          </a:prstGeom>
          <a:noFill/>
        </p:spPr>
        <p:txBody>
          <a:bodyPr wrap="square">
            <a:spAutoFit/>
          </a:bodyPr>
          <a:lstStyle/>
          <a:p>
            <a:pPr>
              <a:buNone/>
            </a:pPr>
            <a:r>
              <a:rPr lang="en-US" sz="1200" b="1" noProof="0">
                <a:solidFill>
                  <a:srgbClr val="6785C1"/>
                </a:solidFill>
                <a:latin typeface="Arial" panose="020B0604020202020204" pitchFamily="34" charset="0"/>
                <a:cs typeface="Arial" panose="020B0604020202020204" pitchFamily="34" charset="0"/>
              </a:rPr>
              <a:t>VALUE-BASED PRIORITIZATION</a:t>
            </a:r>
          </a:p>
        </p:txBody>
      </p:sp>
      <p:sp>
        <p:nvSpPr>
          <p:cNvPr id="10" name="CuadroTexto 9">
            <a:extLst>
              <a:ext uri="{FF2B5EF4-FFF2-40B4-BE49-F238E27FC236}">
                <a16:creationId xmlns:a16="http://schemas.microsoft.com/office/drawing/2014/main" id="{D1E9A292-2FF3-4F77-96EC-05D66F35FADB}"/>
              </a:ext>
            </a:extLst>
          </p:cNvPr>
          <p:cNvSpPr txBox="1"/>
          <p:nvPr/>
        </p:nvSpPr>
        <p:spPr>
          <a:xfrm>
            <a:off x="3321453" y="4488858"/>
            <a:ext cx="2632307" cy="461665"/>
          </a:xfrm>
          <a:prstGeom prst="rect">
            <a:avLst/>
          </a:prstGeom>
          <a:noFill/>
        </p:spPr>
        <p:txBody>
          <a:bodyPr wrap="square">
            <a:spAutoFit/>
          </a:bodyPr>
          <a:lstStyle/>
          <a:p>
            <a:pPr>
              <a:buNone/>
            </a:pPr>
            <a:r>
              <a:rPr lang="en-US" sz="1200" b="1" noProof="0">
                <a:solidFill>
                  <a:srgbClr val="6785C1"/>
                </a:solidFill>
                <a:latin typeface="Arial" panose="020B0604020202020204" pitchFamily="34" charset="0"/>
                <a:cs typeface="Arial" panose="020B0604020202020204" pitchFamily="34" charset="0"/>
              </a:rPr>
              <a:t>PRODUCT PORTFOLIO MANAGEMENT &amp; PLANNING</a:t>
            </a:r>
          </a:p>
        </p:txBody>
      </p:sp>
      <p:sp>
        <p:nvSpPr>
          <p:cNvPr id="12" name="CuadroTexto 11">
            <a:extLst>
              <a:ext uri="{FF2B5EF4-FFF2-40B4-BE49-F238E27FC236}">
                <a16:creationId xmlns:a16="http://schemas.microsoft.com/office/drawing/2014/main" id="{7B51ECA9-6E6D-772E-FB13-87E4F91FCD24}"/>
              </a:ext>
            </a:extLst>
          </p:cNvPr>
          <p:cNvSpPr txBox="1"/>
          <p:nvPr/>
        </p:nvSpPr>
        <p:spPr>
          <a:xfrm>
            <a:off x="3449684" y="5862474"/>
            <a:ext cx="2457993" cy="461665"/>
          </a:xfrm>
          <a:prstGeom prst="rect">
            <a:avLst/>
          </a:prstGeom>
          <a:noFill/>
        </p:spPr>
        <p:txBody>
          <a:bodyPr wrap="square">
            <a:spAutoFit/>
          </a:bodyPr>
          <a:lstStyle/>
          <a:p>
            <a:pPr>
              <a:buNone/>
            </a:pPr>
            <a:r>
              <a:rPr lang="en-US" sz="1200" b="1" noProof="0">
                <a:solidFill>
                  <a:srgbClr val="6785C1"/>
                </a:solidFill>
                <a:latin typeface="Arial" panose="020B0604020202020204" pitchFamily="34" charset="0"/>
                <a:cs typeface="Arial" panose="020B0604020202020204" pitchFamily="34" charset="0"/>
              </a:rPr>
              <a:t>PRODUCT GOVERNANCE &amp; OWNERSHIP</a:t>
            </a:r>
          </a:p>
        </p:txBody>
      </p:sp>
      <p:sp>
        <p:nvSpPr>
          <p:cNvPr id="4" name="CuadroTexto 3">
            <a:extLst>
              <a:ext uri="{FF2B5EF4-FFF2-40B4-BE49-F238E27FC236}">
                <a16:creationId xmlns:a16="http://schemas.microsoft.com/office/drawing/2014/main" id="{C0BCAA00-4CB2-BD2B-62CF-61028376C95F}"/>
              </a:ext>
            </a:extLst>
          </p:cNvPr>
          <p:cNvSpPr txBox="1"/>
          <p:nvPr/>
        </p:nvSpPr>
        <p:spPr>
          <a:xfrm>
            <a:off x="5748703" y="5635859"/>
            <a:ext cx="5653817" cy="938719"/>
          </a:xfrm>
          <a:prstGeom prst="rect">
            <a:avLst/>
          </a:prstGeom>
          <a:noFill/>
          <a:ln>
            <a:noFill/>
            <a:prstDash val="dash"/>
          </a:ln>
        </p:spPr>
        <p:txBody>
          <a:bodyPr wrap="square">
            <a:spAutoFit/>
          </a:bodyPr>
          <a:lstStyle/>
          <a:p>
            <a:pPr>
              <a:buNone/>
            </a:pPr>
            <a:r>
              <a:rPr lang="en-US" sz="1100" noProof="0">
                <a:latin typeface="Arial" panose="020B0604020202020204" pitchFamily="34" charset="0"/>
                <a:cs typeface="Arial" panose="020B0604020202020204" pitchFamily="34" charset="0"/>
              </a:rPr>
              <a:t>Clear accountability and governance ensure decisions are aligned to product outcomes.</a:t>
            </a:r>
          </a:p>
          <a:p>
            <a:pPr marL="171450" indent="-171450">
              <a:buFont typeface="Arial" panose="020B0604020202020204" pitchFamily="34" charset="0"/>
              <a:buChar char="•"/>
            </a:pPr>
            <a:r>
              <a:rPr lang="en-US" sz="1100" noProof="0">
                <a:latin typeface="Arial" panose="020B0604020202020204" pitchFamily="34" charset="0"/>
                <a:cs typeface="Arial" panose="020B0604020202020204" pitchFamily="34" charset="0"/>
              </a:rPr>
              <a:t>Defined roles (Product Owner / Product Manager / Tech Lead) </a:t>
            </a:r>
          </a:p>
          <a:p>
            <a:pPr marL="171450" indent="-171450">
              <a:buFont typeface="Arial" panose="020B0604020202020204" pitchFamily="34" charset="0"/>
              <a:buChar char="•"/>
            </a:pPr>
            <a:r>
              <a:rPr lang="en-US" sz="1100" noProof="0">
                <a:latin typeface="Arial" panose="020B0604020202020204" pitchFamily="34" charset="0"/>
                <a:cs typeface="Arial" panose="020B0604020202020204" pitchFamily="34" charset="0"/>
              </a:rPr>
              <a:t>Product-based governance forums with decision rights </a:t>
            </a:r>
          </a:p>
          <a:p>
            <a:pPr marL="171450" indent="-171450">
              <a:buFont typeface="Arial" panose="020B0604020202020204" pitchFamily="34" charset="0"/>
              <a:buChar char="•"/>
            </a:pPr>
            <a:r>
              <a:rPr lang="en-US" sz="1100" noProof="0">
                <a:latin typeface="Arial" panose="020B0604020202020204" pitchFamily="34" charset="0"/>
                <a:cs typeface="Arial" panose="020B0604020202020204" pitchFamily="34" charset="0"/>
              </a:rPr>
              <a:t>Vendor management aligned to product performance </a:t>
            </a:r>
          </a:p>
          <a:p>
            <a:pPr marL="171450" indent="-171450">
              <a:buFont typeface="Arial" panose="020B0604020202020204" pitchFamily="34" charset="0"/>
              <a:buChar char="•"/>
            </a:pPr>
            <a:r>
              <a:rPr lang="en-US" sz="1100" noProof="0">
                <a:latin typeface="Arial" panose="020B0604020202020204" pitchFamily="34" charset="0"/>
                <a:cs typeface="Arial" panose="020B0604020202020204" pitchFamily="34" charset="0"/>
              </a:rPr>
              <a:t>KPIs tied to product outcomes and business value</a:t>
            </a:r>
          </a:p>
        </p:txBody>
      </p:sp>
      <p:sp>
        <p:nvSpPr>
          <p:cNvPr id="14" name="CuadroTexto 13">
            <a:extLst>
              <a:ext uri="{FF2B5EF4-FFF2-40B4-BE49-F238E27FC236}">
                <a16:creationId xmlns:a16="http://schemas.microsoft.com/office/drawing/2014/main" id="{81E28528-D4D8-564B-6A3E-BE00463BD557}"/>
              </a:ext>
            </a:extLst>
          </p:cNvPr>
          <p:cNvSpPr txBox="1"/>
          <p:nvPr/>
        </p:nvSpPr>
        <p:spPr>
          <a:xfrm>
            <a:off x="5748703" y="1417658"/>
            <a:ext cx="5653817" cy="1107996"/>
          </a:xfrm>
          <a:prstGeom prst="rect">
            <a:avLst/>
          </a:prstGeom>
          <a:noFill/>
          <a:ln>
            <a:noFill/>
            <a:prstDash val="dash"/>
          </a:ln>
        </p:spPr>
        <p:txBody>
          <a:bodyPr wrap="square">
            <a:spAutoFit/>
          </a:bodyPr>
          <a:lstStyle/>
          <a:p>
            <a:pPr>
              <a:buNone/>
            </a:pPr>
            <a:r>
              <a:rPr lang="en-US" sz="1100" noProof="0">
                <a:latin typeface="Arial" panose="020B0604020202020204" pitchFamily="34" charset="0"/>
                <a:cs typeface="Arial" panose="020B0604020202020204" pitchFamily="34" charset="0"/>
              </a:rPr>
              <a:t>All demand must be captured through a unified intake layer aligned to products or value streams, ensuring full visibility and traceability.</a:t>
            </a:r>
          </a:p>
          <a:p>
            <a:pPr marL="171450" indent="-171450">
              <a:buFont typeface="Arial" panose="020B0604020202020204" pitchFamily="34" charset="0"/>
              <a:buChar char="•"/>
            </a:pPr>
            <a:r>
              <a:rPr lang="en-US" sz="1100" noProof="0">
                <a:latin typeface="Arial" panose="020B0604020202020204" pitchFamily="34" charset="0"/>
                <a:cs typeface="Arial" panose="020B0604020202020204" pitchFamily="34" charset="0"/>
              </a:rPr>
              <a:t>Single entry point per product/value stream </a:t>
            </a:r>
          </a:p>
          <a:p>
            <a:pPr marL="171450" indent="-171450">
              <a:buFont typeface="Arial" panose="020B0604020202020204" pitchFamily="34" charset="0"/>
              <a:buChar char="•"/>
            </a:pPr>
            <a:r>
              <a:rPr lang="en-US" sz="1100" noProof="0">
                <a:latin typeface="Arial" panose="020B0604020202020204" pitchFamily="34" charset="0"/>
                <a:cs typeface="Arial" panose="020B0604020202020204" pitchFamily="34" charset="0"/>
              </a:rPr>
              <a:t>Standard intake criteria and mandatory fields </a:t>
            </a:r>
          </a:p>
          <a:p>
            <a:pPr marL="171450" indent="-171450">
              <a:buFont typeface="Arial" panose="020B0604020202020204" pitchFamily="34" charset="0"/>
              <a:buChar char="•"/>
            </a:pPr>
            <a:r>
              <a:rPr lang="en-US" sz="1100" noProof="0">
                <a:latin typeface="Arial" panose="020B0604020202020204" pitchFamily="34" charset="0"/>
                <a:cs typeface="Arial" panose="020B0604020202020204" pitchFamily="34" charset="0"/>
              </a:rPr>
              <a:t>Consistent demand categorization across teams (type, size, complexity, value driver) </a:t>
            </a:r>
          </a:p>
          <a:p>
            <a:pPr marL="171450" indent="-171450">
              <a:buFont typeface="Arial" panose="020B0604020202020204" pitchFamily="34" charset="0"/>
              <a:buChar char="•"/>
            </a:pPr>
            <a:r>
              <a:rPr lang="en-US" sz="1100" noProof="0">
                <a:latin typeface="Arial" panose="020B0604020202020204" pitchFamily="34" charset="0"/>
                <a:cs typeface="Arial" panose="020B0604020202020204" pitchFamily="34" charset="0"/>
              </a:rPr>
              <a:t>Clear ownership for triage and backlog assignment </a:t>
            </a:r>
          </a:p>
        </p:txBody>
      </p:sp>
      <p:sp>
        <p:nvSpPr>
          <p:cNvPr id="16" name="CuadroTexto 15">
            <a:extLst>
              <a:ext uri="{FF2B5EF4-FFF2-40B4-BE49-F238E27FC236}">
                <a16:creationId xmlns:a16="http://schemas.microsoft.com/office/drawing/2014/main" id="{D20CA89E-E37A-61CD-7B2F-4C00F6ED08B4}"/>
              </a:ext>
            </a:extLst>
          </p:cNvPr>
          <p:cNvSpPr txBox="1"/>
          <p:nvPr/>
        </p:nvSpPr>
        <p:spPr>
          <a:xfrm>
            <a:off x="5748703" y="2791675"/>
            <a:ext cx="5653817" cy="1107996"/>
          </a:xfrm>
          <a:prstGeom prst="rect">
            <a:avLst/>
          </a:prstGeom>
          <a:noFill/>
          <a:ln>
            <a:noFill/>
            <a:prstDash val="dash"/>
          </a:ln>
        </p:spPr>
        <p:txBody>
          <a:bodyPr wrap="square">
            <a:spAutoFit/>
          </a:bodyPr>
          <a:lstStyle>
            <a:defPPr>
              <a:defRPr lang="en-US"/>
            </a:defPPr>
            <a:lvl1pPr>
              <a:buNone/>
              <a:defRPr sz="1100">
                <a:latin typeface="Arial" panose="020B0604020202020204" pitchFamily="34" charset="0"/>
                <a:cs typeface="Arial" panose="020B0604020202020204" pitchFamily="34" charset="0"/>
              </a:defRPr>
            </a:lvl1pPr>
          </a:lstStyle>
          <a:p>
            <a:r>
              <a:rPr lang="en-US" noProof="0"/>
              <a:t>Demand is consistently evaluated and prioritized using a standardized framework tied to business outcomes.</a:t>
            </a:r>
          </a:p>
          <a:p>
            <a:pPr marL="171450" indent="-171450">
              <a:buFont typeface="Arial" panose="020B0604020202020204" pitchFamily="34" charset="0"/>
              <a:buChar char="•"/>
            </a:pPr>
            <a:r>
              <a:rPr lang="en-US" noProof="0"/>
              <a:t>Common scoring model (value, urgency, risk, effort) </a:t>
            </a:r>
          </a:p>
          <a:p>
            <a:pPr marL="171450" indent="-171450">
              <a:buFont typeface="Arial" panose="020B0604020202020204" pitchFamily="34" charset="0"/>
              <a:buChar char="•"/>
            </a:pPr>
            <a:r>
              <a:rPr lang="en-US" noProof="0"/>
              <a:t>Transparent prioritization across competing demands </a:t>
            </a:r>
          </a:p>
          <a:p>
            <a:pPr marL="171450" indent="-171450">
              <a:buFont typeface="Arial" panose="020B0604020202020204" pitchFamily="34" charset="0"/>
              <a:buChar char="•"/>
            </a:pPr>
            <a:r>
              <a:rPr lang="en-US" noProof="0"/>
              <a:t>Product-level backlog ownership </a:t>
            </a:r>
          </a:p>
          <a:p>
            <a:pPr marL="171450" indent="-171450">
              <a:buFont typeface="Arial" panose="020B0604020202020204" pitchFamily="34" charset="0"/>
              <a:buChar char="•"/>
            </a:pPr>
            <a:r>
              <a:rPr lang="en-US" noProof="0"/>
              <a:t>Trade-offs made at portfolio/product governance level </a:t>
            </a:r>
          </a:p>
        </p:txBody>
      </p:sp>
      <p:sp>
        <p:nvSpPr>
          <p:cNvPr id="18" name="CuadroTexto 17">
            <a:extLst>
              <a:ext uri="{FF2B5EF4-FFF2-40B4-BE49-F238E27FC236}">
                <a16:creationId xmlns:a16="http://schemas.microsoft.com/office/drawing/2014/main" id="{DD6776C1-BD2D-3BD1-C002-B9D7D899AA6D}"/>
              </a:ext>
            </a:extLst>
          </p:cNvPr>
          <p:cNvSpPr txBox="1"/>
          <p:nvPr/>
        </p:nvSpPr>
        <p:spPr>
          <a:xfrm>
            <a:off x="5748703" y="4165692"/>
            <a:ext cx="5653817" cy="1107996"/>
          </a:xfrm>
          <a:prstGeom prst="rect">
            <a:avLst/>
          </a:prstGeom>
          <a:noFill/>
          <a:ln>
            <a:noFill/>
            <a:prstDash val="dash"/>
          </a:ln>
        </p:spPr>
        <p:txBody>
          <a:bodyPr wrap="square">
            <a:spAutoFit/>
          </a:bodyPr>
          <a:lstStyle>
            <a:defPPr>
              <a:defRPr lang="en-US"/>
            </a:defPPr>
            <a:lvl1pPr>
              <a:buNone/>
              <a:defRPr sz="1100">
                <a:latin typeface="Arial" panose="020B0604020202020204" pitchFamily="34" charset="0"/>
                <a:cs typeface="Arial" panose="020B0604020202020204" pitchFamily="34" charset="0"/>
              </a:defRPr>
            </a:lvl1pPr>
          </a:lstStyle>
          <a:p>
            <a:r>
              <a:rPr lang="en-US" noProof="0"/>
              <a:t>End-to-end visibility enables coordinated planning across demand, capacity, and delivery.</a:t>
            </a:r>
          </a:p>
          <a:p>
            <a:pPr marL="171450" indent="-171450">
              <a:buFont typeface="Arial" panose="020B0604020202020204" pitchFamily="34" charset="0"/>
              <a:buChar char="•"/>
            </a:pPr>
            <a:r>
              <a:rPr lang="en-US" noProof="0"/>
              <a:t>Integrated portfolio view across all products </a:t>
            </a:r>
          </a:p>
          <a:p>
            <a:pPr marL="171450" indent="-171450">
              <a:buFont typeface="Arial" panose="020B0604020202020204" pitchFamily="34" charset="0"/>
              <a:buChar char="•"/>
            </a:pPr>
            <a:r>
              <a:rPr lang="en-US" noProof="0"/>
              <a:t>Capacity planning aligned to product priorities </a:t>
            </a:r>
          </a:p>
          <a:p>
            <a:pPr marL="171450" indent="-171450">
              <a:buFont typeface="Arial" panose="020B0604020202020204" pitchFamily="34" charset="0"/>
              <a:buChar char="•"/>
            </a:pPr>
            <a:r>
              <a:rPr lang="en-US" noProof="0"/>
              <a:t>Roadmaps managed at product level (not project level) </a:t>
            </a:r>
          </a:p>
          <a:p>
            <a:pPr marL="171450" indent="-171450">
              <a:buFont typeface="Arial" panose="020B0604020202020204" pitchFamily="34" charset="0"/>
              <a:buChar char="•"/>
            </a:pPr>
            <a:r>
              <a:rPr lang="en-US" noProof="0"/>
              <a:t>Continuous tracking of delivery and outcomes </a:t>
            </a:r>
          </a:p>
        </p:txBody>
      </p:sp>
      <p:sp>
        <p:nvSpPr>
          <p:cNvPr id="19" name="Título 2">
            <a:extLst>
              <a:ext uri="{FF2B5EF4-FFF2-40B4-BE49-F238E27FC236}">
                <a16:creationId xmlns:a16="http://schemas.microsoft.com/office/drawing/2014/main" id="{707524B7-405B-91D5-5C94-79A5F35005F8}"/>
              </a:ext>
            </a:extLst>
          </p:cNvPr>
          <p:cNvSpPr txBox="1">
            <a:spLocks/>
          </p:cNvSpPr>
          <p:nvPr/>
        </p:nvSpPr>
        <p:spPr>
          <a:xfrm>
            <a:off x="180918" y="127319"/>
            <a:ext cx="8963082" cy="514011"/>
          </a:xfrm>
          <a:prstGeom prst="rect">
            <a:avLst/>
          </a:prstGeom>
        </p:spPr>
        <p:txBody>
          <a:bodyPr anchor="ctr">
            <a:noAutofit/>
          </a:bodyPr>
          <a:lstStyle>
            <a:defPPr>
              <a:defRPr lang="en-US"/>
            </a:defPPr>
            <a:lvl1pPr marR="0" lvl="0" indent="0" fontAlgn="auto">
              <a:lnSpc>
                <a:spcPct val="90000"/>
              </a:lnSpc>
              <a:spcBef>
                <a:spcPct val="0"/>
              </a:spcBef>
              <a:spcAft>
                <a:spcPts val="0"/>
              </a:spcAft>
              <a:buClrTx/>
              <a:buSzTx/>
              <a:buFontTx/>
              <a:buNone/>
              <a:tabLst/>
              <a:defRPr kumimoji="0" sz="2400" b="1" i="0" u="none" strike="noStrike" cap="none" spc="0" normalizeH="0" baseline="0">
                <a:ln>
                  <a:noFill/>
                </a:ln>
                <a:solidFill>
                  <a:prstClr val="white"/>
                </a:solidFill>
                <a:effectLst/>
                <a:uLnTx/>
                <a:uFillTx/>
                <a:latin typeface="Arial" panose="020B0604020202020204" pitchFamily="34" charset="0"/>
                <a:ea typeface="+mj-ea"/>
                <a:cs typeface="Arial" panose="020B0604020202020204" pitchFamily="34" charset="0"/>
              </a:defRPr>
            </a:lvl1pPr>
          </a:lstStyle>
          <a:p>
            <a:r>
              <a:rPr lang="en-US" noProof="0">
                <a:sym typeface="Gordita"/>
              </a:rPr>
              <a:t>INSIGHTS &amp; KEY DEFINITIONS FOR THE TO-BE MODEL</a:t>
            </a:r>
          </a:p>
          <a:p>
            <a:r>
              <a:rPr lang="en-US" sz="1200" noProof="0"/>
              <a:t>TO-BE GUIDING PRINCIPLES</a:t>
            </a:r>
          </a:p>
        </p:txBody>
      </p:sp>
      <p:sp>
        <p:nvSpPr>
          <p:cNvPr id="20" name="TextBox 58">
            <a:extLst>
              <a:ext uri="{FF2B5EF4-FFF2-40B4-BE49-F238E27FC236}">
                <a16:creationId xmlns:a16="http://schemas.microsoft.com/office/drawing/2014/main" id="{CEA09503-09C2-C5C1-6594-F53C78FF2B85}"/>
              </a:ext>
            </a:extLst>
          </p:cNvPr>
          <p:cNvSpPr txBox="1"/>
          <p:nvPr/>
        </p:nvSpPr>
        <p:spPr>
          <a:xfrm>
            <a:off x="246506" y="843976"/>
            <a:ext cx="11274552" cy="430887"/>
          </a:xfrm>
          <a:prstGeom prst="rect">
            <a:avLst/>
          </a:prstGeom>
          <a:noFill/>
        </p:spPr>
        <p:txBody>
          <a:bodyPr wrap="square" lIns="0" tIns="0" rIns="0" bIns="0" rtlCol="0">
            <a:noAutofit/>
          </a:bodyPr>
          <a:lstStyle>
            <a:defPPr>
              <a:defRPr lang="en-US"/>
            </a:defPPr>
            <a:lvl1pPr marR="0" lvl="0" indent="0" algn="just" fontAlgn="auto">
              <a:lnSpc>
                <a:spcPct val="100000"/>
              </a:lnSpc>
              <a:spcBef>
                <a:spcPts val="0"/>
              </a:spcBef>
              <a:spcAft>
                <a:spcPts val="0"/>
              </a:spcAft>
              <a:buClrTx/>
              <a:buSzTx/>
              <a:buFontTx/>
              <a:buNone/>
              <a:tabLst/>
              <a:defRPr kumimoji="0" sz="1400" b="1" i="0" u="none" strike="noStrike" cap="none" spc="0" normalizeH="0" baseline="0">
                <a:ln>
                  <a:noFill/>
                </a:ln>
                <a:solidFill>
                  <a:srgbClr val="0F9ED5">
                    <a:lumMod val="75000"/>
                  </a:srgbClr>
                </a:solidFill>
                <a:effectLst/>
                <a:uLnTx/>
                <a:uFillTx/>
                <a:latin typeface="Arial" panose="020B0604020202020204" pitchFamily="34" charset="0"/>
                <a:cs typeface="Arial" panose="020B0604020202020204" pitchFamily="34" charset="0"/>
              </a:defRPr>
            </a:lvl1pPr>
            <a:lvl2pPr marL="228586" eaLnBrk="0" fontAlgn="base" hangingPunct="0">
              <a:spcBef>
                <a:spcPct val="0"/>
              </a:spcBef>
              <a:spcAft>
                <a:spcPct val="0"/>
              </a:spcAft>
              <a:defRPr>
                <a:latin typeface="Arial" pitchFamily="2" charset="77"/>
              </a:defRPr>
            </a:lvl2pPr>
            <a:lvl3pPr marL="457172" eaLnBrk="0" fontAlgn="base" hangingPunct="0">
              <a:spcBef>
                <a:spcPct val="0"/>
              </a:spcBef>
              <a:spcAft>
                <a:spcPct val="0"/>
              </a:spcAft>
              <a:defRPr>
                <a:latin typeface="Arial" pitchFamily="2" charset="77"/>
              </a:defRPr>
            </a:lvl3pPr>
            <a:lvl4pPr marL="685757" eaLnBrk="0" fontAlgn="base" hangingPunct="0">
              <a:spcBef>
                <a:spcPct val="0"/>
              </a:spcBef>
              <a:spcAft>
                <a:spcPct val="0"/>
              </a:spcAft>
              <a:defRPr>
                <a:latin typeface="Arial" pitchFamily="2" charset="77"/>
              </a:defRPr>
            </a:lvl4pPr>
            <a:lvl5pPr marL="914343" eaLnBrk="0" fontAlgn="base" hangingPunct="0">
              <a:spcBef>
                <a:spcPct val="0"/>
              </a:spcBef>
              <a:spcAft>
                <a:spcPct val="0"/>
              </a:spcAft>
              <a:defRPr>
                <a:latin typeface="Arial" pitchFamily="2" charset="77"/>
              </a:defRPr>
            </a:lvl5pPr>
            <a:lvl6pPr marL="1142929" defTabSz="457172">
              <a:defRPr>
                <a:latin typeface="Arial" pitchFamily="2" charset="77"/>
              </a:defRPr>
            </a:lvl6pPr>
            <a:lvl7pPr marL="1371515" defTabSz="457172">
              <a:defRPr>
                <a:latin typeface="Arial" pitchFamily="2" charset="77"/>
              </a:defRPr>
            </a:lvl7pPr>
            <a:lvl8pPr marL="1600100" defTabSz="457172">
              <a:defRPr>
                <a:latin typeface="Arial" pitchFamily="2" charset="77"/>
              </a:defRPr>
            </a:lvl8pPr>
            <a:lvl9pPr marL="1828686" defTabSz="457172">
              <a:defRPr>
                <a:latin typeface="Arial" pitchFamily="2" charset="77"/>
              </a:defRPr>
            </a:lvl9pPr>
          </a:lstStyle>
          <a:p>
            <a:r>
              <a:rPr lang="en-US" noProof="0"/>
              <a:t>Four principles guide the Target Operating Model — each answers one of the 7 structural issues and is grounded in prior NTT work with Avangrid</a:t>
            </a:r>
          </a:p>
        </p:txBody>
      </p:sp>
      <p:sp>
        <p:nvSpPr>
          <p:cNvPr id="21" name="Elipse 20">
            <a:extLst>
              <a:ext uri="{FF2B5EF4-FFF2-40B4-BE49-F238E27FC236}">
                <a16:creationId xmlns:a16="http://schemas.microsoft.com/office/drawing/2014/main" id="{3BAA0A42-0C2F-44E7-E673-2C7AD6EE2E3C}"/>
              </a:ext>
            </a:extLst>
          </p:cNvPr>
          <p:cNvSpPr/>
          <p:nvPr/>
        </p:nvSpPr>
        <p:spPr>
          <a:xfrm>
            <a:off x="487560" y="1635458"/>
            <a:ext cx="673200" cy="673200"/>
          </a:xfrm>
          <a:prstGeom prst="ellipse">
            <a:avLst/>
          </a:prstGeom>
          <a:solidFill>
            <a:srgbClr val="2C578B"/>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2" name="Elipse 21">
            <a:extLst>
              <a:ext uri="{FF2B5EF4-FFF2-40B4-BE49-F238E27FC236}">
                <a16:creationId xmlns:a16="http://schemas.microsoft.com/office/drawing/2014/main" id="{254EE442-ADE0-70DD-37A5-5430A69B0313}"/>
              </a:ext>
            </a:extLst>
          </p:cNvPr>
          <p:cNvSpPr/>
          <p:nvPr/>
        </p:nvSpPr>
        <p:spPr>
          <a:xfrm>
            <a:off x="487560" y="5757108"/>
            <a:ext cx="673200" cy="673200"/>
          </a:xfrm>
          <a:prstGeom prst="ellipse">
            <a:avLst/>
          </a:prstGeom>
          <a:solidFill>
            <a:srgbClr val="2C578B"/>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3" name="Elipse 22">
            <a:extLst>
              <a:ext uri="{FF2B5EF4-FFF2-40B4-BE49-F238E27FC236}">
                <a16:creationId xmlns:a16="http://schemas.microsoft.com/office/drawing/2014/main" id="{19F69576-8DC2-20BE-EADA-6573F3F2F61C}"/>
              </a:ext>
            </a:extLst>
          </p:cNvPr>
          <p:cNvSpPr/>
          <p:nvPr/>
        </p:nvSpPr>
        <p:spPr>
          <a:xfrm>
            <a:off x="1838840" y="4383090"/>
            <a:ext cx="673200" cy="673200"/>
          </a:xfrm>
          <a:prstGeom prst="ellipse">
            <a:avLst/>
          </a:prstGeom>
          <a:solidFill>
            <a:srgbClr val="2C578B"/>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4" name="Elipse 23">
            <a:extLst>
              <a:ext uri="{FF2B5EF4-FFF2-40B4-BE49-F238E27FC236}">
                <a16:creationId xmlns:a16="http://schemas.microsoft.com/office/drawing/2014/main" id="{662D112A-C218-C4CD-16B5-EE9E84243354}"/>
              </a:ext>
            </a:extLst>
          </p:cNvPr>
          <p:cNvSpPr/>
          <p:nvPr/>
        </p:nvSpPr>
        <p:spPr>
          <a:xfrm>
            <a:off x="1838840" y="3009073"/>
            <a:ext cx="673200" cy="673200"/>
          </a:xfrm>
          <a:prstGeom prst="ellipse">
            <a:avLst/>
          </a:prstGeom>
          <a:solidFill>
            <a:srgbClr val="2C578B"/>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37" name="CuadroTexto 36">
            <a:extLst>
              <a:ext uri="{FF2B5EF4-FFF2-40B4-BE49-F238E27FC236}">
                <a16:creationId xmlns:a16="http://schemas.microsoft.com/office/drawing/2014/main" id="{BFA7C1D7-EF38-ACFC-DDD6-02A6B1254FD7}"/>
              </a:ext>
            </a:extLst>
          </p:cNvPr>
          <p:cNvSpPr txBox="1"/>
          <p:nvPr/>
        </p:nvSpPr>
        <p:spPr>
          <a:xfrm>
            <a:off x="40640" y="3983837"/>
            <a:ext cx="1678842" cy="646331"/>
          </a:xfrm>
          <a:prstGeom prst="rect">
            <a:avLst/>
          </a:prstGeom>
          <a:noFill/>
        </p:spPr>
        <p:txBody>
          <a:bodyPr wrap="square">
            <a:spAutoFit/>
          </a:bodyPr>
          <a:lstStyle/>
          <a:p>
            <a:pPr lvl="0" algn="ctr" eaLnBrk="0" fontAlgn="base" hangingPunct="0">
              <a:spcBef>
                <a:spcPct val="0"/>
              </a:spcBef>
              <a:spcAft>
                <a:spcPct val="0"/>
              </a:spcAft>
            </a:pPr>
            <a:r>
              <a:rPr lang="en-US" sz="1200" b="1" noProof="0">
                <a:solidFill>
                  <a:srgbClr val="2C578B"/>
                </a:solidFill>
                <a:latin typeface="Arial" panose="020B0604020202020204" pitchFamily="34" charset="0"/>
              </a:rPr>
              <a:t>PRODUCT-CENTRIC DESIGN PRINCIPLES </a:t>
            </a:r>
            <a:endParaRPr lang="en-US" sz="1200" noProof="0">
              <a:solidFill>
                <a:srgbClr val="2C578B"/>
              </a:solidFill>
              <a:latin typeface="Arial" panose="020B0604020202020204" pitchFamily="34" charset="0"/>
            </a:endParaRPr>
          </a:p>
        </p:txBody>
      </p:sp>
      <p:pic>
        <p:nvPicPr>
          <p:cNvPr id="40" name="Gráfico 39" descr="Corona de usuario femenino con relleno sólido">
            <a:extLst>
              <a:ext uri="{FF2B5EF4-FFF2-40B4-BE49-F238E27FC236}">
                <a16:creationId xmlns:a16="http://schemas.microsoft.com/office/drawing/2014/main" id="{D621DF53-553F-EBB1-BECE-79B333AF40E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43235" y="5817195"/>
            <a:ext cx="567771" cy="567771"/>
          </a:xfrm>
          <a:prstGeom prst="rect">
            <a:avLst/>
          </a:prstGeom>
        </p:spPr>
      </p:pic>
      <p:pic>
        <p:nvPicPr>
          <p:cNvPr id="42" name="Gráfico 41" descr="Inventario de búsqueda con relleno sólido">
            <a:extLst>
              <a:ext uri="{FF2B5EF4-FFF2-40B4-BE49-F238E27FC236}">
                <a16:creationId xmlns:a16="http://schemas.microsoft.com/office/drawing/2014/main" id="{A162DA87-9870-8352-DC4A-B3866ADB7C0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04675" y="4405942"/>
            <a:ext cx="567771" cy="567771"/>
          </a:xfrm>
          <a:prstGeom prst="rect">
            <a:avLst/>
          </a:prstGeom>
        </p:spPr>
      </p:pic>
      <p:pic>
        <p:nvPicPr>
          <p:cNvPr id="44" name="Gráfico 43" descr="Diamante con relleno sólido">
            <a:extLst>
              <a:ext uri="{FF2B5EF4-FFF2-40B4-BE49-F238E27FC236}">
                <a16:creationId xmlns:a16="http://schemas.microsoft.com/office/drawing/2014/main" id="{B93847E0-CD95-3A9D-F169-B00BB00521D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904675" y="3096289"/>
            <a:ext cx="567771" cy="567771"/>
          </a:xfrm>
          <a:prstGeom prst="rect">
            <a:avLst/>
          </a:prstGeom>
        </p:spPr>
      </p:pic>
      <p:pic>
        <p:nvPicPr>
          <p:cNvPr id="46" name="Gráfico 45" descr="Bandeja de entrada marcada con relleno sólido">
            <a:extLst>
              <a:ext uri="{FF2B5EF4-FFF2-40B4-BE49-F238E27FC236}">
                <a16:creationId xmlns:a16="http://schemas.microsoft.com/office/drawing/2014/main" id="{D16C9C1D-25C4-B6FF-129B-B4E20391867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63555" y="1644395"/>
            <a:ext cx="567771" cy="567771"/>
          </a:xfrm>
          <a:prstGeom prst="rect">
            <a:avLst/>
          </a:prstGeom>
        </p:spPr>
      </p:pic>
      <p:pic>
        <p:nvPicPr>
          <p:cNvPr id="48" name="Gráfico 47" descr="Mejora continua con relleno sólido">
            <a:extLst>
              <a:ext uri="{FF2B5EF4-FFF2-40B4-BE49-F238E27FC236}">
                <a16:creationId xmlns:a16="http://schemas.microsoft.com/office/drawing/2014/main" id="{F0863BFD-CFAC-AB3A-2660-F12667B6A4E3}"/>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77141" y="3108960"/>
            <a:ext cx="1005840" cy="1005840"/>
          </a:xfrm>
          <a:prstGeom prst="rect">
            <a:avLst/>
          </a:prstGeom>
        </p:spPr>
      </p:pic>
    </p:spTree>
    <p:extLst>
      <p:ext uri="{BB962C8B-B14F-4D97-AF65-F5344CB8AC3E}">
        <p14:creationId xmlns:p14="http://schemas.microsoft.com/office/powerpoint/2010/main" val="103226085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Rectangle 3"/>
          <p:cNvSpPr/>
          <p:nvPr/>
        </p:nvSpPr>
        <p:spPr>
          <a:xfrm>
            <a:off x="246506" y="1352336"/>
            <a:ext cx="11274552" cy="79552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 name="Rectangle 4"/>
          <p:cNvSpPr/>
          <p:nvPr/>
        </p:nvSpPr>
        <p:spPr>
          <a:xfrm>
            <a:off x="246506" y="1352336"/>
            <a:ext cx="73152" cy="79552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solidFill>
                <a:srgbClr val="3B7D23"/>
              </a:solidFill>
              <a:latin typeface="Arial" panose="020B0604020202020204" pitchFamily="34" charset="0"/>
              <a:cs typeface="Arial" panose="020B0604020202020204" pitchFamily="34" charset="0"/>
            </a:endParaRPr>
          </a:p>
        </p:txBody>
      </p:sp>
      <p:sp>
        <p:nvSpPr>
          <p:cNvPr id="6" name="Rectangle 5"/>
          <p:cNvSpPr/>
          <p:nvPr/>
        </p:nvSpPr>
        <p:spPr>
          <a:xfrm>
            <a:off x="383666" y="1489496"/>
            <a:ext cx="640080"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7" name="TextBox 6"/>
          <p:cNvSpPr txBox="1"/>
          <p:nvPr/>
        </p:nvSpPr>
        <p:spPr>
          <a:xfrm>
            <a:off x="383666" y="1631663"/>
            <a:ext cx="640080" cy="218586"/>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400" b="1" i="0" noProof="0">
                <a:solidFill>
                  <a:srgbClr val="FFFFFF"/>
                </a:solidFill>
                <a:latin typeface="Arial" panose="020B0604020202020204" pitchFamily="34" charset="0"/>
                <a:cs typeface="Arial" panose="020B0604020202020204" pitchFamily="34" charset="0"/>
              </a:rPr>
              <a:t>R1</a:t>
            </a:r>
          </a:p>
        </p:txBody>
      </p:sp>
      <p:sp>
        <p:nvSpPr>
          <p:cNvPr id="8" name="TextBox 7"/>
          <p:cNvSpPr txBox="1"/>
          <p:nvPr/>
        </p:nvSpPr>
        <p:spPr>
          <a:xfrm>
            <a:off x="1160906" y="1443776"/>
            <a:ext cx="8686800" cy="187424"/>
          </a:xfrm>
          <a:prstGeom prst="rect">
            <a:avLst/>
          </a:prstGeom>
          <a:noFill/>
        </p:spPr>
        <p:txBody>
          <a:bodyPr wrap="square" lIns="0" tIns="0" rIns="0" bIns="0" anchor="t">
            <a:spAutoFit/>
          </a:bodyPr>
          <a:lstStyle/>
          <a:p>
            <a:pPr algn="l">
              <a:lnSpc>
                <a:spcPct val="110000"/>
              </a:lnSpc>
              <a:spcBef>
                <a:spcPts val="0"/>
              </a:spcBef>
              <a:spcAft>
                <a:spcPts val="0"/>
              </a:spcAft>
            </a:pPr>
            <a:r>
              <a:rPr lang="en-US" sz="1200" b="1" i="0" noProof="0">
                <a:solidFill>
                  <a:schemeClr val="bg2">
                    <a:lumMod val="25000"/>
                  </a:schemeClr>
                </a:solidFill>
                <a:latin typeface="Arial" panose="020B0604020202020204" pitchFamily="34" charset="0"/>
                <a:cs typeface="Arial" panose="020B0604020202020204" pitchFamily="34" charset="0"/>
              </a:rPr>
              <a:t>Unknown demand volume meets scaling load</a:t>
            </a:r>
          </a:p>
        </p:txBody>
      </p:sp>
      <p:sp>
        <p:nvSpPr>
          <p:cNvPr id="9" name="TextBox 8"/>
          <p:cNvSpPr txBox="1"/>
          <p:nvPr/>
        </p:nvSpPr>
        <p:spPr>
          <a:xfrm>
            <a:off x="1160906" y="1736384"/>
            <a:ext cx="8686800"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30–50% growth applied to unmeasured channels = capacity shortfall cannot be forecast. Hiring decisions remain reactive.</a:t>
            </a:r>
          </a:p>
        </p:txBody>
      </p:sp>
      <p:sp>
        <p:nvSpPr>
          <p:cNvPr id="12" name="Rectangle 11"/>
          <p:cNvSpPr/>
          <p:nvPr/>
        </p:nvSpPr>
        <p:spPr>
          <a:xfrm>
            <a:off x="246506" y="2221016"/>
            <a:ext cx="11274552" cy="79552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3" name="Rectangle 12"/>
          <p:cNvSpPr/>
          <p:nvPr/>
        </p:nvSpPr>
        <p:spPr>
          <a:xfrm>
            <a:off x="246506" y="2221016"/>
            <a:ext cx="73152" cy="79552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solidFill>
                <a:srgbClr val="3B7D23"/>
              </a:solidFill>
              <a:latin typeface="Arial" panose="020B0604020202020204" pitchFamily="34" charset="0"/>
              <a:cs typeface="Arial" panose="020B0604020202020204" pitchFamily="34" charset="0"/>
            </a:endParaRPr>
          </a:p>
        </p:txBody>
      </p:sp>
      <p:sp>
        <p:nvSpPr>
          <p:cNvPr id="14" name="Rectangle 13"/>
          <p:cNvSpPr/>
          <p:nvPr/>
        </p:nvSpPr>
        <p:spPr>
          <a:xfrm>
            <a:off x="383666" y="2358176"/>
            <a:ext cx="640080"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5" name="TextBox 14"/>
          <p:cNvSpPr txBox="1"/>
          <p:nvPr/>
        </p:nvSpPr>
        <p:spPr>
          <a:xfrm>
            <a:off x="383666" y="2500343"/>
            <a:ext cx="640080" cy="218586"/>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400" b="1" i="0" noProof="0">
                <a:solidFill>
                  <a:srgbClr val="FFFFFF"/>
                </a:solidFill>
                <a:latin typeface="Arial" panose="020B0604020202020204" pitchFamily="34" charset="0"/>
                <a:cs typeface="Arial" panose="020B0604020202020204" pitchFamily="34" charset="0"/>
              </a:rPr>
              <a:t>R2</a:t>
            </a:r>
          </a:p>
        </p:txBody>
      </p:sp>
      <p:sp>
        <p:nvSpPr>
          <p:cNvPr id="16" name="TextBox 15"/>
          <p:cNvSpPr txBox="1"/>
          <p:nvPr/>
        </p:nvSpPr>
        <p:spPr>
          <a:xfrm>
            <a:off x="1160906" y="2312456"/>
            <a:ext cx="8686800" cy="187424"/>
          </a:xfrm>
          <a:prstGeom prst="rect">
            <a:avLst/>
          </a:prstGeom>
          <a:noFill/>
        </p:spPr>
        <p:txBody>
          <a:bodyPr wrap="square" lIns="0" tIns="0" rIns="0" bIns="0" anchor="t">
            <a:spAutoFit/>
          </a:bodyPr>
          <a:lstStyle/>
          <a:p>
            <a:pPr algn="l">
              <a:lnSpc>
                <a:spcPct val="110000"/>
              </a:lnSpc>
              <a:spcBef>
                <a:spcPts val="0"/>
              </a:spcBef>
              <a:spcAft>
                <a:spcPts val="0"/>
              </a:spcAft>
            </a:pPr>
            <a:r>
              <a:rPr lang="en-US" sz="1200" b="1" i="0" noProof="0">
                <a:solidFill>
                  <a:schemeClr val="bg2">
                    <a:lumMod val="25000"/>
                  </a:schemeClr>
                </a:solidFill>
                <a:latin typeface="Arial" panose="020B0604020202020204" pitchFamily="34" charset="0"/>
                <a:cs typeface="Arial" panose="020B0604020202020204" pitchFamily="34" charset="0"/>
              </a:rPr>
              <a:t>Vendor control of timelines and estimates</a:t>
            </a:r>
          </a:p>
        </p:txBody>
      </p:sp>
      <p:sp>
        <p:nvSpPr>
          <p:cNvPr id="17" name="TextBox 16"/>
          <p:cNvSpPr txBox="1"/>
          <p:nvPr/>
        </p:nvSpPr>
        <p:spPr>
          <a:xfrm>
            <a:off x="1160906" y="2605064"/>
            <a:ext cx="8686800"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Smart Metering is 100% vendor-delivered. G&amp;E upgrades follow vendor schedules. Without governance, budget overruns stay invisible until delivery.</a:t>
            </a:r>
          </a:p>
        </p:txBody>
      </p:sp>
      <p:sp>
        <p:nvSpPr>
          <p:cNvPr id="20" name="Rectangle 19"/>
          <p:cNvSpPr/>
          <p:nvPr/>
        </p:nvSpPr>
        <p:spPr>
          <a:xfrm>
            <a:off x="246506" y="3089696"/>
            <a:ext cx="11274552" cy="79552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1" name="Rectangle 20"/>
          <p:cNvSpPr/>
          <p:nvPr/>
        </p:nvSpPr>
        <p:spPr>
          <a:xfrm>
            <a:off x="246506" y="3089696"/>
            <a:ext cx="73152" cy="79552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solidFill>
                <a:srgbClr val="3B7D23"/>
              </a:solidFill>
              <a:latin typeface="Arial" panose="020B0604020202020204" pitchFamily="34" charset="0"/>
              <a:cs typeface="Arial" panose="020B0604020202020204" pitchFamily="34" charset="0"/>
            </a:endParaRPr>
          </a:p>
        </p:txBody>
      </p:sp>
      <p:sp>
        <p:nvSpPr>
          <p:cNvPr id="22" name="Rectangle 21"/>
          <p:cNvSpPr/>
          <p:nvPr/>
        </p:nvSpPr>
        <p:spPr>
          <a:xfrm>
            <a:off x="383666" y="3226856"/>
            <a:ext cx="640080"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3" name="TextBox 22"/>
          <p:cNvSpPr txBox="1"/>
          <p:nvPr/>
        </p:nvSpPr>
        <p:spPr>
          <a:xfrm>
            <a:off x="383666" y="3369023"/>
            <a:ext cx="640080" cy="218586"/>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400" b="1" i="0" noProof="0">
                <a:solidFill>
                  <a:srgbClr val="FFFFFF"/>
                </a:solidFill>
                <a:latin typeface="Arial" panose="020B0604020202020204" pitchFamily="34" charset="0"/>
                <a:cs typeface="Arial" panose="020B0604020202020204" pitchFamily="34" charset="0"/>
              </a:rPr>
              <a:t>R3</a:t>
            </a:r>
          </a:p>
        </p:txBody>
      </p:sp>
      <p:sp>
        <p:nvSpPr>
          <p:cNvPr id="24" name="TextBox 23"/>
          <p:cNvSpPr txBox="1"/>
          <p:nvPr/>
        </p:nvSpPr>
        <p:spPr>
          <a:xfrm>
            <a:off x="1160906" y="3181136"/>
            <a:ext cx="8686800" cy="187424"/>
          </a:xfrm>
          <a:prstGeom prst="rect">
            <a:avLst/>
          </a:prstGeom>
          <a:noFill/>
        </p:spPr>
        <p:txBody>
          <a:bodyPr wrap="square" lIns="0" tIns="0" rIns="0" bIns="0" anchor="t">
            <a:spAutoFit/>
          </a:bodyPr>
          <a:lstStyle/>
          <a:p>
            <a:pPr algn="l">
              <a:lnSpc>
                <a:spcPct val="110000"/>
              </a:lnSpc>
              <a:spcBef>
                <a:spcPts val="0"/>
              </a:spcBef>
              <a:spcAft>
                <a:spcPts val="0"/>
              </a:spcAft>
            </a:pPr>
            <a:r>
              <a:rPr lang="en-US" sz="1200" b="1" i="0" noProof="0">
                <a:solidFill>
                  <a:schemeClr val="bg2">
                    <a:lumMod val="25000"/>
                  </a:schemeClr>
                </a:solidFill>
                <a:latin typeface="Arial" panose="020B0604020202020204" pitchFamily="34" charset="0"/>
                <a:cs typeface="Arial" panose="020B0604020202020204" pitchFamily="34" charset="0"/>
              </a:rPr>
              <a:t>ROI traceability breaks</a:t>
            </a:r>
          </a:p>
        </p:txBody>
      </p:sp>
      <p:sp>
        <p:nvSpPr>
          <p:cNvPr id="25" name="TextBox 24"/>
          <p:cNvSpPr txBox="1"/>
          <p:nvPr/>
        </p:nvSpPr>
        <p:spPr>
          <a:xfrm>
            <a:off x="1160906" y="3473744"/>
            <a:ext cx="8686800"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Without portfolio tooling or value-stream lens, IT spend cannot be traced back to business outcomes. Executive defensibility degrades.</a:t>
            </a:r>
          </a:p>
        </p:txBody>
      </p:sp>
      <p:sp>
        <p:nvSpPr>
          <p:cNvPr id="28" name="Rectangle 27"/>
          <p:cNvSpPr/>
          <p:nvPr/>
        </p:nvSpPr>
        <p:spPr>
          <a:xfrm>
            <a:off x="246506" y="3958376"/>
            <a:ext cx="11274552" cy="79552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9" name="Rectangle 28"/>
          <p:cNvSpPr/>
          <p:nvPr/>
        </p:nvSpPr>
        <p:spPr>
          <a:xfrm>
            <a:off x="246506" y="3958376"/>
            <a:ext cx="73152" cy="79552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solidFill>
                <a:srgbClr val="3B7D23"/>
              </a:solidFill>
              <a:latin typeface="Arial" panose="020B0604020202020204" pitchFamily="34" charset="0"/>
              <a:cs typeface="Arial" panose="020B0604020202020204" pitchFamily="34" charset="0"/>
            </a:endParaRPr>
          </a:p>
        </p:txBody>
      </p:sp>
      <p:sp>
        <p:nvSpPr>
          <p:cNvPr id="30" name="Rectangle 29"/>
          <p:cNvSpPr/>
          <p:nvPr/>
        </p:nvSpPr>
        <p:spPr>
          <a:xfrm>
            <a:off x="383666" y="4095536"/>
            <a:ext cx="640080"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1" name="TextBox 30"/>
          <p:cNvSpPr txBox="1"/>
          <p:nvPr/>
        </p:nvSpPr>
        <p:spPr>
          <a:xfrm>
            <a:off x="383666" y="4237703"/>
            <a:ext cx="640080" cy="218586"/>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400" b="1" i="0" noProof="0">
                <a:solidFill>
                  <a:srgbClr val="FFFFFF"/>
                </a:solidFill>
                <a:latin typeface="Arial" panose="020B0604020202020204" pitchFamily="34" charset="0"/>
                <a:cs typeface="Arial" panose="020B0604020202020204" pitchFamily="34" charset="0"/>
              </a:rPr>
              <a:t>R4</a:t>
            </a:r>
          </a:p>
        </p:txBody>
      </p:sp>
      <p:sp>
        <p:nvSpPr>
          <p:cNvPr id="32" name="TextBox 31"/>
          <p:cNvSpPr txBox="1"/>
          <p:nvPr/>
        </p:nvSpPr>
        <p:spPr>
          <a:xfrm>
            <a:off x="1160906" y="4049816"/>
            <a:ext cx="8686800" cy="187424"/>
          </a:xfrm>
          <a:prstGeom prst="rect">
            <a:avLst/>
          </a:prstGeom>
          <a:noFill/>
        </p:spPr>
        <p:txBody>
          <a:bodyPr wrap="square" lIns="0" tIns="0" rIns="0" bIns="0" anchor="t">
            <a:spAutoFit/>
          </a:bodyPr>
          <a:lstStyle/>
          <a:p>
            <a:pPr algn="l">
              <a:lnSpc>
                <a:spcPct val="110000"/>
              </a:lnSpc>
              <a:spcBef>
                <a:spcPts val="0"/>
              </a:spcBef>
              <a:spcAft>
                <a:spcPts val="0"/>
              </a:spcAft>
            </a:pPr>
            <a:r>
              <a:rPr lang="en-US" sz="1200" b="1" i="0" noProof="0">
                <a:solidFill>
                  <a:schemeClr val="bg2">
                    <a:lumMod val="25000"/>
                  </a:schemeClr>
                </a:solidFill>
                <a:latin typeface="Arial" panose="020B0604020202020204" pitchFamily="34" charset="0"/>
                <a:cs typeface="Arial" panose="020B0604020202020204" pitchFamily="34" charset="0"/>
              </a:rPr>
              <a:t>Leadership vacancies prolonged</a:t>
            </a:r>
          </a:p>
        </p:txBody>
      </p:sp>
      <p:sp>
        <p:nvSpPr>
          <p:cNvPr id="33" name="TextBox 32"/>
          <p:cNvSpPr txBox="1"/>
          <p:nvPr/>
        </p:nvSpPr>
        <p:spPr>
          <a:xfrm>
            <a:off x="1160906" y="4342424"/>
            <a:ext cx="8686800"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CRM Sr. Manager and SAP &amp; CS Architecture positions remain open. Decisions default to director level across ~24 FTE — not sustainable.</a:t>
            </a:r>
          </a:p>
        </p:txBody>
      </p:sp>
      <p:sp>
        <p:nvSpPr>
          <p:cNvPr id="36" name="Rectangle 35"/>
          <p:cNvSpPr/>
          <p:nvPr/>
        </p:nvSpPr>
        <p:spPr>
          <a:xfrm>
            <a:off x="246506" y="4827056"/>
            <a:ext cx="11274552" cy="79552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7" name="Rectangle 36"/>
          <p:cNvSpPr/>
          <p:nvPr/>
        </p:nvSpPr>
        <p:spPr>
          <a:xfrm>
            <a:off x="246506" y="4827056"/>
            <a:ext cx="73152" cy="79552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solidFill>
                <a:srgbClr val="3B7D23"/>
              </a:solidFill>
              <a:latin typeface="Arial" panose="020B0604020202020204" pitchFamily="34" charset="0"/>
              <a:cs typeface="Arial" panose="020B0604020202020204" pitchFamily="34" charset="0"/>
            </a:endParaRPr>
          </a:p>
        </p:txBody>
      </p:sp>
      <p:sp>
        <p:nvSpPr>
          <p:cNvPr id="38" name="Rectangle 37"/>
          <p:cNvSpPr/>
          <p:nvPr/>
        </p:nvSpPr>
        <p:spPr>
          <a:xfrm>
            <a:off x="383666" y="4964216"/>
            <a:ext cx="640080"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9" name="TextBox 38"/>
          <p:cNvSpPr txBox="1"/>
          <p:nvPr/>
        </p:nvSpPr>
        <p:spPr>
          <a:xfrm>
            <a:off x="383666" y="5106383"/>
            <a:ext cx="640080" cy="218586"/>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400" b="1" i="0" noProof="0">
                <a:solidFill>
                  <a:srgbClr val="FFFFFF"/>
                </a:solidFill>
                <a:latin typeface="Arial" panose="020B0604020202020204" pitchFamily="34" charset="0"/>
                <a:cs typeface="Arial" panose="020B0604020202020204" pitchFamily="34" charset="0"/>
              </a:rPr>
              <a:t>R5</a:t>
            </a:r>
          </a:p>
        </p:txBody>
      </p:sp>
      <p:sp>
        <p:nvSpPr>
          <p:cNvPr id="40" name="TextBox 39"/>
          <p:cNvSpPr txBox="1"/>
          <p:nvPr/>
        </p:nvSpPr>
        <p:spPr>
          <a:xfrm>
            <a:off x="1160906" y="4918496"/>
            <a:ext cx="8686800" cy="187424"/>
          </a:xfrm>
          <a:prstGeom prst="rect">
            <a:avLst/>
          </a:prstGeom>
          <a:noFill/>
        </p:spPr>
        <p:txBody>
          <a:bodyPr wrap="square" lIns="0" tIns="0" rIns="0" bIns="0" anchor="t">
            <a:spAutoFit/>
          </a:bodyPr>
          <a:lstStyle/>
          <a:p>
            <a:pPr algn="l">
              <a:lnSpc>
                <a:spcPct val="110000"/>
              </a:lnSpc>
              <a:spcBef>
                <a:spcPts val="0"/>
              </a:spcBef>
              <a:spcAft>
                <a:spcPts val="0"/>
              </a:spcAft>
            </a:pPr>
            <a:r>
              <a:rPr lang="en-US" sz="1200" b="1" i="0" noProof="0">
                <a:solidFill>
                  <a:schemeClr val="bg2">
                    <a:lumMod val="25000"/>
                  </a:schemeClr>
                </a:solidFill>
                <a:latin typeface="Arial" panose="020B0604020202020204" pitchFamily="34" charset="0"/>
                <a:cs typeface="Arial" panose="020B0604020202020204" pitchFamily="34" charset="0"/>
              </a:rPr>
              <a:t>Global SAP vs SAP drift</a:t>
            </a:r>
          </a:p>
        </p:txBody>
      </p:sp>
      <p:sp>
        <p:nvSpPr>
          <p:cNvPr id="41" name="TextBox 40"/>
          <p:cNvSpPr txBox="1"/>
          <p:nvPr/>
        </p:nvSpPr>
        <p:spPr>
          <a:xfrm>
            <a:off x="1160906" y="5211104"/>
            <a:ext cx="8686800"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With no enterprise-level reconciliation, the two SAP footprints evolve independently. Integration cost grows silently each quarter.</a:t>
            </a:r>
          </a:p>
        </p:txBody>
      </p:sp>
      <p:sp>
        <p:nvSpPr>
          <p:cNvPr id="59" name="Título 2">
            <a:extLst>
              <a:ext uri="{FF2B5EF4-FFF2-40B4-BE49-F238E27FC236}">
                <a16:creationId xmlns:a16="http://schemas.microsoft.com/office/drawing/2014/main" id="{7C30A918-5C9B-49CE-1E23-CA4EEFB86F07}"/>
              </a:ext>
            </a:extLst>
          </p:cNvPr>
          <p:cNvSpPr txBox="1">
            <a:spLocks/>
          </p:cNvSpPr>
          <p:nvPr/>
        </p:nvSpPr>
        <p:spPr>
          <a:xfrm>
            <a:off x="180918" y="127319"/>
            <a:ext cx="7801032" cy="514011"/>
          </a:xfrm>
          <a:prstGeom prst="rect">
            <a:avLst/>
          </a:prstGeom>
        </p:spPr>
        <p:txBody>
          <a:bodyPr anchor="ctr">
            <a:noAutofit/>
          </a:bodyPr>
          <a:lstStyle>
            <a:defPPr>
              <a:defRPr lang="en-US"/>
            </a:defPPr>
            <a:lvl1pPr marR="0" lvl="0" indent="0" fontAlgn="auto">
              <a:lnSpc>
                <a:spcPct val="90000"/>
              </a:lnSpc>
              <a:spcBef>
                <a:spcPct val="0"/>
              </a:spcBef>
              <a:spcAft>
                <a:spcPts val="0"/>
              </a:spcAft>
              <a:buClrTx/>
              <a:buSzTx/>
              <a:buFontTx/>
              <a:buNone/>
              <a:tabLst/>
              <a:defRPr kumimoji="0" sz="2400" b="1" i="0" u="none" strike="noStrike" cap="none" spc="0" normalizeH="0" baseline="0">
                <a:ln>
                  <a:noFill/>
                </a:ln>
                <a:solidFill>
                  <a:prstClr val="white"/>
                </a:solidFill>
                <a:effectLst/>
                <a:uLnTx/>
                <a:uFillTx/>
                <a:latin typeface="Arial" panose="020B0604020202020204" pitchFamily="34" charset="0"/>
                <a:ea typeface="+mj-ea"/>
                <a:cs typeface="Arial" panose="020B0604020202020204" pitchFamily="34" charset="0"/>
              </a:defRPr>
            </a:lvl1pPr>
          </a:lstStyle>
          <a:p>
            <a:r>
              <a:rPr lang="en-US" noProof="0">
                <a:sym typeface="Gordita"/>
              </a:rPr>
              <a:t>INSIGHTS &amp; KEY DEFINITIONS FOR TO-BE MODEL</a:t>
            </a:r>
          </a:p>
          <a:p>
            <a:r>
              <a:rPr lang="en-US" sz="1200" noProof="0"/>
              <a:t>INSIGHTS</a:t>
            </a:r>
          </a:p>
        </p:txBody>
      </p:sp>
      <p:sp>
        <p:nvSpPr>
          <p:cNvPr id="61" name="TextBox 60"/>
          <p:cNvSpPr txBox="1"/>
          <p:nvPr/>
        </p:nvSpPr>
        <p:spPr>
          <a:xfrm>
            <a:off x="246506" y="853654"/>
            <a:ext cx="11274552" cy="215444"/>
          </a:xfrm>
          <a:prstGeom prst="rect">
            <a:avLst/>
          </a:prstGeom>
          <a:noFill/>
        </p:spPr>
        <p:txBody>
          <a:bodyPr wrap="square" lIns="0" tIns="0" rIns="0" bIns="0" rtlCol="0">
            <a:noAutofit/>
          </a:bodyPr>
          <a:lstStyle>
            <a:defPPr>
              <a:defRPr lang="en-US"/>
            </a:defPPr>
            <a:lvl1pPr marR="0" lvl="0" indent="0" algn="just" fontAlgn="auto">
              <a:lnSpc>
                <a:spcPct val="100000"/>
              </a:lnSpc>
              <a:spcBef>
                <a:spcPts val="0"/>
              </a:spcBef>
              <a:spcAft>
                <a:spcPts val="0"/>
              </a:spcAft>
              <a:buClrTx/>
              <a:buSzTx/>
              <a:buFontTx/>
              <a:buNone/>
              <a:tabLst/>
              <a:defRPr kumimoji="0" sz="1400" b="1" i="0" u="none" strike="noStrike" cap="none" spc="0" normalizeH="0" baseline="0">
                <a:ln>
                  <a:noFill/>
                </a:ln>
                <a:solidFill>
                  <a:srgbClr val="0F9ED5">
                    <a:lumMod val="75000"/>
                  </a:srgbClr>
                </a:solidFill>
                <a:effectLst/>
                <a:uLnTx/>
                <a:uFillTx/>
                <a:latin typeface="Arial" panose="020B0604020202020204" pitchFamily="34" charset="0"/>
                <a:cs typeface="Arial" panose="020B0604020202020204" pitchFamily="34" charset="0"/>
              </a:defRPr>
            </a:lvl1pPr>
            <a:lvl2pPr marL="228586" eaLnBrk="0" fontAlgn="base" hangingPunct="0">
              <a:spcBef>
                <a:spcPct val="0"/>
              </a:spcBef>
              <a:spcAft>
                <a:spcPct val="0"/>
              </a:spcAft>
              <a:defRPr>
                <a:latin typeface="Arial" pitchFamily="2" charset="77"/>
              </a:defRPr>
            </a:lvl2pPr>
            <a:lvl3pPr marL="457172" eaLnBrk="0" fontAlgn="base" hangingPunct="0">
              <a:spcBef>
                <a:spcPct val="0"/>
              </a:spcBef>
              <a:spcAft>
                <a:spcPct val="0"/>
              </a:spcAft>
              <a:defRPr>
                <a:latin typeface="Arial" pitchFamily="2" charset="77"/>
              </a:defRPr>
            </a:lvl3pPr>
            <a:lvl4pPr marL="685757" eaLnBrk="0" fontAlgn="base" hangingPunct="0">
              <a:spcBef>
                <a:spcPct val="0"/>
              </a:spcBef>
              <a:spcAft>
                <a:spcPct val="0"/>
              </a:spcAft>
              <a:defRPr>
                <a:latin typeface="Arial" pitchFamily="2" charset="77"/>
              </a:defRPr>
            </a:lvl4pPr>
            <a:lvl5pPr marL="914343" eaLnBrk="0" fontAlgn="base" hangingPunct="0">
              <a:spcBef>
                <a:spcPct val="0"/>
              </a:spcBef>
              <a:spcAft>
                <a:spcPct val="0"/>
              </a:spcAft>
              <a:defRPr>
                <a:latin typeface="Arial" pitchFamily="2" charset="77"/>
              </a:defRPr>
            </a:lvl5pPr>
            <a:lvl6pPr marL="1142929" defTabSz="457172">
              <a:defRPr>
                <a:latin typeface="Arial" pitchFamily="2" charset="77"/>
              </a:defRPr>
            </a:lvl6pPr>
            <a:lvl7pPr marL="1371515" defTabSz="457172">
              <a:defRPr>
                <a:latin typeface="Arial" pitchFamily="2" charset="77"/>
              </a:defRPr>
            </a:lvl7pPr>
            <a:lvl8pPr marL="1600100" defTabSz="457172">
              <a:defRPr>
                <a:latin typeface="Arial" pitchFamily="2" charset="77"/>
              </a:defRPr>
            </a:lvl8pPr>
            <a:lvl9pPr marL="1828686" defTabSz="457172">
              <a:defRPr>
                <a:latin typeface="Arial" pitchFamily="2" charset="77"/>
              </a:defRPr>
            </a:lvl9pPr>
          </a:lstStyle>
          <a:p>
            <a:r>
              <a:rPr lang="en-US" noProof="0"/>
              <a:t>Five compounding risks if the current operating model is carried into 30–50% growth unchanged</a:t>
            </a:r>
          </a:p>
        </p:txBody>
      </p:sp>
      <p:sp>
        <p:nvSpPr>
          <p:cNvPr id="60" name="Rectangle 177">
            <a:extLst>
              <a:ext uri="{FF2B5EF4-FFF2-40B4-BE49-F238E27FC236}">
                <a16:creationId xmlns:a16="http://schemas.microsoft.com/office/drawing/2014/main" id="{54EB06A2-4521-8284-19F4-8C91D73C7284}"/>
              </a:ext>
            </a:extLst>
          </p:cNvPr>
          <p:cNvSpPr/>
          <p:nvPr/>
        </p:nvSpPr>
        <p:spPr>
          <a:xfrm>
            <a:off x="246506" y="5675336"/>
            <a:ext cx="11274552" cy="34302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solidFill>
                <a:schemeClr val="bg2">
                  <a:lumMod val="25000"/>
                </a:schemeClr>
              </a:solidFill>
              <a:latin typeface="Arial" panose="020B0604020202020204" pitchFamily="34" charset="0"/>
              <a:cs typeface="Arial" panose="020B0604020202020204" pitchFamily="34" charset="0"/>
            </a:endParaRPr>
          </a:p>
        </p:txBody>
      </p:sp>
      <p:sp>
        <p:nvSpPr>
          <p:cNvPr id="62" name="TextBox 165">
            <a:extLst>
              <a:ext uri="{FF2B5EF4-FFF2-40B4-BE49-F238E27FC236}">
                <a16:creationId xmlns:a16="http://schemas.microsoft.com/office/drawing/2014/main" id="{9240BE6C-67BF-CA9F-1FD2-4688FD46B4C1}"/>
              </a:ext>
            </a:extLst>
          </p:cNvPr>
          <p:cNvSpPr txBox="1"/>
          <p:nvPr/>
        </p:nvSpPr>
        <p:spPr>
          <a:xfrm>
            <a:off x="246506" y="5747007"/>
            <a:ext cx="1046479" cy="216982"/>
          </a:xfrm>
          <a:prstGeom prst="rect">
            <a:avLst/>
          </a:prstGeom>
          <a:noFill/>
        </p:spPr>
        <p:txBody>
          <a:bodyPr wrap="square" lIns="54864" tIns="27432" rIns="54864" bIns="27432" anchor="ctr">
            <a:spAutoFit/>
          </a:bodyPr>
          <a:lstStyle/>
          <a:p>
            <a:pPr algn="l"/>
            <a:r>
              <a:rPr lang="en-US" sz="1050" b="1" noProof="0">
                <a:solidFill>
                  <a:schemeClr val="bg2">
                    <a:lumMod val="25000"/>
                  </a:schemeClr>
                </a:solidFill>
                <a:latin typeface="Arial" panose="020B0604020202020204" pitchFamily="34" charset="0"/>
                <a:cs typeface="Arial" panose="020B0604020202020204" pitchFamily="34" charset="0"/>
              </a:rPr>
              <a:t>RISK LEVELS:</a:t>
            </a:r>
            <a:endParaRPr lang="en-US" sz="1000" b="1" noProof="0">
              <a:solidFill>
                <a:schemeClr val="bg2">
                  <a:lumMod val="25000"/>
                </a:schemeClr>
              </a:solidFill>
              <a:latin typeface="Arial" panose="020B0604020202020204" pitchFamily="34" charset="0"/>
              <a:cs typeface="Arial" panose="020B0604020202020204" pitchFamily="34" charset="0"/>
            </a:endParaRPr>
          </a:p>
        </p:txBody>
      </p:sp>
      <p:sp>
        <p:nvSpPr>
          <p:cNvPr id="10" name="Rounded Rectangle 9"/>
          <p:cNvSpPr/>
          <p:nvPr/>
        </p:nvSpPr>
        <p:spPr>
          <a:xfrm>
            <a:off x="9871052" y="2484792"/>
            <a:ext cx="1417320" cy="274320"/>
          </a:xfrm>
          <a:prstGeom prst="roundRect">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noProof="0">
                <a:latin typeface="Arial" panose="020B0604020202020204" pitchFamily="34" charset="0"/>
                <a:cs typeface="Arial" panose="020B0604020202020204" pitchFamily="34" charset="0"/>
              </a:rPr>
              <a:t>CRITICAL</a:t>
            </a:r>
          </a:p>
        </p:txBody>
      </p:sp>
      <p:grpSp>
        <p:nvGrpSpPr>
          <p:cNvPr id="72" name="Grupo 71">
            <a:extLst>
              <a:ext uri="{FF2B5EF4-FFF2-40B4-BE49-F238E27FC236}">
                <a16:creationId xmlns:a16="http://schemas.microsoft.com/office/drawing/2014/main" id="{08CBA2FE-10D7-76AE-312F-2FAB2720CA2D}"/>
              </a:ext>
            </a:extLst>
          </p:cNvPr>
          <p:cNvGrpSpPr/>
          <p:nvPr/>
        </p:nvGrpSpPr>
        <p:grpSpPr>
          <a:xfrm>
            <a:off x="2784792" y="5718338"/>
            <a:ext cx="1417320" cy="274320"/>
            <a:chOff x="13042143" y="3504744"/>
            <a:chExt cx="1417320" cy="274320"/>
          </a:xfrm>
        </p:grpSpPr>
        <p:sp>
          <p:nvSpPr>
            <p:cNvPr id="26" name="Rounded Rectangle 25"/>
            <p:cNvSpPr/>
            <p:nvPr/>
          </p:nvSpPr>
          <p:spPr>
            <a:xfrm>
              <a:off x="13042143" y="3504744"/>
              <a:ext cx="1417320" cy="274320"/>
            </a:xfrm>
            <a:prstGeom prst="roundRect">
              <a:avLst/>
            </a:prstGeom>
            <a:solidFill>
              <a:srgbClr val="E87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7" name="TextBox 26"/>
            <p:cNvSpPr txBox="1"/>
            <p:nvPr/>
          </p:nvSpPr>
          <p:spPr>
            <a:xfrm>
              <a:off x="13042143" y="3579451"/>
              <a:ext cx="1417320" cy="124906"/>
            </a:xfrm>
            <a:prstGeom prst="rect">
              <a:avLst/>
            </a:prstGeom>
            <a:noFill/>
          </p:spPr>
          <p:txBody>
            <a:bodyPr wrap="square" lIns="0" tIns="0" rIns="0" bIns="0" anchor="ctr">
              <a:spAutoFit/>
            </a:bodyPr>
            <a:lstStyle/>
            <a:p>
              <a:pPr algn="ctr">
                <a:lnSpc>
                  <a:spcPct val="110000"/>
                </a:lnSpc>
                <a:spcBef>
                  <a:spcPts val="0"/>
                </a:spcBef>
                <a:spcAft>
                  <a:spcPts val="0"/>
                </a:spcAft>
              </a:pPr>
              <a:r>
                <a:rPr lang="en-US" sz="800" b="1" i="0" noProof="0">
                  <a:solidFill>
                    <a:srgbClr val="FFFFFF"/>
                  </a:solidFill>
                  <a:latin typeface="Arial" panose="020B0604020202020204" pitchFamily="34" charset="0"/>
                  <a:cs typeface="Arial" panose="020B0604020202020204" pitchFamily="34" charset="0"/>
                </a:rPr>
                <a:t>HIGH</a:t>
              </a:r>
            </a:p>
          </p:txBody>
        </p:sp>
      </p:grpSp>
      <p:grpSp>
        <p:nvGrpSpPr>
          <p:cNvPr id="73" name="Grupo 72">
            <a:extLst>
              <a:ext uri="{FF2B5EF4-FFF2-40B4-BE49-F238E27FC236}">
                <a16:creationId xmlns:a16="http://schemas.microsoft.com/office/drawing/2014/main" id="{DBA9E116-1283-EA25-BB46-F4C87C127FD2}"/>
              </a:ext>
            </a:extLst>
          </p:cNvPr>
          <p:cNvGrpSpPr/>
          <p:nvPr/>
        </p:nvGrpSpPr>
        <p:grpSpPr>
          <a:xfrm>
            <a:off x="4276599" y="5718338"/>
            <a:ext cx="1417320" cy="274320"/>
            <a:chOff x="13042143" y="4373424"/>
            <a:chExt cx="1417320" cy="274320"/>
          </a:xfrm>
        </p:grpSpPr>
        <p:sp>
          <p:nvSpPr>
            <p:cNvPr id="34" name="Rounded Rectangle 33"/>
            <p:cNvSpPr/>
            <p:nvPr/>
          </p:nvSpPr>
          <p:spPr>
            <a:xfrm>
              <a:off x="13042143" y="4373424"/>
              <a:ext cx="1417320" cy="274320"/>
            </a:xfrm>
            <a:prstGeom prst="round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5" name="TextBox 34"/>
            <p:cNvSpPr txBox="1"/>
            <p:nvPr/>
          </p:nvSpPr>
          <p:spPr>
            <a:xfrm>
              <a:off x="13042143" y="4448131"/>
              <a:ext cx="1417320" cy="124906"/>
            </a:xfrm>
            <a:prstGeom prst="rect">
              <a:avLst/>
            </a:prstGeom>
            <a:noFill/>
          </p:spPr>
          <p:txBody>
            <a:bodyPr wrap="square" lIns="0" tIns="0" rIns="0" bIns="0" anchor="ctr">
              <a:spAutoFit/>
            </a:bodyPr>
            <a:lstStyle/>
            <a:p>
              <a:pPr algn="ctr">
                <a:lnSpc>
                  <a:spcPct val="110000"/>
                </a:lnSpc>
                <a:spcBef>
                  <a:spcPts val="0"/>
                </a:spcBef>
                <a:spcAft>
                  <a:spcPts val="0"/>
                </a:spcAft>
              </a:pPr>
              <a:r>
                <a:rPr lang="en-US" sz="800" b="1" i="0" noProof="0">
                  <a:solidFill>
                    <a:srgbClr val="FFFFFF"/>
                  </a:solidFill>
                  <a:latin typeface="Arial" panose="020B0604020202020204" pitchFamily="34" charset="0"/>
                  <a:cs typeface="Arial" panose="020B0604020202020204" pitchFamily="34" charset="0"/>
                </a:rPr>
                <a:t>MIDIUM</a:t>
              </a:r>
            </a:p>
          </p:txBody>
        </p:sp>
      </p:grpSp>
      <p:grpSp>
        <p:nvGrpSpPr>
          <p:cNvPr id="74" name="Grupo 73">
            <a:extLst>
              <a:ext uri="{FF2B5EF4-FFF2-40B4-BE49-F238E27FC236}">
                <a16:creationId xmlns:a16="http://schemas.microsoft.com/office/drawing/2014/main" id="{883BC6D7-CD32-C91B-CA94-D8EA932C5DED}"/>
              </a:ext>
            </a:extLst>
          </p:cNvPr>
          <p:cNvGrpSpPr/>
          <p:nvPr/>
        </p:nvGrpSpPr>
        <p:grpSpPr>
          <a:xfrm>
            <a:off x="5768406" y="5718338"/>
            <a:ext cx="1417320" cy="274320"/>
            <a:chOff x="13042143" y="5242104"/>
            <a:chExt cx="1417320" cy="274320"/>
          </a:xfrm>
        </p:grpSpPr>
        <p:sp>
          <p:nvSpPr>
            <p:cNvPr id="42" name="Rounded Rectangle 41"/>
            <p:cNvSpPr/>
            <p:nvPr/>
          </p:nvSpPr>
          <p:spPr>
            <a:xfrm>
              <a:off x="13042143" y="5242104"/>
              <a:ext cx="1417320" cy="274320"/>
            </a:xfrm>
            <a:prstGeom prst="round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3" name="TextBox 42"/>
            <p:cNvSpPr txBox="1"/>
            <p:nvPr/>
          </p:nvSpPr>
          <p:spPr>
            <a:xfrm>
              <a:off x="13042143" y="5316811"/>
              <a:ext cx="1417320" cy="124906"/>
            </a:xfrm>
            <a:prstGeom prst="rect">
              <a:avLst/>
            </a:prstGeom>
            <a:noFill/>
          </p:spPr>
          <p:txBody>
            <a:bodyPr wrap="square" lIns="0" tIns="0" rIns="0" bIns="0" anchor="ctr">
              <a:spAutoFit/>
            </a:bodyPr>
            <a:lstStyle/>
            <a:p>
              <a:pPr algn="ctr">
                <a:lnSpc>
                  <a:spcPct val="110000"/>
                </a:lnSpc>
                <a:spcBef>
                  <a:spcPts val="0"/>
                </a:spcBef>
                <a:spcAft>
                  <a:spcPts val="0"/>
                </a:spcAft>
              </a:pPr>
              <a:r>
                <a:rPr lang="en-US" sz="800" b="1" i="0" noProof="0">
                  <a:solidFill>
                    <a:srgbClr val="FFFFFF"/>
                  </a:solidFill>
                  <a:latin typeface="Arial" panose="020B0604020202020204" pitchFamily="34" charset="0"/>
                  <a:cs typeface="Arial" panose="020B0604020202020204" pitchFamily="34" charset="0"/>
                </a:rPr>
                <a:t>LOW</a:t>
              </a:r>
            </a:p>
          </p:txBody>
        </p:sp>
      </p:grpSp>
      <p:sp>
        <p:nvSpPr>
          <p:cNvPr id="76" name="Rounded Rectangle 9">
            <a:extLst>
              <a:ext uri="{FF2B5EF4-FFF2-40B4-BE49-F238E27FC236}">
                <a16:creationId xmlns:a16="http://schemas.microsoft.com/office/drawing/2014/main" id="{BEF79137-17F0-4308-F445-D61944C61927}"/>
              </a:ext>
            </a:extLst>
          </p:cNvPr>
          <p:cNvSpPr/>
          <p:nvPr/>
        </p:nvSpPr>
        <p:spPr>
          <a:xfrm>
            <a:off x="9871052" y="1612940"/>
            <a:ext cx="1417320" cy="274320"/>
          </a:xfrm>
          <a:prstGeom prst="roundRect">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noProof="0">
                <a:latin typeface="Arial" panose="020B0604020202020204" pitchFamily="34" charset="0"/>
                <a:cs typeface="Arial" panose="020B0604020202020204" pitchFamily="34" charset="0"/>
              </a:rPr>
              <a:t>CRITICAL</a:t>
            </a:r>
          </a:p>
        </p:txBody>
      </p:sp>
      <p:grpSp>
        <p:nvGrpSpPr>
          <p:cNvPr id="78" name="Grupo 77">
            <a:extLst>
              <a:ext uri="{FF2B5EF4-FFF2-40B4-BE49-F238E27FC236}">
                <a16:creationId xmlns:a16="http://schemas.microsoft.com/office/drawing/2014/main" id="{BADFCF98-C372-B24D-3D0A-0387DC42EAA5}"/>
              </a:ext>
            </a:extLst>
          </p:cNvPr>
          <p:cNvGrpSpPr/>
          <p:nvPr/>
        </p:nvGrpSpPr>
        <p:grpSpPr>
          <a:xfrm>
            <a:off x="9871052" y="4228495"/>
            <a:ext cx="1417320" cy="274320"/>
            <a:chOff x="13042143" y="3504744"/>
            <a:chExt cx="1417320" cy="274320"/>
          </a:xfrm>
        </p:grpSpPr>
        <p:sp>
          <p:nvSpPr>
            <p:cNvPr id="79" name="Rounded Rectangle 25">
              <a:extLst>
                <a:ext uri="{FF2B5EF4-FFF2-40B4-BE49-F238E27FC236}">
                  <a16:creationId xmlns:a16="http://schemas.microsoft.com/office/drawing/2014/main" id="{429306F6-EE87-17F6-162E-15012B1E2931}"/>
                </a:ext>
              </a:extLst>
            </p:cNvPr>
            <p:cNvSpPr/>
            <p:nvPr/>
          </p:nvSpPr>
          <p:spPr>
            <a:xfrm>
              <a:off x="13042143" y="3504744"/>
              <a:ext cx="1417320" cy="274320"/>
            </a:xfrm>
            <a:prstGeom prst="roundRect">
              <a:avLst/>
            </a:prstGeom>
            <a:solidFill>
              <a:srgbClr val="E87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80" name="TextBox 26">
              <a:extLst>
                <a:ext uri="{FF2B5EF4-FFF2-40B4-BE49-F238E27FC236}">
                  <a16:creationId xmlns:a16="http://schemas.microsoft.com/office/drawing/2014/main" id="{0C3AB0D5-33CD-E57D-B924-4C05BEADA803}"/>
                </a:ext>
              </a:extLst>
            </p:cNvPr>
            <p:cNvSpPr txBox="1"/>
            <p:nvPr/>
          </p:nvSpPr>
          <p:spPr>
            <a:xfrm>
              <a:off x="13042143" y="3579451"/>
              <a:ext cx="1417320" cy="124906"/>
            </a:xfrm>
            <a:prstGeom prst="rect">
              <a:avLst/>
            </a:prstGeom>
            <a:noFill/>
          </p:spPr>
          <p:txBody>
            <a:bodyPr wrap="square" lIns="0" tIns="0" rIns="0" bIns="0" anchor="ctr">
              <a:spAutoFit/>
            </a:bodyPr>
            <a:lstStyle/>
            <a:p>
              <a:pPr algn="ctr">
                <a:lnSpc>
                  <a:spcPct val="110000"/>
                </a:lnSpc>
                <a:spcBef>
                  <a:spcPts val="0"/>
                </a:spcBef>
                <a:spcAft>
                  <a:spcPts val="0"/>
                </a:spcAft>
              </a:pPr>
              <a:r>
                <a:rPr lang="en-US" sz="800" b="1" i="0" noProof="0">
                  <a:solidFill>
                    <a:srgbClr val="FFFFFF"/>
                  </a:solidFill>
                  <a:latin typeface="Arial" panose="020B0604020202020204" pitchFamily="34" charset="0"/>
                  <a:cs typeface="Arial" panose="020B0604020202020204" pitchFamily="34" charset="0"/>
                </a:rPr>
                <a:t>HIGH</a:t>
              </a:r>
            </a:p>
          </p:txBody>
        </p:sp>
      </p:grpSp>
      <p:grpSp>
        <p:nvGrpSpPr>
          <p:cNvPr id="81" name="Grupo 80">
            <a:extLst>
              <a:ext uri="{FF2B5EF4-FFF2-40B4-BE49-F238E27FC236}">
                <a16:creationId xmlns:a16="http://schemas.microsoft.com/office/drawing/2014/main" id="{19C80DAF-2DBE-72D3-16B5-B37045D8AD83}"/>
              </a:ext>
            </a:extLst>
          </p:cNvPr>
          <p:cNvGrpSpPr/>
          <p:nvPr/>
        </p:nvGrpSpPr>
        <p:grpSpPr>
          <a:xfrm>
            <a:off x="9871052" y="5100346"/>
            <a:ext cx="1417320" cy="274320"/>
            <a:chOff x="13042143" y="4373424"/>
            <a:chExt cx="1417320" cy="274320"/>
          </a:xfrm>
        </p:grpSpPr>
        <p:sp>
          <p:nvSpPr>
            <p:cNvPr id="82" name="Rounded Rectangle 33">
              <a:extLst>
                <a:ext uri="{FF2B5EF4-FFF2-40B4-BE49-F238E27FC236}">
                  <a16:creationId xmlns:a16="http://schemas.microsoft.com/office/drawing/2014/main" id="{8154052F-FBAF-0501-AC1E-8A60EED81FBF}"/>
                </a:ext>
              </a:extLst>
            </p:cNvPr>
            <p:cNvSpPr/>
            <p:nvPr/>
          </p:nvSpPr>
          <p:spPr>
            <a:xfrm>
              <a:off x="13042143" y="4373424"/>
              <a:ext cx="1417320" cy="274320"/>
            </a:xfrm>
            <a:prstGeom prst="round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83" name="TextBox 34">
              <a:extLst>
                <a:ext uri="{FF2B5EF4-FFF2-40B4-BE49-F238E27FC236}">
                  <a16:creationId xmlns:a16="http://schemas.microsoft.com/office/drawing/2014/main" id="{E985932B-C78E-17BE-15A1-CFC83FBC6A7A}"/>
                </a:ext>
              </a:extLst>
            </p:cNvPr>
            <p:cNvSpPr txBox="1"/>
            <p:nvPr/>
          </p:nvSpPr>
          <p:spPr>
            <a:xfrm>
              <a:off x="13042143" y="4448131"/>
              <a:ext cx="1417320" cy="124906"/>
            </a:xfrm>
            <a:prstGeom prst="rect">
              <a:avLst/>
            </a:prstGeom>
            <a:noFill/>
          </p:spPr>
          <p:txBody>
            <a:bodyPr wrap="square" lIns="0" tIns="0" rIns="0" bIns="0" anchor="ctr">
              <a:spAutoFit/>
            </a:bodyPr>
            <a:lstStyle/>
            <a:p>
              <a:pPr algn="ctr">
                <a:lnSpc>
                  <a:spcPct val="110000"/>
                </a:lnSpc>
                <a:spcBef>
                  <a:spcPts val="0"/>
                </a:spcBef>
                <a:spcAft>
                  <a:spcPts val="0"/>
                </a:spcAft>
              </a:pPr>
              <a:r>
                <a:rPr lang="en-US" sz="800" b="1" i="0" noProof="0">
                  <a:solidFill>
                    <a:srgbClr val="FFFFFF"/>
                  </a:solidFill>
                  <a:latin typeface="Arial" panose="020B0604020202020204" pitchFamily="34" charset="0"/>
                  <a:cs typeface="Arial" panose="020B0604020202020204" pitchFamily="34" charset="0"/>
                </a:rPr>
                <a:t>MEDIUM</a:t>
              </a:r>
            </a:p>
          </p:txBody>
        </p:sp>
      </p:grpSp>
      <p:grpSp>
        <p:nvGrpSpPr>
          <p:cNvPr id="84" name="Grupo 83">
            <a:extLst>
              <a:ext uri="{FF2B5EF4-FFF2-40B4-BE49-F238E27FC236}">
                <a16:creationId xmlns:a16="http://schemas.microsoft.com/office/drawing/2014/main" id="{B8383F78-A111-1ED2-6021-00DEA6CDB794}"/>
              </a:ext>
            </a:extLst>
          </p:cNvPr>
          <p:cNvGrpSpPr/>
          <p:nvPr/>
        </p:nvGrpSpPr>
        <p:grpSpPr>
          <a:xfrm>
            <a:off x="1292985" y="5718338"/>
            <a:ext cx="1417320" cy="274320"/>
            <a:chOff x="13042143" y="1767384"/>
            <a:chExt cx="1417320" cy="274320"/>
          </a:xfrm>
        </p:grpSpPr>
        <p:sp>
          <p:nvSpPr>
            <p:cNvPr id="85" name="Rounded Rectangle 9">
              <a:extLst>
                <a:ext uri="{FF2B5EF4-FFF2-40B4-BE49-F238E27FC236}">
                  <a16:creationId xmlns:a16="http://schemas.microsoft.com/office/drawing/2014/main" id="{F10E8A4D-D6BD-781D-5A99-877450F97804}"/>
                </a:ext>
              </a:extLst>
            </p:cNvPr>
            <p:cNvSpPr/>
            <p:nvPr/>
          </p:nvSpPr>
          <p:spPr>
            <a:xfrm>
              <a:off x="13042143" y="1767384"/>
              <a:ext cx="1417320" cy="274320"/>
            </a:xfrm>
            <a:prstGeom prst="roundRect">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86" name="TextBox 10">
              <a:extLst>
                <a:ext uri="{FF2B5EF4-FFF2-40B4-BE49-F238E27FC236}">
                  <a16:creationId xmlns:a16="http://schemas.microsoft.com/office/drawing/2014/main" id="{F135AB36-DB7E-4F5E-3E26-86172453BAC8}"/>
                </a:ext>
              </a:extLst>
            </p:cNvPr>
            <p:cNvSpPr txBox="1"/>
            <p:nvPr/>
          </p:nvSpPr>
          <p:spPr>
            <a:xfrm>
              <a:off x="13042143" y="1842091"/>
              <a:ext cx="1417320" cy="124906"/>
            </a:xfrm>
            <a:prstGeom prst="rect">
              <a:avLst/>
            </a:prstGeom>
            <a:noFill/>
          </p:spPr>
          <p:txBody>
            <a:bodyPr wrap="square" lIns="0" tIns="0" rIns="0" bIns="0" anchor="ctr">
              <a:spAutoFit/>
            </a:bodyPr>
            <a:lstStyle/>
            <a:p>
              <a:pPr algn="ctr">
                <a:lnSpc>
                  <a:spcPct val="110000"/>
                </a:lnSpc>
                <a:spcBef>
                  <a:spcPts val="0"/>
                </a:spcBef>
                <a:spcAft>
                  <a:spcPts val="0"/>
                </a:spcAft>
              </a:pPr>
              <a:r>
                <a:rPr lang="en-US" sz="800" b="1" i="0" noProof="0">
                  <a:solidFill>
                    <a:srgbClr val="FFFFFF"/>
                  </a:solidFill>
                  <a:latin typeface="Arial" panose="020B0604020202020204" pitchFamily="34" charset="0"/>
                  <a:cs typeface="Arial" panose="020B0604020202020204" pitchFamily="34" charset="0"/>
                </a:rPr>
                <a:t>CRITICAL</a:t>
              </a:r>
            </a:p>
          </p:txBody>
        </p:sp>
      </p:grpSp>
      <p:grpSp>
        <p:nvGrpSpPr>
          <p:cNvPr id="87" name="Grupo 86">
            <a:extLst>
              <a:ext uri="{FF2B5EF4-FFF2-40B4-BE49-F238E27FC236}">
                <a16:creationId xmlns:a16="http://schemas.microsoft.com/office/drawing/2014/main" id="{2ABBF58C-FBB7-0D53-1B8A-500F34C45605}"/>
              </a:ext>
            </a:extLst>
          </p:cNvPr>
          <p:cNvGrpSpPr/>
          <p:nvPr/>
        </p:nvGrpSpPr>
        <p:grpSpPr>
          <a:xfrm>
            <a:off x="9847706" y="3350300"/>
            <a:ext cx="1417320" cy="274320"/>
            <a:chOff x="13042143" y="3504744"/>
            <a:chExt cx="1417320" cy="274320"/>
          </a:xfrm>
        </p:grpSpPr>
        <p:sp>
          <p:nvSpPr>
            <p:cNvPr id="88" name="Rounded Rectangle 25">
              <a:extLst>
                <a:ext uri="{FF2B5EF4-FFF2-40B4-BE49-F238E27FC236}">
                  <a16:creationId xmlns:a16="http://schemas.microsoft.com/office/drawing/2014/main" id="{743B0B17-42F5-5EA4-9BB3-96B4DCA40AD3}"/>
                </a:ext>
              </a:extLst>
            </p:cNvPr>
            <p:cNvSpPr/>
            <p:nvPr/>
          </p:nvSpPr>
          <p:spPr>
            <a:xfrm>
              <a:off x="13042143" y="3504744"/>
              <a:ext cx="1417320" cy="274320"/>
            </a:xfrm>
            <a:prstGeom prst="roundRect">
              <a:avLst/>
            </a:prstGeom>
            <a:solidFill>
              <a:srgbClr val="E87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89" name="TextBox 26">
              <a:extLst>
                <a:ext uri="{FF2B5EF4-FFF2-40B4-BE49-F238E27FC236}">
                  <a16:creationId xmlns:a16="http://schemas.microsoft.com/office/drawing/2014/main" id="{E8F7678A-2058-A8B7-5E09-17D75996502B}"/>
                </a:ext>
              </a:extLst>
            </p:cNvPr>
            <p:cNvSpPr txBox="1"/>
            <p:nvPr/>
          </p:nvSpPr>
          <p:spPr>
            <a:xfrm>
              <a:off x="13042143" y="3579451"/>
              <a:ext cx="1417320" cy="124906"/>
            </a:xfrm>
            <a:prstGeom prst="rect">
              <a:avLst/>
            </a:prstGeom>
            <a:noFill/>
          </p:spPr>
          <p:txBody>
            <a:bodyPr wrap="square" lIns="0" tIns="0" rIns="0" bIns="0" anchor="ctr">
              <a:spAutoFit/>
            </a:bodyPr>
            <a:lstStyle/>
            <a:p>
              <a:pPr algn="ctr">
                <a:lnSpc>
                  <a:spcPct val="110000"/>
                </a:lnSpc>
                <a:spcBef>
                  <a:spcPts val="0"/>
                </a:spcBef>
                <a:spcAft>
                  <a:spcPts val="0"/>
                </a:spcAft>
              </a:pPr>
              <a:r>
                <a:rPr lang="en-US" sz="800" b="1" i="0" noProof="0">
                  <a:solidFill>
                    <a:srgbClr val="FFFFFF"/>
                  </a:solidFill>
                  <a:latin typeface="Arial" panose="020B0604020202020204" pitchFamily="34" charset="0"/>
                  <a:cs typeface="Arial" panose="020B0604020202020204" pitchFamily="34" charset="0"/>
                </a:rPr>
                <a:t>HIGH</a:t>
              </a:r>
            </a:p>
          </p:txBody>
        </p:sp>
      </p:grpSp>
    </p:spTree>
  </p:cSld>
  <p:clrMapOvr>
    <a:masterClrMapping/>
  </p:clrMapOvr>
  <p:extLst>
    <p:ext uri="{6950BFC3-D8DA-4A85-94F7-54DA5524770B}">
      <p188:commentRel xmlns:p188="http://schemas.microsoft.com/office/powerpoint/2018/8/main" r:id="rId2"/>
    </p:ext>
  </p:extLst>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FDA3571-53CD-4A0F-74DF-F1AEC9C6C12F}"/>
            </a:ext>
          </a:extLst>
        </p:cNvPr>
        <p:cNvGrpSpPr/>
        <p:nvPr/>
      </p:nvGrpSpPr>
      <p:grpSpPr>
        <a:xfrm>
          <a:off x="0" y="0"/>
          <a:ext cx="0" cy="0"/>
          <a:chOff x="0" y="0"/>
          <a:chExt cx="0" cy="0"/>
        </a:xfrm>
      </p:grpSpPr>
      <p:sp>
        <p:nvSpPr>
          <p:cNvPr id="17" name="CuadroTexto 127">
            <a:extLst>
              <a:ext uri="{FF2B5EF4-FFF2-40B4-BE49-F238E27FC236}">
                <a16:creationId xmlns:a16="http://schemas.microsoft.com/office/drawing/2014/main" id="{5F9FEEF5-2F31-DB64-85D9-A317B31FFB45}"/>
              </a:ext>
            </a:extLst>
          </p:cNvPr>
          <p:cNvSpPr txBox="1"/>
          <p:nvPr/>
        </p:nvSpPr>
        <p:spPr>
          <a:xfrm>
            <a:off x="336560" y="1349869"/>
            <a:ext cx="5360180" cy="5109562"/>
          </a:xfrm>
          <a:prstGeom prst="rect">
            <a:avLst/>
          </a:prstGeom>
          <a:noFill/>
        </p:spPr>
        <p:txBody>
          <a:bodyPr wrap="square" lIns="0" tIns="0" rIns="0" bIns="0" rtlCol="0">
            <a:noAutofit/>
          </a:bodyPr>
          <a:lstStyle/>
          <a:p>
            <a:pPr algn="ctr"/>
            <a:r>
              <a:rPr lang="en-US" sz="1600" b="1" noProof="0">
                <a:solidFill>
                  <a:schemeClr val="accent4">
                    <a:lumMod val="75000"/>
                  </a:schemeClr>
                </a:solidFill>
                <a:latin typeface="Helvetica Neue" panose="02000503000000020004"/>
                <a:cs typeface="Arial" panose="020B0604020202020204" pitchFamily="34" charset="0"/>
              </a:rPr>
              <a:t>Context</a:t>
            </a:r>
          </a:p>
          <a:p>
            <a:pPr algn="ctr"/>
            <a:endParaRPr lang="en-US" sz="1200" b="1" noProof="0">
              <a:solidFill>
                <a:srgbClr val="000000"/>
              </a:solidFill>
              <a:latin typeface="Helvetica Neue" panose="02000503000000020004"/>
              <a:cs typeface="Arial" panose="020B0604020202020204" pitchFamily="34" charset="0"/>
            </a:endParaRPr>
          </a:p>
          <a:p>
            <a:pPr algn="just"/>
            <a:r>
              <a:rPr lang="en-US" sz="1200" noProof="0">
                <a:latin typeface="Helvetica Neue" panose="02000503000000020004"/>
                <a:cs typeface="Arial" panose="020B0604020202020204" pitchFamily="34" charset="0"/>
              </a:rPr>
              <a:t>This project aims to define a clear and structured representation of the organization’s target operating model, focusing on the definition of roles and responsibilities across key stakeholders. It provides an end-to-end mapping of the demand management process, together with a consolidated view of governance mechanisms and the current tool portfolio supporting these activities.</a:t>
            </a:r>
          </a:p>
          <a:p>
            <a:pPr algn="just"/>
            <a:endParaRPr lang="en-US" sz="1200" noProof="0">
              <a:solidFill>
                <a:srgbClr val="000000"/>
              </a:solidFill>
              <a:latin typeface="Helvetica Neue" panose="02000503000000020004"/>
              <a:ea typeface="Tahoma" panose="020B0604030504040204" pitchFamily="34" charset="0"/>
              <a:cs typeface="Arial" panose="020B0604020202020204" pitchFamily="34" charset="0"/>
            </a:endParaRPr>
          </a:p>
          <a:p>
            <a:pPr algn="ctr"/>
            <a:r>
              <a:rPr lang="en-US" sz="1600" b="1" noProof="0">
                <a:solidFill>
                  <a:schemeClr val="accent4">
                    <a:lumMod val="75000"/>
                  </a:schemeClr>
                </a:solidFill>
                <a:latin typeface="Helvetica Neue" panose="02000503000000020004"/>
                <a:cs typeface="Arial" panose="020B0604020202020204" pitchFamily="34" charset="0"/>
              </a:rPr>
              <a:t>Approach</a:t>
            </a:r>
          </a:p>
          <a:p>
            <a:pPr algn="ctr"/>
            <a:endParaRPr lang="en-US" sz="1200" b="1" noProof="0">
              <a:solidFill>
                <a:schemeClr val="accent4">
                  <a:lumMod val="75000"/>
                </a:schemeClr>
              </a:solidFill>
              <a:latin typeface="Helvetica Neue" panose="02000503000000020004"/>
              <a:cs typeface="Arial" panose="020B0604020202020204" pitchFamily="34" charset="0"/>
            </a:endParaRPr>
          </a:p>
          <a:p>
            <a:pPr algn="just"/>
            <a:r>
              <a:rPr lang="en-US" sz="1200" noProof="0">
                <a:latin typeface="Helvetica Neue" panose="02000503000000020004"/>
                <a:cs typeface="Arial" panose="020B0604020202020204" pitchFamily="34" charset="0"/>
              </a:rPr>
              <a:t>The analysis is grounded in learnings from previous projects and enriched through structured RFI (Request for Information) exercises conducted collaboratively with the client. This combined input enables a robust understanding of the current state and supports the design of a future-state model aligned with operational reality and strategic objectives.</a:t>
            </a:r>
          </a:p>
          <a:p>
            <a:br>
              <a:rPr lang="en-US" sz="1200" noProof="0">
                <a:latin typeface="Helvetica Neue" panose="02000503000000020004"/>
                <a:cs typeface="Arial" panose="020B0604020202020204" pitchFamily="34" charset="0"/>
              </a:rPr>
            </a:br>
            <a:endParaRPr lang="en-US" sz="1200" noProof="0">
              <a:latin typeface="Helvetica Neue" panose="02000503000000020004"/>
              <a:cs typeface="Arial" panose="020B0604020202020204" pitchFamily="34" charset="0"/>
            </a:endParaRPr>
          </a:p>
          <a:p>
            <a:pPr algn="ctr"/>
            <a:r>
              <a:rPr lang="en-US" sz="1600" b="1" noProof="0">
                <a:solidFill>
                  <a:schemeClr val="accent4">
                    <a:lumMod val="75000"/>
                  </a:schemeClr>
                </a:solidFill>
                <a:latin typeface="Helvetica Neue" panose="02000503000000020004"/>
                <a:cs typeface="Arial" panose="020B0604020202020204" pitchFamily="34" charset="0"/>
              </a:rPr>
              <a:t>Value</a:t>
            </a:r>
          </a:p>
          <a:p>
            <a:pPr algn="just"/>
            <a:endParaRPr lang="en-US" sz="1200" b="1" noProof="0">
              <a:solidFill>
                <a:schemeClr val="accent4">
                  <a:lumMod val="75000"/>
                </a:schemeClr>
              </a:solidFill>
              <a:latin typeface="Helvetica Neue" panose="02000503000000020004"/>
              <a:cs typeface="Arial" panose="020B0604020202020204" pitchFamily="34" charset="0"/>
            </a:endParaRPr>
          </a:p>
          <a:p>
            <a:pPr algn="just"/>
            <a:r>
              <a:rPr lang="en-US" sz="1200" noProof="0">
                <a:latin typeface="Helvetica Neue" panose="02000503000000020004"/>
                <a:cs typeface="Arial" panose="020B0604020202020204" pitchFamily="34" charset="0"/>
              </a:rPr>
              <a:t>The resulting framework illustrates how the organization can be positively impacted through the implementation of the proposed changes, driving improved clarity in governance, stronger role accountability, enhanced consistency in decision-making, and a more harmonized and efficient tool landscape.</a:t>
            </a:r>
          </a:p>
          <a:p>
            <a:pPr algn="just"/>
            <a:endParaRPr lang="en-US" sz="1200" noProof="0">
              <a:solidFill>
                <a:srgbClr val="000000"/>
              </a:solidFill>
              <a:latin typeface="Helvetica Neue" panose="02000503000000020004"/>
              <a:ea typeface="Tahoma" panose="020B0604030504040204" pitchFamily="34" charset="0"/>
              <a:cs typeface="Arial" panose="020B0604020202020204" pitchFamily="34" charset="0"/>
            </a:endParaRPr>
          </a:p>
          <a:p>
            <a:pPr algn="just"/>
            <a:endParaRPr lang="en-US" sz="1200" b="1" noProof="0">
              <a:solidFill>
                <a:srgbClr val="000000"/>
              </a:solidFill>
              <a:latin typeface="Helvetica Neue" panose="02000503000000020004"/>
              <a:ea typeface="Tahoma" panose="020B0604030504040204" pitchFamily="34" charset="0"/>
              <a:cs typeface="Arial" panose="020B0604020202020204" pitchFamily="34" charset="0"/>
            </a:endParaRPr>
          </a:p>
        </p:txBody>
      </p:sp>
      <p:cxnSp>
        <p:nvCxnSpPr>
          <p:cNvPr id="5" name="Conector recto 4">
            <a:extLst>
              <a:ext uri="{FF2B5EF4-FFF2-40B4-BE49-F238E27FC236}">
                <a16:creationId xmlns:a16="http://schemas.microsoft.com/office/drawing/2014/main" id="{7693EF36-153D-1323-7496-4934FB3CEBBB}"/>
              </a:ext>
            </a:extLst>
          </p:cNvPr>
          <p:cNvCxnSpPr/>
          <p:nvPr/>
        </p:nvCxnSpPr>
        <p:spPr>
          <a:xfrm>
            <a:off x="5889625" y="1009051"/>
            <a:ext cx="0" cy="5543549"/>
          </a:xfrm>
          <a:prstGeom prst="line">
            <a:avLst/>
          </a:prstGeom>
          <a:ln>
            <a:solidFill>
              <a:schemeClr val="accent1"/>
            </a:solidFill>
          </a:ln>
        </p:spPr>
        <p:style>
          <a:lnRef idx="3">
            <a:schemeClr val="dk1"/>
          </a:lnRef>
          <a:fillRef idx="0">
            <a:schemeClr val="dk1"/>
          </a:fillRef>
          <a:effectRef idx="2">
            <a:schemeClr val="dk1"/>
          </a:effectRef>
          <a:fontRef idx="minor">
            <a:schemeClr val="tx1"/>
          </a:fontRef>
        </p:style>
      </p:cxnSp>
      <p:pic>
        <p:nvPicPr>
          <p:cNvPr id="15" name="Picture 14">
            <a:extLst>
              <a:ext uri="{FF2B5EF4-FFF2-40B4-BE49-F238E27FC236}">
                <a16:creationId xmlns:a16="http://schemas.microsoft.com/office/drawing/2014/main" id="{E3BE7050-73D5-BABD-BAD1-578DA07FE0E5}"/>
              </a:ext>
            </a:extLst>
          </p:cNvPr>
          <p:cNvPicPr>
            <a:picLocks noChangeAspect="1"/>
          </p:cNvPicPr>
          <p:nvPr/>
        </p:nvPicPr>
        <p:blipFill>
          <a:blip r:embed="rId3"/>
          <a:stretch>
            <a:fillRect/>
          </a:stretch>
        </p:blipFill>
        <p:spPr>
          <a:xfrm>
            <a:off x="6045990" y="1620592"/>
            <a:ext cx="6062105" cy="4181974"/>
          </a:xfrm>
          <a:prstGeom prst="rect">
            <a:avLst/>
          </a:prstGeom>
          <a:effectLst>
            <a:outerShdw blurRad="50800" dist="38100" dir="5400000" algn="t" rotWithShape="0">
              <a:prstClr val="black">
                <a:alpha val="40000"/>
              </a:prstClr>
            </a:outerShdw>
            <a:softEdge rad="63500"/>
          </a:effectLst>
        </p:spPr>
      </p:pic>
      <p:pic>
        <p:nvPicPr>
          <p:cNvPr id="8" name="Graphic 7" descr="Map compass with solid fill">
            <a:extLst>
              <a:ext uri="{FF2B5EF4-FFF2-40B4-BE49-F238E27FC236}">
                <a16:creationId xmlns:a16="http://schemas.microsoft.com/office/drawing/2014/main" id="{1DB6DCBC-4C99-3F7C-1361-EFA39E35B89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155101" y="2782017"/>
            <a:ext cx="425961" cy="425961"/>
          </a:xfrm>
          <a:prstGeom prst="rect">
            <a:avLst/>
          </a:prstGeom>
        </p:spPr>
      </p:pic>
      <p:pic>
        <p:nvPicPr>
          <p:cNvPr id="11" name="Graphic 10" descr="Diamond outline">
            <a:extLst>
              <a:ext uri="{FF2B5EF4-FFF2-40B4-BE49-F238E27FC236}">
                <a16:creationId xmlns:a16="http://schemas.microsoft.com/office/drawing/2014/main" id="{E9679038-AF73-F3EE-98CE-1F14DADEF0F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155101" y="4362182"/>
            <a:ext cx="425961" cy="425961"/>
          </a:xfrm>
          <a:prstGeom prst="rect">
            <a:avLst/>
          </a:prstGeom>
        </p:spPr>
      </p:pic>
      <p:pic>
        <p:nvPicPr>
          <p:cNvPr id="13" name="Graphic 12" descr="Closed book outline">
            <a:extLst>
              <a:ext uri="{FF2B5EF4-FFF2-40B4-BE49-F238E27FC236}">
                <a16:creationId xmlns:a16="http://schemas.microsoft.com/office/drawing/2014/main" id="{59706AEF-1FA1-BFC9-E801-5FF06BDD5D4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165214" y="1318456"/>
            <a:ext cx="425961" cy="425961"/>
          </a:xfrm>
          <a:prstGeom prst="rect">
            <a:avLst/>
          </a:prstGeom>
        </p:spPr>
      </p:pic>
      <p:sp>
        <p:nvSpPr>
          <p:cNvPr id="6" name="Rectangle 28">
            <a:extLst>
              <a:ext uri="{FF2B5EF4-FFF2-40B4-BE49-F238E27FC236}">
                <a16:creationId xmlns:a16="http://schemas.microsoft.com/office/drawing/2014/main" id="{8972919C-71F7-5C85-1BB0-3B0B2ADE68B7}"/>
              </a:ext>
            </a:extLst>
          </p:cNvPr>
          <p:cNvSpPr/>
          <p:nvPr/>
        </p:nvSpPr>
        <p:spPr>
          <a:xfrm>
            <a:off x="-561976" y="1891049"/>
            <a:ext cx="504913" cy="354411"/>
          </a:xfrm>
          <a:prstGeom prst="rect">
            <a:avLst/>
          </a:prstGeom>
          <a:solidFill>
            <a:srgbClr val="0DA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9" name="Rectangle 40">
            <a:extLst>
              <a:ext uri="{FF2B5EF4-FFF2-40B4-BE49-F238E27FC236}">
                <a16:creationId xmlns:a16="http://schemas.microsoft.com/office/drawing/2014/main" id="{EC89CA9C-B0FF-0401-23B5-FCEE8045F086}"/>
              </a:ext>
            </a:extLst>
          </p:cNvPr>
          <p:cNvSpPr/>
          <p:nvPr/>
        </p:nvSpPr>
        <p:spPr>
          <a:xfrm>
            <a:off x="-561976" y="1450050"/>
            <a:ext cx="504913" cy="354411"/>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2" name="Rectangle 52">
            <a:extLst>
              <a:ext uri="{FF2B5EF4-FFF2-40B4-BE49-F238E27FC236}">
                <a16:creationId xmlns:a16="http://schemas.microsoft.com/office/drawing/2014/main" id="{105CA305-039E-CDA3-8088-52A5DC96CDBF}"/>
              </a:ext>
            </a:extLst>
          </p:cNvPr>
          <p:cNvSpPr/>
          <p:nvPr/>
        </p:nvSpPr>
        <p:spPr>
          <a:xfrm>
            <a:off x="-561976" y="1009051"/>
            <a:ext cx="504913" cy="354411"/>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8" name="Rectangle 64">
            <a:extLst>
              <a:ext uri="{FF2B5EF4-FFF2-40B4-BE49-F238E27FC236}">
                <a16:creationId xmlns:a16="http://schemas.microsoft.com/office/drawing/2014/main" id="{03AAA09E-C3E9-063B-AF01-0593C0F8DC8D}"/>
              </a:ext>
            </a:extLst>
          </p:cNvPr>
          <p:cNvSpPr/>
          <p:nvPr/>
        </p:nvSpPr>
        <p:spPr>
          <a:xfrm>
            <a:off x="-561976" y="2332048"/>
            <a:ext cx="504913" cy="354411"/>
          </a:xfrm>
          <a:prstGeom prst="rect">
            <a:avLst/>
          </a:prstGeom>
          <a:solidFill>
            <a:schemeClr val="accent6">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1" name="Rectangle 64">
            <a:extLst>
              <a:ext uri="{FF2B5EF4-FFF2-40B4-BE49-F238E27FC236}">
                <a16:creationId xmlns:a16="http://schemas.microsoft.com/office/drawing/2014/main" id="{EAD091AF-AA1A-EFD8-F357-6C02FF9EE7F3}"/>
              </a:ext>
            </a:extLst>
          </p:cNvPr>
          <p:cNvSpPr/>
          <p:nvPr/>
        </p:nvSpPr>
        <p:spPr>
          <a:xfrm>
            <a:off x="-561976" y="2773047"/>
            <a:ext cx="504913" cy="354411"/>
          </a:xfrm>
          <a:prstGeom prst="rect">
            <a:avLst/>
          </a:prstGeom>
          <a:solidFill>
            <a:srgbClr val="00A4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2" name="Rectangle 64">
            <a:extLst>
              <a:ext uri="{FF2B5EF4-FFF2-40B4-BE49-F238E27FC236}">
                <a16:creationId xmlns:a16="http://schemas.microsoft.com/office/drawing/2014/main" id="{9BD0C2BA-C40B-B37B-C6DF-0D71A09E570F}"/>
              </a:ext>
            </a:extLst>
          </p:cNvPr>
          <p:cNvSpPr/>
          <p:nvPr/>
        </p:nvSpPr>
        <p:spPr>
          <a:xfrm>
            <a:off x="-561976" y="3214046"/>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3" name="Rectangle 64">
            <a:extLst>
              <a:ext uri="{FF2B5EF4-FFF2-40B4-BE49-F238E27FC236}">
                <a16:creationId xmlns:a16="http://schemas.microsoft.com/office/drawing/2014/main" id="{6F6DB5BA-782C-3DCE-2DE3-73C8167A4131}"/>
              </a:ext>
            </a:extLst>
          </p:cNvPr>
          <p:cNvSpPr/>
          <p:nvPr/>
        </p:nvSpPr>
        <p:spPr>
          <a:xfrm>
            <a:off x="-561976" y="3655047"/>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 name="Título 2">
            <a:extLst>
              <a:ext uri="{FF2B5EF4-FFF2-40B4-BE49-F238E27FC236}">
                <a16:creationId xmlns:a16="http://schemas.microsoft.com/office/drawing/2014/main" id="{B7B407C2-A29F-2DE7-6EFE-98685CEE45B7}"/>
              </a:ext>
            </a:extLst>
          </p:cNvPr>
          <p:cNvSpPr txBox="1">
            <a:spLocks/>
          </p:cNvSpPr>
          <p:nvPr/>
        </p:nvSpPr>
        <p:spPr>
          <a:xfrm>
            <a:off x="180918" y="127319"/>
            <a:ext cx="6576167" cy="514011"/>
          </a:xfrm>
          <a:prstGeom prst="rect">
            <a:avLst/>
          </a:prstGeom>
        </p:spPr>
        <p:txBody>
          <a:bodyPr anchor="ctr">
            <a:noAutofit/>
          </a:bodyPr>
          <a:lstStyle>
            <a:defPPr>
              <a:defRPr lang="en-US"/>
            </a:defPPr>
            <a:lvl1pPr>
              <a:lnSpc>
                <a:spcPct val="90000"/>
              </a:lnSpc>
              <a:spcBef>
                <a:spcPct val="0"/>
              </a:spcBef>
              <a:buNone/>
              <a:defRPr sz="2400" b="1">
                <a:solidFill>
                  <a:schemeClr val="bg1"/>
                </a:solidFill>
                <a:latin typeface="Montserrat" pitchFamily="2" charset="77"/>
                <a:ea typeface="+mj-ea"/>
                <a:cs typeface="+mj-cs"/>
              </a:defRPr>
            </a:lvl1pPr>
          </a:lstStyle>
          <a:p>
            <a:r>
              <a:rPr lang="en-US" noProof="0">
                <a:latin typeface="Arial" panose="020B0604020202020204" pitchFamily="34" charset="0"/>
                <a:cs typeface="Arial" panose="020B0604020202020204" pitchFamily="34" charset="0"/>
              </a:rPr>
              <a:t>CONTEXT</a:t>
            </a:r>
          </a:p>
          <a:p>
            <a:r>
              <a:rPr lang="en-US" sz="1200" noProof="0">
                <a:latin typeface="Arial"/>
              </a:rPr>
              <a:t>Introduction</a:t>
            </a:r>
          </a:p>
        </p:txBody>
      </p:sp>
    </p:spTree>
    <p:extLst>
      <p:ext uri="{BB962C8B-B14F-4D97-AF65-F5344CB8AC3E}">
        <p14:creationId xmlns:p14="http://schemas.microsoft.com/office/powerpoint/2010/main" val="281288887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13E72F2-1EC5-52A7-3755-64171D81F295}"/>
            </a:ext>
          </a:extLst>
        </p:cNvPr>
        <p:cNvGrpSpPr/>
        <p:nvPr/>
      </p:nvGrpSpPr>
      <p:grpSpPr>
        <a:xfrm>
          <a:off x="0" y="0"/>
          <a:ext cx="0" cy="0"/>
          <a:chOff x="0" y="0"/>
          <a:chExt cx="0" cy="0"/>
        </a:xfrm>
      </p:grpSpPr>
      <p:sp>
        <p:nvSpPr>
          <p:cNvPr id="2" name="Título 2">
            <a:extLst>
              <a:ext uri="{FF2B5EF4-FFF2-40B4-BE49-F238E27FC236}">
                <a16:creationId xmlns:a16="http://schemas.microsoft.com/office/drawing/2014/main" id="{A209585D-C4D8-2AA5-5A77-DF8C5CE8F6A8}"/>
              </a:ext>
            </a:extLst>
          </p:cNvPr>
          <p:cNvSpPr txBox="1">
            <a:spLocks/>
          </p:cNvSpPr>
          <p:nvPr/>
        </p:nvSpPr>
        <p:spPr>
          <a:xfrm>
            <a:off x="180918" y="127319"/>
            <a:ext cx="8857204"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0">
                <a:ln>
                  <a:noFill/>
                </a:ln>
                <a:solidFill>
                  <a:prstClr val="white"/>
                </a:solidFill>
                <a:effectLst/>
                <a:uLnTx/>
                <a:uFillTx/>
                <a:latin typeface="Arial" panose="020B0604020202020204" pitchFamily="34" charset="0"/>
                <a:ea typeface="+mj-ea"/>
                <a:cs typeface="Arial" panose="020B0604020202020204" pitchFamily="34" charset="0"/>
              </a:rPr>
              <a:t>CONTEXT</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rial" panose="020B0604020202020204" pitchFamily="34" charset="0"/>
                <a:ea typeface="+mj-ea"/>
                <a:cs typeface="Arial" panose="020B0604020202020204" pitchFamily="34" charset="0"/>
              </a:rPr>
              <a:t>Organization</a:t>
            </a:r>
            <a:endParaRPr kumimoji="0" lang="en-US" sz="2400" b="1" i="0" u="none" strike="noStrike" kern="1200" cap="none" spc="0" normalizeH="0" baseline="0" noProof="0">
              <a:ln>
                <a:noFill/>
              </a:ln>
              <a:solidFill>
                <a:prstClr val="white"/>
              </a:solidFill>
              <a:effectLst/>
              <a:uLnTx/>
              <a:uFillTx/>
              <a:latin typeface="Arial" panose="020B0604020202020204" pitchFamily="34" charset="0"/>
              <a:ea typeface="+mj-ea"/>
              <a:cs typeface="Arial" panose="020B0604020202020204" pitchFamily="34" charset="0"/>
            </a:endParaRPr>
          </a:p>
        </p:txBody>
      </p:sp>
      <p:sp>
        <p:nvSpPr>
          <p:cNvPr id="3" name="Rectangle 28">
            <a:extLst>
              <a:ext uri="{FF2B5EF4-FFF2-40B4-BE49-F238E27FC236}">
                <a16:creationId xmlns:a16="http://schemas.microsoft.com/office/drawing/2014/main" id="{75169116-FF65-0819-2044-B604D94412DD}"/>
              </a:ext>
            </a:extLst>
          </p:cNvPr>
          <p:cNvSpPr/>
          <p:nvPr/>
        </p:nvSpPr>
        <p:spPr>
          <a:xfrm>
            <a:off x="-561976" y="1891049"/>
            <a:ext cx="504913" cy="354411"/>
          </a:xfrm>
          <a:prstGeom prst="rect">
            <a:avLst/>
          </a:prstGeom>
          <a:solidFill>
            <a:srgbClr val="0DA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4" name="Rectangle 40">
            <a:extLst>
              <a:ext uri="{FF2B5EF4-FFF2-40B4-BE49-F238E27FC236}">
                <a16:creationId xmlns:a16="http://schemas.microsoft.com/office/drawing/2014/main" id="{8AC4E89B-1EE0-B560-4F5A-251237C6BFA7}"/>
              </a:ext>
            </a:extLst>
          </p:cNvPr>
          <p:cNvSpPr/>
          <p:nvPr/>
        </p:nvSpPr>
        <p:spPr>
          <a:xfrm>
            <a:off x="-561976" y="1450050"/>
            <a:ext cx="504913" cy="354411"/>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5" name="Rectangle 52">
            <a:extLst>
              <a:ext uri="{FF2B5EF4-FFF2-40B4-BE49-F238E27FC236}">
                <a16:creationId xmlns:a16="http://schemas.microsoft.com/office/drawing/2014/main" id="{235F3742-7843-E3BE-CBE8-35FFC3D3D5F1}"/>
              </a:ext>
            </a:extLst>
          </p:cNvPr>
          <p:cNvSpPr/>
          <p:nvPr/>
        </p:nvSpPr>
        <p:spPr>
          <a:xfrm>
            <a:off x="-561976" y="1009051"/>
            <a:ext cx="504913" cy="354411"/>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7" name="Rectangle 64">
            <a:extLst>
              <a:ext uri="{FF2B5EF4-FFF2-40B4-BE49-F238E27FC236}">
                <a16:creationId xmlns:a16="http://schemas.microsoft.com/office/drawing/2014/main" id="{DE999B1A-49EF-32DF-C9FF-7AB6B94F0129}"/>
              </a:ext>
            </a:extLst>
          </p:cNvPr>
          <p:cNvSpPr/>
          <p:nvPr/>
        </p:nvSpPr>
        <p:spPr>
          <a:xfrm>
            <a:off x="-561976" y="2332048"/>
            <a:ext cx="504913" cy="354411"/>
          </a:xfrm>
          <a:prstGeom prst="rect">
            <a:avLst/>
          </a:prstGeom>
          <a:solidFill>
            <a:schemeClr val="accent6">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8" name="Rectangle 64">
            <a:extLst>
              <a:ext uri="{FF2B5EF4-FFF2-40B4-BE49-F238E27FC236}">
                <a16:creationId xmlns:a16="http://schemas.microsoft.com/office/drawing/2014/main" id="{81DDFD3F-2882-DE3A-04F6-26A5D41CC498}"/>
              </a:ext>
            </a:extLst>
          </p:cNvPr>
          <p:cNvSpPr/>
          <p:nvPr/>
        </p:nvSpPr>
        <p:spPr>
          <a:xfrm>
            <a:off x="-561976" y="2773047"/>
            <a:ext cx="504913" cy="354411"/>
          </a:xfrm>
          <a:prstGeom prst="rect">
            <a:avLst/>
          </a:prstGeom>
          <a:solidFill>
            <a:srgbClr val="00A4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9" name="Rectangle 64">
            <a:extLst>
              <a:ext uri="{FF2B5EF4-FFF2-40B4-BE49-F238E27FC236}">
                <a16:creationId xmlns:a16="http://schemas.microsoft.com/office/drawing/2014/main" id="{3201FC3B-1DFC-E1F3-01B2-35D22FA4A92B}"/>
              </a:ext>
            </a:extLst>
          </p:cNvPr>
          <p:cNvSpPr/>
          <p:nvPr/>
        </p:nvSpPr>
        <p:spPr>
          <a:xfrm>
            <a:off x="-561976" y="3214046"/>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5" name="Rectangle 64">
            <a:extLst>
              <a:ext uri="{FF2B5EF4-FFF2-40B4-BE49-F238E27FC236}">
                <a16:creationId xmlns:a16="http://schemas.microsoft.com/office/drawing/2014/main" id="{2DBDC476-2CED-6BEE-3B8A-298A5F52C46F}"/>
              </a:ext>
            </a:extLst>
          </p:cNvPr>
          <p:cNvSpPr/>
          <p:nvPr/>
        </p:nvSpPr>
        <p:spPr>
          <a:xfrm>
            <a:off x="-561976" y="3655047"/>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48" name="TextBox 147">
            <a:extLst>
              <a:ext uri="{FF2B5EF4-FFF2-40B4-BE49-F238E27FC236}">
                <a16:creationId xmlns:a16="http://schemas.microsoft.com/office/drawing/2014/main" id="{F4C2853F-440A-D93B-9B5E-29229B52D4D0}"/>
              </a:ext>
            </a:extLst>
          </p:cNvPr>
          <p:cNvSpPr txBox="1"/>
          <p:nvPr/>
        </p:nvSpPr>
        <p:spPr>
          <a:xfrm>
            <a:off x="458724" y="932575"/>
            <a:ext cx="11274552" cy="430887"/>
          </a:xfrm>
          <a:prstGeom prst="rect">
            <a:avLst/>
          </a:prstGeom>
          <a:noFill/>
        </p:spPr>
        <p:txBody>
          <a:bodyPr wrap="square" lIns="0" tIns="0" rIns="0" bIns="0" rtlCol="0">
            <a:noAutofit/>
          </a:bodyPr>
          <a:lstStyle>
            <a:defPPr>
              <a:defRPr lang="en-US"/>
            </a:defPPr>
            <a:lvl1pPr algn="ctr">
              <a:defRPr sz="1400" b="1">
                <a:solidFill>
                  <a:schemeClr val="accent4">
                    <a:lumMod val="75000"/>
                  </a:schemeClr>
                </a:solidFill>
                <a:latin typeface="Arial" panose="020B0604020202020204" pitchFamily="34" charset="0"/>
                <a:cs typeface="Arial" panose="020B0604020202020204" pitchFamily="34" charset="0"/>
              </a:defRPr>
            </a:lvl1p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F9ED5">
                    <a:lumMod val="75000"/>
                  </a:srgbClr>
                </a:solidFill>
                <a:effectLst/>
                <a:uLnTx/>
                <a:uFillTx/>
                <a:latin typeface="Arial" panose="020B0604020202020204" pitchFamily="34" charset="0"/>
                <a:ea typeface="+mn-ea"/>
                <a:cs typeface="Arial" panose="020B0604020202020204" pitchFamily="34" charset="0"/>
              </a:rPr>
              <a:t>Applications runs Avangrid's non-SAP operational backbone — four teams supporting Electric &amp; Gas, GIS, Corporate and Iberdrola Global SAP.</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a:ln>
                <a:noFill/>
              </a:ln>
              <a:solidFill>
                <a:srgbClr val="0F9ED5">
                  <a:lumMod val="75000"/>
                </a:srgbClr>
              </a:solidFill>
              <a:effectLst/>
              <a:uLnTx/>
              <a:uFillTx/>
              <a:latin typeface="Arial" panose="020B0604020202020204" pitchFamily="34" charset="0"/>
              <a:ea typeface="+mn-ea"/>
              <a:cs typeface="Arial" panose="020B0604020202020204" pitchFamily="34" charset="0"/>
            </a:endParaRPr>
          </a:p>
        </p:txBody>
      </p:sp>
      <p:sp>
        <p:nvSpPr>
          <p:cNvPr id="6" name="Rectangle 5">
            <a:extLst>
              <a:ext uri="{FF2B5EF4-FFF2-40B4-BE49-F238E27FC236}">
                <a16:creationId xmlns:a16="http://schemas.microsoft.com/office/drawing/2014/main" id="{264891D1-EF7A-6A70-4C81-C1CF41050E61}"/>
              </a:ext>
            </a:extLst>
          </p:cNvPr>
          <p:cNvSpPr/>
          <p:nvPr/>
        </p:nvSpPr>
        <p:spPr>
          <a:xfrm>
            <a:off x="457200" y="1143000"/>
            <a:ext cx="11274552" cy="1371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2" name="Rectangle 11">
            <a:extLst>
              <a:ext uri="{FF2B5EF4-FFF2-40B4-BE49-F238E27FC236}">
                <a16:creationId xmlns:a16="http://schemas.microsoft.com/office/drawing/2014/main" id="{30309C2B-AB18-6EFA-A971-C6C8971D1020}"/>
              </a:ext>
            </a:extLst>
          </p:cNvPr>
          <p:cNvSpPr/>
          <p:nvPr/>
        </p:nvSpPr>
        <p:spPr>
          <a:xfrm>
            <a:off x="457200" y="1856232"/>
            <a:ext cx="5623560" cy="198424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3" name="Rectangle 12">
            <a:extLst>
              <a:ext uri="{FF2B5EF4-FFF2-40B4-BE49-F238E27FC236}">
                <a16:creationId xmlns:a16="http://schemas.microsoft.com/office/drawing/2014/main" id="{00753983-6074-476C-4868-F6A2725E724D}"/>
              </a:ext>
            </a:extLst>
          </p:cNvPr>
          <p:cNvSpPr/>
          <p:nvPr/>
        </p:nvSpPr>
        <p:spPr>
          <a:xfrm>
            <a:off x="457200" y="1833154"/>
            <a:ext cx="5623560" cy="36576"/>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4" name="TextBox 13">
            <a:extLst>
              <a:ext uri="{FF2B5EF4-FFF2-40B4-BE49-F238E27FC236}">
                <a16:creationId xmlns:a16="http://schemas.microsoft.com/office/drawing/2014/main" id="{F920D420-8E71-1286-C3ED-A0980D0A871D}"/>
              </a:ext>
            </a:extLst>
          </p:cNvPr>
          <p:cNvSpPr txBox="1"/>
          <p:nvPr/>
        </p:nvSpPr>
        <p:spPr>
          <a:xfrm>
            <a:off x="658368" y="1910225"/>
            <a:ext cx="5257800" cy="171778"/>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F1C50"/>
                </a:solidFill>
                <a:effectLst/>
                <a:uLnTx/>
                <a:uFillTx/>
                <a:latin typeface="Helvetica Neue"/>
                <a:ea typeface="+mn-ea"/>
                <a:cs typeface="+mn-cs"/>
              </a:rPr>
              <a:t>NATURE OF WORK</a:t>
            </a:r>
          </a:p>
        </p:txBody>
      </p:sp>
      <p:sp>
        <p:nvSpPr>
          <p:cNvPr id="16" name="TextBox 15">
            <a:extLst>
              <a:ext uri="{FF2B5EF4-FFF2-40B4-BE49-F238E27FC236}">
                <a16:creationId xmlns:a16="http://schemas.microsoft.com/office/drawing/2014/main" id="{E0606802-016B-8899-602B-AF08E182C290}"/>
              </a:ext>
            </a:extLst>
          </p:cNvPr>
          <p:cNvSpPr txBox="1"/>
          <p:nvPr/>
        </p:nvSpPr>
        <p:spPr>
          <a:xfrm>
            <a:off x="658368" y="2166257"/>
            <a:ext cx="5257800" cy="140488"/>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1" u="none" strike="noStrike" kern="1200" cap="none" spc="0" normalizeH="0" baseline="0" noProof="0">
                <a:ln>
                  <a:noFill/>
                </a:ln>
                <a:solidFill>
                  <a:srgbClr val="6785C1"/>
                </a:solidFill>
                <a:effectLst/>
                <a:uLnTx/>
                <a:uFillTx/>
                <a:latin typeface="Helvetica Neue"/>
                <a:ea typeface="+mn-ea"/>
                <a:cs typeface="+mn-cs"/>
              </a:rPr>
              <a:t>Operational continuity + regulated change</a:t>
            </a:r>
          </a:p>
        </p:txBody>
      </p:sp>
      <p:sp>
        <p:nvSpPr>
          <p:cNvPr id="17" name="TextBox 16">
            <a:extLst>
              <a:ext uri="{FF2B5EF4-FFF2-40B4-BE49-F238E27FC236}">
                <a16:creationId xmlns:a16="http://schemas.microsoft.com/office/drawing/2014/main" id="{4527DDAC-80C8-D9E7-CB9B-399B48A0329B}"/>
              </a:ext>
            </a:extLst>
          </p:cNvPr>
          <p:cNvSpPr txBox="1"/>
          <p:nvPr/>
        </p:nvSpPr>
        <p:spPr>
          <a:xfrm>
            <a:off x="658368" y="2458865"/>
            <a:ext cx="5257800" cy="833241"/>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Helvetica Neue"/>
                <a:ea typeface="+mn-ea"/>
                <a:cs typeface="+mn-cs"/>
              </a:rPr>
              <a:t>▪  Keep the lights on — break/fix is the dominant pattern (GIS, G&amp;E, Corporate).</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Helvetica Neue"/>
                <a:ea typeface="+mn-ea"/>
                <a:cs typeface="+mn-cs"/>
              </a:rPr>
              <a:t>▪  Large demand planned yearly via PDD; small/medium demand handled ad-hoc.</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Helvetica Neue"/>
                <a:ea typeface="+mn-ea"/>
                <a:cs typeface="+mn-cs"/>
              </a:rPr>
              <a:t>▪  Regulatory and employee-facing systems (Corporate) run under continuous compliance pressure.</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Helvetica Neue"/>
                <a:ea typeface="+mn-ea"/>
                <a:cs typeface="+mn-cs"/>
              </a:rPr>
              <a:t>▪  Version upgrades (</a:t>
            </a:r>
            <a:r>
              <a:rPr kumimoji="0" lang="en-US" sz="1000" b="0" i="0" u="none" strike="noStrike" kern="1200" cap="none" spc="0" normalizeH="0" baseline="0" noProof="0" err="1">
                <a:ln>
                  <a:noFill/>
                </a:ln>
                <a:solidFill>
                  <a:srgbClr val="2C3E50"/>
                </a:solidFill>
                <a:effectLst/>
                <a:uLnTx/>
                <a:uFillTx/>
                <a:latin typeface="Helvetica Neue"/>
                <a:ea typeface="+mn-ea"/>
                <a:cs typeface="+mn-cs"/>
              </a:rPr>
              <a:t>Projectwise</a:t>
            </a:r>
            <a:r>
              <a:rPr kumimoji="0" lang="en-US" sz="1000" b="0" i="0" u="none" strike="noStrike" kern="1200" cap="none" spc="0" normalizeH="0" baseline="0" noProof="0">
                <a:ln>
                  <a:noFill/>
                </a:ln>
                <a:solidFill>
                  <a:srgbClr val="2C3E50"/>
                </a:solidFill>
                <a:effectLst/>
                <a:uLnTx/>
                <a:uFillTx/>
                <a:latin typeface="Helvetica Neue"/>
                <a:ea typeface="+mn-ea"/>
                <a:cs typeface="+mn-cs"/>
              </a:rPr>
              <a:t>, </a:t>
            </a:r>
            <a:r>
              <a:rPr kumimoji="0" lang="en-US" sz="1000" b="0" i="0" u="none" strike="noStrike" kern="1200" cap="none" spc="0" normalizeH="0" baseline="0" noProof="0" err="1">
                <a:ln>
                  <a:noFill/>
                </a:ln>
                <a:solidFill>
                  <a:srgbClr val="2C3E50"/>
                </a:solidFill>
                <a:effectLst/>
                <a:uLnTx/>
                <a:uFillTx/>
                <a:latin typeface="Helvetica Neue"/>
                <a:ea typeface="+mn-ea"/>
                <a:cs typeface="+mn-cs"/>
              </a:rPr>
              <a:t>Microstation</a:t>
            </a:r>
            <a:r>
              <a:rPr kumimoji="0" lang="en-US" sz="1000" b="0" i="0" u="none" strike="noStrike" kern="1200" cap="none" spc="0" normalizeH="0" baseline="0" noProof="0">
                <a:ln>
                  <a:noFill/>
                </a:ln>
                <a:solidFill>
                  <a:srgbClr val="2C3E50"/>
                </a:solidFill>
                <a:effectLst/>
                <a:uLnTx/>
                <a:uFillTx/>
                <a:latin typeface="Helvetica Neue"/>
                <a:ea typeface="+mn-ea"/>
                <a:cs typeface="+mn-cs"/>
              </a:rPr>
              <a:t>) gate-kept by Third-Party Risk assessment.</a:t>
            </a:r>
          </a:p>
        </p:txBody>
      </p:sp>
      <p:sp>
        <p:nvSpPr>
          <p:cNvPr id="19" name="Rectangle 18">
            <a:extLst>
              <a:ext uri="{FF2B5EF4-FFF2-40B4-BE49-F238E27FC236}">
                <a16:creationId xmlns:a16="http://schemas.microsoft.com/office/drawing/2014/main" id="{69BBD21D-6F4F-4DF3-AD4F-1D2469C2D2D3}"/>
              </a:ext>
            </a:extLst>
          </p:cNvPr>
          <p:cNvSpPr/>
          <p:nvPr/>
        </p:nvSpPr>
        <p:spPr>
          <a:xfrm>
            <a:off x="6199632" y="1856232"/>
            <a:ext cx="5623560" cy="198424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21" name="Rectangle 20">
            <a:extLst>
              <a:ext uri="{FF2B5EF4-FFF2-40B4-BE49-F238E27FC236}">
                <a16:creationId xmlns:a16="http://schemas.microsoft.com/office/drawing/2014/main" id="{D0BE99FA-DB12-C202-0682-0F7F1464C2CA}"/>
              </a:ext>
            </a:extLst>
          </p:cNvPr>
          <p:cNvSpPr/>
          <p:nvPr/>
        </p:nvSpPr>
        <p:spPr>
          <a:xfrm>
            <a:off x="6199632" y="1833154"/>
            <a:ext cx="5623560" cy="36576"/>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22" name="TextBox 21">
            <a:extLst>
              <a:ext uri="{FF2B5EF4-FFF2-40B4-BE49-F238E27FC236}">
                <a16:creationId xmlns:a16="http://schemas.microsoft.com/office/drawing/2014/main" id="{541E3D10-D8C8-9A96-9D60-5C9DB1E3F0B7}"/>
              </a:ext>
            </a:extLst>
          </p:cNvPr>
          <p:cNvSpPr txBox="1"/>
          <p:nvPr/>
        </p:nvSpPr>
        <p:spPr>
          <a:xfrm>
            <a:off x="6400800" y="1910225"/>
            <a:ext cx="5257800" cy="171778"/>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F1C50"/>
                </a:solidFill>
                <a:effectLst/>
                <a:uLnTx/>
                <a:uFillTx/>
                <a:latin typeface="Helvetica Neue"/>
                <a:ea typeface="+mn-ea"/>
                <a:cs typeface="+mn-cs"/>
              </a:rPr>
              <a:t>APPLICATIONS IN SCOPE</a:t>
            </a:r>
          </a:p>
        </p:txBody>
      </p:sp>
      <p:sp>
        <p:nvSpPr>
          <p:cNvPr id="23" name="TextBox 22">
            <a:extLst>
              <a:ext uri="{FF2B5EF4-FFF2-40B4-BE49-F238E27FC236}">
                <a16:creationId xmlns:a16="http://schemas.microsoft.com/office/drawing/2014/main" id="{2D71C6AB-37C7-7A95-56C8-F548F58A2575}"/>
              </a:ext>
            </a:extLst>
          </p:cNvPr>
          <p:cNvSpPr txBox="1"/>
          <p:nvPr/>
        </p:nvSpPr>
        <p:spPr>
          <a:xfrm>
            <a:off x="6400800" y="2166257"/>
            <a:ext cx="5257800" cy="140488"/>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1" u="none" strike="noStrike" kern="1200" cap="none" spc="0" normalizeH="0" baseline="0" noProof="0">
                <a:ln>
                  <a:noFill/>
                </a:ln>
                <a:solidFill>
                  <a:srgbClr val="6785C1"/>
                </a:solidFill>
                <a:effectLst/>
                <a:uLnTx/>
                <a:uFillTx/>
                <a:latin typeface="Helvetica Neue"/>
                <a:ea typeface="+mn-ea"/>
                <a:cs typeface="+mn-cs"/>
              </a:rPr>
              <a:t>Four technology domains under Carlos</a:t>
            </a:r>
          </a:p>
        </p:txBody>
      </p:sp>
      <p:sp>
        <p:nvSpPr>
          <p:cNvPr id="24" name="TextBox 23">
            <a:extLst>
              <a:ext uri="{FF2B5EF4-FFF2-40B4-BE49-F238E27FC236}">
                <a16:creationId xmlns:a16="http://schemas.microsoft.com/office/drawing/2014/main" id="{7FF83368-2C4A-381E-93B3-1D323F8A84C7}"/>
              </a:ext>
            </a:extLst>
          </p:cNvPr>
          <p:cNvSpPr txBox="1"/>
          <p:nvPr/>
        </p:nvSpPr>
        <p:spPr>
          <a:xfrm>
            <a:off x="6400800" y="2428385"/>
            <a:ext cx="5257800" cy="1341073"/>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Helvetica Neue"/>
                <a:ea typeface="+mn-ea"/>
                <a:cs typeface="+mn-cs"/>
              </a:rPr>
              <a:t>▪  GIS &amp; OSG  —  SAP HANA, ARCFM, GIS web apps, data replication, SWF platform (George Porto, ~6 FTE).</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Helvetica Neue"/>
                <a:ea typeface="+mn-ea"/>
                <a:cs typeface="+mn-cs"/>
              </a:rPr>
              <a:t>▪  Electric &amp; Gas Ops  —  70–90 apps, android/tablets, doc viewer, 811 gas lines (Bruno </a:t>
            </a:r>
            <a:r>
              <a:rPr kumimoji="0" lang="en-US" sz="1000" b="0" i="0" u="none" strike="noStrike" kern="1200" cap="none" spc="0" normalizeH="0" baseline="0" noProof="0" err="1">
                <a:ln>
                  <a:noFill/>
                </a:ln>
                <a:solidFill>
                  <a:srgbClr val="2C3E50"/>
                </a:solidFill>
                <a:effectLst/>
                <a:uLnTx/>
                <a:uFillTx/>
                <a:latin typeface="Helvetica Neue"/>
                <a:ea typeface="+mn-ea"/>
                <a:cs typeface="+mn-cs"/>
              </a:rPr>
              <a:t>Moreto</a:t>
            </a:r>
            <a:r>
              <a:rPr kumimoji="0" lang="en-US" sz="1000" b="0" i="0" u="none" strike="noStrike" kern="1200" cap="none" spc="0" normalizeH="0" baseline="0" noProof="0">
                <a:ln>
                  <a:noFill/>
                </a:ln>
                <a:solidFill>
                  <a:srgbClr val="2C3E50"/>
                </a:solidFill>
                <a:effectLst/>
                <a:uLnTx/>
                <a:uFillTx/>
                <a:latin typeface="Helvetica Neue"/>
                <a:ea typeface="+mn-ea"/>
                <a:cs typeface="+mn-cs"/>
              </a:rPr>
              <a:t> + Andrew McGibbon, ~7 FTE).</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Helvetica Neue"/>
                <a:ea typeface="+mn-ea"/>
                <a:cs typeface="+mn-cs"/>
              </a:rPr>
              <a:t>▪  Corporate Applications  —  5-6 PMs, 2 tech leads, corporate + network apps, SWF tooling (Sarath + Amit, ~8 FTE).</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Helvetica Neue"/>
                <a:ea typeface="+mn-ea"/>
                <a:cs typeface="+mn-cs"/>
              </a:rPr>
              <a:t>▪  Global SAP (Iberdrola)  —  FI, PO, Budget — Spain-side SAP module support (Vanessa + Michael, ~5 FTE).</a:t>
            </a:r>
          </a:p>
        </p:txBody>
      </p:sp>
      <p:sp>
        <p:nvSpPr>
          <p:cNvPr id="25" name="Rectangle 24">
            <a:extLst>
              <a:ext uri="{FF2B5EF4-FFF2-40B4-BE49-F238E27FC236}">
                <a16:creationId xmlns:a16="http://schemas.microsoft.com/office/drawing/2014/main" id="{846D21D5-211B-2B3A-DFAA-4BC55B826F13}"/>
              </a:ext>
            </a:extLst>
          </p:cNvPr>
          <p:cNvSpPr/>
          <p:nvPr/>
        </p:nvSpPr>
        <p:spPr>
          <a:xfrm>
            <a:off x="457200" y="3837435"/>
            <a:ext cx="5623560" cy="198424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26" name="Rectangle 25">
            <a:extLst>
              <a:ext uri="{FF2B5EF4-FFF2-40B4-BE49-F238E27FC236}">
                <a16:creationId xmlns:a16="http://schemas.microsoft.com/office/drawing/2014/main" id="{0560CDC2-E221-4969-7B25-FD41D41C2B2F}"/>
              </a:ext>
            </a:extLst>
          </p:cNvPr>
          <p:cNvSpPr/>
          <p:nvPr/>
        </p:nvSpPr>
        <p:spPr>
          <a:xfrm>
            <a:off x="457200" y="3837435"/>
            <a:ext cx="5623560" cy="36576"/>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28" name="TextBox 27">
            <a:extLst>
              <a:ext uri="{FF2B5EF4-FFF2-40B4-BE49-F238E27FC236}">
                <a16:creationId xmlns:a16="http://schemas.microsoft.com/office/drawing/2014/main" id="{627C9874-C20F-0B11-6234-8D7D0EEEA69F}"/>
              </a:ext>
            </a:extLst>
          </p:cNvPr>
          <p:cNvSpPr txBox="1"/>
          <p:nvPr/>
        </p:nvSpPr>
        <p:spPr>
          <a:xfrm>
            <a:off x="658368" y="3947163"/>
            <a:ext cx="5257800" cy="171778"/>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F1C50"/>
                </a:solidFill>
                <a:effectLst/>
                <a:uLnTx/>
                <a:uFillTx/>
                <a:latin typeface="Helvetica Neue"/>
                <a:ea typeface="+mn-ea"/>
                <a:cs typeface="+mn-cs"/>
              </a:rPr>
              <a:t>PRIORITIES TODAY</a:t>
            </a:r>
          </a:p>
        </p:txBody>
      </p:sp>
      <p:sp>
        <p:nvSpPr>
          <p:cNvPr id="29" name="TextBox 28">
            <a:extLst>
              <a:ext uri="{FF2B5EF4-FFF2-40B4-BE49-F238E27FC236}">
                <a16:creationId xmlns:a16="http://schemas.microsoft.com/office/drawing/2014/main" id="{CFA23C84-831B-33D8-37B7-8EB10A8103C7}"/>
              </a:ext>
            </a:extLst>
          </p:cNvPr>
          <p:cNvSpPr txBox="1"/>
          <p:nvPr/>
        </p:nvSpPr>
        <p:spPr>
          <a:xfrm>
            <a:off x="658368" y="4203195"/>
            <a:ext cx="5257800" cy="140488"/>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1" u="none" strike="noStrike" kern="1200" cap="none" spc="0" normalizeH="0" baseline="0" noProof="0">
                <a:ln>
                  <a:noFill/>
                </a:ln>
                <a:solidFill>
                  <a:srgbClr val="6785C1"/>
                </a:solidFill>
                <a:effectLst/>
                <a:uLnTx/>
                <a:uFillTx/>
                <a:latin typeface="Helvetica Neue"/>
                <a:ea typeface="+mn-ea"/>
                <a:cs typeface="+mn-cs"/>
              </a:rPr>
              <a:t>Break/fix first, regulatory second, strategic last</a:t>
            </a:r>
          </a:p>
        </p:txBody>
      </p:sp>
      <p:sp>
        <p:nvSpPr>
          <p:cNvPr id="30" name="TextBox 29">
            <a:extLst>
              <a:ext uri="{FF2B5EF4-FFF2-40B4-BE49-F238E27FC236}">
                <a16:creationId xmlns:a16="http://schemas.microsoft.com/office/drawing/2014/main" id="{2BA90B8F-0A94-5326-E504-9B1AEEF443CB}"/>
              </a:ext>
            </a:extLst>
          </p:cNvPr>
          <p:cNvSpPr txBox="1"/>
          <p:nvPr/>
        </p:nvSpPr>
        <p:spPr>
          <a:xfrm>
            <a:off x="658368" y="4495803"/>
            <a:ext cx="5257800" cy="1171796"/>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Helvetica Neue"/>
                <a:ea typeface="+mn-ea"/>
                <a:cs typeface="+mn-cs"/>
              </a:rPr>
              <a:t>▪  GIS: keep the lights on; team &amp; SWF resource management; future technology roadmap.</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Helvetica Neue"/>
                <a:ea typeface="+mn-ea"/>
                <a:cs typeface="+mn-cs"/>
              </a:rPr>
              <a:t>▪  Corporate: regulatory and employee-facing systems — always priority; continuous new requirements.</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Helvetica Neue"/>
                <a:ea typeface="+mn-ea"/>
                <a:cs typeface="+mn-cs"/>
              </a:rPr>
              <a:t>▪  G&amp;E: ProjectWise + </a:t>
            </a:r>
            <a:r>
              <a:rPr kumimoji="0" lang="en-US" sz="1000" b="0" i="0" u="none" strike="noStrike" kern="1200" cap="none" spc="0" normalizeH="0" baseline="0" noProof="0" err="1">
                <a:ln>
                  <a:noFill/>
                </a:ln>
                <a:solidFill>
                  <a:srgbClr val="2C3E50"/>
                </a:solidFill>
                <a:effectLst/>
                <a:uLnTx/>
                <a:uFillTx/>
                <a:latin typeface="Helvetica Neue"/>
                <a:ea typeface="+mn-ea"/>
                <a:cs typeface="+mn-cs"/>
              </a:rPr>
              <a:t>Microstation</a:t>
            </a:r>
            <a:r>
              <a:rPr kumimoji="0" lang="en-US" sz="1000" b="0" i="0" u="none" strike="noStrike" kern="1200" cap="none" spc="0" normalizeH="0" baseline="0" noProof="0">
                <a:ln>
                  <a:noFill/>
                </a:ln>
                <a:solidFill>
                  <a:srgbClr val="2C3E50"/>
                </a:solidFill>
                <a:effectLst/>
                <a:uLnTx/>
                <a:uFillTx/>
                <a:latin typeface="Helvetica Neue"/>
                <a:ea typeface="+mn-ea"/>
                <a:cs typeface="+mn-cs"/>
              </a:rPr>
              <a:t> upgrades; third-party risk interface; business case approvals (slow).</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Helvetica Neue"/>
                <a:ea typeface="+mn-ea"/>
                <a:cs typeface="+mn-cs"/>
              </a:rPr>
              <a:t>▪  Global SAP: incident volume dominates — strategic projects slip; 1-year hiring lag amplifies load.</a:t>
            </a:r>
          </a:p>
        </p:txBody>
      </p:sp>
      <p:sp>
        <p:nvSpPr>
          <p:cNvPr id="31" name="Rectangle 30">
            <a:extLst>
              <a:ext uri="{FF2B5EF4-FFF2-40B4-BE49-F238E27FC236}">
                <a16:creationId xmlns:a16="http://schemas.microsoft.com/office/drawing/2014/main" id="{686B6EE1-B7BE-255B-50BF-5E74A762C749}"/>
              </a:ext>
            </a:extLst>
          </p:cNvPr>
          <p:cNvSpPr/>
          <p:nvPr/>
        </p:nvSpPr>
        <p:spPr>
          <a:xfrm>
            <a:off x="6199632" y="3837435"/>
            <a:ext cx="5623560" cy="198424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32" name="Rectangle 31">
            <a:extLst>
              <a:ext uri="{FF2B5EF4-FFF2-40B4-BE49-F238E27FC236}">
                <a16:creationId xmlns:a16="http://schemas.microsoft.com/office/drawing/2014/main" id="{E0124ED0-373B-3E67-BB77-D8E9AE8FCDF3}"/>
              </a:ext>
            </a:extLst>
          </p:cNvPr>
          <p:cNvSpPr/>
          <p:nvPr/>
        </p:nvSpPr>
        <p:spPr>
          <a:xfrm>
            <a:off x="6199632" y="3837435"/>
            <a:ext cx="5623560" cy="36576"/>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33" name="TextBox 32">
            <a:extLst>
              <a:ext uri="{FF2B5EF4-FFF2-40B4-BE49-F238E27FC236}">
                <a16:creationId xmlns:a16="http://schemas.microsoft.com/office/drawing/2014/main" id="{A92154DE-A764-9DB7-B8CD-204295508733}"/>
              </a:ext>
            </a:extLst>
          </p:cNvPr>
          <p:cNvSpPr txBox="1"/>
          <p:nvPr/>
        </p:nvSpPr>
        <p:spPr>
          <a:xfrm>
            <a:off x="6400800" y="3947163"/>
            <a:ext cx="5257800" cy="171778"/>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F1C50"/>
                </a:solidFill>
                <a:effectLst/>
                <a:uLnTx/>
                <a:uFillTx/>
                <a:latin typeface="Helvetica Neue"/>
                <a:ea typeface="+mn-ea"/>
                <a:cs typeface="+mn-cs"/>
              </a:rPr>
              <a:t>INTERACTIONS  &amp;  WAY OF WORKING</a:t>
            </a:r>
          </a:p>
        </p:txBody>
      </p:sp>
      <p:sp>
        <p:nvSpPr>
          <p:cNvPr id="34" name="TextBox 33">
            <a:extLst>
              <a:ext uri="{FF2B5EF4-FFF2-40B4-BE49-F238E27FC236}">
                <a16:creationId xmlns:a16="http://schemas.microsoft.com/office/drawing/2014/main" id="{3BAD4907-4255-73FB-5CCC-10CF38A9342E}"/>
              </a:ext>
            </a:extLst>
          </p:cNvPr>
          <p:cNvSpPr txBox="1"/>
          <p:nvPr/>
        </p:nvSpPr>
        <p:spPr>
          <a:xfrm>
            <a:off x="6400800" y="4203195"/>
            <a:ext cx="5257800" cy="140488"/>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1" u="none" strike="noStrike" kern="1200" cap="none" spc="0" normalizeH="0" baseline="0" noProof="0">
                <a:ln>
                  <a:noFill/>
                </a:ln>
                <a:solidFill>
                  <a:srgbClr val="6785C1"/>
                </a:solidFill>
                <a:effectLst/>
                <a:uLnTx/>
                <a:uFillTx/>
                <a:latin typeface="Helvetica Neue"/>
                <a:ea typeface="+mn-ea"/>
                <a:cs typeface="+mn-cs"/>
              </a:rPr>
              <a:t>Inside-IT + vendor + business triangulation</a:t>
            </a:r>
          </a:p>
        </p:txBody>
      </p:sp>
      <p:sp>
        <p:nvSpPr>
          <p:cNvPr id="35" name="TextBox 34">
            <a:extLst>
              <a:ext uri="{FF2B5EF4-FFF2-40B4-BE49-F238E27FC236}">
                <a16:creationId xmlns:a16="http://schemas.microsoft.com/office/drawing/2014/main" id="{DF6F7541-C107-6C35-C239-481E9AF59934}"/>
              </a:ext>
            </a:extLst>
          </p:cNvPr>
          <p:cNvSpPr txBox="1"/>
          <p:nvPr/>
        </p:nvSpPr>
        <p:spPr>
          <a:xfrm>
            <a:off x="6400800" y="4495803"/>
            <a:ext cx="5257800" cy="1341073"/>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Helvetica Neue"/>
                <a:ea typeface="+mn-ea"/>
                <a:cs typeface="+mn-cs"/>
              </a:rPr>
              <a:t>▪  Inside Applications: GIS ↔ G&amp;E (shared SAP/GIS data); Corporate ↔ all teams (shared PMs).</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Helvetica Neue"/>
                <a:ea typeface="+mn-ea"/>
                <a:cs typeface="+mn-cs"/>
              </a:rPr>
              <a:t>▪  With SAP branch: Global SAP ↔ Kumar's SAP (Billing, FICA); P&amp;T is the intermediary with Business.</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Helvetica Neue"/>
                <a:ea typeface="+mn-ea"/>
                <a:cs typeface="+mn-cs"/>
              </a:rPr>
              <a:t>▪  With vendors: Accenture (Global SAP + Corporate), SWF / Software Factory (all teams), business vendors (G&amp;E).</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Helvetica Neue"/>
                <a:ea typeface="+mn-ea"/>
                <a:cs typeface="+mn-cs"/>
              </a:rPr>
              <a:t>▪  Tools mix: Jira (</a:t>
            </a:r>
            <a:r>
              <a:rPr kumimoji="0" lang="en-US" sz="1000" b="0" i="0" u="none" strike="noStrike" kern="1200" cap="none" spc="0" normalizeH="0" baseline="0" noProof="0" err="1">
                <a:ln>
                  <a:noFill/>
                </a:ln>
                <a:solidFill>
                  <a:srgbClr val="2C3E50"/>
                </a:solidFill>
                <a:effectLst/>
                <a:uLnTx/>
                <a:uFillTx/>
                <a:latin typeface="Helvetica Neue"/>
                <a:ea typeface="+mn-ea"/>
                <a:cs typeface="+mn-cs"/>
              </a:rPr>
              <a:t>misc</a:t>
            </a:r>
            <a:r>
              <a:rPr kumimoji="0" lang="en-US" sz="1000" b="0" i="0" u="none" strike="noStrike" kern="1200" cap="none" spc="0" normalizeH="0" baseline="0" noProof="0">
                <a:ln>
                  <a:noFill/>
                </a:ln>
                <a:solidFill>
                  <a:srgbClr val="2C3E50"/>
                </a:solidFill>
                <a:effectLst/>
                <a:uLnTx/>
                <a:uFillTx/>
                <a:latin typeface="Helvetica Neue"/>
                <a:ea typeface="+mn-ea"/>
                <a:cs typeface="+mn-cs"/>
              </a:rPr>
              <a:t>), IT Now (incidents), PDD (large), SharePoint + Teams + OneNote + Email (PM).</a:t>
            </a:r>
          </a:p>
        </p:txBody>
      </p:sp>
      <p:sp>
        <p:nvSpPr>
          <p:cNvPr id="37" name="Rectangle 36">
            <a:extLst>
              <a:ext uri="{FF2B5EF4-FFF2-40B4-BE49-F238E27FC236}">
                <a16:creationId xmlns:a16="http://schemas.microsoft.com/office/drawing/2014/main" id="{5FC66940-CACB-90D9-B2F1-7FC2CD3E2A2E}"/>
              </a:ext>
            </a:extLst>
          </p:cNvPr>
          <p:cNvSpPr/>
          <p:nvPr/>
        </p:nvSpPr>
        <p:spPr>
          <a:xfrm>
            <a:off x="457200" y="5880464"/>
            <a:ext cx="11365992"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38" name="TextBox 37">
            <a:extLst>
              <a:ext uri="{FF2B5EF4-FFF2-40B4-BE49-F238E27FC236}">
                <a16:creationId xmlns:a16="http://schemas.microsoft.com/office/drawing/2014/main" id="{487BAA2F-A11D-57EE-13E8-0CB294C34FD4}"/>
              </a:ext>
            </a:extLst>
          </p:cNvPr>
          <p:cNvSpPr txBox="1"/>
          <p:nvPr/>
        </p:nvSpPr>
        <p:spPr>
          <a:xfrm>
            <a:off x="685800" y="6046035"/>
            <a:ext cx="10817352" cy="171778"/>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Helvetica Neue"/>
                <a:ea typeface="+mn-ea"/>
                <a:cs typeface="+mn-cs"/>
              </a:rPr>
              <a:t>Applications carries the structural legacy of Avangrid's IT stack — fragmentation here maps directly to the 4 intake bottlenecks surfaced later in this deck</a:t>
            </a:r>
          </a:p>
        </p:txBody>
      </p:sp>
      <p:sp>
        <p:nvSpPr>
          <p:cNvPr id="41" name="Rectangle 40">
            <a:extLst>
              <a:ext uri="{FF2B5EF4-FFF2-40B4-BE49-F238E27FC236}">
                <a16:creationId xmlns:a16="http://schemas.microsoft.com/office/drawing/2014/main" id="{F0263C50-BE1A-3D18-D8F1-B0AEE9BA23FF}"/>
              </a:ext>
            </a:extLst>
          </p:cNvPr>
          <p:cNvSpPr/>
          <p:nvPr/>
        </p:nvSpPr>
        <p:spPr>
          <a:xfrm>
            <a:off x="457200" y="1371600"/>
            <a:ext cx="11365992" cy="1371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42" name="Rectangle 41">
            <a:extLst>
              <a:ext uri="{FF2B5EF4-FFF2-40B4-BE49-F238E27FC236}">
                <a16:creationId xmlns:a16="http://schemas.microsoft.com/office/drawing/2014/main" id="{96AEB63F-C64A-1E67-6CBA-A695C823D0FF}"/>
              </a:ext>
            </a:extLst>
          </p:cNvPr>
          <p:cNvSpPr/>
          <p:nvPr/>
        </p:nvSpPr>
        <p:spPr>
          <a:xfrm>
            <a:off x="457200" y="1435608"/>
            <a:ext cx="11365992" cy="347472"/>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43" name="TextBox 42">
            <a:extLst>
              <a:ext uri="{FF2B5EF4-FFF2-40B4-BE49-F238E27FC236}">
                <a16:creationId xmlns:a16="http://schemas.microsoft.com/office/drawing/2014/main" id="{59AD5C7B-72BB-A10A-5471-307965880284}"/>
              </a:ext>
            </a:extLst>
          </p:cNvPr>
          <p:cNvSpPr txBox="1"/>
          <p:nvPr/>
        </p:nvSpPr>
        <p:spPr>
          <a:xfrm>
            <a:off x="457200" y="1523455"/>
            <a:ext cx="11365992" cy="17177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Aptos" panose="020B0004020202020204"/>
                <a:ea typeface="+mn-ea"/>
                <a:cs typeface="+mn-cs"/>
              </a:rPr>
              <a:t>BRANCH 1  —  IT BUSINESS APPLICATIONS  ·  Director: Carlos Garbin  ·  ~26 FTE  ·  4 teams</a:t>
            </a:r>
          </a:p>
        </p:txBody>
      </p:sp>
      <p:sp>
        <p:nvSpPr>
          <p:cNvPr id="10" name="Rectángulo 9">
            <a:extLst>
              <a:ext uri="{FF2B5EF4-FFF2-40B4-BE49-F238E27FC236}">
                <a16:creationId xmlns:a16="http://schemas.microsoft.com/office/drawing/2014/main" id="{CB80E070-D8CA-3CC5-96C8-1274FD6A5A3D}"/>
              </a:ext>
            </a:extLst>
          </p:cNvPr>
          <p:cNvSpPr/>
          <p:nvPr/>
        </p:nvSpPr>
        <p:spPr>
          <a:xfrm>
            <a:off x="685800" y="103268"/>
            <a:ext cx="3942080" cy="5689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Aptos" panose="020B0004020202020204"/>
                <a:ea typeface="+mn-ea"/>
                <a:cs typeface="+mn-cs"/>
              </a:rPr>
              <a:t>Current state analysis</a:t>
            </a:r>
          </a:p>
        </p:txBody>
      </p:sp>
    </p:spTree>
    <p:extLst>
      <p:ext uri="{BB962C8B-B14F-4D97-AF65-F5344CB8AC3E}">
        <p14:creationId xmlns:p14="http://schemas.microsoft.com/office/powerpoint/2010/main" val="313710468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EEF3244-A19B-4EC3-7A32-5277F29FB7B9}"/>
            </a:ext>
          </a:extLst>
        </p:cNvPr>
        <p:cNvGrpSpPr/>
        <p:nvPr/>
      </p:nvGrpSpPr>
      <p:grpSpPr>
        <a:xfrm>
          <a:off x="0" y="0"/>
          <a:ext cx="0" cy="0"/>
          <a:chOff x="0" y="0"/>
          <a:chExt cx="0" cy="0"/>
        </a:xfrm>
      </p:grpSpPr>
      <p:sp>
        <p:nvSpPr>
          <p:cNvPr id="2" name="Título 2">
            <a:extLst>
              <a:ext uri="{FF2B5EF4-FFF2-40B4-BE49-F238E27FC236}">
                <a16:creationId xmlns:a16="http://schemas.microsoft.com/office/drawing/2014/main" id="{3F1742AA-3AC9-F18A-A3DE-4399FB4E0162}"/>
              </a:ext>
            </a:extLst>
          </p:cNvPr>
          <p:cNvSpPr txBox="1">
            <a:spLocks/>
          </p:cNvSpPr>
          <p:nvPr/>
        </p:nvSpPr>
        <p:spPr>
          <a:xfrm>
            <a:off x="180918" y="127319"/>
            <a:ext cx="8857204"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0">
                <a:ln>
                  <a:noFill/>
                </a:ln>
                <a:solidFill>
                  <a:prstClr val="white"/>
                </a:solidFill>
                <a:effectLst/>
                <a:uLnTx/>
                <a:uFillTx/>
                <a:latin typeface="Arial" panose="020B0604020202020204" pitchFamily="34" charset="0"/>
                <a:ea typeface="+mj-ea"/>
                <a:cs typeface="Arial" panose="020B0604020202020204" pitchFamily="34" charset="0"/>
              </a:rPr>
              <a:t>CONTEXT</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rial" panose="020B0604020202020204" pitchFamily="34" charset="0"/>
                <a:ea typeface="+mj-ea"/>
                <a:cs typeface="Arial" panose="020B0604020202020204" pitchFamily="34" charset="0"/>
              </a:rPr>
              <a:t>Organization</a:t>
            </a:r>
            <a:endParaRPr kumimoji="0" lang="en-US" sz="2400" b="1" i="0" u="none" strike="noStrike" kern="1200" cap="none" spc="0" normalizeH="0" baseline="0" noProof="0">
              <a:ln>
                <a:noFill/>
              </a:ln>
              <a:solidFill>
                <a:prstClr val="white"/>
              </a:solidFill>
              <a:effectLst/>
              <a:uLnTx/>
              <a:uFillTx/>
              <a:latin typeface="Arial" panose="020B0604020202020204" pitchFamily="34" charset="0"/>
              <a:ea typeface="+mj-ea"/>
              <a:cs typeface="Arial" panose="020B0604020202020204" pitchFamily="34" charset="0"/>
            </a:endParaRPr>
          </a:p>
        </p:txBody>
      </p:sp>
      <p:sp>
        <p:nvSpPr>
          <p:cNvPr id="3" name="Rectangle 28">
            <a:extLst>
              <a:ext uri="{FF2B5EF4-FFF2-40B4-BE49-F238E27FC236}">
                <a16:creationId xmlns:a16="http://schemas.microsoft.com/office/drawing/2014/main" id="{7F76D1EC-C91E-36F3-43EA-3E8D845E9CBF}"/>
              </a:ext>
            </a:extLst>
          </p:cNvPr>
          <p:cNvSpPr/>
          <p:nvPr/>
        </p:nvSpPr>
        <p:spPr>
          <a:xfrm>
            <a:off x="-561976" y="1891049"/>
            <a:ext cx="504913" cy="354411"/>
          </a:xfrm>
          <a:prstGeom prst="rect">
            <a:avLst/>
          </a:prstGeom>
          <a:solidFill>
            <a:srgbClr val="0DA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4" name="Rectangle 40">
            <a:extLst>
              <a:ext uri="{FF2B5EF4-FFF2-40B4-BE49-F238E27FC236}">
                <a16:creationId xmlns:a16="http://schemas.microsoft.com/office/drawing/2014/main" id="{3904C150-ED73-B670-CA6A-59C0F2BD1FE6}"/>
              </a:ext>
            </a:extLst>
          </p:cNvPr>
          <p:cNvSpPr/>
          <p:nvPr/>
        </p:nvSpPr>
        <p:spPr>
          <a:xfrm>
            <a:off x="-561976" y="1450050"/>
            <a:ext cx="504913" cy="354411"/>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5" name="Rectangle 52">
            <a:extLst>
              <a:ext uri="{FF2B5EF4-FFF2-40B4-BE49-F238E27FC236}">
                <a16:creationId xmlns:a16="http://schemas.microsoft.com/office/drawing/2014/main" id="{53407E6B-F196-9394-9D46-435681C5DF05}"/>
              </a:ext>
            </a:extLst>
          </p:cNvPr>
          <p:cNvSpPr/>
          <p:nvPr/>
        </p:nvSpPr>
        <p:spPr>
          <a:xfrm>
            <a:off x="-561976" y="1009051"/>
            <a:ext cx="504913" cy="354411"/>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7" name="Rectangle 64">
            <a:extLst>
              <a:ext uri="{FF2B5EF4-FFF2-40B4-BE49-F238E27FC236}">
                <a16:creationId xmlns:a16="http://schemas.microsoft.com/office/drawing/2014/main" id="{D326F130-02FD-61EB-8FF7-2A919E9F1F96}"/>
              </a:ext>
            </a:extLst>
          </p:cNvPr>
          <p:cNvSpPr/>
          <p:nvPr/>
        </p:nvSpPr>
        <p:spPr>
          <a:xfrm>
            <a:off x="-561976" y="2332048"/>
            <a:ext cx="504913" cy="354411"/>
          </a:xfrm>
          <a:prstGeom prst="rect">
            <a:avLst/>
          </a:prstGeom>
          <a:solidFill>
            <a:schemeClr val="accent6">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8" name="Rectangle 64">
            <a:extLst>
              <a:ext uri="{FF2B5EF4-FFF2-40B4-BE49-F238E27FC236}">
                <a16:creationId xmlns:a16="http://schemas.microsoft.com/office/drawing/2014/main" id="{BD9C82B3-CFEE-AF11-ABAA-716F09DE3257}"/>
              </a:ext>
            </a:extLst>
          </p:cNvPr>
          <p:cNvSpPr/>
          <p:nvPr/>
        </p:nvSpPr>
        <p:spPr>
          <a:xfrm>
            <a:off x="-561976" y="2773047"/>
            <a:ext cx="504913" cy="354411"/>
          </a:xfrm>
          <a:prstGeom prst="rect">
            <a:avLst/>
          </a:prstGeom>
          <a:solidFill>
            <a:srgbClr val="00A4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9" name="Rectangle 64">
            <a:extLst>
              <a:ext uri="{FF2B5EF4-FFF2-40B4-BE49-F238E27FC236}">
                <a16:creationId xmlns:a16="http://schemas.microsoft.com/office/drawing/2014/main" id="{2A9A6CED-E817-384C-15BC-BF102698FCCA}"/>
              </a:ext>
            </a:extLst>
          </p:cNvPr>
          <p:cNvSpPr/>
          <p:nvPr/>
        </p:nvSpPr>
        <p:spPr>
          <a:xfrm>
            <a:off x="-561976" y="3214046"/>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5" name="Rectangle 64">
            <a:extLst>
              <a:ext uri="{FF2B5EF4-FFF2-40B4-BE49-F238E27FC236}">
                <a16:creationId xmlns:a16="http://schemas.microsoft.com/office/drawing/2014/main" id="{A500DAF1-CC06-0F24-C22B-3D918D6D7430}"/>
              </a:ext>
            </a:extLst>
          </p:cNvPr>
          <p:cNvSpPr/>
          <p:nvPr/>
        </p:nvSpPr>
        <p:spPr>
          <a:xfrm>
            <a:off x="-561976" y="3655047"/>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48" name="TextBox 147">
            <a:extLst>
              <a:ext uri="{FF2B5EF4-FFF2-40B4-BE49-F238E27FC236}">
                <a16:creationId xmlns:a16="http://schemas.microsoft.com/office/drawing/2014/main" id="{75D1362A-CC23-31FF-3FCC-A83B20D9EA4F}"/>
              </a:ext>
            </a:extLst>
          </p:cNvPr>
          <p:cNvSpPr txBox="1"/>
          <p:nvPr/>
        </p:nvSpPr>
        <p:spPr>
          <a:xfrm>
            <a:off x="458724" y="932575"/>
            <a:ext cx="11274552" cy="430887"/>
          </a:xfrm>
          <a:prstGeom prst="rect">
            <a:avLst/>
          </a:prstGeom>
          <a:noFill/>
        </p:spPr>
        <p:txBody>
          <a:bodyPr wrap="square" lIns="0" tIns="0" rIns="0" bIns="0" rtlCol="0">
            <a:noAutofit/>
          </a:bodyPr>
          <a:lstStyle>
            <a:defPPr>
              <a:defRPr lang="en-US"/>
            </a:defPPr>
            <a:lvl1pPr algn="ctr">
              <a:defRPr sz="1400" b="1">
                <a:solidFill>
                  <a:schemeClr val="accent4">
                    <a:lumMod val="75000"/>
                  </a:schemeClr>
                </a:solidFill>
                <a:latin typeface="Arial" panose="020B0604020202020204" pitchFamily="34" charset="0"/>
                <a:cs typeface="Arial" panose="020B0604020202020204" pitchFamily="34" charset="0"/>
              </a:defRPr>
            </a:lvl1p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F9ED5">
                    <a:lumMod val="75000"/>
                  </a:srgbClr>
                </a:solidFill>
                <a:effectLst/>
                <a:uLnTx/>
                <a:uFillTx/>
                <a:latin typeface="Arial" panose="020B0604020202020204" pitchFamily="34" charset="0"/>
                <a:ea typeface="+mn-ea"/>
                <a:cs typeface="Arial" panose="020B0604020202020204" pitchFamily="34" charset="0"/>
              </a:rPr>
              <a:t>Customer Services Apps serves 7 OPCOs across three BRS groups — with SAP (Billing, CRM, FICA, Metering) as the operational core and two Sr. Manager vacancies.</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a:ln>
                <a:noFill/>
              </a:ln>
              <a:solidFill>
                <a:srgbClr val="0F9ED5">
                  <a:lumMod val="75000"/>
                </a:srgbClr>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a:ln>
                <a:noFill/>
              </a:ln>
              <a:solidFill>
                <a:srgbClr val="0F9ED5">
                  <a:lumMod val="75000"/>
                </a:srgbClr>
              </a:solidFill>
              <a:effectLst/>
              <a:uLnTx/>
              <a:uFillTx/>
              <a:latin typeface="Arial" panose="020B0604020202020204" pitchFamily="34" charset="0"/>
              <a:ea typeface="+mn-ea"/>
              <a:cs typeface="Arial" panose="020B0604020202020204" pitchFamily="34" charset="0"/>
            </a:endParaRPr>
          </a:p>
        </p:txBody>
      </p:sp>
      <p:sp>
        <p:nvSpPr>
          <p:cNvPr id="6" name="Rectangle 5">
            <a:extLst>
              <a:ext uri="{FF2B5EF4-FFF2-40B4-BE49-F238E27FC236}">
                <a16:creationId xmlns:a16="http://schemas.microsoft.com/office/drawing/2014/main" id="{224373B0-F529-6BAA-D1A2-3127D368AA46}"/>
              </a:ext>
            </a:extLst>
          </p:cNvPr>
          <p:cNvSpPr/>
          <p:nvPr/>
        </p:nvSpPr>
        <p:spPr>
          <a:xfrm>
            <a:off x="457200" y="1143000"/>
            <a:ext cx="11274552" cy="1371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41" name="Rectangle 40">
            <a:extLst>
              <a:ext uri="{FF2B5EF4-FFF2-40B4-BE49-F238E27FC236}">
                <a16:creationId xmlns:a16="http://schemas.microsoft.com/office/drawing/2014/main" id="{3580D3E4-8009-73DB-582B-940E1CD68C83}"/>
              </a:ext>
            </a:extLst>
          </p:cNvPr>
          <p:cNvSpPr/>
          <p:nvPr/>
        </p:nvSpPr>
        <p:spPr>
          <a:xfrm>
            <a:off x="457200" y="1371600"/>
            <a:ext cx="11365992" cy="1371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0" name="Rectangle 9">
            <a:extLst>
              <a:ext uri="{FF2B5EF4-FFF2-40B4-BE49-F238E27FC236}">
                <a16:creationId xmlns:a16="http://schemas.microsoft.com/office/drawing/2014/main" id="{2B47A920-F5AA-F491-C253-AFF5E9215335}"/>
              </a:ext>
            </a:extLst>
          </p:cNvPr>
          <p:cNvSpPr/>
          <p:nvPr/>
        </p:nvSpPr>
        <p:spPr>
          <a:xfrm>
            <a:off x="457200" y="1446276"/>
            <a:ext cx="11274552" cy="1371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1" name="Rectangle 10">
            <a:extLst>
              <a:ext uri="{FF2B5EF4-FFF2-40B4-BE49-F238E27FC236}">
                <a16:creationId xmlns:a16="http://schemas.microsoft.com/office/drawing/2014/main" id="{9A89B1F8-4366-6AC2-4234-C768A48E6C71}"/>
              </a:ext>
            </a:extLst>
          </p:cNvPr>
          <p:cNvSpPr/>
          <p:nvPr/>
        </p:nvSpPr>
        <p:spPr>
          <a:xfrm>
            <a:off x="457200" y="1510284"/>
            <a:ext cx="11365992" cy="347472"/>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8" name="TextBox 17">
            <a:extLst>
              <a:ext uri="{FF2B5EF4-FFF2-40B4-BE49-F238E27FC236}">
                <a16:creationId xmlns:a16="http://schemas.microsoft.com/office/drawing/2014/main" id="{BA737273-E17E-A444-4526-FD01467284CD}"/>
              </a:ext>
            </a:extLst>
          </p:cNvPr>
          <p:cNvSpPr txBox="1"/>
          <p:nvPr/>
        </p:nvSpPr>
        <p:spPr>
          <a:xfrm>
            <a:off x="458724" y="1599900"/>
            <a:ext cx="11274552" cy="17177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Aptos" panose="020B0004020202020204"/>
                <a:ea typeface="+mn-ea"/>
                <a:cs typeface="+mn-cs"/>
              </a:rPr>
              <a:t>BRANCH 2  —  CUSTOMER SERVICES APPS  ·  Director: Kumar </a:t>
            </a:r>
            <a:r>
              <a:rPr kumimoji="0" lang="en-US" sz="1600" b="0" i="0" u="none" strike="noStrike" kern="1200" cap="none" spc="0" normalizeH="0" baseline="0" noProof="0" err="1">
                <a:ln>
                  <a:noFill/>
                </a:ln>
                <a:solidFill>
                  <a:prstClr val="white"/>
                </a:solidFill>
                <a:effectLst/>
                <a:uLnTx/>
                <a:uFillTx/>
                <a:latin typeface="Aptos" panose="020B0004020202020204"/>
                <a:ea typeface="+mn-ea"/>
                <a:cs typeface="+mn-cs"/>
              </a:rPr>
              <a:t>Jaladanki</a:t>
            </a:r>
            <a:r>
              <a:rPr kumimoji="0" lang="en-US" sz="1600" b="0" i="0" u="none" strike="noStrike" kern="1200" cap="none" spc="0" normalizeH="0" baseline="0" noProof="0">
                <a:ln>
                  <a:noFill/>
                </a:ln>
                <a:solidFill>
                  <a:prstClr val="white"/>
                </a:solidFill>
                <a:effectLst/>
                <a:uLnTx/>
                <a:uFillTx/>
                <a:latin typeface="Aptos" panose="020B0004020202020204"/>
                <a:ea typeface="+mn-ea"/>
                <a:cs typeface="+mn-cs"/>
              </a:rPr>
              <a:t>  ·  ~24 FTE  ·  5 teams (2 Sr. Manager vacancies)</a:t>
            </a:r>
          </a:p>
        </p:txBody>
      </p:sp>
      <p:sp>
        <p:nvSpPr>
          <p:cNvPr id="20" name="Rectangle 19">
            <a:extLst>
              <a:ext uri="{FF2B5EF4-FFF2-40B4-BE49-F238E27FC236}">
                <a16:creationId xmlns:a16="http://schemas.microsoft.com/office/drawing/2014/main" id="{85D776C6-CD95-1D49-431C-B9DACA6352BC}"/>
              </a:ext>
            </a:extLst>
          </p:cNvPr>
          <p:cNvSpPr/>
          <p:nvPr/>
        </p:nvSpPr>
        <p:spPr>
          <a:xfrm>
            <a:off x="457200" y="1951372"/>
            <a:ext cx="5623560" cy="189368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27" name="Rectangle 26">
            <a:extLst>
              <a:ext uri="{FF2B5EF4-FFF2-40B4-BE49-F238E27FC236}">
                <a16:creationId xmlns:a16="http://schemas.microsoft.com/office/drawing/2014/main" id="{2E707878-AB6D-088D-D2DF-1DFA9F7F65EB}"/>
              </a:ext>
            </a:extLst>
          </p:cNvPr>
          <p:cNvSpPr/>
          <p:nvPr/>
        </p:nvSpPr>
        <p:spPr>
          <a:xfrm>
            <a:off x="457200" y="1951372"/>
            <a:ext cx="5623560" cy="36576"/>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36" name="TextBox 35">
            <a:extLst>
              <a:ext uri="{FF2B5EF4-FFF2-40B4-BE49-F238E27FC236}">
                <a16:creationId xmlns:a16="http://schemas.microsoft.com/office/drawing/2014/main" id="{44D622B1-B05D-90DA-8CC6-A2F58FA802BC}"/>
              </a:ext>
            </a:extLst>
          </p:cNvPr>
          <p:cNvSpPr txBox="1"/>
          <p:nvPr/>
        </p:nvSpPr>
        <p:spPr>
          <a:xfrm>
            <a:off x="658368" y="2061100"/>
            <a:ext cx="5257800" cy="171778"/>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1" i="0" u="none" strike="noStrike" kern="1200" cap="none" spc="0" normalizeH="0" baseline="0" noProof="0">
                <a:ln>
                  <a:noFill/>
                </a:ln>
                <a:solidFill>
                  <a:srgbClr val="196B24"/>
                </a:solidFill>
                <a:effectLst/>
                <a:uLnTx/>
                <a:uFillTx/>
                <a:latin typeface="Helvetica Neue"/>
                <a:ea typeface="+mn-ea"/>
                <a:cs typeface="+mn-cs"/>
              </a:rPr>
              <a:t>NATURE OF WORK</a:t>
            </a:r>
          </a:p>
        </p:txBody>
      </p:sp>
      <p:sp>
        <p:nvSpPr>
          <p:cNvPr id="39" name="TextBox 38">
            <a:extLst>
              <a:ext uri="{FF2B5EF4-FFF2-40B4-BE49-F238E27FC236}">
                <a16:creationId xmlns:a16="http://schemas.microsoft.com/office/drawing/2014/main" id="{C4927DFB-2ACC-59E7-06DC-2AE597F5D08A}"/>
              </a:ext>
            </a:extLst>
          </p:cNvPr>
          <p:cNvSpPr txBox="1"/>
          <p:nvPr/>
        </p:nvSpPr>
        <p:spPr>
          <a:xfrm>
            <a:off x="658368" y="2317132"/>
            <a:ext cx="5257800" cy="140488"/>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1" u="none" strike="noStrike" kern="1200" cap="none" spc="0" normalizeH="0" baseline="0" noProof="0">
                <a:ln>
                  <a:noFill/>
                </a:ln>
                <a:solidFill>
                  <a:srgbClr val="0B76A0"/>
                </a:solidFill>
                <a:effectLst/>
                <a:uLnTx/>
                <a:uFillTx/>
                <a:latin typeface="Helvetica Neue"/>
                <a:ea typeface="+mn-ea"/>
                <a:cs typeface="+mn-cs"/>
              </a:rPr>
              <a:t>Customer-facing SAP + metering + contact center</a:t>
            </a:r>
          </a:p>
        </p:txBody>
      </p:sp>
      <p:sp>
        <p:nvSpPr>
          <p:cNvPr id="40" name="TextBox 39">
            <a:extLst>
              <a:ext uri="{FF2B5EF4-FFF2-40B4-BE49-F238E27FC236}">
                <a16:creationId xmlns:a16="http://schemas.microsoft.com/office/drawing/2014/main" id="{D7AD1360-355F-9A61-9082-21DA0D88714C}"/>
              </a:ext>
            </a:extLst>
          </p:cNvPr>
          <p:cNvSpPr txBox="1"/>
          <p:nvPr/>
        </p:nvSpPr>
        <p:spPr>
          <a:xfrm>
            <a:off x="658368" y="2609740"/>
            <a:ext cx="5257800" cy="833241"/>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Helvetica Neue"/>
                <a:ea typeface="+mn-ea"/>
                <a:cs typeface="+mn-cs"/>
              </a:rPr>
              <a:t>▪  SAP (Avangrid US) — Billing, FICA, CRM, Metering — distinct from Global SAP (Iberdrola Spain).</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Helvetica Neue"/>
                <a:ea typeface="+mn-ea"/>
                <a:cs typeface="+mn-cs"/>
              </a:rPr>
              <a:t>▪  Demand split across BRS (business), PMO (large projects) and IT-funded (Kumar's teams).</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Helvetica Neue"/>
                <a:ea typeface="+mn-ea"/>
                <a:cs typeface="+mn-cs"/>
              </a:rPr>
              <a:t>▪  Incidents + small/medium demand dominate volume; large projects run via annual PDD.</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Helvetica Neue"/>
                <a:ea typeface="+mn-ea"/>
                <a:cs typeface="+mn-cs"/>
              </a:rPr>
              <a:t>▪  Software Factory (SWF) executes; Accenture supports incidents + projects.</a:t>
            </a:r>
          </a:p>
        </p:txBody>
      </p:sp>
      <p:sp>
        <p:nvSpPr>
          <p:cNvPr id="44" name="Rectangle 43">
            <a:extLst>
              <a:ext uri="{FF2B5EF4-FFF2-40B4-BE49-F238E27FC236}">
                <a16:creationId xmlns:a16="http://schemas.microsoft.com/office/drawing/2014/main" id="{DEF9D166-05E3-B0A6-B3B7-7FABAB32067E}"/>
              </a:ext>
            </a:extLst>
          </p:cNvPr>
          <p:cNvSpPr/>
          <p:nvPr/>
        </p:nvSpPr>
        <p:spPr>
          <a:xfrm>
            <a:off x="6199632" y="1951372"/>
            <a:ext cx="5623560" cy="188148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45" name="Rectangle 44">
            <a:extLst>
              <a:ext uri="{FF2B5EF4-FFF2-40B4-BE49-F238E27FC236}">
                <a16:creationId xmlns:a16="http://schemas.microsoft.com/office/drawing/2014/main" id="{71FE90B6-73D1-43EB-B50D-52A2AD46036C}"/>
              </a:ext>
            </a:extLst>
          </p:cNvPr>
          <p:cNvSpPr/>
          <p:nvPr/>
        </p:nvSpPr>
        <p:spPr>
          <a:xfrm>
            <a:off x="6199632" y="1951372"/>
            <a:ext cx="5623560" cy="36576"/>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46" name="TextBox 45">
            <a:extLst>
              <a:ext uri="{FF2B5EF4-FFF2-40B4-BE49-F238E27FC236}">
                <a16:creationId xmlns:a16="http://schemas.microsoft.com/office/drawing/2014/main" id="{06B618AD-94CD-2827-6104-47CC30473F78}"/>
              </a:ext>
            </a:extLst>
          </p:cNvPr>
          <p:cNvSpPr txBox="1"/>
          <p:nvPr/>
        </p:nvSpPr>
        <p:spPr>
          <a:xfrm>
            <a:off x="6400800" y="2061100"/>
            <a:ext cx="5257800" cy="171778"/>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1" i="0" u="none" strike="noStrike" kern="1200" cap="none" spc="0" normalizeH="0" baseline="0" noProof="0">
                <a:ln>
                  <a:noFill/>
                </a:ln>
                <a:solidFill>
                  <a:srgbClr val="196B24"/>
                </a:solidFill>
                <a:effectLst/>
                <a:uLnTx/>
                <a:uFillTx/>
                <a:latin typeface="Helvetica Neue"/>
                <a:ea typeface="+mn-ea"/>
                <a:cs typeface="+mn-cs"/>
              </a:rPr>
              <a:t>BRS  /  OPCO LANDSCAPE</a:t>
            </a:r>
          </a:p>
        </p:txBody>
      </p:sp>
      <p:sp>
        <p:nvSpPr>
          <p:cNvPr id="47" name="TextBox 46">
            <a:extLst>
              <a:ext uri="{FF2B5EF4-FFF2-40B4-BE49-F238E27FC236}">
                <a16:creationId xmlns:a16="http://schemas.microsoft.com/office/drawing/2014/main" id="{F1509A58-7051-1CD4-6DDC-FE88F290737D}"/>
              </a:ext>
            </a:extLst>
          </p:cNvPr>
          <p:cNvSpPr txBox="1"/>
          <p:nvPr/>
        </p:nvSpPr>
        <p:spPr>
          <a:xfrm>
            <a:off x="6400800" y="2317132"/>
            <a:ext cx="5257800" cy="140488"/>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1" u="none" strike="noStrike" kern="1200" cap="none" spc="0" normalizeH="0" baseline="0" noProof="0">
                <a:ln>
                  <a:noFill/>
                </a:ln>
                <a:solidFill>
                  <a:srgbClr val="0B76A0"/>
                </a:solidFill>
                <a:effectLst/>
                <a:uLnTx/>
                <a:uFillTx/>
                <a:latin typeface="Helvetica Neue"/>
                <a:ea typeface="+mn-ea"/>
                <a:cs typeface="+mn-cs"/>
              </a:rPr>
              <a:t>3 BRS groups representing 7 operating companies</a:t>
            </a:r>
          </a:p>
        </p:txBody>
      </p:sp>
      <p:sp>
        <p:nvSpPr>
          <p:cNvPr id="48" name="TextBox 47">
            <a:extLst>
              <a:ext uri="{FF2B5EF4-FFF2-40B4-BE49-F238E27FC236}">
                <a16:creationId xmlns:a16="http://schemas.microsoft.com/office/drawing/2014/main" id="{C91CBE89-2379-3B4F-58B1-C23B70142448}"/>
              </a:ext>
            </a:extLst>
          </p:cNvPr>
          <p:cNvSpPr txBox="1"/>
          <p:nvPr/>
        </p:nvSpPr>
        <p:spPr>
          <a:xfrm>
            <a:off x="6400800" y="2609740"/>
            <a:ext cx="5257800" cy="1171796"/>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Helvetica Neue"/>
                <a:ea typeface="+mn-ea"/>
                <a:cs typeface="+mn-cs"/>
              </a:rPr>
              <a:t>▪  BRS UIL  —  United Illuminating, SCG, CNG, BGC (Connecticut cluster).</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Helvetica Neue"/>
                <a:ea typeface="+mn-ea"/>
                <a:cs typeface="+mn-cs"/>
              </a:rPr>
              <a:t>▪  BRS CMP  —  Central Maine Power (Maine operations).</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Helvetica Neue"/>
                <a:ea typeface="+mn-ea"/>
                <a:cs typeface="+mn-cs"/>
              </a:rPr>
              <a:t>▪  BRS NY  —  NYSEG + RGE (New York cluster).</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Helvetica Neue"/>
                <a:ea typeface="+mn-ea"/>
                <a:cs typeface="+mn-cs"/>
              </a:rPr>
              <a:t>▪  Plus Digital </a:t>
            </a:r>
            <a:r>
              <a:rPr kumimoji="0" lang="en-US" sz="1000" b="0" i="0" u="none" strike="noStrike" kern="1200" cap="none" spc="0" normalizeH="0" baseline="0" noProof="0" err="1">
                <a:ln>
                  <a:noFill/>
                </a:ln>
                <a:solidFill>
                  <a:srgbClr val="2C3E50"/>
                </a:solidFill>
                <a:effectLst/>
                <a:uLnTx/>
                <a:uFillTx/>
                <a:latin typeface="Helvetica Neue"/>
                <a:ea typeface="+mn-ea"/>
                <a:cs typeface="+mn-cs"/>
              </a:rPr>
              <a:t>CoE</a:t>
            </a:r>
            <a:r>
              <a:rPr kumimoji="0" lang="en-US" sz="1000" b="0" i="0" u="none" strike="noStrike" kern="1200" cap="none" spc="0" normalizeH="0" baseline="0" noProof="0">
                <a:ln>
                  <a:noFill/>
                </a:ln>
                <a:solidFill>
                  <a:srgbClr val="2C3E50"/>
                </a:solidFill>
                <a:effectLst/>
                <a:uLnTx/>
                <a:uFillTx/>
                <a:latin typeface="Helvetica Neue"/>
                <a:ea typeface="+mn-ea"/>
                <a:cs typeface="+mn-cs"/>
              </a:rPr>
              <a:t> (customer apps / websites) and Call Center (contact interactions — Kumar).</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Helvetica Neue"/>
                <a:ea typeface="+mn-ea"/>
                <a:cs typeface="+mn-cs"/>
              </a:rPr>
              <a:t>▪  Each OPCO competes for the same IT capacity — multi-OPCO prioritization is a daily pressure.</a:t>
            </a:r>
          </a:p>
        </p:txBody>
      </p:sp>
      <p:sp>
        <p:nvSpPr>
          <p:cNvPr id="49" name="Rectangle 48">
            <a:extLst>
              <a:ext uri="{FF2B5EF4-FFF2-40B4-BE49-F238E27FC236}">
                <a16:creationId xmlns:a16="http://schemas.microsoft.com/office/drawing/2014/main" id="{99DCCB51-21CC-A2DC-F26A-776658142F73}"/>
              </a:ext>
            </a:extLst>
          </p:cNvPr>
          <p:cNvSpPr/>
          <p:nvPr/>
        </p:nvSpPr>
        <p:spPr>
          <a:xfrm>
            <a:off x="457200" y="3879450"/>
            <a:ext cx="5623560" cy="186809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50" name="Rectangle 49">
            <a:extLst>
              <a:ext uri="{FF2B5EF4-FFF2-40B4-BE49-F238E27FC236}">
                <a16:creationId xmlns:a16="http://schemas.microsoft.com/office/drawing/2014/main" id="{148D5CBC-12ED-1DFE-66E5-0457205C58B5}"/>
              </a:ext>
            </a:extLst>
          </p:cNvPr>
          <p:cNvSpPr/>
          <p:nvPr/>
        </p:nvSpPr>
        <p:spPr>
          <a:xfrm>
            <a:off x="457200" y="3879450"/>
            <a:ext cx="5623560" cy="36576"/>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51" name="TextBox 50">
            <a:extLst>
              <a:ext uri="{FF2B5EF4-FFF2-40B4-BE49-F238E27FC236}">
                <a16:creationId xmlns:a16="http://schemas.microsoft.com/office/drawing/2014/main" id="{2C839A7E-5837-F19B-E318-3EEFEDCBD29E}"/>
              </a:ext>
            </a:extLst>
          </p:cNvPr>
          <p:cNvSpPr txBox="1"/>
          <p:nvPr/>
        </p:nvSpPr>
        <p:spPr>
          <a:xfrm>
            <a:off x="658368" y="3989178"/>
            <a:ext cx="5257800" cy="171778"/>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1" i="0" u="none" strike="noStrike" kern="1200" cap="none" spc="0" normalizeH="0" baseline="0" noProof="0">
                <a:ln>
                  <a:noFill/>
                </a:ln>
                <a:solidFill>
                  <a:srgbClr val="196B24"/>
                </a:solidFill>
                <a:effectLst/>
                <a:uLnTx/>
                <a:uFillTx/>
                <a:latin typeface="Helvetica Neue"/>
                <a:ea typeface="+mn-ea"/>
                <a:cs typeface="+mn-cs"/>
              </a:rPr>
              <a:t>TEAMS UNDER KUMAR</a:t>
            </a:r>
          </a:p>
        </p:txBody>
      </p:sp>
      <p:sp>
        <p:nvSpPr>
          <p:cNvPr id="52" name="TextBox 51">
            <a:extLst>
              <a:ext uri="{FF2B5EF4-FFF2-40B4-BE49-F238E27FC236}">
                <a16:creationId xmlns:a16="http://schemas.microsoft.com/office/drawing/2014/main" id="{48AA19E5-BFBD-8DBB-C71E-D1C9EC69F4FA}"/>
              </a:ext>
            </a:extLst>
          </p:cNvPr>
          <p:cNvSpPr txBox="1"/>
          <p:nvPr/>
        </p:nvSpPr>
        <p:spPr>
          <a:xfrm>
            <a:off x="658368" y="4245210"/>
            <a:ext cx="5257800" cy="140488"/>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1" u="none" strike="noStrike" kern="1200" cap="none" spc="0" normalizeH="0" baseline="0" noProof="0">
                <a:ln>
                  <a:noFill/>
                </a:ln>
                <a:solidFill>
                  <a:srgbClr val="0B76A0"/>
                </a:solidFill>
                <a:effectLst/>
                <a:uLnTx/>
                <a:uFillTx/>
                <a:latin typeface="Helvetica Neue"/>
                <a:ea typeface="+mn-ea"/>
                <a:cs typeface="+mn-cs"/>
              </a:rPr>
              <a:t>5 sub-teams, heterogeneous maturity</a:t>
            </a:r>
          </a:p>
        </p:txBody>
      </p:sp>
      <p:sp>
        <p:nvSpPr>
          <p:cNvPr id="53" name="TextBox 52">
            <a:extLst>
              <a:ext uri="{FF2B5EF4-FFF2-40B4-BE49-F238E27FC236}">
                <a16:creationId xmlns:a16="http://schemas.microsoft.com/office/drawing/2014/main" id="{55E5A4EA-74F6-10C7-8274-81056EB5A46D}"/>
              </a:ext>
            </a:extLst>
          </p:cNvPr>
          <p:cNvSpPr txBox="1"/>
          <p:nvPr/>
        </p:nvSpPr>
        <p:spPr>
          <a:xfrm>
            <a:off x="658368" y="4537818"/>
            <a:ext cx="5257800" cy="833241"/>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Helvetica Neue"/>
                <a:ea typeface="+mn-ea"/>
                <a:cs typeface="+mn-cs"/>
              </a:rPr>
              <a:t>▪  Ivelisse Velazquez  —  FICA, Billing &amp; Collection (~8 FTE).</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Helvetica Neue"/>
                <a:ea typeface="+mn-ea"/>
                <a:cs typeface="+mn-cs"/>
              </a:rPr>
              <a:t>▪  Vincent Lam  —  Device &amp; Metering (Iram Chowdhury / Smart Metering sits here, ~8 FTE).</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Helvetica Neue"/>
                <a:ea typeface="+mn-ea"/>
                <a:cs typeface="+mn-cs"/>
              </a:rPr>
              <a:t>▪  Nagi Reddy  —  SAP Basis (platform / infrastructure, ~2 FTE).</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Helvetica Neue"/>
                <a:ea typeface="+mn-ea"/>
                <a:cs typeface="+mn-cs"/>
              </a:rPr>
              <a:t>▪  TBD (vacant)  —  Sr. Manager CRM &amp; Contact Center Ops (~4 FTE) — leadership gap.</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Helvetica Neue"/>
                <a:ea typeface="+mn-ea"/>
                <a:cs typeface="+mn-cs"/>
              </a:rPr>
              <a:t>▪  Open (vacant)  —  Sr. Manager SAP &amp; CS Architecture (~2 FTE) — leadership gap.</a:t>
            </a:r>
          </a:p>
        </p:txBody>
      </p:sp>
      <p:sp>
        <p:nvSpPr>
          <p:cNvPr id="54" name="Rectangle 53">
            <a:extLst>
              <a:ext uri="{FF2B5EF4-FFF2-40B4-BE49-F238E27FC236}">
                <a16:creationId xmlns:a16="http://schemas.microsoft.com/office/drawing/2014/main" id="{7B63EF13-84A6-6277-8097-968674599BE2}"/>
              </a:ext>
            </a:extLst>
          </p:cNvPr>
          <p:cNvSpPr/>
          <p:nvPr/>
        </p:nvSpPr>
        <p:spPr>
          <a:xfrm>
            <a:off x="6199632" y="3879450"/>
            <a:ext cx="5623560" cy="188148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55" name="Rectangle 54">
            <a:extLst>
              <a:ext uri="{FF2B5EF4-FFF2-40B4-BE49-F238E27FC236}">
                <a16:creationId xmlns:a16="http://schemas.microsoft.com/office/drawing/2014/main" id="{D6BBC117-2AF0-E997-0E9D-17CE7AA2AD1E}"/>
              </a:ext>
            </a:extLst>
          </p:cNvPr>
          <p:cNvSpPr/>
          <p:nvPr/>
        </p:nvSpPr>
        <p:spPr>
          <a:xfrm>
            <a:off x="6199632" y="3879450"/>
            <a:ext cx="5623560" cy="36576"/>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56" name="TextBox 55">
            <a:extLst>
              <a:ext uri="{FF2B5EF4-FFF2-40B4-BE49-F238E27FC236}">
                <a16:creationId xmlns:a16="http://schemas.microsoft.com/office/drawing/2014/main" id="{6AC75542-AAAF-EFC6-4818-835B3A693EC9}"/>
              </a:ext>
            </a:extLst>
          </p:cNvPr>
          <p:cNvSpPr txBox="1"/>
          <p:nvPr/>
        </p:nvSpPr>
        <p:spPr>
          <a:xfrm>
            <a:off x="6400800" y="3989178"/>
            <a:ext cx="5257800" cy="171778"/>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1" i="0" u="none" strike="noStrike" kern="1200" cap="none" spc="0" normalizeH="0" baseline="0" noProof="0">
                <a:ln>
                  <a:noFill/>
                </a:ln>
                <a:solidFill>
                  <a:srgbClr val="196B24"/>
                </a:solidFill>
                <a:effectLst/>
                <a:uLnTx/>
                <a:uFillTx/>
                <a:latin typeface="Helvetica Neue"/>
                <a:ea typeface="+mn-ea"/>
                <a:cs typeface="+mn-cs"/>
              </a:rPr>
              <a:t>WAY OF WORKING  &amp;  INTERACTIONS</a:t>
            </a:r>
          </a:p>
        </p:txBody>
      </p:sp>
      <p:sp>
        <p:nvSpPr>
          <p:cNvPr id="57" name="TextBox 56">
            <a:extLst>
              <a:ext uri="{FF2B5EF4-FFF2-40B4-BE49-F238E27FC236}">
                <a16:creationId xmlns:a16="http://schemas.microsoft.com/office/drawing/2014/main" id="{16CCB496-1051-1027-7861-25BDF62AE18C}"/>
              </a:ext>
            </a:extLst>
          </p:cNvPr>
          <p:cNvSpPr txBox="1"/>
          <p:nvPr/>
        </p:nvSpPr>
        <p:spPr>
          <a:xfrm>
            <a:off x="6400800" y="4245210"/>
            <a:ext cx="5257800" cy="140488"/>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1" u="none" strike="noStrike" kern="1200" cap="none" spc="0" normalizeH="0" baseline="0" noProof="0">
                <a:ln>
                  <a:noFill/>
                </a:ln>
                <a:solidFill>
                  <a:srgbClr val="0B76A0"/>
                </a:solidFill>
                <a:effectLst/>
                <a:uLnTx/>
                <a:uFillTx/>
                <a:latin typeface="Helvetica Neue"/>
                <a:ea typeface="+mn-ea"/>
                <a:cs typeface="+mn-cs"/>
              </a:rPr>
              <a:t>Fragmented intake + vendor-heavy delivery</a:t>
            </a:r>
          </a:p>
        </p:txBody>
      </p:sp>
      <p:sp>
        <p:nvSpPr>
          <p:cNvPr id="58" name="TextBox 57">
            <a:extLst>
              <a:ext uri="{FF2B5EF4-FFF2-40B4-BE49-F238E27FC236}">
                <a16:creationId xmlns:a16="http://schemas.microsoft.com/office/drawing/2014/main" id="{A624F3E6-BBAD-D044-3D75-4929B01606B8}"/>
              </a:ext>
            </a:extLst>
          </p:cNvPr>
          <p:cNvSpPr txBox="1"/>
          <p:nvPr/>
        </p:nvSpPr>
        <p:spPr>
          <a:xfrm>
            <a:off x="6400800" y="4537818"/>
            <a:ext cx="5257800" cy="1001493"/>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Helvetica Neue"/>
                <a:ea typeface="+mn-ea"/>
                <a:cs typeface="+mn-cs"/>
              </a:rPr>
              <a:t>▪  Small/medium demand via Jira; large via PPM Now (only Smart Metering consistently).</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Helvetica Neue"/>
                <a:ea typeface="+mn-ea"/>
                <a:cs typeface="+mn-cs"/>
              </a:rPr>
              <a:t>▪  Incidents: IT Now; Minor requests: RITM; Major projects: SharePoint + Teams.</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Helvetica Neue"/>
                <a:ea typeface="+mn-ea"/>
                <a:cs typeface="+mn-cs"/>
              </a:rPr>
              <a:t>▪  Interactions: Kumar (PMO for large projects);  BRS leads (business demand); Vanessa (Global SAP).</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Helvetica Neue"/>
                <a:ea typeface="+mn-ea"/>
                <a:cs typeface="+mn-cs"/>
              </a:rPr>
              <a:t>▪  Vendor concentration: Smart Metering is 100% vendor-delivered (requirements + code); other teams rely on Accenture + SWF.</a:t>
            </a:r>
          </a:p>
        </p:txBody>
      </p:sp>
      <p:sp>
        <p:nvSpPr>
          <p:cNvPr id="59" name="Rectangle 58">
            <a:extLst>
              <a:ext uri="{FF2B5EF4-FFF2-40B4-BE49-F238E27FC236}">
                <a16:creationId xmlns:a16="http://schemas.microsoft.com/office/drawing/2014/main" id="{D0F4759C-880A-FB7E-1CF2-68BC16EDD7D5}"/>
              </a:ext>
            </a:extLst>
          </p:cNvPr>
          <p:cNvSpPr/>
          <p:nvPr/>
        </p:nvSpPr>
        <p:spPr>
          <a:xfrm>
            <a:off x="457200" y="5835395"/>
            <a:ext cx="11365992"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60" name="TextBox 59">
            <a:extLst>
              <a:ext uri="{FF2B5EF4-FFF2-40B4-BE49-F238E27FC236}">
                <a16:creationId xmlns:a16="http://schemas.microsoft.com/office/drawing/2014/main" id="{4D07C79B-AF08-A120-40F9-23E03B2C73D5}"/>
              </a:ext>
            </a:extLst>
          </p:cNvPr>
          <p:cNvSpPr txBox="1"/>
          <p:nvPr/>
        </p:nvSpPr>
        <p:spPr>
          <a:xfrm>
            <a:off x="685800" y="5907863"/>
            <a:ext cx="10905084" cy="35798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Helvetica Neue"/>
                <a:ea typeface="+mn-ea"/>
                <a:cs typeface="+mn-cs"/>
              </a:rPr>
              <a:t>Customer Services Apps carries both business-facing complexity (3 BRS × 7 OPCOs) and structural gaps (2 Sr. Manager vacancies, vendor-heavy delivery) — the TOM must address both</a:t>
            </a:r>
          </a:p>
        </p:txBody>
      </p:sp>
      <p:sp>
        <p:nvSpPr>
          <p:cNvPr id="12" name="Rectángulo 11">
            <a:extLst>
              <a:ext uri="{FF2B5EF4-FFF2-40B4-BE49-F238E27FC236}">
                <a16:creationId xmlns:a16="http://schemas.microsoft.com/office/drawing/2014/main" id="{54C8D221-BC6A-4B01-6C5F-90EC49C38D0D}"/>
              </a:ext>
            </a:extLst>
          </p:cNvPr>
          <p:cNvSpPr/>
          <p:nvPr/>
        </p:nvSpPr>
        <p:spPr>
          <a:xfrm>
            <a:off x="10144887" y="1108818"/>
            <a:ext cx="1920240" cy="57607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Aptos" panose="020B0004020202020204"/>
                <a:ea typeface="+mn-ea"/>
                <a:cs typeface="+mn-cs"/>
              </a:rPr>
              <a:t>We should have the same view of the same Information for both SAP and digital applications. </a:t>
            </a:r>
            <a:r>
              <a:rPr kumimoji="0" lang="en-US" sz="1800" b="0" i="0" u="none" strike="noStrike" kern="1200" cap="none" spc="0" normalizeH="0" baseline="0" noProof="0" err="1">
                <a:ln>
                  <a:noFill/>
                </a:ln>
                <a:solidFill>
                  <a:prstClr val="white"/>
                </a:solidFill>
                <a:effectLst/>
                <a:uLnTx/>
                <a:uFillTx/>
                <a:latin typeface="Aptos" panose="020B0004020202020204"/>
                <a:ea typeface="+mn-ea"/>
                <a:cs typeface="+mn-cs"/>
              </a:rPr>
              <a:t>Estandardize</a:t>
            </a:r>
            <a:r>
              <a:rPr kumimoji="0" lang="en-US" sz="1800" b="0" i="0" u="none" strike="noStrike" kern="1200" cap="none" spc="0" normalizeH="0" baseline="0" noProof="0">
                <a:ln>
                  <a:noFill/>
                </a:ln>
                <a:solidFill>
                  <a:prstClr val="white"/>
                </a:solidFill>
                <a:effectLst/>
                <a:uLnTx/>
                <a:uFillTx/>
                <a:latin typeface="Aptos" panose="020B0004020202020204"/>
                <a:ea typeface="+mn-ea"/>
                <a:cs typeface="+mn-cs"/>
              </a:rPr>
              <a:t> the format.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prstClr val="white"/>
                </a:solidFill>
                <a:effectLst/>
                <a:uLnTx/>
                <a:uFillTx/>
                <a:latin typeface="Aptos" panose="020B0004020202020204"/>
                <a:ea typeface="+mn-ea"/>
                <a:cs typeface="+mn-cs"/>
              </a:rPr>
              <a:t>Nature of work</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prstClr val="white"/>
                </a:solidFill>
                <a:effectLst/>
                <a:uLnTx/>
                <a:uFillTx/>
                <a:latin typeface="Aptos" panose="020B0004020202020204"/>
                <a:ea typeface="+mn-ea"/>
                <a:cs typeface="+mn-cs"/>
              </a:rPr>
              <a:t>Team under </a:t>
            </a:r>
            <a:r>
              <a:rPr kumimoji="0" lang="en-US" sz="1800" b="0" i="0" u="none" strike="noStrike" kern="1200" cap="none" spc="0" normalizeH="0" baseline="0" noProof="0" err="1">
                <a:ln>
                  <a:noFill/>
                </a:ln>
                <a:solidFill>
                  <a:prstClr val="white"/>
                </a:solidFill>
                <a:effectLst/>
                <a:uLnTx/>
                <a:uFillTx/>
                <a:latin typeface="Aptos" panose="020B0004020202020204"/>
                <a:ea typeface="+mn-ea"/>
                <a:cs typeface="+mn-cs"/>
              </a:rPr>
              <a:t>strcuture</a:t>
            </a: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prstClr val="white"/>
                </a:solidFill>
                <a:effectLst/>
                <a:uLnTx/>
                <a:uFillTx/>
                <a:latin typeface="Aptos" panose="020B0004020202020204"/>
                <a:ea typeface="+mn-ea"/>
                <a:cs typeface="+mn-cs"/>
              </a:rPr>
              <a:t>Applications in Scope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prstClr val="white"/>
                </a:solidFill>
                <a:effectLst/>
                <a:uLnTx/>
                <a:uFillTx/>
                <a:latin typeface="Aptos" panose="020B0004020202020204"/>
                <a:ea typeface="+mn-ea"/>
                <a:cs typeface="+mn-cs"/>
              </a:rPr>
              <a:t>WOW &amp; </a:t>
            </a:r>
            <a:r>
              <a:rPr kumimoji="0" lang="en-US" sz="1800" b="0" i="0" u="none" strike="noStrike" kern="1200" cap="none" spc="0" normalizeH="0" baseline="0" noProof="0" err="1">
                <a:ln>
                  <a:noFill/>
                </a:ln>
                <a:solidFill>
                  <a:prstClr val="white"/>
                </a:solidFill>
                <a:effectLst/>
                <a:uLnTx/>
                <a:uFillTx/>
                <a:latin typeface="Aptos" panose="020B0004020202020204"/>
                <a:ea typeface="+mn-ea"/>
                <a:cs typeface="+mn-cs"/>
              </a:rPr>
              <a:t>Itneracionts</a:t>
            </a: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prstClr val="white"/>
                </a:solidFill>
                <a:effectLst/>
                <a:uLnTx/>
                <a:uFillTx/>
                <a:latin typeface="Aptos" panose="020B0004020202020204"/>
                <a:ea typeface="+mn-ea"/>
                <a:cs typeface="+mn-cs"/>
              </a:rPr>
              <a:t>Priorities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prstClr val="white"/>
                </a:solidFill>
                <a:effectLst/>
                <a:uLnTx/>
                <a:uFillTx/>
                <a:latin typeface="Aptos" panose="020B0004020202020204"/>
                <a:ea typeface="+mn-ea"/>
                <a:cs typeface="+mn-cs"/>
              </a:rPr>
              <a:t>Applications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Tree>
    <p:extLst>
      <p:ext uri="{BB962C8B-B14F-4D97-AF65-F5344CB8AC3E}">
        <p14:creationId xmlns:p14="http://schemas.microsoft.com/office/powerpoint/2010/main" val="361316273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4BD75CB-0C9A-341C-081B-F3589583B8F2}"/>
            </a:ext>
          </a:extLst>
        </p:cNvPr>
        <p:cNvGrpSpPr/>
        <p:nvPr/>
      </p:nvGrpSpPr>
      <p:grpSpPr>
        <a:xfrm>
          <a:off x="0" y="0"/>
          <a:ext cx="0" cy="0"/>
          <a:chOff x="0" y="0"/>
          <a:chExt cx="0" cy="0"/>
        </a:xfrm>
      </p:grpSpPr>
      <p:sp>
        <p:nvSpPr>
          <p:cNvPr id="167" name="Rectangle 166">
            <a:extLst>
              <a:ext uri="{FF2B5EF4-FFF2-40B4-BE49-F238E27FC236}">
                <a16:creationId xmlns:a16="http://schemas.microsoft.com/office/drawing/2014/main" id="{E7A571AC-1D65-3D1B-9019-7603D94F4FDF}"/>
              </a:ext>
            </a:extLst>
          </p:cNvPr>
          <p:cNvSpPr/>
          <p:nvPr/>
        </p:nvSpPr>
        <p:spPr>
          <a:xfrm>
            <a:off x="76200" y="5965371"/>
            <a:ext cx="12042648" cy="8926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2" name="Título 2">
            <a:extLst>
              <a:ext uri="{FF2B5EF4-FFF2-40B4-BE49-F238E27FC236}">
                <a16:creationId xmlns:a16="http://schemas.microsoft.com/office/drawing/2014/main" id="{7B5DC409-DEA4-7DA6-13AD-2C1742BDCFDD}"/>
              </a:ext>
            </a:extLst>
          </p:cNvPr>
          <p:cNvSpPr txBox="1">
            <a:spLocks/>
          </p:cNvSpPr>
          <p:nvPr/>
        </p:nvSpPr>
        <p:spPr>
          <a:xfrm>
            <a:off x="180918" y="127319"/>
            <a:ext cx="8857204"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0">
                <a:ln>
                  <a:noFill/>
                </a:ln>
                <a:solidFill>
                  <a:prstClr val="white"/>
                </a:solidFill>
                <a:effectLst/>
                <a:uLnTx/>
                <a:uFillTx/>
                <a:latin typeface="Arial" panose="020B0604020202020204" pitchFamily="34" charset="0"/>
                <a:ea typeface="+mj-ea"/>
                <a:cs typeface="Arial" panose="020B0604020202020204" pitchFamily="34" charset="0"/>
              </a:rPr>
              <a:t>CONTEXT</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rial" panose="020B0604020202020204" pitchFamily="34" charset="0"/>
                <a:ea typeface="+mj-ea"/>
                <a:cs typeface="Arial" panose="020B0604020202020204" pitchFamily="34" charset="0"/>
              </a:rPr>
              <a:t>Organization</a:t>
            </a:r>
            <a:endParaRPr kumimoji="0" lang="en-US" sz="2400" b="1" i="0" u="none" strike="noStrike" kern="1200" cap="none" spc="0" normalizeH="0" baseline="0" noProof="0">
              <a:ln>
                <a:noFill/>
              </a:ln>
              <a:solidFill>
                <a:prstClr val="white"/>
              </a:solidFill>
              <a:effectLst/>
              <a:uLnTx/>
              <a:uFillTx/>
              <a:latin typeface="Arial" panose="020B0604020202020204" pitchFamily="34" charset="0"/>
              <a:ea typeface="+mj-ea"/>
              <a:cs typeface="Arial" panose="020B0604020202020204" pitchFamily="34" charset="0"/>
            </a:endParaRPr>
          </a:p>
        </p:txBody>
      </p:sp>
      <p:sp>
        <p:nvSpPr>
          <p:cNvPr id="3" name="Rectangle 28">
            <a:extLst>
              <a:ext uri="{FF2B5EF4-FFF2-40B4-BE49-F238E27FC236}">
                <a16:creationId xmlns:a16="http://schemas.microsoft.com/office/drawing/2014/main" id="{170B17AF-EB15-751C-7280-82DCFA1E8CBC}"/>
              </a:ext>
            </a:extLst>
          </p:cNvPr>
          <p:cNvSpPr/>
          <p:nvPr/>
        </p:nvSpPr>
        <p:spPr>
          <a:xfrm>
            <a:off x="-561976" y="1891049"/>
            <a:ext cx="504913" cy="354411"/>
          </a:xfrm>
          <a:prstGeom prst="rect">
            <a:avLst/>
          </a:prstGeom>
          <a:solidFill>
            <a:srgbClr val="0DA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4" name="Rectangle 40">
            <a:extLst>
              <a:ext uri="{FF2B5EF4-FFF2-40B4-BE49-F238E27FC236}">
                <a16:creationId xmlns:a16="http://schemas.microsoft.com/office/drawing/2014/main" id="{B8DA2E32-45FB-C9D4-3498-9C9FB26CFD63}"/>
              </a:ext>
            </a:extLst>
          </p:cNvPr>
          <p:cNvSpPr/>
          <p:nvPr/>
        </p:nvSpPr>
        <p:spPr>
          <a:xfrm>
            <a:off x="-561976" y="1450050"/>
            <a:ext cx="504913" cy="354411"/>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5" name="Rectangle 52">
            <a:extLst>
              <a:ext uri="{FF2B5EF4-FFF2-40B4-BE49-F238E27FC236}">
                <a16:creationId xmlns:a16="http://schemas.microsoft.com/office/drawing/2014/main" id="{10AF574A-D774-DE69-D84E-55896428BC98}"/>
              </a:ext>
            </a:extLst>
          </p:cNvPr>
          <p:cNvSpPr/>
          <p:nvPr/>
        </p:nvSpPr>
        <p:spPr>
          <a:xfrm>
            <a:off x="-561976" y="1009051"/>
            <a:ext cx="504913" cy="354411"/>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7" name="Rectangle 64">
            <a:extLst>
              <a:ext uri="{FF2B5EF4-FFF2-40B4-BE49-F238E27FC236}">
                <a16:creationId xmlns:a16="http://schemas.microsoft.com/office/drawing/2014/main" id="{50D326E0-888E-8FC1-AA5F-18C9DAFDAED6}"/>
              </a:ext>
            </a:extLst>
          </p:cNvPr>
          <p:cNvSpPr/>
          <p:nvPr/>
        </p:nvSpPr>
        <p:spPr>
          <a:xfrm>
            <a:off x="-561976" y="2332048"/>
            <a:ext cx="504913" cy="354411"/>
          </a:xfrm>
          <a:prstGeom prst="rect">
            <a:avLst/>
          </a:prstGeom>
          <a:solidFill>
            <a:schemeClr val="accent6">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8" name="Rectangle 64">
            <a:extLst>
              <a:ext uri="{FF2B5EF4-FFF2-40B4-BE49-F238E27FC236}">
                <a16:creationId xmlns:a16="http://schemas.microsoft.com/office/drawing/2014/main" id="{40623744-0642-AF5B-56E0-9F8B117BDEBD}"/>
              </a:ext>
            </a:extLst>
          </p:cNvPr>
          <p:cNvSpPr/>
          <p:nvPr/>
        </p:nvSpPr>
        <p:spPr>
          <a:xfrm>
            <a:off x="-561976" y="2773047"/>
            <a:ext cx="504913" cy="354411"/>
          </a:xfrm>
          <a:prstGeom prst="rect">
            <a:avLst/>
          </a:prstGeom>
          <a:solidFill>
            <a:srgbClr val="00A4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9" name="Rectangle 64">
            <a:extLst>
              <a:ext uri="{FF2B5EF4-FFF2-40B4-BE49-F238E27FC236}">
                <a16:creationId xmlns:a16="http://schemas.microsoft.com/office/drawing/2014/main" id="{05CF170B-DA8A-8E6D-9000-30F814427101}"/>
              </a:ext>
            </a:extLst>
          </p:cNvPr>
          <p:cNvSpPr/>
          <p:nvPr/>
        </p:nvSpPr>
        <p:spPr>
          <a:xfrm>
            <a:off x="-561976" y="3214046"/>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5" name="Rectangle 64">
            <a:extLst>
              <a:ext uri="{FF2B5EF4-FFF2-40B4-BE49-F238E27FC236}">
                <a16:creationId xmlns:a16="http://schemas.microsoft.com/office/drawing/2014/main" id="{39C5A2D9-EEF5-3904-CC94-A970FD6C65DE}"/>
              </a:ext>
            </a:extLst>
          </p:cNvPr>
          <p:cNvSpPr/>
          <p:nvPr/>
        </p:nvSpPr>
        <p:spPr>
          <a:xfrm>
            <a:off x="-561976" y="3655047"/>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48" name="TextBox 147">
            <a:extLst>
              <a:ext uri="{FF2B5EF4-FFF2-40B4-BE49-F238E27FC236}">
                <a16:creationId xmlns:a16="http://schemas.microsoft.com/office/drawing/2014/main" id="{8D47A1C9-A9AE-B7EC-0EA5-D9E1812AE3D9}"/>
              </a:ext>
            </a:extLst>
          </p:cNvPr>
          <p:cNvSpPr txBox="1"/>
          <p:nvPr/>
        </p:nvSpPr>
        <p:spPr>
          <a:xfrm>
            <a:off x="458724" y="932575"/>
            <a:ext cx="11274552" cy="430887"/>
          </a:xfrm>
          <a:prstGeom prst="rect">
            <a:avLst/>
          </a:prstGeom>
          <a:noFill/>
        </p:spPr>
        <p:txBody>
          <a:bodyPr wrap="square" lIns="0" tIns="0" rIns="0" bIns="0" rtlCol="0">
            <a:noAutofit/>
          </a:bodyPr>
          <a:lstStyle>
            <a:defPPr>
              <a:defRPr lang="en-US"/>
            </a:defPPr>
            <a:lvl1pPr algn="ctr">
              <a:defRPr sz="1400" b="1">
                <a:solidFill>
                  <a:schemeClr val="accent4">
                    <a:lumMod val="75000"/>
                  </a:schemeClr>
                </a:solidFill>
                <a:latin typeface="Arial" panose="020B0604020202020204" pitchFamily="34" charset="0"/>
                <a:cs typeface="Arial" panose="020B0604020202020204" pitchFamily="34" charset="0"/>
              </a:defRPr>
            </a:lvl1p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F9ED5">
                    <a:lumMod val="75000"/>
                  </a:srgbClr>
                </a:solidFill>
                <a:effectLst/>
                <a:uLnTx/>
                <a:uFillTx/>
                <a:latin typeface="Arial" panose="020B0604020202020204" pitchFamily="34" charset="0"/>
                <a:ea typeface="+mn-ea"/>
                <a:cs typeface="Arial" panose="020B0604020202020204" pitchFamily="34" charset="0"/>
              </a:rPr>
              <a:t>Customer Services serves 7+ business OPCOs through heterogeneous channels — BRS is the backbone, but every other OPCO has its own entry point.</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a:ln>
                <a:noFill/>
              </a:ln>
              <a:solidFill>
                <a:srgbClr val="0F9ED5">
                  <a:lumMod val="75000"/>
                </a:srgbClr>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a:ln>
                <a:noFill/>
              </a:ln>
              <a:solidFill>
                <a:srgbClr val="0F9ED5">
                  <a:lumMod val="75000"/>
                </a:srgbClr>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a:ln>
                <a:noFill/>
              </a:ln>
              <a:solidFill>
                <a:srgbClr val="0F9ED5">
                  <a:lumMod val="75000"/>
                </a:srgbClr>
              </a:solidFill>
              <a:effectLst/>
              <a:uLnTx/>
              <a:uFillTx/>
              <a:latin typeface="Arial" panose="020B0604020202020204" pitchFamily="34" charset="0"/>
              <a:ea typeface="+mn-ea"/>
              <a:cs typeface="Arial" panose="020B0604020202020204" pitchFamily="34" charset="0"/>
            </a:endParaRPr>
          </a:p>
        </p:txBody>
      </p:sp>
      <p:sp>
        <p:nvSpPr>
          <p:cNvPr id="6" name="Rectangle 5">
            <a:extLst>
              <a:ext uri="{FF2B5EF4-FFF2-40B4-BE49-F238E27FC236}">
                <a16:creationId xmlns:a16="http://schemas.microsoft.com/office/drawing/2014/main" id="{8B755535-BC33-5989-1F40-95F0EF6894B9}"/>
              </a:ext>
            </a:extLst>
          </p:cNvPr>
          <p:cNvSpPr/>
          <p:nvPr/>
        </p:nvSpPr>
        <p:spPr>
          <a:xfrm>
            <a:off x="457200" y="1143000"/>
            <a:ext cx="11274552" cy="1371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3" name="Rectangle 12">
            <a:extLst>
              <a:ext uri="{FF2B5EF4-FFF2-40B4-BE49-F238E27FC236}">
                <a16:creationId xmlns:a16="http://schemas.microsoft.com/office/drawing/2014/main" id="{CDEC3504-C183-164D-EAE9-66A2F41F4719}"/>
              </a:ext>
            </a:extLst>
          </p:cNvPr>
          <p:cNvSpPr/>
          <p:nvPr/>
        </p:nvSpPr>
        <p:spPr>
          <a:xfrm>
            <a:off x="457200" y="1471827"/>
            <a:ext cx="11274552" cy="3657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4" name="TextBox 13">
            <a:extLst>
              <a:ext uri="{FF2B5EF4-FFF2-40B4-BE49-F238E27FC236}">
                <a16:creationId xmlns:a16="http://schemas.microsoft.com/office/drawing/2014/main" id="{6B0B838E-DB63-A468-6F58-6D13B33292E4}"/>
              </a:ext>
            </a:extLst>
          </p:cNvPr>
          <p:cNvSpPr txBox="1"/>
          <p:nvPr/>
        </p:nvSpPr>
        <p:spPr>
          <a:xfrm>
            <a:off x="566928" y="1584463"/>
            <a:ext cx="1920240" cy="140488"/>
          </a:xfrm>
          <a:prstGeom prst="rect">
            <a:avLst/>
          </a:prstGeom>
          <a:solidFill>
            <a:schemeClr val="accent1"/>
          </a:solid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1" i="0" u="none" strike="noStrike" kern="1200" cap="none" spc="0" normalizeH="0" baseline="0" noProof="0">
                <a:ln>
                  <a:noFill/>
                </a:ln>
                <a:solidFill>
                  <a:srgbClr val="FFFFFF"/>
                </a:solidFill>
                <a:effectLst/>
                <a:uLnTx/>
                <a:uFillTx/>
                <a:latin typeface="Helvetica Neue"/>
                <a:ea typeface="+mn-ea"/>
                <a:cs typeface="+mn-cs"/>
              </a:rPr>
              <a:t>OPCO / AREA</a:t>
            </a:r>
          </a:p>
        </p:txBody>
      </p:sp>
      <p:sp>
        <p:nvSpPr>
          <p:cNvPr id="16" name="TextBox 15">
            <a:extLst>
              <a:ext uri="{FF2B5EF4-FFF2-40B4-BE49-F238E27FC236}">
                <a16:creationId xmlns:a16="http://schemas.microsoft.com/office/drawing/2014/main" id="{2BA23E21-BED3-CECE-B612-258041EE6570}"/>
              </a:ext>
            </a:extLst>
          </p:cNvPr>
          <p:cNvSpPr txBox="1"/>
          <p:nvPr/>
        </p:nvSpPr>
        <p:spPr>
          <a:xfrm>
            <a:off x="2487168" y="1584463"/>
            <a:ext cx="2468880" cy="140488"/>
          </a:xfrm>
          <a:prstGeom prst="rect">
            <a:avLst/>
          </a:prstGeom>
          <a:solidFill>
            <a:schemeClr val="accent1"/>
          </a:solid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1" i="0" u="none" strike="noStrike" kern="1200" cap="none" spc="0" normalizeH="0" baseline="0" noProof="0">
                <a:ln>
                  <a:noFill/>
                </a:ln>
                <a:solidFill>
                  <a:srgbClr val="FFFFFF"/>
                </a:solidFill>
                <a:effectLst/>
                <a:uLnTx/>
                <a:uFillTx/>
                <a:latin typeface="Helvetica Neue"/>
                <a:ea typeface="+mn-ea"/>
                <a:cs typeface="+mn-cs"/>
              </a:rPr>
              <a:t>PRIMARY CHANNEL</a:t>
            </a:r>
          </a:p>
        </p:txBody>
      </p:sp>
      <p:sp>
        <p:nvSpPr>
          <p:cNvPr id="17" name="TextBox 16">
            <a:extLst>
              <a:ext uri="{FF2B5EF4-FFF2-40B4-BE49-F238E27FC236}">
                <a16:creationId xmlns:a16="http://schemas.microsoft.com/office/drawing/2014/main" id="{11B9B1AF-D0A1-1842-B605-8B80E4FB560B}"/>
              </a:ext>
            </a:extLst>
          </p:cNvPr>
          <p:cNvSpPr txBox="1"/>
          <p:nvPr/>
        </p:nvSpPr>
        <p:spPr>
          <a:xfrm>
            <a:off x="4956048" y="1584463"/>
            <a:ext cx="2926080" cy="140488"/>
          </a:xfrm>
          <a:prstGeom prst="rect">
            <a:avLst/>
          </a:prstGeom>
          <a:solidFill>
            <a:schemeClr val="accent1"/>
          </a:solid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1" i="0" u="none" strike="noStrike" kern="1200" cap="none" spc="0" normalizeH="0" baseline="0" noProof="0">
                <a:ln>
                  <a:noFill/>
                </a:ln>
                <a:solidFill>
                  <a:srgbClr val="FFFFFF"/>
                </a:solidFill>
                <a:effectLst/>
                <a:uLnTx/>
                <a:uFillTx/>
                <a:latin typeface="Helvetica Neue"/>
                <a:ea typeface="+mn-ea"/>
                <a:cs typeface="+mn-cs"/>
              </a:rPr>
              <a:t>DEMAND PATTERN</a:t>
            </a:r>
          </a:p>
        </p:txBody>
      </p:sp>
      <p:sp>
        <p:nvSpPr>
          <p:cNvPr id="19" name="TextBox 18">
            <a:extLst>
              <a:ext uri="{FF2B5EF4-FFF2-40B4-BE49-F238E27FC236}">
                <a16:creationId xmlns:a16="http://schemas.microsoft.com/office/drawing/2014/main" id="{84383894-D4D3-B8F9-29C1-F1095790C733}"/>
              </a:ext>
            </a:extLst>
          </p:cNvPr>
          <p:cNvSpPr txBox="1"/>
          <p:nvPr/>
        </p:nvSpPr>
        <p:spPr>
          <a:xfrm>
            <a:off x="7882127" y="1584463"/>
            <a:ext cx="1783080" cy="140488"/>
          </a:xfrm>
          <a:prstGeom prst="rect">
            <a:avLst/>
          </a:prstGeom>
          <a:solidFill>
            <a:schemeClr val="accent1"/>
          </a:solid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1" i="0" u="none" strike="noStrike" kern="1200" cap="none" spc="0" normalizeH="0" baseline="0" noProof="0">
                <a:ln>
                  <a:noFill/>
                </a:ln>
                <a:solidFill>
                  <a:srgbClr val="FFFFFF"/>
                </a:solidFill>
                <a:effectLst/>
                <a:uLnTx/>
                <a:uFillTx/>
                <a:latin typeface="Helvetica Neue"/>
                <a:ea typeface="+mn-ea"/>
                <a:cs typeface="+mn-cs"/>
              </a:rPr>
              <a:t>CADENCE</a:t>
            </a:r>
          </a:p>
        </p:txBody>
      </p:sp>
      <p:sp>
        <p:nvSpPr>
          <p:cNvPr id="21" name="TextBox 20">
            <a:extLst>
              <a:ext uri="{FF2B5EF4-FFF2-40B4-BE49-F238E27FC236}">
                <a16:creationId xmlns:a16="http://schemas.microsoft.com/office/drawing/2014/main" id="{696CA558-6924-5E1F-4C41-A6A6ED8228FB}"/>
              </a:ext>
            </a:extLst>
          </p:cNvPr>
          <p:cNvSpPr txBox="1"/>
          <p:nvPr/>
        </p:nvSpPr>
        <p:spPr>
          <a:xfrm>
            <a:off x="9665207" y="1584463"/>
            <a:ext cx="2176272" cy="140488"/>
          </a:xfrm>
          <a:prstGeom prst="rect">
            <a:avLst/>
          </a:prstGeom>
          <a:solidFill>
            <a:schemeClr val="accent1"/>
          </a:solid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1" i="0" u="none" strike="noStrike" kern="1200" cap="none" spc="0" normalizeH="0" baseline="0" noProof="0">
                <a:ln>
                  <a:noFill/>
                </a:ln>
                <a:solidFill>
                  <a:srgbClr val="FFFFFF"/>
                </a:solidFill>
                <a:effectLst/>
                <a:uLnTx/>
                <a:uFillTx/>
                <a:latin typeface="Helvetica Neue"/>
                <a:ea typeface="+mn-ea"/>
                <a:cs typeface="+mn-cs"/>
              </a:rPr>
              <a:t>WHO PRIORITIZES</a:t>
            </a:r>
          </a:p>
        </p:txBody>
      </p:sp>
      <p:sp>
        <p:nvSpPr>
          <p:cNvPr id="22" name="Rectangle 21">
            <a:extLst>
              <a:ext uri="{FF2B5EF4-FFF2-40B4-BE49-F238E27FC236}">
                <a16:creationId xmlns:a16="http://schemas.microsoft.com/office/drawing/2014/main" id="{E041C47C-3342-E11F-54BE-C68E2761AAEF}"/>
              </a:ext>
            </a:extLst>
          </p:cNvPr>
          <p:cNvSpPr/>
          <p:nvPr/>
        </p:nvSpPr>
        <p:spPr>
          <a:xfrm>
            <a:off x="457200" y="1874162"/>
            <a:ext cx="11274552" cy="530352"/>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23" name="Rectangle 22">
            <a:extLst>
              <a:ext uri="{FF2B5EF4-FFF2-40B4-BE49-F238E27FC236}">
                <a16:creationId xmlns:a16="http://schemas.microsoft.com/office/drawing/2014/main" id="{EDA3B3A4-C130-B3E9-D72B-AEB64FB5DCDB}"/>
              </a:ext>
            </a:extLst>
          </p:cNvPr>
          <p:cNvSpPr/>
          <p:nvPr/>
        </p:nvSpPr>
        <p:spPr>
          <a:xfrm>
            <a:off x="457200" y="1874162"/>
            <a:ext cx="73152" cy="530352"/>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24" name="TextBox 23">
            <a:extLst>
              <a:ext uri="{FF2B5EF4-FFF2-40B4-BE49-F238E27FC236}">
                <a16:creationId xmlns:a16="http://schemas.microsoft.com/office/drawing/2014/main" id="{CC61261B-F296-7453-0F1F-DD91ADBC2BC6}"/>
              </a:ext>
            </a:extLst>
          </p:cNvPr>
          <p:cNvSpPr txBox="1"/>
          <p:nvPr/>
        </p:nvSpPr>
        <p:spPr>
          <a:xfrm>
            <a:off x="621792" y="2061271"/>
            <a:ext cx="1755648"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6785C1"/>
                </a:solidFill>
                <a:effectLst/>
                <a:uLnTx/>
                <a:uFillTx/>
                <a:latin typeface="Helvetica Neue"/>
                <a:ea typeface="+mn-ea"/>
                <a:cs typeface="+mn-cs"/>
              </a:rPr>
              <a:t>BRS — CMP / NY</a:t>
            </a:r>
          </a:p>
        </p:txBody>
      </p:sp>
      <p:sp>
        <p:nvSpPr>
          <p:cNvPr id="25" name="TextBox 24">
            <a:extLst>
              <a:ext uri="{FF2B5EF4-FFF2-40B4-BE49-F238E27FC236}">
                <a16:creationId xmlns:a16="http://schemas.microsoft.com/office/drawing/2014/main" id="{5A737F33-2CEF-1ECB-F21F-6E949A23708B}"/>
              </a:ext>
            </a:extLst>
          </p:cNvPr>
          <p:cNvSpPr txBox="1"/>
          <p:nvPr/>
        </p:nvSpPr>
        <p:spPr>
          <a:xfrm>
            <a:off x="2487168" y="2069094"/>
            <a:ext cx="2359152" cy="140488"/>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Helvetica Neue"/>
                <a:ea typeface="+mn-ea"/>
                <a:cs typeface="+mn-cs"/>
              </a:rPr>
              <a:t>BSS log → Jira (intake, all level 2)</a:t>
            </a:r>
          </a:p>
        </p:txBody>
      </p:sp>
      <p:sp>
        <p:nvSpPr>
          <p:cNvPr id="26" name="TextBox 25">
            <a:extLst>
              <a:ext uri="{FF2B5EF4-FFF2-40B4-BE49-F238E27FC236}">
                <a16:creationId xmlns:a16="http://schemas.microsoft.com/office/drawing/2014/main" id="{CD96F041-ADDC-D60E-8DDF-EE30FCBFB018}"/>
              </a:ext>
            </a:extLst>
          </p:cNvPr>
          <p:cNvSpPr txBox="1"/>
          <p:nvPr/>
        </p:nvSpPr>
        <p:spPr>
          <a:xfrm>
            <a:off x="4956048" y="2069094"/>
            <a:ext cx="2816352" cy="140488"/>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1" u="none" strike="noStrike" kern="1200" cap="none" spc="0" normalizeH="0" baseline="0" noProof="0">
                <a:ln>
                  <a:noFill/>
                </a:ln>
                <a:solidFill>
                  <a:srgbClr val="2C3E50"/>
                </a:solidFill>
                <a:effectLst/>
                <a:uLnTx/>
                <a:uFillTx/>
                <a:latin typeface="Helvetica Neue"/>
                <a:ea typeface="+mn-ea"/>
                <a:cs typeface="+mn-cs"/>
              </a:rPr>
              <a:t>Low-to-critical criteria set by Business</a:t>
            </a:r>
          </a:p>
        </p:txBody>
      </p:sp>
      <p:sp>
        <p:nvSpPr>
          <p:cNvPr id="28" name="TextBox 27">
            <a:extLst>
              <a:ext uri="{FF2B5EF4-FFF2-40B4-BE49-F238E27FC236}">
                <a16:creationId xmlns:a16="http://schemas.microsoft.com/office/drawing/2014/main" id="{9BC1FBE1-396B-D48A-181E-C8F619E47DAA}"/>
              </a:ext>
            </a:extLst>
          </p:cNvPr>
          <p:cNvSpPr txBox="1"/>
          <p:nvPr/>
        </p:nvSpPr>
        <p:spPr>
          <a:xfrm>
            <a:off x="7882127" y="2069094"/>
            <a:ext cx="1673352" cy="140488"/>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6785C1"/>
                </a:solidFill>
                <a:effectLst/>
                <a:uLnTx/>
                <a:uFillTx/>
                <a:latin typeface="Helvetica Neue"/>
                <a:ea typeface="+mn-ea"/>
                <a:cs typeface="+mn-cs"/>
              </a:rPr>
              <a:t>Continuous</a:t>
            </a:r>
          </a:p>
        </p:txBody>
      </p:sp>
      <p:sp>
        <p:nvSpPr>
          <p:cNvPr id="29" name="TextBox 28">
            <a:extLst>
              <a:ext uri="{FF2B5EF4-FFF2-40B4-BE49-F238E27FC236}">
                <a16:creationId xmlns:a16="http://schemas.microsoft.com/office/drawing/2014/main" id="{CACC35EB-2D43-1C0A-7AB7-5684268460B2}"/>
              </a:ext>
            </a:extLst>
          </p:cNvPr>
          <p:cNvSpPr txBox="1"/>
          <p:nvPr/>
        </p:nvSpPr>
        <p:spPr>
          <a:xfrm>
            <a:off x="9665207" y="2069094"/>
            <a:ext cx="2066543" cy="140488"/>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Helvetica Neue"/>
                <a:ea typeface="+mn-ea"/>
                <a:cs typeface="+mn-cs"/>
              </a:rPr>
              <a:t>Business shares priority</a:t>
            </a:r>
          </a:p>
        </p:txBody>
      </p:sp>
      <p:sp>
        <p:nvSpPr>
          <p:cNvPr id="30" name="Rectangle 29">
            <a:extLst>
              <a:ext uri="{FF2B5EF4-FFF2-40B4-BE49-F238E27FC236}">
                <a16:creationId xmlns:a16="http://schemas.microsoft.com/office/drawing/2014/main" id="{3DD83826-0783-71B6-4BA6-74A77353D4FC}"/>
              </a:ext>
            </a:extLst>
          </p:cNvPr>
          <p:cNvSpPr/>
          <p:nvPr/>
        </p:nvSpPr>
        <p:spPr>
          <a:xfrm>
            <a:off x="457200" y="2404515"/>
            <a:ext cx="11274552" cy="5303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31" name="Rectangle 30">
            <a:extLst>
              <a:ext uri="{FF2B5EF4-FFF2-40B4-BE49-F238E27FC236}">
                <a16:creationId xmlns:a16="http://schemas.microsoft.com/office/drawing/2014/main" id="{0284C656-414D-3253-4878-FF6485E8873F}"/>
              </a:ext>
            </a:extLst>
          </p:cNvPr>
          <p:cNvSpPr/>
          <p:nvPr/>
        </p:nvSpPr>
        <p:spPr>
          <a:xfrm>
            <a:off x="457200" y="2404515"/>
            <a:ext cx="73152" cy="530352"/>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32" name="TextBox 31">
            <a:extLst>
              <a:ext uri="{FF2B5EF4-FFF2-40B4-BE49-F238E27FC236}">
                <a16:creationId xmlns:a16="http://schemas.microsoft.com/office/drawing/2014/main" id="{CFCC0FB8-A8E3-6B76-C09E-C4DC46A64702}"/>
              </a:ext>
            </a:extLst>
          </p:cNvPr>
          <p:cNvSpPr txBox="1"/>
          <p:nvPr/>
        </p:nvSpPr>
        <p:spPr>
          <a:xfrm>
            <a:off x="621792" y="2591624"/>
            <a:ext cx="1755648"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6785C1"/>
                </a:solidFill>
                <a:effectLst/>
                <a:uLnTx/>
                <a:uFillTx/>
                <a:latin typeface="Helvetica Neue"/>
                <a:ea typeface="+mn-ea"/>
                <a:cs typeface="+mn-cs"/>
              </a:rPr>
              <a:t>BRS — UIL</a:t>
            </a:r>
          </a:p>
        </p:txBody>
      </p:sp>
      <p:sp>
        <p:nvSpPr>
          <p:cNvPr id="33" name="TextBox 32">
            <a:extLst>
              <a:ext uri="{FF2B5EF4-FFF2-40B4-BE49-F238E27FC236}">
                <a16:creationId xmlns:a16="http://schemas.microsoft.com/office/drawing/2014/main" id="{0128CB1A-E002-E411-3F20-EE0B300002DC}"/>
              </a:ext>
            </a:extLst>
          </p:cNvPr>
          <p:cNvSpPr txBox="1"/>
          <p:nvPr/>
        </p:nvSpPr>
        <p:spPr>
          <a:xfrm>
            <a:off x="2487168" y="2599447"/>
            <a:ext cx="2359152" cy="140488"/>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Helvetica Neue"/>
                <a:ea typeface="+mn-ea"/>
                <a:cs typeface="+mn-cs"/>
              </a:rPr>
              <a:t>ITNow</a:t>
            </a:r>
          </a:p>
        </p:txBody>
      </p:sp>
      <p:sp>
        <p:nvSpPr>
          <p:cNvPr id="34" name="TextBox 33">
            <a:extLst>
              <a:ext uri="{FF2B5EF4-FFF2-40B4-BE49-F238E27FC236}">
                <a16:creationId xmlns:a16="http://schemas.microsoft.com/office/drawing/2014/main" id="{C990BA81-E04B-FDE4-99E9-8C284A690C47}"/>
              </a:ext>
            </a:extLst>
          </p:cNvPr>
          <p:cNvSpPr txBox="1"/>
          <p:nvPr/>
        </p:nvSpPr>
        <p:spPr>
          <a:xfrm>
            <a:off x="4956048" y="2599447"/>
            <a:ext cx="2816352" cy="140488"/>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1" u="none" strike="noStrike" kern="1200" cap="none" spc="0" normalizeH="0" baseline="0" noProof="0">
                <a:ln>
                  <a:noFill/>
                </a:ln>
                <a:solidFill>
                  <a:srgbClr val="2C3E50"/>
                </a:solidFill>
                <a:effectLst/>
                <a:uLnTx/>
                <a:uFillTx/>
                <a:latin typeface="Helvetica Neue"/>
                <a:ea typeface="+mn-ea"/>
                <a:cs typeface="+mn-cs"/>
              </a:rPr>
              <a:t>Day-to-day issues specific to UIL</a:t>
            </a:r>
          </a:p>
        </p:txBody>
      </p:sp>
      <p:sp>
        <p:nvSpPr>
          <p:cNvPr id="35" name="TextBox 34">
            <a:extLst>
              <a:ext uri="{FF2B5EF4-FFF2-40B4-BE49-F238E27FC236}">
                <a16:creationId xmlns:a16="http://schemas.microsoft.com/office/drawing/2014/main" id="{02C355AC-D6EC-E05B-C222-6AEB8700F6BC}"/>
              </a:ext>
            </a:extLst>
          </p:cNvPr>
          <p:cNvSpPr txBox="1"/>
          <p:nvPr/>
        </p:nvSpPr>
        <p:spPr>
          <a:xfrm>
            <a:off x="7882127" y="2599447"/>
            <a:ext cx="1673352" cy="140488"/>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6785C1"/>
                </a:solidFill>
                <a:effectLst/>
                <a:uLnTx/>
                <a:uFillTx/>
                <a:latin typeface="Helvetica Neue"/>
                <a:ea typeface="+mn-ea"/>
                <a:cs typeface="+mn-cs"/>
              </a:rPr>
              <a:t>Continuous</a:t>
            </a:r>
          </a:p>
        </p:txBody>
      </p:sp>
      <p:sp>
        <p:nvSpPr>
          <p:cNvPr id="37" name="TextBox 36">
            <a:extLst>
              <a:ext uri="{FF2B5EF4-FFF2-40B4-BE49-F238E27FC236}">
                <a16:creationId xmlns:a16="http://schemas.microsoft.com/office/drawing/2014/main" id="{62F1CFD0-A0D0-B7CB-99E1-BEE1ED1CF262}"/>
              </a:ext>
            </a:extLst>
          </p:cNvPr>
          <p:cNvSpPr txBox="1"/>
          <p:nvPr/>
        </p:nvSpPr>
        <p:spPr>
          <a:xfrm>
            <a:off x="9665207" y="2599447"/>
            <a:ext cx="2066543" cy="140488"/>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Helvetica Neue"/>
                <a:ea typeface="+mn-ea"/>
                <a:cs typeface="+mn-cs"/>
              </a:rPr>
              <a:t>Business</a:t>
            </a:r>
          </a:p>
        </p:txBody>
      </p:sp>
      <p:sp>
        <p:nvSpPr>
          <p:cNvPr id="38" name="Rectangle 37">
            <a:extLst>
              <a:ext uri="{FF2B5EF4-FFF2-40B4-BE49-F238E27FC236}">
                <a16:creationId xmlns:a16="http://schemas.microsoft.com/office/drawing/2014/main" id="{8392CD57-DC37-F333-042C-C2613E9FBF89}"/>
              </a:ext>
            </a:extLst>
          </p:cNvPr>
          <p:cNvSpPr/>
          <p:nvPr/>
        </p:nvSpPr>
        <p:spPr>
          <a:xfrm>
            <a:off x="457200" y="2934867"/>
            <a:ext cx="11274552" cy="530352"/>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42" name="Rectangle 41">
            <a:extLst>
              <a:ext uri="{FF2B5EF4-FFF2-40B4-BE49-F238E27FC236}">
                <a16:creationId xmlns:a16="http://schemas.microsoft.com/office/drawing/2014/main" id="{1967CC82-AE3E-F690-EBF8-C86E972D90A6}"/>
              </a:ext>
            </a:extLst>
          </p:cNvPr>
          <p:cNvSpPr/>
          <p:nvPr/>
        </p:nvSpPr>
        <p:spPr>
          <a:xfrm>
            <a:off x="457200" y="2934867"/>
            <a:ext cx="73152" cy="530352"/>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43" name="TextBox 42">
            <a:extLst>
              <a:ext uri="{FF2B5EF4-FFF2-40B4-BE49-F238E27FC236}">
                <a16:creationId xmlns:a16="http://schemas.microsoft.com/office/drawing/2014/main" id="{0A7921EC-B821-22FE-6D48-3682B4B66205}"/>
              </a:ext>
            </a:extLst>
          </p:cNvPr>
          <p:cNvSpPr txBox="1"/>
          <p:nvPr/>
        </p:nvSpPr>
        <p:spPr>
          <a:xfrm>
            <a:off x="621792" y="3121976"/>
            <a:ext cx="1755648"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F1C50"/>
                </a:solidFill>
                <a:effectLst/>
                <a:uLnTx/>
                <a:uFillTx/>
                <a:latin typeface="Helvetica Neue"/>
                <a:ea typeface="+mn-ea"/>
                <a:cs typeface="+mn-cs"/>
              </a:rPr>
              <a:t>Digital </a:t>
            </a:r>
            <a:r>
              <a:rPr kumimoji="0" lang="en-US" sz="1000" b="1" i="0" u="none" strike="noStrike" kern="1200" cap="none" spc="0" normalizeH="0" baseline="0" noProof="0" err="1">
                <a:ln>
                  <a:noFill/>
                </a:ln>
                <a:solidFill>
                  <a:srgbClr val="0F1C50"/>
                </a:solidFill>
                <a:effectLst/>
                <a:uLnTx/>
                <a:uFillTx/>
                <a:latin typeface="Helvetica Neue"/>
                <a:ea typeface="+mn-ea"/>
                <a:cs typeface="+mn-cs"/>
              </a:rPr>
              <a:t>CoE</a:t>
            </a:r>
            <a:endParaRPr kumimoji="0" lang="en-US" sz="1000" b="1" i="0" u="none" strike="noStrike" kern="1200" cap="none" spc="0" normalizeH="0" baseline="0" noProof="0">
              <a:ln>
                <a:noFill/>
              </a:ln>
              <a:solidFill>
                <a:srgbClr val="0F1C50"/>
              </a:solidFill>
              <a:effectLst/>
              <a:uLnTx/>
              <a:uFillTx/>
              <a:latin typeface="Helvetica Neue"/>
              <a:ea typeface="+mn-ea"/>
              <a:cs typeface="+mn-cs"/>
            </a:endParaRPr>
          </a:p>
        </p:txBody>
      </p:sp>
      <p:sp>
        <p:nvSpPr>
          <p:cNvPr id="61" name="TextBox 60">
            <a:extLst>
              <a:ext uri="{FF2B5EF4-FFF2-40B4-BE49-F238E27FC236}">
                <a16:creationId xmlns:a16="http://schemas.microsoft.com/office/drawing/2014/main" id="{67538C84-6B01-11BF-59B9-DF925B771D34}"/>
              </a:ext>
            </a:extLst>
          </p:cNvPr>
          <p:cNvSpPr txBox="1"/>
          <p:nvPr/>
        </p:nvSpPr>
        <p:spPr>
          <a:xfrm>
            <a:off x="2487168" y="3053624"/>
            <a:ext cx="2359152" cy="292837"/>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Helvetica Neue"/>
                <a:ea typeface="+mn-ea"/>
                <a:cs typeface="+mn-cs"/>
              </a:rPr>
              <a:t>Digital PMs (SAP functionals from Kumar's team)</a:t>
            </a:r>
          </a:p>
        </p:txBody>
      </p:sp>
      <p:sp>
        <p:nvSpPr>
          <p:cNvPr id="62" name="TextBox 61">
            <a:extLst>
              <a:ext uri="{FF2B5EF4-FFF2-40B4-BE49-F238E27FC236}">
                <a16:creationId xmlns:a16="http://schemas.microsoft.com/office/drawing/2014/main" id="{A47F1BA1-ECEC-B205-CF47-6A6C4FA881B5}"/>
              </a:ext>
            </a:extLst>
          </p:cNvPr>
          <p:cNvSpPr txBox="1"/>
          <p:nvPr/>
        </p:nvSpPr>
        <p:spPr>
          <a:xfrm>
            <a:off x="4956048" y="3053624"/>
            <a:ext cx="2816352" cy="292837"/>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1" u="none" strike="noStrike" kern="1200" cap="none" spc="0" normalizeH="0" baseline="0" noProof="0">
                <a:ln>
                  <a:noFill/>
                </a:ln>
                <a:solidFill>
                  <a:srgbClr val="2C3E50"/>
                </a:solidFill>
                <a:effectLst/>
                <a:uLnTx/>
                <a:uFillTx/>
                <a:latin typeface="Helvetica Neue"/>
                <a:ea typeface="+mn-ea"/>
                <a:cs typeface="+mn-cs"/>
              </a:rPr>
              <a:t>30% BRS · 70% Internal IT · Big Room Planning visibility</a:t>
            </a:r>
          </a:p>
        </p:txBody>
      </p:sp>
      <p:sp>
        <p:nvSpPr>
          <p:cNvPr id="63" name="TextBox 62">
            <a:extLst>
              <a:ext uri="{FF2B5EF4-FFF2-40B4-BE49-F238E27FC236}">
                <a16:creationId xmlns:a16="http://schemas.microsoft.com/office/drawing/2014/main" id="{E5D1D7E6-4C0C-EF8D-992F-D88A0D06EA92}"/>
              </a:ext>
            </a:extLst>
          </p:cNvPr>
          <p:cNvSpPr txBox="1"/>
          <p:nvPr/>
        </p:nvSpPr>
        <p:spPr>
          <a:xfrm>
            <a:off x="7882127" y="3129799"/>
            <a:ext cx="1673352" cy="140488"/>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6785C1"/>
                </a:solidFill>
                <a:effectLst/>
                <a:uLnTx/>
                <a:uFillTx/>
                <a:latin typeface="Helvetica Neue"/>
                <a:ea typeface="+mn-ea"/>
                <a:cs typeface="+mn-cs"/>
              </a:rPr>
              <a:t>Quarterly BRP</a:t>
            </a:r>
          </a:p>
        </p:txBody>
      </p:sp>
      <p:sp>
        <p:nvSpPr>
          <p:cNvPr id="128" name="TextBox 127">
            <a:extLst>
              <a:ext uri="{FF2B5EF4-FFF2-40B4-BE49-F238E27FC236}">
                <a16:creationId xmlns:a16="http://schemas.microsoft.com/office/drawing/2014/main" id="{1F74384C-5483-CF06-385C-80B0EA350289}"/>
              </a:ext>
            </a:extLst>
          </p:cNvPr>
          <p:cNvSpPr txBox="1"/>
          <p:nvPr/>
        </p:nvSpPr>
        <p:spPr>
          <a:xfrm>
            <a:off x="9665207" y="3129799"/>
            <a:ext cx="2066543" cy="140488"/>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Helvetica Neue"/>
                <a:ea typeface="+mn-ea"/>
                <a:cs typeface="+mn-cs"/>
              </a:rPr>
              <a:t>Heather (first layer)</a:t>
            </a:r>
          </a:p>
        </p:txBody>
      </p:sp>
      <p:sp>
        <p:nvSpPr>
          <p:cNvPr id="129" name="Rectangle 128">
            <a:extLst>
              <a:ext uri="{FF2B5EF4-FFF2-40B4-BE49-F238E27FC236}">
                <a16:creationId xmlns:a16="http://schemas.microsoft.com/office/drawing/2014/main" id="{ED705309-2A4F-0C31-71E1-60C4EE8593B2}"/>
              </a:ext>
            </a:extLst>
          </p:cNvPr>
          <p:cNvSpPr/>
          <p:nvPr/>
        </p:nvSpPr>
        <p:spPr>
          <a:xfrm>
            <a:off x="457200" y="3465219"/>
            <a:ext cx="11274552" cy="5303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30" name="Rectangle 129">
            <a:extLst>
              <a:ext uri="{FF2B5EF4-FFF2-40B4-BE49-F238E27FC236}">
                <a16:creationId xmlns:a16="http://schemas.microsoft.com/office/drawing/2014/main" id="{2CEA77BC-DD67-88FC-14BD-1BC073AA3707}"/>
              </a:ext>
            </a:extLst>
          </p:cNvPr>
          <p:cNvSpPr/>
          <p:nvPr/>
        </p:nvSpPr>
        <p:spPr>
          <a:xfrm>
            <a:off x="457200" y="3465219"/>
            <a:ext cx="73152" cy="530352"/>
          </a:xfrm>
          <a:prstGeom prst="rect">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31" name="TextBox 130">
            <a:extLst>
              <a:ext uri="{FF2B5EF4-FFF2-40B4-BE49-F238E27FC236}">
                <a16:creationId xmlns:a16="http://schemas.microsoft.com/office/drawing/2014/main" id="{F5A92406-61F8-047F-3607-192F808D9724}"/>
              </a:ext>
            </a:extLst>
          </p:cNvPr>
          <p:cNvSpPr txBox="1"/>
          <p:nvPr/>
        </p:nvSpPr>
        <p:spPr>
          <a:xfrm>
            <a:off x="621792" y="3652328"/>
            <a:ext cx="1755648"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BC4328"/>
                </a:solidFill>
                <a:effectLst/>
                <a:uLnTx/>
                <a:uFillTx/>
                <a:latin typeface="Helvetica Neue"/>
                <a:ea typeface="+mn-ea"/>
                <a:cs typeface="+mn-cs"/>
              </a:rPr>
              <a:t>Data &amp; Analytics</a:t>
            </a:r>
          </a:p>
        </p:txBody>
      </p:sp>
      <p:sp>
        <p:nvSpPr>
          <p:cNvPr id="132" name="TextBox 131">
            <a:extLst>
              <a:ext uri="{FF2B5EF4-FFF2-40B4-BE49-F238E27FC236}">
                <a16:creationId xmlns:a16="http://schemas.microsoft.com/office/drawing/2014/main" id="{60B5AE5E-B4CB-9F7C-E2CA-1C1ADF4873DA}"/>
              </a:ext>
            </a:extLst>
          </p:cNvPr>
          <p:cNvSpPr txBox="1"/>
          <p:nvPr/>
        </p:nvSpPr>
        <p:spPr>
          <a:xfrm>
            <a:off x="2487168" y="3660151"/>
            <a:ext cx="2359152" cy="140488"/>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Helvetica Neue"/>
                <a:ea typeface="+mn-ea"/>
                <a:cs typeface="+mn-cs"/>
              </a:rPr>
              <a:t>Direct to team (Abdulah · Meenal · Nelly)</a:t>
            </a:r>
          </a:p>
        </p:txBody>
      </p:sp>
      <p:sp>
        <p:nvSpPr>
          <p:cNvPr id="133" name="TextBox 132">
            <a:extLst>
              <a:ext uri="{FF2B5EF4-FFF2-40B4-BE49-F238E27FC236}">
                <a16:creationId xmlns:a16="http://schemas.microsoft.com/office/drawing/2014/main" id="{999FD62D-3E07-5856-F07D-4CC21A58F5AD}"/>
              </a:ext>
            </a:extLst>
          </p:cNvPr>
          <p:cNvSpPr txBox="1"/>
          <p:nvPr/>
        </p:nvSpPr>
        <p:spPr>
          <a:xfrm>
            <a:off x="4956048" y="3583976"/>
            <a:ext cx="2816352" cy="292837"/>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1" u="none" strike="noStrike" kern="1200" cap="none" spc="0" normalizeH="0" baseline="0" noProof="0">
                <a:ln>
                  <a:noFill/>
                </a:ln>
                <a:solidFill>
                  <a:srgbClr val="2C3E50"/>
                </a:solidFill>
                <a:effectLst/>
                <a:uLnTx/>
                <a:uFillTx/>
                <a:latin typeface="Helvetica Neue"/>
                <a:ea typeface="+mn-ea"/>
                <a:cs typeface="+mn-cs"/>
              </a:rPr>
              <a:t>"I need it yesterday" · regulatory-heavy · no formal specs</a:t>
            </a:r>
          </a:p>
        </p:txBody>
      </p:sp>
      <p:sp>
        <p:nvSpPr>
          <p:cNvPr id="134" name="TextBox 133">
            <a:extLst>
              <a:ext uri="{FF2B5EF4-FFF2-40B4-BE49-F238E27FC236}">
                <a16:creationId xmlns:a16="http://schemas.microsoft.com/office/drawing/2014/main" id="{7732AD72-826E-9D73-F49C-09860A1A70A6}"/>
              </a:ext>
            </a:extLst>
          </p:cNvPr>
          <p:cNvSpPr txBox="1"/>
          <p:nvPr/>
        </p:nvSpPr>
        <p:spPr>
          <a:xfrm>
            <a:off x="7882127" y="3660151"/>
            <a:ext cx="1673352" cy="140488"/>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6785C1"/>
                </a:solidFill>
                <a:effectLst/>
                <a:uLnTx/>
                <a:uFillTx/>
                <a:latin typeface="Helvetica Neue"/>
                <a:ea typeface="+mn-ea"/>
                <a:cs typeface="+mn-cs"/>
              </a:rPr>
              <a:t>Bi-weekly</a:t>
            </a:r>
          </a:p>
        </p:txBody>
      </p:sp>
      <p:sp>
        <p:nvSpPr>
          <p:cNvPr id="135" name="TextBox 134">
            <a:extLst>
              <a:ext uri="{FF2B5EF4-FFF2-40B4-BE49-F238E27FC236}">
                <a16:creationId xmlns:a16="http://schemas.microsoft.com/office/drawing/2014/main" id="{68C24F01-B97E-8359-5AFC-8BC7AE6C8633}"/>
              </a:ext>
            </a:extLst>
          </p:cNvPr>
          <p:cNvSpPr txBox="1"/>
          <p:nvPr/>
        </p:nvSpPr>
        <p:spPr>
          <a:xfrm>
            <a:off x="9665207" y="3660151"/>
            <a:ext cx="2066543" cy="140488"/>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BC4328"/>
                </a:solidFill>
                <a:effectLst/>
                <a:uLnTx/>
                <a:uFillTx/>
                <a:latin typeface="Helvetica Neue"/>
                <a:ea typeface="+mn-ea"/>
                <a:cs typeface="+mn-cs"/>
              </a:rPr>
              <a:t>No formal gate</a:t>
            </a:r>
          </a:p>
        </p:txBody>
      </p:sp>
      <p:sp>
        <p:nvSpPr>
          <p:cNvPr id="136" name="Rectangle 135">
            <a:extLst>
              <a:ext uri="{FF2B5EF4-FFF2-40B4-BE49-F238E27FC236}">
                <a16:creationId xmlns:a16="http://schemas.microsoft.com/office/drawing/2014/main" id="{E0895122-2D66-4B9B-B89E-64FEEA9DFF08}"/>
              </a:ext>
            </a:extLst>
          </p:cNvPr>
          <p:cNvSpPr/>
          <p:nvPr/>
        </p:nvSpPr>
        <p:spPr>
          <a:xfrm>
            <a:off x="457200" y="3995571"/>
            <a:ext cx="11274552" cy="530352"/>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37" name="Rectangle 136">
            <a:extLst>
              <a:ext uri="{FF2B5EF4-FFF2-40B4-BE49-F238E27FC236}">
                <a16:creationId xmlns:a16="http://schemas.microsoft.com/office/drawing/2014/main" id="{7E62A0EE-25CF-EB77-3EC6-388095B35F90}"/>
              </a:ext>
            </a:extLst>
          </p:cNvPr>
          <p:cNvSpPr/>
          <p:nvPr/>
        </p:nvSpPr>
        <p:spPr>
          <a:xfrm>
            <a:off x="457200" y="3995571"/>
            <a:ext cx="73152" cy="530352"/>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38" name="TextBox 137">
            <a:extLst>
              <a:ext uri="{FF2B5EF4-FFF2-40B4-BE49-F238E27FC236}">
                <a16:creationId xmlns:a16="http://schemas.microsoft.com/office/drawing/2014/main" id="{CF21EE17-57FE-E489-A8F5-A6B574292DEE}"/>
              </a:ext>
            </a:extLst>
          </p:cNvPr>
          <p:cNvSpPr txBox="1"/>
          <p:nvPr/>
        </p:nvSpPr>
        <p:spPr>
          <a:xfrm>
            <a:off x="621792" y="4182680"/>
            <a:ext cx="1755648"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2E7D32"/>
                </a:solidFill>
                <a:effectLst/>
                <a:uLnTx/>
                <a:uFillTx/>
                <a:latin typeface="Helvetica Neue"/>
                <a:ea typeface="+mn-ea"/>
                <a:cs typeface="+mn-cs"/>
              </a:rPr>
              <a:t>Infrastructure</a:t>
            </a:r>
          </a:p>
        </p:txBody>
      </p:sp>
      <p:sp>
        <p:nvSpPr>
          <p:cNvPr id="139" name="TextBox 138">
            <a:extLst>
              <a:ext uri="{FF2B5EF4-FFF2-40B4-BE49-F238E27FC236}">
                <a16:creationId xmlns:a16="http://schemas.microsoft.com/office/drawing/2014/main" id="{052E7F76-A0F4-27D9-554B-2A5CB58BC41D}"/>
              </a:ext>
            </a:extLst>
          </p:cNvPr>
          <p:cNvSpPr txBox="1"/>
          <p:nvPr/>
        </p:nvSpPr>
        <p:spPr>
          <a:xfrm>
            <a:off x="2487168" y="4190503"/>
            <a:ext cx="2359152" cy="140488"/>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Helvetica Neue"/>
                <a:ea typeface="+mn-ea"/>
                <a:cs typeface="+mn-cs"/>
              </a:rPr>
              <a:t>Direct to department</a:t>
            </a:r>
          </a:p>
        </p:txBody>
      </p:sp>
      <p:sp>
        <p:nvSpPr>
          <p:cNvPr id="140" name="TextBox 139">
            <a:extLst>
              <a:ext uri="{FF2B5EF4-FFF2-40B4-BE49-F238E27FC236}">
                <a16:creationId xmlns:a16="http://schemas.microsoft.com/office/drawing/2014/main" id="{D426CB67-D05A-BF9B-488A-D927772BF069}"/>
              </a:ext>
            </a:extLst>
          </p:cNvPr>
          <p:cNvSpPr txBox="1"/>
          <p:nvPr/>
        </p:nvSpPr>
        <p:spPr>
          <a:xfrm>
            <a:off x="4956048" y="4190503"/>
            <a:ext cx="2816352" cy="140488"/>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1" u="none" strike="noStrike" kern="1200" cap="none" spc="0" normalizeH="0" baseline="0" noProof="0">
                <a:ln>
                  <a:noFill/>
                </a:ln>
                <a:solidFill>
                  <a:srgbClr val="2C3E50"/>
                </a:solidFill>
                <a:effectLst/>
                <a:uLnTx/>
                <a:uFillTx/>
                <a:latin typeface="Helvetica Neue"/>
                <a:ea typeface="+mn-ea"/>
                <a:cs typeface="+mn-cs"/>
              </a:rPr>
              <a:t>Major maintenance · upgrades</a:t>
            </a:r>
          </a:p>
        </p:txBody>
      </p:sp>
      <p:sp>
        <p:nvSpPr>
          <p:cNvPr id="141" name="TextBox 140">
            <a:extLst>
              <a:ext uri="{FF2B5EF4-FFF2-40B4-BE49-F238E27FC236}">
                <a16:creationId xmlns:a16="http://schemas.microsoft.com/office/drawing/2014/main" id="{7B693A94-C5DD-9F73-7652-80500D824AA4}"/>
              </a:ext>
            </a:extLst>
          </p:cNvPr>
          <p:cNvSpPr txBox="1"/>
          <p:nvPr/>
        </p:nvSpPr>
        <p:spPr>
          <a:xfrm>
            <a:off x="7882127" y="4190503"/>
            <a:ext cx="1673352" cy="140488"/>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6785C1"/>
                </a:solidFill>
                <a:effectLst/>
                <a:uLnTx/>
                <a:uFillTx/>
                <a:latin typeface="Helvetica Neue"/>
                <a:ea typeface="+mn-ea"/>
                <a:cs typeface="+mn-cs"/>
              </a:rPr>
              <a:t>Weekly  (Sundays)</a:t>
            </a:r>
          </a:p>
        </p:txBody>
      </p:sp>
      <p:sp>
        <p:nvSpPr>
          <p:cNvPr id="142" name="TextBox 141">
            <a:extLst>
              <a:ext uri="{FF2B5EF4-FFF2-40B4-BE49-F238E27FC236}">
                <a16:creationId xmlns:a16="http://schemas.microsoft.com/office/drawing/2014/main" id="{381F014B-E7B7-50A3-6F7E-1A0FA4C20496}"/>
              </a:ext>
            </a:extLst>
          </p:cNvPr>
          <p:cNvSpPr txBox="1"/>
          <p:nvPr/>
        </p:nvSpPr>
        <p:spPr>
          <a:xfrm>
            <a:off x="9665207" y="4190503"/>
            <a:ext cx="2066543" cy="140488"/>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Helvetica Neue"/>
                <a:ea typeface="+mn-ea"/>
                <a:cs typeface="+mn-cs"/>
              </a:rPr>
              <a:t>Infrastructure Leaders</a:t>
            </a:r>
          </a:p>
        </p:txBody>
      </p:sp>
      <p:sp>
        <p:nvSpPr>
          <p:cNvPr id="143" name="Rectangle 142">
            <a:extLst>
              <a:ext uri="{FF2B5EF4-FFF2-40B4-BE49-F238E27FC236}">
                <a16:creationId xmlns:a16="http://schemas.microsoft.com/office/drawing/2014/main" id="{B6C11F7B-F163-7EB7-1B9A-D422D378AC11}"/>
              </a:ext>
            </a:extLst>
          </p:cNvPr>
          <p:cNvSpPr/>
          <p:nvPr/>
        </p:nvSpPr>
        <p:spPr>
          <a:xfrm>
            <a:off x="457200" y="4525923"/>
            <a:ext cx="11274552" cy="5303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44" name="Rectangle 143">
            <a:extLst>
              <a:ext uri="{FF2B5EF4-FFF2-40B4-BE49-F238E27FC236}">
                <a16:creationId xmlns:a16="http://schemas.microsoft.com/office/drawing/2014/main" id="{73C0FA4A-2533-40F1-9960-36A5D03CF32E}"/>
              </a:ext>
            </a:extLst>
          </p:cNvPr>
          <p:cNvSpPr/>
          <p:nvPr/>
        </p:nvSpPr>
        <p:spPr>
          <a:xfrm>
            <a:off x="457200" y="4525923"/>
            <a:ext cx="73152" cy="530352"/>
          </a:xfrm>
          <a:prstGeom prst="rect">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45" name="TextBox 144">
            <a:extLst>
              <a:ext uri="{FF2B5EF4-FFF2-40B4-BE49-F238E27FC236}">
                <a16:creationId xmlns:a16="http://schemas.microsoft.com/office/drawing/2014/main" id="{758ED291-3C25-68F6-0A34-70D3899C5940}"/>
              </a:ext>
            </a:extLst>
          </p:cNvPr>
          <p:cNvSpPr txBox="1"/>
          <p:nvPr/>
        </p:nvSpPr>
        <p:spPr>
          <a:xfrm>
            <a:off x="621792" y="4713032"/>
            <a:ext cx="1755648"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BC4328"/>
                </a:solidFill>
                <a:effectLst/>
                <a:uLnTx/>
                <a:uFillTx/>
                <a:latin typeface="Helvetica Neue"/>
                <a:ea typeface="+mn-ea"/>
                <a:cs typeface="+mn-cs"/>
              </a:rPr>
              <a:t>Regulatory</a:t>
            </a:r>
          </a:p>
        </p:txBody>
      </p:sp>
      <p:sp>
        <p:nvSpPr>
          <p:cNvPr id="146" name="TextBox 145">
            <a:extLst>
              <a:ext uri="{FF2B5EF4-FFF2-40B4-BE49-F238E27FC236}">
                <a16:creationId xmlns:a16="http://schemas.microsoft.com/office/drawing/2014/main" id="{310CB199-426E-5080-0A1C-F399688F9BFE}"/>
              </a:ext>
            </a:extLst>
          </p:cNvPr>
          <p:cNvSpPr txBox="1"/>
          <p:nvPr/>
        </p:nvSpPr>
        <p:spPr>
          <a:xfrm>
            <a:off x="2487168" y="4720855"/>
            <a:ext cx="2359152" cy="140488"/>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Helvetica Neue"/>
                <a:ea typeface="+mn-ea"/>
                <a:cs typeface="+mn-cs"/>
              </a:rPr>
              <a:t>Managers direct · PMs</a:t>
            </a:r>
          </a:p>
        </p:txBody>
      </p:sp>
      <p:sp>
        <p:nvSpPr>
          <p:cNvPr id="147" name="TextBox 146">
            <a:extLst>
              <a:ext uri="{FF2B5EF4-FFF2-40B4-BE49-F238E27FC236}">
                <a16:creationId xmlns:a16="http://schemas.microsoft.com/office/drawing/2014/main" id="{01588F5D-69BA-5D05-7671-8FC58F312D4F}"/>
              </a:ext>
            </a:extLst>
          </p:cNvPr>
          <p:cNvSpPr txBox="1"/>
          <p:nvPr/>
        </p:nvSpPr>
        <p:spPr>
          <a:xfrm>
            <a:off x="4956048" y="4720855"/>
            <a:ext cx="2816352" cy="140488"/>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1" i="1" u="none" strike="noStrike" kern="1200" cap="none" spc="0" normalizeH="0" baseline="0" noProof="0">
                <a:ln>
                  <a:noFill/>
                </a:ln>
                <a:solidFill>
                  <a:srgbClr val="BC4328"/>
                </a:solidFill>
                <a:effectLst/>
                <a:uLnTx/>
                <a:uFillTx/>
                <a:latin typeface="Helvetica Neue"/>
                <a:ea typeface="+mn-ea"/>
                <a:cs typeface="+mn-cs"/>
              </a:rPr>
              <a:t>URGENCY #1 — overrides everything</a:t>
            </a:r>
          </a:p>
        </p:txBody>
      </p:sp>
      <p:sp>
        <p:nvSpPr>
          <p:cNvPr id="149" name="TextBox 148">
            <a:extLst>
              <a:ext uri="{FF2B5EF4-FFF2-40B4-BE49-F238E27FC236}">
                <a16:creationId xmlns:a16="http://schemas.microsoft.com/office/drawing/2014/main" id="{C5D58B56-3022-04AA-2E66-CCA617FACC6C}"/>
              </a:ext>
            </a:extLst>
          </p:cNvPr>
          <p:cNvSpPr txBox="1"/>
          <p:nvPr/>
        </p:nvSpPr>
        <p:spPr>
          <a:xfrm>
            <a:off x="7882127" y="4720855"/>
            <a:ext cx="1673352" cy="140488"/>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6785C1"/>
                </a:solidFill>
                <a:effectLst/>
                <a:uLnTx/>
                <a:uFillTx/>
                <a:latin typeface="Helvetica Neue"/>
                <a:ea typeface="+mn-ea"/>
                <a:cs typeface="+mn-cs"/>
              </a:rPr>
              <a:t>Ad-hoc</a:t>
            </a:r>
          </a:p>
        </p:txBody>
      </p:sp>
      <p:sp>
        <p:nvSpPr>
          <p:cNvPr id="150" name="TextBox 149">
            <a:extLst>
              <a:ext uri="{FF2B5EF4-FFF2-40B4-BE49-F238E27FC236}">
                <a16:creationId xmlns:a16="http://schemas.microsoft.com/office/drawing/2014/main" id="{3F781B15-41EC-CED5-022A-870B5B2EB6AE}"/>
              </a:ext>
            </a:extLst>
          </p:cNvPr>
          <p:cNvSpPr txBox="1"/>
          <p:nvPr/>
        </p:nvSpPr>
        <p:spPr>
          <a:xfrm>
            <a:off x="9665207" y="4720855"/>
            <a:ext cx="2066543" cy="140488"/>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BC4328"/>
                </a:solidFill>
                <a:effectLst/>
                <a:uLnTx/>
                <a:uFillTx/>
                <a:latin typeface="Helvetica Neue"/>
                <a:ea typeface="+mn-ea"/>
                <a:cs typeface="+mn-cs"/>
              </a:rPr>
              <a:t>Auto-priority by label</a:t>
            </a:r>
          </a:p>
        </p:txBody>
      </p:sp>
      <p:sp>
        <p:nvSpPr>
          <p:cNvPr id="151" name="Rectangle 150">
            <a:extLst>
              <a:ext uri="{FF2B5EF4-FFF2-40B4-BE49-F238E27FC236}">
                <a16:creationId xmlns:a16="http://schemas.microsoft.com/office/drawing/2014/main" id="{6899EBE1-3D11-46EC-A1CF-398CFD825ED0}"/>
              </a:ext>
            </a:extLst>
          </p:cNvPr>
          <p:cNvSpPr/>
          <p:nvPr/>
        </p:nvSpPr>
        <p:spPr>
          <a:xfrm>
            <a:off x="457200" y="5056275"/>
            <a:ext cx="11274552" cy="530352"/>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52" name="Rectangle 151">
            <a:extLst>
              <a:ext uri="{FF2B5EF4-FFF2-40B4-BE49-F238E27FC236}">
                <a16:creationId xmlns:a16="http://schemas.microsoft.com/office/drawing/2014/main" id="{9C86309B-8663-AEC8-5530-D1BE96855218}"/>
              </a:ext>
            </a:extLst>
          </p:cNvPr>
          <p:cNvSpPr/>
          <p:nvPr/>
        </p:nvSpPr>
        <p:spPr>
          <a:xfrm>
            <a:off x="457200" y="5056275"/>
            <a:ext cx="73152" cy="530352"/>
          </a:xfrm>
          <a:prstGeom prst="rect">
            <a:avLst/>
          </a:prstGeom>
          <a:solidFill>
            <a:srgbClr val="95A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53" name="TextBox 152">
            <a:extLst>
              <a:ext uri="{FF2B5EF4-FFF2-40B4-BE49-F238E27FC236}">
                <a16:creationId xmlns:a16="http://schemas.microsoft.com/office/drawing/2014/main" id="{D64564D8-14F7-5AC0-FEC0-E9EBB7E9AE1A}"/>
              </a:ext>
            </a:extLst>
          </p:cNvPr>
          <p:cNvSpPr txBox="1"/>
          <p:nvPr/>
        </p:nvSpPr>
        <p:spPr>
          <a:xfrm>
            <a:off x="621792" y="5243384"/>
            <a:ext cx="1755648"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5A5A6"/>
                </a:solidFill>
                <a:effectLst/>
                <a:uLnTx/>
                <a:uFillTx/>
                <a:latin typeface="Helvetica Neue"/>
                <a:ea typeface="+mn-ea"/>
                <a:cs typeface="+mn-cs"/>
              </a:rPr>
              <a:t>Procurement</a:t>
            </a:r>
          </a:p>
        </p:txBody>
      </p:sp>
      <p:sp>
        <p:nvSpPr>
          <p:cNvPr id="154" name="TextBox 153">
            <a:extLst>
              <a:ext uri="{FF2B5EF4-FFF2-40B4-BE49-F238E27FC236}">
                <a16:creationId xmlns:a16="http://schemas.microsoft.com/office/drawing/2014/main" id="{4E9454BF-E39D-2D0B-A917-AA40ADAD7304}"/>
              </a:ext>
            </a:extLst>
          </p:cNvPr>
          <p:cNvSpPr txBox="1"/>
          <p:nvPr/>
        </p:nvSpPr>
        <p:spPr>
          <a:xfrm>
            <a:off x="2487168" y="5251207"/>
            <a:ext cx="2359152" cy="140488"/>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Helvetica Neue"/>
                <a:ea typeface="+mn-ea"/>
                <a:cs typeface="+mn-cs"/>
              </a:rPr>
              <a:t>Procurement liaison</a:t>
            </a:r>
          </a:p>
        </p:txBody>
      </p:sp>
      <p:sp>
        <p:nvSpPr>
          <p:cNvPr id="155" name="TextBox 154">
            <a:extLst>
              <a:ext uri="{FF2B5EF4-FFF2-40B4-BE49-F238E27FC236}">
                <a16:creationId xmlns:a16="http://schemas.microsoft.com/office/drawing/2014/main" id="{25E8DFB9-FF0A-B2F1-3A8B-A11ACED67532}"/>
              </a:ext>
            </a:extLst>
          </p:cNvPr>
          <p:cNvSpPr txBox="1"/>
          <p:nvPr/>
        </p:nvSpPr>
        <p:spPr>
          <a:xfrm>
            <a:off x="4956048" y="5251207"/>
            <a:ext cx="2816352" cy="140488"/>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1" u="none" strike="noStrike" kern="1200" cap="none" spc="0" normalizeH="0" baseline="0" noProof="0">
                <a:ln>
                  <a:noFill/>
                </a:ln>
                <a:solidFill>
                  <a:srgbClr val="2C3E50"/>
                </a:solidFill>
                <a:effectLst/>
                <a:uLnTx/>
                <a:uFillTx/>
                <a:latin typeface="Helvetica Neue"/>
                <a:ea typeface="+mn-ea"/>
                <a:cs typeface="+mn-cs"/>
              </a:rPr>
              <a:t>License renewal · new vendor · ERP fixes</a:t>
            </a:r>
          </a:p>
        </p:txBody>
      </p:sp>
      <p:sp>
        <p:nvSpPr>
          <p:cNvPr id="156" name="TextBox 155">
            <a:extLst>
              <a:ext uri="{FF2B5EF4-FFF2-40B4-BE49-F238E27FC236}">
                <a16:creationId xmlns:a16="http://schemas.microsoft.com/office/drawing/2014/main" id="{21A2735C-1058-890A-00AB-6813A81253A6}"/>
              </a:ext>
            </a:extLst>
          </p:cNvPr>
          <p:cNvSpPr txBox="1"/>
          <p:nvPr/>
        </p:nvSpPr>
        <p:spPr>
          <a:xfrm>
            <a:off x="7882127" y="5251207"/>
            <a:ext cx="1673352" cy="140488"/>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6785C1"/>
                </a:solidFill>
                <a:effectLst/>
                <a:uLnTx/>
                <a:uFillTx/>
                <a:latin typeface="Helvetica Neue"/>
                <a:ea typeface="+mn-ea"/>
                <a:cs typeface="+mn-cs"/>
              </a:rPr>
              <a:t>Monthly</a:t>
            </a:r>
          </a:p>
        </p:txBody>
      </p:sp>
      <p:sp>
        <p:nvSpPr>
          <p:cNvPr id="157" name="TextBox 156">
            <a:extLst>
              <a:ext uri="{FF2B5EF4-FFF2-40B4-BE49-F238E27FC236}">
                <a16:creationId xmlns:a16="http://schemas.microsoft.com/office/drawing/2014/main" id="{4C1EDCE0-5D81-20BA-4AC7-FF29F6064995}"/>
              </a:ext>
            </a:extLst>
          </p:cNvPr>
          <p:cNvSpPr txBox="1"/>
          <p:nvPr/>
        </p:nvSpPr>
        <p:spPr>
          <a:xfrm>
            <a:off x="9665207" y="5251207"/>
            <a:ext cx="2066543" cy="140488"/>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Helvetica Neue"/>
                <a:ea typeface="+mn-ea"/>
                <a:cs typeface="+mn-cs"/>
              </a:rPr>
              <a:t>Procurement + IT</a:t>
            </a:r>
          </a:p>
        </p:txBody>
      </p:sp>
      <p:sp>
        <p:nvSpPr>
          <p:cNvPr id="158" name="Rectangle 157">
            <a:extLst>
              <a:ext uri="{FF2B5EF4-FFF2-40B4-BE49-F238E27FC236}">
                <a16:creationId xmlns:a16="http://schemas.microsoft.com/office/drawing/2014/main" id="{7D700B3B-1E54-D359-10A5-C56C0CE01DCD}"/>
              </a:ext>
            </a:extLst>
          </p:cNvPr>
          <p:cNvSpPr/>
          <p:nvPr/>
        </p:nvSpPr>
        <p:spPr>
          <a:xfrm>
            <a:off x="457200" y="5586627"/>
            <a:ext cx="11274552" cy="5303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59" name="Rectangle 158">
            <a:extLst>
              <a:ext uri="{FF2B5EF4-FFF2-40B4-BE49-F238E27FC236}">
                <a16:creationId xmlns:a16="http://schemas.microsoft.com/office/drawing/2014/main" id="{94C7C3C5-270D-340A-60BF-E331AC0E1A0F}"/>
              </a:ext>
            </a:extLst>
          </p:cNvPr>
          <p:cNvSpPr/>
          <p:nvPr/>
        </p:nvSpPr>
        <p:spPr>
          <a:xfrm>
            <a:off x="457200" y="5586627"/>
            <a:ext cx="73152" cy="530352"/>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60" name="TextBox 159">
            <a:extLst>
              <a:ext uri="{FF2B5EF4-FFF2-40B4-BE49-F238E27FC236}">
                <a16:creationId xmlns:a16="http://schemas.microsoft.com/office/drawing/2014/main" id="{9CB2445C-3DEA-A4D0-2D95-1E1F67F9E14C}"/>
              </a:ext>
            </a:extLst>
          </p:cNvPr>
          <p:cNvSpPr txBox="1"/>
          <p:nvPr/>
        </p:nvSpPr>
        <p:spPr>
          <a:xfrm>
            <a:off x="621792" y="5773736"/>
            <a:ext cx="1755648"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9A825"/>
                </a:solidFill>
                <a:effectLst/>
                <a:uLnTx/>
                <a:uFillTx/>
                <a:latin typeface="Helvetica Neue"/>
                <a:ea typeface="+mn-ea"/>
                <a:cs typeface="+mn-cs"/>
              </a:rPr>
              <a:t>OT  (Op. Technology)</a:t>
            </a:r>
          </a:p>
        </p:txBody>
      </p:sp>
      <p:sp>
        <p:nvSpPr>
          <p:cNvPr id="161" name="TextBox 160">
            <a:extLst>
              <a:ext uri="{FF2B5EF4-FFF2-40B4-BE49-F238E27FC236}">
                <a16:creationId xmlns:a16="http://schemas.microsoft.com/office/drawing/2014/main" id="{21E3DEDD-DB9E-1CB5-AA37-B3723B285211}"/>
              </a:ext>
            </a:extLst>
          </p:cNvPr>
          <p:cNvSpPr txBox="1"/>
          <p:nvPr/>
        </p:nvSpPr>
        <p:spPr>
          <a:xfrm>
            <a:off x="2487168" y="5781559"/>
            <a:ext cx="2359152" cy="140488"/>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Helvetica Neue"/>
                <a:ea typeface="+mn-ea"/>
                <a:cs typeface="+mn-cs"/>
              </a:rPr>
              <a:t>Own model · sometimes Jira tickets</a:t>
            </a:r>
          </a:p>
        </p:txBody>
      </p:sp>
      <p:sp>
        <p:nvSpPr>
          <p:cNvPr id="162" name="TextBox 161">
            <a:extLst>
              <a:ext uri="{FF2B5EF4-FFF2-40B4-BE49-F238E27FC236}">
                <a16:creationId xmlns:a16="http://schemas.microsoft.com/office/drawing/2014/main" id="{DB6085DE-047C-F652-7987-154B30ECE393}"/>
              </a:ext>
            </a:extLst>
          </p:cNvPr>
          <p:cNvSpPr txBox="1"/>
          <p:nvPr/>
        </p:nvSpPr>
        <p:spPr>
          <a:xfrm>
            <a:off x="4956048" y="5781559"/>
            <a:ext cx="2816352" cy="140488"/>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1" u="none" strike="noStrike" kern="1200" cap="none" spc="0" normalizeH="0" baseline="0" noProof="0">
                <a:ln>
                  <a:noFill/>
                </a:ln>
                <a:solidFill>
                  <a:srgbClr val="2C3E50"/>
                </a:solidFill>
                <a:effectLst/>
                <a:uLnTx/>
                <a:uFillTx/>
                <a:latin typeface="Helvetica Neue"/>
                <a:ea typeface="+mn-ea"/>
                <a:cs typeface="+mn-cs"/>
              </a:rPr>
              <a:t>Metering-specific · per-OPCO variance</a:t>
            </a:r>
          </a:p>
        </p:txBody>
      </p:sp>
      <p:sp>
        <p:nvSpPr>
          <p:cNvPr id="163" name="TextBox 162">
            <a:extLst>
              <a:ext uri="{FF2B5EF4-FFF2-40B4-BE49-F238E27FC236}">
                <a16:creationId xmlns:a16="http://schemas.microsoft.com/office/drawing/2014/main" id="{D852799E-87A9-F02A-C3D8-E0F717A87989}"/>
              </a:ext>
            </a:extLst>
          </p:cNvPr>
          <p:cNvSpPr txBox="1"/>
          <p:nvPr/>
        </p:nvSpPr>
        <p:spPr>
          <a:xfrm>
            <a:off x="7882127" y="5781559"/>
            <a:ext cx="1673352" cy="140488"/>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6785C1"/>
                </a:solidFill>
                <a:effectLst/>
                <a:uLnTx/>
                <a:uFillTx/>
                <a:latin typeface="Helvetica Neue"/>
                <a:ea typeface="+mn-ea"/>
                <a:cs typeface="+mn-cs"/>
              </a:rPr>
              <a:t>Annual planning</a:t>
            </a:r>
          </a:p>
        </p:txBody>
      </p:sp>
      <p:sp>
        <p:nvSpPr>
          <p:cNvPr id="164" name="TextBox 163">
            <a:extLst>
              <a:ext uri="{FF2B5EF4-FFF2-40B4-BE49-F238E27FC236}">
                <a16:creationId xmlns:a16="http://schemas.microsoft.com/office/drawing/2014/main" id="{626B6849-919C-D366-327C-270CC84F5514}"/>
              </a:ext>
            </a:extLst>
          </p:cNvPr>
          <p:cNvSpPr txBox="1"/>
          <p:nvPr/>
        </p:nvSpPr>
        <p:spPr>
          <a:xfrm>
            <a:off x="9665207" y="5781559"/>
            <a:ext cx="2066543" cy="140488"/>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BC4328"/>
                </a:solidFill>
                <a:effectLst/>
                <a:uLnTx/>
                <a:uFillTx/>
                <a:latin typeface="Helvetica Neue"/>
                <a:ea typeface="+mn-ea"/>
                <a:cs typeface="+mn-cs"/>
              </a:rPr>
              <a:t>No standard governance</a:t>
            </a:r>
          </a:p>
        </p:txBody>
      </p:sp>
      <p:sp>
        <p:nvSpPr>
          <p:cNvPr id="165" name="Rectangle 164">
            <a:extLst>
              <a:ext uri="{FF2B5EF4-FFF2-40B4-BE49-F238E27FC236}">
                <a16:creationId xmlns:a16="http://schemas.microsoft.com/office/drawing/2014/main" id="{92102C79-572A-7DE1-17ED-745F8EECEA03}"/>
              </a:ext>
            </a:extLst>
          </p:cNvPr>
          <p:cNvSpPr/>
          <p:nvPr/>
        </p:nvSpPr>
        <p:spPr>
          <a:xfrm>
            <a:off x="457200" y="6180987"/>
            <a:ext cx="11274552"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66" name="TextBox 165">
            <a:extLst>
              <a:ext uri="{FF2B5EF4-FFF2-40B4-BE49-F238E27FC236}">
                <a16:creationId xmlns:a16="http://schemas.microsoft.com/office/drawing/2014/main" id="{4A69AF98-C4AC-9350-F1F5-7D4553403D69}"/>
              </a:ext>
            </a:extLst>
          </p:cNvPr>
          <p:cNvSpPr txBox="1"/>
          <p:nvPr/>
        </p:nvSpPr>
        <p:spPr>
          <a:xfrm>
            <a:off x="685800" y="6346558"/>
            <a:ext cx="10817352" cy="171778"/>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Helvetica Neue"/>
                <a:ea typeface="+mn-ea"/>
                <a:cs typeface="+mn-cs"/>
              </a:rPr>
              <a:t>Eight distinct intake paths feed SAP — BRS is the only formalized channel; Regulatory auto-prioritizes; OT and Data &amp; Analytics run outside the standard process</a:t>
            </a:r>
          </a:p>
        </p:txBody>
      </p:sp>
      <p:sp>
        <p:nvSpPr>
          <p:cNvPr id="10" name="Rectángulo 9">
            <a:extLst>
              <a:ext uri="{FF2B5EF4-FFF2-40B4-BE49-F238E27FC236}">
                <a16:creationId xmlns:a16="http://schemas.microsoft.com/office/drawing/2014/main" id="{66614324-4B1C-31FC-22E2-17483A0F209F}"/>
              </a:ext>
            </a:extLst>
          </p:cNvPr>
          <p:cNvSpPr/>
          <p:nvPr/>
        </p:nvSpPr>
        <p:spPr>
          <a:xfrm>
            <a:off x="12019280" y="1645920"/>
            <a:ext cx="2377440" cy="15443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Aptos" panose="020B0004020202020204"/>
                <a:ea typeface="+mn-ea"/>
                <a:cs typeface="+mn-cs"/>
              </a:rPr>
              <a:t>Missing Digital Applications</a:t>
            </a:r>
          </a:p>
        </p:txBody>
      </p:sp>
    </p:spTree>
    <p:extLst>
      <p:ext uri="{BB962C8B-B14F-4D97-AF65-F5344CB8AC3E}">
        <p14:creationId xmlns:p14="http://schemas.microsoft.com/office/powerpoint/2010/main" val="30124168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457200" y="320040"/>
            <a:ext cx="11274552" cy="822960"/>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2000" b="1" i="0" u="none" strike="noStrike" kern="1200" cap="none" spc="0" normalizeH="0" baseline="0" noProof="0">
                <a:ln>
                  <a:noFill/>
                </a:ln>
                <a:solidFill>
                  <a:srgbClr val="0F1C50"/>
                </a:solidFill>
                <a:effectLst/>
                <a:uLnTx/>
                <a:uFillTx/>
                <a:latin typeface="Helvetica Neue"/>
                <a:ea typeface="+mn-ea"/>
                <a:cs typeface="+mn-cs"/>
              </a:rPr>
              <a:t>G&amp;E is the only area with NO formal digital intake — every request arrives via email from business or vendor</a:t>
            </a:r>
          </a:p>
        </p:txBody>
      </p:sp>
      <p:sp>
        <p:nvSpPr>
          <p:cNvPr id="3" name="Rectangle 2"/>
          <p:cNvSpPr/>
          <p:nvPr/>
        </p:nvSpPr>
        <p:spPr>
          <a:xfrm>
            <a:off x="457200" y="1143000"/>
            <a:ext cx="11274552" cy="1371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4" name="TextBox 3"/>
          <p:cNvSpPr txBox="1"/>
          <p:nvPr/>
        </p:nvSpPr>
        <p:spPr>
          <a:xfrm>
            <a:off x="457200" y="1170432"/>
            <a:ext cx="11274552" cy="156133"/>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1" u="none" strike="noStrike" kern="1200" cap="none" spc="0" normalizeH="0" baseline="0" noProof="0">
                <a:ln>
                  <a:noFill/>
                </a:ln>
                <a:solidFill>
                  <a:srgbClr val="6785C1"/>
                </a:solidFill>
                <a:effectLst/>
                <a:uLnTx/>
                <a:uFillTx/>
                <a:latin typeface="Helvetica Neue"/>
                <a:ea typeface="+mn-ea"/>
                <a:cs typeface="+mn-cs"/>
              </a:rPr>
              <a:t>G&amp;E — sub-scope within Electric &amp; Gas Operations Products (team led by Bruno </a:t>
            </a:r>
            <a:r>
              <a:rPr kumimoji="0" lang="en-US" sz="1000" b="0" i="1" u="none" strike="noStrike" kern="1200" cap="none" spc="0" normalizeH="0" baseline="0" noProof="0" err="1">
                <a:ln>
                  <a:noFill/>
                </a:ln>
                <a:solidFill>
                  <a:srgbClr val="6785C1"/>
                </a:solidFill>
                <a:effectLst/>
                <a:uLnTx/>
                <a:uFillTx/>
                <a:latin typeface="Helvetica Neue"/>
                <a:ea typeface="+mn-ea"/>
                <a:cs typeface="+mn-cs"/>
              </a:rPr>
              <a:t>Moreto</a:t>
            </a:r>
            <a:r>
              <a:rPr kumimoji="0" lang="en-US" sz="1000" b="0" i="1" u="none" strike="noStrike" kern="1200" cap="none" spc="0" normalizeH="0" baseline="0" noProof="0">
                <a:ln>
                  <a:noFill/>
                </a:ln>
                <a:solidFill>
                  <a:srgbClr val="6785C1"/>
                </a:solidFill>
                <a:effectLst/>
                <a:uLnTx/>
                <a:uFillTx/>
                <a:latin typeface="Helvetica Neue"/>
                <a:ea typeface="+mn-ea"/>
                <a:cs typeface="+mn-cs"/>
              </a:rPr>
              <a:t>, Sr. Manager)  ·  Champion: Andrew McGibbon (70-90 apps supported)</a:t>
            </a:r>
          </a:p>
        </p:txBody>
      </p:sp>
      <p:sp>
        <p:nvSpPr>
          <p:cNvPr id="5" name="Rectangle 4"/>
          <p:cNvSpPr/>
          <p:nvPr/>
        </p:nvSpPr>
        <p:spPr>
          <a:xfrm>
            <a:off x="457200" y="1426464"/>
            <a:ext cx="11274552" cy="274320"/>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6" name="Rectangle 5"/>
          <p:cNvSpPr/>
          <p:nvPr/>
        </p:nvSpPr>
        <p:spPr>
          <a:xfrm>
            <a:off x="457200" y="1426464"/>
            <a:ext cx="1828800" cy="274320"/>
          </a:xfrm>
          <a:prstGeom prst="rect">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7" name="TextBox 6"/>
          <p:cNvSpPr txBox="1"/>
          <p:nvPr/>
        </p:nvSpPr>
        <p:spPr>
          <a:xfrm>
            <a:off x="457200" y="1426464"/>
            <a:ext cx="1828800" cy="274320"/>
          </a:xfrm>
          <a:prstGeom prst="rect">
            <a:avLst/>
          </a:prstGeom>
          <a:noFill/>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900" b="1" i="0" u="none" strike="noStrike" kern="1200" cap="none" spc="0" normalizeH="0" baseline="0" noProof="0">
                <a:ln>
                  <a:noFill/>
                </a:ln>
                <a:solidFill>
                  <a:srgbClr val="FFFFFF"/>
                </a:solidFill>
                <a:effectLst/>
                <a:uLnTx/>
                <a:uFillTx/>
                <a:latin typeface="Helvetica Neue"/>
                <a:ea typeface="+mn-ea"/>
                <a:cs typeface="+mn-cs"/>
              </a:rPr>
              <a:t>BUSINESS REQUESTERS</a:t>
            </a:r>
          </a:p>
        </p:txBody>
      </p:sp>
      <p:sp>
        <p:nvSpPr>
          <p:cNvPr id="8" name="TextBox 7"/>
          <p:cNvSpPr txBox="1"/>
          <p:nvPr/>
        </p:nvSpPr>
        <p:spPr>
          <a:xfrm>
            <a:off x="2377440" y="1426464"/>
            <a:ext cx="9281160" cy="274320"/>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Helvetica Neue"/>
                <a:ea typeface="+mn-ea"/>
                <a:cs typeface="+mn-cs"/>
              </a:rPr>
              <a:t>Electric &amp; Gas Operations (T&amp;D) · Field Services · Outage Management · Third-party vendors (direct) · Cyber &amp; Legal (compliance gates) · Regulatory affairs</a:t>
            </a:r>
          </a:p>
        </p:txBody>
      </p:sp>
      <p:sp>
        <p:nvSpPr>
          <p:cNvPr id="9" name="Rectangle 8"/>
          <p:cNvSpPr/>
          <p:nvPr/>
        </p:nvSpPr>
        <p:spPr>
          <a:xfrm>
            <a:off x="1097280" y="1810512"/>
            <a:ext cx="2167128" cy="347472"/>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0" name="TextBox 9"/>
          <p:cNvSpPr txBox="1"/>
          <p:nvPr/>
        </p:nvSpPr>
        <p:spPr>
          <a:xfrm>
            <a:off x="1097280" y="1810512"/>
            <a:ext cx="2167128" cy="347472"/>
          </a:xfrm>
          <a:prstGeom prst="rect">
            <a:avLst/>
          </a:prstGeom>
          <a:noFill/>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Helvetica Neue"/>
                <a:ea typeface="+mn-ea"/>
                <a:cs typeface="+mn-cs"/>
              </a:rPr>
              <a:t>01 INTAKE</a:t>
            </a:r>
          </a:p>
        </p:txBody>
      </p:sp>
      <p:sp>
        <p:nvSpPr>
          <p:cNvPr id="11" name="Rounded Rectangle 10"/>
          <p:cNvSpPr/>
          <p:nvPr/>
        </p:nvSpPr>
        <p:spPr>
          <a:xfrm>
            <a:off x="1632204" y="2212848"/>
            <a:ext cx="1097280" cy="182880"/>
          </a:xfr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2" name="TextBox 11"/>
          <p:cNvSpPr txBox="1"/>
          <p:nvPr/>
        </p:nvSpPr>
        <p:spPr>
          <a:xfrm>
            <a:off x="1632204" y="2212848"/>
            <a:ext cx="1097280" cy="182880"/>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FFFFFF"/>
                </a:solidFill>
                <a:effectLst/>
                <a:uLnTx/>
                <a:uFillTx/>
                <a:latin typeface="Aptos" panose="020B0004020202020204"/>
                <a:ea typeface="+mn-ea"/>
                <a:cs typeface="+mn-cs"/>
              </a:rPr>
              <a:t>CRITICAL</a:t>
            </a:r>
          </a:p>
        </p:txBody>
      </p:sp>
      <p:sp>
        <p:nvSpPr>
          <p:cNvPr id="13" name="Rectangle 12"/>
          <p:cNvSpPr/>
          <p:nvPr/>
        </p:nvSpPr>
        <p:spPr>
          <a:xfrm>
            <a:off x="3319272" y="1810512"/>
            <a:ext cx="2167128" cy="347472"/>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4" name="TextBox 13"/>
          <p:cNvSpPr txBox="1"/>
          <p:nvPr/>
        </p:nvSpPr>
        <p:spPr>
          <a:xfrm>
            <a:off x="3319272" y="1810512"/>
            <a:ext cx="2167128" cy="347472"/>
          </a:xfrm>
          <a:prstGeom prst="rect">
            <a:avLst/>
          </a:prstGeom>
          <a:noFill/>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Helvetica Neue"/>
                <a:ea typeface="+mn-ea"/>
                <a:cs typeface="+mn-cs"/>
              </a:rPr>
              <a:t>02 CLASSIFICATION</a:t>
            </a:r>
          </a:p>
        </p:txBody>
      </p:sp>
      <p:sp>
        <p:nvSpPr>
          <p:cNvPr id="15" name="Rounded Rectangle 14"/>
          <p:cNvSpPr/>
          <p:nvPr/>
        </p:nvSpPr>
        <p:spPr>
          <a:xfrm>
            <a:off x="3854196" y="2212848"/>
            <a:ext cx="1097280" cy="182880"/>
          </a:xfr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6" name="TextBox 15"/>
          <p:cNvSpPr txBox="1"/>
          <p:nvPr/>
        </p:nvSpPr>
        <p:spPr>
          <a:xfrm>
            <a:off x="3854196" y="2212848"/>
            <a:ext cx="1097280" cy="182880"/>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FFFFFF"/>
                </a:solidFill>
                <a:effectLst/>
                <a:uLnTx/>
                <a:uFillTx/>
                <a:latin typeface="Aptos" panose="020B0004020202020204"/>
                <a:ea typeface="+mn-ea"/>
                <a:cs typeface="+mn-cs"/>
              </a:rPr>
              <a:t>CRITICAL</a:t>
            </a:r>
          </a:p>
        </p:txBody>
      </p:sp>
      <p:sp>
        <p:nvSpPr>
          <p:cNvPr id="17" name="Rectangle 16"/>
          <p:cNvSpPr/>
          <p:nvPr/>
        </p:nvSpPr>
        <p:spPr>
          <a:xfrm>
            <a:off x="5541264" y="1810512"/>
            <a:ext cx="2167128" cy="347472"/>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8" name="TextBox 17"/>
          <p:cNvSpPr txBox="1"/>
          <p:nvPr/>
        </p:nvSpPr>
        <p:spPr>
          <a:xfrm>
            <a:off x="5541264" y="1810512"/>
            <a:ext cx="2167128" cy="347472"/>
          </a:xfrm>
          <a:prstGeom prst="rect">
            <a:avLst/>
          </a:prstGeom>
          <a:noFill/>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Helvetica Neue"/>
                <a:ea typeface="+mn-ea"/>
                <a:cs typeface="+mn-cs"/>
              </a:rPr>
              <a:t>03 PRIORITIZATION</a:t>
            </a:r>
          </a:p>
        </p:txBody>
      </p:sp>
      <p:sp>
        <p:nvSpPr>
          <p:cNvPr id="19" name="Rounded Rectangle 18"/>
          <p:cNvSpPr/>
          <p:nvPr/>
        </p:nvSpPr>
        <p:spPr>
          <a:xfrm>
            <a:off x="6076188" y="2212848"/>
            <a:ext cx="1097280" cy="182880"/>
          </a:xfr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20" name="TextBox 19"/>
          <p:cNvSpPr txBox="1"/>
          <p:nvPr/>
        </p:nvSpPr>
        <p:spPr>
          <a:xfrm>
            <a:off x="6076188" y="2212848"/>
            <a:ext cx="1097280" cy="182880"/>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FFFFFF"/>
                </a:solidFill>
                <a:effectLst/>
                <a:uLnTx/>
                <a:uFillTx/>
                <a:latin typeface="Aptos" panose="020B0004020202020204"/>
                <a:ea typeface="+mn-ea"/>
                <a:cs typeface="+mn-cs"/>
              </a:rPr>
              <a:t>CRITICAL</a:t>
            </a:r>
          </a:p>
        </p:txBody>
      </p:sp>
      <p:sp>
        <p:nvSpPr>
          <p:cNvPr id="21" name="Rectangle 20"/>
          <p:cNvSpPr/>
          <p:nvPr/>
        </p:nvSpPr>
        <p:spPr>
          <a:xfrm>
            <a:off x="7763256" y="1810512"/>
            <a:ext cx="2167128" cy="347472"/>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22" name="TextBox 21"/>
          <p:cNvSpPr txBox="1"/>
          <p:nvPr/>
        </p:nvSpPr>
        <p:spPr>
          <a:xfrm>
            <a:off x="7763256" y="1810512"/>
            <a:ext cx="2167128" cy="347472"/>
          </a:xfrm>
          <a:prstGeom prst="rect">
            <a:avLst/>
          </a:prstGeom>
          <a:noFill/>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Helvetica Neue"/>
                <a:ea typeface="+mn-ea"/>
                <a:cs typeface="+mn-cs"/>
              </a:rPr>
              <a:t>04 PORTFOLIO</a:t>
            </a:r>
          </a:p>
        </p:txBody>
      </p:sp>
      <p:sp>
        <p:nvSpPr>
          <p:cNvPr id="23" name="Rounded Rectangle 22"/>
          <p:cNvSpPr/>
          <p:nvPr/>
        </p:nvSpPr>
        <p:spPr>
          <a:xfrm>
            <a:off x="8298180" y="2212848"/>
            <a:ext cx="1097280" cy="182880"/>
          </a:xfr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24" name="TextBox 23"/>
          <p:cNvSpPr txBox="1"/>
          <p:nvPr/>
        </p:nvSpPr>
        <p:spPr>
          <a:xfrm>
            <a:off x="8298180" y="2212848"/>
            <a:ext cx="1097280" cy="182880"/>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FFFFFF"/>
                </a:solidFill>
                <a:effectLst/>
                <a:uLnTx/>
                <a:uFillTx/>
                <a:latin typeface="Aptos" panose="020B0004020202020204"/>
                <a:ea typeface="+mn-ea"/>
                <a:cs typeface="+mn-cs"/>
              </a:rPr>
              <a:t>CRITICAL</a:t>
            </a:r>
          </a:p>
        </p:txBody>
      </p:sp>
      <p:sp>
        <p:nvSpPr>
          <p:cNvPr id="25" name="Rectangle 24"/>
          <p:cNvSpPr/>
          <p:nvPr/>
        </p:nvSpPr>
        <p:spPr>
          <a:xfrm>
            <a:off x="9985248" y="1810512"/>
            <a:ext cx="1746504" cy="347472"/>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26" name="TextBox 25"/>
          <p:cNvSpPr txBox="1"/>
          <p:nvPr/>
        </p:nvSpPr>
        <p:spPr>
          <a:xfrm>
            <a:off x="9985248" y="1906758"/>
            <a:ext cx="1807604" cy="154979"/>
          </a:xfrm>
          <a:prstGeom prst="rect">
            <a:avLst/>
          </a:prstGeom>
          <a:noFill/>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Helvetica Neue"/>
                <a:ea typeface="+mn-ea"/>
                <a:cs typeface="+mn-cs"/>
              </a:rPr>
              <a:t>05 DELIVERY</a:t>
            </a:r>
          </a:p>
        </p:txBody>
      </p:sp>
      <p:sp>
        <p:nvSpPr>
          <p:cNvPr id="27" name="Rounded Rectangle 26"/>
          <p:cNvSpPr/>
          <p:nvPr/>
        </p:nvSpPr>
        <p:spPr>
          <a:xfrm>
            <a:off x="10331720" y="2212848"/>
            <a:ext cx="1097280" cy="182880"/>
          </a:xfr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28" name="TextBox 27"/>
          <p:cNvSpPr txBox="1"/>
          <p:nvPr/>
        </p:nvSpPr>
        <p:spPr>
          <a:xfrm>
            <a:off x="10331720" y="2212848"/>
            <a:ext cx="1097280" cy="182880"/>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FFFFFF"/>
                </a:solidFill>
                <a:effectLst/>
                <a:uLnTx/>
                <a:uFillTx/>
                <a:latin typeface="Aptos" panose="020B0004020202020204"/>
                <a:ea typeface="+mn-ea"/>
                <a:cs typeface="+mn-cs"/>
              </a:rPr>
              <a:t>CRITICAL</a:t>
            </a:r>
          </a:p>
        </p:txBody>
      </p:sp>
      <p:sp>
        <p:nvSpPr>
          <p:cNvPr id="29" name="Rectangle 28"/>
          <p:cNvSpPr/>
          <p:nvPr/>
        </p:nvSpPr>
        <p:spPr>
          <a:xfrm>
            <a:off x="457200" y="2450592"/>
            <a:ext cx="594360" cy="493776"/>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30" name="TextBox 29"/>
          <p:cNvSpPr txBox="1"/>
          <p:nvPr/>
        </p:nvSpPr>
        <p:spPr>
          <a:xfrm>
            <a:off x="457200" y="2450592"/>
            <a:ext cx="594360" cy="493776"/>
          </a:xfrm>
          <a:prstGeom prst="rect">
            <a:avLst/>
          </a:prstGeom>
          <a:noFill/>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700" b="1" i="0" u="none" strike="noStrike" kern="1200" cap="none" spc="0" normalizeH="0" baseline="0" noProof="0">
                <a:ln>
                  <a:noFill/>
                </a:ln>
                <a:solidFill>
                  <a:srgbClr val="FFFFFF"/>
                </a:solidFill>
                <a:effectLst/>
                <a:uLnTx/>
                <a:uFillTx/>
                <a:latin typeface="Helvetica Neue"/>
                <a:ea typeface="+mn-ea"/>
                <a:cs typeface="+mn-cs"/>
              </a:rPr>
              <a:t>CHANNELS  ·  HOW IT ARRIVES</a:t>
            </a:r>
          </a:p>
        </p:txBody>
      </p:sp>
      <p:sp>
        <p:nvSpPr>
          <p:cNvPr id="31" name="Rectangle 30"/>
          <p:cNvSpPr/>
          <p:nvPr/>
        </p:nvSpPr>
        <p:spPr>
          <a:xfrm>
            <a:off x="1097280" y="2450592"/>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32" name="TextBox 31"/>
          <p:cNvSpPr txBox="1"/>
          <p:nvPr/>
        </p:nvSpPr>
        <p:spPr>
          <a:xfrm>
            <a:off x="1188720" y="2496312"/>
            <a:ext cx="1984248" cy="402336"/>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Helvetica Neue"/>
                <a:ea typeface="+mn-ea"/>
                <a:cs typeface="+mn-cs"/>
              </a:rPr>
              <a:t>EMAILS only — from business AND from vendor; no ticketing</a:t>
            </a:r>
          </a:p>
        </p:txBody>
      </p:sp>
      <p:sp>
        <p:nvSpPr>
          <p:cNvPr id="33" name="Rectangle 32"/>
          <p:cNvSpPr/>
          <p:nvPr/>
        </p:nvSpPr>
        <p:spPr>
          <a:xfrm>
            <a:off x="3319272" y="2450592"/>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34" name="TextBox 33"/>
          <p:cNvSpPr txBox="1"/>
          <p:nvPr/>
        </p:nvSpPr>
        <p:spPr>
          <a:xfrm>
            <a:off x="3410712" y="2496312"/>
            <a:ext cx="1984248" cy="402336"/>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Helvetica Neue"/>
                <a:ea typeface="+mn-ea"/>
                <a:cs typeface="+mn-cs"/>
              </a:rPr>
              <a:t>Ad-hoc by demand nature; depends on upgrade type</a:t>
            </a:r>
          </a:p>
        </p:txBody>
      </p:sp>
      <p:sp>
        <p:nvSpPr>
          <p:cNvPr id="35" name="Rectangle 34"/>
          <p:cNvSpPr/>
          <p:nvPr/>
        </p:nvSpPr>
        <p:spPr>
          <a:xfrm>
            <a:off x="5541264" y="2450592"/>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36" name="TextBox 35"/>
          <p:cNvSpPr txBox="1"/>
          <p:nvPr/>
        </p:nvSpPr>
        <p:spPr>
          <a:xfrm>
            <a:off x="5632704" y="2496312"/>
            <a:ext cx="1984248" cy="402336"/>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Helvetica Neue"/>
                <a:ea typeface="+mn-ea"/>
                <a:cs typeface="+mn-cs"/>
              </a:rPr>
              <a:t>Andrew's internal call — operational = urgent</a:t>
            </a:r>
          </a:p>
        </p:txBody>
      </p:sp>
      <p:sp>
        <p:nvSpPr>
          <p:cNvPr id="37" name="Rectangle 36"/>
          <p:cNvSpPr/>
          <p:nvPr/>
        </p:nvSpPr>
        <p:spPr>
          <a:xfrm>
            <a:off x="7763256" y="2450592"/>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38" name="TextBox 37"/>
          <p:cNvSpPr txBox="1"/>
          <p:nvPr/>
        </p:nvSpPr>
        <p:spPr>
          <a:xfrm>
            <a:off x="7854696" y="2496312"/>
            <a:ext cx="1984248" cy="402336"/>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Helvetica Neue"/>
                <a:ea typeface="+mn-ea"/>
                <a:cs typeface="+mn-cs"/>
              </a:rPr>
              <a:t>Vendor sets its own timeline; upgrades need budget/time eval</a:t>
            </a:r>
          </a:p>
        </p:txBody>
      </p:sp>
      <p:sp>
        <p:nvSpPr>
          <p:cNvPr id="39" name="Rectangle 38"/>
          <p:cNvSpPr/>
          <p:nvPr/>
        </p:nvSpPr>
        <p:spPr>
          <a:xfrm>
            <a:off x="9985248" y="2450592"/>
            <a:ext cx="1746504"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40" name="TextBox 39"/>
          <p:cNvSpPr txBox="1"/>
          <p:nvPr/>
        </p:nvSpPr>
        <p:spPr>
          <a:xfrm>
            <a:off x="10076688" y="2496312"/>
            <a:ext cx="1655064" cy="291939"/>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Helvetica Neue"/>
                <a:ea typeface="+mn-ea"/>
                <a:cs typeface="+mn-cs"/>
              </a:rPr>
              <a:t>Vendor-led delivery; competing priorities without triage</a:t>
            </a:r>
          </a:p>
        </p:txBody>
      </p:sp>
      <p:sp>
        <p:nvSpPr>
          <p:cNvPr id="41" name="Rectangle 40"/>
          <p:cNvSpPr/>
          <p:nvPr/>
        </p:nvSpPr>
        <p:spPr>
          <a:xfrm>
            <a:off x="457200" y="2980944"/>
            <a:ext cx="594360" cy="493776"/>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42" name="TextBox 41"/>
          <p:cNvSpPr txBox="1"/>
          <p:nvPr/>
        </p:nvSpPr>
        <p:spPr>
          <a:xfrm>
            <a:off x="457200" y="2980944"/>
            <a:ext cx="594360" cy="493776"/>
          </a:xfrm>
          <a:prstGeom prst="rect">
            <a:avLst/>
          </a:prstGeom>
          <a:noFill/>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700" b="1" i="0" u="none" strike="noStrike" kern="1200" cap="none" spc="0" normalizeH="0" baseline="0" noProof="0">
                <a:ln>
                  <a:noFill/>
                </a:ln>
                <a:solidFill>
                  <a:srgbClr val="FFFFFF"/>
                </a:solidFill>
                <a:effectLst/>
                <a:uLnTx/>
                <a:uFillTx/>
                <a:latin typeface="Helvetica Neue"/>
                <a:ea typeface="+mn-ea"/>
                <a:cs typeface="+mn-cs"/>
              </a:rPr>
              <a:t>ROLES</a:t>
            </a:r>
          </a:p>
        </p:txBody>
      </p:sp>
      <p:sp>
        <p:nvSpPr>
          <p:cNvPr id="43" name="Rectangle 42"/>
          <p:cNvSpPr/>
          <p:nvPr/>
        </p:nvSpPr>
        <p:spPr>
          <a:xfrm>
            <a:off x="1097280" y="2980944"/>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44" name="TextBox 43"/>
          <p:cNvSpPr txBox="1"/>
          <p:nvPr/>
        </p:nvSpPr>
        <p:spPr>
          <a:xfrm>
            <a:off x="1188720" y="3026664"/>
            <a:ext cx="1984248" cy="402336"/>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Helvetica Neue"/>
                <a:ea typeface="+mn-ea"/>
                <a:cs typeface="+mn-cs"/>
              </a:rPr>
              <a:t>Business + vendor send email → Andrew receives</a:t>
            </a:r>
          </a:p>
        </p:txBody>
      </p:sp>
      <p:sp>
        <p:nvSpPr>
          <p:cNvPr id="45" name="Rectangle 44"/>
          <p:cNvSpPr/>
          <p:nvPr/>
        </p:nvSpPr>
        <p:spPr>
          <a:xfrm>
            <a:off x="3319272" y="2980944"/>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46" name="TextBox 45"/>
          <p:cNvSpPr txBox="1"/>
          <p:nvPr/>
        </p:nvSpPr>
        <p:spPr>
          <a:xfrm>
            <a:off x="3410712" y="3026664"/>
            <a:ext cx="1984248" cy="402336"/>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Helvetica Neue"/>
                <a:ea typeface="+mn-ea"/>
                <a:cs typeface="+mn-cs"/>
              </a:rPr>
              <a:t>Andrew alone classifies — no second reviewer</a:t>
            </a:r>
          </a:p>
        </p:txBody>
      </p:sp>
      <p:sp>
        <p:nvSpPr>
          <p:cNvPr id="47" name="Rectangle 46"/>
          <p:cNvSpPr/>
          <p:nvPr/>
        </p:nvSpPr>
        <p:spPr>
          <a:xfrm>
            <a:off x="5541264" y="2980944"/>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48" name="TextBox 47"/>
          <p:cNvSpPr txBox="1"/>
          <p:nvPr/>
        </p:nvSpPr>
        <p:spPr>
          <a:xfrm>
            <a:off x="5632704" y="3026664"/>
            <a:ext cx="1984248" cy="402336"/>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Helvetica Neue"/>
                <a:ea typeface="+mn-ea"/>
                <a:cs typeface="+mn-cs"/>
              </a:rPr>
              <a:t>Andrew prioritizes; cyber / legal / third-party weighted</a:t>
            </a:r>
          </a:p>
        </p:txBody>
      </p:sp>
      <p:sp>
        <p:nvSpPr>
          <p:cNvPr id="49" name="Rectangle 48"/>
          <p:cNvSpPr/>
          <p:nvPr/>
        </p:nvSpPr>
        <p:spPr>
          <a:xfrm>
            <a:off x="7763256" y="2980944"/>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50" name="TextBox 49"/>
          <p:cNvSpPr txBox="1"/>
          <p:nvPr/>
        </p:nvSpPr>
        <p:spPr>
          <a:xfrm>
            <a:off x="7854696" y="3026664"/>
            <a:ext cx="1984248" cy="402336"/>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Helvetica Neue"/>
                <a:ea typeface="+mn-ea"/>
                <a:cs typeface="+mn-cs"/>
              </a:rPr>
              <a:t>Vendor owns timeline; Andrew tracks manually</a:t>
            </a:r>
          </a:p>
        </p:txBody>
      </p:sp>
      <p:sp>
        <p:nvSpPr>
          <p:cNvPr id="51" name="Rectangle 50"/>
          <p:cNvSpPr/>
          <p:nvPr/>
        </p:nvSpPr>
        <p:spPr>
          <a:xfrm>
            <a:off x="9985248" y="2980944"/>
            <a:ext cx="1746504"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52" name="TextBox 51"/>
          <p:cNvSpPr txBox="1"/>
          <p:nvPr/>
        </p:nvSpPr>
        <p:spPr>
          <a:xfrm>
            <a:off x="10076688" y="3026664"/>
            <a:ext cx="1655064" cy="291939"/>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Helvetica Neue"/>
                <a:ea typeface="+mn-ea"/>
                <a:cs typeface="+mn-cs"/>
              </a:rPr>
              <a:t>Vendor + Andrew; no internal release role</a:t>
            </a:r>
          </a:p>
        </p:txBody>
      </p:sp>
      <p:sp>
        <p:nvSpPr>
          <p:cNvPr id="53" name="Rectangle 52"/>
          <p:cNvSpPr/>
          <p:nvPr/>
        </p:nvSpPr>
        <p:spPr>
          <a:xfrm>
            <a:off x="457200" y="3511296"/>
            <a:ext cx="594360" cy="493776"/>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54" name="TextBox 53"/>
          <p:cNvSpPr txBox="1"/>
          <p:nvPr/>
        </p:nvSpPr>
        <p:spPr>
          <a:xfrm>
            <a:off x="457200" y="3511296"/>
            <a:ext cx="594360" cy="493776"/>
          </a:xfrm>
          <a:prstGeom prst="rect">
            <a:avLst/>
          </a:prstGeom>
          <a:noFill/>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700" b="1" i="0" u="none" strike="noStrike" kern="1200" cap="none" spc="0" normalizeH="0" baseline="0" noProof="0">
                <a:ln>
                  <a:noFill/>
                </a:ln>
                <a:solidFill>
                  <a:srgbClr val="FFFFFF"/>
                </a:solidFill>
                <a:effectLst/>
                <a:uLnTx/>
                <a:uFillTx/>
                <a:latin typeface="Helvetica Neue"/>
                <a:ea typeface="+mn-ea"/>
                <a:cs typeface="+mn-cs"/>
              </a:rPr>
              <a:t>TOOLS</a:t>
            </a:r>
          </a:p>
        </p:txBody>
      </p:sp>
      <p:sp>
        <p:nvSpPr>
          <p:cNvPr id="55" name="Rectangle 54"/>
          <p:cNvSpPr/>
          <p:nvPr/>
        </p:nvSpPr>
        <p:spPr>
          <a:xfrm>
            <a:off x="1097280" y="3511296"/>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56" name="TextBox 55"/>
          <p:cNvSpPr txBox="1"/>
          <p:nvPr/>
        </p:nvSpPr>
        <p:spPr>
          <a:xfrm>
            <a:off x="1188720" y="3557016"/>
            <a:ext cx="1984248" cy="402336"/>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Helvetica Neue"/>
                <a:ea typeface="+mn-ea"/>
                <a:cs typeface="+mn-cs"/>
              </a:rPr>
              <a:t>Email (Outlook) — no Jira, no IT-Now, no RITM</a:t>
            </a:r>
          </a:p>
        </p:txBody>
      </p:sp>
      <p:sp>
        <p:nvSpPr>
          <p:cNvPr id="57" name="Rectangle 56"/>
          <p:cNvSpPr/>
          <p:nvPr/>
        </p:nvSpPr>
        <p:spPr>
          <a:xfrm>
            <a:off x="3319272" y="3511296"/>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58" name="TextBox 57"/>
          <p:cNvSpPr txBox="1"/>
          <p:nvPr/>
        </p:nvSpPr>
        <p:spPr>
          <a:xfrm>
            <a:off x="3410712" y="3557016"/>
            <a:ext cx="1984248" cy="402336"/>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Helvetica Neue"/>
                <a:ea typeface="+mn-ea"/>
                <a:cs typeface="+mn-cs"/>
              </a:rPr>
              <a:t>Email threads as the classification evidence</a:t>
            </a:r>
          </a:p>
        </p:txBody>
      </p:sp>
      <p:sp>
        <p:nvSpPr>
          <p:cNvPr id="59" name="Rectangle 58"/>
          <p:cNvSpPr/>
          <p:nvPr/>
        </p:nvSpPr>
        <p:spPr>
          <a:xfrm>
            <a:off x="5541264" y="3511296"/>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60" name="TextBox 59"/>
          <p:cNvSpPr txBox="1"/>
          <p:nvPr/>
        </p:nvSpPr>
        <p:spPr>
          <a:xfrm>
            <a:off x="5632704" y="3557016"/>
            <a:ext cx="1984248" cy="402336"/>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Helvetica Neue"/>
                <a:ea typeface="+mn-ea"/>
                <a:cs typeface="+mn-cs"/>
              </a:rPr>
              <a:t>No scoring tool — judgment call</a:t>
            </a:r>
          </a:p>
        </p:txBody>
      </p:sp>
      <p:sp>
        <p:nvSpPr>
          <p:cNvPr id="61" name="Rectangle 60"/>
          <p:cNvSpPr/>
          <p:nvPr/>
        </p:nvSpPr>
        <p:spPr>
          <a:xfrm>
            <a:off x="7763256" y="3511296"/>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62" name="TextBox 61"/>
          <p:cNvSpPr txBox="1"/>
          <p:nvPr/>
        </p:nvSpPr>
        <p:spPr>
          <a:xfrm>
            <a:off x="7854696" y="3557016"/>
            <a:ext cx="1984248" cy="402336"/>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Helvetica Neue"/>
                <a:ea typeface="+mn-ea"/>
                <a:cs typeface="+mn-cs"/>
              </a:rPr>
              <a:t>No portfolio tool in use</a:t>
            </a:r>
          </a:p>
        </p:txBody>
      </p:sp>
      <p:sp>
        <p:nvSpPr>
          <p:cNvPr id="63" name="Rectangle 62"/>
          <p:cNvSpPr/>
          <p:nvPr/>
        </p:nvSpPr>
        <p:spPr>
          <a:xfrm>
            <a:off x="9985248" y="3511296"/>
            <a:ext cx="1746504"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64" name="TextBox 63"/>
          <p:cNvSpPr txBox="1"/>
          <p:nvPr/>
        </p:nvSpPr>
        <p:spPr>
          <a:xfrm>
            <a:off x="10076688" y="3557016"/>
            <a:ext cx="1655064" cy="291939"/>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Helvetica Neue"/>
                <a:ea typeface="+mn-ea"/>
                <a:cs typeface="+mn-cs"/>
              </a:rPr>
              <a:t>No delivery tooling — vendor runs its own stack</a:t>
            </a:r>
          </a:p>
        </p:txBody>
      </p:sp>
      <p:sp>
        <p:nvSpPr>
          <p:cNvPr id="65" name="Rectangle 64"/>
          <p:cNvSpPr/>
          <p:nvPr/>
        </p:nvSpPr>
        <p:spPr>
          <a:xfrm>
            <a:off x="457200" y="4041648"/>
            <a:ext cx="594360" cy="493776"/>
          </a:xfrm>
          <a:prstGeom prst="rect">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66" name="TextBox 65"/>
          <p:cNvSpPr txBox="1"/>
          <p:nvPr/>
        </p:nvSpPr>
        <p:spPr>
          <a:xfrm>
            <a:off x="457200" y="4191266"/>
            <a:ext cx="594360" cy="194540"/>
          </a:xfrm>
          <a:prstGeom prst="rect">
            <a:avLst/>
          </a:prstGeom>
          <a:noFill/>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600" b="1" i="0" u="none" strike="noStrike" kern="1200" cap="none" spc="0" normalizeH="0" baseline="0" noProof="0">
                <a:ln>
                  <a:noFill/>
                </a:ln>
                <a:solidFill>
                  <a:srgbClr val="FFFFFF"/>
                </a:solidFill>
                <a:effectLst/>
                <a:uLnTx/>
                <a:uFillTx/>
                <a:latin typeface="Helvetica Neue"/>
                <a:ea typeface="+mn-ea"/>
                <a:cs typeface="+mn-cs"/>
              </a:rPr>
              <a:t>GOVERNANCE  &amp;  METRICS</a:t>
            </a:r>
          </a:p>
        </p:txBody>
      </p:sp>
      <p:sp>
        <p:nvSpPr>
          <p:cNvPr id="67" name="Rectangle 66"/>
          <p:cNvSpPr/>
          <p:nvPr/>
        </p:nvSpPr>
        <p:spPr>
          <a:xfrm>
            <a:off x="1097280" y="4041648"/>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68" name="TextBox 67"/>
          <p:cNvSpPr txBox="1"/>
          <p:nvPr/>
        </p:nvSpPr>
        <p:spPr>
          <a:xfrm>
            <a:off x="1188720" y="4087368"/>
            <a:ext cx="1984248" cy="402336"/>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Helvetica Neue"/>
                <a:ea typeface="+mn-ea"/>
                <a:cs typeface="+mn-cs"/>
              </a:rPr>
              <a:t>Zero digital trail; volumes unknown; single-person dependency</a:t>
            </a:r>
          </a:p>
        </p:txBody>
      </p:sp>
      <p:sp>
        <p:nvSpPr>
          <p:cNvPr id="69" name="Rectangle 68"/>
          <p:cNvSpPr/>
          <p:nvPr/>
        </p:nvSpPr>
        <p:spPr>
          <a:xfrm>
            <a:off x="3319272" y="4041648"/>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70" name="TextBox 69"/>
          <p:cNvSpPr txBox="1"/>
          <p:nvPr/>
        </p:nvSpPr>
        <p:spPr>
          <a:xfrm>
            <a:off x="3410712" y="4087368"/>
            <a:ext cx="1984248" cy="402336"/>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Helvetica Neue"/>
                <a:ea typeface="+mn-ea"/>
                <a:cs typeface="+mn-cs"/>
              </a:rPr>
              <a:t>No written rule; no audit trail</a:t>
            </a:r>
          </a:p>
        </p:txBody>
      </p:sp>
      <p:sp>
        <p:nvSpPr>
          <p:cNvPr id="71" name="Rectangle 70"/>
          <p:cNvSpPr/>
          <p:nvPr/>
        </p:nvSpPr>
        <p:spPr>
          <a:xfrm>
            <a:off x="5541264" y="4041648"/>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72" name="TextBox 71"/>
          <p:cNvSpPr txBox="1"/>
          <p:nvPr/>
        </p:nvSpPr>
        <p:spPr>
          <a:xfrm>
            <a:off x="5632704" y="4087368"/>
            <a:ext cx="1984248" cy="402336"/>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Helvetica Neue"/>
                <a:ea typeface="+mn-ea"/>
                <a:cs typeface="+mn-cs"/>
              </a:rPr>
              <a:t>Key-person risk — Andrew = only router</a:t>
            </a:r>
          </a:p>
        </p:txBody>
      </p:sp>
      <p:sp>
        <p:nvSpPr>
          <p:cNvPr id="73" name="Rectangle 72"/>
          <p:cNvSpPr/>
          <p:nvPr/>
        </p:nvSpPr>
        <p:spPr>
          <a:xfrm>
            <a:off x="7763256" y="4041648"/>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74" name="TextBox 73"/>
          <p:cNvSpPr txBox="1"/>
          <p:nvPr/>
        </p:nvSpPr>
        <p:spPr>
          <a:xfrm>
            <a:off x="7854696" y="4087368"/>
            <a:ext cx="1984248" cy="402336"/>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Helvetica Neue"/>
                <a:ea typeface="+mn-ea"/>
                <a:cs typeface="+mn-cs"/>
              </a:rPr>
              <a:t>Third-Party Risk gates upgrades; interface is slow</a:t>
            </a:r>
          </a:p>
        </p:txBody>
      </p:sp>
      <p:sp>
        <p:nvSpPr>
          <p:cNvPr id="75" name="Rectangle 74"/>
          <p:cNvSpPr/>
          <p:nvPr/>
        </p:nvSpPr>
        <p:spPr>
          <a:xfrm>
            <a:off x="9985248" y="4041648"/>
            <a:ext cx="1746504"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76" name="TextBox 75"/>
          <p:cNvSpPr txBox="1"/>
          <p:nvPr/>
        </p:nvSpPr>
        <p:spPr>
          <a:xfrm>
            <a:off x="10076688" y="4087368"/>
            <a:ext cx="1655064" cy="291939"/>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Helvetica Neue"/>
                <a:ea typeface="+mn-ea"/>
                <a:cs typeface="+mn-cs"/>
              </a:rPr>
              <a:t>Budget / time tension on every upgrade; no KPIs</a:t>
            </a:r>
          </a:p>
        </p:txBody>
      </p:sp>
      <p:sp>
        <p:nvSpPr>
          <p:cNvPr id="77" name="Rectangle 76"/>
          <p:cNvSpPr/>
          <p:nvPr/>
        </p:nvSpPr>
        <p:spPr>
          <a:xfrm>
            <a:off x="457200" y="4645152"/>
            <a:ext cx="11274552" cy="129844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78" name="Rectangle 77"/>
          <p:cNvSpPr/>
          <p:nvPr/>
        </p:nvSpPr>
        <p:spPr>
          <a:xfrm>
            <a:off x="457200" y="4645152"/>
            <a:ext cx="73152" cy="1298448"/>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79" name="TextBox 78"/>
          <p:cNvSpPr txBox="1"/>
          <p:nvPr/>
        </p:nvSpPr>
        <p:spPr>
          <a:xfrm>
            <a:off x="640080" y="4690872"/>
            <a:ext cx="5486400" cy="201168"/>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1" i="0" u="none" strike="noStrike" kern="1200" cap="none" spc="0" normalizeH="0" baseline="0" noProof="0">
                <a:ln>
                  <a:noFill/>
                </a:ln>
                <a:solidFill>
                  <a:srgbClr val="0F1C50"/>
                </a:solidFill>
                <a:effectLst/>
                <a:uLnTx/>
                <a:uFillTx/>
                <a:latin typeface="Helvetica Neue"/>
                <a:ea typeface="+mn-ea"/>
                <a:cs typeface="+mn-cs"/>
              </a:rPr>
              <a:t>KEY PATTERNS  —  WHAT THE FINDINGS REVEAL</a:t>
            </a:r>
          </a:p>
        </p:txBody>
      </p:sp>
      <p:sp>
        <p:nvSpPr>
          <p:cNvPr id="80" name="TextBox 79"/>
          <p:cNvSpPr txBox="1"/>
          <p:nvPr/>
        </p:nvSpPr>
        <p:spPr>
          <a:xfrm>
            <a:off x="6400800" y="4690872"/>
            <a:ext cx="5166360" cy="201168"/>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1" i="0" u="none" strike="noStrike" kern="1200" cap="none" spc="0" normalizeH="0" baseline="0" noProof="0">
                <a:ln>
                  <a:noFill/>
                </a:ln>
                <a:solidFill>
                  <a:srgbClr val="BC4328"/>
                </a:solidFill>
                <a:effectLst/>
                <a:uLnTx/>
                <a:uFillTx/>
                <a:latin typeface="Helvetica Neue"/>
                <a:ea typeface="+mn-ea"/>
                <a:cs typeface="+mn-cs"/>
              </a:rPr>
              <a:t>SUPPORTING QUOTE</a:t>
            </a:r>
          </a:p>
        </p:txBody>
      </p:sp>
      <p:sp>
        <p:nvSpPr>
          <p:cNvPr id="81" name="TextBox 80"/>
          <p:cNvSpPr txBox="1"/>
          <p:nvPr/>
        </p:nvSpPr>
        <p:spPr>
          <a:xfrm>
            <a:off x="6400800" y="4937760"/>
            <a:ext cx="5166360" cy="932688"/>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1" u="none" strike="noStrike" kern="1200" cap="none" spc="0" normalizeH="0" baseline="0" noProof="0">
                <a:ln>
                  <a:noFill/>
                </a:ln>
                <a:solidFill>
                  <a:srgbClr val="2C3E50"/>
                </a:solidFill>
                <a:effectLst/>
                <a:uLnTx/>
                <a:uFillTx/>
                <a:latin typeface="Helvetica Neue"/>
                <a:ea typeface="+mn-ea"/>
                <a:cs typeface="+mn-cs"/>
              </a:rPr>
              <a:t>"I receive requests/input from the business or from the vendor" — Andrew McGibbon (via email)</a:t>
            </a:r>
          </a:p>
        </p:txBody>
      </p:sp>
      <p:sp>
        <p:nvSpPr>
          <p:cNvPr id="82" name="TextBox 81"/>
          <p:cNvSpPr txBox="1"/>
          <p:nvPr/>
        </p:nvSpPr>
        <p:spPr>
          <a:xfrm>
            <a:off x="640080" y="4937760"/>
            <a:ext cx="5486400" cy="932688"/>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Helvetica Neue"/>
                <a:ea typeface="+mn-ea"/>
                <a:cs typeface="+mn-cs"/>
              </a:rPr>
              <a:t>▸  Vendor-led model creates structural dependency: Avangrid cannot estimate or schedule its own work — budget/timeline are exogenous</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Helvetica Neue"/>
                <a:ea typeface="+mn-ea"/>
                <a:cs typeface="+mn-cs"/>
              </a:rPr>
              <a:t>▸  Third-party risk assessments add hidden lead time — upgrades routinely stall at this interface, invisible in any tracking system</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Helvetica Neue"/>
                <a:ea typeface="+mn-ea"/>
                <a:cs typeface="+mn-cs"/>
              </a:rPr>
              <a:t>▸  Single-person routing (Andrew) is a key-person risk — zero redundancy, zero documentation, zero auditability</a:t>
            </a:r>
          </a:p>
        </p:txBody>
      </p:sp>
      <p:sp>
        <p:nvSpPr>
          <p:cNvPr id="83" name="Rectangle 82"/>
          <p:cNvSpPr/>
          <p:nvPr/>
        </p:nvSpPr>
        <p:spPr>
          <a:xfrm>
            <a:off x="457200" y="5989320"/>
            <a:ext cx="11274552" cy="502920"/>
          </a:xfrm>
          <a:prstGeom prst="rect">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84" name="TextBox 83"/>
          <p:cNvSpPr txBox="1"/>
          <p:nvPr/>
        </p:nvSpPr>
        <p:spPr>
          <a:xfrm>
            <a:off x="685800" y="6035040"/>
            <a:ext cx="10817352" cy="411480"/>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Helvetica Neue"/>
                <a:ea typeface="+mn-ea"/>
                <a:cs typeface="+mn-cs"/>
              </a:rPr>
              <a:t>G&amp;E is the canary of intake fragmentation — zero digital trail, every decision is individual and unreproducible; must be the first area addressed in the TOM</a:t>
            </a:r>
          </a:p>
        </p:txBody>
      </p:sp>
      <p:sp>
        <p:nvSpPr>
          <p:cNvPr id="85" name="TextBox 84"/>
          <p:cNvSpPr txBox="1"/>
          <p:nvPr/>
        </p:nvSpPr>
        <p:spPr>
          <a:xfrm>
            <a:off x="9144000" y="6565392"/>
            <a:ext cx="2587752" cy="228600"/>
          </a:xfrm>
          <a:prstGeom prst="rect">
            <a:avLst/>
          </a:prstGeom>
          <a:noFill/>
        </p:spPr>
        <p:txBody>
          <a:bodyPr wrap="square" lIns="0" tIns="0" rIns="0" bIns="0" anchor="t">
            <a:spAutoFit/>
          </a:bodyPr>
          <a:lstStyle/>
          <a:p>
            <a:pPr marL="0" marR="0" lvl="0" indent="0" algn="r"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95A5A6"/>
                </a:solidFill>
                <a:effectLst/>
                <a:uLnTx/>
                <a:uFillTx/>
                <a:latin typeface="Helvetica Neue"/>
                <a:ea typeface="+mn-ea"/>
                <a:cs typeface="+mn-cs"/>
              </a:rPr>
              <a:t>Drill-down: G&amp;E / Electric &amp; Gas Operations  |  16 / 28</a:t>
            </a:r>
          </a:p>
        </p:txBody>
      </p:sp>
      <p:sp>
        <p:nvSpPr>
          <p:cNvPr id="86" name="Rounded Rectangle 85"/>
          <p:cNvSpPr/>
          <p:nvPr/>
        </p:nvSpPr>
        <p:spPr>
          <a:xfrm>
            <a:off x="457200" y="73152"/>
            <a:ext cx="1848612" cy="201168"/>
          </a:xfrm>
          <a:prstGeom prst="round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87" name="TextBox 86"/>
          <p:cNvSpPr txBox="1"/>
          <p:nvPr/>
        </p:nvSpPr>
        <p:spPr>
          <a:xfrm>
            <a:off x="457200" y="73152"/>
            <a:ext cx="1848612" cy="201168"/>
          </a:xfrm>
          <a:prstGeom prst="rect">
            <a:avLst/>
          </a:prstGeom>
          <a:noFill/>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700" b="0" i="0" u="none" strike="noStrike" kern="1200" cap="none" spc="0" normalizeH="0" baseline="0" noProof="0">
                <a:ln>
                  <a:noFill/>
                </a:ln>
                <a:solidFill>
                  <a:srgbClr val="95A5A6"/>
                </a:solidFill>
                <a:effectLst/>
                <a:uLnTx/>
                <a:uFillTx/>
                <a:latin typeface="Helvetica Neue"/>
                <a:ea typeface="+mn-ea"/>
                <a:cs typeface="+mn-cs"/>
              </a:rPr>
              <a:t>01 · EXECUTIVE SUMMARY</a:t>
            </a:r>
          </a:p>
        </p:txBody>
      </p:sp>
      <p:sp>
        <p:nvSpPr>
          <p:cNvPr id="88" name="Rounded Rectangle 87"/>
          <p:cNvSpPr/>
          <p:nvPr/>
        </p:nvSpPr>
        <p:spPr>
          <a:xfrm>
            <a:off x="2342388" y="73152"/>
            <a:ext cx="1848612" cy="201168"/>
          </a:xfrm>
          <a:prstGeom prst="round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89" name="TextBox 88"/>
          <p:cNvSpPr txBox="1"/>
          <p:nvPr/>
        </p:nvSpPr>
        <p:spPr>
          <a:xfrm>
            <a:off x="2342388" y="73152"/>
            <a:ext cx="1848612" cy="201168"/>
          </a:xfrm>
          <a:prstGeom prst="rect">
            <a:avLst/>
          </a:prstGeom>
          <a:noFill/>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700" b="0" i="0" u="none" strike="noStrike" kern="1200" cap="none" spc="0" normalizeH="0" baseline="0" noProof="0">
                <a:ln>
                  <a:noFill/>
                </a:ln>
                <a:solidFill>
                  <a:srgbClr val="95A5A6"/>
                </a:solidFill>
                <a:effectLst/>
                <a:uLnTx/>
                <a:uFillTx/>
                <a:latin typeface="Helvetica Neue"/>
                <a:ea typeface="+mn-ea"/>
                <a:cs typeface="+mn-cs"/>
              </a:rPr>
              <a:t>02 · ORGANIZATION</a:t>
            </a:r>
          </a:p>
        </p:txBody>
      </p:sp>
      <p:sp>
        <p:nvSpPr>
          <p:cNvPr id="90" name="Rounded Rectangle 89"/>
          <p:cNvSpPr/>
          <p:nvPr/>
        </p:nvSpPr>
        <p:spPr>
          <a:xfrm>
            <a:off x="4227576" y="73152"/>
            <a:ext cx="1848612" cy="201168"/>
          </a:xfrm>
          <a:prstGeom prst="round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91" name="TextBox 90"/>
          <p:cNvSpPr txBox="1"/>
          <p:nvPr/>
        </p:nvSpPr>
        <p:spPr>
          <a:xfrm>
            <a:off x="4227576" y="73152"/>
            <a:ext cx="1848612" cy="201168"/>
          </a:xfrm>
          <a:prstGeom prst="rect">
            <a:avLst/>
          </a:prstGeom>
          <a:noFill/>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700" b="1" i="0" u="none" strike="noStrike" kern="1200" cap="none" spc="0" normalizeH="0" baseline="0" noProof="0">
                <a:ln>
                  <a:noFill/>
                </a:ln>
                <a:solidFill>
                  <a:srgbClr val="FFFFFF"/>
                </a:solidFill>
                <a:effectLst/>
                <a:uLnTx/>
                <a:uFillTx/>
                <a:latin typeface="Helvetica Neue"/>
                <a:ea typeface="+mn-ea"/>
                <a:cs typeface="+mn-cs"/>
              </a:rPr>
              <a:t>03 · DEMAND FLOW</a:t>
            </a:r>
          </a:p>
        </p:txBody>
      </p:sp>
      <p:sp>
        <p:nvSpPr>
          <p:cNvPr id="92" name="Rounded Rectangle 91"/>
          <p:cNvSpPr/>
          <p:nvPr/>
        </p:nvSpPr>
        <p:spPr>
          <a:xfrm>
            <a:off x="6112764" y="73152"/>
            <a:ext cx="1848612" cy="201168"/>
          </a:xfrm>
          <a:prstGeom prst="round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93" name="TextBox 92"/>
          <p:cNvSpPr txBox="1"/>
          <p:nvPr/>
        </p:nvSpPr>
        <p:spPr>
          <a:xfrm>
            <a:off x="6112764" y="73152"/>
            <a:ext cx="1848612" cy="201168"/>
          </a:xfrm>
          <a:prstGeom prst="rect">
            <a:avLst/>
          </a:prstGeom>
          <a:noFill/>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700" b="0" i="0" u="none" strike="noStrike" kern="1200" cap="none" spc="0" normalizeH="0" baseline="0" noProof="0">
                <a:ln>
                  <a:noFill/>
                </a:ln>
                <a:solidFill>
                  <a:srgbClr val="95A5A6"/>
                </a:solidFill>
                <a:effectLst/>
                <a:uLnTx/>
                <a:uFillTx/>
                <a:latin typeface="Helvetica Neue"/>
                <a:ea typeface="+mn-ea"/>
                <a:cs typeface="+mn-cs"/>
              </a:rPr>
              <a:t>04 · CAPACITY &amp; PORTFOLIO</a:t>
            </a:r>
          </a:p>
        </p:txBody>
      </p:sp>
      <p:sp>
        <p:nvSpPr>
          <p:cNvPr id="94" name="Rounded Rectangle 93"/>
          <p:cNvSpPr/>
          <p:nvPr/>
        </p:nvSpPr>
        <p:spPr>
          <a:xfrm>
            <a:off x="7997952" y="73152"/>
            <a:ext cx="1848612" cy="201168"/>
          </a:xfrm>
          <a:prstGeom prst="round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95" name="TextBox 94"/>
          <p:cNvSpPr txBox="1"/>
          <p:nvPr/>
        </p:nvSpPr>
        <p:spPr>
          <a:xfrm>
            <a:off x="7997952" y="73152"/>
            <a:ext cx="1848612" cy="201168"/>
          </a:xfrm>
          <a:prstGeom prst="rect">
            <a:avLst/>
          </a:prstGeom>
          <a:noFill/>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700" b="0" i="0" u="none" strike="noStrike" kern="1200" cap="none" spc="0" normalizeH="0" baseline="0" noProof="0">
                <a:ln>
                  <a:noFill/>
                </a:ln>
                <a:solidFill>
                  <a:srgbClr val="95A5A6"/>
                </a:solidFill>
                <a:effectLst/>
                <a:uLnTx/>
                <a:uFillTx/>
                <a:latin typeface="Helvetica Neue"/>
                <a:ea typeface="+mn-ea"/>
                <a:cs typeface="+mn-cs"/>
              </a:rPr>
              <a:t>05 · PAIN POINTS</a:t>
            </a:r>
          </a:p>
        </p:txBody>
      </p:sp>
      <p:sp>
        <p:nvSpPr>
          <p:cNvPr id="96" name="Rounded Rectangle 95"/>
          <p:cNvSpPr/>
          <p:nvPr/>
        </p:nvSpPr>
        <p:spPr>
          <a:xfrm>
            <a:off x="9883140" y="73152"/>
            <a:ext cx="1848612" cy="201168"/>
          </a:xfrm>
          <a:prstGeom prst="round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97" name="TextBox 96"/>
          <p:cNvSpPr txBox="1"/>
          <p:nvPr/>
        </p:nvSpPr>
        <p:spPr>
          <a:xfrm>
            <a:off x="9883140" y="73152"/>
            <a:ext cx="1848612" cy="201168"/>
          </a:xfrm>
          <a:prstGeom prst="rect">
            <a:avLst/>
          </a:prstGeom>
          <a:noFill/>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700" b="0" i="0" u="none" strike="noStrike" kern="1200" cap="none" spc="0" normalizeH="0" baseline="0" noProof="0">
                <a:ln>
                  <a:noFill/>
                </a:ln>
                <a:solidFill>
                  <a:srgbClr val="95A5A6"/>
                </a:solidFill>
                <a:effectLst/>
                <a:uLnTx/>
                <a:uFillTx/>
                <a:latin typeface="Helvetica Neue"/>
                <a:ea typeface="+mn-ea"/>
                <a:cs typeface="+mn-cs"/>
              </a:rPr>
              <a:t>06 · INSIGHTS &amp; TOM</a:t>
            </a:r>
          </a:p>
        </p:txBody>
      </p:sp>
      <p:sp>
        <p:nvSpPr>
          <p:cNvPr id="98" name="Rectángulo 97">
            <a:extLst>
              <a:ext uri="{FF2B5EF4-FFF2-40B4-BE49-F238E27FC236}">
                <a16:creationId xmlns:a16="http://schemas.microsoft.com/office/drawing/2014/main" id="{3AD39577-9B7C-9F05-2F42-EC6083783704}"/>
              </a:ext>
            </a:extLst>
          </p:cNvPr>
          <p:cNvSpPr/>
          <p:nvPr/>
        </p:nvSpPr>
        <p:spPr>
          <a:xfrm>
            <a:off x="12070319" y="2621280"/>
            <a:ext cx="2102643" cy="304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Aptos" panose="020B0004020202020204"/>
                <a:ea typeface="+mn-ea"/>
                <a:cs typeface="+mn-cs"/>
              </a:rPr>
              <a:t>Why are </a:t>
            </a:r>
            <a:r>
              <a:rPr kumimoji="0" lang="en-US" sz="1800" b="0" i="0" u="none" strike="noStrike" kern="1200" cap="none" spc="0" normalizeH="0" baseline="0" noProof="0" err="1">
                <a:ln>
                  <a:noFill/>
                </a:ln>
                <a:solidFill>
                  <a:prstClr val="white"/>
                </a:solidFill>
                <a:effectLst/>
                <a:uLnTx/>
                <a:uFillTx/>
                <a:latin typeface="Aptos" panose="020B0004020202020204"/>
                <a:ea typeface="+mn-ea"/>
                <a:cs typeface="+mn-cs"/>
              </a:rPr>
              <a:t>tehre</a:t>
            </a:r>
            <a:r>
              <a:rPr kumimoji="0" lang="en-US" sz="1800" b="0" i="0" u="none" strike="noStrike" kern="1200" cap="none" spc="0" normalizeH="0" baseline="0" noProof="0">
                <a:ln>
                  <a:noFill/>
                </a:ln>
                <a:solidFill>
                  <a:prstClr val="white"/>
                </a:solidFill>
                <a:effectLst/>
                <a:uLnTx/>
                <a:uFillTx/>
                <a:latin typeface="Aptos" panose="020B0004020202020204"/>
                <a:ea typeface="+mn-ea"/>
                <a:cs typeface="+mn-cs"/>
              </a:rPr>
              <a:t> two </a:t>
            </a:r>
            <a:r>
              <a:rPr kumimoji="0" lang="en-US" sz="1800" b="0" i="0" u="none" strike="noStrike" kern="1200" cap="none" spc="0" normalizeH="0" baseline="0" noProof="0" err="1">
                <a:ln>
                  <a:noFill/>
                </a:ln>
                <a:solidFill>
                  <a:prstClr val="white"/>
                </a:solidFill>
                <a:effectLst/>
                <a:uLnTx/>
                <a:uFillTx/>
                <a:latin typeface="Aptos" panose="020B0004020202020204"/>
                <a:ea typeface="+mn-ea"/>
                <a:cs typeface="+mn-cs"/>
              </a:rPr>
              <a:t>diferente</a:t>
            </a:r>
            <a:r>
              <a:rPr kumimoji="0" lang="en-US" sz="1800" b="0" i="0" u="none" strike="noStrike" kern="1200" cap="none" spc="0" normalizeH="0" baseline="0" noProof="0">
                <a:ln>
                  <a:noFill/>
                </a:ln>
                <a:solidFill>
                  <a:prstClr val="white"/>
                </a:solidFill>
                <a:effectLst/>
                <a:uLnTx/>
                <a:uFillTx/>
                <a:latin typeface="Aptos" panose="020B0004020202020204"/>
                <a:ea typeface="+mn-ea"/>
                <a:cs typeface="+mn-cs"/>
              </a:rPr>
              <a:t> versions for G&amp;E</a:t>
            </a:r>
          </a:p>
        </p:txBody>
      </p:sp>
    </p:spTree>
    <p:extLst>
      <p:ext uri="{BB962C8B-B14F-4D97-AF65-F5344CB8AC3E}">
        <p14:creationId xmlns:p14="http://schemas.microsoft.com/office/powerpoint/2010/main" val="397099747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B9B09DB-2687-F71A-11FC-F5702610A0B3}"/>
            </a:ext>
          </a:extLst>
        </p:cNvPr>
        <p:cNvGrpSpPr/>
        <p:nvPr/>
      </p:nvGrpSpPr>
      <p:grpSpPr>
        <a:xfrm>
          <a:off x="0" y="0"/>
          <a:ext cx="0" cy="0"/>
          <a:chOff x="0" y="0"/>
          <a:chExt cx="0" cy="0"/>
        </a:xfrm>
      </p:grpSpPr>
      <p:sp>
        <p:nvSpPr>
          <p:cNvPr id="5" name="Título 2">
            <a:extLst>
              <a:ext uri="{FF2B5EF4-FFF2-40B4-BE49-F238E27FC236}">
                <a16:creationId xmlns:a16="http://schemas.microsoft.com/office/drawing/2014/main" id="{50CCA059-D4BC-049C-B320-E9AEDD9A18FB}"/>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r>
              <a:rPr lang="en-US" sz="2400" noProof="0">
                <a:latin typeface="Arial" panose="020B0604020202020204" pitchFamily="34" charset="0"/>
                <a:cs typeface="Arial" panose="020B0604020202020204" pitchFamily="34" charset="0"/>
              </a:rPr>
              <a:t>CURRENT STATE ANALYSIS</a:t>
            </a:r>
          </a:p>
          <a:p>
            <a:r>
              <a:rPr lang="en-US" sz="1200" noProof="0">
                <a:latin typeface="Arial" panose="020B0604020202020204" pitchFamily="34" charset="0"/>
                <a:cs typeface="Arial" panose="020B0604020202020204" pitchFamily="34" charset="0"/>
              </a:rPr>
              <a:t>VALUE STREAM MAPPING - DEMAND FLOW</a:t>
            </a:r>
          </a:p>
        </p:txBody>
      </p:sp>
      <p:sp>
        <p:nvSpPr>
          <p:cNvPr id="2" name="Rectangle 28">
            <a:extLst>
              <a:ext uri="{FF2B5EF4-FFF2-40B4-BE49-F238E27FC236}">
                <a16:creationId xmlns:a16="http://schemas.microsoft.com/office/drawing/2014/main" id="{A4706980-E769-451D-9BA9-EEE707BB8088}"/>
              </a:ext>
            </a:extLst>
          </p:cNvPr>
          <p:cNvSpPr/>
          <p:nvPr/>
        </p:nvSpPr>
        <p:spPr>
          <a:xfrm>
            <a:off x="-561976" y="1891049"/>
            <a:ext cx="504913" cy="354411"/>
          </a:xfrm>
          <a:prstGeom prst="rect">
            <a:avLst/>
          </a:prstGeom>
          <a:solidFill>
            <a:srgbClr val="0DA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6" name="Rectangle 40">
            <a:extLst>
              <a:ext uri="{FF2B5EF4-FFF2-40B4-BE49-F238E27FC236}">
                <a16:creationId xmlns:a16="http://schemas.microsoft.com/office/drawing/2014/main" id="{D8E3154D-6BD4-0C90-1F9F-1D46A29BD80C}"/>
              </a:ext>
            </a:extLst>
          </p:cNvPr>
          <p:cNvSpPr/>
          <p:nvPr/>
        </p:nvSpPr>
        <p:spPr>
          <a:xfrm>
            <a:off x="-561976" y="1450050"/>
            <a:ext cx="504913" cy="354411"/>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7" name="Rectangle 52">
            <a:extLst>
              <a:ext uri="{FF2B5EF4-FFF2-40B4-BE49-F238E27FC236}">
                <a16:creationId xmlns:a16="http://schemas.microsoft.com/office/drawing/2014/main" id="{1DA47530-2862-E7E5-484C-C76C39137D11}"/>
              </a:ext>
            </a:extLst>
          </p:cNvPr>
          <p:cNvSpPr/>
          <p:nvPr/>
        </p:nvSpPr>
        <p:spPr>
          <a:xfrm>
            <a:off x="-561976" y="1009051"/>
            <a:ext cx="504913" cy="354411"/>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8" name="Rectangle 64">
            <a:extLst>
              <a:ext uri="{FF2B5EF4-FFF2-40B4-BE49-F238E27FC236}">
                <a16:creationId xmlns:a16="http://schemas.microsoft.com/office/drawing/2014/main" id="{A7507785-C125-3595-E27E-B239AB32F8CD}"/>
              </a:ext>
            </a:extLst>
          </p:cNvPr>
          <p:cNvSpPr/>
          <p:nvPr/>
        </p:nvSpPr>
        <p:spPr>
          <a:xfrm>
            <a:off x="-561976" y="2332048"/>
            <a:ext cx="504913" cy="354411"/>
          </a:xfrm>
          <a:prstGeom prst="rect">
            <a:avLst/>
          </a:prstGeom>
          <a:solidFill>
            <a:schemeClr val="accent6">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0" name="Rectangle 64">
            <a:extLst>
              <a:ext uri="{FF2B5EF4-FFF2-40B4-BE49-F238E27FC236}">
                <a16:creationId xmlns:a16="http://schemas.microsoft.com/office/drawing/2014/main" id="{1F58BE3E-FA41-8E9A-9C3B-F92E71714292}"/>
              </a:ext>
            </a:extLst>
          </p:cNvPr>
          <p:cNvSpPr/>
          <p:nvPr/>
        </p:nvSpPr>
        <p:spPr>
          <a:xfrm>
            <a:off x="-561976" y="2773047"/>
            <a:ext cx="504913" cy="354411"/>
          </a:xfrm>
          <a:prstGeom prst="rect">
            <a:avLst/>
          </a:prstGeom>
          <a:solidFill>
            <a:srgbClr val="00A4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1" name="Rectangle 64">
            <a:extLst>
              <a:ext uri="{FF2B5EF4-FFF2-40B4-BE49-F238E27FC236}">
                <a16:creationId xmlns:a16="http://schemas.microsoft.com/office/drawing/2014/main" id="{745776F8-7B3E-0BC1-13FD-F8BCD40A9B1A}"/>
              </a:ext>
            </a:extLst>
          </p:cNvPr>
          <p:cNvSpPr/>
          <p:nvPr/>
        </p:nvSpPr>
        <p:spPr>
          <a:xfrm>
            <a:off x="-561976" y="3214046"/>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3" name="Rectangle 64">
            <a:extLst>
              <a:ext uri="{FF2B5EF4-FFF2-40B4-BE49-F238E27FC236}">
                <a16:creationId xmlns:a16="http://schemas.microsoft.com/office/drawing/2014/main" id="{B1F116A4-1933-11A7-2499-2A533CC17E8B}"/>
              </a:ext>
            </a:extLst>
          </p:cNvPr>
          <p:cNvSpPr/>
          <p:nvPr/>
        </p:nvSpPr>
        <p:spPr>
          <a:xfrm>
            <a:off x="-561976" y="3655047"/>
            <a:ext cx="504913" cy="354411"/>
          </a:xfrm>
          <a:prstGeom prst="rect">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65" name="TextBox 2">
            <a:extLst>
              <a:ext uri="{FF2B5EF4-FFF2-40B4-BE49-F238E27FC236}">
                <a16:creationId xmlns:a16="http://schemas.microsoft.com/office/drawing/2014/main" id="{F02AC771-9665-7AEC-96A3-821446E514F4}"/>
              </a:ext>
            </a:extLst>
          </p:cNvPr>
          <p:cNvSpPr txBox="1"/>
          <p:nvPr/>
        </p:nvSpPr>
        <p:spPr>
          <a:xfrm>
            <a:off x="457201" y="964799"/>
            <a:ext cx="11463124" cy="523220"/>
          </a:xfrm>
          <a:prstGeom prst="rect">
            <a:avLst/>
          </a:prstGeom>
          <a:noFill/>
        </p:spPr>
        <p:txBody>
          <a:bodyPr wrap="square" lIns="0" tIns="0" rIns="0" bIns="0" rtlCol="0">
            <a:noAutofit/>
          </a:bodyPr>
          <a:lstStyle>
            <a:defPPr>
              <a:defRPr lang="en-US"/>
            </a:defPPr>
            <a:lvl1pPr algn="just">
              <a:defRPr sz="1400" b="1">
                <a:solidFill>
                  <a:schemeClr val="accent4">
                    <a:lumMod val="75000"/>
                  </a:schemeClr>
                </a:solidFill>
                <a:latin typeface="Arial" panose="020B0604020202020204" pitchFamily="34" charset="0"/>
                <a:cs typeface="Arial" panose="020B0604020202020204" pitchFamily="34" charset="0"/>
              </a:defRPr>
            </a:lvl1pPr>
            <a:lvl2pPr marL="228586" algn="l" rtl="0" eaLnBrk="0" fontAlgn="base" hangingPunct="0">
              <a:spcBef>
                <a:spcPct val="0"/>
              </a:spcBef>
              <a:spcAft>
                <a:spcPct val="0"/>
              </a:spcAft>
              <a:defRPr kern="1200">
                <a:solidFill>
                  <a:schemeClr val="tx1"/>
                </a:solidFill>
                <a:latin typeface="Arial" pitchFamily="2" charset="77"/>
                <a:ea typeface="+mn-ea"/>
                <a:cs typeface="+mn-cs"/>
              </a:defRPr>
            </a:lvl2pPr>
            <a:lvl3pPr marL="457172" algn="l" rtl="0" eaLnBrk="0" fontAlgn="base" hangingPunct="0">
              <a:spcBef>
                <a:spcPct val="0"/>
              </a:spcBef>
              <a:spcAft>
                <a:spcPct val="0"/>
              </a:spcAft>
              <a:defRPr kern="1200">
                <a:solidFill>
                  <a:schemeClr val="tx1"/>
                </a:solidFill>
                <a:latin typeface="Arial" pitchFamily="2" charset="77"/>
                <a:ea typeface="+mn-ea"/>
                <a:cs typeface="+mn-cs"/>
              </a:defRPr>
            </a:lvl3pPr>
            <a:lvl4pPr marL="685757" algn="l" rtl="0" eaLnBrk="0" fontAlgn="base" hangingPunct="0">
              <a:spcBef>
                <a:spcPct val="0"/>
              </a:spcBef>
              <a:spcAft>
                <a:spcPct val="0"/>
              </a:spcAft>
              <a:defRPr kern="1200">
                <a:solidFill>
                  <a:schemeClr val="tx1"/>
                </a:solidFill>
                <a:latin typeface="Arial" pitchFamily="2" charset="77"/>
                <a:ea typeface="+mn-ea"/>
                <a:cs typeface="+mn-cs"/>
              </a:defRPr>
            </a:lvl4pPr>
            <a:lvl5pPr marL="914343" algn="l" rtl="0" eaLnBrk="0" fontAlgn="base" hangingPunct="0">
              <a:spcBef>
                <a:spcPct val="0"/>
              </a:spcBef>
              <a:spcAft>
                <a:spcPct val="0"/>
              </a:spcAft>
              <a:defRPr kern="1200">
                <a:solidFill>
                  <a:schemeClr val="tx1"/>
                </a:solidFill>
                <a:latin typeface="Arial" pitchFamily="2" charset="77"/>
                <a:ea typeface="+mn-ea"/>
                <a:cs typeface="+mn-cs"/>
              </a:defRPr>
            </a:lvl5pPr>
            <a:lvl6pPr marL="1142929" algn="l" defTabSz="457172" rtl="0" eaLnBrk="1" latinLnBrk="0" hangingPunct="1">
              <a:defRPr kern="1200">
                <a:solidFill>
                  <a:schemeClr val="tx1"/>
                </a:solidFill>
                <a:latin typeface="Arial" pitchFamily="2" charset="77"/>
                <a:ea typeface="+mn-ea"/>
                <a:cs typeface="+mn-cs"/>
              </a:defRPr>
            </a:lvl6pPr>
            <a:lvl7pPr marL="1371515" algn="l" defTabSz="457172" rtl="0" eaLnBrk="1" latinLnBrk="0" hangingPunct="1">
              <a:defRPr kern="1200">
                <a:solidFill>
                  <a:schemeClr val="tx1"/>
                </a:solidFill>
                <a:latin typeface="Arial" pitchFamily="2" charset="77"/>
                <a:ea typeface="+mn-ea"/>
                <a:cs typeface="+mn-cs"/>
              </a:defRPr>
            </a:lvl7pPr>
            <a:lvl8pPr marL="1600100" algn="l" defTabSz="457172" rtl="0" eaLnBrk="1" latinLnBrk="0" hangingPunct="1">
              <a:defRPr kern="1200">
                <a:solidFill>
                  <a:schemeClr val="tx1"/>
                </a:solidFill>
                <a:latin typeface="Arial" pitchFamily="2" charset="77"/>
                <a:ea typeface="+mn-ea"/>
                <a:cs typeface="+mn-cs"/>
              </a:defRPr>
            </a:lvl8pPr>
            <a:lvl9pPr marL="1828686" algn="l" defTabSz="457172" rtl="0" eaLnBrk="1" latinLnBrk="0" hangingPunct="1">
              <a:defRPr kern="1200">
                <a:solidFill>
                  <a:schemeClr val="tx1"/>
                </a:solidFill>
                <a:latin typeface="Arial" pitchFamily="2" charset="77"/>
                <a:ea typeface="+mn-ea"/>
                <a:cs typeface="+mn-cs"/>
              </a:defRPr>
            </a:lvl9pPr>
          </a:lstStyle>
          <a:p>
            <a:r>
              <a:rPr lang="en-US" noProof="0"/>
              <a:t>Eight platforms circulate between the two branches with near-zero overlap — the toolchain is fragmented by team, not by purpose</a:t>
            </a:r>
          </a:p>
          <a:p>
            <a:endParaRPr lang="en-US" noProof="0"/>
          </a:p>
        </p:txBody>
      </p:sp>
      <p:sp>
        <p:nvSpPr>
          <p:cNvPr id="3" name="TextBox 2">
            <a:extLst>
              <a:ext uri="{FF2B5EF4-FFF2-40B4-BE49-F238E27FC236}">
                <a16:creationId xmlns:a16="http://schemas.microsoft.com/office/drawing/2014/main" id="{897A7E64-B485-BA1C-2F3C-F3AEA4FED1C8}"/>
              </a:ext>
            </a:extLst>
          </p:cNvPr>
          <p:cNvSpPr txBox="1"/>
          <p:nvPr/>
        </p:nvSpPr>
        <p:spPr>
          <a:xfrm>
            <a:off x="457200" y="1371600"/>
            <a:ext cx="5577840"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chemeClr val="accent1"/>
                </a:solidFill>
                <a:latin typeface="Helvetica Neue"/>
              </a:rPr>
              <a:t>APPLICATIONS BRANCH — Carlos Garbin</a:t>
            </a:r>
          </a:p>
        </p:txBody>
      </p:sp>
      <p:sp>
        <p:nvSpPr>
          <p:cNvPr id="4" name="Rectangle 3">
            <a:extLst>
              <a:ext uri="{FF2B5EF4-FFF2-40B4-BE49-F238E27FC236}">
                <a16:creationId xmlns:a16="http://schemas.microsoft.com/office/drawing/2014/main" id="{9182FE84-6625-4781-7D0C-B67CB3B77161}"/>
              </a:ext>
            </a:extLst>
          </p:cNvPr>
          <p:cNvSpPr/>
          <p:nvPr/>
        </p:nvSpPr>
        <p:spPr>
          <a:xfrm>
            <a:off x="457200" y="1737360"/>
            <a:ext cx="73152" cy="438912"/>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9" name="TextBox 8">
            <a:extLst>
              <a:ext uri="{FF2B5EF4-FFF2-40B4-BE49-F238E27FC236}">
                <a16:creationId xmlns:a16="http://schemas.microsoft.com/office/drawing/2014/main" id="{F55E5B6B-BC4D-112B-1FF3-265A3C1923DB}"/>
              </a:ext>
            </a:extLst>
          </p:cNvPr>
          <p:cNvSpPr txBox="1"/>
          <p:nvPr/>
        </p:nvSpPr>
        <p:spPr>
          <a:xfrm>
            <a:off x="621792" y="1737360"/>
            <a:ext cx="1828800" cy="156133"/>
          </a:xfrm>
          <a:prstGeom prst="rect">
            <a:avLst/>
          </a:prstGeom>
          <a:noFill/>
        </p:spPr>
        <p:txBody>
          <a:bodyPr wrap="square" lIns="0" tIns="0" rIns="0" bIns="0" anchor="t">
            <a:spAutoFit/>
          </a:bodyPr>
          <a:lstStyle/>
          <a:p>
            <a:pPr algn="l">
              <a:lnSpc>
                <a:spcPct val="110000"/>
              </a:lnSpc>
              <a:spcBef>
                <a:spcPts val="0"/>
              </a:spcBef>
              <a:spcAft>
                <a:spcPts val="0"/>
              </a:spcAft>
            </a:pPr>
            <a:r>
              <a:rPr lang="en-US" sz="1000" b="1" i="0" noProof="0">
                <a:solidFill>
                  <a:srgbClr val="0F1C50"/>
                </a:solidFill>
                <a:highlight>
                  <a:srgbClr val="FFFF00"/>
                </a:highlight>
                <a:latin typeface="Helvetica Neue"/>
              </a:rPr>
              <a:t>Jira</a:t>
            </a:r>
          </a:p>
        </p:txBody>
      </p:sp>
      <p:sp>
        <p:nvSpPr>
          <p:cNvPr id="12" name="TextBox 11">
            <a:extLst>
              <a:ext uri="{FF2B5EF4-FFF2-40B4-BE49-F238E27FC236}">
                <a16:creationId xmlns:a16="http://schemas.microsoft.com/office/drawing/2014/main" id="{685B3B01-FF0B-02D1-BEE7-1F70B3FBD9F5}"/>
              </a:ext>
            </a:extLst>
          </p:cNvPr>
          <p:cNvSpPr txBox="1"/>
          <p:nvPr/>
        </p:nvSpPr>
        <p:spPr>
          <a:xfrm>
            <a:off x="621792" y="1965960"/>
            <a:ext cx="1828800" cy="228600"/>
          </a:xfrm>
          <a:prstGeom prst="rect">
            <a:avLst/>
          </a:prstGeom>
          <a:noFill/>
        </p:spPr>
        <p:txBody>
          <a:bodyPr wrap="square" lIns="0" tIns="0" rIns="0" bIns="0" anchor="t">
            <a:spAutoFit/>
          </a:bodyPr>
          <a:lstStyle/>
          <a:p>
            <a:pPr algn="l">
              <a:lnSpc>
                <a:spcPct val="110000"/>
              </a:lnSpc>
              <a:spcBef>
                <a:spcPts val="0"/>
              </a:spcBef>
              <a:spcAft>
                <a:spcPts val="0"/>
              </a:spcAft>
            </a:pPr>
            <a:r>
              <a:rPr lang="en-US" sz="800" b="0" i="0" noProof="0">
                <a:solidFill>
                  <a:srgbClr val="2C3E50"/>
                </a:solidFill>
                <a:latin typeface="Helvetica Neue"/>
              </a:rPr>
              <a:t>Small demand + improvements</a:t>
            </a:r>
          </a:p>
        </p:txBody>
      </p:sp>
      <p:sp>
        <p:nvSpPr>
          <p:cNvPr id="166" name="TextBox 165">
            <a:extLst>
              <a:ext uri="{FF2B5EF4-FFF2-40B4-BE49-F238E27FC236}">
                <a16:creationId xmlns:a16="http://schemas.microsoft.com/office/drawing/2014/main" id="{34FCAA34-CDC0-722E-947E-B900AD15C495}"/>
              </a:ext>
            </a:extLst>
          </p:cNvPr>
          <p:cNvSpPr txBox="1"/>
          <p:nvPr/>
        </p:nvSpPr>
        <p:spPr>
          <a:xfrm>
            <a:off x="2514600" y="1737360"/>
            <a:ext cx="2377440" cy="457200"/>
          </a:xfrm>
          <a:prstGeom prst="rect">
            <a:avLst/>
          </a:prstGeom>
          <a:noFill/>
        </p:spPr>
        <p:txBody>
          <a:bodyPr wrap="square" lIns="0" tIns="0" rIns="0" bIns="0" anchor="ctr">
            <a:spAutoFit/>
          </a:bodyPr>
          <a:lstStyle/>
          <a:p>
            <a:pPr algn="l">
              <a:lnSpc>
                <a:spcPct val="110000"/>
              </a:lnSpc>
              <a:spcBef>
                <a:spcPts val="0"/>
              </a:spcBef>
              <a:spcAft>
                <a:spcPts val="0"/>
              </a:spcAft>
            </a:pPr>
            <a:r>
              <a:rPr lang="en-US" sz="800" b="0" i="1" noProof="0">
                <a:solidFill>
                  <a:srgbClr val="6785C1"/>
                </a:solidFill>
                <a:latin typeface="Helvetica Neue"/>
              </a:rPr>
              <a:t>GIS, Corporate, Global SAP</a:t>
            </a:r>
          </a:p>
        </p:txBody>
      </p:sp>
      <p:sp>
        <p:nvSpPr>
          <p:cNvPr id="167" name="Rounded Rectangle 8">
            <a:extLst>
              <a:ext uri="{FF2B5EF4-FFF2-40B4-BE49-F238E27FC236}">
                <a16:creationId xmlns:a16="http://schemas.microsoft.com/office/drawing/2014/main" id="{50A511CF-7258-21DF-D852-0C413A2A5E90}"/>
              </a:ext>
            </a:extLst>
          </p:cNvPr>
          <p:cNvSpPr/>
          <p:nvPr/>
        </p:nvSpPr>
        <p:spPr>
          <a:xfrm>
            <a:off x="5029200" y="1828800"/>
            <a:ext cx="914400" cy="274320"/>
          </a:xfrm>
          <a:prstGeom prst="round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68" name="TextBox 167">
            <a:extLst>
              <a:ext uri="{FF2B5EF4-FFF2-40B4-BE49-F238E27FC236}">
                <a16:creationId xmlns:a16="http://schemas.microsoft.com/office/drawing/2014/main" id="{2489CBB4-8523-FE0D-6478-331DAE7059E2}"/>
              </a:ext>
            </a:extLst>
          </p:cNvPr>
          <p:cNvSpPr txBox="1"/>
          <p:nvPr/>
        </p:nvSpPr>
        <p:spPr>
          <a:xfrm>
            <a:off x="5029200" y="1828800"/>
            <a:ext cx="914400" cy="274320"/>
          </a:xfrm>
          <a:prstGeom prst="rect">
            <a:avLst/>
          </a:prstGeom>
          <a:noFill/>
        </p:spPr>
        <p:txBody>
          <a:bodyPr wrap="square" lIns="0" tIns="0" rIns="0" bIns="0" anchor="ctr">
            <a:spAutoFit/>
          </a:bodyPr>
          <a:lstStyle/>
          <a:p>
            <a:pPr algn="ctr">
              <a:lnSpc>
                <a:spcPct val="110000"/>
              </a:lnSpc>
              <a:spcBef>
                <a:spcPts val="0"/>
              </a:spcBef>
              <a:spcAft>
                <a:spcPts val="0"/>
              </a:spcAft>
            </a:pPr>
            <a:r>
              <a:rPr lang="en-US" sz="700" b="1" i="0" noProof="0">
                <a:solidFill>
                  <a:srgbClr val="FFFFFF"/>
                </a:solidFill>
                <a:latin typeface="Helvetica Neue"/>
              </a:rPr>
              <a:t>PRIMARY</a:t>
            </a:r>
          </a:p>
        </p:txBody>
      </p:sp>
      <p:sp>
        <p:nvSpPr>
          <p:cNvPr id="169" name="Rectangle 168">
            <a:extLst>
              <a:ext uri="{FF2B5EF4-FFF2-40B4-BE49-F238E27FC236}">
                <a16:creationId xmlns:a16="http://schemas.microsoft.com/office/drawing/2014/main" id="{BC419BB5-C70A-CA23-6C01-FB8733EAEEC2}"/>
              </a:ext>
            </a:extLst>
          </p:cNvPr>
          <p:cNvSpPr/>
          <p:nvPr/>
        </p:nvSpPr>
        <p:spPr>
          <a:xfrm>
            <a:off x="457200" y="2221991"/>
            <a:ext cx="73152" cy="438912"/>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70" name="TextBox 169">
            <a:extLst>
              <a:ext uri="{FF2B5EF4-FFF2-40B4-BE49-F238E27FC236}">
                <a16:creationId xmlns:a16="http://schemas.microsoft.com/office/drawing/2014/main" id="{B1D570D5-14AB-B345-2CC1-4FAB19D77549}"/>
              </a:ext>
            </a:extLst>
          </p:cNvPr>
          <p:cNvSpPr txBox="1"/>
          <p:nvPr/>
        </p:nvSpPr>
        <p:spPr>
          <a:xfrm>
            <a:off x="621792" y="2221991"/>
            <a:ext cx="1828800" cy="156133"/>
          </a:xfrm>
          <a:prstGeom prst="rect">
            <a:avLst/>
          </a:prstGeom>
          <a:noFill/>
        </p:spPr>
        <p:txBody>
          <a:bodyPr wrap="square" lIns="0" tIns="0" rIns="0" bIns="0" anchor="t">
            <a:spAutoFit/>
          </a:bodyPr>
          <a:lstStyle/>
          <a:p>
            <a:pPr algn="l">
              <a:lnSpc>
                <a:spcPct val="110000"/>
              </a:lnSpc>
              <a:spcBef>
                <a:spcPts val="0"/>
              </a:spcBef>
              <a:spcAft>
                <a:spcPts val="0"/>
              </a:spcAft>
            </a:pPr>
            <a:r>
              <a:rPr lang="en-US" sz="1000" b="1" i="0" noProof="0">
                <a:solidFill>
                  <a:srgbClr val="0F1C50"/>
                </a:solidFill>
                <a:highlight>
                  <a:srgbClr val="FFFF00"/>
                </a:highlight>
                <a:latin typeface="Helvetica Neue"/>
              </a:rPr>
              <a:t>IT Now</a:t>
            </a:r>
          </a:p>
        </p:txBody>
      </p:sp>
      <p:sp>
        <p:nvSpPr>
          <p:cNvPr id="171" name="TextBox 170">
            <a:extLst>
              <a:ext uri="{FF2B5EF4-FFF2-40B4-BE49-F238E27FC236}">
                <a16:creationId xmlns:a16="http://schemas.microsoft.com/office/drawing/2014/main" id="{3A629666-6344-17CC-BE4D-99C3ECB13E79}"/>
              </a:ext>
            </a:extLst>
          </p:cNvPr>
          <p:cNvSpPr txBox="1"/>
          <p:nvPr/>
        </p:nvSpPr>
        <p:spPr>
          <a:xfrm>
            <a:off x="621792" y="2450591"/>
            <a:ext cx="1828800" cy="228600"/>
          </a:xfrm>
          <a:prstGeom prst="rect">
            <a:avLst/>
          </a:prstGeom>
          <a:noFill/>
        </p:spPr>
        <p:txBody>
          <a:bodyPr wrap="square" lIns="0" tIns="0" rIns="0" bIns="0" anchor="t">
            <a:spAutoFit/>
          </a:bodyPr>
          <a:lstStyle/>
          <a:p>
            <a:pPr algn="l">
              <a:lnSpc>
                <a:spcPct val="110000"/>
              </a:lnSpc>
              <a:spcBef>
                <a:spcPts val="0"/>
              </a:spcBef>
              <a:spcAft>
                <a:spcPts val="0"/>
              </a:spcAft>
            </a:pPr>
            <a:r>
              <a:rPr lang="en-US" sz="800" b="0" i="0" noProof="0">
                <a:solidFill>
                  <a:srgbClr val="2C3E50"/>
                </a:solidFill>
                <a:latin typeface="Helvetica Neue"/>
              </a:rPr>
              <a:t>Incidents + break/fix</a:t>
            </a:r>
          </a:p>
        </p:txBody>
      </p:sp>
      <p:sp>
        <p:nvSpPr>
          <p:cNvPr id="172" name="TextBox 171">
            <a:extLst>
              <a:ext uri="{FF2B5EF4-FFF2-40B4-BE49-F238E27FC236}">
                <a16:creationId xmlns:a16="http://schemas.microsoft.com/office/drawing/2014/main" id="{1DFAA81A-0329-9F5A-C3A6-7846A43BD9DD}"/>
              </a:ext>
            </a:extLst>
          </p:cNvPr>
          <p:cNvSpPr txBox="1"/>
          <p:nvPr/>
        </p:nvSpPr>
        <p:spPr>
          <a:xfrm>
            <a:off x="2514600" y="2221991"/>
            <a:ext cx="2377440" cy="457200"/>
          </a:xfrm>
          <a:prstGeom prst="rect">
            <a:avLst/>
          </a:prstGeom>
          <a:noFill/>
        </p:spPr>
        <p:txBody>
          <a:bodyPr wrap="square" lIns="0" tIns="0" rIns="0" bIns="0" anchor="ctr">
            <a:spAutoFit/>
          </a:bodyPr>
          <a:lstStyle/>
          <a:p>
            <a:pPr algn="l">
              <a:lnSpc>
                <a:spcPct val="110000"/>
              </a:lnSpc>
              <a:spcBef>
                <a:spcPts val="0"/>
              </a:spcBef>
              <a:spcAft>
                <a:spcPts val="0"/>
              </a:spcAft>
            </a:pPr>
            <a:r>
              <a:rPr lang="en-US" sz="800" b="0" i="1" noProof="0">
                <a:solidFill>
                  <a:srgbClr val="6785C1"/>
                </a:solidFill>
                <a:latin typeface="Helvetica Neue"/>
              </a:rPr>
              <a:t>GIS, Global SAP</a:t>
            </a:r>
          </a:p>
        </p:txBody>
      </p:sp>
      <p:sp>
        <p:nvSpPr>
          <p:cNvPr id="173" name="Rounded Rectangle 14">
            <a:extLst>
              <a:ext uri="{FF2B5EF4-FFF2-40B4-BE49-F238E27FC236}">
                <a16:creationId xmlns:a16="http://schemas.microsoft.com/office/drawing/2014/main" id="{800FA527-2BA7-59F7-6982-0FC5D87440B1}"/>
              </a:ext>
            </a:extLst>
          </p:cNvPr>
          <p:cNvSpPr/>
          <p:nvPr/>
        </p:nvSpPr>
        <p:spPr>
          <a:xfrm>
            <a:off x="5029200" y="2313432"/>
            <a:ext cx="914400" cy="274320"/>
          </a:xfrm>
          <a:prstGeom prst="round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74" name="TextBox 173">
            <a:extLst>
              <a:ext uri="{FF2B5EF4-FFF2-40B4-BE49-F238E27FC236}">
                <a16:creationId xmlns:a16="http://schemas.microsoft.com/office/drawing/2014/main" id="{7D6CBD8E-AA4E-0613-2BF3-71459C40EB08}"/>
              </a:ext>
            </a:extLst>
          </p:cNvPr>
          <p:cNvSpPr txBox="1"/>
          <p:nvPr/>
        </p:nvSpPr>
        <p:spPr>
          <a:xfrm>
            <a:off x="5029200" y="2313432"/>
            <a:ext cx="914400" cy="274320"/>
          </a:xfrm>
          <a:prstGeom prst="rect">
            <a:avLst/>
          </a:prstGeom>
          <a:noFill/>
        </p:spPr>
        <p:txBody>
          <a:bodyPr wrap="square" lIns="0" tIns="0" rIns="0" bIns="0" anchor="ctr">
            <a:spAutoFit/>
          </a:bodyPr>
          <a:lstStyle/>
          <a:p>
            <a:pPr algn="ctr">
              <a:lnSpc>
                <a:spcPct val="110000"/>
              </a:lnSpc>
              <a:spcBef>
                <a:spcPts val="0"/>
              </a:spcBef>
              <a:spcAft>
                <a:spcPts val="0"/>
              </a:spcAft>
            </a:pPr>
            <a:r>
              <a:rPr lang="en-US" sz="700" b="1" i="0" noProof="0">
                <a:solidFill>
                  <a:srgbClr val="FFFFFF"/>
                </a:solidFill>
                <a:latin typeface="Helvetica Neue"/>
              </a:rPr>
              <a:t>PRIMARY</a:t>
            </a:r>
          </a:p>
        </p:txBody>
      </p:sp>
      <p:sp>
        <p:nvSpPr>
          <p:cNvPr id="175" name="Rectangle 174">
            <a:extLst>
              <a:ext uri="{FF2B5EF4-FFF2-40B4-BE49-F238E27FC236}">
                <a16:creationId xmlns:a16="http://schemas.microsoft.com/office/drawing/2014/main" id="{067EFBF5-75DC-BD16-6AB1-113A418E4A95}"/>
              </a:ext>
            </a:extLst>
          </p:cNvPr>
          <p:cNvSpPr/>
          <p:nvPr/>
        </p:nvSpPr>
        <p:spPr>
          <a:xfrm>
            <a:off x="457200" y="2706624"/>
            <a:ext cx="73152" cy="438912"/>
          </a:xfrm>
          <a:prstGeom prst="rect">
            <a:avLst/>
          </a:prstGeom>
          <a:solidFill>
            <a:srgbClr val="95A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76" name="TextBox 175">
            <a:extLst>
              <a:ext uri="{FF2B5EF4-FFF2-40B4-BE49-F238E27FC236}">
                <a16:creationId xmlns:a16="http://schemas.microsoft.com/office/drawing/2014/main" id="{6BADC2CF-FC87-6F9E-AB09-7740DC3C032C}"/>
              </a:ext>
            </a:extLst>
          </p:cNvPr>
          <p:cNvSpPr txBox="1"/>
          <p:nvPr/>
        </p:nvSpPr>
        <p:spPr>
          <a:xfrm>
            <a:off x="621792" y="2706624"/>
            <a:ext cx="1828800" cy="156133"/>
          </a:xfrm>
          <a:prstGeom prst="rect">
            <a:avLst/>
          </a:prstGeom>
          <a:noFill/>
        </p:spPr>
        <p:txBody>
          <a:bodyPr wrap="square" lIns="0" tIns="0" rIns="0" bIns="0" anchor="t">
            <a:spAutoFit/>
          </a:bodyPr>
          <a:lstStyle/>
          <a:p>
            <a:pPr algn="l">
              <a:lnSpc>
                <a:spcPct val="110000"/>
              </a:lnSpc>
              <a:spcBef>
                <a:spcPts val="0"/>
              </a:spcBef>
              <a:spcAft>
                <a:spcPts val="0"/>
              </a:spcAft>
            </a:pPr>
            <a:r>
              <a:rPr lang="en-US" sz="1000" b="1" i="0" noProof="0">
                <a:solidFill>
                  <a:srgbClr val="0F1C50"/>
                </a:solidFill>
                <a:highlight>
                  <a:srgbClr val="FFFF00"/>
                </a:highlight>
                <a:latin typeface="Helvetica Neue"/>
              </a:rPr>
              <a:t>IT Now RITM</a:t>
            </a:r>
          </a:p>
        </p:txBody>
      </p:sp>
      <p:sp>
        <p:nvSpPr>
          <p:cNvPr id="177" name="TextBox 176">
            <a:extLst>
              <a:ext uri="{FF2B5EF4-FFF2-40B4-BE49-F238E27FC236}">
                <a16:creationId xmlns:a16="http://schemas.microsoft.com/office/drawing/2014/main" id="{AD63EEBB-F354-B41F-B829-88EC4EA187AA}"/>
              </a:ext>
            </a:extLst>
          </p:cNvPr>
          <p:cNvSpPr txBox="1"/>
          <p:nvPr/>
        </p:nvSpPr>
        <p:spPr>
          <a:xfrm>
            <a:off x="621792" y="2935224"/>
            <a:ext cx="1828800" cy="228600"/>
          </a:xfrm>
          <a:prstGeom prst="rect">
            <a:avLst/>
          </a:prstGeom>
          <a:noFill/>
        </p:spPr>
        <p:txBody>
          <a:bodyPr wrap="square" lIns="0" tIns="0" rIns="0" bIns="0" anchor="t">
            <a:spAutoFit/>
          </a:bodyPr>
          <a:lstStyle/>
          <a:p>
            <a:pPr algn="l">
              <a:lnSpc>
                <a:spcPct val="110000"/>
              </a:lnSpc>
              <a:spcBef>
                <a:spcPts val="0"/>
              </a:spcBef>
              <a:spcAft>
                <a:spcPts val="0"/>
              </a:spcAft>
            </a:pPr>
            <a:r>
              <a:rPr lang="en-US" sz="800" b="0" i="0" noProof="0">
                <a:solidFill>
                  <a:srgbClr val="2C3E50"/>
                </a:solidFill>
                <a:latin typeface="Helvetica Neue"/>
              </a:rPr>
              <a:t>Minor requests</a:t>
            </a:r>
          </a:p>
        </p:txBody>
      </p:sp>
      <p:sp>
        <p:nvSpPr>
          <p:cNvPr id="178" name="TextBox 177">
            <a:extLst>
              <a:ext uri="{FF2B5EF4-FFF2-40B4-BE49-F238E27FC236}">
                <a16:creationId xmlns:a16="http://schemas.microsoft.com/office/drawing/2014/main" id="{700694DB-3563-FFCC-E4E0-3D4F072F00A2}"/>
              </a:ext>
            </a:extLst>
          </p:cNvPr>
          <p:cNvSpPr txBox="1"/>
          <p:nvPr/>
        </p:nvSpPr>
        <p:spPr>
          <a:xfrm>
            <a:off x="2514600" y="2706624"/>
            <a:ext cx="2377440" cy="457200"/>
          </a:xfrm>
          <a:prstGeom prst="rect">
            <a:avLst/>
          </a:prstGeom>
          <a:noFill/>
        </p:spPr>
        <p:txBody>
          <a:bodyPr wrap="square" lIns="0" tIns="0" rIns="0" bIns="0" anchor="ctr">
            <a:spAutoFit/>
          </a:bodyPr>
          <a:lstStyle/>
          <a:p>
            <a:pPr algn="l">
              <a:lnSpc>
                <a:spcPct val="110000"/>
              </a:lnSpc>
              <a:spcBef>
                <a:spcPts val="0"/>
              </a:spcBef>
              <a:spcAft>
                <a:spcPts val="0"/>
              </a:spcAft>
            </a:pPr>
            <a:r>
              <a:rPr lang="en-US" sz="800" b="0" i="1" noProof="0">
                <a:solidFill>
                  <a:srgbClr val="6785C1"/>
                </a:solidFill>
                <a:latin typeface="Helvetica Neue"/>
              </a:rPr>
              <a:t>Global SAP</a:t>
            </a:r>
          </a:p>
        </p:txBody>
      </p:sp>
      <p:sp>
        <p:nvSpPr>
          <p:cNvPr id="179" name="Rounded Rectangle 20">
            <a:extLst>
              <a:ext uri="{FF2B5EF4-FFF2-40B4-BE49-F238E27FC236}">
                <a16:creationId xmlns:a16="http://schemas.microsoft.com/office/drawing/2014/main" id="{3CE1542F-208B-96B7-1187-91914CABCC21}"/>
              </a:ext>
            </a:extLst>
          </p:cNvPr>
          <p:cNvSpPr/>
          <p:nvPr/>
        </p:nvSpPr>
        <p:spPr>
          <a:xfrm>
            <a:off x="5029200" y="2798064"/>
            <a:ext cx="914400" cy="274320"/>
          </a:xfrm>
          <a:prstGeom prst="roundRect">
            <a:avLst/>
          </a:prstGeom>
          <a:solidFill>
            <a:srgbClr val="95A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80" name="TextBox 179">
            <a:extLst>
              <a:ext uri="{FF2B5EF4-FFF2-40B4-BE49-F238E27FC236}">
                <a16:creationId xmlns:a16="http://schemas.microsoft.com/office/drawing/2014/main" id="{308E4DC7-704C-9B00-24D1-7F2A9674DEB1}"/>
              </a:ext>
            </a:extLst>
          </p:cNvPr>
          <p:cNvSpPr txBox="1"/>
          <p:nvPr/>
        </p:nvSpPr>
        <p:spPr>
          <a:xfrm>
            <a:off x="5029200" y="2798064"/>
            <a:ext cx="914400" cy="274320"/>
          </a:xfrm>
          <a:prstGeom prst="rect">
            <a:avLst/>
          </a:prstGeom>
          <a:noFill/>
        </p:spPr>
        <p:txBody>
          <a:bodyPr wrap="square" lIns="0" tIns="0" rIns="0" bIns="0" anchor="ctr">
            <a:spAutoFit/>
          </a:bodyPr>
          <a:lstStyle/>
          <a:p>
            <a:pPr algn="ctr">
              <a:lnSpc>
                <a:spcPct val="110000"/>
              </a:lnSpc>
              <a:spcBef>
                <a:spcPts val="0"/>
              </a:spcBef>
              <a:spcAft>
                <a:spcPts val="0"/>
              </a:spcAft>
            </a:pPr>
            <a:r>
              <a:rPr lang="en-US" sz="700" b="1" i="0" noProof="0">
                <a:solidFill>
                  <a:srgbClr val="FFFFFF"/>
                </a:solidFill>
                <a:latin typeface="Helvetica Neue"/>
              </a:rPr>
              <a:t>SPECIFIC</a:t>
            </a:r>
          </a:p>
        </p:txBody>
      </p:sp>
      <p:sp>
        <p:nvSpPr>
          <p:cNvPr id="181" name="Rectangle 180">
            <a:extLst>
              <a:ext uri="{FF2B5EF4-FFF2-40B4-BE49-F238E27FC236}">
                <a16:creationId xmlns:a16="http://schemas.microsoft.com/office/drawing/2014/main" id="{826FB7D7-569A-EEED-C728-0890E79FF518}"/>
              </a:ext>
            </a:extLst>
          </p:cNvPr>
          <p:cNvSpPr/>
          <p:nvPr/>
        </p:nvSpPr>
        <p:spPr>
          <a:xfrm>
            <a:off x="457200" y="3191256"/>
            <a:ext cx="73152" cy="438912"/>
          </a:xfrm>
          <a:prstGeom prst="rect">
            <a:avLst/>
          </a:prstGeom>
          <a:solidFill>
            <a:srgbClr val="95A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82" name="TextBox 181">
            <a:extLst>
              <a:ext uri="{FF2B5EF4-FFF2-40B4-BE49-F238E27FC236}">
                <a16:creationId xmlns:a16="http://schemas.microsoft.com/office/drawing/2014/main" id="{4FA67DA1-8DDA-671D-6C00-ACCA9675C8A5}"/>
              </a:ext>
            </a:extLst>
          </p:cNvPr>
          <p:cNvSpPr txBox="1"/>
          <p:nvPr/>
        </p:nvSpPr>
        <p:spPr>
          <a:xfrm>
            <a:off x="621792" y="3191256"/>
            <a:ext cx="1828800" cy="256032"/>
          </a:xfrm>
          <a:prstGeom prst="rect">
            <a:avLst/>
          </a:prstGeom>
          <a:noFill/>
        </p:spPr>
        <p:txBody>
          <a:bodyPr wrap="square" lIns="0" tIns="0" rIns="0" bIns="0" anchor="t">
            <a:spAutoFit/>
          </a:bodyPr>
          <a:lstStyle/>
          <a:p>
            <a:pPr algn="l">
              <a:lnSpc>
                <a:spcPct val="110000"/>
              </a:lnSpc>
              <a:spcBef>
                <a:spcPts val="0"/>
              </a:spcBef>
              <a:spcAft>
                <a:spcPts val="0"/>
              </a:spcAft>
            </a:pPr>
            <a:r>
              <a:rPr lang="en-US" sz="1000" b="1" i="0" noProof="0">
                <a:solidFill>
                  <a:srgbClr val="0F1C50"/>
                </a:solidFill>
                <a:latin typeface="Helvetica Neue"/>
              </a:rPr>
              <a:t>SharePoint + Teams</a:t>
            </a:r>
          </a:p>
        </p:txBody>
      </p:sp>
      <p:sp>
        <p:nvSpPr>
          <p:cNvPr id="183" name="TextBox 182">
            <a:extLst>
              <a:ext uri="{FF2B5EF4-FFF2-40B4-BE49-F238E27FC236}">
                <a16:creationId xmlns:a16="http://schemas.microsoft.com/office/drawing/2014/main" id="{E7520BAB-4926-1C71-E6AF-EEA0432BA2FD}"/>
              </a:ext>
            </a:extLst>
          </p:cNvPr>
          <p:cNvSpPr txBox="1"/>
          <p:nvPr/>
        </p:nvSpPr>
        <p:spPr>
          <a:xfrm>
            <a:off x="621792" y="3419856"/>
            <a:ext cx="1828800" cy="228600"/>
          </a:xfrm>
          <a:prstGeom prst="rect">
            <a:avLst/>
          </a:prstGeom>
          <a:noFill/>
        </p:spPr>
        <p:txBody>
          <a:bodyPr wrap="square" lIns="0" tIns="0" rIns="0" bIns="0" anchor="t">
            <a:spAutoFit/>
          </a:bodyPr>
          <a:lstStyle/>
          <a:p>
            <a:pPr algn="l">
              <a:lnSpc>
                <a:spcPct val="110000"/>
              </a:lnSpc>
              <a:spcBef>
                <a:spcPts val="0"/>
              </a:spcBef>
              <a:spcAft>
                <a:spcPts val="0"/>
              </a:spcAft>
            </a:pPr>
            <a:r>
              <a:rPr lang="en-US" sz="800" b="0" i="0" noProof="0">
                <a:solidFill>
                  <a:srgbClr val="2C3E50"/>
                </a:solidFill>
                <a:latin typeface="Helvetica Neue"/>
              </a:rPr>
              <a:t>Major project work</a:t>
            </a:r>
          </a:p>
        </p:txBody>
      </p:sp>
      <p:sp>
        <p:nvSpPr>
          <p:cNvPr id="184" name="TextBox 183">
            <a:extLst>
              <a:ext uri="{FF2B5EF4-FFF2-40B4-BE49-F238E27FC236}">
                <a16:creationId xmlns:a16="http://schemas.microsoft.com/office/drawing/2014/main" id="{6A8C3C27-AE8D-C868-6ADE-407A7E87A5BD}"/>
              </a:ext>
            </a:extLst>
          </p:cNvPr>
          <p:cNvSpPr txBox="1"/>
          <p:nvPr/>
        </p:nvSpPr>
        <p:spPr>
          <a:xfrm>
            <a:off x="2514600" y="3191256"/>
            <a:ext cx="2377440" cy="457200"/>
          </a:xfrm>
          <a:prstGeom prst="rect">
            <a:avLst/>
          </a:prstGeom>
          <a:noFill/>
        </p:spPr>
        <p:txBody>
          <a:bodyPr wrap="square" lIns="0" tIns="0" rIns="0" bIns="0" anchor="ctr">
            <a:spAutoFit/>
          </a:bodyPr>
          <a:lstStyle/>
          <a:p>
            <a:pPr algn="l">
              <a:lnSpc>
                <a:spcPct val="110000"/>
              </a:lnSpc>
              <a:spcBef>
                <a:spcPts val="0"/>
              </a:spcBef>
              <a:spcAft>
                <a:spcPts val="0"/>
              </a:spcAft>
            </a:pPr>
            <a:r>
              <a:rPr lang="en-US" sz="800" b="0" i="1" noProof="0">
                <a:solidFill>
                  <a:srgbClr val="6785C1"/>
                </a:solidFill>
                <a:latin typeface="Helvetica Neue"/>
              </a:rPr>
              <a:t>Global SAP</a:t>
            </a:r>
          </a:p>
        </p:txBody>
      </p:sp>
      <p:sp>
        <p:nvSpPr>
          <p:cNvPr id="185" name="Rounded Rectangle 26">
            <a:extLst>
              <a:ext uri="{FF2B5EF4-FFF2-40B4-BE49-F238E27FC236}">
                <a16:creationId xmlns:a16="http://schemas.microsoft.com/office/drawing/2014/main" id="{84E3B36B-AA34-BE35-5248-BECD09A8226D}"/>
              </a:ext>
            </a:extLst>
          </p:cNvPr>
          <p:cNvSpPr/>
          <p:nvPr/>
        </p:nvSpPr>
        <p:spPr>
          <a:xfrm>
            <a:off x="5029200" y="3282696"/>
            <a:ext cx="914400" cy="274320"/>
          </a:xfrm>
          <a:prstGeom prst="roundRect">
            <a:avLst/>
          </a:prstGeom>
          <a:solidFill>
            <a:srgbClr val="95A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86" name="TextBox 185">
            <a:extLst>
              <a:ext uri="{FF2B5EF4-FFF2-40B4-BE49-F238E27FC236}">
                <a16:creationId xmlns:a16="http://schemas.microsoft.com/office/drawing/2014/main" id="{002505CB-7DA1-19A8-FDDF-56EE3D36D058}"/>
              </a:ext>
            </a:extLst>
          </p:cNvPr>
          <p:cNvSpPr txBox="1"/>
          <p:nvPr/>
        </p:nvSpPr>
        <p:spPr>
          <a:xfrm>
            <a:off x="5029200" y="3282696"/>
            <a:ext cx="914400" cy="274320"/>
          </a:xfrm>
          <a:prstGeom prst="rect">
            <a:avLst/>
          </a:prstGeom>
          <a:noFill/>
        </p:spPr>
        <p:txBody>
          <a:bodyPr wrap="square" lIns="0" tIns="0" rIns="0" bIns="0" anchor="ctr">
            <a:spAutoFit/>
          </a:bodyPr>
          <a:lstStyle/>
          <a:p>
            <a:pPr algn="ctr">
              <a:lnSpc>
                <a:spcPct val="110000"/>
              </a:lnSpc>
              <a:spcBef>
                <a:spcPts val="0"/>
              </a:spcBef>
              <a:spcAft>
                <a:spcPts val="0"/>
              </a:spcAft>
            </a:pPr>
            <a:r>
              <a:rPr lang="en-US" sz="700" b="1" i="0" noProof="0">
                <a:solidFill>
                  <a:srgbClr val="FFFFFF"/>
                </a:solidFill>
                <a:latin typeface="Helvetica Neue"/>
              </a:rPr>
              <a:t>SPECIFIC</a:t>
            </a:r>
          </a:p>
        </p:txBody>
      </p:sp>
      <p:sp>
        <p:nvSpPr>
          <p:cNvPr id="187" name="Rectangle 186">
            <a:extLst>
              <a:ext uri="{FF2B5EF4-FFF2-40B4-BE49-F238E27FC236}">
                <a16:creationId xmlns:a16="http://schemas.microsoft.com/office/drawing/2014/main" id="{5999FF88-6A1C-3805-7CB9-B5FF529E6FDB}"/>
              </a:ext>
            </a:extLst>
          </p:cNvPr>
          <p:cNvSpPr/>
          <p:nvPr/>
        </p:nvSpPr>
        <p:spPr>
          <a:xfrm>
            <a:off x="457200" y="3675888"/>
            <a:ext cx="73152" cy="438912"/>
          </a:xfrm>
          <a:prstGeom prst="rect">
            <a:avLst/>
          </a:prstGeom>
          <a:solidFill>
            <a:srgbClr val="95A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88" name="TextBox 187">
            <a:extLst>
              <a:ext uri="{FF2B5EF4-FFF2-40B4-BE49-F238E27FC236}">
                <a16:creationId xmlns:a16="http://schemas.microsoft.com/office/drawing/2014/main" id="{DC932E57-FF5C-6466-7A06-E36E585D9112}"/>
              </a:ext>
            </a:extLst>
          </p:cNvPr>
          <p:cNvSpPr txBox="1"/>
          <p:nvPr/>
        </p:nvSpPr>
        <p:spPr>
          <a:xfrm>
            <a:off x="621792" y="3675888"/>
            <a:ext cx="1828800" cy="156133"/>
          </a:xfrm>
          <a:prstGeom prst="rect">
            <a:avLst/>
          </a:prstGeom>
          <a:noFill/>
        </p:spPr>
        <p:txBody>
          <a:bodyPr wrap="square" lIns="0" tIns="0" rIns="0" bIns="0" anchor="t">
            <a:spAutoFit/>
          </a:bodyPr>
          <a:lstStyle/>
          <a:p>
            <a:pPr algn="l">
              <a:lnSpc>
                <a:spcPct val="110000"/>
              </a:lnSpc>
              <a:spcBef>
                <a:spcPts val="0"/>
              </a:spcBef>
              <a:spcAft>
                <a:spcPts val="0"/>
              </a:spcAft>
            </a:pPr>
            <a:r>
              <a:rPr lang="en-US" sz="1000" b="1" i="0" noProof="0">
                <a:solidFill>
                  <a:srgbClr val="0F1C50"/>
                </a:solidFill>
                <a:highlight>
                  <a:srgbClr val="FFFF00"/>
                </a:highlight>
                <a:latin typeface="Helvetica Neue"/>
              </a:rPr>
              <a:t>Confluence</a:t>
            </a:r>
          </a:p>
        </p:txBody>
      </p:sp>
      <p:sp>
        <p:nvSpPr>
          <p:cNvPr id="189" name="TextBox 188">
            <a:extLst>
              <a:ext uri="{FF2B5EF4-FFF2-40B4-BE49-F238E27FC236}">
                <a16:creationId xmlns:a16="http://schemas.microsoft.com/office/drawing/2014/main" id="{29D712CF-5DE9-89CD-6016-9FB3E7D5FC42}"/>
              </a:ext>
            </a:extLst>
          </p:cNvPr>
          <p:cNvSpPr txBox="1"/>
          <p:nvPr/>
        </p:nvSpPr>
        <p:spPr>
          <a:xfrm>
            <a:off x="621792" y="3904488"/>
            <a:ext cx="1828800" cy="228600"/>
          </a:xfrm>
          <a:prstGeom prst="rect">
            <a:avLst/>
          </a:prstGeom>
          <a:noFill/>
        </p:spPr>
        <p:txBody>
          <a:bodyPr wrap="square" lIns="0" tIns="0" rIns="0" bIns="0" anchor="t">
            <a:spAutoFit/>
          </a:bodyPr>
          <a:lstStyle/>
          <a:p>
            <a:pPr algn="l">
              <a:lnSpc>
                <a:spcPct val="110000"/>
              </a:lnSpc>
              <a:spcBef>
                <a:spcPts val="0"/>
              </a:spcBef>
              <a:spcAft>
                <a:spcPts val="0"/>
              </a:spcAft>
            </a:pPr>
            <a:r>
              <a:rPr lang="en-US" sz="800" b="0" i="0" noProof="0">
                <a:solidFill>
                  <a:srgbClr val="2C3E50"/>
                </a:solidFill>
                <a:latin typeface="Helvetica Neue"/>
              </a:rPr>
              <a:t>Documentation / requirements</a:t>
            </a:r>
          </a:p>
        </p:txBody>
      </p:sp>
      <p:sp>
        <p:nvSpPr>
          <p:cNvPr id="190" name="TextBox 189">
            <a:extLst>
              <a:ext uri="{FF2B5EF4-FFF2-40B4-BE49-F238E27FC236}">
                <a16:creationId xmlns:a16="http://schemas.microsoft.com/office/drawing/2014/main" id="{75AA04B3-8DC5-5491-A15C-BC04AD1BA65E}"/>
              </a:ext>
            </a:extLst>
          </p:cNvPr>
          <p:cNvSpPr txBox="1"/>
          <p:nvPr/>
        </p:nvSpPr>
        <p:spPr>
          <a:xfrm>
            <a:off x="2514600" y="3675888"/>
            <a:ext cx="2377440" cy="457200"/>
          </a:xfrm>
          <a:prstGeom prst="rect">
            <a:avLst/>
          </a:prstGeom>
          <a:noFill/>
        </p:spPr>
        <p:txBody>
          <a:bodyPr wrap="square" lIns="0" tIns="0" rIns="0" bIns="0" anchor="ctr">
            <a:spAutoFit/>
          </a:bodyPr>
          <a:lstStyle/>
          <a:p>
            <a:pPr algn="l">
              <a:lnSpc>
                <a:spcPct val="110000"/>
              </a:lnSpc>
              <a:spcBef>
                <a:spcPts val="0"/>
              </a:spcBef>
              <a:spcAft>
                <a:spcPts val="0"/>
              </a:spcAft>
            </a:pPr>
            <a:r>
              <a:rPr lang="en-US" sz="800" b="0" i="1" noProof="0">
                <a:solidFill>
                  <a:srgbClr val="6785C1"/>
                </a:solidFill>
                <a:latin typeface="Helvetica Neue"/>
              </a:rPr>
              <a:t>Corporate</a:t>
            </a:r>
          </a:p>
        </p:txBody>
      </p:sp>
      <p:sp>
        <p:nvSpPr>
          <p:cNvPr id="191" name="Rounded Rectangle 32">
            <a:extLst>
              <a:ext uri="{FF2B5EF4-FFF2-40B4-BE49-F238E27FC236}">
                <a16:creationId xmlns:a16="http://schemas.microsoft.com/office/drawing/2014/main" id="{53193BAA-431C-2F08-DB39-785456D72FBD}"/>
              </a:ext>
            </a:extLst>
          </p:cNvPr>
          <p:cNvSpPr/>
          <p:nvPr/>
        </p:nvSpPr>
        <p:spPr>
          <a:xfrm>
            <a:off x="5029200" y="3767328"/>
            <a:ext cx="914400" cy="274320"/>
          </a:xfrm>
          <a:prstGeom prst="roundRect">
            <a:avLst/>
          </a:prstGeom>
          <a:solidFill>
            <a:srgbClr val="95A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92" name="TextBox 191">
            <a:extLst>
              <a:ext uri="{FF2B5EF4-FFF2-40B4-BE49-F238E27FC236}">
                <a16:creationId xmlns:a16="http://schemas.microsoft.com/office/drawing/2014/main" id="{D3437261-F383-E367-CB25-0485A0231488}"/>
              </a:ext>
            </a:extLst>
          </p:cNvPr>
          <p:cNvSpPr txBox="1"/>
          <p:nvPr/>
        </p:nvSpPr>
        <p:spPr>
          <a:xfrm>
            <a:off x="5029200" y="3767328"/>
            <a:ext cx="914400" cy="274320"/>
          </a:xfrm>
          <a:prstGeom prst="rect">
            <a:avLst/>
          </a:prstGeom>
          <a:noFill/>
        </p:spPr>
        <p:txBody>
          <a:bodyPr wrap="square" lIns="0" tIns="0" rIns="0" bIns="0" anchor="ctr">
            <a:spAutoFit/>
          </a:bodyPr>
          <a:lstStyle/>
          <a:p>
            <a:pPr algn="ctr">
              <a:lnSpc>
                <a:spcPct val="110000"/>
              </a:lnSpc>
              <a:spcBef>
                <a:spcPts val="0"/>
              </a:spcBef>
              <a:spcAft>
                <a:spcPts val="0"/>
              </a:spcAft>
            </a:pPr>
            <a:r>
              <a:rPr lang="en-US" sz="700" b="1" i="0" noProof="0">
                <a:solidFill>
                  <a:srgbClr val="FFFFFF"/>
                </a:solidFill>
                <a:latin typeface="Helvetica Neue"/>
              </a:rPr>
              <a:t>SPECIFIC</a:t>
            </a:r>
          </a:p>
        </p:txBody>
      </p:sp>
      <p:sp>
        <p:nvSpPr>
          <p:cNvPr id="193" name="Rectangle 192">
            <a:extLst>
              <a:ext uri="{FF2B5EF4-FFF2-40B4-BE49-F238E27FC236}">
                <a16:creationId xmlns:a16="http://schemas.microsoft.com/office/drawing/2014/main" id="{01079FE6-F4A7-5DC2-268D-C7B3DD4EDF07}"/>
              </a:ext>
            </a:extLst>
          </p:cNvPr>
          <p:cNvSpPr/>
          <p:nvPr/>
        </p:nvSpPr>
        <p:spPr>
          <a:xfrm>
            <a:off x="457200" y="4160520"/>
            <a:ext cx="73152" cy="438912"/>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94" name="TextBox 193">
            <a:extLst>
              <a:ext uri="{FF2B5EF4-FFF2-40B4-BE49-F238E27FC236}">
                <a16:creationId xmlns:a16="http://schemas.microsoft.com/office/drawing/2014/main" id="{9F01A4E7-9049-09E2-FF00-DEC4E10DD0A0}"/>
              </a:ext>
            </a:extLst>
          </p:cNvPr>
          <p:cNvSpPr txBox="1"/>
          <p:nvPr/>
        </p:nvSpPr>
        <p:spPr>
          <a:xfrm>
            <a:off x="621792" y="4160520"/>
            <a:ext cx="1828800" cy="256032"/>
          </a:xfrm>
          <a:prstGeom prst="rect">
            <a:avLst/>
          </a:prstGeom>
          <a:noFill/>
        </p:spPr>
        <p:txBody>
          <a:bodyPr wrap="square" lIns="0" tIns="0" rIns="0" bIns="0" anchor="t">
            <a:spAutoFit/>
          </a:bodyPr>
          <a:lstStyle/>
          <a:p>
            <a:pPr algn="l">
              <a:lnSpc>
                <a:spcPct val="110000"/>
              </a:lnSpc>
              <a:spcBef>
                <a:spcPts val="0"/>
              </a:spcBef>
              <a:spcAft>
                <a:spcPts val="0"/>
              </a:spcAft>
            </a:pPr>
            <a:r>
              <a:rPr lang="en-US" sz="1000" b="1" i="0" noProof="0">
                <a:solidFill>
                  <a:srgbClr val="0F1C50"/>
                </a:solidFill>
                <a:latin typeface="Helvetica Neue"/>
              </a:rPr>
              <a:t>Word</a:t>
            </a:r>
          </a:p>
        </p:txBody>
      </p:sp>
      <p:sp>
        <p:nvSpPr>
          <p:cNvPr id="195" name="TextBox 194">
            <a:extLst>
              <a:ext uri="{FF2B5EF4-FFF2-40B4-BE49-F238E27FC236}">
                <a16:creationId xmlns:a16="http://schemas.microsoft.com/office/drawing/2014/main" id="{150FD401-274C-6DEF-F101-4E5BDA3A873E}"/>
              </a:ext>
            </a:extLst>
          </p:cNvPr>
          <p:cNvSpPr txBox="1"/>
          <p:nvPr/>
        </p:nvSpPr>
        <p:spPr>
          <a:xfrm>
            <a:off x="621792" y="4389120"/>
            <a:ext cx="1828800" cy="228600"/>
          </a:xfrm>
          <a:prstGeom prst="rect">
            <a:avLst/>
          </a:prstGeom>
          <a:noFill/>
        </p:spPr>
        <p:txBody>
          <a:bodyPr wrap="square" lIns="0" tIns="0" rIns="0" bIns="0" anchor="t">
            <a:spAutoFit/>
          </a:bodyPr>
          <a:lstStyle/>
          <a:p>
            <a:pPr algn="l">
              <a:lnSpc>
                <a:spcPct val="110000"/>
              </a:lnSpc>
              <a:spcBef>
                <a:spcPts val="0"/>
              </a:spcBef>
              <a:spcAft>
                <a:spcPts val="0"/>
              </a:spcAft>
            </a:pPr>
            <a:r>
              <a:rPr lang="en-US" sz="800" b="0" i="0" noProof="0">
                <a:solidFill>
                  <a:srgbClr val="2C3E50"/>
                </a:solidFill>
                <a:latin typeface="Helvetica Neue"/>
              </a:rPr>
              <a:t>Business requirements</a:t>
            </a:r>
          </a:p>
        </p:txBody>
      </p:sp>
      <p:sp>
        <p:nvSpPr>
          <p:cNvPr id="196" name="TextBox 195">
            <a:extLst>
              <a:ext uri="{FF2B5EF4-FFF2-40B4-BE49-F238E27FC236}">
                <a16:creationId xmlns:a16="http://schemas.microsoft.com/office/drawing/2014/main" id="{87035715-31CD-BD08-5259-4FB2ACD14D4F}"/>
              </a:ext>
            </a:extLst>
          </p:cNvPr>
          <p:cNvSpPr txBox="1"/>
          <p:nvPr/>
        </p:nvSpPr>
        <p:spPr>
          <a:xfrm>
            <a:off x="2514600" y="4160520"/>
            <a:ext cx="2377440" cy="457200"/>
          </a:xfrm>
          <a:prstGeom prst="rect">
            <a:avLst/>
          </a:prstGeom>
          <a:noFill/>
        </p:spPr>
        <p:txBody>
          <a:bodyPr wrap="square" lIns="0" tIns="0" rIns="0" bIns="0" anchor="ctr">
            <a:spAutoFit/>
          </a:bodyPr>
          <a:lstStyle/>
          <a:p>
            <a:pPr algn="l">
              <a:lnSpc>
                <a:spcPct val="110000"/>
              </a:lnSpc>
              <a:spcBef>
                <a:spcPts val="0"/>
              </a:spcBef>
              <a:spcAft>
                <a:spcPts val="0"/>
              </a:spcAft>
            </a:pPr>
            <a:r>
              <a:rPr lang="en-US" sz="800" b="0" i="1" noProof="0">
                <a:solidFill>
                  <a:srgbClr val="6785C1"/>
                </a:solidFill>
                <a:latin typeface="Helvetica Neue"/>
              </a:rPr>
              <a:t>Corporate</a:t>
            </a:r>
          </a:p>
        </p:txBody>
      </p:sp>
      <p:sp>
        <p:nvSpPr>
          <p:cNvPr id="197" name="Rounded Rectangle 38">
            <a:extLst>
              <a:ext uri="{FF2B5EF4-FFF2-40B4-BE49-F238E27FC236}">
                <a16:creationId xmlns:a16="http://schemas.microsoft.com/office/drawing/2014/main" id="{7BF82EE4-273D-C4D6-5BD4-1972C39FBC3C}"/>
              </a:ext>
            </a:extLst>
          </p:cNvPr>
          <p:cNvSpPr/>
          <p:nvPr/>
        </p:nvSpPr>
        <p:spPr>
          <a:xfrm>
            <a:off x="5029200" y="4251960"/>
            <a:ext cx="914400" cy="274320"/>
          </a:xfrm>
          <a:prstGeom prst="round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98" name="TextBox 197">
            <a:extLst>
              <a:ext uri="{FF2B5EF4-FFF2-40B4-BE49-F238E27FC236}">
                <a16:creationId xmlns:a16="http://schemas.microsoft.com/office/drawing/2014/main" id="{CA60E3D8-198B-62A5-534C-2B77711C146A}"/>
              </a:ext>
            </a:extLst>
          </p:cNvPr>
          <p:cNvSpPr txBox="1"/>
          <p:nvPr/>
        </p:nvSpPr>
        <p:spPr>
          <a:xfrm>
            <a:off x="5029200" y="4251960"/>
            <a:ext cx="914400" cy="274320"/>
          </a:xfrm>
          <a:prstGeom prst="rect">
            <a:avLst/>
          </a:prstGeom>
          <a:noFill/>
        </p:spPr>
        <p:txBody>
          <a:bodyPr wrap="square" lIns="0" tIns="0" rIns="0" bIns="0" anchor="ctr">
            <a:spAutoFit/>
          </a:bodyPr>
          <a:lstStyle/>
          <a:p>
            <a:pPr algn="ctr">
              <a:lnSpc>
                <a:spcPct val="110000"/>
              </a:lnSpc>
              <a:spcBef>
                <a:spcPts val="0"/>
              </a:spcBef>
              <a:spcAft>
                <a:spcPts val="0"/>
              </a:spcAft>
            </a:pPr>
            <a:r>
              <a:rPr lang="en-US" sz="700" b="1" i="0" noProof="0">
                <a:solidFill>
                  <a:srgbClr val="FFFFFF"/>
                </a:solidFill>
                <a:latin typeface="Helvetica Neue"/>
              </a:rPr>
              <a:t>LEGACY</a:t>
            </a:r>
          </a:p>
        </p:txBody>
      </p:sp>
      <p:sp>
        <p:nvSpPr>
          <p:cNvPr id="199" name="Rectangle 198">
            <a:extLst>
              <a:ext uri="{FF2B5EF4-FFF2-40B4-BE49-F238E27FC236}">
                <a16:creationId xmlns:a16="http://schemas.microsoft.com/office/drawing/2014/main" id="{D7ED42DB-D999-AEBA-C9BB-6C502805CA96}"/>
              </a:ext>
            </a:extLst>
          </p:cNvPr>
          <p:cNvSpPr/>
          <p:nvPr/>
        </p:nvSpPr>
        <p:spPr>
          <a:xfrm>
            <a:off x="457200" y="4645152"/>
            <a:ext cx="73152" cy="438912"/>
          </a:xfrm>
          <a:prstGeom prst="rect">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00" name="TextBox 199">
            <a:extLst>
              <a:ext uri="{FF2B5EF4-FFF2-40B4-BE49-F238E27FC236}">
                <a16:creationId xmlns:a16="http://schemas.microsoft.com/office/drawing/2014/main" id="{2B9CD11F-C566-44AF-4574-759043304FCB}"/>
              </a:ext>
            </a:extLst>
          </p:cNvPr>
          <p:cNvSpPr txBox="1"/>
          <p:nvPr/>
        </p:nvSpPr>
        <p:spPr>
          <a:xfrm>
            <a:off x="621792" y="4645152"/>
            <a:ext cx="1828800" cy="256032"/>
          </a:xfrm>
          <a:prstGeom prst="rect">
            <a:avLst/>
          </a:prstGeom>
          <a:noFill/>
        </p:spPr>
        <p:txBody>
          <a:bodyPr wrap="square" lIns="0" tIns="0" rIns="0" bIns="0" anchor="t">
            <a:spAutoFit/>
          </a:bodyPr>
          <a:lstStyle/>
          <a:p>
            <a:pPr algn="l">
              <a:lnSpc>
                <a:spcPct val="110000"/>
              </a:lnSpc>
              <a:spcBef>
                <a:spcPts val="0"/>
              </a:spcBef>
              <a:spcAft>
                <a:spcPts val="0"/>
              </a:spcAft>
            </a:pPr>
            <a:r>
              <a:rPr lang="en-US" sz="1000" b="1" i="0" noProof="0">
                <a:solidFill>
                  <a:srgbClr val="0F1C50"/>
                </a:solidFill>
                <a:latin typeface="Helvetica Neue"/>
              </a:rPr>
              <a:t>Email + Meetings</a:t>
            </a:r>
          </a:p>
        </p:txBody>
      </p:sp>
      <p:sp>
        <p:nvSpPr>
          <p:cNvPr id="201" name="TextBox 200">
            <a:extLst>
              <a:ext uri="{FF2B5EF4-FFF2-40B4-BE49-F238E27FC236}">
                <a16:creationId xmlns:a16="http://schemas.microsoft.com/office/drawing/2014/main" id="{D28BC6C3-D597-AB36-87BB-259B83D6C444}"/>
              </a:ext>
            </a:extLst>
          </p:cNvPr>
          <p:cNvSpPr txBox="1"/>
          <p:nvPr/>
        </p:nvSpPr>
        <p:spPr>
          <a:xfrm>
            <a:off x="621792" y="4873752"/>
            <a:ext cx="1828800" cy="228600"/>
          </a:xfrm>
          <a:prstGeom prst="rect">
            <a:avLst/>
          </a:prstGeom>
          <a:noFill/>
        </p:spPr>
        <p:txBody>
          <a:bodyPr wrap="square" lIns="0" tIns="0" rIns="0" bIns="0" anchor="t">
            <a:spAutoFit/>
          </a:bodyPr>
          <a:lstStyle/>
          <a:p>
            <a:pPr algn="l">
              <a:lnSpc>
                <a:spcPct val="110000"/>
              </a:lnSpc>
              <a:spcBef>
                <a:spcPts val="0"/>
              </a:spcBef>
              <a:spcAft>
                <a:spcPts val="0"/>
              </a:spcAft>
            </a:pPr>
            <a:r>
              <a:rPr lang="en-US" sz="800" b="0" i="0" noProof="0">
                <a:solidFill>
                  <a:srgbClr val="2C3E50"/>
                </a:solidFill>
                <a:latin typeface="Helvetica Neue"/>
              </a:rPr>
              <a:t>G&amp;E intake (only channel)</a:t>
            </a:r>
          </a:p>
        </p:txBody>
      </p:sp>
      <p:sp>
        <p:nvSpPr>
          <p:cNvPr id="202" name="TextBox 201">
            <a:extLst>
              <a:ext uri="{FF2B5EF4-FFF2-40B4-BE49-F238E27FC236}">
                <a16:creationId xmlns:a16="http://schemas.microsoft.com/office/drawing/2014/main" id="{2E9E4347-D9C9-F2A3-C9C0-E6918D7DCEAC}"/>
              </a:ext>
            </a:extLst>
          </p:cNvPr>
          <p:cNvSpPr txBox="1"/>
          <p:nvPr/>
        </p:nvSpPr>
        <p:spPr>
          <a:xfrm>
            <a:off x="2514600" y="4645152"/>
            <a:ext cx="2377440" cy="457200"/>
          </a:xfrm>
          <a:prstGeom prst="rect">
            <a:avLst/>
          </a:prstGeom>
          <a:noFill/>
        </p:spPr>
        <p:txBody>
          <a:bodyPr wrap="square" lIns="0" tIns="0" rIns="0" bIns="0" anchor="ctr">
            <a:spAutoFit/>
          </a:bodyPr>
          <a:lstStyle/>
          <a:p>
            <a:pPr algn="l">
              <a:lnSpc>
                <a:spcPct val="110000"/>
              </a:lnSpc>
              <a:spcBef>
                <a:spcPts val="0"/>
              </a:spcBef>
              <a:spcAft>
                <a:spcPts val="0"/>
              </a:spcAft>
            </a:pPr>
            <a:r>
              <a:rPr lang="en-US" sz="800" b="0" i="1" noProof="0">
                <a:solidFill>
                  <a:srgbClr val="6785C1"/>
                </a:solidFill>
                <a:latin typeface="Helvetica Neue"/>
              </a:rPr>
              <a:t>G&amp;E</a:t>
            </a:r>
          </a:p>
        </p:txBody>
      </p:sp>
      <p:sp>
        <p:nvSpPr>
          <p:cNvPr id="203" name="Rounded Rectangle 44">
            <a:extLst>
              <a:ext uri="{FF2B5EF4-FFF2-40B4-BE49-F238E27FC236}">
                <a16:creationId xmlns:a16="http://schemas.microsoft.com/office/drawing/2014/main" id="{E595DD0F-BEC0-D6B4-3DBD-6C3FA8FFCF85}"/>
              </a:ext>
            </a:extLst>
          </p:cNvPr>
          <p:cNvSpPr/>
          <p:nvPr/>
        </p:nvSpPr>
        <p:spPr>
          <a:xfrm>
            <a:off x="5029200" y="4736592"/>
            <a:ext cx="914400" cy="274320"/>
          </a:xfrm>
          <a:prstGeom prst="roundRect">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04" name="TextBox 203">
            <a:extLst>
              <a:ext uri="{FF2B5EF4-FFF2-40B4-BE49-F238E27FC236}">
                <a16:creationId xmlns:a16="http://schemas.microsoft.com/office/drawing/2014/main" id="{6CF3C007-F4A6-F674-CD13-696A35446389}"/>
              </a:ext>
            </a:extLst>
          </p:cNvPr>
          <p:cNvSpPr txBox="1"/>
          <p:nvPr/>
        </p:nvSpPr>
        <p:spPr>
          <a:xfrm>
            <a:off x="5029200" y="4736592"/>
            <a:ext cx="914400" cy="274320"/>
          </a:xfrm>
          <a:prstGeom prst="rect">
            <a:avLst/>
          </a:prstGeom>
          <a:noFill/>
        </p:spPr>
        <p:txBody>
          <a:bodyPr wrap="square" lIns="0" tIns="0" rIns="0" bIns="0" anchor="ctr">
            <a:spAutoFit/>
          </a:bodyPr>
          <a:lstStyle/>
          <a:p>
            <a:pPr algn="ctr">
              <a:lnSpc>
                <a:spcPct val="110000"/>
              </a:lnSpc>
              <a:spcBef>
                <a:spcPts val="0"/>
              </a:spcBef>
              <a:spcAft>
                <a:spcPts val="0"/>
              </a:spcAft>
            </a:pPr>
            <a:r>
              <a:rPr lang="en-US" sz="700" b="1" i="0" noProof="0">
                <a:solidFill>
                  <a:srgbClr val="FFFFFF"/>
                </a:solidFill>
                <a:latin typeface="Helvetica Neue"/>
              </a:rPr>
              <a:t>GAP</a:t>
            </a:r>
          </a:p>
        </p:txBody>
      </p:sp>
      <p:sp>
        <p:nvSpPr>
          <p:cNvPr id="205" name="Rectangle 204">
            <a:extLst>
              <a:ext uri="{FF2B5EF4-FFF2-40B4-BE49-F238E27FC236}">
                <a16:creationId xmlns:a16="http://schemas.microsoft.com/office/drawing/2014/main" id="{68CDE9B5-D5E2-C8D6-AB3E-0CC82546AAD8}"/>
              </a:ext>
            </a:extLst>
          </p:cNvPr>
          <p:cNvSpPr/>
          <p:nvPr/>
        </p:nvSpPr>
        <p:spPr>
          <a:xfrm>
            <a:off x="457200" y="5129784"/>
            <a:ext cx="73152" cy="438912"/>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06" name="TextBox 205">
            <a:extLst>
              <a:ext uri="{FF2B5EF4-FFF2-40B4-BE49-F238E27FC236}">
                <a16:creationId xmlns:a16="http://schemas.microsoft.com/office/drawing/2014/main" id="{BC614085-AF20-5098-120C-027216B49FFF}"/>
              </a:ext>
            </a:extLst>
          </p:cNvPr>
          <p:cNvSpPr txBox="1"/>
          <p:nvPr/>
        </p:nvSpPr>
        <p:spPr>
          <a:xfrm>
            <a:off x="621792" y="5129784"/>
            <a:ext cx="1828800" cy="256032"/>
          </a:xfrm>
          <a:prstGeom prst="rect">
            <a:avLst/>
          </a:prstGeom>
          <a:noFill/>
        </p:spPr>
        <p:txBody>
          <a:bodyPr wrap="square" lIns="0" tIns="0" rIns="0" bIns="0" anchor="t">
            <a:spAutoFit/>
          </a:bodyPr>
          <a:lstStyle/>
          <a:p>
            <a:pPr algn="l">
              <a:lnSpc>
                <a:spcPct val="110000"/>
              </a:lnSpc>
              <a:spcBef>
                <a:spcPts val="0"/>
              </a:spcBef>
              <a:spcAft>
                <a:spcPts val="0"/>
              </a:spcAft>
            </a:pPr>
            <a:r>
              <a:rPr lang="en-US" sz="1000" b="1" i="0" noProof="0">
                <a:solidFill>
                  <a:srgbClr val="0F1C50"/>
                </a:solidFill>
                <a:latin typeface="Helvetica Neue"/>
              </a:rPr>
              <a:t>OneNote / Spreadsheets</a:t>
            </a:r>
          </a:p>
        </p:txBody>
      </p:sp>
      <p:sp>
        <p:nvSpPr>
          <p:cNvPr id="207" name="TextBox 206">
            <a:extLst>
              <a:ext uri="{FF2B5EF4-FFF2-40B4-BE49-F238E27FC236}">
                <a16:creationId xmlns:a16="http://schemas.microsoft.com/office/drawing/2014/main" id="{4D7805B7-CD1D-8891-D2BE-60B1EDF8673C}"/>
              </a:ext>
            </a:extLst>
          </p:cNvPr>
          <p:cNvSpPr txBox="1"/>
          <p:nvPr/>
        </p:nvSpPr>
        <p:spPr>
          <a:xfrm>
            <a:off x="621792" y="5358384"/>
            <a:ext cx="1828800" cy="228600"/>
          </a:xfrm>
          <a:prstGeom prst="rect">
            <a:avLst/>
          </a:prstGeom>
          <a:noFill/>
        </p:spPr>
        <p:txBody>
          <a:bodyPr wrap="square" lIns="0" tIns="0" rIns="0" bIns="0" anchor="t">
            <a:spAutoFit/>
          </a:bodyPr>
          <a:lstStyle/>
          <a:p>
            <a:pPr algn="l">
              <a:lnSpc>
                <a:spcPct val="110000"/>
              </a:lnSpc>
              <a:spcBef>
                <a:spcPts val="0"/>
              </a:spcBef>
              <a:spcAft>
                <a:spcPts val="0"/>
              </a:spcAft>
            </a:pPr>
            <a:r>
              <a:rPr lang="en-US" sz="800" b="0" i="0" noProof="0">
                <a:solidFill>
                  <a:srgbClr val="2C3E50"/>
                </a:solidFill>
                <a:latin typeface="Helvetica Neue"/>
              </a:rPr>
              <a:t>Informal PM</a:t>
            </a:r>
          </a:p>
        </p:txBody>
      </p:sp>
      <p:sp>
        <p:nvSpPr>
          <p:cNvPr id="208" name="TextBox 207">
            <a:extLst>
              <a:ext uri="{FF2B5EF4-FFF2-40B4-BE49-F238E27FC236}">
                <a16:creationId xmlns:a16="http://schemas.microsoft.com/office/drawing/2014/main" id="{1E4B14C7-CA90-ABC0-9B14-6C9E5F2A15F0}"/>
              </a:ext>
            </a:extLst>
          </p:cNvPr>
          <p:cNvSpPr txBox="1"/>
          <p:nvPr/>
        </p:nvSpPr>
        <p:spPr>
          <a:xfrm>
            <a:off x="2514600" y="5129784"/>
            <a:ext cx="2377440" cy="457200"/>
          </a:xfrm>
          <a:prstGeom prst="rect">
            <a:avLst/>
          </a:prstGeom>
          <a:noFill/>
        </p:spPr>
        <p:txBody>
          <a:bodyPr wrap="square" lIns="0" tIns="0" rIns="0" bIns="0" anchor="ctr">
            <a:spAutoFit/>
          </a:bodyPr>
          <a:lstStyle/>
          <a:p>
            <a:pPr algn="l">
              <a:lnSpc>
                <a:spcPct val="110000"/>
              </a:lnSpc>
              <a:spcBef>
                <a:spcPts val="0"/>
              </a:spcBef>
              <a:spcAft>
                <a:spcPts val="0"/>
              </a:spcAft>
            </a:pPr>
            <a:r>
              <a:rPr lang="en-US" sz="800" b="0" i="1" noProof="0">
                <a:solidFill>
                  <a:srgbClr val="6785C1"/>
                </a:solidFill>
                <a:latin typeface="Helvetica Neue"/>
              </a:rPr>
              <a:t>GIS</a:t>
            </a:r>
          </a:p>
        </p:txBody>
      </p:sp>
      <p:sp>
        <p:nvSpPr>
          <p:cNvPr id="209" name="Rounded Rectangle 50">
            <a:extLst>
              <a:ext uri="{FF2B5EF4-FFF2-40B4-BE49-F238E27FC236}">
                <a16:creationId xmlns:a16="http://schemas.microsoft.com/office/drawing/2014/main" id="{C13EF588-4B42-4285-8331-77AAE3694357}"/>
              </a:ext>
            </a:extLst>
          </p:cNvPr>
          <p:cNvSpPr/>
          <p:nvPr/>
        </p:nvSpPr>
        <p:spPr>
          <a:xfrm>
            <a:off x="5029200" y="5221224"/>
            <a:ext cx="914400" cy="274320"/>
          </a:xfrm>
          <a:prstGeom prst="round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10" name="TextBox 209">
            <a:extLst>
              <a:ext uri="{FF2B5EF4-FFF2-40B4-BE49-F238E27FC236}">
                <a16:creationId xmlns:a16="http://schemas.microsoft.com/office/drawing/2014/main" id="{B8666A29-F4D1-9304-6299-B0B1D164BB69}"/>
              </a:ext>
            </a:extLst>
          </p:cNvPr>
          <p:cNvSpPr txBox="1"/>
          <p:nvPr/>
        </p:nvSpPr>
        <p:spPr>
          <a:xfrm>
            <a:off x="5029200" y="5221224"/>
            <a:ext cx="914400" cy="274320"/>
          </a:xfrm>
          <a:prstGeom prst="rect">
            <a:avLst/>
          </a:prstGeom>
          <a:noFill/>
        </p:spPr>
        <p:txBody>
          <a:bodyPr wrap="square" lIns="0" tIns="0" rIns="0" bIns="0" anchor="ctr">
            <a:spAutoFit/>
          </a:bodyPr>
          <a:lstStyle/>
          <a:p>
            <a:pPr algn="ctr">
              <a:lnSpc>
                <a:spcPct val="110000"/>
              </a:lnSpc>
              <a:spcBef>
                <a:spcPts val="0"/>
              </a:spcBef>
              <a:spcAft>
                <a:spcPts val="0"/>
              </a:spcAft>
            </a:pPr>
            <a:r>
              <a:rPr lang="en-US" sz="700" b="1" i="0" noProof="0">
                <a:solidFill>
                  <a:srgbClr val="FFFFFF"/>
                </a:solidFill>
                <a:latin typeface="Helvetica Neue"/>
              </a:rPr>
              <a:t>WORKAROUND</a:t>
            </a:r>
          </a:p>
        </p:txBody>
      </p:sp>
      <p:sp>
        <p:nvSpPr>
          <p:cNvPr id="211" name="TextBox 210">
            <a:extLst>
              <a:ext uri="{FF2B5EF4-FFF2-40B4-BE49-F238E27FC236}">
                <a16:creationId xmlns:a16="http://schemas.microsoft.com/office/drawing/2014/main" id="{CC7D9541-E542-2AA1-106C-CE76D35ECB02}"/>
              </a:ext>
            </a:extLst>
          </p:cNvPr>
          <p:cNvSpPr txBox="1"/>
          <p:nvPr/>
        </p:nvSpPr>
        <p:spPr>
          <a:xfrm>
            <a:off x="6263640" y="1371600"/>
            <a:ext cx="5486400" cy="320040"/>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rgbClr val="0F1C50"/>
                </a:solidFill>
                <a:latin typeface="Helvetica Neue"/>
              </a:rPr>
              <a:t>CUSTOMER SERVICES / SAP — Kumar </a:t>
            </a:r>
            <a:r>
              <a:rPr lang="en-US" sz="1100" b="1" i="0" noProof="0" err="1">
                <a:solidFill>
                  <a:srgbClr val="0F1C50"/>
                </a:solidFill>
                <a:latin typeface="Helvetica Neue"/>
              </a:rPr>
              <a:t>Jaladanki</a:t>
            </a:r>
            <a:endParaRPr lang="en-US" sz="1100" b="1" i="0" noProof="0">
              <a:solidFill>
                <a:srgbClr val="0F1C50"/>
              </a:solidFill>
              <a:latin typeface="Helvetica Neue"/>
            </a:endParaRPr>
          </a:p>
        </p:txBody>
      </p:sp>
      <p:sp>
        <p:nvSpPr>
          <p:cNvPr id="212" name="Rectangle 211">
            <a:extLst>
              <a:ext uri="{FF2B5EF4-FFF2-40B4-BE49-F238E27FC236}">
                <a16:creationId xmlns:a16="http://schemas.microsoft.com/office/drawing/2014/main" id="{44E50815-6551-D206-7674-B58755E7A267}"/>
              </a:ext>
            </a:extLst>
          </p:cNvPr>
          <p:cNvSpPr/>
          <p:nvPr/>
        </p:nvSpPr>
        <p:spPr>
          <a:xfrm>
            <a:off x="6263640" y="1737360"/>
            <a:ext cx="73152" cy="438912"/>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13" name="TextBox 212">
            <a:extLst>
              <a:ext uri="{FF2B5EF4-FFF2-40B4-BE49-F238E27FC236}">
                <a16:creationId xmlns:a16="http://schemas.microsoft.com/office/drawing/2014/main" id="{11A23FA0-B9A5-AABB-1BBC-7192580C9511}"/>
              </a:ext>
            </a:extLst>
          </p:cNvPr>
          <p:cNvSpPr txBox="1"/>
          <p:nvPr/>
        </p:nvSpPr>
        <p:spPr>
          <a:xfrm>
            <a:off x="6428232" y="1737360"/>
            <a:ext cx="1828800" cy="156133"/>
          </a:xfrm>
          <a:prstGeom prst="rect">
            <a:avLst/>
          </a:prstGeom>
          <a:noFill/>
        </p:spPr>
        <p:txBody>
          <a:bodyPr wrap="square" lIns="0" tIns="0" rIns="0" bIns="0" anchor="t">
            <a:spAutoFit/>
          </a:bodyPr>
          <a:lstStyle/>
          <a:p>
            <a:pPr algn="l">
              <a:lnSpc>
                <a:spcPct val="110000"/>
              </a:lnSpc>
              <a:spcBef>
                <a:spcPts val="0"/>
              </a:spcBef>
              <a:spcAft>
                <a:spcPts val="0"/>
              </a:spcAft>
            </a:pPr>
            <a:r>
              <a:rPr lang="en-US" sz="1000" b="1" i="0" noProof="0">
                <a:solidFill>
                  <a:srgbClr val="0F1C50"/>
                </a:solidFill>
                <a:highlight>
                  <a:srgbClr val="FFFF00"/>
                </a:highlight>
                <a:latin typeface="Helvetica Neue"/>
              </a:rPr>
              <a:t>IT Now</a:t>
            </a:r>
          </a:p>
        </p:txBody>
      </p:sp>
      <p:sp>
        <p:nvSpPr>
          <p:cNvPr id="214" name="TextBox 213">
            <a:extLst>
              <a:ext uri="{FF2B5EF4-FFF2-40B4-BE49-F238E27FC236}">
                <a16:creationId xmlns:a16="http://schemas.microsoft.com/office/drawing/2014/main" id="{75ADA6C8-366A-A91E-19FE-60168181A7B8}"/>
              </a:ext>
            </a:extLst>
          </p:cNvPr>
          <p:cNvSpPr txBox="1"/>
          <p:nvPr/>
        </p:nvSpPr>
        <p:spPr>
          <a:xfrm>
            <a:off x="6428232" y="1965960"/>
            <a:ext cx="1828800" cy="228600"/>
          </a:xfrm>
          <a:prstGeom prst="rect">
            <a:avLst/>
          </a:prstGeom>
          <a:noFill/>
        </p:spPr>
        <p:txBody>
          <a:bodyPr wrap="square" lIns="0" tIns="0" rIns="0" bIns="0" anchor="t">
            <a:spAutoFit/>
          </a:bodyPr>
          <a:lstStyle/>
          <a:p>
            <a:pPr algn="l">
              <a:lnSpc>
                <a:spcPct val="110000"/>
              </a:lnSpc>
              <a:spcBef>
                <a:spcPts val="0"/>
              </a:spcBef>
              <a:spcAft>
                <a:spcPts val="0"/>
              </a:spcAft>
            </a:pPr>
            <a:r>
              <a:rPr lang="en-US" sz="800" b="0" i="0" noProof="0">
                <a:solidFill>
                  <a:srgbClr val="2C3E50"/>
                </a:solidFill>
                <a:latin typeface="Helvetica Neue"/>
              </a:rPr>
              <a:t>Incidents (template) — Metering</a:t>
            </a:r>
          </a:p>
        </p:txBody>
      </p:sp>
      <p:sp>
        <p:nvSpPr>
          <p:cNvPr id="215" name="TextBox 214">
            <a:extLst>
              <a:ext uri="{FF2B5EF4-FFF2-40B4-BE49-F238E27FC236}">
                <a16:creationId xmlns:a16="http://schemas.microsoft.com/office/drawing/2014/main" id="{1A50DA9E-CD38-A09D-002D-BBB7D9B81BD9}"/>
              </a:ext>
            </a:extLst>
          </p:cNvPr>
          <p:cNvSpPr txBox="1"/>
          <p:nvPr/>
        </p:nvSpPr>
        <p:spPr>
          <a:xfrm>
            <a:off x="8321040" y="1737360"/>
            <a:ext cx="2377440" cy="457200"/>
          </a:xfrm>
          <a:prstGeom prst="rect">
            <a:avLst/>
          </a:prstGeom>
          <a:noFill/>
        </p:spPr>
        <p:txBody>
          <a:bodyPr wrap="square" lIns="0" tIns="0" rIns="0" bIns="0" anchor="ctr">
            <a:spAutoFit/>
          </a:bodyPr>
          <a:lstStyle/>
          <a:p>
            <a:pPr algn="l">
              <a:lnSpc>
                <a:spcPct val="110000"/>
              </a:lnSpc>
              <a:spcBef>
                <a:spcPts val="0"/>
              </a:spcBef>
              <a:spcAft>
                <a:spcPts val="0"/>
              </a:spcAft>
            </a:pPr>
            <a:r>
              <a:rPr lang="en-US" sz="800" b="0" i="1" noProof="0">
                <a:solidFill>
                  <a:srgbClr val="6785C1"/>
                </a:solidFill>
                <a:latin typeface="Helvetica Neue"/>
              </a:rPr>
              <a:t>Smart Metering</a:t>
            </a:r>
          </a:p>
        </p:txBody>
      </p:sp>
      <p:sp>
        <p:nvSpPr>
          <p:cNvPr id="216" name="Rounded Rectangle 57">
            <a:extLst>
              <a:ext uri="{FF2B5EF4-FFF2-40B4-BE49-F238E27FC236}">
                <a16:creationId xmlns:a16="http://schemas.microsoft.com/office/drawing/2014/main" id="{2BD25448-D77E-6EFA-F88D-42A7517C29FD}"/>
              </a:ext>
            </a:extLst>
          </p:cNvPr>
          <p:cNvSpPr/>
          <p:nvPr/>
        </p:nvSpPr>
        <p:spPr>
          <a:xfrm>
            <a:off x="10789920" y="1828800"/>
            <a:ext cx="914400" cy="274320"/>
          </a:xfrm>
          <a:prstGeom prst="round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17" name="TextBox 216">
            <a:extLst>
              <a:ext uri="{FF2B5EF4-FFF2-40B4-BE49-F238E27FC236}">
                <a16:creationId xmlns:a16="http://schemas.microsoft.com/office/drawing/2014/main" id="{0B86281C-75CA-C97C-A270-71ECE9671BB1}"/>
              </a:ext>
            </a:extLst>
          </p:cNvPr>
          <p:cNvSpPr txBox="1"/>
          <p:nvPr/>
        </p:nvSpPr>
        <p:spPr>
          <a:xfrm>
            <a:off x="10789920" y="1828800"/>
            <a:ext cx="914400" cy="274320"/>
          </a:xfrm>
          <a:prstGeom prst="rect">
            <a:avLst/>
          </a:prstGeom>
          <a:noFill/>
        </p:spPr>
        <p:txBody>
          <a:bodyPr wrap="square" lIns="0" tIns="0" rIns="0" bIns="0" anchor="ctr">
            <a:spAutoFit/>
          </a:bodyPr>
          <a:lstStyle/>
          <a:p>
            <a:pPr algn="ctr">
              <a:lnSpc>
                <a:spcPct val="110000"/>
              </a:lnSpc>
              <a:spcBef>
                <a:spcPts val="0"/>
              </a:spcBef>
              <a:spcAft>
                <a:spcPts val="0"/>
              </a:spcAft>
            </a:pPr>
            <a:r>
              <a:rPr lang="en-US" sz="700" b="1" i="0" noProof="0">
                <a:solidFill>
                  <a:srgbClr val="FFFFFF"/>
                </a:solidFill>
                <a:latin typeface="Helvetica Neue"/>
              </a:rPr>
              <a:t>PRIMARY</a:t>
            </a:r>
          </a:p>
        </p:txBody>
      </p:sp>
      <p:sp>
        <p:nvSpPr>
          <p:cNvPr id="218" name="Rectangle 217">
            <a:extLst>
              <a:ext uri="{FF2B5EF4-FFF2-40B4-BE49-F238E27FC236}">
                <a16:creationId xmlns:a16="http://schemas.microsoft.com/office/drawing/2014/main" id="{1C963259-57DC-5B85-BF66-C6A95AFD56E7}"/>
              </a:ext>
            </a:extLst>
          </p:cNvPr>
          <p:cNvSpPr/>
          <p:nvPr/>
        </p:nvSpPr>
        <p:spPr>
          <a:xfrm>
            <a:off x="6263640" y="2221991"/>
            <a:ext cx="73152" cy="438912"/>
          </a:xfrm>
          <a:prstGeom prst="rect">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19" name="TextBox 218">
            <a:extLst>
              <a:ext uri="{FF2B5EF4-FFF2-40B4-BE49-F238E27FC236}">
                <a16:creationId xmlns:a16="http://schemas.microsoft.com/office/drawing/2014/main" id="{C6C7255D-23A9-0D7C-DB67-5B66C5F4DB64}"/>
              </a:ext>
            </a:extLst>
          </p:cNvPr>
          <p:cNvSpPr txBox="1"/>
          <p:nvPr/>
        </p:nvSpPr>
        <p:spPr>
          <a:xfrm>
            <a:off x="6428232" y="2221991"/>
            <a:ext cx="1828800" cy="256032"/>
          </a:xfrm>
          <a:prstGeom prst="rect">
            <a:avLst/>
          </a:prstGeom>
          <a:noFill/>
        </p:spPr>
        <p:txBody>
          <a:bodyPr wrap="square" lIns="0" tIns="0" rIns="0" bIns="0" anchor="t">
            <a:spAutoFit/>
          </a:bodyPr>
          <a:lstStyle/>
          <a:p>
            <a:pPr algn="l">
              <a:lnSpc>
                <a:spcPct val="110000"/>
              </a:lnSpc>
              <a:spcBef>
                <a:spcPts val="0"/>
              </a:spcBef>
              <a:spcAft>
                <a:spcPts val="0"/>
              </a:spcAft>
            </a:pPr>
            <a:r>
              <a:rPr lang="en-US" sz="1000" b="1" i="0" noProof="0">
                <a:solidFill>
                  <a:srgbClr val="0F1C50"/>
                </a:solidFill>
                <a:latin typeface="Helvetica Neue"/>
              </a:rPr>
              <a:t>Email</a:t>
            </a:r>
          </a:p>
        </p:txBody>
      </p:sp>
      <p:sp>
        <p:nvSpPr>
          <p:cNvPr id="220" name="TextBox 219">
            <a:extLst>
              <a:ext uri="{FF2B5EF4-FFF2-40B4-BE49-F238E27FC236}">
                <a16:creationId xmlns:a16="http://schemas.microsoft.com/office/drawing/2014/main" id="{C339D63E-16B6-F168-2435-402A5641A24F}"/>
              </a:ext>
            </a:extLst>
          </p:cNvPr>
          <p:cNvSpPr txBox="1"/>
          <p:nvPr/>
        </p:nvSpPr>
        <p:spPr>
          <a:xfrm>
            <a:off x="6428232" y="2450591"/>
            <a:ext cx="1828800" cy="228600"/>
          </a:xfrm>
          <a:prstGeom prst="rect">
            <a:avLst/>
          </a:prstGeom>
          <a:noFill/>
        </p:spPr>
        <p:txBody>
          <a:bodyPr wrap="square" lIns="0" tIns="0" rIns="0" bIns="0" anchor="t">
            <a:spAutoFit/>
          </a:bodyPr>
          <a:lstStyle/>
          <a:p>
            <a:pPr algn="l">
              <a:lnSpc>
                <a:spcPct val="110000"/>
              </a:lnSpc>
              <a:spcBef>
                <a:spcPts val="0"/>
              </a:spcBef>
              <a:spcAft>
                <a:spcPts val="0"/>
              </a:spcAft>
            </a:pPr>
            <a:r>
              <a:rPr lang="en-US" sz="800" b="0" i="0" noProof="0">
                <a:solidFill>
                  <a:srgbClr val="2C3E50"/>
                </a:solidFill>
                <a:latin typeface="Helvetica Neue"/>
              </a:rPr>
              <a:t>Small demand (Smart Metering)</a:t>
            </a:r>
          </a:p>
        </p:txBody>
      </p:sp>
      <p:sp>
        <p:nvSpPr>
          <p:cNvPr id="221" name="TextBox 220">
            <a:extLst>
              <a:ext uri="{FF2B5EF4-FFF2-40B4-BE49-F238E27FC236}">
                <a16:creationId xmlns:a16="http://schemas.microsoft.com/office/drawing/2014/main" id="{728DB74D-EB87-96E7-5E1C-EB41F9C35210}"/>
              </a:ext>
            </a:extLst>
          </p:cNvPr>
          <p:cNvSpPr txBox="1"/>
          <p:nvPr/>
        </p:nvSpPr>
        <p:spPr>
          <a:xfrm>
            <a:off x="8321040" y="2221991"/>
            <a:ext cx="2377440" cy="457200"/>
          </a:xfrm>
          <a:prstGeom prst="rect">
            <a:avLst/>
          </a:prstGeom>
          <a:noFill/>
        </p:spPr>
        <p:txBody>
          <a:bodyPr wrap="square" lIns="0" tIns="0" rIns="0" bIns="0" anchor="ctr">
            <a:spAutoFit/>
          </a:bodyPr>
          <a:lstStyle/>
          <a:p>
            <a:pPr algn="l">
              <a:lnSpc>
                <a:spcPct val="110000"/>
              </a:lnSpc>
              <a:spcBef>
                <a:spcPts val="0"/>
              </a:spcBef>
              <a:spcAft>
                <a:spcPts val="0"/>
              </a:spcAft>
            </a:pPr>
            <a:r>
              <a:rPr lang="en-US" sz="800" b="0" i="1" noProof="0">
                <a:solidFill>
                  <a:srgbClr val="6785C1"/>
                </a:solidFill>
                <a:latin typeface="Helvetica Neue"/>
              </a:rPr>
              <a:t>Smart Metering</a:t>
            </a:r>
          </a:p>
        </p:txBody>
      </p:sp>
      <p:sp>
        <p:nvSpPr>
          <p:cNvPr id="222" name="Rounded Rectangle 63">
            <a:extLst>
              <a:ext uri="{FF2B5EF4-FFF2-40B4-BE49-F238E27FC236}">
                <a16:creationId xmlns:a16="http://schemas.microsoft.com/office/drawing/2014/main" id="{3FB2639A-E25C-35C1-1C5B-6035D9007A89}"/>
              </a:ext>
            </a:extLst>
          </p:cNvPr>
          <p:cNvSpPr/>
          <p:nvPr/>
        </p:nvSpPr>
        <p:spPr>
          <a:xfrm>
            <a:off x="10789920" y="2313432"/>
            <a:ext cx="914400" cy="274320"/>
          </a:xfrm>
          <a:prstGeom prst="roundRect">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23" name="TextBox 222">
            <a:extLst>
              <a:ext uri="{FF2B5EF4-FFF2-40B4-BE49-F238E27FC236}">
                <a16:creationId xmlns:a16="http://schemas.microsoft.com/office/drawing/2014/main" id="{4952B554-22BD-8A81-61F2-B4CCC9BF3AC0}"/>
              </a:ext>
            </a:extLst>
          </p:cNvPr>
          <p:cNvSpPr txBox="1"/>
          <p:nvPr/>
        </p:nvSpPr>
        <p:spPr>
          <a:xfrm>
            <a:off x="10789920" y="2313432"/>
            <a:ext cx="914400" cy="274320"/>
          </a:xfrm>
          <a:prstGeom prst="rect">
            <a:avLst/>
          </a:prstGeom>
          <a:noFill/>
        </p:spPr>
        <p:txBody>
          <a:bodyPr wrap="square" lIns="0" tIns="0" rIns="0" bIns="0" anchor="ctr">
            <a:spAutoFit/>
          </a:bodyPr>
          <a:lstStyle/>
          <a:p>
            <a:pPr algn="ctr">
              <a:lnSpc>
                <a:spcPct val="110000"/>
              </a:lnSpc>
              <a:spcBef>
                <a:spcPts val="0"/>
              </a:spcBef>
              <a:spcAft>
                <a:spcPts val="0"/>
              </a:spcAft>
            </a:pPr>
            <a:r>
              <a:rPr lang="en-US" sz="700" b="1" i="0" noProof="0">
                <a:solidFill>
                  <a:srgbClr val="FFFFFF"/>
                </a:solidFill>
                <a:latin typeface="Helvetica Neue"/>
              </a:rPr>
              <a:t>GAP</a:t>
            </a:r>
          </a:p>
        </p:txBody>
      </p:sp>
      <p:sp>
        <p:nvSpPr>
          <p:cNvPr id="224" name="Rectangle 223">
            <a:extLst>
              <a:ext uri="{FF2B5EF4-FFF2-40B4-BE49-F238E27FC236}">
                <a16:creationId xmlns:a16="http://schemas.microsoft.com/office/drawing/2014/main" id="{89305C29-EA59-340D-8CE4-BF6977CA61B0}"/>
              </a:ext>
            </a:extLst>
          </p:cNvPr>
          <p:cNvSpPr/>
          <p:nvPr/>
        </p:nvSpPr>
        <p:spPr>
          <a:xfrm>
            <a:off x="6263640" y="2706624"/>
            <a:ext cx="73152" cy="438912"/>
          </a:xfrm>
          <a:prstGeom prst="rect">
            <a:avLst/>
          </a:prstGeom>
          <a:solidFill>
            <a:srgbClr val="95A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25" name="TextBox 224">
            <a:extLst>
              <a:ext uri="{FF2B5EF4-FFF2-40B4-BE49-F238E27FC236}">
                <a16:creationId xmlns:a16="http://schemas.microsoft.com/office/drawing/2014/main" id="{8887AEF3-BF55-836A-421B-ACC5A07C74E4}"/>
              </a:ext>
            </a:extLst>
          </p:cNvPr>
          <p:cNvSpPr txBox="1"/>
          <p:nvPr/>
        </p:nvSpPr>
        <p:spPr>
          <a:xfrm>
            <a:off x="6428232" y="2706624"/>
            <a:ext cx="1828800" cy="156133"/>
          </a:xfrm>
          <a:prstGeom prst="rect">
            <a:avLst/>
          </a:prstGeom>
          <a:noFill/>
        </p:spPr>
        <p:txBody>
          <a:bodyPr wrap="square" lIns="0" tIns="0" rIns="0" bIns="0" anchor="t">
            <a:spAutoFit/>
          </a:bodyPr>
          <a:lstStyle/>
          <a:p>
            <a:pPr algn="l">
              <a:lnSpc>
                <a:spcPct val="110000"/>
              </a:lnSpc>
              <a:spcBef>
                <a:spcPts val="0"/>
              </a:spcBef>
              <a:spcAft>
                <a:spcPts val="0"/>
              </a:spcAft>
            </a:pPr>
            <a:r>
              <a:rPr lang="en-US" sz="1000" b="1" i="0" noProof="0">
                <a:solidFill>
                  <a:srgbClr val="0F1C50"/>
                </a:solidFill>
                <a:highlight>
                  <a:srgbClr val="FFFF00"/>
                </a:highlight>
                <a:latin typeface="Helvetica Neue"/>
              </a:rPr>
              <a:t>Jira</a:t>
            </a:r>
          </a:p>
        </p:txBody>
      </p:sp>
      <p:sp>
        <p:nvSpPr>
          <p:cNvPr id="226" name="TextBox 225">
            <a:extLst>
              <a:ext uri="{FF2B5EF4-FFF2-40B4-BE49-F238E27FC236}">
                <a16:creationId xmlns:a16="http://schemas.microsoft.com/office/drawing/2014/main" id="{FFFAB640-D696-0176-7207-705937E0DF57}"/>
              </a:ext>
            </a:extLst>
          </p:cNvPr>
          <p:cNvSpPr txBox="1"/>
          <p:nvPr/>
        </p:nvSpPr>
        <p:spPr>
          <a:xfrm>
            <a:off x="6428232" y="2935224"/>
            <a:ext cx="1828800" cy="228600"/>
          </a:xfrm>
          <a:prstGeom prst="rect">
            <a:avLst/>
          </a:prstGeom>
          <a:noFill/>
        </p:spPr>
        <p:txBody>
          <a:bodyPr wrap="square" lIns="0" tIns="0" rIns="0" bIns="0" anchor="t">
            <a:spAutoFit/>
          </a:bodyPr>
          <a:lstStyle/>
          <a:p>
            <a:pPr algn="l">
              <a:lnSpc>
                <a:spcPct val="110000"/>
              </a:lnSpc>
              <a:spcBef>
                <a:spcPts val="0"/>
              </a:spcBef>
              <a:spcAft>
                <a:spcPts val="0"/>
              </a:spcAft>
            </a:pPr>
            <a:r>
              <a:rPr lang="en-US" sz="800" b="0" i="0" noProof="0">
                <a:solidFill>
                  <a:srgbClr val="2C3E50"/>
                </a:solidFill>
                <a:latin typeface="Helvetica Neue"/>
              </a:rPr>
              <a:t>Used by PMs (Smart Metering)</a:t>
            </a:r>
          </a:p>
        </p:txBody>
      </p:sp>
      <p:sp>
        <p:nvSpPr>
          <p:cNvPr id="227" name="TextBox 226">
            <a:extLst>
              <a:ext uri="{FF2B5EF4-FFF2-40B4-BE49-F238E27FC236}">
                <a16:creationId xmlns:a16="http://schemas.microsoft.com/office/drawing/2014/main" id="{D469659A-422B-B020-666F-1C8021F3649A}"/>
              </a:ext>
            </a:extLst>
          </p:cNvPr>
          <p:cNvSpPr txBox="1"/>
          <p:nvPr/>
        </p:nvSpPr>
        <p:spPr>
          <a:xfrm>
            <a:off x="8321040" y="2706624"/>
            <a:ext cx="2377440" cy="457200"/>
          </a:xfrm>
          <a:prstGeom prst="rect">
            <a:avLst/>
          </a:prstGeom>
          <a:noFill/>
        </p:spPr>
        <p:txBody>
          <a:bodyPr wrap="square" lIns="0" tIns="0" rIns="0" bIns="0" anchor="ctr">
            <a:spAutoFit/>
          </a:bodyPr>
          <a:lstStyle/>
          <a:p>
            <a:pPr algn="l">
              <a:lnSpc>
                <a:spcPct val="110000"/>
              </a:lnSpc>
              <a:spcBef>
                <a:spcPts val="0"/>
              </a:spcBef>
              <a:spcAft>
                <a:spcPts val="0"/>
              </a:spcAft>
            </a:pPr>
            <a:r>
              <a:rPr lang="en-US" sz="800" b="0" i="1" noProof="0">
                <a:solidFill>
                  <a:srgbClr val="6785C1"/>
                </a:solidFill>
                <a:latin typeface="Helvetica Neue"/>
              </a:rPr>
              <a:t>Smart Metering</a:t>
            </a:r>
          </a:p>
        </p:txBody>
      </p:sp>
      <p:sp>
        <p:nvSpPr>
          <p:cNvPr id="228" name="Rounded Rectangle 69">
            <a:extLst>
              <a:ext uri="{FF2B5EF4-FFF2-40B4-BE49-F238E27FC236}">
                <a16:creationId xmlns:a16="http://schemas.microsoft.com/office/drawing/2014/main" id="{A878F79A-905A-59D5-1BF2-AF1B6F9D8567}"/>
              </a:ext>
            </a:extLst>
          </p:cNvPr>
          <p:cNvSpPr/>
          <p:nvPr/>
        </p:nvSpPr>
        <p:spPr>
          <a:xfrm>
            <a:off x="10789920" y="2798064"/>
            <a:ext cx="914400" cy="274320"/>
          </a:xfrm>
          <a:prstGeom prst="roundRect">
            <a:avLst/>
          </a:prstGeom>
          <a:solidFill>
            <a:srgbClr val="95A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29" name="TextBox 228">
            <a:extLst>
              <a:ext uri="{FF2B5EF4-FFF2-40B4-BE49-F238E27FC236}">
                <a16:creationId xmlns:a16="http://schemas.microsoft.com/office/drawing/2014/main" id="{100FE2C9-D2A8-A43B-F11D-0AD9774757B2}"/>
              </a:ext>
            </a:extLst>
          </p:cNvPr>
          <p:cNvSpPr txBox="1"/>
          <p:nvPr/>
        </p:nvSpPr>
        <p:spPr>
          <a:xfrm>
            <a:off x="10789920" y="2798064"/>
            <a:ext cx="914400" cy="274320"/>
          </a:xfrm>
          <a:prstGeom prst="rect">
            <a:avLst/>
          </a:prstGeom>
          <a:noFill/>
        </p:spPr>
        <p:txBody>
          <a:bodyPr wrap="square" lIns="0" tIns="0" rIns="0" bIns="0" anchor="ctr">
            <a:spAutoFit/>
          </a:bodyPr>
          <a:lstStyle/>
          <a:p>
            <a:pPr algn="ctr">
              <a:lnSpc>
                <a:spcPct val="110000"/>
              </a:lnSpc>
              <a:spcBef>
                <a:spcPts val="0"/>
              </a:spcBef>
              <a:spcAft>
                <a:spcPts val="0"/>
              </a:spcAft>
            </a:pPr>
            <a:r>
              <a:rPr lang="en-US" sz="700" b="1" i="0" noProof="0">
                <a:solidFill>
                  <a:srgbClr val="FFFFFF"/>
                </a:solidFill>
                <a:latin typeface="Helvetica Neue"/>
              </a:rPr>
              <a:t>SPECIFIC</a:t>
            </a:r>
          </a:p>
        </p:txBody>
      </p:sp>
      <p:sp>
        <p:nvSpPr>
          <p:cNvPr id="230" name="Rectangle 229">
            <a:extLst>
              <a:ext uri="{FF2B5EF4-FFF2-40B4-BE49-F238E27FC236}">
                <a16:creationId xmlns:a16="http://schemas.microsoft.com/office/drawing/2014/main" id="{551BAB09-A8D3-9631-349E-1AAA235B93B1}"/>
              </a:ext>
            </a:extLst>
          </p:cNvPr>
          <p:cNvSpPr/>
          <p:nvPr/>
        </p:nvSpPr>
        <p:spPr>
          <a:xfrm>
            <a:off x="6263640" y="3191256"/>
            <a:ext cx="73152" cy="438912"/>
          </a:xfrm>
          <a:prstGeom prst="rect">
            <a:avLst/>
          </a:prstGeom>
          <a:solidFill>
            <a:srgbClr val="95A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31" name="TextBox 230">
            <a:extLst>
              <a:ext uri="{FF2B5EF4-FFF2-40B4-BE49-F238E27FC236}">
                <a16:creationId xmlns:a16="http://schemas.microsoft.com/office/drawing/2014/main" id="{4360B736-30D3-0D02-722E-6F646A0D407F}"/>
              </a:ext>
            </a:extLst>
          </p:cNvPr>
          <p:cNvSpPr txBox="1"/>
          <p:nvPr/>
        </p:nvSpPr>
        <p:spPr>
          <a:xfrm>
            <a:off x="6428232" y="3191256"/>
            <a:ext cx="1828800" cy="156133"/>
          </a:xfrm>
          <a:prstGeom prst="rect">
            <a:avLst/>
          </a:prstGeom>
          <a:noFill/>
        </p:spPr>
        <p:txBody>
          <a:bodyPr wrap="square" lIns="0" tIns="0" rIns="0" bIns="0" anchor="t">
            <a:spAutoFit/>
          </a:bodyPr>
          <a:lstStyle/>
          <a:p>
            <a:pPr algn="l">
              <a:lnSpc>
                <a:spcPct val="110000"/>
              </a:lnSpc>
              <a:spcBef>
                <a:spcPts val="0"/>
              </a:spcBef>
              <a:spcAft>
                <a:spcPts val="0"/>
              </a:spcAft>
            </a:pPr>
            <a:r>
              <a:rPr lang="en-US" sz="1000" b="1" i="0" noProof="0">
                <a:solidFill>
                  <a:srgbClr val="0F1C50"/>
                </a:solidFill>
                <a:highlight>
                  <a:srgbClr val="FFFF00"/>
                </a:highlight>
                <a:latin typeface="Helvetica Neue"/>
              </a:rPr>
              <a:t>Confluence</a:t>
            </a:r>
          </a:p>
        </p:txBody>
      </p:sp>
      <p:sp>
        <p:nvSpPr>
          <p:cNvPr id="232" name="TextBox 231">
            <a:extLst>
              <a:ext uri="{FF2B5EF4-FFF2-40B4-BE49-F238E27FC236}">
                <a16:creationId xmlns:a16="http://schemas.microsoft.com/office/drawing/2014/main" id="{058B828A-A9AC-2B79-5A45-8DE5D571BC65}"/>
              </a:ext>
            </a:extLst>
          </p:cNvPr>
          <p:cNvSpPr txBox="1"/>
          <p:nvPr/>
        </p:nvSpPr>
        <p:spPr>
          <a:xfrm>
            <a:off x="6428232" y="3419856"/>
            <a:ext cx="1828800" cy="228600"/>
          </a:xfrm>
          <a:prstGeom prst="rect">
            <a:avLst/>
          </a:prstGeom>
          <a:noFill/>
        </p:spPr>
        <p:txBody>
          <a:bodyPr wrap="square" lIns="0" tIns="0" rIns="0" bIns="0" anchor="t">
            <a:spAutoFit/>
          </a:bodyPr>
          <a:lstStyle/>
          <a:p>
            <a:pPr algn="l">
              <a:lnSpc>
                <a:spcPct val="110000"/>
              </a:lnSpc>
              <a:spcBef>
                <a:spcPts val="0"/>
              </a:spcBef>
              <a:spcAft>
                <a:spcPts val="0"/>
              </a:spcAft>
            </a:pPr>
            <a:r>
              <a:rPr lang="en-US" sz="800" b="0" i="0" noProof="0">
                <a:solidFill>
                  <a:srgbClr val="2C3E50"/>
                </a:solidFill>
                <a:latin typeface="Helvetica Neue"/>
              </a:rPr>
              <a:t>Portfolio documentation (Metering only)</a:t>
            </a:r>
          </a:p>
        </p:txBody>
      </p:sp>
      <p:sp>
        <p:nvSpPr>
          <p:cNvPr id="233" name="TextBox 232">
            <a:extLst>
              <a:ext uri="{FF2B5EF4-FFF2-40B4-BE49-F238E27FC236}">
                <a16:creationId xmlns:a16="http://schemas.microsoft.com/office/drawing/2014/main" id="{70CE9ED1-CE07-FF7B-E13B-96B3169CB8B6}"/>
              </a:ext>
            </a:extLst>
          </p:cNvPr>
          <p:cNvSpPr txBox="1"/>
          <p:nvPr/>
        </p:nvSpPr>
        <p:spPr>
          <a:xfrm>
            <a:off x="8321040" y="3191256"/>
            <a:ext cx="2377440" cy="457200"/>
          </a:xfrm>
          <a:prstGeom prst="rect">
            <a:avLst/>
          </a:prstGeom>
          <a:noFill/>
        </p:spPr>
        <p:txBody>
          <a:bodyPr wrap="square" lIns="0" tIns="0" rIns="0" bIns="0" anchor="ctr">
            <a:spAutoFit/>
          </a:bodyPr>
          <a:lstStyle/>
          <a:p>
            <a:pPr algn="l">
              <a:lnSpc>
                <a:spcPct val="110000"/>
              </a:lnSpc>
              <a:spcBef>
                <a:spcPts val="0"/>
              </a:spcBef>
              <a:spcAft>
                <a:spcPts val="0"/>
              </a:spcAft>
            </a:pPr>
            <a:r>
              <a:rPr lang="en-US" sz="800" b="0" i="1" noProof="0">
                <a:solidFill>
                  <a:srgbClr val="6785C1"/>
                </a:solidFill>
                <a:latin typeface="Helvetica Neue"/>
              </a:rPr>
              <a:t>Smart Metering</a:t>
            </a:r>
          </a:p>
        </p:txBody>
      </p:sp>
      <p:sp>
        <p:nvSpPr>
          <p:cNvPr id="234" name="Rounded Rectangle 75">
            <a:extLst>
              <a:ext uri="{FF2B5EF4-FFF2-40B4-BE49-F238E27FC236}">
                <a16:creationId xmlns:a16="http://schemas.microsoft.com/office/drawing/2014/main" id="{67822995-BEBF-702E-653D-353B0F269F16}"/>
              </a:ext>
            </a:extLst>
          </p:cNvPr>
          <p:cNvSpPr/>
          <p:nvPr/>
        </p:nvSpPr>
        <p:spPr>
          <a:xfrm>
            <a:off x="10789920" y="3282696"/>
            <a:ext cx="914400" cy="274320"/>
          </a:xfrm>
          <a:prstGeom prst="roundRect">
            <a:avLst/>
          </a:prstGeom>
          <a:solidFill>
            <a:srgbClr val="95A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35" name="TextBox 234">
            <a:extLst>
              <a:ext uri="{FF2B5EF4-FFF2-40B4-BE49-F238E27FC236}">
                <a16:creationId xmlns:a16="http://schemas.microsoft.com/office/drawing/2014/main" id="{D4C2B303-3531-C4C5-62FA-25079C1AF890}"/>
              </a:ext>
            </a:extLst>
          </p:cNvPr>
          <p:cNvSpPr txBox="1"/>
          <p:nvPr/>
        </p:nvSpPr>
        <p:spPr>
          <a:xfrm>
            <a:off x="10789920" y="3282696"/>
            <a:ext cx="914400" cy="274320"/>
          </a:xfrm>
          <a:prstGeom prst="rect">
            <a:avLst/>
          </a:prstGeom>
          <a:noFill/>
        </p:spPr>
        <p:txBody>
          <a:bodyPr wrap="square" lIns="0" tIns="0" rIns="0" bIns="0" anchor="ctr">
            <a:spAutoFit/>
          </a:bodyPr>
          <a:lstStyle/>
          <a:p>
            <a:pPr algn="ctr">
              <a:lnSpc>
                <a:spcPct val="110000"/>
              </a:lnSpc>
              <a:spcBef>
                <a:spcPts val="0"/>
              </a:spcBef>
              <a:spcAft>
                <a:spcPts val="0"/>
              </a:spcAft>
            </a:pPr>
            <a:r>
              <a:rPr lang="en-US" sz="700" b="1" i="0" noProof="0">
                <a:solidFill>
                  <a:srgbClr val="FFFFFF"/>
                </a:solidFill>
                <a:latin typeface="Helvetica Neue"/>
              </a:rPr>
              <a:t>SPECIFIC</a:t>
            </a:r>
          </a:p>
        </p:txBody>
      </p:sp>
      <p:sp>
        <p:nvSpPr>
          <p:cNvPr id="236" name="Rectangle 235">
            <a:extLst>
              <a:ext uri="{FF2B5EF4-FFF2-40B4-BE49-F238E27FC236}">
                <a16:creationId xmlns:a16="http://schemas.microsoft.com/office/drawing/2014/main" id="{F71956C0-BD80-914C-2C29-DE2DC6F1DA6E}"/>
              </a:ext>
            </a:extLst>
          </p:cNvPr>
          <p:cNvSpPr/>
          <p:nvPr/>
        </p:nvSpPr>
        <p:spPr>
          <a:xfrm>
            <a:off x="6263640" y="3675888"/>
            <a:ext cx="73152" cy="438912"/>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37" name="TextBox 236">
            <a:extLst>
              <a:ext uri="{FF2B5EF4-FFF2-40B4-BE49-F238E27FC236}">
                <a16:creationId xmlns:a16="http://schemas.microsoft.com/office/drawing/2014/main" id="{652055FA-E5E6-3AB7-1F22-3D492468CA82}"/>
              </a:ext>
            </a:extLst>
          </p:cNvPr>
          <p:cNvSpPr txBox="1"/>
          <p:nvPr/>
        </p:nvSpPr>
        <p:spPr>
          <a:xfrm>
            <a:off x="6428232" y="3675888"/>
            <a:ext cx="1828800" cy="156133"/>
          </a:xfrm>
          <a:prstGeom prst="rect">
            <a:avLst/>
          </a:prstGeom>
          <a:noFill/>
        </p:spPr>
        <p:txBody>
          <a:bodyPr wrap="square" lIns="0" tIns="0" rIns="0" bIns="0" anchor="t">
            <a:spAutoFit/>
          </a:bodyPr>
          <a:lstStyle/>
          <a:p>
            <a:pPr algn="l">
              <a:lnSpc>
                <a:spcPct val="110000"/>
              </a:lnSpc>
              <a:spcBef>
                <a:spcPts val="0"/>
              </a:spcBef>
              <a:spcAft>
                <a:spcPts val="0"/>
              </a:spcAft>
            </a:pPr>
            <a:r>
              <a:rPr lang="en-US" sz="1000" b="1" i="0" noProof="0">
                <a:solidFill>
                  <a:srgbClr val="0F1C50"/>
                </a:solidFill>
                <a:highlight>
                  <a:srgbClr val="FFFF00"/>
                </a:highlight>
                <a:latin typeface="Helvetica Neue"/>
              </a:rPr>
              <a:t>PPM Now</a:t>
            </a:r>
          </a:p>
        </p:txBody>
      </p:sp>
      <p:sp>
        <p:nvSpPr>
          <p:cNvPr id="238" name="TextBox 237">
            <a:extLst>
              <a:ext uri="{FF2B5EF4-FFF2-40B4-BE49-F238E27FC236}">
                <a16:creationId xmlns:a16="http://schemas.microsoft.com/office/drawing/2014/main" id="{0CC6D0B6-929A-D2CD-2B1F-BD7A14338015}"/>
              </a:ext>
            </a:extLst>
          </p:cNvPr>
          <p:cNvSpPr txBox="1"/>
          <p:nvPr/>
        </p:nvSpPr>
        <p:spPr>
          <a:xfrm>
            <a:off x="6428232" y="3904488"/>
            <a:ext cx="1828800" cy="228600"/>
          </a:xfrm>
          <a:prstGeom prst="rect">
            <a:avLst/>
          </a:prstGeom>
          <a:noFill/>
        </p:spPr>
        <p:txBody>
          <a:bodyPr wrap="square" lIns="0" tIns="0" rIns="0" bIns="0" anchor="t">
            <a:spAutoFit/>
          </a:bodyPr>
          <a:lstStyle/>
          <a:p>
            <a:pPr algn="l">
              <a:lnSpc>
                <a:spcPct val="110000"/>
              </a:lnSpc>
              <a:spcBef>
                <a:spcPts val="0"/>
              </a:spcBef>
              <a:spcAft>
                <a:spcPts val="0"/>
              </a:spcAft>
            </a:pPr>
            <a:r>
              <a:rPr lang="en-US" sz="800" b="0" i="0" noProof="0">
                <a:solidFill>
                  <a:srgbClr val="2C3E50"/>
                </a:solidFill>
                <a:latin typeface="Helvetica Neue"/>
              </a:rPr>
              <a:t>Large projects — ONLY in Smart Metering</a:t>
            </a:r>
          </a:p>
        </p:txBody>
      </p:sp>
      <p:sp>
        <p:nvSpPr>
          <p:cNvPr id="239" name="TextBox 238">
            <a:extLst>
              <a:ext uri="{FF2B5EF4-FFF2-40B4-BE49-F238E27FC236}">
                <a16:creationId xmlns:a16="http://schemas.microsoft.com/office/drawing/2014/main" id="{A1B3656B-73F5-3B13-3A5A-365D3EB086E4}"/>
              </a:ext>
            </a:extLst>
          </p:cNvPr>
          <p:cNvSpPr txBox="1"/>
          <p:nvPr/>
        </p:nvSpPr>
        <p:spPr>
          <a:xfrm>
            <a:off x="8321040" y="3675888"/>
            <a:ext cx="2377440" cy="457200"/>
          </a:xfrm>
          <a:prstGeom prst="rect">
            <a:avLst/>
          </a:prstGeom>
          <a:noFill/>
        </p:spPr>
        <p:txBody>
          <a:bodyPr wrap="square" lIns="0" tIns="0" rIns="0" bIns="0" anchor="ctr">
            <a:spAutoFit/>
          </a:bodyPr>
          <a:lstStyle/>
          <a:p>
            <a:pPr algn="l">
              <a:lnSpc>
                <a:spcPct val="110000"/>
              </a:lnSpc>
              <a:spcBef>
                <a:spcPts val="0"/>
              </a:spcBef>
              <a:spcAft>
                <a:spcPts val="0"/>
              </a:spcAft>
            </a:pPr>
            <a:r>
              <a:rPr lang="en-US" sz="800" b="0" i="1" noProof="0">
                <a:solidFill>
                  <a:srgbClr val="6785C1"/>
                </a:solidFill>
                <a:latin typeface="Helvetica Neue"/>
              </a:rPr>
              <a:t>Smart Metering</a:t>
            </a:r>
          </a:p>
        </p:txBody>
      </p:sp>
      <p:sp>
        <p:nvSpPr>
          <p:cNvPr id="240" name="Rounded Rectangle 81">
            <a:extLst>
              <a:ext uri="{FF2B5EF4-FFF2-40B4-BE49-F238E27FC236}">
                <a16:creationId xmlns:a16="http://schemas.microsoft.com/office/drawing/2014/main" id="{01C21686-1333-2DB1-0AF7-5D08AFB3762A}"/>
              </a:ext>
            </a:extLst>
          </p:cNvPr>
          <p:cNvSpPr/>
          <p:nvPr/>
        </p:nvSpPr>
        <p:spPr>
          <a:xfrm>
            <a:off x="10789920" y="3767328"/>
            <a:ext cx="914400" cy="274320"/>
          </a:xfrm>
          <a:prstGeom prst="round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41" name="TextBox 240">
            <a:extLst>
              <a:ext uri="{FF2B5EF4-FFF2-40B4-BE49-F238E27FC236}">
                <a16:creationId xmlns:a16="http://schemas.microsoft.com/office/drawing/2014/main" id="{5A694C61-2CBF-5FAB-6899-6D06997FEA43}"/>
              </a:ext>
            </a:extLst>
          </p:cNvPr>
          <p:cNvSpPr txBox="1"/>
          <p:nvPr/>
        </p:nvSpPr>
        <p:spPr>
          <a:xfrm>
            <a:off x="10789920" y="3767328"/>
            <a:ext cx="914400" cy="274320"/>
          </a:xfrm>
          <a:prstGeom prst="rect">
            <a:avLst/>
          </a:prstGeom>
          <a:noFill/>
        </p:spPr>
        <p:txBody>
          <a:bodyPr wrap="square" lIns="0" tIns="0" rIns="0" bIns="0" anchor="ctr">
            <a:spAutoFit/>
          </a:bodyPr>
          <a:lstStyle/>
          <a:p>
            <a:pPr algn="ctr">
              <a:lnSpc>
                <a:spcPct val="110000"/>
              </a:lnSpc>
              <a:spcBef>
                <a:spcPts val="0"/>
              </a:spcBef>
              <a:spcAft>
                <a:spcPts val="0"/>
              </a:spcAft>
            </a:pPr>
            <a:r>
              <a:rPr lang="en-US" sz="700" b="1" i="0" noProof="0">
                <a:solidFill>
                  <a:srgbClr val="FFFFFF"/>
                </a:solidFill>
                <a:latin typeface="Helvetica Neue"/>
              </a:rPr>
              <a:t>PRIMARY</a:t>
            </a:r>
          </a:p>
        </p:txBody>
      </p:sp>
      <p:sp>
        <p:nvSpPr>
          <p:cNvPr id="242" name="Rectangle 241">
            <a:extLst>
              <a:ext uri="{FF2B5EF4-FFF2-40B4-BE49-F238E27FC236}">
                <a16:creationId xmlns:a16="http://schemas.microsoft.com/office/drawing/2014/main" id="{D7B43614-A93C-A9D5-68EC-F8C02B891F89}"/>
              </a:ext>
            </a:extLst>
          </p:cNvPr>
          <p:cNvSpPr/>
          <p:nvPr/>
        </p:nvSpPr>
        <p:spPr>
          <a:xfrm>
            <a:off x="6263640" y="4160520"/>
            <a:ext cx="73152" cy="438912"/>
          </a:xfrm>
          <a:prstGeom prst="rect">
            <a:avLst/>
          </a:prstGeom>
          <a:solidFill>
            <a:srgbClr val="95A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43" name="TextBox 242">
            <a:extLst>
              <a:ext uri="{FF2B5EF4-FFF2-40B4-BE49-F238E27FC236}">
                <a16:creationId xmlns:a16="http://schemas.microsoft.com/office/drawing/2014/main" id="{74FA3812-023D-C70A-A863-DF19AD735496}"/>
              </a:ext>
            </a:extLst>
          </p:cNvPr>
          <p:cNvSpPr txBox="1"/>
          <p:nvPr/>
        </p:nvSpPr>
        <p:spPr>
          <a:xfrm>
            <a:off x="6428232" y="4160520"/>
            <a:ext cx="1828800" cy="154979"/>
          </a:xfrm>
          <a:prstGeom prst="rect">
            <a:avLst/>
          </a:prstGeom>
          <a:noFill/>
        </p:spPr>
        <p:txBody>
          <a:bodyPr wrap="square" lIns="0" tIns="0" rIns="0" bIns="0" anchor="t">
            <a:spAutoFit/>
          </a:bodyPr>
          <a:lstStyle/>
          <a:p>
            <a:pPr algn="l">
              <a:lnSpc>
                <a:spcPct val="110000"/>
              </a:lnSpc>
              <a:spcBef>
                <a:spcPts val="0"/>
              </a:spcBef>
              <a:spcAft>
                <a:spcPts val="0"/>
              </a:spcAft>
            </a:pPr>
            <a:r>
              <a:rPr lang="en-US" sz="1000" b="1" i="0" noProof="0">
                <a:solidFill>
                  <a:srgbClr val="0F1C50"/>
                </a:solidFill>
                <a:latin typeface="Helvetica Neue"/>
              </a:rPr>
              <a:t>PMO (tool TBC)</a:t>
            </a:r>
          </a:p>
        </p:txBody>
      </p:sp>
      <p:sp>
        <p:nvSpPr>
          <p:cNvPr id="244" name="TextBox 243">
            <a:extLst>
              <a:ext uri="{FF2B5EF4-FFF2-40B4-BE49-F238E27FC236}">
                <a16:creationId xmlns:a16="http://schemas.microsoft.com/office/drawing/2014/main" id="{1407B2B4-5383-F59C-C71A-E29C7D048304}"/>
              </a:ext>
            </a:extLst>
          </p:cNvPr>
          <p:cNvSpPr txBox="1"/>
          <p:nvPr/>
        </p:nvSpPr>
        <p:spPr>
          <a:xfrm>
            <a:off x="6428232" y="4389120"/>
            <a:ext cx="1828800" cy="228600"/>
          </a:xfrm>
          <a:prstGeom prst="rect">
            <a:avLst/>
          </a:prstGeom>
          <a:noFill/>
        </p:spPr>
        <p:txBody>
          <a:bodyPr wrap="square" lIns="0" tIns="0" rIns="0" bIns="0" anchor="t">
            <a:spAutoFit/>
          </a:bodyPr>
          <a:lstStyle/>
          <a:p>
            <a:pPr algn="l">
              <a:lnSpc>
                <a:spcPct val="110000"/>
              </a:lnSpc>
              <a:spcBef>
                <a:spcPts val="0"/>
              </a:spcBef>
              <a:spcAft>
                <a:spcPts val="0"/>
              </a:spcAft>
            </a:pPr>
            <a:r>
              <a:rPr lang="en-US" sz="800" b="0" i="0" noProof="0">
                <a:solidFill>
                  <a:srgbClr val="2C3E50"/>
                </a:solidFill>
                <a:latin typeface="Helvetica Neue"/>
              </a:rPr>
              <a:t>Large project management</a:t>
            </a:r>
          </a:p>
        </p:txBody>
      </p:sp>
      <p:sp>
        <p:nvSpPr>
          <p:cNvPr id="245" name="TextBox 244">
            <a:extLst>
              <a:ext uri="{FF2B5EF4-FFF2-40B4-BE49-F238E27FC236}">
                <a16:creationId xmlns:a16="http://schemas.microsoft.com/office/drawing/2014/main" id="{0778C06A-94A4-A6B2-DFBB-177E50B7EEBB}"/>
              </a:ext>
            </a:extLst>
          </p:cNvPr>
          <p:cNvSpPr txBox="1"/>
          <p:nvPr/>
        </p:nvSpPr>
        <p:spPr>
          <a:xfrm>
            <a:off x="8321040" y="4160520"/>
            <a:ext cx="2377440" cy="457200"/>
          </a:xfrm>
          <a:prstGeom prst="rect">
            <a:avLst/>
          </a:prstGeom>
          <a:noFill/>
        </p:spPr>
        <p:txBody>
          <a:bodyPr wrap="square" lIns="0" tIns="0" rIns="0" bIns="0" anchor="ctr">
            <a:spAutoFit/>
          </a:bodyPr>
          <a:lstStyle/>
          <a:p>
            <a:pPr algn="l">
              <a:lnSpc>
                <a:spcPct val="110000"/>
              </a:lnSpc>
              <a:spcBef>
                <a:spcPts val="0"/>
              </a:spcBef>
              <a:spcAft>
                <a:spcPts val="0"/>
              </a:spcAft>
            </a:pPr>
            <a:r>
              <a:rPr lang="en-US" sz="800" b="0" i="1" noProof="0">
                <a:solidFill>
                  <a:srgbClr val="6785C1"/>
                </a:solidFill>
                <a:latin typeface="Helvetica Neue"/>
              </a:rPr>
              <a:t>Branch-wide</a:t>
            </a:r>
          </a:p>
        </p:txBody>
      </p:sp>
      <p:sp>
        <p:nvSpPr>
          <p:cNvPr id="246" name="Rounded Rectangle 87">
            <a:extLst>
              <a:ext uri="{FF2B5EF4-FFF2-40B4-BE49-F238E27FC236}">
                <a16:creationId xmlns:a16="http://schemas.microsoft.com/office/drawing/2014/main" id="{7D6A28A1-EC6E-0DC6-68E9-5B20046D6EA6}"/>
              </a:ext>
            </a:extLst>
          </p:cNvPr>
          <p:cNvSpPr/>
          <p:nvPr/>
        </p:nvSpPr>
        <p:spPr>
          <a:xfrm>
            <a:off x="10789920" y="4251960"/>
            <a:ext cx="914400" cy="274320"/>
          </a:xfrm>
          <a:prstGeom prst="roundRect">
            <a:avLst/>
          </a:prstGeom>
          <a:solidFill>
            <a:srgbClr val="95A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47" name="TextBox 246">
            <a:extLst>
              <a:ext uri="{FF2B5EF4-FFF2-40B4-BE49-F238E27FC236}">
                <a16:creationId xmlns:a16="http://schemas.microsoft.com/office/drawing/2014/main" id="{BC73DAF0-3814-248D-000E-3560504E297F}"/>
              </a:ext>
            </a:extLst>
          </p:cNvPr>
          <p:cNvSpPr txBox="1"/>
          <p:nvPr/>
        </p:nvSpPr>
        <p:spPr>
          <a:xfrm>
            <a:off x="10789920" y="4251960"/>
            <a:ext cx="914400" cy="274320"/>
          </a:xfrm>
          <a:prstGeom prst="rect">
            <a:avLst/>
          </a:prstGeom>
          <a:noFill/>
        </p:spPr>
        <p:txBody>
          <a:bodyPr wrap="square" lIns="0" tIns="0" rIns="0" bIns="0" anchor="ctr">
            <a:spAutoFit/>
          </a:bodyPr>
          <a:lstStyle/>
          <a:p>
            <a:pPr algn="ctr">
              <a:lnSpc>
                <a:spcPct val="110000"/>
              </a:lnSpc>
              <a:spcBef>
                <a:spcPts val="0"/>
              </a:spcBef>
              <a:spcAft>
                <a:spcPts val="0"/>
              </a:spcAft>
            </a:pPr>
            <a:r>
              <a:rPr lang="en-US" sz="700" b="1" i="0" noProof="0">
                <a:solidFill>
                  <a:srgbClr val="FFFFFF"/>
                </a:solidFill>
                <a:latin typeface="Helvetica Neue"/>
              </a:rPr>
              <a:t>SPECIFIC</a:t>
            </a:r>
          </a:p>
        </p:txBody>
      </p:sp>
      <p:sp>
        <p:nvSpPr>
          <p:cNvPr id="248" name="Rectangle 247">
            <a:extLst>
              <a:ext uri="{FF2B5EF4-FFF2-40B4-BE49-F238E27FC236}">
                <a16:creationId xmlns:a16="http://schemas.microsoft.com/office/drawing/2014/main" id="{A8947D98-8255-559B-2A49-0805475976B9}"/>
              </a:ext>
            </a:extLst>
          </p:cNvPr>
          <p:cNvSpPr/>
          <p:nvPr/>
        </p:nvSpPr>
        <p:spPr>
          <a:xfrm>
            <a:off x="6263640" y="4645152"/>
            <a:ext cx="73152" cy="438912"/>
          </a:xfrm>
          <a:prstGeom prst="rect">
            <a:avLst/>
          </a:prstGeom>
          <a:solidFill>
            <a:srgbClr val="95A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49" name="TextBox 248">
            <a:extLst>
              <a:ext uri="{FF2B5EF4-FFF2-40B4-BE49-F238E27FC236}">
                <a16:creationId xmlns:a16="http://schemas.microsoft.com/office/drawing/2014/main" id="{EE53875F-A9F3-0843-0999-6ED381D1F979}"/>
              </a:ext>
            </a:extLst>
          </p:cNvPr>
          <p:cNvSpPr txBox="1"/>
          <p:nvPr/>
        </p:nvSpPr>
        <p:spPr>
          <a:xfrm>
            <a:off x="6428232" y="4645152"/>
            <a:ext cx="1828800" cy="256032"/>
          </a:xfrm>
          <a:prstGeom prst="rect">
            <a:avLst/>
          </a:prstGeom>
          <a:noFill/>
        </p:spPr>
        <p:txBody>
          <a:bodyPr wrap="square" lIns="0" tIns="0" rIns="0" bIns="0" anchor="t">
            <a:spAutoFit/>
          </a:bodyPr>
          <a:lstStyle/>
          <a:p>
            <a:pPr algn="l">
              <a:lnSpc>
                <a:spcPct val="110000"/>
              </a:lnSpc>
              <a:spcBef>
                <a:spcPts val="0"/>
              </a:spcBef>
              <a:spcAft>
                <a:spcPts val="0"/>
              </a:spcAft>
            </a:pPr>
            <a:r>
              <a:rPr lang="en-US" sz="1000" b="1" i="0" noProof="0">
                <a:solidFill>
                  <a:srgbClr val="0F1C50"/>
                </a:solidFill>
                <a:latin typeface="Helvetica Neue"/>
              </a:rPr>
              <a:t>SWF + Accenture</a:t>
            </a:r>
          </a:p>
        </p:txBody>
      </p:sp>
      <p:sp>
        <p:nvSpPr>
          <p:cNvPr id="250" name="TextBox 249">
            <a:extLst>
              <a:ext uri="{FF2B5EF4-FFF2-40B4-BE49-F238E27FC236}">
                <a16:creationId xmlns:a16="http://schemas.microsoft.com/office/drawing/2014/main" id="{19EE3598-7394-9281-CC8E-1195E3BB4F1A}"/>
              </a:ext>
            </a:extLst>
          </p:cNvPr>
          <p:cNvSpPr txBox="1"/>
          <p:nvPr/>
        </p:nvSpPr>
        <p:spPr>
          <a:xfrm>
            <a:off x="6428232" y="4873752"/>
            <a:ext cx="1828800" cy="228600"/>
          </a:xfrm>
          <a:prstGeom prst="rect">
            <a:avLst/>
          </a:prstGeom>
          <a:noFill/>
        </p:spPr>
        <p:txBody>
          <a:bodyPr wrap="square" lIns="0" tIns="0" rIns="0" bIns="0" anchor="t">
            <a:spAutoFit/>
          </a:bodyPr>
          <a:lstStyle/>
          <a:p>
            <a:pPr algn="l">
              <a:lnSpc>
                <a:spcPct val="110000"/>
              </a:lnSpc>
              <a:spcBef>
                <a:spcPts val="0"/>
              </a:spcBef>
              <a:spcAft>
                <a:spcPts val="0"/>
              </a:spcAft>
            </a:pPr>
            <a:r>
              <a:rPr lang="en-US" sz="800" b="0" i="0" noProof="0">
                <a:solidFill>
                  <a:srgbClr val="2C3E50"/>
                </a:solidFill>
                <a:latin typeface="Helvetica Neue"/>
              </a:rPr>
              <a:t>Build / delivery</a:t>
            </a:r>
          </a:p>
        </p:txBody>
      </p:sp>
      <p:sp>
        <p:nvSpPr>
          <p:cNvPr id="251" name="TextBox 250">
            <a:extLst>
              <a:ext uri="{FF2B5EF4-FFF2-40B4-BE49-F238E27FC236}">
                <a16:creationId xmlns:a16="http://schemas.microsoft.com/office/drawing/2014/main" id="{718A23E9-F84F-528A-833B-D2BC51DCAE88}"/>
              </a:ext>
            </a:extLst>
          </p:cNvPr>
          <p:cNvSpPr txBox="1"/>
          <p:nvPr/>
        </p:nvSpPr>
        <p:spPr>
          <a:xfrm>
            <a:off x="8321040" y="4645152"/>
            <a:ext cx="2377440" cy="457200"/>
          </a:xfrm>
          <a:prstGeom prst="rect">
            <a:avLst/>
          </a:prstGeom>
          <a:noFill/>
        </p:spPr>
        <p:txBody>
          <a:bodyPr wrap="square" lIns="0" tIns="0" rIns="0" bIns="0" anchor="ctr">
            <a:spAutoFit/>
          </a:bodyPr>
          <a:lstStyle/>
          <a:p>
            <a:pPr algn="l">
              <a:lnSpc>
                <a:spcPct val="110000"/>
              </a:lnSpc>
              <a:spcBef>
                <a:spcPts val="0"/>
              </a:spcBef>
              <a:spcAft>
                <a:spcPts val="0"/>
              </a:spcAft>
            </a:pPr>
            <a:r>
              <a:rPr lang="en-US" sz="800" b="0" i="1" noProof="0">
                <a:solidFill>
                  <a:srgbClr val="6785C1"/>
                </a:solidFill>
                <a:latin typeface="Helvetica Neue"/>
              </a:rPr>
              <a:t>Branch-wide</a:t>
            </a:r>
          </a:p>
        </p:txBody>
      </p:sp>
      <p:sp>
        <p:nvSpPr>
          <p:cNvPr id="252" name="Rounded Rectangle 93">
            <a:extLst>
              <a:ext uri="{FF2B5EF4-FFF2-40B4-BE49-F238E27FC236}">
                <a16:creationId xmlns:a16="http://schemas.microsoft.com/office/drawing/2014/main" id="{CAA5F0E9-931A-CE36-02F9-270167B724C6}"/>
              </a:ext>
            </a:extLst>
          </p:cNvPr>
          <p:cNvSpPr/>
          <p:nvPr/>
        </p:nvSpPr>
        <p:spPr>
          <a:xfrm>
            <a:off x="10789920" y="4736592"/>
            <a:ext cx="914400" cy="274320"/>
          </a:xfrm>
          <a:prstGeom prst="roundRect">
            <a:avLst/>
          </a:prstGeom>
          <a:solidFill>
            <a:srgbClr val="95A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53" name="TextBox 252">
            <a:extLst>
              <a:ext uri="{FF2B5EF4-FFF2-40B4-BE49-F238E27FC236}">
                <a16:creationId xmlns:a16="http://schemas.microsoft.com/office/drawing/2014/main" id="{05985B89-B6EE-B316-F885-2EE46B3AD924}"/>
              </a:ext>
            </a:extLst>
          </p:cNvPr>
          <p:cNvSpPr txBox="1"/>
          <p:nvPr/>
        </p:nvSpPr>
        <p:spPr>
          <a:xfrm>
            <a:off x="10789920" y="4736592"/>
            <a:ext cx="914400" cy="274320"/>
          </a:xfrm>
          <a:prstGeom prst="rect">
            <a:avLst/>
          </a:prstGeom>
          <a:noFill/>
        </p:spPr>
        <p:txBody>
          <a:bodyPr wrap="square" lIns="0" tIns="0" rIns="0" bIns="0" anchor="ctr">
            <a:spAutoFit/>
          </a:bodyPr>
          <a:lstStyle/>
          <a:p>
            <a:pPr algn="ctr">
              <a:lnSpc>
                <a:spcPct val="110000"/>
              </a:lnSpc>
              <a:spcBef>
                <a:spcPts val="0"/>
              </a:spcBef>
              <a:spcAft>
                <a:spcPts val="0"/>
              </a:spcAft>
            </a:pPr>
            <a:r>
              <a:rPr lang="en-US" sz="700" b="1" i="0" noProof="0">
                <a:solidFill>
                  <a:srgbClr val="FFFFFF"/>
                </a:solidFill>
                <a:latin typeface="Helvetica Neue"/>
              </a:rPr>
              <a:t>SPECIFIC</a:t>
            </a:r>
          </a:p>
        </p:txBody>
      </p:sp>
      <p:sp>
        <p:nvSpPr>
          <p:cNvPr id="254" name="Rectangle 253">
            <a:extLst>
              <a:ext uri="{FF2B5EF4-FFF2-40B4-BE49-F238E27FC236}">
                <a16:creationId xmlns:a16="http://schemas.microsoft.com/office/drawing/2014/main" id="{BBF97338-8951-2DD7-8546-15299CD2FE6F}"/>
              </a:ext>
            </a:extLst>
          </p:cNvPr>
          <p:cNvSpPr/>
          <p:nvPr/>
        </p:nvSpPr>
        <p:spPr>
          <a:xfrm>
            <a:off x="6263640" y="5129784"/>
            <a:ext cx="73152" cy="438912"/>
          </a:xfrm>
          <a:prstGeom prst="rect">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55" name="TextBox 254">
            <a:extLst>
              <a:ext uri="{FF2B5EF4-FFF2-40B4-BE49-F238E27FC236}">
                <a16:creationId xmlns:a16="http://schemas.microsoft.com/office/drawing/2014/main" id="{08BF9548-5E56-BD86-2ADB-30CF1C647C26}"/>
              </a:ext>
            </a:extLst>
          </p:cNvPr>
          <p:cNvSpPr txBox="1"/>
          <p:nvPr/>
        </p:nvSpPr>
        <p:spPr>
          <a:xfrm>
            <a:off x="6428232" y="5129784"/>
            <a:ext cx="1828800" cy="256032"/>
          </a:xfrm>
          <a:prstGeom prst="rect">
            <a:avLst/>
          </a:prstGeom>
          <a:noFill/>
        </p:spPr>
        <p:txBody>
          <a:bodyPr wrap="square" lIns="0" tIns="0" rIns="0" bIns="0" anchor="t">
            <a:spAutoFit/>
          </a:bodyPr>
          <a:lstStyle/>
          <a:p>
            <a:pPr algn="l">
              <a:lnSpc>
                <a:spcPct val="110000"/>
              </a:lnSpc>
              <a:spcBef>
                <a:spcPts val="0"/>
              </a:spcBef>
              <a:spcAft>
                <a:spcPts val="0"/>
              </a:spcAft>
            </a:pPr>
            <a:r>
              <a:rPr lang="en-US" sz="1000" b="1" i="0" noProof="0">
                <a:solidFill>
                  <a:srgbClr val="0F1C50"/>
                </a:solidFill>
                <a:latin typeface="Helvetica Neue"/>
              </a:rPr>
              <a:t>4 other teams — tooling not yet captured</a:t>
            </a:r>
          </a:p>
        </p:txBody>
      </p:sp>
      <p:sp>
        <p:nvSpPr>
          <p:cNvPr id="256" name="TextBox 255">
            <a:extLst>
              <a:ext uri="{FF2B5EF4-FFF2-40B4-BE49-F238E27FC236}">
                <a16:creationId xmlns:a16="http://schemas.microsoft.com/office/drawing/2014/main" id="{97A28495-4535-186F-D93B-9AE0504D7051}"/>
              </a:ext>
            </a:extLst>
          </p:cNvPr>
          <p:cNvSpPr txBox="1"/>
          <p:nvPr/>
        </p:nvSpPr>
        <p:spPr>
          <a:xfrm>
            <a:off x="6428232" y="5358384"/>
            <a:ext cx="1828800" cy="228600"/>
          </a:xfrm>
          <a:prstGeom prst="rect">
            <a:avLst/>
          </a:prstGeom>
          <a:noFill/>
        </p:spPr>
        <p:txBody>
          <a:bodyPr wrap="square" lIns="0" tIns="0" rIns="0" bIns="0" anchor="t">
            <a:spAutoFit/>
          </a:bodyPr>
          <a:lstStyle/>
          <a:p>
            <a:pPr algn="l">
              <a:lnSpc>
                <a:spcPct val="110000"/>
              </a:lnSpc>
              <a:spcBef>
                <a:spcPts val="0"/>
              </a:spcBef>
              <a:spcAft>
                <a:spcPts val="0"/>
              </a:spcAft>
            </a:pPr>
            <a:r>
              <a:rPr lang="en-US" sz="800" b="0" i="0" noProof="0">
                <a:solidFill>
                  <a:srgbClr val="2C3E50"/>
                </a:solidFill>
                <a:latin typeface="Helvetica Neue"/>
              </a:rPr>
              <a:t>Ivelisse, CRM, SAP Arch, SAP Basis</a:t>
            </a:r>
          </a:p>
        </p:txBody>
      </p:sp>
      <p:sp>
        <p:nvSpPr>
          <p:cNvPr id="257" name="TextBox 256">
            <a:extLst>
              <a:ext uri="{FF2B5EF4-FFF2-40B4-BE49-F238E27FC236}">
                <a16:creationId xmlns:a16="http://schemas.microsoft.com/office/drawing/2014/main" id="{311E7BDE-348A-465B-DF14-EB8EEB41BCFA}"/>
              </a:ext>
            </a:extLst>
          </p:cNvPr>
          <p:cNvSpPr txBox="1"/>
          <p:nvPr/>
        </p:nvSpPr>
        <p:spPr>
          <a:xfrm>
            <a:off x="8321040" y="5129784"/>
            <a:ext cx="2377440" cy="457200"/>
          </a:xfrm>
          <a:prstGeom prst="rect">
            <a:avLst/>
          </a:prstGeom>
          <a:noFill/>
        </p:spPr>
        <p:txBody>
          <a:bodyPr wrap="square" lIns="0" tIns="0" rIns="0" bIns="0" anchor="ctr">
            <a:spAutoFit/>
          </a:bodyPr>
          <a:lstStyle/>
          <a:p>
            <a:pPr algn="l">
              <a:lnSpc>
                <a:spcPct val="110000"/>
              </a:lnSpc>
              <a:spcBef>
                <a:spcPts val="0"/>
              </a:spcBef>
              <a:spcAft>
                <a:spcPts val="0"/>
              </a:spcAft>
            </a:pPr>
            <a:r>
              <a:rPr lang="en-US" sz="800" b="0" i="1" noProof="0">
                <a:solidFill>
                  <a:srgbClr val="6785C1"/>
                </a:solidFill>
                <a:latin typeface="Helvetica Neue"/>
              </a:rPr>
              <a:t>TBC</a:t>
            </a:r>
          </a:p>
        </p:txBody>
      </p:sp>
      <p:sp>
        <p:nvSpPr>
          <p:cNvPr id="258" name="Rounded Rectangle 99">
            <a:extLst>
              <a:ext uri="{FF2B5EF4-FFF2-40B4-BE49-F238E27FC236}">
                <a16:creationId xmlns:a16="http://schemas.microsoft.com/office/drawing/2014/main" id="{21A14C09-1487-C1F4-0F1C-A55B7B0E1912}"/>
              </a:ext>
            </a:extLst>
          </p:cNvPr>
          <p:cNvSpPr/>
          <p:nvPr/>
        </p:nvSpPr>
        <p:spPr>
          <a:xfrm>
            <a:off x="10789920" y="5221224"/>
            <a:ext cx="914400" cy="274320"/>
          </a:xfrm>
          <a:prstGeom prst="roundRect">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59" name="TextBox 258">
            <a:extLst>
              <a:ext uri="{FF2B5EF4-FFF2-40B4-BE49-F238E27FC236}">
                <a16:creationId xmlns:a16="http://schemas.microsoft.com/office/drawing/2014/main" id="{9E1BB50A-A826-48C7-D80C-86544C65AB58}"/>
              </a:ext>
            </a:extLst>
          </p:cNvPr>
          <p:cNvSpPr txBox="1"/>
          <p:nvPr/>
        </p:nvSpPr>
        <p:spPr>
          <a:xfrm>
            <a:off x="10789920" y="5221224"/>
            <a:ext cx="914400" cy="274320"/>
          </a:xfrm>
          <a:prstGeom prst="rect">
            <a:avLst/>
          </a:prstGeom>
          <a:noFill/>
        </p:spPr>
        <p:txBody>
          <a:bodyPr wrap="square" lIns="0" tIns="0" rIns="0" bIns="0" anchor="ctr">
            <a:spAutoFit/>
          </a:bodyPr>
          <a:lstStyle/>
          <a:p>
            <a:pPr algn="ctr">
              <a:lnSpc>
                <a:spcPct val="110000"/>
              </a:lnSpc>
              <a:spcBef>
                <a:spcPts val="0"/>
              </a:spcBef>
              <a:spcAft>
                <a:spcPts val="0"/>
              </a:spcAft>
            </a:pPr>
            <a:r>
              <a:rPr lang="en-US" sz="700" b="1" i="0" noProof="0">
                <a:solidFill>
                  <a:srgbClr val="FFFFFF"/>
                </a:solidFill>
                <a:latin typeface="Helvetica Neue"/>
              </a:rPr>
              <a:t>GAP</a:t>
            </a:r>
          </a:p>
        </p:txBody>
      </p:sp>
      <p:sp>
        <p:nvSpPr>
          <p:cNvPr id="260" name="Rectangle 259">
            <a:extLst>
              <a:ext uri="{FF2B5EF4-FFF2-40B4-BE49-F238E27FC236}">
                <a16:creationId xmlns:a16="http://schemas.microsoft.com/office/drawing/2014/main" id="{6FB761D9-4075-7919-3DE7-FF6882E0A947}"/>
              </a:ext>
            </a:extLst>
          </p:cNvPr>
          <p:cNvSpPr/>
          <p:nvPr/>
        </p:nvSpPr>
        <p:spPr>
          <a:xfrm>
            <a:off x="457200" y="5768604"/>
            <a:ext cx="11274552"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61" name="TextBox 260">
            <a:extLst>
              <a:ext uri="{FF2B5EF4-FFF2-40B4-BE49-F238E27FC236}">
                <a16:creationId xmlns:a16="http://schemas.microsoft.com/office/drawing/2014/main" id="{7F18AAA0-88E7-FB37-8F39-BF91B1D7C5A6}"/>
              </a:ext>
            </a:extLst>
          </p:cNvPr>
          <p:cNvSpPr txBox="1"/>
          <p:nvPr/>
        </p:nvSpPr>
        <p:spPr>
          <a:xfrm>
            <a:off x="685800" y="5814324"/>
            <a:ext cx="10817352" cy="411480"/>
          </a:xfrm>
          <a:prstGeom prst="rect">
            <a:avLst/>
          </a:prstGeom>
          <a:noFill/>
        </p:spPr>
        <p:txBody>
          <a:bodyPr wrap="square" lIns="0" tIns="0" rIns="0" bIns="0" anchor="ctr">
            <a:spAutoFit/>
          </a:bodyPr>
          <a:lstStyle/>
          <a:p>
            <a:pPr algn="l">
              <a:lnSpc>
                <a:spcPct val="110000"/>
              </a:lnSpc>
              <a:spcBef>
                <a:spcPts val="0"/>
              </a:spcBef>
              <a:spcAft>
                <a:spcPts val="0"/>
              </a:spcAft>
            </a:pPr>
            <a:r>
              <a:rPr lang="en-US" sz="1100" b="0" i="0" noProof="0">
                <a:solidFill>
                  <a:srgbClr val="FFFFFF"/>
                </a:solidFill>
                <a:latin typeface="Helvetica Neue"/>
              </a:rPr>
              <a:t>PPM Now exists in only 1 of 9 sub-teams — Jira is the only tool with meaningful cross-team adoption (and it's fragmented across instances)</a:t>
            </a:r>
          </a:p>
        </p:txBody>
      </p:sp>
      <p:sp>
        <p:nvSpPr>
          <p:cNvPr id="14" name="Rectángulo 13">
            <a:extLst>
              <a:ext uri="{FF2B5EF4-FFF2-40B4-BE49-F238E27FC236}">
                <a16:creationId xmlns:a16="http://schemas.microsoft.com/office/drawing/2014/main" id="{D32B3884-B6EC-8657-20F7-4C6BA4DBBA1B}"/>
              </a:ext>
            </a:extLst>
          </p:cNvPr>
          <p:cNvSpPr/>
          <p:nvPr/>
        </p:nvSpPr>
        <p:spPr>
          <a:xfrm>
            <a:off x="11435016" y="1733309"/>
            <a:ext cx="2118167" cy="306729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a:t>This is more of a Channel/tool Map. </a:t>
            </a:r>
          </a:p>
        </p:txBody>
      </p:sp>
    </p:spTree>
    <p:extLst>
      <p:ext uri="{BB962C8B-B14F-4D97-AF65-F5344CB8AC3E}">
        <p14:creationId xmlns:p14="http://schemas.microsoft.com/office/powerpoint/2010/main" val="311320243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2A6D08D-8C38-B38C-654B-CC65C8834A83}"/>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EB03B61B-0450-0088-9408-9E079408ED71}"/>
              </a:ext>
            </a:extLst>
          </p:cNvPr>
          <p:cNvSpPr/>
          <p:nvPr/>
        </p:nvSpPr>
        <p:spPr>
          <a:xfrm>
            <a:off x="246506" y="3678308"/>
            <a:ext cx="5577840" cy="1879092"/>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3" name="Rectangle 2">
            <a:extLst>
              <a:ext uri="{FF2B5EF4-FFF2-40B4-BE49-F238E27FC236}">
                <a16:creationId xmlns:a16="http://schemas.microsoft.com/office/drawing/2014/main" id="{D5D4F9EF-A640-5198-2DD7-BE3CD4CDC4E4}"/>
              </a:ext>
            </a:extLst>
          </p:cNvPr>
          <p:cNvSpPr/>
          <p:nvPr/>
        </p:nvSpPr>
        <p:spPr>
          <a:xfrm>
            <a:off x="457200" y="1143000"/>
            <a:ext cx="11274552" cy="1371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4" name="Rectangle 3">
            <a:extLst>
              <a:ext uri="{FF2B5EF4-FFF2-40B4-BE49-F238E27FC236}">
                <a16:creationId xmlns:a16="http://schemas.microsoft.com/office/drawing/2014/main" id="{C9626C3C-9DA4-CA8D-1B74-7BFE0DE89075}"/>
              </a:ext>
            </a:extLst>
          </p:cNvPr>
          <p:cNvSpPr/>
          <p:nvPr/>
        </p:nvSpPr>
        <p:spPr>
          <a:xfrm>
            <a:off x="246506" y="1300868"/>
            <a:ext cx="5577840" cy="1879092"/>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5" name="Rectangle 4">
            <a:extLst>
              <a:ext uri="{FF2B5EF4-FFF2-40B4-BE49-F238E27FC236}">
                <a16:creationId xmlns:a16="http://schemas.microsoft.com/office/drawing/2014/main" id="{D2DF0A71-D81F-6018-AEEA-9C527DE84513}"/>
              </a:ext>
            </a:extLst>
          </p:cNvPr>
          <p:cNvSpPr/>
          <p:nvPr/>
        </p:nvSpPr>
        <p:spPr>
          <a:xfrm>
            <a:off x="246506" y="1300868"/>
            <a:ext cx="5577840" cy="54864"/>
          </a:xfrm>
          <a:prstGeom prst="rect">
            <a:avLst/>
          </a:prstGeom>
          <a:solidFill>
            <a:srgbClr val="3B7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6" name="TextBox 5">
            <a:extLst>
              <a:ext uri="{FF2B5EF4-FFF2-40B4-BE49-F238E27FC236}">
                <a16:creationId xmlns:a16="http://schemas.microsoft.com/office/drawing/2014/main" id="{04BB32C3-554D-6EF4-9349-625DCA0E1577}"/>
              </a:ext>
            </a:extLst>
          </p:cNvPr>
          <p:cNvSpPr txBox="1"/>
          <p:nvPr/>
        </p:nvSpPr>
        <p:spPr>
          <a:xfrm>
            <a:off x="475106" y="1438028"/>
            <a:ext cx="5120640" cy="203004"/>
          </a:xfrm>
          <a:prstGeom prst="rect">
            <a:avLst/>
          </a:prstGeom>
          <a:noFill/>
        </p:spPr>
        <p:txBody>
          <a:bodyPr wrap="square" lIns="0" tIns="0" rIns="0" bIns="0" anchor="t">
            <a:spAutoFit/>
          </a:bodyPr>
          <a:lstStyle/>
          <a:p>
            <a:pPr algn="l">
              <a:lnSpc>
                <a:spcPct val="110000"/>
              </a:lnSpc>
              <a:spcBef>
                <a:spcPts val="0"/>
              </a:spcBef>
              <a:spcAft>
                <a:spcPts val="0"/>
              </a:spcAft>
            </a:pPr>
            <a:r>
              <a:rPr lang="en-US" sz="1300" b="1" i="0" noProof="0">
                <a:solidFill>
                  <a:srgbClr val="3B7D23"/>
                </a:solidFill>
                <a:latin typeface="Helvetica Neue"/>
              </a:rPr>
              <a:t>PEOPLE</a:t>
            </a:r>
          </a:p>
        </p:txBody>
      </p:sp>
      <p:sp>
        <p:nvSpPr>
          <p:cNvPr id="7" name="TextBox 6">
            <a:extLst>
              <a:ext uri="{FF2B5EF4-FFF2-40B4-BE49-F238E27FC236}">
                <a16:creationId xmlns:a16="http://schemas.microsoft.com/office/drawing/2014/main" id="{87B38302-0F7D-17B8-9240-7BCDA8C266AE}"/>
              </a:ext>
            </a:extLst>
          </p:cNvPr>
          <p:cNvSpPr txBox="1"/>
          <p:nvPr/>
        </p:nvSpPr>
        <p:spPr>
          <a:xfrm>
            <a:off x="475106" y="1803788"/>
            <a:ext cx="5120640" cy="833241"/>
          </a:xfrm>
          <a:prstGeom prst="rect">
            <a:avLst/>
          </a:prstGeom>
          <a:noFill/>
        </p:spPr>
        <p:txBody>
          <a:bodyPr wrap="square" lIns="0" tIns="0" rIns="0" bIns="0" anchor="t">
            <a:spAutoFit/>
          </a:bodyPr>
          <a:lstStyle/>
          <a:p>
            <a:pPr algn="l">
              <a:lnSpc>
                <a:spcPct val="110000"/>
              </a:lnSpc>
              <a:spcBef>
                <a:spcPts val="0"/>
              </a:spcBef>
              <a:spcAft>
                <a:spcPts val="0"/>
              </a:spcAft>
            </a:pPr>
            <a:r>
              <a:rPr lang="en-US" sz="1000" b="0" i="0" noProof="0">
                <a:solidFill>
                  <a:srgbClr val="2C3E50"/>
                </a:solidFill>
                <a:latin typeface="Helvetica Neue"/>
              </a:rPr>
              <a:t>▪  Turnover — "1 year to hire someone" (Global SAP)</a:t>
            </a:r>
          </a:p>
          <a:p>
            <a:pPr algn="l">
              <a:lnSpc>
                <a:spcPct val="110000"/>
              </a:lnSpc>
              <a:spcBef>
                <a:spcPts val="0"/>
              </a:spcBef>
              <a:spcAft>
                <a:spcPts val="0"/>
              </a:spcAft>
            </a:pPr>
            <a:r>
              <a:rPr lang="en-US" sz="1000" b="0" i="0" noProof="0">
                <a:solidFill>
                  <a:srgbClr val="2C3E50"/>
                </a:solidFill>
                <a:latin typeface="Helvetica Neue"/>
              </a:rPr>
              <a:t>▪  Unclear ownership — "3 people can run payment jobs" (Kumar/Stephanie)</a:t>
            </a:r>
          </a:p>
          <a:p>
            <a:pPr algn="l">
              <a:lnSpc>
                <a:spcPct val="110000"/>
              </a:lnSpc>
              <a:spcBef>
                <a:spcPts val="0"/>
              </a:spcBef>
              <a:spcAft>
                <a:spcPts val="0"/>
              </a:spcAft>
            </a:pPr>
            <a:r>
              <a:rPr lang="en-US" sz="1000" b="0" i="0" noProof="0">
                <a:solidFill>
                  <a:srgbClr val="2C3E50"/>
                </a:solidFill>
                <a:latin typeface="Helvetica Neue"/>
              </a:rPr>
              <a:t>▪  Capacity competition across 7 business OPCOs (IT CS)</a:t>
            </a:r>
          </a:p>
          <a:p>
            <a:pPr algn="l">
              <a:lnSpc>
                <a:spcPct val="110000"/>
              </a:lnSpc>
              <a:spcBef>
                <a:spcPts val="0"/>
              </a:spcBef>
              <a:spcAft>
                <a:spcPts val="0"/>
              </a:spcAft>
            </a:pPr>
            <a:r>
              <a:rPr lang="en-US" sz="1000" b="0" i="0" noProof="0">
                <a:solidFill>
                  <a:srgbClr val="2C3E50"/>
                </a:solidFill>
                <a:latin typeface="Helvetica Neue"/>
              </a:rPr>
              <a:t>▪  Heavy SWF + Accenture + Vendor dependency in delivery</a:t>
            </a:r>
          </a:p>
          <a:p>
            <a:pPr algn="l">
              <a:lnSpc>
                <a:spcPct val="110000"/>
              </a:lnSpc>
              <a:spcBef>
                <a:spcPts val="0"/>
              </a:spcBef>
              <a:spcAft>
                <a:spcPts val="0"/>
              </a:spcAft>
            </a:pPr>
            <a:r>
              <a:rPr lang="en-US" sz="1000" b="0" i="0" noProof="0">
                <a:solidFill>
                  <a:srgbClr val="2C3E50"/>
                </a:solidFill>
                <a:latin typeface="Helvetica Neue"/>
              </a:rPr>
              <a:t>▪  2 vacant Sr. Manager positions in Kumar's branch</a:t>
            </a:r>
          </a:p>
        </p:txBody>
      </p:sp>
      <p:sp>
        <p:nvSpPr>
          <p:cNvPr id="9" name="Rectangle 8">
            <a:extLst>
              <a:ext uri="{FF2B5EF4-FFF2-40B4-BE49-F238E27FC236}">
                <a16:creationId xmlns:a16="http://schemas.microsoft.com/office/drawing/2014/main" id="{652F816F-76C8-2BCC-C2DD-322ABBB2D2B0}"/>
              </a:ext>
            </a:extLst>
          </p:cNvPr>
          <p:cNvSpPr/>
          <p:nvPr/>
        </p:nvSpPr>
        <p:spPr>
          <a:xfrm>
            <a:off x="5943218" y="1300868"/>
            <a:ext cx="5577840" cy="1879092"/>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0" name="Rectangle 9">
            <a:extLst>
              <a:ext uri="{FF2B5EF4-FFF2-40B4-BE49-F238E27FC236}">
                <a16:creationId xmlns:a16="http://schemas.microsoft.com/office/drawing/2014/main" id="{0AAA2F23-708D-4E67-E58F-E0113B4FE564}"/>
              </a:ext>
            </a:extLst>
          </p:cNvPr>
          <p:cNvSpPr/>
          <p:nvPr/>
        </p:nvSpPr>
        <p:spPr>
          <a:xfrm>
            <a:off x="5943218" y="1300868"/>
            <a:ext cx="5577840" cy="54864"/>
          </a:xfrm>
          <a:prstGeom prst="rect">
            <a:avLst/>
          </a:prstGeom>
          <a:solidFill>
            <a:srgbClr val="3B7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1" name="TextBox 10">
            <a:extLst>
              <a:ext uri="{FF2B5EF4-FFF2-40B4-BE49-F238E27FC236}">
                <a16:creationId xmlns:a16="http://schemas.microsoft.com/office/drawing/2014/main" id="{61AFB66D-FC5E-09E4-2BDE-381840FEB35C}"/>
              </a:ext>
            </a:extLst>
          </p:cNvPr>
          <p:cNvSpPr txBox="1"/>
          <p:nvPr/>
        </p:nvSpPr>
        <p:spPr>
          <a:xfrm>
            <a:off x="6171818" y="1438028"/>
            <a:ext cx="5120640" cy="203004"/>
          </a:xfrm>
          <a:prstGeom prst="rect">
            <a:avLst/>
          </a:prstGeom>
          <a:noFill/>
        </p:spPr>
        <p:txBody>
          <a:bodyPr wrap="square" lIns="0" tIns="0" rIns="0" bIns="0" anchor="t">
            <a:spAutoFit/>
          </a:bodyPr>
          <a:lstStyle/>
          <a:p>
            <a:pPr algn="l">
              <a:lnSpc>
                <a:spcPct val="110000"/>
              </a:lnSpc>
              <a:spcBef>
                <a:spcPts val="0"/>
              </a:spcBef>
              <a:spcAft>
                <a:spcPts val="0"/>
              </a:spcAft>
            </a:pPr>
            <a:r>
              <a:rPr lang="en-US" sz="1300" b="1" i="0" noProof="0">
                <a:solidFill>
                  <a:srgbClr val="3B7D23"/>
                </a:solidFill>
                <a:latin typeface="Helvetica Neue"/>
              </a:rPr>
              <a:t>PROCESS</a:t>
            </a:r>
          </a:p>
        </p:txBody>
      </p:sp>
      <p:sp>
        <p:nvSpPr>
          <p:cNvPr id="12" name="TextBox 11">
            <a:extLst>
              <a:ext uri="{FF2B5EF4-FFF2-40B4-BE49-F238E27FC236}">
                <a16:creationId xmlns:a16="http://schemas.microsoft.com/office/drawing/2014/main" id="{F1FB4303-5DAA-9551-288C-D54E565E2596}"/>
              </a:ext>
            </a:extLst>
          </p:cNvPr>
          <p:cNvSpPr txBox="1"/>
          <p:nvPr/>
        </p:nvSpPr>
        <p:spPr>
          <a:xfrm>
            <a:off x="6171818" y="1803788"/>
            <a:ext cx="5120640" cy="833241"/>
          </a:xfrm>
          <a:prstGeom prst="rect">
            <a:avLst/>
          </a:prstGeom>
          <a:noFill/>
        </p:spPr>
        <p:txBody>
          <a:bodyPr wrap="square" lIns="0" tIns="0" rIns="0" bIns="0" anchor="t">
            <a:spAutoFit/>
          </a:bodyPr>
          <a:lstStyle/>
          <a:p>
            <a:pPr algn="l">
              <a:lnSpc>
                <a:spcPct val="110000"/>
              </a:lnSpc>
              <a:spcBef>
                <a:spcPts val="0"/>
              </a:spcBef>
              <a:spcAft>
                <a:spcPts val="0"/>
              </a:spcAft>
            </a:pPr>
            <a:r>
              <a:rPr lang="en-US" sz="1000" b="0" i="0" noProof="0">
                <a:solidFill>
                  <a:srgbClr val="2C3E50"/>
                </a:solidFill>
                <a:latin typeface="Helvetica Neue"/>
              </a:rPr>
              <a:t>▪  Demand intake not standardized across 6+ channels (Carlos)</a:t>
            </a:r>
          </a:p>
          <a:p>
            <a:pPr algn="l">
              <a:lnSpc>
                <a:spcPct val="110000"/>
              </a:lnSpc>
              <a:spcBef>
                <a:spcPts val="0"/>
              </a:spcBef>
              <a:spcAft>
                <a:spcPts val="0"/>
              </a:spcAft>
            </a:pPr>
            <a:r>
              <a:rPr lang="en-US" sz="1000" b="0" i="0" noProof="0">
                <a:solidFill>
                  <a:srgbClr val="2C3E50"/>
                </a:solidFill>
                <a:latin typeface="Helvetica Neue"/>
              </a:rPr>
              <a:t>▪  Prioritization is ad-hoc; 4 informal criteria per forum</a:t>
            </a:r>
          </a:p>
          <a:p>
            <a:pPr algn="l">
              <a:lnSpc>
                <a:spcPct val="110000"/>
              </a:lnSpc>
              <a:spcBef>
                <a:spcPts val="0"/>
              </a:spcBef>
              <a:spcAft>
                <a:spcPts val="0"/>
              </a:spcAft>
            </a:pPr>
            <a:r>
              <a:rPr lang="en-US" sz="1000" b="0" i="0" noProof="0">
                <a:solidFill>
                  <a:srgbClr val="2C3E50"/>
                </a:solidFill>
                <a:latin typeface="Helvetica Neue"/>
              </a:rPr>
              <a:t>▪  PDD is the only formal process — only for large projects</a:t>
            </a:r>
          </a:p>
          <a:p>
            <a:pPr algn="l">
              <a:lnSpc>
                <a:spcPct val="110000"/>
              </a:lnSpc>
              <a:spcBef>
                <a:spcPts val="0"/>
              </a:spcBef>
              <a:spcAft>
                <a:spcPts val="0"/>
              </a:spcAft>
            </a:pPr>
            <a:r>
              <a:rPr lang="en-US" sz="1000" b="0" i="0" noProof="0">
                <a:solidFill>
                  <a:srgbClr val="2C3E50"/>
                </a:solidFill>
                <a:latin typeface="Helvetica Neue"/>
              </a:rPr>
              <a:t>▪  Vendor sets estimates, timelines, scope (especially Metering)</a:t>
            </a:r>
          </a:p>
          <a:p>
            <a:pPr algn="l">
              <a:lnSpc>
                <a:spcPct val="110000"/>
              </a:lnSpc>
              <a:spcBef>
                <a:spcPts val="0"/>
              </a:spcBef>
              <a:spcAft>
                <a:spcPts val="0"/>
              </a:spcAft>
            </a:pPr>
            <a:r>
              <a:rPr lang="en-US" sz="1000" b="0" i="0" noProof="0">
                <a:solidFill>
                  <a:srgbClr val="2C3E50"/>
                </a:solidFill>
                <a:latin typeface="Helvetica Neue"/>
              </a:rPr>
              <a:t>▪  PMs and Tech Leads "need to work in the same way" (Carlos)</a:t>
            </a:r>
          </a:p>
        </p:txBody>
      </p:sp>
      <p:sp>
        <p:nvSpPr>
          <p:cNvPr id="15" name="Rectangle 14">
            <a:extLst>
              <a:ext uri="{FF2B5EF4-FFF2-40B4-BE49-F238E27FC236}">
                <a16:creationId xmlns:a16="http://schemas.microsoft.com/office/drawing/2014/main" id="{1EDAD26C-387B-AD60-26C0-DE5BFBF8DD6A}"/>
              </a:ext>
            </a:extLst>
          </p:cNvPr>
          <p:cNvSpPr/>
          <p:nvPr/>
        </p:nvSpPr>
        <p:spPr>
          <a:xfrm>
            <a:off x="246506" y="3678308"/>
            <a:ext cx="5577840" cy="54864"/>
          </a:xfrm>
          <a:prstGeom prst="rect">
            <a:avLst/>
          </a:prstGeom>
          <a:solidFill>
            <a:srgbClr val="3B7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solidFill>
                <a:srgbClr val="3B7D23"/>
              </a:solidFill>
            </a:endParaRPr>
          </a:p>
        </p:txBody>
      </p:sp>
      <p:sp>
        <p:nvSpPr>
          <p:cNvPr id="16" name="TextBox 15">
            <a:extLst>
              <a:ext uri="{FF2B5EF4-FFF2-40B4-BE49-F238E27FC236}">
                <a16:creationId xmlns:a16="http://schemas.microsoft.com/office/drawing/2014/main" id="{0E339F32-5ACC-FC79-3417-0BAE824A3A63}"/>
              </a:ext>
            </a:extLst>
          </p:cNvPr>
          <p:cNvSpPr txBox="1"/>
          <p:nvPr/>
        </p:nvSpPr>
        <p:spPr>
          <a:xfrm>
            <a:off x="475106" y="3815468"/>
            <a:ext cx="5120640" cy="203004"/>
          </a:xfrm>
          <a:prstGeom prst="rect">
            <a:avLst/>
          </a:prstGeom>
          <a:noFill/>
        </p:spPr>
        <p:txBody>
          <a:bodyPr wrap="square" lIns="0" tIns="0" rIns="0" bIns="0" anchor="t">
            <a:spAutoFit/>
          </a:bodyPr>
          <a:lstStyle/>
          <a:p>
            <a:pPr algn="l">
              <a:lnSpc>
                <a:spcPct val="110000"/>
              </a:lnSpc>
              <a:spcBef>
                <a:spcPts val="0"/>
              </a:spcBef>
              <a:spcAft>
                <a:spcPts val="0"/>
              </a:spcAft>
            </a:pPr>
            <a:r>
              <a:rPr lang="en-US" sz="1300" b="1" i="0" noProof="0">
                <a:solidFill>
                  <a:srgbClr val="3B7D23"/>
                </a:solidFill>
                <a:latin typeface="Helvetica Neue"/>
              </a:rPr>
              <a:t>TOOLS</a:t>
            </a:r>
          </a:p>
        </p:txBody>
      </p:sp>
      <p:sp>
        <p:nvSpPr>
          <p:cNvPr id="17" name="TextBox 16">
            <a:extLst>
              <a:ext uri="{FF2B5EF4-FFF2-40B4-BE49-F238E27FC236}">
                <a16:creationId xmlns:a16="http://schemas.microsoft.com/office/drawing/2014/main" id="{C276BBFE-AB81-554D-03F6-CA8EDB27C7DE}"/>
              </a:ext>
            </a:extLst>
          </p:cNvPr>
          <p:cNvSpPr txBox="1"/>
          <p:nvPr/>
        </p:nvSpPr>
        <p:spPr>
          <a:xfrm>
            <a:off x="475106" y="4181228"/>
            <a:ext cx="5120640" cy="833241"/>
          </a:xfrm>
          <a:prstGeom prst="rect">
            <a:avLst/>
          </a:prstGeom>
          <a:noFill/>
        </p:spPr>
        <p:txBody>
          <a:bodyPr wrap="square" lIns="0" tIns="0" rIns="0" bIns="0" anchor="t">
            <a:spAutoFit/>
          </a:bodyPr>
          <a:lstStyle/>
          <a:p>
            <a:pPr algn="l">
              <a:lnSpc>
                <a:spcPct val="110000"/>
              </a:lnSpc>
              <a:spcBef>
                <a:spcPts val="0"/>
              </a:spcBef>
              <a:spcAft>
                <a:spcPts val="0"/>
              </a:spcAft>
            </a:pPr>
            <a:r>
              <a:rPr lang="en-US" sz="1000" b="0" i="0" noProof="0">
                <a:solidFill>
                  <a:srgbClr val="2C3E50"/>
                </a:solidFill>
                <a:latin typeface="Helvetica Neue"/>
              </a:rPr>
              <a:t>▪  6+ disconnected intake channels (Jira, IT Now, RITM, SharePoint, Email, Word)</a:t>
            </a:r>
          </a:p>
          <a:p>
            <a:pPr algn="l">
              <a:lnSpc>
                <a:spcPct val="110000"/>
              </a:lnSpc>
              <a:spcBef>
                <a:spcPts val="0"/>
              </a:spcBef>
              <a:spcAft>
                <a:spcPts val="0"/>
              </a:spcAft>
            </a:pPr>
            <a:r>
              <a:rPr lang="en-US" sz="1000" b="0" i="0" noProof="0">
                <a:solidFill>
                  <a:srgbClr val="2C3E50"/>
                </a:solidFill>
                <a:latin typeface="Helvetica Neue"/>
              </a:rPr>
              <a:t>▪  No portfolio management tool in 5 of 6 units (only Metering uses PPM Now)</a:t>
            </a:r>
          </a:p>
          <a:p>
            <a:pPr algn="l">
              <a:lnSpc>
                <a:spcPct val="110000"/>
              </a:lnSpc>
              <a:spcBef>
                <a:spcPts val="0"/>
              </a:spcBef>
              <a:spcAft>
                <a:spcPts val="0"/>
              </a:spcAft>
            </a:pPr>
            <a:r>
              <a:rPr lang="en-US" sz="1000" b="0" i="0" noProof="0">
                <a:solidFill>
                  <a:srgbClr val="2C3E50"/>
                </a:solidFill>
                <a:latin typeface="Helvetica Neue"/>
              </a:rPr>
              <a:t>▪  No tool / process to manage vendor delivery</a:t>
            </a:r>
          </a:p>
          <a:p>
            <a:pPr algn="l">
              <a:lnSpc>
                <a:spcPct val="110000"/>
              </a:lnSpc>
              <a:spcBef>
                <a:spcPts val="0"/>
              </a:spcBef>
              <a:spcAft>
                <a:spcPts val="0"/>
              </a:spcAft>
            </a:pPr>
            <a:r>
              <a:rPr lang="en-US" sz="1000" b="0" i="0" noProof="0">
                <a:solidFill>
                  <a:srgbClr val="2C3E50"/>
                </a:solidFill>
                <a:latin typeface="Helvetica Neue"/>
              </a:rPr>
              <a:t>▪  Jira fragmentation across instances</a:t>
            </a:r>
          </a:p>
          <a:p>
            <a:pPr algn="l">
              <a:lnSpc>
                <a:spcPct val="110000"/>
              </a:lnSpc>
              <a:spcBef>
                <a:spcPts val="0"/>
              </a:spcBef>
              <a:spcAft>
                <a:spcPts val="0"/>
              </a:spcAft>
            </a:pPr>
            <a:r>
              <a:rPr lang="en-US" sz="1000" b="0" i="0" noProof="0">
                <a:solidFill>
                  <a:srgbClr val="2C3E50"/>
                </a:solidFill>
                <a:latin typeface="Helvetica Neue"/>
              </a:rPr>
              <a:t>▪  Informal PM stack (OneNote, Teams, Spreadsheets) for GIS</a:t>
            </a:r>
          </a:p>
        </p:txBody>
      </p:sp>
      <p:sp>
        <p:nvSpPr>
          <p:cNvPr id="19" name="Rectangle 18">
            <a:extLst>
              <a:ext uri="{FF2B5EF4-FFF2-40B4-BE49-F238E27FC236}">
                <a16:creationId xmlns:a16="http://schemas.microsoft.com/office/drawing/2014/main" id="{85120274-6021-B1A4-3B01-70E9414CF95A}"/>
              </a:ext>
            </a:extLst>
          </p:cNvPr>
          <p:cNvSpPr/>
          <p:nvPr/>
        </p:nvSpPr>
        <p:spPr>
          <a:xfrm>
            <a:off x="5943218" y="3678308"/>
            <a:ext cx="5577840" cy="1879092"/>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0" name="Rectangle 19">
            <a:extLst>
              <a:ext uri="{FF2B5EF4-FFF2-40B4-BE49-F238E27FC236}">
                <a16:creationId xmlns:a16="http://schemas.microsoft.com/office/drawing/2014/main" id="{60DB336F-1F9C-EE98-99E1-AE120886DD73}"/>
              </a:ext>
            </a:extLst>
          </p:cNvPr>
          <p:cNvSpPr/>
          <p:nvPr/>
        </p:nvSpPr>
        <p:spPr>
          <a:xfrm>
            <a:off x="5943218" y="3678308"/>
            <a:ext cx="5577840" cy="54864"/>
          </a:xfrm>
          <a:prstGeom prst="rect">
            <a:avLst/>
          </a:prstGeom>
          <a:solidFill>
            <a:srgbClr val="3B7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solidFill>
                <a:srgbClr val="3B7D23"/>
              </a:solidFill>
            </a:endParaRPr>
          </a:p>
        </p:txBody>
      </p:sp>
      <p:sp>
        <p:nvSpPr>
          <p:cNvPr id="21" name="TextBox 20">
            <a:extLst>
              <a:ext uri="{FF2B5EF4-FFF2-40B4-BE49-F238E27FC236}">
                <a16:creationId xmlns:a16="http://schemas.microsoft.com/office/drawing/2014/main" id="{A5DCF922-758A-09E3-2456-811CDC8B159C}"/>
              </a:ext>
            </a:extLst>
          </p:cNvPr>
          <p:cNvSpPr txBox="1"/>
          <p:nvPr/>
        </p:nvSpPr>
        <p:spPr>
          <a:xfrm>
            <a:off x="6171818" y="3815468"/>
            <a:ext cx="5120640" cy="203004"/>
          </a:xfrm>
          <a:prstGeom prst="rect">
            <a:avLst/>
          </a:prstGeom>
          <a:noFill/>
        </p:spPr>
        <p:txBody>
          <a:bodyPr wrap="square" lIns="0" tIns="0" rIns="0" bIns="0" anchor="t">
            <a:spAutoFit/>
          </a:bodyPr>
          <a:lstStyle/>
          <a:p>
            <a:pPr algn="l">
              <a:lnSpc>
                <a:spcPct val="110000"/>
              </a:lnSpc>
              <a:spcBef>
                <a:spcPts val="0"/>
              </a:spcBef>
              <a:spcAft>
                <a:spcPts val="0"/>
              </a:spcAft>
            </a:pPr>
            <a:r>
              <a:rPr lang="en-US" sz="1300" b="1" i="0" noProof="0">
                <a:solidFill>
                  <a:srgbClr val="3B7D23"/>
                </a:solidFill>
                <a:latin typeface="Helvetica Neue"/>
              </a:rPr>
              <a:t>GOVERNANCE</a:t>
            </a:r>
          </a:p>
        </p:txBody>
      </p:sp>
      <p:sp>
        <p:nvSpPr>
          <p:cNvPr id="22" name="TextBox 21">
            <a:extLst>
              <a:ext uri="{FF2B5EF4-FFF2-40B4-BE49-F238E27FC236}">
                <a16:creationId xmlns:a16="http://schemas.microsoft.com/office/drawing/2014/main" id="{F64001B4-F2C9-4ECB-7296-88B6BEFCCF96}"/>
              </a:ext>
            </a:extLst>
          </p:cNvPr>
          <p:cNvSpPr txBox="1"/>
          <p:nvPr/>
        </p:nvSpPr>
        <p:spPr>
          <a:xfrm>
            <a:off x="6171818" y="4181228"/>
            <a:ext cx="5120640" cy="1002519"/>
          </a:xfrm>
          <a:prstGeom prst="rect">
            <a:avLst/>
          </a:prstGeom>
          <a:noFill/>
        </p:spPr>
        <p:txBody>
          <a:bodyPr wrap="square" lIns="0" tIns="0" rIns="0" bIns="0" anchor="t">
            <a:spAutoFit/>
          </a:bodyPr>
          <a:lstStyle/>
          <a:p>
            <a:pPr algn="l">
              <a:lnSpc>
                <a:spcPct val="110000"/>
              </a:lnSpc>
              <a:spcBef>
                <a:spcPts val="0"/>
              </a:spcBef>
              <a:spcAft>
                <a:spcPts val="0"/>
              </a:spcAft>
            </a:pPr>
            <a:r>
              <a:rPr lang="en-US" sz="1000" b="0" i="0" noProof="0">
                <a:solidFill>
                  <a:srgbClr val="2C3E50"/>
                </a:solidFill>
                <a:latin typeface="Helvetica Neue"/>
              </a:rPr>
              <a:t>▪  5 forums exist — none covers portfolio-level decisions</a:t>
            </a:r>
          </a:p>
          <a:p>
            <a:pPr algn="l">
              <a:lnSpc>
                <a:spcPct val="110000"/>
              </a:lnSpc>
              <a:spcBef>
                <a:spcPts val="0"/>
              </a:spcBef>
              <a:spcAft>
                <a:spcPts val="0"/>
              </a:spcAft>
            </a:pPr>
            <a:r>
              <a:rPr lang="en-US" sz="1000" b="0" i="0" noProof="0">
                <a:solidFill>
                  <a:srgbClr val="2C3E50"/>
                </a:solidFill>
                <a:latin typeface="Helvetica Neue"/>
              </a:rPr>
              <a:t>▪  Manager Check-in participants + scope still TBC</a:t>
            </a:r>
          </a:p>
          <a:p>
            <a:pPr algn="l">
              <a:lnSpc>
                <a:spcPct val="110000"/>
              </a:lnSpc>
              <a:spcBef>
                <a:spcPts val="0"/>
              </a:spcBef>
              <a:spcAft>
                <a:spcPts val="0"/>
              </a:spcAft>
            </a:pPr>
            <a:r>
              <a:rPr lang="en-US" sz="1000" b="0" i="0" noProof="0">
                <a:solidFill>
                  <a:srgbClr val="2C3E50"/>
                </a:solidFill>
                <a:latin typeface="Helvetica Neue"/>
              </a:rPr>
              <a:t>▪  Regulatory demand overrides size in every forum (no formal rule)</a:t>
            </a:r>
          </a:p>
          <a:p>
            <a:pPr algn="l">
              <a:lnSpc>
                <a:spcPct val="110000"/>
              </a:lnSpc>
              <a:spcBef>
                <a:spcPts val="0"/>
              </a:spcBef>
              <a:spcAft>
                <a:spcPts val="0"/>
              </a:spcAft>
            </a:pPr>
            <a:r>
              <a:rPr lang="en-US" sz="1000" b="0" i="0" noProof="0">
                <a:solidFill>
                  <a:srgbClr val="2C3E50"/>
                </a:solidFill>
                <a:latin typeface="Helvetica Neue"/>
              </a:rPr>
              <a:t>▪  P&amp;T is the only cross-team intermediary for Business ↔ IT</a:t>
            </a:r>
          </a:p>
          <a:p>
            <a:pPr algn="l">
              <a:lnSpc>
                <a:spcPct val="110000"/>
              </a:lnSpc>
              <a:spcBef>
                <a:spcPts val="0"/>
              </a:spcBef>
              <a:spcAft>
                <a:spcPts val="0"/>
              </a:spcAft>
            </a:pPr>
            <a:r>
              <a:rPr lang="en-US" sz="1000" b="0" i="0" noProof="0">
                <a:solidFill>
                  <a:srgbClr val="2C3E50"/>
                </a:solidFill>
                <a:latin typeface="Helvetica Neue"/>
              </a:rPr>
              <a:t>▪  No enterprise-level reconciliation between Global SAP (Iberdrola) and the other SAP footprints</a:t>
            </a:r>
          </a:p>
        </p:txBody>
      </p:sp>
      <p:sp>
        <p:nvSpPr>
          <p:cNvPr id="24" name="Rectangle 23">
            <a:extLst>
              <a:ext uri="{FF2B5EF4-FFF2-40B4-BE49-F238E27FC236}">
                <a16:creationId xmlns:a16="http://schemas.microsoft.com/office/drawing/2014/main" id="{13E09724-117C-3CE8-6883-6BF1E88C3F0D}"/>
              </a:ext>
            </a:extLst>
          </p:cNvPr>
          <p:cNvSpPr/>
          <p:nvPr/>
        </p:nvSpPr>
        <p:spPr>
          <a:xfrm>
            <a:off x="246506" y="5682811"/>
            <a:ext cx="11274552"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5" name="TextBox 24">
            <a:extLst>
              <a:ext uri="{FF2B5EF4-FFF2-40B4-BE49-F238E27FC236}">
                <a16:creationId xmlns:a16="http://schemas.microsoft.com/office/drawing/2014/main" id="{581FA408-1413-055C-052D-C6320617504D}"/>
              </a:ext>
            </a:extLst>
          </p:cNvPr>
          <p:cNvSpPr txBox="1"/>
          <p:nvPr/>
        </p:nvSpPr>
        <p:spPr>
          <a:xfrm>
            <a:off x="475106" y="5848382"/>
            <a:ext cx="10817352" cy="171778"/>
          </a:xfrm>
          <a:prstGeom prst="rect">
            <a:avLst/>
          </a:prstGeom>
          <a:noFill/>
        </p:spPr>
        <p:txBody>
          <a:bodyPr wrap="square" lIns="0" tIns="0" rIns="0" bIns="0" anchor="ctr">
            <a:spAutoFit/>
          </a:bodyPr>
          <a:lstStyle/>
          <a:p>
            <a:pPr algn="l">
              <a:lnSpc>
                <a:spcPct val="110000"/>
              </a:lnSpc>
              <a:spcBef>
                <a:spcPts val="0"/>
              </a:spcBef>
              <a:spcAft>
                <a:spcPts val="0"/>
              </a:spcAft>
            </a:pPr>
            <a:r>
              <a:rPr lang="en-US" sz="1100" b="0" i="0" noProof="0">
                <a:solidFill>
                  <a:srgbClr val="FFFFFF"/>
                </a:solidFill>
                <a:latin typeface="Helvetica Neue"/>
              </a:rPr>
              <a:t>Each MECE category produces a distinct bottleneck — addressing only one dimension in the TOM will not resolve the system; all four must move together</a:t>
            </a:r>
          </a:p>
        </p:txBody>
      </p:sp>
      <p:sp>
        <p:nvSpPr>
          <p:cNvPr id="8" name="Título 2">
            <a:extLst>
              <a:ext uri="{FF2B5EF4-FFF2-40B4-BE49-F238E27FC236}">
                <a16:creationId xmlns:a16="http://schemas.microsoft.com/office/drawing/2014/main" id="{7487325D-7024-AB95-84F7-17D58CCD3A15}"/>
              </a:ext>
            </a:extLst>
          </p:cNvPr>
          <p:cNvSpPr txBox="1">
            <a:spLocks/>
          </p:cNvSpPr>
          <p:nvPr/>
        </p:nvSpPr>
        <p:spPr>
          <a:xfrm>
            <a:off x="180918" y="127319"/>
            <a:ext cx="7801032" cy="514011"/>
          </a:xfrm>
          <a:prstGeom prst="rect">
            <a:avLst/>
          </a:prstGeom>
        </p:spPr>
        <p:txBody>
          <a:bodyPr anchor="ctr">
            <a:noAutofit/>
          </a:bodyPr>
          <a:lstStyle>
            <a:defPPr>
              <a:defRPr lang="en-US"/>
            </a:defPPr>
            <a:lvl1pPr marR="0" lvl="0" indent="0" fontAlgn="auto">
              <a:lnSpc>
                <a:spcPct val="90000"/>
              </a:lnSpc>
              <a:spcBef>
                <a:spcPct val="0"/>
              </a:spcBef>
              <a:spcAft>
                <a:spcPts val="0"/>
              </a:spcAft>
              <a:buClrTx/>
              <a:buSzTx/>
              <a:buFontTx/>
              <a:buNone/>
              <a:tabLst/>
              <a:defRPr kumimoji="0" sz="2400" b="1" i="0" u="none" strike="noStrike" cap="none" spc="0" normalizeH="0" baseline="0">
                <a:ln>
                  <a:noFill/>
                </a:ln>
                <a:solidFill>
                  <a:prstClr val="white"/>
                </a:solidFill>
                <a:effectLst/>
                <a:uLnTx/>
                <a:uFillTx/>
                <a:latin typeface="Arial" panose="020B0604020202020204" pitchFamily="34" charset="0"/>
                <a:ea typeface="+mj-ea"/>
                <a:cs typeface="Arial" panose="020B0604020202020204" pitchFamily="34" charset="0"/>
              </a:defRPr>
            </a:lvl1pPr>
          </a:lstStyle>
          <a:p>
            <a:r>
              <a:rPr lang="en-US" noProof="0">
                <a:sym typeface="Gordita"/>
              </a:rPr>
              <a:t>INSIGHTS &amp; KEY DEFINITIONS FOR TO-BE MODEL</a:t>
            </a:r>
          </a:p>
          <a:p>
            <a:r>
              <a:rPr lang="en-US" sz="1200" noProof="0"/>
              <a:t>PAIN POINTS</a:t>
            </a:r>
          </a:p>
        </p:txBody>
      </p:sp>
      <p:sp>
        <p:nvSpPr>
          <p:cNvPr id="23" name="TextBox 22">
            <a:extLst>
              <a:ext uri="{FF2B5EF4-FFF2-40B4-BE49-F238E27FC236}">
                <a16:creationId xmlns:a16="http://schemas.microsoft.com/office/drawing/2014/main" id="{BCCAF458-882E-95B2-3625-0B769279D1F0}"/>
              </a:ext>
            </a:extLst>
          </p:cNvPr>
          <p:cNvSpPr txBox="1"/>
          <p:nvPr/>
        </p:nvSpPr>
        <p:spPr>
          <a:xfrm>
            <a:off x="246506" y="863377"/>
            <a:ext cx="11274552" cy="215444"/>
          </a:xfrm>
          <a:prstGeom prst="rect">
            <a:avLst/>
          </a:prstGeom>
          <a:noFill/>
        </p:spPr>
        <p:txBody>
          <a:bodyPr wrap="square" lIns="0" tIns="0" rIns="0" bIns="0" rtlCol="0">
            <a:noAutofit/>
          </a:bodyPr>
          <a:lstStyle>
            <a:defPPr>
              <a:defRPr lang="en-US"/>
            </a:defPPr>
            <a:lvl1pPr marR="0" lvl="0" indent="0" algn="just" fontAlgn="auto">
              <a:lnSpc>
                <a:spcPct val="100000"/>
              </a:lnSpc>
              <a:spcBef>
                <a:spcPts val="0"/>
              </a:spcBef>
              <a:spcAft>
                <a:spcPts val="0"/>
              </a:spcAft>
              <a:buClrTx/>
              <a:buSzTx/>
              <a:buFontTx/>
              <a:buNone/>
              <a:tabLst/>
              <a:defRPr kumimoji="0" sz="1400" b="1" i="0" u="none" strike="noStrike" cap="none" spc="0" normalizeH="0" baseline="0">
                <a:ln>
                  <a:noFill/>
                </a:ln>
                <a:solidFill>
                  <a:srgbClr val="0F9ED5">
                    <a:lumMod val="75000"/>
                  </a:srgbClr>
                </a:solidFill>
                <a:effectLst/>
                <a:uLnTx/>
                <a:uFillTx/>
                <a:latin typeface="Arial" panose="020B0604020202020204" pitchFamily="34" charset="0"/>
                <a:cs typeface="Arial" panose="020B0604020202020204" pitchFamily="34" charset="0"/>
              </a:defRPr>
            </a:lvl1pPr>
            <a:lvl2pPr marL="228586" eaLnBrk="0" fontAlgn="base" hangingPunct="0">
              <a:spcBef>
                <a:spcPct val="0"/>
              </a:spcBef>
              <a:spcAft>
                <a:spcPct val="0"/>
              </a:spcAft>
              <a:defRPr>
                <a:latin typeface="Arial" pitchFamily="2" charset="77"/>
              </a:defRPr>
            </a:lvl2pPr>
            <a:lvl3pPr marL="457172" eaLnBrk="0" fontAlgn="base" hangingPunct="0">
              <a:spcBef>
                <a:spcPct val="0"/>
              </a:spcBef>
              <a:spcAft>
                <a:spcPct val="0"/>
              </a:spcAft>
              <a:defRPr>
                <a:latin typeface="Arial" pitchFamily="2" charset="77"/>
              </a:defRPr>
            </a:lvl3pPr>
            <a:lvl4pPr marL="685757" eaLnBrk="0" fontAlgn="base" hangingPunct="0">
              <a:spcBef>
                <a:spcPct val="0"/>
              </a:spcBef>
              <a:spcAft>
                <a:spcPct val="0"/>
              </a:spcAft>
              <a:defRPr>
                <a:latin typeface="Arial" pitchFamily="2" charset="77"/>
              </a:defRPr>
            </a:lvl4pPr>
            <a:lvl5pPr marL="914343" eaLnBrk="0" fontAlgn="base" hangingPunct="0">
              <a:spcBef>
                <a:spcPct val="0"/>
              </a:spcBef>
              <a:spcAft>
                <a:spcPct val="0"/>
              </a:spcAft>
              <a:defRPr>
                <a:latin typeface="Arial" pitchFamily="2" charset="77"/>
              </a:defRPr>
            </a:lvl5pPr>
            <a:lvl6pPr marL="1142929" defTabSz="457172">
              <a:defRPr>
                <a:latin typeface="Arial" pitchFamily="2" charset="77"/>
              </a:defRPr>
            </a:lvl6pPr>
            <a:lvl7pPr marL="1371515" defTabSz="457172">
              <a:defRPr>
                <a:latin typeface="Arial" pitchFamily="2" charset="77"/>
              </a:defRPr>
            </a:lvl7pPr>
            <a:lvl8pPr marL="1600100" defTabSz="457172">
              <a:defRPr>
                <a:latin typeface="Arial" pitchFamily="2" charset="77"/>
              </a:defRPr>
            </a:lvl8pPr>
            <a:lvl9pPr marL="1828686" defTabSz="457172">
              <a:defRPr>
                <a:latin typeface="Arial" pitchFamily="2" charset="77"/>
              </a:defRPr>
            </a:lvl9pPr>
          </a:lstStyle>
          <a:p>
            <a:r>
              <a:rPr lang="en-US" noProof="0"/>
              <a:t>Pain points cluster MECE across People, Process, Tools and Governance — each category produces its own bottleneck</a:t>
            </a:r>
          </a:p>
        </p:txBody>
      </p:sp>
      <p:sp>
        <p:nvSpPr>
          <p:cNvPr id="13" name="Rectángulo 12">
            <a:extLst>
              <a:ext uri="{FF2B5EF4-FFF2-40B4-BE49-F238E27FC236}">
                <a16:creationId xmlns:a16="http://schemas.microsoft.com/office/drawing/2014/main" id="{0D802B11-5413-4900-EF72-C43CCDAF3E36}"/>
              </a:ext>
            </a:extLst>
          </p:cNvPr>
          <p:cNvSpPr/>
          <p:nvPr/>
        </p:nvSpPr>
        <p:spPr>
          <a:xfrm>
            <a:off x="11958320" y="1280160"/>
            <a:ext cx="2194560" cy="22250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a:t>The redaction needs to be more elevated towards the actual pain point and their implications</a:t>
            </a:r>
          </a:p>
        </p:txBody>
      </p:sp>
    </p:spTree>
    <p:extLst>
      <p:ext uri="{BB962C8B-B14F-4D97-AF65-F5344CB8AC3E}">
        <p14:creationId xmlns:p14="http://schemas.microsoft.com/office/powerpoint/2010/main" val="125785132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Rectangle 2"/>
          <p:cNvSpPr/>
          <p:nvPr/>
        </p:nvSpPr>
        <p:spPr>
          <a:xfrm>
            <a:off x="457200" y="1325880"/>
            <a:ext cx="11274552" cy="1371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grpSp>
        <p:nvGrpSpPr>
          <p:cNvPr id="49" name="Grupo 48">
            <a:extLst>
              <a:ext uri="{FF2B5EF4-FFF2-40B4-BE49-F238E27FC236}">
                <a16:creationId xmlns:a16="http://schemas.microsoft.com/office/drawing/2014/main" id="{51D0017B-B115-8503-9923-B243500EF018}"/>
              </a:ext>
            </a:extLst>
          </p:cNvPr>
          <p:cNvGrpSpPr/>
          <p:nvPr/>
        </p:nvGrpSpPr>
        <p:grpSpPr>
          <a:xfrm>
            <a:off x="3176572" y="1483748"/>
            <a:ext cx="2628000" cy="448056"/>
            <a:chOff x="2925698" y="1300868"/>
            <a:chExt cx="2628000" cy="448056"/>
          </a:xfrm>
        </p:grpSpPr>
        <p:sp>
          <p:nvSpPr>
            <p:cNvPr id="9" name="Rectangle 8"/>
            <p:cNvSpPr/>
            <p:nvPr/>
          </p:nvSpPr>
          <p:spPr>
            <a:xfrm>
              <a:off x="2925698" y="1300868"/>
              <a:ext cx="2628000" cy="44805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1" name="TextBox 10"/>
            <p:cNvSpPr txBox="1"/>
            <p:nvPr/>
          </p:nvSpPr>
          <p:spPr>
            <a:xfrm>
              <a:off x="3154298" y="1438028"/>
              <a:ext cx="2016000" cy="203004"/>
            </a:xfrm>
            <a:prstGeom prst="rect">
              <a:avLst/>
            </a:prstGeom>
            <a:noFill/>
          </p:spPr>
          <p:txBody>
            <a:bodyPr wrap="square" lIns="0" tIns="0" rIns="0" bIns="0" anchor="t">
              <a:spAutoFit/>
            </a:bodyPr>
            <a:lstStyle/>
            <a:p>
              <a:pPr algn="l">
                <a:lnSpc>
                  <a:spcPct val="110000"/>
                </a:lnSpc>
                <a:spcBef>
                  <a:spcPts val="0"/>
                </a:spcBef>
                <a:spcAft>
                  <a:spcPts val="0"/>
                </a:spcAft>
              </a:pPr>
              <a:r>
                <a:rPr lang="en-US" sz="1300" b="1" i="0" noProof="0">
                  <a:solidFill>
                    <a:srgbClr val="3B7D23"/>
                  </a:solidFill>
                  <a:latin typeface="Helvetica Neue"/>
                </a:rPr>
                <a:t>PROCESS</a:t>
              </a:r>
            </a:p>
          </p:txBody>
        </p:sp>
      </p:grpSp>
      <p:sp>
        <p:nvSpPr>
          <p:cNvPr id="24" name="Rectangle 23"/>
          <p:cNvSpPr/>
          <p:nvPr/>
        </p:nvSpPr>
        <p:spPr>
          <a:xfrm>
            <a:off x="246506" y="5682811"/>
            <a:ext cx="11274552"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5" name="TextBox 24"/>
          <p:cNvSpPr txBox="1"/>
          <p:nvPr/>
        </p:nvSpPr>
        <p:spPr>
          <a:xfrm>
            <a:off x="475106" y="5848382"/>
            <a:ext cx="10817352" cy="171778"/>
          </a:xfrm>
          <a:prstGeom prst="rect">
            <a:avLst/>
          </a:prstGeom>
          <a:noFill/>
        </p:spPr>
        <p:txBody>
          <a:bodyPr wrap="square" lIns="0" tIns="0" rIns="0" bIns="0" anchor="ctr">
            <a:spAutoFit/>
          </a:bodyPr>
          <a:lstStyle/>
          <a:p>
            <a:pPr algn="l">
              <a:lnSpc>
                <a:spcPct val="110000"/>
              </a:lnSpc>
              <a:spcBef>
                <a:spcPts val="0"/>
              </a:spcBef>
              <a:spcAft>
                <a:spcPts val="0"/>
              </a:spcAft>
            </a:pPr>
            <a:r>
              <a:rPr lang="en-US" sz="1100" b="0" i="0" noProof="0">
                <a:solidFill>
                  <a:srgbClr val="FFFFFF"/>
                </a:solidFill>
                <a:latin typeface="Helvetica Neue"/>
              </a:rPr>
              <a:t>Each MECE category produces a distinct bottleneck — addressing only one dimension in the TOM will not resolve the system; all four must move together</a:t>
            </a:r>
          </a:p>
        </p:txBody>
      </p:sp>
      <p:sp>
        <p:nvSpPr>
          <p:cNvPr id="8" name="Título 2">
            <a:extLst>
              <a:ext uri="{FF2B5EF4-FFF2-40B4-BE49-F238E27FC236}">
                <a16:creationId xmlns:a16="http://schemas.microsoft.com/office/drawing/2014/main" id="{11E8563D-F645-4224-6D56-F921F0D90D32}"/>
              </a:ext>
            </a:extLst>
          </p:cNvPr>
          <p:cNvSpPr txBox="1">
            <a:spLocks/>
          </p:cNvSpPr>
          <p:nvPr/>
        </p:nvSpPr>
        <p:spPr>
          <a:xfrm>
            <a:off x="180918" y="127319"/>
            <a:ext cx="7801032" cy="514011"/>
          </a:xfrm>
          <a:prstGeom prst="rect">
            <a:avLst/>
          </a:prstGeom>
        </p:spPr>
        <p:txBody>
          <a:bodyPr anchor="ctr">
            <a:noAutofit/>
          </a:bodyPr>
          <a:lstStyle>
            <a:defPPr>
              <a:defRPr lang="en-US"/>
            </a:defPPr>
            <a:lvl1pPr marR="0" lvl="0" indent="0" fontAlgn="auto">
              <a:lnSpc>
                <a:spcPct val="90000"/>
              </a:lnSpc>
              <a:spcBef>
                <a:spcPct val="0"/>
              </a:spcBef>
              <a:spcAft>
                <a:spcPts val="0"/>
              </a:spcAft>
              <a:buClrTx/>
              <a:buSzTx/>
              <a:buFontTx/>
              <a:buNone/>
              <a:tabLst/>
              <a:defRPr kumimoji="0" sz="2400" b="1" i="0" u="none" strike="noStrike" cap="none" spc="0" normalizeH="0" baseline="0">
                <a:ln>
                  <a:noFill/>
                </a:ln>
                <a:solidFill>
                  <a:prstClr val="white"/>
                </a:solidFill>
                <a:effectLst/>
                <a:uLnTx/>
                <a:uFillTx/>
                <a:latin typeface="Arial" panose="020B0604020202020204" pitchFamily="34" charset="0"/>
                <a:ea typeface="+mj-ea"/>
                <a:cs typeface="Arial" panose="020B0604020202020204" pitchFamily="34" charset="0"/>
              </a:defRPr>
            </a:lvl1pPr>
          </a:lstStyle>
          <a:p>
            <a:r>
              <a:rPr lang="en-US" noProof="0">
                <a:sym typeface="Gordita"/>
              </a:rPr>
              <a:t>INSIGHTS &amp; KEY DEFINITIONS FOR TO-BE MODEL</a:t>
            </a:r>
          </a:p>
          <a:p>
            <a:r>
              <a:rPr lang="en-US" sz="1200" noProof="0"/>
              <a:t>PAIN POINTS</a:t>
            </a:r>
          </a:p>
        </p:txBody>
      </p:sp>
      <p:sp>
        <p:nvSpPr>
          <p:cNvPr id="23" name="TextBox 22">
            <a:extLst>
              <a:ext uri="{FF2B5EF4-FFF2-40B4-BE49-F238E27FC236}">
                <a16:creationId xmlns:a16="http://schemas.microsoft.com/office/drawing/2014/main" id="{C86BDC91-BCA9-8CDB-2164-02E7E03DF4FB}"/>
              </a:ext>
            </a:extLst>
          </p:cNvPr>
          <p:cNvSpPr txBox="1"/>
          <p:nvPr/>
        </p:nvSpPr>
        <p:spPr>
          <a:xfrm>
            <a:off x="246506" y="863377"/>
            <a:ext cx="11274552" cy="215444"/>
          </a:xfrm>
          <a:prstGeom prst="rect">
            <a:avLst/>
          </a:prstGeom>
          <a:noFill/>
        </p:spPr>
        <p:txBody>
          <a:bodyPr wrap="square" lIns="0" tIns="0" rIns="0" bIns="0" rtlCol="0">
            <a:noAutofit/>
          </a:bodyPr>
          <a:lstStyle>
            <a:defPPr>
              <a:defRPr lang="en-US"/>
            </a:defPPr>
            <a:lvl1pPr marR="0" lvl="0" indent="0" algn="just" fontAlgn="auto">
              <a:lnSpc>
                <a:spcPct val="100000"/>
              </a:lnSpc>
              <a:spcBef>
                <a:spcPts val="0"/>
              </a:spcBef>
              <a:spcAft>
                <a:spcPts val="0"/>
              </a:spcAft>
              <a:buClrTx/>
              <a:buSzTx/>
              <a:buFontTx/>
              <a:buNone/>
              <a:tabLst/>
              <a:defRPr kumimoji="0" sz="1400" b="1" i="0" u="none" strike="noStrike" cap="none" spc="0" normalizeH="0" baseline="0">
                <a:ln>
                  <a:noFill/>
                </a:ln>
                <a:solidFill>
                  <a:srgbClr val="0F9ED5">
                    <a:lumMod val="75000"/>
                  </a:srgbClr>
                </a:solidFill>
                <a:effectLst/>
                <a:uLnTx/>
                <a:uFillTx/>
                <a:latin typeface="Arial" panose="020B0604020202020204" pitchFamily="34" charset="0"/>
                <a:cs typeface="Arial" panose="020B0604020202020204" pitchFamily="34" charset="0"/>
              </a:defRPr>
            </a:lvl1pPr>
            <a:lvl2pPr marL="228586" eaLnBrk="0" fontAlgn="base" hangingPunct="0">
              <a:spcBef>
                <a:spcPct val="0"/>
              </a:spcBef>
              <a:spcAft>
                <a:spcPct val="0"/>
              </a:spcAft>
              <a:defRPr>
                <a:latin typeface="Arial" pitchFamily="2" charset="77"/>
              </a:defRPr>
            </a:lvl2pPr>
            <a:lvl3pPr marL="457172" eaLnBrk="0" fontAlgn="base" hangingPunct="0">
              <a:spcBef>
                <a:spcPct val="0"/>
              </a:spcBef>
              <a:spcAft>
                <a:spcPct val="0"/>
              </a:spcAft>
              <a:defRPr>
                <a:latin typeface="Arial" pitchFamily="2" charset="77"/>
              </a:defRPr>
            </a:lvl3pPr>
            <a:lvl4pPr marL="685757" eaLnBrk="0" fontAlgn="base" hangingPunct="0">
              <a:spcBef>
                <a:spcPct val="0"/>
              </a:spcBef>
              <a:spcAft>
                <a:spcPct val="0"/>
              </a:spcAft>
              <a:defRPr>
                <a:latin typeface="Arial" pitchFamily="2" charset="77"/>
              </a:defRPr>
            </a:lvl4pPr>
            <a:lvl5pPr marL="914343" eaLnBrk="0" fontAlgn="base" hangingPunct="0">
              <a:spcBef>
                <a:spcPct val="0"/>
              </a:spcBef>
              <a:spcAft>
                <a:spcPct val="0"/>
              </a:spcAft>
              <a:defRPr>
                <a:latin typeface="Arial" pitchFamily="2" charset="77"/>
              </a:defRPr>
            </a:lvl5pPr>
            <a:lvl6pPr marL="1142929" defTabSz="457172">
              <a:defRPr>
                <a:latin typeface="Arial" pitchFamily="2" charset="77"/>
              </a:defRPr>
            </a:lvl6pPr>
            <a:lvl7pPr marL="1371515" defTabSz="457172">
              <a:defRPr>
                <a:latin typeface="Arial" pitchFamily="2" charset="77"/>
              </a:defRPr>
            </a:lvl7pPr>
            <a:lvl8pPr marL="1600100" defTabSz="457172">
              <a:defRPr>
                <a:latin typeface="Arial" pitchFamily="2" charset="77"/>
              </a:defRPr>
            </a:lvl8pPr>
            <a:lvl9pPr marL="1828686" defTabSz="457172">
              <a:defRPr>
                <a:latin typeface="Arial" pitchFamily="2" charset="77"/>
              </a:defRPr>
            </a:lvl9pPr>
          </a:lstStyle>
          <a:p>
            <a:r>
              <a:rPr lang="en-US" noProof="0"/>
              <a:t>Pain points cluster MECE across People, Process, Tools and Governance — each category produces its own bottleneck</a:t>
            </a:r>
          </a:p>
        </p:txBody>
      </p:sp>
      <p:sp>
        <p:nvSpPr>
          <p:cNvPr id="13" name="Rectángulo 12">
            <a:extLst>
              <a:ext uri="{FF2B5EF4-FFF2-40B4-BE49-F238E27FC236}">
                <a16:creationId xmlns:a16="http://schemas.microsoft.com/office/drawing/2014/main" id="{9F0376FD-CE61-F900-732A-BFDC238D7CE4}"/>
              </a:ext>
            </a:extLst>
          </p:cNvPr>
          <p:cNvSpPr/>
          <p:nvPr/>
        </p:nvSpPr>
        <p:spPr>
          <a:xfrm>
            <a:off x="12946196" y="1360537"/>
            <a:ext cx="10327934" cy="394179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a:t>We need to have a first introduction slide resuming all of our findings; </a:t>
            </a:r>
          </a:p>
          <a:p>
            <a:pPr marL="285750" indent="-285750">
              <a:buFont typeface="Arial" panose="020B0604020202020204" pitchFamily="34" charset="0"/>
              <a:buChar char="•"/>
            </a:pPr>
            <a:r>
              <a:rPr lang="en-US" noProof="0"/>
              <a:t>4  general conclusions </a:t>
            </a:r>
          </a:p>
          <a:p>
            <a:pPr marL="285750" indent="-285750">
              <a:buFont typeface="Arial" panose="020B0604020202020204" pitchFamily="34" charset="0"/>
              <a:buChar char="•"/>
            </a:pPr>
            <a:r>
              <a:rPr lang="en-US" noProof="0"/>
              <a:t> 8 pain points ; 4 Pain points for each Branch (</a:t>
            </a:r>
            <a:r>
              <a:rPr lang="en-US" noProof="0" err="1"/>
              <a:t>applciations</a:t>
            </a:r>
            <a:r>
              <a:rPr lang="en-US" noProof="0"/>
              <a:t> &amp; SAP)</a:t>
            </a:r>
          </a:p>
          <a:p>
            <a:pPr marL="285750" indent="-285750">
              <a:buFont typeface="Arial" panose="020B0604020202020204" pitchFamily="34" charset="0"/>
              <a:buChar char="•"/>
            </a:pPr>
            <a:r>
              <a:rPr lang="en-US" noProof="0"/>
              <a:t>4 systemic issues</a:t>
            </a:r>
          </a:p>
          <a:p>
            <a:pPr marL="285750" indent="-285750">
              <a:buFont typeface="Arial" panose="020B0604020202020204" pitchFamily="34" charset="0"/>
              <a:buChar char="•"/>
            </a:pPr>
            <a:r>
              <a:rPr lang="en-US" noProof="0"/>
              <a:t>7 </a:t>
            </a:r>
            <a:r>
              <a:rPr lang="en-US" noProof="0" err="1"/>
              <a:t>strcutrural</a:t>
            </a:r>
            <a:r>
              <a:rPr lang="en-US" noProof="0"/>
              <a:t> issues</a:t>
            </a:r>
          </a:p>
          <a:p>
            <a:pPr marL="285750" indent="-285750">
              <a:buFont typeface="Arial" panose="020B0604020202020204" pitchFamily="34" charset="0"/>
              <a:buChar char="•"/>
            </a:pPr>
            <a:r>
              <a:rPr lang="en-US" noProof="0"/>
              <a:t>5 compounded risks</a:t>
            </a:r>
          </a:p>
          <a:p>
            <a:pPr marL="285750" indent="-285750">
              <a:buFont typeface="Arial" panose="020B0604020202020204" pitchFamily="34" charset="0"/>
              <a:buChar char="•"/>
            </a:pPr>
            <a:r>
              <a:rPr lang="en-US" noProof="0"/>
              <a:t>8 to-be guiding principles</a:t>
            </a:r>
          </a:p>
          <a:p>
            <a:pPr marL="285750" indent="-285750">
              <a:buFont typeface="Arial" panose="020B0604020202020204" pitchFamily="34" charset="0"/>
              <a:buChar char="•"/>
            </a:pPr>
            <a:endParaRPr lang="en-US" noProof="0"/>
          </a:p>
          <a:p>
            <a:pPr marL="285750" indent="-285750">
              <a:buFont typeface="Arial" panose="020B0604020202020204" pitchFamily="34" charset="0"/>
              <a:buChar char="•"/>
            </a:pPr>
            <a:r>
              <a:rPr lang="en-US" noProof="0"/>
              <a:t>Javi</a:t>
            </a:r>
          </a:p>
        </p:txBody>
      </p:sp>
      <p:grpSp>
        <p:nvGrpSpPr>
          <p:cNvPr id="46" name="Grupo 45">
            <a:extLst>
              <a:ext uri="{FF2B5EF4-FFF2-40B4-BE49-F238E27FC236}">
                <a16:creationId xmlns:a16="http://schemas.microsoft.com/office/drawing/2014/main" id="{7110A5B4-F2EE-D9F9-233F-167485188F14}"/>
              </a:ext>
            </a:extLst>
          </p:cNvPr>
          <p:cNvGrpSpPr/>
          <p:nvPr/>
        </p:nvGrpSpPr>
        <p:grpSpPr>
          <a:xfrm>
            <a:off x="6105864" y="1483748"/>
            <a:ext cx="2628774" cy="448056"/>
            <a:chOff x="5706497" y="1300868"/>
            <a:chExt cx="2628774" cy="448056"/>
          </a:xfrm>
        </p:grpSpPr>
        <p:sp>
          <p:nvSpPr>
            <p:cNvPr id="18" name="Rectangle 3">
              <a:extLst>
                <a:ext uri="{FF2B5EF4-FFF2-40B4-BE49-F238E27FC236}">
                  <a16:creationId xmlns:a16="http://schemas.microsoft.com/office/drawing/2014/main" id="{57BB61BC-36BE-8EFD-21E9-4315D9CBD006}"/>
                </a:ext>
              </a:extLst>
            </p:cNvPr>
            <p:cNvSpPr/>
            <p:nvPr/>
          </p:nvSpPr>
          <p:spPr>
            <a:xfrm>
              <a:off x="5706497" y="1300868"/>
              <a:ext cx="2628774" cy="44805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40" name="TextBox 5">
              <a:extLst>
                <a:ext uri="{FF2B5EF4-FFF2-40B4-BE49-F238E27FC236}">
                  <a16:creationId xmlns:a16="http://schemas.microsoft.com/office/drawing/2014/main" id="{D968361D-A843-3FD5-3BF4-D914401396FB}"/>
                </a:ext>
              </a:extLst>
            </p:cNvPr>
            <p:cNvSpPr txBox="1"/>
            <p:nvPr/>
          </p:nvSpPr>
          <p:spPr>
            <a:xfrm>
              <a:off x="5935097" y="1438028"/>
              <a:ext cx="2124000" cy="203004"/>
            </a:xfrm>
            <a:prstGeom prst="rect">
              <a:avLst/>
            </a:prstGeom>
            <a:noFill/>
          </p:spPr>
          <p:txBody>
            <a:bodyPr wrap="square" lIns="0" tIns="0" rIns="0" bIns="0" anchor="t">
              <a:spAutoFit/>
            </a:bodyPr>
            <a:lstStyle/>
            <a:p>
              <a:pPr>
                <a:lnSpc>
                  <a:spcPct val="110000"/>
                </a:lnSpc>
              </a:pPr>
              <a:r>
                <a:rPr lang="en-US" sz="1300" b="1" noProof="0">
                  <a:solidFill>
                    <a:srgbClr val="3B7D23"/>
                  </a:solidFill>
                  <a:latin typeface="Helvetica Neue"/>
                </a:rPr>
                <a:t>TOOLS</a:t>
              </a:r>
              <a:endParaRPr lang="en-US" sz="1300" b="1" i="0" noProof="0">
                <a:solidFill>
                  <a:srgbClr val="3B7D23"/>
                </a:solidFill>
                <a:latin typeface="Helvetica Neue"/>
              </a:endParaRPr>
            </a:p>
          </p:txBody>
        </p:sp>
      </p:grpSp>
      <p:grpSp>
        <p:nvGrpSpPr>
          <p:cNvPr id="47" name="Grupo 46">
            <a:extLst>
              <a:ext uri="{FF2B5EF4-FFF2-40B4-BE49-F238E27FC236}">
                <a16:creationId xmlns:a16="http://schemas.microsoft.com/office/drawing/2014/main" id="{F98746D5-5A2F-F67B-F9BE-9679C67A9769}"/>
              </a:ext>
            </a:extLst>
          </p:cNvPr>
          <p:cNvGrpSpPr/>
          <p:nvPr/>
        </p:nvGrpSpPr>
        <p:grpSpPr>
          <a:xfrm>
            <a:off x="9035929" y="1483748"/>
            <a:ext cx="2628000" cy="448056"/>
            <a:chOff x="8385689" y="1300868"/>
            <a:chExt cx="2628000" cy="448056"/>
          </a:xfrm>
        </p:grpSpPr>
        <p:sp>
          <p:nvSpPr>
            <p:cNvPr id="41" name="Rectangle 8">
              <a:extLst>
                <a:ext uri="{FF2B5EF4-FFF2-40B4-BE49-F238E27FC236}">
                  <a16:creationId xmlns:a16="http://schemas.microsoft.com/office/drawing/2014/main" id="{ACC387A2-F440-C6B3-554D-CDD29122519B}"/>
                </a:ext>
              </a:extLst>
            </p:cNvPr>
            <p:cNvSpPr/>
            <p:nvPr/>
          </p:nvSpPr>
          <p:spPr>
            <a:xfrm>
              <a:off x="8385689" y="1300868"/>
              <a:ext cx="2628000" cy="44805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43" name="TextBox 5">
              <a:extLst>
                <a:ext uri="{FF2B5EF4-FFF2-40B4-BE49-F238E27FC236}">
                  <a16:creationId xmlns:a16="http://schemas.microsoft.com/office/drawing/2014/main" id="{0450C823-E178-B7C3-D754-5DEDEA1EB05C}"/>
                </a:ext>
              </a:extLst>
            </p:cNvPr>
            <p:cNvSpPr txBox="1"/>
            <p:nvPr/>
          </p:nvSpPr>
          <p:spPr>
            <a:xfrm>
              <a:off x="8488070" y="1438028"/>
              <a:ext cx="2124000" cy="203004"/>
            </a:xfrm>
            <a:prstGeom prst="rect">
              <a:avLst/>
            </a:prstGeom>
            <a:noFill/>
          </p:spPr>
          <p:txBody>
            <a:bodyPr wrap="square" lIns="0" tIns="0" rIns="0" bIns="0" anchor="t">
              <a:spAutoFit/>
            </a:bodyPr>
            <a:lstStyle/>
            <a:p>
              <a:pPr>
                <a:lnSpc>
                  <a:spcPct val="110000"/>
                </a:lnSpc>
              </a:pPr>
              <a:r>
                <a:rPr lang="en-US" sz="1300" b="1" noProof="0">
                  <a:solidFill>
                    <a:srgbClr val="3B7D23"/>
                  </a:solidFill>
                  <a:latin typeface="Helvetica Neue"/>
                </a:rPr>
                <a:t>GOVERNANCE</a:t>
              </a:r>
              <a:endParaRPr lang="en-US" sz="1300" b="1" i="0" noProof="0">
                <a:solidFill>
                  <a:srgbClr val="3B7D23"/>
                </a:solidFill>
                <a:latin typeface="Helvetica Neue"/>
              </a:endParaRPr>
            </a:p>
          </p:txBody>
        </p:sp>
      </p:grpSp>
      <p:grpSp>
        <p:nvGrpSpPr>
          <p:cNvPr id="50" name="Grupo 49">
            <a:extLst>
              <a:ext uri="{FF2B5EF4-FFF2-40B4-BE49-F238E27FC236}">
                <a16:creationId xmlns:a16="http://schemas.microsoft.com/office/drawing/2014/main" id="{739DF4FC-DFA1-75DF-47AD-29715A7A9B80}"/>
              </a:ext>
            </a:extLst>
          </p:cNvPr>
          <p:cNvGrpSpPr/>
          <p:nvPr/>
        </p:nvGrpSpPr>
        <p:grpSpPr>
          <a:xfrm>
            <a:off x="246506" y="1260228"/>
            <a:ext cx="11448000" cy="671576"/>
            <a:chOff x="246506" y="1077348"/>
            <a:chExt cx="11448000" cy="671576"/>
          </a:xfrm>
        </p:grpSpPr>
        <p:grpSp>
          <p:nvGrpSpPr>
            <p:cNvPr id="48" name="Grupo 47">
              <a:extLst>
                <a:ext uri="{FF2B5EF4-FFF2-40B4-BE49-F238E27FC236}">
                  <a16:creationId xmlns:a16="http://schemas.microsoft.com/office/drawing/2014/main" id="{E170FA72-AEDF-6355-4E45-748202727B86}"/>
                </a:ext>
              </a:extLst>
            </p:cNvPr>
            <p:cNvGrpSpPr/>
            <p:nvPr/>
          </p:nvGrpSpPr>
          <p:grpSpPr>
            <a:xfrm>
              <a:off x="246506" y="1077348"/>
              <a:ext cx="11448000" cy="671576"/>
              <a:chOff x="246506" y="1077348"/>
              <a:chExt cx="11448000" cy="671576"/>
            </a:xfrm>
          </p:grpSpPr>
          <p:sp>
            <p:nvSpPr>
              <p:cNvPr id="4" name="Rectangle 3"/>
              <p:cNvSpPr/>
              <p:nvPr/>
            </p:nvSpPr>
            <p:spPr>
              <a:xfrm>
                <a:off x="246506" y="1300868"/>
                <a:ext cx="2628774" cy="44805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5" name="Rectangle 4"/>
              <p:cNvSpPr/>
              <p:nvPr/>
            </p:nvSpPr>
            <p:spPr>
              <a:xfrm>
                <a:off x="246506" y="1077348"/>
                <a:ext cx="11448000" cy="252000"/>
              </a:xfrm>
              <a:prstGeom prst="rect">
                <a:avLst/>
              </a:prstGeom>
              <a:solidFill>
                <a:srgbClr val="3B7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noProof="0"/>
                  <a:t>General Conclusions</a:t>
                </a:r>
              </a:p>
            </p:txBody>
          </p:sp>
        </p:grpSp>
        <p:sp>
          <p:nvSpPr>
            <p:cNvPr id="6" name="TextBox 5"/>
            <p:cNvSpPr txBox="1"/>
            <p:nvPr/>
          </p:nvSpPr>
          <p:spPr>
            <a:xfrm>
              <a:off x="475106" y="1438028"/>
              <a:ext cx="2088000" cy="203004"/>
            </a:xfrm>
            <a:prstGeom prst="rect">
              <a:avLst/>
            </a:prstGeom>
            <a:noFill/>
          </p:spPr>
          <p:txBody>
            <a:bodyPr wrap="square" lIns="0" tIns="0" rIns="0" bIns="0" anchor="t">
              <a:spAutoFit/>
            </a:bodyPr>
            <a:lstStyle/>
            <a:p>
              <a:pPr algn="l">
                <a:lnSpc>
                  <a:spcPct val="110000"/>
                </a:lnSpc>
                <a:spcBef>
                  <a:spcPts val="0"/>
                </a:spcBef>
                <a:spcAft>
                  <a:spcPts val="0"/>
                </a:spcAft>
              </a:pPr>
              <a:r>
                <a:rPr lang="en-US" sz="1300" b="1" i="0" noProof="0">
                  <a:solidFill>
                    <a:srgbClr val="3B7D23"/>
                  </a:solidFill>
                  <a:latin typeface="Helvetica Neue"/>
                </a:rPr>
                <a:t>PEOPLE</a:t>
              </a:r>
            </a:p>
          </p:txBody>
        </p:sp>
      </p:gr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3BC6194-0ACC-1490-83D7-B5D3E6701013}"/>
            </a:ext>
          </a:extLst>
        </p:cNvPr>
        <p:cNvGrpSpPr/>
        <p:nvPr/>
      </p:nvGrpSpPr>
      <p:grpSpPr>
        <a:xfrm>
          <a:off x="0" y="0"/>
          <a:ext cx="0" cy="0"/>
          <a:chOff x="0" y="0"/>
          <a:chExt cx="0" cy="0"/>
        </a:xfrm>
      </p:grpSpPr>
      <p:sp>
        <p:nvSpPr>
          <p:cNvPr id="8" name="Título 2">
            <a:extLst>
              <a:ext uri="{FF2B5EF4-FFF2-40B4-BE49-F238E27FC236}">
                <a16:creationId xmlns:a16="http://schemas.microsoft.com/office/drawing/2014/main" id="{FFAED5CC-250C-1E4D-EE2B-4DF4B4007B44}"/>
              </a:ext>
            </a:extLst>
          </p:cNvPr>
          <p:cNvSpPr txBox="1">
            <a:spLocks/>
          </p:cNvSpPr>
          <p:nvPr/>
        </p:nvSpPr>
        <p:spPr>
          <a:xfrm>
            <a:off x="180918" y="127319"/>
            <a:ext cx="7801032" cy="514011"/>
          </a:xfrm>
          <a:prstGeom prst="rect">
            <a:avLst/>
          </a:prstGeom>
        </p:spPr>
        <p:txBody>
          <a:bodyPr anchor="ctr">
            <a:noAutofit/>
          </a:bodyPr>
          <a:lstStyle>
            <a:defPPr>
              <a:defRPr lang="en-US"/>
            </a:defPPr>
            <a:lvl1pPr marR="0" lvl="0" indent="0" fontAlgn="auto">
              <a:lnSpc>
                <a:spcPct val="90000"/>
              </a:lnSpc>
              <a:spcBef>
                <a:spcPct val="0"/>
              </a:spcBef>
              <a:spcAft>
                <a:spcPts val="0"/>
              </a:spcAft>
              <a:buClrTx/>
              <a:buSzTx/>
              <a:buFontTx/>
              <a:buNone/>
              <a:tabLst/>
              <a:defRPr kumimoji="0" sz="2400" b="1" i="0" u="none" strike="noStrike" cap="none" spc="0" normalizeH="0" baseline="0">
                <a:ln>
                  <a:noFill/>
                </a:ln>
                <a:solidFill>
                  <a:prstClr val="white"/>
                </a:solidFill>
                <a:effectLst/>
                <a:uLnTx/>
                <a:uFillTx/>
                <a:latin typeface="Arial" panose="020B0604020202020204" pitchFamily="34" charset="0"/>
                <a:ea typeface="+mj-ea"/>
                <a:cs typeface="Arial" panose="020B0604020202020204" pitchFamily="34" charset="0"/>
              </a:defRPr>
            </a:lvl1pPr>
          </a:lstStyle>
          <a:p>
            <a:r>
              <a:rPr lang="en-US" noProof="0">
                <a:sym typeface="Gordita"/>
              </a:rPr>
              <a:t>INSIGHTS &amp; KEY DEFINITIONS FOR TO-BE MODEL</a:t>
            </a:r>
          </a:p>
          <a:p>
            <a:r>
              <a:rPr lang="en-US" sz="1200" noProof="0"/>
              <a:t>PAIN POINTS</a:t>
            </a:r>
          </a:p>
        </p:txBody>
      </p:sp>
      <p:sp>
        <p:nvSpPr>
          <p:cNvPr id="23" name="TextBox 22">
            <a:extLst>
              <a:ext uri="{FF2B5EF4-FFF2-40B4-BE49-F238E27FC236}">
                <a16:creationId xmlns:a16="http://schemas.microsoft.com/office/drawing/2014/main" id="{2B5798C2-BF3B-EC6B-D653-81476461D46D}"/>
              </a:ext>
            </a:extLst>
          </p:cNvPr>
          <p:cNvSpPr txBox="1"/>
          <p:nvPr/>
        </p:nvSpPr>
        <p:spPr>
          <a:xfrm>
            <a:off x="246506" y="863377"/>
            <a:ext cx="11274552" cy="215444"/>
          </a:xfrm>
          <a:prstGeom prst="rect">
            <a:avLst/>
          </a:prstGeom>
          <a:noFill/>
        </p:spPr>
        <p:txBody>
          <a:bodyPr wrap="square" lIns="0" tIns="0" rIns="0" bIns="0" rtlCol="0">
            <a:noAutofit/>
          </a:bodyPr>
          <a:lstStyle>
            <a:defPPr>
              <a:defRPr lang="en-US"/>
            </a:defPPr>
            <a:lvl1pPr marR="0" lvl="0" indent="0" algn="just" fontAlgn="auto">
              <a:lnSpc>
                <a:spcPct val="100000"/>
              </a:lnSpc>
              <a:spcBef>
                <a:spcPts val="0"/>
              </a:spcBef>
              <a:spcAft>
                <a:spcPts val="0"/>
              </a:spcAft>
              <a:buClrTx/>
              <a:buSzTx/>
              <a:buFontTx/>
              <a:buNone/>
              <a:tabLst/>
              <a:defRPr kumimoji="0" sz="1400" b="1" i="0" u="none" strike="noStrike" cap="none" spc="0" normalizeH="0" baseline="0">
                <a:ln>
                  <a:noFill/>
                </a:ln>
                <a:solidFill>
                  <a:srgbClr val="0F9ED5">
                    <a:lumMod val="75000"/>
                  </a:srgbClr>
                </a:solidFill>
                <a:effectLst/>
                <a:uLnTx/>
                <a:uFillTx/>
                <a:latin typeface="Arial" panose="020B0604020202020204" pitchFamily="34" charset="0"/>
                <a:cs typeface="Arial" panose="020B0604020202020204" pitchFamily="34" charset="0"/>
              </a:defRPr>
            </a:lvl1pPr>
            <a:lvl2pPr marL="228586" eaLnBrk="0" fontAlgn="base" hangingPunct="0">
              <a:spcBef>
                <a:spcPct val="0"/>
              </a:spcBef>
              <a:spcAft>
                <a:spcPct val="0"/>
              </a:spcAft>
              <a:defRPr>
                <a:latin typeface="Arial" pitchFamily="2" charset="77"/>
              </a:defRPr>
            </a:lvl2pPr>
            <a:lvl3pPr marL="457172" eaLnBrk="0" fontAlgn="base" hangingPunct="0">
              <a:spcBef>
                <a:spcPct val="0"/>
              </a:spcBef>
              <a:spcAft>
                <a:spcPct val="0"/>
              </a:spcAft>
              <a:defRPr>
                <a:latin typeface="Arial" pitchFamily="2" charset="77"/>
              </a:defRPr>
            </a:lvl3pPr>
            <a:lvl4pPr marL="685757" eaLnBrk="0" fontAlgn="base" hangingPunct="0">
              <a:spcBef>
                <a:spcPct val="0"/>
              </a:spcBef>
              <a:spcAft>
                <a:spcPct val="0"/>
              </a:spcAft>
              <a:defRPr>
                <a:latin typeface="Arial" pitchFamily="2" charset="77"/>
              </a:defRPr>
            </a:lvl4pPr>
            <a:lvl5pPr marL="914343" eaLnBrk="0" fontAlgn="base" hangingPunct="0">
              <a:spcBef>
                <a:spcPct val="0"/>
              </a:spcBef>
              <a:spcAft>
                <a:spcPct val="0"/>
              </a:spcAft>
              <a:defRPr>
                <a:latin typeface="Arial" pitchFamily="2" charset="77"/>
              </a:defRPr>
            </a:lvl5pPr>
            <a:lvl6pPr marL="1142929" defTabSz="457172">
              <a:defRPr>
                <a:latin typeface="Arial" pitchFamily="2" charset="77"/>
              </a:defRPr>
            </a:lvl6pPr>
            <a:lvl7pPr marL="1371515" defTabSz="457172">
              <a:defRPr>
                <a:latin typeface="Arial" pitchFamily="2" charset="77"/>
              </a:defRPr>
            </a:lvl7pPr>
            <a:lvl8pPr marL="1600100" defTabSz="457172">
              <a:defRPr>
                <a:latin typeface="Arial" pitchFamily="2" charset="77"/>
              </a:defRPr>
            </a:lvl8pPr>
            <a:lvl9pPr marL="1828686" defTabSz="457172">
              <a:defRPr>
                <a:latin typeface="Arial" pitchFamily="2" charset="77"/>
              </a:defRPr>
            </a:lvl9pPr>
          </a:lstStyle>
          <a:p>
            <a:r>
              <a:rPr lang="en-US" noProof="0"/>
              <a:t>Pain points cluster MECE across People, Process, Tools and Governance — each category produces its own bottleneck</a:t>
            </a:r>
          </a:p>
        </p:txBody>
      </p:sp>
      <p:sp>
        <p:nvSpPr>
          <p:cNvPr id="13" name="Rectángulo 12">
            <a:extLst>
              <a:ext uri="{FF2B5EF4-FFF2-40B4-BE49-F238E27FC236}">
                <a16:creationId xmlns:a16="http://schemas.microsoft.com/office/drawing/2014/main" id="{31D52EA0-6650-9E14-F858-B13BAD019EAD}"/>
              </a:ext>
            </a:extLst>
          </p:cNvPr>
          <p:cNvSpPr/>
          <p:nvPr/>
        </p:nvSpPr>
        <p:spPr>
          <a:xfrm>
            <a:off x="12946196" y="1360537"/>
            <a:ext cx="10327934" cy="394179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a:latin typeface="Arial" panose="020B0604020202020204" pitchFamily="34" charset="0"/>
                <a:cs typeface="Arial" panose="020B0604020202020204" pitchFamily="34" charset="0"/>
              </a:rPr>
              <a:t>We need to have a first introduction slide resuming all of our findings; </a:t>
            </a:r>
          </a:p>
          <a:p>
            <a:pPr marL="285750" indent="-285750">
              <a:buFont typeface="Arial" panose="020B0604020202020204" pitchFamily="34" charset="0"/>
              <a:buChar char="•"/>
            </a:pPr>
            <a:r>
              <a:rPr lang="en-US" noProof="0">
                <a:latin typeface="Arial" panose="020B0604020202020204" pitchFamily="34" charset="0"/>
                <a:cs typeface="Arial" panose="020B0604020202020204" pitchFamily="34" charset="0"/>
              </a:rPr>
              <a:t>4  general conclusions </a:t>
            </a:r>
          </a:p>
          <a:p>
            <a:pPr marL="285750" indent="-285750">
              <a:buFont typeface="Arial" panose="020B0604020202020204" pitchFamily="34" charset="0"/>
              <a:buChar char="•"/>
            </a:pPr>
            <a:r>
              <a:rPr lang="en-US" noProof="0">
                <a:latin typeface="Arial" panose="020B0604020202020204" pitchFamily="34" charset="0"/>
                <a:cs typeface="Arial" panose="020B0604020202020204" pitchFamily="34" charset="0"/>
              </a:rPr>
              <a:t> 8 pain points ; 4 Pain points for each Branch (</a:t>
            </a:r>
            <a:r>
              <a:rPr lang="en-US" noProof="0" err="1">
                <a:latin typeface="Arial" panose="020B0604020202020204" pitchFamily="34" charset="0"/>
                <a:cs typeface="Arial" panose="020B0604020202020204" pitchFamily="34" charset="0"/>
              </a:rPr>
              <a:t>applciations</a:t>
            </a:r>
            <a:r>
              <a:rPr lang="en-US" noProof="0">
                <a:latin typeface="Arial" panose="020B0604020202020204" pitchFamily="34" charset="0"/>
                <a:cs typeface="Arial" panose="020B0604020202020204" pitchFamily="34" charset="0"/>
              </a:rPr>
              <a:t> &amp; SAP)</a:t>
            </a:r>
          </a:p>
          <a:p>
            <a:pPr marL="285750" indent="-285750">
              <a:buFont typeface="Arial" panose="020B0604020202020204" pitchFamily="34" charset="0"/>
              <a:buChar char="•"/>
            </a:pPr>
            <a:r>
              <a:rPr lang="en-US" noProof="0">
                <a:latin typeface="Arial" panose="020B0604020202020204" pitchFamily="34" charset="0"/>
                <a:cs typeface="Arial" panose="020B0604020202020204" pitchFamily="34" charset="0"/>
              </a:rPr>
              <a:t>4 systemic issues</a:t>
            </a:r>
          </a:p>
          <a:p>
            <a:pPr marL="285750" indent="-285750">
              <a:buFont typeface="Arial" panose="020B0604020202020204" pitchFamily="34" charset="0"/>
              <a:buChar char="•"/>
            </a:pPr>
            <a:r>
              <a:rPr lang="en-US" noProof="0">
                <a:latin typeface="Arial" panose="020B0604020202020204" pitchFamily="34" charset="0"/>
                <a:cs typeface="Arial" panose="020B0604020202020204" pitchFamily="34" charset="0"/>
              </a:rPr>
              <a:t>7 </a:t>
            </a:r>
            <a:r>
              <a:rPr lang="en-US" noProof="0" err="1">
                <a:latin typeface="Arial" panose="020B0604020202020204" pitchFamily="34" charset="0"/>
                <a:cs typeface="Arial" panose="020B0604020202020204" pitchFamily="34" charset="0"/>
              </a:rPr>
              <a:t>strcutrural</a:t>
            </a:r>
            <a:r>
              <a:rPr lang="en-US" noProof="0">
                <a:latin typeface="Arial" panose="020B0604020202020204" pitchFamily="34" charset="0"/>
                <a:cs typeface="Arial" panose="020B0604020202020204" pitchFamily="34" charset="0"/>
              </a:rPr>
              <a:t> issues</a:t>
            </a:r>
          </a:p>
          <a:p>
            <a:pPr marL="285750" indent="-285750">
              <a:buFont typeface="Arial" panose="020B0604020202020204" pitchFamily="34" charset="0"/>
              <a:buChar char="•"/>
            </a:pPr>
            <a:r>
              <a:rPr lang="en-US" noProof="0">
                <a:latin typeface="Arial" panose="020B0604020202020204" pitchFamily="34" charset="0"/>
                <a:cs typeface="Arial" panose="020B0604020202020204" pitchFamily="34" charset="0"/>
              </a:rPr>
              <a:t>5 compounded risks</a:t>
            </a:r>
          </a:p>
          <a:p>
            <a:pPr marL="285750" indent="-285750">
              <a:buFont typeface="Arial" panose="020B0604020202020204" pitchFamily="34" charset="0"/>
              <a:buChar char="•"/>
            </a:pPr>
            <a:r>
              <a:rPr lang="en-US" noProof="0">
                <a:latin typeface="Arial" panose="020B0604020202020204" pitchFamily="34" charset="0"/>
                <a:cs typeface="Arial" panose="020B0604020202020204" pitchFamily="34" charset="0"/>
              </a:rPr>
              <a:t>8 to-be guiding principles</a:t>
            </a:r>
          </a:p>
          <a:p>
            <a:pPr marL="285750" indent="-285750">
              <a:buFont typeface="Arial" panose="020B0604020202020204" pitchFamily="34" charset="0"/>
              <a:buChar char="•"/>
            </a:pPr>
            <a:endParaRPr lang="en-US" noProof="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noProof="0">
                <a:latin typeface="Arial" panose="020B0604020202020204" pitchFamily="34" charset="0"/>
                <a:cs typeface="Arial" panose="020B0604020202020204" pitchFamily="34" charset="0"/>
              </a:rPr>
              <a:t>Javi</a:t>
            </a:r>
          </a:p>
        </p:txBody>
      </p:sp>
      <p:grpSp>
        <p:nvGrpSpPr>
          <p:cNvPr id="37" name="Grupo 36">
            <a:extLst>
              <a:ext uri="{FF2B5EF4-FFF2-40B4-BE49-F238E27FC236}">
                <a16:creationId xmlns:a16="http://schemas.microsoft.com/office/drawing/2014/main" id="{37D58B2A-B40C-8428-18C1-F4D62C6D5442}"/>
              </a:ext>
            </a:extLst>
          </p:cNvPr>
          <p:cNvGrpSpPr/>
          <p:nvPr/>
        </p:nvGrpSpPr>
        <p:grpSpPr>
          <a:xfrm>
            <a:off x="4917765" y="2761159"/>
            <a:ext cx="3163639" cy="518108"/>
            <a:chOff x="7555869" y="2585432"/>
            <a:chExt cx="3163639" cy="518108"/>
          </a:xfrm>
        </p:grpSpPr>
        <p:sp>
          <p:nvSpPr>
            <p:cNvPr id="34" name="Trapecio 33">
              <a:extLst>
                <a:ext uri="{FF2B5EF4-FFF2-40B4-BE49-F238E27FC236}">
                  <a16:creationId xmlns:a16="http://schemas.microsoft.com/office/drawing/2014/main" id="{3B4AE2FB-A8A3-4962-6168-4BF94ADB18F8}"/>
                </a:ext>
              </a:extLst>
            </p:cNvPr>
            <p:cNvSpPr/>
            <p:nvPr/>
          </p:nvSpPr>
          <p:spPr>
            <a:xfrm>
              <a:off x="7643791" y="2585432"/>
              <a:ext cx="2970009" cy="415836"/>
            </a:xfrm>
            <a:prstGeom prst="trapezoid">
              <a:avLst>
                <a:gd name="adj" fmla="val 110280"/>
              </a:avLst>
            </a:prstGeom>
            <a:solidFill>
              <a:srgbClr val="196B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5" name="Trapecio 34">
              <a:extLst>
                <a:ext uri="{FF2B5EF4-FFF2-40B4-BE49-F238E27FC236}">
                  <a16:creationId xmlns:a16="http://schemas.microsoft.com/office/drawing/2014/main" id="{12F2980D-71AB-72B1-A896-6E328CD8F977}"/>
                </a:ext>
              </a:extLst>
            </p:cNvPr>
            <p:cNvSpPr/>
            <p:nvPr/>
          </p:nvSpPr>
          <p:spPr>
            <a:xfrm rot="10800000">
              <a:off x="7632054" y="3000433"/>
              <a:ext cx="2988000" cy="103107"/>
            </a:xfrm>
            <a:prstGeom prst="trapezoid">
              <a:avLst>
                <a:gd name="adj" fmla="val 159093"/>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6" name="CuadroTexto 35">
              <a:extLst>
                <a:ext uri="{FF2B5EF4-FFF2-40B4-BE49-F238E27FC236}">
                  <a16:creationId xmlns:a16="http://schemas.microsoft.com/office/drawing/2014/main" id="{4D72A237-E183-07CD-B353-7B010B882BB5}"/>
                </a:ext>
              </a:extLst>
            </p:cNvPr>
            <p:cNvSpPr txBox="1"/>
            <p:nvPr/>
          </p:nvSpPr>
          <p:spPr>
            <a:xfrm>
              <a:off x="7555869" y="2643741"/>
              <a:ext cx="3163639" cy="276999"/>
            </a:xfrm>
            <a:prstGeom prst="rect">
              <a:avLst/>
            </a:prstGeom>
            <a:noFill/>
          </p:spPr>
          <p:txBody>
            <a:bodyPr wrap="square" rtlCol="0">
              <a:spAutoFit/>
            </a:bodyPr>
            <a:lstStyle/>
            <a:p>
              <a:pPr algn="ctr"/>
              <a:r>
                <a:rPr lang="en-US" sz="1200" noProof="0">
                  <a:solidFill>
                    <a:schemeClr val="bg1"/>
                  </a:solidFill>
                  <a:latin typeface="Arial" panose="020B0604020202020204" pitchFamily="34" charset="0"/>
                  <a:cs typeface="Arial" panose="020B0604020202020204" pitchFamily="34" charset="0"/>
                </a:rPr>
                <a:t>4 General Conclusions</a:t>
              </a:r>
            </a:p>
          </p:txBody>
        </p:sp>
      </p:grpSp>
      <p:grpSp>
        <p:nvGrpSpPr>
          <p:cNvPr id="75" name="Grupo 74">
            <a:extLst>
              <a:ext uri="{FF2B5EF4-FFF2-40B4-BE49-F238E27FC236}">
                <a16:creationId xmlns:a16="http://schemas.microsoft.com/office/drawing/2014/main" id="{5C39CA3A-239C-5517-65E3-E06D2A19221E}"/>
              </a:ext>
            </a:extLst>
          </p:cNvPr>
          <p:cNvGrpSpPr/>
          <p:nvPr/>
        </p:nvGrpSpPr>
        <p:grpSpPr>
          <a:xfrm>
            <a:off x="1633770" y="5038222"/>
            <a:ext cx="8824366" cy="700989"/>
            <a:chOff x="1254354" y="3602655"/>
            <a:chExt cx="8824366" cy="700989"/>
          </a:xfrm>
        </p:grpSpPr>
        <p:grpSp>
          <p:nvGrpSpPr>
            <p:cNvPr id="62" name="Grupo 61">
              <a:extLst>
                <a:ext uri="{FF2B5EF4-FFF2-40B4-BE49-F238E27FC236}">
                  <a16:creationId xmlns:a16="http://schemas.microsoft.com/office/drawing/2014/main" id="{4E3C3A4F-9139-F58D-90A1-58EDB9D69469}"/>
                </a:ext>
              </a:extLst>
            </p:cNvPr>
            <p:cNvGrpSpPr/>
            <p:nvPr/>
          </p:nvGrpSpPr>
          <p:grpSpPr>
            <a:xfrm>
              <a:off x="1254354" y="3602655"/>
              <a:ext cx="8824366" cy="700989"/>
              <a:chOff x="6727800" y="2219671"/>
              <a:chExt cx="4002865" cy="700989"/>
            </a:xfrm>
          </p:grpSpPr>
          <p:sp>
            <p:nvSpPr>
              <p:cNvPr id="63" name="Trapecio 62">
                <a:extLst>
                  <a:ext uri="{FF2B5EF4-FFF2-40B4-BE49-F238E27FC236}">
                    <a16:creationId xmlns:a16="http://schemas.microsoft.com/office/drawing/2014/main" id="{381F3DDB-6970-E1D9-0426-E2B839DF849D}"/>
                  </a:ext>
                </a:extLst>
              </p:cNvPr>
              <p:cNvSpPr/>
              <p:nvPr/>
            </p:nvSpPr>
            <p:spPr>
              <a:xfrm>
                <a:off x="6727800" y="2219671"/>
                <a:ext cx="4002865" cy="597881"/>
              </a:xfrm>
              <a:prstGeom prst="trapezoid">
                <a:avLst>
                  <a:gd name="adj" fmla="val 104760"/>
                </a:avLst>
              </a:prstGeom>
              <a:solidFill>
                <a:srgbClr val="196B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64" name="Trapecio 63">
                <a:extLst>
                  <a:ext uri="{FF2B5EF4-FFF2-40B4-BE49-F238E27FC236}">
                    <a16:creationId xmlns:a16="http://schemas.microsoft.com/office/drawing/2014/main" id="{1FF07265-722A-7BF7-0A94-DDC83BA0A3A5}"/>
                  </a:ext>
                </a:extLst>
              </p:cNvPr>
              <p:cNvSpPr/>
              <p:nvPr/>
            </p:nvSpPr>
            <p:spPr>
              <a:xfrm rot="10800000">
                <a:off x="6729774" y="2817553"/>
                <a:ext cx="4000885" cy="103107"/>
              </a:xfrm>
              <a:prstGeom prst="trapezoid">
                <a:avLst>
                  <a:gd name="adj" fmla="val 159093"/>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grpSp>
        <p:sp>
          <p:nvSpPr>
            <p:cNvPr id="66" name="CuadroTexto 65">
              <a:extLst>
                <a:ext uri="{FF2B5EF4-FFF2-40B4-BE49-F238E27FC236}">
                  <a16:creationId xmlns:a16="http://schemas.microsoft.com/office/drawing/2014/main" id="{8044DD50-4E48-5EDF-2554-BC764AE5C858}"/>
                </a:ext>
              </a:extLst>
            </p:cNvPr>
            <p:cNvSpPr txBox="1"/>
            <p:nvPr/>
          </p:nvSpPr>
          <p:spPr>
            <a:xfrm>
              <a:off x="2167423" y="3713370"/>
              <a:ext cx="6974283" cy="276999"/>
            </a:xfrm>
            <a:prstGeom prst="rect">
              <a:avLst/>
            </a:prstGeom>
            <a:noFill/>
          </p:spPr>
          <p:txBody>
            <a:bodyPr wrap="square" rtlCol="0">
              <a:spAutoFit/>
            </a:bodyPr>
            <a:lstStyle/>
            <a:p>
              <a:pPr algn="ctr"/>
              <a:r>
                <a:rPr lang="en-US" sz="1200" noProof="0">
                  <a:solidFill>
                    <a:schemeClr val="bg1"/>
                  </a:solidFill>
                  <a:latin typeface="Arial" panose="020B0604020202020204" pitchFamily="34" charset="0"/>
                  <a:cs typeface="Arial" panose="020B0604020202020204" pitchFamily="34" charset="0"/>
                </a:rPr>
                <a:t>7 TO-BE guiding principles</a:t>
              </a:r>
            </a:p>
          </p:txBody>
        </p:sp>
      </p:grpSp>
      <p:grpSp>
        <p:nvGrpSpPr>
          <p:cNvPr id="74" name="Grupo 73">
            <a:extLst>
              <a:ext uri="{FF2B5EF4-FFF2-40B4-BE49-F238E27FC236}">
                <a16:creationId xmlns:a16="http://schemas.microsoft.com/office/drawing/2014/main" id="{859C08DB-EFD3-123D-9BFC-FF6AAA39CC05}"/>
              </a:ext>
            </a:extLst>
          </p:cNvPr>
          <p:cNvGrpSpPr/>
          <p:nvPr/>
        </p:nvGrpSpPr>
        <p:grpSpPr>
          <a:xfrm>
            <a:off x="2346609" y="4056516"/>
            <a:ext cx="7386345" cy="924509"/>
            <a:chOff x="1967193" y="3037509"/>
            <a:chExt cx="7386345" cy="924509"/>
          </a:xfrm>
        </p:grpSpPr>
        <p:grpSp>
          <p:nvGrpSpPr>
            <p:cNvPr id="54" name="Grupo 53">
              <a:extLst>
                <a:ext uri="{FF2B5EF4-FFF2-40B4-BE49-F238E27FC236}">
                  <a16:creationId xmlns:a16="http://schemas.microsoft.com/office/drawing/2014/main" id="{D073EC30-24D3-451D-AFF7-7BCE1BDF7813}"/>
                </a:ext>
              </a:extLst>
            </p:cNvPr>
            <p:cNvGrpSpPr/>
            <p:nvPr/>
          </p:nvGrpSpPr>
          <p:grpSpPr>
            <a:xfrm>
              <a:off x="1967193" y="3037509"/>
              <a:ext cx="7386345" cy="924509"/>
              <a:chOff x="6651909" y="2585431"/>
              <a:chExt cx="4154583" cy="924509"/>
            </a:xfrm>
          </p:grpSpPr>
          <p:sp>
            <p:nvSpPr>
              <p:cNvPr id="55" name="Trapecio 54">
                <a:extLst>
                  <a:ext uri="{FF2B5EF4-FFF2-40B4-BE49-F238E27FC236}">
                    <a16:creationId xmlns:a16="http://schemas.microsoft.com/office/drawing/2014/main" id="{253616DF-0645-6CA2-72AC-B12D796EF73A}"/>
                  </a:ext>
                </a:extLst>
              </p:cNvPr>
              <p:cNvSpPr/>
              <p:nvPr/>
            </p:nvSpPr>
            <p:spPr>
              <a:xfrm>
                <a:off x="6656642" y="2585431"/>
                <a:ext cx="4149850" cy="818391"/>
              </a:xfrm>
              <a:prstGeom prst="trapezoid">
                <a:avLst>
                  <a:gd name="adj" fmla="val 104760"/>
                </a:avLst>
              </a:prstGeom>
              <a:solidFill>
                <a:srgbClr val="196B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6" name="Trapecio 55">
                <a:extLst>
                  <a:ext uri="{FF2B5EF4-FFF2-40B4-BE49-F238E27FC236}">
                    <a16:creationId xmlns:a16="http://schemas.microsoft.com/office/drawing/2014/main" id="{AA7960AD-509E-F8D9-8997-04BD6AA0FA51}"/>
                  </a:ext>
                </a:extLst>
              </p:cNvPr>
              <p:cNvSpPr/>
              <p:nvPr/>
            </p:nvSpPr>
            <p:spPr>
              <a:xfrm rot="10800000">
                <a:off x="6651909" y="3406833"/>
                <a:ext cx="4151014" cy="103107"/>
              </a:xfrm>
              <a:prstGeom prst="trapezoid">
                <a:avLst>
                  <a:gd name="adj" fmla="val 159093"/>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7" name="CuadroTexto 56">
                <a:extLst>
                  <a:ext uri="{FF2B5EF4-FFF2-40B4-BE49-F238E27FC236}">
                    <a16:creationId xmlns:a16="http://schemas.microsoft.com/office/drawing/2014/main" id="{49D9D96B-A699-6B4A-F2F9-16FD63AF7070}"/>
                  </a:ext>
                </a:extLst>
              </p:cNvPr>
              <p:cNvSpPr txBox="1"/>
              <p:nvPr/>
            </p:nvSpPr>
            <p:spPr>
              <a:xfrm>
                <a:off x="7141981" y="2614866"/>
                <a:ext cx="3163639" cy="276999"/>
              </a:xfrm>
              <a:prstGeom prst="rect">
                <a:avLst/>
              </a:prstGeom>
              <a:noFill/>
            </p:spPr>
            <p:txBody>
              <a:bodyPr wrap="square" rtlCol="0">
                <a:spAutoFit/>
              </a:bodyPr>
              <a:lstStyle>
                <a:defPPr>
                  <a:defRPr lang="en-US"/>
                </a:defPPr>
                <a:lvl1pPr algn="ctr">
                  <a:defRPr sz="1200">
                    <a:solidFill>
                      <a:schemeClr val="bg1"/>
                    </a:solidFill>
                    <a:latin typeface="Arial" panose="020B0604020202020204" pitchFamily="34" charset="0"/>
                    <a:cs typeface="Arial" panose="020B0604020202020204" pitchFamily="34" charset="0"/>
                  </a:defRPr>
                </a:lvl1pPr>
              </a:lstStyle>
              <a:p>
                <a:r>
                  <a:rPr lang="en-US" noProof="0"/>
                  <a:t>3 systemic issues</a:t>
                </a:r>
              </a:p>
            </p:txBody>
          </p:sp>
        </p:grpSp>
        <p:sp>
          <p:nvSpPr>
            <p:cNvPr id="67" name="CuadroTexto 66">
              <a:extLst>
                <a:ext uri="{FF2B5EF4-FFF2-40B4-BE49-F238E27FC236}">
                  <a16:creationId xmlns:a16="http://schemas.microsoft.com/office/drawing/2014/main" id="{70886ECF-6BA3-DE39-7C22-A6B46034C295}"/>
                </a:ext>
              </a:extLst>
            </p:cNvPr>
            <p:cNvSpPr txBox="1"/>
            <p:nvPr/>
          </p:nvSpPr>
          <p:spPr>
            <a:xfrm>
              <a:off x="2167423" y="3317613"/>
              <a:ext cx="6974283" cy="276999"/>
            </a:xfrm>
            <a:prstGeom prst="rect">
              <a:avLst/>
            </a:prstGeom>
            <a:noFill/>
          </p:spPr>
          <p:txBody>
            <a:bodyPr wrap="square" rtlCol="0">
              <a:spAutoFit/>
            </a:bodyPr>
            <a:lstStyle>
              <a:defPPr>
                <a:defRPr lang="en-US"/>
              </a:defPPr>
              <a:lvl1pPr algn="ctr">
                <a:defRPr sz="1200">
                  <a:solidFill>
                    <a:schemeClr val="bg1"/>
                  </a:solidFill>
                  <a:latin typeface="Arial" panose="020B0604020202020204" pitchFamily="34" charset="0"/>
                  <a:cs typeface="Arial" panose="020B0604020202020204" pitchFamily="34" charset="0"/>
                </a:defRPr>
              </a:lvl1pPr>
            </a:lstStyle>
            <a:p>
              <a:r>
                <a:rPr lang="en-US" noProof="0"/>
                <a:t>7 </a:t>
              </a:r>
              <a:r>
                <a:rPr lang="en-US" noProof="0" err="1"/>
                <a:t>strcutrural</a:t>
              </a:r>
              <a:r>
                <a:rPr lang="en-US" noProof="0"/>
                <a:t> issues</a:t>
              </a:r>
            </a:p>
          </p:txBody>
        </p:sp>
      </p:grpSp>
      <p:grpSp>
        <p:nvGrpSpPr>
          <p:cNvPr id="73" name="Grupo 72">
            <a:extLst>
              <a:ext uri="{FF2B5EF4-FFF2-40B4-BE49-F238E27FC236}">
                <a16:creationId xmlns:a16="http://schemas.microsoft.com/office/drawing/2014/main" id="{8346289F-C622-399F-E6B4-F18C6755F56B}"/>
              </a:ext>
            </a:extLst>
          </p:cNvPr>
          <p:cNvGrpSpPr/>
          <p:nvPr/>
        </p:nvGrpSpPr>
        <p:grpSpPr>
          <a:xfrm>
            <a:off x="3340556" y="3303654"/>
            <a:ext cx="5420860" cy="712194"/>
            <a:chOff x="2961140" y="2193207"/>
            <a:chExt cx="5420860" cy="712194"/>
          </a:xfrm>
        </p:grpSpPr>
        <p:grpSp>
          <p:nvGrpSpPr>
            <p:cNvPr id="68" name="Grupo 67">
              <a:extLst>
                <a:ext uri="{FF2B5EF4-FFF2-40B4-BE49-F238E27FC236}">
                  <a16:creationId xmlns:a16="http://schemas.microsoft.com/office/drawing/2014/main" id="{726B2F30-B92F-9800-0133-9D86EA0F652B}"/>
                </a:ext>
              </a:extLst>
            </p:cNvPr>
            <p:cNvGrpSpPr/>
            <p:nvPr/>
          </p:nvGrpSpPr>
          <p:grpSpPr>
            <a:xfrm>
              <a:off x="2961140" y="2193207"/>
              <a:ext cx="5420860" cy="712194"/>
              <a:chOff x="6833801" y="2574226"/>
              <a:chExt cx="3786253" cy="712194"/>
            </a:xfrm>
          </p:grpSpPr>
          <p:sp>
            <p:nvSpPr>
              <p:cNvPr id="69" name="Trapecio 68">
                <a:extLst>
                  <a:ext uri="{FF2B5EF4-FFF2-40B4-BE49-F238E27FC236}">
                    <a16:creationId xmlns:a16="http://schemas.microsoft.com/office/drawing/2014/main" id="{BB7B30AB-0905-A615-3E87-090572A6EC53}"/>
                  </a:ext>
                </a:extLst>
              </p:cNvPr>
              <p:cNvSpPr/>
              <p:nvPr/>
            </p:nvSpPr>
            <p:spPr>
              <a:xfrm>
                <a:off x="6833801" y="2585431"/>
                <a:ext cx="3780000" cy="597881"/>
              </a:xfrm>
              <a:prstGeom prst="trapezoid">
                <a:avLst>
                  <a:gd name="adj" fmla="val 104760"/>
                </a:avLst>
              </a:prstGeom>
              <a:solidFill>
                <a:srgbClr val="196B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70" name="Trapecio 69">
                <a:extLst>
                  <a:ext uri="{FF2B5EF4-FFF2-40B4-BE49-F238E27FC236}">
                    <a16:creationId xmlns:a16="http://schemas.microsoft.com/office/drawing/2014/main" id="{0F8EFD8F-7DAA-7602-CBB7-B4D78A232A03}"/>
                  </a:ext>
                </a:extLst>
              </p:cNvPr>
              <p:cNvSpPr/>
              <p:nvPr/>
            </p:nvSpPr>
            <p:spPr>
              <a:xfrm rot="10800000">
                <a:off x="6840054" y="3183313"/>
                <a:ext cx="3780000" cy="103107"/>
              </a:xfrm>
              <a:prstGeom prst="trapezoid">
                <a:avLst>
                  <a:gd name="adj" fmla="val 159093"/>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71" name="CuadroTexto 70">
                <a:extLst>
                  <a:ext uri="{FF2B5EF4-FFF2-40B4-BE49-F238E27FC236}">
                    <a16:creationId xmlns:a16="http://schemas.microsoft.com/office/drawing/2014/main" id="{FB863EAB-71B6-F96C-1F90-A99B94FB73B7}"/>
                  </a:ext>
                </a:extLst>
              </p:cNvPr>
              <p:cNvSpPr txBox="1"/>
              <p:nvPr/>
            </p:nvSpPr>
            <p:spPr>
              <a:xfrm>
                <a:off x="7141981" y="2574226"/>
                <a:ext cx="3163639" cy="276999"/>
              </a:xfrm>
              <a:prstGeom prst="rect">
                <a:avLst/>
              </a:prstGeom>
              <a:noFill/>
            </p:spPr>
            <p:txBody>
              <a:bodyPr wrap="square" rtlCol="0">
                <a:spAutoFit/>
              </a:bodyPr>
              <a:lstStyle>
                <a:defPPr>
                  <a:defRPr lang="en-US"/>
                </a:defPPr>
                <a:lvl1pPr algn="ctr">
                  <a:defRPr sz="1200">
                    <a:solidFill>
                      <a:schemeClr val="bg1"/>
                    </a:solidFill>
                    <a:latin typeface="Arial" panose="020B0604020202020204" pitchFamily="34" charset="0"/>
                    <a:cs typeface="Arial" panose="020B0604020202020204" pitchFamily="34" charset="0"/>
                  </a:defRPr>
                </a:lvl1pPr>
              </a:lstStyle>
              <a:p>
                <a:r>
                  <a:rPr lang="en-US" noProof="0"/>
                  <a:t>8 Pain Points</a:t>
                </a:r>
              </a:p>
            </p:txBody>
          </p:sp>
        </p:grpSp>
        <p:sp>
          <p:nvSpPr>
            <p:cNvPr id="72" name="CuadroTexto 71">
              <a:extLst>
                <a:ext uri="{FF2B5EF4-FFF2-40B4-BE49-F238E27FC236}">
                  <a16:creationId xmlns:a16="http://schemas.microsoft.com/office/drawing/2014/main" id="{A343D1E3-96D6-B6FA-0556-6B7D6F262D19}"/>
                </a:ext>
              </a:extLst>
            </p:cNvPr>
            <p:cNvSpPr txBox="1"/>
            <p:nvPr/>
          </p:nvSpPr>
          <p:spPr>
            <a:xfrm>
              <a:off x="2970093" y="2477687"/>
              <a:ext cx="5157907" cy="276999"/>
            </a:xfrm>
            <a:prstGeom prst="rect">
              <a:avLst/>
            </a:prstGeom>
            <a:noFill/>
          </p:spPr>
          <p:txBody>
            <a:bodyPr wrap="square" rtlCol="0">
              <a:spAutoFit/>
            </a:bodyPr>
            <a:lstStyle>
              <a:defPPr>
                <a:defRPr lang="en-US"/>
              </a:defPPr>
              <a:lvl1pPr algn="ctr">
                <a:defRPr sz="1200">
                  <a:solidFill>
                    <a:schemeClr val="bg1"/>
                  </a:solidFill>
                  <a:latin typeface="Arial" panose="020B0604020202020204" pitchFamily="34" charset="0"/>
                  <a:cs typeface="Arial" panose="020B0604020202020204" pitchFamily="34" charset="0"/>
                </a:defRPr>
              </a:lvl1pPr>
            </a:lstStyle>
            <a:p>
              <a:r>
                <a:rPr lang="en-US" noProof="0"/>
                <a:t>4 Pain points for each Branch (</a:t>
              </a:r>
              <a:r>
                <a:rPr lang="en-US" noProof="0" err="1"/>
                <a:t>applciations</a:t>
              </a:r>
              <a:r>
                <a:rPr lang="en-US" noProof="0"/>
                <a:t> &amp; SAP)</a:t>
              </a:r>
            </a:p>
          </p:txBody>
        </p:sp>
      </p:grpSp>
      <p:sp>
        <p:nvSpPr>
          <p:cNvPr id="76" name="CuadroTexto 75">
            <a:extLst>
              <a:ext uri="{FF2B5EF4-FFF2-40B4-BE49-F238E27FC236}">
                <a16:creationId xmlns:a16="http://schemas.microsoft.com/office/drawing/2014/main" id="{005ADBEF-E3CD-83D5-8A7E-5A6FBB2B7927}"/>
              </a:ext>
            </a:extLst>
          </p:cNvPr>
          <p:cNvSpPr txBox="1"/>
          <p:nvPr/>
        </p:nvSpPr>
        <p:spPr>
          <a:xfrm>
            <a:off x="2536679" y="4560140"/>
            <a:ext cx="6974283" cy="276999"/>
          </a:xfrm>
          <a:prstGeom prst="rect">
            <a:avLst/>
          </a:prstGeom>
          <a:noFill/>
        </p:spPr>
        <p:txBody>
          <a:bodyPr wrap="square" rtlCol="0">
            <a:spAutoFit/>
          </a:bodyPr>
          <a:lstStyle>
            <a:defPPr>
              <a:defRPr lang="en-US"/>
            </a:defPPr>
            <a:lvl1pPr algn="ctr">
              <a:defRPr sz="1200">
                <a:solidFill>
                  <a:schemeClr val="bg1"/>
                </a:solidFill>
                <a:latin typeface="Arial" panose="020B0604020202020204" pitchFamily="34" charset="0"/>
                <a:cs typeface="Arial" panose="020B0604020202020204" pitchFamily="34" charset="0"/>
              </a:defRPr>
            </a:lvl1pPr>
          </a:lstStyle>
          <a:p>
            <a:r>
              <a:rPr lang="en-US" noProof="0"/>
              <a:t>5 compounded risks</a:t>
            </a:r>
          </a:p>
        </p:txBody>
      </p:sp>
      <p:grpSp>
        <p:nvGrpSpPr>
          <p:cNvPr id="86" name="Grupo 85">
            <a:extLst>
              <a:ext uri="{FF2B5EF4-FFF2-40B4-BE49-F238E27FC236}">
                <a16:creationId xmlns:a16="http://schemas.microsoft.com/office/drawing/2014/main" id="{A00853F2-5879-5C02-3FB5-9FD6300F9336}"/>
              </a:ext>
            </a:extLst>
          </p:cNvPr>
          <p:cNvGrpSpPr/>
          <p:nvPr/>
        </p:nvGrpSpPr>
        <p:grpSpPr>
          <a:xfrm>
            <a:off x="4663440" y="2048722"/>
            <a:ext cx="2834640" cy="592412"/>
            <a:chOff x="4907280" y="1611842"/>
            <a:chExt cx="2377440" cy="592412"/>
          </a:xfrm>
        </p:grpSpPr>
        <p:sp>
          <p:nvSpPr>
            <p:cNvPr id="77" name="Rectangle 102">
              <a:extLst>
                <a:ext uri="{FF2B5EF4-FFF2-40B4-BE49-F238E27FC236}">
                  <a16:creationId xmlns:a16="http://schemas.microsoft.com/office/drawing/2014/main" id="{3D174F64-9E57-38E7-BFFF-2A7DCACA7DFE}"/>
                </a:ext>
              </a:extLst>
            </p:cNvPr>
            <p:cNvSpPr/>
            <p:nvPr/>
          </p:nvSpPr>
          <p:spPr>
            <a:xfrm>
              <a:off x="4907280" y="1672802"/>
              <a:ext cx="2377440" cy="531452"/>
            </a:xfrm>
            <a:prstGeom prst="rect">
              <a:avLst/>
            </a:prstGeom>
            <a:solidFill>
              <a:srgbClr val="FFFFFF"/>
            </a:solidFill>
            <a:ln w="19050">
              <a:solidFill>
                <a:srgbClr val="196B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78" name="Rectangle 103">
              <a:extLst>
                <a:ext uri="{FF2B5EF4-FFF2-40B4-BE49-F238E27FC236}">
                  <a16:creationId xmlns:a16="http://schemas.microsoft.com/office/drawing/2014/main" id="{530E7A9C-BF54-2C3B-DBA5-2BE36852F57A}"/>
                </a:ext>
              </a:extLst>
            </p:cNvPr>
            <p:cNvSpPr/>
            <p:nvPr/>
          </p:nvSpPr>
          <p:spPr>
            <a:xfrm>
              <a:off x="4907280" y="1611842"/>
              <a:ext cx="2377440" cy="144000"/>
            </a:xfrm>
            <a:prstGeom prst="rect">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82" name="TextBox 107">
              <a:extLst>
                <a:ext uri="{FF2B5EF4-FFF2-40B4-BE49-F238E27FC236}">
                  <a16:creationId xmlns:a16="http://schemas.microsoft.com/office/drawing/2014/main" id="{37D55BA9-4FDF-13FB-2500-9C0C4FF62A02}"/>
                </a:ext>
              </a:extLst>
            </p:cNvPr>
            <p:cNvSpPr txBox="1"/>
            <p:nvPr/>
          </p:nvSpPr>
          <p:spPr>
            <a:xfrm>
              <a:off x="4998720" y="1776434"/>
              <a:ext cx="2194560" cy="344710"/>
            </a:xfrm>
            <a:prstGeom prst="rect">
              <a:avLst/>
            </a:prstGeom>
            <a:noFill/>
          </p:spPr>
          <p:txBody>
            <a:bodyPr wrap="square" lIns="45720" tIns="18288" rIns="45720" bIns="18288" numCol="2" anchor="t">
              <a:spAutoFit/>
            </a:bodyPr>
            <a:lstStyle/>
            <a:p>
              <a:pPr marL="171450" indent="-171450" algn="l">
                <a:buFont typeface="Arial" panose="020B0604020202020204" pitchFamily="34" charset="0"/>
                <a:buChar char="•"/>
              </a:pPr>
              <a:r>
                <a:rPr lang="en-US" sz="1000" b="0" i="0" noProof="0">
                  <a:solidFill>
                    <a:srgbClr val="4A4A4A"/>
                  </a:solidFill>
                  <a:latin typeface="Arial" panose="020B0604020202020204" pitchFamily="34" charset="0"/>
                  <a:cs typeface="Arial" panose="020B0604020202020204" pitchFamily="34" charset="0"/>
                </a:rPr>
                <a:t>People</a:t>
              </a:r>
              <a:endParaRPr lang="en-US" sz="1000" noProof="0">
                <a:solidFill>
                  <a:srgbClr val="4A4A4A"/>
                </a:solidFill>
                <a:latin typeface="Arial" panose="020B0604020202020204" pitchFamily="34" charset="0"/>
                <a:cs typeface="Arial" panose="020B0604020202020204" pitchFamily="34" charset="0"/>
              </a:endParaRPr>
            </a:p>
            <a:p>
              <a:pPr marL="171450" indent="-171450" algn="l">
                <a:buFont typeface="Arial" panose="020B0604020202020204" pitchFamily="34" charset="0"/>
                <a:buChar char="•"/>
              </a:pPr>
              <a:r>
                <a:rPr lang="en-US" sz="1000" b="0" i="0" noProof="0">
                  <a:solidFill>
                    <a:srgbClr val="4A4A4A"/>
                  </a:solidFill>
                  <a:latin typeface="Arial" panose="020B0604020202020204" pitchFamily="34" charset="0"/>
                  <a:cs typeface="Arial" panose="020B0604020202020204" pitchFamily="34" charset="0"/>
                </a:rPr>
                <a:t>Process</a:t>
              </a:r>
            </a:p>
            <a:p>
              <a:pPr marL="171450" indent="-171450" algn="l">
                <a:buFont typeface="Arial" panose="020B0604020202020204" pitchFamily="34" charset="0"/>
                <a:buChar char="•"/>
              </a:pPr>
              <a:r>
                <a:rPr lang="en-US" sz="1000" noProof="0">
                  <a:solidFill>
                    <a:srgbClr val="4A4A4A"/>
                  </a:solidFill>
                  <a:latin typeface="Arial" panose="020B0604020202020204" pitchFamily="34" charset="0"/>
                  <a:cs typeface="Arial" panose="020B0604020202020204" pitchFamily="34" charset="0"/>
                </a:rPr>
                <a:t>Tools</a:t>
              </a:r>
            </a:p>
            <a:p>
              <a:pPr marL="171450" indent="-171450" algn="l">
                <a:buFont typeface="Arial" panose="020B0604020202020204" pitchFamily="34" charset="0"/>
                <a:buChar char="•"/>
              </a:pPr>
              <a:r>
                <a:rPr lang="en-US" sz="1000" b="0" i="0" noProof="0">
                  <a:solidFill>
                    <a:srgbClr val="4A4A4A"/>
                  </a:solidFill>
                  <a:latin typeface="Arial" panose="020B0604020202020204" pitchFamily="34" charset="0"/>
                  <a:cs typeface="Arial" panose="020B0604020202020204" pitchFamily="34" charset="0"/>
                </a:rPr>
                <a:t>Governance</a:t>
              </a:r>
            </a:p>
          </p:txBody>
        </p:sp>
      </p:grpSp>
      <p:grpSp>
        <p:nvGrpSpPr>
          <p:cNvPr id="87" name="Grupo 86">
            <a:extLst>
              <a:ext uri="{FF2B5EF4-FFF2-40B4-BE49-F238E27FC236}">
                <a16:creationId xmlns:a16="http://schemas.microsoft.com/office/drawing/2014/main" id="{B19850E1-3AAC-AC99-9B0A-18617B05396A}"/>
              </a:ext>
            </a:extLst>
          </p:cNvPr>
          <p:cNvGrpSpPr/>
          <p:nvPr/>
        </p:nvGrpSpPr>
        <p:grpSpPr>
          <a:xfrm>
            <a:off x="1613446" y="5769675"/>
            <a:ext cx="8856001" cy="840366"/>
            <a:chOff x="4901802" y="1601682"/>
            <a:chExt cx="2387144" cy="840366"/>
          </a:xfrm>
        </p:grpSpPr>
        <p:sp>
          <p:nvSpPr>
            <p:cNvPr id="88" name="Rectangle 102">
              <a:extLst>
                <a:ext uri="{FF2B5EF4-FFF2-40B4-BE49-F238E27FC236}">
                  <a16:creationId xmlns:a16="http://schemas.microsoft.com/office/drawing/2014/main" id="{E7F31A1B-044B-58EE-891C-C1827849E845}"/>
                </a:ext>
              </a:extLst>
            </p:cNvPr>
            <p:cNvSpPr/>
            <p:nvPr/>
          </p:nvSpPr>
          <p:spPr>
            <a:xfrm>
              <a:off x="4907280" y="1672802"/>
              <a:ext cx="2377440" cy="769246"/>
            </a:xfrm>
            <a:prstGeom prst="rect">
              <a:avLst/>
            </a:prstGeom>
            <a:solidFill>
              <a:srgbClr val="FFFFFF"/>
            </a:solidFill>
            <a:ln w="19050">
              <a:solidFill>
                <a:srgbClr val="196B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89" name="Rectangle 103">
              <a:extLst>
                <a:ext uri="{FF2B5EF4-FFF2-40B4-BE49-F238E27FC236}">
                  <a16:creationId xmlns:a16="http://schemas.microsoft.com/office/drawing/2014/main" id="{94B59F46-13AE-7307-2B14-A4480AA930B1}"/>
                </a:ext>
              </a:extLst>
            </p:cNvPr>
            <p:cNvSpPr/>
            <p:nvPr/>
          </p:nvSpPr>
          <p:spPr>
            <a:xfrm>
              <a:off x="4901802" y="1601682"/>
              <a:ext cx="2387144" cy="144000"/>
            </a:xfrm>
            <a:prstGeom prst="rect">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90" name="TextBox 107">
              <a:extLst>
                <a:ext uri="{FF2B5EF4-FFF2-40B4-BE49-F238E27FC236}">
                  <a16:creationId xmlns:a16="http://schemas.microsoft.com/office/drawing/2014/main" id="{E38432DE-877F-037E-C31B-4068EEF709B5}"/>
                </a:ext>
              </a:extLst>
            </p:cNvPr>
            <p:cNvSpPr txBox="1"/>
            <p:nvPr/>
          </p:nvSpPr>
          <p:spPr>
            <a:xfrm>
              <a:off x="4998720" y="1776434"/>
              <a:ext cx="2194560" cy="652486"/>
            </a:xfrm>
            <a:prstGeom prst="rect">
              <a:avLst/>
            </a:prstGeom>
            <a:noFill/>
          </p:spPr>
          <p:txBody>
            <a:bodyPr wrap="square" lIns="45720" tIns="18288" rIns="45720" bIns="18288" numCol="2" anchor="t">
              <a:spAutoFit/>
            </a:bodyPr>
            <a:lstStyle/>
            <a:p>
              <a:pPr marL="228600" indent="-228600">
                <a:buFont typeface="+mj-lt"/>
                <a:buAutoNum type="arabicPeriod"/>
              </a:pPr>
              <a:r>
                <a:rPr lang="en-US" sz="1000" noProof="0">
                  <a:solidFill>
                    <a:srgbClr val="4A4A4A"/>
                  </a:solidFill>
                  <a:latin typeface="Arial" panose="020B0604020202020204" pitchFamily="34" charset="0"/>
                  <a:cs typeface="Arial" panose="020B0604020202020204" pitchFamily="34" charset="0"/>
                </a:rPr>
                <a:t>G&amp;E Email-Only Intake</a:t>
              </a:r>
            </a:p>
            <a:p>
              <a:pPr marL="228600" indent="-228600">
                <a:buFont typeface="+mj-lt"/>
                <a:buAutoNum type="arabicPeriod"/>
              </a:pPr>
              <a:r>
                <a:rPr lang="en-US" sz="1000" noProof="0">
                  <a:solidFill>
                    <a:srgbClr val="4A4A4A"/>
                  </a:solidFill>
                  <a:latin typeface="Arial" panose="020B0604020202020204" pitchFamily="34" charset="0"/>
                  <a:cs typeface="Arial" panose="020B0604020202020204" pitchFamily="34" charset="0"/>
                </a:rPr>
                <a:t>Global SAP Incident Flood</a:t>
              </a:r>
            </a:p>
            <a:p>
              <a:pPr marL="228600" indent="-228600">
                <a:buFont typeface="+mj-lt"/>
                <a:buAutoNum type="arabicPeriod"/>
              </a:pPr>
              <a:r>
                <a:rPr lang="en-US" sz="1000" noProof="0">
                  <a:solidFill>
                    <a:srgbClr val="4A4A4A"/>
                  </a:solidFill>
                  <a:latin typeface="Arial" panose="020B0604020202020204" pitchFamily="34" charset="0"/>
                  <a:cs typeface="Arial" panose="020B0604020202020204" pitchFamily="34" charset="0"/>
                </a:rPr>
                <a:t>GIS Informal PM Stack</a:t>
              </a:r>
            </a:p>
            <a:p>
              <a:pPr marL="228600" indent="-228600">
                <a:buFont typeface="+mj-lt"/>
                <a:buAutoNum type="arabicPeriod"/>
              </a:pPr>
              <a:r>
                <a:rPr lang="en-US" sz="1000" noProof="0">
                  <a:solidFill>
                    <a:srgbClr val="4A4A4A"/>
                  </a:solidFill>
                  <a:latin typeface="Arial" panose="020B0604020202020204" pitchFamily="34" charset="0"/>
                  <a:cs typeface="Arial" panose="020B0604020202020204" pitchFamily="34" charset="0"/>
                </a:rPr>
                <a:t>Corporate Project Overlap</a:t>
              </a:r>
            </a:p>
            <a:p>
              <a:pPr marL="228600" indent="-228600">
                <a:buFont typeface="+mj-lt"/>
                <a:buAutoNum type="arabicPeriod"/>
              </a:pPr>
              <a:r>
                <a:rPr lang="en-US" sz="1000" noProof="0">
                  <a:solidFill>
                    <a:srgbClr val="4A4A4A"/>
                  </a:solidFill>
                  <a:latin typeface="Arial" panose="020B0604020202020204" pitchFamily="34" charset="0"/>
                  <a:cs typeface="Arial" panose="020B0604020202020204" pitchFamily="34" charset="0"/>
                </a:rPr>
                <a:t>Customer Services Leadership Gap</a:t>
              </a:r>
            </a:p>
            <a:p>
              <a:pPr marL="228600" indent="-228600">
                <a:buFont typeface="+mj-lt"/>
                <a:buAutoNum type="arabicPeriod"/>
              </a:pPr>
              <a:r>
                <a:rPr lang="en-US" sz="1000" noProof="0">
                  <a:solidFill>
                    <a:srgbClr val="4A4A4A"/>
                  </a:solidFill>
                  <a:latin typeface="Arial" panose="020B0604020202020204" pitchFamily="34" charset="0"/>
                  <a:cs typeface="Arial" panose="020B0604020202020204" pitchFamily="34" charset="0"/>
                </a:rPr>
                <a:t>No Branch-Wide Portfolio Tool</a:t>
              </a:r>
            </a:p>
            <a:p>
              <a:pPr marL="228600" indent="-228600">
                <a:buFont typeface="+mj-lt"/>
                <a:buAutoNum type="arabicPeriod"/>
              </a:pPr>
              <a:r>
                <a:rPr lang="en-US" sz="1000" noProof="0">
                  <a:solidFill>
                    <a:srgbClr val="4A4A4A"/>
                  </a:solidFill>
                  <a:latin typeface="Arial" panose="020B0604020202020204" pitchFamily="34" charset="0"/>
                  <a:cs typeface="Arial" panose="020B0604020202020204" pitchFamily="34" charset="0"/>
                </a:rPr>
                <a:t>Smart Metering Vendor Concentration</a:t>
              </a:r>
            </a:p>
            <a:p>
              <a:pPr marL="228600" indent="-228600">
                <a:buFont typeface="+mj-lt"/>
                <a:buAutoNum type="arabicPeriod"/>
              </a:pPr>
              <a:r>
                <a:rPr lang="en-US" sz="1000" noProof="0">
                  <a:solidFill>
                    <a:srgbClr val="4A4A4A"/>
                  </a:solidFill>
                  <a:latin typeface="Arial" panose="020B0604020202020204" pitchFamily="34" charset="0"/>
                  <a:cs typeface="Arial" panose="020B0604020202020204" pitchFamily="34" charset="0"/>
                </a:rPr>
                <a:t>Multi-OPCO Capacity Competition</a:t>
              </a:r>
              <a:endParaRPr lang="en-US" sz="1000" b="0" i="0" noProof="0">
                <a:solidFill>
                  <a:srgbClr val="4A4A4A"/>
                </a:solidFill>
                <a:latin typeface="Arial" panose="020B0604020202020204" pitchFamily="34" charset="0"/>
                <a:cs typeface="Arial" panose="020B0604020202020204" pitchFamily="34" charset="0"/>
              </a:endParaRPr>
            </a:p>
          </p:txBody>
        </p:sp>
      </p:grpSp>
      <p:grpSp>
        <p:nvGrpSpPr>
          <p:cNvPr id="91" name="Grupo 90">
            <a:extLst>
              <a:ext uri="{FF2B5EF4-FFF2-40B4-BE49-F238E27FC236}">
                <a16:creationId xmlns:a16="http://schemas.microsoft.com/office/drawing/2014/main" id="{0FF0800B-185E-9604-77D7-2935640D1A95}"/>
              </a:ext>
            </a:extLst>
          </p:cNvPr>
          <p:cNvGrpSpPr/>
          <p:nvPr/>
        </p:nvGrpSpPr>
        <p:grpSpPr>
          <a:xfrm>
            <a:off x="360064" y="2615367"/>
            <a:ext cx="2844000" cy="592412"/>
            <a:chOff x="4898759" y="1611842"/>
            <a:chExt cx="2385289" cy="592412"/>
          </a:xfrm>
        </p:grpSpPr>
        <p:sp>
          <p:nvSpPr>
            <p:cNvPr id="92" name="Rectangle 102">
              <a:extLst>
                <a:ext uri="{FF2B5EF4-FFF2-40B4-BE49-F238E27FC236}">
                  <a16:creationId xmlns:a16="http://schemas.microsoft.com/office/drawing/2014/main" id="{CAF69A4D-7D32-B070-0B98-02AF70EEA964}"/>
                </a:ext>
              </a:extLst>
            </p:cNvPr>
            <p:cNvSpPr/>
            <p:nvPr/>
          </p:nvSpPr>
          <p:spPr>
            <a:xfrm>
              <a:off x="4907281" y="1672802"/>
              <a:ext cx="2376767" cy="531452"/>
            </a:xfrm>
            <a:prstGeom prst="rect">
              <a:avLst/>
            </a:prstGeom>
            <a:solidFill>
              <a:srgbClr val="FFFFFF"/>
            </a:solidFill>
            <a:ln w="19050">
              <a:solidFill>
                <a:srgbClr val="196B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93" name="Rectangle 103">
              <a:extLst>
                <a:ext uri="{FF2B5EF4-FFF2-40B4-BE49-F238E27FC236}">
                  <a16:creationId xmlns:a16="http://schemas.microsoft.com/office/drawing/2014/main" id="{4DD3C13A-F4C3-C7FF-E7C0-A962E5B8B79D}"/>
                </a:ext>
              </a:extLst>
            </p:cNvPr>
            <p:cNvSpPr/>
            <p:nvPr/>
          </p:nvSpPr>
          <p:spPr>
            <a:xfrm>
              <a:off x="4898759" y="1611842"/>
              <a:ext cx="2385289" cy="144000"/>
            </a:xfrm>
            <a:prstGeom prst="rect">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94" name="TextBox 107">
              <a:extLst>
                <a:ext uri="{FF2B5EF4-FFF2-40B4-BE49-F238E27FC236}">
                  <a16:creationId xmlns:a16="http://schemas.microsoft.com/office/drawing/2014/main" id="{64637C37-44DE-0FBF-9359-583408219A83}"/>
                </a:ext>
              </a:extLst>
            </p:cNvPr>
            <p:cNvSpPr txBox="1"/>
            <p:nvPr/>
          </p:nvSpPr>
          <p:spPr>
            <a:xfrm>
              <a:off x="4998720" y="1776434"/>
              <a:ext cx="2194560" cy="344710"/>
            </a:xfrm>
            <a:prstGeom prst="rect">
              <a:avLst/>
            </a:prstGeom>
            <a:noFill/>
          </p:spPr>
          <p:txBody>
            <a:bodyPr wrap="square" lIns="45720" tIns="18288" rIns="45720" bIns="18288" numCol="2" anchor="t">
              <a:spAutoFit/>
            </a:bodyPr>
            <a:lstStyle/>
            <a:p>
              <a:pPr marL="171450" indent="-171450" algn="l">
                <a:buFont typeface="Arial" panose="020B0604020202020204" pitchFamily="34" charset="0"/>
                <a:buChar char="•"/>
              </a:pPr>
              <a:r>
                <a:rPr lang="en-US" sz="1000" b="0" i="0" noProof="0">
                  <a:solidFill>
                    <a:srgbClr val="4A4A4A"/>
                  </a:solidFill>
                  <a:latin typeface="Arial" panose="020B0604020202020204" pitchFamily="34" charset="0"/>
                  <a:cs typeface="Arial" panose="020B0604020202020204" pitchFamily="34" charset="0"/>
                </a:rPr>
                <a:t>People</a:t>
              </a:r>
              <a:endParaRPr lang="en-US" sz="1000" noProof="0">
                <a:solidFill>
                  <a:srgbClr val="4A4A4A"/>
                </a:solidFill>
                <a:latin typeface="Arial" panose="020B0604020202020204" pitchFamily="34" charset="0"/>
                <a:cs typeface="Arial" panose="020B0604020202020204" pitchFamily="34" charset="0"/>
              </a:endParaRPr>
            </a:p>
            <a:p>
              <a:pPr marL="171450" indent="-171450" algn="l">
                <a:buFont typeface="Arial" panose="020B0604020202020204" pitchFamily="34" charset="0"/>
                <a:buChar char="•"/>
              </a:pPr>
              <a:r>
                <a:rPr lang="en-US" sz="1000" b="0" i="0" noProof="0">
                  <a:solidFill>
                    <a:srgbClr val="4A4A4A"/>
                  </a:solidFill>
                  <a:latin typeface="Arial" panose="020B0604020202020204" pitchFamily="34" charset="0"/>
                  <a:cs typeface="Arial" panose="020B0604020202020204" pitchFamily="34" charset="0"/>
                </a:rPr>
                <a:t>Process</a:t>
              </a:r>
            </a:p>
            <a:p>
              <a:pPr marL="171450" indent="-171450" algn="l">
                <a:buFont typeface="Arial" panose="020B0604020202020204" pitchFamily="34" charset="0"/>
                <a:buChar char="•"/>
              </a:pPr>
              <a:r>
                <a:rPr lang="en-US" sz="1000" noProof="0">
                  <a:solidFill>
                    <a:srgbClr val="4A4A4A"/>
                  </a:solidFill>
                  <a:latin typeface="Arial" panose="020B0604020202020204" pitchFamily="34" charset="0"/>
                  <a:cs typeface="Arial" panose="020B0604020202020204" pitchFamily="34" charset="0"/>
                </a:rPr>
                <a:t>Tools</a:t>
              </a:r>
            </a:p>
            <a:p>
              <a:pPr marL="171450" indent="-171450" algn="l">
                <a:buFont typeface="Arial" panose="020B0604020202020204" pitchFamily="34" charset="0"/>
                <a:buChar char="•"/>
              </a:pPr>
              <a:r>
                <a:rPr lang="en-US" sz="1000" b="0" i="0" noProof="0">
                  <a:solidFill>
                    <a:srgbClr val="4A4A4A"/>
                  </a:solidFill>
                  <a:latin typeface="Arial" panose="020B0604020202020204" pitchFamily="34" charset="0"/>
                  <a:cs typeface="Arial" panose="020B0604020202020204" pitchFamily="34" charset="0"/>
                </a:rPr>
                <a:t>Governance</a:t>
              </a:r>
            </a:p>
          </p:txBody>
        </p:sp>
      </p:grpSp>
      <p:sp>
        <p:nvSpPr>
          <p:cNvPr id="96" name="CuadroTexto 95">
            <a:extLst>
              <a:ext uri="{FF2B5EF4-FFF2-40B4-BE49-F238E27FC236}">
                <a16:creationId xmlns:a16="http://schemas.microsoft.com/office/drawing/2014/main" id="{A95C0D20-E6F5-2CE2-1EC1-B1386E6E7817}"/>
              </a:ext>
            </a:extLst>
          </p:cNvPr>
          <p:cNvSpPr txBox="1"/>
          <p:nvPr/>
        </p:nvSpPr>
        <p:spPr>
          <a:xfrm>
            <a:off x="664509" y="2573220"/>
            <a:ext cx="2088000" cy="215444"/>
          </a:xfrm>
          <a:prstGeom prst="rect">
            <a:avLst/>
          </a:prstGeom>
          <a:noFill/>
        </p:spPr>
        <p:txBody>
          <a:bodyPr wrap="square">
            <a:spAutoFit/>
          </a:bodyPr>
          <a:lstStyle/>
          <a:p>
            <a:pPr algn="ctr"/>
            <a:r>
              <a:rPr lang="en-US" sz="800" b="1" i="0" noProof="0">
                <a:solidFill>
                  <a:srgbClr val="FFFFFF"/>
                </a:solidFill>
                <a:latin typeface="Arial" panose="020B0604020202020204" pitchFamily="34" charset="0"/>
                <a:cs typeface="Arial" panose="020B0604020202020204" pitchFamily="34" charset="0"/>
              </a:rPr>
              <a:t>APPLICATIONS</a:t>
            </a:r>
            <a:endParaRPr lang="en-US" sz="800" noProof="0">
              <a:latin typeface="Arial" panose="020B0604020202020204" pitchFamily="34" charset="0"/>
              <a:cs typeface="Arial" panose="020B0604020202020204" pitchFamily="34" charset="0"/>
            </a:endParaRPr>
          </a:p>
        </p:txBody>
      </p:sp>
      <p:grpSp>
        <p:nvGrpSpPr>
          <p:cNvPr id="97" name="Grupo 96">
            <a:extLst>
              <a:ext uri="{FF2B5EF4-FFF2-40B4-BE49-F238E27FC236}">
                <a16:creationId xmlns:a16="http://schemas.microsoft.com/office/drawing/2014/main" id="{C63AF1DC-E5B4-D991-CD78-6F3E9A321C9F}"/>
              </a:ext>
            </a:extLst>
          </p:cNvPr>
          <p:cNvGrpSpPr/>
          <p:nvPr/>
        </p:nvGrpSpPr>
        <p:grpSpPr>
          <a:xfrm>
            <a:off x="9008296" y="2615367"/>
            <a:ext cx="2844000" cy="592412"/>
            <a:chOff x="4898759" y="1611842"/>
            <a:chExt cx="2385289" cy="592412"/>
          </a:xfrm>
        </p:grpSpPr>
        <p:sp>
          <p:nvSpPr>
            <p:cNvPr id="98" name="Rectangle 102">
              <a:extLst>
                <a:ext uri="{FF2B5EF4-FFF2-40B4-BE49-F238E27FC236}">
                  <a16:creationId xmlns:a16="http://schemas.microsoft.com/office/drawing/2014/main" id="{448EA004-4B73-D23E-A9C2-533645B847CB}"/>
                </a:ext>
              </a:extLst>
            </p:cNvPr>
            <p:cNvSpPr/>
            <p:nvPr/>
          </p:nvSpPr>
          <p:spPr>
            <a:xfrm>
              <a:off x="4907281" y="1672802"/>
              <a:ext cx="2376767" cy="531452"/>
            </a:xfrm>
            <a:prstGeom prst="rect">
              <a:avLst/>
            </a:prstGeom>
            <a:solidFill>
              <a:srgbClr val="FFFFFF"/>
            </a:solidFill>
            <a:ln w="19050">
              <a:solidFill>
                <a:srgbClr val="196B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99" name="Rectangle 103">
              <a:extLst>
                <a:ext uri="{FF2B5EF4-FFF2-40B4-BE49-F238E27FC236}">
                  <a16:creationId xmlns:a16="http://schemas.microsoft.com/office/drawing/2014/main" id="{BC30F069-53B3-CBB0-E30C-2BF82306B21C}"/>
                </a:ext>
              </a:extLst>
            </p:cNvPr>
            <p:cNvSpPr/>
            <p:nvPr/>
          </p:nvSpPr>
          <p:spPr>
            <a:xfrm>
              <a:off x="4898759" y="1611842"/>
              <a:ext cx="2385289" cy="144000"/>
            </a:xfrm>
            <a:prstGeom prst="rect">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00" name="TextBox 107">
              <a:extLst>
                <a:ext uri="{FF2B5EF4-FFF2-40B4-BE49-F238E27FC236}">
                  <a16:creationId xmlns:a16="http://schemas.microsoft.com/office/drawing/2014/main" id="{DE9BDA33-137F-B1CA-B1D4-10248E413908}"/>
                </a:ext>
              </a:extLst>
            </p:cNvPr>
            <p:cNvSpPr txBox="1"/>
            <p:nvPr/>
          </p:nvSpPr>
          <p:spPr>
            <a:xfrm>
              <a:off x="4998720" y="1776434"/>
              <a:ext cx="2194560" cy="344710"/>
            </a:xfrm>
            <a:prstGeom prst="rect">
              <a:avLst/>
            </a:prstGeom>
            <a:noFill/>
          </p:spPr>
          <p:txBody>
            <a:bodyPr wrap="square" lIns="45720" tIns="18288" rIns="45720" bIns="18288" numCol="2" anchor="t">
              <a:spAutoFit/>
            </a:bodyPr>
            <a:lstStyle/>
            <a:p>
              <a:pPr marL="171450" indent="-171450" algn="l">
                <a:buFont typeface="Arial" panose="020B0604020202020204" pitchFamily="34" charset="0"/>
                <a:buChar char="•"/>
              </a:pPr>
              <a:r>
                <a:rPr lang="en-US" sz="1000" b="0" i="0" noProof="0">
                  <a:solidFill>
                    <a:srgbClr val="4A4A4A"/>
                  </a:solidFill>
                  <a:latin typeface="Arial" panose="020B0604020202020204" pitchFamily="34" charset="0"/>
                  <a:cs typeface="Arial" panose="020B0604020202020204" pitchFamily="34" charset="0"/>
                </a:rPr>
                <a:t>People</a:t>
              </a:r>
              <a:endParaRPr lang="en-US" sz="1000" noProof="0">
                <a:solidFill>
                  <a:srgbClr val="4A4A4A"/>
                </a:solidFill>
                <a:latin typeface="Arial" panose="020B0604020202020204" pitchFamily="34" charset="0"/>
                <a:cs typeface="Arial" panose="020B0604020202020204" pitchFamily="34" charset="0"/>
              </a:endParaRPr>
            </a:p>
            <a:p>
              <a:pPr marL="171450" indent="-171450" algn="l">
                <a:buFont typeface="Arial" panose="020B0604020202020204" pitchFamily="34" charset="0"/>
                <a:buChar char="•"/>
              </a:pPr>
              <a:r>
                <a:rPr lang="en-US" sz="1000" b="0" i="0" noProof="0">
                  <a:solidFill>
                    <a:srgbClr val="4A4A4A"/>
                  </a:solidFill>
                  <a:latin typeface="Arial" panose="020B0604020202020204" pitchFamily="34" charset="0"/>
                  <a:cs typeface="Arial" panose="020B0604020202020204" pitchFamily="34" charset="0"/>
                </a:rPr>
                <a:t>Process</a:t>
              </a:r>
            </a:p>
            <a:p>
              <a:pPr marL="171450" indent="-171450" algn="l">
                <a:buFont typeface="Arial" panose="020B0604020202020204" pitchFamily="34" charset="0"/>
                <a:buChar char="•"/>
              </a:pPr>
              <a:r>
                <a:rPr lang="en-US" sz="1000" noProof="0">
                  <a:solidFill>
                    <a:srgbClr val="4A4A4A"/>
                  </a:solidFill>
                  <a:latin typeface="Arial" panose="020B0604020202020204" pitchFamily="34" charset="0"/>
                  <a:cs typeface="Arial" panose="020B0604020202020204" pitchFamily="34" charset="0"/>
                </a:rPr>
                <a:t>Tools</a:t>
              </a:r>
            </a:p>
            <a:p>
              <a:pPr marL="171450" indent="-171450" algn="l">
                <a:buFont typeface="Arial" panose="020B0604020202020204" pitchFamily="34" charset="0"/>
                <a:buChar char="•"/>
              </a:pPr>
              <a:r>
                <a:rPr lang="en-US" sz="1000" b="0" i="0" noProof="0">
                  <a:solidFill>
                    <a:srgbClr val="4A4A4A"/>
                  </a:solidFill>
                  <a:latin typeface="Arial" panose="020B0604020202020204" pitchFamily="34" charset="0"/>
                  <a:cs typeface="Arial" panose="020B0604020202020204" pitchFamily="34" charset="0"/>
                </a:rPr>
                <a:t>Governance</a:t>
              </a:r>
            </a:p>
          </p:txBody>
        </p:sp>
      </p:grpSp>
      <p:sp>
        <p:nvSpPr>
          <p:cNvPr id="101" name="CuadroTexto 100">
            <a:extLst>
              <a:ext uri="{FF2B5EF4-FFF2-40B4-BE49-F238E27FC236}">
                <a16:creationId xmlns:a16="http://schemas.microsoft.com/office/drawing/2014/main" id="{B6F82E9C-DDCF-DAF8-C92F-4C2CCC6BEE87}"/>
              </a:ext>
            </a:extLst>
          </p:cNvPr>
          <p:cNvSpPr txBox="1"/>
          <p:nvPr/>
        </p:nvSpPr>
        <p:spPr>
          <a:xfrm>
            <a:off x="9299704" y="2579503"/>
            <a:ext cx="2088000" cy="215444"/>
          </a:xfrm>
          <a:prstGeom prst="rect">
            <a:avLst/>
          </a:prstGeom>
          <a:noFill/>
        </p:spPr>
        <p:txBody>
          <a:bodyPr wrap="square">
            <a:spAutoFit/>
          </a:bodyPr>
          <a:lstStyle/>
          <a:p>
            <a:pPr algn="ctr"/>
            <a:r>
              <a:rPr lang="en-US" sz="800" b="1" i="0" noProof="0">
                <a:solidFill>
                  <a:srgbClr val="FFFFFF"/>
                </a:solidFill>
                <a:latin typeface="Arial" panose="020B0604020202020204" pitchFamily="34" charset="0"/>
                <a:cs typeface="Arial" panose="020B0604020202020204" pitchFamily="34" charset="0"/>
              </a:rPr>
              <a:t>APPLICATIONS</a:t>
            </a:r>
            <a:endParaRPr lang="en-US" sz="800" noProof="0">
              <a:latin typeface="Arial" panose="020B0604020202020204" pitchFamily="34" charset="0"/>
              <a:cs typeface="Arial" panose="020B0604020202020204" pitchFamily="34" charset="0"/>
            </a:endParaRPr>
          </a:p>
        </p:txBody>
      </p:sp>
      <p:grpSp>
        <p:nvGrpSpPr>
          <p:cNvPr id="102" name="Grupo 101">
            <a:extLst>
              <a:ext uri="{FF2B5EF4-FFF2-40B4-BE49-F238E27FC236}">
                <a16:creationId xmlns:a16="http://schemas.microsoft.com/office/drawing/2014/main" id="{3DB87B6D-6FCB-2AD7-D3DB-E4406974CD22}"/>
              </a:ext>
            </a:extLst>
          </p:cNvPr>
          <p:cNvGrpSpPr/>
          <p:nvPr/>
        </p:nvGrpSpPr>
        <p:grpSpPr>
          <a:xfrm>
            <a:off x="153778" y="3429001"/>
            <a:ext cx="2477662" cy="1184618"/>
            <a:chOff x="4898759" y="1327387"/>
            <a:chExt cx="2385289" cy="1184618"/>
          </a:xfrm>
        </p:grpSpPr>
        <p:sp>
          <p:nvSpPr>
            <p:cNvPr id="103" name="Rectangle 102">
              <a:extLst>
                <a:ext uri="{FF2B5EF4-FFF2-40B4-BE49-F238E27FC236}">
                  <a16:creationId xmlns:a16="http://schemas.microsoft.com/office/drawing/2014/main" id="{2991A96E-81F1-B899-E14A-877EA4074615}"/>
                </a:ext>
              </a:extLst>
            </p:cNvPr>
            <p:cNvSpPr/>
            <p:nvPr/>
          </p:nvSpPr>
          <p:spPr>
            <a:xfrm>
              <a:off x="4907281" y="1327387"/>
              <a:ext cx="2376767" cy="1184618"/>
            </a:xfrm>
            <a:prstGeom prst="rect">
              <a:avLst/>
            </a:prstGeom>
            <a:solidFill>
              <a:srgbClr val="FFFFFF"/>
            </a:solidFill>
            <a:ln w="19050">
              <a:solidFill>
                <a:srgbClr val="196B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04" name="Rectangle 103">
              <a:extLst>
                <a:ext uri="{FF2B5EF4-FFF2-40B4-BE49-F238E27FC236}">
                  <a16:creationId xmlns:a16="http://schemas.microsoft.com/office/drawing/2014/main" id="{5645A4AB-4099-BA8C-485E-7B5A6592FE2C}"/>
                </a:ext>
              </a:extLst>
            </p:cNvPr>
            <p:cNvSpPr/>
            <p:nvPr/>
          </p:nvSpPr>
          <p:spPr>
            <a:xfrm>
              <a:off x="4898759" y="1337522"/>
              <a:ext cx="2385289" cy="144000"/>
            </a:xfrm>
            <a:prstGeom prst="rect">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05" name="TextBox 107">
              <a:extLst>
                <a:ext uri="{FF2B5EF4-FFF2-40B4-BE49-F238E27FC236}">
                  <a16:creationId xmlns:a16="http://schemas.microsoft.com/office/drawing/2014/main" id="{6BD36457-2824-234E-DEE7-7BB9D0D15862}"/>
                </a:ext>
              </a:extLst>
            </p:cNvPr>
            <p:cNvSpPr txBox="1"/>
            <p:nvPr/>
          </p:nvSpPr>
          <p:spPr>
            <a:xfrm>
              <a:off x="4988939" y="1502114"/>
              <a:ext cx="2194560" cy="652486"/>
            </a:xfrm>
            <a:prstGeom prst="rect">
              <a:avLst/>
            </a:prstGeom>
            <a:noFill/>
          </p:spPr>
          <p:txBody>
            <a:bodyPr wrap="square" lIns="45720" tIns="18288" rIns="45720" bIns="18288" numCol="2" anchor="t">
              <a:spAutoFit/>
            </a:bodyPr>
            <a:lstStyle/>
            <a:p>
              <a:pPr marL="171450" indent="-171450" algn="l">
                <a:buFont typeface="Arial" panose="020B0604020202020204" pitchFamily="34" charset="0"/>
                <a:buChar char="•"/>
              </a:pPr>
              <a:r>
                <a:rPr lang="en-US" sz="1000" b="0" i="0" noProof="0">
                  <a:solidFill>
                    <a:srgbClr val="4A4A4A"/>
                  </a:solidFill>
                  <a:latin typeface="Arial" panose="020B0604020202020204" pitchFamily="34" charset="0"/>
                  <a:cs typeface="Arial" panose="020B0604020202020204" pitchFamily="34" charset="0"/>
                </a:rPr>
                <a:t>People</a:t>
              </a:r>
              <a:endParaRPr lang="en-US" sz="1000" noProof="0">
                <a:solidFill>
                  <a:srgbClr val="4A4A4A"/>
                </a:solidFill>
                <a:latin typeface="Arial" panose="020B0604020202020204" pitchFamily="34" charset="0"/>
                <a:cs typeface="Arial" panose="020B0604020202020204" pitchFamily="34" charset="0"/>
              </a:endParaRPr>
            </a:p>
            <a:p>
              <a:pPr marL="171450" indent="-171450" algn="l">
                <a:buFont typeface="Arial" panose="020B0604020202020204" pitchFamily="34" charset="0"/>
                <a:buChar char="•"/>
              </a:pPr>
              <a:r>
                <a:rPr lang="en-US" sz="1000" b="0" i="0" noProof="0">
                  <a:solidFill>
                    <a:srgbClr val="4A4A4A"/>
                  </a:solidFill>
                  <a:latin typeface="Arial" panose="020B0604020202020204" pitchFamily="34" charset="0"/>
                  <a:cs typeface="Arial" panose="020B0604020202020204" pitchFamily="34" charset="0"/>
                </a:rPr>
                <a:t>Process</a:t>
              </a:r>
            </a:p>
            <a:p>
              <a:pPr marL="171450" indent="-171450" algn="l">
                <a:buFont typeface="Arial" panose="020B0604020202020204" pitchFamily="34" charset="0"/>
                <a:buChar char="•"/>
              </a:pPr>
              <a:r>
                <a:rPr lang="en-US" sz="1000" noProof="0">
                  <a:solidFill>
                    <a:srgbClr val="4A4A4A"/>
                  </a:solidFill>
                  <a:latin typeface="Arial" panose="020B0604020202020204" pitchFamily="34" charset="0"/>
                  <a:cs typeface="Arial" panose="020B0604020202020204" pitchFamily="34" charset="0"/>
                </a:rPr>
                <a:t>Tools</a:t>
              </a:r>
            </a:p>
            <a:p>
              <a:pPr marL="171450" indent="-171450" algn="l">
                <a:buFont typeface="Arial" panose="020B0604020202020204" pitchFamily="34" charset="0"/>
                <a:buChar char="•"/>
              </a:pPr>
              <a:r>
                <a:rPr lang="en-US" sz="1000" b="0" i="0" noProof="0">
                  <a:solidFill>
                    <a:srgbClr val="4A4A4A"/>
                  </a:solidFill>
                  <a:latin typeface="Arial" panose="020B0604020202020204" pitchFamily="34" charset="0"/>
                  <a:cs typeface="Arial" panose="020B0604020202020204" pitchFamily="34" charset="0"/>
                </a:rPr>
                <a:t>Governance</a:t>
              </a:r>
            </a:p>
          </p:txBody>
        </p:sp>
      </p:grpSp>
      <p:grpSp>
        <p:nvGrpSpPr>
          <p:cNvPr id="106" name="Grupo 105">
            <a:extLst>
              <a:ext uri="{FF2B5EF4-FFF2-40B4-BE49-F238E27FC236}">
                <a16:creationId xmlns:a16="http://schemas.microsoft.com/office/drawing/2014/main" id="{E1B180E1-0447-55F0-BD8B-1B442ACBFBBF}"/>
              </a:ext>
            </a:extLst>
          </p:cNvPr>
          <p:cNvGrpSpPr/>
          <p:nvPr/>
        </p:nvGrpSpPr>
        <p:grpSpPr>
          <a:xfrm>
            <a:off x="9611842" y="3306829"/>
            <a:ext cx="2477662" cy="544163"/>
            <a:chOff x="4898759" y="1327387"/>
            <a:chExt cx="2385289" cy="544163"/>
          </a:xfrm>
        </p:grpSpPr>
        <p:sp>
          <p:nvSpPr>
            <p:cNvPr id="107" name="Rectangle 102">
              <a:extLst>
                <a:ext uri="{FF2B5EF4-FFF2-40B4-BE49-F238E27FC236}">
                  <a16:creationId xmlns:a16="http://schemas.microsoft.com/office/drawing/2014/main" id="{88B54BA8-31B6-F4EB-3507-DFDE010EDAAA}"/>
                </a:ext>
              </a:extLst>
            </p:cNvPr>
            <p:cNvSpPr/>
            <p:nvPr/>
          </p:nvSpPr>
          <p:spPr>
            <a:xfrm>
              <a:off x="4907281" y="1327387"/>
              <a:ext cx="2376767" cy="544163"/>
            </a:xfrm>
            <a:prstGeom prst="rect">
              <a:avLst/>
            </a:prstGeom>
            <a:solidFill>
              <a:srgbClr val="FFFFFF"/>
            </a:solidFill>
            <a:ln w="19050">
              <a:solidFill>
                <a:srgbClr val="196B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08" name="Rectangle 103">
              <a:extLst>
                <a:ext uri="{FF2B5EF4-FFF2-40B4-BE49-F238E27FC236}">
                  <a16:creationId xmlns:a16="http://schemas.microsoft.com/office/drawing/2014/main" id="{6D306838-CE90-5522-C6A5-778E58AC86B0}"/>
                </a:ext>
              </a:extLst>
            </p:cNvPr>
            <p:cNvSpPr/>
            <p:nvPr/>
          </p:nvSpPr>
          <p:spPr>
            <a:xfrm>
              <a:off x="4898759" y="1337522"/>
              <a:ext cx="2385289" cy="144000"/>
            </a:xfrm>
            <a:prstGeom prst="rect">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09" name="TextBox 107">
              <a:extLst>
                <a:ext uri="{FF2B5EF4-FFF2-40B4-BE49-F238E27FC236}">
                  <a16:creationId xmlns:a16="http://schemas.microsoft.com/office/drawing/2014/main" id="{64E3B6EF-92D0-CABC-C14D-BA115D078670}"/>
                </a:ext>
              </a:extLst>
            </p:cNvPr>
            <p:cNvSpPr txBox="1"/>
            <p:nvPr/>
          </p:nvSpPr>
          <p:spPr>
            <a:xfrm>
              <a:off x="4988939" y="1502114"/>
              <a:ext cx="2194560" cy="344710"/>
            </a:xfrm>
            <a:prstGeom prst="rect">
              <a:avLst/>
            </a:prstGeom>
            <a:noFill/>
          </p:spPr>
          <p:txBody>
            <a:bodyPr wrap="square" lIns="45720" tIns="18288" rIns="45720" bIns="18288" numCol="2" anchor="t">
              <a:spAutoFit/>
            </a:bodyPr>
            <a:lstStyle/>
            <a:p>
              <a:pPr marL="171450" indent="-171450">
                <a:buFont typeface="Arial" panose="020B0604020202020204" pitchFamily="34" charset="0"/>
                <a:buChar char="•"/>
              </a:pPr>
              <a:r>
                <a:rPr lang="en-US" sz="1000" noProof="0">
                  <a:solidFill>
                    <a:srgbClr val="4A4A4A"/>
                  </a:solidFill>
                  <a:latin typeface="Arial" panose="020B0604020202020204" pitchFamily="34" charset="0"/>
                  <a:cs typeface="Arial" panose="020B0604020202020204" pitchFamily="34" charset="0"/>
                </a:rPr>
                <a:t>Prioritization</a:t>
              </a:r>
            </a:p>
            <a:p>
              <a:pPr marL="171450" indent="-171450">
                <a:buFont typeface="Arial" panose="020B0604020202020204" pitchFamily="34" charset="0"/>
                <a:buChar char="•"/>
              </a:pPr>
              <a:r>
                <a:rPr lang="en-US" sz="1000" noProof="0">
                  <a:solidFill>
                    <a:srgbClr val="4A4A4A"/>
                  </a:solidFill>
                  <a:latin typeface="Arial" panose="020B0604020202020204" pitchFamily="34" charset="0"/>
                  <a:cs typeface="Arial" panose="020B0604020202020204" pitchFamily="34" charset="0"/>
                </a:rPr>
                <a:t>Taxonomy</a:t>
              </a:r>
            </a:p>
            <a:p>
              <a:pPr marL="171450" indent="-171450">
                <a:buFont typeface="Arial" panose="020B0604020202020204" pitchFamily="34" charset="0"/>
                <a:buChar char="•"/>
              </a:pPr>
              <a:r>
                <a:rPr lang="en-US" sz="1000" noProof="0">
                  <a:solidFill>
                    <a:srgbClr val="4A4A4A"/>
                  </a:solidFill>
                  <a:latin typeface="Arial" panose="020B0604020202020204" pitchFamily="34" charset="0"/>
                  <a:cs typeface="Arial" panose="020B0604020202020204" pitchFamily="34" charset="0"/>
                </a:rPr>
                <a:t>Vendor governance </a:t>
              </a:r>
              <a:endParaRPr lang="en-US" sz="1000" b="0" i="0" noProof="0">
                <a:solidFill>
                  <a:srgbClr val="4A4A4A"/>
                </a:solidFill>
                <a:latin typeface="Arial" panose="020B0604020202020204" pitchFamily="34" charset="0"/>
                <a:cs typeface="Arial" panose="020B0604020202020204" pitchFamily="34" charset="0"/>
              </a:endParaRPr>
            </a:p>
          </p:txBody>
        </p:sp>
      </p:grpSp>
      <p:grpSp>
        <p:nvGrpSpPr>
          <p:cNvPr id="110" name="Grupo 109">
            <a:extLst>
              <a:ext uri="{FF2B5EF4-FFF2-40B4-BE49-F238E27FC236}">
                <a16:creationId xmlns:a16="http://schemas.microsoft.com/office/drawing/2014/main" id="{83C71E4A-51D6-9FE7-0E0C-2A478A629AED}"/>
              </a:ext>
            </a:extLst>
          </p:cNvPr>
          <p:cNvGrpSpPr/>
          <p:nvPr/>
        </p:nvGrpSpPr>
        <p:grpSpPr>
          <a:xfrm>
            <a:off x="9614975" y="4026287"/>
            <a:ext cx="2477662" cy="673325"/>
            <a:chOff x="4898759" y="1327387"/>
            <a:chExt cx="2385289" cy="673325"/>
          </a:xfrm>
        </p:grpSpPr>
        <p:sp>
          <p:nvSpPr>
            <p:cNvPr id="111" name="Rectangle 102">
              <a:extLst>
                <a:ext uri="{FF2B5EF4-FFF2-40B4-BE49-F238E27FC236}">
                  <a16:creationId xmlns:a16="http://schemas.microsoft.com/office/drawing/2014/main" id="{33D80B8D-3D18-6C78-422E-B52046CF2DAD}"/>
                </a:ext>
              </a:extLst>
            </p:cNvPr>
            <p:cNvSpPr/>
            <p:nvPr/>
          </p:nvSpPr>
          <p:spPr>
            <a:xfrm>
              <a:off x="4907281" y="1327387"/>
              <a:ext cx="2376767" cy="666577"/>
            </a:xfrm>
            <a:prstGeom prst="rect">
              <a:avLst/>
            </a:prstGeom>
            <a:solidFill>
              <a:srgbClr val="FFFFFF"/>
            </a:solidFill>
            <a:ln w="19050">
              <a:solidFill>
                <a:srgbClr val="196B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12" name="Rectangle 103">
              <a:extLst>
                <a:ext uri="{FF2B5EF4-FFF2-40B4-BE49-F238E27FC236}">
                  <a16:creationId xmlns:a16="http://schemas.microsoft.com/office/drawing/2014/main" id="{B528471A-5392-0BCD-479A-E2AFC0DBC52A}"/>
                </a:ext>
              </a:extLst>
            </p:cNvPr>
            <p:cNvSpPr/>
            <p:nvPr/>
          </p:nvSpPr>
          <p:spPr>
            <a:xfrm>
              <a:off x="4898759" y="1337522"/>
              <a:ext cx="2385289" cy="144000"/>
            </a:xfrm>
            <a:prstGeom prst="rect">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13" name="TextBox 107">
              <a:extLst>
                <a:ext uri="{FF2B5EF4-FFF2-40B4-BE49-F238E27FC236}">
                  <a16:creationId xmlns:a16="http://schemas.microsoft.com/office/drawing/2014/main" id="{603D5285-9BC4-6075-EB0F-EC834ADD81E4}"/>
                </a:ext>
              </a:extLst>
            </p:cNvPr>
            <p:cNvSpPr txBox="1"/>
            <p:nvPr/>
          </p:nvSpPr>
          <p:spPr>
            <a:xfrm>
              <a:off x="4988939" y="1502114"/>
              <a:ext cx="2194560" cy="498598"/>
            </a:xfrm>
            <a:prstGeom prst="rect">
              <a:avLst/>
            </a:prstGeom>
            <a:noFill/>
          </p:spPr>
          <p:txBody>
            <a:bodyPr wrap="square" lIns="45720" tIns="18288" rIns="45720" bIns="18288" numCol="2" anchor="t">
              <a:spAutoFit/>
            </a:bodyPr>
            <a:lstStyle/>
            <a:p>
              <a:pPr marL="171450" indent="-171450" algn="l">
                <a:buFont typeface="Arial" panose="020B0604020202020204" pitchFamily="34" charset="0"/>
                <a:buChar char="•"/>
              </a:pPr>
              <a:r>
                <a:rPr lang="en-US" sz="1000" b="0" i="0" noProof="0">
                  <a:solidFill>
                    <a:srgbClr val="4A4A4A"/>
                  </a:solidFill>
                  <a:latin typeface="Arial" panose="020B0604020202020204" pitchFamily="34" charset="0"/>
                  <a:cs typeface="Arial" panose="020B0604020202020204" pitchFamily="34" charset="0"/>
                </a:rPr>
                <a:t>People</a:t>
              </a:r>
              <a:endParaRPr lang="en-US" sz="1000" noProof="0">
                <a:solidFill>
                  <a:srgbClr val="4A4A4A"/>
                </a:solidFill>
                <a:latin typeface="Arial" panose="020B0604020202020204" pitchFamily="34" charset="0"/>
                <a:cs typeface="Arial" panose="020B0604020202020204" pitchFamily="34" charset="0"/>
              </a:endParaRPr>
            </a:p>
            <a:p>
              <a:pPr marL="171450" indent="-171450" algn="l">
                <a:buFont typeface="Arial" panose="020B0604020202020204" pitchFamily="34" charset="0"/>
                <a:buChar char="•"/>
              </a:pPr>
              <a:r>
                <a:rPr lang="en-US" sz="1000" b="0" i="0" noProof="0">
                  <a:solidFill>
                    <a:srgbClr val="4A4A4A"/>
                  </a:solidFill>
                  <a:latin typeface="Arial" panose="020B0604020202020204" pitchFamily="34" charset="0"/>
                  <a:cs typeface="Arial" panose="020B0604020202020204" pitchFamily="34" charset="0"/>
                </a:rPr>
                <a:t>Process</a:t>
              </a:r>
            </a:p>
            <a:p>
              <a:pPr marL="171450" indent="-171450" algn="l">
                <a:buFont typeface="Arial" panose="020B0604020202020204" pitchFamily="34" charset="0"/>
                <a:buChar char="•"/>
              </a:pPr>
              <a:r>
                <a:rPr lang="en-US" sz="1000" noProof="0">
                  <a:solidFill>
                    <a:srgbClr val="4A4A4A"/>
                  </a:solidFill>
                  <a:latin typeface="Arial" panose="020B0604020202020204" pitchFamily="34" charset="0"/>
                  <a:cs typeface="Arial" panose="020B0604020202020204" pitchFamily="34" charset="0"/>
                </a:rPr>
                <a:t>Tool</a:t>
              </a:r>
            </a:p>
          </p:txBody>
        </p:sp>
      </p:grpSp>
    </p:spTree>
    <p:extLst>
      <p:ext uri="{BB962C8B-B14F-4D97-AF65-F5344CB8AC3E}">
        <p14:creationId xmlns:p14="http://schemas.microsoft.com/office/powerpoint/2010/main" val="169275073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ángulo: esquinas redondeadas 1">
            <a:extLst>
              <a:ext uri="{FF2B5EF4-FFF2-40B4-BE49-F238E27FC236}">
                <a16:creationId xmlns:a16="http://schemas.microsoft.com/office/drawing/2014/main" id="{D8D996D7-106C-3550-69D5-A3013CFF1517}"/>
              </a:ext>
            </a:extLst>
          </p:cNvPr>
          <p:cNvSpPr/>
          <p:nvPr/>
        </p:nvSpPr>
        <p:spPr>
          <a:xfrm>
            <a:off x="504825" y="1562100"/>
            <a:ext cx="2381250" cy="433387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a:t>General </a:t>
            </a:r>
            <a:r>
              <a:rPr lang="en-US" noProof="0" err="1"/>
              <a:t>análisis</a:t>
            </a:r>
            <a:r>
              <a:rPr lang="en-US" noProof="0"/>
              <a:t> resulting in four critical aspects:</a:t>
            </a:r>
          </a:p>
          <a:p>
            <a:pPr algn="ctr"/>
            <a:endParaRPr lang="en-US" noProof="0"/>
          </a:p>
          <a:p>
            <a:pPr algn="ctr"/>
            <a:endParaRPr lang="en-US" noProof="0"/>
          </a:p>
        </p:txBody>
      </p:sp>
      <p:sp>
        <p:nvSpPr>
          <p:cNvPr id="3" name="TextBox 107">
            <a:extLst>
              <a:ext uri="{FF2B5EF4-FFF2-40B4-BE49-F238E27FC236}">
                <a16:creationId xmlns:a16="http://schemas.microsoft.com/office/drawing/2014/main" id="{1A249A45-0D6E-2A1F-C319-6230F5BD408D}"/>
              </a:ext>
            </a:extLst>
          </p:cNvPr>
          <p:cNvSpPr txBox="1"/>
          <p:nvPr/>
        </p:nvSpPr>
        <p:spPr>
          <a:xfrm>
            <a:off x="4772465" y="2213314"/>
            <a:ext cx="2616591" cy="498598"/>
          </a:xfrm>
          <a:prstGeom prst="rect">
            <a:avLst/>
          </a:prstGeom>
          <a:noFill/>
        </p:spPr>
        <p:txBody>
          <a:bodyPr wrap="square" lIns="45720" tIns="18288" rIns="45720" bIns="18288" numCol="2" anchor="t">
            <a:spAutoFit/>
          </a:bodyPr>
          <a:lstStyle/>
          <a:p>
            <a:pPr marL="171450" indent="-171450" algn="l">
              <a:buFont typeface="Arial" panose="020B0604020202020204" pitchFamily="34" charset="0"/>
              <a:buChar char="•"/>
            </a:pPr>
            <a:r>
              <a:rPr lang="en-US" sz="1000" b="0" i="0" noProof="0">
                <a:solidFill>
                  <a:srgbClr val="4A4A4A"/>
                </a:solidFill>
                <a:latin typeface="Arial" panose="020B0604020202020204" pitchFamily="34" charset="0"/>
                <a:cs typeface="Arial" panose="020B0604020202020204" pitchFamily="34" charset="0"/>
              </a:rPr>
              <a:t>People; </a:t>
            </a:r>
            <a:r>
              <a:rPr lang="en-US" sz="1000" b="0" i="0" noProof="0" err="1">
                <a:solidFill>
                  <a:srgbClr val="4A4A4A"/>
                </a:solidFill>
                <a:latin typeface="Arial" panose="020B0604020202020204" pitchFamily="34" charset="0"/>
                <a:cs typeface="Arial" panose="020B0604020202020204" pitchFamily="34" charset="0"/>
              </a:rPr>
              <a:t>resumen</a:t>
            </a:r>
            <a:r>
              <a:rPr lang="en-US" sz="1000" b="0" i="0" noProof="0">
                <a:solidFill>
                  <a:srgbClr val="4A4A4A"/>
                </a:solidFill>
                <a:latin typeface="Arial" panose="020B0604020202020204" pitchFamily="34" charset="0"/>
                <a:cs typeface="Arial" panose="020B0604020202020204" pitchFamily="34" charset="0"/>
              </a:rPr>
              <a:t> de lo </a:t>
            </a:r>
            <a:r>
              <a:rPr lang="en-US" sz="1000" b="0" i="0" noProof="0" err="1">
                <a:solidFill>
                  <a:srgbClr val="4A4A4A"/>
                </a:solidFill>
                <a:latin typeface="Arial" panose="020B0604020202020204" pitchFamily="34" charset="0"/>
                <a:cs typeface="Arial" panose="020B0604020202020204" pitchFamily="34" charset="0"/>
              </a:rPr>
              <a:t>que</a:t>
            </a:r>
            <a:r>
              <a:rPr lang="en-US" sz="1000" b="0" i="0" noProof="0">
                <a:solidFill>
                  <a:srgbClr val="4A4A4A"/>
                </a:solidFill>
                <a:latin typeface="Arial" panose="020B0604020202020204" pitchFamily="34" charset="0"/>
                <a:cs typeface="Arial" panose="020B0604020202020204" pitchFamily="34" charset="0"/>
              </a:rPr>
              <a:t> </a:t>
            </a:r>
            <a:r>
              <a:rPr lang="en-US" sz="1000" b="0" i="0" noProof="0" err="1">
                <a:solidFill>
                  <a:srgbClr val="4A4A4A"/>
                </a:solidFill>
                <a:latin typeface="Arial" panose="020B0604020202020204" pitchFamily="34" charset="0"/>
                <a:cs typeface="Arial" panose="020B0604020202020204" pitchFamily="34" charset="0"/>
              </a:rPr>
              <a:t>sucede</a:t>
            </a:r>
            <a:r>
              <a:rPr lang="en-US" sz="1000" b="0" i="0" noProof="0">
                <a:solidFill>
                  <a:srgbClr val="4A4A4A"/>
                </a:solidFill>
                <a:latin typeface="Arial" panose="020B0604020202020204" pitchFamily="34" charset="0"/>
                <a:cs typeface="Arial" panose="020B0604020202020204" pitchFamily="34" charset="0"/>
              </a:rPr>
              <a:t> ne people</a:t>
            </a:r>
            <a:endParaRPr lang="en-US" sz="1000" noProof="0">
              <a:solidFill>
                <a:srgbClr val="4A4A4A"/>
              </a:solidFill>
              <a:latin typeface="Arial" panose="020B0604020202020204" pitchFamily="34" charset="0"/>
              <a:cs typeface="Arial" panose="020B0604020202020204" pitchFamily="34" charset="0"/>
            </a:endParaRPr>
          </a:p>
          <a:p>
            <a:pPr marL="171450" indent="-171450" algn="l">
              <a:buFont typeface="Arial" panose="020B0604020202020204" pitchFamily="34" charset="0"/>
              <a:buChar char="•"/>
            </a:pPr>
            <a:r>
              <a:rPr lang="en-US" sz="1000" b="0" i="0" noProof="0">
                <a:solidFill>
                  <a:srgbClr val="4A4A4A"/>
                </a:solidFill>
                <a:latin typeface="Arial" panose="020B0604020202020204" pitchFamily="34" charset="0"/>
                <a:cs typeface="Arial" panose="020B0604020202020204" pitchFamily="34" charset="0"/>
              </a:rPr>
              <a:t>Process:</a:t>
            </a:r>
          </a:p>
          <a:p>
            <a:pPr marL="171450" indent="-171450" algn="l">
              <a:buFont typeface="Arial" panose="020B0604020202020204" pitchFamily="34" charset="0"/>
              <a:buChar char="•"/>
            </a:pPr>
            <a:r>
              <a:rPr lang="en-US" sz="1000" noProof="0">
                <a:solidFill>
                  <a:srgbClr val="4A4A4A"/>
                </a:solidFill>
                <a:latin typeface="Arial" panose="020B0604020202020204" pitchFamily="34" charset="0"/>
                <a:cs typeface="Arial" panose="020B0604020202020204" pitchFamily="34" charset="0"/>
              </a:rPr>
              <a:t>Tools</a:t>
            </a:r>
          </a:p>
          <a:p>
            <a:pPr marL="171450" indent="-171450" algn="l">
              <a:buFont typeface="Arial" panose="020B0604020202020204" pitchFamily="34" charset="0"/>
              <a:buChar char="•"/>
            </a:pPr>
            <a:r>
              <a:rPr lang="en-US" sz="1000" b="0" i="0" noProof="0">
                <a:solidFill>
                  <a:srgbClr val="4A4A4A"/>
                </a:solidFill>
                <a:latin typeface="Arial" panose="020B0604020202020204" pitchFamily="34" charset="0"/>
                <a:cs typeface="Arial" panose="020B0604020202020204" pitchFamily="34" charset="0"/>
              </a:rPr>
              <a:t>Governance</a:t>
            </a:r>
          </a:p>
        </p:txBody>
      </p:sp>
    </p:spTree>
    <p:extLst>
      <p:ext uri="{BB962C8B-B14F-4D97-AF65-F5344CB8AC3E}">
        <p14:creationId xmlns:p14="http://schemas.microsoft.com/office/powerpoint/2010/main" val="297058527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cxnSp>
        <p:nvCxnSpPr>
          <p:cNvPr id="2" name="Straight Connector 1"/>
          <p:cNvCxnSpPr/>
          <p:nvPr/>
        </p:nvCxnSpPr>
        <p:spPr>
          <a:xfrm>
            <a:off x="523351" y="675792"/>
            <a:ext cx="0" cy="1165274"/>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AutoShape 1"/>
          <p:cNvSpPr>
            <a:spLocks/>
          </p:cNvSpPr>
          <p:nvPr/>
        </p:nvSpPr>
        <p:spPr bwMode="auto">
          <a:xfrm>
            <a:off x="655708" y="662963"/>
            <a:ext cx="4816177" cy="64975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800" b="0" i="0" u="none" strike="noStrike" kern="1200" cap="none" spc="0" normalizeH="0" baseline="0" noProof="0">
                <a:ln>
                  <a:noFill/>
                </a:ln>
                <a:solidFill>
                  <a:srgbClr val="2B2B2D"/>
                </a:solidFill>
                <a:effectLst/>
                <a:uLnTx/>
                <a:uFillTx/>
                <a:latin typeface="Bebas Neue" panose="020B0606020202050201" pitchFamily="34" charset="0"/>
                <a:ea typeface="ＭＳ Ｐゴシック" charset="0"/>
                <a:cs typeface="League Gothic" charset="0"/>
                <a:sym typeface="League Gothic" charset="0"/>
              </a:rPr>
              <a:t>BUSINESS</a:t>
            </a:r>
            <a:r>
              <a:rPr kumimoji="0" lang="en-US" sz="4800" b="0" i="0" u="none" strike="noStrike" kern="1200" cap="none" spc="0" normalizeH="0" baseline="0" noProof="0">
                <a:ln>
                  <a:noFill/>
                </a:ln>
                <a:solidFill>
                  <a:srgbClr val="00A09D"/>
                </a:solidFill>
                <a:effectLst/>
                <a:uLnTx/>
                <a:uFillTx/>
                <a:latin typeface="Bebas Neue" panose="020B0606020202050201" pitchFamily="34" charset="0"/>
                <a:ea typeface="ＭＳ Ｐゴシック" charset="0"/>
                <a:cs typeface="League Gothic" charset="0"/>
                <a:sym typeface="League Gothic" charset="0"/>
              </a:rPr>
              <a:t>INFOGRAPHIC</a:t>
            </a:r>
          </a:p>
        </p:txBody>
      </p:sp>
      <p:sp>
        <p:nvSpPr>
          <p:cNvPr id="6" name="Rectangle 5"/>
          <p:cNvSpPr/>
          <p:nvPr/>
        </p:nvSpPr>
        <p:spPr>
          <a:xfrm>
            <a:off x="655708" y="1312716"/>
            <a:ext cx="9579430" cy="528350"/>
          </a:xfrm>
          <a:prstGeom prst="rect">
            <a:avLst/>
          </a:prstGeom>
        </p:spPr>
        <p:txBody>
          <a:bodyPr wrap="square">
            <a:spAutoFit/>
          </a:bodyPr>
          <a:lstStyle/>
          <a:p>
            <a:pPr marL="0" marR="0" lvl="0" indent="0" algn="just" defTabSz="914400" rtl="0" eaLnBrk="1" fontAlgn="auto" latinLnBrk="0" hangingPunct="1">
              <a:lnSpc>
                <a:spcPts val="1651"/>
              </a:lnSpc>
              <a:spcBef>
                <a:spcPts val="0"/>
              </a:spcBef>
              <a:spcAft>
                <a:spcPts val="1500"/>
              </a:spcAft>
              <a:buClrTx/>
              <a:buSzTx/>
              <a:buFontTx/>
              <a:buNone/>
              <a:tabLst/>
              <a:defRPr/>
            </a:pPr>
            <a:r>
              <a:rPr kumimoji="0" lang="en-US" sz="1200" b="0" i="0" u="none" strike="noStrike" kern="1200" cap="none" spc="0" normalizeH="0" baseline="0" noProof="0">
                <a:ln>
                  <a:noFill/>
                </a:ln>
                <a:solidFill>
                  <a:srgbClr val="FFFFFF">
                    <a:lumMod val="50000"/>
                  </a:srgbClr>
                </a:solidFill>
                <a:effectLst/>
                <a:uLnTx/>
                <a:uFillTx/>
                <a:latin typeface="Open Sans"/>
                <a:ea typeface="Times New Roman" panose="02020603050405020304" pitchFamily="18" charset="0"/>
                <a:cs typeface="+mn-cs"/>
              </a:rPr>
              <a:t>Lorem ipsum dolor sit </a:t>
            </a:r>
            <a:r>
              <a:rPr kumimoji="0" lang="en-US" sz="1200" b="0" i="0" u="none" strike="noStrike" kern="1200" cap="none" spc="0" normalizeH="0" baseline="0" noProof="0" err="1">
                <a:ln>
                  <a:noFill/>
                </a:ln>
                <a:solidFill>
                  <a:srgbClr val="FFFFFF">
                    <a:lumMod val="50000"/>
                  </a:srgbClr>
                </a:solidFill>
                <a:effectLst/>
                <a:uLnTx/>
                <a:uFillTx/>
                <a:latin typeface="Open Sans"/>
                <a:ea typeface="Times New Roman" panose="02020603050405020304" pitchFamily="18" charset="0"/>
                <a:cs typeface="+mn-cs"/>
              </a:rPr>
              <a:t>amet</a:t>
            </a:r>
            <a:r>
              <a:rPr kumimoji="0" lang="en-US" sz="1200" b="0" i="0" u="none" strike="noStrike" kern="1200" cap="none" spc="0" normalizeH="0" baseline="0" noProof="0">
                <a:ln>
                  <a:noFill/>
                </a:ln>
                <a:solidFill>
                  <a:srgbClr val="FFFFFF">
                    <a:lumMod val="50000"/>
                  </a:srgbClr>
                </a:solidFill>
                <a:effectLst/>
                <a:uLnTx/>
                <a:uFillTx/>
                <a:latin typeface="Open Sans"/>
                <a:ea typeface="Times New Roman" panose="02020603050405020304" pitchFamily="18" charset="0"/>
                <a:cs typeface="+mn-cs"/>
              </a:rPr>
              <a:t>, </a:t>
            </a:r>
            <a:r>
              <a:rPr kumimoji="0" lang="en-US" sz="1200" b="0" i="0" u="none" strike="noStrike" kern="1200" cap="none" spc="0" normalizeH="0" baseline="0" noProof="0" err="1">
                <a:ln>
                  <a:noFill/>
                </a:ln>
                <a:solidFill>
                  <a:srgbClr val="FFFFFF">
                    <a:lumMod val="50000"/>
                  </a:srgbClr>
                </a:solidFill>
                <a:effectLst/>
                <a:uLnTx/>
                <a:uFillTx/>
                <a:latin typeface="Open Sans"/>
                <a:ea typeface="Times New Roman" panose="02020603050405020304" pitchFamily="18" charset="0"/>
                <a:cs typeface="+mn-cs"/>
              </a:rPr>
              <a:t>consectetur</a:t>
            </a:r>
            <a:r>
              <a:rPr kumimoji="0" lang="en-US" sz="1200" b="0" i="0" u="none" strike="noStrike" kern="1200" cap="none" spc="0" normalizeH="0" baseline="0" noProof="0">
                <a:ln>
                  <a:noFill/>
                </a:ln>
                <a:solidFill>
                  <a:srgbClr val="FFFFFF">
                    <a:lumMod val="50000"/>
                  </a:srgbClr>
                </a:solidFill>
                <a:effectLst/>
                <a:uLnTx/>
                <a:uFillTx/>
                <a:latin typeface="Open Sans"/>
                <a:ea typeface="Times New Roman" panose="02020603050405020304" pitchFamily="18" charset="0"/>
                <a:cs typeface="+mn-cs"/>
              </a:rPr>
              <a:t> </a:t>
            </a:r>
            <a:r>
              <a:rPr kumimoji="0" lang="en-US" sz="1200" b="0" i="0" u="none" strike="noStrike" kern="1200" cap="none" spc="0" normalizeH="0" baseline="0" noProof="0" err="1">
                <a:ln>
                  <a:noFill/>
                </a:ln>
                <a:solidFill>
                  <a:srgbClr val="FFFFFF">
                    <a:lumMod val="50000"/>
                  </a:srgbClr>
                </a:solidFill>
                <a:effectLst/>
                <a:uLnTx/>
                <a:uFillTx/>
                <a:latin typeface="Open Sans"/>
                <a:ea typeface="Times New Roman" panose="02020603050405020304" pitchFamily="18" charset="0"/>
                <a:cs typeface="+mn-cs"/>
              </a:rPr>
              <a:t>adipiscing</a:t>
            </a:r>
            <a:r>
              <a:rPr kumimoji="0" lang="en-US" sz="1200" b="0" i="0" u="none" strike="noStrike" kern="1200" cap="none" spc="0" normalizeH="0" baseline="0" noProof="0">
                <a:ln>
                  <a:noFill/>
                </a:ln>
                <a:solidFill>
                  <a:srgbClr val="FFFFFF">
                    <a:lumMod val="50000"/>
                  </a:srgbClr>
                </a:solidFill>
                <a:effectLst/>
                <a:uLnTx/>
                <a:uFillTx/>
                <a:latin typeface="Open Sans"/>
                <a:ea typeface="Times New Roman" panose="02020603050405020304" pitchFamily="18" charset="0"/>
                <a:cs typeface="+mn-cs"/>
              </a:rPr>
              <a:t> </a:t>
            </a:r>
            <a:r>
              <a:rPr kumimoji="0" lang="en-US" sz="1200" b="0" i="0" u="none" strike="noStrike" kern="1200" cap="none" spc="0" normalizeH="0" baseline="0" noProof="0" err="1">
                <a:ln>
                  <a:noFill/>
                </a:ln>
                <a:solidFill>
                  <a:srgbClr val="FFFFFF">
                    <a:lumMod val="50000"/>
                  </a:srgbClr>
                </a:solidFill>
                <a:effectLst/>
                <a:uLnTx/>
                <a:uFillTx/>
                <a:latin typeface="Open Sans"/>
                <a:ea typeface="Times New Roman" panose="02020603050405020304" pitchFamily="18" charset="0"/>
                <a:cs typeface="+mn-cs"/>
              </a:rPr>
              <a:t>elit</a:t>
            </a:r>
            <a:r>
              <a:rPr kumimoji="0" lang="en-US" sz="1200" b="0" i="0" u="none" strike="noStrike" kern="1200" cap="none" spc="0" normalizeH="0" baseline="0" noProof="0">
                <a:ln>
                  <a:noFill/>
                </a:ln>
                <a:solidFill>
                  <a:srgbClr val="FFFFFF">
                    <a:lumMod val="50000"/>
                  </a:srgbClr>
                </a:solidFill>
                <a:effectLst/>
                <a:uLnTx/>
                <a:uFillTx/>
                <a:latin typeface="Open Sans"/>
                <a:ea typeface="Times New Roman" panose="02020603050405020304" pitchFamily="18" charset="0"/>
                <a:cs typeface="+mn-cs"/>
              </a:rPr>
              <a:t>. Nam </a:t>
            </a:r>
            <a:r>
              <a:rPr kumimoji="0" lang="en-US" sz="1200" b="0" i="0" u="none" strike="noStrike" kern="1200" cap="none" spc="0" normalizeH="0" baseline="0" noProof="0" err="1">
                <a:ln>
                  <a:noFill/>
                </a:ln>
                <a:solidFill>
                  <a:srgbClr val="FFFFFF">
                    <a:lumMod val="50000"/>
                  </a:srgbClr>
                </a:solidFill>
                <a:effectLst/>
                <a:uLnTx/>
                <a:uFillTx/>
                <a:latin typeface="Open Sans"/>
                <a:ea typeface="Times New Roman" panose="02020603050405020304" pitchFamily="18" charset="0"/>
                <a:cs typeface="+mn-cs"/>
              </a:rPr>
              <a:t>viverra</a:t>
            </a:r>
            <a:r>
              <a:rPr kumimoji="0" lang="en-US" sz="1200" b="0" i="0" u="none" strike="noStrike" kern="1200" cap="none" spc="0" normalizeH="0" baseline="0" noProof="0">
                <a:ln>
                  <a:noFill/>
                </a:ln>
                <a:solidFill>
                  <a:srgbClr val="FFFFFF">
                    <a:lumMod val="50000"/>
                  </a:srgbClr>
                </a:solidFill>
                <a:effectLst/>
                <a:uLnTx/>
                <a:uFillTx/>
                <a:latin typeface="Open Sans"/>
                <a:ea typeface="Times New Roman" panose="02020603050405020304" pitchFamily="18" charset="0"/>
                <a:cs typeface="+mn-cs"/>
              </a:rPr>
              <a:t> </a:t>
            </a:r>
            <a:r>
              <a:rPr kumimoji="0" lang="en-US" sz="1200" b="0" i="0" u="none" strike="noStrike" kern="1200" cap="none" spc="0" normalizeH="0" baseline="0" noProof="0" err="1">
                <a:ln>
                  <a:noFill/>
                </a:ln>
                <a:solidFill>
                  <a:srgbClr val="FFFFFF">
                    <a:lumMod val="50000"/>
                  </a:srgbClr>
                </a:solidFill>
                <a:effectLst/>
                <a:uLnTx/>
                <a:uFillTx/>
                <a:latin typeface="Open Sans"/>
                <a:ea typeface="Times New Roman" panose="02020603050405020304" pitchFamily="18" charset="0"/>
                <a:cs typeface="+mn-cs"/>
              </a:rPr>
              <a:t>euismod</a:t>
            </a:r>
            <a:r>
              <a:rPr kumimoji="0" lang="en-US" sz="1200" b="0" i="0" u="none" strike="noStrike" kern="1200" cap="none" spc="0" normalizeH="0" baseline="0" noProof="0">
                <a:ln>
                  <a:noFill/>
                </a:ln>
                <a:solidFill>
                  <a:srgbClr val="FFFFFF">
                    <a:lumMod val="50000"/>
                  </a:srgbClr>
                </a:solidFill>
                <a:effectLst/>
                <a:uLnTx/>
                <a:uFillTx/>
                <a:latin typeface="Open Sans"/>
                <a:ea typeface="Times New Roman" panose="02020603050405020304" pitchFamily="18" charset="0"/>
                <a:cs typeface="+mn-cs"/>
              </a:rPr>
              <a:t> </a:t>
            </a:r>
            <a:r>
              <a:rPr kumimoji="0" lang="en-US" sz="1200" b="0" i="0" u="none" strike="noStrike" kern="1200" cap="none" spc="0" normalizeH="0" baseline="0" noProof="0" err="1">
                <a:ln>
                  <a:noFill/>
                </a:ln>
                <a:solidFill>
                  <a:srgbClr val="FFFFFF">
                    <a:lumMod val="50000"/>
                  </a:srgbClr>
                </a:solidFill>
                <a:effectLst/>
                <a:uLnTx/>
                <a:uFillTx/>
                <a:latin typeface="Open Sans"/>
                <a:ea typeface="Times New Roman" panose="02020603050405020304" pitchFamily="18" charset="0"/>
                <a:cs typeface="+mn-cs"/>
              </a:rPr>
              <a:t>odio</a:t>
            </a:r>
            <a:r>
              <a:rPr kumimoji="0" lang="en-US" sz="1200" b="0" i="0" u="none" strike="noStrike" kern="1200" cap="none" spc="0" normalizeH="0" baseline="0" noProof="0">
                <a:ln>
                  <a:noFill/>
                </a:ln>
                <a:solidFill>
                  <a:srgbClr val="FFFFFF">
                    <a:lumMod val="50000"/>
                  </a:srgbClr>
                </a:solidFill>
                <a:effectLst/>
                <a:uLnTx/>
                <a:uFillTx/>
                <a:latin typeface="Open Sans"/>
                <a:ea typeface="Times New Roman" panose="02020603050405020304" pitchFamily="18" charset="0"/>
                <a:cs typeface="+mn-cs"/>
              </a:rPr>
              <a:t>, gravida </a:t>
            </a:r>
            <a:r>
              <a:rPr kumimoji="0" lang="en-US" sz="1200" b="0" i="0" u="none" strike="noStrike" kern="1200" cap="none" spc="0" normalizeH="0" baseline="0" noProof="0" err="1">
                <a:ln>
                  <a:noFill/>
                </a:ln>
                <a:solidFill>
                  <a:srgbClr val="FFFFFF">
                    <a:lumMod val="50000"/>
                  </a:srgbClr>
                </a:solidFill>
                <a:effectLst/>
                <a:uLnTx/>
                <a:uFillTx/>
                <a:latin typeface="Open Sans"/>
                <a:ea typeface="Times New Roman" panose="02020603050405020304" pitchFamily="18" charset="0"/>
                <a:cs typeface="+mn-cs"/>
              </a:rPr>
              <a:t>pellentesque</a:t>
            </a:r>
            <a:r>
              <a:rPr kumimoji="0" lang="en-US" sz="1200" b="0" i="0" u="none" strike="noStrike" kern="1200" cap="none" spc="0" normalizeH="0" baseline="0" noProof="0">
                <a:ln>
                  <a:noFill/>
                </a:ln>
                <a:solidFill>
                  <a:srgbClr val="FFFFFF">
                    <a:lumMod val="50000"/>
                  </a:srgbClr>
                </a:solidFill>
                <a:effectLst/>
                <a:uLnTx/>
                <a:uFillTx/>
                <a:latin typeface="Open Sans"/>
                <a:ea typeface="Times New Roman" panose="02020603050405020304" pitchFamily="18" charset="0"/>
                <a:cs typeface="+mn-cs"/>
              </a:rPr>
              <a:t> </a:t>
            </a:r>
            <a:r>
              <a:rPr kumimoji="0" lang="en-US" sz="1200" b="0" i="0" u="none" strike="noStrike" kern="1200" cap="none" spc="0" normalizeH="0" baseline="0" noProof="0" err="1">
                <a:ln>
                  <a:noFill/>
                </a:ln>
                <a:solidFill>
                  <a:srgbClr val="FFFFFF">
                    <a:lumMod val="50000"/>
                  </a:srgbClr>
                </a:solidFill>
                <a:effectLst/>
                <a:uLnTx/>
                <a:uFillTx/>
                <a:latin typeface="Open Sans"/>
                <a:ea typeface="Times New Roman" panose="02020603050405020304" pitchFamily="18" charset="0"/>
                <a:cs typeface="+mn-cs"/>
              </a:rPr>
              <a:t>urna</a:t>
            </a:r>
            <a:r>
              <a:rPr kumimoji="0" lang="en-US" sz="1200" b="0" i="0" u="none" strike="noStrike" kern="1200" cap="none" spc="0" normalizeH="0" baseline="0" noProof="0">
                <a:ln>
                  <a:noFill/>
                </a:ln>
                <a:solidFill>
                  <a:srgbClr val="FFFFFF">
                    <a:lumMod val="50000"/>
                  </a:srgbClr>
                </a:solidFill>
                <a:effectLst/>
                <a:uLnTx/>
                <a:uFillTx/>
                <a:latin typeface="Open Sans"/>
                <a:ea typeface="Times New Roman" panose="02020603050405020304" pitchFamily="18" charset="0"/>
                <a:cs typeface="+mn-cs"/>
              </a:rPr>
              <a:t> </a:t>
            </a:r>
            <a:r>
              <a:rPr kumimoji="0" lang="en-US" sz="1200" b="0" i="0" u="none" strike="noStrike" kern="1200" cap="none" spc="0" normalizeH="0" baseline="0" noProof="0" err="1">
                <a:ln>
                  <a:noFill/>
                </a:ln>
                <a:solidFill>
                  <a:srgbClr val="FFFFFF">
                    <a:lumMod val="50000"/>
                  </a:srgbClr>
                </a:solidFill>
                <a:effectLst/>
                <a:uLnTx/>
                <a:uFillTx/>
                <a:latin typeface="Open Sans"/>
                <a:ea typeface="Times New Roman" panose="02020603050405020304" pitchFamily="18" charset="0"/>
                <a:cs typeface="+mn-cs"/>
              </a:rPr>
              <a:t>varius</a:t>
            </a:r>
            <a:r>
              <a:rPr kumimoji="0" lang="en-US" sz="1200" b="0" i="0" u="none" strike="noStrike" kern="1200" cap="none" spc="0" normalizeH="0" baseline="0" noProof="0">
                <a:ln>
                  <a:noFill/>
                </a:ln>
                <a:solidFill>
                  <a:srgbClr val="FFFFFF">
                    <a:lumMod val="50000"/>
                  </a:srgbClr>
                </a:solidFill>
                <a:effectLst/>
                <a:uLnTx/>
                <a:uFillTx/>
                <a:latin typeface="Open Sans"/>
                <a:ea typeface="Times New Roman" panose="02020603050405020304" pitchFamily="18" charset="0"/>
                <a:cs typeface="+mn-cs"/>
              </a:rPr>
              <a:t> vitae. Sed dui lorem, </a:t>
            </a:r>
            <a:r>
              <a:rPr kumimoji="0" lang="en-US" sz="1200" b="0" i="0" u="none" strike="noStrike" kern="1200" cap="none" spc="0" normalizeH="0" baseline="0" noProof="0" err="1">
                <a:ln>
                  <a:noFill/>
                </a:ln>
                <a:solidFill>
                  <a:srgbClr val="FFFFFF">
                    <a:lumMod val="50000"/>
                  </a:srgbClr>
                </a:solidFill>
                <a:effectLst/>
                <a:uLnTx/>
                <a:uFillTx/>
                <a:latin typeface="Open Sans"/>
                <a:ea typeface="Times New Roman" panose="02020603050405020304" pitchFamily="18" charset="0"/>
                <a:cs typeface="+mn-cs"/>
              </a:rPr>
              <a:t>adipiscing</a:t>
            </a:r>
            <a:r>
              <a:rPr kumimoji="0" lang="en-US" sz="1200" b="0" i="0" u="none" strike="noStrike" kern="1200" cap="none" spc="0" normalizeH="0" baseline="0" noProof="0">
                <a:ln>
                  <a:noFill/>
                </a:ln>
                <a:solidFill>
                  <a:srgbClr val="FFFFFF">
                    <a:lumMod val="50000"/>
                  </a:srgbClr>
                </a:solidFill>
                <a:effectLst/>
                <a:uLnTx/>
                <a:uFillTx/>
                <a:latin typeface="Open Sans"/>
                <a:ea typeface="Times New Roman" panose="02020603050405020304" pitchFamily="18" charset="0"/>
                <a:cs typeface="+mn-cs"/>
              </a:rPr>
              <a:t> in </a:t>
            </a:r>
            <a:r>
              <a:rPr kumimoji="0" lang="en-US" sz="1200" b="0" i="0" u="none" strike="noStrike" kern="1200" cap="none" spc="0" normalizeH="0" baseline="0" noProof="0" err="1">
                <a:ln>
                  <a:noFill/>
                </a:ln>
                <a:solidFill>
                  <a:srgbClr val="FFFFFF">
                    <a:lumMod val="50000"/>
                  </a:srgbClr>
                </a:solidFill>
                <a:effectLst/>
                <a:uLnTx/>
                <a:uFillTx/>
                <a:latin typeface="Open Sans"/>
                <a:ea typeface="Times New Roman" panose="02020603050405020304" pitchFamily="18" charset="0"/>
                <a:cs typeface="+mn-cs"/>
              </a:rPr>
              <a:t>adipiscing</a:t>
            </a:r>
            <a:r>
              <a:rPr kumimoji="0" lang="en-US" sz="1200" b="0" i="0" u="none" strike="noStrike" kern="1200" cap="none" spc="0" normalizeH="0" baseline="0" noProof="0">
                <a:ln>
                  <a:noFill/>
                </a:ln>
                <a:solidFill>
                  <a:srgbClr val="FFFFFF">
                    <a:lumMod val="50000"/>
                  </a:srgbClr>
                </a:solidFill>
                <a:effectLst/>
                <a:uLnTx/>
                <a:uFillTx/>
                <a:latin typeface="Open Sans"/>
                <a:ea typeface="Times New Roman" panose="02020603050405020304" pitchFamily="18" charset="0"/>
                <a:cs typeface="+mn-cs"/>
              </a:rPr>
              <a:t> et, </a:t>
            </a:r>
            <a:r>
              <a:rPr kumimoji="0" lang="en-US" sz="1200" b="0" i="0" u="none" strike="noStrike" kern="1200" cap="none" spc="0" normalizeH="0" baseline="0" noProof="0" err="1">
                <a:ln>
                  <a:noFill/>
                </a:ln>
                <a:solidFill>
                  <a:srgbClr val="FFFFFF">
                    <a:lumMod val="50000"/>
                  </a:srgbClr>
                </a:solidFill>
                <a:effectLst/>
                <a:uLnTx/>
                <a:uFillTx/>
                <a:latin typeface="Open Sans"/>
                <a:ea typeface="Times New Roman" panose="02020603050405020304" pitchFamily="18" charset="0"/>
                <a:cs typeface="+mn-cs"/>
              </a:rPr>
              <a:t>interdum</a:t>
            </a:r>
            <a:r>
              <a:rPr kumimoji="0" lang="en-US" sz="1200" b="0" i="0" u="none" strike="noStrike" kern="1200" cap="none" spc="0" normalizeH="0" baseline="0" noProof="0">
                <a:ln>
                  <a:noFill/>
                </a:ln>
                <a:solidFill>
                  <a:srgbClr val="FFFFFF">
                    <a:lumMod val="50000"/>
                  </a:srgbClr>
                </a:solidFill>
                <a:effectLst/>
                <a:uLnTx/>
                <a:uFillTx/>
                <a:latin typeface="Open Sans"/>
                <a:ea typeface="Times New Roman" panose="02020603050405020304" pitchFamily="18" charset="0"/>
                <a:cs typeface="+mn-cs"/>
              </a:rPr>
              <a:t> nec </a:t>
            </a:r>
            <a:r>
              <a:rPr kumimoji="0" lang="en-US" sz="1200" b="0" i="0" u="none" strike="noStrike" kern="1200" cap="none" spc="0" normalizeH="0" baseline="0" noProof="0" err="1">
                <a:ln>
                  <a:noFill/>
                </a:ln>
                <a:solidFill>
                  <a:srgbClr val="FFFFFF">
                    <a:lumMod val="50000"/>
                  </a:srgbClr>
                </a:solidFill>
                <a:effectLst/>
                <a:uLnTx/>
                <a:uFillTx/>
                <a:latin typeface="Open Sans"/>
                <a:ea typeface="Times New Roman" panose="02020603050405020304" pitchFamily="18" charset="0"/>
                <a:cs typeface="+mn-cs"/>
              </a:rPr>
              <a:t>metus</a:t>
            </a:r>
            <a:r>
              <a:rPr kumimoji="0" lang="en-US" sz="1200" b="0" i="0" u="none" strike="noStrike" kern="1200" cap="none" spc="0" normalizeH="0" baseline="0" noProof="0">
                <a:ln>
                  <a:noFill/>
                </a:ln>
                <a:solidFill>
                  <a:srgbClr val="FFFFFF">
                    <a:lumMod val="50000"/>
                  </a:srgbClr>
                </a:solidFill>
                <a:effectLst/>
                <a:uLnTx/>
                <a:uFillTx/>
                <a:latin typeface="Open Sans"/>
                <a:ea typeface="Times New Roman" panose="02020603050405020304" pitchFamily="18" charset="0"/>
                <a:cs typeface="+mn-cs"/>
              </a:rPr>
              <a:t>. </a:t>
            </a:r>
          </a:p>
        </p:txBody>
      </p:sp>
      <p:grpSp>
        <p:nvGrpSpPr>
          <p:cNvPr id="5" name="Group 4"/>
          <p:cNvGrpSpPr/>
          <p:nvPr/>
        </p:nvGrpSpPr>
        <p:grpSpPr>
          <a:xfrm>
            <a:off x="1404275" y="5088589"/>
            <a:ext cx="2369874" cy="1403847"/>
            <a:chOff x="4808051" y="1842051"/>
            <a:chExt cx="2369874" cy="1403847"/>
          </a:xfrm>
        </p:grpSpPr>
        <p:sp>
          <p:nvSpPr>
            <p:cNvPr id="7" name="Freeform 17"/>
            <p:cNvSpPr>
              <a:spLocks/>
            </p:cNvSpPr>
            <p:nvPr/>
          </p:nvSpPr>
          <p:spPr bwMode="auto">
            <a:xfrm>
              <a:off x="4808051" y="2337526"/>
              <a:ext cx="1133501" cy="908371"/>
            </a:xfrm>
            <a:custGeom>
              <a:avLst/>
              <a:gdLst>
                <a:gd name="T0" fmla="*/ 595 w 595"/>
                <a:gd name="T1" fmla="*/ 671 h 671"/>
                <a:gd name="T2" fmla="*/ 0 w 595"/>
                <a:gd name="T3" fmla="*/ 328 h 671"/>
                <a:gd name="T4" fmla="*/ 0 w 595"/>
                <a:gd name="T5" fmla="*/ 0 h 671"/>
                <a:gd name="T6" fmla="*/ 595 w 595"/>
                <a:gd name="T7" fmla="*/ 343 h 671"/>
                <a:gd name="T8" fmla="*/ 595 w 595"/>
                <a:gd name="T9" fmla="*/ 671 h 671"/>
              </a:gdLst>
              <a:ahLst/>
              <a:cxnLst>
                <a:cxn ang="0">
                  <a:pos x="T0" y="T1"/>
                </a:cxn>
                <a:cxn ang="0">
                  <a:pos x="T2" y="T3"/>
                </a:cxn>
                <a:cxn ang="0">
                  <a:pos x="T4" y="T5"/>
                </a:cxn>
                <a:cxn ang="0">
                  <a:pos x="T6" y="T7"/>
                </a:cxn>
                <a:cxn ang="0">
                  <a:pos x="T8" y="T9"/>
                </a:cxn>
              </a:cxnLst>
              <a:rect l="0" t="0" r="r" b="b"/>
              <a:pathLst>
                <a:path w="595" h="671">
                  <a:moveTo>
                    <a:pt x="595" y="671"/>
                  </a:moveTo>
                  <a:lnTo>
                    <a:pt x="0" y="328"/>
                  </a:lnTo>
                  <a:lnTo>
                    <a:pt x="0" y="0"/>
                  </a:lnTo>
                  <a:lnTo>
                    <a:pt x="595" y="343"/>
                  </a:lnTo>
                  <a:lnTo>
                    <a:pt x="595" y="671"/>
                  </a:ln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B2B2D"/>
                </a:solidFill>
                <a:effectLst/>
                <a:uLnTx/>
                <a:uFillTx/>
                <a:latin typeface="Open Sans"/>
                <a:ea typeface="+mn-ea"/>
                <a:cs typeface="+mn-cs"/>
              </a:endParaRPr>
            </a:p>
          </p:txBody>
        </p:sp>
        <p:sp>
          <p:nvSpPr>
            <p:cNvPr id="8" name="Freeform 18"/>
            <p:cNvSpPr>
              <a:spLocks/>
            </p:cNvSpPr>
            <p:nvPr/>
          </p:nvSpPr>
          <p:spPr bwMode="auto">
            <a:xfrm>
              <a:off x="4808051" y="1842051"/>
              <a:ext cx="2369874" cy="959814"/>
            </a:xfrm>
            <a:custGeom>
              <a:avLst/>
              <a:gdLst>
                <a:gd name="T0" fmla="*/ 595 w 1244"/>
                <a:gd name="T1" fmla="*/ 709 h 709"/>
                <a:gd name="T2" fmla="*/ 0 w 1244"/>
                <a:gd name="T3" fmla="*/ 366 h 709"/>
                <a:gd name="T4" fmla="*/ 649 w 1244"/>
                <a:gd name="T5" fmla="*/ 0 h 709"/>
                <a:gd name="T6" fmla="*/ 1244 w 1244"/>
                <a:gd name="T7" fmla="*/ 343 h 709"/>
                <a:gd name="T8" fmla="*/ 595 w 1244"/>
                <a:gd name="T9" fmla="*/ 709 h 709"/>
              </a:gdLst>
              <a:ahLst/>
              <a:cxnLst>
                <a:cxn ang="0">
                  <a:pos x="T0" y="T1"/>
                </a:cxn>
                <a:cxn ang="0">
                  <a:pos x="T2" y="T3"/>
                </a:cxn>
                <a:cxn ang="0">
                  <a:pos x="T4" y="T5"/>
                </a:cxn>
                <a:cxn ang="0">
                  <a:pos x="T6" y="T7"/>
                </a:cxn>
                <a:cxn ang="0">
                  <a:pos x="T8" y="T9"/>
                </a:cxn>
              </a:cxnLst>
              <a:rect l="0" t="0" r="r" b="b"/>
              <a:pathLst>
                <a:path w="1244" h="709">
                  <a:moveTo>
                    <a:pt x="595" y="709"/>
                  </a:moveTo>
                  <a:lnTo>
                    <a:pt x="0" y="366"/>
                  </a:lnTo>
                  <a:lnTo>
                    <a:pt x="649" y="0"/>
                  </a:lnTo>
                  <a:lnTo>
                    <a:pt x="1244" y="343"/>
                  </a:lnTo>
                  <a:lnTo>
                    <a:pt x="595" y="709"/>
                  </a:lnTo>
                  <a:close/>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B2B2D"/>
                </a:solidFill>
                <a:effectLst/>
                <a:uLnTx/>
                <a:uFillTx/>
                <a:latin typeface="Open Sans"/>
                <a:ea typeface="+mn-ea"/>
                <a:cs typeface="+mn-cs"/>
              </a:endParaRPr>
            </a:p>
          </p:txBody>
        </p:sp>
        <p:sp>
          <p:nvSpPr>
            <p:cNvPr id="9" name="Freeform 19"/>
            <p:cNvSpPr>
              <a:spLocks/>
            </p:cNvSpPr>
            <p:nvPr/>
          </p:nvSpPr>
          <p:spPr bwMode="auto">
            <a:xfrm>
              <a:off x="5941552" y="2306390"/>
              <a:ext cx="1236373" cy="939508"/>
            </a:xfrm>
            <a:custGeom>
              <a:avLst/>
              <a:gdLst>
                <a:gd name="T0" fmla="*/ 649 w 649"/>
                <a:gd name="T1" fmla="*/ 0 h 694"/>
                <a:gd name="T2" fmla="*/ 649 w 649"/>
                <a:gd name="T3" fmla="*/ 328 h 694"/>
                <a:gd name="T4" fmla="*/ 0 w 649"/>
                <a:gd name="T5" fmla="*/ 694 h 694"/>
                <a:gd name="T6" fmla="*/ 0 w 649"/>
                <a:gd name="T7" fmla="*/ 366 h 694"/>
                <a:gd name="T8" fmla="*/ 649 w 649"/>
                <a:gd name="T9" fmla="*/ 0 h 694"/>
              </a:gdLst>
              <a:ahLst/>
              <a:cxnLst>
                <a:cxn ang="0">
                  <a:pos x="T0" y="T1"/>
                </a:cxn>
                <a:cxn ang="0">
                  <a:pos x="T2" y="T3"/>
                </a:cxn>
                <a:cxn ang="0">
                  <a:pos x="T4" y="T5"/>
                </a:cxn>
                <a:cxn ang="0">
                  <a:pos x="T6" y="T7"/>
                </a:cxn>
                <a:cxn ang="0">
                  <a:pos x="T8" y="T9"/>
                </a:cxn>
              </a:cxnLst>
              <a:rect l="0" t="0" r="r" b="b"/>
              <a:pathLst>
                <a:path w="649" h="694">
                  <a:moveTo>
                    <a:pt x="649" y="0"/>
                  </a:moveTo>
                  <a:lnTo>
                    <a:pt x="649" y="328"/>
                  </a:lnTo>
                  <a:lnTo>
                    <a:pt x="0" y="694"/>
                  </a:lnTo>
                  <a:lnTo>
                    <a:pt x="0" y="366"/>
                  </a:lnTo>
                  <a:lnTo>
                    <a:pt x="649"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B2B2D"/>
                </a:solidFill>
                <a:effectLst/>
                <a:uLnTx/>
                <a:uFillTx/>
                <a:latin typeface="Open Sans"/>
                <a:ea typeface="+mn-ea"/>
                <a:cs typeface="+mn-cs"/>
              </a:endParaRPr>
            </a:p>
          </p:txBody>
        </p:sp>
      </p:grpSp>
      <p:grpSp>
        <p:nvGrpSpPr>
          <p:cNvPr id="10" name="Group 9"/>
          <p:cNvGrpSpPr/>
          <p:nvPr/>
        </p:nvGrpSpPr>
        <p:grpSpPr>
          <a:xfrm>
            <a:off x="2537776" y="4282533"/>
            <a:ext cx="2369874" cy="1405200"/>
            <a:chOff x="4808051" y="4299121"/>
            <a:chExt cx="2369874" cy="1405200"/>
          </a:xfrm>
        </p:grpSpPr>
        <p:sp>
          <p:nvSpPr>
            <p:cNvPr id="11" name="Freeform 10"/>
            <p:cNvSpPr>
              <a:spLocks/>
            </p:cNvSpPr>
            <p:nvPr/>
          </p:nvSpPr>
          <p:spPr bwMode="auto">
            <a:xfrm>
              <a:off x="4808051" y="4795950"/>
              <a:ext cx="1133501" cy="908371"/>
            </a:xfrm>
            <a:custGeom>
              <a:avLst/>
              <a:gdLst>
                <a:gd name="T0" fmla="*/ 595 w 595"/>
                <a:gd name="T1" fmla="*/ 671 h 671"/>
                <a:gd name="T2" fmla="*/ 0 w 595"/>
                <a:gd name="T3" fmla="*/ 328 h 671"/>
                <a:gd name="T4" fmla="*/ 0 w 595"/>
                <a:gd name="T5" fmla="*/ 0 h 671"/>
                <a:gd name="T6" fmla="*/ 595 w 595"/>
                <a:gd name="T7" fmla="*/ 343 h 671"/>
                <a:gd name="T8" fmla="*/ 595 w 595"/>
                <a:gd name="T9" fmla="*/ 671 h 671"/>
              </a:gdLst>
              <a:ahLst/>
              <a:cxnLst>
                <a:cxn ang="0">
                  <a:pos x="T0" y="T1"/>
                </a:cxn>
                <a:cxn ang="0">
                  <a:pos x="T2" y="T3"/>
                </a:cxn>
                <a:cxn ang="0">
                  <a:pos x="T4" y="T5"/>
                </a:cxn>
                <a:cxn ang="0">
                  <a:pos x="T6" y="T7"/>
                </a:cxn>
                <a:cxn ang="0">
                  <a:pos x="T8" y="T9"/>
                </a:cxn>
              </a:cxnLst>
              <a:rect l="0" t="0" r="r" b="b"/>
              <a:pathLst>
                <a:path w="595" h="671">
                  <a:moveTo>
                    <a:pt x="595" y="671"/>
                  </a:moveTo>
                  <a:lnTo>
                    <a:pt x="0" y="328"/>
                  </a:lnTo>
                  <a:lnTo>
                    <a:pt x="0" y="0"/>
                  </a:lnTo>
                  <a:lnTo>
                    <a:pt x="595" y="343"/>
                  </a:lnTo>
                  <a:lnTo>
                    <a:pt x="595" y="671"/>
                  </a:lnTo>
                  <a:close/>
                </a:path>
              </a:pathLst>
            </a:custGeom>
            <a:solidFill>
              <a:schemeClr val="accent2">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B2B2D"/>
                </a:solidFill>
                <a:effectLst/>
                <a:uLnTx/>
                <a:uFillTx/>
                <a:latin typeface="Open Sans"/>
                <a:ea typeface="+mn-ea"/>
                <a:cs typeface="+mn-cs"/>
              </a:endParaRPr>
            </a:p>
          </p:txBody>
        </p:sp>
        <p:sp>
          <p:nvSpPr>
            <p:cNvPr id="12" name="Freeform 11"/>
            <p:cNvSpPr>
              <a:spLocks/>
            </p:cNvSpPr>
            <p:nvPr/>
          </p:nvSpPr>
          <p:spPr bwMode="auto">
            <a:xfrm>
              <a:off x="4808051" y="4299121"/>
              <a:ext cx="2369874" cy="961168"/>
            </a:xfrm>
            <a:custGeom>
              <a:avLst/>
              <a:gdLst>
                <a:gd name="T0" fmla="*/ 595 w 1244"/>
                <a:gd name="T1" fmla="*/ 710 h 710"/>
                <a:gd name="T2" fmla="*/ 0 w 1244"/>
                <a:gd name="T3" fmla="*/ 367 h 710"/>
                <a:gd name="T4" fmla="*/ 649 w 1244"/>
                <a:gd name="T5" fmla="*/ 0 h 710"/>
                <a:gd name="T6" fmla="*/ 1244 w 1244"/>
                <a:gd name="T7" fmla="*/ 344 h 710"/>
                <a:gd name="T8" fmla="*/ 595 w 1244"/>
                <a:gd name="T9" fmla="*/ 710 h 710"/>
              </a:gdLst>
              <a:ahLst/>
              <a:cxnLst>
                <a:cxn ang="0">
                  <a:pos x="T0" y="T1"/>
                </a:cxn>
                <a:cxn ang="0">
                  <a:pos x="T2" y="T3"/>
                </a:cxn>
                <a:cxn ang="0">
                  <a:pos x="T4" y="T5"/>
                </a:cxn>
                <a:cxn ang="0">
                  <a:pos x="T6" y="T7"/>
                </a:cxn>
                <a:cxn ang="0">
                  <a:pos x="T8" y="T9"/>
                </a:cxn>
              </a:cxnLst>
              <a:rect l="0" t="0" r="r" b="b"/>
              <a:pathLst>
                <a:path w="1244" h="710">
                  <a:moveTo>
                    <a:pt x="595" y="710"/>
                  </a:moveTo>
                  <a:lnTo>
                    <a:pt x="0" y="367"/>
                  </a:lnTo>
                  <a:lnTo>
                    <a:pt x="649" y="0"/>
                  </a:lnTo>
                  <a:lnTo>
                    <a:pt x="1244" y="344"/>
                  </a:lnTo>
                  <a:lnTo>
                    <a:pt x="595" y="710"/>
                  </a:lnTo>
                  <a:close/>
                </a:path>
              </a:pathLst>
            </a:custGeom>
            <a:solidFill>
              <a:schemeClr val="accent2">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B2B2D"/>
                </a:solidFill>
                <a:effectLst/>
                <a:uLnTx/>
                <a:uFillTx/>
                <a:latin typeface="Open Sans"/>
                <a:ea typeface="+mn-ea"/>
                <a:cs typeface="+mn-cs"/>
              </a:endParaRPr>
            </a:p>
          </p:txBody>
        </p:sp>
        <p:sp>
          <p:nvSpPr>
            <p:cNvPr id="13" name="Freeform 12"/>
            <p:cNvSpPr>
              <a:spLocks/>
            </p:cNvSpPr>
            <p:nvPr/>
          </p:nvSpPr>
          <p:spPr bwMode="auto">
            <a:xfrm>
              <a:off x="5941552" y="4764813"/>
              <a:ext cx="1236373" cy="939508"/>
            </a:xfrm>
            <a:custGeom>
              <a:avLst/>
              <a:gdLst>
                <a:gd name="T0" fmla="*/ 649 w 649"/>
                <a:gd name="T1" fmla="*/ 0 h 694"/>
                <a:gd name="T2" fmla="*/ 649 w 649"/>
                <a:gd name="T3" fmla="*/ 328 h 694"/>
                <a:gd name="T4" fmla="*/ 0 w 649"/>
                <a:gd name="T5" fmla="*/ 694 h 694"/>
                <a:gd name="T6" fmla="*/ 0 w 649"/>
                <a:gd name="T7" fmla="*/ 366 h 694"/>
                <a:gd name="T8" fmla="*/ 649 w 649"/>
                <a:gd name="T9" fmla="*/ 0 h 694"/>
              </a:gdLst>
              <a:ahLst/>
              <a:cxnLst>
                <a:cxn ang="0">
                  <a:pos x="T0" y="T1"/>
                </a:cxn>
                <a:cxn ang="0">
                  <a:pos x="T2" y="T3"/>
                </a:cxn>
                <a:cxn ang="0">
                  <a:pos x="T4" y="T5"/>
                </a:cxn>
                <a:cxn ang="0">
                  <a:pos x="T6" y="T7"/>
                </a:cxn>
                <a:cxn ang="0">
                  <a:pos x="T8" y="T9"/>
                </a:cxn>
              </a:cxnLst>
              <a:rect l="0" t="0" r="r" b="b"/>
              <a:pathLst>
                <a:path w="649" h="694">
                  <a:moveTo>
                    <a:pt x="649" y="0"/>
                  </a:moveTo>
                  <a:lnTo>
                    <a:pt x="649" y="328"/>
                  </a:lnTo>
                  <a:lnTo>
                    <a:pt x="0" y="694"/>
                  </a:lnTo>
                  <a:lnTo>
                    <a:pt x="0" y="366"/>
                  </a:lnTo>
                  <a:lnTo>
                    <a:pt x="649"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B2B2D"/>
                </a:solidFill>
                <a:effectLst/>
                <a:uLnTx/>
                <a:uFillTx/>
                <a:latin typeface="Open Sans"/>
                <a:ea typeface="+mn-ea"/>
                <a:cs typeface="+mn-cs"/>
              </a:endParaRPr>
            </a:p>
          </p:txBody>
        </p:sp>
      </p:grpSp>
      <p:grpSp>
        <p:nvGrpSpPr>
          <p:cNvPr id="14" name="Group 13"/>
          <p:cNvGrpSpPr/>
          <p:nvPr/>
        </p:nvGrpSpPr>
        <p:grpSpPr>
          <a:xfrm>
            <a:off x="3440735" y="3513207"/>
            <a:ext cx="2369874" cy="1405200"/>
            <a:chOff x="4808051" y="5135743"/>
            <a:chExt cx="2369874" cy="1405200"/>
          </a:xfrm>
        </p:grpSpPr>
        <p:sp>
          <p:nvSpPr>
            <p:cNvPr id="15" name="Freeform 5"/>
            <p:cNvSpPr>
              <a:spLocks/>
            </p:cNvSpPr>
            <p:nvPr/>
          </p:nvSpPr>
          <p:spPr bwMode="auto">
            <a:xfrm>
              <a:off x="4808051" y="5632572"/>
              <a:ext cx="1133501" cy="908371"/>
            </a:xfrm>
            <a:custGeom>
              <a:avLst/>
              <a:gdLst>
                <a:gd name="T0" fmla="*/ 595 w 595"/>
                <a:gd name="T1" fmla="*/ 671 h 671"/>
                <a:gd name="T2" fmla="*/ 0 w 595"/>
                <a:gd name="T3" fmla="*/ 328 h 671"/>
                <a:gd name="T4" fmla="*/ 0 w 595"/>
                <a:gd name="T5" fmla="*/ 0 h 671"/>
                <a:gd name="T6" fmla="*/ 595 w 595"/>
                <a:gd name="T7" fmla="*/ 343 h 671"/>
                <a:gd name="T8" fmla="*/ 595 w 595"/>
                <a:gd name="T9" fmla="*/ 671 h 671"/>
              </a:gdLst>
              <a:ahLst/>
              <a:cxnLst>
                <a:cxn ang="0">
                  <a:pos x="T0" y="T1"/>
                </a:cxn>
                <a:cxn ang="0">
                  <a:pos x="T2" y="T3"/>
                </a:cxn>
                <a:cxn ang="0">
                  <a:pos x="T4" y="T5"/>
                </a:cxn>
                <a:cxn ang="0">
                  <a:pos x="T6" y="T7"/>
                </a:cxn>
                <a:cxn ang="0">
                  <a:pos x="T8" y="T9"/>
                </a:cxn>
              </a:cxnLst>
              <a:rect l="0" t="0" r="r" b="b"/>
              <a:pathLst>
                <a:path w="595" h="671">
                  <a:moveTo>
                    <a:pt x="595" y="671"/>
                  </a:moveTo>
                  <a:lnTo>
                    <a:pt x="0" y="328"/>
                  </a:lnTo>
                  <a:lnTo>
                    <a:pt x="0" y="0"/>
                  </a:lnTo>
                  <a:lnTo>
                    <a:pt x="595" y="343"/>
                  </a:lnTo>
                  <a:lnTo>
                    <a:pt x="595" y="671"/>
                  </a:lnTo>
                  <a:close/>
                </a:path>
              </a:pathLst>
            </a:custGeom>
            <a:solidFill>
              <a:schemeClr val="accent4">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B2B2D"/>
                </a:solidFill>
                <a:effectLst/>
                <a:uLnTx/>
                <a:uFillTx/>
                <a:latin typeface="Open Sans"/>
                <a:ea typeface="+mn-ea"/>
                <a:cs typeface="+mn-cs"/>
              </a:endParaRPr>
            </a:p>
          </p:txBody>
        </p:sp>
        <p:sp>
          <p:nvSpPr>
            <p:cNvPr id="16" name="Freeform 6"/>
            <p:cNvSpPr>
              <a:spLocks/>
            </p:cNvSpPr>
            <p:nvPr/>
          </p:nvSpPr>
          <p:spPr bwMode="auto">
            <a:xfrm>
              <a:off x="4808051" y="5135743"/>
              <a:ext cx="2369874" cy="961168"/>
            </a:xfrm>
            <a:custGeom>
              <a:avLst/>
              <a:gdLst>
                <a:gd name="T0" fmla="*/ 595 w 1244"/>
                <a:gd name="T1" fmla="*/ 710 h 710"/>
                <a:gd name="T2" fmla="*/ 0 w 1244"/>
                <a:gd name="T3" fmla="*/ 367 h 710"/>
                <a:gd name="T4" fmla="*/ 649 w 1244"/>
                <a:gd name="T5" fmla="*/ 0 h 710"/>
                <a:gd name="T6" fmla="*/ 1244 w 1244"/>
                <a:gd name="T7" fmla="*/ 344 h 710"/>
                <a:gd name="T8" fmla="*/ 595 w 1244"/>
                <a:gd name="T9" fmla="*/ 710 h 710"/>
              </a:gdLst>
              <a:ahLst/>
              <a:cxnLst>
                <a:cxn ang="0">
                  <a:pos x="T0" y="T1"/>
                </a:cxn>
                <a:cxn ang="0">
                  <a:pos x="T2" y="T3"/>
                </a:cxn>
                <a:cxn ang="0">
                  <a:pos x="T4" y="T5"/>
                </a:cxn>
                <a:cxn ang="0">
                  <a:pos x="T6" y="T7"/>
                </a:cxn>
                <a:cxn ang="0">
                  <a:pos x="T8" y="T9"/>
                </a:cxn>
              </a:cxnLst>
              <a:rect l="0" t="0" r="r" b="b"/>
              <a:pathLst>
                <a:path w="1244" h="710">
                  <a:moveTo>
                    <a:pt x="595" y="710"/>
                  </a:moveTo>
                  <a:lnTo>
                    <a:pt x="0" y="367"/>
                  </a:lnTo>
                  <a:lnTo>
                    <a:pt x="649" y="0"/>
                  </a:lnTo>
                  <a:lnTo>
                    <a:pt x="1244" y="344"/>
                  </a:lnTo>
                  <a:lnTo>
                    <a:pt x="595" y="710"/>
                  </a:lnTo>
                  <a:close/>
                </a:path>
              </a:pathLst>
            </a:custGeom>
            <a:solidFill>
              <a:schemeClr val="accent4">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B2B2D"/>
                </a:solidFill>
                <a:effectLst/>
                <a:uLnTx/>
                <a:uFillTx/>
                <a:latin typeface="Open Sans"/>
                <a:ea typeface="+mn-ea"/>
                <a:cs typeface="+mn-cs"/>
              </a:endParaRPr>
            </a:p>
          </p:txBody>
        </p:sp>
        <p:sp>
          <p:nvSpPr>
            <p:cNvPr id="17" name="Freeform 7"/>
            <p:cNvSpPr>
              <a:spLocks/>
            </p:cNvSpPr>
            <p:nvPr/>
          </p:nvSpPr>
          <p:spPr bwMode="auto">
            <a:xfrm>
              <a:off x="5941552" y="5601435"/>
              <a:ext cx="1236373" cy="939508"/>
            </a:xfrm>
            <a:custGeom>
              <a:avLst/>
              <a:gdLst>
                <a:gd name="T0" fmla="*/ 649 w 649"/>
                <a:gd name="T1" fmla="*/ 0 h 694"/>
                <a:gd name="T2" fmla="*/ 649 w 649"/>
                <a:gd name="T3" fmla="*/ 328 h 694"/>
                <a:gd name="T4" fmla="*/ 0 w 649"/>
                <a:gd name="T5" fmla="*/ 694 h 694"/>
                <a:gd name="T6" fmla="*/ 0 w 649"/>
                <a:gd name="T7" fmla="*/ 366 h 694"/>
                <a:gd name="T8" fmla="*/ 649 w 649"/>
                <a:gd name="T9" fmla="*/ 0 h 694"/>
              </a:gdLst>
              <a:ahLst/>
              <a:cxnLst>
                <a:cxn ang="0">
                  <a:pos x="T0" y="T1"/>
                </a:cxn>
                <a:cxn ang="0">
                  <a:pos x="T2" y="T3"/>
                </a:cxn>
                <a:cxn ang="0">
                  <a:pos x="T4" y="T5"/>
                </a:cxn>
                <a:cxn ang="0">
                  <a:pos x="T6" y="T7"/>
                </a:cxn>
                <a:cxn ang="0">
                  <a:pos x="T8" y="T9"/>
                </a:cxn>
              </a:cxnLst>
              <a:rect l="0" t="0" r="r" b="b"/>
              <a:pathLst>
                <a:path w="649" h="694">
                  <a:moveTo>
                    <a:pt x="649" y="0"/>
                  </a:moveTo>
                  <a:lnTo>
                    <a:pt x="649" y="328"/>
                  </a:lnTo>
                  <a:lnTo>
                    <a:pt x="0" y="694"/>
                  </a:lnTo>
                  <a:lnTo>
                    <a:pt x="0" y="366"/>
                  </a:lnTo>
                  <a:lnTo>
                    <a:pt x="649" y="0"/>
                  </a:lnTo>
                  <a:close/>
                </a:path>
              </a:pathLst>
            </a:custGeom>
            <a:solidFill>
              <a:schemeClr val="accent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B2B2D"/>
                </a:solidFill>
                <a:effectLst/>
                <a:uLnTx/>
                <a:uFillTx/>
                <a:latin typeface="Open Sans"/>
                <a:ea typeface="+mn-ea"/>
                <a:cs typeface="+mn-cs"/>
              </a:endParaRPr>
            </a:p>
          </p:txBody>
        </p:sp>
      </p:grpSp>
      <p:grpSp>
        <p:nvGrpSpPr>
          <p:cNvPr id="18" name="Group 17"/>
          <p:cNvGrpSpPr/>
          <p:nvPr/>
        </p:nvGrpSpPr>
        <p:grpSpPr>
          <a:xfrm>
            <a:off x="4292258" y="2753268"/>
            <a:ext cx="2369874" cy="1403847"/>
            <a:chOff x="4808051" y="3515295"/>
            <a:chExt cx="2369874" cy="1403847"/>
          </a:xfrm>
        </p:grpSpPr>
        <p:sp>
          <p:nvSpPr>
            <p:cNvPr id="19" name="Freeform 11"/>
            <p:cNvSpPr>
              <a:spLocks/>
            </p:cNvSpPr>
            <p:nvPr/>
          </p:nvSpPr>
          <p:spPr bwMode="auto">
            <a:xfrm>
              <a:off x="4808051" y="4010770"/>
              <a:ext cx="1133501" cy="908371"/>
            </a:xfrm>
            <a:custGeom>
              <a:avLst/>
              <a:gdLst>
                <a:gd name="T0" fmla="*/ 595 w 595"/>
                <a:gd name="T1" fmla="*/ 671 h 671"/>
                <a:gd name="T2" fmla="*/ 0 w 595"/>
                <a:gd name="T3" fmla="*/ 328 h 671"/>
                <a:gd name="T4" fmla="*/ 0 w 595"/>
                <a:gd name="T5" fmla="*/ 0 h 671"/>
                <a:gd name="T6" fmla="*/ 595 w 595"/>
                <a:gd name="T7" fmla="*/ 343 h 671"/>
                <a:gd name="T8" fmla="*/ 595 w 595"/>
                <a:gd name="T9" fmla="*/ 671 h 671"/>
              </a:gdLst>
              <a:ahLst/>
              <a:cxnLst>
                <a:cxn ang="0">
                  <a:pos x="T0" y="T1"/>
                </a:cxn>
                <a:cxn ang="0">
                  <a:pos x="T2" y="T3"/>
                </a:cxn>
                <a:cxn ang="0">
                  <a:pos x="T4" y="T5"/>
                </a:cxn>
                <a:cxn ang="0">
                  <a:pos x="T6" y="T7"/>
                </a:cxn>
                <a:cxn ang="0">
                  <a:pos x="T8" y="T9"/>
                </a:cxn>
              </a:cxnLst>
              <a:rect l="0" t="0" r="r" b="b"/>
              <a:pathLst>
                <a:path w="595" h="671">
                  <a:moveTo>
                    <a:pt x="595" y="671"/>
                  </a:moveTo>
                  <a:lnTo>
                    <a:pt x="0" y="328"/>
                  </a:lnTo>
                  <a:lnTo>
                    <a:pt x="0" y="0"/>
                  </a:lnTo>
                  <a:lnTo>
                    <a:pt x="595" y="343"/>
                  </a:lnTo>
                  <a:lnTo>
                    <a:pt x="595" y="671"/>
                  </a:lnTo>
                  <a:close/>
                </a:path>
              </a:pathLst>
            </a:custGeom>
            <a:solidFill>
              <a:schemeClr val="accent5">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B2B2D"/>
                </a:solidFill>
                <a:effectLst/>
                <a:uLnTx/>
                <a:uFillTx/>
                <a:latin typeface="Open Sans"/>
                <a:ea typeface="+mn-ea"/>
                <a:cs typeface="+mn-cs"/>
              </a:endParaRPr>
            </a:p>
          </p:txBody>
        </p:sp>
        <p:sp>
          <p:nvSpPr>
            <p:cNvPr id="20" name="Freeform 12"/>
            <p:cNvSpPr>
              <a:spLocks/>
            </p:cNvSpPr>
            <p:nvPr/>
          </p:nvSpPr>
          <p:spPr bwMode="auto">
            <a:xfrm>
              <a:off x="4808051" y="3515295"/>
              <a:ext cx="2369874" cy="959814"/>
            </a:xfrm>
            <a:custGeom>
              <a:avLst/>
              <a:gdLst>
                <a:gd name="T0" fmla="*/ 595 w 1244"/>
                <a:gd name="T1" fmla="*/ 709 h 709"/>
                <a:gd name="T2" fmla="*/ 0 w 1244"/>
                <a:gd name="T3" fmla="*/ 366 h 709"/>
                <a:gd name="T4" fmla="*/ 649 w 1244"/>
                <a:gd name="T5" fmla="*/ 0 h 709"/>
                <a:gd name="T6" fmla="*/ 1244 w 1244"/>
                <a:gd name="T7" fmla="*/ 343 h 709"/>
                <a:gd name="T8" fmla="*/ 595 w 1244"/>
                <a:gd name="T9" fmla="*/ 709 h 709"/>
              </a:gdLst>
              <a:ahLst/>
              <a:cxnLst>
                <a:cxn ang="0">
                  <a:pos x="T0" y="T1"/>
                </a:cxn>
                <a:cxn ang="0">
                  <a:pos x="T2" y="T3"/>
                </a:cxn>
                <a:cxn ang="0">
                  <a:pos x="T4" y="T5"/>
                </a:cxn>
                <a:cxn ang="0">
                  <a:pos x="T6" y="T7"/>
                </a:cxn>
                <a:cxn ang="0">
                  <a:pos x="T8" y="T9"/>
                </a:cxn>
              </a:cxnLst>
              <a:rect l="0" t="0" r="r" b="b"/>
              <a:pathLst>
                <a:path w="1244" h="709">
                  <a:moveTo>
                    <a:pt x="595" y="709"/>
                  </a:moveTo>
                  <a:lnTo>
                    <a:pt x="0" y="366"/>
                  </a:lnTo>
                  <a:lnTo>
                    <a:pt x="649" y="0"/>
                  </a:lnTo>
                  <a:lnTo>
                    <a:pt x="1244" y="343"/>
                  </a:lnTo>
                  <a:lnTo>
                    <a:pt x="595" y="709"/>
                  </a:lnTo>
                  <a:close/>
                </a:path>
              </a:pathLst>
            </a:custGeom>
            <a:solidFill>
              <a:schemeClr val="accent5">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B2B2D"/>
                </a:solidFill>
                <a:effectLst/>
                <a:uLnTx/>
                <a:uFillTx/>
                <a:latin typeface="Open Sans"/>
                <a:ea typeface="+mn-ea"/>
                <a:cs typeface="+mn-cs"/>
              </a:endParaRPr>
            </a:p>
          </p:txBody>
        </p:sp>
        <p:sp>
          <p:nvSpPr>
            <p:cNvPr id="21" name="Freeform 13"/>
            <p:cNvSpPr>
              <a:spLocks/>
            </p:cNvSpPr>
            <p:nvPr/>
          </p:nvSpPr>
          <p:spPr bwMode="auto">
            <a:xfrm>
              <a:off x="5941552" y="3979634"/>
              <a:ext cx="1236373" cy="939508"/>
            </a:xfrm>
            <a:custGeom>
              <a:avLst/>
              <a:gdLst>
                <a:gd name="T0" fmla="*/ 649 w 649"/>
                <a:gd name="T1" fmla="*/ 0 h 694"/>
                <a:gd name="T2" fmla="*/ 649 w 649"/>
                <a:gd name="T3" fmla="*/ 328 h 694"/>
                <a:gd name="T4" fmla="*/ 0 w 649"/>
                <a:gd name="T5" fmla="*/ 694 h 694"/>
                <a:gd name="T6" fmla="*/ 0 w 649"/>
                <a:gd name="T7" fmla="*/ 366 h 694"/>
                <a:gd name="T8" fmla="*/ 649 w 649"/>
                <a:gd name="T9" fmla="*/ 0 h 694"/>
              </a:gdLst>
              <a:ahLst/>
              <a:cxnLst>
                <a:cxn ang="0">
                  <a:pos x="T0" y="T1"/>
                </a:cxn>
                <a:cxn ang="0">
                  <a:pos x="T2" y="T3"/>
                </a:cxn>
                <a:cxn ang="0">
                  <a:pos x="T4" y="T5"/>
                </a:cxn>
                <a:cxn ang="0">
                  <a:pos x="T6" y="T7"/>
                </a:cxn>
                <a:cxn ang="0">
                  <a:pos x="T8" y="T9"/>
                </a:cxn>
              </a:cxnLst>
              <a:rect l="0" t="0" r="r" b="b"/>
              <a:pathLst>
                <a:path w="649" h="694">
                  <a:moveTo>
                    <a:pt x="649" y="0"/>
                  </a:moveTo>
                  <a:lnTo>
                    <a:pt x="649" y="328"/>
                  </a:lnTo>
                  <a:lnTo>
                    <a:pt x="0" y="694"/>
                  </a:lnTo>
                  <a:lnTo>
                    <a:pt x="0" y="366"/>
                  </a:lnTo>
                  <a:lnTo>
                    <a:pt x="649" y="0"/>
                  </a:ln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B2B2D"/>
                </a:solidFill>
                <a:effectLst/>
                <a:uLnTx/>
                <a:uFillTx/>
                <a:latin typeface="Open Sans"/>
                <a:ea typeface="+mn-ea"/>
                <a:cs typeface="+mn-cs"/>
              </a:endParaRPr>
            </a:p>
          </p:txBody>
        </p:sp>
      </p:grpSp>
      <p:grpSp>
        <p:nvGrpSpPr>
          <p:cNvPr id="22" name="Group 21"/>
          <p:cNvGrpSpPr/>
          <p:nvPr/>
        </p:nvGrpSpPr>
        <p:grpSpPr>
          <a:xfrm>
            <a:off x="1525724" y="4561285"/>
            <a:ext cx="612000" cy="612001"/>
            <a:chOff x="995082" y="2316441"/>
            <a:chExt cx="612000" cy="612001"/>
          </a:xfrm>
        </p:grpSpPr>
        <p:sp>
          <p:nvSpPr>
            <p:cNvPr id="23" name="Oval 22"/>
            <p:cNvSpPr>
              <a:spLocks noChangeAspect="1" noChangeArrowheads="1"/>
            </p:cNvSpPr>
            <p:nvPr/>
          </p:nvSpPr>
          <p:spPr bwMode="auto">
            <a:xfrm>
              <a:off x="995082" y="2316441"/>
              <a:ext cx="612000" cy="612001"/>
            </a:xfrm>
            <a:prstGeom prst="ellipse">
              <a:avLst/>
            </a:prstGeom>
            <a:solidFill>
              <a:schemeClr val="accent1"/>
            </a:solidFill>
            <a:ln w="28575">
              <a:solidFill>
                <a:schemeClr val="accent1"/>
              </a:solid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E5CA2"/>
                </a:solidFill>
                <a:effectLst/>
                <a:uLnTx/>
                <a:uFillTx/>
                <a:latin typeface="Open Sans"/>
                <a:ea typeface="+mn-ea"/>
                <a:cs typeface="+mn-cs"/>
              </a:endParaRPr>
            </a:p>
          </p:txBody>
        </p:sp>
        <p:grpSp>
          <p:nvGrpSpPr>
            <p:cNvPr id="24" name="Group 4"/>
            <p:cNvGrpSpPr>
              <a:grpSpLocks noChangeAspect="1"/>
            </p:cNvGrpSpPr>
            <p:nvPr/>
          </p:nvGrpSpPr>
          <p:grpSpPr bwMode="auto">
            <a:xfrm>
              <a:off x="1096971" y="2373327"/>
              <a:ext cx="338140" cy="514353"/>
              <a:chOff x="691" y="1495"/>
              <a:chExt cx="213" cy="324"/>
            </a:xfrm>
          </p:grpSpPr>
          <p:sp>
            <p:nvSpPr>
              <p:cNvPr id="25" name="Freeform 5"/>
              <p:cNvSpPr>
                <a:spLocks/>
              </p:cNvSpPr>
              <p:nvPr/>
            </p:nvSpPr>
            <p:spPr bwMode="auto">
              <a:xfrm>
                <a:off x="831" y="1495"/>
                <a:ext cx="59" cy="51"/>
              </a:xfrm>
              <a:custGeom>
                <a:avLst/>
                <a:gdLst>
                  <a:gd name="T0" fmla="*/ 24 w 24"/>
                  <a:gd name="T1" fmla="*/ 21 h 21"/>
                  <a:gd name="T2" fmla="*/ 18 w 24"/>
                  <a:gd name="T3" fmla="*/ 0 h 21"/>
                  <a:gd name="T4" fmla="*/ 0 w 24"/>
                  <a:gd name="T5" fmla="*/ 12 h 21"/>
                  <a:gd name="T6" fmla="*/ 24 w 24"/>
                  <a:gd name="T7" fmla="*/ 21 h 21"/>
                </a:gdLst>
                <a:ahLst/>
                <a:cxnLst>
                  <a:cxn ang="0">
                    <a:pos x="T0" y="T1"/>
                  </a:cxn>
                  <a:cxn ang="0">
                    <a:pos x="T2" y="T3"/>
                  </a:cxn>
                  <a:cxn ang="0">
                    <a:pos x="T4" y="T5"/>
                  </a:cxn>
                  <a:cxn ang="0">
                    <a:pos x="T6" y="T7"/>
                  </a:cxn>
                </a:cxnLst>
                <a:rect l="0" t="0" r="r" b="b"/>
                <a:pathLst>
                  <a:path w="24" h="21">
                    <a:moveTo>
                      <a:pt x="24" y="21"/>
                    </a:moveTo>
                    <a:cubicBezTo>
                      <a:pt x="21" y="9"/>
                      <a:pt x="18" y="0"/>
                      <a:pt x="18" y="0"/>
                    </a:cubicBezTo>
                    <a:cubicBezTo>
                      <a:pt x="18" y="0"/>
                      <a:pt x="10" y="5"/>
                      <a:pt x="0" y="12"/>
                    </a:cubicBezTo>
                    <a:lnTo>
                      <a:pt x="24" y="2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B2B2D"/>
                  </a:solidFill>
                  <a:effectLst/>
                  <a:uLnTx/>
                  <a:uFillTx/>
                  <a:latin typeface="Open Sans"/>
                  <a:ea typeface="+mn-ea"/>
                  <a:cs typeface="+mn-cs"/>
                </a:endParaRPr>
              </a:p>
            </p:txBody>
          </p:sp>
          <p:sp>
            <p:nvSpPr>
              <p:cNvPr id="26" name="Freeform 6"/>
              <p:cNvSpPr>
                <a:spLocks noEditPoints="1"/>
              </p:cNvSpPr>
              <p:nvPr/>
            </p:nvSpPr>
            <p:spPr bwMode="auto">
              <a:xfrm>
                <a:off x="691" y="1541"/>
                <a:ext cx="213" cy="278"/>
              </a:xfrm>
              <a:custGeom>
                <a:avLst/>
                <a:gdLst>
                  <a:gd name="T0" fmla="*/ 69 w 87"/>
                  <a:gd name="T1" fmla="*/ 79 h 115"/>
                  <a:gd name="T2" fmla="*/ 82 w 87"/>
                  <a:gd name="T3" fmla="*/ 57 h 115"/>
                  <a:gd name="T4" fmla="*/ 83 w 87"/>
                  <a:gd name="T5" fmla="*/ 12 h 115"/>
                  <a:gd name="T6" fmla="*/ 50 w 87"/>
                  <a:gd name="T7" fmla="*/ 0 h 115"/>
                  <a:gd name="T8" fmla="*/ 21 w 87"/>
                  <a:gd name="T9" fmla="*/ 35 h 115"/>
                  <a:gd name="T10" fmla="*/ 17 w 87"/>
                  <a:gd name="T11" fmla="*/ 60 h 115"/>
                  <a:gd name="T12" fmla="*/ 2 w 87"/>
                  <a:gd name="T13" fmla="*/ 78 h 115"/>
                  <a:gd name="T14" fmla="*/ 0 w 87"/>
                  <a:gd name="T15" fmla="*/ 93 h 115"/>
                  <a:gd name="T16" fmla="*/ 24 w 87"/>
                  <a:gd name="T17" fmla="*/ 81 h 115"/>
                  <a:gd name="T18" fmla="*/ 33 w 87"/>
                  <a:gd name="T19" fmla="*/ 97 h 115"/>
                  <a:gd name="T20" fmla="*/ 50 w 87"/>
                  <a:gd name="T21" fmla="*/ 91 h 115"/>
                  <a:gd name="T22" fmla="*/ 61 w 87"/>
                  <a:gd name="T23" fmla="*/ 115 h 115"/>
                  <a:gd name="T24" fmla="*/ 69 w 87"/>
                  <a:gd name="T25" fmla="*/ 103 h 115"/>
                  <a:gd name="T26" fmla="*/ 69 w 87"/>
                  <a:gd name="T27" fmla="*/ 79 h 115"/>
                  <a:gd name="T28" fmla="*/ 63 w 87"/>
                  <a:gd name="T29" fmla="*/ 16 h 115"/>
                  <a:gd name="T30" fmla="*/ 68 w 87"/>
                  <a:gd name="T31" fmla="*/ 26 h 115"/>
                  <a:gd name="T32" fmla="*/ 57 w 87"/>
                  <a:gd name="T33" fmla="*/ 31 h 115"/>
                  <a:gd name="T34" fmla="*/ 52 w 87"/>
                  <a:gd name="T35" fmla="*/ 20 h 115"/>
                  <a:gd name="T36" fmla="*/ 63 w 87"/>
                  <a:gd name="T37" fmla="*/ 16 h 115"/>
                  <a:gd name="T38" fmla="*/ 46 w 87"/>
                  <a:gd name="T39" fmla="*/ 60 h 115"/>
                  <a:gd name="T40" fmla="*/ 39 w 87"/>
                  <a:gd name="T41" fmla="*/ 45 h 115"/>
                  <a:gd name="T42" fmla="*/ 54 w 87"/>
                  <a:gd name="T43" fmla="*/ 38 h 115"/>
                  <a:gd name="T44" fmla="*/ 61 w 87"/>
                  <a:gd name="T45" fmla="*/ 53 h 115"/>
                  <a:gd name="T46" fmla="*/ 46 w 87"/>
                  <a:gd name="T47" fmla="*/ 6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7" h="115">
                    <a:moveTo>
                      <a:pt x="69" y="79"/>
                    </a:moveTo>
                    <a:cubicBezTo>
                      <a:pt x="74" y="73"/>
                      <a:pt x="79" y="66"/>
                      <a:pt x="82" y="57"/>
                    </a:cubicBezTo>
                    <a:cubicBezTo>
                      <a:pt x="87" y="44"/>
                      <a:pt x="86" y="27"/>
                      <a:pt x="83" y="12"/>
                    </a:cubicBezTo>
                    <a:cubicBezTo>
                      <a:pt x="50" y="0"/>
                      <a:pt x="50" y="0"/>
                      <a:pt x="50" y="0"/>
                    </a:cubicBezTo>
                    <a:cubicBezTo>
                      <a:pt x="38" y="9"/>
                      <a:pt x="26" y="22"/>
                      <a:pt x="21" y="35"/>
                    </a:cubicBezTo>
                    <a:cubicBezTo>
                      <a:pt x="18" y="44"/>
                      <a:pt x="17" y="52"/>
                      <a:pt x="17" y="60"/>
                    </a:cubicBezTo>
                    <a:cubicBezTo>
                      <a:pt x="11" y="64"/>
                      <a:pt x="5" y="70"/>
                      <a:pt x="2" y="78"/>
                    </a:cubicBezTo>
                    <a:cubicBezTo>
                      <a:pt x="0" y="83"/>
                      <a:pt x="0" y="88"/>
                      <a:pt x="0" y="93"/>
                    </a:cubicBezTo>
                    <a:cubicBezTo>
                      <a:pt x="6" y="86"/>
                      <a:pt x="15" y="82"/>
                      <a:pt x="24" y="81"/>
                    </a:cubicBezTo>
                    <a:cubicBezTo>
                      <a:pt x="26" y="87"/>
                      <a:pt x="29" y="92"/>
                      <a:pt x="33" y="97"/>
                    </a:cubicBezTo>
                    <a:cubicBezTo>
                      <a:pt x="39" y="95"/>
                      <a:pt x="45" y="93"/>
                      <a:pt x="50" y="91"/>
                    </a:cubicBezTo>
                    <a:cubicBezTo>
                      <a:pt x="57" y="97"/>
                      <a:pt x="61" y="106"/>
                      <a:pt x="61" y="115"/>
                    </a:cubicBezTo>
                    <a:cubicBezTo>
                      <a:pt x="64" y="111"/>
                      <a:pt x="67" y="107"/>
                      <a:pt x="69" y="103"/>
                    </a:cubicBezTo>
                    <a:cubicBezTo>
                      <a:pt x="72" y="95"/>
                      <a:pt x="71" y="86"/>
                      <a:pt x="69" y="79"/>
                    </a:cubicBezTo>
                    <a:close/>
                    <a:moveTo>
                      <a:pt x="63" y="16"/>
                    </a:moveTo>
                    <a:cubicBezTo>
                      <a:pt x="67" y="17"/>
                      <a:pt x="69" y="22"/>
                      <a:pt x="68" y="26"/>
                    </a:cubicBezTo>
                    <a:cubicBezTo>
                      <a:pt x="66" y="30"/>
                      <a:pt x="61" y="33"/>
                      <a:pt x="57" y="31"/>
                    </a:cubicBezTo>
                    <a:cubicBezTo>
                      <a:pt x="53" y="30"/>
                      <a:pt x="50" y="25"/>
                      <a:pt x="52" y="20"/>
                    </a:cubicBezTo>
                    <a:cubicBezTo>
                      <a:pt x="54" y="16"/>
                      <a:pt x="58" y="14"/>
                      <a:pt x="63" y="16"/>
                    </a:cubicBezTo>
                    <a:close/>
                    <a:moveTo>
                      <a:pt x="46" y="60"/>
                    </a:moveTo>
                    <a:cubicBezTo>
                      <a:pt x="40" y="58"/>
                      <a:pt x="37" y="51"/>
                      <a:pt x="39" y="45"/>
                    </a:cubicBezTo>
                    <a:cubicBezTo>
                      <a:pt x="42" y="39"/>
                      <a:pt x="48" y="36"/>
                      <a:pt x="54" y="38"/>
                    </a:cubicBezTo>
                    <a:cubicBezTo>
                      <a:pt x="60" y="41"/>
                      <a:pt x="64" y="47"/>
                      <a:pt x="61" y="53"/>
                    </a:cubicBezTo>
                    <a:cubicBezTo>
                      <a:pt x="59" y="59"/>
                      <a:pt x="52" y="63"/>
                      <a:pt x="46" y="60"/>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B2B2D"/>
                  </a:solidFill>
                  <a:effectLst/>
                  <a:uLnTx/>
                  <a:uFillTx/>
                  <a:latin typeface="Open Sans"/>
                  <a:ea typeface="+mn-ea"/>
                  <a:cs typeface="+mn-cs"/>
                </a:endParaRPr>
              </a:p>
            </p:txBody>
          </p:sp>
        </p:grpSp>
      </p:grpSp>
      <p:sp>
        <p:nvSpPr>
          <p:cNvPr id="27" name="Oval 26"/>
          <p:cNvSpPr>
            <a:spLocks noChangeAspect="1" noChangeArrowheads="1"/>
          </p:cNvSpPr>
          <p:nvPr/>
        </p:nvSpPr>
        <p:spPr bwMode="auto">
          <a:xfrm>
            <a:off x="2492380" y="3794963"/>
            <a:ext cx="612000" cy="612001"/>
          </a:xfrm>
          <a:prstGeom prst="ellipse">
            <a:avLst/>
          </a:prstGeom>
          <a:solidFill>
            <a:schemeClr val="accent2"/>
          </a:solidFill>
          <a:ln w="28575">
            <a:solidFill>
              <a:schemeClr val="accent2"/>
            </a:solid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E5CA2"/>
              </a:solidFill>
              <a:effectLst/>
              <a:uLnTx/>
              <a:uFillTx/>
              <a:latin typeface="Open Sans"/>
              <a:ea typeface="+mn-ea"/>
              <a:cs typeface="+mn-cs"/>
            </a:endParaRPr>
          </a:p>
        </p:txBody>
      </p:sp>
      <p:grpSp>
        <p:nvGrpSpPr>
          <p:cNvPr id="28" name="Group 9"/>
          <p:cNvGrpSpPr>
            <a:grpSpLocks noChangeAspect="1"/>
          </p:cNvGrpSpPr>
          <p:nvPr/>
        </p:nvGrpSpPr>
        <p:grpSpPr bwMode="auto">
          <a:xfrm>
            <a:off x="2638198" y="3835360"/>
            <a:ext cx="323850" cy="520700"/>
            <a:chOff x="1828" y="1716"/>
            <a:chExt cx="204" cy="328"/>
          </a:xfrm>
          <a:solidFill>
            <a:schemeClr val="bg1"/>
          </a:solidFill>
        </p:grpSpPr>
        <p:sp>
          <p:nvSpPr>
            <p:cNvPr id="29" name="Oval 10"/>
            <p:cNvSpPr>
              <a:spLocks noChangeArrowheads="1"/>
            </p:cNvSpPr>
            <p:nvPr/>
          </p:nvSpPr>
          <p:spPr bwMode="auto">
            <a:xfrm>
              <a:off x="1907" y="1757"/>
              <a:ext cx="34" cy="3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B2B2D"/>
                </a:solidFill>
                <a:effectLst/>
                <a:uLnTx/>
                <a:uFillTx/>
                <a:latin typeface="Open Sans"/>
                <a:ea typeface="+mn-ea"/>
                <a:cs typeface="+mn-cs"/>
              </a:endParaRPr>
            </a:p>
          </p:txBody>
        </p:sp>
        <p:sp>
          <p:nvSpPr>
            <p:cNvPr id="30" name="Freeform 11"/>
            <p:cNvSpPr>
              <a:spLocks noEditPoints="1"/>
            </p:cNvSpPr>
            <p:nvPr/>
          </p:nvSpPr>
          <p:spPr bwMode="auto">
            <a:xfrm>
              <a:off x="1828" y="1810"/>
              <a:ext cx="204" cy="234"/>
            </a:xfrm>
            <a:custGeom>
              <a:avLst/>
              <a:gdLst>
                <a:gd name="T0" fmla="*/ 76 w 83"/>
                <a:gd name="T1" fmla="*/ 80 h 97"/>
                <a:gd name="T2" fmla="*/ 54 w 83"/>
                <a:gd name="T3" fmla="*/ 50 h 97"/>
                <a:gd name="T4" fmla="*/ 50 w 83"/>
                <a:gd name="T5" fmla="*/ 46 h 97"/>
                <a:gd name="T6" fmla="*/ 50 w 83"/>
                <a:gd name="T7" fmla="*/ 14 h 97"/>
                <a:gd name="T8" fmla="*/ 55 w 83"/>
                <a:gd name="T9" fmla="*/ 7 h 97"/>
                <a:gd name="T10" fmla="*/ 52 w 83"/>
                <a:gd name="T11" fmla="*/ 0 h 97"/>
                <a:gd name="T12" fmla="*/ 31 w 83"/>
                <a:gd name="T13" fmla="*/ 0 h 97"/>
                <a:gd name="T14" fmla="*/ 28 w 83"/>
                <a:gd name="T15" fmla="*/ 7 h 97"/>
                <a:gd name="T16" fmla="*/ 33 w 83"/>
                <a:gd name="T17" fmla="*/ 14 h 97"/>
                <a:gd name="T18" fmla="*/ 33 w 83"/>
                <a:gd name="T19" fmla="*/ 46 h 97"/>
                <a:gd name="T20" fmla="*/ 29 w 83"/>
                <a:gd name="T21" fmla="*/ 50 h 97"/>
                <a:gd name="T22" fmla="*/ 7 w 83"/>
                <a:gd name="T23" fmla="*/ 80 h 97"/>
                <a:gd name="T24" fmla="*/ 16 w 83"/>
                <a:gd name="T25" fmla="*/ 97 h 97"/>
                <a:gd name="T26" fmla="*/ 67 w 83"/>
                <a:gd name="T27" fmla="*/ 97 h 97"/>
                <a:gd name="T28" fmla="*/ 76 w 83"/>
                <a:gd name="T29" fmla="*/ 80 h 97"/>
                <a:gd name="T30" fmla="*/ 23 w 83"/>
                <a:gd name="T31" fmla="*/ 88 h 97"/>
                <a:gd name="T32" fmla="*/ 17 w 83"/>
                <a:gd name="T33" fmla="*/ 81 h 97"/>
                <a:gd name="T34" fmla="*/ 23 w 83"/>
                <a:gd name="T35" fmla="*/ 74 h 97"/>
                <a:gd name="T36" fmla="*/ 30 w 83"/>
                <a:gd name="T37" fmla="*/ 81 h 97"/>
                <a:gd name="T38" fmla="*/ 23 w 83"/>
                <a:gd name="T39" fmla="*/ 88 h 97"/>
                <a:gd name="T40" fmla="*/ 39 w 83"/>
                <a:gd name="T41" fmla="*/ 79 h 97"/>
                <a:gd name="T42" fmla="*/ 34 w 83"/>
                <a:gd name="T43" fmla="*/ 74 h 97"/>
                <a:gd name="T44" fmla="*/ 39 w 83"/>
                <a:gd name="T45" fmla="*/ 69 h 97"/>
                <a:gd name="T46" fmla="*/ 44 w 83"/>
                <a:gd name="T47" fmla="*/ 74 h 97"/>
                <a:gd name="T48" fmla="*/ 39 w 83"/>
                <a:gd name="T49" fmla="*/ 79 h 97"/>
                <a:gd name="T50" fmla="*/ 46 w 83"/>
                <a:gd name="T51" fmla="*/ 67 h 97"/>
                <a:gd name="T52" fmla="*/ 41 w 83"/>
                <a:gd name="T53" fmla="*/ 62 h 97"/>
                <a:gd name="T54" fmla="*/ 46 w 83"/>
                <a:gd name="T55" fmla="*/ 57 h 97"/>
                <a:gd name="T56" fmla="*/ 51 w 83"/>
                <a:gd name="T57" fmla="*/ 62 h 97"/>
                <a:gd name="T58" fmla="*/ 46 w 83"/>
                <a:gd name="T59" fmla="*/ 67 h 97"/>
                <a:gd name="T60" fmla="*/ 58 w 83"/>
                <a:gd name="T61" fmla="*/ 88 h 97"/>
                <a:gd name="T62" fmla="*/ 51 w 83"/>
                <a:gd name="T63" fmla="*/ 81 h 97"/>
                <a:gd name="T64" fmla="*/ 58 w 83"/>
                <a:gd name="T65" fmla="*/ 74 h 97"/>
                <a:gd name="T66" fmla="*/ 65 w 83"/>
                <a:gd name="T67" fmla="*/ 81 h 97"/>
                <a:gd name="T68" fmla="*/ 58 w 83"/>
                <a:gd name="T69" fmla="*/ 8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83" h="97">
                  <a:moveTo>
                    <a:pt x="76" y="80"/>
                  </a:moveTo>
                  <a:cubicBezTo>
                    <a:pt x="54" y="50"/>
                    <a:pt x="54" y="50"/>
                    <a:pt x="54" y="50"/>
                  </a:cubicBezTo>
                  <a:cubicBezTo>
                    <a:pt x="53" y="48"/>
                    <a:pt x="52" y="47"/>
                    <a:pt x="50" y="46"/>
                  </a:cubicBezTo>
                  <a:cubicBezTo>
                    <a:pt x="50" y="14"/>
                    <a:pt x="50" y="14"/>
                    <a:pt x="50" y="14"/>
                  </a:cubicBezTo>
                  <a:cubicBezTo>
                    <a:pt x="55" y="7"/>
                    <a:pt x="55" y="7"/>
                    <a:pt x="55" y="7"/>
                  </a:cubicBezTo>
                  <a:cubicBezTo>
                    <a:pt x="58" y="3"/>
                    <a:pt x="57" y="0"/>
                    <a:pt x="52" y="0"/>
                  </a:cubicBezTo>
                  <a:cubicBezTo>
                    <a:pt x="31" y="0"/>
                    <a:pt x="31" y="0"/>
                    <a:pt x="31" y="0"/>
                  </a:cubicBezTo>
                  <a:cubicBezTo>
                    <a:pt x="26" y="0"/>
                    <a:pt x="25" y="3"/>
                    <a:pt x="28" y="7"/>
                  </a:cubicBezTo>
                  <a:cubicBezTo>
                    <a:pt x="33" y="14"/>
                    <a:pt x="33" y="14"/>
                    <a:pt x="33" y="14"/>
                  </a:cubicBezTo>
                  <a:cubicBezTo>
                    <a:pt x="33" y="46"/>
                    <a:pt x="33" y="46"/>
                    <a:pt x="33" y="46"/>
                  </a:cubicBezTo>
                  <a:cubicBezTo>
                    <a:pt x="31" y="47"/>
                    <a:pt x="30" y="48"/>
                    <a:pt x="29" y="50"/>
                  </a:cubicBezTo>
                  <a:cubicBezTo>
                    <a:pt x="7" y="80"/>
                    <a:pt x="7" y="80"/>
                    <a:pt x="7" y="80"/>
                  </a:cubicBezTo>
                  <a:cubicBezTo>
                    <a:pt x="0" y="89"/>
                    <a:pt x="4" y="97"/>
                    <a:pt x="16" y="97"/>
                  </a:cubicBezTo>
                  <a:cubicBezTo>
                    <a:pt x="67" y="97"/>
                    <a:pt x="67" y="97"/>
                    <a:pt x="67" y="97"/>
                  </a:cubicBezTo>
                  <a:cubicBezTo>
                    <a:pt x="79" y="97"/>
                    <a:pt x="83" y="89"/>
                    <a:pt x="76" y="80"/>
                  </a:cubicBezTo>
                  <a:close/>
                  <a:moveTo>
                    <a:pt x="23" y="88"/>
                  </a:moveTo>
                  <a:cubicBezTo>
                    <a:pt x="20" y="88"/>
                    <a:pt x="17" y="85"/>
                    <a:pt x="17" y="81"/>
                  </a:cubicBezTo>
                  <a:cubicBezTo>
                    <a:pt x="17" y="77"/>
                    <a:pt x="20" y="74"/>
                    <a:pt x="23" y="74"/>
                  </a:cubicBezTo>
                  <a:cubicBezTo>
                    <a:pt x="27" y="74"/>
                    <a:pt x="30" y="77"/>
                    <a:pt x="30" y="81"/>
                  </a:cubicBezTo>
                  <a:cubicBezTo>
                    <a:pt x="30" y="85"/>
                    <a:pt x="27" y="88"/>
                    <a:pt x="23" y="88"/>
                  </a:cubicBezTo>
                  <a:close/>
                  <a:moveTo>
                    <a:pt x="39" y="79"/>
                  </a:moveTo>
                  <a:cubicBezTo>
                    <a:pt x="36" y="79"/>
                    <a:pt x="34" y="77"/>
                    <a:pt x="34" y="74"/>
                  </a:cubicBezTo>
                  <a:cubicBezTo>
                    <a:pt x="34" y="71"/>
                    <a:pt x="36" y="69"/>
                    <a:pt x="39" y="69"/>
                  </a:cubicBezTo>
                  <a:cubicBezTo>
                    <a:pt x="42" y="69"/>
                    <a:pt x="45" y="71"/>
                    <a:pt x="44" y="74"/>
                  </a:cubicBezTo>
                  <a:cubicBezTo>
                    <a:pt x="44" y="77"/>
                    <a:pt x="42" y="79"/>
                    <a:pt x="39" y="79"/>
                  </a:cubicBezTo>
                  <a:close/>
                  <a:moveTo>
                    <a:pt x="46" y="67"/>
                  </a:moveTo>
                  <a:cubicBezTo>
                    <a:pt x="43" y="67"/>
                    <a:pt x="41" y="65"/>
                    <a:pt x="41" y="62"/>
                  </a:cubicBezTo>
                  <a:cubicBezTo>
                    <a:pt x="41" y="59"/>
                    <a:pt x="43" y="57"/>
                    <a:pt x="46" y="57"/>
                  </a:cubicBezTo>
                  <a:cubicBezTo>
                    <a:pt x="49" y="57"/>
                    <a:pt x="51" y="59"/>
                    <a:pt x="51" y="62"/>
                  </a:cubicBezTo>
                  <a:cubicBezTo>
                    <a:pt x="51" y="65"/>
                    <a:pt x="49" y="67"/>
                    <a:pt x="46" y="67"/>
                  </a:cubicBezTo>
                  <a:close/>
                  <a:moveTo>
                    <a:pt x="58" y="88"/>
                  </a:moveTo>
                  <a:cubicBezTo>
                    <a:pt x="54" y="88"/>
                    <a:pt x="51" y="85"/>
                    <a:pt x="51" y="81"/>
                  </a:cubicBezTo>
                  <a:cubicBezTo>
                    <a:pt x="51" y="77"/>
                    <a:pt x="54" y="74"/>
                    <a:pt x="58" y="74"/>
                  </a:cubicBezTo>
                  <a:cubicBezTo>
                    <a:pt x="62" y="74"/>
                    <a:pt x="65" y="77"/>
                    <a:pt x="65" y="81"/>
                  </a:cubicBezTo>
                  <a:cubicBezTo>
                    <a:pt x="65" y="85"/>
                    <a:pt x="62" y="88"/>
                    <a:pt x="58" y="8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B2B2D"/>
                </a:solidFill>
                <a:effectLst/>
                <a:uLnTx/>
                <a:uFillTx/>
                <a:latin typeface="Open Sans"/>
                <a:ea typeface="+mn-ea"/>
                <a:cs typeface="+mn-cs"/>
              </a:endParaRPr>
            </a:p>
          </p:txBody>
        </p:sp>
        <p:sp>
          <p:nvSpPr>
            <p:cNvPr id="31" name="Oval 12"/>
            <p:cNvSpPr>
              <a:spLocks noChangeArrowheads="1"/>
            </p:cNvSpPr>
            <p:nvPr/>
          </p:nvSpPr>
          <p:spPr bwMode="auto">
            <a:xfrm>
              <a:off x="1963" y="1728"/>
              <a:ext cx="27" cy="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B2B2D"/>
                </a:solidFill>
                <a:effectLst/>
                <a:uLnTx/>
                <a:uFillTx/>
                <a:latin typeface="Open Sans"/>
                <a:ea typeface="+mn-ea"/>
                <a:cs typeface="+mn-cs"/>
              </a:endParaRPr>
            </a:p>
          </p:txBody>
        </p:sp>
        <p:sp>
          <p:nvSpPr>
            <p:cNvPr id="32" name="Oval 13"/>
            <p:cNvSpPr>
              <a:spLocks noChangeArrowheads="1"/>
            </p:cNvSpPr>
            <p:nvPr/>
          </p:nvSpPr>
          <p:spPr bwMode="auto">
            <a:xfrm>
              <a:off x="1890" y="1716"/>
              <a:ext cx="27" cy="2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B2B2D"/>
                </a:solidFill>
                <a:effectLst/>
                <a:uLnTx/>
                <a:uFillTx/>
                <a:latin typeface="Open Sans"/>
                <a:ea typeface="+mn-ea"/>
                <a:cs typeface="+mn-cs"/>
              </a:endParaRPr>
            </a:p>
          </p:txBody>
        </p:sp>
      </p:grpSp>
      <p:grpSp>
        <p:nvGrpSpPr>
          <p:cNvPr id="33" name="Group 32"/>
          <p:cNvGrpSpPr/>
          <p:nvPr/>
        </p:nvGrpSpPr>
        <p:grpSpPr>
          <a:xfrm>
            <a:off x="3451233" y="2988907"/>
            <a:ext cx="612000" cy="612001"/>
            <a:chOff x="6096000" y="3472622"/>
            <a:chExt cx="612000" cy="612001"/>
          </a:xfrm>
        </p:grpSpPr>
        <p:sp>
          <p:nvSpPr>
            <p:cNvPr id="34" name="Oval 33"/>
            <p:cNvSpPr>
              <a:spLocks noChangeAspect="1" noChangeArrowheads="1"/>
            </p:cNvSpPr>
            <p:nvPr/>
          </p:nvSpPr>
          <p:spPr bwMode="auto">
            <a:xfrm>
              <a:off x="6096000" y="3472622"/>
              <a:ext cx="612000" cy="612001"/>
            </a:xfrm>
            <a:prstGeom prst="ellipse">
              <a:avLst/>
            </a:prstGeom>
            <a:solidFill>
              <a:schemeClr val="accent4"/>
            </a:solidFill>
            <a:ln w="28575">
              <a:solidFill>
                <a:schemeClr val="accent4"/>
              </a:solid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E5CA2"/>
                </a:solidFill>
                <a:effectLst/>
                <a:uLnTx/>
                <a:uFillTx/>
                <a:latin typeface="Open Sans"/>
                <a:ea typeface="+mn-ea"/>
                <a:cs typeface="+mn-cs"/>
              </a:endParaRPr>
            </a:p>
          </p:txBody>
        </p:sp>
        <p:sp>
          <p:nvSpPr>
            <p:cNvPr id="35" name="Freeform 21"/>
            <p:cNvSpPr>
              <a:spLocks/>
            </p:cNvSpPr>
            <p:nvPr/>
          </p:nvSpPr>
          <p:spPr bwMode="auto">
            <a:xfrm>
              <a:off x="6172200" y="3589343"/>
              <a:ext cx="404813" cy="331788"/>
            </a:xfrm>
            <a:custGeom>
              <a:avLst/>
              <a:gdLst>
                <a:gd name="T0" fmla="*/ 255 w 255"/>
                <a:gd name="T1" fmla="*/ 0 h 209"/>
                <a:gd name="T2" fmla="*/ 75 w 255"/>
                <a:gd name="T3" fmla="*/ 168 h 209"/>
                <a:gd name="T4" fmla="*/ 55 w 255"/>
                <a:gd name="T5" fmla="*/ 158 h 209"/>
                <a:gd name="T6" fmla="*/ 255 w 255"/>
                <a:gd name="T7" fmla="*/ 0 h 209"/>
                <a:gd name="T8" fmla="*/ 0 w 255"/>
                <a:gd name="T9" fmla="*/ 107 h 209"/>
                <a:gd name="T10" fmla="*/ 53 w 255"/>
                <a:gd name="T11" fmla="*/ 158 h 209"/>
                <a:gd name="T12" fmla="*/ 51 w 255"/>
                <a:gd name="T13" fmla="*/ 156 h 209"/>
                <a:gd name="T14" fmla="*/ 51 w 255"/>
                <a:gd name="T15" fmla="*/ 209 h 209"/>
                <a:gd name="T16" fmla="*/ 97 w 255"/>
                <a:gd name="T17" fmla="*/ 178 h 209"/>
                <a:gd name="T18" fmla="*/ 174 w 255"/>
                <a:gd name="T19" fmla="*/ 205 h 209"/>
                <a:gd name="T20" fmla="*/ 255 w 255"/>
                <a:gd name="T21" fmla="*/ 0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5" h="209">
                  <a:moveTo>
                    <a:pt x="255" y="0"/>
                  </a:moveTo>
                  <a:lnTo>
                    <a:pt x="75" y="168"/>
                  </a:lnTo>
                  <a:lnTo>
                    <a:pt x="55" y="158"/>
                  </a:lnTo>
                  <a:lnTo>
                    <a:pt x="255" y="0"/>
                  </a:lnTo>
                  <a:lnTo>
                    <a:pt x="0" y="107"/>
                  </a:lnTo>
                  <a:lnTo>
                    <a:pt x="53" y="158"/>
                  </a:lnTo>
                  <a:lnTo>
                    <a:pt x="51" y="156"/>
                  </a:lnTo>
                  <a:lnTo>
                    <a:pt x="51" y="209"/>
                  </a:lnTo>
                  <a:lnTo>
                    <a:pt x="97" y="178"/>
                  </a:lnTo>
                  <a:lnTo>
                    <a:pt x="174" y="205"/>
                  </a:lnTo>
                  <a:lnTo>
                    <a:pt x="255"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B2B2D"/>
                </a:solidFill>
                <a:effectLst/>
                <a:uLnTx/>
                <a:uFillTx/>
                <a:latin typeface="Open Sans"/>
                <a:ea typeface="+mn-ea"/>
                <a:cs typeface="+mn-cs"/>
              </a:endParaRPr>
            </a:p>
          </p:txBody>
        </p:sp>
      </p:grpSp>
      <p:grpSp>
        <p:nvGrpSpPr>
          <p:cNvPr id="36" name="Group 35"/>
          <p:cNvGrpSpPr/>
          <p:nvPr/>
        </p:nvGrpSpPr>
        <p:grpSpPr>
          <a:xfrm>
            <a:off x="4356099" y="2210054"/>
            <a:ext cx="612000" cy="612001"/>
            <a:chOff x="10072729" y="2689543"/>
            <a:chExt cx="612000" cy="612001"/>
          </a:xfrm>
        </p:grpSpPr>
        <p:sp>
          <p:nvSpPr>
            <p:cNvPr id="37" name="Oval 36"/>
            <p:cNvSpPr>
              <a:spLocks noChangeAspect="1" noChangeArrowheads="1"/>
            </p:cNvSpPr>
            <p:nvPr/>
          </p:nvSpPr>
          <p:spPr bwMode="auto">
            <a:xfrm>
              <a:off x="10072729" y="2689543"/>
              <a:ext cx="612000" cy="612001"/>
            </a:xfrm>
            <a:prstGeom prst="ellipse">
              <a:avLst/>
            </a:prstGeom>
            <a:solidFill>
              <a:schemeClr val="accent5"/>
            </a:solidFill>
            <a:ln w="28575">
              <a:solidFill>
                <a:schemeClr val="accent5"/>
              </a:solid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E5CA2"/>
                </a:solidFill>
                <a:effectLst/>
                <a:uLnTx/>
                <a:uFillTx/>
                <a:latin typeface="Open Sans"/>
                <a:ea typeface="+mn-ea"/>
                <a:cs typeface="+mn-cs"/>
              </a:endParaRPr>
            </a:p>
          </p:txBody>
        </p:sp>
        <p:grpSp>
          <p:nvGrpSpPr>
            <p:cNvPr id="38" name="Group 24"/>
            <p:cNvGrpSpPr>
              <a:grpSpLocks noChangeAspect="1"/>
            </p:cNvGrpSpPr>
            <p:nvPr/>
          </p:nvGrpSpPr>
          <p:grpSpPr bwMode="auto">
            <a:xfrm>
              <a:off x="10156172" y="2778551"/>
              <a:ext cx="465137" cy="430213"/>
              <a:chOff x="6999" y="2886"/>
              <a:chExt cx="293" cy="271"/>
            </a:xfrm>
            <a:solidFill>
              <a:schemeClr val="bg1"/>
            </a:solidFill>
          </p:grpSpPr>
          <p:sp>
            <p:nvSpPr>
              <p:cNvPr id="39" name="Freeform 25"/>
              <p:cNvSpPr>
                <a:spLocks/>
              </p:cNvSpPr>
              <p:nvPr/>
            </p:nvSpPr>
            <p:spPr bwMode="auto">
              <a:xfrm>
                <a:off x="7190" y="2907"/>
                <a:ext cx="70" cy="83"/>
              </a:xfrm>
              <a:custGeom>
                <a:avLst/>
                <a:gdLst>
                  <a:gd name="T0" fmla="*/ 9 w 29"/>
                  <a:gd name="T1" fmla="*/ 33 h 34"/>
                  <a:gd name="T2" fmla="*/ 15 w 29"/>
                  <a:gd name="T3" fmla="*/ 34 h 34"/>
                  <a:gd name="T4" fmla="*/ 9 w 29"/>
                  <a:gd name="T5" fmla="*/ 33 h 34"/>
                  <a:gd name="T6" fmla="*/ 7 w 29"/>
                  <a:gd name="T7" fmla="*/ 31 h 34"/>
                  <a:gd name="T8" fmla="*/ 5 w 29"/>
                  <a:gd name="T9" fmla="*/ 29 h 34"/>
                  <a:gd name="T10" fmla="*/ 3 w 29"/>
                  <a:gd name="T11" fmla="*/ 28 h 34"/>
                  <a:gd name="T12" fmla="*/ 2 w 29"/>
                  <a:gd name="T13" fmla="*/ 25 h 34"/>
                  <a:gd name="T14" fmla="*/ 1 w 29"/>
                  <a:gd name="T15" fmla="*/ 23 h 34"/>
                  <a:gd name="T16" fmla="*/ 0 w 29"/>
                  <a:gd name="T17" fmla="*/ 20 h 34"/>
                  <a:gd name="T18" fmla="*/ 0 w 29"/>
                  <a:gd name="T19" fmla="*/ 16 h 34"/>
                  <a:gd name="T20" fmla="*/ 0 w 29"/>
                  <a:gd name="T21" fmla="*/ 13 h 34"/>
                  <a:gd name="T22" fmla="*/ 1 w 29"/>
                  <a:gd name="T23" fmla="*/ 10 h 34"/>
                  <a:gd name="T24" fmla="*/ 4 w 29"/>
                  <a:gd name="T25" fmla="*/ 6 h 34"/>
                  <a:gd name="T26" fmla="*/ 8 w 29"/>
                  <a:gd name="T27" fmla="*/ 2 h 34"/>
                  <a:gd name="T28" fmla="*/ 12 w 29"/>
                  <a:gd name="T29" fmla="*/ 0 h 34"/>
                  <a:gd name="T30" fmla="*/ 16 w 29"/>
                  <a:gd name="T31" fmla="*/ 0 h 34"/>
                  <a:gd name="T32" fmla="*/ 20 w 29"/>
                  <a:gd name="T33" fmla="*/ 2 h 34"/>
                  <a:gd name="T34" fmla="*/ 24 w 29"/>
                  <a:gd name="T35" fmla="*/ 4 h 34"/>
                  <a:gd name="T36" fmla="*/ 26 w 29"/>
                  <a:gd name="T37" fmla="*/ 6 h 34"/>
                  <a:gd name="T38" fmla="*/ 27 w 29"/>
                  <a:gd name="T39" fmla="*/ 8 h 34"/>
                  <a:gd name="T40" fmla="*/ 28 w 29"/>
                  <a:gd name="T41" fmla="*/ 10 h 34"/>
                  <a:gd name="T42" fmla="*/ 29 w 29"/>
                  <a:gd name="T43" fmla="*/ 13 h 34"/>
                  <a:gd name="T44" fmla="*/ 29 w 29"/>
                  <a:gd name="T45" fmla="*/ 17 h 34"/>
                  <a:gd name="T46" fmla="*/ 29 w 29"/>
                  <a:gd name="T47" fmla="*/ 20 h 34"/>
                  <a:gd name="T48" fmla="*/ 28 w 29"/>
                  <a:gd name="T49" fmla="*/ 23 h 34"/>
                  <a:gd name="T50" fmla="*/ 26 w 29"/>
                  <a:gd name="T51" fmla="*/ 27 h 34"/>
                  <a:gd name="T52" fmla="*/ 18 w 29"/>
                  <a:gd name="T53" fmla="*/ 33 h 34"/>
                  <a:gd name="T54" fmla="*/ 14 w 29"/>
                  <a:gd name="T55" fmla="*/ 34 h 34"/>
                  <a:gd name="T56" fmla="*/ 11 w 29"/>
                  <a:gd name="T57" fmla="*/ 33 h 34"/>
                  <a:gd name="T58" fmla="*/ 10 w 29"/>
                  <a:gd name="T59" fmla="*/ 33 h 34"/>
                  <a:gd name="T60" fmla="*/ 9 w 29"/>
                  <a:gd name="T61"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9" h="34">
                    <a:moveTo>
                      <a:pt x="9" y="33"/>
                    </a:moveTo>
                    <a:cubicBezTo>
                      <a:pt x="11" y="33"/>
                      <a:pt x="12" y="34"/>
                      <a:pt x="15" y="34"/>
                    </a:cubicBezTo>
                    <a:cubicBezTo>
                      <a:pt x="12" y="34"/>
                      <a:pt x="11" y="33"/>
                      <a:pt x="9" y="33"/>
                    </a:cubicBezTo>
                    <a:cubicBezTo>
                      <a:pt x="8" y="32"/>
                      <a:pt x="7" y="32"/>
                      <a:pt x="7" y="31"/>
                    </a:cubicBezTo>
                    <a:cubicBezTo>
                      <a:pt x="6" y="31"/>
                      <a:pt x="6" y="30"/>
                      <a:pt x="5" y="29"/>
                    </a:cubicBezTo>
                    <a:cubicBezTo>
                      <a:pt x="4" y="29"/>
                      <a:pt x="4" y="29"/>
                      <a:pt x="3" y="28"/>
                    </a:cubicBezTo>
                    <a:cubicBezTo>
                      <a:pt x="2" y="27"/>
                      <a:pt x="2" y="26"/>
                      <a:pt x="2" y="25"/>
                    </a:cubicBezTo>
                    <a:cubicBezTo>
                      <a:pt x="2" y="25"/>
                      <a:pt x="1" y="24"/>
                      <a:pt x="1" y="23"/>
                    </a:cubicBezTo>
                    <a:cubicBezTo>
                      <a:pt x="0" y="22"/>
                      <a:pt x="0" y="21"/>
                      <a:pt x="0" y="20"/>
                    </a:cubicBezTo>
                    <a:cubicBezTo>
                      <a:pt x="0" y="19"/>
                      <a:pt x="0" y="17"/>
                      <a:pt x="0" y="16"/>
                    </a:cubicBezTo>
                    <a:cubicBezTo>
                      <a:pt x="0" y="14"/>
                      <a:pt x="0" y="14"/>
                      <a:pt x="0" y="13"/>
                    </a:cubicBezTo>
                    <a:cubicBezTo>
                      <a:pt x="1" y="12"/>
                      <a:pt x="1" y="11"/>
                      <a:pt x="1" y="10"/>
                    </a:cubicBezTo>
                    <a:cubicBezTo>
                      <a:pt x="2" y="9"/>
                      <a:pt x="3" y="7"/>
                      <a:pt x="4" y="6"/>
                    </a:cubicBezTo>
                    <a:cubicBezTo>
                      <a:pt x="5" y="4"/>
                      <a:pt x="7" y="3"/>
                      <a:pt x="8" y="2"/>
                    </a:cubicBezTo>
                    <a:cubicBezTo>
                      <a:pt x="8" y="2"/>
                      <a:pt x="10" y="1"/>
                      <a:pt x="12" y="0"/>
                    </a:cubicBezTo>
                    <a:cubicBezTo>
                      <a:pt x="13" y="0"/>
                      <a:pt x="15" y="0"/>
                      <a:pt x="16" y="0"/>
                    </a:cubicBezTo>
                    <a:cubicBezTo>
                      <a:pt x="18" y="1"/>
                      <a:pt x="19" y="1"/>
                      <a:pt x="20" y="2"/>
                    </a:cubicBezTo>
                    <a:cubicBezTo>
                      <a:pt x="22" y="3"/>
                      <a:pt x="24" y="4"/>
                      <a:pt x="24" y="4"/>
                    </a:cubicBezTo>
                    <a:cubicBezTo>
                      <a:pt x="25" y="5"/>
                      <a:pt x="25" y="5"/>
                      <a:pt x="26" y="6"/>
                    </a:cubicBezTo>
                    <a:cubicBezTo>
                      <a:pt x="26" y="7"/>
                      <a:pt x="27" y="8"/>
                      <a:pt x="27" y="8"/>
                    </a:cubicBezTo>
                    <a:cubicBezTo>
                      <a:pt x="27" y="9"/>
                      <a:pt x="28" y="9"/>
                      <a:pt x="28" y="10"/>
                    </a:cubicBezTo>
                    <a:cubicBezTo>
                      <a:pt x="28" y="11"/>
                      <a:pt x="28" y="11"/>
                      <a:pt x="29" y="13"/>
                    </a:cubicBezTo>
                    <a:cubicBezTo>
                      <a:pt x="29" y="14"/>
                      <a:pt x="29" y="16"/>
                      <a:pt x="29" y="17"/>
                    </a:cubicBezTo>
                    <a:cubicBezTo>
                      <a:pt x="29" y="19"/>
                      <a:pt x="29" y="19"/>
                      <a:pt x="29" y="20"/>
                    </a:cubicBezTo>
                    <a:cubicBezTo>
                      <a:pt x="29" y="21"/>
                      <a:pt x="29" y="22"/>
                      <a:pt x="28" y="23"/>
                    </a:cubicBezTo>
                    <a:cubicBezTo>
                      <a:pt x="28" y="24"/>
                      <a:pt x="27" y="26"/>
                      <a:pt x="26" y="27"/>
                    </a:cubicBezTo>
                    <a:cubicBezTo>
                      <a:pt x="24" y="30"/>
                      <a:pt x="21" y="32"/>
                      <a:pt x="18" y="33"/>
                    </a:cubicBezTo>
                    <a:cubicBezTo>
                      <a:pt x="17" y="34"/>
                      <a:pt x="15" y="34"/>
                      <a:pt x="14" y="34"/>
                    </a:cubicBezTo>
                    <a:cubicBezTo>
                      <a:pt x="12" y="34"/>
                      <a:pt x="11" y="34"/>
                      <a:pt x="11" y="33"/>
                    </a:cubicBezTo>
                    <a:cubicBezTo>
                      <a:pt x="11" y="33"/>
                      <a:pt x="10" y="33"/>
                      <a:pt x="10" y="33"/>
                    </a:cubicBezTo>
                    <a:cubicBezTo>
                      <a:pt x="10" y="33"/>
                      <a:pt x="9" y="33"/>
                      <a:pt x="9" y="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B2B2D"/>
                  </a:solidFill>
                  <a:effectLst/>
                  <a:uLnTx/>
                  <a:uFillTx/>
                  <a:latin typeface="Open Sans"/>
                  <a:ea typeface="+mn-ea"/>
                  <a:cs typeface="+mn-cs"/>
                </a:endParaRPr>
              </a:p>
            </p:txBody>
          </p:sp>
          <p:sp>
            <p:nvSpPr>
              <p:cNvPr id="40" name="Freeform 26"/>
              <p:cNvSpPr>
                <a:spLocks noEditPoints="1"/>
              </p:cNvSpPr>
              <p:nvPr/>
            </p:nvSpPr>
            <p:spPr bwMode="auto">
              <a:xfrm>
                <a:off x="7159" y="2999"/>
                <a:ext cx="133" cy="158"/>
              </a:xfrm>
              <a:custGeom>
                <a:avLst/>
                <a:gdLst>
                  <a:gd name="T0" fmla="*/ 55 w 55"/>
                  <a:gd name="T1" fmla="*/ 42 h 65"/>
                  <a:gd name="T2" fmla="*/ 55 w 55"/>
                  <a:gd name="T3" fmla="*/ 39 h 65"/>
                  <a:gd name="T4" fmla="*/ 54 w 55"/>
                  <a:gd name="T5" fmla="*/ 33 h 65"/>
                  <a:gd name="T6" fmla="*/ 54 w 55"/>
                  <a:gd name="T7" fmla="*/ 27 h 65"/>
                  <a:gd name="T8" fmla="*/ 53 w 55"/>
                  <a:gd name="T9" fmla="*/ 25 h 65"/>
                  <a:gd name="T10" fmla="*/ 52 w 55"/>
                  <a:gd name="T11" fmla="*/ 20 h 65"/>
                  <a:gd name="T12" fmla="*/ 50 w 55"/>
                  <a:gd name="T13" fmla="*/ 15 h 65"/>
                  <a:gd name="T14" fmla="*/ 48 w 55"/>
                  <a:gd name="T15" fmla="*/ 11 h 65"/>
                  <a:gd name="T16" fmla="*/ 47 w 55"/>
                  <a:gd name="T17" fmla="*/ 9 h 65"/>
                  <a:gd name="T18" fmla="*/ 45 w 55"/>
                  <a:gd name="T19" fmla="*/ 5 h 65"/>
                  <a:gd name="T20" fmla="*/ 44 w 55"/>
                  <a:gd name="T21" fmla="*/ 3 h 65"/>
                  <a:gd name="T22" fmla="*/ 41 w 55"/>
                  <a:gd name="T23" fmla="*/ 0 h 65"/>
                  <a:gd name="T24" fmla="*/ 34 w 55"/>
                  <a:gd name="T25" fmla="*/ 5 h 65"/>
                  <a:gd name="T26" fmla="*/ 15 w 55"/>
                  <a:gd name="T27" fmla="*/ 3 h 65"/>
                  <a:gd name="T28" fmla="*/ 14 w 55"/>
                  <a:gd name="T29" fmla="*/ 0 h 65"/>
                  <a:gd name="T30" fmla="*/ 2 w 55"/>
                  <a:gd name="T31" fmla="*/ 25 h 65"/>
                  <a:gd name="T32" fmla="*/ 1 w 55"/>
                  <a:gd name="T33" fmla="*/ 30 h 65"/>
                  <a:gd name="T34" fmla="*/ 0 w 55"/>
                  <a:gd name="T35" fmla="*/ 36 h 65"/>
                  <a:gd name="T36" fmla="*/ 0 w 55"/>
                  <a:gd name="T37" fmla="*/ 48 h 65"/>
                  <a:gd name="T38" fmla="*/ 0 w 55"/>
                  <a:gd name="T39" fmla="*/ 49 h 65"/>
                  <a:gd name="T40" fmla="*/ 0 w 55"/>
                  <a:gd name="T41" fmla="*/ 51 h 65"/>
                  <a:gd name="T42" fmla="*/ 0 w 55"/>
                  <a:gd name="T43" fmla="*/ 51 h 65"/>
                  <a:gd name="T44" fmla="*/ 0 w 55"/>
                  <a:gd name="T45" fmla="*/ 54 h 65"/>
                  <a:gd name="T46" fmla="*/ 0 w 55"/>
                  <a:gd name="T47" fmla="*/ 56 h 65"/>
                  <a:gd name="T48" fmla="*/ 3 w 55"/>
                  <a:gd name="T49" fmla="*/ 59 h 65"/>
                  <a:gd name="T50" fmla="*/ 40 w 55"/>
                  <a:gd name="T51" fmla="*/ 63 h 65"/>
                  <a:gd name="T52" fmla="*/ 55 w 55"/>
                  <a:gd name="T53" fmla="*/ 56 h 65"/>
                  <a:gd name="T54" fmla="*/ 55 w 55"/>
                  <a:gd name="T55" fmla="*/ 56 h 65"/>
                  <a:gd name="T56" fmla="*/ 55 w 55"/>
                  <a:gd name="T57" fmla="*/ 55 h 65"/>
                  <a:gd name="T58" fmla="*/ 55 w 55"/>
                  <a:gd name="T59" fmla="*/ 55 h 65"/>
                  <a:gd name="T60" fmla="*/ 55 w 55"/>
                  <a:gd name="T61" fmla="*/ 54 h 65"/>
                  <a:gd name="T62" fmla="*/ 55 w 55"/>
                  <a:gd name="T63" fmla="*/ 52 h 65"/>
                  <a:gd name="T64" fmla="*/ 55 w 55"/>
                  <a:gd name="T65" fmla="*/ 50 h 65"/>
                  <a:gd name="T66" fmla="*/ 55 w 55"/>
                  <a:gd name="T67" fmla="*/ 50 h 65"/>
                  <a:gd name="T68" fmla="*/ 55 w 55"/>
                  <a:gd name="T69" fmla="*/ 48 h 65"/>
                  <a:gd name="T70" fmla="*/ 55 w 55"/>
                  <a:gd name="T71" fmla="*/ 42 h 65"/>
                  <a:gd name="T72" fmla="*/ 20 w 55"/>
                  <a:gd name="T73" fmla="*/ 8 h 65"/>
                  <a:gd name="T74" fmla="*/ 27 w 55"/>
                  <a:gd name="T75" fmla="*/ 8 h 65"/>
                  <a:gd name="T76" fmla="*/ 29 w 55"/>
                  <a:gd name="T77" fmla="*/ 10 h 65"/>
                  <a:gd name="T78" fmla="*/ 28 w 55"/>
                  <a:gd name="T79" fmla="*/ 14 h 65"/>
                  <a:gd name="T80" fmla="*/ 24 w 55"/>
                  <a:gd name="T81" fmla="*/ 16 h 65"/>
                  <a:gd name="T82" fmla="*/ 23 w 55"/>
                  <a:gd name="T83" fmla="*/ 16 h 65"/>
                  <a:gd name="T84" fmla="*/ 19 w 55"/>
                  <a:gd name="T85" fmla="*/ 13 h 65"/>
                  <a:gd name="T86" fmla="*/ 18 w 55"/>
                  <a:gd name="T87" fmla="*/ 9 h 65"/>
                  <a:gd name="T88" fmla="*/ 20 w 55"/>
                  <a:gd name="T89" fmla="*/ 8 h 65"/>
                  <a:gd name="T90" fmla="*/ 31 w 55"/>
                  <a:gd name="T91" fmla="*/ 52 h 65"/>
                  <a:gd name="T92" fmla="*/ 16 w 55"/>
                  <a:gd name="T93" fmla="*/ 51 h 65"/>
                  <a:gd name="T94" fmla="*/ 14 w 55"/>
                  <a:gd name="T95" fmla="*/ 48 h 65"/>
                  <a:gd name="T96" fmla="*/ 19 w 55"/>
                  <a:gd name="T97" fmla="*/ 20 h 65"/>
                  <a:gd name="T98" fmla="*/ 22 w 55"/>
                  <a:gd name="T99" fmla="*/ 18 h 65"/>
                  <a:gd name="T100" fmla="*/ 25 w 55"/>
                  <a:gd name="T101" fmla="*/ 18 h 65"/>
                  <a:gd name="T102" fmla="*/ 27 w 55"/>
                  <a:gd name="T103" fmla="*/ 20 h 65"/>
                  <a:gd name="T104" fmla="*/ 33 w 55"/>
                  <a:gd name="T105" fmla="*/ 50 h 65"/>
                  <a:gd name="T106" fmla="*/ 31 w 55"/>
                  <a:gd name="T107" fmla="*/ 5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5" h="65">
                    <a:moveTo>
                      <a:pt x="55" y="42"/>
                    </a:moveTo>
                    <a:cubicBezTo>
                      <a:pt x="55" y="41"/>
                      <a:pt x="55" y="39"/>
                      <a:pt x="55" y="39"/>
                    </a:cubicBezTo>
                    <a:cubicBezTo>
                      <a:pt x="55" y="35"/>
                      <a:pt x="55" y="35"/>
                      <a:pt x="54" y="33"/>
                    </a:cubicBezTo>
                    <a:cubicBezTo>
                      <a:pt x="54" y="30"/>
                      <a:pt x="54" y="27"/>
                      <a:pt x="54" y="27"/>
                    </a:cubicBezTo>
                    <a:cubicBezTo>
                      <a:pt x="53" y="27"/>
                      <a:pt x="53" y="25"/>
                      <a:pt x="53" y="25"/>
                    </a:cubicBezTo>
                    <a:cubicBezTo>
                      <a:pt x="53" y="23"/>
                      <a:pt x="52" y="21"/>
                      <a:pt x="52" y="20"/>
                    </a:cubicBezTo>
                    <a:cubicBezTo>
                      <a:pt x="51" y="18"/>
                      <a:pt x="50" y="16"/>
                      <a:pt x="50" y="15"/>
                    </a:cubicBezTo>
                    <a:cubicBezTo>
                      <a:pt x="49" y="14"/>
                      <a:pt x="49" y="12"/>
                      <a:pt x="48" y="11"/>
                    </a:cubicBezTo>
                    <a:cubicBezTo>
                      <a:pt x="48" y="10"/>
                      <a:pt x="47" y="9"/>
                      <a:pt x="47" y="9"/>
                    </a:cubicBezTo>
                    <a:cubicBezTo>
                      <a:pt x="46" y="7"/>
                      <a:pt x="45" y="5"/>
                      <a:pt x="45" y="5"/>
                    </a:cubicBezTo>
                    <a:cubicBezTo>
                      <a:pt x="45" y="5"/>
                      <a:pt x="44" y="4"/>
                      <a:pt x="44" y="3"/>
                    </a:cubicBezTo>
                    <a:cubicBezTo>
                      <a:pt x="43" y="2"/>
                      <a:pt x="42" y="1"/>
                      <a:pt x="41" y="0"/>
                    </a:cubicBezTo>
                    <a:cubicBezTo>
                      <a:pt x="43" y="2"/>
                      <a:pt x="40" y="4"/>
                      <a:pt x="34" y="5"/>
                    </a:cubicBezTo>
                    <a:cubicBezTo>
                      <a:pt x="27" y="6"/>
                      <a:pt x="18" y="5"/>
                      <a:pt x="15" y="3"/>
                    </a:cubicBezTo>
                    <a:cubicBezTo>
                      <a:pt x="14" y="2"/>
                      <a:pt x="13" y="1"/>
                      <a:pt x="14" y="0"/>
                    </a:cubicBezTo>
                    <a:cubicBezTo>
                      <a:pt x="6" y="9"/>
                      <a:pt x="3" y="21"/>
                      <a:pt x="2" y="25"/>
                    </a:cubicBezTo>
                    <a:cubicBezTo>
                      <a:pt x="2" y="25"/>
                      <a:pt x="2" y="27"/>
                      <a:pt x="1" y="30"/>
                    </a:cubicBezTo>
                    <a:cubicBezTo>
                      <a:pt x="1" y="32"/>
                      <a:pt x="1" y="34"/>
                      <a:pt x="0" y="36"/>
                    </a:cubicBezTo>
                    <a:cubicBezTo>
                      <a:pt x="0" y="41"/>
                      <a:pt x="0" y="45"/>
                      <a:pt x="0" y="48"/>
                    </a:cubicBezTo>
                    <a:cubicBezTo>
                      <a:pt x="0" y="48"/>
                      <a:pt x="0" y="48"/>
                      <a:pt x="0" y="49"/>
                    </a:cubicBezTo>
                    <a:cubicBezTo>
                      <a:pt x="0" y="50"/>
                      <a:pt x="0" y="51"/>
                      <a:pt x="0" y="51"/>
                    </a:cubicBezTo>
                    <a:cubicBezTo>
                      <a:pt x="0" y="51"/>
                      <a:pt x="0" y="51"/>
                      <a:pt x="0" y="51"/>
                    </a:cubicBezTo>
                    <a:cubicBezTo>
                      <a:pt x="0" y="51"/>
                      <a:pt x="0" y="53"/>
                      <a:pt x="0" y="54"/>
                    </a:cubicBezTo>
                    <a:cubicBezTo>
                      <a:pt x="0" y="54"/>
                      <a:pt x="0" y="55"/>
                      <a:pt x="0" y="56"/>
                    </a:cubicBezTo>
                    <a:cubicBezTo>
                      <a:pt x="0" y="57"/>
                      <a:pt x="1" y="58"/>
                      <a:pt x="3" y="59"/>
                    </a:cubicBezTo>
                    <a:cubicBezTo>
                      <a:pt x="10" y="63"/>
                      <a:pt x="26" y="65"/>
                      <a:pt x="40" y="63"/>
                    </a:cubicBezTo>
                    <a:cubicBezTo>
                      <a:pt x="49" y="62"/>
                      <a:pt x="55" y="59"/>
                      <a:pt x="55" y="56"/>
                    </a:cubicBezTo>
                    <a:cubicBezTo>
                      <a:pt x="55" y="56"/>
                      <a:pt x="55" y="56"/>
                      <a:pt x="55" y="56"/>
                    </a:cubicBezTo>
                    <a:cubicBezTo>
                      <a:pt x="55" y="56"/>
                      <a:pt x="55" y="56"/>
                      <a:pt x="55" y="55"/>
                    </a:cubicBezTo>
                    <a:cubicBezTo>
                      <a:pt x="55" y="55"/>
                      <a:pt x="55" y="55"/>
                      <a:pt x="55" y="55"/>
                    </a:cubicBezTo>
                    <a:cubicBezTo>
                      <a:pt x="55" y="54"/>
                      <a:pt x="55" y="54"/>
                      <a:pt x="55" y="54"/>
                    </a:cubicBezTo>
                    <a:cubicBezTo>
                      <a:pt x="55" y="53"/>
                      <a:pt x="55" y="52"/>
                      <a:pt x="55" y="52"/>
                    </a:cubicBezTo>
                    <a:cubicBezTo>
                      <a:pt x="55" y="51"/>
                      <a:pt x="55" y="51"/>
                      <a:pt x="55" y="50"/>
                    </a:cubicBezTo>
                    <a:cubicBezTo>
                      <a:pt x="55" y="50"/>
                      <a:pt x="55" y="50"/>
                      <a:pt x="55" y="50"/>
                    </a:cubicBezTo>
                    <a:cubicBezTo>
                      <a:pt x="55" y="50"/>
                      <a:pt x="55" y="49"/>
                      <a:pt x="55" y="48"/>
                    </a:cubicBezTo>
                    <a:cubicBezTo>
                      <a:pt x="55" y="45"/>
                      <a:pt x="55" y="42"/>
                      <a:pt x="55" y="42"/>
                    </a:cubicBezTo>
                    <a:close/>
                    <a:moveTo>
                      <a:pt x="20" y="8"/>
                    </a:moveTo>
                    <a:cubicBezTo>
                      <a:pt x="22" y="8"/>
                      <a:pt x="25" y="9"/>
                      <a:pt x="27" y="8"/>
                    </a:cubicBezTo>
                    <a:cubicBezTo>
                      <a:pt x="28" y="8"/>
                      <a:pt x="29" y="9"/>
                      <a:pt x="29" y="10"/>
                    </a:cubicBezTo>
                    <a:cubicBezTo>
                      <a:pt x="29" y="11"/>
                      <a:pt x="28" y="12"/>
                      <a:pt x="28" y="14"/>
                    </a:cubicBezTo>
                    <a:cubicBezTo>
                      <a:pt x="28" y="15"/>
                      <a:pt x="26" y="16"/>
                      <a:pt x="24" y="16"/>
                    </a:cubicBezTo>
                    <a:cubicBezTo>
                      <a:pt x="24" y="16"/>
                      <a:pt x="23" y="16"/>
                      <a:pt x="23" y="16"/>
                    </a:cubicBezTo>
                    <a:cubicBezTo>
                      <a:pt x="21" y="15"/>
                      <a:pt x="19" y="14"/>
                      <a:pt x="19" y="13"/>
                    </a:cubicBezTo>
                    <a:cubicBezTo>
                      <a:pt x="19" y="12"/>
                      <a:pt x="18" y="10"/>
                      <a:pt x="18" y="9"/>
                    </a:cubicBezTo>
                    <a:cubicBezTo>
                      <a:pt x="18" y="8"/>
                      <a:pt x="19" y="7"/>
                      <a:pt x="20" y="8"/>
                    </a:cubicBezTo>
                    <a:close/>
                    <a:moveTo>
                      <a:pt x="31" y="52"/>
                    </a:moveTo>
                    <a:cubicBezTo>
                      <a:pt x="29" y="52"/>
                      <a:pt x="20" y="52"/>
                      <a:pt x="16" y="51"/>
                    </a:cubicBezTo>
                    <a:cubicBezTo>
                      <a:pt x="15" y="50"/>
                      <a:pt x="14" y="50"/>
                      <a:pt x="14" y="48"/>
                    </a:cubicBezTo>
                    <a:cubicBezTo>
                      <a:pt x="19" y="20"/>
                      <a:pt x="19" y="20"/>
                      <a:pt x="19" y="20"/>
                    </a:cubicBezTo>
                    <a:cubicBezTo>
                      <a:pt x="20" y="19"/>
                      <a:pt x="21" y="18"/>
                      <a:pt x="22" y="18"/>
                    </a:cubicBezTo>
                    <a:cubicBezTo>
                      <a:pt x="25" y="18"/>
                      <a:pt x="25" y="18"/>
                      <a:pt x="25" y="18"/>
                    </a:cubicBezTo>
                    <a:cubicBezTo>
                      <a:pt x="26" y="18"/>
                      <a:pt x="27" y="19"/>
                      <a:pt x="27" y="20"/>
                    </a:cubicBezTo>
                    <a:cubicBezTo>
                      <a:pt x="33" y="50"/>
                      <a:pt x="33" y="50"/>
                      <a:pt x="33" y="50"/>
                    </a:cubicBezTo>
                    <a:cubicBezTo>
                      <a:pt x="33" y="51"/>
                      <a:pt x="32" y="52"/>
                      <a:pt x="31" y="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B2B2D"/>
                  </a:solidFill>
                  <a:effectLst/>
                  <a:uLnTx/>
                  <a:uFillTx/>
                  <a:latin typeface="Open Sans"/>
                  <a:ea typeface="+mn-ea"/>
                  <a:cs typeface="+mn-cs"/>
                </a:endParaRPr>
              </a:p>
            </p:txBody>
          </p:sp>
          <p:sp>
            <p:nvSpPr>
              <p:cNvPr id="41" name="Freeform 27"/>
              <p:cNvSpPr>
                <a:spLocks/>
              </p:cNvSpPr>
              <p:nvPr/>
            </p:nvSpPr>
            <p:spPr bwMode="auto">
              <a:xfrm>
                <a:off x="7028" y="2886"/>
                <a:ext cx="70" cy="80"/>
              </a:xfrm>
              <a:custGeom>
                <a:avLst/>
                <a:gdLst>
                  <a:gd name="T0" fmla="*/ 20 w 29"/>
                  <a:gd name="T1" fmla="*/ 32 h 33"/>
                  <a:gd name="T2" fmla="*/ 15 w 29"/>
                  <a:gd name="T3" fmla="*/ 33 h 33"/>
                  <a:gd name="T4" fmla="*/ 20 w 29"/>
                  <a:gd name="T5" fmla="*/ 32 h 33"/>
                  <a:gd name="T6" fmla="*/ 22 w 29"/>
                  <a:gd name="T7" fmla="*/ 30 h 33"/>
                  <a:gd name="T8" fmla="*/ 24 w 29"/>
                  <a:gd name="T9" fmla="*/ 29 h 33"/>
                  <a:gd name="T10" fmla="*/ 26 w 29"/>
                  <a:gd name="T11" fmla="*/ 27 h 33"/>
                  <a:gd name="T12" fmla="*/ 27 w 29"/>
                  <a:gd name="T13" fmla="*/ 25 h 33"/>
                  <a:gd name="T14" fmla="*/ 28 w 29"/>
                  <a:gd name="T15" fmla="*/ 22 h 33"/>
                  <a:gd name="T16" fmla="*/ 28 w 29"/>
                  <a:gd name="T17" fmla="*/ 20 h 33"/>
                  <a:gd name="T18" fmla="*/ 29 w 29"/>
                  <a:gd name="T19" fmla="*/ 15 h 33"/>
                  <a:gd name="T20" fmla="*/ 28 w 29"/>
                  <a:gd name="T21" fmla="*/ 13 h 33"/>
                  <a:gd name="T22" fmla="*/ 28 w 29"/>
                  <a:gd name="T23" fmla="*/ 10 h 33"/>
                  <a:gd name="T24" fmla="*/ 25 w 29"/>
                  <a:gd name="T25" fmla="*/ 6 h 33"/>
                  <a:gd name="T26" fmla="*/ 21 w 29"/>
                  <a:gd name="T27" fmla="*/ 2 h 33"/>
                  <a:gd name="T28" fmla="*/ 17 w 29"/>
                  <a:gd name="T29" fmla="*/ 1 h 33"/>
                  <a:gd name="T30" fmla="*/ 13 w 29"/>
                  <a:gd name="T31" fmla="*/ 0 h 33"/>
                  <a:gd name="T32" fmla="*/ 9 w 29"/>
                  <a:gd name="T33" fmla="*/ 2 h 33"/>
                  <a:gd name="T34" fmla="*/ 5 w 29"/>
                  <a:gd name="T35" fmla="*/ 4 h 33"/>
                  <a:gd name="T36" fmla="*/ 4 w 29"/>
                  <a:gd name="T37" fmla="*/ 6 h 33"/>
                  <a:gd name="T38" fmla="*/ 2 w 29"/>
                  <a:gd name="T39" fmla="*/ 8 h 33"/>
                  <a:gd name="T40" fmla="*/ 1 w 29"/>
                  <a:gd name="T41" fmla="*/ 10 h 33"/>
                  <a:gd name="T42" fmla="*/ 1 w 29"/>
                  <a:gd name="T43" fmla="*/ 13 h 33"/>
                  <a:gd name="T44" fmla="*/ 0 w 29"/>
                  <a:gd name="T45" fmla="*/ 17 h 33"/>
                  <a:gd name="T46" fmla="*/ 1 w 29"/>
                  <a:gd name="T47" fmla="*/ 19 h 33"/>
                  <a:gd name="T48" fmla="*/ 1 w 29"/>
                  <a:gd name="T49" fmla="*/ 22 h 33"/>
                  <a:gd name="T50" fmla="*/ 3 w 29"/>
                  <a:gd name="T51" fmla="*/ 27 h 33"/>
                  <a:gd name="T52" fmla="*/ 11 w 29"/>
                  <a:gd name="T53" fmla="*/ 32 h 33"/>
                  <a:gd name="T54" fmla="*/ 16 w 29"/>
                  <a:gd name="T55" fmla="*/ 33 h 33"/>
                  <a:gd name="T56" fmla="*/ 18 w 29"/>
                  <a:gd name="T57" fmla="*/ 32 h 33"/>
                  <a:gd name="T58" fmla="*/ 19 w 29"/>
                  <a:gd name="T59" fmla="*/ 32 h 33"/>
                  <a:gd name="T60" fmla="*/ 20 w 29"/>
                  <a:gd name="T61" fmla="*/ 32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9" h="33">
                    <a:moveTo>
                      <a:pt x="20" y="32"/>
                    </a:moveTo>
                    <a:cubicBezTo>
                      <a:pt x="18" y="32"/>
                      <a:pt x="17" y="33"/>
                      <a:pt x="15" y="33"/>
                    </a:cubicBezTo>
                    <a:cubicBezTo>
                      <a:pt x="17" y="33"/>
                      <a:pt x="18" y="32"/>
                      <a:pt x="20" y="32"/>
                    </a:cubicBezTo>
                    <a:cubicBezTo>
                      <a:pt x="21" y="31"/>
                      <a:pt x="21" y="31"/>
                      <a:pt x="22" y="30"/>
                    </a:cubicBezTo>
                    <a:cubicBezTo>
                      <a:pt x="23" y="30"/>
                      <a:pt x="23" y="29"/>
                      <a:pt x="24" y="29"/>
                    </a:cubicBezTo>
                    <a:cubicBezTo>
                      <a:pt x="24" y="28"/>
                      <a:pt x="25" y="28"/>
                      <a:pt x="26" y="27"/>
                    </a:cubicBezTo>
                    <a:cubicBezTo>
                      <a:pt x="26" y="26"/>
                      <a:pt x="26" y="25"/>
                      <a:pt x="27" y="25"/>
                    </a:cubicBezTo>
                    <a:cubicBezTo>
                      <a:pt x="27" y="25"/>
                      <a:pt x="27" y="24"/>
                      <a:pt x="28" y="22"/>
                    </a:cubicBezTo>
                    <a:cubicBezTo>
                      <a:pt x="28" y="21"/>
                      <a:pt x="28" y="21"/>
                      <a:pt x="28" y="20"/>
                    </a:cubicBezTo>
                    <a:cubicBezTo>
                      <a:pt x="29" y="19"/>
                      <a:pt x="29" y="17"/>
                      <a:pt x="29" y="15"/>
                    </a:cubicBezTo>
                    <a:cubicBezTo>
                      <a:pt x="29" y="14"/>
                      <a:pt x="28" y="14"/>
                      <a:pt x="28" y="13"/>
                    </a:cubicBezTo>
                    <a:cubicBezTo>
                      <a:pt x="28" y="11"/>
                      <a:pt x="28" y="10"/>
                      <a:pt x="28" y="10"/>
                    </a:cubicBezTo>
                    <a:cubicBezTo>
                      <a:pt x="27" y="9"/>
                      <a:pt x="26" y="7"/>
                      <a:pt x="25" y="6"/>
                    </a:cubicBezTo>
                    <a:cubicBezTo>
                      <a:pt x="23" y="4"/>
                      <a:pt x="22" y="3"/>
                      <a:pt x="21" y="2"/>
                    </a:cubicBezTo>
                    <a:cubicBezTo>
                      <a:pt x="21" y="2"/>
                      <a:pt x="19" y="1"/>
                      <a:pt x="17" y="1"/>
                    </a:cubicBezTo>
                    <a:cubicBezTo>
                      <a:pt x="16" y="0"/>
                      <a:pt x="14" y="0"/>
                      <a:pt x="13" y="0"/>
                    </a:cubicBezTo>
                    <a:cubicBezTo>
                      <a:pt x="11" y="1"/>
                      <a:pt x="10" y="1"/>
                      <a:pt x="9" y="2"/>
                    </a:cubicBezTo>
                    <a:cubicBezTo>
                      <a:pt x="7" y="3"/>
                      <a:pt x="6" y="4"/>
                      <a:pt x="5" y="4"/>
                    </a:cubicBezTo>
                    <a:cubicBezTo>
                      <a:pt x="5" y="5"/>
                      <a:pt x="4" y="5"/>
                      <a:pt x="4" y="6"/>
                    </a:cubicBezTo>
                    <a:cubicBezTo>
                      <a:pt x="3" y="7"/>
                      <a:pt x="3" y="8"/>
                      <a:pt x="2" y="8"/>
                    </a:cubicBezTo>
                    <a:cubicBezTo>
                      <a:pt x="2" y="9"/>
                      <a:pt x="2" y="9"/>
                      <a:pt x="1" y="10"/>
                    </a:cubicBezTo>
                    <a:cubicBezTo>
                      <a:pt x="1" y="11"/>
                      <a:pt x="1" y="11"/>
                      <a:pt x="1" y="13"/>
                    </a:cubicBezTo>
                    <a:cubicBezTo>
                      <a:pt x="0" y="14"/>
                      <a:pt x="0" y="16"/>
                      <a:pt x="0" y="17"/>
                    </a:cubicBezTo>
                    <a:cubicBezTo>
                      <a:pt x="0" y="19"/>
                      <a:pt x="0" y="19"/>
                      <a:pt x="1" y="19"/>
                    </a:cubicBezTo>
                    <a:cubicBezTo>
                      <a:pt x="1" y="21"/>
                      <a:pt x="1" y="22"/>
                      <a:pt x="1" y="22"/>
                    </a:cubicBezTo>
                    <a:cubicBezTo>
                      <a:pt x="1" y="23"/>
                      <a:pt x="2" y="25"/>
                      <a:pt x="3" y="27"/>
                    </a:cubicBezTo>
                    <a:cubicBezTo>
                      <a:pt x="5" y="29"/>
                      <a:pt x="8" y="32"/>
                      <a:pt x="11" y="32"/>
                    </a:cubicBezTo>
                    <a:cubicBezTo>
                      <a:pt x="12" y="33"/>
                      <a:pt x="14" y="33"/>
                      <a:pt x="16" y="33"/>
                    </a:cubicBezTo>
                    <a:cubicBezTo>
                      <a:pt x="17" y="33"/>
                      <a:pt x="18" y="33"/>
                      <a:pt x="18" y="32"/>
                    </a:cubicBezTo>
                    <a:cubicBezTo>
                      <a:pt x="18" y="32"/>
                      <a:pt x="19" y="32"/>
                      <a:pt x="19" y="32"/>
                    </a:cubicBezTo>
                    <a:cubicBezTo>
                      <a:pt x="19" y="32"/>
                      <a:pt x="20" y="32"/>
                      <a:pt x="20"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B2B2D"/>
                  </a:solidFill>
                  <a:effectLst/>
                  <a:uLnTx/>
                  <a:uFillTx/>
                  <a:latin typeface="Open Sans"/>
                  <a:ea typeface="+mn-ea"/>
                  <a:cs typeface="+mn-cs"/>
                </a:endParaRPr>
              </a:p>
            </p:txBody>
          </p:sp>
          <p:sp>
            <p:nvSpPr>
              <p:cNvPr id="42" name="Freeform 28"/>
              <p:cNvSpPr>
                <a:spLocks noEditPoints="1"/>
              </p:cNvSpPr>
              <p:nvPr/>
            </p:nvSpPr>
            <p:spPr bwMode="auto">
              <a:xfrm>
                <a:off x="6999" y="2973"/>
                <a:ext cx="128" cy="150"/>
              </a:xfrm>
              <a:custGeom>
                <a:avLst/>
                <a:gdLst>
                  <a:gd name="T0" fmla="*/ 0 w 53"/>
                  <a:gd name="T1" fmla="*/ 46 h 62"/>
                  <a:gd name="T2" fmla="*/ 0 w 53"/>
                  <a:gd name="T3" fmla="*/ 48 h 62"/>
                  <a:gd name="T4" fmla="*/ 0 w 53"/>
                  <a:gd name="T5" fmla="*/ 48 h 62"/>
                  <a:gd name="T6" fmla="*/ 0 w 53"/>
                  <a:gd name="T7" fmla="*/ 50 h 62"/>
                  <a:gd name="T8" fmla="*/ 0 w 53"/>
                  <a:gd name="T9" fmla="*/ 52 h 62"/>
                  <a:gd name="T10" fmla="*/ 0 w 53"/>
                  <a:gd name="T11" fmla="*/ 52 h 62"/>
                  <a:gd name="T12" fmla="*/ 0 w 53"/>
                  <a:gd name="T13" fmla="*/ 53 h 62"/>
                  <a:gd name="T14" fmla="*/ 0 w 53"/>
                  <a:gd name="T15" fmla="*/ 54 h 62"/>
                  <a:gd name="T16" fmla="*/ 0 w 53"/>
                  <a:gd name="T17" fmla="*/ 54 h 62"/>
                  <a:gd name="T18" fmla="*/ 15 w 53"/>
                  <a:gd name="T19" fmla="*/ 60 h 62"/>
                  <a:gd name="T20" fmla="*/ 50 w 53"/>
                  <a:gd name="T21" fmla="*/ 57 h 62"/>
                  <a:gd name="T22" fmla="*/ 53 w 53"/>
                  <a:gd name="T23" fmla="*/ 54 h 62"/>
                  <a:gd name="T24" fmla="*/ 53 w 53"/>
                  <a:gd name="T25" fmla="*/ 51 h 62"/>
                  <a:gd name="T26" fmla="*/ 53 w 53"/>
                  <a:gd name="T27" fmla="*/ 49 h 62"/>
                  <a:gd name="T28" fmla="*/ 53 w 53"/>
                  <a:gd name="T29" fmla="*/ 49 h 62"/>
                  <a:gd name="T30" fmla="*/ 53 w 53"/>
                  <a:gd name="T31" fmla="*/ 47 h 62"/>
                  <a:gd name="T32" fmla="*/ 53 w 53"/>
                  <a:gd name="T33" fmla="*/ 46 h 62"/>
                  <a:gd name="T34" fmla="*/ 53 w 53"/>
                  <a:gd name="T35" fmla="*/ 34 h 62"/>
                  <a:gd name="T36" fmla="*/ 52 w 53"/>
                  <a:gd name="T37" fmla="*/ 29 h 62"/>
                  <a:gd name="T38" fmla="*/ 51 w 53"/>
                  <a:gd name="T39" fmla="*/ 23 h 62"/>
                  <a:gd name="T40" fmla="*/ 40 w 53"/>
                  <a:gd name="T41" fmla="*/ 0 h 62"/>
                  <a:gd name="T42" fmla="*/ 39 w 53"/>
                  <a:gd name="T43" fmla="*/ 2 h 62"/>
                  <a:gd name="T44" fmla="*/ 20 w 53"/>
                  <a:gd name="T45" fmla="*/ 4 h 62"/>
                  <a:gd name="T46" fmla="*/ 13 w 53"/>
                  <a:gd name="T47" fmla="*/ 0 h 62"/>
                  <a:gd name="T48" fmla="*/ 11 w 53"/>
                  <a:gd name="T49" fmla="*/ 3 h 62"/>
                  <a:gd name="T50" fmla="*/ 10 w 53"/>
                  <a:gd name="T51" fmla="*/ 5 h 62"/>
                  <a:gd name="T52" fmla="*/ 8 w 53"/>
                  <a:gd name="T53" fmla="*/ 8 h 62"/>
                  <a:gd name="T54" fmla="*/ 7 w 53"/>
                  <a:gd name="T55" fmla="*/ 10 h 62"/>
                  <a:gd name="T56" fmla="*/ 5 w 53"/>
                  <a:gd name="T57" fmla="*/ 14 h 62"/>
                  <a:gd name="T58" fmla="*/ 3 w 53"/>
                  <a:gd name="T59" fmla="*/ 19 h 62"/>
                  <a:gd name="T60" fmla="*/ 2 w 53"/>
                  <a:gd name="T61" fmla="*/ 24 h 62"/>
                  <a:gd name="T62" fmla="*/ 1 w 53"/>
                  <a:gd name="T63" fmla="*/ 26 h 62"/>
                  <a:gd name="T64" fmla="*/ 1 w 53"/>
                  <a:gd name="T65" fmla="*/ 31 h 62"/>
                  <a:gd name="T66" fmla="*/ 0 w 53"/>
                  <a:gd name="T67" fmla="*/ 37 h 62"/>
                  <a:gd name="T68" fmla="*/ 0 w 53"/>
                  <a:gd name="T69" fmla="*/ 40 h 62"/>
                  <a:gd name="T70" fmla="*/ 0 w 53"/>
                  <a:gd name="T71" fmla="*/ 46 h 62"/>
                  <a:gd name="T72" fmla="*/ 36 w 53"/>
                  <a:gd name="T73" fmla="*/ 8 h 62"/>
                  <a:gd name="T74" fmla="*/ 35 w 53"/>
                  <a:gd name="T75" fmla="*/ 12 h 62"/>
                  <a:gd name="T76" fmla="*/ 31 w 53"/>
                  <a:gd name="T77" fmla="*/ 15 h 62"/>
                  <a:gd name="T78" fmla="*/ 30 w 53"/>
                  <a:gd name="T79" fmla="*/ 15 h 62"/>
                  <a:gd name="T80" fmla="*/ 26 w 53"/>
                  <a:gd name="T81" fmla="*/ 13 h 62"/>
                  <a:gd name="T82" fmla="*/ 25 w 53"/>
                  <a:gd name="T83" fmla="*/ 10 h 62"/>
                  <a:gd name="T84" fmla="*/ 27 w 53"/>
                  <a:gd name="T85" fmla="*/ 8 h 62"/>
                  <a:gd name="T86" fmla="*/ 34 w 53"/>
                  <a:gd name="T87" fmla="*/ 7 h 62"/>
                  <a:gd name="T88" fmla="*/ 36 w 53"/>
                  <a:gd name="T89" fmla="*/ 8 h 62"/>
                  <a:gd name="T90" fmla="*/ 21 w 53"/>
                  <a:gd name="T91" fmla="*/ 48 h 62"/>
                  <a:gd name="T92" fmla="*/ 27 w 53"/>
                  <a:gd name="T93" fmla="*/ 19 h 62"/>
                  <a:gd name="T94" fmla="*/ 29 w 53"/>
                  <a:gd name="T95" fmla="*/ 17 h 62"/>
                  <a:gd name="T96" fmla="*/ 32 w 53"/>
                  <a:gd name="T97" fmla="*/ 17 h 62"/>
                  <a:gd name="T98" fmla="*/ 35 w 53"/>
                  <a:gd name="T99" fmla="*/ 19 h 62"/>
                  <a:gd name="T100" fmla="*/ 40 w 53"/>
                  <a:gd name="T101" fmla="*/ 46 h 62"/>
                  <a:gd name="T102" fmla="*/ 38 w 53"/>
                  <a:gd name="T103" fmla="*/ 49 h 62"/>
                  <a:gd name="T104" fmla="*/ 23 w 53"/>
                  <a:gd name="T105" fmla="*/ 50 h 62"/>
                  <a:gd name="T106" fmla="*/ 21 w 53"/>
                  <a:gd name="T107" fmla="*/ 48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3" h="62">
                    <a:moveTo>
                      <a:pt x="0" y="46"/>
                    </a:moveTo>
                    <a:cubicBezTo>
                      <a:pt x="0" y="47"/>
                      <a:pt x="0" y="48"/>
                      <a:pt x="0" y="48"/>
                    </a:cubicBezTo>
                    <a:cubicBezTo>
                      <a:pt x="0" y="48"/>
                      <a:pt x="0" y="48"/>
                      <a:pt x="0" y="48"/>
                    </a:cubicBezTo>
                    <a:cubicBezTo>
                      <a:pt x="0" y="49"/>
                      <a:pt x="0" y="49"/>
                      <a:pt x="0" y="50"/>
                    </a:cubicBezTo>
                    <a:cubicBezTo>
                      <a:pt x="0" y="50"/>
                      <a:pt x="0" y="51"/>
                      <a:pt x="0" y="52"/>
                    </a:cubicBezTo>
                    <a:cubicBezTo>
                      <a:pt x="0" y="52"/>
                      <a:pt x="0" y="52"/>
                      <a:pt x="0" y="52"/>
                    </a:cubicBezTo>
                    <a:cubicBezTo>
                      <a:pt x="0" y="53"/>
                      <a:pt x="0" y="53"/>
                      <a:pt x="0" y="53"/>
                    </a:cubicBezTo>
                    <a:cubicBezTo>
                      <a:pt x="0" y="53"/>
                      <a:pt x="0" y="53"/>
                      <a:pt x="0" y="54"/>
                    </a:cubicBezTo>
                    <a:cubicBezTo>
                      <a:pt x="0" y="54"/>
                      <a:pt x="0" y="54"/>
                      <a:pt x="0" y="54"/>
                    </a:cubicBezTo>
                    <a:cubicBezTo>
                      <a:pt x="0" y="57"/>
                      <a:pt x="6" y="59"/>
                      <a:pt x="15" y="60"/>
                    </a:cubicBezTo>
                    <a:cubicBezTo>
                      <a:pt x="28" y="62"/>
                      <a:pt x="44" y="61"/>
                      <a:pt x="50" y="57"/>
                    </a:cubicBezTo>
                    <a:cubicBezTo>
                      <a:pt x="52" y="56"/>
                      <a:pt x="53" y="55"/>
                      <a:pt x="53" y="54"/>
                    </a:cubicBezTo>
                    <a:cubicBezTo>
                      <a:pt x="53" y="53"/>
                      <a:pt x="53" y="52"/>
                      <a:pt x="53" y="51"/>
                    </a:cubicBezTo>
                    <a:cubicBezTo>
                      <a:pt x="53" y="51"/>
                      <a:pt x="53" y="49"/>
                      <a:pt x="53" y="49"/>
                    </a:cubicBezTo>
                    <a:cubicBezTo>
                      <a:pt x="53" y="49"/>
                      <a:pt x="53" y="49"/>
                      <a:pt x="53" y="49"/>
                    </a:cubicBezTo>
                    <a:cubicBezTo>
                      <a:pt x="53" y="48"/>
                      <a:pt x="53" y="48"/>
                      <a:pt x="53" y="47"/>
                    </a:cubicBezTo>
                    <a:cubicBezTo>
                      <a:pt x="53" y="46"/>
                      <a:pt x="53" y="46"/>
                      <a:pt x="53" y="46"/>
                    </a:cubicBezTo>
                    <a:cubicBezTo>
                      <a:pt x="53" y="43"/>
                      <a:pt x="53" y="39"/>
                      <a:pt x="53" y="34"/>
                    </a:cubicBezTo>
                    <a:cubicBezTo>
                      <a:pt x="53" y="33"/>
                      <a:pt x="52" y="31"/>
                      <a:pt x="52" y="29"/>
                    </a:cubicBezTo>
                    <a:cubicBezTo>
                      <a:pt x="52" y="26"/>
                      <a:pt x="51" y="24"/>
                      <a:pt x="51" y="23"/>
                    </a:cubicBezTo>
                    <a:cubicBezTo>
                      <a:pt x="50" y="20"/>
                      <a:pt x="47" y="9"/>
                      <a:pt x="40" y="0"/>
                    </a:cubicBezTo>
                    <a:cubicBezTo>
                      <a:pt x="40" y="1"/>
                      <a:pt x="40" y="2"/>
                      <a:pt x="39" y="2"/>
                    </a:cubicBezTo>
                    <a:cubicBezTo>
                      <a:pt x="35" y="4"/>
                      <a:pt x="27" y="5"/>
                      <a:pt x="20" y="4"/>
                    </a:cubicBezTo>
                    <a:cubicBezTo>
                      <a:pt x="15" y="3"/>
                      <a:pt x="12" y="2"/>
                      <a:pt x="13" y="0"/>
                    </a:cubicBezTo>
                    <a:cubicBezTo>
                      <a:pt x="12" y="1"/>
                      <a:pt x="12" y="2"/>
                      <a:pt x="11" y="3"/>
                    </a:cubicBezTo>
                    <a:cubicBezTo>
                      <a:pt x="11" y="3"/>
                      <a:pt x="10" y="4"/>
                      <a:pt x="10" y="5"/>
                    </a:cubicBezTo>
                    <a:cubicBezTo>
                      <a:pt x="10" y="5"/>
                      <a:pt x="9" y="6"/>
                      <a:pt x="8" y="8"/>
                    </a:cubicBezTo>
                    <a:cubicBezTo>
                      <a:pt x="7" y="9"/>
                      <a:pt x="7" y="10"/>
                      <a:pt x="7" y="10"/>
                    </a:cubicBezTo>
                    <a:cubicBezTo>
                      <a:pt x="6" y="11"/>
                      <a:pt x="5" y="13"/>
                      <a:pt x="5" y="14"/>
                    </a:cubicBezTo>
                    <a:cubicBezTo>
                      <a:pt x="5" y="15"/>
                      <a:pt x="4" y="17"/>
                      <a:pt x="3" y="19"/>
                    </a:cubicBezTo>
                    <a:cubicBezTo>
                      <a:pt x="3" y="20"/>
                      <a:pt x="2" y="22"/>
                      <a:pt x="2" y="24"/>
                    </a:cubicBezTo>
                    <a:cubicBezTo>
                      <a:pt x="2" y="24"/>
                      <a:pt x="2" y="25"/>
                      <a:pt x="1" y="26"/>
                    </a:cubicBezTo>
                    <a:cubicBezTo>
                      <a:pt x="1" y="26"/>
                      <a:pt x="1" y="29"/>
                      <a:pt x="1" y="31"/>
                    </a:cubicBezTo>
                    <a:cubicBezTo>
                      <a:pt x="0" y="33"/>
                      <a:pt x="0" y="33"/>
                      <a:pt x="0" y="37"/>
                    </a:cubicBezTo>
                    <a:cubicBezTo>
                      <a:pt x="0" y="38"/>
                      <a:pt x="0" y="39"/>
                      <a:pt x="0" y="40"/>
                    </a:cubicBezTo>
                    <a:cubicBezTo>
                      <a:pt x="0" y="40"/>
                      <a:pt x="0" y="43"/>
                      <a:pt x="0" y="46"/>
                    </a:cubicBezTo>
                    <a:close/>
                    <a:moveTo>
                      <a:pt x="36" y="8"/>
                    </a:moveTo>
                    <a:cubicBezTo>
                      <a:pt x="36" y="10"/>
                      <a:pt x="35" y="11"/>
                      <a:pt x="35" y="12"/>
                    </a:cubicBezTo>
                    <a:cubicBezTo>
                      <a:pt x="34" y="13"/>
                      <a:pt x="33" y="14"/>
                      <a:pt x="31" y="15"/>
                    </a:cubicBezTo>
                    <a:cubicBezTo>
                      <a:pt x="31" y="15"/>
                      <a:pt x="30" y="15"/>
                      <a:pt x="30" y="15"/>
                    </a:cubicBezTo>
                    <a:cubicBezTo>
                      <a:pt x="28" y="15"/>
                      <a:pt x="27" y="14"/>
                      <a:pt x="26" y="13"/>
                    </a:cubicBezTo>
                    <a:cubicBezTo>
                      <a:pt x="26" y="12"/>
                      <a:pt x="25" y="11"/>
                      <a:pt x="25" y="10"/>
                    </a:cubicBezTo>
                    <a:cubicBezTo>
                      <a:pt x="25" y="8"/>
                      <a:pt x="26" y="8"/>
                      <a:pt x="27" y="8"/>
                    </a:cubicBezTo>
                    <a:cubicBezTo>
                      <a:pt x="29" y="8"/>
                      <a:pt x="32" y="8"/>
                      <a:pt x="34" y="7"/>
                    </a:cubicBezTo>
                    <a:cubicBezTo>
                      <a:pt x="35" y="7"/>
                      <a:pt x="36" y="7"/>
                      <a:pt x="36" y="8"/>
                    </a:cubicBezTo>
                    <a:close/>
                    <a:moveTo>
                      <a:pt x="21" y="48"/>
                    </a:moveTo>
                    <a:cubicBezTo>
                      <a:pt x="27" y="19"/>
                      <a:pt x="27" y="19"/>
                      <a:pt x="27" y="19"/>
                    </a:cubicBezTo>
                    <a:cubicBezTo>
                      <a:pt x="27" y="18"/>
                      <a:pt x="28" y="17"/>
                      <a:pt x="29" y="17"/>
                    </a:cubicBezTo>
                    <a:cubicBezTo>
                      <a:pt x="32" y="17"/>
                      <a:pt x="32" y="17"/>
                      <a:pt x="32" y="17"/>
                    </a:cubicBezTo>
                    <a:cubicBezTo>
                      <a:pt x="33" y="17"/>
                      <a:pt x="34" y="18"/>
                      <a:pt x="35" y="19"/>
                    </a:cubicBezTo>
                    <a:cubicBezTo>
                      <a:pt x="40" y="46"/>
                      <a:pt x="40" y="46"/>
                      <a:pt x="40" y="46"/>
                    </a:cubicBezTo>
                    <a:cubicBezTo>
                      <a:pt x="40" y="48"/>
                      <a:pt x="39" y="48"/>
                      <a:pt x="38" y="49"/>
                    </a:cubicBezTo>
                    <a:cubicBezTo>
                      <a:pt x="34" y="50"/>
                      <a:pt x="25" y="50"/>
                      <a:pt x="23" y="50"/>
                    </a:cubicBezTo>
                    <a:cubicBezTo>
                      <a:pt x="22" y="50"/>
                      <a:pt x="21" y="49"/>
                      <a:pt x="21"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B2B2D"/>
                  </a:solidFill>
                  <a:effectLst/>
                  <a:uLnTx/>
                  <a:uFillTx/>
                  <a:latin typeface="Open Sans"/>
                  <a:ea typeface="+mn-ea"/>
                  <a:cs typeface="+mn-cs"/>
                </a:endParaRPr>
              </a:p>
            </p:txBody>
          </p:sp>
        </p:grpSp>
      </p:grpSp>
      <p:sp>
        <p:nvSpPr>
          <p:cNvPr id="43" name="Rectangle 42"/>
          <p:cNvSpPr/>
          <p:nvPr/>
        </p:nvSpPr>
        <p:spPr>
          <a:xfrm>
            <a:off x="7619363" y="2879441"/>
            <a:ext cx="3987246" cy="955919"/>
          </a:xfrm>
          <a:prstGeom prst="rect">
            <a:avLst/>
          </a:prstGeom>
        </p:spPr>
        <p:txBody>
          <a:bodyPr wrap="square">
            <a:spAutoFit/>
          </a:bodyPr>
          <a:lstStyle/>
          <a:p>
            <a:pPr marL="0" marR="0" lvl="0" indent="0" algn="just" defTabSz="914400" rtl="0" eaLnBrk="1" fontAlgn="auto" latinLnBrk="0" hangingPunct="1">
              <a:lnSpc>
                <a:spcPts val="1651"/>
              </a:lnSpc>
              <a:spcBef>
                <a:spcPts val="0"/>
              </a:spcBef>
              <a:spcAft>
                <a:spcPts val="1500"/>
              </a:spcAft>
              <a:buClrTx/>
              <a:buSzTx/>
              <a:buFontTx/>
              <a:buNone/>
              <a:tabLst/>
              <a:defRPr/>
            </a:pPr>
            <a:r>
              <a:rPr kumimoji="0" lang="en-US" sz="1200" b="0" i="0" u="none" strike="noStrike" kern="1200" cap="none" spc="0" normalizeH="0" baseline="0" noProof="0">
                <a:ln>
                  <a:noFill/>
                </a:ln>
                <a:solidFill>
                  <a:srgbClr val="FFFFFF">
                    <a:lumMod val="50000"/>
                  </a:srgbClr>
                </a:solidFill>
                <a:effectLst/>
                <a:uLnTx/>
                <a:uFillTx/>
                <a:latin typeface="Open Sans"/>
                <a:ea typeface="Times New Roman" panose="02020603050405020304" pitchFamily="18" charset="0"/>
                <a:cs typeface="+mn-cs"/>
              </a:rPr>
              <a:t>Lorem ipsum dolor sit </a:t>
            </a:r>
            <a:r>
              <a:rPr kumimoji="0" lang="en-US" sz="1200" b="0" i="0" u="none" strike="noStrike" kern="1200" cap="none" spc="0" normalizeH="0" baseline="0" noProof="0" err="1">
                <a:ln>
                  <a:noFill/>
                </a:ln>
                <a:solidFill>
                  <a:srgbClr val="FFFFFF">
                    <a:lumMod val="50000"/>
                  </a:srgbClr>
                </a:solidFill>
                <a:effectLst/>
                <a:uLnTx/>
                <a:uFillTx/>
                <a:latin typeface="Open Sans"/>
                <a:ea typeface="Times New Roman" panose="02020603050405020304" pitchFamily="18" charset="0"/>
                <a:cs typeface="+mn-cs"/>
              </a:rPr>
              <a:t>amet</a:t>
            </a:r>
            <a:r>
              <a:rPr kumimoji="0" lang="en-US" sz="1200" b="0" i="0" u="none" strike="noStrike" kern="1200" cap="none" spc="0" normalizeH="0" baseline="0" noProof="0">
                <a:ln>
                  <a:noFill/>
                </a:ln>
                <a:solidFill>
                  <a:srgbClr val="FFFFFF">
                    <a:lumMod val="50000"/>
                  </a:srgbClr>
                </a:solidFill>
                <a:effectLst/>
                <a:uLnTx/>
                <a:uFillTx/>
                <a:latin typeface="Open Sans"/>
                <a:ea typeface="Times New Roman" panose="02020603050405020304" pitchFamily="18" charset="0"/>
                <a:cs typeface="+mn-cs"/>
              </a:rPr>
              <a:t>, </a:t>
            </a:r>
            <a:r>
              <a:rPr kumimoji="0" lang="en-US" sz="1200" b="0" i="0" u="none" strike="noStrike" kern="1200" cap="none" spc="0" normalizeH="0" baseline="0" noProof="0" err="1">
                <a:ln>
                  <a:noFill/>
                </a:ln>
                <a:solidFill>
                  <a:srgbClr val="FFFFFF">
                    <a:lumMod val="50000"/>
                  </a:srgbClr>
                </a:solidFill>
                <a:effectLst/>
                <a:uLnTx/>
                <a:uFillTx/>
                <a:latin typeface="Open Sans"/>
                <a:ea typeface="Times New Roman" panose="02020603050405020304" pitchFamily="18" charset="0"/>
                <a:cs typeface="+mn-cs"/>
              </a:rPr>
              <a:t>consectetur</a:t>
            </a:r>
            <a:r>
              <a:rPr kumimoji="0" lang="en-US" sz="1200" b="0" i="0" u="none" strike="noStrike" kern="1200" cap="none" spc="0" normalizeH="0" baseline="0" noProof="0">
                <a:ln>
                  <a:noFill/>
                </a:ln>
                <a:solidFill>
                  <a:srgbClr val="FFFFFF">
                    <a:lumMod val="50000"/>
                  </a:srgbClr>
                </a:solidFill>
                <a:effectLst/>
                <a:uLnTx/>
                <a:uFillTx/>
                <a:latin typeface="Open Sans"/>
                <a:ea typeface="Times New Roman" panose="02020603050405020304" pitchFamily="18" charset="0"/>
                <a:cs typeface="+mn-cs"/>
              </a:rPr>
              <a:t> </a:t>
            </a:r>
            <a:r>
              <a:rPr kumimoji="0" lang="en-US" sz="1200" b="0" i="0" u="none" strike="noStrike" kern="1200" cap="none" spc="0" normalizeH="0" baseline="0" noProof="0" err="1">
                <a:ln>
                  <a:noFill/>
                </a:ln>
                <a:solidFill>
                  <a:srgbClr val="FFFFFF">
                    <a:lumMod val="50000"/>
                  </a:srgbClr>
                </a:solidFill>
                <a:effectLst/>
                <a:uLnTx/>
                <a:uFillTx/>
                <a:latin typeface="Open Sans"/>
                <a:ea typeface="Times New Roman" panose="02020603050405020304" pitchFamily="18" charset="0"/>
                <a:cs typeface="+mn-cs"/>
              </a:rPr>
              <a:t>adipiscing</a:t>
            </a:r>
            <a:r>
              <a:rPr kumimoji="0" lang="en-US" sz="1200" b="0" i="0" u="none" strike="noStrike" kern="1200" cap="none" spc="0" normalizeH="0" baseline="0" noProof="0">
                <a:ln>
                  <a:noFill/>
                </a:ln>
                <a:solidFill>
                  <a:srgbClr val="FFFFFF">
                    <a:lumMod val="50000"/>
                  </a:srgbClr>
                </a:solidFill>
                <a:effectLst/>
                <a:uLnTx/>
                <a:uFillTx/>
                <a:latin typeface="Open Sans"/>
                <a:ea typeface="Times New Roman" panose="02020603050405020304" pitchFamily="18" charset="0"/>
                <a:cs typeface="+mn-cs"/>
              </a:rPr>
              <a:t> </a:t>
            </a:r>
            <a:r>
              <a:rPr kumimoji="0" lang="en-US" sz="1200" b="0" i="0" u="none" strike="noStrike" kern="1200" cap="none" spc="0" normalizeH="0" baseline="0" noProof="0" err="1">
                <a:ln>
                  <a:noFill/>
                </a:ln>
                <a:solidFill>
                  <a:srgbClr val="FFFFFF">
                    <a:lumMod val="50000"/>
                  </a:srgbClr>
                </a:solidFill>
                <a:effectLst/>
                <a:uLnTx/>
                <a:uFillTx/>
                <a:latin typeface="Open Sans"/>
                <a:ea typeface="Times New Roman" panose="02020603050405020304" pitchFamily="18" charset="0"/>
                <a:cs typeface="+mn-cs"/>
              </a:rPr>
              <a:t>elit</a:t>
            </a:r>
            <a:r>
              <a:rPr kumimoji="0" lang="en-US" sz="1200" b="0" i="0" u="none" strike="noStrike" kern="1200" cap="none" spc="0" normalizeH="0" baseline="0" noProof="0">
                <a:ln>
                  <a:noFill/>
                </a:ln>
                <a:solidFill>
                  <a:srgbClr val="FFFFFF">
                    <a:lumMod val="50000"/>
                  </a:srgbClr>
                </a:solidFill>
                <a:effectLst/>
                <a:uLnTx/>
                <a:uFillTx/>
                <a:latin typeface="Open Sans"/>
                <a:ea typeface="Times New Roman" panose="02020603050405020304" pitchFamily="18" charset="0"/>
                <a:cs typeface="+mn-cs"/>
              </a:rPr>
              <a:t>. Nam </a:t>
            </a:r>
            <a:r>
              <a:rPr kumimoji="0" lang="en-US" sz="1200" b="0" i="0" u="none" strike="noStrike" kern="1200" cap="none" spc="0" normalizeH="0" baseline="0" noProof="0" err="1">
                <a:ln>
                  <a:noFill/>
                </a:ln>
                <a:solidFill>
                  <a:srgbClr val="FFFFFF">
                    <a:lumMod val="50000"/>
                  </a:srgbClr>
                </a:solidFill>
                <a:effectLst/>
                <a:uLnTx/>
                <a:uFillTx/>
                <a:latin typeface="Open Sans"/>
                <a:ea typeface="Times New Roman" panose="02020603050405020304" pitchFamily="18" charset="0"/>
                <a:cs typeface="+mn-cs"/>
              </a:rPr>
              <a:t>viverra</a:t>
            </a:r>
            <a:r>
              <a:rPr kumimoji="0" lang="en-US" sz="1200" b="0" i="0" u="none" strike="noStrike" kern="1200" cap="none" spc="0" normalizeH="0" baseline="0" noProof="0">
                <a:ln>
                  <a:noFill/>
                </a:ln>
                <a:solidFill>
                  <a:srgbClr val="FFFFFF">
                    <a:lumMod val="50000"/>
                  </a:srgbClr>
                </a:solidFill>
                <a:effectLst/>
                <a:uLnTx/>
                <a:uFillTx/>
                <a:latin typeface="Open Sans"/>
                <a:ea typeface="Times New Roman" panose="02020603050405020304" pitchFamily="18" charset="0"/>
                <a:cs typeface="+mn-cs"/>
              </a:rPr>
              <a:t> </a:t>
            </a:r>
            <a:r>
              <a:rPr kumimoji="0" lang="en-US" sz="1200" b="0" i="0" u="none" strike="noStrike" kern="1200" cap="none" spc="0" normalizeH="0" baseline="0" noProof="0" err="1">
                <a:ln>
                  <a:noFill/>
                </a:ln>
                <a:solidFill>
                  <a:srgbClr val="FFFFFF">
                    <a:lumMod val="50000"/>
                  </a:srgbClr>
                </a:solidFill>
                <a:effectLst/>
                <a:uLnTx/>
                <a:uFillTx/>
                <a:latin typeface="Open Sans"/>
                <a:ea typeface="Times New Roman" panose="02020603050405020304" pitchFamily="18" charset="0"/>
                <a:cs typeface="+mn-cs"/>
              </a:rPr>
              <a:t>euismod</a:t>
            </a:r>
            <a:r>
              <a:rPr kumimoji="0" lang="en-US" sz="1200" b="0" i="0" u="none" strike="noStrike" kern="1200" cap="none" spc="0" normalizeH="0" baseline="0" noProof="0">
                <a:ln>
                  <a:noFill/>
                </a:ln>
                <a:solidFill>
                  <a:srgbClr val="FFFFFF">
                    <a:lumMod val="50000"/>
                  </a:srgbClr>
                </a:solidFill>
                <a:effectLst/>
                <a:uLnTx/>
                <a:uFillTx/>
                <a:latin typeface="Open Sans"/>
                <a:ea typeface="Times New Roman" panose="02020603050405020304" pitchFamily="18" charset="0"/>
                <a:cs typeface="+mn-cs"/>
              </a:rPr>
              <a:t> </a:t>
            </a:r>
            <a:r>
              <a:rPr kumimoji="0" lang="en-US" sz="1200" b="0" i="0" u="none" strike="noStrike" kern="1200" cap="none" spc="0" normalizeH="0" baseline="0" noProof="0" err="1">
                <a:ln>
                  <a:noFill/>
                </a:ln>
                <a:solidFill>
                  <a:srgbClr val="FFFFFF">
                    <a:lumMod val="50000"/>
                  </a:srgbClr>
                </a:solidFill>
                <a:effectLst/>
                <a:uLnTx/>
                <a:uFillTx/>
                <a:latin typeface="Open Sans"/>
                <a:ea typeface="Times New Roman" panose="02020603050405020304" pitchFamily="18" charset="0"/>
                <a:cs typeface="+mn-cs"/>
              </a:rPr>
              <a:t>odio</a:t>
            </a:r>
            <a:r>
              <a:rPr kumimoji="0" lang="en-US" sz="1200" b="0" i="0" u="none" strike="noStrike" kern="1200" cap="none" spc="0" normalizeH="0" baseline="0" noProof="0">
                <a:ln>
                  <a:noFill/>
                </a:ln>
                <a:solidFill>
                  <a:srgbClr val="FFFFFF">
                    <a:lumMod val="50000"/>
                  </a:srgbClr>
                </a:solidFill>
                <a:effectLst/>
                <a:uLnTx/>
                <a:uFillTx/>
                <a:latin typeface="Open Sans"/>
                <a:ea typeface="Times New Roman" panose="02020603050405020304" pitchFamily="18" charset="0"/>
                <a:cs typeface="+mn-cs"/>
              </a:rPr>
              <a:t>, gravida </a:t>
            </a:r>
            <a:r>
              <a:rPr kumimoji="0" lang="en-US" sz="1200" b="0" i="0" u="none" strike="noStrike" kern="1200" cap="none" spc="0" normalizeH="0" baseline="0" noProof="0" err="1">
                <a:ln>
                  <a:noFill/>
                </a:ln>
                <a:solidFill>
                  <a:srgbClr val="FFFFFF">
                    <a:lumMod val="50000"/>
                  </a:srgbClr>
                </a:solidFill>
                <a:effectLst/>
                <a:uLnTx/>
                <a:uFillTx/>
                <a:latin typeface="Open Sans"/>
                <a:ea typeface="Times New Roman" panose="02020603050405020304" pitchFamily="18" charset="0"/>
                <a:cs typeface="+mn-cs"/>
              </a:rPr>
              <a:t>pellentesque</a:t>
            </a:r>
            <a:r>
              <a:rPr kumimoji="0" lang="en-US" sz="1200" b="0" i="0" u="none" strike="noStrike" kern="1200" cap="none" spc="0" normalizeH="0" baseline="0" noProof="0">
                <a:ln>
                  <a:noFill/>
                </a:ln>
                <a:solidFill>
                  <a:srgbClr val="FFFFFF">
                    <a:lumMod val="50000"/>
                  </a:srgbClr>
                </a:solidFill>
                <a:effectLst/>
                <a:uLnTx/>
                <a:uFillTx/>
                <a:latin typeface="Open Sans"/>
                <a:ea typeface="Times New Roman" panose="02020603050405020304" pitchFamily="18" charset="0"/>
                <a:cs typeface="+mn-cs"/>
              </a:rPr>
              <a:t> </a:t>
            </a:r>
            <a:r>
              <a:rPr kumimoji="0" lang="en-US" sz="1200" b="0" i="0" u="none" strike="noStrike" kern="1200" cap="none" spc="0" normalizeH="0" baseline="0" noProof="0" err="1">
                <a:ln>
                  <a:noFill/>
                </a:ln>
                <a:solidFill>
                  <a:srgbClr val="FFFFFF">
                    <a:lumMod val="50000"/>
                  </a:srgbClr>
                </a:solidFill>
                <a:effectLst/>
                <a:uLnTx/>
                <a:uFillTx/>
                <a:latin typeface="Open Sans"/>
                <a:ea typeface="Times New Roman" panose="02020603050405020304" pitchFamily="18" charset="0"/>
                <a:cs typeface="+mn-cs"/>
              </a:rPr>
              <a:t>urna</a:t>
            </a:r>
            <a:r>
              <a:rPr kumimoji="0" lang="en-US" sz="1200" b="0" i="0" u="none" strike="noStrike" kern="1200" cap="none" spc="0" normalizeH="0" baseline="0" noProof="0">
                <a:ln>
                  <a:noFill/>
                </a:ln>
                <a:solidFill>
                  <a:srgbClr val="FFFFFF">
                    <a:lumMod val="50000"/>
                  </a:srgbClr>
                </a:solidFill>
                <a:effectLst/>
                <a:uLnTx/>
                <a:uFillTx/>
                <a:latin typeface="Open Sans"/>
                <a:ea typeface="Times New Roman" panose="02020603050405020304" pitchFamily="18" charset="0"/>
                <a:cs typeface="+mn-cs"/>
              </a:rPr>
              <a:t> </a:t>
            </a:r>
            <a:r>
              <a:rPr kumimoji="0" lang="en-US" sz="1200" b="0" i="0" u="none" strike="noStrike" kern="1200" cap="none" spc="0" normalizeH="0" baseline="0" noProof="0" err="1">
                <a:ln>
                  <a:noFill/>
                </a:ln>
                <a:solidFill>
                  <a:srgbClr val="FFFFFF">
                    <a:lumMod val="50000"/>
                  </a:srgbClr>
                </a:solidFill>
                <a:effectLst/>
                <a:uLnTx/>
                <a:uFillTx/>
                <a:latin typeface="Open Sans"/>
                <a:ea typeface="Times New Roman" panose="02020603050405020304" pitchFamily="18" charset="0"/>
                <a:cs typeface="+mn-cs"/>
              </a:rPr>
              <a:t>varius</a:t>
            </a:r>
            <a:r>
              <a:rPr kumimoji="0" lang="en-US" sz="1200" b="0" i="0" u="none" strike="noStrike" kern="1200" cap="none" spc="0" normalizeH="0" baseline="0" noProof="0">
                <a:ln>
                  <a:noFill/>
                </a:ln>
                <a:solidFill>
                  <a:srgbClr val="FFFFFF">
                    <a:lumMod val="50000"/>
                  </a:srgbClr>
                </a:solidFill>
                <a:effectLst/>
                <a:uLnTx/>
                <a:uFillTx/>
                <a:latin typeface="Open Sans"/>
                <a:ea typeface="Times New Roman" panose="02020603050405020304" pitchFamily="18" charset="0"/>
                <a:cs typeface="+mn-cs"/>
              </a:rPr>
              <a:t> vitae. Sed dui lorem, </a:t>
            </a:r>
            <a:r>
              <a:rPr kumimoji="0" lang="en-US" sz="1200" b="0" i="0" u="none" strike="noStrike" kern="1200" cap="none" spc="0" normalizeH="0" baseline="0" noProof="0" err="1">
                <a:ln>
                  <a:noFill/>
                </a:ln>
                <a:solidFill>
                  <a:srgbClr val="FFFFFF">
                    <a:lumMod val="50000"/>
                  </a:srgbClr>
                </a:solidFill>
                <a:effectLst/>
                <a:uLnTx/>
                <a:uFillTx/>
                <a:latin typeface="Open Sans"/>
                <a:ea typeface="Times New Roman" panose="02020603050405020304" pitchFamily="18" charset="0"/>
                <a:cs typeface="+mn-cs"/>
              </a:rPr>
              <a:t>adipiscing</a:t>
            </a:r>
            <a:r>
              <a:rPr kumimoji="0" lang="en-US" sz="1200" b="0" i="0" u="none" strike="noStrike" kern="1200" cap="none" spc="0" normalizeH="0" baseline="0" noProof="0">
                <a:ln>
                  <a:noFill/>
                </a:ln>
                <a:solidFill>
                  <a:srgbClr val="FFFFFF">
                    <a:lumMod val="50000"/>
                  </a:srgbClr>
                </a:solidFill>
                <a:effectLst/>
                <a:uLnTx/>
                <a:uFillTx/>
                <a:latin typeface="Open Sans"/>
                <a:ea typeface="Times New Roman" panose="02020603050405020304" pitchFamily="18" charset="0"/>
                <a:cs typeface="+mn-cs"/>
              </a:rPr>
              <a:t> in </a:t>
            </a:r>
            <a:r>
              <a:rPr kumimoji="0" lang="en-US" sz="1200" b="0" i="0" u="none" strike="noStrike" kern="1200" cap="none" spc="0" normalizeH="0" baseline="0" noProof="0" err="1">
                <a:ln>
                  <a:noFill/>
                </a:ln>
                <a:solidFill>
                  <a:srgbClr val="FFFFFF">
                    <a:lumMod val="50000"/>
                  </a:srgbClr>
                </a:solidFill>
                <a:effectLst/>
                <a:uLnTx/>
                <a:uFillTx/>
                <a:latin typeface="Open Sans"/>
                <a:ea typeface="Times New Roman" panose="02020603050405020304" pitchFamily="18" charset="0"/>
                <a:cs typeface="+mn-cs"/>
              </a:rPr>
              <a:t>adipiscing</a:t>
            </a:r>
            <a:r>
              <a:rPr kumimoji="0" lang="en-US" sz="1200" b="0" i="0" u="none" strike="noStrike" kern="1200" cap="none" spc="0" normalizeH="0" baseline="0" noProof="0">
                <a:ln>
                  <a:noFill/>
                </a:ln>
                <a:solidFill>
                  <a:srgbClr val="FFFFFF">
                    <a:lumMod val="50000"/>
                  </a:srgbClr>
                </a:solidFill>
                <a:effectLst/>
                <a:uLnTx/>
                <a:uFillTx/>
                <a:latin typeface="Open Sans"/>
                <a:ea typeface="Times New Roman" panose="02020603050405020304" pitchFamily="18" charset="0"/>
                <a:cs typeface="+mn-cs"/>
              </a:rPr>
              <a:t> et, </a:t>
            </a:r>
            <a:r>
              <a:rPr kumimoji="0" lang="en-US" sz="1200" b="0" i="0" u="none" strike="noStrike" kern="1200" cap="none" spc="0" normalizeH="0" baseline="0" noProof="0" err="1">
                <a:ln>
                  <a:noFill/>
                </a:ln>
                <a:solidFill>
                  <a:srgbClr val="FFFFFF">
                    <a:lumMod val="50000"/>
                  </a:srgbClr>
                </a:solidFill>
                <a:effectLst/>
                <a:uLnTx/>
                <a:uFillTx/>
                <a:latin typeface="Open Sans"/>
                <a:ea typeface="Times New Roman" panose="02020603050405020304" pitchFamily="18" charset="0"/>
                <a:cs typeface="+mn-cs"/>
              </a:rPr>
              <a:t>interdum</a:t>
            </a:r>
            <a:r>
              <a:rPr kumimoji="0" lang="en-US" sz="1200" b="0" i="0" u="none" strike="noStrike" kern="1200" cap="none" spc="0" normalizeH="0" baseline="0" noProof="0">
                <a:ln>
                  <a:noFill/>
                </a:ln>
                <a:solidFill>
                  <a:srgbClr val="FFFFFF">
                    <a:lumMod val="50000"/>
                  </a:srgbClr>
                </a:solidFill>
                <a:effectLst/>
                <a:uLnTx/>
                <a:uFillTx/>
                <a:latin typeface="Open Sans"/>
                <a:ea typeface="Times New Roman" panose="02020603050405020304" pitchFamily="18" charset="0"/>
                <a:cs typeface="+mn-cs"/>
              </a:rPr>
              <a:t> nec </a:t>
            </a:r>
            <a:r>
              <a:rPr kumimoji="0" lang="en-US" sz="1200" b="0" i="0" u="none" strike="noStrike" kern="1200" cap="none" spc="0" normalizeH="0" baseline="0" noProof="0" err="1">
                <a:ln>
                  <a:noFill/>
                </a:ln>
                <a:solidFill>
                  <a:srgbClr val="FFFFFF">
                    <a:lumMod val="50000"/>
                  </a:srgbClr>
                </a:solidFill>
                <a:effectLst/>
                <a:uLnTx/>
                <a:uFillTx/>
                <a:latin typeface="Open Sans"/>
                <a:ea typeface="Times New Roman" panose="02020603050405020304" pitchFamily="18" charset="0"/>
                <a:cs typeface="+mn-cs"/>
              </a:rPr>
              <a:t>metus</a:t>
            </a:r>
            <a:r>
              <a:rPr kumimoji="0" lang="en-US" sz="1200" b="0" i="0" u="none" strike="noStrike" kern="1200" cap="none" spc="0" normalizeH="0" baseline="0" noProof="0">
                <a:ln>
                  <a:noFill/>
                </a:ln>
                <a:solidFill>
                  <a:srgbClr val="FFFFFF">
                    <a:lumMod val="50000"/>
                  </a:srgbClr>
                </a:solidFill>
                <a:effectLst/>
                <a:uLnTx/>
                <a:uFillTx/>
                <a:latin typeface="Open Sans"/>
                <a:ea typeface="Times New Roman" panose="02020603050405020304" pitchFamily="18" charset="0"/>
                <a:cs typeface="+mn-cs"/>
              </a:rPr>
              <a:t>. </a:t>
            </a:r>
          </a:p>
        </p:txBody>
      </p:sp>
      <p:sp>
        <p:nvSpPr>
          <p:cNvPr id="44" name="Rectangle 43"/>
          <p:cNvSpPr/>
          <p:nvPr/>
        </p:nvSpPr>
        <p:spPr>
          <a:xfrm>
            <a:off x="7619363" y="4013477"/>
            <a:ext cx="3987246" cy="955919"/>
          </a:xfrm>
          <a:prstGeom prst="rect">
            <a:avLst/>
          </a:prstGeom>
        </p:spPr>
        <p:txBody>
          <a:bodyPr wrap="square">
            <a:spAutoFit/>
          </a:bodyPr>
          <a:lstStyle/>
          <a:p>
            <a:pPr marL="0" marR="0" lvl="0" indent="0" algn="just" defTabSz="914400" rtl="0" eaLnBrk="1" fontAlgn="auto" latinLnBrk="0" hangingPunct="1">
              <a:lnSpc>
                <a:spcPts val="1651"/>
              </a:lnSpc>
              <a:spcBef>
                <a:spcPts val="0"/>
              </a:spcBef>
              <a:spcAft>
                <a:spcPts val="1500"/>
              </a:spcAft>
              <a:buClrTx/>
              <a:buSzTx/>
              <a:buFontTx/>
              <a:buNone/>
              <a:tabLst/>
              <a:defRPr/>
            </a:pPr>
            <a:r>
              <a:rPr kumimoji="0" lang="en-US" sz="1200" b="0" i="0" u="none" strike="noStrike" kern="1200" cap="none" spc="0" normalizeH="0" baseline="0" noProof="0">
                <a:ln>
                  <a:noFill/>
                </a:ln>
                <a:solidFill>
                  <a:srgbClr val="FFFFFF">
                    <a:lumMod val="50000"/>
                  </a:srgbClr>
                </a:solidFill>
                <a:effectLst/>
                <a:uLnTx/>
                <a:uFillTx/>
                <a:latin typeface="Open Sans"/>
                <a:ea typeface="Times New Roman" panose="02020603050405020304" pitchFamily="18" charset="0"/>
                <a:cs typeface="+mn-cs"/>
              </a:rPr>
              <a:t>Lorem ipsum dolor sit </a:t>
            </a:r>
            <a:r>
              <a:rPr kumimoji="0" lang="en-US" sz="1200" b="0" i="0" u="none" strike="noStrike" kern="1200" cap="none" spc="0" normalizeH="0" baseline="0" noProof="0" err="1">
                <a:ln>
                  <a:noFill/>
                </a:ln>
                <a:solidFill>
                  <a:srgbClr val="FFFFFF">
                    <a:lumMod val="50000"/>
                  </a:srgbClr>
                </a:solidFill>
                <a:effectLst/>
                <a:uLnTx/>
                <a:uFillTx/>
                <a:latin typeface="Open Sans"/>
                <a:ea typeface="Times New Roman" panose="02020603050405020304" pitchFamily="18" charset="0"/>
                <a:cs typeface="+mn-cs"/>
              </a:rPr>
              <a:t>amet</a:t>
            </a:r>
            <a:r>
              <a:rPr kumimoji="0" lang="en-US" sz="1200" b="0" i="0" u="none" strike="noStrike" kern="1200" cap="none" spc="0" normalizeH="0" baseline="0" noProof="0">
                <a:ln>
                  <a:noFill/>
                </a:ln>
                <a:solidFill>
                  <a:srgbClr val="FFFFFF">
                    <a:lumMod val="50000"/>
                  </a:srgbClr>
                </a:solidFill>
                <a:effectLst/>
                <a:uLnTx/>
                <a:uFillTx/>
                <a:latin typeface="Open Sans"/>
                <a:ea typeface="Times New Roman" panose="02020603050405020304" pitchFamily="18" charset="0"/>
                <a:cs typeface="+mn-cs"/>
              </a:rPr>
              <a:t>, </a:t>
            </a:r>
            <a:r>
              <a:rPr kumimoji="0" lang="en-US" sz="1200" b="0" i="0" u="none" strike="noStrike" kern="1200" cap="none" spc="0" normalizeH="0" baseline="0" noProof="0" err="1">
                <a:ln>
                  <a:noFill/>
                </a:ln>
                <a:solidFill>
                  <a:srgbClr val="FFFFFF">
                    <a:lumMod val="50000"/>
                  </a:srgbClr>
                </a:solidFill>
                <a:effectLst/>
                <a:uLnTx/>
                <a:uFillTx/>
                <a:latin typeface="Open Sans"/>
                <a:ea typeface="Times New Roman" panose="02020603050405020304" pitchFamily="18" charset="0"/>
                <a:cs typeface="+mn-cs"/>
              </a:rPr>
              <a:t>consectetur</a:t>
            </a:r>
            <a:r>
              <a:rPr kumimoji="0" lang="en-US" sz="1200" b="0" i="0" u="none" strike="noStrike" kern="1200" cap="none" spc="0" normalizeH="0" baseline="0" noProof="0">
                <a:ln>
                  <a:noFill/>
                </a:ln>
                <a:solidFill>
                  <a:srgbClr val="FFFFFF">
                    <a:lumMod val="50000"/>
                  </a:srgbClr>
                </a:solidFill>
                <a:effectLst/>
                <a:uLnTx/>
                <a:uFillTx/>
                <a:latin typeface="Open Sans"/>
                <a:ea typeface="Times New Roman" panose="02020603050405020304" pitchFamily="18" charset="0"/>
                <a:cs typeface="+mn-cs"/>
              </a:rPr>
              <a:t> </a:t>
            </a:r>
            <a:r>
              <a:rPr kumimoji="0" lang="en-US" sz="1200" b="0" i="0" u="none" strike="noStrike" kern="1200" cap="none" spc="0" normalizeH="0" baseline="0" noProof="0" err="1">
                <a:ln>
                  <a:noFill/>
                </a:ln>
                <a:solidFill>
                  <a:srgbClr val="FFFFFF">
                    <a:lumMod val="50000"/>
                  </a:srgbClr>
                </a:solidFill>
                <a:effectLst/>
                <a:uLnTx/>
                <a:uFillTx/>
                <a:latin typeface="Open Sans"/>
                <a:ea typeface="Times New Roman" panose="02020603050405020304" pitchFamily="18" charset="0"/>
                <a:cs typeface="+mn-cs"/>
              </a:rPr>
              <a:t>adipiscing</a:t>
            </a:r>
            <a:r>
              <a:rPr kumimoji="0" lang="en-US" sz="1200" b="0" i="0" u="none" strike="noStrike" kern="1200" cap="none" spc="0" normalizeH="0" baseline="0" noProof="0">
                <a:ln>
                  <a:noFill/>
                </a:ln>
                <a:solidFill>
                  <a:srgbClr val="FFFFFF">
                    <a:lumMod val="50000"/>
                  </a:srgbClr>
                </a:solidFill>
                <a:effectLst/>
                <a:uLnTx/>
                <a:uFillTx/>
                <a:latin typeface="Open Sans"/>
                <a:ea typeface="Times New Roman" panose="02020603050405020304" pitchFamily="18" charset="0"/>
                <a:cs typeface="+mn-cs"/>
              </a:rPr>
              <a:t> </a:t>
            </a:r>
            <a:r>
              <a:rPr kumimoji="0" lang="en-US" sz="1200" b="0" i="0" u="none" strike="noStrike" kern="1200" cap="none" spc="0" normalizeH="0" baseline="0" noProof="0" err="1">
                <a:ln>
                  <a:noFill/>
                </a:ln>
                <a:solidFill>
                  <a:srgbClr val="FFFFFF">
                    <a:lumMod val="50000"/>
                  </a:srgbClr>
                </a:solidFill>
                <a:effectLst/>
                <a:uLnTx/>
                <a:uFillTx/>
                <a:latin typeface="Open Sans"/>
                <a:ea typeface="Times New Roman" panose="02020603050405020304" pitchFamily="18" charset="0"/>
                <a:cs typeface="+mn-cs"/>
              </a:rPr>
              <a:t>elit</a:t>
            </a:r>
            <a:r>
              <a:rPr kumimoji="0" lang="en-US" sz="1200" b="0" i="0" u="none" strike="noStrike" kern="1200" cap="none" spc="0" normalizeH="0" baseline="0" noProof="0">
                <a:ln>
                  <a:noFill/>
                </a:ln>
                <a:solidFill>
                  <a:srgbClr val="FFFFFF">
                    <a:lumMod val="50000"/>
                  </a:srgbClr>
                </a:solidFill>
                <a:effectLst/>
                <a:uLnTx/>
                <a:uFillTx/>
                <a:latin typeface="Open Sans"/>
                <a:ea typeface="Times New Roman" panose="02020603050405020304" pitchFamily="18" charset="0"/>
                <a:cs typeface="+mn-cs"/>
              </a:rPr>
              <a:t>. Nam </a:t>
            </a:r>
            <a:r>
              <a:rPr kumimoji="0" lang="en-US" sz="1200" b="0" i="0" u="none" strike="noStrike" kern="1200" cap="none" spc="0" normalizeH="0" baseline="0" noProof="0" err="1">
                <a:ln>
                  <a:noFill/>
                </a:ln>
                <a:solidFill>
                  <a:srgbClr val="FFFFFF">
                    <a:lumMod val="50000"/>
                  </a:srgbClr>
                </a:solidFill>
                <a:effectLst/>
                <a:uLnTx/>
                <a:uFillTx/>
                <a:latin typeface="Open Sans"/>
                <a:ea typeface="Times New Roman" panose="02020603050405020304" pitchFamily="18" charset="0"/>
                <a:cs typeface="+mn-cs"/>
              </a:rPr>
              <a:t>viverra</a:t>
            </a:r>
            <a:r>
              <a:rPr kumimoji="0" lang="en-US" sz="1200" b="0" i="0" u="none" strike="noStrike" kern="1200" cap="none" spc="0" normalizeH="0" baseline="0" noProof="0">
                <a:ln>
                  <a:noFill/>
                </a:ln>
                <a:solidFill>
                  <a:srgbClr val="FFFFFF">
                    <a:lumMod val="50000"/>
                  </a:srgbClr>
                </a:solidFill>
                <a:effectLst/>
                <a:uLnTx/>
                <a:uFillTx/>
                <a:latin typeface="Open Sans"/>
                <a:ea typeface="Times New Roman" panose="02020603050405020304" pitchFamily="18" charset="0"/>
                <a:cs typeface="+mn-cs"/>
              </a:rPr>
              <a:t> </a:t>
            </a:r>
            <a:r>
              <a:rPr kumimoji="0" lang="en-US" sz="1200" b="0" i="0" u="none" strike="noStrike" kern="1200" cap="none" spc="0" normalizeH="0" baseline="0" noProof="0" err="1">
                <a:ln>
                  <a:noFill/>
                </a:ln>
                <a:solidFill>
                  <a:srgbClr val="FFFFFF">
                    <a:lumMod val="50000"/>
                  </a:srgbClr>
                </a:solidFill>
                <a:effectLst/>
                <a:uLnTx/>
                <a:uFillTx/>
                <a:latin typeface="Open Sans"/>
                <a:ea typeface="Times New Roman" panose="02020603050405020304" pitchFamily="18" charset="0"/>
                <a:cs typeface="+mn-cs"/>
              </a:rPr>
              <a:t>euismod</a:t>
            </a:r>
            <a:r>
              <a:rPr kumimoji="0" lang="en-US" sz="1200" b="0" i="0" u="none" strike="noStrike" kern="1200" cap="none" spc="0" normalizeH="0" baseline="0" noProof="0">
                <a:ln>
                  <a:noFill/>
                </a:ln>
                <a:solidFill>
                  <a:srgbClr val="FFFFFF">
                    <a:lumMod val="50000"/>
                  </a:srgbClr>
                </a:solidFill>
                <a:effectLst/>
                <a:uLnTx/>
                <a:uFillTx/>
                <a:latin typeface="Open Sans"/>
                <a:ea typeface="Times New Roman" panose="02020603050405020304" pitchFamily="18" charset="0"/>
                <a:cs typeface="+mn-cs"/>
              </a:rPr>
              <a:t> </a:t>
            </a:r>
            <a:r>
              <a:rPr kumimoji="0" lang="en-US" sz="1200" b="0" i="0" u="none" strike="noStrike" kern="1200" cap="none" spc="0" normalizeH="0" baseline="0" noProof="0" err="1">
                <a:ln>
                  <a:noFill/>
                </a:ln>
                <a:solidFill>
                  <a:srgbClr val="FFFFFF">
                    <a:lumMod val="50000"/>
                  </a:srgbClr>
                </a:solidFill>
                <a:effectLst/>
                <a:uLnTx/>
                <a:uFillTx/>
                <a:latin typeface="Open Sans"/>
                <a:ea typeface="Times New Roman" panose="02020603050405020304" pitchFamily="18" charset="0"/>
                <a:cs typeface="+mn-cs"/>
              </a:rPr>
              <a:t>odio</a:t>
            </a:r>
            <a:r>
              <a:rPr kumimoji="0" lang="en-US" sz="1200" b="0" i="0" u="none" strike="noStrike" kern="1200" cap="none" spc="0" normalizeH="0" baseline="0" noProof="0">
                <a:ln>
                  <a:noFill/>
                </a:ln>
                <a:solidFill>
                  <a:srgbClr val="FFFFFF">
                    <a:lumMod val="50000"/>
                  </a:srgbClr>
                </a:solidFill>
                <a:effectLst/>
                <a:uLnTx/>
                <a:uFillTx/>
                <a:latin typeface="Open Sans"/>
                <a:ea typeface="Times New Roman" panose="02020603050405020304" pitchFamily="18" charset="0"/>
                <a:cs typeface="+mn-cs"/>
              </a:rPr>
              <a:t>, gravida </a:t>
            </a:r>
            <a:r>
              <a:rPr kumimoji="0" lang="en-US" sz="1200" b="0" i="0" u="none" strike="noStrike" kern="1200" cap="none" spc="0" normalizeH="0" baseline="0" noProof="0" err="1">
                <a:ln>
                  <a:noFill/>
                </a:ln>
                <a:solidFill>
                  <a:srgbClr val="FFFFFF">
                    <a:lumMod val="50000"/>
                  </a:srgbClr>
                </a:solidFill>
                <a:effectLst/>
                <a:uLnTx/>
                <a:uFillTx/>
                <a:latin typeface="Open Sans"/>
                <a:ea typeface="Times New Roman" panose="02020603050405020304" pitchFamily="18" charset="0"/>
                <a:cs typeface="+mn-cs"/>
              </a:rPr>
              <a:t>pellentesque</a:t>
            </a:r>
            <a:r>
              <a:rPr kumimoji="0" lang="en-US" sz="1200" b="0" i="0" u="none" strike="noStrike" kern="1200" cap="none" spc="0" normalizeH="0" baseline="0" noProof="0">
                <a:ln>
                  <a:noFill/>
                </a:ln>
                <a:solidFill>
                  <a:srgbClr val="FFFFFF">
                    <a:lumMod val="50000"/>
                  </a:srgbClr>
                </a:solidFill>
                <a:effectLst/>
                <a:uLnTx/>
                <a:uFillTx/>
                <a:latin typeface="Open Sans"/>
                <a:ea typeface="Times New Roman" panose="02020603050405020304" pitchFamily="18" charset="0"/>
                <a:cs typeface="+mn-cs"/>
              </a:rPr>
              <a:t> </a:t>
            </a:r>
            <a:r>
              <a:rPr kumimoji="0" lang="en-US" sz="1200" b="0" i="0" u="none" strike="noStrike" kern="1200" cap="none" spc="0" normalizeH="0" baseline="0" noProof="0" err="1">
                <a:ln>
                  <a:noFill/>
                </a:ln>
                <a:solidFill>
                  <a:srgbClr val="FFFFFF">
                    <a:lumMod val="50000"/>
                  </a:srgbClr>
                </a:solidFill>
                <a:effectLst/>
                <a:uLnTx/>
                <a:uFillTx/>
                <a:latin typeface="Open Sans"/>
                <a:ea typeface="Times New Roman" panose="02020603050405020304" pitchFamily="18" charset="0"/>
                <a:cs typeface="+mn-cs"/>
              </a:rPr>
              <a:t>urna</a:t>
            </a:r>
            <a:r>
              <a:rPr kumimoji="0" lang="en-US" sz="1200" b="0" i="0" u="none" strike="noStrike" kern="1200" cap="none" spc="0" normalizeH="0" baseline="0" noProof="0">
                <a:ln>
                  <a:noFill/>
                </a:ln>
                <a:solidFill>
                  <a:srgbClr val="FFFFFF">
                    <a:lumMod val="50000"/>
                  </a:srgbClr>
                </a:solidFill>
                <a:effectLst/>
                <a:uLnTx/>
                <a:uFillTx/>
                <a:latin typeface="Open Sans"/>
                <a:ea typeface="Times New Roman" panose="02020603050405020304" pitchFamily="18" charset="0"/>
                <a:cs typeface="+mn-cs"/>
              </a:rPr>
              <a:t> </a:t>
            </a:r>
            <a:r>
              <a:rPr kumimoji="0" lang="en-US" sz="1200" b="0" i="0" u="none" strike="noStrike" kern="1200" cap="none" spc="0" normalizeH="0" baseline="0" noProof="0" err="1">
                <a:ln>
                  <a:noFill/>
                </a:ln>
                <a:solidFill>
                  <a:srgbClr val="FFFFFF">
                    <a:lumMod val="50000"/>
                  </a:srgbClr>
                </a:solidFill>
                <a:effectLst/>
                <a:uLnTx/>
                <a:uFillTx/>
                <a:latin typeface="Open Sans"/>
                <a:ea typeface="Times New Roman" panose="02020603050405020304" pitchFamily="18" charset="0"/>
                <a:cs typeface="+mn-cs"/>
              </a:rPr>
              <a:t>varius</a:t>
            </a:r>
            <a:r>
              <a:rPr kumimoji="0" lang="en-US" sz="1200" b="0" i="0" u="none" strike="noStrike" kern="1200" cap="none" spc="0" normalizeH="0" baseline="0" noProof="0">
                <a:ln>
                  <a:noFill/>
                </a:ln>
                <a:solidFill>
                  <a:srgbClr val="FFFFFF">
                    <a:lumMod val="50000"/>
                  </a:srgbClr>
                </a:solidFill>
                <a:effectLst/>
                <a:uLnTx/>
                <a:uFillTx/>
                <a:latin typeface="Open Sans"/>
                <a:ea typeface="Times New Roman" panose="02020603050405020304" pitchFamily="18" charset="0"/>
                <a:cs typeface="+mn-cs"/>
              </a:rPr>
              <a:t> vitae. Sed dui lorem, </a:t>
            </a:r>
            <a:r>
              <a:rPr kumimoji="0" lang="en-US" sz="1200" b="0" i="0" u="none" strike="noStrike" kern="1200" cap="none" spc="0" normalizeH="0" baseline="0" noProof="0" err="1">
                <a:ln>
                  <a:noFill/>
                </a:ln>
                <a:solidFill>
                  <a:srgbClr val="FFFFFF">
                    <a:lumMod val="50000"/>
                  </a:srgbClr>
                </a:solidFill>
                <a:effectLst/>
                <a:uLnTx/>
                <a:uFillTx/>
                <a:latin typeface="Open Sans"/>
                <a:ea typeface="Times New Roman" panose="02020603050405020304" pitchFamily="18" charset="0"/>
                <a:cs typeface="+mn-cs"/>
              </a:rPr>
              <a:t>adipiscing</a:t>
            </a:r>
            <a:r>
              <a:rPr kumimoji="0" lang="en-US" sz="1200" b="0" i="0" u="none" strike="noStrike" kern="1200" cap="none" spc="0" normalizeH="0" baseline="0" noProof="0">
                <a:ln>
                  <a:noFill/>
                </a:ln>
                <a:solidFill>
                  <a:srgbClr val="FFFFFF">
                    <a:lumMod val="50000"/>
                  </a:srgbClr>
                </a:solidFill>
                <a:effectLst/>
                <a:uLnTx/>
                <a:uFillTx/>
                <a:latin typeface="Open Sans"/>
                <a:ea typeface="Times New Roman" panose="02020603050405020304" pitchFamily="18" charset="0"/>
                <a:cs typeface="+mn-cs"/>
              </a:rPr>
              <a:t> in </a:t>
            </a:r>
            <a:r>
              <a:rPr kumimoji="0" lang="en-US" sz="1200" b="0" i="0" u="none" strike="noStrike" kern="1200" cap="none" spc="0" normalizeH="0" baseline="0" noProof="0" err="1">
                <a:ln>
                  <a:noFill/>
                </a:ln>
                <a:solidFill>
                  <a:srgbClr val="FFFFFF">
                    <a:lumMod val="50000"/>
                  </a:srgbClr>
                </a:solidFill>
                <a:effectLst/>
                <a:uLnTx/>
                <a:uFillTx/>
                <a:latin typeface="Open Sans"/>
                <a:ea typeface="Times New Roman" panose="02020603050405020304" pitchFamily="18" charset="0"/>
                <a:cs typeface="+mn-cs"/>
              </a:rPr>
              <a:t>adipiscing</a:t>
            </a:r>
            <a:r>
              <a:rPr kumimoji="0" lang="en-US" sz="1200" b="0" i="0" u="none" strike="noStrike" kern="1200" cap="none" spc="0" normalizeH="0" baseline="0" noProof="0">
                <a:ln>
                  <a:noFill/>
                </a:ln>
                <a:solidFill>
                  <a:srgbClr val="FFFFFF">
                    <a:lumMod val="50000"/>
                  </a:srgbClr>
                </a:solidFill>
                <a:effectLst/>
                <a:uLnTx/>
                <a:uFillTx/>
                <a:latin typeface="Open Sans"/>
                <a:ea typeface="Times New Roman" panose="02020603050405020304" pitchFamily="18" charset="0"/>
                <a:cs typeface="+mn-cs"/>
              </a:rPr>
              <a:t> et, </a:t>
            </a:r>
            <a:r>
              <a:rPr kumimoji="0" lang="en-US" sz="1200" b="0" i="0" u="none" strike="noStrike" kern="1200" cap="none" spc="0" normalizeH="0" baseline="0" noProof="0" err="1">
                <a:ln>
                  <a:noFill/>
                </a:ln>
                <a:solidFill>
                  <a:srgbClr val="FFFFFF">
                    <a:lumMod val="50000"/>
                  </a:srgbClr>
                </a:solidFill>
                <a:effectLst/>
                <a:uLnTx/>
                <a:uFillTx/>
                <a:latin typeface="Open Sans"/>
                <a:ea typeface="Times New Roman" panose="02020603050405020304" pitchFamily="18" charset="0"/>
                <a:cs typeface="+mn-cs"/>
              </a:rPr>
              <a:t>interdum</a:t>
            </a:r>
            <a:r>
              <a:rPr kumimoji="0" lang="en-US" sz="1200" b="0" i="0" u="none" strike="noStrike" kern="1200" cap="none" spc="0" normalizeH="0" baseline="0" noProof="0">
                <a:ln>
                  <a:noFill/>
                </a:ln>
                <a:solidFill>
                  <a:srgbClr val="FFFFFF">
                    <a:lumMod val="50000"/>
                  </a:srgbClr>
                </a:solidFill>
                <a:effectLst/>
                <a:uLnTx/>
                <a:uFillTx/>
                <a:latin typeface="Open Sans"/>
                <a:ea typeface="Times New Roman" panose="02020603050405020304" pitchFamily="18" charset="0"/>
                <a:cs typeface="+mn-cs"/>
              </a:rPr>
              <a:t> nec </a:t>
            </a:r>
            <a:r>
              <a:rPr kumimoji="0" lang="en-US" sz="1200" b="0" i="0" u="none" strike="noStrike" kern="1200" cap="none" spc="0" normalizeH="0" baseline="0" noProof="0" err="1">
                <a:ln>
                  <a:noFill/>
                </a:ln>
                <a:solidFill>
                  <a:srgbClr val="FFFFFF">
                    <a:lumMod val="50000"/>
                  </a:srgbClr>
                </a:solidFill>
                <a:effectLst/>
                <a:uLnTx/>
                <a:uFillTx/>
                <a:latin typeface="Open Sans"/>
                <a:ea typeface="Times New Roman" panose="02020603050405020304" pitchFamily="18" charset="0"/>
                <a:cs typeface="+mn-cs"/>
              </a:rPr>
              <a:t>metus</a:t>
            </a:r>
            <a:r>
              <a:rPr kumimoji="0" lang="en-US" sz="1200" b="0" i="0" u="none" strike="noStrike" kern="1200" cap="none" spc="0" normalizeH="0" baseline="0" noProof="0">
                <a:ln>
                  <a:noFill/>
                </a:ln>
                <a:solidFill>
                  <a:srgbClr val="FFFFFF">
                    <a:lumMod val="50000"/>
                  </a:srgbClr>
                </a:solidFill>
                <a:effectLst/>
                <a:uLnTx/>
                <a:uFillTx/>
                <a:latin typeface="Open Sans"/>
                <a:ea typeface="Times New Roman" panose="02020603050405020304" pitchFamily="18" charset="0"/>
                <a:cs typeface="+mn-cs"/>
              </a:rPr>
              <a:t>. </a:t>
            </a:r>
          </a:p>
        </p:txBody>
      </p:sp>
      <p:sp>
        <p:nvSpPr>
          <p:cNvPr id="45" name="Shape 2774"/>
          <p:cNvSpPr/>
          <p:nvPr/>
        </p:nvSpPr>
        <p:spPr>
          <a:xfrm>
            <a:off x="6944111" y="3055133"/>
            <a:ext cx="495725" cy="456671"/>
          </a:xfrm>
          <a:custGeom>
            <a:avLst/>
            <a:gdLst/>
            <a:ahLst/>
            <a:cxnLst>
              <a:cxn ang="0">
                <a:pos x="wd2" y="hd2"/>
              </a:cxn>
              <a:cxn ang="5400000">
                <a:pos x="wd2" y="hd2"/>
              </a:cxn>
              <a:cxn ang="10800000">
                <a:pos x="wd2" y="hd2"/>
              </a:cxn>
              <a:cxn ang="16200000">
                <a:pos x="wd2" y="hd2"/>
              </a:cxn>
            </a:cxnLst>
            <a:rect l="0" t="0" r="r" b="b"/>
            <a:pathLst>
              <a:path w="21600" h="21600" extrusionOk="0">
                <a:moveTo>
                  <a:pt x="20618" y="2945"/>
                </a:moveTo>
                <a:lnTo>
                  <a:pt x="982" y="2945"/>
                </a:lnTo>
                <a:lnTo>
                  <a:pt x="982" y="1964"/>
                </a:lnTo>
                <a:lnTo>
                  <a:pt x="20618" y="1964"/>
                </a:lnTo>
                <a:cubicBezTo>
                  <a:pt x="20618" y="1964"/>
                  <a:pt x="20618" y="2945"/>
                  <a:pt x="20618" y="2945"/>
                </a:cubicBezTo>
                <a:close/>
                <a:moveTo>
                  <a:pt x="19636" y="15709"/>
                </a:moveTo>
                <a:lnTo>
                  <a:pt x="1964" y="15709"/>
                </a:lnTo>
                <a:lnTo>
                  <a:pt x="1964" y="3927"/>
                </a:lnTo>
                <a:lnTo>
                  <a:pt x="19636" y="3927"/>
                </a:lnTo>
                <a:cubicBezTo>
                  <a:pt x="19636" y="3927"/>
                  <a:pt x="19636" y="15709"/>
                  <a:pt x="19636" y="15709"/>
                </a:cubicBezTo>
                <a:close/>
                <a:moveTo>
                  <a:pt x="20618" y="982"/>
                </a:moveTo>
                <a:lnTo>
                  <a:pt x="11782" y="982"/>
                </a:lnTo>
                <a:cubicBezTo>
                  <a:pt x="11782" y="440"/>
                  <a:pt x="11342" y="0"/>
                  <a:pt x="10800" y="0"/>
                </a:cubicBezTo>
                <a:cubicBezTo>
                  <a:pt x="10257" y="0"/>
                  <a:pt x="9818" y="440"/>
                  <a:pt x="9818" y="982"/>
                </a:cubicBezTo>
                <a:lnTo>
                  <a:pt x="982" y="982"/>
                </a:lnTo>
                <a:cubicBezTo>
                  <a:pt x="439" y="982"/>
                  <a:pt x="0" y="1422"/>
                  <a:pt x="0" y="1964"/>
                </a:cubicBezTo>
                <a:lnTo>
                  <a:pt x="0" y="2945"/>
                </a:lnTo>
                <a:cubicBezTo>
                  <a:pt x="0" y="3488"/>
                  <a:pt x="439" y="3927"/>
                  <a:pt x="982" y="3927"/>
                </a:cubicBezTo>
                <a:lnTo>
                  <a:pt x="982" y="15709"/>
                </a:lnTo>
                <a:cubicBezTo>
                  <a:pt x="982" y="16252"/>
                  <a:pt x="1421" y="16691"/>
                  <a:pt x="1964" y="16691"/>
                </a:cubicBezTo>
                <a:lnTo>
                  <a:pt x="10309" y="16691"/>
                </a:lnTo>
                <a:lnTo>
                  <a:pt x="10309" y="17960"/>
                </a:lnTo>
                <a:lnTo>
                  <a:pt x="7507" y="20762"/>
                </a:lnTo>
                <a:cubicBezTo>
                  <a:pt x="7419" y="20851"/>
                  <a:pt x="7364" y="20974"/>
                  <a:pt x="7364" y="21109"/>
                </a:cubicBezTo>
                <a:cubicBezTo>
                  <a:pt x="7364" y="21380"/>
                  <a:pt x="7583" y="21600"/>
                  <a:pt x="7855" y="21600"/>
                </a:cubicBezTo>
                <a:cubicBezTo>
                  <a:pt x="7990" y="21600"/>
                  <a:pt x="8113" y="21545"/>
                  <a:pt x="8202" y="21456"/>
                </a:cubicBezTo>
                <a:lnTo>
                  <a:pt x="10800" y="18858"/>
                </a:lnTo>
                <a:lnTo>
                  <a:pt x="13398" y="21456"/>
                </a:lnTo>
                <a:cubicBezTo>
                  <a:pt x="13488" y="21545"/>
                  <a:pt x="13610" y="21600"/>
                  <a:pt x="13745" y="21600"/>
                </a:cubicBezTo>
                <a:cubicBezTo>
                  <a:pt x="14017" y="21600"/>
                  <a:pt x="14236" y="21380"/>
                  <a:pt x="14236" y="21109"/>
                </a:cubicBezTo>
                <a:cubicBezTo>
                  <a:pt x="14236" y="20974"/>
                  <a:pt x="14182" y="20851"/>
                  <a:pt x="14093" y="20762"/>
                </a:cubicBezTo>
                <a:lnTo>
                  <a:pt x="11291" y="17960"/>
                </a:lnTo>
                <a:lnTo>
                  <a:pt x="11291" y="16691"/>
                </a:lnTo>
                <a:lnTo>
                  <a:pt x="19636" y="16691"/>
                </a:lnTo>
                <a:cubicBezTo>
                  <a:pt x="20178" y="16691"/>
                  <a:pt x="20618" y="16252"/>
                  <a:pt x="20618" y="15709"/>
                </a:cubicBezTo>
                <a:lnTo>
                  <a:pt x="20618" y="3927"/>
                </a:lnTo>
                <a:cubicBezTo>
                  <a:pt x="21160" y="3927"/>
                  <a:pt x="21600" y="3488"/>
                  <a:pt x="21600" y="2945"/>
                </a:cubicBezTo>
                <a:lnTo>
                  <a:pt x="21600" y="1964"/>
                </a:lnTo>
                <a:cubicBezTo>
                  <a:pt x="21600" y="1422"/>
                  <a:pt x="21160" y="982"/>
                  <a:pt x="20618" y="982"/>
                </a:cubicBezTo>
                <a:moveTo>
                  <a:pt x="16200" y="5891"/>
                </a:moveTo>
                <a:cubicBezTo>
                  <a:pt x="16471" y="5891"/>
                  <a:pt x="16691" y="6111"/>
                  <a:pt x="16691" y="6382"/>
                </a:cubicBezTo>
                <a:cubicBezTo>
                  <a:pt x="16691" y="6653"/>
                  <a:pt x="16471" y="6873"/>
                  <a:pt x="16200" y="6873"/>
                </a:cubicBezTo>
                <a:cubicBezTo>
                  <a:pt x="15929" y="6873"/>
                  <a:pt x="15709" y="6653"/>
                  <a:pt x="15709" y="6382"/>
                </a:cubicBezTo>
                <a:cubicBezTo>
                  <a:pt x="15709" y="6111"/>
                  <a:pt x="15929" y="5891"/>
                  <a:pt x="16200" y="5891"/>
                </a:cubicBezTo>
                <a:moveTo>
                  <a:pt x="16200" y="7855"/>
                </a:moveTo>
                <a:cubicBezTo>
                  <a:pt x="17013" y="7855"/>
                  <a:pt x="17673" y="7196"/>
                  <a:pt x="17673" y="6382"/>
                </a:cubicBezTo>
                <a:cubicBezTo>
                  <a:pt x="17673" y="5569"/>
                  <a:pt x="17013" y="4909"/>
                  <a:pt x="16200" y="4909"/>
                </a:cubicBezTo>
                <a:cubicBezTo>
                  <a:pt x="15387" y="4909"/>
                  <a:pt x="14727" y="5569"/>
                  <a:pt x="14727" y="6382"/>
                </a:cubicBezTo>
                <a:cubicBezTo>
                  <a:pt x="14727" y="7196"/>
                  <a:pt x="15387" y="7855"/>
                  <a:pt x="16200" y="7855"/>
                </a:cubicBezTo>
                <a:moveTo>
                  <a:pt x="8422" y="8135"/>
                </a:moveTo>
                <a:lnTo>
                  <a:pt x="11926" y="11638"/>
                </a:lnTo>
                <a:cubicBezTo>
                  <a:pt x="12015" y="11727"/>
                  <a:pt x="12138" y="11782"/>
                  <a:pt x="12273" y="11782"/>
                </a:cubicBezTo>
                <a:cubicBezTo>
                  <a:pt x="12408" y="11782"/>
                  <a:pt x="12531" y="11727"/>
                  <a:pt x="12620" y="11638"/>
                </a:cubicBezTo>
                <a:lnTo>
                  <a:pt x="14183" y="10075"/>
                </a:lnTo>
                <a:lnTo>
                  <a:pt x="16200" y="12764"/>
                </a:lnTo>
                <a:lnTo>
                  <a:pt x="5336" y="12764"/>
                </a:lnTo>
                <a:cubicBezTo>
                  <a:pt x="5336" y="12764"/>
                  <a:pt x="8422" y="8135"/>
                  <a:pt x="8422" y="8135"/>
                </a:cubicBezTo>
                <a:close/>
                <a:moveTo>
                  <a:pt x="4418" y="13745"/>
                </a:moveTo>
                <a:lnTo>
                  <a:pt x="17182" y="13745"/>
                </a:lnTo>
                <a:cubicBezTo>
                  <a:pt x="17453" y="13745"/>
                  <a:pt x="17673" y="13526"/>
                  <a:pt x="17673" y="13255"/>
                </a:cubicBezTo>
                <a:cubicBezTo>
                  <a:pt x="17673" y="13144"/>
                  <a:pt x="17630" y="13047"/>
                  <a:pt x="17568" y="12965"/>
                </a:cubicBezTo>
                <a:lnTo>
                  <a:pt x="17575" y="12960"/>
                </a:lnTo>
                <a:lnTo>
                  <a:pt x="14629" y="9033"/>
                </a:lnTo>
                <a:lnTo>
                  <a:pt x="14622" y="9038"/>
                </a:lnTo>
                <a:cubicBezTo>
                  <a:pt x="14533" y="8919"/>
                  <a:pt x="14397" y="8836"/>
                  <a:pt x="14236" y="8836"/>
                </a:cubicBezTo>
                <a:cubicBezTo>
                  <a:pt x="14101" y="8836"/>
                  <a:pt x="13978" y="8891"/>
                  <a:pt x="13889" y="8980"/>
                </a:cubicBezTo>
                <a:lnTo>
                  <a:pt x="12273" y="10597"/>
                </a:lnTo>
                <a:lnTo>
                  <a:pt x="8693" y="7017"/>
                </a:lnTo>
                <a:cubicBezTo>
                  <a:pt x="8604" y="6928"/>
                  <a:pt x="8481" y="6873"/>
                  <a:pt x="8345" y="6873"/>
                </a:cubicBezTo>
                <a:cubicBezTo>
                  <a:pt x="8175" y="6873"/>
                  <a:pt x="8033" y="6965"/>
                  <a:pt x="7945" y="7097"/>
                </a:cubicBezTo>
                <a:lnTo>
                  <a:pt x="7937" y="7091"/>
                </a:lnTo>
                <a:lnTo>
                  <a:pt x="4010" y="12982"/>
                </a:lnTo>
                <a:lnTo>
                  <a:pt x="4017" y="12988"/>
                </a:lnTo>
                <a:cubicBezTo>
                  <a:pt x="3965" y="13066"/>
                  <a:pt x="3927" y="13154"/>
                  <a:pt x="3927" y="13255"/>
                </a:cubicBezTo>
                <a:cubicBezTo>
                  <a:pt x="3927" y="13526"/>
                  <a:pt x="4147" y="13745"/>
                  <a:pt x="4418" y="13745"/>
                </a:cubicBezTo>
              </a:path>
            </a:pathLst>
          </a:custGeom>
          <a:solidFill>
            <a:srgbClr val="53585F"/>
          </a:solidFill>
          <a:ln w="12700">
            <a:miter lim="400000"/>
          </a:ln>
        </p:spPr>
        <p:txBody>
          <a:bodyPr lIns="14284" tIns="14284" rIns="14284" bIns="14284" anchor="ctr"/>
          <a:lstStyle/>
          <a:p>
            <a:pPr marL="0" marR="0" lvl="0" indent="0" algn="l" defTabSz="171401" rtl="0" eaLnBrk="1" fontAlgn="auto" latinLnBrk="0" hangingPunct="1">
              <a:lnSpc>
                <a:spcPct val="100000"/>
              </a:lnSpc>
              <a:spcBef>
                <a:spcPts val="0"/>
              </a:spcBef>
              <a:spcAft>
                <a:spcPts val="0"/>
              </a:spcAft>
              <a:buClrTx/>
              <a:buSzTx/>
              <a:buFontTx/>
              <a:buNone/>
              <a:tabLst/>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kumimoji="0" lang="en-US" sz="1125" b="0" i="0" u="none" strike="noStrike" kern="1200" cap="none" spc="0" normalizeH="0" baseline="0" noProof="0">
              <a:ln>
                <a:noFill/>
              </a:ln>
              <a:solidFill>
                <a:srgbClr val="FFFFFF">
                  <a:lumMod val="50000"/>
                </a:srgbClr>
              </a:solidFill>
              <a:effectLst>
                <a:outerShdw blurRad="38100" dist="12700" dir="5400000" rotWithShape="0">
                  <a:srgbClr val="000000">
                    <a:alpha val="50000"/>
                  </a:srgbClr>
                </a:outerShdw>
              </a:effectLst>
              <a:uLnTx/>
              <a:uFillTx/>
              <a:latin typeface="Gill Sans"/>
              <a:sym typeface="Gill Sans"/>
            </a:endParaRPr>
          </a:p>
        </p:txBody>
      </p:sp>
      <p:sp>
        <p:nvSpPr>
          <p:cNvPr id="46" name="Shape 2784"/>
          <p:cNvSpPr/>
          <p:nvPr/>
        </p:nvSpPr>
        <p:spPr>
          <a:xfrm>
            <a:off x="6944110" y="4209312"/>
            <a:ext cx="495725" cy="456671"/>
          </a:xfrm>
          <a:custGeom>
            <a:avLst/>
            <a:gdLst/>
            <a:ahLst/>
            <a:cxnLst>
              <a:cxn ang="0">
                <a:pos x="wd2" y="hd2"/>
              </a:cxn>
              <a:cxn ang="5400000">
                <a:pos x="wd2" y="hd2"/>
              </a:cxn>
              <a:cxn ang="10800000">
                <a:pos x="wd2" y="hd2"/>
              </a:cxn>
              <a:cxn ang="16200000">
                <a:pos x="wd2" y="hd2"/>
              </a:cxn>
            </a:cxnLst>
            <a:rect l="0" t="0" r="r" b="b"/>
            <a:pathLst>
              <a:path w="21600" h="21600" extrusionOk="0">
                <a:moveTo>
                  <a:pt x="20353" y="11229"/>
                </a:moveTo>
                <a:lnTo>
                  <a:pt x="20356" y="11234"/>
                </a:lnTo>
                <a:lnTo>
                  <a:pt x="11029" y="16143"/>
                </a:lnTo>
                <a:lnTo>
                  <a:pt x="11026" y="16138"/>
                </a:lnTo>
                <a:cubicBezTo>
                  <a:pt x="10957" y="16174"/>
                  <a:pt x="10883" y="16200"/>
                  <a:pt x="10800" y="16200"/>
                </a:cubicBezTo>
                <a:cubicBezTo>
                  <a:pt x="10717" y="16200"/>
                  <a:pt x="10643" y="16174"/>
                  <a:pt x="10574" y="16138"/>
                </a:cubicBezTo>
                <a:lnTo>
                  <a:pt x="10571" y="16143"/>
                </a:lnTo>
                <a:lnTo>
                  <a:pt x="1244" y="11234"/>
                </a:lnTo>
                <a:lnTo>
                  <a:pt x="1247" y="11229"/>
                </a:lnTo>
                <a:cubicBezTo>
                  <a:pt x="1091" y="11147"/>
                  <a:pt x="982" y="10988"/>
                  <a:pt x="982" y="10800"/>
                </a:cubicBezTo>
                <a:cubicBezTo>
                  <a:pt x="982" y="10612"/>
                  <a:pt x="1091" y="10453"/>
                  <a:pt x="1247" y="10371"/>
                </a:cubicBezTo>
                <a:lnTo>
                  <a:pt x="1244" y="10366"/>
                </a:lnTo>
                <a:lnTo>
                  <a:pt x="3562" y="9146"/>
                </a:lnTo>
                <a:lnTo>
                  <a:pt x="10113" y="12594"/>
                </a:lnTo>
                <a:lnTo>
                  <a:pt x="10117" y="12588"/>
                </a:lnTo>
                <a:cubicBezTo>
                  <a:pt x="10322" y="12697"/>
                  <a:pt x="10552" y="12764"/>
                  <a:pt x="10800" y="12764"/>
                </a:cubicBezTo>
                <a:cubicBezTo>
                  <a:pt x="11048" y="12764"/>
                  <a:pt x="11278" y="12697"/>
                  <a:pt x="11483" y="12588"/>
                </a:cubicBezTo>
                <a:lnTo>
                  <a:pt x="11486" y="12594"/>
                </a:lnTo>
                <a:lnTo>
                  <a:pt x="18038" y="9146"/>
                </a:lnTo>
                <a:lnTo>
                  <a:pt x="20356" y="10366"/>
                </a:lnTo>
                <a:lnTo>
                  <a:pt x="20353" y="10371"/>
                </a:lnTo>
                <a:cubicBezTo>
                  <a:pt x="20509" y="10453"/>
                  <a:pt x="20618" y="10612"/>
                  <a:pt x="20618" y="10800"/>
                </a:cubicBezTo>
                <a:cubicBezTo>
                  <a:pt x="20618" y="10988"/>
                  <a:pt x="20509" y="11147"/>
                  <a:pt x="20353" y="11229"/>
                </a:cubicBezTo>
                <a:moveTo>
                  <a:pt x="20356" y="14784"/>
                </a:moveTo>
                <a:lnTo>
                  <a:pt x="20353" y="14790"/>
                </a:lnTo>
                <a:cubicBezTo>
                  <a:pt x="20509" y="14872"/>
                  <a:pt x="20618" y="15030"/>
                  <a:pt x="20618" y="15218"/>
                </a:cubicBezTo>
                <a:cubicBezTo>
                  <a:pt x="20618" y="15407"/>
                  <a:pt x="20509" y="15565"/>
                  <a:pt x="20353" y="15647"/>
                </a:cubicBezTo>
                <a:lnTo>
                  <a:pt x="20356" y="15653"/>
                </a:lnTo>
                <a:lnTo>
                  <a:pt x="11029" y="20562"/>
                </a:lnTo>
                <a:lnTo>
                  <a:pt x="11026" y="20556"/>
                </a:lnTo>
                <a:cubicBezTo>
                  <a:pt x="10957" y="20592"/>
                  <a:pt x="10883" y="20618"/>
                  <a:pt x="10800" y="20618"/>
                </a:cubicBezTo>
                <a:cubicBezTo>
                  <a:pt x="10717" y="20618"/>
                  <a:pt x="10643" y="20592"/>
                  <a:pt x="10574" y="20556"/>
                </a:cubicBezTo>
                <a:lnTo>
                  <a:pt x="10571" y="20562"/>
                </a:lnTo>
                <a:lnTo>
                  <a:pt x="1244" y="15653"/>
                </a:lnTo>
                <a:lnTo>
                  <a:pt x="1247" y="15647"/>
                </a:lnTo>
                <a:cubicBezTo>
                  <a:pt x="1091" y="15565"/>
                  <a:pt x="982" y="15407"/>
                  <a:pt x="982" y="15218"/>
                </a:cubicBezTo>
                <a:cubicBezTo>
                  <a:pt x="982" y="15030"/>
                  <a:pt x="1091" y="14872"/>
                  <a:pt x="1247" y="14790"/>
                </a:cubicBezTo>
                <a:lnTo>
                  <a:pt x="1244" y="14784"/>
                </a:lnTo>
                <a:lnTo>
                  <a:pt x="3562" y="13564"/>
                </a:lnTo>
                <a:lnTo>
                  <a:pt x="10113" y="17012"/>
                </a:lnTo>
                <a:lnTo>
                  <a:pt x="10117" y="17006"/>
                </a:lnTo>
                <a:cubicBezTo>
                  <a:pt x="10322" y="17115"/>
                  <a:pt x="10552" y="17182"/>
                  <a:pt x="10800" y="17182"/>
                </a:cubicBezTo>
                <a:cubicBezTo>
                  <a:pt x="11048" y="17182"/>
                  <a:pt x="11278" y="17115"/>
                  <a:pt x="11483" y="17006"/>
                </a:cubicBezTo>
                <a:lnTo>
                  <a:pt x="11486" y="17012"/>
                </a:lnTo>
                <a:lnTo>
                  <a:pt x="18038" y="13564"/>
                </a:lnTo>
                <a:cubicBezTo>
                  <a:pt x="18038" y="13564"/>
                  <a:pt x="20356" y="14784"/>
                  <a:pt x="20356" y="14784"/>
                </a:cubicBezTo>
                <a:close/>
                <a:moveTo>
                  <a:pt x="1244" y="6816"/>
                </a:moveTo>
                <a:lnTo>
                  <a:pt x="1247" y="6811"/>
                </a:lnTo>
                <a:cubicBezTo>
                  <a:pt x="1091" y="6728"/>
                  <a:pt x="982" y="6570"/>
                  <a:pt x="982" y="6382"/>
                </a:cubicBezTo>
                <a:cubicBezTo>
                  <a:pt x="982" y="6194"/>
                  <a:pt x="1091" y="6035"/>
                  <a:pt x="1247" y="5953"/>
                </a:cubicBezTo>
                <a:lnTo>
                  <a:pt x="1244" y="5947"/>
                </a:lnTo>
                <a:lnTo>
                  <a:pt x="10571" y="1038"/>
                </a:lnTo>
                <a:lnTo>
                  <a:pt x="10574" y="1044"/>
                </a:lnTo>
                <a:cubicBezTo>
                  <a:pt x="10643" y="1008"/>
                  <a:pt x="10717" y="982"/>
                  <a:pt x="10800" y="982"/>
                </a:cubicBezTo>
                <a:cubicBezTo>
                  <a:pt x="10883" y="982"/>
                  <a:pt x="10957" y="1008"/>
                  <a:pt x="11026" y="1044"/>
                </a:cubicBezTo>
                <a:lnTo>
                  <a:pt x="11029" y="1038"/>
                </a:lnTo>
                <a:lnTo>
                  <a:pt x="20356" y="5947"/>
                </a:lnTo>
                <a:lnTo>
                  <a:pt x="20353" y="5953"/>
                </a:lnTo>
                <a:cubicBezTo>
                  <a:pt x="20509" y="6035"/>
                  <a:pt x="20618" y="6194"/>
                  <a:pt x="20618" y="6382"/>
                </a:cubicBezTo>
                <a:cubicBezTo>
                  <a:pt x="20618" y="6570"/>
                  <a:pt x="20509" y="6728"/>
                  <a:pt x="20353" y="6811"/>
                </a:cubicBezTo>
                <a:lnTo>
                  <a:pt x="20356" y="6816"/>
                </a:lnTo>
                <a:lnTo>
                  <a:pt x="11029" y="11725"/>
                </a:lnTo>
                <a:lnTo>
                  <a:pt x="11026" y="11720"/>
                </a:lnTo>
                <a:cubicBezTo>
                  <a:pt x="10957" y="11756"/>
                  <a:pt x="10883" y="11782"/>
                  <a:pt x="10800" y="11782"/>
                </a:cubicBezTo>
                <a:cubicBezTo>
                  <a:pt x="10717" y="11782"/>
                  <a:pt x="10643" y="11756"/>
                  <a:pt x="10574" y="11720"/>
                </a:cubicBezTo>
                <a:lnTo>
                  <a:pt x="10571" y="11725"/>
                </a:lnTo>
                <a:cubicBezTo>
                  <a:pt x="10571" y="11725"/>
                  <a:pt x="1244" y="6816"/>
                  <a:pt x="1244" y="6816"/>
                </a:cubicBezTo>
                <a:close/>
                <a:moveTo>
                  <a:pt x="21600" y="10800"/>
                </a:moveTo>
                <a:cubicBezTo>
                  <a:pt x="21600" y="10234"/>
                  <a:pt x="21278" y="9749"/>
                  <a:pt x="20810" y="9503"/>
                </a:cubicBezTo>
                <a:lnTo>
                  <a:pt x="20813" y="9497"/>
                </a:lnTo>
                <a:lnTo>
                  <a:pt x="19092" y="8591"/>
                </a:lnTo>
                <a:lnTo>
                  <a:pt x="20813" y="7685"/>
                </a:lnTo>
                <a:lnTo>
                  <a:pt x="20810" y="7679"/>
                </a:lnTo>
                <a:cubicBezTo>
                  <a:pt x="21278" y="7433"/>
                  <a:pt x="21600" y="6948"/>
                  <a:pt x="21600" y="6382"/>
                </a:cubicBezTo>
                <a:cubicBezTo>
                  <a:pt x="21600" y="5816"/>
                  <a:pt x="21278" y="5331"/>
                  <a:pt x="20810" y="5085"/>
                </a:cubicBezTo>
                <a:lnTo>
                  <a:pt x="20813" y="5079"/>
                </a:lnTo>
                <a:lnTo>
                  <a:pt x="11486" y="170"/>
                </a:lnTo>
                <a:lnTo>
                  <a:pt x="11483" y="175"/>
                </a:lnTo>
                <a:cubicBezTo>
                  <a:pt x="11278" y="67"/>
                  <a:pt x="11048" y="0"/>
                  <a:pt x="10800" y="0"/>
                </a:cubicBezTo>
                <a:cubicBezTo>
                  <a:pt x="10552" y="0"/>
                  <a:pt x="10322" y="67"/>
                  <a:pt x="10117" y="175"/>
                </a:cubicBezTo>
                <a:lnTo>
                  <a:pt x="10113" y="170"/>
                </a:lnTo>
                <a:lnTo>
                  <a:pt x="786" y="5079"/>
                </a:lnTo>
                <a:lnTo>
                  <a:pt x="790" y="5085"/>
                </a:lnTo>
                <a:cubicBezTo>
                  <a:pt x="322" y="5331"/>
                  <a:pt x="0" y="5816"/>
                  <a:pt x="0" y="6382"/>
                </a:cubicBezTo>
                <a:cubicBezTo>
                  <a:pt x="0" y="6948"/>
                  <a:pt x="322" y="7433"/>
                  <a:pt x="790" y="7679"/>
                </a:cubicBezTo>
                <a:lnTo>
                  <a:pt x="786" y="7685"/>
                </a:lnTo>
                <a:lnTo>
                  <a:pt x="2508" y="8591"/>
                </a:lnTo>
                <a:lnTo>
                  <a:pt x="786" y="9497"/>
                </a:lnTo>
                <a:lnTo>
                  <a:pt x="790" y="9503"/>
                </a:lnTo>
                <a:cubicBezTo>
                  <a:pt x="322" y="9749"/>
                  <a:pt x="0" y="10234"/>
                  <a:pt x="0" y="10800"/>
                </a:cubicBezTo>
                <a:cubicBezTo>
                  <a:pt x="0" y="11366"/>
                  <a:pt x="322" y="11851"/>
                  <a:pt x="790" y="12097"/>
                </a:cubicBezTo>
                <a:lnTo>
                  <a:pt x="786" y="12103"/>
                </a:lnTo>
                <a:lnTo>
                  <a:pt x="2508" y="13009"/>
                </a:lnTo>
                <a:lnTo>
                  <a:pt x="786" y="13915"/>
                </a:lnTo>
                <a:lnTo>
                  <a:pt x="790" y="13921"/>
                </a:lnTo>
                <a:cubicBezTo>
                  <a:pt x="322" y="14167"/>
                  <a:pt x="0" y="14652"/>
                  <a:pt x="0" y="15218"/>
                </a:cubicBezTo>
                <a:cubicBezTo>
                  <a:pt x="0" y="15784"/>
                  <a:pt x="322" y="16269"/>
                  <a:pt x="790" y="16515"/>
                </a:cubicBezTo>
                <a:lnTo>
                  <a:pt x="786" y="16521"/>
                </a:lnTo>
                <a:lnTo>
                  <a:pt x="10113" y="21430"/>
                </a:lnTo>
                <a:lnTo>
                  <a:pt x="10117" y="21425"/>
                </a:lnTo>
                <a:cubicBezTo>
                  <a:pt x="10322" y="21533"/>
                  <a:pt x="10552" y="21600"/>
                  <a:pt x="10800" y="21600"/>
                </a:cubicBezTo>
                <a:cubicBezTo>
                  <a:pt x="11048" y="21600"/>
                  <a:pt x="11278" y="21533"/>
                  <a:pt x="11483" y="21425"/>
                </a:cubicBezTo>
                <a:lnTo>
                  <a:pt x="11486" y="21430"/>
                </a:lnTo>
                <a:lnTo>
                  <a:pt x="20813" y="16521"/>
                </a:lnTo>
                <a:lnTo>
                  <a:pt x="20810" y="16515"/>
                </a:lnTo>
                <a:cubicBezTo>
                  <a:pt x="21278" y="16269"/>
                  <a:pt x="21600" y="15784"/>
                  <a:pt x="21600" y="15218"/>
                </a:cubicBezTo>
                <a:cubicBezTo>
                  <a:pt x="21600" y="14652"/>
                  <a:pt x="21278" y="14167"/>
                  <a:pt x="20810" y="13921"/>
                </a:cubicBezTo>
                <a:lnTo>
                  <a:pt x="20813" y="13915"/>
                </a:lnTo>
                <a:lnTo>
                  <a:pt x="19092" y="13009"/>
                </a:lnTo>
                <a:lnTo>
                  <a:pt x="20813" y="12103"/>
                </a:lnTo>
                <a:lnTo>
                  <a:pt x="20810" y="12097"/>
                </a:lnTo>
                <a:cubicBezTo>
                  <a:pt x="21278" y="11851"/>
                  <a:pt x="21600" y="11366"/>
                  <a:pt x="21600" y="10800"/>
                </a:cubicBezTo>
              </a:path>
            </a:pathLst>
          </a:custGeom>
          <a:solidFill>
            <a:srgbClr val="53585F"/>
          </a:solidFill>
          <a:ln w="12700">
            <a:miter lim="400000"/>
          </a:ln>
        </p:spPr>
        <p:txBody>
          <a:bodyPr lIns="14284" tIns="14284" rIns="14284" bIns="14284" anchor="ctr"/>
          <a:lstStyle/>
          <a:p>
            <a:pPr marL="0" marR="0" lvl="0" indent="0" algn="l" defTabSz="171401" rtl="0" eaLnBrk="1" fontAlgn="auto" latinLnBrk="0" hangingPunct="1">
              <a:lnSpc>
                <a:spcPct val="100000"/>
              </a:lnSpc>
              <a:spcBef>
                <a:spcPts val="0"/>
              </a:spcBef>
              <a:spcAft>
                <a:spcPts val="0"/>
              </a:spcAft>
              <a:buClrTx/>
              <a:buSzTx/>
              <a:buFontTx/>
              <a:buNone/>
              <a:tabLst/>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kumimoji="0" lang="en-US" sz="1125" b="0" i="0" u="none" strike="noStrike" kern="1200" cap="none" spc="0" normalizeH="0" baseline="0" noProof="0">
              <a:ln>
                <a:noFill/>
              </a:ln>
              <a:solidFill>
                <a:srgbClr val="FFFFFF">
                  <a:lumMod val="50000"/>
                </a:srgbClr>
              </a:solidFill>
              <a:effectLst>
                <a:outerShdw blurRad="38100" dist="12700" dir="5400000" rotWithShape="0">
                  <a:srgbClr val="000000">
                    <a:alpha val="50000"/>
                  </a:srgbClr>
                </a:outerShdw>
              </a:effectLst>
              <a:uLnTx/>
              <a:uFillTx/>
              <a:latin typeface="Gill Sans"/>
              <a:sym typeface="Gill Sans"/>
            </a:endParaRPr>
          </a:p>
        </p:txBody>
      </p:sp>
      <p:sp>
        <p:nvSpPr>
          <p:cNvPr id="47" name="Rectangle 46"/>
          <p:cNvSpPr/>
          <p:nvPr/>
        </p:nvSpPr>
        <p:spPr>
          <a:xfrm>
            <a:off x="7518740" y="5147513"/>
            <a:ext cx="3987246" cy="955919"/>
          </a:xfrm>
          <a:prstGeom prst="rect">
            <a:avLst/>
          </a:prstGeom>
        </p:spPr>
        <p:txBody>
          <a:bodyPr wrap="square">
            <a:spAutoFit/>
          </a:bodyPr>
          <a:lstStyle/>
          <a:p>
            <a:pPr marL="0" marR="0" lvl="0" indent="0" algn="just" defTabSz="914400" rtl="0" eaLnBrk="1" fontAlgn="auto" latinLnBrk="0" hangingPunct="1">
              <a:lnSpc>
                <a:spcPts val="1651"/>
              </a:lnSpc>
              <a:spcBef>
                <a:spcPts val="0"/>
              </a:spcBef>
              <a:spcAft>
                <a:spcPts val="1500"/>
              </a:spcAft>
              <a:buClrTx/>
              <a:buSzTx/>
              <a:buFontTx/>
              <a:buNone/>
              <a:tabLst/>
              <a:defRPr/>
            </a:pPr>
            <a:r>
              <a:rPr kumimoji="0" lang="en-US" sz="1200" b="0" i="0" u="none" strike="noStrike" kern="1200" cap="none" spc="0" normalizeH="0" baseline="0" noProof="0">
                <a:ln>
                  <a:noFill/>
                </a:ln>
                <a:solidFill>
                  <a:srgbClr val="FFFFFF">
                    <a:lumMod val="50000"/>
                  </a:srgbClr>
                </a:solidFill>
                <a:effectLst/>
                <a:uLnTx/>
                <a:uFillTx/>
                <a:latin typeface="Open Sans"/>
                <a:ea typeface="Times New Roman" panose="02020603050405020304" pitchFamily="18" charset="0"/>
                <a:cs typeface="+mn-cs"/>
              </a:rPr>
              <a:t>Lorem ipsum dolor sit </a:t>
            </a:r>
            <a:r>
              <a:rPr kumimoji="0" lang="en-US" sz="1200" b="0" i="0" u="none" strike="noStrike" kern="1200" cap="none" spc="0" normalizeH="0" baseline="0" noProof="0" err="1">
                <a:ln>
                  <a:noFill/>
                </a:ln>
                <a:solidFill>
                  <a:srgbClr val="FFFFFF">
                    <a:lumMod val="50000"/>
                  </a:srgbClr>
                </a:solidFill>
                <a:effectLst/>
                <a:uLnTx/>
                <a:uFillTx/>
                <a:latin typeface="Open Sans"/>
                <a:ea typeface="Times New Roman" panose="02020603050405020304" pitchFamily="18" charset="0"/>
                <a:cs typeface="+mn-cs"/>
              </a:rPr>
              <a:t>amet</a:t>
            </a:r>
            <a:r>
              <a:rPr kumimoji="0" lang="en-US" sz="1200" b="0" i="0" u="none" strike="noStrike" kern="1200" cap="none" spc="0" normalizeH="0" baseline="0" noProof="0">
                <a:ln>
                  <a:noFill/>
                </a:ln>
                <a:solidFill>
                  <a:srgbClr val="FFFFFF">
                    <a:lumMod val="50000"/>
                  </a:srgbClr>
                </a:solidFill>
                <a:effectLst/>
                <a:uLnTx/>
                <a:uFillTx/>
                <a:latin typeface="Open Sans"/>
                <a:ea typeface="Times New Roman" panose="02020603050405020304" pitchFamily="18" charset="0"/>
                <a:cs typeface="+mn-cs"/>
              </a:rPr>
              <a:t>, </a:t>
            </a:r>
            <a:r>
              <a:rPr kumimoji="0" lang="en-US" sz="1200" b="0" i="0" u="none" strike="noStrike" kern="1200" cap="none" spc="0" normalizeH="0" baseline="0" noProof="0" err="1">
                <a:ln>
                  <a:noFill/>
                </a:ln>
                <a:solidFill>
                  <a:srgbClr val="FFFFFF">
                    <a:lumMod val="50000"/>
                  </a:srgbClr>
                </a:solidFill>
                <a:effectLst/>
                <a:uLnTx/>
                <a:uFillTx/>
                <a:latin typeface="Open Sans"/>
                <a:ea typeface="Times New Roman" panose="02020603050405020304" pitchFamily="18" charset="0"/>
                <a:cs typeface="+mn-cs"/>
              </a:rPr>
              <a:t>consectetur</a:t>
            </a:r>
            <a:r>
              <a:rPr kumimoji="0" lang="en-US" sz="1200" b="0" i="0" u="none" strike="noStrike" kern="1200" cap="none" spc="0" normalizeH="0" baseline="0" noProof="0">
                <a:ln>
                  <a:noFill/>
                </a:ln>
                <a:solidFill>
                  <a:srgbClr val="FFFFFF">
                    <a:lumMod val="50000"/>
                  </a:srgbClr>
                </a:solidFill>
                <a:effectLst/>
                <a:uLnTx/>
                <a:uFillTx/>
                <a:latin typeface="Open Sans"/>
                <a:ea typeface="Times New Roman" panose="02020603050405020304" pitchFamily="18" charset="0"/>
                <a:cs typeface="+mn-cs"/>
              </a:rPr>
              <a:t> </a:t>
            </a:r>
            <a:r>
              <a:rPr kumimoji="0" lang="en-US" sz="1200" b="0" i="0" u="none" strike="noStrike" kern="1200" cap="none" spc="0" normalizeH="0" baseline="0" noProof="0" err="1">
                <a:ln>
                  <a:noFill/>
                </a:ln>
                <a:solidFill>
                  <a:srgbClr val="FFFFFF">
                    <a:lumMod val="50000"/>
                  </a:srgbClr>
                </a:solidFill>
                <a:effectLst/>
                <a:uLnTx/>
                <a:uFillTx/>
                <a:latin typeface="Open Sans"/>
                <a:ea typeface="Times New Roman" panose="02020603050405020304" pitchFamily="18" charset="0"/>
                <a:cs typeface="+mn-cs"/>
              </a:rPr>
              <a:t>adipiscing</a:t>
            </a:r>
            <a:r>
              <a:rPr kumimoji="0" lang="en-US" sz="1200" b="0" i="0" u="none" strike="noStrike" kern="1200" cap="none" spc="0" normalizeH="0" baseline="0" noProof="0">
                <a:ln>
                  <a:noFill/>
                </a:ln>
                <a:solidFill>
                  <a:srgbClr val="FFFFFF">
                    <a:lumMod val="50000"/>
                  </a:srgbClr>
                </a:solidFill>
                <a:effectLst/>
                <a:uLnTx/>
                <a:uFillTx/>
                <a:latin typeface="Open Sans"/>
                <a:ea typeface="Times New Roman" panose="02020603050405020304" pitchFamily="18" charset="0"/>
                <a:cs typeface="+mn-cs"/>
              </a:rPr>
              <a:t> </a:t>
            </a:r>
            <a:r>
              <a:rPr kumimoji="0" lang="en-US" sz="1200" b="0" i="0" u="none" strike="noStrike" kern="1200" cap="none" spc="0" normalizeH="0" baseline="0" noProof="0" err="1">
                <a:ln>
                  <a:noFill/>
                </a:ln>
                <a:solidFill>
                  <a:srgbClr val="FFFFFF">
                    <a:lumMod val="50000"/>
                  </a:srgbClr>
                </a:solidFill>
                <a:effectLst/>
                <a:uLnTx/>
                <a:uFillTx/>
                <a:latin typeface="Open Sans"/>
                <a:ea typeface="Times New Roman" panose="02020603050405020304" pitchFamily="18" charset="0"/>
                <a:cs typeface="+mn-cs"/>
              </a:rPr>
              <a:t>elit</a:t>
            </a:r>
            <a:r>
              <a:rPr kumimoji="0" lang="en-US" sz="1200" b="0" i="0" u="none" strike="noStrike" kern="1200" cap="none" spc="0" normalizeH="0" baseline="0" noProof="0">
                <a:ln>
                  <a:noFill/>
                </a:ln>
                <a:solidFill>
                  <a:srgbClr val="FFFFFF">
                    <a:lumMod val="50000"/>
                  </a:srgbClr>
                </a:solidFill>
                <a:effectLst/>
                <a:uLnTx/>
                <a:uFillTx/>
                <a:latin typeface="Open Sans"/>
                <a:ea typeface="Times New Roman" panose="02020603050405020304" pitchFamily="18" charset="0"/>
                <a:cs typeface="+mn-cs"/>
              </a:rPr>
              <a:t>. Nam </a:t>
            </a:r>
            <a:r>
              <a:rPr kumimoji="0" lang="en-US" sz="1200" b="0" i="0" u="none" strike="noStrike" kern="1200" cap="none" spc="0" normalizeH="0" baseline="0" noProof="0" err="1">
                <a:ln>
                  <a:noFill/>
                </a:ln>
                <a:solidFill>
                  <a:srgbClr val="FFFFFF">
                    <a:lumMod val="50000"/>
                  </a:srgbClr>
                </a:solidFill>
                <a:effectLst/>
                <a:uLnTx/>
                <a:uFillTx/>
                <a:latin typeface="Open Sans"/>
                <a:ea typeface="Times New Roman" panose="02020603050405020304" pitchFamily="18" charset="0"/>
                <a:cs typeface="+mn-cs"/>
              </a:rPr>
              <a:t>viverra</a:t>
            </a:r>
            <a:r>
              <a:rPr kumimoji="0" lang="en-US" sz="1200" b="0" i="0" u="none" strike="noStrike" kern="1200" cap="none" spc="0" normalizeH="0" baseline="0" noProof="0">
                <a:ln>
                  <a:noFill/>
                </a:ln>
                <a:solidFill>
                  <a:srgbClr val="FFFFFF">
                    <a:lumMod val="50000"/>
                  </a:srgbClr>
                </a:solidFill>
                <a:effectLst/>
                <a:uLnTx/>
                <a:uFillTx/>
                <a:latin typeface="Open Sans"/>
                <a:ea typeface="Times New Roman" panose="02020603050405020304" pitchFamily="18" charset="0"/>
                <a:cs typeface="+mn-cs"/>
              </a:rPr>
              <a:t> </a:t>
            </a:r>
            <a:r>
              <a:rPr kumimoji="0" lang="en-US" sz="1200" b="0" i="0" u="none" strike="noStrike" kern="1200" cap="none" spc="0" normalizeH="0" baseline="0" noProof="0" err="1">
                <a:ln>
                  <a:noFill/>
                </a:ln>
                <a:solidFill>
                  <a:srgbClr val="FFFFFF">
                    <a:lumMod val="50000"/>
                  </a:srgbClr>
                </a:solidFill>
                <a:effectLst/>
                <a:uLnTx/>
                <a:uFillTx/>
                <a:latin typeface="Open Sans"/>
                <a:ea typeface="Times New Roman" panose="02020603050405020304" pitchFamily="18" charset="0"/>
                <a:cs typeface="+mn-cs"/>
              </a:rPr>
              <a:t>euismod</a:t>
            </a:r>
            <a:r>
              <a:rPr kumimoji="0" lang="en-US" sz="1200" b="0" i="0" u="none" strike="noStrike" kern="1200" cap="none" spc="0" normalizeH="0" baseline="0" noProof="0">
                <a:ln>
                  <a:noFill/>
                </a:ln>
                <a:solidFill>
                  <a:srgbClr val="FFFFFF">
                    <a:lumMod val="50000"/>
                  </a:srgbClr>
                </a:solidFill>
                <a:effectLst/>
                <a:uLnTx/>
                <a:uFillTx/>
                <a:latin typeface="Open Sans"/>
                <a:ea typeface="Times New Roman" panose="02020603050405020304" pitchFamily="18" charset="0"/>
                <a:cs typeface="+mn-cs"/>
              </a:rPr>
              <a:t> </a:t>
            </a:r>
            <a:r>
              <a:rPr kumimoji="0" lang="en-US" sz="1200" b="0" i="0" u="none" strike="noStrike" kern="1200" cap="none" spc="0" normalizeH="0" baseline="0" noProof="0" err="1">
                <a:ln>
                  <a:noFill/>
                </a:ln>
                <a:solidFill>
                  <a:srgbClr val="FFFFFF">
                    <a:lumMod val="50000"/>
                  </a:srgbClr>
                </a:solidFill>
                <a:effectLst/>
                <a:uLnTx/>
                <a:uFillTx/>
                <a:latin typeface="Open Sans"/>
                <a:ea typeface="Times New Roman" panose="02020603050405020304" pitchFamily="18" charset="0"/>
                <a:cs typeface="+mn-cs"/>
              </a:rPr>
              <a:t>odio</a:t>
            </a:r>
            <a:r>
              <a:rPr kumimoji="0" lang="en-US" sz="1200" b="0" i="0" u="none" strike="noStrike" kern="1200" cap="none" spc="0" normalizeH="0" baseline="0" noProof="0">
                <a:ln>
                  <a:noFill/>
                </a:ln>
                <a:solidFill>
                  <a:srgbClr val="FFFFFF">
                    <a:lumMod val="50000"/>
                  </a:srgbClr>
                </a:solidFill>
                <a:effectLst/>
                <a:uLnTx/>
                <a:uFillTx/>
                <a:latin typeface="Open Sans"/>
                <a:ea typeface="Times New Roman" panose="02020603050405020304" pitchFamily="18" charset="0"/>
                <a:cs typeface="+mn-cs"/>
              </a:rPr>
              <a:t>, gravida </a:t>
            </a:r>
            <a:r>
              <a:rPr kumimoji="0" lang="en-US" sz="1200" b="0" i="0" u="none" strike="noStrike" kern="1200" cap="none" spc="0" normalizeH="0" baseline="0" noProof="0" err="1">
                <a:ln>
                  <a:noFill/>
                </a:ln>
                <a:solidFill>
                  <a:srgbClr val="FFFFFF">
                    <a:lumMod val="50000"/>
                  </a:srgbClr>
                </a:solidFill>
                <a:effectLst/>
                <a:uLnTx/>
                <a:uFillTx/>
                <a:latin typeface="Open Sans"/>
                <a:ea typeface="Times New Roman" panose="02020603050405020304" pitchFamily="18" charset="0"/>
                <a:cs typeface="+mn-cs"/>
              </a:rPr>
              <a:t>pellentesque</a:t>
            </a:r>
            <a:r>
              <a:rPr kumimoji="0" lang="en-US" sz="1200" b="0" i="0" u="none" strike="noStrike" kern="1200" cap="none" spc="0" normalizeH="0" baseline="0" noProof="0">
                <a:ln>
                  <a:noFill/>
                </a:ln>
                <a:solidFill>
                  <a:srgbClr val="FFFFFF">
                    <a:lumMod val="50000"/>
                  </a:srgbClr>
                </a:solidFill>
                <a:effectLst/>
                <a:uLnTx/>
                <a:uFillTx/>
                <a:latin typeface="Open Sans"/>
                <a:ea typeface="Times New Roman" panose="02020603050405020304" pitchFamily="18" charset="0"/>
                <a:cs typeface="+mn-cs"/>
              </a:rPr>
              <a:t> </a:t>
            </a:r>
            <a:r>
              <a:rPr kumimoji="0" lang="en-US" sz="1200" b="0" i="0" u="none" strike="noStrike" kern="1200" cap="none" spc="0" normalizeH="0" baseline="0" noProof="0" err="1">
                <a:ln>
                  <a:noFill/>
                </a:ln>
                <a:solidFill>
                  <a:srgbClr val="FFFFFF">
                    <a:lumMod val="50000"/>
                  </a:srgbClr>
                </a:solidFill>
                <a:effectLst/>
                <a:uLnTx/>
                <a:uFillTx/>
                <a:latin typeface="Open Sans"/>
                <a:ea typeface="Times New Roman" panose="02020603050405020304" pitchFamily="18" charset="0"/>
                <a:cs typeface="+mn-cs"/>
              </a:rPr>
              <a:t>urna</a:t>
            </a:r>
            <a:r>
              <a:rPr kumimoji="0" lang="en-US" sz="1200" b="0" i="0" u="none" strike="noStrike" kern="1200" cap="none" spc="0" normalizeH="0" baseline="0" noProof="0">
                <a:ln>
                  <a:noFill/>
                </a:ln>
                <a:solidFill>
                  <a:srgbClr val="FFFFFF">
                    <a:lumMod val="50000"/>
                  </a:srgbClr>
                </a:solidFill>
                <a:effectLst/>
                <a:uLnTx/>
                <a:uFillTx/>
                <a:latin typeface="Open Sans"/>
                <a:ea typeface="Times New Roman" panose="02020603050405020304" pitchFamily="18" charset="0"/>
                <a:cs typeface="+mn-cs"/>
              </a:rPr>
              <a:t> </a:t>
            </a:r>
            <a:r>
              <a:rPr kumimoji="0" lang="en-US" sz="1200" b="0" i="0" u="none" strike="noStrike" kern="1200" cap="none" spc="0" normalizeH="0" baseline="0" noProof="0" err="1">
                <a:ln>
                  <a:noFill/>
                </a:ln>
                <a:solidFill>
                  <a:srgbClr val="FFFFFF">
                    <a:lumMod val="50000"/>
                  </a:srgbClr>
                </a:solidFill>
                <a:effectLst/>
                <a:uLnTx/>
                <a:uFillTx/>
                <a:latin typeface="Open Sans"/>
                <a:ea typeface="Times New Roman" panose="02020603050405020304" pitchFamily="18" charset="0"/>
                <a:cs typeface="+mn-cs"/>
              </a:rPr>
              <a:t>varius</a:t>
            </a:r>
            <a:r>
              <a:rPr kumimoji="0" lang="en-US" sz="1200" b="0" i="0" u="none" strike="noStrike" kern="1200" cap="none" spc="0" normalizeH="0" baseline="0" noProof="0">
                <a:ln>
                  <a:noFill/>
                </a:ln>
                <a:solidFill>
                  <a:srgbClr val="FFFFFF">
                    <a:lumMod val="50000"/>
                  </a:srgbClr>
                </a:solidFill>
                <a:effectLst/>
                <a:uLnTx/>
                <a:uFillTx/>
                <a:latin typeface="Open Sans"/>
                <a:ea typeface="Times New Roman" panose="02020603050405020304" pitchFamily="18" charset="0"/>
                <a:cs typeface="+mn-cs"/>
              </a:rPr>
              <a:t> vitae. Sed dui lorem, </a:t>
            </a:r>
            <a:r>
              <a:rPr kumimoji="0" lang="en-US" sz="1200" b="0" i="0" u="none" strike="noStrike" kern="1200" cap="none" spc="0" normalizeH="0" baseline="0" noProof="0" err="1">
                <a:ln>
                  <a:noFill/>
                </a:ln>
                <a:solidFill>
                  <a:srgbClr val="FFFFFF">
                    <a:lumMod val="50000"/>
                  </a:srgbClr>
                </a:solidFill>
                <a:effectLst/>
                <a:uLnTx/>
                <a:uFillTx/>
                <a:latin typeface="Open Sans"/>
                <a:ea typeface="Times New Roman" panose="02020603050405020304" pitchFamily="18" charset="0"/>
                <a:cs typeface="+mn-cs"/>
              </a:rPr>
              <a:t>adipiscing</a:t>
            </a:r>
            <a:r>
              <a:rPr kumimoji="0" lang="en-US" sz="1200" b="0" i="0" u="none" strike="noStrike" kern="1200" cap="none" spc="0" normalizeH="0" baseline="0" noProof="0">
                <a:ln>
                  <a:noFill/>
                </a:ln>
                <a:solidFill>
                  <a:srgbClr val="FFFFFF">
                    <a:lumMod val="50000"/>
                  </a:srgbClr>
                </a:solidFill>
                <a:effectLst/>
                <a:uLnTx/>
                <a:uFillTx/>
                <a:latin typeface="Open Sans"/>
                <a:ea typeface="Times New Roman" panose="02020603050405020304" pitchFamily="18" charset="0"/>
                <a:cs typeface="+mn-cs"/>
              </a:rPr>
              <a:t> in </a:t>
            </a:r>
            <a:r>
              <a:rPr kumimoji="0" lang="en-US" sz="1200" b="0" i="0" u="none" strike="noStrike" kern="1200" cap="none" spc="0" normalizeH="0" baseline="0" noProof="0" err="1">
                <a:ln>
                  <a:noFill/>
                </a:ln>
                <a:solidFill>
                  <a:srgbClr val="FFFFFF">
                    <a:lumMod val="50000"/>
                  </a:srgbClr>
                </a:solidFill>
                <a:effectLst/>
                <a:uLnTx/>
                <a:uFillTx/>
                <a:latin typeface="Open Sans"/>
                <a:ea typeface="Times New Roman" panose="02020603050405020304" pitchFamily="18" charset="0"/>
                <a:cs typeface="+mn-cs"/>
              </a:rPr>
              <a:t>adipiscing</a:t>
            </a:r>
            <a:r>
              <a:rPr kumimoji="0" lang="en-US" sz="1200" b="0" i="0" u="none" strike="noStrike" kern="1200" cap="none" spc="0" normalizeH="0" baseline="0" noProof="0">
                <a:ln>
                  <a:noFill/>
                </a:ln>
                <a:solidFill>
                  <a:srgbClr val="FFFFFF">
                    <a:lumMod val="50000"/>
                  </a:srgbClr>
                </a:solidFill>
                <a:effectLst/>
                <a:uLnTx/>
                <a:uFillTx/>
                <a:latin typeface="Open Sans"/>
                <a:ea typeface="Times New Roman" panose="02020603050405020304" pitchFamily="18" charset="0"/>
                <a:cs typeface="+mn-cs"/>
              </a:rPr>
              <a:t> et, </a:t>
            </a:r>
            <a:r>
              <a:rPr kumimoji="0" lang="en-US" sz="1200" b="0" i="0" u="none" strike="noStrike" kern="1200" cap="none" spc="0" normalizeH="0" baseline="0" noProof="0" err="1">
                <a:ln>
                  <a:noFill/>
                </a:ln>
                <a:solidFill>
                  <a:srgbClr val="FFFFFF">
                    <a:lumMod val="50000"/>
                  </a:srgbClr>
                </a:solidFill>
                <a:effectLst/>
                <a:uLnTx/>
                <a:uFillTx/>
                <a:latin typeface="Open Sans"/>
                <a:ea typeface="Times New Roman" panose="02020603050405020304" pitchFamily="18" charset="0"/>
                <a:cs typeface="+mn-cs"/>
              </a:rPr>
              <a:t>interdum</a:t>
            </a:r>
            <a:r>
              <a:rPr kumimoji="0" lang="en-US" sz="1200" b="0" i="0" u="none" strike="noStrike" kern="1200" cap="none" spc="0" normalizeH="0" baseline="0" noProof="0">
                <a:ln>
                  <a:noFill/>
                </a:ln>
                <a:solidFill>
                  <a:srgbClr val="FFFFFF">
                    <a:lumMod val="50000"/>
                  </a:srgbClr>
                </a:solidFill>
                <a:effectLst/>
                <a:uLnTx/>
                <a:uFillTx/>
                <a:latin typeface="Open Sans"/>
                <a:ea typeface="Times New Roman" panose="02020603050405020304" pitchFamily="18" charset="0"/>
                <a:cs typeface="+mn-cs"/>
              </a:rPr>
              <a:t> nec </a:t>
            </a:r>
            <a:r>
              <a:rPr kumimoji="0" lang="en-US" sz="1200" b="0" i="0" u="none" strike="noStrike" kern="1200" cap="none" spc="0" normalizeH="0" baseline="0" noProof="0" err="1">
                <a:ln>
                  <a:noFill/>
                </a:ln>
                <a:solidFill>
                  <a:srgbClr val="FFFFFF">
                    <a:lumMod val="50000"/>
                  </a:srgbClr>
                </a:solidFill>
                <a:effectLst/>
                <a:uLnTx/>
                <a:uFillTx/>
                <a:latin typeface="Open Sans"/>
                <a:ea typeface="Times New Roman" panose="02020603050405020304" pitchFamily="18" charset="0"/>
                <a:cs typeface="+mn-cs"/>
              </a:rPr>
              <a:t>metus</a:t>
            </a:r>
            <a:r>
              <a:rPr kumimoji="0" lang="en-US" sz="1200" b="0" i="0" u="none" strike="noStrike" kern="1200" cap="none" spc="0" normalizeH="0" baseline="0" noProof="0">
                <a:ln>
                  <a:noFill/>
                </a:ln>
                <a:solidFill>
                  <a:srgbClr val="FFFFFF">
                    <a:lumMod val="50000"/>
                  </a:srgbClr>
                </a:solidFill>
                <a:effectLst/>
                <a:uLnTx/>
                <a:uFillTx/>
                <a:latin typeface="Open Sans"/>
                <a:ea typeface="Times New Roman" panose="02020603050405020304" pitchFamily="18" charset="0"/>
                <a:cs typeface="+mn-cs"/>
              </a:rPr>
              <a:t>. </a:t>
            </a:r>
          </a:p>
        </p:txBody>
      </p:sp>
      <p:sp>
        <p:nvSpPr>
          <p:cNvPr id="48" name="Shape 2753"/>
          <p:cNvSpPr/>
          <p:nvPr/>
        </p:nvSpPr>
        <p:spPr>
          <a:xfrm>
            <a:off x="6944110" y="5323204"/>
            <a:ext cx="405594" cy="456671"/>
          </a:xfrm>
          <a:custGeom>
            <a:avLst/>
            <a:gdLst/>
            <a:ahLst/>
            <a:cxnLst>
              <a:cxn ang="0">
                <a:pos x="wd2" y="hd2"/>
              </a:cxn>
              <a:cxn ang="5400000">
                <a:pos x="wd2" y="hd2"/>
              </a:cxn>
              <a:cxn ang="10800000">
                <a:pos x="wd2" y="hd2"/>
              </a:cxn>
              <a:cxn ang="16200000">
                <a:pos x="wd2" y="hd2"/>
              </a:cxn>
            </a:cxnLst>
            <a:rect l="0" t="0" r="r" b="b"/>
            <a:pathLst>
              <a:path w="21600" h="21600" extrusionOk="0">
                <a:moveTo>
                  <a:pt x="13800" y="18655"/>
                </a:moveTo>
                <a:cubicBezTo>
                  <a:pt x="13468" y="18655"/>
                  <a:pt x="13200" y="18874"/>
                  <a:pt x="13200" y="19145"/>
                </a:cubicBezTo>
                <a:cubicBezTo>
                  <a:pt x="13200" y="19417"/>
                  <a:pt x="13468" y="19636"/>
                  <a:pt x="13800" y="19636"/>
                </a:cubicBezTo>
                <a:cubicBezTo>
                  <a:pt x="14132" y="19636"/>
                  <a:pt x="14400" y="19417"/>
                  <a:pt x="14400" y="19145"/>
                </a:cubicBezTo>
                <a:cubicBezTo>
                  <a:pt x="14400" y="18874"/>
                  <a:pt x="14132" y="18655"/>
                  <a:pt x="13800" y="18655"/>
                </a:cubicBezTo>
                <a:moveTo>
                  <a:pt x="10200" y="15709"/>
                </a:moveTo>
                <a:cubicBezTo>
                  <a:pt x="9868" y="15709"/>
                  <a:pt x="9600" y="15490"/>
                  <a:pt x="9600" y="15218"/>
                </a:cubicBezTo>
                <a:cubicBezTo>
                  <a:pt x="9600" y="14947"/>
                  <a:pt x="9868" y="14727"/>
                  <a:pt x="10200" y="14727"/>
                </a:cubicBezTo>
                <a:cubicBezTo>
                  <a:pt x="10532" y="14727"/>
                  <a:pt x="10800" y="14947"/>
                  <a:pt x="10800" y="15218"/>
                </a:cubicBezTo>
                <a:cubicBezTo>
                  <a:pt x="10800" y="15490"/>
                  <a:pt x="10532" y="15709"/>
                  <a:pt x="10200" y="15709"/>
                </a:cubicBezTo>
                <a:moveTo>
                  <a:pt x="10200" y="13745"/>
                </a:moveTo>
                <a:cubicBezTo>
                  <a:pt x="9206" y="13745"/>
                  <a:pt x="8400" y="14405"/>
                  <a:pt x="8400" y="15218"/>
                </a:cubicBezTo>
                <a:cubicBezTo>
                  <a:pt x="8400" y="16031"/>
                  <a:pt x="9206" y="16691"/>
                  <a:pt x="10200" y="16691"/>
                </a:cubicBezTo>
                <a:cubicBezTo>
                  <a:pt x="11194" y="16691"/>
                  <a:pt x="12000" y="16031"/>
                  <a:pt x="12000" y="15218"/>
                </a:cubicBezTo>
                <a:cubicBezTo>
                  <a:pt x="12000" y="14405"/>
                  <a:pt x="11194" y="13745"/>
                  <a:pt x="10200" y="13745"/>
                </a:cubicBezTo>
                <a:moveTo>
                  <a:pt x="15600" y="13745"/>
                </a:moveTo>
                <a:cubicBezTo>
                  <a:pt x="14938" y="13745"/>
                  <a:pt x="14400" y="14186"/>
                  <a:pt x="14400" y="14727"/>
                </a:cubicBezTo>
                <a:cubicBezTo>
                  <a:pt x="14400" y="15269"/>
                  <a:pt x="14938" y="15709"/>
                  <a:pt x="15600" y="15709"/>
                </a:cubicBezTo>
                <a:cubicBezTo>
                  <a:pt x="16262" y="15709"/>
                  <a:pt x="16800" y="15269"/>
                  <a:pt x="16800" y="14727"/>
                </a:cubicBezTo>
                <a:cubicBezTo>
                  <a:pt x="16800" y="14186"/>
                  <a:pt x="16262" y="13745"/>
                  <a:pt x="15600" y="13745"/>
                </a:cubicBezTo>
                <a:moveTo>
                  <a:pt x="14400" y="20618"/>
                </a:moveTo>
                <a:lnTo>
                  <a:pt x="7200" y="20618"/>
                </a:lnTo>
                <a:cubicBezTo>
                  <a:pt x="3892" y="20618"/>
                  <a:pt x="1200" y="18416"/>
                  <a:pt x="1200" y="15709"/>
                </a:cubicBezTo>
                <a:cubicBezTo>
                  <a:pt x="1200" y="13123"/>
                  <a:pt x="2182" y="11620"/>
                  <a:pt x="3320" y="9880"/>
                </a:cubicBezTo>
                <a:cubicBezTo>
                  <a:pt x="3477" y="9639"/>
                  <a:pt x="3636" y="9392"/>
                  <a:pt x="3797" y="9140"/>
                </a:cubicBezTo>
                <a:cubicBezTo>
                  <a:pt x="3905" y="9093"/>
                  <a:pt x="6420" y="8038"/>
                  <a:pt x="9814" y="9625"/>
                </a:cubicBezTo>
                <a:cubicBezTo>
                  <a:pt x="10959" y="10160"/>
                  <a:pt x="12064" y="10360"/>
                  <a:pt x="13079" y="10360"/>
                </a:cubicBezTo>
                <a:cubicBezTo>
                  <a:pt x="15152" y="10360"/>
                  <a:pt x="16846" y="9523"/>
                  <a:pt x="17711" y="8991"/>
                </a:cubicBezTo>
                <a:cubicBezTo>
                  <a:pt x="17902" y="9295"/>
                  <a:pt x="18093" y="9592"/>
                  <a:pt x="18280" y="9880"/>
                </a:cubicBezTo>
                <a:cubicBezTo>
                  <a:pt x="19418" y="11620"/>
                  <a:pt x="20400" y="13123"/>
                  <a:pt x="20400" y="15709"/>
                </a:cubicBezTo>
                <a:cubicBezTo>
                  <a:pt x="20400" y="18416"/>
                  <a:pt x="17708" y="20618"/>
                  <a:pt x="14400" y="20618"/>
                </a:cubicBezTo>
                <a:moveTo>
                  <a:pt x="5967" y="2945"/>
                </a:moveTo>
                <a:lnTo>
                  <a:pt x="15633" y="2945"/>
                </a:lnTo>
                <a:cubicBezTo>
                  <a:pt x="15782" y="5133"/>
                  <a:pt x="16425" y="6735"/>
                  <a:pt x="17180" y="8090"/>
                </a:cubicBezTo>
                <a:cubicBezTo>
                  <a:pt x="16281" y="8690"/>
                  <a:pt x="13509" y="10220"/>
                  <a:pt x="10410" y="8772"/>
                </a:cubicBezTo>
                <a:cubicBezTo>
                  <a:pt x="7921" y="7609"/>
                  <a:pt x="5800" y="7679"/>
                  <a:pt x="4520" y="7912"/>
                </a:cubicBezTo>
                <a:cubicBezTo>
                  <a:pt x="5231" y="6594"/>
                  <a:pt x="5824" y="5037"/>
                  <a:pt x="5967" y="2945"/>
                </a:cubicBezTo>
                <a:moveTo>
                  <a:pt x="3600" y="982"/>
                </a:moveTo>
                <a:lnTo>
                  <a:pt x="18000" y="982"/>
                </a:lnTo>
                <a:lnTo>
                  <a:pt x="18000" y="1964"/>
                </a:lnTo>
                <a:lnTo>
                  <a:pt x="3600" y="1964"/>
                </a:lnTo>
                <a:cubicBezTo>
                  <a:pt x="3600" y="1964"/>
                  <a:pt x="3600" y="982"/>
                  <a:pt x="3600" y="982"/>
                </a:cubicBezTo>
                <a:close/>
                <a:moveTo>
                  <a:pt x="16843" y="2945"/>
                </a:moveTo>
                <a:lnTo>
                  <a:pt x="18000" y="2945"/>
                </a:lnTo>
                <a:cubicBezTo>
                  <a:pt x="18662" y="2945"/>
                  <a:pt x="19200" y="2505"/>
                  <a:pt x="19200" y="1964"/>
                </a:cubicBezTo>
                <a:lnTo>
                  <a:pt x="19200" y="982"/>
                </a:lnTo>
                <a:cubicBezTo>
                  <a:pt x="19200" y="440"/>
                  <a:pt x="18662" y="0"/>
                  <a:pt x="18000" y="0"/>
                </a:cubicBezTo>
                <a:lnTo>
                  <a:pt x="3600" y="0"/>
                </a:lnTo>
                <a:cubicBezTo>
                  <a:pt x="2938" y="0"/>
                  <a:pt x="2400" y="440"/>
                  <a:pt x="2400" y="982"/>
                </a:cubicBezTo>
                <a:lnTo>
                  <a:pt x="2400" y="1964"/>
                </a:lnTo>
                <a:cubicBezTo>
                  <a:pt x="2400" y="2505"/>
                  <a:pt x="2938" y="2945"/>
                  <a:pt x="3600" y="2945"/>
                </a:cubicBezTo>
                <a:lnTo>
                  <a:pt x="4757" y="2945"/>
                </a:lnTo>
                <a:cubicBezTo>
                  <a:pt x="4322" y="8937"/>
                  <a:pt x="0" y="10114"/>
                  <a:pt x="0" y="15709"/>
                </a:cubicBezTo>
                <a:cubicBezTo>
                  <a:pt x="0" y="18962"/>
                  <a:pt x="3224" y="21600"/>
                  <a:pt x="7200" y="21600"/>
                </a:cubicBezTo>
                <a:lnTo>
                  <a:pt x="14400" y="21600"/>
                </a:lnTo>
                <a:cubicBezTo>
                  <a:pt x="18376" y="21600"/>
                  <a:pt x="21600" y="18962"/>
                  <a:pt x="21600" y="15709"/>
                </a:cubicBezTo>
                <a:cubicBezTo>
                  <a:pt x="21600" y="10114"/>
                  <a:pt x="17278" y="8937"/>
                  <a:pt x="16843" y="2945"/>
                </a:cubicBezTo>
                <a:moveTo>
                  <a:pt x="17400" y="11782"/>
                </a:moveTo>
                <a:cubicBezTo>
                  <a:pt x="17068" y="11782"/>
                  <a:pt x="16800" y="12001"/>
                  <a:pt x="16800" y="12273"/>
                </a:cubicBezTo>
                <a:cubicBezTo>
                  <a:pt x="16800" y="12544"/>
                  <a:pt x="17068" y="12764"/>
                  <a:pt x="17400" y="12764"/>
                </a:cubicBezTo>
                <a:cubicBezTo>
                  <a:pt x="17732" y="12764"/>
                  <a:pt x="18000" y="12544"/>
                  <a:pt x="18000" y="12273"/>
                </a:cubicBezTo>
                <a:cubicBezTo>
                  <a:pt x="18000" y="12001"/>
                  <a:pt x="17732" y="11782"/>
                  <a:pt x="17400" y="11782"/>
                </a:cubicBezTo>
                <a:moveTo>
                  <a:pt x="6000" y="10800"/>
                </a:moveTo>
                <a:cubicBezTo>
                  <a:pt x="5338" y="10800"/>
                  <a:pt x="4800" y="11240"/>
                  <a:pt x="4800" y="11782"/>
                </a:cubicBezTo>
                <a:cubicBezTo>
                  <a:pt x="4800" y="12324"/>
                  <a:pt x="5338" y="12764"/>
                  <a:pt x="6000" y="12764"/>
                </a:cubicBezTo>
                <a:cubicBezTo>
                  <a:pt x="6662" y="12764"/>
                  <a:pt x="7200" y="12324"/>
                  <a:pt x="7200" y="11782"/>
                </a:cubicBezTo>
                <a:cubicBezTo>
                  <a:pt x="7200" y="11240"/>
                  <a:pt x="6662" y="10800"/>
                  <a:pt x="6000" y="10800"/>
                </a:cubicBezTo>
                <a:moveTo>
                  <a:pt x="5400" y="16691"/>
                </a:moveTo>
                <a:cubicBezTo>
                  <a:pt x="5068" y="16691"/>
                  <a:pt x="4800" y="16910"/>
                  <a:pt x="4800" y="17182"/>
                </a:cubicBezTo>
                <a:cubicBezTo>
                  <a:pt x="4800" y="17453"/>
                  <a:pt x="5068" y="17673"/>
                  <a:pt x="5400" y="17673"/>
                </a:cubicBezTo>
                <a:cubicBezTo>
                  <a:pt x="5732" y="17673"/>
                  <a:pt x="6000" y="17453"/>
                  <a:pt x="6000" y="17182"/>
                </a:cubicBezTo>
                <a:cubicBezTo>
                  <a:pt x="6000" y="16910"/>
                  <a:pt x="5732" y="16691"/>
                  <a:pt x="5400" y="16691"/>
                </a:cubicBezTo>
              </a:path>
            </a:pathLst>
          </a:custGeom>
          <a:solidFill>
            <a:srgbClr val="53585F"/>
          </a:solidFill>
          <a:ln w="12700">
            <a:miter lim="400000"/>
          </a:ln>
        </p:spPr>
        <p:txBody>
          <a:bodyPr lIns="14284" tIns="14284" rIns="14284" bIns="14284" anchor="ctr"/>
          <a:lstStyle/>
          <a:p>
            <a:pPr marL="0" marR="0" lvl="0" indent="0" algn="l" defTabSz="171401" rtl="0" eaLnBrk="1" fontAlgn="auto" latinLnBrk="0" hangingPunct="1">
              <a:lnSpc>
                <a:spcPct val="100000"/>
              </a:lnSpc>
              <a:spcBef>
                <a:spcPts val="0"/>
              </a:spcBef>
              <a:spcAft>
                <a:spcPts val="0"/>
              </a:spcAft>
              <a:buClrTx/>
              <a:buSzTx/>
              <a:buFontTx/>
              <a:buNone/>
              <a:tabLst/>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kumimoji="0" lang="en-US" sz="1125" b="0" i="0" u="none" strike="noStrike" kern="1200" cap="none" spc="0" normalizeH="0" baseline="0" noProof="0">
              <a:ln>
                <a:noFill/>
              </a:ln>
              <a:solidFill>
                <a:srgbClr val="FFFFFF">
                  <a:lumMod val="50000"/>
                </a:srgbClr>
              </a:solidFill>
              <a:effectLst>
                <a:outerShdw blurRad="38100" dist="12700" dir="5400000" rotWithShape="0">
                  <a:srgbClr val="000000">
                    <a:alpha val="50000"/>
                  </a:srgbClr>
                </a:outerShdw>
              </a:effectLst>
              <a:uLnTx/>
              <a:uFillTx/>
              <a:latin typeface="Gill Sans"/>
              <a:sym typeface="Gill Sans"/>
            </a:endParaRPr>
          </a:p>
        </p:txBody>
      </p:sp>
    </p:spTree>
    <p:extLst>
      <p:ext uri="{BB962C8B-B14F-4D97-AF65-F5344CB8AC3E}">
        <p14:creationId xmlns:p14="http://schemas.microsoft.com/office/powerpoint/2010/main" val="3934340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1+#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cxnSp>
        <p:nvCxnSpPr>
          <p:cNvPr id="2" name="Straight Connector 1"/>
          <p:cNvCxnSpPr/>
          <p:nvPr/>
        </p:nvCxnSpPr>
        <p:spPr>
          <a:xfrm>
            <a:off x="523351" y="675792"/>
            <a:ext cx="0" cy="116752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AutoShape 1"/>
          <p:cNvSpPr>
            <a:spLocks/>
          </p:cNvSpPr>
          <p:nvPr/>
        </p:nvSpPr>
        <p:spPr bwMode="auto">
          <a:xfrm>
            <a:off x="655709" y="662963"/>
            <a:ext cx="3133164" cy="64975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algn="l">
              <a:defRPr/>
            </a:pPr>
            <a:r>
              <a:rPr lang="en-US" sz="4800" noProof="0">
                <a:latin typeface="Bebas Neue" panose="020B0606020202050201" pitchFamily="34" charset="0"/>
                <a:ea typeface="ＭＳ Ｐゴシック" charset="0"/>
                <a:cs typeface="League Gothic" charset="0"/>
                <a:sym typeface="League Gothic" charset="0"/>
              </a:rPr>
              <a:t>BUSINESS</a:t>
            </a:r>
          </a:p>
        </p:txBody>
      </p:sp>
      <p:sp>
        <p:nvSpPr>
          <p:cNvPr id="4" name="AutoShape 1"/>
          <p:cNvSpPr>
            <a:spLocks/>
          </p:cNvSpPr>
          <p:nvPr/>
        </p:nvSpPr>
        <p:spPr bwMode="auto">
          <a:xfrm>
            <a:off x="655710" y="1211117"/>
            <a:ext cx="2595489" cy="64975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algn="l">
              <a:defRPr/>
            </a:pPr>
            <a:r>
              <a:rPr lang="en-US" sz="4800" noProof="0">
                <a:solidFill>
                  <a:schemeClr val="accent2"/>
                </a:solidFill>
                <a:latin typeface="Bebas Neue" panose="020B0606020202050201" pitchFamily="34" charset="0"/>
                <a:ea typeface="ＭＳ Ｐゴシック" charset="0"/>
                <a:cs typeface="League Gothic" charset="0"/>
                <a:sym typeface="League Gothic" charset="0"/>
              </a:rPr>
              <a:t>CONCEPT</a:t>
            </a:r>
          </a:p>
        </p:txBody>
      </p:sp>
      <p:sp>
        <p:nvSpPr>
          <p:cNvPr id="5" name="Rectangle 4"/>
          <p:cNvSpPr/>
          <p:nvPr/>
        </p:nvSpPr>
        <p:spPr>
          <a:xfrm>
            <a:off x="0" y="2682275"/>
            <a:ext cx="2440219" cy="3197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noProof="0"/>
          </a:p>
        </p:txBody>
      </p:sp>
      <p:sp>
        <p:nvSpPr>
          <p:cNvPr id="6" name="Rectangle 5"/>
          <p:cNvSpPr/>
          <p:nvPr/>
        </p:nvSpPr>
        <p:spPr>
          <a:xfrm>
            <a:off x="2440218" y="2681673"/>
            <a:ext cx="2440219" cy="319769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noProof="0"/>
          </a:p>
        </p:txBody>
      </p:sp>
      <p:sp>
        <p:nvSpPr>
          <p:cNvPr id="7" name="Rectangle 6"/>
          <p:cNvSpPr/>
          <p:nvPr/>
        </p:nvSpPr>
        <p:spPr>
          <a:xfrm>
            <a:off x="4880437" y="2682293"/>
            <a:ext cx="2440219" cy="319769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noProof="0"/>
          </a:p>
        </p:txBody>
      </p:sp>
      <p:sp>
        <p:nvSpPr>
          <p:cNvPr id="8" name="Rectangle 7"/>
          <p:cNvSpPr/>
          <p:nvPr/>
        </p:nvSpPr>
        <p:spPr>
          <a:xfrm>
            <a:off x="7320656" y="2682293"/>
            <a:ext cx="2440219" cy="319769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noProof="0"/>
          </a:p>
        </p:txBody>
      </p:sp>
      <p:sp>
        <p:nvSpPr>
          <p:cNvPr id="9" name="Rectangle 8"/>
          <p:cNvSpPr/>
          <p:nvPr/>
        </p:nvSpPr>
        <p:spPr>
          <a:xfrm>
            <a:off x="9738656" y="2682293"/>
            <a:ext cx="2462438" cy="319769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noProof="0"/>
          </a:p>
        </p:txBody>
      </p:sp>
      <p:sp>
        <p:nvSpPr>
          <p:cNvPr id="10" name="Rectangle 9"/>
          <p:cNvSpPr/>
          <p:nvPr/>
        </p:nvSpPr>
        <p:spPr>
          <a:xfrm>
            <a:off x="210045" y="3613217"/>
            <a:ext cx="1968807" cy="2123658"/>
          </a:xfrm>
          <a:prstGeom prst="rect">
            <a:avLst/>
          </a:prstGeom>
        </p:spPr>
        <p:txBody>
          <a:bodyPr wrap="square">
            <a:spAutoFit/>
          </a:bodyPr>
          <a:lstStyle/>
          <a:p>
            <a:pPr algn="just">
              <a:spcAft>
                <a:spcPts val="1500"/>
              </a:spcAft>
            </a:pPr>
            <a:r>
              <a:rPr lang="en-US" sz="1200" noProof="0">
                <a:solidFill>
                  <a:schemeClr val="bg1"/>
                </a:solidFill>
                <a:ea typeface="Times New Roman" panose="02020603050405020304" pitchFamily="18" charset="0"/>
              </a:rPr>
              <a:t>Lorem ipsum dolor sit </a:t>
            </a:r>
            <a:r>
              <a:rPr lang="en-US" sz="1200" noProof="0" err="1">
                <a:solidFill>
                  <a:schemeClr val="bg1"/>
                </a:solidFill>
                <a:ea typeface="Times New Roman" panose="02020603050405020304" pitchFamily="18" charset="0"/>
              </a:rPr>
              <a:t>amet</a:t>
            </a:r>
            <a:r>
              <a:rPr lang="en-US" sz="1200" noProof="0">
                <a:solidFill>
                  <a:schemeClr val="bg1"/>
                </a:solidFill>
                <a:ea typeface="Times New Roman" panose="02020603050405020304" pitchFamily="18" charset="0"/>
              </a:rPr>
              <a:t>, </a:t>
            </a:r>
            <a:r>
              <a:rPr lang="en-US" sz="1200" noProof="0" err="1">
                <a:solidFill>
                  <a:schemeClr val="bg1"/>
                </a:solidFill>
                <a:ea typeface="Times New Roman" panose="02020603050405020304" pitchFamily="18" charset="0"/>
              </a:rPr>
              <a:t>consectetur</a:t>
            </a:r>
            <a:r>
              <a:rPr lang="en-US" sz="1200" noProof="0">
                <a:solidFill>
                  <a:schemeClr val="bg1"/>
                </a:solidFill>
                <a:ea typeface="Times New Roman" panose="02020603050405020304" pitchFamily="18" charset="0"/>
              </a:rPr>
              <a:t> </a:t>
            </a:r>
            <a:r>
              <a:rPr lang="en-US" sz="1200" noProof="0" err="1">
                <a:solidFill>
                  <a:schemeClr val="bg1"/>
                </a:solidFill>
                <a:ea typeface="Times New Roman" panose="02020603050405020304" pitchFamily="18" charset="0"/>
              </a:rPr>
              <a:t>adipiscing</a:t>
            </a:r>
            <a:r>
              <a:rPr lang="en-US" sz="1200" noProof="0">
                <a:solidFill>
                  <a:schemeClr val="bg1"/>
                </a:solidFill>
                <a:ea typeface="Times New Roman" panose="02020603050405020304" pitchFamily="18" charset="0"/>
              </a:rPr>
              <a:t> </a:t>
            </a:r>
            <a:r>
              <a:rPr lang="en-US" sz="1200" noProof="0" err="1">
                <a:solidFill>
                  <a:schemeClr val="bg1"/>
                </a:solidFill>
                <a:ea typeface="Times New Roman" panose="02020603050405020304" pitchFamily="18" charset="0"/>
              </a:rPr>
              <a:t>elit</a:t>
            </a:r>
            <a:r>
              <a:rPr lang="en-US" sz="1200" noProof="0">
                <a:solidFill>
                  <a:schemeClr val="bg1"/>
                </a:solidFill>
                <a:ea typeface="Times New Roman" panose="02020603050405020304" pitchFamily="18" charset="0"/>
              </a:rPr>
              <a:t>. Nam </a:t>
            </a:r>
            <a:r>
              <a:rPr lang="en-US" sz="1200" noProof="0" err="1">
                <a:solidFill>
                  <a:schemeClr val="bg1"/>
                </a:solidFill>
                <a:ea typeface="Times New Roman" panose="02020603050405020304" pitchFamily="18" charset="0"/>
              </a:rPr>
              <a:t>viverra</a:t>
            </a:r>
            <a:r>
              <a:rPr lang="en-US" sz="1200" noProof="0">
                <a:solidFill>
                  <a:schemeClr val="bg1"/>
                </a:solidFill>
                <a:ea typeface="Times New Roman" panose="02020603050405020304" pitchFamily="18" charset="0"/>
              </a:rPr>
              <a:t> </a:t>
            </a:r>
            <a:r>
              <a:rPr lang="en-US" sz="1200" noProof="0" err="1">
                <a:solidFill>
                  <a:schemeClr val="bg1"/>
                </a:solidFill>
                <a:ea typeface="Times New Roman" panose="02020603050405020304" pitchFamily="18" charset="0"/>
              </a:rPr>
              <a:t>euismod</a:t>
            </a:r>
            <a:r>
              <a:rPr lang="en-US" sz="1200" noProof="0">
                <a:solidFill>
                  <a:schemeClr val="bg1"/>
                </a:solidFill>
                <a:ea typeface="Times New Roman" panose="02020603050405020304" pitchFamily="18" charset="0"/>
              </a:rPr>
              <a:t> </a:t>
            </a:r>
            <a:r>
              <a:rPr lang="en-US" sz="1200" noProof="0" err="1">
                <a:solidFill>
                  <a:schemeClr val="bg1"/>
                </a:solidFill>
                <a:ea typeface="Times New Roman" panose="02020603050405020304" pitchFamily="18" charset="0"/>
              </a:rPr>
              <a:t>odio</a:t>
            </a:r>
            <a:r>
              <a:rPr lang="en-US" sz="1200" noProof="0">
                <a:solidFill>
                  <a:schemeClr val="bg1"/>
                </a:solidFill>
                <a:ea typeface="Times New Roman" panose="02020603050405020304" pitchFamily="18" charset="0"/>
              </a:rPr>
              <a:t>, gravida </a:t>
            </a:r>
            <a:r>
              <a:rPr lang="en-US" sz="1200" noProof="0" err="1">
                <a:solidFill>
                  <a:schemeClr val="bg1"/>
                </a:solidFill>
                <a:ea typeface="Times New Roman" panose="02020603050405020304" pitchFamily="18" charset="0"/>
              </a:rPr>
              <a:t>pellentesque</a:t>
            </a:r>
            <a:r>
              <a:rPr lang="en-US" sz="1200" noProof="0">
                <a:solidFill>
                  <a:schemeClr val="bg1"/>
                </a:solidFill>
                <a:ea typeface="Times New Roman" panose="02020603050405020304" pitchFamily="18" charset="0"/>
              </a:rPr>
              <a:t> </a:t>
            </a:r>
            <a:r>
              <a:rPr lang="en-US" sz="1200" noProof="0" err="1">
                <a:solidFill>
                  <a:schemeClr val="bg1"/>
                </a:solidFill>
                <a:ea typeface="Times New Roman" panose="02020603050405020304" pitchFamily="18" charset="0"/>
              </a:rPr>
              <a:t>urna</a:t>
            </a:r>
            <a:r>
              <a:rPr lang="en-US" sz="1200" noProof="0">
                <a:solidFill>
                  <a:schemeClr val="bg1"/>
                </a:solidFill>
                <a:ea typeface="Times New Roman" panose="02020603050405020304" pitchFamily="18" charset="0"/>
              </a:rPr>
              <a:t> </a:t>
            </a:r>
            <a:r>
              <a:rPr lang="en-US" sz="1200" noProof="0" err="1">
                <a:solidFill>
                  <a:schemeClr val="bg1"/>
                </a:solidFill>
                <a:ea typeface="Times New Roman" panose="02020603050405020304" pitchFamily="18" charset="0"/>
              </a:rPr>
              <a:t>varius</a:t>
            </a:r>
            <a:r>
              <a:rPr lang="en-US" sz="1200" noProof="0">
                <a:solidFill>
                  <a:schemeClr val="bg1"/>
                </a:solidFill>
                <a:ea typeface="Times New Roman" panose="02020603050405020304" pitchFamily="18" charset="0"/>
              </a:rPr>
              <a:t> vitae. Sed dui lorem, </a:t>
            </a:r>
            <a:r>
              <a:rPr lang="en-US" sz="1200" noProof="0" err="1">
                <a:solidFill>
                  <a:schemeClr val="bg1"/>
                </a:solidFill>
                <a:ea typeface="Times New Roman" panose="02020603050405020304" pitchFamily="18" charset="0"/>
              </a:rPr>
              <a:t>adipiscing</a:t>
            </a:r>
            <a:r>
              <a:rPr lang="en-US" sz="1200" noProof="0">
                <a:solidFill>
                  <a:schemeClr val="bg1"/>
                </a:solidFill>
                <a:ea typeface="Times New Roman" panose="02020603050405020304" pitchFamily="18" charset="0"/>
              </a:rPr>
              <a:t> in </a:t>
            </a:r>
            <a:r>
              <a:rPr lang="en-US" sz="1200" noProof="0" err="1">
                <a:solidFill>
                  <a:schemeClr val="bg1"/>
                </a:solidFill>
                <a:ea typeface="Times New Roman" panose="02020603050405020304" pitchFamily="18" charset="0"/>
              </a:rPr>
              <a:t>adipiscing</a:t>
            </a:r>
            <a:r>
              <a:rPr lang="en-US" sz="1200" noProof="0">
                <a:solidFill>
                  <a:schemeClr val="bg1"/>
                </a:solidFill>
                <a:ea typeface="Times New Roman" panose="02020603050405020304" pitchFamily="18" charset="0"/>
              </a:rPr>
              <a:t> et, </a:t>
            </a:r>
            <a:r>
              <a:rPr lang="en-US" sz="1200" noProof="0" err="1">
                <a:solidFill>
                  <a:schemeClr val="bg1"/>
                </a:solidFill>
                <a:ea typeface="Times New Roman" panose="02020603050405020304" pitchFamily="18" charset="0"/>
              </a:rPr>
              <a:t>interdum</a:t>
            </a:r>
            <a:r>
              <a:rPr lang="en-US" sz="1200" noProof="0">
                <a:solidFill>
                  <a:schemeClr val="bg1"/>
                </a:solidFill>
                <a:ea typeface="Times New Roman" panose="02020603050405020304" pitchFamily="18" charset="0"/>
              </a:rPr>
              <a:t> nec </a:t>
            </a:r>
            <a:r>
              <a:rPr lang="en-US" sz="1200" noProof="0" err="1">
                <a:solidFill>
                  <a:schemeClr val="bg1"/>
                </a:solidFill>
                <a:ea typeface="Times New Roman" panose="02020603050405020304" pitchFamily="18" charset="0"/>
              </a:rPr>
              <a:t>metus</a:t>
            </a:r>
            <a:r>
              <a:rPr lang="en-US" sz="1200" noProof="0">
                <a:solidFill>
                  <a:schemeClr val="bg1"/>
                </a:solidFill>
                <a:ea typeface="Times New Roman" panose="02020603050405020304" pitchFamily="18" charset="0"/>
              </a:rPr>
              <a:t>. Mauris </a:t>
            </a:r>
            <a:r>
              <a:rPr lang="en-US" sz="1200" noProof="0" err="1">
                <a:solidFill>
                  <a:schemeClr val="bg1"/>
                </a:solidFill>
                <a:ea typeface="Times New Roman" panose="02020603050405020304" pitchFamily="18" charset="0"/>
              </a:rPr>
              <a:t>ultricies</a:t>
            </a:r>
            <a:r>
              <a:rPr lang="en-US" sz="1200" noProof="0">
                <a:solidFill>
                  <a:schemeClr val="bg1"/>
                </a:solidFill>
                <a:ea typeface="Times New Roman" panose="02020603050405020304" pitchFamily="18" charset="0"/>
              </a:rPr>
              <a:t>, </a:t>
            </a:r>
            <a:r>
              <a:rPr lang="en-US" sz="1200" noProof="0" err="1">
                <a:solidFill>
                  <a:schemeClr val="bg1"/>
                </a:solidFill>
                <a:ea typeface="Times New Roman" panose="02020603050405020304" pitchFamily="18" charset="0"/>
              </a:rPr>
              <a:t>justo</a:t>
            </a:r>
            <a:r>
              <a:rPr lang="en-US" sz="1200" noProof="0">
                <a:solidFill>
                  <a:schemeClr val="bg1"/>
                </a:solidFill>
                <a:ea typeface="Times New Roman" panose="02020603050405020304" pitchFamily="18" charset="0"/>
              </a:rPr>
              <a:t> </a:t>
            </a:r>
            <a:r>
              <a:rPr lang="en-US" sz="1200" noProof="0" err="1">
                <a:solidFill>
                  <a:schemeClr val="bg1"/>
                </a:solidFill>
                <a:ea typeface="Times New Roman" panose="02020603050405020304" pitchFamily="18" charset="0"/>
              </a:rPr>
              <a:t>eu</a:t>
            </a:r>
            <a:r>
              <a:rPr lang="en-US" sz="1200" noProof="0">
                <a:solidFill>
                  <a:schemeClr val="bg1"/>
                </a:solidFill>
                <a:ea typeface="Times New Roman" panose="02020603050405020304" pitchFamily="18" charset="0"/>
              </a:rPr>
              <a:t> convallis </a:t>
            </a:r>
            <a:r>
              <a:rPr lang="en-US" sz="1200" noProof="0" err="1">
                <a:solidFill>
                  <a:schemeClr val="bg1"/>
                </a:solidFill>
                <a:ea typeface="Times New Roman" panose="02020603050405020304" pitchFamily="18" charset="0"/>
              </a:rPr>
              <a:t>placerat</a:t>
            </a:r>
            <a:r>
              <a:rPr lang="en-US" sz="1200" noProof="0">
                <a:solidFill>
                  <a:schemeClr val="bg1"/>
                </a:solidFill>
                <a:ea typeface="Times New Roman" panose="02020603050405020304" pitchFamily="18" charset="0"/>
              </a:rPr>
              <a:t>.</a:t>
            </a:r>
          </a:p>
        </p:txBody>
      </p:sp>
      <p:sp>
        <p:nvSpPr>
          <p:cNvPr id="11" name="Rectangle 10"/>
          <p:cNvSpPr/>
          <p:nvPr/>
        </p:nvSpPr>
        <p:spPr>
          <a:xfrm>
            <a:off x="2720802" y="3647662"/>
            <a:ext cx="1968807" cy="2123658"/>
          </a:xfrm>
          <a:prstGeom prst="rect">
            <a:avLst/>
          </a:prstGeom>
        </p:spPr>
        <p:txBody>
          <a:bodyPr wrap="square">
            <a:spAutoFit/>
          </a:bodyPr>
          <a:lstStyle/>
          <a:p>
            <a:pPr algn="just">
              <a:spcAft>
                <a:spcPts val="1500"/>
              </a:spcAft>
            </a:pPr>
            <a:r>
              <a:rPr lang="en-US" sz="1200" noProof="0">
                <a:solidFill>
                  <a:schemeClr val="bg1"/>
                </a:solidFill>
                <a:ea typeface="Times New Roman" panose="02020603050405020304" pitchFamily="18" charset="0"/>
              </a:rPr>
              <a:t>Lorem ipsum dolor sit </a:t>
            </a:r>
            <a:r>
              <a:rPr lang="en-US" sz="1200" noProof="0" err="1">
                <a:solidFill>
                  <a:schemeClr val="bg1"/>
                </a:solidFill>
                <a:ea typeface="Times New Roman" panose="02020603050405020304" pitchFamily="18" charset="0"/>
              </a:rPr>
              <a:t>amet</a:t>
            </a:r>
            <a:r>
              <a:rPr lang="en-US" sz="1200" noProof="0">
                <a:solidFill>
                  <a:schemeClr val="bg1"/>
                </a:solidFill>
                <a:ea typeface="Times New Roman" panose="02020603050405020304" pitchFamily="18" charset="0"/>
              </a:rPr>
              <a:t>, </a:t>
            </a:r>
            <a:r>
              <a:rPr lang="en-US" sz="1200" noProof="0" err="1">
                <a:solidFill>
                  <a:schemeClr val="bg1"/>
                </a:solidFill>
                <a:ea typeface="Times New Roman" panose="02020603050405020304" pitchFamily="18" charset="0"/>
              </a:rPr>
              <a:t>consectetur</a:t>
            </a:r>
            <a:r>
              <a:rPr lang="en-US" sz="1200" noProof="0">
                <a:solidFill>
                  <a:schemeClr val="bg1"/>
                </a:solidFill>
                <a:ea typeface="Times New Roman" panose="02020603050405020304" pitchFamily="18" charset="0"/>
              </a:rPr>
              <a:t> </a:t>
            </a:r>
            <a:r>
              <a:rPr lang="en-US" sz="1200" noProof="0" err="1">
                <a:solidFill>
                  <a:schemeClr val="bg1"/>
                </a:solidFill>
                <a:ea typeface="Times New Roman" panose="02020603050405020304" pitchFamily="18" charset="0"/>
              </a:rPr>
              <a:t>adipiscing</a:t>
            </a:r>
            <a:r>
              <a:rPr lang="en-US" sz="1200" noProof="0">
                <a:solidFill>
                  <a:schemeClr val="bg1"/>
                </a:solidFill>
                <a:ea typeface="Times New Roman" panose="02020603050405020304" pitchFamily="18" charset="0"/>
              </a:rPr>
              <a:t> </a:t>
            </a:r>
            <a:r>
              <a:rPr lang="en-US" sz="1200" noProof="0" err="1">
                <a:solidFill>
                  <a:schemeClr val="bg1"/>
                </a:solidFill>
                <a:ea typeface="Times New Roman" panose="02020603050405020304" pitchFamily="18" charset="0"/>
              </a:rPr>
              <a:t>elit</a:t>
            </a:r>
            <a:r>
              <a:rPr lang="en-US" sz="1200" noProof="0">
                <a:solidFill>
                  <a:schemeClr val="bg1"/>
                </a:solidFill>
                <a:ea typeface="Times New Roman" panose="02020603050405020304" pitchFamily="18" charset="0"/>
              </a:rPr>
              <a:t>. Nam </a:t>
            </a:r>
            <a:r>
              <a:rPr lang="en-US" sz="1200" noProof="0" err="1">
                <a:solidFill>
                  <a:schemeClr val="bg1"/>
                </a:solidFill>
                <a:ea typeface="Times New Roman" panose="02020603050405020304" pitchFamily="18" charset="0"/>
              </a:rPr>
              <a:t>viverra</a:t>
            </a:r>
            <a:r>
              <a:rPr lang="en-US" sz="1200" noProof="0">
                <a:solidFill>
                  <a:schemeClr val="bg1"/>
                </a:solidFill>
                <a:ea typeface="Times New Roman" panose="02020603050405020304" pitchFamily="18" charset="0"/>
              </a:rPr>
              <a:t> </a:t>
            </a:r>
            <a:r>
              <a:rPr lang="en-US" sz="1200" noProof="0" err="1">
                <a:solidFill>
                  <a:schemeClr val="bg1"/>
                </a:solidFill>
                <a:ea typeface="Times New Roman" panose="02020603050405020304" pitchFamily="18" charset="0"/>
              </a:rPr>
              <a:t>euismod</a:t>
            </a:r>
            <a:r>
              <a:rPr lang="en-US" sz="1200" noProof="0">
                <a:solidFill>
                  <a:schemeClr val="bg1"/>
                </a:solidFill>
                <a:ea typeface="Times New Roman" panose="02020603050405020304" pitchFamily="18" charset="0"/>
              </a:rPr>
              <a:t> </a:t>
            </a:r>
            <a:r>
              <a:rPr lang="en-US" sz="1200" noProof="0" err="1">
                <a:solidFill>
                  <a:schemeClr val="bg1"/>
                </a:solidFill>
                <a:ea typeface="Times New Roman" panose="02020603050405020304" pitchFamily="18" charset="0"/>
              </a:rPr>
              <a:t>odio</a:t>
            </a:r>
            <a:r>
              <a:rPr lang="en-US" sz="1200" noProof="0">
                <a:solidFill>
                  <a:schemeClr val="bg1"/>
                </a:solidFill>
                <a:ea typeface="Times New Roman" panose="02020603050405020304" pitchFamily="18" charset="0"/>
              </a:rPr>
              <a:t>, gravida </a:t>
            </a:r>
            <a:r>
              <a:rPr lang="en-US" sz="1200" noProof="0" err="1">
                <a:solidFill>
                  <a:schemeClr val="bg1"/>
                </a:solidFill>
                <a:ea typeface="Times New Roman" panose="02020603050405020304" pitchFamily="18" charset="0"/>
              </a:rPr>
              <a:t>pellentesque</a:t>
            </a:r>
            <a:r>
              <a:rPr lang="en-US" sz="1200" noProof="0">
                <a:solidFill>
                  <a:schemeClr val="bg1"/>
                </a:solidFill>
                <a:ea typeface="Times New Roman" panose="02020603050405020304" pitchFamily="18" charset="0"/>
              </a:rPr>
              <a:t> </a:t>
            </a:r>
            <a:r>
              <a:rPr lang="en-US" sz="1200" noProof="0" err="1">
                <a:solidFill>
                  <a:schemeClr val="bg1"/>
                </a:solidFill>
                <a:ea typeface="Times New Roman" panose="02020603050405020304" pitchFamily="18" charset="0"/>
              </a:rPr>
              <a:t>urna</a:t>
            </a:r>
            <a:r>
              <a:rPr lang="en-US" sz="1200" noProof="0">
                <a:solidFill>
                  <a:schemeClr val="bg1"/>
                </a:solidFill>
                <a:ea typeface="Times New Roman" panose="02020603050405020304" pitchFamily="18" charset="0"/>
              </a:rPr>
              <a:t> </a:t>
            </a:r>
            <a:r>
              <a:rPr lang="en-US" sz="1200" noProof="0" err="1">
                <a:solidFill>
                  <a:schemeClr val="bg1"/>
                </a:solidFill>
                <a:ea typeface="Times New Roman" panose="02020603050405020304" pitchFamily="18" charset="0"/>
              </a:rPr>
              <a:t>varius</a:t>
            </a:r>
            <a:r>
              <a:rPr lang="en-US" sz="1200" noProof="0">
                <a:solidFill>
                  <a:schemeClr val="bg1"/>
                </a:solidFill>
                <a:ea typeface="Times New Roman" panose="02020603050405020304" pitchFamily="18" charset="0"/>
              </a:rPr>
              <a:t> vitae. Sed dui lorem, </a:t>
            </a:r>
            <a:r>
              <a:rPr lang="en-US" sz="1200" noProof="0" err="1">
                <a:solidFill>
                  <a:schemeClr val="bg1"/>
                </a:solidFill>
                <a:ea typeface="Times New Roman" panose="02020603050405020304" pitchFamily="18" charset="0"/>
              </a:rPr>
              <a:t>adipiscing</a:t>
            </a:r>
            <a:r>
              <a:rPr lang="en-US" sz="1200" noProof="0">
                <a:solidFill>
                  <a:schemeClr val="bg1"/>
                </a:solidFill>
                <a:ea typeface="Times New Roman" panose="02020603050405020304" pitchFamily="18" charset="0"/>
              </a:rPr>
              <a:t> in </a:t>
            </a:r>
            <a:r>
              <a:rPr lang="en-US" sz="1200" noProof="0" err="1">
                <a:solidFill>
                  <a:schemeClr val="bg1"/>
                </a:solidFill>
                <a:ea typeface="Times New Roman" panose="02020603050405020304" pitchFamily="18" charset="0"/>
              </a:rPr>
              <a:t>adipiscing</a:t>
            </a:r>
            <a:r>
              <a:rPr lang="en-US" sz="1200" noProof="0">
                <a:solidFill>
                  <a:schemeClr val="bg1"/>
                </a:solidFill>
                <a:ea typeface="Times New Roman" panose="02020603050405020304" pitchFamily="18" charset="0"/>
              </a:rPr>
              <a:t> et, </a:t>
            </a:r>
            <a:r>
              <a:rPr lang="en-US" sz="1200" noProof="0" err="1">
                <a:solidFill>
                  <a:schemeClr val="bg1"/>
                </a:solidFill>
                <a:ea typeface="Times New Roman" panose="02020603050405020304" pitchFamily="18" charset="0"/>
              </a:rPr>
              <a:t>interdum</a:t>
            </a:r>
            <a:r>
              <a:rPr lang="en-US" sz="1200" noProof="0">
                <a:solidFill>
                  <a:schemeClr val="bg1"/>
                </a:solidFill>
                <a:ea typeface="Times New Roman" panose="02020603050405020304" pitchFamily="18" charset="0"/>
              </a:rPr>
              <a:t> nec </a:t>
            </a:r>
            <a:r>
              <a:rPr lang="en-US" sz="1200" noProof="0" err="1">
                <a:solidFill>
                  <a:schemeClr val="bg1"/>
                </a:solidFill>
                <a:ea typeface="Times New Roman" panose="02020603050405020304" pitchFamily="18" charset="0"/>
              </a:rPr>
              <a:t>metus</a:t>
            </a:r>
            <a:r>
              <a:rPr lang="en-US" sz="1200" noProof="0">
                <a:solidFill>
                  <a:schemeClr val="bg1"/>
                </a:solidFill>
                <a:ea typeface="Times New Roman" panose="02020603050405020304" pitchFamily="18" charset="0"/>
              </a:rPr>
              <a:t>. Mauris </a:t>
            </a:r>
            <a:r>
              <a:rPr lang="en-US" sz="1200" noProof="0" err="1">
                <a:solidFill>
                  <a:schemeClr val="bg1"/>
                </a:solidFill>
                <a:ea typeface="Times New Roman" panose="02020603050405020304" pitchFamily="18" charset="0"/>
              </a:rPr>
              <a:t>ultricies</a:t>
            </a:r>
            <a:r>
              <a:rPr lang="en-US" sz="1200" noProof="0">
                <a:solidFill>
                  <a:schemeClr val="bg1"/>
                </a:solidFill>
                <a:ea typeface="Times New Roman" panose="02020603050405020304" pitchFamily="18" charset="0"/>
              </a:rPr>
              <a:t>, </a:t>
            </a:r>
            <a:r>
              <a:rPr lang="en-US" sz="1200" noProof="0" err="1">
                <a:solidFill>
                  <a:schemeClr val="bg1"/>
                </a:solidFill>
                <a:ea typeface="Times New Roman" panose="02020603050405020304" pitchFamily="18" charset="0"/>
              </a:rPr>
              <a:t>justo</a:t>
            </a:r>
            <a:r>
              <a:rPr lang="en-US" sz="1200" noProof="0">
                <a:solidFill>
                  <a:schemeClr val="bg1"/>
                </a:solidFill>
                <a:ea typeface="Times New Roman" panose="02020603050405020304" pitchFamily="18" charset="0"/>
              </a:rPr>
              <a:t> </a:t>
            </a:r>
            <a:r>
              <a:rPr lang="en-US" sz="1200" noProof="0" err="1">
                <a:solidFill>
                  <a:schemeClr val="bg1"/>
                </a:solidFill>
                <a:ea typeface="Times New Roman" panose="02020603050405020304" pitchFamily="18" charset="0"/>
              </a:rPr>
              <a:t>eu</a:t>
            </a:r>
            <a:r>
              <a:rPr lang="en-US" sz="1200" noProof="0">
                <a:solidFill>
                  <a:schemeClr val="bg1"/>
                </a:solidFill>
                <a:ea typeface="Times New Roman" panose="02020603050405020304" pitchFamily="18" charset="0"/>
              </a:rPr>
              <a:t> convallis </a:t>
            </a:r>
            <a:r>
              <a:rPr lang="en-US" sz="1200" noProof="0" err="1">
                <a:solidFill>
                  <a:schemeClr val="bg1"/>
                </a:solidFill>
                <a:ea typeface="Times New Roman" panose="02020603050405020304" pitchFamily="18" charset="0"/>
              </a:rPr>
              <a:t>placerat</a:t>
            </a:r>
            <a:r>
              <a:rPr lang="en-US" sz="1200" noProof="0">
                <a:solidFill>
                  <a:schemeClr val="bg1"/>
                </a:solidFill>
                <a:ea typeface="Times New Roman" panose="02020603050405020304" pitchFamily="18" charset="0"/>
              </a:rPr>
              <a:t>.</a:t>
            </a:r>
          </a:p>
        </p:txBody>
      </p:sp>
      <p:sp>
        <p:nvSpPr>
          <p:cNvPr id="12" name="Rectangle 11"/>
          <p:cNvSpPr/>
          <p:nvPr/>
        </p:nvSpPr>
        <p:spPr>
          <a:xfrm>
            <a:off x="5161021" y="3619508"/>
            <a:ext cx="1968807" cy="2123658"/>
          </a:xfrm>
          <a:prstGeom prst="rect">
            <a:avLst/>
          </a:prstGeom>
        </p:spPr>
        <p:txBody>
          <a:bodyPr wrap="square">
            <a:spAutoFit/>
          </a:bodyPr>
          <a:lstStyle/>
          <a:p>
            <a:pPr algn="just">
              <a:spcAft>
                <a:spcPts val="1500"/>
              </a:spcAft>
            </a:pPr>
            <a:r>
              <a:rPr lang="en-US" sz="1200" noProof="0">
                <a:solidFill>
                  <a:schemeClr val="bg1"/>
                </a:solidFill>
                <a:ea typeface="Times New Roman" panose="02020603050405020304" pitchFamily="18" charset="0"/>
              </a:rPr>
              <a:t>Lorem ipsum dolor sit </a:t>
            </a:r>
            <a:r>
              <a:rPr lang="en-US" sz="1200" noProof="0" err="1">
                <a:solidFill>
                  <a:schemeClr val="bg1"/>
                </a:solidFill>
                <a:ea typeface="Times New Roman" panose="02020603050405020304" pitchFamily="18" charset="0"/>
              </a:rPr>
              <a:t>amet</a:t>
            </a:r>
            <a:r>
              <a:rPr lang="en-US" sz="1200" noProof="0">
                <a:solidFill>
                  <a:schemeClr val="bg1"/>
                </a:solidFill>
                <a:ea typeface="Times New Roman" panose="02020603050405020304" pitchFamily="18" charset="0"/>
              </a:rPr>
              <a:t>, </a:t>
            </a:r>
            <a:r>
              <a:rPr lang="en-US" sz="1200" noProof="0" err="1">
                <a:solidFill>
                  <a:schemeClr val="bg1"/>
                </a:solidFill>
                <a:ea typeface="Times New Roman" panose="02020603050405020304" pitchFamily="18" charset="0"/>
              </a:rPr>
              <a:t>consectetur</a:t>
            </a:r>
            <a:r>
              <a:rPr lang="en-US" sz="1200" noProof="0">
                <a:solidFill>
                  <a:schemeClr val="bg1"/>
                </a:solidFill>
                <a:ea typeface="Times New Roman" panose="02020603050405020304" pitchFamily="18" charset="0"/>
              </a:rPr>
              <a:t> </a:t>
            </a:r>
            <a:r>
              <a:rPr lang="en-US" sz="1200" noProof="0" err="1">
                <a:solidFill>
                  <a:schemeClr val="bg1"/>
                </a:solidFill>
                <a:ea typeface="Times New Roman" panose="02020603050405020304" pitchFamily="18" charset="0"/>
              </a:rPr>
              <a:t>adipiscing</a:t>
            </a:r>
            <a:r>
              <a:rPr lang="en-US" sz="1200" noProof="0">
                <a:solidFill>
                  <a:schemeClr val="bg1"/>
                </a:solidFill>
                <a:ea typeface="Times New Roman" panose="02020603050405020304" pitchFamily="18" charset="0"/>
              </a:rPr>
              <a:t> </a:t>
            </a:r>
            <a:r>
              <a:rPr lang="en-US" sz="1200" noProof="0" err="1">
                <a:solidFill>
                  <a:schemeClr val="bg1"/>
                </a:solidFill>
                <a:ea typeface="Times New Roman" panose="02020603050405020304" pitchFamily="18" charset="0"/>
              </a:rPr>
              <a:t>elit</a:t>
            </a:r>
            <a:r>
              <a:rPr lang="en-US" sz="1200" noProof="0">
                <a:solidFill>
                  <a:schemeClr val="bg1"/>
                </a:solidFill>
                <a:ea typeface="Times New Roman" panose="02020603050405020304" pitchFamily="18" charset="0"/>
              </a:rPr>
              <a:t>. Nam </a:t>
            </a:r>
            <a:r>
              <a:rPr lang="en-US" sz="1200" noProof="0" err="1">
                <a:solidFill>
                  <a:schemeClr val="bg1"/>
                </a:solidFill>
                <a:ea typeface="Times New Roman" panose="02020603050405020304" pitchFamily="18" charset="0"/>
              </a:rPr>
              <a:t>viverra</a:t>
            </a:r>
            <a:r>
              <a:rPr lang="en-US" sz="1200" noProof="0">
                <a:solidFill>
                  <a:schemeClr val="bg1"/>
                </a:solidFill>
                <a:ea typeface="Times New Roman" panose="02020603050405020304" pitchFamily="18" charset="0"/>
              </a:rPr>
              <a:t> </a:t>
            </a:r>
            <a:r>
              <a:rPr lang="en-US" sz="1200" noProof="0" err="1">
                <a:solidFill>
                  <a:schemeClr val="bg1"/>
                </a:solidFill>
                <a:ea typeface="Times New Roman" panose="02020603050405020304" pitchFamily="18" charset="0"/>
              </a:rPr>
              <a:t>euismod</a:t>
            </a:r>
            <a:r>
              <a:rPr lang="en-US" sz="1200" noProof="0">
                <a:solidFill>
                  <a:schemeClr val="bg1"/>
                </a:solidFill>
                <a:ea typeface="Times New Roman" panose="02020603050405020304" pitchFamily="18" charset="0"/>
              </a:rPr>
              <a:t> </a:t>
            </a:r>
            <a:r>
              <a:rPr lang="en-US" sz="1200" noProof="0" err="1">
                <a:solidFill>
                  <a:schemeClr val="bg1"/>
                </a:solidFill>
                <a:ea typeface="Times New Roman" panose="02020603050405020304" pitchFamily="18" charset="0"/>
              </a:rPr>
              <a:t>odio</a:t>
            </a:r>
            <a:r>
              <a:rPr lang="en-US" sz="1200" noProof="0">
                <a:solidFill>
                  <a:schemeClr val="bg1"/>
                </a:solidFill>
                <a:ea typeface="Times New Roman" panose="02020603050405020304" pitchFamily="18" charset="0"/>
              </a:rPr>
              <a:t>, gravida </a:t>
            </a:r>
            <a:r>
              <a:rPr lang="en-US" sz="1200" noProof="0" err="1">
                <a:solidFill>
                  <a:schemeClr val="bg1"/>
                </a:solidFill>
                <a:ea typeface="Times New Roman" panose="02020603050405020304" pitchFamily="18" charset="0"/>
              </a:rPr>
              <a:t>pellentesque</a:t>
            </a:r>
            <a:r>
              <a:rPr lang="en-US" sz="1200" noProof="0">
                <a:solidFill>
                  <a:schemeClr val="bg1"/>
                </a:solidFill>
                <a:ea typeface="Times New Roman" panose="02020603050405020304" pitchFamily="18" charset="0"/>
              </a:rPr>
              <a:t> </a:t>
            </a:r>
            <a:r>
              <a:rPr lang="en-US" sz="1200" noProof="0" err="1">
                <a:solidFill>
                  <a:schemeClr val="bg1"/>
                </a:solidFill>
                <a:ea typeface="Times New Roman" panose="02020603050405020304" pitchFamily="18" charset="0"/>
              </a:rPr>
              <a:t>urna</a:t>
            </a:r>
            <a:r>
              <a:rPr lang="en-US" sz="1200" noProof="0">
                <a:solidFill>
                  <a:schemeClr val="bg1"/>
                </a:solidFill>
                <a:ea typeface="Times New Roman" panose="02020603050405020304" pitchFamily="18" charset="0"/>
              </a:rPr>
              <a:t> </a:t>
            </a:r>
            <a:r>
              <a:rPr lang="en-US" sz="1200" noProof="0" err="1">
                <a:solidFill>
                  <a:schemeClr val="bg1"/>
                </a:solidFill>
                <a:ea typeface="Times New Roman" panose="02020603050405020304" pitchFamily="18" charset="0"/>
              </a:rPr>
              <a:t>varius</a:t>
            </a:r>
            <a:r>
              <a:rPr lang="en-US" sz="1200" noProof="0">
                <a:solidFill>
                  <a:schemeClr val="bg1"/>
                </a:solidFill>
                <a:ea typeface="Times New Roman" panose="02020603050405020304" pitchFamily="18" charset="0"/>
              </a:rPr>
              <a:t> vitae. Sed dui lorem, </a:t>
            </a:r>
            <a:r>
              <a:rPr lang="en-US" sz="1200" noProof="0" err="1">
                <a:solidFill>
                  <a:schemeClr val="bg1"/>
                </a:solidFill>
                <a:ea typeface="Times New Roman" panose="02020603050405020304" pitchFamily="18" charset="0"/>
              </a:rPr>
              <a:t>adipiscing</a:t>
            </a:r>
            <a:r>
              <a:rPr lang="en-US" sz="1200" noProof="0">
                <a:solidFill>
                  <a:schemeClr val="bg1"/>
                </a:solidFill>
                <a:ea typeface="Times New Roman" panose="02020603050405020304" pitchFamily="18" charset="0"/>
              </a:rPr>
              <a:t> in </a:t>
            </a:r>
            <a:r>
              <a:rPr lang="en-US" sz="1200" noProof="0" err="1">
                <a:solidFill>
                  <a:schemeClr val="bg1"/>
                </a:solidFill>
                <a:ea typeface="Times New Roman" panose="02020603050405020304" pitchFamily="18" charset="0"/>
              </a:rPr>
              <a:t>adipiscing</a:t>
            </a:r>
            <a:r>
              <a:rPr lang="en-US" sz="1200" noProof="0">
                <a:solidFill>
                  <a:schemeClr val="bg1"/>
                </a:solidFill>
                <a:ea typeface="Times New Roman" panose="02020603050405020304" pitchFamily="18" charset="0"/>
              </a:rPr>
              <a:t> et, </a:t>
            </a:r>
            <a:r>
              <a:rPr lang="en-US" sz="1200" noProof="0" err="1">
                <a:solidFill>
                  <a:schemeClr val="bg1"/>
                </a:solidFill>
                <a:ea typeface="Times New Roman" panose="02020603050405020304" pitchFamily="18" charset="0"/>
              </a:rPr>
              <a:t>interdum</a:t>
            </a:r>
            <a:r>
              <a:rPr lang="en-US" sz="1200" noProof="0">
                <a:solidFill>
                  <a:schemeClr val="bg1"/>
                </a:solidFill>
                <a:ea typeface="Times New Roman" panose="02020603050405020304" pitchFamily="18" charset="0"/>
              </a:rPr>
              <a:t> nec </a:t>
            </a:r>
            <a:r>
              <a:rPr lang="en-US" sz="1200" noProof="0" err="1">
                <a:solidFill>
                  <a:schemeClr val="bg1"/>
                </a:solidFill>
                <a:ea typeface="Times New Roman" panose="02020603050405020304" pitchFamily="18" charset="0"/>
              </a:rPr>
              <a:t>metus</a:t>
            </a:r>
            <a:r>
              <a:rPr lang="en-US" sz="1200" noProof="0">
                <a:solidFill>
                  <a:schemeClr val="bg1"/>
                </a:solidFill>
                <a:ea typeface="Times New Roman" panose="02020603050405020304" pitchFamily="18" charset="0"/>
              </a:rPr>
              <a:t>. Mauris </a:t>
            </a:r>
            <a:r>
              <a:rPr lang="en-US" sz="1200" noProof="0" err="1">
                <a:solidFill>
                  <a:schemeClr val="bg1"/>
                </a:solidFill>
                <a:ea typeface="Times New Roman" panose="02020603050405020304" pitchFamily="18" charset="0"/>
              </a:rPr>
              <a:t>ultricies</a:t>
            </a:r>
            <a:r>
              <a:rPr lang="en-US" sz="1200" noProof="0">
                <a:solidFill>
                  <a:schemeClr val="bg1"/>
                </a:solidFill>
                <a:ea typeface="Times New Roman" panose="02020603050405020304" pitchFamily="18" charset="0"/>
              </a:rPr>
              <a:t>, </a:t>
            </a:r>
            <a:r>
              <a:rPr lang="en-US" sz="1200" noProof="0" err="1">
                <a:solidFill>
                  <a:schemeClr val="bg1"/>
                </a:solidFill>
                <a:ea typeface="Times New Roman" panose="02020603050405020304" pitchFamily="18" charset="0"/>
              </a:rPr>
              <a:t>justo</a:t>
            </a:r>
            <a:r>
              <a:rPr lang="en-US" sz="1200" noProof="0">
                <a:solidFill>
                  <a:schemeClr val="bg1"/>
                </a:solidFill>
                <a:ea typeface="Times New Roman" panose="02020603050405020304" pitchFamily="18" charset="0"/>
              </a:rPr>
              <a:t> </a:t>
            </a:r>
            <a:r>
              <a:rPr lang="en-US" sz="1200" noProof="0" err="1">
                <a:solidFill>
                  <a:schemeClr val="bg1"/>
                </a:solidFill>
                <a:ea typeface="Times New Roman" panose="02020603050405020304" pitchFamily="18" charset="0"/>
              </a:rPr>
              <a:t>eu</a:t>
            </a:r>
            <a:r>
              <a:rPr lang="en-US" sz="1200" noProof="0">
                <a:solidFill>
                  <a:schemeClr val="bg1"/>
                </a:solidFill>
                <a:ea typeface="Times New Roman" panose="02020603050405020304" pitchFamily="18" charset="0"/>
              </a:rPr>
              <a:t> convallis </a:t>
            </a:r>
            <a:r>
              <a:rPr lang="en-US" sz="1200" noProof="0" err="1">
                <a:solidFill>
                  <a:schemeClr val="bg1"/>
                </a:solidFill>
                <a:ea typeface="Times New Roman" panose="02020603050405020304" pitchFamily="18" charset="0"/>
              </a:rPr>
              <a:t>placerat</a:t>
            </a:r>
            <a:r>
              <a:rPr lang="en-US" sz="1200" noProof="0">
                <a:solidFill>
                  <a:schemeClr val="bg1"/>
                </a:solidFill>
                <a:ea typeface="Times New Roman" panose="02020603050405020304" pitchFamily="18" charset="0"/>
              </a:rPr>
              <a:t>.</a:t>
            </a:r>
          </a:p>
        </p:txBody>
      </p:sp>
      <p:sp>
        <p:nvSpPr>
          <p:cNvPr id="13" name="Rectangle 12"/>
          <p:cNvSpPr/>
          <p:nvPr/>
        </p:nvSpPr>
        <p:spPr>
          <a:xfrm>
            <a:off x="7579021" y="3613216"/>
            <a:ext cx="1968807" cy="2123658"/>
          </a:xfrm>
          <a:prstGeom prst="rect">
            <a:avLst/>
          </a:prstGeom>
        </p:spPr>
        <p:txBody>
          <a:bodyPr wrap="square">
            <a:spAutoFit/>
          </a:bodyPr>
          <a:lstStyle/>
          <a:p>
            <a:pPr algn="just">
              <a:spcAft>
                <a:spcPts val="1500"/>
              </a:spcAft>
            </a:pPr>
            <a:r>
              <a:rPr lang="en-US" sz="1200" noProof="0">
                <a:solidFill>
                  <a:schemeClr val="bg1"/>
                </a:solidFill>
                <a:ea typeface="Times New Roman" panose="02020603050405020304" pitchFamily="18" charset="0"/>
              </a:rPr>
              <a:t>Lorem ipsum dolor sit </a:t>
            </a:r>
            <a:r>
              <a:rPr lang="en-US" sz="1200" noProof="0" err="1">
                <a:solidFill>
                  <a:schemeClr val="bg1"/>
                </a:solidFill>
                <a:ea typeface="Times New Roman" panose="02020603050405020304" pitchFamily="18" charset="0"/>
              </a:rPr>
              <a:t>amet</a:t>
            </a:r>
            <a:r>
              <a:rPr lang="en-US" sz="1200" noProof="0">
                <a:solidFill>
                  <a:schemeClr val="bg1"/>
                </a:solidFill>
                <a:ea typeface="Times New Roman" panose="02020603050405020304" pitchFamily="18" charset="0"/>
              </a:rPr>
              <a:t>, </a:t>
            </a:r>
            <a:r>
              <a:rPr lang="en-US" sz="1200" noProof="0" err="1">
                <a:solidFill>
                  <a:schemeClr val="bg1"/>
                </a:solidFill>
                <a:ea typeface="Times New Roman" panose="02020603050405020304" pitchFamily="18" charset="0"/>
              </a:rPr>
              <a:t>consectetur</a:t>
            </a:r>
            <a:r>
              <a:rPr lang="en-US" sz="1200" noProof="0">
                <a:solidFill>
                  <a:schemeClr val="bg1"/>
                </a:solidFill>
                <a:ea typeface="Times New Roman" panose="02020603050405020304" pitchFamily="18" charset="0"/>
              </a:rPr>
              <a:t> </a:t>
            </a:r>
            <a:r>
              <a:rPr lang="en-US" sz="1200" noProof="0" err="1">
                <a:solidFill>
                  <a:schemeClr val="bg1"/>
                </a:solidFill>
                <a:ea typeface="Times New Roman" panose="02020603050405020304" pitchFamily="18" charset="0"/>
              </a:rPr>
              <a:t>adipiscing</a:t>
            </a:r>
            <a:r>
              <a:rPr lang="en-US" sz="1200" noProof="0">
                <a:solidFill>
                  <a:schemeClr val="bg1"/>
                </a:solidFill>
                <a:ea typeface="Times New Roman" panose="02020603050405020304" pitchFamily="18" charset="0"/>
              </a:rPr>
              <a:t> </a:t>
            </a:r>
            <a:r>
              <a:rPr lang="en-US" sz="1200" noProof="0" err="1">
                <a:solidFill>
                  <a:schemeClr val="bg1"/>
                </a:solidFill>
                <a:ea typeface="Times New Roman" panose="02020603050405020304" pitchFamily="18" charset="0"/>
              </a:rPr>
              <a:t>elit</a:t>
            </a:r>
            <a:r>
              <a:rPr lang="en-US" sz="1200" noProof="0">
                <a:solidFill>
                  <a:schemeClr val="bg1"/>
                </a:solidFill>
                <a:ea typeface="Times New Roman" panose="02020603050405020304" pitchFamily="18" charset="0"/>
              </a:rPr>
              <a:t>. Nam </a:t>
            </a:r>
            <a:r>
              <a:rPr lang="en-US" sz="1200" noProof="0" err="1">
                <a:solidFill>
                  <a:schemeClr val="bg1"/>
                </a:solidFill>
                <a:ea typeface="Times New Roman" panose="02020603050405020304" pitchFamily="18" charset="0"/>
              </a:rPr>
              <a:t>viverra</a:t>
            </a:r>
            <a:r>
              <a:rPr lang="en-US" sz="1200" noProof="0">
                <a:solidFill>
                  <a:schemeClr val="bg1"/>
                </a:solidFill>
                <a:ea typeface="Times New Roman" panose="02020603050405020304" pitchFamily="18" charset="0"/>
              </a:rPr>
              <a:t> </a:t>
            </a:r>
            <a:r>
              <a:rPr lang="en-US" sz="1200" noProof="0" err="1">
                <a:solidFill>
                  <a:schemeClr val="bg1"/>
                </a:solidFill>
                <a:ea typeface="Times New Roman" panose="02020603050405020304" pitchFamily="18" charset="0"/>
              </a:rPr>
              <a:t>euismod</a:t>
            </a:r>
            <a:r>
              <a:rPr lang="en-US" sz="1200" noProof="0">
                <a:solidFill>
                  <a:schemeClr val="bg1"/>
                </a:solidFill>
                <a:ea typeface="Times New Roman" panose="02020603050405020304" pitchFamily="18" charset="0"/>
              </a:rPr>
              <a:t> </a:t>
            </a:r>
            <a:r>
              <a:rPr lang="en-US" sz="1200" noProof="0" err="1">
                <a:solidFill>
                  <a:schemeClr val="bg1"/>
                </a:solidFill>
                <a:ea typeface="Times New Roman" panose="02020603050405020304" pitchFamily="18" charset="0"/>
              </a:rPr>
              <a:t>odio</a:t>
            </a:r>
            <a:r>
              <a:rPr lang="en-US" sz="1200" noProof="0">
                <a:solidFill>
                  <a:schemeClr val="bg1"/>
                </a:solidFill>
                <a:ea typeface="Times New Roman" panose="02020603050405020304" pitchFamily="18" charset="0"/>
              </a:rPr>
              <a:t>, gravida </a:t>
            </a:r>
            <a:r>
              <a:rPr lang="en-US" sz="1200" noProof="0" err="1">
                <a:solidFill>
                  <a:schemeClr val="bg1"/>
                </a:solidFill>
                <a:ea typeface="Times New Roman" panose="02020603050405020304" pitchFamily="18" charset="0"/>
              </a:rPr>
              <a:t>pellentesque</a:t>
            </a:r>
            <a:r>
              <a:rPr lang="en-US" sz="1200" noProof="0">
                <a:solidFill>
                  <a:schemeClr val="bg1"/>
                </a:solidFill>
                <a:ea typeface="Times New Roman" panose="02020603050405020304" pitchFamily="18" charset="0"/>
              </a:rPr>
              <a:t> </a:t>
            </a:r>
            <a:r>
              <a:rPr lang="en-US" sz="1200" noProof="0" err="1">
                <a:solidFill>
                  <a:schemeClr val="bg1"/>
                </a:solidFill>
                <a:ea typeface="Times New Roman" panose="02020603050405020304" pitchFamily="18" charset="0"/>
              </a:rPr>
              <a:t>urna</a:t>
            </a:r>
            <a:r>
              <a:rPr lang="en-US" sz="1200" noProof="0">
                <a:solidFill>
                  <a:schemeClr val="bg1"/>
                </a:solidFill>
                <a:ea typeface="Times New Roman" panose="02020603050405020304" pitchFamily="18" charset="0"/>
              </a:rPr>
              <a:t> </a:t>
            </a:r>
            <a:r>
              <a:rPr lang="en-US" sz="1200" noProof="0" err="1">
                <a:solidFill>
                  <a:schemeClr val="bg1"/>
                </a:solidFill>
                <a:ea typeface="Times New Roman" panose="02020603050405020304" pitchFamily="18" charset="0"/>
              </a:rPr>
              <a:t>varius</a:t>
            </a:r>
            <a:r>
              <a:rPr lang="en-US" sz="1200" noProof="0">
                <a:solidFill>
                  <a:schemeClr val="bg1"/>
                </a:solidFill>
                <a:ea typeface="Times New Roman" panose="02020603050405020304" pitchFamily="18" charset="0"/>
              </a:rPr>
              <a:t> vitae. Sed dui lorem, </a:t>
            </a:r>
            <a:r>
              <a:rPr lang="en-US" sz="1200" noProof="0" err="1">
                <a:solidFill>
                  <a:schemeClr val="bg1"/>
                </a:solidFill>
                <a:ea typeface="Times New Roman" panose="02020603050405020304" pitchFamily="18" charset="0"/>
              </a:rPr>
              <a:t>adipiscing</a:t>
            </a:r>
            <a:r>
              <a:rPr lang="en-US" sz="1200" noProof="0">
                <a:solidFill>
                  <a:schemeClr val="bg1"/>
                </a:solidFill>
                <a:ea typeface="Times New Roman" panose="02020603050405020304" pitchFamily="18" charset="0"/>
              </a:rPr>
              <a:t> in </a:t>
            </a:r>
            <a:r>
              <a:rPr lang="en-US" sz="1200" noProof="0" err="1">
                <a:solidFill>
                  <a:schemeClr val="bg1"/>
                </a:solidFill>
                <a:ea typeface="Times New Roman" panose="02020603050405020304" pitchFamily="18" charset="0"/>
              </a:rPr>
              <a:t>adipiscing</a:t>
            </a:r>
            <a:r>
              <a:rPr lang="en-US" sz="1200" noProof="0">
                <a:solidFill>
                  <a:schemeClr val="bg1"/>
                </a:solidFill>
                <a:ea typeface="Times New Roman" panose="02020603050405020304" pitchFamily="18" charset="0"/>
              </a:rPr>
              <a:t> et, </a:t>
            </a:r>
            <a:r>
              <a:rPr lang="en-US" sz="1200" noProof="0" err="1">
                <a:solidFill>
                  <a:schemeClr val="bg1"/>
                </a:solidFill>
                <a:ea typeface="Times New Roman" panose="02020603050405020304" pitchFamily="18" charset="0"/>
              </a:rPr>
              <a:t>interdum</a:t>
            </a:r>
            <a:r>
              <a:rPr lang="en-US" sz="1200" noProof="0">
                <a:solidFill>
                  <a:schemeClr val="bg1"/>
                </a:solidFill>
                <a:ea typeface="Times New Roman" panose="02020603050405020304" pitchFamily="18" charset="0"/>
              </a:rPr>
              <a:t> nec </a:t>
            </a:r>
            <a:r>
              <a:rPr lang="en-US" sz="1200" noProof="0" err="1">
                <a:solidFill>
                  <a:schemeClr val="bg1"/>
                </a:solidFill>
                <a:ea typeface="Times New Roman" panose="02020603050405020304" pitchFamily="18" charset="0"/>
              </a:rPr>
              <a:t>metus</a:t>
            </a:r>
            <a:r>
              <a:rPr lang="en-US" sz="1200" noProof="0">
                <a:solidFill>
                  <a:schemeClr val="bg1"/>
                </a:solidFill>
                <a:ea typeface="Times New Roman" panose="02020603050405020304" pitchFamily="18" charset="0"/>
              </a:rPr>
              <a:t>. Mauris </a:t>
            </a:r>
            <a:r>
              <a:rPr lang="en-US" sz="1200" noProof="0" err="1">
                <a:solidFill>
                  <a:schemeClr val="bg1"/>
                </a:solidFill>
                <a:ea typeface="Times New Roman" panose="02020603050405020304" pitchFamily="18" charset="0"/>
              </a:rPr>
              <a:t>ultricies</a:t>
            </a:r>
            <a:r>
              <a:rPr lang="en-US" sz="1200" noProof="0">
                <a:solidFill>
                  <a:schemeClr val="bg1"/>
                </a:solidFill>
                <a:ea typeface="Times New Roman" panose="02020603050405020304" pitchFamily="18" charset="0"/>
              </a:rPr>
              <a:t>, </a:t>
            </a:r>
            <a:r>
              <a:rPr lang="en-US" sz="1200" noProof="0" err="1">
                <a:solidFill>
                  <a:schemeClr val="bg1"/>
                </a:solidFill>
                <a:ea typeface="Times New Roman" panose="02020603050405020304" pitchFamily="18" charset="0"/>
              </a:rPr>
              <a:t>justo</a:t>
            </a:r>
            <a:r>
              <a:rPr lang="en-US" sz="1200" noProof="0">
                <a:solidFill>
                  <a:schemeClr val="bg1"/>
                </a:solidFill>
                <a:ea typeface="Times New Roman" panose="02020603050405020304" pitchFamily="18" charset="0"/>
              </a:rPr>
              <a:t> </a:t>
            </a:r>
            <a:r>
              <a:rPr lang="en-US" sz="1200" noProof="0" err="1">
                <a:solidFill>
                  <a:schemeClr val="bg1"/>
                </a:solidFill>
                <a:ea typeface="Times New Roman" panose="02020603050405020304" pitchFamily="18" charset="0"/>
              </a:rPr>
              <a:t>eu</a:t>
            </a:r>
            <a:r>
              <a:rPr lang="en-US" sz="1200" noProof="0">
                <a:solidFill>
                  <a:schemeClr val="bg1"/>
                </a:solidFill>
                <a:ea typeface="Times New Roman" panose="02020603050405020304" pitchFamily="18" charset="0"/>
              </a:rPr>
              <a:t> convallis </a:t>
            </a:r>
            <a:r>
              <a:rPr lang="en-US" sz="1200" noProof="0" err="1">
                <a:solidFill>
                  <a:schemeClr val="bg1"/>
                </a:solidFill>
                <a:ea typeface="Times New Roman" panose="02020603050405020304" pitchFamily="18" charset="0"/>
              </a:rPr>
              <a:t>placerat</a:t>
            </a:r>
            <a:r>
              <a:rPr lang="en-US" sz="1200" noProof="0">
                <a:solidFill>
                  <a:schemeClr val="bg1"/>
                </a:solidFill>
                <a:ea typeface="Times New Roman" panose="02020603050405020304" pitchFamily="18" charset="0"/>
              </a:rPr>
              <a:t>.</a:t>
            </a:r>
          </a:p>
        </p:txBody>
      </p:sp>
      <p:sp>
        <p:nvSpPr>
          <p:cNvPr id="14" name="Rectangle 13"/>
          <p:cNvSpPr/>
          <p:nvPr/>
        </p:nvSpPr>
        <p:spPr>
          <a:xfrm>
            <a:off x="10017221" y="3647661"/>
            <a:ext cx="1968807" cy="2123658"/>
          </a:xfrm>
          <a:prstGeom prst="rect">
            <a:avLst/>
          </a:prstGeom>
        </p:spPr>
        <p:txBody>
          <a:bodyPr wrap="square">
            <a:spAutoFit/>
          </a:bodyPr>
          <a:lstStyle/>
          <a:p>
            <a:pPr algn="just">
              <a:spcAft>
                <a:spcPts val="1500"/>
              </a:spcAft>
            </a:pPr>
            <a:r>
              <a:rPr lang="en-US" sz="1200" noProof="0">
                <a:solidFill>
                  <a:schemeClr val="bg1"/>
                </a:solidFill>
                <a:ea typeface="Times New Roman" panose="02020603050405020304" pitchFamily="18" charset="0"/>
              </a:rPr>
              <a:t>Lorem ipsum dolor sit </a:t>
            </a:r>
            <a:r>
              <a:rPr lang="en-US" sz="1200" noProof="0" err="1">
                <a:solidFill>
                  <a:schemeClr val="bg1"/>
                </a:solidFill>
                <a:ea typeface="Times New Roman" panose="02020603050405020304" pitchFamily="18" charset="0"/>
              </a:rPr>
              <a:t>amet</a:t>
            </a:r>
            <a:r>
              <a:rPr lang="en-US" sz="1200" noProof="0">
                <a:solidFill>
                  <a:schemeClr val="bg1"/>
                </a:solidFill>
                <a:ea typeface="Times New Roman" panose="02020603050405020304" pitchFamily="18" charset="0"/>
              </a:rPr>
              <a:t>, </a:t>
            </a:r>
            <a:r>
              <a:rPr lang="en-US" sz="1200" noProof="0" err="1">
                <a:solidFill>
                  <a:schemeClr val="bg1"/>
                </a:solidFill>
                <a:ea typeface="Times New Roman" panose="02020603050405020304" pitchFamily="18" charset="0"/>
              </a:rPr>
              <a:t>consectetur</a:t>
            </a:r>
            <a:r>
              <a:rPr lang="en-US" sz="1200" noProof="0">
                <a:solidFill>
                  <a:schemeClr val="bg1"/>
                </a:solidFill>
                <a:ea typeface="Times New Roman" panose="02020603050405020304" pitchFamily="18" charset="0"/>
              </a:rPr>
              <a:t> </a:t>
            </a:r>
            <a:r>
              <a:rPr lang="en-US" sz="1200" noProof="0" err="1">
                <a:solidFill>
                  <a:schemeClr val="bg1"/>
                </a:solidFill>
                <a:ea typeface="Times New Roman" panose="02020603050405020304" pitchFamily="18" charset="0"/>
              </a:rPr>
              <a:t>adipiscing</a:t>
            </a:r>
            <a:r>
              <a:rPr lang="en-US" sz="1200" noProof="0">
                <a:solidFill>
                  <a:schemeClr val="bg1"/>
                </a:solidFill>
                <a:ea typeface="Times New Roman" panose="02020603050405020304" pitchFamily="18" charset="0"/>
              </a:rPr>
              <a:t> </a:t>
            </a:r>
            <a:r>
              <a:rPr lang="en-US" sz="1200" noProof="0" err="1">
                <a:solidFill>
                  <a:schemeClr val="bg1"/>
                </a:solidFill>
                <a:ea typeface="Times New Roman" panose="02020603050405020304" pitchFamily="18" charset="0"/>
              </a:rPr>
              <a:t>elit</a:t>
            </a:r>
            <a:r>
              <a:rPr lang="en-US" sz="1200" noProof="0">
                <a:solidFill>
                  <a:schemeClr val="bg1"/>
                </a:solidFill>
                <a:ea typeface="Times New Roman" panose="02020603050405020304" pitchFamily="18" charset="0"/>
              </a:rPr>
              <a:t>. Nam </a:t>
            </a:r>
            <a:r>
              <a:rPr lang="en-US" sz="1200" noProof="0" err="1">
                <a:solidFill>
                  <a:schemeClr val="bg1"/>
                </a:solidFill>
                <a:ea typeface="Times New Roman" panose="02020603050405020304" pitchFamily="18" charset="0"/>
              </a:rPr>
              <a:t>viverra</a:t>
            </a:r>
            <a:r>
              <a:rPr lang="en-US" sz="1200" noProof="0">
                <a:solidFill>
                  <a:schemeClr val="bg1"/>
                </a:solidFill>
                <a:ea typeface="Times New Roman" panose="02020603050405020304" pitchFamily="18" charset="0"/>
              </a:rPr>
              <a:t> </a:t>
            </a:r>
            <a:r>
              <a:rPr lang="en-US" sz="1200" noProof="0" err="1">
                <a:solidFill>
                  <a:schemeClr val="bg1"/>
                </a:solidFill>
                <a:ea typeface="Times New Roman" panose="02020603050405020304" pitchFamily="18" charset="0"/>
              </a:rPr>
              <a:t>euismod</a:t>
            </a:r>
            <a:r>
              <a:rPr lang="en-US" sz="1200" noProof="0">
                <a:solidFill>
                  <a:schemeClr val="bg1"/>
                </a:solidFill>
                <a:ea typeface="Times New Roman" panose="02020603050405020304" pitchFamily="18" charset="0"/>
              </a:rPr>
              <a:t> </a:t>
            </a:r>
            <a:r>
              <a:rPr lang="en-US" sz="1200" noProof="0" err="1">
                <a:solidFill>
                  <a:schemeClr val="bg1"/>
                </a:solidFill>
                <a:ea typeface="Times New Roman" panose="02020603050405020304" pitchFamily="18" charset="0"/>
              </a:rPr>
              <a:t>odio</a:t>
            </a:r>
            <a:r>
              <a:rPr lang="en-US" sz="1200" noProof="0">
                <a:solidFill>
                  <a:schemeClr val="bg1"/>
                </a:solidFill>
                <a:ea typeface="Times New Roman" panose="02020603050405020304" pitchFamily="18" charset="0"/>
              </a:rPr>
              <a:t>, gravida </a:t>
            </a:r>
            <a:r>
              <a:rPr lang="en-US" sz="1200" noProof="0" err="1">
                <a:solidFill>
                  <a:schemeClr val="bg1"/>
                </a:solidFill>
                <a:ea typeface="Times New Roman" panose="02020603050405020304" pitchFamily="18" charset="0"/>
              </a:rPr>
              <a:t>pellentesque</a:t>
            </a:r>
            <a:r>
              <a:rPr lang="en-US" sz="1200" noProof="0">
                <a:solidFill>
                  <a:schemeClr val="bg1"/>
                </a:solidFill>
                <a:ea typeface="Times New Roman" panose="02020603050405020304" pitchFamily="18" charset="0"/>
              </a:rPr>
              <a:t> </a:t>
            </a:r>
            <a:r>
              <a:rPr lang="en-US" sz="1200" noProof="0" err="1">
                <a:solidFill>
                  <a:schemeClr val="bg1"/>
                </a:solidFill>
                <a:ea typeface="Times New Roman" panose="02020603050405020304" pitchFamily="18" charset="0"/>
              </a:rPr>
              <a:t>urna</a:t>
            </a:r>
            <a:r>
              <a:rPr lang="en-US" sz="1200" noProof="0">
                <a:solidFill>
                  <a:schemeClr val="bg1"/>
                </a:solidFill>
                <a:ea typeface="Times New Roman" panose="02020603050405020304" pitchFamily="18" charset="0"/>
              </a:rPr>
              <a:t> </a:t>
            </a:r>
            <a:r>
              <a:rPr lang="en-US" sz="1200" noProof="0" err="1">
                <a:solidFill>
                  <a:schemeClr val="bg1"/>
                </a:solidFill>
                <a:ea typeface="Times New Roman" panose="02020603050405020304" pitchFamily="18" charset="0"/>
              </a:rPr>
              <a:t>varius</a:t>
            </a:r>
            <a:r>
              <a:rPr lang="en-US" sz="1200" noProof="0">
                <a:solidFill>
                  <a:schemeClr val="bg1"/>
                </a:solidFill>
                <a:ea typeface="Times New Roman" panose="02020603050405020304" pitchFamily="18" charset="0"/>
              </a:rPr>
              <a:t> vitae. Sed dui lorem, </a:t>
            </a:r>
            <a:r>
              <a:rPr lang="en-US" sz="1200" noProof="0" err="1">
                <a:solidFill>
                  <a:schemeClr val="bg1"/>
                </a:solidFill>
                <a:ea typeface="Times New Roman" panose="02020603050405020304" pitchFamily="18" charset="0"/>
              </a:rPr>
              <a:t>adipiscing</a:t>
            </a:r>
            <a:r>
              <a:rPr lang="en-US" sz="1200" noProof="0">
                <a:solidFill>
                  <a:schemeClr val="bg1"/>
                </a:solidFill>
                <a:ea typeface="Times New Roman" panose="02020603050405020304" pitchFamily="18" charset="0"/>
              </a:rPr>
              <a:t> in </a:t>
            </a:r>
            <a:r>
              <a:rPr lang="en-US" sz="1200" noProof="0" err="1">
                <a:solidFill>
                  <a:schemeClr val="bg1"/>
                </a:solidFill>
                <a:ea typeface="Times New Roman" panose="02020603050405020304" pitchFamily="18" charset="0"/>
              </a:rPr>
              <a:t>adipiscing</a:t>
            </a:r>
            <a:r>
              <a:rPr lang="en-US" sz="1200" noProof="0">
                <a:solidFill>
                  <a:schemeClr val="bg1"/>
                </a:solidFill>
                <a:ea typeface="Times New Roman" panose="02020603050405020304" pitchFamily="18" charset="0"/>
              </a:rPr>
              <a:t> et, </a:t>
            </a:r>
            <a:r>
              <a:rPr lang="en-US" sz="1200" noProof="0" err="1">
                <a:solidFill>
                  <a:schemeClr val="bg1"/>
                </a:solidFill>
                <a:ea typeface="Times New Roman" panose="02020603050405020304" pitchFamily="18" charset="0"/>
              </a:rPr>
              <a:t>interdum</a:t>
            </a:r>
            <a:r>
              <a:rPr lang="en-US" sz="1200" noProof="0">
                <a:solidFill>
                  <a:schemeClr val="bg1"/>
                </a:solidFill>
                <a:ea typeface="Times New Roman" panose="02020603050405020304" pitchFamily="18" charset="0"/>
              </a:rPr>
              <a:t> nec </a:t>
            </a:r>
            <a:r>
              <a:rPr lang="en-US" sz="1200" noProof="0" err="1">
                <a:solidFill>
                  <a:schemeClr val="bg1"/>
                </a:solidFill>
                <a:ea typeface="Times New Roman" panose="02020603050405020304" pitchFamily="18" charset="0"/>
              </a:rPr>
              <a:t>metus</a:t>
            </a:r>
            <a:r>
              <a:rPr lang="en-US" sz="1200" noProof="0">
                <a:solidFill>
                  <a:schemeClr val="bg1"/>
                </a:solidFill>
                <a:ea typeface="Times New Roman" panose="02020603050405020304" pitchFamily="18" charset="0"/>
              </a:rPr>
              <a:t>. Mauris </a:t>
            </a:r>
            <a:r>
              <a:rPr lang="en-US" sz="1200" noProof="0" err="1">
                <a:solidFill>
                  <a:schemeClr val="bg1"/>
                </a:solidFill>
                <a:ea typeface="Times New Roman" panose="02020603050405020304" pitchFamily="18" charset="0"/>
              </a:rPr>
              <a:t>ultricies</a:t>
            </a:r>
            <a:r>
              <a:rPr lang="en-US" sz="1200" noProof="0">
                <a:solidFill>
                  <a:schemeClr val="bg1"/>
                </a:solidFill>
                <a:ea typeface="Times New Roman" panose="02020603050405020304" pitchFamily="18" charset="0"/>
              </a:rPr>
              <a:t>, </a:t>
            </a:r>
            <a:r>
              <a:rPr lang="en-US" sz="1200" noProof="0" err="1">
                <a:solidFill>
                  <a:schemeClr val="bg1"/>
                </a:solidFill>
                <a:ea typeface="Times New Roman" panose="02020603050405020304" pitchFamily="18" charset="0"/>
              </a:rPr>
              <a:t>justo</a:t>
            </a:r>
            <a:r>
              <a:rPr lang="en-US" sz="1200" noProof="0">
                <a:solidFill>
                  <a:schemeClr val="bg1"/>
                </a:solidFill>
                <a:ea typeface="Times New Roman" panose="02020603050405020304" pitchFamily="18" charset="0"/>
              </a:rPr>
              <a:t> </a:t>
            </a:r>
            <a:r>
              <a:rPr lang="en-US" sz="1200" noProof="0" err="1">
                <a:solidFill>
                  <a:schemeClr val="bg1"/>
                </a:solidFill>
                <a:ea typeface="Times New Roman" panose="02020603050405020304" pitchFamily="18" charset="0"/>
              </a:rPr>
              <a:t>eu</a:t>
            </a:r>
            <a:r>
              <a:rPr lang="en-US" sz="1200" noProof="0">
                <a:solidFill>
                  <a:schemeClr val="bg1"/>
                </a:solidFill>
                <a:ea typeface="Times New Roman" panose="02020603050405020304" pitchFamily="18" charset="0"/>
              </a:rPr>
              <a:t> convallis </a:t>
            </a:r>
            <a:r>
              <a:rPr lang="en-US" sz="1200" noProof="0" err="1">
                <a:solidFill>
                  <a:schemeClr val="bg1"/>
                </a:solidFill>
                <a:ea typeface="Times New Roman" panose="02020603050405020304" pitchFamily="18" charset="0"/>
              </a:rPr>
              <a:t>placerat</a:t>
            </a:r>
            <a:r>
              <a:rPr lang="en-US" sz="1200" noProof="0">
                <a:solidFill>
                  <a:schemeClr val="bg1"/>
                </a:solidFill>
                <a:ea typeface="Times New Roman" panose="02020603050405020304" pitchFamily="18" charset="0"/>
              </a:rPr>
              <a:t>.</a:t>
            </a:r>
          </a:p>
        </p:txBody>
      </p:sp>
      <p:sp>
        <p:nvSpPr>
          <p:cNvPr id="15" name="Content Placeholder 2"/>
          <p:cNvSpPr txBox="1">
            <a:spLocks/>
          </p:cNvSpPr>
          <p:nvPr/>
        </p:nvSpPr>
        <p:spPr>
          <a:xfrm>
            <a:off x="171998" y="3014906"/>
            <a:ext cx="2138578" cy="518191"/>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2800" noProof="0">
                <a:solidFill>
                  <a:schemeClr val="bg1"/>
                </a:solidFill>
                <a:latin typeface="+mj-lt"/>
              </a:rPr>
              <a:t>Quality Life</a:t>
            </a:r>
            <a:endParaRPr lang="en-US" sz="1600" noProof="0">
              <a:solidFill>
                <a:schemeClr val="bg1"/>
              </a:solidFill>
              <a:latin typeface="+mj-lt"/>
            </a:endParaRPr>
          </a:p>
        </p:txBody>
      </p:sp>
      <p:sp>
        <p:nvSpPr>
          <p:cNvPr id="16" name="Content Placeholder 2"/>
          <p:cNvSpPr txBox="1">
            <a:spLocks/>
          </p:cNvSpPr>
          <p:nvPr/>
        </p:nvSpPr>
        <p:spPr>
          <a:xfrm>
            <a:off x="2646445" y="3013931"/>
            <a:ext cx="2138578" cy="518191"/>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2800" noProof="0">
                <a:solidFill>
                  <a:schemeClr val="bg1"/>
                </a:solidFill>
                <a:latin typeface="+mj-lt"/>
              </a:rPr>
              <a:t>Success Life</a:t>
            </a:r>
            <a:endParaRPr lang="en-US" sz="1600" noProof="0">
              <a:solidFill>
                <a:schemeClr val="bg1"/>
              </a:solidFill>
              <a:latin typeface="+mj-lt"/>
            </a:endParaRPr>
          </a:p>
        </p:txBody>
      </p:sp>
      <p:sp>
        <p:nvSpPr>
          <p:cNvPr id="17" name="Content Placeholder 2"/>
          <p:cNvSpPr txBox="1">
            <a:spLocks/>
          </p:cNvSpPr>
          <p:nvPr/>
        </p:nvSpPr>
        <p:spPr>
          <a:xfrm>
            <a:off x="5016821" y="3056900"/>
            <a:ext cx="2138578" cy="518191"/>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2800" noProof="0">
                <a:solidFill>
                  <a:schemeClr val="bg1"/>
                </a:solidFill>
                <a:latin typeface="+mj-lt"/>
              </a:rPr>
              <a:t>Be Creative </a:t>
            </a:r>
            <a:endParaRPr lang="en-US" sz="1600" noProof="0">
              <a:solidFill>
                <a:schemeClr val="bg1"/>
              </a:solidFill>
              <a:latin typeface="+mj-lt"/>
            </a:endParaRPr>
          </a:p>
        </p:txBody>
      </p:sp>
      <p:sp>
        <p:nvSpPr>
          <p:cNvPr id="18" name="Content Placeholder 2"/>
          <p:cNvSpPr txBox="1">
            <a:spLocks/>
          </p:cNvSpPr>
          <p:nvPr/>
        </p:nvSpPr>
        <p:spPr>
          <a:xfrm>
            <a:off x="7431468" y="3056900"/>
            <a:ext cx="2138578" cy="518191"/>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2800" noProof="0">
                <a:solidFill>
                  <a:schemeClr val="bg1"/>
                </a:solidFill>
                <a:latin typeface="+mj-lt"/>
              </a:rPr>
              <a:t>Smart Think</a:t>
            </a:r>
            <a:endParaRPr lang="en-US" sz="1600" noProof="0">
              <a:solidFill>
                <a:schemeClr val="bg1"/>
              </a:solidFill>
              <a:latin typeface="+mj-lt"/>
            </a:endParaRPr>
          </a:p>
        </p:txBody>
      </p:sp>
      <p:sp>
        <p:nvSpPr>
          <p:cNvPr id="19" name="Content Placeholder 2"/>
          <p:cNvSpPr txBox="1">
            <a:spLocks/>
          </p:cNvSpPr>
          <p:nvPr/>
        </p:nvSpPr>
        <p:spPr>
          <a:xfrm>
            <a:off x="9907148" y="3007877"/>
            <a:ext cx="2138578" cy="518191"/>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2800" noProof="0">
                <a:solidFill>
                  <a:schemeClr val="bg1"/>
                </a:solidFill>
                <a:latin typeface="+mj-lt"/>
              </a:rPr>
              <a:t>Big Earning</a:t>
            </a:r>
            <a:endParaRPr lang="en-US" sz="1600" noProof="0">
              <a:solidFill>
                <a:schemeClr val="bg1"/>
              </a:solidFill>
              <a:latin typeface="+mj-lt"/>
            </a:endParaRPr>
          </a:p>
        </p:txBody>
      </p:sp>
    </p:spTree>
    <p:extLst>
      <p:ext uri="{BB962C8B-B14F-4D97-AF65-F5344CB8AC3E}">
        <p14:creationId xmlns:p14="http://schemas.microsoft.com/office/powerpoint/2010/main" val="29347002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1+#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1+#ppt_w/2"/>
                                          </p:val>
                                        </p:tav>
                                        <p:tav tm="100000">
                                          <p:val>
                                            <p:strVal val="#ppt_x"/>
                                          </p:val>
                                        </p:tav>
                                      </p:tavLst>
                                    </p:anim>
                                    <p:anim calcmode="lin" valueType="num">
                                      <p:cBhvr additive="base">
                                        <p:cTn id="13"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P spid="4" grpId="0" autoUpdateAnimBg="0"/>
    </p:bldLst>
  </p:timing>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74473923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6" name="CuadroTexto 15">
            <a:extLst>
              <a:ext uri="{FF2B5EF4-FFF2-40B4-BE49-F238E27FC236}">
                <a16:creationId xmlns:a16="http://schemas.microsoft.com/office/drawing/2014/main" id="{9BD65D6F-1331-6138-6832-A1A46E5B6DE1}"/>
              </a:ext>
            </a:extLst>
          </p:cNvPr>
          <p:cNvSpPr txBox="1"/>
          <p:nvPr/>
        </p:nvSpPr>
        <p:spPr>
          <a:xfrm>
            <a:off x="212709" y="920682"/>
            <a:ext cx="11766582" cy="430887"/>
          </a:xfrm>
          <a:prstGeom prst="rect">
            <a:avLst/>
          </a:prstGeom>
          <a:noFill/>
        </p:spPr>
        <p:txBody>
          <a:bodyPr wrap="square" lIns="0" tIns="0" rIns="0" bIns="0" rtlCol="0">
            <a:noAutofit/>
          </a:bodyPr>
          <a:lstStyle>
            <a:defPPr>
              <a:defRPr lang="en-US"/>
            </a:defPPr>
            <a:lvl1pPr marR="0" lvl="0" indent="0" algn="just" fontAlgn="auto">
              <a:lnSpc>
                <a:spcPct val="100000"/>
              </a:lnSpc>
              <a:spcBef>
                <a:spcPts val="0"/>
              </a:spcBef>
              <a:spcAft>
                <a:spcPts val="0"/>
              </a:spcAft>
              <a:buClrTx/>
              <a:buSzTx/>
              <a:buFontTx/>
              <a:buNone/>
              <a:tabLst/>
              <a:defRPr kumimoji="0" sz="1400" b="1" i="0" u="none" strike="noStrike" cap="none" spc="0" normalizeH="0" baseline="0">
                <a:ln>
                  <a:noFill/>
                </a:ln>
                <a:solidFill>
                  <a:srgbClr val="0F9ED5">
                    <a:lumMod val="75000"/>
                  </a:srgbClr>
                </a:solidFill>
                <a:effectLst/>
                <a:uLnTx/>
                <a:uFillTx/>
                <a:latin typeface="Arial" panose="020B0604020202020204" pitchFamily="34" charset="0"/>
                <a:cs typeface="Arial" panose="020B0604020202020204" pitchFamily="34" charset="0"/>
              </a:defRPr>
            </a:lvl1pPr>
            <a:lvl2pPr marL="228586" eaLnBrk="0" fontAlgn="base" hangingPunct="0">
              <a:spcBef>
                <a:spcPct val="0"/>
              </a:spcBef>
              <a:spcAft>
                <a:spcPct val="0"/>
              </a:spcAft>
              <a:defRPr>
                <a:latin typeface="Arial" pitchFamily="2" charset="77"/>
              </a:defRPr>
            </a:lvl2pPr>
            <a:lvl3pPr marL="457172" eaLnBrk="0" fontAlgn="base" hangingPunct="0">
              <a:spcBef>
                <a:spcPct val="0"/>
              </a:spcBef>
              <a:spcAft>
                <a:spcPct val="0"/>
              </a:spcAft>
              <a:defRPr>
                <a:latin typeface="Arial" pitchFamily="2" charset="77"/>
              </a:defRPr>
            </a:lvl3pPr>
            <a:lvl4pPr marL="685757" eaLnBrk="0" fontAlgn="base" hangingPunct="0">
              <a:spcBef>
                <a:spcPct val="0"/>
              </a:spcBef>
              <a:spcAft>
                <a:spcPct val="0"/>
              </a:spcAft>
              <a:defRPr>
                <a:latin typeface="Arial" pitchFamily="2" charset="77"/>
              </a:defRPr>
            </a:lvl4pPr>
            <a:lvl5pPr marL="914343" eaLnBrk="0" fontAlgn="base" hangingPunct="0">
              <a:spcBef>
                <a:spcPct val="0"/>
              </a:spcBef>
              <a:spcAft>
                <a:spcPct val="0"/>
              </a:spcAft>
              <a:defRPr>
                <a:latin typeface="Arial" pitchFamily="2" charset="77"/>
              </a:defRPr>
            </a:lvl5pPr>
            <a:lvl6pPr marL="1142929" defTabSz="457172">
              <a:defRPr>
                <a:latin typeface="Arial" pitchFamily="2" charset="77"/>
              </a:defRPr>
            </a:lvl6pPr>
            <a:lvl7pPr marL="1371515" defTabSz="457172">
              <a:defRPr>
                <a:latin typeface="Arial" pitchFamily="2" charset="77"/>
              </a:defRPr>
            </a:lvl7pPr>
            <a:lvl8pPr marL="1600100" defTabSz="457172">
              <a:defRPr>
                <a:latin typeface="Arial" pitchFamily="2" charset="77"/>
              </a:defRPr>
            </a:lvl8pPr>
            <a:lvl9pPr marL="1828686" defTabSz="457172">
              <a:defRPr>
                <a:latin typeface="Arial" pitchFamily="2" charset="77"/>
              </a:defRPr>
            </a:lvl9pPr>
          </a:lstStyle>
          <a:p>
            <a:r>
              <a:rPr lang="en-US" noProof="0"/>
              <a:t>Our assessment highlights opportunities to strengthen alignment, governance, and prioritization to enable a more scalable and sustainable TO‑BE operating model.</a:t>
            </a:r>
          </a:p>
        </p:txBody>
      </p:sp>
      <p:sp>
        <p:nvSpPr>
          <p:cNvPr id="4" name="Elipse 3">
            <a:extLst>
              <a:ext uri="{FF2B5EF4-FFF2-40B4-BE49-F238E27FC236}">
                <a16:creationId xmlns:a16="http://schemas.microsoft.com/office/drawing/2014/main" id="{9C7D4A91-9354-A078-70F2-F812504EC7ED}"/>
              </a:ext>
            </a:extLst>
          </p:cNvPr>
          <p:cNvSpPr/>
          <p:nvPr/>
        </p:nvSpPr>
        <p:spPr>
          <a:xfrm>
            <a:off x="7421212" y="5278706"/>
            <a:ext cx="216000" cy="216000"/>
          </a:xfrm>
          <a:prstGeom prst="ellipse">
            <a:avLst/>
          </a:prstGeom>
          <a:solidFill>
            <a:srgbClr val="00A443"/>
          </a:solidFill>
          <a:ln>
            <a:solidFill>
              <a:srgbClr val="00A44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panose="020B0502040204020203" pitchFamily="34" charset="0"/>
              <a:ea typeface="+mn-ea"/>
              <a:cs typeface="+mn-cs"/>
            </a:endParaRPr>
          </a:p>
        </p:txBody>
      </p:sp>
      <p:cxnSp>
        <p:nvCxnSpPr>
          <p:cNvPr id="5" name="Conector recto 4">
            <a:extLst>
              <a:ext uri="{FF2B5EF4-FFF2-40B4-BE49-F238E27FC236}">
                <a16:creationId xmlns:a16="http://schemas.microsoft.com/office/drawing/2014/main" id="{3F2017D9-D75C-10C9-6B5C-2851A60F9A94}"/>
              </a:ext>
            </a:extLst>
          </p:cNvPr>
          <p:cNvCxnSpPr>
            <a:cxnSpLocks/>
            <a:stCxn id="4" idx="6"/>
          </p:cNvCxnSpPr>
          <p:nvPr/>
        </p:nvCxnSpPr>
        <p:spPr>
          <a:xfrm flipV="1">
            <a:off x="7637212" y="5382879"/>
            <a:ext cx="3974035" cy="0"/>
          </a:xfrm>
          <a:prstGeom prst="line">
            <a:avLst/>
          </a:prstGeom>
          <a:ln w="38100">
            <a:solidFill>
              <a:srgbClr val="00A443"/>
            </a:solidFill>
          </a:ln>
        </p:spPr>
        <p:style>
          <a:lnRef idx="1">
            <a:schemeClr val="accent1"/>
          </a:lnRef>
          <a:fillRef idx="0">
            <a:schemeClr val="accent1"/>
          </a:fillRef>
          <a:effectRef idx="0">
            <a:schemeClr val="accent1"/>
          </a:effectRef>
          <a:fontRef idx="minor">
            <a:schemeClr val="tx1"/>
          </a:fontRef>
        </p:style>
      </p:cxnSp>
      <p:sp>
        <p:nvSpPr>
          <p:cNvPr id="6" name="Elipse 5">
            <a:extLst>
              <a:ext uri="{FF2B5EF4-FFF2-40B4-BE49-F238E27FC236}">
                <a16:creationId xmlns:a16="http://schemas.microsoft.com/office/drawing/2014/main" id="{A05FF22F-6E64-0C73-9E80-5BA9BD6558EB}"/>
              </a:ext>
            </a:extLst>
          </p:cNvPr>
          <p:cNvSpPr/>
          <p:nvPr/>
        </p:nvSpPr>
        <p:spPr>
          <a:xfrm>
            <a:off x="7389502" y="3403606"/>
            <a:ext cx="216000" cy="216000"/>
          </a:xfrm>
          <a:prstGeom prst="ellipse">
            <a:avLst/>
          </a:prstGeom>
          <a:solidFill>
            <a:srgbClr val="0DA9FF"/>
          </a:solidFill>
          <a:ln>
            <a:solidFill>
              <a:srgbClr val="0DA9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panose="020B0502040204020203" pitchFamily="34" charset="0"/>
              <a:ea typeface="+mn-ea"/>
              <a:cs typeface="+mn-cs"/>
            </a:endParaRPr>
          </a:p>
        </p:txBody>
      </p:sp>
      <p:cxnSp>
        <p:nvCxnSpPr>
          <p:cNvPr id="7" name="Conector recto 6">
            <a:extLst>
              <a:ext uri="{FF2B5EF4-FFF2-40B4-BE49-F238E27FC236}">
                <a16:creationId xmlns:a16="http://schemas.microsoft.com/office/drawing/2014/main" id="{93B571E4-4C85-9185-FA94-829EB54326A0}"/>
              </a:ext>
            </a:extLst>
          </p:cNvPr>
          <p:cNvCxnSpPr>
            <a:cxnSpLocks/>
            <a:stCxn id="6" idx="6"/>
          </p:cNvCxnSpPr>
          <p:nvPr/>
        </p:nvCxnSpPr>
        <p:spPr>
          <a:xfrm flipV="1">
            <a:off x="7605502" y="3507779"/>
            <a:ext cx="3974035" cy="0"/>
          </a:xfrm>
          <a:prstGeom prst="line">
            <a:avLst/>
          </a:prstGeom>
          <a:ln w="38100">
            <a:solidFill>
              <a:srgbClr val="0DA9FF"/>
            </a:solidFill>
          </a:ln>
        </p:spPr>
        <p:style>
          <a:lnRef idx="1">
            <a:schemeClr val="accent1"/>
          </a:lnRef>
          <a:fillRef idx="0">
            <a:schemeClr val="accent1"/>
          </a:fillRef>
          <a:effectRef idx="0">
            <a:schemeClr val="accent1"/>
          </a:effectRef>
          <a:fontRef idx="minor">
            <a:schemeClr val="tx1"/>
          </a:fontRef>
        </p:style>
      </p:cxnSp>
      <p:sp>
        <p:nvSpPr>
          <p:cNvPr id="8" name="Elipse 7">
            <a:extLst>
              <a:ext uri="{FF2B5EF4-FFF2-40B4-BE49-F238E27FC236}">
                <a16:creationId xmlns:a16="http://schemas.microsoft.com/office/drawing/2014/main" id="{E92EF2E5-C362-2A51-9BD7-21D5025195F8}"/>
              </a:ext>
            </a:extLst>
          </p:cNvPr>
          <p:cNvSpPr/>
          <p:nvPr/>
        </p:nvSpPr>
        <p:spPr>
          <a:xfrm>
            <a:off x="7374937" y="1795978"/>
            <a:ext cx="216000" cy="216000"/>
          </a:xfrm>
          <a:prstGeom prst="ellipse">
            <a:avLst/>
          </a:prstGeom>
          <a:solidFill>
            <a:srgbClr val="3B7D23"/>
          </a:solidFill>
          <a:ln>
            <a:solidFill>
              <a:srgbClr val="3B7D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panose="020B0502040204020203" pitchFamily="34"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panose="020B0502040204020203" pitchFamily="34"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panose="020B0502040204020203" pitchFamily="34"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panose="020B0502040204020203" pitchFamily="34" charset="0"/>
              <a:ea typeface="+mn-ea"/>
              <a:cs typeface="+mn-cs"/>
            </a:endParaRPr>
          </a:p>
        </p:txBody>
      </p:sp>
      <p:cxnSp>
        <p:nvCxnSpPr>
          <p:cNvPr id="9" name="Conector recto 8">
            <a:extLst>
              <a:ext uri="{FF2B5EF4-FFF2-40B4-BE49-F238E27FC236}">
                <a16:creationId xmlns:a16="http://schemas.microsoft.com/office/drawing/2014/main" id="{7D0391E8-8628-A6BD-AB8E-EA3C7E637F5A}"/>
              </a:ext>
            </a:extLst>
          </p:cNvPr>
          <p:cNvCxnSpPr>
            <a:cxnSpLocks/>
            <a:stCxn id="8" idx="6"/>
          </p:cNvCxnSpPr>
          <p:nvPr/>
        </p:nvCxnSpPr>
        <p:spPr>
          <a:xfrm flipV="1">
            <a:off x="7590937" y="1900151"/>
            <a:ext cx="3974035" cy="0"/>
          </a:xfrm>
          <a:prstGeom prst="line">
            <a:avLst/>
          </a:prstGeom>
          <a:ln w="38100">
            <a:solidFill>
              <a:srgbClr val="3B7D23"/>
            </a:solidFill>
          </a:ln>
        </p:spPr>
        <p:style>
          <a:lnRef idx="1">
            <a:schemeClr val="accent1"/>
          </a:lnRef>
          <a:fillRef idx="0">
            <a:schemeClr val="accent1"/>
          </a:fillRef>
          <a:effectRef idx="0">
            <a:schemeClr val="accent1"/>
          </a:effectRef>
          <a:fontRef idx="minor">
            <a:schemeClr val="tx1"/>
          </a:fontRef>
        </p:style>
      </p:cxnSp>
      <p:sp>
        <p:nvSpPr>
          <p:cNvPr id="10" name="Elipse 9">
            <a:extLst>
              <a:ext uri="{FF2B5EF4-FFF2-40B4-BE49-F238E27FC236}">
                <a16:creationId xmlns:a16="http://schemas.microsoft.com/office/drawing/2014/main" id="{54015419-6E07-CCD2-6AA9-A1514601A66C}"/>
              </a:ext>
            </a:extLst>
          </p:cNvPr>
          <p:cNvSpPr/>
          <p:nvPr/>
        </p:nvSpPr>
        <p:spPr>
          <a:xfrm flipH="1">
            <a:off x="4865591" y="3417329"/>
            <a:ext cx="216000" cy="216000"/>
          </a:xfrm>
          <a:prstGeom prst="ellipse">
            <a:avLst/>
          </a:prstGeom>
          <a:solidFill>
            <a:srgbClr val="BC4328"/>
          </a:solidFill>
          <a:ln>
            <a:solidFill>
              <a:srgbClr val="BC432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panose="020B0502040204020203" pitchFamily="34" charset="0"/>
              <a:ea typeface="+mn-ea"/>
              <a:cs typeface="+mn-cs"/>
            </a:endParaRPr>
          </a:p>
        </p:txBody>
      </p:sp>
      <p:cxnSp>
        <p:nvCxnSpPr>
          <p:cNvPr id="11" name="Conector recto 10">
            <a:extLst>
              <a:ext uri="{FF2B5EF4-FFF2-40B4-BE49-F238E27FC236}">
                <a16:creationId xmlns:a16="http://schemas.microsoft.com/office/drawing/2014/main" id="{6FA6F17C-516A-3FDB-129D-B98C3200DBFA}"/>
              </a:ext>
            </a:extLst>
          </p:cNvPr>
          <p:cNvCxnSpPr>
            <a:cxnSpLocks/>
            <a:stCxn id="10" idx="6"/>
          </p:cNvCxnSpPr>
          <p:nvPr/>
        </p:nvCxnSpPr>
        <p:spPr>
          <a:xfrm flipH="1" flipV="1">
            <a:off x="1526235" y="3521502"/>
            <a:ext cx="3339356" cy="3827"/>
          </a:xfrm>
          <a:prstGeom prst="line">
            <a:avLst/>
          </a:prstGeom>
          <a:ln w="38100">
            <a:solidFill>
              <a:srgbClr val="BC4328"/>
            </a:solidFill>
          </a:ln>
        </p:spPr>
        <p:style>
          <a:lnRef idx="1">
            <a:schemeClr val="accent1"/>
          </a:lnRef>
          <a:fillRef idx="0">
            <a:schemeClr val="accent1"/>
          </a:fillRef>
          <a:effectRef idx="0">
            <a:schemeClr val="accent1"/>
          </a:effectRef>
          <a:fontRef idx="minor">
            <a:schemeClr val="tx1"/>
          </a:fontRef>
        </p:style>
      </p:cxnSp>
      <p:sp>
        <p:nvSpPr>
          <p:cNvPr id="12" name="Elipse 11">
            <a:extLst>
              <a:ext uri="{FF2B5EF4-FFF2-40B4-BE49-F238E27FC236}">
                <a16:creationId xmlns:a16="http://schemas.microsoft.com/office/drawing/2014/main" id="{F1C44191-74C4-C182-FBF9-7B0299199406}"/>
              </a:ext>
            </a:extLst>
          </p:cNvPr>
          <p:cNvSpPr/>
          <p:nvPr/>
        </p:nvSpPr>
        <p:spPr>
          <a:xfrm flipH="1">
            <a:off x="4877889" y="1852334"/>
            <a:ext cx="216000" cy="216000"/>
          </a:xfrm>
          <a:prstGeom prst="ellipse">
            <a:avLst/>
          </a:prstGeom>
          <a:solidFill>
            <a:srgbClr val="6F8CC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panose="020B0502040204020203" pitchFamily="34" charset="0"/>
              <a:ea typeface="+mn-ea"/>
              <a:cs typeface="+mn-cs"/>
            </a:endParaRPr>
          </a:p>
        </p:txBody>
      </p:sp>
      <p:cxnSp>
        <p:nvCxnSpPr>
          <p:cNvPr id="13" name="Conector recto 12">
            <a:extLst>
              <a:ext uri="{FF2B5EF4-FFF2-40B4-BE49-F238E27FC236}">
                <a16:creationId xmlns:a16="http://schemas.microsoft.com/office/drawing/2014/main" id="{7748FD18-4C6F-3ED5-3A49-1524F74E48CA}"/>
              </a:ext>
            </a:extLst>
          </p:cNvPr>
          <p:cNvCxnSpPr>
            <a:cxnSpLocks/>
            <a:stCxn id="12" idx="6"/>
          </p:cNvCxnSpPr>
          <p:nvPr/>
        </p:nvCxnSpPr>
        <p:spPr>
          <a:xfrm flipH="1" flipV="1">
            <a:off x="1781601" y="1956507"/>
            <a:ext cx="3096288" cy="0"/>
          </a:xfrm>
          <a:prstGeom prst="line">
            <a:avLst/>
          </a:prstGeom>
          <a:ln w="38100">
            <a:solidFill>
              <a:srgbClr val="6F8CC7"/>
            </a:solidFill>
          </a:ln>
        </p:spPr>
        <p:style>
          <a:lnRef idx="1">
            <a:schemeClr val="accent1"/>
          </a:lnRef>
          <a:fillRef idx="0">
            <a:schemeClr val="accent1"/>
          </a:fillRef>
          <a:effectRef idx="0">
            <a:schemeClr val="accent1"/>
          </a:effectRef>
          <a:fontRef idx="minor">
            <a:schemeClr val="tx1"/>
          </a:fontRef>
        </p:style>
      </p:cxnSp>
      <p:sp>
        <p:nvSpPr>
          <p:cNvPr id="14" name="Rectángulo 13">
            <a:extLst>
              <a:ext uri="{FF2B5EF4-FFF2-40B4-BE49-F238E27FC236}">
                <a16:creationId xmlns:a16="http://schemas.microsoft.com/office/drawing/2014/main" id="{DEE7D903-1C2E-7E3F-032E-CB92866B53CF}"/>
              </a:ext>
            </a:extLst>
          </p:cNvPr>
          <p:cNvSpPr/>
          <p:nvPr/>
        </p:nvSpPr>
        <p:spPr>
          <a:xfrm>
            <a:off x="7627172" y="5430690"/>
            <a:ext cx="4313769" cy="96185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000" noProof="0">
                <a:solidFill>
                  <a:srgbClr val="505050"/>
                </a:solidFill>
                <a:latin typeface="Arial" panose="020B0604020202020204" pitchFamily="34" charset="0"/>
                <a:cs typeface="Arial" panose="020B0604020202020204" pitchFamily="34" charset="0"/>
              </a:rPr>
              <a:t>1.</a:t>
            </a:r>
            <a:r>
              <a:rPr lang="en-US" sz="1000" b="1" noProof="0">
                <a:solidFill>
                  <a:srgbClr val="505050"/>
                </a:solidFill>
                <a:latin typeface="Arial" panose="020B0604020202020204" pitchFamily="34" charset="0"/>
                <a:cs typeface="Arial" panose="020B0604020202020204" pitchFamily="34" charset="0"/>
              </a:rPr>
              <a:t>Unknown demand volume </a:t>
            </a:r>
            <a:r>
              <a:rPr lang="en-US" sz="1000" noProof="0">
                <a:solidFill>
                  <a:srgbClr val="505050"/>
                </a:solidFill>
                <a:latin typeface="Arial" panose="020B0604020202020204" pitchFamily="34" charset="0"/>
                <a:cs typeface="Arial" panose="020B0604020202020204" pitchFamily="34" charset="0"/>
              </a:rPr>
              <a:t>meets scaling load</a:t>
            </a:r>
          </a:p>
          <a:p>
            <a:r>
              <a:rPr lang="en-US" sz="1000" noProof="0">
                <a:solidFill>
                  <a:srgbClr val="505050"/>
                </a:solidFill>
                <a:latin typeface="Arial" panose="020B0604020202020204" pitchFamily="34" charset="0"/>
                <a:cs typeface="Arial" panose="020B0604020202020204" pitchFamily="34" charset="0"/>
              </a:rPr>
              <a:t>2.</a:t>
            </a:r>
            <a:r>
              <a:rPr lang="en-US" sz="1000" b="1" noProof="0">
                <a:solidFill>
                  <a:srgbClr val="505050"/>
                </a:solidFill>
                <a:latin typeface="Arial" panose="020B0604020202020204" pitchFamily="34" charset="0"/>
                <a:cs typeface="Arial" panose="020B0604020202020204" pitchFamily="34" charset="0"/>
              </a:rPr>
              <a:t>Vendor control</a:t>
            </a:r>
            <a:r>
              <a:rPr lang="en-US" sz="1000" noProof="0">
                <a:solidFill>
                  <a:srgbClr val="505050"/>
                </a:solidFill>
                <a:latin typeface="Arial" panose="020B0604020202020204" pitchFamily="34" charset="0"/>
                <a:cs typeface="Arial" panose="020B0604020202020204" pitchFamily="34" charset="0"/>
              </a:rPr>
              <a:t> of timelines and estimates</a:t>
            </a:r>
          </a:p>
          <a:p>
            <a:r>
              <a:rPr lang="en-US" sz="1000" noProof="0">
                <a:solidFill>
                  <a:srgbClr val="505050"/>
                </a:solidFill>
                <a:latin typeface="Arial" panose="020B0604020202020204" pitchFamily="34" charset="0"/>
                <a:cs typeface="Arial" panose="020B0604020202020204" pitchFamily="34" charset="0"/>
              </a:rPr>
              <a:t>3.</a:t>
            </a:r>
            <a:r>
              <a:rPr lang="en-US" sz="1000" b="1" noProof="0">
                <a:solidFill>
                  <a:srgbClr val="505050"/>
                </a:solidFill>
                <a:latin typeface="Arial" panose="020B0604020202020204" pitchFamily="34" charset="0"/>
                <a:cs typeface="Arial" panose="020B0604020202020204" pitchFamily="34" charset="0"/>
              </a:rPr>
              <a:t>ROI</a:t>
            </a:r>
            <a:r>
              <a:rPr lang="en-US" sz="1000" noProof="0">
                <a:solidFill>
                  <a:srgbClr val="505050"/>
                </a:solidFill>
                <a:latin typeface="Arial" panose="020B0604020202020204" pitchFamily="34" charset="0"/>
                <a:cs typeface="Arial" panose="020B0604020202020204" pitchFamily="34" charset="0"/>
              </a:rPr>
              <a:t> traceability breaks</a:t>
            </a:r>
          </a:p>
          <a:p>
            <a:r>
              <a:rPr lang="en-US" sz="1000" noProof="0">
                <a:solidFill>
                  <a:srgbClr val="505050"/>
                </a:solidFill>
                <a:latin typeface="Arial" panose="020B0604020202020204" pitchFamily="34" charset="0"/>
                <a:cs typeface="Arial" panose="020B0604020202020204" pitchFamily="34" charset="0"/>
              </a:rPr>
              <a:t>4.</a:t>
            </a:r>
            <a:r>
              <a:rPr lang="en-US" sz="1000" b="1" noProof="0">
                <a:solidFill>
                  <a:srgbClr val="505050"/>
                </a:solidFill>
                <a:latin typeface="Arial" panose="020B0604020202020204" pitchFamily="34" charset="0"/>
                <a:cs typeface="Arial" panose="020B0604020202020204" pitchFamily="34" charset="0"/>
              </a:rPr>
              <a:t>Leadership vacancies</a:t>
            </a:r>
            <a:r>
              <a:rPr lang="en-US" sz="1000" noProof="0">
                <a:solidFill>
                  <a:srgbClr val="505050"/>
                </a:solidFill>
                <a:latin typeface="Arial" panose="020B0604020202020204" pitchFamily="34" charset="0"/>
                <a:cs typeface="Arial" panose="020B0604020202020204" pitchFamily="34" charset="0"/>
              </a:rPr>
              <a:t> prolonged</a:t>
            </a:r>
          </a:p>
          <a:p>
            <a:r>
              <a:rPr lang="en-US" sz="1000" noProof="0">
                <a:solidFill>
                  <a:srgbClr val="505050"/>
                </a:solidFill>
                <a:latin typeface="Arial" panose="020B0604020202020204" pitchFamily="34" charset="0"/>
                <a:cs typeface="Arial" panose="020B0604020202020204" pitchFamily="34" charset="0"/>
              </a:rPr>
              <a:t>5.</a:t>
            </a:r>
            <a:r>
              <a:rPr lang="en-US" sz="1000" b="1" noProof="0">
                <a:solidFill>
                  <a:srgbClr val="505050"/>
                </a:solidFill>
                <a:latin typeface="Arial" panose="020B0604020202020204" pitchFamily="34" charset="0"/>
                <a:cs typeface="Arial" panose="020B0604020202020204" pitchFamily="34" charset="0"/>
              </a:rPr>
              <a:t>Global SAP vs SAP</a:t>
            </a:r>
            <a:r>
              <a:rPr lang="en-US" sz="1000" noProof="0">
                <a:solidFill>
                  <a:srgbClr val="505050"/>
                </a:solidFill>
                <a:latin typeface="Arial" panose="020B0604020202020204" pitchFamily="34" charset="0"/>
                <a:cs typeface="Arial" panose="020B0604020202020204" pitchFamily="34" charset="0"/>
              </a:rPr>
              <a:t> drift</a:t>
            </a:r>
          </a:p>
        </p:txBody>
      </p:sp>
      <p:sp>
        <p:nvSpPr>
          <p:cNvPr id="18" name="Rectángulo 17">
            <a:extLst>
              <a:ext uri="{FF2B5EF4-FFF2-40B4-BE49-F238E27FC236}">
                <a16:creationId xmlns:a16="http://schemas.microsoft.com/office/drawing/2014/main" id="{97644CF7-57E1-FE3F-D620-A9406445980C}"/>
              </a:ext>
            </a:extLst>
          </p:cNvPr>
          <p:cNvSpPr/>
          <p:nvPr/>
        </p:nvSpPr>
        <p:spPr>
          <a:xfrm>
            <a:off x="1301035" y="3212762"/>
            <a:ext cx="3535540" cy="31306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1200" b="1" noProof="0">
                <a:solidFill>
                  <a:schemeClr val="tx1"/>
                </a:solidFill>
                <a:latin typeface="Arial" panose="020B0604020202020204" pitchFamily="34" charset="0"/>
                <a:cs typeface="Arial" panose="020B0604020202020204" pitchFamily="34" charset="0"/>
              </a:rPr>
              <a:t>8</a:t>
            </a:r>
            <a:r>
              <a:rPr lang="en-US" sz="1200" noProof="0">
                <a:solidFill>
                  <a:schemeClr val="tx1"/>
                </a:solidFill>
                <a:latin typeface="Arial" panose="020B0604020202020204" pitchFamily="34" charset="0"/>
                <a:cs typeface="Arial" panose="020B0604020202020204" pitchFamily="34" charset="0"/>
              </a:rPr>
              <a:t> Pain Points</a:t>
            </a:r>
          </a:p>
        </p:txBody>
      </p:sp>
      <p:sp>
        <p:nvSpPr>
          <p:cNvPr id="19" name="Rectángulo 18">
            <a:extLst>
              <a:ext uri="{FF2B5EF4-FFF2-40B4-BE49-F238E27FC236}">
                <a16:creationId xmlns:a16="http://schemas.microsoft.com/office/drawing/2014/main" id="{7124E619-A450-9AB9-7D61-21BBFC0E379E}"/>
              </a:ext>
            </a:extLst>
          </p:cNvPr>
          <p:cNvSpPr/>
          <p:nvPr/>
        </p:nvSpPr>
        <p:spPr>
          <a:xfrm>
            <a:off x="1356496" y="1611929"/>
            <a:ext cx="3535540" cy="31306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defRPr/>
            </a:pPr>
            <a:r>
              <a:rPr kumimoji="0" lang="en-US" sz="1200" b="1" i="0" u="none" strike="noStrike" kern="1200" cap="none" spc="0" normalizeH="0" baseline="0" noProof="0">
                <a:ln>
                  <a:noFill/>
                </a:ln>
                <a:solidFill>
                  <a:schemeClr val="tx1"/>
                </a:solidFill>
                <a:effectLst/>
                <a:uLnTx/>
                <a:uFillTx/>
                <a:latin typeface="Arial" panose="020B0604020202020204" pitchFamily="34" charset="0"/>
                <a:cs typeface="Arial" panose="020B0604020202020204" pitchFamily="34" charset="0"/>
              </a:rPr>
              <a:t> </a:t>
            </a:r>
            <a:r>
              <a:rPr lang="en-US" sz="1200" b="1" noProof="0">
                <a:solidFill>
                  <a:schemeClr val="tx1"/>
                </a:solidFill>
                <a:latin typeface="Arial" panose="020B0604020202020204" pitchFamily="34" charset="0"/>
                <a:cs typeface="Arial" panose="020B0604020202020204" pitchFamily="34" charset="0"/>
              </a:rPr>
              <a:t>4</a:t>
            </a:r>
            <a:r>
              <a:rPr lang="en-US" sz="1200" noProof="0">
                <a:solidFill>
                  <a:schemeClr val="tx1"/>
                </a:solidFill>
                <a:latin typeface="Arial" panose="020B0604020202020204" pitchFamily="34" charset="0"/>
                <a:cs typeface="Arial" panose="020B0604020202020204" pitchFamily="34" charset="0"/>
              </a:rPr>
              <a:t> General Conclusions</a:t>
            </a:r>
          </a:p>
        </p:txBody>
      </p:sp>
      <p:grpSp>
        <p:nvGrpSpPr>
          <p:cNvPr id="62" name="Grupo 61">
            <a:extLst>
              <a:ext uri="{FF2B5EF4-FFF2-40B4-BE49-F238E27FC236}">
                <a16:creationId xmlns:a16="http://schemas.microsoft.com/office/drawing/2014/main" id="{E5A7945F-5BFA-B8A5-9FC8-5B399016CF2A}"/>
              </a:ext>
            </a:extLst>
          </p:cNvPr>
          <p:cNvGrpSpPr/>
          <p:nvPr/>
        </p:nvGrpSpPr>
        <p:grpSpPr>
          <a:xfrm>
            <a:off x="5096985" y="1552873"/>
            <a:ext cx="931666" cy="748023"/>
            <a:chOff x="5239860" y="1238548"/>
            <a:chExt cx="931666" cy="748023"/>
          </a:xfrm>
        </p:grpSpPr>
        <p:pic>
          <p:nvPicPr>
            <p:cNvPr id="33" name="Imagen 32">
              <a:extLst>
                <a:ext uri="{FF2B5EF4-FFF2-40B4-BE49-F238E27FC236}">
                  <a16:creationId xmlns:a16="http://schemas.microsoft.com/office/drawing/2014/main" id="{8D4E6356-0B3C-FD18-A83B-EC4B4F827EAA}"/>
                </a:ext>
              </a:extLst>
            </p:cNvPr>
            <p:cNvPicPr>
              <a:picLocks noChangeAspect="1"/>
            </p:cNvPicPr>
            <p:nvPr/>
          </p:nvPicPr>
          <p:blipFill>
            <a:blip r:embed="rId3" cstate="print">
              <a:extLst>
                <a:ext uri="{28A0092B-C50C-407E-A947-70E740481C1C}">
                  <a14:useLocalDpi xmlns:a14="http://schemas.microsoft.com/office/drawing/2010/main" val="0"/>
                </a:ext>
              </a:extLst>
            </a:blip>
            <a:srcRect r="-1988" b="34687"/>
            <a:stretch>
              <a:fillRect/>
            </a:stretch>
          </p:blipFill>
          <p:spPr>
            <a:xfrm>
              <a:off x="5239860" y="1238548"/>
              <a:ext cx="931666" cy="596640"/>
            </a:xfrm>
            <a:prstGeom prst="rect">
              <a:avLst/>
            </a:prstGeom>
          </p:spPr>
        </p:pic>
        <p:sp>
          <p:nvSpPr>
            <p:cNvPr id="34" name="Elipse 33">
              <a:extLst>
                <a:ext uri="{FF2B5EF4-FFF2-40B4-BE49-F238E27FC236}">
                  <a16:creationId xmlns:a16="http://schemas.microsoft.com/office/drawing/2014/main" id="{B946F54C-399F-525F-8D3B-3D8CA4BAFF74}"/>
                </a:ext>
              </a:extLst>
            </p:cNvPr>
            <p:cNvSpPr/>
            <p:nvPr/>
          </p:nvSpPr>
          <p:spPr>
            <a:xfrm>
              <a:off x="5289329" y="1288763"/>
              <a:ext cx="710779" cy="697808"/>
            </a:xfrm>
            <a:prstGeom prst="ellipse">
              <a:avLst/>
            </a:prstGeom>
            <a:noFill/>
            <a:ln w="28575">
              <a:solidFill>
                <a:srgbClr val="6F8CC7"/>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panose="020B0502040204020203" pitchFamily="34" charset="0"/>
                <a:ea typeface="+mn-ea"/>
                <a:cs typeface="+mn-cs"/>
              </a:endParaRPr>
            </a:p>
          </p:txBody>
        </p:sp>
        <p:sp>
          <p:nvSpPr>
            <p:cNvPr id="35" name="Elipse 34">
              <a:extLst>
                <a:ext uri="{FF2B5EF4-FFF2-40B4-BE49-F238E27FC236}">
                  <a16:creationId xmlns:a16="http://schemas.microsoft.com/office/drawing/2014/main" id="{568C969B-66FA-74D7-9F12-4514EADDB631}"/>
                </a:ext>
              </a:extLst>
            </p:cNvPr>
            <p:cNvSpPr/>
            <p:nvPr/>
          </p:nvSpPr>
          <p:spPr>
            <a:xfrm>
              <a:off x="5366216" y="1362609"/>
              <a:ext cx="563274" cy="557242"/>
            </a:xfrm>
            <a:prstGeom prst="ellipse">
              <a:avLst/>
            </a:prstGeom>
            <a:noFill/>
            <a:ln w="76200">
              <a:solidFill>
                <a:srgbClr val="6F8C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panose="020B0502040204020203" pitchFamily="34" charset="0"/>
                <a:ea typeface="+mn-ea"/>
                <a:cs typeface="+mn-cs"/>
              </a:endParaRPr>
            </a:p>
          </p:txBody>
        </p:sp>
      </p:grpSp>
      <p:sp>
        <p:nvSpPr>
          <p:cNvPr id="46" name="Rectángulo 45">
            <a:extLst>
              <a:ext uri="{FF2B5EF4-FFF2-40B4-BE49-F238E27FC236}">
                <a16:creationId xmlns:a16="http://schemas.microsoft.com/office/drawing/2014/main" id="{75E5D91A-40C5-D970-BEA2-27D53329F7BA}"/>
              </a:ext>
            </a:extLst>
          </p:cNvPr>
          <p:cNvSpPr/>
          <p:nvPr/>
        </p:nvSpPr>
        <p:spPr>
          <a:xfrm>
            <a:off x="-1886126" y="3530943"/>
            <a:ext cx="4263738" cy="196791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lvl="0" algn="r">
              <a:defRPr/>
            </a:pPr>
            <a:r>
              <a:rPr lang="en-US" sz="1000" b="1" noProof="0">
                <a:solidFill>
                  <a:schemeClr val="tx1"/>
                </a:solidFill>
                <a:latin typeface="Arial" panose="020B0604020202020204" pitchFamily="34" charset="0"/>
                <a:cs typeface="Arial" panose="020B0604020202020204" pitchFamily="34" charset="0"/>
              </a:rPr>
              <a:t> </a:t>
            </a:r>
            <a:r>
              <a:rPr lang="en-US" sz="1000" b="1" noProof="0" err="1">
                <a:solidFill>
                  <a:schemeClr val="tx1"/>
                </a:solidFill>
                <a:latin typeface="Arial" panose="020B0604020202020204" pitchFamily="34" charset="0"/>
                <a:cs typeface="Arial" panose="020B0604020202020204" pitchFamily="34" charset="0"/>
              </a:rPr>
              <a:t>Applciations</a:t>
            </a:r>
            <a:endParaRPr lang="en-US" sz="1000" b="1" noProof="0">
              <a:solidFill>
                <a:schemeClr val="tx1"/>
              </a:solidFill>
              <a:latin typeface="Arial" panose="020B0604020202020204" pitchFamily="34" charset="0"/>
              <a:cs typeface="Arial" panose="020B0604020202020204" pitchFamily="34" charset="0"/>
            </a:endParaRPr>
          </a:p>
          <a:p>
            <a:pPr lvl="0" algn="r">
              <a:defRPr/>
            </a:pPr>
            <a:endParaRPr lang="en-US" sz="1000" noProof="0">
              <a:solidFill>
                <a:srgbClr val="505050"/>
              </a:solidFill>
              <a:latin typeface="Arial" panose="020B0604020202020204" pitchFamily="34" charset="0"/>
              <a:cs typeface="Arial" panose="020B0604020202020204" pitchFamily="34" charset="0"/>
            </a:endParaRPr>
          </a:p>
          <a:p>
            <a:pPr lvl="0" algn="r">
              <a:defRPr/>
            </a:pPr>
            <a:r>
              <a:rPr lang="en-US" sz="1000" noProof="0">
                <a:solidFill>
                  <a:srgbClr val="505050"/>
                </a:solidFill>
                <a:latin typeface="Arial" panose="020B0604020202020204" pitchFamily="34" charset="0"/>
                <a:cs typeface="Arial" panose="020B0604020202020204" pitchFamily="34" charset="0"/>
              </a:rPr>
              <a:t>1.G&amp;E Email-Only </a:t>
            </a:r>
            <a:r>
              <a:rPr lang="en-US" sz="1000" b="1" noProof="0">
                <a:solidFill>
                  <a:srgbClr val="505050"/>
                </a:solidFill>
                <a:latin typeface="Arial" panose="020B0604020202020204" pitchFamily="34" charset="0"/>
                <a:cs typeface="Arial" panose="020B0604020202020204" pitchFamily="34" charset="0"/>
              </a:rPr>
              <a:t>Intake</a:t>
            </a:r>
          </a:p>
          <a:p>
            <a:pPr lvl="0" algn="r">
              <a:defRPr/>
            </a:pPr>
            <a:r>
              <a:rPr lang="en-US" sz="1000" noProof="0">
                <a:solidFill>
                  <a:srgbClr val="505050"/>
                </a:solidFill>
                <a:latin typeface="Arial" panose="020B0604020202020204" pitchFamily="34" charset="0"/>
                <a:cs typeface="Arial" panose="020B0604020202020204" pitchFamily="34" charset="0"/>
              </a:rPr>
              <a:t>2.Global SAP </a:t>
            </a:r>
            <a:r>
              <a:rPr lang="en-US" sz="1000" b="1" noProof="0">
                <a:solidFill>
                  <a:srgbClr val="505050"/>
                </a:solidFill>
                <a:latin typeface="Arial" panose="020B0604020202020204" pitchFamily="34" charset="0"/>
                <a:cs typeface="Arial" panose="020B0604020202020204" pitchFamily="34" charset="0"/>
              </a:rPr>
              <a:t>Incident</a:t>
            </a:r>
            <a:r>
              <a:rPr lang="en-US" sz="1000" noProof="0">
                <a:solidFill>
                  <a:srgbClr val="505050"/>
                </a:solidFill>
                <a:latin typeface="Arial" panose="020B0604020202020204" pitchFamily="34" charset="0"/>
                <a:cs typeface="Arial" panose="020B0604020202020204" pitchFamily="34" charset="0"/>
              </a:rPr>
              <a:t> Flood</a:t>
            </a:r>
          </a:p>
          <a:p>
            <a:pPr lvl="0" algn="r">
              <a:defRPr/>
            </a:pPr>
            <a:r>
              <a:rPr lang="en-US" sz="1000" noProof="0">
                <a:solidFill>
                  <a:srgbClr val="505050"/>
                </a:solidFill>
                <a:latin typeface="Arial" panose="020B0604020202020204" pitchFamily="34" charset="0"/>
                <a:cs typeface="Arial" panose="020B0604020202020204" pitchFamily="34" charset="0"/>
              </a:rPr>
              <a:t>3.GIS Informal </a:t>
            </a:r>
            <a:r>
              <a:rPr lang="en-US" sz="1000" b="1" noProof="0">
                <a:solidFill>
                  <a:srgbClr val="505050"/>
                </a:solidFill>
                <a:latin typeface="Arial" panose="020B0604020202020204" pitchFamily="34" charset="0"/>
                <a:cs typeface="Arial" panose="020B0604020202020204" pitchFamily="34" charset="0"/>
              </a:rPr>
              <a:t>PM Stack</a:t>
            </a:r>
          </a:p>
          <a:p>
            <a:pPr lvl="0" algn="r">
              <a:defRPr/>
            </a:pPr>
            <a:r>
              <a:rPr lang="en-US" sz="1000" noProof="0">
                <a:solidFill>
                  <a:srgbClr val="505050"/>
                </a:solidFill>
                <a:latin typeface="Arial" panose="020B0604020202020204" pitchFamily="34" charset="0"/>
                <a:cs typeface="Arial" panose="020B0604020202020204" pitchFamily="34" charset="0"/>
              </a:rPr>
              <a:t>4.</a:t>
            </a:r>
            <a:r>
              <a:rPr lang="en-US" sz="1000" b="1" noProof="0">
                <a:solidFill>
                  <a:srgbClr val="505050"/>
                </a:solidFill>
                <a:latin typeface="Arial" panose="020B0604020202020204" pitchFamily="34" charset="0"/>
                <a:cs typeface="Arial" panose="020B0604020202020204" pitchFamily="34" charset="0"/>
              </a:rPr>
              <a:t>Corporate Project </a:t>
            </a:r>
            <a:r>
              <a:rPr lang="en-US" sz="1000" noProof="0">
                <a:solidFill>
                  <a:srgbClr val="505050"/>
                </a:solidFill>
                <a:latin typeface="Arial" panose="020B0604020202020204" pitchFamily="34" charset="0"/>
                <a:cs typeface="Arial" panose="020B0604020202020204" pitchFamily="34" charset="0"/>
              </a:rPr>
              <a:t>Overlap</a:t>
            </a:r>
          </a:p>
        </p:txBody>
      </p:sp>
      <p:sp>
        <p:nvSpPr>
          <p:cNvPr id="47" name="Rectángulo 46">
            <a:extLst>
              <a:ext uri="{FF2B5EF4-FFF2-40B4-BE49-F238E27FC236}">
                <a16:creationId xmlns:a16="http://schemas.microsoft.com/office/drawing/2014/main" id="{F225DB6A-ECB0-73D3-A861-41A5E025B2DB}"/>
              </a:ext>
            </a:extLst>
          </p:cNvPr>
          <p:cNvSpPr/>
          <p:nvPr/>
        </p:nvSpPr>
        <p:spPr>
          <a:xfrm>
            <a:off x="7602407" y="3520609"/>
            <a:ext cx="4313769" cy="131595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lvl="0">
              <a:defRPr/>
            </a:pPr>
            <a:r>
              <a:rPr lang="en-US" sz="1000" noProof="0">
                <a:solidFill>
                  <a:srgbClr val="505050"/>
                </a:solidFill>
                <a:latin typeface="Arial" panose="020B0604020202020204" pitchFamily="34" charset="0"/>
                <a:cs typeface="Arial" panose="020B0604020202020204" pitchFamily="34" charset="0"/>
              </a:rPr>
              <a:t>1.</a:t>
            </a:r>
            <a:r>
              <a:rPr lang="en-US" sz="1000" b="1" noProof="0">
                <a:solidFill>
                  <a:srgbClr val="505050"/>
                </a:solidFill>
                <a:latin typeface="Arial" panose="020B0604020202020204" pitchFamily="34" charset="0"/>
                <a:cs typeface="Arial" panose="020B0604020202020204" pitchFamily="34" charset="0"/>
              </a:rPr>
              <a:t>Intake</a:t>
            </a:r>
            <a:r>
              <a:rPr lang="en-US" sz="1000" noProof="0">
                <a:solidFill>
                  <a:srgbClr val="505050"/>
                </a:solidFill>
                <a:latin typeface="Arial" panose="020B0604020202020204" pitchFamily="34" charset="0"/>
                <a:cs typeface="Arial" panose="020B0604020202020204" pitchFamily="34" charset="0"/>
              </a:rPr>
              <a:t> Fragmentation</a:t>
            </a:r>
          </a:p>
          <a:p>
            <a:pPr lvl="0">
              <a:defRPr/>
            </a:pPr>
            <a:r>
              <a:rPr lang="en-US" sz="1000" noProof="0">
                <a:solidFill>
                  <a:srgbClr val="505050"/>
                </a:solidFill>
                <a:latin typeface="Arial" panose="020B0604020202020204" pitchFamily="34" charset="0"/>
                <a:cs typeface="Arial" panose="020B0604020202020204" pitchFamily="34" charset="0"/>
              </a:rPr>
              <a:t>2.No Shared </a:t>
            </a:r>
            <a:r>
              <a:rPr lang="en-US" sz="1000" b="1" noProof="0">
                <a:solidFill>
                  <a:srgbClr val="505050"/>
                </a:solidFill>
                <a:latin typeface="Arial" panose="020B0604020202020204" pitchFamily="34" charset="0"/>
                <a:cs typeface="Arial" panose="020B0604020202020204" pitchFamily="34" charset="0"/>
              </a:rPr>
              <a:t>Prioritization Model</a:t>
            </a:r>
          </a:p>
          <a:p>
            <a:pPr lvl="0">
              <a:defRPr/>
            </a:pPr>
            <a:r>
              <a:rPr lang="en-US" sz="1000" noProof="0">
                <a:solidFill>
                  <a:srgbClr val="505050"/>
                </a:solidFill>
                <a:latin typeface="Arial" panose="020B0604020202020204" pitchFamily="34" charset="0"/>
                <a:cs typeface="Arial" panose="020B0604020202020204" pitchFamily="34" charset="0"/>
              </a:rPr>
              <a:t>3.</a:t>
            </a:r>
            <a:r>
              <a:rPr lang="en-US" sz="1000" b="1" noProof="0">
                <a:solidFill>
                  <a:srgbClr val="505050"/>
                </a:solidFill>
                <a:latin typeface="Arial" panose="020B0604020202020204" pitchFamily="34" charset="0"/>
                <a:cs typeface="Arial" panose="020B0604020202020204" pitchFamily="34" charset="0"/>
              </a:rPr>
              <a:t>Portfolio Tooling </a:t>
            </a:r>
            <a:r>
              <a:rPr lang="en-US" sz="1000" noProof="0">
                <a:solidFill>
                  <a:srgbClr val="505050"/>
                </a:solidFill>
                <a:latin typeface="Arial" panose="020B0604020202020204" pitchFamily="34" charset="0"/>
                <a:cs typeface="Arial" panose="020B0604020202020204" pitchFamily="34" charset="0"/>
              </a:rPr>
              <a:t>Vacuum</a:t>
            </a:r>
          </a:p>
          <a:p>
            <a:pPr lvl="0">
              <a:defRPr/>
            </a:pPr>
            <a:r>
              <a:rPr lang="en-US" sz="1000" noProof="0">
                <a:solidFill>
                  <a:srgbClr val="505050"/>
                </a:solidFill>
                <a:latin typeface="Arial" panose="020B0604020202020204" pitchFamily="34" charset="0"/>
                <a:cs typeface="Arial" panose="020B0604020202020204" pitchFamily="34" charset="0"/>
              </a:rPr>
              <a:t>4.</a:t>
            </a:r>
            <a:r>
              <a:rPr lang="en-US" sz="1000" b="1" noProof="0">
                <a:solidFill>
                  <a:srgbClr val="505050"/>
                </a:solidFill>
                <a:latin typeface="Arial" panose="020B0604020202020204" pitchFamily="34" charset="0"/>
                <a:cs typeface="Arial" panose="020B0604020202020204" pitchFamily="34" charset="0"/>
              </a:rPr>
              <a:t>Vendor Governance </a:t>
            </a:r>
            <a:r>
              <a:rPr lang="en-US" sz="1000" noProof="0">
                <a:solidFill>
                  <a:srgbClr val="505050"/>
                </a:solidFill>
                <a:latin typeface="Arial" panose="020B0604020202020204" pitchFamily="34" charset="0"/>
                <a:cs typeface="Arial" panose="020B0604020202020204" pitchFamily="34" charset="0"/>
              </a:rPr>
              <a:t>Gap</a:t>
            </a:r>
          </a:p>
          <a:p>
            <a:pPr lvl="0">
              <a:defRPr/>
            </a:pPr>
            <a:r>
              <a:rPr lang="en-US" sz="1000" noProof="0">
                <a:solidFill>
                  <a:srgbClr val="505050"/>
                </a:solidFill>
                <a:latin typeface="Arial" panose="020B0604020202020204" pitchFamily="34" charset="0"/>
                <a:cs typeface="Arial" panose="020B0604020202020204" pitchFamily="34" charset="0"/>
              </a:rPr>
              <a:t>5.</a:t>
            </a:r>
            <a:r>
              <a:rPr lang="en-US" sz="1000" b="1" noProof="0">
                <a:solidFill>
                  <a:srgbClr val="505050"/>
                </a:solidFill>
                <a:latin typeface="Arial" panose="020B0604020202020204" pitchFamily="34" charset="0"/>
                <a:cs typeface="Arial" panose="020B0604020202020204" pitchFamily="34" charset="0"/>
              </a:rPr>
              <a:t>Governance Forum</a:t>
            </a:r>
            <a:r>
              <a:rPr lang="en-US" sz="1000" noProof="0">
                <a:solidFill>
                  <a:srgbClr val="505050"/>
                </a:solidFill>
                <a:latin typeface="Arial" panose="020B0604020202020204" pitchFamily="34" charset="0"/>
                <a:cs typeface="Arial" panose="020B0604020202020204" pitchFamily="34" charset="0"/>
              </a:rPr>
              <a:t> Coverage</a:t>
            </a:r>
          </a:p>
          <a:p>
            <a:pPr lvl="0">
              <a:defRPr/>
            </a:pPr>
            <a:r>
              <a:rPr lang="en-US" sz="1000" noProof="0">
                <a:solidFill>
                  <a:srgbClr val="505050"/>
                </a:solidFill>
                <a:latin typeface="Arial" panose="020B0604020202020204" pitchFamily="34" charset="0"/>
                <a:cs typeface="Arial" panose="020B0604020202020204" pitchFamily="34" charset="0"/>
              </a:rPr>
              <a:t>6.</a:t>
            </a:r>
            <a:r>
              <a:rPr lang="en-US" sz="1000" b="1" noProof="0">
                <a:solidFill>
                  <a:srgbClr val="505050"/>
                </a:solidFill>
                <a:latin typeface="Arial" panose="020B0604020202020204" pitchFamily="34" charset="0"/>
                <a:cs typeface="Arial" panose="020B0604020202020204" pitchFamily="34" charset="0"/>
              </a:rPr>
              <a:t>Taxonomy &amp; Thresholds </a:t>
            </a:r>
            <a:r>
              <a:rPr lang="en-US" sz="1000" noProof="0">
                <a:solidFill>
                  <a:srgbClr val="505050"/>
                </a:solidFill>
                <a:latin typeface="Arial" panose="020B0604020202020204" pitchFamily="34" charset="0"/>
                <a:cs typeface="Arial" panose="020B0604020202020204" pitchFamily="34" charset="0"/>
              </a:rPr>
              <a:t>Undefined</a:t>
            </a:r>
          </a:p>
          <a:p>
            <a:pPr lvl="0">
              <a:defRPr/>
            </a:pPr>
            <a:r>
              <a:rPr lang="en-US" sz="1000" noProof="0">
                <a:solidFill>
                  <a:srgbClr val="505050"/>
                </a:solidFill>
                <a:latin typeface="Arial" panose="020B0604020202020204" pitchFamily="34" charset="0"/>
                <a:cs typeface="Arial" panose="020B0604020202020204" pitchFamily="34" charset="0"/>
              </a:rPr>
              <a:t>7.</a:t>
            </a:r>
            <a:r>
              <a:rPr lang="en-US" sz="1000" b="1" noProof="0">
                <a:solidFill>
                  <a:srgbClr val="505050"/>
                </a:solidFill>
                <a:latin typeface="Arial" panose="020B0604020202020204" pitchFamily="34" charset="0"/>
                <a:cs typeface="Arial" panose="020B0604020202020204" pitchFamily="34" charset="0"/>
              </a:rPr>
              <a:t>Project vs Product </a:t>
            </a:r>
            <a:r>
              <a:rPr lang="en-US" sz="1000" noProof="0">
                <a:solidFill>
                  <a:srgbClr val="505050"/>
                </a:solidFill>
                <a:latin typeface="Arial" panose="020B0604020202020204" pitchFamily="34" charset="0"/>
                <a:cs typeface="Arial" panose="020B0604020202020204" pitchFamily="34" charset="0"/>
              </a:rPr>
              <a:t>Lens Missing</a:t>
            </a:r>
            <a:endParaRPr kumimoji="0" lang="en-US" sz="1000" b="0" i="0" u="none" strike="noStrike" kern="1200" cap="none" spc="0" normalizeH="0" baseline="0" noProof="0">
              <a:ln>
                <a:noFill/>
              </a:ln>
              <a:solidFill>
                <a:srgbClr val="505050"/>
              </a:solidFill>
              <a:effectLst/>
              <a:uLnTx/>
              <a:uFillTx/>
              <a:latin typeface="Arial" panose="020B0604020202020204" pitchFamily="34" charset="0"/>
              <a:cs typeface="Arial" panose="020B0604020202020204" pitchFamily="34" charset="0"/>
            </a:endParaRPr>
          </a:p>
        </p:txBody>
      </p:sp>
      <p:sp>
        <p:nvSpPr>
          <p:cNvPr id="48" name="Rectángulo 47">
            <a:extLst>
              <a:ext uri="{FF2B5EF4-FFF2-40B4-BE49-F238E27FC236}">
                <a16:creationId xmlns:a16="http://schemas.microsoft.com/office/drawing/2014/main" id="{EE204679-7C9B-D08E-FAEB-20C65635E972}"/>
              </a:ext>
            </a:extLst>
          </p:cNvPr>
          <p:cNvSpPr/>
          <p:nvPr/>
        </p:nvSpPr>
        <p:spPr>
          <a:xfrm>
            <a:off x="790518" y="1974385"/>
            <a:ext cx="4074117" cy="104900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lvl="0" algn="r">
              <a:defRPr/>
            </a:pPr>
            <a:r>
              <a:rPr lang="en-US" sz="1000" b="1" noProof="0">
                <a:solidFill>
                  <a:srgbClr val="505050"/>
                </a:solidFill>
                <a:latin typeface="Arial" panose="020B0604020202020204" pitchFamily="34" charset="0"/>
                <a:cs typeface="Arial" panose="020B0604020202020204" pitchFamily="34" charset="0"/>
              </a:rPr>
              <a:t>1.Pople:</a:t>
            </a:r>
            <a:r>
              <a:rPr lang="en-US" sz="1000" noProof="0">
                <a:solidFill>
                  <a:srgbClr val="505050"/>
                </a:solidFill>
                <a:latin typeface="Arial" panose="020B0604020202020204" pitchFamily="34" charset="0"/>
                <a:cs typeface="Arial" panose="020B0604020202020204" pitchFamily="34" charset="0"/>
              </a:rPr>
              <a:t> Capacity &amp; accountability are structurally constrained</a:t>
            </a:r>
          </a:p>
          <a:p>
            <a:pPr lvl="0" algn="r">
              <a:defRPr/>
            </a:pPr>
            <a:r>
              <a:rPr lang="en-US" sz="1000" b="1" noProof="0">
                <a:solidFill>
                  <a:srgbClr val="505050"/>
                </a:solidFill>
                <a:latin typeface="Arial" panose="020B0604020202020204" pitchFamily="34" charset="0"/>
                <a:cs typeface="Arial" panose="020B0604020202020204" pitchFamily="34" charset="0"/>
              </a:rPr>
              <a:t>2.Process: </a:t>
            </a:r>
            <a:r>
              <a:rPr lang="en-US" sz="1000" noProof="0">
                <a:solidFill>
                  <a:srgbClr val="505050"/>
                </a:solidFill>
                <a:latin typeface="Arial" panose="020B0604020202020204" pitchFamily="34" charset="0"/>
                <a:cs typeface="Arial" panose="020B0604020202020204" pitchFamily="34" charset="0"/>
              </a:rPr>
              <a:t>Lack of standardization drives inconsistency and inefficiency</a:t>
            </a:r>
          </a:p>
          <a:p>
            <a:pPr lvl="0" algn="r">
              <a:defRPr/>
            </a:pPr>
            <a:r>
              <a:rPr lang="en-US" sz="1000" b="1" noProof="0">
                <a:solidFill>
                  <a:srgbClr val="505050"/>
                </a:solidFill>
                <a:latin typeface="Arial" panose="020B0604020202020204" pitchFamily="34" charset="0"/>
                <a:cs typeface="Arial" panose="020B0604020202020204" pitchFamily="34" charset="0"/>
              </a:rPr>
              <a:t>3.TOOLS</a:t>
            </a:r>
            <a:r>
              <a:rPr lang="en-US" sz="1000" noProof="0">
                <a:solidFill>
                  <a:srgbClr val="505050"/>
                </a:solidFill>
                <a:latin typeface="Arial" panose="020B0604020202020204" pitchFamily="34" charset="0"/>
                <a:cs typeface="Arial" panose="020B0604020202020204" pitchFamily="34" charset="0"/>
              </a:rPr>
              <a:t> — Fragmented ecosystem limits visibility and control</a:t>
            </a:r>
          </a:p>
          <a:p>
            <a:pPr lvl="0" algn="r">
              <a:defRPr/>
            </a:pPr>
            <a:r>
              <a:rPr lang="en-US" sz="1000" b="1" noProof="0">
                <a:solidFill>
                  <a:srgbClr val="505050"/>
                </a:solidFill>
                <a:latin typeface="Arial" panose="020B0604020202020204" pitchFamily="34" charset="0"/>
                <a:cs typeface="Arial" panose="020B0604020202020204" pitchFamily="34" charset="0"/>
              </a:rPr>
              <a:t>4.GOVERNANCE</a:t>
            </a:r>
            <a:r>
              <a:rPr lang="en-US" sz="1000" noProof="0">
                <a:solidFill>
                  <a:srgbClr val="505050"/>
                </a:solidFill>
                <a:latin typeface="Arial" panose="020B0604020202020204" pitchFamily="34" charset="0"/>
                <a:cs typeface="Arial" panose="020B0604020202020204" pitchFamily="34" charset="0"/>
              </a:rPr>
              <a:t> — Decision-making is fragmented and not value-driven</a:t>
            </a:r>
          </a:p>
        </p:txBody>
      </p:sp>
      <p:sp>
        <p:nvSpPr>
          <p:cNvPr id="49" name="Rectángulo 48">
            <a:extLst>
              <a:ext uri="{FF2B5EF4-FFF2-40B4-BE49-F238E27FC236}">
                <a16:creationId xmlns:a16="http://schemas.microsoft.com/office/drawing/2014/main" id="{6897EBB7-A9CA-0AFA-0636-490356FB19EA}"/>
              </a:ext>
            </a:extLst>
          </p:cNvPr>
          <p:cNvSpPr/>
          <p:nvPr/>
        </p:nvSpPr>
        <p:spPr>
          <a:xfrm>
            <a:off x="7574467" y="1922950"/>
            <a:ext cx="4313769" cy="96185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000" noProof="0">
                <a:solidFill>
                  <a:srgbClr val="505050"/>
                </a:solidFill>
                <a:latin typeface="Arial" panose="020B0604020202020204" pitchFamily="34" charset="0"/>
                <a:cs typeface="Arial" panose="020B0604020202020204" pitchFamily="34" charset="0"/>
              </a:rPr>
              <a:t>1.</a:t>
            </a:r>
            <a:r>
              <a:rPr lang="en-US" sz="1000" b="1" noProof="0">
                <a:solidFill>
                  <a:srgbClr val="505050"/>
                </a:solidFill>
                <a:latin typeface="Arial" panose="020B0604020202020204" pitchFamily="34" charset="0"/>
                <a:cs typeface="Arial" panose="020B0604020202020204" pitchFamily="34" charset="0"/>
              </a:rPr>
              <a:t>Prioritization</a:t>
            </a:r>
            <a:r>
              <a:rPr lang="en-US" sz="1000" noProof="0">
                <a:solidFill>
                  <a:srgbClr val="505050"/>
                </a:solidFill>
                <a:latin typeface="Arial" panose="020B0604020202020204" pitchFamily="34" charset="0"/>
                <a:cs typeface="Arial" panose="020B0604020202020204" pitchFamily="34" charset="0"/>
              </a:rPr>
              <a:t> has no shared model</a:t>
            </a:r>
          </a:p>
          <a:p>
            <a:r>
              <a:rPr lang="en-US" sz="1000" noProof="0">
                <a:solidFill>
                  <a:srgbClr val="505050"/>
                </a:solidFill>
                <a:latin typeface="Arial" panose="020B0604020202020204" pitchFamily="34" charset="0"/>
                <a:cs typeface="Arial" panose="020B0604020202020204" pitchFamily="34" charset="0"/>
              </a:rPr>
              <a:t>2.</a:t>
            </a:r>
            <a:r>
              <a:rPr lang="en-US" sz="1000" b="1" noProof="0">
                <a:solidFill>
                  <a:srgbClr val="505050"/>
                </a:solidFill>
                <a:latin typeface="Arial" panose="020B0604020202020204" pitchFamily="34" charset="0"/>
                <a:cs typeface="Arial" panose="020B0604020202020204" pitchFamily="34" charset="0"/>
              </a:rPr>
              <a:t>Taxonomy</a:t>
            </a:r>
            <a:r>
              <a:rPr lang="en-US" sz="1000" noProof="0">
                <a:solidFill>
                  <a:srgbClr val="505050"/>
                </a:solidFill>
                <a:latin typeface="Arial" panose="020B0604020202020204" pitchFamily="34" charset="0"/>
                <a:cs typeface="Arial" panose="020B0604020202020204" pitchFamily="34" charset="0"/>
              </a:rPr>
              <a:t> is undefined</a:t>
            </a:r>
          </a:p>
          <a:p>
            <a:r>
              <a:rPr lang="en-US" sz="1000" noProof="0">
                <a:solidFill>
                  <a:srgbClr val="505050"/>
                </a:solidFill>
                <a:latin typeface="Arial" panose="020B0604020202020204" pitchFamily="34" charset="0"/>
                <a:cs typeface="Arial" panose="020B0604020202020204" pitchFamily="34" charset="0"/>
              </a:rPr>
              <a:t>3.</a:t>
            </a:r>
            <a:r>
              <a:rPr lang="en-US" sz="1000" b="1" noProof="0">
                <a:solidFill>
                  <a:srgbClr val="505050"/>
                </a:solidFill>
                <a:latin typeface="Arial" panose="020B0604020202020204" pitchFamily="34" charset="0"/>
                <a:cs typeface="Arial" panose="020B0604020202020204" pitchFamily="34" charset="0"/>
              </a:rPr>
              <a:t>Vendor governance </a:t>
            </a:r>
            <a:r>
              <a:rPr lang="en-US" sz="1000" noProof="0">
                <a:solidFill>
                  <a:srgbClr val="505050"/>
                </a:solidFill>
                <a:latin typeface="Arial" panose="020B0604020202020204" pitchFamily="34" charset="0"/>
                <a:cs typeface="Arial" panose="020B0604020202020204" pitchFamily="34" charset="0"/>
              </a:rPr>
              <a:t>is absent</a:t>
            </a:r>
          </a:p>
        </p:txBody>
      </p:sp>
      <p:grpSp>
        <p:nvGrpSpPr>
          <p:cNvPr id="64" name="Grupo 63">
            <a:extLst>
              <a:ext uri="{FF2B5EF4-FFF2-40B4-BE49-F238E27FC236}">
                <a16:creationId xmlns:a16="http://schemas.microsoft.com/office/drawing/2014/main" id="{70C3C571-2476-8700-7E48-CF501AA00D61}"/>
              </a:ext>
            </a:extLst>
          </p:cNvPr>
          <p:cNvGrpSpPr/>
          <p:nvPr/>
        </p:nvGrpSpPr>
        <p:grpSpPr>
          <a:xfrm>
            <a:off x="5134398" y="3131940"/>
            <a:ext cx="710779" cy="714415"/>
            <a:chOff x="5277273" y="2817615"/>
            <a:chExt cx="710779" cy="714415"/>
          </a:xfrm>
        </p:grpSpPr>
        <p:pic>
          <p:nvPicPr>
            <p:cNvPr id="38" name="Imagen 37">
              <a:extLst>
                <a:ext uri="{FF2B5EF4-FFF2-40B4-BE49-F238E27FC236}">
                  <a16:creationId xmlns:a16="http://schemas.microsoft.com/office/drawing/2014/main" id="{2ED5E98B-CDC1-5BD3-4545-E3DD2DB6E65E}"/>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5296128" y="2866435"/>
              <a:ext cx="665595" cy="665595"/>
            </a:xfrm>
            <a:prstGeom prst="rect">
              <a:avLst/>
            </a:prstGeom>
          </p:spPr>
        </p:pic>
        <p:sp>
          <p:nvSpPr>
            <p:cNvPr id="2" name="Elipse 1">
              <a:extLst>
                <a:ext uri="{FF2B5EF4-FFF2-40B4-BE49-F238E27FC236}">
                  <a16:creationId xmlns:a16="http://schemas.microsoft.com/office/drawing/2014/main" id="{AD1509B3-A5F8-38C9-207C-421936C3EDC9}"/>
                </a:ext>
              </a:extLst>
            </p:cNvPr>
            <p:cNvSpPr/>
            <p:nvPr/>
          </p:nvSpPr>
          <p:spPr>
            <a:xfrm>
              <a:off x="5277273" y="2817615"/>
              <a:ext cx="710779" cy="697808"/>
            </a:xfrm>
            <a:prstGeom prst="ellipse">
              <a:avLst/>
            </a:prstGeom>
            <a:noFill/>
            <a:ln w="28575">
              <a:solidFill>
                <a:srgbClr val="BC4328"/>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panose="020B0502040204020203" pitchFamily="34" charset="0"/>
                <a:ea typeface="+mn-ea"/>
                <a:cs typeface="+mn-cs"/>
              </a:endParaRPr>
            </a:p>
          </p:txBody>
        </p:sp>
        <p:sp>
          <p:nvSpPr>
            <p:cNvPr id="3" name="Elipse 2">
              <a:extLst>
                <a:ext uri="{FF2B5EF4-FFF2-40B4-BE49-F238E27FC236}">
                  <a16:creationId xmlns:a16="http://schemas.microsoft.com/office/drawing/2014/main" id="{0CA2E2BB-5F94-5165-34D0-BA87D30F7D54}"/>
                </a:ext>
              </a:extLst>
            </p:cNvPr>
            <p:cNvSpPr/>
            <p:nvPr/>
          </p:nvSpPr>
          <p:spPr>
            <a:xfrm>
              <a:off x="5354160" y="2891461"/>
              <a:ext cx="563274" cy="557242"/>
            </a:xfrm>
            <a:prstGeom prst="ellipse">
              <a:avLst/>
            </a:prstGeom>
            <a:noFill/>
            <a:ln w="76200">
              <a:solidFill>
                <a:srgbClr val="BC432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panose="020B0502040204020203" pitchFamily="34" charset="0"/>
                <a:ea typeface="+mn-ea"/>
                <a:cs typeface="+mn-cs"/>
              </a:endParaRPr>
            </a:p>
          </p:txBody>
        </p:sp>
      </p:grpSp>
      <p:pic>
        <p:nvPicPr>
          <p:cNvPr id="22" name="Imagen 21">
            <a:extLst>
              <a:ext uri="{FF2B5EF4-FFF2-40B4-BE49-F238E27FC236}">
                <a16:creationId xmlns:a16="http://schemas.microsoft.com/office/drawing/2014/main" id="{7A04BD86-7124-B8AC-AC02-C84378A4C7D7}"/>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6683764" y="1615619"/>
            <a:ext cx="563274" cy="563274"/>
          </a:xfrm>
          <a:prstGeom prst="rect">
            <a:avLst/>
          </a:prstGeom>
        </p:spPr>
      </p:pic>
      <p:sp>
        <p:nvSpPr>
          <p:cNvPr id="23" name="Elipse 22">
            <a:extLst>
              <a:ext uri="{FF2B5EF4-FFF2-40B4-BE49-F238E27FC236}">
                <a16:creationId xmlns:a16="http://schemas.microsoft.com/office/drawing/2014/main" id="{AF8F6AB3-6C76-460F-67D3-8203FB3CA4A1}"/>
              </a:ext>
            </a:extLst>
          </p:cNvPr>
          <p:cNvSpPr/>
          <p:nvPr/>
        </p:nvSpPr>
        <p:spPr>
          <a:xfrm>
            <a:off x="6607758" y="1528698"/>
            <a:ext cx="710779" cy="697808"/>
          </a:xfrm>
          <a:prstGeom prst="ellipse">
            <a:avLst/>
          </a:prstGeom>
          <a:noFill/>
          <a:ln w="28575">
            <a:solidFill>
              <a:srgbClr val="3B7D23"/>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panose="020B0502040204020203" pitchFamily="34" charset="0"/>
              <a:ea typeface="+mn-ea"/>
              <a:cs typeface="+mn-cs"/>
            </a:endParaRPr>
          </a:p>
        </p:txBody>
      </p:sp>
      <p:sp>
        <p:nvSpPr>
          <p:cNvPr id="27" name="Elipse 26">
            <a:extLst>
              <a:ext uri="{FF2B5EF4-FFF2-40B4-BE49-F238E27FC236}">
                <a16:creationId xmlns:a16="http://schemas.microsoft.com/office/drawing/2014/main" id="{CA51AC95-FAE2-3A6F-78D0-9199C0913C3F}"/>
              </a:ext>
            </a:extLst>
          </p:cNvPr>
          <p:cNvSpPr/>
          <p:nvPr/>
        </p:nvSpPr>
        <p:spPr>
          <a:xfrm>
            <a:off x="6684645" y="1602544"/>
            <a:ext cx="563274" cy="557242"/>
          </a:xfrm>
          <a:prstGeom prst="ellipse">
            <a:avLst/>
          </a:prstGeom>
          <a:noFill/>
          <a:ln w="76200">
            <a:solidFill>
              <a:srgbClr val="3B7D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panose="020B0502040204020203" pitchFamily="34" charset="0"/>
              <a:ea typeface="+mn-ea"/>
              <a:cs typeface="+mn-cs"/>
            </a:endParaRPr>
          </a:p>
        </p:txBody>
      </p:sp>
      <p:sp>
        <p:nvSpPr>
          <p:cNvPr id="31" name="Rectángulo 30">
            <a:extLst>
              <a:ext uri="{FF2B5EF4-FFF2-40B4-BE49-F238E27FC236}">
                <a16:creationId xmlns:a16="http://schemas.microsoft.com/office/drawing/2014/main" id="{54E22EE3-27E3-EF86-47B4-6358C405BA35}"/>
              </a:ext>
            </a:extLst>
          </p:cNvPr>
          <p:cNvSpPr/>
          <p:nvPr/>
        </p:nvSpPr>
        <p:spPr>
          <a:xfrm>
            <a:off x="7466237" y="1566493"/>
            <a:ext cx="3535540" cy="31306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b="1" noProof="0">
                <a:solidFill>
                  <a:schemeClr val="tx1"/>
                </a:solidFill>
                <a:latin typeface="Arial" panose="020B0604020202020204" pitchFamily="34" charset="0"/>
                <a:cs typeface="Arial" panose="020B0604020202020204" pitchFamily="34" charset="0"/>
              </a:rPr>
              <a:t> 3 </a:t>
            </a:r>
            <a:r>
              <a:rPr lang="en-US" sz="1200" noProof="0">
                <a:solidFill>
                  <a:schemeClr val="tx1"/>
                </a:solidFill>
                <a:latin typeface="Arial" panose="020B0604020202020204" pitchFamily="34" charset="0"/>
                <a:cs typeface="Arial" panose="020B0604020202020204" pitchFamily="34" charset="0"/>
              </a:rPr>
              <a:t>Systemic issues</a:t>
            </a:r>
          </a:p>
        </p:txBody>
      </p:sp>
      <p:sp>
        <p:nvSpPr>
          <p:cNvPr id="32" name="Rectángulo 31">
            <a:extLst>
              <a:ext uri="{FF2B5EF4-FFF2-40B4-BE49-F238E27FC236}">
                <a16:creationId xmlns:a16="http://schemas.microsoft.com/office/drawing/2014/main" id="{F4667A8F-77A2-6BBA-3604-9EF51A4C4FBC}"/>
              </a:ext>
            </a:extLst>
          </p:cNvPr>
          <p:cNvSpPr/>
          <p:nvPr/>
        </p:nvSpPr>
        <p:spPr>
          <a:xfrm>
            <a:off x="7465934" y="3194987"/>
            <a:ext cx="3535540" cy="31306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b="1" noProof="0">
                <a:solidFill>
                  <a:schemeClr val="tx1"/>
                </a:solidFill>
                <a:latin typeface="Arial" panose="020B0604020202020204" pitchFamily="34" charset="0"/>
                <a:cs typeface="Arial" panose="020B0604020202020204" pitchFamily="34" charset="0"/>
              </a:rPr>
              <a:t> 7 </a:t>
            </a:r>
            <a:r>
              <a:rPr lang="en-US" sz="1200" noProof="0" err="1">
                <a:solidFill>
                  <a:schemeClr val="tx1"/>
                </a:solidFill>
                <a:latin typeface="Arial" panose="020B0604020202020204" pitchFamily="34" charset="0"/>
                <a:cs typeface="Arial" panose="020B0604020202020204" pitchFamily="34" charset="0"/>
              </a:rPr>
              <a:t>Strcutrural</a:t>
            </a:r>
            <a:r>
              <a:rPr lang="en-US" sz="1200" noProof="0">
                <a:solidFill>
                  <a:schemeClr val="tx1"/>
                </a:solidFill>
                <a:latin typeface="Arial" panose="020B0604020202020204" pitchFamily="34" charset="0"/>
                <a:cs typeface="Arial" panose="020B0604020202020204" pitchFamily="34" charset="0"/>
              </a:rPr>
              <a:t> issues</a:t>
            </a:r>
          </a:p>
        </p:txBody>
      </p:sp>
      <p:sp>
        <p:nvSpPr>
          <p:cNvPr id="36" name="Rectángulo 35">
            <a:extLst>
              <a:ext uri="{FF2B5EF4-FFF2-40B4-BE49-F238E27FC236}">
                <a16:creationId xmlns:a16="http://schemas.microsoft.com/office/drawing/2014/main" id="{820E069C-ABDA-72A8-874C-6127612DE05D}"/>
              </a:ext>
            </a:extLst>
          </p:cNvPr>
          <p:cNvSpPr/>
          <p:nvPr/>
        </p:nvSpPr>
        <p:spPr>
          <a:xfrm>
            <a:off x="7531172" y="5041653"/>
            <a:ext cx="3535540" cy="31306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b="1" noProof="0">
                <a:solidFill>
                  <a:schemeClr val="tx1"/>
                </a:solidFill>
                <a:latin typeface="Arial" panose="020B0604020202020204" pitchFamily="34" charset="0"/>
                <a:cs typeface="Arial" panose="020B0604020202020204" pitchFamily="34" charset="0"/>
              </a:rPr>
              <a:t> 5 </a:t>
            </a:r>
            <a:r>
              <a:rPr lang="en-US" sz="1200" noProof="0">
                <a:solidFill>
                  <a:schemeClr val="tx1"/>
                </a:solidFill>
                <a:latin typeface="Arial" panose="020B0604020202020204" pitchFamily="34" charset="0"/>
                <a:cs typeface="Arial" panose="020B0604020202020204" pitchFamily="34" charset="0"/>
              </a:rPr>
              <a:t>Compounded risks</a:t>
            </a:r>
          </a:p>
        </p:txBody>
      </p:sp>
      <p:sp>
        <p:nvSpPr>
          <p:cNvPr id="37" name="Elipse 36">
            <a:extLst>
              <a:ext uri="{FF2B5EF4-FFF2-40B4-BE49-F238E27FC236}">
                <a16:creationId xmlns:a16="http://schemas.microsoft.com/office/drawing/2014/main" id="{347019DA-2BC0-04DC-FB75-56DFAAB9B8E9}"/>
              </a:ext>
            </a:extLst>
          </p:cNvPr>
          <p:cNvSpPr/>
          <p:nvPr/>
        </p:nvSpPr>
        <p:spPr>
          <a:xfrm flipH="1">
            <a:off x="4808441" y="5312804"/>
            <a:ext cx="216000" cy="216000"/>
          </a:xfrm>
          <a:prstGeom prst="ellipse">
            <a:avLst/>
          </a:prstGeom>
          <a:solidFill>
            <a:srgbClr val="BFBFB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panose="020B0502040204020203" pitchFamily="34" charset="0"/>
              <a:ea typeface="+mn-ea"/>
              <a:cs typeface="+mn-cs"/>
            </a:endParaRPr>
          </a:p>
        </p:txBody>
      </p:sp>
      <p:cxnSp>
        <p:nvCxnSpPr>
          <p:cNvPr id="41" name="Conector recto 40">
            <a:extLst>
              <a:ext uri="{FF2B5EF4-FFF2-40B4-BE49-F238E27FC236}">
                <a16:creationId xmlns:a16="http://schemas.microsoft.com/office/drawing/2014/main" id="{5E287F46-4070-83E7-444A-421C5A762E60}"/>
              </a:ext>
            </a:extLst>
          </p:cNvPr>
          <p:cNvCxnSpPr>
            <a:cxnSpLocks/>
            <a:stCxn id="37" idx="6"/>
          </p:cNvCxnSpPr>
          <p:nvPr/>
        </p:nvCxnSpPr>
        <p:spPr>
          <a:xfrm flipH="1" flipV="1">
            <a:off x="1469085" y="5416977"/>
            <a:ext cx="3339356" cy="3827"/>
          </a:xfrm>
          <a:prstGeom prst="line">
            <a:avLst/>
          </a:prstGeom>
          <a:ln w="38100">
            <a:solidFill>
              <a:srgbClr val="BFBFBF"/>
            </a:solidFill>
          </a:ln>
        </p:spPr>
        <p:style>
          <a:lnRef idx="1">
            <a:schemeClr val="accent1"/>
          </a:lnRef>
          <a:fillRef idx="0">
            <a:schemeClr val="accent1"/>
          </a:fillRef>
          <a:effectRef idx="0">
            <a:schemeClr val="accent1"/>
          </a:effectRef>
          <a:fontRef idx="minor">
            <a:schemeClr val="tx1"/>
          </a:fontRef>
        </p:style>
      </p:cxnSp>
      <p:sp>
        <p:nvSpPr>
          <p:cNvPr id="42" name="Rectángulo 41">
            <a:extLst>
              <a:ext uri="{FF2B5EF4-FFF2-40B4-BE49-F238E27FC236}">
                <a16:creationId xmlns:a16="http://schemas.microsoft.com/office/drawing/2014/main" id="{5729026C-ECE5-00DC-2FA8-F0A6F7FBC224}"/>
              </a:ext>
            </a:extLst>
          </p:cNvPr>
          <p:cNvSpPr/>
          <p:nvPr/>
        </p:nvSpPr>
        <p:spPr>
          <a:xfrm>
            <a:off x="1243885" y="5108237"/>
            <a:ext cx="3535540" cy="31306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1200" b="1" noProof="0">
                <a:solidFill>
                  <a:schemeClr val="tx1"/>
                </a:solidFill>
                <a:latin typeface="Arial" panose="020B0604020202020204" pitchFamily="34" charset="0"/>
                <a:cs typeface="Arial" panose="020B0604020202020204" pitchFamily="34" charset="0"/>
              </a:rPr>
              <a:t>8 </a:t>
            </a:r>
            <a:r>
              <a:rPr lang="en-US" sz="1200" noProof="0">
                <a:solidFill>
                  <a:schemeClr val="tx1"/>
                </a:solidFill>
                <a:latin typeface="Arial" panose="020B0604020202020204" pitchFamily="34" charset="0"/>
                <a:cs typeface="Arial" panose="020B0604020202020204" pitchFamily="34" charset="0"/>
              </a:rPr>
              <a:t>TO-BE guiding principles</a:t>
            </a:r>
          </a:p>
        </p:txBody>
      </p:sp>
      <p:pic>
        <p:nvPicPr>
          <p:cNvPr id="50" name="Imagen 49">
            <a:extLst>
              <a:ext uri="{FF2B5EF4-FFF2-40B4-BE49-F238E27FC236}">
                <a16:creationId xmlns:a16="http://schemas.microsoft.com/office/drawing/2014/main" id="{17B0B86B-F0FC-0201-DA0A-97FBAF88BA1B}"/>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p:blipFill>
        <p:spPr>
          <a:xfrm>
            <a:off x="5067528" y="5047660"/>
            <a:ext cx="722745" cy="722745"/>
          </a:xfrm>
          <a:prstGeom prst="rect">
            <a:avLst/>
          </a:prstGeom>
        </p:spPr>
      </p:pic>
      <p:sp>
        <p:nvSpPr>
          <p:cNvPr id="51" name="Rectángulo 50">
            <a:extLst>
              <a:ext uri="{FF2B5EF4-FFF2-40B4-BE49-F238E27FC236}">
                <a16:creationId xmlns:a16="http://schemas.microsoft.com/office/drawing/2014/main" id="{A582F346-4589-D899-87C8-838F90EDA0C9}"/>
              </a:ext>
            </a:extLst>
          </p:cNvPr>
          <p:cNvSpPr/>
          <p:nvPr/>
        </p:nvSpPr>
        <p:spPr>
          <a:xfrm>
            <a:off x="-1258967" y="5424975"/>
            <a:ext cx="3636756" cy="96185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lvl="0" algn="r">
              <a:defRPr/>
            </a:pPr>
            <a:r>
              <a:rPr lang="en-US" sz="1000" noProof="0">
                <a:solidFill>
                  <a:srgbClr val="505050"/>
                </a:solidFill>
                <a:latin typeface="Arial" panose="020B0604020202020204" pitchFamily="34" charset="0"/>
                <a:cs typeface="Arial" panose="020B0604020202020204" pitchFamily="34" charset="0"/>
              </a:rPr>
              <a:t>1.Single Front Door</a:t>
            </a:r>
          </a:p>
          <a:p>
            <a:pPr lvl="0" algn="r">
              <a:defRPr/>
            </a:pPr>
            <a:r>
              <a:rPr lang="en-US" sz="1000" noProof="0">
                <a:solidFill>
                  <a:srgbClr val="505050"/>
                </a:solidFill>
                <a:latin typeface="Arial" panose="020B0604020202020204" pitchFamily="34" charset="0"/>
                <a:cs typeface="Arial" panose="020B0604020202020204" pitchFamily="34" charset="0"/>
              </a:rPr>
              <a:t>2.Value-Based Prioritization</a:t>
            </a:r>
          </a:p>
          <a:p>
            <a:pPr lvl="0" algn="r">
              <a:defRPr/>
            </a:pPr>
            <a:r>
              <a:rPr lang="en-US" sz="1000" noProof="0">
                <a:solidFill>
                  <a:srgbClr val="505050"/>
                </a:solidFill>
                <a:latin typeface="Arial" panose="020B0604020202020204" pitchFamily="34" charset="0"/>
                <a:cs typeface="Arial" panose="020B0604020202020204" pitchFamily="34" charset="0"/>
              </a:rPr>
              <a:t>3.Capacity-Aware Assignment</a:t>
            </a:r>
          </a:p>
          <a:p>
            <a:pPr lvl="0" algn="r">
              <a:defRPr/>
            </a:pPr>
            <a:r>
              <a:rPr lang="en-US" sz="1000" noProof="0">
                <a:solidFill>
                  <a:srgbClr val="505050"/>
                </a:solidFill>
                <a:latin typeface="Arial" panose="020B0604020202020204" pitchFamily="34" charset="0"/>
                <a:cs typeface="Arial" panose="020B0604020202020204" pitchFamily="34" charset="0"/>
              </a:rPr>
              <a:t>4.Standardized Execution (Jira)</a:t>
            </a:r>
          </a:p>
        </p:txBody>
      </p:sp>
      <p:sp>
        <p:nvSpPr>
          <p:cNvPr id="52" name="Elipse 51">
            <a:extLst>
              <a:ext uri="{FF2B5EF4-FFF2-40B4-BE49-F238E27FC236}">
                <a16:creationId xmlns:a16="http://schemas.microsoft.com/office/drawing/2014/main" id="{08240A7A-FDC9-F5F9-7108-515D5EB2A2E2}"/>
              </a:ext>
            </a:extLst>
          </p:cNvPr>
          <p:cNvSpPr/>
          <p:nvPr/>
        </p:nvSpPr>
        <p:spPr>
          <a:xfrm>
            <a:off x="5077248" y="5027415"/>
            <a:ext cx="710779" cy="697808"/>
          </a:xfrm>
          <a:prstGeom prst="ellipse">
            <a:avLst/>
          </a:prstGeom>
          <a:noFill/>
          <a:ln w="28575">
            <a:solidFill>
              <a:srgbClr val="0F1C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panose="020B0502040204020203" pitchFamily="34" charset="0"/>
              <a:ea typeface="+mn-ea"/>
              <a:cs typeface="+mn-cs"/>
            </a:endParaRPr>
          </a:p>
        </p:txBody>
      </p:sp>
      <p:sp>
        <p:nvSpPr>
          <p:cNvPr id="53" name="Elipse 52">
            <a:extLst>
              <a:ext uri="{FF2B5EF4-FFF2-40B4-BE49-F238E27FC236}">
                <a16:creationId xmlns:a16="http://schemas.microsoft.com/office/drawing/2014/main" id="{DAB70C44-3886-B9D5-5B2F-CB8A46EE88FD}"/>
              </a:ext>
            </a:extLst>
          </p:cNvPr>
          <p:cNvSpPr/>
          <p:nvPr/>
        </p:nvSpPr>
        <p:spPr>
          <a:xfrm>
            <a:off x="5154135" y="5101261"/>
            <a:ext cx="563274" cy="557242"/>
          </a:xfrm>
          <a:prstGeom prst="ellipse">
            <a:avLst/>
          </a:prstGeom>
          <a:noFill/>
          <a:ln w="76200">
            <a:solidFill>
              <a:srgbClr val="0F1C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panose="020B0502040204020203" pitchFamily="34" charset="0"/>
              <a:ea typeface="+mn-ea"/>
              <a:cs typeface="+mn-cs"/>
            </a:endParaRPr>
          </a:p>
        </p:txBody>
      </p:sp>
      <p:pic>
        <p:nvPicPr>
          <p:cNvPr id="54" name="Imagen 53">
            <a:extLst>
              <a:ext uri="{FF2B5EF4-FFF2-40B4-BE49-F238E27FC236}">
                <a16:creationId xmlns:a16="http://schemas.microsoft.com/office/drawing/2014/main" id="{05B9496D-CD4F-5D33-5438-55D28E3F3EEE}"/>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p:blipFill>
        <p:spPr>
          <a:xfrm>
            <a:off x="6655888" y="3183416"/>
            <a:ext cx="619725" cy="619725"/>
          </a:xfrm>
          <a:prstGeom prst="rect">
            <a:avLst/>
          </a:prstGeom>
        </p:spPr>
      </p:pic>
      <p:sp>
        <p:nvSpPr>
          <p:cNvPr id="55" name="Elipse 54">
            <a:extLst>
              <a:ext uri="{FF2B5EF4-FFF2-40B4-BE49-F238E27FC236}">
                <a16:creationId xmlns:a16="http://schemas.microsoft.com/office/drawing/2014/main" id="{131FC28C-793D-E3B7-B2C7-9064196713E7}"/>
              </a:ext>
            </a:extLst>
          </p:cNvPr>
          <p:cNvSpPr/>
          <p:nvPr/>
        </p:nvSpPr>
        <p:spPr>
          <a:xfrm>
            <a:off x="6608458" y="3106021"/>
            <a:ext cx="710779" cy="697808"/>
          </a:xfrm>
          <a:prstGeom prst="ellipse">
            <a:avLst/>
          </a:prstGeom>
          <a:noFill/>
          <a:ln w="28575">
            <a:solidFill>
              <a:srgbClr val="0DA9FF"/>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panose="020B0502040204020203" pitchFamily="34" charset="0"/>
              <a:ea typeface="+mn-ea"/>
              <a:cs typeface="+mn-cs"/>
            </a:endParaRPr>
          </a:p>
        </p:txBody>
      </p:sp>
      <p:sp>
        <p:nvSpPr>
          <p:cNvPr id="56" name="Elipse 55">
            <a:extLst>
              <a:ext uri="{FF2B5EF4-FFF2-40B4-BE49-F238E27FC236}">
                <a16:creationId xmlns:a16="http://schemas.microsoft.com/office/drawing/2014/main" id="{C294D009-E56D-F04F-9427-52F9810A04CB}"/>
              </a:ext>
            </a:extLst>
          </p:cNvPr>
          <p:cNvSpPr/>
          <p:nvPr/>
        </p:nvSpPr>
        <p:spPr>
          <a:xfrm>
            <a:off x="6685345" y="3179867"/>
            <a:ext cx="563274" cy="557242"/>
          </a:xfrm>
          <a:prstGeom prst="ellipse">
            <a:avLst/>
          </a:prstGeom>
          <a:noFill/>
          <a:ln w="76200">
            <a:solidFill>
              <a:srgbClr val="0DA9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panose="020B0502040204020203" pitchFamily="34" charset="0"/>
              <a:ea typeface="+mn-ea"/>
              <a:cs typeface="+mn-cs"/>
            </a:endParaRPr>
          </a:p>
        </p:txBody>
      </p:sp>
      <p:pic>
        <p:nvPicPr>
          <p:cNvPr id="57" name="Imagen 56">
            <a:extLst>
              <a:ext uri="{FF2B5EF4-FFF2-40B4-BE49-F238E27FC236}">
                <a16:creationId xmlns:a16="http://schemas.microsoft.com/office/drawing/2014/main" id="{0A5A4D61-C93F-DE92-922B-00EF6E025DFE}"/>
              </a:ext>
            </a:extLst>
          </p:cNvPr>
          <p:cNvPicPr>
            <a:picLocks noChangeAspect="1"/>
          </p:cNvPicPr>
          <p:nvPr/>
        </p:nvPicPr>
        <p:blipFill>
          <a:blip r:embed="rId8" cstate="print">
            <a:extLst>
              <a:ext uri="{28A0092B-C50C-407E-A947-70E740481C1C}">
                <a14:useLocalDpi xmlns:a14="http://schemas.microsoft.com/office/drawing/2010/main" val="0"/>
              </a:ext>
            </a:extLst>
          </a:blip>
          <a:srcRect b="29556"/>
          <a:stretch>
            <a:fillRect/>
          </a:stretch>
        </p:blipFill>
        <p:spPr>
          <a:xfrm>
            <a:off x="6654728" y="5072335"/>
            <a:ext cx="665595" cy="468872"/>
          </a:xfrm>
          <a:prstGeom prst="rect">
            <a:avLst/>
          </a:prstGeom>
        </p:spPr>
      </p:pic>
      <p:sp>
        <p:nvSpPr>
          <p:cNvPr id="58" name="Elipse 57">
            <a:extLst>
              <a:ext uri="{FF2B5EF4-FFF2-40B4-BE49-F238E27FC236}">
                <a16:creationId xmlns:a16="http://schemas.microsoft.com/office/drawing/2014/main" id="{2FF0B56A-352E-3709-6F6E-1B4DFA1BB1B6}"/>
              </a:ext>
            </a:extLst>
          </p:cNvPr>
          <p:cNvSpPr/>
          <p:nvPr/>
        </p:nvSpPr>
        <p:spPr>
          <a:xfrm>
            <a:off x="6635873" y="5023514"/>
            <a:ext cx="710779" cy="697808"/>
          </a:xfrm>
          <a:prstGeom prst="ellipse">
            <a:avLst/>
          </a:prstGeom>
          <a:noFill/>
          <a:ln w="28575">
            <a:solidFill>
              <a:srgbClr val="00A443"/>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panose="020B0502040204020203" pitchFamily="34" charset="0"/>
              <a:ea typeface="+mn-ea"/>
              <a:cs typeface="+mn-cs"/>
            </a:endParaRPr>
          </a:p>
        </p:txBody>
      </p:sp>
      <p:sp>
        <p:nvSpPr>
          <p:cNvPr id="59" name="Elipse 58">
            <a:extLst>
              <a:ext uri="{FF2B5EF4-FFF2-40B4-BE49-F238E27FC236}">
                <a16:creationId xmlns:a16="http://schemas.microsoft.com/office/drawing/2014/main" id="{DD3E7C1A-223E-47C4-1DAA-ABE16E2BC5AC}"/>
              </a:ext>
            </a:extLst>
          </p:cNvPr>
          <p:cNvSpPr/>
          <p:nvPr/>
        </p:nvSpPr>
        <p:spPr>
          <a:xfrm>
            <a:off x="6712760" y="5097360"/>
            <a:ext cx="563274" cy="557242"/>
          </a:xfrm>
          <a:prstGeom prst="ellipse">
            <a:avLst/>
          </a:prstGeom>
          <a:noFill/>
          <a:ln w="76200">
            <a:solidFill>
              <a:srgbClr val="00A44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panose="020B0502040204020203" pitchFamily="34" charset="0"/>
              <a:ea typeface="+mn-ea"/>
              <a:cs typeface="+mn-cs"/>
            </a:endParaRPr>
          </a:p>
        </p:txBody>
      </p:sp>
      <p:sp>
        <p:nvSpPr>
          <p:cNvPr id="61" name="Rectángulo 60">
            <a:extLst>
              <a:ext uri="{FF2B5EF4-FFF2-40B4-BE49-F238E27FC236}">
                <a16:creationId xmlns:a16="http://schemas.microsoft.com/office/drawing/2014/main" id="{4F02385D-6CDC-6B11-EF23-2A98168EA130}"/>
              </a:ext>
            </a:extLst>
          </p:cNvPr>
          <p:cNvSpPr/>
          <p:nvPr/>
        </p:nvSpPr>
        <p:spPr>
          <a:xfrm>
            <a:off x="563410" y="3521418"/>
            <a:ext cx="4263738" cy="196791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lvl="0" algn="r">
              <a:defRPr/>
            </a:pPr>
            <a:r>
              <a:rPr lang="en-US" sz="1000" b="1" noProof="0">
                <a:solidFill>
                  <a:schemeClr val="tx1"/>
                </a:solidFill>
                <a:latin typeface="Arial" panose="020B0604020202020204" pitchFamily="34" charset="0"/>
                <a:cs typeface="Arial" panose="020B0604020202020204" pitchFamily="34" charset="0"/>
              </a:rPr>
              <a:t>Customer Service</a:t>
            </a:r>
          </a:p>
          <a:p>
            <a:pPr lvl="0" algn="r">
              <a:defRPr/>
            </a:pPr>
            <a:endParaRPr lang="en-US" sz="1000" noProof="0">
              <a:solidFill>
                <a:srgbClr val="505050"/>
              </a:solidFill>
              <a:latin typeface="Arial" panose="020B0604020202020204" pitchFamily="34" charset="0"/>
              <a:cs typeface="Arial" panose="020B0604020202020204" pitchFamily="34" charset="0"/>
            </a:endParaRPr>
          </a:p>
          <a:p>
            <a:pPr lvl="0" algn="r">
              <a:defRPr/>
            </a:pPr>
            <a:r>
              <a:rPr lang="en-US" sz="1000" noProof="0">
                <a:solidFill>
                  <a:srgbClr val="505050"/>
                </a:solidFill>
                <a:latin typeface="Arial" panose="020B0604020202020204" pitchFamily="34" charset="0"/>
                <a:cs typeface="Arial" panose="020B0604020202020204" pitchFamily="34" charset="0"/>
              </a:rPr>
              <a:t>5.Customer Services Leadership Gap</a:t>
            </a:r>
          </a:p>
          <a:p>
            <a:pPr lvl="0" algn="r">
              <a:defRPr/>
            </a:pPr>
            <a:r>
              <a:rPr lang="en-US" sz="1000" noProof="0">
                <a:solidFill>
                  <a:srgbClr val="505050"/>
                </a:solidFill>
                <a:latin typeface="Arial" panose="020B0604020202020204" pitchFamily="34" charset="0"/>
                <a:cs typeface="Arial" panose="020B0604020202020204" pitchFamily="34" charset="0"/>
              </a:rPr>
              <a:t>6.No Branch-Wide Portfolio Tool</a:t>
            </a:r>
          </a:p>
          <a:p>
            <a:pPr lvl="0" algn="r">
              <a:defRPr/>
            </a:pPr>
            <a:r>
              <a:rPr lang="en-US" sz="1000" noProof="0">
                <a:solidFill>
                  <a:srgbClr val="505050"/>
                </a:solidFill>
                <a:latin typeface="Arial" panose="020B0604020202020204" pitchFamily="34" charset="0"/>
                <a:cs typeface="Arial" panose="020B0604020202020204" pitchFamily="34" charset="0"/>
              </a:rPr>
              <a:t>7.Smart Metering Vendor Concentration</a:t>
            </a:r>
          </a:p>
          <a:p>
            <a:pPr lvl="0" algn="r">
              <a:defRPr/>
            </a:pPr>
            <a:r>
              <a:rPr lang="en-US" sz="1000" noProof="0">
                <a:solidFill>
                  <a:srgbClr val="505050"/>
                </a:solidFill>
                <a:latin typeface="Arial" panose="020B0604020202020204" pitchFamily="34" charset="0"/>
                <a:cs typeface="Arial" panose="020B0604020202020204" pitchFamily="34" charset="0"/>
              </a:rPr>
              <a:t>8.Multi-OPCO Capacity Competition</a:t>
            </a:r>
            <a:endParaRPr kumimoji="0" lang="en-US" sz="1000" b="0" i="0" u="none" strike="noStrike" kern="1200" cap="none" spc="0" normalizeH="0" baseline="0" noProof="0">
              <a:ln>
                <a:noFill/>
              </a:ln>
              <a:solidFill>
                <a:srgbClr val="505050"/>
              </a:solidFill>
              <a:effectLst/>
              <a:uLnTx/>
              <a:uFillTx/>
              <a:latin typeface="Arial" panose="020B0604020202020204" pitchFamily="34" charset="0"/>
              <a:cs typeface="Arial" panose="020B0604020202020204" pitchFamily="34" charset="0"/>
            </a:endParaRPr>
          </a:p>
        </p:txBody>
      </p:sp>
      <p:sp>
        <p:nvSpPr>
          <p:cNvPr id="66" name="Rectángulo 65">
            <a:extLst>
              <a:ext uri="{FF2B5EF4-FFF2-40B4-BE49-F238E27FC236}">
                <a16:creationId xmlns:a16="http://schemas.microsoft.com/office/drawing/2014/main" id="{16D3AF9C-4E71-F176-CBD9-BFEFFBDBC3A0}"/>
              </a:ext>
            </a:extLst>
          </p:cNvPr>
          <p:cNvSpPr/>
          <p:nvPr/>
        </p:nvSpPr>
        <p:spPr>
          <a:xfrm>
            <a:off x="1150858" y="5424975"/>
            <a:ext cx="3636756" cy="96185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lvl="0" algn="r">
              <a:defRPr/>
            </a:pPr>
            <a:r>
              <a:rPr lang="en-US" sz="1000" noProof="0">
                <a:solidFill>
                  <a:srgbClr val="505050"/>
                </a:solidFill>
                <a:latin typeface="Arial" panose="020B0604020202020204" pitchFamily="34" charset="0"/>
                <a:cs typeface="Arial" panose="020B0604020202020204" pitchFamily="34" charset="0"/>
              </a:rPr>
              <a:t>5.Integrated Toolchain</a:t>
            </a:r>
          </a:p>
          <a:p>
            <a:pPr lvl="0" algn="r">
              <a:defRPr/>
            </a:pPr>
            <a:r>
              <a:rPr lang="en-US" sz="1000" noProof="0">
                <a:solidFill>
                  <a:srgbClr val="505050"/>
                </a:solidFill>
                <a:latin typeface="Arial" panose="020B0604020202020204" pitchFamily="34" charset="0"/>
                <a:cs typeface="Arial" panose="020B0604020202020204" pitchFamily="34" charset="0"/>
              </a:rPr>
              <a:t>6.Automated Reporting </a:t>
            </a:r>
          </a:p>
          <a:p>
            <a:pPr lvl="0" algn="r">
              <a:defRPr/>
            </a:pPr>
            <a:r>
              <a:rPr lang="en-US" sz="1000" noProof="0">
                <a:solidFill>
                  <a:srgbClr val="505050"/>
                </a:solidFill>
                <a:latin typeface="Arial" panose="020B0604020202020204" pitchFamily="34" charset="0"/>
                <a:cs typeface="Arial" panose="020B0604020202020204" pitchFamily="34" charset="0"/>
              </a:rPr>
              <a:t>7.Defined RACI per Lifecycle Phase</a:t>
            </a:r>
          </a:p>
          <a:p>
            <a:pPr lvl="0" algn="r">
              <a:defRPr/>
            </a:pPr>
            <a:r>
              <a:rPr lang="en-US" sz="1000" noProof="0">
                <a:solidFill>
                  <a:srgbClr val="505050"/>
                </a:solidFill>
                <a:latin typeface="Arial" panose="020B0604020202020204" pitchFamily="34" charset="0"/>
                <a:cs typeface="Arial" panose="020B0604020202020204" pitchFamily="34" charset="0"/>
              </a:rPr>
              <a:t>8.Standardized Execution Model</a:t>
            </a:r>
            <a:endParaRPr kumimoji="0" lang="en-US" sz="1000" b="0" i="0" u="none" strike="noStrike" kern="1200" cap="none" spc="0" normalizeH="0" baseline="0" noProof="0">
              <a:ln>
                <a:noFill/>
              </a:ln>
              <a:solidFill>
                <a:srgbClr val="505050"/>
              </a:solidFill>
              <a:effectLst/>
              <a:uLnTx/>
              <a:uFillTx/>
              <a:latin typeface="Arial" panose="020B0604020202020204" pitchFamily="34" charset="0"/>
              <a:cs typeface="Arial" panose="020B0604020202020204" pitchFamily="34" charset="0"/>
            </a:endParaRPr>
          </a:p>
        </p:txBody>
      </p:sp>
      <p:sp>
        <p:nvSpPr>
          <p:cNvPr id="15" name="Título 2">
            <a:extLst>
              <a:ext uri="{FF2B5EF4-FFF2-40B4-BE49-F238E27FC236}">
                <a16:creationId xmlns:a16="http://schemas.microsoft.com/office/drawing/2014/main" id="{51E891F2-7680-013A-B849-9A8113D34DB9}"/>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r>
              <a:rPr lang="en-US" sz="2400" noProof="0">
                <a:sym typeface="Gordita"/>
              </a:rPr>
              <a:t>INSIGHTS &amp; KEY DEFINITIONS FOR TO-BE MODEL</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t>Product-Centric Transformation: Framing the Opportunity</a:t>
            </a:r>
          </a:p>
        </p:txBody>
      </p:sp>
    </p:spTree>
    <p:extLst>
      <p:ext uri="{BB962C8B-B14F-4D97-AF65-F5344CB8AC3E}">
        <p14:creationId xmlns:p14="http://schemas.microsoft.com/office/powerpoint/2010/main" val="3112205822"/>
      </p:ext>
    </p:extLst>
  </p:cSld>
  <p:clrMapOvr>
    <a:masterClrMapping/>
  </p:clrMapOvr>
  <p:extLst>
    <p:ext uri="{6950BFC3-D8DA-4A85-94F7-54DA5524770B}">
      <p188:commentRel xmlns:p188="http://schemas.microsoft.com/office/powerpoint/2018/8/main" r:id="rId2"/>
    </p:ext>
  </p:extLst>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DEA03E6-D2D4-EA1D-6605-A9D7C9DB041E}"/>
            </a:ext>
          </a:extLst>
        </p:cNvPr>
        <p:cNvGrpSpPr/>
        <p:nvPr/>
      </p:nvGrpSpPr>
      <p:grpSpPr>
        <a:xfrm>
          <a:off x="0" y="0"/>
          <a:ext cx="0" cy="0"/>
          <a:chOff x="0" y="0"/>
          <a:chExt cx="0" cy="0"/>
        </a:xfrm>
      </p:grpSpPr>
      <p:sp>
        <p:nvSpPr>
          <p:cNvPr id="16" name="CuadroTexto 15">
            <a:extLst>
              <a:ext uri="{FF2B5EF4-FFF2-40B4-BE49-F238E27FC236}">
                <a16:creationId xmlns:a16="http://schemas.microsoft.com/office/drawing/2014/main" id="{FED6E8CE-9BF7-BA9B-CA7E-96DA0A679B68}"/>
              </a:ext>
            </a:extLst>
          </p:cNvPr>
          <p:cNvSpPr txBox="1"/>
          <p:nvPr/>
        </p:nvSpPr>
        <p:spPr>
          <a:xfrm>
            <a:off x="212709" y="920682"/>
            <a:ext cx="11766582" cy="430887"/>
          </a:xfrm>
          <a:prstGeom prst="rect">
            <a:avLst/>
          </a:prstGeom>
          <a:noFill/>
        </p:spPr>
        <p:txBody>
          <a:bodyPr wrap="square" lIns="0" tIns="0" rIns="0" bIns="0" rtlCol="0">
            <a:noAutofit/>
          </a:bodyPr>
          <a:lstStyle>
            <a:defPPr>
              <a:defRPr lang="en-US"/>
            </a:defPPr>
            <a:lvl1pPr marR="0" lvl="0" indent="0" algn="just" fontAlgn="auto">
              <a:lnSpc>
                <a:spcPct val="100000"/>
              </a:lnSpc>
              <a:spcBef>
                <a:spcPts val="0"/>
              </a:spcBef>
              <a:spcAft>
                <a:spcPts val="0"/>
              </a:spcAft>
              <a:buClrTx/>
              <a:buSzTx/>
              <a:buFontTx/>
              <a:buNone/>
              <a:tabLst/>
              <a:defRPr kumimoji="0" sz="1400" b="1" i="0" u="none" strike="noStrike" cap="none" spc="0" normalizeH="0" baseline="0">
                <a:ln>
                  <a:noFill/>
                </a:ln>
                <a:solidFill>
                  <a:srgbClr val="0F9ED5">
                    <a:lumMod val="75000"/>
                  </a:srgbClr>
                </a:solidFill>
                <a:effectLst/>
                <a:uLnTx/>
                <a:uFillTx/>
                <a:latin typeface="Arial" panose="020B0604020202020204" pitchFamily="34" charset="0"/>
                <a:cs typeface="Arial" panose="020B0604020202020204" pitchFamily="34" charset="0"/>
              </a:defRPr>
            </a:lvl1pPr>
            <a:lvl2pPr marL="228586" eaLnBrk="0" fontAlgn="base" hangingPunct="0">
              <a:spcBef>
                <a:spcPct val="0"/>
              </a:spcBef>
              <a:spcAft>
                <a:spcPct val="0"/>
              </a:spcAft>
              <a:defRPr>
                <a:latin typeface="Arial" pitchFamily="2" charset="77"/>
              </a:defRPr>
            </a:lvl2pPr>
            <a:lvl3pPr marL="457172" eaLnBrk="0" fontAlgn="base" hangingPunct="0">
              <a:spcBef>
                <a:spcPct val="0"/>
              </a:spcBef>
              <a:spcAft>
                <a:spcPct val="0"/>
              </a:spcAft>
              <a:defRPr>
                <a:latin typeface="Arial" pitchFamily="2" charset="77"/>
              </a:defRPr>
            </a:lvl3pPr>
            <a:lvl4pPr marL="685757" eaLnBrk="0" fontAlgn="base" hangingPunct="0">
              <a:spcBef>
                <a:spcPct val="0"/>
              </a:spcBef>
              <a:spcAft>
                <a:spcPct val="0"/>
              </a:spcAft>
              <a:defRPr>
                <a:latin typeface="Arial" pitchFamily="2" charset="77"/>
              </a:defRPr>
            </a:lvl4pPr>
            <a:lvl5pPr marL="914343" eaLnBrk="0" fontAlgn="base" hangingPunct="0">
              <a:spcBef>
                <a:spcPct val="0"/>
              </a:spcBef>
              <a:spcAft>
                <a:spcPct val="0"/>
              </a:spcAft>
              <a:defRPr>
                <a:latin typeface="Arial" pitchFamily="2" charset="77"/>
              </a:defRPr>
            </a:lvl5pPr>
            <a:lvl6pPr marL="1142929" defTabSz="457172">
              <a:defRPr>
                <a:latin typeface="Arial" pitchFamily="2" charset="77"/>
              </a:defRPr>
            </a:lvl6pPr>
            <a:lvl7pPr marL="1371515" defTabSz="457172">
              <a:defRPr>
                <a:latin typeface="Arial" pitchFamily="2" charset="77"/>
              </a:defRPr>
            </a:lvl7pPr>
            <a:lvl8pPr marL="1600100" defTabSz="457172">
              <a:defRPr>
                <a:latin typeface="Arial" pitchFamily="2" charset="77"/>
              </a:defRPr>
            </a:lvl8pPr>
            <a:lvl9pPr marL="1828686" defTabSz="457172">
              <a:defRPr>
                <a:latin typeface="Arial" pitchFamily="2" charset="77"/>
              </a:defRPr>
            </a:lvl9pPr>
          </a:lstStyle>
          <a:p>
            <a:r>
              <a:rPr lang="en-US" noProof="0"/>
              <a:t>Our assessment highlights opportunities to strengthen alignment, governance, and prioritization to enable a more scalable and sustainable TO‑BE operating model.</a:t>
            </a:r>
          </a:p>
        </p:txBody>
      </p:sp>
      <p:sp>
        <p:nvSpPr>
          <p:cNvPr id="60" name="Título 2">
            <a:extLst>
              <a:ext uri="{FF2B5EF4-FFF2-40B4-BE49-F238E27FC236}">
                <a16:creationId xmlns:a16="http://schemas.microsoft.com/office/drawing/2014/main" id="{EACC76AB-6CCD-B81A-FA2C-EDA124C01450}"/>
              </a:ext>
            </a:extLst>
          </p:cNvPr>
          <p:cNvSpPr txBox="1">
            <a:spLocks/>
          </p:cNvSpPr>
          <p:nvPr/>
        </p:nvSpPr>
        <p:spPr>
          <a:xfrm>
            <a:off x="180918" y="127319"/>
            <a:ext cx="7801032" cy="514011"/>
          </a:xfrm>
          <a:prstGeom prst="rect">
            <a:avLst/>
          </a:prstGeom>
        </p:spPr>
        <p:txBody>
          <a:bodyPr anchor="ctr">
            <a:noAutofit/>
          </a:bodyPr>
          <a:lstStyle>
            <a:defPPr>
              <a:defRPr lang="en-US"/>
            </a:defPPr>
            <a:lvl1pPr marR="0" lvl="0" indent="0" fontAlgn="auto">
              <a:lnSpc>
                <a:spcPct val="90000"/>
              </a:lnSpc>
              <a:spcBef>
                <a:spcPct val="0"/>
              </a:spcBef>
              <a:spcAft>
                <a:spcPts val="0"/>
              </a:spcAft>
              <a:buClrTx/>
              <a:buSzTx/>
              <a:buFontTx/>
              <a:buNone/>
              <a:tabLst/>
              <a:defRPr kumimoji="0" sz="2400" b="1" i="0" u="none" strike="noStrike" cap="none" spc="0" normalizeH="0" baseline="0">
                <a:ln>
                  <a:noFill/>
                </a:ln>
                <a:solidFill>
                  <a:prstClr val="white"/>
                </a:solidFill>
                <a:effectLst/>
                <a:uLnTx/>
                <a:uFillTx/>
                <a:latin typeface="Arial" panose="020B0604020202020204" pitchFamily="34" charset="0"/>
                <a:ea typeface="+mj-ea"/>
                <a:cs typeface="Arial" panose="020B0604020202020204" pitchFamily="34" charset="0"/>
              </a:defRPr>
            </a:lvl1pPr>
          </a:lstStyle>
          <a:p>
            <a:r>
              <a:rPr lang="en-US" noProof="0">
                <a:sym typeface="Gordita"/>
              </a:rPr>
              <a:t>INSIGHTS &amp; KEY DEFINITIONS FOR TO-BE MODEL</a:t>
            </a:r>
          </a:p>
        </p:txBody>
      </p:sp>
      <p:sp>
        <p:nvSpPr>
          <p:cNvPr id="15" name="Arc 125">
            <a:extLst>
              <a:ext uri="{FF2B5EF4-FFF2-40B4-BE49-F238E27FC236}">
                <a16:creationId xmlns:a16="http://schemas.microsoft.com/office/drawing/2014/main" id="{4C69DEA5-EB9A-087D-09F9-B26879AC7C6B}"/>
              </a:ext>
            </a:extLst>
          </p:cNvPr>
          <p:cNvSpPr>
            <a:spLocks noChangeAspect="1"/>
          </p:cNvSpPr>
          <p:nvPr/>
        </p:nvSpPr>
        <p:spPr>
          <a:xfrm>
            <a:off x="3785095" y="2467069"/>
            <a:ext cx="4621810" cy="4621810"/>
          </a:xfrm>
          <a:prstGeom prst="arc">
            <a:avLst>
              <a:gd name="adj1" fmla="val 8113235"/>
              <a:gd name="adj2" fmla="val 2678295"/>
            </a:avLst>
          </a:prstGeom>
          <a:ln w="38100">
            <a:solidFill>
              <a:srgbClr val="A6A6A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a:p>
        </p:txBody>
      </p:sp>
      <p:sp>
        <p:nvSpPr>
          <p:cNvPr id="17" name="TextBox 126">
            <a:extLst>
              <a:ext uri="{FF2B5EF4-FFF2-40B4-BE49-F238E27FC236}">
                <a16:creationId xmlns:a16="http://schemas.microsoft.com/office/drawing/2014/main" id="{0BB04946-92CE-9B7E-29EA-342748A8A654}"/>
              </a:ext>
            </a:extLst>
          </p:cNvPr>
          <p:cNvSpPr txBox="1"/>
          <p:nvPr/>
        </p:nvSpPr>
        <p:spPr>
          <a:xfrm>
            <a:off x="360721" y="4911712"/>
            <a:ext cx="3209120" cy="1359283"/>
          </a:xfrm>
          <a:prstGeom prst="rect">
            <a:avLst/>
          </a:prstGeom>
          <a:noFill/>
        </p:spPr>
        <p:txBody>
          <a:bodyPr wrap="square" lIns="0" tIns="0" rIns="0" bIns="0" anchor="t">
            <a:spAutoFit/>
          </a:bodyPr>
          <a:lstStyle>
            <a:defPPr>
              <a:defRPr lang="en-US"/>
            </a:defPPr>
            <a:lvl1pPr>
              <a:lnSpc>
                <a:spcPct val="110000"/>
              </a:lnSpc>
              <a:spcBef>
                <a:spcPts val="0"/>
              </a:spcBef>
              <a:spcAft>
                <a:spcPts val="0"/>
              </a:spcAft>
              <a:defRPr sz="900" b="0" i="0">
                <a:solidFill>
                  <a:srgbClr val="2C3E50"/>
                </a:solidFill>
                <a:latin typeface="Arial" panose="020B0604020202020204" pitchFamily="34" charset="0"/>
                <a:cs typeface="Arial" panose="020B0604020202020204" pitchFamily="34" charset="0"/>
              </a:defRPr>
            </a:lvl1pPr>
          </a:lstStyle>
          <a:p>
            <a:pPr algn="ctr"/>
            <a:r>
              <a:rPr lang="en-US" b="1" noProof="0"/>
              <a:t>Current Operating Constraints</a:t>
            </a:r>
          </a:p>
          <a:p>
            <a:r>
              <a:rPr lang="en-US" noProof="0"/>
              <a:t>The current operating model is constrained by fragmented ownership, limited visibility into capacity, and inconsistent execution practices across teams. Decision-making is often not systematically anchored in business value, which reduces alignment and impacts efficiency. Existing tools and governance structures do not provide the level of end-to-end transparency and control required to effectively manage a growing and complex portfolio.</a:t>
            </a:r>
          </a:p>
        </p:txBody>
      </p:sp>
      <p:sp>
        <p:nvSpPr>
          <p:cNvPr id="20" name="Oval 97">
            <a:extLst>
              <a:ext uri="{FF2B5EF4-FFF2-40B4-BE49-F238E27FC236}">
                <a16:creationId xmlns:a16="http://schemas.microsoft.com/office/drawing/2014/main" id="{6E8ED709-E6C1-B51C-8290-27B32C65C7CA}"/>
              </a:ext>
            </a:extLst>
          </p:cNvPr>
          <p:cNvSpPr>
            <a:spLocks noChangeAspect="1"/>
          </p:cNvSpPr>
          <p:nvPr/>
        </p:nvSpPr>
        <p:spPr>
          <a:xfrm>
            <a:off x="3620339" y="5487976"/>
            <a:ext cx="831273" cy="831273"/>
          </a:xfrm>
          <a:prstGeom prst="ellipse">
            <a:avLst/>
          </a:prstGeom>
          <a:solidFill>
            <a:srgbClr val="FFFFFF"/>
          </a:solidFill>
          <a:ln w="57150">
            <a:solidFill>
              <a:srgbClr val="2C578B"/>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a:p>
        </p:txBody>
      </p:sp>
      <p:sp>
        <p:nvSpPr>
          <p:cNvPr id="21" name="Oval 163">
            <a:extLst>
              <a:ext uri="{FF2B5EF4-FFF2-40B4-BE49-F238E27FC236}">
                <a16:creationId xmlns:a16="http://schemas.microsoft.com/office/drawing/2014/main" id="{41374AA6-FDA5-7A8D-8928-F0FECE7C5230}"/>
              </a:ext>
            </a:extLst>
          </p:cNvPr>
          <p:cNvSpPr>
            <a:spLocks noChangeAspect="1"/>
          </p:cNvSpPr>
          <p:nvPr/>
        </p:nvSpPr>
        <p:spPr>
          <a:xfrm>
            <a:off x="7740388" y="5487976"/>
            <a:ext cx="831273" cy="831273"/>
          </a:xfrm>
          <a:prstGeom prst="ellipse">
            <a:avLst/>
          </a:prstGeom>
          <a:solidFill>
            <a:srgbClr val="FFFFFF"/>
          </a:solidFill>
          <a:ln w="57150">
            <a:solidFill>
              <a:srgbClr val="2C578B"/>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a:p>
        </p:txBody>
      </p:sp>
      <p:sp>
        <p:nvSpPr>
          <p:cNvPr id="26" name="Oval 166">
            <a:extLst>
              <a:ext uri="{FF2B5EF4-FFF2-40B4-BE49-F238E27FC236}">
                <a16:creationId xmlns:a16="http://schemas.microsoft.com/office/drawing/2014/main" id="{FC0976AE-CE82-C84E-3D98-876FB320F376}"/>
              </a:ext>
            </a:extLst>
          </p:cNvPr>
          <p:cNvSpPr>
            <a:spLocks noChangeAspect="1"/>
          </p:cNvSpPr>
          <p:nvPr/>
        </p:nvSpPr>
        <p:spPr>
          <a:xfrm>
            <a:off x="3874339" y="2729004"/>
            <a:ext cx="831273" cy="831273"/>
          </a:xfrm>
          <a:prstGeom prst="ellipse">
            <a:avLst/>
          </a:prstGeom>
          <a:solidFill>
            <a:srgbClr val="FFFFFF"/>
          </a:solidFill>
          <a:ln w="57150">
            <a:solidFill>
              <a:srgbClr val="2C578B"/>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a:p>
        </p:txBody>
      </p:sp>
      <p:sp>
        <p:nvSpPr>
          <p:cNvPr id="28" name="Oval 167">
            <a:extLst>
              <a:ext uri="{FF2B5EF4-FFF2-40B4-BE49-F238E27FC236}">
                <a16:creationId xmlns:a16="http://schemas.microsoft.com/office/drawing/2014/main" id="{E4832994-E42F-2351-0F9E-810767906F64}"/>
              </a:ext>
            </a:extLst>
          </p:cNvPr>
          <p:cNvSpPr>
            <a:spLocks noChangeAspect="1"/>
          </p:cNvSpPr>
          <p:nvPr/>
        </p:nvSpPr>
        <p:spPr>
          <a:xfrm>
            <a:off x="7486388" y="2729004"/>
            <a:ext cx="831273" cy="831273"/>
          </a:xfrm>
          <a:prstGeom prst="ellipse">
            <a:avLst/>
          </a:prstGeom>
          <a:solidFill>
            <a:srgbClr val="FFFFFF"/>
          </a:solidFill>
          <a:ln w="57150">
            <a:solidFill>
              <a:srgbClr val="2C578B"/>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a:p>
        </p:txBody>
      </p:sp>
      <p:sp>
        <p:nvSpPr>
          <p:cNvPr id="39" name="TextBox 171">
            <a:extLst>
              <a:ext uri="{FF2B5EF4-FFF2-40B4-BE49-F238E27FC236}">
                <a16:creationId xmlns:a16="http://schemas.microsoft.com/office/drawing/2014/main" id="{473C2ED0-8A85-1DA3-9276-10108DF34562}"/>
              </a:ext>
            </a:extLst>
          </p:cNvPr>
          <p:cNvSpPr txBox="1"/>
          <p:nvPr/>
        </p:nvSpPr>
        <p:spPr>
          <a:xfrm>
            <a:off x="4595180" y="4585574"/>
            <a:ext cx="2980451" cy="1511632"/>
          </a:xfrm>
          <a:prstGeom prst="rect">
            <a:avLst/>
          </a:prstGeom>
          <a:noFill/>
        </p:spPr>
        <p:txBody>
          <a:bodyPr wrap="square" lIns="0" tIns="0" rIns="0" bIns="0" anchor="t">
            <a:spAutoFit/>
          </a:bodyPr>
          <a:lstStyle>
            <a:defPPr>
              <a:defRPr lang="en-US"/>
            </a:defPPr>
            <a:lvl1pPr>
              <a:lnSpc>
                <a:spcPct val="110000"/>
              </a:lnSpc>
              <a:spcBef>
                <a:spcPts val="0"/>
              </a:spcBef>
              <a:spcAft>
                <a:spcPts val="0"/>
              </a:spcAft>
              <a:defRPr sz="900" b="0" i="0">
                <a:solidFill>
                  <a:srgbClr val="2C3E50"/>
                </a:solidFill>
                <a:latin typeface="Arial" panose="020B0604020202020204" pitchFamily="34" charset="0"/>
                <a:cs typeface="Arial" panose="020B0604020202020204" pitchFamily="34" charset="0"/>
              </a:defRPr>
            </a:lvl1pPr>
          </a:lstStyle>
          <a:p>
            <a:pPr algn="ctr"/>
            <a:r>
              <a:rPr lang="en-US" b="1" noProof="0"/>
              <a:t>To-Be Guiding Principles</a:t>
            </a:r>
          </a:p>
          <a:p>
            <a:r>
              <a:rPr lang="en-US" noProof="0"/>
              <a:t>At the core of the transformation is a shift toward a product-centric operating model, where decision-making, prioritization, and execution are consistently aligned to business value. This model enables an integrated view across the full product lifecycle, replacing fragmented project-based delivery with a more scalable, transparent, and accountable approach. By embedding these principles, the organization can better manage demand, optimize capacity, and drive measurable outcomes.</a:t>
            </a:r>
          </a:p>
        </p:txBody>
      </p:sp>
      <p:sp>
        <p:nvSpPr>
          <p:cNvPr id="43" name="TextBox 173">
            <a:extLst>
              <a:ext uri="{FF2B5EF4-FFF2-40B4-BE49-F238E27FC236}">
                <a16:creationId xmlns:a16="http://schemas.microsoft.com/office/drawing/2014/main" id="{147059DB-C613-DF5E-EA06-D210440259FB}"/>
              </a:ext>
            </a:extLst>
          </p:cNvPr>
          <p:cNvSpPr txBox="1"/>
          <p:nvPr/>
        </p:nvSpPr>
        <p:spPr>
          <a:xfrm>
            <a:off x="8452497" y="2121333"/>
            <a:ext cx="3209120" cy="1206933"/>
          </a:xfrm>
          <a:prstGeom prst="rect">
            <a:avLst/>
          </a:prstGeom>
          <a:noFill/>
        </p:spPr>
        <p:txBody>
          <a:bodyPr wrap="square" lIns="0" tIns="0" rIns="0" bIns="0" anchor="t">
            <a:spAutoFit/>
          </a:bodyPr>
          <a:lstStyle>
            <a:defPPr>
              <a:defRPr lang="en-US"/>
            </a:defPPr>
            <a:lvl1pPr>
              <a:lnSpc>
                <a:spcPct val="110000"/>
              </a:lnSpc>
              <a:spcBef>
                <a:spcPts val="0"/>
              </a:spcBef>
              <a:spcAft>
                <a:spcPts val="0"/>
              </a:spcAft>
              <a:defRPr sz="900" b="1" i="0">
                <a:solidFill>
                  <a:srgbClr val="2C3E50"/>
                </a:solidFill>
                <a:latin typeface="Arial" panose="020B0604020202020204" pitchFamily="34" charset="0"/>
                <a:cs typeface="Arial" panose="020B0604020202020204" pitchFamily="34" charset="0"/>
              </a:defRPr>
            </a:lvl1pPr>
          </a:lstStyle>
          <a:p>
            <a:pPr algn="ctr"/>
            <a:r>
              <a:rPr lang="en-US" noProof="0"/>
              <a:t>Systemic Gaps</a:t>
            </a:r>
          </a:p>
          <a:p>
            <a:r>
              <a:rPr lang="en-US" b="0" noProof="0"/>
              <a:t>Several foundational elements required for scale are not yet in place. There is no unified prioritization framework or common taxonomy to consistently evaluate and compare initiatives across the organization. Vendor governance has an opportunity to be clearly defined and enforced. Together, these gaps create barriers to standardization and hinder the evolution toward a more mature, product-oriented model.</a:t>
            </a:r>
          </a:p>
        </p:txBody>
      </p:sp>
      <p:sp>
        <p:nvSpPr>
          <p:cNvPr id="44" name="TextBox 174">
            <a:extLst>
              <a:ext uri="{FF2B5EF4-FFF2-40B4-BE49-F238E27FC236}">
                <a16:creationId xmlns:a16="http://schemas.microsoft.com/office/drawing/2014/main" id="{2610EC9A-1744-B63C-E237-754E8CF08E58}"/>
              </a:ext>
            </a:extLst>
          </p:cNvPr>
          <p:cNvSpPr txBox="1"/>
          <p:nvPr/>
        </p:nvSpPr>
        <p:spPr>
          <a:xfrm>
            <a:off x="364226" y="2003195"/>
            <a:ext cx="3209120" cy="1359283"/>
          </a:xfrm>
          <a:prstGeom prst="rect">
            <a:avLst/>
          </a:prstGeom>
          <a:noFill/>
        </p:spPr>
        <p:txBody>
          <a:bodyPr wrap="square" lIns="0" tIns="0" rIns="0" bIns="0" anchor="t">
            <a:spAutoFit/>
          </a:bodyPr>
          <a:lstStyle>
            <a:defPPr>
              <a:defRPr lang="en-US"/>
            </a:defPPr>
            <a:lvl1pPr>
              <a:lnSpc>
                <a:spcPct val="110000"/>
              </a:lnSpc>
              <a:spcBef>
                <a:spcPts val="0"/>
              </a:spcBef>
              <a:spcAft>
                <a:spcPts val="0"/>
              </a:spcAft>
              <a:defRPr sz="900" b="0" i="0">
                <a:solidFill>
                  <a:srgbClr val="2C3E50"/>
                </a:solidFill>
                <a:latin typeface="Arial" panose="020B0604020202020204" pitchFamily="34" charset="0"/>
                <a:cs typeface="Arial" panose="020B0604020202020204" pitchFamily="34" charset="0"/>
              </a:defRPr>
            </a:lvl1pPr>
          </a:lstStyle>
          <a:p>
            <a:pPr algn="ctr"/>
            <a:r>
              <a:rPr lang="en-US" b="1" noProof="0"/>
              <a:t>Structural Misalignment</a:t>
            </a:r>
          </a:p>
          <a:p>
            <a:r>
              <a:rPr lang="en-US" noProof="0"/>
              <a:t>The current structure does not fully support an end-to-end, product-aligned operating model. There is no integrated flow connecting intake, prioritization, and delivery within a unified framework. Gaps in tooling, governance forums, and standardized ways of working further reinforce silos. As a result, execution remains largely project-based, limiting the organization’s ability to manage products holistically and deliver sustained value over time.</a:t>
            </a:r>
          </a:p>
        </p:txBody>
      </p:sp>
      <p:sp>
        <p:nvSpPr>
          <p:cNvPr id="45" name="TextBox 175">
            <a:extLst>
              <a:ext uri="{FF2B5EF4-FFF2-40B4-BE49-F238E27FC236}">
                <a16:creationId xmlns:a16="http://schemas.microsoft.com/office/drawing/2014/main" id="{163517BE-B672-08F7-7D3B-F358CB05DE3C}"/>
              </a:ext>
            </a:extLst>
          </p:cNvPr>
          <p:cNvSpPr txBox="1"/>
          <p:nvPr/>
        </p:nvSpPr>
        <p:spPr>
          <a:xfrm>
            <a:off x="8715230" y="5034175"/>
            <a:ext cx="3209120" cy="1359283"/>
          </a:xfrm>
          <a:prstGeom prst="rect">
            <a:avLst/>
          </a:prstGeom>
          <a:noFill/>
        </p:spPr>
        <p:txBody>
          <a:bodyPr wrap="square" lIns="0" tIns="0" rIns="0" bIns="0" anchor="t">
            <a:spAutoFit/>
          </a:bodyPr>
          <a:lstStyle>
            <a:defPPr>
              <a:defRPr lang="en-US"/>
            </a:defPPr>
            <a:lvl1pPr>
              <a:lnSpc>
                <a:spcPct val="110000"/>
              </a:lnSpc>
              <a:spcBef>
                <a:spcPts val="0"/>
              </a:spcBef>
              <a:spcAft>
                <a:spcPts val="0"/>
              </a:spcAft>
              <a:defRPr sz="900" b="0" i="0">
                <a:solidFill>
                  <a:srgbClr val="2C3E50"/>
                </a:solidFill>
                <a:latin typeface="Arial" panose="020B0604020202020204" pitchFamily="34" charset="0"/>
                <a:cs typeface="Arial" panose="020B0604020202020204" pitchFamily="34" charset="0"/>
              </a:defRPr>
            </a:lvl1pPr>
          </a:lstStyle>
          <a:p>
            <a:pPr algn="ctr"/>
            <a:r>
              <a:rPr lang="en-US" b="1" noProof="0"/>
              <a:t>Delivery &amp; Experience Pain Points</a:t>
            </a:r>
          </a:p>
          <a:p>
            <a:r>
              <a:rPr lang="en-US" noProof="0"/>
              <a:t>From an execution perspective, demand intake and delivery processes remain fragmented, leading to inefficiencies, duplication of effort, and reduced visibility across the portfolio. Coordination challenges across teams, business units, and vendors further impact delivery consistency. At the same time, capacity constraints and leadership gaps introduce additional complexity, affecting predictability and overall service experience.</a:t>
            </a:r>
          </a:p>
        </p:txBody>
      </p:sp>
      <p:sp>
        <p:nvSpPr>
          <p:cNvPr id="118" name="Arrival" descr="{&quot;Key&quot;:&quot;POWER_USER_SHAPE_ICON&quot;,&quot;Value&quot;:&quot;POWER_USER_SHAPE_ICON_STYLE_1&quot;}">
            <a:extLst>
              <a:ext uri="{FF2B5EF4-FFF2-40B4-BE49-F238E27FC236}">
                <a16:creationId xmlns:a16="http://schemas.microsoft.com/office/drawing/2014/main" id="{5DF8EDF8-479F-51D7-E30E-78F487104540}"/>
              </a:ext>
            </a:extLst>
          </p:cNvPr>
          <p:cNvSpPr>
            <a:spLocks noChangeAspect="1" noEditPoints="1"/>
          </p:cNvSpPr>
          <p:nvPr>
            <p:custDataLst>
              <p:tags r:id="rId1"/>
            </p:custDataLst>
          </p:nvPr>
        </p:nvSpPr>
        <p:spPr bwMode="auto">
          <a:xfrm>
            <a:off x="5645204" y="3665032"/>
            <a:ext cx="901588" cy="542925"/>
          </a:xfrm>
          <a:custGeom>
            <a:avLst/>
            <a:gdLst>
              <a:gd name="T0" fmla="*/ 124 w 875"/>
              <a:gd name="T1" fmla="*/ 157 h 526"/>
              <a:gd name="T2" fmla="*/ 179 w 875"/>
              <a:gd name="T3" fmla="*/ 212 h 526"/>
              <a:gd name="T4" fmla="*/ 267 w 875"/>
              <a:gd name="T5" fmla="*/ 123 h 526"/>
              <a:gd name="T6" fmla="*/ 322 w 875"/>
              <a:gd name="T7" fmla="*/ 178 h 526"/>
              <a:gd name="T8" fmla="*/ 234 w 875"/>
              <a:gd name="T9" fmla="*/ 267 h 526"/>
              <a:gd name="T10" fmla="*/ 179 w 875"/>
              <a:gd name="T11" fmla="*/ 212 h 526"/>
              <a:gd name="T12" fmla="*/ 96 w 875"/>
              <a:gd name="T13" fmla="*/ 295 h 526"/>
              <a:gd name="T14" fmla="*/ 41 w 875"/>
              <a:gd name="T15" fmla="*/ 240 h 526"/>
              <a:gd name="T16" fmla="*/ 124 w 875"/>
              <a:gd name="T17" fmla="*/ 157 h 526"/>
              <a:gd name="T18" fmla="*/ 613 w 875"/>
              <a:gd name="T19" fmla="*/ 123 h 526"/>
              <a:gd name="T20" fmla="*/ 702 w 875"/>
              <a:gd name="T21" fmla="*/ 212 h 526"/>
              <a:gd name="T22" fmla="*/ 757 w 875"/>
              <a:gd name="T23" fmla="*/ 157 h 526"/>
              <a:gd name="T24" fmla="*/ 834 w 875"/>
              <a:gd name="T25" fmla="*/ 234 h 526"/>
              <a:gd name="T26" fmla="*/ 779 w 875"/>
              <a:gd name="T27" fmla="*/ 289 h 526"/>
              <a:gd name="T28" fmla="*/ 702 w 875"/>
              <a:gd name="T29" fmla="*/ 212 h 526"/>
              <a:gd name="T30" fmla="*/ 647 w 875"/>
              <a:gd name="T31" fmla="*/ 267 h 526"/>
              <a:gd name="T32" fmla="*/ 558 w 875"/>
              <a:gd name="T33" fmla="*/ 178 h 526"/>
              <a:gd name="T34" fmla="*/ 613 w 875"/>
              <a:gd name="T35" fmla="*/ 123 h 526"/>
              <a:gd name="T36" fmla="*/ 138 w 875"/>
              <a:gd name="T37" fmla="*/ 384 h 526"/>
              <a:gd name="T38" fmla="*/ 151 w 875"/>
              <a:gd name="T39" fmla="*/ 390 h 526"/>
              <a:gd name="T40" fmla="*/ 164 w 875"/>
              <a:gd name="T41" fmla="*/ 384 h 526"/>
              <a:gd name="T42" fmla="*/ 258 w 875"/>
              <a:gd name="T43" fmla="*/ 290 h 526"/>
              <a:gd name="T44" fmla="*/ 346 w 875"/>
              <a:gd name="T45" fmla="*/ 202 h 526"/>
              <a:gd name="T46" fmla="*/ 405 w 875"/>
              <a:gd name="T47" fmla="*/ 261 h 526"/>
              <a:gd name="T48" fmla="*/ 182 w 875"/>
              <a:gd name="T49" fmla="*/ 484 h 526"/>
              <a:gd name="T50" fmla="*/ 182 w 875"/>
              <a:gd name="T51" fmla="*/ 519 h 526"/>
              <a:gd name="T52" fmla="*/ 200 w 875"/>
              <a:gd name="T53" fmla="*/ 526 h 526"/>
              <a:gd name="T54" fmla="*/ 218 w 875"/>
              <a:gd name="T55" fmla="*/ 519 h 526"/>
              <a:gd name="T56" fmla="*/ 440 w 875"/>
              <a:gd name="T57" fmla="*/ 296 h 526"/>
              <a:gd name="T58" fmla="*/ 663 w 875"/>
              <a:gd name="T59" fmla="*/ 519 h 526"/>
              <a:gd name="T60" fmla="*/ 681 w 875"/>
              <a:gd name="T61" fmla="*/ 526 h 526"/>
              <a:gd name="T62" fmla="*/ 699 w 875"/>
              <a:gd name="T63" fmla="*/ 519 h 526"/>
              <a:gd name="T64" fmla="*/ 699 w 875"/>
              <a:gd name="T65" fmla="*/ 484 h 526"/>
              <a:gd name="T66" fmla="*/ 476 w 875"/>
              <a:gd name="T67" fmla="*/ 261 h 526"/>
              <a:gd name="T68" fmla="*/ 535 w 875"/>
              <a:gd name="T69" fmla="*/ 202 h 526"/>
              <a:gd name="T70" fmla="*/ 623 w 875"/>
              <a:gd name="T71" fmla="*/ 290 h 526"/>
              <a:gd name="T72" fmla="*/ 711 w 875"/>
              <a:gd name="T73" fmla="*/ 378 h 526"/>
              <a:gd name="T74" fmla="*/ 724 w 875"/>
              <a:gd name="T75" fmla="*/ 384 h 526"/>
              <a:gd name="T76" fmla="*/ 737 w 875"/>
              <a:gd name="T77" fmla="*/ 378 h 526"/>
              <a:gd name="T78" fmla="*/ 803 w 875"/>
              <a:gd name="T79" fmla="*/ 313 h 526"/>
              <a:gd name="T80" fmla="*/ 868 w 875"/>
              <a:gd name="T81" fmla="*/ 247 h 526"/>
              <a:gd name="T82" fmla="*/ 868 w 875"/>
              <a:gd name="T83" fmla="*/ 221 h 526"/>
              <a:gd name="T84" fmla="*/ 780 w 875"/>
              <a:gd name="T85" fmla="*/ 133 h 526"/>
              <a:gd name="T86" fmla="*/ 692 w 875"/>
              <a:gd name="T87" fmla="*/ 45 h 526"/>
              <a:gd name="T88" fmla="*/ 692 w 875"/>
              <a:gd name="T89" fmla="*/ 9 h 526"/>
              <a:gd name="T90" fmla="*/ 656 w 875"/>
              <a:gd name="T91" fmla="*/ 9 h 526"/>
              <a:gd name="T92" fmla="*/ 440 w 875"/>
              <a:gd name="T93" fmla="*/ 226 h 526"/>
              <a:gd name="T94" fmla="*/ 224 w 875"/>
              <a:gd name="T95" fmla="*/ 9 h 526"/>
              <a:gd name="T96" fmla="*/ 189 w 875"/>
              <a:gd name="T97" fmla="*/ 9 h 526"/>
              <a:gd name="T98" fmla="*/ 189 w 875"/>
              <a:gd name="T99" fmla="*/ 45 h 526"/>
              <a:gd name="T100" fmla="*/ 101 w 875"/>
              <a:gd name="T101" fmla="*/ 133 h 526"/>
              <a:gd name="T102" fmla="*/ 12 w 875"/>
              <a:gd name="T103" fmla="*/ 221 h 526"/>
              <a:gd name="T104" fmla="*/ 7 w 875"/>
              <a:gd name="T105" fmla="*/ 253 h 526"/>
              <a:gd name="T106" fmla="*/ 72 w 875"/>
              <a:gd name="T107" fmla="*/ 319 h 526"/>
              <a:gd name="T108" fmla="*/ 138 w 875"/>
              <a:gd name="T109" fmla="*/ 384 h 5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875" h="526">
                <a:moveTo>
                  <a:pt x="124" y="157"/>
                </a:moveTo>
                <a:lnTo>
                  <a:pt x="179" y="212"/>
                </a:lnTo>
                <a:lnTo>
                  <a:pt x="267" y="123"/>
                </a:lnTo>
                <a:lnTo>
                  <a:pt x="322" y="178"/>
                </a:lnTo>
                <a:lnTo>
                  <a:pt x="234" y="267"/>
                </a:lnTo>
                <a:lnTo>
                  <a:pt x="179" y="212"/>
                </a:lnTo>
                <a:lnTo>
                  <a:pt x="96" y="295"/>
                </a:lnTo>
                <a:lnTo>
                  <a:pt x="41" y="240"/>
                </a:lnTo>
                <a:lnTo>
                  <a:pt x="124" y="157"/>
                </a:lnTo>
                <a:close/>
                <a:moveTo>
                  <a:pt x="613" y="123"/>
                </a:moveTo>
                <a:lnTo>
                  <a:pt x="702" y="212"/>
                </a:lnTo>
                <a:lnTo>
                  <a:pt x="757" y="157"/>
                </a:lnTo>
                <a:lnTo>
                  <a:pt x="834" y="234"/>
                </a:lnTo>
                <a:lnTo>
                  <a:pt x="779" y="289"/>
                </a:lnTo>
                <a:lnTo>
                  <a:pt x="702" y="212"/>
                </a:lnTo>
                <a:lnTo>
                  <a:pt x="647" y="267"/>
                </a:lnTo>
                <a:lnTo>
                  <a:pt x="558" y="178"/>
                </a:lnTo>
                <a:lnTo>
                  <a:pt x="613" y="123"/>
                </a:lnTo>
                <a:close/>
                <a:moveTo>
                  <a:pt x="138" y="384"/>
                </a:moveTo>
                <a:cubicBezTo>
                  <a:pt x="142" y="388"/>
                  <a:pt x="146" y="390"/>
                  <a:pt x="151" y="390"/>
                </a:cubicBezTo>
                <a:cubicBezTo>
                  <a:pt x="156" y="390"/>
                  <a:pt x="161" y="388"/>
                  <a:pt x="164" y="384"/>
                </a:cubicBezTo>
                <a:lnTo>
                  <a:pt x="258" y="290"/>
                </a:lnTo>
                <a:lnTo>
                  <a:pt x="346" y="202"/>
                </a:lnTo>
                <a:lnTo>
                  <a:pt x="405" y="261"/>
                </a:lnTo>
                <a:lnTo>
                  <a:pt x="182" y="484"/>
                </a:lnTo>
                <a:cubicBezTo>
                  <a:pt x="172" y="493"/>
                  <a:pt x="172" y="509"/>
                  <a:pt x="182" y="519"/>
                </a:cubicBezTo>
                <a:cubicBezTo>
                  <a:pt x="187" y="524"/>
                  <a:pt x="193" y="526"/>
                  <a:pt x="200" y="526"/>
                </a:cubicBezTo>
                <a:cubicBezTo>
                  <a:pt x="206" y="526"/>
                  <a:pt x="213" y="524"/>
                  <a:pt x="218" y="519"/>
                </a:cubicBezTo>
                <a:lnTo>
                  <a:pt x="440" y="296"/>
                </a:lnTo>
                <a:lnTo>
                  <a:pt x="663" y="519"/>
                </a:lnTo>
                <a:cubicBezTo>
                  <a:pt x="668" y="524"/>
                  <a:pt x="674" y="526"/>
                  <a:pt x="681" y="526"/>
                </a:cubicBezTo>
                <a:cubicBezTo>
                  <a:pt x="687" y="526"/>
                  <a:pt x="694" y="524"/>
                  <a:pt x="699" y="519"/>
                </a:cubicBezTo>
                <a:cubicBezTo>
                  <a:pt x="708" y="509"/>
                  <a:pt x="708" y="493"/>
                  <a:pt x="699" y="484"/>
                </a:cubicBezTo>
                <a:lnTo>
                  <a:pt x="476" y="261"/>
                </a:lnTo>
                <a:lnTo>
                  <a:pt x="535" y="202"/>
                </a:lnTo>
                <a:lnTo>
                  <a:pt x="623" y="290"/>
                </a:lnTo>
                <a:lnTo>
                  <a:pt x="711" y="378"/>
                </a:lnTo>
                <a:cubicBezTo>
                  <a:pt x="715" y="382"/>
                  <a:pt x="719" y="384"/>
                  <a:pt x="724" y="384"/>
                </a:cubicBezTo>
                <a:cubicBezTo>
                  <a:pt x="729" y="384"/>
                  <a:pt x="734" y="382"/>
                  <a:pt x="737" y="378"/>
                </a:cubicBezTo>
                <a:lnTo>
                  <a:pt x="803" y="313"/>
                </a:lnTo>
                <a:lnTo>
                  <a:pt x="868" y="247"/>
                </a:lnTo>
                <a:cubicBezTo>
                  <a:pt x="875" y="240"/>
                  <a:pt x="875" y="229"/>
                  <a:pt x="868" y="221"/>
                </a:cubicBezTo>
                <a:lnTo>
                  <a:pt x="780" y="133"/>
                </a:lnTo>
                <a:lnTo>
                  <a:pt x="692" y="45"/>
                </a:lnTo>
                <a:cubicBezTo>
                  <a:pt x="702" y="35"/>
                  <a:pt x="702" y="19"/>
                  <a:pt x="692" y="9"/>
                </a:cubicBezTo>
                <a:cubicBezTo>
                  <a:pt x="682" y="0"/>
                  <a:pt x="666" y="0"/>
                  <a:pt x="656" y="9"/>
                </a:cubicBezTo>
                <a:lnTo>
                  <a:pt x="440" y="226"/>
                </a:lnTo>
                <a:lnTo>
                  <a:pt x="224" y="9"/>
                </a:lnTo>
                <a:cubicBezTo>
                  <a:pt x="214" y="0"/>
                  <a:pt x="199" y="0"/>
                  <a:pt x="189" y="9"/>
                </a:cubicBezTo>
                <a:cubicBezTo>
                  <a:pt x="179" y="19"/>
                  <a:pt x="179" y="35"/>
                  <a:pt x="189" y="45"/>
                </a:cubicBezTo>
                <a:lnTo>
                  <a:pt x="101" y="133"/>
                </a:lnTo>
                <a:lnTo>
                  <a:pt x="12" y="221"/>
                </a:lnTo>
                <a:cubicBezTo>
                  <a:pt x="5" y="229"/>
                  <a:pt x="0" y="246"/>
                  <a:pt x="7" y="253"/>
                </a:cubicBezTo>
                <a:lnTo>
                  <a:pt x="72" y="319"/>
                </a:lnTo>
                <a:lnTo>
                  <a:pt x="138" y="384"/>
                </a:lnTo>
                <a:close/>
              </a:path>
            </a:pathLst>
          </a:custGeom>
          <a:solidFill>
            <a:srgbClr val="7F7F7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ea typeface="+mn-ea"/>
              <a:cs typeface="+mn-cs"/>
            </a:endParaRPr>
          </a:p>
        </p:txBody>
      </p:sp>
      <p:sp>
        <p:nvSpPr>
          <p:cNvPr id="119" name="Oval 167">
            <a:extLst>
              <a:ext uri="{FF2B5EF4-FFF2-40B4-BE49-F238E27FC236}">
                <a16:creationId xmlns:a16="http://schemas.microsoft.com/office/drawing/2014/main" id="{30EDA084-A654-A725-D94B-A117DEF5F108}"/>
              </a:ext>
            </a:extLst>
          </p:cNvPr>
          <p:cNvSpPr>
            <a:spLocks noChangeAspect="1"/>
          </p:cNvSpPr>
          <p:nvPr/>
        </p:nvSpPr>
        <p:spPr>
          <a:xfrm>
            <a:off x="5506555" y="3154278"/>
            <a:ext cx="1106424" cy="1106424"/>
          </a:xfrm>
          <a:prstGeom prst="ellipse">
            <a:avLst/>
          </a:prstGeom>
          <a:solidFill>
            <a:srgbClr val="FFFFFF"/>
          </a:solidFill>
          <a:ln w="57150">
            <a:solidFill>
              <a:srgbClr val="2C578B"/>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a:p>
        </p:txBody>
      </p:sp>
      <p:sp>
        <p:nvSpPr>
          <p:cNvPr id="2" name="CuadroTexto 1">
            <a:extLst>
              <a:ext uri="{FF2B5EF4-FFF2-40B4-BE49-F238E27FC236}">
                <a16:creationId xmlns:a16="http://schemas.microsoft.com/office/drawing/2014/main" id="{926014EA-49A6-1B77-13E5-8B50C0F84748}"/>
              </a:ext>
            </a:extLst>
          </p:cNvPr>
          <p:cNvSpPr txBox="1"/>
          <p:nvPr/>
        </p:nvSpPr>
        <p:spPr>
          <a:xfrm>
            <a:off x="360721" y="4257400"/>
            <a:ext cx="682720" cy="369332"/>
          </a:xfrm>
          <a:prstGeom prst="rect">
            <a:avLst/>
          </a:prstGeom>
          <a:noFill/>
        </p:spPr>
        <p:txBody>
          <a:bodyPr wrap="square" rtlCol="0">
            <a:spAutoFit/>
          </a:bodyPr>
          <a:lstStyle/>
          <a:p>
            <a:r>
              <a:rPr lang="en-US" noProof="0"/>
              <a:t>1</a:t>
            </a:r>
          </a:p>
        </p:txBody>
      </p:sp>
      <p:sp>
        <p:nvSpPr>
          <p:cNvPr id="3" name="CuadroTexto 2">
            <a:extLst>
              <a:ext uri="{FF2B5EF4-FFF2-40B4-BE49-F238E27FC236}">
                <a16:creationId xmlns:a16="http://schemas.microsoft.com/office/drawing/2014/main" id="{1959DE32-002F-E784-6C58-91FCF5FA1FBB}"/>
              </a:ext>
            </a:extLst>
          </p:cNvPr>
          <p:cNvSpPr txBox="1"/>
          <p:nvPr/>
        </p:nvSpPr>
        <p:spPr>
          <a:xfrm>
            <a:off x="360721" y="1522932"/>
            <a:ext cx="682720" cy="369332"/>
          </a:xfrm>
          <a:prstGeom prst="rect">
            <a:avLst/>
          </a:prstGeom>
          <a:noFill/>
        </p:spPr>
        <p:txBody>
          <a:bodyPr wrap="square" rtlCol="0">
            <a:spAutoFit/>
          </a:bodyPr>
          <a:lstStyle/>
          <a:p>
            <a:r>
              <a:rPr lang="en-US" noProof="0"/>
              <a:t>2</a:t>
            </a:r>
          </a:p>
        </p:txBody>
      </p:sp>
      <p:sp>
        <p:nvSpPr>
          <p:cNvPr id="4" name="CuadroTexto 3">
            <a:extLst>
              <a:ext uri="{FF2B5EF4-FFF2-40B4-BE49-F238E27FC236}">
                <a16:creationId xmlns:a16="http://schemas.microsoft.com/office/drawing/2014/main" id="{B2CBB03B-2329-D509-F65D-020BF0DBD4C8}"/>
              </a:ext>
            </a:extLst>
          </p:cNvPr>
          <p:cNvSpPr txBox="1"/>
          <p:nvPr/>
        </p:nvSpPr>
        <p:spPr>
          <a:xfrm>
            <a:off x="10894250" y="1672450"/>
            <a:ext cx="682720" cy="369332"/>
          </a:xfrm>
          <a:prstGeom prst="rect">
            <a:avLst/>
          </a:prstGeom>
          <a:noFill/>
        </p:spPr>
        <p:txBody>
          <a:bodyPr wrap="square" rtlCol="0">
            <a:spAutoFit/>
          </a:bodyPr>
          <a:lstStyle/>
          <a:p>
            <a:r>
              <a:rPr lang="en-US" noProof="0"/>
              <a:t>3</a:t>
            </a:r>
          </a:p>
        </p:txBody>
      </p:sp>
      <p:sp>
        <p:nvSpPr>
          <p:cNvPr id="5" name="CuadroTexto 4">
            <a:extLst>
              <a:ext uri="{FF2B5EF4-FFF2-40B4-BE49-F238E27FC236}">
                <a16:creationId xmlns:a16="http://schemas.microsoft.com/office/drawing/2014/main" id="{7CEAA474-D631-2704-AA27-46E9D058DD96}"/>
              </a:ext>
            </a:extLst>
          </p:cNvPr>
          <p:cNvSpPr txBox="1"/>
          <p:nvPr/>
        </p:nvSpPr>
        <p:spPr>
          <a:xfrm>
            <a:off x="11148559" y="4442066"/>
            <a:ext cx="682720" cy="369332"/>
          </a:xfrm>
          <a:prstGeom prst="rect">
            <a:avLst/>
          </a:prstGeom>
          <a:noFill/>
        </p:spPr>
        <p:txBody>
          <a:bodyPr wrap="square" rtlCol="0">
            <a:spAutoFit/>
          </a:bodyPr>
          <a:lstStyle/>
          <a:p>
            <a:r>
              <a:rPr lang="en-US" noProof="0"/>
              <a:t>4</a:t>
            </a:r>
          </a:p>
        </p:txBody>
      </p:sp>
      <p:sp>
        <p:nvSpPr>
          <p:cNvPr id="6" name="CuadroTexto 5">
            <a:extLst>
              <a:ext uri="{FF2B5EF4-FFF2-40B4-BE49-F238E27FC236}">
                <a16:creationId xmlns:a16="http://schemas.microsoft.com/office/drawing/2014/main" id="{E30F6685-C775-1F40-A4CD-4617E641B77F}"/>
              </a:ext>
            </a:extLst>
          </p:cNvPr>
          <p:cNvSpPr txBox="1"/>
          <p:nvPr/>
        </p:nvSpPr>
        <p:spPr>
          <a:xfrm>
            <a:off x="5221466" y="3917743"/>
            <a:ext cx="682720" cy="369332"/>
          </a:xfrm>
          <a:prstGeom prst="rect">
            <a:avLst/>
          </a:prstGeom>
          <a:noFill/>
        </p:spPr>
        <p:txBody>
          <a:bodyPr wrap="square" rtlCol="0">
            <a:spAutoFit/>
          </a:bodyPr>
          <a:lstStyle/>
          <a:p>
            <a:r>
              <a:rPr lang="en-US" noProof="0"/>
              <a:t>5</a:t>
            </a:r>
          </a:p>
        </p:txBody>
      </p:sp>
    </p:spTree>
    <p:extLst>
      <p:ext uri="{BB962C8B-B14F-4D97-AF65-F5344CB8AC3E}">
        <p14:creationId xmlns:p14="http://schemas.microsoft.com/office/powerpoint/2010/main" val="2918234009"/>
      </p:ext>
    </p:extLst>
  </p:cSld>
  <p:clrMapOvr>
    <a:masterClrMapping/>
  </p:clrMapOvr>
  <p:extLst>
    <p:ext uri="{6950BFC3-D8DA-4A85-94F7-54DA5524770B}">
      <p188:commentRel xmlns:p188="http://schemas.microsoft.com/office/powerpoint/2018/8/main" r:id="rId3"/>
    </p:ext>
  </p:extLst>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959BCE0-6C27-CBB9-ADCC-274464BAED12}"/>
            </a:ext>
          </a:extLst>
        </p:cNvPr>
        <p:cNvGrpSpPr/>
        <p:nvPr/>
      </p:nvGrpSpPr>
      <p:grpSpPr>
        <a:xfrm>
          <a:off x="0" y="0"/>
          <a:ext cx="0" cy="0"/>
          <a:chOff x="0" y="0"/>
          <a:chExt cx="0" cy="0"/>
        </a:xfrm>
      </p:grpSpPr>
      <p:sp>
        <p:nvSpPr>
          <p:cNvPr id="16" name="CuadroTexto 15">
            <a:extLst>
              <a:ext uri="{FF2B5EF4-FFF2-40B4-BE49-F238E27FC236}">
                <a16:creationId xmlns:a16="http://schemas.microsoft.com/office/drawing/2014/main" id="{32541502-E320-935D-71D2-02E51704BDA1}"/>
              </a:ext>
            </a:extLst>
          </p:cNvPr>
          <p:cNvSpPr txBox="1"/>
          <p:nvPr/>
        </p:nvSpPr>
        <p:spPr>
          <a:xfrm>
            <a:off x="212709" y="920682"/>
            <a:ext cx="11766582" cy="430887"/>
          </a:xfrm>
          <a:prstGeom prst="rect">
            <a:avLst/>
          </a:prstGeom>
          <a:noFill/>
        </p:spPr>
        <p:txBody>
          <a:bodyPr wrap="square" lIns="0" tIns="0" rIns="0" bIns="0" rtlCol="0">
            <a:noAutofit/>
          </a:bodyPr>
          <a:lstStyle>
            <a:defPPr>
              <a:defRPr lang="en-US"/>
            </a:defPPr>
            <a:lvl1pPr marR="0" lvl="0" indent="0" algn="just" fontAlgn="auto">
              <a:lnSpc>
                <a:spcPct val="100000"/>
              </a:lnSpc>
              <a:spcBef>
                <a:spcPts val="0"/>
              </a:spcBef>
              <a:spcAft>
                <a:spcPts val="0"/>
              </a:spcAft>
              <a:buClrTx/>
              <a:buSzTx/>
              <a:buFontTx/>
              <a:buNone/>
              <a:tabLst/>
              <a:defRPr kumimoji="0" sz="1400" b="1" i="0" u="none" strike="noStrike" cap="none" spc="0" normalizeH="0" baseline="0">
                <a:ln>
                  <a:noFill/>
                </a:ln>
                <a:solidFill>
                  <a:srgbClr val="0F9ED5">
                    <a:lumMod val="75000"/>
                  </a:srgbClr>
                </a:solidFill>
                <a:effectLst/>
                <a:uLnTx/>
                <a:uFillTx/>
                <a:latin typeface="Arial" panose="020B0604020202020204" pitchFamily="34" charset="0"/>
                <a:cs typeface="Arial" panose="020B0604020202020204" pitchFamily="34" charset="0"/>
              </a:defRPr>
            </a:lvl1pPr>
            <a:lvl2pPr marL="228586" eaLnBrk="0" fontAlgn="base" hangingPunct="0">
              <a:spcBef>
                <a:spcPct val="0"/>
              </a:spcBef>
              <a:spcAft>
                <a:spcPct val="0"/>
              </a:spcAft>
              <a:defRPr>
                <a:latin typeface="Arial" pitchFamily="2" charset="77"/>
              </a:defRPr>
            </a:lvl2pPr>
            <a:lvl3pPr marL="457172" eaLnBrk="0" fontAlgn="base" hangingPunct="0">
              <a:spcBef>
                <a:spcPct val="0"/>
              </a:spcBef>
              <a:spcAft>
                <a:spcPct val="0"/>
              </a:spcAft>
              <a:defRPr>
                <a:latin typeface="Arial" pitchFamily="2" charset="77"/>
              </a:defRPr>
            </a:lvl3pPr>
            <a:lvl4pPr marL="685757" eaLnBrk="0" fontAlgn="base" hangingPunct="0">
              <a:spcBef>
                <a:spcPct val="0"/>
              </a:spcBef>
              <a:spcAft>
                <a:spcPct val="0"/>
              </a:spcAft>
              <a:defRPr>
                <a:latin typeface="Arial" pitchFamily="2" charset="77"/>
              </a:defRPr>
            </a:lvl4pPr>
            <a:lvl5pPr marL="914343" eaLnBrk="0" fontAlgn="base" hangingPunct="0">
              <a:spcBef>
                <a:spcPct val="0"/>
              </a:spcBef>
              <a:spcAft>
                <a:spcPct val="0"/>
              </a:spcAft>
              <a:defRPr>
                <a:latin typeface="Arial" pitchFamily="2" charset="77"/>
              </a:defRPr>
            </a:lvl5pPr>
            <a:lvl6pPr marL="1142929" defTabSz="457172">
              <a:defRPr>
                <a:latin typeface="Arial" pitchFamily="2" charset="77"/>
              </a:defRPr>
            </a:lvl6pPr>
            <a:lvl7pPr marL="1371515" defTabSz="457172">
              <a:defRPr>
                <a:latin typeface="Arial" pitchFamily="2" charset="77"/>
              </a:defRPr>
            </a:lvl7pPr>
            <a:lvl8pPr marL="1600100" defTabSz="457172">
              <a:defRPr>
                <a:latin typeface="Arial" pitchFamily="2" charset="77"/>
              </a:defRPr>
            </a:lvl8pPr>
            <a:lvl9pPr marL="1828686" defTabSz="457172">
              <a:defRPr>
                <a:latin typeface="Arial" pitchFamily="2" charset="77"/>
              </a:defRPr>
            </a:lvl9pPr>
          </a:lstStyle>
          <a:p>
            <a:r>
              <a:rPr lang="en-US" noProof="0"/>
              <a:t>Our assessment highlights opportunities to strengthen alignment, governance, and prioritization to enable a more scalable and sustainable TO‑BE operating model.</a:t>
            </a:r>
          </a:p>
        </p:txBody>
      </p:sp>
      <p:sp>
        <p:nvSpPr>
          <p:cNvPr id="60" name="Título 2">
            <a:extLst>
              <a:ext uri="{FF2B5EF4-FFF2-40B4-BE49-F238E27FC236}">
                <a16:creationId xmlns:a16="http://schemas.microsoft.com/office/drawing/2014/main" id="{5348CA39-B1FD-3D94-8448-D11D91ED95FD}"/>
              </a:ext>
            </a:extLst>
          </p:cNvPr>
          <p:cNvSpPr txBox="1">
            <a:spLocks/>
          </p:cNvSpPr>
          <p:nvPr/>
        </p:nvSpPr>
        <p:spPr>
          <a:xfrm>
            <a:off x="180918" y="127319"/>
            <a:ext cx="7801032" cy="514011"/>
          </a:xfrm>
          <a:prstGeom prst="rect">
            <a:avLst/>
          </a:prstGeom>
        </p:spPr>
        <p:txBody>
          <a:bodyPr anchor="ctr">
            <a:noAutofit/>
          </a:bodyPr>
          <a:lstStyle>
            <a:defPPr>
              <a:defRPr lang="en-US"/>
            </a:defPPr>
            <a:lvl1pPr marR="0" lvl="0" indent="0" fontAlgn="auto">
              <a:lnSpc>
                <a:spcPct val="90000"/>
              </a:lnSpc>
              <a:spcBef>
                <a:spcPct val="0"/>
              </a:spcBef>
              <a:spcAft>
                <a:spcPts val="0"/>
              </a:spcAft>
              <a:buClrTx/>
              <a:buSzTx/>
              <a:buFontTx/>
              <a:buNone/>
              <a:tabLst/>
              <a:defRPr kumimoji="0" sz="2400" b="1" i="0" u="none" strike="noStrike" cap="none" spc="0" normalizeH="0" baseline="0">
                <a:ln>
                  <a:noFill/>
                </a:ln>
                <a:solidFill>
                  <a:prstClr val="white"/>
                </a:solidFill>
                <a:effectLst/>
                <a:uLnTx/>
                <a:uFillTx/>
                <a:latin typeface="Arial" panose="020B0604020202020204" pitchFamily="34" charset="0"/>
                <a:ea typeface="+mj-ea"/>
                <a:cs typeface="Arial" panose="020B0604020202020204" pitchFamily="34" charset="0"/>
              </a:defRPr>
            </a:lvl1pPr>
          </a:lstStyle>
          <a:p>
            <a:r>
              <a:rPr lang="en-US" noProof="0">
                <a:sym typeface="Gordita"/>
              </a:rPr>
              <a:t>INSIGHTS &amp; KEY DEFINITIONS FOR TO-BE MODEL</a:t>
            </a:r>
          </a:p>
        </p:txBody>
      </p:sp>
      <p:sp>
        <p:nvSpPr>
          <p:cNvPr id="15" name="Arc 125">
            <a:extLst>
              <a:ext uri="{FF2B5EF4-FFF2-40B4-BE49-F238E27FC236}">
                <a16:creationId xmlns:a16="http://schemas.microsoft.com/office/drawing/2014/main" id="{FF6E1AB9-C335-0FB3-716F-CC47F9D2F473}"/>
              </a:ext>
            </a:extLst>
          </p:cNvPr>
          <p:cNvSpPr>
            <a:spLocks noChangeAspect="1"/>
          </p:cNvSpPr>
          <p:nvPr/>
        </p:nvSpPr>
        <p:spPr>
          <a:xfrm>
            <a:off x="3785095" y="2467069"/>
            <a:ext cx="4621810" cy="4621810"/>
          </a:xfrm>
          <a:prstGeom prst="arc">
            <a:avLst>
              <a:gd name="adj1" fmla="val 8113235"/>
              <a:gd name="adj2" fmla="val 2678295"/>
            </a:avLst>
          </a:prstGeom>
          <a:ln w="19050">
            <a:solidFill>
              <a:srgbClr val="A6A6A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a:p>
        </p:txBody>
      </p:sp>
      <p:sp>
        <p:nvSpPr>
          <p:cNvPr id="17" name="TextBox 126">
            <a:extLst>
              <a:ext uri="{FF2B5EF4-FFF2-40B4-BE49-F238E27FC236}">
                <a16:creationId xmlns:a16="http://schemas.microsoft.com/office/drawing/2014/main" id="{1ACC6780-80F8-B810-53E4-72A676E85BEF}"/>
              </a:ext>
            </a:extLst>
          </p:cNvPr>
          <p:cNvSpPr txBox="1"/>
          <p:nvPr/>
        </p:nvSpPr>
        <p:spPr>
          <a:xfrm>
            <a:off x="205380" y="4275104"/>
            <a:ext cx="3209120" cy="2033827"/>
          </a:xfrm>
          <a:prstGeom prst="rect">
            <a:avLst/>
          </a:prstGeom>
          <a:noFill/>
        </p:spPr>
        <p:txBody>
          <a:bodyPr wrap="square" lIns="0" tIns="0" rIns="0" bIns="0" anchor="t">
            <a:spAutoFit/>
          </a:bodyPr>
          <a:lstStyle>
            <a:defPPr>
              <a:defRPr lang="en-US"/>
            </a:defPPr>
            <a:lvl1pPr algn="ctr">
              <a:lnSpc>
                <a:spcPct val="110000"/>
              </a:lnSpc>
              <a:spcBef>
                <a:spcPts val="0"/>
              </a:spcBef>
              <a:spcAft>
                <a:spcPts val="0"/>
              </a:spcAft>
              <a:defRPr sz="1100" b="1" i="0">
                <a:solidFill>
                  <a:srgbClr val="2C3E50"/>
                </a:solidFill>
                <a:latin typeface="Arial" panose="020B0604020202020204" pitchFamily="34" charset="0"/>
                <a:cs typeface="Arial" panose="020B0604020202020204" pitchFamily="34" charset="0"/>
              </a:defRPr>
            </a:lvl1pPr>
          </a:lstStyle>
          <a:p>
            <a:r>
              <a:rPr lang="en-US" noProof="0"/>
              <a:t>CURRENT OPERATING CONSTRAINTS</a:t>
            </a:r>
          </a:p>
          <a:p>
            <a:r>
              <a:rPr lang="en-US" b="0" noProof="0"/>
              <a:t>The current operating model is constrained by fragmented ownership, limited visibility into capacity, and inconsistent execution practices across teams. Decision-making is often not systematically anchored in business value, which reduces alignment and impacts efficiency. Existing tools and governance structures do not provide the level of end-to-end transparency and control required to effectively manage a growing and complex portfolio.</a:t>
            </a:r>
          </a:p>
        </p:txBody>
      </p:sp>
      <p:sp>
        <p:nvSpPr>
          <p:cNvPr id="20" name="Oval 97">
            <a:extLst>
              <a:ext uri="{FF2B5EF4-FFF2-40B4-BE49-F238E27FC236}">
                <a16:creationId xmlns:a16="http://schemas.microsoft.com/office/drawing/2014/main" id="{75954F56-C4D8-CA61-5B92-538ACEE433FF}"/>
              </a:ext>
            </a:extLst>
          </p:cNvPr>
          <p:cNvSpPr>
            <a:spLocks noChangeAspect="1"/>
          </p:cNvSpPr>
          <p:nvPr/>
        </p:nvSpPr>
        <p:spPr>
          <a:xfrm>
            <a:off x="3435144" y="4886093"/>
            <a:ext cx="831273" cy="831273"/>
          </a:xfrm>
          <a:prstGeom prst="ellipse">
            <a:avLst/>
          </a:prstGeom>
          <a:solidFill>
            <a:srgbClr val="FFFFFF"/>
          </a:solidFill>
          <a:ln w="19050">
            <a:solidFill>
              <a:srgbClr val="2C578B"/>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a:p>
        </p:txBody>
      </p:sp>
      <p:sp>
        <p:nvSpPr>
          <p:cNvPr id="21" name="Oval 163">
            <a:extLst>
              <a:ext uri="{FF2B5EF4-FFF2-40B4-BE49-F238E27FC236}">
                <a16:creationId xmlns:a16="http://schemas.microsoft.com/office/drawing/2014/main" id="{CD71E778-ACB3-75BE-A4A5-7FAF73DE0C6C}"/>
              </a:ext>
            </a:extLst>
          </p:cNvPr>
          <p:cNvSpPr>
            <a:spLocks noChangeAspect="1"/>
          </p:cNvSpPr>
          <p:nvPr/>
        </p:nvSpPr>
        <p:spPr>
          <a:xfrm>
            <a:off x="7914009" y="4886093"/>
            <a:ext cx="831273" cy="831273"/>
          </a:xfrm>
          <a:prstGeom prst="ellipse">
            <a:avLst/>
          </a:prstGeom>
          <a:solidFill>
            <a:srgbClr val="FFFFFF"/>
          </a:solidFill>
          <a:ln w="19050">
            <a:solidFill>
              <a:srgbClr val="2C578B"/>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a:p>
        </p:txBody>
      </p:sp>
      <p:sp>
        <p:nvSpPr>
          <p:cNvPr id="26" name="Oval 166">
            <a:extLst>
              <a:ext uri="{FF2B5EF4-FFF2-40B4-BE49-F238E27FC236}">
                <a16:creationId xmlns:a16="http://schemas.microsoft.com/office/drawing/2014/main" id="{68F95201-E741-3B55-7107-5646F3A6F9EC}"/>
              </a:ext>
            </a:extLst>
          </p:cNvPr>
          <p:cNvSpPr>
            <a:spLocks noChangeAspect="1"/>
          </p:cNvSpPr>
          <p:nvPr/>
        </p:nvSpPr>
        <p:spPr>
          <a:xfrm>
            <a:off x="3962473" y="2676805"/>
            <a:ext cx="831273" cy="831273"/>
          </a:xfrm>
          <a:prstGeom prst="ellipse">
            <a:avLst/>
          </a:prstGeom>
          <a:solidFill>
            <a:srgbClr val="FFFFFF"/>
          </a:solidFill>
          <a:ln w="19050">
            <a:solidFill>
              <a:srgbClr val="2C578B"/>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a:p>
        </p:txBody>
      </p:sp>
      <p:sp>
        <p:nvSpPr>
          <p:cNvPr id="28" name="Oval 167">
            <a:extLst>
              <a:ext uri="{FF2B5EF4-FFF2-40B4-BE49-F238E27FC236}">
                <a16:creationId xmlns:a16="http://schemas.microsoft.com/office/drawing/2014/main" id="{CE593CC8-BE6B-7319-2A54-7139EA9D1544}"/>
              </a:ext>
            </a:extLst>
          </p:cNvPr>
          <p:cNvSpPr>
            <a:spLocks noChangeAspect="1"/>
          </p:cNvSpPr>
          <p:nvPr/>
        </p:nvSpPr>
        <p:spPr>
          <a:xfrm>
            <a:off x="7296655" y="2676805"/>
            <a:ext cx="831273" cy="831273"/>
          </a:xfrm>
          <a:prstGeom prst="ellipse">
            <a:avLst/>
          </a:prstGeom>
          <a:solidFill>
            <a:srgbClr val="FFFFFF"/>
          </a:solidFill>
          <a:ln w="19050">
            <a:solidFill>
              <a:srgbClr val="2C578B"/>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a:p>
        </p:txBody>
      </p:sp>
      <p:sp>
        <p:nvSpPr>
          <p:cNvPr id="39" name="TextBox 171">
            <a:extLst>
              <a:ext uri="{FF2B5EF4-FFF2-40B4-BE49-F238E27FC236}">
                <a16:creationId xmlns:a16="http://schemas.microsoft.com/office/drawing/2014/main" id="{13135611-2B86-2AC8-B383-AB8FC4136DB8}"/>
              </a:ext>
            </a:extLst>
          </p:cNvPr>
          <p:cNvSpPr txBox="1"/>
          <p:nvPr/>
        </p:nvSpPr>
        <p:spPr>
          <a:xfrm>
            <a:off x="4446157" y="4655024"/>
            <a:ext cx="3278496" cy="2033827"/>
          </a:xfrm>
          <a:prstGeom prst="rect">
            <a:avLst/>
          </a:prstGeom>
          <a:noFill/>
        </p:spPr>
        <p:txBody>
          <a:bodyPr wrap="square" lIns="0" tIns="0" rIns="0" bIns="0" anchor="t">
            <a:spAutoFit/>
          </a:bodyPr>
          <a:lstStyle>
            <a:defPPr>
              <a:defRPr lang="en-US"/>
            </a:defPPr>
            <a:lvl1pPr>
              <a:lnSpc>
                <a:spcPct val="110000"/>
              </a:lnSpc>
              <a:spcBef>
                <a:spcPts val="0"/>
              </a:spcBef>
              <a:spcAft>
                <a:spcPts val="0"/>
              </a:spcAft>
              <a:defRPr sz="900" b="0" i="0">
                <a:solidFill>
                  <a:srgbClr val="2C3E50"/>
                </a:solidFill>
                <a:latin typeface="Arial" panose="020B0604020202020204" pitchFamily="34" charset="0"/>
                <a:cs typeface="Arial" panose="020B0604020202020204" pitchFamily="34" charset="0"/>
              </a:defRPr>
            </a:lvl1pPr>
          </a:lstStyle>
          <a:p>
            <a:pPr algn="ctr"/>
            <a:r>
              <a:rPr lang="en-US" sz="1100" b="1" noProof="0"/>
              <a:t>To-Be Guiding Principles</a:t>
            </a:r>
          </a:p>
          <a:p>
            <a:pPr algn="ctr"/>
            <a:r>
              <a:rPr lang="en-US" sz="1100" noProof="0"/>
              <a:t>At the core of the transformation is a shift toward a product-centric operating model, where decision-making, prioritization, and execution are consistently aligned to business value. This model enables an integrated view across the full product lifecycle, replacing fragmented project-based delivery with a more scalable, transparent, and accountable approach. By embedding these principles, the organization can better manage demand, optimize capacity, and drive measurable outcomes.</a:t>
            </a:r>
          </a:p>
        </p:txBody>
      </p:sp>
      <p:sp>
        <p:nvSpPr>
          <p:cNvPr id="43" name="TextBox 173">
            <a:extLst>
              <a:ext uri="{FF2B5EF4-FFF2-40B4-BE49-F238E27FC236}">
                <a16:creationId xmlns:a16="http://schemas.microsoft.com/office/drawing/2014/main" id="{25475A69-DB0D-12A3-3D26-2B07D14B71C1}"/>
              </a:ext>
            </a:extLst>
          </p:cNvPr>
          <p:cNvSpPr txBox="1"/>
          <p:nvPr/>
        </p:nvSpPr>
        <p:spPr>
          <a:xfrm>
            <a:off x="8715230" y="1729493"/>
            <a:ext cx="3209120" cy="1847622"/>
          </a:xfrm>
          <a:prstGeom prst="rect">
            <a:avLst/>
          </a:prstGeom>
          <a:noFill/>
        </p:spPr>
        <p:txBody>
          <a:bodyPr wrap="square" lIns="0" tIns="0" rIns="0" bIns="0" anchor="t">
            <a:spAutoFit/>
          </a:bodyPr>
          <a:lstStyle>
            <a:defPPr>
              <a:defRPr lang="en-US"/>
            </a:defPPr>
            <a:lvl1pPr algn="ctr">
              <a:lnSpc>
                <a:spcPct val="110000"/>
              </a:lnSpc>
              <a:spcBef>
                <a:spcPts val="0"/>
              </a:spcBef>
              <a:spcAft>
                <a:spcPts val="0"/>
              </a:spcAft>
              <a:defRPr sz="1100" b="1" i="0">
                <a:solidFill>
                  <a:srgbClr val="2C3E50"/>
                </a:solidFill>
                <a:latin typeface="Arial" panose="020B0604020202020204" pitchFamily="34" charset="0"/>
                <a:cs typeface="Arial" panose="020B0604020202020204" pitchFamily="34" charset="0"/>
              </a:defRPr>
            </a:lvl1pPr>
          </a:lstStyle>
          <a:p>
            <a:pPr algn="r"/>
            <a:r>
              <a:rPr lang="en-US" noProof="0"/>
              <a:t>SYSTEMIC GAPS</a:t>
            </a:r>
          </a:p>
          <a:p>
            <a:pPr algn="r"/>
            <a:r>
              <a:rPr lang="en-US" b="0" noProof="0"/>
              <a:t>Several foundational elements required for scale are not yet in place. There is no unified prioritization framework or common taxonomy to consistently evaluate and compare initiatives across the organization. Vendor governance has an opportunity to be clearly defined and enforced. Together, these gaps create barriers to standardization and hinder the evolution toward a more mature, product-oriented model.</a:t>
            </a:r>
          </a:p>
        </p:txBody>
      </p:sp>
      <p:sp>
        <p:nvSpPr>
          <p:cNvPr id="45" name="TextBox 175">
            <a:extLst>
              <a:ext uri="{FF2B5EF4-FFF2-40B4-BE49-F238E27FC236}">
                <a16:creationId xmlns:a16="http://schemas.microsoft.com/office/drawing/2014/main" id="{DD62C29A-3244-299C-5BB4-14DB7955C668}"/>
              </a:ext>
            </a:extLst>
          </p:cNvPr>
          <p:cNvSpPr txBox="1"/>
          <p:nvPr/>
        </p:nvSpPr>
        <p:spPr>
          <a:xfrm>
            <a:off x="8715230" y="4275104"/>
            <a:ext cx="3209120" cy="1847622"/>
          </a:xfrm>
          <a:prstGeom prst="rect">
            <a:avLst/>
          </a:prstGeom>
          <a:noFill/>
        </p:spPr>
        <p:txBody>
          <a:bodyPr wrap="square" lIns="0" tIns="0" rIns="0" bIns="0" anchor="t">
            <a:spAutoFit/>
          </a:bodyPr>
          <a:lstStyle>
            <a:defPPr>
              <a:defRPr lang="en-US"/>
            </a:defPPr>
            <a:lvl1pPr algn="ctr">
              <a:lnSpc>
                <a:spcPct val="110000"/>
              </a:lnSpc>
              <a:spcBef>
                <a:spcPts val="0"/>
              </a:spcBef>
              <a:spcAft>
                <a:spcPts val="0"/>
              </a:spcAft>
              <a:defRPr sz="1100" b="1" i="0">
                <a:solidFill>
                  <a:srgbClr val="2C3E50"/>
                </a:solidFill>
                <a:latin typeface="Arial" panose="020B0604020202020204" pitchFamily="34" charset="0"/>
                <a:cs typeface="Arial" panose="020B0604020202020204" pitchFamily="34" charset="0"/>
              </a:defRPr>
            </a:lvl1pPr>
          </a:lstStyle>
          <a:p>
            <a:pPr algn="r"/>
            <a:r>
              <a:rPr lang="en-US" noProof="0"/>
              <a:t>Delivery &amp; Experience Pain Points</a:t>
            </a:r>
          </a:p>
          <a:p>
            <a:pPr algn="r"/>
            <a:r>
              <a:rPr lang="en-US" b="0" noProof="0"/>
              <a:t>From an execution perspective, demand intake and delivery processes remain fragmented, leading to inefficiencies, duplication of effort, and reduced visibility across the portfolio. Coordination challenges across teams, business units, and vendors further impact delivery consistency. At the same time, capacity constraints and leadership gaps introduce additional complexity, affecting predictability and overall service experience.</a:t>
            </a:r>
          </a:p>
        </p:txBody>
      </p:sp>
      <p:sp>
        <p:nvSpPr>
          <p:cNvPr id="7" name="Oval 167">
            <a:extLst>
              <a:ext uri="{FF2B5EF4-FFF2-40B4-BE49-F238E27FC236}">
                <a16:creationId xmlns:a16="http://schemas.microsoft.com/office/drawing/2014/main" id="{F97BD115-6044-3CD3-2E1C-C105819C8E6E}"/>
              </a:ext>
            </a:extLst>
          </p:cNvPr>
          <p:cNvSpPr>
            <a:spLocks noChangeAspect="1"/>
          </p:cNvSpPr>
          <p:nvPr/>
        </p:nvSpPr>
        <p:spPr>
          <a:xfrm>
            <a:off x="5487467" y="3401004"/>
            <a:ext cx="1217066" cy="1217066"/>
          </a:xfrm>
          <a:prstGeom prst="ellipse">
            <a:avLst/>
          </a:prstGeom>
          <a:solidFill>
            <a:srgbClr val="FFFFFF"/>
          </a:solidFill>
          <a:ln w="19050">
            <a:solidFill>
              <a:srgbClr val="2C578B"/>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a:p>
        </p:txBody>
      </p:sp>
      <p:sp>
        <p:nvSpPr>
          <p:cNvPr id="8" name="Rectangle 96">
            <a:extLst>
              <a:ext uri="{FF2B5EF4-FFF2-40B4-BE49-F238E27FC236}">
                <a16:creationId xmlns:a16="http://schemas.microsoft.com/office/drawing/2014/main" id="{1ABEF6F3-2222-DB43-32FB-49EEB4F30F2A}"/>
              </a:ext>
            </a:extLst>
          </p:cNvPr>
          <p:cNvSpPr/>
          <p:nvPr/>
        </p:nvSpPr>
        <p:spPr>
          <a:xfrm>
            <a:off x="793279" y="2121333"/>
            <a:ext cx="2377440" cy="1899306"/>
          </a:xfrm>
          <a:prstGeom prst="rect">
            <a:avLst/>
          </a:prstGeom>
          <a:solidFill>
            <a:srgbClr val="FFFFFF"/>
          </a:solidFill>
          <a:ln w="1905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 name="TextBox 174">
            <a:extLst>
              <a:ext uri="{FF2B5EF4-FFF2-40B4-BE49-F238E27FC236}">
                <a16:creationId xmlns:a16="http://schemas.microsoft.com/office/drawing/2014/main" id="{7309253B-76A2-1BA2-647C-ABFE1AC474EE}"/>
              </a:ext>
            </a:extLst>
          </p:cNvPr>
          <p:cNvSpPr txBox="1"/>
          <p:nvPr/>
        </p:nvSpPr>
        <p:spPr>
          <a:xfrm>
            <a:off x="205380" y="1729493"/>
            <a:ext cx="3543698" cy="1183401"/>
          </a:xfrm>
          <a:prstGeom prst="rect">
            <a:avLst/>
          </a:prstGeom>
          <a:noFill/>
        </p:spPr>
        <p:txBody>
          <a:bodyPr wrap="square" lIns="0" tIns="0" rIns="0" bIns="0" anchor="t">
            <a:spAutoFit/>
          </a:bodyPr>
          <a:lstStyle>
            <a:defPPr>
              <a:defRPr lang="en-US"/>
            </a:defPPr>
            <a:lvl1pPr algn="ctr">
              <a:lnSpc>
                <a:spcPct val="110000"/>
              </a:lnSpc>
              <a:spcBef>
                <a:spcPts val="0"/>
              </a:spcBef>
              <a:spcAft>
                <a:spcPts val="0"/>
              </a:spcAft>
              <a:defRPr sz="900" b="1" i="0">
                <a:solidFill>
                  <a:srgbClr val="2C3E50"/>
                </a:solidFill>
                <a:latin typeface="Arial" panose="020B0604020202020204" pitchFamily="34" charset="0"/>
                <a:cs typeface="Arial" panose="020B0604020202020204" pitchFamily="34" charset="0"/>
              </a:defRPr>
            </a:lvl1pPr>
          </a:lstStyle>
          <a:p>
            <a:r>
              <a:rPr lang="en-US" sz="1100" noProof="0"/>
              <a:t>STRUCTURAL MISALIGNMENT</a:t>
            </a:r>
          </a:p>
          <a:p>
            <a:pPr algn="l"/>
            <a:r>
              <a:rPr lang="en-US" b="0" noProof="0"/>
              <a:t>The current structure does not fully enable an end‑to‑end, product‑aligned operating model. Fragmented intake, governance, and tooling reinforce siloed execution, limiting holistic product management and sustained value delivery.</a:t>
            </a:r>
          </a:p>
          <a:p>
            <a:pPr algn="l"/>
            <a:r>
              <a:rPr lang="en-US" sz="1200" b="0" noProof="0" err="1">
                <a:latin typeface="Arial" panose="020B0604020202020204" pitchFamily="34" charset="0"/>
                <a:cs typeface="Arial" panose="020B0604020202020204" pitchFamily="34" charset="0"/>
              </a:rPr>
              <a:t>XXXx</a:t>
            </a:r>
            <a:endParaRPr lang="en-US" sz="1200" b="0" noProof="0">
              <a:latin typeface="Arial" panose="020B0604020202020204" pitchFamily="34" charset="0"/>
              <a:cs typeface="Arial" panose="020B0604020202020204" pitchFamily="34" charset="0"/>
            </a:endParaRPr>
          </a:p>
          <a:p>
            <a:pPr marL="628650" lvl="1" indent="-171450">
              <a:buFont typeface="Arial" panose="020B0604020202020204" pitchFamily="34" charset="0"/>
              <a:buChar char="•"/>
            </a:pPr>
            <a:r>
              <a:rPr lang="en-US" sz="1200" b="0" noProof="0">
                <a:latin typeface="Arial" panose="020B0604020202020204" pitchFamily="34" charset="0"/>
                <a:cs typeface="Arial" panose="020B0604020202020204" pitchFamily="34" charset="0"/>
              </a:rPr>
              <a:t>YYY</a:t>
            </a:r>
          </a:p>
        </p:txBody>
      </p:sp>
    </p:spTree>
    <p:extLst>
      <p:ext uri="{BB962C8B-B14F-4D97-AF65-F5344CB8AC3E}">
        <p14:creationId xmlns:p14="http://schemas.microsoft.com/office/powerpoint/2010/main" val="60085130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05A40D4-FBF3-FC03-81C9-4827F39DD7F9}"/>
            </a:ext>
          </a:extLst>
        </p:cNvPr>
        <p:cNvGrpSpPr/>
        <p:nvPr/>
      </p:nvGrpSpPr>
      <p:grpSpPr>
        <a:xfrm>
          <a:off x="0" y="0"/>
          <a:ext cx="0" cy="0"/>
          <a:chOff x="0" y="0"/>
          <a:chExt cx="0" cy="0"/>
        </a:xfrm>
      </p:grpSpPr>
      <p:sp>
        <p:nvSpPr>
          <p:cNvPr id="16" name="CuadroTexto 15">
            <a:extLst>
              <a:ext uri="{FF2B5EF4-FFF2-40B4-BE49-F238E27FC236}">
                <a16:creationId xmlns:a16="http://schemas.microsoft.com/office/drawing/2014/main" id="{BBEFC7B9-D373-1948-C4F2-B2705890AC2B}"/>
              </a:ext>
            </a:extLst>
          </p:cNvPr>
          <p:cNvSpPr txBox="1"/>
          <p:nvPr/>
        </p:nvSpPr>
        <p:spPr>
          <a:xfrm>
            <a:off x="212709" y="920682"/>
            <a:ext cx="11766582" cy="430887"/>
          </a:xfrm>
          <a:prstGeom prst="rect">
            <a:avLst/>
          </a:prstGeom>
          <a:noFill/>
        </p:spPr>
        <p:txBody>
          <a:bodyPr wrap="square" lIns="0" tIns="0" rIns="0" bIns="0" rtlCol="0">
            <a:noAutofit/>
          </a:bodyPr>
          <a:lstStyle>
            <a:defPPr>
              <a:defRPr lang="en-US"/>
            </a:defPPr>
            <a:lvl1pPr marR="0" lvl="0" indent="0" algn="just" fontAlgn="auto">
              <a:lnSpc>
                <a:spcPct val="100000"/>
              </a:lnSpc>
              <a:spcBef>
                <a:spcPts val="0"/>
              </a:spcBef>
              <a:spcAft>
                <a:spcPts val="0"/>
              </a:spcAft>
              <a:buClrTx/>
              <a:buSzTx/>
              <a:buFontTx/>
              <a:buNone/>
              <a:tabLst/>
              <a:defRPr kumimoji="0" sz="1400" b="1" i="0" u="none" strike="noStrike" cap="none" spc="0" normalizeH="0" baseline="0">
                <a:ln>
                  <a:noFill/>
                </a:ln>
                <a:solidFill>
                  <a:srgbClr val="0F9ED5">
                    <a:lumMod val="75000"/>
                  </a:srgbClr>
                </a:solidFill>
                <a:effectLst/>
                <a:uLnTx/>
                <a:uFillTx/>
                <a:latin typeface="Arial" panose="020B0604020202020204" pitchFamily="34" charset="0"/>
                <a:cs typeface="Arial" panose="020B0604020202020204" pitchFamily="34" charset="0"/>
              </a:defRPr>
            </a:lvl1pPr>
            <a:lvl2pPr marL="228586" eaLnBrk="0" fontAlgn="base" hangingPunct="0">
              <a:spcBef>
                <a:spcPct val="0"/>
              </a:spcBef>
              <a:spcAft>
                <a:spcPct val="0"/>
              </a:spcAft>
              <a:defRPr>
                <a:latin typeface="Arial" pitchFamily="2" charset="77"/>
              </a:defRPr>
            </a:lvl2pPr>
            <a:lvl3pPr marL="457172" eaLnBrk="0" fontAlgn="base" hangingPunct="0">
              <a:spcBef>
                <a:spcPct val="0"/>
              </a:spcBef>
              <a:spcAft>
                <a:spcPct val="0"/>
              </a:spcAft>
              <a:defRPr>
                <a:latin typeface="Arial" pitchFamily="2" charset="77"/>
              </a:defRPr>
            </a:lvl3pPr>
            <a:lvl4pPr marL="685757" eaLnBrk="0" fontAlgn="base" hangingPunct="0">
              <a:spcBef>
                <a:spcPct val="0"/>
              </a:spcBef>
              <a:spcAft>
                <a:spcPct val="0"/>
              </a:spcAft>
              <a:defRPr>
                <a:latin typeface="Arial" pitchFamily="2" charset="77"/>
              </a:defRPr>
            </a:lvl4pPr>
            <a:lvl5pPr marL="914343" eaLnBrk="0" fontAlgn="base" hangingPunct="0">
              <a:spcBef>
                <a:spcPct val="0"/>
              </a:spcBef>
              <a:spcAft>
                <a:spcPct val="0"/>
              </a:spcAft>
              <a:defRPr>
                <a:latin typeface="Arial" pitchFamily="2" charset="77"/>
              </a:defRPr>
            </a:lvl5pPr>
            <a:lvl6pPr marL="1142929" defTabSz="457172">
              <a:defRPr>
                <a:latin typeface="Arial" pitchFamily="2" charset="77"/>
              </a:defRPr>
            </a:lvl6pPr>
            <a:lvl7pPr marL="1371515" defTabSz="457172">
              <a:defRPr>
                <a:latin typeface="Arial" pitchFamily="2" charset="77"/>
              </a:defRPr>
            </a:lvl7pPr>
            <a:lvl8pPr marL="1600100" defTabSz="457172">
              <a:defRPr>
                <a:latin typeface="Arial" pitchFamily="2" charset="77"/>
              </a:defRPr>
            </a:lvl8pPr>
            <a:lvl9pPr marL="1828686" defTabSz="457172">
              <a:defRPr>
                <a:latin typeface="Arial" pitchFamily="2" charset="77"/>
              </a:defRPr>
            </a:lvl9pPr>
          </a:lstStyle>
          <a:p>
            <a:r>
              <a:rPr lang="en-US" noProof="0"/>
              <a:t>Our assessment highlights opportunities to strengthen alignment, governance, and prioritization to enable a more scalable and sustainable TO‑BE operating model.</a:t>
            </a:r>
          </a:p>
        </p:txBody>
      </p:sp>
      <p:sp>
        <p:nvSpPr>
          <p:cNvPr id="60" name="Título 2">
            <a:extLst>
              <a:ext uri="{FF2B5EF4-FFF2-40B4-BE49-F238E27FC236}">
                <a16:creationId xmlns:a16="http://schemas.microsoft.com/office/drawing/2014/main" id="{4C704DC4-C131-DF10-0BC6-78C8CA43454E}"/>
              </a:ext>
            </a:extLst>
          </p:cNvPr>
          <p:cNvSpPr txBox="1">
            <a:spLocks/>
          </p:cNvSpPr>
          <p:nvPr/>
        </p:nvSpPr>
        <p:spPr>
          <a:xfrm>
            <a:off x="180918" y="127319"/>
            <a:ext cx="7801032" cy="514011"/>
          </a:xfrm>
          <a:prstGeom prst="rect">
            <a:avLst/>
          </a:prstGeom>
        </p:spPr>
        <p:txBody>
          <a:bodyPr anchor="ctr">
            <a:noAutofit/>
          </a:bodyPr>
          <a:lstStyle>
            <a:defPPr>
              <a:defRPr lang="en-US"/>
            </a:defPPr>
            <a:lvl1pPr marR="0" lvl="0" indent="0" fontAlgn="auto">
              <a:lnSpc>
                <a:spcPct val="90000"/>
              </a:lnSpc>
              <a:spcBef>
                <a:spcPct val="0"/>
              </a:spcBef>
              <a:spcAft>
                <a:spcPts val="0"/>
              </a:spcAft>
              <a:buClrTx/>
              <a:buSzTx/>
              <a:buFontTx/>
              <a:buNone/>
              <a:tabLst/>
              <a:defRPr kumimoji="0" sz="2400" b="1" i="0" u="none" strike="noStrike" cap="none" spc="0" normalizeH="0" baseline="0">
                <a:ln>
                  <a:noFill/>
                </a:ln>
                <a:solidFill>
                  <a:prstClr val="white"/>
                </a:solidFill>
                <a:effectLst/>
                <a:uLnTx/>
                <a:uFillTx/>
                <a:latin typeface="Arial" panose="020B0604020202020204" pitchFamily="34" charset="0"/>
                <a:ea typeface="+mj-ea"/>
                <a:cs typeface="Arial" panose="020B0604020202020204" pitchFamily="34" charset="0"/>
              </a:defRPr>
            </a:lvl1pPr>
          </a:lstStyle>
          <a:p>
            <a:r>
              <a:rPr lang="en-US" noProof="0">
                <a:sym typeface="Gordita"/>
              </a:rPr>
              <a:t>INSIGHTS &amp; KEY DEFINITIONS FOR TO-BE MODEL</a:t>
            </a:r>
          </a:p>
        </p:txBody>
      </p:sp>
      <p:sp>
        <p:nvSpPr>
          <p:cNvPr id="20" name="Rectangle 22">
            <a:extLst>
              <a:ext uri="{FF2B5EF4-FFF2-40B4-BE49-F238E27FC236}">
                <a16:creationId xmlns:a16="http://schemas.microsoft.com/office/drawing/2014/main" id="{700177DD-93C1-9FAA-5E82-6A8B7BDB6952}"/>
              </a:ext>
            </a:extLst>
          </p:cNvPr>
          <p:cNvSpPr/>
          <p:nvPr/>
        </p:nvSpPr>
        <p:spPr>
          <a:xfrm>
            <a:off x="8277225" y="1572768"/>
            <a:ext cx="3780000" cy="36576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1" name="TextBox 23">
            <a:extLst>
              <a:ext uri="{FF2B5EF4-FFF2-40B4-BE49-F238E27FC236}">
                <a16:creationId xmlns:a16="http://schemas.microsoft.com/office/drawing/2014/main" id="{3BD3C8A5-5FE5-F97A-00EA-0DF2BE9DA42E}"/>
              </a:ext>
            </a:extLst>
          </p:cNvPr>
          <p:cNvSpPr txBox="1"/>
          <p:nvPr/>
        </p:nvSpPr>
        <p:spPr>
          <a:xfrm>
            <a:off x="8460105" y="1666406"/>
            <a:ext cx="3463770" cy="190821"/>
          </a:xfrm>
          <a:prstGeom prst="rect">
            <a:avLst/>
          </a:prstGeom>
          <a:noFill/>
        </p:spPr>
        <p:txBody>
          <a:bodyPr wrap="square" lIns="45720" tIns="18288" rIns="45720" bIns="18288" anchor="ctr">
            <a:spAutoFit/>
          </a:bodyPr>
          <a:lstStyle/>
          <a:p>
            <a:pPr algn="ctr"/>
            <a:r>
              <a:rPr lang="en-US" sz="1000" b="1" i="0" noProof="0">
                <a:solidFill>
                  <a:srgbClr val="FFFFFF"/>
                </a:solidFill>
                <a:latin typeface="Calibri"/>
              </a:rPr>
              <a:t>RESPONSE – TO BE GUIDING THE TARGET OPERATING MODEL</a:t>
            </a:r>
          </a:p>
        </p:txBody>
      </p:sp>
      <p:sp>
        <p:nvSpPr>
          <p:cNvPr id="24" name="Rectangle 13">
            <a:extLst>
              <a:ext uri="{FF2B5EF4-FFF2-40B4-BE49-F238E27FC236}">
                <a16:creationId xmlns:a16="http://schemas.microsoft.com/office/drawing/2014/main" id="{8C9E4C5A-C93A-0662-E944-9A0C7C21FF37}"/>
              </a:ext>
            </a:extLst>
          </p:cNvPr>
          <p:cNvSpPr/>
          <p:nvPr/>
        </p:nvSpPr>
        <p:spPr>
          <a:xfrm>
            <a:off x="279988" y="1572768"/>
            <a:ext cx="3780000" cy="36576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5" name="TextBox 14">
            <a:extLst>
              <a:ext uri="{FF2B5EF4-FFF2-40B4-BE49-F238E27FC236}">
                <a16:creationId xmlns:a16="http://schemas.microsoft.com/office/drawing/2014/main" id="{81FAFDE9-AD5E-5606-6CEA-C7FEF971A695}"/>
              </a:ext>
            </a:extLst>
          </p:cNvPr>
          <p:cNvSpPr txBox="1"/>
          <p:nvPr/>
        </p:nvSpPr>
        <p:spPr>
          <a:xfrm>
            <a:off x="1470612" y="1657588"/>
            <a:ext cx="1360264" cy="190821"/>
          </a:xfrm>
          <a:prstGeom prst="rect">
            <a:avLst/>
          </a:prstGeom>
          <a:noFill/>
        </p:spPr>
        <p:txBody>
          <a:bodyPr wrap="square" lIns="45720" tIns="18288" rIns="45720" bIns="18288" anchor="ctr">
            <a:spAutoFit/>
          </a:bodyPr>
          <a:lstStyle/>
          <a:p>
            <a:pPr algn="ctr"/>
            <a:r>
              <a:rPr lang="en-US" sz="1000" b="1" i="0" noProof="0">
                <a:solidFill>
                  <a:srgbClr val="FFFFFF"/>
                </a:solidFill>
                <a:latin typeface="Calibri"/>
              </a:rPr>
              <a:t>ROOT CAUSES</a:t>
            </a:r>
          </a:p>
        </p:txBody>
      </p:sp>
      <p:sp>
        <p:nvSpPr>
          <p:cNvPr id="26" name="Right Arrow 134">
            <a:extLst>
              <a:ext uri="{FF2B5EF4-FFF2-40B4-BE49-F238E27FC236}">
                <a16:creationId xmlns:a16="http://schemas.microsoft.com/office/drawing/2014/main" id="{BA0B4004-FCDB-F6B9-A1E0-832BD6CAFF68}"/>
              </a:ext>
            </a:extLst>
          </p:cNvPr>
          <p:cNvSpPr/>
          <p:nvPr/>
        </p:nvSpPr>
        <p:spPr>
          <a:xfrm>
            <a:off x="4097020" y="1637122"/>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40" name="Rectangle 13">
            <a:extLst>
              <a:ext uri="{FF2B5EF4-FFF2-40B4-BE49-F238E27FC236}">
                <a16:creationId xmlns:a16="http://schemas.microsoft.com/office/drawing/2014/main" id="{3DA622E9-9BC1-7E79-ECA3-5B0242008532}"/>
              </a:ext>
            </a:extLst>
          </p:cNvPr>
          <p:cNvSpPr/>
          <p:nvPr/>
        </p:nvSpPr>
        <p:spPr>
          <a:xfrm>
            <a:off x="4261438" y="1572768"/>
            <a:ext cx="3780000" cy="36576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43" name="TextBox 14">
            <a:extLst>
              <a:ext uri="{FF2B5EF4-FFF2-40B4-BE49-F238E27FC236}">
                <a16:creationId xmlns:a16="http://schemas.microsoft.com/office/drawing/2014/main" id="{90ABBE93-E516-226F-CB95-E1D03F3A3170}"/>
              </a:ext>
            </a:extLst>
          </p:cNvPr>
          <p:cNvSpPr txBox="1"/>
          <p:nvPr/>
        </p:nvSpPr>
        <p:spPr>
          <a:xfrm>
            <a:off x="5537787" y="1657588"/>
            <a:ext cx="1360264" cy="190821"/>
          </a:xfrm>
          <a:prstGeom prst="rect">
            <a:avLst/>
          </a:prstGeom>
          <a:noFill/>
        </p:spPr>
        <p:txBody>
          <a:bodyPr wrap="square" lIns="45720" tIns="18288" rIns="45720" bIns="18288" anchor="ctr">
            <a:spAutoFit/>
          </a:bodyPr>
          <a:lstStyle/>
          <a:p>
            <a:pPr algn="ctr"/>
            <a:r>
              <a:rPr lang="en-US" sz="1000" b="1" i="0" noProof="0">
                <a:solidFill>
                  <a:srgbClr val="FFFFFF"/>
                </a:solidFill>
                <a:latin typeface="Calibri"/>
              </a:rPr>
              <a:t>IMPACT</a:t>
            </a:r>
          </a:p>
        </p:txBody>
      </p:sp>
      <p:sp>
        <p:nvSpPr>
          <p:cNvPr id="44" name="Right Arrow 134">
            <a:extLst>
              <a:ext uri="{FF2B5EF4-FFF2-40B4-BE49-F238E27FC236}">
                <a16:creationId xmlns:a16="http://schemas.microsoft.com/office/drawing/2014/main" id="{7D220AAA-F575-9073-11C7-D2698A2E3558}"/>
              </a:ext>
            </a:extLst>
          </p:cNvPr>
          <p:cNvSpPr/>
          <p:nvPr/>
        </p:nvSpPr>
        <p:spPr>
          <a:xfrm>
            <a:off x="8078470" y="1637122"/>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45" name="Rectangle 3">
            <a:extLst>
              <a:ext uri="{FF2B5EF4-FFF2-40B4-BE49-F238E27FC236}">
                <a16:creationId xmlns:a16="http://schemas.microsoft.com/office/drawing/2014/main" id="{C36B9844-81B3-FEC8-6D7F-5370BE33D5CD}"/>
              </a:ext>
            </a:extLst>
          </p:cNvPr>
          <p:cNvSpPr/>
          <p:nvPr/>
        </p:nvSpPr>
        <p:spPr>
          <a:xfrm>
            <a:off x="279987" y="1911442"/>
            <a:ext cx="3775859" cy="452745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63" name="Rectangle 3">
            <a:extLst>
              <a:ext uri="{FF2B5EF4-FFF2-40B4-BE49-F238E27FC236}">
                <a16:creationId xmlns:a16="http://schemas.microsoft.com/office/drawing/2014/main" id="{9785D98D-678C-23D6-7001-428E1B0A6F4E}"/>
              </a:ext>
            </a:extLst>
          </p:cNvPr>
          <p:cNvSpPr/>
          <p:nvPr/>
        </p:nvSpPr>
        <p:spPr>
          <a:xfrm>
            <a:off x="4250056" y="1911442"/>
            <a:ext cx="3780000" cy="452745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65" name="Rectangle 3">
            <a:extLst>
              <a:ext uri="{FF2B5EF4-FFF2-40B4-BE49-F238E27FC236}">
                <a16:creationId xmlns:a16="http://schemas.microsoft.com/office/drawing/2014/main" id="{3C53E5F0-BDDF-5742-9456-EB554EBF036E}"/>
              </a:ext>
            </a:extLst>
          </p:cNvPr>
          <p:cNvSpPr/>
          <p:nvPr/>
        </p:nvSpPr>
        <p:spPr>
          <a:xfrm>
            <a:off x="8258709" y="1911442"/>
            <a:ext cx="3780000" cy="452745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67" name="Rectángulo 66">
            <a:extLst>
              <a:ext uri="{FF2B5EF4-FFF2-40B4-BE49-F238E27FC236}">
                <a16:creationId xmlns:a16="http://schemas.microsoft.com/office/drawing/2014/main" id="{1446D18D-9063-C77A-3C19-0C19677A5CE7}"/>
              </a:ext>
            </a:extLst>
          </p:cNvPr>
          <p:cNvSpPr/>
          <p:nvPr/>
        </p:nvSpPr>
        <p:spPr>
          <a:xfrm>
            <a:off x="-558029" y="1983404"/>
            <a:ext cx="3535540" cy="31306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defRPr/>
            </a:pPr>
            <a:r>
              <a:rPr kumimoji="0" lang="en-US" sz="1200" b="1" i="0" u="none" strike="noStrike" kern="1200" cap="none" spc="0" normalizeH="0" baseline="0" noProof="0">
                <a:ln>
                  <a:noFill/>
                </a:ln>
                <a:solidFill>
                  <a:schemeClr val="tx1"/>
                </a:solidFill>
                <a:effectLst/>
                <a:uLnTx/>
                <a:uFillTx/>
                <a:latin typeface="Arial" panose="020B0604020202020204" pitchFamily="34" charset="0"/>
                <a:cs typeface="Arial" panose="020B0604020202020204" pitchFamily="34" charset="0"/>
              </a:rPr>
              <a:t> </a:t>
            </a:r>
            <a:r>
              <a:rPr lang="en-US" sz="1200" b="1" noProof="0">
                <a:solidFill>
                  <a:schemeClr val="tx1"/>
                </a:solidFill>
                <a:latin typeface="Arial" panose="020B0604020202020204" pitchFamily="34" charset="0"/>
                <a:cs typeface="Arial" panose="020B0604020202020204" pitchFamily="34" charset="0"/>
              </a:rPr>
              <a:t>4</a:t>
            </a:r>
            <a:r>
              <a:rPr lang="en-US" sz="1200" noProof="0">
                <a:solidFill>
                  <a:schemeClr val="tx1"/>
                </a:solidFill>
                <a:latin typeface="Arial" panose="020B0604020202020204" pitchFamily="34" charset="0"/>
                <a:cs typeface="Arial" panose="020B0604020202020204" pitchFamily="34" charset="0"/>
              </a:rPr>
              <a:t> </a:t>
            </a:r>
            <a:r>
              <a:rPr lang="en-US" sz="1200" noProof="0">
                <a:solidFill>
                  <a:schemeClr val="tx1"/>
                </a:solidFill>
              </a:rPr>
              <a:t>CURRENT OPERATING CONSTRAINTS</a:t>
            </a:r>
          </a:p>
          <a:p>
            <a:pPr algn="r">
              <a:defRPr/>
            </a:pPr>
            <a:endParaRPr lang="en-US" sz="1200" noProof="0">
              <a:solidFill>
                <a:schemeClr val="tx1"/>
              </a:solidFill>
              <a:latin typeface="Arial" panose="020B0604020202020204" pitchFamily="34" charset="0"/>
              <a:cs typeface="Arial" panose="020B0604020202020204" pitchFamily="34" charset="0"/>
            </a:endParaRPr>
          </a:p>
        </p:txBody>
      </p:sp>
      <p:sp>
        <p:nvSpPr>
          <p:cNvPr id="68" name="Rectángulo 67">
            <a:extLst>
              <a:ext uri="{FF2B5EF4-FFF2-40B4-BE49-F238E27FC236}">
                <a16:creationId xmlns:a16="http://schemas.microsoft.com/office/drawing/2014/main" id="{AE4E8BB5-9C39-5061-9A38-02000B4CD2DE}"/>
              </a:ext>
            </a:extLst>
          </p:cNvPr>
          <p:cNvSpPr/>
          <p:nvPr/>
        </p:nvSpPr>
        <p:spPr>
          <a:xfrm>
            <a:off x="268605" y="2277202"/>
            <a:ext cx="3780000" cy="104900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lvl="0">
              <a:defRPr/>
            </a:pPr>
            <a:r>
              <a:rPr lang="en-US" sz="1000" b="1" noProof="0">
                <a:solidFill>
                  <a:srgbClr val="505050"/>
                </a:solidFill>
                <a:latin typeface="Arial" panose="020B0604020202020204" pitchFamily="34" charset="0"/>
                <a:cs typeface="Arial" panose="020B0604020202020204" pitchFamily="34" charset="0"/>
              </a:rPr>
              <a:t>1.Pople:</a:t>
            </a:r>
            <a:r>
              <a:rPr lang="en-US" sz="1000" noProof="0">
                <a:solidFill>
                  <a:srgbClr val="505050"/>
                </a:solidFill>
                <a:latin typeface="Arial" panose="020B0604020202020204" pitchFamily="34" charset="0"/>
                <a:cs typeface="Arial" panose="020B0604020202020204" pitchFamily="34" charset="0"/>
              </a:rPr>
              <a:t> Capacity &amp; accountability are structurally constrained</a:t>
            </a:r>
          </a:p>
          <a:p>
            <a:pPr lvl="0">
              <a:defRPr/>
            </a:pPr>
            <a:r>
              <a:rPr lang="en-US" sz="1000" b="1" noProof="0">
                <a:solidFill>
                  <a:srgbClr val="505050"/>
                </a:solidFill>
                <a:latin typeface="Arial" panose="020B0604020202020204" pitchFamily="34" charset="0"/>
                <a:cs typeface="Arial" panose="020B0604020202020204" pitchFamily="34" charset="0"/>
              </a:rPr>
              <a:t>2.Process: </a:t>
            </a:r>
            <a:r>
              <a:rPr lang="en-US" sz="1000" noProof="0">
                <a:solidFill>
                  <a:srgbClr val="505050"/>
                </a:solidFill>
                <a:latin typeface="Arial" panose="020B0604020202020204" pitchFamily="34" charset="0"/>
                <a:cs typeface="Arial" panose="020B0604020202020204" pitchFamily="34" charset="0"/>
              </a:rPr>
              <a:t>Lack of standardization drives inconsistency</a:t>
            </a:r>
          </a:p>
          <a:p>
            <a:pPr lvl="0">
              <a:defRPr/>
            </a:pPr>
            <a:r>
              <a:rPr lang="en-US" sz="1000" b="1" noProof="0">
                <a:solidFill>
                  <a:srgbClr val="505050"/>
                </a:solidFill>
                <a:latin typeface="Arial" panose="020B0604020202020204" pitchFamily="34" charset="0"/>
                <a:cs typeface="Arial" panose="020B0604020202020204" pitchFamily="34" charset="0"/>
              </a:rPr>
              <a:t>3.Tools:</a:t>
            </a:r>
            <a:r>
              <a:rPr lang="en-US" sz="1000" noProof="0">
                <a:solidFill>
                  <a:srgbClr val="505050"/>
                </a:solidFill>
                <a:latin typeface="Arial" panose="020B0604020202020204" pitchFamily="34" charset="0"/>
                <a:cs typeface="Arial" panose="020B0604020202020204" pitchFamily="34" charset="0"/>
              </a:rPr>
              <a:t> Fragmented ecosystem limits visibility and control</a:t>
            </a:r>
          </a:p>
          <a:p>
            <a:pPr lvl="0">
              <a:defRPr/>
            </a:pPr>
            <a:r>
              <a:rPr lang="en-US" sz="1000" b="1" noProof="0">
                <a:solidFill>
                  <a:srgbClr val="505050"/>
                </a:solidFill>
                <a:latin typeface="Arial" panose="020B0604020202020204" pitchFamily="34" charset="0"/>
                <a:cs typeface="Arial" panose="020B0604020202020204" pitchFamily="34" charset="0"/>
              </a:rPr>
              <a:t>4.Governance: </a:t>
            </a:r>
            <a:r>
              <a:rPr lang="en-US" sz="1000" noProof="0">
                <a:solidFill>
                  <a:srgbClr val="505050"/>
                </a:solidFill>
                <a:latin typeface="Arial" panose="020B0604020202020204" pitchFamily="34" charset="0"/>
                <a:cs typeface="Arial" panose="020B0604020202020204" pitchFamily="34" charset="0"/>
              </a:rPr>
              <a:t>Decision-making is fragmented</a:t>
            </a:r>
          </a:p>
        </p:txBody>
      </p:sp>
      <p:sp>
        <p:nvSpPr>
          <p:cNvPr id="69" name="Rectángulo 68">
            <a:extLst>
              <a:ext uri="{FF2B5EF4-FFF2-40B4-BE49-F238E27FC236}">
                <a16:creationId xmlns:a16="http://schemas.microsoft.com/office/drawing/2014/main" id="{BD6ED4C5-DD54-7CCF-2245-E84D69013E7A}"/>
              </a:ext>
            </a:extLst>
          </p:cNvPr>
          <p:cNvSpPr/>
          <p:nvPr/>
        </p:nvSpPr>
        <p:spPr>
          <a:xfrm>
            <a:off x="336263" y="4887982"/>
            <a:ext cx="2921288" cy="131595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lvl="0">
              <a:defRPr/>
            </a:pPr>
            <a:r>
              <a:rPr lang="en-US" sz="1000" noProof="0">
                <a:solidFill>
                  <a:srgbClr val="505050"/>
                </a:solidFill>
                <a:latin typeface="Arial" panose="020B0604020202020204" pitchFamily="34" charset="0"/>
                <a:cs typeface="Arial" panose="020B0604020202020204" pitchFamily="34" charset="0"/>
              </a:rPr>
              <a:t>1.</a:t>
            </a:r>
            <a:r>
              <a:rPr lang="en-US" sz="1000" b="1" noProof="0">
                <a:solidFill>
                  <a:srgbClr val="505050"/>
                </a:solidFill>
                <a:latin typeface="Arial" panose="020B0604020202020204" pitchFamily="34" charset="0"/>
                <a:cs typeface="Arial" panose="020B0604020202020204" pitchFamily="34" charset="0"/>
              </a:rPr>
              <a:t>Intake</a:t>
            </a:r>
            <a:r>
              <a:rPr lang="en-US" sz="1000" noProof="0">
                <a:solidFill>
                  <a:srgbClr val="505050"/>
                </a:solidFill>
                <a:latin typeface="Arial" panose="020B0604020202020204" pitchFamily="34" charset="0"/>
                <a:cs typeface="Arial" panose="020B0604020202020204" pitchFamily="34" charset="0"/>
              </a:rPr>
              <a:t> Fragmentation</a:t>
            </a:r>
          </a:p>
          <a:p>
            <a:pPr lvl="0">
              <a:defRPr/>
            </a:pPr>
            <a:r>
              <a:rPr lang="en-US" sz="1000" noProof="0">
                <a:solidFill>
                  <a:srgbClr val="505050"/>
                </a:solidFill>
                <a:latin typeface="Arial" panose="020B0604020202020204" pitchFamily="34" charset="0"/>
                <a:cs typeface="Arial" panose="020B0604020202020204" pitchFamily="34" charset="0"/>
              </a:rPr>
              <a:t>2.No Shared </a:t>
            </a:r>
            <a:r>
              <a:rPr lang="en-US" sz="1000" b="1" noProof="0">
                <a:solidFill>
                  <a:srgbClr val="505050"/>
                </a:solidFill>
                <a:latin typeface="Arial" panose="020B0604020202020204" pitchFamily="34" charset="0"/>
                <a:cs typeface="Arial" panose="020B0604020202020204" pitchFamily="34" charset="0"/>
              </a:rPr>
              <a:t>Prioritization Model</a:t>
            </a:r>
          </a:p>
          <a:p>
            <a:pPr lvl="0">
              <a:defRPr/>
            </a:pPr>
            <a:r>
              <a:rPr lang="en-US" sz="1000" noProof="0">
                <a:solidFill>
                  <a:srgbClr val="505050"/>
                </a:solidFill>
                <a:latin typeface="Arial" panose="020B0604020202020204" pitchFamily="34" charset="0"/>
                <a:cs typeface="Arial" panose="020B0604020202020204" pitchFamily="34" charset="0"/>
              </a:rPr>
              <a:t>3.</a:t>
            </a:r>
            <a:r>
              <a:rPr lang="en-US" sz="1000" b="1" noProof="0">
                <a:solidFill>
                  <a:srgbClr val="505050"/>
                </a:solidFill>
                <a:latin typeface="Arial" panose="020B0604020202020204" pitchFamily="34" charset="0"/>
                <a:cs typeface="Arial" panose="020B0604020202020204" pitchFamily="34" charset="0"/>
              </a:rPr>
              <a:t>Portfolio Tooling </a:t>
            </a:r>
            <a:r>
              <a:rPr lang="en-US" sz="1000" noProof="0">
                <a:solidFill>
                  <a:srgbClr val="505050"/>
                </a:solidFill>
                <a:latin typeface="Arial" panose="020B0604020202020204" pitchFamily="34" charset="0"/>
                <a:cs typeface="Arial" panose="020B0604020202020204" pitchFamily="34" charset="0"/>
              </a:rPr>
              <a:t>Vacuum</a:t>
            </a:r>
          </a:p>
          <a:p>
            <a:pPr lvl="0">
              <a:defRPr/>
            </a:pPr>
            <a:r>
              <a:rPr lang="en-US" sz="1000" noProof="0">
                <a:solidFill>
                  <a:srgbClr val="505050"/>
                </a:solidFill>
                <a:latin typeface="Arial" panose="020B0604020202020204" pitchFamily="34" charset="0"/>
                <a:cs typeface="Arial" panose="020B0604020202020204" pitchFamily="34" charset="0"/>
              </a:rPr>
              <a:t>4.</a:t>
            </a:r>
            <a:r>
              <a:rPr lang="en-US" sz="1000" b="1" noProof="0">
                <a:solidFill>
                  <a:srgbClr val="505050"/>
                </a:solidFill>
                <a:latin typeface="Arial" panose="020B0604020202020204" pitchFamily="34" charset="0"/>
                <a:cs typeface="Arial" panose="020B0604020202020204" pitchFamily="34" charset="0"/>
              </a:rPr>
              <a:t>Vendor Governance </a:t>
            </a:r>
            <a:r>
              <a:rPr lang="en-US" sz="1000" noProof="0">
                <a:solidFill>
                  <a:srgbClr val="505050"/>
                </a:solidFill>
                <a:latin typeface="Arial" panose="020B0604020202020204" pitchFamily="34" charset="0"/>
                <a:cs typeface="Arial" panose="020B0604020202020204" pitchFamily="34" charset="0"/>
              </a:rPr>
              <a:t>Gap</a:t>
            </a:r>
          </a:p>
          <a:p>
            <a:pPr lvl="0">
              <a:defRPr/>
            </a:pPr>
            <a:r>
              <a:rPr lang="en-US" sz="1000" noProof="0">
                <a:solidFill>
                  <a:srgbClr val="505050"/>
                </a:solidFill>
                <a:latin typeface="Arial" panose="020B0604020202020204" pitchFamily="34" charset="0"/>
                <a:cs typeface="Arial" panose="020B0604020202020204" pitchFamily="34" charset="0"/>
              </a:rPr>
              <a:t>5.</a:t>
            </a:r>
            <a:r>
              <a:rPr lang="en-US" sz="1000" b="1" noProof="0">
                <a:solidFill>
                  <a:srgbClr val="505050"/>
                </a:solidFill>
                <a:latin typeface="Arial" panose="020B0604020202020204" pitchFamily="34" charset="0"/>
                <a:cs typeface="Arial" panose="020B0604020202020204" pitchFamily="34" charset="0"/>
              </a:rPr>
              <a:t>Governance Forum</a:t>
            </a:r>
            <a:r>
              <a:rPr lang="en-US" sz="1000" noProof="0">
                <a:solidFill>
                  <a:srgbClr val="505050"/>
                </a:solidFill>
                <a:latin typeface="Arial" panose="020B0604020202020204" pitchFamily="34" charset="0"/>
                <a:cs typeface="Arial" panose="020B0604020202020204" pitchFamily="34" charset="0"/>
              </a:rPr>
              <a:t> Coverage</a:t>
            </a:r>
          </a:p>
          <a:p>
            <a:pPr lvl="0">
              <a:defRPr/>
            </a:pPr>
            <a:r>
              <a:rPr lang="en-US" sz="1000" noProof="0">
                <a:solidFill>
                  <a:srgbClr val="505050"/>
                </a:solidFill>
                <a:latin typeface="Arial" panose="020B0604020202020204" pitchFamily="34" charset="0"/>
                <a:cs typeface="Arial" panose="020B0604020202020204" pitchFamily="34" charset="0"/>
              </a:rPr>
              <a:t>6.</a:t>
            </a:r>
            <a:r>
              <a:rPr lang="en-US" sz="1000" b="1" noProof="0">
                <a:solidFill>
                  <a:srgbClr val="505050"/>
                </a:solidFill>
                <a:latin typeface="Arial" panose="020B0604020202020204" pitchFamily="34" charset="0"/>
                <a:cs typeface="Arial" panose="020B0604020202020204" pitchFamily="34" charset="0"/>
              </a:rPr>
              <a:t>Taxonomy &amp; Thresholds </a:t>
            </a:r>
            <a:r>
              <a:rPr lang="en-US" sz="1000" noProof="0">
                <a:solidFill>
                  <a:srgbClr val="505050"/>
                </a:solidFill>
                <a:latin typeface="Arial" panose="020B0604020202020204" pitchFamily="34" charset="0"/>
                <a:cs typeface="Arial" panose="020B0604020202020204" pitchFamily="34" charset="0"/>
              </a:rPr>
              <a:t>Undefined</a:t>
            </a:r>
          </a:p>
          <a:p>
            <a:pPr lvl="0">
              <a:defRPr/>
            </a:pPr>
            <a:r>
              <a:rPr lang="en-US" sz="1000" noProof="0">
                <a:solidFill>
                  <a:srgbClr val="505050"/>
                </a:solidFill>
                <a:latin typeface="Arial" panose="020B0604020202020204" pitchFamily="34" charset="0"/>
                <a:cs typeface="Arial" panose="020B0604020202020204" pitchFamily="34" charset="0"/>
              </a:rPr>
              <a:t>7.</a:t>
            </a:r>
            <a:r>
              <a:rPr lang="en-US" sz="1000" b="1" noProof="0">
                <a:solidFill>
                  <a:srgbClr val="505050"/>
                </a:solidFill>
                <a:latin typeface="Arial" panose="020B0604020202020204" pitchFamily="34" charset="0"/>
                <a:cs typeface="Arial" panose="020B0604020202020204" pitchFamily="34" charset="0"/>
              </a:rPr>
              <a:t>Project vs Product </a:t>
            </a:r>
            <a:r>
              <a:rPr lang="en-US" sz="1000" noProof="0">
                <a:solidFill>
                  <a:srgbClr val="505050"/>
                </a:solidFill>
                <a:latin typeface="Arial" panose="020B0604020202020204" pitchFamily="34" charset="0"/>
                <a:cs typeface="Arial" panose="020B0604020202020204" pitchFamily="34" charset="0"/>
              </a:rPr>
              <a:t>Lens Missing</a:t>
            </a:r>
            <a:endParaRPr kumimoji="0" lang="en-US" sz="1000" b="0" i="0" u="none" strike="noStrike" kern="1200" cap="none" spc="0" normalizeH="0" baseline="0" noProof="0">
              <a:ln>
                <a:noFill/>
              </a:ln>
              <a:solidFill>
                <a:srgbClr val="505050"/>
              </a:solidFill>
              <a:effectLst/>
              <a:uLnTx/>
              <a:uFillTx/>
              <a:latin typeface="Arial" panose="020B0604020202020204" pitchFamily="34" charset="0"/>
              <a:cs typeface="Arial" panose="020B0604020202020204" pitchFamily="34" charset="0"/>
            </a:endParaRPr>
          </a:p>
        </p:txBody>
      </p:sp>
      <p:sp>
        <p:nvSpPr>
          <p:cNvPr id="70" name="Rectángulo 69">
            <a:extLst>
              <a:ext uri="{FF2B5EF4-FFF2-40B4-BE49-F238E27FC236}">
                <a16:creationId xmlns:a16="http://schemas.microsoft.com/office/drawing/2014/main" id="{DDF97BCF-C898-14EE-9F70-A68FA20CB0F7}"/>
              </a:ext>
            </a:extLst>
          </p:cNvPr>
          <p:cNvSpPr/>
          <p:nvPr/>
        </p:nvSpPr>
        <p:spPr>
          <a:xfrm>
            <a:off x="288987" y="3641915"/>
            <a:ext cx="3535541" cy="96185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000" noProof="0">
                <a:solidFill>
                  <a:srgbClr val="505050"/>
                </a:solidFill>
                <a:latin typeface="Arial" panose="020B0604020202020204" pitchFamily="34" charset="0"/>
                <a:cs typeface="Arial" panose="020B0604020202020204" pitchFamily="34" charset="0"/>
              </a:rPr>
              <a:t>1.</a:t>
            </a:r>
            <a:r>
              <a:rPr lang="en-US" sz="1000" b="1" noProof="0">
                <a:solidFill>
                  <a:srgbClr val="505050"/>
                </a:solidFill>
                <a:latin typeface="Arial" panose="020B0604020202020204" pitchFamily="34" charset="0"/>
                <a:cs typeface="Arial" panose="020B0604020202020204" pitchFamily="34" charset="0"/>
              </a:rPr>
              <a:t>Prioritization</a:t>
            </a:r>
            <a:r>
              <a:rPr lang="en-US" sz="1000" noProof="0">
                <a:solidFill>
                  <a:srgbClr val="505050"/>
                </a:solidFill>
                <a:latin typeface="Arial" panose="020B0604020202020204" pitchFamily="34" charset="0"/>
                <a:cs typeface="Arial" panose="020B0604020202020204" pitchFamily="34" charset="0"/>
              </a:rPr>
              <a:t> has no shared model</a:t>
            </a:r>
          </a:p>
          <a:p>
            <a:r>
              <a:rPr lang="en-US" sz="1000" noProof="0">
                <a:solidFill>
                  <a:srgbClr val="505050"/>
                </a:solidFill>
                <a:latin typeface="Arial" panose="020B0604020202020204" pitchFamily="34" charset="0"/>
                <a:cs typeface="Arial" panose="020B0604020202020204" pitchFamily="34" charset="0"/>
              </a:rPr>
              <a:t>2.</a:t>
            </a:r>
            <a:r>
              <a:rPr lang="en-US" sz="1000" b="1" noProof="0">
                <a:solidFill>
                  <a:srgbClr val="505050"/>
                </a:solidFill>
                <a:latin typeface="Arial" panose="020B0604020202020204" pitchFamily="34" charset="0"/>
                <a:cs typeface="Arial" panose="020B0604020202020204" pitchFamily="34" charset="0"/>
              </a:rPr>
              <a:t>Taxonomy</a:t>
            </a:r>
            <a:r>
              <a:rPr lang="en-US" sz="1000" noProof="0">
                <a:solidFill>
                  <a:srgbClr val="505050"/>
                </a:solidFill>
                <a:latin typeface="Arial" panose="020B0604020202020204" pitchFamily="34" charset="0"/>
                <a:cs typeface="Arial" panose="020B0604020202020204" pitchFamily="34" charset="0"/>
              </a:rPr>
              <a:t> is undefined</a:t>
            </a:r>
          </a:p>
          <a:p>
            <a:r>
              <a:rPr lang="en-US" sz="1000" noProof="0">
                <a:solidFill>
                  <a:srgbClr val="505050"/>
                </a:solidFill>
                <a:latin typeface="Arial" panose="020B0604020202020204" pitchFamily="34" charset="0"/>
                <a:cs typeface="Arial" panose="020B0604020202020204" pitchFamily="34" charset="0"/>
              </a:rPr>
              <a:t>3.</a:t>
            </a:r>
            <a:r>
              <a:rPr lang="en-US" sz="1000" b="1" noProof="0">
                <a:solidFill>
                  <a:srgbClr val="505050"/>
                </a:solidFill>
                <a:latin typeface="Arial" panose="020B0604020202020204" pitchFamily="34" charset="0"/>
                <a:cs typeface="Arial" panose="020B0604020202020204" pitchFamily="34" charset="0"/>
              </a:rPr>
              <a:t>Vendor governance </a:t>
            </a:r>
            <a:r>
              <a:rPr lang="en-US" sz="1000" noProof="0">
                <a:solidFill>
                  <a:srgbClr val="505050"/>
                </a:solidFill>
                <a:latin typeface="Arial" panose="020B0604020202020204" pitchFamily="34" charset="0"/>
                <a:cs typeface="Arial" panose="020B0604020202020204" pitchFamily="34" charset="0"/>
              </a:rPr>
              <a:t>is absent</a:t>
            </a:r>
          </a:p>
        </p:txBody>
      </p:sp>
      <p:sp>
        <p:nvSpPr>
          <p:cNvPr id="71" name="Rectángulo 70">
            <a:extLst>
              <a:ext uri="{FF2B5EF4-FFF2-40B4-BE49-F238E27FC236}">
                <a16:creationId xmlns:a16="http://schemas.microsoft.com/office/drawing/2014/main" id="{4F647A52-1BB5-C360-2BB9-071C419AC72D}"/>
              </a:ext>
            </a:extLst>
          </p:cNvPr>
          <p:cNvSpPr/>
          <p:nvPr/>
        </p:nvSpPr>
        <p:spPr>
          <a:xfrm>
            <a:off x="1210044" y="3328850"/>
            <a:ext cx="3535540" cy="31306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b="1" noProof="0">
                <a:solidFill>
                  <a:schemeClr val="tx1"/>
                </a:solidFill>
                <a:latin typeface="Arial" panose="020B0604020202020204" pitchFamily="34" charset="0"/>
                <a:cs typeface="Arial" panose="020B0604020202020204" pitchFamily="34" charset="0"/>
              </a:rPr>
              <a:t> 3 </a:t>
            </a:r>
            <a:r>
              <a:rPr lang="en-US" sz="1200" noProof="0">
                <a:solidFill>
                  <a:schemeClr val="tx1"/>
                </a:solidFill>
                <a:latin typeface="Arial" panose="020B0604020202020204" pitchFamily="34" charset="0"/>
                <a:cs typeface="Arial" panose="020B0604020202020204" pitchFamily="34" charset="0"/>
              </a:rPr>
              <a:t>Systemic Gaps</a:t>
            </a:r>
          </a:p>
        </p:txBody>
      </p:sp>
      <p:sp>
        <p:nvSpPr>
          <p:cNvPr id="72" name="Rectángulo 71">
            <a:extLst>
              <a:ext uri="{FF2B5EF4-FFF2-40B4-BE49-F238E27FC236}">
                <a16:creationId xmlns:a16="http://schemas.microsoft.com/office/drawing/2014/main" id="{ED7B9ED6-9DB2-6272-7255-77BDAE68D7FA}"/>
              </a:ext>
            </a:extLst>
          </p:cNvPr>
          <p:cNvSpPr/>
          <p:nvPr/>
        </p:nvSpPr>
        <p:spPr>
          <a:xfrm>
            <a:off x="1209741" y="4492560"/>
            <a:ext cx="3535540" cy="31306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b="1" noProof="0">
                <a:solidFill>
                  <a:schemeClr val="tx1"/>
                </a:solidFill>
                <a:latin typeface="Arial" panose="020B0604020202020204" pitchFamily="34" charset="0"/>
                <a:cs typeface="Arial" panose="020B0604020202020204" pitchFamily="34" charset="0"/>
              </a:rPr>
              <a:t> 7 </a:t>
            </a:r>
            <a:r>
              <a:rPr lang="en-US" sz="1200" noProof="0" err="1">
                <a:solidFill>
                  <a:schemeClr val="tx1"/>
                </a:solidFill>
                <a:latin typeface="Arial" panose="020B0604020202020204" pitchFamily="34" charset="0"/>
                <a:cs typeface="Arial" panose="020B0604020202020204" pitchFamily="34" charset="0"/>
              </a:rPr>
              <a:t>Strcutrural</a:t>
            </a:r>
            <a:r>
              <a:rPr lang="en-US" sz="1200" noProof="0">
                <a:solidFill>
                  <a:schemeClr val="tx1"/>
                </a:solidFill>
                <a:latin typeface="Arial" panose="020B0604020202020204" pitchFamily="34" charset="0"/>
                <a:cs typeface="Arial" panose="020B0604020202020204" pitchFamily="34" charset="0"/>
              </a:rPr>
              <a:t> </a:t>
            </a:r>
            <a:r>
              <a:rPr lang="en-US" sz="1200" noProof="0" err="1">
                <a:solidFill>
                  <a:schemeClr val="tx1"/>
                </a:solidFill>
                <a:latin typeface="Arial" panose="020B0604020202020204" pitchFamily="34" charset="0"/>
                <a:cs typeface="Arial" panose="020B0604020202020204" pitchFamily="34" charset="0"/>
              </a:rPr>
              <a:t>misaligments</a:t>
            </a:r>
            <a:endParaRPr lang="en-US" sz="1200" noProof="0">
              <a:solidFill>
                <a:schemeClr val="tx1"/>
              </a:solidFill>
              <a:latin typeface="Arial" panose="020B0604020202020204" pitchFamily="34" charset="0"/>
              <a:cs typeface="Arial" panose="020B0604020202020204" pitchFamily="34" charset="0"/>
            </a:endParaRPr>
          </a:p>
        </p:txBody>
      </p:sp>
      <p:sp>
        <p:nvSpPr>
          <p:cNvPr id="74" name="Rectángulo 73">
            <a:extLst>
              <a:ext uri="{FF2B5EF4-FFF2-40B4-BE49-F238E27FC236}">
                <a16:creationId xmlns:a16="http://schemas.microsoft.com/office/drawing/2014/main" id="{2A9BE8A4-9C62-B5C5-09DA-F27C3F2224EC}"/>
              </a:ext>
            </a:extLst>
          </p:cNvPr>
          <p:cNvSpPr/>
          <p:nvPr/>
        </p:nvSpPr>
        <p:spPr>
          <a:xfrm>
            <a:off x="3187161" y="1983404"/>
            <a:ext cx="3535540" cy="31306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1200" b="1" noProof="0">
                <a:solidFill>
                  <a:schemeClr val="tx1"/>
                </a:solidFill>
                <a:latin typeface="Arial" panose="020B0604020202020204" pitchFamily="34" charset="0"/>
                <a:cs typeface="Arial" panose="020B0604020202020204" pitchFamily="34" charset="0"/>
              </a:rPr>
              <a:t>8</a:t>
            </a:r>
            <a:r>
              <a:rPr lang="en-US" sz="1200" noProof="0">
                <a:solidFill>
                  <a:schemeClr val="tx1"/>
                </a:solidFill>
                <a:latin typeface="Arial" panose="020B0604020202020204" pitchFamily="34" charset="0"/>
                <a:cs typeface="Arial" panose="020B0604020202020204" pitchFamily="34" charset="0"/>
              </a:rPr>
              <a:t> </a:t>
            </a:r>
            <a:r>
              <a:rPr lang="en-US" sz="1200" noProof="0">
                <a:solidFill>
                  <a:schemeClr val="tx1"/>
                </a:solidFill>
              </a:rPr>
              <a:t>Delivery &amp; Experience </a:t>
            </a:r>
            <a:r>
              <a:rPr lang="en-US" sz="1200" noProof="0">
                <a:solidFill>
                  <a:schemeClr val="tx1"/>
                </a:solidFill>
                <a:latin typeface="Arial" panose="020B0604020202020204" pitchFamily="34" charset="0"/>
                <a:cs typeface="Arial" panose="020B0604020202020204" pitchFamily="34" charset="0"/>
              </a:rPr>
              <a:t>Pain Points</a:t>
            </a:r>
          </a:p>
        </p:txBody>
      </p:sp>
      <p:sp>
        <p:nvSpPr>
          <p:cNvPr id="75" name="Rectángulo 74">
            <a:extLst>
              <a:ext uri="{FF2B5EF4-FFF2-40B4-BE49-F238E27FC236}">
                <a16:creationId xmlns:a16="http://schemas.microsoft.com/office/drawing/2014/main" id="{41680897-CCAD-47F8-B213-AC8FFC5EC434}"/>
              </a:ext>
            </a:extLst>
          </p:cNvPr>
          <p:cNvSpPr/>
          <p:nvPr/>
        </p:nvSpPr>
        <p:spPr>
          <a:xfrm>
            <a:off x="4797150" y="2447903"/>
            <a:ext cx="3055931" cy="196791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000" b="1" noProof="0">
                <a:solidFill>
                  <a:schemeClr val="tx1"/>
                </a:solidFill>
                <a:latin typeface="Arial" panose="020B0604020202020204" pitchFamily="34" charset="0"/>
                <a:cs typeface="Arial" panose="020B0604020202020204" pitchFamily="34" charset="0"/>
              </a:rPr>
              <a:t> </a:t>
            </a:r>
            <a:r>
              <a:rPr lang="en-US" sz="1000" b="1" noProof="0" err="1">
                <a:solidFill>
                  <a:schemeClr val="tx1"/>
                </a:solidFill>
                <a:latin typeface="Arial" panose="020B0604020202020204" pitchFamily="34" charset="0"/>
                <a:cs typeface="Arial" panose="020B0604020202020204" pitchFamily="34" charset="0"/>
              </a:rPr>
              <a:t>Applciations</a:t>
            </a:r>
            <a:endParaRPr lang="en-US" sz="1000" b="1" noProof="0">
              <a:solidFill>
                <a:schemeClr val="tx1"/>
              </a:solidFill>
              <a:latin typeface="Arial" panose="020B0604020202020204" pitchFamily="34" charset="0"/>
              <a:cs typeface="Arial" panose="020B0604020202020204" pitchFamily="34" charset="0"/>
            </a:endParaRPr>
          </a:p>
          <a:p>
            <a:pPr algn="ctr"/>
            <a:endParaRPr lang="en-US" sz="1000" b="1" noProof="0">
              <a:solidFill>
                <a:schemeClr val="tx1"/>
              </a:solidFill>
              <a:latin typeface="Arial" panose="020B0604020202020204" pitchFamily="34" charset="0"/>
              <a:cs typeface="Arial" panose="020B0604020202020204" pitchFamily="34" charset="0"/>
            </a:endParaRPr>
          </a:p>
          <a:p>
            <a:pPr algn="ctr"/>
            <a:r>
              <a:rPr lang="en-US" sz="1000" noProof="0">
                <a:solidFill>
                  <a:schemeClr val="tx1"/>
                </a:solidFill>
                <a:latin typeface="Arial" panose="020B0604020202020204" pitchFamily="34" charset="0"/>
                <a:cs typeface="Arial" panose="020B0604020202020204" pitchFamily="34" charset="0"/>
              </a:rPr>
              <a:t>1.G&amp;E </a:t>
            </a:r>
            <a:r>
              <a:rPr lang="en-US" sz="1000" b="1" noProof="0">
                <a:solidFill>
                  <a:schemeClr val="tx1"/>
                </a:solidFill>
                <a:latin typeface="Arial" panose="020B0604020202020204" pitchFamily="34" charset="0"/>
                <a:cs typeface="Arial" panose="020B0604020202020204" pitchFamily="34" charset="0"/>
              </a:rPr>
              <a:t>Email-Only Intake</a:t>
            </a:r>
          </a:p>
          <a:p>
            <a:pPr algn="ctr"/>
            <a:r>
              <a:rPr lang="en-US" sz="1000" noProof="0">
                <a:solidFill>
                  <a:schemeClr val="tx1"/>
                </a:solidFill>
                <a:latin typeface="Arial" panose="020B0604020202020204" pitchFamily="34" charset="0"/>
                <a:cs typeface="Arial" panose="020B0604020202020204" pitchFamily="34" charset="0"/>
              </a:rPr>
              <a:t>2.Global SAP </a:t>
            </a:r>
            <a:r>
              <a:rPr lang="en-US" sz="1000" b="1" noProof="0">
                <a:solidFill>
                  <a:schemeClr val="tx1"/>
                </a:solidFill>
                <a:latin typeface="Arial" panose="020B0604020202020204" pitchFamily="34" charset="0"/>
                <a:cs typeface="Arial" panose="020B0604020202020204" pitchFamily="34" charset="0"/>
              </a:rPr>
              <a:t>Incident Flood</a:t>
            </a:r>
          </a:p>
          <a:p>
            <a:pPr algn="ctr"/>
            <a:r>
              <a:rPr lang="en-US" sz="1000" noProof="0">
                <a:solidFill>
                  <a:schemeClr val="tx1"/>
                </a:solidFill>
                <a:latin typeface="Arial" panose="020B0604020202020204" pitchFamily="34" charset="0"/>
                <a:cs typeface="Arial" panose="020B0604020202020204" pitchFamily="34" charset="0"/>
              </a:rPr>
              <a:t>3.GIS </a:t>
            </a:r>
            <a:r>
              <a:rPr lang="en-US" sz="1000" b="1" noProof="0">
                <a:solidFill>
                  <a:schemeClr val="tx1"/>
                </a:solidFill>
                <a:latin typeface="Arial" panose="020B0604020202020204" pitchFamily="34" charset="0"/>
                <a:cs typeface="Arial" panose="020B0604020202020204" pitchFamily="34" charset="0"/>
              </a:rPr>
              <a:t>Informal PM Stack</a:t>
            </a:r>
          </a:p>
          <a:p>
            <a:pPr algn="ctr"/>
            <a:r>
              <a:rPr lang="en-US" sz="1000" noProof="0">
                <a:solidFill>
                  <a:schemeClr val="tx1"/>
                </a:solidFill>
                <a:latin typeface="Arial" panose="020B0604020202020204" pitchFamily="34" charset="0"/>
                <a:cs typeface="Arial" panose="020B0604020202020204" pitchFamily="34" charset="0"/>
              </a:rPr>
              <a:t>4.Corporate </a:t>
            </a:r>
            <a:r>
              <a:rPr lang="en-US" sz="1000" b="1" noProof="0">
                <a:solidFill>
                  <a:schemeClr val="tx1"/>
                </a:solidFill>
                <a:latin typeface="Arial" panose="020B0604020202020204" pitchFamily="34" charset="0"/>
                <a:cs typeface="Arial" panose="020B0604020202020204" pitchFamily="34" charset="0"/>
              </a:rPr>
              <a:t>Project Overlap</a:t>
            </a:r>
          </a:p>
        </p:txBody>
      </p:sp>
      <p:sp>
        <p:nvSpPr>
          <p:cNvPr id="77" name="Rectángulo 76">
            <a:extLst>
              <a:ext uri="{FF2B5EF4-FFF2-40B4-BE49-F238E27FC236}">
                <a16:creationId xmlns:a16="http://schemas.microsoft.com/office/drawing/2014/main" id="{1D51D6C2-AAD7-512F-324C-3178AB5F0B5B}"/>
              </a:ext>
            </a:extLst>
          </p:cNvPr>
          <p:cNvSpPr/>
          <p:nvPr/>
        </p:nvSpPr>
        <p:spPr>
          <a:xfrm>
            <a:off x="5308279" y="4603771"/>
            <a:ext cx="1794283" cy="196791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lvl="0" algn="ctr">
              <a:defRPr/>
            </a:pPr>
            <a:r>
              <a:rPr lang="en-US" sz="1000" b="1" noProof="0">
                <a:solidFill>
                  <a:schemeClr val="tx1"/>
                </a:solidFill>
                <a:latin typeface="Arial" panose="020B0604020202020204" pitchFamily="34" charset="0"/>
                <a:cs typeface="Arial" panose="020B0604020202020204" pitchFamily="34" charset="0"/>
              </a:rPr>
              <a:t>Customer Service</a:t>
            </a:r>
          </a:p>
          <a:p>
            <a:pPr lvl="0">
              <a:defRPr/>
            </a:pPr>
            <a:endParaRPr lang="en-US" sz="1000" noProof="0">
              <a:solidFill>
                <a:srgbClr val="505050"/>
              </a:solidFill>
              <a:latin typeface="Arial" panose="020B0604020202020204" pitchFamily="34" charset="0"/>
              <a:cs typeface="Arial" panose="020B0604020202020204" pitchFamily="34" charset="0"/>
            </a:endParaRPr>
          </a:p>
          <a:p>
            <a:pPr lvl="0">
              <a:defRPr/>
            </a:pPr>
            <a:r>
              <a:rPr lang="en-US" sz="1000" noProof="0">
                <a:solidFill>
                  <a:srgbClr val="505050"/>
                </a:solidFill>
                <a:latin typeface="Arial" panose="020B0604020202020204" pitchFamily="34" charset="0"/>
                <a:cs typeface="Arial" panose="020B0604020202020204" pitchFamily="34" charset="0"/>
              </a:rPr>
              <a:t>5.Customer Services </a:t>
            </a:r>
            <a:r>
              <a:rPr lang="en-US" sz="1000" b="1" noProof="0">
                <a:solidFill>
                  <a:srgbClr val="505050"/>
                </a:solidFill>
                <a:latin typeface="Arial" panose="020B0604020202020204" pitchFamily="34" charset="0"/>
                <a:cs typeface="Arial" panose="020B0604020202020204" pitchFamily="34" charset="0"/>
              </a:rPr>
              <a:t>Leadership</a:t>
            </a:r>
            <a:r>
              <a:rPr lang="en-US" sz="1000" noProof="0">
                <a:solidFill>
                  <a:srgbClr val="505050"/>
                </a:solidFill>
                <a:latin typeface="Arial" panose="020B0604020202020204" pitchFamily="34" charset="0"/>
                <a:cs typeface="Arial" panose="020B0604020202020204" pitchFamily="34" charset="0"/>
              </a:rPr>
              <a:t> Gap</a:t>
            </a:r>
          </a:p>
          <a:p>
            <a:pPr lvl="0">
              <a:defRPr/>
            </a:pPr>
            <a:r>
              <a:rPr lang="en-US" sz="1000" noProof="0">
                <a:solidFill>
                  <a:srgbClr val="505050"/>
                </a:solidFill>
                <a:latin typeface="Arial" panose="020B0604020202020204" pitchFamily="34" charset="0"/>
                <a:cs typeface="Arial" panose="020B0604020202020204" pitchFamily="34" charset="0"/>
              </a:rPr>
              <a:t>6.No Branch-Wide </a:t>
            </a:r>
            <a:r>
              <a:rPr lang="en-US" sz="1000" b="1" noProof="0">
                <a:solidFill>
                  <a:srgbClr val="505050"/>
                </a:solidFill>
                <a:latin typeface="Arial" panose="020B0604020202020204" pitchFamily="34" charset="0"/>
                <a:cs typeface="Arial" panose="020B0604020202020204" pitchFamily="34" charset="0"/>
              </a:rPr>
              <a:t>Portfolio Tool</a:t>
            </a:r>
          </a:p>
          <a:p>
            <a:pPr lvl="0">
              <a:defRPr/>
            </a:pPr>
            <a:r>
              <a:rPr lang="en-US" sz="1000" noProof="0">
                <a:solidFill>
                  <a:srgbClr val="505050"/>
                </a:solidFill>
                <a:latin typeface="Arial" panose="020B0604020202020204" pitchFamily="34" charset="0"/>
                <a:cs typeface="Arial" panose="020B0604020202020204" pitchFamily="34" charset="0"/>
              </a:rPr>
              <a:t>7.Smart Metering </a:t>
            </a:r>
            <a:r>
              <a:rPr lang="en-US" sz="1000" b="1" noProof="0">
                <a:solidFill>
                  <a:srgbClr val="505050"/>
                </a:solidFill>
                <a:latin typeface="Arial" panose="020B0604020202020204" pitchFamily="34" charset="0"/>
                <a:cs typeface="Arial" panose="020B0604020202020204" pitchFamily="34" charset="0"/>
              </a:rPr>
              <a:t>Vendor Concentration</a:t>
            </a:r>
          </a:p>
          <a:p>
            <a:pPr lvl="0">
              <a:defRPr/>
            </a:pPr>
            <a:r>
              <a:rPr lang="en-US" sz="1000" noProof="0">
                <a:solidFill>
                  <a:srgbClr val="505050"/>
                </a:solidFill>
                <a:latin typeface="Arial" panose="020B0604020202020204" pitchFamily="34" charset="0"/>
                <a:cs typeface="Arial" panose="020B0604020202020204" pitchFamily="34" charset="0"/>
              </a:rPr>
              <a:t>8.</a:t>
            </a:r>
            <a:r>
              <a:rPr lang="en-US" sz="1000" b="1" noProof="0">
                <a:solidFill>
                  <a:srgbClr val="505050"/>
                </a:solidFill>
                <a:latin typeface="Arial" panose="020B0604020202020204" pitchFamily="34" charset="0"/>
                <a:cs typeface="Arial" panose="020B0604020202020204" pitchFamily="34" charset="0"/>
              </a:rPr>
              <a:t>Multi-OPCO</a:t>
            </a:r>
            <a:r>
              <a:rPr lang="en-US" sz="1000" noProof="0">
                <a:solidFill>
                  <a:srgbClr val="505050"/>
                </a:solidFill>
                <a:latin typeface="Arial" panose="020B0604020202020204" pitchFamily="34" charset="0"/>
                <a:cs typeface="Arial" panose="020B0604020202020204" pitchFamily="34" charset="0"/>
              </a:rPr>
              <a:t> Capacity Competition</a:t>
            </a:r>
            <a:endParaRPr kumimoji="0" lang="en-US" sz="1000" b="0" i="0" u="none" strike="noStrike" kern="1200" cap="none" spc="0" normalizeH="0" baseline="0" noProof="0">
              <a:ln>
                <a:noFill/>
              </a:ln>
              <a:solidFill>
                <a:srgbClr val="505050"/>
              </a:solidFill>
              <a:effectLst/>
              <a:uLnTx/>
              <a:uFillTx/>
              <a:latin typeface="Arial" panose="020B0604020202020204" pitchFamily="34" charset="0"/>
              <a:cs typeface="Arial" panose="020B0604020202020204" pitchFamily="34" charset="0"/>
            </a:endParaRPr>
          </a:p>
        </p:txBody>
      </p:sp>
      <p:sp>
        <p:nvSpPr>
          <p:cNvPr id="78" name="Rectángulo 77">
            <a:extLst>
              <a:ext uri="{FF2B5EF4-FFF2-40B4-BE49-F238E27FC236}">
                <a16:creationId xmlns:a16="http://schemas.microsoft.com/office/drawing/2014/main" id="{8033B1CD-178D-A01B-DF16-51603966B987}"/>
              </a:ext>
            </a:extLst>
          </p:cNvPr>
          <p:cNvSpPr/>
          <p:nvPr/>
        </p:nvSpPr>
        <p:spPr>
          <a:xfrm>
            <a:off x="7652938" y="1992881"/>
            <a:ext cx="3535540" cy="31306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1200" b="1" noProof="0">
                <a:solidFill>
                  <a:schemeClr val="tx1"/>
                </a:solidFill>
                <a:latin typeface="Arial" panose="020B0604020202020204" pitchFamily="34" charset="0"/>
                <a:cs typeface="Arial" panose="020B0604020202020204" pitchFamily="34" charset="0"/>
              </a:rPr>
              <a:t>8 </a:t>
            </a:r>
            <a:r>
              <a:rPr lang="en-US" sz="1200" noProof="0">
                <a:solidFill>
                  <a:schemeClr val="tx1"/>
                </a:solidFill>
                <a:latin typeface="Arial" panose="020B0604020202020204" pitchFamily="34" charset="0"/>
                <a:cs typeface="Arial" panose="020B0604020202020204" pitchFamily="34" charset="0"/>
              </a:rPr>
              <a:t>TO-BE guiding principles</a:t>
            </a:r>
          </a:p>
        </p:txBody>
      </p:sp>
      <p:sp>
        <p:nvSpPr>
          <p:cNvPr id="82" name="Rectángulo: esquinas redondeadas 81">
            <a:extLst>
              <a:ext uri="{FF2B5EF4-FFF2-40B4-BE49-F238E27FC236}">
                <a16:creationId xmlns:a16="http://schemas.microsoft.com/office/drawing/2014/main" id="{9EBE7A64-D064-C5D3-6EBF-A6C3993BF2CB}"/>
              </a:ext>
            </a:extLst>
          </p:cNvPr>
          <p:cNvSpPr/>
          <p:nvPr/>
        </p:nvSpPr>
        <p:spPr>
          <a:xfrm>
            <a:off x="9067799" y="2417100"/>
            <a:ext cx="2844213" cy="307887"/>
          </a:xfrm>
          <a:prstGeom prst="roundRect">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noProof="0">
                <a:solidFill>
                  <a:srgbClr val="505050"/>
                </a:solidFill>
                <a:latin typeface="Arial" panose="020B0604020202020204" pitchFamily="34" charset="0"/>
                <a:cs typeface="Arial" panose="020B0604020202020204" pitchFamily="34" charset="0"/>
              </a:rPr>
              <a:t>1.Single Front Door</a:t>
            </a:r>
            <a:endParaRPr lang="en-US" sz="1200" noProof="0"/>
          </a:p>
        </p:txBody>
      </p:sp>
      <p:sp>
        <p:nvSpPr>
          <p:cNvPr id="83" name="Rectángulo: esquinas redondeadas 82">
            <a:extLst>
              <a:ext uri="{FF2B5EF4-FFF2-40B4-BE49-F238E27FC236}">
                <a16:creationId xmlns:a16="http://schemas.microsoft.com/office/drawing/2014/main" id="{9FA20371-2A0F-9F26-B9D3-EE8F74EDAB9F}"/>
              </a:ext>
            </a:extLst>
          </p:cNvPr>
          <p:cNvSpPr/>
          <p:nvPr/>
        </p:nvSpPr>
        <p:spPr>
          <a:xfrm>
            <a:off x="9077324" y="2902875"/>
            <a:ext cx="2844213" cy="307887"/>
          </a:xfrm>
          <a:prstGeom prst="roundRect">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noProof="0">
                <a:solidFill>
                  <a:srgbClr val="505050"/>
                </a:solidFill>
                <a:latin typeface="Arial" panose="020B0604020202020204" pitchFamily="34" charset="0"/>
                <a:cs typeface="Arial" panose="020B0604020202020204" pitchFamily="34" charset="0"/>
              </a:rPr>
              <a:t>2.Value-Based Prioritization</a:t>
            </a:r>
          </a:p>
        </p:txBody>
      </p:sp>
      <p:sp>
        <p:nvSpPr>
          <p:cNvPr id="84" name="Rectángulo: esquinas redondeadas 83">
            <a:extLst>
              <a:ext uri="{FF2B5EF4-FFF2-40B4-BE49-F238E27FC236}">
                <a16:creationId xmlns:a16="http://schemas.microsoft.com/office/drawing/2014/main" id="{DB292343-6C32-B8B5-2D0F-29BFF6DFC9E5}"/>
              </a:ext>
            </a:extLst>
          </p:cNvPr>
          <p:cNvSpPr/>
          <p:nvPr/>
        </p:nvSpPr>
        <p:spPr>
          <a:xfrm>
            <a:off x="9067799" y="3388650"/>
            <a:ext cx="2844213" cy="307887"/>
          </a:xfrm>
          <a:prstGeom prst="roundRect">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noProof="0">
                <a:solidFill>
                  <a:srgbClr val="505050"/>
                </a:solidFill>
                <a:latin typeface="Arial" panose="020B0604020202020204" pitchFamily="34" charset="0"/>
                <a:cs typeface="Arial" panose="020B0604020202020204" pitchFamily="34" charset="0"/>
              </a:rPr>
              <a:t>3.Capacity-Aware Assignment</a:t>
            </a:r>
          </a:p>
        </p:txBody>
      </p:sp>
      <p:sp>
        <p:nvSpPr>
          <p:cNvPr id="85" name="Rectángulo: esquinas redondeadas 84">
            <a:extLst>
              <a:ext uri="{FF2B5EF4-FFF2-40B4-BE49-F238E27FC236}">
                <a16:creationId xmlns:a16="http://schemas.microsoft.com/office/drawing/2014/main" id="{704485EC-6E60-7CF9-49DF-5DDFEE86BF7C}"/>
              </a:ext>
            </a:extLst>
          </p:cNvPr>
          <p:cNvSpPr/>
          <p:nvPr/>
        </p:nvSpPr>
        <p:spPr>
          <a:xfrm>
            <a:off x="9058274" y="3874425"/>
            <a:ext cx="2844213" cy="307887"/>
          </a:xfrm>
          <a:prstGeom prst="roundRect">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noProof="0">
                <a:solidFill>
                  <a:srgbClr val="505050"/>
                </a:solidFill>
                <a:latin typeface="Arial" panose="020B0604020202020204" pitchFamily="34" charset="0"/>
                <a:cs typeface="Arial" panose="020B0604020202020204" pitchFamily="34" charset="0"/>
              </a:rPr>
              <a:t>4.Standardized Execution (Jira</a:t>
            </a:r>
            <a:endParaRPr lang="en-US" sz="1200" noProof="0"/>
          </a:p>
        </p:txBody>
      </p:sp>
      <p:sp>
        <p:nvSpPr>
          <p:cNvPr id="86" name="Rectángulo: esquinas redondeadas 85">
            <a:extLst>
              <a:ext uri="{FF2B5EF4-FFF2-40B4-BE49-F238E27FC236}">
                <a16:creationId xmlns:a16="http://schemas.microsoft.com/office/drawing/2014/main" id="{A845644E-19B1-912E-ECC2-10286A721B83}"/>
              </a:ext>
            </a:extLst>
          </p:cNvPr>
          <p:cNvSpPr/>
          <p:nvPr/>
        </p:nvSpPr>
        <p:spPr>
          <a:xfrm>
            <a:off x="9058274" y="4360200"/>
            <a:ext cx="2844213" cy="307887"/>
          </a:xfrm>
          <a:prstGeom prst="roundRect">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noProof="0">
                <a:solidFill>
                  <a:srgbClr val="505050"/>
                </a:solidFill>
                <a:latin typeface="Arial" panose="020B0604020202020204" pitchFamily="34" charset="0"/>
                <a:cs typeface="Arial" panose="020B0604020202020204" pitchFamily="34" charset="0"/>
              </a:rPr>
              <a:t>5.Integrated Toolchain</a:t>
            </a:r>
          </a:p>
        </p:txBody>
      </p:sp>
      <p:sp>
        <p:nvSpPr>
          <p:cNvPr id="87" name="Rectángulo: esquinas redondeadas 86">
            <a:extLst>
              <a:ext uri="{FF2B5EF4-FFF2-40B4-BE49-F238E27FC236}">
                <a16:creationId xmlns:a16="http://schemas.microsoft.com/office/drawing/2014/main" id="{108EFCC4-3B6B-CB92-1985-1E1869190BCE}"/>
              </a:ext>
            </a:extLst>
          </p:cNvPr>
          <p:cNvSpPr/>
          <p:nvPr/>
        </p:nvSpPr>
        <p:spPr>
          <a:xfrm>
            <a:off x="9067799" y="4845975"/>
            <a:ext cx="2844213" cy="307887"/>
          </a:xfrm>
          <a:prstGeom prst="roundRect">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noProof="0">
                <a:solidFill>
                  <a:srgbClr val="505050"/>
                </a:solidFill>
                <a:latin typeface="Arial" panose="020B0604020202020204" pitchFamily="34" charset="0"/>
                <a:cs typeface="Arial" panose="020B0604020202020204" pitchFamily="34" charset="0"/>
              </a:rPr>
              <a:t>6.Automated Reporting </a:t>
            </a:r>
          </a:p>
        </p:txBody>
      </p:sp>
      <p:sp>
        <p:nvSpPr>
          <p:cNvPr id="88" name="Rectángulo: esquinas redondeadas 87">
            <a:extLst>
              <a:ext uri="{FF2B5EF4-FFF2-40B4-BE49-F238E27FC236}">
                <a16:creationId xmlns:a16="http://schemas.microsoft.com/office/drawing/2014/main" id="{F54DF840-AD8C-8A90-819D-E6C7AE8E0E05}"/>
              </a:ext>
            </a:extLst>
          </p:cNvPr>
          <p:cNvSpPr/>
          <p:nvPr/>
        </p:nvSpPr>
        <p:spPr>
          <a:xfrm>
            <a:off x="9058274" y="5331750"/>
            <a:ext cx="2844213" cy="307887"/>
          </a:xfrm>
          <a:prstGeom prst="roundRect">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noProof="0">
                <a:solidFill>
                  <a:srgbClr val="505050"/>
                </a:solidFill>
                <a:latin typeface="Arial" panose="020B0604020202020204" pitchFamily="34" charset="0"/>
                <a:cs typeface="Arial" panose="020B0604020202020204" pitchFamily="34" charset="0"/>
              </a:rPr>
              <a:t>7.Defined RACI per Lifecycle Phase</a:t>
            </a:r>
          </a:p>
        </p:txBody>
      </p:sp>
      <p:sp>
        <p:nvSpPr>
          <p:cNvPr id="89" name="Rectángulo: esquinas redondeadas 88">
            <a:extLst>
              <a:ext uri="{FF2B5EF4-FFF2-40B4-BE49-F238E27FC236}">
                <a16:creationId xmlns:a16="http://schemas.microsoft.com/office/drawing/2014/main" id="{4A4CA5B4-FE0E-5DE7-AE03-DE4A6104EE47}"/>
              </a:ext>
            </a:extLst>
          </p:cNvPr>
          <p:cNvSpPr/>
          <p:nvPr/>
        </p:nvSpPr>
        <p:spPr>
          <a:xfrm>
            <a:off x="9048749" y="5817525"/>
            <a:ext cx="2844213" cy="307887"/>
          </a:xfrm>
          <a:prstGeom prst="roundRect">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noProof="0">
                <a:solidFill>
                  <a:srgbClr val="505050"/>
                </a:solidFill>
                <a:latin typeface="Arial" panose="020B0604020202020204" pitchFamily="34" charset="0"/>
                <a:cs typeface="Arial" panose="020B0604020202020204" pitchFamily="34" charset="0"/>
              </a:rPr>
              <a:t>8.Standardized Execution Model</a:t>
            </a:r>
          </a:p>
        </p:txBody>
      </p:sp>
      <p:grpSp>
        <p:nvGrpSpPr>
          <p:cNvPr id="93" name="Grupo 92">
            <a:extLst>
              <a:ext uri="{FF2B5EF4-FFF2-40B4-BE49-F238E27FC236}">
                <a16:creationId xmlns:a16="http://schemas.microsoft.com/office/drawing/2014/main" id="{E0D91BCA-92C1-250D-5B5A-1CF878452E6C}"/>
              </a:ext>
            </a:extLst>
          </p:cNvPr>
          <p:cNvGrpSpPr/>
          <p:nvPr/>
        </p:nvGrpSpPr>
        <p:grpSpPr>
          <a:xfrm>
            <a:off x="8470382" y="2410256"/>
            <a:ext cx="377203" cy="346585"/>
            <a:chOff x="5354160" y="2891461"/>
            <a:chExt cx="563274" cy="557242"/>
          </a:xfrm>
        </p:grpSpPr>
        <p:pic>
          <p:nvPicPr>
            <p:cNvPr id="94" name="Imagen 93">
              <a:extLst>
                <a:ext uri="{FF2B5EF4-FFF2-40B4-BE49-F238E27FC236}">
                  <a16:creationId xmlns:a16="http://schemas.microsoft.com/office/drawing/2014/main" id="{A008AA84-EC34-AE29-1843-793FCEEA3584}"/>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399039" y="2951721"/>
              <a:ext cx="459764" cy="495023"/>
            </a:xfrm>
            <a:prstGeom prst="rect">
              <a:avLst/>
            </a:prstGeom>
          </p:spPr>
        </p:pic>
        <p:sp>
          <p:nvSpPr>
            <p:cNvPr id="96" name="Elipse 95">
              <a:extLst>
                <a:ext uri="{FF2B5EF4-FFF2-40B4-BE49-F238E27FC236}">
                  <a16:creationId xmlns:a16="http://schemas.microsoft.com/office/drawing/2014/main" id="{64559B90-C6EF-9082-8316-C85A3E17A6CD}"/>
                </a:ext>
              </a:extLst>
            </p:cNvPr>
            <p:cNvSpPr/>
            <p:nvPr/>
          </p:nvSpPr>
          <p:spPr>
            <a:xfrm>
              <a:off x="5354160" y="2891461"/>
              <a:ext cx="563274" cy="557242"/>
            </a:xfrm>
            <a:prstGeom prst="ellipse">
              <a:avLst/>
            </a:prstGeom>
            <a:noFill/>
            <a:ln w="38100">
              <a:solidFill>
                <a:srgbClr val="2C578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panose="020B0502040204020203" pitchFamily="34" charset="0"/>
                <a:ea typeface="+mn-ea"/>
                <a:cs typeface="+mn-cs"/>
              </a:endParaRPr>
            </a:p>
          </p:txBody>
        </p:sp>
      </p:grpSp>
      <p:grpSp>
        <p:nvGrpSpPr>
          <p:cNvPr id="97" name="Grupo 96">
            <a:extLst>
              <a:ext uri="{FF2B5EF4-FFF2-40B4-BE49-F238E27FC236}">
                <a16:creationId xmlns:a16="http://schemas.microsoft.com/office/drawing/2014/main" id="{D6CC2BDC-F92C-44DE-EBDC-95BD7D582FAB}"/>
              </a:ext>
            </a:extLst>
          </p:cNvPr>
          <p:cNvGrpSpPr/>
          <p:nvPr/>
        </p:nvGrpSpPr>
        <p:grpSpPr>
          <a:xfrm>
            <a:off x="8418820" y="2868220"/>
            <a:ext cx="493325" cy="371675"/>
            <a:chOff x="5277155" y="2851121"/>
            <a:chExt cx="736677" cy="597582"/>
          </a:xfrm>
        </p:grpSpPr>
        <p:pic>
          <p:nvPicPr>
            <p:cNvPr id="98" name="Imagen 97">
              <a:extLst>
                <a:ext uri="{FF2B5EF4-FFF2-40B4-BE49-F238E27FC236}">
                  <a16:creationId xmlns:a16="http://schemas.microsoft.com/office/drawing/2014/main" id="{E3AE5F5C-4EE2-4FB9-1982-AAE5D4EEB4A1}"/>
                </a:ext>
              </a:extLst>
            </p:cNvPr>
            <p:cNvPicPr>
              <a:picLocks noChangeAspect="1"/>
            </p:cNvPicPr>
            <p:nvPr/>
          </p:nvPicPr>
          <p:blipFill>
            <a:blip r:embed="rId4" cstate="print">
              <a:extLst>
                <a:ext uri="{28A0092B-C50C-407E-A947-70E740481C1C}">
                  <a14:useLocalDpi xmlns:a14="http://schemas.microsoft.com/office/drawing/2010/main" val="0"/>
                </a:ext>
              </a:extLst>
            </a:blip>
            <a:srcRect r="3329" b="39667"/>
            <a:stretch>
              <a:fillRect/>
            </a:stretch>
          </p:blipFill>
          <p:spPr>
            <a:xfrm>
              <a:off x="5277155" y="2851121"/>
              <a:ext cx="736677" cy="495023"/>
            </a:xfrm>
            <a:prstGeom prst="rect">
              <a:avLst/>
            </a:prstGeom>
          </p:spPr>
        </p:pic>
        <p:sp>
          <p:nvSpPr>
            <p:cNvPr id="99" name="Elipse 98">
              <a:extLst>
                <a:ext uri="{FF2B5EF4-FFF2-40B4-BE49-F238E27FC236}">
                  <a16:creationId xmlns:a16="http://schemas.microsoft.com/office/drawing/2014/main" id="{6B084C28-1F70-2C3E-FD93-15DC1EAA7F89}"/>
                </a:ext>
              </a:extLst>
            </p:cNvPr>
            <p:cNvSpPr/>
            <p:nvPr/>
          </p:nvSpPr>
          <p:spPr>
            <a:xfrm>
              <a:off x="5354160" y="2891461"/>
              <a:ext cx="563274" cy="557242"/>
            </a:xfrm>
            <a:prstGeom prst="ellipse">
              <a:avLst/>
            </a:prstGeom>
            <a:noFill/>
            <a:ln w="38100">
              <a:solidFill>
                <a:srgbClr val="2C578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panose="020B0502040204020203" pitchFamily="34" charset="0"/>
                <a:ea typeface="+mn-ea"/>
                <a:cs typeface="+mn-cs"/>
              </a:endParaRPr>
            </a:p>
          </p:txBody>
        </p:sp>
      </p:grpSp>
      <p:grpSp>
        <p:nvGrpSpPr>
          <p:cNvPr id="100" name="Grupo 99">
            <a:extLst>
              <a:ext uri="{FF2B5EF4-FFF2-40B4-BE49-F238E27FC236}">
                <a16:creationId xmlns:a16="http://schemas.microsoft.com/office/drawing/2014/main" id="{A4B0D152-3484-F02E-6249-2EE959623D29}"/>
              </a:ext>
            </a:extLst>
          </p:cNvPr>
          <p:cNvGrpSpPr/>
          <p:nvPr/>
        </p:nvGrpSpPr>
        <p:grpSpPr>
          <a:xfrm>
            <a:off x="8431522" y="3376366"/>
            <a:ext cx="445724" cy="350067"/>
            <a:chOff x="5296124" y="2891461"/>
            <a:chExt cx="665595" cy="562840"/>
          </a:xfrm>
        </p:grpSpPr>
        <p:pic>
          <p:nvPicPr>
            <p:cNvPr id="101" name="Imagen 100">
              <a:extLst>
                <a:ext uri="{FF2B5EF4-FFF2-40B4-BE49-F238E27FC236}">
                  <a16:creationId xmlns:a16="http://schemas.microsoft.com/office/drawing/2014/main" id="{E200A228-DD1E-9F1F-2AF2-67453399702E}"/>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5296124" y="2944163"/>
              <a:ext cx="665595" cy="510138"/>
            </a:xfrm>
            <a:prstGeom prst="rect">
              <a:avLst/>
            </a:prstGeom>
          </p:spPr>
        </p:pic>
        <p:sp>
          <p:nvSpPr>
            <p:cNvPr id="102" name="Elipse 101">
              <a:extLst>
                <a:ext uri="{FF2B5EF4-FFF2-40B4-BE49-F238E27FC236}">
                  <a16:creationId xmlns:a16="http://schemas.microsoft.com/office/drawing/2014/main" id="{39403D13-8D7C-37EC-4B55-F7A08D3AF9BF}"/>
                </a:ext>
              </a:extLst>
            </p:cNvPr>
            <p:cNvSpPr/>
            <p:nvPr/>
          </p:nvSpPr>
          <p:spPr>
            <a:xfrm>
              <a:off x="5354160" y="2891461"/>
              <a:ext cx="563274" cy="557242"/>
            </a:xfrm>
            <a:prstGeom prst="ellipse">
              <a:avLst/>
            </a:prstGeom>
            <a:noFill/>
            <a:ln w="38100">
              <a:solidFill>
                <a:srgbClr val="2C578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panose="020B0502040204020203" pitchFamily="34" charset="0"/>
                <a:ea typeface="+mn-ea"/>
                <a:cs typeface="+mn-cs"/>
              </a:endParaRPr>
            </a:p>
          </p:txBody>
        </p:sp>
      </p:grpSp>
      <p:grpSp>
        <p:nvGrpSpPr>
          <p:cNvPr id="103" name="Grupo 102">
            <a:extLst>
              <a:ext uri="{FF2B5EF4-FFF2-40B4-BE49-F238E27FC236}">
                <a16:creationId xmlns:a16="http://schemas.microsoft.com/office/drawing/2014/main" id="{AC1A8D73-D103-E416-43A2-20F5DC653711}"/>
              </a:ext>
            </a:extLst>
          </p:cNvPr>
          <p:cNvGrpSpPr/>
          <p:nvPr/>
        </p:nvGrpSpPr>
        <p:grpSpPr>
          <a:xfrm>
            <a:off x="8469634" y="3859418"/>
            <a:ext cx="377968" cy="346585"/>
            <a:chOff x="5353020" y="2891461"/>
            <a:chExt cx="564414" cy="557242"/>
          </a:xfrm>
        </p:grpSpPr>
        <p:pic>
          <p:nvPicPr>
            <p:cNvPr id="104" name="Imagen 103">
              <a:extLst>
                <a:ext uri="{FF2B5EF4-FFF2-40B4-BE49-F238E27FC236}">
                  <a16:creationId xmlns:a16="http://schemas.microsoft.com/office/drawing/2014/main" id="{60A5991F-2DD7-51E5-AC62-1CA9FA3C4527}"/>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p:blipFill>
          <p:spPr>
            <a:xfrm>
              <a:off x="5353020" y="2936893"/>
              <a:ext cx="562673" cy="417657"/>
            </a:xfrm>
            <a:prstGeom prst="rect">
              <a:avLst/>
            </a:prstGeom>
          </p:spPr>
        </p:pic>
        <p:sp>
          <p:nvSpPr>
            <p:cNvPr id="105" name="Elipse 104">
              <a:extLst>
                <a:ext uri="{FF2B5EF4-FFF2-40B4-BE49-F238E27FC236}">
                  <a16:creationId xmlns:a16="http://schemas.microsoft.com/office/drawing/2014/main" id="{9104A135-E653-6662-EDE8-FAE15A3026BB}"/>
                </a:ext>
              </a:extLst>
            </p:cNvPr>
            <p:cNvSpPr/>
            <p:nvPr/>
          </p:nvSpPr>
          <p:spPr>
            <a:xfrm>
              <a:off x="5354160" y="2891461"/>
              <a:ext cx="563274" cy="557242"/>
            </a:xfrm>
            <a:prstGeom prst="ellipse">
              <a:avLst/>
            </a:prstGeom>
            <a:noFill/>
            <a:ln w="38100">
              <a:solidFill>
                <a:srgbClr val="2C578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panose="020B0502040204020203" pitchFamily="34" charset="0"/>
                <a:ea typeface="+mn-ea"/>
                <a:cs typeface="+mn-cs"/>
              </a:endParaRPr>
            </a:p>
          </p:txBody>
        </p:sp>
      </p:grpSp>
      <p:grpSp>
        <p:nvGrpSpPr>
          <p:cNvPr id="106" name="Grupo 105">
            <a:extLst>
              <a:ext uri="{FF2B5EF4-FFF2-40B4-BE49-F238E27FC236}">
                <a16:creationId xmlns:a16="http://schemas.microsoft.com/office/drawing/2014/main" id="{3B200D9C-397F-A4AA-3F92-32B8E5683EE1}"/>
              </a:ext>
            </a:extLst>
          </p:cNvPr>
          <p:cNvGrpSpPr/>
          <p:nvPr/>
        </p:nvGrpSpPr>
        <p:grpSpPr>
          <a:xfrm>
            <a:off x="8441049" y="4329028"/>
            <a:ext cx="445724" cy="360031"/>
            <a:chOff x="5310352" y="2869843"/>
            <a:chExt cx="665595" cy="578860"/>
          </a:xfrm>
        </p:grpSpPr>
        <p:pic>
          <p:nvPicPr>
            <p:cNvPr id="107" name="Imagen 106">
              <a:extLst>
                <a:ext uri="{FF2B5EF4-FFF2-40B4-BE49-F238E27FC236}">
                  <a16:creationId xmlns:a16="http://schemas.microsoft.com/office/drawing/2014/main" id="{B3272F4C-830E-0699-F0DE-573573280121}"/>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p:blipFill>
          <p:spPr>
            <a:xfrm>
              <a:off x="5310352" y="2869843"/>
              <a:ext cx="665595" cy="505634"/>
            </a:xfrm>
            <a:prstGeom prst="rect">
              <a:avLst/>
            </a:prstGeom>
          </p:spPr>
        </p:pic>
        <p:sp>
          <p:nvSpPr>
            <p:cNvPr id="108" name="Elipse 107">
              <a:extLst>
                <a:ext uri="{FF2B5EF4-FFF2-40B4-BE49-F238E27FC236}">
                  <a16:creationId xmlns:a16="http://schemas.microsoft.com/office/drawing/2014/main" id="{9110E45C-E16E-6BC2-BCBB-35A46449B2D7}"/>
                </a:ext>
              </a:extLst>
            </p:cNvPr>
            <p:cNvSpPr/>
            <p:nvPr/>
          </p:nvSpPr>
          <p:spPr>
            <a:xfrm>
              <a:off x="5354160" y="2891461"/>
              <a:ext cx="563274" cy="557242"/>
            </a:xfrm>
            <a:prstGeom prst="ellipse">
              <a:avLst/>
            </a:prstGeom>
            <a:noFill/>
            <a:ln w="38100">
              <a:solidFill>
                <a:srgbClr val="2C578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panose="020B0502040204020203" pitchFamily="34" charset="0"/>
                <a:ea typeface="+mn-ea"/>
                <a:cs typeface="+mn-cs"/>
              </a:endParaRPr>
            </a:p>
          </p:txBody>
        </p:sp>
      </p:grpSp>
      <p:grpSp>
        <p:nvGrpSpPr>
          <p:cNvPr id="109" name="Grupo 108">
            <a:extLst>
              <a:ext uri="{FF2B5EF4-FFF2-40B4-BE49-F238E27FC236}">
                <a16:creationId xmlns:a16="http://schemas.microsoft.com/office/drawing/2014/main" id="{3BD40796-E86F-3B94-0838-966CCC94FDE0}"/>
              </a:ext>
            </a:extLst>
          </p:cNvPr>
          <p:cNvGrpSpPr/>
          <p:nvPr/>
        </p:nvGrpSpPr>
        <p:grpSpPr>
          <a:xfrm>
            <a:off x="8431522" y="4825526"/>
            <a:ext cx="445724" cy="346585"/>
            <a:chOff x="5296124" y="2891461"/>
            <a:chExt cx="665595" cy="557242"/>
          </a:xfrm>
        </p:grpSpPr>
        <p:pic>
          <p:nvPicPr>
            <p:cNvPr id="110" name="Imagen 109">
              <a:extLst>
                <a:ext uri="{FF2B5EF4-FFF2-40B4-BE49-F238E27FC236}">
                  <a16:creationId xmlns:a16="http://schemas.microsoft.com/office/drawing/2014/main" id="{18F6F1D2-7096-4142-DCC6-EACECC0A6411}"/>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p:blipFill>
          <p:spPr>
            <a:xfrm>
              <a:off x="5296124" y="3011798"/>
              <a:ext cx="665595" cy="374867"/>
            </a:xfrm>
            <a:prstGeom prst="rect">
              <a:avLst/>
            </a:prstGeom>
          </p:spPr>
        </p:pic>
        <p:sp>
          <p:nvSpPr>
            <p:cNvPr id="111" name="Elipse 110">
              <a:extLst>
                <a:ext uri="{FF2B5EF4-FFF2-40B4-BE49-F238E27FC236}">
                  <a16:creationId xmlns:a16="http://schemas.microsoft.com/office/drawing/2014/main" id="{9369159E-FFF1-87D3-327F-B86AA62F9B3D}"/>
                </a:ext>
              </a:extLst>
            </p:cNvPr>
            <p:cNvSpPr/>
            <p:nvPr/>
          </p:nvSpPr>
          <p:spPr>
            <a:xfrm>
              <a:off x="5354160" y="2891461"/>
              <a:ext cx="563274" cy="557242"/>
            </a:xfrm>
            <a:prstGeom prst="ellipse">
              <a:avLst/>
            </a:prstGeom>
            <a:noFill/>
            <a:ln w="38100">
              <a:solidFill>
                <a:srgbClr val="2C578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panose="020B0502040204020203" pitchFamily="34" charset="0"/>
                <a:ea typeface="+mn-ea"/>
                <a:cs typeface="+mn-cs"/>
              </a:endParaRPr>
            </a:p>
          </p:txBody>
        </p:sp>
      </p:grpSp>
      <p:grpSp>
        <p:nvGrpSpPr>
          <p:cNvPr id="112" name="Grupo 111">
            <a:extLst>
              <a:ext uri="{FF2B5EF4-FFF2-40B4-BE49-F238E27FC236}">
                <a16:creationId xmlns:a16="http://schemas.microsoft.com/office/drawing/2014/main" id="{53197097-16BB-FBE4-9589-363467EEB380}"/>
              </a:ext>
            </a:extLst>
          </p:cNvPr>
          <p:cNvGrpSpPr/>
          <p:nvPr/>
        </p:nvGrpSpPr>
        <p:grpSpPr>
          <a:xfrm>
            <a:off x="8447392" y="5293016"/>
            <a:ext cx="413977" cy="413977"/>
            <a:chOff x="5319827" y="2866435"/>
            <a:chExt cx="618188" cy="665595"/>
          </a:xfrm>
        </p:grpSpPr>
        <p:pic>
          <p:nvPicPr>
            <p:cNvPr id="113" name="Imagen 112">
              <a:extLst>
                <a:ext uri="{FF2B5EF4-FFF2-40B4-BE49-F238E27FC236}">
                  <a16:creationId xmlns:a16="http://schemas.microsoft.com/office/drawing/2014/main" id="{E9ACEA38-BD51-40CA-2916-18BA334D3EE0}"/>
                </a:ext>
              </a:extLst>
            </p:cNvPr>
            <p:cNvPicPr>
              <a:picLocks noChangeAspect="1"/>
            </p:cNvPicPr>
            <p:nvPr/>
          </p:nvPicPr>
          <p:blipFill>
            <a:blip r:embed="rId9" cstate="print">
              <a:extLst>
                <a:ext uri="{28A0092B-C50C-407E-A947-70E740481C1C}">
                  <a14:useLocalDpi xmlns:a14="http://schemas.microsoft.com/office/drawing/2010/main" val="0"/>
                </a:ext>
              </a:extLst>
            </a:blip>
            <a:srcRect/>
            <a:stretch/>
          </p:blipFill>
          <p:spPr>
            <a:xfrm>
              <a:off x="5319827" y="2866435"/>
              <a:ext cx="618188" cy="665595"/>
            </a:xfrm>
            <a:prstGeom prst="rect">
              <a:avLst/>
            </a:prstGeom>
          </p:spPr>
        </p:pic>
        <p:sp>
          <p:nvSpPr>
            <p:cNvPr id="114" name="Elipse 113">
              <a:extLst>
                <a:ext uri="{FF2B5EF4-FFF2-40B4-BE49-F238E27FC236}">
                  <a16:creationId xmlns:a16="http://schemas.microsoft.com/office/drawing/2014/main" id="{83608272-5E93-7D4B-1AE7-C6852D2F98F6}"/>
                </a:ext>
              </a:extLst>
            </p:cNvPr>
            <p:cNvSpPr/>
            <p:nvPr/>
          </p:nvSpPr>
          <p:spPr>
            <a:xfrm>
              <a:off x="5354160" y="2891461"/>
              <a:ext cx="563274" cy="557242"/>
            </a:xfrm>
            <a:prstGeom prst="ellipse">
              <a:avLst/>
            </a:prstGeom>
            <a:noFill/>
            <a:ln w="38100">
              <a:solidFill>
                <a:srgbClr val="2C578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panose="020B0502040204020203" pitchFamily="34" charset="0"/>
                <a:ea typeface="+mn-ea"/>
                <a:cs typeface="+mn-cs"/>
              </a:endParaRPr>
            </a:p>
          </p:txBody>
        </p:sp>
      </p:grpSp>
      <p:grpSp>
        <p:nvGrpSpPr>
          <p:cNvPr id="115" name="Grupo 114">
            <a:extLst>
              <a:ext uri="{FF2B5EF4-FFF2-40B4-BE49-F238E27FC236}">
                <a16:creationId xmlns:a16="http://schemas.microsoft.com/office/drawing/2014/main" id="{2E8C39C8-D564-FB2B-41F1-2F2BB63EC84A}"/>
              </a:ext>
            </a:extLst>
          </p:cNvPr>
          <p:cNvGrpSpPr/>
          <p:nvPr/>
        </p:nvGrpSpPr>
        <p:grpSpPr>
          <a:xfrm>
            <a:off x="8447392" y="5776067"/>
            <a:ext cx="413977" cy="413977"/>
            <a:chOff x="5319827" y="2866435"/>
            <a:chExt cx="618188" cy="665595"/>
          </a:xfrm>
        </p:grpSpPr>
        <p:pic>
          <p:nvPicPr>
            <p:cNvPr id="116" name="Imagen 115">
              <a:extLst>
                <a:ext uri="{FF2B5EF4-FFF2-40B4-BE49-F238E27FC236}">
                  <a16:creationId xmlns:a16="http://schemas.microsoft.com/office/drawing/2014/main" id="{A716637E-0EEF-E5B9-252D-C6CBEEE7103E}"/>
                </a:ext>
              </a:extLst>
            </p:cNvPr>
            <p:cNvPicPr>
              <a:picLocks noChangeAspect="1"/>
            </p:cNvPicPr>
            <p:nvPr/>
          </p:nvPicPr>
          <p:blipFill>
            <a:blip r:embed="rId10" cstate="print">
              <a:extLst>
                <a:ext uri="{28A0092B-C50C-407E-A947-70E740481C1C}">
                  <a14:useLocalDpi xmlns:a14="http://schemas.microsoft.com/office/drawing/2010/main" val="0"/>
                </a:ext>
              </a:extLst>
            </a:blip>
            <a:srcRect/>
            <a:stretch/>
          </p:blipFill>
          <p:spPr>
            <a:xfrm>
              <a:off x="5319827" y="2866435"/>
              <a:ext cx="618188" cy="665595"/>
            </a:xfrm>
            <a:prstGeom prst="rect">
              <a:avLst/>
            </a:prstGeom>
          </p:spPr>
        </p:pic>
        <p:sp>
          <p:nvSpPr>
            <p:cNvPr id="117" name="Elipse 116">
              <a:extLst>
                <a:ext uri="{FF2B5EF4-FFF2-40B4-BE49-F238E27FC236}">
                  <a16:creationId xmlns:a16="http://schemas.microsoft.com/office/drawing/2014/main" id="{72ED381D-AE22-5615-FFE4-543C2A4B726C}"/>
                </a:ext>
              </a:extLst>
            </p:cNvPr>
            <p:cNvSpPr/>
            <p:nvPr/>
          </p:nvSpPr>
          <p:spPr>
            <a:xfrm>
              <a:off x="5354160" y="2891461"/>
              <a:ext cx="563274" cy="557242"/>
            </a:xfrm>
            <a:prstGeom prst="ellipse">
              <a:avLst/>
            </a:prstGeom>
            <a:noFill/>
            <a:ln w="38100">
              <a:solidFill>
                <a:srgbClr val="2C578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panose="020B0502040204020203" pitchFamily="34" charset="0"/>
                <a:ea typeface="+mn-ea"/>
                <a:cs typeface="+mn-cs"/>
              </a:endParaRPr>
            </a:p>
          </p:txBody>
        </p:sp>
      </p:grpSp>
    </p:spTree>
    <p:extLst>
      <p:ext uri="{BB962C8B-B14F-4D97-AF65-F5344CB8AC3E}">
        <p14:creationId xmlns:p14="http://schemas.microsoft.com/office/powerpoint/2010/main" val="332172524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475055-6FA1-7BC5-F934-3EE2AECE0912}"/>
            </a:ext>
          </a:extLst>
        </p:cNvPr>
        <p:cNvGrpSpPr/>
        <p:nvPr/>
      </p:nvGrpSpPr>
      <p:grpSpPr>
        <a:xfrm>
          <a:off x="0" y="0"/>
          <a:ext cx="0" cy="0"/>
          <a:chOff x="0" y="0"/>
          <a:chExt cx="0" cy="0"/>
        </a:xfrm>
      </p:grpSpPr>
      <p:sp>
        <p:nvSpPr>
          <p:cNvPr id="16" name="CuadroTexto 15">
            <a:extLst>
              <a:ext uri="{FF2B5EF4-FFF2-40B4-BE49-F238E27FC236}">
                <a16:creationId xmlns:a16="http://schemas.microsoft.com/office/drawing/2014/main" id="{18732F17-469A-6CAD-F838-DCEA5038EDC7}"/>
              </a:ext>
            </a:extLst>
          </p:cNvPr>
          <p:cNvSpPr txBox="1"/>
          <p:nvPr/>
        </p:nvSpPr>
        <p:spPr>
          <a:xfrm>
            <a:off x="212709" y="920682"/>
            <a:ext cx="11766582" cy="430887"/>
          </a:xfrm>
          <a:prstGeom prst="rect">
            <a:avLst/>
          </a:prstGeom>
          <a:noFill/>
        </p:spPr>
        <p:txBody>
          <a:bodyPr wrap="square" lIns="0" tIns="0" rIns="0" bIns="0" rtlCol="0">
            <a:noAutofit/>
          </a:bodyPr>
          <a:lstStyle>
            <a:defPPr>
              <a:defRPr lang="en-US"/>
            </a:defPPr>
            <a:lvl1pPr marR="0" lvl="0" indent="0" algn="just" fontAlgn="auto">
              <a:lnSpc>
                <a:spcPct val="100000"/>
              </a:lnSpc>
              <a:spcBef>
                <a:spcPts val="0"/>
              </a:spcBef>
              <a:spcAft>
                <a:spcPts val="0"/>
              </a:spcAft>
              <a:buClrTx/>
              <a:buSzTx/>
              <a:buFontTx/>
              <a:buNone/>
              <a:tabLst/>
              <a:defRPr kumimoji="0" sz="1400" b="1" i="0" u="none" strike="noStrike" cap="none" spc="0" normalizeH="0" baseline="0">
                <a:ln>
                  <a:noFill/>
                </a:ln>
                <a:solidFill>
                  <a:srgbClr val="0F9ED5">
                    <a:lumMod val="75000"/>
                  </a:srgbClr>
                </a:solidFill>
                <a:effectLst/>
                <a:uLnTx/>
                <a:uFillTx/>
                <a:latin typeface="Arial" panose="020B0604020202020204" pitchFamily="34" charset="0"/>
                <a:cs typeface="Arial" panose="020B0604020202020204" pitchFamily="34" charset="0"/>
              </a:defRPr>
            </a:lvl1pPr>
            <a:lvl2pPr marL="228586" eaLnBrk="0" fontAlgn="base" hangingPunct="0">
              <a:spcBef>
                <a:spcPct val="0"/>
              </a:spcBef>
              <a:spcAft>
                <a:spcPct val="0"/>
              </a:spcAft>
              <a:defRPr>
                <a:latin typeface="Arial" pitchFamily="2" charset="77"/>
              </a:defRPr>
            </a:lvl2pPr>
            <a:lvl3pPr marL="457172" eaLnBrk="0" fontAlgn="base" hangingPunct="0">
              <a:spcBef>
                <a:spcPct val="0"/>
              </a:spcBef>
              <a:spcAft>
                <a:spcPct val="0"/>
              </a:spcAft>
              <a:defRPr>
                <a:latin typeface="Arial" pitchFamily="2" charset="77"/>
              </a:defRPr>
            </a:lvl3pPr>
            <a:lvl4pPr marL="685757" eaLnBrk="0" fontAlgn="base" hangingPunct="0">
              <a:spcBef>
                <a:spcPct val="0"/>
              </a:spcBef>
              <a:spcAft>
                <a:spcPct val="0"/>
              </a:spcAft>
              <a:defRPr>
                <a:latin typeface="Arial" pitchFamily="2" charset="77"/>
              </a:defRPr>
            </a:lvl4pPr>
            <a:lvl5pPr marL="914343" eaLnBrk="0" fontAlgn="base" hangingPunct="0">
              <a:spcBef>
                <a:spcPct val="0"/>
              </a:spcBef>
              <a:spcAft>
                <a:spcPct val="0"/>
              </a:spcAft>
              <a:defRPr>
                <a:latin typeface="Arial" pitchFamily="2" charset="77"/>
              </a:defRPr>
            </a:lvl5pPr>
            <a:lvl6pPr marL="1142929" defTabSz="457172">
              <a:defRPr>
                <a:latin typeface="Arial" pitchFamily="2" charset="77"/>
              </a:defRPr>
            </a:lvl6pPr>
            <a:lvl7pPr marL="1371515" defTabSz="457172">
              <a:defRPr>
                <a:latin typeface="Arial" pitchFamily="2" charset="77"/>
              </a:defRPr>
            </a:lvl7pPr>
            <a:lvl8pPr marL="1600100" defTabSz="457172">
              <a:defRPr>
                <a:latin typeface="Arial" pitchFamily="2" charset="77"/>
              </a:defRPr>
            </a:lvl8pPr>
            <a:lvl9pPr marL="1828686" defTabSz="457172">
              <a:defRPr>
                <a:latin typeface="Arial" pitchFamily="2" charset="77"/>
              </a:defRPr>
            </a:lvl9pPr>
          </a:lstStyle>
          <a:p>
            <a:r>
              <a:rPr lang="en-US" noProof="0"/>
              <a:t>Our assessment highlights opportunities to strengthen alignment, governance, and prioritization to enable a more scalable and sustainable TO‑BE operating model.</a:t>
            </a:r>
          </a:p>
        </p:txBody>
      </p:sp>
      <p:sp>
        <p:nvSpPr>
          <p:cNvPr id="60" name="Título 2">
            <a:extLst>
              <a:ext uri="{FF2B5EF4-FFF2-40B4-BE49-F238E27FC236}">
                <a16:creationId xmlns:a16="http://schemas.microsoft.com/office/drawing/2014/main" id="{90C69A10-9039-186B-5423-CFF9D77C02B9}"/>
              </a:ext>
            </a:extLst>
          </p:cNvPr>
          <p:cNvSpPr txBox="1">
            <a:spLocks/>
          </p:cNvSpPr>
          <p:nvPr/>
        </p:nvSpPr>
        <p:spPr>
          <a:xfrm>
            <a:off x="180918" y="127319"/>
            <a:ext cx="7801032" cy="514011"/>
          </a:xfrm>
          <a:prstGeom prst="rect">
            <a:avLst/>
          </a:prstGeom>
        </p:spPr>
        <p:txBody>
          <a:bodyPr anchor="ctr">
            <a:noAutofit/>
          </a:bodyPr>
          <a:lstStyle>
            <a:defPPr>
              <a:defRPr lang="en-US"/>
            </a:defPPr>
            <a:lvl1pPr marR="0" lvl="0" indent="0" fontAlgn="auto">
              <a:lnSpc>
                <a:spcPct val="90000"/>
              </a:lnSpc>
              <a:spcBef>
                <a:spcPct val="0"/>
              </a:spcBef>
              <a:spcAft>
                <a:spcPts val="0"/>
              </a:spcAft>
              <a:buClrTx/>
              <a:buSzTx/>
              <a:buFontTx/>
              <a:buNone/>
              <a:tabLst/>
              <a:defRPr kumimoji="0" sz="2400" b="1" i="0" u="none" strike="noStrike" cap="none" spc="0" normalizeH="0" baseline="0">
                <a:ln>
                  <a:noFill/>
                </a:ln>
                <a:solidFill>
                  <a:prstClr val="white"/>
                </a:solidFill>
                <a:effectLst/>
                <a:uLnTx/>
                <a:uFillTx/>
                <a:latin typeface="Arial" panose="020B0604020202020204" pitchFamily="34" charset="0"/>
                <a:ea typeface="+mj-ea"/>
                <a:cs typeface="Arial" panose="020B0604020202020204" pitchFamily="34" charset="0"/>
              </a:defRPr>
            </a:lvl1pPr>
          </a:lstStyle>
          <a:p>
            <a:r>
              <a:rPr lang="en-US" noProof="0">
                <a:sym typeface="Gordita"/>
              </a:rPr>
              <a:t>INSIGHTS &amp; KEY DEFINITIONS FOR TO-BE MODEL</a:t>
            </a:r>
          </a:p>
        </p:txBody>
      </p:sp>
    </p:spTree>
    <p:extLst>
      <p:ext uri="{BB962C8B-B14F-4D97-AF65-F5344CB8AC3E}">
        <p14:creationId xmlns:p14="http://schemas.microsoft.com/office/powerpoint/2010/main" val="165453748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550F9A-39D7-70F7-31D7-C85E07DDEDD8}"/>
            </a:ext>
          </a:extLst>
        </p:cNvPr>
        <p:cNvGrpSpPr/>
        <p:nvPr/>
      </p:nvGrpSpPr>
      <p:grpSpPr>
        <a:xfrm>
          <a:off x="0" y="0"/>
          <a:ext cx="0" cy="0"/>
          <a:chOff x="0" y="0"/>
          <a:chExt cx="0" cy="0"/>
        </a:xfrm>
      </p:grpSpPr>
      <p:sp>
        <p:nvSpPr>
          <p:cNvPr id="1066" name="Elipse 1065">
            <a:extLst>
              <a:ext uri="{FF2B5EF4-FFF2-40B4-BE49-F238E27FC236}">
                <a16:creationId xmlns:a16="http://schemas.microsoft.com/office/drawing/2014/main" id="{01AD0468-B4FE-59CD-8B1F-13EDE1DA001F}"/>
              </a:ext>
            </a:extLst>
          </p:cNvPr>
          <p:cNvSpPr/>
          <p:nvPr/>
        </p:nvSpPr>
        <p:spPr>
          <a:xfrm>
            <a:off x="3438872" y="4495800"/>
            <a:ext cx="865256" cy="847725"/>
          </a:xfrm>
          <a:prstGeom prst="ellipse">
            <a:avLst/>
          </a:prstGeom>
          <a:solidFill>
            <a:schemeClr val="bg1"/>
          </a:solidFill>
          <a:ln>
            <a:noFill/>
          </a:ln>
          <a:effectLst>
            <a:innerShdw blurRad="63500" dist="50800" dir="54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6" name="CuadroTexto 15">
            <a:extLst>
              <a:ext uri="{FF2B5EF4-FFF2-40B4-BE49-F238E27FC236}">
                <a16:creationId xmlns:a16="http://schemas.microsoft.com/office/drawing/2014/main" id="{29C6B16C-160F-BD05-48F3-38532D71EA74}"/>
              </a:ext>
            </a:extLst>
          </p:cNvPr>
          <p:cNvSpPr txBox="1"/>
          <p:nvPr/>
        </p:nvSpPr>
        <p:spPr>
          <a:xfrm>
            <a:off x="212709" y="920682"/>
            <a:ext cx="11766582" cy="430887"/>
          </a:xfrm>
          <a:prstGeom prst="rect">
            <a:avLst/>
          </a:prstGeom>
          <a:noFill/>
        </p:spPr>
        <p:txBody>
          <a:bodyPr wrap="square" lIns="0" tIns="0" rIns="0" bIns="0" rtlCol="0">
            <a:noAutofit/>
          </a:bodyPr>
          <a:lstStyle>
            <a:defPPr>
              <a:defRPr lang="en-US"/>
            </a:defPPr>
            <a:lvl1pPr marR="0" lvl="0" indent="0" algn="just" fontAlgn="auto">
              <a:lnSpc>
                <a:spcPct val="100000"/>
              </a:lnSpc>
              <a:spcBef>
                <a:spcPts val="0"/>
              </a:spcBef>
              <a:spcAft>
                <a:spcPts val="0"/>
              </a:spcAft>
              <a:buClrTx/>
              <a:buSzTx/>
              <a:buFontTx/>
              <a:buNone/>
              <a:tabLst/>
              <a:defRPr kumimoji="0" sz="1400" b="1" i="0" u="none" strike="noStrike" cap="none" spc="0" normalizeH="0" baseline="0">
                <a:ln>
                  <a:noFill/>
                </a:ln>
                <a:solidFill>
                  <a:srgbClr val="0F9ED5">
                    <a:lumMod val="75000"/>
                  </a:srgbClr>
                </a:solidFill>
                <a:effectLst/>
                <a:uLnTx/>
                <a:uFillTx/>
                <a:latin typeface="Arial" panose="020B0604020202020204" pitchFamily="34" charset="0"/>
                <a:cs typeface="Arial" panose="020B0604020202020204" pitchFamily="34" charset="0"/>
              </a:defRPr>
            </a:lvl1pPr>
            <a:lvl2pPr marL="228586" eaLnBrk="0" fontAlgn="base" hangingPunct="0">
              <a:spcBef>
                <a:spcPct val="0"/>
              </a:spcBef>
              <a:spcAft>
                <a:spcPct val="0"/>
              </a:spcAft>
              <a:defRPr>
                <a:latin typeface="Arial" pitchFamily="2" charset="77"/>
              </a:defRPr>
            </a:lvl2pPr>
            <a:lvl3pPr marL="457172" eaLnBrk="0" fontAlgn="base" hangingPunct="0">
              <a:spcBef>
                <a:spcPct val="0"/>
              </a:spcBef>
              <a:spcAft>
                <a:spcPct val="0"/>
              </a:spcAft>
              <a:defRPr>
                <a:latin typeface="Arial" pitchFamily="2" charset="77"/>
              </a:defRPr>
            </a:lvl3pPr>
            <a:lvl4pPr marL="685757" eaLnBrk="0" fontAlgn="base" hangingPunct="0">
              <a:spcBef>
                <a:spcPct val="0"/>
              </a:spcBef>
              <a:spcAft>
                <a:spcPct val="0"/>
              </a:spcAft>
              <a:defRPr>
                <a:latin typeface="Arial" pitchFamily="2" charset="77"/>
              </a:defRPr>
            </a:lvl4pPr>
            <a:lvl5pPr marL="914343" eaLnBrk="0" fontAlgn="base" hangingPunct="0">
              <a:spcBef>
                <a:spcPct val="0"/>
              </a:spcBef>
              <a:spcAft>
                <a:spcPct val="0"/>
              </a:spcAft>
              <a:defRPr>
                <a:latin typeface="Arial" pitchFamily="2" charset="77"/>
              </a:defRPr>
            </a:lvl5pPr>
            <a:lvl6pPr marL="1142929" defTabSz="457172">
              <a:defRPr>
                <a:latin typeface="Arial" pitchFamily="2" charset="77"/>
              </a:defRPr>
            </a:lvl6pPr>
            <a:lvl7pPr marL="1371515" defTabSz="457172">
              <a:defRPr>
                <a:latin typeface="Arial" pitchFamily="2" charset="77"/>
              </a:defRPr>
            </a:lvl7pPr>
            <a:lvl8pPr marL="1600100" defTabSz="457172">
              <a:defRPr>
                <a:latin typeface="Arial" pitchFamily="2" charset="77"/>
              </a:defRPr>
            </a:lvl8pPr>
            <a:lvl9pPr marL="1828686" defTabSz="457172">
              <a:defRPr>
                <a:latin typeface="Arial" pitchFamily="2" charset="77"/>
              </a:defRPr>
            </a:lvl9pPr>
          </a:lstStyle>
          <a:p>
            <a:r>
              <a:rPr lang="en-US" noProof="0"/>
              <a:t>Our assessment highlights opportunities to strengthen alignment, governance, and prioritization to enable a more scalable and sustainable TO‑BE operating model.</a:t>
            </a:r>
          </a:p>
        </p:txBody>
      </p:sp>
      <p:sp>
        <p:nvSpPr>
          <p:cNvPr id="60" name="Título 2">
            <a:extLst>
              <a:ext uri="{FF2B5EF4-FFF2-40B4-BE49-F238E27FC236}">
                <a16:creationId xmlns:a16="http://schemas.microsoft.com/office/drawing/2014/main" id="{BC2587D2-B14C-F545-A32E-9E5E32F5A66D}"/>
              </a:ext>
            </a:extLst>
          </p:cNvPr>
          <p:cNvSpPr txBox="1">
            <a:spLocks/>
          </p:cNvSpPr>
          <p:nvPr/>
        </p:nvSpPr>
        <p:spPr>
          <a:xfrm>
            <a:off x="180918" y="127319"/>
            <a:ext cx="7801032" cy="514011"/>
          </a:xfrm>
          <a:prstGeom prst="rect">
            <a:avLst/>
          </a:prstGeom>
        </p:spPr>
        <p:txBody>
          <a:bodyPr anchor="ctr">
            <a:noAutofit/>
          </a:bodyPr>
          <a:lstStyle>
            <a:defPPr>
              <a:defRPr lang="en-US"/>
            </a:defPPr>
            <a:lvl1pPr marR="0" lvl="0" indent="0" fontAlgn="auto">
              <a:lnSpc>
                <a:spcPct val="90000"/>
              </a:lnSpc>
              <a:spcBef>
                <a:spcPct val="0"/>
              </a:spcBef>
              <a:spcAft>
                <a:spcPts val="0"/>
              </a:spcAft>
              <a:buClrTx/>
              <a:buSzTx/>
              <a:buFontTx/>
              <a:buNone/>
              <a:tabLst/>
              <a:defRPr kumimoji="0" sz="2400" b="1" i="0" u="none" strike="noStrike" cap="none" spc="0" normalizeH="0" baseline="0">
                <a:ln>
                  <a:noFill/>
                </a:ln>
                <a:solidFill>
                  <a:prstClr val="white"/>
                </a:solidFill>
                <a:effectLst/>
                <a:uLnTx/>
                <a:uFillTx/>
                <a:latin typeface="Arial" panose="020B0604020202020204" pitchFamily="34" charset="0"/>
                <a:ea typeface="+mj-ea"/>
                <a:cs typeface="Arial" panose="020B0604020202020204" pitchFamily="34" charset="0"/>
              </a:defRPr>
            </a:lvl1pPr>
          </a:lstStyle>
          <a:p>
            <a:r>
              <a:rPr lang="en-US" noProof="0">
                <a:sym typeface="Gordita"/>
              </a:rPr>
              <a:t>INSIGHTS &amp; KEY DEFINITIONS FOR TO-BE MODEL</a:t>
            </a:r>
          </a:p>
        </p:txBody>
      </p:sp>
      <p:grpSp>
        <p:nvGrpSpPr>
          <p:cNvPr id="1063" name="Grupo 1062">
            <a:extLst>
              <a:ext uri="{FF2B5EF4-FFF2-40B4-BE49-F238E27FC236}">
                <a16:creationId xmlns:a16="http://schemas.microsoft.com/office/drawing/2014/main" id="{390BDE7A-1EFA-6D98-8CBD-64CBDE318EC5}"/>
              </a:ext>
            </a:extLst>
          </p:cNvPr>
          <p:cNvGrpSpPr/>
          <p:nvPr/>
        </p:nvGrpSpPr>
        <p:grpSpPr>
          <a:xfrm>
            <a:off x="5351931" y="4658780"/>
            <a:ext cx="663341" cy="586648"/>
            <a:chOff x="5351931" y="4658780"/>
            <a:chExt cx="663341" cy="586648"/>
          </a:xfrm>
          <a:effectLst>
            <a:outerShdw blurRad="50800" dist="38100" dir="5400000" algn="t" rotWithShape="0">
              <a:prstClr val="black">
                <a:alpha val="40000"/>
              </a:prstClr>
            </a:outerShdw>
          </a:effectLst>
        </p:grpSpPr>
        <p:sp>
          <p:nvSpPr>
            <p:cNvPr id="15" name="Arc 125">
              <a:extLst>
                <a:ext uri="{FF2B5EF4-FFF2-40B4-BE49-F238E27FC236}">
                  <a16:creationId xmlns:a16="http://schemas.microsoft.com/office/drawing/2014/main" id="{F7FBC72C-AF5F-6F7C-697E-EC4400D9F9FF}"/>
                </a:ext>
              </a:extLst>
            </p:cNvPr>
            <p:cNvSpPr>
              <a:spLocks noChangeAspect="1"/>
            </p:cNvSpPr>
            <p:nvPr/>
          </p:nvSpPr>
          <p:spPr>
            <a:xfrm>
              <a:off x="5386190" y="4658780"/>
              <a:ext cx="590563" cy="586648"/>
            </a:xfrm>
            <a:prstGeom prst="arc">
              <a:avLst>
                <a:gd name="adj1" fmla="val 6938162"/>
                <a:gd name="adj2" fmla="val 3832306"/>
              </a:avLst>
            </a:prstGeom>
            <a:ln w="19050">
              <a:solidFill>
                <a:srgbClr val="BFBFB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a:p>
          </p:txBody>
        </p:sp>
        <p:sp>
          <p:nvSpPr>
            <p:cNvPr id="12" name="Oval 166">
              <a:extLst>
                <a:ext uri="{FF2B5EF4-FFF2-40B4-BE49-F238E27FC236}">
                  <a16:creationId xmlns:a16="http://schemas.microsoft.com/office/drawing/2014/main" id="{4337FA88-1609-7CFB-014D-C14884220FE0}"/>
                </a:ext>
              </a:extLst>
            </p:cNvPr>
            <p:cNvSpPr>
              <a:spLocks noChangeAspect="1"/>
            </p:cNvSpPr>
            <p:nvPr/>
          </p:nvSpPr>
          <p:spPr>
            <a:xfrm>
              <a:off x="5408582" y="4682167"/>
              <a:ext cx="106218" cy="105514"/>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a:p>
          </p:txBody>
        </p:sp>
        <p:pic>
          <p:nvPicPr>
            <p:cNvPr id="1026" name="Picture 2">
              <a:extLst>
                <a:ext uri="{FF2B5EF4-FFF2-40B4-BE49-F238E27FC236}">
                  <a16:creationId xmlns:a16="http://schemas.microsoft.com/office/drawing/2014/main" id="{7E00B890-7B82-5BA2-44C7-8CD81A6B474D}"/>
                </a:ext>
              </a:extLst>
            </p:cNvPr>
            <p:cNvPicPr>
              <a:picLocks noChangeAspect="1" noChangeArrowheads="1"/>
            </p:cNvPicPr>
            <p:nvPr/>
          </p:nvPicPr>
          <p:blipFill rotWithShape="1">
            <a:blip r:embed="rId2">
              <a:grayscl/>
              <a:extLst>
                <a:ext uri="{28A0092B-C50C-407E-A947-70E740481C1C}">
                  <a14:useLocalDpi xmlns:a14="http://schemas.microsoft.com/office/drawing/2010/main" val="0"/>
                </a:ext>
              </a:extLst>
            </a:blip>
            <a:srcRect l="18987" t="20192" r="20811" b="37131"/>
            <a:stretch>
              <a:fillRect/>
            </a:stretch>
          </p:blipFill>
          <p:spPr bwMode="auto">
            <a:xfrm>
              <a:off x="5408262" y="4692782"/>
              <a:ext cx="106218" cy="74800"/>
            </a:xfrm>
            <a:prstGeom prst="rect">
              <a:avLst/>
            </a:prstGeom>
            <a:noFill/>
            <a:extLst>
              <a:ext uri="{909E8E84-426E-40DD-AFC4-6F175D3DCCD1}">
                <a14:hiddenFill xmlns:a14="http://schemas.microsoft.com/office/drawing/2010/main">
                  <a:solidFill>
                    <a:srgbClr val="FFFFFF"/>
                  </a:solidFill>
                </a14:hiddenFill>
              </a:ext>
            </a:extLst>
          </p:spPr>
        </p:pic>
        <p:sp>
          <p:nvSpPr>
            <p:cNvPr id="26" name="Oval 166">
              <a:extLst>
                <a:ext uri="{FF2B5EF4-FFF2-40B4-BE49-F238E27FC236}">
                  <a16:creationId xmlns:a16="http://schemas.microsoft.com/office/drawing/2014/main" id="{6FA0C5F4-0EA7-9CC5-BAB5-7A51A24EB1BC}"/>
                </a:ext>
              </a:extLst>
            </p:cNvPr>
            <p:cNvSpPr>
              <a:spLocks noChangeAspect="1"/>
            </p:cNvSpPr>
            <p:nvPr/>
          </p:nvSpPr>
          <p:spPr>
            <a:xfrm>
              <a:off x="5408902" y="4682398"/>
              <a:ext cx="106218" cy="105514"/>
            </a:xfrm>
            <a:prstGeom prst="ellipse">
              <a:avLst/>
            </a:prstGeom>
            <a:noFill/>
            <a:ln w="19050">
              <a:solidFill>
                <a:srgbClr val="BFBFB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a:p>
          </p:txBody>
        </p:sp>
        <p:sp>
          <p:nvSpPr>
            <p:cNvPr id="19" name="Oval 166">
              <a:extLst>
                <a:ext uri="{FF2B5EF4-FFF2-40B4-BE49-F238E27FC236}">
                  <a16:creationId xmlns:a16="http://schemas.microsoft.com/office/drawing/2014/main" id="{8BBF8017-4622-5723-3272-86836180514A}"/>
                </a:ext>
              </a:extLst>
            </p:cNvPr>
            <p:cNvSpPr>
              <a:spLocks noChangeAspect="1"/>
            </p:cNvSpPr>
            <p:nvPr/>
          </p:nvSpPr>
          <p:spPr>
            <a:xfrm>
              <a:off x="5842134" y="4692781"/>
              <a:ext cx="106218" cy="105514"/>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a:p>
          </p:txBody>
        </p:sp>
        <p:pic>
          <p:nvPicPr>
            <p:cNvPr id="22" name="Picture 2">
              <a:extLst>
                <a:ext uri="{FF2B5EF4-FFF2-40B4-BE49-F238E27FC236}">
                  <a16:creationId xmlns:a16="http://schemas.microsoft.com/office/drawing/2014/main" id="{30173CB3-C58A-EAAE-8171-77180F4B98E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5524" t="26589" r="16378" b="40963"/>
            <a:stretch>
              <a:fillRect/>
            </a:stretch>
          </p:blipFill>
          <p:spPr bwMode="auto">
            <a:xfrm>
              <a:off x="5842134" y="4715807"/>
              <a:ext cx="109380" cy="51774"/>
            </a:xfrm>
            <a:prstGeom prst="rect">
              <a:avLst/>
            </a:prstGeom>
            <a:noFill/>
            <a:extLst>
              <a:ext uri="{909E8E84-426E-40DD-AFC4-6F175D3DCCD1}">
                <a14:hiddenFill xmlns:a14="http://schemas.microsoft.com/office/drawing/2010/main">
                  <a:solidFill>
                    <a:srgbClr val="FFFFFF"/>
                  </a:solidFill>
                </a14:hiddenFill>
              </a:ext>
            </a:extLst>
          </p:spPr>
        </p:pic>
        <p:sp>
          <p:nvSpPr>
            <p:cNvPr id="23" name="Oval 166">
              <a:extLst>
                <a:ext uri="{FF2B5EF4-FFF2-40B4-BE49-F238E27FC236}">
                  <a16:creationId xmlns:a16="http://schemas.microsoft.com/office/drawing/2014/main" id="{1E78AEC4-0109-1790-BE24-F4E8D08814BB}"/>
                </a:ext>
              </a:extLst>
            </p:cNvPr>
            <p:cNvSpPr>
              <a:spLocks noChangeAspect="1"/>
            </p:cNvSpPr>
            <p:nvPr/>
          </p:nvSpPr>
          <p:spPr>
            <a:xfrm>
              <a:off x="5842454" y="4693012"/>
              <a:ext cx="106218" cy="105514"/>
            </a:xfrm>
            <a:prstGeom prst="ellipse">
              <a:avLst/>
            </a:prstGeom>
            <a:noFill/>
            <a:ln w="19050">
              <a:solidFill>
                <a:srgbClr val="2C578B"/>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a:p>
          </p:txBody>
        </p:sp>
        <p:sp>
          <p:nvSpPr>
            <p:cNvPr id="25" name="Oval 166">
              <a:extLst>
                <a:ext uri="{FF2B5EF4-FFF2-40B4-BE49-F238E27FC236}">
                  <a16:creationId xmlns:a16="http://schemas.microsoft.com/office/drawing/2014/main" id="{122F4377-359E-C3C3-81D1-CD9479173B02}"/>
                </a:ext>
              </a:extLst>
            </p:cNvPr>
            <p:cNvSpPr>
              <a:spLocks noChangeAspect="1"/>
            </p:cNvSpPr>
            <p:nvPr/>
          </p:nvSpPr>
          <p:spPr>
            <a:xfrm>
              <a:off x="5908734" y="4981916"/>
              <a:ext cx="106218" cy="105514"/>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a:p>
          </p:txBody>
        </p:sp>
        <p:pic>
          <p:nvPicPr>
            <p:cNvPr id="27" name="Picture 2">
              <a:extLst>
                <a:ext uri="{FF2B5EF4-FFF2-40B4-BE49-F238E27FC236}">
                  <a16:creationId xmlns:a16="http://schemas.microsoft.com/office/drawing/2014/main" id="{5F105EE3-1771-DFFF-0265-9200C33F8246}"/>
                </a:ext>
              </a:extLst>
            </p:cNvPr>
            <p:cNvPicPr>
              <a:picLocks noChangeAspect="1" noChangeArrowheads="1"/>
            </p:cNvPicPr>
            <p:nvPr/>
          </p:nvPicPr>
          <p:blipFill rotWithShape="1">
            <a:blip r:embed="rId4">
              <a:grayscl/>
              <a:extLst>
                <a:ext uri="{28A0092B-C50C-407E-A947-70E740481C1C}">
                  <a14:useLocalDpi xmlns:a14="http://schemas.microsoft.com/office/drawing/2010/main" val="0"/>
                </a:ext>
              </a:extLst>
            </a:blip>
            <a:srcRect l="26241" t="25004" r="18951" b="28872"/>
            <a:stretch>
              <a:fillRect/>
            </a:stretch>
          </p:blipFill>
          <p:spPr bwMode="auto">
            <a:xfrm>
              <a:off x="5917912" y="4995729"/>
              <a:ext cx="92780" cy="77561"/>
            </a:xfrm>
            <a:prstGeom prst="rect">
              <a:avLst/>
            </a:prstGeom>
            <a:noFill/>
            <a:extLst>
              <a:ext uri="{909E8E84-426E-40DD-AFC4-6F175D3DCCD1}">
                <a14:hiddenFill xmlns:a14="http://schemas.microsoft.com/office/drawing/2010/main">
                  <a:solidFill>
                    <a:srgbClr val="FFFFFF"/>
                  </a:solidFill>
                </a14:hiddenFill>
              </a:ext>
            </a:extLst>
          </p:spPr>
        </p:pic>
        <p:sp>
          <p:nvSpPr>
            <p:cNvPr id="29" name="Oval 166">
              <a:extLst>
                <a:ext uri="{FF2B5EF4-FFF2-40B4-BE49-F238E27FC236}">
                  <a16:creationId xmlns:a16="http://schemas.microsoft.com/office/drawing/2014/main" id="{196A35F3-B7C3-9AE0-94B5-099630EFACDB}"/>
                </a:ext>
              </a:extLst>
            </p:cNvPr>
            <p:cNvSpPr>
              <a:spLocks noChangeAspect="1"/>
            </p:cNvSpPr>
            <p:nvPr/>
          </p:nvSpPr>
          <p:spPr>
            <a:xfrm>
              <a:off x="5909054" y="4982147"/>
              <a:ext cx="106218" cy="105514"/>
            </a:xfrm>
            <a:prstGeom prst="ellipse">
              <a:avLst/>
            </a:prstGeom>
            <a:noFill/>
            <a:ln w="19050">
              <a:solidFill>
                <a:srgbClr val="BFBFB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a:p>
          </p:txBody>
        </p:sp>
        <p:sp>
          <p:nvSpPr>
            <p:cNvPr id="31" name="Oval 166">
              <a:extLst>
                <a:ext uri="{FF2B5EF4-FFF2-40B4-BE49-F238E27FC236}">
                  <a16:creationId xmlns:a16="http://schemas.microsoft.com/office/drawing/2014/main" id="{8586DE2C-C65D-FFF6-FBA3-26215F982D3C}"/>
                </a:ext>
              </a:extLst>
            </p:cNvPr>
            <p:cNvSpPr>
              <a:spLocks noChangeAspect="1"/>
            </p:cNvSpPr>
            <p:nvPr/>
          </p:nvSpPr>
          <p:spPr>
            <a:xfrm>
              <a:off x="5351931" y="4987046"/>
              <a:ext cx="106218" cy="105514"/>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a:p>
          </p:txBody>
        </p:sp>
        <p:pic>
          <p:nvPicPr>
            <p:cNvPr id="32" name="Picture 2" descr="Current Operating Constraints">
              <a:extLst>
                <a:ext uri="{FF2B5EF4-FFF2-40B4-BE49-F238E27FC236}">
                  <a16:creationId xmlns:a16="http://schemas.microsoft.com/office/drawing/2014/main" id="{C21665E6-C539-3245-1C4A-54EC3896EEF6}"/>
                </a:ext>
              </a:extLst>
            </p:cNvPr>
            <p:cNvPicPr>
              <a:picLocks noChangeAspect="1" noChangeArrowheads="1"/>
            </p:cNvPicPr>
            <p:nvPr/>
          </p:nvPicPr>
          <p:blipFill rotWithShape="1">
            <a:blip r:embed="rId5">
              <a:grayscl/>
              <a:extLst>
                <a:ext uri="{28A0092B-C50C-407E-A947-70E740481C1C}">
                  <a14:useLocalDpi xmlns:a14="http://schemas.microsoft.com/office/drawing/2010/main" val="0"/>
                </a:ext>
              </a:extLst>
            </a:blip>
            <a:srcRect l="23951" t="22965" r="19520" b="31934"/>
            <a:stretch>
              <a:fillRect/>
            </a:stretch>
          </p:blipFill>
          <p:spPr bwMode="auto">
            <a:xfrm>
              <a:off x="5362510" y="5004259"/>
              <a:ext cx="87099" cy="69031"/>
            </a:xfrm>
            <a:prstGeom prst="rect">
              <a:avLst/>
            </a:prstGeom>
            <a:noFill/>
            <a:extLst>
              <a:ext uri="{909E8E84-426E-40DD-AFC4-6F175D3DCCD1}">
                <a14:hiddenFill xmlns:a14="http://schemas.microsoft.com/office/drawing/2010/main">
                  <a:solidFill>
                    <a:srgbClr val="FFFFFF"/>
                  </a:solidFill>
                </a14:hiddenFill>
              </a:ext>
            </a:extLst>
          </p:spPr>
        </p:pic>
        <p:sp>
          <p:nvSpPr>
            <p:cNvPr id="33" name="Oval 166">
              <a:extLst>
                <a:ext uri="{FF2B5EF4-FFF2-40B4-BE49-F238E27FC236}">
                  <a16:creationId xmlns:a16="http://schemas.microsoft.com/office/drawing/2014/main" id="{4B468977-411A-1A2A-C22E-2AD790313662}"/>
                </a:ext>
              </a:extLst>
            </p:cNvPr>
            <p:cNvSpPr>
              <a:spLocks noChangeAspect="1"/>
            </p:cNvSpPr>
            <p:nvPr/>
          </p:nvSpPr>
          <p:spPr>
            <a:xfrm>
              <a:off x="5352251" y="4987277"/>
              <a:ext cx="106218" cy="105514"/>
            </a:xfrm>
            <a:prstGeom prst="ellipse">
              <a:avLst/>
            </a:prstGeom>
            <a:noFill/>
            <a:ln w="19050">
              <a:solidFill>
                <a:srgbClr val="BFBFB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a:p>
          </p:txBody>
        </p:sp>
      </p:grpSp>
      <p:grpSp>
        <p:nvGrpSpPr>
          <p:cNvPr id="1062" name="Grupo 1061">
            <a:extLst>
              <a:ext uri="{FF2B5EF4-FFF2-40B4-BE49-F238E27FC236}">
                <a16:creationId xmlns:a16="http://schemas.microsoft.com/office/drawing/2014/main" id="{C46E2D72-3834-2824-F42E-4FF34492344A}"/>
              </a:ext>
            </a:extLst>
          </p:cNvPr>
          <p:cNvGrpSpPr/>
          <p:nvPr/>
        </p:nvGrpSpPr>
        <p:grpSpPr>
          <a:xfrm>
            <a:off x="4437897" y="4637348"/>
            <a:ext cx="663341" cy="586648"/>
            <a:chOff x="4437897" y="4637348"/>
            <a:chExt cx="663341" cy="586648"/>
          </a:xfrm>
          <a:effectLst>
            <a:outerShdw blurRad="50800" dist="38100" dir="5400000" algn="t" rotWithShape="0">
              <a:prstClr val="black">
                <a:alpha val="40000"/>
              </a:prstClr>
            </a:outerShdw>
          </a:effectLst>
        </p:grpSpPr>
        <p:sp>
          <p:nvSpPr>
            <p:cNvPr id="5" name="Arc 125">
              <a:extLst>
                <a:ext uri="{FF2B5EF4-FFF2-40B4-BE49-F238E27FC236}">
                  <a16:creationId xmlns:a16="http://schemas.microsoft.com/office/drawing/2014/main" id="{E18F05A0-C018-1EE2-903B-8A4B123352BB}"/>
                </a:ext>
              </a:extLst>
            </p:cNvPr>
            <p:cNvSpPr>
              <a:spLocks noChangeAspect="1"/>
            </p:cNvSpPr>
            <p:nvPr/>
          </p:nvSpPr>
          <p:spPr>
            <a:xfrm>
              <a:off x="4472156" y="4637348"/>
              <a:ext cx="590563" cy="586648"/>
            </a:xfrm>
            <a:prstGeom prst="arc">
              <a:avLst>
                <a:gd name="adj1" fmla="val 6938162"/>
                <a:gd name="adj2" fmla="val 3832306"/>
              </a:avLst>
            </a:prstGeom>
            <a:ln w="19050">
              <a:solidFill>
                <a:srgbClr val="BFBFB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a:p>
          </p:txBody>
        </p:sp>
        <p:sp>
          <p:nvSpPr>
            <p:cNvPr id="40" name="Oval 166">
              <a:extLst>
                <a:ext uri="{FF2B5EF4-FFF2-40B4-BE49-F238E27FC236}">
                  <a16:creationId xmlns:a16="http://schemas.microsoft.com/office/drawing/2014/main" id="{0C52184C-BBDD-61FA-7081-F0A09CCC66DB}"/>
                </a:ext>
              </a:extLst>
            </p:cNvPr>
            <p:cNvSpPr>
              <a:spLocks noChangeAspect="1"/>
            </p:cNvSpPr>
            <p:nvPr/>
          </p:nvSpPr>
          <p:spPr>
            <a:xfrm>
              <a:off x="4494548" y="4660735"/>
              <a:ext cx="106218" cy="105514"/>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a:p>
          </p:txBody>
        </p:sp>
        <p:pic>
          <p:nvPicPr>
            <p:cNvPr id="41" name="Picture 2">
              <a:extLst>
                <a:ext uri="{FF2B5EF4-FFF2-40B4-BE49-F238E27FC236}">
                  <a16:creationId xmlns:a16="http://schemas.microsoft.com/office/drawing/2014/main" id="{3D924A54-D916-C5FC-0B29-7C955E38E83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8987" t="20192" r="20811" b="37131"/>
            <a:stretch>
              <a:fillRect/>
            </a:stretch>
          </p:blipFill>
          <p:spPr bwMode="auto">
            <a:xfrm>
              <a:off x="4494228" y="4671350"/>
              <a:ext cx="106218" cy="74800"/>
            </a:xfrm>
            <a:prstGeom prst="rect">
              <a:avLst/>
            </a:prstGeom>
            <a:noFill/>
            <a:extLst>
              <a:ext uri="{909E8E84-426E-40DD-AFC4-6F175D3DCCD1}">
                <a14:hiddenFill xmlns:a14="http://schemas.microsoft.com/office/drawing/2010/main">
                  <a:solidFill>
                    <a:srgbClr val="FFFFFF"/>
                  </a:solidFill>
                </a14:hiddenFill>
              </a:ext>
            </a:extLst>
          </p:spPr>
        </p:pic>
        <p:sp>
          <p:nvSpPr>
            <p:cNvPr id="42" name="Oval 166">
              <a:extLst>
                <a:ext uri="{FF2B5EF4-FFF2-40B4-BE49-F238E27FC236}">
                  <a16:creationId xmlns:a16="http://schemas.microsoft.com/office/drawing/2014/main" id="{7E5B3EE3-4C28-3EDF-CB16-5EFE45FE416B}"/>
                </a:ext>
              </a:extLst>
            </p:cNvPr>
            <p:cNvSpPr>
              <a:spLocks noChangeAspect="1"/>
            </p:cNvSpPr>
            <p:nvPr/>
          </p:nvSpPr>
          <p:spPr>
            <a:xfrm>
              <a:off x="4494868" y="4660966"/>
              <a:ext cx="106218" cy="105514"/>
            </a:xfrm>
            <a:prstGeom prst="ellipse">
              <a:avLst/>
            </a:prstGeom>
            <a:noFill/>
            <a:ln w="19050">
              <a:solidFill>
                <a:srgbClr val="2C578B"/>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a:p>
          </p:txBody>
        </p:sp>
        <p:sp>
          <p:nvSpPr>
            <p:cNvPr id="37" name="Oval 166">
              <a:extLst>
                <a:ext uri="{FF2B5EF4-FFF2-40B4-BE49-F238E27FC236}">
                  <a16:creationId xmlns:a16="http://schemas.microsoft.com/office/drawing/2014/main" id="{F8D9630B-EF76-2920-C55D-BE48F05FF86E}"/>
                </a:ext>
              </a:extLst>
            </p:cNvPr>
            <p:cNvSpPr>
              <a:spLocks noChangeAspect="1"/>
            </p:cNvSpPr>
            <p:nvPr/>
          </p:nvSpPr>
          <p:spPr>
            <a:xfrm>
              <a:off x="4928100" y="4671349"/>
              <a:ext cx="106218" cy="105514"/>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a:p>
          </p:txBody>
        </p:sp>
        <p:pic>
          <p:nvPicPr>
            <p:cNvPr id="38" name="Picture 2">
              <a:extLst>
                <a:ext uri="{FF2B5EF4-FFF2-40B4-BE49-F238E27FC236}">
                  <a16:creationId xmlns:a16="http://schemas.microsoft.com/office/drawing/2014/main" id="{50877D98-EE7E-7540-CA55-EE60B90AA017}"/>
                </a:ext>
              </a:extLst>
            </p:cNvPr>
            <p:cNvPicPr>
              <a:picLocks noChangeAspect="1" noChangeArrowheads="1"/>
            </p:cNvPicPr>
            <p:nvPr/>
          </p:nvPicPr>
          <p:blipFill rotWithShape="1">
            <a:blip r:embed="rId3">
              <a:grayscl/>
              <a:extLst>
                <a:ext uri="{28A0092B-C50C-407E-A947-70E740481C1C}">
                  <a14:useLocalDpi xmlns:a14="http://schemas.microsoft.com/office/drawing/2010/main" val="0"/>
                </a:ext>
              </a:extLst>
            </a:blip>
            <a:srcRect l="15524" t="26589" r="16378" b="40963"/>
            <a:stretch>
              <a:fillRect/>
            </a:stretch>
          </p:blipFill>
          <p:spPr bwMode="auto">
            <a:xfrm>
              <a:off x="4928100" y="4694375"/>
              <a:ext cx="109380" cy="51774"/>
            </a:xfrm>
            <a:prstGeom prst="rect">
              <a:avLst/>
            </a:prstGeom>
            <a:noFill/>
            <a:extLst>
              <a:ext uri="{909E8E84-426E-40DD-AFC4-6F175D3DCCD1}">
                <a14:hiddenFill xmlns:a14="http://schemas.microsoft.com/office/drawing/2010/main">
                  <a:solidFill>
                    <a:srgbClr val="FFFFFF"/>
                  </a:solidFill>
                </a14:hiddenFill>
              </a:ext>
            </a:extLst>
          </p:spPr>
        </p:pic>
        <p:sp>
          <p:nvSpPr>
            <p:cNvPr id="39" name="Oval 166">
              <a:extLst>
                <a:ext uri="{FF2B5EF4-FFF2-40B4-BE49-F238E27FC236}">
                  <a16:creationId xmlns:a16="http://schemas.microsoft.com/office/drawing/2014/main" id="{874908DC-2C0E-2C39-B3F1-6AF73EE183E2}"/>
                </a:ext>
              </a:extLst>
            </p:cNvPr>
            <p:cNvSpPr>
              <a:spLocks noChangeAspect="1"/>
            </p:cNvSpPr>
            <p:nvPr/>
          </p:nvSpPr>
          <p:spPr>
            <a:xfrm>
              <a:off x="4928420" y="4671580"/>
              <a:ext cx="106218" cy="105514"/>
            </a:xfrm>
            <a:prstGeom prst="ellipse">
              <a:avLst/>
            </a:prstGeom>
            <a:noFill/>
            <a:ln w="19050">
              <a:solidFill>
                <a:srgbClr val="BFBFB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a:p>
          </p:txBody>
        </p:sp>
        <p:sp>
          <p:nvSpPr>
            <p:cNvPr id="21" name="Oval 166">
              <a:extLst>
                <a:ext uri="{FF2B5EF4-FFF2-40B4-BE49-F238E27FC236}">
                  <a16:creationId xmlns:a16="http://schemas.microsoft.com/office/drawing/2014/main" id="{36F55E8B-F994-C5C1-85E3-7AEB5DB599E3}"/>
                </a:ext>
              </a:extLst>
            </p:cNvPr>
            <p:cNvSpPr>
              <a:spLocks noChangeAspect="1"/>
            </p:cNvSpPr>
            <p:nvPr/>
          </p:nvSpPr>
          <p:spPr>
            <a:xfrm>
              <a:off x="4994700" y="4960484"/>
              <a:ext cx="106218" cy="105514"/>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a:p>
          </p:txBody>
        </p:sp>
        <p:pic>
          <p:nvPicPr>
            <p:cNvPr id="28" name="Picture 2">
              <a:extLst>
                <a:ext uri="{FF2B5EF4-FFF2-40B4-BE49-F238E27FC236}">
                  <a16:creationId xmlns:a16="http://schemas.microsoft.com/office/drawing/2014/main" id="{A8CD33FD-F70F-4C70-F0D6-613964FEAAF4}"/>
                </a:ext>
              </a:extLst>
            </p:cNvPr>
            <p:cNvPicPr>
              <a:picLocks noChangeAspect="1" noChangeArrowheads="1"/>
            </p:cNvPicPr>
            <p:nvPr/>
          </p:nvPicPr>
          <p:blipFill rotWithShape="1">
            <a:blip r:embed="rId4">
              <a:grayscl/>
              <a:extLst>
                <a:ext uri="{28A0092B-C50C-407E-A947-70E740481C1C}">
                  <a14:useLocalDpi xmlns:a14="http://schemas.microsoft.com/office/drawing/2010/main" val="0"/>
                </a:ext>
              </a:extLst>
            </a:blip>
            <a:srcRect l="26241" t="25004" r="18951" b="28872"/>
            <a:stretch>
              <a:fillRect/>
            </a:stretch>
          </p:blipFill>
          <p:spPr bwMode="auto">
            <a:xfrm>
              <a:off x="5003878" y="4974297"/>
              <a:ext cx="92780" cy="77561"/>
            </a:xfrm>
            <a:prstGeom prst="rect">
              <a:avLst/>
            </a:prstGeom>
            <a:noFill/>
            <a:extLst>
              <a:ext uri="{909E8E84-426E-40DD-AFC4-6F175D3DCCD1}">
                <a14:hiddenFill xmlns:a14="http://schemas.microsoft.com/office/drawing/2010/main">
                  <a:solidFill>
                    <a:srgbClr val="FFFFFF"/>
                  </a:solidFill>
                </a14:hiddenFill>
              </a:ext>
            </a:extLst>
          </p:spPr>
        </p:pic>
        <p:sp>
          <p:nvSpPr>
            <p:cNvPr id="36" name="Oval 166">
              <a:extLst>
                <a:ext uri="{FF2B5EF4-FFF2-40B4-BE49-F238E27FC236}">
                  <a16:creationId xmlns:a16="http://schemas.microsoft.com/office/drawing/2014/main" id="{9B6999CF-70D6-8606-5A98-946A9EC44EA1}"/>
                </a:ext>
              </a:extLst>
            </p:cNvPr>
            <p:cNvSpPr>
              <a:spLocks noChangeAspect="1"/>
            </p:cNvSpPr>
            <p:nvPr/>
          </p:nvSpPr>
          <p:spPr>
            <a:xfrm>
              <a:off x="4995020" y="4960715"/>
              <a:ext cx="106218" cy="105514"/>
            </a:xfrm>
            <a:prstGeom prst="ellipse">
              <a:avLst/>
            </a:prstGeom>
            <a:noFill/>
            <a:ln w="19050">
              <a:solidFill>
                <a:srgbClr val="BFBFB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a:p>
          </p:txBody>
        </p:sp>
        <p:sp>
          <p:nvSpPr>
            <p:cNvPr id="10" name="Oval 166">
              <a:extLst>
                <a:ext uri="{FF2B5EF4-FFF2-40B4-BE49-F238E27FC236}">
                  <a16:creationId xmlns:a16="http://schemas.microsoft.com/office/drawing/2014/main" id="{5156F8BE-DCE1-6305-E232-B640D016767C}"/>
                </a:ext>
              </a:extLst>
            </p:cNvPr>
            <p:cNvSpPr>
              <a:spLocks noChangeAspect="1"/>
            </p:cNvSpPr>
            <p:nvPr/>
          </p:nvSpPr>
          <p:spPr>
            <a:xfrm>
              <a:off x="4437897" y="4965614"/>
              <a:ext cx="106218" cy="105514"/>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a:p>
          </p:txBody>
        </p:sp>
        <p:pic>
          <p:nvPicPr>
            <p:cNvPr id="11" name="Picture 2" descr="Current Operating Constraints">
              <a:extLst>
                <a:ext uri="{FF2B5EF4-FFF2-40B4-BE49-F238E27FC236}">
                  <a16:creationId xmlns:a16="http://schemas.microsoft.com/office/drawing/2014/main" id="{58005C91-A5E5-FF6B-3AAA-479EEE57FA85}"/>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3951" t="22965" r="19520" b="31934"/>
            <a:stretch>
              <a:fillRect/>
            </a:stretch>
          </p:blipFill>
          <p:spPr bwMode="auto">
            <a:xfrm>
              <a:off x="4448476" y="4982827"/>
              <a:ext cx="87099" cy="69031"/>
            </a:xfrm>
            <a:prstGeom prst="rect">
              <a:avLst/>
            </a:prstGeom>
            <a:noFill/>
            <a:extLst>
              <a:ext uri="{909E8E84-426E-40DD-AFC4-6F175D3DCCD1}">
                <a14:hiddenFill xmlns:a14="http://schemas.microsoft.com/office/drawing/2010/main">
                  <a:solidFill>
                    <a:srgbClr val="FFFFFF"/>
                  </a:solidFill>
                </a14:hiddenFill>
              </a:ext>
            </a:extLst>
          </p:spPr>
        </p:pic>
        <p:sp>
          <p:nvSpPr>
            <p:cNvPr id="20" name="Oval 166">
              <a:extLst>
                <a:ext uri="{FF2B5EF4-FFF2-40B4-BE49-F238E27FC236}">
                  <a16:creationId xmlns:a16="http://schemas.microsoft.com/office/drawing/2014/main" id="{6473BB4F-3BDF-869B-C6EC-1E2078EB58AA}"/>
                </a:ext>
              </a:extLst>
            </p:cNvPr>
            <p:cNvSpPr>
              <a:spLocks noChangeAspect="1"/>
            </p:cNvSpPr>
            <p:nvPr/>
          </p:nvSpPr>
          <p:spPr>
            <a:xfrm>
              <a:off x="4438217" y="4965845"/>
              <a:ext cx="106218" cy="105514"/>
            </a:xfrm>
            <a:prstGeom prst="ellipse">
              <a:avLst/>
            </a:prstGeom>
            <a:noFill/>
            <a:ln w="19050">
              <a:solidFill>
                <a:srgbClr val="BFBFB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a:p>
          </p:txBody>
        </p:sp>
      </p:grpSp>
      <p:grpSp>
        <p:nvGrpSpPr>
          <p:cNvPr id="1064" name="Grupo 1063">
            <a:extLst>
              <a:ext uri="{FF2B5EF4-FFF2-40B4-BE49-F238E27FC236}">
                <a16:creationId xmlns:a16="http://schemas.microsoft.com/office/drawing/2014/main" id="{6671AFA6-A4B3-FAF8-4425-F640F1F46E4C}"/>
              </a:ext>
            </a:extLst>
          </p:cNvPr>
          <p:cNvGrpSpPr/>
          <p:nvPr/>
        </p:nvGrpSpPr>
        <p:grpSpPr>
          <a:xfrm>
            <a:off x="6261705" y="4667160"/>
            <a:ext cx="663341" cy="586648"/>
            <a:chOff x="6261705" y="4667160"/>
            <a:chExt cx="663341" cy="586648"/>
          </a:xfrm>
          <a:effectLst>
            <a:outerShdw blurRad="50800" dist="38100" dir="5400000" algn="t" rotWithShape="0">
              <a:prstClr val="black">
                <a:alpha val="40000"/>
              </a:prstClr>
            </a:outerShdw>
          </a:effectLst>
        </p:grpSpPr>
        <p:sp>
          <p:nvSpPr>
            <p:cNvPr id="46" name="Arc 125">
              <a:extLst>
                <a:ext uri="{FF2B5EF4-FFF2-40B4-BE49-F238E27FC236}">
                  <a16:creationId xmlns:a16="http://schemas.microsoft.com/office/drawing/2014/main" id="{BA755EA4-7835-7078-7159-47A049C27B11}"/>
                </a:ext>
              </a:extLst>
            </p:cNvPr>
            <p:cNvSpPr>
              <a:spLocks noChangeAspect="1"/>
            </p:cNvSpPr>
            <p:nvPr/>
          </p:nvSpPr>
          <p:spPr>
            <a:xfrm>
              <a:off x="6295964" y="4667160"/>
              <a:ext cx="590563" cy="586648"/>
            </a:xfrm>
            <a:prstGeom prst="arc">
              <a:avLst>
                <a:gd name="adj1" fmla="val 6938162"/>
                <a:gd name="adj2" fmla="val 3832306"/>
              </a:avLst>
            </a:prstGeom>
            <a:ln w="19050">
              <a:solidFill>
                <a:srgbClr val="BFBFB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a:p>
          </p:txBody>
        </p:sp>
        <p:sp>
          <p:nvSpPr>
            <p:cNvPr id="61" name="Oval 166">
              <a:extLst>
                <a:ext uri="{FF2B5EF4-FFF2-40B4-BE49-F238E27FC236}">
                  <a16:creationId xmlns:a16="http://schemas.microsoft.com/office/drawing/2014/main" id="{7B56D0AD-7E19-0E30-3F33-A63A138037E2}"/>
                </a:ext>
              </a:extLst>
            </p:cNvPr>
            <p:cNvSpPr>
              <a:spLocks noChangeAspect="1"/>
            </p:cNvSpPr>
            <p:nvPr/>
          </p:nvSpPr>
          <p:spPr>
            <a:xfrm>
              <a:off x="6318356" y="4690547"/>
              <a:ext cx="106218" cy="105514"/>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a:p>
          </p:txBody>
        </p:sp>
        <p:pic>
          <p:nvPicPr>
            <p:cNvPr id="62" name="Picture 2">
              <a:extLst>
                <a:ext uri="{FF2B5EF4-FFF2-40B4-BE49-F238E27FC236}">
                  <a16:creationId xmlns:a16="http://schemas.microsoft.com/office/drawing/2014/main" id="{B0FB2B7B-43A4-155B-EB9C-472AC37364E1}"/>
                </a:ext>
              </a:extLst>
            </p:cNvPr>
            <p:cNvPicPr>
              <a:picLocks noChangeAspect="1" noChangeArrowheads="1"/>
            </p:cNvPicPr>
            <p:nvPr/>
          </p:nvPicPr>
          <p:blipFill rotWithShape="1">
            <a:blip r:embed="rId2">
              <a:grayscl/>
              <a:extLst>
                <a:ext uri="{28A0092B-C50C-407E-A947-70E740481C1C}">
                  <a14:useLocalDpi xmlns:a14="http://schemas.microsoft.com/office/drawing/2010/main" val="0"/>
                </a:ext>
              </a:extLst>
            </a:blip>
            <a:srcRect l="18987" t="20192" r="20811" b="37131"/>
            <a:stretch>
              <a:fillRect/>
            </a:stretch>
          </p:blipFill>
          <p:spPr bwMode="auto">
            <a:xfrm>
              <a:off x="6318036" y="4701162"/>
              <a:ext cx="106218" cy="74800"/>
            </a:xfrm>
            <a:prstGeom prst="rect">
              <a:avLst/>
            </a:prstGeom>
            <a:noFill/>
            <a:extLst>
              <a:ext uri="{909E8E84-426E-40DD-AFC4-6F175D3DCCD1}">
                <a14:hiddenFill xmlns:a14="http://schemas.microsoft.com/office/drawing/2010/main">
                  <a:solidFill>
                    <a:srgbClr val="FFFFFF"/>
                  </a:solidFill>
                </a14:hiddenFill>
              </a:ext>
            </a:extLst>
          </p:spPr>
        </p:pic>
        <p:sp>
          <p:nvSpPr>
            <p:cNvPr id="63" name="Oval 166">
              <a:extLst>
                <a:ext uri="{FF2B5EF4-FFF2-40B4-BE49-F238E27FC236}">
                  <a16:creationId xmlns:a16="http://schemas.microsoft.com/office/drawing/2014/main" id="{035877C5-3D85-BBC3-7466-A4B7ABDB8800}"/>
                </a:ext>
              </a:extLst>
            </p:cNvPr>
            <p:cNvSpPr>
              <a:spLocks noChangeAspect="1"/>
            </p:cNvSpPr>
            <p:nvPr/>
          </p:nvSpPr>
          <p:spPr>
            <a:xfrm>
              <a:off x="6318676" y="4690778"/>
              <a:ext cx="106218" cy="105514"/>
            </a:xfrm>
            <a:prstGeom prst="ellipse">
              <a:avLst/>
            </a:prstGeom>
            <a:noFill/>
            <a:ln w="19050">
              <a:solidFill>
                <a:srgbClr val="BFBFB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a:p>
          </p:txBody>
        </p:sp>
        <p:sp>
          <p:nvSpPr>
            <p:cNvPr id="57" name="Oval 166">
              <a:extLst>
                <a:ext uri="{FF2B5EF4-FFF2-40B4-BE49-F238E27FC236}">
                  <a16:creationId xmlns:a16="http://schemas.microsoft.com/office/drawing/2014/main" id="{9B3D78D3-52DF-E437-C1D3-B7C02652307A}"/>
                </a:ext>
              </a:extLst>
            </p:cNvPr>
            <p:cNvSpPr>
              <a:spLocks noChangeAspect="1"/>
            </p:cNvSpPr>
            <p:nvPr/>
          </p:nvSpPr>
          <p:spPr>
            <a:xfrm>
              <a:off x="6751908" y="4701161"/>
              <a:ext cx="106218" cy="105514"/>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a:p>
          </p:txBody>
        </p:sp>
        <p:pic>
          <p:nvPicPr>
            <p:cNvPr id="58" name="Picture 2">
              <a:extLst>
                <a:ext uri="{FF2B5EF4-FFF2-40B4-BE49-F238E27FC236}">
                  <a16:creationId xmlns:a16="http://schemas.microsoft.com/office/drawing/2014/main" id="{03623BB2-B8A9-2345-1053-9DED8D965F8F}"/>
                </a:ext>
              </a:extLst>
            </p:cNvPr>
            <p:cNvPicPr>
              <a:picLocks noChangeAspect="1" noChangeArrowheads="1"/>
            </p:cNvPicPr>
            <p:nvPr/>
          </p:nvPicPr>
          <p:blipFill rotWithShape="1">
            <a:blip r:embed="rId3">
              <a:grayscl/>
              <a:extLst>
                <a:ext uri="{28A0092B-C50C-407E-A947-70E740481C1C}">
                  <a14:useLocalDpi xmlns:a14="http://schemas.microsoft.com/office/drawing/2010/main" val="0"/>
                </a:ext>
              </a:extLst>
            </a:blip>
            <a:srcRect l="15524" t="26589" r="16378" b="40963"/>
            <a:stretch>
              <a:fillRect/>
            </a:stretch>
          </p:blipFill>
          <p:spPr bwMode="auto">
            <a:xfrm>
              <a:off x="6751908" y="4724187"/>
              <a:ext cx="109380" cy="51774"/>
            </a:xfrm>
            <a:prstGeom prst="rect">
              <a:avLst/>
            </a:prstGeom>
            <a:noFill/>
            <a:extLst>
              <a:ext uri="{909E8E84-426E-40DD-AFC4-6F175D3DCCD1}">
                <a14:hiddenFill xmlns:a14="http://schemas.microsoft.com/office/drawing/2010/main">
                  <a:solidFill>
                    <a:srgbClr val="FFFFFF"/>
                  </a:solidFill>
                </a14:hiddenFill>
              </a:ext>
            </a:extLst>
          </p:spPr>
        </p:pic>
        <p:sp>
          <p:nvSpPr>
            <p:cNvPr id="59" name="Oval 166">
              <a:extLst>
                <a:ext uri="{FF2B5EF4-FFF2-40B4-BE49-F238E27FC236}">
                  <a16:creationId xmlns:a16="http://schemas.microsoft.com/office/drawing/2014/main" id="{D95318CC-695E-17ED-EAEB-FC256628AD55}"/>
                </a:ext>
              </a:extLst>
            </p:cNvPr>
            <p:cNvSpPr>
              <a:spLocks noChangeAspect="1"/>
            </p:cNvSpPr>
            <p:nvPr/>
          </p:nvSpPr>
          <p:spPr>
            <a:xfrm>
              <a:off x="6752228" y="4701392"/>
              <a:ext cx="106218" cy="105514"/>
            </a:xfrm>
            <a:prstGeom prst="ellipse">
              <a:avLst/>
            </a:prstGeom>
            <a:noFill/>
            <a:ln w="19050">
              <a:solidFill>
                <a:srgbClr val="BFBFB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a:p>
          </p:txBody>
        </p:sp>
        <p:sp>
          <p:nvSpPr>
            <p:cNvPr id="54" name="Oval 166">
              <a:extLst>
                <a:ext uri="{FF2B5EF4-FFF2-40B4-BE49-F238E27FC236}">
                  <a16:creationId xmlns:a16="http://schemas.microsoft.com/office/drawing/2014/main" id="{1173DA2D-5937-3725-4EB3-88D47B2797A3}"/>
                </a:ext>
              </a:extLst>
            </p:cNvPr>
            <p:cNvSpPr>
              <a:spLocks noChangeAspect="1"/>
            </p:cNvSpPr>
            <p:nvPr/>
          </p:nvSpPr>
          <p:spPr>
            <a:xfrm>
              <a:off x="6818508" y="4990296"/>
              <a:ext cx="106218" cy="105514"/>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a:p>
          </p:txBody>
        </p:sp>
        <p:pic>
          <p:nvPicPr>
            <p:cNvPr id="55" name="Picture 2">
              <a:extLst>
                <a:ext uri="{FF2B5EF4-FFF2-40B4-BE49-F238E27FC236}">
                  <a16:creationId xmlns:a16="http://schemas.microsoft.com/office/drawing/2014/main" id="{B8005602-0435-0FAA-6517-0D1FAF52F29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6241" t="25004" r="18951" b="28872"/>
            <a:stretch>
              <a:fillRect/>
            </a:stretch>
          </p:blipFill>
          <p:spPr bwMode="auto">
            <a:xfrm>
              <a:off x="6827686" y="5004109"/>
              <a:ext cx="92780" cy="77561"/>
            </a:xfrm>
            <a:prstGeom prst="rect">
              <a:avLst/>
            </a:prstGeom>
            <a:noFill/>
            <a:extLst>
              <a:ext uri="{909E8E84-426E-40DD-AFC4-6F175D3DCCD1}">
                <a14:hiddenFill xmlns:a14="http://schemas.microsoft.com/office/drawing/2010/main">
                  <a:solidFill>
                    <a:srgbClr val="FFFFFF"/>
                  </a:solidFill>
                </a14:hiddenFill>
              </a:ext>
            </a:extLst>
          </p:spPr>
        </p:pic>
        <p:sp>
          <p:nvSpPr>
            <p:cNvPr id="56" name="Oval 166">
              <a:extLst>
                <a:ext uri="{FF2B5EF4-FFF2-40B4-BE49-F238E27FC236}">
                  <a16:creationId xmlns:a16="http://schemas.microsoft.com/office/drawing/2014/main" id="{6289F358-F1D9-1705-E733-D01A1EDC7A3F}"/>
                </a:ext>
              </a:extLst>
            </p:cNvPr>
            <p:cNvSpPr>
              <a:spLocks noChangeAspect="1"/>
            </p:cNvSpPr>
            <p:nvPr/>
          </p:nvSpPr>
          <p:spPr>
            <a:xfrm>
              <a:off x="6818828" y="4990527"/>
              <a:ext cx="106218" cy="105514"/>
            </a:xfrm>
            <a:prstGeom prst="ellipse">
              <a:avLst/>
            </a:prstGeom>
            <a:noFill/>
            <a:ln w="19050">
              <a:solidFill>
                <a:srgbClr val="2C578B"/>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a:p>
          </p:txBody>
        </p:sp>
        <p:sp>
          <p:nvSpPr>
            <p:cNvPr id="51" name="Oval 166">
              <a:extLst>
                <a:ext uri="{FF2B5EF4-FFF2-40B4-BE49-F238E27FC236}">
                  <a16:creationId xmlns:a16="http://schemas.microsoft.com/office/drawing/2014/main" id="{B3DB4DFC-4FAA-D870-C76A-94C3064D6CEA}"/>
                </a:ext>
              </a:extLst>
            </p:cNvPr>
            <p:cNvSpPr>
              <a:spLocks noChangeAspect="1"/>
            </p:cNvSpPr>
            <p:nvPr/>
          </p:nvSpPr>
          <p:spPr>
            <a:xfrm>
              <a:off x="6261705" y="4995426"/>
              <a:ext cx="106218" cy="105514"/>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a:p>
          </p:txBody>
        </p:sp>
        <p:pic>
          <p:nvPicPr>
            <p:cNvPr id="52" name="Picture 2" descr="Current Operating Constraints">
              <a:extLst>
                <a:ext uri="{FF2B5EF4-FFF2-40B4-BE49-F238E27FC236}">
                  <a16:creationId xmlns:a16="http://schemas.microsoft.com/office/drawing/2014/main" id="{5249F93F-F5D6-7C1A-BD91-B5637AF7C50F}"/>
                </a:ext>
              </a:extLst>
            </p:cNvPr>
            <p:cNvPicPr>
              <a:picLocks noChangeAspect="1" noChangeArrowheads="1"/>
            </p:cNvPicPr>
            <p:nvPr/>
          </p:nvPicPr>
          <p:blipFill rotWithShape="1">
            <a:blip r:embed="rId5">
              <a:grayscl/>
              <a:extLst>
                <a:ext uri="{28A0092B-C50C-407E-A947-70E740481C1C}">
                  <a14:useLocalDpi xmlns:a14="http://schemas.microsoft.com/office/drawing/2010/main" val="0"/>
                </a:ext>
              </a:extLst>
            </a:blip>
            <a:srcRect l="23951" t="22965" r="19520" b="31934"/>
            <a:stretch>
              <a:fillRect/>
            </a:stretch>
          </p:blipFill>
          <p:spPr bwMode="auto">
            <a:xfrm>
              <a:off x="6272284" y="5012639"/>
              <a:ext cx="87099" cy="69031"/>
            </a:xfrm>
            <a:prstGeom prst="rect">
              <a:avLst/>
            </a:prstGeom>
            <a:noFill/>
            <a:extLst>
              <a:ext uri="{909E8E84-426E-40DD-AFC4-6F175D3DCCD1}">
                <a14:hiddenFill xmlns:a14="http://schemas.microsoft.com/office/drawing/2010/main">
                  <a:solidFill>
                    <a:srgbClr val="FFFFFF"/>
                  </a:solidFill>
                </a14:hiddenFill>
              </a:ext>
            </a:extLst>
          </p:spPr>
        </p:pic>
        <p:sp>
          <p:nvSpPr>
            <p:cNvPr id="53" name="Oval 166">
              <a:extLst>
                <a:ext uri="{FF2B5EF4-FFF2-40B4-BE49-F238E27FC236}">
                  <a16:creationId xmlns:a16="http://schemas.microsoft.com/office/drawing/2014/main" id="{3FC552D7-6B1B-7B23-265D-536075E29580}"/>
                </a:ext>
              </a:extLst>
            </p:cNvPr>
            <p:cNvSpPr>
              <a:spLocks noChangeAspect="1"/>
            </p:cNvSpPr>
            <p:nvPr/>
          </p:nvSpPr>
          <p:spPr>
            <a:xfrm>
              <a:off x="6262025" y="4995657"/>
              <a:ext cx="106218" cy="105514"/>
            </a:xfrm>
            <a:prstGeom prst="ellipse">
              <a:avLst/>
            </a:prstGeom>
            <a:noFill/>
            <a:ln w="19050">
              <a:solidFill>
                <a:srgbClr val="BFBFB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a:p>
          </p:txBody>
        </p:sp>
      </p:grpSp>
      <p:grpSp>
        <p:nvGrpSpPr>
          <p:cNvPr id="1065" name="Grupo 1064">
            <a:extLst>
              <a:ext uri="{FF2B5EF4-FFF2-40B4-BE49-F238E27FC236}">
                <a16:creationId xmlns:a16="http://schemas.microsoft.com/office/drawing/2014/main" id="{60D116FC-B68B-CEE7-AF7F-B65B28F07FC5}"/>
              </a:ext>
            </a:extLst>
          </p:cNvPr>
          <p:cNvGrpSpPr/>
          <p:nvPr/>
        </p:nvGrpSpPr>
        <p:grpSpPr>
          <a:xfrm>
            <a:off x="7135623" y="4667160"/>
            <a:ext cx="663341" cy="586648"/>
            <a:chOff x="7135623" y="4667160"/>
            <a:chExt cx="663341" cy="586648"/>
          </a:xfrm>
          <a:effectLst>
            <a:outerShdw blurRad="50800" dist="38100" dir="5400000" algn="t" rotWithShape="0">
              <a:prstClr val="black">
                <a:alpha val="40000"/>
              </a:prstClr>
            </a:outerShdw>
          </a:effectLst>
        </p:grpSpPr>
        <p:sp>
          <p:nvSpPr>
            <p:cNvPr id="1025" name="Arc 125">
              <a:extLst>
                <a:ext uri="{FF2B5EF4-FFF2-40B4-BE49-F238E27FC236}">
                  <a16:creationId xmlns:a16="http://schemas.microsoft.com/office/drawing/2014/main" id="{12165783-36BD-1239-56E0-73A4488631C4}"/>
                </a:ext>
              </a:extLst>
            </p:cNvPr>
            <p:cNvSpPr>
              <a:spLocks noChangeAspect="1"/>
            </p:cNvSpPr>
            <p:nvPr/>
          </p:nvSpPr>
          <p:spPr>
            <a:xfrm>
              <a:off x="7169882" y="4667160"/>
              <a:ext cx="590563" cy="586648"/>
            </a:xfrm>
            <a:prstGeom prst="arc">
              <a:avLst>
                <a:gd name="adj1" fmla="val 6938162"/>
                <a:gd name="adj2" fmla="val 3832306"/>
              </a:avLst>
            </a:prstGeom>
            <a:ln w="19050">
              <a:solidFill>
                <a:srgbClr val="2C578B"/>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a:p>
          </p:txBody>
        </p:sp>
        <p:sp>
          <p:nvSpPr>
            <p:cNvPr id="1040" name="Oval 166">
              <a:extLst>
                <a:ext uri="{FF2B5EF4-FFF2-40B4-BE49-F238E27FC236}">
                  <a16:creationId xmlns:a16="http://schemas.microsoft.com/office/drawing/2014/main" id="{CFF49B35-AD13-EC57-7239-0841ABAD1987}"/>
                </a:ext>
              </a:extLst>
            </p:cNvPr>
            <p:cNvSpPr>
              <a:spLocks noChangeAspect="1"/>
            </p:cNvSpPr>
            <p:nvPr/>
          </p:nvSpPr>
          <p:spPr>
            <a:xfrm>
              <a:off x="7192274" y="4690547"/>
              <a:ext cx="106218" cy="105514"/>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a:p>
          </p:txBody>
        </p:sp>
        <p:pic>
          <p:nvPicPr>
            <p:cNvPr id="1041" name="Picture 2">
              <a:extLst>
                <a:ext uri="{FF2B5EF4-FFF2-40B4-BE49-F238E27FC236}">
                  <a16:creationId xmlns:a16="http://schemas.microsoft.com/office/drawing/2014/main" id="{F90CFF48-7759-CE7D-3023-FA3411505EC5}"/>
                </a:ext>
              </a:extLst>
            </p:cNvPr>
            <p:cNvPicPr>
              <a:picLocks noChangeAspect="1" noChangeArrowheads="1"/>
            </p:cNvPicPr>
            <p:nvPr/>
          </p:nvPicPr>
          <p:blipFill rotWithShape="1">
            <a:blip r:embed="rId2">
              <a:grayscl/>
              <a:extLst>
                <a:ext uri="{28A0092B-C50C-407E-A947-70E740481C1C}">
                  <a14:useLocalDpi xmlns:a14="http://schemas.microsoft.com/office/drawing/2010/main" val="0"/>
                </a:ext>
              </a:extLst>
            </a:blip>
            <a:srcRect l="18987" t="20192" r="20811" b="37131"/>
            <a:stretch>
              <a:fillRect/>
            </a:stretch>
          </p:blipFill>
          <p:spPr bwMode="auto">
            <a:xfrm>
              <a:off x="7191954" y="4701162"/>
              <a:ext cx="106218" cy="74800"/>
            </a:xfrm>
            <a:prstGeom prst="rect">
              <a:avLst/>
            </a:prstGeom>
            <a:noFill/>
            <a:extLst>
              <a:ext uri="{909E8E84-426E-40DD-AFC4-6F175D3DCCD1}">
                <a14:hiddenFill xmlns:a14="http://schemas.microsoft.com/office/drawing/2010/main">
                  <a:solidFill>
                    <a:srgbClr val="FFFFFF"/>
                  </a:solidFill>
                </a14:hiddenFill>
              </a:ext>
            </a:extLst>
          </p:spPr>
        </p:pic>
        <p:sp>
          <p:nvSpPr>
            <p:cNvPr id="1042" name="Oval 166">
              <a:extLst>
                <a:ext uri="{FF2B5EF4-FFF2-40B4-BE49-F238E27FC236}">
                  <a16:creationId xmlns:a16="http://schemas.microsoft.com/office/drawing/2014/main" id="{BC23239B-91C0-194C-1014-CC424C8CA272}"/>
                </a:ext>
              </a:extLst>
            </p:cNvPr>
            <p:cNvSpPr>
              <a:spLocks noChangeAspect="1"/>
            </p:cNvSpPr>
            <p:nvPr/>
          </p:nvSpPr>
          <p:spPr>
            <a:xfrm>
              <a:off x="7192594" y="4690778"/>
              <a:ext cx="106218" cy="105514"/>
            </a:xfrm>
            <a:prstGeom prst="ellipse">
              <a:avLst/>
            </a:prstGeom>
            <a:noFill/>
            <a:ln w="19050">
              <a:solidFill>
                <a:srgbClr val="BFBFB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a:p>
          </p:txBody>
        </p:sp>
        <p:sp>
          <p:nvSpPr>
            <p:cNvPr id="1037" name="Oval 166">
              <a:extLst>
                <a:ext uri="{FF2B5EF4-FFF2-40B4-BE49-F238E27FC236}">
                  <a16:creationId xmlns:a16="http://schemas.microsoft.com/office/drawing/2014/main" id="{F0B0B9C9-4F04-2531-DF1A-1B627A85713D}"/>
                </a:ext>
              </a:extLst>
            </p:cNvPr>
            <p:cNvSpPr>
              <a:spLocks noChangeAspect="1"/>
            </p:cNvSpPr>
            <p:nvPr/>
          </p:nvSpPr>
          <p:spPr>
            <a:xfrm>
              <a:off x="7625826" y="4701161"/>
              <a:ext cx="106218" cy="105514"/>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a:p>
          </p:txBody>
        </p:sp>
        <p:pic>
          <p:nvPicPr>
            <p:cNvPr id="1038" name="Picture 2">
              <a:extLst>
                <a:ext uri="{FF2B5EF4-FFF2-40B4-BE49-F238E27FC236}">
                  <a16:creationId xmlns:a16="http://schemas.microsoft.com/office/drawing/2014/main" id="{B26A949B-97BA-31DD-74DB-6EF1FEA1F050}"/>
                </a:ext>
              </a:extLst>
            </p:cNvPr>
            <p:cNvPicPr>
              <a:picLocks noChangeAspect="1" noChangeArrowheads="1"/>
            </p:cNvPicPr>
            <p:nvPr/>
          </p:nvPicPr>
          <p:blipFill rotWithShape="1">
            <a:blip r:embed="rId3">
              <a:grayscl/>
              <a:extLst>
                <a:ext uri="{28A0092B-C50C-407E-A947-70E740481C1C}">
                  <a14:useLocalDpi xmlns:a14="http://schemas.microsoft.com/office/drawing/2010/main" val="0"/>
                </a:ext>
              </a:extLst>
            </a:blip>
            <a:srcRect l="15524" t="26589" r="16378" b="40963"/>
            <a:stretch>
              <a:fillRect/>
            </a:stretch>
          </p:blipFill>
          <p:spPr bwMode="auto">
            <a:xfrm>
              <a:off x="7625826" y="4724187"/>
              <a:ext cx="109380" cy="51774"/>
            </a:xfrm>
            <a:prstGeom prst="rect">
              <a:avLst/>
            </a:prstGeom>
            <a:noFill/>
            <a:extLst>
              <a:ext uri="{909E8E84-426E-40DD-AFC4-6F175D3DCCD1}">
                <a14:hiddenFill xmlns:a14="http://schemas.microsoft.com/office/drawing/2010/main">
                  <a:solidFill>
                    <a:srgbClr val="FFFFFF"/>
                  </a:solidFill>
                </a14:hiddenFill>
              </a:ext>
            </a:extLst>
          </p:spPr>
        </p:pic>
        <p:sp>
          <p:nvSpPr>
            <p:cNvPr id="1039" name="Oval 166">
              <a:extLst>
                <a:ext uri="{FF2B5EF4-FFF2-40B4-BE49-F238E27FC236}">
                  <a16:creationId xmlns:a16="http://schemas.microsoft.com/office/drawing/2014/main" id="{CC4A8929-1927-3268-79DE-58BB8E39FB23}"/>
                </a:ext>
              </a:extLst>
            </p:cNvPr>
            <p:cNvSpPr>
              <a:spLocks noChangeAspect="1"/>
            </p:cNvSpPr>
            <p:nvPr/>
          </p:nvSpPr>
          <p:spPr>
            <a:xfrm>
              <a:off x="7626146" y="4701392"/>
              <a:ext cx="106218" cy="105514"/>
            </a:xfrm>
            <a:prstGeom prst="ellipse">
              <a:avLst/>
            </a:prstGeom>
            <a:noFill/>
            <a:ln w="19050">
              <a:solidFill>
                <a:srgbClr val="BFBFB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a:p>
          </p:txBody>
        </p:sp>
        <p:sp>
          <p:nvSpPr>
            <p:cNvPr id="1034" name="Oval 166">
              <a:extLst>
                <a:ext uri="{FF2B5EF4-FFF2-40B4-BE49-F238E27FC236}">
                  <a16:creationId xmlns:a16="http://schemas.microsoft.com/office/drawing/2014/main" id="{3B67F21A-726F-6B3E-0B07-94C81DB442AC}"/>
                </a:ext>
              </a:extLst>
            </p:cNvPr>
            <p:cNvSpPr>
              <a:spLocks noChangeAspect="1"/>
            </p:cNvSpPr>
            <p:nvPr/>
          </p:nvSpPr>
          <p:spPr>
            <a:xfrm>
              <a:off x="7692426" y="4990296"/>
              <a:ext cx="106218" cy="105514"/>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a:p>
          </p:txBody>
        </p:sp>
        <p:pic>
          <p:nvPicPr>
            <p:cNvPr id="1035" name="Picture 2">
              <a:extLst>
                <a:ext uri="{FF2B5EF4-FFF2-40B4-BE49-F238E27FC236}">
                  <a16:creationId xmlns:a16="http://schemas.microsoft.com/office/drawing/2014/main" id="{6BD86392-9799-6362-E586-6BD3A3CCD137}"/>
                </a:ext>
              </a:extLst>
            </p:cNvPr>
            <p:cNvPicPr>
              <a:picLocks noChangeAspect="1" noChangeArrowheads="1"/>
            </p:cNvPicPr>
            <p:nvPr/>
          </p:nvPicPr>
          <p:blipFill rotWithShape="1">
            <a:blip r:embed="rId4">
              <a:grayscl/>
              <a:extLst>
                <a:ext uri="{28A0092B-C50C-407E-A947-70E740481C1C}">
                  <a14:useLocalDpi xmlns:a14="http://schemas.microsoft.com/office/drawing/2010/main" val="0"/>
                </a:ext>
              </a:extLst>
            </a:blip>
            <a:srcRect l="26241" t="25004" r="18951" b="28872"/>
            <a:stretch>
              <a:fillRect/>
            </a:stretch>
          </p:blipFill>
          <p:spPr bwMode="auto">
            <a:xfrm>
              <a:off x="7701604" y="5004109"/>
              <a:ext cx="92780" cy="77561"/>
            </a:xfrm>
            <a:prstGeom prst="rect">
              <a:avLst/>
            </a:prstGeom>
            <a:noFill/>
            <a:extLst>
              <a:ext uri="{909E8E84-426E-40DD-AFC4-6F175D3DCCD1}">
                <a14:hiddenFill xmlns:a14="http://schemas.microsoft.com/office/drawing/2010/main">
                  <a:solidFill>
                    <a:srgbClr val="FFFFFF"/>
                  </a:solidFill>
                </a14:hiddenFill>
              </a:ext>
            </a:extLst>
          </p:spPr>
        </p:pic>
        <p:sp>
          <p:nvSpPr>
            <p:cNvPr id="1036" name="Oval 166">
              <a:extLst>
                <a:ext uri="{FF2B5EF4-FFF2-40B4-BE49-F238E27FC236}">
                  <a16:creationId xmlns:a16="http://schemas.microsoft.com/office/drawing/2014/main" id="{59849281-1B3A-F7D5-8739-C3B26C1D2188}"/>
                </a:ext>
              </a:extLst>
            </p:cNvPr>
            <p:cNvSpPr>
              <a:spLocks noChangeAspect="1"/>
            </p:cNvSpPr>
            <p:nvPr/>
          </p:nvSpPr>
          <p:spPr>
            <a:xfrm>
              <a:off x="7692746" y="4990527"/>
              <a:ext cx="106218" cy="105514"/>
            </a:xfrm>
            <a:prstGeom prst="ellipse">
              <a:avLst/>
            </a:prstGeom>
            <a:noFill/>
            <a:ln w="19050">
              <a:solidFill>
                <a:srgbClr val="BFBFB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a:p>
          </p:txBody>
        </p:sp>
        <p:sp>
          <p:nvSpPr>
            <p:cNvPr id="1031" name="Oval 166">
              <a:extLst>
                <a:ext uri="{FF2B5EF4-FFF2-40B4-BE49-F238E27FC236}">
                  <a16:creationId xmlns:a16="http://schemas.microsoft.com/office/drawing/2014/main" id="{88BA20E8-2CA6-782E-98F9-12E8CB750108}"/>
                </a:ext>
              </a:extLst>
            </p:cNvPr>
            <p:cNvSpPr>
              <a:spLocks noChangeAspect="1"/>
            </p:cNvSpPr>
            <p:nvPr/>
          </p:nvSpPr>
          <p:spPr>
            <a:xfrm>
              <a:off x="7135623" y="4995426"/>
              <a:ext cx="106218" cy="105514"/>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a:p>
          </p:txBody>
        </p:sp>
        <p:pic>
          <p:nvPicPr>
            <p:cNvPr id="1032" name="Picture 2" descr="Current Operating Constraints">
              <a:extLst>
                <a:ext uri="{FF2B5EF4-FFF2-40B4-BE49-F238E27FC236}">
                  <a16:creationId xmlns:a16="http://schemas.microsoft.com/office/drawing/2014/main" id="{937C466A-22D5-75A2-FB94-AADAFDCB6BD3}"/>
                </a:ext>
              </a:extLst>
            </p:cNvPr>
            <p:cNvPicPr>
              <a:picLocks noChangeAspect="1" noChangeArrowheads="1"/>
            </p:cNvPicPr>
            <p:nvPr/>
          </p:nvPicPr>
          <p:blipFill rotWithShape="1">
            <a:blip r:embed="rId5">
              <a:grayscl/>
              <a:extLst>
                <a:ext uri="{28A0092B-C50C-407E-A947-70E740481C1C}">
                  <a14:useLocalDpi xmlns:a14="http://schemas.microsoft.com/office/drawing/2010/main" val="0"/>
                </a:ext>
              </a:extLst>
            </a:blip>
            <a:srcRect l="23951" t="22965" r="19520" b="31934"/>
            <a:stretch>
              <a:fillRect/>
            </a:stretch>
          </p:blipFill>
          <p:spPr bwMode="auto">
            <a:xfrm>
              <a:off x="7146202" y="5012639"/>
              <a:ext cx="87099" cy="69031"/>
            </a:xfrm>
            <a:prstGeom prst="rect">
              <a:avLst/>
            </a:prstGeom>
            <a:noFill/>
            <a:extLst>
              <a:ext uri="{909E8E84-426E-40DD-AFC4-6F175D3DCCD1}">
                <a14:hiddenFill xmlns:a14="http://schemas.microsoft.com/office/drawing/2010/main">
                  <a:solidFill>
                    <a:srgbClr val="FFFFFF"/>
                  </a:solidFill>
                </a14:hiddenFill>
              </a:ext>
            </a:extLst>
          </p:spPr>
        </p:pic>
        <p:sp>
          <p:nvSpPr>
            <p:cNvPr id="1033" name="Oval 166">
              <a:extLst>
                <a:ext uri="{FF2B5EF4-FFF2-40B4-BE49-F238E27FC236}">
                  <a16:creationId xmlns:a16="http://schemas.microsoft.com/office/drawing/2014/main" id="{D20165AF-DC64-FC67-4588-526180459109}"/>
                </a:ext>
              </a:extLst>
            </p:cNvPr>
            <p:cNvSpPr>
              <a:spLocks noChangeAspect="1"/>
            </p:cNvSpPr>
            <p:nvPr/>
          </p:nvSpPr>
          <p:spPr>
            <a:xfrm>
              <a:off x="7135943" y="4995657"/>
              <a:ext cx="106218" cy="105514"/>
            </a:xfrm>
            <a:prstGeom prst="ellipse">
              <a:avLst/>
            </a:prstGeom>
            <a:noFill/>
            <a:ln w="19050">
              <a:solidFill>
                <a:srgbClr val="BFBFB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a:p>
          </p:txBody>
        </p:sp>
      </p:grpSp>
      <p:grpSp>
        <p:nvGrpSpPr>
          <p:cNvPr id="1061" name="Grupo 1060">
            <a:extLst>
              <a:ext uri="{FF2B5EF4-FFF2-40B4-BE49-F238E27FC236}">
                <a16:creationId xmlns:a16="http://schemas.microsoft.com/office/drawing/2014/main" id="{D6B7648E-6F12-21F6-03C8-85E044063265}"/>
              </a:ext>
            </a:extLst>
          </p:cNvPr>
          <p:cNvGrpSpPr/>
          <p:nvPr/>
        </p:nvGrpSpPr>
        <p:grpSpPr>
          <a:xfrm>
            <a:off x="3534122" y="4637348"/>
            <a:ext cx="663341" cy="586648"/>
            <a:chOff x="3534122" y="4637348"/>
            <a:chExt cx="663341" cy="586648"/>
          </a:xfrm>
          <a:effectLst>
            <a:outerShdw blurRad="50800" dist="38100" dir="5400000" algn="t" rotWithShape="0">
              <a:prstClr val="black">
                <a:alpha val="40000"/>
              </a:prstClr>
            </a:outerShdw>
          </a:effectLst>
        </p:grpSpPr>
        <p:sp>
          <p:nvSpPr>
            <p:cNvPr id="1044" name="Arc 125">
              <a:extLst>
                <a:ext uri="{FF2B5EF4-FFF2-40B4-BE49-F238E27FC236}">
                  <a16:creationId xmlns:a16="http://schemas.microsoft.com/office/drawing/2014/main" id="{9D7B27D6-6210-9C5D-7DE2-C83349B725FE}"/>
                </a:ext>
              </a:extLst>
            </p:cNvPr>
            <p:cNvSpPr>
              <a:spLocks noChangeAspect="1"/>
            </p:cNvSpPr>
            <p:nvPr/>
          </p:nvSpPr>
          <p:spPr>
            <a:xfrm>
              <a:off x="3568381" y="4637348"/>
              <a:ext cx="590563" cy="586648"/>
            </a:xfrm>
            <a:prstGeom prst="arc">
              <a:avLst>
                <a:gd name="adj1" fmla="val 6938162"/>
                <a:gd name="adj2" fmla="val 3832306"/>
              </a:avLst>
            </a:prstGeom>
            <a:ln w="19050">
              <a:solidFill>
                <a:srgbClr val="BFBFB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a:p>
          </p:txBody>
        </p:sp>
        <p:sp>
          <p:nvSpPr>
            <p:cNvPr id="1058" name="Oval 166">
              <a:extLst>
                <a:ext uri="{FF2B5EF4-FFF2-40B4-BE49-F238E27FC236}">
                  <a16:creationId xmlns:a16="http://schemas.microsoft.com/office/drawing/2014/main" id="{D54BBB2E-BFDB-B6D0-22A3-8C2677FDD3EE}"/>
                </a:ext>
              </a:extLst>
            </p:cNvPr>
            <p:cNvSpPr>
              <a:spLocks noChangeAspect="1"/>
            </p:cNvSpPr>
            <p:nvPr/>
          </p:nvSpPr>
          <p:spPr>
            <a:xfrm>
              <a:off x="3590773" y="4660735"/>
              <a:ext cx="106218" cy="105514"/>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a:p>
          </p:txBody>
        </p:sp>
        <p:pic>
          <p:nvPicPr>
            <p:cNvPr id="1059" name="Picture 2">
              <a:extLst>
                <a:ext uri="{FF2B5EF4-FFF2-40B4-BE49-F238E27FC236}">
                  <a16:creationId xmlns:a16="http://schemas.microsoft.com/office/drawing/2014/main" id="{CF173F82-6DB4-F36D-215E-88D652F3E894}"/>
                </a:ext>
              </a:extLst>
            </p:cNvPr>
            <p:cNvPicPr>
              <a:picLocks noChangeAspect="1" noChangeArrowheads="1"/>
            </p:cNvPicPr>
            <p:nvPr/>
          </p:nvPicPr>
          <p:blipFill rotWithShape="1">
            <a:blip r:embed="rId2">
              <a:duotone>
                <a:schemeClr val="bg2">
                  <a:shade val="45000"/>
                  <a:satMod val="135000"/>
                </a:schemeClr>
                <a:prstClr val="white"/>
              </a:duotone>
              <a:extLst>
                <a:ext uri="{28A0092B-C50C-407E-A947-70E740481C1C}">
                  <a14:useLocalDpi xmlns:a14="http://schemas.microsoft.com/office/drawing/2010/main" val="0"/>
                </a:ext>
              </a:extLst>
            </a:blip>
            <a:srcRect l="18987" t="20192" r="20811" b="37131"/>
            <a:stretch>
              <a:fillRect/>
            </a:stretch>
          </p:blipFill>
          <p:spPr bwMode="auto">
            <a:xfrm>
              <a:off x="3590453" y="4671350"/>
              <a:ext cx="106218" cy="74800"/>
            </a:xfrm>
            <a:prstGeom prst="rect">
              <a:avLst/>
            </a:prstGeom>
            <a:noFill/>
            <a:extLst>
              <a:ext uri="{909E8E84-426E-40DD-AFC4-6F175D3DCCD1}">
                <a14:hiddenFill xmlns:a14="http://schemas.microsoft.com/office/drawing/2010/main">
                  <a:solidFill>
                    <a:srgbClr val="FFFFFF"/>
                  </a:solidFill>
                </a14:hiddenFill>
              </a:ext>
            </a:extLst>
          </p:spPr>
        </p:pic>
        <p:sp>
          <p:nvSpPr>
            <p:cNvPr id="1060" name="Oval 166">
              <a:extLst>
                <a:ext uri="{FF2B5EF4-FFF2-40B4-BE49-F238E27FC236}">
                  <a16:creationId xmlns:a16="http://schemas.microsoft.com/office/drawing/2014/main" id="{D3029D02-74A6-043A-0A89-F8543D508D58}"/>
                </a:ext>
              </a:extLst>
            </p:cNvPr>
            <p:cNvSpPr>
              <a:spLocks noChangeAspect="1"/>
            </p:cNvSpPr>
            <p:nvPr/>
          </p:nvSpPr>
          <p:spPr>
            <a:xfrm>
              <a:off x="3591093" y="4660966"/>
              <a:ext cx="106218" cy="105514"/>
            </a:xfrm>
            <a:prstGeom prst="ellipse">
              <a:avLst/>
            </a:prstGeom>
            <a:noFill/>
            <a:ln w="19050">
              <a:solidFill>
                <a:srgbClr val="BFBFB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a:p>
          </p:txBody>
        </p:sp>
        <p:sp>
          <p:nvSpPr>
            <p:cNvPr id="1055" name="Oval 166">
              <a:extLst>
                <a:ext uri="{FF2B5EF4-FFF2-40B4-BE49-F238E27FC236}">
                  <a16:creationId xmlns:a16="http://schemas.microsoft.com/office/drawing/2014/main" id="{8F936754-45D3-DDE1-8FFA-F5AB4364EB5C}"/>
                </a:ext>
              </a:extLst>
            </p:cNvPr>
            <p:cNvSpPr>
              <a:spLocks noChangeAspect="1"/>
            </p:cNvSpPr>
            <p:nvPr/>
          </p:nvSpPr>
          <p:spPr>
            <a:xfrm>
              <a:off x="4024325" y="4671349"/>
              <a:ext cx="106218" cy="105514"/>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a:p>
          </p:txBody>
        </p:sp>
        <p:pic>
          <p:nvPicPr>
            <p:cNvPr id="1056" name="Picture 2">
              <a:extLst>
                <a:ext uri="{FF2B5EF4-FFF2-40B4-BE49-F238E27FC236}">
                  <a16:creationId xmlns:a16="http://schemas.microsoft.com/office/drawing/2014/main" id="{6675EF67-CBA4-B688-CD3A-55D68555667D}"/>
                </a:ext>
              </a:extLst>
            </p:cNvPr>
            <p:cNvPicPr>
              <a:picLocks noChangeAspect="1" noChangeArrowheads="1"/>
            </p:cNvPicPr>
            <p:nvPr/>
          </p:nvPicPr>
          <p:blipFill rotWithShape="1">
            <a:blip r:embed="rId3">
              <a:grayscl/>
              <a:extLst>
                <a:ext uri="{28A0092B-C50C-407E-A947-70E740481C1C}">
                  <a14:useLocalDpi xmlns:a14="http://schemas.microsoft.com/office/drawing/2010/main" val="0"/>
                </a:ext>
              </a:extLst>
            </a:blip>
            <a:srcRect l="15524" t="26589" r="16378" b="40963"/>
            <a:stretch>
              <a:fillRect/>
            </a:stretch>
          </p:blipFill>
          <p:spPr bwMode="auto">
            <a:xfrm>
              <a:off x="4024325" y="4694375"/>
              <a:ext cx="109380" cy="51774"/>
            </a:xfrm>
            <a:prstGeom prst="rect">
              <a:avLst/>
            </a:prstGeom>
            <a:noFill/>
            <a:extLst>
              <a:ext uri="{909E8E84-426E-40DD-AFC4-6F175D3DCCD1}">
                <a14:hiddenFill xmlns:a14="http://schemas.microsoft.com/office/drawing/2010/main">
                  <a:solidFill>
                    <a:srgbClr val="FFFFFF"/>
                  </a:solidFill>
                </a14:hiddenFill>
              </a:ext>
            </a:extLst>
          </p:spPr>
        </p:pic>
        <p:sp>
          <p:nvSpPr>
            <p:cNvPr id="1057" name="Oval 166">
              <a:extLst>
                <a:ext uri="{FF2B5EF4-FFF2-40B4-BE49-F238E27FC236}">
                  <a16:creationId xmlns:a16="http://schemas.microsoft.com/office/drawing/2014/main" id="{F0E8240B-7E67-0D80-C45B-0A4E5D7E6CC8}"/>
                </a:ext>
              </a:extLst>
            </p:cNvPr>
            <p:cNvSpPr>
              <a:spLocks noChangeAspect="1"/>
            </p:cNvSpPr>
            <p:nvPr/>
          </p:nvSpPr>
          <p:spPr>
            <a:xfrm>
              <a:off x="4024645" y="4671580"/>
              <a:ext cx="106218" cy="105514"/>
            </a:xfrm>
            <a:prstGeom prst="ellipse">
              <a:avLst/>
            </a:prstGeom>
            <a:noFill/>
            <a:ln w="19050">
              <a:solidFill>
                <a:srgbClr val="BFBFB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a:p>
          </p:txBody>
        </p:sp>
        <p:sp>
          <p:nvSpPr>
            <p:cNvPr id="1052" name="Oval 166">
              <a:extLst>
                <a:ext uri="{FF2B5EF4-FFF2-40B4-BE49-F238E27FC236}">
                  <a16:creationId xmlns:a16="http://schemas.microsoft.com/office/drawing/2014/main" id="{65C2D1AA-401C-8F4C-BEB2-B120ED3C4899}"/>
                </a:ext>
              </a:extLst>
            </p:cNvPr>
            <p:cNvSpPr>
              <a:spLocks noChangeAspect="1"/>
            </p:cNvSpPr>
            <p:nvPr/>
          </p:nvSpPr>
          <p:spPr>
            <a:xfrm>
              <a:off x="4090925" y="4960484"/>
              <a:ext cx="106218" cy="105514"/>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a:p>
          </p:txBody>
        </p:sp>
        <p:pic>
          <p:nvPicPr>
            <p:cNvPr id="1053" name="Picture 2">
              <a:extLst>
                <a:ext uri="{FF2B5EF4-FFF2-40B4-BE49-F238E27FC236}">
                  <a16:creationId xmlns:a16="http://schemas.microsoft.com/office/drawing/2014/main" id="{6C51D274-FBF9-45D6-BB40-79E61D572139}"/>
                </a:ext>
              </a:extLst>
            </p:cNvPr>
            <p:cNvPicPr>
              <a:picLocks noChangeAspect="1" noChangeArrowheads="1"/>
            </p:cNvPicPr>
            <p:nvPr/>
          </p:nvPicPr>
          <p:blipFill rotWithShape="1">
            <a:blip r:embed="rId4">
              <a:grayscl/>
              <a:extLst>
                <a:ext uri="{28A0092B-C50C-407E-A947-70E740481C1C}">
                  <a14:useLocalDpi xmlns:a14="http://schemas.microsoft.com/office/drawing/2010/main" val="0"/>
                </a:ext>
              </a:extLst>
            </a:blip>
            <a:srcRect l="26241" t="25004" r="18951" b="28872"/>
            <a:stretch>
              <a:fillRect/>
            </a:stretch>
          </p:blipFill>
          <p:spPr bwMode="auto">
            <a:xfrm>
              <a:off x="4100103" y="4974297"/>
              <a:ext cx="92780" cy="77561"/>
            </a:xfrm>
            <a:prstGeom prst="rect">
              <a:avLst/>
            </a:prstGeom>
            <a:noFill/>
            <a:extLst>
              <a:ext uri="{909E8E84-426E-40DD-AFC4-6F175D3DCCD1}">
                <a14:hiddenFill xmlns:a14="http://schemas.microsoft.com/office/drawing/2010/main">
                  <a:solidFill>
                    <a:srgbClr val="FFFFFF"/>
                  </a:solidFill>
                </a14:hiddenFill>
              </a:ext>
            </a:extLst>
          </p:spPr>
        </p:pic>
        <p:sp>
          <p:nvSpPr>
            <p:cNvPr id="1054" name="Oval 166">
              <a:extLst>
                <a:ext uri="{FF2B5EF4-FFF2-40B4-BE49-F238E27FC236}">
                  <a16:creationId xmlns:a16="http://schemas.microsoft.com/office/drawing/2014/main" id="{62FEF78A-F37D-2FDF-D904-78A05E9E2000}"/>
                </a:ext>
              </a:extLst>
            </p:cNvPr>
            <p:cNvSpPr>
              <a:spLocks noChangeAspect="1"/>
            </p:cNvSpPr>
            <p:nvPr/>
          </p:nvSpPr>
          <p:spPr>
            <a:xfrm>
              <a:off x="4091245" y="4960715"/>
              <a:ext cx="106218" cy="105514"/>
            </a:xfrm>
            <a:prstGeom prst="ellipse">
              <a:avLst/>
            </a:prstGeom>
            <a:noFill/>
            <a:ln w="19050">
              <a:solidFill>
                <a:srgbClr val="BFBFB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a:p>
          </p:txBody>
        </p:sp>
        <p:sp>
          <p:nvSpPr>
            <p:cNvPr id="1049" name="Oval 166">
              <a:extLst>
                <a:ext uri="{FF2B5EF4-FFF2-40B4-BE49-F238E27FC236}">
                  <a16:creationId xmlns:a16="http://schemas.microsoft.com/office/drawing/2014/main" id="{89F69847-D073-1454-2F8C-73AFDCE6FF96}"/>
                </a:ext>
              </a:extLst>
            </p:cNvPr>
            <p:cNvSpPr>
              <a:spLocks noChangeAspect="1"/>
            </p:cNvSpPr>
            <p:nvPr/>
          </p:nvSpPr>
          <p:spPr>
            <a:xfrm>
              <a:off x="3534122" y="4965614"/>
              <a:ext cx="106218" cy="105514"/>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a:p>
          </p:txBody>
        </p:sp>
        <p:pic>
          <p:nvPicPr>
            <p:cNvPr id="1050" name="Picture 2" descr="Current Operating Constraints">
              <a:extLst>
                <a:ext uri="{FF2B5EF4-FFF2-40B4-BE49-F238E27FC236}">
                  <a16:creationId xmlns:a16="http://schemas.microsoft.com/office/drawing/2014/main" id="{6209ABC4-091B-87A4-ABF1-BC10D91B2462}"/>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3951" t="22965" r="19520" b="31934"/>
            <a:stretch>
              <a:fillRect/>
            </a:stretch>
          </p:blipFill>
          <p:spPr bwMode="auto">
            <a:xfrm>
              <a:off x="3544701" y="4982827"/>
              <a:ext cx="87099" cy="69031"/>
            </a:xfrm>
            <a:prstGeom prst="rect">
              <a:avLst/>
            </a:prstGeom>
            <a:noFill/>
            <a:extLst>
              <a:ext uri="{909E8E84-426E-40DD-AFC4-6F175D3DCCD1}">
                <a14:hiddenFill xmlns:a14="http://schemas.microsoft.com/office/drawing/2010/main">
                  <a:solidFill>
                    <a:srgbClr val="FFFFFF"/>
                  </a:solidFill>
                </a14:hiddenFill>
              </a:ext>
            </a:extLst>
          </p:spPr>
        </p:pic>
        <p:sp>
          <p:nvSpPr>
            <p:cNvPr id="1051" name="Oval 166">
              <a:extLst>
                <a:ext uri="{FF2B5EF4-FFF2-40B4-BE49-F238E27FC236}">
                  <a16:creationId xmlns:a16="http://schemas.microsoft.com/office/drawing/2014/main" id="{D0F831BF-66FD-F893-E4FF-8999767D6C93}"/>
                </a:ext>
              </a:extLst>
            </p:cNvPr>
            <p:cNvSpPr>
              <a:spLocks noChangeAspect="1"/>
            </p:cNvSpPr>
            <p:nvPr/>
          </p:nvSpPr>
          <p:spPr>
            <a:xfrm>
              <a:off x="3534442" y="4965845"/>
              <a:ext cx="106218" cy="105514"/>
            </a:xfrm>
            <a:prstGeom prst="ellipse">
              <a:avLst/>
            </a:prstGeom>
            <a:noFill/>
            <a:ln w="19050">
              <a:solidFill>
                <a:srgbClr val="2C578B"/>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a:p>
          </p:txBody>
        </p:sp>
      </p:grpSp>
    </p:spTree>
    <p:extLst>
      <p:ext uri="{BB962C8B-B14F-4D97-AF65-F5344CB8AC3E}">
        <p14:creationId xmlns:p14="http://schemas.microsoft.com/office/powerpoint/2010/main" val="387328886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Rectangle 3"/>
          <p:cNvSpPr/>
          <p:nvPr/>
        </p:nvSpPr>
        <p:spPr>
          <a:xfrm>
            <a:off x="246506" y="1329423"/>
            <a:ext cx="11274552" cy="138988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 name="Rectangle 4"/>
          <p:cNvSpPr/>
          <p:nvPr/>
        </p:nvSpPr>
        <p:spPr>
          <a:xfrm>
            <a:off x="246506" y="1329423"/>
            <a:ext cx="73152" cy="1389888"/>
          </a:xfrm>
          <a:prstGeom prst="rect">
            <a:avLst/>
          </a:prstGeom>
          <a:solidFill>
            <a:srgbClr val="3B7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6" name="Rectangle 5"/>
          <p:cNvSpPr/>
          <p:nvPr/>
        </p:nvSpPr>
        <p:spPr>
          <a:xfrm>
            <a:off x="383666" y="1466583"/>
            <a:ext cx="548640" cy="548640"/>
          </a:xfrm>
          <a:prstGeom prst="rect">
            <a:avLst/>
          </a:prstGeom>
          <a:solidFill>
            <a:srgbClr val="3B7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7" name="TextBox 6"/>
          <p:cNvSpPr txBox="1"/>
          <p:nvPr/>
        </p:nvSpPr>
        <p:spPr>
          <a:xfrm>
            <a:off x="383666" y="1615997"/>
            <a:ext cx="548640" cy="249812"/>
          </a:xfrm>
          <a:prstGeom prst="rect">
            <a:avLst/>
          </a:prstGeom>
          <a:noFill/>
        </p:spPr>
        <p:txBody>
          <a:bodyPr wrap="square" lIns="0" tIns="0" rIns="0" bIns="0" anchor="ctr">
            <a:spAutoFit/>
          </a:bodyPr>
          <a:lstStyle/>
          <a:p>
            <a:pPr algn="ctr">
              <a:lnSpc>
                <a:spcPct val="110000"/>
              </a:lnSpc>
              <a:spcBef>
                <a:spcPts val="0"/>
              </a:spcBef>
              <a:spcAft>
                <a:spcPts val="0"/>
              </a:spcAft>
            </a:pPr>
            <a:r>
              <a:rPr lang="en-US" sz="1600" b="1" i="0" noProof="0">
                <a:solidFill>
                  <a:srgbClr val="FFFFFF"/>
                </a:solidFill>
                <a:latin typeface="Arial" panose="020B0604020202020204" pitchFamily="34" charset="0"/>
                <a:cs typeface="Arial" panose="020B0604020202020204" pitchFamily="34" charset="0"/>
              </a:rPr>
              <a:t>01</a:t>
            </a:r>
          </a:p>
        </p:txBody>
      </p:sp>
      <p:sp>
        <p:nvSpPr>
          <p:cNvPr id="8" name="TextBox 7"/>
          <p:cNvSpPr txBox="1"/>
          <p:nvPr/>
        </p:nvSpPr>
        <p:spPr>
          <a:xfrm>
            <a:off x="1069466" y="1420863"/>
            <a:ext cx="10515600" cy="203004"/>
          </a:xfrm>
          <a:prstGeom prst="rect">
            <a:avLst/>
          </a:prstGeom>
          <a:noFill/>
        </p:spPr>
        <p:txBody>
          <a:bodyPr wrap="square" lIns="0" tIns="0" rIns="0" bIns="0" anchor="t">
            <a:spAutoFit/>
          </a:bodyPr>
          <a:lstStyle/>
          <a:p>
            <a:pPr algn="l">
              <a:lnSpc>
                <a:spcPct val="110000"/>
              </a:lnSpc>
              <a:spcBef>
                <a:spcPts val="0"/>
              </a:spcBef>
              <a:spcAft>
                <a:spcPts val="0"/>
              </a:spcAft>
            </a:pPr>
            <a:r>
              <a:rPr lang="en-US" sz="1300" b="1" i="0" noProof="0">
                <a:solidFill>
                  <a:srgbClr val="3B7D23"/>
                </a:solidFill>
                <a:latin typeface="Arial" panose="020B0604020202020204" pitchFamily="34" charset="0"/>
                <a:cs typeface="Arial" panose="020B0604020202020204" pitchFamily="34" charset="0"/>
              </a:rPr>
              <a:t>Prioritization has no shared model</a:t>
            </a:r>
          </a:p>
        </p:txBody>
      </p:sp>
      <p:sp>
        <p:nvSpPr>
          <p:cNvPr id="9" name="TextBox 8"/>
          <p:cNvSpPr txBox="1"/>
          <p:nvPr/>
        </p:nvSpPr>
        <p:spPr>
          <a:xfrm>
            <a:off x="1069466" y="1740903"/>
            <a:ext cx="10515600"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Four informal criteria (strategic, operational urgency, regulatory, size) are applied per forum, per team, without a scoring rubric. Regulatory always wins regardless of size. No mechanism balances competing demands across the two branches.</a:t>
            </a:r>
          </a:p>
        </p:txBody>
      </p:sp>
      <p:sp>
        <p:nvSpPr>
          <p:cNvPr id="10" name="TextBox 9"/>
          <p:cNvSpPr txBox="1"/>
          <p:nvPr/>
        </p:nvSpPr>
        <p:spPr>
          <a:xfrm>
            <a:off x="1069466" y="2380983"/>
            <a:ext cx="2743200" cy="124906"/>
          </a:xfrm>
          <a:prstGeom prst="rect">
            <a:avLst/>
          </a:prstGeom>
          <a:noFill/>
        </p:spPr>
        <p:txBody>
          <a:bodyPr wrap="square" lIns="0" tIns="0" rIns="0" bIns="0" anchor="t">
            <a:spAutoFit/>
          </a:bodyPr>
          <a:lstStyle/>
          <a:p>
            <a:pPr algn="l">
              <a:lnSpc>
                <a:spcPct val="110000"/>
              </a:lnSpc>
              <a:spcBef>
                <a:spcPts val="0"/>
              </a:spcBef>
              <a:spcAft>
                <a:spcPts val="0"/>
              </a:spcAft>
            </a:pPr>
            <a:r>
              <a:rPr lang="en-US" sz="800" b="1" i="0" noProof="0">
                <a:solidFill>
                  <a:srgbClr val="6785C1"/>
                </a:solidFill>
                <a:latin typeface="Arial" panose="020B0604020202020204" pitchFamily="34" charset="0"/>
                <a:cs typeface="Arial" panose="020B0604020202020204" pitchFamily="34" charset="0"/>
              </a:rPr>
              <a:t>APPLICATIONS:</a:t>
            </a:r>
          </a:p>
        </p:txBody>
      </p:sp>
      <p:sp>
        <p:nvSpPr>
          <p:cNvPr id="11" name="TextBox 10"/>
          <p:cNvSpPr txBox="1"/>
          <p:nvPr/>
        </p:nvSpPr>
        <p:spPr>
          <a:xfrm>
            <a:off x="2623946" y="2380983"/>
            <a:ext cx="3200400" cy="124906"/>
          </a:xfrm>
          <a:prstGeom prst="rect">
            <a:avLst/>
          </a:prstGeom>
          <a:noFill/>
        </p:spPr>
        <p:txBody>
          <a:bodyPr wrap="square" lIns="0" tIns="0" rIns="0" bIns="0" anchor="t">
            <a:spAutoFit/>
          </a:bodyPr>
          <a:lstStyle/>
          <a:p>
            <a:pPr algn="l">
              <a:lnSpc>
                <a:spcPct val="110000"/>
              </a:lnSpc>
              <a:spcBef>
                <a:spcPts val="0"/>
              </a:spcBef>
              <a:spcAft>
                <a:spcPts val="0"/>
              </a:spcAft>
            </a:pPr>
            <a:r>
              <a:rPr lang="en-US" sz="800" b="0" i="1" noProof="0">
                <a:solidFill>
                  <a:srgbClr val="2C3E50"/>
                </a:solidFill>
                <a:latin typeface="Arial" panose="020B0604020202020204" pitchFamily="34" charset="0"/>
                <a:cs typeface="Arial" panose="020B0604020202020204" pitchFamily="34" charset="0"/>
              </a:rPr>
              <a:t>PDD approval / impact × users / incidents first / criticality — all different</a:t>
            </a:r>
          </a:p>
        </p:txBody>
      </p:sp>
      <p:sp>
        <p:nvSpPr>
          <p:cNvPr id="12" name="TextBox 11"/>
          <p:cNvSpPr txBox="1"/>
          <p:nvPr/>
        </p:nvSpPr>
        <p:spPr>
          <a:xfrm>
            <a:off x="6144386" y="2380983"/>
            <a:ext cx="2743200" cy="124906"/>
          </a:xfrm>
          <a:prstGeom prst="rect">
            <a:avLst/>
          </a:prstGeom>
          <a:noFill/>
        </p:spPr>
        <p:txBody>
          <a:bodyPr wrap="square" lIns="0" tIns="0" rIns="0" bIns="0" anchor="t">
            <a:spAutoFit/>
          </a:bodyPr>
          <a:lstStyle/>
          <a:p>
            <a:pPr algn="l">
              <a:lnSpc>
                <a:spcPct val="110000"/>
              </a:lnSpc>
              <a:spcBef>
                <a:spcPts val="0"/>
              </a:spcBef>
              <a:spcAft>
                <a:spcPts val="0"/>
              </a:spcAft>
            </a:pPr>
            <a:r>
              <a:rPr lang="en-US" sz="800" b="1" i="0" noProof="0">
                <a:solidFill>
                  <a:srgbClr val="0F1C50"/>
                </a:solidFill>
                <a:latin typeface="Arial" panose="020B0604020202020204" pitchFamily="34" charset="0"/>
                <a:cs typeface="Arial" panose="020B0604020202020204" pitchFamily="34" charset="0"/>
              </a:rPr>
              <a:t>CUSTOMER SERVICES:</a:t>
            </a:r>
          </a:p>
        </p:txBody>
      </p:sp>
      <p:sp>
        <p:nvSpPr>
          <p:cNvPr id="13" name="TextBox 12"/>
          <p:cNvSpPr txBox="1"/>
          <p:nvPr/>
        </p:nvSpPr>
        <p:spPr>
          <a:xfrm>
            <a:off x="8064626" y="2380983"/>
            <a:ext cx="3383280" cy="124906"/>
          </a:xfrm>
          <a:prstGeom prst="rect">
            <a:avLst/>
          </a:prstGeom>
          <a:noFill/>
        </p:spPr>
        <p:txBody>
          <a:bodyPr wrap="square" lIns="0" tIns="0" rIns="0" bIns="0" anchor="t">
            <a:spAutoFit/>
          </a:bodyPr>
          <a:lstStyle/>
          <a:p>
            <a:pPr algn="l">
              <a:lnSpc>
                <a:spcPct val="110000"/>
              </a:lnSpc>
              <a:spcBef>
                <a:spcPts val="0"/>
              </a:spcBef>
              <a:spcAft>
                <a:spcPts val="0"/>
              </a:spcAft>
            </a:pPr>
            <a:r>
              <a:rPr lang="en-US" sz="800" b="0" i="1" noProof="0">
                <a:solidFill>
                  <a:srgbClr val="2C3E50"/>
                </a:solidFill>
                <a:latin typeface="Arial" panose="020B0604020202020204" pitchFamily="34" charset="0"/>
                <a:cs typeface="Arial" panose="020B0604020202020204" pitchFamily="34" charset="0"/>
              </a:rPr>
              <a:t>"Intrinsic common sense" (Metering) + forum-based (director-level)</a:t>
            </a:r>
          </a:p>
        </p:txBody>
      </p:sp>
      <p:sp>
        <p:nvSpPr>
          <p:cNvPr id="14" name="Rectangle 13"/>
          <p:cNvSpPr/>
          <p:nvPr/>
        </p:nvSpPr>
        <p:spPr>
          <a:xfrm>
            <a:off x="246506" y="2792463"/>
            <a:ext cx="11274552" cy="138988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5" name="Rectangle 14"/>
          <p:cNvSpPr/>
          <p:nvPr/>
        </p:nvSpPr>
        <p:spPr>
          <a:xfrm>
            <a:off x="246506" y="2792463"/>
            <a:ext cx="73152" cy="1389888"/>
          </a:xfrm>
          <a:prstGeom prst="rect">
            <a:avLst/>
          </a:prstGeom>
          <a:solidFill>
            <a:srgbClr val="3B7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6" name="Rectangle 15"/>
          <p:cNvSpPr/>
          <p:nvPr/>
        </p:nvSpPr>
        <p:spPr>
          <a:xfrm>
            <a:off x="383666" y="2929623"/>
            <a:ext cx="548640" cy="548640"/>
          </a:xfrm>
          <a:prstGeom prst="rect">
            <a:avLst/>
          </a:prstGeom>
          <a:solidFill>
            <a:srgbClr val="3B7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7" name="TextBox 16"/>
          <p:cNvSpPr txBox="1"/>
          <p:nvPr/>
        </p:nvSpPr>
        <p:spPr>
          <a:xfrm>
            <a:off x="383666" y="3079037"/>
            <a:ext cx="548640" cy="249812"/>
          </a:xfrm>
          <a:prstGeom prst="rect">
            <a:avLst/>
          </a:prstGeom>
          <a:noFill/>
        </p:spPr>
        <p:txBody>
          <a:bodyPr wrap="square" lIns="0" tIns="0" rIns="0" bIns="0" anchor="ctr">
            <a:spAutoFit/>
          </a:bodyPr>
          <a:lstStyle/>
          <a:p>
            <a:pPr algn="ctr">
              <a:lnSpc>
                <a:spcPct val="110000"/>
              </a:lnSpc>
              <a:spcBef>
                <a:spcPts val="0"/>
              </a:spcBef>
              <a:spcAft>
                <a:spcPts val="0"/>
              </a:spcAft>
            </a:pPr>
            <a:r>
              <a:rPr lang="en-US" sz="1600" b="1" i="0" noProof="0">
                <a:solidFill>
                  <a:srgbClr val="FFFFFF"/>
                </a:solidFill>
                <a:latin typeface="Arial" panose="020B0604020202020204" pitchFamily="34" charset="0"/>
                <a:cs typeface="Arial" panose="020B0604020202020204" pitchFamily="34" charset="0"/>
              </a:rPr>
              <a:t>02</a:t>
            </a:r>
          </a:p>
        </p:txBody>
      </p:sp>
      <p:sp>
        <p:nvSpPr>
          <p:cNvPr id="18" name="TextBox 17"/>
          <p:cNvSpPr txBox="1"/>
          <p:nvPr/>
        </p:nvSpPr>
        <p:spPr>
          <a:xfrm>
            <a:off x="1069466" y="2883903"/>
            <a:ext cx="10515600" cy="203004"/>
          </a:xfrm>
          <a:prstGeom prst="rect">
            <a:avLst/>
          </a:prstGeom>
          <a:noFill/>
        </p:spPr>
        <p:txBody>
          <a:bodyPr wrap="square" lIns="0" tIns="0" rIns="0" bIns="0" anchor="t">
            <a:spAutoFit/>
          </a:bodyPr>
          <a:lstStyle/>
          <a:p>
            <a:pPr algn="l">
              <a:lnSpc>
                <a:spcPct val="110000"/>
              </a:lnSpc>
              <a:spcBef>
                <a:spcPts val="0"/>
              </a:spcBef>
              <a:spcAft>
                <a:spcPts val="0"/>
              </a:spcAft>
            </a:pPr>
            <a:r>
              <a:rPr lang="en-US" sz="1300" b="1" i="0" noProof="0">
                <a:solidFill>
                  <a:srgbClr val="3B7D23"/>
                </a:solidFill>
                <a:latin typeface="Arial" panose="020B0604020202020204" pitchFamily="34" charset="0"/>
                <a:cs typeface="Arial" panose="020B0604020202020204" pitchFamily="34" charset="0"/>
              </a:rPr>
              <a:t>Taxonomy is undefined</a:t>
            </a:r>
          </a:p>
        </p:txBody>
      </p:sp>
      <p:sp>
        <p:nvSpPr>
          <p:cNvPr id="19" name="TextBox 18"/>
          <p:cNvSpPr txBox="1"/>
          <p:nvPr/>
        </p:nvSpPr>
        <p:spPr>
          <a:xfrm>
            <a:off x="1069466" y="3203943"/>
            <a:ext cx="10515600"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What counts as "small", "medium", or "large" demand is defined per team. No hours / cost / complexity threshold exists. Without objective classification, prioritization logic cannot be automated, and forums debate the class before debating the priority.</a:t>
            </a:r>
          </a:p>
        </p:txBody>
      </p:sp>
      <p:sp>
        <p:nvSpPr>
          <p:cNvPr id="20" name="TextBox 19"/>
          <p:cNvSpPr txBox="1"/>
          <p:nvPr/>
        </p:nvSpPr>
        <p:spPr>
          <a:xfrm>
            <a:off x="1069466" y="3844023"/>
            <a:ext cx="2743200" cy="124906"/>
          </a:xfrm>
          <a:prstGeom prst="rect">
            <a:avLst/>
          </a:prstGeom>
          <a:noFill/>
        </p:spPr>
        <p:txBody>
          <a:bodyPr wrap="square" lIns="0" tIns="0" rIns="0" bIns="0" anchor="t">
            <a:spAutoFit/>
          </a:bodyPr>
          <a:lstStyle/>
          <a:p>
            <a:pPr algn="l">
              <a:lnSpc>
                <a:spcPct val="110000"/>
              </a:lnSpc>
              <a:spcBef>
                <a:spcPts val="0"/>
              </a:spcBef>
              <a:spcAft>
                <a:spcPts val="0"/>
              </a:spcAft>
            </a:pPr>
            <a:r>
              <a:rPr lang="en-US" sz="800" b="1" i="0" noProof="0">
                <a:solidFill>
                  <a:srgbClr val="6785C1"/>
                </a:solidFill>
                <a:latin typeface="Arial" panose="020B0604020202020204" pitchFamily="34" charset="0"/>
                <a:cs typeface="Arial" panose="020B0604020202020204" pitchFamily="34" charset="0"/>
              </a:rPr>
              <a:t>APPLICATIONS:</a:t>
            </a:r>
          </a:p>
        </p:txBody>
      </p:sp>
      <p:sp>
        <p:nvSpPr>
          <p:cNvPr id="21" name="TextBox 20"/>
          <p:cNvSpPr txBox="1"/>
          <p:nvPr/>
        </p:nvSpPr>
        <p:spPr>
          <a:xfrm>
            <a:off x="2623946" y="3844023"/>
            <a:ext cx="3200400" cy="124906"/>
          </a:xfrm>
          <a:prstGeom prst="rect">
            <a:avLst/>
          </a:prstGeom>
          <a:noFill/>
        </p:spPr>
        <p:txBody>
          <a:bodyPr wrap="square" lIns="0" tIns="0" rIns="0" bIns="0" anchor="t">
            <a:spAutoFit/>
          </a:bodyPr>
          <a:lstStyle/>
          <a:p>
            <a:pPr algn="l">
              <a:lnSpc>
                <a:spcPct val="110000"/>
              </a:lnSpc>
              <a:spcBef>
                <a:spcPts val="0"/>
              </a:spcBef>
              <a:spcAft>
                <a:spcPts val="0"/>
              </a:spcAft>
            </a:pPr>
            <a:r>
              <a:rPr lang="en-US" sz="800" b="0" i="1" noProof="0">
                <a:solidFill>
                  <a:srgbClr val="2C3E50"/>
                </a:solidFill>
                <a:latin typeface="Arial" panose="020B0604020202020204" pitchFamily="34" charset="0"/>
                <a:cs typeface="Arial" panose="020B0604020202020204" pitchFamily="34" charset="0"/>
              </a:rPr>
              <a:t>PDD covers "large" but "small vs medium" is informal</a:t>
            </a:r>
          </a:p>
        </p:txBody>
      </p:sp>
      <p:sp>
        <p:nvSpPr>
          <p:cNvPr id="22" name="TextBox 21"/>
          <p:cNvSpPr txBox="1"/>
          <p:nvPr/>
        </p:nvSpPr>
        <p:spPr>
          <a:xfrm>
            <a:off x="6144386" y="3844023"/>
            <a:ext cx="2743200" cy="124906"/>
          </a:xfrm>
          <a:prstGeom prst="rect">
            <a:avLst/>
          </a:prstGeom>
          <a:noFill/>
        </p:spPr>
        <p:txBody>
          <a:bodyPr wrap="square" lIns="0" tIns="0" rIns="0" bIns="0" anchor="t">
            <a:spAutoFit/>
          </a:bodyPr>
          <a:lstStyle/>
          <a:p>
            <a:pPr algn="l">
              <a:lnSpc>
                <a:spcPct val="110000"/>
              </a:lnSpc>
              <a:spcBef>
                <a:spcPts val="0"/>
              </a:spcBef>
              <a:spcAft>
                <a:spcPts val="0"/>
              </a:spcAft>
            </a:pPr>
            <a:r>
              <a:rPr lang="en-US" sz="800" b="1" i="0" noProof="0">
                <a:solidFill>
                  <a:srgbClr val="0F1C50"/>
                </a:solidFill>
                <a:latin typeface="Arial" panose="020B0604020202020204" pitchFamily="34" charset="0"/>
                <a:cs typeface="Arial" panose="020B0604020202020204" pitchFamily="34" charset="0"/>
              </a:rPr>
              <a:t>CUSTOMER SERVICES:</a:t>
            </a:r>
          </a:p>
        </p:txBody>
      </p:sp>
      <p:sp>
        <p:nvSpPr>
          <p:cNvPr id="23" name="TextBox 22"/>
          <p:cNvSpPr txBox="1"/>
          <p:nvPr/>
        </p:nvSpPr>
        <p:spPr>
          <a:xfrm>
            <a:off x="8064626" y="3844023"/>
            <a:ext cx="3383280" cy="124906"/>
          </a:xfrm>
          <a:prstGeom prst="rect">
            <a:avLst/>
          </a:prstGeom>
          <a:noFill/>
        </p:spPr>
        <p:txBody>
          <a:bodyPr wrap="square" lIns="0" tIns="0" rIns="0" bIns="0" anchor="t">
            <a:spAutoFit/>
          </a:bodyPr>
          <a:lstStyle/>
          <a:p>
            <a:pPr algn="l">
              <a:lnSpc>
                <a:spcPct val="110000"/>
              </a:lnSpc>
              <a:spcBef>
                <a:spcPts val="0"/>
              </a:spcBef>
              <a:spcAft>
                <a:spcPts val="0"/>
              </a:spcAft>
            </a:pPr>
            <a:r>
              <a:rPr lang="en-US" sz="800" b="0" i="1" noProof="0">
                <a:solidFill>
                  <a:srgbClr val="2C3E50"/>
                </a:solidFill>
                <a:latin typeface="Arial" panose="020B0604020202020204" pitchFamily="34" charset="0"/>
                <a:cs typeface="Arial" panose="020B0604020202020204" pitchFamily="34" charset="0"/>
              </a:rPr>
              <a:t>PMO owns "large" by convention, not definition</a:t>
            </a:r>
          </a:p>
        </p:txBody>
      </p:sp>
      <p:sp>
        <p:nvSpPr>
          <p:cNvPr id="24" name="Rectangle 23"/>
          <p:cNvSpPr/>
          <p:nvPr/>
        </p:nvSpPr>
        <p:spPr>
          <a:xfrm>
            <a:off x="246506" y="4255503"/>
            <a:ext cx="11274552" cy="138988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5" name="Rectangle 24"/>
          <p:cNvSpPr/>
          <p:nvPr/>
        </p:nvSpPr>
        <p:spPr>
          <a:xfrm>
            <a:off x="246506" y="4255503"/>
            <a:ext cx="73152" cy="1389888"/>
          </a:xfrm>
          <a:prstGeom prst="rect">
            <a:avLst/>
          </a:prstGeom>
          <a:solidFill>
            <a:srgbClr val="3B7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6" name="Rectangle 25"/>
          <p:cNvSpPr/>
          <p:nvPr/>
        </p:nvSpPr>
        <p:spPr>
          <a:xfrm>
            <a:off x="383666" y="4392663"/>
            <a:ext cx="548640" cy="548640"/>
          </a:xfrm>
          <a:prstGeom prst="rect">
            <a:avLst/>
          </a:prstGeom>
          <a:solidFill>
            <a:srgbClr val="3B7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7" name="TextBox 26"/>
          <p:cNvSpPr txBox="1"/>
          <p:nvPr/>
        </p:nvSpPr>
        <p:spPr>
          <a:xfrm>
            <a:off x="383666" y="4542077"/>
            <a:ext cx="548640" cy="249812"/>
          </a:xfrm>
          <a:prstGeom prst="rect">
            <a:avLst/>
          </a:prstGeom>
          <a:noFill/>
        </p:spPr>
        <p:txBody>
          <a:bodyPr wrap="square" lIns="0" tIns="0" rIns="0" bIns="0" anchor="ctr">
            <a:spAutoFit/>
          </a:bodyPr>
          <a:lstStyle/>
          <a:p>
            <a:pPr algn="ctr">
              <a:lnSpc>
                <a:spcPct val="110000"/>
              </a:lnSpc>
              <a:spcBef>
                <a:spcPts val="0"/>
              </a:spcBef>
              <a:spcAft>
                <a:spcPts val="0"/>
              </a:spcAft>
            </a:pPr>
            <a:r>
              <a:rPr lang="en-US" sz="1600" b="1" i="0" noProof="0">
                <a:solidFill>
                  <a:srgbClr val="FFFFFF"/>
                </a:solidFill>
                <a:latin typeface="Arial" panose="020B0604020202020204" pitchFamily="34" charset="0"/>
                <a:cs typeface="Arial" panose="020B0604020202020204" pitchFamily="34" charset="0"/>
              </a:rPr>
              <a:t>03</a:t>
            </a:r>
          </a:p>
        </p:txBody>
      </p:sp>
      <p:sp>
        <p:nvSpPr>
          <p:cNvPr id="28" name="TextBox 27"/>
          <p:cNvSpPr txBox="1"/>
          <p:nvPr/>
        </p:nvSpPr>
        <p:spPr>
          <a:xfrm>
            <a:off x="1069466" y="4346943"/>
            <a:ext cx="10515600" cy="203004"/>
          </a:xfrm>
          <a:prstGeom prst="rect">
            <a:avLst/>
          </a:prstGeom>
          <a:noFill/>
        </p:spPr>
        <p:txBody>
          <a:bodyPr wrap="square" lIns="0" tIns="0" rIns="0" bIns="0" anchor="t">
            <a:spAutoFit/>
          </a:bodyPr>
          <a:lstStyle/>
          <a:p>
            <a:pPr algn="l">
              <a:lnSpc>
                <a:spcPct val="110000"/>
              </a:lnSpc>
              <a:spcBef>
                <a:spcPts val="0"/>
              </a:spcBef>
              <a:spcAft>
                <a:spcPts val="0"/>
              </a:spcAft>
            </a:pPr>
            <a:r>
              <a:rPr lang="en-US" sz="1300" b="1" i="0" noProof="0">
                <a:solidFill>
                  <a:srgbClr val="3B7D23"/>
                </a:solidFill>
                <a:latin typeface="Arial" panose="020B0604020202020204" pitchFamily="34" charset="0"/>
                <a:cs typeface="Arial" panose="020B0604020202020204" pitchFamily="34" charset="0"/>
              </a:rPr>
              <a:t>Vendor governance is absent</a:t>
            </a:r>
          </a:p>
        </p:txBody>
      </p:sp>
      <p:sp>
        <p:nvSpPr>
          <p:cNvPr id="29" name="TextBox 28"/>
          <p:cNvSpPr txBox="1"/>
          <p:nvPr/>
        </p:nvSpPr>
        <p:spPr>
          <a:xfrm>
            <a:off x="1069466" y="4666983"/>
            <a:ext cx="10515600"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No process governs vendor delivery in either branch. Vendors estimate scope, timelines, and cost. Smart Metering is 100% vendor-delivered — vendors do requirements AND code. In G&amp;E, the vendor sets its own timeline on version upgrades.</a:t>
            </a:r>
          </a:p>
        </p:txBody>
      </p:sp>
      <p:sp>
        <p:nvSpPr>
          <p:cNvPr id="30" name="TextBox 29"/>
          <p:cNvSpPr txBox="1"/>
          <p:nvPr/>
        </p:nvSpPr>
        <p:spPr>
          <a:xfrm>
            <a:off x="1069466" y="5307062"/>
            <a:ext cx="2743200" cy="124906"/>
          </a:xfrm>
          <a:prstGeom prst="rect">
            <a:avLst/>
          </a:prstGeom>
          <a:noFill/>
        </p:spPr>
        <p:txBody>
          <a:bodyPr wrap="square" lIns="0" tIns="0" rIns="0" bIns="0" anchor="t">
            <a:spAutoFit/>
          </a:bodyPr>
          <a:lstStyle/>
          <a:p>
            <a:pPr algn="l">
              <a:lnSpc>
                <a:spcPct val="110000"/>
              </a:lnSpc>
              <a:spcBef>
                <a:spcPts val="0"/>
              </a:spcBef>
              <a:spcAft>
                <a:spcPts val="0"/>
              </a:spcAft>
            </a:pPr>
            <a:r>
              <a:rPr lang="en-US" sz="800" b="1" i="0" noProof="0">
                <a:solidFill>
                  <a:srgbClr val="6785C1"/>
                </a:solidFill>
                <a:latin typeface="Arial" panose="020B0604020202020204" pitchFamily="34" charset="0"/>
                <a:cs typeface="Arial" panose="020B0604020202020204" pitchFamily="34" charset="0"/>
              </a:rPr>
              <a:t>APPLICATIONS:</a:t>
            </a:r>
          </a:p>
        </p:txBody>
      </p:sp>
      <p:sp>
        <p:nvSpPr>
          <p:cNvPr id="31" name="TextBox 30"/>
          <p:cNvSpPr txBox="1"/>
          <p:nvPr/>
        </p:nvSpPr>
        <p:spPr>
          <a:xfrm>
            <a:off x="2623946" y="5307062"/>
            <a:ext cx="3200400" cy="124906"/>
          </a:xfrm>
          <a:prstGeom prst="rect">
            <a:avLst/>
          </a:prstGeom>
          <a:noFill/>
        </p:spPr>
        <p:txBody>
          <a:bodyPr wrap="square" lIns="0" tIns="0" rIns="0" bIns="0" anchor="t">
            <a:spAutoFit/>
          </a:bodyPr>
          <a:lstStyle/>
          <a:p>
            <a:pPr algn="l">
              <a:lnSpc>
                <a:spcPct val="110000"/>
              </a:lnSpc>
              <a:spcBef>
                <a:spcPts val="0"/>
              </a:spcBef>
              <a:spcAft>
                <a:spcPts val="0"/>
              </a:spcAft>
            </a:pPr>
            <a:r>
              <a:rPr lang="en-US" sz="800" b="0" i="1" noProof="0">
                <a:solidFill>
                  <a:srgbClr val="2C3E50"/>
                </a:solidFill>
                <a:latin typeface="Arial" panose="020B0604020202020204" pitchFamily="34" charset="0"/>
                <a:cs typeface="Arial" panose="020B0604020202020204" pitchFamily="34" charset="0"/>
              </a:rPr>
              <a:t>Vendors co-build; no performance framework</a:t>
            </a:r>
          </a:p>
        </p:txBody>
      </p:sp>
      <p:sp>
        <p:nvSpPr>
          <p:cNvPr id="32" name="TextBox 31"/>
          <p:cNvSpPr txBox="1"/>
          <p:nvPr/>
        </p:nvSpPr>
        <p:spPr>
          <a:xfrm>
            <a:off x="6144386" y="5307062"/>
            <a:ext cx="2743200" cy="124906"/>
          </a:xfrm>
          <a:prstGeom prst="rect">
            <a:avLst/>
          </a:prstGeom>
          <a:noFill/>
        </p:spPr>
        <p:txBody>
          <a:bodyPr wrap="square" lIns="0" tIns="0" rIns="0" bIns="0" anchor="t">
            <a:spAutoFit/>
          </a:bodyPr>
          <a:lstStyle/>
          <a:p>
            <a:pPr algn="l">
              <a:lnSpc>
                <a:spcPct val="110000"/>
              </a:lnSpc>
              <a:spcBef>
                <a:spcPts val="0"/>
              </a:spcBef>
              <a:spcAft>
                <a:spcPts val="0"/>
              </a:spcAft>
            </a:pPr>
            <a:r>
              <a:rPr lang="en-US" sz="800" b="1" i="0" noProof="0">
                <a:solidFill>
                  <a:srgbClr val="0F1C50"/>
                </a:solidFill>
                <a:latin typeface="Arial" panose="020B0604020202020204" pitchFamily="34" charset="0"/>
                <a:cs typeface="Arial" panose="020B0604020202020204" pitchFamily="34" charset="0"/>
              </a:rPr>
              <a:t>CUSTOMER SERVICES:</a:t>
            </a:r>
          </a:p>
        </p:txBody>
      </p:sp>
      <p:sp>
        <p:nvSpPr>
          <p:cNvPr id="33" name="TextBox 32"/>
          <p:cNvSpPr txBox="1"/>
          <p:nvPr/>
        </p:nvSpPr>
        <p:spPr>
          <a:xfrm>
            <a:off x="8064626" y="5307062"/>
            <a:ext cx="3383280" cy="124906"/>
          </a:xfrm>
          <a:prstGeom prst="rect">
            <a:avLst/>
          </a:prstGeom>
          <a:noFill/>
        </p:spPr>
        <p:txBody>
          <a:bodyPr wrap="square" lIns="0" tIns="0" rIns="0" bIns="0" anchor="t">
            <a:spAutoFit/>
          </a:bodyPr>
          <a:lstStyle/>
          <a:p>
            <a:pPr algn="l">
              <a:lnSpc>
                <a:spcPct val="110000"/>
              </a:lnSpc>
              <a:spcBef>
                <a:spcPts val="0"/>
              </a:spcBef>
              <a:spcAft>
                <a:spcPts val="0"/>
              </a:spcAft>
            </a:pPr>
            <a:r>
              <a:rPr lang="en-US" sz="800" b="0" i="1" noProof="0">
                <a:solidFill>
                  <a:srgbClr val="2C3E50"/>
                </a:solidFill>
                <a:latin typeface="Arial" panose="020B0604020202020204" pitchFamily="34" charset="0"/>
                <a:cs typeface="Arial" panose="020B0604020202020204" pitchFamily="34" charset="0"/>
              </a:rPr>
              <a:t>"All portfolio in vendor" (Smart Metering) — full outsourcing risk</a:t>
            </a:r>
          </a:p>
        </p:txBody>
      </p:sp>
      <p:sp>
        <p:nvSpPr>
          <p:cNvPr id="34" name="Rectangle 33"/>
          <p:cNvSpPr/>
          <p:nvPr/>
        </p:nvSpPr>
        <p:spPr>
          <a:xfrm>
            <a:off x="246506" y="5741173"/>
            <a:ext cx="11274552"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5" name="TextBox 34"/>
          <p:cNvSpPr txBox="1"/>
          <p:nvPr/>
        </p:nvSpPr>
        <p:spPr>
          <a:xfrm>
            <a:off x="475106" y="5906744"/>
            <a:ext cx="10817352" cy="171778"/>
          </a:xfrm>
          <a:prstGeom prst="rect">
            <a:avLst/>
          </a:prstGeom>
          <a:noFill/>
        </p:spPr>
        <p:txBody>
          <a:bodyPr wrap="square" lIns="0" tIns="0" rIns="0" bIns="0" anchor="ctr">
            <a:spAutoFit/>
          </a:bodyPr>
          <a:lstStyle/>
          <a:p>
            <a:pPr algn="l">
              <a:lnSpc>
                <a:spcPct val="110000"/>
              </a:lnSpc>
              <a:spcBef>
                <a:spcPts val="0"/>
              </a:spcBef>
              <a:spcAft>
                <a:spcPts val="0"/>
              </a:spcAft>
            </a:pPr>
            <a:r>
              <a:rPr lang="en-US" sz="1100" b="0" i="0" noProof="0">
                <a:solidFill>
                  <a:srgbClr val="FFFFFF"/>
                </a:solidFill>
                <a:latin typeface="Arial" panose="020B0604020202020204" pitchFamily="34" charset="0"/>
                <a:cs typeface="Arial" panose="020B0604020202020204" pitchFamily="34" charset="0"/>
              </a:rPr>
              <a:t>These three are enterprise-level issues — the TOM owns them; no team-level fix will solve prioritization, taxonomy, or vendor governance on its own</a:t>
            </a:r>
          </a:p>
        </p:txBody>
      </p:sp>
      <p:sp>
        <p:nvSpPr>
          <p:cNvPr id="49" name="Título 2">
            <a:extLst>
              <a:ext uri="{FF2B5EF4-FFF2-40B4-BE49-F238E27FC236}">
                <a16:creationId xmlns:a16="http://schemas.microsoft.com/office/drawing/2014/main" id="{AA6281DC-706B-2362-1591-0EC8C2A25716}"/>
              </a:ext>
            </a:extLst>
          </p:cNvPr>
          <p:cNvSpPr txBox="1">
            <a:spLocks/>
          </p:cNvSpPr>
          <p:nvPr/>
        </p:nvSpPr>
        <p:spPr>
          <a:xfrm>
            <a:off x="180918" y="127319"/>
            <a:ext cx="7801032" cy="514011"/>
          </a:xfrm>
          <a:prstGeom prst="rect">
            <a:avLst/>
          </a:prstGeom>
        </p:spPr>
        <p:txBody>
          <a:bodyPr anchor="ctr">
            <a:noAutofit/>
          </a:bodyPr>
          <a:lstStyle>
            <a:defPPr>
              <a:defRPr lang="en-US"/>
            </a:defPPr>
            <a:lvl1pPr marR="0" lvl="0" indent="0" fontAlgn="auto">
              <a:lnSpc>
                <a:spcPct val="90000"/>
              </a:lnSpc>
              <a:spcBef>
                <a:spcPct val="0"/>
              </a:spcBef>
              <a:spcAft>
                <a:spcPts val="0"/>
              </a:spcAft>
              <a:buClrTx/>
              <a:buSzTx/>
              <a:buFontTx/>
              <a:buNone/>
              <a:tabLst/>
              <a:defRPr kumimoji="0" sz="2400" b="1" i="0" u="none" strike="noStrike" cap="none" spc="0" normalizeH="0" baseline="0">
                <a:ln>
                  <a:noFill/>
                </a:ln>
                <a:solidFill>
                  <a:prstClr val="white"/>
                </a:solidFill>
                <a:effectLst/>
                <a:uLnTx/>
                <a:uFillTx/>
                <a:latin typeface="Arial" panose="020B0604020202020204" pitchFamily="34" charset="0"/>
                <a:ea typeface="+mj-ea"/>
                <a:cs typeface="Arial" panose="020B0604020202020204" pitchFamily="34" charset="0"/>
              </a:defRPr>
            </a:lvl1pPr>
          </a:lstStyle>
          <a:p>
            <a:r>
              <a:rPr lang="en-US" noProof="0">
                <a:sym typeface="Gordita"/>
              </a:rPr>
              <a:t>INSIGHTS &amp; KEY DEFINITIONS FOR TO-BE MODEL</a:t>
            </a:r>
          </a:p>
          <a:p>
            <a:r>
              <a:rPr lang="en-US" sz="1200" noProof="0"/>
              <a:t>SYSTEMIC GAPS</a:t>
            </a:r>
          </a:p>
        </p:txBody>
      </p:sp>
      <p:sp>
        <p:nvSpPr>
          <p:cNvPr id="51" name="TextBox 50"/>
          <p:cNvSpPr txBox="1"/>
          <p:nvPr/>
        </p:nvSpPr>
        <p:spPr>
          <a:xfrm>
            <a:off x="246506" y="865367"/>
            <a:ext cx="11274552" cy="215444"/>
          </a:xfrm>
          <a:prstGeom prst="rect">
            <a:avLst/>
          </a:prstGeom>
          <a:noFill/>
        </p:spPr>
        <p:txBody>
          <a:bodyPr wrap="square" lIns="0" tIns="0" rIns="0" bIns="0" rtlCol="0">
            <a:noAutofit/>
          </a:bodyPr>
          <a:lstStyle>
            <a:defPPr>
              <a:defRPr lang="en-US"/>
            </a:defPPr>
            <a:lvl1pPr marR="0" lvl="0" indent="0" algn="just" fontAlgn="auto">
              <a:lnSpc>
                <a:spcPct val="100000"/>
              </a:lnSpc>
              <a:spcBef>
                <a:spcPts val="0"/>
              </a:spcBef>
              <a:spcAft>
                <a:spcPts val="0"/>
              </a:spcAft>
              <a:buClrTx/>
              <a:buSzTx/>
              <a:buFontTx/>
              <a:buNone/>
              <a:tabLst/>
              <a:defRPr kumimoji="0" sz="1400" b="1" i="0" u="none" strike="noStrike" cap="none" spc="0" normalizeH="0" baseline="0">
                <a:ln>
                  <a:noFill/>
                </a:ln>
                <a:solidFill>
                  <a:srgbClr val="0F9ED5">
                    <a:lumMod val="75000"/>
                  </a:srgbClr>
                </a:solidFill>
                <a:effectLst/>
                <a:uLnTx/>
                <a:uFillTx/>
                <a:latin typeface="Arial" panose="020B0604020202020204" pitchFamily="34" charset="0"/>
                <a:cs typeface="Arial" panose="020B0604020202020204" pitchFamily="34" charset="0"/>
              </a:defRPr>
            </a:lvl1pPr>
            <a:lvl2pPr marL="228586" eaLnBrk="0" fontAlgn="base" hangingPunct="0">
              <a:spcBef>
                <a:spcPct val="0"/>
              </a:spcBef>
              <a:spcAft>
                <a:spcPct val="0"/>
              </a:spcAft>
              <a:defRPr>
                <a:latin typeface="Arial" pitchFamily="2" charset="77"/>
              </a:defRPr>
            </a:lvl2pPr>
            <a:lvl3pPr marL="457172" eaLnBrk="0" fontAlgn="base" hangingPunct="0">
              <a:spcBef>
                <a:spcPct val="0"/>
              </a:spcBef>
              <a:spcAft>
                <a:spcPct val="0"/>
              </a:spcAft>
              <a:defRPr>
                <a:latin typeface="Arial" pitchFamily="2" charset="77"/>
              </a:defRPr>
            </a:lvl3pPr>
            <a:lvl4pPr marL="685757" eaLnBrk="0" fontAlgn="base" hangingPunct="0">
              <a:spcBef>
                <a:spcPct val="0"/>
              </a:spcBef>
              <a:spcAft>
                <a:spcPct val="0"/>
              </a:spcAft>
              <a:defRPr>
                <a:latin typeface="Arial" pitchFamily="2" charset="77"/>
              </a:defRPr>
            </a:lvl4pPr>
            <a:lvl5pPr marL="914343" eaLnBrk="0" fontAlgn="base" hangingPunct="0">
              <a:spcBef>
                <a:spcPct val="0"/>
              </a:spcBef>
              <a:spcAft>
                <a:spcPct val="0"/>
              </a:spcAft>
              <a:defRPr>
                <a:latin typeface="Arial" pitchFamily="2" charset="77"/>
              </a:defRPr>
            </a:lvl5pPr>
            <a:lvl6pPr marL="1142929" defTabSz="457172">
              <a:defRPr>
                <a:latin typeface="Arial" pitchFamily="2" charset="77"/>
              </a:defRPr>
            </a:lvl6pPr>
            <a:lvl7pPr marL="1371515" defTabSz="457172">
              <a:defRPr>
                <a:latin typeface="Arial" pitchFamily="2" charset="77"/>
              </a:defRPr>
            </a:lvl7pPr>
            <a:lvl8pPr marL="1600100" defTabSz="457172">
              <a:defRPr>
                <a:latin typeface="Arial" pitchFamily="2" charset="77"/>
              </a:defRPr>
            </a:lvl8pPr>
            <a:lvl9pPr marL="1828686" defTabSz="457172">
              <a:defRPr>
                <a:latin typeface="Arial" pitchFamily="2" charset="77"/>
              </a:defRPr>
            </a:lvl9pPr>
          </a:lstStyle>
          <a:p>
            <a:r>
              <a:rPr lang="en-US" noProof="0"/>
              <a:t>Three systemic issues cut across both branches — no local fix resolves them; only the TOM can</a:t>
            </a:r>
          </a:p>
        </p:txBody>
      </p:sp>
      <p:sp>
        <p:nvSpPr>
          <p:cNvPr id="2" name="Rectángulo 1">
            <a:extLst>
              <a:ext uri="{FF2B5EF4-FFF2-40B4-BE49-F238E27FC236}">
                <a16:creationId xmlns:a16="http://schemas.microsoft.com/office/drawing/2014/main" id="{89FE50B0-2BEB-97BA-B601-F163C6D8725A}"/>
              </a:ext>
            </a:extLst>
          </p:cNvPr>
          <p:cNvSpPr/>
          <p:nvPr/>
        </p:nvSpPr>
        <p:spPr>
          <a:xfrm>
            <a:off x="3287210" y="1932972"/>
            <a:ext cx="7477246" cy="342610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a:t>Creo </a:t>
            </a:r>
            <a:r>
              <a:rPr lang="en-US" noProof="0" err="1"/>
              <a:t>que</a:t>
            </a:r>
            <a:r>
              <a:rPr lang="en-US" noProof="0"/>
              <a:t> </a:t>
            </a:r>
            <a:r>
              <a:rPr lang="en-US" noProof="0" err="1"/>
              <a:t>esta</a:t>
            </a:r>
            <a:r>
              <a:rPr lang="en-US" noProof="0"/>
              <a:t> </a:t>
            </a:r>
            <a:r>
              <a:rPr lang="en-US" noProof="0" err="1"/>
              <a:t>ya</a:t>
            </a:r>
            <a:r>
              <a:rPr lang="en-US" noProof="0"/>
              <a:t> </a:t>
            </a:r>
            <a:r>
              <a:rPr lang="en-US" noProof="0" err="1"/>
              <a:t>está</a:t>
            </a:r>
            <a:r>
              <a:rPr lang="en-US" noProof="0"/>
              <a:t> </a:t>
            </a:r>
            <a:r>
              <a:rPr lang="en-US" noProof="0" err="1"/>
              <a:t>más</a:t>
            </a:r>
            <a:r>
              <a:rPr lang="en-US" noProof="0"/>
              <a:t> </a:t>
            </a:r>
            <a:r>
              <a:rPr lang="en-US" noProof="0" err="1"/>
              <a:t>que</a:t>
            </a:r>
            <a:r>
              <a:rPr lang="en-US" noProof="0"/>
              <a:t> </a:t>
            </a:r>
            <a:r>
              <a:rPr lang="en-US" noProof="0" err="1"/>
              <a:t>cubierto</a:t>
            </a:r>
            <a:r>
              <a:rPr lang="en-US" noProof="0"/>
              <a:t> </a:t>
            </a:r>
            <a:r>
              <a:rPr lang="en-US" noProof="0" err="1"/>
              <a:t>en</a:t>
            </a:r>
            <a:r>
              <a:rPr lang="en-US" noProof="0"/>
              <a:t> la slide anterior</a:t>
            </a:r>
          </a:p>
        </p:txBody>
      </p:sp>
      <p:grpSp>
        <p:nvGrpSpPr>
          <p:cNvPr id="52" name="Grupo 51">
            <a:extLst>
              <a:ext uri="{FF2B5EF4-FFF2-40B4-BE49-F238E27FC236}">
                <a16:creationId xmlns:a16="http://schemas.microsoft.com/office/drawing/2014/main" id="{3AA02DCE-18A1-F44C-9A86-4FFFA2C55726}"/>
              </a:ext>
            </a:extLst>
          </p:cNvPr>
          <p:cNvGrpSpPr/>
          <p:nvPr/>
        </p:nvGrpSpPr>
        <p:grpSpPr>
          <a:xfrm>
            <a:off x="9572972" y="55397"/>
            <a:ext cx="685453" cy="644399"/>
            <a:chOff x="9220547" y="55397"/>
            <a:chExt cx="865256" cy="847725"/>
          </a:xfrm>
        </p:grpSpPr>
        <p:sp>
          <p:nvSpPr>
            <p:cNvPr id="3" name="Elipse 2">
              <a:extLst>
                <a:ext uri="{FF2B5EF4-FFF2-40B4-BE49-F238E27FC236}">
                  <a16:creationId xmlns:a16="http://schemas.microsoft.com/office/drawing/2014/main" id="{3CCD314C-64E7-0C25-B551-CFCE9A58DA16}"/>
                </a:ext>
              </a:extLst>
            </p:cNvPr>
            <p:cNvSpPr/>
            <p:nvPr/>
          </p:nvSpPr>
          <p:spPr>
            <a:xfrm>
              <a:off x="9220547" y="55397"/>
              <a:ext cx="865256" cy="847725"/>
            </a:xfrm>
            <a:prstGeom prst="ellipse">
              <a:avLst/>
            </a:prstGeom>
            <a:solidFill>
              <a:schemeClr val="bg1"/>
            </a:solidFill>
            <a:ln>
              <a:noFill/>
            </a:ln>
            <a:effectLst>
              <a:innerShdw blurRad="63500" dist="50800" dir="54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grpSp>
          <p:nvGrpSpPr>
            <p:cNvPr id="36" name="Grupo 35">
              <a:extLst>
                <a:ext uri="{FF2B5EF4-FFF2-40B4-BE49-F238E27FC236}">
                  <a16:creationId xmlns:a16="http://schemas.microsoft.com/office/drawing/2014/main" id="{FC9785E9-10AE-AB80-E699-A15881C116F9}"/>
                </a:ext>
              </a:extLst>
            </p:cNvPr>
            <p:cNvGrpSpPr/>
            <p:nvPr/>
          </p:nvGrpSpPr>
          <p:grpSpPr>
            <a:xfrm>
              <a:off x="9315797" y="196945"/>
              <a:ext cx="663341" cy="586648"/>
              <a:chOff x="3534122" y="4637348"/>
              <a:chExt cx="663341" cy="586648"/>
            </a:xfrm>
            <a:effectLst>
              <a:outerShdw blurRad="50800" dist="38100" dir="5400000" algn="t" rotWithShape="0">
                <a:prstClr val="black">
                  <a:alpha val="40000"/>
                </a:prstClr>
              </a:outerShdw>
            </a:effectLst>
          </p:grpSpPr>
          <p:sp>
            <p:nvSpPr>
              <p:cNvPr id="37" name="Arc 125">
                <a:extLst>
                  <a:ext uri="{FF2B5EF4-FFF2-40B4-BE49-F238E27FC236}">
                    <a16:creationId xmlns:a16="http://schemas.microsoft.com/office/drawing/2014/main" id="{1B8D7B06-A1EA-F418-20E8-A4B96A092185}"/>
                  </a:ext>
                </a:extLst>
              </p:cNvPr>
              <p:cNvSpPr>
                <a:spLocks noChangeAspect="1"/>
              </p:cNvSpPr>
              <p:nvPr/>
            </p:nvSpPr>
            <p:spPr>
              <a:xfrm>
                <a:off x="3568381" y="4637348"/>
                <a:ext cx="590563" cy="586648"/>
              </a:xfrm>
              <a:prstGeom prst="arc">
                <a:avLst>
                  <a:gd name="adj1" fmla="val 6938162"/>
                  <a:gd name="adj2" fmla="val 3832306"/>
                </a:avLst>
              </a:prstGeom>
              <a:ln w="19050">
                <a:solidFill>
                  <a:srgbClr val="BFBFB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a:p>
            </p:txBody>
          </p:sp>
          <p:sp>
            <p:nvSpPr>
              <p:cNvPr id="38" name="Oval 166">
                <a:extLst>
                  <a:ext uri="{FF2B5EF4-FFF2-40B4-BE49-F238E27FC236}">
                    <a16:creationId xmlns:a16="http://schemas.microsoft.com/office/drawing/2014/main" id="{A2616039-BFF9-FA5B-2762-31A04C161C01}"/>
                  </a:ext>
                </a:extLst>
              </p:cNvPr>
              <p:cNvSpPr>
                <a:spLocks noChangeAspect="1"/>
              </p:cNvSpPr>
              <p:nvPr/>
            </p:nvSpPr>
            <p:spPr>
              <a:xfrm>
                <a:off x="3590773" y="4660735"/>
                <a:ext cx="106218" cy="105514"/>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a:p>
            </p:txBody>
          </p:sp>
          <p:pic>
            <p:nvPicPr>
              <p:cNvPr id="39" name="Picture 2">
                <a:extLst>
                  <a:ext uri="{FF2B5EF4-FFF2-40B4-BE49-F238E27FC236}">
                    <a16:creationId xmlns:a16="http://schemas.microsoft.com/office/drawing/2014/main" id="{0DD2384C-7E5A-1C20-9656-4B2DC852F57D}"/>
                  </a:ext>
                </a:extLst>
              </p:cNvPr>
              <p:cNvPicPr>
                <a:picLocks noChangeAspect="1" noChangeArrowheads="1"/>
              </p:cNvPicPr>
              <p:nvPr/>
            </p:nvPicPr>
            <p:blipFill rotWithShape="1">
              <a:blip r:embed="rId3">
                <a:duotone>
                  <a:schemeClr val="bg2">
                    <a:shade val="45000"/>
                    <a:satMod val="135000"/>
                  </a:schemeClr>
                  <a:prstClr val="white"/>
                </a:duotone>
                <a:extLst>
                  <a:ext uri="{28A0092B-C50C-407E-A947-70E740481C1C}">
                    <a14:useLocalDpi xmlns:a14="http://schemas.microsoft.com/office/drawing/2010/main" val="0"/>
                  </a:ext>
                </a:extLst>
              </a:blip>
              <a:srcRect l="18987" t="20192" r="20811" b="37131"/>
              <a:stretch>
                <a:fillRect/>
              </a:stretch>
            </p:blipFill>
            <p:spPr bwMode="auto">
              <a:xfrm>
                <a:off x="3590453" y="4671350"/>
                <a:ext cx="106218" cy="74800"/>
              </a:xfrm>
              <a:prstGeom prst="rect">
                <a:avLst/>
              </a:prstGeom>
              <a:noFill/>
              <a:extLst>
                <a:ext uri="{909E8E84-426E-40DD-AFC4-6F175D3DCCD1}">
                  <a14:hiddenFill xmlns:a14="http://schemas.microsoft.com/office/drawing/2010/main">
                    <a:solidFill>
                      <a:srgbClr val="FFFFFF"/>
                    </a:solidFill>
                  </a14:hiddenFill>
                </a:ext>
              </a:extLst>
            </p:spPr>
          </p:pic>
          <p:sp>
            <p:nvSpPr>
              <p:cNvPr id="40" name="Oval 166">
                <a:extLst>
                  <a:ext uri="{FF2B5EF4-FFF2-40B4-BE49-F238E27FC236}">
                    <a16:creationId xmlns:a16="http://schemas.microsoft.com/office/drawing/2014/main" id="{00E20016-4F33-6240-F205-1602B809A84E}"/>
                  </a:ext>
                </a:extLst>
              </p:cNvPr>
              <p:cNvSpPr>
                <a:spLocks noChangeAspect="1"/>
              </p:cNvSpPr>
              <p:nvPr/>
            </p:nvSpPr>
            <p:spPr>
              <a:xfrm>
                <a:off x="3591093" y="4660966"/>
                <a:ext cx="106218" cy="105514"/>
              </a:xfrm>
              <a:prstGeom prst="ellipse">
                <a:avLst/>
              </a:prstGeom>
              <a:noFill/>
              <a:ln w="19050">
                <a:solidFill>
                  <a:srgbClr val="BFBFB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a:p>
            </p:txBody>
          </p:sp>
          <p:sp>
            <p:nvSpPr>
              <p:cNvPr id="41" name="Oval 166">
                <a:extLst>
                  <a:ext uri="{FF2B5EF4-FFF2-40B4-BE49-F238E27FC236}">
                    <a16:creationId xmlns:a16="http://schemas.microsoft.com/office/drawing/2014/main" id="{3EB68EE9-51A9-127A-D116-3A94959DE9FC}"/>
                  </a:ext>
                </a:extLst>
              </p:cNvPr>
              <p:cNvSpPr>
                <a:spLocks noChangeAspect="1"/>
              </p:cNvSpPr>
              <p:nvPr/>
            </p:nvSpPr>
            <p:spPr>
              <a:xfrm>
                <a:off x="4024325" y="4671349"/>
                <a:ext cx="106218" cy="105514"/>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a:p>
            </p:txBody>
          </p:sp>
          <p:pic>
            <p:nvPicPr>
              <p:cNvPr id="42" name="Picture 2">
                <a:extLst>
                  <a:ext uri="{FF2B5EF4-FFF2-40B4-BE49-F238E27FC236}">
                    <a16:creationId xmlns:a16="http://schemas.microsoft.com/office/drawing/2014/main" id="{515E3DC5-2232-270C-E918-45DF95D07A1C}"/>
                  </a:ext>
                </a:extLst>
              </p:cNvPr>
              <p:cNvPicPr>
                <a:picLocks noChangeAspect="1" noChangeArrowheads="1"/>
              </p:cNvPicPr>
              <p:nvPr/>
            </p:nvPicPr>
            <p:blipFill rotWithShape="1">
              <a:blip r:embed="rId4">
                <a:grayscl/>
                <a:extLst>
                  <a:ext uri="{28A0092B-C50C-407E-A947-70E740481C1C}">
                    <a14:useLocalDpi xmlns:a14="http://schemas.microsoft.com/office/drawing/2010/main" val="0"/>
                  </a:ext>
                </a:extLst>
              </a:blip>
              <a:srcRect l="15524" t="26589" r="16378" b="40963"/>
              <a:stretch>
                <a:fillRect/>
              </a:stretch>
            </p:blipFill>
            <p:spPr bwMode="auto">
              <a:xfrm>
                <a:off x="4024325" y="4694375"/>
                <a:ext cx="109380" cy="51774"/>
              </a:xfrm>
              <a:prstGeom prst="rect">
                <a:avLst/>
              </a:prstGeom>
              <a:noFill/>
              <a:extLst>
                <a:ext uri="{909E8E84-426E-40DD-AFC4-6F175D3DCCD1}">
                  <a14:hiddenFill xmlns:a14="http://schemas.microsoft.com/office/drawing/2010/main">
                    <a:solidFill>
                      <a:srgbClr val="FFFFFF"/>
                    </a:solidFill>
                  </a14:hiddenFill>
                </a:ext>
              </a:extLst>
            </p:spPr>
          </p:pic>
          <p:sp>
            <p:nvSpPr>
              <p:cNvPr id="43" name="Oval 166">
                <a:extLst>
                  <a:ext uri="{FF2B5EF4-FFF2-40B4-BE49-F238E27FC236}">
                    <a16:creationId xmlns:a16="http://schemas.microsoft.com/office/drawing/2014/main" id="{4A1F98DF-24BB-1116-FECB-01CEB974DB0F}"/>
                  </a:ext>
                </a:extLst>
              </p:cNvPr>
              <p:cNvSpPr>
                <a:spLocks noChangeAspect="1"/>
              </p:cNvSpPr>
              <p:nvPr/>
            </p:nvSpPr>
            <p:spPr>
              <a:xfrm>
                <a:off x="4024645" y="4671580"/>
                <a:ext cx="106218" cy="105514"/>
              </a:xfrm>
              <a:prstGeom prst="ellipse">
                <a:avLst/>
              </a:prstGeom>
              <a:noFill/>
              <a:ln w="19050">
                <a:solidFill>
                  <a:srgbClr val="BFBFB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a:p>
            </p:txBody>
          </p:sp>
          <p:sp>
            <p:nvSpPr>
              <p:cNvPr id="44" name="Oval 166">
                <a:extLst>
                  <a:ext uri="{FF2B5EF4-FFF2-40B4-BE49-F238E27FC236}">
                    <a16:creationId xmlns:a16="http://schemas.microsoft.com/office/drawing/2014/main" id="{A76F157F-712A-CFC4-1A05-386DD618F71D}"/>
                  </a:ext>
                </a:extLst>
              </p:cNvPr>
              <p:cNvSpPr>
                <a:spLocks noChangeAspect="1"/>
              </p:cNvSpPr>
              <p:nvPr/>
            </p:nvSpPr>
            <p:spPr>
              <a:xfrm>
                <a:off x="4090925" y="4960484"/>
                <a:ext cx="106218" cy="105514"/>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a:p>
            </p:txBody>
          </p:sp>
          <p:pic>
            <p:nvPicPr>
              <p:cNvPr id="45" name="Picture 2">
                <a:extLst>
                  <a:ext uri="{FF2B5EF4-FFF2-40B4-BE49-F238E27FC236}">
                    <a16:creationId xmlns:a16="http://schemas.microsoft.com/office/drawing/2014/main" id="{1CD5CE82-B744-2B72-B0EC-18F2948B2D7B}"/>
                  </a:ext>
                </a:extLst>
              </p:cNvPr>
              <p:cNvPicPr>
                <a:picLocks noChangeAspect="1" noChangeArrowheads="1"/>
              </p:cNvPicPr>
              <p:nvPr/>
            </p:nvPicPr>
            <p:blipFill rotWithShape="1">
              <a:blip r:embed="rId5">
                <a:grayscl/>
                <a:extLst>
                  <a:ext uri="{28A0092B-C50C-407E-A947-70E740481C1C}">
                    <a14:useLocalDpi xmlns:a14="http://schemas.microsoft.com/office/drawing/2010/main" val="0"/>
                  </a:ext>
                </a:extLst>
              </a:blip>
              <a:srcRect l="26241" t="25004" r="18951" b="28872"/>
              <a:stretch>
                <a:fillRect/>
              </a:stretch>
            </p:blipFill>
            <p:spPr bwMode="auto">
              <a:xfrm>
                <a:off x="4100103" y="4974297"/>
                <a:ext cx="92780" cy="77561"/>
              </a:xfrm>
              <a:prstGeom prst="rect">
                <a:avLst/>
              </a:prstGeom>
              <a:noFill/>
              <a:extLst>
                <a:ext uri="{909E8E84-426E-40DD-AFC4-6F175D3DCCD1}">
                  <a14:hiddenFill xmlns:a14="http://schemas.microsoft.com/office/drawing/2010/main">
                    <a:solidFill>
                      <a:srgbClr val="FFFFFF"/>
                    </a:solidFill>
                  </a14:hiddenFill>
                </a:ext>
              </a:extLst>
            </p:spPr>
          </p:pic>
          <p:sp>
            <p:nvSpPr>
              <p:cNvPr id="46" name="Oval 166">
                <a:extLst>
                  <a:ext uri="{FF2B5EF4-FFF2-40B4-BE49-F238E27FC236}">
                    <a16:creationId xmlns:a16="http://schemas.microsoft.com/office/drawing/2014/main" id="{B65A821A-2894-4D73-BB87-2810BC785317}"/>
                  </a:ext>
                </a:extLst>
              </p:cNvPr>
              <p:cNvSpPr>
                <a:spLocks noChangeAspect="1"/>
              </p:cNvSpPr>
              <p:nvPr/>
            </p:nvSpPr>
            <p:spPr>
              <a:xfrm>
                <a:off x="4091245" y="4960715"/>
                <a:ext cx="106218" cy="105514"/>
              </a:xfrm>
              <a:prstGeom prst="ellipse">
                <a:avLst/>
              </a:prstGeom>
              <a:noFill/>
              <a:ln w="19050">
                <a:solidFill>
                  <a:srgbClr val="BFBFB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a:p>
            </p:txBody>
          </p:sp>
          <p:sp>
            <p:nvSpPr>
              <p:cNvPr id="47" name="Oval 166">
                <a:extLst>
                  <a:ext uri="{FF2B5EF4-FFF2-40B4-BE49-F238E27FC236}">
                    <a16:creationId xmlns:a16="http://schemas.microsoft.com/office/drawing/2014/main" id="{E266035C-87DF-5E2A-419D-DCF33D091620}"/>
                  </a:ext>
                </a:extLst>
              </p:cNvPr>
              <p:cNvSpPr>
                <a:spLocks noChangeAspect="1"/>
              </p:cNvSpPr>
              <p:nvPr/>
            </p:nvSpPr>
            <p:spPr>
              <a:xfrm>
                <a:off x="3534122" y="4965614"/>
                <a:ext cx="106218" cy="105514"/>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a:p>
            </p:txBody>
          </p:sp>
          <p:pic>
            <p:nvPicPr>
              <p:cNvPr id="48" name="Picture 2" descr="Current Operating Constraints">
                <a:extLst>
                  <a:ext uri="{FF2B5EF4-FFF2-40B4-BE49-F238E27FC236}">
                    <a16:creationId xmlns:a16="http://schemas.microsoft.com/office/drawing/2014/main" id="{4F8C5688-941F-B4D3-96AB-A1C9C2B095BC}"/>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23951" t="22965" r="19520" b="31934"/>
              <a:stretch>
                <a:fillRect/>
              </a:stretch>
            </p:blipFill>
            <p:spPr bwMode="auto">
              <a:xfrm>
                <a:off x="3544701" y="4982827"/>
                <a:ext cx="87099" cy="69031"/>
              </a:xfrm>
              <a:prstGeom prst="rect">
                <a:avLst/>
              </a:prstGeom>
              <a:noFill/>
              <a:extLst>
                <a:ext uri="{909E8E84-426E-40DD-AFC4-6F175D3DCCD1}">
                  <a14:hiddenFill xmlns:a14="http://schemas.microsoft.com/office/drawing/2010/main">
                    <a:solidFill>
                      <a:srgbClr val="FFFFFF"/>
                    </a:solidFill>
                  </a14:hiddenFill>
                </a:ext>
              </a:extLst>
            </p:spPr>
          </p:pic>
          <p:sp>
            <p:nvSpPr>
              <p:cNvPr id="50" name="Oval 166">
                <a:extLst>
                  <a:ext uri="{FF2B5EF4-FFF2-40B4-BE49-F238E27FC236}">
                    <a16:creationId xmlns:a16="http://schemas.microsoft.com/office/drawing/2014/main" id="{557C1FBD-4274-151F-B127-F0CAC44382B4}"/>
                  </a:ext>
                </a:extLst>
              </p:cNvPr>
              <p:cNvSpPr>
                <a:spLocks noChangeAspect="1"/>
              </p:cNvSpPr>
              <p:nvPr/>
            </p:nvSpPr>
            <p:spPr>
              <a:xfrm>
                <a:off x="3534442" y="4965845"/>
                <a:ext cx="106218" cy="105514"/>
              </a:xfrm>
              <a:prstGeom prst="ellipse">
                <a:avLst/>
              </a:prstGeom>
              <a:noFill/>
              <a:ln w="19050">
                <a:solidFill>
                  <a:srgbClr val="2C578B"/>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a:p>
            </p:txBody>
          </p:sp>
        </p:grpSp>
      </p:grpSp>
    </p:spTree>
    <p:extLst>
      <p:ext uri="{BB962C8B-B14F-4D97-AF65-F5344CB8AC3E}">
        <p14:creationId xmlns:p14="http://schemas.microsoft.com/office/powerpoint/2010/main" val="1070604346"/>
      </p:ext>
    </p:extLst>
  </p:cSld>
  <p:clrMapOvr>
    <a:masterClrMapping/>
  </p:clrMapOvr>
  <p:extLst>
    <p:ext uri="{6950BFC3-D8DA-4A85-94F7-54DA5524770B}">
      <p188:commentRel xmlns:p188="http://schemas.microsoft.com/office/powerpoint/2018/8/main" r:id="rId2"/>
    </p:ext>
  </p:extLst>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94553F9-8492-2109-3D92-331D7BB2881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DBC1FCA-74BA-4B50-8BB3-3311F0EA243C}"/>
              </a:ext>
            </a:extLst>
          </p:cNvPr>
          <p:cNvSpPr txBox="1"/>
          <p:nvPr/>
        </p:nvSpPr>
        <p:spPr>
          <a:xfrm>
            <a:off x="246506" y="863377"/>
            <a:ext cx="11274552" cy="215444"/>
          </a:xfrm>
          <a:prstGeom prst="rect">
            <a:avLst/>
          </a:prstGeom>
          <a:noFill/>
        </p:spPr>
        <p:txBody>
          <a:bodyPr wrap="square" lIns="0" tIns="0" rIns="0" bIns="0" rtlCol="0">
            <a:noAutofit/>
          </a:bodyPr>
          <a:lstStyle>
            <a:defPPr>
              <a:defRPr lang="en-US"/>
            </a:defPPr>
            <a:lvl1pPr marR="0" lvl="0" indent="0" algn="just" fontAlgn="auto">
              <a:lnSpc>
                <a:spcPct val="100000"/>
              </a:lnSpc>
              <a:spcBef>
                <a:spcPts val="0"/>
              </a:spcBef>
              <a:spcAft>
                <a:spcPts val="0"/>
              </a:spcAft>
              <a:buClrTx/>
              <a:buSzTx/>
              <a:buFontTx/>
              <a:buNone/>
              <a:tabLst/>
              <a:defRPr kumimoji="0" sz="1400" b="1" i="0" u="none" strike="noStrike" cap="none" spc="0" normalizeH="0" baseline="0">
                <a:ln>
                  <a:noFill/>
                </a:ln>
                <a:solidFill>
                  <a:srgbClr val="0F9ED5">
                    <a:lumMod val="75000"/>
                  </a:srgbClr>
                </a:solidFill>
                <a:effectLst/>
                <a:uLnTx/>
                <a:uFillTx/>
                <a:latin typeface="Arial" panose="020B0604020202020204" pitchFamily="34" charset="0"/>
                <a:cs typeface="Arial" panose="020B0604020202020204" pitchFamily="34" charset="0"/>
              </a:defRPr>
            </a:lvl1pPr>
            <a:lvl2pPr marL="228586" eaLnBrk="0" fontAlgn="base" hangingPunct="0">
              <a:spcBef>
                <a:spcPct val="0"/>
              </a:spcBef>
              <a:spcAft>
                <a:spcPct val="0"/>
              </a:spcAft>
              <a:defRPr>
                <a:latin typeface="Arial" pitchFamily="2" charset="77"/>
              </a:defRPr>
            </a:lvl2pPr>
            <a:lvl3pPr marL="457172" eaLnBrk="0" fontAlgn="base" hangingPunct="0">
              <a:spcBef>
                <a:spcPct val="0"/>
              </a:spcBef>
              <a:spcAft>
                <a:spcPct val="0"/>
              </a:spcAft>
              <a:defRPr>
                <a:latin typeface="Arial" pitchFamily="2" charset="77"/>
              </a:defRPr>
            </a:lvl3pPr>
            <a:lvl4pPr marL="685757" eaLnBrk="0" fontAlgn="base" hangingPunct="0">
              <a:spcBef>
                <a:spcPct val="0"/>
              </a:spcBef>
              <a:spcAft>
                <a:spcPct val="0"/>
              </a:spcAft>
              <a:defRPr>
                <a:latin typeface="Arial" pitchFamily="2" charset="77"/>
              </a:defRPr>
            </a:lvl4pPr>
            <a:lvl5pPr marL="914343" eaLnBrk="0" fontAlgn="base" hangingPunct="0">
              <a:spcBef>
                <a:spcPct val="0"/>
              </a:spcBef>
              <a:spcAft>
                <a:spcPct val="0"/>
              </a:spcAft>
              <a:defRPr>
                <a:latin typeface="Arial" pitchFamily="2" charset="77"/>
              </a:defRPr>
            </a:lvl5pPr>
            <a:lvl6pPr marL="1142929" defTabSz="457172">
              <a:defRPr>
                <a:latin typeface="Arial" pitchFamily="2" charset="77"/>
              </a:defRPr>
            </a:lvl6pPr>
            <a:lvl7pPr marL="1371515" defTabSz="457172">
              <a:defRPr>
                <a:latin typeface="Arial" pitchFamily="2" charset="77"/>
              </a:defRPr>
            </a:lvl7pPr>
            <a:lvl8pPr marL="1600100" defTabSz="457172">
              <a:defRPr>
                <a:latin typeface="Arial" pitchFamily="2" charset="77"/>
              </a:defRPr>
            </a:lvl8pPr>
            <a:lvl9pPr marL="1828686" defTabSz="457172">
              <a:defRPr>
                <a:latin typeface="Arial" pitchFamily="2" charset="77"/>
              </a:defRPr>
            </a:lvl9pPr>
          </a:lstStyle>
          <a:p>
            <a:r>
              <a:rPr lang="en-US" noProof="0"/>
              <a:t>Four Applications bottlenecks concentrate demand risk — covering intake, prioritization, portfolio and classification</a:t>
            </a:r>
          </a:p>
        </p:txBody>
      </p:sp>
      <p:sp>
        <p:nvSpPr>
          <p:cNvPr id="3" name="Rectangle 2">
            <a:extLst>
              <a:ext uri="{FF2B5EF4-FFF2-40B4-BE49-F238E27FC236}">
                <a16:creationId xmlns:a16="http://schemas.microsoft.com/office/drawing/2014/main" id="{FED2695A-ADFA-ECA7-81B5-C6FE2EC431EA}"/>
              </a:ext>
            </a:extLst>
          </p:cNvPr>
          <p:cNvSpPr/>
          <p:nvPr/>
        </p:nvSpPr>
        <p:spPr>
          <a:xfrm>
            <a:off x="246507" y="1069296"/>
            <a:ext cx="11274552" cy="1371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8C18A70F-4509-669E-BE07-2CA64FD81255}"/>
              </a:ext>
            </a:extLst>
          </p:cNvPr>
          <p:cNvSpPr/>
          <p:nvPr/>
        </p:nvSpPr>
        <p:spPr>
          <a:xfrm>
            <a:off x="246507" y="1133304"/>
            <a:ext cx="11585446"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D09C2454-7CF8-F9E5-F845-224570DACAB2}"/>
              </a:ext>
            </a:extLst>
          </p:cNvPr>
          <p:cNvSpPr txBox="1"/>
          <p:nvPr/>
        </p:nvSpPr>
        <p:spPr>
          <a:xfrm>
            <a:off x="246507" y="1184575"/>
            <a:ext cx="11274552" cy="171778"/>
          </a:xfrm>
          <a:prstGeom prst="rect">
            <a:avLst/>
          </a:prstGeom>
          <a:noFill/>
        </p:spPr>
        <p:txBody>
          <a:bodyPr wrap="square" lIns="0" tIns="0" rIns="0" bIns="0" anchor="ctr">
            <a:spAutoFit/>
          </a:bodyPr>
          <a:lstStyle/>
          <a:p>
            <a:pPr algn="ctr">
              <a:lnSpc>
                <a:spcPct val="110000"/>
              </a:lnSpc>
              <a:spcBef>
                <a:spcPts val="0"/>
              </a:spcBef>
              <a:spcAft>
                <a:spcPts val="0"/>
              </a:spcAft>
            </a:pPr>
            <a:r>
              <a:rPr lang="en-US" sz="1100" b="1" i="0" noProof="0">
                <a:solidFill>
                  <a:srgbClr val="FFFFFF"/>
                </a:solidFill>
                <a:latin typeface="Arial" panose="020B0604020202020204" pitchFamily="34" charset="0"/>
                <a:cs typeface="Arial" panose="020B0604020202020204" pitchFamily="34" charset="0"/>
              </a:rPr>
              <a:t>APPLICATIONS BRANCH  —  Carlos Garbin</a:t>
            </a:r>
          </a:p>
        </p:txBody>
      </p:sp>
      <p:sp>
        <p:nvSpPr>
          <p:cNvPr id="6" name="Rectangle 5">
            <a:extLst>
              <a:ext uri="{FF2B5EF4-FFF2-40B4-BE49-F238E27FC236}">
                <a16:creationId xmlns:a16="http://schemas.microsoft.com/office/drawing/2014/main" id="{216A8764-196A-E94F-535B-09BFE589C1B4}"/>
              </a:ext>
            </a:extLst>
          </p:cNvPr>
          <p:cNvSpPr/>
          <p:nvPr/>
        </p:nvSpPr>
        <p:spPr>
          <a:xfrm>
            <a:off x="246507" y="1480776"/>
            <a:ext cx="5733288" cy="21488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7" name="Rectangle 6">
            <a:extLst>
              <a:ext uri="{FF2B5EF4-FFF2-40B4-BE49-F238E27FC236}">
                <a16:creationId xmlns:a16="http://schemas.microsoft.com/office/drawing/2014/main" id="{DA2CBB82-4DE5-C707-758B-B88976AE9C21}"/>
              </a:ext>
            </a:extLst>
          </p:cNvPr>
          <p:cNvSpPr/>
          <p:nvPr/>
        </p:nvSpPr>
        <p:spPr>
          <a:xfrm>
            <a:off x="246507" y="1480776"/>
            <a:ext cx="5733288" cy="54864"/>
          </a:xfrm>
          <a:prstGeom prst="rect">
            <a:avLst/>
          </a:prstGeom>
          <a:solidFill>
            <a:srgbClr val="3B7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747D85A8-4D86-525A-B66C-89EFAF5A8DF0}"/>
              </a:ext>
            </a:extLst>
          </p:cNvPr>
          <p:cNvSpPr txBox="1"/>
          <p:nvPr/>
        </p:nvSpPr>
        <p:spPr>
          <a:xfrm>
            <a:off x="502539" y="1666703"/>
            <a:ext cx="914400" cy="374718"/>
          </a:xfrm>
          <a:prstGeom prst="rect">
            <a:avLst/>
          </a:prstGeom>
          <a:noFill/>
        </p:spPr>
        <p:txBody>
          <a:bodyPr wrap="square" lIns="0" tIns="0" rIns="0" bIns="0" anchor="t">
            <a:spAutoFit/>
          </a:bodyPr>
          <a:lstStyle/>
          <a:p>
            <a:pPr algn="l">
              <a:lnSpc>
                <a:spcPct val="110000"/>
              </a:lnSpc>
              <a:spcBef>
                <a:spcPts val="0"/>
              </a:spcBef>
              <a:spcAft>
                <a:spcPts val="0"/>
              </a:spcAft>
            </a:pPr>
            <a:r>
              <a:rPr lang="en-US" sz="2400" b="1" i="0" noProof="0">
                <a:solidFill>
                  <a:srgbClr val="3B7D23"/>
                </a:solidFill>
                <a:latin typeface="Arial" panose="020B0604020202020204" pitchFamily="34" charset="0"/>
                <a:cs typeface="Arial" panose="020B0604020202020204" pitchFamily="34" charset="0"/>
              </a:rPr>
              <a:t>01</a:t>
            </a:r>
          </a:p>
        </p:txBody>
      </p:sp>
      <p:sp>
        <p:nvSpPr>
          <p:cNvPr id="9" name="TextBox 8">
            <a:extLst>
              <a:ext uri="{FF2B5EF4-FFF2-40B4-BE49-F238E27FC236}">
                <a16:creationId xmlns:a16="http://schemas.microsoft.com/office/drawing/2014/main" id="{85C6066D-0093-870B-FEC5-C972733F2C78}"/>
              </a:ext>
            </a:extLst>
          </p:cNvPr>
          <p:cNvSpPr txBox="1"/>
          <p:nvPr/>
        </p:nvSpPr>
        <p:spPr>
          <a:xfrm>
            <a:off x="1535880" y="1645368"/>
            <a:ext cx="1869170" cy="124906"/>
          </a:xfrm>
          <a:prstGeom prst="rect">
            <a:avLst/>
          </a:prstGeom>
          <a:noFill/>
        </p:spPr>
        <p:txBody>
          <a:bodyPr wrap="square" lIns="0" tIns="0" rIns="0" bIns="0" anchor="t">
            <a:spAutoFit/>
          </a:bodyPr>
          <a:lstStyle/>
          <a:p>
            <a:pPr algn="l">
              <a:lnSpc>
                <a:spcPct val="110000"/>
              </a:lnSpc>
              <a:spcBef>
                <a:spcPts val="0"/>
              </a:spcBef>
              <a:spcAft>
                <a:spcPts val="0"/>
              </a:spcAft>
            </a:pPr>
            <a:r>
              <a:rPr lang="en-US" sz="800" b="1" i="0" noProof="0">
                <a:solidFill>
                  <a:srgbClr val="95A5A6"/>
                </a:solidFill>
                <a:latin typeface="Arial" panose="020B0604020202020204" pitchFamily="34" charset="0"/>
                <a:cs typeface="Arial" panose="020B0604020202020204" pitchFamily="34" charset="0"/>
              </a:rPr>
              <a:t>STAGE: Intake</a:t>
            </a:r>
          </a:p>
        </p:txBody>
      </p:sp>
      <p:sp>
        <p:nvSpPr>
          <p:cNvPr id="10" name="TextBox 9">
            <a:extLst>
              <a:ext uri="{FF2B5EF4-FFF2-40B4-BE49-F238E27FC236}">
                <a16:creationId xmlns:a16="http://schemas.microsoft.com/office/drawing/2014/main" id="{1408D0B7-08C4-C8C7-A097-63B6D3F90708}"/>
              </a:ext>
            </a:extLst>
          </p:cNvPr>
          <p:cNvSpPr txBox="1"/>
          <p:nvPr/>
        </p:nvSpPr>
        <p:spPr>
          <a:xfrm>
            <a:off x="1389507" y="1855680"/>
            <a:ext cx="4407407" cy="203004"/>
          </a:xfrm>
          <a:prstGeom prst="rect">
            <a:avLst/>
          </a:prstGeom>
          <a:noFill/>
        </p:spPr>
        <p:txBody>
          <a:bodyPr wrap="square" lIns="0" tIns="0" rIns="0" bIns="0" anchor="t">
            <a:spAutoFit/>
          </a:bodyPr>
          <a:lstStyle/>
          <a:p>
            <a:pPr algn="l">
              <a:lnSpc>
                <a:spcPct val="110000"/>
              </a:lnSpc>
              <a:spcBef>
                <a:spcPts val="0"/>
              </a:spcBef>
              <a:spcAft>
                <a:spcPts val="0"/>
              </a:spcAft>
            </a:pPr>
            <a:r>
              <a:rPr lang="en-US" sz="1300" b="1" i="0" noProof="0">
                <a:solidFill>
                  <a:srgbClr val="3B7D23"/>
                </a:solidFill>
                <a:latin typeface="Arial" panose="020B0604020202020204" pitchFamily="34" charset="0"/>
                <a:cs typeface="Arial" panose="020B0604020202020204" pitchFamily="34" charset="0"/>
              </a:rPr>
              <a:t>G&amp;E Email-Only Intake</a:t>
            </a:r>
          </a:p>
        </p:txBody>
      </p:sp>
      <p:sp>
        <p:nvSpPr>
          <p:cNvPr id="11" name="TextBox 10">
            <a:extLst>
              <a:ext uri="{FF2B5EF4-FFF2-40B4-BE49-F238E27FC236}">
                <a16:creationId xmlns:a16="http://schemas.microsoft.com/office/drawing/2014/main" id="{08D40921-8BFE-2992-1665-C4F0240A1EA4}"/>
              </a:ext>
            </a:extLst>
          </p:cNvPr>
          <p:cNvSpPr txBox="1"/>
          <p:nvPr/>
        </p:nvSpPr>
        <p:spPr>
          <a:xfrm>
            <a:off x="502539" y="2124559"/>
            <a:ext cx="5230368" cy="494687"/>
          </a:xfrm>
          <a:prstGeom prst="rect">
            <a:avLst/>
          </a:prstGeom>
          <a:noFill/>
        </p:spPr>
        <p:txBody>
          <a:bodyPr wrap="square" lIns="0" tIns="0" rIns="0" bIns="0" anchor="t">
            <a:spAutoFit/>
          </a:bodyPr>
          <a:lstStyle/>
          <a:p>
            <a:pPr algn="l">
              <a:lnSpc>
                <a:spcPct val="110000"/>
              </a:lnSpc>
              <a:spcBef>
                <a:spcPts val="0"/>
              </a:spcBef>
              <a:spcAft>
                <a:spcPts val="0"/>
              </a:spcAft>
            </a:pPr>
            <a:r>
              <a:rPr lang="en-US" sz="1000" b="0" i="0" noProof="0">
                <a:solidFill>
                  <a:srgbClr val="2C3E50"/>
                </a:solidFill>
                <a:latin typeface="Arial" panose="020B0604020202020204" pitchFamily="34" charset="0"/>
                <a:cs typeface="Arial" panose="020B0604020202020204" pitchFamily="34" charset="0"/>
              </a:rPr>
              <a:t>Demand is captured through unstructured email channels, with no formal intake mechanism, tracking, or prioritization logic. Requests are handled individually, with no visibility into volume or backlog.</a:t>
            </a:r>
          </a:p>
        </p:txBody>
      </p:sp>
      <p:sp>
        <p:nvSpPr>
          <p:cNvPr id="12" name="TextBox 11">
            <a:extLst>
              <a:ext uri="{FF2B5EF4-FFF2-40B4-BE49-F238E27FC236}">
                <a16:creationId xmlns:a16="http://schemas.microsoft.com/office/drawing/2014/main" id="{4DDFC48C-D0EB-4979-5BEC-F7A97CE68CED}"/>
              </a:ext>
            </a:extLst>
          </p:cNvPr>
          <p:cNvSpPr txBox="1"/>
          <p:nvPr/>
        </p:nvSpPr>
        <p:spPr>
          <a:xfrm>
            <a:off x="490965" y="2987568"/>
            <a:ext cx="5230368" cy="124906"/>
          </a:xfrm>
          <a:prstGeom prst="rect">
            <a:avLst/>
          </a:prstGeom>
          <a:noFill/>
        </p:spPr>
        <p:txBody>
          <a:bodyPr wrap="square" lIns="0" tIns="0" rIns="0" bIns="0" anchor="t">
            <a:spAutoFit/>
          </a:bodyPr>
          <a:lstStyle/>
          <a:p>
            <a:pPr algn="l">
              <a:lnSpc>
                <a:spcPct val="110000"/>
              </a:lnSpc>
              <a:spcBef>
                <a:spcPts val="0"/>
              </a:spcBef>
              <a:spcAft>
                <a:spcPts val="0"/>
              </a:spcAft>
            </a:pPr>
            <a:r>
              <a:rPr lang="en-US" sz="800" b="1" i="0" noProof="0">
                <a:solidFill>
                  <a:srgbClr val="95A5A6"/>
                </a:solidFill>
                <a:latin typeface="Arial" panose="020B0604020202020204" pitchFamily="34" charset="0"/>
                <a:cs typeface="Arial" panose="020B0604020202020204" pitchFamily="34" charset="0"/>
              </a:rPr>
              <a:t>IMPACT</a:t>
            </a:r>
          </a:p>
        </p:txBody>
      </p:sp>
      <p:sp>
        <p:nvSpPr>
          <p:cNvPr id="13" name="TextBox 12">
            <a:extLst>
              <a:ext uri="{FF2B5EF4-FFF2-40B4-BE49-F238E27FC236}">
                <a16:creationId xmlns:a16="http://schemas.microsoft.com/office/drawing/2014/main" id="{8E027C72-0197-E16C-8748-08BEAFE63092}"/>
              </a:ext>
            </a:extLst>
          </p:cNvPr>
          <p:cNvSpPr txBox="1"/>
          <p:nvPr/>
        </p:nvSpPr>
        <p:spPr>
          <a:xfrm>
            <a:off x="490965" y="3152160"/>
            <a:ext cx="523036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Prevents structured demand management and limits the ability to prioritize and manage work at the product level.</a:t>
            </a:r>
          </a:p>
        </p:txBody>
      </p:sp>
      <p:sp>
        <p:nvSpPr>
          <p:cNvPr id="14" name="TextBox 13">
            <a:extLst>
              <a:ext uri="{FF2B5EF4-FFF2-40B4-BE49-F238E27FC236}">
                <a16:creationId xmlns:a16="http://schemas.microsoft.com/office/drawing/2014/main" id="{D4CA94FB-0E20-6055-2BE0-0AB05108BD25}"/>
              </a:ext>
            </a:extLst>
          </p:cNvPr>
          <p:cNvSpPr txBox="1"/>
          <p:nvPr/>
        </p:nvSpPr>
        <p:spPr>
          <a:xfrm>
            <a:off x="3443891" y="1711691"/>
            <a:ext cx="2218186" cy="124906"/>
          </a:xfrm>
          <a:prstGeom prst="rect">
            <a:avLst/>
          </a:prstGeom>
          <a:noFill/>
        </p:spPr>
        <p:txBody>
          <a:bodyPr wrap="square" lIns="0" tIns="0" rIns="0" bIns="0" anchor="t">
            <a:spAutoFit/>
          </a:bodyPr>
          <a:lstStyle/>
          <a:p>
            <a:pPr algn="l">
              <a:lnSpc>
                <a:spcPct val="110000"/>
              </a:lnSpc>
              <a:spcBef>
                <a:spcPts val="0"/>
              </a:spcBef>
              <a:spcAft>
                <a:spcPts val="0"/>
              </a:spcAft>
            </a:pPr>
            <a:r>
              <a:rPr lang="en-US" sz="800" b="0" i="1" noProof="0">
                <a:solidFill>
                  <a:srgbClr val="95A5A6"/>
                </a:solidFill>
                <a:latin typeface="Arial" panose="020B0604020202020204" pitchFamily="34" charset="0"/>
                <a:cs typeface="Arial" panose="020B0604020202020204" pitchFamily="34" charset="0"/>
              </a:rPr>
              <a:t>▸  "I receive requests/input from the business or from the vendor" — Andrew McGibbon</a:t>
            </a:r>
          </a:p>
        </p:txBody>
      </p:sp>
      <p:sp>
        <p:nvSpPr>
          <p:cNvPr id="15" name="Rectangle 14">
            <a:extLst>
              <a:ext uri="{FF2B5EF4-FFF2-40B4-BE49-F238E27FC236}">
                <a16:creationId xmlns:a16="http://schemas.microsoft.com/office/drawing/2014/main" id="{6B509F99-6C84-C6AA-1421-CEC9E096E9B6}"/>
              </a:ext>
            </a:extLst>
          </p:cNvPr>
          <p:cNvSpPr/>
          <p:nvPr/>
        </p:nvSpPr>
        <p:spPr>
          <a:xfrm>
            <a:off x="6098666" y="1480776"/>
            <a:ext cx="5733288" cy="21488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338156AB-DAC7-2342-0111-F0026791AF4C}"/>
              </a:ext>
            </a:extLst>
          </p:cNvPr>
          <p:cNvSpPr/>
          <p:nvPr/>
        </p:nvSpPr>
        <p:spPr>
          <a:xfrm>
            <a:off x="6098666" y="1480776"/>
            <a:ext cx="5733288" cy="54864"/>
          </a:xfrm>
          <a:prstGeom prst="rect">
            <a:avLst/>
          </a:prstGeom>
          <a:solidFill>
            <a:srgbClr val="3B7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28D9B3FC-9E71-FF0A-87A6-61F18E0241AC}"/>
              </a:ext>
            </a:extLst>
          </p:cNvPr>
          <p:cNvSpPr txBox="1"/>
          <p:nvPr/>
        </p:nvSpPr>
        <p:spPr>
          <a:xfrm>
            <a:off x="6354699" y="1666703"/>
            <a:ext cx="914400" cy="374718"/>
          </a:xfrm>
          <a:prstGeom prst="rect">
            <a:avLst/>
          </a:prstGeom>
          <a:noFill/>
        </p:spPr>
        <p:txBody>
          <a:bodyPr wrap="square" lIns="0" tIns="0" rIns="0" bIns="0" anchor="t">
            <a:spAutoFit/>
          </a:bodyPr>
          <a:lstStyle/>
          <a:p>
            <a:pPr algn="l">
              <a:lnSpc>
                <a:spcPct val="110000"/>
              </a:lnSpc>
              <a:spcBef>
                <a:spcPts val="0"/>
              </a:spcBef>
              <a:spcAft>
                <a:spcPts val="0"/>
              </a:spcAft>
            </a:pPr>
            <a:r>
              <a:rPr lang="en-US" sz="2400" b="1" i="0" noProof="0">
                <a:solidFill>
                  <a:srgbClr val="3B7D23"/>
                </a:solidFill>
                <a:latin typeface="Arial" panose="020B0604020202020204" pitchFamily="34" charset="0"/>
                <a:cs typeface="Arial" panose="020B0604020202020204" pitchFamily="34" charset="0"/>
              </a:rPr>
              <a:t>02</a:t>
            </a:r>
          </a:p>
        </p:txBody>
      </p:sp>
      <p:sp>
        <p:nvSpPr>
          <p:cNvPr id="18" name="TextBox 17">
            <a:extLst>
              <a:ext uri="{FF2B5EF4-FFF2-40B4-BE49-F238E27FC236}">
                <a16:creationId xmlns:a16="http://schemas.microsoft.com/office/drawing/2014/main" id="{7152204D-A614-1548-F957-88920707CBE2}"/>
              </a:ext>
            </a:extLst>
          </p:cNvPr>
          <p:cNvSpPr txBox="1"/>
          <p:nvPr/>
        </p:nvSpPr>
        <p:spPr>
          <a:xfrm>
            <a:off x="7241666" y="1645368"/>
            <a:ext cx="4407407" cy="124906"/>
          </a:xfrm>
          <a:prstGeom prst="rect">
            <a:avLst/>
          </a:prstGeom>
          <a:noFill/>
        </p:spPr>
        <p:txBody>
          <a:bodyPr wrap="square" lIns="0" tIns="0" rIns="0" bIns="0" anchor="t">
            <a:spAutoFit/>
          </a:bodyPr>
          <a:lstStyle/>
          <a:p>
            <a:pPr algn="l">
              <a:lnSpc>
                <a:spcPct val="110000"/>
              </a:lnSpc>
              <a:spcBef>
                <a:spcPts val="0"/>
              </a:spcBef>
              <a:spcAft>
                <a:spcPts val="0"/>
              </a:spcAft>
            </a:pPr>
            <a:r>
              <a:rPr lang="en-US" sz="800" b="1" i="0" noProof="0">
                <a:solidFill>
                  <a:srgbClr val="95A5A6"/>
                </a:solidFill>
                <a:latin typeface="Arial" panose="020B0604020202020204" pitchFamily="34" charset="0"/>
                <a:cs typeface="Arial" panose="020B0604020202020204" pitchFamily="34" charset="0"/>
              </a:rPr>
              <a:t>STAGE: Prioritization</a:t>
            </a:r>
          </a:p>
        </p:txBody>
      </p:sp>
      <p:sp>
        <p:nvSpPr>
          <p:cNvPr id="19" name="TextBox 18">
            <a:extLst>
              <a:ext uri="{FF2B5EF4-FFF2-40B4-BE49-F238E27FC236}">
                <a16:creationId xmlns:a16="http://schemas.microsoft.com/office/drawing/2014/main" id="{E54F3E3C-5595-2D4A-ED75-1FA99E0050EE}"/>
              </a:ext>
            </a:extLst>
          </p:cNvPr>
          <p:cNvSpPr txBox="1"/>
          <p:nvPr/>
        </p:nvSpPr>
        <p:spPr>
          <a:xfrm>
            <a:off x="7241666" y="1855680"/>
            <a:ext cx="4407407" cy="203004"/>
          </a:xfrm>
          <a:prstGeom prst="rect">
            <a:avLst/>
          </a:prstGeom>
          <a:noFill/>
        </p:spPr>
        <p:txBody>
          <a:bodyPr wrap="square" lIns="0" tIns="0" rIns="0" bIns="0" anchor="t">
            <a:spAutoFit/>
          </a:bodyPr>
          <a:lstStyle/>
          <a:p>
            <a:pPr algn="l">
              <a:lnSpc>
                <a:spcPct val="110000"/>
              </a:lnSpc>
              <a:spcBef>
                <a:spcPts val="0"/>
              </a:spcBef>
              <a:spcAft>
                <a:spcPts val="0"/>
              </a:spcAft>
            </a:pPr>
            <a:r>
              <a:rPr lang="en-US" sz="1300" b="1" i="0" noProof="0">
                <a:solidFill>
                  <a:srgbClr val="3B7D23"/>
                </a:solidFill>
                <a:latin typeface="Arial" panose="020B0604020202020204" pitchFamily="34" charset="0"/>
                <a:cs typeface="Arial" panose="020B0604020202020204" pitchFamily="34" charset="0"/>
              </a:rPr>
              <a:t>Global SAP Incident Flood</a:t>
            </a:r>
          </a:p>
        </p:txBody>
      </p:sp>
      <p:sp>
        <p:nvSpPr>
          <p:cNvPr id="20" name="TextBox 19">
            <a:extLst>
              <a:ext uri="{FF2B5EF4-FFF2-40B4-BE49-F238E27FC236}">
                <a16:creationId xmlns:a16="http://schemas.microsoft.com/office/drawing/2014/main" id="{F98A54EC-6B1B-CCF6-A258-B1997791AE9B}"/>
              </a:ext>
            </a:extLst>
          </p:cNvPr>
          <p:cNvSpPr txBox="1"/>
          <p:nvPr/>
        </p:nvSpPr>
        <p:spPr>
          <a:xfrm>
            <a:off x="6354699" y="2194008"/>
            <a:ext cx="5230368" cy="494687"/>
          </a:xfrm>
          <a:prstGeom prst="rect">
            <a:avLst/>
          </a:prstGeom>
          <a:noFill/>
        </p:spPr>
        <p:txBody>
          <a:bodyPr wrap="square" lIns="0" tIns="0" rIns="0" bIns="0" anchor="t">
            <a:spAutoFit/>
          </a:bodyPr>
          <a:lstStyle/>
          <a:p>
            <a:pPr algn="l">
              <a:lnSpc>
                <a:spcPct val="110000"/>
              </a:lnSpc>
              <a:spcBef>
                <a:spcPts val="0"/>
              </a:spcBef>
              <a:spcAft>
                <a:spcPts val="0"/>
              </a:spcAft>
            </a:pPr>
            <a:r>
              <a:rPr lang="en-US" sz="1000" b="0" i="0" noProof="0">
                <a:solidFill>
                  <a:srgbClr val="2C3E50"/>
                </a:solidFill>
                <a:latin typeface="Arial" panose="020B0604020202020204" pitchFamily="34" charset="0"/>
                <a:cs typeface="Arial" panose="020B0604020202020204" pitchFamily="34" charset="0"/>
              </a:rPr>
              <a:t>Incident demand consistently takes precedence over all other work, consuming a significant portion of team capacity and displacing planned initiatives. This creates a reactive delivery environment.</a:t>
            </a:r>
          </a:p>
        </p:txBody>
      </p:sp>
      <p:sp>
        <p:nvSpPr>
          <p:cNvPr id="21" name="TextBox 20">
            <a:extLst>
              <a:ext uri="{FF2B5EF4-FFF2-40B4-BE49-F238E27FC236}">
                <a16:creationId xmlns:a16="http://schemas.microsoft.com/office/drawing/2014/main" id="{0C7123DE-D75C-87C0-BE37-CD860EEB2FDE}"/>
              </a:ext>
            </a:extLst>
          </p:cNvPr>
          <p:cNvSpPr txBox="1"/>
          <p:nvPr/>
        </p:nvSpPr>
        <p:spPr>
          <a:xfrm>
            <a:off x="6354699" y="2779224"/>
            <a:ext cx="5230368" cy="124906"/>
          </a:xfrm>
          <a:prstGeom prst="rect">
            <a:avLst/>
          </a:prstGeom>
          <a:noFill/>
        </p:spPr>
        <p:txBody>
          <a:bodyPr wrap="square" lIns="0" tIns="0" rIns="0" bIns="0" anchor="t">
            <a:spAutoFit/>
          </a:bodyPr>
          <a:lstStyle/>
          <a:p>
            <a:pPr algn="l">
              <a:lnSpc>
                <a:spcPct val="110000"/>
              </a:lnSpc>
              <a:spcBef>
                <a:spcPts val="0"/>
              </a:spcBef>
              <a:spcAft>
                <a:spcPts val="0"/>
              </a:spcAft>
            </a:pPr>
            <a:r>
              <a:rPr lang="en-US" sz="800" b="1" i="0" noProof="0">
                <a:solidFill>
                  <a:srgbClr val="95A5A6"/>
                </a:solidFill>
                <a:latin typeface="Arial" panose="020B0604020202020204" pitchFamily="34" charset="0"/>
                <a:cs typeface="Arial" panose="020B0604020202020204" pitchFamily="34" charset="0"/>
              </a:rPr>
              <a:t>IMPACT</a:t>
            </a:r>
          </a:p>
        </p:txBody>
      </p:sp>
      <p:sp>
        <p:nvSpPr>
          <p:cNvPr id="22" name="TextBox 21">
            <a:extLst>
              <a:ext uri="{FF2B5EF4-FFF2-40B4-BE49-F238E27FC236}">
                <a16:creationId xmlns:a16="http://schemas.microsoft.com/office/drawing/2014/main" id="{2B18418A-A671-02E5-D063-10794CFA0091}"/>
              </a:ext>
            </a:extLst>
          </p:cNvPr>
          <p:cNvSpPr txBox="1"/>
          <p:nvPr/>
        </p:nvSpPr>
        <p:spPr>
          <a:xfrm>
            <a:off x="6354699" y="2943816"/>
            <a:ext cx="5230368" cy="297261"/>
          </a:xfrm>
          <a:prstGeom prst="rect">
            <a:avLst/>
          </a:prstGeom>
          <a:noFill/>
        </p:spPr>
        <p:txBody>
          <a:bodyPr wrap="square" lIns="0" tIns="0" rIns="0" bIns="0" anchor="t">
            <a:spAutoFit/>
          </a:bodyPr>
          <a:lstStyle/>
          <a:p>
            <a:pPr>
              <a:lnSpc>
                <a:spcPct val="110000"/>
              </a:lnSpc>
            </a:pPr>
            <a:r>
              <a:rPr lang="en-US" sz="900" noProof="0"/>
              <a:t>Disrupts value-based prioritization and prevents capacity from being aligned to strategic product outcomes.</a:t>
            </a:r>
            <a:endParaRPr lang="en-US" sz="900" b="0" i="0" noProof="0">
              <a:solidFill>
                <a:srgbClr val="2C3E50"/>
              </a:solidFill>
              <a:latin typeface="Arial" panose="020B0604020202020204" pitchFamily="34" charset="0"/>
              <a:cs typeface="Arial" panose="020B0604020202020204" pitchFamily="34" charset="0"/>
            </a:endParaRPr>
          </a:p>
        </p:txBody>
      </p:sp>
      <p:sp>
        <p:nvSpPr>
          <p:cNvPr id="23" name="TextBox 22">
            <a:extLst>
              <a:ext uri="{FF2B5EF4-FFF2-40B4-BE49-F238E27FC236}">
                <a16:creationId xmlns:a16="http://schemas.microsoft.com/office/drawing/2014/main" id="{E23E43B0-78B9-D32F-6E40-FD88B67A4500}"/>
              </a:ext>
            </a:extLst>
          </p:cNvPr>
          <p:cNvSpPr txBox="1"/>
          <p:nvPr/>
        </p:nvSpPr>
        <p:spPr>
          <a:xfrm>
            <a:off x="9666441" y="1746415"/>
            <a:ext cx="2218186" cy="124906"/>
          </a:xfrm>
          <a:prstGeom prst="rect">
            <a:avLst/>
          </a:prstGeom>
          <a:noFill/>
        </p:spPr>
        <p:txBody>
          <a:bodyPr wrap="square" lIns="0" tIns="0" rIns="0" bIns="0" anchor="t">
            <a:spAutoFit/>
          </a:bodyPr>
          <a:lstStyle/>
          <a:p>
            <a:pPr algn="l">
              <a:lnSpc>
                <a:spcPct val="110000"/>
              </a:lnSpc>
              <a:spcBef>
                <a:spcPts val="0"/>
              </a:spcBef>
              <a:spcAft>
                <a:spcPts val="0"/>
              </a:spcAft>
            </a:pPr>
            <a:r>
              <a:rPr lang="en-US" sz="800" b="0" i="1" noProof="0">
                <a:solidFill>
                  <a:srgbClr val="95A5A6"/>
                </a:solidFill>
                <a:latin typeface="Arial" panose="020B0604020202020204" pitchFamily="34" charset="0"/>
                <a:cs typeface="Arial" panose="020B0604020202020204" pitchFamily="34" charset="0"/>
              </a:rPr>
              <a:t>▸  "Sometimes entire team is focusing on incidents" — Michael Dubois</a:t>
            </a:r>
          </a:p>
        </p:txBody>
      </p:sp>
      <p:sp>
        <p:nvSpPr>
          <p:cNvPr id="24" name="Rectangle 23">
            <a:extLst>
              <a:ext uri="{FF2B5EF4-FFF2-40B4-BE49-F238E27FC236}">
                <a16:creationId xmlns:a16="http://schemas.microsoft.com/office/drawing/2014/main" id="{E02BDFCB-429D-0478-5489-FA75F44B045F}"/>
              </a:ext>
            </a:extLst>
          </p:cNvPr>
          <p:cNvSpPr/>
          <p:nvPr/>
        </p:nvSpPr>
        <p:spPr>
          <a:xfrm>
            <a:off x="246507" y="3721055"/>
            <a:ext cx="5733288" cy="21488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5" name="Rectangle 24">
            <a:extLst>
              <a:ext uri="{FF2B5EF4-FFF2-40B4-BE49-F238E27FC236}">
                <a16:creationId xmlns:a16="http://schemas.microsoft.com/office/drawing/2014/main" id="{73B7E84E-7091-E554-7C2E-BF2B74A5DF47}"/>
              </a:ext>
            </a:extLst>
          </p:cNvPr>
          <p:cNvSpPr/>
          <p:nvPr/>
        </p:nvSpPr>
        <p:spPr>
          <a:xfrm>
            <a:off x="246507" y="3721055"/>
            <a:ext cx="5733288" cy="54864"/>
          </a:xfrm>
          <a:prstGeom prst="rect">
            <a:avLst/>
          </a:prstGeom>
          <a:solidFill>
            <a:srgbClr val="3B7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6" name="TextBox 25">
            <a:extLst>
              <a:ext uri="{FF2B5EF4-FFF2-40B4-BE49-F238E27FC236}">
                <a16:creationId xmlns:a16="http://schemas.microsoft.com/office/drawing/2014/main" id="{0F6262C9-E012-DF60-4F90-2CDA26F1291C}"/>
              </a:ext>
            </a:extLst>
          </p:cNvPr>
          <p:cNvSpPr txBox="1"/>
          <p:nvPr/>
        </p:nvSpPr>
        <p:spPr>
          <a:xfrm>
            <a:off x="502539" y="3906983"/>
            <a:ext cx="914400" cy="374718"/>
          </a:xfrm>
          <a:prstGeom prst="rect">
            <a:avLst/>
          </a:prstGeom>
          <a:noFill/>
        </p:spPr>
        <p:txBody>
          <a:bodyPr wrap="square" lIns="0" tIns="0" rIns="0" bIns="0" anchor="t">
            <a:spAutoFit/>
          </a:bodyPr>
          <a:lstStyle/>
          <a:p>
            <a:pPr algn="l">
              <a:lnSpc>
                <a:spcPct val="110000"/>
              </a:lnSpc>
              <a:spcBef>
                <a:spcPts val="0"/>
              </a:spcBef>
              <a:spcAft>
                <a:spcPts val="0"/>
              </a:spcAft>
            </a:pPr>
            <a:r>
              <a:rPr lang="en-US" sz="2400" b="1" i="0" noProof="0">
                <a:solidFill>
                  <a:srgbClr val="3B7D23"/>
                </a:solidFill>
                <a:latin typeface="Arial" panose="020B0604020202020204" pitchFamily="34" charset="0"/>
                <a:cs typeface="Arial" panose="020B0604020202020204" pitchFamily="34" charset="0"/>
              </a:rPr>
              <a:t>03</a:t>
            </a:r>
          </a:p>
        </p:txBody>
      </p:sp>
      <p:sp>
        <p:nvSpPr>
          <p:cNvPr id="27" name="TextBox 26">
            <a:extLst>
              <a:ext uri="{FF2B5EF4-FFF2-40B4-BE49-F238E27FC236}">
                <a16:creationId xmlns:a16="http://schemas.microsoft.com/office/drawing/2014/main" id="{CCD984F4-E25C-67EF-C2E8-C8E40163A60F}"/>
              </a:ext>
            </a:extLst>
          </p:cNvPr>
          <p:cNvSpPr txBox="1"/>
          <p:nvPr/>
        </p:nvSpPr>
        <p:spPr>
          <a:xfrm>
            <a:off x="1389507" y="3885647"/>
            <a:ext cx="4407407" cy="124906"/>
          </a:xfrm>
          <a:prstGeom prst="rect">
            <a:avLst/>
          </a:prstGeom>
          <a:noFill/>
        </p:spPr>
        <p:txBody>
          <a:bodyPr wrap="square" lIns="0" tIns="0" rIns="0" bIns="0" anchor="t">
            <a:spAutoFit/>
          </a:bodyPr>
          <a:lstStyle/>
          <a:p>
            <a:pPr algn="l">
              <a:lnSpc>
                <a:spcPct val="110000"/>
              </a:lnSpc>
              <a:spcBef>
                <a:spcPts val="0"/>
              </a:spcBef>
              <a:spcAft>
                <a:spcPts val="0"/>
              </a:spcAft>
            </a:pPr>
            <a:r>
              <a:rPr lang="en-US" sz="800" b="1" i="0" noProof="0">
                <a:solidFill>
                  <a:srgbClr val="95A5A6"/>
                </a:solidFill>
                <a:latin typeface="Arial" panose="020B0604020202020204" pitchFamily="34" charset="0"/>
                <a:cs typeface="Arial" panose="020B0604020202020204" pitchFamily="34" charset="0"/>
              </a:rPr>
              <a:t>STAGES: Intake + Portfolio</a:t>
            </a:r>
          </a:p>
        </p:txBody>
      </p:sp>
      <p:sp>
        <p:nvSpPr>
          <p:cNvPr id="28" name="TextBox 27">
            <a:extLst>
              <a:ext uri="{FF2B5EF4-FFF2-40B4-BE49-F238E27FC236}">
                <a16:creationId xmlns:a16="http://schemas.microsoft.com/office/drawing/2014/main" id="{4221536B-457C-A3BD-0F2C-FAFFD0D570EB}"/>
              </a:ext>
            </a:extLst>
          </p:cNvPr>
          <p:cNvSpPr txBox="1"/>
          <p:nvPr/>
        </p:nvSpPr>
        <p:spPr>
          <a:xfrm>
            <a:off x="1389507" y="4095959"/>
            <a:ext cx="4407407" cy="203004"/>
          </a:xfrm>
          <a:prstGeom prst="rect">
            <a:avLst/>
          </a:prstGeom>
          <a:noFill/>
        </p:spPr>
        <p:txBody>
          <a:bodyPr wrap="square" lIns="0" tIns="0" rIns="0" bIns="0" anchor="t">
            <a:spAutoFit/>
          </a:bodyPr>
          <a:lstStyle/>
          <a:p>
            <a:pPr algn="l">
              <a:lnSpc>
                <a:spcPct val="110000"/>
              </a:lnSpc>
              <a:spcBef>
                <a:spcPts val="0"/>
              </a:spcBef>
              <a:spcAft>
                <a:spcPts val="0"/>
              </a:spcAft>
            </a:pPr>
            <a:r>
              <a:rPr lang="en-US" sz="1300" b="1" i="0" noProof="0">
                <a:solidFill>
                  <a:srgbClr val="3B7D23"/>
                </a:solidFill>
                <a:latin typeface="Arial" panose="020B0604020202020204" pitchFamily="34" charset="0"/>
                <a:cs typeface="Arial" panose="020B0604020202020204" pitchFamily="34" charset="0"/>
              </a:rPr>
              <a:t>GIS Informal PM Stack</a:t>
            </a:r>
          </a:p>
        </p:txBody>
      </p:sp>
      <p:sp>
        <p:nvSpPr>
          <p:cNvPr id="29" name="TextBox 28">
            <a:extLst>
              <a:ext uri="{FF2B5EF4-FFF2-40B4-BE49-F238E27FC236}">
                <a16:creationId xmlns:a16="http://schemas.microsoft.com/office/drawing/2014/main" id="{37C823D1-50EE-8799-D16A-0AF999225354}"/>
              </a:ext>
            </a:extLst>
          </p:cNvPr>
          <p:cNvSpPr txBox="1"/>
          <p:nvPr/>
        </p:nvSpPr>
        <p:spPr>
          <a:xfrm>
            <a:off x="502539" y="4434288"/>
            <a:ext cx="5230368" cy="325410"/>
          </a:xfrm>
          <a:prstGeom prst="rect">
            <a:avLst/>
          </a:prstGeom>
          <a:noFill/>
        </p:spPr>
        <p:txBody>
          <a:bodyPr wrap="square" lIns="0" tIns="0" rIns="0" bIns="0" anchor="t">
            <a:spAutoFit/>
          </a:bodyPr>
          <a:lstStyle/>
          <a:p>
            <a:pPr algn="l">
              <a:lnSpc>
                <a:spcPct val="110000"/>
              </a:lnSpc>
              <a:spcBef>
                <a:spcPts val="0"/>
              </a:spcBef>
              <a:spcAft>
                <a:spcPts val="0"/>
              </a:spcAft>
            </a:pPr>
            <a:r>
              <a:rPr lang="en-US" sz="1000" b="0" i="0" noProof="0">
                <a:solidFill>
                  <a:srgbClr val="2C3E50"/>
                </a:solidFill>
                <a:latin typeface="Arial" panose="020B0604020202020204" pitchFamily="34" charset="0"/>
                <a:cs typeface="Arial" panose="020B0604020202020204" pitchFamily="34" charset="0"/>
              </a:rPr>
              <a:t>Delivery is managed through a mix of informal tools and processes, with limited portfolio visibility outside of large initiatives. A significant portion of work remains untracked</a:t>
            </a:r>
          </a:p>
        </p:txBody>
      </p:sp>
      <p:sp>
        <p:nvSpPr>
          <p:cNvPr id="30" name="TextBox 29">
            <a:extLst>
              <a:ext uri="{FF2B5EF4-FFF2-40B4-BE49-F238E27FC236}">
                <a16:creationId xmlns:a16="http://schemas.microsoft.com/office/drawing/2014/main" id="{7DB254C6-CDCC-EF5F-377D-89C9C67BDA6C}"/>
              </a:ext>
            </a:extLst>
          </p:cNvPr>
          <p:cNvSpPr txBox="1"/>
          <p:nvPr/>
        </p:nvSpPr>
        <p:spPr>
          <a:xfrm>
            <a:off x="502539" y="5019503"/>
            <a:ext cx="5230368" cy="124906"/>
          </a:xfrm>
          <a:prstGeom prst="rect">
            <a:avLst/>
          </a:prstGeom>
          <a:noFill/>
        </p:spPr>
        <p:txBody>
          <a:bodyPr wrap="square" lIns="0" tIns="0" rIns="0" bIns="0" anchor="t">
            <a:spAutoFit/>
          </a:bodyPr>
          <a:lstStyle/>
          <a:p>
            <a:pPr algn="l">
              <a:lnSpc>
                <a:spcPct val="110000"/>
              </a:lnSpc>
              <a:spcBef>
                <a:spcPts val="0"/>
              </a:spcBef>
              <a:spcAft>
                <a:spcPts val="0"/>
              </a:spcAft>
            </a:pPr>
            <a:r>
              <a:rPr lang="en-US" sz="800" b="1" i="0" noProof="0">
                <a:solidFill>
                  <a:srgbClr val="95A5A6"/>
                </a:solidFill>
                <a:latin typeface="Arial" panose="020B0604020202020204" pitchFamily="34" charset="0"/>
                <a:cs typeface="Arial" panose="020B0604020202020204" pitchFamily="34" charset="0"/>
              </a:rPr>
              <a:t>IMPACT</a:t>
            </a:r>
          </a:p>
        </p:txBody>
      </p:sp>
      <p:sp>
        <p:nvSpPr>
          <p:cNvPr id="31" name="TextBox 30">
            <a:extLst>
              <a:ext uri="{FF2B5EF4-FFF2-40B4-BE49-F238E27FC236}">
                <a16:creationId xmlns:a16="http://schemas.microsoft.com/office/drawing/2014/main" id="{D033E0D0-A43C-DC99-5799-5B5E3CCFFCF0}"/>
              </a:ext>
            </a:extLst>
          </p:cNvPr>
          <p:cNvSpPr txBox="1"/>
          <p:nvPr/>
        </p:nvSpPr>
        <p:spPr>
          <a:xfrm>
            <a:off x="502539" y="5184096"/>
            <a:ext cx="5230368" cy="144911"/>
          </a:xfrm>
          <a:prstGeom prst="rect">
            <a:avLst/>
          </a:prstGeom>
          <a:noFill/>
        </p:spPr>
        <p:txBody>
          <a:bodyPr wrap="square" lIns="0" tIns="0" rIns="0" bIns="0" anchor="t">
            <a:spAutoFit/>
          </a:bodyPr>
          <a:lstStyle/>
          <a:p>
            <a:pPr>
              <a:lnSpc>
                <a:spcPct val="110000"/>
              </a:lnSpc>
            </a:pPr>
            <a:r>
              <a:rPr lang="en-US" sz="900" noProof="0"/>
              <a:t>Limits end-to-end visibility and constrains effective product portfolio management and capacity planning.</a:t>
            </a:r>
            <a:endParaRPr lang="en-US" sz="900" b="0" i="0" noProof="0">
              <a:solidFill>
                <a:srgbClr val="2C3E50"/>
              </a:solidFill>
              <a:latin typeface="Arial" panose="020B0604020202020204" pitchFamily="34" charset="0"/>
              <a:cs typeface="Arial" panose="020B0604020202020204" pitchFamily="34" charset="0"/>
            </a:endParaRPr>
          </a:p>
        </p:txBody>
      </p:sp>
      <p:sp>
        <p:nvSpPr>
          <p:cNvPr id="32" name="TextBox 31">
            <a:extLst>
              <a:ext uri="{FF2B5EF4-FFF2-40B4-BE49-F238E27FC236}">
                <a16:creationId xmlns:a16="http://schemas.microsoft.com/office/drawing/2014/main" id="{86117427-A1FD-C26E-93C9-91C6B973F9C7}"/>
              </a:ext>
            </a:extLst>
          </p:cNvPr>
          <p:cNvSpPr txBox="1"/>
          <p:nvPr/>
        </p:nvSpPr>
        <p:spPr>
          <a:xfrm>
            <a:off x="3548064" y="3975120"/>
            <a:ext cx="2218186" cy="124906"/>
          </a:xfrm>
          <a:prstGeom prst="rect">
            <a:avLst/>
          </a:prstGeom>
          <a:noFill/>
        </p:spPr>
        <p:txBody>
          <a:bodyPr wrap="square" lIns="0" tIns="0" rIns="0" bIns="0" anchor="t">
            <a:spAutoFit/>
          </a:bodyPr>
          <a:lstStyle/>
          <a:p>
            <a:pPr algn="l">
              <a:lnSpc>
                <a:spcPct val="110000"/>
              </a:lnSpc>
              <a:spcBef>
                <a:spcPts val="0"/>
              </a:spcBef>
              <a:spcAft>
                <a:spcPts val="0"/>
              </a:spcAft>
            </a:pPr>
            <a:r>
              <a:rPr lang="en-US" sz="800" b="0" i="1" noProof="0">
                <a:solidFill>
                  <a:srgbClr val="95A5A6"/>
                </a:solidFill>
                <a:latin typeface="Arial" panose="020B0604020202020204" pitchFamily="34" charset="0"/>
                <a:cs typeface="Arial" panose="020B0604020202020204" pitchFamily="34" charset="0"/>
              </a:rPr>
              <a:t>▸  "My team uses Jira for misc. work... OneNote, Teams and Spreadsheets to manage" — George Porto</a:t>
            </a:r>
          </a:p>
        </p:txBody>
      </p:sp>
      <p:sp>
        <p:nvSpPr>
          <p:cNvPr id="33" name="Rectangle 32">
            <a:extLst>
              <a:ext uri="{FF2B5EF4-FFF2-40B4-BE49-F238E27FC236}">
                <a16:creationId xmlns:a16="http://schemas.microsoft.com/office/drawing/2014/main" id="{DCE76D29-D473-0705-65CE-BF0124FF2334}"/>
              </a:ext>
            </a:extLst>
          </p:cNvPr>
          <p:cNvSpPr/>
          <p:nvPr/>
        </p:nvSpPr>
        <p:spPr>
          <a:xfrm>
            <a:off x="6098666" y="3721055"/>
            <a:ext cx="5733288" cy="21488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4" name="Rectangle 33">
            <a:extLst>
              <a:ext uri="{FF2B5EF4-FFF2-40B4-BE49-F238E27FC236}">
                <a16:creationId xmlns:a16="http://schemas.microsoft.com/office/drawing/2014/main" id="{00E50D97-A9EF-0641-12A1-C8C40BD93AB9}"/>
              </a:ext>
            </a:extLst>
          </p:cNvPr>
          <p:cNvSpPr/>
          <p:nvPr/>
        </p:nvSpPr>
        <p:spPr>
          <a:xfrm>
            <a:off x="6098666" y="3721055"/>
            <a:ext cx="5733288" cy="54864"/>
          </a:xfrm>
          <a:prstGeom prst="rect">
            <a:avLst/>
          </a:prstGeom>
          <a:solidFill>
            <a:srgbClr val="3B7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5" name="TextBox 34">
            <a:extLst>
              <a:ext uri="{FF2B5EF4-FFF2-40B4-BE49-F238E27FC236}">
                <a16:creationId xmlns:a16="http://schemas.microsoft.com/office/drawing/2014/main" id="{D59D6C5F-2C48-754F-66DD-DF981B0E90F3}"/>
              </a:ext>
            </a:extLst>
          </p:cNvPr>
          <p:cNvSpPr txBox="1"/>
          <p:nvPr/>
        </p:nvSpPr>
        <p:spPr>
          <a:xfrm>
            <a:off x="6354699" y="3906983"/>
            <a:ext cx="914400" cy="374718"/>
          </a:xfrm>
          <a:prstGeom prst="rect">
            <a:avLst/>
          </a:prstGeom>
          <a:noFill/>
        </p:spPr>
        <p:txBody>
          <a:bodyPr wrap="square" lIns="0" tIns="0" rIns="0" bIns="0" anchor="t">
            <a:spAutoFit/>
          </a:bodyPr>
          <a:lstStyle/>
          <a:p>
            <a:pPr algn="l">
              <a:lnSpc>
                <a:spcPct val="110000"/>
              </a:lnSpc>
              <a:spcBef>
                <a:spcPts val="0"/>
              </a:spcBef>
              <a:spcAft>
                <a:spcPts val="0"/>
              </a:spcAft>
            </a:pPr>
            <a:r>
              <a:rPr lang="en-US" sz="2400" b="1" i="0" noProof="0">
                <a:solidFill>
                  <a:srgbClr val="3B7D23"/>
                </a:solidFill>
                <a:latin typeface="Arial" panose="020B0604020202020204" pitchFamily="34" charset="0"/>
                <a:cs typeface="Arial" panose="020B0604020202020204" pitchFamily="34" charset="0"/>
              </a:rPr>
              <a:t>04</a:t>
            </a:r>
          </a:p>
        </p:txBody>
      </p:sp>
      <p:sp>
        <p:nvSpPr>
          <p:cNvPr id="36" name="TextBox 35">
            <a:extLst>
              <a:ext uri="{FF2B5EF4-FFF2-40B4-BE49-F238E27FC236}">
                <a16:creationId xmlns:a16="http://schemas.microsoft.com/office/drawing/2014/main" id="{987856B5-8C23-6F77-AE62-36543F2A09E9}"/>
              </a:ext>
            </a:extLst>
          </p:cNvPr>
          <p:cNvSpPr txBox="1"/>
          <p:nvPr/>
        </p:nvSpPr>
        <p:spPr>
          <a:xfrm>
            <a:off x="7241666" y="3885647"/>
            <a:ext cx="4407407" cy="124906"/>
          </a:xfrm>
          <a:prstGeom prst="rect">
            <a:avLst/>
          </a:prstGeom>
          <a:noFill/>
        </p:spPr>
        <p:txBody>
          <a:bodyPr wrap="square" lIns="0" tIns="0" rIns="0" bIns="0" anchor="t">
            <a:spAutoFit/>
          </a:bodyPr>
          <a:lstStyle/>
          <a:p>
            <a:pPr algn="l">
              <a:lnSpc>
                <a:spcPct val="110000"/>
              </a:lnSpc>
              <a:spcBef>
                <a:spcPts val="0"/>
              </a:spcBef>
              <a:spcAft>
                <a:spcPts val="0"/>
              </a:spcAft>
            </a:pPr>
            <a:r>
              <a:rPr lang="en-US" sz="800" b="1" i="0" noProof="0">
                <a:solidFill>
                  <a:srgbClr val="95A5A6"/>
                </a:solidFill>
                <a:latin typeface="Arial" panose="020B0604020202020204" pitchFamily="34" charset="0"/>
                <a:cs typeface="Arial" panose="020B0604020202020204" pitchFamily="34" charset="0"/>
              </a:rPr>
              <a:t>STAGE: Classification</a:t>
            </a:r>
          </a:p>
        </p:txBody>
      </p:sp>
      <p:sp>
        <p:nvSpPr>
          <p:cNvPr id="37" name="TextBox 36">
            <a:extLst>
              <a:ext uri="{FF2B5EF4-FFF2-40B4-BE49-F238E27FC236}">
                <a16:creationId xmlns:a16="http://schemas.microsoft.com/office/drawing/2014/main" id="{8CB07C14-B5BE-BF8D-2C34-94948EC46D9E}"/>
              </a:ext>
            </a:extLst>
          </p:cNvPr>
          <p:cNvSpPr txBox="1"/>
          <p:nvPr/>
        </p:nvSpPr>
        <p:spPr>
          <a:xfrm>
            <a:off x="7241666" y="4095959"/>
            <a:ext cx="4407407" cy="203004"/>
          </a:xfrm>
          <a:prstGeom prst="rect">
            <a:avLst/>
          </a:prstGeom>
          <a:noFill/>
        </p:spPr>
        <p:txBody>
          <a:bodyPr wrap="square" lIns="0" tIns="0" rIns="0" bIns="0" anchor="t">
            <a:spAutoFit/>
          </a:bodyPr>
          <a:lstStyle/>
          <a:p>
            <a:pPr algn="l">
              <a:lnSpc>
                <a:spcPct val="110000"/>
              </a:lnSpc>
              <a:spcBef>
                <a:spcPts val="0"/>
              </a:spcBef>
              <a:spcAft>
                <a:spcPts val="0"/>
              </a:spcAft>
            </a:pPr>
            <a:r>
              <a:rPr lang="en-US" sz="1300" b="1" i="0" noProof="0">
                <a:solidFill>
                  <a:srgbClr val="3B7D23"/>
                </a:solidFill>
                <a:latin typeface="Arial" panose="020B0604020202020204" pitchFamily="34" charset="0"/>
                <a:cs typeface="Arial" panose="020B0604020202020204" pitchFamily="34" charset="0"/>
              </a:rPr>
              <a:t>Corporate Project Overlap</a:t>
            </a:r>
          </a:p>
        </p:txBody>
      </p:sp>
      <p:sp>
        <p:nvSpPr>
          <p:cNvPr id="38" name="TextBox 37">
            <a:extLst>
              <a:ext uri="{FF2B5EF4-FFF2-40B4-BE49-F238E27FC236}">
                <a16:creationId xmlns:a16="http://schemas.microsoft.com/office/drawing/2014/main" id="{F3654174-7344-87FC-5387-176918A0E979}"/>
              </a:ext>
            </a:extLst>
          </p:cNvPr>
          <p:cNvSpPr txBox="1"/>
          <p:nvPr/>
        </p:nvSpPr>
        <p:spPr>
          <a:xfrm>
            <a:off x="6354699" y="4434288"/>
            <a:ext cx="5230368" cy="330347"/>
          </a:xfrm>
          <a:prstGeom prst="rect">
            <a:avLst/>
          </a:prstGeom>
          <a:noFill/>
        </p:spPr>
        <p:txBody>
          <a:bodyPr wrap="square" lIns="0" tIns="0" rIns="0" bIns="0" anchor="t">
            <a:spAutoFit/>
          </a:bodyPr>
          <a:lstStyle/>
          <a:p>
            <a:pPr>
              <a:lnSpc>
                <a:spcPct val="110000"/>
              </a:lnSpc>
            </a:pPr>
            <a:r>
              <a:rPr lang="en-US" sz="1000" noProof="0"/>
              <a:t>Multiple tools and inconsistent classification approaches lead to duplicated demand and overlapping initiatives addressing similar outcomes. Coordination across teams is limited.</a:t>
            </a:r>
            <a:endParaRPr lang="en-US" sz="1000" b="0" i="0" noProof="0">
              <a:solidFill>
                <a:srgbClr val="2C3E50"/>
              </a:solidFill>
              <a:latin typeface="Arial" panose="020B0604020202020204" pitchFamily="34" charset="0"/>
              <a:cs typeface="Arial" panose="020B0604020202020204" pitchFamily="34" charset="0"/>
            </a:endParaRPr>
          </a:p>
        </p:txBody>
      </p:sp>
      <p:sp>
        <p:nvSpPr>
          <p:cNvPr id="39" name="TextBox 38">
            <a:extLst>
              <a:ext uri="{FF2B5EF4-FFF2-40B4-BE49-F238E27FC236}">
                <a16:creationId xmlns:a16="http://schemas.microsoft.com/office/drawing/2014/main" id="{48E70031-41BD-74C5-2181-52463451513A}"/>
              </a:ext>
            </a:extLst>
          </p:cNvPr>
          <p:cNvSpPr txBox="1"/>
          <p:nvPr/>
        </p:nvSpPr>
        <p:spPr>
          <a:xfrm>
            <a:off x="6354699" y="5019503"/>
            <a:ext cx="5230368" cy="124906"/>
          </a:xfrm>
          <a:prstGeom prst="rect">
            <a:avLst/>
          </a:prstGeom>
          <a:noFill/>
        </p:spPr>
        <p:txBody>
          <a:bodyPr wrap="square" lIns="0" tIns="0" rIns="0" bIns="0" anchor="t">
            <a:spAutoFit/>
          </a:bodyPr>
          <a:lstStyle/>
          <a:p>
            <a:pPr algn="l">
              <a:lnSpc>
                <a:spcPct val="110000"/>
              </a:lnSpc>
              <a:spcBef>
                <a:spcPts val="0"/>
              </a:spcBef>
              <a:spcAft>
                <a:spcPts val="0"/>
              </a:spcAft>
            </a:pPr>
            <a:r>
              <a:rPr lang="en-US" sz="800" b="1" i="0" noProof="0">
                <a:solidFill>
                  <a:srgbClr val="95A5A6"/>
                </a:solidFill>
                <a:latin typeface="Arial" panose="020B0604020202020204" pitchFamily="34" charset="0"/>
                <a:cs typeface="Arial" panose="020B0604020202020204" pitchFamily="34" charset="0"/>
              </a:rPr>
              <a:t>IMPACT</a:t>
            </a:r>
          </a:p>
        </p:txBody>
      </p:sp>
      <p:sp>
        <p:nvSpPr>
          <p:cNvPr id="40" name="TextBox 39">
            <a:extLst>
              <a:ext uri="{FF2B5EF4-FFF2-40B4-BE49-F238E27FC236}">
                <a16:creationId xmlns:a16="http://schemas.microsoft.com/office/drawing/2014/main" id="{BC8588E5-A696-0A88-2351-F4BC618C7044}"/>
              </a:ext>
            </a:extLst>
          </p:cNvPr>
          <p:cNvSpPr txBox="1"/>
          <p:nvPr/>
        </p:nvSpPr>
        <p:spPr>
          <a:xfrm>
            <a:off x="6354699" y="5184096"/>
            <a:ext cx="5230368" cy="138499"/>
          </a:xfrm>
          <a:prstGeom prst="rect">
            <a:avLst/>
          </a:prstGeom>
          <a:noFill/>
        </p:spPr>
        <p:txBody>
          <a:bodyPr wrap="square" lIns="0" tIns="0" rIns="0" bIns="0" anchor="t">
            <a:spAutoFit/>
          </a:bodyPr>
          <a:lstStyle/>
          <a:p>
            <a:r>
              <a:rPr lang="en-US" sz="900" noProof="0"/>
              <a:t>Reduces efficiency and prevents alignment to clear product ownership and business outcomes.</a:t>
            </a:r>
          </a:p>
        </p:txBody>
      </p:sp>
      <p:sp>
        <p:nvSpPr>
          <p:cNvPr id="41" name="TextBox 40">
            <a:extLst>
              <a:ext uri="{FF2B5EF4-FFF2-40B4-BE49-F238E27FC236}">
                <a16:creationId xmlns:a16="http://schemas.microsoft.com/office/drawing/2014/main" id="{B7192AA7-EE7F-B11D-D46B-6ABC4C748107}"/>
              </a:ext>
            </a:extLst>
          </p:cNvPr>
          <p:cNvSpPr txBox="1"/>
          <p:nvPr/>
        </p:nvSpPr>
        <p:spPr>
          <a:xfrm>
            <a:off x="9755693" y="4044568"/>
            <a:ext cx="2016533" cy="124906"/>
          </a:xfrm>
          <a:prstGeom prst="rect">
            <a:avLst/>
          </a:prstGeom>
          <a:noFill/>
        </p:spPr>
        <p:txBody>
          <a:bodyPr wrap="square" lIns="0" tIns="0" rIns="0" bIns="0" anchor="t">
            <a:spAutoFit/>
          </a:bodyPr>
          <a:lstStyle/>
          <a:p>
            <a:pPr algn="l">
              <a:lnSpc>
                <a:spcPct val="110000"/>
              </a:lnSpc>
              <a:spcBef>
                <a:spcPts val="0"/>
              </a:spcBef>
              <a:spcAft>
                <a:spcPts val="0"/>
              </a:spcAft>
            </a:pPr>
            <a:r>
              <a:rPr lang="en-US" sz="800" b="0" i="1" noProof="0">
                <a:solidFill>
                  <a:srgbClr val="95A5A6"/>
                </a:solidFill>
                <a:latin typeface="Arial" panose="020B0604020202020204" pitchFamily="34" charset="0"/>
                <a:cs typeface="Arial" panose="020B0604020202020204" pitchFamily="34" charset="0"/>
              </a:rPr>
              <a:t>▸  "PDD is the driver. Lots of overlapping projects" — Amit Patel</a:t>
            </a:r>
          </a:p>
        </p:txBody>
      </p:sp>
      <p:sp>
        <p:nvSpPr>
          <p:cNvPr id="42" name="Rectangle 41">
            <a:extLst>
              <a:ext uri="{FF2B5EF4-FFF2-40B4-BE49-F238E27FC236}">
                <a16:creationId xmlns:a16="http://schemas.microsoft.com/office/drawing/2014/main" id="{7FD94213-CF2C-50BB-5491-84B293968610}"/>
              </a:ext>
            </a:extLst>
          </p:cNvPr>
          <p:cNvSpPr/>
          <p:nvPr/>
        </p:nvSpPr>
        <p:spPr>
          <a:xfrm>
            <a:off x="246506" y="5915616"/>
            <a:ext cx="11585447"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3" name="TextBox 42">
            <a:extLst>
              <a:ext uri="{FF2B5EF4-FFF2-40B4-BE49-F238E27FC236}">
                <a16:creationId xmlns:a16="http://schemas.microsoft.com/office/drawing/2014/main" id="{A03E86BA-B000-0F4A-6777-1B6791069013}"/>
              </a:ext>
            </a:extLst>
          </p:cNvPr>
          <p:cNvSpPr txBox="1"/>
          <p:nvPr/>
        </p:nvSpPr>
        <p:spPr>
          <a:xfrm>
            <a:off x="475107" y="6081187"/>
            <a:ext cx="10817352" cy="171778"/>
          </a:xfrm>
          <a:prstGeom prst="rect">
            <a:avLst/>
          </a:prstGeom>
          <a:noFill/>
        </p:spPr>
        <p:txBody>
          <a:bodyPr wrap="square" lIns="0" tIns="0" rIns="0" bIns="0" anchor="ctr">
            <a:spAutoFit/>
          </a:bodyPr>
          <a:lstStyle/>
          <a:p>
            <a:pPr algn="l">
              <a:lnSpc>
                <a:spcPct val="110000"/>
              </a:lnSpc>
              <a:spcBef>
                <a:spcPts val="0"/>
              </a:spcBef>
              <a:spcAft>
                <a:spcPts val="0"/>
              </a:spcAft>
            </a:pPr>
            <a:r>
              <a:rPr lang="en-US" sz="1100" b="0" i="0" noProof="0">
                <a:solidFill>
                  <a:srgbClr val="FFFFFF"/>
                </a:solidFill>
                <a:latin typeface="Arial" panose="020B0604020202020204" pitchFamily="34" charset="0"/>
                <a:cs typeface="Arial" panose="020B0604020202020204" pitchFamily="34" charset="0"/>
              </a:rPr>
              <a:t>These four bottlenecks span all four Applications teams — each is a symptom of the same underlying fragmentation the Target Operating Model must address</a:t>
            </a:r>
          </a:p>
        </p:txBody>
      </p:sp>
      <p:sp>
        <p:nvSpPr>
          <p:cNvPr id="57" name="Título 2">
            <a:extLst>
              <a:ext uri="{FF2B5EF4-FFF2-40B4-BE49-F238E27FC236}">
                <a16:creationId xmlns:a16="http://schemas.microsoft.com/office/drawing/2014/main" id="{F107EE56-1A29-DC5F-6AEC-4D95CF1BF1CF}"/>
              </a:ext>
            </a:extLst>
          </p:cNvPr>
          <p:cNvSpPr txBox="1">
            <a:spLocks/>
          </p:cNvSpPr>
          <p:nvPr/>
        </p:nvSpPr>
        <p:spPr>
          <a:xfrm>
            <a:off x="180918" y="127319"/>
            <a:ext cx="7801032" cy="514011"/>
          </a:xfrm>
          <a:prstGeom prst="rect">
            <a:avLst/>
          </a:prstGeom>
        </p:spPr>
        <p:txBody>
          <a:bodyPr anchor="ctr">
            <a:noAutofit/>
          </a:bodyPr>
          <a:lstStyle>
            <a:defPPr>
              <a:defRPr lang="en-US"/>
            </a:defPPr>
            <a:lvl1pPr marR="0" lvl="0" indent="0" fontAlgn="auto">
              <a:lnSpc>
                <a:spcPct val="90000"/>
              </a:lnSpc>
              <a:spcBef>
                <a:spcPct val="0"/>
              </a:spcBef>
              <a:spcAft>
                <a:spcPts val="0"/>
              </a:spcAft>
              <a:buClrTx/>
              <a:buSzTx/>
              <a:buFontTx/>
              <a:buNone/>
              <a:tabLst/>
              <a:defRPr kumimoji="0" sz="2400" b="1" i="0" u="none" strike="noStrike" cap="none" spc="0" normalizeH="0" baseline="0">
                <a:ln>
                  <a:noFill/>
                </a:ln>
                <a:solidFill>
                  <a:prstClr val="white"/>
                </a:solidFill>
                <a:effectLst/>
                <a:uLnTx/>
                <a:uFillTx/>
                <a:latin typeface="Arial" panose="020B0604020202020204" pitchFamily="34" charset="0"/>
                <a:ea typeface="+mj-ea"/>
                <a:cs typeface="Arial" panose="020B0604020202020204" pitchFamily="34" charset="0"/>
              </a:defRPr>
            </a:lvl1pPr>
          </a:lstStyle>
          <a:p>
            <a:r>
              <a:rPr lang="en-US" noProof="0">
                <a:sym typeface="Gordita"/>
              </a:rPr>
              <a:t>INSIGHTS &amp; KEY DEFINITIONS FOR TO-BE MODEL</a:t>
            </a:r>
          </a:p>
          <a:p>
            <a:r>
              <a:rPr lang="en-US" sz="1200" noProof="0"/>
              <a:t>DELIVERY &amp; EXPERIENCE PAIN POINTS</a:t>
            </a:r>
          </a:p>
        </p:txBody>
      </p:sp>
    </p:spTree>
    <p:extLst>
      <p:ext uri="{BB962C8B-B14F-4D97-AF65-F5344CB8AC3E}">
        <p14:creationId xmlns:p14="http://schemas.microsoft.com/office/powerpoint/2010/main" val="1328207741"/>
      </p:ext>
    </p:extLst>
  </p:cSld>
  <p:clrMapOvr>
    <a:masterClrMapping/>
  </p:clrMapOvr>
  <p:extLst>
    <p:ext uri="{6950BFC3-D8DA-4A85-94F7-54DA5524770B}">
      <p188:commentRel xmlns:p188="http://schemas.microsoft.com/office/powerpoint/2018/8/main" r:id="rId2"/>
    </p:ext>
  </p:extLst>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7" name="Título 2">
            <a:extLst>
              <a:ext uri="{FF2B5EF4-FFF2-40B4-BE49-F238E27FC236}">
                <a16:creationId xmlns:a16="http://schemas.microsoft.com/office/drawing/2014/main" id="{6F07D382-6ED7-D111-BA49-4DC626DC5987}"/>
              </a:ext>
            </a:extLst>
          </p:cNvPr>
          <p:cNvSpPr txBox="1">
            <a:spLocks/>
          </p:cNvSpPr>
          <p:nvPr/>
        </p:nvSpPr>
        <p:spPr>
          <a:xfrm>
            <a:off x="180918" y="127319"/>
            <a:ext cx="7801032" cy="514011"/>
          </a:xfrm>
          <a:prstGeom prst="rect">
            <a:avLst/>
          </a:prstGeom>
        </p:spPr>
        <p:txBody>
          <a:bodyPr anchor="ctr">
            <a:noAutofit/>
          </a:bodyPr>
          <a:lstStyle>
            <a:defPPr>
              <a:defRPr lang="en-US"/>
            </a:defPPr>
            <a:lvl1pPr marR="0" lvl="0" indent="0" fontAlgn="auto">
              <a:lnSpc>
                <a:spcPct val="90000"/>
              </a:lnSpc>
              <a:spcBef>
                <a:spcPct val="0"/>
              </a:spcBef>
              <a:spcAft>
                <a:spcPts val="0"/>
              </a:spcAft>
              <a:buClrTx/>
              <a:buSzTx/>
              <a:buFontTx/>
              <a:buNone/>
              <a:tabLst/>
              <a:defRPr kumimoji="0" sz="2400" b="1" i="0" u="none" strike="noStrike" cap="none" spc="0" normalizeH="0" baseline="0">
                <a:ln>
                  <a:noFill/>
                </a:ln>
                <a:solidFill>
                  <a:prstClr val="white"/>
                </a:solidFill>
                <a:effectLst/>
                <a:uLnTx/>
                <a:uFillTx/>
                <a:latin typeface="Arial" panose="020B0604020202020204" pitchFamily="34" charset="0"/>
                <a:ea typeface="+mj-ea"/>
                <a:cs typeface="Arial" panose="020B0604020202020204" pitchFamily="34" charset="0"/>
              </a:defRPr>
            </a:lvl1pPr>
          </a:lstStyle>
          <a:p>
            <a:r>
              <a:rPr lang="en-US" noProof="0">
                <a:sym typeface="Gordita"/>
              </a:rPr>
              <a:t>INSIGHTS &amp; KEY DEFINITIONS FOR TO-BE MODEL</a:t>
            </a:r>
          </a:p>
          <a:p>
            <a:r>
              <a:rPr lang="en-US" sz="1200" noProof="0"/>
              <a:t>TO-BE GUIDING PRINCIPLES</a:t>
            </a:r>
          </a:p>
        </p:txBody>
      </p:sp>
      <p:sp>
        <p:nvSpPr>
          <p:cNvPr id="59" name="TextBox 58"/>
          <p:cNvSpPr txBox="1"/>
          <p:nvPr/>
        </p:nvSpPr>
        <p:spPr>
          <a:xfrm>
            <a:off x="246506" y="843976"/>
            <a:ext cx="11274552" cy="430887"/>
          </a:xfrm>
          <a:prstGeom prst="rect">
            <a:avLst/>
          </a:prstGeom>
          <a:noFill/>
        </p:spPr>
        <p:txBody>
          <a:bodyPr wrap="square" lIns="0" tIns="0" rIns="0" bIns="0" rtlCol="0">
            <a:noAutofit/>
          </a:bodyPr>
          <a:lstStyle>
            <a:defPPr>
              <a:defRPr lang="en-US"/>
            </a:defPPr>
            <a:lvl1pPr marR="0" lvl="0" indent="0" algn="just" fontAlgn="auto">
              <a:lnSpc>
                <a:spcPct val="100000"/>
              </a:lnSpc>
              <a:spcBef>
                <a:spcPts val="0"/>
              </a:spcBef>
              <a:spcAft>
                <a:spcPts val="0"/>
              </a:spcAft>
              <a:buClrTx/>
              <a:buSzTx/>
              <a:buFontTx/>
              <a:buNone/>
              <a:tabLst/>
              <a:defRPr kumimoji="0" sz="1400" b="1" i="0" u="none" strike="noStrike" cap="none" spc="0" normalizeH="0" baseline="0">
                <a:ln>
                  <a:noFill/>
                </a:ln>
                <a:solidFill>
                  <a:srgbClr val="0F9ED5">
                    <a:lumMod val="75000"/>
                  </a:srgbClr>
                </a:solidFill>
                <a:effectLst/>
                <a:uLnTx/>
                <a:uFillTx/>
                <a:latin typeface="Arial" panose="020B0604020202020204" pitchFamily="34" charset="0"/>
                <a:cs typeface="Arial" panose="020B0604020202020204" pitchFamily="34" charset="0"/>
              </a:defRPr>
            </a:lvl1pPr>
            <a:lvl2pPr marL="228586" eaLnBrk="0" fontAlgn="base" hangingPunct="0">
              <a:spcBef>
                <a:spcPct val="0"/>
              </a:spcBef>
              <a:spcAft>
                <a:spcPct val="0"/>
              </a:spcAft>
              <a:defRPr>
                <a:latin typeface="Arial" pitchFamily="2" charset="77"/>
              </a:defRPr>
            </a:lvl2pPr>
            <a:lvl3pPr marL="457172" eaLnBrk="0" fontAlgn="base" hangingPunct="0">
              <a:spcBef>
                <a:spcPct val="0"/>
              </a:spcBef>
              <a:spcAft>
                <a:spcPct val="0"/>
              </a:spcAft>
              <a:defRPr>
                <a:latin typeface="Arial" pitchFamily="2" charset="77"/>
              </a:defRPr>
            </a:lvl3pPr>
            <a:lvl4pPr marL="685757" eaLnBrk="0" fontAlgn="base" hangingPunct="0">
              <a:spcBef>
                <a:spcPct val="0"/>
              </a:spcBef>
              <a:spcAft>
                <a:spcPct val="0"/>
              </a:spcAft>
              <a:defRPr>
                <a:latin typeface="Arial" pitchFamily="2" charset="77"/>
              </a:defRPr>
            </a:lvl4pPr>
            <a:lvl5pPr marL="914343" eaLnBrk="0" fontAlgn="base" hangingPunct="0">
              <a:spcBef>
                <a:spcPct val="0"/>
              </a:spcBef>
              <a:spcAft>
                <a:spcPct val="0"/>
              </a:spcAft>
              <a:defRPr>
                <a:latin typeface="Arial" pitchFamily="2" charset="77"/>
              </a:defRPr>
            </a:lvl5pPr>
            <a:lvl6pPr marL="1142929" defTabSz="457172">
              <a:defRPr>
                <a:latin typeface="Arial" pitchFamily="2" charset="77"/>
              </a:defRPr>
            </a:lvl6pPr>
            <a:lvl7pPr marL="1371515" defTabSz="457172">
              <a:defRPr>
                <a:latin typeface="Arial" pitchFamily="2" charset="77"/>
              </a:defRPr>
            </a:lvl7pPr>
            <a:lvl8pPr marL="1600100" defTabSz="457172">
              <a:defRPr>
                <a:latin typeface="Arial" pitchFamily="2" charset="77"/>
              </a:defRPr>
            </a:lvl8pPr>
            <a:lvl9pPr marL="1828686" defTabSz="457172">
              <a:defRPr>
                <a:latin typeface="Arial" pitchFamily="2" charset="77"/>
              </a:defRPr>
            </a:lvl9pPr>
          </a:lstStyle>
          <a:p>
            <a:r>
              <a:rPr lang="en-US" noProof="0"/>
              <a:t>Seven principles guide the Target Operating Model — each answers one of the 8 structural issues and is grounded in prior NTT work with Avangrid</a:t>
            </a:r>
          </a:p>
        </p:txBody>
      </p:sp>
      <p:sp>
        <p:nvSpPr>
          <p:cNvPr id="65" name="TextBox 30">
            <a:extLst>
              <a:ext uri="{FF2B5EF4-FFF2-40B4-BE49-F238E27FC236}">
                <a16:creationId xmlns:a16="http://schemas.microsoft.com/office/drawing/2014/main" id="{8A6AD0C2-E436-2F7C-7587-EE505DBFEEDB}"/>
              </a:ext>
            </a:extLst>
          </p:cNvPr>
          <p:cNvSpPr txBox="1"/>
          <p:nvPr/>
        </p:nvSpPr>
        <p:spPr>
          <a:xfrm>
            <a:off x="6732200" y="3010768"/>
            <a:ext cx="6537890" cy="187424"/>
          </a:xfrm>
          <a:prstGeom prst="rect">
            <a:avLst/>
          </a:prstGeom>
          <a:noFill/>
        </p:spPr>
        <p:txBody>
          <a:bodyPr wrap="square" lIns="0" tIns="0" rIns="0" bIns="0" anchor="t">
            <a:spAutoFit/>
          </a:bodyPr>
          <a:lstStyle>
            <a:defPPr>
              <a:defRPr lang="en-US"/>
            </a:defPPr>
            <a:lvl1pPr>
              <a:lnSpc>
                <a:spcPct val="110000"/>
              </a:lnSpc>
              <a:spcBef>
                <a:spcPts val="0"/>
              </a:spcBef>
              <a:spcAft>
                <a:spcPts val="0"/>
              </a:spcAft>
              <a:defRPr sz="1200" b="1" i="0">
                <a:solidFill>
                  <a:srgbClr val="3B7D23"/>
                </a:solidFill>
                <a:latin typeface="Arial" panose="020B0604020202020204" pitchFamily="34" charset="0"/>
                <a:cs typeface="Arial" panose="020B0604020202020204" pitchFamily="34" charset="0"/>
              </a:defRPr>
            </a:lvl1pPr>
          </a:lstStyle>
          <a:p>
            <a:r>
              <a:rPr lang="en-US" noProof="0"/>
              <a:t>Standard Taxonomy &amp; Demand Classification</a:t>
            </a:r>
          </a:p>
        </p:txBody>
      </p:sp>
      <p:sp>
        <p:nvSpPr>
          <p:cNvPr id="58" name="Rectangle 57">
            <a:extLst>
              <a:ext uri="{FF2B5EF4-FFF2-40B4-BE49-F238E27FC236}">
                <a16:creationId xmlns:a16="http://schemas.microsoft.com/office/drawing/2014/main" id="{11B04C39-4431-413C-F6C3-BBBC09DD95FF}"/>
              </a:ext>
            </a:extLst>
          </p:cNvPr>
          <p:cNvSpPr/>
          <p:nvPr/>
        </p:nvSpPr>
        <p:spPr>
          <a:xfrm>
            <a:off x="5977128" y="4307853"/>
            <a:ext cx="5742432" cy="1135887"/>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 name="Rectangle 3"/>
          <p:cNvSpPr/>
          <p:nvPr/>
        </p:nvSpPr>
        <p:spPr>
          <a:xfrm>
            <a:off x="250793" y="1528578"/>
            <a:ext cx="5444710" cy="105435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 name="Rectangle 4"/>
          <p:cNvSpPr/>
          <p:nvPr/>
        </p:nvSpPr>
        <p:spPr>
          <a:xfrm>
            <a:off x="250793" y="1528578"/>
            <a:ext cx="5444710" cy="48813"/>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7" name="TextBox 6"/>
          <p:cNvSpPr txBox="1"/>
          <p:nvPr/>
        </p:nvSpPr>
        <p:spPr>
          <a:xfrm>
            <a:off x="965345" y="1585477"/>
            <a:ext cx="4480560" cy="187424"/>
          </a:xfrm>
          <a:prstGeom prst="rect">
            <a:avLst/>
          </a:prstGeom>
          <a:noFill/>
        </p:spPr>
        <p:txBody>
          <a:bodyPr wrap="square" lIns="0" tIns="0" rIns="0" bIns="0" anchor="t">
            <a:spAutoFit/>
          </a:bodyPr>
          <a:lstStyle>
            <a:defPPr>
              <a:defRPr lang="en-US"/>
            </a:defPPr>
            <a:lvl1pPr>
              <a:lnSpc>
                <a:spcPct val="110000"/>
              </a:lnSpc>
              <a:spcBef>
                <a:spcPts val="0"/>
              </a:spcBef>
              <a:spcAft>
                <a:spcPts val="0"/>
              </a:spcAft>
              <a:defRPr sz="1200" b="1" i="0">
                <a:solidFill>
                  <a:srgbClr val="3B7D23"/>
                </a:solidFill>
                <a:latin typeface="Arial" panose="020B0604020202020204" pitchFamily="34" charset="0"/>
                <a:cs typeface="Arial" panose="020B0604020202020204" pitchFamily="34" charset="0"/>
              </a:defRPr>
            </a:lvl1pPr>
          </a:lstStyle>
          <a:p>
            <a:r>
              <a:rPr lang="en-US" noProof="0"/>
              <a:t>Product-Aligned unique Intake Layer</a:t>
            </a:r>
          </a:p>
        </p:txBody>
      </p:sp>
      <p:sp>
        <p:nvSpPr>
          <p:cNvPr id="9" name="Rectangle 8"/>
          <p:cNvSpPr/>
          <p:nvPr/>
        </p:nvSpPr>
        <p:spPr>
          <a:xfrm>
            <a:off x="267376" y="2666265"/>
            <a:ext cx="5444710" cy="105435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0" name="Rectangle 9"/>
          <p:cNvSpPr/>
          <p:nvPr/>
        </p:nvSpPr>
        <p:spPr>
          <a:xfrm>
            <a:off x="267376" y="2646135"/>
            <a:ext cx="5444710" cy="48813"/>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 name="Rectangle 13"/>
          <p:cNvSpPr/>
          <p:nvPr/>
        </p:nvSpPr>
        <p:spPr>
          <a:xfrm>
            <a:off x="267376" y="3818250"/>
            <a:ext cx="5444710" cy="105435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5" name="Rectangle 14"/>
          <p:cNvSpPr/>
          <p:nvPr/>
        </p:nvSpPr>
        <p:spPr>
          <a:xfrm>
            <a:off x="267376" y="3818250"/>
            <a:ext cx="5444710" cy="48813"/>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9" name="Rectangle 18"/>
          <p:cNvSpPr/>
          <p:nvPr/>
        </p:nvSpPr>
        <p:spPr>
          <a:xfrm>
            <a:off x="267376" y="5102436"/>
            <a:ext cx="5444710" cy="105435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0" name="Rectangle 19"/>
          <p:cNvSpPr/>
          <p:nvPr/>
        </p:nvSpPr>
        <p:spPr>
          <a:xfrm>
            <a:off x="267376" y="5102436"/>
            <a:ext cx="5444710" cy="48813"/>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4" name="Rectangle 23"/>
          <p:cNvSpPr/>
          <p:nvPr/>
        </p:nvSpPr>
        <p:spPr>
          <a:xfrm>
            <a:off x="5988938" y="1497520"/>
            <a:ext cx="5742432" cy="1296254"/>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5" name="Rectangle 24"/>
          <p:cNvSpPr/>
          <p:nvPr/>
        </p:nvSpPr>
        <p:spPr>
          <a:xfrm>
            <a:off x="5967019" y="1519167"/>
            <a:ext cx="5752541" cy="48813"/>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9" name="Rectangle 28"/>
          <p:cNvSpPr/>
          <p:nvPr/>
        </p:nvSpPr>
        <p:spPr>
          <a:xfrm>
            <a:off x="5977128" y="2917318"/>
            <a:ext cx="5742432" cy="1227624"/>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0" name="Rectangle 29"/>
          <p:cNvSpPr/>
          <p:nvPr/>
        </p:nvSpPr>
        <p:spPr>
          <a:xfrm>
            <a:off x="5967019" y="2917318"/>
            <a:ext cx="5752541" cy="48813"/>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5" name="CuadroTexto 34">
            <a:extLst>
              <a:ext uri="{FF2B5EF4-FFF2-40B4-BE49-F238E27FC236}">
                <a16:creationId xmlns:a16="http://schemas.microsoft.com/office/drawing/2014/main" id="{9449CB93-A589-5B05-CD4F-5A3673ADFCAB}"/>
              </a:ext>
            </a:extLst>
          </p:cNvPr>
          <p:cNvSpPr txBox="1"/>
          <p:nvPr/>
        </p:nvSpPr>
        <p:spPr>
          <a:xfrm>
            <a:off x="978536" y="1786380"/>
            <a:ext cx="4788000" cy="830997"/>
          </a:xfrm>
          <a:prstGeom prst="rect">
            <a:avLst/>
          </a:prstGeom>
          <a:noFill/>
        </p:spPr>
        <p:txBody>
          <a:bodyPr wrap="square">
            <a:spAutoFit/>
          </a:bodyPr>
          <a:lstStyle/>
          <a:p>
            <a:pPr>
              <a:buNone/>
            </a:pPr>
            <a:r>
              <a:rPr lang="en-US" sz="800" noProof="0">
                <a:latin typeface="Arial" panose="020B0604020202020204" pitchFamily="34" charset="0"/>
                <a:cs typeface="Arial" panose="020B0604020202020204" pitchFamily="34" charset="0"/>
              </a:rPr>
              <a:t>Demand should be routed through a unified intake model aligned to products or value streams, ensuring consistency and traceability.</a:t>
            </a:r>
          </a:p>
          <a:p>
            <a:pPr marL="171450" indent="-171450">
              <a:buFont typeface="Arial" panose="020B0604020202020204" pitchFamily="34" charset="0"/>
              <a:buChar char="•"/>
            </a:pPr>
            <a:r>
              <a:rPr lang="en-US" sz="800" noProof="0">
                <a:latin typeface="Arial" panose="020B0604020202020204" pitchFamily="34" charset="0"/>
                <a:cs typeface="Arial" panose="020B0604020202020204" pitchFamily="34" charset="0"/>
              </a:rPr>
              <a:t>Single front door per product/value stream </a:t>
            </a:r>
          </a:p>
          <a:p>
            <a:pPr marL="171450" indent="-171450">
              <a:buFont typeface="Arial" panose="020B0604020202020204" pitchFamily="34" charset="0"/>
              <a:buChar char="•"/>
            </a:pPr>
            <a:r>
              <a:rPr lang="en-US" sz="800" noProof="0">
                <a:latin typeface="Arial" panose="020B0604020202020204" pitchFamily="34" charset="0"/>
                <a:cs typeface="Arial" panose="020B0604020202020204" pitchFamily="34" charset="0"/>
              </a:rPr>
              <a:t>Standard intake criteria and required data inputs </a:t>
            </a:r>
          </a:p>
          <a:p>
            <a:pPr marL="171450" indent="-171450">
              <a:buFont typeface="Arial" panose="020B0604020202020204" pitchFamily="34" charset="0"/>
              <a:buChar char="•"/>
            </a:pPr>
            <a:r>
              <a:rPr lang="en-US" sz="800" noProof="0">
                <a:latin typeface="Arial" panose="020B0604020202020204" pitchFamily="34" charset="0"/>
                <a:cs typeface="Arial" panose="020B0604020202020204" pitchFamily="34" charset="0"/>
              </a:rPr>
              <a:t>Defined ownership for demand triage and routing </a:t>
            </a:r>
          </a:p>
          <a:p>
            <a:pPr marL="171450" indent="-171450">
              <a:buFont typeface="Arial" panose="020B0604020202020204" pitchFamily="34" charset="0"/>
              <a:buChar char="•"/>
            </a:pPr>
            <a:r>
              <a:rPr lang="en-US" sz="800" noProof="0">
                <a:latin typeface="Arial" panose="020B0604020202020204" pitchFamily="34" charset="0"/>
                <a:cs typeface="Arial" panose="020B0604020202020204" pitchFamily="34" charset="0"/>
              </a:rPr>
              <a:t>Full visibility of demand within product backlogs</a:t>
            </a:r>
          </a:p>
        </p:txBody>
      </p:sp>
      <p:sp>
        <p:nvSpPr>
          <p:cNvPr id="61" name="TextBox 10">
            <a:extLst>
              <a:ext uri="{FF2B5EF4-FFF2-40B4-BE49-F238E27FC236}">
                <a16:creationId xmlns:a16="http://schemas.microsoft.com/office/drawing/2014/main" id="{3CA04D60-99DC-3B38-645A-4161413A10DF}"/>
              </a:ext>
            </a:extLst>
          </p:cNvPr>
          <p:cNvSpPr txBox="1"/>
          <p:nvPr/>
        </p:nvSpPr>
        <p:spPr>
          <a:xfrm>
            <a:off x="993554" y="2789771"/>
            <a:ext cx="6537890" cy="187424"/>
          </a:xfrm>
          <a:prstGeom prst="rect">
            <a:avLst/>
          </a:prstGeom>
          <a:noFill/>
        </p:spPr>
        <p:txBody>
          <a:bodyPr wrap="square" lIns="0" tIns="0" rIns="0" bIns="0" anchor="t">
            <a:spAutoFit/>
          </a:bodyPr>
          <a:lstStyle>
            <a:defPPr>
              <a:defRPr lang="en-US"/>
            </a:defPPr>
            <a:lvl1pPr>
              <a:lnSpc>
                <a:spcPct val="110000"/>
              </a:lnSpc>
              <a:spcBef>
                <a:spcPts val="0"/>
              </a:spcBef>
              <a:spcAft>
                <a:spcPts val="0"/>
              </a:spcAft>
              <a:defRPr sz="1200" b="1" i="0">
                <a:solidFill>
                  <a:srgbClr val="3B7D23"/>
                </a:solidFill>
                <a:latin typeface="Arial" panose="020B0604020202020204" pitchFamily="34" charset="0"/>
                <a:cs typeface="Arial" panose="020B0604020202020204" pitchFamily="34" charset="0"/>
              </a:defRPr>
            </a:lvl1pPr>
          </a:lstStyle>
          <a:p>
            <a:r>
              <a:rPr lang="en-US" noProof="0"/>
              <a:t>Value-Based Prioritization Framework</a:t>
            </a:r>
          </a:p>
        </p:txBody>
      </p:sp>
      <p:sp>
        <p:nvSpPr>
          <p:cNvPr id="62" name="TextBox 15">
            <a:extLst>
              <a:ext uri="{FF2B5EF4-FFF2-40B4-BE49-F238E27FC236}">
                <a16:creationId xmlns:a16="http://schemas.microsoft.com/office/drawing/2014/main" id="{322973BB-C497-01D3-C204-9EE66918281B}"/>
              </a:ext>
            </a:extLst>
          </p:cNvPr>
          <p:cNvSpPr txBox="1"/>
          <p:nvPr/>
        </p:nvSpPr>
        <p:spPr>
          <a:xfrm>
            <a:off x="978536" y="4015556"/>
            <a:ext cx="4467369" cy="187424"/>
          </a:xfrm>
          <a:prstGeom prst="rect">
            <a:avLst/>
          </a:prstGeom>
          <a:noFill/>
        </p:spPr>
        <p:txBody>
          <a:bodyPr wrap="square" lIns="0" tIns="0" rIns="0" bIns="0" anchor="t">
            <a:spAutoFit/>
          </a:bodyPr>
          <a:lstStyle>
            <a:defPPr>
              <a:defRPr lang="en-US"/>
            </a:defPPr>
            <a:lvl1pPr>
              <a:lnSpc>
                <a:spcPct val="110000"/>
              </a:lnSpc>
              <a:spcBef>
                <a:spcPts val="0"/>
              </a:spcBef>
              <a:spcAft>
                <a:spcPts val="0"/>
              </a:spcAft>
              <a:defRPr sz="1200" b="1" i="0">
                <a:solidFill>
                  <a:srgbClr val="3B7D23"/>
                </a:solidFill>
                <a:latin typeface="Arial" panose="020B0604020202020204" pitchFamily="34" charset="0"/>
                <a:cs typeface="Arial" panose="020B0604020202020204" pitchFamily="34" charset="0"/>
              </a:defRPr>
            </a:lvl1pPr>
          </a:lstStyle>
          <a:p>
            <a:r>
              <a:rPr lang="en-US" noProof="0"/>
              <a:t>End-to-End Product Portfolio Visibility</a:t>
            </a:r>
          </a:p>
        </p:txBody>
      </p:sp>
      <p:sp>
        <p:nvSpPr>
          <p:cNvPr id="63" name="TextBox 20">
            <a:extLst>
              <a:ext uri="{FF2B5EF4-FFF2-40B4-BE49-F238E27FC236}">
                <a16:creationId xmlns:a16="http://schemas.microsoft.com/office/drawing/2014/main" id="{E0BD28E9-7278-4BA2-0AC8-9B749E55A636}"/>
              </a:ext>
            </a:extLst>
          </p:cNvPr>
          <p:cNvSpPr txBox="1"/>
          <p:nvPr/>
        </p:nvSpPr>
        <p:spPr>
          <a:xfrm>
            <a:off x="970755" y="5267797"/>
            <a:ext cx="6537890" cy="187424"/>
          </a:xfrm>
          <a:prstGeom prst="rect">
            <a:avLst/>
          </a:prstGeom>
          <a:noFill/>
        </p:spPr>
        <p:txBody>
          <a:bodyPr wrap="square" lIns="0" tIns="0" rIns="0" bIns="0" anchor="t">
            <a:spAutoFit/>
          </a:bodyPr>
          <a:lstStyle>
            <a:defPPr>
              <a:defRPr lang="en-US"/>
            </a:defPPr>
            <a:lvl1pPr>
              <a:lnSpc>
                <a:spcPct val="110000"/>
              </a:lnSpc>
              <a:spcBef>
                <a:spcPts val="0"/>
              </a:spcBef>
              <a:spcAft>
                <a:spcPts val="0"/>
              </a:spcAft>
              <a:defRPr sz="1200" b="1" i="0">
                <a:solidFill>
                  <a:srgbClr val="3B7D23"/>
                </a:solidFill>
                <a:latin typeface="Arial" panose="020B0604020202020204" pitchFamily="34" charset="0"/>
                <a:cs typeface="Arial" panose="020B0604020202020204" pitchFamily="34" charset="0"/>
              </a:defRPr>
            </a:lvl1pPr>
          </a:lstStyle>
          <a:p>
            <a:r>
              <a:rPr lang="en-US" noProof="0"/>
              <a:t>Clear Ownership of Outcomes</a:t>
            </a:r>
          </a:p>
        </p:txBody>
      </p:sp>
      <p:sp>
        <p:nvSpPr>
          <p:cNvPr id="68" name="CuadroTexto 67">
            <a:extLst>
              <a:ext uri="{FF2B5EF4-FFF2-40B4-BE49-F238E27FC236}">
                <a16:creationId xmlns:a16="http://schemas.microsoft.com/office/drawing/2014/main" id="{6D17CEC9-5F86-B605-CF2D-843421E27C69}"/>
              </a:ext>
            </a:extLst>
          </p:cNvPr>
          <p:cNvSpPr txBox="1"/>
          <p:nvPr/>
        </p:nvSpPr>
        <p:spPr>
          <a:xfrm>
            <a:off x="978536" y="2963474"/>
            <a:ext cx="4788000" cy="830997"/>
          </a:xfrm>
          <a:prstGeom prst="rect">
            <a:avLst/>
          </a:prstGeom>
          <a:noFill/>
        </p:spPr>
        <p:txBody>
          <a:bodyPr wrap="square">
            <a:spAutoFit/>
          </a:bodyPr>
          <a:lstStyle>
            <a:defPPr>
              <a:defRPr lang="en-US"/>
            </a:defPPr>
            <a:lvl1pPr>
              <a:buNone/>
              <a:defRPr sz="800"/>
            </a:lvl1pPr>
          </a:lstStyle>
          <a:p>
            <a:r>
              <a:rPr lang="en-US" noProof="0">
                <a:latin typeface="Arial" panose="020B0604020202020204" pitchFamily="34" charset="0"/>
                <a:cs typeface="Arial" panose="020B0604020202020204" pitchFamily="34" charset="0"/>
              </a:rPr>
              <a:t>Prioritization should be driven by a standardized scoring model aligned to business value and product strategy.</a:t>
            </a:r>
          </a:p>
          <a:p>
            <a:pPr marL="171450" indent="-171450">
              <a:buFont typeface="Arial" panose="020B0604020202020204" pitchFamily="34" charset="0"/>
              <a:buChar char="•"/>
            </a:pPr>
            <a:r>
              <a:rPr lang="en-US" noProof="0">
                <a:latin typeface="Arial" panose="020B0604020202020204" pitchFamily="34" charset="0"/>
                <a:cs typeface="Arial" panose="020B0604020202020204" pitchFamily="34" charset="0"/>
              </a:rPr>
              <a:t>Common scoring criteria (value, risk, urgency, effort) </a:t>
            </a:r>
          </a:p>
          <a:p>
            <a:pPr marL="171450" indent="-171450">
              <a:buFont typeface="Arial" panose="020B0604020202020204" pitchFamily="34" charset="0"/>
              <a:buChar char="•"/>
            </a:pPr>
            <a:r>
              <a:rPr lang="en-US" noProof="0">
                <a:latin typeface="Arial" panose="020B0604020202020204" pitchFamily="34" charset="0"/>
                <a:cs typeface="Arial" panose="020B0604020202020204" pitchFamily="34" charset="0"/>
              </a:rPr>
              <a:t>Transparent prioritization across all demand types </a:t>
            </a:r>
          </a:p>
          <a:p>
            <a:pPr marL="171450" indent="-171450">
              <a:buFont typeface="Arial" panose="020B0604020202020204" pitchFamily="34" charset="0"/>
              <a:buChar char="•"/>
            </a:pPr>
            <a:r>
              <a:rPr lang="en-US" noProof="0">
                <a:latin typeface="Arial" panose="020B0604020202020204" pitchFamily="34" charset="0"/>
                <a:cs typeface="Arial" panose="020B0604020202020204" pitchFamily="34" charset="0"/>
              </a:rPr>
              <a:t>Product backlogs continuously ranked and refined </a:t>
            </a:r>
          </a:p>
          <a:p>
            <a:pPr marL="171450" indent="-171450">
              <a:buFont typeface="Arial" panose="020B0604020202020204" pitchFamily="34" charset="0"/>
              <a:buChar char="•"/>
            </a:pPr>
            <a:r>
              <a:rPr lang="en-US" noProof="0">
                <a:latin typeface="Arial" panose="020B0604020202020204" pitchFamily="34" charset="0"/>
                <a:cs typeface="Arial" panose="020B0604020202020204" pitchFamily="34" charset="0"/>
              </a:rPr>
              <a:t>Explicit trade-offs at product and portfolio level </a:t>
            </a:r>
          </a:p>
        </p:txBody>
      </p:sp>
      <p:sp>
        <p:nvSpPr>
          <p:cNvPr id="70" name="CuadroTexto 69">
            <a:extLst>
              <a:ext uri="{FF2B5EF4-FFF2-40B4-BE49-F238E27FC236}">
                <a16:creationId xmlns:a16="http://schemas.microsoft.com/office/drawing/2014/main" id="{08EC9D88-DCD1-458E-9E30-781929EE67EC}"/>
              </a:ext>
            </a:extLst>
          </p:cNvPr>
          <p:cNvSpPr txBox="1"/>
          <p:nvPr/>
        </p:nvSpPr>
        <p:spPr>
          <a:xfrm>
            <a:off x="978536" y="4209228"/>
            <a:ext cx="4788000" cy="830997"/>
          </a:xfrm>
          <a:prstGeom prst="rect">
            <a:avLst/>
          </a:prstGeom>
          <a:noFill/>
        </p:spPr>
        <p:txBody>
          <a:bodyPr wrap="square">
            <a:spAutoFit/>
          </a:bodyPr>
          <a:lstStyle/>
          <a:p>
            <a:pPr>
              <a:buNone/>
            </a:pPr>
            <a:r>
              <a:rPr lang="en-US" sz="800" noProof="0">
                <a:latin typeface="Arial" panose="020B0604020202020204" pitchFamily="34" charset="0"/>
                <a:cs typeface="Arial" panose="020B0604020202020204" pitchFamily="34" charset="0"/>
              </a:rPr>
              <a:t>A single source of truth should enable visibility across demand, capacity, and delivery for each product.</a:t>
            </a:r>
          </a:p>
          <a:p>
            <a:pPr marL="171450" indent="-171450">
              <a:buFont typeface="Arial" panose="020B0604020202020204" pitchFamily="34" charset="0"/>
              <a:buChar char="•"/>
            </a:pPr>
            <a:r>
              <a:rPr lang="en-US" sz="800" noProof="0">
                <a:latin typeface="Arial" panose="020B0604020202020204" pitchFamily="34" charset="0"/>
                <a:cs typeface="Arial" panose="020B0604020202020204" pitchFamily="34" charset="0"/>
              </a:rPr>
              <a:t>Integrated tooling for backlog, roadmap, and delivery tracking </a:t>
            </a:r>
          </a:p>
          <a:p>
            <a:pPr marL="171450" indent="-171450">
              <a:buFont typeface="Arial" panose="020B0604020202020204" pitchFamily="34" charset="0"/>
              <a:buChar char="•"/>
            </a:pPr>
            <a:r>
              <a:rPr lang="en-US" sz="800" noProof="0">
                <a:latin typeface="Arial" panose="020B0604020202020204" pitchFamily="34" charset="0"/>
                <a:cs typeface="Arial" panose="020B0604020202020204" pitchFamily="34" charset="0"/>
              </a:rPr>
              <a:t>Visibility into demand vs. capacity across teams </a:t>
            </a:r>
          </a:p>
          <a:p>
            <a:pPr marL="171450" indent="-171450">
              <a:buFont typeface="Arial" panose="020B0604020202020204" pitchFamily="34" charset="0"/>
              <a:buChar char="•"/>
            </a:pPr>
            <a:r>
              <a:rPr lang="en-US" sz="800" noProof="0">
                <a:latin typeface="Arial" panose="020B0604020202020204" pitchFamily="34" charset="0"/>
                <a:cs typeface="Arial" panose="020B0604020202020204" pitchFamily="34" charset="0"/>
              </a:rPr>
              <a:t>Product-level roadmaps replacing project tracking </a:t>
            </a:r>
          </a:p>
          <a:p>
            <a:pPr marL="171450" indent="-171450">
              <a:buFont typeface="Arial" panose="020B0604020202020204" pitchFamily="34" charset="0"/>
              <a:buChar char="•"/>
            </a:pPr>
            <a:r>
              <a:rPr lang="en-US" sz="800" noProof="0">
                <a:latin typeface="Arial" panose="020B0604020202020204" pitchFamily="34" charset="0"/>
                <a:cs typeface="Arial" panose="020B0604020202020204" pitchFamily="34" charset="0"/>
              </a:rPr>
              <a:t>Standardized reporting across all products</a:t>
            </a:r>
          </a:p>
        </p:txBody>
      </p:sp>
      <p:sp>
        <p:nvSpPr>
          <p:cNvPr id="72" name="CuadroTexto 71">
            <a:extLst>
              <a:ext uri="{FF2B5EF4-FFF2-40B4-BE49-F238E27FC236}">
                <a16:creationId xmlns:a16="http://schemas.microsoft.com/office/drawing/2014/main" id="{43E7B147-2503-9978-8007-487CDA2E1D8D}"/>
              </a:ext>
            </a:extLst>
          </p:cNvPr>
          <p:cNvSpPr txBox="1"/>
          <p:nvPr/>
        </p:nvSpPr>
        <p:spPr>
          <a:xfrm>
            <a:off x="978536" y="5444633"/>
            <a:ext cx="4788000" cy="830997"/>
          </a:xfrm>
          <a:prstGeom prst="rect">
            <a:avLst/>
          </a:prstGeom>
          <a:noFill/>
        </p:spPr>
        <p:txBody>
          <a:bodyPr wrap="square">
            <a:spAutoFit/>
          </a:bodyPr>
          <a:lstStyle/>
          <a:p>
            <a:pPr>
              <a:buNone/>
            </a:pPr>
            <a:r>
              <a:rPr lang="en-US" sz="800" noProof="0">
                <a:latin typeface="Arial" panose="020B0604020202020204" pitchFamily="34" charset="0"/>
                <a:cs typeface="Arial" panose="020B0604020202020204" pitchFamily="34" charset="0"/>
              </a:rPr>
              <a:t>Accountability should be defined at the product level, with clear roles responsible for outcomes, not just delivery.</a:t>
            </a:r>
          </a:p>
          <a:p>
            <a:pPr marL="171450" indent="-171450">
              <a:buFont typeface="Arial" panose="020B0604020202020204" pitchFamily="34" charset="0"/>
              <a:buChar char="•"/>
            </a:pPr>
            <a:r>
              <a:rPr lang="en-US" sz="800" noProof="0">
                <a:latin typeface="Arial" panose="020B0604020202020204" pitchFamily="34" charset="0"/>
                <a:cs typeface="Arial" panose="020B0604020202020204" pitchFamily="34" charset="0"/>
              </a:rPr>
              <a:t>Product Owner/Product Manager accountable for value delivery </a:t>
            </a:r>
          </a:p>
          <a:p>
            <a:pPr marL="171450" indent="-171450">
              <a:buFont typeface="Arial" panose="020B0604020202020204" pitchFamily="34" charset="0"/>
              <a:buChar char="•"/>
            </a:pPr>
            <a:r>
              <a:rPr lang="en-US" sz="800" noProof="0">
                <a:latin typeface="Arial" panose="020B0604020202020204" pitchFamily="34" charset="0"/>
                <a:cs typeface="Arial" panose="020B0604020202020204" pitchFamily="34" charset="0"/>
              </a:rPr>
              <a:t>Clear ownership of delivery, performance, and outcomes </a:t>
            </a:r>
          </a:p>
          <a:p>
            <a:pPr marL="171450" indent="-171450">
              <a:buFont typeface="Arial" panose="020B0604020202020204" pitchFamily="34" charset="0"/>
              <a:buChar char="•"/>
            </a:pPr>
            <a:r>
              <a:rPr lang="en-US" sz="800" noProof="0">
                <a:latin typeface="Arial" panose="020B0604020202020204" pitchFamily="34" charset="0"/>
                <a:cs typeface="Arial" panose="020B0604020202020204" pitchFamily="34" charset="0"/>
              </a:rPr>
              <a:t>Vendors managed against defined performance metrics </a:t>
            </a:r>
          </a:p>
          <a:p>
            <a:pPr marL="171450" indent="-171450">
              <a:buFont typeface="Arial" panose="020B0604020202020204" pitchFamily="34" charset="0"/>
              <a:buChar char="•"/>
            </a:pPr>
            <a:r>
              <a:rPr lang="en-US" sz="800" noProof="0">
                <a:latin typeface="Arial" panose="020B0604020202020204" pitchFamily="34" charset="0"/>
                <a:cs typeface="Arial" panose="020B0604020202020204" pitchFamily="34" charset="0"/>
              </a:rPr>
              <a:t>Structured escalation and decision ownership model</a:t>
            </a:r>
          </a:p>
        </p:txBody>
      </p:sp>
      <p:sp>
        <p:nvSpPr>
          <p:cNvPr id="74" name="CuadroTexto 73">
            <a:extLst>
              <a:ext uri="{FF2B5EF4-FFF2-40B4-BE49-F238E27FC236}">
                <a16:creationId xmlns:a16="http://schemas.microsoft.com/office/drawing/2014/main" id="{29FF8CD2-297B-2C5E-0F55-A591A91CC7C0}"/>
              </a:ext>
            </a:extLst>
          </p:cNvPr>
          <p:cNvSpPr txBox="1"/>
          <p:nvPr/>
        </p:nvSpPr>
        <p:spPr>
          <a:xfrm>
            <a:off x="6784506" y="1831684"/>
            <a:ext cx="4251970" cy="830997"/>
          </a:xfrm>
          <a:prstGeom prst="rect">
            <a:avLst/>
          </a:prstGeom>
          <a:noFill/>
        </p:spPr>
        <p:txBody>
          <a:bodyPr wrap="square">
            <a:spAutoFit/>
          </a:bodyPr>
          <a:lstStyle>
            <a:defPPr>
              <a:defRPr lang="en-US"/>
            </a:defPPr>
            <a:lvl1pPr>
              <a:buNone/>
              <a:defRPr sz="800"/>
            </a:lvl1pPr>
          </a:lstStyle>
          <a:p>
            <a:r>
              <a:rPr lang="en-US" noProof="0">
                <a:latin typeface="Arial" panose="020B0604020202020204" pitchFamily="34" charset="0"/>
                <a:cs typeface="Arial" panose="020B0604020202020204" pitchFamily="34" charset="0"/>
              </a:rPr>
              <a:t>Governance should be structured around products to enable consistent and timely decision-making.</a:t>
            </a:r>
          </a:p>
          <a:p>
            <a:pPr marL="171450" indent="-171450">
              <a:buFont typeface="Arial" panose="020B0604020202020204" pitchFamily="34" charset="0"/>
              <a:buChar char="•"/>
            </a:pPr>
            <a:r>
              <a:rPr lang="en-US" noProof="0">
                <a:latin typeface="Arial" panose="020B0604020202020204" pitchFamily="34" charset="0"/>
                <a:cs typeface="Arial" panose="020B0604020202020204" pitchFamily="34" charset="0"/>
              </a:rPr>
              <a:t>Regular product governance forums with defined cadence </a:t>
            </a:r>
          </a:p>
          <a:p>
            <a:pPr marL="171450" indent="-171450">
              <a:buFont typeface="Arial" panose="020B0604020202020204" pitchFamily="34" charset="0"/>
              <a:buChar char="•"/>
            </a:pPr>
            <a:r>
              <a:rPr lang="en-US" noProof="0">
                <a:latin typeface="Arial" panose="020B0604020202020204" pitchFamily="34" charset="0"/>
                <a:cs typeface="Arial" panose="020B0604020202020204" pitchFamily="34" charset="0"/>
              </a:rPr>
              <a:t>Clear decision rights for prioritization and scope </a:t>
            </a:r>
          </a:p>
          <a:p>
            <a:pPr marL="171450" indent="-171450">
              <a:buFont typeface="Arial" panose="020B0604020202020204" pitchFamily="34" charset="0"/>
              <a:buChar char="•"/>
            </a:pPr>
            <a:r>
              <a:rPr lang="en-US" noProof="0">
                <a:latin typeface="Arial" panose="020B0604020202020204" pitchFamily="34" charset="0"/>
                <a:cs typeface="Arial" panose="020B0604020202020204" pitchFamily="34" charset="0"/>
              </a:rPr>
              <a:t>Portfolio-level steering for cross-product alignment </a:t>
            </a:r>
          </a:p>
          <a:p>
            <a:pPr marL="171450" indent="-171450">
              <a:buFont typeface="Arial" panose="020B0604020202020204" pitchFamily="34" charset="0"/>
              <a:buChar char="•"/>
            </a:pPr>
            <a:r>
              <a:rPr lang="en-US" noProof="0">
                <a:latin typeface="Arial" panose="020B0604020202020204" pitchFamily="34" charset="0"/>
                <a:cs typeface="Arial" panose="020B0604020202020204" pitchFamily="34" charset="0"/>
              </a:rPr>
              <a:t>Performance reviews tied to product outcomes </a:t>
            </a:r>
          </a:p>
        </p:txBody>
      </p:sp>
      <p:sp>
        <p:nvSpPr>
          <p:cNvPr id="76" name="CuadroTexto 75">
            <a:extLst>
              <a:ext uri="{FF2B5EF4-FFF2-40B4-BE49-F238E27FC236}">
                <a16:creationId xmlns:a16="http://schemas.microsoft.com/office/drawing/2014/main" id="{319E237E-0222-729E-EA9D-D2B71282709E}"/>
              </a:ext>
            </a:extLst>
          </p:cNvPr>
          <p:cNvSpPr txBox="1"/>
          <p:nvPr/>
        </p:nvSpPr>
        <p:spPr>
          <a:xfrm>
            <a:off x="6759544" y="3280481"/>
            <a:ext cx="3865427" cy="830997"/>
          </a:xfrm>
          <a:prstGeom prst="rect">
            <a:avLst/>
          </a:prstGeom>
          <a:noFill/>
        </p:spPr>
        <p:txBody>
          <a:bodyPr wrap="square">
            <a:spAutoFit/>
          </a:bodyPr>
          <a:lstStyle>
            <a:defPPr>
              <a:defRPr lang="en-US"/>
            </a:defPPr>
            <a:lvl1pPr>
              <a:buNone/>
              <a:defRPr sz="800"/>
            </a:lvl1pPr>
          </a:lstStyle>
          <a:p>
            <a:r>
              <a:rPr lang="en-US" noProof="0">
                <a:latin typeface="Arial" panose="020B0604020202020204" pitchFamily="34" charset="0"/>
                <a:cs typeface="Arial" panose="020B0604020202020204" pitchFamily="34" charset="0"/>
              </a:rPr>
              <a:t>A shared taxonomy should enable consistent evaluation, prioritization, and planning of all demand.</a:t>
            </a:r>
          </a:p>
          <a:p>
            <a:r>
              <a:rPr lang="en-US" noProof="0">
                <a:latin typeface="Arial" panose="020B0604020202020204" pitchFamily="34" charset="0"/>
                <a:cs typeface="Arial" panose="020B0604020202020204" pitchFamily="34" charset="0"/>
              </a:rPr>
              <a:t>Standard definitions (size, complexity, demand type) </a:t>
            </a:r>
          </a:p>
          <a:p>
            <a:r>
              <a:rPr lang="en-US" noProof="0">
                <a:latin typeface="Arial" panose="020B0604020202020204" pitchFamily="34" charset="0"/>
                <a:cs typeface="Arial" panose="020B0604020202020204" pitchFamily="34" charset="0"/>
              </a:rPr>
              <a:t>Objective classification thresholds (effort, cost, impact) </a:t>
            </a:r>
          </a:p>
          <a:p>
            <a:r>
              <a:rPr lang="en-US" noProof="0">
                <a:latin typeface="Arial" panose="020B0604020202020204" pitchFamily="34" charset="0"/>
                <a:cs typeface="Arial" panose="020B0604020202020204" pitchFamily="34" charset="0"/>
              </a:rPr>
              <a:t>Consistent demand categorization across teams </a:t>
            </a:r>
          </a:p>
          <a:p>
            <a:r>
              <a:rPr lang="en-US" noProof="0">
                <a:latin typeface="Arial" panose="020B0604020202020204" pitchFamily="34" charset="0"/>
                <a:cs typeface="Arial" panose="020B0604020202020204" pitchFamily="34" charset="0"/>
              </a:rPr>
              <a:t>Foundation for scalable prioritization and reporting </a:t>
            </a:r>
          </a:p>
        </p:txBody>
      </p:sp>
      <p:sp>
        <p:nvSpPr>
          <p:cNvPr id="80" name="CuadroTexto 79">
            <a:extLst>
              <a:ext uri="{FF2B5EF4-FFF2-40B4-BE49-F238E27FC236}">
                <a16:creationId xmlns:a16="http://schemas.microsoft.com/office/drawing/2014/main" id="{F94C6F1A-4E9D-28DC-51A6-041BE1F67C83}"/>
              </a:ext>
            </a:extLst>
          </p:cNvPr>
          <p:cNvSpPr txBox="1"/>
          <p:nvPr/>
        </p:nvSpPr>
        <p:spPr>
          <a:xfrm>
            <a:off x="6744553" y="1624108"/>
            <a:ext cx="5137250" cy="187424"/>
          </a:xfrm>
          <a:prstGeom prst="rect">
            <a:avLst/>
          </a:prstGeom>
          <a:noFill/>
        </p:spPr>
        <p:txBody>
          <a:bodyPr wrap="square" lIns="0" tIns="0" rIns="0" bIns="0" anchor="t">
            <a:spAutoFit/>
          </a:bodyPr>
          <a:lstStyle>
            <a:defPPr>
              <a:defRPr lang="en-US"/>
            </a:defPPr>
            <a:lvl1pPr>
              <a:lnSpc>
                <a:spcPct val="110000"/>
              </a:lnSpc>
              <a:spcBef>
                <a:spcPts val="0"/>
              </a:spcBef>
              <a:spcAft>
                <a:spcPts val="0"/>
              </a:spcAft>
              <a:defRPr sz="1200" b="1" i="0">
                <a:solidFill>
                  <a:srgbClr val="3B7D23"/>
                </a:solidFill>
                <a:latin typeface="Arial" panose="020B0604020202020204" pitchFamily="34" charset="0"/>
                <a:cs typeface="Arial" panose="020B0604020202020204" pitchFamily="34" charset="0"/>
              </a:defRPr>
            </a:lvl1pPr>
          </a:lstStyle>
          <a:p>
            <a:r>
              <a:rPr lang="en-US" noProof="0"/>
              <a:t>Product-Level Governance &amp; Decisioning</a:t>
            </a:r>
          </a:p>
        </p:txBody>
      </p:sp>
      <p:sp>
        <p:nvSpPr>
          <p:cNvPr id="8" name="Rectangle 7">
            <a:extLst>
              <a:ext uri="{FF2B5EF4-FFF2-40B4-BE49-F238E27FC236}">
                <a16:creationId xmlns:a16="http://schemas.microsoft.com/office/drawing/2014/main" id="{2AA99208-8E64-F9EC-951A-F653057DF3D0}"/>
              </a:ext>
            </a:extLst>
          </p:cNvPr>
          <p:cNvSpPr/>
          <p:nvPr/>
        </p:nvSpPr>
        <p:spPr>
          <a:xfrm>
            <a:off x="259509" y="1598606"/>
            <a:ext cx="639986" cy="715140"/>
          </a:xfrm>
          <a:prstGeom prst="rect">
            <a:avLst/>
          </a:prstGeom>
          <a:solidFill>
            <a:srgbClr val="3B7D23"/>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5EFA34BC-C2E0-E4CE-8138-39073262F7D3}"/>
              </a:ext>
            </a:extLst>
          </p:cNvPr>
          <p:cNvSpPr txBox="1"/>
          <p:nvPr/>
        </p:nvSpPr>
        <p:spPr>
          <a:xfrm>
            <a:off x="404891" y="1813724"/>
            <a:ext cx="361177" cy="266712"/>
          </a:xfrm>
          <a:prstGeom prst="rect">
            <a:avLst/>
          </a:prstGeom>
          <a:noFill/>
        </p:spPr>
        <p:txBody>
          <a:bodyPr wrap="square" lIns="0" tIns="0" rIns="0" bIns="0" anchor="ctr">
            <a:spAutoFit/>
          </a:bodyPr>
          <a:lstStyle/>
          <a:p>
            <a:pPr algn="ctr">
              <a:lnSpc>
                <a:spcPct val="110000"/>
              </a:lnSpc>
              <a:spcBef>
                <a:spcPts val="0"/>
              </a:spcBef>
              <a:spcAft>
                <a:spcPts val="0"/>
              </a:spcAft>
            </a:pPr>
            <a:r>
              <a:rPr lang="en-US" sz="1600" b="1" i="0" noProof="0">
                <a:solidFill>
                  <a:srgbClr val="FFFFFF"/>
                </a:solidFill>
                <a:latin typeface="Arial" panose="020B0604020202020204" pitchFamily="34" charset="0"/>
                <a:cs typeface="Arial" panose="020B0604020202020204" pitchFamily="34" charset="0"/>
              </a:rPr>
              <a:t>01</a:t>
            </a:r>
          </a:p>
        </p:txBody>
      </p:sp>
      <p:sp>
        <p:nvSpPr>
          <p:cNvPr id="13" name="Rectangle 12">
            <a:extLst>
              <a:ext uri="{FF2B5EF4-FFF2-40B4-BE49-F238E27FC236}">
                <a16:creationId xmlns:a16="http://schemas.microsoft.com/office/drawing/2014/main" id="{FF7422CC-0EE3-E444-E87D-D150068AC6FC}"/>
              </a:ext>
            </a:extLst>
          </p:cNvPr>
          <p:cNvSpPr/>
          <p:nvPr/>
        </p:nvSpPr>
        <p:spPr>
          <a:xfrm>
            <a:off x="267375" y="2840305"/>
            <a:ext cx="639986" cy="715140"/>
          </a:xfrm>
          <a:prstGeom prst="rect">
            <a:avLst/>
          </a:prstGeom>
          <a:solidFill>
            <a:srgbClr val="3B7D23"/>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145A2A1B-FCC2-700D-E5E4-3DCDBEF3C638}"/>
              </a:ext>
            </a:extLst>
          </p:cNvPr>
          <p:cNvSpPr txBox="1"/>
          <p:nvPr/>
        </p:nvSpPr>
        <p:spPr>
          <a:xfrm>
            <a:off x="412757" y="3055422"/>
            <a:ext cx="361177" cy="266712"/>
          </a:xfrm>
          <a:prstGeom prst="rect">
            <a:avLst/>
          </a:prstGeom>
          <a:noFill/>
        </p:spPr>
        <p:txBody>
          <a:bodyPr wrap="square" lIns="0" tIns="0" rIns="0" bIns="0" anchor="ctr">
            <a:spAutoFit/>
          </a:bodyPr>
          <a:lstStyle/>
          <a:p>
            <a:pPr algn="ctr">
              <a:lnSpc>
                <a:spcPct val="110000"/>
              </a:lnSpc>
              <a:spcBef>
                <a:spcPts val="0"/>
              </a:spcBef>
              <a:spcAft>
                <a:spcPts val="0"/>
              </a:spcAft>
            </a:pPr>
            <a:r>
              <a:rPr lang="en-US" sz="1600" b="1" i="0" noProof="0">
                <a:solidFill>
                  <a:srgbClr val="FFFFFF"/>
                </a:solidFill>
                <a:latin typeface="Arial" panose="020B0604020202020204" pitchFamily="34" charset="0"/>
                <a:cs typeface="Arial" panose="020B0604020202020204" pitchFamily="34" charset="0"/>
              </a:rPr>
              <a:t>02</a:t>
            </a:r>
          </a:p>
        </p:txBody>
      </p:sp>
      <p:sp>
        <p:nvSpPr>
          <p:cNvPr id="18" name="Rectangle 17">
            <a:extLst>
              <a:ext uri="{FF2B5EF4-FFF2-40B4-BE49-F238E27FC236}">
                <a16:creationId xmlns:a16="http://schemas.microsoft.com/office/drawing/2014/main" id="{84862AAE-B5B8-8982-B513-696A47E70C22}"/>
              </a:ext>
            </a:extLst>
          </p:cNvPr>
          <p:cNvSpPr/>
          <p:nvPr/>
        </p:nvSpPr>
        <p:spPr>
          <a:xfrm>
            <a:off x="267375" y="4019188"/>
            <a:ext cx="639986" cy="715140"/>
          </a:xfrm>
          <a:prstGeom prst="rect">
            <a:avLst/>
          </a:prstGeom>
          <a:solidFill>
            <a:srgbClr val="3B7D23"/>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2" name="TextBox 21">
            <a:extLst>
              <a:ext uri="{FF2B5EF4-FFF2-40B4-BE49-F238E27FC236}">
                <a16:creationId xmlns:a16="http://schemas.microsoft.com/office/drawing/2014/main" id="{959DB38A-F115-0188-1ECC-3136050D43EB}"/>
              </a:ext>
            </a:extLst>
          </p:cNvPr>
          <p:cNvSpPr txBox="1"/>
          <p:nvPr/>
        </p:nvSpPr>
        <p:spPr>
          <a:xfrm>
            <a:off x="412757" y="4242755"/>
            <a:ext cx="361177" cy="249812"/>
          </a:xfrm>
          <a:prstGeom prst="rect">
            <a:avLst/>
          </a:prstGeom>
          <a:noFill/>
        </p:spPr>
        <p:txBody>
          <a:bodyPr wrap="square" lIns="0" tIns="0" rIns="0" bIns="0" anchor="ctr">
            <a:spAutoFit/>
          </a:bodyPr>
          <a:lstStyle/>
          <a:p>
            <a:pPr algn="ctr">
              <a:lnSpc>
                <a:spcPct val="110000"/>
              </a:lnSpc>
              <a:spcBef>
                <a:spcPts val="0"/>
              </a:spcBef>
              <a:spcAft>
                <a:spcPts val="0"/>
              </a:spcAft>
            </a:pPr>
            <a:r>
              <a:rPr lang="en-US" sz="1600" b="1" noProof="0">
                <a:solidFill>
                  <a:srgbClr val="FFFFFF"/>
                </a:solidFill>
                <a:latin typeface="Arial" panose="020B0604020202020204" pitchFamily="34" charset="0"/>
                <a:cs typeface="Arial" panose="020B0604020202020204" pitchFamily="34" charset="0"/>
              </a:rPr>
              <a:t>03</a:t>
            </a:r>
            <a:endParaRPr lang="en-US" sz="1600" b="1" i="0" noProof="0">
              <a:solidFill>
                <a:srgbClr val="FFFFFF"/>
              </a:solidFill>
              <a:latin typeface="Arial" panose="020B0604020202020204" pitchFamily="34" charset="0"/>
              <a:cs typeface="Arial" panose="020B0604020202020204" pitchFamily="34" charset="0"/>
            </a:endParaRPr>
          </a:p>
        </p:txBody>
      </p:sp>
      <p:sp>
        <p:nvSpPr>
          <p:cNvPr id="23" name="Rectangle 22">
            <a:extLst>
              <a:ext uri="{FF2B5EF4-FFF2-40B4-BE49-F238E27FC236}">
                <a16:creationId xmlns:a16="http://schemas.microsoft.com/office/drawing/2014/main" id="{28C7A782-E8E6-5A4A-AC91-86A0EE84962D}"/>
              </a:ext>
            </a:extLst>
          </p:cNvPr>
          <p:cNvSpPr/>
          <p:nvPr/>
        </p:nvSpPr>
        <p:spPr>
          <a:xfrm>
            <a:off x="259509" y="5293759"/>
            <a:ext cx="639986" cy="715140"/>
          </a:xfrm>
          <a:prstGeom prst="rect">
            <a:avLst/>
          </a:prstGeom>
          <a:solidFill>
            <a:srgbClr val="3B7D23"/>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7" name="TextBox 26">
            <a:extLst>
              <a:ext uri="{FF2B5EF4-FFF2-40B4-BE49-F238E27FC236}">
                <a16:creationId xmlns:a16="http://schemas.microsoft.com/office/drawing/2014/main" id="{5319895E-3306-2DAC-B642-5E76934CC4A0}"/>
              </a:ext>
            </a:extLst>
          </p:cNvPr>
          <p:cNvSpPr txBox="1"/>
          <p:nvPr/>
        </p:nvSpPr>
        <p:spPr>
          <a:xfrm>
            <a:off x="404891" y="5508877"/>
            <a:ext cx="361177" cy="266712"/>
          </a:xfrm>
          <a:prstGeom prst="rect">
            <a:avLst/>
          </a:prstGeom>
          <a:noFill/>
        </p:spPr>
        <p:txBody>
          <a:bodyPr wrap="square" lIns="0" tIns="0" rIns="0" bIns="0" anchor="ctr">
            <a:spAutoFit/>
          </a:bodyPr>
          <a:lstStyle/>
          <a:p>
            <a:pPr algn="ctr">
              <a:lnSpc>
                <a:spcPct val="110000"/>
              </a:lnSpc>
              <a:spcBef>
                <a:spcPts val="0"/>
              </a:spcBef>
              <a:spcAft>
                <a:spcPts val="0"/>
              </a:spcAft>
            </a:pPr>
            <a:r>
              <a:rPr lang="en-US" sz="1600" b="1" i="0" noProof="0">
                <a:solidFill>
                  <a:srgbClr val="FFFFFF"/>
                </a:solidFill>
                <a:latin typeface="Arial" panose="020B0604020202020204" pitchFamily="34" charset="0"/>
                <a:cs typeface="Arial" panose="020B0604020202020204" pitchFamily="34" charset="0"/>
              </a:rPr>
              <a:t>04</a:t>
            </a:r>
          </a:p>
        </p:txBody>
      </p:sp>
      <p:sp>
        <p:nvSpPr>
          <p:cNvPr id="33" name="Rectangle 32">
            <a:extLst>
              <a:ext uri="{FF2B5EF4-FFF2-40B4-BE49-F238E27FC236}">
                <a16:creationId xmlns:a16="http://schemas.microsoft.com/office/drawing/2014/main" id="{BFBBA0B6-A050-2298-6B2D-E8475C341087}"/>
              </a:ext>
            </a:extLst>
          </p:cNvPr>
          <p:cNvSpPr/>
          <p:nvPr/>
        </p:nvSpPr>
        <p:spPr>
          <a:xfrm>
            <a:off x="6013178" y="1615470"/>
            <a:ext cx="639986" cy="715140"/>
          </a:xfrm>
          <a:prstGeom prst="rect">
            <a:avLst/>
          </a:prstGeom>
          <a:solidFill>
            <a:srgbClr val="3B7D23"/>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4" name="TextBox 33">
            <a:extLst>
              <a:ext uri="{FF2B5EF4-FFF2-40B4-BE49-F238E27FC236}">
                <a16:creationId xmlns:a16="http://schemas.microsoft.com/office/drawing/2014/main" id="{181AD33A-85FB-24BF-E878-3A754F48CA52}"/>
              </a:ext>
            </a:extLst>
          </p:cNvPr>
          <p:cNvSpPr txBox="1"/>
          <p:nvPr/>
        </p:nvSpPr>
        <p:spPr>
          <a:xfrm>
            <a:off x="6158560" y="1830587"/>
            <a:ext cx="361177" cy="266712"/>
          </a:xfrm>
          <a:prstGeom prst="rect">
            <a:avLst/>
          </a:prstGeom>
          <a:noFill/>
        </p:spPr>
        <p:txBody>
          <a:bodyPr wrap="square" lIns="0" tIns="0" rIns="0" bIns="0" anchor="ctr">
            <a:spAutoFit/>
          </a:bodyPr>
          <a:lstStyle/>
          <a:p>
            <a:pPr algn="ctr">
              <a:lnSpc>
                <a:spcPct val="110000"/>
              </a:lnSpc>
              <a:spcBef>
                <a:spcPts val="0"/>
              </a:spcBef>
              <a:spcAft>
                <a:spcPts val="0"/>
              </a:spcAft>
            </a:pPr>
            <a:r>
              <a:rPr lang="en-US" sz="1600" b="1" i="0" noProof="0">
                <a:solidFill>
                  <a:srgbClr val="FFFFFF"/>
                </a:solidFill>
                <a:latin typeface="Arial" panose="020B0604020202020204" pitchFamily="34" charset="0"/>
                <a:cs typeface="Arial" panose="020B0604020202020204" pitchFamily="34" charset="0"/>
              </a:rPr>
              <a:t>05</a:t>
            </a:r>
          </a:p>
        </p:txBody>
      </p:sp>
      <p:sp>
        <p:nvSpPr>
          <p:cNvPr id="38" name="Rectangle 37">
            <a:extLst>
              <a:ext uri="{FF2B5EF4-FFF2-40B4-BE49-F238E27FC236}">
                <a16:creationId xmlns:a16="http://schemas.microsoft.com/office/drawing/2014/main" id="{CEB256DE-127B-7346-C3CF-621ACF3F826D}"/>
              </a:ext>
            </a:extLst>
          </p:cNvPr>
          <p:cNvSpPr/>
          <p:nvPr/>
        </p:nvSpPr>
        <p:spPr>
          <a:xfrm>
            <a:off x="6021044" y="3088092"/>
            <a:ext cx="639986" cy="715140"/>
          </a:xfrm>
          <a:prstGeom prst="rect">
            <a:avLst/>
          </a:prstGeom>
          <a:solidFill>
            <a:srgbClr val="3B7D23"/>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 name="TextBox 40">
            <a:extLst>
              <a:ext uri="{FF2B5EF4-FFF2-40B4-BE49-F238E27FC236}">
                <a16:creationId xmlns:a16="http://schemas.microsoft.com/office/drawing/2014/main" id="{876F39A8-2C32-D79C-C776-CA9D5B0BB94D}"/>
              </a:ext>
            </a:extLst>
          </p:cNvPr>
          <p:cNvSpPr txBox="1"/>
          <p:nvPr/>
        </p:nvSpPr>
        <p:spPr>
          <a:xfrm>
            <a:off x="6166426" y="3303209"/>
            <a:ext cx="361177" cy="266712"/>
          </a:xfrm>
          <a:prstGeom prst="rect">
            <a:avLst/>
          </a:prstGeom>
          <a:noFill/>
        </p:spPr>
        <p:txBody>
          <a:bodyPr wrap="square" lIns="0" tIns="0" rIns="0" bIns="0" anchor="ctr">
            <a:spAutoFit/>
          </a:bodyPr>
          <a:lstStyle/>
          <a:p>
            <a:pPr algn="ctr">
              <a:lnSpc>
                <a:spcPct val="110000"/>
              </a:lnSpc>
              <a:spcBef>
                <a:spcPts val="0"/>
              </a:spcBef>
              <a:spcAft>
                <a:spcPts val="0"/>
              </a:spcAft>
            </a:pPr>
            <a:r>
              <a:rPr lang="en-US" sz="1600" b="1" i="0" noProof="0">
                <a:solidFill>
                  <a:srgbClr val="FFFFFF"/>
                </a:solidFill>
                <a:latin typeface="Arial" panose="020B0604020202020204" pitchFamily="34" charset="0"/>
                <a:cs typeface="Arial" panose="020B0604020202020204" pitchFamily="34" charset="0"/>
              </a:rPr>
              <a:t>06</a:t>
            </a:r>
          </a:p>
        </p:txBody>
      </p:sp>
      <p:sp>
        <p:nvSpPr>
          <p:cNvPr id="50" name="CuadroTexto 77">
            <a:extLst>
              <a:ext uri="{FF2B5EF4-FFF2-40B4-BE49-F238E27FC236}">
                <a16:creationId xmlns:a16="http://schemas.microsoft.com/office/drawing/2014/main" id="{338DFF30-9E85-E51D-A6D1-8895C1A3028F}"/>
              </a:ext>
            </a:extLst>
          </p:cNvPr>
          <p:cNvSpPr txBox="1"/>
          <p:nvPr/>
        </p:nvSpPr>
        <p:spPr>
          <a:xfrm>
            <a:off x="6732200" y="4574343"/>
            <a:ext cx="3194568" cy="830997"/>
          </a:xfrm>
          <a:prstGeom prst="rect">
            <a:avLst/>
          </a:prstGeom>
          <a:noFill/>
        </p:spPr>
        <p:txBody>
          <a:bodyPr wrap="square">
            <a:spAutoFit/>
          </a:bodyPr>
          <a:lstStyle/>
          <a:p>
            <a:pPr>
              <a:buNone/>
            </a:pPr>
            <a:r>
              <a:rPr lang="en-US" sz="800" noProof="0">
                <a:latin typeface="Arial" panose="020B0604020202020204" pitchFamily="34" charset="0"/>
                <a:cs typeface="Arial" panose="020B0604020202020204" pitchFamily="34" charset="0"/>
              </a:rPr>
              <a:t>Teams and work should be organized around products or value streams rather than projects.</a:t>
            </a:r>
          </a:p>
          <a:p>
            <a:pPr marL="171450" indent="-171450">
              <a:buFont typeface="Arial" panose="020B0604020202020204" pitchFamily="34" charset="0"/>
              <a:buChar char="•"/>
            </a:pPr>
            <a:r>
              <a:rPr lang="en-US" sz="800" noProof="0">
                <a:latin typeface="Arial" panose="020B0604020202020204" pitchFamily="34" charset="0"/>
                <a:cs typeface="Arial" panose="020B0604020202020204" pitchFamily="34" charset="0"/>
              </a:rPr>
              <a:t>Stable, cross-functional product teams </a:t>
            </a:r>
          </a:p>
          <a:p>
            <a:pPr marL="171450" indent="-171450">
              <a:buFont typeface="Arial" panose="020B0604020202020204" pitchFamily="34" charset="0"/>
              <a:buChar char="•"/>
            </a:pPr>
            <a:r>
              <a:rPr lang="en-US" sz="800" noProof="0">
                <a:latin typeface="Arial" panose="020B0604020202020204" pitchFamily="34" charset="0"/>
                <a:cs typeface="Arial" panose="020B0604020202020204" pitchFamily="34" charset="0"/>
              </a:rPr>
              <a:t>Capacity and funding aligned to products </a:t>
            </a:r>
          </a:p>
          <a:p>
            <a:pPr marL="171450" indent="-171450">
              <a:buFont typeface="Arial" panose="020B0604020202020204" pitchFamily="34" charset="0"/>
              <a:buChar char="•"/>
            </a:pPr>
            <a:r>
              <a:rPr lang="en-US" sz="800" noProof="0">
                <a:latin typeface="Arial" panose="020B0604020202020204" pitchFamily="34" charset="0"/>
                <a:cs typeface="Arial" panose="020B0604020202020204" pitchFamily="34" charset="0"/>
              </a:rPr>
              <a:t>Roadmaps linked to business OKRs </a:t>
            </a:r>
          </a:p>
          <a:p>
            <a:pPr marL="171450" indent="-171450">
              <a:buFont typeface="Arial" panose="020B0604020202020204" pitchFamily="34" charset="0"/>
              <a:buChar char="•"/>
            </a:pPr>
            <a:r>
              <a:rPr lang="en-US" sz="800" noProof="0">
                <a:latin typeface="Arial" panose="020B0604020202020204" pitchFamily="34" charset="0"/>
                <a:cs typeface="Arial" panose="020B0604020202020204" pitchFamily="34" charset="0"/>
              </a:rPr>
              <a:t>Continuous delivery model replacing project-based execution</a:t>
            </a:r>
          </a:p>
        </p:txBody>
      </p:sp>
      <p:sp>
        <p:nvSpPr>
          <p:cNvPr id="51" name="Rectangle 50">
            <a:extLst>
              <a:ext uri="{FF2B5EF4-FFF2-40B4-BE49-F238E27FC236}">
                <a16:creationId xmlns:a16="http://schemas.microsoft.com/office/drawing/2014/main" id="{A2715A97-1F1A-1289-4950-D22DB110139A}"/>
              </a:ext>
            </a:extLst>
          </p:cNvPr>
          <p:cNvSpPr/>
          <p:nvPr/>
        </p:nvSpPr>
        <p:spPr>
          <a:xfrm>
            <a:off x="6013178" y="4458784"/>
            <a:ext cx="639986" cy="715140"/>
          </a:xfrm>
          <a:prstGeom prst="rect">
            <a:avLst/>
          </a:prstGeom>
          <a:solidFill>
            <a:srgbClr val="3B7D23"/>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2" name="TextBox 51">
            <a:extLst>
              <a:ext uri="{FF2B5EF4-FFF2-40B4-BE49-F238E27FC236}">
                <a16:creationId xmlns:a16="http://schemas.microsoft.com/office/drawing/2014/main" id="{072C95C6-1C52-0E8D-EEE7-FFDBDF60B524}"/>
              </a:ext>
            </a:extLst>
          </p:cNvPr>
          <p:cNvSpPr txBox="1"/>
          <p:nvPr/>
        </p:nvSpPr>
        <p:spPr>
          <a:xfrm>
            <a:off x="6158560" y="4673901"/>
            <a:ext cx="361177" cy="266712"/>
          </a:xfrm>
          <a:prstGeom prst="rect">
            <a:avLst/>
          </a:prstGeom>
          <a:noFill/>
        </p:spPr>
        <p:txBody>
          <a:bodyPr wrap="square" lIns="0" tIns="0" rIns="0" bIns="0" anchor="ctr">
            <a:spAutoFit/>
          </a:bodyPr>
          <a:lstStyle/>
          <a:p>
            <a:pPr algn="ctr">
              <a:lnSpc>
                <a:spcPct val="110000"/>
              </a:lnSpc>
              <a:spcBef>
                <a:spcPts val="0"/>
              </a:spcBef>
              <a:spcAft>
                <a:spcPts val="0"/>
              </a:spcAft>
            </a:pPr>
            <a:r>
              <a:rPr lang="en-US" sz="1600" b="1" i="0" noProof="0">
                <a:solidFill>
                  <a:srgbClr val="FFFFFF"/>
                </a:solidFill>
                <a:latin typeface="Arial" panose="020B0604020202020204" pitchFamily="34" charset="0"/>
                <a:cs typeface="Arial" panose="020B0604020202020204" pitchFamily="34" charset="0"/>
              </a:rPr>
              <a:t>07</a:t>
            </a:r>
          </a:p>
        </p:txBody>
      </p:sp>
      <p:sp>
        <p:nvSpPr>
          <p:cNvPr id="64" name="Rectangle 34">
            <a:extLst>
              <a:ext uri="{FF2B5EF4-FFF2-40B4-BE49-F238E27FC236}">
                <a16:creationId xmlns:a16="http://schemas.microsoft.com/office/drawing/2014/main" id="{3F38D8D0-20FD-46D2-3E9A-66F6C157089C}"/>
              </a:ext>
            </a:extLst>
          </p:cNvPr>
          <p:cNvSpPr/>
          <p:nvPr/>
        </p:nvSpPr>
        <p:spPr>
          <a:xfrm>
            <a:off x="5933108" y="4274179"/>
            <a:ext cx="5752541" cy="48813"/>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9" name="TextBox 35">
            <a:extLst>
              <a:ext uri="{FF2B5EF4-FFF2-40B4-BE49-F238E27FC236}">
                <a16:creationId xmlns:a16="http://schemas.microsoft.com/office/drawing/2014/main" id="{2DEB1E24-AE63-22D7-148F-EA73A45E7A38}"/>
              </a:ext>
            </a:extLst>
          </p:cNvPr>
          <p:cNvSpPr txBox="1"/>
          <p:nvPr/>
        </p:nvSpPr>
        <p:spPr>
          <a:xfrm>
            <a:off x="6759544" y="4377187"/>
            <a:ext cx="6537890" cy="187424"/>
          </a:xfrm>
          <a:prstGeom prst="rect">
            <a:avLst/>
          </a:prstGeom>
          <a:noFill/>
        </p:spPr>
        <p:txBody>
          <a:bodyPr wrap="square" lIns="0" tIns="0" rIns="0" bIns="0" anchor="t">
            <a:spAutoFit/>
          </a:bodyPr>
          <a:lstStyle>
            <a:defPPr>
              <a:defRPr lang="en-US"/>
            </a:defPPr>
            <a:lvl1pPr>
              <a:lnSpc>
                <a:spcPct val="110000"/>
              </a:lnSpc>
              <a:spcBef>
                <a:spcPts val="0"/>
              </a:spcBef>
              <a:spcAft>
                <a:spcPts val="0"/>
              </a:spcAft>
              <a:defRPr sz="1200" b="1" i="0">
                <a:solidFill>
                  <a:srgbClr val="3B7D23"/>
                </a:solidFill>
                <a:latin typeface="Arial" panose="020B0604020202020204" pitchFamily="34" charset="0"/>
                <a:cs typeface="Arial" panose="020B0604020202020204" pitchFamily="34" charset="0"/>
              </a:defRPr>
            </a:lvl1pPr>
          </a:lstStyle>
          <a:p>
            <a:r>
              <a:rPr lang="en-US" noProof="0"/>
              <a:t>Product-Based Operating Model Structure</a:t>
            </a:r>
          </a:p>
        </p:txBody>
      </p:sp>
      <p:sp>
        <p:nvSpPr>
          <p:cNvPr id="6" name="TextBox 35">
            <a:extLst>
              <a:ext uri="{FF2B5EF4-FFF2-40B4-BE49-F238E27FC236}">
                <a16:creationId xmlns:a16="http://schemas.microsoft.com/office/drawing/2014/main" id="{1E8A18F7-D07D-2921-CBD4-9CC65CD14DDB}"/>
              </a:ext>
            </a:extLst>
          </p:cNvPr>
          <p:cNvSpPr txBox="1"/>
          <p:nvPr/>
        </p:nvSpPr>
        <p:spPr>
          <a:xfrm>
            <a:off x="6759544" y="3076707"/>
            <a:ext cx="6537890" cy="187424"/>
          </a:xfrm>
          <a:prstGeom prst="rect">
            <a:avLst/>
          </a:prstGeom>
          <a:noFill/>
        </p:spPr>
        <p:txBody>
          <a:bodyPr wrap="square" lIns="0" tIns="0" rIns="0" bIns="0" anchor="t">
            <a:spAutoFit/>
          </a:bodyPr>
          <a:lstStyle>
            <a:defPPr>
              <a:defRPr lang="en-US"/>
            </a:defPPr>
            <a:lvl1pPr>
              <a:lnSpc>
                <a:spcPct val="110000"/>
              </a:lnSpc>
              <a:spcBef>
                <a:spcPts val="0"/>
              </a:spcBef>
              <a:spcAft>
                <a:spcPts val="0"/>
              </a:spcAft>
              <a:defRPr sz="1200" b="1" i="0">
                <a:solidFill>
                  <a:srgbClr val="3B7D23"/>
                </a:solidFill>
                <a:latin typeface="Arial" panose="020B0604020202020204" pitchFamily="34" charset="0"/>
                <a:cs typeface="Arial" panose="020B0604020202020204" pitchFamily="34" charset="0"/>
              </a:defRPr>
            </a:lvl1pPr>
          </a:lstStyle>
          <a:p>
            <a:r>
              <a:rPr lang="en-US" noProof="0"/>
              <a:t>Standard Taxonomy &amp; Demand Classification</a:t>
            </a:r>
          </a:p>
        </p:txBody>
      </p:sp>
    </p:spTree>
  </p:cSld>
  <p:clrMapOvr>
    <a:masterClrMapping/>
  </p:clrMapOvr>
  <p:extLst>
    <p:ext uri="{6950BFC3-D8DA-4A85-94F7-54DA5524770B}">
      <p188:commentRel xmlns:p188="http://schemas.microsoft.com/office/powerpoint/2018/8/main" r:id="rId3"/>
    </p:ext>
  </p:extLst>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CBD0B74-574D-B231-87C8-89EA9835DB12}"/>
            </a:ext>
          </a:extLst>
        </p:cNvPr>
        <p:cNvGrpSpPr/>
        <p:nvPr/>
      </p:nvGrpSpPr>
      <p:grpSpPr>
        <a:xfrm>
          <a:off x="0" y="0"/>
          <a:ext cx="0" cy="0"/>
          <a:chOff x="0" y="0"/>
          <a:chExt cx="0" cy="0"/>
        </a:xfrm>
      </p:grpSpPr>
      <p:sp>
        <p:nvSpPr>
          <p:cNvPr id="15" name="Arc 125">
            <a:extLst>
              <a:ext uri="{FF2B5EF4-FFF2-40B4-BE49-F238E27FC236}">
                <a16:creationId xmlns:a16="http://schemas.microsoft.com/office/drawing/2014/main" id="{18CC949D-A23F-701C-3D00-291587F68D58}"/>
              </a:ext>
            </a:extLst>
          </p:cNvPr>
          <p:cNvSpPr>
            <a:spLocks noChangeAspect="1"/>
          </p:cNvSpPr>
          <p:nvPr/>
        </p:nvSpPr>
        <p:spPr>
          <a:xfrm>
            <a:off x="3736597" y="2518038"/>
            <a:ext cx="4621810" cy="4621810"/>
          </a:xfrm>
          <a:prstGeom prst="arc">
            <a:avLst>
              <a:gd name="adj1" fmla="val 6938162"/>
              <a:gd name="adj2" fmla="val 3832306"/>
            </a:avLst>
          </a:prstGeom>
          <a:ln w="19050">
            <a:solidFill>
              <a:srgbClr val="2C578B"/>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a:p>
        </p:txBody>
      </p:sp>
      <p:sp>
        <p:nvSpPr>
          <p:cNvPr id="16" name="CuadroTexto 15">
            <a:extLst>
              <a:ext uri="{FF2B5EF4-FFF2-40B4-BE49-F238E27FC236}">
                <a16:creationId xmlns:a16="http://schemas.microsoft.com/office/drawing/2014/main" id="{170D495D-4128-AAD6-7AB0-E3493E52B6AA}"/>
              </a:ext>
            </a:extLst>
          </p:cNvPr>
          <p:cNvSpPr txBox="1"/>
          <p:nvPr/>
        </p:nvSpPr>
        <p:spPr>
          <a:xfrm>
            <a:off x="212709" y="920682"/>
            <a:ext cx="11766582" cy="430887"/>
          </a:xfrm>
          <a:prstGeom prst="rect">
            <a:avLst/>
          </a:prstGeom>
          <a:noFill/>
        </p:spPr>
        <p:txBody>
          <a:bodyPr wrap="square" lIns="0" tIns="0" rIns="0" bIns="0" rtlCol="0">
            <a:noAutofit/>
          </a:bodyPr>
          <a:lstStyle>
            <a:defPPr>
              <a:defRPr lang="en-US"/>
            </a:defPPr>
            <a:lvl1pPr marR="0" lvl="0" indent="0" algn="just" fontAlgn="auto">
              <a:lnSpc>
                <a:spcPct val="100000"/>
              </a:lnSpc>
              <a:spcBef>
                <a:spcPts val="0"/>
              </a:spcBef>
              <a:spcAft>
                <a:spcPts val="0"/>
              </a:spcAft>
              <a:buClrTx/>
              <a:buSzTx/>
              <a:buFontTx/>
              <a:buNone/>
              <a:tabLst/>
              <a:defRPr kumimoji="0" sz="1400" b="1" i="0" u="none" strike="noStrike" cap="none" spc="0" normalizeH="0" baseline="0">
                <a:ln>
                  <a:noFill/>
                </a:ln>
                <a:solidFill>
                  <a:srgbClr val="0F9ED5">
                    <a:lumMod val="75000"/>
                  </a:srgbClr>
                </a:solidFill>
                <a:effectLst/>
                <a:uLnTx/>
                <a:uFillTx/>
                <a:latin typeface="Arial" panose="020B0604020202020204" pitchFamily="34" charset="0"/>
                <a:cs typeface="Arial" panose="020B0604020202020204" pitchFamily="34" charset="0"/>
              </a:defRPr>
            </a:lvl1pPr>
            <a:lvl2pPr marL="228586" eaLnBrk="0" fontAlgn="base" hangingPunct="0">
              <a:spcBef>
                <a:spcPct val="0"/>
              </a:spcBef>
              <a:spcAft>
                <a:spcPct val="0"/>
              </a:spcAft>
              <a:defRPr>
                <a:latin typeface="Arial" pitchFamily="2" charset="77"/>
              </a:defRPr>
            </a:lvl2pPr>
            <a:lvl3pPr marL="457172" eaLnBrk="0" fontAlgn="base" hangingPunct="0">
              <a:spcBef>
                <a:spcPct val="0"/>
              </a:spcBef>
              <a:spcAft>
                <a:spcPct val="0"/>
              </a:spcAft>
              <a:defRPr>
                <a:latin typeface="Arial" pitchFamily="2" charset="77"/>
              </a:defRPr>
            </a:lvl3pPr>
            <a:lvl4pPr marL="685757" eaLnBrk="0" fontAlgn="base" hangingPunct="0">
              <a:spcBef>
                <a:spcPct val="0"/>
              </a:spcBef>
              <a:spcAft>
                <a:spcPct val="0"/>
              </a:spcAft>
              <a:defRPr>
                <a:latin typeface="Arial" pitchFamily="2" charset="77"/>
              </a:defRPr>
            </a:lvl4pPr>
            <a:lvl5pPr marL="914343" eaLnBrk="0" fontAlgn="base" hangingPunct="0">
              <a:spcBef>
                <a:spcPct val="0"/>
              </a:spcBef>
              <a:spcAft>
                <a:spcPct val="0"/>
              </a:spcAft>
              <a:defRPr>
                <a:latin typeface="Arial" pitchFamily="2" charset="77"/>
              </a:defRPr>
            </a:lvl5pPr>
            <a:lvl6pPr marL="1142929" defTabSz="457172">
              <a:defRPr>
                <a:latin typeface="Arial" pitchFamily="2" charset="77"/>
              </a:defRPr>
            </a:lvl6pPr>
            <a:lvl7pPr marL="1371515" defTabSz="457172">
              <a:defRPr>
                <a:latin typeface="Arial" pitchFamily="2" charset="77"/>
              </a:defRPr>
            </a:lvl7pPr>
            <a:lvl8pPr marL="1600100" defTabSz="457172">
              <a:defRPr>
                <a:latin typeface="Arial" pitchFamily="2" charset="77"/>
              </a:defRPr>
            </a:lvl8pPr>
            <a:lvl9pPr marL="1828686" defTabSz="457172">
              <a:defRPr>
                <a:latin typeface="Arial" pitchFamily="2" charset="77"/>
              </a:defRPr>
            </a:lvl9pPr>
          </a:lstStyle>
          <a:p>
            <a:r>
              <a:rPr lang="en-US" noProof="0"/>
              <a:t>Our assessment highlights opportunities to strengthen alignment, governance, and prioritization to enable a more scalable and sustainable TO‑BE operating model.</a:t>
            </a:r>
          </a:p>
        </p:txBody>
      </p:sp>
      <p:sp>
        <p:nvSpPr>
          <p:cNvPr id="60" name="Título 2">
            <a:extLst>
              <a:ext uri="{FF2B5EF4-FFF2-40B4-BE49-F238E27FC236}">
                <a16:creationId xmlns:a16="http://schemas.microsoft.com/office/drawing/2014/main" id="{DB42C0B1-7ECF-AF99-DBA4-82A5A66589DF}"/>
              </a:ext>
            </a:extLst>
          </p:cNvPr>
          <p:cNvSpPr txBox="1">
            <a:spLocks/>
          </p:cNvSpPr>
          <p:nvPr/>
        </p:nvSpPr>
        <p:spPr>
          <a:xfrm>
            <a:off x="180918" y="127319"/>
            <a:ext cx="7801032" cy="514011"/>
          </a:xfrm>
          <a:prstGeom prst="rect">
            <a:avLst/>
          </a:prstGeom>
        </p:spPr>
        <p:txBody>
          <a:bodyPr anchor="ctr">
            <a:noAutofit/>
          </a:bodyPr>
          <a:lstStyle>
            <a:defPPr>
              <a:defRPr lang="en-US"/>
            </a:defPPr>
            <a:lvl1pPr marR="0" lvl="0" indent="0" fontAlgn="auto">
              <a:lnSpc>
                <a:spcPct val="90000"/>
              </a:lnSpc>
              <a:spcBef>
                <a:spcPct val="0"/>
              </a:spcBef>
              <a:spcAft>
                <a:spcPts val="0"/>
              </a:spcAft>
              <a:buClrTx/>
              <a:buSzTx/>
              <a:buFontTx/>
              <a:buNone/>
              <a:tabLst/>
              <a:defRPr kumimoji="0" sz="2400" b="1" i="0" u="none" strike="noStrike" cap="none" spc="0" normalizeH="0" baseline="0">
                <a:ln>
                  <a:noFill/>
                </a:ln>
                <a:solidFill>
                  <a:prstClr val="white"/>
                </a:solidFill>
                <a:effectLst/>
                <a:uLnTx/>
                <a:uFillTx/>
                <a:latin typeface="Arial" panose="020B0604020202020204" pitchFamily="34" charset="0"/>
                <a:ea typeface="+mj-ea"/>
                <a:cs typeface="Arial" panose="020B0604020202020204" pitchFamily="34" charset="0"/>
              </a:defRPr>
            </a:lvl1pPr>
          </a:lstStyle>
          <a:p>
            <a:r>
              <a:rPr lang="en-US" noProof="0">
                <a:sym typeface="Gordita"/>
              </a:rPr>
              <a:t>INSIGHTS &amp; KEY DEFINITIONS FOR TO-BE MODEL</a:t>
            </a:r>
          </a:p>
        </p:txBody>
      </p:sp>
      <p:sp>
        <p:nvSpPr>
          <p:cNvPr id="17" name="TextBox 126">
            <a:extLst>
              <a:ext uri="{FF2B5EF4-FFF2-40B4-BE49-F238E27FC236}">
                <a16:creationId xmlns:a16="http://schemas.microsoft.com/office/drawing/2014/main" id="{50CB44AA-7052-4987-3126-1FDE3A304A2D}"/>
              </a:ext>
            </a:extLst>
          </p:cNvPr>
          <p:cNvSpPr txBox="1"/>
          <p:nvPr/>
        </p:nvSpPr>
        <p:spPr>
          <a:xfrm>
            <a:off x="454971" y="4667779"/>
            <a:ext cx="2812566" cy="1322863"/>
          </a:xfrm>
          <a:prstGeom prst="rect">
            <a:avLst/>
          </a:prstGeom>
          <a:noFill/>
        </p:spPr>
        <p:txBody>
          <a:bodyPr wrap="square" lIns="0" tIns="0" rIns="0" bIns="0" anchor="t">
            <a:spAutoFit/>
          </a:bodyPr>
          <a:lstStyle>
            <a:defPPr>
              <a:defRPr lang="en-US"/>
            </a:defPPr>
            <a:lvl1pPr>
              <a:lnSpc>
                <a:spcPct val="110000"/>
              </a:lnSpc>
              <a:spcBef>
                <a:spcPts val="0"/>
              </a:spcBef>
              <a:spcAft>
                <a:spcPts val="0"/>
              </a:spcAft>
              <a:defRPr sz="1200" b="1" i="0" u="sng">
                <a:solidFill>
                  <a:srgbClr val="2C3E50"/>
                </a:solidFill>
                <a:latin typeface="Arial" panose="020B0604020202020204" pitchFamily="34" charset="0"/>
                <a:cs typeface="Arial" panose="020B0604020202020204" pitchFamily="34" charset="0"/>
              </a:defRPr>
            </a:lvl1pPr>
          </a:lstStyle>
          <a:p>
            <a:pPr algn="ctr"/>
            <a:r>
              <a:rPr lang="en-US" noProof="0"/>
              <a:t>CURRENT OPERATING CONSTRAINTS</a:t>
            </a:r>
          </a:p>
          <a:p>
            <a:r>
              <a:rPr lang="en-US" sz="1100" u="none" noProof="0"/>
              <a:t>Fragmented ownership</a:t>
            </a:r>
            <a:r>
              <a:rPr lang="en-US" sz="1100" b="0" u="none" noProof="0"/>
              <a:t>, limited capacity visibility, and inconsistent execution reduce alignment and efficiency. </a:t>
            </a:r>
            <a:r>
              <a:rPr lang="en-US" sz="1100" u="none" noProof="0"/>
              <a:t>Governance and tools lack the transparency</a:t>
            </a:r>
            <a:r>
              <a:rPr lang="en-US" sz="1100" b="0" u="none" noProof="0"/>
              <a:t> required to manage a growing portfolio effectively.</a:t>
            </a:r>
          </a:p>
        </p:txBody>
      </p:sp>
      <p:sp>
        <p:nvSpPr>
          <p:cNvPr id="43" name="TextBox 173">
            <a:extLst>
              <a:ext uri="{FF2B5EF4-FFF2-40B4-BE49-F238E27FC236}">
                <a16:creationId xmlns:a16="http://schemas.microsoft.com/office/drawing/2014/main" id="{EC34AC06-CA26-1395-AEEA-F860D92B7735}"/>
              </a:ext>
            </a:extLst>
          </p:cNvPr>
          <p:cNvSpPr txBox="1"/>
          <p:nvPr/>
        </p:nvSpPr>
        <p:spPr>
          <a:xfrm>
            <a:off x="8358407" y="1938543"/>
            <a:ext cx="2725419" cy="1305935"/>
          </a:xfrm>
          <a:prstGeom prst="rect">
            <a:avLst/>
          </a:prstGeom>
          <a:noFill/>
        </p:spPr>
        <p:txBody>
          <a:bodyPr wrap="square" lIns="0" tIns="0" rIns="0" bIns="0" anchor="t">
            <a:spAutoFit/>
          </a:bodyPr>
          <a:lstStyle>
            <a:defPPr>
              <a:defRPr lang="en-US"/>
            </a:defPPr>
            <a:lvl1pPr algn="ctr">
              <a:lnSpc>
                <a:spcPct val="110000"/>
              </a:lnSpc>
              <a:spcBef>
                <a:spcPts val="0"/>
              </a:spcBef>
              <a:spcAft>
                <a:spcPts val="0"/>
              </a:spcAft>
              <a:defRPr sz="1100" b="1" i="0">
                <a:solidFill>
                  <a:srgbClr val="2C3E50"/>
                </a:solidFill>
                <a:latin typeface="Arial" panose="020B0604020202020204" pitchFamily="34" charset="0"/>
                <a:cs typeface="Arial" panose="020B0604020202020204" pitchFamily="34" charset="0"/>
              </a:defRPr>
            </a:lvl1pPr>
          </a:lstStyle>
          <a:p>
            <a:r>
              <a:rPr lang="en-US" sz="1200" u="sng" noProof="0"/>
              <a:t>SYSTEMIC GAPS</a:t>
            </a:r>
          </a:p>
          <a:p>
            <a:pPr algn="l"/>
            <a:r>
              <a:rPr lang="en-US" b="0" noProof="0"/>
              <a:t>Foundational elements for </a:t>
            </a:r>
            <a:r>
              <a:rPr lang="en-US" noProof="0"/>
              <a:t>scale are not yet in place</a:t>
            </a:r>
            <a:r>
              <a:rPr lang="en-US" b="0" noProof="0"/>
              <a:t>, including a unified prioritization model, common taxonomy, and clearly defined vendor governance. These gaps hinder standardization and evolution toward a mature product model.</a:t>
            </a:r>
          </a:p>
        </p:txBody>
      </p:sp>
      <p:sp>
        <p:nvSpPr>
          <p:cNvPr id="45" name="TextBox 175">
            <a:extLst>
              <a:ext uri="{FF2B5EF4-FFF2-40B4-BE49-F238E27FC236}">
                <a16:creationId xmlns:a16="http://schemas.microsoft.com/office/drawing/2014/main" id="{6930B3E3-DA16-9319-4D8B-BC0F1CC6A7D2}"/>
              </a:ext>
            </a:extLst>
          </p:cNvPr>
          <p:cNvSpPr txBox="1"/>
          <p:nvPr/>
        </p:nvSpPr>
        <p:spPr>
          <a:xfrm>
            <a:off x="8821500" y="4667779"/>
            <a:ext cx="2887749" cy="1509067"/>
          </a:xfrm>
          <a:prstGeom prst="rect">
            <a:avLst/>
          </a:prstGeom>
          <a:noFill/>
        </p:spPr>
        <p:txBody>
          <a:bodyPr wrap="square" lIns="0" tIns="0" rIns="0" bIns="0" anchor="t">
            <a:spAutoFit/>
          </a:bodyPr>
          <a:lstStyle>
            <a:defPPr>
              <a:defRPr lang="en-US"/>
            </a:defPPr>
            <a:lvl1pPr algn="ctr">
              <a:lnSpc>
                <a:spcPct val="110000"/>
              </a:lnSpc>
              <a:spcBef>
                <a:spcPts val="0"/>
              </a:spcBef>
              <a:spcAft>
                <a:spcPts val="0"/>
              </a:spcAft>
              <a:defRPr sz="1100" b="1" i="0">
                <a:solidFill>
                  <a:srgbClr val="2C3E50"/>
                </a:solidFill>
                <a:latin typeface="Arial" panose="020B0604020202020204" pitchFamily="34" charset="0"/>
                <a:cs typeface="Arial" panose="020B0604020202020204" pitchFamily="34" charset="0"/>
              </a:defRPr>
            </a:lvl1pPr>
          </a:lstStyle>
          <a:p>
            <a:r>
              <a:rPr lang="en-US" sz="1200" u="sng" noProof="0"/>
              <a:t>DELIVERY &amp; EXPERIENCE PAIN POINTS</a:t>
            </a:r>
          </a:p>
          <a:p>
            <a:pPr algn="l"/>
            <a:r>
              <a:rPr lang="en-US" b="0" noProof="0"/>
              <a:t>Fragmented intake and delivery drive duplication, inefficiencies, and limited portfolio visibility. Coordination challenges and capacity constraints affect predictability and overall service experience</a:t>
            </a:r>
            <a:br>
              <a:rPr lang="en-US" b="0" noProof="0"/>
            </a:br>
            <a:r>
              <a:rPr lang="en-US" b="0" noProof="0"/>
              <a:t>.</a:t>
            </a:r>
          </a:p>
        </p:txBody>
      </p:sp>
      <p:sp>
        <p:nvSpPr>
          <p:cNvPr id="2" name="TextBox 174">
            <a:extLst>
              <a:ext uri="{FF2B5EF4-FFF2-40B4-BE49-F238E27FC236}">
                <a16:creationId xmlns:a16="http://schemas.microsoft.com/office/drawing/2014/main" id="{508A267A-0DF2-B4F4-31AA-11033D87947B}"/>
              </a:ext>
            </a:extLst>
          </p:cNvPr>
          <p:cNvSpPr txBox="1"/>
          <p:nvPr/>
        </p:nvSpPr>
        <p:spPr>
          <a:xfrm>
            <a:off x="876026" y="1938543"/>
            <a:ext cx="3038319" cy="933525"/>
          </a:xfrm>
          <a:prstGeom prst="rect">
            <a:avLst/>
          </a:prstGeom>
          <a:noFill/>
        </p:spPr>
        <p:txBody>
          <a:bodyPr wrap="square" lIns="0" tIns="0" rIns="0" bIns="0" anchor="t">
            <a:spAutoFit/>
          </a:bodyPr>
          <a:lstStyle>
            <a:defPPr>
              <a:defRPr lang="en-US"/>
            </a:defPPr>
            <a:lvl1pPr algn="ctr">
              <a:lnSpc>
                <a:spcPct val="110000"/>
              </a:lnSpc>
              <a:spcBef>
                <a:spcPts val="0"/>
              </a:spcBef>
              <a:spcAft>
                <a:spcPts val="0"/>
              </a:spcAft>
              <a:defRPr sz="900" b="1" i="0">
                <a:solidFill>
                  <a:srgbClr val="2C3E50"/>
                </a:solidFill>
                <a:latin typeface="Arial" panose="020B0604020202020204" pitchFamily="34" charset="0"/>
                <a:cs typeface="Arial" panose="020B0604020202020204" pitchFamily="34" charset="0"/>
              </a:defRPr>
            </a:lvl1pPr>
          </a:lstStyle>
          <a:p>
            <a:r>
              <a:rPr lang="en-US" sz="1200" u="sng" noProof="0"/>
              <a:t>STRUCTURAL MISALIGNMENT</a:t>
            </a:r>
          </a:p>
          <a:p>
            <a:pPr algn="l"/>
            <a:r>
              <a:rPr lang="en-US" sz="1100" b="0" noProof="0"/>
              <a:t>The current structure </a:t>
            </a:r>
            <a:r>
              <a:rPr lang="en-US" sz="1100" noProof="0"/>
              <a:t>does not support an integrated, end-to-end product operating model</a:t>
            </a:r>
            <a:r>
              <a:rPr lang="en-US" sz="1100" b="0" noProof="0"/>
              <a:t>, limiting the organization’s ability to deliver value consistently across the lifecycle.</a:t>
            </a:r>
          </a:p>
        </p:txBody>
      </p:sp>
      <p:grpSp>
        <p:nvGrpSpPr>
          <p:cNvPr id="13" name="Grupo 12">
            <a:extLst>
              <a:ext uri="{FF2B5EF4-FFF2-40B4-BE49-F238E27FC236}">
                <a16:creationId xmlns:a16="http://schemas.microsoft.com/office/drawing/2014/main" id="{1C4828FB-6444-17D6-1634-49A6E0653414}"/>
              </a:ext>
            </a:extLst>
          </p:cNvPr>
          <p:cNvGrpSpPr/>
          <p:nvPr/>
        </p:nvGrpSpPr>
        <p:grpSpPr>
          <a:xfrm>
            <a:off x="3909333" y="2702285"/>
            <a:ext cx="836285" cy="833091"/>
            <a:chOff x="4323717" y="1657069"/>
            <a:chExt cx="836285" cy="833091"/>
          </a:xfrm>
        </p:grpSpPr>
        <p:sp>
          <p:nvSpPr>
            <p:cNvPr id="12" name="Oval 166">
              <a:extLst>
                <a:ext uri="{FF2B5EF4-FFF2-40B4-BE49-F238E27FC236}">
                  <a16:creationId xmlns:a16="http://schemas.microsoft.com/office/drawing/2014/main" id="{B5EC1B01-32A3-FE78-2E51-8F6856DDC8DF}"/>
                </a:ext>
              </a:extLst>
            </p:cNvPr>
            <p:cNvSpPr>
              <a:spLocks noChangeAspect="1"/>
            </p:cNvSpPr>
            <p:nvPr/>
          </p:nvSpPr>
          <p:spPr>
            <a:xfrm>
              <a:off x="4326223" y="1657069"/>
              <a:ext cx="831273" cy="831273"/>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a:p>
          </p:txBody>
        </p:sp>
        <p:pic>
          <p:nvPicPr>
            <p:cNvPr id="1026" name="Picture 2">
              <a:extLst>
                <a:ext uri="{FF2B5EF4-FFF2-40B4-BE49-F238E27FC236}">
                  <a16:creationId xmlns:a16="http://schemas.microsoft.com/office/drawing/2014/main" id="{745E0002-9F84-5BC1-F0F8-487C07D45F6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987" t="20192" r="20811" b="37131"/>
            <a:stretch>
              <a:fillRect/>
            </a:stretch>
          </p:blipFill>
          <p:spPr bwMode="auto">
            <a:xfrm>
              <a:off x="4323717" y="1740694"/>
              <a:ext cx="831273" cy="589299"/>
            </a:xfrm>
            <a:prstGeom prst="rect">
              <a:avLst/>
            </a:prstGeom>
            <a:noFill/>
            <a:extLst>
              <a:ext uri="{909E8E84-426E-40DD-AFC4-6F175D3DCCD1}">
                <a14:hiddenFill xmlns:a14="http://schemas.microsoft.com/office/drawing/2010/main">
                  <a:solidFill>
                    <a:srgbClr val="FFFFFF"/>
                  </a:solidFill>
                </a14:hiddenFill>
              </a:ext>
            </a:extLst>
          </p:spPr>
        </p:pic>
        <p:sp>
          <p:nvSpPr>
            <p:cNvPr id="26" name="Oval 166">
              <a:extLst>
                <a:ext uri="{FF2B5EF4-FFF2-40B4-BE49-F238E27FC236}">
                  <a16:creationId xmlns:a16="http://schemas.microsoft.com/office/drawing/2014/main" id="{230EBB8E-D9F9-3FC8-9535-1B193A6E588C}"/>
                </a:ext>
              </a:extLst>
            </p:cNvPr>
            <p:cNvSpPr>
              <a:spLocks noChangeAspect="1"/>
            </p:cNvSpPr>
            <p:nvPr/>
          </p:nvSpPr>
          <p:spPr>
            <a:xfrm>
              <a:off x="4328729" y="1658887"/>
              <a:ext cx="831273" cy="831273"/>
            </a:xfrm>
            <a:prstGeom prst="ellipse">
              <a:avLst/>
            </a:prstGeom>
            <a:noFill/>
            <a:ln w="19050">
              <a:solidFill>
                <a:srgbClr val="2C578B"/>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a:p>
          </p:txBody>
        </p:sp>
      </p:grpSp>
      <p:sp>
        <p:nvSpPr>
          <p:cNvPr id="14" name="TextBox 171">
            <a:extLst>
              <a:ext uri="{FF2B5EF4-FFF2-40B4-BE49-F238E27FC236}">
                <a16:creationId xmlns:a16="http://schemas.microsoft.com/office/drawing/2014/main" id="{63FD304C-0571-0C3F-BF1A-AC87C9A9720A}"/>
              </a:ext>
            </a:extLst>
          </p:cNvPr>
          <p:cNvSpPr txBox="1"/>
          <p:nvPr/>
        </p:nvSpPr>
        <p:spPr>
          <a:xfrm>
            <a:off x="4771323" y="4554527"/>
            <a:ext cx="2663490" cy="1119730"/>
          </a:xfrm>
          <a:prstGeom prst="rect">
            <a:avLst/>
          </a:prstGeom>
          <a:noFill/>
        </p:spPr>
        <p:txBody>
          <a:bodyPr wrap="square" lIns="0" tIns="0" rIns="0" bIns="0" anchor="t">
            <a:spAutoFit/>
          </a:bodyPr>
          <a:lstStyle>
            <a:defPPr>
              <a:defRPr lang="en-US"/>
            </a:defPPr>
            <a:lvl1pPr>
              <a:lnSpc>
                <a:spcPct val="110000"/>
              </a:lnSpc>
              <a:spcBef>
                <a:spcPts val="0"/>
              </a:spcBef>
              <a:spcAft>
                <a:spcPts val="0"/>
              </a:spcAft>
              <a:defRPr sz="900" b="0" i="0">
                <a:solidFill>
                  <a:srgbClr val="2C3E50"/>
                </a:solidFill>
                <a:latin typeface="Arial" panose="020B0604020202020204" pitchFamily="34" charset="0"/>
                <a:cs typeface="Arial" panose="020B0604020202020204" pitchFamily="34" charset="0"/>
              </a:defRPr>
            </a:lvl1pPr>
          </a:lstStyle>
          <a:p>
            <a:pPr algn="ctr"/>
            <a:r>
              <a:rPr lang="en-US" sz="1200" b="1" u="sng" noProof="0"/>
              <a:t>TO-BE GUIDING PRINCIPLES</a:t>
            </a:r>
          </a:p>
          <a:p>
            <a:r>
              <a:rPr lang="en-US" sz="1100" noProof="0"/>
              <a:t>Shift to a product‑centric operating model with aligned decision‑making, standardized prioritization, and integrated lifecycle governance to enable scalable, transparent, and value‑driven delivery.</a:t>
            </a:r>
          </a:p>
        </p:txBody>
      </p:sp>
      <p:grpSp>
        <p:nvGrpSpPr>
          <p:cNvPr id="18" name="Grupo 17">
            <a:extLst>
              <a:ext uri="{FF2B5EF4-FFF2-40B4-BE49-F238E27FC236}">
                <a16:creationId xmlns:a16="http://schemas.microsoft.com/office/drawing/2014/main" id="{19A28BBA-F037-7882-CD0A-D25870C08943}"/>
              </a:ext>
            </a:extLst>
          </p:cNvPr>
          <p:cNvGrpSpPr/>
          <p:nvPr/>
        </p:nvGrpSpPr>
        <p:grpSpPr>
          <a:xfrm>
            <a:off x="7304862" y="2785911"/>
            <a:ext cx="856023" cy="833091"/>
            <a:chOff x="4326223" y="1657069"/>
            <a:chExt cx="856023" cy="833091"/>
          </a:xfrm>
        </p:grpSpPr>
        <p:sp>
          <p:nvSpPr>
            <p:cNvPr id="19" name="Oval 166">
              <a:extLst>
                <a:ext uri="{FF2B5EF4-FFF2-40B4-BE49-F238E27FC236}">
                  <a16:creationId xmlns:a16="http://schemas.microsoft.com/office/drawing/2014/main" id="{2D8F624D-D1D8-7968-025F-013F48F7096F}"/>
                </a:ext>
              </a:extLst>
            </p:cNvPr>
            <p:cNvSpPr>
              <a:spLocks noChangeAspect="1"/>
            </p:cNvSpPr>
            <p:nvPr/>
          </p:nvSpPr>
          <p:spPr>
            <a:xfrm>
              <a:off x="4326223" y="1657069"/>
              <a:ext cx="831273" cy="831273"/>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a:p>
          </p:txBody>
        </p:sp>
        <p:pic>
          <p:nvPicPr>
            <p:cNvPr id="22" name="Picture 2">
              <a:extLst>
                <a:ext uri="{FF2B5EF4-FFF2-40B4-BE49-F238E27FC236}">
                  <a16:creationId xmlns:a16="http://schemas.microsoft.com/office/drawing/2014/main" id="{842128DC-EB89-6422-F59E-53149D5E235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5524" t="26589" r="16378" b="40963"/>
            <a:stretch>
              <a:fillRect/>
            </a:stretch>
          </p:blipFill>
          <p:spPr bwMode="auto">
            <a:xfrm>
              <a:off x="4326223" y="1838476"/>
              <a:ext cx="856023" cy="407892"/>
            </a:xfrm>
            <a:prstGeom prst="rect">
              <a:avLst/>
            </a:prstGeom>
            <a:noFill/>
            <a:extLst>
              <a:ext uri="{909E8E84-426E-40DD-AFC4-6F175D3DCCD1}">
                <a14:hiddenFill xmlns:a14="http://schemas.microsoft.com/office/drawing/2010/main">
                  <a:solidFill>
                    <a:srgbClr val="FFFFFF"/>
                  </a:solidFill>
                </a14:hiddenFill>
              </a:ext>
            </a:extLst>
          </p:spPr>
        </p:pic>
        <p:sp>
          <p:nvSpPr>
            <p:cNvPr id="23" name="Oval 166">
              <a:extLst>
                <a:ext uri="{FF2B5EF4-FFF2-40B4-BE49-F238E27FC236}">
                  <a16:creationId xmlns:a16="http://schemas.microsoft.com/office/drawing/2014/main" id="{93CFFEEF-09DB-7CF8-C9D3-8A847FAACA5E}"/>
                </a:ext>
              </a:extLst>
            </p:cNvPr>
            <p:cNvSpPr>
              <a:spLocks noChangeAspect="1"/>
            </p:cNvSpPr>
            <p:nvPr/>
          </p:nvSpPr>
          <p:spPr>
            <a:xfrm>
              <a:off x="4328729" y="1658887"/>
              <a:ext cx="831273" cy="831273"/>
            </a:xfrm>
            <a:prstGeom prst="ellipse">
              <a:avLst/>
            </a:prstGeom>
            <a:noFill/>
            <a:ln w="19050">
              <a:solidFill>
                <a:srgbClr val="2C578B"/>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a:p>
          </p:txBody>
        </p:sp>
      </p:grpSp>
      <p:grpSp>
        <p:nvGrpSpPr>
          <p:cNvPr id="24" name="Grupo 23">
            <a:extLst>
              <a:ext uri="{FF2B5EF4-FFF2-40B4-BE49-F238E27FC236}">
                <a16:creationId xmlns:a16="http://schemas.microsoft.com/office/drawing/2014/main" id="{09767020-F4FF-D9D4-C376-A86AC896C83D}"/>
              </a:ext>
            </a:extLst>
          </p:cNvPr>
          <p:cNvGrpSpPr/>
          <p:nvPr/>
        </p:nvGrpSpPr>
        <p:grpSpPr>
          <a:xfrm>
            <a:off x="7826081" y="5063811"/>
            <a:ext cx="833779" cy="833091"/>
            <a:chOff x="4326223" y="1657069"/>
            <a:chExt cx="833779" cy="833091"/>
          </a:xfrm>
        </p:grpSpPr>
        <p:sp>
          <p:nvSpPr>
            <p:cNvPr id="25" name="Oval 166">
              <a:extLst>
                <a:ext uri="{FF2B5EF4-FFF2-40B4-BE49-F238E27FC236}">
                  <a16:creationId xmlns:a16="http://schemas.microsoft.com/office/drawing/2014/main" id="{9C8F422E-1294-004B-45B7-9DC081104532}"/>
                </a:ext>
              </a:extLst>
            </p:cNvPr>
            <p:cNvSpPr>
              <a:spLocks noChangeAspect="1"/>
            </p:cNvSpPr>
            <p:nvPr/>
          </p:nvSpPr>
          <p:spPr>
            <a:xfrm>
              <a:off x="4326223" y="1657069"/>
              <a:ext cx="831273" cy="831273"/>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a:p>
          </p:txBody>
        </p:sp>
        <p:pic>
          <p:nvPicPr>
            <p:cNvPr id="27" name="Picture 2">
              <a:extLst>
                <a:ext uri="{FF2B5EF4-FFF2-40B4-BE49-F238E27FC236}">
                  <a16:creationId xmlns:a16="http://schemas.microsoft.com/office/drawing/2014/main" id="{19CECB5B-267E-0414-DB41-225BE9508816}"/>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6241" t="25004" r="18951" b="28872"/>
            <a:stretch>
              <a:fillRect/>
            </a:stretch>
          </p:blipFill>
          <p:spPr bwMode="auto">
            <a:xfrm>
              <a:off x="4398048" y="1765893"/>
              <a:ext cx="726108" cy="611049"/>
            </a:xfrm>
            <a:prstGeom prst="rect">
              <a:avLst/>
            </a:prstGeom>
            <a:noFill/>
            <a:extLst>
              <a:ext uri="{909E8E84-426E-40DD-AFC4-6F175D3DCCD1}">
                <a14:hiddenFill xmlns:a14="http://schemas.microsoft.com/office/drawing/2010/main">
                  <a:solidFill>
                    <a:srgbClr val="FFFFFF"/>
                  </a:solidFill>
                </a14:hiddenFill>
              </a:ext>
            </a:extLst>
          </p:spPr>
        </p:pic>
        <p:sp>
          <p:nvSpPr>
            <p:cNvPr id="29" name="Oval 166">
              <a:extLst>
                <a:ext uri="{FF2B5EF4-FFF2-40B4-BE49-F238E27FC236}">
                  <a16:creationId xmlns:a16="http://schemas.microsoft.com/office/drawing/2014/main" id="{980CC7DA-9A77-A86E-7D50-54DE963D8629}"/>
                </a:ext>
              </a:extLst>
            </p:cNvPr>
            <p:cNvSpPr>
              <a:spLocks noChangeAspect="1"/>
            </p:cNvSpPr>
            <p:nvPr/>
          </p:nvSpPr>
          <p:spPr>
            <a:xfrm>
              <a:off x="4328729" y="1658887"/>
              <a:ext cx="831273" cy="831273"/>
            </a:xfrm>
            <a:prstGeom prst="ellipse">
              <a:avLst/>
            </a:prstGeom>
            <a:noFill/>
            <a:ln w="19050">
              <a:solidFill>
                <a:srgbClr val="2C578B"/>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a:p>
          </p:txBody>
        </p:sp>
      </p:grpSp>
      <p:grpSp>
        <p:nvGrpSpPr>
          <p:cNvPr id="30" name="Grupo 29">
            <a:extLst>
              <a:ext uri="{FF2B5EF4-FFF2-40B4-BE49-F238E27FC236}">
                <a16:creationId xmlns:a16="http://schemas.microsoft.com/office/drawing/2014/main" id="{8E04EFEA-4065-7F9B-D9E9-9D7865F2911A}"/>
              </a:ext>
            </a:extLst>
          </p:cNvPr>
          <p:cNvGrpSpPr/>
          <p:nvPr/>
        </p:nvGrpSpPr>
        <p:grpSpPr>
          <a:xfrm>
            <a:off x="3468484" y="5104227"/>
            <a:ext cx="833779" cy="833091"/>
            <a:chOff x="4326223" y="1657069"/>
            <a:chExt cx="833779" cy="833091"/>
          </a:xfrm>
        </p:grpSpPr>
        <p:sp>
          <p:nvSpPr>
            <p:cNvPr id="31" name="Oval 166">
              <a:extLst>
                <a:ext uri="{FF2B5EF4-FFF2-40B4-BE49-F238E27FC236}">
                  <a16:creationId xmlns:a16="http://schemas.microsoft.com/office/drawing/2014/main" id="{475505EA-A9A1-D065-81F1-20AAB4BE48F5}"/>
                </a:ext>
              </a:extLst>
            </p:cNvPr>
            <p:cNvSpPr>
              <a:spLocks noChangeAspect="1"/>
            </p:cNvSpPr>
            <p:nvPr/>
          </p:nvSpPr>
          <p:spPr>
            <a:xfrm>
              <a:off x="4326223" y="1657069"/>
              <a:ext cx="831273" cy="831273"/>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a:p>
          </p:txBody>
        </p:sp>
        <p:pic>
          <p:nvPicPr>
            <p:cNvPr id="32" name="Picture 2" descr="Current Operating Constraints">
              <a:extLst>
                <a:ext uri="{FF2B5EF4-FFF2-40B4-BE49-F238E27FC236}">
                  <a16:creationId xmlns:a16="http://schemas.microsoft.com/office/drawing/2014/main" id="{68679AE9-7DF5-7B14-82CA-5B5B219D0FFD}"/>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23951" t="22965" r="19520" b="31934"/>
            <a:stretch>
              <a:fillRect/>
            </a:stretch>
          </p:blipFill>
          <p:spPr bwMode="auto">
            <a:xfrm>
              <a:off x="4409012" y="1792677"/>
              <a:ext cx="681645" cy="543849"/>
            </a:xfrm>
            <a:prstGeom prst="rect">
              <a:avLst/>
            </a:prstGeom>
            <a:noFill/>
            <a:extLst>
              <a:ext uri="{909E8E84-426E-40DD-AFC4-6F175D3DCCD1}">
                <a14:hiddenFill xmlns:a14="http://schemas.microsoft.com/office/drawing/2010/main">
                  <a:solidFill>
                    <a:srgbClr val="FFFFFF"/>
                  </a:solidFill>
                </a14:hiddenFill>
              </a:ext>
            </a:extLst>
          </p:spPr>
        </p:pic>
        <p:sp>
          <p:nvSpPr>
            <p:cNvPr id="33" name="Oval 166">
              <a:extLst>
                <a:ext uri="{FF2B5EF4-FFF2-40B4-BE49-F238E27FC236}">
                  <a16:creationId xmlns:a16="http://schemas.microsoft.com/office/drawing/2014/main" id="{A312E722-FE72-3753-B3B6-533F8067228D}"/>
                </a:ext>
              </a:extLst>
            </p:cNvPr>
            <p:cNvSpPr>
              <a:spLocks noChangeAspect="1"/>
            </p:cNvSpPr>
            <p:nvPr/>
          </p:nvSpPr>
          <p:spPr>
            <a:xfrm>
              <a:off x="4328729" y="1658887"/>
              <a:ext cx="831273" cy="831273"/>
            </a:xfrm>
            <a:prstGeom prst="ellipse">
              <a:avLst/>
            </a:prstGeom>
            <a:noFill/>
            <a:ln w="19050">
              <a:solidFill>
                <a:srgbClr val="2C578B"/>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a:p>
          </p:txBody>
        </p:sp>
      </p:grpSp>
      <p:grpSp>
        <p:nvGrpSpPr>
          <p:cNvPr id="36" name="Grupo 35">
            <a:extLst>
              <a:ext uri="{FF2B5EF4-FFF2-40B4-BE49-F238E27FC236}">
                <a16:creationId xmlns:a16="http://schemas.microsoft.com/office/drawing/2014/main" id="{585B3B40-139B-D0CD-A034-25119AFFA1D1}"/>
              </a:ext>
            </a:extLst>
          </p:cNvPr>
          <p:cNvGrpSpPr/>
          <p:nvPr/>
        </p:nvGrpSpPr>
        <p:grpSpPr>
          <a:xfrm>
            <a:off x="5229270" y="3429001"/>
            <a:ext cx="1481997" cy="996162"/>
            <a:chOff x="3955053" y="1493998"/>
            <a:chExt cx="1481997" cy="996162"/>
          </a:xfrm>
        </p:grpSpPr>
        <p:sp>
          <p:nvSpPr>
            <p:cNvPr id="37" name="Oval 166">
              <a:extLst>
                <a:ext uri="{FF2B5EF4-FFF2-40B4-BE49-F238E27FC236}">
                  <a16:creationId xmlns:a16="http://schemas.microsoft.com/office/drawing/2014/main" id="{4898B647-AD95-45F8-FFDC-BD8E4A439B60}"/>
                </a:ext>
              </a:extLst>
            </p:cNvPr>
            <p:cNvSpPr>
              <a:spLocks noChangeAspect="1"/>
            </p:cNvSpPr>
            <p:nvPr/>
          </p:nvSpPr>
          <p:spPr>
            <a:xfrm>
              <a:off x="4326223" y="1657069"/>
              <a:ext cx="831273" cy="831273"/>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a:p>
          </p:txBody>
        </p:sp>
        <p:pic>
          <p:nvPicPr>
            <p:cNvPr id="38" name="Picture 2">
              <a:extLst>
                <a:ext uri="{FF2B5EF4-FFF2-40B4-BE49-F238E27FC236}">
                  <a16:creationId xmlns:a16="http://schemas.microsoft.com/office/drawing/2014/main" id="{75B6F6CE-03AA-6FD2-6FDB-EADF85EA9F4B}"/>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t="9266" r="3780" b="26175"/>
            <a:stretch>
              <a:fillRect/>
            </a:stretch>
          </p:blipFill>
          <p:spPr bwMode="auto">
            <a:xfrm>
              <a:off x="3955053" y="1493998"/>
              <a:ext cx="1481997" cy="994344"/>
            </a:xfrm>
            <a:prstGeom prst="rect">
              <a:avLst/>
            </a:prstGeom>
            <a:noFill/>
            <a:extLst>
              <a:ext uri="{909E8E84-426E-40DD-AFC4-6F175D3DCCD1}">
                <a14:hiddenFill xmlns:a14="http://schemas.microsoft.com/office/drawing/2010/main">
                  <a:solidFill>
                    <a:srgbClr val="FFFFFF"/>
                  </a:solidFill>
                </a14:hiddenFill>
              </a:ext>
            </a:extLst>
          </p:spPr>
        </p:pic>
        <p:sp>
          <p:nvSpPr>
            <p:cNvPr id="40" name="Oval 166">
              <a:extLst>
                <a:ext uri="{FF2B5EF4-FFF2-40B4-BE49-F238E27FC236}">
                  <a16:creationId xmlns:a16="http://schemas.microsoft.com/office/drawing/2014/main" id="{F01C3207-A545-8FE5-540B-328641C6D777}"/>
                </a:ext>
              </a:extLst>
            </p:cNvPr>
            <p:cNvSpPr>
              <a:spLocks noChangeAspect="1"/>
            </p:cNvSpPr>
            <p:nvPr/>
          </p:nvSpPr>
          <p:spPr>
            <a:xfrm>
              <a:off x="4328729" y="1658887"/>
              <a:ext cx="831273" cy="831273"/>
            </a:xfrm>
            <a:prstGeom prst="ellipse">
              <a:avLst/>
            </a:prstGeom>
            <a:noFill/>
            <a:ln w="19050">
              <a:solidFill>
                <a:srgbClr val="2C578B"/>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a:p>
          </p:txBody>
        </p:sp>
      </p:grpSp>
    </p:spTree>
    <p:extLst>
      <p:ext uri="{BB962C8B-B14F-4D97-AF65-F5344CB8AC3E}">
        <p14:creationId xmlns:p14="http://schemas.microsoft.com/office/powerpoint/2010/main" val="425255137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EB29B0B-1513-251C-DA71-9426EB7E63BB}"/>
            </a:ext>
          </a:extLst>
        </p:cNvPr>
        <p:cNvGrpSpPr/>
        <p:nvPr/>
      </p:nvGrpSpPr>
      <p:grpSpPr>
        <a:xfrm>
          <a:off x="0" y="0"/>
          <a:ext cx="0" cy="0"/>
          <a:chOff x="0" y="0"/>
          <a:chExt cx="0" cy="0"/>
        </a:xfrm>
      </p:grpSpPr>
      <p:sp>
        <p:nvSpPr>
          <p:cNvPr id="16" name="CuadroTexto 15">
            <a:extLst>
              <a:ext uri="{FF2B5EF4-FFF2-40B4-BE49-F238E27FC236}">
                <a16:creationId xmlns:a16="http://schemas.microsoft.com/office/drawing/2014/main" id="{BECCD9E4-4D24-77FA-E63D-8A8B67A96358}"/>
              </a:ext>
            </a:extLst>
          </p:cNvPr>
          <p:cNvSpPr txBox="1"/>
          <p:nvPr/>
        </p:nvSpPr>
        <p:spPr>
          <a:xfrm>
            <a:off x="212709" y="920682"/>
            <a:ext cx="11766582" cy="430887"/>
          </a:xfrm>
          <a:prstGeom prst="rect">
            <a:avLst/>
          </a:prstGeom>
          <a:noFill/>
        </p:spPr>
        <p:txBody>
          <a:bodyPr wrap="square" lIns="0" tIns="0" rIns="0" bIns="0" rtlCol="0">
            <a:noAutofit/>
          </a:bodyPr>
          <a:lstStyle>
            <a:defPPr>
              <a:defRPr lang="en-US"/>
            </a:defPPr>
            <a:lvl1pPr marR="0" lvl="0" indent="0" algn="just" fontAlgn="auto">
              <a:lnSpc>
                <a:spcPct val="100000"/>
              </a:lnSpc>
              <a:spcBef>
                <a:spcPts val="0"/>
              </a:spcBef>
              <a:spcAft>
                <a:spcPts val="0"/>
              </a:spcAft>
              <a:buClrTx/>
              <a:buSzTx/>
              <a:buFontTx/>
              <a:buNone/>
              <a:tabLst/>
              <a:defRPr kumimoji="0" sz="1400" b="1" i="0" u="none" strike="noStrike" cap="none" spc="0" normalizeH="0" baseline="0">
                <a:ln>
                  <a:noFill/>
                </a:ln>
                <a:solidFill>
                  <a:srgbClr val="0F9ED5">
                    <a:lumMod val="75000"/>
                  </a:srgbClr>
                </a:solidFill>
                <a:effectLst/>
                <a:uLnTx/>
                <a:uFillTx/>
                <a:latin typeface="Arial" panose="020B0604020202020204" pitchFamily="34" charset="0"/>
                <a:cs typeface="Arial" panose="020B0604020202020204" pitchFamily="34" charset="0"/>
              </a:defRPr>
            </a:lvl1pPr>
            <a:lvl2pPr marL="228586" eaLnBrk="0" fontAlgn="base" hangingPunct="0">
              <a:spcBef>
                <a:spcPct val="0"/>
              </a:spcBef>
              <a:spcAft>
                <a:spcPct val="0"/>
              </a:spcAft>
              <a:defRPr>
                <a:latin typeface="Arial" pitchFamily="2" charset="77"/>
              </a:defRPr>
            </a:lvl2pPr>
            <a:lvl3pPr marL="457172" eaLnBrk="0" fontAlgn="base" hangingPunct="0">
              <a:spcBef>
                <a:spcPct val="0"/>
              </a:spcBef>
              <a:spcAft>
                <a:spcPct val="0"/>
              </a:spcAft>
              <a:defRPr>
                <a:latin typeface="Arial" pitchFamily="2" charset="77"/>
              </a:defRPr>
            </a:lvl3pPr>
            <a:lvl4pPr marL="685757" eaLnBrk="0" fontAlgn="base" hangingPunct="0">
              <a:spcBef>
                <a:spcPct val="0"/>
              </a:spcBef>
              <a:spcAft>
                <a:spcPct val="0"/>
              </a:spcAft>
              <a:defRPr>
                <a:latin typeface="Arial" pitchFamily="2" charset="77"/>
              </a:defRPr>
            </a:lvl4pPr>
            <a:lvl5pPr marL="914343" eaLnBrk="0" fontAlgn="base" hangingPunct="0">
              <a:spcBef>
                <a:spcPct val="0"/>
              </a:spcBef>
              <a:spcAft>
                <a:spcPct val="0"/>
              </a:spcAft>
              <a:defRPr>
                <a:latin typeface="Arial" pitchFamily="2" charset="77"/>
              </a:defRPr>
            </a:lvl5pPr>
            <a:lvl6pPr marL="1142929" defTabSz="457172">
              <a:defRPr>
                <a:latin typeface="Arial" pitchFamily="2" charset="77"/>
              </a:defRPr>
            </a:lvl6pPr>
            <a:lvl7pPr marL="1371515" defTabSz="457172">
              <a:defRPr>
                <a:latin typeface="Arial" pitchFamily="2" charset="77"/>
              </a:defRPr>
            </a:lvl7pPr>
            <a:lvl8pPr marL="1600100" defTabSz="457172">
              <a:defRPr>
                <a:latin typeface="Arial" pitchFamily="2" charset="77"/>
              </a:defRPr>
            </a:lvl8pPr>
            <a:lvl9pPr marL="1828686" defTabSz="457172">
              <a:defRPr>
                <a:latin typeface="Arial" pitchFamily="2" charset="77"/>
              </a:defRPr>
            </a:lvl9pPr>
          </a:lstStyle>
          <a:p>
            <a:r>
              <a:rPr lang="en-US" noProof="0"/>
              <a:t>Our assessment highlights opportunities to strengthen alignment, governance, and prioritization to enable a more scalable and sustainable TO‑BE operating model.</a:t>
            </a:r>
          </a:p>
        </p:txBody>
      </p:sp>
      <p:sp>
        <p:nvSpPr>
          <p:cNvPr id="60" name="Título 2">
            <a:extLst>
              <a:ext uri="{FF2B5EF4-FFF2-40B4-BE49-F238E27FC236}">
                <a16:creationId xmlns:a16="http://schemas.microsoft.com/office/drawing/2014/main" id="{A4D9BC54-8BFE-05D1-00AE-3D9E77AC2DA9}"/>
              </a:ext>
            </a:extLst>
          </p:cNvPr>
          <p:cNvSpPr txBox="1">
            <a:spLocks/>
          </p:cNvSpPr>
          <p:nvPr/>
        </p:nvSpPr>
        <p:spPr>
          <a:xfrm>
            <a:off x="180918" y="127319"/>
            <a:ext cx="7801032" cy="514011"/>
          </a:xfrm>
          <a:prstGeom prst="rect">
            <a:avLst/>
          </a:prstGeom>
        </p:spPr>
        <p:txBody>
          <a:bodyPr anchor="ctr">
            <a:noAutofit/>
          </a:bodyPr>
          <a:lstStyle>
            <a:defPPr>
              <a:defRPr lang="en-US"/>
            </a:defPPr>
            <a:lvl1pPr marR="0" lvl="0" indent="0" fontAlgn="auto">
              <a:lnSpc>
                <a:spcPct val="90000"/>
              </a:lnSpc>
              <a:spcBef>
                <a:spcPct val="0"/>
              </a:spcBef>
              <a:spcAft>
                <a:spcPts val="0"/>
              </a:spcAft>
              <a:buClrTx/>
              <a:buSzTx/>
              <a:buFontTx/>
              <a:buNone/>
              <a:tabLst/>
              <a:defRPr kumimoji="0" sz="2400" b="1" i="0" u="none" strike="noStrike" cap="none" spc="0" normalizeH="0" baseline="0">
                <a:ln>
                  <a:noFill/>
                </a:ln>
                <a:solidFill>
                  <a:prstClr val="white"/>
                </a:solidFill>
                <a:effectLst/>
                <a:uLnTx/>
                <a:uFillTx/>
                <a:latin typeface="Arial" panose="020B0604020202020204" pitchFamily="34" charset="0"/>
                <a:ea typeface="+mj-ea"/>
                <a:cs typeface="Arial" panose="020B0604020202020204" pitchFamily="34" charset="0"/>
              </a:defRPr>
            </a:lvl1pPr>
          </a:lstStyle>
          <a:p>
            <a:r>
              <a:rPr lang="en-US" noProof="0">
                <a:sym typeface="Gordita"/>
              </a:rPr>
              <a:t>INSIGHTS &amp; KEY DEFINITIONS FOR TO-BE MODEL</a:t>
            </a:r>
          </a:p>
        </p:txBody>
      </p:sp>
      <p:sp>
        <p:nvSpPr>
          <p:cNvPr id="20" name="Rectangle 22">
            <a:extLst>
              <a:ext uri="{FF2B5EF4-FFF2-40B4-BE49-F238E27FC236}">
                <a16:creationId xmlns:a16="http://schemas.microsoft.com/office/drawing/2014/main" id="{022ED90D-7011-646E-7D09-54BB01BE7104}"/>
              </a:ext>
            </a:extLst>
          </p:cNvPr>
          <p:cNvSpPr/>
          <p:nvPr/>
        </p:nvSpPr>
        <p:spPr>
          <a:xfrm>
            <a:off x="8277225" y="1572768"/>
            <a:ext cx="3780000" cy="36576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1" name="TextBox 23">
            <a:extLst>
              <a:ext uri="{FF2B5EF4-FFF2-40B4-BE49-F238E27FC236}">
                <a16:creationId xmlns:a16="http://schemas.microsoft.com/office/drawing/2014/main" id="{39416067-A975-23A0-86ED-A42626AABD32}"/>
              </a:ext>
            </a:extLst>
          </p:cNvPr>
          <p:cNvSpPr txBox="1"/>
          <p:nvPr/>
        </p:nvSpPr>
        <p:spPr>
          <a:xfrm>
            <a:off x="8460105" y="1666406"/>
            <a:ext cx="3463770" cy="190821"/>
          </a:xfrm>
          <a:prstGeom prst="rect">
            <a:avLst/>
          </a:prstGeom>
          <a:noFill/>
        </p:spPr>
        <p:txBody>
          <a:bodyPr wrap="square" lIns="45720" tIns="18288" rIns="45720" bIns="18288" anchor="ctr">
            <a:spAutoFit/>
          </a:bodyPr>
          <a:lstStyle/>
          <a:p>
            <a:pPr algn="ctr"/>
            <a:r>
              <a:rPr lang="en-US" sz="1000" b="1" i="0" noProof="0">
                <a:solidFill>
                  <a:srgbClr val="FFFFFF"/>
                </a:solidFill>
                <a:latin typeface="Calibri"/>
              </a:rPr>
              <a:t>RESPONSE – TO BE GUIDING THE TARGET OPERATING MODEL</a:t>
            </a:r>
          </a:p>
        </p:txBody>
      </p:sp>
      <p:sp>
        <p:nvSpPr>
          <p:cNvPr id="24" name="Rectangle 13">
            <a:extLst>
              <a:ext uri="{FF2B5EF4-FFF2-40B4-BE49-F238E27FC236}">
                <a16:creationId xmlns:a16="http://schemas.microsoft.com/office/drawing/2014/main" id="{E2FF868C-57DA-C320-A893-D40C5F448889}"/>
              </a:ext>
            </a:extLst>
          </p:cNvPr>
          <p:cNvSpPr/>
          <p:nvPr/>
        </p:nvSpPr>
        <p:spPr>
          <a:xfrm>
            <a:off x="279988" y="1572768"/>
            <a:ext cx="3780000" cy="36576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5" name="TextBox 14">
            <a:extLst>
              <a:ext uri="{FF2B5EF4-FFF2-40B4-BE49-F238E27FC236}">
                <a16:creationId xmlns:a16="http://schemas.microsoft.com/office/drawing/2014/main" id="{D2A40F71-5AAA-4543-0D51-7B61E8B379A2}"/>
              </a:ext>
            </a:extLst>
          </p:cNvPr>
          <p:cNvSpPr txBox="1"/>
          <p:nvPr/>
        </p:nvSpPr>
        <p:spPr>
          <a:xfrm>
            <a:off x="1470612" y="1657588"/>
            <a:ext cx="1360264" cy="190821"/>
          </a:xfrm>
          <a:prstGeom prst="rect">
            <a:avLst/>
          </a:prstGeom>
          <a:noFill/>
        </p:spPr>
        <p:txBody>
          <a:bodyPr wrap="square" lIns="45720" tIns="18288" rIns="45720" bIns="18288" anchor="ctr">
            <a:spAutoFit/>
          </a:bodyPr>
          <a:lstStyle/>
          <a:p>
            <a:pPr algn="ctr"/>
            <a:r>
              <a:rPr lang="en-US" sz="1000" b="1" i="0" noProof="0">
                <a:solidFill>
                  <a:srgbClr val="FFFFFF"/>
                </a:solidFill>
                <a:latin typeface="Calibri"/>
              </a:rPr>
              <a:t>ROOT CAUSES</a:t>
            </a:r>
          </a:p>
        </p:txBody>
      </p:sp>
      <p:sp>
        <p:nvSpPr>
          <p:cNvPr id="26" name="Right Arrow 134">
            <a:extLst>
              <a:ext uri="{FF2B5EF4-FFF2-40B4-BE49-F238E27FC236}">
                <a16:creationId xmlns:a16="http://schemas.microsoft.com/office/drawing/2014/main" id="{BA11C381-D118-1D2D-EAC4-14E4550F73E1}"/>
              </a:ext>
            </a:extLst>
          </p:cNvPr>
          <p:cNvSpPr/>
          <p:nvPr/>
        </p:nvSpPr>
        <p:spPr>
          <a:xfrm>
            <a:off x="4097020" y="1637122"/>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40" name="Rectangle 13">
            <a:extLst>
              <a:ext uri="{FF2B5EF4-FFF2-40B4-BE49-F238E27FC236}">
                <a16:creationId xmlns:a16="http://schemas.microsoft.com/office/drawing/2014/main" id="{4930677A-C527-194D-8B93-8F178AACCB8B}"/>
              </a:ext>
            </a:extLst>
          </p:cNvPr>
          <p:cNvSpPr/>
          <p:nvPr/>
        </p:nvSpPr>
        <p:spPr>
          <a:xfrm>
            <a:off x="4261438" y="1572768"/>
            <a:ext cx="3780000" cy="36576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43" name="TextBox 14">
            <a:extLst>
              <a:ext uri="{FF2B5EF4-FFF2-40B4-BE49-F238E27FC236}">
                <a16:creationId xmlns:a16="http://schemas.microsoft.com/office/drawing/2014/main" id="{B32448A0-648C-9BE8-F485-5FCD3C730EF0}"/>
              </a:ext>
            </a:extLst>
          </p:cNvPr>
          <p:cNvSpPr txBox="1"/>
          <p:nvPr/>
        </p:nvSpPr>
        <p:spPr>
          <a:xfrm>
            <a:off x="5537787" y="1657588"/>
            <a:ext cx="1360264" cy="190821"/>
          </a:xfrm>
          <a:prstGeom prst="rect">
            <a:avLst/>
          </a:prstGeom>
          <a:noFill/>
        </p:spPr>
        <p:txBody>
          <a:bodyPr wrap="square" lIns="45720" tIns="18288" rIns="45720" bIns="18288" anchor="ctr">
            <a:spAutoFit/>
          </a:bodyPr>
          <a:lstStyle/>
          <a:p>
            <a:pPr algn="ctr"/>
            <a:r>
              <a:rPr lang="en-US" sz="1000" b="1" i="0" noProof="0">
                <a:solidFill>
                  <a:srgbClr val="FFFFFF"/>
                </a:solidFill>
                <a:latin typeface="Calibri"/>
              </a:rPr>
              <a:t>IMPACT</a:t>
            </a:r>
          </a:p>
        </p:txBody>
      </p:sp>
      <p:sp>
        <p:nvSpPr>
          <p:cNvPr id="44" name="Right Arrow 134">
            <a:extLst>
              <a:ext uri="{FF2B5EF4-FFF2-40B4-BE49-F238E27FC236}">
                <a16:creationId xmlns:a16="http://schemas.microsoft.com/office/drawing/2014/main" id="{CE67BB3D-217E-FAF9-BB70-3CA5F1530ADD}"/>
              </a:ext>
            </a:extLst>
          </p:cNvPr>
          <p:cNvSpPr/>
          <p:nvPr/>
        </p:nvSpPr>
        <p:spPr>
          <a:xfrm>
            <a:off x="8078470" y="1637122"/>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45" name="Rectangle 3">
            <a:extLst>
              <a:ext uri="{FF2B5EF4-FFF2-40B4-BE49-F238E27FC236}">
                <a16:creationId xmlns:a16="http://schemas.microsoft.com/office/drawing/2014/main" id="{CC48FD00-8C34-9932-F3BB-3363FECE6801}"/>
              </a:ext>
            </a:extLst>
          </p:cNvPr>
          <p:cNvSpPr/>
          <p:nvPr/>
        </p:nvSpPr>
        <p:spPr>
          <a:xfrm>
            <a:off x="279987" y="1911442"/>
            <a:ext cx="3775859" cy="452745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63" name="Rectangle 3">
            <a:extLst>
              <a:ext uri="{FF2B5EF4-FFF2-40B4-BE49-F238E27FC236}">
                <a16:creationId xmlns:a16="http://schemas.microsoft.com/office/drawing/2014/main" id="{625B0E0F-877E-5082-5D69-CD758E4E639F}"/>
              </a:ext>
            </a:extLst>
          </p:cNvPr>
          <p:cNvSpPr/>
          <p:nvPr/>
        </p:nvSpPr>
        <p:spPr>
          <a:xfrm>
            <a:off x="4250056" y="1911442"/>
            <a:ext cx="3780000" cy="452745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65" name="Rectangle 3">
            <a:extLst>
              <a:ext uri="{FF2B5EF4-FFF2-40B4-BE49-F238E27FC236}">
                <a16:creationId xmlns:a16="http://schemas.microsoft.com/office/drawing/2014/main" id="{7D7E7A90-6236-7FB5-1612-C368B4AE7024}"/>
              </a:ext>
            </a:extLst>
          </p:cNvPr>
          <p:cNvSpPr/>
          <p:nvPr/>
        </p:nvSpPr>
        <p:spPr>
          <a:xfrm>
            <a:off x="8258709" y="1911442"/>
            <a:ext cx="3780000" cy="452745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67" name="Rectángulo 66">
            <a:extLst>
              <a:ext uri="{FF2B5EF4-FFF2-40B4-BE49-F238E27FC236}">
                <a16:creationId xmlns:a16="http://schemas.microsoft.com/office/drawing/2014/main" id="{C9CEDF85-593B-B9B6-80E7-BF6AF2E7400C}"/>
              </a:ext>
            </a:extLst>
          </p:cNvPr>
          <p:cNvSpPr/>
          <p:nvPr/>
        </p:nvSpPr>
        <p:spPr>
          <a:xfrm>
            <a:off x="-558029" y="1983404"/>
            <a:ext cx="3535540" cy="31306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defRPr/>
            </a:pPr>
            <a:r>
              <a:rPr kumimoji="0" lang="en-US" sz="1200" b="1" i="0" u="none" strike="noStrike" kern="1200" cap="none" spc="0" normalizeH="0" baseline="0" noProof="0">
                <a:ln>
                  <a:noFill/>
                </a:ln>
                <a:solidFill>
                  <a:schemeClr val="tx1"/>
                </a:solidFill>
                <a:effectLst/>
                <a:uLnTx/>
                <a:uFillTx/>
                <a:latin typeface="Arial" panose="020B0604020202020204" pitchFamily="34" charset="0"/>
                <a:cs typeface="Arial" panose="020B0604020202020204" pitchFamily="34" charset="0"/>
              </a:rPr>
              <a:t> </a:t>
            </a:r>
            <a:r>
              <a:rPr lang="en-US" sz="1200" b="1" noProof="0">
                <a:solidFill>
                  <a:schemeClr val="tx1"/>
                </a:solidFill>
                <a:latin typeface="Arial" panose="020B0604020202020204" pitchFamily="34" charset="0"/>
                <a:cs typeface="Arial" panose="020B0604020202020204" pitchFamily="34" charset="0"/>
              </a:rPr>
              <a:t>4</a:t>
            </a:r>
            <a:r>
              <a:rPr lang="en-US" sz="1200" noProof="0">
                <a:solidFill>
                  <a:schemeClr val="tx1"/>
                </a:solidFill>
                <a:latin typeface="Arial" panose="020B0604020202020204" pitchFamily="34" charset="0"/>
                <a:cs typeface="Arial" panose="020B0604020202020204" pitchFamily="34" charset="0"/>
              </a:rPr>
              <a:t> </a:t>
            </a:r>
            <a:r>
              <a:rPr lang="en-US" sz="1200" noProof="0">
                <a:solidFill>
                  <a:schemeClr val="tx1"/>
                </a:solidFill>
              </a:rPr>
              <a:t>CURRENT OPERATING CONSTRAINTS</a:t>
            </a:r>
          </a:p>
          <a:p>
            <a:pPr algn="r">
              <a:defRPr/>
            </a:pPr>
            <a:endParaRPr lang="en-US" sz="1200" noProof="0">
              <a:solidFill>
                <a:schemeClr val="tx1"/>
              </a:solidFill>
              <a:latin typeface="Arial" panose="020B0604020202020204" pitchFamily="34" charset="0"/>
              <a:cs typeface="Arial" panose="020B0604020202020204" pitchFamily="34" charset="0"/>
            </a:endParaRPr>
          </a:p>
        </p:txBody>
      </p:sp>
      <p:sp>
        <p:nvSpPr>
          <p:cNvPr id="68" name="Rectángulo 67">
            <a:extLst>
              <a:ext uri="{FF2B5EF4-FFF2-40B4-BE49-F238E27FC236}">
                <a16:creationId xmlns:a16="http://schemas.microsoft.com/office/drawing/2014/main" id="{C4FF221C-2DAF-BFDC-9FA1-B6C238FCE68A}"/>
              </a:ext>
            </a:extLst>
          </p:cNvPr>
          <p:cNvSpPr/>
          <p:nvPr/>
        </p:nvSpPr>
        <p:spPr>
          <a:xfrm>
            <a:off x="268605" y="2277202"/>
            <a:ext cx="3780000" cy="104900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lvl="0">
              <a:defRPr/>
            </a:pPr>
            <a:r>
              <a:rPr lang="en-US" sz="1000" b="1" noProof="0">
                <a:solidFill>
                  <a:srgbClr val="505050"/>
                </a:solidFill>
                <a:latin typeface="Arial" panose="020B0604020202020204" pitchFamily="34" charset="0"/>
                <a:cs typeface="Arial" panose="020B0604020202020204" pitchFamily="34" charset="0"/>
              </a:rPr>
              <a:t>1.Pople:</a:t>
            </a:r>
            <a:r>
              <a:rPr lang="en-US" sz="1000" noProof="0">
                <a:solidFill>
                  <a:srgbClr val="505050"/>
                </a:solidFill>
                <a:latin typeface="Arial" panose="020B0604020202020204" pitchFamily="34" charset="0"/>
                <a:cs typeface="Arial" panose="020B0604020202020204" pitchFamily="34" charset="0"/>
              </a:rPr>
              <a:t> Capacity &amp; accountability are structurally constrained</a:t>
            </a:r>
          </a:p>
          <a:p>
            <a:pPr lvl="0">
              <a:defRPr/>
            </a:pPr>
            <a:r>
              <a:rPr lang="en-US" sz="1000" b="1" noProof="0">
                <a:solidFill>
                  <a:srgbClr val="505050"/>
                </a:solidFill>
                <a:latin typeface="Arial" panose="020B0604020202020204" pitchFamily="34" charset="0"/>
                <a:cs typeface="Arial" panose="020B0604020202020204" pitchFamily="34" charset="0"/>
              </a:rPr>
              <a:t>2.Process: </a:t>
            </a:r>
            <a:r>
              <a:rPr lang="en-US" sz="1000" noProof="0">
                <a:solidFill>
                  <a:srgbClr val="505050"/>
                </a:solidFill>
                <a:latin typeface="Arial" panose="020B0604020202020204" pitchFamily="34" charset="0"/>
                <a:cs typeface="Arial" panose="020B0604020202020204" pitchFamily="34" charset="0"/>
              </a:rPr>
              <a:t>Lack of standardization drives inconsistency</a:t>
            </a:r>
          </a:p>
          <a:p>
            <a:pPr lvl="0">
              <a:defRPr/>
            </a:pPr>
            <a:r>
              <a:rPr lang="en-US" sz="1000" b="1" noProof="0">
                <a:solidFill>
                  <a:srgbClr val="505050"/>
                </a:solidFill>
                <a:latin typeface="Arial" panose="020B0604020202020204" pitchFamily="34" charset="0"/>
                <a:cs typeface="Arial" panose="020B0604020202020204" pitchFamily="34" charset="0"/>
              </a:rPr>
              <a:t>3.Tools:</a:t>
            </a:r>
            <a:r>
              <a:rPr lang="en-US" sz="1000" noProof="0">
                <a:solidFill>
                  <a:srgbClr val="505050"/>
                </a:solidFill>
                <a:latin typeface="Arial" panose="020B0604020202020204" pitchFamily="34" charset="0"/>
                <a:cs typeface="Arial" panose="020B0604020202020204" pitchFamily="34" charset="0"/>
              </a:rPr>
              <a:t> Fragmented ecosystem limits visibility and control</a:t>
            </a:r>
          </a:p>
          <a:p>
            <a:pPr lvl="0">
              <a:defRPr/>
            </a:pPr>
            <a:r>
              <a:rPr lang="en-US" sz="1000" b="1" noProof="0">
                <a:solidFill>
                  <a:srgbClr val="505050"/>
                </a:solidFill>
                <a:latin typeface="Arial" panose="020B0604020202020204" pitchFamily="34" charset="0"/>
                <a:cs typeface="Arial" panose="020B0604020202020204" pitchFamily="34" charset="0"/>
              </a:rPr>
              <a:t>4.Governance: </a:t>
            </a:r>
            <a:r>
              <a:rPr lang="en-US" sz="1000" noProof="0">
                <a:solidFill>
                  <a:srgbClr val="505050"/>
                </a:solidFill>
                <a:latin typeface="Arial" panose="020B0604020202020204" pitchFamily="34" charset="0"/>
                <a:cs typeface="Arial" panose="020B0604020202020204" pitchFamily="34" charset="0"/>
              </a:rPr>
              <a:t>Decision-making is fragmented</a:t>
            </a:r>
          </a:p>
        </p:txBody>
      </p:sp>
      <p:sp>
        <p:nvSpPr>
          <p:cNvPr id="69" name="Rectángulo 68">
            <a:extLst>
              <a:ext uri="{FF2B5EF4-FFF2-40B4-BE49-F238E27FC236}">
                <a16:creationId xmlns:a16="http://schemas.microsoft.com/office/drawing/2014/main" id="{CAF284BA-5145-DCFB-6D1A-32A31EDD53A8}"/>
              </a:ext>
            </a:extLst>
          </p:cNvPr>
          <p:cNvSpPr/>
          <p:nvPr/>
        </p:nvSpPr>
        <p:spPr>
          <a:xfrm>
            <a:off x="336263" y="4887982"/>
            <a:ext cx="2921288" cy="131595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lvl="0">
              <a:defRPr/>
            </a:pPr>
            <a:r>
              <a:rPr lang="en-US" sz="1000" noProof="0">
                <a:solidFill>
                  <a:srgbClr val="505050"/>
                </a:solidFill>
                <a:latin typeface="Arial" panose="020B0604020202020204" pitchFamily="34" charset="0"/>
                <a:cs typeface="Arial" panose="020B0604020202020204" pitchFamily="34" charset="0"/>
              </a:rPr>
              <a:t>1.</a:t>
            </a:r>
            <a:r>
              <a:rPr lang="en-US" sz="1000" b="1" noProof="0">
                <a:solidFill>
                  <a:srgbClr val="505050"/>
                </a:solidFill>
                <a:latin typeface="Arial" panose="020B0604020202020204" pitchFamily="34" charset="0"/>
                <a:cs typeface="Arial" panose="020B0604020202020204" pitchFamily="34" charset="0"/>
              </a:rPr>
              <a:t>Intake</a:t>
            </a:r>
            <a:r>
              <a:rPr lang="en-US" sz="1000" noProof="0">
                <a:solidFill>
                  <a:srgbClr val="505050"/>
                </a:solidFill>
                <a:latin typeface="Arial" panose="020B0604020202020204" pitchFamily="34" charset="0"/>
                <a:cs typeface="Arial" panose="020B0604020202020204" pitchFamily="34" charset="0"/>
              </a:rPr>
              <a:t> Fragmentation</a:t>
            </a:r>
          </a:p>
          <a:p>
            <a:pPr lvl="0">
              <a:defRPr/>
            </a:pPr>
            <a:r>
              <a:rPr lang="en-US" sz="1000" noProof="0">
                <a:solidFill>
                  <a:srgbClr val="505050"/>
                </a:solidFill>
                <a:latin typeface="Arial" panose="020B0604020202020204" pitchFamily="34" charset="0"/>
                <a:cs typeface="Arial" panose="020B0604020202020204" pitchFamily="34" charset="0"/>
              </a:rPr>
              <a:t>2.No Shared </a:t>
            </a:r>
            <a:r>
              <a:rPr lang="en-US" sz="1000" b="1" noProof="0">
                <a:solidFill>
                  <a:srgbClr val="505050"/>
                </a:solidFill>
                <a:latin typeface="Arial" panose="020B0604020202020204" pitchFamily="34" charset="0"/>
                <a:cs typeface="Arial" panose="020B0604020202020204" pitchFamily="34" charset="0"/>
              </a:rPr>
              <a:t>Prioritization Model</a:t>
            </a:r>
          </a:p>
          <a:p>
            <a:pPr lvl="0">
              <a:defRPr/>
            </a:pPr>
            <a:r>
              <a:rPr lang="en-US" sz="1000" noProof="0">
                <a:solidFill>
                  <a:srgbClr val="505050"/>
                </a:solidFill>
                <a:latin typeface="Arial" panose="020B0604020202020204" pitchFamily="34" charset="0"/>
                <a:cs typeface="Arial" panose="020B0604020202020204" pitchFamily="34" charset="0"/>
              </a:rPr>
              <a:t>3.</a:t>
            </a:r>
            <a:r>
              <a:rPr lang="en-US" sz="1000" b="1" noProof="0">
                <a:solidFill>
                  <a:srgbClr val="505050"/>
                </a:solidFill>
                <a:latin typeface="Arial" panose="020B0604020202020204" pitchFamily="34" charset="0"/>
                <a:cs typeface="Arial" panose="020B0604020202020204" pitchFamily="34" charset="0"/>
              </a:rPr>
              <a:t>Portfolio Tooling </a:t>
            </a:r>
            <a:r>
              <a:rPr lang="en-US" sz="1000" noProof="0">
                <a:solidFill>
                  <a:srgbClr val="505050"/>
                </a:solidFill>
                <a:latin typeface="Arial" panose="020B0604020202020204" pitchFamily="34" charset="0"/>
                <a:cs typeface="Arial" panose="020B0604020202020204" pitchFamily="34" charset="0"/>
              </a:rPr>
              <a:t>Vacuum</a:t>
            </a:r>
          </a:p>
          <a:p>
            <a:pPr lvl="0">
              <a:defRPr/>
            </a:pPr>
            <a:r>
              <a:rPr lang="en-US" sz="1000" noProof="0">
                <a:solidFill>
                  <a:srgbClr val="505050"/>
                </a:solidFill>
                <a:latin typeface="Arial" panose="020B0604020202020204" pitchFamily="34" charset="0"/>
                <a:cs typeface="Arial" panose="020B0604020202020204" pitchFamily="34" charset="0"/>
              </a:rPr>
              <a:t>4.</a:t>
            </a:r>
            <a:r>
              <a:rPr lang="en-US" sz="1000" b="1" noProof="0">
                <a:solidFill>
                  <a:srgbClr val="505050"/>
                </a:solidFill>
                <a:latin typeface="Arial" panose="020B0604020202020204" pitchFamily="34" charset="0"/>
                <a:cs typeface="Arial" panose="020B0604020202020204" pitchFamily="34" charset="0"/>
              </a:rPr>
              <a:t>Vendor Governance </a:t>
            </a:r>
            <a:r>
              <a:rPr lang="en-US" sz="1000" noProof="0">
                <a:solidFill>
                  <a:srgbClr val="505050"/>
                </a:solidFill>
                <a:latin typeface="Arial" panose="020B0604020202020204" pitchFamily="34" charset="0"/>
                <a:cs typeface="Arial" panose="020B0604020202020204" pitchFamily="34" charset="0"/>
              </a:rPr>
              <a:t>Gap</a:t>
            </a:r>
          </a:p>
          <a:p>
            <a:pPr lvl="0">
              <a:defRPr/>
            </a:pPr>
            <a:r>
              <a:rPr lang="en-US" sz="1000" noProof="0">
                <a:solidFill>
                  <a:srgbClr val="505050"/>
                </a:solidFill>
                <a:latin typeface="Arial" panose="020B0604020202020204" pitchFamily="34" charset="0"/>
                <a:cs typeface="Arial" panose="020B0604020202020204" pitchFamily="34" charset="0"/>
              </a:rPr>
              <a:t>5.</a:t>
            </a:r>
            <a:r>
              <a:rPr lang="en-US" sz="1000" b="1" noProof="0">
                <a:solidFill>
                  <a:srgbClr val="505050"/>
                </a:solidFill>
                <a:latin typeface="Arial" panose="020B0604020202020204" pitchFamily="34" charset="0"/>
                <a:cs typeface="Arial" panose="020B0604020202020204" pitchFamily="34" charset="0"/>
              </a:rPr>
              <a:t>Governance Forum</a:t>
            </a:r>
            <a:r>
              <a:rPr lang="en-US" sz="1000" noProof="0">
                <a:solidFill>
                  <a:srgbClr val="505050"/>
                </a:solidFill>
                <a:latin typeface="Arial" panose="020B0604020202020204" pitchFamily="34" charset="0"/>
                <a:cs typeface="Arial" panose="020B0604020202020204" pitchFamily="34" charset="0"/>
              </a:rPr>
              <a:t> Coverage</a:t>
            </a:r>
          </a:p>
          <a:p>
            <a:pPr lvl="0">
              <a:defRPr/>
            </a:pPr>
            <a:r>
              <a:rPr lang="en-US" sz="1000" noProof="0">
                <a:solidFill>
                  <a:srgbClr val="505050"/>
                </a:solidFill>
                <a:latin typeface="Arial" panose="020B0604020202020204" pitchFamily="34" charset="0"/>
                <a:cs typeface="Arial" panose="020B0604020202020204" pitchFamily="34" charset="0"/>
              </a:rPr>
              <a:t>6.</a:t>
            </a:r>
            <a:r>
              <a:rPr lang="en-US" sz="1000" b="1" noProof="0">
                <a:solidFill>
                  <a:srgbClr val="505050"/>
                </a:solidFill>
                <a:latin typeface="Arial" panose="020B0604020202020204" pitchFamily="34" charset="0"/>
                <a:cs typeface="Arial" panose="020B0604020202020204" pitchFamily="34" charset="0"/>
              </a:rPr>
              <a:t>Taxonomy &amp; Thresholds </a:t>
            </a:r>
            <a:r>
              <a:rPr lang="en-US" sz="1000" noProof="0">
                <a:solidFill>
                  <a:srgbClr val="505050"/>
                </a:solidFill>
                <a:latin typeface="Arial" panose="020B0604020202020204" pitchFamily="34" charset="0"/>
                <a:cs typeface="Arial" panose="020B0604020202020204" pitchFamily="34" charset="0"/>
              </a:rPr>
              <a:t>Undefined</a:t>
            </a:r>
          </a:p>
          <a:p>
            <a:pPr lvl="0">
              <a:defRPr/>
            </a:pPr>
            <a:r>
              <a:rPr lang="en-US" sz="1000" noProof="0">
                <a:solidFill>
                  <a:srgbClr val="505050"/>
                </a:solidFill>
                <a:latin typeface="Arial" panose="020B0604020202020204" pitchFamily="34" charset="0"/>
                <a:cs typeface="Arial" panose="020B0604020202020204" pitchFamily="34" charset="0"/>
              </a:rPr>
              <a:t>7.</a:t>
            </a:r>
            <a:r>
              <a:rPr lang="en-US" sz="1000" b="1" noProof="0">
                <a:solidFill>
                  <a:srgbClr val="505050"/>
                </a:solidFill>
                <a:latin typeface="Arial" panose="020B0604020202020204" pitchFamily="34" charset="0"/>
                <a:cs typeface="Arial" panose="020B0604020202020204" pitchFamily="34" charset="0"/>
              </a:rPr>
              <a:t>Project vs Product </a:t>
            </a:r>
            <a:r>
              <a:rPr lang="en-US" sz="1000" noProof="0">
                <a:solidFill>
                  <a:srgbClr val="505050"/>
                </a:solidFill>
                <a:latin typeface="Arial" panose="020B0604020202020204" pitchFamily="34" charset="0"/>
                <a:cs typeface="Arial" panose="020B0604020202020204" pitchFamily="34" charset="0"/>
              </a:rPr>
              <a:t>Lens Missing</a:t>
            </a:r>
            <a:endParaRPr kumimoji="0" lang="en-US" sz="1000" b="0" i="0" u="none" strike="noStrike" kern="1200" cap="none" spc="0" normalizeH="0" baseline="0" noProof="0">
              <a:ln>
                <a:noFill/>
              </a:ln>
              <a:solidFill>
                <a:srgbClr val="505050"/>
              </a:solidFill>
              <a:effectLst/>
              <a:uLnTx/>
              <a:uFillTx/>
              <a:latin typeface="Arial" panose="020B0604020202020204" pitchFamily="34" charset="0"/>
              <a:cs typeface="Arial" panose="020B0604020202020204" pitchFamily="34" charset="0"/>
            </a:endParaRPr>
          </a:p>
        </p:txBody>
      </p:sp>
      <p:sp>
        <p:nvSpPr>
          <p:cNvPr id="70" name="Rectángulo 69">
            <a:extLst>
              <a:ext uri="{FF2B5EF4-FFF2-40B4-BE49-F238E27FC236}">
                <a16:creationId xmlns:a16="http://schemas.microsoft.com/office/drawing/2014/main" id="{D88514A1-31A9-C627-ED6C-1F740528B648}"/>
              </a:ext>
            </a:extLst>
          </p:cNvPr>
          <p:cNvSpPr/>
          <p:nvPr/>
        </p:nvSpPr>
        <p:spPr>
          <a:xfrm>
            <a:off x="288987" y="3641915"/>
            <a:ext cx="3535541" cy="96185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000" noProof="0">
                <a:solidFill>
                  <a:srgbClr val="505050"/>
                </a:solidFill>
                <a:latin typeface="Arial" panose="020B0604020202020204" pitchFamily="34" charset="0"/>
                <a:cs typeface="Arial" panose="020B0604020202020204" pitchFamily="34" charset="0"/>
              </a:rPr>
              <a:t>1.</a:t>
            </a:r>
            <a:r>
              <a:rPr lang="en-US" sz="1000" b="1" noProof="0">
                <a:solidFill>
                  <a:srgbClr val="505050"/>
                </a:solidFill>
                <a:latin typeface="Arial" panose="020B0604020202020204" pitchFamily="34" charset="0"/>
                <a:cs typeface="Arial" panose="020B0604020202020204" pitchFamily="34" charset="0"/>
              </a:rPr>
              <a:t>Prioritization</a:t>
            </a:r>
            <a:r>
              <a:rPr lang="en-US" sz="1000" noProof="0">
                <a:solidFill>
                  <a:srgbClr val="505050"/>
                </a:solidFill>
                <a:latin typeface="Arial" panose="020B0604020202020204" pitchFamily="34" charset="0"/>
                <a:cs typeface="Arial" panose="020B0604020202020204" pitchFamily="34" charset="0"/>
              </a:rPr>
              <a:t> has no shared model</a:t>
            </a:r>
          </a:p>
          <a:p>
            <a:r>
              <a:rPr lang="en-US" sz="1000" noProof="0">
                <a:solidFill>
                  <a:srgbClr val="505050"/>
                </a:solidFill>
                <a:latin typeface="Arial" panose="020B0604020202020204" pitchFamily="34" charset="0"/>
                <a:cs typeface="Arial" panose="020B0604020202020204" pitchFamily="34" charset="0"/>
              </a:rPr>
              <a:t>2.</a:t>
            </a:r>
            <a:r>
              <a:rPr lang="en-US" sz="1000" b="1" noProof="0">
                <a:solidFill>
                  <a:srgbClr val="505050"/>
                </a:solidFill>
                <a:latin typeface="Arial" panose="020B0604020202020204" pitchFamily="34" charset="0"/>
                <a:cs typeface="Arial" panose="020B0604020202020204" pitchFamily="34" charset="0"/>
              </a:rPr>
              <a:t>Taxonomy</a:t>
            </a:r>
            <a:r>
              <a:rPr lang="en-US" sz="1000" noProof="0">
                <a:solidFill>
                  <a:srgbClr val="505050"/>
                </a:solidFill>
                <a:latin typeface="Arial" panose="020B0604020202020204" pitchFamily="34" charset="0"/>
                <a:cs typeface="Arial" panose="020B0604020202020204" pitchFamily="34" charset="0"/>
              </a:rPr>
              <a:t> is undefined</a:t>
            </a:r>
          </a:p>
          <a:p>
            <a:r>
              <a:rPr lang="en-US" sz="1000" noProof="0">
                <a:solidFill>
                  <a:srgbClr val="505050"/>
                </a:solidFill>
                <a:latin typeface="Arial" panose="020B0604020202020204" pitchFamily="34" charset="0"/>
                <a:cs typeface="Arial" panose="020B0604020202020204" pitchFamily="34" charset="0"/>
              </a:rPr>
              <a:t>3.</a:t>
            </a:r>
            <a:r>
              <a:rPr lang="en-US" sz="1000" b="1" noProof="0">
                <a:solidFill>
                  <a:srgbClr val="505050"/>
                </a:solidFill>
                <a:latin typeface="Arial" panose="020B0604020202020204" pitchFamily="34" charset="0"/>
                <a:cs typeface="Arial" panose="020B0604020202020204" pitchFamily="34" charset="0"/>
              </a:rPr>
              <a:t>Vendor governance </a:t>
            </a:r>
            <a:r>
              <a:rPr lang="en-US" sz="1000" noProof="0">
                <a:solidFill>
                  <a:srgbClr val="505050"/>
                </a:solidFill>
                <a:latin typeface="Arial" panose="020B0604020202020204" pitchFamily="34" charset="0"/>
                <a:cs typeface="Arial" panose="020B0604020202020204" pitchFamily="34" charset="0"/>
              </a:rPr>
              <a:t>is absent</a:t>
            </a:r>
          </a:p>
        </p:txBody>
      </p:sp>
      <p:sp>
        <p:nvSpPr>
          <p:cNvPr id="71" name="Rectángulo 70">
            <a:extLst>
              <a:ext uri="{FF2B5EF4-FFF2-40B4-BE49-F238E27FC236}">
                <a16:creationId xmlns:a16="http://schemas.microsoft.com/office/drawing/2014/main" id="{0DB282D6-9834-9BD5-3C92-61E7EADA3533}"/>
              </a:ext>
            </a:extLst>
          </p:cNvPr>
          <p:cNvSpPr/>
          <p:nvPr/>
        </p:nvSpPr>
        <p:spPr>
          <a:xfrm>
            <a:off x="1210044" y="3328850"/>
            <a:ext cx="3535540" cy="31306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b="1" noProof="0">
                <a:solidFill>
                  <a:schemeClr val="tx1"/>
                </a:solidFill>
                <a:latin typeface="Arial" panose="020B0604020202020204" pitchFamily="34" charset="0"/>
                <a:cs typeface="Arial" panose="020B0604020202020204" pitchFamily="34" charset="0"/>
              </a:rPr>
              <a:t> 3 </a:t>
            </a:r>
            <a:r>
              <a:rPr lang="en-US" sz="1200" noProof="0">
                <a:solidFill>
                  <a:schemeClr val="tx1"/>
                </a:solidFill>
                <a:latin typeface="Arial" panose="020B0604020202020204" pitchFamily="34" charset="0"/>
                <a:cs typeface="Arial" panose="020B0604020202020204" pitchFamily="34" charset="0"/>
              </a:rPr>
              <a:t>Systemic Gaps</a:t>
            </a:r>
          </a:p>
        </p:txBody>
      </p:sp>
      <p:sp>
        <p:nvSpPr>
          <p:cNvPr id="72" name="Rectángulo 71">
            <a:extLst>
              <a:ext uri="{FF2B5EF4-FFF2-40B4-BE49-F238E27FC236}">
                <a16:creationId xmlns:a16="http://schemas.microsoft.com/office/drawing/2014/main" id="{F7A905AD-71BF-3CEA-C324-5D965F9DC7AC}"/>
              </a:ext>
            </a:extLst>
          </p:cNvPr>
          <p:cNvSpPr/>
          <p:nvPr/>
        </p:nvSpPr>
        <p:spPr>
          <a:xfrm>
            <a:off x="1209741" y="4492560"/>
            <a:ext cx="3535540" cy="31306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b="1" noProof="0">
                <a:solidFill>
                  <a:schemeClr val="tx1"/>
                </a:solidFill>
                <a:latin typeface="Arial" panose="020B0604020202020204" pitchFamily="34" charset="0"/>
                <a:cs typeface="Arial" panose="020B0604020202020204" pitchFamily="34" charset="0"/>
              </a:rPr>
              <a:t> 7 </a:t>
            </a:r>
            <a:r>
              <a:rPr lang="en-US" sz="1200" noProof="0" err="1">
                <a:solidFill>
                  <a:schemeClr val="tx1"/>
                </a:solidFill>
                <a:latin typeface="Arial" panose="020B0604020202020204" pitchFamily="34" charset="0"/>
                <a:cs typeface="Arial" panose="020B0604020202020204" pitchFamily="34" charset="0"/>
              </a:rPr>
              <a:t>Strcutrural</a:t>
            </a:r>
            <a:r>
              <a:rPr lang="en-US" sz="1200" noProof="0">
                <a:solidFill>
                  <a:schemeClr val="tx1"/>
                </a:solidFill>
                <a:latin typeface="Arial" panose="020B0604020202020204" pitchFamily="34" charset="0"/>
                <a:cs typeface="Arial" panose="020B0604020202020204" pitchFamily="34" charset="0"/>
              </a:rPr>
              <a:t> </a:t>
            </a:r>
            <a:r>
              <a:rPr lang="en-US" sz="1200" noProof="0" err="1">
                <a:solidFill>
                  <a:schemeClr val="tx1"/>
                </a:solidFill>
                <a:latin typeface="Arial" panose="020B0604020202020204" pitchFamily="34" charset="0"/>
                <a:cs typeface="Arial" panose="020B0604020202020204" pitchFamily="34" charset="0"/>
              </a:rPr>
              <a:t>misaligments</a:t>
            </a:r>
            <a:endParaRPr lang="en-US" sz="1200" noProof="0">
              <a:solidFill>
                <a:schemeClr val="tx1"/>
              </a:solidFill>
              <a:latin typeface="Arial" panose="020B0604020202020204" pitchFamily="34" charset="0"/>
              <a:cs typeface="Arial" panose="020B0604020202020204" pitchFamily="34" charset="0"/>
            </a:endParaRPr>
          </a:p>
        </p:txBody>
      </p:sp>
      <p:sp>
        <p:nvSpPr>
          <p:cNvPr id="74" name="Rectángulo 73">
            <a:extLst>
              <a:ext uri="{FF2B5EF4-FFF2-40B4-BE49-F238E27FC236}">
                <a16:creationId xmlns:a16="http://schemas.microsoft.com/office/drawing/2014/main" id="{7B410D97-4028-AAA5-9DAA-132B374C39E3}"/>
              </a:ext>
            </a:extLst>
          </p:cNvPr>
          <p:cNvSpPr/>
          <p:nvPr/>
        </p:nvSpPr>
        <p:spPr>
          <a:xfrm>
            <a:off x="3187161" y="1983404"/>
            <a:ext cx="3535540" cy="31306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1200" b="1" noProof="0">
                <a:solidFill>
                  <a:schemeClr val="tx1"/>
                </a:solidFill>
                <a:latin typeface="Arial" panose="020B0604020202020204" pitchFamily="34" charset="0"/>
                <a:cs typeface="Arial" panose="020B0604020202020204" pitchFamily="34" charset="0"/>
              </a:rPr>
              <a:t>8</a:t>
            </a:r>
            <a:r>
              <a:rPr lang="en-US" sz="1200" noProof="0">
                <a:solidFill>
                  <a:schemeClr val="tx1"/>
                </a:solidFill>
                <a:latin typeface="Arial" panose="020B0604020202020204" pitchFamily="34" charset="0"/>
                <a:cs typeface="Arial" panose="020B0604020202020204" pitchFamily="34" charset="0"/>
              </a:rPr>
              <a:t> </a:t>
            </a:r>
            <a:r>
              <a:rPr lang="en-US" sz="1200" noProof="0">
                <a:solidFill>
                  <a:schemeClr val="tx1"/>
                </a:solidFill>
              </a:rPr>
              <a:t>Delivery &amp; Experience </a:t>
            </a:r>
            <a:r>
              <a:rPr lang="en-US" sz="1200" noProof="0">
                <a:solidFill>
                  <a:schemeClr val="tx1"/>
                </a:solidFill>
                <a:latin typeface="Arial" panose="020B0604020202020204" pitchFamily="34" charset="0"/>
                <a:cs typeface="Arial" panose="020B0604020202020204" pitchFamily="34" charset="0"/>
              </a:rPr>
              <a:t>Pain Points</a:t>
            </a:r>
          </a:p>
        </p:txBody>
      </p:sp>
      <p:sp>
        <p:nvSpPr>
          <p:cNvPr id="75" name="Rectángulo 74">
            <a:extLst>
              <a:ext uri="{FF2B5EF4-FFF2-40B4-BE49-F238E27FC236}">
                <a16:creationId xmlns:a16="http://schemas.microsoft.com/office/drawing/2014/main" id="{3DDB89AA-C2BF-FDAB-A05E-61A7253F1905}"/>
              </a:ext>
            </a:extLst>
          </p:cNvPr>
          <p:cNvSpPr/>
          <p:nvPr/>
        </p:nvSpPr>
        <p:spPr>
          <a:xfrm>
            <a:off x="4229099" y="2291192"/>
            <a:ext cx="3608415" cy="196791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lvl="0" algn="ctr">
              <a:defRPr/>
            </a:pPr>
            <a:r>
              <a:rPr lang="en-US" sz="1000" b="1" noProof="0">
                <a:solidFill>
                  <a:schemeClr val="tx1"/>
                </a:solidFill>
                <a:latin typeface="Arial" panose="020B0604020202020204" pitchFamily="34" charset="0"/>
                <a:cs typeface="Arial" panose="020B0604020202020204" pitchFamily="34" charset="0"/>
              </a:rPr>
              <a:t> </a:t>
            </a:r>
            <a:r>
              <a:rPr lang="en-US" sz="1000" b="1" noProof="0" err="1">
                <a:solidFill>
                  <a:schemeClr val="tx1"/>
                </a:solidFill>
                <a:latin typeface="Arial" panose="020B0604020202020204" pitchFamily="34" charset="0"/>
                <a:cs typeface="Arial" panose="020B0604020202020204" pitchFamily="34" charset="0"/>
              </a:rPr>
              <a:t>Applciations</a:t>
            </a:r>
            <a:endParaRPr lang="en-US" sz="1000" b="1" noProof="0">
              <a:solidFill>
                <a:schemeClr val="tx1"/>
              </a:solidFill>
              <a:latin typeface="Arial" panose="020B0604020202020204" pitchFamily="34" charset="0"/>
              <a:cs typeface="Arial" panose="020B0604020202020204" pitchFamily="34" charset="0"/>
            </a:endParaRPr>
          </a:p>
          <a:p>
            <a:pPr lvl="0">
              <a:defRPr/>
            </a:pPr>
            <a:endParaRPr lang="en-US" sz="1000" noProof="0">
              <a:solidFill>
                <a:srgbClr val="505050"/>
              </a:solidFill>
              <a:latin typeface="Arial" panose="020B0604020202020204" pitchFamily="34" charset="0"/>
              <a:cs typeface="Arial" panose="020B0604020202020204" pitchFamily="34" charset="0"/>
            </a:endParaRPr>
          </a:p>
          <a:p>
            <a:pPr lvl="1">
              <a:defRPr/>
            </a:pPr>
            <a:r>
              <a:rPr lang="en-US" sz="1000" noProof="0">
                <a:solidFill>
                  <a:srgbClr val="505050"/>
                </a:solidFill>
                <a:latin typeface="Arial" panose="020B0604020202020204" pitchFamily="34" charset="0"/>
                <a:cs typeface="Arial" panose="020B0604020202020204" pitchFamily="34" charset="0"/>
              </a:rPr>
              <a:t>1.G&amp;E Email-Only </a:t>
            </a:r>
            <a:r>
              <a:rPr lang="en-US" sz="1000" b="1" noProof="0">
                <a:solidFill>
                  <a:srgbClr val="505050"/>
                </a:solidFill>
                <a:latin typeface="Arial" panose="020B0604020202020204" pitchFamily="34" charset="0"/>
                <a:cs typeface="Arial" panose="020B0604020202020204" pitchFamily="34" charset="0"/>
              </a:rPr>
              <a:t>Intake</a:t>
            </a:r>
          </a:p>
          <a:p>
            <a:pPr lvl="1">
              <a:defRPr/>
            </a:pPr>
            <a:r>
              <a:rPr lang="en-US" sz="1000" noProof="0">
                <a:solidFill>
                  <a:srgbClr val="505050"/>
                </a:solidFill>
                <a:latin typeface="Arial" panose="020B0604020202020204" pitchFamily="34" charset="0"/>
                <a:cs typeface="Arial" panose="020B0604020202020204" pitchFamily="34" charset="0"/>
              </a:rPr>
              <a:t>2.Global SAP </a:t>
            </a:r>
            <a:r>
              <a:rPr lang="en-US" sz="1000" b="1" noProof="0">
                <a:solidFill>
                  <a:srgbClr val="505050"/>
                </a:solidFill>
                <a:latin typeface="Arial" panose="020B0604020202020204" pitchFamily="34" charset="0"/>
                <a:cs typeface="Arial" panose="020B0604020202020204" pitchFamily="34" charset="0"/>
              </a:rPr>
              <a:t>Incident</a:t>
            </a:r>
            <a:r>
              <a:rPr lang="en-US" sz="1000" noProof="0">
                <a:solidFill>
                  <a:srgbClr val="505050"/>
                </a:solidFill>
                <a:latin typeface="Arial" panose="020B0604020202020204" pitchFamily="34" charset="0"/>
                <a:cs typeface="Arial" panose="020B0604020202020204" pitchFamily="34" charset="0"/>
              </a:rPr>
              <a:t> Flood</a:t>
            </a:r>
          </a:p>
          <a:p>
            <a:pPr lvl="1">
              <a:defRPr/>
            </a:pPr>
            <a:r>
              <a:rPr lang="en-US" sz="1000" noProof="0">
                <a:solidFill>
                  <a:srgbClr val="505050"/>
                </a:solidFill>
                <a:latin typeface="Arial" panose="020B0604020202020204" pitchFamily="34" charset="0"/>
                <a:cs typeface="Arial" panose="020B0604020202020204" pitchFamily="34" charset="0"/>
              </a:rPr>
              <a:t>3.GIS Informal </a:t>
            </a:r>
            <a:r>
              <a:rPr lang="en-US" sz="1000" b="1" noProof="0">
                <a:solidFill>
                  <a:srgbClr val="505050"/>
                </a:solidFill>
                <a:latin typeface="Arial" panose="020B0604020202020204" pitchFamily="34" charset="0"/>
                <a:cs typeface="Arial" panose="020B0604020202020204" pitchFamily="34" charset="0"/>
              </a:rPr>
              <a:t>PM Stack</a:t>
            </a:r>
          </a:p>
          <a:p>
            <a:pPr lvl="1">
              <a:defRPr/>
            </a:pPr>
            <a:r>
              <a:rPr lang="en-US" sz="1000" noProof="0">
                <a:solidFill>
                  <a:srgbClr val="505050"/>
                </a:solidFill>
                <a:latin typeface="Arial" panose="020B0604020202020204" pitchFamily="34" charset="0"/>
                <a:cs typeface="Arial" panose="020B0604020202020204" pitchFamily="34" charset="0"/>
              </a:rPr>
              <a:t>4.</a:t>
            </a:r>
            <a:r>
              <a:rPr lang="en-US" sz="1000" b="1" noProof="0">
                <a:solidFill>
                  <a:srgbClr val="505050"/>
                </a:solidFill>
                <a:latin typeface="Arial" panose="020B0604020202020204" pitchFamily="34" charset="0"/>
                <a:cs typeface="Arial" panose="020B0604020202020204" pitchFamily="34" charset="0"/>
              </a:rPr>
              <a:t>Corporate Project </a:t>
            </a:r>
            <a:r>
              <a:rPr lang="en-US" sz="1000" noProof="0">
                <a:solidFill>
                  <a:srgbClr val="505050"/>
                </a:solidFill>
                <a:latin typeface="Arial" panose="020B0604020202020204" pitchFamily="34" charset="0"/>
                <a:cs typeface="Arial" panose="020B0604020202020204" pitchFamily="34" charset="0"/>
              </a:rPr>
              <a:t>Overlap</a:t>
            </a:r>
          </a:p>
        </p:txBody>
      </p:sp>
      <p:sp>
        <p:nvSpPr>
          <p:cNvPr id="77" name="Rectángulo 76">
            <a:extLst>
              <a:ext uri="{FF2B5EF4-FFF2-40B4-BE49-F238E27FC236}">
                <a16:creationId xmlns:a16="http://schemas.microsoft.com/office/drawing/2014/main" id="{248813A2-E418-06CF-127B-E8CC5E8EFEFD}"/>
              </a:ext>
            </a:extLst>
          </p:cNvPr>
          <p:cNvSpPr/>
          <p:nvPr/>
        </p:nvSpPr>
        <p:spPr>
          <a:xfrm>
            <a:off x="4588608" y="3409145"/>
            <a:ext cx="3014783" cy="196791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lvl="0" algn="ctr">
              <a:defRPr/>
            </a:pPr>
            <a:r>
              <a:rPr lang="en-US" sz="1000" b="1" noProof="0">
                <a:solidFill>
                  <a:schemeClr val="tx1"/>
                </a:solidFill>
                <a:latin typeface="Arial" panose="020B0604020202020204" pitchFamily="34" charset="0"/>
                <a:cs typeface="Arial" panose="020B0604020202020204" pitchFamily="34" charset="0"/>
              </a:rPr>
              <a:t>Customer Service</a:t>
            </a:r>
          </a:p>
          <a:p>
            <a:pPr lvl="0">
              <a:defRPr/>
            </a:pPr>
            <a:endParaRPr lang="en-US" sz="1000" noProof="0">
              <a:solidFill>
                <a:srgbClr val="505050"/>
              </a:solidFill>
              <a:latin typeface="Arial" panose="020B0604020202020204" pitchFamily="34" charset="0"/>
              <a:cs typeface="Arial" panose="020B0604020202020204" pitchFamily="34" charset="0"/>
            </a:endParaRPr>
          </a:p>
          <a:p>
            <a:pPr lvl="0">
              <a:defRPr/>
            </a:pPr>
            <a:r>
              <a:rPr lang="en-US" sz="1000" noProof="0">
                <a:solidFill>
                  <a:srgbClr val="505050"/>
                </a:solidFill>
                <a:latin typeface="Arial" panose="020B0604020202020204" pitchFamily="34" charset="0"/>
                <a:cs typeface="Arial" panose="020B0604020202020204" pitchFamily="34" charset="0"/>
              </a:rPr>
              <a:t>5.Customer Services </a:t>
            </a:r>
            <a:r>
              <a:rPr lang="en-US" sz="1000" b="1" noProof="0">
                <a:solidFill>
                  <a:srgbClr val="505050"/>
                </a:solidFill>
                <a:latin typeface="Arial" panose="020B0604020202020204" pitchFamily="34" charset="0"/>
                <a:cs typeface="Arial" panose="020B0604020202020204" pitchFamily="34" charset="0"/>
              </a:rPr>
              <a:t>Leadership</a:t>
            </a:r>
            <a:r>
              <a:rPr lang="en-US" sz="1000" noProof="0">
                <a:solidFill>
                  <a:srgbClr val="505050"/>
                </a:solidFill>
                <a:latin typeface="Arial" panose="020B0604020202020204" pitchFamily="34" charset="0"/>
                <a:cs typeface="Arial" panose="020B0604020202020204" pitchFamily="34" charset="0"/>
              </a:rPr>
              <a:t> Gap</a:t>
            </a:r>
          </a:p>
          <a:p>
            <a:pPr lvl="0">
              <a:defRPr/>
            </a:pPr>
            <a:r>
              <a:rPr lang="en-US" sz="1000" noProof="0">
                <a:solidFill>
                  <a:srgbClr val="505050"/>
                </a:solidFill>
                <a:latin typeface="Arial" panose="020B0604020202020204" pitchFamily="34" charset="0"/>
                <a:cs typeface="Arial" panose="020B0604020202020204" pitchFamily="34" charset="0"/>
              </a:rPr>
              <a:t>6.No Branch-Wide </a:t>
            </a:r>
            <a:r>
              <a:rPr lang="en-US" sz="1000" b="1" noProof="0">
                <a:solidFill>
                  <a:srgbClr val="505050"/>
                </a:solidFill>
                <a:latin typeface="Arial" panose="020B0604020202020204" pitchFamily="34" charset="0"/>
                <a:cs typeface="Arial" panose="020B0604020202020204" pitchFamily="34" charset="0"/>
              </a:rPr>
              <a:t>Portfolio Tool</a:t>
            </a:r>
          </a:p>
          <a:p>
            <a:pPr lvl="0">
              <a:defRPr/>
            </a:pPr>
            <a:r>
              <a:rPr lang="en-US" sz="1000" noProof="0">
                <a:solidFill>
                  <a:srgbClr val="505050"/>
                </a:solidFill>
                <a:latin typeface="Arial" panose="020B0604020202020204" pitchFamily="34" charset="0"/>
                <a:cs typeface="Arial" panose="020B0604020202020204" pitchFamily="34" charset="0"/>
              </a:rPr>
              <a:t>7.Smart Metering </a:t>
            </a:r>
            <a:r>
              <a:rPr lang="en-US" sz="1000" b="1" noProof="0">
                <a:solidFill>
                  <a:srgbClr val="505050"/>
                </a:solidFill>
                <a:latin typeface="Arial" panose="020B0604020202020204" pitchFamily="34" charset="0"/>
                <a:cs typeface="Arial" panose="020B0604020202020204" pitchFamily="34" charset="0"/>
              </a:rPr>
              <a:t>Vendor Concentration</a:t>
            </a:r>
          </a:p>
          <a:p>
            <a:pPr lvl="0">
              <a:defRPr/>
            </a:pPr>
            <a:r>
              <a:rPr lang="en-US" sz="1000" noProof="0">
                <a:solidFill>
                  <a:srgbClr val="505050"/>
                </a:solidFill>
                <a:latin typeface="Arial" panose="020B0604020202020204" pitchFamily="34" charset="0"/>
                <a:cs typeface="Arial" panose="020B0604020202020204" pitchFamily="34" charset="0"/>
              </a:rPr>
              <a:t>8.</a:t>
            </a:r>
            <a:r>
              <a:rPr lang="en-US" sz="1000" b="1" noProof="0">
                <a:solidFill>
                  <a:srgbClr val="505050"/>
                </a:solidFill>
                <a:latin typeface="Arial" panose="020B0604020202020204" pitchFamily="34" charset="0"/>
                <a:cs typeface="Arial" panose="020B0604020202020204" pitchFamily="34" charset="0"/>
              </a:rPr>
              <a:t>Multi-OPCO</a:t>
            </a:r>
            <a:r>
              <a:rPr lang="en-US" sz="1000" noProof="0">
                <a:solidFill>
                  <a:srgbClr val="505050"/>
                </a:solidFill>
                <a:latin typeface="Arial" panose="020B0604020202020204" pitchFamily="34" charset="0"/>
                <a:cs typeface="Arial" panose="020B0604020202020204" pitchFamily="34" charset="0"/>
              </a:rPr>
              <a:t> Capacity Competition</a:t>
            </a:r>
            <a:endParaRPr kumimoji="0" lang="en-US" sz="1000" b="0" i="0" u="none" strike="noStrike" kern="1200" cap="none" spc="0" normalizeH="0" baseline="0" noProof="0">
              <a:ln>
                <a:noFill/>
              </a:ln>
              <a:solidFill>
                <a:srgbClr val="505050"/>
              </a:solidFill>
              <a:effectLst/>
              <a:uLnTx/>
              <a:uFillTx/>
              <a:latin typeface="Arial" panose="020B0604020202020204" pitchFamily="34" charset="0"/>
              <a:cs typeface="Arial" panose="020B0604020202020204" pitchFamily="34" charset="0"/>
            </a:endParaRPr>
          </a:p>
        </p:txBody>
      </p:sp>
      <p:sp>
        <p:nvSpPr>
          <p:cNvPr id="78" name="Rectángulo 77">
            <a:extLst>
              <a:ext uri="{FF2B5EF4-FFF2-40B4-BE49-F238E27FC236}">
                <a16:creationId xmlns:a16="http://schemas.microsoft.com/office/drawing/2014/main" id="{9CC1B2DC-9A97-D742-FAEA-A9DBB887CC61}"/>
              </a:ext>
            </a:extLst>
          </p:cNvPr>
          <p:cNvSpPr/>
          <p:nvPr/>
        </p:nvSpPr>
        <p:spPr>
          <a:xfrm>
            <a:off x="7652938" y="1992881"/>
            <a:ext cx="3535540" cy="31306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1200" b="1" noProof="0">
                <a:solidFill>
                  <a:schemeClr val="tx1"/>
                </a:solidFill>
                <a:latin typeface="Arial" panose="020B0604020202020204" pitchFamily="34" charset="0"/>
                <a:cs typeface="Arial" panose="020B0604020202020204" pitchFamily="34" charset="0"/>
              </a:rPr>
              <a:t>8 </a:t>
            </a:r>
            <a:r>
              <a:rPr lang="en-US" sz="1200" noProof="0">
                <a:solidFill>
                  <a:schemeClr val="tx1"/>
                </a:solidFill>
                <a:latin typeface="Arial" panose="020B0604020202020204" pitchFamily="34" charset="0"/>
                <a:cs typeface="Arial" panose="020B0604020202020204" pitchFamily="34" charset="0"/>
              </a:rPr>
              <a:t>TO-BE guiding principles</a:t>
            </a:r>
          </a:p>
        </p:txBody>
      </p:sp>
      <p:sp>
        <p:nvSpPr>
          <p:cNvPr id="82" name="Rectángulo: esquinas redondeadas 81">
            <a:extLst>
              <a:ext uri="{FF2B5EF4-FFF2-40B4-BE49-F238E27FC236}">
                <a16:creationId xmlns:a16="http://schemas.microsoft.com/office/drawing/2014/main" id="{1B299ED3-2C40-D009-0502-7094A85553CE}"/>
              </a:ext>
            </a:extLst>
          </p:cNvPr>
          <p:cNvSpPr/>
          <p:nvPr/>
        </p:nvSpPr>
        <p:spPr>
          <a:xfrm>
            <a:off x="9067799" y="2417100"/>
            <a:ext cx="2844213" cy="307887"/>
          </a:xfrm>
          <a:prstGeom prst="roundRect">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noProof="0">
                <a:solidFill>
                  <a:srgbClr val="505050"/>
                </a:solidFill>
                <a:latin typeface="Arial" panose="020B0604020202020204" pitchFamily="34" charset="0"/>
                <a:cs typeface="Arial" panose="020B0604020202020204" pitchFamily="34" charset="0"/>
              </a:rPr>
              <a:t>1.Single Front Door</a:t>
            </a:r>
            <a:endParaRPr lang="en-US" sz="1200" noProof="0"/>
          </a:p>
        </p:txBody>
      </p:sp>
      <p:sp>
        <p:nvSpPr>
          <p:cNvPr id="83" name="Rectángulo: esquinas redondeadas 82">
            <a:extLst>
              <a:ext uri="{FF2B5EF4-FFF2-40B4-BE49-F238E27FC236}">
                <a16:creationId xmlns:a16="http://schemas.microsoft.com/office/drawing/2014/main" id="{882B0133-119F-FAF3-82AE-8B82F93F3AF8}"/>
              </a:ext>
            </a:extLst>
          </p:cNvPr>
          <p:cNvSpPr/>
          <p:nvPr/>
        </p:nvSpPr>
        <p:spPr>
          <a:xfrm>
            <a:off x="9077324" y="2902875"/>
            <a:ext cx="2844213" cy="307887"/>
          </a:xfrm>
          <a:prstGeom prst="roundRect">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noProof="0">
                <a:solidFill>
                  <a:srgbClr val="505050"/>
                </a:solidFill>
                <a:latin typeface="Arial" panose="020B0604020202020204" pitchFamily="34" charset="0"/>
                <a:cs typeface="Arial" panose="020B0604020202020204" pitchFamily="34" charset="0"/>
              </a:rPr>
              <a:t>2.Value-Based Prioritization</a:t>
            </a:r>
          </a:p>
        </p:txBody>
      </p:sp>
      <p:sp>
        <p:nvSpPr>
          <p:cNvPr id="84" name="Rectángulo: esquinas redondeadas 83">
            <a:extLst>
              <a:ext uri="{FF2B5EF4-FFF2-40B4-BE49-F238E27FC236}">
                <a16:creationId xmlns:a16="http://schemas.microsoft.com/office/drawing/2014/main" id="{5DF800DF-D332-44B4-45CB-57D54D9BFF76}"/>
              </a:ext>
            </a:extLst>
          </p:cNvPr>
          <p:cNvSpPr/>
          <p:nvPr/>
        </p:nvSpPr>
        <p:spPr>
          <a:xfrm>
            <a:off x="9067799" y="3388650"/>
            <a:ext cx="2844213" cy="307887"/>
          </a:xfrm>
          <a:prstGeom prst="roundRect">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noProof="0">
                <a:solidFill>
                  <a:srgbClr val="505050"/>
                </a:solidFill>
                <a:latin typeface="Arial" panose="020B0604020202020204" pitchFamily="34" charset="0"/>
                <a:cs typeface="Arial" panose="020B0604020202020204" pitchFamily="34" charset="0"/>
              </a:rPr>
              <a:t>3.Capacity-Aware Assignment</a:t>
            </a:r>
          </a:p>
        </p:txBody>
      </p:sp>
      <p:sp>
        <p:nvSpPr>
          <p:cNvPr id="85" name="Rectángulo: esquinas redondeadas 84">
            <a:extLst>
              <a:ext uri="{FF2B5EF4-FFF2-40B4-BE49-F238E27FC236}">
                <a16:creationId xmlns:a16="http://schemas.microsoft.com/office/drawing/2014/main" id="{E3F6920D-E5C1-2244-E831-A4E2689BFF9E}"/>
              </a:ext>
            </a:extLst>
          </p:cNvPr>
          <p:cNvSpPr/>
          <p:nvPr/>
        </p:nvSpPr>
        <p:spPr>
          <a:xfrm>
            <a:off x="9058274" y="3874425"/>
            <a:ext cx="2844213" cy="307887"/>
          </a:xfrm>
          <a:prstGeom prst="roundRect">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noProof="0">
                <a:solidFill>
                  <a:srgbClr val="505050"/>
                </a:solidFill>
                <a:latin typeface="Arial" panose="020B0604020202020204" pitchFamily="34" charset="0"/>
                <a:cs typeface="Arial" panose="020B0604020202020204" pitchFamily="34" charset="0"/>
              </a:rPr>
              <a:t>4.Standardized Execution (Jira</a:t>
            </a:r>
            <a:endParaRPr lang="en-US" sz="1200" noProof="0"/>
          </a:p>
        </p:txBody>
      </p:sp>
      <p:sp>
        <p:nvSpPr>
          <p:cNvPr id="86" name="Rectángulo: esquinas redondeadas 85">
            <a:extLst>
              <a:ext uri="{FF2B5EF4-FFF2-40B4-BE49-F238E27FC236}">
                <a16:creationId xmlns:a16="http://schemas.microsoft.com/office/drawing/2014/main" id="{C5825DC5-AD7F-C3E1-BCED-B61E8A4CE207}"/>
              </a:ext>
            </a:extLst>
          </p:cNvPr>
          <p:cNvSpPr/>
          <p:nvPr/>
        </p:nvSpPr>
        <p:spPr>
          <a:xfrm>
            <a:off x="9058274" y="4360200"/>
            <a:ext cx="2844213" cy="307887"/>
          </a:xfrm>
          <a:prstGeom prst="roundRect">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noProof="0">
                <a:solidFill>
                  <a:srgbClr val="505050"/>
                </a:solidFill>
                <a:latin typeface="Arial" panose="020B0604020202020204" pitchFamily="34" charset="0"/>
                <a:cs typeface="Arial" panose="020B0604020202020204" pitchFamily="34" charset="0"/>
              </a:rPr>
              <a:t>5.Integrated Toolchain</a:t>
            </a:r>
          </a:p>
        </p:txBody>
      </p:sp>
      <p:sp>
        <p:nvSpPr>
          <p:cNvPr id="87" name="Rectángulo: esquinas redondeadas 86">
            <a:extLst>
              <a:ext uri="{FF2B5EF4-FFF2-40B4-BE49-F238E27FC236}">
                <a16:creationId xmlns:a16="http://schemas.microsoft.com/office/drawing/2014/main" id="{558F8F6F-80D6-52A3-96F0-9D3E8F7A36DC}"/>
              </a:ext>
            </a:extLst>
          </p:cNvPr>
          <p:cNvSpPr/>
          <p:nvPr/>
        </p:nvSpPr>
        <p:spPr>
          <a:xfrm>
            <a:off x="9067799" y="4845975"/>
            <a:ext cx="2844213" cy="307887"/>
          </a:xfrm>
          <a:prstGeom prst="roundRect">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noProof="0">
                <a:solidFill>
                  <a:srgbClr val="505050"/>
                </a:solidFill>
                <a:latin typeface="Arial" panose="020B0604020202020204" pitchFamily="34" charset="0"/>
                <a:cs typeface="Arial" panose="020B0604020202020204" pitchFamily="34" charset="0"/>
              </a:rPr>
              <a:t>6.Automated Reporting </a:t>
            </a:r>
          </a:p>
        </p:txBody>
      </p:sp>
      <p:sp>
        <p:nvSpPr>
          <p:cNvPr id="88" name="Rectángulo: esquinas redondeadas 87">
            <a:extLst>
              <a:ext uri="{FF2B5EF4-FFF2-40B4-BE49-F238E27FC236}">
                <a16:creationId xmlns:a16="http://schemas.microsoft.com/office/drawing/2014/main" id="{26143C1C-EE83-A8DA-36FF-7954019B8111}"/>
              </a:ext>
            </a:extLst>
          </p:cNvPr>
          <p:cNvSpPr/>
          <p:nvPr/>
        </p:nvSpPr>
        <p:spPr>
          <a:xfrm>
            <a:off x="9058274" y="5331750"/>
            <a:ext cx="2844213" cy="307887"/>
          </a:xfrm>
          <a:prstGeom prst="roundRect">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noProof="0">
                <a:solidFill>
                  <a:srgbClr val="505050"/>
                </a:solidFill>
                <a:latin typeface="Arial" panose="020B0604020202020204" pitchFamily="34" charset="0"/>
                <a:cs typeface="Arial" panose="020B0604020202020204" pitchFamily="34" charset="0"/>
              </a:rPr>
              <a:t>7.Defined RACI per Lifecycle Phase</a:t>
            </a:r>
          </a:p>
        </p:txBody>
      </p:sp>
      <p:sp>
        <p:nvSpPr>
          <p:cNvPr id="89" name="Rectángulo: esquinas redondeadas 88">
            <a:extLst>
              <a:ext uri="{FF2B5EF4-FFF2-40B4-BE49-F238E27FC236}">
                <a16:creationId xmlns:a16="http://schemas.microsoft.com/office/drawing/2014/main" id="{919AE0C3-5DB3-987E-1DB1-EFDF92A832B8}"/>
              </a:ext>
            </a:extLst>
          </p:cNvPr>
          <p:cNvSpPr/>
          <p:nvPr/>
        </p:nvSpPr>
        <p:spPr>
          <a:xfrm>
            <a:off x="9048749" y="5817525"/>
            <a:ext cx="2844213" cy="307887"/>
          </a:xfrm>
          <a:prstGeom prst="roundRect">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noProof="0">
                <a:solidFill>
                  <a:srgbClr val="505050"/>
                </a:solidFill>
                <a:latin typeface="Arial" panose="020B0604020202020204" pitchFamily="34" charset="0"/>
                <a:cs typeface="Arial" panose="020B0604020202020204" pitchFamily="34" charset="0"/>
              </a:rPr>
              <a:t>8.Standardized Execution Model</a:t>
            </a:r>
          </a:p>
        </p:txBody>
      </p:sp>
      <p:grpSp>
        <p:nvGrpSpPr>
          <p:cNvPr id="93" name="Grupo 92">
            <a:extLst>
              <a:ext uri="{FF2B5EF4-FFF2-40B4-BE49-F238E27FC236}">
                <a16:creationId xmlns:a16="http://schemas.microsoft.com/office/drawing/2014/main" id="{460E2821-A6BD-0BE1-965E-008DE364B0DD}"/>
              </a:ext>
            </a:extLst>
          </p:cNvPr>
          <p:cNvGrpSpPr/>
          <p:nvPr/>
        </p:nvGrpSpPr>
        <p:grpSpPr>
          <a:xfrm>
            <a:off x="8470382" y="2410256"/>
            <a:ext cx="377203" cy="346585"/>
            <a:chOff x="5354160" y="2891461"/>
            <a:chExt cx="563274" cy="557242"/>
          </a:xfrm>
        </p:grpSpPr>
        <p:pic>
          <p:nvPicPr>
            <p:cNvPr id="94" name="Imagen 93">
              <a:extLst>
                <a:ext uri="{FF2B5EF4-FFF2-40B4-BE49-F238E27FC236}">
                  <a16:creationId xmlns:a16="http://schemas.microsoft.com/office/drawing/2014/main" id="{258B18AA-A21E-FD3A-23F5-DB75BCEF4471}"/>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399039" y="2951721"/>
              <a:ext cx="459764" cy="495023"/>
            </a:xfrm>
            <a:prstGeom prst="rect">
              <a:avLst/>
            </a:prstGeom>
          </p:spPr>
        </p:pic>
        <p:sp>
          <p:nvSpPr>
            <p:cNvPr id="96" name="Elipse 95">
              <a:extLst>
                <a:ext uri="{FF2B5EF4-FFF2-40B4-BE49-F238E27FC236}">
                  <a16:creationId xmlns:a16="http://schemas.microsoft.com/office/drawing/2014/main" id="{0C04F51C-6825-B5BA-FA1B-ABCDCA7E58C1}"/>
                </a:ext>
              </a:extLst>
            </p:cNvPr>
            <p:cNvSpPr/>
            <p:nvPr/>
          </p:nvSpPr>
          <p:spPr>
            <a:xfrm>
              <a:off x="5354160" y="2891461"/>
              <a:ext cx="563274" cy="557242"/>
            </a:xfrm>
            <a:prstGeom prst="ellipse">
              <a:avLst/>
            </a:prstGeom>
            <a:noFill/>
            <a:ln w="38100">
              <a:solidFill>
                <a:srgbClr val="2C578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panose="020B0502040204020203" pitchFamily="34" charset="0"/>
                <a:ea typeface="+mn-ea"/>
                <a:cs typeface="+mn-cs"/>
              </a:endParaRPr>
            </a:p>
          </p:txBody>
        </p:sp>
      </p:grpSp>
      <p:grpSp>
        <p:nvGrpSpPr>
          <p:cNvPr id="97" name="Grupo 96">
            <a:extLst>
              <a:ext uri="{FF2B5EF4-FFF2-40B4-BE49-F238E27FC236}">
                <a16:creationId xmlns:a16="http://schemas.microsoft.com/office/drawing/2014/main" id="{D81641EF-1259-6A27-12FF-AC2D41F5C8AA}"/>
              </a:ext>
            </a:extLst>
          </p:cNvPr>
          <p:cNvGrpSpPr/>
          <p:nvPr/>
        </p:nvGrpSpPr>
        <p:grpSpPr>
          <a:xfrm>
            <a:off x="8418820" y="2868220"/>
            <a:ext cx="493325" cy="371675"/>
            <a:chOff x="5277155" y="2851121"/>
            <a:chExt cx="736677" cy="597582"/>
          </a:xfrm>
        </p:grpSpPr>
        <p:pic>
          <p:nvPicPr>
            <p:cNvPr id="98" name="Imagen 97">
              <a:extLst>
                <a:ext uri="{FF2B5EF4-FFF2-40B4-BE49-F238E27FC236}">
                  <a16:creationId xmlns:a16="http://schemas.microsoft.com/office/drawing/2014/main" id="{D8773865-6887-AA0D-86BA-EF746373E4E1}"/>
                </a:ext>
              </a:extLst>
            </p:cNvPr>
            <p:cNvPicPr>
              <a:picLocks noChangeAspect="1"/>
            </p:cNvPicPr>
            <p:nvPr/>
          </p:nvPicPr>
          <p:blipFill>
            <a:blip r:embed="rId4" cstate="print">
              <a:extLst>
                <a:ext uri="{28A0092B-C50C-407E-A947-70E740481C1C}">
                  <a14:useLocalDpi xmlns:a14="http://schemas.microsoft.com/office/drawing/2010/main" val="0"/>
                </a:ext>
              </a:extLst>
            </a:blip>
            <a:srcRect r="3329" b="39667"/>
            <a:stretch>
              <a:fillRect/>
            </a:stretch>
          </p:blipFill>
          <p:spPr>
            <a:xfrm>
              <a:off x="5277155" y="2851121"/>
              <a:ext cx="736677" cy="495023"/>
            </a:xfrm>
            <a:prstGeom prst="rect">
              <a:avLst/>
            </a:prstGeom>
          </p:spPr>
        </p:pic>
        <p:sp>
          <p:nvSpPr>
            <p:cNvPr id="99" name="Elipse 98">
              <a:extLst>
                <a:ext uri="{FF2B5EF4-FFF2-40B4-BE49-F238E27FC236}">
                  <a16:creationId xmlns:a16="http://schemas.microsoft.com/office/drawing/2014/main" id="{C56335B3-B523-981B-7CF4-08DE5F8815F8}"/>
                </a:ext>
              </a:extLst>
            </p:cNvPr>
            <p:cNvSpPr/>
            <p:nvPr/>
          </p:nvSpPr>
          <p:spPr>
            <a:xfrm>
              <a:off x="5354160" y="2891461"/>
              <a:ext cx="563274" cy="557242"/>
            </a:xfrm>
            <a:prstGeom prst="ellipse">
              <a:avLst/>
            </a:prstGeom>
            <a:noFill/>
            <a:ln w="38100">
              <a:solidFill>
                <a:srgbClr val="2C578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panose="020B0502040204020203" pitchFamily="34" charset="0"/>
                <a:ea typeface="+mn-ea"/>
                <a:cs typeface="+mn-cs"/>
              </a:endParaRPr>
            </a:p>
          </p:txBody>
        </p:sp>
      </p:grpSp>
      <p:grpSp>
        <p:nvGrpSpPr>
          <p:cNvPr id="100" name="Grupo 99">
            <a:extLst>
              <a:ext uri="{FF2B5EF4-FFF2-40B4-BE49-F238E27FC236}">
                <a16:creationId xmlns:a16="http://schemas.microsoft.com/office/drawing/2014/main" id="{2348B50E-244A-D426-BEFA-8F5A6A46827A}"/>
              </a:ext>
            </a:extLst>
          </p:cNvPr>
          <p:cNvGrpSpPr/>
          <p:nvPr/>
        </p:nvGrpSpPr>
        <p:grpSpPr>
          <a:xfrm>
            <a:off x="8431522" y="3376366"/>
            <a:ext cx="445724" cy="350067"/>
            <a:chOff x="5296124" y="2891461"/>
            <a:chExt cx="665595" cy="562840"/>
          </a:xfrm>
        </p:grpSpPr>
        <p:pic>
          <p:nvPicPr>
            <p:cNvPr id="101" name="Imagen 100">
              <a:extLst>
                <a:ext uri="{FF2B5EF4-FFF2-40B4-BE49-F238E27FC236}">
                  <a16:creationId xmlns:a16="http://schemas.microsoft.com/office/drawing/2014/main" id="{D51DC689-708B-4C00-DA46-2293B9B82B84}"/>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5296124" y="2944163"/>
              <a:ext cx="665595" cy="510138"/>
            </a:xfrm>
            <a:prstGeom prst="rect">
              <a:avLst/>
            </a:prstGeom>
          </p:spPr>
        </p:pic>
        <p:sp>
          <p:nvSpPr>
            <p:cNvPr id="102" name="Elipse 101">
              <a:extLst>
                <a:ext uri="{FF2B5EF4-FFF2-40B4-BE49-F238E27FC236}">
                  <a16:creationId xmlns:a16="http://schemas.microsoft.com/office/drawing/2014/main" id="{550394EF-9FFC-E7DD-90AE-B4E54637D07C}"/>
                </a:ext>
              </a:extLst>
            </p:cNvPr>
            <p:cNvSpPr/>
            <p:nvPr/>
          </p:nvSpPr>
          <p:spPr>
            <a:xfrm>
              <a:off x="5354160" y="2891461"/>
              <a:ext cx="563274" cy="557242"/>
            </a:xfrm>
            <a:prstGeom prst="ellipse">
              <a:avLst/>
            </a:prstGeom>
            <a:noFill/>
            <a:ln w="38100">
              <a:solidFill>
                <a:srgbClr val="2C578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panose="020B0502040204020203" pitchFamily="34" charset="0"/>
                <a:ea typeface="+mn-ea"/>
                <a:cs typeface="+mn-cs"/>
              </a:endParaRPr>
            </a:p>
          </p:txBody>
        </p:sp>
      </p:grpSp>
      <p:grpSp>
        <p:nvGrpSpPr>
          <p:cNvPr id="103" name="Grupo 102">
            <a:extLst>
              <a:ext uri="{FF2B5EF4-FFF2-40B4-BE49-F238E27FC236}">
                <a16:creationId xmlns:a16="http://schemas.microsoft.com/office/drawing/2014/main" id="{115F52C4-707D-BA00-7923-F1D85B60CCBF}"/>
              </a:ext>
            </a:extLst>
          </p:cNvPr>
          <p:cNvGrpSpPr/>
          <p:nvPr/>
        </p:nvGrpSpPr>
        <p:grpSpPr>
          <a:xfrm>
            <a:off x="8469634" y="3859418"/>
            <a:ext cx="377968" cy="346585"/>
            <a:chOff x="5353020" y="2891461"/>
            <a:chExt cx="564414" cy="557242"/>
          </a:xfrm>
        </p:grpSpPr>
        <p:pic>
          <p:nvPicPr>
            <p:cNvPr id="104" name="Imagen 103">
              <a:extLst>
                <a:ext uri="{FF2B5EF4-FFF2-40B4-BE49-F238E27FC236}">
                  <a16:creationId xmlns:a16="http://schemas.microsoft.com/office/drawing/2014/main" id="{C9606389-B387-D6E3-1E3B-CEF13006F303}"/>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p:blipFill>
          <p:spPr>
            <a:xfrm>
              <a:off x="5353020" y="2936893"/>
              <a:ext cx="562673" cy="417657"/>
            </a:xfrm>
            <a:prstGeom prst="rect">
              <a:avLst/>
            </a:prstGeom>
          </p:spPr>
        </p:pic>
        <p:sp>
          <p:nvSpPr>
            <p:cNvPr id="105" name="Elipse 104">
              <a:extLst>
                <a:ext uri="{FF2B5EF4-FFF2-40B4-BE49-F238E27FC236}">
                  <a16:creationId xmlns:a16="http://schemas.microsoft.com/office/drawing/2014/main" id="{E4934075-D179-5392-95CA-67C014D78370}"/>
                </a:ext>
              </a:extLst>
            </p:cNvPr>
            <p:cNvSpPr/>
            <p:nvPr/>
          </p:nvSpPr>
          <p:spPr>
            <a:xfrm>
              <a:off x="5354160" y="2891461"/>
              <a:ext cx="563274" cy="557242"/>
            </a:xfrm>
            <a:prstGeom prst="ellipse">
              <a:avLst/>
            </a:prstGeom>
            <a:noFill/>
            <a:ln w="38100">
              <a:solidFill>
                <a:srgbClr val="2C578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panose="020B0502040204020203" pitchFamily="34" charset="0"/>
                <a:ea typeface="+mn-ea"/>
                <a:cs typeface="+mn-cs"/>
              </a:endParaRPr>
            </a:p>
          </p:txBody>
        </p:sp>
      </p:grpSp>
      <p:grpSp>
        <p:nvGrpSpPr>
          <p:cNvPr id="106" name="Grupo 105">
            <a:extLst>
              <a:ext uri="{FF2B5EF4-FFF2-40B4-BE49-F238E27FC236}">
                <a16:creationId xmlns:a16="http://schemas.microsoft.com/office/drawing/2014/main" id="{4C84A1BE-521A-EFB8-A6E3-D21D12E58F2F}"/>
              </a:ext>
            </a:extLst>
          </p:cNvPr>
          <p:cNvGrpSpPr/>
          <p:nvPr/>
        </p:nvGrpSpPr>
        <p:grpSpPr>
          <a:xfrm>
            <a:off x="8441049" y="4329028"/>
            <a:ext cx="445724" cy="360031"/>
            <a:chOff x="5310352" y="2869843"/>
            <a:chExt cx="665595" cy="578860"/>
          </a:xfrm>
        </p:grpSpPr>
        <p:pic>
          <p:nvPicPr>
            <p:cNvPr id="107" name="Imagen 106">
              <a:extLst>
                <a:ext uri="{FF2B5EF4-FFF2-40B4-BE49-F238E27FC236}">
                  <a16:creationId xmlns:a16="http://schemas.microsoft.com/office/drawing/2014/main" id="{02FD46B3-7895-E5A3-C621-97FC65DBE291}"/>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p:blipFill>
          <p:spPr>
            <a:xfrm>
              <a:off x="5310352" y="2869843"/>
              <a:ext cx="665595" cy="505634"/>
            </a:xfrm>
            <a:prstGeom prst="rect">
              <a:avLst/>
            </a:prstGeom>
          </p:spPr>
        </p:pic>
        <p:sp>
          <p:nvSpPr>
            <p:cNvPr id="108" name="Elipse 107">
              <a:extLst>
                <a:ext uri="{FF2B5EF4-FFF2-40B4-BE49-F238E27FC236}">
                  <a16:creationId xmlns:a16="http://schemas.microsoft.com/office/drawing/2014/main" id="{A4754700-9A52-D060-FDBB-9FD885C5E697}"/>
                </a:ext>
              </a:extLst>
            </p:cNvPr>
            <p:cNvSpPr/>
            <p:nvPr/>
          </p:nvSpPr>
          <p:spPr>
            <a:xfrm>
              <a:off x="5354160" y="2891461"/>
              <a:ext cx="563274" cy="557242"/>
            </a:xfrm>
            <a:prstGeom prst="ellipse">
              <a:avLst/>
            </a:prstGeom>
            <a:noFill/>
            <a:ln w="38100">
              <a:solidFill>
                <a:srgbClr val="2C578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panose="020B0502040204020203" pitchFamily="34" charset="0"/>
                <a:ea typeface="+mn-ea"/>
                <a:cs typeface="+mn-cs"/>
              </a:endParaRPr>
            </a:p>
          </p:txBody>
        </p:sp>
      </p:grpSp>
      <p:grpSp>
        <p:nvGrpSpPr>
          <p:cNvPr id="109" name="Grupo 108">
            <a:extLst>
              <a:ext uri="{FF2B5EF4-FFF2-40B4-BE49-F238E27FC236}">
                <a16:creationId xmlns:a16="http://schemas.microsoft.com/office/drawing/2014/main" id="{99D2C759-D6CA-7A21-6B72-4F4CAF9138EB}"/>
              </a:ext>
            </a:extLst>
          </p:cNvPr>
          <p:cNvGrpSpPr/>
          <p:nvPr/>
        </p:nvGrpSpPr>
        <p:grpSpPr>
          <a:xfrm>
            <a:off x="8431522" y="4825526"/>
            <a:ext cx="445724" cy="346585"/>
            <a:chOff x="5296124" y="2891461"/>
            <a:chExt cx="665595" cy="557242"/>
          </a:xfrm>
        </p:grpSpPr>
        <p:pic>
          <p:nvPicPr>
            <p:cNvPr id="110" name="Imagen 109">
              <a:extLst>
                <a:ext uri="{FF2B5EF4-FFF2-40B4-BE49-F238E27FC236}">
                  <a16:creationId xmlns:a16="http://schemas.microsoft.com/office/drawing/2014/main" id="{37AA6D7C-2410-2B1C-64B7-D1B5A996DE55}"/>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p:blipFill>
          <p:spPr>
            <a:xfrm>
              <a:off x="5296124" y="3011798"/>
              <a:ext cx="665595" cy="374867"/>
            </a:xfrm>
            <a:prstGeom prst="rect">
              <a:avLst/>
            </a:prstGeom>
          </p:spPr>
        </p:pic>
        <p:sp>
          <p:nvSpPr>
            <p:cNvPr id="111" name="Elipse 110">
              <a:extLst>
                <a:ext uri="{FF2B5EF4-FFF2-40B4-BE49-F238E27FC236}">
                  <a16:creationId xmlns:a16="http://schemas.microsoft.com/office/drawing/2014/main" id="{8CF5EC76-7314-7234-9BA1-F943B457680B}"/>
                </a:ext>
              </a:extLst>
            </p:cNvPr>
            <p:cNvSpPr/>
            <p:nvPr/>
          </p:nvSpPr>
          <p:spPr>
            <a:xfrm>
              <a:off x="5354160" y="2891461"/>
              <a:ext cx="563274" cy="557242"/>
            </a:xfrm>
            <a:prstGeom prst="ellipse">
              <a:avLst/>
            </a:prstGeom>
            <a:noFill/>
            <a:ln w="38100">
              <a:solidFill>
                <a:srgbClr val="2C578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panose="020B0502040204020203" pitchFamily="34" charset="0"/>
                <a:ea typeface="+mn-ea"/>
                <a:cs typeface="+mn-cs"/>
              </a:endParaRPr>
            </a:p>
          </p:txBody>
        </p:sp>
      </p:grpSp>
      <p:grpSp>
        <p:nvGrpSpPr>
          <p:cNvPr id="112" name="Grupo 111">
            <a:extLst>
              <a:ext uri="{FF2B5EF4-FFF2-40B4-BE49-F238E27FC236}">
                <a16:creationId xmlns:a16="http://schemas.microsoft.com/office/drawing/2014/main" id="{B8F15069-E6C1-2A17-6ACA-2B12E8B2854D}"/>
              </a:ext>
            </a:extLst>
          </p:cNvPr>
          <p:cNvGrpSpPr/>
          <p:nvPr/>
        </p:nvGrpSpPr>
        <p:grpSpPr>
          <a:xfrm>
            <a:off x="8447392" y="5293016"/>
            <a:ext cx="413977" cy="413977"/>
            <a:chOff x="5319827" y="2866435"/>
            <a:chExt cx="618188" cy="665595"/>
          </a:xfrm>
        </p:grpSpPr>
        <p:pic>
          <p:nvPicPr>
            <p:cNvPr id="113" name="Imagen 112">
              <a:extLst>
                <a:ext uri="{FF2B5EF4-FFF2-40B4-BE49-F238E27FC236}">
                  <a16:creationId xmlns:a16="http://schemas.microsoft.com/office/drawing/2014/main" id="{9AD6516C-BBC5-0012-A1D5-07435DB62A6D}"/>
                </a:ext>
              </a:extLst>
            </p:cNvPr>
            <p:cNvPicPr>
              <a:picLocks noChangeAspect="1"/>
            </p:cNvPicPr>
            <p:nvPr/>
          </p:nvPicPr>
          <p:blipFill>
            <a:blip r:embed="rId9" cstate="print">
              <a:extLst>
                <a:ext uri="{28A0092B-C50C-407E-A947-70E740481C1C}">
                  <a14:useLocalDpi xmlns:a14="http://schemas.microsoft.com/office/drawing/2010/main" val="0"/>
                </a:ext>
              </a:extLst>
            </a:blip>
            <a:srcRect/>
            <a:stretch/>
          </p:blipFill>
          <p:spPr>
            <a:xfrm>
              <a:off x="5319827" y="2866435"/>
              <a:ext cx="618188" cy="665595"/>
            </a:xfrm>
            <a:prstGeom prst="rect">
              <a:avLst/>
            </a:prstGeom>
          </p:spPr>
        </p:pic>
        <p:sp>
          <p:nvSpPr>
            <p:cNvPr id="114" name="Elipse 113">
              <a:extLst>
                <a:ext uri="{FF2B5EF4-FFF2-40B4-BE49-F238E27FC236}">
                  <a16:creationId xmlns:a16="http://schemas.microsoft.com/office/drawing/2014/main" id="{69C2CDA1-7263-6F4B-9FDC-23F71E6D1D39}"/>
                </a:ext>
              </a:extLst>
            </p:cNvPr>
            <p:cNvSpPr/>
            <p:nvPr/>
          </p:nvSpPr>
          <p:spPr>
            <a:xfrm>
              <a:off x="5354160" y="2891461"/>
              <a:ext cx="563274" cy="557242"/>
            </a:xfrm>
            <a:prstGeom prst="ellipse">
              <a:avLst/>
            </a:prstGeom>
            <a:noFill/>
            <a:ln w="38100">
              <a:solidFill>
                <a:srgbClr val="2C578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panose="020B0502040204020203" pitchFamily="34" charset="0"/>
                <a:ea typeface="+mn-ea"/>
                <a:cs typeface="+mn-cs"/>
              </a:endParaRPr>
            </a:p>
          </p:txBody>
        </p:sp>
      </p:grpSp>
      <p:grpSp>
        <p:nvGrpSpPr>
          <p:cNvPr id="115" name="Grupo 114">
            <a:extLst>
              <a:ext uri="{FF2B5EF4-FFF2-40B4-BE49-F238E27FC236}">
                <a16:creationId xmlns:a16="http://schemas.microsoft.com/office/drawing/2014/main" id="{43642251-A4A6-1A34-46FE-E938C2B1C332}"/>
              </a:ext>
            </a:extLst>
          </p:cNvPr>
          <p:cNvGrpSpPr/>
          <p:nvPr/>
        </p:nvGrpSpPr>
        <p:grpSpPr>
          <a:xfrm>
            <a:off x="8447392" y="5776067"/>
            <a:ext cx="413977" cy="413977"/>
            <a:chOff x="5319827" y="2866435"/>
            <a:chExt cx="618188" cy="665595"/>
          </a:xfrm>
        </p:grpSpPr>
        <p:pic>
          <p:nvPicPr>
            <p:cNvPr id="116" name="Imagen 115">
              <a:extLst>
                <a:ext uri="{FF2B5EF4-FFF2-40B4-BE49-F238E27FC236}">
                  <a16:creationId xmlns:a16="http://schemas.microsoft.com/office/drawing/2014/main" id="{A3CE61F1-5CE8-B056-AD7F-F8EBA394B1A3}"/>
                </a:ext>
              </a:extLst>
            </p:cNvPr>
            <p:cNvPicPr>
              <a:picLocks noChangeAspect="1"/>
            </p:cNvPicPr>
            <p:nvPr/>
          </p:nvPicPr>
          <p:blipFill>
            <a:blip r:embed="rId10" cstate="print">
              <a:extLst>
                <a:ext uri="{28A0092B-C50C-407E-A947-70E740481C1C}">
                  <a14:useLocalDpi xmlns:a14="http://schemas.microsoft.com/office/drawing/2010/main" val="0"/>
                </a:ext>
              </a:extLst>
            </a:blip>
            <a:srcRect/>
            <a:stretch/>
          </p:blipFill>
          <p:spPr>
            <a:xfrm>
              <a:off x="5319827" y="2866435"/>
              <a:ext cx="618188" cy="665595"/>
            </a:xfrm>
            <a:prstGeom prst="rect">
              <a:avLst/>
            </a:prstGeom>
          </p:spPr>
        </p:pic>
        <p:sp>
          <p:nvSpPr>
            <p:cNvPr id="117" name="Elipse 116">
              <a:extLst>
                <a:ext uri="{FF2B5EF4-FFF2-40B4-BE49-F238E27FC236}">
                  <a16:creationId xmlns:a16="http://schemas.microsoft.com/office/drawing/2014/main" id="{A0D38976-AD59-D15E-A3BC-456FBB5F6364}"/>
                </a:ext>
              </a:extLst>
            </p:cNvPr>
            <p:cNvSpPr/>
            <p:nvPr/>
          </p:nvSpPr>
          <p:spPr>
            <a:xfrm>
              <a:off x="5354160" y="2891461"/>
              <a:ext cx="563274" cy="557242"/>
            </a:xfrm>
            <a:prstGeom prst="ellipse">
              <a:avLst/>
            </a:prstGeom>
            <a:noFill/>
            <a:ln w="38100">
              <a:solidFill>
                <a:srgbClr val="2C578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panose="020B0502040204020203" pitchFamily="34" charset="0"/>
                <a:ea typeface="+mn-ea"/>
                <a:cs typeface="+mn-cs"/>
              </a:endParaRPr>
            </a:p>
          </p:txBody>
        </p:sp>
      </p:grpSp>
    </p:spTree>
    <p:extLst>
      <p:ext uri="{BB962C8B-B14F-4D97-AF65-F5344CB8AC3E}">
        <p14:creationId xmlns:p14="http://schemas.microsoft.com/office/powerpoint/2010/main" val="166036420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BB63442-3648-1C09-FF8B-E9C5B87739F3}"/>
            </a:ext>
          </a:extLst>
        </p:cNvPr>
        <p:cNvGrpSpPr/>
        <p:nvPr/>
      </p:nvGrpSpPr>
      <p:grpSpPr>
        <a:xfrm>
          <a:off x="0" y="0"/>
          <a:ext cx="0" cy="0"/>
          <a:chOff x="0" y="0"/>
          <a:chExt cx="0" cy="0"/>
        </a:xfrm>
      </p:grpSpPr>
      <p:sp>
        <p:nvSpPr>
          <p:cNvPr id="231" name="Título 2">
            <a:extLst>
              <a:ext uri="{FF2B5EF4-FFF2-40B4-BE49-F238E27FC236}">
                <a16:creationId xmlns:a16="http://schemas.microsoft.com/office/drawing/2014/main" id="{F9FBE9C8-BF26-B87C-BAB6-563BE14CDE55}"/>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r>
              <a:rPr lang="en-US" sz="2400" noProof="0">
                <a:latin typeface="Arial" panose="020B0604020202020204" pitchFamily="34" charset="0"/>
                <a:cs typeface="Arial" panose="020B0604020202020204" pitchFamily="34" charset="0"/>
              </a:rPr>
              <a:t>CURRENT STATE ANALYSIS</a:t>
            </a:r>
          </a:p>
          <a:p>
            <a:r>
              <a:rPr lang="en-US" sz="1200" noProof="0">
                <a:latin typeface="Arial" panose="020B0604020202020204" pitchFamily="34" charset="0"/>
                <a:cs typeface="Arial" panose="020B0604020202020204" pitchFamily="34" charset="0"/>
              </a:rPr>
              <a:t>VALUE STREAM MAPPING - DEMAND FLOW</a:t>
            </a:r>
          </a:p>
        </p:txBody>
      </p:sp>
      <p:sp>
        <p:nvSpPr>
          <p:cNvPr id="2" name="TextBox 5">
            <a:extLst>
              <a:ext uri="{FF2B5EF4-FFF2-40B4-BE49-F238E27FC236}">
                <a16:creationId xmlns:a16="http://schemas.microsoft.com/office/drawing/2014/main" id="{C1170442-7C8A-7A03-AA2C-2766BB16EFB0}"/>
              </a:ext>
            </a:extLst>
          </p:cNvPr>
          <p:cNvSpPr txBox="1"/>
          <p:nvPr/>
        </p:nvSpPr>
        <p:spPr>
          <a:xfrm>
            <a:off x="457200" y="777240"/>
            <a:ext cx="11247120" cy="406265"/>
          </a:xfrm>
          <a:prstGeom prst="rect">
            <a:avLst/>
          </a:prstGeom>
          <a:noFill/>
        </p:spPr>
        <p:txBody>
          <a:bodyPr wrap="square" lIns="45720" tIns="18288" rIns="45720" bIns="18288" anchor="t">
            <a:spAutoFit/>
          </a:bodyPr>
          <a:lstStyle/>
          <a:p>
            <a:pPr algn="l"/>
            <a:r>
              <a:rPr lang="en-US" sz="1200" b="1" noProof="0">
                <a:solidFill>
                  <a:schemeClr val="accent4">
                    <a:lumMod val="75000"/>
                  </a:schemeClr>
                </a:solidFill>
                <a:latin typeface="Arial" panose="020B0604020202020204" pitchFamily="34" charset="0"/>
                <a:cs typeface="Arial" panose="020B0604020202020204" pitchFamily="34" charset="0"/>
              </a:rPr>
              <a:t>The end-to-end AS-IS demand pipeline on one page — eleven source areas funnel into fragmented channels, split by demand type, and land on one of two delivery branches</a:t>
            </a:r>
          </a:p>
        </p:txBody>
      </p:sp>
      <p:sp>
        <p:nvSpPr>
          <p:cNvPr id="3" name="TextBox 6">
            <a:extLst>
              <a:ext uri="{FF2B5EF4-FFF2-40B4-BE49-F238E27FC236}">
                <a16:creationId xmlns:a16="http://schemas.microsoft.com/office/drawing/2014/main" id="{DB091B9C-FA23-84B2-95E2-FA4A5F44FE1C}"/>
              </a:ext>
            </a:extLst>
          </p:cNvPr>
          <p:cNvSpPr txBox="1"/>
          <p:nvPr/>
        </p:nvSpPr>
        <p:spPr>
          <a:xfrm>
            <a:off x="226978" y="6400827"/>
            <a:ext cx="1828800" cy="175433"/>
          </a:xfrm>
          <a:prstGeom prst="rect">
            <a:avLst/>
          </a:prstGeom>
          <a:noFill/>
        </p:spPr>
        <p:txBody>
          <a:bodyPr wrap="square" lIns="45720" tIns="18288" rIns="45720" bIns="18288" anchor="ctr">
            <a:spAutoFit/>
          </a:bodyPr>
          <a:lstStyle/>
          <a:p>
            <a:pPr algn="l"/>
            <a:r>
              <a:rPr lang="en-US" sz="900" b="1" i="0" noProof="0">
                <a:solidFill>
                  <a:srgbClr val="1F3A68"/>
                </a:solidFill>
                <a:latin typeface="Arial" panose="020B0604020202020204" pitchFamily="34" charset="0"/>
                <a:cs typeface="Arial" panose="020B0604020202020204" pitchFamily="34" charset="0"/>
              </a:rPr>
              <a:t>COLOR CODING:</a:t>
            </a:r>
          </a:p>
        </p:txBody>
      </p:sp>
      <p:sp>
        <p:nvSpPr>
          <p:cNvPr id="4" name="Rounded Rectangle 7">
            <a:extLst>
              <a:ext uri="{FF2B5EF4-FFF2-40B4-BE49-F238E27FC236}">
                <a16:creationId xmlns:a16="http://schemas.microsoft.com/office/drawing/2014/main" id="{BFDD4D1D-10FE-F77E-EB5F-6ED1FE5EF942}"/>
              </a:ext>
            </a:extLst>
          </p:cNvPr>
          <p:cNvSpPr/>
          <p:nvPr/>
        </p:nvSpPr>
        <p:spPr>
          <a:xfrm>
            <a:off x="6835510" y="6387959"/>
            <a:ext cx="731520" cy="20116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i="0" noProof="0">
                <a:solidFill>
                  <a:srgbClr val="FFFFFF"/>
                </a:solidFill>
                <a:latin typeface="Arial" panose="020B0604020202020204" pitchFamily="34" charset="0"/>
                <a:cs typeface="Arial" panose="020B0604020202020204" pitchFamily="34" charset="0"/>
              </a:rPr>
              <a:t>LARGE</a:t>
            </a:r>
          </a:p>
        </p:txBody>
      </p:sp>
      <p:sp>
        <p:nvSpPr>
          <p:cNvPr id="6" name="Rounded Rectangle 9">
            <a:extLst>
              <a:ext uri="{FF2B5EF4-FFF2-40B4-BE49-F238E27FC236}">
                <a16:creationId xmlns:a16="http://schemas.microsoft.com/office/drawing/2014/main" id="{0ABA83B4-3AB4-CE78-819C-59FBC17AE340}"/>
              </a:ext>
            </a:extLst>
          </p:cNvPr>
          <p:cNvSpPr/>
          <p:nvPr/>
        </p:nvSpPr>
        <p:spPr>
          <a:xfrm>
            <a:off x="4095670" y="6387959"/>
            <a:ext cx="731520" cy="201168"/>
          </a:xfrm>
          <a:prstGeom prst="roundRect">
            <a:avLst>
              <a:gd name="adj" fmla="val 45000"/>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i="0" noProof="0">
                <a:solidFill>
                  <a:srgbClr val="FFFFFF"/>
                </a:solidFill>
                <a:latin typeface="Arial" panose="020B0604020202020204" pitchFamily="34" charset="0"/>
                <a:cs typeface="Arial" panose="020B0604020202020204" pitchFamily="34" charset="0"/>
              </a:rPr>
              <a:t>MEDIUM</a:t>
            </a:r>
          </a:p>
        </p:txBody>
      </p:sp>
      <p:sp>
        <p:nvSpPr>
          <p:cNvPr id="8" name="Rounded Rectangle 11">
            <a:extLst>
              <a:ext uri="{FF2B5EF4-FFF2-40B4-BE49-F238E27FC236}">
                <a16:creationId xmlns:a16="http://schemas.microsoft.com/office/drawing/2014/main" id="{1D5FCEFE-FE9A-1615-56D1-11D632C2A08A}"/>
              </a:ext>
            </a:extLst>
          </p:cNvPr>
          <p:cNvSpPr/>
          <p:nvPr/>
        </p:nvSpPr>
        <p:spPr>
          <a:xfrm>
            <a:off x="1414186" y="6387959"/>
            <a:ext cx="731520" cy="201168"/>
          </a:xfrm>
          <a:prstGeom prst="roundRect">
            <a:avLst>
              <a:gd name="adj" fmla="val 45000"/>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i="0" noProof="0">
                <a:solidFill>
                  <a:srgbClr val="FFFFFF"/>
                </a:solidFill>
                <a:latin typeface="Arial" panose="020B0604020202020204" pitchFamily="34" charset="0"/>
                <a:cs typeface="Arial" panose="020B0604020202020204" pitchFamily="34" charset="0"/>
              </a:rPr>
              <a:t>SMALL</a:t>
            </a:r>
          </a:p>
        </p:txBody>
      </p:sp>
      <p:sp>
        <p:nvSpPr>
          <p:cNvPr id="15" name="TextBox 18">
            <a:extLst>
              <a:ext uri="{FF2B5EF4-FFF2-40B4-BE49-F238E27FC236}">
                <a16:creationId xmlns:a16="http://schemas.microsoft.com/office/drawing/2014/main" id="{89719B65-EDA9-CCEF-E28D-882DEB85A89C}"/>
              </a:ext>
            </a:extLst>
          </p:cNvPr>
          <p:cNvSpPr txBox="1"/>
          <p:nvPr/>
        </p:nvSpPr>
        <p:spPr>
          <a:xfrm>
            <a:off x="2057400" y="1601952"/>
            <a:ext cx="4023360" cy="152349"/>
          </a:xfrm>
          <a:prstGeom prst="rect">
            <a:avLst/>
          </a:prstGeom>
          <a:noFill/>
        </p:spPr>
        <p:txBody>
          <a:bodyPr wrap="square" lIns="45720" tIns="18288" rIns="45720" bIns="18288" anchor="t">
            <a:spAutoFit/>
          </a:bodyPr>
          <a:lstStyle/>
          <a:p>
            <a:pPr algn="ctr"/>
            <a:r>
              <a:rPr lang="en-US" sz="750" b="0" i="1" noProof="0">
                <a:solidFill>
                  <a:srgbClr val="4A4A4A"/>
                </a:solidFill>
                <a:latin typeface="Arial" panose="020B0604020202020204" pitchFamily="34" charset="0"/>
                <a:cs typeface="Arial" panose="020B0604020202020204" pitchFamily="34" charset="0"/>
              </a:rPr>
              <a:t>How the demand arrives — color by type</a:t>
            </a:r>
          </a:p>
        </p:txBody>
      </p:sp>
      <p:sp>
        <p:nvSpPr>
          <p:cNvPr id="16" name="Rectangle 19">
            <a:extLst>
              <a:ext uri="{FF2B5EF4-FFF2-40B4-BE49-F238E27FC236}">
                <a16:creationId xmlns:a16="http://schemas.microsoft.com/office/drawing/2014/main" id="{11045490-CB6B-E051-B32A-E06375C6ABC1}"/>
              </a:ext>
            </a:extLst>
          </p:cNvPr>
          <p:cNvSpPr/>
          <p:nvPr/>
        </p:nvSpPr>
        <p:spPr>
          <a:xfrm>
            <a:off x="6208744" y="1236192"/>
            <a:ext cx="3102022" cy="36576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7" name="TextBox 20">
            <a:extLst>
              <a:ext uri="{FF2B5EF4-FFF2-40B4-BE49-F238E27FC236}">
                <a16:creationId xmlns:a16="http://schemas.microsoft.com/office/drawing/2014/main" id="{FF597227-A9F5-9740-E80A-6AA8A0372E06}"/>
              </a:ext>
            </a:extLst>
          </p:cNvPr>
          <p:cNvSpPr txBox="1"/>
          <p:nvPr/>
        </p:nvSpPr>
        <p:spPr>
          <a:xfrm>
            <a:off x="6208744" y="1310033"/>
            <a:ext cx="3102022" cy="221599"/>
          </a:xfrm>
          <a:prstGeom prst="rect">
            <a:avLst/>
          </a:prstGeom>
          <a:noFill/>
        </p:spPr>
        <p:txBody>
          <a:bodyPr wrap="square" lIns="45720" tIns="18288" rIns="45720" bIns="18288" anchor="ctr">
            <a:spAutoFit/>
          </a:bodyPr>
          <a:lstStyle/>
          <a:p>
            <a:pPr algn="ctr"/>
            <a:r>
              <a:rPr lang="en-US" sz="1200" b="1" i="0" noProof="0">
                <a:solidFill>
                  <a:srgbClr val="FFFFFF"/>
                </a:solidFill>
                <a:latin typeface="Arial" panose="020B0604020202020204" pitchFamily="34" charset="0"/>
                <a:cs typeface="Arial" panose="020B0604020202020204" pitchFamily="34" charset="0"/>
              </a:rPr>
              <a:t>03 · CLASSIFICATION</a:t>
            </a:r>
          </a:p>
        </p:txBody>
      </p:sp>
      <p:sp>
        <p:nvSpPr>
          <p:cNvPr id="18" name="TextBox 21">
            <a:extLst>
              <a:ext uri="{FF2B5EF4-FFF2-40B4-BE49-F238E27FC236}">
                <a16:creationId xmlns:a16="http://schemas.microsoft.com/office/drawing/2014/main" id="{F54287B3-8BFE-8A52-5ED4-275AFC3A37CE}"/>
              </a:ext>
            </a:extLst>
          </p:cNvPr>
          <p:cNvSpPr txBox="1"/>
          <p:nvPr/>
        </p:nvSpPr>
        <p:spPr>
          <a:xfrm>
            <a:off x="6208744" y="1601952"/>
            <a:ext cx="3102022" cy="152349"/>
          </a:xfrm>
          <a:prstGeom prst="rect">
            <a:avLst/>
          </a:prstGeom>
          <a:noFill/>
        </p:spPr>
        <p:txBody>
          <a:bodyPr wrap="square" lIns="45720" tIns="18288" rIns="45720" bIns="18288" anchor="t">
            <a:spAutoFit/>
          </a:bodyPr>
          <a:lstStyle/>
          <a:p>
            <a:pPr algn="ctr"/>
            <a:r>
              <a:rPr lang="en-US" sz="750" b="0" i="1" noProof="0">
                <a:solidFill>
                  <a:srgbClr val="4A4A4A"/>
                </a:solidFill>
                <a:latin typeface="Arial" panose="020B0604020202020204" pitchFamily="34" charset="0"/>
                <a:cs typeface="Arial" panose="020B0604020202020204" pitchFamily="34" charset="0"/>
              </a:rPr>
              <a:t>What kind of demand</a:t>
            </a:r>
          </a:p>
        </p:txBody>
      </p:sp>
      <p:sp>
        <p:nvSpPr>
          <p:cNvPr id="19" name="Rectangle 22">
            <a:extLst>
              <a:ext uri="{FF2B5EF4-FFF2-40B4-BE49-F238E27FC236}">
                <a16:creationId xmlns:a16="http://schemas.microsoft.com/office/drawing/2014/main" id="{190B9856-60C3-5DB2-4C3C-F02CB10433DB}"/>
              </a:ext>
            </a:extLst>
          </p:cNvPr>
          <p:cNvSpPr/>
          <p:nvPr/>
        </p:nvSpPr>
        <p:spPr>
          <a:xfrm>
            <a:off x="9523378" y="1236192"/>
            <a:ext cx="2409541" cy="36576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0" name="TextBox 23">
            <a:extLst>
              <a:ext uri="{FF2B5EF4-FFF2-40B4-BE49-F238E27FC236}">
                <a16:creationId xmlns:a16="http://schemas.microsoft.com/office/drawing/2014/main" id="{517EF777-BCE5-9014-7176-4ACC66F39B62}"/>
              </a:ext>
            </a:extLst>
          </p:cNvPr>
          <p:cNvSpPr txBox="1"/>
          <p:nvPr/>
        </p:nvSpPr>
        <p:spPr>
          <a:xfrm>
            <a:off x="9960314" y="1314442"/>
            <a:ext cx="1535668" cy="221599"/>
          </a:xfrm>
          <a:prstGeom prst="rect">
            <a:avLst/>
          </a:prstGeom>
          <a:noFill/>
        </p:spPr>
        <p:txBody>
          <a:bodyPr wrap="square" lIns="45720" tIns="18288" rIns="45720" bIns="18288" anchor="ctr">
            <a:spAutoFit/>
          </a:bodyPr>
          <a:lstStyle/>
          <a:p>
            <a:pPr algn="ctr"/>
            <a:r>
              <a:rPr lang="en-US" sz="1200" b="1" i="0" noProof="0">
                <a:solidFill>
                  <a:srgbClr val="FFFFFF"/>
                </a:solidFill>
                <a:latin typeface="Arial" panose="020B0604020202020204" pitchFamily="34" charset="0"/>
                <a:cs typeface="Arial" panose="020B0604020202020204" pitchFamily="34" charset="0"/>
              </a:rPr>
              <a:t>04 · DELIVERY</a:t>
            </a:r>
          </a:p>
        </p:txBody>
      </p:sp>
      <p:sp>
        <p:nvSpPr>
          <p:cNvPr id="21" name="TextBox 24">
            <a:extLst>
              <a:ext uri="{FF2B5EF4-FFF2-40B4-BE49-F238E27FC236}">
                <a16:creationId xmlns:a16="http://schemas.microsoft.com/office/drawing/2014/main" id="{A5B0CBB3-A02B-FF57-43A3-7C4A13BB0B65}"/>
              </a:ext>
            </a:extLst>
          </p:cNvPr>
          <p:cNvSpPr txBox="1"/>
          <p:nvPr/>
        </p:nvSpPr>
        <p:spPr>
          <a:xfrm>
            <a:off x="9706161" y="1601952"/>
            <a:ext cx="2043974" cy="152349"/>
          </a:xfrm>
          <a:prstGeom prst="rect">
            <a:avLst/>
          </a:prstGeom>
          <a:noFill/>
        </p:spPr>
        <p:txBody>
          <a:bodyPr wrap="square" lIns="45720" tIns="18288" rIns="45720" bIns="18288" anchor="t">
            <a:spAutoFit/>
          </a:bodyPr>
          <a:lstStyle/>
          <a:p>
            <a:pPr algn="ctr"/>
            <a:r>
              <a:rPr lang="en-US" sz="750" b="0" i="1" noProof="0">
                <a:solidFill>
                  <a:srgbClr val="4A4A4A"/>
                </a:solidFill>
                <a:latin typeface="Arial" panose="020B0604020202020204" pitchFamily="34" charset="0"/>
                <a:cs typeface="Arial" panose="020B0604020202020204" pitchFamily="34" charset="0"/>
              </a:rPr>
              <a:t>Who resolves it</a:t>
            </a:r>
          </a:p>
        </p:txBody>
      </p:sp>
      <p:sp>
        <p:nvSpPr>
          <p:cNvPr id="10" name="Rectangle 13">
            <a:extLst>
              <a:ext uri="{FF2B5EF4-FFF2-40B4-BE49-F238E27FC236}">
                <a16:creationId xmlns:a16="http://schemas.microsoft.com/office/drawing/2014/main" id="{7F6B69E6-98A4-91CA-5666-ECF351FF4829}"/>
              </a:ext>
            </a:extLst>
          </p:cNvPr>
          <p:cNvSpPr/>
          <p:nvPr/>
        </p:nvSpPr>
        <p:spPr>
          <a:xfrm>
            <a:off x="279988" y="1236192"/>
            <a:ext cx="1360264" cy="36576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1" name="TextBox 14">
            <a:extLst>
              <a:ext uri="{FF2B5EF4-FFF2-40B4-BE49-F238E27FC236}">
                <a16:creationId xmlns:a16="http://schemas.microsoft.com/office/drawing/2014/main" id="{642A80FE-26CF-C227-54C4-A218A1A5B0C7}"/>
              </a:ext>
            </a:extLst>
          </p:cNvPr>
          <p:cNvSpPr txBox="1"/>
          <p:nvPr/>
        </p:nvSpPr>
        <p:spPr>
          <a:xfrm>
            <a:off x="279987" y="1305624"/>
            <a:ext cx="1360264" cy="221599"/>
          </a:xfrm>
          <a:prstGeom prst="rect">
            <a:avLst/>
          </a:prstGeom>
          <a:noFill/>
        </p:spPr>
        <p:txBody>
          <a:bodyPr wrap="square" lIns="45720" tIns="18288" rIns="45720" bIns="18288" anchor="ctr">
            <a:spAutoFit/>
          </a:bodyPr>
          <a:lstStyle/>
          <a:p>
            <a:pPr algn="ctr"/>
            <a:r>
              <a:rPr lang="en-US" sz="1200" b="1" i="0" noProof="0">
                <a:solidFill>
                  <a:srgbClr val="FFFFFF"/>
                </a:solidFill>
                <a:latin typeface="Arial" panose="020B0604020202020204" pitchFamily="34" charset="0"/>
                <a:cs typeface="Arial" panose="020B0604020202020204" pitchFamily="34" charset="0"/>
              </a:rPr>
              <a:t>01 · SOURCES</a:t>
            </a:r>
          </a:p>
        </p:txBody>
      </p:sp>
      <p:sp>
        <p:nvSpPr>
          <p:cNvPr id="12" name="TextBox 15">
            <a:extLst>
              <a:ext uri="{FF2B5EF4-FFF2-40B4-BE49-F238E27FC236}">
                <a16:creationId xmlns:a16="http://schemas.microsoft.com/office/drawing/2014/main" id="{7E93F886-FA05-A60F-5263-2087E2F51614}"/>
              </a:ext>
            </a:extLst>
          </p:cNvPr>
          <p:cNvSpPr txBox="1"/>
          <p:nvPr/>
        </p:nvSpPr>
        <p:spPr>
          <a:xfrm>
            <a:off x="279988" y="1601952"/>
            <a:ext cx="1360264" cy="152349"/>
          </a:xfrm>
          <a:prstGeom prst="rect">
            <a:avLst/>
          </a:prstGeom>
          <a:noFill/>
        </p:spPr>
        <p:txBody>
          <a:bodyPr wrap="square" lIns="45720" tIns="18288" rIns="45720" bIns="18288" anchor="t">
            <a:spAutoFit/>
          </a:bodyPr>
          <a:lstStyle/>
          <a:p>
            <a:pPr algn="ctr"/>
            <a:r>
              <a:rPr lang="en-US" sz="750" b="0" i="1" noProof="0">
                <a:solidFill>
                  <a:srgbClr val="4A4A4A"/>
                </a:solidFill>
                <a:latin typeface="Arial" panose="020B0604020202020204" pitchFamily="34" charset="0"/>
                <a:cs typeface="Arial" panose="020B0604020202020204" pitchFamily="34" charset="0"/>
              </a:rPr>
              <a:t>Who sends the demand</a:t>
            </a:r>
          </a:p>
        </p:txBody>
      </p:sp>
      <p:sp>
        <p:nvSpPr>
          <p:cNvPr id="114" name="Rectangle 115">
            <a:extLst>
              <a:ext uri="{FF2B5EF4-FFF2-40B4-BE49-F238E27FC236}">
                <a16:creationId xmlns:a16="http://schemas.microsoft.com/office/drawing/2014/main" id="{5BDC23B3-BEC3-B057-7F04-54E52B488850}"/>
              </a:ext>
            </a:extLst>
          </p:cNvPr>
          <p:cNvSpPr/>
          <p:nvPr/>
        </p:nvSpPr>
        <p:spPr>
          <a:xfrm>
            <a:off x="9542834" y="4922196"/>
            <a:ext cx="2390086" cy="1352145"/>
          </a:xfrm>
          <a:prstGeom prst="rect">
            <a:avLst/>
          </a:prstGeom>
          <a:solidFill>
            <a:srgbClr val="7474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noProof="0">
                <a:solidFill>
                  <a:schemeClr val="bg1"/>
                </a:solidFill>
                <a:latin typeface="Arial" panose="020B0604020202020204" pitchFamily="34" charset="0"/>
                <a:cs typeface="Arial" panose="020B0604020202020204" pitchFamily="34" charset="0"/>
              </a:rPr>
              <a:t>APPLICATIONS BRANCH</a:t>
            </a:r>
          </a:p>
          <a:p>
            <a:pPr algn="ctr"/>
            <a:r>
              <a:rPr lang="en-US" sz="1200" i="1" noProof="0">
                <a:solidFill>
                  <a:schemeClr val="bg1"/>
                </a:solidFill>
                <a:latin typeface="Arial" panose="020B0604020202020204" pitchFamily="34" charset="0"/>
                <a:cs typeface="Arial" panose="020B0604020202020204" pitchFamily="34" charset="0"/>
              </a:rPr>
              <a:t>Carlos Garbin — Director</a:t>
            </a:r>
          </a:p>
        </p:txBody>
      </p:sp>
      <p:sp>
        <p:nvSpPr>
          <p:cNvPr id="124" name="Rectangle 125">
            <a:extLst>
              <a:ext uri="{FF2B5EF4-FFF2-40B4-BE49-F238E27FC236}">
                <a16:creationId xmlns:a16="http://schemas.microsoft.com/office/drawing/2014/main" id="{20975AF5-179B-9051-8DF9-D34F17F5BEC8}"/>
              </a:ext>
            </a:extLst>
          </p:cNvPr>
          <p:cNvSpPr/>
          <p:nvPr/>
        </p:nvSpPr>
        <p:spPr>
          <a:xfrm>
            <a:off x="9542834" y="1862556"/>
            <a:ext cx="2390086" cy="3011002"/>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noProof="0">
                <a:solidFill>
                  <a:schemeClr val="bg1"/>
                </a:solidFill>
                <a:latin typeface="Arial" panose="020B0604020202020204" pitchFamily="34" charset="0"/>
                <a:cs typeface="Arial" panose="020B0604020202020204" pitchFamily="34" charset="0"/>
              </a:rPr>
              <a:t>CUSTOMER SERVICES / SAP</a:t>
            </a:r>
          </a:p>
          <a:p>
            <a:pPr algn="ctr"/>
            <a:r>
              <a:rPr lang="en-US" sz="1200" i="1" noProof="0">
                <a:solidFill>
                  <a:schemeClr val="bg1"/>
                </a:solidFill>
                <a:latin typeface="Arial" panose="020B0604020202020204" pitchFamily="34" charset="0"/>
                <a:cs typeface="Arial" panose="020B0604020202020204" pitchFamily="34" charset="0"/>
              </a:rPr>
              <a:t>Kumar </a:t>
            </a:r>
            <a:r>
              <a:rPr lang="en-US" sz="1200" i="1" noProof="0" err="1">
                <a:solidFill>
                  <a:schemeClr val="bg1"/>
                </a:solidFill>
                <a:latin typeface="Arial" panose="020B0604020202020204" pitchFamily="34" charset="0"/>
                <a:cs typeface="Arial" panose="020B0604020202020204" pitchFamily="34" charset="0"/>
              </a:rPr>
              <a:t>Jaladanki</a:t>
            </a:r>
            <a:r>
              <a:rPr lang="en-US" sz="1200" i="1" noProof="0">
                <a:solidFill>
                  <a:schemeClr val="bg1"/>
                </a:solidFill>
                <a:latin typeface="Arial" panose="020B0604020202020204" pitchFamily="34" charset="0"/>
                <a:cs typeface="Arial" panose="020B0604020202020204" pitchFamily="34" charset="0"/>
              </a:rPr>
              <a:t> — Director</a:t>
            </a:r>
          </a:p>
        </p:txBody>
      </p:sp>
      <p:sp>
        <p:nvSpPr>
          <p:cNvPr id="197" name="Right Arrow 134">
            <a:extLst>
              <a:ext uri="{FF2B5EF4-FFF2-40B4-BE49-F238E27FC236}">
                <a16:creationId xmlns:a16="http://schemas.microsoft.com/office/drawing/2014/main" id="{BF161B8F-DDF3-69BE-8C81-6491A40039D2}"/>
              </a:ext>
            </a:extLst>
          </p:cNvPr>
          <p:cNvSpPr/>
          <p:nvPr/>
        </p:nvSpPr>
        <p:spPr>
          <a:xfrm>
            <a:off x="1620520" y="1300546"/>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98" name="Right Arrow 135">
            <a:extLst>
              <a:ext uri="{FF2B5EF4-FFF2-40B4-BE49-F238E27FC236}">
                <a16:creationId xmlns:a16="http://schemas.microsoft.com/office/drawing/2014/main" id="{B8AB20C1-D6F3-D69B-98F3-D24AF1AC20B5}"/>
              </a:ext>
            </a:extLst>
          </p:cNvPr>
          <p:cNvSpPr/>
          <p:nvPr/>
        </p:nvSpPr>
        <p:spPr>
          <a:xfrm>
            <a:off x="6035040" y="1295212"/>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99" name="Right Arrow 136">
            <a:extLst>
              <a:ext uri="{FF2B5EF4-FFF2-40B4-BE49-F238E27FC236}">
                <a16:creationId xmlns:a16="http://schemas.microsoft.com/office/drawing/2014/main" id="{68C26926-6869-B6AE-4327-02074001E002}"/>
              </a:ext>
            </a:extLst>
          </p:cNvPr>
          <p:cNvSpPr/>
          <p:nvPr/>
        </p:nvSpPr>
        <p:spPr>
          <a:xfrm>
            <a:off x="9385418" y="1300546"/>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3" name="Rectangle 16">
            <a:extLst>
              <a:ext uri="{FF2B5EF4-FFF2-40B4-BE49-F238E27FC236}">
                <a16:creationId xmlns:a16="http://schemas.microsoft.com/office/drawing/2014/main" id="{AD890FD5-DB26-24C1-B7F9-DA184476ECB0}"/>
              </a:ext>
            </a:extLst>
          </p:cNvPr>
          <p:cNvSpPr/>
          <p:nvPr/>
        </p:nvSpPr>
        <p:spPr>
          <a:xfrm>
            <a:off x="1766629" y="1236192"/>
            <a:ext cx="4264544" cy="36576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 name="TextBox 17">
            <a:extLst>
              <a:ext uri="{FF2B5EF4-FFF2-40B4-BE49-F238E27FC236}">
                <a16:creationId xmlns:a16="http://schemas.microsoft.com/office/drawing/2014/main" id="{93260841-3242-8BDE-F25D-AD7A293A9725}"/>
              </a:ext>
            </a:extLst>
          </p:cNvPr>
          <p:cNvSpPr txBox="1"/>
          <p:nvPr/>
        </p:nvSpPr>
        <p:spPr>
          <a:xfrm>
            <a:off x="1717040" y="1305625"/>
            <a:ext cx="4363719" cy="221599"/>
          </a:xfrm>
          <a:prstGeom prst="rect">
            <a:avLst/>
          </a:prstGeom>
          <a:noFill/>
        </p:spPr>
        <p:txBody>
          <a:bodyPr wrap="square" lIns="45720" tIns="18288" rIns="45720" bIns="18288" anchor="ctr">
            <a:spAutoFit/>
          </a:bodyPr>
          <a:lstStyle/>
          <a:p>
            <a:pPr algn="ctr"/>
            <a:r>
              <a:rPr lang="en-US" sz="1200" b="1" i="0" noProof="0">
                <a:solidFill>
                  <a:srgbClr val="FFFFFF"/>
                </a:solidFill>
                <a:latin typeface="Arial" panose="020B0604020202020204" pitchFamily="34" charset="0"/>
                <a:cs typeface="Arial" panose="020B0604020202020204" pitchFamily="34" charset="0"/>
              </a:rPr>
              <a:t>02 · CHANNELS</a:t>
            </a:r>
          </a:p>
        </p:txBody>
      </p:sp>
      <p:sp>
        <p:nvSpPr>
          <p:cNvPr id="222" name="Rounded Rectangle 25">
            <a:extLst>
              <a:ext uri="{FF2B5EF4-FFF2-40B4-BE49-F238E27FC236}">
                <a16:creationId xmlns:a16="http://schemas.microsoft.com/office/drawing/2014/main" id="{F8D00B08-E1CF-4866-1003-20E033E5D7D6}"/>
              </a:ext>
            </a:extLst>
          </p:cNvPr>
          <p:cNvSpPr/>
          <p:nvPr/>
        </p:nvSpPr>
        <p:spPr>
          <a:xfrm>
            <a:off x="5556309" y="-426720"/>
            <a:ext cx="4297602" cy="370747"/>
          </a:xfrm>
          <a:prstGeom prst="roundRect">
            <a:avLst>
              <a:gd name="adj" fmla="val 25000"/>
            </a:avLst>
          </a:prstGeom>
          <a:no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pic>
        <p:nvPicPr>
          <p:cNvPr id="223" name="Imagen 222">
            <a:extLst>
              <a:ext uri="{FF2B5EF4-FFF2-40B4-BE49-F238E27FC236}">
                <a16:creationId xmlns:a16="http://schemas.microsoft.com/office/drawing/2014/main" id="{36A21E6A-16E3-9554-A0EF-822893F142E5}"/>
              </a:ext>
            </a:extLst>
          </p:cNvPr>
          <p:cNvPicPr>
            <a:picLocks noChangeAspect="1"/>
          </p:cNvPicPr>
          <p:nvPr/>
        </p:nvPicPr>
        <p:blipFill>
          <a:blip r:embed="rId4"/>
          <a:stretch>
            <a:fillRect/>
          </a:stretch>
        </p:blipFill>
        <p:spPr>
          <a:xfrm>
            <a:off x="5680459" y="-335882"/>
            <a:ext cx="157760" cy="157760"/>
          </a:xfrm>
          <a:prstGeom prst="rect">
            <a:avLst/>
          </a:prstGeom>
        </p:spPr>
      </p:pic>
      <p:sp>
        <p:nvSpPr>
          <p:cNvPr id="224" name="Text 6">
            <a:extLst>
              <a:ext uri="{FF2B5EF4-FFF2-40B4-BE49-F238E27FC236}">
                <a16:creationId xmlns:a16="http://schemas.microsoft.com/office/drawing/2014/main" id="{7CAE0A26-2CE1-42B3-32F4-BF4F5D42F37D}"/>
              </a:ext>
            </a:extLst>
          </p:cNvPr>
          <p:cNvSpPr txBox="1"/>
          <p:nvPr/>
        </p:nvSpPr>
        <p:spPr>
          <a:xfrm>
            <a:off x="5878534" y="-316308"/>
            <a:ext cx="383931" cy="143484"/>
          </a:xfrm>
          <a:prstGeom prst="rect">
            <a:avLst/>
          </a:prstGeom>
          <a:noFill/>
          <a:ln/>
        </p:spPr>
        <p:txBody>
          <a:bodyPr wrap="square" lIns="0" tIns="0" rIns="0" bIns="0" rtlCol="0" anchor="ctr"/>
          <a:lstStyle/>
          <a:p>
            <a:pPr defTabSz="914400">
              <a:defRPr/>
            </a:pPr>
            <a:r>
              <a:rPr lang="en-US" sz="500" i="1" noProof="0">
                <a:latin typeface="Arial" panose="020B0604020202020204" pitchFamily="34" charset="0"/>
                <a:ea typeface="Open Sans" pitchFamily="34" charset="-122"/>
                <a:cs typeface="Arial" panose="020B0604020202020204" pitchFamily="34" charset="0"/>
              </a:rPr>
              <a:t>JIRA</a:t>
            </a:r>
            <a:endParaRPr lang="en-US" sz="500" noProof="0">
              <a:latin typeface="Arial" panose="020B0604020202020204" pitchFamily="34" charset="0"/>
              <a:cs typeface="Arial" panose="020B0604020202020204" pitchFamily="34" charset="0"/>
            </a:endParaRPr>
          </a:p>
        </p:txBody>
      </p:sp>
      <p:pic>
        <p:nvPicPr>
          <p:cNvPr id="225" name="Imagen 113" descr="Forma&#10;&#10;El contenido generado por IA puede ser incorrecto.">
            <a:extLst>
              <a:ext uri="{FF2B5EF4-FFF2-40B4-BE49-F238E27FC236}">
                <a16:creationId xmlns:a16="http://schemas.microsoft.com/office/drawing/2014/main" id="{55184464-A6AD-8AF9-C976-184719EB5E44}"/>
              </a:ext>
            </a:extLst>
          </p:cNvPr>
          <p:cNvPicPr>
            <a:picLocks noChangeAspect="1"/>
          </p:cNvPicPr>
          <p:nvPr/>
        </p:nvPicPr>
        <p:blipFill>
          <a:blip r:embed="rId5"/>
          <a:stretch>
            <a:fillRect/>
          </a:stretch>
        </p:blipFill>
        <p:spPr>
          <a:xfrm>
            <a:off x="6093622" y="-309756"/>
            <a:ext cx="130380" cy="130380"/>
          </a:xfrm>
          <a:prstGeom prst="rect">
            <a:avLst/>
          </a:prstGeom>
        </p:spPr>
      </p:pic>
      <p:sp>
        <p:nvSpPr>
          <p:cNvPr id="226" name="Text 6">
            <a:extLst>
              <a:ext uri="{FF2B5EF4-FFF2-40B4-BE49-F238E27FC236}">
                <a16:creationId xmlns:a16="http://schemas.microsoft.com/office/drawing/2014/main" id="{BF20AD64-3807-4872-6129-160F518E14B0}"/>
              </a:ext>
            </a:extLst>
          </p:cNvPr>
          <p:cNvSpPr txBox="1"/>
          <p:nvPr/>
        </p:nvSpPr>
        <p:spPr>
          <a:xfrm>
            <a:off x="6287244" y="-316308"/>
            <a:ext cx="383931" cy="143484"/>
          </a:xfrm>
          <a:prstGeom prst="rect">
            <a:avLst/>
          </a:prstGeom>
          <a:noFill/>
          <a:ln/>
        </p:spPr>
        <p:txBody>
          <a:bodyPr wrap="square" lIns="0" tIns="0" rIns="0" bIns="0" rtlCol="0" anchor="ctr"/>
          <a:lstStyle/>
          <a:p>
            <a:pPr defTabSz="914400">
              <a:defRPr/>
            </a:pPr>
            <a:r>
              <a:rPr lang="en-US" sz="500" i="1" noProof="0">
                <a:latin typeface="Arial" panose="020B0604020202020204" pitchFamily="34" charset="0"/>
                <a:ea typeface="Open Sans" pitchFamily="34" charset="-122"/>
                <a:cs typeface="Arial" panose="020B0604020202020204" pitchFamily="34" charset="0"/>
              </a:rPr>
              <a:t>IT </a:t>
            </a:r>
            <a:r>
              <a:rPr lang="en-US" sz="500" i="1" noProof="0" err="1">
                <a:latin typeface="Arial" panose="020B0604020202020204" pitchFamily="34" charset="0"/>
                <a:ea typeface="Open Sans" pitchFamily="34" charset="-122"/>
                <a:cs typeface="Arial" panose="020B0604020202020204" pitchFamily="34" charset="0"/>
              </a:rPr>
              <a:t>NOw</a:t>
            </a:r>
            <a:endParaRPr lang="en-US" sz="500" noProof="0">
              <a:latin typeface="Arial" panose="020B0604020202020204" pitchFamily="34" charset="0"/>
              <a:cs typeface="Arial" panose="020B0604020202020204" pitchFamily="34" charset="0"/>
            </a:endParaRPr>
          </a:p>
        </p:txBody>
      </p:sp>
      <p:pic>
        <p:nvPicPr>
          <p:cNvPr id="227" name="Imagen 113" descr="Forma&#10;&#10;El contenido generado por IA puede ser incorrecto.">
            <a:extLst>
              <a:ext uri="{FF2B5EF4-FFF2-40B4-BE49-F238E27FC236}">
                <a16:creationId xmlns:a16="http://schemas.microsoft.com/office/drawing/2014/main" id="{B4C901EF-064C-8AB6-ABFA-AB0C3EC1CE07}"/>
              </a:ext>
            </a:extLst>
          </p:cNvPr>
          <p:cNvPicPr>
            <a:picLocks noChangeAspect="1"/>
          </p:cNvPicPr>
          <p:nvPr/>
        </p:nvPicPr>
        <p:blipFill>
          <a:blip r:embed="rId5"/>
          <a:stretch>
            <a:fillRect/>
          </a:stretch>
        </p:blipFill>
        <p:spPr>
          <a:xfrm>
            <a:off x="6633949" y="-309756"/>
            <a:ext cx="130380" cy="130380"/>
          </a:xfrm>
          <a:prstGeom prst="rect">
            <a:avLst/>
          </a:prstGeom>
        </p:spPr>
      </p:pic>
      <p:sp>
        <p:nvSpPr>
          <p:cNvPr id="228" name="Text 6">
            <a:extLst>
              <a:ext uri="{FF2B5EF4-FFF2-40B4-BE49-F238E27FC236}">
                <a16:creationId xmlns:a16="http://schemas.microsoft.com/office/drawing/2014/main" id="{1AC02E74-FB29-14EC-D1A1-92ADA58F5605}"/>
              </a:ext>
            </a:extLst>
          </p:cNvPr>
          <p:cNvSpPr txBox="1"/>
          <p:nvPr/>
        </p:nvSpPr>
        <p:spPr>
          <a:xfrm>
            <a:off x="6827571" y="-316308"/>
            <a:ext cx="383931" cy="143484"/>
          </a:xfrm>
          <a:prstGeom prst="rect">
            <a:avLst/>
          </a:prstGeom>
          <a:noFill/>
          <a:ln/>
        </p:spPr>
        <p:txBody>
          <a:bodyPr wrap="square" lIns="0" tIns="0" rIns="0" bIns="0" rtlCol="0" anchor="ctr"/>
          <a:lstStyle/>
          <a:p>
            <a:pPr defTabSz="914400">
              <a:defRPr/>
            </a:pPr>
            <a:r>
              <a:rPr lang="en-US" sz="500" i="1" noProof="0">
                <a:latin typeface="Arial" panose="020B0604020202020204" pitchFamily="34" charset="0"/>
                <a:ea typeface="Open Sans" pitchFamily="34" charset="-122"/>
                <a:cs typeface="Arial" panose="020B0604020202020204" pitchFamily="34" charset="0"/>
              </a:rPr>
              <a:t>PPM Now</a:t>
            </a:r>
            <a:endParaRPr lang="en-US" sz="500" noProof="0">
              <a:latin typeface="Arial" panose="020B0604020202020204" pitchFamily="34" charset="0"/>
              <a:cs typeface="Arial" panose="020B0604020202020204" pitchFamily="34" charset="0"/>
            </a:endParaRPr>
          </a:p>
        </p:txBody>
      </p:sp>
      <p:pic>
        <p:nvPicPr>
          <p:cNvPr id="229" name="Picture 2" descr="Confluence logo - free Icon PNG, SVG">
            <a:extLst>
              <a:ext uri="{FF2B5EF4-FFF2-40B4-BE49-F238E27FC236}">
                <a16:creationId xmlns:a16="http://schemas.microsoft.com/office/drawing/2014/main" id="{FE48870E-A295-96FD-D796-7B90D867D078}"/>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19856" t="21195" r="19855" b="17511"/>
          <a:stretch>
            <a:fillRect/>
          </a:stretch>
        </p:blipFill>
        <p:spPr bwMode="auto">
          <a:xfrm>
            <a:off x="7206786" y="-303543"/>
            <a:ext cx="139252" cy="141574"/>
          </a:xfrm>
          <a:prstGeom prst="rect">
            <a:avLst/>
          </a:prstGeom>
          <a:noFill/>
          <a:extLst>
            <a:ext uri="{909E8E84-426E-40DD-AFC4-6F175D3DCCD1}">
              <a14:hiddenFill xmlns:a14="http://schemas.microsoft.com/office/drawing/2010/main">
                <a:solidFill>
                  <a:srgbClr val="FFFFFF"/>
                </a:solidFill>
              </a14:hiddenFill>
            </a:ext>
          </a:extLst>
        </p:spPr>
      </p:pic>
      <p:sp>
        <p:nvSpPr>
          <p:cNvPr id="230" name="Text 6">
            <a:extLst>
              <a:ext uri="{FF2B5EF4-FFF2-40B4-BE49-F238E27FC236}">
                <a16:creationId xmlns:a16="http://schemas.microsoft.com/office/drawing/2014/main" id="{253F1EE6-2297-B6F4-3DEE-C32F3988947C}"/>
              </a:ext>
            </a:extLst>
          </p:cNvPr>
          <p:cNvSpPr txBox="1"/>
          <p:nvPr/>
        </p:nvSpPr>
        <p:spPr>
          <a:xfrm>
            <a:off x="7409462" y="-316308"/>
            <a:ext cx="383931" cy="143484"/>
          </a:xfrm>
          <a:prstGeom prst="rect">
            <a:avLst/>
          </a:prstGeom>
          <a:noFill/>
          <a:ln/>
        </p:spPr>
        <p:txBody>
          <a:bodyPr wrap="square" lIns="0" tIns="0" rIns="0" bIns="0" rtlCol="0" anchor="ctr"/>
          <a:lstStyle/>
          <a:p>
            <a:pPr defTabSz="914400">
              <a:defRPr/>
            </a:pPr>
            <a:r>
              <a:rPr lang="en-US" sz="500" i="1" noProof="0">
                <a:latin typeface="Arial" panose="020B0604020202020204" pitchFamily="34" charset="0"/>
                <a:ea typeface="Open Sans" pitchFamily="34" charset="-122"/>
                <a:cs typeface="Arial" panose="020B0604020202020204" pitchFamily="34" charset="0"/>
              </a:rPr>
              <a:t>Confluence</a:t>
            </a:r>
            <a:endParaRPr lang="en-US" sz="500" noProof="0">
              <a:latin typeface="Arial" panose="020B0604020202020204" pitchFamily="34" charset="0"/>
              <a:cs typeface="Arial" panose="020B0604020202020204" pitchFamily="34" charset="0"/>
            </a:endParaRPr>
          </a:p>
        </p:txBody>
      </p:sp>
      <p:pic>
        <p:nvPicPr>
          <p:cNvPr id="232" name="Picture 4">
            <a:extLst>
              <a:ext uri="{FF2B5EF4-FFF2-40B4-BE49-F238E27FC236}">
                <a16:creationId xmlns:a16="http://schemas.microsoft.com/office/drawing/2014/main" id="{9BCF8F7B-8413-176A-79B0-E8C4DA84B311}"/>
              </a:ext>
            </a:extLst>
          </p:cNvPr>
          <p:cNvPicPr>
            <a:picLocks noChangeAspect="1" noChangeArrowheads="1"/>
          </p:cNvPicPr>
          <p:nvPr/>
        </p:nvPicPr>
        <p:blipFill>
          <a:blip r:embed="rId7" cstate="print">
            <a:clrChange>
              <a:clrFrom>
                <a:srgbClr val="F3F3F3"/>
              </a:clrFrom>
              <a:clrTo>
                <a:srgbClr val="F3F3F3">
                  <a:alpha val="0"/>
                </a:srgbClr>
              </a:clrTo>
            </a:clrChange>
            <a:grayscl/>
            <a:extLst>
              <a:ext uri="{28A0092B-C50C-407E-A947-70E740481C1C}">
                <a14:useLocalDpi xmlns:a14="http://schemas.microsoft.com/office/drawing/2010/main" val="0"/>
              </a:ext>
            </a:extLst>
          </a:blip>
          <a:srcRect/>
          <a:stretch>
            <a:fillRect/>
          </a:stretch>
        </p:blipFill>
        <p:spPr bwMode="auto">
          <a:xfrm>
            <a:off x="7825349" y="-337061"/>
            <a:ext cx="201683" cy="201683"/>
          </a:xfrm>
          <a:prstGeom prst="rect">
            <a:avLst/>
          </a:prstGeom>
          <a:noFill/>
          <a:extLst>
            <a:ext uri="{909E8E84-426E-40DD-AFC4-6F175D3DCCD1}">
              <a14:hiddenFill xmlns:a14="http://schemas.microsoft.com/office/drawing/2010/main">
                <a:solidFill>
                  <a:srgbClr val="FFFFFF"/>
                </a:solidFill>
              </a14:hiddenFill>
            </a:ext>
          </a:extLst>
        </p:spPr>
      </p:pic>
      <p:sp>
        <p:nvSpPr>
          <p:cNvPr id="233" name="Text 6">
            <a:extLst>
              <a:ext uri="{FF2B5EF4-FFF2-40B4-BE49-F238E27FC236}">
                <a16:creationId xmlns:a16="http://schemas.microsoft.com/office/drawing/2014/main" id="{11C608D8-3536-CE3D-B221-AA9BF9A93B0C}"/>
              </a:ext>
            </a:extLst>
          </p:cNvPr>
          <p:cNvSpPr txBox="1"/>
          <p:nvPr/>
        </p:nvSpPr>
        <p:spPr>
          <a:xfrm>
            <a:off x="8078143" y="-316308"/>
            <a:ext cx="422324" cy="143484"/>
          </a:xfrm>
          <a:prstGeom prst="rect">
            <a:avLst/>
          </a:prstGeom>
          <a:noFill/>
          <a:ln/>
        </p:spPr>
        <p:txBody>
          <a:bodyPr wrap="square" lIns="0" tIns="0" rIns="0" bIns="0" rtlCol="0" anchor="ctr"/>
          <a:lstStyle/>
          <a:p>
            <a:pPr defTabSz="914400">
              <a:defRPr/>
            </a:pPr>
            <a:r>
              <a:rPr lang="en-US" sz="500" i="1" noProof="0">
                <a:latin typeface="Arial" panose="020B0604020202020204" pitchFamily="34" charset="0"/>
                <a:ea typeface="Open Sans" pitchFamily="34" charset="-122"/>
                <a:cs typeface="Arial" panose="020B0604020202020204" pitchFamily="34" charset="0"/>
              </a:rPr>
              <a:t>MS Office (outlook, teams, word)</a:t>
            </a:r>
            <a:endParaRPr lang="en-US" sz="500" noProof="0">
              <a:latin typeface="Arial" panose="020B0604020202020204" pitchFamily="34" charset="0"/>
              <a:cs typeface="Arial" panose="020B0604020202020204" pitchFamily="34" charset="0"/>
            </a:endParaRPr>
          </a:p>
        </p:txBody>
      </p:sp>
      <p:pic>
        <p:nvPicPr>
          <p:cNvPr id="234" name="Picture 4">
            <a:extLst>
              <a:ext uri="{FF2B5EF4-FFF2-40B4-BE49-F238E27FC236}">
                <a16:creationId xmlns:a16="http://schemas.microsoft.com/office/drawing/2014/main" id="{DC46EBD3-61B4-A6FD-FE56-530008D18EFF}"/>
              </a:ext>
            </a:extLst>
          </p:cNvPr>
          <p:cNvPicPr>
            <a:picLocks noChangeAspect="1" noChangeArrowheads="1"/>
          </p:cNvPicPr>
          <p:nvPr/>
        </p:nvPicPr>
        <p:blipFill>
          <a:blip r:embed="rId7" cstate="print">
            <a:clrChange>
              <a:clrFrom>
                <a:srgbClr val="F3F3F3"/>
              </a:clrFrom>
              <a:clrTo>
                <a:srgbClr val="F3F3F3">
                  <a:alpha val="0"/>
                </a:srgbClr>
              </a:clrTo>
            </a:clrChange>
            <a:grayscl/>
            <a:extLst>
              <a:ext uri="{28A0092B-C50C-407E-A947-70E740481C1C}">
                <a14:useLocalDpi xmlns:a14="http://schemas.microsoft.com/office/drawing/2010/main" val="0"/>
              </a:ext>
            </a:extLst>
          </a:blip>
          <a:srcRect/>
          <a:stretch>
            <a:fillRect/>
          </a:stretch>
        </p:blipFill>
        <p:spPr bwMode="auto">
          <a:xfrm>
            <a:off x="8572109" y="-337061"/>
            <a:ext cx="201683" cy="201683"/>
          </a:xfrm>
          <a:prstGeom prst="rect">
            <a:avLst/>
          </a:prstGeom>
          <a:noFill/>
          <a:extLst>
            <a:ext uri="{909E8E84-426E-40DD-AFC4-6F175D3DCCD1}">
              <a14:hiddenFill xmlns:a14="http://schemas.microsoft.com/office/drawing/2010/main">
                <a:solidFill>
                  <a:srgbClr val="FFFFFF"/>
                </a:solidFill>
              </a14:hiddenFill>
            </a:ext>
          </a:extLst>
        </p:spPr>
      </p:pic>
      <p:sp>
        <p:nvSpPr>
          <p:cNvPr id="235" name="Text 6">
            <a:extLst>
              <a:ext uri="{FF2B5EF4-FFF2-40B4-BE49-F238E27FC236}">
                <a16:creationId xmlns:a16="http://schemas.microsoft.com/office/drawing/2014/main" id="{67D4F126-C0F7-966F-E0CB-DBF5DF8347A7}"/>
              </a:ext>
            </a:extLst>
          </p:cNvPr>
          <p:cNvSpPr txBox="1"/>
          <p:nvPr/>
        </p:nvSpPr>
        <p:spPr>
          <a:xfrm>
            <a:off x="8824903" y="-316308"/>
            <a:ext cx="422324" cy="143484"/>
          </a:xfrm>
          <a:prstGeom prst="rect">
            <a:avLst/>
          </a:prstGeom>
          <a:noFill/>
          <a:ln/>
        </p:spPr>
        <p:txBody>
          <a:bodyPr wrap="square" lIns="0" tIns="0" rIns="0" bIns="0" rtlCol="0" anchor="ctr"/>
          <a:lstStyle/>
          <a:p>
            <a:pPr defTabSz="914400">
              <a:defRPr/>
            </a:pPr>
            <a:r>
              <a:rPr lang="en-US" sz="500" i="1" noProof="0">
                <a:latin typeface="Arial" panose="020B0604020202020204" pitchFamily="34" charset="0"/>
                <a:ea typeface="Open Sans" pitchFamily="34" charset="-122"/>
                <a:cs typeface="Arial" panose="020B0604020202020204" pitchFamily="34" charset="0"/>
              </a:rPr>
              <a:t>PDD</a:t>
            </a:r>
            <a:endParaRPr lang="en-US" sz="500" noProof="0">
              <a:latin typeface="Arial" panose="020B0604020202020204" pitchFamily="34" charset="0"/>
              <a:cs typeface="Arial" panose="020B0604020202020204" pitchFamily="34" charset="0"/>
            </a:endParaRPr>
          </a:p>
        </p:txBody>
      </p:sp>
      <p:pic>
        <p:nvPicPr>
          <p:cNvPr id="236" name="Picture 4">
            <a:extLst>
              <a:ext uri="{FF2B5EF4-FFF2-40B4-BE49-F238E27FC236}">
                <a16:creationId xmlns:a16="http://schemas.microsoft.com/office/drawing/2014/main" id="{6EAD93D9-339F-1520-8B7E-7C2575BC64E1}"/>
              </a:ext>
            </a:extLst>
          </p:cNvPr>
          <p:cNvPicPr>
            <a:picLocks noChangeAspect="1" noChangeArrowheads="1"/>
          </p:cNvPicPr>
          <p:nvPr/>
        </p:nvPicPr>
        <p:blipFill>
          <a:blip r:embed="rId7" cstate="print">
            <a:clrChange>
              <a:clrFrom>
                <a:srgbClr val="F3F3F3"/>
              </a:clrFrom>
              <a:clrTo>
                <a:srgbClr val="F3F3F3">
                  <a:alpha val="0"/>
                </a:srgbClr>
              </a:clrTo>
            </a:clrChange>
            <a:grayscl/>
            <a:extLst>
              <a:ext uri="{28A0092B-C50C-407E-A947-70E740481C1C}">
                <a14:useLocalDpi xmlns:a14="http://schemas.microsoft.com/office/drawing/2010/main" val="0"/>
              </a:ext>
            </a:extLst>
          </a:blip>
          <a:srcRect/>
          <a:stretch>
            <a:fillRect/>
          </a:stretch>
        </p:blipFill>
        <p:spPr bwMode="auto">
          <a:xfrm>
            <a:off x="9171549" y="-337061"/>
            <a:ext cx="201683" cy="201683"/>
          </a:xfrm>
          <a:prstGeom prst="rect">
            <a:avLst/>
          </a:prstGeom>
          <a:noFill/>
          <a:extLst>
            <a:ext uri="{909E8E84-426E-40DD-AFC4-6F175D3DCCD1}">
              <a14:hiddenFill xmlns:a14="http://schemas.microsoft.com/office/drawing/2010/main">
                <a:solidFill>
                  <a:srgbClr val="FFFFFF"/>
                </a:solidFill>
              </a14:hiddenFill>
            </a:ext>
          </a:extLst>
        </p:spPr>
      </p:pic>
      <p:sp>
        <p:nvSpPr>
          <p:cNvPr id="237" name="Text 6">
            <a:extLst>
              <a:ext uri="{FF2B5EF4-FFF2-40B4-BE49-F238E27FC236}">
                <a16:creationId xmlns:a16="http://schemas.microsoft.com/office/drawing/2014/main" id="{54B9B9EE-C543-9278-67E2-9922BA778C32}"/>
              </a:ext>
            </a:extLst>
          </p:cNvPr>
          <p:cNvSpPr txBox="1"/>
          <p:nvPr/>
        </p:nvSpPr>
        <p:spPr>
          <a:xfrm>
            <a:off x="9424343" y="-316308"/>
            <a:ext cx="422324" cy="143484"/>
          </a:xfrm>
          <a:prstGeom prst="rect">
            <a:avLst/>
          </a:prstGeom>
          <a:noFill/>
          <a:ln/>
        </p:spPr>
        <p:txBody>
          <a:bodyPr wrap="square" lIns="0" tIns="0" rIns="0" bIns="0" rtlCol="0" anchor="ctr"/>
          <a:lstStyle/>
          <a:p>
            <a:pPr defTabSz="914400">
              <a:defRPr/>
            </a:pPr>
            <a:r>
              <a:rPr lang="en-US" sz="500" i="1" noProof="0">
                <a:latin typeface="Arial" panose="020B0604020202020204" pitchFamily="34" charset="0"/>
                <a:ea typeface="Open Sans" pitchFamily="34" charset="-122"/>
                <a:cs typeface="Arial" panose="020B0604020202020204" pitchFamily="34" charset="0"/>
              </a:rPr>
              <a:t>Others</a:t>
            </a:r>
            <a:endParaRPr lang="en-US" sz="500" noProof="0">
              <a:latin typeface="Arial" panose="020B0604020202020204" pitchFamily="34" charset="0"/>
              <a:cs typeface="Arial" panose="020B0604020202020204" pitchFamily="34" charset="0"/>
            </a:endParaRPr>
          </a:p>
        </p:txBody>
      </p:sp>
      <p:sp>
        <p:nvSpPr>
          <p:cNvPr id="218" name="Rounded Rectangle 118">
            <a:extLst>
              <a:ext uri="{FF2B5EF4-FFF2-40B4-BE49-F238E27FC236}">
                <a16:creationId xmlns:a16="http://schemas.microsoft.com/office/drawing/2014/main" id="{0FE290FF-1C81-9ACD-2C6F-717DBD72F578}"/>
              </a:ext>
            </a:extLst>
          </p:cNvPr>
          <p:cNvSpPr/>
          <p:nvPr/>
        </p:nvSpPr>
        <p:spPr>
          <a:xfrm>
            <a:off x="4338076" y="1917497"/>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IT Now</a:t>
            </a:r>
          </a:p>
        </p:txBody>
      </p:sp>
      <p:sp>
        <p:nvSpPr>
          <p:cNvPr id="221" name="Rounded Rectangle 118">
            <a:extLst>
              <a:ext uri="{FF2B5EF4-FFF2-40B4-BE49-F238E27FC236}">
                <a16:creationId xmlns:a16="http://schemas.microsoft.com/office/drawing/2014/main" id="{8D23529B-A08E-5271-4260-27D24E5E88EF}"/>
              </a:ext>
            </a:extLst>
          </p:cNvPr>
          <p:cNvSpPr/>
          <p:nvPr/>
        </p:nvSpPr>
        <p:spPr>
          <a:xfrm>
            <a:off x="2687076" y="1917497"/>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BSS Log</a:t>
            </a:r>
          </a:p>
        </p:txBody>
      </p:sp>
      <p:sp>
        <p:nvSpPr>
          <p:cNvPr id="239" name="Rounded Rectangle 118">
            <a:extLst>
              <a:ext uri="{FF2B5EF4-FFF2-40B4-BE49-F238E27FC236}">
                <a16:creationId xmlns:a16="http://schemas.microsoft.com/office/drawing/2014/main" id="{32B13E94-8CFF-5038-68F6-2D99C795E5CD}"/>
              </a:ext>
            </a:extLst>
          </p:cNvPr>
          <p:cNvSpPr/>
          <p:nvPr/>
        </p:nvSpPr>
        <p:spPr>
          <a:xfrm>
            <a:off x="5166116" y="1917497"/>
            <a:ext cx="738103" cy="18958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PDD</a:t>
            </a:r>
          </a:p>
        </p:txBody>
      </p:sp>
      <p:sp>
        <p:nvSpPr>
          <p:cNvPr id="243" name="Rounded Rectangle 118">
            <a:extLst>
              <a:ext uri="{FF2B5EF4-FFF2-40B4-BE49-F238E27FC236}">
                <a16:creationId xmlns:a16="http://schemas.microsoft.com/office/drawing/2014/main" id="{147E56BB-D108-5291-4873-BF4339F4CBD5}"/>
              </a:ext>
            </a:extLst>
          </p:cNvPr>
          <p:cNvSpPr/>
          <p:nvPr/>
        </p:nvSpPr>
        <p:spPr>
          <a:xfrm>
            <a:off x="3527285" y="1917497"/>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MS Office</a:t>
            </a:r>
          </a:p>
        </p:txBody>
      </p:sp>
      <p:sp>
        <p:nvSpPr>
          <p:cNvPr id="245" name="Rounded Rectangle 118">
            <a:extLst>
              <a:ext uri="{FF2B5EF4-FFF2-40B4-BE49-F238E27FC236}">
                <a16:creationId xmlns:a16="http://schemas.microsoft.com/office/drawing/2014/main" id="{4B71148C-EB2B-E147-3E18-4A56A62ADEC1}"/>
              </a:ext>
            </a:extLst>
          </p:cNvPr>
          <p:cNvSpPr/>
          <p:nvPr/>
        </p:nvSpPr>
        <p:spPr>
          <a:xfrm>
            <a:off x="2687076" y="2265418"/>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Digital PMs</a:t>
            </a:r>
          </a:p>
        </p:txBody>
      </p:sp>
      <p:sp>
        <p:nvSpPr>
          <p:cNvPr id="246" name="Rounded Rectangle 118">
            <a:extLst>
              <a:ext uri="{FF2B5EF4-FFF2-40B4-BE49-F238E27FC236}">
                <a16:creationId xmlns:a16="http://schemas.microsoft.com/office/drawing/2014/main" id="{19F24049-592E-E5C8-8A1F-80C7F06A06CC}"/>
              </a:ext>
            </a:extLst>
          </p:cNvPr>
          <p:cNvSpPr/>
          <p:nvPr/>
        </p:nvSpPr>
        <p:spPr>
          <a:xfrm>
            <a:off x="4338076" y="2265418"/>
            <a:ext cx="738103" cy="18958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PDD</a:t>
            </a:r>
          </a:p>
        </p:txBody>
      </p:sp>
      <p:sp>
        <p:nvSpPr>
          <p:cNvPr id="249" name="Rounded Rectangle 118">
            <a:extLst>
              <a:ext uri="{FF2B5EF4-FFF2-40B4-BE49-F238E27FC236}">
                <a16:creationId xmlns:a16="http://schemas.microsoft.com/office/drawing/2014/main" id="{C47D5963-6F36-F209-0E0F-98AA5A688BD4}"/>
              </a:ext>
            </a:extLst>
          </p:cNvPr>
          <p:cNvSpPr/>
          <p:nvPr/>
        </p:nvSpPr>
        <p:spPr>
          <a:xfrm>
            <a:off x="1843796" y="2592458"/>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err="1">
                <a:solidFill>
                  <a:srgbClr val="FFFFFF"/>
                </a:solidFill>
                <a:latin typeface="Arial" panose="020B0604020202020204" pitchFamily="34" charset="0"/>
                <a:cs typeface="Arial" panose="020B0604020202020204" pitchFamily="34" charset="0"/>
              </a:rPr>
              <a:t>Ms</a:t>
            </a:r>
            <a:r>
              <a:rPr lang="en-US" sz="800" b="1" noProof="0">
                <a:solidFill>
                  <a:srgbClr val="FFFFFF"/>
                </a:solidFill>
                <a:latin typeface="Arial" panose="020B0604020202020204" pitchFamily="34" charset="0"/>
                <a:cs typeface="Arial" panose="020B0604020202020204" pitchFamily="34" charset="0"/>
              </a:rPr>
              <a:t> Office</a:t>
            </a:r>
          </a:p>
        </p:txBody>
      </p:sp>
      <p:sp>
        <p:nvSpPr>
          <p:cNvPr id="250" name="Rounded Rectangle 118">
            <a:extLst>
              <a:ext uri="{FF2B5EF4-FFF2-40B4-BE49-F238E27FC236}">
                <a16:creationId xmlns:a16="http://schemas.microsoft.com/office/drawing/2014/main" id="{52FD5960-A395-63E9-AB8E-F056D026E2F2}"/>
              </a:ext>
            </a:extLst>
          </p:cNvPr>
          <p:cNvSpPr/>
          <p:nvPr/>
        </p:nvSpPr>
        <p:spPr>
          <a:xfrm>
            <a:off x="3527285" y="2265418"/>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MS Office</a:t>
            </a:r>
          </a:p>
        </p:txBody>
      </p:sp>
      <p:sp>
        <p:nvSpPr>
          <p:cNvPr id="251" name="Rounded Rectangle 118">
            <a:extLst>
              <a:ext uri="{FF2B5EF4-FFF2-40B4-BE49-F238E27FC236}">
                <a16:creationId xmlns:a16="http://schemas.microsoft.com/office/drawing/2014/main" id="{73724366-C26F-6D03-2F7E-7239F3D72C0B}"/>
              </a:ext>
            </a:extLst>
          </p:cNvPr>
          <p:cNvSpPr/>
          <p:nvPr/>
        </p:nvSpPr>
        <p:spPr>
          <a:xfrm>
            <a:off x="2687076" y="2592458"/>
            <a:ext cx="738103" cy="18958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PDD</a:t>
            </a:r>
          </a:p>
        </p:txBody>
      </p:sp>
      <p:sp>
        <p:nvSpPr>
          <p:cNvPr id="253" name="Rounded Rectangle 118">
            <a:extLst>
              <a:ext uri="{FF2B5EF4-FFF2-40B4-BE49-F238E27FC236}">
                <a16:creationId xmlns:a16="http://schemas.microsoft.com/office/drawing/2014/main" id="{53FD2163-C823-E030-78AF-E7883625BD4B}"/>
              </a:ext>
            </a:extLst>
          </p:cNvPr>
          <p:cNvSpPr/>
          <p:nvPr/>
        </p:nvSpPr>
        <p:spPr>
          <a:xfrm>
            <a:off x="1843796" y="2929939"/>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err="1">
                <a:solidFill>
                  <a:srgbClr val="FFFFFF"/>
                </a:solidFill>
                <a:latin typeface="Arial" panose="020B0604020202020204" pitchFamily="34" charset="0"/>
                <a:cs typeface="Arial" panose="020B0604020202020204" pitchFamily="34" charset="0"/>
              </a:rPr>
              <a:t>Sharepoint</a:t>
            </a:r>
            <a:endParaRPr lang="en-US" sz="800" b="1" noProof="0">
              <a:solidFill>
                <a:srgbClr val="FFFFFF"/>
              </a:solidFill>
              <a:latin typeface="Arial" panose="020B0604020202020204" pitchFamily="34" charset="0"/>
              <a:cs typeface="Arial" panose="020B0604020202020204" pitchFamily="34" charset="0"/>
            </a:endParaRPr>
          </a:p>
        </p:txBody>
      </p:sp>
      <p:sp>
        <p:nvSpPr>
          <p:cNvPr id="4099" name="Rounded Rectangle 118">
            <a:extLst>
              <a:ext uri="{FF2B5EF4-FFF2-40B4-BE49-F238E27FC236}">
                <a16:creationId xmlns:a16="http://schemas.microsoft.com/office/drawing/2014/main" id="{783235FE-3F9C-B2DD-45A9-97F91A97971A}"/>
              </a:ext>
            </a:extLst>
          </p:cNvPr>
          <p:cNvSpPr/>
          <p:nvPr/>
        </p:nvSpPr>
        <p:spPr>
          <a:xfrm>
            <a:off x="2687076" y="2929939"/>
            <a:ext cx="738103" cy="18958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PDD</a:t>
            </a:r>
          </a:p>
        </p:txBody>
      </p:sp>
      <p:sp>
        <p:nvSpPr>
          <p:cNvPr id="4101" name="Rounded Rectangle 118">
            <a:extLst>
              <a:ext uri="{FF2B5EF4-FFF2-40B4-BE49-F238E27FC236}">
                <a16:creationId xmlns:a16="http://schemas.microsoft.com/office/drawing/2014/main" id="{16B59487-A9C8-45EE-D28B-F389F96853D7}"/>
              </a:ext>
            </a:extLst>
          </p:cNvPr>
          <p:cNvSpPr/>
          <p:nvPr/>
        </p:nvSpPr>
        <p:spPr>
          <a:xfrm>
            <a:off x="2687076" y="3604901"/>
            <a:ext cx="738103" cy="18958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PDD</a:t>
            </a:r>
          </a:p>
        </p:txBody>
      </p:sp>
      <p:sp>
        <p:nvSpPr>
          <p:cNvPr id="4102" name="Rounded Rectangle 118">
            <a:extLst>
              <a:ext uri="{FF2B5EF4-FFF2-40B4-BE49-F238E27FC236}">
                <a16:creationId xmlns:a16="http://schemas.microsoft.com/office/drawing/2014/main" id="{948AFDB3-EC9E-0BB6-4D82-3086E061CA72}"/>
              </a:ext>
            </a:extLst>
          </p:cNvPr>
          <p:cNvSpPr/>
          <p:nvPr/>
        </p:nvSpPr>
        <p:spPr>
          <a:xfrm>
            <a:off x="2687076" y="3942381"/>
            <a:ext cx="738103" cy="18958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PDD</a:t>
            </a:r>
          </a:p>
        </p:txBody>
      </p:sp>
      <p:sp>
        <p:nvSpPr>
          <p:cNvPr id="4111" name="Rounded Rectangle 118">
            <a:extLst>
              <a:ext uri="{FF2B5EF4-FFF2-40B4-BE49-F238E27FC236}">
                <a16:creationId xmlns:a16="http://schemas.microsoft.com/office/drawing/2014/main" id="{22B68017-AC4C-5F4D-9ED2-CA8ABE61D58C}"/>
              </a:ext>
            </a:extLst>
          </p:cNvPr>
          <p:cNvSpPr/>
          <p:nvPr/>
        </p:nvSpPr>
        <p:spPr>
          <a:xfrm>
            <a:off x="2687076" y="4983878"/>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Confluence</a:t>
            </a:r>
          </a:p>
        </p:txBody>
      </p:sp>
      <p:sp>
        <p:nvSpPr>
          <p:cNvPr id="4112" name="Rounded Rectangle 118">
            <a:extLst>
              <a:ext uri="{FF2B5EF4-FFF2-40B4-BE49-F238E27FC236}">
                <a16:creationId xmlns:a16="http://schemas.microsoft.com/office/drawing/2014/main" id="{FA98B467-0BDC-ECE2-F8C9-3ABC68F3D4D9}"/>
              </a:ext>
            </a:extLst>
          </p:cNvPr>
          <p:cNvSpPr/>
          <p:nvPr/>
        </p:nvSpPr>
        <p:spPr>
          <a:xfrm>
            <a:off x="3527285" y="4983878"/>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MS Office</a:t>
            </a:r>
          </a:p>
        </p:txBody>
      </p:sp>
      <p:sp>
        <p:nvSpPr>
          <p:cNvPr id="4113" name="Rounded Rectangle 118">
            <a:extLst>
              <a:ext uri="{FF2B5EF4-FFF2-40B4-BE49-F238E27FC236}">
                <a16:creationId xmlns:a16="http://schemas.microsoft.com/office/drawing/2014/main" id="{8351390A-BF26-CDB2-ED2C-68547FC5C18F}"/>
              </a:ext>
            </a:extLst>
          </p:cNvPr>
          <p:cNvSpPr/>
          <p:nvPr/>
        </p:nvSpPr>
        <p:spPr>
          <a:xfrm>
            <a:off x="4360994" y="4983878"/>
            <a:ext cx="738103" cy="18958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PDD</a:t>
            </a:r>
          </a:p>
        </p:txBody>
      </p:sp>
      <p:sp>
        <p:nvSpPr>
          <p:cNvPr id="4123" name="Rounded Rectangle 118">
            <a:extLst>
              <a:ext uri="{FF2B5EF4-FFF2-40B4-BE49-F238E27FC236}">
                <a16:creationId xmlns:a16="http://schemas.microsoft.com/office/drawing/2014/main" id="{CCEC259B-ACAA-B32F-7F9A-840D43E38EE9}"/>
              </a:ext>
            </a:extLst>
          </p:cNvPr>
          <p:cNvSpPr/>
          <p:nvPr/>
        </p:nvSpPr>
        <p:spPr>
          <a:xfrm>
            <a:off x="3527285" y="5325137"/>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IT Now</a:t>
            </a:r>
          </a:p>
        </p:txBody>
      </p:sp>
      <p:sp>
        <p:nvSpPr>
          <p:cNvPr id="4124" name="Rounded Rectangle 118">
            <a:extLst>
              <a:ext uri="{FF2B5EF4-FFF2-40B4-BE49-F238E27FC236}">
                <a16:creationId xmlns:a16="http://schemas.microsoft.com/office/drawing/2014/main" id="{77E749E1-6D15-30A2-EBE5-AFDFFEA42E46}"/>
              </a:ext>
            </a:extLst>
          </p:cNvPr>
          <p:cNvSpPr/>
          <p:nvPr/>
        </p:nvSpPr>
        <p:spPr>
          <a:xfrm>
            <a:off x="4353316" y="5325137"/>
            <a:ext cx="738103" cy="18958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PDD</a:t>
            </a:r>
          </a:p>
        </p:txBody>
      </p:sp>
      <p:sp>
        <p:nvSpPr>
          <p:cNvPr id="4125" name="Rounded Rectangle 118">
            <a:extLst>
              <a:ext uri="{FF2B5EF4-FFF2-40B4-BE49-F238E27FC236}">
                <a16:creationId xmlns:a16="http://schemas.microsoft.com/office/drawing/2014/main" id="{2D456066-ED07-70E7-2C3C-58C26B4F7ED6}"/>
              </a:ext>
            </a:extLst>
          </p:cNvPr>
          <p:cNvSpPr/>
          <p:nvPr/>
        </p:nvSpPr>
        <p:spPr>
          <a:xfrm>
            <a:off x="2687076" y="5325137"/>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MS Office</a:t>
            </a:r>
          </a:p>
        </p:txBody>
      </p:sp>
      <p:sp>
        <p:nvSpPr>
          <p:cNvPr id="4128" name="Rounded Rectangle 118">
            <a:extLst>
              <a:ext uri="{FF2B5EF4-FFF2-40B4-BE49-F238E27FC236}">
                <a16:creationId xmlns:a16="http://schemas.microsoft.com/office/drawing/2014/main" id="{5F1A695F-329B-368F-2C8C-3A0EFDE86BEF}"/>
              </a:ext>
            </a:extLst>
          </p:cNvPr>
          <p:cNvSpPr/>
          <p:nvPr/>
        </p:nvSpPr>
        <p:spPr>
          <a:xfrm>
            <a:off x="3537680" y="6017520"/>
            <a:ext cx="738103" cy="18958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PDD</a:t>
            </a:r>
          </a:p>
        </p:txBody>
      </p:sp>
      <p:sp>
        <p:nvSpPr>
          <p:cNvPr id="4129" name="Rounded Rectangle 118">
            <a:extLst>
              <a:ext uri="{FF2B5EF4-FFF2-40B4-BE49-F238E27FC236}">
                <a16:creationId xmlns:a16="http://schemas.microsoft.com/office/drawing/2014/main" id="{224E625C-890E-8CD8-66A2-20AA12DFD870}"/>
              </a:ext>
            </a:extLst>
          </p:cNvPr>
          <p:cNvSpPr/>
          <p:nvPr/>
        </p:nvSpPr>
        <p:spPr>
          <a:xfrm>
            <a:off x="2694400" y="6017520"/>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MS Office</a:t>
            </a:r>
          </a:p>
        </p:txBody>
      </p:sp>
      <p:sp>
        <p:nvSpPr>
          <p:cNvPr id="217" name="Rounded Rectangle 118">
            <a:extLst>
              <a:ext uri="{FF2B5EF4-FFF2-40B4-BE49-F238E27FC236}">
                <a16:creationId xmlns:a16="http://schemas.microsoft.com/office/drawing/2014/main" id="{9C6EE1E1-68A5-9A80-266C-E2CDE213608C}"/>
              </a:ext>
            </a:extLst>
          </p:cNvPr>
          <p:cNvSpPr/>
          <p:nvPr/>
        </p:nvSpPr>
        <p:spPr>
          <a:xfrm>
            <a:off x="1843796" y="1930731"/>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Jira</a:t>
            </a:r>
          </a:p>
        </p:txBody>
      </p:sp>
      <p:sp>
        <p:nvSpPr>
          <p:cNvPr id="244" name="Rounded Rectangle 118">
            <a:extLst>
              <a:ext uri="{FF2B5EF4-FFF2-40B4-BE49-F238E27FC236}">
                <a16:creationId xmlns:a16="http://schemas.microsoft.com/office/drawing/2014/main" id="{2EF0282E-86D5-61E1-9F48-B88CB95213FA}"/>
              </a:ext>
            </a:extLst>
          </p:cNvPr>
          <p:cNvSpPr/>
          <p:nvPr/>
        </p:nvSpPr>
        <p:spPr>
          <a:xfrm>
            <a:off x="1843796" y="2278652"/>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Jira</a:t>
            </a:r>
          </a:p>
        </p:txBody>
      </p:sp>
      <p:sp>
        <p:nvSpPr>
          <p:cNvPr id="4110" name="Rounded Rectangle 118">
            <a:extLst>
              <a:ext uri="{FF2B5EF4-FFF2-40B4-BE49-F238E27FC236}">
                <a16:creationId xmlns:a16="http://schemas.microsoft.com/office/drawing/2014/main" id="{296216FA-FCEE-722E-7B08-20BF41372388}"/>
              </a:ext>
            </a:extLst>
          </p:cNvPr>
          <p:cNvSpPr/>
          <p:nvPr/>
        </p:nvSpPr>
        <p:spPr>
          <a:xfrm>
            <a:off x="1843796" y="4279137"/>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Jira</a:t>
            </a:r>
          </a:p>
        </p:txBody>
      </p:sp>
      <p:sp>
        <p:nvSpPr>
          <p:cNvPr id="22" name="Rounded Rectangle 25">
            <a:extLst>
              <a:ext uri="{FF2B5EF4-FFF2-40B4-BE49-F238E27FC236}">
                <a16:creationId xmlns:a16="http://schemas.microsoft.com/office/drawing/2014/main" id="{890B8411-4F44-B69E-4B63-A9F6C0AD28DC}"/>
              </a:ext>
            </a:extLst>
          </p:cNvPr>
          <p:cNvSpPr/>
          <p:nvPr/>
        </p:nvSpPr>
        <p:spPr>
          <a:xfrm>
            <a:off x="279988" y="1857978"/>
            <a:ext cx="1360264" cy="307175"/>
          </a:xfrm>
          <a:prstGeom prst="roundRect">
            <a:avLst>
              <a:gd name="adj" fmla="val 25000"/>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noProof="0">
                <a:solidFill>
                  <a:srgbClr val="FFFFFF"/>
                </a:solidFill>
                <a:latin typeface="Arial" panose="020B0604020202020204" pitchFamily="34" charset="0"/>
                <a:cs typeface="Arial" panose="020B0604020202020204" pitchFamily="34" charset="0"/>
              </a:rPr>
              <a:t>BRS</a:t>
            </a:r>
            <a:endParaRPr lang="en-US" sz="1000" noProof="0">
              <a:latin typeface="Arial" panose="020B0604020202020204" pitchFamily="34" charset="0"/>
              <a:cs typeface="Arial" panose="020B0604020202020204" pitchFamily="34" charset="0"/>
            </a:endParaRPr>
          </a:p>
        </p:txBody>
      </p:sp>
      <p:sp>
        <p:nvSpPr>
          <p:cNvPr id="29" name="Rounded Rectangle 32">
            <a:extLst>
              <a:ext uri="{FF2B5EF4-FFF2-40B4-BE49-F238E27FC236}">
                <a16:creationId xmlns:a16="http://schemas.microsoft.com/office/drawing/2014/main" id="{EADA72B6-11A3-224E-307E-52BDCE4FFBCB}"/>
              </a:ext>
            </a:extLst>
          </p:cNvPr>
          <p:cNvSpPr/>
          <p:nvPr/>
        </p:nvSpPr>
        <p:spPr>
          <a:xfrm>
            <a:off x="279988" y="2205899"/>
            <a:ext cx="1360264" cy="307175"/>
          </a:xfrm>
          <a:prstGeom prst="roundRect">
            <a:avLst>
              <a:gd name="adj" fmla="val 25000"/>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noProof="0">
                <a:solidFill>
                  <a:srgbClr val="FFFFFF"/>
                </a:solidFill>
                <a:latin typeface="Arial" panose="020B0604020202020204" pitchFamily="34" charset="0"/>
                <a:cs typeface="Arial" panose="020B0604020202020204" pitchFamily="34" charset="0"/>
              </a:rPr>
              <a:t>CX &amp; Digital </a:t>
            </a:r>
            <a:r>
              <a:rPr lang="en-US" sz="1000" b="1" noProof="0" err="1">
                <a:solidFill>
                  <a:srgbClr val="FFFFFF"/>
                </a:solidFill>
                <a:latin typeface="Arial" panose="020B0604020202020204" pitchFamily="34" charset="0"/>
                <a:cs typeface="Arial" panose="020B0604020202020204" pitchFamily="34" charset="0"/>
              </a:rPr>
              <a:t>CoE</a:t>
            </a:r>
            <a:endParaRPr lang="en-US" sz="1000" b="1" noProof="0">
              <a:solidFill>
                <a:srgbClr val="FFFFFF"/>
              </a:solidFill>
              <a:latin typeface="Arial" panose="020B0604020202020204" pitchFamily="34" charset="0"/>
              <a:cs typeface="Arial" panose="020B0604020202020204" pitchFamily="34" charset="0"/>
            </a:endParaRPr>
          </a:p>
        </p:txBody>
      </p:sp>
      <p:sp>
        <p:nvSpPr>
          <p:cNvPr id="36" name="Rounded Rectangle 39">
            <a:extLst>
              <a:ext uri="{FF2B5EF4-FFF2-40B4-BE49-F238E27FC236}">
                <a16:creationId xmlns:a16="http://schemas.microsoft.com/office/drawing/2014/main" id="{501D2B14-33F9-D497-3AE7-C2EBE19632F4}"/>
              </a:ext>
            </a:extLst>
          </p:cNvPr>
          <p:cNvSpPr/>
          <p:nvPr/>
        </p:nvSpPr>
        <p:spPr>
          <a:xfrm>
            <a:off x="279988" y="2532939"/>
            <a:ext cx="1360264" cy="307175"/>
          </a:xfrm>
          <a:prstGeom prst="roundRect">
            <a:avLst>
              <a:gd name="adj" fmla="val 25000"/>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noProof="0">
                <a:solidFill>
                  <a:srgbClr val="FFFFFF"/>
                </a:solidFill>
                <a:latin typeface="Arial" panose="020B0604020202020204" pitchFamily="34" charset="0"/>
                <a:cs typeface="Arial" panose="020B0604020202020204" pitchFamily="34" charset="0"/>
              </a:rPr>
              <a:t>Infrastructure</a:t>
            </a:r>
          </a:p>
        </p:txBody>
      </p:sp>
      <p:sp>
        <p:nvSpPr>
          <p:cNvPr id="43" name="Rounded Rectangle 46">
            <a:extLst>
              <a:ext uri="{FF2B5EF4-FFF2-40B4-BE49-F238E27FC236}">
                <a16:creationId xmlns:a16="http://schemas.microsoft.com/office/drawing/2014/main" id="{C6FFCBFA-EA27-9362-A9D4-01F302B5568F}"/>
              </a:ext>
            </a:extLst>
          </p:cNvPr>
          <p:cNvSpPr/>
          <p:nvPr/>
        </p:nvSpPr>
        <p:spPr>
          <a:xfrm>
            <a:off x="279988" y="2870420"/>
            <a:ext cx="1360264" cy="307175"/>
          </a:xfrm>
          <a:prstGeom prst="roundRect">
            <a:avLst>
              <a:gd name="adj" fmla="val 25000"/>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noProof="0">
                <a:solidFill>
                  <a:srgbClr val="FFFFFF"/>
                </a:solidFill>
                <a:latin typeface="Arial" panose="020B0604020202020204" pitchFamily="34" charset="0"/>
                <a:cs typeface="Arial" panose="020B0604020202020204" pitchFamily="34" charset="0"/>
              </a:rPr>
              <a:t>Data &amp; Analytics </a:t>
            </a:r>
          </a:p>
        </p:txBody>
      </p:sp>
      <p:sp>
        <p:nvSpPr>
          <p:cNvPr id="49" name="Rounded Rectangle 52">
            <a:extLst>
              <a:ext uri="{FF2B5EF4-FFF2-40B4-BE49-F238E27FC236}">
                <a16:creationId xmlns:a16="http://schemas.microsoft.com/office/drawing/2014/main" id="{46FB1EC5-BFB5-6AC9-F988-6DB763AD78C8}"/>
              </a:ext>
            </a:extLst>
          </p:cNvPr>
          <p:cNvSpPr/>
          <p:nvPr/>
        </p:nvSpPr>
        <p:spPr>
          <a:xfrm>
            <a:off x="279988" y="3207900"/>
            <a:ext cx="1360264" cy="307175"/>
          </a:xfrm>
          <a:prstGeom prst="roundRect">
            <a:avLst>
              <a:gd name="adj" fmla="val 25000"/>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noProof="0">
                <a:solidFill>
                  <a:srgbClr val="FFFFFF"/>
                </a:solidFill>
                <a:latin typeface="Arial" panose="020B0604020202020204" pitchFamily="34" charset="0"/>
                <a:cs typeface="Arial" panose="020B0604020202020204" pitchFamily="34" charset="0"/>
              </a:rPr>
              <a:t>IA</a:t>
            </a:r>
            <a:endParaRPr lang="en-US" sz="1000" noProof="0">
              <a:latin typeface="Arial" panose="020B0604020202020204" pitchFamily="34" charset="0"/>
              <a:cs typeface="Arial" panose="020B0604020202020204" pitchFamily="34" charset="0"/>
            </a:endParaRPr>
          </a:p>
        </p:txBody>
      </p:sp>
      <p:sp>
        <p:nvSpPr>
          <p:cNvPr id="55" name="Rounded Rectangle 58">
            <a:extLst>
              <a:ext uri="{FF2B5EF4-FFF2-40B4-BE49-F238E27FC236}">
                <a16:creationId xmlns:a16="http://schemas.microsoft.com/office/drawing/2014/main" id="{F1EE33C7-86F3-5C23-D78D-D8DCC525DA7C}"/>
              </a:ext>
            </a:extLst>
          </p:cNvPr>
          <p:cNvSpPr/>
          <p:nvPr/>
        </p:nvSpPr>
        <p:spPr>
          <a:xfrm>
            <a:off x="279988" y="3545382"/>
            <a:ext cx="1360264" cy="307175"/>
          </a:xfrm>
          <a:prstGeom prst="roundRect">
            <a:avLst>
              <a:gd name="adj" fmla="val 25000"/>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noProof="0">
                <a:solidFill>
                  <a:srgbClr val="FFFFFF"/>
                </a:solidFill>
                <a:latin typeface="Arial" panose="020B0604020202020204" pitchFamily="34" charset="0"/>
                <a:cs typeface="Arial" panose="020B0604020202020204" pitchFamily="34" charset="0"/>
              </a:rPr>
              <a:t>OT</a:t>
            </a:r>
            <a:endParaRPr lang="en-US" sz="1000" noProof="0">
              <a:latin typeface="Arial" panose="020B0604020202020204" pitchFamily="34" charset="0"/>
              <a:cs typeface="Arial" panose="020B0604020202020204" pitchFamily="34" charset="0"/>
            </a:endParaRPr>
          </a:p>
        </p:txBody>
      </p:sp>
      <p:sp>
        <p:nvSpPr>
          <p:cNvPr id="61" name="Rounded Rectangle 64">
            <a:extLst>
              <a:ext uri="{FF2B5EF4-FFF2-40B4-BE49-F238E27FC236}">
                <a16:creationId xmlns:a16="http://schemas.microsoft.com/office/drawing/2014/main" id="{6D0DD741-3C64-C602-AFE1-97427427C96D}"/>
              </a:ext>
            </a:extLst>
          </p:cNvPr>
          <p:cNvSpPr/>
          <p:nvPr/>
        </p:nvSpPr>
        <p:spPr>
          <a:xfrm>
            <a:off x="279988" y="3882862"/>
            <a:ext cx="1360264" cy="307175"/>
          </a:xfrm>
          <a:prstGeom prst="roundRect">
            <a:avLst>
              <a:gd name="adj" fmla="val 25000"/>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noProof="0">
                <a:solidFill>
                  <a:srgbClr val="FFFFFF"/>
                </a:solidFill>
                <a:latin typeface="Arial" panose="020B0604020202020204" pitchFamily="34" charset="0"/>
                <a:cs typeface="Arial" panose="020B0604020202020204" pitchFamily="34" charset="0"/>
              </a:rPr>
              <a:t>Procurement</a:t>
            </a:r>
          </a:p>
        </p:txBody>
      </p:sp>
      <p:sp>
        <p:nvSpPr>
          <p:cNvPr id="67" name="Rounded Rectangle 70">
            <a:extLst>
              <a:ext uri="{FF2B5EF4-FFF2-40B4-BE49-F238E27FC236}">
                <a16:creationId xmlns:a16="http://schemas.microsoft.com/office/drawing/2014/main" id="{C9314E15-569F-CE2E-FE84-819DD1AFF45E}"/>
              </a:ext>
            </a:extLst>
          </p:cNvPr>
          <p:cNvSpPr/>
          <p:nvPr/>
        </p:nvSpPr>
        <p:spPr>
          <a:xfrm>
            <a:off x="279988" y="4220344"/>
            <a:ext cx="1360264" cy="307175"/>
          </a:xfrm>
          <a:prstGeom prst="roundRect">
            <a:avLst>
              <a:gd name="adj" fmla="val 25000"/>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noProof="0">
                <a:solidFill>
                  <a:srgbClr val="FFFFFF"/>
                </a:solidFill>
                <a:latin typeface="Arial" panose="020B0604020202020204" pitchFamily="34" charset="0"/>
                <a:cs typeface="Arial" panose="020B0604020202020204" pitchFamily="34" charset="0"/>
              </a:rPr>
              <a:t>Regulatory</a:t>
            </a:r>
          </a:p>
        </p:txBody>
      </p:sp>
      <p:sp>
        <p:nvSpPr>
          <p:cNvPr id="74" name="Rounded Rectangle 77">
            <a:extLst>
              <a:ext uri="{FF2B5EF4-FFF2-40B4-BE49-F238E27FC236}">
                <a16:creationId xmlns:a16="http://schemas.microsoft.com/office/drawing/2014/main" id="{78D27374-1D26-B72D-3447-579D7101CAF1}"/>
              </a:ext>
            </a:extLst>
          </p:cNvPr>
          <p:cNvSpPr/>
          <p:nvPr/>
        </p:nvSpPr>
        <p:spPr>
          <a:xfrm>
            <a:off x="279988" y="4919474"/>
            <a:ext cx="1360264" cy="307175"/>
          </a:xfrm>
          <a:prstGeom prst="roundRect">
            <a:avLst>
              <a:gd name="adj" fmla="val 25000"/>
            </a:avLst>
          </a:prstGeom>
          <a:solidFill>
            <a:srgbClr val="7474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noProof="0">
                <a:solidFill>
                  <a:srgbClr val="FFFFFF"/>
                </a:solidFill>
                <a:latin typeface="Arial" panose="020B0604020202020204" pitchFamily="34" charset="0"/>
                <a:cs typeface="Arial" panose="020B0604020202020204" pitchFamily="34" charset="0"/>
              </a:rPr>
              <a:t>Corporate Areas</a:t>
            </a:r>
          </a:p>
        </p:txBody>
      </p:sp>
      <p:sp>
        <p:nvSpPr>
          <p:cNvPr id="90" name="Rounded Rectangle 91">
            <a:extLst>
              <a:ext uri="{FF2B5EF4-FFF2-40B4-BE49-F238E27FC236}">
                <a16:creationId xmlns:a16="http://schemas.microsoft.com/office/drawing/2014/main" id="{7843ED88-7657-16AA-1364-3927C7069DDA}"/>
              </a:ext>
            </a:extLst>
          </p:cNvPr>
          <p:cNvSpPr/>
          <p:nvPr/>
        </p:nvSpPr>
        <p:spPr>
          <a:xfrm>
            <a:off x="279988" y="5265618"/>
            <a:ext cx="1360264" cy="307175"/>
          </a:xfrm>
          <a:prstGeom prst="roundRect">
            <a:avLst>
              <a:gd name="adj" fmla="val 25000"/>
            </a:avLst>
          </a:prstGeom>
          <a:solidFill>
            <a:srgbClr val="7474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noProof="0">
                <a:solidFill>
                  <a:srgbClr val="FFFFFF"/>
                </a:solidFill>
                <a:latin typeface="Arial" panose="020B0604020202020204" pitchFamily="34" charset="0"/>
                <a:cs typeface="Arial" panose="020B0604020202020204" pitchFamily="34" charset="0"/>
              </a:rPr>
              <a:t>GIS</a:t>
            </a:r>
            <a:endParaRPr lang="en-US" sz="1000" noProof="0">
              <a:latin typeface="Arial" panose="020B0604020202020204" pitchFamily="34" charset="0"/>
              <a:cs typeface="Arial" panose="020B0604020202020204" pitchFamily="34" charset="0"/>
            </a:endParaRPr>
          </a:p>
        </p:txBody>
      </p:sp>
      <p:sp>
        <p:nvSpPr>
          <p:cNvPr id="81" name="Rounded Rectangle 25">
            <a:extLst>
              <a:ext uri="{FF2B5EF4-FFF2-40B4-BE49-F238E27FC236}">
                <a16:creationId xmlns:a16="http://schemas.microsoft.com/office/drawing/2014/main" id="{41AF0829-9EFB-902D-95B0-0CE6CD876BEF}"/>
              </a:ext>
            </a:extLst>
          </p:cNvPr>
          <p:cNvSpPr/>
          <p:nvPr/>
        </p:nvSpPr>
        <p:spPr>
          <a:xfrm>
            <a:off x="1766629" y="1857978"/>
            <a:ext cx="4297602" cy="307175"/>
          </a:xfrm>
          <a:prstGeom prst="roundRect">
            <a:avLst>
              <a:gd name="adj" fmla="val 25000"/>
            </a:avLst>
          </a:prstGeom>
          <a:no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16" name="Rounded Rectangle 25">
            <a:extLst>
              <a:ext uri="{FF2B5EF4-FFF2-40B4-BE49-F238E27FC236}">
                <a16:creationId xmlns:a16="http://schemas.microsoft.com/office/drawing/2014/main" id="{19233ADD-8DAF-76C1-D4FF-F08AFDB4BF08}"/>
              </a:ext>
            </a:extLst>
          </p:cNvPr>
          <p:cNvSpPr/>
          <p:nvPr/>
        </p:nvSpPr>
        <p:spPr>
          <a:xfrm>
            <a:off x="1766629" y="2205899"/>
            <a:ext cx="4297602" cy="307175"/>
          </a:xfrm>
          <a:prstGeom prst="roundRect">
            <a:avLst>
              <a:gd name="adj" fmla="val 25000"/>
            </a:avLst>
          </a:prstGeom>
          <a:no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48" name="Rounded Rectangle 25">
            <a:extLst>
              <a:ext uri="{FF2B5EF4-FFF2-40B4-BE49-F238E27FC236}">
                <a16:creationId xmlns:a16="http://schemas.microsoft.com/office/drawing/2014/main" id="{39EC3870-C177-F7F8-A414-E62ABAF97D24}"/>
              </a:ext>
            </a:extLst>
          </p:cNvPr>
          <p:cNvSpPr/>
          <p:nvPr/>
        </p:nvSpPr>
        <p:spPr>
          <a:xfrm>
            <a:off x="1766629" y="2532939"/>
            <a:ext cx="4297602" cy="307175"/>
          </a:xfrm>
          <a:prstGeom prst="roundRect">
            <a:avLst>
              <a:gd name="adj" fmla="val 25000"/>
            </a:avLst>
          </a:prstGeom>
          <a:no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52" name="Rounded Rectangle 25">
            <a:extLst>
              <a:ext uri="{FF2B5EF4-FFF2-40B4-BE49-F238E27FC236}">
                <a16:creationId xmlns:a16="http://schemas.microsoft.com/office/drawing/2014/main" id="{7F32F5D7-59FC-8917-0187-48B023C2453F}"/>
              </a:ext>
            </a:extLst>
          </p:cNvPr>
          <p:cNvSpPr/>
          <p:nvPr/>
        </p:nvSpPr>
        <p:spPr>
          <a:xfrm>
            <a:off x="1766629" y="2870420"/>
            <a:ext cx="4297602" cy="307175"/>
          </a:xfrm>
          <a:prstGeom prst="roundRect">
            <a:avLst>
              <a:gd name="adj" fmla="val 25000"/>
            </a:avLst>
          </a:prstGeom>
          <a:no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54" name="Rounded Rectangle 25">
            <a:extLst>
              <a:ext uri="{FF2B5EF4-FFF2-40B4-BE49-F238E27FC236}">
                <a16:creationId xmlns:a16="http://schemas.microsoft.com/office/drawing/2014/main" id="{8FD865A9-AF07-694E-7B00-89C9AA02EF84}"/>
              </a:ext>
            </a:extLst>
          </p:cNvPr>
          <p:cNvSpPr/>
          <p:nvPr/>
        </p:nvSpPr>
        <p:spPr>
          <a:xfrm>
            <a:off x="1766629" y="3207900"/>
            <a:ext cx="4297602" cy="307175"/>
          </a:xfrm>
          <a:prstGeom prst="roundRect">
            <a:avLst>
              <a:gd name="adj" fmla="val 25000"/>
            </a:avLst>
          </a:prstGeom>
          <a:no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096" name="Rounded Rectangle 25">
            <a:extLst>
              <a:ext uri="{FF2B5EF4-FFF2-40B4-BE49-F238E27FC236}">
                <a16:creationId xmlns:a16="http://schemas.microsoft.com/office/drawing/2014/main" id="{A9149D5F-0284-1E13-DC94-97EF8BAE82A1}"/>
              </a:ext>
            </a:extLst>
          </p:cNvPr>
          <p:cNvSpPr/>
          <p:nvPr/>
        </p:nvSpPr>
        <p:spPr>
          <a:xfrm>
            <a:off x="1766629" y="3545382"/>
            <a:ext cx="4297602" cy="307175"/>
          </a:xfrm>
          <a:prstGeom prst="roundRect">
            <a:avLst>
              <a:gd name="adj" fmla="val 25000"/>
            </a:avLst>
          </a:prstGeom>
          <a:no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03" name="Rounded Rectangle 25">
            <a:extLst>
              <a:ext uri="{FF2B5EF4-FFF2-40B4-BE49-F238E27FC236}">
                <a16:creationId xmlns:a16="http://schemas.microsoft.com/office/drawing/2014/main" id="{7EE3D8FA-2695-966B-5206-398CBB1FD121}"/>
              </a:ext>
            </a:extLst>
          </p:cNvPr>
          <p:cNvSpPr/>
          <p:nvPr/>
        </p:nvSpPr>
        <p:spPr>
          <a:xfrm>
            <a:off x="1766629" y="3882862"/>
            <a:ext cx="4297602" cy="307175"/>
          </a:xfrm>
          <a:prstGeom prst="roundRect">
            <a:avLst>
              <a:gd name="adj" fmla="val 25000"/>
            </a:avLst>
          </a:prstGeom>
          <a:no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04" name="Rounded Rectangle 25">
            <a:extLst>
              <a:ext uri="{FF2B5EF4-FFF2-40B4-BE49-F238E27FC236}">
                <a16:creationId xmlns:a16="http://schemas.microsoft.com/office/drawing/2014/main" id="{8DDECF08-AADA-E03B-2CEF-5816F661B385}"/>
              </a:ext>
            </a:extLst>
          </p:cNvPr>
          <p:cNvSpPr/>
          <p:nvPr/>
        </p:nvSpPr>
        <p:spPr>
          <a:xfrm>
            <a:off x="1766629" y="4919474"/>
            <a:ext cx="4297602" cy="307175"/>
          </a:xfrm>
          <a:prstGeom prst="roundRect">
            <a:avLst>
              <a:gd name="adj" fmla="val 25000"/>
            </a:avLst>
          </a:prstGeom>
          <a:no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06" name="Rounded Rectangle 25">
            <a:extLst>
              <a:ext uri="{FF2B5EF4-FFF2-40B4-BE49-F238E27FC236}">
                <a16:creationId xmlns:a16="http://schemas.microsoft.com/office/drawing/2014/main" id="{718B1E09-2739-1454-9B08-CEF4DBC85CE6}"/>
              </a:ext>
            </a:extLst>
          </p:cNvPr>
          <p:cNvSpPr/>
          <p:nvPr/>
        </p:nvSpPr>
        <p:spPr>
          <a:xfrm>
            <a:off x="1766629" y="5265618"/>
            <a:ext cx="4297602" cy="307175"/>
          </a:xfrm>
          <a:prstGeom prst="roundRect">
            <a:avLst>
              <a:gd name="adj" fmla="val 25000"/>
            </a:avLst>
          </a:prstGeom>
          <a:no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09" name="Rounded Rectangle 25">
            <a:extLst>
              <a:ext uri="{FF2B5EF4-FFF2-40B4-BE49-F238E27FC236}">
                <a16:creationId xmlns:a16="http://schemas.microsoft.com/office/drawing/2014/main" id="{A52EABD6-E756-55DA-9373-FF8581E82650}"/>
              </a:ext>
            </a:extLst>
          </p:cNvPr>
          <p:cNvSpPr/>
          <p:nvPr/>
        </p:nvSpPr>
        <p:spPr>
          <a:xfrm>
            <a:off x="1766629" y="4220344"/>
            <a:ext cx="4297602" cy="307175"/>
          </a:xfrm>
          <a:prstGeom prst="roundRect">
            <a:avLst>
              <a:gd name="adj" fmla="val 25000"/>
            </a:avLst>
          </a:prstGeom>
          <a:no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18" name="Rounded Rectangle 91">
            <a:extLst>
              <a:ext uri="{FF2B5EF4-FFF2-40B4-BE49-F238E27FC236}">
                <a16:creationId xmlns:a16="http://schemas.microsoft.com/office/drawing/2014/main" id="{ABE0581C-FBC6-E335-9B6C-A1499C1A9E5E}"/>
              </a:ext>
            </a:extLst>
          </p:cNvPr>
          <p:cNvSpPr/>
          <p:nvPr/>
        </p:nvSpPr>
        <p:spPr>
          <a:xfrm>
            <a:off x="279988" y="5610624"/>
            <a:ext cx="1360264" cy="307175"/>
          </a:xfrm>
          <a:prstGeom prst="roundRect">
            <a:avLst>
              <a:gd name="adj" fmla="val 25000"/>
            </a:avLst>
          </a:prstGeom>
          <a:solidFill>
            <a:srgbClr val="7474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noProof="0">
                <a:solidFill>
                  <a:srgbClr val="FFFFFF"/>
                </a:solidFill>
                <a:latin typeface="Arial" panose="020B0604020202020204" pitchFamily="34" charset="0"/>
                <a:cs typeface="Arial" panose="020B0604020202020204" pitchFamily="34" charset="0"/>
              </a:rPr>
              <a:t>Global SAP</a:t>
            </a:r>
          </a:p>
        </p:txBody>
      </p:sp>
      <p:sp>
        <p:nvSpPr>
          <p:cNvPr id="4120" name="Rounded Rectangle 25">
            <a:extLst>
              <a:ext uri="{FF2B5EF4-FFF2-40B4-BE49-F238E27FC236}">
                <a16:creationId xmlns:a16="http://schemas.microsoft.com/office/drawing/2014/main" id="{05369CAC-E78B-F1FF-9361-6F9FE589D26D}"/>
              </a:ext>
            </a:extLst>
          </p:cNvPr>
          <p:cNvSpPr/>
          <p:nvPr/>
        </p:nvSpPr>
        <p:spPr>
          <a:xfrm>
            <a:off x="1766629" y="5610624"/>
            <a:ext cx="4297602" cy="307175"/>
          </a:xfrm>
          <a:prstGeom prst="roundRect">
            <a:avLst>
              <a:gd name="adj" fmla="val 25000"/>
            </a:avLst>
          </a:prstGeom>
          <a:no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22" name="Rounded Rectangle 118">
            <a:extLst>
              <a:ext uri="{FF2B5EF4-FFF2-40B4-BE49-F238E27FC236}">
                <a16:creationId xmlns:a16="http://schemas.microsoft.com/office/drawing/2014/main" id="{4F4B801D-F5BB-B152-24A9-823E25A3B127}"/>
              </a:ext>
            </a:extLst>
          </p:cNvPr>
          <p:cNvSpPr/>
          <p:nvPr/>
        </p:nvSpPr>
        <p:spPr>
          <a:xfrm>
            <a:off x="1843796" y="5687797"/>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Jira</a:t>
            </a:r>
          </a:p>
        </p:txBody>
      </p:sp>
      <p:sp>
        <p:nvSpPr>
          <p:cNvPr id="4126" name="Rounded Rectangle 118">
            <a:extLst>
              <a:ext uri="{FF2B5EF4-FFF2-40B4-BE49-F238E27FC236}">
                <a16:creationId xmlns:a16="http://schemas.microsoft.com/office/drawing/2014/main" id="{648BA731-DA83-27B1-B2A2-94CCA27B885D}"/>
              </a:ext>
            </a:extLst>
          </p:cNvPr>
          <p:cNvSpPr/>
          <p:nvPr/>
        </p:nvSpPr>
        <p:spPr>
          <a:xfrm>
            <a:off x="1843796" y="5338372"/>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Jira</a:t>
            </a:r>
          </a:p>
        </p:txBody>
      </p:sp>
      <p:sp>
        <p:nvSpPr>
          <p:cNvPr id="4130" name="Rounded Rectangle 91">
            <a:extLst>
              <a:ext uri="{FF2B5EF4-FFF2-40B4-BE49-F238E27FC236}">
                <a16:creationId xmlns:a16="http://schemas.microsoft.com/office/drawing/2014/main" id="{6C0DA21F-FFDE-EB5B-3017-0E85F517B0C3}"/>
              </a:ext>
            </a:extLst>
          </p:cNvPr>
          <p:cNvSpPr/>
          <p:nvPr/>
        </p:nvSpPr>
        <p:spPr>
          <a:xfrm>
            <a:off x="269828" y="4564265"/>
            <a:ext cx="1360264" cy="307175"/>
          </a:xfrm>
          <a:prstGeom prst="roundRect">
            <a:avLst>
              <a:gd name="adj" fmla="val 25000"/>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noProof="0">
                <a:solidFill>
                  <a:srgbClr val="FFFFFF"/>
                </a:solidFill>
                <a:latin typeface="Arial" panose="020B0604020202020204" pitchFamily="34" charset="0"/>
                <a:cs typeface="Arial" panose="020B0604020202020204" pitchFamily="34" charset="0"/>
              </a:rPr>
              <a:t>Smart Metering </a:t>
            </a:r>
          </a:p>
        </p:txBody>
      </p:sp>
      <p:sp>
        <p:nvSpPr>
          <p:cNvPr id="4132" name="Rounded Rectangle 25">
            <a:extLst>
              <a:ext uri="{FF2B5EF4-FFF2-40B4-BE49-F238E27FC236}">
                <a16:creationId xmlns:a16="http://schemas.microsoft.com/office/drawing/2014/main" id="{5FB3189F-3560-00EF-8228-FB145DF5DD93}"/>
              </a:ext>
            </a:extLst>
          </p:cNvPr>
          <p:cNvSpPr/>
          <p:nvPr/>
        </p:nvSpPr>
        <p:spPr>
          <a:xfrm>
            <a:off x="1756469" y="4564265"/>
            <a:ext cx="4297602" cy="307175"/>
          </a:xfrm>
          <a:prstGeom prst="roundRect">
            <a:avLst>
              <a:gd name="adj" fmla="val 25000"/>
            </a:avLst>
          </a:prstGeom>
          <a:no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37" name="Rounded Rectangle 91">
            <a:extLst>
              <a:ext uri="{FF2B5EF4-FFF2-40B4-BE49-F238E27FC236}">
                <a16:creationId xmlns:a16="http://schemas.microsoft.com/office/drawing/2014/main" id="{55E5F10C-F977-C033-4A91-2E3702468C07}"/>
              </a:ext>
            </a:extLst>
          </p:cNvPr>
          <p:cNvSpPr/>
          <p:nvPr/>
        </p:nvSpPr>
        <p:spPr>
          <a:xfrm>
            <a:off x="279988" y="5957416"/>
            <a:ext cx="1360264" cy="307175"/>
          </a:xfrm>
          <a:prstGeom prst="roundRect">
            <a:avLst>
              <a:gd name="adj" fmla="val 25000"/>
            </a:avLst>
          </a:prstGeom>
          <a:solidFill>
            <a:srgbClr val="7474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noProof="0">
                <a:solidFill>
                  <a:srgbClr val="FFFFFF"/>
                </a:solidFill>
                <a:latin typeface="Arial" panose="020B0604020202020204" pitchFamily="34" charset="0"/>
                <a:cs typeface="Arial" panose="020B0604020202020204" pitchFamily="34" charset="0"/>
              </a:rPr>
              <a:t>G&amp;E</a:t>
            </a:r>
          </a:p>
        </p:txBody>
      </p:sp>
      <p:sp>
        <p:nvSpPr>
          <p:cNvPr id="4139" name="Rounded Rectangle 25">
            <a:extLst>
              <a:ext uri="{FF2B5EF4-FFF2-40B4-BE49-F238E27FC236}">
                <a16:creationId xmlns:a16="http://schemas.microsoft.com/office/drawing/2014/main" id="{371B656E-6F55-B254-C3EA-5E3846B236EE}"/>
              </a:ext>
            </a:extLst>
          </p:cNvPr>
          <p:cNvSpPr/>
          <p:nvPr/>
        </p:nvSpPr>
        <p:spPr>
          <a:xfrm>
            <a:off x="1766629" y="5957416"/>
            <a:ext cx="4297602" cy="307175"/>
          </a:xfrm>
          <a:prstGeom prst="roundRect">
            <a:avLst>
              <a:gd name="adj" fmla="val 25000"/>
            </a:avLst>
          </a:prstGeom>
          <a:no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45" name="Rounded Rectangle 118">
            <a:extLst>
              <a:ext uri="{FF2B5EF4-FFF2-40B4-BE49-F238E27FC236}">
                <a16:creationId xmlns:a16="http://schemas.microsoft.com/office/drawing/2014/main" id="{53E0031A-8443-47F2-8A99-4A88DCA08472}"/>
              </a:ext>
            </a:extLst>
          </p:cNvPr>
          <p:cNvSpPr/>
          <p:nvPr/>
        </p:nvSpPr>
        <p:spPr>
          <a:xfrm>
            <a:off x="1843796" y="4992229"/>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Jira</a:t>
            </a:r>
          </a:p>
        </p:txBody>
      </p:sp>
      <p:sp>
        <p:nvSpPr>
          <p:cNvPr id="4147" name="Rounded Rectangle 118">
            <a:extLst>
              <a:ext uri="{FF2B5EF4-FFF2-40B4-BE49-F238E27FC236}">
                <a16:creationId xmlns:a16="http://schemas.microsoft.com/office/drawing/2014/main" id="{3AB63623-C9A9-BB62-EA97-A243DC7E8DF8}"/>
              </a:ext>
            </a:extLst>
          </p:cNvPr>
          <p:cNvSpPr/>
          <p:nvPr/>
        </p:nvSpPr>
        <p:spPr>
          <a:xfrm>
            <a:off x="2676916" y="4623784"/>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Confluence</a:t>
            </a:r>
          </a:p>
        </p:txBody>
      </p:sp>
      <p:sp>
        <p:nvSpPr>
          <p:cNvPr id="4148" name="Rounded Rectangle 118">
            <a:extLst>
              <a:ext uri="{FF2B5EF4-FFF2-40B4-BE49-F238E27FC236}">
                <a16:creationId xmlns:a16="http://schemas.microsoft.com/office/drawing/2014/main" id="{A3A52180-861D-A33B-3511-B2D3E7D83A1A}"/>
              </a:ext>
            </a:extLst>
          </p:cNvPr>
          <p:cNvSpPr/>
          <p:nvPr/>
        </p:nvSpPr>
        <p:spPr>
          <a:xfrm>
            <a:off x="3517125" y="4623784"/>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MS Office</a:t>
            </a:r>
          </a:p>
        </p:txBody>
      </p:sp>
      <p:sp>
        <p:nvSpPr>
          <p:cNvPr id="4149" name="Rounded Rectangle 118">
            <a:extLst>
              <a:ext uri="{FF2B5EF4-FFF2-40B4-BE49-F238E27FC236}">
                <a16:creationId xmlns:a16="http://schemas.microsoft.com/office/drawing/2014/main" id="{0C883B55-70FB-FABA-4E1B-7B90726D12ED}"/>
              </a:ext>
            </a:extLst>
          </p:cNvPr>
          <p:cNvSpPr/>
          <p:nvPr/>
        </p:nvSpPr>
        <p:spPr>
          <a:xfrm>
            <a:off x="4350834" y="4623784"/>
            <a:ext cx="738103" cy="18958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PDD</a:t>
            </a:r>
          </a:p>
        </p:txBody>
      </p:sp>
      <p:sp>
        <p:nvSpPr>
          <p:cNvPr id="4150" name="Rounded Rectangle 118">
            <a:extLst>
              <a:ext uri="{FF2B5EF4-FFF2-40B4-BE49-F238E27FC236}">
                <a16:creationId xmlns:a16="http://schemas.microsoft.com/office/drawing/2014/main" id="{82A90402-D5F1-CC20-5BB7-9622704438D3}"/>
              </a:ext>
            </a:extLst>
          </p:cNvPr>
          <p:cNvSpPr/>
          <p:nvPr/>
        </p:nvSpPr>
        <p:spPr>
          <a:xfrm>
            <a:off x="1833636" y="4637018"/>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Jira</a:t>
            </a:r>
          </a:p>
        </p:txBody>
      </p:sp>
      <p:sp>
        <p:nvSpPr>
          <p:cNvPr id="4151" name="Rounded Rectangle 118">
            <a:extLst>
              <a:ext uri="{FF2B5EF4-FFF2-40B4-BE49-F238E27FC236}">
                <a16:creationId xmlns:a16="http://schemas.microsoft.com/office/drawing/2014/main" id="{AA6D41DB-59A3-169A-A6D2-68713F1988EF}"/>
              </a:ext>
            </a:extLst>
          </p:cNvPr>
          <p:cNvSpPr/>
          <p:nvPr/>
        </p:nvSpPr>
        <p:spPr>
          <a:xfrm>
            <a:off x="1843796" y="3261676"/>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err="1">
                <a:solidFill>
                  <a:srgbClr val="FFFFFF"/>
                </a:solidFill>
                <a:latin typeface="Arial" panose="020B0604020202020204" pitchFamily="34" charset="0"/>
                <a:cs typeface="Arial" panose="020B0604020202020204" pitchFamily="34" charset="0"/>
              </a:rPr>
              <a:t>Sharepoint</a:t>
            </a:r>
            <a:endParaRPr lang="en-US" sz="800" b="1" noProof="0">
              <a:solidFill>
                <a:srgbClr val="FFFFFF"/>
              </a:solidFill>
              <a:latin typeface="Arial" panose="020B0604020202020204" pitchFamily="34" charset="0"/>
              <a:cs typeface="Arial" panose="020B0604020202020204" pitchFamily="34" charset="0"/>
            </a:endParaRPr>
          </a:p>
        </p:txBody>
      </p:sp>
      <p:sp>
        <p:nvSpPr>
          <p:cNvPr id="4152" name="Rounded Rectangle 118">
            <a:extLst>
              <a:ext uri="{FF2B5EF4-FFF2-40B4-BE49-F238E27FC236}">
                <a16:creationId xmlns:a16="http://schemas.microsoft.com/office/drawing/2014/main" id="{6869C67D-F713-3A71-5879-5B7BB833C369}"/>
              </a:ext>
            </a:extLst>
          </p:cNvPr>
          <p:cNvSpPr/>
          <p:nvPr/>
        </p:nvSpPr>
        <p:spPr>
          <a:xfrm>
            <a:off x="2687076" y="3261676"/>
            <a:ext cx="738103" cy="18958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PDD</a:t>
            </a:r>
          </a:p>
        </p:txBody>
      </p:sp>
      <p:sp>
        <p:nvSpPr>
          <p:cNvPr id="4153" name="Rounded Rectangle 118">
            <a:extLst>
              <a:ext uri="{FF2B5EF4-FFF2-40B4-BE49-F238E27FC236}">
                <a16:creationId xmlns:a16="http://schemas.microsoft.com/office/drawing/2014/main" id="{58DDFE8A-FE75-91C8-01CE-1C669A9B6778}"/>
              </a:ext>
            </a:extLst>
          </p:cNvPr>
          <p:cNvSpPr/>
          <p:nvPr/>
        </p:nvSpPr>
        <p:spPr>
          <a:xfrm>
            <a:off x="1843796" y="3618136"/>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Jira</a:t>
            </a:r>
          </a:p>
        </p:txBody>
      </p:sp>
      <p:sp>
        <p:nvSpPr>
          <p:cNvPr id="4154" name="Rounded Rectangle 118">
            <a:extLst>
              <a:ext uri="{FF2B5EF4-FFF2-40B4-BE49-F238E27FC236}">
                <a16:creationId xmlns:a16="http://schemas.microsoft.com/office/drawing/2014/main" id="{9432E791-E4DB-416B-2004-7C511B5B742A}"/>
              </a:ext>
            </a:extLst>
          </p:cNvPr>
          <p:cNvSpPr/>
          <p:nvPr/>
        </p:nvSpPr>
        <p:spPr>
          <a:xfrm>
            <a:off x="1843796" y="3942382"/>
            <a:ext cx="738103" cy="188135"/>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MS Office</a:t>
            </a:r>
          </a:p>
        </p:txBody>
      </p:sp>
      <p:sp>
        <p:nvSpPr>
          <p:cNvPr id="5" name="Rounded Rectangle 118">
            <a:extLst>
              <a:ext uri="{FF2B5EF4-FFF2-40B4-BE49-F238E27FC236}">
                <a16:creationId xmlns:a16="http://schemas.microsoft.com/office/drawing/2014/main" id="{4DDCF149-B86E-CC1B-3E59-50C0B4FE05AF}"/>
              </a:ext>
            </a:extLst>
          </p:cNvPr>
          <p:cNvSpPr/>
          <p:nvPr/>
        </p:nvSpPr>
        <p:spPr>
          <a:xfrm>
            <a:off x="2673372" y="5686644"/>
            <a:ext cx="738103" cy="18958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PDD</a:t>
            </a:r>
          </a:p>
        </p:txBody>
      </p:sp>
      <p:sp>
        <p:nvSpPr>
          <p:cNvPr id="7" name="Rounded Rectangle 118">
            <a:extLst>
              <a:ext uri="{FF2B5EF4-FFF2-40B4-BE49-F238E27FC236}">
                <a16:creationId xmlns:a16="http://schemas.microsoft.com/office/drawing/2014/main" id="{6A0DE833-45F5-35DC-910F-98473D864C33}"/>
              </a:ext>
            </a:extLst>
          </p:cNvPr>
          <p:cNvSpPr/>
          <p:nvPr/>
        </p:nvSpPr>
        <p:spPr>
          <a:xfrm>
            <a:off x="1843796" y="6036207"/>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Jira</a:t>
            </a:r>
          </a:p>
        </p:txBody>
      </p:sp>
      <p:sp>
        <p:nvSpPr>
          <p:cNvPr id="9" name="Rounded Rectangle 118">
            <a:extLst>
              <a:ext uri="{FF2B5EF4-FFF2-40B4-BE49-F238E27FC236}">
                <a16:creationId xmlns:a16="http://schemas.microsoft.com/office/drawing/2014/main" id="{0449BDC0-A870-B602-FC9A-AB3B6ADF1570}"/>
              </a:ext>
            </a:extLst>
          </p:cNvPr>
          <p:cNvSpPr/>
          <p:nvPr/>
        </p:nvSpPr>
        <p:spPr>
          <a:xfrm>
            <a:off x="2687076" y="4279137"/>
            <a:ext cx="738103" cy="18958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PDD</a:t>
            </a:r>
          </a:p>
        </p:txBody>
      </p:sp>
      <p:sp>
        <p:nvSpPr>
          <p:cNvPr id="23" name="Rectangle 19">
            <a:extLst>
              <a:ext uri="{FF2B5EF4-FFF2-40B4-BE49-F238E27FC236}">
                <a16:creationId xmlns:a16="http://schemas.microsoft.com/office/drawing/2014/main" id="{10B72ECE-0FAC-23D1-D889-09E180B80DB4}"/>
              </a:ext>
            </a:extLst>
          </p:cNvPr>
          <p:cNvSpPr/>
          <p:nvPr/>
        </p:nvSpPr>
        <p:spPr>
          <a:xfrm>
            <a:off x="6208744" y="1868489"/>
            <a:ext cx="3102022" cy="4405851"/>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4" name="Rounded Rectangle 25">
            <a:extLst>
              <a:ext uri="{FF2B5EF4-FFF2-40B4-BE49-F238E27FC236}">
                <a16:creationId xmlns:a16="http://schemas.microsoft.com/office/drawing/2014/main" id="{84107B27-2E4E-9C42-C6E4-791BC6B9B63D}"/>
              </a:ext>
            </a:extLst>
          </p:cNvPr>
          <p:cNvSpPr/>
          <p:nvPr/>
        </p:nvSpPr>
        <p:spPr>
          <a:xfrm>
            <a:off x="6316137" y="3891327"/>
            <a:ext cx="2935320" cy="924114"/>
          </a:xfrm>
          <a:prstGeom prst="roundRect">
            <a:avLst>
              <a:gd name="adj" fmla="val 25000"/>
            </a:avLst>
          </a:prstGeom>
          <a:solidFill>
            <a:schemeClr val="bg1"/>
          </a:solid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t"/>
          <a:lstStyle/>
          <a:p>
            <a:r>
              <a:rPr lang="en-US" sz="1100" b="1" u="sng" noProof="0">
                <a:solidFill>
                  <a:schemeClr val="tx1"/>
                </a:solidFill>
                <a:latin typeface="Arial" panose="020B0604020202020204" pitchFamily="34" charset="0"/>
                <a:cs typeface="Arial" panose="020B0604020202020204" pitchFamily="34" charset="0"/>
              </a:rPr>
              <a:t>REGULATORY</a:t>
            </a:r>
          </a:p>
        </p:txBody>
      </p:sp>
      <p:sp>
        <p:nvSpPr>
          <p:cNvPr id="25" name="Rounded Rectangle 25">
            <a:extLst>
              <a:ext uri="{FF2B5EF4-FFF2-40B4-BE49-F238E27FC236}">
                <a16:creationId xmlns:a16="http://schemas.microsoft.com/office/drawing/2014/main" id="{80239885-4D82-F5D7-AF3C-139BEA8739E7}"/>
              </a:ext>
            </a:extLst>
          </p:cNvPr>
          <p:cNvSpPr/>
          <p:nvPr/>
        </p:nvSpPr>
        <p:spPr>
          <a:xfrm>
            <a:off x="6316137" y="4883549"/>
            <a:ext cx="2935320" cy="924114"/>
          </a:xfrm>
          <a:prstGeom prst="roundRect">
            <a:avLst>
              <a:gd name="adj" fmla="val 25000"/>
            </a:avLst>
          </a:prstGeom>
          <a:solidFill>
            <a:schemeClr val="bg1"/>
          </a:solid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t"/>
          <a:lstStyle/>
          <a:p>
            <a:r>
              <a:rPr lang="en-US" sz="1100" b="1" u="sng" noProof="0">
                <a:solidFill>
                  <a:schemeClr val="tx1"/>
                </a:solidFill>
                <a:latin typeface="Arial" panose="020B0604020202020204" pitchFamily="34" charset="0"/>
                <a:cs typeface="Arial" panose="020B0604020202020204" pitchFamily="34" charset="0"/>
              </a:rPr>
              <a:t>NON-REGULATORY</a:t>
            </a:r>
          </a:p>
        </p:txBody>
      </p:sp>
      <p:sp>
        <p:nvSpPr>
          <p:cNvPr id="26" name="Rounded Rectangle 25">
            <a:extLst>
              <a:ext uri="{FF2B5EF4-FFF2-40B4-BE49-F238E27FC236}">
                <a16:creationId xmlns:a16="http://schemas.microsoft.com/office/drawing/2014/main" id="{1AB76DC6-7776-1F67-6CE4-893FB5B33717}"/>
              </a:ext>
            </a:extLst>
          </p:cNvPr>
          <p:cNvSpPr/>
          <p:nvPr/>
        </p:nvSpPr>
        <p:spPr>
          <a:xfrm>
            <a:off x="6316137" y="2899106"/>
            <a:ext cx="2935320" cy="924114"/>
          </a:xfrm>
          <a:prstGeom prst="roundRect">
            <a:avLst>
              <a:gd name="adj" fmla="val 25000"/>
            </a:avLst>
          </a:prstGeom>
          <a:solidFill>
            <a:schemeClr val="bg1"/>
          </a:solid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t"/>
          <a:lstStyle/>
          <a:p>
            <a:r>
              <a:rPr lang="en-US" sz="1100" b="1" u="sng" noProof="0">
                <a:solidFill>
                  <a:schemeClr val="tx1"/>
                </a:solidFill>
                <a:latin typeface="Arial" panose="020B0604020202020204" pitchFamily="34" charset="0"/>
                <a:cs typeface="Arial" panose="020B0604020202020204" pitchFamily="34" charset="0"/>
              </a:rPr>
              <a:t>PRODUCTION SUPPORT</a:t>
            </a:r>
          </a:p>
        </p:txBody>
      </p:sp>
      <p:grpSp>
        <p:nvGrpSpPr>
          <p:cNvPr id="31" name="Grupo 30">
            <a:extLst>
              <a:ext uri="{FF2B5EF4-FFF2-40B4-BE49-F238E27FC236}">
                <a16:creationId xmlns:a16="http://schemas.microsoft.com/office/drawing/2014/main" id="{CC202192-5A9F-151A-5004-885EED1E20CF}"/>
              </a:ext>
            </a:extLst>
          </p:cNvPr>
          <p:cNvGrpSpPr/>
          <p:nvPr/>
        </p:nvGrpSpPr>
        <p:grpSpPr>
          <a:xfrm>
            <a:off x="8410686" y="2817143"/>
            <a:ext cx="733163" cy="3077262"/>
            <a:chOff x="8478779" y="4086265"/>
            <a:chExt cx="733163" cy="736672"/>
          </a:xfrm>
        </p:grpSpPr>
        <p:sp>
          <p:nvSpPr>
            <p:cNvPr id="27" name="Rounded Rectangle 7">
              <a:extLst>
                <a:ext uri="{FF2B5EF4-FFF2-40B4-BE49-F238E27FC236}">
                  <a16:creationId xmlns:a16="http://schemas.microsoft.com/office/drawing/2014/main" id="{6B8E2D21-1863-1A49-A928-4D23DBD60E9F}"/>
                </a:ext>
              </a:extLst>
            </p:cNvPr>
            <p:cNvSpPr/>
            <p:nvPr/>
          </p:nvSpPr>
          <p:spPr>
            <a:xfrm rot="16200000">
              <a:off x="8329544" y="4472534"/>
              <a:ext cx="499638" cy="20116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1000" b="1" i="0" noProof="0">
                  <a:solidFill>
                    <a:srgbClr val="FFFFFF"/>
                  </a:solidFill>
                  <a:latin typeface="Arial" panose="020B0604020202020204" pitchFamily="34" charset="0"/>
                  <a:cs typeface="Arial" panose="020B0604020202020204" pitchFamily="34" charset="0"/>
                </a:rPr>
                <a:t>LARGE</a:t>
              </a:r>
            </a:p>
          </p:txBody>
        </p:sp>
        <p:sp>
          <p:nvSpPr>
            <p:cNvPr id="28" name="Rounded Rectangle 9">
              <a:extLst>
                <a:ext uri="{FF2B5EF4-FFF2-40B4-BE49-F238E27FC236}">
                  <a16:creationId xmlns:a16="http://schemas.microsoft.com/office/drawing/2014/main" id="{A039480A-F5FA-9C65-23CE-53AD8D35D9ED}"/>
                </a:ext>
              </a:extLst>
            </p:cNvPr>
            <p:cNvSpPr/>
            <p:nvPr/>
          </p:nvSpPr>
          <p:spPr>
            <a:xfrm rot="16200000">
              <a:off x="8479601" y="4351441"/>
              <a:ext cx="731520" cy="201168"/>
            </a:xfrm>
            <a:prstGeom prst="roundRect">
              <a:avLst>
                <a:gd name="adj" fmla="val 45000"/>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1000" b="1" i="0" noProof="0">
                  <a:solidFill>
                    <a:srgbClr val="FFFFFF"/>
                  </a:solidFill>
                  <a:latin typeface="Arial" panose="020B0604020202020204" pitchFamily="34" charset="0"/>
                  <a:cs typeface="Arial" panose="020B0604020202020204" pitchFamily="34" charset="0"/>
                </a:rPr>
                <a:t>MEDIUM</a:t>
              </a:r>
            </a:p>
          </p:txBody>
        </p:sp>
        <p:sp>
          <p:nvSpPr>
            <p:cNvPr id="30" name="Rounded Rectangle 11">
              <a:extLst>
                <a:ext uri="{FF2B5EF4-FFF2-40B4-BE49-F238E27FC236}">
                  <a16:creationId xmlns:a16="http://schemas.microsoft.com/office/drawing/2014/main" id="{E54B28F8-A146-9A04-8A05-D12485058FEC}"/>
                </a:ext>
              </a:extLst>
            </p:cNvPr>
            <p:cNvSpPr/>
            <p:nvPr/>
          </p:nvSpPr>
          <p:spPr>
            <a:xfrm rot="16200000">
              <a:off x="8745598" y="4351441"/>
              <a:ext cx="731520" cy="201168"/>
            </a:xfrm>
            <a:prstGeom prst="roundRect">
              <a:avLst>
                <a:gd name="adj" fmla="val 45000"/>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1000" b="1" i="0" noProof="0">
                  <a:solidFill>
                    <a:srgbClr val="FFFFFF"/>
                  </a:solidFill>
                  <a:latin typeface="Arial" panose="020B0604020202020204" pitchFamily="34" charset="0"/>
                  <a:cs typeface="Arial" panose="020B0604020202020204" pitchFamily="34" charset="0"/>
                </a:rPr>
                <a:t>SMALL</a:t>
              </a:r>
            </a:p>
          </p:txBody>
        </p:sp>
      </p:grpSp>
      <p:sp>
        <p:nvSpPr>
          <p:cNvPr id="33" name="CuadroTexto 32">
            <a:extLst>
              <a:ext uri="{FF2B5EF4-FFF2-40B4-BE49-F238E27FC236}">
                <a16:creationId xmlns:a16="http://schemas.microsoft.com/office/drawing/2014/main" id="{DB41F4DB-F7D0-C97A-5482-7EF475A29447}"/>
              </a:ext>
            </a:extLst>
          </p:cNvPr>
          <p:cNvSpPr txBox="1"/>
          <p:nvPr/>
        </p:nvSpPr>
        <p:spPr>
          <a:xfrm>
            <a:off x="6372288" y="3164202"/>
            <a:ext cx="2234917" cy="646331"/>
          </a:xfrm>
          <a:prstGeom prst="rect">
            <a:avLst/>
          </a:prstGeom>
          <a:noFill/>
        </p:spPr>
        <p:txBody>
          <a:bodyPr wrap="square">
            <a:spAutoFit/>
          </a:bodyPr>
          <a:lstStyle/>
          <a:p>
            <a:r>
              <a:rPr lang="en-US" sz="900" noProof="0">
                <a:solidFill>
                  <a:schemeClr val="tx1"/>
                </a:solidFill>
                <a:latin typeface="Arial" panose="020B0604020202020204" pitchFamily="34" charset="0"/>
                <a:cs typeface="Arial" panose="020B0604020202020204" pitchFamily="34" charset="0"/>
              </a:rPr>
              <a:t>Operational activities required to maintain system stability, resolve incidents, and ensure continuous service availability.</a:t>
            </a:r>
          </a:p>
        </p:txBody>
      </p:sp>
      <p:sp>
        <p:nvSpPr>
          <p:cNvPr id="34" name="CuadroTexto 33">
            <a:extLst>
              <a:ext uri="{FF2B5EF4-FFF2-40B4-BE49-F238E27FC236}">
                <a16:creationId xmlns:a16="http://schemas.microsoft.com/office/drawing/2014/main" id="{1870C7B3-2A9E-0C3C-302A-4372C64E4ADA}"/>
              </a:ext>
            </a:extLst>
          </p:cNvPr>
          <p:cNvSpPr txBox="1"/>
          <p:nvPr/>
        </p:nvSpPr>
        <p:spPr>
          <a:xfrm>
            <a:off x="6372288" y="4156423"/>
            <a:ext cx="1744890" cy="646331"/>
          </a:xfrm>
          <a:prstGeom prst="rect">
            <a:avLst/>
          </a:prstGeom>
          <a:noFill/>
        </p:spPr>
        <p:txBody>
          <a:bodyPr wrap="square">
            <a:spAutoFit/>
          </a:bodyPr>
          <a:lstStyle/>
          <a:p>
            <a:r>
              <a:rPr lang="en-US" sz="900" noProof="0">
                <a:solidFill>
                  <a:schemeClr val="tx1"/>
                </a:solidFill>
                <a:latin typeface="Arial" panose="020B0604020202020204" pitchFamily="34" charset="0"/>
                <a:cs typeface="Arial" panose="020B0604020202020204" pitchFamily="34" charset="0"/>
              </a:rPr>
              <a:t>Mandatory initiatives driven by external regulations with fixed deadlines and non-negotiable scope.</a:t>
            </a:r>
          </a:p>
        </p:txBody>
      </p:sp>
      <p:sp>
        <p:nvSpPr>
          <p:cNvPr id="37" name="CuadroTexto 36">
            <a:extLst>
              <a:ext uri="{FF2B5EF4-FFF2-40B4-BE49-F238E27FC236}">
                <a16:creationId xmlns:a16="http://schemas.microsoft.com/office/drawing/2014/main" id="{34E88F29-3161-AE6D-7EAC-28E0888DD77B}"/>
              </a:ext>
            </a:extLst>
          </p:cNvPr>
          <p:cNvSpPr txBox="1"/>
          <p:nvPr/>
        </p:nvSpPr>
        <p:spPr>
          <a:xfrm>
            <a:off x="6372288" y="5156060"/>
            <a:ext cx="2031743" cy="646331"/>
          </a:xfrm>
          <a:prstGeom prst="rect">
            <a:avLst/>
          </a:prstGeom>
          <a:noFill/>
        </p:spPr>
        <p:txBody>
          <a:bodyPr wrap="square">
            <a:spAutoFit/>
          </a:bodyPr>
          <a:lstStyle>
            <a:defPPr>
              <a:defRPr lang="en-US"/>
            </a:defPPr>
            <a:lvl1pPr>
              <a:defRPr sz="900">
                <a:latin typeface="Arial" panose="020B0604020202020204" pitchFamily="34" charset="0"/>
                <a:cs typeface="Arial" panose="020B0604020202020204" pitchFamily="34" charset="0"/>
              </a:defRPr>
            </a:lvl1pPr>
          </a:lstStyle>
          <a:p>
            <a:r>
              <a:rPr lang="en-US" noProof="0"/>
              <a:t>Business-driven initiatives aimed at enhancing capabilities, improving performance, or delivering incremental business value</a:t>
            </a:r>
          </a:p>
        </p:txBody>
      </p:sp>
      <p:sp>
        <p:nvSpPr>
          <p:cNvPr id="38" name="TextBox 21">
            <a:extLst>
              <a:ext uri="{FF2B5EF4-FFF2-40B4-BE49-F238E27FC236}">
                <a16:creationId xmlns:a16="http://schemas.microsoft.com/office/drawing/2014/main" id="{C7A42580-994B-520A-05B4-BF6F6E37E462}"/>
              </a:ext>
            </a:extLst>
          </p:cNvPr>
          <p:cNvSpPr txBox="1"/>
          <p:nvPr/>
        </p:nvSpPr>
        <p:spPr>
          <a:xfrm>
            <a:off x="6224958" y="2026724"/>
            <a:ext cx="3102022" cy="652486"/>
          </a:xfrm>
          <a:prstGeom prst="rect">
            <a:avLst/>
          </a:prstGeom>
          <a:noFill/>
        </p:spPr>
        <p:txBody>
          <a:bodyPr wrap="square" lIns="45720" tIns="18288" rIns="45720" bIns="18288" anchor="t">
            <a:spAutoFit/>
          </a:bodyPr>
          <a:lstStyle/>
          <a:p>
            <a:pPr algn="ctr"/>
            <a:r>
              <a:rPr lang="en-US" sz="1000" b="0" i="1" noProof="0">
                <a:solidFill>
                  <a:schemeClr val="bg1"/>
                </a:solidFill>
                <a:latin typeface="Arial" panose="020B0604020202020204" pitchFamily="34" charset="0"/>
                <a:cs typeface="Arial" panose="020B0604020202020204" pitchFamily="34" charset="0"/>
              </a:rPr>
              <a:t>A multi classification level that depends both on the nature or particularity of the demand, but also on the level of effort (economics, time, and resources) required</a:t>
            </a:r>
          </a:p>
        </p:txBody>
      </p:sp>
      <p:sp>
        <p:nvSpPr>
          <p:cNvPr id="39" name="Rectangle 52">
            <a:extLst>
              <a:ext uri="{FF2B5EF4-FFF2-40B4-BE49-F238E27FC236}">
                <a16:creationId xmlns:a16="http://schemas.microsoft.com/office/drawing/2014/main" id="{82630E89-6B79-A6AC-C735-71C99E99CAA9}"/>
              </a:ext>
            </a:extLst>
          </p:cNvPr>
          <p:cNvSpPr/>
          <p:nvPr/>
        </p:nvSpPr>
        <p:spPr>
          <a:xfrm>
            <a:off x="2117622" y="6368710"/>
            <a:ext cx="2240823" cy="239667"/>
          </a:xfrm>
          <a:prstGeom prst="rect">
            <a:avLst/>
          </a:prstGeom>
          <a:no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800" b="0" i="0" u="none" strike="noStrike" kern="1200" cap="none" spc="0" normalizeH="0" baseline="0" noProof="0">
                <a:ln>
                  <a:noFill/>
                </a:ln>
                <a:solidFill>
                  <a:srgbClr val="FFFFFF">
                    <a:lumMod val="65000"/>
                  </a:srgbClr>
                </a:solidFill>
                <a:effectLst/>
                <a:uLnTx/>
                <a:uFillTx/>
                <a:latin typeface="Arial" panose="020B0604020202020204" pitchFamily="34" charset="0"/>
                <a:cs typeface="Arial" panose="020B0604020202020204" pitchFamily="34" charset="0"/>
                <a:sym typeface="Wingdings" panose="05000000000000000000" pitchFamily="2" charset="2"/>
              </a:rPr>
              <a:t>&lt; $10k, 1-3 month, &lt; 5 resource  </a:t>
            </a:r>
            <a:endParaRPr kumimoji="0" lang="en-US" sz="1200" b="0" i="0" u="none" strike="noStrike" kern="1200" cap="none" spc="0" normalizeH="0" baseline="0" noProof="0">
              <a:ln>
                <a:noFill/>
              </a:ln>
              <a:solidFill>
                <a:srgbClr val="FFFFFF">
                  <a:lumMod val="65000"/>
                </a:srgbClr>
              </a:solidFill>
              <a:effectLst/>
              <a:uLnTx/>
              <a:uFillTx/>
              <a:latin typeface="Arial" panose="020B0604020202020204" pitchFamily="34" charset="0"/>
              <a:cs typeface="Arial" panose="020B0604020202020204" pitchFamily="34" charset="0"/>
            </a:endParaRPr>
          </a:p>
        </p:txBody>
      </p:sp>
      <p:sp>
        <p:nvSpPr>
          <p:cNvPr id="40" name="Rectangle 53">
            <a:extLst>
              <a:ext uri="{FF2B5EF4-FFF2-40B4-BE49-F238E27FC236}">
                <a16:creationId xmlns:a16="http://schemas.microsoft.com/office/drawing/2014/main" id="{1DDED412-2A83-205F-0FB8-EE5A31B516E6}"/>
              </a:ext>
            </a:extLst>
          </p:cNvPr>
          <p:cNvSpPr/>
          <p:nvPr/>
        </p:nvSpPr>
        <p:spPr>
          <a:xfrm>
            <a:off x="4851607" y="6368710"/>
            <a:ext cx="2310825" cy="239667"/>
          </a:xfrm>
          <a:prstGeom prst="rect">
            <a:avLst/>
          </a:prstGeom>
          <a:no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eaLnBrk="0" fontAlgn="base" hangingPunct="0">
              <a:spcBef>
                <a:spcPct val="0"/>
              </a:spcBef>
              <a:spcAft>
                <a:spcPct val="0"/>
              </a:spcAft>
            </a:pPr>
            <a:r>
              <a:rPr lang="en-US" sz="800" noProof="0">
                <a:solidFill>
                  <a:srgbClr val="FFFFFF">
                    <a:lumMod val="65000"/>
                  </a:srgbClr>
                </a:solidFill>
                <a:latin typeface="Arial" panose="020B0604020202020204" pitchFamily="34" charset="0"/>
                <a:cs typeface="Arial" panose="020B0604020202020204" pitchFamily="34" charset="0"/>
                <a:sym typeface="Wingdings" panose="05000000000000000000" pitchFamily="2" charset="2"/>
              </a:rPr>
              <a:t>$500k, 3-6 month, &lt;= 10 resource  </a:t>
            </a:r>
            <a:endParaRPr lang="en-US" sz="800" noProof="0">
              <a:solidFill>
                <a:srgbClr val="FFFFFF">
                  <a:lumMod val="65000"/>
                </a:srgbClr>
              </a:solidFill>
              <a:latin typeface="Arial" panose="020B0604020202020204" pitchFamily="34" charset="0"/>
              <a:cs typeface="Arial" panose="020B0604020202020204" pitchFamily="34" charset="0"/>
            </a:endParaRPr>
          </a:p>
        </p:txBody>
      </p:sp>
      <p:sp>
        <p:nvSpPr>
          <p:cNvPr id="41" name="Rectangle 53">
            <a:extLst>
              <a:ext uri="{FF2B5EF4-FFF2-40B4-BE49-F238E27FC236}">
                <a16:creationId xmlns:a16="http://schemas.microsoft.com/office/drawing/2014/main" id="{EDAF4D40-EA68-9725-AE23-AF8CD5C5A694}"/>
              </a:ext>
            </a:extLst>
          </p:cNvPr>
          <p:cNvSpPr/>
          <p:nvPr/>
        </p:nvSpPr>
        <p:spPr>
          <a:xfrm>
            <a:off x="7517200" y="6368710"/>
            <a:ext cx="2310825" cy="239667"/>
          </a:xfrm>
          <a:prstGeom prst="rect">
            <a:avLst/>
          </a:prstGeom>
          <a:no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eaLnBrk="0" fontAlgn="base" hangingPunct="0">
              <a:spcBef>
                <a:spcPct val="0"/>
              </a:spcBef>
              <a:spcAft>
                <a:spcPct val="0"/>
              </a:spcAft>
            </a:pPr>
            <a:r>
              <a:rPr lang="en-US" sz="800" noProof="0">
                <a:solidFill>
                  <a:srgbClr val="FFFFFF">
                    <a:lumMod val="65000"/>
                  </a:srgbClr>
                </a:solidFill>
                <a:latin typeface="Arial" panose="020B0604020202020204" pitchFamily="34" charset="0"/>
                <a:cs typeface="Arial" panose="020B0604020202020204" pitchFamily="34" charset="0"/>
                <a:sym typeface="Wingdings" panose="05000000000000000000" pitchFamily="2" charset="2"/>
              </a:rPr>
              <a:t>Projects that exceed previous limits</a:t>
            </a:r>
            <a:endParaRPr lang="en-US" sz="800" noProof="0">
              <a:solidFill>
                <a:srgbClr val="FFFFFF">
                  <a:lumMod val="65000"/>
                </a:srgbClr>
              </a:solidFill>
              <a:latin typeface="Arial" panose="020B0604020202020204" pitchFamily="34" charset="0"/>
              <a:cs typeface="Arial" panose="020B0604020202020204" pitchFamily="34" charset="0"/>
            </a:endParaRPr>
          </a:p>
        </p:txBody>
      </p:sp>
      <p:sp>
        <p:nvSpPr>
          <p:cNvPr id="32" name="Rectángulo 31">
            <a:extLst>
              <a:ext uri="{FF2B5EF4-FFF2-40B4-BE49-F238E27FC236}">
                <a16:creationId xmlns:a16="http://schemas.microsoft.com/office/drawing/2014/main" id="{B8490128-6331-E981-A068-A22783CAAB3A}"/>
              </a:ext>
            </a:extLst>
          </p:cNvPr>
          <p:cNvSpPr/>
          <p:nvPr/>
        </p:nvSpPr>
        <p:spPr>
          <a:xfrm>
            <a:off x="1270000" y="1432560"/>
            <a:ext cx="843280" cy="48361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a:t>Nivel de columnas</a:t>
            </a:r>
          </a:p>
        </p:txBody>
      </p:sp>
    </p:spTree>
    <p:extLst>
      <p:ext uri="{BB962C8B-B14F-4D97-AF65-F5344CB8AC3E}">
        <p14:creationId xmlns:p14="http://schemas.microsoft.com/office/powerpoint/2010/main" val="868258133"/>
      </p:ext>
    </p:extLst>
  </p:cSld>
  <p:clrMapOvr>
    <a:masterClrMapping/>
  </p:clrMapOvr>
  <p:extLst>
    <p:ext uri="{6950BFC3-D8DA-4A85-94F7-54DA5524770B}">
      <p188:commentRel xmlns:p188="http://schemas.microsoft.com/office/powerpoint/2018/8/main" r:id="rId3"/>
    </p:ext>
  </p:extLst>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8F4B433-7705-871D-3F07-2F6369A5325D}"/>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EDA29980-38F7-CC1B-29EE-0C764521FFB6}"/>
              </a:ext>
            </a:extLst>
          </p:cNvPr>
          <p:cNvSpPr/>
          <p:nvPr/>
        </p:nvSpPr>
        <p:spPr>
          <a:xfrm>
            <a:off x="5032571" y="1249827"/>
            <a:ext cx="7000610" cy="3400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t>LARGE DEMAND</a:t>
            </a:r>
          </a:p>
        </p:txBody>
      </p:sp>
      <p:sp>
        <p:nvSpPr>
          <p:cNvPr id="9" name="Título 2">
            <a:extLst>
              <a:ext uri="{FF2B5EF4-FFF2-40B4-BE49-F238E27FC236}">
                <a16:creationId xmlns:a16="http://schemas.microsoft.com/office/drawing/2014/main" id="{C62DDD49-74F8-649E-F052-E91A759C3861}"/>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sz="2400" noProof="0">
                <a:solidFill>
                  <a:prstClr val="white"/>
                </a:solidFill>
                <a:latin typeface="Arial" panose="020B0604020202020204" pitchFamily="34" charset="0"/>
                <a:cs typeface="Arial" panose="020B0604020202020204" pitchFamily="34" charset="0"/>
              </a:rPr>
              <a:t>PROJECT PORTFOLIO LANDSCAPE</a:t>
            </a:r>
            <a:endParaRPr kumimoji="0" lang="en-US" sz="2400" b="1"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t>PORTFOLIO OVERVIEW BY DEMAND TYPE</a:t>
            </a:r>
          </a:p>
        </p:txBody>
      </p:sp>
      <p:sp>
        <p:nvSpPr>
          <p:cNvPr id="2" name="TextBox 1">
            <a:extLst>
              <a:ext uri="{FF2B5EF4-FFF2-40B4-BE49-F238E27FC236}">
                <a16:creationId xmlns:a16="http://schemas.microsoft.com/office/drawing/2014/main" id="{0BF3BDF2-24E4-9AAE-97E3-6D5A26FE9F1D}"/>
              </a:ext>
            </a:extLst>
          </p:cNvPr>
          <p:cNvSpPr txBox="1"/>
          <p:nvPr/>
        </p:nvSpPr>
        <p:spPr>
          <a:xfrm>
            <a:off x="7396273" y="2526129"/>
            <a:ext cx="2267906" cy="222072"/>
          </a:xfrm>
          <a:prstGeom prst="rect">
            <a:avLst/>
          </a:prstGeom>
          <a:solidFill>
            <a:schemeClr val="bg1">
              <a:lumMod val="95000"/>
            </a:schemeClr>
          </a:solidFill>
        </p:spPr>
        <p:txBody>
          <a:bodyPr wrap="square" anchor="ctr">
            <a:noAutofit/>
          </a:bodyPr>
          <a:lstStyle/>
          <a:p>
            <a:r>
              <a:rPr lang="en-US" sz="700" noProof="0">
                <a:latin typeface="Arial" panose="020B0604020202020204" pitchFamily="34" charset="0"/>
                <a:cs typeface="Arial" panose="020B0604020202020204" pitchFamily="34" charset="0"/>
              </a:rPr>
              <a:t>AGR-NET-2026-CS-XX-E-DPA (Minimum Payment Agreement Plan)-NY</a:t>
            </a:r>
          </a:p>
        </p:txBody>
      </p:sp>
      <p:sp>
        <p:nvSpPr>
          <p:cNvPr id="10" name="TextBox 2">
            <a:extLst>
              <a:ext uri="{FF2B5EF4-FFF2-40B4-BE49-F238E27FC236}">
                <a16:creationId xmlns:a16="http://schemas.microsoft.com/office/drawing/2014/main" id="{4B5D005B-A600-B914-9C8E-382C8C7DC9E0}"/>
              </a:ext>
            </a:extLst>
          </p:cNvPr>
          <p:cNvSpPr txBox="1"/>
          <p:nvPr/>
        </p:nvSpPr>
        <p:spPr>
          <a:xfrm>
            <a:off x="7396273" y="5158794"/>
            <a:ext cx="2267906" cy="222072"/>
          </a:xfrm>
          <a:prstGeom prst="rect">
            <a:avLst/>
          </a:prstGeom>
          <a:solidFill>
            <a:schemeClr val="bg1">
              <a:lumMod val="95000"/>
            </a:schemeClr>
          </a:solidFill>
        </p:spPr>
        <p:txBody>
          <a:bodyPr wrap="square" anchor="ctr">
            <a:noAutofit/>
          </a:bodyPr>
          <a:lstStyle/>
          <a:p>
            <a:r>
              <a:rPr lang="en-US" sz="700" noProof="0">
                <a:latin typeface="Arial" panose="020B0604020202020204" pitchFamily="34" charset="0"/>
                <a:cs typeface="Arial" panose="020B0604020202020204" pitchFamily="34" charset="0"/>
              </a:rPr>
              <a:t>Testing Center of Excellence (TCOE) SAP Testing Automation-AGR</a:t>
            </a:r>
          </a:p>
        </p:txBody>
      </p:sp>
      <p:sp>
        <p:nvSpPr>
          <p:cNvPr id="11" name="TextBox 3">
            <a:extLst>
              <a:ext uri="{FF2B5EF4-FFF2-40B4-BE49-F238E27FC236}">
                <a16:creationId xmlns:a16="http://schemas.microsoft.com/office/drawing/2014/main" id="{AAB19011-EB4F-CD78-D2D6-DC58CC601755}"/>
              </a:ext>
            </a:extLst>
          </p:cNvPr>
          <p:cNvSpPr txBox="1"/>
          <p:nvPr/>
        </p:nvSpPr>
        <p:spPr>
          <a:xfrm>
            <a:off x="7396273" y="5739882"/>
            <a:ext cx="2267906" cy="222072"/>
          </a:xfrm>
          <a:prstGeom prst="rect">
            <a:avLst/>
          </a:prstGeom>
          <a:solidFill>
            <a:schemeClr val="bg1">
              <a:lumMod val="95000"/>
            </a:schemeClr>
          </a:solidFill>
        </p:spPr>
        <p:txBody>
          <a:bodyPr wrap="square" anchor="ctr">
            <a:noAutofit/>
          </a:bodyPr>
          <a:lstStyle/>
          <a:p>
            <a:r>
              <a:rPr lang="en-US" sz="700" noProof="0">
                <a:latin typeface="Arial" panose="020B0604020202020204" pitchFamily="34" charset="0"/>
                <a:cs typeface="Arial" panose="020B0604020202020204" pitchFamily="34" charset="0"/>
              </a:rPr>
              <a:t>Distributed Generation SAP Billing Automations Program-NY</a:t>
            </a:r>
          </a:p>
        </p:txBody>
      </p:sp>
      <p:sp>
        <p:nvSpPr>
          <p:cNvPr id="12" name="TextBox 4">
            <a:extLst>
              <a:ext uri="{FF2B5EF4-FFF2-40B4-BE49-F238E27FC236}">
                <a16:creationId xmlns:a16="http://schemas.microsoft.com/office/drawing/2014/main" id="{2980A764-C4D8-E963-B2E8-A2BB728AFE13}"/>
              </a:ext>
            </a:extLst>
          </p:cNvPr>
          <p:cNvSpPr txBox="1"/>
          <p:nvPr/>
        </p:nvSpPr>
        <p:spPr>
          <a:xfrm>
            <a:off x="7396273" y="3107217"/>
            <a:ext cx="2267906" cy="222072"/>
          </a:xfrm>
          <a:prstGeom prst="rect">
            <a:avLst/>
          </a:prstGeom>
          <a:solidFill>
            <a:schemeClr val="bg1">
              <a:lumMod val="95000"/>
            </a:schemeClr>
          </a:solidFill>
        </p:spPr>
        <p:txBody>
          <a:bodyPr wrap="square" anchor="ctr">
            <a:noAutofit/>
          </a:bodyPr>
          <a:lstStyle/>
          <a:p>
            <a:r>
              <a:rPr lang="en-US" sz="700" noProof="0">
                <a:latin typeface="Arial" panose="020B0604020202020204" pitchFamily="34" charset="0"/>
                <a:cs typeface="Arial" panose="020B0604020202020204" pitchFamily="34" charset="0"/>
              </a:rPr>
              <a:t>AGR-NET-2024-CS-12-Statewide Solar For All-NY</a:t>
            </a:r>
          </a:p>
        </p:txBody>
      </p:sp>
      <p:sp>
        <p:nvSpPr>
          <p:cNvPr id="13" name="TextBox 5">
            <a:extLst>
              <a:ext uri="{FF2B5EF4-FFF2-40B4-BE49-F238E27FC236}">
                <a16:creationId xmlns:a16="http://schemas.microsoft.com/office/drawing/2014/main" id="{12600251-1D55-C7DA-821D-C4A4559086F5}"/>
              </a:ext>
            </a:extLst>
          </p:cNvPr>
          <p:cNvSpPr txBox="1"/>
          <p:nvPr/>
        </p:nvSpPr>
        <p:spPr>
          <a:xfrm>
            <a:off x="9774420" y="5999886"/>
            <a:ext cx="2267906" cy="222072"/>
          </a:xfrm>
          <a:prstGeom prst="rect">
            <a:avLst/>
          </a:prstGeom>
          <a:solidFill>
            <a:schemeClr val="bg1">
              <a:lumMod val="95000"/>
            </a:schemeClr>
          </a:solidFill>
        </p:spPr>
        <p:txBody>
          <a:bodyPr wrap="square" anchor="ctr">
            <a:noAutofit/>
          </a:bodyPr>
          <a:lstStyle/>
          <a:p>
            <a:r>
              <a:rPr lang="en-US" sz="700" noProof="0">
                <a:latin typeface="Arial" panose="020B0604020202020204" pitchFamily="34" charset="0"/>
                <a:cs typeface="Arial" panose="020B0604020202020204" pitchFamily="34" charset="0"/>
              </a:rPr>
              <a:t>New IVR and Voice Solution-AGR</a:t>
            </a:r>
          </a:p>
        </p:txBody>
      </p:sp>
      <p:sp>
        <p:nvSpPr>
          <p:cNvPr id="3" name="TextBox 6">
            <a:extLst>
              <a:ext uri="{FF2B5EF4-FFF2-40B4-BE49-F238E27FC236}">
                <a16:creationId xmlns:a16="http://schemas.microsoft.com/office/drawing/2014/main" id="{9BBEF5EF-9625-D008-27AB-B9A693D808F2}"/>
              </a:ext>
            </a:extLst>
          </p:cNvPr>
          <p:cNvSpPr txBox="1"/>
          <p:nvPr/>
        </p:nvSpPr>
        <p:spPr>
          <a:xfrm>
            <a:off x="7396273" y="3978849"/>
            <a:ext cx="2267906" cy="222072"/>
          </a:xfrm>
          <a:prstGeom prst="rect">
            <a:avLst/>
          </a:prstGeom>
          <a:solidFill>
            <a:schemeClr val="bg1">
              <a:lumMod val="95000"/>
            </a:schemeClr>
          </a:solidFill>
        </p:spPr>
        <p:txBody>
          <a:bodyPr wrap="square" anchor="ctr">
            <a:noAutofit/>
          </a:bodyPr>
          <a:lstStyle/>
          <a:p>
            <a:r>
              <a:rPr lang="en-US" sz="700" noProof="0">
                <a:latin typeface="Arial" panose="020B0604020202020204" pitchFamily="34" charset="0"/>
                <a:cs typeface="Arial" panose="020B0604020202020204" pitchFamily="34" charset="0"/>
              </a:rPr>
              <a:t>AGR-NET-2025-CS-04-High Bill High Usage Redesign-AGR</a:t>
            </a:r>
          </a:p>
        </p:txBody>
      </p:sp>
      <p:sp>
        <p:nvSpPr>
          <p:cNvPr id="4" name="TextBox 7">
            <a:extLst>
              <a:ext uri="{FF2B5EF4-FFF2-40B4-BE49-F238E27FC236}">
                <a16:creationId xmlns:a16="http://schemas.microsoft.com/office/drawing/2014/main" id="{1520E8CC-9928-F623-9D39-2B9C869BFC85}"/>
              </a:ext>
            </a:extLst>
          </p:cNvPr>
          <p:cNvSpPr txBox="1"/>
          <p:nvPr/>
        </p:nvSpPr>
        <p:spPr>
          <a:xfrm>
            <a:off x="7396273" y="2816673"/>
            <a:ext cx="2267906" cy="222072"/>
          </a:xfrm>
          <a:prstGeom prst="rect">
            <a:avLst/>
          </a:prstGeom>
          <a:solidFill>
            <a:schemeClr val="bg1">
              <a:lumMod val="95000"/>
            </a:schemeClr>
          </a:solidFill>
        </p:spPr>
        <p:txBody>
          <a:bodyPr wrap="square" anchor="ctr">
            <a:noAutofit/>
          </a:bodyPr>
          <a:lstStyle/>
          <a:p>
            <a:r>
              <a:rPr lang="en-US" sz="700" noProof="0">
                <a:latin typeface="Arial" panose="020B0604020202020204" pitchFamily="34" charset="0"/>
                <a:cs typeface="Arial" panose="020B0604020202020204" pitchFamily="34" charset="0"/>
              </a:rPr>
              <a:t>AGR-NET-2025-CS-05-Digital Tech Stack Lifecycle Upgrades-AGR</a:t>
            </a:r>
          </a:p>
        </p:txBody>
      </p:sp>
      <p:sp>
        <p:nvSpPr>
          <p:cNvPr id="5" name="TextBox 8">
            <a:extLst>
              <a:ext uri="{FF2B5EF4-FFF2-40B4-BE49-F238E27FC236}">
                <a16:creationId xmlns:a16="http://schemas.microsoft.com/office/drawing/2014/main" id="{C3D1DFBB-E3D9-2577-421B-87CEF605BA11}"/>
              </a:ext>
            </a:extLst>
          </p:cNvPr>
          <p:cNvSpPr txBox="1"/>
          <p:nvPr/>
        </p:nvSpPr>
        <p:spPr>
          <a:xfrm>
            <a:off x="7396273" y="4269393"/>
            <a:ext cx="2267906" cy="222072"/>
          </a:xfrm>
          <a:prstGeom prst="rect">
            <a:avLst/>
          </a:prstGeom>
          <a:solidFill>
            <a:schemeClr val="bg1">
              <a:lumMod val="95000"/>
            </a:schemeClr>
          </a:solidFill>
        </p:spPr>
        <p:txBody>
          <a:bodyPr wrap="square" anchor="ctr">
            <a:noAutofit/>
          </a:bodyPr>
          <a:lstStyle/>
          <a:p>
            <a:r>
              <a:rPr lang="en-US" sz="700" noProof="0">
                <a:latin typeface="Arial" panose="020B0604020202020204" pitchFamily="34" charset="0"/>
                <a:cs typeface="Arial" panose="020B0604020202020204" pitchFamily="34" charset="0"/>
              </a:rPr>
              <a:t>AGR-NET-2025-CS-06-Energy Manager Enhancements-AGR</a:t>
            </a:r>
          </a:p>
        </p:txBody>
      </p:sp>
      <p:sp>
        <p:nvSpPr>
          <p:cNvPr id="6" name="TextBox 9">
            <a:extLst>
              <a:ext uri="{FF2B5EF4-FFF2-40B4-BE49-F238E27FC236}">
                <a16:creationId xmlns:a16="http://schemas.microsoft.com/office/drawing/2014/main" id="{386780AF-950C-B5B8-D463-4796B3E4D735}"/>
              </a:ext>
            </a:extLst>
          </p:cNvPr>
          <p:cNvSpPr txBox="1"/>
          <p:nvPr/>
        </p:nvSpPr>
        <p:spPr>
          <a:xfrm>
            <a:off x="7396273" y="4868250"/>
            <a:ext cx="2267906" cy="222072"/>
          </a:xfrm>
          <a:prstGeom prst="rect">
            <a:avLst/>
          </a:prstGeom>
          <a:solidFill>
            <a:schemeClr val="bg1">
              <a:lumMod val="95000"/>
            </a:schemeClr>
          </a:solidFill>
        </p:spPr>
        <p:txBody>
          <a:bodyPr wrap="square" anchor="ctr">
            <a:noAutofit/>
          </a:bodyPr>
          <a:lstStyle/>
          <a:p>
            <a:r>
              <a:rPr lang="en-US" sz="700" noProof="0">
                <a:latin typeface="Arial" panose="020B0604020202020204" pitchFamily="34" charset="0"/>
                <a:cs typeface="Arial" panose="020B0604020202020204" pitchFamily="34" charset="0"/>
              </a:rPr>
              <a:t>Customer Service Generative AI-AGR</a:t>
            </a:r>
          </a:p>
        </p:txBody>
      </p:sp>
      <p:sp>
        <p:nvSpPr>
          <p:cNvPr id="7" name="TextBox 10">
            <a:extLst>
              <a:ext uri="{FF2B5EF4-FFF2-40B4-BE49-F238E27FC236}">
                <a16:creationId xmlns:a16="http://schemas.microsoft.com/office/drawing/2014/main" id="{C040DAF8-3DA9-C0AC-FACA-6D346FDAD157}"/>
              </a:ext>
            </a:extLst>
          </p:cNvPr>
          <p:cNvSpPr txBox="1"/>
          <p:nvPr/>
        </p:nvSpPr>
        <p:spPr>
          <a:xfrm>
            <a:off x="9774420" y="5709342"/>
            <a:ext cx="2267906" cy="222072"/>
          </a:xfrm>
          <a:prstGeom prst="rect">
            <a:avLst/>
          </a:prstGeom>
          <a:solidFill>
            <a:schemeClr val="bg1">
              <a:lumMod val="95000"/>
            </a:schemeClr>
          </a:solidFill>
        </p:spPr>
        <p:txBody>
          <a:bodyPr wrap="square" anchor="ctr">
            <a:noAutofit/>
          </a:bodyPr>
          <a:lstStyle/>
          <a:p>
            <a:r>
              <a:rPr lang="en-US" sz="700" noProof="0">
                <a:latin typeface="Arial" panose="020B0604020202020204" pitchFamily="34" charset="0"/>
                <a:cs typeface="Arial" panose="020B0604020202020204" pitchFamily="34" charset="0"/>
              </a:rPr>
              <a:t>Improvements-NY</a:t>
            </a:r>
          </a:p>
        </p:txBody>
      </p:sp>
      <p:sp>
        <p:nvSpPr>
          <p:cNvPr id="8" name="TextBox 11">
            <a:extLst>
              <a:ext uri="{FF2B5EF4-FFF2-40B4-BE49-F238E27FC236}">
                <a16:creationId xmlns:a16="http://schemas.microsoft.com/office/drawing/2014/main" id="{1CAB3024-C696-CF25-F8A0-9C2B928C7BD8}"/>
              </a:ext>
            </a:extLst>
          </p:cNvPr>
          <p:cNvSpPr txBox="1"/>
          <p:nvPr/>
        </p:nvSpPr>
        <p:spPr>
          <a:xfrm>
            <a:off x="7396273" y="6030426"/>
            <a:ext cx="2267906" cy="222072"/>
          </a:xfrm>
          <a:prstGeom prst="rect">
            <a:avLst/>
          </a:prstGeom>
          <a:solidFill>
            <a:schemeClr val="bg1">
              <a:lumMod val="95000"/>
            </a:schemeClr>
          </a:solidFill>
        </p:spPr>
        <p:txBody>
          <a:bodyPr wrap="square" anchor="ctr">
            <a:noAutofit/>
          </a:bodyPr>
          <a:lstStyle/>
          <a:p>
            <a:r>
              <a:rPr lang="en-US" sz="700" noProof="0">
                <a:latin typeface="Arial" panose="020B0604020202020204" pitchFamily="34" charset="0"/>
                <a:cs typeface="Arial" panose="020B0604020202020204" pitchFamily="34" charset="0"/>
              </a:rPr>
              <a:t>RPA IPA Customer Service-AGR</a:t>
            </a:r>
          </a:p>
        </p:txBody>
      </p:sp>
      <p:sp>
        <p:nvSpPr>
          <p:cNvPr id="44" name="TextBox 12">
            <a:extLst>
              <a:ext uri="{FF2B5EF4-FFF2-40B4-BE49-F238E27FC236}">
                <a16:creationId xmlns:a16="http://schemas.microsoft.com/office/drawing/2014/main" id="{D8B14272-E3DA-FDD8-8392-BAE2169A9BC6}"/>
              </a:ext>
            </a:extLst>
          </p:cNvPr>
          <p:cNvSpPr txBox="1"/>
          <p:nvPr/>
        </p:nvSpPr>
        <p:spPr>
          <a:xfrm>
            <a:off x="9774420" y="4837710"/>
            <a:ext cx="2267906" cy="222072"/>
          </a:xfrm>
          <a:prstGeom prst="rect">
            <a:avLst/>
          </a:prstGeom>
          <a:solidFill>
            <a:schemeClr val="bg1">
              <a:lumMod val="95000"/>
            </a:schemeClr>
          </a:solidFill>
        </p:spPr>
        <p:txBody>
          <a:bodyPr wrap="square" anchor="ctr">
            <a:noAutofit/>
          </a:bodyPr>
          <a:lstStyle/>
          <a:p>
            <a:r>
              <a:rPr lang="en-US" sz="700" noProof="0">
                <a:latin typeface="Arial" panose="020B0604020202020204" pitchFamily="34" charset="0"/>
                <a:cs typeface="Arial" panose="020B0604020202020204" pitchFamily="34" charset="0"/>
              </a:rPr>
              <a:t>Mobile Redesign-AGR</a:t>
            </a:r>
          </a:p>
        </p:txBody>
      </p:sp>
      <p:sp>
        <p:nvSpPr>
          <p:cNvPr id="50" name="TextBox 13">
            <a:extLst>
              <a:ext uri="{FF2B5EF4-FFF2-40B4-BE49-F238E27FC236}">
                <a16:creationId xmlns:a16="http://schemas.microsoft.com/office/drawing/2014/main" id="{671B9D44-A92E-D0D9-5142-2B574C4A8095}"/>
              </a:ext>
            </a:extLst>
          </p:cNvPr>
          <p:cNvSpPr txBox="1"/>
          <p:nvPr/>
        </p:nvSpPr>
        <p:spPr>
          <a:xfrm>
            <a:off x="9774420" y="6290429"/>
            <a:ext cx="2267906" cy="222072"/>
          </a:xfrm>
          <a:prstGeom prst="rect">
            <a:avLst/>
          </a:prstGeom>
          <a:solidFill>
            <a:schemeClr val="bg1">
              <a:lumMod val="95000"/>
            </a:schemeClr>
          </a:solidFill>
        </p:spPr>
        <p:txBody>
          <a:bodyPr wrap="square" anchor="ctr">
            <a:noAutofit/>
          </a:bodyPr>
          <a:lstStyle/>
          <a:p>
            <a:r>
              <a:rPr lang="en-US" sz="700" noProof="0">
                <a:latin typeface="Arial" panose="020B0604020202020204" pitchFamily="34" charset="0"/>
                <a:cs typeface="Arial" panose="020B0604020202020204" pitchFamily="34" charset="0"/>
              </a:rPr>
              <a:t>Hardship Communications Track-UIL</a:t>
            </a:r>
          </a:p>
        </p:txBody>
      </p:sp>
      <p:sp>
        <p:nvSpPr>
          <p:cNvPr id="51" name="TextBox 14">
            <a:extLst>
              <a:ext uri="{FF2B5EF4-FFF2-40B4-BE49-F238E27FC236}">
                <a16:creationId xmlns:a16="http://schemas.microsoft.com/office/drawing/2014/main" id="{46E8D329-0B86-F7D7-641D-8CF648842706}"/>
              </a:ext>
            </a:extLst>
          </p:cNvPr>
          <p:cNvSpPr txBox="1"/>
          <p:nvPr/>
        </p:nvSpPr>
        <p:spPr>
          <a:xfrm>
            <a:off x="7396273" y="1960167"/>
            <a:ext cx="2267906" cy="222072"/>
          </a:xfrm>
          <a:prstGeom prst="rect">
            <a:avLst/>
          </a:prstGeom>
          <a:solidFill>
            <a:schemeClr val="bg1">
              <a:lumMod val="95000"/>
            </a:schemeClr>
          </a:solidFill>
        </p:spPr>
        <p:txBody>
          <a:bodyPr wrap="square" anchor="ctr">
            <a:noAutofit/>
          </a:bodyPr>
          <a:lstStyle/>
          <a:p>
            <a:r>
              <a:rPr lang="en-US" sz="700" noProof="0">
                <a:latin typeface="Arial" panose="020B0604020202020204" pitchFamily="34" charset="0"/>
                <a:cs typeface="Arial" panose="020B0604020202020204" pitchFamily="34" charset="0"/>
              </a:rPr>
              <a:t>AGR-NET-25-CS-12-S4 HANA Implementation-AGR</a:t>
            </a:r>
          </a:p>
        </p:txBody>
      </p:sp>
      <p:sp>
        <p:nvSpPr>
          <p:cNvPr id="52" name="TextBox 15">
            <a:extLst>
              <a:ext uri="{FF2B5EF4-FFF2-40B4-BE49-F238E27FC236}">
                <a16:creationId xmlns:a16="http://schemas.microsoft.com/office/drawing/2014/main" id="{80A652E9-31A8-A833-5DEC-6FF7FFCF71E2}"/>
              </a:ext>
            </a:extLst>
          </p:cNvPr>
          <p:cNvSpPr txBox="1"/>
          <p:nvPr/>
        </p:nvSpPr>
        <p:spPr>
          <a:xfrm>
            <a:off x="5027323" y="3412887"/>
            <a:ext cx="2267906" cy="222072"/>
          </a:xfrm>
          <a:prstGeom prst="rect">
            <a:avLst/>
          </a:prstGeom>
          <a:solidFill>
            <a:schemeClr val="bg1">
              <a:lumMod val="95000"/>
            </a:schemeClr>
          </a:solidFill>
        </p:spPr>
        <p:txBody>
          <a:bodyPr wrap="square" anchor="ctr">
            <a:noAutofit/>
          </a:bodyPr>
          <a:lstStyle/>
          <a:p>
            <a:r>
              <a:rPr lang="en-US" sz="700" noProof="0">
                <a:latin typeface="Arial" panose="020B0604020202020204" pitchFamily="34" charset="0"/>
                <a:cs typeface="Arial" panose="020B0604020202020204" pitchFamily="34" charset="0"/>
              </a:rPr>
              <a:t>AGR-NET-2025-CS-13-EV Phase In Rate-NY</a:t>
            </a:r>
          </a:p>
        </p:txBody>
      </p:sp>
      <p:sp>
        <p:nvSpPr>
          <p:cNvPr id="53" name="TextBox 16">
            <a:extLst>
              <a:ext uri="{FF2B5EF4-FFF2-40B4-BE49-F238E27FC236}">
                <a16:creationId xmlns:a16="http://schemas.microsoft.com/office/drawing/2014/main" id="{4178968C-DB5C-F6FA-4FEC-D8A2873EC737}"/>
              </a:ext>
            </a:extLst>
          </p:cNvPr>
          <p:cNvSpPr txBox="1"/>
          <p:nvPr/>
        </p:nvSpPr>
        <p:spPr>
          <a:xfrm>
            <a:off x="5027323" y="3993975"/>
            <a:ext cx="2267906" cy="222072"/>
          </a:xfrm>
          <a:prstGeom prst="rect">
            <a:avLst/>
          </a:prstGeom>
          <a:solidFill>
            <a:schemeClr val="bg1">
              <a:lumMod val="95000"/>
            </a:schemeClr>
          </a:solidFill>
        </p:spPr>
        <p:txBody>
          <a:bodyPr wrap="square" anchor="ctr">
            <a:noAutofit/>
          </a:bodyPr>
          <a:lstStyle/>
          <a:p>
            <a:r>
              <a:rPr lang="en-US" sz="700" noProof="0">
                <a:latin typeface="Arial" panose="020B0604020202020204" pitchFamily="34" charset="0"/>
                <a:cs typeface="Arial" panose="020B0604020202020204" pitchFamily="34" charset="0"/>
              </a:rPr>
              <a:t>AGR-NET-2025-CS-15-Elderly Blind Disabled (EBD) Certification Automation-NY</a:t>
            </a:r>
          </a:p>
        </p:txBody>
      </p:sp>
      <p:sp>
        <p:nvSpPr>
          <p:cNvPr id="54" name="TextBox 17">
            <a:extLst>
              <a:ext uri="{FF2B5EF4-FFF2-40B4-BE49-F238E27FC236}">
                <a16:creationId xmlns:a16="http://schemas.microsoft.com/office/drawing/2014/main" id="{6DDF59DF-0BD0-46C7-78AE-77FB26423EF8}"/>
              </a:ext>
            </a:extLst>
          </p:cNvPr>
          <p:cNvSpPr txBox="1"/>
          <p:nvPr/>
        </p:nvSpPr>
        <p:spPr>
          <a:xfrm>
            <a:off x="7396273" y="3397761"/>
            <a:ext cx="2267906" cy="222072"/>
          </a:xfrm>
          <a:prstGeom prst="rect">
            <a:avLst/>
          </a:prstGeom>
          <a:solidFill>
            <a:schemeClr val="bg1">
              <a:lumMod val="95000"/>
            </a:schemeClr>
          </a:solidFill>
        </p:spPr>
        <p:txBody>
          <a:bodyPr wrap="square" anchor="ctr">
            <a:noAutofit/>
          </a:bodyPr>
          <a:lstStyle/>
          <a:p>
            <a:r>
              <a:rPr lang="en-US" sz="700" noProof="0">
                <a:latin typeface="Arial" panose="020B0604020202020204" pitchFamily="34" charset="0"/>
                <a:cs typeface="Arial" panose="020B0604020202020204" pitchFamily="34" charset="0"/>
              </a:rPr>
              <a:t>AGR-NET-2025-CS-16-Quality Management System-AGR</a:t>
            </a:r>
          </a:p>
        </p:txBody>
      </p:sp>
      <p:sp>
        <p:nvSpPr>
          <p:cNvPr id="55" name="TextBox 18">
            <a:extLst>
              <a:ext uri="{FF2B5EF4-FFF2-40B4-BE49-F238E27FC236}">
                <a16:creationId xmlns:a16="http://schemas.microsoft.com/office/drawing/2014/main" id="{4AEE6857-CB4C-DA8E-E8BD-D764F031AABF}"/>
              </a:ext>
            </a:extLst>
          </p:cNvPr>
          <p:cNvSpPr txBox="1"/>
          <p:nvPr/>
        </p:nvSpPr>
        <p:spPr>
          <a:xfrm>
            <a:off x="5027323" y="3122343"/>
            <a:ext cx="2267906" cy="222072"/>
          </a:xfrm>
          <a:prstGeom prst="rect">
            <a:avLst/>
          </a:prstGeom>
          <a:solidFill>
            <a:schemeClr val="bg1">
              <a:lumMod val="95000"/>
            </a:schemeClr>
          </a:solidFill>
        </p:spPr>
        <p:txBody>
          <a:bodyPr wrap="square" anchor="ctr">
            <a:noAutofit/>
          </a:bodyPr>
          <a:lstStyle/>
          <a:p>
            <a:r>
              <a:rPr lang="en-US" sz="700" noProof="0">
                <a:latin typeface="Arial" panose="020B0604020202020204" pitchFamily="34" charset="0"/>
                <a:cs typeface="Arial" panose="020B0604020202020204" pitchFamily="34" charset="0"/>
              </a:rPr>
              <a:t>UIL Low Income Discount Rate (LIDR)-UIL</a:t>
            </a:r>
          </a:p>
        </p:txBody>
      </p:sp>
      <p:sp>
        <p:nvSpPr>
          <p:cNvPr id="56" name="TextBox 19">
            <a:extLst>
              <a:ext uri="{FF2B5EF4-FFF2-40B4-BE49-F238E27FC236}">
                <a16:creationId xmlns:a16="http://schemas.microsoft.com/office/drawing/2014/main" id="{D364815B-C6CC-5FBA-2462-E3CB4B27C237}"/>
              </a:ext>
            </a:extLst>
          </p:cNvPr>
          <p:cNvSpPr txBox="1"/>
          <p:nvPr/>
        </p:nvSpPr>
        <p:spPr>
          <a:xfrm>
            <a:off x="7396273" y="3688305"/>
            <a:ext cx="2267906" cy="222072"/>
          </a:xfrm>
          <a:prstGeom prst="rect">
            <a:avLst/>
          </a:prstGeom>
          <a:solidFill>
            <a:schemeClr val="bg1">
              <a:lumMod val="95000"/>
            </a:schemeClr>
          </a:solidFill>
        </p:spPr>
        <p:txBody>
          <a:bodyPr wrap="square" anchor="ctr">
            <a:noAutofit/>
          </a:bodyPr>
          <a:lstStyle/>
          <a:p>
            <a:r>
              <a:rPr lang="en-US" sz="700" noProof="0">
                <a:latin typeface="Arial" panose="020B0604020202020204" pitchFamily="34" charset="0"/>
                <a:cs typeface="Arial" panose="020B0604020202020204" pitchFamily="34" charset="0"/>
              </a:rPr>
              <a:t>AGR-NET-2025-CS-19-MV90-NY</a:t>
            </a:r>
          </a:p>
        </p:txBody>
      </p:sp>
      <p:sp>
        <p:nvSpPr>
          <p:cNvPr id="57" name="TextBox 20">
            <a:extLst>
              <a:ext uri="{FF2B5EF4-FFF2-40B4-BE49-F238E27FC236}">
                <a16:creationId xmlns:a16="http://schemas.microsoft.com/office/drawing/2014/main" id="{5D462685-C977-C7DF-2187-75BCFDE1DC66}"/>
              </a:ext>
            </a:extLst>
          </p:cNvPr>
          <p:cNvSpPr txBox="1"/>
          <p:nvPr/>
        </p:nvSpPr>
        <p:spPr>
          <a:xfrm>
            <a:off x="7396273" y="5449338"/>
            <a:ext cx="2267906" cy="222072"/>
          </a:xfrm>
          <a:prstGeom prst="rect">
            <a:avLst/>
          </a:prstGeom>
          <a:solidFill>
            <a:schemeClr val="bg1">
              <a:lumMod val="95000"/>
            </a:schemeClr>
          </a:solidFill>
        </p:spPr>
        <p:txBody>
          <a:bodyPr wrap="square" anchor="ctr">
            <a:noAutofit/>
          </a:bodyPr>
          <a:lstStyle/>
          <a:p>
            <a:r>
              <a:rPr lang="en-US" sz="700" noProof="0">
                <a:latin typeface="Arial" panose="020B0604020202020204" pitchFamily="34" charset="0"/>
                <a:cs typeface="Arial" panose="020B0604020202020204" pitchFamily="34" charset="0"/>
              </a:rPr>
              <a:t>Intelligent Automation and Analytics for Contact Centers and Billing Exceptions-AGR</a:t>
            </a:r>
          </a:p>
        </p:txBody>
      </p:sp>
      <p:sp>
        <p:nvSpPr>
          <p:cNvPr id="58" name="TextBox 21">
            <a:extLst>
              <a:ext uri="{FF2B5EF4-FFF2-40B4-BE49-F238E27FC236}">
                <a16:creationId xmlns:a16="http://schemas.microsoft.com/office/drawing/2014/main" id="{59D12C06-C2AC-F0F5-F708-2ADC0CC68904}"/>
              </a:ext>
            </a:extLst>
          </p:cNvPr>
          <p:cNvSpPr txBox="1"/>
          <p:nvPr/>
        </p:nvSpPr>
        <p:spPr>
          <a:xfrm>
            <a:off x="5027323" y="2541255"/>
            <a:ext cx="2267906" cy="222072"/>
          </a:xfrm>
          <a:prstGeom prst="rect">
            <a:avLst/>
          </a:prstGeom>
          <a:solidFill>
            <a:schemeClr val="bg1">
              <a:lumMod val="95000"/>
            </a:schemeClr>
          </a:solidFill>
        </p:spPr>
        <p:txBody>
          <a:bodyPr wrap="square" anchor="ctr">
            <a:noAutofit/>
          </a:bodyPr>
          <a:lstStyle/>
          <a:p>
            <a:r>
              <a:rPr lang="en-US" sz="700" noProof="0">
                <a:latin typeface="Arial" panose="020B0604020202020204" pitchFamily="34" charset="0"/>
                <a:cs typeface="Arial" panose="020B0604020202020204" pitchFamily="34" charset="0"/>
              </a:rPr>
              <a:t>-Enhanced Energy Affordability Program (EEAP)-NY</a:t>
            </a:r>
          </a:p>
        </p:txBody>
      </p:sp>
      <p:sp>
        <p:nvSpPr>
          <p:cNvPr id="59" name="TextBox 22">
            <a:extLst>
              <a:ext uri="{FF2B5EF4-FFF2-40B4-BE49-F238E27FC236}">
                <a16:creationId xmlns:a16="http://schemas.microsoft.com/office/drawing/2014/main" id="{D6DCD039-C2D1-2CF7-031D-006E1CFB23B5}"/>
              </a:ext>
            </a:extLst>
          </p:cNvPr>
          <p:cNvSpPr txBox="1"/>
          <p:nvPr/>
        </p:nvSpPr>
        <p:spPr>
          <a:xfrm>
            <a:off x="9774420" y="5418798"/>
            <a:ext cx="2267906" cy="222072"/>
          </a:xfrm>
          <a:prstGeom prst="rect">
            <a:avLst/>
          </a:prstGeom>
          <a:solidFill>
            <a:schemeClr val="bg1">
              <a:lumMod val="95000"/>
            </a:schemeClr>
          </a:solidFill>
        </p:spPr>
        <p:txBody>
          <a:bodyPr wrap="square" anchor="ctr">
            <a:noAutofit/>
          </a:bodyPr>
          <a:lstStyle/>
          <a:p>
            <a:r>
              <a:rPr lang="en-US" sz="700" noProof="0">
                <a:latin typeface="Arial" panose="020B0604020202020204" pitchFamily="34" charset="0"/>
                <a:cs typeface="Arial" panose="020B0604020202020204" pitchFamily="34" charset="0"/>
              </a:rPr>
              <a:t>Customer Journey Enhancements Wave 3-AGR</a:t>
            </a:r>
          </a:p>
        </p:txBody>
      </p:sp>
      <p:sp>
        <p:nvSpPr>
          <p:cNvPr id="60" name="TextBox 23">
            <a:extLst>
              <a:ext uri="{FF2B5EF4-FFF2-40B4-BE49-F238E27FC236}">
                <a16:creationId xmlns:a16="http://schemas.microsoft.com/office/drawing/2014/main" id="{8CDEC1F2-FB46-2134-A892-4E503CD78030}"/>
              </a:ext>
            </a:extLst>
          </p:cNvPr>
          <p:cNvSpPr txBox="1"/>
          <p:nvPr/>
        </p:nvSpPr>
        <p:spPr>
          <a:xfrm>
            <a:off x="9774420" y="5128254"/>
            <a:ext cx="2267906" cy="222072"/>
          </a:xfrm>
          <a:prstGeom prst="rect">
            <a:avLst/>
          </a:prstGeom>
          <a:solidFill>
            <a:schemeClr val="bg1">
              <a:lumMod val="95000"/>
            </a:schemeClr>
          </a:solidFill>
        </p:spPr>
        <p:txBody>
          <a:bodyPr wrap="square" anchor="ctr">
            <a:noAutofit/>
          </a:bodyPr>
          <a:lstStyle/>
          <a:p>
            <a:r>
              <a:rPr lang="en-US" sz="700" noProof="0">
                <a:latin typeface="Arial" panose="020B0604020202020204" pitchFamily="34" charset="0"/>
                <a:cs typeface="Arial" panose="020B0604020202020204" pitchFamily="34" charset="0"/>
              </a:rPr>
              <a:t>Digital Communications-AGR</a:t>
            </a:r>
          </a:p>
        </p:txBody>
      </p:sp>
      <p:sp>
        <p:nvSpPr>
          <p:cNvPr id="61" name="TextBox 24">
            <a:extLst>
              <a:ext uri="{FF2B5EF4-FFF2-40B4-BE49-F238E27FC236}">
                <a16:creationId xmlns:a16="http://schemas.microsoft.com/office/drawing/2014/main" id="{C8F6C659-DE7D-D7F4-D722-5880D43C379E}"/>
              </a:ext>
            </a:extLst>
          </p:cNvPr>
          <p:cNvSpPr txBox="1"/>
          <p:nvPr/>
        </p:nvSpPr>
        <p:spPr>
          <a:xfrm>
            <a:off x="5027323" y="1960167"/>
            <a:ext cx="2267906" cy="222072"/>
          </a:xfrm>
          <a:prstGeom prst="rect">
            <a:avLst/>
          </a:prstGeom>
          <a:solidFill>
            <a:schemeClr val="bg1">
              <a:lumMod val="95000"/>
            </a:schemeClr>
          </a:solidFill>
        </p:spPr>
        <p:txBody>
          <a:bodyPr wrap="square" anchor="ctr">
            <a:noAutofit/>
          </a:bodyPr>
          <a:lstStyle/>
          <a:p>
            <a:r>
              <a:rPr lang="en-US" sz="700" noProof="0">
                <a:latin typeface="Arial" panose="020B0604020202020204" pitchFamily="34" charset="0"/>
                <a:cs typeface="Arial" panose="020B0604020202020204" pitchFamily="34" charset="0"/>
              </a:rPr>
              <a:t>NY Proposed Legislation A.3875-S.3876-NY</a:t>
            </a:r>
          </a:p>
        </p:txBody>
      </p:sp>
      <p:sp>
        <p:nvSpPr>
          <p:cNvPr id="62" name="TextBox 25">
            <a:extLst>
              <a:ext uri="{FF2B5EF4-FFF2-40B4-BE49-F238E27FC236}">
                <a16:creationId xmlns:a16="http://schemas.microsoft.com/office/drawing/2014/main" id="{4BCB3C37-764F-70CE-7274-28ED0687DBBB}"/>
              </a:ext>
            </a:extLst>
          </p:cNvPr>
          <p:cNvSpPr txBox="1"/>
          <p:nvPr/>
        </p:nvSpPr>
        <p:spPr>
          <a:xfrm>
            <a:off x="7396273" y="6320968"/>
            <a:ext cx="2267906" cy="222072"/>
          </a:xfrm>
          <a:prstGeom prst="rect">
            <a:avLst/>
          </a:prstGeom>
          <a:solidFill>
            <a:schemeClr val="bg1">
              <a:lumMod val="95000"/>
            </a:schemeClr>
          </a:solidFill>
        </p:spPr>
        <p:txBody>
          <a:bodyPr wrap="square" anchor="ctr">
            <a:noAutofit/>
          </a:bodyPr>
          <a:lstStyle/>
          <a:p>
            <a:r>
              <a:rPr lang="en-US" sz="700" noProof="0">
                <a:latin typeface="Arial" panose="020B0604020202020204" pitchFamily="34" charset="0"/>
                <a:cs typeface="Arial" panose="020B0604020202020204" pitchFamily="34" charset="0"/>
              </a:rPr>
              <a:t>-Digital Customer 360 Analytics-AGR</a:t>
            </a:r>
          </a:p>
        </p:txBody>
      </p:sp>
      <p:sp>
        <p:nvSpPr>
          <p:cNvPr id="63" name="TextBox 26">
            <a:extLst>
              <a:ext uri="{FF2B5EF4-FFF2-40B4-BE49-F238E27FC236}">
                <a16:creationId xmlns:a16="http://schemas.microsoft.com/office/drawing/2014/main" id="{0D5BD7CF-04E9-3C0B-FC4A-A14B75A5A8B3}"/>
              </a:ext>
            </a:extLst>
          </p:cNvPr>
          <p:cNvSpPr txBox="1"/>
          <p:nvPr/>
        </p:nvSpPr>
        <p:spPr>
          <a:xfrm>
            <a:off x="5027323" y="2250711"/>
            <a:ext cx="2267906" cy="222072"/>
          </a:xfrm>
          <a:prstGeom prst="rect">
            <a:avLst/>
          </a:prstGeom>
          <a:solidFill>
            <a:schemeClr val="bg1">
              <a:lumMod val="95000"/>
            </a:schemeClr>
          </a:solidFill>
        </p:spPr>
        <p:txBody>
          <a:bodyPr wrap="square" anchor="ctr">
            <a:noAutofit/>
          </a:bodyPr>
          <a:lstStyle/>
          <a:p>
            <a:r>
              <a:rPr lang="en-US" sz="700" noProof="0">
                <a:latin typeface="Arial" panose="020B0604020202020204" pitchFamily="34" charset="0"/>
                <a:cs typeface="Arial" panose="020B0604020202020204" pitchFamily="34" charset="0"/>
              </a:rPr>
              <a:t>Regulatory Driven Efforts-CMP</a:t>
            </a:r>
          </a:p>
        </p:txBody>
      </p:sp>
      <p:sp>
        <p:nvSpPr>
          <p:cNvPr id="64" name="TextBox 27">
            <a:extLst>
              <a:ext uri="{FF2B5EF4-FFF2-40B4-BE49-F238E27FC236}">
                <a16:creationId xmlns:a16="http://schemas.microsoft.com/office/drawing/2014/main" id="{ACD29D09-7D28-11CD-7E7E-0CE3EC4310EF}"/>
              </a:ext>
            </a:extLst>
          </p:cNvPr>
          <p:cNvSpPr txBox="1"/>
          <p:nvPr/>
        </p:nvSpPr>
        <p:spPr>
          <a:xfrm>
            <a:off x="5027323" y="3703431"/>
            <a:ext cx="2267906" cy="222072"/>
          </a:xfrm>
          <a:prstGeom prst="rect">
            <a:avLst/>
          </a:prstGeom>
          <a:solidFill>
            <a:schemeClr val="bg1">
              <a:lumMod val="95000"/>
            </a:schemeClr>
          </a:solidFill>
        </p:spPr>
        <p:txBody>
          <a:bodyPr wrap="square" anchor="ctr">
            <a:noAutofit/>
          </a:bodyPr>
          <a:lstStyle/>
          <a:p>
            <a:r>
              <a:rPr lang="en-US" sz="700" noProof="0">
                <a:latin typeface="Arial" panose="020B0604020202020204" pitchFamily="34" charset="0"/>
                <a:cs typeface="Arial" panose="020B0604020202020204" pitchFamily="34" charset="0"/>
              </a:rPr>
              <a:t>AGR-NET-26-CS-07-Regulatory Driven Efforts-NY</a:t>
            </a:r>
          </a:p>
        </p:txBody>
      </p:sp>
      <p:sp>
        <p:nvSpPr>
          <p:cNvPr id="66" name="TextBox 28">
            <a:extLst>
              <a:ext uri="{FF2B5EF4-FFF2-40B4-BE49-F238E27FC236}">
                <a16:creationId xmlns:a16="http://schemas.microsoft.com/office/drawing/2014/main" id="{1426CCDA-620C-6A56-3CE5-CD884C86ACB7}"/>
              </a:ext>
            </a:extLst>
          </p:cNvPr>
          <p:cNvSpPr txBox="1"/>
          <p:nvPr/>
        </p:nvSpPr>
        <p:spPr>
          <a:xfrm>
            <a:off x="5027323" y="2831799"/>
            <a:ext cx="2267906" cy="222072"/>
          </a:xfrm>
          <a:prstGeom prst="rect">
            <a:avLst/>
          </a:prstGeom>
          <a:solidFill>
            <a:schemeClr val="bg1">
              <a:lumMod val="95000"/>
            </a:schemeClr>
          </a:solidFill>
        </p:spPr>
        <p:txBody>
          <a:bodyPr wrap="square" anchor="ctr">
            <a:noAutofit/>
          </a:bodyPr>
          <a:lstStyle/>
          <a:p>
            <a:r>
              <a:rPr lang="en-US" sz="700" noProof="0">
                <a:latin typeface="Arial" panose="020B0604020202020204" pitchFamily="34" charset="0"/>
                <a:cs typeface="Arial" panose="020B0604020202020204" pitchFamily="34" charset="0"/>
              </a:rPr>
              <a:t>Advanced Termination Notice PA 23-199</a:t>
            </a:r>
          </a:p>
        </p:txBody>
      </p:sp>
      <p:sp>
        <p:nvSpPr>
          <p:cNvPr id="67" name="TextBox 1">
            <a:extLst>
              <a:ext uri="{FF2B5EF4-FFF2-40B4-BE49-F238E27FC236}">
                <a16:creationId xmlns:a16="http://schemas.microsoft.com/office/drawing/2014/main" id="{48EEFA36-F752-6349-2E1B-2920E13A97FE}"/>
              </a:ext>
            </a:extLst>
          </p:cNvPr>
          <p:cNvSpPr txBox="1"/>
          <p:nvPr/>
        </p:nvSpPr>
        <p:spPr>
          <a:xfrm>
            <a:off x="5027323" y="1669623"/>
            <a:ext cx="2267906" cy="222072"/>
          </a:xfrm>
          <a:prstGeom prst="rect">
            <a:avLst/>
          </a:prstGeom>
          <a:solidFill>
            <a:srgbClr val="00B050"/>
          </a:solidFill>
        </p:spPr>
        <p:txBody>
          <a:bodyPr wrap="square" anchor="ctr">
            <a:noAutofit/>
          </a:bodyPr>
          <a:lstStyle/>
          <a:p>
            <a:pPr algn="ctr"/>
            <a:r>
              <a:rPr lang="en-US" sz="900" b="1" noProof="0">
                <a:solidFill>
                  <a:schemeClr val="bg1"/>
                </a:solidFill>
                <a:latin typeface="Arial" panose="020B0604020202020204" pitchFamily="34" charset="0"/>
                <a:cs typeface="Arial" panose="020B0604020202020204" pitchFamily="34" charset="0"/>
              </a:rPr>
              <a:t>REGULATORY &amp; COMPLIANCE</a:t>
            </a:r>
          </a:p>
        </p:txBody>
      </p:sp>
      <p:sp>
        <p:nvSpPr>
          <p:cNvPr id="68" name="TextBox 1">
            <a:extLst>
              <a:ext uri="{FF2B5EF4-FFF2-40B4-BE49-F238E27FC236}">
                <a16:creationId xmlns:a16="http://schemas.microsoft.com/office/drawing/2014/main" id="{A5CEDB58-5E2E-B3D4-CFE2-1BE651DBDBE7}"/>
              </a:ext>
            </a:extLst>
          </p:cNvPr>
          <p:cNvSpPr txBox="1"/>
          <p:nvPr/>
        </p:nvSpPr>
        <p:spPr>
          <a:xfrm>
            <a:off x="9774420" y="4547166"/>
            <a:ext cx="2267906" cy="222072"/>
          </a:xfrm>
          <a:prstGeom prst="rect">
            <a:avLst/>
          </a:prstGeom>
          <a:solidFill>
            <a:srgbClr val="00B050"/>
          </a:solidFill>
        </p:spPr>
        <p:txBody>
          <a:bodyPr wrap="square" anchor="ctr">
            <a:noAutofit/>
          </a:bodyPr>
          <a:lstStyle/>
          <a:p>
            <a:pPr algn="ctr"/>
            <a:r>
              <a:rPr lang="en-US" sz="900" b="1" noProof="0">
                <a:solidFill>
                  <a:schemeClr val="bg1"/>
                </a:solidFill>
                <a:latin typeface="Arial" panose="020B0604020202020204" pitchFamily="34" charset="0"/>
                <a:cs typeface="Arial" panose="020B0604020202020204" pitchFamily="34" charset="0"/>
              </a:rPr>
              <a:t>DIGITAL CUSTOMER</a:t>
            </a:r>
          </a:p>
        </p:txBody>
      </p:sp>
      <p:sp>
        <p:nvSpPr>
          <p:cNvPr id="69" name="TextBox 1">
            <a:extLst>
              <a:ext uri="{FF2B5EF4-FFF2-40B4-BE49-F238E27FC236}">
                <a16:creationId xmlns:a16="http://schemas.microsoft.com/office/drawing/2014/main" id="{8D032A7F-255D-A796-1940-2A54E01295F6}"/>
              </a:ext>
            </a:extLst>
          </p:cNvPr>
          <p:cNvSpPr txBox="1"/>
          <p:nvPr/>
        </p:nvSpPr>
        <p:spPr>
          <a:xfrm>
            <a:off x="7396273" y="4577706"/>
            <a:ext cx="2267906" cy="222072"/>
          </a:xfrm>
          <a:prstGeom prst="rect">
            <a:avLst/>
          </a:prstGeom>
          <a:solidFill>
            <a:srgbClr val="00B050"/>
          </a:solidFill>
        </p:spPr>
        <p:txBody>
          <a:bodyPr wrap="square" anchor="ctr">
            <a:noAutofit/>
          </a:bodyPr>
          <a:lstStyle/>
          <a:p>
            <a:pPr algn="ctr"/>
            <a:r>
              <a:rPr lang="en-US" sz="900" b="1" noProof="0">
                <a:solidFill>
                  <a:schemeClr val="bg1"/>
                </a:solidFill>
                <a:latin typeface="Arial" panose="020B0604020202020204" pitchFamily="34" charset="0"/>
                <a:cs typeface="Arial" panose="020B0604020202020204" pitchFamily="34" charset="0"/>
              </a:rPr>
              <a:t>AUTOMATION, ANALYTICS &amp; GEN AI</a:t>
            </a:r>
          </a:p>
        </p:txBody>
      </p:sp>
      <p:sp>
        <p:nvSpPr>
          <p:cNvPr id="70" name="TextBox 1">
            <a:extLst>
              <a:ext uri="{FF2B5EF4-FFF2-40B4-BE49-F238E27FC236}">
                <a16:creationId xmlns:a16="http://schemas.microsoft.com/office/drawing/2014/main" id="{44784A69-8A7C-C5DC-59DB-D794B482A9AB}"/>
              </a:ext>
            </a:extLst>
          </p:cNvPr>
          <p:cNvSpPr txBox="1"/>
          <p:nvPr/>
        </p:nvSpPr>
        <p:spPr>
          <a:xfrm>
            <a:off x="7396273" y="1669623"/>
            <a:ext cx="2267906" cy="222072"/>
          </a:xfrm>
          <a:prstGeom prst="rect">
            <a:avLst/>
          </a:prstGeom>
          <a:solidFill>
            <a:srgbClr val="00B050"/>
          </a:solidFill>
        </p:spPr>
        <p:txBody>
          <a:bodyPr wrap="square" anchor="ctr">
            <a:noAutofit/>
          </a:bodyPr>
          <a:lstStyle/>
          <a:p>
            <a:pPr algn="ctr"/>
            <a:r>
              <a:rPr lang="en-US" sz="900" b="1" noProof="0">
                <a:solidFill>
                  <a:schemeClr val="bg1"/>
                </a:solidFill>
                <a:latin typeface="Arial" panose="020B0604020202020204" pitchFamily="34" charset="0"/>
                <a:cs typeface="Arial" panose="020B0604020202020204" pitchFamily="34" charset="0"/>
              </a:rPr>
              <a:t>ENABLE THE BUSINESS / OTHERS</a:t>
            </a:r>
          </a:p>
        </p:txBody>
      </p:sp>
      <p:sp>
        <p:nvSpPr>
          <p:cNvPr id="71" name="CuadroTexto 70">
            <a:extLst>
              <a:ext uri="{FF2B5EF4-FFF2-40B4-BE49-F238E27FC236}">
                <a16:creationId xmlns:a16="http://schemas.microsoft.com/office/drawing/2014/main" id="{27B82F82-700C-976F-5CCE-C3C7662CDC64}"/>
              </a:ext>
            </a:extLst>
          </p:cNvPr>
          <p:cNvSpPr txBox="1"/>
          <p:nvPr/>
        </p:nvSpPr>
        <p:spPr>
          <a:xfrm>
            <a:off x="9772306" y="3112663"/>
            <a:ext cx="2266681" cy="223510"/>
          </a:xfrm>
          <a:prstGeom prst="rect">
            <a:avLst/>
          </a:prstGeom>
          <a:solidFill>
            <a:schemeClr val="bg1">
              <a:lumMod val="75000"/>
            </a:schemeClr>
          </a:solidFill>
        </p:spPr>
        <p:txBody>
          <a:bodyPr wrap="square" anchor="ctr">
            <a:noAutofit/>
          </a:bodyPr>
          <a:lstStyle>
            <a:defPPr>
              <a:defRPr lang="en-US"/>
            </a:defPPr>
            <a:lvl1pPr>
              <a:defRPr sz="700">
                <a:latin typeface="Arial" panose="020B0604020202020204" pitchFamily="34" charset="0"/>
                <a:cs typeface="Arial" panose="020B0604020202020204" pitchFamily="34" charset="0"/>
              </a:defRPr>
            </a:lvl1pPr>
          </a:lstStyle>
          <a:p>
            <a:r>
              <a:rPr lang="en-US" noProof="0"/>
              <a:t>AGR-NET-23-IT-02-New Scheduler Project</a:t>
            </a:r>
          </a:p>
        </p:txBody>
      </p:sp>
      <p:sp>
        <p:nvSpPr>
          <p:cNvPr id="72" name="CuadroTexto 71">
            <a:extLst>
              <a:ext uri="{FF2B5EF4-FFF2-40B4-BE49-F238E27FC236}">
                <a16:creationId xmlns:a16="http://schemas.microsoft.com/office/drawing/2014/main" id="{B5802459-0080-BB04-294A-15C0DC55D9C3}"/>
              </a:ext>
            </a:extLst>
          </p:cNvPr>
          <p:cNvSpPr txBox="1"/>
          <p:nvPr/>
        </p:nvSpPr>
        <p:spPr>
          <a:xfrm>
            <a:off x="7396885" y="2242582"/>
            <a:ext cx="2266681" cy="223510"/>
          </a:xfrm>
          <a:prstGeom prst="rect">
            <a:avLst/>
          </a:prstGeom>
          <a:solidFill>
            <a:schemeClr val="bg1">
              <a:lumMod val="75000"/>
            </a:schemeClr>
          </a:solidFill>
        </p:spPr>
        <p:txBody>
          <a:bodyPr wrap="square" anchor="ctr">
            <a:noAutofit/>
          </a:bodyPr>
          <a:lstStyle>
            <a:defPPr>
              <a:defRPr lang="en-US"/>
            </a:defPPr>
            <a:lvl1pPr>
              <a:defRPr sz="700">
                <a:latin typeface="Arial" panose="020B0604020202020204" pitchFamily="34" charset="0"/>
                <a:cs typeface="Arial" panose="020B0604020202020204" pitchFamily="34" charset="0"/>
              </a:defRPr>
            </a:lvl1pPr>
          </a:lstStyle>
          <a:p>
            <a:r>
              <a:rPr lang="en-US" noProof="0"/>
              <a:t>AGR-NET-24-IT-01-Global S/4Hana </a:t>
            </a:r>
          </a:p>
        </p:txBody>
      </p:sp>
      <p:sp>
        <p:nvSpPr>
          <p:cNvPr id="73" name="CuadroTexto 72">
            <a:extLst>
              <a:ext uri="{FF2B5EF4-FFF2-40B4-BE49-F238E27FC236}">
                <a16:creationId xmlns:a16="http://schemas.microsoft.com/office/drawing/2014/main" id="{33DF33B7-2368-2CE9-F98D-DFF7EF217D5C}"/>
              </a:ext>
            </a:extLst>
          </p:cNvPr>
          <p:cNvSpPr txBox="1"/>
          <p:nvPr/>
        </p:nvSpPr>
        <p:spPr>
          <a:xfrm>
            <a:off x="9772306" y="2534296"/>
            <a:ext cx="2266681" cy="223510"/>
          </a:xfrm>
          <a:prstGeom prst="rect">
            <a:avLst/>
          </a:prstGeom>
          <a:solidFill>
            <a:schemeClr val="bg1">
              <a:lumMod val="75000"/>
            </a:schemeClr>
          </a:solidFill>
        </p:spPr>
        <p:txBody>
          <a:bodyPr wrap="square" anchor="ctr">
            <a:noAutofit/>
          </a:bodyPr>
          <a:lstStyle>
            <a:defPPr>
              <a:defRPr lang="en-US"/>
            </a:defPPr>
            <a:lvl1pPr>
              <a:defRPr sz="700">
                <a:latin typeface="Arial" panose="020B0604020202020204" pitchFamily="34" charset="0"/>
                <a:cs typeface="Arial" panose="020B0604020202020204" pitchFamily="34" charset="0"/>
              </a:defRPr>
            </a:lvl1pPr>
          </a:lstStyle>
          <a:p>
            <a:r>
              <a:rPr lang="en-US" noProof="0"/>
              <a:t>AGR-NET-24-IT-04- Supply Chain Digitization </a:t>
            </a:r>
          </a:p>
        </p:txBody>
      </p:sp>
      <p:sp>
        <p:nvSpPr>
          <p:cNvPr id="74" name="CuadroTexto 73">
            <a:extLst>
              <a:ext uri="{FF2B5EF4-FFF2-40B4-BE49-F238E27FC236}">
                <a16:creationId xmlns:a16="http://schemas.microsoft.com/office/drawing/2014/main" id="{35961F56-A4C4-CD7E-7B8B-560D0F7816B9}"/>
              </a:ext>
            </a:extLst>
          </p:cNvPr>
          <p:cNvSpPr txBox="1"/>
          <p:nvPr/>
        </p:nvSpPr>
        <p:spPr>
          <a:xfrm>
            <a:off x="9772306" y="3401846"/>
            <a:ext cx="2266681" cy="223510"/>
          </a:xfrm>
          <a:prstGeom prst="rect">
            <a:avLst/>
          </a:prstGeom>
          <a:solidFill>
            <a:schemeClr val="bg1">
              <a:lumMod val="75000"/>
            </a:schemeClr>
          </a:solidFill>
        </p:spPr>
        <p:txBody>
          <a:bodyPr wrap="square" anchor="ctr">
            <a:noAutofit/>
          </a:bodyPr>
          <a:lstStyle>
            <a:defPPr>
              <a:defRPr lang="en-US"/>
            </a:defPPr>
            <a:lvl1pPr>
              <a:defRPr sz="700">
                <a:latin typeface="Arial" panose="020B0604020202020204" pitchFamily="34" charset="0"/>
                <a:cs typeface="Arial" panose="020B0604020202020204" pitchFamily="34" charset="0"/>
              </a:defRPr>
            </a:lvl1pPr>
          </a:lstStyle>
          <a:p>
            <a:r>
              <a:rPr lang="en-US" noProof="0"/>
              <a:t>AGR-2026-NET-IT (SG)-01-MV90 Upgrade UIL </a:t>
            </a:r>
          </a:p>
        </p:txBody>
      </p:sp>
      <p:sp>
        <p:nvSpPr>
          <p:cNvPr id="75" name="CuadroTexto 74">
            <a:extLst>
              <a:ext uri="{FF2B5EF4-FFF2-40B4-BE49-F238E27FC236}">
                <a16:creationId xmlns:a16="http://schemas.microsoft.com/office/drawing/2014/main" id="{67EF87B6-7101-087F-0E79-8E2A5EB07A5E}"/>
              </a:ext>
            </a:extLst>
          </p:cNvPr>
          <p:cNvSpPr txBox="1"/>
          <p:nvPr/>
        </p:nvSpPr>
        <p:spPr>
          <a:xfrm>
            <a:off x="9772306" y="3691030"/>
            <a:ext cx="2266681" cy="223510"/>
          </a:xfrm>
          <a:prstGeom prst="rect">
            <a:avLst/>
          </a:prstGeom>
          <a:solidFill>
            <a:schemeClr val="bg1">
              <a:lumMod val="75000"/>
            </a:schemeClr>
          </a:solidFill>
        </p:spPr>
        <p:txBody>
          <a:bodyPr wrap="square" anchor="ctr">
            <a:noAutofit/>
          </a:bodyPr>
          <a:lstStyle>
            <a:defPPr>
              <a:defRPr lang="en-US"/>
            </a:defPPr>
            <a:lvl1pPr>
              <a:defRPr sz="700">
                <a:latin typeface="Arial" panose="020B0604020202020204" pitchFamily="34" charset="0"/>
                <a:cs typeface="Arial" panose="020B0604020202020204" pitchFamily="34" charset="0"/>
              </a:defRPr>
            </a:lvl1pPr>
          </a:lstStyle>
          <a:p>
            <a:r>
              <a:rPr lang="en-US" noProof="0"/>
              <a:t>UIL AGR-NET-2025-OP-02-Networks Lifecycle Apps </a:t>
            </a:r>
          </a:p>
        </p:txBody>
      </p:sp>
      <p:sp>
        <p:nvSpPr>
          <p:cNvPr id="76" name="CuadroTexto 75">
            <a:extLst>
              <a:ext uri="{FF2B5EF4-FFF2-40B4-BE49-F238E27FC236}">
                <a16:creationId xmlns:a16="http://schemas.microsoft.com/office/drawing/2014/main" id="{B3BEC5F7-5FFF-764A-B295-F7508DC933D4}"/>
              </a:ext>
            </a:extLst>
          </p:cNvPr>
          <p:cNvSpPr txBox="1"/>
          <p:nvPr/>
        </p:nvSpPr>
        <p:spPr>
          <a:xfrm>
            <a:off x="9772306" y="3980213"/>
            <a:ext cx="2266681" cy="223510"/>
          </a:xfrm>
          <a:prstGeom prst="rect">
            <a:avLst/>
          </a:prstGeom>
          <a:solidFill>
            <a:schemeClr val="bg1">
              <a:lumMod val="75000"/>
            </a:schemeClr>
          </a:solidFill>
        </p:spPr>
        <p:txBody>
          <a:bodyPr wrap="square" anchor="ctr">
            <a:noAutofit/>
          </a:bodyPr>
          <a:lstStyle>
            <a:defPPr>
              <a:defRPr lang="en-US"/>
            </a:defPPr>
            <a:lvl1pPr>
              <a:defRPr sz="700">
                <a:latin typeface="Arial" panose="020B0604020202020204" pitchFamily="34" charset="0"/>
                <a:cs typeface="Arial" panose="020B0604020202020204" pitchFamily="34" charset="0"/>
              </a:defRPr>
            </a:lvl1pPr>
          </a:lstStyle>
          <a:p>
            <a:r>
              <a:rPr lang="en-US" noProof="0"/>
              <a:t>AGR-NET-2025-OP-01-Networks Mobility Program Digitalization </a:t>
            </a:r>
          </a:p>
        </p:txBody>
      </p:sp>
      <p:sp>
        <p:nvSpPr>
          <p:cNvPr id="77" name="CuadroTexto 76">
            <a:extLst>
              <a:ext uri="{FF2B5EF4-FFF2-40B4-BE49-F238E27FC236}">
                <a16:creationId xmlns:a16="http://schemas.microsoft.com/office/drawing/2014/main" id="{8C08EBAB-2FE3-0A11-B490-2EECACD3C948}"/>
              </a:ext>
            </a:extLst>
          </p:cNvPr>
          <p:cNvSpPr txBox="1"/>
          <p:nvPr/>
        </p:nvSpPr>
        <p:spPr>
          <a:xfrm>
            <a:off x="9772306" y="4269393"/>
            <a:ext cx="2266681" cy="223510"/>
          </a:xfrm>
          <a:prstGeom prst="rect">
            <a:avLst/>
          </a:prstGeom>
          <a:solidFill>
            <a:schemeClr val="bg1">
              <a:lumMod val="75000"/>
            </a:schemeClr>
          </a:solidFill>
        </p:spPr>
        <p:txBody>
          <a:bodyPr wrap="square" anchor="ctr">
            <a:noAutofit/>
          </a:bodyPr>
          <a:lstStyle>
            <a:defPPr>
              <a:defRPr lang="en-US"/>
            </a:defPPr>
            <a:lvl1pPr>
              <a:defRPr sz="700">
                <a:latin typeface="Arial" panose="020B0604020202020204" pitchFamily="34" charset="0"/>
                <a:cs typeface="Arial" panose="020B0604020202020204" pitchFamily="34" charset="0"/>
              </a:defRPr>
            </a:lvl1pPr>
          </a:lstStyle>
          <a:p>
            <a:r>
              <a:rPr lang="en-US" noProof="0"/>
              <a:t>AGR-NET-23-SG-01-ESRI UN Deployment</a:t>
            </a:r>
          </a:p>
        </p:txBody>
      </p:sp>
      <p:sp>
        <p:nvSpPr>
          <p:cNvPr id="78" name="CuadroTexto 77">
            <a:extLst>
              <a:ext uri="{FF2B5EF4-FFF2-40B4-BE49-F238E27FC236}">
                <a16:creationId xmlns:a16="http://schemas.microsoft.com/office/drawing/2014/main" id="{043BF1CD-86B3-C576-9072-B8B1707A84B8}"/>
              </a:ext>
            </a:extLst>
          </p:cNvPr>
          <p:cNvSpPr txBox="1"/>
          <p:nvPr/>
        </p:nvSpPr>
        <p:spPr>
          <a:xfrm>
            <a:off x="9772306" y="2823480"/>
            <a:ext cx="2266681" cy="223510"/>
          </a:xfrm>
          <a:prstGeom prst="rect">
            <a:avLst/>
          </a:prstGeom>
          <a:solidFill>
            <a:schemeClr val="bg1">
              <a:lumMod val="75000"/>
            </a:schemeClr>
          </a:solidFill>
        </p:spPr>
        <p:txBody>
          <a:bodyPr wrap="square" anchor="ctr">
            <a:noAutofit/>
          </a:bodyPr>
          <a:lstStyle>
            <a:defPPr>
              <a:defRPr lang="en-US"/>
            </a:defPPr>
            <a:lvl1pPr>
              <a:defRPr sz="700">
                <a:latin typeface="Arial" panose="020B0604020202020204" pitchFamily="34" charset="0"/>
                <a:cs typeface="Arial" panose="020B0604020202020204" pitchFamily="34" charset="0"/>
              </a:defRPr>
            </a:lvl1pPr>
          </a:lstStyle>
          <a:p>
            <a:r>
              <a:rPr lang="en-US" noProof="0"/>
              <a:t>AGR-CORP-25-REG-01-OpenText Cloud ECM and Rate Case Advisor </a:t>
            </a:r>
          </a:p>
        </p:txBody>
      </p:sp>
      <p:sp>
        <p:nvSpPr>
          <p:cNvPr id="79" name="CuadroTexto 78">
            <a:extLst>
              <a:ext uri="{FF2B5EF4-FFF2-40B4-BE49-F238E27FC236}">
                <a16:creationId xmlns:a16="http://schemas.microsoft.com/office/drawing/2014/main" id="{39B20CDF-9F58-C028-F6C6-53177E965D98}"/>
              </a:ext>
            </a:extLst>
          </p:cNvPr>
          <p:cNvSpPr txBox="1"/>
          <p:nvPr/>
        </p:nvSpPr>
        <p:spPr>
          <a:xfrm>
            <a:off x="9772306" y="1957368"/>
            <a:ext cx="2266681" cy="223510"/>
          </a:xfrm>
          <a:prstGeom prst="rect">
            <a:avLst/>
          </a:prstGeom>
          <a:solidFill>
            <a:schemeClr val="bg1">
              <a:lumMod val="75000"/>
            </a:schemeClr>
          </a:solidFill>
        </p:spPr>
        <p:txBody>
          <a:bodyPr wrap="square" anchor="ctr">
            <a:noAutofit/>
          </a:bodyPr>
          <a:lstStyle>
            <a:defPPr>
              <a:defRPr lang="en-US"/>
            </a:defPPr>
            <a:lvl1pPr>
              <a:defRPr sz="700">
                <a:latin typeface="Arial" panose="020B0604020202020204" pitchFamily="34" charset="0"/>
                <a:cs typeface="Arial" panose="020B0604020202020204" pitchFamily="34" charset="0"/>
              </a:defRPr>
            </a:lvl1pPr>
          </a:lstStyle>
          <a:p>
            <a:r>
              <a:rPr lang="en-US" noProof="0"/>
              <a:t>On-prem SharePoint migration to O365​</a:t>
            </a:r>
          </a:p>
        </p:txBody>
      </p:sp>
      <p:sp>
        <p:nvSpPr>
          <p:cNvPr id="80" name="TextBox 1">
            <a:extLst>
              <a:ext uri="{FF2B5EF4-FFF2-40B4-BE49-F238E27FC236}">
                <a16:creationId xmlns:a16="http://schemas.microsoft.com/office/drawing/2014/main" id="{33B64898-4210-558C-DA57-3A93538FAF49}"/>
              </a:ext>
            </a:extLst>
          </p:cNvPr>
          <p:cNvSpPr txBox="1"/>
          <p:nvPr/>
        </p:nvSpPr>
        <p:spPr>
          <a:xfrm>
            <a:off x="9771694" y="1669623"/>
            <a:ext cx="2267906" cy="222072"/>
          </a:xfrm>
          <a:prstGeom prst="rect">
            <a:avLst/>
          </a:prstGeom>
          <a:solidFill>
            <a:srgbClr val="00B050"/>
          </a:solidFill>
        </p:spPr>
        <p:txBody>
          <a:bodyPr wrap="square" anchor="ctr">
            <a:noAutofit/>
          </a:bodyPr>
          <a:lstStyle/>
          <a:p>
            <a:pPr algn="ctr"/>
            <a:r>
              <a:rPr lang="en-US" sz="900" b="1" noProof="0">
                <a:solidFill>
                  <a:schemeClr val="bg1"/>
                </a:solidFill>
                <a:latin typeface="Arial" panose="020B0604020202020204" pitchFamily="34" charset="0"/>
                <a:cs typeface="Arial" panose="020B0604020202020204" pitchFamily="34" charset="0"/>
              </a:rPr>
              <a:t>SUPPORT</a:t>
            </a:r>
          </a:p>
        </p:txBody>
      </p:sp>
      <p:sp>
        <p:nvSpPr>
          <p:cNvPr id="81" name="TextBox 1">
            <a:extLst>
              <a:ext uri="{FF2B5EF4-FFF2-40B4-BE49-F238E27FC236}">
                <a16:creationId xmlns:a16="http://schemas.microsoft.com/office/drawing/2014/main" id="{8FFA78AA-C3C4-061B-1B78-549B076E8C72}"/>
              </a:ext>
            </a:extLst>
          </p:cNvPr>
          <p:cNvSpPr txBox="1"/>
          <p:nvPr/>
        </p:nvSpPr>
        <p:spPr>
          <a:xfrm>
            <a:off x="9771694" y="2246551"/>
            <a:ext cx="2267906" cy="222072"/>
          </a:xfrm>
          <a:prstGeom prst="rect">
            <a:avLst/>
          </a:prstGeom>
          <a:solidFill>
            <a:srgbClr val="00B050"/>
          </a:solidFill>
        </p:spPr>
        <p:txBody>
          <a:bodyPr wrap="square" anchor="ctr">
            <a:noAutofit/>
          </a:bodyPr>
          <a:lstStyle/>
          <a:p>
            <a:pPr algn="ctr"/>
            <a:r>
              <a:rPr lang="en-US" sz="900" b="1" noProof="0">
                <a:solidFill>
                  <a:schemeClr val="bg1"/>
                </a:solidFill>
                <a:latin typeface="Arial" panose="020B0604020202020204" pitchFamily="34" charset="0"/>
                <a:cs typeface="Arial" panose="020B0604020202020204" pitchFamily="34" charset="0"/>
              </a:rPr>
              <a:t>SUPPLY CHAIN &amp; NETWORKS</a:t>
            </a:r>
          </a:p>
        </p:txBody>
      </p:sp>
      <p:sp>
        <p:nvSpPr>
          <p:cNvPr id="127" name="TextBox 1">
            <a:extLst>
              <a:ext uri="{FF2B5EF4-FFF2-40B4-BE49-F238E27FC236}">
                <a16:creationId xmlns:a16="http://schemas.microsoft.com/office/drawing/2014/main" id="{63887917-DBC8-D9B1-082F-56BF246233CC}"/>
              </a:ext>
            </a:extLst>
          </p:cNvPr>
          <p:cNvSpPr txBox="1"/>
          <p:nvPr/>
        </p:nvSpPr>
        <p:spPr>
          <a:xfrm>
            <a:off x="2595294" y="1669623"/>
            <a:ext cx="2286000" cy="222072"/>
          </a:xfrm>
          <a:prstGeom prst="rect">
            <a:avLst/>
          </a:prstGeom>
          <a:solidFill>
            <a:srgbClr val="00B050"/>
          </a:solidFill>
        </p:spPr>
        <p:txBody>
          <a:bodyPr wrap="square" anchor="ctr">
            <a:noAutofit/>
          </a:bodyPr>
          <a:lstStyle/>
          <a:p>
            <a:pPr algn="ctr"/>
            <a:r>
              <a:rPr lang="en-US" sz="900" b="1" noProof="0">
                <a:solidFill>
                  <a:schemeClr val="bg1"/>
                </a:solidFill>
                <a:latin typeface="Arial" panose="020B0604020202020204" pitchFamily="34" charset="0"/>
                <a:cs typeface="Arial" panose="020B0604020202020204" pitchFamily="34" charset="0"/>
              </a:rPr>
              <a:t>SYSTEM ENHANCEMENTS</a:t>
            </a:r>
          </a:p>
        </p:txBody>
      </p:sp>
      <p:sp>
        <p:nvSpPr>
          <p:cNvPr id="82" name="Rectangle 13">
            <a:extLst>
              <a:ext uri="{FF2B5EF4-FFF2-40B4-BE49-F238E27FC236}">
                <a16:creationId xmlns:a16="http://schemas.microsoft.com/office/drawing/2014/main" id="{28BCE63F-A226-5C18-F1D6-53B6A0EE4EF5}"/>
              </a:ext>
            </a:extLst>
          </p:cNvPr>
          <p:cNvSpPr/>
          <p:nvPr/>
        </p:nvSpPr>
        <p:spPr>
          <a:xfrm>
            <a:off x="233680" y="1249827"/>
            <a:ext cx="4647614" cy="3400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t>SMALL &amp; MEDIUM DEMAND</a:t>
            </a:r>
          </a:p>
        </p:txBody>
      </p:sp>
      <p:sp>
        <p:nvSpPr>
          <p:cNvPr id="173" name="TextBox 1">
            <a:extLst>
              <a:ext uri="{FF2B5EF4-FFF2-40B4-BE49-F238E27FC236}">
                <a16:creationId xmlns:a16="http://schemas.microsoft.com/office/drawing/2014/main" id="{1E43456B-2030-2065-ECF9-8C7012333830}"/>
              </a:ext>
            </a:extLst>
          </p:cNvPr>
          <p:cNvSpPr txBox="1"/>
          <p:nvPr/>
        </p:nvSpPr>
        <p:spPr>
          <a:xfrm>
            <a:off x="209131" y="1669623"/>
            <a:ext cx="2286000" cy="222072"/>
          </a:xfrm>
          <a:prstGeom prst="rect">
            <a:avLst/>
          </a:prstGeom>
          <a:solidFill>
            <a:srgbClr val="00B050"/>
          </a:solidFill>
        </p:spPr>
        <p:txBody>
          <a:bodyPr wrap="square" anchor="ctr">
            <a:noAutofit/>
          </a:bodyPr>
          <a:lstStyle/>
          <a:p>
            <a:pPr algn="ctr"/>
            <a:r>
              <a:rPr lang="en-US" sz="900" b="1" noProof="0">
                <a:solidFill>
                  <a:schemeClr val="bg1"/>
                </a:solidFill>
                <a:latin typeface="Arial" panose="020B0604020202020204" pitchFamily="34" charset="0"/>
                <a:cs typeface="Arial" panose="020B0604020202020204" pitchFamily="34" charset="0"/>
              </a:rPr>
              <a:t>PRODUCTION SUPPORT</a:t>
            </a:r>
          </a:p>
        </p:txBody>
      </p:sp>
      <p:grpSp>
        <p:nvGrpSpPr>
          <p:cNvPr id="174" name="Group 145">
            <a:extLst>
              <a:ext uri="{FF2B5EF4-FFF2-40B4-BE49-F238E27FC236}">
                <a16:creationId xmlns:a16="http://schemas.microsoft.com/office/drawing/2014/main" id="{4EDC8FF9-FBD5-4BC4-90B2-EF82D29B580B}"/>
              </a:ext>
            </a:extLst>
          </p:cNvPr>
          <p:cNvGrpSpPr/>
          <p:nvPr/>
        </p:nvGrpSpPr>
        <p:grpSpPr>
          <a:xfrm>
            <a:off x="209131" y="1954593"/>
            <a:ext cx="2286000" cy="4244256"/>
            <a:chOff x="6427973" y="1599938"/>
            <a:chExt cx="3137885" cy="3719162"/>
          </a:xfrm>
          <a:solidFill>
            <a:schemeClr val="tx2">
              <a:lumMod val="10000"/>
              <a:lumOff val="90000"/>
            </a:schemeClr>
          </a:solidFill>
        </p:grpSpPr>
        <p:sp>
          <p:nvSpPr>
            <p:cNvPr id="175" name="Rectángulo 132">
              <a:extLst>
                <a:ext uri="{FF2B5EF4-FFF2-40B4-BE49-F238E27FC236}">
                  <a16:creationId xmlns:a16="http://schemas.microsoft.com/office/drawing/2014/main" id="{3C0E9EBD-CBDB-632B-C3AB-DDA71F30E29D}"/>
                </a:ext>
              </a:extLst>
            </p:cNvPr>
            <p:cNvSpPr/>
            <p:nvPr/>
          </p:nvSpPr>
          <p:spPr>
            <a:xfrm>
              <a:off x="6437498" y="1599938"/>
              <a:ext cx="3128360" cy="182880"/>
            </a:xfrm>
            <a:prstGeom prst="rect">
              <a:avLst/>
            </a:prstGeom>
            <a:solidFill>
              <a:schemeClr val="bg1">
                <a:lumMod val="95000"/>
              </a:schemeClr>
            </a:solidFill>
          </p:spPr>
          <p:txBody>
            <a:bodyPr wrap="square" anchor="ctr">
              <a:noAutofit/>
            </a:bodyPr>
            <a:lstStyle/>
            <a:p>
              <a:r>
                <a:rPr lang="en-US" sz="700" noProof="0">
                  <a:solidFill>
                    <a:schemeClr val="tx1"/>
                  </a:solidFill>
                  <a:latin typeface="Arial" panose="020B0604020202020204" pitchFamily="34" charset="0"/>
                  <a:cs typeface="Arial" panose="020B0604020202020204" pitchFamily="34" charset="0"/>
                </a:rPr>
                <a:t>Account Balance, Payments and </a:t>
              </a:r>
              <a:r>
                <a:rPr lang="en-US" sz="700" noProof="0" err="1">
                  <a:solidFill>
                    <a:schemeClr val="tx1"/>
                  </a:solidFill>
                  <a:latin typeface="Arial" panose="020B0604020202020204" pitchFamily="34" charset="0"/>
                  <a:cs typeface="Arial" panose="020B0604020202020204" pitchFamily="34" charset="0"/>
                </a:rPr>
                <a:t>Taxex</a:t>
              </a:r>
              <a:endParaRPr lang="en-US" sz="700" noProof="0">
                <a:solidFill>
                  <a:schemeClr val="tx1"/>
                </a:solidFill>
                <a:latin typeface="Arial" panose="020B0604020202020204" pitchFamily="34" charset="0"/>
                <a:cs typeface="Arial" panose="020B0604020202020204" pitchFamily="34" charset="0"/>
              </a:endParaRPr>
            </a:p>
          </p:txBody>
        </p:sp>
        <p:sp>
          <p:nvSpPr>
            <p:cNvPr id="176" name="Rectángulo 133">
              <a:extLst>
                <a:ext uri="{FF2B5EF4-FFF2-40B4-BE49-F238E27FC236}">
                  <a16:creationId xmlns:a16="http://schemas.microsoft.com/office/drawing/2014/main" id="{369279A5-3251-E5B0-12E3-1428A790758F}"/>
                </a:ext>
              </a:extLst>
            </p:cNvPr>
            <p:cNvSpPr/>
            <p:nvPr/>
          </p:nvSpPr>
          <p:spPr>
            <a:xfrm>
              <a:off x="6427973" y="2120310"/>
              <a:ext cx="3128360" cy="182880"/>
            </a:xfrm>
            <a:prstGeom prst="rect">
              <a:avLst/>
            </a:prstGeom>
            <a:solidFill>
              <a:schemeClr val="bg1">
                <a:lumMod val="95000"/>
              </a:schemeClr>
            </a:solidFill>
          </p:spPr>
          <p:txBody>
            <a:bodyPr wrap="square" anchor="ctr">
              <a:noAutofit/>
            </a:bodyPr>
            <a:lstStyle/>
            <a:p>
              <a:r>
                <a:rPr lang="en-US" sz="700" noProof="0">
                  <a:solidFill>
                    <a:schemeClr val="tx1"/>
                  </a:solidFill>
                  <a:latin typeface="Arial" panose="020B0604020202020204" pitchFamily="34" charset="0"/>
                  <a:cs typeface="Arial" panose="020B0604020202020204" pitchFamily="34" charset="0"/>
                </a:rPr>
                <a:t>Billing and Rates</a:t>
              </a:r>
            </a:p>
          </p:txBody>
        </p:sp>
        <p:sp>
          <p:nvSpPr>
            <p:cNvPr id="177" name="Rectángulo 134">
              <a:extLst>
                <a:ext uri="{FF2B5EF4-FFF2-40B4-BE49-F238E27FC236}">
                  <a16:creationId xmlns:a16="http://schemas.microsoft.com/office/drawing/2014/main" id="{793DB073-3D89-581A-0F00-C83B3AB2A116}"/>
                </a:ext>
              </a:extLst>
            </p:cNvPr>
            <p:cNvSpPr/>
            <p:nvPr/>
          </p:nvSpPr>
          <p:spPr>
            <a:xfrm>
              <a:off x="6427973" y="2951012"/>
              <a:ext cx="3128360" cy="182880"/>
            </a:xfrm>
            <a:prstGeom prst="rect">
              <a:avLst/>
            </a:prstGeom>
            <a:solidFill>
              <a:schemeClr val="bg1">
                <a:lumMod val="95000"/>
              </a:schemeClr>
            </a:solidFill>
          </p:spPr>
          <p:txBody>
            <a:bodyPr wrap="square" anchor="ctr">
              <a:noAutofit/>
            </a:bodyPr>
            <a:lstStyle/>
            <a:p>
              <a:r>
                <a:rPr lang="en-US" sz="700" noProof="0">
                  <a:solidFill>
                    <a:schemeClr val="tx1"/>
                  </a:solidFill>
                  <a:latin typeface="Arial" panose="020B0604020202020204" pitchFamily="34" charset="0"/>
                  <a:cs typeface="Arial" panose="020B0604020202020204" pitchFamily="34" charset="0"/>
                </a:rPr>
                <a:t>Credit and Collections</a:t>
              </a:r>
            </a:p>
          </p:txBody>
        </p:sp>
        <p:sp>
          <p:nvSpPr>
            <p:cNvPr id="178" name="Rectángulo 135">
              <a:extLst>
                <a:ext uri="{FF2B5EF4-FFF2-40B4-BE49-F238E27FC236}">
                  <a16:creationId xmlns:a16="http://schemas.microsoft.com/office/drawing/2014/main" id="{128DD84D-110E-F287-5780-8115FF083857}"/>
                </a:ext>
              </a:extLst>
            </p:cNvPr>
            <p:cNvSpPr/>
            <p:nvPr/>
          </p:nvSpPr>
          <p:spPr>
            <a:xfrm>
              <a:off x="6427973" y="3482537"/>
              <a:ext cx="3128360" cy="182880"/>
            </a:xfrm>
            <a:prstGeom prst="rect">
              <a:avLst/>
            </a:prstGeom>
            <a:solidFill>
              <a:schemeClr val="bg1">
                <a:lumMod val="95000"/>
              </a:schemeClr>
            </a:solidFill>
          </p:spPr>
          <p:txBody>
            <a:bodyPr wrap="square" anchor="ctr">
              <a:noAutofit/>
            </a:bodyPr>
            <a:lstStyle/>
            <a:p>
              <a:r>
                <a:rPr lang="en-US" sz="700" noProof="0">
                  <a:solidFill>
                    <a:schemeClr val="tx1"/>
                  </a:solidFill>
                  <a:latin typeface="Arial" panose="020B0604020202020204" pitchFamily="34" charset="0"/>
                  <a:cs typeface="Arial" panose="020B0604020202020204" pitchFamily="34" charset="0"/>
                </a:rPr>
                <a:t>EMMA, OUTSORTS AND IMPLAUSIBLES</a:t>
              </a:r>
            </a:p>
          </p:txBody>
        </p:sp>
        <p:sp>
          <p:nvSpPr>
            <p:cNvPr id="179" name="Rectángulo 136">
              <a:extLst>
                <a:ext uri="{FF2B5EF4-FFF2-40B4-BE49-F238E27FC236}">
                  <a16:creationId xmlns:a16="http://schemas.microsoft.com/office/drawing/2014/main" id="{A6683DF9-8D25-FBC6-0F13-3997281D0211}"/>
                </a:ext>
              </a:extLst>
            </p:cNvPr>
            <p:cNvSpPr/>
            <p:nvPr/>
          </p:nvSpPr>
          <p:spPr>
            <a:xfrm>
              <a:off x="6427973" y="4011150"/>
              <a:ext cx="3128360" cy="182880"/>
            </a:xfrm>
            <a:prstGeom prst="rect">
              <a:avLst/>
            </a:prstGeom>
            <a:solidFill>
              <a:schemeClr val="bg1">
                <a:lumMod val="95000"/>
              </a:schemeClr>
            </a:solidFill>
          </p:spPr>
          <p:txBody>
            <a:bodyPr wrap="square" anchor="ctr">
              <a:noAutofit/>
            </a:bodyPr>
            <a:lstStyle/>
            <a:p>
              <a:r>
                <a:rPr lang="en-US" sz="700" noProof="0">
                  <a:solidFill>
                    <a:schemeClr val="tx1"/>
                  </a:solidFill>
                  <a:latin typeface="Arial" panose="020B0604020202020204" pitchFamily="34" charset="0"/>
                  <a:cs typeface="Arial" panose="020B0604020202020204" pitchFamily="34" charset="0"/>
                </a:rPr>
                <a:t>METERS AND Master data</a:t>
              </a:r>
            </a:p>
          </p:txBody>
        </p:sp>
        <p:sp>
          <p:nvSpPr>
            <p:cNvPr id="180" name="Rectángulo 137">
              <a:extLst>
                <a:ext uri="{FF2B5EF4-FFF2-40B4-BE49-F238E27FC236}">
                  <a16:creationId xmlns:a16="http://schemas.microsoft.com/office/drawing/2014/main" id="{13A8AB23-3300-9B54-4FEB-35FE3C988D04}"/>
                </a:ext>
              </a:extLst>
            </p:cNvPr>
            <p:cNvSpPr/>
            <p:nvPr/>
          </p:nvSpPr>
          <p:spPr>
            <a:xfrm>
              <a:off x="6427973" y="4568237"/>
              <a:ext cx="3128360" cy="182880"/>
            </a:xfrm>
            <a:prstGeom prst="rect">
              <a:avLst/>
            </a:prstGeom>
            <a:solidFill>
              <a:schemeClr val="bg1">
                <a:lumMod val="95000"/>
              </a:schemeClr>
            </a:solidFill>
          </p:spPr>
          <p:txBody>
            <a:bodyPr wrap="square" anchor="ctr">
              <a:noAutofit/>
            </a:bodyPr>
            <a:lstStyle/>
            <a:p>
              <a:r>
                <a:rPr lang="en-US" sz="700" noProof="0">
                  <a:solidFill>
                    <a:schemeClr val="tx1"/>
                  </a:solidFill>
                  <a:latin typeface="Arial" panose="020B0604020202020204" pitchFamily="34" charset="0"/>
                  <a:cs typeface="Arial" panose="020B0604020202020204" pitchFamily="34" charset="0"/>
                </a:rPr>
                <a:t>Outbound Recorded Calls</a:t>
              </a:r>
            </a:p>
          </p:txBody>
        </p:sp>
        <p:sp>
          <p:nvSpPr>
            <p:cNvPr id="181" name="Rectángulo 138">
              <a:extLst>
                <a:ext uri="{FF2B5EF4-FFF2-40B4-BE49-F238E27FC236}">
                  <a16:creationId xmlns:a16="http://schemas.microsoft.com/office/drawing/2014/main" id="{1E6395E2-EB50-ADFD-88B9-CA1C2CD124C3}"/>
                </a:ext>
              </a:extLst>
            </p:cNvPr>
            <p:cNvSpPr/>
            <p:nvPr/>
          </p:nvSpPr>
          <p:spPr>
            <a:xfrm>
              <a:off x="6427973" y="4852611"/>
              <a:ext cx="3128360" cy="182880"/>
            </a:xfrm>
            <a:prstGeom prst="rect">
              <a:avLst/>
            </a:prstGeom>
            <a:solidFill>
              <a:schemeClr val="bg1">
                <a:lumMod val="95000"/>
              </a:schemeClr>
            </a:solidFill>
          </p:spPr>
          <p:txBody>
            <a:bodyPr wrap="square" anchor="ctr">
              <a:noAutofit/>
            </a:bodyPr>
            <a:lstStyle/>
            <a:p>
              <a:r>
                <a:rPr lang="en-US" sz="700" noProof="0" err="1">
                  <a:solidFill>
                    <a:schemeClr val="tx1"/>
                  </a:solidFill>
                  <a:latin typeface="Arial" panose="020B0604020202020204" pitchFamily="34" charset="0"/>
                  <a:cs typeface="Arial" panose="020B0604020202020204" pitchFamily="34" charset="0"/>
                </a:rPr>
                <a:t>Rerports</a:t>
              </a:r>
              <a:r>
                <a:rPr lang="en-US" sz="700" noProof="0">
                  <a:solidFill>
                    <a:schemeClr val="tx1"/>
                  </a:solidFill>
                  <a:latin typeface="Arial" panose="020B0604020202020204" pitchFamily="34" charset="0"/>
                  <a:cs typeface="Arial" panose="020B0604020202020204" pitchFamily="34" charset="0"/>
                </a:rPr>
                <a:t>, Data Extracts and Analytics</a:t>
              </a:r>
            </a:p>
          </p:txBody>
        </p:sp>
        <p:sp>
          <p:nvSpPr>
            <p:cNvPr id="182" name="Rectángulo 139">
              <a:extLst>
                <a:ext uri="{FF2B5EF4-FFF2-40B4-BE49-F238E27FC236}">
                  <a16:creationId xmlns:a16="http://schemas.microsoft.com/office/drawing/2014/main" id="{8E0310F5-C5C6-136F-AD37-7FD001B602AE}"/>
                </a:ext>
              </a:extLst>
            </p:cNvPr>
            <p:cNvSpPr/>
            <p:nvPr/>
          </p:nvSpPr>
          <p:spPr>
            <a:xfrm>
              <a:off x="6427973" y="5136220"/>
              <a:ext cx="3128360" cy="182880"/>
            </a:xfrm>
            <a:prstGeom prst="rect">
              <a:avLst/>
            </a:prstGeom>
            <a:solidFill>
              <a:schemeClr val="bg1">
                <a:lumMod val="95000"/>
              </a:schemeClr>
            </a:solidFill>
          </p:spPr>
          <p:txBody>
            <a:bodyPr wrap="square" anchor="ctr">
              <a:noAutofit/>
            </a:bodyPr>
            <a:lstStyle/>
            <a:p>
              <a:r>
                <a:rPr lang="en-US" sz="700" noProof="0">
                  <a:solidFill>
                    <a:schemeClr val="tx1"/>
                  </a:solidFill>
                  <a:latin typeface="Arial" panose="020B0604020202020204" pitchFamily="34" charset="0"/>
                  <a:cs typeface="Arial" panose="020B0604020202020204" pitchFamily="34" charset="0"/>
                </a:rPr>
                <a:t>Retail Access</a:t>
              </a:r>
            </a:p>
          </p:txBody>
        </p:sp>
        <p:sp>
          <p:nvSpPr>
            <p:cNvPr id="183" name="Rectángulo 140">
              <a:extLst>
                <a:ext uri="{FF2B5EF4-FFF2-40B4-BE49-F238E27FC236}">
                  <a16:creationId xmlns:a16="http://schemas.microsoft.com/office/drawing/2014/main" id="{D9EC97BE-53A0-7321-5312-773824724A4F}"/>
                </a:ext>
              </a:extLst>
            </p:cNvPr>
            <p:cNvSpPr/>
            <p:nvPr/>
          </p:nvSpPr>
          <p:spPr>
            <a:xfrm>
              <a:off x="6427973" y="1856841"/>
              <a:ext cx="3128360" cy="182880"/>
            </a:xfrm>
            <a:prstGeom prst="rect">
              <a:avLst/>
            </a:prstGeom>
            <a:solidFill>
              <a:schemeClr val="bg1">
                <a:lumMod val="95000"/>
              </a:schemeClr>
            </a:solidFill>
          </p:spPr>
          <p:txBody>
            <a:bodyPr wrap="square" anchor="ctr">
              <a:noAutofit/>
            </a:bodyPr>
            <a:lstStyle/>
            <a:p>
              <a:r>
                <a:rPr lang="en-US" sz="700" noProof="0">
                  <a:solidFill>
                    <a:schemeClr val="tx1"/>
                  </a:solidFill>
                  <a:latin typeface="Arial" panose="020B0604020202020204" pitchFamily="34" charset="0"/>
                  <a:cs typeface="Arial" panose="020B0604020202020204" pitchFamily="34" charset="0"/>
                </a:rPr>
                <a:t>WEB IVR and Digital </a:t>
              </a:r>
              <a:r>
                <a:rPr lang="en-US" sz="700" noProof="0" err="1">
                  <a:solidFill>
                    <a:schemeClr val="tx1"/>
                  </a:solidFill>
                  <a:latin typeface="Arial" panose="020B0604020202020204" pitchFamily="34" charset="0"/>
                  <a:cs typeface="Arial" panose="020B0604020202020204" pitchFamily="34" charset="0"/>
                </a:rPr>
                <a:t>PLatforms</a:t>
              </a:r>
              <a:endParaRPr lang="en-US" sz="700" noProof="0">
                <a:solidFill>
                  <a:schemeClr val="tx1"/>
                </a:solidFill>
                <a:latin typeface="Arial" panose="020B0604020202020204" pitchFamily="34" charset="0"/>
                <a:cs typeface="Arial" panose="020B0604020202020204" pitchFamily="34" charset="0"/>
              </a:endParaRPr>
            </a:p>
          </p:txBody>
        </p:sp>
        <p:sp>
          <p:nvSpPr>
            <p:cNvPr id="184" name="Rectángulo 141">
              <a:extLst>
                <a:ext uri="{FF2B5EF4-FFF2-40B4-BE49-F238E27FC236}">
                  <a16:creationId xmlns:a16="http://schemas.microsoft.com/office/drawing/2014/main" id="{F22D66BC-2447-E11D-8B03-18334106F9B6}"/>
                </a:ext>
              </a:extLst>
            </p:cNvPr>
            <p:cNvSpPr/>
            <p:nvPr/>
          </p:nvSpPr>
          <p:spPr>
            <a:xfrm>
              <a:off x="6427973" y="2394820"/>
              <a:ext cx="3128360" cy="182880"/>
            </a:xfrm>
            <a:prstGeom prst="rect">
              <a:avLst/>
            </a:prstGeom>
            <a:solidFill>
              <a:schemeClr val="bg1">
                <a:lumMod val="95000"/>
              </a:schemeClr>
            </a:solidFill>
          </p:spPr>
          <p:txBody>
            <a:bodyPr wrap="square" anchor="ctr">
              <a:noAutofit/>
            </a:bodyPr>
            <a:lstStyle/>
            <a:p>
              <a:r>
                <a:rPr lang="en-US" sz="700" noProof="0">
                  <a:solidFill>
                    <a:schemeClr val="tx1"/>
                  </a:solidFill>
                  <a:latin typeface="Arial" panose="020B0604020202020204" pitchFamily="34" charset="0"/>
                  <a:cs typeface="Arial" panose="020B0604020202020204" pitchFamily="34" charset="0"/>
                </a:rPr>
                <a:t>Outage Management System</a:t>
              </a:r>
            </a:p>
          </p:txBody>
        </p:sp>
        <p:sp>
          <p:nvSpPr>
            <p:cNvPr id="185" name="Rectángulo 142">
              <a:extLst>
                <a:ext uri="{FF2B5EF4-FFF2-40B4-BE49-F238E27FC236}">
                  <a16:creationId xmlns:a16="http://schemas.microsoft.com/office/drawing/2014/main" id="{FB1D7E84-F0E2-F5F2-2E67-D65BBEB816EE}"/>
                </a:ext>
              </a:extLst>
            </p:cNvPr>
            <p:cNvSpPr/>
            <p:nvPr/>
          </p:nvSpPr>
          <p:spPr>
            <a:xfrm>
              <a:off x="6427973" y="2679096"/>
              <a:ext cx="3128360" cy="182880"/>
            </a:xfrm>
            <a:prstGeom prst="rect">
              <a:avLst/>
            </a:prstGeom>
            <a:solidFill>
              <a:schemeClr val="bg1">
                <a:lumMod val="95000"/>
              </a:schemeClr>
            </a:solidFill>
          </p:spPr>
          <p:txBody>
            <a:bodyPr wrap="square" anchor="ctr">
              <a:noAutofit/>
            </a:bodyPr>
            <a:lstStyle/>
            <a:p>
              <a:r>
                <a:rPr lang="en-US" sz="700" noProof="0">
                  <a:solidFill>
                    <a:schemeClr val="tx1"/>
                  </a:solidFill>
                  <a:latin typeface="Arial" panose="020B0604020202020204" pitchFamily="34" charset="0"/>
                  <a:cs typeface="Arial" panose="020B0604020202020204" pitchFamily="34" charset="0"/>
                </a:rPr>
                <a:t>SAP CRM</a:t>
              </a:r>
            </a:p>
          </p:txBody>
        </p:sp>
        <p:sp>
          <p:nvSpPr>
            <p:cNvPr id="186" name="Rectángulo 143">
              <a:extLst>
                <a:ext uri="{FF2B5EF4-FFF2-40B4-BE49-F238E27FC236}">
                  <a16:creationId xmlns:a16="http://schemas.microsoft.com/office/drawing/2014/main" id="{4B6C783C-7931-FE4B-E1B5-A10A1E1E16AC}"/>
                </a:ext>
              </a:extLst>
            </p:cNvPr>
            <p:cNvSpPr/>
            <p:nvPr/>
          </p:nvSpPr>
          <p:spPr>
            <a:xfrm>
              <a:off x="6427973" y="3220803"/>
              <a:ext cx="3128360" cy="182880"/>
            </a:xfrm>
            <a:prstGeom prst="rect">
              <a:avLst/>
            </a:prstGeom>
            <a:solidFill>
              <a:schemeClr val="bg1">
                <a:lumMod val="95000"/>
              </a:schemeClr>
            </a:solidFill>
          </p:spPr>
          <p:txBody>
            <a:bodyPr wrap="square" anchor="ctr">
              <a:noAutofit/>
            </a:bodyPr>
            <a:lstStyle/>
            <a:p>
              <a:r>
                <a:rPr lang="en-US" sz="700" noProof="0">
                  <a:solidFill>
                    <a:schemeClr val="tx1"/>
                  </a:solidFill>
                  <a:latin typeface="Arial" panose="020B0604020202020204" pitchFamily="34" charset="0"/>
                  <a:cs typeface="Arial" panose="020B0604020202020204" pitchFamily="34" charset="0"/>
                </a:rPr>
                <a:t>SAP CCS Front Office</a:t>
              </a:r>
            </a:p>
          </p:txBody>
        </p:sp>
        <p:sp>
          <p:nvSpPr>
            <p:cNvPr id="187" name="Rectángulo 144">
              <a:extLst>
                <a:ext uri="{FF2B5EF4-FFF2-40B4-BE49-F238E27FC236}">
                  <a16:creationId xmlns:a16="http://schemas.microsoft.com/office/drawing/2014/main" id="{822B3801-8335-78BA-D6EA-9620BB0636B6}"/>
                </a:ext>
              </a:extLst>
            </p:cNvPr>
            <p:cNvSpPr/>
            <p:nvPr/>
          </p:nvSpPr>
          <p:spPr>
            <a:xfrm>
              <a:off x="6427973" y="3750883"/>
              <a:ext cx="3128360" cy="182880"/>
            </a:xfrm>
            <a:prstGeom prst="rect">
              <a:avLst/>
            </a:prstGeom>
            <a:solidFill>
              <a:schemeClr val="bg1">
                <a:lumMod val="95000"/>
              </a:schemeClr>
            </a:solidFill>
          </p:spPr>
          <p:txBody>
            <a:bodyPr wrap="square" anchor="ctr">
              <a:noAutofit/>
            </a:bodyPr>
            <a:lstStyle/>
            <a:p>
              <a:r>
                <a:rPr lang="en-US" sz="700" noProof="0">
                  <a:solidFill>
                    <a:schemeClr val="tx1"/>
                  </a:solidFill>
                  <a:latin typeface="Arial" panose="020B0604020202020204" pitchFamily="34" charset="0"/>
                  <a:cs typeface="Arial" panose="020B0604020202020204" pitchFamily="34" charset="0"/>
                </a:rPr>
                <a:t>SAP ECC</a:t>
              </a:r>
            </a:p>
          </p:txBody>
        </p:sp>
        <p:sp>
          <p:nvSpPr>
            <p:cNvPr id="188" name="Rectángulo 145">
              <a:extLst>
                <a:ext uri="{FF2B5EF4-FFF2-40B4-BE49-F238E27FC236}">
                  <a16:creationId xmlns:a16="http://schemas.microsoft.com/office/drawing/2014/main" id="{5AB300D9-6429-660B-861A-5A1585829044}"/>
                </a:ext>
              </a:extLst>
            </p:cNvPr>
            <p:cNvSpPr/>
            <p:nvPr/>
          </p:nvSpPr>
          <p:spPr>
            <a:xfrm>
              <a:off x="6427973" y="4283573"/>
              <a:ext cx="3128360" cy="182880"/>
            </a:xfrm>
            <a:prstGeom prst="rect">
              <a:avLst/>
            </a:prstGeom>
            <a:solidFill>
              <a:schemeClr val="bg1">
                <a:lumMod val="95000"/>
              </a:schemeClr>
            </a:solidFill>
          </p:spPr>
          <p:txBody>
            <a:bodyPr wrap="square" anchor="ctr">
              <a:noAutofit/>
            </a:bodyPr>
            <a:lstStyle/>
            <a:p>
              <a:r>
                <a:rPr lang="en-US" sz="700" noProof="0">
                  <a:solidFill>
                    <a:schemeClr val="tx1"/>
                  </a:solidFill>
                  <a:latin typeface="Arial" panose="020B0604020202020204" pitchFamily="34" charset="0"/>
                  <a:cs typeface="Arial" panose="020B0604020202020204" pitchFamily="34" charset="0"/>
                </a:rPr>
                <a:t>GL Transfer Error</a:t>
              </a:r>
            </a:p>
          </p:txBody>
        </p:sp>
      </p:grpSp>
    </p:spTree>
    <p:extLst>
      <p:ext uri="{BB962C8B-B14F-4D97-AF65-F5344CB8AC3E}">
        <p14:creationId xmlns:p14="http://schemas.microsoft.com/office/powerpoint/2010/main" val="188739031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OWER_USER_TAGS_ICONS" val=""/>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ontent">
  <a:themeElements>
    <a:clrScheme name="Elegant green - white">
      <a:dk1>
        <a:srgbClr val="2B2B2D"/>
      </a:dk1>
      <a:lt1>
        <a:srgbClr val="FFFFFF"/>
      </a:lt1>
      <a:dk2>
        <a:srgbClr val="2B2B2D"/>
      </a:dk2>
      <a:lt2>
        <a:srgbClr val="5E5CA2"/>
      </a:lt2>
      <a:accent1>
        <a:srgbClr val="00A09D"/>
      </a:accent1>
      <a:accent2>
        <a:srgbClr val="0099A5"/>
      </a:accent2>
      <a:accent3>
        <a:srgbClr val="1891AB"/>
      </a:accent3>
      <a:accent4>
        <a:srgbClr val="2C85AE"/>
      </a:accent4>
      <a:accent5>
        <a:srgbClr val="4276AA"/>
      </a:accent5>
      <a:accent6>
        <a:srgbClr val="5268A5"/>
      </a:accent6>
      <a:hlink>
        <a:srgbClr val="7030A0"/>
      </a:hlink>
      <a:folHlink>
        <a:srgbClr val="00B0F0"/>
      </a:folHlink>
    </a:clrScheme>
    <a:fontScheme name="Custom 9">
      <a:majorFont>
        <a:latin typeface="Bebas Neue"/>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C747861-D447-974A-B088-686910466947}">
  <we:reference id="WA200010001" version="1.0.0.1" store="Omex" storeType="OMEX"/>
  <we:alternateReferences>
    <we:reference id="WA200010001" version="1.0.0.1" store="WA200010001" storeType="OMEX"/>
  </we:alternateReferences>
  <we:properties>
    <we:property name="claude.fileId" value="&quot;3835313f-2c2b-477e-9df0-429e47bd936d&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a_x00ed_s xmlns="4b464e96-be12-433e-8722-39d5a0f59d28" xsi:nil="true"/>
    <Fuente xmlns="4b464e96-be12-433e-8722-39d5a0f59d28" xsi:nil="true"/>
    <lcf76f155ced4ddcb4097134ff3c332f xmlns="4b464e96-be12-433e-8722-39d5a0f59d28">
      <Terms xmlns="http://schemas.microsoft.com/office/infopath/2007/PartnerControls"/>
    </lcf76f155ced4ddcb4097134ff3c332f>
    <TaxCatchAll xmlns="9af8d66c-8f78-4f3a-ae1c-6e82e7ed62c7"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4ABF3122F7F4D498EB3A12D7FC443DA" ma:contentTypeVersion="15" ma:contentTypeDescription="Create a new document." ma:contentTypeScope="" ma:versionID="54fd3935055be7f2473d3bcccc4c41fe">
  <xsd:schema xmlns:xsd="http://www.w3.org/2001/XMLSchema" xmlns:xs="http://www.w3.org/2001/XMLSchema" xmlns:p="http://schemas.microsoft.com/office/2006/metadata/properties" xmlns:ns2="4b464e96-be12-433e-8722-39d5a0f59d28" xmlns:ns3="9af8d66c-8f78-4f3a-ae1c-6e82e7ed62c7" targetNamespace="http://schemas.microsoft.com/office/2006/metadata/properties" ma:root="true" ma:fieldsID="15c832138d5a3dd2e20aed558ae63bd2" ns2:_="" ns3:_="">
    <xsd:import namespace="4b464e96-be12-433e-8722-39d5a0f59d28"/>
    <xsd:import namespace="9af8d66c-8f78-4f3a-ae1c-6e82e7ed62c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BillingMetadata"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Fuente" minOccurs="0"/>
                <xsd:element ref="ns2:Pa_x00ed_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b464e96-be12-433e-8722-39d5a0f59d2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BillingMetadata" ma:index="11" nillable="true" ma:displayName="MediaServiceBillingMetadata" ma:hidden="true" ma:internalName="MediaServiceBilling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d85e823d-31db-440c-980d-283f89df7c2e"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Fuente" ma:index="20" nillable="true" ma:displayName="Compartido por" ma:format="Dropdown" ma:internalName="Fuente">
      <xsd:simpleType>
        <xsd:restriction base="dms:Text">
          <xsd:maxLength value="255"/>
        </xsd:restriction>
      </xsd:simpleType>
    </xsd:element>
    <xsd:element name="Pa_x00ed_s" ma:index="21" nillable="true" ma:displayName="País" ma:format="Dropdown" ma:internalName="Pa_x00ed_s">
      <xsd:simpleType>
        <xsd:restriction base="dms:Text">
          <xsd:maxLength value="255"/>
        </xsd:restriction>
      </xsd:simpleType>
    </xsd:element>
    <xsd:element name="MediaServiceLocation" ma:index="22"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af8d66c-8f78-4f3a-ae1c-6e82e7ed62c7"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8ad7c53e-bc4f-4e24-99ba-65f21ed5e662}" ma:internalName="TaxCatchAll" ma:showField="CatchAllData" ma:web="9af8d66c-8f78-4f3a-ae1c-6e82e7ed62c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566CE61-02D5-4455-BE12-83C970A7517A}">
  <ds:schemaRefs>
    <ds:schemaRef ds:uri="4b464e96-be12-433e-8722-39d5a0f59d28"/>
    <ds:schemaRef ds:uri="9af8d66c-8f78-4f3a-ae1c-6e82e7ed62c7"/>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540E50B2-75A9-4C15-9C40-39F8B4C56591}">
  <ds:schemaRefs>
    <ds:schemaRef ds:uri="4b464e96-be12-433e-8722-39d5a0f59d28"/>
    <ds:schemaRef ds:uri="9af8d66c-8f78-4f3a-ae1c-6e82e7ed62c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E2696108-65C2-4D77-B41F-B885098F8EFC}">
  <ds:schemaRefs>
    <ds:schemaRef ds:uri="http://schemas.microsoft.com/sharepoint/v3/contenttype/forms"/>
  </ds:schemaRefs>
</ds:datastoreItem>
</file>

<file path=docMetadata/LabelInfo.xml><?xml version="1.0" encoding="utf-8"?>
<clbl:labelList xmlns:clbl="http://schemas.microsoft.com/office/2020/mipLabelMetadata">
  <clbl:label id="{3048dc87-43f0-4100-9acb-ae1971c79395}" enabled="0" method="" siteId="{3048dc87-43f0-4100-9acb-ae1971c79395}" removed="1"/>
</clbl:labelList>
</file>

<file path=docProps/app.xml><?xml version="1.0" encoding="utf-8"?>
<Properties xmlns="http://schemas.openxmlformats.org/officeDocument/2006/extended-properties" xmlns:vt="http://schemas.openxmlformats.org/officeDocument/2006/docPropsVTypes">
  <Template>office theme</Template>
  <TotalTime>0</TotalTime>
  <Application>Microsoft Office PowerPoint</Application>
  <PresentationFormat>Widescreen</PresentationFormat>
  <Slides>63</Slides>
  <Notes>43</Notes>
  <HiddenSlides>25</HiddenSlides>
  <ScaleCrop>false</ScaleCrop>
  <HeadingPairs>
    <vt:vector size="4" baseType="variant">
      <vt:variant>
        <vt:lpstr>Tema</vt:lpstr>
      </vt:variant>
      <vt:variant>
        <vt:i4>2</vt:i4>
      </vt:variant>
      <vt:variant>
        <vt:lpstr>Títulos de slides</vt:lpstr>
      </vt:variant>
      <vt:variant>
        <vt:i4>63</vt:i4>
      </vt:variant>
    </vt:vector>
  </HeadingPairs>
  <TitlesOfParts>
    <vt:vector size="65" baseType="lpstr">
      <vt:lpstr>office theme</vt:lpstr>
      <vt:lpstr>Content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Ana Sancha Medina</dc:creator>
  <cp:revision>3</cp:revision>
  <dcterms:created xsi:type="dcterms:W3CDTF">2026-04-14T18:42:14Z</dcterms:created>
  <dcterms:modified xsi:type="dcterms:W3CDTF">2026-04-25T16:21:41Z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0x01010024ABF3122F7F4D498EB3A12D7FC443DA</vt:lpwstr>
  </property>
  <property fmtid="{D5CDD505-2E9C-101B-9397-08002B2CF9AE}" pid="3" name="MediaServiceImageTags">
    <vt:lpwstr/>
  </property>
</Properties>
</file>