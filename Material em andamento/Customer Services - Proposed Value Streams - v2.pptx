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14" r:id="rId2"/>
    <p:sldId id="272" r:id="rId3"/>
    <p:sldId id="318" r:id="rId16"/>
    <p:sldId id="319" r:id="rId17"/>
    <p:sldId id="289" r:id="rId4"/>
    <p:sldId id="291" r:id="rId5"/>
    <p:sldId id="292" r:id="rId6"/>
    <p:sldId id="293" r:id="rId7"/>
    <p:sldId id="315" r:id="rId13"/>
    <p:sldId id="316" r:id="rId14"/>
    <p:sldId id="317" r:id="rId15"/>
    <p:sldId id="320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B4F"/>
    <a:srgbClr val="0B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27"/>
    <p:restoredTop sz="94651"/>
  </p:normalViewPr>
  <p:slideViewPr>
    <p:cSldViewPr snapToGrid="0">
      <p:cViewPr>
        <p:scale>
          <a:sx n="160" d="100"/>
          <a:sy n="160" d="100"/>
        </p:scale>
        <p:origin x="1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27/04/2026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58886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microsoft.com/office/2007/relationships/hdphoto" Target="../media/hdphoto1.wdp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-8055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sz="5400">
                <a:solidFill>
                  <a:srgbClr val="FFFFFF"/>
                </a:solidFill>
                <a:latin typeface="Arial"/>
              </a:rPr>
              <a:t>PROPOSED VALUE STREAMS – CUSTOMER SERVICES</a:t>
            </a:r>
            <a:endParaRPr lang="en-US" b="0" dirty="0"/>
          </a:p>
          <a:p>
            <a:r>
              <a:rPr sz="1600" b="0">
                <a:solidFill>
                  <a:srgbClr val="FFFFFF"/>
                </a:solidFill>
                <a:latin typeface="Arial"/>
              </a:rPr>
              <a:t>v2 — Reframe: 1 Operational + 5 Development Value Streams</a:t>
            </a:r>
          </a:p>
          <a:p>
            <a:r>
              <a:rPr sz="1400">
                <a:solidFill>
                  <a:srgbClr val="FFFFFF"/>
                </a:solidFill>
                <a:latin typeface="Arial"/>
              </a:rPr>
              <a:t>April 2026</a:t>
            </a:r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707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PROPOSED VALUE STREAMS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960120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33272"/>
            <a:ext cx="8439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2" y="1051560"/>
            <a:ext cx="26517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27048"/>
            <a:ext cx="10908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Customer Service · End-to-End Business Outcome across 7 OPCOs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28216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2C3E50"/>
                </a:solidFill>
                <a:latin typeface="Arial"/>
              </a:rPr>
              <a:t>Capture every meter read · invoice on time · collect cash · serve every customer interaction — anchored on SAP (Billing · FICA · CRM · Metering)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93976"/>
            <a:ext cx="1090879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109087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C3E50"/>
                </a:solidFill>
                <a:latin typeface="Arial"/>
              </a:rPr>
              <a:t>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10908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F1B4F"/>
                </a:solidFill>
                <a:latin typeface="Arial"/>
              </a:rPr>
              <a:t>METER → BILL → COLLECT → SERVE · PLATFORM (transversal enabler)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112745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F1B4F"/>
                </a:solidFill>
                <a:latin typeface="Arial"/>
              </a:rPr>
              <a:t>DEVELOPMENT VALUE STREAMS (5) · ONE PRODUCT MANAGER PER DVS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Meter Data &amp; Devices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Customer Service / Metering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Capture every read · zero data loss to billing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Smart Metering
MDM (Meter Data Mgmt)
SAP IS-U Device
Group 8760 (EDI)
Field meter read 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30398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12110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30398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Billing &amp; Invoicing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1838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Customer Service / 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1838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Run the bill on time · every day · every OPCO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13278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21838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21838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SAP ECC (FI/SD)
Streamserve / OpenText
Address Validation (Precisely)
Print &amp; e-delivery interfaces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03596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85308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03596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Collections · FICA · Tax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5036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Customer Service /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5036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Convert invoices into cash · comply at line level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6476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95036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5036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SAP FICA
SOVOS Taxware
Payment processing interfaces
(banks · lockbox · 3rd-party)
Dunning &amp; collections workflows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76795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258507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76795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Customer Interaction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8235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Customer Service / CX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8235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Unify CRM · contact center · digital · 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9675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68235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8235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SAP CRM
Genesys (Infosys)
Nuance IVR / CTI
Medallia (formerly VHT)
PureConnect / PureEngage (legacy)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49993" y="2907792"/>
            <a:ext cx="2181758" cy="35387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531705" y="2834640"/>
            <a:ext cx="2218334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49993" y="2926080"/>
            <a:ext cx="218175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Platform &amp; Enablers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1433" y="3675888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 i="1">
                <a:solidFill>
                  <a:srgbClr val="2C3E50"/>
                </a:solidFill>
                <a:latin typeface="Arial"/>
              </a:rPr>
              <a:t>DOMAIN · Shared Service · Transversal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1433" y="3877056"/>
            <a:ext cx="199887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i="1">
                <a:solidFill>
                  <a:srgbClr val="2C3E50"/>
                </a:solidFill>
                <a:latin typeface="Arial"/>
              </a:rPr>
              <a:t>Keep the factory running for every other DVS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2873" y="4453128"/>
            <a:ext cx="1815998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1433" y="4526280"/>
            <a:ext cx="199887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1433" y="4727448"/>
            <a:ext cx="199887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2C3E50"/>
                </a:solidFill>
                <a:latin typeface="Arial"/>
              </a:rPr>
              <a:t>SAP Basis
SAP Gold Client
SAP Enable Now (WPB)
Blue Prism (RPA)
Tricentis TOSCA
Jira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WHY THIS 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17 CS APPLICATIONS · ~24 FTE · 1 APP ≠ 1 PRODUCT — SEPARATES OUTCOME FROM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5 sub-teams · 2 Sr. Manager vacancies [KB S.23 / S.2]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Source: AS-IS deliverable · 2026-04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Treating each application as its own product would split ~24 FTE across 17 apps (~1.4 FTE each). Unsustainable. gives us a way to keep one customer-facing outcome (M2C) while organising delivery around a small number of product clusters.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CONSTRAINT — WHAT WE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~24 FTE in CS Apps across 5 sub-teams [KB AS-IS S.2 /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2 Sr. Manager vacancies (CRM &amp; CC Ops · SAP Architecture)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17 distinct CS applications in scope (per landscape table)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Heterogeneous maturity across sub-teams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Smart Metering = 100% vendor-delivered (knowledge risk) [KB S.23]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PRINCIPLE — FROM AS-IS TO-BE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AS-IS: organised by application silo · not by Value Stream [KB S.42]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TO-BE: "organising around products with clear ownership and alignment to business OKRs" [KB S.42]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≠ application — product = a cluster of capability serving an outcome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⇒ map 17 apps → 5 product clusters · plus 1 OVS that wraps them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Source slides: AS-IS deliverable Slides 2, 23, 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Operational Value Stream (OVS) = the business flow customers experience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Development Value Stream (DVS) = the engineering pipeline that builds 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This separation lets us keep ONE OVS owner (Kumar) AND tight DVS focus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Managers belong to DVS · OVS owner orchestrates across DVS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Consistent with the value-stream framing already used in NextGen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Reframe = same headcount · clearer ownership · less product fragmentation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WHAT CHANGES vs. v1 (3 VS proposal)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v1: 3 Value Streams (M2C-SL · M2C-RO · CCC) treated as a flat list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v2: 1 OVS (Meter-to-Cash) + 5 DVS — explicit layering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and Collect now distinct DVS (different SLAs · skills · vendors)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 &amp; Enablers explicit as Shared Service (no overhead PM)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Customer Interaction consolidates CRM + IVR + Genesys + Medallia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Net: same FTE base · 5 product clusters instead of 17 apps · OVS owns the outcome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VALUE STREAM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ONE OPERATIONAL VS WRAPS FIVE DEVELOPMENT VS — OUTCOME LAYER + DELIVERY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OVS owner · Kumar Jaladanki · 5 DVS Product Managers (NEW)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Operational + Development VS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Operational Value Stream = how the business delivers value to the customer (Meter-to-Cash). Development Value Streams = how IT builds and evolves the digital products that enable that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M2C — Meter-to-Cash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Stages: METER → BILL → COLLECT → SERVE (+ PLATFORM transversal)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Customer-facing · regulated · revenue-bearing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Owner: Director CS Apps (Kumar Jaladanki)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Forum: monthly cross-DVS prioritisation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DEVELOPMENT VALUE STREAMS 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DVS 1 — Meter Data &amp; Devices (≈4–5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2 — Billing &amp; Invoicing (≈5–6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3 — Collections, FICA &amp; Tax (≈3–4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4 — Customer Interaction (≈4–5 FTE)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5 — Platform &amp; Enablers (Shared Service, ≈4–5 FTE)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FTE figures = inference based on ~24 FTE total · to validate with Kumar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MAPPING — 17 APPS → 5 DVS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→ Smart Metering · MDM · IS-U Device · Group 8760 (EDI)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→ SAP ECC (FI/SD) · Streamserve/OpenText · Address Validation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→ SAP FICA · SOVOS Taxware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→ SAP CRM · Genesys · Nuance IVR · Medallia · PureConnect (legacy)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Platform→ Basis · Gold Client · Enable Now · Blue Prism · TOSCA · 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Same 17 apps · grouped by capability · 1 PM per DVS (4 PMs · Platform = enabling team)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THIS WORKS WITHIN HEADCOUNT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4 dedicated Product Managers (one per outcome-bearing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 &amp; Enablers run as enabling team — no extra PM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~4–5 FTE per DVS = real squad size · feasible with current headcount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OVS owner (Kumar) = existing role · no new layer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extension model (Option A) preserved per DVS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Validates against AS-IS constraint: 5 sub-teams · 24 FTE · 2 vacancies [KB S.23]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179" y="99997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INTAKE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79" y="513287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CUSTOMER SERVICES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77295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CUSTOMER SERVICES APPS · Kumar Jaladanki · 1 OVS (Meter-to-Cash) + 5 DVS — Meter · Bill · Collect · CX ·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OPCO call centers (UIL · CMP · NY) — escalations and trends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Marketing &amp; Communications — campaign and digital channel demand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pt-BR" sz="950" dirty="0" err="1">
                <a:solidFill>
                  <a:srgbClr val="2C3E50"/>
                </a:solidFill>
                <a:latin typeface="Arial"/>
              </a:rPr>
              <a:t>S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mart Metering program — CT · ME · NY rollout drivers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Regulatory affairs — rate cases · tariff changes · tax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64427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1587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CHANNELS BY TYPE — how it arrives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027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ONE Jira request type per DVS (Meter · Bill · Collect · CX ·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Mandatory fields: VS · type · size · CoS · OPCO · sponsor · Pain Score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restricted to CCC / Smart Metering INCIDENTS only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Email · Teams · Word — DECOMMISSIONED for new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CLASSIFICATION — branch-specific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Run / Grow / Transform — labeled at intake (default ~50 / 35 / 15 %)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Class of Service — Standard · Expedite (customer-impact) · Fixed-date · Intangible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Customer impact tier P1–P4 — customer-facing severity drives Expedite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Regulatory tariff items always Fixed-date with rate-case calendar lock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Smart Metering CT / ME mandates — pre-classified as Fixed-date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4427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1587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PRIORITIZATION — Pain Score weighting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Pain Score H(x) = (BV·w₁ + UX·w₂ + Safety·w₃) / Effort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CS weighting — UX heavy: w₁=0.35 · w₂=0.40 · w₃=0.25 [proposal]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Backlog ranked monthly at Gate 2 by the VS Product Manager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Cross-DVS conflicts (e.g. CX ↔ Meter) resolved at the Meter-to-Cash OVS Forum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Capacity reserved 10–15 % per quarter for Intangible (tech debt)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OPERATIONAL VALUE STREAM (OVS)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METER-TO-CASH — END-TO-END BUSINESS OUTCOME EVERY OPCO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OVS owned cross-DVS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OVS = how the business delivers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End-to-end flow from meter read → invoice → cash collection → customer interaction across 7 OPCOs, with regulatory compliance per state PUC (CT · ME · NY).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STAGES OF THE OVS (M2C)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— devices · data acquisition · MDM · regulatory reads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— invoice generation · pricing · formatting · address validity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— payments · FICA · dunning · tax compliance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— customer interaction · CRM · IVR · feedback · self-service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 — Basis · data mgmt · RPA · test · ALM (transversal enabler)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IT IS THE OPERATIONAL 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Customer-facing flow that defines revenue and CSAT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SLAs are external (regulatory rate cases · billing windows · ANI containment)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Failure in any stage = customer + revenue + regulatory triple hit [KB: AS-IS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Anchored on SAP (Billing · FICA · CRM · Metering) + supporting stack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Already labelled as the M2C value chain in the AS-IS deliverable [S.23]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the flow customers see; DVS = the engineering pipelines that build &amp; evolve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 GOVERNANCE (cross-DVS)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OVS Owner — Kumar Jaladanki (Director CS Apps)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Lead pairing — Heather LaJoie (CS Products) for outcome alignment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M2C Forum — monthly cross-DVS prioritisation and conflict resolution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Architecture coherence — Sr. Manager SAP Architecture (vacancy → fill)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Flow metrics — lead time, throughput, customer-impact P1–P4 (per DVS)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Forum participants: 5 DVS Product Managers + Architecture + CS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OVS-LEVEL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S/4 HANA migration — multi-year program touching all 7 OPCOs [KB AS-IS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PUC compliance per state — CT PURA · ME PUC · NY PSC rate cases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Smart-meter rollout mandates — CT · ME · NY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concentration — Smart Metering 100% vendor-delivered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OPCO-specific demand — daily multi-OPCO contention [KB S.23]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business outcome layer · DVS slides 6–10 detail the 5 product clusters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 DATA &amp; DEVICES — CAPTURE EVERY READ ACCURATELY · ZERO DATA LOSS TO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(Smart Metering · Iram Chowdhury Champion)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50 / 30 / 20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Acquire meter reads from devices, manage device lifecycle, and feed billing on time.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platform (AMI head-end)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Meter Data Management (MDM)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IS-U Device Management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Group 8760 (EDI) — device events / B2B exchanges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program (CT · ME · NY rollout)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Operations exceptions and escalations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drivers (CT PURA · ME PUC · NY PSC mandates)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/ Iram Chowdhury (Champion)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Smart Metering program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4–5 FTE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[GAP] Smart Metering = 100% vendor-delivered → owner needs explicit KT clauses [KB S.23]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vendor (stable team — Option A model)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Itron managed services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partner for IS-U Device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EDI integration partner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BILLING &amp; INVOICING — RUN THE BILL ON TIME · EVERY DAY · EVERY OPCO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(Sr. Manager Billing, Device &amp; Retail)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65 / 25 / 10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Generate accurate invoices for every customer of the 7 OPCOs on a hard daily cadence. Format, validate addresses and deliver via every required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ECC (FI/SD modules — back-office billing)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Streamserve / OpenText (invoice formatting · outbound notifications)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Address Validation (Precisely · Pitney Bowes · CASS/NCOA)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Print &amp; e-delivery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BRS — small/medium business demand (price changes · tariff types · dunning rules)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PMO — capex projects (S/4 HANA migration · CRM upgrades)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billing-run incidents (production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affairs — PUC rate-case calendar 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billing rules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each OPCO billing operations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5–6 FTE (highest run-load)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[INFERENCE] FTE skewed higher: every billing day is a hard deadline [KB S.23]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Accenture (large projects + incident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execution muscle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OpenText / Streamserve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Precisely (Pitney Bowes)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COLLECTIONS · FICA · TAX — CONVERT INVOICES INTO CASH · COMPLY AT LINE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Ivelisse Velazquez (Manager FICA &amp; Collection)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60 / 30 / 10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Process payments, run collections and dunning, apply tax compliance accurately and on time. Reduce DSO and protect against audit/regulatory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FICA (financial accounting · contract accounting)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SOVOS Taxware (indirect tax · sales/use · returns)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Payment processing interfaces (banks · lockbox · 3rd-party trading partners)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Dunning &amp; collections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Tax department — jurisdiction tables · content updates · audit support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 / Billing Ops — collections KPI shifts · DSO targets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— tariff content updates per state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payment processing / tax run incidents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Ivelisse Velazquez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FICA / Tax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Finance/Tax dept liaison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3–4 FTE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"The Cash of M2C" — invoicing → payment → collections → dunning across 7 OPCOs [KB S.23]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SOVOS Taxware (content updates · cloud)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Accenture (FICA support ·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custom development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Banking integration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CUSTOMER INTERACTION — UNIFY CRM · CONTACT CENTER · DIGITAL ·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Sr. Manager CRM &amp; Contact Center Ops (vacancy → fill) [KB S.23]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45 / 35 / 20 [estimate]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Every customer interaction lands in a single record with a clear next step. Improve IVR containment, reduce AHT, raise CSAT/NPS.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CRM (front-office · case · order capture)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Genesys (Cloud / Engage — Infosys managed)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Nuance IVR / CTI (speech IVR · NLU)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(formerly VHT — callback · feedback · CSAT)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PureConnect / PureEngage → Now Infosys (legacy CC) [phased out]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 Operations (Heather LaJoie · CS Products)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Marketing &amp; Communications — campaign / digital channel demand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 call centers (UIL · CMP · NY) — escalations and trends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vacancy (CRM &amp; Contact Center Ops)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CX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Solution architect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4–5 FTE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[GAP] confirm sub-team lead post-vacancy fill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Lemur-Salesforce (CRM delivery)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Infosys (Genesys managed services)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HCL-Nuance (IVR vendor)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5 / 5 · SHARED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PLATFORM &amp; ENABLERS — KEEP THE FACTORY RUNNING FOR EVERY OTHER DVS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Naggi Reddy (SAP Basis) + Sr. Manager SAP Architecture (vacancy)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· 70 / 25 / 5 [estimate · shared svc]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Provide the technical platform, data management, automation, testing and ALM tooling that every other DVS depends on. Without it, no bill runs.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Basis (landscape · transports · security · performance)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Gold Client (selective non-prod data copy · masking)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Enable Now (formerly WPB — training &amp; in-app guidance)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Blue Prism (RPA for back-office CS processes)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Tricentis TOSCA (test automation)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Jira (demand · backlog · agile work mgmt)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Other 4 DVS — platform requests · environment refresh · test cycles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Release management — release readiness · regression coverage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Security / compliance — vault · access · audit trail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Process owners — RPA 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Treated as Shared Service · capacity reserved per quarter for each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Platform Lead — Naggi Reddy (SAP Basis)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Architecture — Sr. Manager SAP Architecture (vacancy → fill) [KB S.23]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RPA / Test / ALM SMEs (matrixed across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No dedicated Product Manager — managed as enabling team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≈ 4–5 FTE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[INFERENCE] Treated as enabling team, not a product DVS — funded transversally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Tricentis (test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Blue Prism vendor + Automation CoE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Atlassian Jira admins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partner for Basis/Gold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Cross-cuts every DVS · no DVS can deliver in isolation from this layer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BAIN 30 ELEMENTS OF VALUE  ·  HEATHER'S METRICS OVERLAY (CS PRODUCTS · SESSION INPUT)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097280" cy="502920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SOCIAL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005840"/>
            <a:ext cx="6035040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005840"/>
            <a:ext cx="60350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Self-transcendence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097280" cy="502920"/>
          </a:xfrm>
          <a:prstGeom prst="rect">
            <a:avLst/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0972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LIFE CHANGING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60020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60020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Provides hope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6118" y="160020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6118" y="160020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Self-actualization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97756" y="160020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97756" y="160020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Motivation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9395" y="160020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9395" y="160020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Heirloom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1033" y="160020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2C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1033" y="160020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Affiliation / belonging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03120"/>
            <a:ext cx="1097280" cy="896112"/>
          </a:xfrm>
          <a:prstGeom prst="rect">
            <a:avLst/>
          </a:prstGeom>
          <a:solidFill>
            <a:srgbClr val="5B7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103120"/>
            <a:ext cx="1097280" cy="8961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EMOTIONAL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219456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219456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Reduces anxiety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76118" y="219456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5B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76118" y="219456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Rewards 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97756" y="219456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5B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97756" y="219456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Nostalgia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9395" y="219456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5B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9395" y="219456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Design / aesthetics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1033" y="2194560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5B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1033" y="2194560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Badge value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2587752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587752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Wellness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76118" y="2587752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6118" y="2587752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Therapeutic value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97756" y="2587752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5B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97756" y="2587752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Fun / entertainment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19395" y="2587752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5B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9395" y="2587752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Attractiveness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1033" y="2587752"/>
            <a:ext cx="114848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5B7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1033" y="2587752"/>
            <a:ext cx="114848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Provides access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090672"/>
            <a:ext cx="1097280" cy="896112"/>
          </a:xfrm>
          <a:prstGeom prst="rect">
            <a:avLst/>
          </a:prstGeom>
          <a:solidFill>
            <a:srgbClr val="A5C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090672"/>
            <a:ext cx="1097280" cy="8961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FUNCTIONAL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4480" y="3182112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3182112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Saves time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27078" y="3182112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7078" y="3182112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Simplifies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9677" y="3182112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A5C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99677" y="3182112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Makes money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72276" y="3182112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72276" y="3182112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Reduces risk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44875" y="3182112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A5C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44875" y="3182112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Organizes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17474" y="3182112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17474" y="3182112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Integrates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90073" y="3182112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90073" y="3182112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Connects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554480" y="3575304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54480" y="3575304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Reduces effort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27078" y="3575304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27078" y="3575304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Avoids hassles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99677" y="3575304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A5C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9677" y="3575304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Reduces cost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72276" y="3575304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72276" y="3575304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Quality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44875" y="3575304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A5C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44875" y="3575304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Variety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17474" y="3575304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A5C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17474" y="3575304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00" b="0">
                <a:solidFill>
                  <a:srgbClr val="2C3E50"/>
                </a:solidFill>
                <a:latin typeface="Arial"/>
              </a:rPr>
              <a:t>Sensory appeal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790073" y="3575304"/>
            <a:ext cx="799446" cy="320040"/>
          </a:xfrm>
          <a:prstGeom prst="roundRect">
            <a:avLst>
              <a:gd name="adj" fmla="val 30000"/>
            </a:avLst>
          </a:prstGeom>
          <a:solidFill>
            <a:srgbClr val="FFC43D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90073" y="3575304"/>
            <a:ext cx="799446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750" b="1">
                <a:solidFill>
                  <a:srgbClr val="0F1B4F"/>
                </a:solidFill>
                <a:latin typeface="Arial"/>
              </a:rPr>
              <a:t>Informs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4123944"/>
            <a:ext cx="72237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1">
                <a:solidFill>
                  <a:srgbClr val="95A5A6"/>
                </a:solidFill>
                <a:latin typeface="Arial"/>
              </a:rPr>
              <a:t>Source: Bain &amp; Company / HBR — "The Elements of Value" (Sept 2016)  ·  Highlighted (▮ mustard) = elements aligned to Heather's stated metrics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26679" y="960120"/>
            <a:ext cx="4096512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708392" y="914400"/>
            <a:ext cx="4133088" cy="50292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18119" y="1005840"/>
            <a:ext cx="391363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HEATHER'S METRICS — SESSION INPUT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0" y="1508760"/>
            <a:ext cx="38221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 i="1">
                <a:solidFill>
                  <a:srgbClr val="2C3E50"/>
                </a:solidFill>
                <a:latin typeface="Arial"/>
              </a:rPr>
              <a:t>Heather LaJoie · Director Customer Service Products  ·  flagged as her own ask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1783080"/>
            <a:ext cx="38221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CUSTOMER OUTCOME METRICS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09559" y="2011680"/>
            <a:ext cx="3730752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NPS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CSAT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Customer satisfaction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Reliability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63840" y="2880360"/>
            <a:ext cx="38221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LISTENING &amp; FEEDBACK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09559" y="3108960"/>
            <a:ext cx="3730752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Open channels to listen end-users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Short feedback loops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Feedback loops to improve the solutions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63840" y="3794760"/>
            <a:ext cx="38221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DELIVERY MODEL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09559" y="4023360"/>
            <a:ext cx="3730752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Customer-centric · customer-service first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Customer approach service — deliver features → outcomes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Outcome &gt; Outputs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Effectiveness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4892040"/>
            <a:ext cx="38221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SPEED &amp; FLOW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09559" y="5120640"/>
            <a:ext cx="3730752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Ideation-to-delivery is too long → shorten the cycle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Reduce handoff delays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63840" y="5623560"/>
            <a:ext cx="382219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CONSTRAINT TO REMOVE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09559" y="5852160"/>
            <a:ext cx="3730752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 Siloed demand intake — no global view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63840" y="5852160"/>
            <a:ext cx="3822192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1">
                <a:solidFill>
                  <a:srgbClr val="95A5A6"/>
                </a:solidFill>
                <a:latin typeface="Arial"/>
              </a:rPr>
              <a:t>How to use: every DVS backlog item should map to ≥ 1 Bain element. Heather's metrics become the OVS-level KPI panel for Meter-to-Cash.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1068</Words>
  <Application>Microsoft Macintosh PowerPoint</Application>
  <PresentationFormat>Widescreen</PresentationFormat>
  <Paragraphs>134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PROPOSED VALUE STREAMS – CUSTOMER SERVICES April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1</cp:revision>
  <dcterms:created xsi:type="dcterms:W3CDTF">2026-04-28T18:35:46Z</dcterms:created>
  <dcterms:modified xsi:type="dcterms:W3CDTF">2026-04-28T18:55:55Z</dcterms:modified>
</cp:coreProperties>
</file>