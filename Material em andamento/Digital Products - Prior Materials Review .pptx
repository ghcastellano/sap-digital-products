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147483614" r:id="rId2"/>
    <p:sldId id="258" r:id="rId3"/>
    <p:sldId id="2147483615" r:id="rId4"/>
    <p:sldId id="2147483616" r:id="rId9"/>
    <p:sldId id="2147483617" r:id="rId8"/>
    <p:sldId id="2147483618" r:id="rId7"/>
    <p:sldId id="2147483619" r:id="rId6"/>
    <p:sldId id="2147483620" r:id="rId5"/>
    <p:sldId id="2147483621" r:id="rId15"/>
    <p:sldId id="2147483622" r:id="rId16"/>
    <p:sldId id="2147483623" r:id="rId17"/>
    <p:sldId id="2147483624" r:id="rId18"/>
    <p:sldId id="2147483625" r:id="rId19"/>
    <p:sldId id="214748362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50"/>
    <p:restoredTop sz="94689"/>
  </p:normalViewPr>
  <p:slideViewPr>
    <p:cSldViewPr snapToGrid="0" snapToObjects="1">
      <p:cViewPr varScale="1">
        <p:scale>
          <a:sx n="147" d="100"/>
          <a:sy n="147" d="100"/>
        </p:scale>
        <p:origin x="2760" y="-18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E7D4EC-9B40-E340-BEA7-010E000B6DB3}" type="datetimeFigureOut">
              <a:rPr lang="pt-BR" smtClean="0"/>
              <a:t>03/04/2026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1EE1FB-C71A-F748-BC6C-7000C50F6B65}" type="slidenum">
              <a:rPr lang="pt-BR" smtClean="0"/>
              <a:t>‹nº›</a:t>
            </a:fld>
            <a:endParaRPr lang="pt-BR"/>
          </a:p>
        </p:txBody>
      </p:sp>
    </p:spTree>
    <p:extLst>
      <p:ext uri="{BB962C8B-B14F-4D97-AF65-F5344CB8AC3E}">
        <p14:creationId xmlns:p14="http://schemas.microsoft.com/office/powerpoint/2010/main" val="2609839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FE240-D894-06FF-4AAF-AB208D6B7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CC2DB-1B36-960B-DB38-562D0304CF80}"/>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7973A28B-AE4F-DC6C-23EF-50B76C69D15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1EBD2C9-9746-87ED-205C-C0BC35E135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330459-04A6-496E-99F7-EB9EEED2D26C}"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01988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7_Solo el título">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B95E978-8472-CA69-B0B6-9C431E4CD996}"/>
              </a:ext>
            </a:extLst>
          </p:cNvPr>
          <p:cNvPicPr>
            <a:picLocks noChangeAspect="1"/>
          </p:cNvPicPr>
          <p:nvPr userDrawn="1"/>
        </p:nvPicPr>
        <p:blipFill>
          <a:blip r:embed="rId2">
            <a:alphaModFix amt="20000"/>
          </a:blip>
          <a:stretch>
            <a:fillRect/>
          </a:stretch>
        </p:blipFill>
        <p:spPr>
          <a:xfrm>
            <a:off x="-12131" y="0"/>
            <a:ext cx="12204131" cy="6858001"/>
          </a:xfrm>
          <a:prstGeom prst="rect">
            <a:avLst/>
          </a:prstGeom>
        </p:spPr>
      </p:pic>
      <p:pic>
        <p:nvPicPr>
          <p:cNvPr id="4" name="Imagen 3">
            <a:extLst>
              <a:ext uri="{FF2B5EF4-FFF2-40B4-BE49-F238E27FC236}">
                <a16:creationId xmlns:a16="http://schemas.microsoft.com/office/drawing/2014/main" id="{0F027B3D-B447-4970-1AAD-550A0D24CD62}"/>
              </a:ext>
            </a:extLst>
          </p:cNvPr>
          <p:cNvPicPr>
            <a:picLocks noChangeAspect="1"/>
          </p:cNvPicPr>
          <p:nvPr userDrawn="1"/>
        </p:nvPicPr>
        <p:blipFill>
          <a:blip r:embed="rId3"/>
          <a:stretch>
            <a:fillRect/>
          </a:stretch>
        </p:blipFill>
        <p:spPr>
          <a:xfrm>
            <a:off x="0" y="7347940"/>
            <a:ext cx="6858000" cy="697149"/>
          </a:xfrm>
          <a:prstGeom prst="rect">
            <a:avLst/>
          </a:prstGeom>
        </p:spPr>
      </p:pic>
    </p:spTree>
    <p:extLst>
      <p:ext uri="{BB962C8B-B14F-4D97-AF65-F5344CB8AC3E}">
        <p14:creationId xmlns:p14="http://schemas.microsoft.com/office/powerpoint/2010/main" val="21169686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WOW%20-%20New%20Ways%20of%20Working%20-%20P%26S%20Lean%20Operating%20Model%2003.10.2026%20v1.2.pptx" TargetMode="External"/><Relationship Id="rId3"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00%5D%20Project%20Management%20Playbook%20-%20P%26S%20Ways%20of%20Working%2010.28.25%20v.1.0-2.pptx" TargetMode="External"/><Relationship Id="rId4"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00%5D%20Product%20Discovery%20Playbook%20-%20P%26S%20Ways%20of%20Working%2002.03.26%20v.1.3%20%2BFIGMA.pptx" TargetMode="External"/><Relationship Id="rId5"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12%5D%20Digital%20CoE%20Operating%20Model%20-%20Playbook%20-%2001.05.2026%20V.2.5.%20FINAL%20pptx.pptx" TargetMode="External"/><Relationship Id="rId6"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Agile%20Management%20Model%20_%20Proposal%20Avangrid%20Architecture%20V.3.1%2018.01.2024%203.pptx" TargetMode="External"/><Relationship Id="rId7"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extGen_DTO_Deliverable1%20-%20Final.pptx" TargetMode="External"/><Relationship Id="rId8"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BRP_Q2_2026_P%26S%20Networks%20IT%20-%20New%20Ways%20of%20Working%20-%20v1.4.4%2003.09.2026.pptx" TargetMode="External"/><Relationship Id="rId9"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17%5D%20Agility%20Playbook%20-%20Digital%20Center%20of%20Excellence%2006.18.2025%20V.1.7.pptx"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WOW%20-%20New%20Ways%20of%20Working%20-%20P%26S%20Lean%20Operating%20Model%2003.10.2026%20v1.2.pptx" TargetMode="External"/><Relationship Id="rId3"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00%5D%20Project%20Management%20Playbook%20-%20P%26S%20Ways%20of%20Working%2010.28.25%20v.1.0-2.pptx" TargetMode="External"/><Relationship Id="rId4"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00%5D%20Product%20Discovery%20Playbook%20-%20P%26S%20Ways%20of%20Working%2002.03.26%20v.1.3%20%2BFIGMA.pptx" TargetMode="External"/><Relationship Id="rId5"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12%5D%20Digital%20CoE%20Operating%20Model%20-%20Playbook%20-%2001.05.2026%20V.2.5.%20FINAL%20pptx.pptx" TargetMode="External"/><Relationship Id="rId6"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extGen_DTO_Deliverable1%20-%20Final.pptx" TargetMode="External"/><Relationship Id="rId7"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17%5D%20Agility%20Playbook%20-%20Digital%20Center%20of%20Excellence%2006.18.2025%20V.1.7.pptx" TargetMode="External"/><Relationship Id="rId8"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TTDATA-Digital%20Strategy%20-%20NextGen%20Produc%20Ops%20Org%20Design%20SEAL-SIX%20Model%20v.1.7%2006.29.pptx" TargetMode="External"/><Relationship Id="rId9"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Agile%20Management%20Model%20_%20Proposal%20Avangrid%20Architecture%20V.3.1%2018.01.2024%203.pptx"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00%5D%20Project%20Management%20Playbook%20-%20P%26S%20Ways%20of%20Working%2010.28.25%20v.1.0-2.pptx" TargetMode="External"/><Relationship Id="rId3"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CX%5D%20JIRA%20Agile%20Management%20Playbook%20-%20Center%20of%20Excellence%2025.03.2024%20V.1.0.pdf" TargetMode="External"/><Relationship Id="rId4"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33%5D%20NextGen%202.0%20-%20Jira%20Management%20User%20Guide%20for%20CX%20Digitall%20CoE%2027.06.2024.pptx" TargetMode="External"/><Relationship Id="rId5"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12%5D%20Digital%20CoE%20Operating%20Model%20-%20Playbook%20-%2001.05.2026%20V.2.5.%20FINAL%20pptx.pptx" TargetMode="External"/><Relationship Id="rId6"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TPO%20FLOW%20Project%20-%20JIRA%20Training%20Guide%2005-13-2025.pptx" TargetMode="External"/><Relationship Id="rId7"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extGen_DTO_Deliverable1%20-%20Final.pptx" TargetMode="External"/><Relationship Id="rId8"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WOW%20-%20New%20Ways%20of%20Working%20-%20P%26S%20Lean%20Operating%20Model%2003.10.2026%20v1.2.pptx" TargetMode="External"/><Relationship Id="rId9"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Agile%20Management%20Model%20_%20Proposal%20Avangrid%20Architecture%20V.3.1%2018.01.2024%203.pptx"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WOW%20-%20New%20Ways%20of%20Working%20-%20P%26S%20Lean%20Operating%20Model%2003.10.2026%20v1.2.pptx" TargetMode="External"/><Relationship Id="rId3"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00%5D%20Product%20Discovery%20Playbook%20-%20P%26S%20Ways%20of%20Working%2002.03.26%20v.1.3%20%2BFIGMA.pptx" TargetMode="External"/><Relationship Id="rId4"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00%5D%20Project%20Management%20Playbook%20-%20P%26S%20Ways%20of%20Working%2010.28.25%20v.1.0-2.pptx" TargetMode="External"/><Relationship Id="rId5"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12%5D%20Digital%20CoE%20Operating%20Model%20-%20Playbook%20-%2001.05.2026%20V.2.5.%20FINAL%20pptx.pptx" TargetMode="External"/><Relationship Id="rId6"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Project_Book_Avangrid_Template%20v1.0.pptx" TargetMode="External"/><Relationship Id="rId7"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Agile%20Management%20Model%20_%20Proposal%20Avangrid%20Architecture%20V.3.1%2018.01.2024%203.pptx" TargetMode="External"/><Relationship Id="rId8"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extGen_DTO_Deliverable1%20-%20Final.pptx" TargetMode="External"/><Relationship Id="rId9"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TTDATA-Digital%20Strategy%20-%20NextGen%20Produc%20Ops%20Org%20Design%20SEAL-SIX%20Model%20v.1.7%2006.29.pptx" TargetMode="External"/><Relationship Id="rId10"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17%5D%20Agility%20Playbook%20-%20Digital%20Center%20of%20Excellence%2006.18.2025%20V.1.7.pptx"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00%5D%20Product%20Discovery%20Playbook%20-%20P%26S%20Ways%20of%20Working%2002.03.26%20v.1.3%20%2BFIGMA.pptx" TargetMode="External"/><Relationship Id="rId3"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00%5D%20Project%20Management%20Playbook%20-%20P%26S%20Ways%20of%20Working%2010.28.25%20v.1.0-2.pptx" TargetMode="External"/><Relationship Id="rId4"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17%5D%20Agility%20Playbook%20-%20Digital%20Center%20of%20Excellence%2006.18.2025%20V.1.7.pptx" TargetMode="External"/><Relationship Id="rId5"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12%5D%20Digital%20CoE%20Operating%20Model%20-%20Playbook%20-%2001.05.2026%20V.2.5.%20FINAL%20pptx.pptx" TargetMode="External"/><Relationship Id="rId6"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5BCX%5D%20JIRA%20Agile%20Management%20Playbook%20-%20Center%20of%20Excellence%2025.03.2024%20V.1.0.pdf" TargetMode="External"/><Relationship Id="rId7"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extGen_DTO_Deliverable1%20-%20Final.pptx" TargetMode="External"/><Relationship Id="rId8" Type="http://schemas.openxmlformats.org/officeDocument/2006/relationships/hyperlink" Target="https://everisgroup.sharepoint.com/sites/DSAUSA/Documentos%20compartidos/Forms/AllItems.aspx?id=%2Fsites%2FDSAUSA%2FDocumentos%20compartidos%2FKnowledge%20Management%2F02.%20Projects%2F03.%20Talent%20%26%20Organizational%20Transformation%2FAvangrid%20-%20Digital%20Products%20-%20Project%20Management%20Area%2FExisting%20Assets%20of%20other%20Projects%20%28Renewables%2C%20Digital%20CoE%2C%20Infra%20and%20P%26S%20-%20P%26T%29%2FnWOW%20-%20New%20Ways%20of%20Working%20-%20P%26S%20Lean%20Operating%20Model%2003.10.2026%20v1.2.pptx"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7900D-5BF5-01F1-6131-EF760608E7D3}"/>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A8310E9-F0DB-9E85-4BCF-91F69CE15EDE}"/>
              </a:ext>
            </a:extLst>
          </p:cNvPr>
          <p:cNvSpPr/>
          <p:nvPr/>
        </p:nvSpPr>
        <p:spPr>
          <a:xfrm>
            <a:off x="838307" y="2008370"/>
            <a:ext cx="9590483" cy="1420630"/>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1" u="none" strike="noStrike" kern="1200" cap="none" spc="0" normalizeH="0" baseline="0" noProof="0" dirty="0">
                <a:ln>
                  <a:noFill/>
                </a:ln>
                <a:solidFill>
                  <a:srgbClr val="00A443"/>
                </a:solidFill>
                <a:effectLst/>
                <a:uLnTx/>
                <a:uFillTx/>
                <a:latin typeface="Georgia Pro" panose="02040502050405020303" pitchFamily="18" charset="0"/>
                <a:ea typeface="Noto Serif" panose="02020502060505020204" pitchFamily="18" charset="0"/>
                <a:cs typeface="Noto Serif" panose="02020502060505020204" pitchFamily="18" charset="0"/>
              </a:rPr>
              <a:t>Digital Products</a:t>
            </a:r>
            <a:endParaRPr kumimoji="0" lang="en-US" sz="4800" b="1" i="1" u="none" strike="noStrike" kern="1200" cap="none" spc="0" normalizeH="0" baseline="0" noProof="0" dirty="0">
              <a:ln>
                <a:noFill/>
              </a:ln>
              <a:solidFill>
                <a:srgbClr val="00A443"/>
              </a:solidFill>
              <a:effectLst/>
              <a:uLnTx/>
              <a:uFillTx/>
              <a:latin typeface="Georgia Pro" panose="02040502050405020303" pitchFamily="18" charset="0"/>
              <a:ea typeface="Noto Serif" panose="02020502060505020204" pitchFamily="18" charset="0"/>
              <a:cs typeface="Noto Serif" panose="02020502060505020204" pitchFamily="18" charset="0"/>
            </a:endParaRPr>
          </a:p>
          <a:p>
            <a:pPr>
              <a:defRPr sz="3600" b="1">
                <a:solidFill>
                  <a:srgbClr val="FFFFFF"/>
                </a:solidFill>
                <a:latin typeface="Arial"/>
              </a:defRPr>
            </a:pPr>
            <a:r>
              <a:rPr lang="pt-BR" sz="3600" b="1" dirty="0">
                <a:solidFill>
                  <a:srgbClr val="00A443"/>
                </a:solidFill>
              </a:rPr>
              <a:t>Review </a:t>
            </a:r>
            <a:r>
              <a:rPr lang="pt-BR" sz="3600" b="1" dirty="0" err="1">
                <a:solidFill>
                  <a:srgbClr val="00A443"/>
                </a:solidFill>
              </a:rPr>
              <a:t>of</a:t>
            </a:r>
            <a:r>
              <a:rPr lang="pt-BR" sz="3600" b="1" dirty="0">
                <a:solidFill>
                  <a:srgbClr val="00A443"/>
                </a:solidFill>
              </a:rPr>
              <a:t> </a:t>
            </a:r>
            <a:r>
              <a:rPr lang="pt-BR" sz="3600" b="1" dirty="0" err="1">
                <a:solidFill>
                  <a:srgbClr val="00A443"/>
                </a:solidFill>
              </a:rPr>
              <a:t>existing</a:t>
            </a:r>
            <a:r>
              <a:rPr lang="pt-BR" sz="3600" b="1" dirty="0">
                <a:solidFill>
                  <a:srgbClr val="00A443"/>
                </a:solidFill>
              </a:rPr>
              <a:t> </a:t>
            </a:r>
            <a:r>
              <a:rPr lang="pt-BR" sz="3600" b="1" dirty="0" err="1">
                <a:solidFill>
                  <a:srgbClr val="00A443"/>
                </a:solidFill>
              </a:rPr>
              <a:t>assets</a:t>
            </a:r>
            <a:endParaRPr lang="pt-BR" sz="3200" dirty="0">
              <a:solidFill>
                <a:srgbClr val="00A443"/>
              </a:solidFill>
            </a:endParaRPr>
          </a:p>
        </p:txBody>
      </p:sp>
      <p:pic>
        <p:nvPicPr>
          <p:cNvPr id="6" name="Picture 5" descr="Avangrid - Wikipedia">
            <a:extLst>
              <a:ext uri="{FF2B5EF4-FFF2-40B4-BE49-F238E27FC236}">
                <a16:creationId xmlns:a16="http://schemas.microsoft.com/office/drawing/2014/main" id="{C3E48F2A-A39E-9064-EA37-AEA9AA7A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001" y="3659594"/>
            <a:ext cx="3310865" cy="1164321"/>
          </a:xfrm>
          <a:prstGeom prst="rect">
            <a:avLst/>
          </a:prstGeom>
          <a:noFill/>
          <a:extLst>
            <a:ext uri="{909E8E84-426E-40DD-AFC4-6F175D3DCCD1}">
              <a14:hiddenFill xmlns:a14="http://schemas.microsoft.com/office/drawing/2010/main">
                <a:solidFill>
                  <a:srgbClr val="FFFFFF"/>
                </a:solidFill>
              </a14:hiddenFill>
            </a:ext>
          </a:extLst>
        </p:spPr>
      </p:pic>
      <p:sp>
        <p:nvSpPr>
          <p:cNvPr id="7" name="NTT DATA Global Logo">
            <a:extLst>
              <a:ext uri="{FF2B5EF4-FFF2-40B4-BE49-F238E27FC236}">
                <a16:creationId xmlns:a16="http://schemas.microsoft.com/office/drawing/2014/main" id="{B76E4EE3-B822-92CF-DB6A-932C43F08759}"/>
              </a:ext>
            </a:extLst>
          </p:cNvPr>
          <p:cNvSpPr/>
          <p:nvPr/>
        </p:nvSpPr>
        <p:spPr bwMode="black">
          <a:xfrm>
            <a:off x="4349288" y="4017485"/>
            <a:ext cx="2280180" cy="511079"/>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423938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1520" y="228600"/>
            <a:ext cx="10515600" cy="892552"/>
          </a:xfrm>
          <a:prstGeom prst="rect">
            <a:avLst/>
          </a:prstGeom>
          <a:noFill/>
        </p:spPr>
        <p:txBody>
          <a:bodyPr wrap="square">
            <a:spAutoFit/>
          </a:bodyPr>
          <a:lstStyle/>
          <a:p>
            <a:pPr>
              <a:defRPr sz="2000" b="1">
                <a:solidFill>
                  <a:srgbClr val="002060"/>
                </a:solidFill>
                <a:latin typeface="Arial"/>
              </a:defRPr>
            </a:pPr>
            <a:r>
              <a:rPr dirty="0">
                <a:solidFill>
                  <a:srgbClr val="00A443"/>
                </a:solidFill>
              </a:rPr>
              <a:t>Applying a traditional Product Lifecycle to a foundational component team creates structural bottlenecks — the modern approach is Platform as a Product (</a:t>
            </a:r>
            <a:r>
              <a:rPr dirty="0" err="1">
                <a:solidFill>
                  <a:srgbClr val="00A443"/>
                </a:solidFill>
              </a:rPr>
              <a:t>PaaP</a:t>
            </a:r>
            <a:r>
              <a:rPr dirty="0">
                <a:solidFill>
                  <a:srgbClr val="00A443"/>
                </a:solidFill>
              </a:rPr>
              <a:t>)</a:t>
            </a:r>
          </a:p>
          <a:p>
            <a:pPr>
              <a:defRPr sz="1200">
                <a:solidFill>
                  <a:srgbClr val="7F8C8D"/>
                </a:solidFill>
                <a:latin typeface="Arial"/>
              </a:defRPr>
            </a:pPr>
            <a:r>
              <a:rPr dirty="0"/>
              <a:t>Managing SAP </a:t>
            </a:r>
            <a:r>
              <a:rPr dirty="0" err="1"/>
              <a:t>CoE</a:t>
            </a:r>
            <a:r>
              <a:rPr dirty="0"/>
              <a:t> through a </a:t>
            </a:r>
            <a:r>
              <a:rPr dirty="0" err="1"/>
              <a:t>PaaP</a:t>
            </a:r>
            <a:r>
              <a:rPr dirty="0"/>
              <a:t> lens shifts focus from intake governance to enablement, self-service, and reducing friction for consuming teams</a:t>
            </a:r>
          </a:p>
        </p:txBody>
      </p:sp>
      <p:sp>
        <p:nvSpPr>
          <p:cNvPr id="6" name="Rectangle 5"/>
          <p:cNvSpPr/>
          <p:nvPr/>
        </p:nvSpPr>
        <p:spPr>
          <a:xfrm>
            <a:off x="731520" y="1325880"/>
            <a:ext cx="5029200" cy="4663440"/>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56398" y="1463040"/>
            <a:ext cx="3379451" cy="338554"/>
          </a:xfrm>
          <a:prstGeom prst="rect">
            <a:avLst/>
          </a:prstGeom>
          <a:noFill/>
        </p:spPr>
        <p:txBody>
          <a:bodyPr wrap="none">
            <a:spAutoFit/>
          </a:bodyPr>
          <a:lstStyle/>
          <a:p>
            <a:pPr algn="ctr">
              <a:defRPr sz="1600" b="1" i="1">
                <a:solidFill>
                  <a:srgbClr val="EF4444"/>
                </a:solidFill>
                <a:latin typeface="Arial"/>
              </a:defRPr>
            </a:pPr>
            <a:r>
              <a:rPr lang="pt-BR" dirty="0" err="1"/>
              <a:t>Our</a:t>
            </a:r>
            <a:r>
              <a:rPr lang="pt-BR" dirty="0"/>
              <a:t> </a:t>
            </a:r>
            <a:r>
              <a:rPr lang="pt-BR" dirty="0" err="1"/>
              <a:t>proposal</a:t>
            </a:r>
            <a:r>
              <a:rPr lang="pt-BR" dirty="0"/>
              <a:t> (</a:t>
            </a:r>
            <a:r>
              <a:rPr lang="pt-BR" dirty="0" err="1"/>
              <a:t>Product</a:t>
            </a:r>
            <a:r>
              <a:rPr lang="pt-BR" dirty="0"/>
              <a:t> </a:t>
            </a:r>
            <a:r>
              <a:rPr lang="pt-BR" dirty="0" err="1"/>
              <a:t>Lifecycle</a:t>
            </a:r>
            <a:r>
              <a:rPr lang="pt-BR" dirty="0"/>
              <a:t>)</a:t>
            </a:r>
            <a:endParaRPr dirty="0"/>
          </a:p>
        </p:txBody>
      </p:sp>
      <p:sp>
        <p:nvSpPr>
          <p:cNvPr id="9" name="TextBox 8"/>
          <p:cNvSpPr txBox="1"/>
          <p:nvPr/>
        </p:nvSpPr>
        <p:spPr>
          <a:xfrm>
            <a:off x="3017520" y="242316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10" name="Rectangle 9"/>
          <p:cNvSpPr/>
          <p:nvPr/>
        </p:nvSpPr>
        <p:spPr>
          <a:xfrm>
            <a:off x="1005840" y="2788920"/>
            <a:ext cx="4480560" cy="822960"/>
          </a:xfrm>
          <a:prstGeom prst="rect">
            <a:avLst/>
          </a:prstGeom>
          <a:solidFill>
            <a:srgbClr val="5C1A1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CA5A5"/>
                </a:solidFill>
                <a:latin typeface="Arial"/>
              </a:defRPr>
            </a:pPr>
            <a:r>
              <a:rPr>
                <a:solidFill>
                  <a:schemeClr val="bg1"/>
                </a:solidFill>
              </a:rPr>
              <a:t>Intake &amp; Prioritization Funnel</a:t>
            </a:r>
          </a:p>
          <a:p>
            <a:pPr algn="ctr">
              <a:defRPr sz="1000">
                <a:solidFill>
                  <a:srgbClr val="94A3B8"/>
                </a:solidFill>
                <a:latin typeface="Arial"/>
              </a:defRPr>
            </a:pPr>
            <a:r>
              <a:rPr>
                <a:solidFill>
                  <a:schemeClr val="bg1"/>
                </a:solidFill>
              </a:rPr>
              <a:t>(ROI Scoring, Jira, PPMNow Governance)</a:t>
            </a:r>
          </a:p>
        </p:txBody>
      </p:sp>
      <p:sp>
        <p:nvSpPr>
          <p:cNvPr id="11" name="TextBox 10"/>
          <p:cNvSpPr txBox="1"/>
          <p:nvPr/>
        </p:nvSpPr>
        <p:spPr>
          <a:xfrm>
            <a:off x="3017520" y="370332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12" name="Rectangle 11"/>
          <p:cNvSpPr/>
          <p:nvPr/>
        </p:nvSpPr>
        <p:spPr>
          <a:xfrm>
            <a:off x="1280160" y="4069080"/>
            <a:ext cx="3931920" cy="411480"/>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94A3B8"/>
                </a:solidFill>
                <a:latin typeface="Arial"/>
              </a:defRPr>
            </a:pPr>
            <a:r>
              <a:rPr>
                <a:solidFill>
                  <a:schemeClr val="bg1"/>
                </a:solidFill>
              </a:rPr>
              <a:t>SAP CoE (Slow Execution)</a:t>
            </a:r>
          </a:p>
        </p:txBody>
      </p:sp>
      <p:sp>
        <p:nvSpPr>
          <p:cNvPr id="13" name="TextBox 12"/>
          <p:cNvSpPr txBox="1"/>
          <p:nvPr/>
        </p:nvSpPr>
        <p:spPr>
          <a:xfrm>
            <a:off x="1005840" y="4663440"/>
            <a:ext cx="4480560" cy="697627"/>
          </a:xfrm>
          <a:prstGeom prst="rect">
            <a:avLst/>
          </a:prstGeom>
          <a:noFill/>
        </p:spPr>
        <p:txBody>
          <a:bodyPr wrap="square">
            <a:spAutoFit/>
          </a:bodyPr>
          <a:lstStyle/>
          <a:p>
            <a:pPr>
              <a:spcAft>
                <a:spcPts val="200"/>
              </a:spcAft>
              <a:defRPr sz="800">
                <a:solidFill>
                  <a:srgbClr val="FCA5A5"/>
                </a:solidFill>
                <a:latin typeface="Arial"/>
              </a:defRPr>
            </a:pPr>
            <a:r>
              <a:rPr sz="1200" dirty="0">
                <a:solidFill>
                  <a:schemeClr val="tx1">
                    <a:lumMod val="50000"/>
                    <a:lumOff val="50000"/>
                  </a:schemeClr>
                </a:solidFill>
              </a:rPr>
              <a:t>• Each </a:t>
            </a:r>
            <a:r>
              <a:rPr lang="pt-BR" sz="1200" dirty="0">
                <a:solidFill>
                  <a:schemeClr val="tx1">
                    <a:lumMod val="50000"/>
                    <a:lumOff val="50000"/>
                  </a:schemeClr>
                </a:solidFill>
              </a:rPr>
              <a:t>Area</a:t>
            </a:r>
            <a:r>
              <a:rPr sz="1200" dirty="0">
                <a:solidFill>
                  <a:schemeClr val="tx1">
                    <a:lumMod val="50000"/>
                    <a:lumOff val="50000"/>
                  </a:schemeClr>
                </a:solidFill>
              </a:rPr>
              <a:t> request goes through full funnel</a:t>
            </a:r>
          </a:p>
          <a:p>
            <a:pPr>
              <a:spcAft>
                <a:spcPts val="200"/>
              </a:spcAft>
              <a:defRPr sz="800">
                <a:solidFill>
                  <a:srgbClr val="FCA5A5"/>
                </a:solidFill>
                <a:latin typeface="Arial"/>
              </a:defRPr>
            </a:pPr>
            <a:r>
              <a:rPr sz="1200" dirty="0">
                <a:solidFill>
                  <a:schemeClr val="tx1">
                    <a:lumMod val="50000"/>
                    <a:lumOff val="50000"/>
                  </a:schemeClr>
                </a:solidFill>
              </a:rPr>
              <a:t>• SAP team is a ticket taker, not a platform</a:t>
            </a:r>
          </a:p>
          <a:p>
            <a:pPr>
              <a:spcAft>
                <a:spcPts val="200"/>
              </a:spcAft>
              <a:defRPr sz="800">
                <a:solidFill>
                  <a:srgbClr val="FCA5A5"/>
                </a:solidFill>
                <a:latin typeface="Arial"/>
              </a:defRPr>
            </a:pPr>
            <a:r>
              <a:rPr sz="1200" dirty="0">
                <a:solidFill>
                  <a:schemeClr val="tx1">
                    <a:lumMod val="50000"/>
                    <a:lumOff val="50000"/>
                  </a:schemeClr>
                </a:solidFill>
              </a:rPr>
              <a:t>• Scales linearly with headcount, not capabilities</a:t>
            </a:r>
          </a:p>
        </p:txBody>
      </p:sp>
      <p:sp>
        <p:nvSpPr>
          <p:cNvPr id="14" name="Rectangle 13"/>
          <p:cNvSpPr/>
          <p:nvPr/>
        </p:nvSpPr>
        <p:spPr>
          <a:xfrm>
            <a:off x="6217920" y="1325880"/>
            <a:ext cx="5029200" cy="4663440"/>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1463040"/>
            <a:ext cx="5029200" cy="365760"/>
          </a:xfrm>
          <a:prstGeom prst="rect">
            <a:avLst/>
          </a:prstGeom>
          <a:noFill/>
        </p:spPr>
        <p:txBody>
          <a:bodyPr wrap="none">
            <a:spAutoFit/>
          </a:bodyPr>
          <a:lstStyle/>
          <a:p>
            <a:pPr algn="ctr">
              <a:defRPr sz="1600" b="1">
                <a:solidFill>
                  <a:srgbClr val="10B981"/>
                </a:solidFill>
                <a:latin typeface="Arial"/>
              </a:defRPr>
            </a:pPr>
            <a:r>
              <a:rPr dirty="0"/>
              <a:t>Platform as a Product (</a:t>
            </a:r>
            <a:r>
              <a:rPr dirty="0" err="1"/>
              <a:t>PaaP</a:t>
            </a:r>
            <a:r>
              <a:rPr dirty="0"/>
              <a:t>)</a:t>
            </a:r>
          </a:p>
        </p:txBody>
      </p:sp>
      <p:sp>
        <p:nvSpPr>
          <p:cNvPr id="17" name="Rectangle 16"/>
          <p:cNvSpPr/>
          <p:nvPr/>
        </p:nvSpPr>
        <p:spPr>
          <a:xfrm>
            <a:off x="6446520"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a:solidFill>
                  <a:schemeClr val="bg1"/>
                </a:solidFill>
              </a:rPr>
              <a:t>BRS</a:t>
            </a:r>
            <a:endParaRPr>
              <a:solidFill>
                <a:schemeClr val="bg1"/>
              </a:solidFill>
            </a:endParaRPr>
          </a:p>
        </p:txBody>
      </p:sp>
      <p:sp>
        <p:nvSpPr>
          <p:cNvPr id="18" name="Rectangle 17"/>
          <p:cNvSpPr/>
          <p:nvPr/>
        </p:nvSpPr>
        <p:spPr>
          <a:xfrm>
            <a:off x="8001000"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a:solidFill>
                  <a:schemeClr val="bg1"/>
                </a:solidFill>
              </a:rPr>
              <a:t>CX &amp; Digital COE</a:t>
            </a:r>
            <a:endParaRPr>
              <a:solidFill>
                <a:schemeClr val="bg1"/>
              </a:solidFill>
            </a:endParaRPr>
          </a:p>
        </p:txBody>
      </p:sp>
      <p:sp>
        <p:nvSpPr>
          <p:cNvPr id="19" name="Rectangle 18"/>
          <p:cNvSpPr/>
          <p:nvPr/>
        </p:nvSpPr>
        <p:spPr>
          <a:xfrm>
            <a:off x="9555480"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err="1">
                <a:solidFill>
                  <a:schemeClr val="bg1"/>
                </a:solidFill>
              </a:rPr>
              <a:t>Others</a:t>
            </a:r>
            <a:r>
              <a:rPr lang="pt-BR">
                <a:solidFill>
                  <a:schemeClr val="bg1"/>
                </a:solidFill>
              </a:rPr>
              <a:t>...</a:t>
            </a:r>
            <a:endParaRPr>
              <a:solidFill>
                <a:schemeClr val="bg1"/>
              </a:solidFill>
            </a:endParaRPr>
          </a:p>
        </p:txBody>
      </p:sp>
      <p:sp>
        <p:nvSpPr>
          <p:cNvPr id="20" name="TextBox 19"/>
          <p:cNvSpPr txBox="1"/>
          <p:nvPr/>
        </p:nvSpPr>
        <p:spPr>
          <a:xfrm>
            <a:off x="6949440" y="237744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21" name="TextBox 20"/>
          <p:cNvSpPr txBox="1"/>
          <p:nvPr/>
        </p:nvSpPr>
        <p:spPr>
          <a:xfrm>
            <a:off x="8503920" y="237744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22" name="TextBox 21"/>
          <p:cNvSpPr txBox="1"/>
          <p:nvPr/>
        </p:nvSpPr>
        <p:spPr>
          <a:xfrm>
            <a:off x="10058400" y="237744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23" name="Rectangle 22"/>
          <p:cNvSpPr/>
          <p:nvPr/>
        </p:nvSpPr>
        <p:spPr>
          <a:xfrm>
            <a:off x="6400800" y="2743200"/>
            <a:ext cx="4663440" cy="777240"/>
          </a:xfrm>
          <a:prstGeom prst="rect">
            <a:avLst/>
          </a:prstGeom>
          <a:solidFill>
            <a:srgbClr val="0E3D3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A7F3D0"/>
                </a:solidFill>
                <a:latin typeface="Arial"/>
              </a:defRPr>
            </a:pPr>
            <a:r>
              <a:rPr>
                <a:solidFill>
                  <a:schemeClr val="bg1"/>
                </a:solidFill>
              </a:rPr>
              <a:t>APIs, SDKs &amp; Self-Service Portal</a:t>
            </a:r>
          </a:p>
          <a:p>
            <a:pPr algn="ctr">
              <a:defRPr sz="1000">
                <a:solidFill>
                  <a:srgbClr val="94A3B8"/>
                </a:solidFill>
                <a:latin typeface="Arial"/>
              </a:defRPr>
            </a:pPr>
            <a:r>
              <a:rPr>
                <a:solidFill>
                  <a:schemeClr val="bg1"/>
                </a:solidFill>
              </a:rPr>
              <a:t>(Standardized Contracts, Docs, Automation)</a:t>
            </a:r>
          </a:p>
        </p:txBody>
      </p:sp>
      <p:sp>
        <p:nvSpPr>
          <p:cNvPr id="24" name="TextBox 23"/>
          <p:cNvSpPr txBox="1"/>
          <p:nvPr/>
        </p:nvSpPr>
        <p:spPr>
          <a:xfrm>
            <a:off x="8503920" y="356616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25" name="Rectangle 24"/>
          <p:cNvSpPr/>
          <p:nvPr/>
        </p:nvSpPr>
        <p:spPr>
          <a:xfrm>
            <a:off x="6583680" y="3931920"/>
            <a:ext cx="4297680" cy="411480"/>
          </a:xfrm>
          <a:prstGeom prst="rect">
            <a:avLst/>
          </a:prstGeom>
          <a:solidFill>
            <a:srgbClr val="0C314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67E8F9"/>
                </a:solidFill>
                <a:latin typeface="Arial"/>
              </a:defRPr>
            </a:pPr>
            <a:r>
              <a:rPr>
                <a:solidFill>
                  <a:schemeClr val="bg1"/>
                </a:solidFill>
              </a:rPr>
              <a:t>SAP CoE (Platform Evolution)</a:t>
            </a:r>
          </a:p>
        </p:txBody>
      </p:sp>
      <p:sp>
        <p:nvSpPr>
          <p:cNvPr id="26" name="TextBox 25"/>
          <p:cNvSpPr txBox="1"/>
          <p:nvPr/>
        </p:nvSpPr>
        <p:spPr>
          <a:xfrm>
            <a:off x="6446520" y="4575230"/>
            <a:ext cx="4480560" cy="697627"/>
          </a:xfrm>
          <a:prstGeom prst="rect">
            <a:avLst/>
          </a:prstGeom>
          <a:noFill/>
        </p:spPr>
        <p:txBody>
          <a:bodyPr wrap="square">
            <a:spAutoFit/>
          </a:bodyPr>
          <a:lstStyle/>
          <a:p>
            <a:pPr>
              <a:spcAft>
                <a:spcPts val="200"/>
              </a:spcAft>
              <a:defRPr sz="800">
                <a:solidFill>
                  <a:srgbClr val="A7F3D0"/>
                </a:solidFill>
                <a:latin typeface="Arial"/>
              </a:defRPr>
            </a:pPr>
            <a:r>
              <a:rPr sz="1200" dirty="0">
                <a:solidFill>
                  <a:schemeClr val="tx1">
                    <a:lumMod val="50000"/>
                    <a:lumOff val="50000"/>
                  </a:schemeClr>
                </a:solidFill>
              </a:rPr>
              <a:t>• </a:t>
            </a:r>
            <a:r>
              <a:rPr lang="pt-BR" sz="1200" dirty="0" err="1">
                <a:solidFill>
                  <a:schemeClr val="tx1">
                    <a:lumMod val="50000"/>
                    <a:lumOff val="50000"/>
                  </a:schemeClr>
                </a:solidFill>
              </a:rPr>
              <a:t>I</a:t>
            </a:r>
            <a:r>
              <a:rPr lang="en-US" sz="1200" noProof="1">
                <a:solidFill>
                  <a:schemeClr val="tx1">
                    <a:lumMod val="50000"/>
                    <a:lumOff val="50000"/>
                  </a:schemeClr>
                </a:solidFill>
              </a:rPr>
              <a:t>ntegrations</a:t>
            </a:r>
            <a:r>
              <a:rPr sz="1200" dirty="0">
                <a:solidFill>
                  <a:schemeClr val="tx1">
                    <a:lumMod val="50000"/>
                    <a:lumOff val="50000"/>
                  </a:schemeClr>
                </a:solidFill>
              </a:rPr>
              <a:t> via self-</a:t>
            </a:r>
            <a:r>
              <a:rPr sz="1200" dirty="0" err="1">
                <a:solidFill>
                  <a:schemeClr val="tx1">
                    <a:lumMod val="50000"/>
                    <a:lumOff val="50000"/>
                  </a:schemeClr>
                </a:solidFill>
              </a:rPr>
              <a:t>servi</a:t>
            </a:r>
            <a:r>
              <a:rPr lang="pt-BR" sz="1200" dirty="0" err="1">
                <a:solidFill>
                  <a:schemeClr val="tx1">
                    <a:lumMod val="50000"/>
                    <a:lumOff val="50000"/>
                  </a:schemeClr>
                </a:solidFill>
              </a:rPr>
              <a:t>ce</a:t>
            </a:r>
            <a:r>
              <a:rPr lang="pt-BR" sz="1200" dirty="0">
                <a:solidFill>
                  <a:schemeClr val="tx1">
                    <a:lumMod val="50000"/>
                    <a:lumOff val="50000"/>
                  </a:schemeClr>
                </a:solidFill>
              </a:rPr>
              <a:t> APIs</a:t>
            </a:r>
            <a:r>
              <a:rPr sz="1200" dirty="0">
                <a:solidFill>
                  <a:schemeClr val="tx1">
                    <a:lumMod val="50000"/>
                    <a:lumOff val="50000"/>
                  </a:schemeClr>
                </a:solidFill>
              </a:rPr>
              <a:t> </a:t>
            </a:r>
          </a:p>
          <a:p>
            <a:pPr>
              <a:spcAft>
                <a:spcPts val="200"/>
              </a:spcAft>
              <a:defRPr sz="800">
                <a:solidFill>
                  <a:srgbClr val="A7F3D0"/>
                </a:solidFill>
                <a:latin typeface="Arial"/>
              </a:defRPr>
            </a:pPr>
            <a:r>
              <a:rPr sz="1200" dirty="0">
                <a:solidFill>
                  <a:schemeClr val="tx1">
                    <a:lumMod val="50000"/>
                    <a:lumOff val="50000"/>
                  </a:schemeClr>
                </a:solidFill>
              </a:rPr>
              <a:t>• Scales without adding headcount</a:t>
            </a:r>
          </a:p>
          <a:p>
            <a:pPr>
              <a:spcAft>
                <a:spcPts val="200"/>
              </a:spcAft>
              <a:defRPr sz="800">
                <a:solidFill>
                  <a:srgbClr val="A7F3D0"/>
                </a:solidFill>
                <a:latin typeface="Arial"/>
              </a:defRPr>
            </a:pPr>
            <a:r>
              <a:rPr sz="1200" dirty="0">
                <a:solidFill>
                  <a:schemeClr val="tx1">
                    <a:lumMod val="50000"/>
                    <a:lumOff val="50000"/>
                  </a:schemeClr>
                </a:solidFill>
              </a:rPr>
              <a:t>• SAP team focuses on engineering, not governance</a:t>
            </a:r>
          </a:p>
        </p:txBody>
      </p:sp>
      <p:sp>
        <p:nvSpPr>
          <p:cNvPr id="27" name="Rectangle 16">
            <a:extLst>
              <a:ext uri="{FF2B5EF4-FFF2-40B4-BE49-F238E27FC236}">
                <a16:creationId xmlns:a16="http://schemas.microsoft.com/office/drawing/2014/main" id="{9B76B892-2E3F-DE40-8F92-8A138743DA5E}"/>
              </a:ext>
            </a:extLst>
          </p:cNvPr>
          <p:cNvSpPr/>
          <p:nvPr/>
        </p:nvSpPr>
        <p:spPr>
          <a:xfrm>
            <a:off x="1096217"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dirty="0">
                <a:solidFill>
                  <a:schemeClr val="bg1"/>
                </a:solidFill>
              </a:rPr>
              <a:t>BRS</a:t>
            </a:r>
            <a:endParaRPr dirty="0">
              <a:solidFill>
                <a:schemeClr val="bg1"/>
              </a:solidFill>
            </a:endParaRPr>
          </a:p>
        </p:txBody>
      </p:sp>
      <p:sp>
        <p:nvSpPr>
          <p:cNvPr id="28" name="Rectangle 17">
            <a:extLst>
              <a:ext uri="{FF2B5EF4-FFF2-40B4-BE49-F238E27FC236}">
                <a16:creationId xmlns:a16="http://schemas.microsoft.com/office/drawing/2014/main" id="{F7197C4E-2252-E469-A95C-84C97EE4FE3F}"/>
              </a:ext>
            </a:extLst>
          </p:cNvPr>
          <p:cNvSpPr/>
          <p:nvPr/>
        </p:nvSpPr>
        <p:spPr>
          <a:xfrm>
            <a:off x="2650697"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a:solidFill>
                  <a:schemeClr val="bg1"/>
                </a:solidFill>
              </a:rPr>
              <a:t>CX &amp; Digital COE</a:t>
            </a:r>
            <a:endParaRPr>
              <a:solidFill>
                <a:schemeClr val="bg1"/>
              </a:solidFill>
            </a:endParaRPr>
          </a:p>
        </p:txBody>
      </p:sp>
      <p:sp>
        <p:nvSpPr>
          <p:cNvPr id="29" name="Rectangle 18">
            <a:extLst>
              <a:ext uri="{FF2B5EF4-FFF2-40B4-BE49-F238E27FC236}">
                <a16:creationId xmlns:a16="http://schemas.microsoft.com/office/drawing/2014/main" id="{CE6D4F1D-838D-69BB-45AF-83157C5A9BBD}"/>
              </a:ext>
            </a:extLst>
          </p:cNvPr>
          <p:cNvSpPr/>
          <p:nvPr/>
        </p:nvSpPr>
        <p:spPr>
          <a:xfrm>
            <a:off x="4205177"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err="1">
                <a:solidFill>
                  <a:schemeClr val="bg1"/>
                </a:solidFill>
              </a:rPr>
              <a:t>Others</a:t>
            </a:r>
            <a:r>
              <a:rPr lang="pt-BR">
                <a:solidFill>
                  <a:schemeClr val="bg1"/>
                </a:solidFill>
              </a:rPr>
              <a:t>...</a:t>
            </a:r>
            <a:endParaRPr>
              <a:solidFill>
                <a:schemeClr val="bg1"/>
              </a:solidFill>
            </a:endParaRPr>
          </a:p>
        </p:txBody>
      </p:sp>
      <p:pic>
        <p:nvPicPr>
          <p:cNvPr id="30" name="Picture 5" descr="Avangrid - Wikipedia">
            <a:extLst>
              <a:ext uri="{FF2B5EF4-FFF2-40B4-BE49-F238E27FC236}">
                <a16:creationId xmlns:a16="http://schemas.microsoft.com/office/drawing/2014/main" id="{8381B83D-E910-499E-70B6-4896AFD13F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31" name="NTT DATA Global Logo">
            <a:extLst>
              <a:ext uri="{FF2B5EF4-FFF2-40B4-BE49-F238E27FC236}">
                <a16:creationId xmlns:a16="http://schemas.microsoft.com/office/drawing/2014/main" id="{261A913E-8C5A-0C63-58E1-59AD857653DF}"/>
              </a:ext>
            </a:extLst>
          </p:cNvPr>
          <p:cNvSpPr/>
          <p:nvPr/>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cxnSp>
        <p:nvCxnSpPr>
          <p:cNvPr id="33" name="Conector Reto 32">
            <a:extLst>
              <a:ext uri="{FF2B5EF4-FFF2-40B4-BE49-F238E27FC236}">
                <a16:creationId xmlns:a16="http://schemas.microsoft.com/office/drawing/2014/main" id="{8BCEBBB4-14A2-729D-60B1-81EF93A557AA}"/>
              </a:ext>
            </a:extLst>
          </p:cNvPr>
          <p:cNvCxnSpPr/>
          <p:nvPr/>
        </p:nvCxnSpPr>
        <p:spPr>
          <a:xfrm>
            <a:off x="5972433" y="1888936"/>
            <a:ext cx="0" cy="408596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1520" y="317799"/>
            <a:ext cx="10515600" cy="769441"/>
          </a:xfrm>
          <a:prstGeom prst="rect">
            <a:avLst/>
          </a:prstGeom>
          <a:noFill/>
        </p:spPr>
        <p:txBody>
          <a:bodyPr wrap="square">
            <a:spAutoFit/>
          </a:bodyPr>
          <a:lstStyle/>
          <a:p>
            <a:pPr>
              <a:defRPr sz="2000" b="1">
                <a:solidFill>
                  <a:srgbClr val="002060"/>
                </a:solidFill>
                <a:latin typeface="Arial"/>
              </a:defRPr>
            </a:pPr>
            <a:r>
              <a:rPr lang="pt-BR" dirty="0">
                <a:solidFill>
                  <a:srgbClr val="00A443"/>
                </a:solidFill>
              </a:rPr>
              <a:t>SAP </a:t>
            </a:r>
            <a:r>
              <a:rPr lang="pt-BR" dirty="0" err="1">
                <a:solidFill>
                  <a:srgbClr val="00A443"/>
                </a:solidFill>
              </a:rPr>
              <a:t>team</a:t>
            </a:r>
            <a:r>
              <a:rPr lang="pt-BR" dirty="0">
                <a:solidFill>
                  <a:srgbClr val="00A443"/>
                </a:solidFill>
              </a:rPr>
              <a:t> as PaaS</a:t>
            </a:r>
            <a:endParaRPr dirty="0">
              <a:solidFill>
                <a:srgbClr val="00A443"/>
              </a:solidFill>
            </a:endParaRPr>
          </a:p>
          <a:p>
            <a:pPr>
              <a:defRPr sz="1200">
                <a:solidFill>
                  <a:srgbClr val="7F8C8D"/>
                </a:solidFill>
                <a:latin typeface="Arial"/>
              </a:defRPr>
            </a:pPr>
            <a:r>
              <a:rPr dirty="0"/>
              <a:t>Instead of dedicating the 14-week program to configuring heavy </a:t>
            </a:r>
            <a:r>
              <a:rPr dirty="0" err="1"/>
              <a:t>PPMNow</a:t>
            </a:r>
            <a:r>
              <a:rPr dirty="0"/>
              <a:t> intake flows and ROI matrices, the engagement should pivot towards encapsulating SAP complexities and establishing the foundation for a scalable, developer-friendly internal platform.</a:t>
            </a:r>
          </a:p>
        </p:txBody>
      </p:sp>
      <p:sp>
        <p:nvSpPr>
          <p:cNvPr id="6" name="Rectangle 5"/>
          <p:cNvSpPr/>
          <p:nvPr/>
        </p:nvSpPr>
        <p:spPr>
          <a:xfrm>
            <a:off x="731520" y="1618040"/>
            <a:ext cx="10515600" cy="1234440"/>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Oval 6"/>
          <p:cNvSpPr/>
          <p:nvPr/>
        </p:nvSpPr>
        <p:spPr>
          <a:xfrm>
            <a:off x="1005840" y="1892360"/>
            <a:ext cx="502920" cy="502920"/>
          </a:xfrm>
          <a:prstGeom prst="ellipse">
            <a:avLst/>
          </a:prstGeom>
          <a:solidFill>
            <a:srgbClr val="00A443"/>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59E0B"/>
                </a:solidFill>
                <a:latin typeface="Arial"/>
              </a:defRPr>
            </a:pPr>
            <a:r>
              <a:rPr sz="2800" dirty="0">
                <a:solidFill>
                  <a:schemeClr val="bg1"/>
                </a:solidFill>
              </a:rPr>
              <a:t>1</a:t>
            </a:r>
          </a:p>
        </p:txBody>
      </p:sp>
      <p:sp>
        <p:nvSpPr>
          <p:cNvPr id="8" name="TextBox 7"/>
          <p:cNvSpPr txBox="1"/>
          <p:nvPr/>
        </p:nvSpPr>
        <p:spPr>
          <a:xfrm>
            <a:off x="1737360" y="1755200"/>
            <a:ext cx="2749471" cy="307777"/>
          </a:xfrm>
          <a:prstGeom prst="rect">
            <a:avLst/>
          </a:prstGeom>
          <a:noFill/>
        </p:spPr>
        <p:txBody>
          <a:bodyPr wrap="none">
            <a:spAutoFit/>
          </a:bodyPr>
          <a:lstStyle/>
          <a:p>
            <a:pPr>
              <a:defRPr sz="1400" b="1">
                <a:solidFill>
                  <a:srgbClr val="FFFFFF"/>
                </a:solidFill>
                <a:latin typeface="Arial"/>
              </a:defRPr>
            </a:pPr>
            <a:r>
              <a:rPr dirty="0">
                <a:solidFill>
                  <a:schemeClr val="tx1">
                    <a:lumMod val="95000"/>
                    <a:lumOff val="5000"/>
                  </a:schemeClr>
                </a:solidFill>
              </a:rPr>
              <a:t>Map Capabilities, Not Projects</a:t>
            </a:r>
          </a:p>
        </p:txBody>
      </p:sp>
      <p:sp>
        <p:nvSpPr>
          <p:cNvPr id="9" name="TextBox 8"/>
          <p:cNvSpPr txBox="1"/>
          <p:nvPr/>
        </p:nvSpPr>
        <p:spPr>
          <a:xfrm>
            <a:off x="1737360" y="2120960"/>
            <a:ext cx="8961120" cy="415498"/>
          </a:xfrm>
          <a:prstGeom prst="rect">
            <a:avLst/>
          </a:prstGeom>
          <a:noFill/>
        </p:spPr>
        <p:txBody>
          <a:bodyPr wrap="square">
            <a:spAutoFit/>
          </a:bodyPr>
          <a:lstStyle/>
          <a:p>
            <a:pPr>
              <a:defRPr sz="900">
                <a:solidFill>
                  <a:srgbClr val="94A3B8"/>
                </a:solidFill>
                <a:latin typeface="Arial"/>
              </a:defRPr>
            </a:pPr>
            <a:r>
              <a:rPr sz="1050" dirty="0">
                <a:solidFill>
                  <a:schemeClr val="tx1">
                    <a:lumMod val="95000"/>
                    <a:lumOff val="5000"/>
                  </a:schemeClr>
                </a:solidFill>
              </a:rPr>
              <a:t>Identify which SAP data sets and transactions are most frequently requested by </a:t>
            </a:r>
            <a:r>
              <a:rPr lang="pt-BR" sz="1050" dirty="0">
                <a:solidFill>
                  <a:schemeClr val="tx1">
                    <a:lumMod val="95000"/>
                    <a:lumOff val="5000"/>
                  </a:schemeClr>
                </a:solidFill>
              </a:rPr>
              <a:t>BRS </a:t>
            </a:r>
            <a:r>
              <a:rPr lang="pt-BR" sz="1050" dirty="0" err="1">
                <a:solidFill>
                  <a:schemeClr val="tx1">
                    <a:lumMod val="95000"/>
                    <a:lumOff val="5000"/>
                  </a:schemeClr>
                </a:solidFill>
              </a:rPr>
              <a:t>and</a:t>
            </a:r>
            <a:r>
              <a:rPr lang="pt-BR" sz="1050" dirty="0">
                <a:solidFill>
                  <a:schemeClr val="tx1">
                    <a:lumMod val="95000"/>
                    <a:lumOff val="5000"/>
                  </a:schemeClr>
                </a:solidFill>
              </a:rPr>
              <a:t> </a:t>
            </a:r>
            <a:r>
              <a:rPr lang="pt-BR" sz="1050" dirty="0" err="1">
                <a:solidFill>
                  <a:schemeClr val="tx1">
                    <a:lumMod val="95000"/>
                    <a:lumOff val="5000"/>
                  </a:schemeClr>
                </a:solidFill>
              </a:rPr>
              <a:t>others</a:t>
            </a:r>
            <a:r>
              <a:rPr sz="1050" dirty="0">
                <a:solidFill>
                  <a:schemeClr val="tx1">
                    <a:lumMod val="95000"/>
                    <a:lumOff val="5000"/>
                  </a:schemeClr>
                </a:solidFill>
              </a:rPr>
              <a:t>. Shift the mandate from "delivering the BRS project" to "engineering the master Customer API that BRS and all future OPCOs will consume."</a:t>
            </a:r>
          </a:p>
        </p:txBody>
      </p:sp>
      <p:sp>
        <p:nvSpPr>
          <p:cNvPr id="10" name="Rectangle 9"/>
          <p:cNvSpPr/>
          <p:nvPr/>
        </p:nvSpPr>
        <p:spPr>
          <a:xfrm>
            <a:off x="731520" y="3035360"/>
            <a:ext cx="10515600" cy="1234440"/>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Oval 10"/>
          <p:cNvSpPr/>
          <p:nvPr/>
        </p:nvSpPr>
        <p:spPr>
          <a:xfrm>
            <a:off x="1005840" y="3309680"/>
            <a:ext cx="502920" cy="502920"/>
          </a:xfrm>
          <a:prstGeom prst="ellipse">
            <a:avLst/>
          </a:prstGeom>
          <a:solidFill>
            <a:srgbClr val="00A443"/>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6B6D4"/>
                </a:solidFill>
                <a:latin typeface="Arial"/>
              </a:defRPr>
            </a:pPr>
            <a:r>
              <a:rPr sz="2800" dirty="0">
                <a:solidFill>
                  <a:schemeClr val="bg1"/>
                </a:solidFill>
              </a:rPr>
              <a:t>2</a:t>
            </a:r>
          </a:p>
        </p:txBody>
      </p:sp>
      <p:sp>
        <p:nvSpPr>
          <p:cNvPr id="12" name="TextBox 11"/>
          <p:cNvSpPr txBox="1"/>
          <p:nvPr/>
        </p:nvSpPr>
        <p:spPr>
          <a:xfrm>
            <a:off x="1737360" y="3172520"/>
            <a:ext cx="4283545" cy="307777"/>
          </a:xfrm>
          <a:prstGeom prst="rect">
            <a:avLst/>
          </a:prstGeom>
          <a:noFill/>
        </p:spPr>
        <p:txBody>
          <a:bodyPr wrap="none">
            <a:spAutoFit/>
          </a:bodyPr>
          <a:lstStyle/>
          <a:p>
            <a:pPr>
              <a:defRPr sz="1400" b="1">
                <a:solidFill>
                  <a:srgbClr val="FFFFFF"/>
                </a:solidFill>
                <a:latin typeface="Arial"/>
              </a:defRPr>
            </a:pPr>
            <a:r>
              <a:rPr dirty="0">
                <a:solidFill>
                  <a:schemeClr val="tx1">
                    <a:lumMod val="95000"/>
                    <a:lumOff val="5000"/>
                  </a:schemeClr>
                </a:solidFill>
              </a:rPr>
              <a:t>Define Contracts &amp; SLAs (Platform Engineering)</a:t>
            </a:r>
          </a:p>
        </p:txBody>
      </p:sp>
      <p:sp>
        <p:nvSpPr>
          <p:cNvPr id="13" name="TextBox 12"/>
          <p:cNvSpPr txBox="1"/>
          <p:nvPr/>
        </p:nvSpPr>
        <p:spPr>
          <a:xfrm>
            <a:off x="1737360" y="3538280"/>
            <a:ext cx="8961120" cy="415498"/>
          </a:xfrm>
          <a:prstGeom prst="rect">
            <a:avLst/>
          </a:prstGeom>
          <a:noFill/>
        </p:spPr>
        <p:txBody>
          <a:bodyPr wrap="square">
            <a:spAutoFit/>
          </a:bodyPr>
          <a:lstStyle/>
          <a:p>
            <a:pPr>
              <a:defRPr sz="900">
                <a:solidFill>
                  <a:srgbClr val="94A3B8"/>
                </a:solidFill>
                <a:latin typeface="Arial"/>
              </a:defRPr>
            </a:pPr>
            <a:r>
              <a:rPr sz="1050" dirty="0">
                <a:solidFill>
                  <a:schemeClr val="tx1">
                    <a:lumMod val="95000"/>
                    <a:lumOff val="5000"/>
                  </a:schemeClr>
                </a:solidFill>
              </a:rPr>
              <a:t>Establish</a:t>
            </a:r>
            <a:r>
              <a:rPr lang="pt-BR" sz="1050" dirty="0">
                <a:solidFill>
                  <a:schemeClr val="tx1">
                    <a:lumMod val="95000"/>
                    <a:lumOff val="5000"/>
                  </a:schemeClr>
                </a:solidFill>
              </a:rPr>
              <a:t> </a:t>
            </a:r>
            <a:r>
              <a:rPr sz="1050" dirty="0">
                <a:solidFill>
                  <a:schemeClr val="tx1">
                    <a:lumMod val="95000"/>
                    <a:lumOff val="5000"/>
                  </a:schemeClr>
                </a:solidFill>
              </a:rPr>
              <a:t>interface contracts. Product Management in this context applies to API reliability, endpoint response times, backward compatibility, and treating the technology stack itself as a product consumed by internal developers.</a:t>
            </a:r>
          </a:p>
        </p:txBody>
      </p:sp>
      <p:sp>
        <p:nvSpPr>
          <p:cNvPr id="14" name="Rectangle 13"/>
          <p:cNvSpPr/>
          <p:nvPr/>
        </p:nvSpPr>
        <p:spPr>
          <a:xfrm>
            <a:off x="731520" y="4452680"/>
            <a:ext cx="10515600" cy="1234440"/>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Oval 14"/>
          <p:cNvSpPr/>
          <p:nvPr/>
        </p:nvSpPr>
        <p:spPr>
          <a:xfrm>
            <a:off x="1005840" y="4727000"/>
            <a:ext cx="502920" cy="502920"/>
          </a:xfrm>
          <a:prstGeom prst="ellipse">
            <a:avLst/>
          </a:prstGeom>
          <a:solidFill>
            <a:srgbClr val="00A443"/>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0B981"/>
                </a:solidFill>
                <a:latin typeface="Arial"/>
              </a:defRPr>
            </a:pPr>
            <a:r>
              <a:rPr sz="2800" dirty="0">
                <a:solidFill>
                  <a:schemeClr val="bg1"/>
                </a:solidFill>
              </a:rPr>
              <a:t>3</a:t>
            </a:r>
          </a:p>
        </p:txBody>
      </p:sp>
      <p:sp>
        <p:nvSpPr>
          <p:cNvPr id="16" name="TextBox 15"/>
          <p:cNvSpPr txBox="1"/>
          <p:nvPr/>
        </p:nvSpPr>
        <p:spPr>
          <a:xfrm>
            <a:off x="1737360" y="4589840"/>
            <a:ext cx="2294154" cy="307777"/>
          </a:xfrm>
          <a:prstGeom prst="rect">
            <a:avLst/>
          </a:prstGeom>
          <a:noFill/>
        </p:spPr>
        <p:txBody>
          <a:bodyPr wrap="none">
            <a:spAutoFit/>
          </a:bodyPr>
          <a:lstStyle/>
          <a:p>
            <a:pPr>
              <a:defRPr sz="1400" b="1">
                <a:solidFill>
                  <a:srgbClr val="FFFFFF"/>
                </a:solidFill>
                <a:latin typeface="Arial"/>
              </a:defRPr>
            </a:pPr>
            <a:r>
              <a:rPr lang="pt-BR" dirty="0">
                <a:solidFill>
                  <a:schemeClr val="tx1">
                    <a:lumMod val="95000"/>
                    <a:lumOff val="5000"/>
                  </a:schemeClr>
                </a:solidFill>
              </a:rPr>
              <a:t>SAP </a:t>
            </a:r>
            <a:r>
              <a:rPr lang="pt-BR" dirty="0" err="1">
                <a:solidFill>
                  <a:schemeClr val="tx1">
                    <a:lumMod val="95000"/>
                    <a:lumOff val="5000"/>
                  </a:schemeClr>
                </a:solidFill>
              </a:rPr>
              <a:t>team</a:t>
            </a:r>
            <a:r>
              <a:rPr lang="pt-BR" dirty="0">
                <a:solidFill>
                  <a:schemeClr val="tx1">
                    <a:lumMod val="95000"/>
                    <a:lumOff val="5000"/>
                  </a:schemeClr>
                </a:solidFill>
              </a:rPr>
              <a:t> as a </a:t>
            </a:r>
            <a:r>
              <a:rPr lang="pt-BR" dirty="0" err="1">
                <a:solidFill>
                  <a:schemeClr val="tx1">
                    <a:lumMod val="95000"/>
                    <a:lumOff val="5000"/>
                  </a:schemeClr>
                </a:solidFill>
              </a:rPr>
              <a:t>Plataform</a:t>
            </a:r>
            <a:endParaRPr dirty="0">
              <a:solidFill>
                <a:schemeClr val="tx1">
                  <a:lumMod val="95000"/>
                  <a:lumOff val="5000"/>
                </a:schemeClr>
              </a:solidFill>
            </a:endParaRPr>
          </a:p>
        </p:txBody>
      </p:sp>
      <p:sp>
        <p:nvSpPr>
          <p:cNvPr id="17" name="TextBox 16"/>
          <p:cNvSpPr txBox="1"/>
          <p:nvPr/>
        </p:nvSpPr>
        <p:spPr>
          <a:xfrm>
            <a:off x="1737360" y="4955600"/>
            <a:ext cx="8961120" cy="415498"/>
          </a:xfrm>
          <a:prstGeom prst="rect">
            <a:avLst/>
          </a:prstGeom>
          <a:noFill/>
        </p:spPr>
        <p:txBody>
          <a:bodyPr wrap="square">
            <a:spAutoFit/>
          </a:bodyPr>
          <a:lstStyle/>
          <a:p>
            <a:pPr>
              <a:defRPr sz="900">
                <a:solidFill>
                  <a:srgbClr val="94A3B8"/>
                </a:solidFill>
                <a:latin typeface="Arial"/>
              </a:defRPr>
            </a:pPr>
            <a:r>
              <a:rPr sz="1050">
                <a:solidFill>
                  <a:schemeClr val="tx1">
                    <a:lumMod val="95000"/>
                    <a:lumOff val="5000"/>
                  </a:schemeClr>
                </a:solidFill>
              </a:rPr>
              <a:t>The SAP CoE Product Manager acts as a "Developer Advocate". Their goal is to build integration playbooks, maintain internal developer portals, and guarantee that the SAP landscape acts as an invisible, high-speed enabler rather than a procedural dependency.</a:t>
            </a:r>
          </a:p>
        </p:txBody>
      </p:sp>
      <p:pic>
        <p:nvPicPr>
          <p:cNvPr id="18" name="Picture 5" descr="Avangrid - Wikipedia">
            <a:extLst>
              <a:ext uri="{FF2B5EF4-FFF2-40B4-BE49-F238E27FC236}">
                <a16:creationId xmlns:a16="http://schemas.microsoft.com/office/drawing/2014/main" id="{6D8FA153-36B0-33AF-270F-38EF55E5CC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19" name="NTT DATA Global Logo">
            <a:extLst>
              <a:ext uri="{FF2B5EF4-FFF2-40B4-BE49-F238E27FC236}">
                <a16:creationId xmlns:a16="http://schemas.microsoft.com/office/drawing/2014/main" id="{868A7E4C-E2B9-0CAD-D502-FAD031147A48}"/>
              </a:ext>
            </a:extLst>
          </p:cNvPr>
          <p:cNvSpPr/>
          <p:nvPr/>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defRPr sz="1300" b="1">
                <a:solidFill>
                  <a:srgbClr val="002060"/>
                </a:solidFill>
                <a:latin typeface="Arial"/>
              </a:defRPr>
            </a:pPr>
            <a:r>
              <a:t>P&amp;S built execution playbooks, CoE built governance frameworks, Infrastructure built deployment methodology, DTO built Lean Kanban operations — Digital Products combines all four</a:t>
            </a:r>
          </a:p>
          <a:p>
            <a:pPr>
              <a:defRPr sz="900">
                <a:solidFill>
                  <a:srgbClr val="7F8C8D"/>
                </a:solidFill>
                <a:latin typeface="Arial"/>
              </a:defRPr>
            </a:pPr>
            <a:r>
              <a:t>Each area solved different parts of the same problem — understanding what was actually built reveals what's directly reusable</a:t>
            </a:r>
          </a:p>
        </p:txBody>
      </p:sp>
      <p:sp>
        <p:nvSpPr>
          <p:cNvPr id="5" name="Rectangle 4"/>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sp>
        <p:nvSpPr>
          <p:cNvPr id="6" name="Rectangle 5"/>
          <p:cNvSpPr/>
          <p:nvPr/>
        </p:nvSpPr>
        <p:spPr>
          <a:xfrm>
            <a:off x="502920" y="1234440"/>
            <a:ext cx="263347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P&amp;S / P&amp;T (Networks IT)</a:t>
            </a:r>
          </a:p>
        </p:txBody>
      </p:sp>
      <p:sp>
        <p:nvSpPr>
          <p:cNvPr id="7" name="Rectangle 6"/>
          <p:cNvSpPr/>
          <p:nvPr/>
        </p:nvSpPr>
        <p:spPr>
          <a:xfrm>
            <a:off x="502920" y="1554480"/>
            <a:ext cx="2633472" cy="4709160"/>
          </a:xfrm>
          <a:prstGeom prst="rect">
            <a:avLst/>
          </a:prstGeom>
          <a:solidFill>
            <a:srgbClr val="E8EFF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1618488"/>
            <a:ext cx="2487168" cy="4572000"/>
          </a:xfrm>
          <a:prstGeom prst="rect">
            <a:avLst/>
          </a:prstGeom>
          <a:noFill/>
        </p:spPr>
        <p:txBody>
          <a:bodyPr wrap="square">
            <a:spAutoFit/>
          </a:bodyPr>
          <a:lstStyle/>
          <a:p>
            <a:pPr>
              <a:spcAft>
                <a:spcPts val="100"/>
              </a:spcAft>
            </a:pPr>
            <a:r>
              <a:rPr sz="700" b="1">
                <a:solidFill>
                  <a:srgbClr val="002060"/>
                </a:solidFill>
                <a:latin typeface="Arial"/>
              </a:rPr>
              <a:t>Operating Model: </a:t>
            </a:r>
            <a:r>
              <a:rPr sz="700">
                <a:solidFill>
                  <a:srgbClr val="2C3E50"/>
                </a:solidFill>
                <a:latin typeface="Arial"/>
              </a:rPr>
              <a:t>Most mature: 4-phase lifecycle in production with 15+ sub-steps, phase gates, and 3-tier Flight Level governance (Portfolio → Program → Project).</a:t>
            </a:r>
          </a:p>
          <a:p>
            <a:pPr>
              <a:spcBef>
                <a:spcPts val="300"/>
              </a:spcBef>
              <a:spcAft>
                <a:spcPts val="100"/>
              </a:spcAft>
            </a:pPr>
            <a:r>
              <a:rPr sz="700" b="1">
                <a:solidFill>
                  <a:srgbClr val="002060"/>
                </a:solidFill>
                <a:latin typeface="Arial"/>
              </a:rPr>
              <a:t>Prioritization: </a:t>
            </a:r>
            <a:r>
              <a:rPr sz="700">
                <a:solidFill>
                  <a:srgbClr val="2C3E50"/>
                </a:solidFill>
                <a:latin typeface="Arial"/>
              </a:rPr>
              <a:t>PBI(x) = (BV+UX)/E calculator with 1-10 scoring. Business Value Criteria tied to Avangrid axes. Demand Funnel with Shark Tank + Portfolio Committee.</a:t>
            </a:r>
          </a:p>
          <a:p>
            <a:pPr>
              <a:spcBef>
                <a:spcPts val="300"/>
              </a:spcBef>
              <a:spcAft>
                <a:spcPts val="100"/>
              </a:spcAft>
            </a:pPr>
            <a:r>
              <a:rPr sz="700" b="1">
                <a:solidFill>
                  <a:srgbClr val="002060"/>
                </a:solidFill>
                <a:latin typeface="Arial"/>
              </a:rPr>
              <a:t>Intake &amp; Demand: </a:t>
            </a:r>
            <a:r>
              <a:rPr sz="700">
                <a:solidFill>
                  <a:srgbClr val="2C3E50"/>
                </a:solidFill>
                <a:latin typeface="Arial"/>
              </a:rPr>
              <a:t>Single front door with 3 sources. Portfolio Kanban with swimlanes. Classification: Strategic/Operational/Regulatory.</a:t>
            </a:r>
          </a:p>
          <a:p>
            <a:pPr>
              <a:spcBef>
                <a:spcPts val="300"/>
              </a:spcBef>
              <a:spcAft>
                <a:spcPts val="100"/>
              </a:spcAft>
            </a:pPr>
            <a:r>
              <a:rPr sz="700" b="1">
                <a:solidFill>
                  <a:srgbClr val="002060"/>
                </a:solidFill>
                <a:latin typeface="Arial"/>
              </a:rPr>
              <a:t>Roles &amp; RACI: </a:t>
            </a:r>
            <a:r>
              <a:rPr sz="700">
                <a:solidFill>
                  <a:srgbClr val="2C3E50"/>
                </a:solidFill>
                <a:latin typeface="Arial"/>
              </a:rPr>
              <a:t>Full RACI in Confluence+Jira. PM Role per phase. Stakeholder Mapping. Crew: PO/SM/Dev.</a:t>
            </a:r>
          </a:p>
          <a:p>
            <a:pPr>
              <a:spcBef>
                <a:spcPts val="300"/>
              </a:spcBef>
              <a:spcAft>
                <a:spcPts val="100"/>
              </a:spcAft>
            </a:pPr>
            <a:r>
              <a:rPr sz="700" b="1">
                <a:solidFill>
                  <a:srgbClr val="002060"/>
                </a:solidFill>
                <a:latin typeface="Arial"/>
              </a:rPr>
              <a:t>Tools &amp; Jira: </a:t>
            </a:r>
            <a:r>
              <a:rPr sz="700">
                <a:solidFill>
                  <a:srgbClr val="2C3E50"/>
                </a:solidFill>
                <a:latin typeface="Arial"/>
              </a:rPr>
              <a:t>Kanban/Scrum boards, issue hierarchy, health dashboards. Admin permissions defined.</a:t>
            </a:r>
          </a:p>
          <a:p>
            <a:pPr>
              <a:spcBef>
                <a:spcPts val="300"/>
              </a:spcBef>
              <a:spcAft>
                <a:spcPts val="100"/>
              </a:spcAft>
            </a:pPr>
            <a:r>
              <a:rPr sz="700" b="1">
                <a:solidFill>
                  <a:srgbClr val="002060"/>
                </a:solidFill>
                <a:latin typeface="Arial"/>
              </a:rPr>
              <a:t>KPIs: </a:t>
            </a:r>
            <a:r>
              <a:rPr sz="700">
                <a:solidFill>
                  <a:srgbClr val="2C3E50"/>
                </a:solidFill>
                <a:latin typeface="Arial"/>
              </a:rPr>
              <a:t>Multi-level: Portfolio → Program → Team. Formulas: Throughput, Lead Time, Velocity. Scorecards with 2026 targets.</a:t>
            </a:r>
          </a:p>
        </p:txBody>
      </p:sp>
      <p:sp>
        <p:nvSpPr>
          <p:cNvPr id="9" name="Rectangle 8"/>
          <p:cNvSpPr/>
          <p:nvPr/>
        </p:nvSpPr>
        <p:spPr>
          <a:xfrm>
            <a:off x="3246120" y="1234440"/>
            <a:ext cx="2633472"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Digital CoE</a:t>
            </a:r>
          </a:p>
        </p:txBody>
      </p:sp>
      <p:sp>
        <p:nvSpPr>
          <p:cNvPr id="10" name="Rectangle 9"/>
          <p:cNvSpPr/>
          <p:nvPr/>
        </p:nvSpPr>
        <p:spPr>
          <a:xfrm>
            <a:off x="3246120" y="1554480"/>
            <a:ext cx="2633472" cy="4709160"/>
          </a:xfrm>
          <a:prstGeom prst="rect">
            <a:avLst/>
          </a:prstGeom>
          <a:solidFill>
            <a:srgbClr val="E3F2FD"/>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9272" y="1618488"/>
            <a:ext cx="2487168" cy="4572000"/>
          </a:xfrm>
          <a:prstGeom prst="rect">
            <a:avLst/>
          </a:prstGeom>
          <a:noFill/>
        </p:spPr>
        <p:txBody>
          <a:bodyPr wrap="square">
            <a:spAutoFit/>
          </a:bodyPr>
          <a:lstStyle/>
          <a:p>
            <a:pPr>
              <a:spcAft>
                <a:spcPts val="100"/>
              </a:spcAft>
            </a:pPr>
            <a:r>
              <a:rPr sz="700" b="1">
                <a:solidFill>
                  <a:srgbClr val="0070C0"/>
                </a:solidFill>
                <a:latin typeface="Arial"/>
              </a:rPr>
              <a:t>Operating Model: </a:t>
            </a:r>
            <a:r>
              <a:rPr sz="700">
                <a:solidFill>
                  <a:srgbClr val="2C3E50"/>
                </a:solidFill>
                <a:latin typeface="Arial"/>
              </a:rPr>
              <a:t>E2E with Discovery upstream + Delivery downstream connected by feedback loops. Strategic Initiatives Funnel + Lean Business Case.</a:t>
            </a:r>
          </a:p>
          <a:p>
            <a:pPr>
              <a:spcBef>
                <a:spcPts val="300"/>
              </a:spcBef>
              <a:spcAft>
                <a:spcPts val="100"/>
              </a:spcAft>
            </a:pPr>
            <a:r>
              <a:rPr sz="700" b="1">
                <a:solidFill>
                  <a:srgbClr val="0070C0"/>
                </a:solidFill>
                <a:latin typeface="Arial"/>
              </a:rPr>
              <a:t>Prioritization: </a:t>
            </a:r>
            <a:r>
              <a:rPr sz="700">
                <a:solidFill>
                  <a:srgbClr val="2C3E50"/>
                </a:solidFill>
                <a:latin typeface="Arial"/>
              </a:rPr>
              <a:t>Same PBI formula + HEVA cycle for continuous discovery + COORG method for backlog ordering.</a:t>
            </a:r>
          </a:p>
          <a:p>
            <a:pPr>
              <a:spcBef>
                <a:spcPts val="300"/>
              </a:spcBef>
              <a:spcAft>
                <a:spcPts val="100"/>
              </a:spcAft>
            </a:pPr>
            <a:r>
              <a:rPr sz="700" b="1">
                <a:solidFill>
                  <a:srgbClr val="0070C0"/>
                </a:solidFill>
                <a:latin typeface="Arial"/>
              </a:rPr>
              <a:t>Portfolio: </a:t>
            </a:r>
            <a:r>
              <a:rPr sz="700">
                <a:solidFill>
                  <a:srgbClr val="2C3E50"/>
                </a:solidFill>
                <a:latin typeface="Arial"/>
              </a:rPr>
              <a:t>Portfolio Learn Cycle quarterly. 4 cycles/year with Strategy Workshops. Metrics: ILt, RpI, VbM.</a:t>
            </a:r>
          </a:p>
          <a:p>
            <a:pPr>
              <a:spcBef>
                <a:spcPts val="300"/>
              </a:spcBef>
              <a:spcAft>
                <a:spcPts val="100"/>
              </a:spcAft>
            </a:pPr>
            <a:r>
              <a:rPr sz="700" b="1">
                <a:solidFill>
                  <a:srgbClr val="0070C0"/>
                </a:solidFill>
                <a:latin typeface="Arial"/>
              </a:rPr>
              <a:t>Tools &amp; Jira: </a:t>
            </a:r>
            <a:r>
              <a:rPr sz="700">
                <a:solidFill>
                  <a:srgbClr val="2C3E50"/>
                </a:solidFill>
                <a:latin typeface="Arial"/>
              </a:rPr>
              <a:t>JIRA Playbook (41p): board design, portfolio view, stage-gates. NextGen Jira Guide. Most comprehensive.</a:t>
            </a:r>
          </a:p>
          <a:p>
            <a:pPr>
              <a:spcBef>
                <a:spcPts val="300"/>
              </a:spcBef>
              <a:spcAft>
                <a:spcPts val="100"/>
              </a:spcAft>
            </a:pPr>
            <a:r>
              <a:rPr sz="700" b="1">
                <a:solidFill>
                  <a:srgbClr val="0070C0"/>
                </a:solidFill>
                <a:latin typeface="Arial"/>
              </a:rPr>
              <a:t>Agile Practices: </a:t>
            </a:r>
            <a:r>
              <a:rPr sz="700">
                <a:solidFill>
                  <a:srgbClr val="2C3E50"/>
                </a:solidFill>
                <a:latin typeface="Arial"/>
              </a:rPr>
              <a:t>Agility Playbook (111 sl.): Scrum/Kanban, PBB, HEVA, Sprint Report Canvas, Health Radars.</a:t>
            </a:r>
          </a:p>
        </p:txBody>
      </p:sp>
      <p:sp>
        <p:nvSpPr>
          <p:cNvPr id="12" name="Rectangle 11"/>
          <p:cNvSpPr/>
          <p:nvPr/>
        </p:nvSpPr>
        <p:spPr>
          <a:xfrm>
            <a:off x="5989320" y="1234440"/>
            <a:ext cx="2633472" cy="2926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Infrastructure (Avangrid)</a:t>
            </a:r>
          </a:p>
        </p:txBody>
      </p:sp>
      <p:sp>
        <p:nvSpPr>
          <p:cNvPr id="13" name="Rectangle 12"/>
          <p:cNvSpPr/>
          <p:nvPr/>
        </p:nvSpPr>
        <p:spPr>
          <a:xfrm>
            <a:off x="5989320" y="1554480"/>
            <a:ext cx="2633472" cy="4709160"/>
          </a:xfrm>
          <a:prstGeom prst="rect">
            <a:avLst/>
          </a:prstGeom>
          <a:solidFill>
            <a:srgbClr val="E0F2F1"/>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62472" y="1618488"/>
            <a:ext cx="2487168" cy="4572000"/>
          </a:xfrm>
          <a:prstGeom prst="rect">
            <a:avLst/>
          </a:prstGeom>
          <a:noFill/>
        </p:spPr>
        <p:txBody>
          <a:bodyPr wrap="square">
            <a:spAutoFit/>
          </a:bodyPr>
          <a:lstStyle/>
          <a:p>
            <a:pPr>
              <a:spcAft>
                <a:spcPts val="100"/>
              </a:spcAft>
            </a:pPr>
            <a:r>
              <a:rPr sz="700" b="1">
                <a:solidFill>
                  <a:srgbClr val="009688"/>
                </a:solidFill>
                <a:latin typeface="Arial"/>
              </a:rPr>
              <a:t>Deployment: </a:t>
            </a:r>
            <a:r>
              <a:rPr sz="700">
                <a:solidFill>
                  <a:srgbClr val="2C3E50"/>
                </a:solidFill>
                <a:latin typeface="Arial"/>
              </a:rPr>
              <a:t>Pilot → Expansion → Optimization with governance at each transition. Sapiens Learning Cycles.</a:t>
            </a:r>
          </a:p>
          <a:p>
            <a:pPr>
              <a:spcBef>
                <a:spcPts val="300"/>
              </a:spcBef>
              <a:spcAft>
                <a:spcPts val="100"/>
              </a:spcAft>
            </a:pPr>
            <a:r>
              <a:rPr sz="700" b="1">
                <a:solidFill>
                  <a:srgbClr val="009688"/>
                </a:solidFill>
                <a:latin typeface="Arial"/>
              </a:rPr>
              <a:t>Team Structure: </a:t>
            </a:r>
            <a:r>
              <a:rPr sz="700">
                <a:solidFill>
                  <a:srgbClr val="2C3E50"/>
                </a:solidFill>
                <a:latin typeface="Arial"/>
              </a:rPr>
              <a:t>Team Topologies: 4 types, 3 interaction modes. Directly informs Digital Products positioning.</a:t>
            </a:r>
          </a:p>
          <a:p>
            <a:pPr>
              <a:spcBef>
                <a:spcPts val="300"/>
              </a:spcBef>
              <a:spcAft>
                <a:spcPts val="100"/>
              </a:spcAft>
            </a:pPr>
            <a:r>
              <a:rPr sz="700" b="1">
                <a:solidFill>
                  <a:srgbClr val="009688"/>
                </a:solidFill>
                <a:latin typeface="Arial"/>
              </a:rPr>
              <a:t>Portfolio: </a:t>
            </a:r>
            <a:r>
              <a:rPr sz="700">
                <a:solidFill>
                  <a:srgbClr val="2C3E50"/>
                </a:solidFill>
                <a:latin typeface="Arial"/>
              </a:rPr>
              <a:t>Program-level management. Per-unit-served investment model for OPCO cost allocation.</a:t>
            </a:r>
          </a:p>
          <a:p>
            <a:pPr>
              <a:spcBef>
                <a:spcPts val="300"/>
              </a:spcBef>
              <a:spcAft>
                <a:spcPts val="100"/>
              </a:spcAft>
            </a:pPr>
            <a:r>
              <a:rPr sz="700" b="1">
                <a:solidFill>
                  <a:srgbClr val="009688"/>
                </a:solidFill>
                <a:latin typeface="Arial"/>
              </a:rPr>
              <a:t>Documentation: </a:t>
            </a:r>
            <a:r>
              <a:rPr sz="700">
                <a:solidFill>
                  <a:srgbClr val="2C3E50"/>
                </a:solidFill>
                <a:latin typeface="Arial"/>
              </a:rPr>
              <a:t>Project Book template: Discover → Build → Operate. Blueprint Design method.</a:t>
            </a:r>
          </a:p>
        </p:txBody>
      </p:sp>
      <p:sp>
        <p:nvSpPr>
          <p:cNvPr id="15" name="Rectangle 14"/>
          <p:cNvSpPr/>
          <p:nvPr/>
        </p:nvSpPr>
        <p:spPr>
          <a:xfrm>
            <a:off x="8732520" y="1234440"/>
            <a:ext cx="2633472" cy="292608"/>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Renewables DTO</a:t>
            </a:r>
          </a:p>
        </p:txBody>
      </p:sp>
      <p:sp>
        <p:nvSpPr>
          <p:cNvPr id="16" name="Rectangle 15"/>
          <p:cNvSpPr/>
          <p:nvPr/>
        </p:nvSpPr>
        <p:spPr>
          <a:xfrm>
            <a:off x="8732520" y="1554480"/>
            <a:ext cx="2633472" cy="4709160"/>
          </a:xfrm>
          <a:prstGeom prst="rect">
            <a:avLst/>
          </a:prstGeom>
          <a:solidFill>
            <a:srgbClr val="FFF8E1"/>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5672" y="1618488"/>
            <a:ext cx="2487168" cy="4572000"/>
          </a:xfrm>
          <a:prstGeom prst="rect">
            <a:avLst/>
          </a:prstGeom>
          <a:noFill/>
        </p:spPr>
        <p:txBody>
          <a:bodyPr wrap="square">
            <a:spAutoFit/>
          </a:bodyPr>
          <a:lstStyle/>
          <a:p>
            <a:pPr>
              <a:spcAft>
                <a:spcPts val="100"/>
              </a:spcAft>
            </a:pPr>
            <a:r>
              <a:rPr sz="700" b="1">
                <a:solidFill>
                  <a:srgbClr val="D46B08"/>
                </a:solidFill>
                <a:latin typeface="Arial"/>
              </a:rPr>
              <a:t>Operating Model: </a:t>
            </a:r>
            <a:r>
              <a:rPr sz="700">
                <a:solidFill>
                  <a:srgbClr val="2C3E50"/>
                </a:solidFill>
                <a:latin typeface="Arial"/>
              </a:rPr>
              <a:t>Lean Kanban 4-pillar: Demand Intake → Prioritization → Delivery → Governance. Pull-based, E2E workflow defined.</a:t>
            </a:r>
          </a:p>
          <a:p>
            <a:pPr>
              <a:spcBef>
                <a:spcPts val="300"/>
              </a:spcBef>
              <a:spcAft>
                <a:spcPts val="100"/>
              </a:spcAft>
            </a:pPr>
            <a:r>
              <a:rPr sz="700" b="1">
                <a:solidFill>
                  <a:srgbClr val="D46B08"/>
                </a:solidFill>
                <a:latin typeface="Arial"/>
              </a:rPr>
              <a:t>Intake: </a:t>
            </a:r>
            <a:r>
              <a:rPr sz="700">
                <a:solidFill>
                  <a:srgbClr val="2C3E50"/>
                </a:solidFill>
                <a:latin typeface="Arial"/>
              </a:rPr>
              <a:t>Most operational: Jira-only single entry, Class of Service (Standard/Expedite/Fixed Date/Intangible), DoR gate.</a:t>
            </a:r>
          </a:p>
          <a:p>
            <a:pPr>
              <a:spcBef>
                <a:spcPts val="300"/>
              </a:spcBef>
              <a:spcAft>
                <a:spcPts val="100"/>
              </a:spcAft>
            </a:pPr>
            <a:r>
              <a:rPr sz="700" b="1">
                <a:solidFill>
                  <a:srgbClr val="D46B08"/>
                </a:solidFill>
                <a:latin typeface="Arial"/>
              </a:rPr>
              <a:t>Prioritization: </a:t>
            </a:r>
            <a:r>
              <a:rPr sz="700">
                <a:solidFill>
                  <a:srgbClr val="2C3E50"/>
                </a:solidFill>
                <a:latin typeface="Arial"/>
              </a:rPr>
              <a:t>Continuous (not batch). Capacity Allocation: Build 60%, BAU 25%, Upgrades 15%.</a:t>
            </a:r>
          </a:p>
          <a:p>
            <a:pPr>
              <a:spcBef>
                <a:spcPts val="300"/>
              </a:spcBef>
              <a:spcAft>
                <a:spcPts val="100"/>
              </a:spcAft>
            </a:pPr>
            <a:r>
              <a:rPr sz="700" b="1">
                <a:solidFill>
                  <a:srgbClr val="D46B08"/>
                </a:solidFill>
                <a:latin typeface="Arial"/>
              </a:rPr>
              <a:t>Execution: </a:t>
            </a:r>
            <a:r>
              <a:rPr sz="700">
                <a:solidFill>
                  <a:srgbClr val="2C3E50"/>
                </a:solidFill>
                <a:latin typeface="Arial"/>
              </a:rPr>
              <a:t>Pull-based with WIP limits. 2-level board: Epic Kanban + Project Kanban. Flow Metrics dashboard.</a:t>
            </a:r>
          </a:p>
          <a:p>
            <a:pPr>
              <a:spcBef>
                <a:spcPts val="300"/>
              </a:spcBef>
              <a:spcAft>
                <a:spcPts val="100"/>
              </a:spcAft>
            </a:pPr>
            <a:r>
              <a:rPr sz="700" b="1">
                <a:solidFill>
                  <a:srgbClr val="D46B08"/>
                </a:solidFill>
                <a:latin typeface="Arial"/>
              </a:rPr>
              <a:t>Baseline: </a:t>
            </a:r>
            <a:r>
              <a:rPr sz="700">
                <a:solidFill>
                  <a:srgbClr val="2C3E50"/>
                </a:solidFill>
                <a:latin typeface="Arial"/>
              </a:rPr>
              <a:t>Complete current-state diagnosis: exec summary + findings per pillar. Template for Digital Products baseline.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defRPr sz="1300" b="1">
                <a:solidFill>
                  <a:srgbClr val="002060"/>
                </a:solidFill>
                <a:latin typeface="Arial"/>
              </a:defRPr>
            </a:pPr>
            <a:r>
              <a:t>Existing Assets — E2E Operating Model &amp; Value Framework (1/5)</a:t>
            </a:r>
          </a:p>
        </p:txBody>
      </p:sp>
      <p:sp>
        <p:nvSpPr>
          <p:cNvPr id="5" name="Rectangle 4"/>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graphicFrame>
        <p:nvGraphicFramePr>
          <p:cNvPr id="6" name="Table 5"/>
          <p:cNvGraphicFramePr>
            <a:graphicFrameLocks noGrp="1"/>
          </p:cNvGraphicFramePr>
          <p:nvPr/>
        </p:nvGraphicFramePr>
        <p:xfrm>
          <a:off x="91440" y="868680"/>
          <a:ext cx="11978640" cy="5230368"/>
        </p:xfrm>
        <a:graphic>
          <a:graphicData uri="http://schemas.openxmlformats.org/drawingml/2006/table">
            <a:tbl>
              <a:tblPr firstRow="1" bandRow="1">
                <a:tableStyleId>{5C22544A-7EE6-4342-B048-85BDC9FD1C3A}</a:tableStyleId>
              </a:tblPr>
              <a:tblGrid>
                <a:gridCol w="1005840"/>
                <a:gridCol w="2468880"/>
                <a:gridCol w="2286000"/>
                <a:gridCol w="1463040"/>
                <a:gridCol w="2103120"/>
                <a:gridCol w="2651760"/>
              </a:tblGrid>
              <a:tr h="1743456">
                <a:tc>
                  <a:txBody>
                    <a:bodyPr wrap="square"/>
                    <a:lstStyle/>
                    <a:p>
                      <a:pPr algn="ctr">
                        <a:defRPr sz="700" b="1">
                          <a:solidFill>
                            <a:srgbClr val="FFFFFF"/>
                          </a:solidFill>
                          <a:latin typeface="Arial"/>
                        </a:defRPr>
                      </a:pPr>
                      <a:r>
                        <a:t>Deliverable</a:t>
                      </a:r>
                    </a:p>
                  </a:txBody>
                  <a:tcPr anchor="ctr">
                    <a:solidFill>
                      <a:srgbClr val="002060"/>
                    </a:solidFill>
                  </a:tcPr>
                </a:tc>
                <a:tc>
                  <a:txBody>
                    <a:bodyPr wrap="square"/>
                    <a:lstStyle/>
                    <a:p>
                      <a:pPr algn="ctr">
                        <a:defRPr sz="700" b="1">
                          <a:solidFill>
                            <a:srgbClr val="FFFFFF"/>
                          </a:solidFill>
                          <a:latin typeface="Arial"/>
                        </a:defRPr>
                      </a:pPr>
                      <a:r>
                        <a:t>P&amp;S / P&amp;T</a:t>
                      </a:r>
                    </a:p>
                  </a:txBody>
                  <a:tcPr anchor="ctr">
                    <a:solidFill>
                      <a:srgbClr val="002060"/>
                    </a:solidFill>
                  </a:tcPr>
                </a:tc>
                <a:tc>
                  <a:txBody>
                    <a:bodyPr wrap="square"/>
                    <a:lstStyle/>
                    <a:p>
                      <a:pPr algn="ctr">
                        <a:defRPr sz="700" b="1">
                          <a:solidFill>
                            <a:srgbClr val="FFFFFF"/>
                          </a:solidFill>
                          <a:latin typeface="Arial"/>
                        </a:defRPr>
                      </a:pPr>
                      <a:r>
                        <a:t>Digital CoE</a:t>
                      </a:r>
                    </a:p>
                  </a:txBody>
                  <a:tcPr anchor="ctr">
                    <a:solidFill>
                      <a:srgbClr val="002060"/>
                    </a:solidFill>
                  </a:tcPr>
                </a:tc>
                <a:tc>
                  <a:txBody>
                    <a:bodyPr wrap="square"/>
                    <a:lstStyle/>
                    <a:p>
                      <a:pPr algn="ctr">
                        <a:defRPr sz="700" b="1">
                          <a:solidFill>
                            <a:srgbClr val="FFFFFF"/>
                          </a:solidFill>
                          <a:latin typeface="Arial"/>
                        </a:defRPr>
                      </a:pPr>
                      <a:r>
                        <a:t>Infrastructure</a:t>
                      </a:r>
                    </a:p>
                  </a:txBody>
                  <a:tcPr anchor="ctr">
                    <a:solidFill>
                      <a:srgbClr val="002060"/>
                    </a:solidFill>
                  </a:tcPr>
                </a:tc>
                <a:tc>
                  <a:txBody>
                    <a:bodyPr wrap="square"/>
                    <a:lstStyle/>
                    <a:p>
                      <a:pPr algn="ctr">
                        <a:defRPr sz="700" b="1">
                          <a:solidFill>
                            <a:srgbClr val="FFFFFF"/>
                          </a:solidFill>
                          <a:latin typeface="Arial"/>
                        </a:defRPr>
                      </a:pPr>
                      <a:r>
                        <a:t>Renewables DTO</a:t>
                      </a:r>
                    </a:p>
                  </a:txBody>
                  <a:tcPr anchor="ctr">
                    <a:solidFill>
                      <a:srgbClr val="002060"/>
                    </a:solidFill>
                  </a:tcPr>
                </a:tc>
                <a:tc>
                  <a:txBody>
                    <a:bodyPr wrap="square"/>
                    <a:lstStyle/>
                    <a:p>
                      <a:pPr algn="ctr">
                        <a:defRPr sz="700" b="1">
                          <a:solidFill>
                            <a:srgbClr val="FFFFFF"/>
                          </a:solidFill>
                          <a:latin typeface="Arial"/>
                        </a:defRPr>
                      </a:pPr>
                      <a:r>
                        <a:t>Digital Products (Reuse)</a:t>
                      </a:r>
                    </a:p>
                  </a:txBody>
                  <a:tcPr anchor="ctr">
                    <a:solidFill>
                      <a:srgbClr val="00B050"/>
                    </a:solidFill>
                  </a:tcPr>
                </a:tc>
              </a:tr>
              <a:tr h="1743456">
                <a:tc>
                  <a:txBody>
                    <a:bodyPr wrap="square"/>
                    <a:lstStyle/>
                    <a:p>
                      <a:pPr>
                        <a:defRPr sz="800" b="1">
                          <a:solidFill>
                            <a:srgbClr val="2C3E50"/>
                          </a:solidFill>
                          <a:latin typeface="Arial"/>
                        </a:defRPr>
                      </a:pPr>
                      <a:r>
                        <a:t>E2E Operating</a:t>
                      </a:r>
                      <a:br/>
                      <a:r>
                        <a:t>Model</a:t>
                      </a:r>
                    </a:p>
                  </a:txBody>
                  <a:tcPr anchor="t">
                    <a:solidFill>
                      <a:srgbClr val="FFFFFF"/>
                    </a:solidFill>
                  </a:tcPr>
                </a:tc>
                <a:tc>
                  <a:txBody>
                    <a:bodyPr wrap="square"/>
                    <a:lstStyle/>
                    <a:p>
                      <a:r>
                        <a:rPr sz="700">
                          <a:solidFill>
                            <a:srgbClr val="2C3E50"/>
                          </a:solidFill>
                          <a:latin typeface="Arial"/>
                        </a:rPr>
                        <a:t>P&amp;S built a 4-phase lifecycle (Discovery → Materialization → Creation → Ongoing) with 15+ sub-steps mapped E2E (nWOW Sl. 38). Governance uses 3-tier Flight Level model (Portfolio → Program → Project) with Kanban at each level (PM Playbook Sl. 76). Phase gates with entry/exit criteria (nWOW Sl. 34). Big Room Planning quarterly alignment (nWOW Sl. 51). Most mature — running in production.</a:t>
                      </a:r>
                    </a:p>
                    <a:p>
                      <a:pPr>
                        <a:spcBef>
                          <a:spcPts val="200"/>
                        </a:spcBef>
                      </a:pPr>
                      <a:r>
                        <a:rPr sz="600">
                          <a:solidFill>
                            <a:srgbClr val="7F8C8D"/>
                          </a:solidFill>
                          <a:latin typeface="Arial"/>
                        </a:rPr>
                        <a:t>→ </a:t>
                      </a:r>
                      <a:r>
                        <a:rPr sz="600" u="sng">
                          <a:solidFill>
                            <a:srgbClr val="0072BC"/>
                          </a:solidFill>
                          <a:latin typeface="Arial"/>
                          <a:hlinkClick r:id="rId2"/>
                        </a:rPr>
                        <a:t>nWOW - New Ways of Working - P&amp;S Lean Operating Model 03.10.2026 v1.2.pptx</a:t>
                      </a:r>
                      <a:r>
                        <a:rPr sz="600" b="1">
                          <a:solidFill>
                            <a:srgbClr val="2C3E50"/>
                          </a:solidFill>
                          <a:latin typeface="Arial"/>
                        </a:rPr>
                        <a:t>  |  Sl. 5, 32, 34, 38</a:t>
                      </a:r>
                    </a:p>
                    <a:p>
                      <a:pPr>
                        <a:spcBef>
                          <a:spcPts val="200"/>
                        </a:spcBef>
                      </a:pPr>
                      <a:r>
                        <a:rPr sz="600">
                          <a:solidFill>
                            <a:srgbClr val="7F8C8D"/>
                          </a:solidFill>
                          <a:latin typeface="Arial"/>
                        </a:rPr>
                        <a:t>→ </a:t>
                      </a:r>
                      <a:r>
                        <a:rPr sz="600" u="sng">
                          <a:solidFill>
                            <a:srgbClr val="0072BC"/>
                          </a:solidFill>
                          <a:latin typeface="Arial"/>
                          <a:hlinkClick r:id="rId3"/>
                        </a:rPr>
                        <a:t>[00] Project Management Playbook - P&amp;S Ways of Working 10.28.25 v.1.0-2.pptx</a:t>
                      </a:r>
                      <a:r>
                        <a:rPr sz="600" b="1">
                          <a:solidFill>
                            <a:srgbClr val="2C3E50"/>
                          </a:solidFill>
                          <a:latin typeface="Arial"/>
                        </a:rPr>
                        <a:t>  |  Sl. 9, 76, 81, 85, 119</a:t>
                      </a:r>
                    </a:p>
                    <a:p>
                      <a:pPr>
                        <a:spcBef>
                          <a:spcPts val="200"/>
                        </a:spcBef>
                      </a:pPr>
                      <a:r>
                        <a:rPr sz="600">
                          <a:solidFill>
                            <a:srgbClr val="7F8C8D"/>
                          </a:solidFill>
                          <a:latin typeface="Arial"/>
                        </a:rPr>
                        <a:t>→ </a:t>
                      </a:r>
                      <a:r>
                        <a:rPr sz="600" u="sng">
                          <a:solidFill>
                            <a:srgbClr val="0072BC"/>
                          </a:solidFill>
                          <a:latin typeface="Arial"/>
                          <a:hlinkClick r:id="rId4"/>
                        </a:rPr>
                        <a:t>[00] Product Discovery Playbook - P&amp;S Ways of Working 02.03.26 v.1.3 +FIGMA.pptx</a:t>
                      </a:r>
                      <a:r>
                        <a:rPr sz="600" b="1">
                          <a:solidFill>
                            <a:srgbClr val="2C3E50"/>
                          </a:solidFill>
                          <a:latin typeface="Arial"/>
                        </a:rPr>
                        <a:t>  |  Sl. 12</a:t>
                      </a:r>
                    </a:p>
                  </a:txBody>
                  <a:tcPr anchor="t">
                    <a:solidFill>
                      <a:srgbClr val="FFFFFF"/>
                    </a:solidFill>
                  </a:tcPr>
                </a:tc>
                <a:tc>
                  <a:txBody>
                    <a:bodyPr wrap="square"/>
                    <a:lstStyle/>
                    <a:p>
                      <a:r>
                        <a:rPr sz="700">
                          <a:solidFill>
                            <a:srgbClr val="2C3E50"/>
                          </a:solidFill>
                          <a:latin typeface="Arial"/>
                        </a:rPr>
                        <a:t>3-tier governance (CoE Playbook Sl. 7) with Discovery upstream before delivery (CoE Playbook Sl. 9). Strategic Initiatives Funnel + Lean Business Case gates (CoE Playbook Sl. 10). Discovery/Delivery as separate Kanban boards with feedback loops (CoE Playbook Sl. 47-48). Tracks Cycle Time per phase (CoE Playbook Sl. 41).</a:t>
                      </a:r>
                    </a:p>
                    <a:p>
                      <a:pPr>
                        <a:spcBef>
                          <a:spcPts val="200"/>
                        </a:spcBef>
                      </a:pPr>
                      <a:r>
                        <a:rPr sz="600">
                          <a:solidFill>
                            <a:srgbClr val="7F8C8D"/>
                          </a:solidFill>
                          <a:latin typeface="Arial"/>
                        </a:rPr>
                        <a:t>→ </a:t>
                      </a:r>
                      <a:r>
                        <a:rPr sz="600" u="sng">
                          <a:solidFill>
                            <a:srgbClr val="0072BC"/>
                          </a:solidFill>
                          <a:latin typeface="Arial"/>
                          <a:hlinkClick r:id="rId5"/>
                        </a:rPr>
                        <a:t>[12] Digital CoE Operating Model - Playbook - 01.05.2026 V.2.5. FINAL pptx.pptx</a:t>
                      </a:r>
                      <a:r>
                        <a:rPr sz="600" b="1">
                          <a:solidFill>
                            <a:srgbClr val="2C3E50"/>
                          </a:solidFill>
                          <a:latin typeface="Arial"/>
                        </a:rPr>
                        <a:t>  |  Sl. 4, 7, 9, 10, 36, 41, 47</a:t>
                      </a:r>
                    </a:p>
                  </a:txBody>
                  <a:tcPr anchor="t">
                    <a:solidFill>
                      <a:srgbClr val="FFFFFF"/>
                    </a:solidFill>
                  </a:tcPr>
                </a:tc>
                <a:tc>
                  <a:txBody>
                    <a:bodyPr wrap="square"/>
                    <a:lstStyle/>
                    <a:p>
                      <a:r>
                        <a:rPr sz="700">
                          <a:solidFill>
                            <a:srgbClr val="2C3E50"/>
                          </a:solidFill>
                          <a:latin typeface="Arial"/>
                        </a:rPr>
                        <a:t>Deployment: Pilot → Expansion → Optimization (Avangrid Sl. 10). Team Topologies (Avangrid Sl. 29-32). Iterative: 1 pilot → learn → expand to 7+ teams (Avangrid Sl. 44). Change management playbook.</a:t>
                      </a:r>
                    </a:p>
                    <a:p>
                      <a:pPr>
                        <a:spcBef>
                          <a:spcPts val="200"/>
                        </a:spcBef>
                      </a:pPr>
                      <a:r>
                        <a:rPr sz="600">
                          <a:solidFill>
                            <a:srgbClr val="7F8C8D"/>
                          </a:solidFill>
                          <a:latin typeface="Arial"/>
                        </a:rPr>
                        <a:t>→ </a:t>
                      </a:r>
                      <a:r>
                        <a:rPr sz="600" u="sng">
                          <a:solidFill>
                            <a:srgbClr val="0072BC"/>
                          </a:solidFill>
                          <a:latin typeface="Arial"/>
                          <a:hlinkClick r:id="rId6"/>
                        </a:rPr>
                        <a:t>Agile Management Model _ Proposal Avangrid Architecture V.3.1 18.01.2024 3.pptx</a:t>
                      </a:r>
                      <a:r>
                        <a:rPr sz="600" b="1">
                          <a:solidFill>
                            <a:srgbClr val="2C3E50"/>
                          </a:solidFill>
                          <a:latin typeface="Arial"/>
                        </a:rPr>
                        <a:t>  |  Sl. 10, 23, 29, 31, 33, 44</a:t>
                      </a:r>
                    </a:p>
                  </a:txBody>
                  <a:tcPr anchor="t">
                    <a:solidFill>
                      <a:srgbClr val="FFFFFF"/>
                    </a:solidFill>
                  </a:tcPr>
                </a:tc>
                <a:tc>
                  <a:txBody>
                    <a:bodyPr wrap="square"/>
                    <a:lstStyle/>
                    <a:p>
                      <a:r>
                        <a:rPr sz="700">
                          <a:solidFill>
                            <a:srgbClr val="2C3E50"/>
                          </a:solidFill>
                          <a:latin typeface="Arial"/>
                        </a:rPr>
                        <a:t>Lean Kanban 4-pillar model: Demand Intake → Prioritization → Delivery → Governance (DTO Sl. 5). E2E Workflow (DTO Sl. 28-30). Governance with DoR/DoD, WIP limits, Class of Service swimlanes (DTO Sl. 23-24). 2-level board: Epic + Project Kanban (DTO Sl. 12, 14). Pull-based. Current state diagnosis (DTO Sl. 3, 8).</a:t>
                      </a:r>
                    </a:p>
                    <a:p>
                      <a:pPr>
                        <a:spcBef>
                          <a:spcPts val="200"/>
                        </a:spcBef>
                      </a:pPr>
                      <a:r>
                        <a:rPr sz="600">
                          <a:solidFill>
                            <a:srgbClr val="7F8C8D"/>
                          </a:solidFill>
                          <a:latin typeface="Arial"/>
                        </a:rPr>
                        <a:t>→ </a:t>
                      </a:r>
                      <a:r>
                        <a:rPr sz="600" u="sng">
                          <a:solidFill>
                            <a:srgbClr val="0072BC"/>
                          </a:solidFill>
                          <a:latin typeface="Arial"/>
                          <a:hlinkClick r:id="rId7"/>
                        </a:rPr>
                        <a:t>NextGen_DTO_Deliverable1 - Final.pptx</a:t>
                      </a:r>
                      <a:r>
                        <a:rPr sz="600" b="1">
                          <a:solidFill>
                            <a:srgbClr val="2C3E50"/>
                          </a:solidFill>
                          <a:latin typeface="Arial"/>
                        </a:rPr>
                        <a:t>  |  Sl. 3, 5, 8, 12, 14, 23-24, 28-30</a:t>
                      </a:r>
                    </a:p>
                  </a:txBody>
                  <a:tcPr anchor="t">
                    <a:solidFill>
                      <a:srgbClr val="FFFFFF"/>
                    </a:solidFill>
                  </a:tcPr>
                </a:tc>
                <a:tc>
                  <a:txBody>
                    <a:bodyPr wrap="square"/>
                    <a:lstStyle/>
                    <a:p>
                      <a:pPr>
                        <a:defRPr sz="650">
                          <a:solidFill>
                            <a:srgbClr val="2C3E50"/>
                          </a:solidFill>
                          <a:latin typeface="Arial"/>
                        </a:defRPr>
                      </a:pPr>
                      <a:r>
                        <a:t>ADAPT from P&amp;S — because it's the only lifecycle running in production with proven phase gates and artifacts. ADOPT CoE's Discovery/Delivery separation — because it enforces validation before commitment, reducing wasted delivery effort. ADOPT Infra's Pilot → Expansion → Optimization — because Digital Products needs to roll out across OPCOs exactly like Infra did across teams. ADOPT DTO's pull-based execution — because it eliminates the bottleneck of push-based assignment.</a:t>
                      </a:r>
                    </a:p>
                  </a:txBody>
                  <a:tcPr anchor="t">
                    <a:solidFill>
                      <a:srgbClr val="E8F5E9"/>
                    </a:solidFill>
                  </a:tcPr>
                </a:tc>
              </a:tr>
              <a:tr h="1743456">
                <a:tc>
                  <a:txBody>
                    <a:bodyPr wrap="square"/>
                    <a:lstStyle/>
                    <a:p>
                      <a:pPr>
                        <a:defRPr sz="800" b="1">
                          <a:solidFill>
                            <a:srgbClr val="2C3E50"/>
                          </a:solidFill>
                          <a:latin typeface="Arial"/>
                        </a:defRPr>
                      </a:pPr>
                      <a:r>
                        <a:t>Value &amp;</a:t>
                      </a:r>
                      <a:br/>
                      <a:r>
                        <a:t>Prioritization</a:t>
                      </a:r>
                    </a:p>
                  </a:txBody>
                  <a:tcPr anchor="t">
                    <a:solidFill>
                      <a:srgbClr val="F5F5F5"/>
                    </a:solidFill>
                  </a:tcPr>
                </a:tc>
                <a:tc>
                  <a:txBody>
                    <a:bodyPr wrap="square"/>
                    <a:lstStyle/>
                    <a:p>
                      <a:r>
                        <a:rPr sz="700">
                          <a:solidFill>
                            <a:srgbClr val="2C3E50"/>
                          </a:solidFill>
                          <a:latin typeface="Arial"/>
                        </a:rPr>
                        <a:t>Portfolio Prioritization Calculator (nWOW Sl. 59) with 1-10 scoring: BV, UX, Effort, Skill, Size. Formula PBI(x) = (BV+UX)/E (nWOW Sl. 77; PD Playbook Sl. 82). Business Value Criteria tied to Avangrid axes (nWOW Sl. 72). Effort Matrix S/M/L (nWOW Sl. 69).</a:t>
                      </a:r>
                    </a:p>
                    <a:p>
                      <a:pPr>
                        <a:spcBef>
                          <a:spcPts val="200"/>
                        </a:spcBef>
                      </a:pPr>
                      <a:r>
                        <a:rPr sz="600">
                          <a:solidFill>
                            <a:srgbClr val="7F8C8D"/>
                          </a:solidFill>
                          <a:latin typeface="Arial"/>
                        </a:rPr>
                        <a:t>→ </a:t>
                      </a:r>
                      <a:r>
                        <a:rPr sz="600" u="sng">
                          <a:solidFill>
                            <a:srgbClr val="0072BC"/>
                          </a:solidFill>
                          <a:latin typeface="Arial"/>
                          <a:hlinkClick r:id="rId2"/>
                        </a:rPr>
                        <a:t>nWOW - New Ways of Working - P&amp;S Lean Operating Model 03.10.2026 v1.2.pptx</a:t>
                      </a:r>
                      <a:r>
                        <a:rPr sz="600" b="1">
                          <a:solidFill>
                            <a:srgbClr val="2C3E50"/>
                          </a:solidFill>
                          <a:latin typeface="Arial"/>
                        </a:rPr>
                        <a:t>  |  Sl. 35, 42, 59, 69, 71, 77, 85</a:t>
                      </a:r>
                    </a:p>
                    <a:p>
                      <a:pPr>
                        <a:spcBef>
                          <a:spcPts val="200"/>
                        </a:spcBef>
                      </a:pPr>
                      <a:r>
                        <a:rPr sz="600">
                          <a:solidFill>
                            <a:srgbClr val="7F8C8D"/>
                          </a:solidFill>
                          <a:latin typeface="Arial"/>
                        </a:rPr>
                        <a:t>→ </a:t>
                      </a:r>
                      <a:r>
                        <a:rPr sz="600" u="sng">
                          <a:solidFill>
                            <a:srgbClr val="0072BC"/>
                          </a:solidFill>
                          <a:latin typeface="Arial"/>
                          <a:hlinkClick r:id="rId4"/>
                        </a:rPr>
                        <a:t>[00] Product Discovery Playbook - P&amp;S Ways of Working 02.03.26 v.1.3 +FIGMA.pptx</a:t>
                      </a:r>
                      <a:r>
                        <a:rPr sz="600" b="1">
                          <a:solidFill>
                            <a:srgbClr val="2C3E50"/>
                          </a:solidFill>
                          <a:latin typeface="Arial"/>
                        </a:rPr>
                        <a:t>  |  Sl. 82, 103</a:t>
                      </a:r>
                    </a:p>
                    <a:p>
                      <a:pPr>
                        <a:spcBef>
                          <a:spcPts val="200"/>
                        </a:spcBef>
                      </a:pPr>
                      <a:r>
                        <a:rPr sz="600">
                          <a:solidFill>
                            <a:srgbClr val="7F8C8D"/>
                          </a:solidFill>
                          <a:latin typeface="Arial"/>
                        </a:rPr>
                        <a:t>→ </a:t>
                      </a:r>
                      <a:r>
                        <a:rPr sz="600" u="sng">
                          <a:solidFill>
                            <a:srgbClr val="0072BC"/>
                          </a:solidFill>
                          <a:latin typeface="Arial"/>
                          <a:hlinkClick r:id="rId8"/>
                        </a:rPr>
                        <a:t>BRP_Q2_2026_P&amp;S Networks IT - New Ways of Working - v1.4.4 03.09.2026.pptx</a:t>
                      </a:r>
                      <a:r>
                        <a:rPr sz="600" b="1">
                          <a:solidFill>
                            <a:srgbClr val="2C3E50"/>
                          </a:solidFill>
                          <a:latin typeface="Arial"/>
                        </a:rPr>
                        <a:t>  |  Sl. 16</a:t>
                      </a:r>
                    </a:p>
                  </a:txBody>
                  <a:tcPr anchor="t">
                    <a:solidFill>
                      <a:srgbClr val="F5F5F5"/>
                    </a:solidFill>
                  </a:tcPr>
                </a:tc>
                <a:tc>
                  <a:txBody>
                    <a:bodyPr wrap="square"/>
                    <a:lstStyle/>
                    <a:p>
                      <a:r>
                        <a:rPr sz="700">
                          <a:solidFill>
                            <a:srgbClr val="2C3E50"/>
                          </a:solidFill>
                          <a:latin typeface="Arial"/>
                        </a:rPr>
                        <a:t>Same PBI(x) = (BV+UX)/E (CoE Playbook Sl. 84) + HEVA cycle (Agility Playbook Sl. 57). COORG method (Agility Playbook Sl. 78). Planning Poker (Agility Playbook Sl. 79). Prioritizes at backlog level vs P&amp;S portfolio level.</a:t>
                      </a:r>
                    </a:p>
                    <a:p>
                      <a:pPr>
                        <a:spcBef>
                          <a:spcPts val="200"/>
                        </a:spcBef>
                      </a:pPr>
                      <a:r>
                        <a:rPr sz="600">
                          <a:solidFill>
                            <a:srgbClr val="7F8C8D"/>
                          </a:solidFill>
                          <a:latin typeface="Arial"/>
                        </a:rPr>
                        <a:t>→ </a:t>
                      </a:r>
                      <a:r>
                        <a:rPr sz="600" u="sng">
                          <a:solidFill>
                            <a:srgbClr val="0072BC"/>
                          </a:solidFill>
                          <a:latin typeface="Arial"/>
                          <a:hlinkClick r:id="rId5"/>
                        </a:rPr>
                        <a:t>[12] Digital CoE Operating Model - Playbook - 01.05.2026 V.2.5. FINAL pptx.pptx</a:t>
                      </a:r>
                      <a:r>
                        <a:rPr sz="600" b="1">
                          <a:solidFill>
                            <a:srgbClr val="2C3E50"/>
                          </a:solidFill>
                          <a:latin typeface="Arial"/>
                        </a:rPr>
                        <a:t>  |  Sl. 83, 84</a:t>
                      </a:r>
                    </a:p>
                    <a:p>
                      <a:pPr>
                        <a:spcBef>
                          <a:spcPts val="200"/>
                        </a:spcBef>
                      </a:pPr>
                      <a:r>
                        <a:rPr sz="600">
                          <a:solidFill>
                            <a:srgbClr val="7F8C8D"/>
                          </a:solidFill>
                          <a:latin typeface="Arial"/>
                        </a:rPr>
                        <a:t>→ </a:t>
                      </a:r>
                      <a:r>
                        <a:rPr sz="600" u="sng">
                          <a:solidFill>
                            <a:srgbClr val="0072BC"/>
                          </a:solidFill>
                          <a:latin typeface="Arial"/>
                          <a:hlinkClick r:id="rId9"/>
                        </a:rPr>
                        <a:t>[17] Agility Playbook - Digital Center of Excellence 06.18.2025 V.1.7.pptx</a:t>
                      </a:r>
                      <a:r>
                        <a:rPr sz="600" b="1">
                          <a:solidFill>
                            <a:srgbClr val="2C3E50"/>
                          </a:solidFill>
                          <a:latin typeface="Arial"/>
                        </a:rPr>
                        <a:t>  |  Sl. 51, 57, 78, 79, 82, 83</a:t>
                      </a:r>
                    </a:p>
                  </a:txBody>
                  <a:tcPr anchor="t">
                    <a:solidFill>
                      <a:srgbClr val="F5F5F5"/>
                    </a:solidFill>
                  </a:tcPr>
                </a:tc>
                <a:tc>
                  <a:txBody>
                    <a:bodyPr wrap="square"/>
                    <a:lstStyle/>
                    <a:p>
                      <a:r>
                        <a:rPr sz="700" i="1">
                          <a:solidFill>
                            <a:srgbClr val="95A5A6"/>
                          </a:solidFill>
                          <a:latin typeface="Arial"/>
                        </a:rPr>
                        <a:t>—</a:t>
                      </a:r>
                    </a:p>
                  </a:txBody>
                  <a:tcPr anchor="t">
                    <a:solidFill>
                      <a:srgbClr val="F5F5F5"/>
                    </a:solidFill>
                  </a:tcPr>
                </a:tc>
                <a:tc>
                  <a:txBody>
                    <a:bodyPr wrap="square"/>
                    <a:lstStyle/>
                    <a:p>
                      <a:r>
                        <a:rPr sz="700">
                          <a:solidFill>
                            <a:srgbClr val="2C3E50"/>
                          </a:solidFill>
                          <a:latin typeface="Arial"/>
                        </a:rPr>
                        <a:t>Continuous backlog prioritization (DTO Sl. 21). Scoring: business value, urgency, capacity (DTO Sl. 38). Prioritized Backlog single queue (DTO Sl. 22). Capacity Allocation: Build 60%, BAU 25%, Upgrades 15% (DTO Sl. 39). Current state: no criteria (DTO Sl. 7).</a:t>
                      </a:r>
                    </a:p>
                    <a:p>
                      <a:pPr>
                        <a:spcBef>
                          <a:spcPts val="200"/>
                        </a:spcBef>
                      </a:pPr>
                      <a:r>
                        <a:rPr sz="600">
                          <a:solidFill>
                            <a:srgbClr val="7F8C8D"/>
                          </a:solidFill>
                          <a:latin typeface="Arial"/>
                        </a:rPr>
                        <a:t>→ </a:t>
                      </a:r>
                      <a:r>
                        <a:rPr sz="600" u="sng">
                          <a:solidFill>
                            <a:srgbClr val="0072BC"/>
                          </a:solidFill>
                          <a:latin typeface="Arial"/>
                          <a:hlinkClick r:id="rId7"/>
                        </a:rPr>
                        <a:t>NextGen_DTO_Deliverable1 - Final.pptx</a:t>
                      </a:r>
                      <a:r>
                        <a:rPr sz="600" b="1">
                          <a:solidFill>
                            <a:srgbClr val="2C3E50"/>
                          </a:solidFill>
                          <a:latin typeface="Arial"/>
                        </a:rPr>
                        <a:t>  |  Sl. 7, 21, 22, 36, 38, 39, 41</a:t>
                      </a:r>
                    </a:p>
                  </a:txBody>
                  <a:tcPr anchor="t">
                    <a:solidFill>
                      <a:srgbClr val="F5F5F5"/>
                    </a:solidFill>
                  </a:tcPr>
                </a:tc>
                <a:tc>
                  <a:txBody>
                    <a:bodyPr wrap="square"/>
                    <a:lstStyle/>
                    <a:p>
                      <a:pPr>
                        <a:defRPr sz="650">
                          <a:solidFill>
                            <a:srgbClr val="2C3E50"/>
                          </a:solidFill>
                          <a:latin typeface="Arial"/>
                        </a:defRPr>
                      </a:pPr>
                      <a:r>
                        <a:t>REUSE PBI formula (BV+UX)/E — because both P&amp;S and CoE already use it, so there's organizational familiarity and no need to introduce a new scoring model. ADOPT DTO's continuous prioritization — because batch prioritization creates bottlenecks when demand is constant. ADOPT DTO's capacity allocation model — because Digital Products needs to balance BAU maintenance with new capabilities.</a:t>
                      </a:r>
                    </a:p>
                  </a:txBody>
                  <a:tcPr anchor="t">
                    <a:solidFill>
                      <a:srgbClr val="C8E6C9"/>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defRPr sz="1300" b="1">
                <a:solidFill>
                  <a:srgbClr val="002060"/>
                </a:solidFill>
                <a:latin typeface="Arial"/>
              </a:defRPr>
            </a:pPr>
            <a:r>
              <a:t>Existing Assets — Demand Intake &amp; Roles / RACI (2/5)</a:t>
            </a:r>
          </a:p>
        </p:txBody>
      </p:sp>
      <p:sp>
        <p:nvSpPr>
          <p:cNvPr id="5" name="Rectangle 4"/>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graphicFrame>
        <p:nvGraphicFramePr>
          <p:cNvPr id="6" name="Table 5"/>
          <p:cNvGraphicFramePr>
            <a:graphicFrameLocks noGrp="1"/>
          </p:cNvGraphicFramePr>
          <p:nvPr/>
        </p:nvGraphicFramePr>
        <p:xfrm>
          <a:off x="91440" y="868680"/>
          <a:ext cx="11978640" cy="5230368"/>
        </p:xfrm>
        <a:graphic>
          <a:graphicData uri="http://schemas.openxmlformats.org/drawingml/2006/table">
            <a:tbl>
              <a:tblPr firstRow="1" bandRow="1">
                <a:tableStyleId>{5C22544A-7EE6-4342-B048-85BDC9FD1C3A}</a:tableStyleId>
              </a:tblPr>
              <a:tblGrid>
                <a:gridCol w="1005840"/>
                <a:gridCol w="2468880"/>
                <a:gridCol w="2286000"/>
                <a:gridCol w="1463040"/>
                <a:gridCol w="2103120"/>
                <a:gridCol w="2651760"/>
              </a:tblGrid>
              <a:tr h="1743456">
                <a:tc>
                  <a:txBody>
                    <a:bodyPr wrap="square"/>
                    <a:lstStyle/>
                    <a:p>
                      <a:pPr algn="ctr">
                        <a:defRPr sz="700" b="1">
                          <a:solidFill>
                            <a:srgbClr val="FFFFFF"/>
                          </a:solidFill>
                          <a:latin typeface="Arial"/>
                        </a:defRPr>
                      </a:pPr>
                      <a:r>
                        <a:t>Deliverable</a:t>
                      </a:r>
                    </a:p>
                  </a:txBody>
                  <a:tcPr anchor="ctr">
                    <a:solidFill>
                      <a:srgbClr val="002060"/>
                    </a:solidFill>
                  </a:tcPr>
                </a:tc>
                <a:tc>
                  <a:txBody>
                    <a:bodyPr wrap="square"/>
                    <a:lstStyle/>
                    <a:p>
                      <a:pPr algn="ctr">
                        <a:defRPr sz="700" b="1">
                          <a:solidFill>
                            <a:srgbClr val="FFFFFF"/>
                          </a:solidFill>
                          <a:latin typeface="Arial"/>
                        </a:defRPr>
                      </a:pPr>
                      <a:r>
                        <a:t>P&amp;S / P&amp;T</a:t>
                      </a:r>
                    </a:p>
                  </a:txBody>
                  <a:tcPr anchor="ctr">
                    <a:solidFill>
                      <a:srgbClr val="002060"/>
                    </a:solidFill>
                  </a:tcPr>
                </a:tc>
                <a:tc>
                  <a:txBody>
                    <a:bodyPr wrap="square"/>
                    <a:lstStyle/>
                    <a:p>
                      <a:pPr algn="ctr">
                        <a:defRPr sz="700" b="1">
                          <a:solidFill>
                            <a:srgbClr val="FFFFFF"/>
                          </a:solidFill>
                          <a:latin typeface="Arial"/>
                        </a:defRPr>
                      </a:pPr>
                      <a:r>
                        <a:t>Digital CoE</a:t>
                      </a:r>
                    </a:p>
                  </a:txBody>
                  <a:tcPr anchor="ctr">
                    <a:solidFill>
                      <a:srgbClr val="002060"/>
                    </a:solidFill>
                  </a:tcPr>
                </a:tc>
                <a:tc>
                  <a:txBody>
                    <a:bodyPr wrap="square"/>
                    <a:lstStyle/>
                    <a:p>
                      <a:pPr algn="ctr">
                        <a:defRPr sz="700" b="1">
                          <a:solidFill>
                            <a:srgbClr val="FFFFFF"/>
                          </a:solidFill>
                          <a:latin typeface="Arial"/>
                        </a:defRPr>
                      </a:pPr>
                      <a:r>
                        <a:t>Infrastructure</a:t>
                      </a:r>
                    </a:p>
                  </a:txBody>
                  <a:tcPr anchor="ctr">
                    <a:solidFill>
                      <a:srgbClr val="002060"/>
                    </a:solidFill>
                  </a:tcPr>
                </a:tc>
                <a:tc>
                  <a:txBody>
                    <a:bodyPr wrap="square"/>
                    <a:lstStyle/>
                    <a:p>
                      <a:pPr algn="ctr">
                        <a:defRPr sz="700" b="1">
                          <a:solidFill>
                            <a:srgbClr val="FFFFFF"/>
                          </a:solidFill>
                          <a:latin typeface="Arial"/>
                        </a:defRPr>
                      </a:pPr>
                      <a:r>
                        <a:t>Renewables DTO</a:t>
                      </a:r>
                    </a:p>
                  </a:txBody>
                  <a:tcPr anchor="ctr">
                    <a:solidFill>
                      <a:srgbClr val="002060"/>
                    </a:solidFill>
                  </a:tcPr>
                </a:tc>
                <a:tc>
                  <a:txBody>
                    <a:bodyPr wrap="square"/>
                    <a:lstStyle/>
                    <a:p>
                      <a:pPr algn="ctr">
                        <a:defRPr sz="700" b="1">
                          <a:solidFill>
                            <a:srgbClr val="FFFFFF"/>
                          </a:solidFill>
                          <a:latin typeface="Arial"/>
                        </a:defRPr>
                      </a:pPr>
                      <a:r>
                        <a:t>Digital Products (Reuse)</a:t>
                      </a:r>
                    </a:p>
                  </a:txBody>
                  <a:tcPr anchor="ctr">
                    <a:solidFill>
                      <a:srgbClr val="00B050"/>
                    </a:solidFill>
                  </a:tcPr>
                </a:tc>
              </a:tr>
              <a:tr h="1743456">
                <a:tc>
                  <a:txBody>
                    <a:bodyPr wrap="square"/>
                    <a:lstStyle/>
                    <a:p>
                      <a:pPr>
                        <a:defRPr sz="800" b="1">
                          <a:solidFill>
                            <a:srgbClr val="2C3E50"/>
                          </a:solidFill>
                          <a:latin typeface="Arial"/>
                        </a:defRPr>
                      </a:pPr>
                      <a:r>
                        <a:t>Demand Typology</a:t>
                      </a:r>
                      <a:br/>
                      <a:r>
                        <a:t>&amp; Intake</a:t>
                      </a:r>
                    </a:p>
                  </a:txBody>
                  <a:tcPr anchor="t">
                    <a:solidFill>
                      <a:srgbClr val="FFFFFF"/>
                    </a:solidFill>
                  </a:tcPr>
                </a:tc>
                <a:tc>
                  <a:txBody>
                    <a:bodyPr wrap="square"/>
                    <a:lstStyle/>
                    <a:p>
                      <a:r>
                        <a:rPr sz="700">
                          <a:solidFill>
                            <a:srgbClr val="2C3E50"/>
                          </a:solidFill>
                          <a:latin typeface="Arial"/>
                        </a:rPr>
                        <a:t>Portfolio Framework &amp; Demand Funnel (nWOW Sl. 35) with 3 sources. Lean Portfolio Funnel (nWOW Sl. 42). Portfolio Kanban swimlanes (nWOW Sl. 79). Shark Tank triage (PM Playbook Sl. 72). Portfolio Committee (PD Playbook Sl. 88).</a:t>
                      </a:r>
                    </a:p>
                    <a:p>
                      <a:pPr>
                        <a:spcBef>
                          <a:spcPts val="200"/>
                        </a:spcBef>
                      </a:pPr>
                      <a:r>
                        <a:rPr sz="600">
                          <a:solidFill>
                            <a:srgbClr val="7F8C8D"/>
                          </a:solidFill>
                          <a:latin typeface="Arial"/>
                        </a:rPr>
                        <a:t>→ </a:t>
                      </a:r>
                      <a:r>
                        <a:rPr sz="600" u="sng">
                          <a:solidFill>
                            <a:srgbClr val="0072BC"/>
                          </a:solidFill>
                          <a:latin typeface="Arial"/>
                          <a:hlinkClick r:id="rId2"/>
                        </a:rPr>
                        <a:t>nWOW - New Ways of Working - P&amp;S Lean Operating Model 03.10.2026 v1.2.pptx</a:t>
                      </a:r>
                      <a:r>
                        <a:rPr sz="600" b="1">
                          <a:solidFill>
                            <a:srgbClr val="2C3E50"/>
                          </a:solidFill>
                          <a:latin typeface="Arial"/>
                        </a:rPr>
                        <a:t>  |  Sl. 35, 42</a:t>
                      </a:r>
                    </a:p>
                    <a:p>
                      <a:pPr>
                        <a:spcBef>
                          <a:spcPts val="200"/>
                        </a:spcBef>
                      </a:pPr>
                      <a:r>
                        <a:rPr sz="600">
                          <a:solidFill>
                            <a:srgbClr val="7F8C8D"/>
                          </a:solidFill>
                          <a:latin typeface="Arial"/>
                        </a:rPr>
                        <a:t>→ </a:t>
                      </a:r>
                      <a:r>
                        <a:rPr sz="600" u="sng">
                          <a:solidFill>
                            <a:srgbClr val="0072BC"/>
                          </a:solidFill>
                          <a:latin typeface="Arial"/>
                          <a:hlinkClick r:id="rId3"/>
                        </a:rPr>
                        <a:t>[00] Project Management Playbook - P&amp;S Ways of Working 10.28.25 v.1.0-2.pptx</a:t>
                      </a:r>
                      <a:r>
                        <a:rPr sz="600" b="1">
                          <a:solidFill>
                            <a:srgbClr val="2C3E50"/>
                          </a:solidFill>
                          <a:latin typeface="Arial"/>
                        </a:rPr>
                        <a:t>  |  Sl. 72, 84</a:t>
                      </a:r>
                    </a:p>
                    <a:p>
                      <a:pPr>
                        <a:spcBef>
                          <a:spcPts val="200"/>
                        </a:spcBef>
                      </a:pPr>
                      <a:r>
                        <a:rPr sz="600">
                          <a:solidFill>
                            <a:srgbClr val="7F8C8D"/>
                          </a:solidFill>
                          <a:latin typeface="Arial"/>
                        </a:rPr>
                        <a:t>→ </a:t>
                      </a:r>
                      <a:r>
                        <a:rPr sz="600" u="sng">
                          <a:solidFill>
                            <a:srgbClr val="0072BC"/>
                          </a:solidFill>
                          <a:latin typeface="Arial"/>
                          <a:hlinkClick r:id="rId4"/>
                        </a:rPr>
                        <a:t>[00] Product Discovery Playbook - P&amp;S Ways of Working 02.03.26 v.1.3 +FIGMA.pptx</a:t>
                      </a:r>
                      <a:r>
                        <a:rPr sz="600" b="1">
                          <a:solidFill>
                            <a:srgbClr val="2C3E50"/>
                          </a:solidFill>
                          <a:latin typeface="Arial"/>
                        </a:rPr>
                        <a:t>  |  Sl. 88</a:t>
                      </a:r>
                    </a:p>
                  </a:txBody>
                  <a:tcPr anchor="t">
                    <a:solidFill>
                      <a:srgbClr val="FFFFFF"/>
                    </a:solidFill>
                  </a:tcPr>
                </a:tc>
                <a:tc>
                  <a:txBody>
                    <a:bodyPr wrap="square"/>
                    <a:lstStyle/>
                    <a:p>
                      <a:r>
                        <a:rPr sz="700">
                          <a:solidFill>
                            <a:srgbClr val="2C3E50"/>
                          </a:solidFill>
                          <a:latin typeface="Arial"/>
                        </a:rPr>
                        <a:t>Agile Portfolio Funnel (CoE Playbook Sl. 32): Shark Tank → Think Tank → Biz Tank. Portfolio Management Team (CoE Playbook Sl. 33). Lean Business Case gate (CoE Playbook Sl. 11). No demand typology.</a:t>
                      </a:r>
                    </a:p>
                    <a:p>
                      <a:pPr>
                        <a:spcBef>
                          <a:spcPts val="200"/>
                        </a:spcBef>
                      </a:pPr>
                      <a:r>
                        <a:rPr sz="600">
                          <a:solidFill>
                            <a:srgbClr val="7F8C8D"/>
                          </a:solidFill>
                          <a:latin typeface="Arial"/>
                        </a:rPr>
                        <a:t>→ </a:t>
                      </a:r>
                      <a:r>
                        <a:rPr sz="600" u="sng">
                          <a:solidFill>
                            <a:srgbClr val="0072BC"/>
                          </a:solidFill>
                          <a:latin typeface="Arial"/>
                          <a:hlinkClick r:id="rId5"/>
                        </a:rPr>
                        <a:t>[12] Digital CoE Operating Model - Playbook - 01.05.2026 V.2.5. FINAL pptx.pptx</a:t>
                      </a:r>
                      <a:r>
                        <a:rPr sz="600" b="1">
                          <a:solidFill>
                            <a:srgbClr val="2C3E50"/>
                          </a:solidFill>
                          <a:latin typeface="Arial"/>
                        </a:rPr>
                        <a:t>  |  Sl. 9, 10, 11, 32, 33</a:t>
                      </a:r>
                    </a:p>
                  </a:txBody>
                  <a:tcPr anchor="t">
                    <a:solidFill>
                      <a:srgbClr val="FFFFFF"/>
                    </a:solidFill>
                  </a:tcPr>
                </a:tc>
                <a:tc>
                  <a:txBody>
                    <a:bodyPr wrap="square"/>
                    <a:lstStyle/>
                    <a:p>
                      <a:r>
                        <a:rPr sz="700" i="1">
                          <a:solidFill>
                            <a:srgbClr val="95A5A6"/>
                          </a:solidFill>
                          <a:latin typeface="Arial"/>
                        </a:rPr>
                        <a:t>—</a:t>
                      </a:r>
                    </a:p>
                  </a:txBody>
                  <a:tcPr anchor="t">
                    <a:solidFill>
                      <a:srgbClr val="FFFFFF"/>
                    </a:solidFill>
                  </a:tcPr>
                </a:tc>
                <a:tc>
                  <a:txBody>
                    <a:bodyPr wrap="square"/>
                    <a:lstStyle/>
                    <a:p>
                      <a:r>
                        <a:rPr sz="700">
                          <a:solidFill>
                            <a:srgbClr val="2C3E50"/>
                          </a:solidFill>
                          <a:latin typeface="Arial"/>
                        </a:rPr>
                        <a:t>Most operational intake. Jira-only entry (DTO Sl. 19). Standardized form (DTO Sl. 20). Class of Service: Standard, Expedite, Fixed Date, Intangible (DTO Sl. 5). Work types: BAU, Build, Upgrades (DTO Sl. 20). Triage: accept/clarify/reject (DTO Sl. 35). DoR gate (DTO Sl. 19).</a:t>
                      </a:r>
                    </a:p>
                    <a:p>
                      <a:pPr>
                        <a:spcBef>
                          <a:spcPts val="200"/>
                        </a:spcBef>
                      </a:pPr>
                      <a:r>
                        <a:rPr sz="600">
                          <a:solidFill>
                            <a:srgbClr val="7F8C8D"/>
                          </a:solidFill>
                          <a:latin typeface="Arial"/>
                        </a:rPr>
                        <a:t>→ </a:t>
                      </a:r>
                      <a:r>
                        <a:rPr sz="600" u="sng">
                          <a:solidFill>
                            <a:srgbClr val="0072BC"/>
                          </a:solidFill>
                          <a:latin typeface="Arial"/>
                          <a:hlinkClick r:id="rId6"/>
                        </a:rPr>
                        <a:t>NextGen_DTO_Deliverable1 - Final.pptx</a:t>
                      </a:r>
                      <a:r>
                        <a:rPr sz="600" b="1">
                          <a:solidFill>
                            <a:srgbClr val="2C3E50"/>
                          </a:solidFill>
                          <a:latin typeface="Arial"/>
                        </a:rPr>
                        <a:t>  |  Sl. 5, 6, 19, 20, 32, 33, 35</a:t>
                      </a:r>
                    </a:p>
                  </a:txBody>
                  <a:tcPr anchor="t">
                    <a:solidFill>
                      <a:srgbClr val="FFFFFF"/>
                    </a:solidFill>
                  </a:tcPr>
                </a:tc>
                <a:tc>
                  <a:txBody>
                    <a:bodyPr wrap="square"/>
                    <a:lstStyle/>
                    <a:p>
                      <a:pPr>
                        <a:defRPr sz="650">
                          <a:solidFill>
                            <a:srgbClr val="2C3E50"/>
                          </a:solidFill>
                          <a:latin typeface="Arial"/>
                        </a:defRPr>
                      </a:pPr>
                      <a:r>
                        <a:t>ADOPT DTO's Jira-only intake — because it eliminates the fragmented channels (email, Teams, ServiceNow) that the proposal identifies as Digital Products' #1 pain point. REUSE P&amp;S's demand funnel visualization — because it provides the strategic governance layer that DTO lacks. REUSE CoE's Lean Business Case — because it forces value justification before work enters the system.</a:t>
                      </a:r>
                    </a:p>
                  </a:txBody>
                  <a:tcPr anchor="t">
                    <a:solidFill>
                      <a:srgbClr val="E8F5E9"/>
                    </a:solidFill>
                  </a:tcPr>
                </a:tc>
              </a:tr>
              <a:tr h="1743456">
                <a:tc>
                  <a:txBody>
                    <a:bodyPr wrap="square"/>
                    <a:lstStyle/>
                    <a:p>
                      <a:pPr>
                        <a:defRPr sz="800" b="1">
                          <a:solidFill>
                            <a:srgbClr val="2C3E50"/>
                          </a:solidFill>
                          <a:latin typeface="Arial"/>
                        </a:defRPr>
                      </a:pPr>
                      <a:r>
                        <a:t>Roles &amp;</a:t>
                      </a:r>
                      <a:br/>
                      <a:r>
                        <a:t>RACI</a:t>
                      </a:r>
                    </a:p>
                  </a:txBody>
                  <a:tcPr anchor="t">
                    <a:solidFill>
                      <a:srgbClr val="F5F5F5"/>
                    </a:solidFill>
                  </a:tcPr>
                </a:tc>
                <a:tc>
                  <a:txBody>
                    <a:bodyPr wrap="square"/>
                    <a:lstStyle/>
                    <a:p>
                      <a:r>
                        <a:rPr sz="700">
                          <a:solidFill>
                            <a:srgbClr val="2C3E50"/>
                          </a:solidFill>
                          <a:latin typeface="Arial"/>
                        </a:rPr>
                        <a:t>RACI templates (PM Playbook Sl. 125-130) in Confluence+Jira. PM Role per phase (PM Playbook Sl. 105). Stakeholder Mapping (PM Playbook Sl. 115-117). Resource Planning (PM Playbook Sl. 121-123). Crew: PO/SM/Dev (nWOW Sl. 34). Flight Levels (PM Playbook Sl. 76).</a:t>
                      </a:r>
                    </a:p>
                    <a:p>
                      <a:pPr>
                        <a:spcBef>
                          <a:spcPts val="200"/>
                        </a:spcBef>
                      </a:pPr>
                      <a:r>
                        <a:rPr sz="600">
                          <a:solidFill>
                            <a:srgbClr val="7F8C8D"/>
                          </a:solidFill>
                          <a:latin typeface="Arial"/>
                        </a:rPr>
                        <a:t>→ </a:t>
                      </a:r>
                      <a:r>
                        <a:rPr sz="600" u="sng">
                          <a:solidFill>
                            <a:srgbClr val="0072BC"/>
                          </a:solidFill>
                          <a:latin typeface="Arial"/>
                          <a:hlinkClick r:id="rId3"/>
                        </a:rPr>
                        <a:t>[00] Project Management Playbook - P&amp;S Ways of Working 10.28.25 v.1.0-2.pptx</a:t>
                      </a:r>
                      <a:r>
                        <a:rPr sz="600" b="1">
                          <a:solidFill>
                            <a:srgbClr val="2C3E50"/>
                          </a:solidFill>
                          <a:latin typeface="Arial"/>
                        </a:rPr>
                        <a:t>  |  Sl. 115, 116, 126, 127, 128, 129</a:t>
                      </a:r>
                    </a:p>
                    <a:p>
                      <a:pPr>
                        <a:spcBef>
                          <a:spcPts val="200"/>
                        </a:spcBef>
                      </a:pPr>
                      <a:r>
                        <a:rPr sz="600">
                          <a:solidFill>
                            <a:srgbClr val="7F8C8D"/>
                          </a:solidFill>
                          <a:latin typeface="Arial"/>
                        </a:rPr>
                        <a:t>→ </a:t>
                      </a:r>
                      <a:r>
                        <a:rPr sz="600" u="sng">
                          <a:solidFill>
                            <a:srgbClr val="0072BC"/>
                          </a:solidFill>
                          <a:latin typeface="Arial"/>
                          <a:hlinkClick r:id="rId2"/>
                        </a:rPr>
                        <a:t>nWOW - New Ways of Working - P&amp;S Lean Operating Model 03.10.2026 v1.2.pptx</a:t>
                      </a:r>
                      <a:r>
                        <a:rPr sz="600" b="1">
                          <a:solidFill>
                            <a:srgbClr val="2C3E50"/>
                          </a:solidFill>
                          <a:latin typeface="Arial"/>
                        </a:rPr>
                        <a:t>  |  Sl. 7</a:t>
                      </a:r>
                    </a:p>
                  </a:txBody>
                  <a:tcPr anchor="t">
                    <a:solidFill>
                      <a:srgbClr val="F5F5F5"/>
                    </a:solidFill>
                  </a:tcPr>
                </a:tc>
                <a:tc>
                  <a:txBody>
                    <a:bodyPr wrap="square"/>
                    <a:lstStyle/>
                    <a:p>
                      <a:r>
                        <a:rPr sz="700">
                          <a:solidFill>
                            <a:srgbClr val="2C3E50"/>
                          </a:solidFill>
                          <a:latin typeface="Arial"/>
                        </a:rPr>
                        <a:t>Roles via Scrum events (Agility Playbook Sl. 20). Agile Master + hygiene checklist (Agility Playbook Sl. 94). Discovery workflow roles (Agility Playbook Sl. 43-44). SEAL-SIX team composition (NTTDATA Sl. 10). No RACI.</a:t>
                      </a:r>
                    </a:p>
                    <a:p>
                      <a:pPr>
                        <a:spcBef>
                          <a:spcPts val="200"/>
                        </a:spcBef>
                      </a:pPr>
                      <a:r>
                        <a:rPr sz="600">
                          <a:solidFill>
                            <a:srgbClr val="7F8C8D"/>
                          </a:solidFill>
                          <a:latin typeface="Arial"/>
                        </a:rPr>
                        <a:t>→ </a:t>
                      </a:r>
                      <a:r>
                        <a:rPr sz="600" u="sng">
                          <a:solidFill>
                            <a:srgbClr val="0072BC"/>
                          </a:solidFill>
                          <a:latin typeface="Arial"/>
                          <a:hlinkClick r:id="rId7"/>
                        </a:rPr>
                        <a:t>[17] Agility Playbook - Digital Center of Excellence 06.18.2025 V.1.7.pptx</a:t>
                      </a:r>
                      <a:r>
                        <a:rPr sz="600" b="1">
                          <a:solidFill>
                            <a:srgbClr val="2C3E50"/>
                          </a:solidFill>
                          <a:latin typeface="Arial"/>
                        </a:rPr>
                        <a:t>  |  Sl. 20, 43, 94, 95, 98, 99</a:t>
                      </a:r>
                    </a:p>
                    <a:p>
                      <a:pPr>
                        <a:spcBef>
                          <a:spcPts val="200"/>
                        </a:spcBef>
                      </a:pPr>
                      <a:r>
                        <a:rPr sz="600">
                          <a:solidFill>
                            <a:srgbClr val="7F8C8D"/>
                          </a:solidFill>
                          <a:latin typeface="Arial"/>
                        </a:rPr>
                        <a:t>→ </a:t>
                      </a:r>
                      <a:r>
                        <a:rPr sz="600" u="sng">
                          <a:solidFill>
                            <a:srgbClr val="0072BC"/>
                          </a:solidFill>
                          <a:latin typeface="Arial"/>
                          <a:hlinkClick r:id="rId8"/>
                        </a:rPr>
                        <a:t>NTTDATA-Digital Strategy - NextGen Produc Ops Org Design SEAL-SIX Model v.1.7 06.29.pptx</a:t>
                      </a:r>
                      <a:r>
                        <a:rPr sz="600" b="1">
                          <a:solidFill>
                            <a:srgbClr val="2C3E50"/>
                          </a:solidFill>
                          <a:latin typeface="Arial"/>
                        </a:rPr>
                        <a:t>  |  Sl. 10</a:t>
                      </a:r>
                    </a:p>
                  </a:txBody>
                  <a:tcPr anchor="t">
                    <a:solidFill>
                      <a:srgbClr val="F5F5F5"/>
                    </a:solidFill>
                  </a:tcPr>
                </a:tc>
                <a:tc>
                  <a:txBody>
                    <a:bodyPr wrap="square"/>
                    <a:lstStyle/>
                    <a:p>
                      <a:r>
                        <a:rPr sz="700">
                          <a:solidFill>
                            <a:srgbClr val="2C3E50"/>
                          </a:solidFill>
                          <a:latin typeface="Arial"/>
                        </a:rPr>
                        <a:t>Team Topologies (Avangrid Sl. 29-32): 4 types, 3 interaction modes. Defines structural relationships. Digital Products as Platform Team providing X-as-a-Service.</a:t>
                      </a:r>
                    </a:p>
                    <a:p>
                      <a:pPr>
                        <a:spcBef>
                          <a:spcPts val="200"/>
                        </a:spcBef>
                      </a:pPr>
                      <a:r>
                        <a:rPr sz="600">
                          <a:solidFill>
                            <a:srgbClr val="7F8C8D"/>
                          </a:solidFill>
                          <a:latin typeface="Arial"/>
                        </a:rPr>
                        <a:t>→ </a:t>
                      </a:r>
                      <a:r>
                        <a:rPr sz="600" u="sng">
                          <a:solidFill>
                            <a:srgbClr val="0072BC"/>
                          </a:solidFill>
                          <a:latin typeface="Arial"/>
                          <a:hlinkClick r:id="rId9"/>
                        </a:rPr>
                        <a:t>Agile Management Model _ Proposal Avangrid Architecture V.3.1 18.01.2024 3.pptx</a:t>
                      </a:r>
                      <a:r>
                        <a:rPr sz="600" b="1">
                          <a:solidFill>
                            <a:srgbClr val="2C3E50"/>
                          </a:solidFill>
                          <a:latin typeface="Arial"/>
                        </a:rPr>
                        <a:t>  |  Sl. 25, 29, 30, 31, 32, 33</a:t>
                      </a:r>
                    </a:p>
                  </a:txBody>
                  <a:tcPr anchor="t">
                    <a:solidFill>
                      <a:srgbClr val="F5F5F5"/>
                    </a:solidFill>
                  </a:tcPr>
                </a:tc>
                <a:tc>
                  <a:txBody>
                    <a:bodyPr wrap="square"/>
                    <a:lstStyle/>
                    <a:p>
                      <a:r>
                        <a:rPr sz="700">
                          <a:solidFill>
                            <a:srgbClr val="2C3E50"/>
                          </a:solidFill>
                          <a:latin typeface="Arial"/>
                        </a:rPr>
                        <a:t>Roles per Kanban stage (DTO Sl. 17): Backlog → PO, In Progress → Dev, QA → QA Lead, Done → PO validation. Kanban Lead: cadences, blockers, flow (DTO Sl. 30). DTO Project Committee (DTO Sl. 12, 13).</a:t>
                      </a:r>
                    </a:p>
                    <a:p>
                      <a:pPr>
                        <a:spcBef>
                          <a:spcPts val="200"/>
                        </a:spcBef>
                      </a:pPr>
                      <a:r>
                        <a:rPr sz="600">
                          <a:solidFill>
                            <a:srgbClr val="7F8C8D"/>
                          </a:solidFill>
                          <a:latin typeface="Arial"/>
                        </a:rPr>
                        <a:t>→ </a:t>
                      </a:r>
                      <a:r>
                        <a:rPr sz="600" u="sng">
                          <a:solidFill>
                            <a:srgbClr val="0072BC"/>
                          </a:solidFill>
                          <a:latin typeface="Arial"/>
                          <a:hlinkClick r:id="rId6"/>
                        </a:rPr>
                        <a:t>NextGen_DTO_Deliverable1 - Final.pptx</a:t>
                      </a:r>
                      <a:r>
                        <a:rPr sz="600" b="1">
                          <a:solidFill>
                            <a:srgbClr val="2C3E50"/>
                          </a:solidFill>
                          <a:latin typeface="Arial"/>
                        </a:rPr>
                        <a:t>  |  Sl. 12, 13, 17, 30, 39</a:t>
                      </a:r>
                    </a:p>
                  </a:txBody>
                  <a:tcPr anchor="t">
                    <a:solidFill>
                      <a:srgbClr val="F5F5F5"/>
                    </a:solidFill>
                  </a:tcPr>
                </a:tc>
                <a:tc>
                  <a:txBody>
                    <a:bodyPr wrap="square"/>
                    <a:lstStyle/>
                    <a:p>
                      <a:pPr>
                        <a:defRPr sz="650">
                          <a:solidFill>
                            <a:srgbClr val="2C3E50"/>
                          </a:solidFill>
                          <a:latin typeface="Arial"/>
                        </a:defRPr>
                      </a:pPr>
                      <a:r>
                        <a:t>ADOPT PM Playbook's RACI — because it's the only formalized RACI and the proposal explicitly requires 'Roles &amp; RACI Matrix per phase' as a deliverable. ADOPT DTO's per-stage ownership — because Kanban execution needs clear ownership at each workflow state, not just per phase. ADOPT Avangrid's Team Topologies — because Digital Products needs to define how it relates to consuming areas (Platform Team providing X-as-a-Service).</a:t>
                      </a:r>
                    </a:p>
                  </a:txBody>
                  <a:tcPr anchor="t">
                    <a:solidFill>
                      <a:srgbClr val="C8E6C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defRPr sz="1300" b="1">
                <a:solidFill>
                  <a:srgbClr val="002060"/>
                </a:solidFill>
                <a:latin typeface="Arial"/>
              </a:defRPr>
            </a:pPr>
            <a:r>
              <a:t>Existing Assets — Tool Ecosystem &amp; Portfolio / PPMNow (3/5)</a:t>
            </a:r>
          </a:p>
        </p:txBody>
      </p:sp>
      <p:sp>
        <p:nvSpPr>
          <p:cNvPr id="5" name="Rectangle 4"/>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graphicFrame>
        <p:nvGraphicFramePr>
          <p:cNvPr id="6" name="Table 5"/>
          <p:cNvGraphicFramePr>
            <a:graphicFrameLocks noGrp="1"/>
          </p:cNvGraphicFramePr>
          <p:nvPr/>
        </p:nvGraphicFramePr>
        <p:xfrm>
          <a:off x="91440" y="868680"/>
          <a:ext cx="11978640" cy="5230368"/>
        </p:xfrm>
        <a:graphic>
          <a:graphicData uri="http://schemas.openxmlformats.org/drawingml/2006/table">
            <a:tbl>
              <a:tblPr firstRow="1" bandRow="1">
                <a:tableStyleId>{5C22544A-7EE6-4342-B048-85BDC9FD1C3A}</a:tableStyleId>
              </a:tblPr>
              <a:tblGrid>
                <a:gridCol w="1005840"/>
                <a:gridCol w="2468880"/>
                <a:gridCol w="2286000"/>
                <a:gridCol w="1463040"/>
                <a:gridCol w="2103120"/>
                <a:gridCol w="2651760"/>
              </a:tblGrid>
              <a:tr h="1743456">
                <a:tc>
                  <a:txBody>
                    <a:bodyPr wrap="square"/>
                    <a:lstStyle/>
                    <a:p>
                      <a:pPr algn="ctr">
                        <a:defRPr sz="700" b="1">
                          <a:solidFill>
                            <a:srgbClr val="FFFFFF"/>
                          </a:solidFill>
                          <a:latin typeface="Arial"/>
                        </a:defRPr>
                      </a:pPr>
                      <a:r>
                        <a:t>Deliverable</a:t>
                      </a:r>
                    </a:p>
                  </a:txBody>
                  <a:tcPr anchor="ctr">
                    <a:solidFill>
                      <a:srgbClr val="002060"/>
                    </a:solidFill>
                  </a:tcPr>
                </a:tc>
                <a:tc>
                  <a:txBody>
                    <a:bodyPr wrap="square"/>
                    <a:lstStyle/>
                    <a:p>
                      <a:pPr algn="ctr">
                        <a:defRPr sz="700" b="1">
                          <a:solidFill>
                            <a:srgbClr val="FFFFFF"/>
                          </a:solidFill>
                          <a:latin typeface="Arial"/>
                        </a:defRPr>
                      </a:pPr>
                      <a:r>
                        <a:t>P&amp;S / P&amp;T</a:t>
                      </a:r>
                    </a:p>
                  </a:txBody>
                  <a:tcPr anchor="ctr">
                    <a:solidFill>
                      <a:srgbClr val="002060"/>
                    </a:solidFill>
                  </a:tcPr>
                </a:tc>
                <a:tc>
                  <a:txBody>
                    <a:bodyPr wrap="square"/>
                    <a:lstStyle/>
                    <a:p>
                      <a:pPr algn="ctr">
                        <a:defRPr sz="700" b="1">
                          <a:solidFill>
                            <a:srgbClr val="FFFFFF"/>
                          </a:solidFill>
                          <a:latin typeface="Arial"/>
                        </a:defRPr>
                      </a:pPr>
                      <a:r>
                        <a:t>Digital CoE</a:t>
                      </a:r>
                    </a:p>
                  </a:txBody>
                  <a:tcPr anchor="ctr">
                    <a:solidFill>
                      <a:srgbClr val="002060"/>
                    </a:solidFill>
                  </a:tcPr>
                </a:tc>
                <a:tc>
                  <a:txBody>
                    <a:bodyPr wrap="square"/>
                    <a:lstStyle/>
                    <a:p>
                      <a:pPr algn="ctr">
                        <a:defRPr sz="700" b="1">
                          <a:solidFill>
                            <a:srgbClr val="FFFFFF"/>
                          </a:solidFill>
                          <a:latin typeface="Arial"/>
                        </a:defRPr>
                      </a:pPr>
                      <a:r>
                        <a:t>Infrastructure</a:t>
                      </a:r>
                    </a:p>
                  </a:txBody>
                  <a:tcPr anchor="ctr">
                    <a:solidFill>
                      <a:srgbClr val="002060"/>
                    </a:solidFill>
                  </a:tcPr>
                </a:tc>
                <a:tc>
                  <a:txBody>
                    <a:bodyPr wrap="square"/>
                    <a:lstStyle/>
                    <a:p>
                      <a:pPr algn="ctr">
                        <a:defRPr sz="700" b="1">
                          <a:solidFill>
                            <a:srgbClr val="FFFFFF"/>
                          </a:solidFill>
                          <a:latin typeface="Arial"/>
                        </a:defRPr>
                      </a:pPr>
                      <a:r>
                        <a:t>Renewables DTO</a:t>
                      </a:r>
                    </a:p>
                  </a:txBody>
                  <a:tcPr anchor="ctr">
                    <a:solidFill>
                      <a:srgbClr val="002060"/>
                    </a:solidFill>
                  </a:tcPr>
                </a:tc>
                <a:tc>
                  <a:txBody>
                    <a:bodyPr wrap="square"/>
                    <a:lstStyle/>
                    <a:p>
                      <a:pPr algn="ctr">
                        <a:defRPr sz="700" b="1">
                          <a:solidFill>
                            <a:srgbClr val="FFFFFF"/>
                          </a:solidFill>
                          <a:latin typeface="Arial"/>
                        </a:defRPr>
                      </a:pPr>
                      <a:r>
                        <a:t>Digital Products (Reuse)</a:t>
                      </a:r>
                    </a:p>
                  </a:txBody>
                  <a:tcPr anchor="ctr">
                    <a:solidFill>
                      <a:srgbClr val="00B050"/>
                    </a:solidFill>
                  </a:tcPr>
                </a:tc>
              </a:tr>
              <a:tr h="1743456">
                <a:tc>
                  <a:txBody>
                    <a:bodyPr wrap="square"/>
                    <a:lstStyle/>
                    <a:p>
                      <a:pPr>
                        <a:defRPr sz="800" b="1">
                          <a:solidFill>
                            <a:srgbClr val="2C3E50"/>
                          </a:solidFill>
                          <a:latin typeface="Arial"/>
                        </a:defRPr>
                      </a:pPr>
                      <a:r>
                        <a:t>Tool Ecosystem</a:t>
                      </a:r>
                      <a:br/>
                      <a:r>
                        <a:t>&amp; Jira Config</a:t>
                      </a:r>
                    </a:p>
                  </a:txBody>
                  <a:tcPr anchor="t">
                    <a:solidFill>
                      <a:srgbClr val="FFFFFF"/>
                    </a:solidFill>
                  </a:tcPr>
                </a:tc>
                <a:tc>
                  <a:txBody>
                    <a:bodyPr wrap="square"/>
                    <a:lstStyle/>
                    <a:p>
                      <a:r>
                        <a:rPr sz="700">
                          <a:solidFill>
                            <a:srgbClr val="2C3E50"/>
                          </a:solidFill>
                          <a:latin typeface="Arial"/>
                        </a:rPr>
                        <a:t>Jira Kanban Workflows (PM Playbook Sl. 88). Issue Hierarchy: Initiative → Epic → Story → Task (PM Playbook Sl. 92). Board configs (PM Playbook Sl. 101-104). Health dashboards (PM Playbook Sl. 92, 142). Admin permissions (PM Playbook Sl. 97-100).</a:t>
                      </a:r>
                    </a:p>
                    <a:p>
                      <a:pPr>
                        <a:spcBef>
                          <a:spcPts val="200"/>
                        </a:spcBef>
                      </a:pPr>
                      <a:r>
                        <a:rPr sz="600">
                          <a:solidFill>
                            <a:srgbClr val="7F8C8D"/>
                          </a:solidFill>
                          <a:latin typeface="Arial"/>
                        </a:rPr>
                        <a:t>→ </a:t>
                      </a:r>
                      <a:r>
                        <a:rPr sz="600" u="sng">
                          <a:solidFill>
                            <a:srgbClr val="0072BC"/>
                          </a:solidFill>
                          <a:latin typeface="Arial"/>
                          <a:hlinkClick r:id="rId2"/>
                        </a:rPr>
                        <a:t>[00] Project Management Playbook - P&amp;S Ways of Working 10.28.25 v.1.0-2.pptx</a:t>
                      </a:r>
                      <a:r>
                        <a:rPr sz="600" b="1">
                          <a:solidFill>
                            <a:srgbClr val="2C3E50"/>
                          </a:solidFill>
                          <a:latin typeface="Arial"/>
                        </a:rPr>
                        <a:t>  |  Sl. 82, 88, 91, 93, 95, 97, 100</a:t>
                      </a:r>
                    </a:p>
                  </a:txBody>
                  <a:tcPr anchor="t">
                    <a:solidFill>
                      <a:srgbClr val="FFFFFF"/>
                    </a:solidFill>
                  </a:tcPr>
                </a:tc>
                <a:tc>
                  <a:txBody>
                    <a:bodyPr wrap="square"/>
                    <a:lstStyle/>
                    <a:p>
                      <a:r>
                        <a:rPr sz="700">
                          <a:solidFill>
                            <a:srgbClr val="2C3E50"/>
                          </a:solidFill>
                          <a:latin typeface="Arial"/>
                        </a:rPr>
                        <a:t>CX JIRA Playbook (41p): board design, filters, fields, workflows, burndown. NextGen Jira: portfolio config (Sl. 8), roadmap-backlog (Sl. 6-7). Separate Discovery/Delivery boards (CoE Playbook Sl. 47-48). 8 stage-gate Portfolio Kanban (CoE Playbook Sl. 26-27).</a:t>
                      </a:r>
                    </a:p>
                    <a:p>
                      <a:pPr>
                        <a:spcBef>
                          <a:spcPts val="200"/>
                        </a:spcBef>
                      </a:pPr>
                      <a:r>
                        <a:rPr sz="600">
                          <a:solidFill>
                            <a:srgbClr val="7F8C8D"/>
                          </a:solidFill>
                          <a:latin typeface="Arial"/>
                        </a:rPr>
                        <a:t>→ </a:t>
                      </a:r>
                      <a:r>
                        <a:rPr sz="600" u="sng">
                          <a:solidFill>
                            <a:srgbClr val="0072BC"/>
                          </a:solidFill>
                          <a:latin typeface="Arial"/>
                          <a:hlinkClick r:id="rId3"/>
                        </a:rPr>
                        <a:t>[CX] JIRA Agile Management Playbook - Center of Excellence 25.03.2024 V.1.0.pdf</a:t>
                      </a:r>
                      <a:r>
                        <a:rPr sz="600" b="1">
                          <a:solidFill>
                            <a:srgbClr val="2C3E50"/>
                          </a:solidFill>
                          <a:latin typeface="Arial"/>
                        </a:rPr>
                        <a:t>  |  Full (41p)</a:t>
                      </a:r>
                    </a:p>
                    <a:p>
                      <a:pPr>
                        <a:spcBef>
                          <a:spcPts val="200"/>
                        </a:spcBef>
                      </a:pPr>
                      <a:r>
                        <a:rPr sz="600">
                          <a:solidFill>
                            <a:srgbClr val="7F8C8D"/>
                          </a:solidFill>
                          <a:latin typeface="Arial"/>
                        </a:rPr>
                        <a:t>→ </a:t>
                      </a:r>
                      <a:r>
                        <a:rPr sz="600" u="sng">
                          <a:solidFill>
                            <a:srgbClr val="0072BC"/>
                          </a:solidFill>
                          <a:latin typeface="Arial"/>
                          <a:hlinkClick r:id="rId4"/>
                        </a:rPr>
                        <a:t>[33] NextGen 2.0 - Jira Management User Guide for CX Digitall CoE 27.06.2024.pptx</a:t>
                      </a:r>
                      <a:r>
                        <a:rPr sz="600" b="1">
                          <a:solidFill>
                            <a:srgbClr val="2C3E50"/>
                          </a:solidFill>
                          <a:latin typeface="Arial"/>
                        </a:rPr>
                        <a:t>  |  Sl. 4, 6, 7, 8, 9, 21</a:t>
                      </a:r>
                    </a:p>
                    <a:p>
                      <a:pPr>
                        <a:spcBef>
                          <a:spcPts val="200"/>
                        </a:spcBef>
                      </a:pPr>
                      <a:r>
                        <a:rPr sz="600">
                          <a:solidFill>
                            <a:srgbClr val="7F8C8D"/>
                          </a:solidFill>
                          <a:latin typeface="Arial"/>
                        </a:rPr>
                        <a:t>→ </a:t>
                      </a:r>
                      <a:r>
                        <a:rPr sz="600" u="sng">
                          <a:solidFill>
                            <a:srgbClr val="0072BC"/>
                          </a:solidFill>
                          <a:latin typeface="Arial"/>
                          <a:hlinkClick r:id="rId5"/>
                        </a:rPr>
                        <a:t>[12] Digital CoE Operating Model - Playbook - 01.05.2026 V.2.5. FINAL pptx.pptx</a:t>
                      </a:r>
                      <a:r>
                        <a:rPr sz="600" b="1">
                          <a:solidFill>
                            <a:srgbClr val="2C3E50"/>
                          </a:solidFill>
                          <a:latin typeface="Arial"/>
                        </a:rPr>
                        <a:t>  |  Sl. 26-27, 47-48</a:t>
                      </a:r>
                    </a:p>
                  </a:txBody>
                  <a:tcPr anchor="t">
                    <a:solidFill>
                      <a:srgbClr val="FFFFFF"/>
                    </a:solidFill>
                  </a:tcPr>
                </a:tc>
                <a:tc>
                  <a:txBody>
                    <a:bodyPr wrap="square"/>
                    <a:lstStyle/>
                    <a:p>
                      <a:r>
                        <a:rPr sz="700">
                          <a:solidFill>
                            <a:srgbClr val="2C3E50"/>
                          </a:solidFill>
                          <a:latin typeface="Arial"/>
                        </a:rPr>
                        <a:t>TPO FLOW JIRA Training: board creation (Sl. 6), filters (Sl. 12), Epics (Sl. 14). Onboarding resource.</a:t>
                      </a:r>
                    </a:p>
                    <a:p>
                      <a:pPr>
                        <a:spcBef>
                          <a:spcPts val="200"/>
                        </a:spcBef>
                      </a:pPr>
                      <a:r>
                        <a:rPr sz="600">
                          <a:solidFill>
                            <a:srgbClr val="7F8C8D"/>
                          </a:solidFill>
                          <a:latin typeface="Arial"/>
                        </a:rPr>
                        <a:t>→ </a:t>
                      </a:r>
                      <a:r>
                        <a:rPr sz="600" u="sng">
                          <a:solidFill>
                            <a:srgbClr val="0072BC"/>
                          </a:solidFill>
                          <a:latin typeface="Arial"/>
                          <a:hlinkClick r:id="rId6"/>
                        </a:rPr>
                        <a:t>TPO FLOW Project - JIRA Training Guide 05-13-2025.pptx</a:t>
                      </a:r>
                      <a:r>
                        <a:rPr sz="600" b="1">
                          <a:solidFill>
                            <a:srgbClr val="2C3E50"/>
                          </a:solidFill>
                          <a:latin typeface="Arial"/>
                        </a:rPr>
                        <a:t>  |  Sl. 1, 6, 10, 11, 12</a:t>
                      </a:r>
                    </a:p>
                  </a:txBody>
                  <a:tcPr anchor="t">
                    <a:solidFill>
                      <a:srgbClr val="FFFFFF"/>
                    </a:solidFill>
                  </a:tcPr>
                </a:tc>
                <a:tc>
                  <a:txBody>
                    <a:bodyPr wrap="square"/>
                    <a:lstStyle/>
                    <a:p>
                      <a:r>
                        <a:rPr sz="700">
                          <a:solidFill>
                            <a:srgbClr val="2C3E50"/>
                          </a:solidFill>
                          <a:latin typeface="Arial"/>
                        </a:rPr>
                        <a:t>Jira single source of truth (DTO Sl. 19). 2-level board: Level 1 Epic Kanban by business area (DTO Sl. 12), Level 2 Project Kanban (DTO Sl. 14). Fields per issue type (DTO Sl. 14). Flow Metrics Dashboard (DTO Sl. 49). Blocker Tracker (DTO Sl. 47).</a:t>
                      </a:r>
                    </a:p>
                    <a:p>
                      <a:pPr>
                        <a:spcBef>
                          <a:spcPts val="200"/>
                        </a:spcBef>
                      </a:pPr>
                      <a:r>
                        <a:rPr sz="600">
                          <a:solidFill>
                            <a:srgbClr val="7F8C8D"/>
                          </a:solidFill>
                          <a:latin typeface="Arial"/>
                        </a:rPr>
                        <a:t>→ </a:t>
                      </a:r>
                      <a:r>
                        <a:rPr sz="600" u="sng">
                          <a:solidFill>
                            <a:srgbClr val="0072BC"/>
                          </a:solidFill>
                          <a:latin typeface="Arial"/>
                          <a:hlinkClick r:id="rId7"/>
                        </a:rPr>
                        <a:t>NextGen_DTO_Deliverable1 - Final.pptx</a:t>
                      </a:r>
                      <a:r>
                        <a:rPr sz="600" b="1">
                          <a:solidFill>
                            <a:srgbClr val="2C3E50"/>
                          </a:solidFill>
                          <a:latin typeface="Arial"/>
                        </a:rPr>
                        <a:t>  |  Sl. 5, 12, 14, 27, 28, 47, 49</a:t>
                      </a:r>
                    </a:p>
                  </a:txBody>
                  <a:tcPr anchor="t">
                    <a:solidFill>
                      <a:srgbClr val="FFFFFF"/>
                    </a:solidFill>
                  </a:tcPr>
                </a:tc>
                <a:tc>
                  <a:txBody>
                    <a:bodyPr wrap="square"/>
                    <a:lstStyle/>
                    <a:p>
                      <a:pPr>
                        <a:defRPr sz="650">
                          <a:solidFill>
                            <a:srgbClr val="2C3E50"/>
                          </a:solidFill>
                          <a:latin typeface="Arial"/>
                        </a:defRPr>
                      </a:pPr>
                      <a:r>
                        <a:t>ADOPT CoE's JIRA Playbook (41p) — because it's the most comprehensive Jira documentation and the proposal requires 'Jira Configuration V1.0' as a deliverable. ADOPT DTO's 2-level board — because Digital Products needs both portfolio visibility (Level 1) and execution tracking (Level 2). REUSE PM Playbook's issue hierarchy — because Initiative → Epic → Story → Task is the standard across Avangrid.</a:t>
                      </a:r>
                    </a:p>
                  </a:txBody>
                  <a:tcPr anchor="t">
                    <a:solidFill>
                      <a:srgbClr val="E8F5E9"/>
                    </a:solidFill>
                  </a:tcPr>
                </a:tc>
              </a:tr>
              <a:tr h="1743456">
                <a:tc>
                  <a:txBody>
                    <a:bodyPr wrap="square"/>
                    <a:lstStyle/>
                    <a:p>
                      <a:pPr>
                        <a:defRPr sz="800" b="1">
                          <a:solidFill>
                            <a:srgbClr val="2C3E50"/>
                          </a:solidFill>
                          <a:latin typeface="Arial"/>
                        </a:defRPr>
                      </a:pPr>
                      <a:r>
                        <a:t>Portfolio &amp;</a:t>
                      </a:r>
                      <a:br/>
                      <a:r>
                        <a:t>PPMNow Concept</a:t>
                      </a:r>
                    </a:p>
                  </a:txBody>
                  <a:tcPr anchor="t">
                    <a:solidFill>
                      <a:srgbClr val="F5F5F5"/>
                    </a:solidFill>
                  </a:tcPr>
                </a:tc>
                <a:tc>
                  <a:txBody>
                    <a:bodyPr wrap="square"/>
                    <a:lstStyle/>
                    <a:p>
                      <a:r>
                        <a:rPr sz="700">
                          <a:solidFill>
                            <a:srgbClr val="2C3E50"/>
                          </a:solidFill>
                          <a:latin typeface="Arial"/>
                        </a:rPr>
                        <a:t>Portfolio Kanban swimlanes: High Risks, High Value, Regulatory, OKRs (nWOW Sl. 79). Flight Levels (PM Playbook Sl. 76). Big Room Planning quarterly (nWOW Sl. 51). Estimation Logic (nWOW Sl. 69-71). Program Kanban with WIP (PM Playbook Sl. 78).</a:t>
                      </a:r>
                    </a:p>
                    <a:p>
                      <a:pPr>
                        <a:spcBef>
                          <a:spcPts val="200"/>
                        </a:spcBef>
                      </a:pPr>
                      <a:r>
                        <a:rPr sz="600">
                          <a:solidFill>
                            <a:srgbClr val="7F8C8D"/>
                          </a:solidFill>
                          <a:latin typeface="Arial"/>
                        </a:rPr>
                        <a:t>→ </a:t>
                      </a:r>
                      <a:r>
                        <a:rPr sz="600" u="sng">
                          <a:solidFill>
                            <a:srgbClr val="0072BC"/>
                          </a:solidFill>
                          <a:latin typeface="Arial"/>
                          <a:hlinkClick r:id="rId8"/>
                        </a:rPr>
                        <a:t>nWOW - New Ways of Working - P&amp;S Lean Operating Model 03.10.2026 v1.2.pptx</a:t>
                      </a:r>
                      <a:r>
                        <a:rPr sz="600" b="1">
                          <a:solidFill>
                            <a:srgbClr val="2C3E50"/>
                          </a:solidFill>
                          <a:latin typeface="Arial"/>
                        </a:rPr>
                        <a:t>  |  Sl. 32, 54, 78, 79</a:t>
                      </a:r>
                    </a:p>
                    <a:p>
                      <a:pPr>
                        <a:spcBef>
                          <a:spcPts val="200"/>
                        </a:spcBef>
                      </a:pPr>
                      <a:r>
                        <a:rPr sz="600">
                          <a:solidFill>
                            <a:srgbClr val="7F8C8D"/>
                          </a:solidFill>
                          <a:latin typeface="Arial"/>
                        </a:rPr>
                        <a:t>→ </a:t>
                      </a:r>
                      <a:r>
                        <a:rPr sz="600" u="sng">
                          <a:solidFill>
                            <a:srgbClr val="0072BC"/>
                          </a:solidFill>
                          <a:latin typeface="Arial"/>
                          <a:hlinkClick r:id="rId2"/>
                        </a:rPr>
                        <a:t>[00] Project Management Playbook - P&amp;S Ways of Working 10.28.25 v.1.0-2.pptx</a:t>
                      </a:r>
                      <a:r>
                        <a:rPr sz="600" b="1">
                          <a:solidFill>
                            <a:srgbClr val="2C3E50"/>
                          </a:solidFill>
                          <a:latin typeface="Arial"/>
                        </a:rPr>
                        <a:t>  |  Sl. 69, 76, 77, 78, 80</a:t>
                      </a:r>
                    </a:p>
                  </a:txBody>
                  <a:tcPr anchor="t">
                    <a:solidFill>
                      <a:srgbClr val="F5F5F5"/>
                    </a:solidFill>
                  </a:tcPr>
                </a:tc>
                <a:tc>
                  <a:txBody>
                    <a:bodyPr wrap="square"/>
                    <a:lstStyle/>
                    <a:p>
                      <a:r>
                        <a:rPr sz="700">
                          <a:solidFill>
                            <a:srgbClr val="2C3E50"/>
                          </a:solidFill>
                          <a:latin typeface="Arial"/>
                        </a:rPr>
                        <a:t>Portfolio Learn Cycle quarterly (CoE Playbook Sl. 73). Architecture 4 cycles/year + Strategy Workshops (CoE Playbook Sl. 102). Metrics: ILt, RpI, Lean Radar, Strategic Theme (CoE Playbook Sl. 89, 93). PPM: OKR, Roadmap, Pull System (CoE Playbook Sl. 100).</a:t>
                      </a:r>
                    </a:p>
                    <a:p>
                      <a:pPr>
                        <a:spcBef>
                          <a:spcPts val="200"/>
                        </a:spcBef>
                      </a:pPr>
                      <a:r>
                        <a:rPr sz="600">
                          <a:solidFill>
                            <a:srgbClr val="7F8C8D"/>
                          </a:solidFill>
                          <a:latin typeface="Arial"/>
                        </a:rPr>
                        <a:t>→ </a:t>
                      </a:r>
                      <a:r>
                        <a:rPr sz="600" u="sng">
                          <a:solidFill>
                            <a:srgbClr val="0072BC"/>
                          </a:solidFill>
                          <a:latin typeface="Arial"/>
                          <a:hlinkClick r:id="rId5"/>
                        </a:rPr>
                        <a:t>[12] Digital CoE Operating Model - Playbook - 01.05.2026 V.2.5. FINAL pptx.pptx</a:t>
                      </a:r>
                      <a:r>
                        <a:rPr sz="600" b="1">
                          <a:solidFill>
                            <a:srgbClr val="2C3E50"/>
                          </a:solidFill>
                          <a:latin typeface="Arial"/>
                        </a:rPr>
                        <a:t>  |  Sl. 59, 60, 67, 72, 73, 80, 93, 100, 102</a:t>
                      </a:r>
                    </a:p>
                  </a:txBody>
                  <a:tcPr anchor="t">
                    <a:solidFill>
                      <a:srgbClr val="F5F5F5"/>
                    </a:solidFill>
                  </a:tcPr>
                </a:tc>
                <a:tc>
                  <a:txBody>
                    <a:bodyPr wrap="square"/>
                    <a:lstStyle/>
                    <a:p>
                      <a:r>
                        <a:rPr sz="700">
                          <a:solidFill>
                            <a:srgbClr val="2C3E50"/>
                          </a:solidFill>
                          <a:latin typeface="Arial"/>
                        </a:rPr>
                        <a:t>Portfolio Roadmap E2E (Avangrid Sl. 38). Per-unit-served Investment Model for OPCO cost allocation (Avangrid Sl. 51-54). Phased rollout governance (Avangrid Sl. 46).</a:t>
                      </a:r>
                    </a:p>
                    <a:p>
                      <a:pPr>
                        <a:spcBef>
                          <a:spcPts val="200"/>
                        </a:spcBef>
                      </a:pPr>
                      <a:r>
                        <a:rPr sz="600">
                          <a:solidFill>
                            <a:srgbClr val="7F8C8D"/>
                          </a:solidFill>
                          <a:latin typeface="Arial"/>
                        </a:rPr>
                        <a:t>→ </a:t>
                      </a:r>
                      <a:r>
                        <a:rPr sz="600" u="sng">
                          <a:solidFill>
                            <a:srgbClr val="0072BC"/>
                          </a:solidFill>
                          <a:latin typeface="Arial"/>
                          <a:hlinkClick r:id="rId9"/>
                        </a:rPr>
                        <a:t>Agile Management Model _ Proposal Avangrid Architecture V.3.1 18.01.2024 3.pptx</a:t>
                      </a:r>
                      <a:r>
                        <a:rPr sz="600" b="1">
                          <a:solidFill>
                            <a:srgbClr val="2C3E50"/>
                          </a:solidFill>
                          <a:latin typeface="Arial"/>
                        </a:rPr>
                        <a:t>  |  Sl. 10, 15, 23, 37, 38, 46</a:t>
                      </a:r>
                    </a:p>
                  </a:txBody>
                  <a:tcPr anchor="t">
                    <a:solidFill>
                      <a:srgbClr val="F5F5F5"/>
                    </a:solidFill>
                  </a:tcPr>
                </a:tc>
                <a:tc>
                  <a:txBody>
                    <a:bodyPr wrap="square"/>
                    <a:lstStyle/>
                    <a:p>
                      <a:r>
                        <a:rPr sz="700">
                          <a:solidFill>
                            <a:srgbClr val="2C3E50"/>
                          </a:solidFill>
                          <a:latin typeface="Arial"/>
                        </a:rPr>
                        <a:t>Compass Portfolio Management Model (DTO Sl. 13): E2E flow idea → committee → delivery. Level 1 Epic Kanban strategy-to-execution (DTO Sl. 12). Governance pillar: cadences + flow monitoring (DTO Sl. 48).</a:t>
                      </a:r>
                    </a:p>
                    <a:p>
                      <a:pPr>
                        <a:spcBef>
                          <a:spcPts val="200"/>
                        </a:spcBef>
                      </a:pPr>
                      <a:r>
                        <a:rPr sz="600">
                          <a:solidFill>
                            <a:srgbClr val="7F8C8D"/>
                          </a:solidFill>
                          <a:latin typeface="Arial"/>
                        </a:rPr>
                        <a:t>→ </a:t>
                      </a:r>
                      <a:r>
                        <a:rPr sz="600" u="sng">
                          <a:solidFill>
                            <a:srgbClr val="0072BC"/>
                          </a:solidFill>
                          <a:latin typeface="Arial"/>
                          <a:hlinkClick r:id="rId7"/>
                        </a:rPr>
                        <a:t>NextGen_DTO_Deliverable1 - Final.pptx</a:t>
                      </a:r>
                      <a:r>
                        <a:rPr sz="600" b="1">
                          <a:solidFill>
                            <a:srgbClr val="2C3E50"/>
                          </a:solidFill>
                          <a:latin typeface="Arial"/>
                        </a:rPr>
                        <a:t>  |  Sl. 12, 13, 48</a:t>
                      </a:r>
                    </a:p>
                  </a:txBody>
                  <a:tcPr anchor="t">
                    <a:solidFill>
                      <a:srgbClr val="F5F5F5"/>
                    </a:solidFill>
                  </a:tcPr>
                </a:tc>
                <a:tc>
                  <a:txBody>
                    <a:bodyPr wrap="square"/>
                    <a:lstStyle/>
                    <a:p>
                      <a:pPr>
                        <a:defRPr sz="650">
                          <a:solidFill>
                            <a:srgbClr val="2C3E50"/>
                          </a:solidFill>
                          <a:latin typeface="Arial"/>
                        </a:defRPr>
                      </a:pPr>
                      <a:r>
                        <a:t>ADOPT nWOW's Portfolio Kanban — because the swimlane format provides the clearest visualization and the proposal requires 'Portfolio Concept Blueprint (PPMNow)'. ADOPT CoE's Portfolio Learn Cycle — because quarterly strategic alignment is critical for a new area like Digital Products. REUSE Avangrid's investment model — because Digital Products serves multiple OPCOs and needs per-unit cost allocation.</a:t>
                      </a:r>
                    </a:p>
                  </a:txBody>
                  <a:tcPr anchor="t">
                    <a:solidFill>
                      <a:srgbClr val="C8E6C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defRPr sz="1300" b="1">
                <a:solidFill>
                  <a:srgbClr val="002060"/>
                </a:solidFill>
                <a:latin typeface="Arial"/>
              </a:defRPr>
            </a:pPr>
            <a:r>
              <a:t>Existing Assets — Baseline / Demand Map &amp; Pilot Execution (4/5)</a:t>
            </a:r>
          </a:p>
        </p:txBody>
      </p:sp>
      <p:sp>
        <p:nvSpPr>
          <p:cNvPr id="5" name="Rectangle 4"/>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graphicFrame>
        <p:nvGraphicFramePr>
          <p:cNvPr id="6" name="Table 5"/>
          <p:cNvGraphicFramePr>
            <a:graphicFrameLocks noGrp="1"/>
          </p:cNvGraphicFramePr>
          <p:nvPr/>
        </p:nvGraphicFramePr>
        <p:xfrm>
          <a:off x="91440" y="868680"/>
          <a:ext cx="11978640" cy="5230368"/>
        </p:xfrm>
        <a:graphic>
          <a:graphicData uri="http://schemas.openxmlformats.org/drawingml/2006/table">
            <a:tbl>
              <a:tblPr firstRow="1" bandRow="1">
                <a:tableStyleId>{5C22544A-7EE6-4342-B048-85BDC9FD1C3A}</a:tableStyleId>
              </a:tblPr>
              <a:tblGrid>
                <a:gridCol w="1005840"/>
                <a:gridCol w="2468880"/>
                <a:gridCol w="2286000"/>
                <a:gridCol w="1463040"/>
                <a:gridCol w="2103120"/>
                <a:gridCol w="2651760"/>
              </a:tblGrid>
              <a:tr h="1743456">
                <a:tc>
                  <a:txBody>
                    <a:bodyPr wrap="square"/>
                    <a:lstStyle/>
                    <a:p>
                      <a:pPr algn="ctr">
                        <a:defRPr sz="700" b="1">
                          <a:solidFill>
                            <a:srgbClr val="FFFFFF"/>
                          </a:solidFill>
                          <a:latin typeface="Arial"/>
                        </a:defRPr>
                      </a:pPr>
                      <a:r>
                        <a:t>Deliverable</a:t>
                      </a:r>
                    </a:p>
                  </a:txBody>
                  <a:tcPr anchor="ctr">
                    <a:solidFill>
                      <a:srgbClr val="002060"/>
                    </a:solidFill>
                  </a:tcPr>
                </a:tc>
                <a:tc>
                  <a:txBody>
                    <a:bodyPr wrap="square"/>
                    <a:lstStyle/>
                    <a:p>
                      <a:pPr algn="ctr">
                        <a:defRPr sz="700" b="1">
                          <a:solidFill>
                            <a:srgbClr val="FFFFFF"/>
                          </a:solidFill>
                          <a:latin typeface="Arial"/>
                        </a:defRPr>
                      </a:pPr>
                      <a:r>
                        <a:t>P&amp;S / P&amp;T</a:t>
                      </a:r>
                    </a:p>
                  </a:txBody>
                  <a:tcPr anchor="ctr">
                    <a:solidFill>
                      <a:srgbClr val="002060"/>
                    </a:solidFill>
                  </a:tcPr>
                </a:tc>
                <a:tc>
                  <a:txBody>
                    <a:bodyPr wrap="square"/>
                    <a:lstStyle/>
                    <a:p>
                      <a:pPr algn="ctr">
                        <a:defRPr sz="700" b="1">
                          <a:solidFill>
                            <a:srgbClr val="FFFFFF"/>
                          </a:solidFill>
                          <a:latin typeface="Arial"/>
                        </a:defRPr>
                      </a:pPr>
                      <a:r>
                        <a:t>Digital CoE</a:t>
                      </a:r>
                    </a:p>
                  </a:txBody>
                  <a:tcPr anchor="ctr">
                    <a:solidFill>
                      <a:srgbClr val="002060"/>
                    </a:solidFill>
                  </a:tcPr>
                </a:tc>
                <a:tc>
                  <a:txBody>
                    <a:bodyPr wrap="square"/>
                    <a:lstStyle/>
                    <a:p>
                      <a:pPr algn="ctr">
                        <a:defRPr sz="700" b="1">
                          <a:solidFill>
                            <a:srgbClr val="FFFFFF"/>
                          </a:solidFill>
                          <a:latin typeface="Arial"/>
                        </a:defRPr>
                      </a:pPr>
                      <a:r>
                        <a:t>Infrastructure</a:t>
                      </a:r>
                    </a:p>
                  </a:txBody>
                  <a:tcPr anchor="ctr">
                    <a:solidFill>
                      <a:srgbClr val="002060"/>
                    </a:solidFill>
                  </a:tcPr>
                </a:tc>
                <a:tc>
                  <a:txBody>
                    <a:bodyPr wrap="square"/>
                    <a:lstStyle/>
                    <a:p>
                      <a:pPr algn="ctr">
                        <a:defRPr sz="700" b="1">
                          <a:solidFill>
                            <a:srgbClr val="FFFFFF"/>
                          </a:solidFill>
                          <a:latin typeface="Arial"/>
                        </a:defRPr>
                      </a:pPr>
                      <a:r>
                        <a:t>Renewables DTO</a:t>
                      </a:r>
                    </a:p>
                  </a:txBody>
                  <a:tcPr anchor="ctr">
                    <a:solidFill>
                      <a:srgbClr val="002060"/>
                    </a:solidFill>
                  </a:tcPr>
                </a:tc>
                <a:tc>
                  <a:txBody>
                    <a:bodyPr wrap="square"/>
                    <a:lstStyle/>
                    <a:p>
                      <a:pPr algn="ctr">
                        <a:defRPr sz="700" b="1">
                          <a:solidFill>
                            <a:srgbClr val="FFFFFF"/>
                          </a:solidFill>
                          <a:latin typeface="Arial"/>
                        </a:defRPr>
                      </a:pPr>
                      <a:r>
                        <a:t>Digital Products (Reuse)</a:t>
                      </a:r>
                    </a:p>
                  </a:txBody>
                  <a:tcPr anchor="ctr">
                    <a:solidFill>
                      <a:srgbClr val="00B050"/>
                    </a:solidFill>
                  </a:tcPr>
                </a:tc>
              </a:tr>
              <a:tr h="1743456">
                <a:tc>
                  <a:txBody>
                    <a:bodyPr wrap="square"/>
                    <a:lstStyle/>
                    <a:p>
                      <a:pPr>
                        <a:defRPr sz="800" b="1">
                          <a:solidFill>
                            <a:srgbClr val="2C3E50"/>
                          </a:solidFill>
                          <a:latin typeface="Arial"/>
                        </a:defRPr>
                      </a:pPr>
                      <a:r>
                        <a:t>Baseline &amp;</a:t>
                      </a:r>
                      <a:br/>
                      <a:r>
                        <a:t>Demand Map</a:t>
                      </a:r>
                    </a:p>
                  </a:txBody>
                  <a:tcPr anchor="t">
                    <a:solidFill>
                      <a:srgbClr val="FFFFFF"/>
                    </a:solidFill>
                  </a:tcPr>
                </a:tc>
                <a:tc>
                  <a:txBody>
                    <a:bodyPr wrap="square"/>
                    <a:lstStyle/>
                    <a:p>
                      <a:r>
                        <a:rPr sz="700">
                          <a:solidFill>
                            <a:srgbClr val="2C3E50"/>
                          </a:solidFill>
                          <a:latin typeface="Arial"/>
                        </a:rPr>
                        <a:t>Discovery methodology (PD Playbook Sl. 22): research, observations, pain points, journey mapping, SIPOC. Demand Funnel (nWOW Sl. 42). Upstream-Downstream workflow (PM Playbook Sl. 83-84). Methodology, not ready-made baseline.</a:t>
                      </a:r>
                    </a:p>
                    <a:p>
                      <a:pPr>
                        <a:spcBef>
                          <a:spcPts val="200"/>
                        </a:spcBef>
                      </a:pPr>
                      <a:r>
                        <a:rPr sz="600">
                          <a:solidFill>
                            <a:srgbClr val="7F8C8D"/>
                          </a:solidFill>
                          <a:latin typeface="Arial"/>
                        </a:rPr>
                        <a:t>→ </a:t>
                      </a:r>
                      <a:r>
                        <a:rPr sz="600" u="sng">
                          <a:solidFill>
                            <a:srgbClr val="0072BC"/>
                          </a:solidFill>
                          <a:latin typeface="Arial"/>
                          <a:hlinkClick r:id="rId2"/>
                        </a:rPr>
                        <a:t>nWOW - New Ways of Working - P&amp;S Lean Operating Model 03.10.2026 v1.2.pptx</a:t>
                      </a:r>
                      <a:r>
                        <a:rPr sz="600" b="1">
                          <a:solidFill>
                            <a:srgbClr val="2C3E50"/>
                          </a:solidFill>
                          <a:latin typeface="Arial"/>
                        </a:rPr>
                        <a:t>  |  Sl. 42</a:t>
                      </a:r>
                    </a:p>
                    <a:p>
                      <a:pPr>
                        <a:spcBef>
                          <a:spcPts val="200"/>
                        </a:spcBef>
                      </a:pPr>
                      <a:r>
                        <a:rPr sz="600">
                          <a:solidFill>
                            <a:srgbClr val="7F8C8D"/>
                          </a:solidFill>
                          <a:latin typeface="Arial"/>
                        </a:rPr>
                        <a:t>→ </a:t>
                      </a:r>
                      <a:r>
                        <a:rPr sz="600" u="sng">
                          <a:solidFill>
                            <a:srgbClr val="0072BC"/>
                          </a:solidFill>
                          <a:latin typeface="Arial"/>
                          <a:hlinkClick r:id="rId3"/>
                        </a:rPr>
                        <a:t>[00] Product Discovery Playbook - P&amp;S Ways of Working 02.03.26 v.1.3 +FIGMA.pptx</a:t>
                      </a:r>
                      <a:r>
                        <a:rPr sz="600" b="1">
                          <a:solidFill>
                            <a:srgbClr val="2C3E50"/>
                          </a:solidFill>
                          <a:latin typeface="Arial"/>
                        </a:rPr>
                        <a:t>  |  Sl. 13, 22, 51, 84</a:t>
                      </a:r>
                    </a:p>
                    <a:p>
                      <a:pPr>
                        <a:spcBef>
                          <a:spcPts val="200"/>
                        </a:spcBef>
                      </a:pPr>
                      <a:r>
                        <a:rPr sz="600">
                          <a:solidFill>
                            <a:srgbClr val="7F8C8D"/>
                          </a:solidFill>
                          <a:latin typeface="Arial"/>
                        </a:rPr>
                        <a:t>→ </a:t>
                      </a:r>
                      <a:r>
                        <a:rPr sz="600" u="sng">
                          <a:solidFill>
                            <a:srgbClr val="0072BC"/>
                          </a:solidFill>
                          <a:latin typeface="Arial"/>
                          <a:hlinkClick r:id="rId4"/>
                        </a:rPr>
                        <a:t>[00] Project Management Playbook - P&amp;S Ways of Working 10.28.25 v.1.0-2.pptx</a:t>
                      </a:r>
                      <a:r>
                        <a:rPr sz="600" b="1">
                          <a:solidFill>
                            <a:srgbClr val="2C3E50"/>
                          </a:solidFill>
                          <a:latin typeface="Arial"/>
                        </a:rPr>
                        <a:t>  |  Sl. 83, 84</a:t>
                      </a:r>
                    </a:p>
                  </a:txBody>
                  <a:tcPr anchor="t">
                    <a:solidFill>
                      <a:srgbClr val="FFFFFF"/>
                    </a:solidFill>
                  </a:tcPr>
                </a:tc>
                <a:tc>
                  <a:txBody>
                    <a:bodyPr wrap="square"/>
                    <a:lstStyle/>
                    <a:p>
                      <a:r>
                        <a:rPr sz="700">
                          <a:solidFill>
                            <a:srgbClr val="2C3E50"/>
                          </a:solidFill>
                          <a:latin typeface="Arial"/>
                        </a:rPr>
                        <a:t>Demand mapping at portfolio level (CoE Playbook Sl. 32). PMT triage (CoE Playbook Sl. 33). Portfolio Metrics (CoE Playbook Sl. 79, 93). Quarterly Results (CoE Playbook Sl. 60). Governance, not diagnosis.</a:t>
                      </a:r>
                    </a:p>
                    <a:p>
                      <a:pPr>
                        <a:spcBef>
                          <a:spcPts val="200"/>
                        </a:spcBef>
                      </a:pPr>
                      <a:r>
                        <a:rPr sz="600">
                          <a:solidFill>
                            <a:srgbClr val="7F8C8D"/>
                          </a:solidFill>
                          <a:latin typeface="Arial"/>
                        </a:rPr>
                        <a:t>→ </a:t>
                      </a:r>
                      <a:r>
                        <a:rPr sz="600" u="sng">
                          <a:solidFill>
                            <a:srgbClr val="0072BC"/>
                          </a:solidFill>
                          <a:latin typeface="Arial"/>
                          <a:hlinkClick r:id="rId5"/>
                        </a:rPr>
                        <a:t>[12] Digital CoE Operating Model - Playbook - 01.05.2026 V.2.5. FINAL pptx.pptx</a:t>
                      </a:r>
                      <a:r>
                        <a:rPr sz="600" b="1">
                          <a:solidFill>
                            <a:srgbClr val="2C3E50"/>
                          </a:solidFill>
                          <a:latin typeface="Arial"/>
                        </a:rPr>
                        <a:t>  |  Sl. 32, 33, 73, 79, 80, 102</a:t>
                      </a:r>
                    </a:p>
                  </a:txBody>
                  <a:tcPr anchor="t">
                    <a:solidFill>
                      <a:srgbClr val="FFFFFF"/>
                    </a:solidFill>
                  </a:tcPr>
                </a:tc>
                <a:tc>
                  <a:txBody>
                    <a:bodyPr wrap="square"/>
                    <a:lstStyle/>
                    <a:p>
                      <a:r>
                        <a:rPr sz="700">
                          <a:solidFill>
                            <a:srgbClr val="2C3E50"/>
                          </a:solidFill>
                          <a:latin typeface="Arial"/>
                        </a:rPr>
                        <a:t>Project Book Template (Project Book Sl. 1-2): Discover → Build → Operate. Blueprint Design (Avangrid Sl. 36). Reusable for baseline documentation.</a:t>
                      </a:r>
                    </a:p>
                    <a:p>
                      <a:pPr>
                        <a:spcBef>
                          <a:spcPts val="200"/>
                        </a:spcBef>
                      </a:pPr>
                      <a:r>
                        <a:rPr sz="600">
                          <a:solidFill>
                            <a:srgbClr val="7F8C8D"/>
                          </a:solidFill>
                          <a:latin typeface="Arial"/>
                        </a:rPr>
                        <a:t>→ </a:t>
                      </a:r>
                      <a:r>
                        <a:rPr sz="600" u="sng">
                          <a:solidFill>
                            <a:srgbClr val="0072BC"/>
                          </a:solidFill>
                          <a:latin typeface="Arial"/>
                          <a:hlinkClick r:id="rId6"/>
                        </a:rPr>
                        <a:t>Project_Book_Avangrid_Template v1.0.pptx</a:t>
                      </a:r>
                      <a:r>
                        <a:rPr sz="600" b="1">
                          <a:solidFill>
                            <a:srgbClr val="2C3E50"/>
                          </a:solidFill>
                          <a:latin typeface="Arial"/>
                        </a:rPr>
                        <a:t>  |  Sl. 1, 2, 10</a:t>
                      </a:r>
                    </a:p>
                    <a:p>
                      <a:pPr>
                        <a:spcBef>
                          <a:spcPts val="200"/>
                        </a:spcBef>
                      </a:pPr>
                      <a:r>
                        <a:rPr sz="600">
                          <a:solidFill>
                            <a:srgbClr val="7F8C8D"/>
                          </a:solidFill>
                          <a:latin typeface="Arial"/>
                        </a:rPr>
                        <a:t>→ </a:t>
                      </a:r>
                      <a:r>
                        <a:rPr sz="600" u="sng">
                          <a:solidFill>
                            <a:srgbClr val="0072BC"/>
                          </a:solidFill>
                          <a:latin typeface="Arial"/>
                          <a:hlinkClick r:id="rId7"/>
                        </a:rPr>
                        <a:t>Agile Management Model _ Proposal Avangrid Architecture V.3.1 18.01.2024 3.pptx</a:t>
                      </a:r>
                      <a:r>
                        <a:rPr sz="600" b="1">
                          <a:solidFill>
                            <a:srgbClr val="2C3E50"/>
                          </a:solidFill>
                          <a:latin typeface="Arial"/>
                        </a:rPr>
                        <a:t>  |  Sl. 16, 36</a:t>
                      </a:r>
                    </a:p>
                  </a:txBody>
                  <a:tcPr anchor="t">
                    <a:solidFill>
                      <a:srgbClr val="FFFFFF"/>
                    </a:solidFill>
                  </a:tcPr>
                </a:tc>
                <a:tc>
                  <a:txBody>
                    <a:bodyPr wrap="square"/>
                    <a:lstStyle/>
                    <a:p>
                      <a:r>
                        <a:rPr sz="700">
                          <a:solidFill>
                            <a:srgbClr val="2C3E50"/>
                          </a:solidFill>
                          <a:latin typeface="Arial"/>
                        </a:rPr>
                        <a:t>The DTO deliverable IS a baseline: exec summary (DTO Sl. 3) + findings per pillar: Intake fragmented (DTO Sl. 6), Prioritization reactive (DTO Sl. 7), Governance informal (DTO Sl. 8). Demand classification: Class of Service + Work Types (DTO Sl. 5, 20). Most complete diagnosis.</a:t>
                      </a:r>
                    </a:p>
                    <a:p>
                      <a:pPr>
                        <a:spcBef>
                          <a:spcPts val="200"/>
                        </a:spcBef>
                      </a:pPr>
                      <a:r>
                        <a:rPr sz="600">
                          <a:solidFill>
                            <a:srgbClr val="7F8C8D"/>
                          </a:solidFill>
                          <a:latin typeface="Arial"/>
                        </a:rPr>
                        <a:t>→ </a:t>
                      </a:r>
                      <a:r>
                        <a:rPr sz="600" u="sng">
                          <a:solidFill>
                            <a:srgbClr val="0072BC"/>
                          </a:solidFill>
                          <a:latin typeface="Arial"/>
                          <a:hlinkClick r:id="rId8"/>
                        </a:rPr>
                        <a:t>NextGen_DTO_Deliverable1 - Final.pptx</a:t>
                      </a:r>
                      <a:r>
                        <a:rPr sz="600" b="1">
                          <a:solidFill>
                            <a:srgbClr val="2C3E50"/>
                          </a:solidFill>
                          <a:latin typeface="Arial"/>
                        </a:rPr>
                        <a:t>  |  Sl. 3, 5, 6, 7, 8, 19, 20</a:t>
                      </a:r>
                    </a:p>
                  </a:txBody>
                  <a:tcPr anchor="t">
                    <a:solidFill>
                      <a:srgbClr val="FFFFFF"/>
                    </a:solidFill>
                  </a:tcPr>
                </a:tc>
                <a:tc>
                  <a:txBody>
                    <a:bodyPr wrap="square"/>
                    <a:lstStyle/>
                    <a:p>
                      <a:pPr>
                        <a:defRPr sz="650">
                          <a:solidFill>
                            <a:srgbClr val="2C3E50"/>
                          </a:solidFill>
                          <a:latin typeface="Arial"/>
                        </a:defRPr>
                      </a:pPr>
                      <a:r>
                        <a:t>ADOPT DTO's baseline format — because the executive summary + findings per pillar structure is exactly what the proposal's 'Baseline Report' deliverable requires. REUSE PD Playbook's discovery methodology — because Digital Products needs the same interview + assessment approach. REUSE DTO's demand classification — because Class of Service + Work Types provides immediate structure for categorizing Digital Products demand.</a:t>
                      </a:r>
                    </a:p>
                  </a:txBody>
                  <a:tcPr anchor="t">
                    <a:solidFill>
                      <a:srgbClr val="E8F5E9"/>
                    </a:solidFill>
                  </a:tcPr>
                </a:tc>
              </a:tr>
              <a:tr h="1743456">
                <a:tc>
                  <a:txBody>
                    <a:bodyPr wrap="square"/>
                    <a:lstStyle/>
                    <a:p>
                      <a:pPr>
                        <a:defRPr sz="800" b="1">
                          <a:solidFill>
                            <a:srgbClr val="2C3E50"/>
                          </a:solidFill>
                          <a:latin typeface="Arial"/>
                        </a:defRPr>
                      </a:pPr>
                      <a:r>
                        <a:t>Pilot</a:t>
                      </a:r>
                      <a:br/>
                      <a:r>
                        <a:t>Execution</a:t>
                      </a:r>
                    </a:p>
                  </a:txBody>
                  <a:tcPr anchor="t">
                    <a:solidFill>
                      <a:srgbClr val="F5F5F5"/>
                    </a:solidFill>
                  </a:tcPr>
                </a:tc>
                <a:tc>
                  <a:txBody>
                    <a:bodyPr wrap="square"/>
                    <a:lstStyle/>
                    <a:p>
                      <a:r>
                        <a:rPr sz="700">
                          <a:solidFill>
                            <a:srgbClr val="2C3E50"/>
                          </a:solidFill>
                          <a:latin typeface="Arial"/>
                        </a:rPr>
                        <a:t>Validation Report (PD Playbook Sl. 68): Problem/Hypothesis, feedback, feasibility matrix, GO/No-Go. Shark Tank Committee (PD Playbook Sl. 72): quarterly gate. Validation formats, not execution.</a:t>
                      </a:r>
                    </a:p>
                    <a:p>
                      <a:pPr>
                        <a:spcBef>
                          <a:spcPts val="200"/>
                        </a:spcBef>
                      </a:pPr>
                      <a:r>
                        <a:rPr sz="600">
                          <a:solidFill>
                            <a:srgbClr val="7F8C8D"/>
                          </a:solidFill>
                          <a:latin typeface="Arial"/>
                        </a:rPr>
                        <a:t>→ </a:t>
                      </a:r>
                      <a:r>
                        <a:rPr sz="600" u="sng">
                          <a:solidFill>
                            <a:srgbClr val="0072BC"/>
                          </a:solidFill>
                          <a:latin typeface="Arial"/>
                          <a:hlinkClick r:id="rId3"/>
                        </a:rPr>
                        <a:t>[00] Product Discovery Playbook - P&amp;S Ways of Working 02.03.26 v.1.3 +FIGMA.pptx</a:t>
                      </a:r>
                      <a:r>
                        <a:rPr sz="600" b="1">
                          <a:solidFill>
                            <a:srgbClr val="2C3E50"/>
                          </a:solidFill>
                          <a:latin typeface="Arial"/>
                        </a:rPr>
                        <a:t>  |  Sl. 3, 68, 70, 72</a:t>
                      </a:r>
                    </a:p>
                    <a:p>
                      <a:pPr>
                        <a:spcBef>
                          <a:spcPts val="200"/>
                        </a:spcBef>
                      </a:pPr>
                      <a:r>
                        <a:rPr sz="600">
                          <a:solidFill>
                            <a:srgbClr val="7F8C8D"/>
                          </a:solidFill>
                          <a:latin typeface="Arial"/>
                        </a:rPr>
                        <a:t>→ </a:t>
                      </a:r>
                      <a:r>
                        <a:rPr sz="600" u="sng">
                          <a:solidFill>
                            <a:srgbClr val="0072BC"/>
                          </a:solidFill>
                          <a:latin typeface="Arial"/>
                          <a:hlinkClick r:id="rId2"/>
                        </a:rPr>
                        <a:t>nWOW - New Ways of Working - P&amp;S Lean Operating Model 03.10.2026 v1.2.pptx</a:t>
                      </a:r>
                      <a:r>
                        <a:rPr sz="600" b="1">
                          <a:solidFill>
                            <a:srgbClr val="2C3E50"/>
                          </a:solidFill>
                          <a:latin typeface="Arial"/>
                        </a:rPr>
                        <a:t>  |  Sl. 43</a:t>
                      </a:r>
                    </a:p>
                  </a:txBody>
                  <a:tcPr anchor="t">
                    <a:solidFill>
                      <a:srgbClr val="F5F5F5"/>
                    </a:solidFill>
                  </a:tcPr>
                </a:tc>
                <a:tc>
                  <a:txBody>
                    <a:bodyPr wrap="square"/>
                    <a:lstStyle/>
                    <a:p>
                      <a:r>
                        <a:rPr sz="700">
                          <a:solidFill>
                            <a:srgbClr val="2C3E50"/>
                          </a:solidFill>
                          <a:latin typeface="Arial"/>
                        </a:rPr>
                        <a:t>SEAL-SIX maturity (NTTDATA Sl. 9-10): 15-18 Ready / 10-14 Guardrails / &lt;10 Foundations. MVST concept (NTTDATA Sl. 10). Health Radars (Agility Playbook Sl. 93). Current/target radar (NTTDATA Sl. 23-24).</a:t>
                      </a:r>
                    </a:p>
                    <a:p>
                      <a:pPr>
                        <a:spcBef>
                          <a:spcPts val="200"/>
                        </a:spcBef>
                      </a:pPr>
                      <a:r>
                        <a:rPr sz="600">
                          <a:solidFill>
                            <a:srgbClr val="7F8C8D"/>
                          </a:solidFill>
                          <a:latin typeface="Arial"/>
                        </a:rPr>
                        <a:t>→ </a:t>
                      </a:r>
                      <a:r>
                        <a:rPr sz="600" u="sng">
                          <a:solidFill>
                            <a:srgbClr val="0072BC"/>
                          </a:solidFill>
                          <a:latin typeface="Arial"/>
                          <a:hlinkClick r:id="rId9"/>
                        </a:rPr>
                        <a:t>NTTDATA-Digital Strategy - NextGen Produc Ops Org Design SEAL-SIX Model v.1.7 06.29.pptx</a:t>
                      </a:r>
                      <a:r>
                        <a:rPr sz="600" b="1">
                          <a:solidFill>
                            <a:srgbClr val="2C3E50"/>
                          </a:solidFill>
                          <a:latin typeface="Arial"/>
                        </a:rPr>
                        <a:t>  |  Sl. 5, 9, 10, 23, 24</a:t>
                      </a:r>
                    </a:p>
                    <a:p>
                      <a:pPr>
                        <a:spcBef>
                          <a:spcPts val="200"/>
                        </a:spcBef>
                      </a:pPr>
                      <a:r>
                        <a:rPr sz="600">
                          <a:solidFill>
                            <a:srgbClr val="7F8C8D"/>
                          </a:solidFill>
                          <a:latin typeface="Arial"/>
                        </a:rPr>
                        <a:t>→ </a:t>
                      </a:r>
                      <a:r>
                        <a:rPr sz="600" u="sng">
                          <a:solidFill>
                            <a:srgbClr val="0072BC"/>
                          </a:solidFill>
                          <a:latin typeface="Arial"/>
                          <a:hlinkClick r:id="rId10"/>
                        </a:rPr>
                        <a:t>[17] Agility Playbook - Digital Center of Excellence 06.18.2025 V.1.7.pptx</a:t>
                      </a:r>
                      <a:r>
                        <a:rPr sz="600" b="1">
                          <a:solidFill>
                            <a:srgbClr val="2C3E50"/>
                          </a:solidFill>
                          <a:latin typeface="Arial"/>
                        </a:rPr>
                        <a:t>  |  Sl. 93</a:t>
                      </a:r>
                    </a:p>
                  </a:txBody>
                  <a:tcPr anchor="t">
                    <a:solidFill>
                      <a:srgbClr val="F5F5F5"/>
                    </a:solidFill>
                  </a:tcPr>
                </a:tc>
                <a:tc>
                  <a:txBody>
                    <a:bodyPr wrap="square"/>
                    <a:lstStyle/>
                    <a:p>
                      <a:r>
                        <a:rPr sz="700">
                          <a:solidFill>
                            <a:srgbClr val="2C3E50"/>
                          </a:solidFill>
                          <a:latin typeface="Arial"/>
                        </a:rPr>
                        <a:t>Strongest pilot: Pilot → Expansion → Optimization (Avangrid Sl. 10, 34, 44). Close support + coaching + flow metrics (Avangrid Sl. 39). Sapiens Learning Cycles (Avangrid Sl. 43). Built for multi-team rollout.</a:t>
                      </a:r>
                    </a:p>
                    <a:p>
                      <a:pPr>
                        <a:spcBef>
                          <a:spcPts val="200"/>
                        </a:spcBef>
                      </a:pPr>
                      <a:r>
                        <a:rPr sz="600">
                          <a:solidFill>
                            <a:srgbClr val="7F8C8D"/>
                          </a:solidFill>
                          <a:latin typeface="Arial"/>
                        </a:rPr>
                        <a:t>→ </a:t>
                      </a:r>
                      <a:r>
                        <a:rPr sz="600" u="sng">
                          <a:solidFill>
                            <a:srgbClr val="0072BC"/>
                          </a:solidFill>
                          <a:latin typeface="Arial"/>
                          <a:hlinkClick r:id="rId7"/>
                        </a:rPr>
                        <a:t>Agile Management Model _ Proposal Avangrid Architecture V.3.1 18.01.2024 3.pptx</a:t>
                      </a:r>
                      <a:r>
                        <a:rPr sz="600" b="1">
                          <a:solidFill>
                            <a:srgbClr val="2C3E50"/>
                          </a:solidFill>
                          <a:latin typeface="Arial"/>
                        </a:rPr>
                        <a:t>  |  Sl. 10, 21, 23, 34, 44, 45</a:t>
                      </a:r>
                    </a:p>
                  </a:txBody>
                  <a:tcPr anchor="t">
                    <a:solidFill>
                      <a:srgbClr val="F5F5F5"/>
                    </a:solidFill>
                  </a:tcPr>
                </a:tc>
                <a:tc>
                  <a:txBody>
                    <a:bodyPr wrap="square"/>
                    <a:lstStyle/>
                    <a:p>
                      <a:r>
                        <a:rPr sz="700">
                          <a:solidFill>
                            <a:srgbClr val="2C3E50"/>
                          </a:solidFill>
                          <a:latin typeface="Arial"/>
                        </a:rPr>
                        <a:t>Complete pilot design. E2E Kanban Workflow for pilot team (DTO Sl. 28-30). Pull-based execution (DTO Sl. 25). QA pulls from Dev (DTO Sl. 46). Flow Dashboard (DTO Sl. 49). Cadences: Daily Flow Review, Replenishment, Kaizen (DTO Sl. 50). Most execution-ready.</a:t>
                      </a:r>
                    </a:p>
                    <a:p>
                      <a:pPr>
                        <a:spcBef>
                          <a:spcPts val="200"/>
                        </a:spcBef>
                      </a:pPr>
                      <a:r>
                        <a:rPr sz="600">
                          <a:solidFill>
                            <a:srgbClr val="7F8C8D"/>
                          </a:solidFill>
                          <a:latin typeface="Arial"/>
                        </a:rPr>
                        <a:t>→ </a:t>
                      </a:r>
                      <a:r>
                        <a:rPr sz="600" u="sng">
                          <a:solidFill>
                            <a:srgbClr val="0072BC"/>
                          </a:solidFill>
                          <a:latin typeface="Arial"/>
                          <a:hlinkClick r:id="rId8"/>
                        </a:rPr>
                        <a:t>NextGen_DTO_Deliverable1 - Final.pptx</a:t>
                      </a:r>
                      <a:r>
                        <a:rPr sz="600" b="1">
                          <a:solidFill>
                            <a:srgbClr val="2C3E50"/>
                          </a:solidFill>
                          <a:latin typeface="Arial"/>
                        </a:rPr>
                        <a:t>  |  Sl. 25, 26, 28-30, 46, 49, 50, 51</a:t>
                      </a:r>
                    </a:p>
                  </a:txBody>
                  <a:tcPr anchor="t">
                    <a:solidFill>
                      <a:srgbClr val="F5F5F5"/>
                    </a:solidFill>
                  </a:tcPr>
                </a:tc>
                <a:tc>
                  <a:txBody>
                    <a:bodyPr wrap="square"/>
                    <a:lstStyle/>
                    <a:p>
                      <a:pPr>
                        <a:defRPr sz="650">
                          <a:solidFill>
                            <a:srgbClr val="2C3E50"/>
                          </a:solidFill>
                          <a:latin typeface="Arial"/>
                        </a:defRPr>
                      </a:pPr>
                      <a:r>
                        <a:t>ADOPT DTO's pilot execution design — because it's the most operationally ready with defined cadences, flow metrics, and pull-based execution, exactly what the BRS pilot needs. ADOPT Avangrid's Pilot → Expansion → Optimization — because Digital Products needs to scale from BRS to all OPCOs, and this methodology was designed for exactly that progression. REUSE PD Playbook's Validation Report — because the proposal requires a 'Pilot Execution Report' with feedback analysis.</a:t>
                      </a:r>
                    </a:p>
                  </a:txBody>
                  <a:tcPr anchor="t">
                    <a:solidFill>
                      <a:srgbClr val="C8E6C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defRPr sz="1300" b="1">
                <a:solidFill>
                  <a:srgbClr val="002060"/>
                </a:solidFill>
                <a:latin typeface="Arial"/>
              </a:defRPr>
            </a:pPr>
            <a:r>
              <a:t>Existing Assets — Ways of Working Playbook &amp; KPI / Reporting (5/5)</a:t>
            </a:r>
          </a:p>
        </p:txBody>
      </p:sp>
      <p:sp>
        <p:nvSpPr>
          <p:cNvPr id="5" name="Rectangle 4"/>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graphicFrame>
        <p:nvGraphicFramePr>
          <p:cNvPr id="6" name="Table 5"/>
          <p:cNvGraphicFramePr>
            <a:graphicFrameLocks noGrp="1"/>
          </p:cNvGraphicFramePr>
          <p:nvPr/>
        </p:nvGraphicFramePr>
        <p:xfrm>
          <a:off x="91440" y="868680"/>
          <a:ext cx="11978640" cy="5230368"/>
        </p:xfrm>
        <a:graphic>
          <a:graphicData uri="http://schemas.openxmlformats.org/drawingml/2006/table">
            <a:tbl>
              <a:tblPr firstRow="1" bandRow="1">
                <a:tableStyleId>{5C22544A-7EE6-4342-B048-85BDC9FD1C3A}</a:tableStyleId>
              </a:tblPr>
              <a:tblGrid>
                <a:gridCol w="1005840"/>
                <a:gridCol w="2468880"/>
                <a:gridCol w="2286000"/>
                <a:gridCol w="1463040"/>
                <a:gridCol w="2103120"/>
                <a:gridCol w="2651760"/>
              </a:tblGrid>
              <a:tr h="1743456">
                <a:tc>
                  <a:txBody>
                    <a:bodyPr wrap="square"/>
                    <a:lstStyle/>
                    <a:p>
                      <a:pPr algn="ctr">
                        <a:defRPr sz="700" b="1">
                          <a:solidFill>
                            <a:srgbClr val="FFFFFF"/>
                          </a:solidFill>
                          <a:latin typeface="Arial"/>
                        </a:defRPr>
                      </a:pPr>
                      <a:r>
                        <a:t>Deliverable</a:t>
                      </a:r>
                    </a:p>
                  </a:txBody>
                  <a:tcPr anchor="ctr">
                    <a:solidFill>
                      <a:srgbClr val="002060"/>
                    </a:solidFill>
                  </a:tcPr>
                </a:tc>
                <a:tc>
                  <a:txBody>
                    <a:bodyPr wrap="square"/>
                    <a:lstStyle/>
                    <a:p>
                      <a:pPr algn="ctr">
                        <a:defRPr sz="700" b="1">
                          <a:solidFill>
                            <a:srgbClr val="FFFFFF"/>
                          </a:solidFill>
                          <a:latin typeface="Arial"/>
                        </a:defRPr>
                      </a:pPr>
                      <a:r>
                        <a:t>P&amp;S / P&amp;T</a:t>
                      </a:r>
                    </a:p>
                  </a:txBody>
                  <a:tcPr anchor="ctr">
                    <a:solidFill>
                      <a:srgbClr val="002060"/>
                    </a:solidFill>
                  </a:tcPr>
                </a:tc>
                <a:tc>
                  <a:txBody>
                    <a:bodyPr wrap="square"/>
                    <a:lstStyle/>
                    <a:p>
                      <a:pPr algn="ctr">
                        <a:defRPr sz="700" b="1">
                          <a:solidFill>
                            <a:srgbClr val="FFFFFF"/>
                          </a:solidFill>
                          <a:latin typeface="Arial"/>
                        </a:defRPr>
                      </a:pPr>
                      <a:r>
                        <a:t>Digital CoE</a:t>
                      </a:r>
                    </a:p>
                  </a:txBody>
                  <a:tcPr anchor="ctr">
                    <a:solidFill>
                      <a:srgbClr val="002060"/>
                    </a:solidFill>
                  </a:tcPr>
                </a:tc>
                <a:tc>
                  <a:txBody>
                    <a:bodyPr wrap="square"/>
                    <a:lstStyle/>
                    <a:p>
                      <a:pPr algn="ctr">
                        <a:defRPr sz="700" b="1">
                          <a:solidFill>
                            <a:srgbClr val="FFFFFF"/>
                          </a:solidFill>
                          <a:latin typeface="Arial"/>
                        </a:defRPr>
                      </a:pPr>
                      <a:r>
                        <a:t>Infrastructure</a:t>
                      </a:r>
                    </a:p>
                  </a:txBody>
                  <a:tcPr anchor="ctr">
                    <a:solidFill>
                      <a:srgbClr val="002060"/>
                    </a:solidFill>
                  </a:tcPr>
                </a:tc>
                <a:tc>
                  <a:txBody>
                    <a:bodyPr wrap="square"/>
                    <a:lstStyle/>
                    <a:p>
                      <a:pPr algn="ctr">
                        <a:defRPr sz="700" b="1">
                          <a:solidFill>
                            <a:srgbClr val="FFFFFF"/>
                          </a:solidFill>
                          <a:latin typeface="Arial"/>
                        </a:defRPr>
                      </a:pPr>
                      <a:r>
                        <a:t>Renewables DTO</a:t>
                      </a:r>
                    </a:p>
                  </a:txBody>
                  <a:tcPr anchor="ctr">
                    <a:solidFill>
                      <a:srgbClr val="002060"/>
                    </a:solidFill>
                  </a:tcPr>
                </a:tc>
                <a:tc>
                  <a:txBody>
                    <a:bodyPr wrap="square"/>
                    <a:lstStyle/>
                    <a:p>
                      <a:pPr algn="ctr">
                        <a:defRPr sz="700" b="1">
                          <a:solidFill>
                            <a:srgbClr val="FFFFFF"/>
                          </a:solidFill>
                          <a:latin typeface="Arial"/>
                        </a:defRPr>
                      </a:pPr>
                      <a:r>
                        <a:t>Digital Products (Reuse)</a:t>
                      </a:r>
                    </a:p>
                  </a:txBody>
                  <a:tcPr anchor="ctr">
                    <a:solidFill>
                      <a:srgbClr val="00B050"/>
                    </a:solidFill>
                  </a:tcPr>
                </a:tc>
              </a:tr>
              <a:tr h="1743456">
                <a:tc>
                  <a:txBody>
                    <a:bodyPr wrap="square"/>
                    <a:lstStyle/>
                    <a:p>
                      <a:pPr>
                        <a:defRPr sz="800" b="1">
                          <a:solidFill>
                            <a:srgbClr val="2C3E50"/>
                          </a:solidFill>
                          <a:latin typeface="Arial"/>
                        </a:defRPr>
                      </a:pPr>
                      <a:r>
                        <a:t>Ways of Working</a:t>
                      </a:r>
                      <a:br/>
                      <a:r>
                        <a:t>Playbook</a:t>
                      </a:r>
                    </a:p>
                  </a:txBody>
                  <a:tcPr anchor="t">
                    <a:solidFill>
                      <a:srgbClr val="FFFFFF"/>
                    </a:solidFill>
                  </a:tcPr>
                </a:tc>
                <a:tc>
                  <a:txBody>
                    <a:bodyPr wrap="square"/>
                    <a:lstStyle/>
                    <a:p>
                      <a:r>
                        <a:rPr sz="700">
                          <a:solidFill>
                            <a:srgbClr val="2C3E50"/>
                          </a:solidFill>
                          <a:latin typeface="Arial"/>
                        </a:rPr>
                        <a:t>264 slides. PD Playbook (114 sl.): Design Thinking E2E (Sl. 6-7), Figma+Maze (Sl. 77). PM Playbook (150 sl.): Kanban, governance, RACI, contracts, KPIs. Modular chapters by phase — actively used.</a:t>
                      </a:r>
                    </a:p>
                    <a:p>
                      <a:pPr>
                        <a:spcBef>
                          <a:spcPts val="200"/>
                        </a:spcBef>
                      </a:pPr>
                      <a:r>
                        <a:rPr sz="600">
                          <a:solidFill>
                            <a:srgbClr val="7F8C8D"/>
                          </a:solidFill>
                          <a:latin typeface="Arial"/>
                        </a:rPr>
                        <a:t>→ </a:t>
                      </a:r>
                      <a:r>
                        <a:rPr sz="600" u="sng">
                          <a:solidFill>
                            <a:srgbClr val="0072BC"/>
                          </a:solidFill>
                          <a:latin typeface="Arial"/>
                          <a:hlinkClick r:id="rId2"/>
                        </a:rPr>
                        <a:t>[00] Product Discovery Playbook - P&amp;S Ways of Working 02.03.26 v.1.3 +FIGMA.pptx</a:t>
                      </a:r>
                      <a:r>
                        <a:rPr sz="600" b="1">
                          <a:solidFill>
                            <a:srgbClr val="2C3E50"/>
                          </a:solidFill>
                          <a:latin typeface="Arial"/>
                        </a:rPr>
                        <a:t>  |  Full (114 sl.) — Sl. 3, 6, 7, 9, 63, 77</a:t>
                      </a:r>
                    </a:p>
                    <a:p>
                      <a:pPr>
                        <a:spcBef>
                          <a:spcPts val="200"/>
                        </a:spcBef>
                      </a:pPr>
                      <a:r>
                        <a:rPr sz="600">
                          <a:solidFill>
                            <a:srgbClr val="7F8C8D"/>
                          </a:solidFill>
                          <a:latin typeface="Arial"/>
                        </a:rPr>
                        <a:t>→ </a:t>
                      </a:r>
                      <a:r>
                        <a:rPr sz="600" u="sng">
                          <a:solidFill>
                            <a:srgbClr val="0072BC"/>
                          </a:solidFill>
                          <a:latin typeface="Arial"/>
                          <a:hlinkClick r:id="rId3"/>
                        </a:rPr>
                        <a:t>[00] Project Management Playbook - P&amp;S Ways of Working 10.28.25 v.1.0-2.pptx</a:t>
                      </a:r>
                      <a:r>
                        <a:rPr sz="600" b="1">
                          <a:solidFill>
                            <a:srgbClr val="2C3E50"/>
                          </a:solidFill>
                          <a:latin typeface="Arial"/>
                        </a:rPr>
                        <a:t>  |  Full (150 sl.)</a:t>
                      </a:r>
                    </a:p>
                  </a:txBody>
                  <a:tcPr anchor="t">
                    <a:solidFill>
                      <a:srgbClr val="FFFFFF"/>
                    </a:solidFill>
                  </a:tcPr>
                </a:tc>
                <a:tc>
                  <a:txBody>
                    <a:bodyPr wrap="square"/>
                    <a:lstStyle/>
                    <a:p>
                      <a:r>
                        <a:rPr sz="700">
                          <a:solidFill>
                            <a:srgbClr val="2C3E50"/>
                          </a:solidFill>
                          <a:latin typeface="Arial"/>
                        </a:rPr>
                        <a:t>Agility Playbook (111 sl.): Scrum (Sl. 18), Sprint Events (Sl. 20), PBB+HEVA (Sl. 51). Sprint Report Canvas (CoE Playbook Sl. 88-89). Health Radars (Sl. 93). CX JIRA Playbook (41p). Teaching 'how to be agile'.</a:t>
                      </a:r>
                    </a:p>
                    <a:p>
                      <a:pPr>
                        <a:spcBef>
                          <a:spcPts val="200"/>
                        </a:spcBef>
                      </a:pPr>
                      <a:r>
                        <a:rPr sz="600">
                          <a:solidFill>
                            <a:srgbClr val="7F8C8D"/>
                          </a:solidFill>
                          <a:latin typeface="Arial"/>
                        </a:rPr>
                        <a:t>→ </a:t>
                      </a:r>
                      <a:r>
                        <a:rPr sz="600" u="sng">
                          <a:solidFill>
                            <a:srgbClr val="0072BC"/>
                          </a:solidFill>
                          <a:latin typeface="Arial"/>
                          <a:hlinkClick r:id="rId4"/>
                        </a:rPr>
                        <a:t>[17] Agility Playbook - Digital Center of Excellence 06.18.2025 V.1.7.pptx</a:t>
                      </a:r>
                      <a:r>
                        <a:rPr sz="600" b="1">
                          <a:solidFill>
                            <a:srgbClr val="2C3E50"/>
                          </a:solidFill>
                          <a:latin typeface="Arial"/>
                        </a:rPr>
                        <a:t>  |  Full (111 sl.) — Sl. 2, 20, 93</a:t>
                      </a:r>
                    </a:p>
                    <a:p>
                      <a:pPr>
                        <a:spcBef>
                          <a:spcPts val="200"/>
                        </a:spcBef>
                      </a:pPr>
                      <a:r>
                        <a:rPr sz="600">
                          <a:solidFill>
                            <a:srgbClr val="7F8C8D"/>
                          </a:solidFill>
                          <a:latin typeface="Arial"/>
                        </a:rPr>
                        <a:t>→ </a:t>
                      </a:r>
                      <a:r>
                        <a:rPr sz="600" u="sng">
                          <a:solidFill>
                            <a:srgbClr val="0072BC"/>
                          </a:solidFill>
                          <a:latin typeface="Arial"/>
                          <a:hlinkClick r:id="rId5"/>
                        </a:rPr>
                        <a:t>[12] Digital CoE Operating Model - Playbook - 01.05.2026 V.2.5. FINAL pptx.pptx</a:t>
                      </a:r>
                      <a:r>
                        <a:rPr sz="600" b="1">
                          <a:solidFill>
                            <a:srgbClr val="2C3E50"/>
                          </a:solidFill>
                          <a:latin typeface="Arial"/>
                        </a:rPr>
                        <a:t>  |  Sl. 88, 89</a:t>
                      </a:r>
                    </a:p>
                    <a:p>
                      <a:pPr>
                        <a:spcBef>
                          <a:spcPts val="200"/>
                        </a:spcBef>
                      </a:pPr>
                      <a:r>
                        <a:rPr sz="600">
                          <a:solidFill>
                            <a:srgbClr val="7F8C8D"/>
                          </a:solidFill>
                          <a:latin typeface="Arial"/>
                        </a:rPr>
                        <a:t>→ </a:t>
                      </a:r>
                      <a:r>
                        <a:rPr sz="600" u="sng">
                          <a:solidFill>
                            <a:srgbClr val="0072BC"/>
                          </a:solidFill>
                          <a:latin typeface="Arial"/>
                          <a:hlinkClick r:id="rId6"/>
                        </a:rPr>
                        <a:t>[CX] JIRA Agile Management Playbook - Center of Excellence 25.03.2024 V.1.0.pdf</a:t>
                      </a:r>
                      <a:r>
                        <a:rPr sz="600" b="1">
                          <a:solidFill>
                            <a:srgbClr val="2C3E50"/>
                          </a:solidFill>
                          <a:latin typeface="Arial"/>
                        </a:rPr>
                        <a:t>  |  Full (41p)</a:t>
                      </a:r>
                    </a:p>
                  </a:txBody>
                  <a:tcPr anchor="t">
                    <a:solidFill>
                      <a:srgbClr val="FFFFFF"/>
                    </a:solidFill>
                  </a:tcPr>
                </a:tc>
                <a:tc>
                  <a:txBody>
                    <a:bodyPr wrap="square"/>
                    <a:lstStyle/>
                    <a:p>
                      <a:r>
                        <a:rPr sz="700" i="1">
                          <a:solidFill>
                            <a:srgbClr val="95A5A6"/>
                          </a:solidFill>
                          <a:latin typeface="Arial"/>
                        </a:rPr>
                        <a:t>—</a:t>
                      </a:r>
                    </a:p>
                  </a:txBody>
                  <a:tcPr anchor="t">
                    <a:solidFill>
                      <a:srgbClr val="FFFFFF"/>
                    </a:solidFill>
                  </a:tcPr>
                </a:tc>
                <a:tc>
                  <a:txBody>
                    <a:bodyPr wrap="square"/>
                    <a:lstStyle/>
                    <a:p>
                      <a:r>
                        <a:rPr sz="700">
                          <a:solidFill>
                            <a:srgbClr val="2C3E50"/>
                          </a:solidFill>
                          <a:latin typeface="Arial"/>
                        </a:rPr>
                        <a:t>Lean Kanban playbook: process instructions per pillar (Demand Sl. 32-35, Prioritization Sl. 36-41, Delivery Sl. 42-46, Governance Sl. 48-51). Each: Purpose, How to Execute, Completion Criteria, Artifact. Board specs (DTO Sl. 12, 14).</a:t>
                      </a:r>
                    </a:p>
                    <a:p>
                      <a:pPr>
                        <a:spcBef>
                          <a:spcPts val="200"/>
                        </a:spcBef>
                      </a:pPr>
                      <a:r>
                        <a:rPr sz="600">
                          <a:solidFill>
                            <a:srgbClr val="7F8C8D"/>
                          </a:solidFill>
                          <a:latin typeface="Arial"/>
                        </a:rPr>
                        <a:t>→ </a:t>
                      </a:r>
                      <a:r>
                        <a:rPr sz="600" u="sng">
                          <a:solidFill>
                            <a:srgbClr val="0072BC"/>
                          </a:solidFill>
                          <a:latin typeface="Arial"/>
                          <a:hlinkClick r:id="rId7"/>
                        </a:rPr>
                        <a:t>NextGen_DTO_Deliverable1 - Final.pptx</a:t>
                      </a:r>
                      <a:r>
                        <a:rPr sz="600" b="1">
                          <a:solidFill>
                            <a:srgbClr val="2C3E50"/>
                          </a:solidFill>
                          <a:latin typeface="Arial"/>
                        </a:rPr>
                        <a:t>  |  Sl. 14, 27, 32-51</a:t>
                      </a:r>
                    </a:p>
                  </a:txBody>
                  <a:tcPr anchor="t">
                    <a:solidFill>
                      <a:srgbClr val="FFFFFF"/>
                    </a:solidFill>
                  </a:tcPr>
                </a:tc>
                <a:tc>
                  <a:txBody>
                    <a:bodyPr wrap="square"/>
                    <a:lstStyle/>
                    <a:p>
                      <a:pPr>
                        <a:defRPr sz="650">
                          <a:solidFill>
                            <a:srgbClr val="2C3E50"/>
                          </a:solidFill>
                          <a:latin typeface="Arial"/>
                        </a:defRPr>
                      </a:pPr>
                      <a:r>
                        <a:t>ADAPT P&amp;S modular structure — because the proposal's 'Ways of Working Playbook' deliverable needs chapters by lifecycle phase, and P&amp;S already has 264 slides of proven content organized this way. REUSE CoE's Agility Playbook — because Digital Products teams need agile fundamentals training. REUSE DTO's Kanban execution guide — because the step-by-step process instructions are directly applicable to Digital Products Kanban operations. Total: 375+ slides of reference content to adapt, not build from scratch.</a:t>
                      </a:r>
                    </a:p>
                  </a:txBody>
                  <a:tcPr anchor="t">
                    <a:solidFill>
                      <a:srgbClr val="E8F5E9"/>
                    </a:solidFill>
                  </a:tcPr>
                </a:tc>
              </a:tr>
              <a:tr h="1743456">
                <a:tc>
                  <a:txBody>
                    <a:bodyPr wrap="square"/>
                    <a:lstStyle/>
                    <a:p>
                      <a:pPr>
                        <a:defRPr sz="800" b="1">
                          <a:solidFill>
                            <a:srgbClr val="2C3E50"/>
                          </a:solidFill>
                          <a:latin typeface="Arial"/>
                        </a:defRPr>
                      </a:pPr>
                      <a:r>
                        <a:t>KPI &amp;</a:t>
                      </a:r>
                      <a:br/>
                      <a:r>
                        <a:t>Reporting</a:t>
                      </a:r>
                    </a:p>
                  </a:txBody>
                  <a:tcPr anchor="t">
                    <a:solidFill>
                      <a:srgbClr val="F5F5F5"/>
                    </a:solidFill>
                  </a:tcPr>
                </a:tc>
                <a:tc>
                  <a:txBody>
                    <a:bodyPr wrap="square"/>
                    <a:lstStyle/>
                    <a:p>
                      <a:r>
                        <a:rPr sz="700">
                          <a:solidFill>
                            <a:srgbClr val="2C3E50"/>
                          </a:solidFill>
                          <a:latin typeface="Arial"/>
                        </a:rPr>
                        <a:t>Multi-level KPIs: Portfolio → Program → Product → Project (PM Playbook Sl. 138-139). Formulas: Throughput (Sl. 140), Lead Time, Velocity, Scope Creep. Jira dashboards (Sl. 142). Scorecards 2026 targets (nWOW Sl. 97; PM Playbook Sl. 145). When to use each KPI (nWOW Sl. 83).</a:t>
                      </a:r>
                    </a:p>
                    <a:p>
                      <a:pPr>
                        <a:spcBef>
                          <a:spcPts val="200"/>
                        </a:spcBef>
                      </a:pPr>
                      <a:r>
                        <a:rPr sz="600">
                          <a:solidFill>
                            <a:srgbClr val="7F8C8D"/>
                          </a:solidFill>
                          <a:latin typeface="Arial"/>
                        </a:rPr>
                        <a:t>→ </a:t>
                      </a:r>
                      <a:r>
                        <a:rPr sz="600" u="sng">
                          <a:solidFill>
                            <a:srgbClr val="0072BC"/>
                          </a:solidFill>
                          <a:latin typeface="Arial"/>
                          <a:hlinkClick r:id="rId3"/>
                        </a:rPr>
                        <a:t>[00] Project Management Playbook - P&amp;S Ways of Working 10.28.25 v.1.0-2.pptx</a:t>
                      </a:r>
                      <a:r>
                        <a:rPr sz="600" b="1">
                          <a:solidFill>
                            <a:srgbClr val="2C3E50"/>
                          </a:solidFill>
                          <a:latin typeface="Arial"/>
                        </a:rPr>
                        <a:t>  |  Sl. 137, 138, 140, 144, 145</a:t>
                      </a:r>
                    </a:p>
                    <a:p>
                      <a:pPr>
                        <a:spcBef>
                          <a:spcPts val="200"/>
                        </a:spcBef>
                      </a:pPr>
                      <a:r>
                        <a:rPr sz="600">
                          <a:solidFill>
                            <a:srgbClr val="7F8C8D"/>
                          </a:solidFill>
                          <a:latin typeface="Arial"/>
                        </a:rPr>
                        <a:t>→ </a:t>
                      </a:r>
                      <a:r>
                        <a:rPr sz="600" u="sng">
                          <a:solidFill>
                            <a:srgbClr val="0072BC"/>
                          </a:solidFill>
                          <a:latin typeface="Arial"/>
                          <a:hlinkClick r:id="rId8"/>
                        </a:rPr>
                        <a:t>nWOW - New Ways of Working - P&amp;S Lean Operating Model 03.10.2026 v1.2.pptx</a:t>
                      </a:r>
                      <a:r>
                        <a:rPr sz="600" b="1">
                          <a:solidFill>
                            <a:srgbClr val="2C3E50"/>
                          </a:solidFill>
                          <a:latin typeface="Arial"/>
                        </a:rPr>
                        <a:t>  |  Sl. 83, 90, 93, 96, 97</a:t>
                      </a:r>
                    </a:p>
                  </a:txBody>
                  <a:tcPr anchor="t">
                    <a:solidFill>
                      <a:srgbClr val="F5F5F5"/>
                    </a:solidFill>
                  </a:tcPr>
                </a:tc>
                <a:tc>
                  <a:txBody>
                    <a:bodyPr wrap="square"/>
                    <a:lstStyle/>
                    <a:p>
                      <a:r>
                        <a:rPr sz="700">
                          <a:solidFill>
                            <a:srgbClr val="2C3E50"/>
                          </a:solidFill>
                          <a:latin typeface="Arial"/>
                        </a:rPr>
                        <a:t>Portfolio Metrics (CoE Playbook Sl. 89, 93): ILt, Lean Radar, Innovation Horizon, Strategic Theme, RpI, VbM. Team-of-Teams capacity (CoE Playbook Sl. 98). Sprint Report Canvas (Agility Playbook Sl. 88-89). More strategic.</a:t>
                      </a:r>
                    </a:p>
                    <a:p>
                      <a:pPr>
                        <a:spcBef>
                          <a:spcPts val="200"/>
                        </a:spcBef>
                      </a:pPr>
                      <a:r>
                        <a:rPr sz="600">
                          <a:solidFill>
                            <a:srgbClr val="7F8C8D"/>
                          </a:solidFill>
                          <a:latin typeface="Arial"/>
                        </a:rPr>
                        <a:t>→ </a:t>
                      </a:r>
                      <a:r>
                        <a:rPr sz="600" u="sng">
                          <a:solidFill>
                            <a:srgbClr val="0072BC"/>
                          </a:solidFill>
                          <a:latin typeface="Arial"/>
                          <a:hlinkClick r:id="rId5"/>
                        </a:rPr>
                        <a:t>[12] Digital CoE Operating Model - Playbook - 01.05.2026 V.2.5. FINAL pptx.pptx</a:t>
                      </a:r>
                      <a:r>
                        <a:rPr sz="600" b="1">
                          <a:solidFill>
                            <a:srgbClr val="2C3E50"/>
                          </a:solidFill>
                          <a:latin typeface="Arial"/>
                        </a:rPr>
                        <a:t>  |  Sl. 26, 27, 73, 91, 93, 107</a:t>
                      </a:r>
                    </a:p>
                    <a:p>
                      <a:pPr>
                        <a:spcBef>
                          <a:spcPts val="200"/>
                        </a:spcBef>
                      </a:pPr>
                      <a:r>
                        <a:rPr sz="600">
                          <a:solidFill>
                            <a:srgbClr val="7F8C8D"/>
                          </a:solidFill>
                          <a:latin typeface="Arial"/>
                        </a:rPr>
                        <a:t>→ </a:t>
                      </a:r>
                      <a:r>
                        <a:rPr sz="600" u="sng">
                          <a:solidFill>
                            <a:srgbClr val="0072BC"/>
                          </a:solidFill>
                          <a:latin typeface="Arial"/>
                          <a:hlinkClick r:id="rId4"/>
                        </a:rPr>
                        <a:t>[17] Agility Playbook - Digital Center of Excellence 06.18.2025 V.1.7.pptx</a:t>
                      </a:r>
                      <a:r>
                        <a:rPr sz="600" b="1">
                          <a:solidFill>
                            <a:srgbClr val="2C3E50"/>
                          </a:solidFill>
                          <a:latin typeface="Arial"/>
                        </a:rPr>
                        <a:t>  |  Sl. 87, 88, 89</a:t>
                      </a:r>
                    </a:p>
                  </a:txBody>
                  <a:tcPr anchor="t">
                    <a:solidFill>
                      <a:srgbClr val="F5F5F5"/>
                    </a:solidFill>
                  </a:tcPr>
                </a:tc>
                <a:tc>
                  <a:txBody>
                    <a:bodyPr wrap="square"/>
                    <a:lstStyle/>
                    <a:p>
                      <a:r>
                        <a:rPr sz="700" i="1">
                          <a:solidFill>
                            <a:srgbClr val="95A5A6"/>
                          </a:solidFill>
                          <a:latin typeface="Arial"/>
                        </a:rPr>
                        <a:t>—</a:t>
                      </a:r>
                    </a:p>
                  </a:txBody>
                  <a:tcPr anchor="t">
                    <a:solidFill>
                      <a:srgbClr val="F5F5F5"/>
                    </a:solidFill>
                  </a:tcPr>
                </a:tc>
                <a:tc>
                  <a:txBody>
                    <a:bodyPr wrap="square"/>
                    <a:lstStyle/>
                    <a:p>
                      <a:r>
                        <a:rPr sz="700">
                          <a:solidFill>
                            <a:srgbClr val="2C3E50"/>
                          </a:solidFill>
                          <a:latin typeface="Arial"/>
                        </a:rPr>
                        <a:t>Flow Metrics: Lead Time, Cycle Time, Throughput, Aging — Jira dashboard (DTO Sl. 49). Blocker Tracker (DTO Sl. 47). Kaizen measuring efficiency (DTO Sl. 51). Execution-focused, not portfolio-strategic.</a:t>
                      </a:r>
                    </a:p>
                    <a:p>
                      <a:pPr>
                        <a:spcBef>
                          <a:spcPts val="200"/>
                        </a:spcBef>
                      </a:pPr>
                      <a:r>
                        <a:rPr sz="600">
                          <a:solidFill>
                            <a:srgbClr val="7F8C8D"/>
                          </a:solidFill>
                          <a:latin typeface="Arial"/>
                        </a:rPr>
                        <a:t>→ </a:t>
                      </a:r>
                      <a:r>
                        <a:rPr sz="600" u="sng">
                          <a:solidFill>
                            <a:srgbClr val="0072BC"/>
                          </a:solidFill>
                          <a:latin typeface="Arial"/>
                          <a:hlinkClick r:id="rId7"/>
                        </a:rPr>
                        <a:t>NextGen_DTO_Deliverable1 - Final.pptx</a:t>
                      </a:r>
                      <a:r>
                        <a:rPr sz="600" b="1">
                          <a:solidFill>
                            <a:srgbClr val="2C3E50"/>
                          </a:solidFill>
                          <a:latin typeface="Arial"/>
                        </a:rPr>
                        <a:t>  |  Sl. 5, 40, 47, 49, 51</a:t>
                      </a:r>
                    </a:p>
                  </a:txBody>
                  <a:tcPr anchor="t">
                    <a:solidFill>
                      <a:srgbClr val="F5F5F5"/>
                    </a:solidFill>
                  </a:tcPr>
                </a:tc>
                <a:tc>
                  <a:txBody>
                    <a:bodyPr wrap="square"/>
                    <a:lstStyle/>
                    <a:p>
                      <a:pPr>
                        <a:defRPr sz="650">
                          <a:solidFill>
                            <a:srgbClr val="2C3E50"/>
                          </a:solidFill>
                          <a:latin typeface="Arial"/>
                        </a:defRPr>
                      </a:pPr>
                      <a:r>
                        <a:t>ADOPT PM Playbook's multi-level architecture — because the proposal requires 'KPI &amp; Reporting Framework' and P&amp;S has the only fully defined hierarchy with formulas and Jira automation. REUSE CoE's strategic metrics (ILt, RpI) — because Digital Products needs portfolio-level visibility, not just execution metrics. REUSE DTO's Flow Metrics — because Lead Time, Cycle Time, and Throughput are the operational heartbeat of Kanban execution.</a:t>
                      </a:r>
                    </a:p>
                  </a:txBody>
                  <a:tcPr anchor="t">
                    <a:solidFill>
                      <a:srgbClr val="C8E6C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74320"/>
            <a:ext cx="5486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
            <a:ext cx="10058400" cy="640080"/>
          </a:xfrm>
          <a:prstGeom prst="rect">
            <a:avLst/>
          </a:prstGeom>
          <a:noFill/>
        </p:spPr>
        <p:txBody>
          <a:bodyPr wrap="square">
            <a:spAutoFit/>
          </a:bodyPr>
          <a:lstStyle/>
          <a:p>
            <a:pPr>
              <a:defRPr sz="1600" b="1">
                <a:solidFill>
                  <a:srgbClr val="002060"/>
                </a:solidFill>
                <a:latin typeface="Arial"/>
              </a:defRPr>
            </a:pPr>
            <a:r>
              <a:t>P&amp;S / P&amp;T — Flight Level Kanban Governance</a:t>
            </a:r>
          </a:p>
          <a:p>
            <a:pPr>
              <a:defRPr sz="900">
                <a:solidFill>
                  <a:srgbClr val="7F8C8D"/>
                </a:solidFill>
                <a:latin typeface="Arial"/>
              </a:defRPr>
            </a:pPr>
            <a:r>
              <a:t>3-tier governance model with Portfolio → Program → Project Kanban boards. 4-phase E2E lifecycle: Discovery → Materialization → Creation → Ongoing.</a:t>
            </a:r>
          </a:p>
        </p:txBody>
      </p:sp>
      <p:sp>
        <p:nvSpPr>
          <p:cNvPr id="6" name="Rectangle 5"/>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sp>
        <p:nvSpPr>
          <p:cNvPr id="7" name="Rectangle 6"/>
          <p:cNvSpPr/>
          <p:nvPr/>
        </p:nvSpPr>
        <p:spPr>
          <a:xfrm>
            <a:off x="457200" y="1097280"/>
            <a:ext cx="11247120" cy="1325880"/>
          </a:xfrm>
          <a:prstGeom prst="rect">
            <a:avLst/>
          </a:prstGeom>
          <a:solidFill>
            <a:srgbClr val="F5F5F5"/>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112471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Flight Level 3 — Portfolio</a:t>
            </a:r>
          </a:p>
        </p:txBody>
      </p:sp>
      <p:sp>
        <p:nvSpPr>
          <p:cNvPr id="9" name="TextBox 8"/>
          <p:cNvSpPr txBox="1"/>
          <p:nvPr/>
        </p:nvSpPr>
        <p:spPr>
          <a:xfrm>
            <a:off x="566928" y="1463040"/>
            <a:ext cx="11027664" cy="320040"/>
          </a:xfrm>
          <a:prstGeom prst="rect">
            <a:avLst/>
          </a:prstGeom>
          <a:noFill/>
        </p:spPr>
        <p:txBody>
          <a:bodyPr wrap="square">
            <a:spAutoFit/>
          </a:bodyPr>
          <a:lstStyle/>
          <a:p>
            <a:pPr>
              <a:defRPr sz="700">
                <a:solidFill>
                  <a:srgbClr val="2C3E50"/>
                </a:solidFill>
                <a:latin typeface="Arial"/>
              </a:defRPr>
            </a:pPr>
            <a:r>
              <a:t>Strategic direction. Portfolio Manager prioritizes EPICs by business value and OKR alignment. Demand enters via Shark Tank and Portfolio Committee.</a:t>
            </a:r>
          </a:p>
        </p:txBody>
      </p:sp>
      <p:sp>
        <p:nvSpPr>
          <p:cNvPr id="10" name="Rectangle 9"/>
          <p:cNvSpPr/>
          <p:nvPr/>
        </p:nvSpPr>
        <p:spPr>
          <a:xfrm>
            <a:off x="640080" y="1828800"/>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2060"/>
                </a:solidFill>
                <a:latin typeface="Arial"/>
              </a:defRPr>
            </a:pPr>
            <a:r>
              <a:t>Portfolio Backlog</a:t>
            </a:r>
          </a:p>
        </p:txBody>
      </p:sp>
      <p:sp>
        <p:nvSpPr>
          <p:cNvPr id="11" name="TextBox 10"/>
          <p:cNvSpPr txBox="1"/>
          <p:nvPr/>
        </p:nvSpPr>
        <p:spPr>
          <a:xfrm>
            <a:off x="2724912" y="1828800"/>
            <a:ext cx="109728" cy="274320"/>
          </a:xfrm>
          <a:prstGeom prst="rect">
            <a:avLst/>
          </a:prstGeom>
          <a:noFill/>
        </p:spPr>
        <p:txBody>
          <a:bodyPr wrap="none" anchor="ctr">
            <a:spAutoFit/>
          </a:bodyPr>
          <a:lstStyle/>
          <a:p>
            <a:pPr algn="ctr">
              <a:defRPr sz="1000">
                <a:solidFill>
                  <a:srgbClr val="002060"/>
                </a:solidFill>
                <a:latin typeface="Arial"/>
              </a:defRPr>
            </a:pPr>
            <a:r>
              <a:t>→</a:t>
            </a:r>
          </a:p>
        </p:txBody>
      </p:sp>
      <p:sp>
        <p:nvSpPr>
          <p:cNvPr id="12" name="Rectangle 11"/>
          <p:cNvSpPr/>
          <p:nvPr/>
        </p:nvSpPr>
        <p:spPr>
          <a:xfrm>
            <a:off x="2843784" y="1828800"/>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2060"/>
                </a:solidFill>
                <a:latin typeface="Arial"/>
              </a:defRPr>
            </a:pPr>
            <a:r>
              <a:t>Discovery</a:t>
            </a:r>
          </a:p>
        </p:txBody>
      </p:sp>
      <p:sp>
        <p:nvSpPr>
          <p:cNvPr id="13" name="TextBox 12"/>
          <p:cNvSpPr txBox="1"/>
          <p:nvPr/>
        </p:nvSpPr>
        <p:spPr>
          <a:xfrm>
            <a:off x="4928616" y="1828800"/>
            <a:ext cx="109728" cy="274320"/>
          </a:xfrm>
          <a:prstGeom prst="rect">
            <a:avLst/>
          </a:prstGeom>
          <a:noFill/>
        </p:spPr>
        <p:txBody>
          <a:bodyPr wrap="none" anchor="ctr">
            <a:spAutoFit/>
          </a:bodyPr>
          <a:lstStyle/>
          <a:p>
            <a:pPr algn="ctr">
              <a:defRPr sz="1000">
                <a:solidFill>
                  <a:srgbClr val="002060"/>
                </a:solidFill>
                <a:latin typeface="Arial"/>
              </a:defRPr>
            </a:pPr>
            <a:r>
              <a:t>→</a:t>
            </a:r>
          </a:p>
        </p:txBody>
      </p:sp>
      <p:sp>
        <p:nvSpPr>
          <p:cNvPr id="14" name="Rectangle 13"/>
          <p:cNvSpPr/>
          <p:nvPr/>
        </p:nvSpPr>
        <p:spPr>
          <a:xfrm>
            <a:off x="5047488" y="1828800"/>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2060"/>
                </a:solidFill>
                <a:latin typeface="Arial"/>
              </a:defRPr>
            </a:pPr>
            <a:r>
              <a:t>Ideation</a:t>
            </a:r>
          </a:p>
        </p:txBody>
      </p:sp>
      <p:sp>
        <p:nvSpPr>
          <p:cNvPr id="15" name="TextBox 14"/>
          <p:cNvSpPr txBox="1"/>
          <p:nvPr/>
        </p:nvSpPr>
        <p:spPr>
          <a:xfrm>
            <a:off x="7132320" y="1828800"/>
            <a:ext cx="109728" cy="274320"/>
          </a:xfrm>
          <a:prstGeom prst="rect">
            <a:avLst/>
          </a:prstGeom>
          <a:noFill/>
        </p:spPr>
        <p:txBody>
          <a:bodyPr wrap="none" anchor="ctr">
            <a:spAutoFit/>
          </a:bodyPr>
          <a:lstStyle/>
          <a:p>
            <a:pPr algn="ctr">
              <a:defRPr sz="1000">
                <a:solidFill>
                  <a:srgbClr val="002060"/>
                </a:solidFill>
                <a:latin typeface="Arial"/>
              </a:defRPr>
            </a:pPr>
            <a:r>
              <a:t>→</a:t>
            </a:r>
          </a:p>
        </p:txBody>
      </p:sp>
      <p:sp>
        <p:nvSpPr>
          <p:cNvPr id="16" name="Rectangle 15"/>
          <p:cNvSpPr/>
          <p:nvPr/>
        </p:nvSpPr>
        <p:spPr>
          <a:xfrm>
            <a:off x="7251192" y="1828800"/>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2060"/>
                </a:solidFill>
                <a:latin typeface="Arial"/>
              </a:defRPr>
            </a:pPr>
            <a:r>
              <a:t>Solutioning</a:t>
            </a:r>
          </a:p>
        </p:txBody>
      </p:sp>
      <p:sp>
        <p:nvSpPr>
          <p:cNvPr id="17" name="TextBox 16"/>
          <p:cNvSpPr txBox="1"/>
          <p:nvPr/>
        </p:nvSpPr>
        <p:spPr>
          <a:xfrm>
            <a:off x="9336024" y="1828800"/>
            <a:ext cx="109728" cy="274320"/>
          </a:xfrm>
          <a:prstGeom prst="rect">
            <a:avLst/>
          </a:prstGeom>
          <a:noFill/>
        </p:spPr>
        <p:txBody>
          <a:bodyPr wrap="none" anchor="ctr">
            <a:spAutoFit/>
          </a:bodyPr>
          <a:lstStyle/>
          <a:p>
            <a:pPr algn="ctr">
              <a:defRPr sz="1000">
                <a:solidFill>
                  <a:srgbClr val="002060"/>
                </a:solidFill>
                <a:latin typeface="Arial"/>
              </a:defRPr>
            </a:pPr>
            <a:r>
              <a:t>→</a:t>
            </a:r>
          </a:p>
        </p:txBody>
      </p:sp>
      <p:sp>
        <p:nvSpPr>
          <p:cNvPr id="18" name="Rectangle 17"/>
          <p:cNvSpPr/>
          <p:nvPr/>
        </p:nvSpPr>
        <p:spPr>
          <a:xfrm>
            <a:off x="9454896" y="1828800"/>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2060"/>
                </a:solidFill>
                <a:latin typeface="Arial"/>
              </a:defRPr>
            </a:pPr>
            <a:r>
              <a:t>Done</a:t>
            </a:r>
          </a:p>
        </p:txBody>
      </p:sp>
      <p:sp>
        <p:nvSpPr>
          <p:cNvPr id="19" name="TextBox 18"/>
          <p:cNvSpPr txBox="1"/>
          <p:nvPr/>
        </p:nvSpPr>
        <p:spPr>
          <a:xfrm>
            <a:off x="566928" y="2148840"/>
            <a:ext cx="11027664" cy="182880"/>
          </a:xfrm>
          <a:prstGeom prst="rect">
            <a:avLst/>
          </a:prstGeom>
          <a:noFill/>
        </p:spPr>
        <p:txBody>
          <a:bodyPr wrap="square">
            <a:spAutoFit/>
          </a:bodyPr>
          <a:lstStyle/>
          <a:p>
            <a:r>
              <a:rPr sz="700" b="1">
                <a:solidFill>
                  <a:srgbClr val="7F8C8D"/>
                </a:solidFill>
                <a:latin typeface="Arial"/>
              </a:rPr>
              <a:t>Swimlanes: </a:t>
            </a:r>
            <a:r>
              <a:rPr sz="700">
                <a:solidFill>
                  <a:srgbClr val="2C3E50"/>
                </a:solidFill>
                <a:latin typeface="Arial"/>
              </a:rPr>
              <a:t>High Risks &amp; Blockers · High Value · Regulatory · OKR's &amp; Strategic Goals</a:t>
            </a:r>
          </a:p>
        </p:txBody>
      </p:sp>
      <p:sp>
        <p:nvSpPr>
          <p:cNvPr id="20" name="TextBox 19"/>
          <p:cNvSpPr txBox="1"/>
          <p:nvPr/>
        </p:nvSpPr>
        <p:spPr>
          <a:xfrm>
            <a:off x="566928" y="222199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Big Room Planning (quarterly) · Portfolio Committee (monthly)</a:t>
            </a:r>
          </a:p>
        </p:txBody>
      </p:sp>
      <p:sp>
        <p:nvSpPr>
          <p:cNvPr id="21" name="Rectangle 20"/>
          <p:cNvSpPr/>
          <p:nvPr/>
        </p:nvSpPr>
        <p:spPr>
          <a:xfrm>
            <a:off x="457200" y="2514600"/>
            <a:ext cx="11247120" cy="1325880"/>
          </a:xfrm>
          <a:prstGeom prst="rect">
            <a:avLst/>
          </a:prstGeom>
          <a:solidFill>
            <a:srgbClr val="F5F5F5"/>
          </a:solidFill>
          <a:ln w="1270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514600"/>
            <a:ext cx="11247120" cy="32004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Flight Level 2 — Program</a:t>
            </a:r>
          </a:p>
        </p:txBody>
      </p:sp>
      <p:sp>
        <p:nvSpPr>
          <p:cNvPr id="23" name="TextBox 22"/>
          <p:cNvSpPr txBox="1"/>
          <p:nvPr/>
        </p:nvSpPr>
        <p:spPr>
          <a:xfrm>
            <a:off x="566928" y="2880360"/>
            <a:ext cx="11027664" cy="320040"/>
          </a:xfrm>
          <a:prstGeom prst="rect">
            <a:avLst/>
          </a:prstGeom>
          <a:noFill/>
        </p:spPr>
        <p:txBody>
          <a:bodyPr wrap="square">
            <a:spAutoFit/>
          </a:bodyPr>
          <a:lstStyle/>
          <a:p>
            <a:pPr>
              <a:defRPr sz="700">
                <a:solidFill>
                  <a:srgbClr val="2C3E50"/>
                </a:solidFill>
                <a:latin typeface="Arial"/>
              </a:defRPr>
            </a:pPr>
            <a:r>
              <a:t>Tactical coordination. Programs break EPICs into features and plan releases. Epics and Solutions in flight.</a:t>
            </a:r>
          </a:p>
        </p:txBody>
      </p:sp>
      <p:sp>
        <p:nvSpPr>
          <p:cNvPr id="24" name="Rectangle 23"/>
          <p:cNvSpPr/>
          <p:nvPr/>
        </p:nvSpPr>
        <p:spPr>
          <a:xfrm>
            <a:off x="640080" y="3246120"/>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50A0"/>
                </a:solidFill>
                <a:latin typeface="Arial"/>
              </a:defRPr>
            </a:pPr>
            <a:r>
              <a:t>Program Backlog</a:t>
            </a:r>
          </a:p>
        </p:txBody>
      </p:sp>
      <p:sp>
        <p:nvSpPr>
          <p:cNvPr id="25" name="TextBox 24"/>
          <p:cNvSpPr txBox="1"/>
          <p:nvPr/>
        </p:nvSpPr>
        <p:spPr>
          <a:xfrm>
            <a:off x="2724912" y="3246120"/>
            <a:ext cx="109728" cy="274320"/>
          </a:xfrm>
          <a:prstGeom prst="rect">
            <a:avLst/>
          </a:prstGeom>
          <a:noFill/>
        </p:spPr>
        <p:txBody>
          <a:bodyPr wrap="none" anchor="ctr">
            <a:spAutoFit/>
          </a:bodyPr>
          <a:lstStyle/>
          <a:p>
            <a:pPr algn="ctr">
              <a:defRPr sz="1000">
                <a:solidFill>
                  <a:srgbClr val="0050A0"/>
                </a:solidFill>
                <a:latin typeface="Arial"/>
              </a:defRPr>
            </a:pPr>
            <a:r>
              <a:t>→</a:t>
            </a:r>
          </a:p>
        </p:txBody>
      </p:sp>
      <p:sp>
        <p:nvSpPr>
          <p:cNvPr id="26" name="Rectangle 25"/>
          <p:cNvSpPr/>
          <p:nvPr/>
        </p:nvSpPr>
        <p:spPr>
          <a:xfrm>
            <a:off x="2843784" y="3246120"/>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50A0"/>
                </a:solidFill>
                <a:latin typeface="Arial"/>
              </a:defRPr>
            </a:pPr>
            <a:r>
              <a:t>Work In Progress</a:t>
            </a:r>
          </a:p>
        </p:txBody>
      </p:sp>
      <p:sp>
        <p:nvSpPr>
          <p:cNvPr id="27" name="TextBox 26"/>
          <p:cNvSpPr txBox="1"/>
          <p:nvPr/>
        </p:nvSpPr>
        <p:spPr>
          <a:xfrm>
            <a:off x="4928616" y="3246120"/>
            <a:ext cx="109728" cy="274320"/>
          </a:xfrm>
          <a:prstGeom prst="rect">
            <a:avLst/>
          </a:prstGeom>
          <a:noFill/>
        </p:spPr>
        <p:txBody>
          <a:bodyPr wrap="none" anchor="ctr">
            <a:spAutoFit/>
          </a:bodyPr>
          <a:lstStyle/>
          <a:p>
            <a:pPr algn="ctr">
              <a:defRPr sz="1000">
                <a:solidFill>
                  <a:srgbClr val="0050A0"/>
                </a:solidFill>
                <a:latin typeface="Arial"/>
              </a:defRPr>
            </a:pPr>
            <a:r>
              <a:t>→</a:t>
            </a:r>
          </a:p>
        </p:txBody>
      </p:sp>
      <p:sp>
        <p:nvSpPr>
          <p:cNvPr id="28" name="Rectangle 27"/>
          <p:cNvSpPr/>
          <p:nvPr/>
        </p:nvSpPr>
        <p:spPr>
          <a:xfrm>
            <a:off x="5047488" y="3246120"/>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50A0"/>
                </a:solidFill>
                <a:latin typeface="Arial"/>
              </a:defRPr>
            </a:pPr>
            <a:r>
              <a:t>Discovery</a:t>
            </a:r>
          </a:p>
        </p:txBody>
      </p:sp>
      <p:sp>
        <p:nvSpPr>
          <p:cNvPr id="29" name="TextBox 28"/>
          <p:cNvSpPr txBox="1"/>
          <p:nvPr/>
        </p:nvSpPr>
        <p:spPr>
          <a:xfrm>
            <a:off x="7132320" y="3246120"/>
            <a:ext cx="109728" cy="274320"/>
          </a:xfrm>
          <a:prstGeom prst="rect">
            <a:avLst/>
          </a:prstGeom>
          <a:noFill/>
        </p:spPr>
        <p:txBody>
          <a:bodyPr wrap="none" anchor="ctr">
            <a:spAutoFit/>
          </a:bodyPr>
          <a:lstStyle/>
          <a:p>
            <a:pPr algn="ctr">
              <a:defRPr sz="1000">
                <a:solidFill>
                  <a:srgbClr val="0050A0"/>
                </a:solidFill>
                <a:latin typeface="Arial"/>
              </a:defRPr>
            </a:pPr>
            <a:r>
              <a:t>→</a:t>
            </a:r>
          </a:p>
        </p:txBody>
      </p:sp>
      <p:sp>
        <p:nvSpPr>
          <p:cNvPr id="30" name="Rectangle 29"/>
          <p:cNvSpPr/>
          <p:nvPr/>
        </p:nvSpPr>
        <p:spPr>
          <a:xfrm>
            <a:off x="7251192" y="3246120"/>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50A0"/>
                </a:solidFill>
                <a:latin typeface="Arial"/>
              </a:defRPr>
            </a:pPr>
            <a:r>
              <a:t>Shark Tank</a:t>
            </a:r>
          </a:p>
        </p:txBody>
      </p:sp>
      <p:sp>
        <p:nvSpPr>
          <p:cNvPr id="31" name="TextBox 30"/>
          <p:cNvSpPr txBox="1"/>
          <p:nvPr/>
        </p:nvSpPr>
        <p:spPr>
          <a:xfrm>
            <a:off x="9336024" y="3246120"/>
            <a:ext cx="109728" cy="274320"/>
          </a:xfrm>
          <a:prstGeom prst="rect">
            <a:avLst/>
          </a:prstGeom>
          <a:noFill/>
        </p:spPr>
        <p:txBody>
          <a:bodyPr wrap="none" anchor="ctr">
            <a:spAutoFit/>
          </a:bodyPr>
          <a:lstStyle/>
          <a:p>
            <a:pPr algn="ctr">
              <a:defRPr sz="1000">
                <a:solidFill>
                  <a:srgbClr val="0050A0"/>
                </a:solidFill>
                <a:latin typeface="Arial"/>
              </a:defRPr>
            </a:pPr>
            <a:r>
              <a:t>→</a:t>
            </a:r>
          </a:p>
        </p:txBody>
      </p:sp>
      <p:sp>
        <p:nvSpPr>
          <p:cNvPr id="32" name="Rectangle 31"/>
          <p:cNvSpPr/>
          <p:nvPr/>
        </p:nvSpPr>
        <p:spPr>
          <a:xfrm>
            <a:off x="9454896" y="3246120"/>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50A0"/>
                </a:solidFill>
                <a:latin typeface="Arial"/>
              </a:defRPr>
            </a:pPr>
            <a:r>
              <a:t>Done</a:t>
            </a:r>
          </a:p>
        </p:txBody>
      </p:sp>
      <p:sp>
        <p:nvSpPr>
          <p:cNvPr id="33" name="TextBox 32"/>
          <p:cNvSpPr txBox="1"/>
          <p:nvPr/>
        </p:nvSpPr>
        <p:spPr>
          <a:xfrm>
            <a:off x="566928" y="3566160"/>
            <a:ext cx="11027664" cy="182880"/>
          </a:xfrm>
          <a:prstGeom prst="rect">
            <a:avLst/>
          </a:prstGeom>
          <a:noFill/>
        </p:spPr>
        <p:txBody>
          <a:bodyPr wrap="square">
            <a:spAutoFit/>
          </a:bodyPr>
          <a:lstStyle/>
          <a:p>
            <a:r>
              <a:rPr sz="700" b="1">
                <a:solidFill>
                  <a:srgbClr val="7F8C8D"/>
                </a:solidFill>
                <a:latin typeface="Arial"/>
              </a:rPr>
              <a:t>Swimlanes: </a:t>
            </a:r>
            <a:r>
              <a:rPr sz="700">
                <a:solidFill>
                  <a:srgbClr val="2C3E50"/>
                </a:solidFill>
                <a:latin typeface="Arial"/>
              </a:rPr>
              <a:t>Program A · Program B · Program C</a:t>
            </a:r>
          </a:p>
        </p:txBody>
      </p:sp>
      <p:sp>
        <p:nvSpPr>
          <p:cNvPr id="34" name="TextBox 33"/>
          <p:cNvSpPr txBox="1"/>
          <p:nvPr/>
        </p:nvSpPr>
        <p:spPr>
          <a:xfrm>
            <a:off x="566928" y="363931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Program Sync (bi-weekly) · Replenishment</a:t>
            </a:r>
          </a:p>
        </p:txBody>
      </p:sp>
      <p:sp>
        <p:nvSpPr>
          <p:cNvPr id="35" name="Rectangle 34"/>
          <p:cNvSpPr/>
          <p:nvPr/>
        </p:nvSpPr>
        <p:spPr>
          <a:xfrm>
            <a:off x="457200" y="3931920"/>
            <a:ext cx="11247120" cy="1325880"/>
          </a:xfrm>
          <a:prstGeom prst="rect">
            <a:avLst/>
          </a:prstGeom>
          <a:solidFill>
            <a:srgbClr val="F5F5F5"/>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3931920"/>
            <a:ext cx="112471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Flight Level 1 — Project</a:t>
            </a:r>
          </a:p>
        </p:txBody>
      </p:sp>
      <p:sp>
        <p:nvSpPr>
          <p:cNvPr id="37" name="TextBox 36"/>
          <p:cNvSpPr txBox="1"/>
          <p:nvPr/>
        </p:nvSpPr>
        <p:spPr>
          <a:xfrm>
            <a:off x="566928" y="4297680"/>
            <a:ext cx="11027664" cy="320040"/>
          </a:xfrm>
          <a:prstGeom prst="rect">
            <a:avLst/>
          </a:prstGeom>
          <a:noFill/>
        </p:spPr>
        <p:txBody>
          <a:bodyPr wrap="square">
            <a:spAutoFit/>
          </a:bodyPr>
          <a:lstStyle/>
          <a:p>
            <a:pPr>
              <a:defRPr sz="700">
                <a:solidFill>
                  <a:srgbClr val="2C3E50"/>
                </a:solidFill>
                <a:latin typeface="Arial"/>
              </a:defRPr>
            </a:pPr>
            <a:r>
              <a:t>Operational execution. Day-to-day delivery by teams using Kanban boards per project. User Story / Task level.</a:t>
            </a:r>
          </a:p>
        </p:txBody>
      </p:sp>
      <p:sp>
        <p:nvSpPr>
          <p:cNvPr id="38" name="Rectangle 37"/>
          <p:cNvSpPr/>
          <p:nvPr/>
        </p:nvSpPr>
        <p:spPr>
          <a:xfrm>
            <a:off x="640080" y="4663440"/>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70C0"/>
                </a:solidFill>
                <a:latin typeface="Arial"/>
              </a:defRPr>
            </a:pPr>
            <a:r>
              <a:t>Backlog</a:t>
            </a:r>
          </a:p>
        </p:txBody>
      </p:sp>
      <p:sp>
        <p:nvSpPr>
          <p:cNvPr id="39" name="TextBox 38"/>
          <p:cNvSpPr txBox="1"/>
          <p:nvPr/>
        </p:nvSpPr>
        <p:spPr>
          <a:xfrm>
            <a:off x="2724912" y="4663440"/>
            <a:ext cx="109728" cy="274320"/>
          </a:xfrm>
          <a:prstGeom prst="rect">
            <a:avLst/>
          </a:prstGeom>
          <a:noFill/>
        </p:spPr>
        <p:txBody>
          <a:bodyPr wrap="none" anchor="ctr">
            <a:spAutoFit/>
          </a:bodyPr>
          <a:lstStyle/>
          <a:p>
            <a:pPr algn="ctr">
              <a:defRPr sz="1000">
                <a:solidFill>
                  <a:srgbClr val="0070C0"/>
                </a:solidFill>
                <a:latin typeface="Arial"/>
              </a:defRPr>
            </a:pPr>
            <a:r>
              <a:t>→</a:t>
            </a:r>
          </a:p>
        </p:txBody>
      </p:sp>
      <p:sp>
        <p:nvSpPr>
          <p:cNvPr id="40" name="Rectangle 39"/>
          <p:cNvSpPr/>
          <p:nvPr/>
        </p:nvSpPr>
        <p:spPr>
          <a:xfrm>
            <a:off x="2843784" y="4663440"/>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70C0"/>
                </a:solidFill>
                <a:latin typeface="Arial"/>
              </a:defRPr>
            </a:pPr>
            <a:r>
              <a:t>In Progress</a:t>
            </a:r>
          </a:p>
        </p:txBody>
      </p:sp>
      <p:sp>
        <p:nvSpPr>
          <p:cNvPr id="41" name="TextBox 40"/>
          <p:cNvSpPr txBox="1"/>
          <p:nvPr/>
        </p:nvSpPr>
        <p:spPr>
          <a:xfrm>
            <a:off x="4928616" y="4663440"/>
            <a:ext cx="109728" cy="274320"/>
          </a:xfrm>
          <a:prstGeom prst="rect">
            <a:avLst/>
          </a:prstGeom>
          <a:noFill/>
        </p:spPr>
        <p:txBody>
          <a:bodyPr wrap="none" anchor="ctr">
            <a:spAutoFit/>
          </a:bodyPr>
          <a:lstStyle/>
          <a:p>
            <a:pPr algn="ctr">
              <a:defRPr sz="1000">
                <a:solidFill>
                  <a:srgbClr val="0070C0"/>
                </a:solidFill>
                <a:latin typeface="Arial"/>
              </a:defRPr>
            </a:pPr>
            <a:r>
              <a:t>→</a:t>
            </a:r>
          </a:p>
        </p:txBody>
      </p:sp>
      <p:sp>
        <p:nvSpPr>
          <p:cNvPr id="42" name="Rectangle 41"/>
          <p:cNvSpPr/>
          <p:nvPr/>
        </p:nvSpPr>
        <p:spPr>
          <a:xfrm>
            <a:off x="5047488" y="4663440"/>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70C0"/>
                </a:solidFill>
                <a:latin typeface="Arial"/>
              </a:defRPr>
            </a:pPr>
            <a:r>
              <a:t>QA</a:t>
            </a:r>
          </a:p>
        </p:txBody>
      </p:sp>
      <p:sp>
        <p:nvSpPr>
          <p:cNvPr id="43" name="TextBox 42"/>
          <p:cNvSpPr txBox="1"/>
          <p:nvPr/>
        </p:nvSpPr>
        <p:spPr>
          <a:xfrm>
            <a:off x="7132320" y="4663440"/>
            <a:ext cx="109728" cy="274320"/>
          </a:xfrm>
          <a:prstGeom prst="rect">
            <a:avLst/>
          </a:prstGeom>
          <a:noFill/>
        </p:spPr>
        <p:txBody>
          <a:bodyPr wrap="none" anchor="ctr">
            <a:spAutoFit/>
          </a:bodyPr>
          <a:lstStyle/>
          <a:p>
            <a:pPr algn="ctr">
              <a:defRPr sz="1000">
                <a:solidFill>
                  <a:srgbClr val="0070C0"/>
                </a:solidFill>
                <a:latin typeface="Arial"/>
              </a:defRPr>
            </a:pPr>
            <a:r>
              <a:t>→</a:t>
            </a:r>
          </a:p>
        </p:txBody>
      </p:sp>
      <p:sp>
        <p:nvSpPr>
          <p:cNvPr id="44" name="Rectangle 43"/>
          <p:cNvSpPr/>
          <p:nvPr/>
        </p:nvSpPr>
        <p:spPr>
          <a:xfrm>
            <a:off x="7251192" y="4663440"/>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70C0"/>
                </a:solidFill>
                <a:latin typeface="Arial"/>
              </a:defRPr>
            </a:pPr>
            <a:r>
              <a:t>Deploy</a:t>
            </a:r>
          </a:p>
        </p:txBody>
      </p:sp>
      <p:sp>
        <p:nvSpPr>
          <p:cNvPr id="45" name="TextBox 44"/>
          <p:cNvSpPr txBox="1"/>
          <p:nvPr/>
        </p:nvSpPr>
        <p:spPr>
          <a:xfrm>
            <a:off x="9336024" y="4663440"/>
            <a:ext cx="109728" cy="274320"/>
          </a:xfrm>
          <a:prstGeom prst="rect">
            <a:avLst/>
          </a:prstGeom>
          <a:noFill/>
        </p:spPr>
        <p:txBody>
          <a:bodyPr wrap="none" anchor="ctr">
            <a:spAutoFit/>
          </a:bodyPr>
          <a:lstStyle/>
          <a:p>
            <a:pPr algn="ctr">
              <a:defRPr sz="1000">
                <a:solidFill>
                  <a:srgbClr val="0070C0"/>
                </a:solidFill>
                <a:latin typeface="Arial"/>
              </a:defRPr>
            </a:pPr>
            <a:r>
              <a:t>→</a:t>
            </a:r>
          </a:p>
        </p:txBody>
      </p:sp>
      <p:sp>
        <p:nvSpPr>
          <p:cNvPr id="46" name="Rectangle 45"/>
          <p:cNvSpPr/>
          <p:nvPr/>
        </p:nvSpPr>
        <p:spPr>
          <a:xfrm>
            <a:off x="9454896" y="4663440"/>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70C0"/>
                </a:solidFill>
                <a:latin typeface="Arial"/>
              </a:defRPr>
            </a:pPr>
            <a:r>
              <a:t>Done</a:t>
            </a:r>
          </a:p>
        </p:txBody>
      </p:sp>
      <p:sp>
        <p:nvSpPr>
          <p:cNvPr id="47" name="TextBox 46"/>
          <p:cNvSpPr txBox="1"/>
          <p:nvPr/>
        </p:nvSpPr>
        <p:spPr>
          <a:xfrm>
            <a:off x="566928" y="505663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Daily Standup · Sprint Review · Retrospective</a:t>
            </a:r>
          </a:p>
        </p:txBody>
      </p:sp>
      <p:sp>
        <p:nvSpPr>
          <p:cNvPr id="48" name="TextBox 47"/>
          <p:cNvSpPr txBox="1"/>
          <p:nvPr/>
        </p:nvSpPr>
        <p:spPr>
          <a:xfrm>
            <a:off x="457200" y="5486400"/>
            <a:ext cx="10972800" cy="228600"/>
          </a:xfrm>
          <a:prstGeom prst="rect">
            <a:avLst/>
          </a:prstGeom>
          <a:noFill/>
        </p:spPr>
        <p:txBody>
          <a:bodyPr wrap="none">
            <a:spAutoFit/>
          </a:bodyPr>
          <a:lstStyle/>
          <a:p>
            <a:pPr>
              <a:defRPr sz="1000" b="1">
                <a:solidFill>
                  <a:srgbClr val="002060"/>
                </a:solidFill>
                <a:latin typeface="Arial"/>
              </a:defRPr>
            </a:pPr>
            <a:r>
              <a:t>E2E Lifecycle Phases</a:t>
            </a:r>
          </a:p>
        </p:txBody>
      </p:sp>
      <p:sp>
        <p:nvSpPr>
          <p:cNvPr id="49" name="Rectangle 48"/>
          <p:cNvSpPr/>
          <p:nvPr/>
        </p:nvSpPr>
        <p:spPr>
          <a:xfrm>
            <a:off x="457200" y="5760720"/>
            <a:ext cx="2708910" cy="1005840"/>
          </a:xfrm>
          <a:prstGeom prst="rect">
            <a:avLst/>
          </a:prstGeom>
          <a:solidFill>
            <a:srgbClr val="F5F5F5"/>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5760720"/>
            <a:ext cx="2708910" cy="25603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Phase 0: Discovery</a:t>
            </a:r>
          </a:p>
        </p:txBody>
      </p:sp>
      <p:sp>
        <p:nvSpPr>
          <p:cNvPr id="51" name="TextBox 50"/>
          <p:cNvSpPr txBox="1"/>
          <p:nvPr/>
        </p:nvSpPr>
        <p:spPr>
          <a:xfrm>
            <a:off x="530352" y="6053328"/>
            <a:ext cx="2562606" cy="457200"/>
          </a:xfrm>
          <a:prstGeom prst="rect">
            <a:avLst/>
          </a:prstGeom>
          <a:noFill/>
        </p:spPr>
        <p:txBody>
          <a:bodyPr wrap="square">
            <a:spAutoFit/>
          </a:bodyPr>
          <a:lstStyle/>
          <a:p>
            <a:pPr>
              <a:defRPr sz="700">
                <a:solidFill>
                  <a:srgbClr val="2C3E50"/>
                </a:solidFill>
                <a:latin typeface="Arial"/>
              </a:defRPr>
            </a:pPr>
            <a:r>
              <a:t>Research · Understanding · Problem Statement · Inspiration Gate</a:t>
            </a:r>
          </a:p>
        </p:txBody>
      </p:sp>
      <p:sp>
        <p:nvSpPr>
          <p:cNvPr id="52" name="TextBox 51"/>
          <p:cNvSpPr txBox="1"/>
          <p:nvPr/>
        </p:nvSpPr>
        <p:spPr>
          <a:xfrm>
            <a:off x="530352" y="651052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GO/No-Go → Shark Tank</a:t>
            </a:r>
          </a:p>
        </p:txBody>
      </p:sp>
      <p:sp>
        <p:nvSpPr>
          <p:cNvPr id="53" name="TextBox 52"/>
          <p:cNvSpPr txBox="1"/>
          <p:nvPr/>
        </p:nvSpPr>
        <p:spPr>
          <a:xfrm>
            <a:off x="3175254" y="6126480"/>
            <a:ext cx="118872" cy="274320"/>
          </a:xfrm>
          <a:prstGeom prst="rect">
            <a:avLst/>
          </a:prstGeom>
          <a:noFill/>
        </p:spPr>
        <p:txBody>
          <a:bodyPr wrap="none" anchor="ctr">
            <a:spAutoFit/>
          </a:bodyPr>
          <a:lstStyle/>
          <a:p>
            <a:pPr algn="ctr">
              <a:defRPr sz="1400">
                <a:solidFill>
                  <a:srgbClr val="002060"/>
                </a:solidFill>
                <a:latin typeface="Arial"/>
              </a:defRPr>
            </a:pPr>
            <a:r>
              <a:t>→</a:t>
            </a:r>
          </a:p>
        </p:txBody>
      </p:sp>
      <p:sp>
        <p:nvSpPr>
          <p:cNvPr id="54" name="Rectangle 53"/>
          <p:cNvSpPr/>
          <p:nvPr/>
        </p:nvSpPr>
        <p:spPr>
          <a:xfrm>
            <a:off x="3303270" y="5760720"/>
            <a:ext cx="2708910" cy="1005840"/>
          </a:xfrm>
          <a:prstGeom prst="rect">
            <a:avLst/>
          </a:prstGeom>
          <a:solidFill>
            <a:srgbClr val="F5F5F5"/>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303270" y="5760720"/>
            <a:ext cx="2708910" cy="25603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Phase 1: Materialization</a:t>
            </a:r>
          </a:p>
        </p:txBody>
      </p:sp>
      <p:sp>
        <p:nvSpPr>
          <p:cNvPr id="56" name="TextBox 55"/>
          <p:cNvSpPr txBox="1"/>
          <p:nvPr/>
        </p:nvSpPr>
        <p:spPr>
          <a:xfrm>
            <a:off x="3376422" y="6053328"/>
            <a:ext cx="2562606" cy="457200"/>
          </a:xfrm>
          <a:prstGeom prst="rect">
            <a:avLst/>
          </a:prstGeom>
          <a:noFill/>
        </p:spPr>
        <p:txBody>
          <a:bodyPr wrap="square">
            <a:spAutoFit/>
          </a:bodyPr>
          <a:lstStyle/>
          <a:p>
            <a:pPr>
              <a:defRPr sz="700">
                <a:solidFill>
                  <a:srgbClr val="2C3E50"/>
                </a:solidFill>
                <a:latin typeface="Arial"/>
              </a:defRPr>
            </a:pPr>
            <a:r>
              <a:t>Ideation · Validation · Solution Proposal</a:t>
            </a:r>
          </a:p>
        </p:txBody>
      </p:sp>
      <p:sp>
        <p:nvSpPr>
          <p:cNvPr id="57" name="TextBox 56"/>
          <p:cNvSpPr txBox="1"/>
          <p:nvPr/>
        </p:nvSpPr>
        <p:spPr>
          <a:xfrm>
            <a:off x="3376422" y="651052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Portfolio Committee Approval</a:t>
            </a:r>
          </a:p>
        </p:txBody>
      </p:sp>
      <p:sp>
        <p:nvSpPr>
          <p:cNvPr id="58" name="TextBox 57"/>
          <p:cNvSpPr txBox="1"/>
          <p:nvPr/>
        </p:nvSpPr>
        <p:spPr>
          <a:xfrm>
            <a:off x="6021324" y="6126480"/>
            <a:ext cx="118872" cy="274320"/>
          </a:xfrm>
          <a:prstGeom prst="rect">
            <a:avLst/>
          </a:prstGeom>
          <a:noFill/>
        </p:spPr>
        <p:txBody>
          <a:bodyPr wrap="none" anchor="ctr">
            <a:spAutoFit/>
          </a:bodyPr>
          <a:lstStyle/>
          <a:p>
            <a:pPr algn="ctr">
              <a:defRPr sz="1400">
                <a:solidFill>
                  <a:srgbClr val="002060"/>
                </a:solidFill>
                <a:latin typeface="Arial"/>
              </a:defRPr>
            </a:pPr>
            <a:r>
              <a:t>→</a:t>
            </a:r>
          </a:p>
        </p:txBody>
      </p:sp>
      <p:sp>
        <p:nvSpPr>
          <p:cNvPr id="59" name="Rectangle 58"/>
          <p:cNvSpPr/>
          <p:nvPr/>
        </p:nvSpPr>
        <p:spPr>
          <a:xfrm>
            <a:off x="6149340" y="5760720"/>
            <a:ext cx="2708910" cy="1005840"/>
          </a:xfrm>
          <a:prstGeom prst="rect">
            <a:avLst/>
          </a:prstGeom>
          <a:solidFill>
            <a:srgbClr val="F5F5F5"/>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49340" y="5760720"/>
            <a:ext cx="2708910" cy="25603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Phase 2: Creation</a:t>
            </a:r>
          </a:p>
        </p:txBody>
      </p:sp>
      <p:sp>
        <p:nvSpPr>
          <p:cNvPr id="61" name="TextBox 60"/>
          <p:cNvSpPr txBox="1"/>
          <p:nvPr/>
        </p:nvSpPr>
        <p:spPr>
          <a:xfrm>
            <a:off x="6222492" y="6053328"/>
            <a:ext cx="2562606" cy="457200"/>
          </a:xfrm>
          <a:prstGeom prst="rect">
            <a:avLst/>
          </a:prstGeom>
          <a:noFill/>
        </p:spPr>
        <p:txBody>
          <a:bodyPr wrap="square">
            <a:spAutoFit/>
          </a:bodyPr>
          <a:lstStyle/>
          <a:p>
            <a:pPr>
              <a:defRPr sz="700">
                <a:solidFill>
                  <a:srgbClr val="2C3E50"/>
                </a:solidFill>
                <a:latin typeface="Arial"/>
              </a:defRPr>
            </a:pPr>
            <a:r>
              <a:t>Project Book · Budget Release · Resourcing</a:t>
            </a:r>
          </a:p>
        </p:txBody>
      </p:sp>
      <p:sp>
        <p:nvSpPr>
          <p:cNvPr id="62" name="TextBox 61"/>
          <p:cNvSpPr txBox="1"/>
          <p:nvPr/>
        </p:nvSpPr>
        <p:spPr>
          <a:xfrm>
            <a:off x="6222492" y="651052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Budget Release Gate</a:t>
            </a:r>
          </a:p>
        </p:txBody>
      </p:sp>
      <p:sp>
        <p:nvSpPr>
          <p:cNvPr id="63" name="TextBox 62"/>
          <p:cNvSpPr txBox="1"/>
          <p:nvPr/>
        </p:nvSpPr>
        <p:spPr>
          <a:xfrm>
            <a:off x="8867394" y="6126480"/>
            <a:ext cx="118872" cy="274320"/>
          </a:xfrm>
          <a:prstGeom prst="rect">
            <a:avLst/>
          </a:prstGeom>
          <a:noFill/>
        </p:spPr>
        <p:txBody>
          <a:bodyPr wrap="none" anchor="ctr">
            <a:spAutoFit/>
          </a:bodyPr>
          <a:lstStyle/>
          <a:p>
            <a:pPr algn="ctr">
              <a:defRPr sz="1400">
                <a:solidFill>
                  <a:srgbClr val="002060"/>
                </a:solidFill>
                <a:latin typeface="Arial"/>
              </a:defRPr>
            </a:pPr>
            <a:r>
              <a:t>→</a:t>
            </a:r>
          </a:p>
        </p:txBody>
      </p:sp>
      <p:sp>
        <p:nvSpPr>
          <p:cNvPr id="64" name="Rectangle 63"/>
          <p:cNvSpPr/>
          <p:nvPr/>
        </p:nvSpPr>
        <p:spPr>
          <a:xfrm>
            <a:off x="8995410" y="5760720"/>
            <a:ext cx="2708910" cy="1005840"/>
          </a:xfrm>
          <a:prstGeom prst="rect">
            <a:avLst/>
          </a:prstGeom>
          <a:solidFill>
            <a:srgbClr val="F5F5F5"/>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995410" y="5760720"/>
            <a:ext cx="2708910" cy="25603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Phase 3: Ongoing</a:t>
            </a:r>
          </a:p>
        </p:txBody>
      </p:sp>
      <p:sp>
        <p:nvSpPr>
          <p:cNvPr id="66" name="TextBox 65"/>
          <p:cNvSpPr txBox="1"/>
          <p:nvPr/>
        </p:nvSpPr>
        <p:spPr>
          <a:xfrm>
            <a:off x="9068562" y="6053328"/>
            <a:ext cx="2562606" cy="457200"/>
          </a:xfrm>
          <a:prstGeom prst="rect">
            <a:avLst/>
          </a:prstGeom>
          <a:noFill/>
        </p:spPr>
        <p:txBody>
          <a:bodyPr wrap="square">
            <a:spAutoFit/>
          </a:bodyPr>
          <a:lstStyle/>
          <a:p>
            <a:pPr>
              <a:defRPr sz="700">
                <a:solidFill>
                  <a:srgbClr val="2C3E50"/>
                </a:solidFill>
                <a:latin typeface="Arial"/>
              </a:defRPr>
            </a:pPr>
            <a:r>
              <a:t>Launch · PoC/MVP · Build · Testing · Deploy</a:t>
            </a:r>
          </a:p>
        </p:txBody>
      </p:sp>
      <p:sp>
        <p:nvSpPr>
          <p:cNvPr id="67" name="TextBox 66"/>
          <p:cNvSpPr txBox="1"/>
          <p:nvPr/>
        </p:nvSpPr>
        <p:spPr>
          <a:xfrm>
            <a:off x="9068562" y="651052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Health Dashboard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74320"/>
            <a:ext cx="54864" cy="4572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
            <a:ext cx="10058400" cy="640080"/>
          </a:xfrm>
          <a:prstGeom prst="rect">
            <a:avLst/>
          </a:prstGeom>
          <a:noFill/>
        </p:spPr>
        <p:txBody>
          <a:bodyPr wrap="square">
            <a:spAutoFit/>
          </a:bodyPr>
          <a:lstStyle/>
          <a:p>
            <a:pPr>
              <a:defRPr sz="1600" b="1">
                <a:solidFill>
                  <a:srgbClr val="0070C0"/>
                </a:solidFill>
                <a:latin typeface="Arial"/>
              </a:defRPr>
            </a:pPr>
            <a:r>
              <a:t>Digital CoE — Discovery-Delivery Dual Board</a:t>
            </a:r>
          </a:p>
          <a:p>
            <a:pPr>
              <a:defRPr sz="900">
                <a:solidFill>
                  <a:srgbClr val="7F8C8D"/>
                </a:solidFill>
                <a:latin typeface="Arial"/>
              </a:defRPr>
            </a:pPr>
            <a:r>
              <a:t>Two separate Kanban boards (Discovery + Delivery) connected by feedback loops. Strategic Initiatives Funnel with Lean Business Case. 3-tier governance.</a:t>
            </a:r>
          </a:p>
        </p:txBody>
      </p:sp>
      <p:sp>
        <p:nvSpPr>
          <p:cNvPr id="6" name="Rectangle 5"/>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sp>
        <p:nvSpPr>
          <p:cNvPr id="7" name="Rectangle 6"/>
          <p:cNvSpPr/>
          <p:nvPr/>
        </p:nvSpPr>
        <p:spPr>
          <a:xfrm>
            <a:off x="457200" y="1097280"/>
            <a:ext cx="11247120" cy="1325880"/>
          </a:xfrm>
          <a:prstGeom prst="rect">
            <a:avLst/>
          </a:prstGeom>
          <a:solidFill>
            <a:srgbClr val="F5F5F5"/>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112471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Portfolio Governance — 3 Tier Model</a:t>
            </a:r>
          </a:p>
        </p:txBody>
      </p:sp>
      <p:sp>
        <p:nvSpPr>
          <p:cNvPr id="9" name="TextBox 8"/>
          <p:cNvSpPr txBox="1"/>
          <p:nvPr/>
        </p:nvSpPr>
        <p:spPr>
          <a:xfrm>
            <a:off x="566928" y="1463040"/>
            <a:ext cx="11027664" cy="320040"/>
          </a:xfrm>
          <a:prstGeom prst="rect">
            <a:avLst/>
          </a:prstGeom>
          <a:noFill/>
        </p:spPr>
        <p:txBody>
          <a:bodyPr wrap="square">
            <a:spAutoFit/>
          </a:bodyPr>
          <a:lstStyle/>
          <a:p>
            <a:pPr>
              <a:defRPr sz="700">
                <a:solidFill>
                  <a:srgbClr val="2C3E50"/>
                </a:solidFill>
                <a:latin typeface="Arial"/>
              </a:defRPr>
            </a:pPr>
            <a:r>
              <a:t>Portfolio (Initiative) → Strategic. Program (Feature/Epic) → Tactical. Delivery (User Story) → Executional. Alignment, predictability, accountability.</a:t>
            </a:r>
          </a:p>
        </p:txBody>
      </p:sp>
      <p:sp>
        <p:nvSpPr>
          <p:cNvPr id="10" name="Rectangle 9"/>
          <p:cNvSpPr/>
          <p:nvPr/>
        </p:nvSpPr>
        <p:spPr>
          <a:xfrm>
            <a:off x="640080" y="1828800"/>
            <a:ext cx="2617470"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70C0"/>
                </a:solidFill>
                <a:latin typeface="Arial"/>
              </a:defRPr>
            </a:pPr>
            <a:r>
              <a:t>Strategic Initiatives Funnel</a:t>
            </a:r>
          </a:p>
        </p:txBody>
      </p:sp>
      <p:sp>
        <p:nvSpPr>
          <p:cNvPr id="11" name="TextBox 10"/>
          <p:cNvSpPr txBox="1"/>
          <p:nvPr/>
        </p:nvSpPr>
        <p:spPr>
          <a:xfrm>
            <a:off x="3275838" y="1828800"/>
            <a:ext cx="109728" cy="274320"/>
          </a:xfrm>
          <a:prstGeom prst="rect">
            <a:avLst/>
          </a:prstGeom>
          <a:noFill/>
        </p:spPr>
        <p:txBody>
          <a:bodyPr wrap="none" anchor="ctr">
            <a:spAutoFit/>
          </a:bodyPr>
          <a:lstStyle/>
          <a:p>
            <a:pPr algn="ctr">
              <a:defRPr sz="1000">
                <a:solidFill>
                  <a:srgbClr val="0070C0"/>
                </a:solidFill>
                <a:latin typeface="Arial"/>
              </a:defRPr>
            </a:pPr>
            <a:r>
              <a:t>→</a:t>
            </a:r>
          </a:p>
        </p:txBody>
      </p:sp>
      <p:sp>
        <p:nvSpPr>
          <p:cNvPr id="12" name="Rectangle 11"/>
          <p:cNvSpPr/>
          <p:nvPr/>
        </p:nvSpPr>
        <p:spPr>
          <a:xfrm>
            <a:off x="3394710" y="1828800"/>
            <a:ext cx="2617470"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70C0"/>
                </a:solidFill>
                <a:latin typeface="Arial"/>
              </a:defRPr>
            </a:pPr>
            <a:r>
              <a:t>Lean Business Case</a:t>
            </a:r>
          </a:p>
        </p:txBody>
      </p:sp>
      <p:sp>
        <p:nvSpPr>
          <p:cNvPr id="13" name="TextBox 12"/>
          <p:cNvSpPr txBox="1"/>
          <p:nvPr/>
        </p:nvSpPr>
        <p:spPr>
          <a:xfrm>
            <a:off x="6030468" y="1828800"/>
            <a:ext cx="109728" cy="274320"/>
          </a:xfrm>
          <a:prstGeom prst="rect">
            <a:avLst/>
          </a:prstGeom>
          <a:noFill/>
        </p:spPr>
        <p:txBody>
          <a:bodyPr wrap="none" anchor="ctr">
            <a:spAutoFit/>
          </a:bodyPr>
          <a:lstStyle/>
          <a:p>
            <a:pPr algn="ctr">
              <a:defRPr sz="1000">
                <a:solidFill>
                  <a:srgbClr val="0070C0"/>
                </a:solidFill>
                <a:latin typeface="Arial"/>
              </a:defRPr>
            </a:pPr>
            <a:r>
              <a:t>→</a:t>
            </a:r>
          </a:p>
        </p:txBody>
      </p:sp>
      <p:sp>
        <p:nvSpPr>
          <p:cNvPr id="14" name="Rectangle 13"/>
          <p:cNvSpPr/>
          <p:nvPr/>
        </p:nvSpPr>
        <p:spPr>
          <a:xfrm>
            <a:off x="6149340" y="1828800"/>
            <a:ext cx="2617470"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70C0"/>
                </a:solidFill>
                <a:latin typeface="Arial"/>
              </a:defRPr>
            </a:pPr>
            <a:r>
              <a:t>PRD</a:t>
            </a:r>
          </a:p>
        </p:txBody>
      </p:sp>
      <p:sp>
        <p:nvSpPr>
          <p:cNvPr id="15" name="TextBox 14"/>
          <p:cNvSpPr txBox="1"/>
          <p:nvPr/>
        </p:nvSpPr>
        <p:spPr>
          <a:xfrm>
            <a:off x="8785098" y="1828800"/>
            <a:ext cx="109728" cy="274320"/>
          </a:xfrm>
          <a:prstGeom prst="rect">
            <a:avLst/>
          </a:prstGeom>
          <a:noFill/>
        </p:spPr>
        <p:txBody>
          <a:bodyPr wrap="none" anchor="ctr">
            <a:spAutoFit/>
          </a:bodyPr>
          <a:lstStyle/>
          <a:p>
            <a:pPr algn="ctr">
              <a:defRPr sz="1000">
                <a:solidFill>
                  <a:srgbClr val="0070C0"/>
                </a:solidFill>
                <a:latin typeface="Arial"/>
              </a:defRPr>
            </a:pPr>
            <a:r>
              <a:t>→</a:t>
            </a:r>
          </a:p>
        </p:txBody>
      </p:sp>
      <p:sp>
        <p:nvSpPr>
          <p:cNvPr id="16" name="Rectangle 15"/>
          <p:cNvSpPr/>
          <p:nvPr/>
        </p:nvSpPr>
        <p:spPr>
          <a:xfrm>
            <a:off x="8903970" y="1828800"/>
            <a:ext cx="2617470"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70C0"/>
                </a:solidFill>
                <a:latin typeface="Arial"/>
              </a:defRPr>
            </a:pPr>
            <a:r>
              <a:t>Quarterly Program Plan</a:t>
            </a:r>
          </a:p>
        </p:txBody>
      </p:sp>
      <p:sp>
        <p:nvSpPr>
          <p:cNvPr id="17" name="TextBox 16"/>
          <p:cNvSpPr txBox="1"/>
          <p:nvPr/>
        </p:nvSpPr>
        <p:spPr>
          <a:xfrm>
            <a:off x="566928" y="222199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Portfolio Learn Cycle (quarterly: 30 min past, 30 min future)</a:t>
            </a:r>
          </a:p>
        </p:txBody>
      </p:sp>
      <p:sp>
        <p:nvSpPr>
          <p:cNvPr id="18" name="Rectangle 17"/>
          <p:cNvSpPr/>
          <p:nvPr/>
        </p:nvSpPr>
        <p:spPr>
          <a:xfrm>
            <a:off x="457200" y="2514600"/>
            <a:ext cx="11247120" cy="1325880"/>
          </a:xfrm>
          <a:prstGeom prst="rect">
            <a:avLst/>
          </a:prstGeom>
          <a:solidFill>
            <a:srgbClr val="F5F5F5"/>
          </a:solidFill>
          <a:ln w="12700">
            <a:solidFill>
              <a:srgbClr val="009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514600"/>
            <a:ext cx="11247120" cy="320040"/>
          </a:xfrm>
          <a:prstGeom prst="rect">
            <a:avLst/>
          </a:prstGeom>
          <a:solidFill>
            <a:srgbClr val="0090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Discovery Board (Upstream)</a:t>
            </a:r>
          </a:p>
        </p:txBody>
      </p:sp>
      <p:sp>
        <p:nvSpPr>
          <p:cNvPr id="20" name="TextBox 19"/>
          <p:cNvSpPr txBox="1"/>
          <p:nvPr/>
        </p:nvSpPr>
        <p:spPr>
          <a:xfrm>
            <a:off x="566928" y="2880360"/>
            <a:ext cx="11027664" cy="320040"/>
          </a:xfrm>
          <a:prstGeom prst="rect">
            <a:avLst/>
          </a:prstGeom>
          <a:noFill/>
        </p:spPr>
        <p:txBody>
          <a:bodyPr wrap="square">
            <a:spAutoFit/>
          </a:bodyPr>
          <a:lstStyle/>
          <a:p>
            <a:pPr>
              <a:defRPr sz="700">
                <a:solidFill>
                  <a:srgbClr val="2C3E50"/>
                </a:solidFill>
                <a:latin typeface="Arial"/>
              </a:defRPr>
            </a:pPr>
            <a:r>
              <a:t>Structured discovery workflow. Measures Cycle Time per phase and Discovery Success Rate. Tools: Ziflow, Maze, Figma, Monday.</a:t>
            </a:r>
          </a:p>
        </p:txBody>
      </p:sp>
      <p:sp>
        <p:nvSpPr>
          <p:cNvPr id="21" name="Rectangle 20"/>
          <p:cNvSpPr/>
          <p:nvPr/>
        </p:nvSpPr>
        <p:spPr>
          <a:xfrm>
            <a:off x="640080" y="3246120"/>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0E0"/>
                </a:solidFill>
                <a:latin typeface="Arial"/>
              </a:defRPr>
            </a:pPr>
            <a:r>
              <a:t>Opportunity</a:t>
            </a:r>
          </a:p>
        </p:txBody>
      </p:sp>
      <p:sp>
        <p:nvSpPr>
          <p:cNvPr id="22" name="TextBox 21"/>
          <p:cNvSpPr txBox="1"/>
          <p:nvPr/>
        </p:nvSpPr>
        <p:spPr>
          <a:xfrm>
            <a:off x="2357628" y="3246120"/>
            <a:ext cx="109728" cy="274320"/>
          </a:xfrm>
          <a:prstGeom prst="rect">
            <a:avLst/>
          </a:prstGeom>
          <a:noFill/>
        </p:spPr>
        <p:txBody>
          <a:bodyPr wrap="none" anchor="ctr">
            <a:spAutoFit/>
          </a:bodyPr>
          <a:lstStyle/>
          <a:p>
            <a:pPr algn="ctr">
              <a:defRPr sz="1000">
                <a:solidFill>
                  <a:srgbClr val="0090E0"/>
                </a:solidFill>
                <a:latin typeface="Arial"/>
              </a:defRPr>
            </a:pPr>
            <a:r>
              <a:t>→</a:t>
            </a:r>
          </a:p>
        </p:txBody>
      </p:sp>
      <p:sp>
        <p:nvSpPr>
          <p:cNvPr id="23" name="Rectangle 22"/>
          <p:cNvSpPr/>
          <p:nvPr/>
        </p:nvSpPr>
        <p:spPr>
          <a:xfrm>
            <a:off x="2476500" y="3246120"/>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0E0"/>
                </a:solidFill>
                <a:latin typeface="Arial"/>
              </a:defRPr>
            </a:pPr>
            <a:r>
              <a:t>Ideation</a:t>
            </a:r>
          </a:p>
        </p:txBody>
      </p:sp>
      <p:sp>
        <p:nvSpPr>
          <p:cNvPr id="24" name="TextBox 23"/>
          <p:cNvSpPr txBox="1"/>
          <p:nvPr/>
        </p:nvSpPr>
        <p:spPr>
          <a:xfrm>
            <a:off x="4194048" y="3246120"/>
            <a:ext cx="109728" cy="274320"/>
          </a:xfrm>
          <a:prstGeom prst="rect">
            <a:avLst/>
          </a:prstGeom>
          <a:noFill/>
        </p:spPr>
        <p:txBody>
          <a:bodyPr wrap="none" anchor="ctr">
            <a:spAutoFit/>
          </a:bodyPr>
          <a:lstStyle/>
          <a:p>
            <a:pPr algn="ctr">
              <a:defRPr sz="1000">
                <a:solidFill>
                  <a:srgbClr val="0090E0"/>
                </a:solidFill>
                <a:latin typeface="Arial"/>
              </a:defRPr>
            </a:pPr>
            <a:r>
              <a:t>→</a:t>
            </a:r>
          </a:p>
        </p:txBody>
      </p:sp>
      <p:sp>
        <p:nvSpPr>
          <p:cNvPr id="25" name="Rectangle 24"/>
          <p:cNvSpPr/>
          <p:nvPr/>
        </p:nvSpPr>
        <p:spPr>
          <a:xfrm>
            <a:off x="4312920" y="3246120"/>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0E0"/>
                </a:solidFill>
                <a:latin typeface="Arial"/>
              </a:defRPr>
            </a:pPr>
            <a:r>
              <a:t>Tech Feasibility</a:t>
            </a:r>
          </a:p>
        </p:txBody>
      </p:sp>
      <p:sp>
        <p:nvSpPr>
          <p:cNvPr id="26" name="TextBox 25"/>
          <p:cNvSpPr txBox="1"/>
          <p:nvPr/>
        </p:nvSpPr>
        <p:spPr>
          <a:xfrm>
            <a:off x="6030468" y="3246120"/>
            <a:ext cx="109728" cy="274320"/>
          </a:xfrm>
          <a:prstGeom prst="rect">
            <a:avLst/>
          </a:prstGeom>
          <a:noFill/>
        </p:spPr>
        <p:txBody>
          <a:bodyPr wrap="none" anchor="ctr">
            <a:spAutoFit/>
          </a:bodyPr>
          <a:lstStyle/>
          <a:p>
            <a:pPr algn="ctr">
              <a:defRPr sz="1000">
                <a:solidFill>
                  <a:srgbClr val="0090E0"/>
                </a:solidFill>
                <a:latin typeface="Arial"/>
              </a:defRPr>
            </a:pPr>
            <a:r>
              <a:t>→</a:t>
            </a:r>
          </a:p>
        </p:txBody>
      </p:sp>
      <p:sp>
        <p:nvSpPr>
          <p:cNvPr id="27" name="Rectangle 26"/>
          <p:cNvSpPr/>
          <p:nvPr/>
        </p:nvSpPr>
        <p:spPr>
          <a:xfrm>
            <a:off x="6149340" y="3246120"/>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0E0"/>
                </a:solidFill>
                <a:latin typeface="Arial"/>
              </a:defRPr>
            </a:pPr>
            <a:r>
              <a:t>Design</a:t>
            </a:r>
          </a:p>
        </p:txBody>
      </p:sp>
      <p:sp>
        <p:nvSpPr>
          <p:cNvPr id="28" name="TextBox 27"/>
          <p:cNvSpPr txBox="1"/>
          <p:nvPr/>
        </p:nvSpPr>
        <p:spPr>
          <a:xfrm>
            <a:off x="7866888" y="3246120"/>
            <a:ext cx="109728" cy="274320"/>
          </a:xfrm>
          <a:prstGeom prst="rect">
            <a:avLst/>
          </a:prstGeom>
          <a:noFill/>
        </p:spPr>
        <p:txBody>
          <a:bodyPr wrap="none" anchor="ctr">
            <a:spAutoFit/>
          </a:bodyPr>
          <a:lstStyle/>
          <a:p>
            <a:pPr algn="ctr">
              <a:defRPr sz="1000">
                <a:solidFill>
                  <a:srgbClr val="0090E0"/>
                </a:solidFill>
                <a:latin typeface="Arial"/>
              </a:defRPr>
            </a:pPr>
            <a:r>
              <a:t>→</a:t>
            </a:r>
          </a:p>
        </p:txBody>
      </p:sp>
      <p:sp>
        <p:nvSpPr>
          <p:cNvPr id="29" name="Rectangle 28"/>
          <p:cNvSpPr/>
          <p:nvPr/>
        </p:nvSpPr>
        <p:spPr>
          <a:xfrm>
            <a:off x="7985760" y="3246120"/>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0E0"/>
                </a:solidFill>
                <a:latin typeface="Arial"/>
              </a:defRPr>
            </a:pPr>
            <a:r>
              <a:t>Biz Signoff</a:t>
            </a:r>
          </a:p>
        </p:txBody>
      </p:sp>
      <p:sp>
        <p:nvSpPr>
          <p:cNvPr id="30" name="TextBox 29"/>
          <p:cNvSpPr txBox="1"/>
          <p:nvPr/>
        </p:nvSpPr>
        <p:spPr>
          <a:xfrm>
            <a:off x="9703308" y="3246120"/>
            <a:ext cx="109728" cy="274320"/>
          </a:xfrm>
          <a:prstGeom prst="rect">
            <a:avLst/>
          </a:prstGeom>
          <a:noFill/>
        </p:spPr>
        <p:txBody>
          <a:bodyPr wrap="none" anchor="ctr">
            <a:spAutoFit/>
          </a:bodyPr>
          <a:lstStyle/>
          <a:p>
            <a:pPr algn="ctr">
              <a:defRPr sz="1000">
                <a:solidFill>
                  <a:srgbClr val="0090E0"/>
                </a:solidFill>
                <a:latin typeface="Arial"/>
              </a:defRPr>
            </a:pPr>
            <a:r>
              <a:t>→</a:t>
            </a:r>
          </a:p>
        </p:txBody>
      </p:sp>
      <p:sp>
        <p:nvSpPr>
          <p:cNvPr id="31" name="Rectangle 30"/>
          <p:cNvSpPr/>
          <p:nvPr/>
        </p:nvSpPr>
        <p:spPr>
          <a:xfrm>
            <a:off x="9822180" y="3246120"/>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0E0"/>
                </a:solidFill>
                <a:latin typeface="Arial"/>
              </a:defRPr>
            </a:pPr>
            <a:r>
              <a:t>Done</a:t>
            </a:r>
          </a:p>
        </p:txBody>
      </p:sp>
      <p:sp>
        <p:nvSpPr>
          <p:cNvPr id="32" name="TextBox 31"/>
          <p:cNvSpPr txBox="1"/>
          <p:nvPr/>
        </p:nvSpPr>
        <p:spPr>
          <a:xfrm>
            <a:off x="566928" y="363931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Discovery Review · Feedback Loop from Delivery → Discovery</a:t>
            </a:r>
          </a:p>
        </p:txBody>
      </p:sp>
      <p:sp>
        <p:nvSpPr>
          <p:cNvPr id="33" name="Rectangle 32"/>
          <p:cNvSpPr/>
          <p:nvPr/>
        </p:nvSpPr>
        <p:spPr>
          <a:xfrm>
            <a:off x="457200" y="3931920"/>
            <a:ext cx="11247120" cy="1325880"/>
          </a:xfrm>
          <a:prstGeom prst="rect">
            <a:avLst/>
          </a:prstGeom>
          <a:solidFill>
            <a:srgbClr val="F5F5F5"/>
          </a:solidFill>
          <a:ln w="12700">
            <a:solidFill>
              <a:srgbClr val="19A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3931920"/>
            <a:ext cx="11247120" cy="320040"/>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Delivery Board (Downstream)</a:t>
            </a:r>
          </a:p>
        </p:txBody>
      </p:sp>
      <p:sp>
        <p:nvSpPr>
          <p:cNvPr id="35" name="TextBox 34"/>
          <p:cNvSpPr txBox="1"/>
          <p:nvPr/>
        </p:nvSpPr>
        <p:spPr>
          <a:xfrm>
            <a:off x="566928" y="4297680"/>
            <a:ext cx="11027664" cy="320040"/>
          </a:xfrm>
          <a:prstGeom prst="rect">
            <a:avLst/>
          </a:prstGeom>
          <a:noFill/>
        </p:spPr>
        <p:txBody>
          <a:bodyPr wrap="square">
            <a:spAutoFit/>
          </a:bodyPr>
          <a:lstStyle/>
          <a:p>
            <a:pPr>
              <a:defRPr sz="700">
                <a:solidFill>
                  <a:srgbClr val="2C3E50"/>
                </a:solidFill>
                <a:latin typeface="Arial"/>
              </a:defRPr>
            </a:pPr>
            <a:r>
              <a:t>Sprint-based delivery. 2-week time-boxed cycles. Sprint Report Canvas tracks baselines across cycles. Agile Master hygiene checklist.</a:t>
            </a:r>
          </a:p>
        </p:txBody>
      </p:sp>
      <p:sp>
        <p:nvSpPr>
          <p:cNvPr id="36" name="Rectangle 35"/>
          <p:cNvSpPr/>
          <p:nvPr/>
        </p:nvSpPr>
        <p:spPr>
          <a:xfrm>
            <a:off x="640080" y="4663440"/>
            <a:ext cx="2617470" cy="274320"/>
          </a:xfrm>
          <a:prstGeom prst="rect">
            <a:avLst/>
          </a:prstGeom>
          <a:solidFill>
            <a:srgbClr val="DCF1FE"/>
          </a:solidFill>
          <a:ln w="6350">
            <a:solidFill>
              <a:srgbClr val="19A3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19A3FC"/>
                </a:solidFill>
                <a:latin typeface="Arial"/>
              </a:defRPr>
            </a:pPr>
            <a:r>
              <a:t>Sprint Backlog</a:t>
            </a:r>
          </a:p>
        </p:txBody>
      </p:sp>
      <p:sp>
        <p:nvSpPr>
          <p:cNvPr id="37" name="TextBox 36"/>
          <p:cNvSpPr txBox="1"/>
          <p:nvPr/>
        </p:nvSpPr>
        <p:spPr>
          <a:xfrm>
            <a:off x="3275838" y="4663440"/>
            <a:ext cx="109728" cy="274320"/>
          </a:xfrm>
          <a:prstGeom prst="rect">
            <a:avLst/>
          </a:prstGeom>
          <a:noFill/>
        </p:spPr>
        <p:txBody>
          <a:bodyPr wrap="none" anchor="ctr">
            <a:spAutoFit/>
          </a:bodyPr>
          <a:lstStyle/>
          <a:p>
            <a:pPr algn="ctr">
              <a:defRPr sz="1000">
                <a:solidFill>
                  <a:srgbClr val="19A3FC"/>
                </a:solidFill>
                <a:latin typeface="Arial"/>
              </a:defRPr>
            </a:pPr>
            <a:r>
              <a:t>→</a:t>
            </a:r>
          </a:p>
        </p:txBody>
      </p:sp>
      <p:sp>
        <p:nvSpPr>
          <p:cNvPr id="38" name="Rectangle 37"/>
          <p:cNvSpPr/>
          <p:nvPr/>
        </p:nvSpPr>
        <p:spPr>
          <a:xfrm>
            <a:off x="3394710" y="4663440"/>
            <a:ext cx="2617470" cy="274320"/>
          </a:xfrm>
          <a:prstGeom prst="rect">
            <a:avLst/>
          </a:prstGeom>
          <a:solidFill>
            <a:srgbClr val="DCF1FE"/>
          </a:solidFill>
          <a:ln w="6350">
            <a:solidFill>
              <a:srgbClr val="19A3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19A3FC"/>
                </a:solidFill>
                <a:latin typeface="Arial"/>
              </a:defRPr>
            </a:pPr>
            <a:r>
              <a:t>In Progress</a:t>
            </a:r>
          </a:p>
        </p:txBody>
      </p:sp>
      <p:sp>
        <p:nvSpPr>
          <p:cNvPr id="39" name="TextBox 38"/>
          <p:cNvSpPr txBox="1"/>
          <p:nvPr/>
        </p:nvSpPr>
        <p:spPr>
          <a:xfrm>
            <a:off x="6030468" y="4663440"/>
            <a:ext cx="109728" cy="274320"/>
          </a:xfrm>
          <a:prstGeom prst="rect">
            <a:avLst/>
          </a:prstGeom>
          <a:noFill/>
        </p:spPr>
        <p:txBody>
          <a:bodyPr wrap="none" anchor="ctr">
            <a:spAutoFit/>
          </a:bodyPr>
          <a:lstStyle/>
          <a:p>
            <a:pPr algn="ctr">
              <a:defRPr sz="1000">
                <a:solidFill>
                  <a:srgbClr val="19A3FC"/>
                </a:solidFill>
                <a:latin typeface="Arial"/>
              </a:defRPr>
            </a:pPr>
            <a:r>
              <a:t>→</a:t>
            </a:r>
          </a:p>
        </p:txBody>
      </p:sp>
      <p:sp>
        <p:nvSpPr>
          <p:cNvPr id="40" name="Rectangle 39"/>
          <p:cNvSpPr/>
          <p:nvPr/>
        </p:nvSpPr>
        <p:spPr>
          <a:xfrm>
            <a:off x="6149340" y="4663440"/>
            <a:ext cx="2617470" cy="274320"/>
          </a:xfrm>
          <a:prstGeom prst="rect">
            <a:avLst/>
          </a:prstGeom>
          <a:solidFill>
            <a:srgbClr val="DCF1FE"/>
          </a:solidFill>
          <a:ln w="6350">
            <a:solidFill>
              <a:srgbClr val="19A3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19A3FC"/>
                </a:solidFill>
                <a:latin typeface="Arial"/>
              </a:defRPr>
            </a:pPr>
            <a:r>
              <a:t>QA</a:t>
            </a:r>
          </a:p>
        </p:txBody>
      </p:sp>
      <p:sp>
        <p:nvSpPr>
          <p:cNvPr id="41" name="TextBox 40"/>
          <p:cNvSpPr txBox="1"/>
          <p:nvPr/>
        </p:nvSpPr>
        <p:spPr>
          <a:xfrm>
            <a:off x="8785098" y="4663440"/>
            <a:ext cx="109728" cy="274320"/>
          </a:xfrm>
          <a:prstGeom prst="rect">
            <a:avLst/>
          </a:prstGeom>
          <a:noFill/>
        </p:spPr>
        <p:txBody>
          <a:bodyPr wrap="none" anchor="ctr">
            <a:spAutoFit/>
          </a:bodyPr>
          <a:lstStyle/>
          <a:p>
            <a:pPr algn="ctr">
              <a:defRPr sz="1000">
                <a:solidFill>
                  <a:srgbClr val="19A3FC"/>
                </a:solidFill>
                <a:latin typeface="Arial"/>
              </a:defRPr>
            </a:pPr>
            <a:r>
              <a:t>→</a:t>
            </a:r>
          </a:p>
        </p:txBody>
      </p:sp>
      <p:sp>
        <p:nvSpPr>
          <p:cNvPr id="42" name="Rectangle 41"/>
          <p:cNvSpPr/>
          <p:nvPr/>
        </p:nvSpPr>
        <p:spPr>
          <a:xfrm>
            <a:off x="8903970" y="4663440"/>
            <a:ext cx="2617470" cy="274320"/>
          </a:xfrm>
          <a:prstGeom prst="rect">
            <a:avLst/>
          </a:prstGeom>
          <a:solidFill>
            <a:srgbClr val="DCF1FE"/>
          </a:solidFill>
          <a:ln w="6350">
            <a:solidFill>
              <a:srgbClr val="19A3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19A3FC"/>
                </a:solidFill>
                <a:latin typeface="Arial"/>
              </a:defRPr>
            </a:pPr>
            <a:r>
              <a:t>Done / Deployed</a:t>
            </a:r>
          </a:p>
        </p:txBody>
      </p:sp>
      <p:sp>
        <p:nvSpPr>
          <p:cNvPr id="43" name="TextBox 42"/>
          <p:cNvSpPr txBox="1"/>
          <p:nvPr/>
        </p:nvSpPr>
        <p:spPr>
          <a:xfrm>
            <a:off x="566928" y="505663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Sprint Planning · Daily · Sprint Review · Retrospective</a:t>
            </a:r>
          </a:p>
        </p:txBody>
      </p:sp>
      <p:sp>
        <p:nvSpPr>
          <p:cNvPr id="44" name="TextBox 43"/>
          <p:cNvSpPr txBox="1"/>
          <p:nvPr/>
        </p:nvSpPr>
        <p:spPr>
          <a:xfrm>
            <a:off x="457200" y="5486400"/>
            <a:ext cx="10972800" cy="228600"/>
          </a:xfrm>
          <a:prstGeom prst="rect">
            <a:avLst/>
          </a:prstGeom>
          <a:noFill/>
        </p:spPr>
        <p:txBody>
          <a:bodyPr wrap="none">
            <a:spAutoFit/>
          </a:bodyPr>
          <a:lstStyle/>
          <a:p>
            <a:pPr>
              <a:defRPr sz="1000" b="1">
                <a:solidFill>
                  <a:srgbClr val="0070C0"/>
                </a:solidFill>
                <a:latin typeface="Arial"/>
              </a:defRPr>
            </a:pPr>
            <a:r>
              <a:t>E2E Lifecycle Phases</a:t>
            </a:r>
          </a:p>
        </p:txBody>
      </p:sp>
      <p:sp>
        <p:nvSpPr>
          <p:cNvPr id="45" name="Rectangle 44"/>
          <p:cNvSpPr/>
          <p:nvPr/>
        </p:nvSpPr>
        <p:spPr>
          <a:xfrm>
            <a:off x="457200" y="5760720"/>
            <a:ext cx="2708910" cy="1005840"/>
          </a:xfrm>
          <a:prstGeom prst="rect">
            <a:avLst/>
          </a:prstGeom>
          <a:solidFill>
            <a:srgbClr val="F5F5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5760720"/>
            <a:ext cx="2708910" cy="25603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Discovery Upstream</a:t>
            </a:r>
          </a:p>
        </p:txBody>
      </p:sp>
      <p:sp>
        <p:nvSpPr>
          <p:cNvPr id="47" name="TextBox 46"/>
          <p:cNvSpPr txBox="1"/>
          <p:nvPr/>
        </p:nvSpPr>
        <p:spPr>
          <a:xfrm>
            <a:off x="530352" y="6053328"/>
            <a:ext cx="2562606" cy="457200"/>
          </a:xfrm>
          <a:prstGeom prst="rect">
            <a:avLst/>
          </a:prstGeom>
          <a:noFill/>
        </p:spPr>
        <p:txBody>
          <a:bodyPr wrap="square">
            <a:spAutoFit/>
          </a:bodyPr>
          <a:lstStyle/>
          <a:p>
            <a:pPr>
              <a:defRPr sz="700">
                <a:solidFill>
                  <a:srgbClr val="2C3E50"/>
                </a:solidFill>
                <a:latin typeface="Arial"/>
              </a:defRPr>
            </a:pPr>
            <a:r>
              <a:t>User Research · Ideation · Prototyping · Validation</a:t>
            </a:r>
          </a:p>
        </p:txBody>
      </p:sp>
      <p:sp>
        <p:nvSpPr>
          <p:cNvPr id="48" name="TextBox 47"/>
          <p:cNvSpPr txBox="1"/>
          <p:nvPr/>
        </p:nvSpPr>
        <p:spPr>
          <a:xfrm>
            <a:off x="530352" y="651052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PRD + Lean Business Case</a:t>
            </a:r>
          </a:p>
        </p:txBody>
      </p:sp>
      <p:sp>
        <p:nvSpPr>
          <p:cNvPr id="49" name="TextBox 48"/>
          <p:cNvSpPr txBox="1"/>
          <p:nvPr/>
        </p:nvSpPr>
        <p:spPr>
          <a:xfrm>
            <a:off x="3175254" y="6126480"/>
            <a:ext cx="118872" cy="274320"/>
          </a:xfrm>
          <a:prstGeom prst="rect">
            <a:avLst/>
          </a:prstGeom>
          <a:noFill/>
        </p:spPr>
        <p:txBody>
          <a:bodyPr wrap="none" anchor="ctr">
            <a:spAutoFit/>
          </a:bodyPr>
          <a:lstStyle/>
          <a:p>
            <a:pPr algn="ctr">
              <a:defRPr sz="1400">
                <a:solidFill>
                  <a:srgbClr val="0070C0"/>
                </a:solidFill>
                <a:latin typeface="Arial"/>
              </a:defRPr>
            </a:pPr>
            <a:r>
              <a:t>→</a:t>
            </a:r>
          </a:p>
        </p:txBody>
      </p:sp>
      <p:sp>
        <p:nvSpPr>
          <p:cNvPr id="50" name="Rectangle 49"/>
          <p:cNvSpPr/>
          <p:nvPr/>
        </p:nvSpPr>
        <p:spPr>
          <a:xfrm>
            <a:off x="3303270" y="5760720"/>
            <a:ext cx="2708910" cy="1005840"/>
          </a:xfrm>
          <a:prstGeom prst="rect">
            <a:avLst/>
          </a:prstGeom>
          <a:solidFill>
            <a:srgbClr val="F5F5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03270" y="5760720"/>
            <a:ext cx="2708910" cy="25603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Feedback Loop</a:t>
            </a:r>
          </a:p>
        </p:txBody>
      </p:sp>
      <p:sp>
        <p:nvSpPr>
          <p:cNvPr id="52" name="TextBox 51"/>
          <p:cNvSpPr txBox="1"/>
          <p:nvPr/>
        </p:nvSpPr>
        <p:spPr>
          <a:xfrm>
            <a:off x="3376422" y="6053328"/>
            <a:ext cx="2562606" cy="457200"/>
          </a:xfrm>
          <a:prstGeom prst="rect">
            <a:avLst/>
          </a:prstGeom>
          <a:noFill/>
        </p:spPr>
        <p:txBody>
          <a:bodyPr wrap="square">
            <a:spAutoFit/>
          </a:bodyPr>
          <a:lstStyle/>
          <a:p>
            <a:pPr>
              <a:defRPr sz="700">
                <a:solidFill>
                  <a:srgbClr val="2C3E50"/>
                </a:solidFill>
                <a:latin typeface="Arial"/>
              </a:defRPr>
            </a:pPr>
            <a:r>
              <a:t>Delivery insights → Discovery · Real-world data → Refinement</a:t>
            </a:r>
          </a:p>
        </p:txBody>
      </p:sp>
      <p:sp>
        <p:nvSpPr>
          <p:cNvPr id="53" name="TextBox 52"/>
          <p:cNvSpPr txBox="1"/>
          <p:nvPr/>
        </p:nvSpPr>
        <p:spPr>
          <a:xfrm>
            <a:off x="3376422" y="651052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Continuous (not gated)</a:t>
            </a:r>
          </a:p>
        </p:txBody>
      </p:sp>
      <p:sp>
        <p:nvSpPr>
          <p:cNvPr id="54" name="TextBox 53"/>
          <p:cNvSpPr txBox="1"/>
          <p:nvPr/>
        </p:nvSpPr>
        <p:spPr>
          <a:xfrm>
            <a:off x="6021324" y="6126480"/>
            <a:ext cx="118872" cy="274320"/>
          </a:xfrm>
          <a:prstGeom prst="rect">
            <a:avLst/>
          </a:prstGeom>
          <a:noFill/>
        </p:spPr>
        <p:txBody>
          <a:bodyPr wrap="none" anchor="ctr">
            <a:spAutoFit/>
          </a:bodyPr>
          <a:lstStyle/>
          <a:p>
            <a:pPr algn="ctr">
              <a:defRPr sz="1400">
                <a:solidFill>
                  <a:srgbClr val="0070C0"/>
                </a:solidFill>
                <a:latin typeface="Arial"/>
              </a:defRPr>
            </a:pPr>
            <a:r>
              <a:t>→</a:t>
            </a:r>
          </a:p>
        </p:txBody>
      </p:sp>
      <p:sp>
        <p:nvSpPr>
          <p:cNvPr id="55" name="Rectangle 54"/>
          <p:cNvSpPr/>
          <p:nvPr/>
        </p:nvSpPr>
        <p:spPr>
          <a:xfrm>
            <a:off x="6149340" y="5760720"/>
            <a:ext cx="2708910" cy="1005840"/>
          </a:xfrm>
          <a:prstGeom prst="rect">
            <a:avLst/>
          </a:prstGeom>
          <a:solidFill>
            <a:srgbClr val="F5F5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49340" y="5760720"/>
            <a:ext cx="2708910" cy="25603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Delivery Downstream</a:t>
            </a:r>
          </a:p>
        </p:txBody>
      </p:sp>
      <p:sp>
        <p:nvSpPr>
          <p:cNvPr id="57" name="TextBox 56"/>
          <p:cNvSpPr txBox="1"/>
          <p:nvPr/>
        </p:nvSpPr>
        <p:spPr>
          <a:xfrm>
            <a:off x="6222492" y="6053328"/>
            <a:ext cx="2562606" cy="457200"/>
          </a:xfrm>
          <a:prstGeom prst="rect">
            <a:avLst/>
          </a:prstGeom>
          <a:noFill/>
        </p:spPr>
        <p:txBody>
          <a:bodyPr wrap="square">
            <a:spAutoFit/>
          </a:bodyPr>
          <a:lstStyle/>
          <a:p>
            <a:pPr>
              <a:defRPr sz="700">
                <a:solidFill>
                  <a:srgbClr val="2C3E50"/>
                </a:solidFill>
                <a:latin typeface="Arial"/>
              </a:defRPr>
            </a:pPr>
            <a:r>
              <a:t>Backlog Refinement · Development · Testing · Deployment</a:t>
            </a:r>
          </a:p>
        </p:txBody>
      </p:sp>
      <p:sp>
        <p:nvSpPr>
          <p:cNvPr id="58" name="TextBox 57"/>
          <p:cNvSpPr txBox="1"/>
          <p:nvPr/>
        </p:nvSpPr>
        <p:spPr>
          <a:xfrm>
            <a:off x="6222492" y="651052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Sprint Review + DoD</a:t>
            </a:r>
          </a:p>
        </p:txBody>
      </p:sp>
      <p:sp>
        <p:nvSpPr>
          <p:cNvPr id="59" name="TextBox 58"/>
          <p:cNvSpPr txBox="1"/>
          <p:nvPr/>
        </p:nvSpPr>
        <p:spPr>
          <a:xfrm>
            <a:off x="8867394" y="6126480"/>
            <a:ext cx="118872" cy="274320"/>
          </a:xfrm>
          <a:prstGeom prst="rect">
            <a:avLst/>
          </a:prstGeom>
          <a:noFill/>
        </p:spPr>
        <p:txBody>
          <a:bodyPr wrap="none" anchor="ctr">
            <a:spAutoFit/>
          </a:bodyPr>
          <a:lstStyle/>
          <a:p>
            <a:pPr algn="ctr">
              <a:defRPr sz="1400">
                <a:solidFill>
                  <a:srgbClr val="0070C0"/>
                </a:solidFill>
                <a:latin typeface="Arial"/>
              </a:defRPr>
            </a:pPr>
            <a:r>
              <a:t>→</a:t>
            </a:r>
          </a:p>
        </p:txBody>
      </p:sp>
      <p:sp>
        <p:nvSpPr>
          <p:cNvPr id="60" name="Rectangle 59"/>
          <p:cNvSpPr/>
          <p:nvPr/>
        </p:nvSpPr>
        <p:spPr>
          <a:xfrm>
            <a:off x="8995410" y="5760720"/>
            <a:ext cx="2708910" cy="1005840"/>
          </a:xfrm>
          <a:prstGeom prst="rect">
            <a:avLst/>
          </a:prstGeom>
          <a:solidFill>
            <a:srgbClr val="F5F5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95410" y="5760720"/>
            <a:ext cx="2708910" cy="25603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Portfolio Review</a:t>
            </a:r>
          </a:p>
        </p:txBody>
      </p:sp>
      <p:sp>
        <p:nvSpPr>
          <p:cNvPr id="62" name="TextBox 61"/>
          <p:cNvSpPr txBox="1"/>
          <p:nvPr/>
        </p:nvSpPr>
        <p:spPr>
          <a:xfrm>
            <a:off x="9068562" y="6053328"/>
            <a:ext cx="2562606" cy="457200"/>
          </a:xfrm>
          <a:prstGeom prst="rect">
            <a:avLst/>
          </a:prstGeom>
          <a:noFill/>
        </p:spPr>
        <p:txBody>
          <a:bodyPr wrap="square">
            <a:spAutoFit/>
          </a:bodyPr>
          <a:lstStyle/>
          <a:p>
            <a:pPr>
              <a:defRPr sz="700">
                <a:solidFill>
                  <a:srgbClr val="2C3E50"/>
                </a:solidFill>
                <a:latin typeface="Arial"/>
              </a:defRPr>
            </a:pPr>
            <a:r>
              <a:t>Learn Cycle · Strategic Realignment · Next Quarter</a:t>
            </a:r>
          </a:p>
        </p:txBody>
      </p:sp>
      <p:sp>
        <p:nvSpPr>
          <p:cNvPr id="63" name="TextBox 62"/>
          <p:cNvSpPr txBox="1"/>
          <p:nvPr/>
        </p:nvSpPr>
        <p:spPr>
          <a:xfrm>
            <a:off x="9068562" y="651052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Quarterly Portfolio Learn Cycle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74320"/>
            <a:ext cx="54864" cy="4572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
            <a:ext cx="10058400" cy="640080"/>
          </a:xfrm>
          <a:prstGeom prst="rect">
            <a:avLst/>
          </a:prstGeom>
          <a:noFill/>
        </p:spPr>
        <p:txBody>
          <a:bodyPr wrap="square">
            <a:spAutoFit/>
          </a:bodyPr>
          <a:lstStyle/>
          <a:p>
            <a:pPr>
              <a:defRPr sz="1600" b="1">
                <a:solidFill>
                  <a:srgbClr val="009688"/>
                </a:solidFill>
                <a:latin typeface="Arial"/>
              </a:defRPr>
            </a:pPr>
            <a:r>
              <a:t>Infrastructure — Team Topologies + Phased Deployment</a:t>
            </a:r>
          </a:p>
          <a:p>
            <a:pPr>
              <a:defRPr sz="900">
                <a:solidFill>
                  <a:srgbClr val="7F8C8D"/>
                </a:solidFill>
                <a:latin typeface="Arial"/>
              </a:defRPr>
            </a:pPr>
            <a:r>
              <a:t>Team Topologies framework defines structural relationships. Phased rollout: Pilot (1 team) → Expansion (7+ teams) → Optimization. Per-unit-served investment model.</a:t>
            </a:r>
          </a:p>
        </p:txBody>
      </p:sp>
      <p:sp>
        <p:nvSpPr>
          <p:cNvPr id="6" name="Rectangle 5"/>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sp>
        <p:nvSpPr>
          <p:cNvPr id="7" name="Rectangle 6"/>
          <p:cNvSpPr/>
          <p:nvPr/>
        </p:nvSpPr>
        <p:spPr>
          <a:xfrm>
            <a:off x="457200" y="1097280"/>
            <a:ext cx="11247120" cy="1600200"/>
          </a:xfrm>
          <a:prstGeom prst="rect">
            <a:avLst/>
          </a:prstGeom>
          <a:solidFill>
            <a:srgbClr val="F5F5F5"/>
          </a:solidFill>
          <a:ln w="127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11247120" cy="3200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Team Topologies Framework</a:t>
            </a:r>
          </a:p>
        </p:txBody>
      </p:sp>
      <p:sp>
        <p:nvSpPr>
          <p:cNvPr id="9" name="TextBox 8"/>
          <p:cNvSpPr txBox="1"/>
          <p:nvPr/>
        </p:nvSpPr>
        <p:spPr>
          <a:xfrm>
            <a:off x="566928" y="1463040"/>
            <a:ext cx="11027664" cy="320040"/>
          </a:xfrm>
          <a:prstGeom prst="rect">
            <a:avLst/>
          </a:prstGeom>
          <a:noFill/>
        </p:spPr>
        <p:txBody>
          <a:bodyPr wrap="square">
            <a:spAutoFit/>
          </a:bodyPr>
          <a:lstStyle/>
          <a:p>
            <a:pPr>
              <a:defRPr sz="700">
                <a:solidFill>
                  <a:srgbClr val="2C3E50"/>
                </a:solidFill>
                <a:latin typeface="Arial"/>
              </a:defRPr>
            </a:pPr>
            <a:r>
              <a:t>4 team types with 3 interaction modes. Selection depends on volume/frequency of demand, reuse of deliverable, and current capabilities.</a:t>
            </a:r>
          </a:p>
        </p:txBody>
      </p:sp>
      <p:sp>
        <p:nvSpPr>
          <p:cNvPr id="10" name="Rectangle 9"/>
          <p:cNvSpPr/>
          <p:nvPr/>
        </p:nvSpPr>
        <p:spPr>
          <a:xfrm>
            <a:off x="640080" y="1828800"/>
            <a:ext cx="2617470" cy="274320"/>
          </a:xfrm>
          <a:prstGeom prst="rect">
            <a:avLst/>
          </a:prstGeom>
          <a:solidFill>
            <a:srgbClr val="D8EFED"/>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688"/>
                </a:solidFill>
                <a:latin typeface="Arial"/>
              </a:defRPr>
            </a:pPr>
            <a:r>
              <a:t>Stream-Aligned</a:t>
            </a:r>
          </a:p>
        </p:txBody>
      </p:sp>
      <p:sp>
        <p:nvSpPr>
          <p:cNvPr id="11" name="TextBox 10"/>
          <p:cNvSpPr txBox="1"/>
          <p:nvPr/>
        </p:nvSpPr>
        <p:spPr>
          <a:xfrm>
            <a:off x="3275838" y="1828800"/>
            <a:ext cx="109728" cy="274320"/>
          </a:xfrm>
          <a:prstGeom prst="rect">
            <a:avLst/>
          </a:prstGeom>
          <a:noFill/>
        </p:spPr>
        <p:txBody>
          <a:bodyPr wrap="none" anchor="ctr">
            <a:spAutoFit/>
          </a:bodyPr>
          <a:lstStyle/>
          <a:p>
            <a:pPr algn="ctr">
              <a:defRPr sz="1000">
                <a:solidFill>
                  <a:srgbClr val="009688"/>
                </a:solidFill>
                <a:latin typeface="Arial"/>
              </a:defRPr>
            </a:pPr>
            <a:r>
              <a:t>→</a:t>
            </a:r>
          </a:p>
        </p:txBody>
      </p:sp>
      <p:sp>
        <p:nvSpPr>
          <p:cNvPr id="12" name="Rectangle 11"/>
          <p:cNvSpPr/>
          <p:nvPr/>
        </p:nvSpPr>
        <p:spPr>
          <a:xfrm>
            <a:off x="3394710" y="1828800"/>
            <a:ext cx="2617470" cy="274320"/>
          </a:xfrm>
          <a:prstGeom prst="rect">
            <a:avLst/>
          </a:prstGeom>
          <a:solidFill>
            <a:srgbClr val="D8EFED"/>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688"/>
                </a:solidFill>
                <a:latin typeface="Arial"/>
              </a:defRPr>
            </a:pPr>
            <a:r>
              <a:t>Enabling Team</a:t>
            </a:r>
          </a:p>
        </p:txBody>
      </p:sp>
      <p:sp>
        <p:nvSpPr>
          <p:cNvPr id="13" name="TextBox 12"/>
          <p:cNvSpPr txBox="1"/>
          <p:nvPr/>
        </p:nvSpPr>
        <p:spPr>
          <a:xfrm>
            <a:off x="6030468" y="1828800"/>
            <a:ext cx="109728" cy="274320"/>
          </a:xfrm>
          <a:prstGeom prst="rect">
            <a:avLst/>
          </a:prstGeom>
          <a:noFill/>
        </p:spPr>
        <p:txBody>
          <a:bodyPr wrap="none" anchor="ctr">
            <a:spAutoFit/>
          </a:bodyPr>
          <a:lstStyle/>
          <a:p>
            <a:pPr algn="ctr">
              <a:defRPr sz="1000">
                <a:solidFill>
                  <a:srgbClr val="009688"/>
                </a:solidFill>
                <a:latin typeface="Arial"/>
              </a:defRPr>
            </a:pPr>
            <a:r>
              <a:t>→</a:t>
            </a:r>
          </a:p>
        </p:txBody>
      </p:sp>
      <p:sp>
        <p:nvSpPr>
          <p:cNvPr id="14" name="Rectangle 13"/>
          <p:cNvSpPr/>
          <p:nvPr/>
        </p:nvSpPr>
        <p:spPr>
          <a:xfrm>
            <a:off x="6149340" y="1828800"/>
            <a:ext cx="2617470" cy="274320"/>
          </a:xfrm>
          <a:prstGeom prst="rect">
            <a:avLst/>
          </a:prstGeom>
          <a:solidFill>
            <a:srgbClr val="D8EFED"/>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688"/>
                </a:solidFill>
                <a:latin typeface="Arial"/>
              </a:defRPr>
            </a:pPr>
            <a:r>
              <a:t>Platform Team</a:t>
            </a:r>
          </a:p>
        </p:txBody>
      </p:sp>
      <p:sp>
        <p:nvSpPr>
          <p:cNvPr id="15" name="TextBox 14"/>
          <p:cNvSpPr txBox="1"/>
          <p:nvPr/>
        </p:nvSpPr>
        <p:spPr>
          <a:xfrm>
            <a:off x="8785098" y="1828800"/>
            <a:ext cx="109728" cy="274320"/>
          </a:xfrm>
          <a:prstGeom prst="rect">
            <a:avLst/>
          </a:prstGeom>
          <a:noFill/>
        </p:spPr>
        <p:txBody>
          <a:bodyPr wrap="none" anchor="ctr">
            <a:spAutoFit/>
          </a:bodyPr>
          <a:lstStyle/>
          <a:p>
            <a:pPr algn="ctr">
              <a:defRPr sz="1000">
                <a:solidFill>
                  <a:srgbClr val="009688"/>
                </a:solidFill>
                <a:latin typeface="Arial"/>
              </a:defRPr>
            </a:pPr>
            <a:r>
              <a:t>→</a:t>
            </a:r>
          </a:p>
        </p:txBody>
      </p:sp>
      <p:sp>
        <p:nvSpPr>
          <p:cNvPr id="16" name="Rectangle 15"/>
          <p:cNvSpPr/>
          <p:nvPr/>
        </p:nvSpPr>
        <p:spPr>
          <a:xfrm>
            <a:off x="8903970" y="1828800"/>
            <a:ext cx="2617470" cy="274320"/>
          </a:xfrm>
          <a:prstGeom prst="rect">
            <a:avLst/>
          </a:prstGeom>
          <a:solidFill>
            <a:srgbClr val="D8EFED"/>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9688"/>
                </a:solidFill>
                <a:latin typeface="Arial"/>
              </a:defRPr>
            </a:pPr>
            <a:r>
              <a:t>Complicated Subsystem</a:t>
            </a:r>
          </a:p>
        </p:txBody>
      </p:sp>
      <p:sp>
        <p:nvSpPr>
          <p:cNvPr id="17" name="TextBox 16"/>
          <p:cNvSpPr txBox="1"/>
          <p:nvPr/>
        </p:nvSpPr>
        <p:spPr>
          <a:xfrm>
            <a:off x="566928" y="2148840"/>
            <a:ext cx="11027664" cy="182880"/>
          </a:xfrm>
          <a:prstGeom prst="rect">
            <a:avLst/>
          </a:prstGeom>
          <a:noFill/>
        </p:spPr>
        <p:txBody>
          <a:bodyPr wrap="square">
            <a:spAutoFit/>
          </a:bodyPr>
          <a:lstStyle/>
          <a:p>
            <a:r>
              <a:rPr sz="700" b="1">
                <a:solidFill>
                  <a:srgbClr val="7F8C8D"/>
                </a:solidFill>
                <a:latin typeface="Arial"/>
              </a:rPr>
              <a:t>Swimlanes: </a:t>
            </a:r>
            <a:r>
              <a:rPr sz="700">
                <a:solidFill>
                  <a:srgbClr val="2C3E50"/>
                </a:solidFill>
                <a:latin typeface="Arial"/>
              </a:rPr>
              <a:t>Collaboration · X-as-a-Service · Facilitating</a:t>
            </a:r>
          </a:p>
        </p:txBody>
      </p:sp>
      <p:sp>
        <p:nvSpPr>
          <p:cNvPr id="18" name="TextBox 17"/>
          <p:cNvSpPr txBox="1"/>
          <p:nvPr/>
        </p:nvSpPr>
        <p:spPr>
          <a:xfrm>
            <a:off x="566928" y="249631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Interaction mode defines how teams relate structurally</a:t>
            </a:r>
          </a:p>
        </p:txBody>
      </p:sp>
      <p:sp>
        <p:nvSpPr>
          <p:cNvPr id="19" name="Rectangle 18"/>
          <p:cNvSpPr/>
          <p:nvPr/>
        </p:nvSpPr>
        <p:spPr>
          <a:xfrm>
            <a:off x="457200" y="2788920"/>
            <a:ext cx="11247120" cy="1600200"/>
          </a:xfrm>
          <a:prstGeom prst="rect">
            <a:avLst/>
          </a:prstGeom>
          <a:solidFill>
            <a:srgbClr val="F5F5F5"/>
          </a:solidFill>
          <a:ln w="12700">
            <a:solidFill>
              <a:srgbClr val="00B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788920"/>
            <a:ext cx="11247120" cy="320040"/>
          </a:xfrm>
          <a:prstGeom prst="rect">
            <a:avLst/>
          </a:prstGeom>
          <a:solidFill>
            <a:srgbClr val="00B8A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Deployment Methodology</a:t>
            </a:r>
          </a:p>
        </p:txBody>
      </p:sp>
      <p:sp>
        <p:nvSpPr>
          <p:cNvPr id="21" name="TextBox 20"/>
          <p:cNvSpPr txBox="1"/>
          <p:nvPr/>
        </p:nvSpPr>
        <p:spPr>
          <a:xfrm>
            <a:off x="566928" y="3154680"/>
            <a:ext cx="11027664" cy="320040"/>
          </a:xfrm>
          <a:prstGeom prst="rect">
            <a:avLst/>
          </a:prstGeom>
          <a:noFill/>
        </p:spPr>
        <p:txBody>
          <a:bodyPr wrap="square">
            <a:spAutoFit/>
          </a:bodyPr>
          <a:lstStyle/>
          <a:p>
            <a:pPr>
              <a:defRPr sz="700">
                <a:solidFill>
                  <a:srgbClr val="2C3E50"/>
                </a:solidFill>
                <a:latin typeface="Arial"/>
              </a:defRPr>
            </a:pPr>
            <a:r>
              <a:t>Rollout-iterative strategy based on experience. Learn from each phase before expanding. Sapiens Learning Cycles for implementation.</a:t>
            </a:r>
          </a:p>
        </p:txBody>
      </p:sp>
      <p:sp>
        <p:nvSpPr>
          <p:cNvPr id="22" name="Rectangle 21"/>
          <p:cNvSpPr/>
          <p:nvPr/>
        </p:nvSpPr>
        <p:spPr>
          <a:xfrm>
            <a:off x="640080" y="3520440"/>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B8A0"/>
                </a:solidFill>
                <a:latin typeface="Arial"/>
              </a:defRPr>
            </a:pPr>
            <a:r>
              <a:t>Assessment (ODAS)</a:t>
            </a:r>
          </a:p>
        </p:txBody>
      </p:sp>
      <p:sp>
        <p:nvSpPr>
          <p:cNvPr id="23" name="TextBox 22"/>
          <p:cNvSpPr txBox="1"/>
          <p:nvPr/>
        </p:nvSpPr>
        <p:spPr>
          <a:xfrm>
            <a:off x="2724912" y="3520440"/>
            <a:ext cx="109728" cy="274320"/>
          </a:xfrm>
          <a:prstGeom prst="rect">
            <a:avLst/>
          </a:prstGeom>
          <a:noFill/>
        </p:spPr>
        <p:txBody>
          <a:bodyPr wrap="none" anchor="ctr">
            <a:spAutoFit/>
          </a:bodyPr>
          <a:lstStyle/>
          <a:p>
            <a:pPr algn="ctr">
              <a:defRPr sz="1000">
                <a:solidFill>
                  <a:srgbClr val="00B8A0"/>
                </a:solidFill>
                <a:latin typeface="Arial"/>
              </a:defRPr>
            </a:pPr>
            <a:r>
              <a:t>→</a:t>
            </a:r>
          </a:p>
        </p:txBody>
      </p:sp>
      <p:sp>
        <p:nvSpPr>
          <p:cNvPr id="24" name="Rectangle 23"/>
          <p:cNvSpPr/>
          <p:nvPr/>
        </p:nvSpPr>
        <p:spPr>
          <a:xfrm>
            <a:off x="2843784" y="3520440"/>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B8A0"/>
                </a:solidFill>
                <a:latin typeface="Arial"/>
              </a:defRPr>
            </a:pPr>
            <a:r>
              <a:t>Preparation</a:t>
            </a:r>
          </a:p>
        </p:txBody>
      </p:sp>
      <p:sp>
        <p:nvSpPr>
          <p:cNvPr id="25" name="TextBox 24"/>
          <p:cNvSpPr txBox="1"/>
          <p:nvPr/>
        </p:nvSpPr>
        <p:spPr>
          <a:xfrm>
            <a:off x="4928616" y="3520440"/>
            <a:ext cx="109728" cy="274320"/>
          </a:xfrm>
          <a:prstGeom prst="rect">
            <a:avLst/>
          </a:prstGeom>
          <a:noFill/>
        </p:spPr>
        <p:txBody>
          <a:bodyPr wrap="none" anchor="ctr">
            <a:spAutoFit/>
          </a:bodyPr>
          <a:lstStyle/>
          <a:p>
            <a:pPr algn="ctr">
              <a:defRPr sz="1000">
                <a:solidFill>
                  <a:srgbClr val="00B8A0"/>
                </a:solidFill>
                <a:latin typeface="Arial"/>
              </a:defRPr>
            </a:pPr>
            <a:r>
              <a:t>→</a:t>
            </a:r>
          </a:p>
        </p:txBody>
      </p:sp>
      <p:sp>
        <p:nvSpPr>
          <p:cNvPr id="26" name="Rectangle 25"/>
          <p:cNvSpPr/>
          <p:nvPr/>
        </p:nvSpPr>
        <p:spPr>
          <a:xfrm>
            <a:off x="5047488" y="3520440"/>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B8A0"/>
                </a:solidFill>
                <a:latin typeface="Arial"/>
              </a:defRPr>
            </a:pPr>
            <a:r>
              <a:t>Kanban Rollout</a:t>
            </a:r>
          </a:p>
        </p:txBody>
      </p:sp>
      <p:sp>
        <p:nvSpPr>
          <p:cNvPr id="27" name="TextBox 26"/>
          <p:cNvSpPr txBox="1"/>
          <p:nvPr/>
        </p:nvSpPr>
        <p:spPr>
          <a:xfrm>
            <a:off x="7132320" y="3520440"/>
            <a:ext cx="109728" cy="274320"/>
          </a:xfrm>
          <a:prstGeom prst="rect">
            <a:avLst/>
          </a:prstGeom>
          <a:noFill/>
        </p:spPr>
        <p:txBody>
          <a:bodyPr wrap="none" anchor="ctr">
            <a:spAutoFit/>
          </a:bodyPr>
          <a:lstStyle/>
          <a:p>
            <a:pPr algn="ctr">
              <a:defRPr sz="1000">
                <a:solidFill>
                  <a:srgbClr val="00B8A0"/>
                </a:solidFill>
                <a:latin typeface="Arial"/>
              </a:defRPr>
            </a:pPr>
            <a:r>
              <a:t>→</a:t>
            </a:r>
          </a:p>
        </p:txBody>
      </p:sp>
      <p:sp>
        <p:nvSpPr>
          <p:cNvPr id="28" name="Rectangle 27"/>
          <p:cNvSpPr/>
          <p:nvPr/>
        </p:nvSpPr>
        <p:spPr>
          <a:xfrm>
            <a:off x="7251192" y="3520440"/>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B8A0"/>
                </a:solidFill>
                <a:latin typeface="Arial"/>
              </a:defRPr>
            </a:pPr>
            <a:r>
              <a:t>Portfolio Design</a:t>
            </a:r>
          </a:p>
        </p:txBody>
      </p:sp>
      <p:sp>
        <p:nvSpPr>
          <p:cNvPr id="29" name="TextBox 28"/>
          <p:cNvSpPr txBox="1"/>
          <p:nvPr/>
        </p:nvSpPr>
        <p:spPr>
          <a:xfrm>
            <a:off x="9336024" y="3520440"/>
            <a:ext cx="109728" cy="274320"/>
          </a:xfrm>
          <a:prstGeom prst="rect">
            <a:avLst/>
          </a:prstGeom>
          <a:noFill/>
        </p:spPr>
        <p:txBody>
          <a:bodyPr wrap="none" anchor="ctr">
            <a:spAutoFit/>
          </a:bodyPr>
          <a:lstStyle/>
          <a:p>
            <a:pPr algn="ctr">
              <a:defRPr sz="1000">
                <a:solidFill>
                  <a:srgbClr val="00B8A0"/>
                </a:solidFill>
                <a:latin typeface="Arial"/>
              </a:defRPr>
            </a:pPr>
            <a:r>
              <a:t>→</a:t>
            </a:r>
          </a:p>
        </p:txBody>
      </p:sp>
      <p:sp>
        <p:nvSpPr>
          <p:cNvPr id="30" name="Rectangle 29"/>
          <p:cNvSpPr/>
          <p:nvPr/>
        </p:nvSpPr>
        <p:spPr>
          <a:xfrm>
            <a:off x="9454896" y="3520440"/>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00B8A0"/>
                </a:solidFill>
                <a:latin typeface="Arial"/>
              </a:defRPr>
            </a:pPr>
            <a:r>
              <a:t>Stabilization</a:t>
            </a:r>
          </a:p>
        </p:txBody>
      </p:sp>
      <p:sp>
        <p:nvSpPr>
          <p:cNvPr id="31" name="TextBox 30"/>
          <p:cNvSpPr txBox="1"/>
          <p:nvPr/>
        </p:nvSpPr>
        <p:spPr>
          <a:xfrm>
            <a:off x="566928" y="418795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Sapiens Learning Cycles · Coaching Sessions · Flow Metrics Review</a:t>
            </a:r>
          </a:p>
        </p:txBody>
      </p:sp>
      <p:sp>
        <p:nvSpPr>
          <p:cNvPr id="32" name="TextBox 31"/>
          <p:cNvSpPr txBox="1"/>
          <p:nvPr/>
        </p:nvSpPr>
        <p:spPr>
          <a:xfrm>
            <a:off x="457200" y="4617720"/>
            <a:ext cx="10972800" cy="228600"/>
          </a:xfrm>
          <a:prstGeom prst="rect">
            <a:avLst/>
          </a:prstGeom>
          <a:noFill/>
        </p:spPr>
        <p:txBody>
          <a:bodyPr wrap="none">
            <a:spAutoFit/>
          </a:bodyPr>
          <a:lstStyle/>
          <a:p>
            <a:pPr>
              <a:defRPr sz="1000" b="1">
                <a:solidFill>
                  <a:srgbClr val="009688"/>
                </a:solidFill>
                <a:latin typeface="Arial"/>
              </a:defRPr>
            </a:pPr>
            <a:r>
              <a:t>E2E Lifecycle Phases</a:t>
            </a:r>
          </a:p>
        </p:txBody>
      </p:sp>
      <p:sp>
        <p:nvSpPr>
          <p:cNvPr id="33" name="Rectangle 32"/>
          <p:cNvSpPr/>
          <p:nvPr/>
        </p:nvSpPr>
        <p:spPr>
          <a:xfrm>
            <a:off x="457200" y="4892040"/>
            <a:ext cx="2708910" cy="1005840"/>
          </a:xfrm>
          <a:prstGeom prst="rect">
            <a:avLst/>
          </a:prstGeom>
          <a:solidFill>
            <a:srgbClr val="F5F5F5"/>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892040"/>
            <a:ext cx="2708910" cy="2560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Pilot (1 team)</a:t>
            </a:r>
          </a:p>
        </p:txBody>
      </p:sp>
      <p:sp>
        <p:nvSpPr>
          <p:cNvPr id="35" name="TextBox 34"/>
          <p:cNvSpPr txBox="1"/>
          <p:nvPr/>
        </p:nvSpPr>
        <p:spPr>
          <a:xfrm>
            <a:off x="530352" y="5184648"/>
            <a:ext cx="2562606" cy="457200"/>
          </a:xfrm>
          <a:prstGeom prst="rect">
            <a:avLst/>
          </a:prstGeom>
          <a:noFill/>
        </p:spPr>
        <p:txBody>
          <a:bodyPr wrap="square">
            <a:spAutoFit/>
          </a:bodyPr>
          <a:lstStyle/>
          <a:p>
            <a:pPr>
              <a:defRPr sz="700">
                <a:solidFill>
                  <a:srgbClr val="2C3E50"/>
                </a:solidFill>
                <a:latin typeface="Arial"/>
              </a:defRPr>
            </a:pPr>
            <a:r>
              <a:t>ODAS Assessment · Team Blueprint · Kanban Design · Close Coaching</a:t>
            </a:r>
          </a:p>
        </p:txBody>
      </p:sp>
      <p:sp>
        <p:nvSpPr>
          <p:cNvPr id="36" name="TextBox 35"/>
          <p:cNvSpPr txBox="1"/>
          <p:nvPr/>
        </p:nvSpPr>
        <p:spPr>
          <a:xfrm>
            <a:off x="530352" y="564184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Flow Metrics Baseline</a:t>
            </a:r>
          </a:p>
        </p:txBody>
      </p:sp>
      <p:sp>
        <p:nvSpPr>
          <p:cNvPr id="37" name="TextBox 36"/>
          <p:cNvSpPr txBox="1"/>
          <p:nvPr/>
        </p:nvSpPr>
        <p:spPr>
          <a:xfrm>
            <a:off x="3175254" y="5257800"/>
            <a:ext cx="118872" cy="274320"/>
          </a:xfrm>
          <a:prstGeom prst="rect">
            <a:avLst/>
          </a:prstGeom>
          <a:noFill/>
        </p:spPr>
        <p:txBody>
          <a:bodyPr wrap="none" anchor="ctr">
            <a:spAutoFit/>
          </a:bodyPr>
          <a:lstStyle/>
          <a:p>
            <a:pPr algn="ctr">
              <a:defRPr sz="1400">
                <a:solidFill>
                  <a:srgbClr val="009688"/>
                </a:solidFill>
                <a:latin typeface="Arial"/>
              </a:defRPr>
            </a:pPr>
            <a:r>
              <a:t>→</a:t>
            </a:r>
          </a:p>
        </p:txBody>
      </p:sp>
      <p:sp>
        <p:nvSpPr>
          <p:cNvPr id="38" name="Rectangle 37"/>
          <p:cNvSpPr/>
          <p:nvPr/>
        </p:nvSpPr>
        <p:spPr>
          <a:xfrm>
            <a:off x="3303270" y="4892040"/>
            <a:ext cx="2708910" cy="1005840"/>
          </a:xfrm>
          <a:prstGeom prst="rect">
            <a:avLst/>
          </a:prstGeom>
          <a:solidFill>
            <a:srgbClr val="F5F5F5"/>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03270" y="4892040"/>
            <a:ext cx="2708910" cy="2560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Learn &amp; Measure</a:t>
            </a:r>
          </a:p>
        </p:txBody>
      </p:sp>
      <p:sp>
        <p:nvSpPr>
          <p:cNvPr id="40" name="TextBox 39"/>
          <p:cNvSpPr txBox="1"/>
          <p:nvPr/>
        </p:nvSpPr>
        <p:spPr>
          <a:xfrm>
            <a:off x="3376422" y="5184648"/>
            <a:ext cx="2562606" cy="457200"/>
          </a:xfrm>
          <a:prstGeom prst="rect">
            <a:avLst/>
          </a:prstGeom>
          <a:noFill/>
        </p:spPr>
        <p:txBody>
          <a:bodyPr wrap="square">
            <a:spAutoFit/>
          </a:bodyPr>
          <a:lstStyle/>
          <a:p>
            <a:pPr>
              <a:defRPr sz="700">
                <a:solidFill>
                  <a:srgbClr val="2C3E50"/>
                </a:solidFill>
                <a:latin typeface="Arial"/>
              </a:defRPr>
            </a:pPr>
            <a:r>
              <a:t>Lead Time · Cycle Time · Throughput · Team Health</a:t>
            </a:r>
          </a:p>
        </p:txBody>
      </p:sp>
      <p:sp>
        <p:nvSpPr>
          <p:cNvPr id="41" name="TextBox 40"/>
          <p:cNvSpPr txBox="1"/>
          <p:nvPr/>
        </p:nvSpPr>
        <p:spPr>
          <a:xfrm>
            <a:off x="3376422" y="564184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Results Report</a:t>
            </a:r>
          </a:p>
        </p:txBody>
      </p:sp>
      <p:sp>
        <p:nvSpPr>
          <p:cNvPr id="42" name="TextBox 41"/>
          <p:cNvSpPr txBox="1"/>
          <p:nvPr/>
        </p:nvSpPr>
        <p:spPr>
          <a:xfrm>
            <a:off x="6021324" y="5257800"/>
            <a:ext cx="118872" cy="274320"/>
          </a:xfrm>
          <a:prstGeom prst="rect">
            <a:avLst/>
          </a:prstGeom>
          <a:noFill/>
        </p:spPr>
        <p:txBody>
          <a:bodyPr wrap="none" anchor="ctr">
            <a:spAutoFit/>
          </a:bodyPr>
          <a:lstStyle/>
          <a:p>
            <a:pPr algn="ctr">
              <a:defRPr sz="1400">
                <a:solidFill>
                  <a:srgbClr val="009688"/>
                </a:solidFill>
                <a:latin typeface="Arial"/>
              </a:defRPr>
            </a:pPr>
            <a:r>
              <a:t>→</a:t>
            </a:r>
          </a:p>
        </p:txBody>
      </p:sp>
      <p:sp>
        <p:nvSpPr>
          <p:cNvPr id="43" name="Rectangle 42"/>
          <p:cNvSpPr/>
          <p:nvPr/>
        </p:nvSpPr>
        <p:spPr>
          <a:xfrm>
            <a:off x="6149340" y="4892040"/>
            <a:ext cx="2708910" cy="1005840"/>
          </a:xfrm>
          <a:prstGeom prst="rect">
            <a:avLst/>
          </a:prstGeom>
          <a:solidFill>
            <a:srgbClr val="F5F5F5"/>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49340" y="4892040"/>
            <a:ext cx="2708910" cy="2560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Expansion (7+ teams)</a:t>
            </a:r>
          </a:p>
        </p:txBody>
      </p:sp>
      <p:sp>
        <p:nvSpPr>
          <p:cNvPr id="45" name="TextBox 44"/>
          <p:cNvSpPr txBox="1"/>
          <p:nvPr/>
        </p:nvSpPr>
        <p:spPr>
          <a:xfrm>
            <a:off x="6222492" y="5184648"/>
            <a:ext cx="2562606" cy="457200"/>
          </a:xfrm>
          <a:prstGeom prst="rect">
            <a:avLst/>
          </a:prstGeom>
          <a:noFill/>
        </p:spPr>
        <p:txBody>
          <a:bodyPr wrap="square">
            <a:spAutoFit/>
          </a:bodyPr>
          <a:lstStyle/>
          <a:p>
            <a:pPr>
              <a:defRPr sz="700">
                <a:solidFill>
                  <a:srgbClr val="2C3E50"/>
                </a:solidFill>
                <a:latin typeface="Arial"/>
              </a:defRPr>
            </a:pPr>
            <a:r>
              <a:t>Sapiens Learning Cycle · Team Coaching · Knowledge Transfer</a:t>
            </a:r>
          </a:p>
        </p:txBody>
      </p:sp>
      <p:sp>
        <p:nvSpPr>
          <p:cNvPr id="46" name="TextBox 45"/>
          <p:cNvSpPr txBox="1"/>
          <p:nvPr/>
        </p:nvSpPr>
        <p:spPr>
          <a:xfrm>
            <a:off x="6222492" y="564184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Expansion Readiness</a:t>
            </a:r>
          </a:p>
        </p:txBody>
      </p:sp>
      <p:sp>
        <p:nvSpPr>
          <p:cNvPr id="47" name="TextBox 46"/>
          <p:cNvSpPr txBox="1"/>
          <p:nvPr/>
        </p:nvSpPr>
        <p:spPr>
          <a:xfrm>
            <a:off x="8867394" y="5257800"/>
            <a:ext cx="118872" cy="274320"/>
          </a:xfrm>
          <a:prstGeom prst="rect">
            <a:avLst/>
          </a:prstGeom>
          <a:noFill/>
        </p:spPr>
        <p:txBody>
          <a:bodyPr wrap="none" anchor="ctr">
            <a:spAutoFit/>
          </a:bodyPr>
          <a:lstStyle/>
          <a:p>
            <a:pPr algn="ctr">
              <a:defRPr sz="1400">
                <a:solidFill>
                  <a:srgbClr val="009688"/>
                </a:solidFill>
                <a:latin typeface="Arial"/>
              </a:defRPr>
            </a:pPr>
            <a:r>
              <a:t>→</a:t>
            </a:r>
          </a:p>
        </p:txBody>
      </p:sp>
      <p:sp>
        <p:nvSpPr>
          <p:cNvPr id="48" name="Rectangle 47"/>
          <p:cNvSpPr/>
          <p:nvPr/>
        </p:nvSpPr>
        <p:spPr>
          <a:xfrm>
            <a:off x="8995410" y="4892040"/>
            <a:ext cx="2708910" cy="1005840"/>
          </a:xfrm>
          <a:prstGeom prst="rect">
            <a:avLst/>
          </a:prstGeom>
          <a:solidFill>
            <a:srgbClr val="F5F5F5"/>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95410" y="4892040"/>
            <a:ext cx="2708910" cy="2560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Optimization</a:t>
            </a:r>
          </a:p>
        </p:txBody>
      </p:sp>
      <p:sp>
        <p:nvSpPr>
          <p:cNvPr id="50" name="TextBox 49"/>
          <p:cNvSpPr txBox="1"/>
          <p:nvPr/>
        </p:nvSpPr>
        <p:spPr>
          <a:xfrm>
            <a:off x="9068562" y="5184648"/>
            <a:ext cx="2562606" cy="457200"/>
          </a:xfrm>
          <a:prstGeom prst="rect">
            <a:avLst/>
          </a:prstGeom>
          <a:noFill/>
        </p:spPr>
        <p:txBody>
          <a:bodyPr wrap="square">
            <a:spAutoFit/>
          </a:bodyPr>
          <a:lstStyle/>
          <a:p>
            <a:pPr>
              <a:defRPr sz="700">
                <a:solidFill>
                  <a:srgbClr val="2C3E50"/>
                </a:solidFill>
                <a:latin typeface="Arial"/>
              </a:defRPr>
            </a:pPr>
            <a:r>
              <a:t>Portfolio Roadmap · Investment Model · Continuous Improvement</a:t>
            </a:r>
          </a:p>
        </p:txBody>
      </p:sp>
      <p:sp>
        <p:nvSpPr>
          <p:cNvPr id="51" name="TextBox 50"/>
          <p:cNvSpPr txBox="1"/>
          <p:nvPr/>
        </p:nvSpPr>
        <p:spPr>
          <a:xfrm>
            <a:off x="9068562" y="564184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Maturity Assessment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74320"/>
            <a:ext cx="54864" cy="457200"/>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
            <a:ext cx="10058400" cy="640080"/>
          </a:xfrm>
          <a:prstGeom prst="rect">
            <a:avLst/>
          </a:prstGeom>
          <a:noFill/>
        </p:spPr>
        <p:txBody>
          <a:bodyPr wrap="square">
            <a:spAutoFit/>
          </a:bodyPr>
          <a:lstStyle/>
          <a:p>
            <a:pPr>
              <a:defRPr sz="1600" b="1">
                <a:solidFill>
                  <a:srgbClr val="D46B08"/>
                </a:solidFill>
                <a:latin typeface="Arial"/>
              </a:defRPr>
            </a:pPr>
            <a:r>
              <a:t>Renewables DTO — Lean Kanban 4-Pillar Model</a:t>
            </a:r>
          </a:p>
          <a:p>
            <a:pPr>
              <a:defRPr sz="900">
                <a:solidFill>
                  <a:srgbClr val="7F8C8D"/>
                </a:solidFill>
                <a:latin typeface="Arial"/>
              </a:defRPr>
            </a:pPr>
            <a:r>
              <a:t>4 pillars: Demand Intake → Prioritization → Delivery → Governance. Jira as single source of truth. Pull-based execution with WIP limits. 2-level board design.</a:t>
            </a:r>
          </a:p>
        </p:txBody>
      </p:sp>
      <p:sp>
        <p:nvSpPr>
          <p:cNvPr id="6" name="Rectangle 5"/>
          <p:cNvSpPr/>
          <p:nvPr/>
        </p:nvSpPr>
        <p:spPr>
          <a:xfrm>
            <a:off x="0" y="6492240"/>
            <a:ext cx="12191695"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800">
                <a:solidFill>
                  <a:srgbClr val="FFFFFF"/>
                </a:solidFill>
                <a:latin typeface="Arial"/>
              </a:defRPr>
            </a:pPr>
            <a:r>
              <a:t>Confidential</a:t>
            </a:r>
          </a:p>
        </p:txBody>
      </p:sp>
      <p:sp>
        <p:nvSpPr>
          <p:cNvPr id="7" name="Rectangle 6"/>
          <p:cNvSpPr/>
          <p:nvPr/>
        </p:nvSpPr>
        <p:spPr>
          <a:xfrm>
            <a:off x="457200" y="1097280"/>
            <a:ext cx="11247120" cy="1600200"/>
          </a:xfrm>
          <a:prstGeom prst="rect">
            <a:avLst/>
          </a:prstGeom>
          <a:solidFill>
            <a:srgbClr val="F5F5F5"/>
          </a:solidFill>
          <a:ln w="1270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11247120" cy="320040"/>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Level 1 — Epic Kanban (Portfolio)</a:t>
            </a:r>
          </a:p>
        </p:txBody>
      </p:sp>
      <p:sp>
        <p:nvSpPr>
          <p:cNvPr id="9" name="TextBox 8"/>
          <p:cNvSpPr txBox="1"/>
          <p:nvPr/>
        </p:nvSpPr>
        <p:spPr>
          <a:xfrm>
            <a:off x="566928" y="1463040"/>
            <a:ext cx="11027664" cy="320040"/>
          </a:xfrm>
          <a:prstGeom prst="rect">
            <a:avLst/>
          </a:prstGeom>
          <a:noFill/>
        </p:spPr>
        <p:txBody>
          <a:bodyPr wrap="square">
            <a:spAutoFit/>
          </a:bodyPr>
          <a:lstStyle/>
          <a:p>
            <a:pPr>
              <a:defRPr sz="700">
                <a:solidFill>
                  <a:srgbClr val="2C3E50"/>
                </a:solidFill>
                <a:latin typeface="Arial"/>
              </a:defRPr>
            </a:pPr>
            <a:r>
              <a:t>Connects strategy to execution. Ideas evaluated by DTO Project Committee. Swimlanes by business area.</a:t>
            </a:r>
          </a:p>
        </p:txBody>
      </p:sp>
      <p:sp>
        <p:nvSpPr>
          <p:cNvPr id="10" name="Rectangle 9"/>
          <p:cNvSpPr/>
          <p:nvPr/>
        </p:nvSpPr>
        <p:spPr>
          <a:xfrm>
            <a:off x="640080" y="1828800"/>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D46B08"/>
                </a:solidFill>
                <a:latin typeface="Arial"/>
              </a:defRPr>
            </a:pPr>
            <a:r>
              <a:t>Backlog</a:t>
            </a:r>
          </a:p>
        </p:txBody>
      </p:sp>
      <p:sp>
        <p:nvSpPr>
          <p:cNvPr id="11" name="TextBox 10"/>
          <p:cNvSpPr txBox="1"/>
          <p:nvPr/>
        </p:nvSpPr>
        <p:spPr>
          <a:xfrm>
            <a:off x="2357628" y="1828800"/>
            <a:ext cx="109728" cy="274320"/>
          </a:xfrm>
          <a:prstGeom prst="rect">
            <a:avLst/>
          </a:prstGeom>
          <a:noFill/>
        </p:spPr>
        <p:txBody>
          <a:bodyPr wrap="none" anchor="ctr">
            <a:spAutoFit/>
          </a:bodyPr>
          <a:lstStyle/>
          <a:p>
            <a:pPr algn="ctr">
              <a:defRPr sz="1000">
                <a:solidFill>
                  <a:srgbClr val="D46B08"/>
                </a:solidFill>
                <a:latin typeface="Arial"/>
              </a:defRPr>
            </a:pPr>
            <a:r>
              <a:t>→</a:t>
            </a:r>
          </a:p>
        </p:txBody>
      </p:sp>
      <p:sp>
        <p:nvSpPr>
          <p:cNvPr id="12" name="Rectangle 11"/>
          <p:cNvSpPr/>
          <p:nvPr/>
        </p:nvSpPr>
        <p:spPr>
          <a:xfrm>
            <a:off x="2476500" y="1828800"/>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D46B08"/>
                </a:solidFill>
                <a:latin typeface="Arial"/>
              </a:defRPr>
            </a:pPr>
            <a:r>
              <a:t>PMO</a:t>
            </a:r>
          </a:p>
        </p:txBody>
      </p:sp>
      <p:sp>
        <p:nvSpPr>
          <p:cNvPr id="13" name="TextBox 12"/>
          <p:cNvSpPr txBox="1"/>
          <p:nvPr/>
        </p:nvSpPr>
        <p:spPr>
          <a:xfrm>
            <a:off x="4194048" y="1828800"/>
            <a:ext cx="109728" cy="274320"/>
          </a:xfrm>
          <a:prstGeom prst="rect">
            <a:avLst/>
          </a:prstGeom>
          <a:noFill/>
        </p:spPr>
        <p:txBody>
          <a:bodyPr wrap="none" anchor="ctr">
            <a:spAutoFit/>
          </a:bodyPr>
          <a:lstStyle/>
          <a:p>
            <a:pPr algn="ctr">
              <a:defRPr sz="1000">
                <a:solidFill>
                  <a:srgbClr val="D46B08"/>
                </a:solidFill>
                <a:latin typeface="Arial"/>
              </a:defRPr>
            </a:pPr>
            <a:r>
              <a:t>→</a:t>
            </a:r>
          </a:p>
        </p:txBody>
      </p:sp>
      <p:sp>
        <p:nvSpPr>
          <p:cNvPr id="14" name="Rectangle 13"/>
          <p:cNvSpPr/>
          <p:nvPr/>
        </p:nvSpPr>
        <p:spPr>
          <a:xfrm>
            <a:off x="4312920" y="1828800"/>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D46B08"/>
                </a:solidFill>
                <a:latin typeface="Arial"/>
              </a:defRPr>
            </a:pPr>
            <a:r>
              <a:t>Project Prep</a:t>
            </a:r>
          </a:p>
        </p:txBody>
      </p:sp>
      <p:sp>
        <p:nvSpPr>
          <p:cNvPr id="15" name="TextBox 14"/>
          <p:cNvSpPr txBox="1"/>
          <p:nvPr/>
        </p:nvSpPr>
        <p:spPr>
          <a:xfrm>
            <a:off x="6030468" y="1828800"/>
            <a:ext cx="109728" cy="274320"/>
          </a:xfrm>
          <a:prstGeom prst="rect">
            <a:avLst/>
          </a:prstGeom>
          <a:noFill/>
        </p:spPr>
        <p:txBody>
          <a:bodyPr wrap="none" anchor="ctr">
            <a:spAutoFit/>
          </a:bodyPr>
          <a:lstStyle/>
          <a:p>
            <a:pPr algn="ctr">
              <a:defRPr sz="1000">
                <a:solidFill>
                  <a:srgbClr val="D46B08"/>
                </a:solidFill>
                <a:latin typeface="Arial"/>
              </a:defRPr>
            </a:pPr>
            <a:r>
              <a:t>→</a:t>
            </a:r>
          </a:p>
        </p:txBody>
      </p:sp>
      <p:sp>
        <p:nvSpPr>
          <p:cNvPr id="16" name="Rectangle 15"/>
          <p:cNvSpPr/>
          <p:nvPr/>
        </p:nvSpPr>
        <p:spPr>
          <a:xfrm>
            <a:off x="6149340" y="1828800"/>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D46B08"/>
                </a:solidFill>
                <a:latin typeface="Arial"/>
              </a:defRPr>
            </a:pPr>
            <a:r>
              <a:t>Ready</a:t>
            </a:r>
          </a:p>
        </p:txBody>
      </p:sp>
      <p:sp>
        <p:nvSpPr>
          <p:cNvPr id="17" name="TextBox 16"/>
          <p:cNvSpPr txBox="1"/>
          <p:nvPr/>
        </p:nvSpPr>
        <p:spPr>
          <a:xfrm>
            <a:off x="7866888" y="1828800"/>
            <a:ext cx="109728" cy="274320"/>
          </a:xfrm>
          <a:prstGeom prst="rect">
            <a:avLst/>
          </a:prstGeom>
          <a:noFill/>
        </p:spPr>
        <p:txBody>
          <a:bodyPr wrap="none" anchor="ctr">
            <a:spAutoFit/>
          </a:bodyPr>
          <a:lstStyle/>
          <a:p>
            <a:pPr algn="ctr">
              <a:defRPr sz="1000">
                <a:solidFill>
                  <a:srgbClr val="D46B08"/>
                </a:solidFill>
                <a:latin typeface="Arial"/>
              </a:defRPr>
            </a:pPr>
            <a:r>
              <a:t>→</a:t>
            </a:r>
          </a:p>
        </p:txBody>
      </p:sp>
      <p:sp>
        <p:nvSpPr>
          <p:cNvPr id="18" name="Rectangle 17"/>
          <p:cNvSpPr/>
          <p:nvPr/>
        </p:nvSpPr>
        <p:spPr>
          <a:xfrm>
            <a:off x="7985760" y="1828800"/>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D46B08"/>
                </a:solidFill>
                <a:latin typeface="Arial"/>
              </a:defRPr>
            </a:pPr>
            <a:r>
              <a:t>Design &amp; Build</a:t>
            </a:r>
          </a:p>
        </p:txBody>
      </p:sp>
      <p:sp>
        <p:nvSpPr>
          <p:cNvPr id="19" name="TextBox 18"/>
          <p:cNvSpPr txBox="1"/>
          <p:nvPr/>
        </p:nvSpPr>
        <p:spPr>
          <a:xfrm>
            <a:off x="9703308" y="1828800"/>
            <a:ext cx="109728" cy="274320"/>
          </a:xfrm>
          <a:prstGeom prst="rect">
            <a:avLst/>
          </a:prstGeom>
          <a:noFill/>
        </p:spPr>
        <p:txBody>
          <a:bodyPr wrap="none" anchor="ctr">
            <a:spAutoFit/>
          </a:bodyPr>
          <a:lstStyle/>
          <a:p>
            <a:pPr algn="ctr">
              <a:defRPr sz="1000">
                <a:solidFill>
                  <a:srgbClr val="D46B08"/>
                </a:solidFill>
                <a:latin typeface="Arial"/>
              </a:defRPr>
            </a:pPr>
            <a:r>
              <a:t>→</a:t>
            </a:r>
          </a:p>
        </p:txBody>
      </p:sp>
      <p:sp>
        <p:nvSpPr>
          <p:cNvPr id="20" name="Rectangle 19"/>
          <p:cNvSpPr/>
          <p:nvPr/>
        </p:nvSpPr>
        <p:spPr>
          <a:xfrm>
            <a:off x="9822180" y="1828800"/>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D46B08"/>
                </a:solidFill>
                <a:latin typeface="Arial"/>
              </a:defRPr>
            </a:pPr>
            <a:r>
              <a:t>Done</a:t>
            </a:r>
          </a:p>
        </p:txBody>
      </p:sp>
      <p:sp>
        <p:nvSpPr>
          <p:cNvPr id="21" name="TextBox 20"/>
          <p:cNvSpPr txBox="1"/>
          <p:nvPr/>
        </p:nvSpPr>
        <p:spPr>
          <a:xfrm>
            <a:off x="566928" y="2148840"/>
            <a:ext cx="11027664" cy="182880"/>
          </a:xfrm>
          <a:prstGeom prst="rect">
            <a:avLst/>
          </a:prstGeom>
          <a:noFill/>
        </p:spPr>
        <p:txBody>
          <a:bodyPr wrap="square">
            <a:spAutoFit/>
          </a:bodyPr>
          <a:lstStyle/>
          <a:p>
            <a:r>
              <a:rPr sz="700" b="1">
                <a:solidFill>
                  <a:srgbClr val="7F8C8D"/>
                </a:solidFill>
                <a:latin typeface="Arial"/>
              </a:rPr>
              <a:t>Swimlanes: </a:t>
            </a:r>
            <a:r>
              <a:rPr sz="700">
                <a:solidFill>
                  <a:srgbClr val="2C3E50"/>
                </a:solidFill>
                <a:latin typeface="Arial"/>
              </a:rPr>
              <a:t>Growth (Product) · Power Trading · O&amp;M · Canceled</a:t>
            </a:r>
          </a:p>
        </p:txBody>
      </p:sp>
      <p:sp>
        <p:nvSpPr>
          <p:cNvPr id="22" name="TextBox 21"/>
          <p:cNvSpPr txBox="1"/>
          <p:nvPr/>
        </p:nvSpPr>
        <p:spPr>
          <a:xfrm>
            <a:off x="566928" y="249631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DTO Project Committee · Replenishment Meeting</a:t>
            </a:r>
          </a:p>
        </p:txBody>
      </p:sp>
      <p:sp>
        <p:nvSpPr>
          <p:cNvPr id="23" name="Rectangle 22"/>
          <p:cNvSpPr/>
          <p:nvPr/>
        </p:nvSpPr>
        <p:spPr>
          <a:xfrm>
            <a:off x="457200" y="2788920"/>
            <a:ext cx="11247120" cy="1600200"/>
          </a:xfrm>
          <a:prstGeom prst="rect">
            <a:avLst/>
          </a:prstGeom>
          <a:solidFill>
            <a:srgbClr val="F5F5F5"/>
          </a:solidFill>
          <a:ln w="12700">
            <a:solidFill>
              <a:srgbClr val="E8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788920"/>
            <a:ext cx="11247120" cy="320040"/>
          </a:xfrm>
          <a:prstGeom prst="rect">
            <a:avLst/>
          </a:prstGeom>
          <a:solidFill>
            <a:srgbClr val="E88B3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Level 2 — Project Kanban (Execution)</a:t>
            </a:r>
          </a:p>
        </p:txBody>
      </p:sp>
      <p:sp>
        <p:nvSpPr>
          <p:cNvPr id="25" name="TextBox 24"/>
          <p:cNvSpPr txBox="1"/>
          <p:nvPr/>
        </p:nvSpPr>
        <p:spPr>
          <a:xfrm>
            <a:off x="566928" y="3154680"/>
            <a:ext cx="11027664" cy="320040"/>
          </a:xfrm>
          <a:prstGeom prst="rect">
            <a:avLst/>
          </a:prstGeom>
          <a:noFill/>
        </p:spPr>
        <p:txBody>
          <a:bodyPr wrap="square">
            <a:spAutoFit/>
          </a:bodyPr>
          <a:lstStyle/>
          <a:p>
            <a:pPr>
              <a:defRPr sz="700">
                <a:solidFill>
                  <a:srgbClr val="2C3E50"/>
                </a:solidFill>
                <a:latin typeface="Arial"/>
              </a:defRPr>
            </a:pPr>
            <a:r>
              <a:t>Pull-based execution. WIP limits enforced. QA pulls from Dev immediately. Definition of Done required.</a:t>
            </a:r>
          </a:p>
        </p:txBody>
      </p:sp>
      <p:sp>
        <p:nvSpPr>
          <p:cNvPr id="26" name="Rectangle 25"/>
          <p:cNvSpPr/>
          <p:nvPr/>
        </p:nvSpPr>
        <p:spPr>
          <a:xfrm>
            <a:off x="640080" y="3520440"/>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E88B30"/>
                </a:solidFill>
                <a:latin typeface="Arial"/>
              </a:defRPr>
            </a:pPr>
            <a:r>
              <a:t>Backlog</a:t>
            </a:r>
          </a:p>
        </p:txBody>
      </p:sp>
      <p:sp>
        <p:nvSpPr>
          <p:cNvPr id="27" name="TextBox 26"/>
          <p:cNvSpPr txBox="1"/>
          <p:nvPr/>
        </p:nvSpPr>
        <p:spPr>
          <a:xfrm>
            <a:off x="2724912" y="3520440"/>
            <a:ext cx="109728" cy="274320"/>
          </a:xfrm>
          <a:prstGeom prst="rect">
            <a:avLst/>
          </a:prstGeom>
          <a:noFill/>
        </p:spPr>
        <p:txBody>
          <a:bodyPr wrap="none" anchor="ctr">
            <a:spAutoFit/>
          </a:bodyPr>
          <a:lstStyle/>
          <a:p>
            <a:pPr algn="ctr">
              <a:defRPr sz="1000">
                <a:solidFill>
                  <a:srgbClr val="E88B30"/>
                </a:solidFill>
                <a:latin typeface="Arial"/>
              </a:defRPr>
            </a:pPr>
            <a:r>
              <a:t>→</a:t>
            </a:r>
          </a:p>
        </p:txBody>
      </p:sp>
      <p:sp>
        <p:nvSpPr>
          <p:cNvPr id="28" name="Rectangle 27"/>
          <p:cNvSpPr/>
          <p:nvPr/>
        </p:nvSpPr>
        <p:spPr>
          <a:xfrm>
            <a:off x="2843784" y="3520440"/>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E88B30"/>
                </a:solidFill>
                <a:latin typeface="Arial"/>
              </a:defRPr>
            </a:pPr>
            <a:r>
              <a:t>In Progress</a:t>
            </a:r>
          </a:p>
        </p:txBody>
      </p:sp>
      <p:sp>
        <p:nvSpPr>
          <p:cNvPr id="29" name="TextBox 28"/>
          <p:cNvSpPr txBox="1"/>
          <p:nvPr/>
        </p:nvSpPr>
        <p:spPr>
          <a:xfrm>
            <a:off x="4928616" y="3520440"/>
            <a:ext cx="109728" cy="274320"/>
          </a:xfrm>
          <a:prstGeom prst="rect">
            <a:avLst/>
          </a:prstGeom>
          <a:noFill/>
        </p:spPr>
        <p:txBody>
          <a:bodyPr wrap="none" anchor="ctr">
            <a:spAutoFit/>
          </a:bodyPr>
          <a:lstStyle/>
          <a:p>
            <a:pPr algn="ctr">
              <a:defRPr sz="1000">
                <a:solidFill>
                  <a:srgbClr val="E88B30"/>
                </a:solidFill>
                <a:latin typeface="Arial"/>
              </a:defRPr>
            </a:pPr>
            <a:r>
              <a:t>→</a:t>
            </a:r>
          </a:p>
        </p:txBody>
      </p:sp>
      <p:sp>
        <p:nvSpPr>
          <p:cNvPr id="30" name="Rectangle 29"/>
          <p:cNvSpPr/>
          <p:nvPr/>
        </p:nvSpPr>
        <p:spPr>
          <a:xfrm>
            <a:off x="5047488" y="3520440"/>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E88B30"/>
                </a:solidFill>
                <a:latin typeface="Arial"/>
              </a:defRPr>
            </a:pPr>
            <a:r>
              <a:t>QA / Peer Review</a:t>
            </a:r>
          </a:p>
        </p:txBody>
      </p:sp>
      <p:sp>
        <p:nvSpPr>
          <p:cNvPr id="31" name="TextBox 30"/>
          <p:cNvSpPr txBox="1"/>
          <p:nvPr/>
        </p:nvSpPr>
        <p:spPr>
          <a:xfrm>
            <a:off x="7132320" y="3520440"/>
            <a:ext cx="109728" cy="274320"/>
          </a:xfrm>
          <a:prstGeom prst="rect">
            <a:avLst/>
          </a:prstGeom>
          <a:noFill/>
        </p:spPr>
        <p:txBody>
          <a:bodyPr wrap="none" anchor="ctr">
            <a:spAutoFit/>
          </a:bodyPr>
          <a:lstStyle/>
          <a:p>
            <a:pPr algn="ctr">
              <a:defRPr sz="1000">
                <a:solidFill>
                  <a:srgbClr val="E88B30"/>
                </a:solidFill>
                <a:latin typeface="Arial"/>
              </a:defRPr>
            </a:pPr>
            <a:r>
              <a:t>→</a:t>
            </a:r>
          </a:p>
        </p:txBody>
      </p:sp>
      <p:sp>
        <p:nvSpPr>
          <p:cNvPr id="32" name="Rectangle 31"/>
          <p:cNvSpPr/>
          <p:nvPr/>
        </p:nvSpPr>
        <p:spPr>
          <a:xfrm>
            <a:off x="7251192" y="3520440"/>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E88B30"/>
                </a:solidFill>
                <a:latin typeface="Arial"/>
              </a:defRPr>
            </a:pPr>
            <a:r>
              <a:t>UAT</a:t>
            </a:r>
          </a:p>
        </p:txBody>
      </p:sp>
      <p:sp>
        <p:nvSpPr>
          <p:cNvPr id="33" name="TextBox 32"/>
          <p:cNvSpPr txBox="1"/>
          <p:nvPr/>
        </p:nvSpPr>
        <p:spPr>
          <a:xfrm>
            <a:off x="9336024" y="3520440"/>
            <a:ext cx="109728" cy="274320"/>
          </a:xfrm>
          <a:prstGeom prst="rect">
            <a:avLst/>
          </a:prstGeom>
          <a:noFill/>
        </p:spPr>
        <p:txBody>
          <a:bodyPr wrap="none" anchor="ctr">
            <a:spAutoFit/>
          </a:bodyPr>
          <a:lstStyle/>
          <a:p>
            <a:pPr algn="ctr">
              <a:defRPr sz="1000">
                <a:solidFill>
                  <a:srgbClr val="E88B30"/>
                </a:solidFill>
                <a:latin typeface="Arial"/>
              </a:defRPr>
            </a:pPr>
            <a:r>
              <a:t>→</a:t>
            </a:r>
          </a:p>
        </p:txBody>
      </p:sp>
      <p:sp>
        <p:nvSpPr>
          <p:cNvPr id="34" name="Rectangle 33"/>
          <p:cNvSpPr/>
          <p:nvPr/>
        </p:nvSpPr>
        <p:spPr>
          <a:xfrm>
            <a:off x="9454896" y="3520440"/>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1">
                <a:solidFill>
                  <a:srgbClr val="E88B30"/>
                </a:solidFill>
                <a:latin typeface="Arial"/>
              </a:defRPr>
            </a:pPr>
            <a:r>
              <a:t>Done</a:t>
            </a:r>
          </a:p>
        </p:txBody>
      </p:sp>
      <p:sp>
        <p:nvSpPr>
          <p:cNvPr id="35" name="TextBox 34"/>
          <p:cNvSpPr txBox="1"/>
          <p:nvPr/>
        </p:nvSpPr>
        <p:spPr>
          <a:xfrm>
            <a:off x="566928" y="3840480"/>
            <a:ext cx="11027664" cy="182880"/>
          </a:xfrm>
          <a:prstGeom prst="rect">
            <a:avLst/>
          </a:prstGeom>
          <a:noFill/>
        </p:spPr>
        <p:txBody>
          <a:bodyPr wrap="square">
            <a:spAutoFit/>
          </a:bodyPr>
          <a:lstStyle/>
          <a:p>
            <a:r>
              <a:rPr sz="700" b="1">
                <a:solidFill>
                  <a:srgbClr val="7F8C8D"/>
                </a:solidFill>
                <a:latin typeface="Arial"/>
              </a:rPr>
              <a:t>Swimlanes: </a:t>
            </a:r>
            <a:r>
              <a:rPr sz="700">
                <a:solidFill>
                  <a:srgbClr val="2C3E50"/>
                </a:solidFill>
                <a:latin typeface="Arial"/>
              </a:rPr>
              <a:t>Build 60% · BAU 25% · Upgrades 15%</a:t>
            </a:r>
          </a:p>
        </p:txBody>
      </p:sp>
      <p:sp>
        <p:nvSpPr>
          <p:cNvPr id="36" name="TextBox 35"/>
          <p:cNvSpPr txBox="1"/>
          <p:nvPr/>
        </p:nvSpPr>
        <p:spPr>
          <a:xfrm>
            <a:off x="566928" y="4187952"/>
            <a:ext cx="11027664" cy="182880"/>
          </a:xfrm>
          <a:prstGeom prst="rect">
            <a:avLst/>
          </a:prstGeom>
          <a:noFill/>
        </p:spPr>
        <p:txBody>
          <a:bodyPr wrap="square">
            <a:spAutoFit/>
          </a:bodyPr>
          <a:lstStyle/>
          <a:p>
            <a:r>
              <a:rPr sz="650" b="1">
                <a:solidFill>
                  <a:srgbClr val="EAB308"/>
                </a:solidFill>
                <a:latin typeface="Arial"/>
              </a:rPr>
              <a:t>Forums: </a:t>
            </a:r>
            <a:r>
              <a:rPr sz="650">
                <a:solidFill>
                  <a:srgbClr val="2C3E50"/>
                </a:solidFill>
                <a:latin typeface="Arial"/>
              </a:rPr>
              <a:t>Daily Flow Review · Retrospective / Kaizen</a:t>
            </a:r>
          </a:p>
        </p:txBody>
      </p:sp>
      <p:sp>
        <p:nvSpPr>
          <p:cNvPr id="37" name="TextBox 36"/>
          <p:cNvSpPr txBox="1"/>
          <p:nvPr/>
        </p:nvSpPr>
        <p:spPr>
          <a:xfrm>
            <a:off x="457200" y="4617720"/>
            <a:ext cx="10972800" cy="228600"/>
          </a:xfrm>
          <a:prstGeom prst="rect">
            <a:avLst/>
          </a:prstGeom>
          <a:noFill/>
        </p:spPr>
        <p:txBody>
          <a:bodyPr wrap="none">
            <a:spAutoFit/>
          </a:bodyPr>
          <a:lstStyle/>
          <a:p>
            <a:pPr>
              <a:defRPr sz="1000" b="1">
                <a:solidFill>
                  <a:srgbClr val="D46B08"/>
                </a:solidFill>
                <a:latin typeface="Arial"/>
              </a:defRPr>
            </a:pPr>
            <a:r>
              <a:t>E2E Lifecycle Phases</a:t>
            </a:r>
          </a:p>
        </p:txBody>
      </p:sp>
      <p:sp>
        <p:nvSpPr>
          <p:cNvPr id="38" name="Rectangle 37"/>
          <p:cNvSpPr/>
          <p:nvPr/>
        </p:nvSpPr>
        <p:spPr>
          <a:xfrm>
            <a:off x="457200" y="4892040"/>
            <a:ext cx="2708910" cy="1005840"/>
          </a:xfrm>
          <a:prstGeom prst="rect">
            <a:avLst/>
          </a:prstGeom>
          <a:solidFill>
            <a:srgbClr val="F5F5F5"/>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4892040"/>
            <a:ext cx="2708910" cy="2560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Demand Intake</a:t>
            </a:r>
          </a:p>
        </p:txBody>
      </p:sp>
      <p:sp>
        <p:nvSpPr>
          <p:cNvPr id="40" name="TextBox 39"/>
          <p:cNvSpPr txBox="1"/>
          <p:nvPr/>
        </p:nvSpPr>
        <p:spPr>
          <a:xfrm>
            <a:off x="530352" y="5184648"/>
            <a:ext cx="2562606" cy="457200"/>
          </a:xfrm>
          <a:prstGeom prst="rect">
            <a:avLst/>
          </a:prstGeom>
          <a:noFill/>
        </p:spPr>
        <p:txBody>
          <a:bodyPr wrap="square">
            <a:spAutoFit/>
          </a:bodyPr>
          <a:lstStyle/>
          <a:p>
            <a:pPr>
              <a:defRPr sz="700">
                <a:solidFill>
                  <a:srgbClr val="2C3E50"/>
                </a:solidFill>
                <a:latin typeface="Arial"/>
              </a:defRPr>
            </a:pPr>
            <a:r>
              <a:t>Jira Ticket (standardized) · Class of Service · Triage · DoR</a:t>
            </a:r>
          </a:p>
        </p:txBody>
      </p:sp>
      <p:sp>
        <p:nvSpPr>
          <p:cNvPr id="41" name="TextBox 40"/>
          <p:cNvSpPr txBox="1"/>
          <p:nvPr/>
        </p:nvSpPr>
        <p:spPr>
          <a:xfrm>
            <a:off x="530352" y="564184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Definition of Ready met</a:t>
            </a:r>
          </a:p>
        </p:txBody>
      </p:sp>
      <p:sp>
        <p:nvSpPr>
          <p:cNvPr id="42" name="TextBox 41"/>
          <p:cNvSpPr txBox="1"/>
          <p:nvPr/>
        </p:nvSpPr>
        <p:spPr>
          <a:xfrm>
            <a:off x="3175254" y="5257800"/>
            <a:ext cx="118872" cy="274320"/>
          </a:xfrm>
          <a:prstGeom prst="rect">
            <a:avLst/>
          </a:prstGeom>
          <a:noFill/>
        </p:spPr>
        <p:txBody>
          <a:bodyPr wrap="none" anchor="ctr">
            <a:spAutoFit/>
          </a:bodyPr>
          <a:lstStyle/>
          <a:p>
            <a:pPr algn="ctr">
              <a:defRPr sz="1400">
                <a:solidFill>
                  <a:srgbClr val="D46B08"/>
                </a:solidFill>
                <a:latin typeface="Arial"/>
              </a:defRPr>
            </a:pPr>
            <a:r>
              <a:t>→</a:t>
            </a:r>
          </a:p>
        </p:txBody>
      </p:sp>
      <p:sp>
        <p:nvSpPr>
          <p:cNvPr id="43" name="Rectangle 42"/>
          <p:cNvSpPr/>
          <p:nvPr/>
        </p:nvSpPr>
        <p:spPr>
          <a:xfrm>
            <a:off x="3303270" y="4892040"/>
            <a:ext cx="2708910" cy="1005840"/>
          </a:xfrm>
          <a:prstGeom prst="rect">
            <a:avLst/>
          </a:prstGeom>
          <a:solidFill>
            <a:srgbClr val="F5F5F5"/>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03270" y="4892040"/>
            <a:ext cx="2708910" cy="2560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Prioritization</a:t>
            </a:r>
          </a:p>
        </p:txBody>
      </p:sp>
      <p:sp>
        <p:nvSpPr>
          <p:cNvPr id="45" name="TextBox 44"/>
          <p:cNvSpPr txBox="1"/>
          <p:nvPr/>
        </p:nvSpPr>
        <p:spPr>
          <a:xfrm>
            <a:off x="3376422" y="5184648"/>
            <a:ext cx="2562606" cy="457200"/>
          </a:xfrm>
          <a:prstGeom prst="rect">
            <a:avLst/>
          </a:prstGeom>
          <a:noFill/>
        </p:spPr>
        <p:txBody>
          <a:bodyPr wrap="square">
            <a:spAutoFit/>
          </a:bodyPr>
          <a:lstStyle/>
          <a:p>
            <a:pPr>
              <a:defRPr sz="700">
                <a:solidFill>
                  <a:srgbClr val="2C3E50"/>
                </a:solidFill>
                <a:latin typeface="Arial"/>
              </a:defRPr>
            </a:pPr>
            <a:r>
              <a:t>Continuous ordering · BV × Urgency × Capacity · Pre-Estimation</a:t>
            </a:r>
          </a:p>
        </p:txBody>
      </p:sp>
      <p:sp>
        <p:nvSpPr>
          <p:cNvPr id="46" name="TextBox 45"/>
          <p:cNvSpPr txBox="1"/>
          <p:nvPr/>
        </p:nvSpPr>
        <p:spPr>
          <a:xfrm>
            <a:off x="3376422" y="564184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Prioritized Backlog</a:t>
            </a:r>
          </a:p>
        </p:txBody>
      </p:sp>
      <p:sp>
        <p:nvSpPr>
          <p:cNvPr id="47" name="TextBox 46"/>
          <p:cNvSpPr txBox="1"/>
          <p:nvPr/>
        </p:nvSpPr>
        <p:spPr>
          <a:xfrm>
            <a:off x="6021324" y="5257800"/>
            <a:ext cx="118872" cy="274320"/>
          </a:xfrm>
          <a:prstGeom prst="rect">
            <a:avLst/>
          </a:prstGeom>
          <a:noFill/>
        </p:spPr>
        <p:txBody>
          <a:bodyPr wrap="none" anchor="ctr">
            <a:spAutoFit/>
          </a:bodyPr>
          <a:lstStyle/>
          <a:p>
            <a:pPr algn="ctr">
              <a:defRPr sz="1400">
                <a:solidFill>
                  <a:srgbClr val="D46B08"/>
                </a:solidFill>
                <a:latin typeface="Arial"/>
              </a:defRPr>
            </a:pPr>
            <a:r>
              <a:t>→</a:t>
            </a:r>
          </a:p>
        </p:txBody>
      </p:sp>
      <p:sp>
        <p:nvSpPr>
          <p:cNvPr id="48" name="Rectangle 47"/>
          <p:cNvSpPr/>
          <p:nvPr/>
        </p:nvSpPr>
        <p:spPr>
          <a:xfrm>
            <a:off x="6149340" y="4892040"/>
            <a:ext cx="2708910" cy="1005840"/>
          </a:xfrm>
          <a:prstGeom prst="rect">
            <a:avLst/>
          </a:prstGeom>
          <a:solidFill>
            <a:srgbClr val="F5F5F5"/>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49340" y="4892040"/>
            <a:ext cx="2708910" cy="2560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Delivery</a:t>
            </a:r>
          </a:p>
        </p:txBody>
      </p:sp>
      <p:sp>
        <p:nvSpPr>
          <p:cNvPr id="50" name="TextBox 49"/>
          <p:cNvSpPr txBox="1"/>
          <p:nvPr/>
        </p:nvSpPr>
        <p:spPr>
          <a:xfrm>
            <a:off x="6222492" y="5184648"/>
            <a:ext cx="2562606" cy="457200"/>
          </a:xfrm>
          <a:prstGeom prst="rect">
            <a:avLst/>
          </a:prstGeom>
          <a:noFill/>
        </p:spPr>
        <p:txBody>
          <a:bodyPr wrap="square">
            <a:spAutoFit/>
          </a:bodyPr>
          <a:lstStyle/>
          <a:p>
            <a:pPr>
              <a:defRPr sz="700">
                <a:solidFill>
                  <a:srgbClr val="2C3E50"/>
                </a:solidFill>
                <a:latin typeface="Arial"/>
              </a:defRPr>
            </a:pPr>
            <a:r>
              <a:t>Pull from backlog · WIP limits · QA pulls from Dev · DoD</a:t>
            </a:r>
          </a:p>
        </p:txBody>
      </p:sp>
      <p:sp>
        <p:nvSpPr>
          <p:cNvPr id="51" name="TextBox 50"/>
          <p:cNvSpPr txBox="1"/>
          <p:nvPr/>
        </p:nvSpPr>
        <p:spPr>
          <a:xfrm>
            <a:off x="6222492" y="564184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Definition of Done met</a:t>
            </a:r>
          </a:p>
        </p:txBody>
      </p:sp>
      <p:sp>
        <p:nvSpPr>
          <p:cNvPr id="52" name="TextBox 51"/>
          <p:cNvSpPr txBox="1"/>
          <p:nvPr/>
        </p:nvSpPr>
        <p:spPr>
          <a:xfrm>
            <a:off x="8867394" y="5257800"/>
            <a:ext cx="118872" cy="274320"/>
          </a:xfrm>
          <a:prstGeom prst="rect">
            <a:avLst/>
          </a:prstGeom>
          <a:noFill/>
        </p:spPr>
        <p:txBody>
          <a:bodyPr wrap="none" anchor="ctr">
            <a:spAutoFit/>
          </a:bodyPr>
          <a:lstStyle/>
          <a:p>
            <a:pPr algn="ctr">
              <a:defRPr sz="1400">
                <a:solidFill>
                  <a:srgbClr val="D46B08"/>
                </a:solidFill>
                <a:latin typeface="Arial"/>
              </a:defRPr>
            </a:pPr>
            <a:r>
              <a:t>→</a:t>
            </a:r>
          </a:p>
        </p:txBody>
      </p:sp>
      <p:sp>
        <p:nvSpPr>
          <p:cNvPr id="53" name="Rectangle 52"/>
          <p:cNvSpPr/>
          <p:nvPr/>
        </p:nvSpPr>
        <p:spPr>
          <a:xfrm>
            <a:off x="8995410" y="4892040"/>
            <a:ext cx="2708910" cy="1005840"/>
          </a:xfrm>
          <a:prstGeom prst="rect">
            <a:avLst/>
          </a:prstGeom>
          <a:solidFill>
            <a:srgbClr val="F5F5F5"/>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995410" y="4892040"/>
            <a:ext cx="2708910" cy="2560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t>Governance</a:t>
            </a:r>
          </a:p>
        </p:txBody>
      </p:sp>
      <p:sp>
        <p:nvSpPr>
          <p:cNvPr id="55" name="TextBox 54"/>
          <p:cNvSpPr txBox="1"/>
          <p:nvPr/>
        </p:nvSpPr>
        <p:spPr>
          <a:xfrm>
            <a:off x="9068562" y="5184648"/>
            <a:ext cx="2562606" cy="457200"/>
          </a:xfrm>
          <a:prstGeom prst="rect">
            <a:avLst/>
          </a:prstGeom>
          <a:noFill/>
        </p:spPr>
        <p:txBody>
          <a:bodyPr wrap="square">
            <a:spAutoFit/>
          </a:bodyPr>
          <a:lstStyle/>
          <a:p>
            <a:pPr>
              <a:defRPr sz="700">
                <a:solidFill>
                  <a:srgbClr val="2C3E50"/>
                </a:solidFill>
                <a:latin typeface="Arial"/>
              </a:defRPr>
            </a:pPr>
            <a:r>
              <a:t>Flow Metrics: LT, CT, Throughput, Aging · Kaizen</a:t>
            </a:r>
          </a:p>
        </p:txBody>
      </p:sp>
      <p:sp>
        <p:nvSpPr>
          <p:cNvPr id="56" name="TextBox 55"/>
          <p:cNvSpPr txBox="1"/>
          <p:nvPr/>
        </p:nvSpPr>
        <p:spPr>
          <a:xfrm>
            <a:off x="9068562" y="5641848"/>
            <a:ext cx="2562606" cy="228600"/>
          </a:xfrm>
          <a:prstGeom prst="rect">
            <a:avLst/>
          </a:prstGeom>
          <a:noFill/>
        </p:spPr>
        <p:txBody>
          <a:bodyPr wrap="square">
            <a:spAutoFit/>
          </a:bodyPr>
          <a:lstStyle/>
          <a:p>
            <a:r>
              <a:rPr sz="650" b="1">
                <a:solidFill>
                  <a:srgbClr val="EAB308"/>
                </a:solidFill>
                <a:latin typeface="Arial"/>
              </a:rPr>
              <a:t>Gate: </a:t>
            </a:r>
            <a:r>
              <a:rPr sz="650">
                <a:solidFill>
                  <a:srgbClr val="2C3E50"/>
                </a:solidFill>
                <a:latin typeface="Arial"/>
              </a:rPr>
              <a:t>Metrics reviewed regularly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2286000"/>
            <a:ext cx="3657600" cy="45720"/>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560320"/>
            <a:ext cx="8229600" cy="1371600"/>
          </a:xfrm>
          <a:prstGeom prst="rect">
            <a:avLst/>
          </a:prstGeom>
          <a:noFill/>
        </p:spPr>
        <p:txBody>
          <a:bodyPr wrap="none">
            <a:spAutoFit/>
          </a:bodyPr>
          <a:lstStyle/>
          <a:p>
            <a:pPr algn="ctr">
              <a:defRPr sz="2800" b="1">
                <a:solidFill>
                  <a:srgbClr val="FFFFFF"/>
                </a:solidFill>
                <a:latin typeface="Arial"/>
              </a:defRPr>
            </a:pPr>
            <a:r>
              <a:t>Prior Art Review</a:t>
            </a:r>
          </a:p>
        </p:txBody>
      </p:sp>
      <p:sp>
        <p:nvSpPr>
          <p:cNvPr id="5" name="TextBox 4"/>
          <p:cNvSpPr txBox="1"/>
          <p:nvPr/>
        </p:nvSpPr>
        <p:spPr>
          <a:xfrm>
            <a:off x="1828800" y="3657600"/>
            <a:ext cx="8229600" cy="914400"/>
          </a:xfrm>
          <a:prstGeom prst="rect">
            <a:avLst/>
          </a:prstGeom>
          <a:noFill/>
        </p:spPr>
        <p:txBody>
          <a:bodyPr wrap="none">
            <a:spAutoFit/>
          </a:bodyPr>
          <a:lstStyle/>
          <a:p>
            <a:pPr algn="ctr">
              <a:defRPr sz="1400">
                <a:solidFill>
                  <a:srgbClr val="0070C0"/>
                </a:solidFill>
                <a:latin typeface="Arial"/>
              </a:defRPr>
            </a:pPr>
            <a:r>
              <a:t>Digital Products — Wave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6440</Words>
  <Application>Microsoft Macintosh PowerPoint</Application>
  <PresentationFormat>Widescreen</PresentationFormat>
  <Paragraphs>200</Paragraphs>
  <Slides>8</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8</vt:i4>
      </vt:variant>
    </vt:vector>
  </HeadingPairs>
  <TitlesOfParts>
    <vt:vector size="13" baseType="lpstr">
      <vt:lpstr>Aptos</vt:lpstr>
      <vt:lpstr>Arial</vt:lpstr>
      <vt:lpstr>Calibri</vt:lpstr>
      <vt:lpstr>Georgia Pro</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Gustavo Castellano</cp:lastModifiedBy>
  <cp:revision>2</cp:revision>
  <dcterms:created xsi:type="dcterms:W3CDTF">2013-01-27T09:14:16Z</dcterms:created>
  <dcterms:modified xsi:type="dcterms:W3CDTF">2026-04-03T18:41:50Z</dcterms:modified>
  <cp:category/>
</cp:coreProperties>
</file>