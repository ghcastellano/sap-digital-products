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NEXT TWO WEEKS — LIFECYCLE MAP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C7D3E4"/>
                </a:solidFill>
                <a:latin typeface="Calibri"/>
              </a:rPr>
              <a:t>Working model · how we will co-create the TO-BE Digital Products Lifecycle Map with Avangrid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75720" cy="502920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73152" cy="50292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6459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1">
                <a:solidFill>
                  <a:srgbClr val="E88B2F"/>
                </a:solidFill>
                <a:latin typeface="Calibri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960120"/>
            <a:ext cx="96012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Calibri"/>
              </a:rPr>
              <a:t>Co-create the TO-BE Lifecycle Map — 5 stages (Intake → Classification → Prioritization → Portfolio → Delivery) × 4 dimensions (Channels · Roles · Tools · Governance) — following the 8 Guiding Principles (see slide 2) and the hybrid Agile / Waterfall delivery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5692140" cy="310896"/>
          </a:xfrm>
          <a:prstGeom prst="rect">
            <a:avLst/>
          </a:prstGeom>
          <a:solidFill>
            <a:srgbClr val="15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569214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WEEK 1  ·  INTAKE · CLASSIFICATION · HYBRID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9340" y="1600200"/>
            <a:ext cx="5692140" cy="310896"/>
          </a:xfrm>
          <a:prstGeom prst="rect">
            <a:avLst/>
          </a:prstGeom>
          <a:solidFill>
            <a:srgbClr val="15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9340" y="1600200"/>
            <a:ext cx="569214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WEEK 2  ·  PRIORITIZATION · PORTFOLIO ·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20824"/>
            <a:ext cx="110185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020824"/>
            <a:ext cx="1101852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093976"/>
            <a:ext cx="110185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  <a:latin typeface="Calibri"/>
              </a:rPr>
              <a:t>MON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368296"/>
            <a:ext cx="955548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1F2C"/>
                </a:solidFill>
                <a:latin typeface="Calibri"/>
              </a:rPr>
              <a:t>Draft TO-BE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889504"/>
            <a:ext cx="955548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Build TO-BE model following the 8 Guiding Principles (see slide 2)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3666744"/>
            <a:ext cx="827532" cy="0"/>
          </a:xfrm>
          <a:prstGeom prst="line">
            <a:avLst/>
          </a:prstGeom>
          <a:ln w="6350">
            <a:solidFill>
              <a:srgbClr val="D8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8912" y="3712464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877055"/>
            <a:ext cx="9555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 internal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197096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PARTICIPANTS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361688"/>
            <a:ext cx="955548" cy="38404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 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4188" y="2020824"/>
            <a:ext cx="110185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04188" y="2020824"/>
            <a:ext cx="1101852" cy="45720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4188" y="2093976"/>
            <a:ext cx="110185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B6B77"/>
                </a:solidFill>
                <a:latin typeface="Calibri"/>
              </a:rPr>
              <a:t>TUE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7340" y="2368296"/>
            <a:ext cx="955548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1F2C"/>
                </a:solidFill>
                <a:latin typeface="Calibri"/>
              </a:rPr>
              <a:t>Heather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7340" y="2889504"/>
            <a:ext cx="955548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Continue TO-BE · weekly 1-hour validation meeting with Heather (fixed slot every Tuesday)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41348" y="3666744"/>
            <a:ext cx="827532" cy="0"/>
          </a:xfrm>
          <a:prstGeom prst="line">
            <a:avLst/>
          </a:prstGeom>
          <a:ln w="6350">
            <a:solidFill>
              <a:srgbClr val="D8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577340" y="3712464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7340" y="3877055"/>
            <a:ext cx="9555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  +  Heather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7340" y="4197096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PARTICIPANTS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7340" y="4361688"/>
            <a:ext cx="955548" cy="38404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Heather (1h fixed)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42616" y="2020824"/>
            <a:ext cx="110185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42616" y="2020824"/>
            <a:ext cx="1101852" cy="45720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42616" y="2093976"/>
            <a:ext cx="110185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B6B77"/>
                </a:solidFill>
                <a:latin typeface="Calibri"/>
              </a:rPr>
              <a:t>WED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5768" y="2368296"/>
            <a:ext cx="955548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1F2C"/>
                </a:solidFill>
                <a:latin typeface="Calibri"/>
              </a:rPr>
              <a:t>Champions Joint 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15768" y="2889504"/>
            <a:ext cx="955548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Validate &amp; adjust TO-BE · surface risks, issues and blockers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779776" y="3666744"/>
            <a:ext cx="827532" cy="0"/>
          </a:xfrm>
          <a:prstGeom prst="line">
            <a:avLst/>
          </a:prstGeom>
          <a:ln w="6350">
            <a:solidFill>
              <a:srgbClr val="D8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715768" y="3712464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LEAD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15768" y="3877055"/>
            <a:ext cx="9555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NTT-led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15768" y="4197096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PARTICIPANTS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15768" y="4361688"/>
            <a:ext cx="955548" cy="38404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All 6 Champions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81044" y="2020824"/>
            <a:ext cx="110185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81044" y="2020824"/>
            <a:ext cx="1101852" cy="4572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81044" y="2093976"/>
            <a:ext cx="110185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88B2F"/>
                </a:solidFill>
                <a:latin typeface="Calibri"/>
              </a:rPr>
              <a:t>THU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4196" y="2368296"/>
            <a:ext cx="955548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1F2C"/>
                </a:solidFill>
                <a:latin typeface="Calibri"/>
              </a:rPr>
              <a:t>Refine TO-BE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54196" y="2889504"/>
            <a:ext cx="955548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Apply Champion feedback · prepare materials for Friday review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918204" y="3666744"/>
            <a:ext cx="827532" cy="0"/>
          </a:xfrm>
          <a:prstGeom prst="line">
            <a:avLst/>
          </a:prstGeom>
          <a:ln w="6350">
            <a:solidFill>
              <a:srgbClr val="D8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54196" y="3712464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LEAD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54196" y="3877055"/>
            <a:ext cx="9555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 internal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54196" y="4197096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PARTICIPANTS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54196" y="4361688"/>
            <a:ext cx="955548" cy="38404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 team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19472" y="2020824"/>
            <a:ext cx="110185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19472" y="2020824"/>
            <a:ext cx="1101852" cy="4572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19472" y="2093976"/>
            <a:ext cx="110185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4C8C3F"/>
                </a:solidFill>
                <a:latin typeface="Calibri"/>
              </a:rPr>
              <a:t>FRI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92624" y="2368296"/>
            <a:ext cx="955548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1F2C"/>
                </a:solidFill>
                <a:latin typeface="Calibri"/>
              </a:rPr>
              <a:t>Weekly Status Meeting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92624" y="2889504"/>
            <a:ext cx="955548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Review Intake · Classification · Hybrid Model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56632" y="3666744"/>
            <a:ext cx="827532" cy="0"/>
          </a:xfrm>
          <a:prstGeom prst="line">
            <a:avLst/>
          </a:prstGeom>
          <a:ln w="6350">
            <a:solidFill>
              <a:srgbClr val="D8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992624" y="3712464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LEAD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92624" y="3877055"/>
            <a:ext cx="9555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NTT-led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92624" y="4197096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PARTICIPANTS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92624" y="4361688"/>
            <a:ext cx="955548" cy="38404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Vitor · Kumar · Heather · Carlos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49340" y="2020824"/>
            <a:ext cx="110185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49340" y="2020824"/>
            <a:ext cx="1101852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49340" y="2093976"/>
            <a:ext cx="110185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  <a:latin typeface="Calibri"/>
              </a:rPr>
              <a:t>MON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22492" y="2368296"/>
            <a:ext cx="955548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1F2C"/>
                </a:solidFill>
                <a:latin typeface="Calibri"/>
              </a:rPr>
              <a:t>Draft TO-BE — Week 2 topics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22492" y="2889504"/>
            <a:ext cx="955548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Build TO-BE model for Prioritization · Portfolio · Delivery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286500" y="3666744"/>
            <a:ext cx="827532" cy="0"/>
          </a:xfrm>
          <a:prstGeom prst="line">
            <a:avLst/>
          </a:prstGeom>
          <a:ln w="6350">
            <a:solidFill>
              <a:srgbClr val="D8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222492" y="3712464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LEAD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22492" y="3877055"/>
            <a:ext cx="9555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 internal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22492" y="4197096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PARTICIPANTS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22492" y="4361688"/>
            <a:ext cx="955548" cy="38404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 team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87768" y="2020824"/>
            <a:ext cx="110185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287768" y="2020824"/>
            <a:ext cx="1101852" cy="45720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87768" y="2093976"/>
            <a:ext cx="110185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B6B77"/>
                </a:solidFill>
                <a:latin typeface="Calibri"/>
              </a:rPr>
              <a:t>TUE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60920" y="2368296"/>
            <a:ext cx="955548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1F2C"/>
                </a:solidFill>
                <a:latin typeface="Calibri"/>
              </a:rPr>
              <a:t>Heather Validation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60920" y="2889504"/>
            <a:ext cx="955548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Continue TO-BE · weekly 1-hour validation meeting with Heather (fixed slot every Tuesday)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424928" y="3666744"/>
            <a:ext cx="827532" cy="0"/>
          </a:xfrm>
          <a:prstGeom prst="line">
            <a:avLst/>
          </a:prstGeom>
          <a:ln w="6350">
            <a:solidFill>
              <a:srgbClr val="D8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360920" y="3712464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LEAD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60920" y="3877055"/>
            <a:ext cx="9555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  +  Heather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60920" y="4197096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PARTICIPANTS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60920" y="4361688"/>
            <a:ext cx="955548" cy="38404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Heather (1h fixed)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426196" y="2020824"/>
            <a:ext cx="110185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426196" y="2020824"/>
            <a:ext cx="1101852" cy="45720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26196" y="2093976"/>
            <a:ext cx="110185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B6B77"/>
                </a:solidFill>
                <a:latin typeface="Calibri"/>
              </a:rPr>
              <a:t>WED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99348" y="2368296"/>
            <a:ext cx="955548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1F2C"/>
                </a:solidFill>
                <a:latin typeface="Calibri"/>
              </a:rPr>
              <a:t>Champions Joint Session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99348" y="2889504"/>
            <a:ext cx="955548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Validate &amp; adjust TO-BE · surface risks, issues and blockers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563356" y="3666744"/>
            <a:ext cx="827532" cy="0"/>
          </a:xfrm>
          <a:prstGeom prst="line">
            <a:avLst/>
          </a:prstGeom>
          <a:ln w="6350">
            <a:solidFill>
              <a:srgbClr val="D8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499348" y="3712464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LEAD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99348" y="3877055"/>
            <a:ext cx="9555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NTT-led workshop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99348" y="4197096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PARTICIPANTS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99348" y="4361688"/>
            <a:ext cx="955548" cy="38404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All 6 Champions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64624" y="2020824"/>
            <a:ext cx="110185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564624" y="2020824"/>
            <a:ext cx="1101852" cy="4572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64624" y="2093976"/>
            <a:ext cx="110185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88B2F"/>
                </a:solidFill>
                <a:latin typeface="Calibri"/>
              </a:rPr>
              <a:t>THU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37776" y="2368296"/>
            <a:ext cx="955548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1F2C"/>
                </a:solidFill>
                <a:latin typeface="Calibri"/>
              </a:rPr>
              <a:t>Refine TO-BE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37776" y="2889504"/>
            <a:ext cx="955548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Apply Champion feedback · prepare materials for Friday review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9701784" y="3666744"/>
            <a:ext cx="827532" cy="0"/>
          </a:xfrm>
          <a:prstGeom prst="line">
            <a:avLst/>
          </a:prstGeom>
          <a:ln w="6350">
            <a:solidFill>
              <a:srgbClr val="D8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9637776" y="3712464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LEAD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637776" y="3877055"/>
            <a:ext cx="9555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 internal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37776" y="4197096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PARTICIPANTS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37776" y="4361688"/>
            <a:ext cx="955548" cy="38404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 team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703052" y="2020824"/>
            <a:ext cx="110185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703052" y="2020824"/>
            <a:ext cx="1101852" cy="4572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703052" y="2093976"/>
            <a:ext cx="110185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4C8C3F"/>
                </a:solidFill>
                <a:latin typeface="Calibri"/>
              </a:rPr>
              <a:t>FRI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776204" y="2368296"/>
            <a:ext cx="955548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1F2C"/>
                </a:solidFill>
                <a:latin typeface="Calibri"/>
              </a:rPr>
              <a:t>Weekly Status Meeting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776204" y="2889504"/>
            <a:ext cx="955548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Review Prioritization · Portfolio · Delivery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0840212" y="3666744"/>
            <a:ext cx="827532" cy="0"/>
          </a:xfrm>
          <a:prstGeom prst="line">
            <a:avLst/>
          </a:prstGeom>
          <a:ln w="6350">
            <a:solidFill>
              <a:srgbClr val="D8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0776204" y="3712464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LEAD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776204" y="3877055"/>
            <a:ext cx="95554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NTT-led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776204" y="4197096"/>
            <a:ext cx="95554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50" b="1">
                <a:solidFill>
                  <a:srgbClr val="E88B2F"/>
                </a:solidFill>
                <a:latin typeface="Calibri"/>
              </a:rPr>
              <a:t>PARTICIPANTS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76204" y="4361688"/>
            <a:ext cx="955548" cy="38404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1F2C"/>
                </a:solidFill>
                <a:latin typeface="Calibri"/>
              </a:rPr>
              <a:t>Vitor · Kumar · Heather · Carlos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983480"/>
            <a:ext cx="3767328" cy="16916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65760" y="4983480"/>
            <a:ext cx="3767328" cy="292608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65760" y="4983480"/>
            <a:ext cx="3767328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  HOW  ·  WORKING FORMATS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5349240"/>
            <a:ext cx="3493008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1">
                <a:solidFill>
                  <a:srgbClr val="2B6B77"/>
                </a:solidFill>
                <a:latin typeface="Calibri"/>
              </a:rPr>
              <a:t>NTT internal design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2920" y="5532120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Mon &amp; Thu · build and refine TO-BE model using the 8 Guiding Principles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5678424"/>
            <a:ext cx="3493008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1">
                <a:solidFill>
                  <a:srgbClr val="2B6B77"/>
                </a:solidFill>
                <a:latin typeface="Calibri"/>
              </a:rPr>
              <a:t>Fixed weekly with Heather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2920" y="5861304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Every Tuesday · 1 hour · validation &amp; steering against business vision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2920" y="6007608"/>
            <a:ext cx="3493008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1">
                <a:solidFill>
                  <a:srgbClr val="2B6B77"/>
                </a:solidFill>
                <a:latin typeface="Calibri"/>
              </a:rPr>
              <a:t>Champion joint session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02920" y="6190488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Every Wednesday · NTT-led · co-validation with all 6 Champions · risk surfacing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2920" y="6336792"/>
            <a:ext cx="3493008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1">
                <a:solidFill>
                  <a:srgbClr val="2B6B77"/>
                </a:solidFill>
                <a:latin typeface="Calibri"/>
              </a:rPr>
              <a:t>Weekly Status Meeting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6519672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Every Friday · review with Vitor · Kumar · Heather · Carlos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224528" y="4983480"/>
            <a:ext cx="3767328" cy="16916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224528" y="4983480"/>
            <a:ext cx="3767328" cy="2926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224528" y="4983480"/>
            <a:ext cx="3767328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  WHO  ·  ENGAGEMENT MATRIX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361688" y="5349240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1">
                <a:solidFill>
                  <a:srgbClr val="1F3A5F"/>
                </a:solidFill>
                <a:latin typeface="Calibri"/>
              </a:rPr>
              <a:t>Executive Sponsors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361688" y="5504688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Vitor · Heather  —  Friday status + Tue (Heather)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61688" y="5614416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1">
                <a:solidFill>
                  <a:srgbClr val="1F3A5F"/>
                </a:solidFill>
                <a:latin typeface="Calibri"/>
              </a:rPr>
              <a:t>Program Owners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361688" y="5769864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Carlos · Kumar  —  Friday status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361688" y="5879592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1">
                <a:solidFill>
                  <a:srgbClr val="1F3A5F"/>
                </a:solidFill>
                <a:latin typeface="Calibri"/>
              </a:rPr>
              <a:t>Area Champions (×6)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361688" y="6035040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GIS · Corporate · G&amp;E · Global SAP · Smart Metering · SAP (CS)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361688" y="6144768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1">
                <a:solidFill>
                  <a:srgbClr val="1F3A5F"/>
                </a:solidFill>
                <a:latin typeface="Calibri"/>
              </a:rPr>
              <a:t>Heather (fixed)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361688" y="6300216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1 hour every Tuesday · business-vision validation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361688" y="6409944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1">
                <a:solidFill>
                  <a:srgbClr val="1F3A5F"/>
                </a:solidFill>
                <a:latin typeface="Calibri"/>
              </a:rPr>
              <a:t>NTT Team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361688" y="6565392"/>
            <a:ext cx="3493008" cy="16459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Lead + 2 consultants  —  Mon &amp; Thu design · full-time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83296" y="4983480"/>
            <a:ext cx="3767328" cy="16916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083296" y="4983480"/>
            <a:ext cx="3767328" cy="292608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083296" y="4983480"/>
            <a:ext cx="3767328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  WHAT WE DELIVER AT DAY 10</a:t>
            </a:r>
          </a:p>
        </p:txBody>
      </p:sp>
      <p:sp>
        <p:nvSpPr>
          <p:cNvPr id="140" name="Oval 139"/>
          <p:cNvSpPr/>
          <p:nvPr/>
        </p:nvSpPr>
        <p:spPr>
          <a:xfrm>
            <a:off x="8220456" y="5431536"/>
            <a:ext cx="73152" cy="73152"/>
          </a:xfrm>
          <a:prstGeom prst="ellipse">
            <a:avLst/>
          </a:prstGeom>
          <a:solidFill>
            <a:srgbClr val="4C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357616" y="5367528"/>
            <a:ext cx="3401568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1F2C"/>
                </a:solidFill>
                <a:latin typeface="Calibri"/>
              </a:rPr>
              <a:t>Lifecycle Map v1.0  —  5 stages × 4 dimensions blueprint</a:t>
            </a:r>
          </a:p>
        </p:txBody>
      </p:sp>
      <p:sp>
        <p:nvSpPr>
          <p:cNvPr id="142" name="Oval 141"/>
          <p:cNvSpPr/>
          <p:nvPr/>
        </p:nvSpPr>
        <p:spPr>
          <a:xfrm>
            <a:off x="8220456" y="5678424"/>
            <a:ext cx="73152" cy="73152"/>
          </a:xfrm>
          <a:prstGeom prst="ellipse">
            <a:avLst/>
          </a:prstGeom>
          <a:solidFill>
            <a:srgbClr val="4C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357616" y="5614416"/>
            <a:ext cx="3401568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1F2C"/>
                </a:solidFill>
                <a:latin typeface="Calibri"/>
              </a:rPr>
              <a:t>Hybrid Delivery Model  —  Agile / Waterfall routing rules</a:t>
            </a:r>
          </a:p>
        </p:txBody>
      </p:sp>
      <p:sp>
        <p:nvSpPr>
          <p:cNvPr id="144" name="Oval 143"/>
          <p:cNvSpPr/>
          <p:nvPr/>
        </p:nvSpPr>
        <p:spPr>
          <a:xfrm>
            <a:off x="8220456" y="5925312"/>
            <a:ext cx="73152" cy="73152"/>
          </a:xfrm>
          <a:prstGeom prst="ellipse">
            <a:avLst/>
          </a:prstGeom>
          <a:solidFill>
            <a:srgbClr val="4C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357616" y="5861304"/>
            <a:ext cx="3401568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1F2C"/>
                </a:solidFill>
                <a:latin typeface="Calibri"/>
              </a:rPr>
              <a:t>End-to-End RACI  —  ownership &amp; hand-off protocols</a:t>
            </a:r>
          </a:p>
        </p:txBody>
      </p:sp>
      <p:sp>
        <p:nvSpPr>
          <p:cNvPr id="146" name="Oval 145"/>
          <p:cNvSpPr/>
          <p:nvPr/>
        </p:nvSpPr>
        <p:spPr>
          <a:xfrm>
            <a:off x="8220456" y="6172200"/>
            <a:ext cx="73152" cy="73152"/>
          </a:xfrm>
          <a:prstGeom prst="ellipse">
            <a:avLst/>
          </a:prstGeom>
          <a:solidFill>
            <a:srgbClr val="4C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357616" y="6108192"/>
            <a:ext cx="3401568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1F2C"/>
                </a:solidFill>
                <a:latin typeface="Calibri"/>
              </a:rPr>
              <a:t>Gap List  —  ready to operationalize vs. follow-ups</a:t>
            </a:r>
          </a:p>
        </p:txBody>
      </p:sp>
      <p:sp>
        <p:nvSpPr>
          <p:cNvPr id="148" name="Oval 147"/>
          <p:cNvSpPr/>
          <p:nvPr/>
        </p:nvSpPr>
        <p:spPr>
          <a:xfrm>
            <a:off x="8220456" y="6419088"/>
            <a:ext cx="73152" cy="73152"/>
          </a:xfrm>
          <a:prstGeom prst="ellipse">
            <a:avLst/>
          </a:prstGeom>
          <a:solidFill>
            <a:srgbClr val="4C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357616" y="6355080"/>
            <a:ext cx="3401568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1F2C"/>
                </a:solidFill>
                <a:latin typeface="Calibri"/>
              </a:rPr>
              <a:t>Status-approved v1.0  —  ready to feed Wave 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© 2026 NTT DATA · Digital Products (Avangrid) · Wave 1 — Lifecycle Map Definition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601200" y="6601968"/>
            <a:ext cx="228600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750" b="1">
                <a:solidFill>
                  <a:srgbClr val="E88B2F"/>
                </a:solidFill>
                <a:latin typeface="Calibri"/>
              </a:rPr>
              <a:t>Target close: end of Week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EIGHT GUIDING PRINCIPLES — TO-BE MODEL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C7D3E4"/>
                </a:solidFill>
                <a:latin typeface="Calibri"/>
              </a:rPr>
              <a:t>The TO-BE Lifecycle Map is built against these 8 principles — each answers a structural issue of the AS-IS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From this Baseline: BRANCH-UNIFIED (Apps + CS) and PRODUCT-ORIENTED (Value Streams, not silos).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669280" cy="1216152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669280" cy="64008"/>
          </a:xfrm>
          <a:prstGeom prst="rect">
            <a:avLst/>
          </a:prstGeom>
          <a:solidFill>
            <a:srgbClr val="3B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3B7D23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91640"/>
            <a:ext cx="475488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3B7D23"/>
                </a:solidFill>
                <a:latin typeface="Calibri"/>
              </a:rPr>
              <a:t>Single Front Door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11680"/>
            <a:ext cx="470916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Calibri"/>
              </a:rPr>
              <a:t>One structured intake process for all demand types, replacing the 6+ disconnected channels.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16352"/>
            <a:ext cx="5669280" cy="1216152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816352"/>
            <a:ext cx="5669280" cy="64008"/>
          </a:xfrm>
          <a:prstGeom prst="rect">
            <a:avLst/>
          </a:prstGeom>
          <a:solidFill>
            <a:srgbClr val="3B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53512"/>
            <a:ext cx="640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3B7D2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99232"/>
            <a:ext cx="475488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3B7D23"/>
                </a:solidFill>
                <a:latin typeface="Calibri"/>
              </a:rPr>
              <a:t>Value-Based Prioritization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19272"/>
            <a:ext cx="470916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Calibri"/>
              </a:rPr>
              <a:t>Standardized scoring framework across both branches — objective criteria, not ad-hoc forums.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23944"/>
            <a:ext cx="5669280" cy="1216152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123944"/>
            <a:ext cx="5669280" cy="64008"/>
          </a:xfrm>
          <a:prstGeom prst="rect">
            <a:avLst/>
          </a:prstGeom>
          <a:solidFill>
            <a:srgbClr val="3B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61104"/>
            <a:ext cx="640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3B7D23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06824"/>
            <a:ext cx="475488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3B7D23"/>
                </a:solidFill>
                <a:latin typeface="Calibri"/>
              </a:rPr>
              <a:t>Capacity-Aware Assignment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626864"/>
            <a:ext cx="470916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Calibri"/>
              </a:rPr>
              <a:t>Assignment paired with capacity visibility — not manual handoffs with opaque availability.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31536"/>
            <a:ext cx="5669280" cy="1216152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431536"/>
            <a:ext cx="5669280" cy="64008"/>
          </a:xfrm>
          <a:prstGeom prst="rect">
            <a:avLst/>
          </a:prstGeom>
          <a:solidFill>
            <a:srgbClr val="3B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568696"/>
            <a:ext cx="640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3B7D23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614416"/>
            <a:ext cx="475488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3B7D23"/>
                </a:solidFill>
                <a:latin typeface="Calibri"/>
              </a:rPr>
              <a:t>Standardized Execution Platforms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934456"/>
            <a:ext cx="470916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Calibri"/>
              </a:rPr>
              <a:t>Jira for Agile delivery (small / medium + evolutive); PPM Now for Waterfall delivery (large projects + CAPEX). Consistent tracking across both tracks.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508760"/>
            <a:ext cx="5669280" cy="1216152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508760"/>
            <a:ext cx="5669280" cy="64008"/>
          </a:xfrm>
          <a:prstGeom prst="rect">
            <a:avLst/>
          </a:prstGeom>
          <a:solidFill>
            <a:srgbClr val="3B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645920"/>
            <a:ext cx="640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3B7D23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1691640"/>
            <a:ext cx="475488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3B7D23"/>
                </a:solidFill>
                <a:latin typeface="Calibri"/>
              </a:rPr>
              <a:t>Integrated Toolchain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011680"/>
            <a:ext cx="470916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Calibri"/>
              </a:rPr>
              <a:t>Intake + Jira + PPM Now — three core platforms interoperable across Applications and Customer Services.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816352"/>
            <a:ext cx="5669280" cy="1216152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2816352"/>
            <a:ext cx="5669280" cy="64008"/>
          </a:xfrm>
          <a:prstGeom prst="rect">
            <a:avLst/>
          </a:prstGeom>
          <a:solidFill>
            <a:srgbClr val="3B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953512"/>
            <a:ext cx="640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3B7D23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999232"/>
            <a:ext cx="475488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3B7D23"/>
                </a:solidFill>
                <a:latin typeface="Calibri"/>
              </a:rPr>
              <a:t>Automated 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319272"/>
            <a:ext cx="470916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Calibri"/>
              </a:rPr>
              <a:t>Real-time dashboards from a single source of truth — replacing manual data gathering.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123944"/>
            <a:ext cx="5669280" cy="1216152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4123944"/>
            <a:ext cx="5669280" cy="64008"/>
          </a:xfrm>
          <a:prstGeom prst="rect">
            <a:avLst/>
          </a:prstGeom>
          <a:solidFill>
            <a:srgbClr val="3B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261104"/>
            <a:ext cx="640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3B7D23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306824"/>
            <a:ext cx="475488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3B7D23"/>
                </a:solidFill>
                <a:latin typeface="Calibri"/>
              </a:rPr>
              <a:t>Defined RACI per Lifecycle Phase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626864"/>
            <a:ext cx="470916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Calibri"/>
              </a:rPr>
              <a:t>Unambiguous ownership and handoff protocols at every stage — from intake to deployment.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5431536"/>
            <a:ext cx="5669280" cy="1216152"/>
          </a:xfrm>
          <a:prstGeom prst="rect">
            <a:avLst/>
          </a:prstGeom>
          <a:solidFill>
            <a:srgbClr val="F4F5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5431536"/>
            <a:ext cx="5669280" cy="64008"/>
          </a:xfrm>
          <a:prstGeom prst="rect">
            <a:avLst/>
          </a:prstGeom>
          <a:solidFill>
            <a:srgbClr val="3B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568696"/>
            <a:ext cx="640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3B7D23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5614416"/>
            <a:ext cx="475488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3B7D23"/>
                </a:solidFill>
                <a:latin typeface="Calibri"/>
              </a:rPr>
              <a:t>Hybrid Delivery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5934456"/>
            <a:ext cx="470916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Calibri"/>
              </a:rPr>
              <a:t>Delivery method matched to demand type: Agile (Jira / squads) for small–medium + evolutive work; Waterfall (PDD + PPM Now) for large, CAPEX or regulatory projects. Shared intake and governance.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Calibri"/>
              </a:rPr>
              <a:t>© 2026 NTT DATA · Digital Products (Avangrid) · Reference for TO-BE Lifecycle 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6601968"/>
            <a:ext cx="228600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750" b="1">
                <a:solidFill>
                  <a:srgbClr val="E88B2F"/>
                </a:solidFill>
                <a:latin typeface="Calibri"/>
              </a:rPr>
              <a:t>Source: AS-IS Deliverable · Slide 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