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2286000" cy="54864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6B600"/>
                </a:solidFill>
                <a:latin typeface="Arial"/>
              </a:rPr>
              <a:t>AVANGRID  ·  DIGITAL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Target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6785C1"/>
                </a:solidFill>
                <a:latin typeface="Arial"/>
              </a:rPr>
              <a:t>Demand Management — Stage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A product-centric operating model for IT Business Applications and Customer Services Applications under VP IT Business Solutions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DCE6F5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785C1"/>
                </a:solidFill>
                <a:latin typeface="Arial"/>
              </a:rPr>
              <a:t>OUR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  <a:latin typeface="Arial"/>
              </a:rPr>
              <a:t>Adopt a product-centric operating model with eight Value Stream Teams aligned to customer outcomes — converting today's fragmented intake into a scalable, governed framework that supports projected growth.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69813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1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98138" cy="502920"/>
          </a:xfrm>
          <a:prstGeom prst="rect">
            <a:avLst/>
          </a:prstGeom>
          <a:solidFill>
            <a:srgbClr val="21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98138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332378" cy="2606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Projected 30–50% growth in Digital Products demand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Multiple uncoordinated intake channels create lost visibility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No shared definition of value across business units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Manual reporting disconnected from operational reality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498" y="2286000"/>
            <a:ext cx="369813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2498" y="2286000"/>
            <a:ext cx="3698138" cy="5029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2498" y="2331720"/>
            <a:ext cx="3698138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378" y="2926080"/>
            <a:ext cx="3332378" cy="2606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Single intake channel per Value Stream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Two-gate governance (weekly triage + monthly portfolio)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Class-of-Service framework with capacity caps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Unified backlog system with one source of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286000"/>
            <a:ext cx="369813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2286000"/>
            <a:ext cx="3698138" cy="50292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2331720"/>
            <a:ext cx="3698138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HOW WE GET THERE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2926080"/>
            <a:ext cx="3332378" cy="2606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Pilot with one Value Stream over 14 weeks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Refine and validate the governance model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Scale to remaining Value Streams in waves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2C3E50"/>
                </a:solidFill>
                <a:latin typeface="Arial"/>
              </a:rPr>
              <a:t>•  Continuous improvement through feedback 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Digital Products organization · approximately 50 people across two branches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4572000" cy="731520"/>
          </a:xfrm>
          <a:prstGeom prst="roundRect">
            <a:avLst>
              <a:gd name="adj" fmla="val 20000"/>
            </a:avLst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143000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VP  ·  IT Business Solutions Delivery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00400" y="1828800"/>
            <a:ext cx="2926080" cy="274320"/>
          </a:xfrm>
          <a:prstGeom prst="line">
            <a:avLst/>
          </a:prstGeom>
          <a:ln w="25400">
            <a:solidFill>
              <a:srgbClr val="678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126480" y="1828800"/>
            <a:ext cx="2926080" cy="274320"/>
          </a:xfrm>
          <a:prstGeom prst="line">
            <a:avLst/>
          </a:prstGeom>
          <a:ln w="25400">
            <a:solidFill>
              <a:srgbClr val="678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210312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669280" cy="54864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76272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IT BUSINESS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669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E7887"/>
                </a:solidFill>
                <a:latin typeface="Arial"/>
              </a:rPr>
              <a:t>approximately 26 people  ·  4 sub-teams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5120640" cy="5029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Electric &amp; Gas Operations  —  ~7 people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5120640" cy="5029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GIS &amp; Operations Support  —  ~6 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5120640" cy="5029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Corporate Applications  —  ~8 people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5120640" cy="5029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Global SAP (Iberdrola)  —  ~5 people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0312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03120"/>
            <a:ext cx="5669280" cy="5486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176272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CUSTOMER SERVICES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743200"/>
            <a:ext cx="5669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E7887"/>
                </a:solidFill>
                <a:latin typeface="Arial"/>
              </a:rPr>
              <a:t>approximately 24 people  ·  5 sub-teams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54680"/>
            <a:ext cx="5120640" cy="4114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15468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Billing, FICA &amp; Collections  —  ~8 people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657600"/>
            <a:ext cx="5120640" cy="4114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65760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Device &amp; Metering  —  ~8 people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160520"/>
            <a:ext cx="5120640" cy="4114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16052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CRM &amp; Contact Center  —  ~4 people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663440"/>
            <a:ext cx="5120640" cy="4114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66344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SAP &amp; CS Architecture  —  ~2 people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166360"/>
            <a:ext cx="5120640" cy="4114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166360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Arial"/>
              </a:rPr>
              <a:t>SAP Basis  —  ~2 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Target Operating Model · eight Value Stream Teams aligned to customer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716453" cy="86868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Service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Customer signs up · activates · changes · disconnects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813" y="105156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813" y="1051560"/>
            <a:ext cx="2716453" cy="86868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813" y="114300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813" y="146304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Revenue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973" y="201168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Accurate billing · easy payment · fair 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427" y="105156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4427" y="1051560"/>
            <a:ext cx="2716453" cy="86868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114300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Customer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4427" y="146304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&amp; Contact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1587" y="201168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Issue resolution · self-service · voice of 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8041" y="105156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8041" y="1051560"/>
            <a:ext cx="2716453" cy="8686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8041" y="114300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Field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8041" y="146304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201" y="201168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Field worker / inspector / lineman productivity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04038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40380"/>
            <a:ext cx="2716453" cy="8686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3182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Engineering &amp;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5186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Asset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0050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Engineer / planner designs with reliable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0813" y="304038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0813" y="3040380"/>
            <a:ext cx="2716453" cy="8686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813" y="313182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Network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813" y="345186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&amp;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973" y="400050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Grid operator prevents and minimizes outages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4427" y="304038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4427" y="3040380"/>
            <a:ext cx="2716453" cy="8686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4427" y="313182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Corporate &amp;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4427" y="345186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Regulatory 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1587" y="400050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HR / employee / regulatory user self-service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18041" y="3040380"/>
            <a:ext cx="2716453" cy="18516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18041" y="3040380"/>
            <a:ext cx="2716453" cy="8686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8041" y="313182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Iberdrola Corporate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8041" y="3451860"/>
            <a:ext cx="271645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55201" y="4000500"/>
            <a:ext cx="2442133" cy="8001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2C3E50"/>
                </a:solidFill>
                <a:latin typeface="Arial"/>
              </a:rPr>
              <a:t>Spain finance / procurement / budget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274320" cy="27432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1206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Customer Services Applications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5120640"/>
            <a:ext cx="274320" cy="2743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51206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IT Business Applications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E7887"/>
                </a:solidFill>
                <a:latin typeface="Arial"/>
              </a:rPr>
              <a:t>Each team operates a single backlog with end-to-end ownership of its outcome. Cross-team coordination happens through dedicated forums, not shared backlogs.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Stage 01 — Demand Management · five framework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145731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145731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145731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145731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Arial"/>
              </a:rPr>
              <a:t>14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779971" cy="3749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What the organization must be able to do</a:t>
            </a:r>
          </a:p>
          <a:p>
            <a:pPr>
              <a:lnSpc>
                <a:spcPct val="140000"/>
              </a:lnSpc>
            </a:pP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Intake · classification · scoring · triage · routing · visibility · de-duplication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0091" y="1188720"/>
            <a:ext cx="2145731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B6B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0091" y="1188720"/>
            <a:ext cx="2145731" cy="64008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0091" y="1234440"/>
            <a:ext cx="2145731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091" y="1554480"/>
            <a:ext cx="2145731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Arial"/>
              </a:rPr>
              <a:t>4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2011680"/>
            <a:ext cx="1779971" cy="3749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Who owns and operates the framework</a:t>
            </a:r>
          </a:p>
          <a:p>
            <a:pPr>
              <a:lnSpc>
                <a:spcPct val="140000"/>
              </a:lnSpc>
            </a:pP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Requestors · Product/Demand Managers · Architects · Triage Committee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2982" y="1188720"/>
            <a:ext cx="2145731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2982" y="1188720"/>
            <a:ext cx="2145731" cy="6400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2982" y="1234440"/>
            <a:ext cx="2145731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2982" y="1554480"/>
            <a:ext cx="2145731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Arial"/>
              </a:rPr>
              <a:t>5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5862" y="2011680"/>
            <a:ext cx="1779971" cy="3749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Systems and platforms used</a:t>
            </a:r>
          </a:p>
          <a:p>
            <a:pPr>
              <a:lnSpc>
                <a:spcPct val="140000"/>
              </a:lnSpc>
            </a:pP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Capture · tracking · communication · documentation ·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5873" y="1188720"/>
            <a:ext cx="2145731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5873" y="1188720"/>
            <a:ext cx="2145731" cy="6400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5873" y="1234440"/>
            <a:ext cx="2145731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5873" y="1554480"/>
            <a:ext cx="2145731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Arial"/>
              </a:rPr>
              <a:t>6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753" y="2011680"/>
            <a:ext cx="1779971" cy="3749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Decisions, forums, controls</a:t>
            </a:r>
          </a:p>
          <a:p>
            <a:pPr>
              <a:lnSpc>
                <a:spcPct val="140000"/>
              </a:lnSpc>
            </a:pP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Forums · decision practices · escalation · guidelines · alignment · oversight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88764" y="1188720"/>
            <a:ext cx="2145731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88720"/>
            <a:ext cx="2145731" cy="6400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8764" y="1234440"/>
            <a:ext cx="2145731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8764" y="1554480"/>
            <a:ext cx="2145731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Arial"/>
              </a:rPr>
              <a:t>7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1644" y="2011680"/>
            <a:ext cx="1779971" cy="3749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How success is measured</a:t>
            </a:r>
          </a:p>
          <a:p>
            <a:pPr>
              <a:lnSpc>
                <a:spcPct val="140000"/>
              </a:lnSpc>
            </a:pP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2C3E50"/>
                </a:solidFill>
                <a:latin typeface="Arial"/>
              </a:rPr>
              <a:t>Volume · quality · lead time · channel mix · urgency · duplication ·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Capabilities · what the organization must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CAPABILITIES  ·  14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intake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Single front door per Value Stream Team. Email, Teams, ad-hoc messaging are decommissioned as demand entry. Incident-only path remains.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0947" y="155448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0947" y="155448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2387" y="158191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registration &amp;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8107" y="205740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Auto-created backlog item from intake form. Immutable audit fields: requester, business unit, team, date. Every state change logged.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4694" y="155448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04694" y="155448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6134" y="158191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Channel consolidation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854" y="205740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One adaptive intake form per team. Target: 90% of demand via single channel by month 6. No alternative formal channels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441" y="155448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78441" y="155448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9881" y="158191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Standard intake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601" y="205740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Canonical template with mandatory Definition of Ready fields: title, business value, acceptance criteria, class of service, due date, sponsor.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2188" y="155448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2188" y="155448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3628" y="158191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9348" y="205740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Three independent axes: type, size, urgency. Closed taxonomy. Classification done at intake gate, not self-declared.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3944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3944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16687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Run · Change · Regulatory · Innovation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64236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Four Classes of Service with capacity caps. Replaces ad-hoc 'urgent override' culture with explicit policy.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30947" y="313944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30947" y="313944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2387" y="316687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Business value definition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8107" y="364236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Weighted scoring formula combining business value, user experience, safety, and effort. Sponsor signs off the score at intake.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04694" y="313944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4694" y="313944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6134" y="316687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Acceptance criteria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1854" y="364236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Mandatory in Definition of Ready. Format: Given/When/Then or measurable outcome. Reviewed before scoring. Immutable post-prioritization.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8441" y="313944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78441" y="313944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9881" y="316687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Technical feasibility 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601" y="364236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Lightweight check at intake gate by rotating architect. Time-boxed (2 hours max). Output: Feasible / Conditional / Not feasible.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2188" y="313944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52188" y="313944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3628" y="316687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Triage &amp;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9348" y="364236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Weekly 30-minute triage committee. Outcomes: Accept · Send-back · Reject. Five-business-day SLA.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72440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72440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5183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routing &amp; assignment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22732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Routing by Value Stream, not by team or person. Auto-routing based on requester selection. Cross-stream items go to Architecture review.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30947" y="472440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30947" y="472440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22387" y="475183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Urgent or exception requests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68107" y="522732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Expedite Class of Service capped at 20% of throughput. Real-time incidents bypass intake (Service Desk SLA).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04694" y="472440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04694" y="472440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96134" y="475183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visibility &amp; tracking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41854" y="522732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Single dashboard, public read-only. Views: inflow funnel · backlog by team · class-of-service mix · aging · top priorities.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78441" y="4724400"/>
            <a:ext cx="2182307" cy="149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78441" y="4724400"/>
            <a:ext cx="2182307" cy="4114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9881" y="4751832"/>
            <a:ext cx="199942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Duplicate &amp; overlap identification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15601" y="5227320"/>
            <a:ext cx="1907987" cy="899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Similarity search at submit (top-3 matches surfaced). Weekly de-dup query. Overlaps escalated to Portfolio Committee.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Roles · who owns and operates the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ROLES  ·  4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92927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6B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592927" cy="41148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541004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Business requestors &amp;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5318607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All originating business units route through a single intake form per Value Stream. Includes Customer Services Products organization, Networks Business sponsors, Iberdrola corporate, and BRS UIL/CMP/NY.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1567" y="1554480"/>
            <a:ext cx="5592927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6B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1567" y="1554480"/>
            <a:ext cx="5592927" cy="41148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581912"/>
            <a:ext cx="541004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Product or Demand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057400"/>
            <a:ext cx="5318607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One Product Manager per Value Stream Team — accountable for outcome, scoring, and backlog priority. One Demand Manager (cross-team) audits scoring and intake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592927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6B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592927" cy="41148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59352"/>
            <a:ext cx="541004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Architects &amp; technical reviewers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34840"/>
            <a:ext cx="5318607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Architecture Council with rotating members from existing technical leads. Time-boxed advisory input at the intake gate. Provides feasibility view, not a veto.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1567" y="3931920"/>
            <a:ext cx="5592927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6B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1567" y="3931920"/>
            <a:ext cx="5592927" cy="411480"/>
          </a:xfrm>
          <a:prstGeom prst="rect">
            <a:avLst/>
          </a:prstGeom>
          <a:solidFill>
            <a:srgbClr val="2B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3959352"/>
            <a:ext cx="5410047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Triage / intake committee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434840"/>
            <a:ext cx="5318607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Weekly committee per portfolio. Composition: Demand Manager (chair) plus Product Managers and Architect. Decisions logged with reason. Cross-portfolio escalations go to monthly Portfolio Committee.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Tools · systems and platforms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TOOLS  ·  5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98138" cy="4114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Single intake form per Value Stream Team with adaptive logic. Mandatory fields enforce Definition of Ready. Separate dedicated channel for real-time grid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6778" y="155448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6778" y="1554480"/>
            <a:ext cx="3698138" cy="4114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58191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Tracking &amp; 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3938" y="205740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Single backlog system as system of record. Item hierarchy: Initiative → Epic → Feature → Story. Team Kanban with five phases and dual track (Discovery + Delivery).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155448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1554480"/>
            <a:ext cx="3698138" cy="4114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58191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Communication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516" y="205740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Triage outcomes auto-published to requesters. Per-requester portal showing live status. Cross-team coordination through dedicated forums.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698138" cy="4114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5935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Single source of truth for Definition of Ready, Class of Service taxonomy, per-team product brief. Sponsor approval logged within the intake form itself.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6778" y="393192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778" y="3931920"/>
            <a:ext cx="3698138" cy="4114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8218" y="395935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Reporting &amp;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3938" y="443484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Demand dashboard with five views: inflow funnel, backlog by team, class-of-service mix, aging, top priorities. Auto-refresh under one hour. Director-level rollups.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Governance · decisions, forums, and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GOVERNANCE  ·  6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98138" cy="4114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review forums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Two-gate structure. Gate 1: weekly triage (30 minutes). Gate 2: monthly Portfolio Committee (90 minutes). Quarterly cross-portfolio Big Room Planning.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6778" y="155448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6778" y="1554480"/>
            <a:ext cx="3698138" cy="4114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58191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Decision-making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3938" y="205740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Four explicit outcomes: Accept · Send-back · Reject · Redirect. Every decision audit-logged with reason. No silent overrides.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155448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1554480"/>
            <a:ext cx="3698138" cy="4114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58191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Escalation mechanisms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516" y="205740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Cross-team conflicts resolved at Customer Journey Forum. Cross-portfolio conflicts resolved at VP Portfolio Sync. Every Expedite reviewed at the next Portfolio Committee.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698138" cy="4114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5935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Definition of intake guidelines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Single source of truth for the Definition of Ready template, Class of Service taxonomy, and capacity caps. Reviewed every six months by the Demand Council.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6778" y="393192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6778" y="3931920"/>
            <a:ext cx="3698138" cy="4114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8218" y="395935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Alignment with business stakeholders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3938" y="443484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Quarterly Big Room Planning. Customer Journey Forum per major customer journey. Sponsor sign-off mandatory at intake (business value approval).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6356" y="3931920"/>
            <a:ext cx="369813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6356" y="3931920"/>
            <a:ext cx="3698138" cy="411480"/>
          </a:xfrm>
          <a:prstGeom prst="rect">
            <a:avLst/>
          </a:prstGeom>
          <a:solidFill>
            <a:srgbClr val="2C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7796" y="3959352"/>
            <a:ext cx="351525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Oversight of inflow &amp; backlog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3516" y="4434840"/>
            <a:ext cx="3423818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Demand Manager owns the demand dashboard. Aging beyond threshold triggers automatic escalation. Quarterly demand-vs-delivery conversion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Performance · how success is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PERFORMANCE  ·  7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volume &amp; inflow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Submissions per week, month, quarter. Breakdown by Value Stream, Class of Service, OPCO, and source business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9383" y="155448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9383" y="155448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0823" y="158191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Demand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6543" y="205740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Definition-of-Ready pass-rate at first submission (target 70% or higher). Re-submission rate per requester. Acceptance criteria quality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1567" y="155448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1567" y="155448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58191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Triage lead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05740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Median time from submission to Gate 1 decision (target 5 business days or less). 90th percentile to surface outliers. Breakdown per Class of Service.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751" y="155448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3751" y="155448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5191" y="158191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% via formal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0911" y="205740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Target 90% via single channel by month 6. Decommissioned-channel residuals tracked monthly. Per-business-unit adoption visible.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5935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% urgent or bypassed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3484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Expedite as percent of total throughput (cap 20%). Regulatory subset tracked. Auto-downgrade rate of unauthorized 'urgent' claims.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9383" y="393192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9383" y="393192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0823" y="395935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Duplication &amp; overlap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6543" y="443484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Duplicate-link rate (% submissions matched to existing). Overlap escalations resolved at Portfolio Committee.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1567" y="3931920"/>
            <a:ext cx="27507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1567" y="3931920"/>
            <a:ext cx="2750743" cy="4114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3007" y="3959352"/>
            <a:ext cx="256786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Visibility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727" y="4434840"/>
            <a:ext cx="2476423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Percent of requesters who can find own submission status (target 100%). Average time to status update. Live per-business-unit portal.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Portfolio architecture · three layers from VP rollup to team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DCE6F5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6785C1"/>
                </a:solidFill>
                <a:latin typeface="Arial"/>
              </a:rPr>
              <a:t>VP ROLL-UP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Aggregated view across both portfolios · monthly Portfolio Sync · cross-portfolio dependencies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011680"/>
            <a:ext cx="0" cy="274320"/>
          </a:xfrm>
          <a:prstGeom prst="line">
            <a:avLst/>
          </a:prstGeom>
          <a:ln w="25400">
            <a:solidFill>
              <a:srgbClr val="213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28600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PORTFOLIO BOARD  ·  Customer Services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3 Value Streams · cards = Initiatives</a:t>
            </a:r>
          </a:p>
          <a:p>
            <a:r>
              <a:t>Monthly Portfolio Committee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5486400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PORTFOLIO BOARD  ·  IT Business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5 Value Streams · cards = Initiatives</a:t>
            </a:r>
          </a:p>
          <a:p>
            <a:r>
              <a:t>Monthly Portfolio Committee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566160"/>
            <a:ext cx="0" cy="457200"/>
          </a:xfrm>
          <a:prstGeom prst="line">
            <a:avLst/>
          </a:prstGeom>
          <a:ln w="25400">
            <a:solidFill>
              <a:srgbClr val="213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13C69"/>
                </a:solidFill>
                <a:latin typeface="Arial"/>
              </a:rPr>
              <a:t>EIGHT VALUE STREAM TEAM BOARDS  ·  cards = Epics → Features → Stories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1318221" cy="45720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Service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12581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12581" y="4023360"/>
            <a:ext cx="1318221" cy="45720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12581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12581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Revenue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8301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2243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22243" y="4023360"/>
            <a:ext cx="1318221" cy="45720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2243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Customer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&amp; Contact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7963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1905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31905" y="4023360"/>
            <a:ext cx="1318221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1905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Field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7625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1567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1567" y="4023360"/>
            <a:ext cx="1318221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1567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1567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&amp; Asset Mgmt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7287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51229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51229" y="4023360"/>
            <a:ext cx="1318221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1229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Network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1229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&amp;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96949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0891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0891" y="4023360"/>
            <a:ext cx="1318221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0891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Corporate &amp;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0891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Regulatory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611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70553" y="4023360"/>
            <a:ext cx="1318221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70553" y="4023360"/>
            <a:ext cx="1318221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0553" y="4050792"/>
            <a:ext cx="1318221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Iberdrola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70553" y="4251960"/>
            <a:ext cx="1318221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Corporate Services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16273" y="4663440"/>
            <a:ext cx="1226781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5 phases</a:t>
            </a:r>
          </a:p>
          <a:p>
            <a:r>
              <a:t>× 2 tracks</a:t>
            </a:r>
          </a:p>
          <a:p>
            <a:r>
              <a:t>(Discovery + Delivery)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Portfolio Board · cards are Initiatives flowing through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E7887"/>
                </a:solidFill>
                <a:latin typeface="Arial"/>
              </a:rPr>
              <a:t>Example  ·  IT Business Applications Portfolio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833829" cy="4572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83382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Funnel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833829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45893" y="1463040"/>
            <a:ext cx="1833829" cy="4572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5893" y="1508760"/>
            <a:ext cx="183382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Reviewing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45893" y="1920240"/>
            <a:ext cx="1833829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4586" y="1463040"/>
            <a:ext cx="1833829" cy="4572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4586" y="1508760"/>
            <a:ext cx="183382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Analyzing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4586" y="1920240"/>
            <a:ext cx="1833829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3279" y="1463040"/>
            <a:ext cx="1833829" cy="4572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3279" y="1508760"/>
            <a:ext cx="183382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Backlog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3279" y="1920240"/>
            <a:ext cx="1833829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1972" y="1463040"/>
            <a:ext cx="1833829" cy="4572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1972" y="1508760"/>
            <a:ext cx="183382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Implementing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1972" y="1920240"/>
            <a:ext cx="1833829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0665" y="1463040"/>
            <a:ext cx="1833829" cy="45720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0665" y="1508760"/>
            <a:ext cx="183382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00665" y="1920240"/>
            <a:ext cx="1833829" cy="411480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201168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011680"/>
            <a:ext cx="73152" cy="6400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05740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Storm program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37744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Field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74320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274320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78892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Mobility upgrades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10896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Field Operations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91613" y="201168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91613" y="201168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8773" y="205740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Drawing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8773" y="237744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Engineering &amp; Asset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0306" y="201168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80306" y="201168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7466" y="205740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Network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7466" y="237744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Engineering &amp; Asset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0306" y="274320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80306" y="2743200"/>
            <a:ext cx="73152" cy="6400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7466" y="278892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OMS modernization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7466" y="310896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Network Ops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8999" y="201168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68999" y="201168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6159" y="205740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Doc viewer 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6159" y="237744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Field Operations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57692" y="201168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57692" y="201168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4852" y="205740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Mobile field migration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4852" y="237744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Field Operations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57692" y="274320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57692" y="2743200"/>
            <a:ext cx="73152" cy="6400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94852" y="278892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ERP transition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4852" y="310896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Iberdrola Corp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57692" y="347472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57692" y="347472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4852" y="352044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Asset registry refresh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4852" y="384048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Engineering &amp; Asset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6385" y="2011680"/>
            <a:ext cx="174238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946385" y="2011680"/>
            <a:ext cx="73152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83545" y="2057400"/>
            <a:ext cx="155950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Storm program Q1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83545" y="2377440"/>
            <a:ext cx="155950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Field Operations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77559" y="1417320"/>
            <a:ext cx="45720" cy="466344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05959" y="15087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B63B1F"/>
                </a:solidFill>
                <a:latin typeface="Arial"/>
              </a:rPr>
              <a:t>▲ APPROVAL GATE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126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E7887"/>
                </a:solidFill>
                <a:latin typeface="Arial"/>
              </a:rPr>
              <a:t>CLASS OF SERVICE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6172200"/>
            <a:ext cx="182880" cy="1828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60320" y="6126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Standard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6172200"/>
            <a:ext cx="182880" cy="1828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63440" y="6126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Fixed-Date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6172200"/>
            <a:ext cx="182880" cy="1828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66560" y="6126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Expedite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95360" y="6172200"/>
            <a:ext cx="182880" cy="1828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9680" y="6126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Intangible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Team Kanban · five phases by two tracks · cards are Epics, Features,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E7887"/>
                </a:solidFill>
                <a:latin typeface="Arial"/>
              </a:rPr>
              <a:t>Example  ·  Field Operations Team Kanban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463040"/>
            <a:ext cx="1955535" cy="59436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087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Arial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057400"/>
            <a:ext cx="1955535" cy="397764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7759" y="1463040"/>
            <a:ext cx="1955535" cy="59436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7759" y="15087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7759" y="17373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MATERIALIZATION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7759" y="2057400"/>
            <a:ext cx="1955535" cy="397764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58159" y="1463040"/>
            <a:ext cx="1955535" cy="59436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8159" y="15087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8159" y="17373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CREATION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58159" y="2057400"/>
            <a:ext cx="1955535" cy="397764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68559" y="1463040"/>
            <a:ext cx="1955535" cy="59436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8559" y="15087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8559" y="17373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ONGOING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8559" y="2057400"/>
            <a:ext cx="1955535" cy="397764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78959" y="1463040"/>
            <a:ext cx="1955535" cy="59436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8959" y="15087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Arial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8959" y="1737360"/>
            <a:ext cx="195553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78959" y="2057400"/>
            <a:ext cx="1955535" cy="3977640"/>
          </a:xfrm>
          <a:prstGeom prst="rect">
            <a:avLst/>
          </a:prstGeom>
          <a:solidFill>
            <a:srgbClr val="F5F5F7"/>
          </a:solidFill>
          <a:ln w="6350">
            <a:solidFill>
              <a:srgbClr val="6E7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057400"/>
            <a:ext cx="1280160" cy="19888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057400"/>
            <a:ext cx="1280160" cy="19888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DISCOVERY</a:t>
            </a:r>
          </a:p>
          <a:p>
            <a:r>
              <a:t>TRACK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46220"/>
            <a:ext cx="1280160" cy="198882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46220"/>
            <a:ext cx="1280160" cy="19888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DELIVERY</a:t>
            </a:r>
          </a:p>
          <a:p>
            <a:r>
              <a:t>TRACK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4046220.0"/>
            <a:ext cx="9997135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783080" y="2194560"/>
            <a:ext cx="1864095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83080" y="2194560"/>
            <a:ext cx="1864095" cy="201168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6232" y="220370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EPIC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20" y="244144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Migrate DLI inspections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74320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exploring offline reqs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93479" y="2194560"/>
            <a:ext cx="1864095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3479" y="2194560"/>
            <a:ext cx="1864095" cy="201168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6631" y="220370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EPIC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4919" y="244144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Migrate TLI inspections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4919" y="274320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sizing with vendor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3879" y="4183380"/>
            <a:ext cx="1864095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03879" y="4183380"/>
            <a:ext cx="1864095" cy="201168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77031" y="419252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EPIC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5319" y="443026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Migrate DGI/TGI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5319" y="473202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team assigned · sprint 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4279" y="4183380"/>
            <a:ext cx="186409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14279" y="4183380"/>
            <a:ext cx="1864095" cy="201168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7431" y="419252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5719" y="443026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Offline DLI capability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5719" y="459486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in dev · Sprint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4279" y="4914900"/>
            <a:ext cx="186409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14279" y="4914900"/>
            <a:ext cx="1864095" cy="201168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87431" y="492404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5719" y="516178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Mobile TLI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19" y="532638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in dev · Sprint 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4279" y="5646420"/>
            <a:ext cx="1864095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14279" y="5646420"/>
            <a:ext cx="1864095" cy="201168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87431" y="565556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STORY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5719" y="589330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Sync logic — QA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5719" y="587502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Sprint 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24679" y="4183380"/>
            <a:ext cx="186409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24679" y="4183380"/>
            <a:ext cx="1864095" cy="201168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97831" y="4192524"/>
            <a:ext cx="1717791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EPIC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16119" y="4430268"/>
            <a:ext cx="168121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Arial"/>
              </a:rPr>
              <a:t>Decommission FWM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16119" y="4594860"/>
            <a:ext cx="1681215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E7887"/>
                </a:solidFill>
                <a:latin typeface="Arial"/>
              </a:rPr>
              <a:t>hypercare · 30d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6172200"/>
            <a:ext cx="182880" cy="1828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EPIC  ·  multi-sprint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0" y="6172200"/>
            <a:ext cx="182880" cy="18288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6126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FEATURE  ·  2-6 weeks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8160" y="6172200"/>
            <a:ext cx="182880" cy="1828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6126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STORY  ·  1 sprint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Class of Service framework · capacity caps replace ad-hoc 'urgent' overrides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7360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773603" cy="64008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773603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773603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Arial"/>
              </a:rPr>
              <a:t>≈50%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2407843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Normal demand flowing through the standard intake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2407843" cy="4572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40784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4C8C3F"/>
                </a:solidFill>
                <a:latin typeface="Arial"/>
              </a:rPr>
              <a:t>WHEN IT APPLIES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2407843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Routine enhancements, planned change, tech debt addressed in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1097280"/>
            <a:ext cx="277360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7963" y="1097280"/>
            <a:ext cx="2773603" cy="64008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7963" y="1143000"/>
            <a:ext cx="2773603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FIXED-DATE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7963" y="1481328"/>
            <a:ext cx="2773603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Arial"/>
              </a:rPr>
              <a:t>≈20%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843" y="1874520"/>
            <a:ext cx="2407843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Demand with a hard regulatory or contractual deadline.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843" y="3017520"/>
            <a:ext cx="2407843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0843" y="3154680"/>
            <a:ext cx="240784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785C1"/>
                </a:solidFill>
                <a:latin typeface="Arial"/>
              </a:rPr>
              <a:t>WHEN IT APPLIES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843" y="3429000"/>
            <a:ext cx="2407843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Prioritized by date, not by score. Date breach triggers escalation.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1097280"/>
            <a:ext cx="277360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1097280"/>
            <a:ext cx="2773603" cy="64008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727" y="1143000"/>
            <a:ext cx="2773603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EXPEDITE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1481328"/>
            <a:ext cx="2773603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Arial"/>
              </a:rPr>
              <a:t>≤20%  ·  CAPPED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1874520"/>
            <a:ext cx="2407843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Critical regulatory or safety items requiring fast-track.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1607" y="3017520"/>
            <a:ext cx="2407843" cy="4572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607" y="3154680"/>
            <a:ext cx="240784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B63B1F"/>
                </a:solidFill>
                <a:latin typeface="Arial"/>
              </a:rPr>
              <a:t>WHEN IT APPLIES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3429000"/>
            <a:ext cx="2407843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Bypasses Gate 1, logged for review at next Portfolio Committee. Cap is enforced.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491" y="1097280"/>
            <a:ext cx="277360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6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491" y="1097280"/>
            <a:ext cx="2773603" cy="64008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491" y="1143000"/>
            <a:ext cx="2773603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INTANGIBLE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491" y="1481328"/>
            <a:ext cx="2773603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Arial"/>
              </a:rPr>
              <a:t>≈10% reserved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371" y="1874520"/>
            <a:ext cx="2407843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Innovation, research, user-experience exploration.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371" y="3017520"/>
            <a:ext cx="2407843" cy="4572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371" y="3154680"/>
            <a:ext cx="240784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E6B600"/>
                </a:solidFill>
                <a:latin typeface="Arial"/>
              </a:rPr>
              <a:t>WHEN IT APPLIES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371" y="3429000"/>
            <a:ext cx="2407843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Arial"/>
              </a:rPr>
              <a:t>Protects the strategic-partner positioning beyond pure delivery.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943600"/>
            <a:ext cx="11277295" cy="502920"/>
          </a:xfrm>
          <a:prstGeom prst="roundRect">
            <a:avLst>
              <a:gd name="adj" fmla="val 10000"/>
            </a:avLst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Arial"/>
              </a:rPr>
              <a:t>Capacity caps are enforced monthly at the Portfolio Committee · Expedite breach triggers a governance escalation, not a quiet override.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Roadmap · 14-week pilot validates the model before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27103" y="0"/>
            <a:ext cx="164592" cy="777240"/>
          </a:xfrm>
          <a:prstGeom prst="rect">
            <a:avLst/>
          </a:prstGeom>
          <a:solidFill>
            <a:srgbClr val="E6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16401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164019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1640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0725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REVIEW &amp;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9811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6E7887"/>
                </a:solidFill>
                <a:latin typeface="Arial"/>
              </a:rPr>
              <a:t>Stakeholder interviews · channel-volume baseline · vendor model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1219" y="21945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6E788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8379" y="1280160"/>
            <a:ext cx="216401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8379" y="1280160"/>
            <a:ext cx="2164019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8379" y="1325880"/>
            <a:ext cx="21640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Weeks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099" y="1828800"/>
            <a:ext cx="20725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TEAM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9819" y="2331720"/>
            <a:ext cx="19811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6E7887"/>
                </a:solidFill>
                <a:latin typeface="Arial"/>
              </a:rPr>
              <a:t>Charter the pilot team · Product Manager onboarded · core team staffed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678" y="21945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6E7887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3838" y="1280160"/>
            <a:ext cx="216401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C8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3838" y="1280160"/>
            <a:ext cx="2164019" cy="457200"/>
          </a:xfrm>
          <a:prstGeom prst="rect">
            <a:avLst/>
          </a:prstGeom>
          <a:solidFill>
            <a:srgbClr val="4C8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3838" y="1325880"/>
            <a:ext cx="21640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Weeks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9558" y="1828800"/>
            <a:ext cx="20725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278" y="2331720"/>
            <a:ext cx="19811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6E7887"/>
                </a:solidFill>
                <a:latin typeface="Arial"/>
              </a:rPr>
              <a:t>Portfolio Board + Team Kanban configured · DoR template · Class of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137" y="21945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6E7887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297" y="1280160"/>
            <a:ext cx="216401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8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297" y="1280160"/>
            <a:ext cx="2164019" cy="457200"/>
          </a:xfrm>
          <a:prstGeom prst="rect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297" y="1325880"/>
            <a:ext cx="21640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Weeks 7–13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017" y="1828800"/>
            <a:ext cx="20725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PILOT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737" y="2331720"/>
            <a:ext cx="19811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6E7887"/>
                </a:solidFill>
                <a:latin typeface="Arial"/>
              </a:rPr>
              <a:t>Team runs the new model · weekly triage · monthly portfolio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7596" y="21945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6E7887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4756" y="1280160"/>
            <a:ext cx="216401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63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4756" y="1280160"/>
            <a:ext cx="2164019" cy="457200"/>
          </a:xfrm>
          <a:prstGeom prst="rect">
            <a:avLst/>
          </a:prstGeom>
          <a:solidFill>
            <a:srgbClr val="B63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4756" y="1325880"/>
            <a:ext cx="21640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Week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0476" y="1828800"/>
            <a:ext cx="20725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RETROSPECTIVE &amp;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6196" y="2331720"/>
            <a:ext cx="19811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 i="1">
                <a:solidFill>
                  <a:srgbClr val="6E7887"/>
                </a:solidFill>
                <a:latin typeface="Arial"/>
              </a:rPr>
              <a:t>Validate KPIs · refine playbook · approval to scale to next team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840480"/>
            <a:ext cx="11277295" cy="2286000"/>
          </a:xfrm>
          <a:prstGeom prst="roundRect">
            <a:avLst>
              <a:gd name="adj" fmla="val 4000"/>
            </a:avLst>
          </a:prstGeom>
          <a:solidFill>
            <a:srgbClr val="DCE6F5"/>
          </a:solidFill>
          <a:ln w="25400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77640"/>
            <a:ext cx="109115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785C1"/>
                </a:solidFill>
                <a:latin typeface="Arial"/>
              </a:rPr>
              <a:t>PILOT TEAM 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1233E"/>
                </a:solidFill>
                <a:latin typeface="Arial"/>
              </a:rPr>
              <a:t>Meter-to-Cash · Service Lifecycle (Smart Metering)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10911535" cy="914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2C3E50"/>
                </a:solidFill>
                <a:latin typeface="Arial"/>
              </a:rPr>
              <a:t>Closest existing analog to a Product Manager already in place — minimal change-management lift.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C3E50"/>
                </a:solidFill>
                <a:latin typeface="Arial"/>
              </a:rPr>
              <a:t>Vendor delivery model already stable — Avangrid acts as product owner today.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2C3E50"/>
                </a:solidFill>
                <a:latin typeface="Arial"/>
              </a:rPr>
              <a:t>Clear, scoped user base (field services, meter installers, customer)  ·  contained risk.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E7887"/>
                </a:solidFill>
                <a:latin typeface="Arial"/>
              </a:rPr>
              <a:t>Avangrid · Digital Products · Target Operating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