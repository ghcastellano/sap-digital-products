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31" r:id="rId2"/>
    <p:sldId id="322" r:id="rId3"/>
    <p:sldId id="324" r:id="rId4"/>
    <p:sldId id="325" r:id="rId5"/>
    <p:sldId id="326" r:id="rId6"/>
    <p:sldId id="332" r:id="rId16"/>
    <p:sldId id="272" r:id="rId7"/>
    <p:sldId id="330" r:id="rId8"/>
    <p:sldId id="319" r:id="rId9"/>
    <p:sldId id="291" r:id="rId10"/>
    <p:sldId id="292" r:id="rId11"/>
    <p:sldId id="293" r:id="rId12"/>
    <p:sldId id="315" r:id="rId13"/>
    <p:sldId id="316" r:id="rId14"/>
    <p:sldId id="333" r:id="rId22"/>
    <p:sldId id="334" r:id="rId23"/>
    <p:sldId id="335" r:id="rId24"/>
    <p:sldId id="336" r:id="rId25"/>
    <p:sldId id="337" r:id="rId26"/>
    <p:sldId id="31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003"/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51"/>
  </p:normalViewPr>
  <p:slideViewPr>
    <p:cSldViewPr snapToGrid="0">
      <p:cViewPr varScale="1">
        <p:scale>
          <a:sx n="153" d="100"/>
          <a:sy n="153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28C1F1-10D0-AB40-A4BA-FA0920B180F4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B209DB6C-7B50-7A4D-A210-8102D7DC53CD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Sign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up</a:t>
          </a:r>
          <a:r>
            <a:rPr lang="pt-BR" b="1" dirty="0">
              <a:solidFill>
                <a:schemeClr val="bg1"/>
              </a:solidFill>
              <a:latin typeface="Arial"/>
            </a:rPr>
            <a:t>
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activate</a:t>
          </a:r>
          <a:endParaRPr lang="pt-BR" b="1" dirty="0">
            <a:solidFill>
              <a:schemeClr val="bg1"/>
            </a:solidFill>
          </a:endParaRPr>
        </a:p>
      </dgm:t>
    </dgm:pt>
    <dgm:pt modelId="{936FC227-3D2A-3A4F-BDCE-2F8189AFD3C8}" type="par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2D897F-6E76-1245-9426-CD182E6C17AE}" type="sib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4EB9C64-23D3-F443-A345-AF52947AE0FE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Acquire</a:t>
          </a:r>
          <a:r>
            <a:rPr lang="pt-BR" b="1" dirty="0">
              <a:solidFill>
                <a:schemeClr val="bg1"/>
              </a:solidFill>
              <a:latin typeface="Arial"/>
            </a:rPr>
            <a:t> meter </a:t>
          </a:r>
          <a:r>
            <a:rPr lang="pt-BR" b="1" dirty="0" err="1">
              <a:solidFill>
                <a:schemeClr val="bg1"/>
              </a:solidFill>
              <a:latin typeface="Arial"/>
            </a:rPr>
            <a:t>reads</a:t>
          </a:r>
          <a:endParaRPr lang="pt-BR" b="1" dirty="0">
            <a:solidFill>
              <a:schemeClr val="bg1"/>
            </a:solidFill>
          </a:endParaRPr>
        </a:p>
      </dgm:t>
    </dgm:pt>
    <dgm:pt modelId="{6D292FEF-529A-464F-96A4-8A5A45DA14DB}" type="par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51D8E7-CE98-7B46-B060-C4D5A68EF2C1}" type="sib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3A2C3539-B6F6-374F-9ACD-ACFFF7E2647A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Validate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process</a:t>
          </a:r>
          <a:r>
            <a:rPr lang="pt-BR" b="1" dirty="0">
              <a:solidFill>
                <a:schemeClr val="bg1"/>
              </a:solidFill>
              <a:latin typeface="Arial"/>
            </a:rPr>
            <a:t> data</a:t>
          </a:r>
          <a:endParaRPr lang="pt-BR" b="1" dirty="0">
            <a:solidFill>
              <a:schemeClr val="bg1"/>
            </a:solidFill>
          </a:endParaRPr>
        </a:p>
      </dgm:t>
    </dgm:pt>
    <dgm:pt modelId="{03E10759-2DE9-5A45-97E7-E4B0807B097D}" type="par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8227F4-98AC-AC42-B785-2942B46447E2}" type="sib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DD0ECE-6D4C-484C-8530-6884C3268367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issue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bill</a:t>
          </a:r>
          <a:endParaRPr lang="pt-BR" b="1" dirty="0">
            <a:solidFill>
              <a:schemeClr val="bg1"/>
            </a:solidFill>
          </a:endParaRPr>
        </a:p>
      </dgm:t>
    </dgm:pt>
    <dgm:pt modelId="{61E3F065-9EE0-2B4A-BFD4-4C5945A78AA5}" type="par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A086FDB6-4D65-EA49-8298-8CEDDE614920}" type="sib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88CD80F-6B9E-DD48-9E67-6778A9609ED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Deliver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Invoice</a:t>
          </a:r>
          <a:endParaRPr lang="pt-BR" b="1" dirty="0">
            <a:solidFill>
              <a:schemeClr val="bg1"/>
            </a:solidFill>
          </a:endParaRPr>
        </a:p>
      </dgm:t>
    </dgm:pt>
    <dgm:pt modelId="{D8DC2F34-C9BA-E54B-B276-36677ABF2378}" type="par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D5589713-1BE6-8E43-9884-B0D01F35531B}" type="sib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5E3CEB5-BC1D-824D-B5B5-C6A2312EADC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Process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Payment</a:t>
          </a:r>
          <a:endParaRPr lang="pt-BR" b="1" dirty="0">
            <a:solidFill>
              <a:schemeClr val="bg1"/>
            </a:solidFill>
          </a:endParaRPr>
        </a:p>
      </dgm:t>
    </dgm:pt>
    <dgm:pt modelId="{2DEE60BC-76E9-5D45-BEE5-AF2F197DA42C}" type="par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A21EEC-1672-9B4F-B5B0-C7613890AD89}" type="sib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0D20F1-9096-2C42-80C1-5E965CC5C80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Handle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Interactions</a:t>
          </a:r>
          <a:endParaRPr lang="pt-BR" b="1" dirty="0">
            <a:solidFill>
              <a:schemeClr val="bg1"/>
            </a:solidFill>
          </a:endParaRPr>
        </a:p>
      </dgm:t>
    </dgm:pt>
    <dgm:pt modelId="{1182FF4A-1A37-5641-8572-2F89FA0FFA77}" type="par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CD5ACD3A-90AA-9E41-B190-3C19050ABD6D}" type="sib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5AF1C32-F4CE-864F-8CF7-721D11A2C43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Reconcile</a:t>
          </a:r>
          <a:r>
            <a:rPr lang="pt-BR" b="1" dirty="0">
              <a:solidFill>
                <a:schemeClr val="bg1"/>
              </a:solidFill>
            </a:rPr>
            <a:t> &amp; Close</a:t>
          </a:r>
        </a:p>
      </dgm:t>
    </dgm:pt>
    <dgm:pt modelId="{81180F3F-AC06-0240-8349-7E120D8B4EBB}" type="par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B799AAB-7F00-C84B-9E0A-F3F1AA30265A}" type="sib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2C4DFE3-7419-FF49-A094-28FC2C1856B5}" type="pres">
      <dgm:prSet presAssocID="{DB28C1F1-10D0-AB40-A4BA-FA0920B180F4}" presName="Name0" presStyleCnt="0">
        <dgm:presLayoutVars>
          <dgm:dir/>
          <dgm:resizeHandles val="exact"/>
        </dgm:presLayoutVars>
      </dgm:prSet>
      <dgm:spPr/>
    </dgm:pt>
    <dgm:pt modelId="{03238F48-DC05-1E48-982C-F163CCAF1CFD}" type="pres">
      <dgm:prSet presAssocID="{B209DB6C-7B50-7A4D-A210-8102D7DC53CD}" presName="parTxOnly" presStyleLbl="node1" presStyleIdx="0" presStyleCnt="8">
        <dgm:presLayoutVars>
          <dgm:bulletEnabled val="1"/>
        </dgm:presLayoutVars>
      </dgm:prSet>
      <dgm:spPr/>
    </dgm:pt>
    <dgm:pt modelId="{309F41E5-6334-C448-84BE-2EC74E6EF663}" type="pres">
      <dgm:prSet presAssocID="{5A2D897F-6E76-1245-9426-CD182E6C17AE}" presName="parSpace" presStyleCnt="0"/>
      <dgm:spPr/>
    </dgm:pt>
    <dgm:pt modelId="{57292675-95C2-684D-A42C-DB1EF102F3C8}" type="pres">
      <dgm:prSet presAssocID="{24EB9C64-23D3-F443-A345-AF52947AE0FE}" presName="parTxOnly" presStyleLbl="node1" presStyleIdx="1" presStyleCnt="8">
        <dgm:presLayoutVars>
          <dgm:bulletEnabled val="1"/>
        </dgm:presLayoutVars>
      </dgm:prSet>
      <dgm:spPr/>
    </dgm:pt>
    <dgm:pt modelId="{B3C0ABA2-3F90-234A-A7A6-395FFFAE7A88}" type="pres">
      <dgm:prSet presAssocID="{1B51D8E7-CE98-7B46-B060-C4D5A68EF2C1}" presName="parSpace" presStyleCnt="0"/>
      <dgm:spPr/>
    </dgm:pt>
    <dgm:pt modelId="{51F8E2D8-2DCA-CE4E-92FA-C1FF42F5CB0C}" type="pres">
      <dgm:prSet presAssocID="{3A2C3539-B6F6-374F-9ACD-ACFFF7E2647A}" presName="parTxOnly" presStyleLbl="node1" presStyleIdx="2" presStyleCnt="8">
        <dgm:presLayoutVars>
          <dgm:bulletEnabled val="1"/>
        </dgm:presLayoutVars>
      </dgm:prSet>
      <dgm:spPr/>
    </dgm:pt>
    <dgm:pt modelId="{003DA93E-1F57-3946-84C9-9974D148A710}" type="pres">
      <dgm:prSet presAssocID="{5A8227F4-98AC-AC42-B785-2942B46447E2}" presName="parSpace" presStyleCnt="0"/>
      <dgm:spPr/>
    </dgm:pt>
    <dgm:pt modelId="{3F457553-BCBE-714A-9430-6FD7FB866CEA}" type="pres">
      <dgm:prSet presAssocID="{1BDD0ECE-6D4C-484C-8530-6884C3268367}" presName="parTxOnly" presStyleLbl="node1" presStyleIdx="3" presStyleCnt="8">
        <dgm:presLayoutVars>
          <dgm:bulletEnabled val="1"/>
        </dgm:presLayoutVars>
      </dgm:prSet>
      <dgm:spPr/>
    </dgm:pt>
    <dgm:pt modelId="{960796AC-8FA0-174D-AD9D-C1FB6D7E3737}" type="pres">
      <dgm:prSet presAssocID="{A086FDB6-4D65-EA49-8298-8CEDDE614920}" presName="parSpace" presStyleCnt="0"/>
      <dgm:spPr/>
    </dgm:pt>
    <dgm:pt modelId="{6961D274-D9A6-2C45-854F-4DA6F1782960}" type="pres">
      <dgm:prSet presAssocID="{588CD80F-6B9E-DD48-9E67-6778A9609ED4}" presName="parTxOnly" presStyleLbl="node1" presStyleIdx="4" presStyleCnt="8">
        <dgm:presLayoutVars>
          <dgm:bulletEnabled val="1"/>
        </dgm:presLayoutVars>
      </dgm:prSet>
      <dgm:spPr/>
    </dgm:pt>
    <dgm:pt modelId="{4B22C41B-F225-0E47-9C98-5583308B8FAD}" type="pres">
      <dgm:prSet presAssocID="{D5589713-1BE6-8E43-9884-B0D01F35531B}" presName="parSpace" presStyleCnt="0"/>
      <dgm:spPr/>
    </dgm:pt>
    <dgm:pt modelId="{85811342-CEE0-8E47-8605-13762BC2D092}" type="pres">
      <dgm:prSet presAssocID="{25E3CEB5-BC1D-824D-B5B5-C6A2312EADC4}" presName="parTxOnly" presStyleLbl="node1" presStyleIdx="5" presStyleCnt="8">
        <dgm:presLayoutVars>
          <dgm:bulletEnabled val="1"/>
        </dgm:presLayoutVars>
      </dgm:prSet>
      <dgm:spPr/>
    </dgm:pt>
    <dgm:pt modelId="{C23FE446-4D59-A948-95BD-FA3B5708382F}" type="pres">
      <dgm:prSet presAssocID="{06A21EEC-1672-9B4F-B5B0-C7613890AD89}" presName="parSpace" presStyleCnt="0"/>
      <dgm:spPr/>
    </dgm:pt>
    <dgm:pt modelId="{55820AF8-E0FC-7547-BD2B-0EDD71816AB3}" type="pres">
      <dgm:prSet presAssocID="{060D20F1-9096-2C42-80C1-5E965CC5C80C}" presName="parTxOnly" presStyleLbl="node1" presStyleIdx="6" presStyleCnt="8">
        <dgm:presLayoutVars>
          <dgm:bulletEnabled val="1"/>
        </dgm:presLayoutVars>
      </dgm:prSet>
      <dgm:spPr/>
    </dgm:pt>
    <dgm:pt modelId="{55FB239E-24AF-ED4C-BC80-5E7F1339678A}" type="pres">
      <dgm:prSet presAssocID="{CD5ACD3A-90AA-9E41-B190-3C19050ABD6D}" presName="parSpace" presStyleCnt="0"/>
      <dgm:spPr/>
    </dgm:pt>
    <dgm:pt modelId="{D709C21A-C8C3-1A4A-BF8B-D3FF74611F12}" type="pres">
      <dgm:prSet presAssocID="{75AF1C32-F4CE-864F-8CF7-721D11A2C43C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014A1C0B-A006-AA47-A0F3-3E9D9A8BA751}" type="presOf" srcId="{1BDD0ECE-6D4C-484C-8530-6884C3268367}" destId="{3F457553-BCBE-714A-9430-6FD7FB866CEA}" srcOrd="0" destOrd="0" presId="urn:microsoft.com/office/officeart/2005/8/layout/hChevron3"/>
    <dgm:cxn modelId="{40558E14-86DB-F247-9149-248F4E5A4959}" type="presOf" srcId="{B209DB6C-7B50-7A4D-A210-8102D7DC53CD}" destId="{03238F48-DC05-1E48-982C-F163CCAF1CFD}" srcOrd="0" destOrd="0" presId="urn:microsoft.com/office/officeart/2005/8/layout/hChevron3"/>
    <dgm:cxn modelId="{10A46C1A-2104-A847-A812-A756CB1AB420}" srcId="{DB28C1F1-10D0-AB40-A4BA-FA0920B180F4}" destId="{060D20F1-9096-2C42-80C1-5E965CC5C80C}" srcOrd="6" destOrd="0" parTransId="{1182FF4A-1A37-5641-8572-2F89FA0FFA77}" sibTransId="{CD5ACD3A-90AA-9E41-B190-3C19050ABD6D}"/>
    <dgm:cxn modelId="{15BBD621-87FB-424E-8137-1D944771D8E9}" srcId="{DB28C1F1-10D0-AB40-A4BA-FA0920B180F4}" destId="{1BDD0ECE-6D4C-484C-8530-6884C3268367}" srcOrd="3" destOrd="0" parTransId="{61E3F065-9EE0-2B4A-BFD4-4C5945A78AA5}" sibTransId="{A086FDB6-4D65-EA49-8298-8CEDDE614920}"/>
    <dgm:cxn modelId="{893F6F24-8BDC-7B4B-9D21-70E11B8B1ABA}" srcId="{DB28C1F1-10D0-AB40-A4BA-FA0920B180F4}" destId="{3A2C3539-B6F6-374F-9ACD-ACFFF7E2647A}" srcOrd="2" destOrd="0" parTransId="{03E10759-2DE9-5A45-97E7-E4B0807B097D}" sibTransId="{5A8227F4-98AC-AC42-B785-2942B46447E2}"/>
    <dgm:cxn modelId="{B5C6AB2C-9171-A542-A01E-F748CBEFA22F}" srcId="{DB28C1F1-10D0-AB40-A4BA-FA0920B180F4}" destId="{75AF1C32-F4CE-864F-8CF7-721D11A2C43C}" srcOrd="7" destOrd="0" parTransId="{81180F3F-AC06-0240-8349-7E120D8B4EBB}" sibTransId="{7B799AAB-7F00-C84B-9E0A-F3F1AA30265A}"/>
    <dgm:cxn modelId="{076C363B-EBD2-7048-BF8A-05EF998B8C41}" type="presOf" srcId="{25E3CEB5-BC1D-824D-B5B5-C6A2312EADC4}" destId="{85811342-CEE0-8E47-8605-13762BC2D092}" srcOrd="0" destOrd="0" presId="urn:microsoft.com/office/officeart/2005/8/layout/hChevron3"/>
    <dgm:cxn modelId="{27F2DB43-7E40-2549-85F8-86E66E7A0A6A}" type="presOf" srcId="{3A2C3539-B6F6-374F-9ACD-ACFFF7E2647A}" destId="{51F8E2D8-2DCA-CE4E-92FA-C1FF42F5CB0C}" srcOrd="0" destOrd="0" presId="urn:microsoft.com/office/officeart/2005/8/layout/hChevron3"/>
    <dgm:cxn modelId="{E6070655-0D19-E246-9458-430642D6933B}" type="presOf" srcId="{75AF1C32-F4CE-864F-8CF7-721D11A2C43C}" destId="{D709C21A-C8C3-1A4A-BF8B-D3FF74611F12}" srcOrd="0" destOrd="0" presId="urn:microsoft.com/office/officeart/2005/8/layout/hChevron3"/>
    <dgm:cxn modelId="{83D4E578-964B-9C49-AE2B-88020474B42E}" type="presOf" srcId="{DB28C1F1-10D0-AB40-A4BA-FA0920B180F4}" destId="{22C4DFE3-7419-FF49-A094-28FC2C1856B5}" srcOrd="0" destOrd="0" presId="urn:microsoft.com/office/officeart/2005/8/layout/hChevron3"/>
    <dgm:cxn modelId="{B34D757C-C4A5-3149-85A7-B03B811B4E22}" srcId="{DB28C1F1-10D0-AB40-A4BA-FA0920B180F4}" destId="{588CD80F-6B9E-DD48-9E67-6778A9609ED4}" srcOrd="4" destOrd="0" parTransId="{D8DC2F34-C9BA-E54B-B276-36677ABF2378}" sibTransId="{D5589713-1BE6-8E43-9884-B0D01F35531B}"/>
    <dgm:cxn modelId="{7753BA81-59D5-4A48-BFAB-9AA396B4CCD2}" srcId="{DB28C1F1-10D0-AB40-A4BA-FA0920B180F4}" destId="{B209DB6C-7B50-7A4D-A210-8102D7DC53CD}" srcOrd="0" destOrd="0" parTransId="{936FC227-3D2A-3A4F-BDCE-2F8189AFD3C8}" sibTransId="{5A2D897F-6E76-1245-9426-CD182E6C17AE}"/>
    <dgm:cxn modelId="{EEC7FBB1-2A37-9942-9A1B-1CD0C8E29E15}" type="presOf" srcId="{588CD80F-6B9E-DD48-9E67-6778A9609ED4}" destId="{6961D274-D9A6-2C45-854F-4DA6F1782960}" srcOrd="0" destOrd="0" presId="urn:microsoft.com/office/officeart/2005/8/layout/hChevron3"/>
    <dgm:cxn modelId="{F55835CA-8F6C-DA41-AD93-2420D4548D98}" srcId="{DB28C1F1-10D0-AB40-A4BA-FA0920B180F4}" destId="{24EB9C64-23D3-F443-A345-AF52947AE0FE}" srcOrd="1" destOrd="0" parTransId="{6D292FEF-529A-464F-96A4-8A5A45DA14DB}" sibTransId="{1B51D8E7-CE98-7B46-B060-C4D5A68EF2C1}"/>
    <dgm:cxn modelId="{20ADF9CE-5F3E-1043-8F8A-FF14EBD69829}" type="presOf" srcId="{24EB9C64-23D3-F443-A345-AF52947AE0FE}" destId="{57292675-95C2-684D-A42C-DB1EF102F3C8}" srcOrd="0" destOrd="0" presId="urn:microsoft.com/office/officeart/2005/8/layout/hChevron3"/>
    <dgm:cxn modelId="{BB2B3FEC-5526-E041-9304-C3D4375B7552}" type="presOf" srcId="{060D20F1-9096-2C42-80C1-5E965CC5C80C}" destId="{55820AF8-E0FC-7547-BD2B-0EDD71816AB3}" srcOrd="0" destOrd="0" presId="urn:microsoft.com/office/officeart/2005/8/layout/hChevron3"/>
    <dgm:cxn modelId="{EC6CBBF7-2999-A04C-8AA4-596333F9C07F}" srcId="{DB28C1F1-10D0-AB40-A4BA-FA0920B180F4}" destId="{25E3CEB5-BC1D-824D-B5B5-C6A2312EADC4}" srcOrd="5" destOrd="0" parTransId="{2DEE60BC-76E9-5D45-BEE5-AF2F197DA42C}" sibTransId="{06A21EEC-1672-9B4F-B5B0-C7613890AD89}"/>
    <dgm:cxn modelId="{E673D1CD-0D69-814E-8516-7A6D9FF1858A}" type="presParOf" srcId="{22C4DFE3-7419-FF49-A094-28FC2C1856B5}" destId="{03238F48-DC05-1E48-982C-F163CCAF1CFD}" srcOrd="0" destOrd="0" presId="urn:microsoft.com/office/officeart/2005/8/layout/hChevron3"/>
    <dgm:cxn modelId="{6BB7B680-A327-0541-A1CC-D3FFCAB768F6}" type="presParOf" srcId="{22C4DFE3-7419-FF49-A094-28FC2C1856B5}" destId="{309F41E5-6334-C448-84BE-2EC74E6EF663}" srcOrd="1" destOrd="0" presId="urn:microsoft.com/office/officeart/2005/8/layout/hChevron3"/>
    <dgm:cxn modelId="{9FA88033-B2B3-9242-B6F0-285B6C495DED}" type="presParOf" srcId="{22C4DFE3-7419-FF49-A094-28FC2C1856B5}" destId="{57292675-95C2-684D-A42C-DB1EF102F3C8}" srcOrd="2" destOrd="0" presId="urn:microsoft.com/office/officeart/2005/8/layout/hChevron3"/>
    <dgm:cxn modelId="{C94F9034-16FE-514A-B8A3-C5C6BBE57480}" type="presParOf" srcId="{22C4DFE3-7419-FF49-A094-28FC2C1856B5}" destId="{B3C0ABA2-3F90-234A-A7A6-395FFFAE7A88}" srcOrd="3" destOrd="0" presId="urn:microsoft.com/office/officeart/2005/8/layout/hChevron3"/>
    <dgm:cxn modelId="{A562980D-2BA9-6A4D-A3EA-2CFEF5787769}" type="presParOf" srcId="{22C4DFE3-7419-FF49-A094-28FC2C1856B5}" destId="{51F8E2D8-2DCA-CE4E-92FA-C1FF42F5CB0C}" srcOrd="4" destOrd="0" presId="urn:microsoft.com/office/officeart/2005/8/layout/hChevron3"/>
    <dgm:cxn modelId="{0B578862-F833-2A4A-B1FD-393FBCD42EEA}" type="presParOf" srcId="{22C4DFE3-7419-FF49-A094-28FC2C1856B5}" destId="{003DA93E-1F57-3946-84C9-9974D148A710}" srcOrd="5" destOrd="0" presId="urn:microsoft.com/office/officeart/2005/8/layout/hChevron3"/>
    <dgm:cxn modelId="{12ABF543-C766-EA47-80DF-67ECC2ED494F}" type="presParOf" srcId="{22C4DFE3-7419-FF49-A094-28FC2C1856B5}" destId="{3F457553-BCBE-714A-9430-6FD7FB866CEA}" srcOrd="6" destOrd="0" presId="urn:microsoft.com/office/officeart/2005/8/layout/hChevron3"/>
    <dgm:cxn modelId="{78AD537C-4858-EB48-8DCE-AF5E569094F6}" type="presParOf" srcId="{22C4DFE3-7419-FF49-A094-28FC2C1856B5}" destId="{960796AC-8FA0-174D-AD9D-C1FB6D7E3737}" srcOrd="7" destOrd="0" presId="urn:microsoft.com/office/officeart/2005/8/layout/hChevron3"/>
    <dgm:cxn modelId="{50C6B671-FDDC-934B-BCD2-E45E33A65975}" type="presParOf" srcId="{22C4DFE3-7419-FF49-A094-28FC2C1856B5}" destId="{6961D274-D9A6-2C45-854F-4DA6F1782960}" srcOrd="8" destOrd="0" presId="urn:microsoft.com/office/officeart/2005/8/layout/hChevron3"/>
    <dgm:cxn modelId="{B2FEF964-7346-3C46-8453-F0D9CC941BBF}" type="presParOf" srcId="{22C4DFE3-7419-FF49-A094-28FC2C1856B5}" destId="{4B22C41B-F225-0E47-9C98-5583308B8FAD}" srcOrd="9" destOrd="0" presId="urn:microsoft.com/office/officeart/2005/8/layout/hChevron3"/>
    <dgm:cxn modelId="{EED04E71-8950-2142-ABB2-92FBEA93C63C}" type="presParOf" srcId="{22C4DFE3-7419-FF49-A094-28FC2C1856B5}" destId="{85811342-CEE0-8E47-8605-13762BC2D092}" srcOrd="10" destOrd="0" presId="urn:microsoft.com/office/officeart/2005/8/layout/hChevron3"/>
    <dgm:cxn modelId="{8493D0BD-BB52-B843-923D-1B1E0EF36AC7}" type="presParOf" srcId="{22C4DFE3-7419-FF49-A094-28FC2C1856B5}" destId="{C23FE446-4D59-A948-95BD-FA3B5708382F}" srcOrd="11" destOrd="0" presId="urn:microsoft.com/office/officeart/2005/8/layout/hChevron3"/>
    <dgm:cxn modelId="{8CE804EE-8D1F-6C49-8043-001F329B10B7}" type="presParOf" srcId="{22C4DFE3-7419-FF49-A094-28FC2C1856B5}" destId="{55820AF8-E0FC-7547-BD2B-0EDD71816AB3}" srcOrd="12" destOrd="0" presId="urn:microsoft.com/office/officeart/2005/8/layout/hChevron3"/>
    <dgm:cxn modelId="{9AE8664A-6DEE-C048-A3AB-917AA5FABA24}" type="presParOf" srcId="{22C4DFE3-7419-FF49-A094-28FC2C1856B5}" destId="{55FB239E-24AF-ED4C-BC80-5E7F1339678A}" srcOrd="13" destOrd="0" presId="urn:microsoft.com/office/officeart/2005/8/layout/hChevron3"/>
    <dgm:cxn modelId="{E86CC73B-F0D2-BB4F-8A0F-CC5A8E5E8B61}" type="presParOf" srcId="{22C4DFE3-7419-FF49-A094-28FC2C1856B5}" destId="{D709C21A-C8C3-1A4A-BF8B-D3FF74611F12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38F48-DC05-1E48-982C-F163CCAF1CFD}">
      <dsp:nvSpPr>
        <dsp:cNvPr id="0" name=""/>
        <dsp:cNvSpPr/>
      </dsp:nvSpPr>
      <dsp:spPr>
        <a:xfrm>
          <a:off x="4317" y="385916"/>
          <a:ext cx="1338272" cy="5353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Sign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up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
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activate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317" y="385916"/>
        <a:ext cx="1204445" cy="535309"/>
      </dsp:txXfrm>
    </dsp:sp>
    <dsp:sp modelId="{57292675-95C2-684D-A42C-DB1EF102F3C8}">
      <dsp:nvSpPr>
        <dsp:cNvPr id="0" name=""/>
        <dsp:cNvSpPr/>
      </dsp:nvSpPr>
      <dsp:spPr>
        <a:xfrm>
          <a:off x="107493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Acquire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meter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reads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1342590" y="385916"/>
        <a:ext cx="802963" cy="535309"/>
      </dsp:txXfrm>
    </dsp:sp>
    <dsp:sp modelId="{51F8E2D8-2DCA-CE4E-92FA-C1FF42F5CB0C}">
      <dsp:nvSpPr>
        <dsp:cNvPr id="0" name=""/>
        <dsp:cNvSpPr/>
      </dsp:nvSpPr>
      <dsp:spPr>
        <a:xfrm>
          <a:off x="214555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Validate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process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data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2413208" y="385916"/>
        <a:ext cx="802963" cy="535309"/>
      </dsp:txXfrm>
    </dsp:sp>
    <dsp:sp modelId="{3F457553-BCBE-714A-9430-6FD7FB866CEA}">
      <dsp:nvSpPr>
        <dsp:cNvPr id="0" name=""/>
        <dsp:cNvSpPr/>
      </dsp:nvSpPr>
      <dsp:spPr>
        <a:xfrm>
          <a:off x="3216171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issue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bill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3483826" y="385916"/>
        <a:ext cx="802963" cy="535309"/>
      </dsp:txXfrm>
    </dsp:sp>
    <dsp:sp modelId="{6961D274-D9A6-2C45-854F-4DA6F1782960}">
      <dsp:nvSpPr>
        <dsp:cNvPr id="0" name=""/>
        <dsp:cNvSpPr/>
      </dsp:nvSpPr>
      <dsp:spPr>
        <a:xfrm>
          <a:off x="4286789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Deliver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Invoice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554444" y="385916"/>
        <a:ext cx="802963" cy="535309"/>
      </dsp:txXfrm>
    </dsp:sp>
    <dsp:sp modelId="{85811342-CEE0-8E47-8605-13762BC2D092}">
      <dsp:nvSpPr>
        <dsp:cNvPr id="0" name=""/>
        <dsp:cNvSpPr/>
      </dsp:nvSpPr>
      <dsp:spPr>
        <a:xfrm>
          <a:off x="5357407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Process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Payment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5625062" y="385916"/>
        <a:ext cx="802963" cy="535309"/>
      </dsp:txXfrm>
    </dsp:sp>
    <dsp:sp modelId="{55820AF8-E0FC-7547-BD2B-0EDD71816AB3}">
      <dsp:nvSpPr>
        <dsp:cNvPr id="0" name=""/>
        <dsp:cNvSpPr/>
      </dsp:nvSpPr>
      <dsp:spPr>
        <a:xfrm>
          <a:off x="642802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Handle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Interactions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6695680" y="385916"/>
        <a:ext cx="802963" cy="535309"/>
      </dsp:txXfrm>
    </dsp:sp>
    <dsp:sp modelId="{D709C21A-C8C3-1A4A-BF8B-D3FF74611F12}">
      <dsp:nvSpPr>
        <dsp:cNvPr id="0" name=""/>
        <dsp:cNvSpPr/>
      </dsp:nvSpPr>
      <dsp:spPr>
        <a:xfrm>
          <a:off x="749864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Reconcile</a:t>
          </a:r>
          <a:r>
            <a:rPr lang="pt-BR" sz="1000" b="1" kern="1200" dirty="0">
              <a:solidFill>
                <a:schemeClr val="bg1"/>
              </a:solidFill>
            </a:rPr>
            <a:t> &amp; Close</a:t>
          </a:r>
        </a:p>
      </dsp:txBody>
      <dsp:txXfrm>
        <a:off x="7766298" y="385916"/>
        <a:ext cx="802963" cy="535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29/04/2026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90832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microsoft.com/office/2007/relationships/hdphoto" Target="../media/hdphoto1.wdp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19931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 -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>
                <a:solidFill>
                  <a:srgbClr val="FFFFFF"/>
                </a:solidFill>
                <a:latin typeface="Arial"/>
              </a:rPr>
              <a:t>PROPOSED VALUE STREAMS – IT BUSINESS APPLICATIONS</a:t>
            </a:r>
            <a:endParaRPr lang="en-US" b="0" dirty="0"/>
          </a:p>
          <a:p>
            <a:r>
              <a:rPr sz="5400">
                <a:solidFill>
                  <a:srgbClr val="FFFFFF"/>
                </a:solidFill>
                <a:latin typeface="Arial"/>
              </a:rPr>
              <a:t>Initial proposal: 4 Value Streams  ·  SAFe Exercise: 5 DVSs by solution family</a:t>
            </a:r>
          </a:p>
          <a:p>
            <a:r>
              <a:rPr sz="540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4604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91440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PROPOSED VALUE STREAMS — IT BUSINESS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8463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INITIAL PROPOSAL  ·  4 VALUE STREAMS  ·  + ENABLING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252728"/>
            <a:ext cx="11274552" cy="1106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" y="1207008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80160"/>
            <a:ext cx="84399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IT Business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6256" y="1298448"/>
            <a:ext cx="26517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ITBA UMBRELLA · 4 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73936"/>
            <a:ext cx="1090879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Asset Management · Network Operations · Corporate / Regulatory · Iberdrola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75104"/>
            <a:ext cx="109087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and evolve the technology platforms that support Avangrid's enterprise operations across asset management, network operations, corporate functions and Iberdrola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2523744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2523744"/>
            <a:ext cx="1127455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ITBA  ·  4 VALUE STREAMS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3291839"/>
            <a:ext cx="274548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3493008"/>
            <a:ext cx="274548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Engineering &amp; Asset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4087368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Asset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4315968"/>
            <a:ext cx="256260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Engineer / planner designs with reliable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4937759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5166359"/>
            <a:ext cx="256260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ArcFM · ProjectWise · Bentley · CYME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3270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84982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3270" y="3291839"/>
            <a:ext cx="274548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3270" y="3493008"/>
            <a:ext cx="274548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Network Operations &amp;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4710" y="4087368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Network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10" y="4315968"/>
            <a:ext cx="256260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Grid operator prevents and minimizes outages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6150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4710" y="4937759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4710" y="5166359"/>
            <a:ext cx="256260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0196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1908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0196" y="3291839"/>
            <a:ext cx="274548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0196" y="3493008"/>
            <a:ext cx="274548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1636" y="4087368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 · HR · Procurement · 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1636" y="4315968"/>
            <a:ext cx="256260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HR / employee / regulatory user self-service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3076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1636" y="4937759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1636" y="5166359"/>
            <a:ext cx="256260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OpenText · Rate Case Advisor · Utilisphere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7122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58834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7122" y="3291839"/>
            <a:ext cx="274548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7122" y="3493008"/>
            <a:ext cx="274548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Iberdrola Corporate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8562" y="4087368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 · Procurement (Iberdrola)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8562" y="4315968"/>
            <a:ext cx="256260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Spain finance / procurement / budget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60002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8562" y="4937759"/>
            <a:ext cx="256260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8562" y="5166359"/>
            <a:ext cx="256260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SAP FI · PO · Budget · S/4HANA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" y="5669280"/>
            <a:ext cx="11256264" cy="82296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5724144"/>
            <a:ext cx="3200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594360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No Product Manager · governed by Director ITBA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4" y="5760720"/>
            <a:ext cx="7644383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6784" y="5961888"/>
            <a:ext cx="7644383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SWF (Software Factory)  ·  Demand Intake (PDD · Jira · IT Now)  ·  Test &amp; Release Coordination  ·  Third-Party Risk Gating  ·  ALM Tooling</a:t>
            </a:r>
          </a:p>
        </p:txBody>
      </p:sp>
    </p:spTree>
    <p:extLst>
      <p:ext uri="{BB962C8B-B14F-4D97-AF65-F5344CB8AC3E}">
        <p14:creationId xmlns:p14="http://schemas.microsoft.com/office/powerpoint/2010/main" val="40382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ENGINEERING &amp; ASSET MANAGEMENT — RELIABLE ASSET DATA FOR PLANNERS AND ENGINEERS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George Porto (lead) + crossover with G&amp;E team for ProjectWise/Bentley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and evolve the engineering &amp; asset platform — capture, model and publish reliable data so engineers and planners can design and operate the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ArcFM (GIS / asset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ProjectWise (engineering content / drawings)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Bentley · Microstation (CAD)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CYME (power systems analysis)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Engineers — design new builds / modifications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Planners — forecasts and capacity planning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Management — lifecycle decisions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operations — asset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Demand routed via Jira / IT Now / PDD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62421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GIS &amp; OSG team (George Porto) owns ArcFM, GIS web apps, SAP HANA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G&amp;E team (Bruno Moreto) currently owns ProjectWise / Bentley / Microstation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Some apps cross today's team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Cross-team scope — value-stream framing helps clarify accountability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Bentley (ProjectWise / Microstation / CYME)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Esri / ArcFM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 — execution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Multiple vendors — coordinated through ITBA leadership</a:t>
            </a:r>
          </a:p>
        </p:txBody>
      </p:sp>
    </p:spTree>
    <p:extLst>
      <p:ext uri="{BB962C8B-B14F-4D97-AF65-F5344CB8AC3E}">
        <p14:creationId xmlns:p14="http://schemas.microsoft.com/office/powerpoint/2010/main" val="420355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NETWORK OPERATIONS &amp; CONTROL — GRID OPERATOR PREVENTS AND MINIMIZES OUTAGES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Bruno Moreto + Andrew McGibbon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the systems that monitor, switch and control the network in real time — preventing outages and minimising their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Echelon (control / metering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Cimplicity (SCADA / HMI)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(System Loading and Analysis Module — to confirm)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Switching Orders (utility-specific switching workflow)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Grid operators — real-time monitoring and switching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Network engineers — analysis and load planning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crews — switching execution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Regulators — outage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Real-time / safety-critical · high availability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G&amp;E Operations team (Bruno Moreto + Andrew McGibbon) is closest current home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Some apps may sit in OT (Operational Technology) scope — boundary to confirm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Coordination with Field Operations VS (cross-stream)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OT/IT boundary to confirm — apps may sit outside ITBA scope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Echelon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GE (Cimplicity)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vendor (to confirm)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Internal switching workflow 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Vendor mix to validate — some grid platforms managed cross-Avangrid</a:t>
            </a:r>
          </a:p>
        </p:txBody>
      </p:sp>
    </p:spTree>
    <p:extLst>
      <p:ext uri="{BB962C8B-B14F-4D97-AF65-F5344CB8AC3E}">
        <p14:creationId xmlns:p14="http://schemas.microsoft.com/office/powerpoint/2010/main" val="309264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CORPORATE &amp; REGULATORY — HR / EMPLOYEE / REGULATORY USER SELF-SERVICE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Sarath Garikapati + Amit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Deliver and maintain regulatory and employee-facing technology across Avangrid US — operating under continuous compliance pressure.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(content / records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Advisor (regulatory rate cases)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Utilisphere (utility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Plus broader corporate applications portfolio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HR / Finance / Legal /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Regulators — rate cases · mandated reporting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Employee population — enablement &amp;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Continuous new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Compliance-driven · always-priority cadence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Corporate Applications team (Sarath Garikapati + Amit)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5–6 PMs + 2 tech leads in current composition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Largest sub-team in ITBA  ·  ~8 FTE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PM-heavy team today — value-stream framing helps clarify outcome ownership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(corporate apps +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tooling vendors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Accenture is a key partner for corporate scope</a:t>
            </a:r>
          </a:p>
        </p:txBody>
      </p:sp>
    </p:spTree>
    <p:extLst>
      <p:ext uri="{BB962C8B-B14F-4D97-AF65-F5344CB8AC3E}">
        <p14:creationId xmlns:p14="http://schemas.microsoft.com/office/powerpoint/2010/main" val="3867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91440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SAFe EXERCISE — 5 DVSs BY SOLUTION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8463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GROUPED BY SOLUTION-FAMILY LIFECYCLE  ·  3 BOUNDARY ISSUES SURFACED  ·  + ENABLING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60704"/>
            <a:ext cx="221833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218334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20240"/>
            <a:ext cx="207203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16A085"/>
                </a:solidFill>
                <a:latin typeface="Arial"/>
              </a:rPr>
              <a:t>Asset / CAD / 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9456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377440"/>
            <a:ext cx="207203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Vendor-driven · quarterly upgrades · CAD/GIS skillset · planner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852574" cy="182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090672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73552"/>
            <a:ext cx="207203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ArcFM · ProjectWise · Microstation · Bentley · CYME · SAP HANA spatial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0288"/>
            <a:ext cx="1852574" cy="182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66344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846320"/>
            <a:ext cx="207203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George Porto + crossover (Bruno's team for ProjectWise/Bentley)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5534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7246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5534" y="1060704"/>
            <a:ext cx="221833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5534" y="1234440"/>
            <a:ext cx="2218334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8686" y="1920240"/>
            <a:ext cx="207203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C0392B"/>
                </a:solidFill>
                <a:latin typeface="Arial"/>
              </a:rPr>
              <a:t>SCADA /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8686" y="219456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8686" y="2377440"/>
            <a:ext cx="207203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Real-time · safety-critical · 24/7 · OT skillset (DevSecOps + SRE)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8414" y="3017520"/>
            <a:ext cx="1852574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8686" y="3090672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8686" y="3273552"/>
            <a:ext cx="207203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8414" y="4590288"/>
            <a:ext cx="1852574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8686" y="466344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8686" y="4846320"/>
            <a:ext cx="207203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Bruno Moreto + OT specialists (NEW capability)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8686" y="5257800"/>
            <a:ext cx="207203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8686" y="5440680"/>
            <a:ext cx="207203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Traditionally OT, not IT — needs executive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5308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67020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5308" y="1060704"/>
            <a:ext cx="221833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5308" y="1234440"/>
            <a:ext cx="2218334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8460" y="1920240"/>
            <a:ext cx="207203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F39C12"/>
                </a:solidFill>
                <a:latin typeface="Arial"/>
              </a:rPr>
              <a:t>Mobile / Scheduling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8460" y="219456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8460" y="2377440"/>
            <a:ext cx="207203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Mobile · scheduling · workforce mgmt · field crew customer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8188" y="3017520"/>
            <a:ext cx="1852574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8460" y="3090672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8460" y="3273552"/>
            <a:ext cx="207203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Lemur-SF · FWM · ARCOS · Field Force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8188" y="4590288"/>
            <a:ext cx="1852574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8460" y="466344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8460" y="4846320"/>
            <a:ext cx="207203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TBD — overlaps Bruno's team and CS Apps field-ops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31028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8460" y="5257800"/>
            <a:ext cx="207203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8460" y="5440680"/>
            <a:ext cx="207203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Currently shown under CS Apps Field Operations VS — overlap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5083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276795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5083" y="1060704"/>
            <a:ext cx="221833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5083" y="1234440"/>
            <a:ext cx="2218334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8235" y="1920240"/>
            <a:ext cx="207203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8E44AD"/>
                </a:solidFill>
                <a:latin typeface="Arial"/>
              </a:rPr>
              <a:t>Workflow / Compliance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8235" y="219456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8235" y="2377440"/>
            <a:ext cx="207203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Transactional · workflow · compliance-driven · corporate 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77963" y="3017520"/>
            <a:ext cx="1852574" cy="182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8235" y="3090672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8235" y="3273552"/>
            <a:ext cx="207203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OpenText · Rate Case Advisor · Utilisphere · corporate apps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7963" y="4590288"/>
            <a:ext cx="1852574" cy="182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8235" y="466344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8235" y="4846320"/>
            <a:ext cx="207203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Sarath Garikapati + Amit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04857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586569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4857" y="1060704"/>
            <a:ext cx="221833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4857" y="1234440"/>
            <a:ext cx="2218334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8009" y="1920240"/>
            <a:ext cx="207203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578B"/>
                </a:solidFill>
                <a:latin typeface="Arial"/>
              </a:rPr>
              <a:t>SAP modules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8009" y="219456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78009" y="2377440"/>
            <a:ext cx="207203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Same SAP stack · same SAP skillset · same transport cadence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7737" y="3017520"/>
            <a:ext cx="1852574" cy="18288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78009" y="3090672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8009" y="3273552"/>
            <a:ext cx="207203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FI · PO · Budget · S/4HANA (Spain)  +  SAP ECC · CRM · FICA (US)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7737" y="4590288"/>
            <a:ext cx="1852574" cy="18288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78009" y="4663440"/>
            <a:ext cx="207203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78009" y="4846320"/>
            <a:ext cx="207203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Vanessa Colombo + Vincent Lam / Naggi Reddy (cross-branch)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50577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78009" y="5257800"/>
            <a:ext cx="207203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78009" y="5440680"/>
            <a:ext cx="207203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Cross-Avangrid: should US (CS Apps) and Spain (ITBA) SAP be one DVS?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6126480"/>
            <a:ext cx="11457432" cy="457200"/>
          </a:xfrm>
          <a:prstGeom prst="roundRect">
            <a:avLst>
              <a:gd name="adj" fmla="val 20000"/>
            </a:avLst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126480"/>
            <a:ext cx="1145743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ENABLING TEAM  ·  shared services across all 5 DVS  ·  no PM  ·  governed by Director ITBA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77F-50F4-D956-33B2-7D277FC9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SAFe EXERCISE —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5 ITBA DVSs (solution family) supporting many business OVSs (many-to-many) · 1 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574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BUSINESS OPERATIONAL VALUE STREAMS (owned by business · grouped by domain)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78206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Engineering &amp; Asset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Network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83080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Asset Replacement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029968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Capital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76856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Asset Decommissioning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755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5755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7550" y="1188720"/>
            <a:ext cx="278206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070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0702" y="1536192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Outage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070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0702" y="1783080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Grid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070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0702" y="2029968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Routine Switching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070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0702" y="2276856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Storm Restoration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934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934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9340" y="1188720"/>
            <a:ext cx="278206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49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2492" y="1536192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Source-to-Pay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249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2492" y="1783080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Hire-to-Retire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249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492" y="2029968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Rate Case Filing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249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2492" y="2276856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Regulatory Reporting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113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4113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41130" y="1188720"/>
            <a:ext cx="278206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Iberdrola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428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4282" y="1536192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Procure-to-Pay (Spain)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1428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4282" y="1783080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Period Close (Spain)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1428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14282" y="2029968"/>
            <a:ext cx="263575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Plan-to-Budget (Spain)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2606040"/>
            <a:ext cx="114574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↕  many-to-many mapping  —  one OVS uses several DVS · one DVS serves several OVS  (matrix in next slide)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114574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ITBA DEVELOPMENT VALUE STREAMS (5)  ·  grouped by SOLUTION FAMILY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200399"/>
            <a:ext cx="220370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3355848"/>
            <a:ext cx="2203703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657600"/>
            <a:ext cx="211226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1">
                <a:solidFill>
                  <a:srgbClr val="16A085"/>
                </a:solidFill>
                <a:latin typeface="Arial"/>
              </a:rPr>
              <a:t>Asset / CAD / GIS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3867911"/>
            <a:ext cx="2112263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ArcFM · ProjectWise · Microstation · Bentley · CYME · SAP HANA spatial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79191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9191" y="3200399"/>
            <a:ext cx="220370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79191" y="3355848"/>
            <a:ext cx="2203703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9191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24911" y="3657600"/>
            <a:ext cx="211226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1">
                <a:solidFill>
                  <a:srgbClr val="C0392B"/>
                </a:solidFill>
                <a:latin typeface="Arial"/>
              </a:rPr>
              <a:t>SCADA / Real-time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24911" y="3867911"/>
            <a:ext cx="2112263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4911" y="3977639"/>
            <a:ext cx="2112263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92624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92624" y="3200399"/>
            <a:ext cx="220370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92624" y="3355848"/>
            <a:ext cx="2203703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92624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38344" y="3657600"/>
            <a:ext cx="211226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1">
                <a:solidFill>
                  <a:srgbClr val="F39C12"/>
                </a:solidFill>
                <a:latin typeface="Arial"/>
              </a:rPr>
              <a:t>Mobile / Scheduling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38344" y="3867911"/>
            <a:ext cx="2112263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Lemur-SF · FWM · ARCOS · Field Force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38344" y="3977639"/>
            <a:ext cx="2112263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06056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06056" y="3200399"/>
            <a:ext cx="220370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6056" y="3355848"/>
            <a:ext cx="2203703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06056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51776" y="3657600"/>
            <a:ext cx="211226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1">
                <a:solidFill>
                  <a:srgbClr val="8E44AD"/>
                </a:solidFill>
                <a:latin typeface="Arial"/>
              </a:rPr>
              <a:t>Workflow / 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6" y="3867911"/>
            <a:ext cx="2112263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OpenText · Rate Case Advisor · Utilisphere · corporate apps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19488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19488" y="3200399"/>
            <a:ext cx="220370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3355848"/>
            <a:ext cx="2203703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19488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65208" y="3657600"/>
            <a:ext cx="2112263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1">
                <a:solidFill>
                  <a:srgbClr val="2C578B"/>
                </a:solidFill>
                <a:latin typeface="Arial"/>
              </a:rPr>
              <a:t>SAP modules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65208" y="3867911"/>
            <a:ext cx="2112263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SAP FI · PO · Budget · S/4HANA (Spain)  +  SAP ECC · CRM · FICA (US)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65208" y="3977639"/>
            <a:ext cx="2112263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4434840"/>
            <a:ext cx="11457432" cy="384048"/>
          </a:xfrm>
          <a:prstGeom prst="roundRect">
            <a:avLst>
              <a:gd name="adj" fmla="val 2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4434840"/>
            <a:ext cx="1145743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Enabling Team  ·  shared services consumed by all 5 DVS</a:t>
            </a:r>
          </a:p>
        </p:txBody>
      </p:sp>
    </p:spTree>
    <p:extLst>
      <p:ext uri="{BB962C8B-B14F-4D97-AF65-F5344CB8AC3E}">
        <p14:creationId xmlns:p14="http://schemas.microsoft.com/office/powerpoint/2010/main" val="372847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 — SAFe-FAITHFUL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DVSs GROUPED BY SOLUTION FAMILY  ·  MANY-TO-MANY WITH OVSs  ·  3 BOUNDARY ISSUES SURFACED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Director ITBA · Carlos Garbin  ·  5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Solution-family pattern · matrix many-to-many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88671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The initial 4-VS proposal mirrored today's team structure. A SAFe-faithful identification groups DVSs by SOLUTION FAMILY (lifecycle · stack · skillset · cadence), not by current team boundaries. The result: 5 DVSs with 3 boundary issues that need executive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5 DVSs (NOT 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Engineering &amp; Spatial — CAD/GIS/asset platforms (vendor-driven, quarterly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Operations (OT) — real-time, safety-critical, OT skillset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Workforce — mobile, scheduling, field crew customer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Enterprise Content &amp; Reg — workflow, compliance, corporate users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Enterprise Platform — same SAP stack across US+Spain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Same solution-family lifecycle = same DVS · regardless of current team home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MANY-TO-MANY (NOT 1:1)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ONE business OVS uses several DVSs (e.g., Network Build needs Engineering + Field + Content)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ONE DVS supports several OVSs (e.g., SAP Platform supports P2P, Period Close, Budget, M2C)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Forcing 1:1 hides this complexity and creates artificial silos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Matrix on next slide makes the relationships explicit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Many-to-many is the SAFe pattern · 1:1 is convenient but inaccurate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3 BOUNDARY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⚠ Grid Operations — OT vs IT?  Traditionally OT (DevSecOps/SRE skillset)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⚠ Field Workforce — ITBA or CS Apps?  Apps appeared in BOTH initial proposals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⚠ SAP Platform — US (CS Apps) + Spain (ITBA) consolidation?  Same stack, same skillset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Each surfaces a structural choice that benefits from explicit executive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Structural insights · merit executive escalation · don't bury under fit-forced 1:1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THIS GIVES LEADERSHIP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 solution-family DVS structure that scales (same DVS works at 26 FTE or 100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Honest acknowledgment of cross-team / cross-org realities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Three explicit decisions to make (OT/IT, Field ownership, SAP consolidation)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Path to consolidate Digital Products (CS Apps + ITBA) under shared platform DVSs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Foundation for many-to-many resource allocation (matrix 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FTE base · clearer solution-family alignment · structural decisions surfaced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MANY-TO-MANY MATRIX — OVS × DVS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WHICH ITBA DVS SUPPORTS WHICH BUSINESS OVS  ·  ● = primary support  ○ = supporting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777240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743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BUSINESS OVS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↓  by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97280"/>
            <a:ext cx="1691640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097280"/>
            <a:ext cx="169164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143000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16916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43000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097280"/>
            <a:ext cx="1691640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143000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3258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097280"/>
            <a:ext cx="1691640" cy="777240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143000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3258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74519"/>
            <a:ext cx="54864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874519"/>
            <a:ext cx="54864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Engineering &amp; Asset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87451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87451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Network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8745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8745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214883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14883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Asset Replacement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214883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14883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242315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242315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Capital Planning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24231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224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388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24231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269747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" y="269747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Asset Decommissioning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269747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69747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8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7552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2971799"/>
            <a:ext cx="54864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2971799"/>
            <a:ext cx="54864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297179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" y="297179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Outage Response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80060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297179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297179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8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7552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0" y="324611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324611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Grid Optimization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2461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0060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00600" y="32461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8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52043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" y="352043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Routine Switching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0896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80060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00600" y="352043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8388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7552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" y="379475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0120" y="379475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Storm Restoration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0896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80060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00600" y="37947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9224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92240" y="37947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8388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83880" y="37947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2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5760" y="4069079"/>
            <a:ext cx="54864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4069079"/>
            <a:ext cx="54864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406907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" y="406907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Source-to-Pay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0896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80060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9224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8388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83880" y="406907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2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75520" y="406907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434339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0120" y="434339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Hire-to-Retire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0896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80060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9224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8388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83880" y="434339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7552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14400" y="461771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0120" y="461771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Rate Case Filing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0896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80060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9224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8388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83880" y="461771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87552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14400" y="489203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0120" y="489203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Regulatory Reporting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0896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80060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9224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18388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183880" y="489203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87552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875520" y="489203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166359"/>
            <a:ext cx="548640" cy="822959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60" y="5166359"/>
            <a:ext cx="548640" cy="8229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Iberdrola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516635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0120" y="5166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Procure-to-Pay (Spain)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10896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80060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9224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18388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87552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75520" y="516635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" y="544067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60120" y="544067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Period Close (Spain)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0896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80060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9224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18388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87552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875520" y="544067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4400" y="571499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0120" y="5714999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Plan-to-Budget (Spain)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0896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80060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9224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18388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87552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875520" y="5714999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65760" y="6172199"/>
            <a:ext cx="114574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Arial"/>
              </a:rPr>
              <a:t>Reading the matrix:  Each OVS uses one PRIMARY DVS (●) and may use SUPPORTING DVSs (○).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NETWORK BUILD (NEW CONNECTION)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Engineering / Asset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Network Build (New Connection)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Network expansion need or new customer connection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Asset built · GIS updated · network ready for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Planner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Plan &amp;
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Surveyor + engineer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Survey
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Engineer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Design &amp;
specify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Procurement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Procure
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Build /
construct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 + grid ops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Energize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Engineer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Document
&amp; publish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2880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Engineering &amp; Spatial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3319272"/>
            <a:ext cx="2880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Field Workforce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7123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2" y="3319272"/>
            <a:ext cx="2880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Enterprise Content &amp; Reg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ArcFM (asset)  ·  CYME (analysis)  ·  Bentley / Microstation (design)  ·  ProjectWise (drawings)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Asset Replacement Cycle  ·  Network Inspection  ·  Capital Planning  ·  Asset Decommissioning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OUTAGE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Network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Outage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Outage detected (SCADA sensor or customer call) or grid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Service restored · grid stable · regulator informed · root cause captured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SCADA + customer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Detect
&amp;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ops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Triage &amp;
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Dispatcher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Dispatch
crews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operator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Switch
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Field
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ops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Restore
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Operator + regulator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Close &amp;
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4343400" cy="4114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4343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Grid Operations (OT)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3246120"/>
            <a:ext cx="4343400" cy="41148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319272"/>
            <a:ext cx="4343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Field Workforce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Cimplicity (SCADA)  ·  Echelon (control)  ·  Switching Orders (workflow)  ·  SLAM (load analysis)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Grid Optimization  ·  Routine Switching  ·  Load Balancing  ·  Storm Restoration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RATE CASE 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Regulatory Affairs · Finance ·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Rate Case 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Rate case scheduled by regulator or new tariff strategy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Rates approved · revenue protected · compliance maintained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Finance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Plan
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Multi-team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Gather
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tool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Draft
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Legal + leadership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Internal
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Submit to
regulator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Legal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Respond to
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 + IT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Implement
rates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8732520" cy="41148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8732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Enterprise Content &amp; Reg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Rate Case Advisor (drafting)  ·  OpenText (documents)  ·  Utilisphere (utility data)  ·  internal financial systems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Source-to-Pay  ·  Hire-to-Retire  ·  Regulatory Reporting Cycle  ·  Employee Self-Service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PROCURE-TO-PAY (SPAIN)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Iberdrola Spain · Avangrid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Procure-to-Pay (Spain)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Iberdrola business unit identifies a need (good or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Goods received · vendor paid · books balanced · Iberdrola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Requester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Approver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Approve
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Procurement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Issue PO
(SAP)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Receiving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Receive
goods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 / AP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
invoice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 / Treasury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Pay
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 close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Close &amp;
reconcile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8732520" cy="41148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8732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SAP Enterprise Platform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SAP PO (purchase)  ·  SAP FI (finance)  ·  SAP Budget (control)  ·  S/4HANA (platform)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Period Close (Spain)  ·  Plan-to-Budget (Spain)  ·  Financial Reporting (Spain)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SERVICES — SHARED CAPABILITIES THAT KEEP THE ITBA DVS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governed by Director ITBA (Carlos Garbin)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No PM · no DVS-level backlog · operates as a small shared-service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and process foundation — Software Factory governance, demand intake, test &amp; release coordination, third-party risk gating — that the ITBA DVS rely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SWF (Software Factory) governance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Demand intake orchestration (PDD · Jira · IT Now)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Test &amp; release coordination (cross-DVS)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Third-party risk assessment gating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Vendor-management cadence (Accenture · SWF · business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ALM tooling administration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WHO USES THESE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All ITBA DVS — for SWF capacity · environments · test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Engineering DVS — third-party risk gating for vendor upgrades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Platform DVS — transport coordination · integration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Director ITBA — portfolio view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Optionally shared with CS Apps enabling team (Digital Products consolidation)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services support all DVS — they do not constitute a separate product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Coordination led by Director ITBA (Carlos Garbin)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governance lead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Demand intake / portfolio admin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Test &amp; risk coordinators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Why not a DVS: at this headcount, productizing foundation services would create overhead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SWF (Software Factory)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— for cross-DVS major projects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Third-party risk assessment vendors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governs operationally · vendors execute specific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IBERDROLA CORPORATE SERVICES — SPAIN FINANCE / PROCUREMENT /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Vanessa Colombo + Michael Dubois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Run Spain-side SAP modules and keep US/Iberdrola corporate processes aligned — balancing incidents, small demands, and major projects under hiring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FI (Finance) — Spain side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PO (Purchase Orders) — Spain side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Budget control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S/4HANA (Iberdrola roadmap)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Iberdrola corporate (Spain) — process 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Avangrid Finance — US-side integration needs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Incidents (IT Now)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Small Demands · Major projects (PDD)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Cross-org coordination · transport gating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Global SAP team (Vanessa Colombo + Michael Dubois)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~5 FTE total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Hiring lag (~1 year) flagged as top risk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Knowledge-transfer loss is a stated concern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Smallest sub-team in ITBA — capacity is the chronic constraint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(Global SAP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Spain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Iberdrola Spain integration teams (peer)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Iberdrola peer teams are an additional execution channel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ENGINEERING &amp; SPATIAL — RELIABLE ASSET DATA · DESIGN · ANALYSIS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George Porto (lead) + crossover for ProjectWise/Bentley from G&amp;E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CAD / GIS / asset · vendor-driven · quarterly upgrade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engineering &amp; spatial platform — captures, models and publishes asset and design data — supporting Network Build, Asset Replacement, Capital Planning OVSs.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ArcFM (GIS / asset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ProjectWise (engineering content / drawings)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Microstation (CAD)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Bentley (engineering platform family)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CYME (power systems analysis)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HANA spatial · GIS web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Network Build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Replacement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Capital Planning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Decommissioning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Optimization (supporting role)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Multi-OVS support — strongest leverage in Engineering &amp; Asset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George Porto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CAD/GIS engineers — including crossover from current G&amp;E team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Cross-team scope — clean PM accountability requires crossing today's GIS/G&amp;E 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Bentley (ProjectWise / Microstation / CYME)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Esri / ArcFM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HANA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GRID OPERATIONS (OT) — REAL-TIME · SAFETY-CRITICAL · 24/7 SCADA &amp;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Bruno Moreto (lead) + OT specialists (NEW capability if kept in 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SCADA / control / real-time · OT skillset · DevSecOps + SRE cadence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real-time grid control platform — SCADA, switching workflow, load analysis. Safety-critical. Supports Outage Response, Grid Optimization, Switching OVSs.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Cimplicity (SCADA / HMI)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Echelon (control / metering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(System Loading and Analysis Module)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Switching Orders (utility-specific switching workflow)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Outage Response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Optimization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Routine Switching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(primary)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All 4 OVSs in Network Operations domain depend on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OT vs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Grid control / SCADA traditionally sits in OT (Operational Technology), not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Avangrid: where does this team currently live? — to confirm with Bruno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If kept in ITBA: needs OT skillset (DevSecOps + SRE) — new capability hire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If moved to OT: ITBA scope shrinks · governance simplified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Decision required — escalate to executive (Carlos + OT leadership)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GE (Cimplicity)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Echelon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Possibly broader OT integrator if moved to 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Vendor mix depends on org placement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FIELD WORKFORCE — MOBILE · SCHEDULING · WORKFORCE MGMT FOR FIELD CREWS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TBD — overlaps Bruno's team and CS Apps field-ops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workforce mgmt · mobile · scheduling · field crew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field workforce platform — dispatch, mobile apps, scheduling, workforce management — for line workers, inspectors and dispatchers.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Lemur-SF (Salesforce-based field service)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FWM (Field Work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ARCOS (resource scheduling / callout)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Force (workforce mobile apps)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Outage Response (supporting — field repair)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Network Build (supporting — construction crews)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Replacement (supporting)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(supporting — surge capacity)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Decommissioning (supporting)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Cross-cutting DVS · serves multiple OVSs across domains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overlap with CS Apps Field Operations 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These apps appeared in CS Apps' "Field Operations" orange card (initial proposal)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 reality the customer is field crews — single workforce platform makes sense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Question: should this DVS sit in ITBA or in CS Apps?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Or: should it become a CROSS-AVANGRID platform (joint ownership)?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Don't fit-force into one branch — surface the structural overlap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Salesforce (Lemur-SF)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ARCOS Inc.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Force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FWM vendor (to confirm)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Vendor mix to be confirmed once ownership is decided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ENTERPRISE CONTENT &amp; REGULATORY — WORKFLOW · COMPLIANCE · CORPORATE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Sarath Garikapati + Amit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workflow · content · compliance-driven · corporate user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Deliver and maintain the workflow, content management and regulatory technology platform — supporting Hire-to-Retire, Source-to-Pay, Rate Case Filing, Regulatory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(content / records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Advisor (regulatory rate cases)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Utilisphere (utility-specific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Corporate applications portfolio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Employee portals · regulatory reporting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Hire-to-Retire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Filing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Reporting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Source-to-Pay (primary — workflow side)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(supporting — outage notifications)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Heaviest-leveraged DVS for Corporate &amp; Regulatory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Sarath Garikapati / Amit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5–6 PMs + 2 tech leads (current composition)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Largest sub-team — possible internal sub-streams (HR vs Regulatory) to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(corporate apps +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tooling vendors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5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SAP ENTERPRISE PLATFORM — UNIFIED SAP STACK · US (CS Apps) + SPAIN (ITBA)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Vanessa Colombo + Michael Dubois (Spain)  +  Vincent Lam / Naggi Reddy (US — currently CS Apps)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SAP modules · same skillset · same transport cadence · same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Operate and evolve the SAP enterprise platform — Spain side (FI/PO/Budget/S4HANA) and US side (ECC/CRM/FICA). Single stack, single skillset — natural candidate for unified DVS.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ITBA scope (Spain side):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FI (Finance)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PO (Purchase Orders)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Budget control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S/4HANA (Iberdrola roadmap)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/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Currently in CS Apps (US side):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ECC · SAP CRM · SAP FICA · SAP Metering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Spain: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Procure-to-Pay (Spain)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Period Close (Spain)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Plan-to-Budget (Spain)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/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US (cross-branch):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Source-to-Pay (supporting)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Customer-Service M2C OVS (full — currently CS Apps)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Highest-leverage DVS if US+Spain consolidated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cross-Avangrid SAP consolidation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Today: US SAP under Vincent Lam (CS Apps) · Spain SAP under Vanessa (ITBA)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Same stack · same skillset · same transports — natural to unify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Question: should there be ONE SAP Enterprise Platform DVS spanning Digital Products?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Pro: scale benefits · skill pool · architecture coherence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Con: current org boundaries · competing 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Naggi Reddy (Sr. Mgr SAP Basis) is well-positioned as platform anchor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(Global SAP support · both sides)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Spain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US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Iberdrola Spain integration teams (peer)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Cross-branch SAP partner consolidation also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3715</Words>
  <Application>Microsoft Macintosh PowerPoint</Application>
  <PresentationFormat>Widescreen</PresentationFormat>
  <Paragraphs>455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5</cp:revision>
  <dcterms:created xsi:type="dcterms:W3CDTF">2026-04-28T18:35:46Z</dcterms:created>
  <dcterms:modified xsi:type="dcterms:W3CDTF">2026-04-29T17:25:28Z</dcterms:modified>
</cp:coreProperties>
</file>