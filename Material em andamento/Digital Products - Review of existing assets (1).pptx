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7FFFFFEE_E80AC026.xml" ContentType="application/vnd.ms-powerpoint.comments+xml"/>
  <Override PartName="/ppt/comments/modernComment_7FFFFFE2_0.xml" ContentType="application/vnd.ms-powerpoint.comment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1" r:id="rId5"/>
  </p:sldMasterIdLst>
  <p:notesMasterIdLst>
    <p:notesMasterId r:id="rId20"/>
  </p:notesMasterIdLst>
  <p:sldIdLst>
    <p:sldId id="2147483614" r:id="rId6"/>
    <p:sldId id="258" r:id="rId7"/>
    <p:sldId id="2147483629" r:id="rId8"/>
    <p:sldId id="2147483625" r:id="rId9"/>
    <p:sldId id="2147483626" r:id="rId10"/>
    <p:sldId id="2147483627" r:id="rId11"/>
    <p:sldId id="2147483628" r:id="rId12"/>
    <p:sldId id="2147483630" r:id="rId13"/>
    <p:sldId id="2147483617" r:id="rId14"/>
    <p:sldId id="2147483618" r:id="rId15"/>
    <p:sldId id="2147483622" r:id="rId16"/>
    <p:sldId id="2147483586" r:id="rId17"/>
    <p:sldId id="2147483631" r:id="rId18"/>
    <p:sldId id="214748363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A6F16-3653-42A3-75BE-9E5891C38EA9}" name="Ana Sancha Medina" initials="AS" userId="S::asanmedi@emeal.nttdata.com::cb6b4da7-f127-491d-b2b3-c84b2f80c538" providerId="AD"/>
  <p188:author id="{08AA367A-3FE0-CE15-1CF5-256A1C107FE1}" name="Alfredo Soto Cuellar" initials="AS" userId="S::asotocue@emeal.nttdata.com::a1af1438-e027-44e1-b6a1-e184226576bb" providerId="AD"/>
  <p188:author id="{67DB39AB-BC3E-8A02-7D4E-C00B2BD6237D}" name="Gustavo Castellano" initials="GC" userId="S::gucastel@emeal.nttdata.com::a9cf1106-c481-4d5c-8dce-a3913bae123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57F46-7AB9-4868-8E2E-A4CF9D23EE51}" v="19" dt="2026-04-10T16:41:05.0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 varScale="1">
        <p:scale>
          <a:sx n="75" d="100"/>
          <a:sy n="75" d="100"/>
        </p:scale>
        <p:origin x="955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omments/modernComment_7FFFFFE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7EF789-46C7-4F7F-920C-A779D958E806}" authorId="{022A6F16-3653-42A3-75BE-9E5891C38EA9}" status="resolved" created="2026-04-08T19:09:34.146" complete="100000">
    <pc:sldMkLst xmlns:pc="http://schemas.microsoft.com/office/powerpoint/2013/main/command">
      <pc:docMk/>
      <pc:sldMk cId="0" sldId="2147483618"/>
    </pc:sldMkLst>
    <p188:replyLst>
      <p188:reply id="{6759EF8C-336D-4EB5-9CC7-F7361A5B6746}" authorId="{67DB39AB-BC3E-8A02-7D4E-C00B2BD6237D}" created="2026-04-08T19:17:33.996">
        <p188:txBody>
          <a:bodyPr/>
          <a:lstStyle/>
          <a:p>
            <a:r>
              <a:rPr lang="pt-BR"/>
              <a:t>I will work on it</a:t>
            </a:r>
          </a:p>
        </p188:txBody>
      </p188:reply>
    </p188:replyLst>
    <p188:txBody>
      <a:bodyPr/>
      <a:lstStyle/>
      <a:p>
        <a:r>
          <a:rPr lang="en-US"/>
          <a:t>Portfolio and Demand categories could be “one block to consolidate”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4-08T19:17:26.434" authorId="{67DB39AB-BC3E-8A02-7D4E-C00B2BD6237D}"/>
          </p223:rxn>
        </p223:reactions>
      </p:ext>
    </p188:extLst>
  </p188:cm>
</p188:cmLst>
</file>

<file path=ppt/comments/modernComment_7FFFFFEE_E80AC02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654C233-3A1E-4A04-AB4D-8B4C1D076650}" authorId="{022A6F16-3653-42A3-75BE-9E5891C38EA9}" created="2026-04-08T18:57:21.050">
    <pc:sldMkLst xmlns:pc="http://schemas.microsoft.com/office/powerpoint/2013/main/command">
      <pc:docMk/>
      <pc:sldMk cId="3893018662" sldId="2147483630"/>
    </pc:sldMkLst>
    <p188:replyLst>
      <p188:reply id="{318B3194-AB7C-4DE7-954D-1086BDD23488}" authorId="{67DB39AB-BC3E-8A02-7D4E-C00B2BD6237D}" created="2026-04-08T19:02:43.507">
        <p188:txBody>
          <a:bodyPr/>
          <a:lstStyle/>
          <a:p>
            <a:r>
              <a:rPr lang="pt-BR"/>
              <a:t>Just fixed it</a:t>
            </a:r>
          </a:p>
        </p188:txBody>
      </p188:reply>
    </p188:replyLst>
    <p188:txBody>
      <a:bodyPr/>
      <a:lstStyle/>
      <a:p>
        <a:r>
          <a:rPr lang="en-US"/>
          <a:t>Link to renewables not available</a:t>
        </a:r>
      </a:p>
    </p188:txBody>
  </p188:cm>
  <p188:cm id="{517D637F-D4FD-4806-81D4-52769985651C}" authorId="{022A6F16-3653-42A3-75BE-9E5891C38EA9}" created="2026-04-08T19:04:25.907">
    <pc:sldMkLst xmlns:pc="http://schemas.microsoft.com/office/powerpoint/2013/main/command">
      <pc:docMk/>
      <pc:sldMk cId="3893018662" sldId="2147483630"/>
    </pc:sldMkLst>
    <p188:txBody>
      <a:bodyPr/>
      <a:lstStyle/>
      <a:p>
        <a:r>
          <a:rPr lang="en-US"/>
          <a:t>Value &amp; priorization, we need to have clear the prioritization existing methods and formulas at a portfolio - program and then the layer of execution on teams to align with the process E2E, this 2 things will be core ☺️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4-08T19:14:58.415" authorId="{67DB39AB-BC3E-8A02-7D4E-C00B2BD6237D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7D4EC-9B40-E340-BEA7-010E000B6DB3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EE1FB-C71A-F748-BC6C-7000C50F6B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83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240-D894-06FF-4AAF-AB208D6B7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CC2DB-1B36-960B-DB38-562D0304C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3A28B-AE4F-DC6C-23EF-50B76C69D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BD2C9-9746-87ED-205C-C0BC35E13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330459-04A6-496E-99F7-EB9EEED2D26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988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8721-416D-1B33-156F-047D667D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4E8B9-CA95-7BC1-6CDC-46228C0A7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1D8E6-BD42-F4A1-6D37-B4B1B3D9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WoW se ha </a:t>
            </a:r>
            <a:r>
              <a:rPr lang="en-US" err="1"/>
              <a:t>trabajado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Cx</a:t>
            </a:r>
            <a:r>
              <a:rPr lang="en-US"/>
              <a:t> &amp; Digital </a:t>
            </a:r>
            <a:r>
              <a:rPr lang="en-US" err="1"/>
              <a:t>CoE</a:t>
            </a:r>
            <a:r>
              <a:rPr lang="en-US"/>
              <a:t>. (</a:t>
            </a:r>
            <a:r>
              <a:rPr lang="en-US" err="1"/>
              <a:t>ramón</a:t>
            </a:r>
            <a:r>
              <a:rPr lang="en-US">
                <a:sym typeface="Wingdings" panose="05000000000000000000" pitchFamily="2" charset="2"/>
              </a:rPr>
              <a:t> Javi). </a:t>
            </a:r>
            <a:r>
              <a:rPr lang="en-US" err="1">
                <a:sym typeface="Wingdings" panose="05000000000000000000" pitchFamily="2" charset="2"/>
              </a:rPr>
              <a:t>Diseño</a:t>
            </a:r>
            <a:r>
              <a:rPr lang="en-US">
                <a:sym typeface="Wingdings" panose="05000000000000000000" pitchFamily="2" charset="2"/>
              </a:rPr>
              <a:t> de solución de customer. Websites/mobile, </a:t>
            </a:r>
            <a:r>
              <a:rPr lang="en-US" err="1">
                <a:sym typeface="Wingdings" panose="05000000000000000000" pitchFamily="2" charset="2"/>
              </a:rPr>
              <a:t>etc</a:t>
            </a:r>
            <a:endParaRPr lang="en-US">
              <a:sym typeface="Wingdings" panose="05000000000000000000" pitchFamily="2" charset="2"/>
            </a:endParaRPr>
          </a:p>
          <a:p>
            <a:r>
              <a:rPr lang="en-US" err="1">
                <a:sym typeface="Wingdings" panose="05000000000000000000" pitchFamily="2" charset="2"/>
              </a:rPr>
              <a:t>Midiendo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nps</a:t>
            </a:r>
            <a:r>
              <a:rPr lang="en-US">
                <a:sym typeface="Wingdings" panose="05000000000000000000" pitchFamily="2" charset="2"/>
              </a:rPr>
              <a:t> de customer. </a:t>
            </a:r>
          </a:p>
          <a:p>
            <a:r>
              <a:rPr lang="en-US">
                <a:sym typeface="Wingdings" panose="05000000000000000000" pitchFamily="2" charset="2"/>
              </a:rPr>
              <a:t>2. P&amp;T Process &amp; Technology: </a:t>
            </a:r>
            <a:r>
              <a:rPr lang="en-US" err="1">
                <a:sym typeface="Wingdings" panose="05000000000000000000" pitchFamily="2" charset="2"/>
              </a:rPr>
              <a:t>Aplicaciones</a:t>
            </a:r>
            <a:r>
              <a:rPr lang="en-US">
                <a:sym typeface="Wingdings" panose="05000000000000000000" pitchFamily="2" charset="2"/>
              </a:rPr>
              <a:t> para field operators. Como se </a:t>
            </a:r>
            <a:r>
              <a:rPr lang="en-US" err="1">
                <a:sym typeface="Wingdings" panose="05000000000000000000" pitchFamily="2" charset="2"/>
              </a:rPr>
              <a:t>roganziacion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proeyctos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en</a:t>
            </a:r>
            <a:r>
              <a:rPr lang="en-US">
                <a:sym typeface="Wingdings" panose="05000000000000000000" pitchFamily="2" charset="2"/>
              </a:rPr>
              <a:t> JIRA, portfolio, gestion de </a:t>
            </a:r>
            <a:r>
              <a:rPr lang="en-US" err="1">
                <a:sym typeface="Wingdings" panose="05000000000000000000" pitchFamily="2" charset="2"/>
              </a:rPr>
              <a:t>operación</a:t>
            </a:r>
            <a:r>
              <a:rPr lang="en-US">
                <a:sym typeface="Wingdings" panose="05000000000000000000" pitchFamily="2" charset="2"/>
              </a:rPr>
              <a:t>, skill, roles. </a:t>
            </a:r>
            <a:r>
              <a:rPr lang="en-US" err="1">
                <a:sym typeface="Wingdings" panose="05000000000000000000" pitchFamily="2" charset="2"/>
              </a:rPr>
              <a:t>Tocamos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dimensiones</a:t>
            </a:r>
            <a:r>
              <a:rPr lang="en-US">
                <a:sym typeface="Wingdings" panose="05000000000000000000" pitchFamily="2" charset="2"/>
              </a:rPr>
              <a:t> para </a:t>
            </a:r>
            <a:r>
              <a:rPr lang="en-US" err="1">
                <a:sym typeface="Wingdings" panose="05000000000000000000" pitchFamily="2" charset="2"/>
              </a:rPr>
              <a:t>mejorar</a:t>
            </a:r>
            <a:r>
              <a:rPr lang="en-US">
                <a:sym typeface="Wingdings" panose="05000000000000000000" pitchFamily="2" charset="2"/>
              </a:rPr>
              <a:t> y eficientar </a:t>
            </a:r>
            <a:r>
              <a:rPr lang="en-US" err="1">
                <a:sym typeface="Wingdings" panose="05000000000000000000" pitchFamily="2" charset="2"/>
              </a:rPr>
              <a:t>modelo</a:t>
            </a:r>
            <a:r>
              <a:rPr lang="en-US">
                <a:sym typeface="Wingdings" panose="05000000000000000000" pitchFamily="2" charset="2"/>
              </a:rPr>
              <a:t>. Se ha </a:t>
            </a:r>
            <a:r>
              <a:rPr lang="en-US" err="1">
                <a:sym typeface="Wingdings" panose="05000000000000000000" pitchFamily="2" charset="2"/>
              </a:rPr>
              <a:t>hecho</a:t>
            </a:r>
            <a:r>
              <a:rPr lang="en-US">
                <a:sym typeface="Wingdings" panose="05000000000000000000" pitchFamily="2" charset="2"/>
              </a:rPr>
              <a:t> lo </a:t>
            </a:r>
            <a:r>
              <a:rPr lang="en-US" err="1">
                <a:sym typeface="Wingdings" panose="05000000000000000000" pitchFamily="2" charset="2"/>
              </a:rPr>
              <a:t>mismo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Diagnostico</a:t>
            </a:r>
            <a:r>
              <a:rPr lang="en-US">
                <a:sym typeface="Wingdings" panose="05000000000000000000" pitchFamily="2" charset="2"/>
              </a:rPr>
              <a:t>-&gt; </a:t>
            </a:r>
            <a:r>
              <a:rPr lang="en-US" err="1">
                <a:sym typeface="Wingdings" panose="05000000000000000000" pitchFamily="2" charset="2"/>
              </a:rPr>
              <a:t>equipo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estbale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en</a:t>
            </a:r>
            <a:r>
              <a:rPr lang="en-US">
                <a:sym typeface="Wingdings" panose="05000000000000000000" pitchFamily="2" charset="2"/>
              </a:rPr>
              <a:t> la </a:t>
            </a:r>
            <a:r>
              <a:rPr lang="en-US" err="1">
                <a:sym typeface="Wingdings" panose="05000000000000000000" pitchFamily="2" charset="2"/>
              </a:rPr>
              <a:t>implementación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Ahora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está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implementación</a:t>
            </a:r>
            <a:r>
              <a:rPr lang="en-US">
                <a:sym typeface="Wingdings" panose="05000000000000000000" pitchFamily="2" charset="2"/>
              </a:rPr>
              <a:t>. 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 err="1">
                <a:sym typeface="Wingdings" panose="05000000000000000000" pitchFamily="2" charset="2"/>
              </a:rPr>
              <a:t>Otro</a:t>
            </a:r>
            <a:r>
              <a:rPr lang="en-US">
                <a:sym typeface="Wingdings" panose="05000000000000000000" pitchFamily="2" charset="2"/>
              </a:rPr>
              <a:t> Proyecto </a:t>
            </a:r>
            <a:r>
              <a:rPr lang="en-US" err="1">
                <a:sym typeface="Wingdings" panose="05000000000000000000" pitchFamily="2" charset="2"/>
              </a:rPr>
              <a:t>en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Renovables</a:t>
            </a:r>
            <a:r>
              <a:rPr lang="en-US">
                <a:sym typeface="Wingdings" panose="05000000000000000000" pitchFamily="2" charset="2"/>
              </a:rPr>
              <a:t>: con </a:t>
            </a:r>
            <a:r>
              <a:rPr lang="en-US" err="1">
                <a:sym typeface="Wingdings" panose="05000000000000000000" pitchFamily="2" charset="2"/>
              </a:rPr>
              <a:t>CoE</a:t>
            </a:r>
            <a:r>
              <a:rPr lang="en-US">
                <a:sym typeface="Wingdings" panose="05000000000000000000" pitchFamily="2" charset="2"/>
              </a:rPr>
              <a:t> de IT (WoW). </a:t>
            </a:r>
          </a:p>
          <a:p>
            <a:r>
              <a:rPr lang="en-US">
                <a:sym typeface="Wingdings" panose="05000000000000000000" pitchFamily="2" charset="2"/>
              </a:rPr>
              <a:t>Nueva </a:t>
            </a:r>
            <a:r>
              <a:rPr lang="en-US" err="1">
                <a:sym typeface="Wingdings" panose="05000000000000000000" pitchFamily="2" charset="2"/>
              </a:rPr>
              <a:t>estrcutura</a:t>
            </a:r>
            <a:r>
              <a:rPr lang="en-US">
                <a:sym typeface="Wingdings" panose="05000000000000000000" pitchFamily="2" charset="2"/>
              </a:rPr>
              <a:t> de Digital products </a:t>
            </a:r>
            <a:r>
              <a:rPr lang="en-US" err="1">
                <a:sym typeface="Wingdings" panose="05000000000000000000" pitchFamily="2" charset="2"/>
              </a:rPr>
              <a:t>integrando</a:t>
            </a:r>
            <a:r>
              <a:rPr lang="en-US">
                <a:sym typeface="Wingdings" panose="05000000000000000000" pitchFamily="2" charset="2"/>
              </a:rPr>
              <a:t> SAP y APP. </a:t>
            </a:r>
            <a:r>
              <a:rPr lang="en-US" err="1">
                <a:sym typeface="Wingdings" panose="05000000000000000000" pitchFamily="2" charset="2"/>
              </a:rPr>
              <a:t>Aplications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tiene</a:t>
            </a:r>
            <a:r>
              <a:rPr lang="en-US">
                <a:sym typeface="Wingdings" panose="05000000000000000000" pitchFamily="2" charset="2"/>
              </a:rPr>
              <a:t> mayor curva </a:t>
            </a:r>
            <a:r>
              <a:rPr lang="en-US" err="1">
                <a:sym typeface="Wingdings" panose="05000000000000000000" pitchFamily="2" charset="2"/>
              </a:rPr>
              <a:t>por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proeycto</a:t>
            </a:r>
            <a:r>
              <a:rPr lang="en-US">
                <a:sym typeface="Wingdings" panose="05000000000000000000" pitchFamily="2" charset="2"/>
              </a:rPr>
              <a:t> de P&amp;T. con Sap no </a:t>
            </a:r>
            <a:r>
              <a:rPr lang="en-US" err="1">
                <a:sym typeface="Wingdings" panose="05000000000000000000" pitchFamily="2" charset="2"/>
              </a:rPr>
              <a:t>habia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tenido</a:t>
            </a:r>
            <a:r>
              <a:rPr lang="en-US">
                <a:sym typeface="Wingdings" panose="05000000000000000000" pitchFamily="2" charset="2"/>
              </a:rPr>
              <a:t> un link con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proeycto</a:t>
            </a:r>
            <a:r>
              <a:rPr lang="en-US">
                <a:sym typeface="Wingdings" panose="05000000000000000000" pitchFamily="2" charset="2"/>
              </a:rPr>
              <a:t> de CX. En Sap no </a:t>
            </a:r>
            <a:r>
              <a:rPr lang="en-US" err="1">
                <a:sym typeface="Wingdings" panose="05000000000000000000" pitchFamily="2" charset="2"/>
              </a:rPr>
              <a:t>conocemos</a:t>
            </a:r>
            <a:r>
              <a:rPr lang="en-US">
                <a:sym typeface="Wingdings" panose="05000000000000000000" pitchFamily="2" charset="2"/>
              </a:rPr>
              <a:t>. Con Applications, </a:t>
            </a:r>
            <a:r>
              <a:rPr lang="en-US" err="1">
                <a:sym typeface="Wingdings" panose="05000000000000000000" pitchFamily="2" charset="2"/>
              </a:rPr>
              <a:t>ya</a:t>
            </a:r>
            <a:r>
              <a:rPr lang="en-US">
                <a:sym typeface="Wingdings" panose="05000000000000000000" pitchFamily="2" charset="2"/>
              </a:rPr>
              <a:t> lo temenos </a:t>
            </a:r>
            <a:r>
              <a:rPr lang="en-US" err="1">
                <a:sym typeface="Wingdings" panose="05000000000000000000" pitchFamily="2" charset="2"/>
              </a:rPr>
              <a:t>mapeado</a:t>
            </a:r>
            <a:r>
              <a:rPr lang="en-US">
                <a:sym typeface="Wingdings" panose="05000000000000000000" pitchFamily="2" charset="2"/>
              </a:rPr>
              <a:t>. Pendiente saber </a:t>
            </a:r>
            <a:r>
              <a:rPr lang="en-US" err="1">
                <a:sym typeface="Wingdings" panose="05000000000000000000" pitchFamily="2" charset="2"/>
              </a:rPr>
              <a:t>como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trabajan</a:t>
            </a:r>
            <a:r>
              <a:rPr lang="en-US">
                <a:sym typeface="Wingdings" panose="05000000000000000000" pitchFamily="2" charset="2"/>
              </a:rPr>
              <a:t> con </a:t>
            </a:r>
            <a:r>
              <a:rPr lang="en-US" err="1">
                <a:sym typeface="Wingdings" panose="05000000000000000000" pitchFamily="2" charset="2"/>
              </a:rPr>
              <a:t>otras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áreas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Ahroa</a:t>
            </a:r>
            <a:r>
              <a:rPr lang="en-US">
                <a:sym typeface="Wingdings" panose="05000000000000000000" pitchFamily="2" charset="2"/>
              </a:rPr>
              <a:t> solo es la </a:t>
            </a:r>
            <a:r>
              <a:rPr lang="en-US" err="1">
                <a:sym typeface="Wingdings" panose="05000000000000000000" pitchFamily="2" charset="2"/>
              </a:rPr>
              <a:t>definición</a:t>
            </a:r>
            <a:r>
              <a:rPr lang="en-US">
                <a:sym typeface="Wingdings" panose="05000000000000000000" pitchFamily="2" charset="2"/>
              </a:rPr>
              <a:t>. Hacer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blueprint del </a:t>
            </a:r>
            <a:r>
              <a:rPr lang="en-US" err="1">
                <a:sym typeface="Wingdings" panose="05000000000000000000" pitchFamily="2" charset="2"/>
              </a:rPr>
              <a:t>proceso</a:t>
            </a:r>
            <a:r>
              <a:rPr lang="en-US">
                <a:sym typeface="Wingdings" panose="05000000000000000000" pitchFamily="2" charset="2"/>
              </a:rPr>
              <a:t> y de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roles. </a:t>
            </a:r>
            <a:r>
              <a:rPr lang="en-US" err="1">
                <a:sym typeface="Wingdings" panose="05000000000000000000" pitchFamily="2" charset="2"/>
              </a:rPr>
              <a:t>Definir</a:t>
            </a:r>
            <a:r>
              <a:rPr lang="en-US">
                <a:sym typeface="Wingdings" panose="05000000000000000000" pitchFamily="2" charset="2"/>
              </a:rPr>
              <a:t> y </a:t>
            </a:r>
            <a:r>
              <a:rPr lang="en-US" err="1">
                <a:sym typeface="Wingdings" panose="05000000000000000000" pitchFamily="2" charset="2"/>
              </a:rPr>
              <a:t>reutilizar</a:t>
            </a:r>
            <a:r>
              <a:rPr lang="en-US">
                <a:sym typeface="Wingdings" panose="05000000000000000000" pitchFamily="2" charset="2"/>
              </a:rPr>
              <a:t> al </a:t>
            </a:r>
            <a:r>
              <a:rPr lang="en-US" err="1">
                <a:sym typeface="Wingdings" panose="05000000000000000000" pitchFamily="2" charset="2"/>
              </a:rPr>
              <a:t>maximo</a:t>
            </a:r>
            <a:r>
              <a:rPr lang="en-US">
                <a:sym typeface="Wingdings" panose="05000000000000000000" pitchFamily="2" charset="2"/>
              </a:rPr>
              <a:t> lo </a:t>
            </a:r>
            <a:r>
              <a:rPr lang="en-US" err="1">
                <a:sym typeface="Wingdings" panose="05000000000000000000" pitchFamily="2" charset="2"/>
              </a:rPr>
              <a:t>ya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definido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Centralziar</a:t>
            </a:r>
            <a:r>
              <a:rPr lang="en-US">
                <a:sym typeface="Wingdings" panose="05000000000000000000" pitchFamily="2" charset="2"/>
              </a:rPr>
              <a:t> y </a:t>
            </a:r>
            <a:r>
              <a:rPr lang="en-US" err="1">
                <a:sym typeface="Wingdings" panose="05000000000000000000" pitchFamily="2" charset="2"/>
              </a:rPr>
              <a:t>decidir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sobre</a:t>
            </a:r>
            <a:r>
              <a:rPr lang="en-US">
                <a:sym typeface="Wingdings" panose="05000000000000000000" pitchFamily="2" charset="2"/>
              </a:rPr>
              <a:t> la gestion de </a:t>
            </a:r>
            <a:r>
              <a:rPr lang="en-US" err="1">
                <a:sym typeface="Wingdings" panose="05000000000000000000" pitchFamily="2" charset="2"/>
              </a:rPr>
              <a:t>demanda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Buscar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estandarizar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definición</a:t>
            </a:r>
            <a:r>
              <a:rPr lang="en-US">
                <a:sym typeface="Wingdings" panose="05000000000000000000" pitchFamily="2" charset="2"/>
              </a:rPr>
              <a:t>. Marcar GAPs </a:t>
            </a:r>
            <a:r>
              <a:rPr lang="en-US" err="1">
                <a:sym typeface="Wingdings" panose="05000000000000000000" pitchFamily="2" charset="2"/>
              </a:rPr>
              <a:t>en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proceso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pedir</a:t>
            </a:r>
            <a:r>
              <a:rPr lang="en-US">
                <a:sym typeface="Wingdings" panose="05000000000000000000" pitchFamily="2" charset="2"/>
              </a:rPr>
              <a:t> información </a:t>
            </a:r>
            <a:r>
              <a:rPr lang="en-US" err="1">
                <a:sym typeface="Wingdings" panose="05000000000000000000" pitchFamily="2" charset="2"/>
              </a:rPr>
              <a:t>suficiente</a:t>
            </a:r>
            <a:r>
              <a:rPr lang="en-US">
                <a:sym typeface="Wingdings" panose="05000000000000000000" pitchFamily="2" charset="2"/>
              </a:rPr>
              <a:t> para </a:t>
            </a:r>
            <a:r>
              <a:rPr lang="en-US" err="1">
                <a:sym typeface="Wingdings" panose="05000000000000000000" pitchFamily="2" charset="2"/>
              </a:rPr>
              <a:t>priorizar</a:t>
            </a:r>
            <a:r>
              <a:rPr lang="en-US">
                <a:sym typeface="Wingdings" panose="05000000000000000000" pitchFamily="2" charset="2"/>
              </a:rPr>
              <a:t>. </a:t>
            </a:r>
          </a:p>
          <a:p>
            <a:r>
              <a:rPr lang="en-US">
                <a:sym typeface="Wingdings" panose="05000000000000000000" pitchFamily="2" charset="2"/>
              </a:rPr>
              <a:t>La </a:t>
            </a:r>
            <a:r>
              <a:rPr lang="en-US" err="1">
                <a:sym typeface="Wingdings" panose="05000000000000000000" pitchFamily="2" charset="2"/>
              </a:rPr>
              <a:t>priorización</a:t>
            </a:r>
            <a:r>
              <a:rPr lang="en-US">
                <a:sym typeface="Wingdings" panose="05000000000000000000" pitchFamily="2" charset="2"/>
              </a:rPr>
              <a:t> es P&amp;T </a:t>
            </a:r>
            <a:r>
              <a:rPr lang="en-US" err="1">
                <a:sym typeface="Wingdings" panose="05000000000000000000" pitchFamily="2" charset="2"/>
              </a:rPr>
              <a:t>en</a:t>
            </a:r>
            <a:r>
              <a:rPr lang="en-US">
                <a:sym typeface="Wingdings" panose="05000000000000000000" pitchFamily="2" charset="2"/>
              </a:rPr>
              <a:t> conjunto con </a:t>
            </a:r>
            <a:r>
              <a:rPr lang="en-US" err="1">
                <a:sym typeface="Wingdings" panose="05000000000000000000" pitchFamily="2" charset="2"/>
              </a:rPr>
              <a:t>aplicaciones</a:t>
            </a:r>
            <a:r>
              <a:rPr lang="en-US">
                <a:sym typeface="Wingdings" panose="05000000000000000000" pitchFamily="2" charset="2"/>
              </a:rPr>
              <a:t>. Big Room planning, </a:t>
            </a:r>
            <a:r>
              <a:rPr lang="en-US" err="1">
                <a:sym typeface="Wingdings" panose="05000000000000000000" pitchFamily="2" charset="2"/>
              </a:rPr>
              <a:t>todos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equipos</a:t>
            </a:r>
            <a:r>
              <a:rPr lang="en-US">
                <a:sym typeface="Wingdings" panose="05000000000000000000" pitchFamily="2" charset="2"/>
              </a:rPr>
              <a:t> y </a:t>
            </a:r>
            <a:r>
              <a:rPr lang="en-US" err="1">
                <a:sym typeface="Wingdings" panose="05000000000000000000" pitchFamily="2" charset="2"/>
              </a:rPr>
              <a:t>trabajan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objetivos</a:t>
            </a:r>
            <a:r>
              <a:rPr lang="en-US">
                <a:sym typeface="Wingdings" panose="05000000000000000000" pitchFamily="2" charset="2"/>
              </a:rPr>
              <a:t> del Q. </a:t>
            </a:r>
            <a:r>
              <a:rPr lang="en-US" err="1">
                <a:sym typeface="Wingdings" panose="05000000000000000000" pitchFamily="2" charset="2"/>
              </a:rPr>
              <a:t>que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si</a:t>
            </a:r>
            <a:r>
              <a:rPr lang="en-US">
                <a:sym typeface="Wingdings" panose="05000000000000000000" pitchFamily="2" charset="2"/>
              </a:rPr>
              <a:t> es </a:t>
            </a:r>
            <a:r>
              <a:rPr lang="en-US" err="1">
                <a:sym typeface="Wingdings" panose="05000000000000000000" pitchFamily="2" charset="2"/>
              </a:rPr>
              <a:t>necesario</a:t>
            </a:r>
            <a:r>
              <a:rPr lang="en-US">
                <a:sym typeface="Wingdings" panose="05000000000000000000" pitchFamily="2" charset="2"/>
              </a:rPr>
              <a:t> levanter con Fuentes de la </a:t>
            </a:r>
            <a:r>
              <a:rPr lang="en-US" err="1">
                <a:sym typeface="Wingdings" panose="05000000000000000000" pitchFamily="2" charset="2"/>
              </a:rPr>
              <a:t>demanda</a:t>
            </a:r>
            <a:r>
              <a:rPr lang="en-US">
                <a:sym typeface="Wingdings" panose="05000000000000000000" pitchFamily="2" charset="2"/>
              </a:rPr>
              <a:t>. 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Lo mas </a:t>
            </a:r>
            <a:r>
              <a:rPr lang="en-US" err="1">
                <a:sym typeface="Wingdings" panose="05000000000000000000" pitchFamily="2" charset="2"/>
              </a:rPr>
              <a:t>importante</a:t>
            </a:r>
            <a:r>
              <a:rPr lang="en-US">
                <a:sym typeface="Wingdings" panose="05000000000000000000" pitchFamily="2" charset="2"/>
              </a:rPr>
              <a:t> para Victor </a:t>
            </a:r>
            <a:r>
              <a:rPr lang="en-US" err="1">
                <a:sym typeface="Wingdings" panose="05000000000000000000" pitchFamily="2" charset="2"/>
              </a:rPr>
              <a:t>poner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orden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departametno</a:t>
            </a:r>
            <a:r>
              <a:rPr lang="en-US">
                <a:sym typeface="Wingdings" panose="05000000000000000000" pitchFamily="2" charset="2"/>
              </a:rPr>
              <a:t>. Y </a:t>
            </a:r>
            <a:r>
              <a:rPr lang="en-US" err="1">
                <a:sym typeface="Wingdings" panose="05000000000000000000" pitchFamily="2" charset="2"/>
              </a:rPr>
              <a:t>ver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qué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pedirles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como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tienen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interlocuiones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conversaciones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etc</a:t>
            </a:r>
            <a:r>
              <a:rPr lang="en-US">
                <a:sym typeface="Wingdings" panose="05000000000000000000" pitchFamily="2" charset="2"/>
              </a:rPr>
              <a:t>… Si </a:t>
            </a:r>
            <a:r>
              <a:rPr lang="en-US" err="1">
                <a:sym typeface="Wingdings" panose="05000000000000000000" pitchFamily="2" charset="2"/>
              </a:rPr>
              <a:t>mapear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cómo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entra</a:t>
            </a:r>
            <a:r>
              <a:rPr lang="en-US">
                <a:sym typeface="Wingdings" panose="05000000000000000000" pitchFamily="2" charset="2"/>
              </a:rPr>
              <a:t> la </a:t>
            </a:r>
            <a:r>
              <a:rPr lang="en-US" err="1">
                <a:sym typeface="Wingdings" panose="05000000000000000000" pitchFamily="2" charset="2"/>
              </a:rPr>
              <a:t>demanda</a:t>
            </a:r>
            <a:r>
              <a:rPr lang="en-US">
                <a:sym typeface="Wingdings" panose="05000000000000000000" pitchFamily="2" charset="2"/>
              </a:rPr>
              <a:t>, volume </a:t>
            </a:r>
            <a:r>
              <a:rPr lang="en-US" err="1">
                <a:sym typeface="Wingdings" panose="05000000000000000000" pitchFamily="2" charset="2"/>
              </a:rPr>
              <a:t>tipo</a:t>
            </a:r>
            <a:r>
              <a:rPr lang="en-US">
                <a:sym typeface="Wingdings" panose="05000000000000000000" pitchFamily="2" charset="2"/>
              </a:rPr>
              <a:t> de info, y </a:t>
            </a:r>
            <a:r>
              <a:rPr lang="en-US" err="1">
                <a:sym typeface="Wingdings" panose="05000000000000000000" pitchFamily="2" charset="2"/>
              </a:rPr>
              <a:t>ver</a:t>
            </a:r>
            <a:r>
              <a:rPr lang="en-US">
                <a:sym typeface="Wingdings" panose="05000000000000000000" pitchFamily="2" charset="2"/>
              </a:rPr>
              <a:t> GAPs. </a:t>
            </a:r>
            <a:r>
              <a:rPr lang="en-US" err="1">
                <a:sym typeface="Wingdings" panose="05000000000000000000" pitchFamily="2" charset="2"/>
              </a:rPr>
              <a:t>Establecer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igual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proceso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en</a:t>
            </a:r>
            <a:r>
              <a:rPr lang="en-US">
                <a:sym typeface="Wingdings" panose="05000000000000000000" pitchFamily="2" charset="2"/>
              </a:rPr>
              <a:t> Digital Products. 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El </a:t>
            </a:r>
            <a:r>
              <a:rPr lang="en-US" err="1">
                <a:sym typeface="Wingdings" panose="05000000000000000000" pitchFamily="2" charset="2"/>
              </a:rPr>
              <a:t>foco</a:t>
            </a:r>
            <a:r>
              <a:rPr lang="en-US">
                <a:sym typeface="Wingdings" panose="05000000000000000000" pitchFamily="2" charset="2"/>
              </a:rPr>
              <a:t> es la base; </a:t>
            </a:r>
            <a:r>
              <a:rPr lang="en-US" err="1">
                <a:sym typeface="Wingdings" panose="05000000000000000000" pitchFamily="2" charset="2"/>
              </a:rPr>
              <a:t>poder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ver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cuantos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proeyctos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progreso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riesgos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impactos</a:t>
            </a:r>
            <a:r>
              <a:rPr lang="en-US">
                <a:sym typeface="Wingdings" panose="05000000000000000000" pitchFamily="2" charset="2"/>
              </a:rPr>
              <a:t>. </a:t>
            </a: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}3: </a:t>
            </a:r>
            <a:r>
              <a:rPr lang="en-US" err="1">
                <a:sym typeface="Wingdings" panose="05000000000000000000" pitchFamily="2" charset="2"/>
              </a:rPr>
              <a:t>Ahora</a:t>
            </a:r>
            <a:r>
              <a:rPr lang="en-US">
                <a:sym typeface="Wingdings" panose="05000000000000000000" pitchFamily="2" charset="2"/>
              </a:rPr>
              <a:t> digital Products</a:t>
            </a:r>
          </a:p>
          <a:p>
            <a:r>
              <a:rPr lang="en-US" err="1">
                <a:sym typeface="Wingdings" panose="05000000000000000000" pitchFamily="2" charset="2"/>
              </a:rPr>
              <a:t>Esos</a:t>
            </a:r>
            <a:r>
              <a:rPr lang="en-US">
                <a:sym typeface="Wingdings" panose="05000000000000000000" pitchFamily="2" charset="2"/>
              </a:rPr>
              <a:t> dos son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más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grandes</a:t>
            </a:r>
            <a:r>
              <a:rPr lang="en-US">
                <a:sym typeface="Wingdings" panose="05000000000000000000" pitchFamily="2" charset="2"/>
              </a:rPr>
              <a:t>.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91BA9-1F83-8AE4-DA19-D093991F8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655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B95E978-8472-CA69-B0B6-9C431E4CD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2131" y="0"/>
            <a:ext cx="12204131" cy="685800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F027B3D-B447-4970-1AAD-550A0D24CD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7347940"/>
            <a:ext cx="6858000" cy="69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6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2">
            <a:extLst>
              <a:ext uri="{FF2B5EF4-FFF2-40B4-BE49-F238E27FC236}">
                <a16:creationId xmlns:a16="http://schemas.microsoft.com/office/drawing/2014/main" id="{DD34A5C2-15D8-D692-EC3D-A2A4D6755B0D}"/>
              </a:ext>
            </a:extLst>
          </p:cNvPr>
          <p:cNvSpPr/>
          <p:nvPr userDrawn="1"/>
        </p:nvSpPr>
        <p:spPr>
          <a:xfrm>
            <a:off x="-647700" y="346568"/>
            <a:ext cx="462022" cy="3873007"/>
          </a:xfrm>
          <a:prstGeom prst="roundRect">
            <a:avLst/>
          </a:prstGeom>
          <a:solidFill>
            <a:srgbClr val="949494">
              <a:lumMod val="20000"/>
              <a:lumOff val="80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lIns="108000" tIns="72000" rIns="10800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A85759A7-950E-847C-969D-1CB3C50977E1}"/>
              </a:ext>
            </a:extLst>
          </p:cNvPr>
          <p:cNvGrpSpPr/>
          <p:nvPr userDrawn="1"/>
        </p:nvGrpSpPr>
        <p:grpSpPr>
          <a:xfrm>
            <a:off x="-569089" y="3369433"/>
            <a:ext cx="304800" cy="694110"/>
            <a:chOff x="-569089" y="3140833"/>
            <a:chExt cx="304800" cy="694110"/>
          </a:xfrm>
        </p:grpSpPr>
        <p:sp>
          <p:nvSpPr>
            <p:cNvPr id="15" name="Rectangle: Rounded Corners 7">
              <a:extLst>
                <a:ext uri="{FF2B5EF4-FFF2-40B4-BE49-F238E27FC236}">
                  <a16:creationId xmlns:a16="http://schemas.microsoft.com/office/drawing/2014/main" id="{2654058A-591F-C515-7343-FFE0DBD0D01C}"/>
                </a:ext>
              </a:extLst>
            </p:cNvPr>
            <p:cNvSpPr/>
            <p:nvPr userDrawn="1"/>
          </p:nvSpPr>
          <p:spPr>
            <a:xfrm>
              <a:off x="-569089" y="3140833"/>
              <a:ext cx="304800" cy="285750"/>
            </a:xfrm>
            <a:prstGeom prst="roundRect">
              <a:avLst/>
            </a:prstGeom>
            <a:solidFill>
              <a:srgbClr val="D7006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tangle: Rounded Corners 8">
              <a:extLst>
                <a:ext uri="{FF2B5EF4-FFF2-40B4-BE49-F238E27FC236}">
                  <a16:creationId xmlns:a16="http://schemas.microsoft.com/office/drawing/2014/main" id="{3063631C-081C-9B4C-5D7F-DABE7F9B02F5}"/>
                </a:ext>
              </a:extLst>
            </p:cNvPr>
            <p:cNvSpPr/>
            <p:nvPr userDrawn="1"/>
          </p:nvSpPr>
          <p:spPr>
            <a:xfrm>
              <a:off x="-569089" y="3549193"/>
              <a:ext cx="304800" cy="285750"/>
            </a:xfrm>
            <a:prstGeom prst="roundRect">
              <a:avLst/>
            </a:prstGeom>
            <a:solidFill>
              <a:srgbClr val="00DFED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7" name="Group 11">
            <a:extLst>
              <a:ext uri="{FF2B5EF4-FFF2-40B4-BE49-F238E27FC236}">
                <a16:creationId xmlns:a16="http://schemas.microsoft.com/office/drawing/2014/main" id="{6BCEE913-D2C0-2DF3-AB6D-F5610D909588}"/>
              </a:ext>
            </a:extLst>
          </p:cNvPr>
          <p:cNvGrpSpPr/>
          <p:nvPr userDrawn="1"/>
        </p:nvGrpSpPr>
        <p:grpSpPr>
          <a:xfrm>
            <a:off x="-569089" y="452554"/>
            <a:ext cx="304800" cy="1919186"/>
            <a:chOff x="-569089" y="452554"/>
            <a:chExt cx="304800" cy="1919186"/>
          </a:xfrm>
        </p:grpSpPr>
        <p:sp>
          <p:nvSpPr>
            <p:cNvPr id="18" name="Rectangle: Rounded Corners 11">
              <a:extLst>
                <a:ext uri="{FF2B5EF4-FFF2-40B4-BE49-F238E27FC236}">
                  <a16:creationId xmlns:a16="http://schemas.microsoft.com/office/drawing/2014/main" id="{FBE38E56-90F5-BF99-F86D-5F68509E4F0A}"/>
                </a:ext>
              </a:extLst>
            </p:cNvPr>
            <p:cNvSpPr/>
            <p:nvPr userDrawn="1"/>
          </p:nvSpPr>
          <p:spPr>
            <a:xfrm>
              <a:off x="-569089" y="452554"/>
              <a:ext cx="304800" cy="285750"/>
            </a:xfrm>
            <a:prstGeom prst="round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Rectangle: Rounded Corners 12">
              <a:extLst>
                <a:ext uri="{FF2B5EF4-FFF2-40B4-BE49-F238E27FC236}">
                  <a16:creationId xmlns:a16="http://schemas.microsoft.com/office/drawing/2014/main" id="{1A1851D8-25EC-C1A7-DE9C-C68DE29E2E1C}"/>
                </a:ext>
              </a:extLst>
            </p:cNvPr>
            <p:cNvSpPr/>
            <p:nvPr userDrawn="1"/>
          </p:nvSpPr>
          <p:spPr>
            <a:xfrm>
              <a:off x="-569089" y="860913"/>
              <a:ext cx="304800" cy="285750"/>
            </a:xfrm>
            <a:prstGeom prst="roundRect">
              <a:avLst/>
            </a:prstGeom>
            <a:solidFill>
              <a:srgbClr val="005B96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Rectangle: Rounded Corners 14">
              <a:extLst>
                <a:ext uri="{FF2B5EF4-FFF2-40B4-BE49-F238E27FC236}">
                  <a16:creationId xmlns:a16="http://schemas.microsoft.com/office/drawing/2014/main" id="{30CB6EBA-3524-9239-493E-359510C08B18}"/>
                </a:ext>
              </a:extLst>
            </p:cNvPr>
            <p:cNvSpPr/>
            <p:nvPr userDrawn="1"/>
          </p:nvSpPr>
          <p:spPr>
            <a:xfrm>
              <a:off x="-569089" y="1269272"/>
              <a:ext cx="304800" cy="285750"/>
            </a:xfrm>
            <a:prstGeom prst="roundRect">
              <a:avLst/>
            </a:prstGeom>
            <a:solidFill>
              <a:srgbClr val="0072BC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Rectangle: Rounded Corners 15">
              <a:extLst>
                <a:ext uri="{FF2B5EF4-FFF2-40B4-BE49-F238E27FC236}">
                  <a16:creationId xmlns:a16="http://schemas.microsoft.com/office/drawing/2014/main" id="{AA2D078C-9FA0-E923-6CA7-5F78FE6EF3F4}"/>
                </a:ext>
              </a:extLst>
            </p:cNvPr>
            <p:cNvSpPr/>
            <p:nvPr userDrawn="1"/>
          </p:nvSpPr>
          <p:spPr>
            <a:xfrm>
              <a:off x="-569089" y="2085990"/>
              <a:ext cx="304800" cy="285750"/>
            </a:xfrm>
            <a:prstGeom prst="roundRect">
              <a:avLst/>
            </a:prstGeom>
            <a:solidFill>
              <a:srgbClr val="FFFFFF">
                <a:lumMod val="65000"/>
              </a:srgbClr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Rectangle: Rounded Corners 16">
              <a:extLst>
                <a:ext uri="{FF2B5EF4-FFF2-40B4-BE49-F238E27FC236}">
                  <a16:creationId xmlns:a16="http://schemas.microsoft.com/office/drawing/2014/main" id="{20FFC423-9937-8317-6F81-0BDE11CC5F56}"/>
                </a:ext>
              </a:extLst>
            </p:cNvPr>
            <p:cNvSpPr/>
            <p:nvPr userDrawn="1"/>
          </p:nvSpPr>
          <p:spPr>
            <a:xfrm>
              <a:off x="-569089" y="1677631"/>
              <a:ext cx="304800" cy="285750"/>
            </a:xfrm>
            <a:prstGeom prst="roundRect">
              <a:avLst/>
            </a:prstGeom>
            <a:solidFill>
              <a:srgbClr val="2E404D">
                <a:lumMod val="60000"/>
                <a:lumOff val="40000"/>
              </a:srgbClr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3" name="Rectangle: Rounded Corners 17">
            <a:extLst>
              <a:ext uri="{FF2B5EF4-FFF2-40B4-BE49-F238E27FC236}">
                <a16:creationId xmlns:a16="http://schemas.microsoft.com/office/drawing/2014/main" id="{7442E998-E5A9-B45A-ED25-F39863A888D5}"/>
              </a:ext>
            </a:extLst>
          </p:cNvPr>
          <p:cNvSpPr/>
          <p:nvPr userDrawn="1"/>
        </p:nvSpPr>
        <p:spPr>
          <a:xfrm>
            <a:off x="-569089" y="2727712"/>
            <a:ext cx="304800" cy="28575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72000" rIns="10800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0" cap="none" spc="0" normalizeH="0" baseline="0" noProof="0" err="1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503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">
            <a:extLst>
              <a:ext uri="{FF2B5EF4-FFF2-40B4-BE49-F238E27FC236}">
                <a16:creationId xmlns:a16="http://schemas.microsoft.com/office/drawing/2014/main" id="{5354E414-05E1-28A3-9F92-739CC27B91A7}"/>
              </a:ext>
            </a:extLst>
          </p:cNvPr>
          <p:cNvSpPr/>
          <p:nvPr userDrawn="1"/>
        </p:nvSpPr>
        <p:spPr>
          <a:xfrm>
            <a:off x="-647700" y="346568"/>
            <a:ext cx="462022" cy="3873007"/>
          </a:xfrm>
          <a:prstGeom prst="roundRect">
            <a:avLst/>
          </a:prstGeom>
          <a:solidFill>
            <a:srgbClr val="949494">
              <a:lumMod val="20000"/>
              <a:lumOff val="80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lIns="108000" tIns="72000" rIns="10800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19DCDF8F-2007-1CB0-52F4-DB222A050E20}"/>
              </a:ext>
            </a:extLst>
          </p:cNvPr>
          <p:cNvGrpSpPr/>
          <p:nvPr userDrawn="1"/>
        </p:nvGrpSpPr>
        <p:grpSpPr>
          <a:xfrm>
            <a:off x="-569089" y="3369433"/>
            <a:ext cx="304800" cy="694110"/>
            <a:chOff x="-569089" y="3140833"/>
            <a:chExt cx="304800" cy="694110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6CBAD842-E82F-ADB9-2FB6-6C6E04572F4D}"/>
                </a:ext>
              </a:extLst>
            </p:cNvPr>
            <p:cNvSpPr/>
            <p:nvPr userDrawn="1"/>
          </p:nvSpPr>
          <p:spPr>
            <a:xfrm>
              <a:off x="-569089" y="3140833"/>
              <a:ext cx="304800" cy="285750"/>
            </a:xfrm>
            <a:prstGeom prst="roundRect">
              <a:avLst/>
            </a:prstGeom>
            <a:solidFill>
              <a:srgbClr val="D7006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Rectangle: Rounded Corners 8">
              <a:extLst>
                <a:ext uri="{FF2B5EF4-FFF2-40B4-BE49-F238E27FC236}">
                  <a16:creationId xmlns:a16="http://schemas.microsoft.com/office/drawing/2014/main" id="{16550ADF-CE60-1D17-0854-975EDA6811A5}"/>
                </a:ext>
              </a:extLst>
            </p:cNvPr>
            <p:cNvSpPr/>
            <p:nvPr userDrawn="1"/>
          </p:nvSpPr>
          <p:spPr>
            <a:xfrm>
              <a:off x="-569089" y="3549193"/>
              <a:ext cx="304800" cy="285750"/>
            </a:xfrm>
            <a:prstGeom prst="roundRect">
              <a:avLst/>
            </a:prstGeom>
            <a:solidFill>
              <a:srgbClr val="00DFED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" name="Group 11">
            <a:extLst>
              <a:ext uri="{FF2B5EF4-FFF2-40B4-BE49-F238E27FC236}">
                <a16:creationId xmlns:a16="http://schemas.microsoft.com/office/drawing/2014/main" id="{66C61035-5FAD-06AA-8EDE-5957C84C916E}"/>
              </a:ext>
            </a:extLst>
          </p:cNvPr>
          <p:cNvGrpSpPr/>
          <p:nvPr userDrawn="1"/>
        </p:nvGrpSpPr>
        <p:grpSpPr>
          <a:xfrm>
            <a:off x="-569089" y="452554"/>
            <a:ext cx="304800" cy="1919186"/>
            <a:chOff x="-569089" y="452554"/>
            <a:chExt cx="304800" cy="1919186"/>
          </a:xfrm>
        </p:grpSpPr>
        <p:sp>
          <p:nvSpPr>
            <p:cNvPr id="7" name="Rectangle: Rounded Corners 11">
              <a:extLst>
                <a:ext uri="{FF2B5EF4-FFF2-40B4-BE49-F238E27FC236}">
                  <a16:creationId xmlns:a16="http://schemas.microsoft.com/office/drawing/2014/main" id="{D41727EC-596C-AB69-8F9E-8EE3434548EB}"/>
                </a:ext>
              </a:extLst>
            </p:cNvPr>
            <p:cNvSpPr/>
            <p:nvPr userDrawn="1"/>
          </p:nvSpPr>
          <p:spPr>
            <a:xfrm>
              <a:off x="-569089" y="452554"/>
              <a:ext cx="304800" cy="285750"/>
            </a:xfrm>
            <a:prstGeom prst="round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Rectangle: Rounded Corners 12">
              <a:extLst>
                <a:ext uri="{FF2B5EF4-FFF2-40B4-BE49-F238E27FC236}">
                  <a16:creationId xmlns:a16="http://schemas.microsoft.com/office/drawing/2014/main" id="{8CD9AD54-B67E-0A91-C4A2-B95904D4E523}"/>
                </a:ext>
              </a:extLst>
            </p:cNvPr>
            <p:cNvSpPr/>
            <p:nvPr userDrawn="1"/>
          </p:nvSpPr>
          <p:spPr>
            <a:xfrm>
              <a:off x="-569089" y="860913"/>
              <a:ext cx="304800" cy="285750"/>
            </a:xfrm>
            <a:prstGeom prst="roundRect">
              <a:avLst/>
            </a:prstGeom>
            <a:solidFill>
              <a:srgbClr val="005B96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Rectangle: Rounded Corners 14">
              <a:extLst>
                <a:ext uri="{FF2B5EF4-FFF2-40B4-BE49-F238E27FC236}">
                  <a16:creationId xmlns:a16="http://schemas.microsoft.com/office/drawing/2014/main" id="{7129330D-8B7D-7CED-0219-07B0E70DF520}"/>
                </a:ext>
              </a:extLst>
            </p:cNvPr>
            <p:cNvSpPr/>
            <p:nvPr userDrawn="1"/>
          </p:nvSpPr>
          <p:spPr>
            <a:xfrm>
              <a:off x="-569089" y="1269272"/>
              <a:ext cx="304800" cy="285750"/>
            </a:xfrm>
            <a:prstGeom prst="roundRect">
              <a:avLst/>
            </a:prstGeom>
            <a:solidFill>
              <a:srgbClr val="0072BC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Rectangle: Rounded Corners 15">
              <a:extLst>
                <a:ext uri="{FF2B5EF4-FFF2-40B4-BE49-F238E27FC236}">
                  <a16:creationId xmlns:a16="http://schemas.microsoft.com/office/drawing/2014/main" id="{A1A72A5F-23C9-0B5E-C63D-6453587C810B}"/>
                </a:ext>
              </a:extLst>
            </p:cNvPr>
            <p:cNvSpPr/>
            <p:nvPr userDrawn="1"/>
          </p:nvSpPr>
          <p:spPr>
            <a:xfrm>
              <a:off x="-569089" y="2085990"/>
              <a:ext cx="304800" cy="285750"/>
            </a:xfrm>
            <a:prstGeom prst="roundRect">
              <a:avLst/>
            </a:prstGeom>
            <a:solidFill>
              <a:srgbClr val="FFFFFF">
                <a:lumMod val="65000"/>
              </a:srgbClr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Rectangle: Rounded Corners 16">
              <a:extLst>
                <a:ext uri="{FF2B5EF4-FFF2-40B4-BE49-F238E27FC236}">
                  <a16:creationId xmlns:a16="http://schemas.microsoft.com/office/drawing/2014/main" id="{162FADA3-1838-DFDE-F92D-080E8CD4BB6E}"/>
                </a:ext>
              </a:extLst>
            </p:cNvPr>
            <p:cNvSpPr/>
            <p:nvPr userDrawn="1"/>
          </p:nvSpPr>
          <p:spPr>
            <a:xfrm>
              <a:off x="-569089" y="1677631"/>
              <a:ext cx="304800" cy="285750"/>
            </a:xfrm>
            <a:prstGeom prst="roundRect">
              <a:avLst/>
            </a:prstGeom>
            <a:solidFill>
              <a:srgbClr val="2E404D">
                <a:lumMod val="60000"/>
                <a:lumOff val="40000"/>
              </a:srgbClr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2" name="Rectangle: Rounded Corners 17">
            <a:extLst>
              <a:ext uri="{FF2B5EF4-FFF2-40B4-BE49-F238E27FC236}">
                <a16:creationId xmlns:a16="http://schemas.microsoft.com/office/drawing/2014/main" id="{3B0B000C-1EAE-A334-E168-114F2916931C}"/>
              </a:ext>
            </a:extLst>
          </p:cNvPr>
          <p:cNvSpPr/>
          <p:nvPr userDrawn="1"/>
        </p:nvSpPr>
        <p:spPr>
          <a:xfrm>
            <a:off x="-569089" y="2727712"/>
            <a:ext cx="304800" cy="28575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72000" rIns="10800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0" cap="none" spc="0" normalizeH="0" baseline="0" noProof="0" err="1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1"/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C99D3C16-0AB2-0EC1-AC70-FF3BA3248E2B}"/>
              </a:ext>
            </a:extLst>
          </p:cNvPr>
          <p:cNvSpPr/>
          <p:nvPr userDrawn="1"/>
        </p:nvSpPr>
        <p:spPr>
          <a:xfrm>
            <a:off x="0" y="0"/>
            <a:ext cx="12191695" cy="599846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58" name="Shape 35">
            <a:extLst>
              <a:ext uri="{FF2B5EF4-FFF2-40B4-BE49-F238E27FC236}">
                <a16:creationId xmlns:a16="http://schemas.microsoft.com/office/drawing/2014/main" id="{B30F77B4-0451-74F2-BE56-FF454E7A7F14}"/>
              </a:ext>
            </a:extLst>
          </p:cNvPr>
          <p:cNvSpPr/>
          <p:nvPr userDrawn="1"/>
        </p:nvSpPr>
        <p:spPr>
          <a:xfrm>
            <a:off x="0" y="6558991"/>
            <a:ext cx="12191695" cy="3044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8D94528F-3E50-1683-9C92-6373A58204FF}"/>
              </a:ext>
            </a:extLst>
          </p:cNvPr>
          <p:cNvSpPr txBox="1"/>
          <p:nvPr userDrawn="1"/>
        </p:nvSpPr>
        <p:spPr>
          <a:xfrm>
            <a:off x="571500" y="6627571"/>
            <a:ext cx="273222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Avangrid | Digital Products Transformation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0" name="Picture 2" descr="NTT Data Inc. - Great Place To Work® Chile">
            <a:extLst>
              <a:ext uri="{FF2B5EF4-FFF2-40B4-BE49-F238E27FC236}">
                <a16:creationId xmlns:a16="http://schemas.microsoft.com/office/drawing/2014/main" id="{5BC02DB3-42D8-4C5D-9A23-29074CD722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563" y="6628313"/>
            <a:ext cx="984101" cy="20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o 12">
            <a:extLst>
              <a:ext uri="{FF2B5EF4-FFF2-40B4-BE49-F238E27FC236}">
                <a16:creationId xmlns:a16="http://schemas.microsoft.com/office/drawing/2014/main" id="{CB9CE51D-96F1-07C2-06CA-EC13D3D6084C}"/>
              </a:ext>
            </a:extLst>
          </p:cNvPr>
          <p:cNvGrpSpPr/>
          <p:nvPr userDrawn="1"/>
        </p:nvGrpSpPr>
        <p:grpSpPr>
          <a:xfrm>
            <a:off x="76147" y="127094"/>
            <a:ext cx="453917" cy="376668"/>
            <a:chOff x="5465909" y="2845257"/>
            <a:chExt cx="729516" cy="665904"/>
          </a:xfrm>
        </p:grpSpPr>
        <p:sp>
          <p:nvSpPr>
            <p:cNvPr id="15" name="Forma libre: forma 13">
              <a:extLst>
                <a:ext uri="{FF2B5EF4-FFF2-40B4-BE49-F238E27FC236}">
                  <a16:creationId xmlns:a16="http://schemas.microsoft.com/office/drawing/2014/main" id="{C51FB00B-7A02-D383-F92A-6C67C7F44FF2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16" name="Forma libre: forma 14">
              <a:extLst>
                <a:ext uri="{FF2B5EF4-FFF2-40B4-BE49-F238E27FC236}">
                  <a16:creationId xmlns:a16="http://schemas.microsoft.com/office/drawing/2014/main" id="{9CBC486D-0425-5DFB-2C1E-90C3D5F4921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17" name="Forma libre: forma 15">
              <a:extLst>
                <a:ext uri="{FF2B5EF4-FFF2-40B4-BE49-F238E27FC236}">
                  <a16:creationId xmlns:a16="http://schemas.microsoft.com/office/drawing/2014/main" id="{1C9EF0FE-76F1-71A7-5E3D-815AA693E240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364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Agile%20Management%20Model%20_%20Proposal%20Avangrid%20Architecture%20V.3.1%2018.01.2024%203.pptx?web=1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12%5D%20Digital%20CoE%20Operating%20Model%20-%20Playbook%20-%2001.05.2026%20V.2.5.%20FINAL%20pptx.pptx?web=1" TargetMode="External"/><Relationship Id="rId2" Type="http://schemas.microsoft.com/office/2018/10/relationships/comments" Target="../comments/modernComment_7FFFFFEE_E80AC02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00%5D%20Product%20Discovery%20Playbook%20-%20P%26S%20Ways%20of%20Working%2002.03.26%20v.1.3%20%2BFIGMA.pptx?web=1" TargetMode="External"/><Relationship Id="rId11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17%5D%20Agility%20Playbook%20-%20Digital%20Center%20of%20Excellence%2006.18.2025%20V.1.7.pptx?web=1" TargetMode="External"/><Relationship Id="rId5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00%5D%20Project%20Management%20Playbook%20-%20P%26S%20Ways%20of%20Working%2010.28.25%20v.1.0-2.pptx?web=1" TargetMode="External"/><Relationship Id="rId10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BRP_Q2_2026_P%26S%20Networks%20IT%20-%20New%20Ways%20of%20Working%20-%20v1.4.4%2003.09.2026.pptx?web=1" TargetMode="External"/><Relationship Id="rId4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WOW%20-%20New%20Ways%20of%20Working%20-%20P%26S%20Lean%20Operating%20Model%2003.10.2026%20v1.2.pptx?web=1" TargetMode="External"/><Relationship Id="rId9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extGen_DTO_Deliverable1%20-%20Final.pptx?web=1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17%5D%20Agility%20Playbook%20-%20Digital%20Center%20of%20Excellence%2006.18.2025%20V.1.7.pptx?web=1" TargetMode="External"/><Relationship Id="rId3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WOW%20-%20New%20Ways%20of%20Working%20-%20P%26S%20Lean%20Operating%20Model%2003.10.2026%20v1.2.pptx?web=1" TargetMode="External"/><Relationship Id="rId7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extGen_DTO_Deliverable1%20-%20Final.pptx?web=1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12%5D%20Digital%20CoE%20Operating%20Model%20-%20Playbook%20-%2001.05.2026%20V.2.5.%20FINAL%20pptx.pptx?web=1" TargetMode="External"/><Relationship Id="rId5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00%5D%20Product%20Discovery%20Playbook%20-%20P%26S%20Ways%20of%20Working%2002.03.26%20v.1.3%20%2BFIGMA.pptx?web=1" TargetMode="External"/><Relationship Id="rId10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Agile%20Management%20Model%20_%20Proposal%20Avangrid%20Architecture%20V.3.1%2018.01.2024%203.pptx?web=1" TargetMode="External"/><Relationship Id="rId4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00%5D%20Project%20Management%20Playbook%20-%20P%26S%20Ways%20of%20Working%2010.28.25%20v.1.0-2.pptx?web=1" TargetMode="External"/><Relationship Id="rId9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TTDATA-Digital%20Strategy%20-%20NextGen%20Produc%20Ops%20Org%20Design%20SEAL-SIX%20Model%20v.1.7%2006.29.pptx?web=1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TPO%20FLOW%20Project%20-%20JIRA%20Training%20Guide%2005-13-2025.pptx?web=1" TargetMode="External"/><Relationship Id="rId13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Project_Book_Avangrid_Template%20v1.0.pptx?web=1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12%5D%20Digital%20CoE%20Operating%20Model%20-%20Playbook%20-%2001.05.2026%20V.2.5.%20FINAL%20pptx.pptx?web=1" TargetMode="External"/><Relationship Id="rId12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Agile%20Management%20Model%20_%20Proposal%20Avangrid%20Architecture%20V.3.1%2018.01.2024%203.pptx?web=1" TargetMode="External"/><Relationship Id="rId2" Type="http://schemas.microsoft.com/office/2018/10/relationships/comments" Target="../comments/modernComment_7FFFFFE2_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33%5D%20NextGen%202.0%20-%20Jira%20Management%20User%20Guide%20for%20CX%20Digitall%20CoE%2027.06.2024.pptx?web=1" TargetMode="External"/><Relationship Id="rId11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00%5D%20Product%20Discovery%20Playbook%20-%20P%26S%20Ways%20of%20Working%2002.03.26%20v.1.3%20%2BFIGMA.pptx?web=1" TargetMode="External"/><Relationship Id="rId5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CX%5D%20JIRA%20Agile%20Management%20Playbook%20-%20Center%20of%20Excellence%2025.03.2024%20V.1.0.pdf?web=1" TargetMode="External"/><Relationship Id="rId10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WOW%20-%20New%20Ways%20of%20Working%20-%20P%26S%20Lean%20Operating%20Model%2003.10.2026%20v1.2.pptx?web=1" TargetMode="External"/><Relationship Id="rId4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00%5D%20Project%20Management%20Playbook%20-%20P%26S%20Ways%20of%20Working%2010.28.25%20v.1.0-2.pptx?web=1" TargetMode="External"/><Relationship Id="rId9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extGen_DTO_Deliverable1%20-%20Final.pptx?web=1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extGen_DTO_Deliverable1%20-%20Final.pptx?web=1" TargetMode="External"/><Relationship Id="rId3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00%5D%20Product%20Discovery%20Playbook%20-%20P%26S%20Ways%20of%20Working%2002.03.26%20v.1.3%20%2BFIGMA.pptx?web=1" TargetMode="External"/><Relationship Id="rId7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Agile%20Management%20Model%20_%20Proposal%20Avangrid%20Architecture%20V.3.1%2018.01.2024%203.pptx?web=1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17%5D%20Agility%20Playbook%20-%20Digital%20Center%20of%20Excellence%2006.18.2025%20V.1.7.pptx?web=1" TargetMode="External"/><Relationship Id="rId11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CX%5D%20JIRA%20Agile%20Management%20Playbook%20-%20Center%20of%20Excellence%2025.03.2024%20V.1.0.pdf?web=1" TargetMode="External"/><Relationship Id="rId5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TTDATA-Digital%20Strategy%20-%20NextGen%20Produc%20Ops%20Org%20Design%20SEAL-SIX%20Model%20v.1.7%2006.29.pptx?web=1" TargetMode="External"/><Relationship Id="rId10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12%5D%20Digital%20CoE%20Operating%20Model%20-%20Playbook%20-%2001.05.2026%20V.2.5.%20FINAL%20pptx.pptx?web=1" TargetMode="External"/><Relationship Id="rId4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nWOW%20-%20New%20Ways%20of%20Working%20-%20P%26S%20Lean%20Operating%20Model%2003.10.2026%20v1.2.pptx?web=1" TargetMode="External"/><Relationship Id="rId9" Type="http://schemas.openxmlformats.org/officeDocument/2006/relationships/hyperlink" Target="https://everisgroup.sharepoint.com/sites/DSAUSA/Documentos%20compartidos/Knowledge%20Management/02.%20Projects/03.%20Talent%20%26%20Organizational%20Transformation/Avangrid%20-%20Digital%20Products%20-%20Project%20Management%20Area/Existing%20Assets%20of%20other%20Projects%20%28Renewables%2C%20Digital%20CoE%2C%20Infra%20and%20P%26S%20-%20P%26T%29/%5B00%5D%20Project%20Management%20Playbook%20-%20P%26S%20Ways%20of%20Working%2010.28.25%20v.1.0-2.pptx?web=1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sv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sv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svg"/><Relationship Id="rId23" Type="http://schemas.openxmlformats.org/officeDocument/2006/relationships/image" Target="../media/image25.sv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Relationship Id="rId22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7900D-5BF5-01F1-6131-EF760608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A8310E9-F0DB-9E85-4BCF-91F69CE15EDE}"/>
              </a:ext>
            </a:extLst>
          </p:cNvPr>
          <p:cNvSpPr/>
          <p:nvPr/>
        </p:nvSpPr>
        <p:spPr>
          <a:xfrm>
            <a:off x="838307" y="2008370"/>
            <a:ext cx="9590483" cy="1420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1" u="none" strike="noStrike" kern="1200" cap="none" spc="0" normalizeH="0" baseline="0" noProof="0">
                <a:ln>
                  <a:noFill/>
                </a:ln>
                <a:solidFill>
                  <a:srgbClr val="00A443"/>
                </a:solidFill>
                <a:effectLst/>
                <a:uLnTx/>
                <a:uFillTx/>
                <a:latin typeface="Georgia Pro" panose="02040502050405020303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Digital Products</a:t>
            </a:r>
            <a:endParaRPr kumimoji="0" lang="en-US" sz="4800" b="1" i="1" u="none" strike="noStrike" kern="1200" cap="none" spc="0" normalizeH="0" baseline="0" noProof="0">
              <a:ln>
                <a:noFill/>
              </a:ln>
              <a:solidFill>
                <a:srgbClr val="00A443"/>
              </a:solidFill>
              <a:effectLst/>
              <a:uLnTx/>
              <a:uFillTx/>
              <a:latin typeface="Georgia Pro" panose="02040502050405020303" pitchFamily="18" charset="0"/>
              <a:ea typeface="Noto Serif" panose="02020502060505020204" pitchFamily="18" charset="0"/>
              <a:cs typeface="Noto Serif" panose="02020502060505020204" pitchFamily="18" charset="0"/>
            </a:endParaRP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lang="pt-BR" sz="3600" b="1">
                <a:solidFill>
                  <a:srgbClr val="00A443"/>
                </a:solidFill>
              </a:rPr>
              <a:t>Review </a:t>
            </a:r>
            <a:r>
              <a:rPr lang="pt-BR" sz="3600" b="1" err="1">
                <a:solidFill>
                  <a:srgbClr val="00A443"/>
                </a:solidFill>
              </a:rPr>
              <a:t>of</a:t>
            </a:r>
            <a:r>
              <a:rPr lang="pt-BR" sz="3600" b="1">
                <a:solidFill>
                  <a:srgbClr val="00A443"/>
                </a:solidFill>
              </a:rPr>
              <a:t> </a:t>
            </a:r>
            <a:r>
              <a:rPr lang="pt-BR" sz="3600" b="1" err="1">
                <a:solidFill>
                  <a:srgbClr val="00A443"/>
                </a:solidFill>
              </a:rPr>
              <a:t>existing</a:t>
            </a:r>
            <a:r>
              <a:rPr lang="pt-BR" sz="3600" b="1">
                <a:solidFill>
                  <a:srgbClr val="00A443"/>
                </a:solidFill>
              </a:rPr>
              <a:t> </a:t>
            </a:r>
            <a:r>
              <a:rPr lang="pt-BR" sz="3600" b="1" err="1">
                <a:solidFill>
                  <a:srgbClr val="00A443"/>
                </a:solidFill>
              </a:rPr>
              <a:t>assets</a:t>
            </a:r>
            <a:endParaRPr lang="pt-BR" sz="3200">
              <a:solidFill>
                <a:srgbClr val="00A443"/>
              </a:solidFill>
            </a:endParaRPr>
          </a:p>
        </p:txBody>
      </p:sp>
      <p:pic>
        <p:nvPicPr>
          <p:cNvPr id="6" name="Picture 5" descr="Avangrid - Wikipedia">
            <a:extLst>
              <a:ext uri="{FF2B5EF4-FFF2-40B4-BE49-F238E27FC236}">
                <a16:creationId xmlns:a16="http://schemas.microsoft.com/office/drawing/2014/main" id="{C3E48F2A-A39E-9064-EA37-AEA9AA7A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01" y="3659594"/>
            <a:ext cx="3310865" cy="116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B76E4EE3-B822-92CF-DB6A-932C43F08759}"/>
              </a:ext>
            </a:extLst>
          </p:cNvPr>
          <p:cNvSpPr/>
          <p:nvPr/>
        </p:nvSpPr>
        <p:spPr bwMode="black">
          <a:xfrm>
            <a:off x="4349288" y="4017485"/>
            <a:ext cx="2280180" cy="511079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938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195584"/>
            <a:ext cx="10515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2060"/>
                </a:solidFill>
                <a:latin typeface="Arial"/>
              </a:defRPr>
            </a:pPr>
            <a:r>
              <a:rPr>
                <a:solidFill>
                  <a:srgbClr val="00A443"/>
                </a:solidFill>
              </a:rPr>
              <a:t>Applying a traditional Product Lifecycle to a foundational component team creates structural bottlenecks — the modern approach is Platform as a Product (</a:t>
            </a:r>
            <a:r>
              <a:rPr err="1">
                <a:solidFill>
                  <a:srgbClr val="00A443"/>
                </a:solidFill>
              </a:rPr>
              <a:t>PaaP</a:t>
            </a:r>
            <a:r>
              <a:rPr>
                <a:solidFill>
                  <a:srgbClr val="00A443"/>
                </a:solidFill>
              </a:rPr>
              <a:t>)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endParaRPr lang="pt-BR"/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Managing </a:t>
            </a:r>
            <a:r>
              <a:rPr lang="pt-BR"/>
              <a:t>Digital </a:t>
            </a:r>
            <a:r>
              <a:rPr lang="pt-BR" err="1"/>
              <a:t>Products</a:t>
            </a:r>
            <a:r>
              <a:rPr lang="pt-BR"/>
              <a:t> </a:t>
            </a:r>
            <a:r>
              <a:t>through a </a:t>
            </a:r>
            <a:r>
              <a:rPr err="1"/>
              <a:t>PaaP</a:t>
            </a:r>
            <a:r>
              <a:t> lens shifts focus from intake governance to enablement, self-service, and reducing friction for consuming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029200" cy="4663440"/>
          </a:xfrm>
          <a:prstGeom prst="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6398" y="1463040"/>
            <a:ext cx="33794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1">
                <a:solidFill>
                  <a:srgbClr val="EF4444"/>
                </a:solidFill>
                <a:latin typeface="Arial"/>
              </a:defRPr>
            </a:pPr>
            <a:r>
              <a:rPr lang="pt-BR" err="1"/>
              <a:t>Our</a:t>
            </a:r>
            <a:r>
              <a:rPr lang="pt-BR"/>
              <a:t> </a:t>
            </a:r>
            <a:r>
              <a:rPr lang="pt-BR" err="1"/>
              <a:t>proposal</a:t>
            </a:r>
            <a:r>
              <a:rPr lang="pt-BR"/>
              <a:t> (</a:t>
            </a:r>
            <a:r>
              <a:rPr lang="pt-BR" err="1"/>
              <a:t>Product</a:t>
            </a:r>
            <a:r>
              <a:rPr lang="pt-BR"/>
              <a:t> </a:t>
            </a:r>
            <a:r>
              <a:rPr lang="pt-BR" err="1"/>
              <a:t>Lifecycle</a:t>
            </a:r>
            <a:r>
              <a:rPr lang="pt-BR"/>
              <a:t>)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2423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788920"/>
            <a:ext cx="4480560" cy="822960"/>
          </a:xfrm>
          <a:prstGeom prst="rect">
            <a:avLst/>
          </a:prstGeom>
          <a:solidFill>
            <a:srgbClr val="5C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CA5A5"/>
                </a:solidFill>
                <a:latin typeface="Arial"/>
              </a:defRPr>
            </a:pPr>
            <a:r>
              <a:rPr>
                <a:solidFill>
                  <a:schemeClr val="bg1"/>
                </a:solidFill>
              </a:rPr>
              <a:t>Intake &amp; Prioritization Funnel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/>
                </a:solidFill>
              </a:rPr>
              <a:t>(ROI Scoring, Jira, PPMNow Governance)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7033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4069080"/>
            <a:ext cx="3931920" cy="411480"/>
          </a:xfrm>
          <a:prstGeom prst="rect">
            <a:avLst/>
          </a:prstGeom>
          <a:solidFill>
            <a:srgbClr val="2D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/>
                </a:solidFill>
              </a:rPr>
              <a:t>SAP CoE (Slow Execution)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4480560" cy="6976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spcAft>
                <a:spcPts val="200"/>
              </a:spcAft>
              <a:buFont typeface="Arial"/>
              <a:buChar char="•"/>
              <a:defRPr sz="800">
                <a:solidFill>
                  <a:srgbClr val="FCA5A5"/>
                </a:solidFill>
                <a:latin typeface="Arial"/>
              </a:defRPr>
            </a:pP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Each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pt-B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Area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request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goes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through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full 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funnel</a:t>
            </a:r>
            <a:endParaRPr lang="pt-BR" sz="1200" err="1">
              <a:solidFill>
                <a:schemeClr val="tx1">
                  <a:lumMod val="50000"/>
                  <a:lumOff val="50000"/>
                </a:schemeClr>
              </a:solidFill>
              <a:cs typeface="Arial"/>
            </a:endParaRPr>
          </a:p>
          <a:p>
            <a:pPr marL="171450" indent="-171450">
              <a:spcAft>
                <a:spcPts val="200"/>
              </a:spcAft>
              <a:buFont typeface="Arial"/>
              <a:buChar char="•"/>
              <a:defRPr sz="800">
                <a:solidFill>
                  <a:srgbClr val="FCA5A5"/>
                </a:solidFill>
                <a:latin typeface="Arial"/>
              </a:defRPr>
            </a:pPr>
            <a:r>
              <a:rPr lang="pt-B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SAP </a:t>
            </a:r>
            <a:r>
              <a:rPr lang="pt-BR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team</a:t>
            </a:r>
            <a:r>
              <a:rPr lang="pt-B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pt-BR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</a:t>
            </a:r>
            <a:r>
              <a:rPr lang="pt-B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 a ticket </a:t>
            </a:r>
            <a:r>
              <a:rPr lang="pt-BR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taker</a:t>
            </a:r>
            <a:r>
              <a:rPr lang="pt-B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pt-BR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not</a:t>
            </a:r>
            <a:r>
              <a:rPr lang="pt-B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pt-BR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platform</a:t>
            </a:r>
            <a:endParaRPr lang="pt-BR" sz="1200">
              <a:solidFill>
                <a:schemeClr val="tx1">
                  <a:lumMod val="50000"/>
                  <a:lumOff val="50000"/>
                </a:schemeClr>
              </a:solidFill>
              <a:cs typeface="Arial"/>
            </a:endParaRPr>
          </a:p>
          <a:p>
            <a:pPr marL="171450" indent="-171450">
              <a:spcAft>
                <a:spcPts val="200"/>
              </a:spcAft>
              <a:buFont typeface="Arial"/>
              <a:buChar char="•"/>
              <a:defRPr sz="800">
                <a:solidFill>
                  <a:srgbClr val="FCA5A5"/>
                </a:solidFill>
                <a:latin typeface="Arial"/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Scales linearly with headcount, not capabilities</a:t>
            </a:r>
            <a:endParaRPr sz="1200">
              <a:solidFill>
                <a:schemeClr val="tx1">
                  <a:lumMod val="50000"/>
                  <a:lumOff val="50000"/>
                </a:schemeClr>
              </a:solidFill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029200" cy="4663440"/>
          </a:xfrm>
          <a:prstGeom prst="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Platform as a Product (</a:t>
            </a:r>
            <a:r>
              <a:rPr err="1"/>
              <a:t>PaaP</a:t>
            </a:r>
            <a: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965960"/>
            <a:ext cx="1417320" cy="347472"/>
          </a:xfrm>
          <a:prstGeom prst="rect">
            <a:avLst/>
          </a:prstGeom>
          <a:solidFill>
            <a:srgbClr val="2D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rPr lang="pt-BR">
                <a:solidFill>
                  <a:schemeClr val="bg1"/>
                </a:solidFill>
              </a:rPr>
              <a:t>BRS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1965960"/>
            <a:ext cx="1417320" cy="347472"/>
          </a:xfrm>
          <a:prstGeom prst="rect">
            <a:avLst/>
          </a:prstGeom>
          <a:solidFill>
            <a:srgbClr val="2D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rPr lang="pt-BR">
                <a:solidFill>
                  <a:schemeClr val="bg1"/>
                </a:solidFill>
              </a:rPr>
              <a:t>CX &amp; Digital COE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555480" y="1965960"/>
            <a:ext cx="1417320" cy="347472"/>
          </a:xfrm>
          <a:prstGeom prst="rect">
            <a:avLst/>
          </a:prstGeom>
          <a:solidFill>
            <a:srgbClr val="2D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rPr lang="pt-BR" err="1">
                <a:solidFill>
                  <a:schemeClr val="bg1"/>
                </a:solidFill>
              </a:rPr>
              <a:t>Others</a:t>
            </a:r>
            <a:r>
              <a:rPr lang="pt-BR">
                <a:solidFill>
                  <a:schemeClr val="bg1"/>
                </a:solidFill>
              </a:rPr>
              <a:t>...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49440" y="23774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3774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3774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743200"/>
            <a:ext cx="4663440" cy="777240"/>
          </a:xfrm>
          <a:prstGeom prst="rect">
            <a:avLst/>
          </a:prstGeom>
          <a:solidFill>
            <a:srgbClr val="0E3D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A7F3D0"/>
                </a:solidFill>
                <a:latin typeface="Arial"/>
              </a:defRPr>
            </a:pPr>
            <a:r>
              <a:rPr>
                <a:solidFill>
                  <a:schemeClr val="bg1"/>
                </a:solidFill>
              </a:rPr>
              <a:t>APIs, SDKs &amp; Self-Service Portal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/>
                </a:solidFill>
              </a:rPr>
              <a:t>(Standardized Contracts, Docs, Automation)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566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931920"/>
            <a:ext cx="4297680" cy="411480"/>
          </a:xfrm>
          <a:prstGeom prst="rect">
            <a:avLst/>
          </a:prstGeom>
          <a:solidFill>
            <a:srgbClr val="0C314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7E8F9"/>
                </a:solidFill>
                <a:latin typeface="Arial"/>
              </a:defRPr>
            </a:pPr>
            <a:r>
              <a:rPr>
                <a:solidFill>
                  <a:schemeClr val="bg1"/>
                </a:solidFill>
              </a:rPr>
              <a:t>SAP CoE (Platform Evolution)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75230"/>
            <a:ext cx="4480560" cy="9079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spcAft>
                <a:spcPts val="200"/>
              </a:spcAft>
              <a:buFont typeface="Arial"/>
              <a:buChar char="•"/>
              <a:defRPr sz="800">
                <a:solidFill>
                  <a:srgbClr val="A7F3D0"/>
                </a:solidFill>
                <a:latin typeface="Arial"/>
              </a:defRPr>
            </a:pPr>
            <a:r>
              <a:rPr lang="pt-BR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I</a:t>
            </a:r>
            <a:r>
              <a:rPr lang="en-US" sz="1200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ntegrations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via self-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servi</a:t>
            </a:r>
            <a:r>
              <a:rPr lang="pt-BR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</a:t>
            </a:r>
            <a:r>
              <a:rPr lang="pt-B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 APIs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pt-BR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spcAft>
                <a:spcPts val="200"/>
              </a:spcAft>
              <a:buFont typeface="Arial"/>
              <a:buChar char="•"/>
              <a:defRPr sz="800">
                <a:solidFill>
                  <a:srgbClr val="A7F3D0"/>
                </a:solidFill>
                <a:latin typeface="Arial"/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Scales without adding headcount</a:t>
            </a:r>
            <a:endParaRPr sz="1200">
              <a:solidFill>
                <a:schemeClr val="tx1">
                  <a:lumMod val="50000"/>
                  <a:lumOff val="50000"/>
                </a:schemeClr>
              </a:solidFill>
              <a:cs typeface="Arial"/>
            </a:endParaRPr>
          </a:p>
          <a:p>
            <a:pPr marL="171450" indent="-171450">
              <a:spcAft>
                <a:spcPts val="200"/>
              </a:spcAft>
              <a:buFont typeface="Arial"/>
              <a:buChar char="•"/>
              <a:defRPr sz="800">
                <a:solidFill>
                  <a:srgbClr val="A7F3D0"/>
                </a:solidFill>
                <a:latin typeface="Arial"/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SAP 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team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focuses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on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engineering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not</a:t>
            </a: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pt-BR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G</a:t>
            </a:r>
            <a:r>
              <a:rPr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overnance</a:t>
            </a:r>
            <a:endParaRPr lang="pt-BR" sz="1200">
              <a:solidFill>
                <a:schemeClr val="tx1">
                  <a:lumMod val="50000"/>
                  <a:lumOff val="50000"/>
                </a:schemeClr>
              </a:solidFill>
              <a:cs typeface="Arial"/>
            </a:endParaRPr>
          </a:p>
          <a:p>
            <a:pPr marL="171450" indent="-171450">
              <a:spcAft>
                <a:spcPts val="200"/>
              </a:spcAft>
              <a:buFont typeface="Arial"/>
              <a:buChar char="•"/>
              <a:defRPr sz="800">
                <a:solidFill>
                  <a:srgbClr val="A7F3D0"/>
                </a:solidFill>
                <a:latin typeface="Arial"/>
              </a:defRPr>
            </a:pPr>
            <a:r>
              <a:rPr lang="pt-BR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DevEx</a:t>
            </a:r>
            <a:endParaRPr sz="1200">
              <a:solidFill>
                <a:schemeClr val="tx1">
                  <a:lumMod val="50000"/>
                  <a:lumOff val="50000"/>
                </a:schemeClr>
              </a:solidFill>
              <a:cs typeface="Arial"/>
            </a:endParaRPr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9B76B892-2E3F-DE40-8F92-8A138743DA5E}"/>
              </a:ext>
            </a:extLst>
          </p:cNvPr>
          <p:cNvSpPr/>
          <p:nvPr/>
        </p:nvSpPr>
        <p:spPr>
          <a:xfrm>
            <a:off x="1096217" y="1965960"/>
            <a:ext cx="1417320" cy="347472"/>
          </a:xfrm>
          <a:prstGeom prst="rect">
            <a:avLst/>
          </a:prstGeom>
          <a:solidFill>
            <a:srgbClr val="2D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rPr lang="pt-BR">
                <a:solidFill>
                  <a:schemeClr val="bg1"/>
                </a:solidFill>
              </a:rPr>
              <a:t>BRS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F7197C4E-2252-E469-A95C-84C97EE4FE3F}"/>
              </a:ext>
            </a:extLst>
          </p:cNvPr>
          <p:cNvSpPr/>
          <p:nvPr/>
        </p:nvSpPr>
        <p:spPr>
          <a:xfrm>
            <a:off x="2650697" y="1965960"/>
            <a:ext cx="1417320" cy="347472"/>
          </a:xfrm>
          <a:prstGeom prst="rect">
            <a:avLst/>
          </a:prstGeom>
          <a:solidFill>
            <a:srgbClr val="2D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rPr lang="pt-BR">
                <a:solidFill>
                  <a:schemeClr val="bg1"/>
                </a:solidFill>
              </a:rPr>
              <a:t>CX &amp; Digital COE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CE6D4F1D-838D-69BB-45AF-83157C5A9BBD}"/>
              </a:ext>
            </a:extLst>
          </p:cNvPr>
          <p:cNvSpPr/>
          <p:nvPr/>
        </p:nvSpPr>
        <p:spPr>
          <a:xfrm>
            <a:off x="4205177" y="1965960"/>
            <a:ext cx="1417320" cy="347472"/>
          </a:xfrm>
          <a:prstGeom prst="rect">
            <a:avLst/>
          </a:prstGeom>
          <a:solidFill>
            <a:srgbClr val="2D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rPr lang="pt-BR" err="1">
                <a:solidFill>
                  <a:schemeClr val="bg1"/>
                </a:solidFill>
              </a:rPr>
              <a:t>Others</a:t>
            </a:r>
            <a:r>
              <a:rPr lang="pt-BR">
                <a:solidFill>
                  <a:schemeClr val="bg1"/>
                </a:solidFill>
              </a:rPr>
              <a:t>...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30" name="Picture 5" descr="Avangrid - Wikipedia">
            <a:extLst>
              <a:ext uri="{FF2B5EF4-FFF2-40B4-BE49-F238E27FC236}">
                <a16:creationId xmlns:a16="http://schemas.microsoft.com/office/drawing/2014/main" id="{8381B83D-E910-499E-70B6-4896AFD13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985" y="6372758"/>
            <a:ext cx="1379835" cy="48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NTT DATA Global Logo">
            <a:extLst>
              <a:ext uri="{FF2B5EF4-FFF2-40B4-BE49-F238E27FC236}">
                <a16:creationId xmlns:a16="http://schemas.microsoft.com/office/drawing/2014/main" id="{261A913E-8C5A-0C63-58E1-59AD857653DF}"/>
              </a:ext>
            </a:extLst>
          </p:cNvPr>
          <p:cNvSpPr/>
          <p:nvPr/>
        </p:nvSpPr>
        <p:spPr bwMode="black">
          <a:xfrm>
            <a:off x="11070727" y="6508881"/>
            <a:ext cx="950287" cy="212997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8BCEBBB4-14A2-729D-60B1-81EF93A557AA}"/>
              </a:ext>
            </a:extLst>
          </p:cNvPr>
          <p:cNvCxnSpPr/>
          <p:nvPr/>
        </p:nvCxnSpPr>
        <p:spPr>
          <a:xfrm>
            <a:off x="5972433" y="1888936"/>
            <a:ext cx="0" cy="40859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1D1A2EB-2A3B-4010-0570-19062E915C6A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39909" y="1859625"/>
            <a:ext cx="263347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/>
              <a:t>P&amp;S / P&amp;T </a:t>
            </a:r>
          </a:p>
        </p:txBody>
      </p:sp>
      <p:sp>
        <p:nvSpPr>
          <p:cNvPr id="7" name="Rectangle 6"/>
          <p:cNvSpPr/>
          <p:nvPr/>
        </p:nvSpPr>
        <p:spPr>
          <a:xfrm>
            <a:off x="639909" y="2153980"/>
            <a:ext cx="2633472" cy="3610482"/>
          </a:xfrm>
          <a:prstGeom prst="rect">
            <a:avLst/>
          </a:prstGeom>
          <a:solidFill>
            <a:srgbClr val="E8EF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713061" y="2243673"/>
            <a:ext cx="2487168" cy="339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002060"/>
                </a:solidFill>
                <a:latin typeface="Arial"/>
              </a:rPr>
              <a:t>Operating Model: </a:t>
            </a:r>
            <a:r>
              <a:rPr sz="900">
                <a:solidFill>
                  <a:srgbClr val="2C3E50"/>
                </a:solidFill>
                <a:latin typeface="Arial"/>
              </a:rPr>
              <a:t>Most mature: 4-phase lifecycle in production with 15+ sub-steps, phase gates, and 3-tier Flight Level governance (Portfolio → Program → Project).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2060"/>
                </a:solidFill>
                <a:latin typeface="Arial"/>
              </a:rPr>
              <a:t>Prioritization: </a:t>
            </a:r>
            <a:r>
              <a:rPr sz="900">
                <a:solidFill>
                  <a:srgbClr val="2C3E50"/>
                </a:solidFill>
                <a:latin typeface="Arial"/>
              </a:rPr>
              <a:t>PBI(x) = (BV+UX)/E calculator with 1-10 scoring. Business Value Criteria tied to Avangrid axes. Demand Funnel with Shark Tank + Portfolio Committee.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2060"/>
                </a:solidFill>
                <a:latin typeface="Arial"/>
              </a:rPr>
              <a:t>Intake &amp; Demand: </a:t>
            </a:r>
            <a:r>
              <a:rPr sz="900">
                <a:solidFill>
                  <a:srgbClr val="2C3E50"/>
                </a:solidFill>
                <a:latin typeface="Arial"/>
              </a:rPr>
              <a:t>Single front door with 3 sources. Portfolio Kanban with swimlanes. Classification: Strategic/Operational/Regulatory.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2060"/>
                </a:solidFill>
                <a:latin typeface="Arial"/>
              </a:rPr>
              <a:t>Roles &amp; RACI: </a:t>
            </a:r>
            <a:r>
              <a:rPr sz="900">
                <a:solidFill>
                  <a:srgbClr val="2C3E50"/>
                </a:solidFill>
                <a:latin typeface="Arial"/>
              </a:rPr>
              <a:t>Full RACI in Confluence+Jira. PM Role per phase. Stakeholder Mapping. Crew: PO/SM/Dev.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2060"/>
                </a:solidFill>
                <a:latin typeface="Arial"/>
              </a:rPr>
              <a:t>Tools &amp; Jira: </a:t>
            </a:r>
            <a:r>
              <a:rPr sz="900">
                <a:solidFill>
                  <a:srgbClr val="2C3E50"/>
                </a:solidFill>
                <a:latin typeface="Arial"/>
              </a:rPr>
              <a:t>Kanban/Scrum boards, issue hierarchy, health dashboards. Admin permissions defined.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2060"/>
                </a:solidFill>
                <a:latin typeface="Arial"/>
              </a:rPr>
              <a:t>KPIs: </a:t>
            </a:r>
            <a:r>
              <a:rPr sz="900">
                <a:solidFill>
                  <a:srgbClr val="2C3E50"/>
                </a:solidFill>
                <a:latin typeface="Arial"/>
              </a:rPr>
              <a:t>Multi-level: Portfolio → Program → Team. Formulas: Throughput, Lead Time, Velocity. Scorecards with 2026 targets.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109" y="1859625"/>
            <a:ext cx="2633472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/>
              <a:t>Digital CoE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109" y="2153980"/>
            <a:ext cx="2633472" cy="3610482"/>
          </a:xfrm>
          <a:prstGeom prst="rect">
            <a:avLst/>
          </a:prstGeom>
          <a:solidFill>
            <a:srgbClr val="E3F2FD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3456261" y="2243673"/>
            <a:ext cx="2487168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Operating Model: </a:t>
            </a:r>
            <a:r>
              <a:rPr sz="900">
                <a:solidFill>
                  <a:srgbClr val="2C3E50"/>
                </a:solidFill>
                <a:latin typeface="Arial"/>
              </a:rPr>
              <a:t>E2E with Discovery upstream + Delivery downstream connected by feedback loops. Strategic Initiatives Funnel + Lean Business Case.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Prioritization: </a:t>
            </a:r>
            <a:r>
              <a:rPr sz="900">
                <a:solidFill>
                  <a:srgbClr val="2C3E50"/>
                </a:solidFill>
                <a:latin typeface="Arial"/>
              </a:rPr>
              <a:t>Same PBI formula + HEVA cycle for continuous discovery + COORG method for backlog ordering.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Portfolio: </a:t>
            </a:r>
            <a:r>
              <a:rPr sz="900">
                <a:solidFill>
                  <a:srgbClr val="2C3E50"/>
                </a:solidFill>
                <a:latin typeface="Arial"/>
              </a:rPr>
              <a:t>Portfolio Learn Cycle quarterly. 4 cycles/year with Strategy Workshops. Metrics: ILt, RpI, VbM.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Tools &amp; Jira: </a:t>
            </a:r>
            <a:r>
              <a:rPr sz="900">
                <a:solidFill>
                  <a:srgbClr val="2C3E50"/>
                </a:solidFill>
                <a:latin typeface="Arial"/>
              </a:rPr>
              <a:t>JIRA Playbook (41p): board design, portfolio view, stage-gates. NextGen Jira Guide. Most comprehensive.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Agile Practices: </a:t>
            </a:r>
            <a:r>
              <a:rPr sz="900">
                <a:solidFill>
                  <a:srgbClr val="2C3E50"/>
                </a:solidFill>
                <a:latin typeface="Arial"/>
              </a:rPr>
              <a:t>Agility Playbook (111 sl.): Scrum/Kanban, PBB, HEVA, Sprint Report Canvas, Health Radars.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309" y="1859625"/>
            <a:ext cx="2633472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/>
              <a:t>Infrastructure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523" y="2153980"/>
            <a:ext cx="2602684" cy="3610481"/>
          </a:xfrm>
          <a:prstGeom prst="rect">
            <a:avLst/>
          </a:prstGeom>
          <a:solidFill>
            <a:srgbClr val="E0F2F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199461" y="2243673"/>
            <a:ext cx="248716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009688"/>
                </a:solidFill>
                <a:latin typeface="Arial"/>
              </a:rPr>
              <a:t>Deployment: </a:t>
            </a:r>
            <a:r>
              <a:rPr sz="900">
                <a:solidFill>
                  <a:srgbClr val="2C3E50"/>
                </a:solidFill>
                <a:latin typeface="Arial"/>
              </a:rPr>
              <a:t>Pilot → Expansion → Optimization with governance at each transition. Sapiens Learning Cycles.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9688"/>
                </a:solidFill>
                <a:latin typeface="Arial"/>
              </a:rPr>
              <a:t>Team Structure: </a:t>
            </a:r>
            <a:r>
              <a:rPr sz="900">
                <a:solidFill>
                  <a:srgbClr val="2C3E50"/>
                </a:solidFill>
                <a:latin typeface="Arial"/>
              </a:rPr>
              <a:t>Team Topologies: 4 types, 3 interaction modes. Directly informs Digital Products positioning.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9688"/>
                </a:solidFill>
                <a:latin typeface="Arial"/>
              </a:rPr>
              <a:t>Portfolio: </a:t>
            </a:r>
            <a:r>
              <a:rPr sz="900">
                <a:solidFill>
                  <a:srgbClr val="2C3E50"/>
                </a:solidFill>
                <a:latin typeface="Arial"/>
              </a:rPr>
              <a:t>Program-level management. Per-unit-served investment model for OPCO cost allocation.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009688"/>
                </a:solidFill>
                <a:latin typeface="Arial"/>
              </a:rPr>
              <a:t>Documentation: </a:t>
            </a:r>
            <a:r>
              <a:rPr sz="900">
                <a:solidFill>
                  <a:srgbClr val="2C3E50"/>
                </a:solidFill>
                <a:latin typeface="Arial"/>
              </a:rPr>
              <a:t>Project Book template: Discover → Build → Operate. Blueprint Design method.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509" y="1859625"/>
            <a:ext cx="2633472" cy="292608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/>
              <a:t>Renewables DTO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509" y="2153980"/>
            <a:ext cx="2633472" cy="3610482"/>
          </a:xfrm>
          <a:prstGeom prst="rect">
            <a:avLst/>
          </a:prstGeom>
          <a:solidFill>
            <a:srgbClr val="FFF8E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942661" y="2243673"/>
            <a:ext cx="2487168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D46B08"/>
                </a:solidFill>
                <a:latin typeface="Arial"/>
              </a:rPr>
              <a:t>Operating Model: </a:t>
            </a:r>
            <a:r>
              <a:rPr sz="900">
                <a:solidFill>
                  <a:srgbClr val="2C3E50"/>
                </a:solidFill>
                <a:latin typeface="Arial"/>
              </a:rPr>
              <a:t>Lean Kanban 4-pillar: Demand Intake → Prioritization → Delivery → Governance. Pull-based, E2E workflow defined.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D46B08"/>
                </a:solidFill>
                <a:latin typeface="Arial"/>
              </a:rPr>
              <a:t>Intake: </a:t>
            </a:r>
            <a:r>
              <a:rPr sz="900">
                <a:solidFill>
                  <a:srgbClr val="2C3E50"/>
                </a:solidFill>
                <a:latin typeface="Arial"/>
              </a:rPr>
              <a:t>Most operational: Jira-only single entry, Class of Service (Standard/Expedite/Fixed Date/Intangible), DoR gate.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D46B08"/>
                </a:solidFill>
                <a:latin typeface="Arial"/>
              </a:rPr>
              <a:t>Prioritization: </a:t>
            </a:r>
            <a:r>
              <a:rPr sz="900">
                <a:solidFill>
                  <a:srgbClr val="2C3E50"/>
                </a:solidFill>
                <a:latin typeface="Arial"/>
              </a:rPr>
              <a:t>Continuous (not batch). Capacity Allocation: Build 60%, BAU 25%, Upgrades 15%.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D46B08"/>
                </a:solidFill>
                <a:latin typeface="Arial"/>
              </a:rPr>
              <a:t>Execution: </a:t>
            </a:r>
            <a:r>
              <a:rPr sz="900">
                <a:solidFill>
                  <a:srgbClr val="2C3E50"/>
                </a:solidFill>
                <a:latin typeface="Arial"/>
              </a:rPr>
              <a:t>Pull-based with WIP limits. 2-level board: Epic Kanban + Project Kanban. Flow Metrics dashboard.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D46B08"/>
                </a:solidFill>
                <a:latin typeface="Arial"/>
              </a:rPr>
              <a:t>Baseline: </a:t>
            </a:r>
            <a:r>
              <a:rPr sz="900">
                <a:solidFill>
                  <a:srgbClr val="2C3E50"/>
                </a:solidFill>
                <a:latin typeface="Arial"/>
              </a:rPr>
              <a:t>Complete current-state diagnosis: exec summary + findings per pillar. Template for Digital Products baseline.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64594924-317D-F772-E3BF-DD06D49FEA73}"/>
              </a:ext>
            </a:extLst>
          </p:cNvPr>
          <p:cNvSpPr txBox="1"/>
          <p:nvPr/>
        </p:nvSpPr>
        <p:spPr>
          <a:xfrm>
            <a:off x="156754" y="281291"/>
            <a:ext cx="10515600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000" b="1">
                <a:solidFill>
                  <a:srgbClr val="002060"/>
                </a:solidFill>
                <a:latin typeface="Arial"/>
              </a:defRPr>
            </a:pPr>
            <a:r>
              <a:rPr lang="en-US" sz="2000" b="1">
                <a:solidFill>
                  <a:srgbClr val="00A443"/>
                </a:solidFill>
                <a:latin typeface="Arial"/>
              </a:rPr>
              <a:t>Prior Materials Review — What Each Area Built</a:t>
            </a:r>
            <a:endParaRPr lang="pt-BR"/>
          </a:p>
          <a:p>
            <a:pPr>
              <a:defRPr sz="2000" b="1">
                <a:solidFill>
                  <a:srgbClr val="002060"/>
                </a:solidFill>
                <a:latin typeface="Arial"/>
              </a:defRPr>
            </a:pPr>
            <a:endParaRPr lang="pt-BR" sz="1200">
              <a:solidFill>
                <a:srgbClr val="7F8C8D"/>
              </a:solidFill>
              <a:latin typeface="Arial"/>
              <a:cs typeface="Arial"/>
            </a:endParaRP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rPr sz="1200">
                <a:solidFill>
                  <a:srgbClr val="7F8C8D"/>
                </a:solidFill>
                <a:latin typeface="Arial"/>
              </a:rPr>
              <a:t>P&amp;S, CoE, Infrastructure &amp; DTO — understanding what was built reveals what's reusable vs. what needs adaptation</a:t>
            </a:r>
            <a:endParaRPr sz="1200">
              <a:solidFill>
                <a:srgbClr val="7F8C8D"/>
              </a:solidFill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3BA003-AC67-F9B0-8C40-1D7BF052F22D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8554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7378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Arial"/>
              </a:defRPr>
            </a:pPr>
            <a:r>
              <a:t>P&amp;S / P&amp;T — Flight Level Kanban Governance</a:t>
            </a:r>
          </a:p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3-tier governance model with Portfolio → Program → Project Kanban boards. 4-phase E2E lifecycle: Discovery → Materialization → Creation → Ongoing.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70704"/>
            <a:ext cx="112471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457200" y="870704"/>
            <a:ext cx="112471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Flight Level 3 —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3646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Strategic direction. Portfolio Manager prioritizes EPICs by business value and OKR alignment. Demand enters via Shark Tank and Portfolio Committee.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02224"/>
            <a:ext cx="2066544" cy="274320"/>
          </a:xfrm>
          <a:prstGeom prst="rect">
            <a:avLst/>
          </a:prstGeom>
          <a:solidFill>
            <a:srgbClr val="D8DDE7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2060"/>
                </a:solidFill>
                <a:latin typeface="Arial"/>
              </a:defRPr>
            </a:pPr>
            <a:r>
              <a:rPr sz="900"/>
              <a:t>Portfolio 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6911" y="160857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206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3784" y="1602224"/>
            <a:ext cx="2066544" cy="274320"/>
          </a:xfrm>
          <a:prstGeom prst="rect">
            <a:avLst/>
          </a:prstGeom>
          <a:solidFill>
            <a:srgbClr val="D8DDE7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2060"/>
                </a:solidFill>
                <a:latin typeface="Arial"/>
              </a:defRPr>
            </a:pPr>
            <a:r>
              <a:rPr sz="900"/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0615" y="160857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206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7488" y="1602224"/>
            <a:ext cx="2066544" cy="274320"/>
          </a:xfrm>
          <a:prstGeom prst="rect">
            <a:avLst/>
          </a:prstGeom>
          <a:solidFill>
            <a:srgbClr val="D8DDE7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2060"/>
                </a:solidFill>
                <a:latin typeface="Arial"/>
              </a:defRPr>
            </a:pPr>
            <a:r>
              <a:rPr sz="900"/>
              <a:t>Ideation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4319" y="160857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206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51192" y="1602224"/>
            <a:ext cx="2066544" cy="274320"/>
          </a:xfrm>
          <a:prstGeom prst="rect">
            <a:avLst/>
          </a:prstGeom>
          <a:solidFill>
            <a:srgbClr val="D8DDE7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2060"/>
                </a:solidFill>
                <a:latin typeface="Arial"/>
              </a:defRPr>
            </a:pPr>
            <a:r>
              <a:rPr sz="900"/>
              <a:t>Solutioning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8023" y="160857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206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54896" y="1602224"/>
            <a:ext cx="2066544" cy="274320"/>
          </a:xfrm>
          <a:prstGeom prst="rect">
            <a:avLst/>
          </a:prstGeom>
          <a:solidFill>
            <a:srgbClr val="D8DDE7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2060"/>
                </a:solidFill>
                <a:latin typeface="Arial"/>
              </a:defRPr>
            </a:pPr>
            <a:r>
              <a:rPr sz="900"/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168" y="1986272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err="1">
                <a:solidFill>
                  <a:srgbClr val="7F8C8D"/>
                </a:solidFill>
                <a:latin typeface="Arial"/>
              </a:rPr>
              <a:t>Swimlanes</a:t>
            </a:r>
            <a:r>
              <a:rPr sz="900" b="1">
                <a:solidFill>
                  <a:srgbClr val="7F8C8D"/>
                </a:solidFill>
                <a:latin typeface="Arial"/>
              </a:rPr>
              <a:t>: </a:t>
            </a:r>
            <a:r>
              <a:rPr sz="900">
                <a:solidFill>
                  <a:srgbClr val="2C3E50"/>
                </a:solidFill>
                <a:latin typeface="Arial"/>
              </a:rPr>
              <a:t>High Risks &amp; Blockers · High Value · Regulatory · OKR's &amp; Strategic 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2115" y="1978575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err="1">
                <a:solidFill>
                  <a:srgbClr val="EAB308"/>
                </a:solidFill>
                <a:latin typeface="Arial"/>
              </a:rPr>
              <a:t>Forums</a:t>
            </a:r>
            <a:r>
              <a:rPr lang="pt-BR" sz="900" b="1">
                <a:solidFill>
                  <a:srgbClr val="EAB308"/>
                </a:solidFill>
                <a:latin typeface="Arial"/>
              </a:rPr>
              <a:t>: </a:t>
            </a:r>
            <a:r>
              <a:rPr lang="pt-BR" sz="900">
                <a:solidFill>
                  <a:srgbClr val="2C3E50"/>
                </a:solidFill>
                <a:latin typeface="Arial"/>
              </a:rPr>
              <a:t>Big Room Planning (</a:t>
            </a:r>
            <a:r>
              <a:rPr lang="pt-BR" sz="900" err="1">
                <a:solidFill>
                  <a:srgbClr val="2C3E50"/>
                </a:solidFill>
                <a:latin typeface="Arial"/>
              </a:rPr>
              <a:t>quarterly</a:t>
            </a:r>
            <a:r>
              <a:rPr lang="pt-BR" sz="900">
                <a:solidFill>
                  <a:srgbClr val="2C3E50"/>
                </a:solidFill>
                <a:latin typeface="Arial"/>
              </a:rPr>
              <a:t>) · Portfolio </a:t>
            </a:r>
            <a:r>
              <a:rPr lang="pt-BR" sz="900" err="1">
                <a:solidFill>
                  <a:srgbClr val="2C3E50"/>
                </a:solidFill>
                <a:latin typeface="Arial"/>
              </a:rPr>
              <a:t>Committee</a:t>
            </a:r>
            <a:r>
              <a:rPr lang="pt-BR" sz="900">
                <a:solidFill>
                  <a:srgbClr val="2C3E50"/>
                </a:solidFill>
                <a:latin typeface="Arial"/>
              </a:rPr>
              <a:t> (</a:t>
            </a:r>
            <a:r>
              <a:rPr lang="pt-BR" sz="900" err="1">
                <a:solidFill>
                  <a:srgbClr val="2C3E50"/>
                </a:solidFill>
                <a:latin typeface="Arial"/>
              </a:rPr>
              <a:t>monthly</a:t>
            </a:r>
            <a:r>
              <a:rPr lang="pt-BR" sz="900">
                <a:solidFill>
                  <a:srgbClr val="2C3E50"/>
                </a:solidFill>
                <a:latin typeface="Arial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88024"/>
            <a:ext cx="112471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457200" y="2288024"/>
            <a:ext cx="11247120" cy="3200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Flight Level 2 —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65378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Tactical coordination. Programs break EPICs into features and plan releases. Epics and Solutions in flight.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019544"/>
            <a:ext cx="2066544" cy="274320"/>
          </a:xfrm>
          <a:prstGeom prst="rect">
            <a:avLst/>
          </a:prstGeom>
          <a:solidFill>
            <a:srgbClr val="D8E4F0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50A0"/>
                </a:solidFill>
                <a:latin typeface="Arial"/>
              </a:defRPr>
            </a:pPr>
            <a:r>
              <a:rPr sz="900"/>
              <a:t>Program Backlog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6911" y="302589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50A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43784" y="3019544"/>
            <a:ext cx="2066544" cy="274320"/>
          </a:xfrm>
          <a:prstGeom prst="rect">
            <a:avLst/>
          </a:prstGeom>
          <a:solidFill>
            <a:srgbClr val="D8E4F0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50A0"/>
                </a:solidFill>
                <a:latin typeface="Arial"/>
              </a:defRPr>
            </a:pPr>
            <a:r>
              <a:rPr sz="900"/>
              <a:t>Work In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0615" y="302589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50A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7488" y="3019544"/>
            <a:ext cx="2066544" cy="274320"/>
          </a:xfrm>
          <a:prstGeom prst="rect">
            <a:avLst/>
          </a:prstGeom>
          <a:solidFill>
            <a:srgbClr val="D8E4F0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50A0"/>
                </a:solidFill>
                <a:latin typeface="Arial"/>
              </a:defRPr>
            </a:pPr>
            <a:r>
              <a:rPr sz="900"/>
              <a:t>Discovery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4319" y="302589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50A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1192" y="3019544"/>
            <a:ext cx="2066544" cy="274320"/>
          </a:xfrm>
          <a:prstGeom prst="rect">
            <a:avLst/>
          </a:prstGeom>
          <a:solidFill>
            <a:srgbClr val="D8E4F0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50A0"/>
                </a:solidFill>
                <a:latin typeface="Arial"/>
              </a:defRPr>
            </a:pPr>
            <a:r>
              <a:rPr sz="900"/>
              <a:t>Shark Tank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8023" y="302589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50A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54896" y="3019544"/>
            <a:ext cx="2066544" cy="274320"/>
          </a:xfrm>
          <a:prstGeom prst="rect">
            <a:avLst/>
          </a:prstGeom>
          <a:solidFill>
            <a:srgbClr val="D8E4F0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50A0"/>
                </a:solidFill>
                <a:latin typeface="Arial"/>
              </a:defRPr>
            </a:pPr>
            <a:r>
              <a:rPr sz="900"/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168" y="3412736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err="1">
                <a:solidFill>
                  <a:srgbClr val="7F8C8D"/>
                </a:solidFill>
                <a:latin typeface="Arial"/>
              </a:rPr>
              <a:t>Swimlanes</a:t>
            </a:r>
            <a:r>
              <a:rPr sz="900" b="1">
                <a:solidFill>
                  <a:srgbClr val="7F8C8D"/>
                </a:solidFill>
                <a:latin typeface="Arial"/>
              </a:rPr>
              <a:t>: </a:t>
            </a:r>
            <a:r>
              <a:rPr sz="900">
                <a:solidFill>
                  <a:srgbClr val="2C3E50"/>
                </a:solidFill>
                <a:latin typeface="Arial"/>
              </a:rPr>
              <a:t>Program A · Program B · Program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8753" y="3412736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Forums: </a:t>
            </a:r>
            <a:r>
              <a:rPr sz="900">
                <a:solidFill>
                  <a:srgbClr val="2C3E50"/>
                </a:solidFill>
                <a:latin typeface="Arial"/>
              </a:rPr>
              <a:t>Program Sync (bi-weekly) · Replenishment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05344"/>
            <a:ext cx="112471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Rectangle 35"/>
          <p:cNvSpPr/>
          <p:nvPr/>
        </p:nvSpPr>
        <p:spPr>
          <a:xfrm>
            <a:off x="457200" y="3705344"/>
            <a:ext cx="1124712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Flight Level 1 —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07110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Operational execution. Day-to-day delivery by teams using Kanban boards per project. User Story / Task level.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436864"/>
            <a:ext cx="2066544" cy="274320"/>
          </a:xfrm>
          <a:prstGeom prst="rect">
            <a:avLst/>
          </a:prstGeom>
          <a:solidFill>
            <a:srgbClr val="D8E9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70C0"/>
                </a:solidFill>
                <a:latin typeface="Arial"/>
              </a:defRPr>
            </a:pPr>
            <a:r>
              <a:rPr sz="900"/>
              <a:t>Backlog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16911" y="444321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70C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43784" y="4436864"/>
            <a:ext cx="2066544" cy="274320"/>
          </a:xfrm>
          <a:prstGeom prst="rect">
            <a:avLst/>
          </a:prstGeom>
          <a:solidFill>
            <a:srgbClr val="D8E9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70C0"/>
                </a:solidFill>
                <a:latin typeface="Arial"/>
              </a:defRPr>
            </a:pPr>
            <a:r>
              <a:rPr sz="900"/>
              <a:t>In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0615" y="444321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70C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7488" y="4436864"/>
            <a:ext cx="2066544" cy="274320"/>
          </a:xfrm>
          <a:prstGeom prst="rect">
            <a:avLst/>
          </a:prstGeom>
          <a:solidFill>
            <a:srgbClr val="D8E9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70C0"/>
                </a:solidFill>
                <a:latin typeface="Arial"/>
              </a:defRPr>
            </a:pPr>
            <a:r>
              <a:rPr sz="900"/>
              <a:t>QA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4319" y="444321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70C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51192" y="4436864"/>
            <a:ext cx="2066544" cy="274320"/>
          </a:xfrm>
          <a:prstGeom prst="rect">
            <a:avLst/>
          </a:prstGeom>
          <a:solidFill>
            <a:srgbClr val="D8E9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70C0"/>
                </a:solidFill>
                <a:latin typeface="Arial"/>
              </a:defRPr>
            </a:pPr>
            <a:r>
              <a:rPr sz="900"/>
              <a:t>Deploy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8023" y="444321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70C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54896" y="4436864"/>
            <a:ext cx="2066544" cy="274320"/>
          </a:xfrm>
          <a:prstGeom prst="rect">
            <a:avLst/>
          </a:prstGeom>
          <a:solidFill>
            <a:srgbClr val="D8E9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70C0"/>
                </a:solidFill>
                <a:latin typeface="Arial"/>
              </a:defRPr>
            </a:pPr>
            <a:r>
              <a:rPr sz="900"/>
              <a:t>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830056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Forums: </a:t>
            </a:r>
            <a:r>
              <a:rPr sz="900">
                <a:solidFill>
                  <a:srgbClr val="2C3E50"/>
                </a:solidFill>
                <a:latin typeface="Arial"/>
              </a:rPr>
              <a:t>Daily Standup · Sprint Review · Retrospective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259824"/>
            <a:ext cx="162736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060"/>
                </a:solidFill>
                <a:latin typeface="Arial"/>
              </a:defRPr>
            </a:pPr>
            <a:r>
              <a:rPr sz="1100"/>
              <a:t>E2E Lifecycle Phases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534144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Rectangle 49"/>
          <p:cNvSpPr/>
          <p:nvPr/>
        </p:nvSpPr>
        <p:spPr>
          <a:xfrm>
            <a:off x="457200" y="5534144"/>
            <a:ext cx="2708910" cy="2560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Phase 0: Discovery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" y="5826752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Research · Understanding · Problem Statement · Inspiration 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28395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GO/No-Go → Shark Tank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52589" y="5883175"/>
            <a:ext cx="36420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2060"/>
                </a:solidFill>
                <a:latin typeface="Arial"/>
              </a:defRPr>
            </a:pPr>
            <a:r>
              <a:rPr sz="1400"/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03270" y="5534144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Rectangle 54"/>
          <p:cNvSpPr/>
          <p:nvPr/>
        </p:nvSpPr>
        <p:spPr>
          <a:xfrm>
            <a:off x="3303270" y="5534144"/>
            <a:ext cx="2708910" cy="2560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Phase 1: Materialization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76422" y="582675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Ideation · Validation · Solution Proposal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76422" y="628395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Portfolio Committee Approval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8659" y="5883175"/>
            <a:ext cx="36420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2060"/>
                </a:solidFill>
                <a:latin typeface="Arial"/>
              </a:defRPr>
            </a:pPr>
            <a:r>
              <a:rPr sz="1400"/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49340" y="5534144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Rectangle 59"/>
          <p:cNvSpPr/>
          <p:nvPr/>
        </p:nvSpPr>
        <p:spPr>
          <a:xfrm>
            <a:off x="6149340" y="5534144"/>
            <a:ext cx="2708910" cy="2560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Phase 2: Creation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22492" y="582675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Project Book · Budget Release · Resourcing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22492" y="628395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Budget Release Gate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44729" y="5883175"/>
            <a:ext cx="36420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2060"/>
                </a:solidFill>
                <a:latin typeface="Arial"/>
              </a:defRPr>
            </a:pPr>
            <a:r>
              <a:rPr sz="1400"/>
              <a:t>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95410" y="5534144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Rectangle 64"/>
          <p:cNvSpPr/>
          <p:nvPr/>
        </p:nvSpPr>
        <p:spPr>
          <a:xfrm>
            <a:off x="8995410" y="5534144"/>
            <a:ext cx="2708910" cy="2560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Phase 3: Ongoing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68562" y="582675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Launch · PoC/MVP · Build · Testing · Deploy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68562" y="628395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Health Dashboard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12354-E027-90E8-2BF1-04359A082DE5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1465" y="2057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0C0"/>
                </a:solidFill>
                <a:latin typeface="Arial"/>
              </a:defRPr>
            </a:pPr>
            <a:r>
              <a:t>Digital </a:t>
            </a:r>
            <a:r>
              <a:rPr err="1"/>
              <a:t>CoE</a:t>
            </a:r>
            <a:r>
              <a:t> — Discovery-Delivery Dual Board</a:t>
            </a:r>
          </a:p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Two separate Kanban boards (Discovery + Delivery) connected by feedback loops. Strategic Initiatives Funnel with Lean Business Case. 3-tier governance.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2612"/>
            <a:ext cx="112471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457200" y="862612"/>
            <a:ext cx="1124712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Portfolio Governance — 3 Tier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28372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Portfolio (Initiative) → Strategic. Program (Feature/Epic) → Tactical. Delivery (User Story) → Executional. Alignment, predictability, accountability.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94132"/>
            <a:ext cx="2617470" cy="274320"/>
          </a:xfrm>
          <a:prstGeom prst="rect">
            <a:avLst/>
          </a:prstGeom>
          <a:solidFill>
            <a:srgbClr val="D8E9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70C0"/>
                </a:solidFill>
                <a:latin typeface="Arial"/>
              </a:defRPr>
            </a:pPr>
            <a:r>
              <a:rPr sz="900"/>
              <a:t>Strategic Initiatives 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7837" y="160048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70C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4710" y="1594132"/>
            <a:ext cx="2617470" cy="274320"/>
          </a:xfrm>
          <a:prstGeom prst="rect">
            <a:avLst/>
          </a:prstGeom>
          <a:solidFill>
            <a:srgbClr val="D8E9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70C0"/>
                </a:solidFill>
                <a:latin typeface="Arial"/>
              </a:defRPr>
            </a:pPr>
            <a:r>
              <a:rPr sz="900"/>
              <a:t>Lean Business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2467" y="160048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70C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9340" y="1594132"/>
            <a:ext cx="2617470" cy="274320"/>
          </a:xfrm>
          <a:prstGeom prst="rect">
            <a:avLst/>
          </a:prstGeom>
          <a:solidFill>
            <a:srgbClr val="D8E9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70C0"/>
                </a:solidFill>
                <a:latin typeface="Arial"/>
              </a:defRPr>
            </a:pPr>
            <a:r>
              <a:rPr sz="900"/>
              <a:t>PRD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097" y="160048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70C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3970" y="1594132"/>
            <a:ext cx="2617470" cy="274320"/>
          </a:xfrm>
          <a:prstGeom prst="rect">
            <a:avLst/>
          </a:prstGeom>
          <a:solidFill>
            <a:srgbClr val="D8E9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70C0"/>
                </a:solidFill>
                <a:latin typeface="Arial"/>
              </a:defRPr>
            </a:pPr>
            <a:r>
              <a:rPr sz="900"/>
              <a:t>Quarterly Program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98732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Forums: </a:t>
            </a:r>
            <a:r>
              <a:rPr sz="900">
                <a:solidFill>
                  <a:srgbClr val="2C3E50"/>
                </a:solidFill>
                <a:latin typeface="Arial"/>
              </a:rPr>
              <a:t>Portfolio Learn Cycle (quarterly: 30 min past, 30 min future)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79932"/>
            <a:ext cx="112471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/>
          <p:cNvSpPr/>
          <p:nvPr/>
        </p:nvSpPr>
        <p:spPr>
          <a:xfrm>
            <a:off x="457200" y="2279932"/>
            <a:ext cx="11247120" cy="320040"/>
          </a:xfrm>
          <a:prstGeom prst="rect">
            <a:avLst/>
          </a:prstGeom>
          <a:solidFill>
            <a:srgbClr val="009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Discovery Board (Upstream)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645692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Structured discovery workflow. Measures Cycle Time per phase and Discovery Success Rate. Tools: Ziflow, Maze, Figma, Monday.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11452"/>
            <a:ext cx="1699260" cy="274320"/>
          </a:xfrm>
          <a:prstGeom prst="rect">
            <a:avLst/>
          </a:prstGeom>
          <a:solidFill>
            <a:srgbClr val="D8EEFA"/>
          </a:solidFill>
          <a:ln w="6350">
            <a:solidFill>
              <a:srgbClr val="009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0E0"/>
                </a:solidFill>
                <a:latin typeface="Arial"/>
              </a:defRPr>
            </a:pPr>
            <a:r>
              <a:rPr sz="900"/>
              <a:t>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9627" y="301780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90E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76500" y="3011452"/>
            <a:ext cx="1699260" cy="274320"/>
          </a:xfrm>
          <a:prstGeom prst="rect">
            <a:avLst/>
          </a:prstGeom>
          <a:solidFill>
            <a:srgbClr val="D8EEFA"/>
          </a:solidFill>
          <a:ln w="6350">
            <a:solidFill>
              <a:srgbClr val="009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0E0"/>
                </a:solidFill>
                <a:latin typeface="Arial"/>
              </a:defRPr>
            </a:pPr>
            <a:r>
              <a:rPr sz="900"/>
              <a:t>Ideation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6047" y="301780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90E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2920" y="3011452"/>
            <a:ext cx="1699260" cy="274320"/>
          </a:xfrm>
          <a:prstGeom prst="rect">
            <a:avLst/>
          </a:prstGeom>
          <a:solidFill>
            <a:srgbClr val="D8EEFA"/>
          </a:solidFill>
          <a:ln w="6350">
            <a:solidFill>
              <a:srgbClr val="009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0E0"/>
                </a:solidFill>
                <a:latin typeface="Arial"/>
              </a:defRPr>
            </a:pPr>
            <a:r>
              <a:rPr sz="900"/>
              <a:t>Tech Feasibility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2467" y="301780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90E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9340" y="3011452"/>
            <a:ext cx="1699260" cy="274320"/>
          </a:xfrm>
          <a:prstGeom prst="rect">
            <a:avLst/>
          </a:prstGeom>
          <a:solidFill>
            <a:srgbClr val="D8EEFA"/>
          </a:solidFill>
          <a:ln w="6350">
            <a:solidFill>
              <a:srgbClr val="009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0E0"/>
                </a:solidFill>
                <a:latin typeface="Arial"/>
              </a:defRPr>
            </a:pPr>
            <a:r>
              <a:rPr sz="900"/>
              <a:t>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8887" y="301780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90E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85760" y="3011452"/>
            <a:ext cx="1699260" cy="274320"/>
          </a:xfrm>
          <a:prstGeom prst="rect">
            <a:avLst/>
          </a:prstGeom>
          <a:solidFill>
            <a:srgbClr val="D8EEFA"/>
          </a:solidFill>
          <a:ln w="6350">
            <a:solidFill>
              <a:srgbClr val="009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0E0"/>
                </a:solidFill>
                <a:latin typeface="Arial"/>
              </a:defRPr>
            </a:pPr>
            <a:r>
              <a:rPr sz="900"/>
              <a:t>Biz Signoff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5307" y="301780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90E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2180" y="3011452"/>
            <a:ext cx="1699260" cy="274320"/>
          </a:xfrm>
          <a:prstGeom prst="rect">
            <a:avLst/>
          </a:prstGeom>
          <a:solidFill>
            <a:srgbClr val="D8EEFA"/>
          </a:solidFill>
          <a:ln w="6350">
            <a:solidFill>
              <a:srgbClr val="009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0E0"/>
                </a:solidFill>
                <a:latin typeface="Arial"/>
              </a:defRPr>
            </a:pPr>
            <a:r>
              <a:rPr sz="900"/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40464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Forums: </a:t>
            </a:r>
            <a:r>
              <a:rPr sz="900">
                <a:solidFill>
                  <a:srgbClr val="2C3E50"/>
                </a:solidFill>
                <a:latin typeface="Arial"/>
              </a:rPr>
              <a:t>Discovery Review · Feedback Loop from Delivery → Discovery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97252"/>
            <a:ext cx="1124712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19A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/>
          <p:cNvSpPr/>
          <p:nvPr/>
        </p:nvSpPr>
        <p:spPr>
          <a:xfrm>
            <a:off x="457200" y="3697252"/>
            <a:ext cx="11247120" cy="320040"/>
          </a:xfrm>
          <a:prstGeom prst="rect">
            <a:avLst/>
          </a:prstGeom>
          <a:solidFill>
            <a:srgbClr val="19A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Delivery Board (Downstream)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063012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Sprint-based delivery. 2-week time-boxed cycles. Sprint Report Canvas tracks baselines across cycles. Agile Master hygiene checklist.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428772"/>
            <a:ext cx="2617470" cy="274320"/>
          </a:xfrm>
          <a:prstGeom prst="rect">
            <a:avLst/>
          </a:prstGeom>
          <a:solidFill>
            <a:srgbClr val="DCF1FE"/>
          </a:solidFill>
          <a:ln w="6350">
            <a:solidFill>
              <a:srgbClr val="19A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19A3FC"/>
                </a:solidFill>
                <a:latin typeface="Arial"/>
              </a:defRPr>
            </a:pPr>
            <a:r>
              <a:rPr sz="900"/>
              <a:t>Sprint Backlog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67837" y="443512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9A3FC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94710" y="4428772"/>
            <a:ext cx="2617470" cy="274320"/>
          </a:xfrm>
          <a:prstGeom prst="rect">
            <a:avLst/>
          </a:prstGeom>
          <a:solidFill>
            <a:srgbClr val="DCF1FE"/>
          </a:solidFill>
          <a:ln w="6350">
            <a:solidFill>
              <a:srgbClr val="19A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19A3FC"/>
                </a:solidFill>
                <a:latin typeface="Arial"/>
              </a:defRPr>
            </a:pPr>
            <a:r>
              <a:rPr sz="900"/>
              <a:t>In Progress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2467" y="443512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9A3FC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9340" y="4428772"/>
            <a:ext cx="2617470" cy="274320"/>
          </a:xfrm>
          <a:prstGeom prst="rect">
            <a:avLst/>
          </a:prstGeom>
          <a:solidFill>
            <a:srgbClr val="DCF1FE"/>
          </a:solidFill>
          <a:ln w="6350">
            <a:solidFill>
              <a:srgbClr val="19A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19A3FC"/>
                </a:solidFill>
                <a:latin typeface="Arial"/>
              </a:defRPr>
            </a:pPr>
            <a:r>
              <a:rPr sz="900"/>
              <a:t>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77097" y="443512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9A3FC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03970" y="4428772"/>
            <a:ext cx="2617470" cy="274320"/>
          </a:xfrm>
          <a:prstGeom prst="rect">
            <a:avLst/>
          </a:prstGeom>
          <a:solidFill>
            <a:srgbClr val="DCF1FE"/>
          </a:solidFill>
          <a:ln w="6350">
            <a:solidFill>
              <a:srgbClr val="19A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19A3FC"/>
                </a:solidFill>
                <a:latin typeface="Arial"/>
              </a:defRPr>
            </a:pPr>
            <a:r>
              <a:rPr sz="900"/>
              <a:t>Done / Deployed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82196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Forums: </a:t>
            </a:r>
            <a:r>
              <a:rPr sz="900">
                <a:solidFill>
                  <a:srgbClr val="2C3E50"/>
                </a:solidFill>
                <a:latin typeface="Arial"/>
              </a:rPr>
              <a:t>Sprint Planning · Daily · Sprint Review · Retrospective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251732"/>
            <a:ext cx="162736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0C0"/>
                </a:solidFill>
                <a:latin typeface="Arial"/>
              </a:defRPr>
            </a:pPr>
            <a:r>
              <a:rPr sz="1100"/>
              <a:t>E2E Lifecycle Phases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526052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Rectangle 45"/>
          <p:cNvSpPr/>
          <p:nvPr/>
        </p:nvSpPr>
        <p:spPr>
          <a:xfrm>
            <a:off x="457200" y="5526052"/>
            <a:ext cx="2708910" cy="256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Discovery Upstream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5818660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User Research · Ideation · Prototyping · 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275860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PRD + Lean Business Case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52589" y="5875083"/>
            <a:ext cx="3642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70C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03270" y="5526052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Rectangle 50"/>
          <p:cNvSpPr/>
          <p:nvPr/>
        </p:nvSpPr>
        <p:spPr>
          <a:xfrm>
            <a:off x="3303270" y="5526052"/>
            <a:ext cx="2708910" cy="256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Feedback Loop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76422" y="5818660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Delivery insights → Discovery · Real-world data → Refinement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76422" y="6275860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Continuous (not gated)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8659" y="5875083"/>
            <a:ext cx="3642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70C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9340" y="5526052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Rectangle 55"/>
          <p:cNvSpPr/>
          <p:nvPr/>
        </p:nvSpPr>
        <p:spPr>
          <a:xfrm>
            <a:off x="6149340" y="5526052"/>
            <a:ext cx="2708910" cy="256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Delivery Downstream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22492" y="5818660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Backlog Refinement · Development · Testing · Deployment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22492" y="6275860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Sprint Review + DoD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44729" y="5875083"/>
            <a:ext cx="3642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70C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95410" y="5526052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Rectangle 60"/>
          <p:cNvSpPr/>
          <p:nvPr/>
        </p:nvSpPr>
        <p:spPr>
          <a:xfrm>
            <a:off x="8995410" y="5526052"/>
            <a:ext cx="2708910" cy="256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Portfolio Review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68562" y="5818660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Learn Cycle · Strategic Realignment · Next Quarter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68562" y="6275860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Quarterly Portfolio Learn Cycle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47471C-BF1C-7BDD-4EBA-0C88128017BB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064CA3B-B190-36E5-272F-875083AB75DB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1465" y="2057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Arial"/>
              </a:defRPr>
            </a:pPr>
            <a:r>
              <a:t>Infrastructure — Team Topologies + Phased Deployment</a:t>
            </a:r>
          </a:p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Team Topologies framework defines structural relationships. Phased rollout: Pilot (1 team) → Expansion (7+ teams) → Optimization. Per-unit-served investment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43532"/>
            <a:ext cx="1124712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457200" y="943532"/>
            <a:ext cx="1124712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Topologies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09292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4 team types with 3 interaction modes. Selection depends on volume/frequency of demand, reuse of deliverable, and current capabilities.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75052"/>
            <a:ext cx="2617470" cy="274320"/>
          </a:xfrm>
          <a:prstGeom prst="rect">
            <a:avLst/>
          </a:prstGeom>
          <a:solidFill>
            <a:srgbClr val="D8EFED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688"/>
                </a:solidFill>
                <a:latin typeface="Arial"/>
              </a:defRPr>
            </a:pPr>
            <a:r>
              <a:rPr sz="900"/>
              <a:t>Stream-Aligned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7837" y="168140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9688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4710" y="1675052"/>
            <a:ext cx="2617470" cy="274320"/>
          </a:xfrm>
          <a:prstGeom prst="rect">
            <a:avLst/>
          </a:prstGeom>
          <a:solidFill>
            <a:srgbClr val="D8EFED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688"/>
                </a:solidFill>
                <a:latin typeface="Arial"/>
              </a:defRPr>
            </a:pPr>
            <a:r>
              <a:rPr sz="900"/>
              <a:t>Enabling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2467" y="168140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9688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9340" y="1675052"/>
            <a:ext cx="2617470" cy="274320"/>
          </a:xfrm>
          <a:prstGeom prst="rect">
            <a:avLst/>
          </a:prstGeom>
          <a:solidFill>
            <a:srgbClr val="D8EFED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688"/>
                </a:solidFill>
                <a:latin typeface="Arial"/>
              </a:defRPr>
            </a:pPr>
            <a:r>
              <a:rPr sz="900"/>
              <a:t>Platform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097" y="168140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9688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3970" y="1675052"/>
            <a:ext cx="2617470" cy="274320"/>
          </a:xfrm>
          <a:prstGeom prst="rect">
            <a:avLst/>
          </a:prstGeom>
          <a:solidFill>
            <a:srgbClr val="D8EFED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9688"/>
                </a:solidFill>
                <a:latin typeface="Arial"/>
              </a:defRPr>
            </a:pPr>
            <a:r>
              <a:rPr sz="900"/>
              <a:t>Complicated Subsystem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995092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8C8D"/>
                </a:solidFill>
                <a:latin typeface="Arial"/>
              </a:rPr>
              <a:t>Swimlanes: </a:t>
            </a:r>
            <a:r>
              <a:rPr sz="900">
                <a:solidFill>
                  <a:srgbClr val="2C3E50"/>
                </a:solidFill>
                <a:latin typeface="Arial"/>
              </a:rPr>
              <a:t>Collaboration · X-as-a-Service · Facilitating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34256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Forums: </a:t>
            </a:r>
            <a:r>
              <a:rPr sz="900">
                <a:solidFill>
                  <a:srgbClr val="2C3E50"/>
                </a:solidFill>
                <a:latin typeface="Arial"/>
              </a:rPr>
              <a:t>Interaction mode defines how teams relate structurally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35172"/>
            <a:ext cx="1124712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457200" y="2635172"/>
            <a:ext cx="11247120" cy="32004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Deployment 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000932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Rollout-iterative strategy based on experience. Learn from each phase before expanding. Sapiens Learning Cycles for implementation.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366692"/>
            <a:ext cx="2066544" cy="274320"/>
          </a:xfrm>
          <a:prstGeom prst="rect">
            <a:avLst/>
          </a:prstGeom>
          <a:solidFill>
            <a:srgbClr val="D8F4F0"/>
          </a:solidFill>
          <a:ln w="635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B8A0"/>
                </a:solidFill>
                <a:latin typeface="Arial"/>
              </a:defRPr>
            </a:pPr>
            <a:r>
              <a:rPr sz="900"/>
              <a:t>Assessment (ODAS)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6911" y="337304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B8A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43784" y="3366692"/>
            <a:ext cx="2066544" cy="274320"/>
          </a:xfrm>
          <a:prstGeom prst="rect">
            <a:avLst/>
          </a:prstGeom>
          <a:solidFill>
            <a:srgbClr val="D8F4F0"/>
          </a:solidFill>
          <a:ln w="635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B8A0"/>
                </a:solidFill>
                <a:latin typeface="Arial"/>
              </a:defRPr>
            </a:pPr>
            <a:r>
              <a:rPr sz="900"/>
              <a:t>Preparation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0615" y="337304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B8A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7488" y="3366692"/>
            <a:ext cx="2066544" cy="274320"/>
          </a:xfrm>
          <a:prstGeom prst="rect">
            <a:avLst/>
          </a:prstGeom>
          <a:solidFill>
            <a:srgbClr val="D8F4F0"/>
          </a:solidFill>
          <a:ln w="635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B8A0"/>
                </a:solidFill>
                <a:latin typeface="Arial"/>
              </a:defRPr>
            </a:pPr>
            <a:r>
              <a:rPr sz="900"/>
              <a:t>Kanban Rollout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4319" y="337304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B8A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51192" y="3366692"/>
            <a:ext cx="2066544" cy="274320"/>
          </a:xfrm>
          <a:prstGeom prst="rect">
            <a:avLst/>
          </a:prstGeom>
          <a:solidFill>
            <a:srgbClr val="D8F4F0"/>
          </a:solidFill>
          <a:ln w="635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B8A0"/>
                </a:solidFill>
                <a:latin typeface="Arial"/>
              </a:defRPr>
            </a:pPr>
            <a:r>
              <a:rPr sz="900"/>
              <a:t>Portfolio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8023" y="3373047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00B8A0"/>
                </a:solidFill>
                <a:latin typeface="Arial"/>
              </a:defRPr>
            </a:pPr>
            <a:r>
              <a:rPr sz="1100"/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54896" y="3366692"/>
            <a:ext cx="2066544" cy="274320"/>
          </a:xfrm>
          <a:prstGeom prst="rect">
            <a:avLst/>
          </a:prstGeom>
          <a:solidFill>
            <a:srgbClr val="D8F4F0"/>
          </a:solidFill>
          <a:ln w="635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B8A0"/>
                </a:solidFill>
                <a:latin typeface="Arial"/>
              </a:defRPr>
            </a:pPr>
            <a:r>
              <a:rPr sz="900"/>
              <a:t>Stabilization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03420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Forums: </a:t>
            </a:r>
            <a:r>
              <a:rPr sz="900">
                <a:solidFill>
                  <a:srgbClr val="2C3E50"/>
                </a:solidFill>
                <a:latin typeface="Arial"/>
              </a:rPr>
              <a:t>Sapiens Learning Cycles · Coaching Sessions · Flow Metrics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63972"/>
            <a:ext cx="162736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88"/>
                </a:solidFill>
                <a:latin typeface="Arial"/>
              </a:defRPr>
            </a:pPr>
            <a:r>
              <a:rPr sz="1100"/>
              <a:t>E2E Lifecycle Phases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38292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/>
          <p:cNvSpPr/>
          <p:nvPr/>
        </p:nvSpPr>
        <p:spPr>
          <a:xfrm>
            <a:off x="457200" y="4738292"/>
            <a:ext cx="2708910" cy="2560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Pilot (1 team)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030900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ODAS Assessment · Team Blueprint · Kanban Design · Close Coaching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5488100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Flow Metrics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52589" y="5087323"/>
            <a:ext cx="3642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968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03270" y="4738292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ectangle 38"/>
          <p:cNvSpPr/>
          <p:nvPr/>
        </p:nvSpPr>
        <p:spPr>
          <a:xfrm>
            <a:off x="3303270" y="4738292"/>
            <a:ext cx="2708910" cy="2560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Learn &amp; Measure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6422" y="5030900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Lead Time · Cycle Time · Throughput · Team Health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6422" y="5488100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Results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8659" y="5087323"/>
            <a:ext cx="3642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968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9340" y="4738292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Rectangle 43"/>
          <p:cNvSpPr/>
          <p:nvPr/>
        </p:nvSpPr>
        <p:spPr>
          <a:xfrm>
            <a:off x="6149340" y="4738292"/>
            <a:ext cx="2708910" cy="2560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Expansion (7+ teams)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2492" y="5030900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Sapiens Learning Cycle · Team Coaching · Knowledge Transfer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22492" y="5488100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Expansion Readiness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4729" y="5087323"/>
            <a:ext cx="3642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968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95410" y="4738292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Rectangle 48"/>
          <p:cNvSpPr/>
          <p:nvPr/>
        </p:nvSpPr>
        <p:spPr>
          <a:xfrm>
            <a:off x="8995410" y="4738292"/>
            <a:ext cx="2708910" cy="2560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sz="1000"/>
              <a:t>Optimization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68562" y="5030900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sz="900"/>
              <a:t>Portfolio Roadmap · Investment Model · Continuous Improvement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68562" y="5488100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AB308"/>
                </a:solidFill>
                <a:latin typeface="Arial"/>
              </a:rPr>
              <a:t>Gate: </a:t>
            </a:r>
            <a:r>
              <a:rPr sz="900">
                <a:solidFill>
                  <a:srgbClr val="2C3E50"/>
                </a:solidFill>
                <a:latin typeface="Arial"/>
              </a:rPr>
              <a:t>Maturity 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0BE1AA-C1BB-E3A6-F720-B6EDE8698D36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1465" y="2057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6B08"/>
                </a:solidFill>
                <a:latin typeface="Arial"/>
              </a:defRPr>
            </a:pPr>
            <a:r>
              <a:t>Renewables DTO — Lean Kanban 4-Pillar Model</a:t>
            </a:r>
          </a:p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4 pillars: Demand Intake → Prioritization → Delivery → Governance. Jira as single source of truth. Pull-based execution with WIP limits. 2-level board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51624"/>
            <a:ext cx="1124712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457200" y="951624"/>
            <a:ext cx="11247120" cy="320040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rial"/>
              </a:rPr>
              <a:t>Level 1 — Epic Kanban (Portfolio)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1738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lang="en-US" sz="900"/>
              <a:t>Connects strategy to execution. Ideas evaluated by DTO Project Committee. Swimlanes by business area.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83144"/>
            <a:ext cx="1699260" cy="274320"/>
          </a:xfrm>
          <a:prstGeom prst="rect">
            <a:avLst/>
          </a:prstGeom>
          <a:solidFill>
            <a:srgbClr val="F8E8D9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D46B08"/>
                </a:solidFill>
                <a:latin typeface="Arial"/>
              </a:defRPr>
            </a:pPr>
            <a:r>
              <a:rPr lang="en-US" sz="900"/>
              <a:t>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627" y="168949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D46B08"/>
                </a:solidFill>
                <a:latin typeface="Arial"/>
              </a:defRPr>
            </a:pPr>
            <a:r>
              <a:rPr lang="en-US" sz="1100"/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6500" y="1683144"/>
            <a:ext cx="1699260" cy="274320"/>
          </a:xfrm>
          <a:prstGeom prst="rect">
            <a:avLst/>
          </a:prstGeom>
          <a:solidFill>
            <a:srgbClr val="F8E8D9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D46B08"/>
                </a:solidFill>
                <a:latin typeface="Arial"/>
              </a:defRPr>
            </a:pPr>
            <a:r>
              <a:rPr lang="en-US" sz="900"/>
              <a:t>PMO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6047" y="168949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D46B08"/>
                </a:solidFill>
                <a:latin typeface="Arial"/>
              </a:defRPr>
            </a:pPr>
            <a:r>
              <a:rPr lang="en-US" sz="1100"/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920" y="1683144"/>
            <a:ext cx="1699260" cy="274320"/>
          </a:xfrm>
          <a:prstGeom prst="rect">
            <a:avLst/>
          </a:prstGeom>
          <a:solidFill>
            <a:srgbClr val="F8E8D9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D46B08"/>
                </a:solidFill>
                <a:latin typeface="Arial"/>
              </a:defRPr>
            </a:pPr>
            <a:r>
              <a:rPr lang="en-US" sz="900"/>
              <a:t>Project Prep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2467" y="168949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D46B08"/>
                </a:solidFill>
                <a:latin typeface="Arial"/>
              </a:defRPr>
            </a:pPr>
            <a:r>
              <a:rPr lang="en-US" sz="1100"/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1683144"/>
            <a:ext cx="1699260" cy="274320"/>
          </a:xfrm>
          <a:prstGeom prst="rect">
            <a:avLst/>
          </a:prstGeom>
          <a:solidFill>
            <a:srgbClr val="F8E8D9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D46B08"/>
                </a:solidFill>
                <a:latin typeface="Arial"/>
              </a:defRPr>
            </a:pPr>
            <a:r>
              <a:rPr lang="en-US" sz="900"/>
              <a:t>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8887" y="168949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D46B08"/>
                </a:solidFill>
                <a:latin typeface="Arial"/>
              </a:defRPr>
            </a:pPr>
            <a:r>
              <a:rPr lang="en-US" sz="1100"/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5760" y="1683144"/>
            <a:ext cx="1699260" cy="274320"/>
          </a:xfrm>
          <a:prstGeom prst="rect">
            <a:avLst/>
          </a:prstGeom>
          <a:solidFill>
            <a:srgbClr val="F8E8D9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D46B08"/>
                </a:solidFill>
                <a:latin typeface="Arial"/>
              </a:defRPr>
            </a:pPr>
            <a:r>
              <a:rPr lang="en-US" sz="900"/>
              <a:t>Design &amp;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5307" y="168949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D46B08"/>
                </a:solidFill>
                <a:latin typeface="Arial"/>
              </a:defRPr>
            </a:pPr>
            <a:r>
              <a:rPr lang="en-US" sz="1100"/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2180" y="1683144"/>
            <a:ext cx="1699260" cy="274320"/>
          </a:xfrm>
          <a:prstGeom prst="rect">
            <a:avLst/>
          </a:prstGeom>
          <a:solidFill>
            <a:srgbClr val="F8E8D9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D46B08"/>
                </a:solidFill>
                <a:latin typeface="Arial"/>
              </a:defRPr>
            </a:pPr>
            <a:r>
              <a:rPr lang="en-US" sz="900"/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00318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7F8C8D"/>
                </a:solidFill>
                <a:latin typeface="Arial"/>
              </a:rPr>
              <a:t>Swimlanes: </a:t>
            </a:r>
            <a:r>
              <a:rPr lang="en-US" sz="900">
                <a:solidFill>
                  <a:srgbClr val="2C3E50"/>
                </a:solidFill>
                <a:latin typeface="Arial"/>
              </a:rPr>
              <a:t>Growth (Product) · Power Trading · O&amp;M · Canceled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350656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EAB308"/>
                </a:solidFill>
                <a:latin typeface="Arial"/>
              </a:rPr>
              <a:t>Forums: </a:t>
            </a:r>
            <a:r>
              <a:rPr lang="en-US" sz="900">
                <a:solidFill>
                  <a:srgbClr val="2C3E50"/>
                </a:solidFill>
                <a:latin typeface="Arial"/>
              </a:rPr>
              <a:t>DTO Project Committee · Replenishment Meeting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43264"/>
            <a:ext cx="1124712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Rectangle 23"/>
          <p:cNvSpPr/>
          <p:nvPr/>
        </p:nvSpPr>
        <p:spPr>
          <a:xfrm>
            <a:off x="457200" y="2643264"/>
            <a:ext cx="11247120" cy="320040"/>
          </a:xfrm>
          <a:prstGeom prst="rect">
            <a:avLst/>
          </a:prstGeom>
          <a:solidFill>
            <a:srgbClr val="E8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rial"/>
              </a:rPr>
              <a:t>Level 2 — Project Kanban (Execution)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00902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lang="en-US" sz="900"/>
              <a:t>Pull-based execution. WIP limits enforced. QA pulls from Dev immediately. Definition of Done required.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74784"/>
            <a:ext cx="2066544" cy="274320"/>
          </a:xfrm>
          <a:prstGeom prst="rect">
            <a:avLst/>
          </a:prstGeom>
          <a:solidFill>
            <a:srgbClr val="FBEDDF"/>
          </a:solidFill>
          <a:ln w="6350">
            <a:solidFill>
              <a:srgbClr val="E8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E88B30"/>
                </a:solidFill>
                <a:latin typeface="Arial"/>
              </a:defRPr>
            </a:pPr>
            <a:r>
              <a:rPr lang="en-US" sz="900"/>
              <a:t>Backlog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6911" y="338113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E88B30"/>
                </a:solidFill>
                <a:latin typeface="Arial"/>
              </a:defRPr>
            </a:pPr>
            <a:r>
              <a:rPr lang="en-US" sz="1100"/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43784" y="3374784"/>
            <a:ext cx="2066544" cy="274320"/>
          </a:xfrm>
          <a:prstGeom prst="rect">
            <a:avLst/>
          </a:prstGeom>
          <a:solidFill>
            <a:srgbClr val="FBEDDF"/>
          </a:solidFill>
          <a:ln w="6350">
            <a:solidFill>
              <a:srgbClr val="E8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E88B30"/>
                </a:solidFill>
                <a:latin typeface="Arial"/>
              </a:defRPr>
            </a:pPr>
            <a:r>
              <a:rPr lang="en-US" sz="900"/>
              <a:t>In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0615" y="338113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E88B30"/>
                </a:solidFill>
                <a:latin typeface="Arial"/>
              </a:defRPr>
            </a:pPr>
            <a:r>
              <a:rPr lang="en-US" sz="1100"/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7488" y="3374784"/>
            <a:ext cx="2066544" cy="274320"/>
          </a:xfrm>
          <a:prstGeom prst="rect">
            <a:avLst/>
          </a:prstGeom>
          <a:solidFill>
            <a:srgbClr val="FBEDDF"/>
          </a:solidFill>
          <a:ln w="6350">
            <a:solidFill>
              <a:srgbClr val="E8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E88B30"/>
                </a:solidFill>
                <a:latin typeface="Arial"/>
              </a:defRPr>
            </a:pPr>
            <a:r>
              <a:rPr lang="en-US" sz="900"/>
              <a:t>QA / Peer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4319" y="338113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E88B30"/>
                </a:solidFill>
                <a:latin typeface="Arial"/>
              </a:defRPr>
            </a:pPr>
            <a:r>
              <a:rPr lang="en-US" sz="1100"/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3374784"/>
            <a:ext cx="2066544" cy="274320"/>
          </a:xfrm>
          <a:prstGeom prst="rect">
            <a:avLst/>
          </a:prstGeom>
          <a:solidFill>
            <a:srgbClr val="FBEDDF"/>
          </a:solidFill>
          <a:ln w="6350">
            <a:solidFill>
              <a:srgbClr val="E8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E88B30"/>
                </a:solidFill>
                <a:latin typeface="Arial"/>
              </a:defRPr>
            </a:pPr>
            <a:r>
              <a:rPr lang="en-US" sz="900"/>
              <a:t>UAT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8023" y="3381139"/>
            <a:ext cx="325731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E88B30"/>
                </a:solidFill>
                <a:latin typeface="Arial"/>
              </a:defRPr>
            </a:pPr>
            <a:r>
              <a:rPr lang="en-US" sz="1100"/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4896" y="3374784"/>
            <a:ext cx="2066544" cy="274320"/>
          </a:xfrm>
          <a:prstGeom prst="rect">
            <a:avLst/>
          </a:prstGeom>
          <a:solidFill>
            <a:srgbClr val="FBEDDF"/>
          </a:solidFill>
          <a:ln w="6350">
            <a:solidFill>
              <a:srgbClr val="E8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E88B30"/>
                </a:solidFill>
                <a:latin typeface="Arial"/>
              </a:defRPr>
            </a:pPr>
            <a:r>
              <a:rPr lang="en-US" sz="900"/>
              <a:t>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694824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7F8C8D"/>
                </a:solidFill>
                <a:latin typeface="Arial"/>
              </a:rPr>
              <a:t>Swimlanes: </a:t>
            </a:r>
            <a:r>
              <a:rPr lang="en-US" sz="900">
                <a:solidFill>
                  <a:srgbClr val="2C3E50"/>
                </a:solidFill>
                <a:latin typeface="Arial"/>
              </a:rPr>
              <a:t>Build 60% · BAU 25% · Upgrades 15%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042296"/>
            <a:ext cx="11027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EAB308"/>
                </a:solidFill>
                <a:latin typeface="Arial"/>
              </a:rPr>
              <a:t>Forums: </a:t>
            </a:r>
            <a:r>
              <a:rPr lang="en-US" sz="900">
                <a:solidFill>
                  <a:srgbClr val="2C3E50"/>
                </a:solidFill>
                <a:latin typeface="Arial"/>
              </a:rPr>
              <a:t>Daily Flow Review · Retrospective / Kaizen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72064"/>
            <a:ext cx="162736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6B08"/>
                </a:solidFill>
                <a:latin typeface="Arial"/>
              </a:defRPr>
            </a:pPr>
            <a:r>
              <a:rPr lang="en-US" sz="1100"/>
              <a:t>E2E Lifecycle Phases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746384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9" name="Rectangle 38"/>
          <p:cNvSpPr/>
          <p:nvPr/>
        </p:nvSpPr>
        <p:spPr>
          <a:xfrm>
            <a:off x="457200" y="4746384"/>
            <a:ext cx="2708910" cy="256032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lang="en-US" sz="1000"/>
              <a:t>Demand Intake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5038992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lang="en-US" sz="900"/>
              <a:t>Jira Ticket (standardized) · Class of Service · Triage · DoR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549619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EAB308"/>
                </a:solidFill>
                <a:latin typeface="Arial"/>
              </a:rPr>
              <a:t>Gate: </a:t>
            </a:r>
            <a:r>
              <a:rPr lang="en-US" sz="900">
                <a:solidFill>
                  <a:srgbClr val="2C3E50"/>
                </a:solidFill>
                <a:latin typeface="Arial"/>
              </a:rPr>
              <a:t>Definition of Ready met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52589" y="5095415"/>
            <a:ext cx="3642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D46B0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03270" y="4746384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4" name="Rectangle 43"/>
          <p:cNvSpPr/>
          <p:nvPr/>
        </p:nvSpPr>
        <p:spPr>
          <a:xfrm>
            <a:off x="3303270" y="4746384"/>
            <a:ext cx="2708910" cy="256032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lang="en-US" sz="1000"/>
              <a:t>Prioritization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6422" y="5038992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lang="en-US" sz="900"/>
              <a:t>Continuous ordering · BV × Urgency × Capacity · Pre-Estimation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6422" y="549619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EAB308"/>
                </a:solidFill>
                <a:latin typeface="Arial"/>
              </a:rPr>
              <a:t>Gate: </a:t>
            </a:r>
            <a:r>
              <a:rPr lang="en-US" sz="900">
                <a:solidFill>
                  <a:srgbClr val="2C3E50"/>
                </a:solidFill>
                <a:latin typeface="Arial"/>
              </a:rPr>
              <a:t>Prioritized Backlog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8659" y="5095415"/>
            <a:ext cx="3642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D46B0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49340" y="4746384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9" name="Rectangle 48"/>
          <p:cNvSpPr/>
          <p:nvPr/>
        </p:nvSpPr>
        <p:spPr>
          <a:xfrm>
            <a:off x="6149340" y="4746384"/>
            <a:ext cx="2708910" cy="256032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lang="en-US" sz="1000"/>
              <a:t>Delivery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22492" y="5038992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lang="en-US" sz="900"/>
              <a:t>Pull from backlog · WIP limits · QA pulls from Dev · DoD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2492" y="549619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EAB308"/>
                </a:solidFill>
                <a:latin typeface="Arial"/>
              </a:rPr>
              <a:t>Gate: </a:t>
            </a:r>
            <a:r>
              <a:rPr lang="en-US" sz="900">
                <a:solidFill>
                  <a:srgbClr val="2C3E50"/>
                </a:solidFill>
                <a:latin typeface="Arial"/>
              </a:rPr>
              <a:t>Definition of Done met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44729" y="5095415"/>
            <a:ext cx="3642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D46B0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95410" y="4746384"/>
            <a:ext cx="270891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4" name="Rectangle 53"/>
          <p:cNvSpPr/>
          <p:nvPr/>
        </p:nvSpPr>
        <p:spPr>
          <a:xfrm>
            <a:off x="8995410" y="4746384"/>
            <a:ext cx="2708910" cy="256032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lang="en-US" sz="1000"/>
              <a:t>Governance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68562" y="5038992"/>
            <a:ext cx="2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C3E50"/>
                </a:solidFill>
                <a:latin typeface="Arial"/>
              </a:defRPr>
            </a:pPr>
            <a:r>
              <a:rPr lang="en-US" sz="900"/>
              <a:t>Flow Metrics: LT, CT, Throughput, Aging · Kaizen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68562" y="5496192"/>
            <a:ext cx="2562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EAB308"/>
                </a:solidFill>
                <a:latin typeface="Arial"/>
              </a:rPr>
              <a:t>Gate: </a:t>
            </a:r>
            <a:r>
              <a:rPr lang="en-US" sz="900">
                <a:solidFill>
                  <a:srgbClr val="2C3E50"/>
                </a:solidFill>
                <a:latin typeface="Arial"/>
              </a:rPr>
              <a:t>Metrics reviewed regularly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1561A1-FAFA-5387-68C4-916C58EC78D9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6423" y="228600"/>
            <a:ext cx="105156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002060"/>
                </a:solidFill>
                <a:latin typeface="Arial"/>
              </a:defRPr>
            </a:pPr>
            <a:r>
              <a:rPr sz="2000" b="1">
                <a:solidFill>
                  <a:srgbClr val="00A443"/>
                </a:solidFill>
                <a:latin typeface="Arial"/>
              </a:rPr>
              <a:t>Existing Assets — E2E Operating Model &amp; Value Framework (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1/4</a:t>
            </a:r>
            <a:r>
              <a:rPr sz="2000" b="1">
                <a:solidFill>
                  <a:srgbClr val="00A443"/>
                </a:solidFill>
                <a:latin typeface="Arial"/>
              </a:rPr>
              <a:t>)</a:t>
            </a:r>
          </a:p>
        </p:txBody>
      </p:sp>
      <p:pic>
        <p:nvPicPr>
          <p:cNvPr id="8" name="Picture 5" descr="Avangrid - Wikipedia">
            <a:extLst>
              <a:ext uri="{FF2B5EF4-FFF2-40B4-BE49-F238E27FC236}">
                <a16:creationId xmlns:a16="http://schemas.microsoft.com/office/drawing/2014/main" id="{B3E79679-931E-DF25-32B6-98FF587DE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985" y="6372758"/>
            <a:ext cx="1379835" cy="48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NTT DATA Global Logo">
            <a:extLst>
              <a:ext uri="{FF2B5EF4-FFF2-40B4-BE49-F238E27FC236}">
                <a16:creationId xmlns:a16="http://schemas.microsoft.com/office/drawing/2014/main" id="{3760052E-A4D5-1A35-1B7F-0B00966CF14E}"/>
              </a:ext>
            </a:extLst>
          </p:cNvPr>
          <p:cNvSpPr/>
          <p:nvPr/>
        </p:nvSpPr>
        <p:spPr bwMode="black">
          <a:xfrm>
            <a:off x="11070727" y="6508881"/>
            <a:ext cx="950287" cy="212997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606E604F-F496-4448-4059-046DD83BD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286257"/>
              </p:ext>
            </p:extLst>
          </p:nvPr>
        </p:nvGraphicFramePr>
        <p:xfrm>
          <a:off x="91440" y="868680"/>
          <a:ext cx="11978640" cy="4898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7954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Deliverable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P&amp;S / P&amp;T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Digital </a:t>
                      </a:r>
                      <a:r>
                        <a:rPr sz="900" err="1"/>
                        <a:t>CoE</a:t>
                      </a:r>
                      <a:endParaRPr sz="90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Infrastructure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Renewables DTO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Digital Products (Reuse)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4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rPr sz="1000">
                          <a:latin typeface="Arial"/>
                          <a:cs typeface="Arial"/>
                        </a:rPr>
                        <a:t>E2E Operating</a:t>
                      </a:r>
                      <a:br>
                        <a:rPr sz="1000">
                          <a:latin typeface="Arial"/>
                          <a:cs typeface="Arial"/>
                        </a:rPr>
                      </a:br>
                      <a:r>
                        <a:rPr sz="1000">
                          <a:latin typeface="Arial"/>
                          <a:cs typeface="Arial"/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P&amp;S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built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a 4-phase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lifecycle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(Discovery →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Materialization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→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Creation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→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Ongoing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)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with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15+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sub-steps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mapped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E2E (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38). Governance uses 3-tier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Flight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Level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model (Portfolio →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Program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→ Project)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with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Kanban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at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each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level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(PM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Playbook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76). Phase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gates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with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entry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/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exit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criteria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(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34). Big Room Planning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quarterly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alignment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(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51). Most mature — running in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production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pt-BR"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nWOW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- New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Ways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of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Working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- P&amp;S Lean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Operating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Model 03.10.2026 v1.2.pptx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  |  </a:t>
                      </a:r>
                      <a:r>
                        <a:rPr lang="pt-BR" sz="800" b="1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. 5, 32, 34, 38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pt-BR"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[00] Project Management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Playbook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 - P&amp;S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Ways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of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Working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 10.28.25 v.1.0-2.pptx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  |  </a:t>
                      </a:r>
                      <a:r>
                        <a:rPr lang="pt-BR" sz="800" b="1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. 9, 76, 81, 85, 119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pt-BR"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[00]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Product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Discovery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Playbook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- P&amp;S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Ways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of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Working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02.03.26 v.1.3 +FIGMA.pptx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  |  </a:t>
                      </a:r>
                      <a:r>
                        <a:rPr lang="pt-BR" sz="800" b="1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.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3-tier governance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Playbook Sl. 7) with Discovery upstream before delivery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Playbook Sl. 9). Strategic Initiatives Funnel + Lean Business Case gates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Playbook Sl. 10). Discovery/Delivery as separate Kanban boards with feedback loops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Playbook Sl. 47-48). Tracks Cycle Time per phase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Playbook Sl. 41).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[12] Digital </a:t>
                      </a:r>
                      <a:r>
                        <a:rPr sz="800" u="sng" err="1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CoE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 Operating Model - Playbook - 01.05.2026 V.2.5. FINAL pptx.pptx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4, 7, 9, 10, 36, 41,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Deployment: Pilot → Expansion → Optimization (Sl. 10). Team Topologies (Sl. 29-32). Iterative: 1 pilot → learn → expand to 7+ teams (Sl. 44). Change management playbook.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8"/>
                        </a:rPr>
                        <a:t>Agile Management Model _ Proposal Avangrid Architecture V.3.1 18.01.2024 3.pptx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10, 23, 29, 31, 33, 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Lean Kanban 4-pillar model: Demand Intake → Prioritization → Delivery → Governance (DTO Sl. 5). E2E Workflow (DTO Sl. 28-30). Governance with 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DoR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/DoD, WIP limits, Class of Service 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swimlanes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(DTO Sl. 23-24). 2-level board: Epic + Project Kanban (DTO Sl. 12, 14). Pull-based. Current state diagnosis (DTO Sl. 3, 8).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9"/>
                        </a:rPr>
                        <a:t>NextGen_DTO_Deliverable1 - Final.pptx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3, 5, 8, 12, 14, 23-24, 28-30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34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rPr sz="1000">
                          <a:latin typeface="Arial"/>
                          <a:cs typeface="Arial"/>
                        </a:rPr>
                        <a:t>Value &amp;</a:t>
                      </a:r>
                      <a:br>
                        <a:rPr sz="1000">
                          <a:latin typeface="Arial"/>
                          <a:cs typeface="Arial"/>
                        </a:rPr>
                      </a:br>
                      <a:r>
                        <a:rPr sz="1000">
                          <a:latin typeface="Arial"/>
                          <a:cs typeface="Arial"/>
                        </a:rPr>
                        <a:t>Prioritization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Portfolio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Prioritization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Calculator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(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59)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with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1-10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scoring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: BV, UX,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Effort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, Skill,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Size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Formula PBI(x) = (BV+UX)/E (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77; PD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Playbook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82). Business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Value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Criteria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tied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to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Avangrid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axes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(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72).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Effort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Matrix S/M/L (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9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900">
                          <a:solidFill>
                            <a:srgbClr val="2C3E50"/>
                          </a:solidFill>
                          <a:latin typeface="Arial"/>
                        </a:rPr>
                        <a:t>. 69).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pt-BR"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nWOW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- New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Ways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of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Working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- P&amp;S Lean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Operating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Model 03.10.2026 v1.2.pptx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  |  </a:t>
                      </a:r>
                      <a:r>
                        <a:rPr lang="pt-BR" sz="800" b="1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. 35, 42, 59, 69, 71, 77, 85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pt-BR"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[00]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Product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Discovery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Playbook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- P&amp;S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Ways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of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Working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02.03.26 v.1.3 +FIGMA.pptx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  |  </a:t>
                      </a:r>
                      <a:r>
                        <a:rPr lang="pt-BR" sz="800" b="1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. 82, 103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pt-BR"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BRP_Q2_2026_P&amp;S Networks IT - New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Ways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of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 </a:t>
                      </a:r>
                      <a:r>
                        <a:rPr lang="pt-BR" sz="800" u="sng" err="1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Working</a:t>
                      </a:r>
                      <a:r>
                        <a:rPr lang="pt-BR" sz="8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 - v1.4.4 03.09.2026.pptx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  |  </a:t>
                      </a:r>
                      <a:r>
                        <a:rPr lang="pt-BR" sz="800" b="1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 b="1">
                          <a:solidFill>
                            <a:srgbClr val="2C3E50"/>
                          </a:solidFill>
                          <a:latin typeface="Arial"/>
                        </a:rPr>
                        <a:t>. 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Same PBI(x) = (BV+UX)/E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Playbook Sl. 84) + HEVA cycle (Agility Playbook Sl. 57). COORG method (Agility Playbook Sl. 78). Planning Poker (Agility Playbook Sl. 79). Prioritizes at backlog level vs P&amp;S portfolio level.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[12] Digital </a:t>
                      </a:r>
                      <a:r>
                        <a:rPr sz="800" u="sng" err="1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CoE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 Operating Model - Playbook - 01.05.2026 V.2.5. FINAL pptx.pptx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83, 84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11"/>
                        </a:rPr>
                        <a:t>[17] Agility Playbook - Digital Center of Excellence 06.18.2025 V.1.7.pptx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51, 57, 78, 79, 82, 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i="1">
                          <a:solidFill>
                            <a:srgbClr val="95A5A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Continuous backlog prioritization (DTO Sl. 21). Scoring: business value, urgency, capacity (DTO Sl. 38). Prioritized Backlog single queue (DTO Sl. 22). Capacity Allocation: Build 60%, BAU 25%, Upgrades 15% (DTO Sl. 39). Current state: no criteria (DTO Sl. 7).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9"/>
                        </a:rPr>
                        <a:t>NextGen_DTO_Deliverable1 - Final.pptx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7, 21, 22, 36, 38, 39, 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D99CC36-40C6-3E96-C921-79D2E0AC8DAB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930186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160" y="202474"/>
            <a:ext cx="105156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002060"/>
                </a:solidFill>
                <a:latin typeface="Arial"/>
              </a:defRPr>
            </a:pPr>
            <a:r>
              <a:rPr sz="2000" b="1">
                <a:solidFill>
                  <a:srgbClr val="00A443"/>
                </a:solidFill>
                <a:latin typeface="Arial"/>
              </a:rPr>
              <a:t>Existing Assets — Demand Intake &amp; Roles / RACI (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2/4</a:t>
            </a:r>
            <a:r>
              <a:rPr sz="2000" b="1">
                <a:solidFill>
                  <a:srgbClr val="00A443"/>
                </a:solidFill>
                <a:latin typeface="Arial"/>
              </a:rPr>
              <a:t>)</a:t>
            </a:r>
          </a:p>
        </p:txBody>
      </p:sp>
      <p:pic>
        <p:nvPicPr>
          <p:cNvPr id="8" name="Picture 5" descr="Avangrid - Wikipedia">
            <a:extLst>
              <a:ext uri="{FF2B5EF4-FFF2-40B4-BE49-F238E27FC236}">
                <a16:creationId xmlns:a16="http://schemas.microsoft.com/office/drawing/2014/main" id="{633A8482-B6FA-90DB-6B04-0C753056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985" y="6372758"/>
            <a:ext cx="1379835" cy="48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NTT DATA Global Logo">
            <a:extLst>
              <a:ext uri="{FF2B5EF4-FFF2-40B4-BE49-F238E27FC236}">
                <a16:creationId xmlns:a16="http://schemas.microsoft.com/office/drawing/2014/main" id="{D9ED38C3-0127-EEF2-A908-61717DBDFC34}"/>
              </a:ext>
            </a:extLst>
          </p:cNvPr>
          <p:cNvSpPr/>
          <p:nvPr/>
        </p:nvSpPr>
        <p:spPr bwMode="black">
          <a:xfrm>
            <a:off x="11070727" y="6508881"/>
            <a:ext cx="950287" cy="212997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D66629F7-9FDA-91A7-1253-13557B755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585957"/>
              </p:ext>
            </p:extLst>
          </p:nvPr>
        </p:nvGraphicFramePr>
        <p:xfrm>
          <a:off x="91440" y="868680"/>
          <a:ext cx="11978640" cy="419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177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Deliverable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P&amp;S / P&amp;T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Digital </a:t>
                      </a:r>
                      <a:r>
                        <a:rPr sz="900" err="1"/>
                        <a:t>CoE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Infrastructure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Renewables DTO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Digital Products (Reuse)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4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rPr sz="1000">
                          <a:latin typeface="Arial"/>
                          <a:cs typeface="Arial"/>
                        </a:rPr>
                        <a:t>Demand Typology</a:t>
                      </a:r>
                      <a:br>
                        <a:rPr sz="1000">
                          <a:latin typeface="Arial"/>
                          <a:cs typeface="Arial"/>
                        </a:rPr>
                      </a:br>
                      <a:r>
                        <a:rPr sz="1000">
                          <a:latin typeface="Arial"/>
                          <a:cs typeface="Arial"/>
                        </a:rPr>
                        <a:t>&amp; 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Portfolio Framework &amp; Demand Funnel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Sl. 35) with 3 sources. Lean Portfolio Funnel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Sl. 42). Portfolio Kanban 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swimlanes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Sl. 79). Shark Tank triage (PM Playbook Sl. 72). Portfolio Committee (PD Playbook Sl. 88).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 err="1">
                          <a:solidFill>
                            <a:srgbClr val="0072BC"/>
                          </a:solidFill>
                          <a:latin typeface="Arial"/>
                          <a:hlinkClick r:id="rId3"/>
                        </a:rPr>
                        <a:t>nWOW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3"/>
                        </a:rPr>
                        <a:t> - New Ways of Working - P&amp;S Lean Operating Model 03.10.2026 v1.2.pptx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35, 42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[00] Project Management Playbook - P&amp;S Ways of Working 10.28.25 v.1.0-2.pptx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72, 84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[00] Product Discovery Playbook - P&amp;S Ways of Working 02.03.26 v.1.3 +FIGMA.pptx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2C3E50"/>
                          </a:solidFill>
                          <a:latin typeface="Arial"/>
                        </a:rPr>
                        <a:t>Agile Portfolio Funnel (</a:t>
                      </a:r>
                      <a:r>
                        <a:rPr sz="900" dirty="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 dirty="0">
                          <a:solidFill>
                            <a:srgbClr val="2C3E50"/>
                          </a:solidFill>
                          <a:latin typeface="Arial"/>
                        </a:rPr>
                        <a:t> Playbook Sl. 32): Shark Tank → Think Tank → Biz Tank. Portfolio Management Team (</a:t>
                      </a:r>
                      <a:r>
                        <a:rPr sz="900" dirty="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 dirty="0">
                          <a:solidFill>
                            <a:srgbClr val="2C3E50"/>
                          </a:solidFill>
                          <a:latin typeface="Arial"/>
                        </a:rPr>
                        <a:t> Playbook Sl. 33). Lean Business Case gate (</a:t>
                      </a:r>
                      <a:r>
                        <a:rPr sz="900" dirty="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 dirty="0">
                          <a:solidFill>
                            <a:srgbClr val="2C3E50"/>
                          </a:solidFill>
                          <a:latin typeface="Arial"/>
                        </a:rPr>
                        <a:t> Playbook Sl. 11). No demand typology.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 dirty="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 dirty="0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[12] Digital </a:t>
                      </a:r>
                      <a:r>
                        <a:rPr sz="800" u="sng" dirty="0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CoE</a:t>
                      </a:r>
                      <a:r>
                        <a:rPr sz="800" u="sng" dirty="0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Operating Model - Playbook - 01.05.2026 V.2.5. FINAL pptx.pptx</a:t>
                      </a:r>
                      <a:r>
                        <a:rPr sz="800" b="1" dirty="0">
                          <a:solidFill>
                            <a:srgbClr val="2C3E50"/>
                          </a:solidFill>
                          <a:latin typeface="Arial"/>
                        </a:rPr>
                        <a:t>  |  Sl. 9, 10, 11, 32, 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i="1">
                          <a:solidFill>
                            <a:srgbClr val="95A5A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Most operational intake. Jira-only entry (DTO Sl. 19). Standardized form (DTO Sl. 20). Class of Service: Standard, Expedite, Fixed Date, Intangible (DTO Sl. 5). Work types: BAU, Build, Upgrades (DTO Sl. 20). Triage: accept/clarify/reject (DTO Sl. 35). 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DoR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gate (DTO Sl. 19).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NextGen_DTO_Deliverable1 - Final.pptx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5, 6, 19, 20, 32, 33, 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34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rPr sz="1000">
                          <a:latin typeface="Arial"/>
                          <a:cs typeface="Arial"/>
                        </a:rPr>
                        <a:t>Roles &amp;</a:t>
                      </a:r>
                      <a:br>
                        <a:rPr sz="1000">
                          <a:latin typeface="Arial"/>
                          <a:cs typeface="Arial"/>
                        </a:rPr>
                      </a:br>
                      <a:r>
                        <a:rPr sz="1000">
                          <a:latin typeface="Arial"/>
                          <a:cs typeface="Arial"/>
                        </a:rPr>
                        <a:t>RACI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RACI templates (PM Playbook Sl. 125-130) in 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Confluence+Jira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. PM Role per phase (PM Playbook Sl. 105). Stakeholder Mapping (PM Playbook Sl. 115-117). Resource Planning (PM Playbook Sl. 121-123). Crew: PO/SM/Dev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Sl. 34). Flight Levels (PM Playbook Sl. 76).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[00] Project Management Playbook - P&amp;S Ways of Working 10.28.25 v.1.0-2.pptx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115, 116, 126, 127, 128, 129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 err="1">
                          <a:solidFill>
                            <a:srgbClr val="0072BC"/>
                          </a:solidFill>
                          <a:latin typeface="Arial"/>
                          <a:hlinkClick r:id="rId3"/>
                        </a:rPr>
                        <a:t>nWOW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3"/>
                        </a:rPr>
                        <a:t> - New Ways of Working - P&amp;S Lean Operating Model 03.10.2026 v1.2.pptx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Roles via Scrum events (Agility Playbook Sl. 20). Agile Master + hygiene checklist (Agility Playbook Sl. 94). Discovery workflow roles (Agility Playbook Sl. 43-44). SEAL-SIX team composition (NTTDATA Sl. 10). No RACI.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8"/>
                        </a:rPr>
                        <a:t>[17] Agility Playbook - Digital Center of Excellence 06.18.2025 V.1.7.pptx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20, 43, 94, 95, 98, 99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9"/>
                        </a:rPr>
                        <a:t>NTTDATA-Digital Strategy - NextGen </a:t>
                      </a:r>
                      <a:r>
                        <a:rPr sz="800" u="sng" err="1">
                          <a:solidFill>
                            <a:srgbClr val="0072BC"/>
                          </a:solidFill>
                          <a:latin typeface="Arial"/>
                          <a:hlinkClick r:id="rId9"/>
                        </a:rPr>
                        <a:t>Produc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9"/>
                        </a:rPr>
                        <a:t> Ops Org Design SEAL-SIX Model v.1.7 06.29.pptx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Team Topologies (Sl. 29-32): 4 types, 3 interaction modes. Defines structural relationships. Digital Products as Platform Team providing X-as-a-Service.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Agile Management Model _ Proposal Avangrid Architecture V.3.1 18.01.2024 3.pptx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25, 29, 30, 31, 32, 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Roles per Kanban stage (DTO Sl. 17): Backlog → PO, In Progress → Dev, QA → QA Lead, Done → PO validation. Kanban Lead: cadences, blockers, flow (DTO Sl. 30). DTO Project Committee (DTO Sl. 12, 13).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NextGen_DTO_Deliverable1 - Final.pptx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12, 13, 17, 30, 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900" dirty="0"/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FD77203-ECC9-680C-AF2C-82F5F6236391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160" y="176349"/>
            <a:ext cx="105156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002060"/>
                </a:solidFill>
                <a:latin typeface="Arial"/>
              </a:defRPr>
            </a:pPr>
            <a:r>
              <a:rPr sz="2000" b="1">
                <a:solidFill>
                  <a:srgbClr val="00A443"/>
                </a:solidFill>
                <a:latin typeface="Arial"/>
              </a:rPr>
              <a:t>Existing Assets — Tool Ecosystem &amp; Portfolio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, Baseline &amp; </a:t>
            </a:r>
            <a:r>
              <a:rPr lang="pt-BR" sz="2000" b="1" err="1">
                <a:solidFill>
                  <a:srgbClr val="00A443"/>
                </a:solidFill>
                <a:latin typeface="Arial"/>
              </a:rPr>
              <a:t>Demand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 Map (3/4</a:t>
            </a:r>
            <a:r>
              <a:rPr sz="2000" b="1">
                <a:solidFill>
                  <a:srgbClr val="00A443"/>
                </a:solidFill>
                <a:latin typeface="Arial"/>
              </a:rPr>
              <a:t>)</a:t>
            </a:r>
          </a:p>
        </p:txBody>
      </p:sp>
      <p:pic>
        <p:nvPicPr>
          <p:cNvPr id="8" name="Picture 5" descr="Avangrid - Wikipedia">
            <a:extLst>
              <a:ext uri="{FF2B5EF4-FFF2-40B4-BE49-F238E27FC236}">
                <a16:creationId xmlns:a16="http://schemas.microsoft.com/office/drawing/2014/main" id="{5F50F6B5-2198-389E-111D-B83C96C08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985" y="6372758"/>
            <a:ext cx="1379835" cy="48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NTT DATA Global Logo">
            <a:extLst>
              <a:ext uri="{FF2B5EF4-FFF2-40B4-BE49-F238E27FC236}">
                <a16:creationId xmlns:a16="http://schemas.microsoft.com/office/drawing/2014/main" id="{4B8ADADA-9771-645D-5FF8-75DEB581A727}"/>
              </a:ext>
            </a:extLst>
          </p:cNvPr>
          <p:cNvSpPr/>
          <p:nvPr/>
        </p:nvSpPr>
        <p:spPr bwMode="black">
          <a:xfrm>
            <a:off x="11070727" y="6508881"/>
            <a:ext cx="950287" cy="212997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07958774-FE63-B59C-C19F-48C9B9A22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382464"/>
              </p:ext>
            </p:extLst>
          </p:nvPr>
        </p:nvGraphicFramePr>
        <p:xfrm>
          <a:off x="91440" y="868680"/>
          <a:ext cx="11978633" cy="5561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4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15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9401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Deliverable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P&amp;S / P&amp;T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Digital </a:t>
                      </a:r>
                      <a:r>
                        <a:rPr sz="900" err="1"/>
                        <a:t>CoE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Infrastructure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Renewables DTO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Digital Products (Reuse)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4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rPr sz="1000">
                          <a:latin typeface="Arial"/>
                          <a:cs typeface="Arial"/>
                        </a:rPr>
                        <a:t>Tool Ecosystem</a:t>
                      </a:r>
                      <a:br>
                        <a:rPr sz="1000">
                          <a:latin typeface="Arial"/>
                          <a:cs typeface="Arial"/>
                        </a:rPr>
                      </a:br>
                      <a:r>
                        <a:rPr sz="1000">
                          <a:latin typeface="Arial"/>
                          <a:cs typeface="Arial"/>
                        </a:rPr>
                        <a:t>&amp; Jira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Jira Kanban Workflows (PM Playbook Sl. 88). Issue Hierarchy: Initiative → Epic → Story → Task (PM Playbook Sl. 92). Board configs (PM Playbook Sl. 101-104). Health dashboards (PM Playbook Sl. 92, 142). Admin permissions (PM Playbook Sl. 97-100).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[00] Project Management Playbook - P&amp;S Ways of Working 10.28.25 v.1.0-2.pptx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82, 88, 91, 93, 95, 97,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CX JIRA Playbook (41p): board design, filters, fields, workflows, burndown. NextGen Jira: portfolio config (Sl. 8), roadmap-backlog (Sl. 6-7). Separate Discovery/Delivery boards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Playbook Sl. 47-48). 8 stage-gate Portfolio Kanban (</a:t>
                      </a:r>
                      <a:r>
                        <a:rPr sz="9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 Playbook Sl. 26-27).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[CX] JIRA Agile Management Playbook - Center of Excellence 25.03.2024 V.1.0.pdf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Full (41p)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[33] NextGen 2.0 - Jira Management User Guide for CX </a:t>
                      </a:r>
                      <a:r>
                        <a:rPr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Digitall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</a:t>
                      </a:r>
                      <a:r>
                        <a:rPr sz="800" u="sng" err="1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CoE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 27.06.2024.pptx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4, 6, 7, 8, 9, 21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[12] Digital </a:t>
                      </a:r>
                      <a:r>
                        <a:rPr sz="800" u="sng" err="1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CoE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 Operating Model - Playbook - 01.05.2026 V.2.5. FINAL pptx.pptx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26-27, 47-48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TPO FLOW JIRA Training: board creation (Sl. 6), filters (Sl. 12), Epics (Sl. 14). Onboarding resource.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8"/>
                        </a:rPr>
                        <a:t>TPO FLOW Project - JIRA Training Guide 05-13-2025.pptx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1, 6, 10, 11, 12</a:t>
                      </a: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endParaRPr lang="pt-BR" sz="800" b="1">
                        <a:solidFill>
                          <a:srgbClr val="2C3E50"/>
                        </a:solidFill>
                        <a:latin typeface="Arial"/>
                      </a:endParaRP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endParaRPr lang="pt-BR" sz="800" b="1">
                        <a:solidFill>
                          <a:srgbClr val="2C3E5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  <a:latin typeface="Arial"/>
                        </a:rPr>
                        <a:t>Jira single source of truth (DTO Sl. 19). 2-level board: Level 1 Epic Kanban by business area (DTO Sl. 12), Level 2 Project Kanban (DTO Sl. 14). Fields per issue type (DTO Sl. 14). Flow Metrics Dashboard (DTO Sl. 49). Blocker Tracker (DTO Sl. 47).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8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800" u="sng">
                          <a:solidFill>
                            <a:srgbClr val="0072BC"/>
                          </a:solidFill>
                          <a:latin typeface="Arial"/>
                          <a:hlinkClick r:id="rId9"/>
                        </a:rPr>
                        <a:t>NextGen_DTO_Deliverable1 - Final.pptx</a:t>
                      </a:r>
                      <a:r>
                        <a:rPr sz="800" b="1">
                          <a:solidFill>
                            <a:srgbClr val="2C3E50"/>
                          </a:solidFill>
                          <a:latin typeface="Arial"/>
                        </a:rPr>
                        <a:t>  |  Sl. 5, 12, 14, 27, 28, 47, 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345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Portfolio, Baseline</a:t>
                      </a:r>
                      <a:br>
                        <a:rPr lang="en-US" sz="1000" b="0" i="0" u="none" strike="noStrike" noProof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</a:br>
                      <a:r>
                        <a:rPr lang="en-US" sz="1000" b="0" i="0" u="none" strike="noStrike" noProof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&amp; Demand Map</a:t>
                      </a:r>
                      <a:endParaRPr lang="pt-BR" sz="1000" b="0">
                        <a:latin typeface="Arial"/>
                        <a:cs typeface="Arial"/>
                      </a:endParaRPr>
                    </a:p>
                    <a:p>
                      <a:pPr lvl="0">
                        <a:buNone/>
                        <a:defRPr sz="8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Portfolio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Kanban 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swimlanes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: High Risks, High Value, Regulatory, OKRs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Sl. 79). Flight Levels (PM Playbook Sl. 76). Big Room Planning quarterly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Sl. 51). Estimation Logic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Sl. 69-71). Program Kanban with WIP (PM Playbook Sl. 78).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 err="1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nWOW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 - New Ways of Working - P&amp;S Lean Operating Model 03.10.2026 v1.2.pptx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32, 54, 78, 79</a:t>
                      </a:r>
                    </a:p>
                    <a:p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[00] Project Management Playbook - P&amp;S Ways of Working 10.28.25 v.1.0-2.pptx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69, 76, 77, 78, 80</a:t>
                      </a:r>
                      <a:br>
                        <a:rPr lang="pt-BR" sz="700" b="1">
                          <a:solidFill>
                            <a:srgbClr val="2C3E50"/>
                          </a:solidFill>
                          <a:latin typeface="Arial"/>
                        </a:rPr>
                      </a:br>
                      <a:br>
                        <a:rPr lang="pt-BR" sz="700" b="1">
                          <a:solidFill>
                            <a:srgbClr val="2C3E50"/>
                          </a:solidFill>
                          <a:latin typeface="Arial"/>
                        </a:rPr>
                      </a:br>
                      <a:r>
                        <a:rPr lang="en-US" sz="800" b="0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Discovery methodology (PD Playbook Sl. 22): research, observations, pain points, journey mapping, SIPOC. Demand Funnel (</a:t>
                      </a:r>
                      <a:r>
                        <a:rPr lang="en-US" sz="800" b="0" i="0" u="none" strike="noStrike" noProof="0" err="1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nWOW</a:t>
                      </a:r>
                      <a:r>
                        <a:rPr lang="en-US" sz="800" b="0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Sl. 42). Upstream-Downstream workflow (PM Playbook Sl. 83-84). Methodology, not ready-made baseline.</a:t>
                      </a: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 b="0" i="0" u="none" strike="noStrike" noProof="0">
                          <a:solidFill>
                            <a:srgbClr val="7F8C8D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700" b="0" i="0" u="none" strike="noStrike" noProof="0" err="1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10"/>
                        </a:rPr>
                        <a:t>nWOW</a:t>
                      </a:r>
                      <a:r>
                        <a:rPr lang="en-US" sz="700" b="0" i="0" u="none" strike="noStrike" noProof="0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10"/>
                        </a:rPr>
                        <a:t> - New Ways of Working - P&amp;S Lean Operating Model 03.10.2026 v1.2.pptx</a:t>
                      </a:r>
                      <a:r>
                        <a:rPr lang="en-US" sz="700" b="1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| Sl. 42</a:t>
                      </a:r>
                      <a:endParaRPr lang="en-US" sz="7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 b="0" i="0" u="none" strike="noStrike" noProof="0">
                          <a:solidFill>
                            <a:srgbClr val="7F8C8D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700" b="0" i="0" u="none" strike="noStrike" noProof="0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11"/>
                        </a:rPr>
                        <a:t>[00] Product Discovery Playbook - P&amp;S Ways of Working 02.03.26 v.1.3 +FIGMA.pptx</a:t>
                      </a:r>
                      <a:r>
                        <a:rPr lang="en-US" sz="700" b="1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| Sl. 13, 22, 51, 84</a:t>
                      </a:r>
                      <a:endParaRPr lang="en-US" sz="7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 b="0" i="0" u="none" strike="noStrike" noProof="0">
                          <a:solidFill>
                            <a:srgbClr val="7F8C8D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700" b="0" i="0" u="none" strike="noStrike" noProof="0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4"/>
                        </a:rPr>
                        <a:t>[00] Project Management Playbook - P&amp;S Ways of Working 10.28.25 v.1.0-2.pptx</a:t>
                      </a:r>
                      <a:r>
                        <a:rPr lang="en-US" sz="700" b="1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| Sl. 83, 84</a:t>
                      </a:r>
                      <a:endParaRPr sz="7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Portfolio Learn Cycle quarterly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Playbook Sl. 73). Architecture 4 cycles/year + Strategy Workshops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Playbook Sl. 102). Metrics: ILt, 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RpI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, Lean Radar, Strategic Theme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Playbook Sl. 89, 93). PPM: OKR, Roadmap, Pull System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Playbook Sl. 100).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[12] Digital </a:t>
                      </a:r>
                      <a:r>
                        <a:rPr sz="700" u="sng" err="1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CoE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 Operating Model - Playbook - 01.05.2026 V.2.5. FINAL pptx.pptx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59, 60, 67, 72, 73, 80, 93, 100, 102</a:t>
                      </a: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endParaRPr lang="pt-BR" sz="700" b="1">
                        <a:solidFill>
                          <a:srgbClr val="2C3E5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n-US" sz="800" b="0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Demand mapping at portfolio level (</a:t>
                      </a:r>
                      <a:r>
                        <a:rPr lang="en-US" sz="800" b="0" i="0" u="none" strike="noStrike" noProof="0" err="1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CoE</a:t>
                      </a:r>
                      <a:r>
                        <a:rPr lang="en-US" sz="800" b="0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Playbook Sl. 32). PMT triage (</a:t>
                      </a:r>
                      <a:r>
                        <a:rPr lang="en-US" sz="800" b="0" i="0" u="none" strike="noStrike" noProof="0" err="1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CoE</a:t>
                      </a:r>
                      <a:r>
                        <a:rPr lang="en-US" sz="800" b="0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Playbook Sl. 33). Portfolio Metrics (</a:t>
                      </a:r>
                      <a:r>
                        <a:rPr lang="en-US" sz="800" b="0" i="0" u="none" strike="noStrike" noProof="0" err="1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CoE</a:t>
                      </a:r>
                      <a:r>
                        <a:rPr lang="en-US" sz="800" b="0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Playbook Sl. 79, 93). Quarterly Results (</a:t>
                      </a:r>
                      <a:r>
                        <a:rPr lang="en-US" sz="800" b="0" i="0" u="none" strike="noStrike" noProof="0" err="1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CoE</a:t>
                      </a:r>
                      <a:r>
                        <a:rPr lang="en-US" sz="800" b="0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Playbook Sl. 60). Governance, not diagnosis.</a:t>
                      </a: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 b="0" i="0" u="none" strike="noStrike" noProof="0">
                          <a:solidFill>
                            <a:srgbClr val="7F8C8D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700" b="0" i="0" u="none" strike="noStrike" noProof="0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7"/>
                        </a:rPr>
                        <a:t>[12] Digital </a:t>
                      </a:r>
                      <a:r>
                        <a:rPr lang="en-US" sz="700" b="0" i="0" u="none" strike="noStrike" noProof="0" err="1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7"/>
                        </a:rPr>
                        <a:t>CoE</a:t>
                      </a:r>
                      <a:r>
                        <a:rPr lang="en-US" sz="700" b="0" i="0" u="none" strike="noStrike" noProof="0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7"/>
                        </a:rPr>
                        <a:t> Operating Model - Playbook - 01.05.2026 V.2.5. FINAL pptx.pptx</a:t>
                      </a:r>
                      <a:r>
                        <a:rPr lang="en-US" sz="700" b="1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| Sl. 32, 33, 73, 79, 80, 102</a:t>
                      </a:r>
                      <a:endParaRPr lang="pt-BR" sz="7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Portfolio Roadmap E2E (Sl. 38). Per-unit-served Investment Model for OPCO cost allocation (Avangrid Sl. 51-54). Phased rollout governance (Avangrid Sl. 46).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12"/>
                        </a:rPr>
                        <a:t>Agile Management Model _ Proposal Avangrid Architecture V.3.1 18.01.2024 3.pptx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10, 15, 23, 37, 38, 46</a:t>
                      </a: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endParaRPr lang="pt-BR" sz="700" b="1">
                        <a:solidFill>
                          <a:srgbClr val="2C3E5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n-US" sz="800" b="0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Project Book Template (Project Book Sl. 1-2): Discover → Build → Operate. Blueprint Design (Sl. 36). Reusable for baseline documentation.</a:t>
                      </a: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 b="0" i="0" u="none" strike="noStrike" noProof="0">
                          <a:solidFill>
                            <a:srgbClr val="7F8C8D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700" b="0" i="0" u="none" strike="noStrike" noProof="0" err="1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13"/>
                        </a:rPr>
                        <a:t>Project_Book_Avangrid_Template</a:t>
                      </a:r>
                      <a:r>
                        <a:rPr lang="en-US" sz="700" b="0" i="0" u="none" strike="noStrike" noProof="0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13"/>
                        </a:rPr>
                        <a:t> v1.0.pptx</a:t>
                      </a:r>
                      <a:r>
                        <a:rPr lang="en-US" sz="700" b="1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| Sl. 1, 2, 10</a:t>
                      </a:r>
                      <a:endParaRPr lang="en-US" sz="7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 b="0" i="0" u="none" strike="noStrike" noProof="0">
                          <a:solidFill>
                            <a:srgbClr val="7F8C8D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700" b="0" i="0" u="none" strike="noStrike" noProof="0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12"/>
                        </a:rPr>
                        <a:t>Agile Management Model _ Proposal Avangrid Architecture V.3.1 18.01.2024 3.pptx</a:t>
                      </a:r>
                      <a:r>
                        <a:rPr lang="en-US" sz="700" b="1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| Sl. 16, 36</a:t>
                      </a:r>
                      <a:endParaRPr lang="pt-BR" sz="7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Compass Portfolio Management Model (DTO Sl. 13): E2E flow idea → committee → delivery. Level 1 Epic Kanban strategy-to-execution (DTO Sl. 12). Governance pillar: cadences + flow monitoring (DTO Sl. 48).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9"/>
                        </a:rPr>
                        <a:t>NextGen_DTO_Deliverable1 - Final.pptx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12, 13, 48</a:t>
                      </a: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endParaRPr lang="pt-BR" sz="700" b="1">
                        <a:solidFill>
                          <a:srgbClr val="2C3E5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n-US" sz="800" b="0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The DTO deliverable IS a baseline: exec summary (DTO Sl. 3) + findings per pillar: Intake fragmented (DTO Sl. 6), Prioritization reactive (DTO Sl. 7), Governance informal (DTO Sl. 8). Demand classification: Class of Service + Work Types (DTO Sl. 5, 20). Most complete diagnosis.</a:t>
                      </a: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 b="0" i="0" u="none" strike="noStrike" noProof="0">
                          <a:solidFill>
                            <a:srgbClr val="7F8C8D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700" b="0" i="0" u="none" strike="noStrike" noProof="0">
                          <a:solidFill>
                            <a:srgbClr val="0072BC"/>
                          </a:solidFill>
                          <a:latin typeface="Arial"/>
                          <a:cs typeface="Arial"/>
                          <a:hlinkClick r:id="rId9"/>
                        </a:rPr>
                        <a:t>NextGen_DTO_Deliverable1 - Final.pptx</a:t>
                      </a:r>
                      <a:r>
                        <a:rPr lang="en-US" sz="700" b="1" i="0" u="none" strike="noStrike" noProof="0">
                          <a:solidFill>
                            <a:srgbClr val="2C3E50"/>
                          </a:solidFill>
                          <a:latin typeface="Arial"/>
                          <a:cs typeface="Arial"/>
                        </a:rPr>
                        <a:t> | Sl. 3, 5, 6, 7, 8, 19, 20</a:t>
                      </a:r>
                      <a:endParaRPr lang="pt-BR" sz="7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AE6676E-D3D4-E76E-E849-CE0EE4860D47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C868C-BC9E-1F3E-B70D-0E46080E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973538-55A2-E41B-2171-CD277FD40BAD}"/>
              </a:ext>
            </a:extLst>
          </p:cNvPr>
          <p:cNvSpPr txBox="1"/>
          <p:nvPr/>
        </p:nvSpPr>
        <p:spPr>
          <a:xfrm>
            <a:off x="137160" y="211183"/>
            <a:ext cx="105156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002060"/>
                </a:solidFill>
                <a:latin typeface="Arial"/>
              </a:defRPr>
            </a:pPr>
            <a:r>
              <a:rPr lang="pt-BR" sz="2000" b="1" err="1">
                <a:solidFill>
                  <a:srgbClr val="00A443"/>
                </a:solidFill>
                <a:latin typeface="Arial"/>
              </a:rPr>
              <a:t>Existing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 </a:t>
            </a:r>
            <a:r>
              <a:rPr lang="pt-BR" sz="2000" b="1" err="1">
                <a:solidFill>
                  <a:srgbClr val="00A443"/>
                </a:solidFill>
                <a:latin typeface="Arial"/>
              </a:rPr>
              <a:t>Assets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 — </a:t>
            </a:r>
            <a:r>
              <a:rPr lang="pt-BR" sz="2000" b="1" err="1">
                <a:solidFill>
                  <a:srgbClr val="00A443"/>
                </a:solidFill>
                <a:latin typeface="Arial"/>
              </a:rPr>
              <a:t>Pilot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 </a:t>
            </a:r>
            <a:r>
              <a:rPr lang="pt-BR" sz="2000" b="1" err="1">
                <a:solidFill>
                  <a:srgbClr val="00A443"/>
                </a:solidFill>
                <a:latin typeface="Arial"/>
              </a:rPr>
              <a:t>Execution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, </a:t>
            </a:r>
            <a:r>
              <a:rPr lang="pt-BR" sz="2000" b="1" err="1">
                <a:solidFill>
                  <a:srgbClr val="00A443"/>
                </a:solidFill>
                <a:latin typeface="Arial"/>
              </a:rPr>
              <a:t>Ways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 </a:t>
            </a:r>
            <a:r>
              <a:rPr lang="pt-BR" sz="2000" b="1" err="1">
                <a:solidFill>
                  <a:srgbClr val="00A443"/>
                </a:solidFill>
                <a:latin typeface="Arial"/>
              </a:rPr>
              <a:t>of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 </a:t>
            </a:r>
            <a:r>
              <a:rPr lang="pt-BR" sz="2000" b="1" err="1">
                <a:solidFill>
                  <a:srgbClr val="00A443"/>
                </a:solidFill>
                <a:latin typeface="Arial"/>
              </a:rPr>
              <a:t>Working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 &amp; KPI / </a:t>
            </a:r>
            <a:r>
              <a:rPr lang="pt-BR" sz="2000" b="1" err="1">
                <a:solidFill>
                  <a:srgbClr val="00A443"/>
                </a:solidFill>
                <a:latin typeface="Arial"/>
              </a:rPr>
              <a:t>Reporting</a:t>
            </a:r>
            <a:r>
              <a:rPr lang="pt-BR" sz="2000" b="1">
                <a:solidFill>
                  <a:srgbClr val="00A443"/>
                </a:solidFill>
                <a:latin typeface="Arial"/>
              </a:rPr>
              <a:t> (4/4)</a:t>
            </a:r>
          </a:p>
        </p:txBody>
      </p:sp>
      <p:pic>
        <p:nvPicPr>
          <p:cNvPr id="8" name="Picture 5" descr="Avangrid - Wikipedia">
            <a:extLst>
              <a:ext uri="{FF2B5EF4-FFF2-40B4-BE49-F238E27FC236}">
                <a16:creationId xmlns:a16="http://schemas.microsoft.com/office/drawing/2014/main" id="{9E8BB4E7-F584-ED7D-8585-F1AA20191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985" y="6372758"/>
            <a:ext cx="1379835" cy="48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NTT DATA Global Logo">
            <a:extLst>
              <a:ext uri="{FF2B5EF4-FFF2-40B4-BE49-F238E27FC236}">
                <a16:creationId xmlns:a16="http://schemas.microsoft.com/office/drawing/2014/main" id="{272C0B10-ACCC-95C0-DB27-4119369CEF15}"/>
              </a:ext>
            </a:extLst>
          </p:cNvPr>
          <p:cNvSpPr/>
          <p:nvPr/>
        </p:nvSpPr>
        <p:spPr bwMode="black">
          <a:xfrm>
            <a:off x="11070727" y="6508881"/>
            <a:ext cx="950287" cy="212997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7902BEAF-BAA4-2991-DAD8-C8F213104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098250"/>
              </p:ext>
            </p:extLst>
          </p:nvPr>
        </p:nvGraphicFramePr>
        <p:xfrm>
          <a:off x="91440" y="868680"/>
          <a:ext cx="11978640" cy="553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1097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Deliverable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P&amp;S / P&amp;T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Digital </a:t>
                      </a:r>
                      <a:r>
                        <a:rPr sz="900" err="1"/>
                        <a:t>CoE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Infrastructure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Renewables DTO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/>
                        <a:t>Digital Products (Reuse)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23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1000" err="1">
                          <a:latin typeface="Arial"/>
                          <a:cs typeface="Arial"/>
                        </a:rPr>
                        <a:t>Pilot</a:t>
                      </a:r>
                      <a:br>
                        <a:rPr lang="pt-BR" sz="1000">
                          <a:latin typeface="Arial"/>
                          <a:cs typeface="Arial"/>
                        </a:rPr>
                      </a:br>
                      <a:r>
                        <a:rPr lang="pt-BR" sz="1000" err="1">
                          <a:latin typeface="Arial"/>
                          <a:cs typeface="Arial"/>
                        </a:rPr>
                        <a:t>Execution</a:t>
                      </a:r>
                      <a:endParaRPr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>
                          <a:solidFill>
                            <a:srgbClr val="2C3E50"/>
                          </a:solidFill>
                          <a:latin typeface="Arial"/>
                        </a:rPr>
                        <a:t>Validation Report (PD Playbook Sl. 68): Problem/Hypothesis, feedback, feasibility matrix, GO/No-Go. Shark Tank Committee (PD Playbook Sl. 72): quarterly gate. Validation formats, not execution.</a:t>
                      </a:r>
                      <a:endParaRPr lang="pt-BR" sz="800"/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en-US" sz="700" u="sng">
                          <a:solidFill>
                            <a:srgbClr val="0072BC"/>
                          </a:solidFill>
                          <a:latin typeface="Arial"/>
                          <a:hlinkClick r:id="rId3"/>
                        </a:rPr>
                        <a:t>[00] Product Discovery Playbook - P&amp;S Ways of Working 02.03.26 v.1.3 +FIGMA.pptx</a:t>
                      </a:r>
                      <a:r>
                        <a:rPr lang="en-US" sz="700" b="1">
                          <a:solidFill>
                            <a:srgbClr val="2C3E50"/>
                          </a:solidFill>
                          <a:latin typeface="Arial"/>
                        </a:rPr>
                        <a:t>  |  Sl. 3, 68, 70, 72</a:t>
                      </a:r>
                      <a:endParaRPr lang="pt-BR" sz="700"/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en-US" sz="7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nWOW</a:t>
                      </a:r>
                      <a:r>
                        <a:rPr lang="en-US" sz="7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- New Ways of Working - P&amp;S Lean Operating Model 03.10.2026 v1.2.pptx</a:t>
                      </a:r>
                      <a:r>
                        <a:rPr lang="en-US" sz="700" b="1">
                          <a:solidFill>
                            <a:srgbClr val="2C3E50"/>
                          </a:solidFill>
                          <a:latin typeface="Arial"/>
                        </a:rPr>
                        <a:t>  |  Sl. 43</a:t>
                      </a:r>
                      <a:endParaRPr sz="7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>
                          <a:solidFill>
                            <a:srgbClr val="2C3E50"/>
                          </a:solidFill>
                          <a:latin typeface="Arial"/>
                        </a:rPr>
                        <a:t>SEAL-SIX maturity (NTTDATA Sl. 9-10): 15-18 Ready / 10-14 Guardrails / &lt;10 Foundations. MVST concept (NTTDATA Sl. 10). Health Radars (Agility Playbook Sl. 93). Current/target radar (NTTDATA Sl. 23-24).</a:t>
                      </a:r>
                      <a:endParaRPr lang="pt-BR" sz="800"/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en-US" sz="700" u="sng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NTTDATA-Digital Strategy - NextGen </a:t>
                      </a:r>
                      <a:r>
                        <a:rPr lang="en-US" sz="700" u="sng" err="1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Produc</a:t>
                      </a:r>
                      <a:r>
                        <a:rPr lang="en-US" sz="700" u="sng">
                          <a:solidFill>
                            <a:srgbClr val="0072BC"/>
                          </a:solidFill>
                          <a:latin typeface="Arial"/>
                          <a:hlinkClick r:id="rId5"/>
                        </a:rPr>
                        <a:t> Ops Org Design SEAL-SIX Model v.1.7 06.29.pptx</a:t>
                      </a:r>
                      <a:r>
                        <a:rPr lang="en-US" sz="700" b="1">
                          <a:solidFill>
                            <a:srgbClr val="2C3E50"/>
                          </a:solidFill>
                          <a:latin typeface="Arial"/>
                        </a:rPr>
                        <a:t>  |  Sl. 5, 9, 10, 23, 24</a:t>
                      </a:r>
                      <a:endParaRPr lang="pt-BR" sz="700"/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en-US"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en-US" sz="7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[17] Agility Playbook - Digital Center of Excellence 06.18.2025 V.1.7.pptx</a:t>
                      </a:r>
                      <a:r>
                        <a:rPr lang="en-US" sz="700" b="1">
                          <a:solidFill>
                            <a:srgbClr val="2C3E50"/>
                          </a:solidFill>
                          <a:latin typeface="Arial"/>
                        </a:rPr>
                        <a:t>  |  Sl. 93</a:t>
                      </a:r>
                      <a:endParaRPr sz="7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Ongoing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in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the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next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2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weeks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: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Pilot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→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Expansion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→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Optimization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(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 10, 34, 44). Close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support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+ coaching +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flow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metrics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(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Avangrid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 39). Sapiens Learning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Cycles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(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 43).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Built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for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multi-team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rollout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</a:t>
                      </a:r>
                      <a:endParaRPr lang="pt-BR" sz="800"/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pt-BR"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pt-BR" sz="7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Agile Management Model _ </a:t>
                      </a:r>
                      <a:r>
                        <a:rPr lang="pt-BR" sz="700" u="sng" err="1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Proposal</a:t>
                      </a:r>
                      <a:r>
                        <a:rPr lang="pt-BR" sz="7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 </a:t>
                      </a:r>
                      <a:r>
                        <a:rPr lang="pt-BR" sz="700" u="sng" err="1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Avangrid</a:t>
                      </a:r>
                      <a:r>
                        <a:rPr lang="pt-BR" sz="7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 </a:t>
                      </a:r>
                      <a:r>
                        <a:rPr lang="pt-BR" sz="700" u="sng" err="1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Architecture</a:t>
                      </a:r>
                      <a:r>
                        <a:rPr lang="pt-BR" sz="700" u="sng">
                          <a:solidFill>
                            <a:srgbClr val="0072BC"/>
                          </a:solidFill>
                          <a:latin typeface="Arial"/>
                          <a:hlinkClick r:id="rId7"/>
                        </a:rPr>
                        <a:t> V.3.1 18.01.2024 3.pptx</a:t>
                      </a:r>
                      <a:r>
                        <a:rPr lang="pt-BR" sz="700" b="1">
                          <a:solidFill>
                            <a:srgbClr val="2C3E50"/>
                          </a:solidFill>
                          <a:latin typeface="Arial"/>
                        </a:rPr>
                        <a:t>  |  </a:t>
                      </a:r>
                      <a:r>
                        <a:rPr lang="pt-BR" sz="700" b="1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700" b="1">
                          <a:solidFill>
                            <a:srgbClr val="2C3E50"/>
                          </a:solidFill>
                          <a:latin typeface="Arial"/>
                        </a:rPr>
                        <a:t>. 10, 21, 23, 34, 44, 45</a:t>
                      </a:r>
                      <a:endParaRPr sz="7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Complete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pilot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design. E2E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Kanban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Workflow for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pilot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team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(DTO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 28-30).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Pull-based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execution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(DTO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 25). QA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pulls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from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Dev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 (DTO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 46). Flow Dashboard (DTO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 49).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Cadences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: Daily Flow Review,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Replenishment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, Kaizen (DTO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 50). Most </a:t>
                      </a:r>
                      <a:r>
                        <a:rPr lang="pt-BR" sz="800" err="1">
                          <a:solidFill>
                            <a:srgbClr val="2C3E50"/>
                          </a:solidFill>
                          <a:latin typeface="Arial"/>
                        </a:rPr>
                        <a:t>execution-ready</a:t>
                      </a:r>
                      <a:r>
                        <a:rPr lang="pt-BR" sz="800">
                          <a:solidFill>
                            <a:srgbClr val="2C3E50"/>
                          </a:solidFill>
                          <a:latin typeface="Arial"/>
                        </a:rPr>
                        <a:t>.</a:t>
                      </a:r>
                      <a:endParaRPr lang="pt-BR" sz="800"/>
                    </a:p>
                    <a:p>
                      <a:pPr lvl="0">
                        <a:spcBef>
                          <a:spcPts val="200"/>
                        </a:spcBef>
                        <a:buNone/>
                      </a:pPr>
                      <a:r>
                        <a:rPr lang="pt-BR"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lang="pt-BR" sz="700" u="sng">
                          <a:solidFill>
                            <a:srgbClr val="0072BC"/>
                          </a:solidFill>
                          <a:latin typeface="Arial"/>
                          <a:hlinkClick r:id="rId8"/>
                        </a:rPr>
                        <a:t>NextGen_DTO_Deliverable1 - Final.pptx</a:t>
                      </a:r>
                      <a:r>
                        <a:rPr lang="pt-BR" sz="700" b="1">
                          <a:solidFill>
                            <a:srgbClr val="2C3E50"/>
                          </a:solidFill>
                          <a:latin typeface="Arial"/>
                        </a:rPr>
                        <a:t>  |  </a:t>
                      </a:r>
                      <a:r>
                        <a:rPr lang="pt-BR" sz="700" b="1" err="1">
                          <a:solidFill>
                            <a:srgbClr val="2C3E50"/>
                          </a:solidFill>
                          <a:latin typeface="Arial"/>
                        </a:rPr>
                        <a:t>Sl</a:t>
                      </a:r>
                      <a:r>
                        <a:rPr lang="pt-BR" sz="700" b="1">
                          <a:solidFill>
                            <a:srgbClr val="2C3E50"/>
                          </a:solidFill>
                          <a:latin typeface="Arial"/>
                        </a:rPr>
                        <a:t>. 25, 26, 28-30, 46, 49, 50, 51</a:t>
                      </a:r>
                      <a:endParaRPr sz="70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65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06297"/>
                  </a:ext>
                </a:extLst>
              </a:tr>
              <a:tr h="171237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rPr sz="1000">
                          <a:latin typeface="Arial"/>
                          <a:cs typeface="Arial"/>
                        </a:rPr>
                        <a:t>Ways of Working</a:t>
                      </a:r>
                      <a:br>
                        <a:rPr sz="1000">
                          <a:latin typeface="Arial"/>
                          <a:cs typeface="Arial"/>
                        </a:rPr>
                      </a:br>
                      <a:endParaRPr sz="100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264 slides. PD Playbook (114 sl.): Design Thinking E2E (Sl. 6-7), 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Figma+Maze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(Sl. 77). PM Playbook (150 sl.): Kanban, governance, RACI, contracts, KPIs. Modular chapters by phase — actively used.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3"/>
                        </a:rPr>
                        <a:t>[00] Product Discovery Playbook - P&amp;S Ways of Working 02.03.26 v.1.3 +FIGMA.pptx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Full (114 sl.) — Sl. 3, 6, 7, 9, 63, 77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9"/>
                        </a:rPr>
                        <a:t>[00] Project Management Playbook - P&amp;S Ways of Working 10.28.25 v.1.0-2.pptx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Full (150 sl.)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Agility Playbook (111 sl.): Scrum (Sl. 18), Sprint Events (Sl. 20), PBB+HEVA (Sl. 51). Sprint Report Canvas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Playbook Sl. 88-89). Health Radars (Sl. 93). CX JIRA Playbook (41p). Teaching 'how to be agile'.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[17] Agility Playbook - Digital Center of Excellence 06.18.2025 V.1.7.pptx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Full (111 sl.) — Sl. 2, 20, 93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[12] Digital </a:t>
                      </a:r>
                      <a:r>
                        <a:rPr sz="700" u="sng" err="1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CoE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 Operating Model - Playbook - 01.05.2026 V.2.5. FINAL pptx.pptx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88, 89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11"/>
                        </a:rPr>
                        <a:t>[CX] JIRA Agile Management Playbook - Center of Excellence 25.03.2024 V.1.0.pdf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Full (41p)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i="1">
                          <a:solidFill>
                            <a:srgbClr val="95A5A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Lean Kanban playbook: process instructions per pillar (Demand Sl. 32-35, Prioritization Sl. 36-41, Delivery Sl. 42-46, Governance Sl. 48-51). Each: Purpose, How to Execute, Completion Criteria, Artifact. Board specs (DTO Sl. 12, 14).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8"/>
                        </a:rPr>
                        <a:t>NextGen_DTO_Deliverable1 - Final.pptx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14, 27, 32-51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237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rPr sz="1000">
                          <a:latin typeface="Arial"/>
                          <a:cs typeface="Arial"/>
                        </a:rPr>
                        <a:t>KPI &amp;</a:t>
                      </a:r>
                      <a:br>
                        <a:rPr sz="1000">
                          <a:latin typeface="Arial"/>
                          <a:cs typeface="Arial"/>
                        </a:rPr>
                      </a:br>
                      <a:r>
                        <a:rPr sz="1000">
                          <a:latin typeface="Arial"/>
                          <a:cs typeface="Arial"/>
                        </a:rPr>
                        <a:t>Reporting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Multi-level KPIs: Portfolio → Program → Product → Project (PM Playbook Sl. 138-139). Formulas: Throughput (Sl. 140), Lead Time, Velocity, Scope Creep. Jira dashboards (Sl. 142). Scorecards 2026 targets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Sl. 97; PM Playbook Sl. 145). When to use each KPI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nWOW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Sl. 83).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9"/>
                        </a:rPr>
                        <a:t>[00] Project Management Playbook - P&amp;S Ways of Working 10.28.25 v.1.0-2.pptx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137, 138, 140, 144, 145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 err="1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nWOW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4"/>
                        </a:rPr>
                        <a:t> - New Ways of Working - P&amp;S Lean Operating Model 03.10.2026 v1.2.pptx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83, 90, 93, 96, 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Portfolio Metrics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Playbook Sl. 89, 93): ILt, Lean Radar, Innovation Horizon, Strategic Theme, 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RpI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, 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VbM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. Team-of-Teams capacity (</a:t>
                      </a:r>
                      <a:r>
                        <a:rPr sz="800" err="1">
                          <a:solidFill>
                            <a:srgbClr val="2C3E50"/>
                          </a:solidFill>
                          <a:latin typeface="Arial"/>
                        </a:rPr>
                        <a:t>CoE</a:t>
                      </a:r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 Playbook Sl. 98). Sprint Report Canvas (Agility Playbook Sl. 88-89). More strategic.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[12] Digital </a:t>
                      </a:r>
                      <a:r>
                        <a:rPr sz="700" u="sng" err="1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CoE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10"/>
                        </a:rPr>
                        <a:t> Operating Model - Playbook - 01.05.2026 V.2.5. FINAL pptx.pptx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26, 27, 73, 91, 93, 107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6"/>
                        </a:rPr>
                        <a:t>[17] Agility Playbook - Digital Center of Excellence 06.18.2025 V.1.7.pptx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87, 88, 89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i="1">
                          <a:solidFill>
                            <a:srgbClr val="95A5A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C3E50"/>
                          </a:solidFill>
                          <a:latin typeface="Arial"/>
                        </a:rPr>
                        <a:t>Flow Metrics: Lead Time, Cycle Time, Throughput, Aging — Jira dashboard (DTO Sl. 49). Blocker Tracker (DTO Sl. 47). Kaizen measuring efficiency (DTO Sl. 51). Execution-focused, not portfolio-strategic.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700">
                          <a:solidFill>
                            <a:srgbClr val="7F8C8D"/>
                          </a:solidFill>
                          <a:latin typeface="Arial"/>
                        </a:rPr>
                        <a:t>→ </a:t>
                      </a:r>
                      <a:r>
                        <a:rPr sz="700" u="sng">
                          <a:solidFill>
                            <a:srgbClr val="0072BC"/>
                          </a:solidFill>
                          <a:latin typeface="Arial"/>
                          <a:hlinkClick r:id="rId8"/>
                        </a:rPr>
                        <a:t>NextGen_DTO_Deliverable1 - Final.pptx</a:t>
                      </a:r>
                      <a:r>
                        <a:rPr sz="700" b="1">
                          <a:solidFill>
                            <a:srgbClr val="2C3E50"/>
                          </a:solidFill>
                          <a:latin typeface="Arial"/>
                        </a:rPr>
                        <a:t>  |  Sl. 5, 40, 47, 49, 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F3B3289-394B-E908-8706-A690E517CA28}"/>
              </a:ext>
            </a:extLst>
          </p:cNvPr>
          <p:cNvSpPr/>
          <p:nvPr/>
        </p:nvSpPr>
        <p:spPr>
          <a:xfrm>
            <a:off x="137160" y="137160"/>
            <a:ext cx="45720" cy="640080"/>
          </a:xfrm>
          <a:prstGeom prst="rect">
            <a:avLst/>
          </a:prstGeom>
          <a:solidFill>
            <a:srgbClr val="00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6874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B3AA-4A49-BE95-28E0-BF0ADF6B8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8">
            <a:extLst>
              <a:ext uri="{FF2B5EF4-FFF2-40B4-BE49-F238E27FC236}">
                <a16:creationId xmlns:a16="http://schemas.microsoft.com/office/drawing/2014/main" id="{00F31BE4-5751-2D00-08C6-5C14567ED78A}"/>
              </a:ext>
            </a:extLst>
          </p:cNvPr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06C91CE-2DC6-A1D8-68A3-5D8A803917E6}"/>
              </a:ext>
            </a:extLst>
          </p:cNvPr>
          <p:cNvSpPr/>
          <p:nvPr/>
        </p:nvSpPr>
        <p:spPr>
          <a:xfrm>
            <a:off x="555585" y="1177098"/>
            <a:ext cx="5393802" cy="418795"/>
          </a:xfrm>
          <a:prstGeom prst="roundRect">
            <a:avLst>
              <a:gd name="adj" fmla="val 3969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DEMAND SOURCES</a:t>
            </a: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9DE1D4C9-A082-6BC8-7388-FEA527DE39BC}"/>
              </a:ext>
            </a:extLst>
          </p:cNvPr>
          <p:cNvSpPr txBox="1"/>
          <p:nvPr/>
        </p:nvSpPr>
        <p:spPr>
          <a:xfrm>
            <a:off x="571500" y="38405"/>
            <a:ext cx="1145794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-3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Demand Sources (AS-IS): </a:t>
            </a:r>
            <a:r>
              <a:rPr kumimoji="0" lang="en-US" sz="2400" b="0" i="0" u="none" strike="noStrike" kern="0" cap="none" spc="-3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How Work Reaches Digital Products Today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9" name="Rectangle: Rounded Corners 30">
            <a:extLst>
              <a:ext uri="{FF2B5EF4-FFF2-40B4-BE49-F238E27FC236}">
                <a16:creationId xmlns:a16="http://schemas.microsoft.com/office/drawing/2014/main" id="{D4E1C8C2-AA63-D451-055B-9A89A6E6647F}"/>
              </a:ext>
            </a:extLst>
          </p:cNvPr>
          <p:cNvSpPr/>
          <p:nvPr/>
        </p:nvSpPr>
        <p:spPr>
          <a:xfrm>
            <a:off x="6252010" y="1630453"/>
            <a:ext cx="3475441" cy="4507381"/>
          </a:xfrm>
          <a:prstGeom prst="roundRect">
            <a:avLst>
              <a:gd name="adj" fmla="val 6207"/>
            </a:avLst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B3A6B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B648CF6-DC77-CF1A-FBC5-EDD94C76299F}"/>
              </a:ext>
            </a:extLst>
          </p:cNvPr>
          <p:cNvSpPr/>
          <p:nvPr/>
        </p:nvSpPr>
        <p:spPr>
          <a:xfrm>
            <a:off x="6553598" y="1726567"/>
            <a:ext cx="2872265" cy="3103329"/>
          </a:xfrm>
          <a:prstGeom prst="roundRect">
            <a:avLst>
              <a:gd name="adj" fmla="val 6247"/>
            </a:avLst>
          </a:prstGeom>
          <a:solidFill>
            <a:srgbClr val="2E6DB4"/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SAP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4B32DA1-AD7A-B317-14AF-F0766841B03A}"/>
              </a:ext>
            </a:extLst>
          </p:cNvPr>
          <p:cNvSpPr/>
          <p:nvPr/>
        </p:nvSpPr>
        <p:spPr>
          <a:xfrm>
            <a:off x="6553598" y="4910919"/>
            <a:ext cx="2872265" cy="1129128"/>
          </a:xfrm>
          <a:prstGeom prst="roundRect">
            <a:avLst/>
          </a:prstGeom>
          <a:solidFill>
            <a:srgbClr val="6E90A8"/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APPLICATIONS</a:t>
            </a:r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431FE127-4CED-8A3F-4AFC-5813ED403308}"/>
              </a:ext>
            </a:extLst>
          </p:cNvPr>
          <p:cNvSpPr/>
          <p:nvPr/>
        </p:nvSpPr>
        <p:spPr>
          <a:xfrm>
            <a:off x="6260747" y="1177098"/>
            <a:ext cx="3457967" cy="418795"/>
          </a:xfrm>
          <a:prstGeom prst="roundRect">
            <a:avLst>
              <a:gd name="adj" fmla="val 3969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DIGITAL PRODUCTS</a:t>
            </a:r>
          </a:p>
        </p:txBody>
      </p:sp>
      <p:pic>
        <p:nvPicPr>
          <p:cNvPr id="133" name="Image 11" descr="preencoded.png">
            <a:extLst>
              <a:ext uri="{FF2B5EF4-FFF2-40B4-BE49-F238E27FC236}">
                <a16:creationId xmlns:a16="http://schemas.microsoft.com/office/drawing/2014/main" id="{65681F36-8727-99AC-861F-AA55CC8A47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9896253" y="1925952"/>
            <a:ext cx="2066906" cy="1205380"/>
          </a:xfrm>
          <a:prstGeom prst="rect">
            <a:avLst/>
          </a:prstGeom>
        </p:spPr>
      </p:pic>
      <p:sp>
        <p:nvSpPr>
          <p:cNvPr id="134" name="Text 46">
            <a:extLst>
              <a:ext uri="{FF2B5EF4-FFF2-40B4-BE49-F238E27FC236}">
                <a16:creationId xmlns:a16="http://schemas.microsoft.com/office/drawing/2014/main" id="{4EEAAC8B-EF11-63E9-B470-1D3CF5A77102}"/>
              </a:ext>
            </a:extLst>
          </p:cNvPr>
          <p:cNvSpPr txBox="1"/>
          <p:nvPr/>
        </p:nvSpPr>
        <p:spPr>
          <a:xfrm>
            <a:off x="10222165" y="1988597"/>
            <a:ext cx="1694435" cy="28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C53030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Multiple Entry Points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35" name="Image 12" descr="preencoded.png">
            <a:extLst>
              <a:ext uri="{FF2B5EF4-FFF2-40B4-BE49-F238E27FC236}">
                <a16:creationId xmlns:a16="http://schemas.microsoft.com/office/drawing/2014/main" id="{BC9E4D03-FC77-ECFC-47E4-2A86D05B82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47378" y="2036399"/>
            <a:ext cx="111436" cy="188623"/>
          </a:xfrm>
          <a:prstGeom prst="rect">
            <a:avLst/>
          </a:prstGeom>
        </p:spPr>
      </p:pic>
      <p:sp>
        <p:nvSpPr>
          <p:cNvPr id="136" name="Text 47">
            <a:extLst>
              <a:ext uri="{FF2B5EF4-FFF2-40B4-BE49-F238E27FC236}">
                <a16:creationId xmlns:a16="http://schemas.microsoft.com/office/drawing/2014/main" id="{B29614B9-CF02-778B-5A50-D994E39192F5}"/>
              </a:ext>
            </a:extLst>
          </p:cNvPr>
          <p:cNvSpPr txBox="1"/>
          <p:nvPr/>
        </p:nvSpPr>
        <p:spPr>
          <a:xfrm>
            <a:off x="10047378" y="2419736"/>
            <a:ext cx="1860826" cy="458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No single front door. Requests arrive via fragmented, unmonitored channels.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37" name="Image 13" descr="preencoded.png">
            <a:extLst>
              <a:ext uri="{FF2B5EF4-FFF2-40B4-BE49-F238E27FC236}">
                <a16:creationId xmlns:a16="http://schemas.microsoft.com/office/drawing/2014/main" id="{010D9308-DB65-477E-27E9-B9EAD0E575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9896253" y="3401348"/>
            <a:ext cx="2066906" cy="1205380"/>
          </a:xfrm>
          <a:prstGeom prst="rect">
            <a:avLst/>
          </a:prstGeom>
        </p:spPr>
      </p:pic>
      <p:sp>
        <p:nvSpPr>
          <p:cNvPr id="138" name="Text 48">
            <a:extLst>
              <a:ext uri="{FF2B5EF4-FFF2-40B4-BE49-F238E27FC236}">
                <a16:creationId xmlns:a16="http://schemas.microsoft.com/office/drawing/2014/main" id="{81A9BC70-A844-8A94-B812-F40D861E91B2}"/>
              </a:ext>
            </a:extLst>
          </p:cNvPr>
          <p:cNvSpPr txBox="1"/>
          <p:nvPr/>
        </p:nvSpPr>
        <p:spPr>
          <a:xfrm>
            <a:off x="10222165" y="3475566"/>
            <a:ext cx="1694435" cy="28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C53030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No Filtering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39" name="Image 14" descr="preencoded.png">
            <a:extLst>
              <a:ext uri="{FF2B5EF4-FFF2-40B4-BE49-F238E27FC236}">
                <a16:creationId xmlns:a16="http://schemas.microsoft.com/office/drawing/2014/main" id="{FCE5E6D2-C2EA-654E-DC6A-9466BA16F0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47378" y="3522076"/>
            <a:ext cx="111436" cy="188623"/>
          </a:xfrm>
          <a:prstGeom prst="rect">
            <a:avLst/>
          </a:prstGeom>
        </p:spPr>
      </p:pic>
      <p:sp>
        <p:nvSpPr>
          <p:cNvPr id="140" name="Text 49">
            <a:extLst>
              <a:ext uri="{FF2B5EF4-FFF2-40B4-BE49-F238E27FC236}">
                <a16:creationId xmlns:a16="http://schemas.microsoft.com/office/drawing/2014/main" id="{B65D0A01-AEBB-BEC6-F589-15CE592A3B6B}"/>
              </a:ext>
            </a:extLst>
          </p:cNvPr>
          <p:cNvSpPr txBox="1"/>
          <p:nvPr/>
        </p:nvSpPr>
        <p:spPr>
          <a:xfrm>
            <a:off x="10047378" y="3895132"/>
            <a:ext cx="1860826" cy="458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Low-value and strategic demands are mixed without initial triage.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45" name="Shape 52">
            <a:extLst>
              <a:ext uri="{FF2B5EF4-FFF2-40B4-BE49-F238E27FC236}">
                <a16:creationId xmlns:a16="http://schemas.microsoft.com/office/drawing/2014/main" id="{EADBF8FF-14A1-1481-CDDB-35FCB0BE0CA1}"/>
              </a:ext>
            </a:extLst>
          </p:cNvPr>
          <p:cNvSpPr/>
          <p:nvPr/>
        </p:nvSpPr>
        <p:spPr>
          <a:xfrm>
            <a:off x="9838392" y="1177098"/>
            <a:ext cx="2146850" cy="417600"/>
          </a:xfrm>
          <a:prstGeom prst="roundRect">
            <a:avLst>
              <a:gd name="adj" fmla="val 39698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6000" r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5" normalizeH="0" baseline="0" noProof="0">
                <a:ln>
                  <a:noFill/>
                </a:ln>
                <a:solidFill>
                  <a:srgbClr val="C53030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CURRENT PAIN POINTS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53DB5546-829F-B9C3-9915-70E23E2CB26B}"/>
              </a:ext>
            </a:extLst>
          </p:cNvPr>
          <p:cNvSpPr/>
          <p:nvPr/>
        </p:nvSpPr>
        <p:spPr>
          <a:xfrm>
            <a:off x="429660" y="4493707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4" name="Shape 39">
            <a:extLst>
              <a:ext uri="{FF2B5EF4-FFF2-40B4-BE49-F238E27FC236}">
                <a16:creationId xmlns:a16="http://schemas.microsoft.com/office/drawing/2014/main" id="{3D574D6E-4E17-ED94-B838-D241FB9C555D}"/>
              </a:ext>
            </a:extLst>
          </p:cNvPr>
          <p:cNvSpPr/>
          <p:nvPr/>
        </p:nvSpPr>
        <p:spPr>
          <a:xfrm>
            <a:off x="429660" y="4098402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8" name="Shape 39">
            <a:extLst>
              <a:ext uri="{FF2B5EF4-FFF2-40B4-BE49-F238E27FC236}">
                <a16:creationId xmlns:a16="http://schemas.microsoft.com/office/drawing/2014/main" id="{2B28EC5E-1968-2FA8-C98D-4BE72F9A857B}"/>
              </a:ext>
            </a:extLst>
          </p:cNvPr>
          <p:cNvSpPr/>
          <p:nvPr/>
        </p:nvSpPr>
        <p:spPr>
          <a:xfrm>
            <a:off x="429660" y="3703096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2" name="Shape 39">
            <a:extLst>
              <a:ext uri="{FF2B5EF4-FFF2-40B4-BE49-F238E27FC236}">
                <a16:creationId xmlns:a16="http://schemas.microsoft.com/office/drawing/2014/main" id="{7700E0AE-6FC7-E89C-E42B-85F03C608D1A}"/>
              </a:ext>
            </a:extLst>
          </p:cNvPr>
          <p:cNvSpPr/>
          <p:nvPr/>
        </p:nvSpPr>
        <p:spPr>
          <a:xfrm>
            <a:off x="429660" y="3307790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6" name="Shape 39">
            <a:extLst>
              <a:ext uri="{FF2B5EF4-FFF2-40B4-BE49-F238E27FC236}">
                <a16:creationId xmlns:a16="http://schemas.microsoft.com/office/drawing/2014/main" id="{9BCE1E75-42C8-F263-39D1-6C591E588FE3}"/>
              </a:ext>
            </a:extLst>
          </p:cNvPr>
          <p:cNvSpPr/>
          <p:nvPr/>
        </p:nvSpPr>
        <p:spPr>
          <a:xfrm>
            <a:off x="429660" y="2912485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0" name="Shape 39">
            <a:extLst>
              <a:ext uri="{FF2B5EF4-FFF2-40B4-BE49-F238E27FC236}">
                <a16:creationId xmlns:a16="http://schemas.microsoft.com/office/drawing/2014/main" id="{D7708F18-5329-EA35-7079-BD4790A0290A}"/>
              </a:ext>
            </a:extLst>
          </p:cNvPr>
          <p:cNvSpPr/>
          <p:nvPr/>
        </p:nvSpPr>
        <p:spPr>
          <a:xfrm>
            <a:off x="429660" y="2517179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4" name="Shape 39">
            <a:extLst>
              <a:ext uri="{FF2B5EF4-FFF2-40B4-BE49-F238E27FC236}">
                <a16:creationId xmlns:a16="http://schemas.microsoft.com/office/drawing/2014/main" id="{1E10E04A-DCAF-1942-6998-110A29E91B02}"/>
              </a:ext>
            </a:extLst>
          </p:cNvPr>
          <p:cNvSpPr/>
          <p:nvPr/>
        </p:nvSpPr>
        <p:spPr>
          <a:xfrm>
            <a:off x="429660" y="2121874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8" name="Shape 39">
            <a:extLst>
              <a:ext uri="{FF2B5EF4-FFF2-40B4-BE49-F238E27FC236}">
                <a16:creationId xmlns:a16="http://schemas.microsoft.com/office/drawing/2014/main" id="{2A3F8DEE-AD20-47F8-93B5-43913C557F01}"/>
              </a:ext>
            </a:extLst>
          </p:cNvPr>
          <p:cNvSpPr/>
          <p:nvPr/>
        </p:nvSpPr>
        <p:spPr>
          <a:xfrm>
            <a:off x="429660" y="1726568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2" name="Shape 39">
            <a:extLst>
              <a:ext uri="{FF2B5EF4-FFF2-40B4-BE49-F238E27FC236}">
                <a16:creationId xmlns:a16="http://schemas.microsoft.com/office/drawing/2014/main" id="{6BAF5212-D35E-69C8-30D2-87AC26BA7B75}"/>
              </a:ext>
            </a:extLst>
          </p:cNvPr>
          <p:cNvSpPr/>
          <p:nvPr/>
        </p:nvSpPr>
        <p:spPr>
          <a:xfrm>
            <a:off x="429660" y="5284320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6E90A8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6" name="Shape 39">
            <a:extLst>
              <a:ext uri="{FF2B5EF4-FFF2-40B4-BE49-F238E27FC236}">
                <a16:creationId xmlns:a16="http://schemas.microsoft.com/office/drawing/2014/main" id="{7373F2D0-4BF8-F514-8E94-A39FC69B5E9F}"/>
              </a:ext>
            </a:extLst>
          </p:cNvPr>
          <p:cNvSpPr/>
          <p:nvPr/>
        </p:nvSpPr>
        <p:spPr>
          <a:xfrm>
            <a:off x="429660" y="4889013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6E90A8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AC94FD91-3914-542D-B75F-E4A63A3EBCDB}"/>
              </a:ext>
            </a:extLst>
          </p:cNvPr>
          <p:cNvSpPr/>
          <p:nvPr/>
        </p:nvSpPr>
        <p:spPr>
          <a:xfrm>
            <a:off x="571499" y="4500161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REGULATORY</a:t>
            </a:r>
          </a:p>
        </p:txBody>
      </p:sp>
      <p:sp>
        <p:nvSpPr>
          <p:cNvPr id="93" name="Shape 38">
            <a:extLst>
              <a:ext uri="{FF2B5EF4-FFF2-40B4-BE49-F238E27FC236}">
                <a16:creationId xmlns:a16="http://schemas.microsoft.com/office/drawing/2014/main" id="{05B0571A-AED7-02C5-91AD-6315194BCCAA}"/>
              </a:ext>
            </a:extLst>
          </p:cNvPr>
          <p:cNvSpPr/>
          <p:nvPr/>
        </p:nvSpPr>
        <p:spPr>
          <a:xfrm>
            <a:off x="571499" y="4104856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PROCUREMENT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5" name="Shape 40">
            <a:extLst>
              <a:ext uri="{FF2B5EF4-FFF2-40B4-BE49-F238E27FC236}">
                <a16:creationId xmlns:a16="http://schemas.microsoft.com/office/drawing/2014/main" id="{A2927A34-2E4E-DEDB-DBC7-12327D6561F1}"/>
              </a:ext>
            </a:extLst>
          </p:cNvPr>
          <p:cNvSpPr/>
          <p:nvPr/>
        </p:nvSpPr>
        <p:spPr>
          <a:xfrm>
            <a:off x="5280729" y="4259098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7" name="Shape 38">
            <a:extLst>
              <a:ext uri="{FF2B5EF4-FFF2-40B4-BE49-F238E27FC236}">
                <a16:creationId xmlns:a16="http://schemas.microsoft.com/office/drawing/2014/main" id="{D6BE364C-269D-0C9D-8646-C21EF4626F35}"/>
              </a:ext>
            </a:extLst>
          </p:cNvPr>
          <p:cNvSpPr/>
          <p:nvPr/>
        </p:nvSpPr>
        <p:spPr>
          <a:xfrm>
            <a:off x="571499" y="3709550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OT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9" name="Shape 40">
            <a:extLst>
              <a:ext uri="{FF2B5EF4-FFF2-40B4-BE49-F238E27FC236}">
                <a16:creationId xmlns:a16="http://schemas.microsoft.com/office/drawing/2014/main" id="{4236DD88-ADA5-2FE4-C33C-6A42ABB0A491}"/>
              </a:ext>
            </a:extLst>
          </p:cNvPr>
          <p:cNvSpPr/>
          <p:nvPr/>
        </p:nvSpPr>
        <p:spPr>
          <a:xfrm>
            <a:off x="5280729" y="3863792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1" name="Shape 38">
            <a:extLst>
              <a:ext uri="{FF2B5EF4-FFF2-40B4-BE49-F238E27FC236}">
                <a16:creationId xmlns:a16="http://schemas.microsoft.com/office/drawing/2014/main" id="{EC5718EC-BB3B-DC30-C347-6C036A7667C6}"/>
              </a:ext>
            </a:extLst>
          </p:cNvPr>
          <p:cNvSpPr/>
          <p:nvPr/>
        </p:nvSpPr>
        <p:spPr>
          <a:xfrm>
            <a:off x="571499" y="3314244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3" name="Shape 40">
            <a:extLst>
              <a:ext uri="{FF2B5EF4-FFF2-40B4-BE49-F238E27FC236}">
                <a16:creationId xmlns:a16="http://schemas.microsoft.com/office/drawing/2014/main" id="{22EB4F6E-96F4-727C-92A8-952C01B7C7E6}"/>
              </a:ext>
            </a:extLst>
          </p:cNvPr>
          <p:cNvSpPr/>
          <p:nvPr/>
        </p:nvSpPr>
        <p:spPr>
          <a:xfrm>
            <a:off x="5280729" y="3468486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5" name="Shape 38">
            <a:extLst>
              <a:ext uri="{FF2B5EF4-FFF2-40B4-BE49-F238E27FC236}">
                <a16:creationId xmlns:a16="http://schemas.microsoft.com/office/drawing/2014/main" id="{D8D24C36-FCAA-8AF2-5E19-44A3F35FAD3D}"/>
              </a:ext>
            </a:extLst>
          </p:cNvPr>
          <p:cNvSpPr/>
          <p:nvPr/>
        </p:nvSpPr>
        <p:spPr>
          <a:xfrm>
            <a:off x="571499" y="2918939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DATA &amp; ANALYTICS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7" name="Shape 40">
            <a:extLst>
              <a:ext uri="{FF2B5EF4-FFF2-40B4-BE49-F238E27FC236}">
                <a16:creationId xmlns:a16="http://schemas.microsoft.com/office/drawing/2014/main" id="{63B2C70E-075E-A828-D0D9-45F4BFD68C97}"/>
              </a:ext>
            </a:extLst>
          </p:cNvPr>
          <p:cNvSpPr/>
          <p:nvPr/>
        </p:nvSpPr>
        <p:spPr>
          <a:xfrm>
            <a:off x="5280729" y="3073181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9" name="Shape 38">
            <a:extLst>
              <a:ext uri="{FF2B5EF4-FFF2-40B4-BE49-F238E27FC236}">
                <a16:creationId xmlns:a16="http://schemas.microsoft.com/office/drawing/2014/main" id="{7746F148-7DFC-862D-1B60-680CDFB8A6F4}"/>
              </a:ext>
            </a:extLst>
          </p:cNvPr>
          <p:cNvSpPr/>
          <p:nvPr/>
        </p:nvSpPr>
        <p:spPr>
          <a:xfrm>
            <a:off x="571499" y="2523633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INFRASTRUCTURE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1" name="Shape 40">
            <a:extLst>
              <a:ext uri="{FF2B5EF4-FFF2-40B4-BE49-F238E27FC236}">
                <a16:creationId xmlns:a16="http://schemas.microsoft.com/office/drawing/2014/main" id="{8CEC5E88-3C21-924A-097C-300D81300ACC}"/>
              </a:ext>
            </a:extLst>
          </p:cNvPr>
          <p:cNvSpPr/>
          <p:nvPr/>
        </p:nvSpPr>
        <p:spPr>
          <a:xfrm>
            <a:off x="5280729" y="2677875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3" name="Shape 38">
            <a:extLst>
              <a:ext uri="{FF2B5EF4-FFF2-40B4-BE49-F238E27FC236}">
                <a16:creationId xmlns:a16="http://schemas.microsoft.com/office/drawing/2014/main" id="{7837E2A8-6864-C300-F302-7EFB5602979B}"/>
              </a:ext>
            </a:extLst>
          </p:cNvPr>
          <p:cNvSpPr/>
          <p:nvPr/>
        </p:nvSpPr>
        <p:spPr>
          <a:xfrm>
            <a:off x="571499" y="2128328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CX &amp; DIGITAL COE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5" name="Shape 40">
            <a:extLst>
              <a:ext uri="{FF2B5EF4-FFF2-40B4-BE49-F238E27FC236}">
                <a16:creationId xmlns:a16="http://schemas.microsoft.com/office/drawing/2014/main" id="{F2134976-16E5-814D-6896-C8E84F4E51F1}"/>
              </a:ext>
            </a:extLst>
          </p:cNvPr>
          <p:cNvSpPr/>
          <p:nvPr/>
        </p:nvSpPr>
        <p:spPr>
          <a:xfrm>
            <a:off x="5280729" y="2282570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7" name="Shape 38">
            <a:extLst>
              <a:ext uri="{FF2B5EF4-FFF2-40B4-BE49-F238E27FC236}">
                <a16:creationId xmlns:a16="http://schemas.microsoft.com/office/drawing/2014/main" id="{5A4DC425-DFB6-E3A0-15FF-2A0A7D8D7BF0}"/>
              </a:ext>
            </a:extLst>
          </p:cNvPr>
          <p:cNvSpPr/>
          <p:nvPr/>
        </p:nvSpPr>
        <p:spPr>
          <a:xfrm>
            <a:off x="571499" y="1733022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BRS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9" name="Shape 40">
            <a:extLst>
              <a:ext uri="{FF2B5EF4-FFF2-40B4-BE49-F238E27FC236}">
                <a16:creationId xmlns:a16="http://schemas.microsoft.com/office/drawing/2014/main" id="{8BEBD124-F296-D419-DBD7-0FC14BF1AA47}"/>
              </a:ext>
            </a:extLst>
          </p:cNvPr>
          <p:cNvSpPr/>
          <p:nvPr/>
        </p:nvSpPr>
        <p:spPr>
          <a:xfrm>
            <a:off x="5280729" y="1887264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1" name="Shape 38">
            <a:extLst>
              <a:ext uri="{FF2B5EF4-FFF2-40B4-BE49-F238E27FC236}">
                <a16:creationId xmlns:a16="http://schemas.microsoft.com/office/drawing/2014/main" id="{021B0829-56FE-6960-2CBC-890CBB04DEFC}"/>
              </a:ext>
            </a:extLst>
          </p:cNvPr>
          <p:cNvSpPr/>
          <p:nvPr/>
        </p:nvSpPr>
        <p:spPr>
          <a:xfrm>
            <a:off x="571499" y="5290774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P&amp;T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5" name="Shape 38">
            <a:extLst>
              <a:ext uri="{FF2B5EF4-FFF2-40B4-BE49-F238E27FC236}">
                <a16:creationId xmlns:a16="http://schemas.microsoft.com/office/drawing/2014/main" id="{0A9C8EC7-D182-CD80-6ED9-D85FDB00394C}"/>
              </a:ext>
            </a:extLst>
          </p:cNvPr>
          <p:cNvSpPr/>
          <p:nvPr/>
        </p:nvSpPr>
        <p:spPr>
          <a:xfrm>
            <a:off x="571499" y="4895467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CORPORATE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A341F61E-DB8A-F0CE-CCD0-6CF1619F22FC}"/>
              </a:ext>
            </a:extLst>
          </p:cNvPr>
          <p:cNvSpPr/>
          <p:nvPr/>
        </p:nvSpPr>
        <p:spPr>
          <a:xfrm>
            <a:off x="429660" y="5691266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6E90A8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53" name="Shape 38">
            <a:extLst>
              <a:ext uri="{FF2B5EF4-FFF2-40B4-BE49-F238E27FC236}">
                <a16:creationId xmlns:a16="http://schemas.microsoft.com/office/drawing/2014/main" id="{F4F5B078-6F4F-0F93-8504-39C29359A26F}"/>
              </a:ext>
            </a:extLst>
          </p:cNvPr>
          <p:cNvSpPr/>
          <p:nvPr/>
        </p:nvSpPr>
        <p:spPr>
          <a:xfrm>
            <a:off x="571499" y="5697720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GIS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A7268100-1051-9AC0-BD73-F376EA84993A}"/>
              </a:ext>
            </a:extLst>
          </p:cNvPr>
          <p:cNvSpPr/>
          <p:nvPr/>
        </p:nvSpPr>
        <p:spPr>
          <a:xfrm>
            <a:off x="605009" y="5719131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6E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6" name="Image 4" descr="preencoded.png">
            <a:extLst>
              <a:ext uri="{FF2B5EF4-FFF2-40B4-BE49-F238E27FC236}">
                <a16:creationId xmlns:a16="http://schemas.microsoft.com/office/drawing/2014/main" id="{62B4F7A1-4A0B-BFC8-2F32-8430DF484CB5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</a:blip>
          <a:srcRect t="-842" b="-842"/>
          <a:stretch/>
        </p:blipFill>
        <p:spPr>
          <a:xfrm>
            <a:off x="674420" y="5783143"/>
            <a:ext cx="172905" cy="156279"/>
          </a:xfrm>
          <a:prstGeom prst="rect">
            <a:avLst/>
          </a:prstGeom>
        </p:spPr>
      </p:pic>
      <p:sp>
        <p:nvSpPr>
          <p:cNvPr id="21" name="Shape 17">
            <a:extLst>
              <a:ext uri="{FF2B5EF4-FFF2-40B4-BE49-F238E27FC236}">
                <a16:creationId xmlns:a16="http://schemas.microsoft.com/office/drawing/2014/main" id="{8412ABC6-E280-4D58-A3DD-1501736B38C0}"/>
              </a:ext>
            </a:extLst>
          </p:cNvPr>
          <p:cNvSpPr/>
          <p:nvPr/>
        </p:nvSpPr>
        <p:spPr>
          <a:xfrm>
            <a:off x="605009" y="175307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F187BE19-92C1-FDA9-C064-BC4CA4040302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</a:blip>
          <a:srcRect l="-1064" r="-1064"/>
          <a:stretch/>
        </p:blipFill>
        <p:spPr>
          <a:xfrm>
            <a:off x="661120" y="1816171"/>
            <a:ext cx="199505" cy="156279"/>
          </a:xfrm>
          <a:prstGeom prst="rect">
            <a:avLst/>
          </a:prstGeom>
        </p:spPr>
      </p:pic>
      <p:sp>
        <p:nvSpPr>
          <p:cNvPr id="28" name="Shape 23">
            <a:extLst>
              <a:ext uri="{FF2B5EF4-FFF2-40B4-BE49-F238E27FC236}">
                <a16:creationId xmlns:a16="http://schemas.microsoft.com/office/drawing/2014/main" id="{797472FC-99FC-1CC2-795F-0A6B0DF54527}"/>
              </a:ext>
            </a:extLst>
          </p:cNvPr>
          <p:cNvSpPr/>
          <p:nvPr/>
        </p:nvSpPr>
        <p:spPr>
          <a:xfrm>
            <a:off x="605009" y="5309175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6E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6FC2B2F2-6511-069E-1D49-5BF3B84ED848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</a:blip>
          <a:srcRect l="-1064" r="-1064"/>
          <a:stretch/>
        </p:blipFill>
        <p:spPr>
          <a:xfrm>
            <a:off x="661120" y="5373187"/>
            <a:ext cx="199505" cy="156279"/>
          </a:xfrm>
          <a:prstGeom prst="rect">
            <a:avLst/>
          </a:prstGeom>
        </p:spPr>
      </p:pic>
      <p:sp>
        <p:nvSpPr>
          <p:cNvPr id="42" name="Shape 35">
            <a:extLst>
              <a:ext uri="{FF2B5EF4-FFF2-40B4-BE49-F238E27FC236}">
                <a16:creationId xmlns:a16="http://schemas.microsoft.com/office/drawing/2014/main" id="{0AB589FB-5E70-6430-224D-5F1C060FAD52}"/>
              </a:ext>
            </a:extLst>
          </p:cNvPr>
          <p:cNvSpPr/>
          <p:nvPr/>
        </p:nvSpPr>
        <p:spPr>
          <a:xfrm>
            <a:off x="605009" y="490897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6E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7A6C3002-3214-9D1D-6811-25E7407693CC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25000"/>
          </a:blip>
          <a:srcRect l="-1773" r="-1773"/>
          <a:stretch/>
        </p:blipFill>
        <p:spPr>
          <a:xfrm>
            <a:off x="700190" y="4972984"/>
            <a:ext cx="121365" cy="156279"/>
          </a:xfrm>
          <a:prstGeom prst="rect">
            <a:avLst/>
          </a:prstGeom>
        </p:spPr>
      </p:pic>
      <p:sp>
        <p:nvSpPr>
          <p:cNvPr id="49" name="Shape 41">
            <a:extLst>
              <a:ext uri="{FF2B5EF4-FFF2-40B4-BE49-F238E27FC236}">
                <a16:creationId xmlns:a16="http://schemas.microsoft.com/office/drawing/2014/main" id="{552B2E68-A0D5-29E6-C282-D58CF4B02A80}"/>
              </a:ext>
            </a:extLst>
          </p:cNvPr>
          <p:cNvSpPr/>
          <p:nvPr/>
        </p:nvSpPr>
        <p:spPr>
          <a:xfrm>
            <a:off x="605009" y="4517424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50" name="Image 6" descr="preencoded.png">
            <a:extLst>
              <a:ext uri="{FF2B5EF4-FFF2-40B4-BE49-F238E27FC236}">
                <a16:creationId xmlns:a16="http://schemas.microsoft.com/office/drawing/2014/main" id="{D7FF0C2F-6CEA-99DA-8273-E3667D21BC8B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25000"/>
          </a:blip>
          <a:srcRect/>
          <a:stretch/>
        </p:blipFill>
        <p:spPr>
          <a:xfrm>
            <a:off x="682733" y="4582840"/>
            <a:ext cx="156279" cy="156279"/>
          </a:xfrm>
          <a:prstGeom prst="rect">
            <a:avLst/>
          </a:prstGeom>
        </p:spPr>
      </p:pic>
      <p:sp>
        <p:nvSpPr>
          <p:cNvPr id="160" name="Shape 17">
            <a:extLst>
              <a:ext uri="{FF2B5EF4-FFF2-40B4-BE49-F238E27FC236}">
                <a16:creationId xmlns:a16="http://schemas.microsoft.com/office/drawing/2014/main" id="{3F3CE089-2B33-B7E0-A757-B6107D17FF86}"/>
              </a:ext>
            </a:extLst>
          </p:cNvPr>
          <p:cNvSpPr/>
          <p:nvPr/>
        </p:nvSpPr>
        <p:spPr>
          <a:xfrm>
            <a:off x="605009" y="214423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1" name="Shape 17">
            <a:extLst>
              <a:ext uri="{FF2B5EF4-FFF2-40B4-BE49-F238E27FC236}">
                <a16:creationId xmlns:a16="http://schemas.microsoft.com/office/drawing/2014/main" id="{BA60EF60-1B22-8162-2AA6-0F563CDD3ED7}"/>
              </a:ext>
            </a:extLst>
          </p:cNvPr>
          <p:cNvSpPr/>
          <p:nvPr/>
        </p:nvSpPr>
        <p:spPr>
          <a:xfrm>
            <a:off x="605009" y="2540896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2" name="Shape 17">
            <a:extLst>
              <a:ext uri="{FF2B5EF4-FFF2-40B4-BE49-F238E27FC236}">
                <a16:creationId xmlns:a16="http://schemas.microsoft.com/office/drawing/2014/main" id="{BEBB523B-0A8C-7545-BB6F-CCACEC73CA0A}"/>
              </a:ext>
            </a:extLst>
          </p:cNvPr>
          <p:cNvSpPr/>
          <p:nvPr/>
        </p:nvSpPr>
        <p:spPr>
          <a:xfrm>
            <a:off x="605009" y="293671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3" name="Shape 17">
            <a:extLst>
              <a:ext uri="{FF2B5EF4-FFF2-40B4-BE49-F238E27FC236}">
                <a16:creationId xmlns:a16="http://schemas.microsoft.com/office/drawing/2014/main" id="{6FCABCCB-5106-050B-29F8-ED4C56AAB59A}"/>
              </a:ext>
            </a:extLst>
          </p:cNvPr>
          <p:cNvSpPr/>
          <p:nvPr/>
        </p:nvSpPr>
        <p:spPr>
          <a:xfrm>
            <a:off x="605009" y="3331507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4" name="Shape 17">
            <a:extLst>
              <a:ext uri="{FF2B5EF4-FFF2-40B4-BE49-F238E27FC236}">
                <a16:creationId xmlns:a16="http://schemas.microsoft.com/office/drawing/2014/main" id="{C296D33F-0700-1B51-AD6C-586920FF240C}"/>
              </a:ext>
            </a:extLst>
          </p:cNvPr>
          <p:cNvSpPr/>
          <p:nvPr/>
        </p:nvSpPr>
        <p:spPr>
          <a:xfrm>
            <a:off x="605009" y="372681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5" name="Shape 17">
            <a:extLst>
              <a:ext uri="{FF2B5EF4-FFF2-40B4-BE49-F238E27FC236}">
                <a16:creationId xmlns:a16="http://schemas.microsoft.com/office/drawing/2014/main" id="{E011909E-11E0-2FCD-8EF6-36E2A7F9240D}"/>
              </a:ext>
            </a:extLst>
          </p:cNvPr>
          <p:cNvSpPr/>
          <p:nvPr/>
        </p:nvSpPr>
        <p:spPr>
          <a:xfrm>
            <a:off x="605009" y="4122119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67" name="Gráfico 166" descr="Vínculo con relleno sólido">
            <a:extLst>
              <a:ext uri="{FF2B5EF4-FFF2-40B4-BE49-F238E27FC236}">
                <a16:creationId xmlns:a16="http://schemas.microsoft.com/office/drawing/2014/main" id="{521177E3-F6B5-C2C0-A743-73ECC88D0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5276" y="4164746"/>
            <a:ext cx="218900" cy="218900"/>
          </a:xfrm>
          <a:prstGeom prst="rect">
            <a:avLst/>
          </a:prstGeom>
        </p:spPr>
      </p:pic>
      <p:pic>
        <p:nvPicPr>
          <p:cNvPr id="169" name="Gráfico 168" descr="Jerarquía con relleno sólido">
            <a:extLst>
              <a:ext uri="{FF2B5EF4-FFF2-40B4-BE49-F238E27FC236}">
                <a16:creationId xmlns:a16="http://schemas.microsoft.com/office/drawing/2014/main" id="{10B6D37E-629D-F3DA-4252-D94974EE3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872" y="3766814"/>
            <a:ext cx="180909" cy="180909"/>
          </a:xfrm>
          <a:prstGeom prst="rect">
            <a:avLst/>
          </a:prstGeom>
        </p:spPr>
      </p:pic>
      <p:pic>
        <p:nvPicPr>
          <p:cNvPr id="171" name="Gráfico 170" descr="Robot con relleno sólido">
            <a:extLst>
              <a:ext uri="{FF2B5EF4-FFF2-40B4-BE49-F238E27FC236}">
                <a16:creationId xmlns:a16="http://schemas.microsoft.com/office/drawing/2014/main" id="{69B273AF-DF00-0617-970D-5DF3576C82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476" y="3361370"/>
            <a:ext cx="218900" cy="218900"/>
          </a:xfrm>
          <a:prstGeom prst="rect">
            <a:avLst/>
          </a:prstGeom>
        </p:spPr>
      </p:pic>
      <p:pic>
        <p:nvPicPr>
          <p:cNvPr id="173" name="Gráfico 172" descr="Base de datos con relleno sólido">
            <a:extLst>
              <a:ext uri="{FF2B5EF4-FFF2-40B4-BE49-F238E27FC236}">
                <a16:creationId xmlns:a16="http://schemas.microsoft.com/office/drawing/2014/main" id="{0F79ADD6-8842-1D3E-B844-2E3E6DD919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0268" y="2968826"/>
            <a:ext cx="218900" cy="218900"/>
          </a:xfrm>
          <a:prstGeom prst="rect">
            <a:avLst/>
          </a:prstGeom>
        </p:spPr>
      </p:pic>
      <p:pic>
        <p:nvPicPr>
          <p:cNvPr id="175" name="Gráfico 174" descr="Torre de telecomunicaciones con relleno sólido">
            <a:extLst>
              <a:ext uri="{FF2B5EF4-FFF2-40B4-BE49-F238E27FC236}">
                <a16:creationId xmlns:a16="http://schemas.microsoft.com/office/drawing/2014/main" id="{3B603CAD-51DB-2BBC-77C0-329F2AE346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7818" y="2580136"/>
            <a:ext cx="199000" cy="199000"/>
          </a:xfrm>
          <a:prstGeom prst="rect">
            <a:avLst/>
          </a:prstGeom>
        </p:spPr>
      </p:pic>
      <p:pic>
        <p:nvPicPr>
          <p:cNvPr id="177" name="Gráfico 176" descr="Smartphone con relleno sólido">
            <a:extLst>
              <a:ext uri="{FF2B5EF4-FFF2-40B4-BE49-F238E27FC236}">
                <a16:creationId xmlns:a16="http://schemas.microsoft.com/office/drawing/2014/main" id="{5F0F28AA-A676-8DFE-4289-37A6314AA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5468" y="2177642"/>
            <a:ext cx="218900" cy="218900"/>
          </a:xfrm>
          <a:prstGeom prst="rect">
            <a:avLst/>
          </a:prstGeom>
        </p:spPr>
      </p:pic>
      <p:sp>
        <p:nvSpPr>
          <p:cNvPr id="179" name="Shape 38">
            <a:extLst>
              <a:ext uri="{FF2B5EF4-FFF2-40B4-BE49-F238E27FC236}">
                <a16:creationId xmlns:a16="http://schemas.microsoft.com/office/drawing/2014/main" id="{E4B6E48C-1113-9291-BB35-B1517DD71ACE}"/>
              </a:ext>
            </a:extLst>
          </p:cNvPr>
          <p:cNvSpPr/>
          <p:nvPr/>
        </p:nvSpPr>
        <p:spPr>
          <a:xfrm>
            <a:off x="5437854" y="4500161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B3A6B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0" name="Shape 38">
            <a:extLst>
              <a:ext uri="{FF2B5EF4-FFF2-40B4-BE49-F238E27FC236}">
                <a16:creationId xmlns:a16="http://schemas.microsoft.com/office/drawing/2014/main" id="{F6B7AB16-5810-467C-DD15-CED121BCEAAB}"/>
              </a:ext>
            </a:extLst>
          </p:cNvPr>
          <p:cNvSpPr/>
          <p:nvPr/>
        </p:nvSpPr>
        <p:spPr>
          <a:xfrm>
            <a:off x="5437854" y="4104856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1" name="Shape 38">
            <a:extLst>
              <a:ext uri="{FF2B5EF4-FFF2-40B4-BE49-F238E27FC236}">
                <a16:creationId xmlns:a16="http://schemas.microsoft.com/office/drawing/2014/main" id="{18B03481-0D5B-43CD-A099-6BB89EA7E21C}"/>
              </a:ext>
            </a:extLst>
          </p:cNvPr>
          <p:cNvSpPr/>
          <p:nvPr/>
        </p:nvSpPr>
        <p:spPr>
          <a:xfrm>
            <a:off x="5437854" y="3709550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2" name="Shape 38">
            <a:extLst>
              <a:ext uri="{FF2B5EF4-FFF2-40B4-BE49-F238E27FC236}">
                <a16:creationId xmlns:a16="http://schemas.microsoft.com/office/drawing/2014/main" id="{C67CAACE-4562-52FD-F8E0-9E821100015E}"/>
              </a:ext>
            </a:extLst>
          </p:cNvPr>
          <p:cNvSpPr/>
          <p:nvPr/>
        </p:nvSpPr>
        <p:spPr>
          <a:xfrm>
            <a:off x="5437854" y="3314244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3" name="Shape 38">
            <a:extLst>
              <a:ext uri="{FF2B5EF4-FFF2-40B4-BE49-F238E27FC236}">
                <a16:creationId xmlns:a16="http://schemas.microsoft.com/office/drawing/2014/main" id="{31CE876E-9D26-B82C-5B13-76A276661E95}"/>
              </a:ext>
            </a:extLst>
          </p:cNvPr>
          <p:cNvSpPr/>
          <p:nvPr/>
        </p:nvSpPr>
        <p:spPr>
          <a:xfrm>
            <a:off x="5437854" y="2918939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4" name="Shape 38">
            <a:extLst>
              <a:ext uri="{FF2B5EF4-FFF2-40B4-BE49-F238E27FC236}">
                <a16:creationId xmlns:a16="http://schemas.microsoft.com/office/drawing/2014/main" id="{C88C86F4-1F6C-1BAE-CCF6-BFCF06DFA2E9}"/>
              </a:ext>
            </a:extLst>
          </p:cNvPr>
          <p:cNvSpPr/>
          <p:nvPr/>
        </p:nvSpPr>
        <p:spPr>
          <a:xfrm>
            <a:off x="5437854" y="2523633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5" name="Shape 38">
            <a:extLst>
              <a:ext uri="{FF2B5EF4-FFF2-40B4-BE49-F238E27FC236}">
                <a16:creationId xmlns:a16="http://schemas.microsoft.com/office/drawing/2014/main" id="{6B037D2C-EEB6-ECF5-9D37-F7B887678BE9}"/>
              </a:ext>
            </a:extLst>
          </p:cNvPr>
          <p:cNvSpPr/>
          <p:nvPr/>
        </p:nvSpPr>
        <p:spPr>
          <a:xfrm>
            <a:off x="5437854" y="2128328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6" name="Shape 38">
            <a:extLst>
              <a:ext uri="{FF2B5EF4-FFF2-40B4-BE49-F238E27FC236}">
                <a16:creationId xmlns:a16="http://schemas.microsoft.com/office/drawing/2014/main" id="{D0398F20-8738-BC97-E65B-CD1B622BD031}"/>
              </a:ext>
            </a:extLst>
          </p:cNvPr>
          <p:cNvSpPr/>
          <p:nvPr/>
        </p:nvSpPr>
        <p:spPr>
          <a:xfrm>
            <a:off x="5437854" y="1733022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7" name="Shape 38">
            <a:extLst>
              <a:ext uri="{FF2B5EF4-FFF2-40B4-BE49-F238E27FC236}">
                <a16:creationId xmlns:a16="http://schemas.microsoft.com/office/drawing/2014/main" id="{DC7557F4-84D8-FD8F-612F-EF1173BD8033}"/>
              </a:ext>
            </a:extLst>
          </p:cNvPr>
          <p:cNvSpPr/>
          <p:nvPr/>
        </p:nvSpPr>
        <p:spPr>
          <a:xfrm>
            <a:off x="5437854" y="5290774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8" name="Shape 38">
            <a:extLst>
              <a:ext uri="{FF2B5EF4-FFF2-40B4-BE49-F238E27FC236}">
                <a16:creationId xmlns:a16="http://schemas.microsoft.com/office/drawing/2014/main" id="{B99C5D8F-81FA-F326-513C-FDB2B655B1D3}"/>
              </a:ext>
            </a:extLst>
          </p:cNvPr>
          <p:cNvSpPr/>
          <p:nvPr/>
        </p:nvSpPr>
        <p:spPr>
          <a:xfrm>
            <a:off x="5437854" y="4895467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9" name="Shape 38">
            <a:extLst>
              <a:ext uri="{FF2B5EF4-FFF2-40B4-BE49-F238E27FC236}">
                <a16:creationId xmlns:a16="http://schemas.microsoft.com/office/drawing/2014/main" id="{ED0937C2-B382-DEF0-BF61-C728A1933490}"/>
              </a:ext>
            </a:extLst>
          </p:cNvPr>
          <p:cNvSpPr/>
          <p:nvPr/>
        </p:nvSpPr>
        <p:spPr>
          <a:xfrm>
            <a:off x="5437854" y="5697720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91" name="Gráfico 190" descr="Correo electrónico con relleno sólido">
            <a:extLst>
              <a:ext uri="{FF2B5EF4-FFF2-40B4-BE49-F238E27FC236}">
                <a16:creationId xmlns:a16="http://schemas.microsoft.com/office/drawing/2014/main" id="{CFB5A0A8-DEBA-7BD4-E5AB-47BCB6894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2572202"/>
            <a:ext cx="240790" cy="240790"/>
          </a:xfrm>
          <a:prstGeom prst="rect">
            <a:avLst/>
          </a:prstGeom>
        </p:spPr>
      </p:pic>
      <p:pic>
        <p:nvPicPr>
          <p:cNvPr id="193" name="Gráfico 192" descr="Correo electrónico con relleno sólido">
            <a:extLst>
              <a:ext uri="{FF2B5EF4-FFF2-40B4-BE49-F238E27FC236}">
                <a16:creationId xmlns:a16="http://schemas.microsoft.com/office/drawing/2014/main" id="{DF5FAC44-286D-EB10-6CA5-31F36A0408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3354522"/>
            <a:ext cx="240790" cy="240790"/>
          </a:xfrm>
          <a:prstGeom prst="rect">
            <a:avLst/>
          </a:prstGeom>
        </p:spPr>
      </p:pic>
      <p:pic>
        <p:nvPicPr>
          <p:cNvPr id="207" name="Gráfico 206" descr="Correo electrónico con relleno sólido">
            <a:extLst>
              <a:ext uri="{FF2B5EF4-FFF2-40B4-BE49-F238E27FC236}">
                <a16:creationId xmlns:a16="http://schemas.microsoft.com/office/drawing/2014/main" id="{DBFEB811-594D-A980-667D-D7EFD328DB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3740602"/>
            <a:ext cx="240790" cy="240790"/>
          </a:xfrm>
          <a:prstGeom prst="rect">
            <a:avLst/>
          </a:prstGeom>
        </p:spPr>
      </p:pic>
      <p:pic>
        <p:nvPicPr>
          <p:cNvPr id="220" name="Gráfico 219" descr="Correo electrónico con relleno sólido">
            <a:extLst>
              <a:ext uri="{FF2B5EF4-FFF2-40B4-BE49-F238E27FC236}">
                <a16:creationId xmlns:a16="http://schemas.microsoft.com/office/drawing/2014/main" id="{E9E92E29-9A38-553A-0D75-B2280BF0C2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4147002"/>
            <a:ext cx="240790" cy="240790"/>
          </a:xfrm>
          <a:prstGeom prst="rect">
            <a:avLst/>
          </a:prstGeom>
        </p:spPr>
      </p:pic>
      <p:pic>
        <p:nvPicPr>
          <p:cNvPr id="221" name="Gráfico 220" descr="Documento con relleno sólido">
            <a:extLst>
              <a:ext uri="{FF2B5EF4-FFF2-40B4-BE49-F238E27FC236}">
                <a16:creationId xmlns:a16="http://schemas.microsoft.com/office/drawing/2014/main" id="{C2D20D91-0125-6810-601E-8EB70100EB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26342" y="2945118"/>
            <a:ext cx="265557" cy="265557"/>
          </a:xfrm>
          <a:prstGeom prst="rect">
            <a:avLst/>
          </a:prstGeom>
        </p:spPr>
      </p:pic>
      <p:pic>
        <p:nvPicPr>
          <p:cNvPr id="223" name="Imagen 222" descr="Forma&#10;&#10;El contenido generado por IA puede ser incorrecto.">
            <a:extLst>
              <a:ext uri="{FF2B5EF4-FFF2-40B4-BE49-F238E27FC236}">
                <a16:creationId xmlns:a16="http://schemas.microsoft.com/office/drawing/2014/main" id="{C67ED7FB-0F13-54CE-A5F1-5B692B0F4D4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43632" y="5333204"/>
            <a:ext cx="230977" cy="230977"/>
          </a:xfrm>
          <a:prstGeom prst="rect">
            <a:avLst/>
          </a:prstGeom>
        </p:spPr>
      </p:pic>
      <p:pic>
        <p:nvPicPr>
          <p:cNvPr id="225" name="Imagen 224" descr="Forma&#10;&#10;El contenido generado por IA puede ser incorrecto.">
            <a:extLst>
              <a:ext uri="{FF2B5EF4-FFF2-40B4-BE49-F238E27FC236}">
                <a16:creationId xmlns:a16="http://schemas.microsoft.com/office/drawing/2014/main" id="{EC50557F-B86B-F068-3424-AC6313C78B8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43632" y="5746877"/>
            <a:ext cx="230977" cy="230977"/>
          </a:xfrm>
          <a:prstGeom prst="rect">
            <a:avLst/>
          </a:prstGeom>
        </p:spPr>
      </p:pic>
      <p:pic>
        <p:nvPicPr>
          <p:cNvPr id="232" name="Imagen 231" descr="Forma&#10;&#10;El contenido generado por IA puede ser incorrecto.">
            <a:extLst>
              <a:ext uri="{FF2B5EF4-FFF2-40B4-BE49-F238E27FC236}">
                <a16:creationId xmlns:a16="http://schemas.microsoft.com/office/drawing/2014/main" id="{30A424C8-6006-F206-9388-7B24B861EA6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29539" y="1763111"/>
            <a:ext cx="279483" cy="279483"/>
          </a:xfrm>
          <a:prstGeom prst="rect">
            <a:avLst/>
          </a:prstGeom>
        </p:spPr>
      </p:pic>
      <p:pic>
        <p:nvPicPr>
          <p:cNvPr id="236" name="Imagen 235" descr="Forma&#10;&#10;El contenido generado por IA puede ser incorrecto.">
            <a:extLst>
              <a:ext uri="{FF2B5EF4-FFF2-40B4-BE49-F238E27FC236}">
                <a16:creationId xmlns:a16="http://schemas.microsoft.com/office/drawing/2014/main" id="{68EBB2FD-26DE-9E0C-A6C8-776E8DCFE4B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52637" y="4549729"/>
            <a:ext cx="233287" cy="233287"/>
          </a:xfrm>
          <a:prstGeom prst="rect">
            <a:avLst/>
          </a:prstGeom>
        </p:spPr>
      </p:pic>
      <p:sp>
        <p:nvSpPr>
          <p:cNvPr id="237" name="Arrow: Right 98">
            <a:extLst>
              <a:ext uri="{FF2B5EF4-FFF2-40B4-BE49-F238E27FC236}">
                <a16:creationId xmlns:a16="http://schemas.microsoft.com/office/drawing/2014/main" id="{55A88B4B-6836-648A-65A5-83AC36CED3A2}"/>
              </a:ext>
            </a:extLst>
          </p:cNvPr>
          <p:cNvSpPr/>
          <p:nvPr/>
        </p:nvSpPr>
        <p:spPr>
          <a:xfrm>
            <a:off x="5956390" y="1800539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8" name="Arrow: Right 98">
            <a:extLst>
              <a:ext uri="{FF2B5EF4-FFF2-40B4-BE49-F238E27FC236}">
                <a16:creationId xmlns:a16="http://schemas.microsoft.com/office/drawing/2014/main" id="{512E3BC6-EAC8-905C-4277-D78A02F49DF0}"/>
              </a:ext>
            </a:extLst>
          </p:cNvPr>
          <p:cNvSpPr/>
          <p:nvPr/>
        </p:nvSpPr>
        <p:spPr>
          <a:xfrm>
            <a:off x="5956390" y="2195845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9" name="Arrow: Right 98">
            <a:extLst>
              <a:ext uri="{FF2B5EF4-FFF2-40B4-BE49-F238E27FC236}">
                <a16:creationId xmlns:a16="http://schemas.microsoft.com/office/drawing/2014/main" id="{E7C6EE2E-0DFB-37BC-D7B5-52D58530A9AC}"/>
              </a:ext>
            </a:extLst>
          </p:cNvPr>
          <p:cNvSpPr/>
          <p:nvPr/>
        </p:nvSpPr>
        <p:spPr>
          <a:xfrm>
            <a:off x="5956390" y="2591150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0" name="Arrow: Right 98">
            <a:extLst>
              <a:ext uri="{FF2B5EF4-FFF2-40B4-BE49-F238E27FC236}">
                <a16:creationId xmlns:a16="http://schemas.microsoft.com/office/drawing/2014/main" id="{0A2B4115-6FCF-7006-6B19-140846F93206}"/>
              </a:ext>
            </a:extLst>
          </p:cNvPr>
          <p:cNvSpPr/>
          <p:nvPr/>
        </p:nvSpPr>
        <p:spPr>
          <a:xfrm>
            <a:off x="5956390" y="2986456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1" name="Arrow: Right 98">
            <a:extLst>
              <a:ext uri="{FF2B5EF4-FFF2-40B4-BE49-F238E27FC236}">
                <a16:creationId xmlns:a16="http://schemas.microsoft.com/office/drawing/2014/main" id="{AF464930-D67E-ABC8-C038-FEF285AFEF10}"/>
              </a:ext>
            </a:extLst>
          </p:cNvPr>
          <p:cNvSpPr/>
          <p:nvPr/>
        </p:nvSpPr>
        <p:spPr>
          <a:xfrm>
            <a:off x="5956390" y="3381761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2" name="Arrow: Right 98">
            <a:extLst>
              <a:ext uri="{FF2B5EF4-FFF2-40B4-BE49-F238E27FC236}">
                <a16:creationId xmlns:a16="http://schemas.microsoft.com/office/drawing/2014/main" id="{C7C9FE83-246F-1C2E-9722-3BC85DF3D2DC}"/>
              </a:ext>
            </a:extLst>
          </p:cNvPr>
          <p:cNvSpPr/>
          <p:nvPr/>
        </p:nvSpPr>
        <p:spPr>
          <a:xfrm>
            <a:off x="5956390" y="3777067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3" name="Arrow: Right 98">
            <a:extLst>
              <a:ext uri="{FF2B5EF4-FFF2-40B4-BE49-F238E27FC236}">
                <a16:creationId xmlns:a16="http://schemas.microsoft.com/office/drawing/2014/main" id="{C3EBC192-3E69-7A03-7364-AEB143091E82}"/>
              </a:ext>
            </a:extLst>
          </p:cNvPr>
          <p:cNvSpPr/>
          <p:nvPr/>
        </p:nvSpPr>
        <p:spPr>
          <a:xfrm>
            <a:off x="5956390" y="4172373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4" name="Arrow: Right 98">
            <a:extLst>
              <a:ext uri="{FF2B5EF4-FFF2-40B4-BE49-F238E27FC236}">
                <a16:creationId xmlns:a16="http://schemas.microsoft.com/office/drawing/2014/main" id="{5749C52A-5DE4-1A3D-1D9C-50EA6A15C7F0}"/>
              </a:ext>
            </a:extLst>
          </p:cNvPr>
          <p:cNvSpPr/>
          <p:nvPr/>
        </p:nvSpPr>
        <p:spPr>
          <a:xfrm>
            <a:off x="5956390" y="4567678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5" name="Arrow: Right 98">
            <a:extLst>
              <a:ext uri="{FF2B5EF4-FFF2-40B4-BE49-F238E27FC236}">
                <a16:creationId xmlns:a16="http://schemas.microsoft.com/office/drawing/2014/main" id="{2AEC87D6-32C0-09CA-2BB1-979D744A194D}"/>
              </a:ext>
            </a:extLst>
          </p:cNvPr>
          <p:cNvSpPr/>
          <p:nvPr/>
        </p:nvSpPr>
        <p:spPr>
          <a:xfrm>
            <a:off x="5956390" y="4962984"/>
            <a:ext cx="535475" cy="182880"/>
          </a:xfrm>
          <a:prstGeom prst="rightArrow">
            <a:avLst/>
          </a:prstGeom>
          <a:solidFill>
            <a:srgbClr val="6E90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6" name="Arrow: Right 98">
            <a:extLst>
              <a:ext uri="{FF2B5EF4-FFF2-40B4-BE49-F238E27FC236}">
                <a16:creationId xmlns:a16="http://schemas.microsoft.com/office/drawing/2014/main" id="{FC822981-DA74-08B0-E6AD-2839D248FAD7}"/>
              </a:ext>
            </a:extLst>
          </p:cNvPr>
          <p:cNvSpPr/>
          <p:nvPr/>
        </p:nvSpPr>
        <p:spPr>
          <a:xfrm>
            <a:off x="5956390" y="5358291"/>
            <a:ext cx="535475" cy="182880"/>
          </a:xfrm>
          <a:prstGeom prst="rightArrow">
            <a:avLst/>
          </a:prstGeom>
          <a:solidFill>
            <a:srgbClr val="6E90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7" name="Arrow: Right 98">
            <a:extLst>
              <a:ext uri="{FF2B5EF4-FFF2-40B4-BE49-F238E27FC236}">
                <a16:creationId xmlns:a16="http://schemas.microsoft.com/office/drawing/2014/main" id="{CAB5C081-40D6-F026-FE35-61A24D290C5A}"/>
              </a:ext>
            </a:extLst>
          </p:cNvPr>
          <p:cNvSpPr/>
          <p:nvPr/>
        </p:nvSpPr>
        <p:spPr>
          <a:xfrm>
            <a:off x="5956390" y="5770925"/>
            <a:ext cx="535475" cy="182880"/>
          </a:xfrm>
          <a:prstGeom prst="rightArrow">
            <a:avLst/>
          </a:prstGeom>
          <a:solidFill>
            <a:srgbClr val="6E90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9" name="CuadroTexto 248">
            <a:extLst>
              <a:ext uri="{FF2B5EF4-FFF2-40B4-BE49-F238E27FC236}">
                <a16:creationId xmlns:a16="http://schemas.microsoft.com/office/drawing/2014/main" id="{E6CEA346-D8A9-8DA8-BF12-058F38890969}"/>
              </a:ext>
            </a:extLst>
          </p:cNvPr>
          <p:cNvSpPr txBox="1"/>
          <p:nvPr/>
        </p:nvSpPr>
        <p:spPr>
          <a:xfrm>
            <a:off x="2740052" y="2139707"/>
            <a:ext cx="24138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Large Demand is planned and organized annually through PDD Process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0" name="CuadroTexto 249">
            <a:extLst>
              <a:ext uri="{FF2B5EF4-FFF2-40B4-BE49-F238E27FC236}">
                <a16:creationId xmlns:a16="http://schemas.microsoft.com/office/drawing/2014/main" id="{60310641-A732-252C-AF9D-2F78C61CA8A2}"/>
              </a:ext>
            </a:extLst>
          </p:cNvPr>
          <p:cNvSpPr txBox="1"/>
          <p:nvPr/>
        </p:nvSpPr>
        <p:spPr>
          <a:xfrm>
            <a:off x="2740051" y="1734593"/>
            <a:ext cx="26306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Requests can be submitted to BRS through ticketing system and Kanban is used to manage requests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693F8B02-89A7-1639-D32E-BCEF19D7632E}"/>
              </a:ext>
            </a:extLst>
          </p:cNvPr>
          <p:cNvSpPr txBox="1"/>
          <p:nvPr/>
        </p:nvSpPr>
        <p:spPr>
          <a:xfrm>
            <a:off x="354870" y="6294875"/>
            <a:ext cx="8106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Note: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 Ideation &amp; Strategy occur upstream (Business Side). The Digital Products lifecycle begins formally at </a:t>
            </a:r>
            <a:r>
              <a:rPr kumimoji="0" lang="en-US" sz="1000" b="1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Intake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55394601-50A7-A263-0CD4-A9FBFC5A3F8C}"/>
              </a:ext>
            </a:extLst>
          </p:cNvPr>
          <p:cNvSpPr txBox="1"/>
          <p:nvPr/>
        </p:nvSpPr>
        <p:spPr>
          <a:xfrm>
            <a:off x="549301" y="648743"/>
            <a:ext cx="1128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Demand enters through multiple departments and channels without a single intake point or structured filtering. This leads to mixed priorities, inefficiencies, and reactive execution with no clear value traceability.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67" name="Rectangle: Rounded Corners 6">
            <a:extLst>
              <a:ext uri="{FF2B5EF4-FFF2-40B4-BE49-F238E27FC236}">
                <a16:creationId xmlns:a16="http://schemas.microsoft.com/office/drawing/2014/main" id="{CE56D9B2-D186-1D1C-E843-D95DC527ADEC}"/>
              </a:ext>
            </a:extLst>
          </p:cNvPr>
          <p:cNvSpPr/>
          <p:nvPr/>
        </p:nvSpPr>
        <p:spPr>
          <a:xfrm>
            <a:off x="182556" y="1544258"/>
            <a:ext cx="2188398" cy="1641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Illustrative &amp; Non-exhaustive</a:t>
            </a:r>
          </a:p>
        </p:txBody>
      </p:sp>
      <p:sp>
        <p:nvSpPr>
          <p:cNvPr id="252" name="Text 6">
            <a:extLst>
              <a:ext uri="{FF2B5EF4-FFF2-40B4-BE49-F238E27FC236}">
                <a16:creationId xmlns:a16="http://schemas.microsoft.com/office/drawing/2014/main" id="{D3E23DC5-31C9-F397-C5AA-C473FBFEB3CC}"/>
              </a:ext>
            </a:extLst>
          </p:cNvPr>
          <p:cNvSpPr txBox="1"/>
          <p:nvPr/>
        </p:nvSpPr>
        <p:spPr>
          <a:xfrm>
            <a:off x="5670586" y="6580878"/>
            <a:ext cx="618324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Kanban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3" name="Text 6">
            <a:extLst>
              <a:ext uri="{FF2B5EF4-FFF2-40B4-BE49-F238E27FC236}">
                <a16:creationId xmlns:a16="http://schemas.microsoft.com/office/drawing/2014/main" id="{15B54BE5-A2CE-C417-5B34-619437FF44CF}"/>
              </a:ext>
            </a:extLst>
          </p:cNvPr>
          <p:cNvSpPr txBox="1"/>
          <p:nvPr/>
        </p:nvSpPr>
        <p:spPr>
          <a:xfrm>
            <a:off x="3199763" y="6580878"/>
            <a:ext cx="822989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Service Now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4" name="Text 6">
            <a:extLst>
              <a:ext uri="{FF2B5EF4-FFF2-40B4-BE49-F238E27FC236}">
                <a16:creationId xmlns:a16="http://schemas.microsoft.com/office/drawing/2014/main" id="{4D19C7B0-2E23-A7E3-D228-C03955072218}"/>
              </a:ext>
            </a:extLst>
          </p:cNvPr>
          <p:cNvSpPr txBox="1"/>
          <p:nvPr/>
        </p:nvSpPr>
        <p:spPr>
          <a:xfrm>
            <a:off x="6465499" y="6580878"/>
            <a:ext cx="618324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Email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5" name="Text 6">
            <a:extLst>
              <a:ext uri="{FF2B5EF4-FFF2-40B4-BE49-F238E27FC236}">
                <a16:creationId xmlns:a16="http://schemas.microsoft.com/office/drawing/2014/main" id="{463739E7-CD32-890F-EDFC-12BC34ADBC0E}"/>
              </a:ext>
            </a:extLst>
          </p:cNvPr>
          <p:cNvSpPr txBox="1"/>
          <p:nvPr/>
        </p:nvSpPr>
        <p:spPr>
          <a:xfrm>
            <a:off x="4267047" y="6580878"/>
            <a:ext cx="822989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Forms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6" name="Text 6">
            <a:extLst>
              <a:ext uri="{FF2B5EF4-FFF2-40B4-BE49-F238E27FC236}">
                <a16:creationId xmlns:a16="http://schemas.microsoft.com/office/drawing/2014/main" id="{961BE98B-0D09-3539-71C7-DE0F420A2378}"/>
              </a:ext>
            </a:extLst>
          </p:cNvPr>
          <p:cNvSpPr txBox="1"/>
          <p:nvPr/>
        </p:nvSpPr>
        <p:spPr>
          <a:xfrm>
            <a:off x="7104929" y="6580878"/>
            <a:ext cx="618324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Meetings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8" name="Text 6">
            <a:extLst>
              <a:ext uri="{FF2B5EF4-FFF2-40B4-BE49-F238E27FC236}">
                <a16:creationId xmlns:a16="http://schemas.microsoft.com/office/drawing/2014/main" id="{DA615B7F-DFDD-ACB1-BBAF-BB0CD24BA27A}"/>
              </a:ext>
            </a:extLst>
          </p:cNvPr>
          <p:cNvSpPr txBox="1"/>
          <p:nvPr/>
        </p:nvSpPr>
        <p:spPr>
          <a:xfrm>
            <a:off x="4931389" y="6580878"/>
            <a:ext cx="618324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Teams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59" name="Imagen 258" descr="Forma&#10;&#10;El contenido generado por IA puede ser incorrecto.">
            <a:extLst>
              <a:ext uri="{FF2B5EF4-FFF2-40B4-BE49-F238E27FC236}">
                <a16:creationId xmlns:a16="http://schemas.microsoft.com/office/drawing/2014/main" id="{06BC9E58-09C3-7BDD-1CD6-1EF449D6CD4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54915" y="6609651"/>
            <a:ext cx="173536" cy="173536"/>
          </a:xfrm>
          <a:prstGeom prst="rect">
            <a:avLst/>
          </a:prstGeom>
        </p:spPr>
      </p:pic>
      <p:pic>
        <p:nvPicPr>
          <p:cNvPr id="260" name="Imagen 259" descr="Forma&#10;&#10;El contenido generado por IA puede ser incorrecto.">
            <a:extLst>
              <a:ext uri="{FF2B5EF4-FFF2-40B4-BE49-F238E27FC236}">
                <a16:creationId xmlns:a16="http://schemas.microsoft.com/office/drawing/2014/main" id="{87644640-40C1-45DA-FA4C-A4AE41DDDD8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89440" y="6617539"/>
            <a:ext cx="157760" cy="157760"/>
          </a:xfrm>
          <a:prstGeom prst="rect">
            <a:avLst/>
          </a:prstGeom>
        </p:spPr>
      </p:pic>
      <p:pic>
        <p:nvPicPr>
          <p:cNvPr id="261" name="Gráfico 260" descr="Correo electrónico con relleno sólido">
            <a:extLst>
              <a:ext uri="{FF2B5EF4-FFF2-40B4-BE49-F238E27FC236}">
                <a16:creationId xmlns:a16="http://schemas.microsoft.com/office/drawing/2014/main" id="{D4A0DC28-A30C-6891-0989-50FF7BBA32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78553" y="6621663"/>
            <a:ext cx="149512" cy="149512"/>
          </a:xfrm>
          <a:prstGeom prst="rect">
            <a:avLst/>
          </a:prstGeom>
        </p:spPr>
      </p:pic>
      <p:pic>
        <p:nvPicPr>
          <p:cNvPr id="262" name="Gráfico 261" descr="Documento con relleno sólido">
            <a:extLst>
              <a:ext uri="{FF2B5EF4-FFF2-40B4-BE49-F238E27FC236}">
                <a16:creationId xmlns:a16="http://schemas.microsoft.com/office/drawing/2014/main" id="{860A6ECC-D592-D6AC-093B-992758716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66326" y="6596661"/>
            <a:ext cx="199516" cy="199516"/>
          </a:xfrm>
          <a:prstGeom prst="rect">
            <a:avLst/>
          </a:prstGeom>
        </p:spPr>
      </p:pic>
      <p:pic>
        <p:nvPicPr>
          <p:cNvPr id="263" name="Imagen 262" descr="Forma&#10;&#10;El contenido generado por IA puede ser incorrecto.">
            <a:extLst>
              <a:ext uri="{FF2B5EF4-FFF2-40B4-BE49-F238E27FC236}">
                <a16:creationId xmlns:a16="http://schemas.microsoft.com/office/drawing/2014/main" id="{0C1B5BC6-D590-8782-F05F-75BBDFC3C1C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33044" y="6630577"/>
            <a:ext cx="131685" cy="131685"/>
          </a:xfrm>
          <a:prstGeom prst="rect">
            <a:avLst/>
          </a:prstGeom>
        </p:spPr>
      </p:pic>
      <p:pic>
        <p:nvPicPr>
          <p:cNvPr id="265" name="Imagen 264" descr="Forma&#10;&#10;El contenido generado por IA puede ser incorrecto.">
            <a:extLst>
              <a:ext uri="{FF2B5EF4-FFF2-40B4-BE49-F238E27FC236}">
                <a16:creationId xmlns:a16="http://schemas.microsoft.com/office/drawing/2014/main" id="{B3237B2F-5961-A93E-1D3E-78D0787A202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66337" y="6624710"/>
            <a:ext cx="143418" cy="143418"/>
          </a:xfrm>
          <a:prstGeom prst="rect">
            <a:avLst/>
          </a:prstGeom>
        </p:spPr>
      </p:pic>
      <p:pic>
        <p:nvPicPr>
          <p:cNvPr id="273" name="Gráfico 272" descr="Correo electrónico con relleno sólido">
            <a:extLst>
              <a:ext uri="{FF2B5EF4-FFF2-40B4-BE49-F238E27FC236}">
                <a16:creationId xmlns:a16="http://schemas.microsoft.com/office/drawing/2014/main" id="{9041632D-7E5F-7BDC-4EC2-EC954EFFA3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4951830"/>
            <a:ext cx="240790" cy="240790"/>
          </a:xfrm>
          <a:prstGeom prst="rect">
            <a:avLst/>
          </a:prstGeom>
        </p:spPr>
      </p:pic>
      <p:pic>
        <p:nvPicPr>
          <p:cNvPr id="5" name="Gráfico 220" descr="Documento con relleno sólido">
            <a:extLst>
              <a:ext uri="{FF2B5EF4-FFF2-40B4-BE49-F238E27FC236}">
                <a16:creationId xmlns:a16="http://schemas.microsoft.com/office/drawing/2014/main" id="{7EB8D358-7D57-0E0D-76C9-10BD142B9D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26601" y="2148677"/>
            <a:ext cx="265557" cy="265557"/>
          </a:xfrm>
          <a:prstGeom prst="rect">
            <a:avLst/>
          </a:prstGeom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55CEE52B-93D4-A3DA-BD80-C2CC970A3BA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66875" y="1766815"/>
            <a:ext cx="230977" cy="230977"/>
          </a:xfrm>
          <a:prstGeom prst="rect">
            <a:avLst/>
          </a:prstGeom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C1377ECD-2E13-0552-D107-E38C8F77AC8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6514" y="6092771"/>
            <a:ext cx="209979" cy="209979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5B2A3800-B17C-EC68-9FF2-A5E8F556E101}"/>
              </a:ext>
            </a:extLst>
          </p:cNvPr>
          <p:cNvSpPr txBox="1"/>
          <p:nvPr/>
        </p:nvSpPr>
        <p:spPr>
          <a:xfrm>
            <a:off x="703029" y="6065050"/>
            <a:ext cx="748172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Pilot Scope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F56329C6-D93C-2087-3D84-0FFA9991C4B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85947" y="3152961"/>
            <a:ext cx="209979" cy="2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31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3B039D0-C26C-5C6D-64AD-D1131560FCDA}"/>
              </a:ext>
            </a:extLst>
          </p:cNvPr>
          <p:cNvSpPr/>
          <p:nvPr/>
        </p:nvSpPr>
        <p:spPr>
          <a:xfrm>
            <a:off x="772160" y="1473200"/>
            <a:ext cx="4927600" cy="4500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As-IS</a:t>
            </a:r>
          </a:p>
          <a:p>
            <a:pPr algn="ctr"/>
            <a:r>
              <a:rPr lang="es-MX" dirty="0"/>
              <a:t>Presentar la información que ya nos dieron </a:t>
            </a:r>
            <a:r>
              <a:rPr lang="es-MX" dirty="0">
                <a:sym typeface="Wingdings" panose="05000000000000000000" pitchFamily="2" charset="2"/>
              </a:rPr>
              <a:t> respondiendo a las preguntas que tenemos / o preguntas aun sin responder</a:t>
            </a:r>
            <a:endParaRPr lang="es-MX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78AAB5D-3EA2-D799-1274-9DF3F0AC7056}"/>
              </a:ext>
            </a:extLst>
          </p:cNvPr>
          <p:cNvSpPr/>
          <p:nvPr/>
        </p:nvSpPr>
        <p:spPr>
          <a:xfrm>
            <a:off x="6502400" y="1473200"/>
            <a:ext cx="4927600" cy="4500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Entender qué nos sirve para el </a:t>
            </a:r>
            <a:r>
              <a:rPr lang="es-MX" dirty="0" err="1"/>
              <a:t>To</a:t>
            </a:r>
            <a:r>
              <a:rPr lang="es-MX" dirty="0"/>
              <a:t>-Be – o empezar a definir. </a:t>
            </a:r>
          </a:p>
        </p:txBody>
      </p:sp>
    </p:spTree>
    <p:extLst>
      <p:ext uri="{BB962C8B-B14F-4D97-AF65-F5344CB8AC3E}">
        <p14:creationId xmlns:p14="http://schemas.microsoft.com/office/powerpoint/2010/main" val="768199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562EEA8-4171-AE2F-A8C7-5222B7079233}"/>
              </a:ext>
            </a:extLst>
          </p:cNvPr>
          <p:cNvSpPr/>
          <p:nvPr/>
        </p:nvSpPr>
        <p:spPr>
          <a:xfrm>
            <a:off x="1249680" y="1046480"/>
            <a:ext cx="10678160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AFA5033-36FA-0B8F-69F3-34BCCFAAC910}"/>
              </a:ext>
            </a:extLst>
          </p:cNvPr>
          <p:cNvSpPr/>
          <p:nvPr/>
        </p:nvSpPr>
        <p:spPr>
          <a:xfrm>
            <a:off x="1437527" y="1222783"/>
            <a:ext cx="1442946" cy="510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REquest</a:t>
            </a:r>
            <a:endParaRPr lang="es-MX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D0EB3DF-3441-F36D-F699-D305CCAE1582}"/>
              </a:ext>
            </a:extLst>
          </p:cNvPr>
          <p:cNvSpPr/>
          <p:nvPr/>
        </p:nvSpPr>
        <p:spPr>
          <a:xfrm>
            <a:off x="3022487" y="1222783"/>
            <a:ext cx="1442946" cy="510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REquest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3EFF32F-37F7-234D-6CCA-CFA0FCDA126F}"/>
              </a:ext>
            </a:extLst>
          </p:cNvPr>
          <p:cNvSpPr/>
          <p:nvPr/>
        </p:nvSpPr>
        <p:spPr>
          <a:xfrm>
            <a:off x="4688727" y="1222783"/>
            <a:ext cx="1442946" cy="510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REquest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8F13344-2DE5-2588-945B-1C4AD7A608CC}"/>
              </a:ext>
            </a:extLst>
          </p:cNvPr>
          <p:cNvSpPr/>
          <p:nvPr/>
        </p:nvSpPr>
        <p:spPr>
          <a:xfrm>
            <a:off x="6294007" y="1222783"/>
            <a:ext cx="1442946" cy="510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REquest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649E594-91A5-FED8-0462-35B5097E8380}"/>
              </a:ext>
            </a:extLst>
          </p:cNvPr>
          <p:cNvSpPr/>
          <p:nvPr/>
        </p:nvSpPr>
        <p:spPr>
          <a:xfrm>
            <a:off x="8051687" y="1222783"/>
            <a:ext cx="1442946" cy="510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REquest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427806C-60FB-61E1-9D09-CB2B633BAD74}"/>
              </a:ext>
            </a:extLst>
          </p:cNvPr>
          <p:cNvSpPr/>
          <p:nvPr/>
        </p:nvSpPr>
        <p:spPr>
          <a:xfrm>
            <a:off x="9819527" y="1222783"/>
            <a:ext cx="1442946" cy="510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REquest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7E9A3DA-A37F-D6D3-3EBD-02AF6256957D}"/>
              </a:ext>
            </a:extLst>
          </p:cNvPr>
          <p:cNvSpPr/>
          <p:nvPr/>
        </p:nvSpPr>
        <p:spPr>
          <a:xfrm>
            <a:off x="81280" y="2063209"/>
            <a:ext cx="995680" cy="61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To</a:t>
            </a:r>
            <a:r>
              <a:rPr lang="es-MX" dirty="0"/>
              <a:t>-Be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EBD166-0682-0FF7-A81C-19663827AB84}"/>
              </a:ext>
            </a:extLst>
          </p:cNvPr>
          <p:cNvSpPr/>
          <p:nvPr/>
        </p:nvSpPr>
        <p:spPr>
          <a:xfrm>
            <a:off x="1666240" y="2063209"/>
            <a:ext cx="995680" cy="61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/>
              <a:t>Digital (Canales de demanda)=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10C074D-AA19-4CCE-0EC3-E3A25C225B02}"/>
              </a:ext>
            </a:extLst>
          </p:cNvPr>
          <p:cNvSpPr/>
          <p:nvPr/>
        </p:nvSpPr>
        <p:spPr>
          <a:xfrm>
            <a:off x="1666240" y="2835369"/>
            <a:ext cx="995680" cy="61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/>
              <a:t>Digital (Canales de demanda)=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2506907-1D56-8076-C613-28B530353302}"/>
              </a:ext>
            </a:extLst>
          </p:cNvPr>
          <p:cNvSpPr/>
          <p:nvPr/>
        </p:nvSpPr>
        <p:spPr>
          <a:xfrm>
            <a:off x="1666240" y="3546569"/>
            <a:ext cx="995680" cy="61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/>
              <a:t>Digital (Canales de demanda)=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E66042B-4512-A267-5480-C7126C18D268}"/>
              </a:ext>
            </a:extLst>
          </p:cNvPr>
          <p:cNvSpPr/>
          <p:nvPr/>
        </p:nvSpPr>
        <p:spPr>
          <a:xfrm>
            <a:off x="81280" y="4725129"/>
            <a:ext cx="995680" cy="61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To</a:t>
            </a:r>
            <a:r>
              <a:rPr lang="es-MX" dirty="0"/>
              <a:t>-Be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2688175-348C-F98D-759D-734AD8314E7E}"/>
              </a:ext>
            </a:extLst>
          </p:cNvPr>
          <p:cNvSpPr/>
          <p:nvPr/>
        </p:nvSpPr>
        <p:spPr>
          <a:xfrm>
            <a:off x="1153291" y="4725129"/>
            <a:ext cx="1940299" cy="61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Jira (100 </a:t>
            </a:r>
            <a:r>
              <a:rPr lang="es-MX" sz="1200" dirty="0" err="1"/>
              <a:t>request</a:t>
            </a:r>
            <a:r>
              <a:rPr lang="es-MX" sz="1200" dirty="0"/>
              <a:t> mensuales)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03E1897-5224-6953-D94E-474FB8657FFE}"/>
              </a:ext>
            </a:extLst>
          </p:cNvPr>
          <p:cNvSpPr/>
          <p:nvPr/>
        </p:nvSpPr>
        <p:spPr>
          <a:xfrm>
            <a:off x="1153291" y="5527769"/>
            <a:ext cx="1940299" cy="61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err="1"/>
              <a:t>Sharepoitn</a:t>
            </a:r>
            <a:endParaRPr lang="es-MX" sz="12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6433CA2-0E94-BE1D-D13C-E5DDDFB311E4}"/>
              </a:ext>
            </a:extLst>
          </p:cNvPr>
          <p:cNvSpPr/>
          <p:nvPr/>
        </p:nvSpPr>
        <p:spPr>
          <a:xfrm>
            <a:off x="1153291" y="6015449"/>
            <a:ext cx="1940299" cy="61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Correo</a:t>
            </a:r>
          </a:p>
        </p:txBody>
      </p:sp>
    </p:spTree>
    <p:extLst>
      <p:ext uri="{BB962C8B-B14F-4D97-AF65-F5344CB8AC3E}">
        <p14:creationId xmlns:p14="http://schemas.microsoft.com/office/powerpoint/2010/main" val="1105376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7929D2-F60E-4383-BC2D-AB901AA6F4D0}">
  <we:reference id="WA200010001" version="1.0.0.1" store="pt-br" storeType="omex"/>
  <we:alternateReferences>
    <we:reference id="WA200010001" version="1.0.0.1" store="omex" storeType="omex"/>
  </we:alternateReferences>
  <we:properties>
    <we:property name="claude.fileId" value="&quot;39acb17f-4649-4d5a-a1fb-4c73a1b9363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BF3122F7F4D498EB3A12D7FC443DA" ma:contentTypeVersion="15" ma:contentTypeDescription="Create a new document." ma:contentTypeScope="" ma:versionID="54fd3935055be7f2473d3bcccc4c41fe">
  <xsd:schema xmlns:xsd="http://www.w3.org/2001/XMLSchema" xmlns:xs="http://www.w3.org/2001/XMLSchema" xmlns:p="http://schemas.microsoft.com/office/2006/metadata/properties" xmlns:ns2="4b464e96-be12-433e-8722-39d5a0f59d28" xmlns:ns3="9af8d66c-8f78-4f3a-ae1c-6e82e7ed62c7" targetNamespace="http://schemas.microsoft.com/office/2006/metadata/properties" ma:root="true" ma:fieldsID="15c832138d5a3dd2e20aed558ae63bd2" ns2:_="" ns3:_="">
    <xsd:import namespace="4b464e96-be12-433e-8722-39d5a0f59d28"/>
    <xsd:import namespace="9af8d66c-8f78-4f3a-ae1c-6e82e7ed62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uente" minOccurs="0"/>
                <xsd:element ref="ns2:Pa_x00ed_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464e96-be12-433e-8722-39d5a0f59d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uente" ma:index="20" nillable="true" ma:displayName="Compartido por" ma:format="Dropdown" ma:internalName="Fuente">
      <xsd:simpleType>
        <xsd:restriction base="dms:Text">
          <xsd:maxLength value="255"/>
        </xsd:restriction>
      </xsd:simpleType>
    </xsd:element>
    <xsd:element name="Pa_x00ed_s" ma:index="21" nillable="true" ma:displayName="País" ma:format="Dropdown" ma:internalName="Pa_x00ed_s">
      <xsd:simpleType>
        <xsd:restriction base="dms:Text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66c-8f78-4f3a-ae1c-6e82e7ed62c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ad7c53e-bc4f-4e24-99ba-65f21ed5e662}" ma:internalName="TaxCatchAll" ma:showField="CatchAllData" ma:web="9af8d66c-8f78-4f3a-ae1c-6e82e7ed62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a_x00ed_s xmlns="4b464e96-be12-433e-8722-39d5a0f59d28" xsi:nil="true"/>
    <Fuente xmlns="4b464e96-be12-433e-8722-39d5a0f59d28" xsi:nil="true"/>
    <lcf76f155ced4ddcb4097134ff3c332f xmlns="4b464e96-be12-433e-8722-39d5a0f59d28">
      <Terms xmlns="http://schemas.microsoft.com/office/infopath/2007/PartnerControls"/>
    </lcf76f155ced4ddcb4097134ff3c332f>
    <TaxCatchAll xmlns="9af8d66c-8f78-4f3a-ae1c-6e82e7ed62c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13BE1-42FB-4BCD-AD27-75CAE200A1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464e96-be12-433e-8722-39d5a0f59d28"/>
    <ds:schemaRef ds:uri="9af8d66c-8f78-4f3a-ae1c-6e82e7ed62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8240A12-37A4-4EA9-B7BE-A326A5FEE75C}">
  <ds:schemaRefs>
    <ds:schemaRef ds:uri="9af8d66c-8f78-4f3a-ae1c-6e82e7ed62c7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www.w3.org/XML/1998/namespace"/>
    <ds:schemaRef ds:uri="4b464e96-be12-433e-8722-39d5a0f59d28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58E69A5-9AC3-4456-9765-483B3C7A69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5878</Words>
  <Application>Microsoft Office PowerPoint</Application>
  <PresentationFormat>Widescreen</PresentationFormat>
  <Paragraphs>459</Paragraphs>
  <Slides>14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Alfredo Soto Cuellar</cp:lastModifiedBy>
  <cp:revision>3</cp:revision>
  <dcterms:created xsi:type="dcterms:W3CDTF">2013-01-27T09:14:16Z</dcterms:created>
  <dcterms:modified xsi:type="dcterms:W3CDTF">2026-04-10T19:34:32Z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0x01010024ABF3122F7F4D498EB3A12D7FC443DA</vt:lpwstr>
  </property>
  <property fmtid="{D5CDD505-2E9C-101B-9397-08002B2CF9AE}" pid="3" name="MediaServiceImageTags">
    <vt:lpwstr/>
  </property>
</Properties>
</file>