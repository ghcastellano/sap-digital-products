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147483614" r:id="rId5"/>
    <p:sldId id="258" r:id="rId6"/>
    <p:sldId id="2147483629" r:id="rId7"/>
    <p:sldId id="2147483630" r:id="rId8"/>
    <p:sldId id="2147483617" r:id="rId9"/>
    <p:sldId id="2147483618" r:id="rId10"/>
    <p:sldId id="2147483620" r:id="rId11"/>
    <p:sldId id="2147483622" r:id="rId12"/>
    <p:sldId id="2147483625" r:id="rId13"/>
    <p:sldId id="2147483626" r:id="rId14"/>
    <p:sldId id="2147483627" r:id="rId15"/>
    <p:sldId id="214748362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6A008C-CDE6-8135-13C0-0D7A8F18E122}" v="612" dt="2026-04-08T18:00:10.880"/>
    <p1510:client id="{358979E2-8D5F-944E-A016-4B2A1BFCACB1}" v="4" dt="2026-04-08T18:12:16.244"/>
    <p1510:client id="{D4690340-A7CE-41AB-A9A7-685E7290211F}" v="1" dt="2026-04-08T17:39:38.905"/>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11"/>
    <p:restoredTop sz="94698"/>
  </p:normalViewPr>
  <p:slideViewPr>
    <p:cSldViewPr snapToGrid="0">
      <p:cViewPr varScale="1">
        <p:scale>
          <a:sx n="137" d="100"/>
          <a:sy n="137" d="100"/>
        </p:scale>
        <p:origin x="216" y="6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 Id="rId23"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7D4EC-9B40-E340-BEA7-010E000B6DB3}" type="datetimeFigureOut">
              <a:rPr lang="pt-BR" smtClean="0"/>
              <a:t>06/04/2026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1EE1FB-C71A-F748-BC6C-7000C50F6B65}" type="slidenum">
              <a:rPr lang="pt-BR" smtClean="0"/>
              <a:t>‹nº›</a:t>
            </a:fld>
            <a:endParaRPr lang="pt-BR"/>
          </a:p>
        </p:txBody>
      </p:sp>
    </p:spTree>
    <p:extLst>
      <p:ext uri="{BB962C8B-B14F-4D97-AF65-F5344CB8AC3E}">
        <p14:creationId xmlns:p14="http://schemas.microsoft.com/office/powerpoint/2010/main" val="2609839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FE240-D894-06FF-4AAF-AB208D6B7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CC2DB-1B36-960B-DB38-562D0304CF80}"/>
              </a:ext>
            </a:extLst>
          </p:cNvPr>
          <p:cNvSpPr>
            <a:spLocks noGrp="1" noRot="1" noChangeAspect="1"/>
          </p:cNvSpPr>
          <p:nvPr>
            <p:ph type="sldImg"/>
          </p:nvPr>
        </p:nvSpPr>
        <p:spPr>
          <a:xfrm>
            <a:off x="685800" y="1143000"/>
            <a:ext cx="5486400" cy="3086100"/>
          </a:xfrm>
        </p:spPr>
        <p:txBody>
          <a:bodyPr/>
          <a:lstStyle/>
          <a:p>
            <a:endParaRPr lang="pt-BR"/>
          </a:p>
        </p:txBody>
      </p:sp>
      <p:sp>
        <p:nvSpPr>
          <p:cNvPr id="3" name="Notes Placeholder 2">
            <a:extLst>
              <a:ext uri="{FF2B5EF4-FFF2-40B4-BE49-F238E27FC236}">
                <a16:creationId xmlns:a16="http://schemas.microsoft.com/office/drawing/2014/main" id="{7973A28B-AE4F-DC6C-23EF-50B76C69D15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1EBD2C9-9746-87ED-205C-C0BC35E135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330459-04A6-496E-99F7-EB9EEED2D26C}"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01988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7_Solo el título">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B95E978-8472-CA69-B0B6-9C431E4CD996}"/>
              </a:ext>
            </a:extLst>
          </p:cNvPr>
          <p:cNvPicPr>
            <a:picLocks noChangeAspect="1"/>
          </p:cNvPicPr>
          <p:nvPr userDrawn="1"/>
        </p:nvPicPr>
        <p:blipFill>
          <a:blip r:embed="rId2">
            <a:alphaModFix amt="20000"/>
          </a:blip>
          <a:stretch>
            <a:fillRect/>
          </a:stretch>
        </p:blipFill>
        <p:spPr>
          <a:xfrm>
            <a:off x="-12131" y="0"/>
            <a:ext cx="12204131" cy="6858001"/>
          </a:xfrm>
          <a:prstGeom prst="rect">
            <a:avLst/>
          </a:prstGeom>
        </p:spPr>
      </p:pic>
      <p:pic>
        <p:nvPicPr>
          <p:cNvPr id="4" name="Imagen 3">
            <a:extLst>
              <a:ext uri="{FF2B5EF4-FFF2-40B4-BE49-F238E27FC236}">
                <a16:creationId xmlns:a16="http://schemas.microsoft.com/office/drawing/2014/main" id="{0F027B3D-B447-4970-1AAD-550A0D24CD62}"/>
              </a:ext>
            </a:extLst>
          </p:cNvPr>
          <p:cNvPicPr>
            <a:picLocks noChangeAspect="1"/>
          </p:cNvPicPr>
          <p:nvPr userDrawn="1"/>
        </p:nvPicPr>
        <p:blipFill>
          <a:blip r:embed="rId3"/>
          <a:stretch>
            <a:fillRect/>
          </a:stretch>
        </p:blipFill>
        <p:spPr>
          <a:xfrm>
            <a:off x="0" y="7347940"/>
            <a:ext cx="6858000" cy="697149"/>
          </a:xfrm>
          <a:prstGeom prst="rect">
            <a:avLst/>
          </a:prstGeom>
        </p:spPr>
      </p:pic>
    </p:spTree>
    <p:extLst>
      <p:ext uri="{BB962C8B-B14F-4D97-AF65-F5344CB8AC3E}">
        <p14:creationId xmlns:p14="http://schemas.microsoft.com/office/powerpoint/2010/main" val="21169686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WOW%20-%20New%20Ways%20of%20Working%20-%20P%26S%20Lean%20Operating%20Model%2003.10.2026%20v1.2.pptx?web=1" TargetMode="External"/><Relationship Id="rId4"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ject%20Management%20Playbook%20-%20P%26S%20Ways%20of%20Working%2010.28.25%20v.1.0-2.pptx?web=1" TargetMode="External"/><Relationship Id="rId5"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duct%20Discovery%20Playbook%20-%20P%26S%20Ways%20of%20Working%2002.03.26%20v.1.3%20%2BFIGMA.pptx?web=1" TargetMode="External"/><Relationship Id="rId6"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2%5D%20Digital%20CoE%20Operating%20Model%20-%20Playbook%20-%2001.05.2026%20V.2.5.%20FINAL%20pptx.pptx?web=1" TargetMode="External"/><Relationship Id="rId7"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Agile%20Management%20Model%20_%20Proposal%20Avangrid%20Architecture%20V.3.1%2018.01.2024%203.pptx?web=1" TargetMode="External"/><Relationship Id="rId8"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extGen_DTO_Deliverable1%20-%20Final.pptx?web=1" TargetMode="External"/><Relationship Id="rId9"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BRP_Q2_2026_P%26S%20Networks%20IT%20-%20New%20Ways%20of%20Working%20-%20v1.4.4%2003.09.2026.pptx?web=1" TargetMode="External"/><Relationship Id="rId10"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7%5D%20Agility%20Playbook%20-%20Digital%20Center%20of%20Excellence%2006.18.2025%20V.1.7.pptx?web=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WOW%20-%20New%20Ways%20of%20Working%20-%20P%26S%20Lean%20Operating%20Model%2003.10.2026%20v1.2.pptx?web=1" TargetMode="External"/><Relationship Id="rId4"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ject%20Management%20Playbook%20-%20P%26S%20Ways%20of%20Working%2010.28.25%20v.1.0-2.pptx?web=1" TargetMode="External"/><Relationship Id="rId5"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duct%20Discovery%20Playbook%20-%20P%26S%20Ways%20of%20Working%2002.03.26%20v.1.3%20%2BFIGMA.pptx?web=1" TargetMode="External"/><Relationship Id="rId6"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2%5D%20Digital%20CoE%20Operating%20Model%20-%20Playbook%20-%2001.05.2026%20V.2.5.%20FINAL%20pptx.pptx?web=1" TargetMode="External"/><Relationship Id="rId7"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extGen_DTO_Deliverable1%20-%20Final.pptx?web=1" TargetMode="External"/><Relationship Id="rId8"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7%5D%20Agility%20Playbook%20-%20Digital%20Center%20of%20Excellence%2006.18.2025%20V.1.7.pptx?web=1" TargetMode="External"/><Relationship Id="rId9"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TTDATA-Digital%20Strategy%20-%20NextGen%20Produc%20Ops%20Org%20Design%20SEAL-SIX%20Model%20v.1.7%2006.29.pptx?web=1" TargetMode="External"/><Relationship Id="rId10"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Agile%20Management%20Model%20_%20Proposal%20Avangrid%20Architecture%20V.3.1%2018.01.2024%203.pptx?web=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ject%20Management%20Playbook%20-%20P%26S%20Ways%20of%20Working%2010.28.25%20v.1.0-2.pptx?web=1" TargetMode="External"/><Relationship Id="rId4"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CX%5D%20JIRA%20Agile%20Management%20Playbook%20-%20Center%20of%20Excellence%2025.03.2024%20V.1.0.pdf?web=1" TargetMode="External"/><Relationship Id="rId5"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33%5D%20NextGen%202.0%20-%20Jira%20Management%20User%20Guide%20for%20CX%20Digitall%20CoE%2027.06.2024.pptx?web=1" TargetMode="External"/><Relationship Id="rId6"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2%5D%20Digital%20CoE%20Operating%20Model%20-%20Playbook%20-%2001.05.2026%20V.2.5.%20FINAL%20pptx.pptx?web=1" TargetMode="External"/><Relationship Id="rId7"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TPO%20FLOW%20Project%20-%20JIRA%20Training%20Guide%2005-13-2025.pptx?web=1" TargetMode="External"/><Relationship Id="rId8"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extGen_DTO_Deliverable1%20-%20Final.pptx?web=1" TargetMode="External"/><Relationship Id="rId9"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WOW%20-%20New%20Ways%20of%20Working%20-%20P%26S%20Lean%20Operating%20Model%2003.10.2026%20v1.2.pptx?web=1" TargetMode="External"/><Relationship Id="rId10"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Agile%20Management%20Model%20_%20Proposal%20Avangrid%20Architecture%20V.3.1%2018.01.2024%203.pptx?web=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WOW%20-%20New%20Ways%20of%20Working%20-%20P%26S%20Lean%20Operating%20Model%2003.10.2026%20v1.2.pptx?web=1" TargetMode="External"/><Relationship Id="rId4"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duct%20Discovery%20Playbook%20-%20P%26S%20Ways%20of%20Working%2002.03.26%20v.1.3%20%2BFIGMA.pptx?web=1" TargetMode="External"/><Relationship Id="rId5"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ject%20Management%20Playbook%20-%20P%26S%20Ways%20of%20Working%2010.28.25%20v.1.0-2.pptx?web=1" TargetMode="External"/><Relationship Id="rId6"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2%5D%20Digital%20CoE%20Operating%20Model%20-%20Playbook%20-%2001.05.2026%20V.2.5.%20FINAL%20pptx.pptx?web=1" TargetMode="External"/><Relationship Id="rId7"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Project_Book_Avangrid_Template%20v1.0.pptx?web=1" TargetMode="External"/><Relationship Id="rId8"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Agile%20Management%20Model%20_%20Proposal%20Avangrid%20Architecture%20V.3.1%2018.01.2024%203.pptx?web=1" TargetMode="External"/><Relationship Id="rId9"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extGen_DTO_Deliverable1%20-%20Final.pptx?web=1" TargetMode="External"/><Relationship Id="rId10"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TTDATA-Digital%20Strategy%20-%20NextGen%20Produc%20Ops%20Org%20Design%20SEAL-SIX%20Model%20v.1.7%2006.29.pptx?web=1" TargetMode="External"/><Relationship Id="rId11"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7%5D%20Agility%20Playbook%20-%20Digital%20Center%20of%20Excellence%2006.18.2025%20V.1.7.pptx?web=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duct%20Discovery%20Playbook%20-%20P%26S%20Ways%20of%20Working%2002.03.26%20v.1.3%20%2BFIGMA.pptx?web=1" TargetMode="External"/><Relationship Id="rId4"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00%5D%20Project%20Management%20Playbook%20-%20P%26S%20Ways%20of%20Working%2010.28.25%20v.1.0-2.pptx?web=1" TargetMode="External"/><Relationship Id="rId5"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7%5D%20Agility%20Playbook%20-%20Digital%20Center%20of%20Excellence%2006.18.2025%20V.1.7.pptx?web=1" TargetMode="External"/><Relationship Id="rId6"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12%5D%20Digital%20CoE%20Operating%20Model%20-%20Playbook%20-%2001.05.2026%20V.2.5.%20FINAL%20pptx.pptx?web=1" TargetMode="External"/><Relationship Id="rId7"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5BCX%5D%20JIRA%20Agile%20Management%20Playbook%20-%20Center%20of%20Excellence%2025.03.2024%20V.1.0.pdf?web=1" TargetMode="External"/><Relationship Id="rId8"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extGen_DTO_Deliverable1%20-%20Final.pptx?web=1" TargetMode="External"/><Relationship Id="rId9" Type="http://schemas.openxmlformats.org/officeDocument/2006/relationships/hyperlink" Target="https://everisgroup.sharepoint.com/sites/DSAUSA/Documentos%20compartidos/Knowledge%20Management/02.%20Projects/03.%20Talent%20%26%20Organizational%20Transformation/Avangrid%20-%20Digital%20Products%20-%20Project%20Management%20Area/Existing%20Assets%20of%20other%20Projects%20%28Renewables%2C%20Digital%20CoE%2C%20Infra%20and%20P%26S%20-%20P%26T%29/nWOW%20-%20New%20Ways%20of%20Working%20-%20P%26S%20Lean%20Operating%20Model%2003.10.2026%20v1.2.pptx?web=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7900D-5BF5-01F1-6131-EF760608E7D3}"/>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A8310E9-F0DB-9E85-4BCF-91F69CE15EDE}"/>
              </a:ext>
            </a:extLst>
          </p:cNvPr>
          <p:cNvSpPr/>
          <p:nvPr/>
        </p:nvSpPr>
        <p:spPr>
          <a:xfrm>
            <a:off x="838307" y="2008370"/>
            <a:ext cx="9590483" cy="1420630"/>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1" u="none" strike="noStrike" kern="1200" cap="none" spc="0" normalizeH="0" baseline="0" noProof="0">
                <a:ln>
                  <a:noFill/>
                </a:ln>
                <a:solidFill>
                  <a:srgbClr val="00A443"/>
                </a:solidFill>
                <a:effectLst/>
                <a:uLnTx/>
                <a:uFillTx/>
                <a:latin typeface="Georgia Pro" panose="02040502050405020303" pitchFamily="18" charset="0"/>
                <a:ea typeface="Noto Serif" panose="02020502060505020204" pitchFamily="18" charset="0"/>
                <a:cs typeface="Noto Serif" panose="02020502060505020204" pitchFamily="18" charset="0"/>
              </a:rPr>
              <a:t>Digital Products</a:t>
            </a:r>
            <a:endParaRPr kumimoji="0" lang="en-US" sz="4800" b="1" i="1" u="none" strike="noStrike" kern="1200" cap="none" spc="0" normalizeH="0" baseline="0" noProof="0">
              <a:ln>
                <a:noFill/>
              </a:ln>
              <a:solidFill>
                <a:srgbClr val="00A443"/>
              </a:solidFill>
              <a:effectLst/>
              <a:uLnTx/>
              <a:uFillTx/>
              <a:latin typeface="Georgia Pro" panose="02040502050405020303" pitchFamily="18" charset="0"/>
              <a:ea typeface="Noto Serif" panose="02020502060505020204" pitchFamily="18" charset="0"/>
              <a:cs typeface="Noto Serif" panose="02020502060505020204" pitchFamily="18" charset="0"/>
            </a:endParaRPr>
          </a:p>
          <a:p>
            <a:pPr>
              <a:defRPr sz="3600" b="1">
                <a:solidFill>
                  <a:srgbClr val="FFFFFF"/>
                </a:solidFill>
                <a:latin typeface="Arial"/>
              </a:defRPr>
            </a:pPr>
            <a:r>
              <a:rPr lang="pt-BR" sz="3600" b="1">
                <a:solidFill>
                  <a:srgbClr val="00A443"/>
                </a:solidFill>
              </a:rPr>
              <a:t>Review </a:t>
            </a:r>
            <a:r>
              <a:rPr lang="pt-BR" sz="3600" b="1" err="1">
                <a:solidFill>
                  <a:srgbClr val="00A443"/>
                </a:solidFill>
              </a:rPr>
              <a:t>of</a:t>
            </a:r>
            <a:r>
              <a:rPr lang="pt-BR" sz="3600" b="1">
                <a:solidFill>
                  <a:srgbClr val="00A443"/>
                </a:solidFill>
              </a:rPr>
              <a:t> </a:t>
            </a:r>
            <a:r>
              <a:rPr lang="pt-BR" sz="3600" b="1" err="1">
                <a:solidFill>
                  <a:srgbClr val="00A443"/>
                </a:solidFill>
              </a:rPr>
              <a:t>existing</a:t>
            </a:r>
            <a:r>
              <a:rPr lang="pt-BR" sz="3600" b="1">
                <a:solidFill>
                  <a:srgbClr val="00A443"/>
                </a:solidFill>
              </a:rPr>
              <a:t> </a:t>
            </a:r>
            <a:r>
              <a:rPr lang="pt-BR" sz="3600" b="1" err="1">
                <a:solidFill>
                  <a:srgbClr val="00A443"/>
                </a:solidFill>
              </a:rPr>
              <a:t>assets</a:t>
            </a:r>
            <a:endParaRPr lang="pt-BR" sz="3200">
              <a:solidFill>
                <a:srgbClr val="00A443"/>
              </a:solidFill>
            </a:endParaRPr>
          </a:p>
        </p:txBody>
      </p:sp>
      <p:pic>
        <p:nvPicPr>
          <p:cNvPr id="6" name="Picture 5" descr="Avangrid - Wikipedia">
            <a:extLst>
              <a:ext uri="{FF2B5EF4-FFF2-40B4-BE49-F238E27FC236}">
                <a16:creationId xmlns:a16="http://schemas.microsoft.com/office/drawing/2014/main" id="{C3E48F2A-A39E-9064-EA37-AEA9AA7A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001" y="3659594"/>
            <a:ext cx="3310865" cy="1164321"/>
          </a:xfrm>
          <a:prstGeom prst="rect">
            <a:avLst/>
          </a:prstGeom>
          <a:noFill/>
          <a:extLst>
            <a:ext uri="{909E8E84-426E-40DD-AFC4-6F175D3DCCD1}">
              <a14:hiddenFill xmlns:a14="http://schemas.microsoft.com/office/drawing/2010/main">
                <a:solidFill>
                  <a:srgbClr val="FFFFFF"/>
                </a:solidFill>
              </a14:hiddenFill>
            </a:ext>
          </a:extLst>
        </p:spPr>
      </p:pic>
      <p:sp>
        <p:nvSpPr>
          <p:cNvPr id="7" name="NTT DATA Global Logo">
            <a:extLst>
              <a:ext uri="{FF2B5EF4-FFF2-40B4-BE49-F238E27FC236}">
                <a16:creationId xmlns:a16="http://schemas.microsoft.com/office/drawing/2014/main" id="{B76E4EE3-B822-92CF-DB6A-932C43F08759}"/>
              </a:ext>
            </a:extLst>
          </p:cNvPr>
          <p:cNvSpPr/>
          <p:nvPr/>
        </p:nvSpPr>
        <p:spPr bwMode="black">
          <a:xfrm>
            <a:off x="4349288" y="4017485"/>
            <a:ext cx="2280180" cy="511079"/>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423938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95584"/>
            <a:ext cx="10515600" cy="1261884"/>
          </a:xfrm>
          <a:prstGeom prst="rect">
            <a:avLst/>
          </a:prstGeom>
          <a:noFill/>
        </p:spPr>
        <p:txBody>
          <a:bodyPr wrap="square">
            <a:spAutoFit/>
          </a:bodyPr>
          <a:lstStyle/>
          <a:p>
            <a:pPr>
              <a:defRPr sz="2000" b="1">
                <a:solidFill>
                  <a:srgbClr val="002060"/>
                </a:solidFill>
                <a:latin typeface="Arial"/>
              </a:defRPr>
            </a:pPr>
            <a:r>
              <a:rPr>
                <a:solidFill>
                  <a:srgbClr val="00A443"/>
                </a:solidFill>
              </a:rPr>
              <a:t>Applying a traditional Product Lifecycle to a foundational component team creates structural bottlenecks — the modern approach is Platform as a Product (</a:t>
            </a:r>
            <a:r>
              <a:rPr err="1">
                <a:solidFill>
                  <a:srgbClr val="00A443"/>
                </a:solidFill>
              </a:rPr>
              <a:t>PaaP</a:t>
            </a:r>
            <a:r>
              <a:rPr>
                <a:solidFill>
                  <a:srgbClr val="00A443"/>
                </a:solidFill>
              </a:rPr>
              <a:t>)</a:t>
            </a:r>
          </a:p>
          <a:p>
            <a:pPr>
              <a:defRPr sz="1200">
                <a:solidFill>
                  <a:srgbClr val="7F8C8D"/>
                </a:solidFill>
                <a:latin typeface="Arial"/>
              </a:defRPr>
            </a:pPr>
            <a:endParaRPr lang="pt-BR"/>
          </a:p>
          <a:p>
            <a:pPr>
              <a:defRPr sz="1200">
                <a:solidFill>
                  <a:srgbClr val="7F8C8D"/>
                </a:solidFill>
                <a:latin typeface="Arial"/>
              </a:defRPr>
            </a:pPr>
            <a:r>
              <a:t>Managing </a:t>
            </a:r>
            <a:r>
              <a:rPr lang="pt-BR"/>
              <a:t>Digital </a:t>
            </a:r>
            <a:r>
              <a:rPr lang="pt-BR" err="1"/>
              <a:t>Products</a:t>
            </a:r>
            <a:r>
              <a:rPr lang="pt-BR"/>
              <a:t> </a:t>
            </a:r>
            <a:r>
              <a:t>through a </a:t>
            </a:r>
            <a:r>
              <a:rPr err="1"/>
              <a:t>PaaP</a:t>
            </a:r>
            <a:r>
              <a:t> lens shifts focus from intake governance to enablement, self-service, and reducing friction for consuming teams</a:t>
            </a:r>
          </a:p>
        </p:txBody>
      </p:sp>
      <p:sp>
        <p:nvSpPr>
          <p:cNvPr id="6" name="Rectangle 5"/>
          <p:cNvSpPr/>
          <p:nvPr/>
        </p:nvSpPr>
        <p:spPr>
          <a:xfrm>
            <a:off x="731520" y="1325880"/>
            <a:ext cx="5029200" cy="466344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6398" y="1463040"/>
            <a:ext cx="3379451" cy="338554"/>
          </a:xfrm>
          <a:prstGeom prst="rect">
            <a:avLst/>
          </a:prstGeom>
          <a:noFill/>
        </p:spPr>
        <p:txBody>
          <a:bodyPr wrap="none">
            <a:spAutoFit/>
          </a:bodyPr>
          <a:lstStyle/>
          <a:p>
            <a:pPr algn="ctr">
              <a:defRPr sz="1600" b="1" i="1">
                <a:solidFill>
                  <a:srgbClr val="EF4444"/>
                </a:solidFill>
                <a:latin typeface="Arial"/>
              </a:defRPr>
            </a:pPr>
            <a:r>
              <a:rPr lang="pt-BR" err="1"/>
              <a:t>Our</a:t>
            </a:r>
            <a:r>
              <a:rPr lang="pt-BR"/>
              <a:t> </a:t>
            </a:r>
            <a:r>
              <a:rPr lang="pt-BR" err="1"/>
              <a:t>proposal</a:t>
            </a:r>
            <a:r>
              <a:rPr lang="pt-BR"/>
              <a:t> (</a:t>
            </a:r>
            <a:r>
              <a:rPr lang="pt-BR" err="1"/>
              <a:t>Product</a:t>
            </a:r>
            <a:r>
              <a:rPr lang="pt-BR"/>
              <a:t> </a:t>
            </a:r>
            <a:r>
              <a:rPr lang="pt-BR" err="1"/>
              <a:t>Lifecycle</a:t>
            </a:r>
            <a:r>
              <a:rPr lang="pt-BR"/>
              <a:t>)</a:t>
            </a:r>
            <a:endParaRPr/>
          </a:p>
        </p:txBody>
      </p:sp>
      <p:sp>
        <p:nvSpPr>
          <p:cNvPr id="9" name="TextBox 8"/>
          <p:cNvSpPr txBox="1"/>
          <p:nvPr/>
        </p:nvSpPr>
        <p:spPr>
          <a:xfrm>
            <a:off x="3017520" y="242316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10" name="Rectangle 9"/>
          <p:cNvSpPr/>
          <p:nvPr/>
        </p:nvSpPr>
        <p:spPr>
          <a:xfrm>
            <a:off x="1005840" y="2788920"/>
            <a:ext cx="4480560" cy="822960"/>
          </a:xfrm>
          <a:prstGeom prst="rect">
            <a:avLst/>
          </a:prstGeom>
          <a:solidFill>
            <a:srgbClr val="5C1A1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CA5A5"/>
                </a:solidFill>
                <a:latin typeface="Arial"/>
              </a:defRPr>
            </a:pPr>
            <a:r>
              <a:rPr>
                <a:solidFill>
                  <a:schemeClr val="bg1"/>
                </a:solidFill>
              </a:rPr>
              <a:t>Intake &amp; Prioritization Funnel</a:t>
            </a:r>
          </a:p>
          <a:p>
            <a:pPr algn="ctr">
              <a:defRPr sz="1000">
                <a:solidFill>
                  <a:srgbClr val="94A3B8"/>
                </a:solidFill>
                <a:latin typeface="Arial"/>
              </a:defRPr>
            </a:pPr>
            <a:r>
              <a:rPr>
                <a:solidFill>
                  <a:schemeClr val="bg1"/>
                </a:solidFill>
              </a:rPr>
              <a:t>(ROI Scoring, Jira, PPMNow Governance)</a:t>
            </a:r>
          </a:p>
        </p:txBody>
      </p:sp>
      <p:sp>
        <p:nvSpPr>
          <p:cNvPr id="11" name="TextBox 10"/>
          <p:cNvSpPr txBox="1"/>
          <p:nvPr/>
        </p:nvSpPr>
        <p:spPr>
          <a:xfrm>
            <a:off x="3017520" y="370332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12" name="Rectangle 11"/>
          <p:cNvSpPr/>
          <p:nvPr/>
        </p:nvSpPr>
        <p:spPr>
          <a:xfrm>
            <a:off x="1280160" y="4069080"/>
            <a:ext cx="3931920" cy="411480"/>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94A3B8"/>
                </a:solidFill>
                <a:latin typeface="Arial"/>
              </a:defRPr>
            </a:pPr>
            <a:r>
              <a:rPr>
                <a:solidFill>
                  <a:schemeClr val="bg1"/>
                </a:solidFill>
              </a:rPr>
              <a:t>SAP CoE (Slow Execution)</a:t>
            </a:r>
          </a:p>
        </p:txBody>
      </p:sp>
      <p:sp>
        <p:nvSpPr>
          <p:cNvPr id="13" name="TextBox 12"/>
          <p:cNvSpPr txBox="1"/>
          <p:nvPr/>
        </p:nvSpPr>
        <p:spPr>
          <a:xfrm>
            <a:off x="1005840" y="4663440"/>
            <a:ext cx="4480560" cy="697627"/>
          </a:xfrm>
          <a:prstGeom prst="rect">
            <a:avLst/>
          </a:prstGeom>
          <a:noFill/>
        </p:spPr>
        <p:txBody>
          <a:bodyPr wrap="square" lIns="91440" tIns="45720" rIns="91440" bIns="45720" anchor="t">
            <a:spAutoFit/>
          </a:bodyPr>
          <a:lstStyle/>
          <a:p>
            <a:pPr marL="171450" indent="-171450">
              <a:spcAft>
                <a:spcPts val="200"/>
              </a:spcAft>
              <a:buFont typeface="Arial"/>
              <a:buChar char="•"/>
              <a:defRPr sz="800">
                <a:solidFill>
                  <a:srgbClr val="FCA5A5"/>
                </a:solidFill>
                <a:latin typeface="Arial"/>
              </a:defRPr>
            </a:pPr>
            <a:r>
              <a:rPr sz="1200" err="1">
                <a:solidFill>
                  <a:schemeClr val="tx1">
                    <a:lumMod val="50000"/>
                    <a:lumOff val="50000"/>
                  </a:schemeClr>
                </a:solidFill>
              </a:rPr>
              <a:t>Each</a:t>
            </a:r>
            <a:r>
              <a:rPr sz="1200">
                <a:solidFill>
                  <a:schemeClr val="tx1">
                    <a:lumMod val="50000"/>
                    <a:lumOff val="50000"/>
                  </a:schemeClr>
                </a:solidFill>
              </a:rPr>
              <a:t> </a:t>
            </a:r>
            <a:r>
              <a:rPr lang="pt-BR" sz="1200">
                <a:solidFill>
                  <a:schemeClr val="tx1">
                    <a:lumMod val="50000"/>
                    <a:lumOff val="50000"/>
                  </a:schemeClr>
                </a:solidFill>
              </a:rPr>
              <a:t>Area</a:t>
            </a:r>
            <a:r>
              <a:rPr sz="1200">
                <a:solidFill>
                  <a:schemeClr val="tx1">
                    <a:lumMod val="50000"/>
                    <a:lumOff val="50000"/>
                  </a:schemeClr>
                </a:solidFill>
              </a:rPr>
              <a:t> </a:t>
            </a:r>
            <a:r>
              <a:rPr sz="1200" err="1">
                <a:solidFill>
                  <a:schemeClr val="tx1">
                    <a:lumMod val="50000"/>
                    <a:lumOff val="50000"/>
                  </a:schemeClr>
                </a:solidFill>
              </a:rPr>
              <a:t>request</a:t>
            </a:r>
            <a:r>
              <a:rPr sz="1200">
                <a:solidFill>
                  <a:schemeClr val="tx1">
                    <a:lumMod val="50000"/>
                    <a:lumOff val="50000"/>
                  </a:schemeClr>
                </a:solidFill>
              </a:rPr>
              <a:t> </a:t>
            </a:r>
            <a:r>
              <a:rPr sz="1200" err="1">
                <a:solidFill>
                  <a:schemeClr val="tx1">
                    <a:lumMod val="50000"/>
                    <a:lumOff val="50000"/>
                  </a:schemeClr>
                </a:solidFill>
              </a:rPr>
              <a:t>goes</a:t>
            </a:r>
            <a:r>
              <a:rPr sz="1200">
                <a:solidFill>
                  <a:schemeClr val="tx1">
                    <a:lumMod val="50000"/>
                    <a:lumOff val="50000"/>
                  </a:schemeClr>
                </a:solidFill>
              </a:rPr>
              <a:t> </a:t>
            </a:r>
            <a:r>
              <a:rPr sz="1200" err="1">
                <a:solidFill>
                  <a:schemeClr val="tx1">
                    <a:lumMod val="50000"/>
                    <a:lumOff val="50000"/>
                  </a:schemeClr>
                </a:solidFill>
              </a:rPr>
              <a:t>through</a:t>
            </a:r>
            <a:r>
              <a:rPr sz="1200">
                <a:solidFill>
                  <a:schemeClr val="tx1">
                    <a:lumMod val="50000"/>
                    <a:lumOff val="50000"/>
                  </a:schemeClr>
                </a:solidFill>
              </a:rPr>
              <a:t> full </a:t>
            </a:r>
            <a:r>
              <a:rPr sz="1200" err="1">
                <a:solidFill>
                  <a:schemeClr val="tx1">
                    <a:lumMod val="50000"/>
                    <a:lumOff val="50000"/>
                  </a:schemeClr>
                </a:solidFill>
              </a:rPr>
              <a:t>funnel</a:t>
            </a:r>
            <a:endParaRPr lang="pt-BR" sz="1200" err="1">
              <a:solidFill>
                <a:schemeClr val="tx1">
                  <a:lumMod val="50000"/>
                  <a:lumOff val="50000"/>
                </a:schemeClr>
              </a:solidFill>
              <a:cs typeface="Arial"/>
            </a:endParaRPr>
          </a:p>
          <a:p>
            <a:pPr marL="171450" indent="-171450">
              <a:spcAft>
                <a:spcPts val="200"/>
              </a:spcAft>
              <a:buFont typeface="Arial"/>
              <a:buChar char="•"/>
              <a:defRPr sz="800">
                <a:solidFill>
                  <a:srgbClr val="FCA5A5"/>
                </a:solidFill>
                <a:latin typeface="Arial"/>
              </a:defRPr>
            </a:pPr>
            <a:r>
              <a:rPr lang="pt-BR" sz="1200">
                <a:solidFill>
                  <a:schemeClr val="tx1">
                    <a:lumMod val="50000"/>
                    <a:lumOff val="50000"/>
                  </a:schemeClr>
                </a:solidFill>
              </a:rPr>
              <a:t>SAP </a:t>
            </a:r>
            <a:r>
              <a:rPr lang="pt-BR" sz="1200" err="1">
                <a:solidFill>
                  <a:schemeClr val="tx1">
                    <a:lumMod val="50000"/>
                    <a:lumOff val="50000"/>
                  </a:schemeClr>
                </a:solidFill>
              </a:rPr>
              <a:t>team</a:t>
            </a:r>
            <a:r>
              <a:rPr lang="pt-BR" sz="1200">
                <a:solidFill>
                  <a:schemeClr val="tx1">
                    <a:lumMod val="50000"/>
                    <a:lumOff val="50000"/>
                  </a:schemeClr>
                </a:solidFill>
              </a:rPr>
              <a:t> </a:t>
            </a:r>
            <a:r>
              <a:rPr lang="pt-BR" sz="1200" err="1">
                <a:solidFill>
                  <a:schemeClr val="tx1">
                    <a:lumMod val="50000"/>
                    <a:lumOff val="50000"/>
                  </a:schemeClr>
                </a:solidFill>
              </a:rPr>
              <a:t>is</a:t>
            </a:r>
            <a:r>
              <a:rPr lang="pt-BR" sz="1200">
                <a:solidFill>
                  <a:schemeClr val="tx1">
                    <a:lumMod val="50000"/>
                    <a:lumOff val="50000"/>
                  </a:schemeClr>
                </a:solidFill>
              </a:rPr>
              <a:t> a ticket </a:t>
            </a:r>
            <a:r>
              <a:rPr lang="pt-BR" sz="1200" err="1">
                <a:solidFill>
                  <a:schemeClr val="tx1">
                    <a:lumMod val="50000"/>
                    <a:lumOff val="50000"/>
                  </a:schemeClr>
                </a:solidFill>
              </a:rPr>
              <a:t>taker</a:t>
            </a:r>
            <a:r>
              <a:rPr lang="pt-BR" sz="1200">
                <a:solidFill>
                  <a:schemeClr val="tx1">
                    <a:lumMod val="50000"/>
                    <a:lumOff val="50000"/>
                  </a:schemeClr>
                </a:solidFill>
              </a:rPr>
              <a:t>, </a:t>
            </a:r>
            <a:r>
              <a:rPr lang="pt-BR" sz="1200" err="1">
                <a:solidFill>
                  <a:schemeClr val="tx1">
                    <a:lumMod val="50000"/>
                    <a:lumOff val="50000"/>
                  </a:schemeClr>
                </a:solidFill>
              </a:rPr>
              <a:t>not</a:t>
            </a:r>
            <a:r>
              <a:rPr lang="pt-BR" sz="1200">
                <a:solidFill>
                  <a:schemeClr val="tx1">
                    <a:lumMod val="50000"/>
                    <a:lumOff val="50000"/>
                  </a:schemeClr>
                </a:solidFill>
              </a:rPr>
              <a:t> a </a:t>
            </a:r>
            <a:r>
              <a:rPr lang="pt-BR" sz="1200" err="1">
                <a:solidFill>
                  <a:schemeClr val="tx1">
                    <a:lumMod val="50000"/>
                    <a:lumOff val="50000"/>
                  </a:schemeClr>
                </a:solidFill>
              </a:rPr>
              <a:t>platform</a:t>
            </a:r>
            <a:endParaRPr lang="pt-BR" sz="1200">
              <a:solidFill>
                <a:schemeClr val="tx1">
                  <a:lumMod val="50000"/>
                  <a:lumOff val="50000"/>
                </a:schemeClr>
              </a:solidFill>
              <a:cs typeface="Arial"/>
            </a:endParaRPr>
          </a:p>
          <a:p>
            <a:pPr marL="171450" indent="-171450">
              <a:spcAft>
                <a:spcPts val="200"/>
              </a:spcAft>
              <a:buFont typeface="Arial"/>
              <a:buChar char="•"/>
              <a:defRPr sz="800">
                <a:solidFill>
                  <a:srgbClr val="FCA5A5"/>
                </a:solidFill>
                <a:latin typeface="Arial"/>
              </a:defRPr>
            </a:pPr>
            <a:r>
              <a:rPr sz="1200">
                <a:solidFill>
                  <a:schemeClr val="tx1">
                    <a:lumMod val="50000"/>
                    <a:lumOff val="50000"/>
                  </a:schemeClr>
                </a:solidFill>
              </a:rPr>
              <a:t>Scales linearly with headcount, not capabilities</a:t>
            </a:r>
            <a:endParaRPr sz="1200">
              <a:solidFill>
                <a:schemeClr val="tx1">
                  <a:lumMod val="50000"/>
                  <a:lumOff val="50000"/>
                </a:schemeClr>
              </a:solidFill>
              <a:cs typeface="Arial"/>
            </a:endParaRPr>
          </a:p>
        </p:txBody>
      </p:sp>
      <p:sp>
        <p:nvSpPr>
          <p:cNvPr id="14" name="Rectangle 13"/>
          <p:cNvSpPr/>
          <p:nvPr/>
        </p:nvSpPr>
        <p:spPr>
          <a:xfrm>
            <a:off x="6217920" y="1325880"/>
            <a:ext cx="5029200" cy="4663440"/>
          </a:xfrm>
          <a:prstGeom prst="rect">
            <a:avLst/>
          </a:prstGeom>
          <a:no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1463040"/>
            <a:ext cx="5029200" cy="365760"/>
          </a:xfrm>
          <a:prstGeom prst="rect">
            <a:avLst/>
          </a:prstGeom>
          <a:noFill/>
        </p:spPr>
        <p:txBody>
          <a:bodyPr wrap="none">
            <a:spAutoFit/>
          </a:bodyPr>
          <a:lstStyle/>
          <a:p>
            <a:pPr algn="ctr">
              <a:defRPr sz="1600" b="1">
                <a:solidFill>
                  <a:srgbClr val="10B981"/>
                </a:solidFill>
                <a:latin typeface="Arial"/>
              </a:defRPr>
            </a:pPr>
            <a:r>
              <a:t>Platform as a Product (</a:t>
            </a:r>
            <a:r>
              <a:rPr err="1"/>
              <a:t>PaaP</a:t>
            </a:r>
            <a:r>
              <a:t>)</a:t>
            </a:r>
          </a:p>
        </p:txBody>
      </p:sp>
      <p:sp>
        <p:nvSpPr>
          <p:cNvPr id="17" name="Rectangle 16"/>
          <p:cNvSpPr/>
          <p:nvPr/>
        </p:nvSpPr>
        <p:spPr>
          <a:xfrm>
            <a:off x="6446520"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a:solidFill>
                  <a:schemeClr val="bg1"/>
                </a:solidFill>
              </a:rPr>
              <a:t>BRS</a:t>
            </a:r>
            <a:endParaRPr>
              <a:solidFill>
                <a:schemeClr val="bg1"/>
              </a:solidFill>
            </a:endParaRPr>
          </a:p>
        </p:txBody>
      </p:sp>
      <p:sp>
        <p:nvSpPr>
          <p:cNvPr id="18" name="Rectangle 17"/>
          <p:cNvSpPr/>
          <p:nvPr/>
        </p:nvSpPr>
        <p:spPr>
          <a:xfrm>
            <a:off x="8001000"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a:solidFill>
                  <a:schemeClr val="bg1"/>
                </a:solidFill>
              </a:rPr>
              <a:t>CX &amp; Digital COE</a:t>
            </a:r>
            <a:endParaRPr>
              <a:solidFill>
                <a:schemeClr val="bg1"/>
              </a:solidFill>
            </a:endParaRPr>
          </a:p>
        </p:txBody>
      </p:sp>
      <p:sp>
        <p:nvSpPr>
          <p:cNvPr id="19" name="Rectangle 18"/>
          <p:cNvSpPr/>
          <p:nvPr/>
        </p:nvSpPr>
        <p:spPr>
          <a:xfrm>
            <a:off x="9555480"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err="1">
                <a:solidFill>
                  <a:schemeClr val="bg1"/>
                </a:solidFill>
              </a:rPr>
              <a:t>Others</a:t>
            </a:r>
            <a:r>
              <a:rPr lang="pt-BR">
                <a:solidFill>
                  <a:schemeClr val="bg1"/>
                </a:solidFill>
              </a:rPr>
              <a:t>...</a:t>
            </a:r>
            <a:endParaRPr>
              <a:solidFill>
                <a:schemeClr val="bg1"/>
              </a:solidFill>
            </a:endParaRPr>
          </a:p>
        </p:txBody>
      </p:sp>
      <p:sp>
        <p:nvSpPr>
          <p:cNvPr id="20" name="TextBox 19"/>
          <p:cNvSpPr txBox="1"/>
          <p:nvPr/>
        </p:nvSpPr>
        <p:spPr>
          <a:xfrm>
            <a:off x="6949440" y="237744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21" name="TextBox 20"/>
          <p:cNvSpPr txBox="1"/>
          <p:nvPr/>
        </p:nvSpPr>
        <p:spPr>
          <a:xfrm>
            <a:off x="8503920" y="237744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22" name="TextBox 21"/>
          <p:cNvSpPr txBox="1"/>
          <p:nvPr/>
        </p:nvSpPr>
        <p:spPr>
          <a:xfrm>
            <a:off x="10058400" y="237744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23" name="Rectangle 22"/>
          <p:cNvSpPr/>
          <p:nvPr/>
        </p:nvSpPr>
        <p:spPr>
          <a:xfrm>
            <a:off x="6400800" y="2743200"/>
            <a:ext cx="4663440" cy="777240"/>
          </a:xfrm>
          <a:prstGeom prst="rect">
            <a:avLst/>
          </a:prstGeom>
          <a:solidFill>
            <a:srgbClr val="0E3D3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A7F3D0"/>
                </a:solidFill>
                <a:latin typeface="Arial"/>
              </a:defRPr>
            </a:pPr>
            <a:r>
              <a:rPr>
                <a:solidFill>
                  <a:schemeClr val="bg1"/>
                </a:solidFill>
              </a:rPr>
              <a:t>APIs, SDKs &amp; Self-Service Portal</a:t>
            </a:r>
          </a:p>
          <a:p>
            <a:pPr algn="ctr">
              <a:defRPr sz="1000">
                <a:solidFill>
                  <a:srgbClr val="94A3B8"/>
                </a:solidFill>
                <a:latin typeface="Arial"/>
              </a:defRPr>
            </a:pPr>
            <a:r>
              <a:rPr>
                <a:solidFill>
                  <a:schemeClr val="bg1"/>
                </a:solidFill>
              </a:rPr>
              <a:t>(Standardized Contracts, Docs, Automation)</a:t>
            </a:r>
          </a:p>
        </p:txBody>
      </p:sp>
      <p:sp>
        <p:nvSpPr>
          <p:cNvPr id="24" name="TextBox 23"/>
          <p:cNvSpPr txBox="1"/>
          <p:nvPr/>
        </p:nvSpPr>
        <p:spPr>
          <a:xfrm>
            <a:off x="8503920" y="3566160"/>
            <a:ext cx="457200" cy="320040"/>
          </a:xfrm>
          <a:prstGeom prst="rect">
            <a:avLst/>
          </a:prstGeom>
          <a:noFill/>
        </p:spPr>
        <p:txBody>
          <a:bodyPr wrap="none">
            <a:spAutoFit/>
          </a:bodyPr>
          <a:lstStyle/>
          <a:p>
            <a:pPr algn="ctr">
              <a:defRPr sz="1800">
                <a:solidFill>
                  <a:srgbClr val="94A3B8"/>
                </a:solidFill>
                <a:latin typeface="Arial"/>
              </a:defRPr>
            </a:pPr>
            <a:r>
              <a:t>↑</a:t>
            </a:r>
          </a:p>
        </p:txBody>
      </p:sp>
      <p:sp>
        <p:nvSpPr>
          <p:cNvPr id="25" name="Rectangle 24"/>
          <p:cNvSpPr/>
          <p:nvPr/>
        </p:nvSpPr>
        <p:spPr>
          <a:xfrm>
            <a:off x="6583680" y="3931920"/>
            <a:ext cx="4297680" cy="411480"/>
          </a:xfrm>
          <a:prstGeom prst="rect">
            <a:avLst/>
          </a:prstGeom>
          <a:solidFill>
            <a:srgbClr val="0C314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67E8F9"/>
                </a:solidFill>
                <a:latin typeface="Arial"/>
              </a:defRPr>
            </a:pPr>
            <a:r>
              <a:rPr>
                <a:solidFill>
                  <a:schemeClr val="bg1"/>
                </a:solidFill>
              </a:rPr>
              <a:t>SAP CoE (Platform Evolution)</a:t>
            </a:r>
          </a:p>
        </p:txBody>
      </p:sp>
      <p:sp>
        <p:nvSpPr>
          <p:cNvPr id="26" name="TextBox 25"/>
          <p:cNvSpPr txBox="1"/>
          <p:nvPr/>
        </p:nvSpPr>
        <p:spPr>
          <a:xfrm>
            <a:off x="6446520" y="4575230"/>
            <a:ext cx="4480560" cy="907941"/>
          </a:xfrm>
          <a:prstGeom prst="rect">
            <a:avLst/>
          </a:prstGeom>
          <a:noFill/>
        </p:spPr>
        <p:txBody>
          <a:bodyPr wrap="square" lIns="91440" tIns="45720" rIns="91440" bIns="45720" anchor="t">
            <a:spAutoFit/>
          </a:bodyPr>
          <a:lstStyle/>
          <a:p>
            <a:pPr marL="171450" indent="-171450">
              <a:spcAft>
                <a:spcPts val="200"/>
              </a:spcAft>
              <a:buFont typeface="Arial"/>
              <a:buChar char="•"/>
              <a:defRPr sz="800">
                <a:solidFill>
                  <a:srgbClr val="A7F3D0"/>
                </a:solidFill>
                <a:latin typeface="Arial"/>
              </a:defRPr>
            </a:pPr>
            <a:r>
              <a:rPr lang="pt-BR" sz="1200" err="1">
                <a:solidFill>
                  <a:schemeClr val="tx1">
                    <a:lumMod val="50000"/>
                    <a:lumOff val="50000"/>
                  </a:schemeClr>
                </a:solidFill>
              </a:rPr>
              <a:t>I</a:t>
            </a:r>
            <a:r>
              <a:rPr lang="en-US" sz="1200" noProof="1">
                <a:solidFill>
                  <a:schemeClr val="tx1">
                    <a:lumMod val="50000"/>
                    <a:lumOff val="50000"/>
                  </a:schemeClr>
                </a:solidFill>
              </a:rPr>
              <a:t>ntegrations</a:t>
            </a:r>
            <a:r>
              <a:rPr sz="1200">
                <a:solidFill>
                  <a:schemeClr val="tx1">
                    <a:lumMod val="50000"/>
                    <a:lumOff val="50000"/>
                  </a:schemeClr>
                </a:solidFill>
              </a:rPr>
              <a:t> via self-</a:t>
            </a:r>
            <a:r>
              <a:rPr sz="1200" err="1">
                <a:solidFill>
                  <a:schemeClr val="tx1">
                    <a:lumMod val="50000"/>
                    <a:lumOff val="50000"/>
                  </a:schemeClr>
                </a:solidFill>
              </a:rPr>
              <a:t>servi</a:t>
            </a:r>
            <a:r>
              <a:rPr lang="pt-BR" sz="1200" err="1">
                <a:solidFill>
                  <a:schemeClr val="tx1">
                    <a:lumMod val="50000"/>
                    <a:lumOff val="50000"/>
                  </a:schemeClr>
                </a:solidFill>
              </a:rPr>
              <a:t>ce</a:t>
            </a:r>
            <a:r>
              <a:rPr lang="pt-BR" sz="1200">
                <a:solidFill>
                  <a:schemeClr val="tx1">
                    <a:lumMod val="50000"/>
                    <a:lumOff val="50000"/>
                  </a:schemeClr>
                </a:solidFill>
              </a:rPr>
              <a:t> APIs</a:t>
            </a:r>
            <a:r>
              <a:rPr sz="1200">
                <a:solidFill>
                  <a:schemeClr val="tx1">
                    <a:lumMod val="50000"/>
                    <a:lumOff val="50000"/>
                  </a:schemeClr>
                </a:solidFill>
              </a:rPr>
              <a:t> </a:t>
            </a:r>
            <a:endParaRPr lang="pt-BR">
              <a:solidFill>
                <a:schemeClr val="tx1">
                  <a:lumMod val="50000"/>
                  <a:lumOff val="50000"/>
                </a:schemeClr>
              </a:solidFill>
            </a:endParaRPr>
          </a:p>
          <a:p>
            <a:pPr marL="171450" indent="-171450">
              <a:spcAft>
                <a:spcPts val="200"/>
              </a:spcAft>
              <a:buFont typeface="Arial"/>
              <a:buChar char="•"/>
              <a:defRPr sz="800">
                <a:solidFill>
                  <a:srgbClr val="A7F3D0"/>
                </a:solidFill>
                <a:latin typeface="Arial"/>
              </a:defRPr>
            </a:pPr>
            <a:r>
              <a:rPr sz="1200">
                <a:solidFill>
                  <a:schemeClr val="tx1">
                    <a:lumMod val="50000"/>
                    <a:lumOff val="50000"/>
                  </a:schemeClr>
                </a:solidFill>
              </a:rPr>
              <a:t>Scales without adding headcount</a:t>
            </a:r>
            <a:endParaRPr sz="1200">
              <a:solidFill>
                <a:schemeClr val="tx1">
                  <a:lumMod val="50000"/>
                  <a:lumOff val="50000"/>
                </a:schemeClr>
              </a:solidFill>
              <a:cs typeface="Arial"/>
            </a:endParaRPr>
          </a:p>
          <a:p>
            <a:pPr marL="171450" indent="-171450">
              <a:spcAft>
                <a:spcPts val="200"/>
              </a:spcAft>
              <a:buFont typeface="Arial"/>
              <a:buChar char="•"/>
              <a:defRPr sz="800">
                <a:solidFill>
                  <a:srgbClr val="A7F3D0"/>
                </a:solidFill>
                <a:latin typeface="Arial"/>
              </a:defRPr>
            </a:pPr>
            <a:r>
              <a:rPr sz="1200">
                <a:solidFill>
                  <a:schemeClr val="tx1">
                    <a:lumMod val="50000"/>
                    <a:lumOff val="50000"/>
                  </a:schemeClr>
                </a:solidFill>
              </a:rPr>
              <a:t>SAP </a:t>
            </a:r>
            <a:r>
              <a:rPr sz="1200" err="1">
                <a:solidFill>
                  <a:schemeClr val="tx1">
                    <a:lumMod val="50000"/>
                    <a:lumOff val="50000"/>
                  </a:schemeClr>
                </a:solidFill>
              </a:rPr>
              <a:t>team</a:t>
            </a:r>
            <a:r>
              <a:rPr sz="1200">
                <a:solidFill>
                  <a:schemeClr val="tx1">
                    <a:lumMod val="50000"/>
                    <a:lumOff val="50000"/>
                  </a:schemeClr>
                </a:solidFill>
              </a:rPr>
              <a:t> </a:t>
            </a:r>
            <a:r>
              <a:rPr sz="1200" err="1">
                <a:solidFill>
                  <a:schemeClr val="tx1">
                    <a:lumMod val="50000"/>
                    <a:lumOff val="50000"/>
                  </a:schemeClr>
                </a:solidFill>
              </a:rPr>
              <a:t>focuses</a:t>
            </a:r>
            <a:r>
              <a:rPr sz="1200">
                <a:solidFill>
                  <a:schemeClr val="tx1">
                    <a:lumMod val="50000"/>
                    <a:lumOff val="50000"/>
                  </a:schemeClr>
                </a:solidFill>
              </a:rPr>
              <a:t> </a:t>
            </a:r>
            <a:r>
              <a:rPr sz="1200" err="1">
                <a:solidFill>
                  <a:schemeClr val="tx1">
                    <a:lumMod val="50000"/>
                    <a:lumOff val="50000"/>
                  </a:schemeClr>
                </a:solidFill>
              </a:rPr>
              <a:t>on</a:t>
            </a:r>
            <a:r>
              <a:rPr sz="1200">
                <a:solidFill>
                  <a:schemeClr val="tx1">
                    <a:lumMod val="50000"/>
                    <a:lumOff val="50000"/>
                  </a:schemeClr>
                </a:solidFill>
              </a:rPr>
              <a:t> </a:t>
            </a:r>
            <a:r>
              <a:rPr sz="1200" err="1">
                <a:solidFill>
                  <a:schemeClr val="tx1">
                    <a:lumMod val="50000"/>
                    <a:lumOff val="50000"/>
                  </a:schemeClr>
                </a:solidFill>
              </a:rPr>
              <a:t>engineering</a:t>
            </a:r>
            <a:r>
              <a:rPr sz="1200">
                <a:solidFill>
                  <a:schemeClr val="tx1">
                    <a:lumMod val="50000"/>
                    <a:lumOff val="50000"/>
                  </a:schemeClr>
                </a:solidFill>
              </a:rPr>
              <a:t>, </a:t>
            </a:r>
            <a:r>
              <a:rPr sz="1200" err="1">
                <a:solidFill>
                  <a:schemeClr val="tx1">
                    <a:lumMod val="50000"/>
                    <a:lumOff val="50000"/>
                  </a:schemeClr>
                </a:solidFill>
              </a:rPr>
              <a:t>not</a:t>
            </a:r>
            <a:r>
              <a:rPr sz="1200">
                <a:solidFill>
                  <a:schemeClr val="tx1">
                    <a:lumMod val="50000"/>
                    <a:lumOff val="50000"/>
                  </a:schemeClr>
                </a:solidFill>
              </a:rPr>
              <a:t> </a:t>
            </a:r>
            <a:r>
              <a:rPr lang="pt-BR" sz="1200" err="1">
                <a:solidFill>
                  <a:schemeClr val="tx1">
                    <a:lumMod val="50000"/>
                    <a:lumOff val="50000"/>
                  </a:schemeClr>
                </a:solidFill>
              </a:rPr>
              <a:t>G</a:t>
            </a:r>
            <a:r>
              <a:rPr sz="1200" err="1">
                <a:solidFill>
                  <a:schemeClr val="tx1">
                    <a:lumMod val="50000"/>
                    <a:lumOff val="50000"/>
                  </a:schemeClr>
                </a:solidFill>
              </a:rPr>
              <a:t>overnance</a:t>
            </a:r>
            <a:endParaRPr lang="pt-BR" sz="1200">
              <a:solidFill>
                <a:schemeClr val="tx1">
                  <a:lumMod val="50000"/>
                  <a:lumOff val="50000"/>
                </a:schemeClr>
              </a:solidFill>
              <a:cs typeface="Arial"/>
            </a:endParaRPr>
          </a:p>
          <a:p>
            <a:pPr marL="171450" indent="-171450">
              <a:spcAft>
                <a:spcPts val="200"/>
              </a:spcAft>
              <a:buFont typeface="Arial"/>
              <a:buChar char="•"/>
              <a:defRPr sz="800">
                <a:solidFill>
                  <a:srgbClr val="A7F3D0"/>
                </a:solidFill>
                <a:latin typeface="Arial"/>
              </a:defRPr>
            </a:pPr>
            <a:r>
              <a:rPr lang="pt-BR" sz="1200" err="1">
                <a:solidFill>
                  <a:schemeClr val="tx1">
                    <a:lumMod val="50000"/>
                    <a:lumOff val="50000"/>
                  </a:schemeClr>
                </a:solidFill>
              </a:rPr>
              <a:t>DevEx</a:t>
            </a:r>
            <a:endParaRPr sz="1200">
              <a:solidFill>
                <a:schemeClr val="tx1">
                  <a:lumMod val="50000"/>
                  <a:lumOff val="50000"/>
                </a:schemeClr>
              </a:solidFill>
              <a:cs typeface="Arial"/>
            </a:endParaRPr>
          </a:p>
        </p:txBody>
      </p:sp>
      <p:sp>
        <p:nvSpPr>
          <p:cNvPr id="27" name="Rectangle 16">
            <a:extLst>
              <a:ext uri="{FF2B5EF4-FFF2-40B4-BE49-F238E27FC236}">
                <a16:creationId xmlns:a16="http://schemas.microsoft.com/office/drawing/2014/main" id="{9B76B892-2E3F-DE40-8F92-8A138743DA5E}"/>
              </a:ext>
            </a:extLst>
          </p:cNvPr>
          <p:cNvSpPr/>
          <p:nvPr/>
        </p:nvSpPr>
        <p:spPr>
          <a:xfrm>
            <a:off x="1096217"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a:solidFill>
                  <a:schemeClr val="bg1"/>
                </a:solidFill>
              </a:rPr>
              <a:t>BRS</a:t>
            </a:r>
            <a:endParaRPr>
              <a:solidFill>
                <a:schemeClr val="bg1"/>
              </a:solidFill>
            </a:endParaRPr>
          </a:p>
        </p:txBody>
      </p:sp>
      <p:sp>
        <p:nvSpPr>
          <p:cNvPr id="28" name="Rectangle 17">
            <a:extLst>
              <a:ext uri="{FF2B5EF4-FFF2-40B4-BE49-F238E27FC236}">
                <a16:creationId xmlns:a16="http://schemas.microsoft.com/office/drawing/2014/main" id="{F7197C4E-2252-E469-A95C-84C97EE4FE3F}"/>
              </a:ext>
            </a:extLst>
          </p:cNvPr>
          <p:cNvSpPr/>
          <p:nvPr/>
        </p:nvSpPr>
        <p:spPr>
          <a:xfrm>
            <a:off x="2650697"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a:solidFill>
                  <a:schemeClr val="bg1"/>
                </a:solidFill>
              </a:rPr>
              <a:t>CX &amp; Digital COE</a:t>
            </a:r>
            <a:endParaRPr>
              <a:solidFill>
                <a:schemeClr val="bg1"/>
              </a:solidFill>
            </a:endParaRPr>
          </a:p>
        </p:txBody>
      </p:sp>
      <p:sp>
        <p:nvSpPr>
          <p:cNvPr id="29" name="Rectangle 18">
            <a:extLst>
              <a:ext uri="{FF2B5EF4-FFF2-40B4-BE49-F238E27FC236}">
                <a16:creationId xmlns:a16="http://schemas.microsoft.com/office/drawing/2014/main" id="{CE6D4F1D-838D-69BB-45AF-83157C5A9BBD}"/>
              </a:ext>
            </a:extLst>
          </p:cNvPr>
          <p:cNvSpPr/>
          <p:nvPr/>
        </p:nvSpPr>
        <p:spPr>
          <a:xfrm>
            <a:off x="4205177" y="1965960"/>
            <a:ext cx="1417320" cy="347472"/>
          </a:xfrm>
          <a:prstGeom prst="rect">
            <a:avLst/>
          </a:prstGeom>
          <a:solidFill>
            <a:srgbClr val="2D3B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0">
                <a:solidFill>
                  <a:srgbClr val="94A3B8"/>
                </a:solidFill>
                <a:latin typeface="Arial"/>
              </a:defRPr>
            </a:pPr>
            <a:r>
              <a:rPr lang="pt-BR" err="1">
                <a:solidFill>
                  <a:schemeClr val="bg1"/>
                </a:solidFill>
              </a:rPr>
              <a:t>Others</a:t>
            </a:r>
            <a:r>
              <a:rPr lang="pt-BR">
                <a:solidFill>
                  <a:schemeClr val="bg1"/>
                </a:solidFill>
              </a:rPr>
              <a:t>...</a:t>
            </a:r>
            <a:endParaRPr>
              <a:solidFill>
                <a:schemeClr val="bg1"/>
              </a:solidFill>
            </a:endParaRPr>
          </a:p>
        </p:txBody>
      </p:sp>
      <p:pic>
        <p:nvPicPr>
          <p:cNvPr id="30" name="Picture 5" descr="Avangrid - Wikipedia">
            <a:extLst>
              <a:ext uri="{FF2B5EF4-FFF2-40B4-BE49-F238E27FC236}">
                <a16:creationId xmlns:a16="http://schemas.microsoft.com/office/drawing/2014/main" id="{8381B83D-E910-499E-70B6-4896AFD13F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31" name="NTT DATA Global Logo">
            <a:extLst>
              <a:ext uri="{FF2B5EF4-FFF2-40B4-BE49-F238E27FC236}">
                <a16:creationId xmlns:a16="http://schemas.microsoft.com/office/drawing/2014/main" id="{261A913E-8C5A-0C63-58E1-59AD857653DF}"/>
              </a:ext>
            </a:extLst>
          </p:cNvPr>
          <p:cNvSpPr/>
          <p:nvPr/>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cxnSp>
        <p:nvCxnSpPr>
          <p:cNvPr id="33" name="Conector Reto 32">
            <a:extLst>
              <a:ext uri="{FF2B5EF4-FFF2-40B4-BE49-F238E27FC236}">
                <a16:creationId xmlns:a16="http://schemas.microsoft.com/office/drawing/2014/main" id="{8BCEBBB4-14A2-729D-60B1-81EF93A557AA}"/>
              </a:ext>
            </a:extLst>
          </p:cNvPr>
          <p:cNvCxnSpPr/>
          <p:nvPr/>
        </p:nvCxnSpPr>
        <p:spPr>
          <a:xfrm>
            <a:off x="5972433" y="1888936"/>
            <a:ext cx="0" cy="408596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Rectangle 1">
            <a:extLst>
              <a:ext uri="{FF2B5EF4-FFF2-40B4-BE49-F238E27FC236}">
                <a16:creationId xmlns:a16="http://schemas.microsoft.com/office/drawing/2014/main" id="{51D1A2EB-2A3B-4010-0570-19062E915C6A}"/>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39909" y="1859625"/>
            <a:ext cx="263347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rPr sz="1200"/>
              <a:t>P&amp;S / P&amp;T </a:t>
            </a:r>
          </a:p>
        </p:txBody>
      </p:sp>
      <p:sp>
        <p:nvSpPr>
          <p:cNvPr id="7" name="Rectangle 6"/>
          <p:cNvSpPr/>
          <p:nvPr/>
        </p:nvSpPr>
        <p:spPr>
          <a:xfrm>
            <a:off x="639909" y="2153980"/>
            <a:ext cx="2633472" cy="3610482"/>
          </a:xfrm>
          <a:prstGeom prst="rect">
            <a:avLst/>
          </a:prstGeom>
          <a:solidFill>
            <a:srgbClr val="E8EFF7"/>
          </a:solidFill>
          <a:ln w="63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713061" y="2243673"/>
            <a:ext cx="2487168" cy="3395801"/>
          </a:xfrm>
          <a:prstGeom prst="rect">
            <a:avLst/>
          </a:prstGeom>
          <a:noFill/>
        </p:spPr>
        <p:txBody>
          <a:bodyPr wrap="square">
            <a:spAutoFit/>
          </a:bodyPr>
          <a:lstStyle/>
          <a:p>
            <a:pPr>
              <a:spcAft>
                <a:spcPts val="100"/>
              </a:spcAft>
            </a:pPr>
            <a:r>
              <a:rPr sz="900" b="1">
                <a:solidFill>
                  <a:srgbClr val="002060"/>
                </a:solidFill>
                <a:latin typeface="Arial"/>
              </a:rPr>
              <a:t>Operating Model: </a:t>
            </a:r>
            <a:r>
              <a:rPr sz="900">
                <a:solidFill>
                  <a:srgbClr val="2C3E50"/>
                </a:solidFill>
                <a:latin typeface="Arial"/>
              </a:rPr>
              <a:t>Most mature: 4-phase lifecycle in production with 15+ sub-steps, phase gates, and 3-tier Flight Level governance (Portfolio → Program → Project).</a:t>
            </a:r>
          </a:p>
          <a:p>
            <a:pPr>
              <a:spcBef>
                <a:spcPts val="300"/>
              </a:spcBef>
              <a:spcAft>
                <a:spcPts val="100"/>
              </a:spcAft>
            </a:pPr>
            <a:r>
              <a:rPr sz="900" b="1">
                <a:solidFill>
                  <a:srgbClr val="002060"/>
                </a:solidFill>
                <a:latin typeface="Arial"/>
              </a:rPr>
              <a:t>Prioritization: </a:t>
            </a:r>
            <a:r>
              <a:rPr sz="900">
                <a:solidFill>
                  <a:srgbClr val="2C3E50"/>
                </a:solidFill>
                <a:latin typeface="Arial"/>
              </a:rPr>
              <a:t>PBI(x) = (BV+UX)/E calculator with 1-10 scoring. Business Value Criteria tied to Avangrid axes. Demand Funnel with Shark Tank + Portfolio Committee.</a:t>
            </a:r>
          </a:p>
          <a:p>
            <a:pPr>
              <a:spcBef>
                <a:spcPts val="300"/>
              </a:spcBef>
              <a:spcAft>
                <a:spcPts val="100"/>
              </a:spcAft>
            </a:pPr>
            <a:r>
              <a:rPr sz="900" b="1">
                <a:solidFill>
                  <a:srgbClr val="002060"/>
                </a:solidFill>
                <a:latin typeface="Arial"/>
              </a:rPr>
              <a:t>Intake &amp; Demand: </a:t>
            </a:r>
            <a:r>
              <a:rPr sz="900">
                <a:solidFill>
                  <a:srgbClr val="2C3E50"/>
                </a:solidFill>
                <a:latin typeface="Arial"/>
              </a:rPr>
              <a:t>Single front door with 3 sources. Portfolio Kanban with swimlanes. Classification: Strategic/Operational/Regulatory.</a:t>
            </a:r>
          </a:p>
          <a:p>
            <a:pPr>
              <a:spcBef>
                <a:spcPts val="300"/>
              </a:spcBef>
              <a:spcAft>
                <a:spcPts val="100"/>
              </a:spcAft>
            </a:pPr>
            <a:r>
              <a:rPr sz="900" b="1">
                <a:solidFill>
                  <a:srgbClr val="002060"/>
                </a:solidFill>
                <a:latin typeface="Arial"/>
              </a:rPr>
              <a:t>Roles &amp; RACI: </a:t>
            </a:r>
            <a:r>
              <a:rPr sz="900">
                <a:solidFill>
                  <a:srgbClr val="2C3E50"/>
                </a:solidFill>
                <a:latin typeface="Arial"/>
              </a:rPr>
              <a:t>Full RACI in Confluence+Jira. PM Role per phase. Stakeholder Mapping. Crew: PO/SM/Dev.</a:t>
            </a:r>
          </a:p>
          <a:p>
            <a:pPr>
              <a:spcBef>
                <a:spcPts val="300"/>
              </a:spcBef>
              <a:spcAft>
                <a:spcPts val="100"/>
              </a:spcAft>
            </a:pPr>
            <a:r>
              <a:rPr sz="900" b="1">
                <a:solidFill>
                  <a:srgbClr val="002060"/>
                </a:solidFill>
                <a:latin typeface="Arial"/>
              </a:rPr>
              <a:t>Tools &amp; Jira: </a:t>
            </a:r>
            <a:r>
              <a:rPr sz="900">
                <a:solidFill>
                  <a:srgbClr val="2C3E50"/>
                </a:solidFill>
                <a:latin typeface="Arial"/>
              </a:rPr>
              <a:t>Kanban/Scrum boards, issue hierarchy, health dashboards. Admin permissions defined.</a:t>
            </a:r>
          </a:p>
          <a:p>
            <a:pPr>
              <a:spcBef>
                <a:spcPts val="300"/>
              </a:spcBef>
              <a:spcAft>
                <a:spcPts val="100"/>
              </a:spcAft>
            </a:pPr>
            <a:r>
              <a:rPr sz="900" b="1">
                <a:solidFill>
                  <a:srgbClr val="002060"/>
                </a:solidFill>
                <a:latin typeface="Arial"/>
              </a:rPr>
              <a:t>KPIs: </a:t>
            </a:r>
            <a:r>
              <a:rPr sz="900">
                <a:solidFill>
                  <a:srgbClr val="2C3E50"/>
                </a:solidFill>
                <a:latin typeface="Arial"/>
              </a:rPr>
              <a:t>Multi-level: Portfolio → Program → Team. Formulas: Throughput, Lead Time, Velocity. Scorecards with 2026 targets.</a:t>
            </a:r>
          </a:p>
        </p:txBody>
      </p:sp>
      <p:sp>
        <p:nvSpPr>
          <p:cNvPr id="9" name="Rectangle 8"/>
          <p:cNvSpPr/>
          <p:nvPr/>
        </p:nvSpPr>
        <p:spPr>
          <a:xfrm>
            <a:off x="3383109" y="1859625"/>
            <a:ext cx="2633472"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rPr sz="1200"/>
              <a:t>Digital CoE</a:t>
            </a:r>
          </a:p>
        </p:txBody>
      </p:sp>
      <p:sp>
        <p:nvSpPr>
          <p:cNvPr id="10" name="Rectangle 9"/>
          <p:cNvSpPr/>
          <p:nvPr/>
        </p:nvSpPr>
        <p:spPr>
          <a:xfrm>
            <a:off x="3383109" y="2153980"/>
            <a:ext cx="2633472" cy="3610482"/>
          </a:xfrm>
          <a:prstGeom prst="rect">
            <a:avLst/>
          </a:prstGeom>
          <a:solidFill>
            <a:srgbClr val="E3F2FD"/>
          </a:solidFill>
          <a:ln w="63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3456261" y="2243673"/>
            <a:ext cx="2487168" cy="2513509"/>
          </a:xfrm>
          <a:prstGeom prst="rect">
            <a:avLst/>
          </a:prstGeom>
          <a:noFill/>
        </p:spPr>
        <p:txBody>
          <a:bodyPr wrap="square">
            <a:spAutoFit/>
          </a:bodyPr>
          <a:lstStyle/>
          <a:p>
            <a:pPr>
              <a:spcAft>
                <a:spcPts val="100"/>
              </a:spcAft>
            </a:pPr>
            <a:r>
              <a:rPr sz="900" b="1">
                <a:solidFill>
                  <a:srgbClr val="0070C0"/>
                </a:solidFill>
                <a:latin typeface="Arial"/>
              </a:rPr>
              <a:t>Operating Model: </a:t>
            </a:r>
            <a:r>
              <a:rPr sz="900">
                <a:solidFill>
                  <a:srgbClr val="2C3E50"/>
                </a:solidFill>
                <a:latin typeface="Arial"/>
              </a:rPr>
              <a:t>E2E with Discovery upstream + Delivery downstream connected by feedback loops. Strategic Initiatives Funnel + Lean Business Case.</a:t>
            </a:r>
          </a:p>
          <a:p>
            <a:pPr>
              <a:spcBef>
                <a:spcPts val="300"/>
              </a:spcBef>
              <a:spcAft>
                <a:spcPts val="100"/>
              </a:spcAft>
            </a:pPr>
            <a:r>
              <a:rPr sz="900" b="1">
                <a:solidFill>
                  <a:srgbClr val="0070C0"/>
                </a:solidFill>
                <a:latin typeface="Arial"/>
              </a:rPr>
              <a:t>Prioritization: </a:t>
            </a:r>
            <a:r>
              <a:rPr sz="900">
                <a:solidFill>
                  <a:srgbClr val="2C3E50"/>
                </a:solidFill>
                <a:latin typeface="Arial"/>
              </a:rPr>
              <a:t>Same PBI formula + HEVA cycle for continuous discovery + COORG method for backlog ordering.</a:t>
            </a:r>
          </a:p>
          <a:p>
            <a:pPr>
              <a:spcBef>
                <a:spcPts val="300"/>
              </a:spcBef>
              <a:spcAft>
                <a:spcPts val="100"/>
              </a:spcAft>
            </a:pPr>
            <a:r>
              <a:rPr sz="900" b="1">
                <a:solidFill>
                  <a:srgbClr val="0070C0"/>
                </a:solidFill>
                <a:latin typeface="Arial"/>
              </a:rPr>
              <a:t>Portfolio: </a:t>
            </a:r>
            <a:r>
              <a:rPr sz="900">
                <a:solidFill>
                  <a:srgbClr val="2C3E50"/>
                </a:solidFill>
                <a:latin typeface="Arial"/>
              </a:rPr>
              <a:t>Portfolio Learn Cycle quarterly. 4 cycles/year with Strategy Workshops. Metrics: ILt, RpI, VbM.</a:t>
            </a:r>
          </a:p>
          <a:p>
            <a:pPr>
              <a:spcBef>
                <a:spcPts val="300"/>
              </a:spcBef>
              <a:spcAft>
                <a:spcPts val="100"/>
              </a:spcAft>
            </a:pPr>
            <a:r>
              <a:rPr sz="900" b="1">
                <a:solidFill>
                  <a:srgbClr val="0070C0"/>
                </a:solidFill>
                <a:latin typeface="Arial"/>
              </a:rPr>
              <a:t>Tools &amp; Jira: </a:t>
            </a:r>
            <a:r>
              <a:rPr sz="900">
                <a:solidFill>
                  <a:srgbClr val="2C3E50"/>
                </a:solidFill>
                <a:latin typeface="Arial"/>
              </a:rPr>
              <a:t>JIRA Playbook (41p): board design, portfolio view, stage-gates. NextGen Jira Guide. Most comprehensive.</a:t>
            </a:r>
          </a:p>
          <a:p>
            <a:pPr>
              <a:spcBef>
                <a:spcPts val="300"/>
              </a:spcBef>
              <a:spcAft>
                <a:spcPts val="100"/>
              </a:spcAft>
            </a:pPr>
            <a:r>
              <a:rPr sz="900" b="1">
                <a:solidFill>
                  <a:srgbClr val="0070C0"/>
                </a:solidFill>
                <a:latin typeface="Arial"/>
              </a:rPr>
              <a:t>Agile Practices: </a:t>
            </a:r>
            <a:r>
              <a:rPr sz="900">
                <a:solidFill>
                  <a:srgbClr val="2C3E50"/>
                </a:solidFill>
                <a:latin typeface="Arial"/>
              </a:rPr>
              <a:t>Agility Playbook (111 sl.): Scrum/Kanban, PBB, HEVA, Sprint Report Canvas, Health Radars.</a:t>
            </a:r>
          </a:p>
        </p:txBody>
      </p:sp>
      <p:sp>
        <p:nvSpPr>
          <p:cNvPr id="12" name="Rectangle 11"/>
          <p:cNvSpPr/>
          <p:nvPr/>
        </p:nvSpPr>
        <p:spPr>
          <a:xfrm>
            <a:off x="6126309" y="1859625"/>
            <a:ext cx="2633472" cy="29260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rPr sz="1200"/>
              <a:t>Infrastructure </a:t>
            </a:r>
          </a:p>
        </p:txBody>
      </p:sp>
      <p:sp>
        <p:nvSpPr>
          <p:cNvPr id="13" name="Rectangle 12"/>
          <p:cNvSpPr/>
          <p:nvPr/>
        </p:nvSpPr>
        <p:spPr>
          <a:xfrm>
            <a:off x="6095523" y="2153980"/>
            <a:ext cx="2602684" cy="3610481"/>
          </a:xfrm>
          <a:prstGeom prst="rect">
            <a:avLst/>
          </a:prstGeom>
          <a:solidFill>
            <a:srgbClr val="E0F2F1"/>
          </a:solidFill>
          <a:ln w="63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6199461" y="2243673"/>
            <a:ext cx="2487168" cy="1908215"/>
          </a:xfrm>
          <a:prstGeom prst="rect">
            <a:avLst/>
          </a:prstGeom>
          <a:noFill/>
        </p:spPr>
        <p:txBody>
          <a:bodyPr wrap="square">
            <a:spAutoFit/>
          </a:bodyPr>
          <a:lstStyle/>
          <a:p>
            <a:pPr>
              <a:spcAft>
                <a:spcPts val="100"/>
              </a:spcAft>
            </a:pPr>
            <a:r>
              <a:rPr sz="900" b="1">
                <a:solidFill>
                  <a:srgbClr val="009688"/>
                </a:solidFill>
                <a:latin typeface="Arial"/>
              </a:rPr>
              <a:t>Deployment: </a:t>
            </a:r>
            <a:r>
              <a:rPr sz="900">
                <a:solidFill>
                  <a:srgbClr val="2C3E50"/>
                </a:solidFill>
                <a:latin typeface="Arial"/>
              </a:rPr>
              <a:t>Pilot → Expansion → Optimization with governance at each transition. Sapiens Learning Cycles.</a:t>
            </a:r>
          </a:p>
          <a:p>
            <a:pPr>
              <a:spcBef>
                <a:spcPts val="300"/>
              </a:spcBef>
              <a:spcAft>
                <a:spcPts val="100"/>
              </a:spcAft>
            </a:pPr>
            <a:r>
              <a:rPr sz="900" b="1">
                <a:solidFill>
                  <a:srgbClr val="009688"/>
                </a:solidFill>
                <a:latin typeface="Arial"/>
              </a:rPr>
              <a:t>Team Structure: </a:t>
            </a:r>
            <a:r>
              <a:rPr sz="900">
                <a:solidFill>
                  <a:srgbClr val="2C3E50"/>
                </a:solidFill>
                <a:latin typeface="Arial"/>
              </a:rPr>
              <a:t>Team Topologies: 4 types, 3 interaction modes. Directly informs Digital Products positioning.</a:t>
            </a:r>
          </a:p>
          <a:p>
            <a:pPr>
              <a:spcBef>
                <a:spcPts val="300"/>
              </a:spcBef>
              <a:spcAft>
                <a:spcPts val="100"/>
              </a:spcAft>
            </a:pPr>
            <a:r>
              <a:rPr sz="900" b="1">
                <a:solidFill>
                  <a:srgbClr val="009688"/>
                </a:solidFill>
                <a:latin typeface="Arial"/>
              </a:rPr>
              <a:t>Portfolio: </a:t>
            </a:r>
            <a:r>
              <a:rPr sz="900">
                <a:solidFill>
                  <a:srgbClr val="2C3E50"/>
                </a:solidFill>
                <a:latin typeface="Arial"/>
              </a:rPr>
              <a:t>Program-level management. Per-unit-served investment model for OPCO cost allocation.</a:t>
            </a:r>
          </a:p>
          <a:p>
            <a:pPr>
              <a:spcBef>
                <a:spcPts val="300"/>
              </a:spcBef>
              <a:spcAft>
                <a:spcPts val="100"/>
              </a:spcAft>
            </a:pPr>
            <a:r>
              <a:rPr sz="900" b="1">
                <a:solidFill>
                  <a:srgbClr val="009688"/>
                </a:solidFill>
                <a:latin typeface="Arial"/>
              </a:rPr>
              <a:t>Documentation: </a:t>
            </a:r>
            <a:r>
              <a:rPr sz="900">
                <a:solidFill>
                  <a:srgbClr val="2C3E50"/>
                </a:solidFill>
                <a:latin typeface="Arial"/>
              </a:rPr>
              <a:t>Project Book template: Discover → Build → Operate. Blueprint Design method.</a:t>
            </a:r>
          </a:p>
        </p:txBody>
      </p:sp>
      <p:sp>
        <p:nvSpPr>
          <p:cNvPr id="15" name="Rectangle 14"/>
          <p:cNvSpPr/>
          <p:nvPr/>
        </p:nvSpPr>
        <p:spPr>
          <a:xfrm>
            <a:off x="8869509" y="1859625"/>
            <a:ext cx="2633472" cy="292608"/>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rPr sz="1200"/>
              <a:t>Renewables DTO</a:t>
            </a:r>
          </a:p>
        </p:txBody>
      </p:sp>
      <p:sp>
        <p:nvSpPr>
          <p:cNvPr id="16" name="Rectangle 15"/>
          <p:cNvSpPr/>
          <p:nvPr/>
        </p:nvSpPr>
        <p:spPr>
          <a:xfrm>
            <a:off x="8869509" y="2153980"/>
            <a:ext cx="2633472" cy="3610482"/>
          </a:xfrm>
          <a:prstGeom prst="rect">
            <a:avLst/>
          </a:prstGeom>
          <a:solidFill>
            <a:srgbClr val="FFF8E1"/>
          </a:solidFill>
          <a:ln w="63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8942661" y="2243673"/>
            <a:ext cx="2487168" cy="2652008"/>
          </a:xfrm>
          <a:prstGeom prst="rect">
            <a:avLst/>
          </a:prstGeom>
          <a:noFill/>
        </p:spPr>
        <p:txBody>
          <a:bodyPr wrap="square">
            <a:spAutoFit/>
          </a:bodyPr>
          <a:lstStyle/>
          <a:p>
            <a:pPr>
              <a:spcAft>
                <a:spcPts val="100"/>
              </a:spcAft>
            </a:pPr>
            <a:r>
              <a:rPr sz="900" b="1">
                <a:solidFill>
                  <a:srgbClr val="D46B08"/>
                </a:solidFill>
                <a:latin typeface="Arial"/>
              </a:rPr>
              <a:t>Operating Model: </a:t>
            </a:r>
            <a:r>
              <a:rPr sz="900">
                <a:solidFill>
                  <a:srgbClr val="2C3E50"/>
                </a:solidFill>
                <a:latin typeface="Arial"/>
              </a:rPr>
              <a:t>Lean Kanban 4-pillar: Demand Intake → Prioritization → Delivery → Governance. Pull-based, E2E workflow defined.</a:t>
            </a:r>
          </a:p>
          <a:p>
            <a:pPr>
              <a:spcBef>
                <a:spcPts val="300"/>
              </a:spcBef>
              <a:spcAft>
                <a:spcPts val="100"/>
              </a:spcAft>
            </a:pPr>
            <a:r>
              <a:rPr sz="900" b="1">
                <a:solidFill>
                  <a:srgbClr val="D46B08"/>
                </a:solidFill>
                <a:latin typeface="Arial"/>
              </a:rPr>
              <a:t>Intake: </a:t>
            </a:r>
            <a:r>
              <a:rPr sz="900">
                <a:solidFill>
                  <a:srgbClr val="2C3E50"/>
                </a:solidFill>
                <a:latin typeface="Arial"/>
              </a:rPr>
              <a:t>Most operational: Jira-only single entry, Class of Service (Standard/Expedite/Fixed Date/Intangible), DoR gate.</a:t>
            </a:r>
          </a:p>
          <a:p>
            <a:pPr>
              <a:spcBef>
                <a:spcPts val="300"/>
              </a:spcBef>
              <a:spcAft>
                <a:spcPts val="100"/>
              </a:spcAft>
            </a:pPr>
            <a:r>
              <a:rPr sz="900" b="1">
                <a:solidFill>
                  <a:srgbClr val="D46B08"/>
                </a:solidFill>
                <a:latin typeface="Arial"/>
              </a:rPr>
              <a:t>Prioritization: </a:t>
            </a:r>
            <a:r>
              <a:rPr sz="900">
                <a:solidFill>
                  <a:srgbClr val="2C3E50"/>
                </a:solidFill>
                <a:latin typeface="Arial"/>
              </a:rPr>
              <a:t>Continuous (not batch). Capacity Allocation: Build 60%, BAU 25%, Upgrades 15%.</a:t>
            </a:r>
          </a:p>
          <a:p>
            <a:pPr>
              <a:spcBef>
                <a:spcPts val="300"/>
              </a:spcBef>
              <a:spcAft>
                <a:spcPts val="100"/>
              </a:spcAft>
            </a:pPr>
            <a:r>
              <a:rPr sz="900" b="1">
                <a:solidFill>
                  <a:srgbClr val="D46B08"/>
                </a:solidFill>
                <a:latin typeface="Arial"/>
              </a:rPr>
              <a:t>Execution: </a:t>
            </a:r>
            <a:r>
              <a:rPr sz="900">
                <a:solidFill>
                  <a:srgbClr val="2C3E50"/>
                </a:solidFill>
                <a:latin typeface="Arial"/>
              </a:rPr>
              <a:t>Pull-based with WIP limits. 2-level board: Epic Kanban + Project Kanban. Flow Metrics dashboard.</a:t>
            </a:r>
          </a:p>
          <a:p>
            <a:pPr>
              <a:spcBef>
                <a:spcPts val="300"/>
              </a:spcBef>
              <a:spcAft>
                <a:spcPts val="100"/>
              </a:spcAft>
            </a:pPr>
            <a:r>
              <a:rPr sz="900" b="1">
                <a:solidFill>
                  <a:srgbClr val="D46B08"/>
                </a:solidFill>
                <a:latin typeface="Arial"/>
              </a:rPr>
              <a:t>Baseline: </a:t>
            </a:r>
            <a:r>
              <a:rPr sz="900">
                <a:solidFill>
                  <a:srgbClr val="2C3E50"/>
                </a:solidFill>
                <a:latin typeface="Arial"/>
              </a:rPr>
              <a:t>Complete current-state diagnosis: exec summary + findings per pillar. Template for Digital Products baseline.</a:t>
            </a:r>
          </a:p>
        </p:txBody>
      </p:sp>
      <p:sp>
        <p:nvSpPr>
          <p:cNvPr id="19" name="TextBox 3">
            <a:extLst>
              <a:ext uri="{FF2B5EF4-FFF2-40B4-BE49-F238E27FC236}">
                <a16:creationId xmlns:a16="http://schemas.microsoft.com/office/drawing/2014/main" id="{64594924-317D-F772-E3BF-DD06D49FEA73}"/>
              </a:ext>
            </a:extLst>
          </p:cNvPr>
          <p:cNvSpPr txBox="1"/>
          <p:nvPr/>
        </p:nvSpPr>
        <p:spPr>
          <a:xfrm>
            <a:off x="156754" y="281291"/>
            <a:ext cx="10515600" cy="1384995"/>
          </a:xfrm>
          <a:prstGeom prst="rect">
            <a:avLst/>
          </a:prstGeom>
          <a:noFill/>
        </p:spPr>
        <p:txBody>
          <a:bodyPr wrap="square" lIns="91440" tIns="45720" rIns="91440" bIns="45720" anchor="t">
            <a:spAutoFit/>
          </a:bodyPr>
          <a:lstStyle/>
          <a:p>
            <a:pPr>
              <a:defRPr sz="2000" b="1">
                <a:solidFill>
                  <a:srgbClr val="002060"/>
                </a:solidFill>
                <a:latin typeface="Arial"/>
              </a:defRPr>
            </a:pPr>
            <a:r>
              <a:rPr lang="en-US" sz="2000" b="1">
                <a:solidFill>
                  <a:srgbClr val="00A443"/>
                </a:solidFill>
                <a:latin typeface="Arial"/>
              </a:rPr>
              <a:t>Prior Materials Review — What Each Area Built</a:t>
            </a:r>
            <a:endParaRPr lang="pt-BR"/>
          </a:p>
          <a:p>
            <a:pPr>
              <a:defRPr sz="2000" b="1">
                <a:solidFill>
                  <a:srgbClr val="002060"/>
                </a:solidFill>
                <a:latin typeface="Arial"/>
              </a:defRPr>
            </a:pPr>
            <a:endParaRPr lang="pt-BR" sz="1200">
              <a:solidFill>
                <a:srgbClr val="7F8C8D"/>
              </a:solidFill>
              <a:latin typeface="Arial"/>
              <a:cs typeface="Arial"/>
            </a:endParaRPr>
          </a:p>
          <a:p>
            <a:pPr>
              <a:defRPr sz="1200">
                <a:solidFill>
                  <a:srgbClr val="7F8C8D"/>
                </a:solidFill>
                <a:latin typeface="Arial"/>
              </a:defRPr>
            </a:pPr>
            <a:r>
              <a:rPr sz="1200">
                <a:solidFill>
                  <a:srgbClr val="7F8C8D"/>
                </a:solidFill>
                <a:latin typeface="Arial"/>
              </a:rPr>
              <a:t>P&amp;S, CoE, Infrastructure &amp; DTO — understanding what was built reveals what's reusable vs. what needs adaptation</a:t>
            </a:r>
            <a:endParaRPr sz="1200">
              <a:solidFill>
                <a:srgbClr val="7F8C8D"/>
              </a:solidFill>
              <a:latin typeface="Arial"/>
              <a:cs typeface="Arial"/>
            </a:endParaRPr>
          </a:p>
        </p:txBody>
      </p:sp>
      <p:sp>
        <p:nvSpPr>
          <p:cNvPr id="2" name="Rectangle 1">
            <a:extLst>
              <a:ext uri="{FF2B5EF4-FFF2-40B4-BE49-F238E27FC236}">
                <a16:creationId xmlns:a16="http://schemas.microsoft.com/office/drawing/2014/main" id="{033BA003-AC67-F9B0-8C40-1D7BF052F22D}"/>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extLst>
      <p:ext uri="{BB962C8B-B14F-4D97-AF65-F5344CB8AC3E}">
        <p14:creationId xmlns:p14="http://schemas.microsoft.com/office/powerpoint/2010/main" val="2085548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6423" y="228600"/>
            <a:ext cx="10515600" cy="400110"/>
          </a:xfrm>
          <a:prstGeom prst="rect">
            <a:avLst/>
          </a:prstGeom>
          <a:noFill/>
        </p:spPr>
        <p:txBody>
          <a:bodyPr wrap="square">
            <a:spAutoFit/>
          </a:bodyPr>
          <a:lstStyle/>
          <a:p>
            <a:pPr>
              <a:defRPr sz="1400" b="1">
                <a:solidFill>
                  <a:srgbClr val="002060"/>
                </a:solidFill>
                <a:latin typeface="Arial"/>
              </a:defRPr>
            </a:pPr>
            <a:r>
              <a:rPr sz="2000" b="1" dirty="0">
                <a:solidFill>
                  <a:srgbClr val="00A443"/>
                </a:solidFill>
                <a:latin typeface="Arial"/>
              </a:rPr>
              <a:t>Existing Assets — E2E Operating Model &amp; Value Framework (1/</a:t>
            </a:r>
            <a:r>
              <a:rPr lang="pt-BR" sz="2000" b="1" dirty="0">
                <a:solidFill>
                  <a:srgbClr val="00A443"/>
                </a:solidFill>
                <a:latin typeface="Arial"/>
              </a:rPr>
              <a:t>5</a:t>
            </a:r>
            <a:r>
              <a:rPr sz="2000" b="1" dirty="0">
                <a:solidFill>
                  <a:srgbClr val="00A443"/>
                </a:solidFill>
                <a:latin typeface="Arial"/>
              </a:rPr>
              <a:t>)</a:t>
            </a:r>
          </a:p>
        </p:txBody>
      </p:sp>
      <p:pic>
        <p:nvPicPr>
          <p:cNvPr id="8" name="Picture 5" descr="Avangrid - Wikipedia">
            <a:extLst>
              <a:ext uri="{FF2B5EF4-FFF2-40B4-BE49-F238E27FC236}">
                <a16:creationId xmlns:a16="http://schemas.microsoft.com/office/drawing/2014/main" id="{B3E79679-931E-DF25-32B6-98FF587DE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9" name="NTT DATA Global Logo">
            <a:extLst>
              <a:ext uri="{FF2B5EF4-FFF2-40B4-BE49-F238E27FC236}">
                <a16:creationId xmlns:a16="http://schemas.microsoft.com/office/drawing/2014/main" id="{3760052E-A4D5-1A35-1B7F-0B00966CF14E}"/>
              </a:ext>
            </a:extLst>
          </p:cNvPr>
          <p:cNvSpPr/>
          <p:nvPr/>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2" name="Table 5">
            <a:extLst>
              <a:ext uri="{FF2B5EF4-FFF2-40B4-BE49-F238E27FC236}">
                <a16:creationId xmlns:a16="http://schemas.microsoft.com/office/drawing/2014/main" id="{606E604F-F496-4448-4059-046DD83BD92D}"/>
              </a:ext>
            </a:extLst>
          </p:cNvPr>
          <p:cNvGraphicFramePr>
            <a:graphicFrameLocks noGrp="1"/>
          </p:cNvGraphicFramePr>
          <p:nvPr/>
        </p:nvGraphicFramePr>
        <p:xfrm>
          <a:off x="91440" y="868680"/>
          <a:ext cx="11978640" cy="4898514"/>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417954">
                <a:tc>
                  <a:txBody>
                    <a:bodyPr/>
                    <a:lstStyle/>
                    <a:p>
                      <a:pPr algn="ctr">
                        <a:defRPr sz="700" b="1">
                          <a:solidFill>
                            <a:srgbClr val="FFFFFF"/>
                          </a:solidFill>
                          <a:latin typeface="Arial"/>
                        </a:defRPr>
                      </a:pPr>
                      <a:r>
                        <a:rPr sz="900" dirty="0"/>
                        <a:t>Deliverable</a:t>
                      </a:r>
                    </a:p>
                  </a:txBody>
                  <a:tcPr anchor="ctr">
                    <a:solidFill>
                      <a:srgbClr val="002060"/>
                    </a:solidFill>
                  </a:tcPr>
                </a:tc>
                <a:tc>
                  <a:txBody>
                    <a:bodyPr/>
                    <a:lstStyle/>
                    <a:p>
                      <a:pPr algn="ctr">
                        <a:defRPr sz="700" b="1">
                          <a:solidFill>
                            <a:srgbClr val="FFFFFF"/>
                          </a:solidFill>
                          <a:latin typeface="Arial"/>
                        </a:defRPr>
                      </a:pPr>
                      <a:r>
                        <a:rPr sz="900"/>
                        <a:t>P&amp;S / P&amp;T</a:t>
                      </a:r>
                    </a:p>
                  </a:txBody>
                  <a:tcPr anchor="ctr">
                    <a:solidFill>
                      <a:srgbClr val="002060"/>
                    </a:solidFill>
                  </a:tcPr>
                </a:tc>
                <a:tc>
                  <a:txBody>
                    <a:bodyPr/>
                    <a:lstStyle/>
                    <a:p>
                      <a:pPr algn="ctr">
                        <a:defRPr sz="700" b="1">
                          <a:solidFill>
                            <a:srgbClr val="FFFFFF"/>
                          </a:solidFill>
                          <a:latin typeface="Arial"/>
                        </a:defRPr>
                      </a:pPr>
                      <a:r>
                        <a:rPr sz="900" dirty="0"/>
                        <a:t>Digital </a:t>
                      </a:r>
                      <a:r>
                        <a:rPr sz="900" dirty="0" err="1"/>
                        <a:t>CoE</a:t>
                      </a:r>
                      <a:endParaRPr sz="900" dirty="0"/>
                    </a:p>
                  </a:txBody>
                  <a:tcPr anchor="ctr">
                    <a:solidFill>
                      <a:srgbClr val="002060"/>
                    </a:solidFill>
                  </a:tcPr>
                </a:tc>
                <a:tc>
                  <a:txBody>
                    <a:bodyPr/>
                    <a:lstStyle/>
                    <a:p>
                      <a:pPr algn="ctr">
                        <a:defRPr sz="700" b="1">
                          <a:solidFill>
                            <a:srgbClr val="FFFFFF"/>
                          </a:solidFill>
                          <a:latin typeface="Arial"/>
                        </a:defRPr>
                      </a:pPr>
                      <a:r>
                        <a:rPr sz="900"/>
                        <a:t>Infrastructure</a:t>
                      </a:r>
                    </a:p>
                  </a:txBody>
                  <a:tcPr anchor="ctr">
                    <a:solidFill>
                      <a:srgbClr val="002060"/>
                    </a:solidFill>
                  </a:tcPr>
                </a:tc>
                <a:tc>
                  <a:txBody>
                    <a:bodyPr/>
                    <a:lstStyle/>
                    <a:p>
                      <a:pPr algn="ctr">
                        <a:defRPr sz="700" b="1">
                          <a:solidFill>
                            <a:srgbClr val="FFFFFF"/>
                          </a:solidFill>
                          <a:latin typeface="Arial"/>
                        </a:defRPr>
                      </a:pPr>
                      <a:r>
                        <a:rPr sz="900"/>
                        <a:t>Renewables DTO</a:t>
                      </a:r>
                    </a:p>
                  </a:txBody>
                  <a:tcPr anchor="ctr">
                    <a:solidFill>
                      <a:srgbClr val="002060"/>
                    </a:solidFill>
                  </a:tcPr>
                </a:tc>
                <a:tc>
                  <a:txBody>
                    <a:bodyPr/>
                    <a:lstStyle/>
                    <a:p>
                      <a:pPr algn="ctr">
                        <a:defRPr sz="700" b="1">
                          <a:solidFill>
                            <a:srgbClr val="FFFFFF"/>
                          </a:solidFill>
                          <a:latin typeface="Arial"/>
                        </a:defRPr>
                      </a:pPr>
                      <a:r>
                        <a:rPr sz="900"/>
                        <a:t>Digital Products (Reuse)</a:t>
                      </a:r>
                    </a:p>
                  </a:txBody>
                  <a:tcPr anchor="ctr">
                    <a:solidFill>
                      <a:srgbClr val="00B050"/>
                    </a:solidFill>
                  </a:tcPr>
                </a:tc>
                <a:extLst>
                  <a:ext uri="{0D108BD9-81ED-4DB2-BD59-A6C34878D82A}">
                    <a16:rowId xmlns:a16="http://schemas.microsoft.com/office/drawing/2014/main" val="10000"/>
                  </a:ext>
                </a:extLst>
              </a:tr>
              <a:tr h="1743456">
                <a:tc>
                  <a:txBody>
                    <a:bodyPr/>
                    <a:lstStyle/>
                    <a:p>
                      <a:pPr>
                        <a:defRPr sz="800" b="1">
                          <a:solidFill>
                            <a:srgbClr val="2C3E50"/>
                          </a:solidFill>
                          <a:latin typeface="Arial"/>
                        </a:defRPr>
                      </a:pPr>
                      <a:r>
                        <a:rPr sz="1000"/>
                        <a:t>E2E Operating</a:t>
                      </a:r>
                      <a:br>
                        <a:rPr sz="1000"/>
                      </a:br>
                      <a:r>
                        <a:rPr sz="1000"/>
                        <a:t>Model</a:t>
                      </a:r>
                    </a:p>
                  </a:txBody>
                  <a:tcPr>
                    <a:solidFill>
                      <a:srgbClr val="FFFFFF"/>
                    </a:solidFill>
                  </a:tcPr>
                </a:tc>
                <a:tc>
                  <a:txBody>
                    <a:bodyPr/>
                    <a:lstStyle/>
                    <a:p>
                      <a:r>
                        <a:rPr sz="900" dirty="0">
                          <a:solidFill>
                            <a:srgbClr val="2C3E50"/>
                          </a:solidFill>
                          <a:latin typeface="Arial"/>
                        </a:rPr>
                        <a:t>P&amp;S built a 4-phase lifecycle (Discovery → Materialization → Creation → Ongoing) with 15+ sub-steps mapped E2E (</a:t>
                      </a:r>
                      <a:r>
                        <a:rPr sz="900" dirty="0" err="1">
                          <a:solidFill>
                            <a:srgbClr val="2C3E50"/>
                          </a:solidFill>
                          <a:latin typeface="Arial"/>
                        </a:rPr>
                        <a:t>nWOW</a:t>
                      </a:r>
                      <a:r>
                        <a:rPr sz="900" dirty="0">
                          <a:solidFill>
                            <a:srgbClr val="2C3E50"/>
                          </a:solidFill>
                          <a:latin typeface="Arial"/>
                        </a:rPr>
                        <a:t> Sl. 38). Governance uses 3-tier Flight Level model (Portfolio → Program → Project) with Kanban at each level (PM Playbook Sl. 76). Phase gates with entry/exit criteria (</a:t>
                      </a:r>
                      <a:r>
                        <a:rPr sz="900" dirty="0" err="1">
                          <a:solidFill>
                            <a:srgbClr val="2C3E50"/>
                          </a:solidFill>
                          <a:latin typeface="Arial"/>
                        </a:rPr>
                        <a:t>nWOW</a:t>
                      </a:r>
                      <a:r>
                        <a:rPr sz="900" dirty="0">
                          <a:solidFill>
                            <a:srgbClr val="2C3E50"/>
                          </a:solidFill>
                          <a:latin typeface="Arial"/>
                        </a:rPr>
                        <a:t> Sl. 34). Big Room Planning quarterly alignment (</a:t>
                      </a:r>
                      <a:r>
                        <a:rPr sz="900" dirty="0" err="1">
                          <a:solidFill>
                            <a:srgbClr val="2C3E50"/>
                          </a:solidFill>
                          <a:latin typeface="Arial"/>
                        </a:rPr>
                        <a:t>nWOW</a:t>
                      </a:r>
                      <a:r>
                        <a:rPr sz="900" dirty="0">
                          <a:solidFill>
                            <a:srgbClr val="2C3E50"/>
                          </a:solidFill>
                          <a:latin typeface="Arial"/>
                        </a:rPr>
                        <a:t> Sl. 51). Most mature — running in production.</a:t>
                      </a:r>
                    </a:p>
                    <a:p>
                      <a:pPr>
                        <a:spcBef>
                          <a:spcPts val="200"/>
                        </a:spcBef>
                      </a:pPr>
                      <a:r>
                        <a:rPr sz="800" dirty="0">
                          <a:solidFill>
                            <a:srgbClr val="7F8C8D"/>
                          </a:solidFill>
                          <a:latin typeface="Arial"/>
                        </a:rPr>
                        <a:t>→ </a:t>
                      </a:r>
                      <a:r>
                        <a:rPr sz="800" u="sng" dirty="0">
                          <a:solidFill>
                            <a:srgbClr val="0072BC"/>
                          </a:solidFill>
                          <a:latin typeface="Arial"/>
                          <a:hlinkClick r:id="rId3"/>
                        </a:rPr>
                        <a:t>nWOW - New Ways of Working - P&amp;S Lean Operating Model 03.10.2026 v1.2.pptx</a:t>
                      </a:r>
                      <a:r>
                        <a:rPr sz="800" b="1" dirty="0">
                          <a:solidFill>
                            <a:srgbClr val="2C3E50"/>
                          </a:solidFill>
                          <a:latin typeface="Arial"/>
                        </a:rPr>
                        <a:t>  |  Sl. 5, 32, 34, 38</a:t>
                      </a:r>
                    </a:p>
                    <a:p>
                      <a:pPr>
                        <a:spcBef>
                          <a:spcPts val="200"/>
                        </a:spcBef>
                      </a:pPr>
                      <a:r>
                        <a:rPr sz="800" dirty="0">
                          <a:solidFill>
                            <a:srgbClr val="7F8C8D"/>
                          </a:solidFill>
                          <a:latin typeface="Arial"/>
                        </a:rPr>
                        <a:t>→ </a:t>
                      </a:r>
                      <a:r>
                        <a:rPr sz="800" u="sng" dirty="0">
                          <a:solidFill>
                            <a:srgbClr val="0072BC"/>
                          </a:solidFill>
                          <a:latin typeface="Arial"/>
                          <a:hlinkClick r:id="rId4"/>
                        </a:rPr>
                        <a:t>[00] Project Management Playbook - P&amp;S Ways of Working 10.28.25 v.1.0-2.pptx</a:t>
                      </a:r>
                      <a:r>
                        <a:rPr sz="800" b="1" dirty="0">
                          <a:solidFill>
                            <a:srgbClr val="2C3E50"/>
                          </a:solidFill>
                          <a:latin typeface="Arial"/>
                        </a:rPr>
                        <a:t>  |  Sl. 9, 76, 81, 85, 119</a:t>
                      </a:r>
                    </a:p>
                    <a:p>
                      <a:pPr>
                        <a:spcBef>
                          <a:spcPts val="200"/>
                        </a:spcBef>
                      </a:pPr>
                      <a:r>
                        <a:rPr sz="800" dirty="0">
                          <a:solidFill>
                            <a:srgbClr val="7F8C8D"/>
                          </a:solidFill>
                          <a:latin typeface="Arial"/>
                        </a:rPr>
                        <a:t>→ </a:t>
                      </a:r>
                      <a:r>
                        <a:rPr sz="800" u="sng" dirty="0">
                          <a:solidFill>
                            <a:srgbClr val="0072BC"/>
                          </a:solidFill>
                          <a:latin typeface="Arial"/>
                          <a:hlinkClick r:id="rId5"/>
                        </a:rPr>
                        <a:t>[00] Product Discovery Playbook - P&amp;S Ways of Working 02.03.26 v.1.3 +FIGMA.pptx</a:t>
                      </a:r>
                      <a:r>
                        <a:rPr sz="800" b="1" dirty="0">
                          <a:solidFill>
                            <a:srgbClr val="2C3E50"/>
                          </a:solidFill>
                          <a:latin typeface="Arial"/>
                        </a:rPr>
                        <a:t>  |  Sl. 12</a:t>
                      </a:r>
                    </a:p>
                    <a:p>
                      <a:pPr algn="l">
                        <a:spcBef>
                          <a:spcPts val="100"/>
                        </a:spcBef>
                        <a:spcAft>
                          <a:spcPts val="100"/>
                        </a:spcAft>
                      </a:pPr>
                      <a:r>
                        <a:rPr sz="500" i="1">
                          <a:solidFill>
                            <a:srgbClr val="00A443"/>
                          </a:solidFill>
                          <a:latin typeface="Arial"/>
                        </a:rPr>
                        <a:t>[Context: Sl. 38 shows the full E2E lifecycle diagram with 4 phases and 15+ sub-steps mapped as a visual flow]</a:t>
                      </a:r>
                    </a:p>
                  </a:txBody>
                  <a:tcPr>
                    <a:solidFill>
                      <a:srgbClr val="FFFFFF"/>
                    </a:solidFill>
                  </a:tcPr>
                </a:tc>
                <a:tc>
                  <a:txBody>
                    <a:bodyPr/>
                    <a:lstStyle/>
                    <a:p>
                      <a:r>
                        <a:rPr sz="900">
                          <a:solidFill>
                            <a:srgbClr val="2C3E50"/>
                          </a:solidFill>
                          <a:latin typeface="Arial"/>
                        </a:rPr>
                        <a:t>3-tier governance (CoE Playbook Sl. 7) with Discovery upstream before delivery (CoE Playbook Sl. 9). Strategic Initiatives Funnel + Lean Business Case gates (CoE Playbook Sl. 10). Discovery/Delivery as separate Kanban boards with feedback loops (CoE Playbook Sl. 47-48). Tracks Cycle Time per phase (CoE Playbook Sl. 41).</a:t>
                      </a:r>
                    </a:p>
                    <a:p>
                      <a:pPr>
                        <a:spcBef>
                          <a:spcPts val="200"/>
                        </a:spcBef>
                      </a:pPr>
                      <a:r>
                        <a:rPr sz="800">
                          <a:solidFill>
                            <a:srgbClr val="7F8C8D"/>
                          </a:solidFill>
                          <a:latin typeface="Arial"/>
                        </a:rPr>
                        <a:t>→ </a:t>
                      </a:r>
                      <a:r>
                        <a:rPr sz="800" u="sng">
                          <a:solidFill>
                            <a:srgbClr val="0072BC"/>
                          </a:solidFill>
                          <a:latin typeface="Arial"/>
                          <a:hlinkClick r:id="rId6"/>
                        </a:rPr>
                        <a:t>[12] Digital CoE Operating Model - Playbook - 01.05.2026 V.2.5. FINAL pptx.pptx</a:t>
                      </a:r>
                      <a:r>
                        <a:rPr sz="800" b="1">
                          <a:solidFill>
                            <a:srgbClr val="2C3E50"/>
                          </a:solidFill>
                          <a:latin typeface="Arial"/>
                        </a:rPr>
                        <a:t>  |  Sl. 4, 7, 9, 10, 36, 41, 47</a:t>
                      </a:r>
                    </a:p>
                  </a:txBody>
                  <a:tcPr>
                    <a:solidFill>
                      <a:srgbClr val="FFFFFF"/>
                    </a:solidFill>
                  </a:tcPr>
                </a:tc>
                <a:tc>
                  <a:txBody>
                    <a:bodyPr/>
                    <a:lstStyle/>
                    <a:p>
                      <a:r>
                        <a:rPr sz="900" dirty="0">
                          <a:solidFill>
                            <a:srgbClr val="2C3E50"/>
                          </a:solidFill>
                          <a:latin typeface="Arial"/>
                        </a:rPr>
                        <a:t>Deployment: Pilot → Expansion → Optimization (Sl. 10). Team Topologies (Sl. 29-32). Iterative: 1 pilot → learn → expand to 7+ teams (Sl. 44). Change management playbook.</a:t>
                      </a:r>
                    </a:p>
                    <a:p>
                      <a:pPr>
                        <a:spcBef>
                          <a:spcPts val="200"/>
                        </a:spcBef>
                      </a:pPr>
                      <a:r>
                        <a:rPr sz="800" dirty="0">
                          <a:solidFill>
                            <a:srgbClr val="7F8C8D"/>
                          </a:solidFill>
                          <a:latin typeface="Arial"/>
                        </a:rPr>
                        <a:t>→ </a:t>
                      </a:r>
                      <a:r>
                        <a:rPr sz="800" u="sng" dirty="0">
                          <a:solidFill>
                            <a:srgbClr val="0072BC"/>
                          </a:solidFill>
                          <a:latin typeface="Arial"/>
                          <a:hlinkClick r:id="rId7"/>
                        </a:rPr>
                        <a:t>Agile Management Model _ Proposal Avangrid Architecture V.3.1 18.01.2024 3.pptx</a:t>
                      </a:r>
                      <a:r>
                        <a:rPr sz="800" b="1" dirty="0">
                          <a:solidFill>
                            <a:srgbClr val="2C3E50"/>
                          </a:solidFill>
                          <a:latin typeface="Arial"/>
                        </a:rPr>
                        <a:t>  |  Sl. 10, 23, 29, 31, 33, 44</a:t>
                      </a:r>
                    </a:p>
                    <a:p>
                      <a:pPr algn="l">
                        <a:spcBef>
                          <a:spcPts val="100"/>
                        </a:spcBef>
                        <a:spcAft>
                          <a:spcPts val="100"/>
                        </a:spcAft>
                      </a:pPr>
                      <a:r>
                        <a:rPr sz="500" i="1">
                          <a:solidFill>
                            <a:srgbClr val="00A443"/>
                          </a:solidFill>
                          <a:latin typeface="Arial"/>
                        </a:rPr>
                        <a:t>[Context: Sl. 10 shows the Pilot→Expansion→Optimization phases as a staircase diagram with gates]</a:t>
                      </a:r>
                    </a:p>
                  </a:txBody>
                  <a:tcPr>
                    <a:solidFill>
                      <a:srgbClr val="FFFFFF"/>
                    </a:solidFill>
                  </a:tcPr>
                </a:tc>
                <a:tc>
                  <a:txBody>
                    <a:bodyPr/>
                    <a:lstStyle/>
                    <a:p>
                      <a:r>
                        <a:rPr sz="900" dirty="0">
                          <a:solidFill>
                            <a:srgbClr val="2C3E50"/>
                          </a:solidFill>
                          <a:latin typeface="Arial"/>
                        </a:rPr>
                        <a:t>Lean Kanban 4-pillar model: Demand Intake → Prioritization → Delivery → Governance (DTO Sl. 5). E2E Workflow (DTO Sl. 28-30). Governance with </a:t>
                      </a:r>
                      <a:r>
                        <a:rPr sz="900" dirty="0" err="1">
                          <a:solidFill>
                            <a:srgbClr val="2C3E50"/>
                          </a:solidFill>
                          <a:latin typeface="Arial"/>
                        </a:rPr>
                        <a:t>DoR</a:t>
                      </a:r>
                      <a:r>
                        <a:rPr sz="900" dirty="0">
                          <a:solidFill>
                            <a:srgbClr val="2C3E50"/>
                          </a:solidFill>
                          <a:latin typeface="Arial"/>
                        </a:rPr>
                        <a:t>/DoD, WIP limits, Class of Service </a:t>
                      </a:r>
                      <a:r>
                        <a:rPr sz="900" dirty="0" err="1">
                          <a:solidFill>
                            <a:srgbClr val="2C3E50"/>
                          </a:solidFill>
                          <a:latin typeface="Arial"/>
                        </a:rPr>
                        <a:t>swimlanes</a:t>
                      </a:r>
                      <a:r>
                        <a:rPr sz="900" dirty="0">
                          <a:solidFill>
                            <a:srgbClr val="2C3E50"/>
                          </a:solidFill>
                          <a:latin typeface="Arial"/>
                        </a:rPr>
                        <a:t> (DTO Sl. 23-24). 2-level board: Epic + Project Kanban (DTO Sl. 12, 14). Pull-based. Current state diagnosis (DTO Sl. 3, 8).</a:t>
                      </a:r>
                    </a:p>
                    <a:p>
                      <a:pPr>
                        <a:spcBef>
                          <a:spcPts val="200"/>
                        </a:spcBef>
                      </a:pPr>
                      <a:r>
                        <a:rPr sz="800" dirty="0">
                          <a:solidFill>
                            <a:srgbClr val="7F8C8D"/>
                          </a:solidFill>
                          <a:latin typeface="Arial"/>
                        </a:rPr>
                        <a:t>→ </a:t>
                      </a:r>
                      <a:r>
                        <a:rPr sz="800" u="sng" dirty="0">
                          <a:solidFill>
                            <a:srgbClr val="0072BC"/>
                          </a:solidFill>
                          <a:latin typeface="Arial"/>
                          <a:hlinkClick r:id="rId8"/>
                        </a:rPr>
                        <a:t>NextGen_DTO_Deliverable1 - Final.pptx</a:t>
                      </a:r>
                      <a:r>
                        <a:rPr sz="800" b="1" dirty="0">
                          <a:solidFill>
                            <a:srgbClr val="2C3E50"/>
                          </a:solidFill>
                          <a:latin typeface="Arial"/>
                        </a:rPr>
                        <a:t>  |  Sl. 3, 5, 8, 12, 14, 23-24, 28-30</a:t>
                      </a:r>
                    </a:p>
                    <a:p>
                      <a:pPr algn="l">
                        <a:spcBef>
                          <a:spcPts val="100"/>
                        </a:spcBef>
                        <a:spcAft>
                          <a:spcPts val="100"/>
                        </a:spcAft>
                      </a:pPr>
                      <a:r>
                        <a:rPr sz="500" i="1">
                          <a:solidFill>
                            <a:srgbClr val="00A443"/>
                          </a:solidFill>
                          <a:latin typeface="Arial"/>
                        </a:rPr>
                        <a:t>[Context: Sl. 5 shows the 4-pillar Kanban model as a horizontal flow: Intake → Prioritize → Deliver → Govern]</a:t>
                      </a:r>
                    </a:p>
                  </a:txBody>
                  <a:tcPr>
                    <a:solidFill>
                      <a:srgbClr val="FFFFFF"/>
                    </a:solidFill>
                  </a:tcPr>
                </a:tc>
                <a:tc>
                  <a:txBody>
                    <a:bodyPr/>
                    <a:lstStyle/>
                    <a:p>
                      <a:pPr algn="l">
                        <a:defRPr sz="650">
                          <a:solidFill>
                            <a:srgbClr val="2C3E50"/>
                          </a:solidFill>
                          <a:latin typeface="Arial"/>
                        </a:defRPr>
                      </a:pPr>
                      <a:r>
                        <a:rPr sz="700" b="1">
                          <a:solidFill>
                            <a:srgbClr val="2D5F8A"/>
                          </a:solidFill>
                          <a:latin typeface="Arial"/>
                        </a:rPr>
                        <a:t>[ADAPT] ⭐ P&amp;S</a:t>
                      </a:r>
                      <a:endParaRPr sz="900" dirty="0"/>
                    </a:p>
                    <a:p>
                      <a:pPr algn="l">
                        <a:spcBef>
                          <a:spcPts val="100"/>
                        </a:spcBef>
                        <a:spcAft>
                          <a:spcPts val="0"/>
                        </a:spcAft>
                      </a:pPr>
                      <a:r>
                        <a:rPr sz="600">
                          <a:solidFill>
                            <a:srgbClr val="4A4A4A"/>
                          </a:solidFill>
                          <a:latin typeface="Arial"/>
                        </a:rPr>
                        <a:t>ADAPT P&amp;S 4-phase lifecycle as backbone.</a:t>
                      </a:r>
                    </a:p>
                    <a:p>
                      <a:pPr algn="l">
                        <a:spcBef>
                          <a:spcPts val="100"/>
                        </a:spcBef>
                        <a:spcAft>
                          <a:spcPts val="0"/>
                        </a:spcAft>
                      </a:pPr>
                      <a:r>
                        <a:rPr sz="600">
                          <a:solidFill>
                            <a:srgbClr val="4A4A4A"/>
                          </a:solidFill>
                          <a:latin typeface="Arial"/>
                        </a:rPr>
                        <a:t>ADD CoE feedback loops (Discovery ↔ Delivery).</a:t>
                      </a:r>
                    </a:p>
                    <a:p>
                      <a:pPr algn="l">
                        <a:spcBef>
                          <a:spcPts val="100"/>
                        </a:spcBef>
                        <a:spcAft>
                          <a:spcPts val="0"/>
                        </a:spcAft>
                      </a:pPr>
                      <a:r>
                        <a:rPr sz="600">
                          <a:solidFill>
                            <a:srgbClr val="4A4A4A"/>
                          </a:solidFill>
                          <a:latin typeface="Arial"/>
                        </a:rPr>
                        <a:t>ADD DTO pull-based execution with WIP limits.</a:t>
                      </a:r>
                    </a:p>
                    <a:p>
                      <a:pPr algn="l">
                        <a:spcBef>
                          <a:spcPts val="100"/>
                        </a:spcBef>
                        <a:spcAft>
                          <a:spcPts val="0"/>
                        </a:spcAft>
                      </a:pPr>
                      <a:r>
                        <a:rPr sz="600">
                          <a:solidFill>
                            <a:srgbClr val="4A4A4A"/>
                          </a:solidFill>
                          <a:latin typeface="Arial"/>
                        </a:rPr>
                        <a:t>REFRAME: Intake → Assessment → Design → Build → Deploy → Support.</a:t>
                      </a:r>
                    </a:p>
                  </a:txBody>
                  <a:tcPr>
                    <a:solidFill>
                      <a:srgbClr val="E8F5E9"/>
                    </a:solidFill>
                  </a:tcPr>
                </a:tc>
                <a:extLst>
                  <a:ext uri="{0D108BD9-81ED-4DB2-BD59-A6C34878D82A}">
                    <a16:rowId xmlns:a16="http://schemas.microsoft.com/office/drawing/2014/main" val="10001"/>
                  </a:ext>
                </a:extLst>
              </a:tr>
              <a:tr h="1743456">
                <a:tc>
                  <a:txBody>
                    <a:bodyPr/>
                    <a:lstStyle/>
                    <a:p>
                      <a:pPr>
                        <a:defRPr sz="800" b="1">
                          <a:solidFill>
                            <a:srgbClr val="2C3E50"/>
                          </a:solidFill>
                          <a:latin typeface="Arial"/>
                        </a:defRPr>
                      </a:pPr>
                      <a:r>
                        <a:rPr sz="1000" dirty="0"/>
                        <a:t>Value &amp;</a:t>
                      </a:r>
                      <a:br>
                        <a:rPr sz="1000" dirty="0"/>
                      </a:br>
                      <a:r>
                        <a:rPr sz="1000" dirty="0"/>
                        <a:t>Prioritization</a:t>
                      </a:r>
                    </a:p>
                  </a:txBody>
                  <a:tcPr>
                    <a:solidFill>
                      <a:srgbClr val="F5F5F5"/>
                    </a:solidFill>
                  </a:tcPr>
                </a:tc>
                <a:tc>
                  <a:txBody>
                    <a:bodyPr/>
                    <a:lstStyle/>
                    <a:p>
                      <a:r>
                        <a:rPr sz="900" dirty="0">
                          <a:solidFill>
                            <a:srgbClr val="2C3E50"/>
                          </a:solidFill>
                          <a:latin typeface="Arial"/>
                        </a:rPr>
                        <a:t>Portfolio Prioritization Calculator (</a:t>
                      </a:r>
                      <a:r>
                        <a:rPr sz="900" dirty="0" err="1">
                          <a:solidFill>
                            <a:srgbClr val="2C3E50"/>
                          </a:solidFill>
                          <a:latin typeface="Arial"/>
                        </a:rPr>
                        <a:t>nWOW</a:t>
                      </a:r>
                      <a:r>
                        <a:rPr sz="900" dirty="0">
                          <a:solidFill>
                            <a:srgbClr val="2C3E50"/>
                          </a:solidFill>
                          <a:latin typeface="Arial"/>
                        </a:rPr>
                        <a:t> Sl. 59) with 1-10 scoring: BV, UX, Effort, Skill, Size. Formula PBI(x) = (BV+UX)/E (</a:t>
                      </a:r>
                      <a:r>
                        <a:rPr sz="900" dirty="0" err="1">
                          <a:solidFill>
                            <a:srgbClr val="2C3E50"/>
                          </a:solidFill>
                          <a:latin typeface="Arial"/>
                        </a:rPr>
                        <a:t>nWOW</a:t>
                      </a:r>
                      <a:r>
                        <a:rPr sz="900" dirty="0">
                          <a:solidFill>
                            <a:srgbClr val="2C3E50"/>
                          </a:solidFill>
                          <a:latin typeface="Arial"/>
                        </a:rPr>
                        <a:t> Sl. 77; PD Playbook Sl. 82). Business Value Criteria tied to Avangrid axes (</a:t>
                      </a:r>
                      <a:r>
                        <a:rPr sz="900" dirty="0" err="1">
                          <a:solidFill>
                            <a:srgbClr val="2C3E50"/>
                          </a:solidFill>
                          <a:latin typeface="Arial"/>
                        </a:rPr>
                        <a:t>nWOW</a:t>
                      </a:r>
                      <a:r>
                        <a:rPr sz="900" dirty="0">
                          <a:solidFill>
                            <a:srgbClr val="2C3E50"/>
                          </a:solidFill>
                          <a:latin typeface="Arial"/>
                        </a:rPr>
                        <a:t> Sl. 72). Effort Matrix S/M/L (</a:t>
                      </a:r>
                      <a:r>
                        <a:rPr sz="900" dirty="0" err="1">
                          <a:solidFill>
                            <a:srgbClr val="2C3E50"/>
                          </a:solidFill>
                          <a:latin typeface="Arial"/>
                        </a:rPr>
                        <a:t>nWOW</a:t>
                      </a:r>
                      <a:r>
                        <a:rPr sz="900" dirty="0">
                          <a:solidFill>
                            <a:srgbClr val="2C3E50"/>
                          </a:solidFill>
                          <a:latin typeface="Arial"/>
                        </a:rPr>
                        <a:t> Sl. 69).</a:t>
                      </a:r>
                    </a:p>
                    <a:p>
                      <a:pPr>
                        <a:spcBef>
                          <a:spcPts val="200"/>
                        </a:spcBef>
                      </a:pPr>
                      <a:r>
                        <a:rPr sz="800" dirty="0">
                          <a:solidFill>
                            <a:srgbClr val="7F8C8D"/>
                          </a:solidFill>
                          <a:latin typeface="Arial"/>
                        </a:rPr>
                        <a:t>→ </a:t>
                      </a:r>
                      <a:r>
                        <a:rPr sz="800" u="sng" dirty="0">
                          <a:solidFill>
                            <a:srgbClr val="0072BC"/>
                          </a:solidFill>
                          <a:latin typeface="Arial"/>
                          <a:hlinkClick r:id="rId3"/>
                        </a:rPr>
                        <a:t>nWOW - New Ways of Working - P&amp;S Lean Operating Model 03.10.2026 v1.2.pptx</a:t>
                      </a:r>
                      <a:r>
                        <a:rPr sz="800" b="1" dirty="0">
                          <a:solidFill>
                            <a:srgbClr val="2C3E50"/>
                          </a:solidFill>
                          <a:latin typeface="Arial"/>
                        </a:rPr>
                        <a:t>  |  Sl. 35, 42, 59, 69, 71, 77, 85</a:t>
                      </a:r>
                    </a:p>
                    <a:p>
                      <a:pPr>
                        <a:spcBef>
                          <a:spcPts val="200"/>
                        </a:spcBef>
                      </a:pPr>
                      <a:r>
                        <a:rPr sz="800" dirty="0">
                          <a:solidFill>
                            <a:srgbClr val="7F8C8D"/>
                          </a:solidFill>
                          <a:latin typeface="Arial"/>
                        </a:rPr>
                        <a:t>→ </a:t>
                      </a:r>
                      <a:r>
                        <a:rPr sz="800" u="sng" dirty="0">
                          <a:solidFill>
                            <a:srgbClr val="0072BC"/>
                          </a:solidFill>
                          <a:latin typeface="Arial"/>
                          <a:hlinkClick r:id="rId5"/>
                        </a:rPr>
                        <a:t>[00] Product Discovery Playbook - P&amp;S Ways of Working 02.03.26 v.1.3 +FIGMA.pptx</a:t>
                      </a:r>
                      <a:r>
                        <a:rPr sz="800" b="1" dirty="0">
                          <a:solidFill>
                            <a:srgbClr val="2C3E50"/>
                          </a:solidFill>
                          <a:latin typeface="Arial"/>
                        </a:rPr>
                        <a:t>  |  Sl. 82, 103</a:t>
                      </a:r>
                    </a:p>
                    <a:p>
                      <a:pPr>
                        <a:spcBef>
                          <a:spcPts val="200"/>
                        </a:spcBef>
                      </a:pPr>
                      <a:r>
                        <a:rPr sz="800" dirty="0">
                          <a:solidFill>
                            <a:srgbClr val="7F8C8D"/>
                          </a:solidFill>
                          <a:latin typeface="Arial"/>
                        </a:rPr>
                        <a:t>→ </a:t>
                      </a:r>
                      <a:r>
                        <a:rPr sz="800" u="sng" dirty="0">
                          <a:solidFill>
                            <a:srgbClr val="0072BC"/>
                          </a:solidFill>
                          <a:latin typeface="Arial"/>
                          <a:hlinkClick r:id="rId9"/>
                        </a:rPr>
                        <a:t>BRP_Q2_2026_P&amp;S Networks IT - New Ways of Working - v1.4.4 03.09.2026.pptx</a:t>
                      </a:r>
                      <a:r>
                        <a:rPr sz="800" b="1" dirty="0">
                          <a:solidFill>
                            <a:srgbClr val="2C3E50"/>
                          </a:solidFill>
                          <a:latin typeface="Arial"/>
                        </a:rPr>
                        <a:t>  |  Sl. 16</a:t>
                      </a:r>
                    </a:p>
                    <a:p>
                      <a:pPr algn="l">
                        <a:spcBef>
                          <a:spcPts val="100"/>
                        </a:spcBef>
                        <a:spcAft>
                          <a:spcPts val="100"/>
                        </a:spcAft>
                      </a:pPr>
                      <a:r>
                        <a:rPr sz="500" i="1">
                          <a:solidFill>
                            <a:srgbClr val="00A443"/>
                          </a:solidFill>
                          <a:latin typeface="Arial"/>
                        </a:rPr>
                        <a:t>[Context: Sl. 42 shows the Demand Funnel visual — 3 sources feeding into Portfolio Kanban with swimlanes]</a:t>
                      </a:r>
                    </a:p>
                  </a:txBody>
                  <a:tcPr>
                    <a:solidFill>
                      <a:srgbClr val="F5F5F5"/>
                    </a:solidFill>
                  </a:tcPr>
                </a:tc>
                <a:tc>
                  <a:txBody>
                    <a:bodyPr/>
                    <a:lstStyle/>
                    <a:p>
                      <a:r>
                        <a:rPr sz="900">
                          <a:solidFill>
                            <a:srgbClr val="2C3E50"/>
                          </a:solidFill>
                          <a:latin typeface="Arial"/>
                        </a:rPr>
                        <a:t>Same PBI(x) = (BV+UX)/E (CoE Playbook Sl. 84) + HEVA cycle (Agility Playbook Sl. 57). COORG method (Agility Playbook Sl. 78). Planning Poker (Agility Playbook Sl. 79). Prioritizes at backlog level vs P&amp;S portfolio level.</a:t>
                      </a:r>
                    </a:p>
                    <a:p>
                      <a:pPr>
                        <a:spcBef>
                          <a:spcPts val="200"/>
                        </a:spcBef>
                      </a:pPr>
                      <a:r>
                        <a:rPr sz="800">
                          <a:solidFill>
                            <a:srgbClr val="7F8C8D"/>
                          </a:solidFill>
                          <a:latin typeface="Arial"/>
                        </a:rPr>
                        <a:t>→ </a:t>
                      </a:r>
                      <a:r>
                        <a:rPr sz="800" u="sng">
                          <a:solidFill>
                            <a:srgbClr val="0072BC"/>
                          </a:solidFill>
                          <a:latin typeface="Arial"/>
                          <a:hlinkClick r:id="rId6"/>
                        </a:rPr>
                        <a:t>[12] Digital CoE Operating Model - Playbook - 01.05.2026 V.2.5. FINAL pptx.pptx</a:t>
                      </a:r>
                      <a:r>
                        <a:rPr sz="800" b="1">
                          <a:solidFill>
                            <a:srgbClr val="2C3E50"/>
                          </a:solidFill>
                          <a:latin typeface="Arial"/>
                        </a:rPr>
                        <a:t>  |  Sl. 83, 84</a:t>
                      </a:r>
                    </a:p>
                    <a:p>
                      <a:pPr>
                        <a:spcBef>
                          <a:spcPts val="200"/>
                        </a:spcBef>
                      </a:pPr>
                      <a:r>
                        <a:rPr sz="800">
                          <a:solidFill>
                            <a:srgbClr val="7F8C8D"/>
                          </a:solidFill>
                          <a:latin typeface="Arial"/>
                        </a:rPr>
                        <a:t>→ </a:t>
                      </a:r>
                      <a:r>
                        <a:rPr sz="800" u="sng">
                          <a:solidFill>
                            <a:srgbClr val="0072BC"/>
                          </a:solidFill>
                          <a:latin typeface="Arial"/>
                          <a:hlinkClick r:id="rId10"/>
                        </a:rPr>
                        <a:t>[17] Agility Playbook - Digital Center of Excellence 06.18.2025 V.1.7.pptx</a:t>
                      </a:r>
                      <a:r>
                        <a:rPr sz="800" b="1">
                          <a:solidFill>
                            <a:srgbClr val="2C3E50"/>
                          </a:solidFill>
                          <a:latin typeface="Arial"/>
                        </a:rPr>
                        <a:t>  |  Sl. 51, 57, 78, 79, 82, 83</a:t>
                      </a:r>
                    </a:p>
                    <a:p>
                      <a:pPr algn="l">
                        <a:spcBef>
                          <a:spcPts val="100"/>
                        </a:spcBef>
                        <a:spcAft>
                          <a:spcPts val="100"/>
                        </a:spcAft>
                      </a:pPr>
                      <a:r>
                        <a:rPr sz="500" i="1">
                          <a:solidFill>
                            <a:srgbClr val="00A443"/>
                          </a:solidFill>
                          <a:latin typeface="Arial"/>
                        </a:rPr>
                        <a:t>[Context: Sl. 57 shows the HEVA cycle diagram — continuous value hypothesis testing loop]</a:t>
                      </a:r>
                    </a:p>
                  </a:txBody>
                  <a:tcPr>
                    <a:solidFill>
                      <a:srgbClr val="F5F5F5"/>
                    </a:solidFill>
                  </a:tcPr>
                </a:tc>
                <a:tc>
                  <a:txBody>
                    <a:bodyPr/>
                    <a:lstStyle/>
                    <a:p>
                      <a:pPr algn="l">
                        <a:spcBef>
                          <a:spcPts val="0"/>
                        </a:spcBef>
                        <a:spcAft>
                          <a:spcPts val="100"/>
                        </a:spcAft>
                      </a:pPr>
                      <a:r>
                        <a:rPr sz="600">
                          <a:solidFill>
                            <a:srgbClr val="4A4A4A"/>
                          </a:solidFill>
                          <a:latin typeface="Arial"/>
                        </a:rPr>
                        <a:t>No standalone prioritization framework, but per-unit-served investment model (Sl. 51-54) provides OPCO cost allocation logic — a form of value-based resource prioritization unique across all projects.</a:t>
                      </a:r>
                    </a:p>
                    <a:p>
                      <a:pPr algn="l">
                        <a:spcBef>
                          <a:spcPts val="0"/>
                        </a:spcBef>
                        <a:spcAft>
                          <a:spcPts val="100"/>
                        </a:spcAft>
                      </a:pPr>
                      <a:r>
                        <a:rPr sz="600" i="1">
                          <a:solidFill>
                            <a:srgbClr val="00A443"/>
                          </a:solidFill>
                          <a:latin typeface="Arial"/>
                        </a:rPr>
                        <a:t>[Context: Sl. 51-54 show a financial model allocating platform costs per consuming OPCO based on usage volume]</a:t>
                      </a:r>
                    </a:p>
                    <a:p>
                      <a:pPr algn="l">
                        <a:spcBef>
                          <a:spcPts val="0"/>
                        </a:spcBef>
                        <a:spcAft>
                          <a:spcPts val="100"/>
                        </a:spcAft>
                      </a:pPr>
                      <a:r>
                        <a:rPr sz="600">
                          <a:solidFill>
                            <a:srgbClr val="0070C0"/>
                          </a:solidFill>
                          <a:latin typeface="Arial"/>
                        </a:rPr>
                        <a:t>→ Agile Management Model _ Proposal Avangrid Architecture V.3.1 18.01.2024 3.pptx | Sl. 51, 52, 53, 54</a:t>
                      </a:r>
                    </a:p>
                  </a:txBody>
                  <a:tcPr>
                    <a:solidFill>
                      <a:srgbClr val="F5F5F5"/>
                    </a:solidFill>
                  </a:tcPr>
                </a:tc>
                <a:tc>
                  <a:txBody>
                    <a:bodyPr/>
                    <a:lstStyle/>
                    <a:p>
                      <a:r>
                        <a:rPr sz="900" dirty="0">
                          <a:solidFill>
                            <a:srgbClr val="2C3E50"/>
                          </a:solidFill>
                          <a:latin typeface="Arial"/>
                        </a:rPr>
                        <a:t>Continuous backlog prioritization (DTO Sl. 21). Scoring: business value, urgency, capacity (DTO Sl. 38). Prioritized Backlog single queue (DTO Sl. 22). Capacity Allocation: Build 60%, BAU 25%, Upgrades 15% (DTO Sl. 39). Current state: no criteria (DTO Sl. 7).</a:t>
                      </a:r>
                    </a:p>
                    <a:p>
                      <a:pPr>
                        <a:spcBef>
                          <a:spcPts val="200"/>
                        </a:spcBef>
                      </a:pPr>
                      <a:r>
                        <a:rPr sz="800" dirty="0">
                          <a:solidFill>
                            <a:srgbClr val="7F8C8D"/>
                          </a:solidFill>
                          <a:latin typeface="Arial"/>
                        </a:rPr>
                        <a:t>→ </a:t>
                      </a:r>
                      <a:r>
                        <a:rPr sz="800" u="sng" dirty="0">
                          <a:solidFill>
                            <a:srgbClr val="0072BC"/>
                          </a:solidFill>
                          <a:latin typeface="Arial"/>
                          <a:hlinkClick r:id="rId8"/>
                        </a:rPr>
                        <a:t>NextGen_DTO_Deliverable1 - Final.pptx</a:t>
                      </a:r>
                      <a:r>
                        <a:rPr sz="800" b="1" dirty="0">
                          <a:solidFill>
                            <a:srgbClr val="2C3E50"/>
                          </a:solidFill>
                          <a:latin typeface="Arial"/>
                        </a:rPr>
                        <a:t>  |  Sl. 7, 21, 22, 36, 38, 39, 41</a:t>
                      </a:r>
                    </a:p>
                    <a:p>
                      <a:pPr algn="l">
                        <a:spcBef>
                          <a:spcPts val="100"/>
                        </a:spcBef>
                        <a:spcAft>
                          <a:spcPts val="100"/>
                        </a:spcAft>
                      </a:pPr>
                      <a:r>
                        <a:rPr sz="500" i="1">
                          <a:solidFill>
                            <a:srgbClr val="00A443"/>
                          </a:solidFill>
                          <a:latin typeface="Arial"/>
                        </a:rPr>
                        <a:t>[Context: Sl. 22 shows the Prioritized Backlog single queue with BV×Urgency×Capacity scoring visual]</a:t>
                      </a:r>
                    </a:p>
                  </a:txBody>
                  <a:tcPr>
                    <a:solidFill>
                      <a:srgbClr val="F5F5F5"/>
                    </a:solidFill>
                  </a:tcPr>
                </a:tc>
                <a:tc>
                  <a:txBody>
                    <a:bodyPr/>
                    <a:lstStyle/>
                    <a:p>
                      <a:pPr algn="l">
                        <a:defRPr sz="650">
                          <a:solidFill>
                            <a:srgbClr val="2C3E50"/>
                          </a:solidFill>
                          <a:latin typeface="Arial"/>
                        </a:defRPr>
                      </a:pPr>
                      <a:r>
                        <a:rPr sz="700" b="1">
                          <a:solidFill>
                            <a:srgbClr val="2D5F8A"/>
                          </a:solidFill>
                          <a:latin typeface="Arial"/>
                        </a:rPr>
                        <a:t>[ADAPT] ⭐ P&amp;S + CoE</a:t>
                      </a:r>
                      <a:endParaRPr sz="900" dirty="0"/>
                    </a:p>
                    <a:p>
                      <a:pPr algn="l">
                        <a:spcBef>
                          <a:spcPts val="100"/>
                        </a:spcBef>
                        <a:spcAft>
                          <a:spcPts val="0"/>
                        </a:spcAft>
                      </a:pPr>
                      <a:r>
                        <a:rPr sz="600">
                          <a:solidFill>
                            <a:srgbClr val="4A4A4A"/>
                          </a:solidFill>
                          <a:latin typeface="Arial"/>
                        </a:rPr>
                        <a:t>ADOPT P&amp;S PBI(x) = (BV+UX)/E formula.</a:t>
                      </a:r>
                    </a:p>
                    <a:p>
                      <a:pPr algn="l">
                        <a:spcBef>
                          <a:spcPts val="100"/>
                        </a:spcBef>
                        <a:spcAft>
                          <a:spcPts val="0"/>
                        </a:spcAft>
                      </a:pPr>
                      <a:r>
                        <a:rPr sz="600">
                          <a:solidFill>
                            <a:srgbClr val="4A4A4A"/>
                          </a:solidFill>
                          <a:latin typeface="Arial"/>
                        </a:rPr>
                        <a:t>ADD CoE HEVA cycle for continuous reassessment.</a:t>
                      </a:r>
                    </a:p>
                    <a:p>
                      <a:pPr algn="l">
                        <a:spcBef>
                          <a:spcPts val="100"/>
                        </a:spcBef>
                        <a:spcAft>
                          <a:spcPts val="0"/>
                        </a:spcAft>
                      </a:pPr>
                      <a:r>
                        <a:rPr sz="600">
                          <a:solidFill>
                            <a:srgbClr val="4A4A4A"/>
                          </a:solidFill>
                          <a:latin typeface="Arial"/>
                        </a:rPr>
                        <a:t>ADD DTO Capacity Allocation (Build 60%, BAU 25%, Upgrades 15%).</a:t>
                      </a:r>
                    </a:p>
                    <a:p>
                      <a:pPr algn="l">
                        <a:spcBef>
                          <a:spcPts val="100"/>
                        </a:spcBef>
                        <a:spcAft>
                          <a:spcPts val="0"/>
                        </a:spcAft>
                      </a:pPr>
                      <a:r>
                        <a:rPr sz="600">
                          <a:solidFill>
                            <a:srgbClr val="4A4A4A"/>
                          </a:solidFill>
                          <a:latin typeface="Arial"/>
                        </a:rPr>
                        <a:t>ADD SAP-specific: cross-OPCO reusability, integration complexity.</a:t>
                      </a:r>
                    </a:p>
                  </a:txBody>
                  <a:tcPr>
                    <a:solidFill>
                      <a:srgbClr val="C8E6C9"/>
                    </a:solidFill>
                  </a:tcPr>
                </a:tc>
                <a:extLst>
                  <a:ext uri="{0D108BD9-81ED-4DB2-BD59-A6C34878D82A}">
                    <a16:rowId xmlns:a16="http://schemas.microsoft.com/office/drawing/2014/main" val="10002"/>
                  </a:ext>
                </a:extLst>
              </a:tr>
            </a:tbl>
          </a:graphicData>
        </a:graphic>
      </p:graphicFrame>
      <p:sp>
        <p:nvSpPr>
          <p:cNvPr id="3" name="Rectangle 1">
            <a:extLst>
              <a:ext uri="{FF2B5EF4-FFF2-40B4-BE49-F238E27FC236}">
                <a16:creationId xmlns:a16="http://schemas.microsoft.com/office/drawing/2014/main" id="{CD99CC36-40C6-3E96-C921-79D2E0AC8DAB}"/>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extLst>
      <p:ext uri="{BB962C8B-B14F-4D97-AF65-F5344CB8AC3E}">
        <p14:creationId xmlns:p14="http://schemas.microsoft.com/office/powerpoint/2010/main" val="3893018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202474"/>
            <a:ext cx="10515600" cy="400110"/>
          </a:xfrm>
          <a:prstGeom prst="rect">
            <a:avLst/>
          </a:prstGeom>
          <a:noFill/>
        </p:spPr>
        <p:txBody>
          <a:bodyPr wrap="square">
            <a:spAutoFit/>
          </a:bodyPr>
          <a:lstStyle/>
          <a:p>
            <a:pPr>
              <a:defRPr sz="1400" b="1">
                <a:solidFill>
                  <a:srgbClr val="002060"/>
                </a:solidFill>
                <a:latin typeface="Arial"/>
              </a:defRPr>
            </a:pPr>
            <a:r>
              <a:rPr sz="2000" b="1" dirty="0">
                <a:solidFill>
                  <a:srgbClr val="00A443"/>
                </a:solidFill>
                <a:latin typeface="Arial"/>
              </a:rPr>
              <a:t>Existing Assets — Demand Intake &amp; Roles / RACI (2/</a:t>
            </a:r>
            <a:r>
              <a:rPr lang="pt-BR" sz="2000" b="1" dirty="0">
                <a:solidFill>
                  <a:srgbClr val="00A443"/>
                </a:solidFill>
                <a:latin typeface="Arial"/>
              </a:rPr>
              <a:t>5</a:t>
            </a:r>
            <a:r>
              <a:rPr sz="2000" b="1" dirty="0">
                <a:solidFill>
                  <a:srgbClr val="00A443"/>
                </a:solidFill>
                <a:latin typeface="Arial"/>
              </a:rPr>
              <a:t>)</a:t>
            </a:r>
          </a:p>
        </p:txBody>
      </p:sp>
      <p:pic>
        <p:nvPicPr>
          <p:cNvPr id="8" name="Picture 5" descr="Avangrid - Wikipedia">
            <a:extLst>
              <a:ext uri="{FF2B5EF4-FFF2-40B4-BE49-F238E27FC236}">
                <a16:creationId xmlns:a16="http://schemas.microsoft.com/office/drawing/2014/main" id="{633A8482-B6FA-90DB-6B04-0C753056C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9" name="NTT DATA Global Logo">
            <a:extLst>
              <a:ext uri="{FF2B5EF4-FFF2-40B4-BE49-F238E27FC236}">
                <a16:creationId xmlns:a16="http://schemas.microsoft.com/office/drawing/2014/main" id="{D9ED38C3-0127-EEF2-A908-61717DBDFC34}"/>
              </a:ext>
            </a:extLst>
          </p:cNvPr>
          <p:cNvSpPr/>
          <p:nvPr/>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2" name="Table 5">
            <a:extLst>
              <a:ext uri="{FF2B5EF4-FFF2-40B4-BE49-F238E27FC236}">
                <a16:creationId xmlns:a16="http://schemas.microsoft.com/office/drawing/2014/main" id="{D66629F7-9FDA-91A7-1253-13557B755935}"/>
              </a:ext>
            </a:extLst>
          </p:cNvPr>
          <p:cNvGraphicFramePr>
            <a:graphicFrameLocks noGrp="1"/>
          </p:cNvGraphicFramePr>
          <p:nvPr>
            <p:extLst>
              <p:ext uri="{D42A27DB-BD31-4B8C-83A1-F6EECF244321}">
                <p14:modId xmlns:p14="http://schemas.microsoft.com/office/powerpoint/2010/main" val="1658516840"/>
              </p:ext>
            </p:extLst>
          </p:nvPr>
        </p:nvGraphicFramePr>
        <p:xfrm>
          <a:off x="91440" y="868680"/>
          <a:ext cx="11978640" cy="419145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401770">
                <a:tc>
                  <a:txBody>
                    <a:bodyPr/>
                    <a:lstStyle/>
                    <a:p>
                      <a:pPr algn="ctr">
                        <a:defRPr sz="700" b="1">
                          <a:solidFill>
                            <a:srgbClr val="FFFFFF"/>
                          </a:solidFill>
                          <a:latin typeface="Arial"/>
                        </a:defRPr>
                      </a:pPr>
                      <a:r>
                        <a:rPr sz="900" dirty="0"/>
                        <a:t>Deliverable</a:t>
                      </a:r>
                    </a:p>
                  </a:txBody>
                  <a:tcPr anchor="ctr">
                    <a:solidFill>
                      <a:srgbClr val="002060"/>
                    </a:solidFill>
                  </a:tcPr>
                </a:tc>
                <a:tc>
                  <a:txBody>
                    <a:bodyPr/>
                    <a:lstStyle/>
                    <a:p>
                      <a:pPr algn="ctr">
                        <a:defRPr sz="700" b="1">
                          <a:solidFill>
                            <a:srgbClr val="FFFFFF"/>
                          </a:solidFill>
                          <a:latin typeface="Arial"/>
                        </a:defRPr>
                      </a:pPr>
                      <a:r>
                        <a:rPr sz="900"/>
                        <a:t>P&amp;S / P&amp;T</a:t>
                      </a:r>
                    </a:p>
                  </a:txBody>
                  <a:tcPr anchor="ctr">
                    <a:solidFill>
                      <a:srgbClr val="002060"/>
                    </a:solidFill>
                  </a:tcPr>
                </a:tc>
                <a:tc>
                  <a:txBody>
                    <a:bodyPr/>
                    <a:lstStyle/>
                    <a:p>
                      <a:pPr algn="ctr">
                        <a:defRPr sz="700" b="1">
                          <a:solidFill>
                            <a:srgbClr val="FFFFFF"/>
                          </a:solidFill>
                          <a:latin typeface="Arial"/>
                        </a:defRPr>
                      </a:pPr>
                      <a:r>
                        <a:rPr sz="900"/>
                        <a:t>Digital CoE</a:t>
                      </a:r>
                    </a:p>
                  </a:txBody>
                  <a:tcPr anchor="ctr">
                    <a:solidFill>
                      <a:srgbClr val="002060"/>
                    </a:solidFill>
                  </a:tcPr>
                </a:tc>
                <a:tc>
                  <a:txBody>
                    <a:bodyPr/>
                    <a:lstStyle/>
                    <a:p>
                      <a:pPr algn="ctr">
                        <a:defRPr sz="700" b="1">
                          <a:solidFill>
                            <a:srgbClr val="FFFFFF"/>
                          </a:solidFill>
                          <a:latin typeface="Arial"/>
                        </a:defRPr>
                      </a:pPr>
                      <a:r>
                        <a:rPr sz="900"/>
                        <a:t>Infrastructure</a:t>
                      </a:r>
                    </a:p>
                  </a:txBody>
                  <a:tcPr anchor="ctr">
                    <a:solidFill>
                      <a:srgbClr val="002060"/>
                    </a:solidFill>
                  </a:tcPr>
                </a:tc>
                <a:tc>
                  <a:txBody>
                    <a:bodyPr/>
                    <a:lstStyle/>
                    <a:p>
                      <a:pPr algn="ctr">
                        <a:defRPr sz="700" b="1">
                          <a:solidFill>
                            <a:srgbClr val="FFFFFF"/>
                          </a:solidFill>
                          <a:latin typeface="Arial"/>
                        </a:defRPr>
                      </a:pPr>
                      <a:r>
                        <a:rPr sz="900"/>
                        <a:t>Renewables DTO</a:t>
                      </a:r>
                    </a:p>
                  </a:txBody>
                  <a:tcPr anchor="ctr">
                    <a:solidFill>
                      <a:srgbClr val="002060"/>
                    </a:solidFill>
                  </a:tcPr>
                </a:tc>
                <a:tc>
                  <a:txBody>
                    <a:bodyPr/>
                    <a:lstStyle/>
                    <a:p>
                      <a:pPr algn="ctr">
                        <a:defRPr sz="700" b="1">
                          <a:solidFill>
                            <a:srgbClr val="FFFFFF"/>
                          </a:solidFill>
                          <a:latin typeface="Arial"/>
                        </a:defRPr>
                      </a:pPr>
                      <a:r>
                        <a:rPr sz="900"/>
                        <a:t>Digital Products (Reuse)</a:t>
                      </a:r>
                    </a:p>
                  </a:txBody>
                  <a:tcPr anchor="ctr">
                    <a:solidFill>
                      <a:srgbClr val="00B050"/>
                    </a:solidFill>
                  </a:tcPr>
                </a:tc>
                <a:extLst>
                  <a:ext uri="{0D108BD9-81ED-4DB2-BD59-A6C34878D82A}">
                    <a16:rowId xmlns:a16="http://schemas.microsoft.com/office/drawing/2014/main" val="10000"/>
                  </a:ext>
                </a:extLst>
              </a:tr>
              <a:tr h="1743456">
                <a:tc>
                  <a:txBody>
                    <a:bodyPr/>
                    <a:lstStyle/>
                    <a:p>
                      <a:pPr>
                        <a:defRPr sz="800" b="1">
                          <a:solidFill>
                            <a:srgbClr val="2C3E50"/>
                          </a:solidFill>
                          <a:latin typeface="Arial"/>
                        </a:defRPr>
                      </a:pPr>
                      <a:r>
                        <a:rPr sz="1000"/>
                        <a:t>Demand Typology</a:t>
                      </a:r>
                      <a:br>
                        <a:rPr sz="1000"/>
                      </a:br>
                      <a:r>
                        <a:rPr sz="1000"/>
                        <a:t>&amp; Intake</a:t>
                      </a:r>
                    </a:p>
                  </a:txBody>
                  <a:tcPr>
                    <a:solidFill>
                      <a:srgbClr val="FFFFFF"/>
                    </a:solidFill>
                  </a:tcPr>
                </a:tc>
                <a:tc>
                  <a:txBody>
                    <a:bodyPr/>
                    <a:lstStyle/>
                    <a:p>
                      <a:r>
                        <a:rPr sz="900">
                          <a:solidFill>
                            <a:srgbClr val="2C3E50"/>
                          </a:solidFill>
                          <a:latin typeface="Arial"/>
                        </a:rPr>
                        <a:t>Portfolio Framework &amp; Demand Funnel (nWOW Sl. 35) with 3 sources. Lean Portfolio Funnel (nWOW Sl. 42). Portfolio Kanban swimlanes (nWOW Sl. 79). Shark Tank triage (PM Playbook Sl. 72). Portfolio Committee (PD Playbook Sl. 88).</a:t>
                      </a:r>
                    </a:p>
                    <a:p>
                      <a:pPr>
                        <a:spcBef>
                          <a:spcPts val="200"/>
                        </a:spcBef>
                      </a:pPr>
                      <a:r>
                        <a:rPr sz="800">
                          <a:solidFill>
                            <a:srgbClr val="7F8C8D"/>
                          </a:solidFill>
                          <a:latin typeface="Arial"/>
                        </a:rPr>
                        <a:t>→ </a:t>
                      </a:r>
                      <a:r>
                        <a:rPr sz="800" u="sng">
                          <a:solidFill>
                            <a:srgbClr val="0072BC"/>
                          </a:solidFill>
                          <a:latin typeface="Arial"/>
                          <a:hlinkClick r:id="rId3"/>
                        </a:rPr>
                        <a:t>nWOW - New Ways of Working - P&amp;S Lean Operating Model 03.10.2026 v1.2.pptx</a:t>
                      </a:r>
                      <a:r>
                        <a:rPr sz="800" b="1">
                          <a:solidFill>
                            <a:srgbClr val="2C3E50"/>
                          </a:solidFill>
                          <a:latin typeface="Arial"/>
                        </a:rPr>
                        <a:t>  |  Sl. 35, 42</a:t>
                      </a:r>
                    </a:p>
                    <a:p>
                      <a:pPr>
                        <a:spcBef>
                          <a:spcPts val="200"/>
                        </a:spcBef>
                      </a:pPr>
                      <a:r>
                        <a:rPr sz="800">
                          <a:solidFill>
                            <a:srgbClr val="7F8C8D"/>
                          </a:solidFill>
                          <a:latin typeface="Arial"/>
                        </a:rPr>
                        <a:t>→ </a:t>
                      </a:r>
                      <a:r>
                        <a:rPr sz="800" u="sng">
                          <a:solidFill>
                            <a:srgbClr val="0072BC"/>
                          </a:solidFill>
                          <a:latin typeface="Arial"/>
                          <a:hlinkClick r:id="rId4"/>
                        </a:rPr>
                        <a:t>[00] Project Management Playbook - P&amp;S Ways of Working 10.28.25 v.1.0-2.pptx</a:t>
                      </a:r>
                      <a:r>
                        <a:rPr sz="800" b="1">
                          <a:solidFill>
                            <a:srgbClr val="2C3E50"/>
                          </a:solidFill>
                          <a:latin typeface="Arial"/>
                        </a:rPr>
                        <a:t>  |  Sl. 72, 84</a:t>
                      </a:r>
                    </a:p>
                    <a:p>
                      <a:pPr>
                        <a:spcBef>
                          <a:spcPts val="200"/>
                        </a:spcBef>
                      </a:pPr>
                      <a:r>
                        <a:rPr sz="800">
                          <a:solidFill>
                            <a:srgbClr val="7F8C8D"/>
                          </a:solidFill>
                          <a:latin typeface="Arial"/>
                        </a:rPr>
                        <a:t>→ </a:t>
                      </a:r>
                      <a:r>
                        <a:rPr sz="800" u="sng">
                          <a:solidFill>
                            <a:srgbClr val="0072BC"/>
                          </a:solidFill>
                          <a:latin typeface="Arial"/>
                          <a:hlinkClick r:id="rId5"/>
                        </a:rPr>
                        <a:t>[00] Product Discovery Playbook - P&amp;S Ways of Working 02.03.26 v.1.3 +FIGMA.pptx</a:t>
                      </a:r>
                      <a:r>
                        <a:rPr sz="800" b="1">
                          <a:solidFill>
                            <a:srgbClr val="2C3E50"/>
                          </a:solidFill>
                          <a:latin typeface="Arial"/>
                        </a:rPr>
                        <a:t>  |  Sl. 88</a:t>
                      </a:r>
                    </a:p>
                    <a:p>
                      <a:pPr algn="l">
                        <a:spcBef>
                          <a:spcPts val="100"/>
                        </a:spcBef>
                        <a:spcAft>
                          <a:spcPts val="100"/>
                        </a:spcAft>
                      </a:pPr>
                      <a:r>
                        <a:rPr sz="500" i="1">
                          <a:solidFill>
                            <a:srgbClr val="00A443"/>
                          </a:solidFill>
                          <a:latin typeface="Arial"/>
                        </a:rPr>
                        <a:t>[Context: Sl. 42 shows the Demand Funnel visual — 3 sources feeding into Portfolio Kanban with swimlanes]</a:t>
                      </a:r>
                    </a:p>
                  </a:txBody>
                  <a:tcPr>
                    <a:solidFill>
                      <a:srgbClr val="FFFFFF"/>
                    </a:solidFill>
                  </a:tcPr>
                </a:tc>
                <a:tc>
                  <a:txBody>
                    <a:bodyPr/>
                    <a:lstStyle/>
                    <a:p>
                      <a:r>
                        <a:rPr sz="900">
                          <a:solidFill>
                            <a:srgbClr val="2C3E50"/>
                          </a:solidFill>
                          <a:latin typeface="Arial"/>
                        </a:rPr>
                        <a:t>Agile Portfolio Funnel (CoE Playbook Sl. 32): Shark Tank → Think Tank → Biz Tank. Portfolio Management Team (CoE Playbook Sl. 33). Lean Business Case gate (CoE Playbook Sl. 11). No demand typology.</a:t>
                      </a:r>
                    </a:p>
                    <a:p>
                      <a:pPr>
                        <a:spcBef>
                          <a:spcPts val="200"/>
                        </a:spcBef>
                      </a:pPr>
                      <a:r>
                        <a:rPr sz="800">
                          <a:solidFill>
                            <a:srgbClr val="7F8C8D"/>
                          </a:solidFill>
                          <a:latin typeface="Arial"/>
                        </a:rPr>
                        <a:t>→ </a:t>
                      </a:r>
                      <a:r>
                        <a:rPr sz="800" u="sng">
                          <a:solidFill>
                            <a:srgbClr val="0072BC"/>
                          </a:solidFill>
                          <a:latin typeface="Arial"/>
                          <a:hlinkClick r:id="rId6"/>
                        </a:rPr>
                        <a:t>[12] Digital CoE Operating Model - Playbook - 01.05.2026 V.2.5. FINAL pptx.pptx</a:t>
                      </a:r>
                      <a:r>
                        <a:rPr sz="800" b="1">
                          <a:solidFill>
                            <a:srgbClr val="2C3E50"/>
                          </a:solidFill>
                          <a:latin typeface="Arial"/>
                        </a:rPr>
                        <a:t>  |  Sl. 9, 10, 11, 32, 33</a:t>
                      </a:r>
                    </a:p>
                  </a:txBody>
                  <a:tcPr>
                    <a:solidFill>
                      <a:srgbClr val="FFFFFF"/>
                    </a:solidFill>
                  </a:tcPr>
                </a:tc>
                <a:tc>
                  <a:txBody>
                    <a:bodyPr/>
                    <a:lstStyle/>
                    <a:p>
                      <a:pPr algn="l">
                        <a:spcBef>
                          <a:spcPts val="0"/>
                        </a:spcBef>
                        <a:spcAft>
                          <a:spcPts val="100"/>
                        </a:spcAft>
                      </a:pPr>
                      <a:r>
                        <a:rPr sz="600">
                          <a:solidFill>
                            <a:srgbClr val="4A4A4A"/>
                          </a:solidFill>
                          <a:latin typeface="Arial"/>
                        </a:rPr>
                        <a:t>No formal intake process, but Team Topologies (Sl. 29-32) defines interaction modes that determine HOW demand reaches platform teams: Collaboration, X-as-a-Service, or Facilitating.</a:t>
                      </a:r>
                    </a:p>
                    <a:p>
                      <a:pPr algn="l">
                        <a:spcBef>
                          <a:spcPts val="0"/>
                        </a:spcBef>
                        <a:spcAft>
                          <a:spcPts val="100"/>
                        </a:spcAft>
                      </a:pPr>
                      <a:r>
                        <a:rPr sz="600" i="1">
                          <a:solidFill>
                            <a:srgbClr val="00A443"/>
                          </a:solidFill>
                          <a:latin typeface="Arial"/>
                        </a:rPr>
                        <a:t>[Context: Sl. 29-32 show the 4 team types and 3 interaction modes as a visual matrix with arrows]</a:t>
                      </a:r>
                    </a:p>
                    <a:p>
                      <a:pPr algn="l">
                        <a:spcBef>
                          <a:spcPts val="0"/>
                        </a:spcBef>
                        <a:spcAft>
                          <a:spcPts val="100"/>
                        </a:spcAft>
                      </a:pPr>
                      <a:r>
                        <a:rPr sz="600">
                          <a:solidFill>
                            <a:srgbClr val="0070C0"/>
                          </a:solidFill>
                          <a:latin typeface="Arial"/>
                        </a:rPr>
                        <a:t>→ Agile Management Model _ Proposal Avangrid Architecture V.3.1 18.01.2024 3.pptx | Sl. 29, 30, 31, 32</a:t>
                      </a:r>
                    </a:p>
                  </a:txBody>
                  <a:tcPr>
                    <a:solidFill>
                      <a:srgbClr val="FFFFFF"/>
                    </a:solidFill>
                  </a:tcPr>
                </a:tc>
                <a:tc>
                  <a:txBody>
                    <a:bodyPr/>
                    <a:lstStyle/>
                    <a:p>
                      <a:r>
                        <a:rPr sz="900">
                          <a:solidFill>
                            <a:srgbClr val="2C3E50"/>
                          </a:solidFill>
                          <a:latin typeface="Arial"/>
                        </a:rPr>
                        <a:t>Most operational intake. Jira-only entry (DTO Sl. 19). Standardized form (DTO Sl. 20). Class of Service: Standard, Expedite, Fixed Date, Intangible (DTO Sl. 5). Work types: BAU, Build, Upgrades (DTO Sl. 20). Triage: accept/clarify/reject (DTO Sl. 35). DoR gate (DTO Sl. 19).</a:t>
                      </a:r>
                    </a:p>
                    <a:p>
                      <a:pPr>
                        <a:spcBef>
                          <a:spcPts val="200"/>
                        </a:spcBef>
                      </a:pPr>
                      <a:r>
                        <a:rPr sz="800">
                          <a:solidFill>
                            <a:srgbClr val="7F8C8D"/>
                          </a:solidFill>
                          <a:latin typeface="Arial"/>
                        </a:rPr>
                        <a:t>→ </a:t>
                      </a:r>
                      <a:r>
                        <a:rPr sz="800" u="sng">
                          <a:solidFill>
                            <a:srgbClr val="0072BC"/>
                          </a:solidFill>
                          <a:latin typeface="Arial"/>
                          <a:hlinkClick r:id="rId7"/>
                        </a:rPr>
                        <a:t>NextGen_DTO_Deliverable1 - Final.pptx</a:t>
                      </a:r>
                      <a:r>
                        <a:rPr sz="800" b="1">
                          <a:solidFill>
                            <a:srgbClr val="2C3E50"/>
                          </a:solidFill>
                          <a:latin typeface="Arial"/>
                        </a:rPr>
                        <a:t>  |  Sl. 5, 6, 19, 20, 32, 33, 35</a:t>
                      </a:r>
                    </a:p>
                    <a:p>
                      <a:pPr algn="l">
                        <a:spcBef>
                          <a:spcPts val="100"/>
                        </a:spcBef>
                        <a:spcAft>
                          <a:spcPts val="100"/>
                        </a:spcAft>
                      </a:pPr>
                      <a:r>
                        <a:rPr sz="500" i="1">
                          <a:solidFill>
                            <a:srgbClr val="00A443"/>
                          </a:solidFill>
                          <a:latin typeface="Arial"/>
                        </a:rPr>
                        <a:t>[Context: Sl. 19-20 show the Jira intake form with Class of Service selection and standardized fields]</a:t>
                      </a:r>
                    </a:p>
                  </a:txBody>
                  <a:tcPr>
                    <a:solidFill>
                      <a:srgbClr val="FFFFFF"/>
                    </a:solidFill>
                  </a:tcPr>
                </a:tc>
                <a:tc>
                  <a:txBody>
                    <a:bodyPr/>
                    <a:lstStyle/>
                    <a:p>
                      <a:pPr algn="l">
                        <a:defRPr sz="650">
                          <a:solidFill>
                            <a:srgbClr val="2C3E50"/>
                          </a:solidFill>
                          <a:latin typeface="Arial"/>
                        </a:defRPr>
                      </a:pPr>
                      <a:r>
                        <a:rPr sz="700" b="1">
                          <a:solidFill>
                            <a:srgbClr val="00A443"/>
                          </a:solidFill>
                          <a:latin typeface="Arial"/>
                        </a:rPr>
                        <a:t>[ADOPT] ⭐ DTO</a:t>
                      </a:r>
                      <a:endParaRPr sz="900" dirty="0"/>
                    </a:p>
                    <a:p>
                      <a:pPr algn="l">
                        <a:spcBef>
                          <a:spcPts val="100"/>
                        </a:spcBef>
                        <a:spcAft>
                          <a:spcPts val="0"/>
                        </a:spcAft>
                      </a:pPr>
                      <a:r>
                        <a:rPr sz="600">
                          <a:solidFill>
                            <a:srgbClr val="4A4A4A"/>
                          </a:solidFill>
                          <a:latin typeface="Arial"/>
                        </a:rPr>
                        <a:t>ADOPT DTO Jira-only single entry + Class of Service.</a:t>
                      </a:r>
                    </a:p>
                    <a:p>
                      <a:pPr algn="l">
                        <a:spcBef>
                          <a:spcPts val="100"/>
                        </a:spcBef>
                        <a:spcAft>
                          <a:spcPts val="0"/>
                        </a:spcAft>
                      </a:pPr>
                      <a:r>
                        <a:rPr sz="600">
                          <a:solidFill>
                            <a:srgbClr val="4A4A4A"/>
                          </a:solidFill>
                          <a:latin typeface="Arial"/>
                        </a:rPr>
                        <a:t>ADD P&amp;S Demand Funnel for strategic demand (3 sources).</a:t>
                      </a:r>
                    </a:p>
                    <a:p>
                      <a:pPr algn="l">
                        <a:spcBef>
                          <a:spcPts val="100"/>
                        </a:spcBef>
                        <a:spcAft>
                          <a:spcPts val="0"/>
                        </a:spcAft>
                      </a:pPr>
                      <a:r>
                        <a:rPr sz="600">
                          <a:solidFill>
                            <a:srgbClr val="4A4A4A"/>
                          </a:solidFill>
                          <a:latin typeface="Arial"/>
                        </a:rPr>
                        <a:t>ADD SAP typology: Enhancement, Break-Fix, Integration, Config Change.</a:t>
                      </a:r>
                    </a:p>
                  </a:txBody>
                  <a:tcPr>
                    <a:solidFill>
                      <a:srgbClr val="E8F5E9"/>
                    </a:solidFill>
                  </a:tcPr>
                </a:tc>
                <a:extLst>
                  <a:ext uri="{0D108BD9-81ED-4DB2-BD59-A6C34878D82A}">
                    <a16:rowId xmlns:a16="http://schemas.microsoft.com/office/drawing/2014/main" val="10001"/>
                  </a:ext>
                </a:extLst>
              </a:tr>
              <a:tr h="1743456">
                <a:tc>
                  <a:txBody>
                    <a:bodyPr/>
                    <a:lstStyle/>
                    <a:p>
                      <a:pPr>
                        <a:defRPr sz="800" b="1">
                          <a:solidFill>
                            <a:srgbClr val="2C3E50"/>
                          </a:solidFill>
                          <a:latin typeface="Arial"/>
                        </a:defRPr>
                      </a:pPr>
                      <a:r>
                        <a:rPr sz="1000"/>
                        <a:t>Roles &amp;</a:t>
                      </a:r>
                      <a:br>
                        <a:rPr sz="1000"/>
                      </a:br>
                      <a:r>
                        <a:rPr sz="1000"/>
                        <a:t>RACI</a:t>
                      </a:r>
                    </a:p>
                  </a:txBody>
                  <a:tcPr>
                    <a:solidFill>
                      <a:srgbClr val="F5F5F5"/>
                    </a:solidFill>
                  </a:tcPr>
                </a:tc>
                <a:tc>
                  <a:txBody>
                    <a:bodyPr/>
                    <a:lstStyle/>
                    <a:p>
                      <a:r>
                        <a:rPr sz="900" dirty="0">
                          <a:solidFill>
                            <a:srgbClr val="2C3E50"/>
                          </a:solidFill>
                          <a:latin typeface="Arial"/>
                        </a:rPr>
                        <a:t>RACI templates (PM Playbook Sl. 125-130) in </a:t>
                      </a:r>
                      <a:r>
                        <a:rPr sz="900" dirty="0" err="1">
                          <a:solidFill>
                            <a:srgbClr val="2C3E50"/>
                          </a:solidFill>
                          <a:latin typeface="Arial"/>
                        </a:rPr>
                        <a:t>Confluence+Jira</a:t>
                      </a:r>
                      <a:r>
                        <a:rPr sz="900" dirty="0">
                          <a:solidFill>
                            <a:srgbClr val="2C3E50"/>
                          </a:solidFill>
                          <a:latin typeface="Arial"/>
                        </a:rPr>
                        <a:t>. PM Role per phase (PM Playbook Sl. 105). Stakeholder Mapping (PM Playbook Sl. 115-117). Resource Planning (PM Playbook Sl. 121-123). Crew: PO/SM/Dev (</a:t>
                      </a:r>
                      <a:r>
                        <a:rPr sz="900" dirty="0" err="1">
                          <a:solidFill>
                            <a:srgbClr val="2C3E50"/>
                          </a:solidFill>
                          <a:latin typeface="Arial"/>
                        </a:rPr>
                        <a:t>nWOW</a:t>
                      </a:r>
                      <a:r>
                        <a:rPr sz="900" dirty="0">
                          <a:solidFill>
                            <a:srgbClr val="2C3E50"/>
                          </a:solidFill>
                          <a:latin typeface="Arial"/>
                        </a:rPr>
                        <a:t> Sl. 34). Flight Levels (PM Playbook Sl. 76).</a:t>
                      </a:r>
                    </a:p>
                    <a:p>
                      <a:pPr>
                        <a:spcBef>
                          <a:spcPts val="200"/>
                        </a:spcBef>
                      </a:pPr>
                      <a:r>
                        <a:rPr sz="800" dirty="0">
                          <a:solidFill>
                            <a:srgbClr val="7F8C8D"/>
                          </a:solidFill>
                          <a:latin typeface="Arial"/>
                        </a:rPr>
                        <a:t>→ </a:t>
                      </a:r>
                      <a:r>
                        <a:rPr sz="800" u="sng" dirty="0">
                          <a:solidFill>
                            <a:srgbClr val="0072BC"/>
                          </a:solidFill>
                          <a:latin typeface="Arial"/>
                          <a:hlinkClick r:id="rId4"/>
                        </a:rPr>
                        <a:t>[00] Project Management Playbook - P&amp;S Ways of Working 10.28.25 v.1.0-2.pptx</a:t>
                      </a:r>
                      <a:r>
                        <a:rPr sz="800" b="1" dirty="0">
                          <a:solidFill>
                            <a:srgbClr val="2C3E50"/>
                          </a:solidFill>
                          <a:latin typeface="Arial"/>
                        </a:rPr>
                        <a:t>  |  Sl. 115, 116, 126, 127, 128, 129</a:t>
                      </a:r>
                    </a:p>
                    <a:p>
                      <a:pPr>
                        <a:spcBef>
                          <a:spcPts val="200"/>
                        </a:spcBef>
                      </a:pPr>
                      <a:r>
                        <a:rPr sz="800" dirty="0">
                          <a:solidFill>
                            <a:srgbClr val="7F8C8D"/>
                          </a:solidFill>
                          <a:latin typeface="Arial"/>
                        </a:rPr>
                        <a:t>→ </a:t>
                      </a:r>
                      <a:r>
                        <a:rPr sz="800" u="sng" dirty="0">
                          <a:solidFill>
                            <a:srgbClr val="0072BC"/>
                          </a:solidFill>
                          <a:latin typeface="Arial"/>
                          <a:hlinkClick r:id="rId3"/>
                        </a:rPr>
                        <a:t>nWOW - New Ways of Working - P&amp;S Lean Operating Model 03.10.2026 v1.2.pptx</a:t>
                      </a:r>
                      <a:r>
                        <a:rPr sz="800" b="1" dirty="0">
                          <a:solidFill>
                            <a:srgbClr val="2C3E50"/>
                          </a:solidFill>
                          <a:latin typeface="Arial"/>
                        </a:rPr>
                        <a:t>  |  Sl. 7</a:t>
                      </a:r>
                    </a:p>
                  </a:txBody>
                  <a:tcPr>
                    <a:solidFill>
                      <a:srgbClr val="F5F5F5"/>
                    </a:solidFill>
                  </a:tcPr>
                </a:tc>
                <a:tc>
                  <a:txBody>
                    <a:bodyPr/>
                    <a:lstStyle/>
                    <a:p>
                      <a:r>
                        <a:rPr sz="900">
                          <a:solidFill>
                            <a:srgbClr val="2C3E50"/>
                          </a:solidFill>
                          <a:latin typeface="Arial"/>
                        </a:rPr>
                        <a:t>Roles via Scrum events (Agility Playbook Sl. 20). Agile Master + hygiene checklist (Agility Playbook Sl. 94). Discovery workflow roles (Agility Playbook Sl. 43-44). SEAL-SIX team composition (NTTDATA Sl. 10). No RACI.</a:t>
                      </a:r>
                    </a:p>
                    <a:p>
                      <a:pPr>
                        <a:spcBef>
                          <a:spcPts val="200"/>
                        </a:spcBef>
                      </a:pPr>
                      <a:r>
                        <a:rPr sz="800">
                          <a:solidFill>
                            <a:srgbClr val="7F8C8D"/>
                          </a:solidFill>
                          <a:latin typeface="Arial"/>
                        </a:rPr>
                        <a:t>→ </a:t>
                      </a:r>
                      <a:r>
                        <a:rPr sz="800" u="sng">
                          <a:solidFill>
                            <a:srgbClr val="0072BC"/>
                          </a:solidFill>
                          <a:latin typeface="Arial"/>
                          <a:hlinkClick r:id="rId8"/>
                        </a:rPr>
                        <a:t>[17] Agility Playbook - Digital Center of Excellence 06.18.2025 V.1.7.pptx</a:t>
                      </a:r>
                      <a:r>
                        <a:rPr sz="800" b="1">
                          <a:solidFill>
                            <a:srgbClr val="2C3E50"/>
                          </a:solidFill>
                          <a:latin typeface="Arial"/>
                        </a:rPr>
                        <a:t>  |  Sl. 20, 43, 94, 95, 98, 99</a:t>
                      </a:r>
                    </a:p>
                    <a:p>
                      <a:pPr>
                        <a:spcBef>
                          <a:spcPts val="200"/>
                        </a:spcBef>
                      </a:pPr>
                      <a:r>
                        <a:rPr sz="800">
                          <a:solidFill>
                            <a:srgbClr val="7F8C8D"/>
                          </a:solidFill>
                          <a:latin typeface="Arial"/>
                        </a:rPr>
                        <a:t>→ </a:t>
                      </a:r>
                      <a:r>
                        <a:rPr sz="800" u="sng">
                          <a:solidFill>
                            <a:srgbClr val="0072BC"/>
                          </a:solidFill>
                          <a:latin typeface="Arial"/>
                          <a:hlinkClick r:id="rId9"/>
                        </a:rPr>
                        <a:t>NTTDATA-Digital Strategy - NextGen Produc Ops Org Design SEAL-SIX Model v.1.7 06.29.pptx</a:t>
                      </a:r>
                      <a:r>
                        <a:rPr sz="800" b="1">
                          <a:solidFill>
                            <a:srgbClr val="2C3E50"/>
                          </a:solidFill>
                          <a:latin typeface="Arial"/>
                        </a:rPr>
                        <a:t>  |  Sl. 10</a:t>
                      </a:r>
                    </a:p>
                  </a:txBody>
                  <a:tcPr>
                    <a:solidFill>
                      <a:srgbClr val="F5F5F5"/>
                    </a:solidFill>
                  </a:tcPr>
                </a:tc>
                <a:tc>
                  <a:txBody>
                    <a:bodyPr/>
                    <a:lstStyle/>
                    <a:p>
                      <a:r>
                        <a:rPr sz="600">
                          <a:solidFill>
                            <a:srgbClr val="4A4A4A"/>
                          </a:solidFill>
                          <a:latin typeface="Arial"/>
                        </a:rPr>
                        <a:t>Team Topologies (Sl. 29-32): 4 types, 3 interaction modes. Defines Digital Products as Platform Team providing X-as-a-Service — unique structural framework. Per-unit-served investment model (Sl. 51-54) for OPCO cost allocation — directly applicable to multi-OPCO Digital Products. Blueprint Design method (Sl. 36) for baseline documentation.</a:t>
                      </a:r>
                    </a:p>
                    <a:p>
                      <a:r>
                        <a:rPr sz="600">
                          <a:solidFill>
                            <a:srgbClr val="0070C0"/>
                          </a:solidFill>
                          <a:latin typeface="Arial"/>
                        </a:rPr>
                        <a:t>→ Agile Management Model _ Proposal Avangrid Architecture V.3.1 18.01.2024 3.pptx | Sl. 25, 29-33, 36, 51-54</a:t>
                      </a:r>
                    </a:p>
                  </a:txBody>
                  <a:tcPr>
                    <a:solidFill>
                      <a:srgbClr val="F5F5F5"/>
                    </a:solidFill>
                  </a:tcPr>
                </a:tc>
                <a:tc>
                  <a:txBody>
                    <a:bodyPr/>
                    <a:lstStyle/>
                    <a:p>
                      <a:r>
                        <a:rPr sz="900">
                          <a:solidFill>
                            <a:srgbClr val="2C3E50"/>
                          </a:solidFill>
                          <a:latin typeface="Arial"/>
                        </a:rPr>
                        <a:t>Roles per Kanban stage (DTO Sl. 17): Backlog → PO, In Progress → Dev, QA → QA Lead, Done → PO validation. Kanban Lead: cadences, blockers, flow (DTO Sl. 30). DTO Project Committee (DTO Sl. 12, 13).</a:t>
                      </a:r>
                    </a:p>
                    <a:p>
                      <a:pPr>
                        <a:spcBef>
                          <a:spcPts val="200"/>
                        </a:spcBef>
                      </a:pPr>
                      <a:r>
                        <a:rPr sz="800">
                          <a:solidFill>
                            <a:srgbClr val="7F8C8D"/>
                          </a:solidFill>
                          <a:latin typeface="Arial"/>
                        </a:rPr>
                        <a:t>→ </a:t>
                      </a:r>
                      <a:r>
                        <a:rPr sz="800" u="sng">
                          <a:solidFill>
                            <a:srgbClr val="0072BC"/>
                          </a:solidFill>
                          <a:latin typeface="Arial"/>
                          <a:hlinkClick r:id="rId7"/>
                        </a:rPr>
                        <a:t>NextGen_DTO_Deliverable1 - Final.pptx</a:t>
                      </a:r>
                      <a:r>
                        <a:rPr sz="800" b="1">
                          <a:solidFill>
                            <a:srgbClr val="2C3E50"/>
                          </a:solidFill>
                          <a:latin typeface="Arial"/>
                        </a:rPr>
                        <a:t>  |  Sl. 12, 13, 17, 30, 39</a:t>
                      </a:r>
                    </a:p>
                  </a:txBody>
                  <a:tcPr>
                    <a:solidFill>
                      <a:srgbClr val="F5F5F5"/>
                    </a:solidFill>
                  </a:tcPr>
                </a:tc>
                <a:tc>
                  <a:txBody>
                    <a:bodyPr/>
                    <a:lstStyle/>
                    <a:p>
                      <a:pPr algn="l">
                        <a:defRPr sz="650">
                          <a:solidFill>
                            <a:srgbClr val="2C3E50"/>
                          </a:solidFill>
                          <a:latin typeface="Arial"/>
                        </a:defRPr>
                      </a:pPr>
                      <a:r>
                        <a:rPr sz="700" b="1">
                          <a:solidFill>
                            <a:srgbClr val="00A443"/>
                          </a:solidFill>
                          <a:latin typeface="Arial"/>
                        </a:rPr>
                        <a:t>[ADOPT] ⭐ P&amp;S</a:t>
                      </a:r>
                      <a:endParaRPr sz="900" dirty="0"/>
                    </a:p>
                    <a:p>
                      <a:pPr algn="l">
                        <a:spcBef>
                          <a:spcPts val="100"/>
                        </a:spcBef>
                        <a:spcAft>
                          <a:spcPts val="0"/>
                        </a:spcAft>
                      </a:pPr>
                      <a:r>
                        <a:rPr sz="600">
                          <a:solidFill>
                            <a:srgbClr val="4A4A4A"/>
                          </a:solidFill>
                          <a:latin typeface="Arial"/>
                        </a:rPr>
                        <a:t>ADOPT P&amp;S RACI templates (Confluence+Jira).</a:t>
                      </a:r>
                    </a:p>
                    <a:p>
                      <a:pPr algn="l">
                        <a:spcBef>
                          <a:spcPts val="100"/>
                        </a:spcBef>
                        <a:spcAft>
                          <a:spcPts val="0"/>
                        </a:spcAft>
                      </a:pPr>
                      <a:r>
                        <a:rPr sz="600">
                          <a:solidFill>
                            <a:srgbClr val="4A4A4A"/>
                          </a:solidFill>
                          <a:latin typeface="Arial"/>
                        </a:rPr>
                        <a:t>ADD Infrastructure Team Topologies — Digital Products as Platform Team.</a:t>
                      </a:r>
                    </a:p>
                    <a:p>
                      <a:pPr algn="l">
                        <a:spcBef>
                          <a:spcPts val="100"/>
                        </a:spcBef>
                        <a:spcAft>
                          <a:spcPts val="0"/>
                        </a:spcAft>
                      </a:pPr>
                      <a:r>
                        <a:rPr sz="600">
                          <a:solidFill>
                            <a:srgbClr val="4A4A4A"/>
                          </a:solidFill>
                          <a:latin typeface="Arial"/>
                        </a:rPr>
                        <a:t>ADD DTO Kanban Lead role for flow management.</a:t>
                      </a:r>
                    </a:p>
                    <a:p>
                      <a:pPr algn="l">
                        <a:spcBef>
                          <a:spcPts val="100"/>
                        </a:spcBef>
                        <a:spcAft>
                          <a:spcPts val="0"/>
                        </a:spcAft>
                      </a:pPr>
                      <a:r>
                        <a:rPr sz="600">
                          <a:solidFill>
                            <a:srgbClr val="4A4A4A"/>
                          </a:solidFill>
                          <a:latin typeface="Arial"/>
                        </a:rPr>
                        <a:t>MAP to Avangrid SAP team composition.</a:t>
                      </a:r>
                    </a:p>
                  </a:txBody>
                  <a:tcPr>
                    <a:solidFill>
                      <a:srgbClr val="C8E6C9"/>
                    </a:solidFill>
                  </a:tcPr>
                </a:tc>
                <a:extLst>
                  <a:ext uri="{0D108BD9-81ED-4DB2-BD59-A6C34878D82A}">
                    <a16:rowId xmlns:a16="http://schemas.microsoft.com/office/drawing/2014/main" val="10002"/>
                  </a:ext>
                </a:extLst>
              </a:tr>
            </a:tbl>
          </a:graphicData>
        </a:graphic>
      </p:graphicFrame>
      <p:sp>
        <p:nvSpPr>
          <p:cNvPr id="3" name="Rectangle 1">
            <a:extLst>
              <a:ext uri="{FF2B5EF4-FFF2-40B4-BE49-F238E27FC236}">
                <a16:creationId xmlns:a16="http://schemas.microsoft.com/office/drawing/2014/main" id="{EFD77203-ECC9-680C-AF2C-82F5F6236391}"/>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76349"/>
            <a:ext cx="10515600" cy="400110"/>
          </a:xfrm>
          <a:prstGeom prst="rect">
            <a:avLst/>
          </a:prstGeom>
          <a:noFill/>
        </p:spPr>
        <p:txBody>
          <a:bodyPr wrap="square">
            <a:spAutoFit/>
          </a:bodyPr>
          <a:lstStyle/>
          <a:p>
            <a:pPr>
              <a:defRPr sz="1400" b="1">
                <a:solidFill>
                  <a:srgbClr val="002060"/>
                </a:solidFill>
                <a:latin typeface="Arial"/>
              </a:defRPr>
            </a:pPr>
            <a:r>
              <a:rPr sz="2000" b="1" dirty="0">
                <a:solidFill>
                  <a:srgbClr val="00A443"/>
                </a:solidFill>
                <a:latin typeface="Arial"/>
              </a:rPr>
              <a:t>Existing Assets — Tool Ecosystem &amp; Portfolio / </a:t>
            </a:r>
            <a:r>
              <a:rPr sz="2000" b="1" dirty="0" err="1">
                <a:solidFill>
                  <a:srgbClr val="00A443"/>
                </a:solidFill>
                <a:latin typeface="Arial"/>
              </a:rPr>
              <a:t>PPMNow</a:t>
            </a:r>
            <a:r>
              <a:rPr sz="2000" b="1" dirty="0">
                <a:solidFill>
                  <a:srgbClr val="00A443"/>
                </a:solidFill>
                <a:latin typeface="Arial"/>
              </a:rPr>
              <a:t> (3/</a:t>
            </a:r>
            <a:r>
              <a:rPr lang="pt-BR" sz="2000" b="1" dirty="0">
                <a:solidFill>
                  <a:srgbClr val="00A443"/>
                </a:solidFill>
                <a:latin typeface="Arial"/>
              </a:rPr>
              <a:t>5</a:t>
            </a:r>
            <a:r>
              <a:rPr sz="2000" b="1" dirty="0">
                <a:solidFill>
                  <a:srgbClr val="00A443"/>
                </a:solidFill>
                <a:latin typeface="Arial"/>
              </a:rPr>
              <a:t>)</a:t>
            </a:r>
          </a:p>
        </p:txBody>
      </p:sp>
      <p:pic>
        <p:nvPicPr>
          <p:cNvPr id="8" name="Picture 5" descr="Avangrid - Wikipedia">
            <a:extLst>
              <a:ext uri="{FF2B5EF4-FFF2-40B4-BE49-F238E27FC236}">
                <a16:creationId xmlns:a16="http://schemas.microsoft.com/office/drawing/2014/main" id="{5F50F6B5-2198-389E-111D-B83C96C084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9" name="NTT DATA Global Logo">
            <a:extLst>
              <a:ext uri="{FF2B5EF4-FFF2-40B4-BE49-F238E27FC236}">
                <a16:creationId xmlns:a16="http://schemas.microsoft.com/office/drawing/2014/main" id="{4B8ADADA-9771-645D-5FF8-75DEB581A727}"/>
              </a:ext>
            </a:extLst>
          </p:cNvPr>
          <p:cNvSpPr/>
          <p:nvPr/>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2" name="Table 5">
            <a:extLst>
              <a:ext uri="{FF2B5EF4-FFF2-40B4-BE49-F238E27FC236}">
                <a16:creationId xmlns:a16="http://schemas.microsoft.com/office/drawing/2014/main" id="{07958774-FE63-B59C-C19F-48C9B9A22E46}"/>
              </a:ext>
            </a:extLst>
          </p:cNvPr>
          <p:cNvGraphicFramePr>
            <a:graphicFrameLocks noGrp="1"/>
          </p:cNvGraphicFramePr>
          <p:nvPr>
            <p:extLst>
              <p:ext uri="{D42A27DB-BD31-4B8C-83A1-F6EECF244321}">
                <p14:modId xmlns:p14="http://schemas.microsoft.com/office/powerpoint/2010/main" val="2502989007"/>
              </p:ext>
            </p:extLst>
          </p:nvPr>
        </p:nvGraphicFramePr>
        <p:xfrm>
          <a:off x="91440" y="868680"/>
          <a:ext cx="11978640" cy="4565481"/>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369401">
                <a:tc>
                  <a:txBody>
                    <a:bodyPr/>
                    <a:lstStyle/>
                    <a:p>
                      <a:pPr algn="ctr">
                        <a:defRPr sz="700" b="1">
                          <a:solidFill>
                            <a:srgbClr val="FFFFFF"/>
                          </a:solidFill>
                          <a:latin typeface="Arial"/>
                        </a:defRPr>
                      </a:pPr>
                      <a:r>
                        <a:rPr sz="900" dirty="0"/>
                        <a:t>Deliverable</a:t>
                      </a:r>
                    </a:p>
                  </a:txBody>
                  <a:tcPr anchor="ctr">
                    <a:solidFill>
                      <a:srgbClr val="002060"/>
                    </a:solidFill>
                  </a:tcPr>
                </a:tc>
                <a:tc>
                  <a:txBody>
                    <a:bodyPr/>
                    <a:lstStyle/>
                    <a:p>
                      <a:pPr algn="ctr">
                        <a:defRPr sz="700" b="1">
                          <a:solidFill>
                            <a:srgbClr val="FFFFFF"/>
                          </a:solidFill>
                          <a:latin typeface="Arial"/>
                        </a:defRPr>
                      </a:pPr>
                      <a:r>
                        <a:rPr sz="900"/>
                        <a:t>P&amp;S / P&amp;T</a:t>
                      </a:r>
                    </a:p>
                  </a:txBody>
                  <a:tcPr anchor="ctr">
                    <a:solidFill>
                      <a:srgbClr val="002060"/>
                    </a:solidFill>
                  </a:tcPr>
                </a:tc>
                <a:tc>
                  <a:txBody>
                    <a:bodyPr/>
                    <a:lstStyle/>
                    <a:p>
                      <a:pPr algn="ctr">
                        <a:defRPr sz="700" b="1">
                          <a:solidFill>
                            <a:srgbClr val="FFFFFF"/>
                          </a:solidFill>
                          <a:latin typeface="Arial"/>
                        </a:defRPr>
                      </a:pPr>
                      <a:r>
                        <a:rPr sz="900"/>
                        <a:t>Digital CoE</a:t>
                      </a:r>
                    </a:p>
                  </a:txBody>
                  <a:tcPr anchor="ctr">
                    <a:solidFill>
                      <a:srgbClr val="002060"/>
                    </a:solidFill>
                  </a:tcPr>
                </a:tc>
                <a:tc>
                  <a:txBody>
                    <a:bodyPr/>
                    <a:lstStyle/>
                    <a:p>
                      <a:pPr algn="ctr">
                        <a:defRPr sz="700" b="1">
                          <a:solidFill>
                            <a:srgbClr val="FFFFFF"/>
                          </a:solidFill>
                          <a:latin typeface="Arial"/>
                        </a:defRPr>
                      </a:pPr>
                      <a:r>
                        <a:rPr sz="900"/>
                        <a:t>Infrastructure</a:t>
                      </a:r>
                    </a:p>
                  </a:txBody>
                  <a:tcPr anchor="ctr">
                    <a:solidFill>
                      <a:srgbClr val="002060"/>
                    </a:solidFill>
                  </a:tcPr>
                </a:tc>
                <a:tc>
                  <a:txBody>
                    <a:bodyPr/>
                    <a:lstStyle/>
                    <a:p>
                      <a:pPr algn="ctr">
                        <a:defRPr sz="700" b="1">
                          <a:solidFill>
                            <a:srgbClr val="FFFFFF"/>
                          </a:solidFill>
                          <a:latin typeface="Arial"/>
                        </a:defRPr>
                      </a:pPr>
                      <a:r>
                        <a:rPr sz="900"/>
                        <a:t>Renewables DTO</a:t>
                      </a:r>
                    </a:p>
                  </a:txBody>
                  <a:tcPr anchor="ctr">
                    <a:solidFill>
                      <a:srgbClr val="002060"/>
                    </a:solidFill>
                  </a:tcPr>
                </a:tc>
                <a:tc>
                  <a:txBody>
                    <a:bodyPr/>
                    <a:lstStyle/>
                    <a:p>
                      <a:pPr algn="ctr">
                        <a:defRPr sz="700" b="1">
                          <a:solidFill>
                            <a:srgbClr val="FFFFFF"/>
                          </a:solidFill>
                          <a:latin typeface="Arial"/>
                        </a:defRPr>
                      </a:pPr>
                      <a:r>
                        <a:rPr sz="900"/>
                        <a:t>Digital Products (Reuse)</a:t>
                      </a:r>
                    </a:p>
                  </a:txBody>
                  <a:tcPr anchor="ctr">
                    <a:solidFill>
                      <a:srgbClr val="00B050"/>
                    </a:solidFill>
                  </a:tcPr>
                </a:tc>
                <a:extLst>
                  <a:ext uri="{0D108BD9-81ED-4DB2-BD59-A6C34878D82A}">
                    <a16:rowId xmlns:a16="http://schemas.microsoft.com/office/drawing/2014/main" val="10000"/>
                  </a:ext>
                </a:extLst>
              </a:tr>
              <a:tr h="1743456">
                <a:tc>
                  <a:txBody>
                    <a:bodyPr/>
                    <a:lstStyle/>
                    <a:p>
                      <a:pPr>
                        <a:defRPr sz="800" b="1">
                          <a:solidFill>
                            <a:srgbClr val="2C3E50"/>
                          </a:solidFill>
                          <a:latin typeface="Arial"/>
                        </a:defRPr>
                      </a:pPr>
                      <a:r>
                        <a:rPr sz="1000"/>
                        <a:t>Tool Ecosystem</a:t>
                      </a:r>
                      <a:br>
                        <a:rPr sz="1000"/>
                      </a:br>
                      <a:r>
                        <a:rPr sz="1000"/>
                        <a:t>&amp; Jira Config</a:t>
                      </a:r>
                    </a:p>
                  </a:txBody>
                  <a:tcPr>
                    <a:solidFill>
                      <a:srgbClr val="FFFFFF"/>
                    </a:solidFill>
                  </a:tcPr>
                </a:tc>
                <a:tc>
                  <a:txBody>
                    <a:bodyPr/>
                    <a:lstStyle/>
                    <a:p>
                      <a:r>
                        <a:rPr sz="900">
                          <a:solidFill>
                            <a:srgbClr val="2C3E50"/>
                          </a:solidFill>
                          <a:latin typeface="Arial"/>
                        </a:rPr>
                        <a:t>Jira Kanban Workflows (PM Playbook Sl. 88). Issue Hierarchy: Initiative → Epic → Story → Task (PM Playbook Sl. 92). Board configs (PM Playbook Sl. 101-104). Health dashboards (PM Playbook Sl. 92, 142). Admin permissions (PM Playbook Sl. 97-100).</a:t>
                      </a:r>
                    </a:p>
                    <a:p>
                      <a:pPr>
                        <a:spcBef>
                          <a:spcPts val="200"/>
                        </a:spcBef>
                      </a:pPr>
                      <a:r>
                        <a:rPr sz="800">
                          <a:solidFill>
                            <a:srgbClr val="7F8C8D"/>
                          </a:solidFill>
                          <a:latin typeface="Arial"/>
                        </a:rPr>
                        <a:t>→ </a:t>
                      </a:r>
                      <a:r>
                        <a:rPr sz="800" u="sng">
                          <a:solidFill>
                            <a:srgbClr val="0072BC"/>
                          </a:solidFill>
                          <a:latin typeface="Arial"/>
                          <a:hlinkClick r:id="rId3"/>
                        </a:rPr>
                        <a:t>[00] Project Management Playbook - P&amp;S Ways of Working 10.28.25 v.1.0-2.pptx</a:t>
                      </a:r>
                      <a:r>
                        <a:rPr sz="800" b="1">
                          <a:solidFill>
                            <a:srgbClr val="2C3E50"/>
                          </a:solidFill>
                          <a:latin typeface="Arial"/>
                        </a:rPr>
                        <a:t>  |  Sl. 82, 88, 91, 93, 95, 97, 100</a:t>
                      </a:r>
                    </a:p>
                  </a:txBody>
                  <a:tcPr>
                    <a:solidFill>
                      <a:srgbClr val="FFFFFF"/>
                    </a:solidFill>
                  </a:tcPr>
                </a:tc>
                <a:tc>
                  <a:txBody>
                    <a:bodyPr/>
                    <a:lstStyle/>
                    <a:p>
                      <a:r>
                        <a:rPr sz="900">
                          <a:solidFill>
                            <a:srgbClr val="2C3E50"/>
                          </a:solidFill>
                          <a:latin typeface="Arial"/>
                        </a:rPr>
                        <a:t>CX JIRA Playbook (41p): board design, filters, fields, workflows, burndown. NextGen Jira: portfolio config (Sl. 8), roadmap-backlog (Sl. 6-7). Separate Discovery/Delivery boards (CoE Playbook Sl. 47-48). 8 stage-gate Portfolio Kanban (CoE Playbook Sl. 26-27).</a:t>
                      </a:r>
                    </a:p>
                    <a:p>
                      <a:pPr>
                        <a:spcBef>
                          <a:spcPts val="200"/>
                        </a:spcBef>
                      </a:pPr>
                      <a:r>
                        <a:rPr sz="800">
                          <a:solidFill>
                            <a:srgbClr val="7F8C8D"/>
                          </a:solidFill>
                          <a:latin typeface="Arial"/>
                        </a:rPr>
                        <a:t>→ </a:t>
                      </a:r>
                      <a:r>
                        <a:rPr sz="800" u="sng">
                          <a:solidFill>
                            <a:srgbClr val="0072BC"/>
                          </a:solidFill>
                          <a:latin typeface="Arial"/>
                          <a:hlinkClick r:id="rId4"/>
                        </a:rPr>
                        <a:t>[CX] JIRA Agile Management Playbook - Center of Excellence 25.03.2024 V.1.0.pdf</a:t>
                      </a:r>
                      <a:r>
                        <a:rPr sz="800" b="1">
                          <a:solidFill>
                            <a:srgbClr val="2C3E50"/>
                          </a:solidFill>
                          <a:latin typeface="Arial"/>
                        </a:rPr>
                        <a:t>  |  Full (41p)</a:t>
                      </a:r>
                    </a:p>
                    <a:p>
                      <a:pPr>
                        <a:spcBef>
                          <a:spcPts val="200"/>
                        </a:spcBef>
                      </a:pPr>
                      <a:r>
                        <a:rPr sz="800">
                          <a:solidFill>
                            <a:srgbClr val="7F8C8D"/>
                          </a:solidFill>
                          <a:latin typeface="Arial"/>
                        </a:rPr>
                        <a:t>→ </a:t>
                      </a:r>
                      <a:r>
                        <a:rPr sz="800" u="sng">
                          <a:solidFill>
                            <a:srgbClr val="0072BC"/>
                          </a:solidFill>
                          <a:latin typeface="Arial"/>
                          <a:hlinkClick r:id="rId5"/>
                        </a:rPr>
                        <a:t>[33] NextGen 2.0 - Jira Management User Guide for CX Digitall CoE 27.06.2024.pptx</a:t>
                      </a:r>
                      <a:r>
                        <a:rPr sz="800" b="1">
                          <a:solidFill>
                            <a:srgbClr val="2C3E50"/>
                          </a:solidFill>
                          <a:latin typeface="Arial"/>
                        </a:rPr>
                        <a:t>  |  Sl. 4, 6, 7, 8, 9, 21</a:t>
                      </a:r>
                    </a:p>
                    <a:p>
                      <a:pPr>
                        <a:spcBef>
                          <a:spcPts val="200"/>
                        </a:spcBef>
                      </a:pPr>
                      <a:r>
                        <a:rPr sz="800">
                          <a:solidFill>
                            <a:srgbClr val="7F8C8D"/>
                          </a:solidFill>
                          <a:latin typeface="Arial"/>
                        </a:rPr>
                        <a:t>→ </a:t>
                      </a:r>
                      <a:r>
                        <a:rPr sz="800" u="sng">
                          <a:solidFill>
                            <a:srgbClr val="0072BC"/>
                          </a:solidFill>
                          <a:latin typeface="Arial"/>
                          <a:hlinkClick r:id="rId6"/>
                        </a:rPr>
                        <a:t>[12] Digital CoE Operating Model - Playbook - 01.05.2026 V.2.5. FINAL pptx.pptx</a:t>
                      </a:r>
                      <a:r>
                        <a:rPr sz="800" b="1">
                          <a:solidFill>
                            <a:srgbClr val="2C3E50"/>
                          </a:solidFill>
                          <a:latin typeface="Arial"/>
                        </a:rPr>
                        <a:t>  |  Sl. 26-27, 47-48</a:t>
                      </a:r>
                    </a:p>
                    <a:p>
                      <a:pPr algn="l">
                        <a:spcBef>
                          <a:spcPts val="100"/>
                        </a:spcBef>
                        <a:spcAft>
                          <a:spcPts val="100"/>
                        </a:spcAft>
                      </a:pPr>
                      <a:r>
                        <a:rPr sz="500" i="1">
                          <a:solidFill>
                            <a:srgbClr val="00A443"/>
                          </a:solidFill>
                          <a:latin typeface="Arial"/>
                        </a:rPr>
                        <a:t>[Context: 41-page comprehensive guide covering board design, field configuration, filters, and workflows]</a:t>
                      </a:r>
                    </a:p>
                  </a:txBody>
                  <a:tcPr>
                    <a:solidFill>
                      <a:srgbClr val="FFFFFF"/>
                    </a:solidFill>
                  </a:tcPr>
                </a:tc>
                <a:tc>
                  <a:txBody>
                    <a:bodyPr/>
                    <a:lstStyle/>
                    <a:p>
                      <a:r>
                        <a:rPr sz="900">
                          <a:solidFill>
                            <a:srgbClr val="2C3E50"/>
                          </a:solidFill>
                          <a:latin typeface="Arial"/>
                        </a:rPr>
                        <a:t>TPO FLOW JIRA Training: board creation (Sl. 6), filters (Sl. 12), Epics (Sl. 14). Onboarding resource.</a:t>
                      </a:r>
                    </a:p>
                    <a:p>
                      <a:pPr>
                        <a:spcBef>
                          <a:spcPts val="200"/>
                        </a:spcBef>
                      </a:pPr>
                      <a:r>
                        <a:rPr sz="800">
                          <a:solidFill>
                            <a:srgbClr val="7F8C8D"/>
                          </a:solidFill>
                          <a:latin typeface="Arial"/>
                        </a:rPr>
                        <a:t>→ </a:t>
                      </a:r>
                      <a:r>
                        <a:rPr sz="800" u="sng">
                          <a:solidFill>
                            <a:srgbClr val="0072BC"/>
                          </a:solidFill>
                          <a:latin typeface="Arial"/>
                          <a:hlinkClick r:id="rId7"/>
                        </a:rPr>
                        <a:t>TPO FLOW Project - JIRA Training Guide 05-13-2025.pptx</a:t>
                      </a:r>
                      <a:r>
                        <a:rPr sz="800" b="1">
                          <a:solidFill>
                            <a:srgbClr val="2C3E50"/>
                          </a:solidFill>
                          <a:latin typeface="Arial"/>
                        </a:rPr>
                        <a:t>  |  Sl. 1, 6, 10, 11, 12</a:t>
                      </a:r>
                    </a:p>
                  </a:txBody>
                  <a:tcPr>
                    <a:solidFill>
                      <a:srgbClr val="FFFFFF"/>
                    </a:solidFill>
                  </a:tcPr>
                </a:tc>
                <a:tc>
                  <a:txBody>
                    <a:bodyPr/>
                    <a:lstStyle/>
                    <a:p>
                      <a:r>
                        <a:rPr sz="900">
                          <a:solidFill>
                            <a:srgbClr val="2C3E50"/>
                          </a:solidFill>
                          <a:latin typeface="Arial"/>
                        </a:rPr>
                        <a:t>Jira single source of truth (DTO Sl. 19). 2-level board: Level 1 Epic Kanban by business area (DTO Sl. 12), Level 2 Project Kanban (DTO Sl. 14). Fields per issue type (DTO Sl. 14). Flow Metrics Dashboard (DTO Sl. 49). Blocker Tracker (DTO Sl. 47).</a:t>
                      </a:r>
                    </a:p>
                    <a:p>
                      <a:pPr>
                        <a:spcBef>
                          <a:spcPts val="200"/>
                        </a:spcBef>
                      </a:pPr>
                      <a:r>
                        <a:rPr sz="800">
                          <a:solidFill>
                            <a:srgbClr val="7F8C8D"/>
                          </a:solidFill>
                          <a:latin typeface="Arial"/>
                        </a:rPr>
                        <a:t>→ </a:t>
                      </a:r>
                      <a:r>
                        <a:rPr sz="800" u="sng">
                          <a:solidFill>
                            <a:srgbClr val="0072BC"/>
                          </a:solidFill>
                          <a:latin typeface="Arial"/>
                          <a:hlinkClick r:id="rId8"/>
                        </a:rPr>
                        <a:t>NextGen_DTO_Deliverable1 - Final.pptx</a:t>
                      </a:r>
                      <a:r>
                        <a:rPr sz="800" b="1">
                          <a:solidFill>
                            <a:srgbClr val="2C3E50"/>
                          </a:solidFill>
                          <a:latin typeface="Arial"/>
                        </a:rPr>
                        <a:t>  |  Sl. 5, 12, 14, 27, 28, 47, 49</a:t>
                      </a:r>
                    </a:p>
                  </a:txBody>
                  <a:tcPr>
                    <a:solidFill>
                      <a:srgbClr val="FFFFFF"/>
                    </a:solidFill>
                  </a:tcPr>
                </a:tc>
                <a:tc>
                  <a:txBody>
                    <a:bodyPr/>
                    <a:lstStyle/>
                    <a:p>
                      <a:pPr algn="l">
                        <a:defRPr sz="650">
                          <a:solidFill>
                            <a:srgbClr val="2C3E50"/>
                          </a:solidFill>
                          <a:latin typeface="Arial"/>
                        </a:defRPr>
                      </a:pPr>
                      <a:r>
                        <a:rPr sz="700" b="1">
                          <a:solidFill>
                            <a:srgbClr val="00A443"/>
                          </a:solidFill>
                          <a:latin typeface="Arial"/>
                        </a:rPr>
                        <a:t>[ADOPT] ⭐ CoE</a:t>
                      </a:r>
                      <a:endParaRPr sz="900" dirty="0"/>
                    </a:p>
                    <a:p>
                      <a:pPr algn="l">
                        <a:spcBef>
                          <a:spcPts val="100"/>
                        </a:spcBef>
                        <a:spcAft>
                          <a:spcPts val="0"/>
                        </a:spcAft>
                      </a:pPr>
                      <a:r>
                        <a:rPr sz="600">
                          <a:solidFill>
                            <a:srgbClr val="4A4A4A"/>
                          </a:solidFill>
                          <a:latin typeface="Arial"/>
                        </a:rPr>
                        <a:t>ADOPT CoE CX JIRA Playbook (41p — board design, filters, workflows).</a:t>
                      </a:r>
                    </a:p>
                    <a:p>
                      <a:pPr algn="l">
                        <a:spcBef>
                          <a:spcPts val="100"/>
                        </a:spcBef>
                        <a:spcAft>
                          <a:spcPts val="0"/>
                        </a:spcAft>
                      </a:pPr>
                      <a:r>
                        <a:rPr sz="600">
                          <a:solidFill>
                            <a:srgbClr val="4A4A4A"/>
                          </a:solidFill>
                          <a:latin typeface="Arial"/>
                        </a:rPr>
                        <a:t>ADD DTO 2-level board (Epic Kanban + Project Kanban).</a:t>
                      </a:r>
                    </a:p>
                    <a:p>
                      <a:pPr algn="l">
                        <a:spcBef>
                          <a:spcPts val="100"/>
                        </a:spcBef>
                        <a:spcAft>
                          <a:spcPts val="0"/>
                        </a:spcAft>
                      </a:pPr>
                      <a:r>
                        <a:rPr sz="600">
                          <a:solidFill>
                            <a:srgbClr val="4A4A4A"/>
                          </a:solidFill>
                          <a:latin typeface="Arial"/>
                        </a:rPr>
                        <a:t>ADD P&amp;S issue hierarchy + health dashboards.</a:t>
                      </a:r>
                    </a:p>
                    <a:p>
                      <a:pPr algn="l">
                        <a:spcBef>
                          <a:spcPts val="100"/>
                        </a:spcBef>
                        <a:spcAft>
                          <a:spcPts val="0"/>
                        </a:spcAft>
                      </a:pPr>
                      <a:r>
                        <a:rPr sz="600">
                          <a:solidFill>
                            <a:srgbClr val="4A4A4A"/>
                          </a:solidFill>
                          <a:latin typeface="Arial"/>
                        </a:rPr>
                        <a:t>ADD SAP-specific workflows and issue types.</a:t>
                      </a:r>
                    </a:p>
                  </a:txBody>
                  <a:tcPr>
                    <a:solidFill>
                      <a:srgbClr val="E8F5E9"/>
                    </a:solidFill>
                  </a:tcPr>
                </a:tc>
                <a:extLst>
                  <a:ext uri="{0D108BD9-81ED-4DB2-BD59-A6C34878D82A}">
                    <a16:rowId xmlns:a16="http://schemas.microsoft.com/office/drawing/2014/main" val="10001"/>
                  </a:ext>
                </a:extLst>
              </a:tr>
              <a:tr h="1743456">
                <a:tc>
                  <a:txBody>
                    <a:bodyPr/>
                    <a:lstStyle/>
                    <a:p>
                      <a:pPr>
                        <a:defRPr sz="800" b="1">
                          <a:solidFill>
                            <a:srgbClr val="2C3E50"/>
                          </a:solidFill>
                          <a:latin typeface="Arial"/>
                        </a:defRPr>
                      </a:pPr>
                      <a:r>
                        <a:rPr sz="800" b="1">
                          <a:solidFill>
                            <a:srgbClr val="333333"/>
                          </a:solidFill>
                          <a:latin typeface="Arial"/>
                        </a:rPr>
                        <a:t>Portfolio, Baseline
&amp; Demand Map</a:t>
                      </a:r>
                    </a:p>
                  </a:txBody>
                  <a:tcPr>
                    <a:solidFill>
                      <a:srgbClr val="F5F5F5"/>
                    </a:solidFill>
                  </a:tcPr>
                </a:tc>
                <a:tc>
                  <a:txBody>
                    <a:bodyPr/>
                    <a:lstStyle/>
                    <a:p>
                      <a:pPr algn="l">
                        <a:spcBef>
                          <a:spcPts val="0"/>
                        </a:spcBef>
                        <a:spcAft>
                          <a:spcPts val="0"/>
                        </a:spcAft>
                      </a:pPr>
                      <a:r>
                        <a:rPr sz="600" b="1">
                          <a:solidFill>
                            <a:srgbClr val="00A443"/>
                          </a:solidFill>
                          <a:latin typeface="Arial"/>
                        </a:rPr>
                        <a:t>PORTFOLIO: Portfolio Kanban swimlanes: High Risks, High Value, Regulatory, OKRs (nWOW Sl. 79). Flight Levels (PM Playbook Sl. 76). Big Room Planning quarterly (nWOW Sl. 51). Estimation Logic (nWOW Sl. 69-71). Program Kanban with WIP (PM Playbook Sl. 78).</a:t>
                      </a:r>
                    </a:p>
                    <a:p>
                      <a:pPr algn="l">
                        <a:spcBef>
                          <a:spcPts val="0"/>
                        </a:spcBef>
                        <a:spcAft>
                          <a:spcPts val="0"/>
                        </a:spcAft>
                      </a:pPr>
                      <a:r>
                        <a:rPr sz="600" i="0">
                          <a:solidFill>
                            <a:srgbClr val="0070C0"/>
                          </a:solidFill>
                          <a:latin typeface="Arial"/>
                        </a:rPr>
                        <a:t>→ nWOW - New Ways of Working - P&amp;S Lean Operating Model 03.10.2026 v1.2.pptx  |  Sl. 32, 54, 78, 79</a:t>
                      </a:r>
                    </a:p>
                    <a:p>
                      <a:pPr algn="l">
                        <a:spcBef>
                          <a:spcPts val="0"/>
                        </a:spcBef>
                        <a:spcAft>
                          <a:spcPts val="0"/>
                        </a:spcAft>
                      </a:pPr>
                      <a:r>
                        <a:rPr sz="600" i="0">
                          <a:solidFill>
                            <a:srgbClr val="0070C0"/>
                          </a:solidFill>
                          <a:latin typeface="Arial"/>
                        </a:rPr>
                        <a:t>→ [00] Project Management Playbook - P&amp;S Ways of Working 10.28.25 v.1.0-2.pptx  |  Sl. 69, 76, 77, 78, 80</a:t>
                      </a:r>
                    </a:p>
                    <a:p>
                      <a:pPr algn="l">
                        <a:spcBef>
                          <a:spcPts val="0"/>
                        </a:spcBef>
                        <a:spcAft>
                          <a:spcPts val="0"/>
                        </a:spcAft>
                      </a:pPr>
                      <a:r>
                        <a:rPr sz="600">
                          <a:solidFill>
                            <a:srgbClr val="4A4A4A"/>
                          </a:solidFill>
                          <a:latin typeface="Arial"/>
                        </a:rPr>
                        <a:t/>
                      </a:r>
                    </a:p>
                    <a:p>
                      <a:pPr algn="l">
                        <a:spcBef>
                          <a:spcPts val="0"/>
                        </a:spcBef>
                        <a:spcAft>
                          <a:spcPts val="0"/>
                        </a:spcAft>
                      </a:pPr>
                      <a:r>
                        <a:rPr sz="600" b="1">
                          <a:solidFill>
                            <a:srgbClr val="00A443"/>
                          </a:solidFill>
                          <a:latin typeface="Arial"/>
                        </a:rPr>
                        <a:t>BASELINE: Discovery methodology (PD Playbook Sl. 22): research, observations, pain points, journey mapping, SIPOC. Demand Funnel (nWOW Sl. 42). Upstream-Downstream workflow (PM Playbook Sl. 83-84). Methodology, not ready-made baseline.</a:t>
                      </a:r>
                    </a:p>
                    <a:p>
                      <a:pPr algn="l">
                        <a:spcBef>
                          <a:spcPts val="0"/>
                        </a:spcBef>
                        <a:spcAft>
                          <a:spcPts val="0"/>
                        </a:spcAft>
                      </a:pPr>
                      <a:r>
                        <a:rPr sz="600" i="0">
                          <a:solidFill>
                            <a:srgbClr val="0070C0"/>
                          </a:solidFill>
                          <a:latin typeface="Arial"/>
                        </a:rPr>
                        <a:t>→ nWOW - New Ways of Working - P&amp;S Lean Operating Model 03.10.2026 v1.2.pptx  |  Sl. 42</a:t>
                      </a:r>
                    </a:p>
                    <a:p>
                      <a:pPr algn="l">
                        <a:spcBef>
                          <a:spcPts val="0"/>
                        </a:spcBef>
                        <a:spcAft>
                          <a:spcPts val="0"/>
                        </a:spcAft>
                      </a:pPr>
                      <a:r>
                        <a:rPr sz="600" i="0">
                          <a:solidFill>
                            <a:srgbClr val="0070C0"/>
                          </a:solidFill>
                          <a:latin typeface="Arial"/>
                        </a:rPr>
                        <a:t>→ [00] Product Discovery Playbook - P&amp;S Ways of Working 02.03.26 v.1.3 +FIGMA.pptx  |  Sl. 13, 22, 51, 84</a:t>
                      </a:r>
                    </a:p>
                    <a:p>
                      <a:pPr algn="l">
                        <a:spcBef>
                          <a:spcPts val="0"/>
                        </a:spcBef>
                        <a:spcAft>
                          <a:spcPts val="0"/>
                        </a:spcAft>
                      </a:pPr>
                      <a:r>
                        <a:rPr sz="600" i="0">
                          <a:solidFill>
                            <a:srgbClr val="0070C0"/>
                          </a:solidFill>
                          <a:latin typeface="Arial"/>
                        </a:rPr>
                        <a:t>→ [00] Project Management Playbook - P&amp;S Ways of Working 10.28.25 v.1.0-2.pptx  |  Sl. 83, 84</a:t>
                      </a:r>
                    </a:p>
                  </a:txBody>
                  <a:tcPr>
                    <a:solidFill>
                      <a:srgbClr val="F5F5F5"/>
                    </a:solidFill>
                  </a:tcPr>
                </a:tc>
                <a:tc>
                  <a:txBody>
                    <a:bodyPr/>
                    <a:lstStyle/>
                    <a:p>
                      <a:pPr algn="l">
                        <a:spcBef>
                          <a:spcPts val="0"/>
                        </a:spcBef>
                        <a:spcAft>
                          <a:spcPts val="0"/>
                        </a:spcAft>
                      </a:pPr>
                      <a:r>
                        <a:rPr sz="600" b="1">
                          <a:solidFill>
                            <a:srgbClr val="00A443"/>
                          </a:solidFill>
                          <a:latin typeface="Arial"/>
                        </a:rPr>
                        <a:t>PORTFOLIO: Portfolio Learn Cycle quarterly (CoE Playbook Sl. 73). Architecture 4 cycles/year + Strategy Workshops (CoE Playbook Sl. 102). Metrics: ILt, RpI, Lean Radar, Strategic Theme (CoE Playbook Sl. 89, 93). PPM: OKR, Roadmap, Pull System (CoE Playbook Sl. 100).</a:t>
                      </a:r>
                    </a:p>
                    <a:p>
                      <a:pPr algn="l">
                        <a:spcBef>
                          <a:spcPts val="0"/>
                        </a:spcBef>
                        <a:spcAft>
                          <a:spcPts val="0"/>
                        </a:spcAft>
                      </a:pPr>
                      <a:r>
                        <a:rPr sz="600" i="0">
                          <a:solidFill>
                            <a:srgbClr val="0070C0"/>
                          </a:solidFill>
                          <a:latin typeface="Arial"/>
                        </a:rPr>
                        <a:t>→ [12] Digital CoE Operating Model - Playbook - 01.05.2026 V.2.5. FINAL pptx.pptx  |  Sl. 59, 60, 67, 72, 73, 80, 93, 100, 102</a:t>
                      </a:r>
                    </a:p>
                    <a:p>
                      <a:pPr algn="l">
                        <a:spcBef>
                          <a:spcPts val="0"/>
                        </a:spcBef>
                        <a:spcAft>
                          <a:spcPts val="0"/>
                        </a:spcAft>
                      </a:pPr>
                      <a:r>
                        <a:rPr sz="600">
                          <a:solidFill>
                            <a:srgbClr val="4A4A4A"/>
                          </a:solidFill>
                          <a:latin typeface="Arial"/>
                        </a:rPr>
                        <a:t/>
                      </a:r>
                    </a:p>
                    <a:p>
                      <a:pPr algn="l">
                        <a:spcBef>
                          <a:spcPts val="0"/>
                        </a:spcBef>
                        <a:spcAft>
                          <a:spcPts val="0"/>
                        </a:spcAft>
                      </a:pPr>
                      <a:r>
                        <a:rPr sz="600" b="1">
                          <a:solidFill>
                            <a:srgbClr val="00A443"/>
                          </a:solidFill>
                          <a:latin typeface="Arial"/>
                        </a:rPr>
                        <a:t>BASELINE: Demand mapping at portfolio level (CoE Playbook Sl. 32). PMT triage (CoE Playbook Sl. 33). Portfolio Metrics (CoE Playbook Sl. 79, 93). Quarterly Results (CoE Playbook Sl. 60). Governance, not diagnosis.</a:t>
                      </a:r>
                    </a:p>
                    <a:p>
                      <a:pPr algn="l">
                        <a:spcBef>
                          <a:spcPts val="0"/>
                        </a:spcBef>
                        <a:spcAft>
                          <a:spcPts val="0"/>
                        </a:spcAft>
                      </a:pPr>
                      <a:r>
                        <a:rPr sz="600" i="0">
                          <a:solidFill>
                            <a:srgbClr val="0070C0"/>
                          </a:solidFill>
                          <a:latin typeface="Arial"/>
                        </a:rPr>
                        <a:t>→ [12] Digital CoE Operating Model - Playbook - 01.05.2026 V.2.5. FINAL pptx.pptx  |  Sl. 32, 33, 73, 79, 80, 102</a:t>
                      </a:r>
                    </a:p>
                  </a:txBody>
                  <a:tcPr>
                    <a:solidFill>
                      <a:srgbClr val="F5F5F5"/>
                    </a:solidFill>
                  </a:tcPr>
                </a:tc>
                <a:tc>
                  <a:txBody>
                    <a:bodyPr/>
                    <a:lstStyle/>
                    <a:p>
                      <a:pPr algn="l">
                        <a:spcBef>
                          <a:spcPts val="0"/>
                        </a:spcBef>
                        <a:spcAft>
                          <a:spcPts val="0"/>
                        </a:spcAft>
                      </a:pPr>
                      <a:r>
                        <a:rPr sz="600" b="1">
                          <a:solidFill>
                            <a:srgbClr val="00A443"/>
                          </a:solidFill>
                          <a:latin typeface="Arial"/>
                        </a:rPr>
                        <a:t>PORTFOLIO: Portfolio Roadmap E2E (Sl. 38). Per-unit-served Investment Model (Sl. 51-54) — unique: allocates cost per OPCO based on consumption, not headcount. Directly applicable to Digital Products serving BRS, CX, and other OPCOs. Phased rollout governance (Sl. 46) with maturity gates.</a:t>
                      </a:r>
                    </a:p>
                    <a:p>
                      <a:pPr algn="l">
                        <a:spcBef>
                          <a:spcPts val="0"/>
                        </a:spcBef>
                        <a:spcAft>
                          <a:spcPts val="0"/>
                        </a:spcAft>
                      </a:pPr>
                      <a:r>
                        <a:rPr sz="600" i="0">
                          <a:solidFill>
                            <a:srgbClr val="0070C0"/>
                          </a:solidFill>
                          <a:latin typeface="Arial"/>
                        </a:rPr>
                        <a:t>→ Agile Management Model _ Proposal Avangrid Architecture V.3.1 18.01.2024 3.pptx | Sl. 10, 15, 23, 37, 38, 46, 51-54</a:t>
                      </a:r>
                    </a:p>
                    <a:p>
                      <a:pPr algn="l">
                        <a:spcBef>
                          <a:spcPts val="0"/>
                        </a:spcBef>
                        <a:spcAft>
                          <a:spcPts val="0"/>
                        </a:spcAft>
                      </a:pPr>
                      <a:r>
                        <a:rPr sz="600" i="1">
                          <a:solidFill>
                            <a:srgbClr val="00A443"/>
                          </a:solidFill>
                          <a:latin typeface="Arial"/>
                        </a:rPr>
                        <a:t>[Context: Sl. 38 shows the Portfolio Roadmap with per-unit investment allocation chart per OPCO]</a:t>
                      </a:r>
                    </a:p>
                    <a:p>
                      <a:pPr algn="l">
                        <a:spcBef>
                          <a:spcPts val="0"/>
                        </a:spcBef>
                        <a:spcAft>
                          <a:spcPts val="0"/>
                        </a:spcAft>
                      </a:pPr>
                      <a:r>
                        <a:rPr sz="600">
                          <a:solidFill>
                            <a:srgbClr val="4A4A4A"/>
                          </a:solidFill>
                          <a:latin typeface="Arial"/>
                        </a:rPr>
                        <a:t/>
                      </a:r>
                    </a:p>
                    <a:p>
                      <a:pPr algn="l">
                        <a:spcBef>
                          <a:spcPts val="0"/>
                        </a:spcBef>
                        <a:spcAft>
                          <a:spcPts val="0"/>
                        </a:spcAft>
                      </a:pPr>
                      <a:r>
                        <a:rPr sz="600" b="1">
                          <a:solidFill>
                            <a:srgbClr val="00A443"/>
                          </a:solidFill>
                          <a:latin typeface="Arial"/>
                        </a:rPr>
                        <a:t>BASELINE: Project Book Template (Project Book Sl. 1-2): Discover → Build → Operate. Blueprint Design (Sl. 36). Reusable for baseline documentation.</a:t>
                      </a:r>
                    </a:p>
                    <a:p>
                      <a:pPr algn="l">
                        <a:spcBef>
                          <a:spcPts val="0"/>
                        </a:spcBef>
                        <a:spcAft>
                          <a:spcPts val="0"/>
                        </a:spcAft>
                      </a:pPr>
                      <a:r>
                        <a:rPr sz="600" i="0">
                          <a:solidFill>
                            <a:srgbClr val="0070C0"/>
                          </a:solidFill>
                          <a:latin typeface="Arial"/>
                        </a:rPr>
                        <a:t>→ Project_Book_Avangrid_Template v1.0.pptx  |  Sl. 1, 2, 10</a:t>
                      </a:r>
                    </a:p>
                    <a:p>
                      <a:pPr algn="l">
                        <a:spcBef>
                          <a:spcPts val="0"/>
                        </a:spcBef>
                        <a:spcAft>
                          <a:spcPts val="0"/>
                        </a:spcAft>
                      </a:pPr>
                      <a:r>
                        <a:rPr sz="600" i="0">
                          <a:solidFill>
                            <a:srgbClr val="0070C0"/>
                          </a:solidFill>
                          <a:latin typeface="Arial"/>
                        </a:rPr>
                        <a:t>→ Agile Management Model _ Proposal Avangrid Architecture V.3.1 18.01.2024 3.pptx  |  Sl. 16, 36</a:t>
                      </a:r>
                    </a:p>
                    <a:p>
                      <a:pPr algn="l">
                        <a:spcBef>
                          <a:spcPts val="0"/>
                        </a:spcBef>
                        <a:spcAft>
                          <a:spcPts val="0"/>
                        </a:spcAft>
                      </a:pPr>
                      <a:r>
                        <a:rPr sz="600" i="1">
                          <a:solidFill>
                            <a:srgbClr val="00A443"/>
                          </a:solidFill>
                          <a:latin typeface="Arial"/>
                        </a:rPr>
                        <a:t>[Context: Sl. 1-2 show the Project Book structure: Discover → Build → Operate with checklists per phase]</a:t>
                      </a:r>
                    </a:p>
                  </a:txBody>
                  <a:tcPr>
                    <a:solidFill>
                      <a:srgbClr val="F5F5F5"/>
                    </a:solidFill>
                  </a:tcPr>
                </a:tc>
                <a:tc>
                  <a:txBody>
                    <a:bodyPr/>
                    <a:lstStyle/>
                    <a:p>
                      <a:pPr algn="l">
                        <a:spcBef>
                          <a:spcPts val="0"/>
                        </a:spcBef>
                        <a:spcAft>
                          <a:spcPts val="0"/>
                        </a:spcAft>
                      </a:pPr>
                      <a:r>
                        <a:rPr sz="600" b="1">
                          <a:solidFill>
                            <a:srgbClr val="00A443"/>
                          </a:solidFill>
                          <a:latin typeface="Arial"/>
                        </a:rPr>
                        <a:t>PORTFOLIO: Compass Portfolio Management Model (DTO Sl. 13): E2E flow idea → committee → delivery. Level 1 Epic Kanban strategy-to-execution (DTO Sl. 12). Governance pillar: cadences + flow monitoring (DTO Sl. 48).</a:t>
                      </a:r>
                    </a:p>
                    <a:p>
                      <a:pPr algn="l">
                        <a:spcBef>
                          <a:spcPts val="0"/>
                        </a:spcBef>
                        <a:spcAft>
                          <a:spcPts val="0"/>
                        </a:spcAft>
                      </a:pPr>
                      <a:r>
                        <a:rPr sz="600" i="0">
                          <a:solidFill>
                            <a:srgbClr val="0070C0"/>
                          </a:solidFill>
                          <a:latin typeface="Arial"/>
                        </a:rPr>
                        <a:t>→ NextGen_DTO_Deliverable1 - Final.pptx  |  Sl. 12, 13, 48</a:t>
                      </a:r>
                    </a:p>
                    <a:p>
                      <a:pPr algn="l">
                        <a:spcBef>
                          <a:spcPts val="0"/>
                        </a:spcBef>
                        <a:spcAft>
                          <a:spcPts val="0"/>
                        </a:spcAft>
                      </a:pPr>
                      <a:r>
                        <a:rPr sz="600">
                          <a:solidFill>
                            <a:srgbClr val="4A4A4A"/>
                          </a:solidFill>
                          <a:latin typeface="Arial"/>
                        </a:rPr>
                        <a:t/>
                      </a:r>
                    </a:p>
                    <a:p>
                      <a:pPr algn="l">
                        <a:spcBef>
                          <a:spcPts val="0"/>
                        </a:spcBef>
                        <a:spcAft>
                          <a:spcPts val="0"/>
                        </a:spcAft>
                      </a:pPr>
                      <a:r>
                        <a:rPr sz="600" b="1">
                          <a:solidFill>
                            <a:srgbClr val="00A443"/>
                          </a:solidFill>
                          <a:latin typeface="Arial"/>
                        </a:rPr>
                        <a:t>BASELINE: The DTO deliverable IS a baseline: exec summary (DTO Sl. 3) + findings per pillar: Intake fragmented (DTO Sl. 6), Prioritization reactive (DTO Sl. 7), Governance informal (DTO Sl. 8). Demand classification: Class of Service + Work Types (DTO Sl. 5, 20). Most complete diagnosis.</a:t>
                      </a:r>
                    </a:p>
                    <a:p>
                      <a:pPr algn="l">
                        <a:spcBef>
                          <a:spcPts val="0"/>
                        </a:spcBef>
                        <a:spcAft>
                          <a:spcPts val="0"/>
                        </a:spcAft>
                      </a:pPr>
                      <a:r>
                        <a:rPr sz="600" i="0">
                          <a:solidFill>
                            <a:srgbClr val="0070C0"/>
                          </a:solidFill>
                          <a:latin typeface="Arial"/>
                        </a:rPr>
                        <a:t>→ NextGen_DTO_Deliverable1 - Final.pptx  |  Sl. 3, 5, 6, 7, 8, 19, 20</a:t>
                      </a:r>
                    </a:p>
                  </a:txBody>
                  <a:tcPr>
                    <a:solidFill>
                      <a:srgbClr val="F5F5F5"/>
                    </a:solidFill>
                  </a:tcPr>
                </a:tc>
                <a:tc>
                  <a:txBody>
                    <a:bodyPr/>
                    <a:lstStyle/>
                    <a:p>
                      <a:pPr algn="l">
                        <a:spcBef>
                          <a:spcPts val="0"/>
                        </a:spcBef>
                        <a:spcAft>
                          <a:spcPts val="0"/>
                        </a:spcAft>
                        <a:defRPr sz="650">
                          <a:solidFill>
                            <a:srgbClr val="2C3E50"/>
                          </a:solidFill>
                          <a:latin typeface="Arial"/>
                        </a:defRPr>
                      </a:pPr>
                      <a:r>
                        <a:rPr sz="700" b="1">
                          <a:solidFill>
                            <a:srgbClr val="2D5F8A"/>
                          </a:solidFill>
                          <a:latin typeface="Arial"/>
                        </a:rPr>
                        <a:t>[ADAPT] ⭐ P&amp;S + DTO (combined)</a:t>
                      </a:r>
                      <a:endParaRPr sz="900" dirty="0"/>
                    </a:p>
                    <a:p>
                      <a:pPr algn="l">
                        <a:spcBef>
                          <a:spcPts val="0"/>
                        </a:spcBef>
                        <a:spcAft>
                          <a:spcPts val="0"/>
                        </a:spcAft>
                      </a:pPr>
                      <a:r>
                        <a:rPr sz="600" b="1">
                          <a:solidFill>
                            <a:srgbClr val="00A443"/>
                          </a:solidFill>
                          <a:latin typeface="Arial"/>
                        </a:rPr>
                        <a:t>PORTFOLIO:</a:t>
                      </a:r>
                    </a:p>
                    <a:p>
                      <a:pPr algn="l">
                        <a:spcBef>
                          <a:spcPts val="0"/>
                        </a:spcBef>
                        <a:spcAft>
                          <a:spcPts val="0"/>
                        </a:spcAft>
                      </a:pPr>
                      <a:r>
                        <a:rPr sz="600">
                          <a:solidFill>
                            <a:srgbClr val="4A4A4A"/>
                          </a:solidFill>
                          <a:latin typeface="Arial"/>
                        </a:rPr>
                        <a:t>ADAPT P&amp;S Portfolio Kanban swimlanes for SAP OPCOs.</a:t>
                      </a:r>
                    </a:p>
                    <a:p>
                      <a:pPr algn="l">
                        <a:spcBef>
                          <a:spcPts val="0"/>
                        </a:spcBef>
                        <a:spcAft>
                          <a:spcPts val="0"/>
                        </a:spcAft>
                      </a:pPr>
                      <a:r>
                        <a:rPr sz="600">
                          <a:solidFill>
                            <a:srgbClr val="4A4A4A"/>
                          </a:solidFill>
                          <a:latin typeface="Arial"/>
                        </a:rPr>
                        <a:t>ADD Infrastructure per-unit-served investment model for OPCO cost allocation.</a:t>
                      </a:r>
                    </a:p>
                    <a:p>
                      <a:pPr algn="l">
                        <a:spcBef>
                          <a:spcPts val="0"/>
                        </a:spcBef>
                        <a:spcAft>
                          <a:spcPts val="0"/>
                        </a:spcAft>
                      </a:pPr>
                      <a:r>
                        <a:rPr sz="600">
                          <a:solidFill>
                            <a:srgbClr val="4A4A4A"/>
                          </a:solidFill>
                          <a:latin typeface="Arial"/>
                        </a:rPr>
                        <a:t>ADD CoE Portfolio Learn Cycle (quarterly).</a:t>
                      </a:r>
                    </a:p>
                    <a:p>
                      <a:pPr algn="l">
                        <a:spcBef>
                          <a:spcPts val="0"/>
                        </a:spcBef>
                        <a:spcAft>
                          <a:spcPts val="0"/>
                        </a:spcAft>
                      </a:pPr>
                      <a:r>
                        <a:rPr sz="600">
                          <a:solidFill>
                            <a:srgbClr val="4A4A4A"/>
                          </a:solidFill>
                          <a:latin typeface="Arial"/>
                        </a:rPr>
                        <a:t/>
                      </a:r>
                    </a:p>
                    <a:p>
                      <a:pPr algn="l">
                        <a:spcBef>
                          <a:spcPts val="0"/>
                        </a:spcBef>
                        <a:spcAft>
                          <a:spcPts val="0"/>
                        </a:spcAft>
                      </a:pPr>
                      <a:r>
                        <a:rPr sz="600" b="1">
                          <a:solidFill>
                            <a:srgbClr val="00A443"/>
                          </a:solidFill>
                          <a:latin typeface="Arial"/>
                        </a:rPr>
                        <a:t>BASELINE:</a:t>
                      </a:r>
                    </a:p>
                    <a:p>
                      <a:pPr algn="l">
                        <a:spcBef>
                          <a:spcPts val="0"/>
                        </a:spcBef>
                        <a:spcAft>
                          <a:spcPts val="0"/>
                        </a:spcAft>
                      </a:pPr>
                      <a:r>
                        <a:rPr sz="600">
                          <a:solidFill>
                            <a:srgbClr val="4A4A4A"/>
                          </a:solidFill>
                          <a:latin typeface="Arial"/>
                        </a:rPr>
                        <a:t>ADOPT DTO baseline format (exec summary + findings per pillar).</a:t>
                      </a:r>
                    </a:p>
                    <a:p>
                      <a:pPr algn="l">
                        <a:spcBef>
                          <a:spcPts val="0"/>
                        </a:spcBef>
                        <a:spcAft>
                          <a:spcPts val="0"/>
                        </a:spcAft>
                      </a:pPr>
                      <a:r>
                        <a:rPr sz="600">
                          <a:solidFill>
                            <a:srgbClr val="4A4A4A"/>
                          </a:solidFill>
                          <a:latin typeface="Arial"/>
                        </a:rPr>
                        <a:t>ADD P&amp;S Discovery methodology for interview structure.</a:t>
                      </a:r>
                    </a:p>
                    <a:p>
                      <a:pPr algn="l">
                        <a:spcBef>
                          <a:spcPts val="0"/>
                        </a:spcBef>
                        <a:spcAft>
                          <a:spcPts val="0"/>
                        </a:spcAft>
                      </a:pPr>
                      <a:r>
                        <a:rPr sz="600">
                          <a:solidFill>
                            <a:srgbClr val="4A4A4A"/>
                          </a:solidFill>
                          <a:latin typeface="Arial"/>
                        </a:rPr>
                        <a:t>ADD Infrastructure Project Book template for documentation.</a:t>
                      </a:r>
                    </a:p>
                    <a:p>
                      <a:pPr algn="l">
                        <a:spcBef>
                          <a:spcPts val="0"/>
                        </a:spcBef>
                        <a:spcAft>
                          <a:spcPts val="0"/>
                        </a:spcAft>
                      </a:pPr>
                      <a:r>
                        <a:rPr sz="600">
                          <a:solidFill>
                            <a:srgbClr val="4A4A4A"/>
                          </a:solidFill>
                          <a:latin typeface="Arial"/>
                        </a:rPr>
                        <a:t>EXECUTE for SAP Digital Products landscape.</a:t>
                      </a:r>
                    </a:p>
                  </a:txBody>
                  <a:tcPr>
                    <a:solidFill>
                      <a:srgbClr val="C8E6C9"/>
                    </a:solidFill>
                  </a:tcPr>
                </a:tc>
                <a:extLst>
                  <a:ext uri="{0D108BD9-81ED-4DB2-BD59-A6C34878D82A}">
                    <a16:rowId xmlns:a16="http://schemas.microsoft.com/office/drawing/2014/main" val="10002"/>
                  </a:ext>
                </a:extLst>
              </a:tr>
            </a:tbl>
          </a:graphicData>
        </a:graphic>
      </p:graphicFrame>
      <p:sp>
        <p:nvSpPr>
          <p:cNvPr id="3" name="Rectangle 1">
            <a:extLst>
              <a:ext uri="{FF2B5EF4-FFF2-40B4-BE49-F238E27FC236}">
                <a16:creationId xmlns:a16="http://schemas.microsoft.com/office/drawing/2014/main" id="{FAE6676E-D3D4-E76E-E849-CE0EE4860D47}"/>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211183"/>
            <a:ext cx="10515600" cy="400110"/>
          </a:xfrm>
          <a:prstGeom prst="rect">
            <a:avLst/>
          </a:prstGeom>
          <a:noFill/>
        </p:spPr>
        <p:txBody>
          <a:bodyPr wrap="square">
            <a:spAutoFit/>
          </a:bodyPr>
          <a:lstStyle/>
          <a:p>
            <a:pPr>
              <a:defRPr sz="1300" b="1">
                <a:solidFill>
                  <a:srgbClr val="002060"/>
                </a:solidFill>
                <a:latin typeface="Arial"/>
              </a:defRPr>
            </a:pPr>
            <a:r>
              <a:rPr lang="pt-BR" sz="2000" b="1" dirty="0" err="1">
                <a:solidFill>
                  <a:srgbClr val="00A443"/>
                </a:solidFill>
                <a:latin typeface="Arial"/>
              </a:rPr>
              <a:t>Existing</a:t>
            </a:r>
            <a:r>
              <a:rPr lang="pt-BR" sz="2000" b="1" dirty="0">
                <a:solidFill>
                  <a:srgbClr val="00A443"/>
                </a:solidFill>
                <a:latin typeface="Arial"/>
              </a:rPr>
              <a:t> </a:t>
            </a:r>
            <a:r>
              <a:rPr lang="pt-BR" sz="2000" b="1" dirty="0" err="1">
                <a:solidFill>
                  <a:srgbClr val="00A443"/>
                </a:solidFill>
                <a:latin typeface="Arial"/>
              </a:rPr>
              <a:t>Assets</a:t>
            </a:r>
            <a:r>
              <a:rPr lang="pt-BR" sz="2000" b="1" dirty="0">
                <a:solidFill>
                  <a:srgbClr val="00A443"/>
                </a:solidFill>
                <a:latin typeface="Arial"/>
              </a:rPr>
              <a:t> — Baseline / </a:t>
            </a:r>
            <a:r>
              <a:rPr lang="pt-BR" sz="2000" b="1" dirty="0" err="1">
                <a:solidFill>
                  <a:srgbClr val="00A443"/>
                </a:solidFill>
                <a:latin typeface="Arial"/>
              </a:rPr>
              <a:t>Demand</a:t>
            </a:r>
            <a:r>
              <a:rPr lang="pt-BR" sz="2000" b="1" dirty="0">
                <a:solidFill>
                  <a:srgbClr val="00A443"/>
                </a:solidFill>
                <a:latin typeface="Arial"/>
              </a:rPr>
              <a:t> Map &amp; </a:t>
            </a:r>
            <a:r>
              <a:rPr lang="pt-BR" sz="2000" b="1" dirty="0" err="1">
                <a:solidFill>
                  <a:srgbClr val="00A443"/>
                </a:solidFill>
                <a:latin typeface="Arial"/>
              </a:rPr>
              <a:t>Pilot</a:t>
            </a:r>
            <a:r>
              <a:rPr lang="pt-BR" sz="2000" b="1" dirty="0">
                <a:solidFill>
                  <a:srgbClr val="00A443"/>
                </a:solidFill>
                <a:latin typeface="Arial"/>
              </a:rPr>
              <a:t> </a:t>
            </a:r>
            <a:r>
              <a:rPr lang="pt-BR" sz="2000" b="1" dirty="0" err="1">
                <a:solidFill>
                  <a:srgbClr val="00A443"/>
                </a:solidFill>
                <a:latin typeface="Arial"/>
              </a:rPr>
              <a:t>Execution</a:t>
            </a:r>
            <a:r>
              <a:rPr lang="pt-BR" sz="2000" b="1" dirty="0">
                <a:solidFill>
                  <a:srgbClr val="00A443"/>
                </a:solidFill>
                <a:latin typeface="Arial"/>
              </a:rPr>
              <a:t> (3/4)</a:t>
            </a:r>
          </a:p>
        </p:txBody>
      </p:sp>
      <p:pic>
        <p:nvPicPr>
          <p:cNvPr id="8" name="Picture 5" descr="Avangrid - Wikipedia">
            <a:extLst>
              <a:ext uri="{FF2B5EF4-FFF2-40B4-BE49-F238E27FC236}">
                <a16:creationId xmlns:a16="http://schemas.microsoft.com/office/drawing/2014/main" id="{3C24D388-78D4-C0BF-B857-D9346066C2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9" name="NTT DATA Global Logo">
            <a:extLst>
              <a:ext uri="{FF2B5EF4-FFF2-40B4-BE49-F238E27FC236}">
                <a16:creationId xmlns:a16="http://schemas.microsoft.com/office/drawing/2014/main" id="{3BCDCC71-703A-45DF-CA5E-E71883BBB59E}"/>
              </a:ext>
            </a:extLst>
          </p:cNvPr>
          <p:cNvSpPr/>
          <p:nvPr/>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2" name="Table 5">
            <a:extLst>
              <a:ext uri="{FF2B5EF4-FFF2-40B4-BE49-F238E27FC236}">
                <a16:creationId xmlns:a16="http://schemas.microsoft.com/office/drawing/2014/main" id="{1DDD3389-63C9-261B-B50B-A79A7748E7FD}"/>
              </a:ext>
            </a:extLst>
          </p:cNvPr>
          <p:cNvGraphicFramePr>
            <a:graphicFrameLocks noGrp="1"/>
          </p:cNvGraphicFramePr>
          <p:nvPr>
            <p:extLst>
              <p:ext uri="{D42A27DB-BD31-4B8C-83A1-F6EECF244321}">
                <p14:modId xmlns:p14="http://schemas.microsoft.com/office/powerpoint/2010/main" val="3582207513"/>
              </p:ext>
            </p:extLst>
          </p:nvPr>
        </p:nvGraphicFramePr>
        <p:xfrm>
          <a:off x="91440" y="868680"/>
          <a:ext cx="11978640" cy="4538013"/>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377493">
                <a:tc>
                  <a:txBody>
                    <a:bodyPr/>
                    <a:lstStyle/>
                    <a:p>
                      <a:pPr algn="ctr">
                        <a:defRPr sz="700" b="1">
                          <a:solidFill>
                            <a:srgbClr val="FFFFFF"/>
                          </a:solidFill>
                          <a:latin typeface="Arial"/>
                        </a:defRPr>
                      </a:pPr>
                      <a:r>
                        <a:rPr sz="900" dirty="0"/>
                        <a:t>Deliverable</a:t>
                      </a:r>
                    </a:p>
                  </a:txBody>
                  <a:tcPr anchor="ctr">
                    <a:solidFill>
                      <a:srgbClr val="002060"/>
                    </a:solidFill>
                  </a:tcPr>
                </a:tc>
                <a:tc>
                  <a:txBody>
                    <a:bodyPr/>
                    <a:lstStyle/>
                    <a:p>
                      <a:pPr algn="ctr">
                        <a:defRPr sz="700" b="1">
                          <a:solidFill>
                            <a:srgbClr val="FFFFFF"/>
                          </a:solidFill>
                          <a:latin typeface="Arial"/>
                        </a:defRPr>
                      </a:pPr>
                      <a:r>
                        <a:rPr sz="900"/>
                        <a:t>P&amp;S / P&amp;T</a:t>
                      </a:r>
                    </a:p>
                  </a:txBody>
                  <a:tcPr anchor="ctr">
                    <a:solidFill>
                      <a:srgbClr val="002060"/>
                    </a:solidFill>
                  </a:tcPr>
                </a:tc>
                <a:tc>
                  <a:txBody>
                    <a:bodyPr/>
                    <a:lstStyle/>
                    <a:p>
                      <a:pPr algn="ctr">
                        <a:defRPr sz="700" b="1">
                          <a:solidFill>
                            <a:srgbClr val="FFFFFF"/>
                          </a:solidFill>
                          <a:latin typeface="Arial"/>
                        </a:defRPr>
                      </a:pPr>
                      <a:r>
                        <a:rPr sz="900"/>
                        <a:t>Digital CoE</a:t>
                      </a:r>
                    </a:p>
                  </a:txBody>
                  <a:tcPr anchor="ctr">
                    <a:solidFill>
                      <a:srgbClr val="002060"/>
                    </a:solidFill>
                  </a:tcPr>
                </a:tc>
                <a:tc>
                  <a:txBody>
                    <a:bodyPr/>
                    <a:lstStyle/>
                    <a:p>
                      <a:pPr algn="ctr">
                        <a:defRPr sz="700" b="1">
                          <a:solidFill>
                            <a:srgbClr val="FFFFFF"/>
                          </a:solidFill>
                          <a:latin typeface="Arial"/>
                        </a:defRPr>
                      </a:pPr>
                      <a:r>
                        <a:rPr sz="900"/>
                        <a:t>Infrastructure</a:t>
                      </a:r>
                    </a:p>
                  </a:txBody>
                  <a:tcPr anchor="ctr">
                    <a:solidFill>
                      <a:srgbClr val="002060"/>
                    </a:solidFill>
                  </a:tcPr>
                </a:tc>
                <a:tc>
                  <a:txBody>
                    <a:bodyPr/>
                    <a:lstStyle/>
                    <a:p>
                      <a:pPr algn="ctr">
                        <a:defRPr sz="700" b="1">
                          <a:solidFill>
                            <a:srgbClr val="FFFFFF"/>
                          </a:solidFill>
                          <a:latin typeface="Arial"/>
                        </a:defRPr>
                      </a:pPr>
                      <a:r>
                        <a:rPr sz="900" dirty="0"/>
                        <a:t>Renewables DTO</a:t>
                      </a:r>
                    </a:p>
                  </a:txBody>
                  <a:tcPr anchor="ctr">
                    <a:solidFill>
                      <a:srgbClr val="002060"/>
                    </a:solidFill>
                  </a:tcPr>
                </a:tc>
                <a:tc>
                  <a:txBody>
                    <a:bodyPr/>
                    <a:lstStyle/>
                    <a:p>
                      <a:pPr algn="ctr">
                        <a:defRPr sz="700" b="1">
                          <a:solidFill>
                            <a:srgbClr val="FFFFFF"/>
                          </a:solidFill>
                          <a:latin typeface="Arial"/>
                        </a:defRPr>
                      </a:pPr>
                      <a:r>
                        <a:rPr sz="900"/>
                        <a:t>Digital Products (Reuse)</a:t>
                      </a:r>
                    </a:p>
                  </a:txBody>
                  <a:tcPr anchor="ctr">
                    <a:solidFill>
                      <a:srgbClr val="00B050"/>
                    </a:solidFill>
                  </a:tcPr>
                </a:tc>
                <a:extLst>
                  <a:ext uri="{0D108BD9-81ED-4DB2-BD59-A6C34878D82A}">
                    <a16:rowId xmlns:a16="http://schemas.microsoft.com/office/drawing/2014/main" val="10000"/>
                  </a:ext>
                </a:extLst>
              </a:tr>
              <a:tr h="1743456">
                <a:tc>
                  <a:txBody>
                    <a:bodyPr/>
                    <a:lstStyle/>
                    <a:p>
                      <a:pPr>
                        <a:spcBef>
                          <a:spcPts val="0"/>
                        </a:spcBef>
                        <a:spcAft>
                          <a:spcPts val="0"/>
                        </a:spcAft>
                        <a:defRPr sz="800" b="1">
                          <a:solidFill>
                            <a:srgbClr val="2C3E50"/>
                          </a:solidFill>
                          <a:latin typeface="Arial"/>
                        </a:defRPr>
                      </a:pPr>
                      <a:r>
                        <a:rPr sz="800" b="1">
                          <a:solidFill>
                            <a:srgbClr val="333333"/>
                          </a:solidFill>
                          <a:latin typeface="Arial"/>
                        </a:rPr>
                        <a:t>Pilot_x000B_Execution</a:t>
                      </a:r>
                    </a:p>
                  </a:txBody>
                  <a:tcPr>
                    <a:solidFill>
                      <a:srgbClr val="FFFFFF"/>
                    </a:solidFill>
                  </a:tcPr>
                </a:tc>
                <a:tc>
                  <a:txBody>
                    <a:bodyPr/>
                    <a:lstStyle/>
                    <a:p>
                      <a:pPr>
                        <a:spcBef>
                          <a:spcPts val="0"/>
                        </a:spcBef>
                        <a:spcAft>
                          <a:spcPts val="0"/>
                        </a:spcAft>
                      </a:pPr>
                      <a:r>
                        <a:rPr sz="600">
                          <a:solidFill>
                            <a:srgbClr val="4A4A4A"/>
                          </a:solidFill>
                          <a:latin typeface="Arial"/>
                        </a:rPr>
                        <a:t>Validation Report (PD Playbook Sl. 68): Problem/Hypothesis, feedback, feasibility matrix, GO/No-Go. Shark Tank Committee (PD Playbook Sl. 72): quarterly gate. Validation formats, not execution.</a:t>
                      </a:r>
                    </a:p>
                    <a:p>
                      <a:pPr>
                        <a:spcBef>
                          <a:spcPts val="0"/>
                        </a:spcBef>
                        <a:spcAft>
                          <a:spcPts val="0"/>
                        </a:spcAft>
                      </a:pPr>
                      <a:r>
                        <a:rPr sz="600">
                          <a:solidFill>
                            <a:srgbClr val="0070C0"/>
                          </a:solidFill>
                          <a:latin typeface="Arial"/>
                        </a:rPr>
                        <a:t>→ [00] Product Discovery Playbook - P&amp;S Ways of Working 02.03.26 v.1.3 +FIGMA.pptx  |  Sl. 3, 68, 70, 72</a:t>
                      </a:r>
                    </a:p>
                    <a:p>
                      <a:pPr>
                        <a:spcBef>
                          <a:spcPts val="0"/>
                        </a:spcBef>
                        <a:spcAft>
                          <a:spcPts val="0"/>
                        </a:spcAft>
                      </a:pPr>
                      <a:r>
                        <a:rPr sz="600">
                          <a:solidFill>
                            <a:srgbClr val="0070C0"/>
                          </a:solidFill>
                          <a:latin typeface="Arial"/>
                        </a:rPr>
                        <a:t>→ nWOW - New Ways of Working - P&amp;S Lean Operating Model 03.10.2026 v1.2.pptx  |  Sl. 43</a:t>
                      </a:r>
                    </a:p>
                  </a:txBody>
                  <a:tcPr>
                    <a:solidFill>
                      <a:srgbClr val="FFFFFF"/>
                    </a:solidFill>
                  </a:tcPr>
                </a:tc>
                <a:tc>
                  <a:txBody>
                    <a:bodyPr/>
                    <a:lstStyle/>
                    <a:p>
                      <a:pPr>
                        <a:spcBef>
                          <a:spcPts val="0"/>
                        </a:spcBef>
                        <a:spcAft>
                          <a:spcPts val="0"/>
                        </a:spcAft>
                      </a:pPr>
                      <a:r>
                        <a:rPr sz="600">
                          <a:solidFill>
                            <a:srgbClr val="4A4A4A"/>
                          </a:solidFill>
                          <a:latin typeface="Arial"/>
                        </a:rPr>
                        <a:t>SEAL-SIX maturity (NTTDATA Sl. 9-10): 15-18 Ready / 10-14 Guardrails / &lt;10 Foundations. MVST concept (NTTDATA Sl. 10). Health Radars (Agility Playbook Sl. 93). Current/target radar (NTTDATA Sl. 23-24).</a:t>
                      </a:r>
                    </a:p>
                    <a:p>
                      <a:pPr>
                        <a:spcBef>
                          <a:spcPts val="0"/>
                        </a:spcBef>
                        <a:spcAft>
                          <a:spcPts val="0"/>
                        </a:spcAft>
                      </a:pPr>
                      <a:r>
                        <a:rPr sz="600">
                          <a:solidFill>
                            <a:srgbClr val="0070C0"/>
                          </a:solidFill>
                          <a:latin typeface="Arial"/>
                        </a:rPr>
                        <a:t>→ NTTDATA-Digital Strategy - NextGen Produc Ops Org Design SEAL-SIX Model v.1.7 06.29.pptx  |  Sl. 5, 9, 10, 23, 24</a:t>
                      </a:r>
                    </a:p>
                    <a:p>
                      <a:pPr>
                        <a:spcBef>
                          <a:spcPts val="0"/>
                        </a:spcBef>
                        <a:spcAft>
                          <a:spcPts val="0"/>
                        </a:spcAft>
                      </a:pPr>
                      <a:r>
                        <a:rPr sz="600">
                          <a:solidFill>
                            <a:srgbClr val="0070C0"/>
                          </a:solidFill>
                          <a:latin typeface="Arial"/>
                        </a:rPr>
                        <a:t>→ [17] Agility Playbook - Digital Center of Excellence 06.18.2025 V.1.7.pptx  |  Sl. 93</a:t>
                      </a:r>
                    </a:p>
                  </a:txBody>
                  <a:tcPr>
                    <a:solidFill>
                      <a:srgbClr val="FFFFFF"/>
                    </a:solidFill>
                  </a:tcPr>
                </a:tc>
                <a:tc>
                  <a:txBody>
                    <a:bodyPr/>
                    <a:lstStyle/>
                    <a:p>
                      <a:pPr>
                        <a:spcBef>
                          <a:spcPts val="0"/>
                        </a:spcBef>
                        <a:spcAft>
                          <a:spcPts val="0"/>
                        </a:spcAft>
                      </a:pPr>
                      <a:r>
                        <a:rPr sz="600">
                          <a:solidFill>
                            <a:srgbClr val="4A4A4A"/>
                          </a:solidFill>
                          <a:latin typeface="Arial"/>
                        </a:rPr>
                        <a:t>Strongest pilot: Pilot → Expansion → Optimization (Sl. 10, 34, 44). Close support + coaching + flow metrics (Avangrid Sl. 39). Sapiens Learning Cycles (Sl. 43). Built for multi-team rollout.</a:t>
                      </a:r>
                    </a:p>
                    <a:p>
                      <a:pPr>
                        <a:spcBef>
                          <a:spcPts val="0"/>
                        </a:spcBef>
                        <a:spcAft>
                          <a:spcPts val="0"/>
                        </a:spcAft>
                      </a:pPr>
                      <a:r>
                        <a:rPr sz="600">
                          <a:solidFill>
                            <a:srgbClr val="0070C0"/>
                          </a:solidFill>
                          <a:latin typeface="Arial"/>
                        </a:rPr>
                        <a:t>→ Agile Management Model _ Proposal Avangrid Architecture V.3.1 18.01.2024 3.pptx  |  Sl. 10, 21, 23, 34, 44, 45</a:t>
                      </a:r>
                    </a:p>
                    <a:p>
                      <a:pPr>
                        <a:spcBef>
                          <a:spcPts val="0"/>
                        </a:spcBef>
                        <a:spcAft>
                          <a:spcPts val="0"/>
                        </a:spcAft>
                      </a:pPr>
                      <a:r>
                        <a:rPr sz="700" b="1">
                          <a:solidFill>
                            <a:srgbClr val="00A443"/>
                          </a:solidFill>
                          <a:latin typeface="Arial"/>
                        </a:rPr>
                        <a:t>[Context: Sl. 44 shows expansion timeline: 1 team → 7+ teams with coaching sessions and flow metrics gates]</a:t>
                      </a:r>
                    </a:p>
                  </a:txBody>
                  <a:tcPr>
                    <a:solidFill>
                      <a:srgbClr val="FFFFFF"/>
                    </a:solidFill>
                  </a:tcPr>
                </a:tc>
                <a:tc>
                  <a:txBody>
                    <a:bodyPr/>
                    <a:lstStyle/>
                    <a:p>
                      <a:pPr>
                        <a:spcBef>
                          <a:spcPts val="0"/>
                        </a:spcBef>
                        <a:spcAft>
                          <a:spcPts val="0"/>
                        </a:spcAft>
                      </a:pPr>
                      <a:r>
                        <a:rPr sz="600">
                          <a:solidFill>
                            <a:srgbClr val="4A4A4A"/>
                          </a:solidFill>
                          <a:latin typeface="Arial"/>
                        </a:rPr>
                        <a:t>Complete pilot design. E2E Kanban Workflow for pilot team (DTO Sl. 28-30). Pull-based execution (DTO Sl. 25). QA pulls from Dev (DTO Sl. 46). Flow Dashboard (DTO Sl. 49). Cadences: Daily Flow Review, Replenishment, Kaizen (DTO Sl. 50). Most execution-ready.</a:t>
                      </a:r>
                    </a:p>
                    <a:p>
                      <a:pPr>
                        <a:spcBef>
                          <a:spcPts val="0"/>
                        </a:spcBef>
                        <a:spcAft>
                          <a:spcPts val="0"/>
                        </a:spcAft>
                      </a:pPr>
                      <a:r>
                        <a:rPr sz="600">
                          <a:solidFill>
                            <a:srgbClr val="0070C0"/>
                          </a:solidFill>
                          <a:latin typeface="Arial"/>
                        </a:rPr>
                        <a:t>→ NextGen_DTO_Deliverable1 - Final.pptx  |  Sl. 25, 26, 28-30, 46, 49, 50, 51</a:t>
                      </a:r>
                    </a:p>
                    <a:p>
                      <a:pPr>
                        <a:spcBef>
                          <a:spcPts val="0"/>
                        </a:spcBef>
                        <a:spcAft>
                          <a:spcPts val="0"/>
                        </a:spcAft>
                      </a:pPr>
                      <a:r>
                        <a:rPr sz="700" b="1">
                          <a:solidFill>
                            <a:srgbClr val="00A443"/>
                          </a:solidFill>
                          <a:latin typeface="Arial"/>
                        </a:rPr>
                        <a:t>[Context: Sl. 28-30 show the E2E Kanban workflow for pilot team with WIP limits and pull arrows]</a:t>
                      </a:r>
                    </a:p>
                  </a:txBody>
                  <a:tcPr>
                    <a:solidFill>
                      <a:srgbClr val="FFFFFF"/>
                    </a:solidFill>
                  </a:tcPr>
                </a:tc>
                <a:tc>
                  <a:txBody>
                    <a:bodyPr/>
                    <a:lstStyle/>
                    <a:p>
                      <a:pPr algn="l">
                        <a:spcBef>
                          <a:spcPts val="0"/>
                        </a:spcBef>
                        <a:spcAft>
                          <a:spcPts val="0"/>
                        </a:spcAft>
                        <a:defRPr sz="650">
                          <a:solidFill>
                            <a:srgbClr val="2C3E50"/>
                          </a:solidFill>
                          <a:latin typeface="Arial"/>
                        </a:defRPr>
                      </a:pPr>
                      <a:r>
                        <a:rPr sz="700" b="1">
                          <a:solidFill>
                            <a:srgbClr val="2D5F8A"/>
                          </a:solidFill>
                          <a:latin typeface="Arial"/>
                        </a:rPr>
                        <a:t>[ADAPT] ⭐ Infra + DTO</a:t>
                      </a:r>
                      <a:endParaRPr sz="900" dirty="0"/>
                    </a:p>
                    <a:p>
                      <a:pPr>
                        <a:spcBef>
                          <a:spcPts val="0"/>
                        </a:spcBef>
                        <a:spcAft>
                          <a:spcPts val="0"/>
                        </a:spcAft>
                      </a:pPr>
                      <a:r>
                        <a:rPr sz="600">
                          <a:solidFill>
                            <a:srgbClr val="4A4A4A"/>
                          </a:solidFill>
                          <a:latin typeface="Arial"/>
                        </a:rPr>
                        <a:t>ADOPT Infrastructure Pilot → Expansion → Optimization rollout.</a:t>
                      </a:r>
                    </a:p>
                    <a:p>
                      <a:pPr>
                        <a:spcBef>
                          <a:spcPts val="0"/>
                        </a:spcBef>
                        <a:spcAft>
                          <a:spcPts val="0"/>
                        </a:spcAft>
                      </a:pPr>
                      <a:r>
                        <a:rPr sz="600">
                          <a:solidFill>
                            <a:srgbClr val="4A4A4A"/>
                          </a:solidFill>
                          <a:latin typeface="Arial"/>
                        </a:rPr>
                        <a:t>ADD DTO Kanban execution (WIP limits, Flow Dashboard, cadences).</a:t>
                      </a:r>
                    </a:p>
                    <a:p>
                      <a:pPr>
                        <a:spcBef>
                          <a:spcPts val="0"/>
                        </a:spcBef>
                        <a:spcAft>
                          <a:spcPts val="0"/>
                        </a:spcAft>
                      </a:pPr>
                      <a:r>
                        <a:rPr sz="600">
                          <a:solidFill>
                            <a:srgbClr val="4A4A4A"/>
                          </a:solidFill>
                          <a:latin typeface="Arial"/>
                        </a:rPr>
                        <a:t>BRS as first consumer — 1 OPCO, 1 project, full lifecycle E2E.</a:t>
                      </a:r>
                    </a:p>
                  </a:txBody>
                  <a:tcPr>
                    <a:solidFill>
                      <a:srgbClr val="E8F5E9"/>
                    </a:solidFill>
                  </a:tcPr>
                </a:tc>
                <a:extLst>
                  <a:ext uri="{0D108BD9-81ED-4DB2-BD59-A6C34878D82A}">
                    <a16:rowId xmlns:a16="http://schemas.microsoft.com/office/drawing/2014/main" val="10001"/>
                  </a:ext>
                </a:extLst>
              </a:tr>
            </a:tbl>
          </a:graphicData>
        </a:graphic>
      </p:graphicFrame>
      <p:sp>
        <p:nvSpPr>
          <p:cNvPr id="3" name="Rectangle 1">
            <a:extLst>
              <a:ext uri="{FF2B5EF4-FFF2-40B4-BE49-F238E27FC236}">
                <a16:creationId xmlns:a16="http://schemas.microsoft.com/office/drawing/2014/main" id="{687AC2D1-DA07-65E7-8528-A59A7F0CDC57}"/>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C868C-BC9E-1F3E-B70D-0E46080E1A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973538-55A2-E41B-2171-CD277FD40BAD}"/>
              </a:ext>
            </a:extLst>
          </p:cNvPr>
          <p:cNvSpPr txBox="1"/>
          <p:nvPr/>
        </p:nvSpPr>
        <p:spPr>
          <a:xfrm>
            <a:off x="137160" y="211183"/>
            <a:ext cx="10515600" cy="400110"/>
          </a:xfrm>
          <a:prstGeom prst="rect">
            <a:avLst/>
          </a:prstGeom>
          <a:noFill/>
        </p:spPr>
        <p:txBody>
          <a:bodyPr wrap="square">
            <a:spAutoFit/>
          </a:bodyPr>
          <a:lstStyle/>
          <a:p>
            <a:pPr>
              <a:defRPr sz="1300" b="1">
                <a:solidFill>
                  <a:srgbClr val="002060"/>
                </a:solidFill>
                <a:latin typeface="Arial"/>
              </a:defRPr>
            </a:pPr>
            <a:r>
              <a:rPr lang="pt-BR" sz="2000" b="1" dirty="0" err="1">
                <a:solidFill>
                  <a:srgbClr val="00A443"/>
                </a:solidFill>
                <a:latin typeface="Arial"/>
              </a:rPr>
              <a:t>Existing</a:t>
            </a:r>
            <a:r>
              <a:rPr lang="pt-BR" sz="2000" b="1" dirty="0">
                <a:solidFill>
                  <a:srgbClr val="00A443"/>
                </a:solidFill>
                <a:latin typeface="Arial"/>
              </a:rPr>
              <a:t> </a:t>
            </a:r>
            <a:r>
              <a:rPr lang="pt-BR" sz="2000" b="1" dirty="0" err="1">
                <a:solidFill>
                  <a:srgbClr val="00A443"/>
                </a:solidFill>
                <a:latin typeface="Arial"/>
              </a:rPr>
              <a:t>Assets</a:t>
            </a:r>
            <a:r>
              <a:rPr lang="pt-BR" sz="2000" b="1" dirty="0">
                <a:solidFill>
                  <a:srgbClr val="00A443"/>
                </a:solidFill>
                <a:latin typeface="Arial"/>
              </a:rPr>
              <a:t> — </a:t>
            </a:r>
            <a:r>
              <a:rPr lang="pt-BR" sz="2000" b="1" dirty="0" err="1">
                <a:solidFill>
                  <a:srgbClr val="00A443"/>
                </a:solidFill>
                <a:latin typeface="Arial"/>
              </a:rPr>
              <a:t>Ways</a:t>
            </a:r>
            <a:r>
              <a:rPr lang="pt-BR" sz="2000" b="1" dirty="0">
                <a:solidFill>
                  <a:srgbClr val="00A443"/>
                </a:solidFill>
                <a:latin typeface="Arial"/>
              </a:rPr>
              <a:t> </a:t>
            </a:r>
            <a:r>
              <a:rPr lang="pt-BR" sz="2000" b="1" dirty="0" err="1">
                <a:solidFill>
                  <a:srgbClr val="00A443"/>
                </a:solidFill>
                <a:latin typeface="Arial"/>
              </a:rPr>
              <a:t>of</a:t>
            </a:r>
            <a:r>
              <a:rPr lang="pt-BR" sz="2000" b="1" dirty="0">
                <a:solidFill>
                  <a:srgbClr val="00A443"/>
                </a:solidFill>
                <a:latin typeface="Arial"/>
              </a:rPr>
              <a:t> </a:t>
            </a:r>
            <a:r>
              <a:rPr lang="pt-BR" sz="2000" b="1" dirty="0" err="1">
                <a:solidFill>
                  <a:srgbClr val="00A443"/>
                </a:solidFill>
                <a:latin typeface="Arial"/>
              </a:rPr>
              <a:t>Working</a:t>
            </a:r>
            <a:r>
              <a:rPr lang="pt-BR" sz="2000" b="1" dirty="0">
                <a:solidFill>
                  <a:srgbClr val="00A443"/>
                </a:solidFill>
                <a:latin typeface="Arial"/>
              </a:rPr>
              <a:t> </a:t>
            </a:r>
            <a:r>
              <a:rPr lang="pt-BR" sz="2000" b="1" dirty="0" err="1">
                <a:solidFill>
                  <a:srgbClr val="00A443"/>
                </a:solidFill>
                <a:latin typeface="Arial"/>
              </a:rPr>
              <a:t>Playbook</a:t>
            </a:r>
            <a:r>
              <a:rPr lang="pt-BR" sz="2000" b="1" dirty="0">
                <a:solidFill>
                  <a:srgbClr val="00A443"/>
                </a:solidFill>
                <a:latin typeface="Arial"/>
              </a:rPr>
              <a:t> &amp; KPI / </a:t>
            </a:r>
            <a:r>
              <a:rPr lang="pt-BR" sz="2000" b="1" dirty="0" err="1">
                <a:solidFill>
                  <a:srgbClr val="00A443"/>
                </a:solidFill>
                <a:latin typeface="Arial"/>
              </a:rPr>
              <a:t>Reporting</a:t>
            </a:r>
            <a:r>
              <a:rPr lang="pt-BR" sz="2000" b="1" dirty="0">
                <a:solidFill>
                  <a:srgbClr val="00A443"/>
                </a:solidFill>
                <a:latin typeface="Arial"/>
              </a:rPr>
              <a:t> (4/4)</a:t>
            </a:r>
          </a:p>
        </p:txBody>
      </p:sp>
      <p:pic>
        <p:nvPicPr>
          <p:cNvPr id="8" name="Picture 5" descr="Avangrid - Wikipedia">
            <a:extLst>
              <a:ext uri="{FF2B5EF4-FFF2-40B4-BE49-F238E27FC236}">
                <a16:creationId xmlns:a16="http://schemas.microsoft.com/office/drawing/2014/main" id="{9E8BB4E7-F584-ED7D-8585-F1AA201918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9" name="NTT DATA Global Logo">
            <a:extLst>
              <a:ext uri="{FF2B5EF4-FFF2-40B4-BE49-F238E27FC236}">
                <a16:creationId xmlns:a16="http://schemas.microsoft.com/office/drawing/2014/main" id="{272C0B10-ACCC-95C0-DB27-4119369CEF15}"/>
              </a:ext>
            </a:extLst>
          </p:cNvPr>
          <p:cNvSpPr/>
          <p:nvPr/>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3" name="Table 5">
            <a:extLst>
              <a:ext uri="{FF2B5EF4-FFF2-40B4-BE49-F238E27FC236}">
                <a16:creationId xmlns:a16="http://schemas.microsoft.com/office/drawing/2014/main" id="{7902BEAF-BAA4-2991-DAD8-C8F213104FBD}"/>
              </a:ext>
            </a:extLst>
          </p:cNvPr>
          <p:cNvGraphicFramePr>
            <a:graphicFrameLocks noGrp="1"/>
          </p:cNvGraphicFramePr>
          <p:nvPr>
            <p:extLst>
              <p:ext uri="{D42A27DB-BD31-4B8C-83A1-F6EECF244321}">
                <p14:modId xmlns:p14="http://schemas.microsoft.com/office/powerpoint/2010/main" val="1786749336"/>
              </p:ext>
            </p:extLst>
          </p:nvPr>
        </p:nvGraphicFramePr>
        <p:xfrm>
          <a:off x="91440" y="868680"/>
          <a:ext cx="11978640" cy="4331622"/>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409862">
                <a:tc>
                  <a:txBody>
                    <a:bodyPr/>
                    <a:lstStyle/>
                    <a:p>
                      <a:pPr algn="ctr">
                        <a:defRPr sz="700" b="1">
                          <a:solidFill>
                            <a:srgbClr val="FFFFFF"/>
                          </a:solidFill>
                          <a:latin typeface="Arial"/>
                        </a:defRPr>
                      </a:pPr>
                      <a:r>
                        <a:rPr sz="900" dirty="0"/>
                        <a:t>Deliverable</a:t>
                      </a:r>
                    </a:p>
                  </a:txBody>
                  <a:tcPr anchor="ctr">
                    <a:solidFill>
                      <a:srgbClr val="002060"/>
                    </a:solidFill>
                  </a:tcPr>
                </a:tc>
                <a:tc>
                  <a:txBody>
                    <a:bodyPr/>
                    <a:lstStyle/>
                    <a:p>
                      <a:pPr algn="ctr">
                        <a:defRPr sz="700" b="1">
                          <a:solidFill>
                            <a:srgbClr val="FFFFFF"/>
                          </a:solidFill>
                          <a:latin typeface="Arial"/>
                        </a:defRPr>
                      </a:pPr>
                      <a:r>
                        <a:rPr sz="900" dirty="0"/>
                        <a:t>P&amp;S / P&amp;T</a:t>
                      </a:r>
                    </a:p>
                  </a:txBody>
                  <a:tcPr anchor="ctr">
                    <a:solidFill>
                      <a:srgbClr val="002060"/>
                    </a:solidFill>
                  </a:tcPr>
                </a:tc>
                <a:tc>
                  <a:txBody>
                    <a:bodyPr/>
                    <a:lstStyle/>
                    <a:p>
                      <a:pPr algn="ctr">
                        <a:defRPr sz="700" b="1">
                          <a:solidFill>
                            <a:srgbClr val="FFFFFF"/>
                          </a:solidFill>
                          <a:latin typeface="Arial"/>
                        </a:defRPr>
                      </a:pPr>
                      <a:r>
                        <a:rPr sz="900"/>
                        <a:t>Digital CoE</a:t>
                      </a:r>
                    </a:p>
                  </a:txBody>
                  <a:tcPr anchor="ctr">
                    <a:solidFill>
                      <a:srgbClr val="002060"/>
                    </a:solidFill>
                  </a:tcPr>
                </a:tc>
                <a:tc>
                  <a:txBody>
                    <a:bodyPr/>
                    <a:lstStyle/>
                    <a:p>
                      <a:pPr algn="ctr">
                        <a:defRPr sz="700" b="1">
                          <a:solidFill>
                            <a:srgbClr val="FFFFFF"/>
                          </a:solidFill>
                          <a:latin typeface="Arial"/>
                        </a:defRPr>
                      </a:pPr>
                      <a:r>
                        <a:rPr sz="900"/>
                        <a:t>Infrastructure</a:t>
                      </a:r>
                    </a:p>
                  </a:txBody>
                  <a:tcPr anchor="ctr">
                    <a:solidFill>
                      <a:srgbClr val="002060"/>
                    </a:solidFill>
                  </a:tcPr>
                </a:tc>
                <a:tc>
                  <a:txBody>
                    <a:bodyPr/>
                    <a:lstStyle/>
                    <a:p>
                      <a:pPr algn="ctr">
                        <a:defRPr sz="700" b="1">
                          <a:solidFill>
                            <a:srgbClr val="FFFFFF"/>
                          </a:solidFill>
                          <a:latin typeface="Arial"/>
                        </a:defRPr>
                      </a:pPr>
                      <a:r>
                        <a:rPr sz="900"/>
                        <a:t>Renewables DTO</a:t>
                      </a:r>
                    </a:p>
                  </a:txBody>
                  <a:tcPr anchor="ctr">
                    <a:solidFill>
                      <a:srgbClr val="002060"/>
                    </a:solidFill>
                  </a:tcPr>
                </a:tc>
                <a:tc>
                  <a:txBody>
                    <a:bodyPr/>
                    <a:lstStyle/>
                    <a:p>
                      <a:pPr algn="ctr">
                        <a:defRPr sz="700" b="1">
                          <a:solidFill>
                            <a:srgbClr val="FFFFFF"/>
                          </a:solidFill>
                          <a:latin typeface="Arial"/>
                        </a:defRPr>
                      </a:pPr>
                      <a:r>
                        <a:rPr sz="900"/>
                        <a:t>Digital Products (Reuse)</a:t>
                      </a:r>
                    </a:p>
                  </a:txBody>
                  <a:tcPr anchor="ctr">
                    <a:solidFill>
                      <a:srgbClr val="00B050"/>
                    </a:solidFill>
                  </a:tcPr>
                </a:tc>
                <a:extLst>
                  <a:ext uri="{0D108BD9-81ED-4DB2-BD59-A6C34878D82A}">
                    <a16:rowId xmlns:a16="http://schemas.microsoft.com/office/drawing/2014/main" val="10000"/>
                  </a:ext>
                </a:extLst>
              </a:tr>
              <a:tr h="1743456">
                <a:tc>
                  <a:txBody>
                    <a:bodyPr/>
                    <a:lstStyle/>
                    <a:p>
                      <a:pPr>
                        <a:defRPr sz="800" b="1">
                          <a:solidFill>
                            <a:srgbClr val="2C3E50"/>
                          </a:solidFill>
                          <a:latin typeface="Arial"/>
                        </a:defRPr>
                      </a:pPr>
                      <a:r>
                        <a:rPr sz="1000" dirty="0"/>
                        <a:t>Ways of Working</a:t>
                      </a:r>
                      <a:br>
                        <a:rPr sz="1000" dirty="0"/>
                      </a:br>
                      <a:r>
                        <a:rPr sz="1000" dirty="0"/>
                        <a:t>Playbook</a:t>
                      </a:r>
                    </a:p>
                  </a:txBody>
                  <a:tcPr>
                    <a:solidFill>
                      <a:srgbClr val="FFFFFF"/>
                    </a:solidFill>
                  </a:tcPr>
                </a:tc>
                <a:tc>
                  <a:txBody>
                    <a:bodyPr/>
                    <a:lstStyle/>
                    <a:p>
                      <a:r>
                        <a:rPr sz="900" dirty="0">
                          <a:solidFill>
                            <a:srgbClr val="2C3E50"/>
                          </a:solidFill>
                          <a:latin typeface="Arial"/>
                        </a:rPr>
                        <a:t>264 slides. PD Playbook (114 sl.): Design Thinking E2E (Sl. 6-7), </a:t>
                      </a:r>
                      <a:r>
                        <a:rPr sz="900" dirty="0" err="1">
                          <a:solidFill>
                            <a:srgbClr val="2C3E50"/>
                          </a:solidFill>
                          <a:latin typeface="Arial"/>
                        </a:rPr>
                        <a:t>Figma+Maze</a:t>
                      </a:r>
                      <a:r>
                        <a:rPr sz="900" dirty="0">
                          <a:solidFill>
                            <a:srgbClr val="2C3E50"/>
                          </a:solidFill>
                          <a:latin typeface="Arial"/>
                        </a:rPr>
                        <a:t> (Sl. 77). PM Playbook (150 sl.): Kanban, governance, RACI, contracts, KPIs. Modular chapters by phase — actively used.</a:t>
                      </a:r>
                    </a:p>
                    <a:p>
                      <a:pPr>
                        <a:spcBef>
                          <a:spcPts val="200"/>
                        </a:spcBef>
                      </a:pPr>
                      <a:r>
                        <a:rPr sz="800" dirty="0">
                          <a:solidFill>
                            <a:srgbClr val="7F8C8D"/>
                          </a:solidFill>
                          <a:latin typeface="Arial"/>
                        </a:rPr>
                        <a:t>→ </a:t>
                      </a:r>
                      <a:r>
                        <a:rPr sz="800" u="sng" dirty="0">
                          <a:solidFill>
                            <a:srgbClr val="0072BC"/>
                          </a:solidFill>
                          <a:latin typeface="Arial"/>
                          <a:hlinkClick r:id="rId3"/>
                        </a:rPr>
                        <a:t>[00] Product Discovery Playbook - P&amp;S Ways of Working 02.03.26 v.1.3 +FIGMA.pptx</a:t>
                      </a:r>
                      <a:r>
                        <a:rPr sz="800" b="1" dirty="0">
                          <a:solidFill>
                            <a:srgbClr val="2C3E50"/>
                          </a:solidFill>
                          <a:latin typeface="Arial"/>
                        </a:rPr>
                        <a:t>  |  Full (114 sl.) — Sl. 3, 6, 7, 9, 63, 77</a:t>
                      </a:r>
                    </a:p>
                    <a:p>
                      <a:pPr>
                        <a:spcBef>
                          <a:spcPts val="200"/>
                        </a:spcBef>
                      </a:pPr>
                      <a:r>
                        <a:rPr sz="800" dirty="0">
                          <a:solidFill>
                            <a:srgbClr val="7F8C8D"/>
                          </a:solidFill>
                          <a:latin typeface="Arial"/>
                        </a:rPr>
                        <a:t>→ </a:t>
                      </a:r>
                      <a:r>
                        <a:rPr sz="800" u="sng" dirty="0">
                          <a:solidFill>
                            <a:srgbClr val="0072BC"/>
                          </a:solidFill>
                          <a:latin typeface="Arial"/>
                          <a:hlinkClick r:id="rId4"/>
                        </a:rPr>
                        <a:t>[00] Project Management Playbook - P&amp;S Ways of Working 10.28.25 v.1.0-2.pptx</a:t>
                      </a:r>
                      <a:r>
                        <a:rPr sz="800" b="1" dirty="0">
                          <a:solidFill>
                            <a:srgbClr val="2C3E50"/>
                          </a:solidFill>
                          <a:latin typeface="Arial"/>
                        </a:rPr>
                        <a:t>  |  Full (150 sl.)</a:t>
                      </a:r>
                    </a:p>
                  </a:txBody>
                  <a:tcPr>
                    <a:solidFill>
                      <a:srgbClr val="FFFFFF"/>
                    </a:solidFill>
                  </a:tcPr>
                </a:tc>
                <a:tc>
                  <a:txBody>
                    <a:bodyPr/>
                    <a:lstStyle/>
                    <a:p>
                      <a:r>
                        <a:rPr sz="900">
                          <a:solidFill>
                            <a:srgbClr val="2C3E50"/>
                          </a:solidFill>
                          <a:latin typeface="Arial"/>
                        </a:rPr>
                        <a:t>Agility Playbook (111 sl.): Scrum (Sl. 18), Sprint Events (Sl. 20), PBB+HEVA (Sl. 51). Sprint Report Canvas (CoE Playbook Sl. 88-89). Health Radars (Sl. 93). CX JIRA Playbook (41p). Teaching 'how to be agile'.</a:t>
                      </a:r>
                    </a:p>
                    <a:p>
                      <a:pPr>
                        <a:spcBef>
                          <a:spcPts val="200"/>
                        </a:spcBef>
                      </a:pPr>
                      <a:r>
                        <a:rPr sz="800">
                          <a:solidFill>
                            <a:srgbClr val="7F8C8D"/>
                          </a:solidFill>
                          <a:latin typeface="Arial"/>
                        </a:rPr>
                        <a:t>→ </a:t>
                      </a:r>
                      <a:r>
                        <a:rPr sz="800" u="sng">
                          <a:solidFill>
                            <a:srgbClr val="0072BC"/>
                          </a:solidFill>
                          <a:latin typeface="Arial"/>
                          <a:hlinkClick r:id="rId5"/>
                        </a:rPr>
                        <a:t>[17] Agility Playbook - Digital Center of Excellence 06.18.2025 V.1.7.pptx</a:t>
                      </a:r>
                      <a:r>
                        <a:rPr sz="800" b="1">
                          <a:solidFill>
                            <a:srgbClr val="2C3E50"/>
                          </a:solidFill>
                          <a:latin typeface="Arial"/>
                        </a:rPr>
                        <a:t>  |  Full (111 sl.) — Sl. 2, 20, 93</a:t>
                      </a:r>
                    </a:p>
                    <a:p>
                      <a:pPr>
                        <a:spcBef>
                          <a:spcPts val="200"/>
                        </a:spcBef>
                      </a:pPr>
                      <a:r>
                        <a:rPr sz="800">
                          <a:solidFill>
                            <a:srgbClr val="7F8C8D"/>
                          </a:solidFill>
                          <a:latin typeface="Arial"/>
                        </a:rPr>
                        <a:t>→ </a:t>
                      </a:r>
                      <a:r>
                        <a:rPr sz="800" u="sng">
                          <a:solidFill>
                            <a:srgbClr val="0072BC"/>
                          </a:solidFill>
                          <a:latin typeface="Arial"/>
                          <a:hlinkClick r:id="rId6"/>
                        </a:rPr>
                        <a:t>[12] Digital CoE Operating Model - Playbook - 01.05.2026 V.2.5. FINAL pptx.pptx</a:t>
                      </a:r>
                      <a:r>
                        <a:rPr sz="800" b="1">
                          <a:solidFill>
                            <a:srgbClr val="2C3E50"/>
                          </a:solidFill>
                          <a:latin typeface="Arial"/>
                        </a:rPr>
                        <a:t>  |  Sl. 88, 89</a:t>
                      </a:r>
                    </a:p>
                    <a:p>
                      <a:pPr>
                        <a:spcBef>
                          <a:spcPts val="200"/>
                        </a:spcBef>
                      </a:pPr>
                      <a:r>
                        <a:rPr sz="800">
                          <a:solidFill>
                            <a:srgbClr val="7F8C8D"/>
                          </a:solidFill>
                          <a:latin typeface="Arial"/>
                        </a:rPr>
                        <a:t>→ </a:t>
                      </a:r>
                      <a:r>
                        <a:rPr sz="800" u="sng">
                          <a:solidFill>
                            <a:srgbClr val="0072BC"/>
                          </a:solidFill>
                          <a:latin typeface="Arial"/>
                          <a:hlinkClick r:id="rId7"/>
                        </a:rPr>
                        <a:t>[CX] JIRA Agile Management Playbook - Center of Excellence 25.03.2024 V.1.0.pdf</a:t>
                      </a:r>
                      <a:r>
                        <a:rPr sz="800" b="1">
                          <a:solidFill>
                            <a:srgbClr val="2C3E50"/>
                          </a:solidFill>
                          <a:latin typeface="Arial"/>
                        </a:rPr>
                        <a:t>  |  Full (41p)</a:t>
                      </a:r>
                    </a:p>
                    <a:p>
                      <a:pPr algn="l">
                        <a:spcBef>
                          <a:spcPts val="100"/>
                        </a:spcBef>
                        <a:spcAft>
                          <a:spcPts val="100"/>
                        </a:spcAft>
                      </a:pPr>
                      <a:r>
                        <a:rPr sz="500" i="1">
                          <a:solidFill>
                            <a:srgbClr val="00A443"/>
                          </a:solidFill>
                          <a:latin typeface="Arial"/>
                        </a:rPr>
                        <a:t>[Context: Sl. 93 shows Health Radar chart with 8 dimensions and current/target comparison visual]</a:t>
                      </a:r>
                    </a:p>
                  </a:txBody>
                  <a:tcPr>
                    <a:solidFill>
                      <a:srgbClr val="FFFFFF"/>
                    </a:solidFill>
                  </a:tcPr>
                </a:tc>
                <a:tc>
                  <a:txBody>
                    <a:bodyPr/>
                    <a:lstStyle/>
                    <a:p>
                      <a:pPr algn="l">
                        <a:spcBef>
                          <a:spcPts val="0"/>
                        </a:spcBef>
                        <a:spcAft>
                          <a:spcPts val="100"/>
                        </a:spcAft>
                      </a:pPr>
                      <a:r>
                        <a:rPr sz="600">
                          <a:solidFill>
                            <a:srgbClr val="4A4A4A"/>
                          </a:solidFill>
                          <a:latin typeface="Arial"/>
                        </a:rPr>
                        <a:t>No standalone playbook, but Project Book template (Sl. 1-2) provides a reusable documentation framework: Discover → Build → Operate. Blueprint Design (Sl. 36) and ODAS Assessment (Sl. 16) add methodology structure.</a:t>
                      </a:r>
                    </a:p>
                    <a:p>
                      <a:pPr algn="l">
                        <a:spcBef>
                          <a:spcPts val="0"/>
                        </a:spcBef>
                        <a:spcAft>
                          <a:spcPts val="100"/>
                        </a:spcAft>
                      </a:pPr>
                      <a:r>
                        <a:rPr sz="600" i="1">
                          <a:solidFill>
                            <a:srgbClr val="00A443"/>
                          </a:solidFill>
                          <a:latin typeface="Arial"/>
                        </a:rPr>
                        <a:t>[Context: Project Book is a structured template with phases, artifacts, and checklists per stage]</a:t>
                      </a:r>
                    </a:p>
                    <a:p>
                      <a:pPr algn="l">
                        <a:spcBef>
                          <a:spcPts val="0"/>
                        </a:spcBef>
                        <a:spcAft>
                          <a:spcPts val="100"/>
                        </a:spcAft>
                      </a:pPr>
                      <a:r>
                        <a:rPr sz="600">
                          <a:solidFill>
                            <a:srgbClr val="0070C0"/>
                          </a:solidFill>
                          <a:latin typeface="Arial"/>
                        </a:rPr>
                        <a:t>→ Project_Book_Avangrid_Template v1.0.pptx | Sl. 1, 2</a:t>
                      </a:r>
                    </a:p>
                    <a:p>
                      <a:pPr algn="l">
                        <a:spcBef>
                          <a:spcPts val="0"/>
                        </a:spcBef>
                        <a:spcAft>
                          <a:spcPts val="100"/>
                        </a:spcAft>
                      </a:pPr>
                      <a:r>
                        <a:rPr sz="600">
                          <a:solidFill>
                            <a:srgbClr val="0070C0"/>
                          </a:solidFill>
                          <a:latin typeface="Arial"/>
                        </a:rPr>
                        <a:t>→ Agile Management Model _ Proposal Avangrid Architecture V.3.1 18.01.2024 3.pptx | Sl. 16, 36</a:t>
                      </a:r>
                    </a:p>
                    <a:p>
                      <a:pPr algn="l">
                        <a:spcBef>
                          <a:spcPts val="100"/>
                        </a:spcBef>
                        <a:spcAft>
                          <a:spcPts val="100"/>
                        </a:spcAft>
                      </a:pPr>
                      <a:r>
                        <a:rPr sz="500" i="1">
                          <a:solidFill>
                            <a:srgbClr val="00A443"/>
                          </a:solidFill>
                          <a:latin typeface="Arial"/>
                        </a:rPr>
                        <a:t>[Context: Sl. 1-2 show the Project Book structure: Discover → Build → Operate with checklists per phase]</a:t>
                      </a:r>
                    </a:p>
                  </a:txBody>
                  <a:tcPr>
                    <a:solidFill>
                      <a:srgbClr val="FFFFFF"/>
                    </a:solidFill>
                  </a:tcPr>
                </a:tc>
                <a:tc>
                  <a:txBody>
                    <a:bodyPr/>
                    <a:lstStyle/>
                    <a:p>
                      <a:r>
                        <a:rPr sz="900">
                          <a:solidFill>
                            <a:srgbClr val="2C3E50"/>
                          </a:solidFill>
                          <a:latin typeface="Arial"/>
                        </a:rPr>
                        <a:t>Lean Kanban playbook: process instructions per pillar (Demand Sl. 32-35, Prioritization Sl. 36-41, Delivery Sl. 42-46, Governance Sl. 48-51). Each: Purpose, How to Execute, Completion Criteria, Artifact. Board specs (DTO Sl. 12, 14).</a:t>
                      </a:r>
                    </a:p>
                    <a:p>
                      <a:pPr>
                        <a:spcBef>
                          <a:spcPts val="200"/>
                        </a:spcBef>
                      </a:pPr>
                      <a:r>
                        <a:rPr sz="800">
                          <a:solidFill>
                            <a:srgbClr val="7F8C8D"/>
                          </a:solidFill>
                          <a:latin typeface="Arial"/>
                        </a:rPr>
                        <a:t>→ </a:t>
                      </a:r>
                      <a:r>
                        <a:rPr sz="800" u="sng">
                          <a:solidFill>
                            <a:srgbClr val="0072BC"/>
                          </a:solidFill>
                          <a:latin typeface="Arial"/>
                          <a:hlinkClick r:id="rId8"/>
                        </a:rPr>
                        <a:t>NextGen_DTO_Deliverable1 - Final.pptx</a:t>
                      </a:r>
                      <a:r>
                        <a:rPr sz="800" b="1">
                          <a:solidFill>
                            <a:srgbClr val="2C3E50"/>
                          </a:solidFill>
                          <a:latin typeface="Arial"/>
                        </a:rPr>
                        <a:t>  |  Sl. 14, 27, 32-51</a:t>
                      </a:r>
                    </a:p>
                    <a:p>
                      <a:pPr algn="l">
                        <a:spcBef>
                          <a:spcPts val="100"/>
                        </a:spcBef>
                        <a:spcAft>
                          <a:spcPts val="100"/>
                        </a:spcAft>
                      </a:pPr>
                      <a:r>
                        <a:rPr sz="500" i="1">
                          <a:solidFill>
                            <a:srgbClr val="00A443"/>
                          </a:solidFill>
                          <a:latin typeface="Arial"/>
                        </a:rPr>
                        <a:t>[Context: Sl. 32-51 contain process instructions per pillar: Purpose → How to Execute → Criteria → Artifact]</a:t>
                      </a:r>
                    </a:p>
                  </a:txBody>
                  <a:tcPr>
                    <a:solidFill>
                      <a:srgbClr val="FFFFFF"/>
                    </a:solidFill>
                  </a:tcPr>
                </a:tc>
                <a:tc>
                  <a:txBody>
                    <a:bodyPr/>
                    <a:lstStyle/>
                    <a:p>
                      <a:pPr algn="l">
                        <a:defRPr sz="650">
                          <a:solidFill>
                            <a:srgbClr val="2C3E50"/>
                          </a:solidFill>
                          <a:latin typeface="Arial"/>
                        </a:defRPr>
                      </a:pPr>
                      <a:r>
                        <a:rPr sz="700" b="1">
                          <a:solidFill>
                            <a:srgbClr val="2D5F8A"/>
                          </a:solidFill>
                          <a:latin typeface="Arial"/>
                        </a:rPr>
                        <a:t>[ADAPT] ⭐ P&amp;S</a:t>
                      </a:r>
                      <a:endParaRPr sz="900" dirty="0"/>
                    </a:p>
                    <a:p>
                      <a:pPr algn="l">
                        <a:spcBef>
                          <a:spcPts val="100"/>
                        </a:spcBef>
                        <a:spcAft>
                          <a:spcPts val="0"/>
                        </a:spcAft>
                      </a:pPr>
                      <a:r>
                        <a:rPr sz="600">
                          <a:solidFill>
                            <a:srgbClr val="4A4A4A"/>
                          </a:solidFill>
                          <a:latin typeface="Arial"/>
                        </a:rPr>
                        <a:t>ADAPT P&amp;S modular structure (264 sl.) as skeleton.</a:t>
                      </a:r>
                    </a:p>
                    <a:p>
                      <a:pPr algn="l">
                        <a:spcBef>
                          <a:spcPts val="100"/>
                        </a:spcBef>
                        <a:spcAft>
                          <a:spcPts val="0"/>
                        </a:spcAft>
                      </a:pPr>
                      <a:r>
                        <a:rPr sz="600">
                          <a:solidFill>
                            <a:srgbClr val="4A4A4A"/>
                          </a:solidFill>
                          <a:latin typeface="Arial"/>
                        </a:rPr>
                        <a:t>ADD CoE agile practices (111 sl.: Scrum, PBB, HEVA, Radars).</a:t>
                      </a:r>
                    </a:p>
                    <a:p>
                      <a:pPr algn="l">
                        <a:spcBef>
                          <a:spcPts val="100"/>
                        </a:spcBef>
                        <a:spcAft>
                          <a:spcPts val="0"/>
                        </a:spcAft>
                      </a:pPr>
                      <a:r>
                        <a:rPr sz="600">
                          <a:solidFill>
                            <a:srgbClr val="4A4A4A"/>
                          </a:solidFill>
                          <a:latin typeface="Arial"/>
                        </a:rPr>
                        <a:t>ADD DTO Lean Kanban instructions per pillar.</a:t>
                      </a:r>
                    </a:p>
                    <a:p>
                      <a:pPr algn="l">
                        <a:spcBef>
                          <a:spcPts val="100"/>
                        </a:spcBef>
                        <a:spcAft>
                          <a:spcPts val="0"/>
                        </a:spcAft>
                      </a:pPr>
                      <a:r>
                        <a:rPr sz="600">
                          <a:solidFill>
                            <a:srgbClr val="4A4A4A"/>
                          </a:solidFill>
                          <a:latin typeface="Arial"/>
                        </a:rPr>
                        <a:t>375+ slides of reference — reuse, don't rewrite.</a:t>
                      </a:r>
                    </a:p>
                  </a:txBody>
                  <a:tcPr>
                    <a:solidFill>
                      <a:srgbClr val="E8F5E9"/>
                    </a:solidFill>
                  </a:tcPr>
                </a:tc>
                <a:extLst>
                  <a:ext uri="{0D108BD9-81ED-4DB2-BD59-A6C34878D82A}">
                    <a16:rowId xmlns:a16="http://schemas.microsoft.com/office/drawing/2014/main" val="10001"/>
                  </a:ext>
                </a:extLst>
              </a:tr>
              <a:tr h="1743456">
                <a:tc>
                  <a:txBody>
                    <a:bodyPr/>
                    <a:lstStyle/>
                    <a:p>
                      <a:pPr>
                        <a:defRPr sz="800" b="1">
                          <a:solidFill>
                            <a:srgbClr val="2C3E50"/>
                          </a:solidFill>
                          <a:latin typeface="Arial"/>
                        </a:defRPr>
                      </a:pPr>
                      <a:r>
                        <a:rPr sz="1000" dirty="0"/>
                        <a:t>KPI &amp;</a:t>
                      </a:r>
                      <a:br>
                        <a:rPr sz="1000" dirty="0"/>
                      </a:br>
                      <a:r>
                        <a:rPr sz="1000" dirty="0"/>
                        <a:t>Reporting</a:t>
                      </a:r>
                    </a:p>
                  </a:txBody>
                  <a:tcPr>
                    <a:solidFill>
                      <a:srgbClr val="F5F5F5"/>
                    </a:solidFill>
                  </a:tcPr>
                </a:tc>
                <a:tc>
                  <a:txBody>
                    <a:bodyPr/>
                    <a:lstStyle/>
                    <a:p>
                      <a:r>
                        <a:rPr sz="900" dirty="0">
                          <a:solidFill>
                            <a:srgbClr val="2C3E50"/>
                          </a:solidFill>
                          <a:latin typeface="Arial"/>
                        </a:rPr>
                        <a:t>Multi-level KPIs: Portfolio → Program → Product → Project (PM Playbook Sl. 138-139). Formulas: Throughput (Sl. 140), Lead Time, Velocity, Scope Creep. Jira dashboards (Sl. 142). Scorecards 2026 targets (</a:t>
                      </a:r>
                      <a:r>
                        <a:rPr sz="900" dirty="0" err="1">
                          <a:solidFill>
                            <a:srgbClr val="2C3E50"/>
                          </a:solidFill>
                          <a:latin typeface="Arial"/>
                        </a:rPr>
                        <a:t>nWOW</a:t>
                      </a:r>
                      <a:r>
                        <a:rPr sz="900" dirty="0">
                          <a:solidFill>
                            <a:srgbClr val="2C3E50"/>
                          </a:solidFill>
                          <a:latin typeface="Arial"/>
                        </a:rPr>
                        <a:t> Sl. 97; PM Playbook Sl. 145). When to use each KPI (</a:t>
                      </a:r>
                      <a:r>
                        <a:rPr sz="900" dirty="0" err="1">
                          <a:solidFill>
                            <a:srgbClr val="2C3E50"/>
                          </a:solidFill>
                          <a:latin typeface="Arial"/>
                        </a:rPr>
                        <a:t>nWOW</a:t>
                      </a:r>
                      <a:r>
                        <a:rPr sz="900" dirty="0">
                          <a:solidFill>
                            <a:srgbClr val="2C3E50"/>
                          </a:solidFill>
                          <a:latin typeface="Arial"/>
                        </a:rPr>
                        <a:t> Sl. 83).</a:t>
                      </a:r>
                    </a:p>
                    <a:p>
                      <a:pPr>
                        <a:spcBef>
                          <a:spcPts val="200"/>
                        </a:spcBef>
                      </a:pPr>
                      <a:r>
                        <a:rPr sz="800" dirty="0">
                          <a:solidFill>
                            <a:srgbClr val="7F8C8D"/>
                          </a:solidFill>
                          <a:latin typeface="Arial"/>
                        </a:rPr>
                        <a:t>→ </a:t>
                      </a:r>
                      <a:r>
                        <a:rPr sz="800" u="sng" dirty="0">
                          <a:solidFill>
                            <a:srgbClr val="0072BC"/>
                          </a:solidFill>
                          <a:latin typeface="Arial"/>
                          <a:hlinkClick r:id="rId4"/>
                        </a:rPr>
                        <a:t>[00] Project Management Playbook - P&amp;S Ways of Working 10.28.25 v.1.0-2.pptx</a:t>
                      </a:r>
                      <a:r>
                        <a:rPr sz="800" b="1" dirty="0">
                          <a:solidFill>
                            <a:srgbClr val="2C3E50"/>
                          </a:solidFill>
                          <a:latin typeface="Arial"/>
                        </a:rPr>
                        <a:t>  |  Sl. 137, 138, 140, 144, 145</a:t>
                      </a:r>
                    </a:p>
                    <a:p>
                      <a:pPr>
                        <a:spcBef>
                          <a:spcPts val="200"/>
                        </a:spcBef>
                      </a:pPr>
                      <a:r>
                        <a:rPr sz="800" dirty="0">
                          <a:solidFill>
                            <a:srgbClr val="7F8C8D"/>
                          </a:solidFill>
                          <a:latin typeface="Arial"/>
                        </a:rPr>
                        <a:t>→ </a:t>
                      </a:r>
                      <a:r>
                        <a:rPr sz="800" u="sng" dirty="0">
                          <a:solidFill>
                            <a:srgbClr val="0072BC"/>
                          </a:solidFill>
                          <a:latin typeface="Arial"/>
                          <a:hlinkClick r:id="rId9"/>
                        </a:rPr>
                        <a:t>nWOW - New Ways of Working - P&amp;S Lean Operating Model 03.10.2026 v1.2.pptx</a:t>
                      </a:r>
                      <a:r>
                        <a:rPr sz="800" b="1" dirty="0">
                          <a:solidFill>
                            <a:srgbClr val="2C3E50"/>
                          </a:solidFill>
                          <a:latin typeface="Arial"/>
                        </a:rPr>
                        <a:t>  |  Sl. 83, 90, 93, 96, 97</a:t>
                      </a:r>
                    </a:p>
                    <a:p>
                      <a:pPr algn="l">
                        <a:spcBef>
                          <a:spcPts val="100"/>
                        </a:spcBef>
                        <a:spcAft>
                          <a:spcPts val="100"/>
                        </a:spcAft>
                      </a:pPr>
                      <a:r>
                        <a:rPr sz="500" i="1">
                          <a:solidFill>
                            <a:srgbClr val="00A443"/>
                          </a:solidFill>
                          <a:latin typeface="Arial"/>
                        </a:rPr>
                        <a:t>[Context: Sl. 83 shows the KPI usage matrix: which metric to use at which governance level]</a:t>
                      </a:r>
                    </a:p>
                  </a:txBody>
                  <a:tcPr>
                    <a:solidFill>
                      <a:srgbClr val="F5F5F5"/>
                    </a:solidFill>
                  </a:tcPr>
                </a:tc>
                <a:tc>
                  <a:txBody>
                    <a:bodyPr/>
                    <a:lstStyle/>
                    <a:p>
                      <a:r>
                        <a:rPr sz="900">
                          <a:solidFill>
                            <a:srgbClr val="2C3E50"/>
                          </a:solidFill>
                          <a:latin typeface="Arial"/>
                        </a:rPr>
                        <a:t>Portfolio Metrics (CoE Playbook Sl. 89, 93): ILt, Lean Radar, Innovation Horizon, Strategic Theme, RpI, VbM. Team-of-Teams capacity (CoE Playbook Sl. 98). Sprint Report Canvas (Agility Playbook Sl. 88-89). More strategic.</a:t>
                      </a:r>
                    </a:p>
                    <a:p>
                      <a:pPr>
                        <a:spcBef>
                          <a:spcPts val="200"/>
                        </a:spcBef>
                      </a:pPr>
                      <a:r>
                        <a:rPr sz="800">
                          <a:solidFill>
                            <a:srgbClr val="7F8C8D"/>
                          </a:solidFill>
                          <a:latin typeface="Arial"/>
                        </a:rPr>
                        <a:t>→ </a:t>
                      </a:r>
                      <a:r>
                        <a:rPr sz="800" u="sng">
                          <a:solidFill>
                            <a:srgbClr val="0072BC"/>
                          </a:solidFill>
                          <a:latin typeface="Arial"/>
                          <a:hlinkClick r:id="rId6"/>
                        </a:rPr>
                        <a:t>[12] Digital CoE Operating Model - Playbook - 01.05.2026 V.2.5. FINAL pptx.pptx</a:t>
                      </a:r>
                      <a:r>
                        <a:rPr sz="800" b="1">
                          <a:solidFill>
                            <a:srgbClr val="2C3E50"/>
                          </a:solidFill>
                          <a:latin typeface="Arial"/>
                        </a:rPr>
                        <a:t>  |  Sl. 26, 27, 73, 91, 93, 107</a:t>
                      </a:r>
                    </a:p>
                    <a:p>
                      <a:pPr>
                        <a:spcBef>
                          <a:spcPts val="200"/>
                        </a:spcBef>
                      </a:pPr>
                      <a:r>
                        <a:rPr sz="800">
                          <a:solidFill>
                            <a:srgbClr val="7F8C8D"/>
                          </a:solidFill>
                          <a:latin typeface="Arial"/>
                        </a:rPr>
                        <a:t>→ </a:t>
                      </a:r>
                      <a:r>
                        <a:rPr sz="800" u="sng">
                          <a:solidFill>
                            <a:srgbClr val="0072BC"/>
                          </a:solidFill>
                          <a:latin typeface="Arial"/>
                          <a:hlinkClick r:id="rId5"/>
                        </a:rPr>
                        <a:t>[17] Agility Playbook - Digital Center of Excellence 06.18.2025 V.1.7.pptx</a:t>
                      </a:r>
                      <a:r>
                        <a:rPr sz="800" b="1">
                          <a:solidFill>
                            <a:srgbClr val="2C3E50"/>
                          </a:solidFill>
                          <a:latin typeface="Arial"/>
                        </a:rPr>
                        <a:t>  |  Sl. 87, 88, 89</a:t>
                      </a:r>
                    </a:p>
                  </a:txBody>
                  <a:tcPr>
                    <a:solidFill>
                      <a:srgbClr val="F5F5F5"/>
                    </a:solidFill>
                  </a:tcPr>
                </a:tc>
                <a:tc>
                  <a:txBody>
                    <a:bodyPr/>
                    <a:lstStyle/>
                    <a:p>
                      <a:pPr algn="l">
                        <a:spcBef>
                          <a:spcPts val="0"/>
                        </a:spcBef>
                        <a:spcAft>
                          <a:spcPts val="100"/>
                        </a:spcAft>
                      </a:pPr>
                      <a:r>
                        <a:rPr sz="600">
                          <a:solidFill>
                            <a:srgbClr val="4A4A4A"/>
                          </a:solidFill>
                          <a:latin typeface="Arial"/>
                        </a:rPr>
                        <a:t>Flow metrics at team level: Lead Time, Cycle Time, Throughput tracked via Sapiens Learning Cycles (Sl. 43). Team Health Radars (Sl. 24) for qualitative assessment. Expansion readiness criteria (Sl. 44-45).</a:t>
                      </a:r>
                    </a:p>
                    <a:p>
                      <a:pPr algn="l">
                        <a:spcBef>
                          <a:spcPts val="0"/>
                        </a:spcBef>
                        <a:spcAft>
                          <a:spcPts val="100"/>
                        </a:spcAft>
                      </a:pPr>
                      <a:r>
                        <a:rPr sz="600" i="1">
                          <a:solidFill>
                            <a:srgbClr val="00A443"/>
                          </a:solidFill>
                          <a:latin typeface="Arial"/>
                        </a:rPr>
                        <a:t>[Context: Sl. 43 shows iterative learning cycles with measurement gates between Pilot and Expansion]</a:t>
                      </a:r>
                    </a:p>
                    <a:p>
                      <a:pPr algn="l">
                        <a:spcBef>
                          <a:spcPts val="0"/>
                        </a:spcBef>
                        <a:spcAft>
                          <a:spcPts val="100"/>
                        </a:spcAft>
                      </a:pPr>
                      <a:r>
                        <a:rPr sz="600">
                          <a:solidFill>
                            <a:srgbClr val="0070C0"/>
                          </a:solidFill>
                          <a:latin typeface="Arial"/>
                        </a:rPr>
                        <a:t>→ Agile Management Model _ Proposal Avangrid Architecture V.3.1 18.01.2024 3.pptx | Sl. 24, 39, 43, 44, 45</a:t>
                      </a:r>
                    </a:p>
                  </a:txBody>
                  <a:tcPr>
                    <a:solidFill>
                      <a:srgbClr val="F5F5F5"/>
                    </a:solidFill>
                  </a:tcPr>
                </a:tc>
                <a:tc>
                  <a:txBody>
                    <a:bodyPr/>
                    <a:lstStyle/>
                    <a:p>
                      <a:r>
                        <a:rPr sz="900">
                          <a:solidFill>
                            <a:srgbClr val="2C3E50"/>
                          </a:solidFill>
                          <a:latin typeface="Arial"/>
                        </a:rPr>
                        <a:t>Flow Metrics: Lead Time, Cycle Time, Throughput, Aging — Jira dashboard (DTO Sl. 49). Blocker Tracker (DTO Sl. 47). Kaizen measuring efficiency (DTO Sl. 51). Execution-focused, not portfolio-strategic.</a:t>
                      </a:r>
                    </a:p>
                    <a:p>
                      <a:pPr>
                        <a:spcBef>
                          <a:spcPts val="200"/>
                        </a:spcBef>
                      </a:pPr>
                      <a:r>
                        <a:rPr sz="800">
                          <a:solidFill>
                            <a:srgbClr val="7F8C8D"/>
                          </a:solidFill>
                          <a:latin typeface="Arial"/>
                        </a:rPr>
                        <a:t>→ </a:t>
                      </a:r>
                      <a:r>
                        <a:rPr sz="800" u="sng">
                          <a:solidFill>
                            <a:srgbClr val="0072BC"/>
                          </a:solidFill>
                          <a:latin typeface="Arial"/>
                          <a:hlinkClick r:id="rId8"/>
                        </a:rPr>
                        <a:t>NextGen_DTO_Deliverable1 - Final.pptx</a:t>
                      </a:r>
                      <a:r>
                        <a:rPr sz="800" b="1">
                          <a:solidFill>
                            <a:srgbClr val="2C3E50"/>
                          </a:solidFill>
                          <a:latin typeface="Arial"/>
                        </a:rPr>
                        <a:t>  |  Sl. 5, 40, 47, 49, 51</a:t>
                      </a:r>
                    </a:p>
                    <a:p>
                      <a:pPr algn="l">
                        <a:spcBef>
                          <a:spcPts val="100"/>
                        </a:spcBef>
                        <a:spcAft>
                          <a:spcPts val="100"/>
                        </a:spcAft>
                      </a:pPr>
                      <a:r>
                        <a:rPr sz="500" i="1">
                          <a:solidFill>
                            <a:srgbClr val="00A443"/>
                          </a:solidFill>
                          <a:latin typeface="Arial"/>
                        </a:rPr>
                        <a:t>[Context: Sl. 49 shows the Flow Metrics Dashboard: Lead Time, Cycle Time, Throughput, and Aging charts]</a:t>
                      </a:r>
                    </a:p>
                  </a:txBody>
                  <a:tcPr>
                    <a:solidFill>
                      <a:srgbClr val="F5F5F5"/>
                    </a:solidFill>
                  </a:tcPr>
                </a:tc>
                <a:tc>
                  <a:txBody>
                    <a:bodyPr/>
                    <a:lstStyle/>
                    <a:p>
                      <a:pPr algn="l">
                        <a:defRPr sz="650">
                          <a:solidFill>
                            <a:srgbClr val="2C3E50"/>
                          </a:solidFill>
                          <a:latin typeface="Arial"/>
                        </a:defRPr>
                      </a:pPr>
                      <a:r>
                        <a:rPr sz="700" b="1">
                          <a:solidFill>
                            <a:srgbClr val="2D5F8A"/>
                          </a:solidFill>
                          <a:latin typeface="Arial"/>
                        </a:rPr>
                        <a:t>[ADAPT] ⭐ P&amp;S + DTO</a:t>
                      </a:r>
                      <a:endParaRPr sz="900" dirty="0"/>
                    </a:p>
                    <a:p>
                      <a:pPr algn="l">
                        <a:spcBef>
                          <a:spcPts val="100"/>
                        </a:spcBef>
                        <a:spcAft>
                          <a:spcPts val="0"/>
                        </a:spcAft>
                      </a:pPr>
                      <a:r>
                        <a:rPr sz="600">
                          <a:solidFill>
                            <a:srgbClr val="4A4A4A"/>
                          </a:solidFill>
                          <a:latin typeface="Arial"/>
                        </a:rPr>
                        <a:t>ADOPT P&amp;S multi-level KPIs (Portfolio → Program → Product → Project).</a:t>
                      </a:r>
                    </a:p>
                    <a:p>
                      <a:pPr algn="l">
                        <a:spcBef>
                          <a:spcPts val="100"/>
                        </a:spcBef>
                        <a:spcAft>
                          <a:spcPts val="0"/>
                        </a:spcAft>
                      </a:pPr>
                      <a:r>
                        <a:rPr sz="600">
                          <a:solidFill>
                            <a:srgbClr val="4A4A4A"/>
                          </a:solidFill>
                          <a:latin typeface="Arial"/>
                        </a:rPr>
                        <a:t>ADD DTO Flow Metrics (Lead Time, Cycle Time, Throughput, Aging).</a:t>
                      </a:r>
                    </a:p>
                    <a:p>
                      <a:pPr algn="l">
                        <a:spcBef>
                          <a:spcPts val="100"/>
                        </a:spcBef>
                        <a:spcAft>
                          <a:spcPts val="0"/>
                        </a:spcAft>
                      </a:pPr>
                      <a:r>
                        <a:rPr sz="600">
                          <a:solidFill>
                            <a:srgbClr val="4A4A4A"/>
                          </a:solidFill>
                          <a:latin typeface="Arial"/>
                        </a:rPr>
                        <a:t>ADD CoE strategic metrics (ILt, RpI, VbM).</a:t>
                      </a:r>
                    </a:p>
                    <a:p>
                      <a:pPr algn="l">
                        <a:spcBef>
                          <a:spcPts val="100"/>
                        </a:spcBef>
                        <a:spcAft>
                          <a:spcPts val="0"/>
                        </a:spcAft>
                      </a:pPr>
                      <a:r>
                        <a:rPr sz="600">
                          <a:solidFill>
                            <a:srgbClr val="4A4A4A"/>
                          </a:solidFill>
                          <a:latin typeface="Arial"/>
                        </a:rPr>
                        <a:t>ADD SAP-specific: Integration Lead Time, API Adoption.</a:t>
                      </a:r>
                    </a:p>
                  </a:txBody>
                  <a:tcPr>
                    <a:solidFill>
                      <a:srgbClr val="C8E6C9"/>
                    </a:solidFill>
                  </a:tcPr>
                </a:tc>
                <a:extLst>
                  <a:ext uri="{0D108BD9-81ED-4DB2-BD59-A6C34878D82A}">
                    <a16:rowId xmlns:a16="http://schemas.microsoft.com/office/drawing/2014/main" val="10002"/>
                  </a:ext>
                </a:extLst>
              </a:tr>
            </a:tbl>
          </a:graphicData>
        </a:graphic>
      </p:graphicFrame>
      <p:sp>
        <p:nvSpPr>
          <p:cNvPr id="2" name="Rectangle 1">
            <a:extLst>
              <a:ext uri="{FF2B5EF4-FFF2-40B4-BE49-F238E27FC236}">
                <a16:creationId xmlns:a16="http://schemas.microsoft.com/office/drawing/2014/main" id="{AF3B3289-394B-E908-8706-A690E517CA28}"/>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extLst>
      <p:ext uri="{BB962C8B-B14F-4D97-AF65-F5344CB8AC3E}">
        <p14:creationId xmlns:p14="http://schemas.microsoft.com/office/powerpoint/2010/main" val="2396874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7378" y="228600"/>
            <a:ext cx="10058400" cy="640080"/>
          </a:xfrm>
          <a:prstGeom prst="rect">
            <a:avLst/>
          </a:prstGeom>
          <a:noFill/>
        </p:spPr>
        <p:txBody>
          <a:bodyPr wrap="square">
            <a:spAutoFit/>
          </a:bodyPr>
          <a:lstStyle/>
          <a:p>
            <a:pPr>
              <a:defRPr sz="1600" b="1">
                <a:solidFill>
                  <a:srgbClr val="002060"/>
                </a:solidFill>
                <a:latin typeface="Arial"/>
              </a:defRPr>
            </a:pPr>
            <a:r>
              <a:t>P&amp;S / P&amp;T — Flight Level Kanban Governance</a:t>
            </a:r>
          </a:p>
          <a:p>
            <a:pPr>
              <a:defRPr sz="900">
                <a:solidFill>
                  <a:srgbClr val="7F8C8D"/>
                </a:solidFill>
                <a:latin typeface="Arial"/>
              </a:defRPr>
            </a:pPr>
            <a:r>
              <a:t>3-tier governance model with Portfolio → Program → Project Kanban boards. 4-phase E2E lifecycle: Discovery → Materialization → Creation → Ongoing.</a:t>
            </a:r>
          </a:p>
        </p:txBody>
      </p:sp>
      <p:sp>
        <p:nvSpPr>
          <p:cNvPr id="7" name="Rectangle 6"/>
          <p:cNvSpPr/>
          <p:nvPr/>
        </p:nvSpPr>
        <p:spPr>
          <a:xfrm>
            <a:off x="457200" y="870704"/>
            <a:ext cx="11247120" cy="1325880"/>
          </a:xfrm>
          <a:prstGeom prst="rect">
            <a:avLst/>
          </a:prstGeom>
          <a:solidFill>
            <a:srgbClr val="F5F5F5"/>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ectangle 7"/>
          <p:cNvSpPr/>
          <p:nvPr/>
        </p:nvSpPr>
        <p:spPr>
          <a:xfrm>
            <a:off x="457200" y="870704"/>
            <a:ext cx="112471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Flight Level 3 — Portfolio</a:t>
            </a:r>
          </a:p>
        </p:txBody>
      </p:sp>
      <p:sp>
        <p:nvSpPr>
          <p:cNvPr id="9" name="TextBox 8"/>
          <p:cNvSpPr txBox="1"/>
          <p:nvPr/>
        </p:nvSpPr>
        <p:spPr>
          <a:xfrm>
            <a:off x="566928" y="1236464"/>
            <a:ext cx="11027664" cy="230832"/>
          </a:xfrm>
          <a:prstGeom prst="rect">
            <a:avLst/>
          </a:prstGeom>
          <a:noFill/>
        </p:spPr>
        <p:txBody>
          <a:bodyPr wrap="square">
            <a:spAutoFit/>
          </a:bodyPr>
          <a:lstStyle/>
          <a:p>
            <a:pPr>
              <a:defRPr sz="700">
                <a:solidFill>
                  <a:srgbClr val="2C3E50"/>
                </a:solidFill>
                <a:latin typeface="Arial"/>
              </a:defRPr>
            </a:pPr>
            <a:r>
              <a:rPr sz="900"/>
              <a:t>Strategic direction. Portfolio Manager prioritizes EPICs by business value and OKR alignment. Demand enters via Shark Tank and Portfolio Committee.</a:t>
            </a:r>
          </a:p>
        </p:txBody>
      </p:sp>
      <p:sp>
        <p:nvSpPr>
          <p:cNvPr id="10" name="Rectangle 9"/>
          <p:cNvSpPr/>
          <p:nvPr/>
        </p:nvSpPr>
        <p:spPr>
          <a:xfrm>
            <a:off x="640080" y="1602224"/>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2060"/>
                </a:solidFill>
                <a:latin typeface="Arial"/>
              </a:defRPr>
            </a:pPr>
            <a:r>
              <a:rPr sz="900"/>
              <a:t>Portfolio Backlog</a:t>
            </a:r>
          </a:p>
        </p:txBody>
      </p:sp>
      <p:sp>
        <p:nvSpPr>
          <p:cNvPr id="11" name="TextBox 10"/>
          <p:cNvSpPr txBox="1"/>
          <p:nvPr/>
        </p:nvSpPr>
        <p:spPr>
          <a:xfrm>
            <a:off x="2616911" y="1608579"/>
            <a:ext cx="325731" cy="261610"/>
          </a:xfrm>
          <a:prstGeom prst="rect">
            <a:avLst/>
          </a:prstGeom>
          <a:noFill/>
        </p:spPr>
        <p:txBody>
          <a:bodyPr wrap="none" anchor="ctr">
            <a:spAutoFit/>
          </a:bodyPr>
          <a:lstStyle/>
          <a:p>
            <a:pPr algn="ctr">
              <a:defRPr sz="1000">
                <a:solidFill>
                  <a:srgbClr val="002060"/>
                </a:solidFill>
                <a:latin typeface="Arial"/>
              </a:defRPr>
            </a:pPr>
            <a:r>
              <a:rPr sz="1100"/>
              <a:t>→</a:t>
            </a:r>
          </a:p>
        </p:txBody>
      </p:sp>
      <p:sp>
        <p:nvSpPr>
          <p:cNvPr id="12" name="Rectangle 11"/>
          <p:cNvSpPr/>
          <p:nvPr/>
        </p:nvSpPr>
        <p:spPr>
          <a:xfrm>
            <a:off x="2843784" y="1602224"/>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2060"/>
                </a:solidFill>
                <a:latin typeface="Arial"/>
              </a:defRPr>
            </a:pPr>
            <a:r>
              <a:rPr sz="900"/>
              <a:t>Discovery</a:t>
            </a:r>
          </a:p>
        </p:txBody>
      </p:sp>
      <p:sp>
        <p:nvSpPr>
          <p:cNvPr id="13" name="TextBox 12"/>
          <p:cNvSpPr txBox="1"/>
          <p:nvPr/>
        </p:nvSpPr>
        <p:spPr>
          <a:xfrm>
            <a:off x="4820615" y="1608579"/>
            <a:ext cx="325731" cy="261610"/>
          </a:xfrm>
          <a:prstGeom prst="rect">
            <a:avLst/>
          </a:prstGeom>
          <a:noFill/>
        </p:spPr>
        <p:txBody>
          <a:bodyPr wrap="none" anchor="ctr">
            <a:spAutoFit/>
          </a:bodyPr>
          <a:lstStyle/>
          <a:p>
            <a:pPr algn="ctr">
              <a:defRPr sz="1000">
                <a:solidFill>
                  <a:srgbClr val="002060"/>
                </a:solidFill>
                <a:latin typeface="Arial"/>
              </a:defRPr>
            </a:pPr>
            <a:r>
              <a:rPr sz="1100"/>
              <a:t>→</a:t>
            </a:r>
          </a:p>
        </p:txBody>
      </p:sp>
      <p:sp>
        <p:nvSpPr>
          <p:cNvPr id="14" name="Rectangle 13"/>
          <p:cNvSpPr/>
          <p:nvPr/>
        </p:nvSpPr>
        <p:spPr>
          <a:xfrm>
            <a:off x="5047488" y="1602224"/>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2060"/>
                </a:solidFill>
                <a:latin typeface="Arial"/>
              </a:defRPr>
            </a:pPr>
            <a:r>
              <a:rPr sz="900"/>
              <a:t>Ideation</a:t>
            </a:r>
          </a:p>
        </p:txBody>
      </p:sp>
      <p:sp>
        <p:nvSpPr>
          <p:cNvPr id="15" name="TextBox 14"/>
          <p:cNvSpPr txBox="1"/>
          <p:nvPr/>
        </p:nvSpPr>
        <p:spPr>
          <a:xfrm>
            <a:off x="7024319" y="1608579"/>
            <a:ext cx="325731" cy="261610"/>
          </a:xfrm>
          <a:prstGeom prst="rect">
            <a:avLst/>
          </a:prstGeom>
          <a:noFill/>
        </p:spPr>
        <p:txBody>
          <a:bodyPr wrap="none" anchor="ctr">
            <a:spAutoFit/>
          </a:bodyPr>
          <a:lstStyle/>
          <a:p>
            <a:pPr algn="ctr">
              <a:defRPr sz="1000">
                <a:solidFill>
                  <a:srgbClr val="002060"/>
                </a:solidFill>
                <a:latin typeface="Arial"/>
              </a:defRPr>
            </a:pPr>
            <a:r>
              <a:rPr sz="1100"/>
              <a:t>→</a:t>
            </a:r>
          </a:p>
        </p:txBody>
      </p:sp>
      <p:sp>
        <p:nvSpPr>
          <p:cNvPr id="16" name="Rectangle 15"/>
          <p:cNvSpPr/>
          <p:nvPr/>
        </p:nvSpPr>
        <p:spPr>
          <a:xfrm>
            <a:off x="7251192" y="1602224"/>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2060"/>
                </a:solidFill>
                <a:latin typeface="Arial"/>
              </a:defRPr>
            </a:pPr>
            <a:r>
              <a:rPr sz="900"/>
              <a:t>Solutioning</a:t>
            </a:r>
          </a:p>
        </p:txBody>
      </p:sp>
      <p:sp>
        <p:nvSpPr>
          <p:cNvPr id="17" name="TextBox 16"/>
          <p:cNvSpPr txBox="1"/>
          <p:nvPr/>
        </p:nvSpPr>
        <p:spPr>
          <a:xfrm>
            <a:off x="9228023" y="1608579"/>
            <a:ext cx="325731" cy="261610"/>
          </a:xfrm>
          <a:prstGeom prst="rect">
            <a:avLst/>
          </a:prstGeom>
          <a:noFill/>
        </p:spPr>
        <p:txBody>
          <a:bodyPr wrap="none" anchor="ctr">
            <a:spAutoFit/>
          </a:bodyPr>
          <a:lstStyle/>
          <a:p>
            <a:pPr algn="ctr">
              <a:defRPr sz="1000">
                <a:solidFill>
                  <a:srgbClr val="002060"/>
                </a:solidFill>
                <a:latin typeface="Arial"/>
              </a:defRPr>
            </a:pPr>
            <a:r>
              <a:rPr sz="1100"/>
              <a:t>→</a:t>
            </a:r>
          </a:p>
        </p:txBody>
      </p:sp>
      <p:sp>
        <p:nvSpPr>
          <p:cNvPr id="18" name="Rectangle 17"/>
          <p:cNvSpPr/>
          <p:nvPr/>
        </p:nvSpPr>
        <p:spPr>
          <a:xfrm>
            <a:off x="9454896" y="1602224"/>
            <a:ext cx="2066544" cy="274320"/>
          </a:xfrm>
          <a:prstGeom prst="rect">
            <a:avLst/>
          </a:prstGeom>
          <a:solidFill>
            <a:srgbClr val="D8DDE7"/>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2060"/>
                </a:solidFill>
                <a:latin typeface="Arial"/>
              </a:defRPr>
            </a:pPr>
            <a:r>
              <a:rPr sz="900"/>
              <a:t>Done</a:t>
            </a:r>
          </a:p>
        </p:txBody>
      </p:sp>
      <p:sp>
        <p:nvSpPr>
          <p:cNvPr id="19" name="TextBox 18"/>
          <p:cNvSpPr txBox="1"/>
          <p:nvPr/>
        </p:nvSpPr>
        <p:spPr>
          <a:xfrm>
            <a:off x="582168" y="1986272"/>
            <a:ext cx="11027664" cy="230832"/>
          </a:xfrm>
          <a:prstGeom prst="rect">
            <a:avLst/>
          </a:prstGeom>
          <a:noFill/>
        </p:spPr>
        <p:txBody>
          <a:bodyPr wrap="square">
            <a:spAutoFit/>
          </a:bodyPr>
          <a:lstStyle/>
          <a:p>
            <a:r>
              <a:rPr sz="900" b="1" err="1">
                <a:solidFill>
                  <a:srgbClr val="7F8C8D"/>
                </a:solidFill>
                <a:latin typeface="Arial"/>
              </a:rPr>
              <a:t>Swimlanes</a:t>
            </a:r>
            <a:r>
              <a:rPr sz="900" b="1">
                <a:solidFill>
                  <a:srgbClr val="7F8C8D"/>
                </a:solidFill>
                <a:latin typeface="Arial"/>
              </a:rPr>
              <a:t>: </a:t>
            </a:r>
            <a:r>
              <a:rPr sz="900">
                <a:solidFill>
                  <a:srgbClr val="2C3E50"/>
                </a:solidFill>
                <a:latin typeface="Arial"/>
              </a:rPr>
              <a:t>High Risks &amp; Blockers · High Value · Regulatory · OKR's &amp; Strategic Goals</a:t>
            </a:r>
          </a:p>
        </p:txBody>
      </p:sp>
      <p:sp>
        <p:nvSpPr>
          <p:cNvPr id="20" name="TextBox 19"/>
          <p:cNvSpPr txBox="1"/>
          <p:nvPr/>
        </p:nvSpPr>
        <p:spPr>
          <a:xfrm>
            <a:off x="5142115" y="1978575"/>
            <a:ext cx="11027664" cy="230832"/>
          </a:xfrm>
          <a:prstGeom prst="rect">
            <a:avLst/>
          </a:prstGeom>
          <a:noFill/>
        </p:spPr>
        <p:txBody>
          <a:bodyPr wrap="square">
            <a:spAutoFit/>
          </a:bodyPr>
          <a:lstStyle/>
          <a:p>
            <a:r>
              <a:rPr lang="pt-BR" sz="900" b="1" err="1">
                <a:solidFill>
                  <a:srgbClr val="EAB308"/>
                </a:solidFill>
                <a:latin typeface="Arial"/>
              </a:rPr>
              <a:t>Forums</a:t>
            </a:r>
            <a:r>
              <a:rPr lang="pt-BR" sz="900" b="1">
                <a:solidFill>
                  <a:srgbClr val="EAB308"/>
                </a:solidFill>
                <a:latin typeface="Arial"/>
              </a:rPr>
              <a:t>: </a:t>
            </a:r>
            <a:r>
              <a:rPr lang="pt-BR" sz="900">
                <a:solidFill>
                  <a:srgbClr val="2C3E50"/>
                </a:solidFill>
                <a:latin typeface="Arial"/>
              </a:rPr>
              <a:t>Big Room Planning (</a:t>
            </a:r>
            <a:r>
              <a:rPr lang="pt-BR" sz="900" err="1">
                <a:solidFill>
                  <a:srgbClr val="2C3E50"/>
                </a:solidFill>
                <a:latin typeface="Arial"/>
              </a:rPr>
              <a:t>quarterly</a:t>
            </a:r>
            <a:r>
              <a:rPr lang="pt-BR" sz="900">
                <a:solidFill>
                  <a:srgbClr val="2C3E50"/>
                </a:solidFill>
                <a:latin typeface="Arial"/>
              </a:rPr>
              <a:t>) · Portfolio </a:t>
            </a:r>
            <a:r>
              <a:rPr lang="pt-BR" sz="900" err="1">
                <a:solidFill>
                  <a:srgbClr val="2C3E50"/>
                </a:solidFill>
                <a:latin typeface="Arial"/>
              </a:rPr>
              <a:t>Committee</a:t>
            </a:r>
            <a:r>
              <a:rPr lang="pt-BR" sz="900">
                <a:solidFill>
                  <a:srgbClr val="2C3E50"/>
                </a:solidFill>
                <a:latin typeface="Arial"/>
              </a:rPr>
              <a:t> (</a:t>
            </a:r>
            <a:r>
              <a:rPr lang="pt-BR" sz="900" err="1">
                <a:solidFill>
                  <a:srgbClr val="2C3E50"/>
                </a:solidFill>
                <a:latin typeface="Arial"/>
              </a:rPr>
              <a:t>monthly</a:t>
            </a:r>
            <a:r>
              <a:rPr lang="pt-BR" sz="900">
                <a:solidFill>
                  <a:srgbClr val="2C3E50"/>
                </a:solidFill>
                <a:latin typeface="Arial"/>
              </a:rPr>
              <a:t>)</a:t>
            </a:r>
          </a:p>
        </p:txBody>
      </p:sp>
      <p:sp>
        <p:nvSpPr>
          <p:cNvPr id="21" name="Rectangle 20"/>
          <p:cNvSpPr/>
          <p:nvPr/>
        </p:nvSpPr>
        <p:spPr>
          <a:xfrm>
            <a:off x="457200" y="2288024"/>
            <a:ext cx="11247120" cy="1325880"/>
          </a:xfrm>
          <a:prstGeom prst="rect">
            <a:avLst/>
          </a:prstGeom>
          <a:solidFill>
            <a:srgbClr val="F5F5F5"/>
          </a:solidFill>
          <a:ln w="12700">
            <a:solidFill>
              <a:srgbClr val="005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Rectangle 21"/>
          <p:cNvSpPr/>
          <p:nvPr/>
        </p:nvSpPr>
        <p:spPr>
          <a:xfrm>
            <a:off x="457200" y="2288024"/>
            <a:ext cx="11247120" cy="32004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Flight Level 2 — Program</a:t>
            </a:r>
          </a:p>
        </p:txBody>
      </p:sp>
      <p:sp>
        <p:nvSpPr>
          <p:cNvPr id="23" name="TextBox 22"/>
          <p:cNvSpPr txBox="1"/>
          <p:nvPr/>
        </p:nvSpPr>
        <p:spPr>
          <a:xfrm>
            <a:off x="566928" y="2653784"/>
            <a:ext cx="11027664" cy="230832"/>
          </a:xfrm>
          <a:prstGeom prst="rect">
            <a:avLst/>
          </a:prstGeom>
          <a:noFill/>
        </p:spPr>
        <p:txBody>
          <a:bodyPr wrap="square">
            <a:spAutoFit/>
          </a:bodyPr>
          <a:lstStyle/>
          <a:p>
            <a:pPr>
              <a:defRPr sz="700">
                <a:solidFill>
                  <a:srgbClr val="2C3E50"/>
                </a:solidFill>
                <a:latin typeface="Arial"/>
              </a:defRPr>
            </a:pPr>
            <a:r>
              <a:rPr sz="900"/>
              <a:t>Tactical coordination. Programs break EPICs into features and plan releases. Epics and Solutions in flight.</a:t>
            </a:r>
          </a:p>
        </p:txBody>
      </p:sp>
      <p:sp>
        <p:nvSpPr>
          <p:cNvPr id="24" name="Rectangle 23"/>
          <p:cNvSpPr/>
          <p:nvPr/>
        </p:nvSpPr>
        <p:spPr>
          <a:xfrm>
            <a:off x="640080" y="3019544"/>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50A0"/>
                </a:solidFill>
                <a:latin typeface="Arial"/>
              </a:defRPr>
            </a:pPr>
            <a:r>
              <a:rPr sz="900"/>
              <a:t>Program Backlog</a:t>
            </a:r>
          </a:p>
        </p:txBody>
      </p:sp>
      <p:sp>
        <p:nvSpPr>
          <p:cNvPr id="25" name="TextBox 24"/>
          <p:cNvSpPr txBox="1"/>
          <p:nvPr/>
        </p:nvSpPr>
        <p:spPr>
          <a:xfrm>
            <a:off x="2616911" y="3025899"/>
            <a:ext cx="325731" cy="261610"/>
          </a:xfrm>
          <a:prstGeom prst="rect">
            <a:avLst/>
          </a:prstGeom>
          <a:noFill/>
        </p:spPr>
        <p:txBody>
          <a:bodyPr wrap="none" anchor="ctr">
            <a:spAutoFit/>
          </a:bodyPr>
          <a:lstStyle/>
          <a:p>
            <a:pPr algn="ctr">
              <a:defRPr sz="1000">
                <a:solidFill>
                  <a:srgbClr val="0050A0"/>
                </a:solidFill>
                <a:latin typeface="Arial"/>
              </a:defRPr>
            </a:pPr>
            <a:r>
              <a:rPr sz="1100"/>
              <a:t>→</a:t>
            </a:r>
          </a:p>
        </p:txBody>
      </p:sp>
      <p:sp>
        <p:nvSpPr>
          <p:cNvPr id="26" name="Rectangle 25"/>
          <p:cNvSpPr/>
          <p:nvPr/>
        </p:nvSpPr>
        <p:spPr>
          <a:xfrm>
            <a:off x="2843784" y="3019544"/>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50A0"/>
                </a:solidFill>
                <a:latin typeface="Arial"/>
              </a:defRPr>
            </a:pPr>
            <a:r>
              <a:rPr sz="900"/>
              <a:t>Work In Progress</a:t>
            </a:r>
          </a:p>
        </p:txBody>
      </p:sp>
      <p:sp>
        <p:nvSpPr>
          <p:cNvPr id="27" name="TextBox 26"/>
          <p:cNvSpPr txBox="1"/>
          <p:nvPr/>
        </p:nvSpPr>
        <p:spPr>
          <a:xfrm>
            <a:off x="4820615" y="3025899"/>
            <a:ext cx="325731" cy="261610"/>
          </a:xfrm>
          <a:prstGeom prst="rect">
            <a:avLst/>
          </a:prstGeom>
          <a:noFill/>
        </p:spPr>
        <p:txBody>
          <a:bodyPr wrap="none" anchor="ctr">
            <a:spAutoFit/>
          </a:bodyPr>
          <a:lstStyle/>
          <a:p>
            <a:pPr algn="ctr">
              <a:defRPr sz="1000">
                <a:solidFill>
                  <a:srgbClr val="0050A0"/>
                </a:solidFill>
                <a:latin typeface="Arial"/>
              </a:defRPr>
            </a:pPr>
            <a:r>
              <a:rPr sz="1100"/>
              <a:t>→</a:t>
            </a:r>
          </a:p>
        </p:txBody>
      </p:sp>
      <p:sp>
        <p:nvSpPr>
          <p:cNvPr id="28" name="Rectangle 27"/>
          <p:cNvSpPr/>
          <p:nvPr/>
        </p:nvSpPr>
        <p:spPr>
          <a:xfrm>
            <a:off x="5047488" y="3019544"/>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50A0"/>
                </a:solidFill>
                <a:latin typeface="Arial"/>
              </a:defRPr>
            </a:pPr>
            <a:r>
              <a:rPr sz="900"/>
              <a:t>Discovery</a:t>
            </a:r>
          </a:p>
        </p:txBody>
      </p:sp>
      <p:sp>
        <p:nvSpPr>
          <p:cNvPr id="29" name="TextBox 28"/>
          <p:cNvSpPr txBox="1"/>
          <p:nvPr/>
        </p:nvSpPr>
        <p:spPr>
          <a:xfrm>
            <a:off x="7024319" y="3025899"/>
            <a:ext cx="325731" cy="261610"/>
          </a:xfrm>
          <a:prstGeom prst="rect">
            <a:avLst/>
          </a:prstGeom>
          <a:noFill/>
        </p:spPr>
        <p:txBody>
          <a:bodyPr wrap="none" anchor="ctr">
            <a:spAutoFit/>
          </a:bodyPr>
          <a:lstStyle/>
          <a:p>
            <a:pPr algn="ctr">
              <a:defRPr sz="1000">
                <a:solidFill>
                  <a:srgbClr val="0050A0"/>
                </a:solidFill>
                <a:latin typeface="Arial"/>
              </a:defRPr>
            </a:pPr>
            <a:r>
              <a:rPr sz="1100"/>
              <a:t>→</a:t>
            </a:r>
          </a:p>
        </p:txBody>
      </p:sp>
      <p:sp>
        <p:nvSpPr>
          <p:cNvPr id="30" name="Rectangle 29"/>
          <p:cNvSpPr/>
          <p:nvPr/>
        </p:nvSpPr>
        <p:spPr>
          <a:xfrm>
            <a:off x="7251192" y="3019544"/>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50A0"/>
                </a:solidFill>
                <a:latin typeface="Arial"/>
              </a:defRPr>
            </a:pPr>
            <a:r>
              <a:rPr sz="900"/>
              <a:t>Shark Tank</a:t>
            </a:r>
          </a:p>
        </p:txBody>
      </p:sp>
      <p:sp>
        <p:nvSpPr>
          <p:cNvPr id="31" name="TextBox 30"/>
          <p:cNvSpPr txBox="1"/>
          <p:nvPr/>
        </p:nvSpPr>
        <p:spPr>
          <a:xfrm>
            <a:off x="9228023" y="3025899"/>
            <a:ext cx="325731" cy="261610"/>
          </a:xfrm>
          <a:prstGeom prst="rect">
            <a:avLst/>
          </a:prstGeom>
          <a:noFill/>
        </p:spPr>
        <p:txBody>
          <a:bodyPr wrap="none" anchor="ctr">
            <a:spAutoFit/>
          </a:bodyPr>
          <a:lstStyle/>
          <a:p>
            <a:pPr algn="ctr">
              <a:defRPr sz="1000">
                <a:solidFill>
                  <a:srgbClr val="0050A0"/>
                </a:solidFill>
                <a:latin typeface="Arial"/>
              </a:defRPr>
            </a:pPr>
            <a:r>
              <a:rPr sz="1100"/>
              <a:t>→</a:t>
            </a:r>
          </a:p>
        </p:txBody>
      </p:sp>
      <p:sp>
        <p:nvSpPr>
          <p:cNvPr id="32" name="Rectangle 31"/>
          <p:cNvSpPr/>
          <p:nvPr/>
        </p:nvSpPr>
        <p:spPr>
          <a:xfrm>
            <a:off x="9454896" y="3019544"/>
            <a:ext cx="2066544" cy="274320"/>
          </a:xfrm>
          <a:prstGeom prst="rect">
            <a:avLst/>
          </a:prstGeom>
          <a:solidFill>
            <a:srgbClr val="D8E4F0"/>
          </a:solidFill>
          <a:ln w="6350">
            <a:solidFill>
              <a:srgbClr val="005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50A0"/>
                </a:solidFill>
                <a:latin typeface="Arial"/>
              </a:defRPr>
            </a:pPr>
            <a:r>
              <a:rPr sz="900"/>
              <a:t>Done</a:t>
            </a:r>
          </a:p>
        </p:txBody>
      </p:sp>
      <p:sp>
        <p:nvSpPr>
          <p:cNvPr id="33" name="TextBox 32"/>
          <p:cNvSpPr txBox="1"/>
          <p:nvPr/>
        </p:nvSpPr>
        <p:spPr>
          <a:xfrm>
            <a:off x="582168" y="3412736"/>
            <a:ext cx="11027664" cy="230832"/>
          </a:xfrm>
          <a:prstGeom prst="rect">
            <a:avLst/>
          </a:prstGeom>
          <a:noFill/>
        </p:spPr>
        <p:txBody>
          <a:bodyPr wrap="square">
            <a:spAutoFit/>
          </a:bodyPr>
          <a:lstStyle/>
          <a:p>
            <a:r>
              <a:rPr sz="900" b="1" err="1">
                <a:solidFill>
                  <a:srgbClr val="7F8C8D"/>
                </a:solidFill>
                <a:latin typeface="Arial"/>
              </a:rPr>
              <a:t>Swimlanes</a:t>
            </a:r>
            <a:r>
              <a:rPr sz="900" b="1">
                <a:solidFill>
                  <a:srgbClr val="7F8C8D"/>
                </a:solidFill>
                <a:latin typeface="Arial"/>
              </a:rPr>
              <a:t>: </a:t>
            </a:r>
            <a:r>
              <a:rPr sz="900">
                <a:solidFill>
                  <a:srgbClr val="2C3E50"/>
                </a:solidFill>
                <a:latin typeface="Arial"/>
              </a:rPr>
              <a:t>Program A · Program B · Program C</a:t>
            </a:r>
          </a:p>
        </p:txBody>
      </p:sp>
      <p:sp>
        <p:nvSpPr>
          <p:cNvPr id="34" name="TextBox 33"/>
          <p:cNvSpPr txBox="1"/>
          <p:nvPr/>
        </p:nvSpPr>
        <p:spPr>
          <a:xfrm>
            <a:off x="3478753" y="3412736"/>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Program Sync (bi-weekly) · Replenishment</a:t>
            </a:r>
          </a:p>
        </p:txBody>
      </p:sp>
      <p:sp>
        <p:nvSpPr>
          <p:cNvPr id="35" name="Rectangle 34"/>
          <p:cNvSpPr/>
          <p:nvPr/>
        </p:nvSpPr>
        <p:spPr>
          <a:xfrm>
            <a:off x="457200" y="3705344"/>
            <a:ext cx="11247120" cy="1325880"/>
          </a:xfrm>
          <a:prstGeom prst="rect">
            <a:avLst/>
          </a:prstGeom>
          <a:solidFill>
            <a:srgbClr val="F5F5F5"/>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Rectangle 35"/>
          <p:cNvSpPr/>
          <p:nvPr/>
        </p:nvSpPr>
        <p:spPr>
          <a:xfrm>
            <a:off x="457200" y="3705344"/>
            <a:ext cx="112471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Flight Level 1 — Project</a:t>
            </a:r>
          </a:p>
        </p:txBody>
      </p:sp>
      <p:sp>
        <p:nvSpPr>
          <p:cNvPr id="37" name="TextBox 36"/>
          <p:cNvSpPr txBox="1"/>
          <p:nvPr/>
        </p:nvSpPr>
        <p:spPr>
          <a:xfrm>
            <a:off x="566928" y="4071104"/>
            <a:ext cx="11027664" cy="230832"/>
          </a:xfrm>
          <a:prstGeom prst="rect">
            <a:avLst/>
          </a:prstGeom>
          <a:noFill/>
        </p:spPr>
        <p:txBody>
          <a:bodyPr wrap="square">
            <a:spAutoFit/>
          </a:bodyPr>
          <a:lstStyle/>
          <a:p>
            <a:pPr>
              <a:defRPr sz="700">
                <a:solidFill>
                  <a:srgbClr val="2C3E50"/>
                </a:solidFill>
                <a:latin typeface="Arial"/>
              </a:defRPr>
            </a:pPr>
            <a:r>
              <a:rPr sz="900"/>
              <a:t>Operational execution. Day-to-day delivery by teams using Kanban boards per project. User Story / Task level.</a:t>
            </a:r>
          </a:p>
        </p:txBody>
      </p:sp>
      <p:sp>
        <p:nvSpPr>
          <p:cNvPr id="38" name="Rectangle 37"/>
          <p:cNvSpPr/>
          <p:nvPr/>
        </p:nvSpPr>
        <p:spPr>
          <a:xfrm>
            <a:off x="640080" y="4436864"/>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Backlog</a:t>
            </a:r>
          </a:p>
        </p:txBody>
      </p:sp>
      <p:sp>
        <p:nvSpPr>
          <p:cNvPr id="39" name="TextBox 38"/>
          <p:cNvSpPr txBox="1"/>
          <p:nvPr/>
        </p:nvSpPr>
        <p:spPr>
          <a:xfrm>
            <a:off x="2616911" y="4443219"/>
            <a:ext cx="325731" cy="261610"/>
          </a:xfrm>
          <a:prstGeom prst="rect">
            <a:avLst/>
          </a:prstGeom>
          <a:noFill/>
        </p:spPr>
        <p:txBody>
          <a:bodyPr wrap="none" anchor="ctr">
            <a:spAutoFit/>
          </a:bodyPr>
          <a:lstStyle/>
          <a:p>
            <a:pPr algn="ctr">
              <a:defRPr sz="1000">
                <a:solidFill>
                  <a:srgbClr val="0070C0"/>
                </a:solidFill>
                <a:latin typeface="Arial"/>
              </a:defRPr>
            </a:pPr>
            <a:r>
              <a:rPr sz="1100"/>
              <a:t>→</a:t>
            </a:r>
          </a:p>
        </p:txBody>
      </p:sp>
      <p:sp>
        <p:nvSpPr>
          <p:cNvPr id="40" name="Rectangle 39"/>
          <p:cNvSpPr/>
          <p:nvPr/>
        </p:nvSpPr>
        <p:spPr>
          <a:xfrm>
            <a:off x="2843784" y="4436864"/>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In Progress</a:t>
            </a:r>
          </a:p>
        </p:txBody>
      </p:sp>
      <p:sp>
        <p:nvSpPr>
          <p:cNvPr id="41" name="TextBox 40"/>
          <p:cNvSpPr txBox="1"/>
          <p:nvPr/>
        </p:nvSpPr>
        <p:spPr>
          <a:xfrm>
            <a:off x="4820615" y="4443219"/>
            <a:ext cx="325731" cy="261610"/>
          </a:xfrm>
          <a:prstGeom prst="rect">
            <a:avLst/>
          </a:prstGeom>
          <a:noFill/>
        </p:spPr>
        <p:txBody>
          <a:bodyPr wrap="none" anchor="ctr">
            <a:spAutoFit/>
          </a:bodyPr>
          <a:lstStyle/>
          <a:p>
            <a:pPr algn="ctr">
              <a:defRPr sz="1000">
                <a:solidFill>
                  <a:srgbClr val="0070C0"/>
                </a:solidFill>
                <a:latin typeface="Arial"/>
              </a:defRPr>
            </a:pPr>
            <a:r>
              <a:rPr sz="1100"/>
              <a:t>→</a:t>
            </a:r>
          </a:p>
        </p:txBody>
      </p:sp>
      <p:sp>
        <p:nvSpPr>
          <p:cNvPr id="42" name="Rectangle 41"/>
          <p:cNvSpPr/>
          <p:nvPr/>
        </p:nvSpPr>
        <p:spPr>
          <a:xfrm>
            <a:off x="5047488" y="4436864"/>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QA</a:t>
            </a:r>
          </a:p>
        </p:txBody>
      </p:sp>
      <p:sp>
        <p:nvSpPr>
          <p:cNvPr id="43" name="TextBox 42"/>
          <p:cNvSpPr txBox="1"/>
          <p:nvPr/>
        </p:nvSpPr>
        <p:spPr>
          <a:xfrm>
            <a:off x="7024319" y="4443219"/>
            <a:ext cx="325731" cy="261610"/>
          </a:xfrm>
          <a:prstGeom prst="rect">
            <a:avLst/>
          </a:prstGeom>
          <a:noFill/>
        </p:spPr>
        <p:txBody>
          <a:bodyPr wrap="none" anchor="ctr">
            <a:spAutoFit/>
          </a:bodyPr>
          <a:lstStyle/>
          <a:p>
            <a:pPr algn="ctr">
              <a:defRPr sz="1000">
                <a:solidFill>
                  <a:srgbClr val="0070C0"/>
                </a:solidFill>
                <a:latin typeface="Arial"/>
              </a:defRPr>
            </a:pPr>
            <a:r>
              <a:rPr sz="1100"/>
              <a:t>→</a:t>
            </a:r>
          </a:p>
        </p:txBody>
      </p:sp>
      <p:sp>
        <p:nvSpPr>
          <p:cNvPr id="44" name="Rectangle 43"/>
          <p:cNvSpPr/>
          <p:nvPr/>
        </p:nvSpPr>
        <p:spPr>
          <a:xfrm>
            <a:off x="7251192" y="4436864"/>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Deploy</a:t>
            </a:r>
          </a:p>
        </p:txBody>
      </p:sp>
      <p:sp>
        <p:nvSpPr>
          <p:cNvPr id="45" name="TextBox 44"/>
          <p:cNvSpPr txBox="1"/>
          <p:nvPr/>
        </p:nvSpPr>
        <p:spPr>
          <a:xfrm>
            <a:off x="9228023" y="4443219"/>
            <a:ext cx="325731" cy="261610"/>
          </a:xfrm>
          <a:prstGeom prst="rect">
            <a:avLst/>
          </a:prstGeom>
          <a:noFill/>
        </p:spPr>
        <p:txBody>
          <a:bodyPr wrap="none" anchor="ctr">
            <a:spAutoFit/>
          </a:bodyPr>
          <a:lstStyle/>
          <a:p>
            <a:pPr algn="ctr">
              <a:defRPr sz="1000">
                <a:solidFill>
                  <a:srgbClr val="0070C0"/>
                </a:solidFill>
                <a:latin typeface="Arial"/>
              </a:defRPr>
            </a:pPr>
            <a:r>
              <a:rPr sz="1100"/>
              <a:t>→</a:t>
            </a:r>
          </a:p>
        </p:txBody>
      </p:sp>
      <p:sp>
        <p:nvSpPr>
          <p:cNvPr id="46" name="Rectangle 45"/>
          <p:cNvSpPr/>
          <p:nvPr/>
        </p:nvSpPr>
        <p:spPr>
          <a:xfrm>
            <a:off x="9454896" y="4436864"/>
            <a:ext cx="2066544"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Done</a:t>
            </a:r>
          </a:p>
        </p:txBody>
      </p:sp>
      <p:sp>
        <p:nvSpPr>
          <p:cNvPr id="47" name="TextBox 46"/>
          <p:cNvSpPr txBox="1"/>
          <p:nvPr/>
        </p:nvSpPr>
        <p:spPr>
          <a:xfrm>
            <a:off x="566928" y="4830056"/>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Daily Standup · Sprint Review · Retrospective</a:t>
            </a:r>
          </a:p>
        </p:txBody>
      </p:sp>
      <p:sp>
        <p:nvSpPr>
          <p:cNvPr id="48" name="TextBox 47"/>
          <p:cNvSpPr txBox="1"/>
          <p:nvPr/>
        </p:nvSpPr>
        <p:spPr>
          <a:xfrm>
            <a:off x="457200" y="5259824"/>
            <a:ext cx="1627369" cy="261610"/>
          </a:xfrm>
          <a:prstGeom prst="rect">
            <a:avLst/>
          </a:prstGeom>
          <a:noFill/>
        </p:spPr>
        <p:txBody>
          <a:bodyPr wrap="none">
            <a:spAutoFit/>
          </a:bodyPr>
          <a:lstStyle/>
          <a:p>
            <a:pPr>
              <a:defRPr sz="1000" b="1">
                <a:solidFill>
                  <a:srgbClr val="002060"/>
                </a:solidFill>
                <a:latin typeface="Arial"/>
              </a:defRPr>
            </a:pPr>
            <a:r>
              <a:rPr sz="1100"/>
              <a:t>E2E Lifecycle Phases</a:t>
            </a:r>
          </a:p>
        </p:txBody>
      </p:sp>
      <p:sp>
        <p:nvSpPr>
          <p:cNvPr id="49" name="Rectangle 48"/>
          <p:cNvSpPr/>
          <p:nvPr/>
        </p:nvSpPr>
        <p:spPr>
          <a:xfrm>
            <a:off x="457200" y="5534144"/>
            <a:ext cx="2708910" cy="1005840"/>
          </a:xfrm>
          <a:prstGeom prst="rect">
            <a:avLst/>
          </a:prstGeom>
          <a:solidFill>
            <a:srgbClr val="F5F5F5"/>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Rectangle 49"/>
          <p:cNvSpPr/>
          <p:nvPr/>
        </p:nvSpPr>
        <p:spPr>
          <a:xfrm>
            <a:off x="457200" y="5534144"/>
            <a:ext cx="2708910" cy="25603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Phase 0: Discovery</a:t>
            </a:r>
          </a:p>
        </p:txBody>
      </p:sp>
      <p:sp>
        <p:nvSpPr>
          <p:cNvPr id="51" name="TextBox 50"/>
          <p:cNvSpPr txBox="1"/>
          <p:nvPr/>
        </p:nvSpPr>
        <p:spPr>
          <a:xfrm>
            <a:off x="530352" y="5826752"/>
            <a:ext cx="2562606" cy="369332"/>
          </a:xfrm>
          <a:prstGeom prst="rect">
            <a:avLst/>
          </a:prstGeom>
          <a:noFill/>
        </p:spPr>
        <p:txBody>
          <a:bodyPr wrap="square">
            <a:spAutoFit/>
          </a:bodyPr>
          <a:lstStyle/>
          <a:p>
            <a:pPr>
              <a:defRPr sz="700">
                <a:solidFill>
                  <a:srgbClr val="2C3E50"/>
                </a:solidFill>
                <a:latin typeface="Arial"/>
              </a:defRPr>
            </a:pPr>
            <a:r>
              <a:rPr sz="900"/>
              <a:t>Research · Understanding · Problem Statement · Inspiration Gate</a:t>
            </a:r>
          </a:p>
        </p:txBody>
      </p:sp>
      <p:sp>
        <p:nvSpPr>
          <p:cNvPr id="52" name="TextBox 51"/>
          <p:cNvSpPr txBox="1"/>
          <p:nvPr/>
        </p:nvSpPr>
        <p:spPr>
          <a:xfrm>
            <a:off x="530352" y="6283952"/>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GO/No-Go → Shark Tank</a:t>
            </a:r>
          </a:p>
        </p:txBody>
      </p:sp>
      <p:sp>
        <p:nvSpPr>
          <p:cNvPr id="53" name="TextBox 52"/>
          <p:cNvSpPr txBox="1"/>
          <p:nvPr/>
        </p:nvSpPr>
        <p:spPr>
          <a:xfrm>
            <a:off x="3052589" y="5883175"/>
            <a:ext cx="364203" cy="307777"/>
          </a:xfrm>
          <a:prstGeom prst="rect">
            <a:avLst/>
          </a:prstGeom>
          <a:noFill/>
        </p:spPr>
        <p:txBody>
          <a:bodyPr wrap="none" anchor="ctr">
            <a:spAutoFit/>
          </a:bodyPr>
          <a:lstStyle/>
          <a:p>
            <a:pPr algn="ctr">
              <a:defRPr sz="1400">
                <a:solidFill>
                  <a:srgbClr val="002060"/>
                </a:solidFill>
                <a:latin typeface="Arial"/>
              </a:defRPr>
            </a:pPr>
            <a:r>
              <a:rPr sz="1400"/>
              <a:t>→</a:t>
            </a:r>
          </a:p>
        </p:txBody>
      </p:sp>
      <p:sp>
        <p:nvSpPr>
          <p:cNvPr id="54" name="Rectangle 53"/>
          <p:cNvSpPr/>
          <p:nvPr/>
        </p:nvSpPr>
        <p:spPr>
          <a:xfrm>
            <a:off x="3303270" y="5534144"/>
            <a:ext cx="2708910" cy="1005840"/>
          </a:xfrm>
          <a:prstGeom prst="rect">
            <a:avLst/>
          </a:prstGeom>
          <a:solidFill>
            <a:srgbClr val="F5F5F5"/>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5" name="Rectangle 54"/>
          <p:cNvSpPr/>
          <p:nvPr/>
        </p:nvSpPr>
        <p:spPr>
          <a:xfrm>
            <a:off x="3303270" y="5534144"/>
            <a:ext cx="2708910" cy="25603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Phase 1: Materialization</a:t>
            </a:r>
          </a:p>
        </p:txBody>
      </p:sp>
      <p:sp>
        <p:nvSpPr>
          <p:cNvPr id="56" name="TextBox 55"/>
          <p:cNvSpPr txBox="1"/>
          <p:nvPr/>
        </p:nvSpPr>
        <p:spPr>
          <a:xfrm>
            <a:off x="3376422" y="5826752"/>
            <a:ext cx="2562606" cy="230832"/>
          </a:xfrm>
          <a:prstGeom prst="rect">
            <a:avLst/>
          </a:prstGeom>
          <a:noFill/>
        </p:spPr>
        <p:txBody>
          <a:bodyPr wrap="square">
            <a:spAutoFit/>
          </a:bodyPr>
          <a:lstStyle/>
          <a:p>
            <a:pPr>
              <a:defRPr sz="700">
                <a:solidFill>
                  <a:srgbClr val="2C3E50"/>
                </a:solidFill>
                <a:latin typeface="Arial"/>
              </a:defRPr>
            </a:pPr>
            <a:r>
              <a:rPr sz="900"/>
              <a:t>Ideation · Validation · Solution Proposal</a:t>
            </a:r>
          </a:p>
        </p:txBody>
      </p:sp>
      <p:sp>
        <p:nvSpPr>
          <p:cNvPr id="57" name="TextBox 56"/>
          <p:cNvSpPr txBox="1"/>
          <p:nvPr/>
        </p:nvSpPr>
        <p:spPr>
          <a:xfrm>
            <a:off x="3376422" y="6283952"/>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Portfolio Committee Approval</a:t>
            </a:r>
          </a:p>
        </p:txBody>
      </p:sp>
      <p:sp>
        <p:nvSpPr>
          <p:cNvPr id="58" name="TextBox 57"/>
          <p:cNvSpPr txBox="1"/>
          <p:nvPr/>
        </p:nvSpPr>
        <p:spPr>
          <a:xfrm>
            <a:off x="5898659" y="5883175"/>
            <a:ext cx="364203" cy="307777"/>
          </a:xfrm>
          <a:prstGeom prst="rect">
            <a:avLst/>
          </a:prstGeom>
          <a:noFill/>
        </p:spPr>
        <p:txBody>
          <a:bodyPr wrap="none" anchor="ctr">
            <a:spAutoFit/>
          </a:bodyPr>
          <a:lstStyle/>
          <a:p>
            <a:pPr algn="ctr">
              <a:defRPr sz="1400">
                <a:solidFill>
                  <a:srgbClr val="002060"/>
                </a:solidFill>
                <a:latin typeface="Arial"/>
              </a:defRPr>
            </a:pPr>
            <a:r>
              <a:rPr sz="1400"/>
              <a:t>→</a:t>
            </a:r>
          </a:p>
        </p:txBody>
      </p:sp>
      <p:sp>
        <p:nvSpPr>
          <p:cNvPr id="59" name="Rectangle 58"/>
          <p:cNvSpPr/>
          <p:nvPr/>
        </p:nvSpPr>
        <p:spPr>
          <a:xfrm>
            <a:off x="6149340" y="5534144"/>
            <a:ext cx="2708910" cy="1005840"/>
          </a:xfrm>
          <a:prstGeom prst="rect">
            <a:avLst/>
          </a:prstGeom>
          <a:solidFill>
            <a:srgbClr val="F5F5F5"/>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0" name="Rectangle 59"/>
          <p:cNvSpPr/>
          <p:nvPr/>
        </p:nvSpPr>
        <p:spPr>
          <a:xfrm>
            <a:off x="6149340" y="5534144"/>
            <a:ext cx="2708910" cy="25603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Phase 2: Creation</a:t>
            </a:r>
          </a:p>
        </p:txBody>
      </p:sp>
      <p:sp>
        <p:nvSpPr>
          <p:cNvPr id="61" name="TextBox 60"/>
          <p:cNvSpPr txBox="1"/>
          <p:nvPr/>
        </p:nvSpPr>
        <p:spPr>
          <a:xfrm>
            <a:off x="6222492" y="5826752"/>
            <a:ext cx="2562606" cy="230832"/>
          </a:xfrm>
          <a:prstGeom prst="rect">
            <a:avLst/>
          </a:prstGeom>
          <a:noFill/>
        </p:spPr>
        <p:txBody>
          <a:bodyPr wrap="square">
            <a:spAutoFit/>
          </a:bodyPr>
          <a:lstStyle/>
          <a:p>
            <a:pPr>
              <a:defRPr sz="700">
                <a:solidFill>
                  <a:srgbClr val="2C3E50"/>
                </a:solidFill>
                <a:latin typeface="Arial"/>
              </a:defRPr>
            </a:pPr>
            <a:r>
              <a:rPr sz="900"/>
              <a:t>Project Book · Budget Release · Resourcing</a:t>
            </a:r>
          </a:p>
        </p:txBody>
      </p:sp>
      <p:sp>
        <p:nvSpPr>
          <p:cNvPr id="62" name="TextBox 61"/>
          <p:cNvSpPr txBox="1"/>
          <p:nvPr/>
        </p:nvSpPr>
        <p:spPr>
          <a:xfrm>
            <a:off x="6222492" y="6283952"/>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Budget Release Gate</a:t>
            </a:r>
          </a:p>
        </p:txBody>
      </p:sp>
      <p:sp>
        <p:nvSpPr>
          <p:cNvPr id="63" name="TextBox 62"/>
          <p:cNvSpPr txBox="1"/>
          <p:nvPr/>
        </p:nvSpPr>
        <p:spPr>
          <a:xfrm>
            <a:off x="8744729" y="5883175"/>
            <a:ext cx="364203" cy="307777"/>
          </a:xfrm>
          <a:prstGeom prst="rect">
            <a:avLst/>
          </a:prstGeom>
          <a:noFill/>
        </p:spPr>
        <p:txBody>
          <a:bodyPr wrap="none" anchor="ctr">
            <a:spAutoFit/>
          </a:bodyPr>
          <a:lstStyle/>
          <a:p>
            <a:pPr algn="ctr">
              <a:defRPr sz="1400">
                <a:solidFill>
                  <a:srgbClr val="002060"/>
                </a:solidFill>
                <a:latin typeface="Arial"/>
              </a:defRPr>
            </a:pPr>
            <a:r>
              <a:rPr sz="1400"/>
              <a:t>→</a:t>
            </a:r>
          </a:p>
        </p:txBody>
      </p:sp>
      <p:sp>
        <p:nvSpPr>
          <p:cNvPr id="64" name="Rectangle 63"/>
          <p:cNvSpPr/>
          <p:nvPr/>
        </p:nvSpPr>
        <p:spPr>
          <a:xfrm>
            <a:off x="8995410" y="5534144"/>
            <a:ext cx="2708910" cy="1005840"/>
          </a:xfrm>
          <a:prstGeom prst="rect">
            <a:avLst/>
          </a:prstGeom>
          <a:solidFill>
            <a:srgbClr val="F5F5F5"/>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5" name="Rectangle 64"/>
          <p:cNvSpPr/>
          <p:nvPr/>
        </p:nvSpPr>
        <p:spPr>
          <a:xfrm>
            <a:off x="8995410" y="5534144"/>
            <a:ext cx="2708910" cy="256032"/>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Phase 3: Ongoing</a:t>
            </a:r>
          </a:p>
        </p:txBody>
      </p:sp>
      <p:sp>
        <p:nvSpPr>
          <p:cNvPr id="66" name="TextBox 65"/>
          <p:cNvSpPr txBox="1"/>
          <p:nvPr/>
        </p:nvSpPr>
        <p:spPr>
          <a:xfrm>
            <a:off x="9068562" y="5826752"/>
            <a:ext cx="2562606" cy="230832"/>
          </a:xfrm>
          <a:prstGeom prst="rect">
            <a:avLst/>
          </a:prstGeom>
          <a:noFill/>
        </p:spPr>
        <p:txBody>
          <a:bodyPr wrap="square">
            <a:spAutoFit/>
          </a:bodyPr>
          <a:lstStyle/>
          <a:p>
            <a:pPr>
              <a:defRPr sz="700">
                <a:solidFill>
                  <a:srgbClr val="2C3E50"/>
                </a:solidFill>
                <a:latin typeface="Arial"/>
              </a:defRPr>
            </a:pPr>
            <a:r>
              <a:rPr sz="900"/>
              <a:t>Launch · PoC/MVP · Build · Testing · Deploy</a:t>
            </a:r>
          </a:p>
        </p:txBody>
      </p:sp>
      <p:sp>
        <p:nvSpPr>
          <p:cNvPr id="67" name="TextBox 66"/>
          <p:cNvSpPr txBox="1"/>
          <p:nvPr/>
        </p:nvSpPr>
        <p:spPr>
          <a:xfrm>
            <a:off x="9068562" y="6283952"/>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Health Dashboard Review</a:t>
            </a:r>
          </a:p>
        </p:txBody>
      </p:sp>
      <p:sp>
        <p:nvSpPr>
          <p:cNvPr id="2" name="Rectangle 1">
            <a:extLst>
              <a:ext uri="{FF2B5EF4-FFF2-40B4-BE49-F238E27FC236}">
                <a16:creationId xmlns:a16="http://schemas.microsoft.com/office/drawing/2014/main" id="{4CD12354-E027-90E8-2BF1-04359A082DE5}"/>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1465" y="205740"/>
            <a:ext cx="10058400" cy="640080"/>
          </a:xfrm>
          <a:prstGeom prst="rect">
            <a:avLst/>
          </a:prstGeom>
          <a:noFill/>
        </p:spPr>
        <p:txBody>
          <a:bodyPr wrap="square">
            <a:spAutoFit/>
          </a:bodyPr>
          <a:lstStyle/>
          <a:p>
            <a:pPr>
              <a:defRPr sz="1600" b="1">
                <a:solidFill>
                  <a:srgbClr val="0070C0"/>
                </a:solidFill>
                <a:latin typeface="Arial"/>
              </a:defRPr>
            </a:pPr>
            <a:r>
              <a:t>Digital </a:t>
            </a:r>
            <a:r>
              <a:rPr err="1"/>
              <a:t>CoE</a:t>
            </a:r>
            <a:r>
              <a:t> — Discovery-Delivery Dual Board</a:t>
            </a:r>
          </a:p>
          <a:p>
            <a:pPr>
              <a:defRPr sz="900">
                <a:solidFill>
                  <a:srgbClr val="7F8C8D"/>
                </a:solidFill>
                <a:latin typeface="Arial"/>
              </a:defRPr>
            </a:pPr>
            <a:r>
              <a:t>Two separate Kanban boards (Discovery + Delivery) connected by feedback loops. Strategic Initiatives Funnel with Lean Business Case. 3-tier governance.</a:t>
            </a:r>
          </a:p>
        </p:txBody>
      </p:sp>
      <p:sp>
        <p:nvSpPr>
          <p:cNvPr id="7" name="Rectangle 6"/>
          <p:cNvSpPr/>
          <p:nvPr/>
        </p:nvSpPr>
        <p:spPr>
          <a:xfrm>
            <a:off x="457200" y="862612"/>
            <a:ext cx="11247120" cy="1325880"/>
          </a:xfrm>
          <a:prstGeom prst="rect">
            <a:avLst/>
          </a:prstGeom>
          <a:solidFill>
            <a:srgbClr val="F5F5F5"/>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ectangle 7"/>
          <p:cNvSpPr/>
          <p:nvPr/>
        </p:nvSpPr>
        <p:spPr>
          <a:xfrm>
            <a:off x="457200" y="862612"/>
            <a:ext cx="11247120" cy="3200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Portfolio Governance — 3 Tier Model</a:t>
            </a:r>
          </a:p>
        </p:txBody>
      </p:sp>
      <p:sp>
        <p:nvSpPr>
          <p:cNvPr id="9" name="TextBox 8"/>
          <p:cNvSpPr txBox="1"/>
          <p:nvPr/>
        </p:nvSpPr>
        <p:spPr>
          <a:xfrm>
            <a:off x="566928" y="1228372"/>
            <a:ext cx="11027664" cy="230832"/>
          </a:xfrm>
          <a:prstGeom prst="rect">
            <a:avLst/>
          </a:prstGeom>
          <a:noFill/>
        </p:spPr>
        <p:txBody>
          <a:bodyPr wrap="square">
            <a:spAutoFit/>
          </a:bodyPr>
          <a:lstStyle/>
          <a:p>
            <a:pPr>
              <a:defRPr sz="700">
                <a:solidFill>
                  <a:srgbClr val="2C3E50"/>
                </a:solidFill>
                <a:latin typeface="Arial"/>
              </a:defRPr>
            </a:pPr>
            <a:r>
              <a:rPr sz="900"/>
              <a:t>Portfolio (Initiative) → Strategic. Program (Feature/Epic) → Tactical. Delivery (User Story) → Executional. Alignment, predictability, accountability.</a:t>
            </a:r>
          </a:p>
        </p:txBody>
      </p:sp>
      <p:sp>
        <p:nvSpPr>
          <p:cNvPr id="10" name="Rectangle 9"/>
          <p:cNvSpPr/>
          <p:nvPr/>
        </p:nvSpPr>
        <p:spPr>
          <a:xfrm>
            <a:off x="640080" y="1594132"/>
            <a:ext cx="2617470"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Strategic Initiatives Funnel</a:t>
            </a:r>
          </a:p>
        </p:txBody>
      </p:sp>
      <p:sp>
        <p:nvSpPr>
          <p:cNvPr id="11" name="TextBox 10"/>
          <p:cNvSpPr txBox="1"/>
          <p:nvPr/>
        </p:nvSpPr>
        <p:spPr>
          <a:xfrm>
            <a:off x="3167837" y="1600487"/>
            <a:ext cx="325731" cy="261610"/>
          </a:xfrm>
          <a:prstGeom prst="rect">
            <a:avLst/>
          </a:prstGeom>
          <a:noFill/>
        </p:spPr>
        <p:txBody>
          <a:bodyPr wrap="none" anchor="ctr">
            <a:spAutoFit/>
          </a:bodyPr>
          <a:lstStyle/>
          <a:p>
            <a:pPr algn="ctr">
              <a:defRPr sz="1000">
                <a:solidFill>
                  <a:srgbClr val="0070C0"/>
                </a:solidFill>
                <a:latin typeface="Arial"/>
              </a:defRPr>
            </a:pPr>
            <a:r>
              <a:rPr sz="1100"/>
              <a:t>→</a:t>
            </a:r>
          </a:p>
        </p:txBody>
      </p:sp>
      <p:sp>
        <p:nvSpPr>
          <p:cNvPr id="12" name="Rectangle 11"/>
          <p:cNvSpPr/>
          <p:nvPr/>
        </p:nvSpPr>
        <p:spPr>
          <a:xfrm>
            <a:off x="3394710" y="1594132"/>
            <a:ext cx="2617470"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Lean Business Case</a:t>
            </a:r>
          </a:p>
        </p:txBody>
      </p:sp>
      <p:sp>
        <p:nvSpPr>
          <p:cNvPr id="13" name="TextBox 12"/>
          <p:cNvSpPr txBox="1"/>
          <p:nvPr/>
        </p:nvSpPr>
        <p:spPr>
          <a:xfrm>
            <a:off x="5922467" y="1600487"/>
            <a:ext cx="325731" cy="261610"/>
          </a:xfrm>
          <a:prstGeom prst="rect">
            <a:avLst/>
          </a:prstGeom>
          <a:noFill/>
        </p:spPr>
        <p:txBody>
          <a:bodyPr wrap="none" anchor="ctr">
            <a:spAutoFit/>
          </a:bodyPr>
          <a:lstStyle/>
          <a:p>
            <a:pPr algn="ctr">
              <a:defRPr sz="1000">
                <a:solidFill>
                  <a:srgbClr val="0070C0"/>
                </a:solidFill>
                <a:latin typeface="Arial"/>
              </a:defRPr>
            </a:pPr>
            <a:r>
              <a:rPr sz="1100"/>
              <a:t>→</a:t>
            </a:r>
          </a:p>
        </p:txBody>
      </p:sp>
      <p:sp>
        <p:nvSpPr>
          <p:cNvPr id="14" name="Rectangle 13"/>
          <p:cNvSpPr/>
          <p:nvPr/>
        </p:nvSpPr>
        <p:spPr>
          <a:xfrm>
            <a:off x="6149340" y="1594132"/>
            <a:ext cx="2617470"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PRD</a:t>
            </a:r>
          </a:p>
        </p:txBody>
      </p:sp>
      <p:sp>
        <p:nvSpPr>
          <p:cNvPr id="15" name="TextBox 14"/>
          <p:cNvSpPr txBox="1"/>
          <p:nvPr/>
        </p:nvSpPr>
        <p:spPr>
          <a:xfrm>
            <a:off x="8677097" y="1600487"/>
            <a:ext cx="325731" cy="261610"/>
          </a:xfrm>
          <a:prstGeom prst="rect">
            <a:avLst/>
          </a:prstGeom>
          <a:noFill/>
        </p:spPr>
        <p:txBody>
          <a:bodyPr wrap="none" anchor="ctr">
            <a:spAutoFit/>
          </a:bodyPr>
          <a:lstStyle/>
          <a:p>
            <a:pPr algn="ctr">
              <a:defRPr sz="1000">
                <a:solidFill>
                  <a:srgbClr val="0070C0"/>
                </a:solidFill>
                <a:latin typeface="Arial"/>
              </a:defRPr>
            </a:pPr>
            <a:r>
              <a:rPr sz="1100"/>
              <a:t>→</a:t>
            </a:r>
          </a:p>
        </p:txBody>
      </p:sp>
      <p:sp>
        <p:nvSpPr>
          <p:cNvPr id="16" name="Rectangle 15"/>
          <p:cNvSpPr/>
          <p:nvPr/>
        </p:nvSpPr>
        <p:spPr>
          <a:xfrm>
            <a:off x="8903970" y="1594132"/>
            <a:ext cx="2617470" cy="274320"/>
          </a:xfrm>
          <a:prstGeom prst="rect">
            <a:avLst/>
          </a:prstGeom>
          <a:solidFill>
            <a:srgbClr val="D8E9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70C0"/>
                </a:solidFill>
                <a:latin typeface="Arial"/>
              </a:defRPr>
            </a:pPr>
            <a:r>
              <a:rPr sz="900"/>
              <a:t>Quarterly Program Plan</a:t>
            </a:r>
          </a:p>
        </p:txBody>
      </p:sp>
      <p:sp>
        <p:nvSpPr>
          <p:cNvPr id="17" name="TextBox 16"/>
          <p:cNvSpPr txBox="1"/>
          <p:nvPr/>
        </p:nvSpPr>
        <p:spPr>
          <a:xfrm>
            <a:off x="566928" y="1987324"/>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Portfolio Learn Cycle (quarterly: 30 min past, 30 min future)</a:t>
            </a:r>
          </a:p>
        </p:txBody>
      </p:sp>
      <p:sp>
        <p:nvSpPr>
          <p:cNvPr id="18" name="Rectangle 17"/>
          <p:cNvSpPr/>
          <p:nvPr/>
        </p:nvSpPr>
        <p:spPr>
          <a:xfrm>
            <a:off x="457200" y="2279932"/>
            <a:ext cx="11247120" cy="1325880"/>
          </a:xfrm>
          <a:prstGeom prst="rect">
            <a:avLst/>
          </a:prstGeom>
          <a:solidFill>
            <a:srgbClr val="F5F5F5"/>
          </a:solidFill>
          <a:ln w="12700">
            <a:solidFill>
              <a:srgbClr val="009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ectangle 18"/>
          <p:cNvSpPr/>
          <p:nvPr/>
        </p:nvSpPr>
        <p:spPr>
          <a:xfrm>
            <a:off x="457200" y="2279932"/>
            <a:ext cx="11247120" cy="320040"/>
          </a:xfrm>
          <a:prstGeom prst="rect">
            <a:avLst/>
          </a:prstGeom>
          <a:solidFill>
            <a:srgbClr val="0090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Discovery Board (Upstream)</a:t>
            </a:r>
          </a:p>
        </p:txBody>
      </p:sp>
      <p:sp>
        <p:nvSpPr>
          <p:cNvPr id="20" name="TextBox 19"/>
          <p:cNvSpPr txBox="1"/>
          <p:nvPr/>
        </p:nvSpPr>
        <p:spPr>
          <a:xfrm>
            <a:off x="566928" y="2645692"/>
            <a:ext cx="11027664" cy="230832"/>
          </a:xfrm>
          <a:prstGeom prst="rect">
            <a:avLst/>
          </a:prstGeom>
          <a:noFill/>
        </p:spPr>
        <p:txBody>
          <a:bodyPr wrap="square">
            <a:spAutoFit/>
          </a:bodyPr>
          <a:lstStyle/>
          <a:p>
            <a:pPr>
              <a:defRPr sz="700">
                <a:solidFill>
                  <a:srgbClr val="2C3E50"/>
                </a:solidFill>
                <a:latin typeface="Arial"/>
              </a:defRPr>
            </a:pPr>
            <a:r>
              <a:rPr sz="900"/>
              <a:t>Structured discovery workflow. Measures Cycle Time per phase and Discovery Success Rate. Tools: Ziflow, Maze, Figma, Monday.</a:t>
            </a:r>
          </a:p>
        </p:txBody>
      </p:sp>
      <p:sp>
        <p:nvSpPr>
          <p:cNvPr id="21" name="Rectangle 20"/>
          <p:cNvSpPr/>
          <p:nvPr/>
        </p:nvSpPr>
        <p:spPr>
          <a:xfrm>
            <a:off x="640080" y="3011452"/>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0E0"/>
                </a:solidFill>
                <a:latin typeface="Arial"/>
              </a:defRPr>
            </a:pPr>
            <a:r>
              <a:rPr sz="900"/>
              <a:t>Opportunity</a:t>
            </a:r>
          </a:p>
        </p:txBody>
      </p:sp>
      <p:sp>
        <p:nvSpPr>
          <p:cNvPr id="22" name="TextBox 21"/>
          <p:cNvSpPr txBox="1"/>
          <p:nvPr/>
        </p:nvSpPr>
        <p:spPr>
          <a:xfrm>
            <a:off x="2249627" y="3017807"/>
            <a:ext cx="325731" cy="261610"/>
          </a:xfrm>
          <a:prstGeom prst="rect">
            <a:avLst/>
          </a:prstGeom>
          <a:noFill/>
        </p:spPr>
        <p:txBody>
          <a:bodyPr wrap="none" anchor="ctr">
            <a:spAutoFit/>
          </a:bodyPr>
          <a:lstStyle/>
          <a:p>
            <a:pPr algn="ctr">
              <a:defRPr sz="1000">
                <a:solidFill>
                  <a:srgbClr val="0090E0"/>
                </a:solidFill>
                <a:latin typeface="Arial"/>
              </a:defRPr>
            </a:pPr>
            <a:r>
              <a:rPr sz="1100"/>
              <a:t>→</a:t>
            </a:r>
          </a:p>
        </p:txBody>
      </p:sp>
      <p:sp>
        <p:nvSpPr>
          <p:cNvPr id="23" name="Rectangle 22"/>
          <p:cNvSpPr/>
          <p:nvPr/>
        </p:nvSpPr>
        <p:spPr>
          <a:xfrm>
            <a:off x="2476500" y="3011452"/>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0E0"/>
                </a:solidFill>
                <a:latin typeface="Arial"/>
              </a:defRPr>
            </a:pPr>
            <a:r>
              <a:rPr sz="900"/>
              <a:t>Ideation</a:t>
            </a:r>
          </a:p>
        </p:txBody>
      </p:sp>
      <p:sp>
        <p:nvSpPr>
          <p:cNvPr id="24" name="TextBox 23"/>
          <p:cNvSpPr txBox="1"/>
          <p:nvPr/>
        </p:nvSpPr>
        <p:spPr>
          <a:xfrm>
            <a:off x="4086047" y="3017807"/>
            <a:ext cx="325731" cy="261610"/>
          </a:xfrm>
          <a:prstGeom prst="rect">
            <a:avLst/>
          </a:prstGeom>
          <a:noFill/>
        </p:spPr>
        <p:txBody>
          <a:bodyPr wrap="none" anchor="ctr">
            <a:spAutoFit/>
          </a:bodyPr>
          <a:lstStyle/>
          <a:p>
            <a:pPr algn="ctr">
              <a:defRPr sz="1000">
                <a:solidFill>
                  <a:srgbClr val="0090E0"/>
                </a:solidFill>
                <a:latin typeface="Arial"/>
              </a:defRPr>
            </a:pPr>
            <a:r>
              <a:rPr sz="1100"/>
              <a:t>→</a:t>
            </a:r>
          </a:p>
        </p:txBody>
      </p:sp>
      <p:sp>
        <p:nvSpPr>
          <p:cNvPr id="25" name="Rectangle 24"/>
          <p:cNvSpPr/>
          <p:nvPr/>
        </p:nvSpPr>
        <p:spPr>
          <a:xfrm>
            <a:off x="4312920" y="3011452"/>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0E0"/>
                </a:solidFill>
                <a:latin typeface="Arial"/>
              </a:defRPr>
            </a:pPr>
            <a:r>
              <a:rPr sz="900"/>
              <a:t>Tech Feasibility</a:t>
            </a:r>
          </a:p>
        </p:txBody>
      </p:sp>
      <p:sp>
        <p:nvSpPr>
          <p:cNvPr id="26" name="TextBox 25"/>
          <p:cNvSpPr txBox="1"/>
          <p:nvPr/>
        </p:nvSpPr>
        <p:spPr>
          <a:xfrm>
            <a:off x="5922467" y="3017807"/>
            <a:ext cx="325731" cy="261610"/>
          </a:xfrm>
          <a:prstGeom prst="rect">
            <a:avLst/>
          </a:prstGeom>
          <a:noFill/>
        </p:spPr>
        <p:txBody>
          <a:bodyPr wrap="none" anchor="ctr">
            <a:spAutoFit/>
          </a:bodyPr>
          <a:lstStyle/>
          <a:p>
            <a:pPr algn="ctr">
              <a:defRPr sz="1000">
                <a:solidFill>
                  <a:srgbClr val="0090E0"/>
                </a:solidFill>
                <a:latin typeface="Arial"/>
              </a:defRPr>
            </a:pPr>
            <a:r>
              <a:rPr sz="1100"/>
              <a:t>→</a:t>
            </a:r>
          </a:p>
        </p:txBody>
      </p:sp>
      <p:sp>
        <p:nvSpPr>
          <p:cNvPr id="27" name="Rectangle 26"/>
          <p:cNvSpPr/>
          <p:nvPr/>
        </p:nvSpPr>
        <p:spPr>
          <a:xfrm>
            <a:off x="6149340" y="3011452"/>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0E0"/>
                </a:solidFill>
                <a:latin typeface="Arial"/>
              </a:defRPr>
            </a:pPr>
            <a:r>
              <a:rPr sz="900"/>
              <a:t>Design</a:t>
            </a:r>
          </a:p>
        </p:txBody>
      </p:sp>
      <p:sp>
        <p:nvSpPr>
          <p:cNvPr id="28" name="TextBox 27"/>
          <p:cNvSpPr txBox="1"/>
          <p:nvPr/>
        </p:nvSpPr>
        <p:spPr>
          <a:xfrm>
            <a:off x="7758887" y="3017807"/>
            <a:ext cx="325731" cy="261610"/>
          </a:xfrm>
          <a:prstGeom prst="rect">
            <a:avLst/>
          </a:prstGeom>
          <a:noFill/>
        </p:spPr>
        <p:txBody>
          <a:bodyPr wrap="none" anchor="ctr">
            <a:spAutoFit/>
          </a:bodyPr>
          <a:lstStyle/>
          <a:p>
            <a:pPr algn="ctr">
              <a:defRPr sz="1000">
                <a:solidFill>
                  <a:srgbClr val="0090E0"/>
                </a:solidFill>
                <a:latin typeface="Arial"/>
              </a:defRPr>
            </a:pPr>
            <a:r>
              <a:rPr sz="1100"/>
              <a:t>→</a:t>
            </a:r>
          </a:p>
        </p:txBody>
      </p:sp>
      <p:sp>
        <p:nvSpPr>
          <p:cNvPr id="29" name="Rectangle 28"/>
          <p:cNvSpPr/>
          <p:nvPr/>
        </p:nvSpPr>
        <p:spPr>
          <a:xfrm>
            <a:off x="7985760" y="3011452"/>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0E0"/>
                </a:solidFill>
                <a:latin typeface="Arial"/>
              </a:defRPr>
            </a:pPr>
            <a:r>
              <a:rPr sz="900"/>
              <a:t>Biz Signoff</a:t>
            </a:r>
          </a:p>
        </p:txBody>
      </p:sp>
      <p:sp>
        <p:nvSpPr>
          <p:cNvPr id="30" name="TextBox 29"/>
          <p:cNvSpPr txBox="1"/>
          <p:nvPr/>
        </p:nvSpPr>
        <p:spPr>
          <a:xfrm>
            <a:off x="9595307" y="3017807"/>
            <a:ext cx="325731" cy="261610"/>
          </a:xfrm>
          <a:prstGeom prst="rect">
            <a:avLst/>
          </a:prstGeom>
          <a:noFill/>
        </p:spPr>
        <p:txBody>
          <a:bodyPr wrap="none" anchor="ctr">
            <a:spAutoFit/>
          </a:bodyPr>
          <a:lstStyle/>
          <a:p>
            <a:pPr algn="ctr">
              <a:defRPr sz="1000">
                <a:solidFill>
                  <a:srgbClr val="0090E0"/>
                </a:solidFill>
                <a:latin typeface="Arial"/>
              </a:defRPr>
            </a:pPr>
            <a:r>
              <a:rPr sz="1100"/>
              <a:t>→</a:t>
            </a:r>
          </a:p>
        </p:txBody>
      </p:sp>
      <p:sp>
        <p:nvSpPr>
          <p:cNvPr id="31" name="Rectangle 30"/>
          <p:cNvSpPr/>
          <p:nvPr/>
        </p:nvSpPr>
        <p:spPr>
          <a:xfrm>
            <a:off x="9822180" y="3011452"/>
            <a:ext cx="1699260" cy="274320"/>
          </a:xfrm>
          <a:prstGeom prst="rect">
            <a:avLst/>
          </a:prstGeom>
          <a:solidFill>
            <a:srgbClr val="D8EEFA"/>
          </a:solidFill>
          <a:ln w="6350">
            <a:solidFill>
              <a:srgbClr val="0090E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0E0"/>
                </a:solidFill>
                <a:latin typeface="Arial"/>
              </a:defRPr>
            </a:pPr>
            <a:r>
              <a:rPr sz="900"/>
              <a:t>Done</a:t>
            </a:r>
          </a:p>
        </p:txBody>
      </p:sp>
      <p:sp>
        <p:nvSpPr>
          <p:cNvPr id="32" name="TextBox 31"/>
          <p:cNvSpPr txBox="1"/>
          <p:nvPr/>
        </p:nvSpPr>
        <p:spPr>
          <a:xfrm>
            <a:off x="566928" y="3404644"/>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Discovery Review · Feedback Loop from Delivery → Discovery</a:t>
            </a:r>
          </a:p>
        </p:txBody>
      </p:sp>
      <p:sp>
        <p:nvSpPr>
          <p:cNvPr id="33" name="Rectangle 32"/>
          <p:cNvSpPr/>
          <p:nvPr/>
        </p:nvSpPr>
        <p:spPr>
          <a:xfrm>
            <a:off x="457200" y="3697252"/>
            <a:ext cx="11247120" cy="1325880"/>
          </a:xfrm>
          <a:prstGeom prst="rect">
            <a:avLst/>
          </a:prstGeom>
          <a:solidFill>
            <a:srgbClr val="F5F5F5"/>
          </a:solidFill>
          <a:ln w="12700">
            <a:solidFill>
              <a:srgbClr val="19A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Rectangle 33"/>
          <p:cNvSpPr/>
          <p:nvPr/>
        </p:nvSpPr>
        <p:spPr>
          <a:xfrm>
            <a:off x="457200" y="3697252"/>
            <a:ext cx="11247120" cy="320040"/>
          </a:xfrm>
          <a:prstGeom prst="rect">
            <a:avLst/>
          </a:prstGeom>
          <a:solidFill>
            <a:srgbClr val="19A3F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Delivery Board (Downstream)</a:t>
            </a:r>
          </a:p>
        </p:txBody>
      </p:sp>
      <p:sp>
        <p:nvSpPr>
          <p:cNvPr id="35" name="TextBox 34"/>
          <p:cNvSpPr txBox="1"/>
          <p:nvPr/>
        </p:nvSpPr>
        <p:spPr>
          <a:xfrm>
            <a:off x="566928" y="4063012"/>
            <a:ext cx="11027664" cy="230832"/>
          </a:xfrm>
          <a:prstGeom prst="rect">
            <a:avLst/>
          </a:prstGeom>
          <a:noFill/>
        </p:spPr>
        <p:txBody>
          <a:bodyPr wrap="square">
            <a:spAutoFit/>
          </a:bodyPr>
          <a:lstStyle/>
          <a:p>
            <a:pPr>
              <a:defRPr sz="700">
                <a:solidFill>
                  <a:srgbClr val="2C3E50"/>
                </a:solidFill>
                <a:latin typeface="Arial"/>
              </a:defRPr>
            </a:pPr>
            <a:r>
              <a:rPr sz="900"/>
              <a:t>Sprint-based delivery. 2-week time-boxed cycles. Sprint Report Canvas tracks baselines across cycles. Agile Master hygiene checklist.</a:t>
            </a:r>
          </a:p>
        </p:txBody>
      </p:sp>
      <p:sp>
        <p:nvSpPr>
          <p:cNvPr id="36" name="Rectangle 35"/>
          <p:cNvSpPr/>
          <p:nvPr/>
        </p:nvSpPr>
        <p:spPr>
          <a:xfrm>
            <a:off x="640080" y="4428772"/>
            <a:ext cx="2617470" cy="274320"/>
          </a:xfrm>
          <a:prstGeom prst="rect">
            <a:avLst/>
          </a:prstGeom>
          <a:solidFill>
            <a:srgbClr val="DCF1FE"/>
          </a:solidFill>
          <a:ln w="6350">
            <a:solidFill>
              <a:srgbClr val="19A3F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19A3FC"/>
                </a:solidFill>
                <a:latin typeface="Arial"/>
              </a:defRPr>
            </a:pPr>
            <a:r>
              <a:rPr sz="900"/>
              <a:t>Sprint Backlog</a:t>
            </a:r>
          </a:p>
        </p:txBody>
      </p:sp>
      <p:sp>
        <p:nvSpPr>
          <p:cNvPr id="37" name="TextBox 36"/>
          <p:cNvSpPr txBox="1"/>
          <p:nvPr/>
        </p:nvSpPr>
        <p:spPr>
          <a:xfrm>
            <a:off x="3167837" y="4435127"/>
            <a:ext cx="325731" cy="261610"/>
          </a:xfrm>
          <a:prstGeom prst="rect">
            <a:avLst/>
          </a:prstGeom>
          <a:noFill/>
        </p:spPr>
        <p:txBody>
          <a:bodyPr wrap="none" anchor="ctr">
            <a:spAutoFit/>
          </a:bodyPr>
          <a:lstStyle/>
          <a:p>
            <a:pPr algn="ctr">
              <a:defRPr sz="1000">
                <a:solidFill>
                  <a:srgbClr val="19A3FC"/>
                </a:solidFill>
                <a:latin typeface="Arial"/>
              </a:defRPr>
            </a:pPr>
            <a:r>
              <a:rPr sz="1100"/>
              <a:t>→</a:t>
            </a:r>
          </a:p>
        </p:txBody>
      </p:sp>
      <p:sp>
        <p:nvSpPr>
          <p:cNvPr id="38" name="Rectangle 37"/>
          <p:cNvSpPr/>
          <p:nvPr/>
        </p:nvSpPr>
        <p:spPr>
          <a:xfrm>
            <a:off x="3394710" y="4428772"/>
            <a:ext cx="2617470" cy="274320"/>
          </a:xfrm>
          <a:prstGeom prst="rect">
            <a:avLst/>
          </a:prstGeom>
          <a:solidFill>
            <a:srgbClr val="DCF1FE"/>
          </a:solidFill>
          <a:ln w="6350">
            <a:solidFill>
              <a:srgbClr val="19A3F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19A3FC"/>
                </a:solidFill>
                <a:latin typeface="Arial"/>
              </a:defRPr>
            </a:pPr>
            <a:r>
              <a:rPr sz="900"/>
              <a:t>In Progress</a:t>
            </a:r>
          </a:p>
        </p:txBody>
      </p:sp>
      <p:sp>
        <p:nvSpPr>
          <p:cNvPr id="39" name="TextBox 38"/>
          <p:cNvSpPr txBox="1"/>
          <p:nvPr/>
        </p:nvSpPr>
        <p:spPr>
          <a:xfrm>
            <a:off x="5922467" y="4435127"/>
            <a:ext cx="325731" cy="261610"/>
          </a:xfrm>
          <a:prstGeom prst="rect">
            <a:avLst/>
          </a:prstGeom>
          <a:noFill/>
        </p:spPr>
        <p:txBody>
          <a:bodyPr wrap="none" anchor="ctr">
            <a:spAutoFit/>
          </a:bodyPr>
          <a:lstStyle/>
          <a:p>
            <a:pPr algn="ctr">
              <a:defRPr sz="1000">
                <a:solidFill>
                  <a:srgbClr val="19A3FC"/>
                </a:solidFill>
                <a:latin typeface="Arial"/>
              </a:defRPr>
            </a:pPr>
            <a:r>
              <a:rPr sz="1100"/>
              <a:t>→</a:t>
            </a:r>
          </a:p>
        </p:txBody>
      </p:sp>
      <p:sp>
        <p:nvSpPr>
          <p:cNvPr id="40" name="Rectangle 39"/>
          <p:cNvSpPr/>
          <p:nvPr/>
        </p:nvSpPr>
        <p:spPr>
          <a:xfrm>
            <a:off x="6149340" y="4428772"/>
            <a:ext cx="2617470" cy="274320"/>
          </a:xfrm>
          <a:prstGeom prst="rect">
            <a:avLst/>
          </a:prstGeom>
          <a:solidFill>
            <a:srgbClr val="DCF1FE"/>
          </a:solidFill>
          <a:ln w="6350">
            <a:solidFill>
              <a:srgbClr val="19A3F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19A3FC"/>
                </a:solidFill>
                <a:latin typeface="Arial"/>
              </a:defRPr>
            </a:pPr>
            <a:r>
              <a:rPr sz="900"/>
              <a:t>QA</a:t>
            </a:r>
          </a:p>
        </p:txBody>
      </p:sp>
      <p:sp>
        <p:nvSpPr>
          <p:cNvPr id="41" name="TextBox 40"/>
          <p:cNvSpPr txBox="1"/>
          <p:nvPr/>
        </p:nvSpPr>
        <p:spPr>
          <a:xfrm>
            <a:off x="8677097" y="4435127"/>
            <a:ext cx="325731" cy="261610"/>
          </a:xfrm>
          <a:prstGeom prst="rect">
            <a:avLst/>
          </a:prstGeom>
          <a:noFill/>
        </p:spPr>
        <p:txBody>
          <a:bodyPr wrap="none" anchor="ctr">
            <a:spAutoFit/>
          </a:bodyPr>
          <a:lstStyle/>
          <a:p>
            <a:pPr algn="ctr">
              <a:defRPr sz="1000">
                <a:solidFill>
                  <a:srgbClr val="19A3FC"/>
                </a:solidFill>
                <a:latin typeface="Arial"/>
              </a:defRPr>
            </a:pPr>
            <a:r>
              <a:rPr sz="1100"/>
              <a:t>→</a:t>
            </a:r>
          </a:p>
        </p:txBody>
      </p:sp>
      <p:sp>
        <p:nvSpPr>
          <p:cNvPr id="42" name="Rectangle 41"/>
          <p:cNvSpPr/>
          <p:nvPr/>
        </p:nvSpPr>
        <p:spPr>
          <a:xfrm>
            <a:off x="8903970" y="4428772"/>
            <a:ext cx="2617470" cy="274320"/>
          </a:xfrm>
          <a:prstGeom prst="rect">
            <a:avLst/>
          </a:prstGeom>
          <a:solidFill>
            <a:srgbClr val="DCF1FE"/>
          </a:solidFill>
          <a:ln w="6350">
            <a:solidFill>
              <a:srgbClr val="19A3F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19A3FC"/>
                </a:solidFill>
                <a:latin typeface="Arial"/>
              </a:defRPr>
            </a:pPr>
            <a:r>
              <a:rPr sz="900"/>
              <a:t>Done / Deployed</a:t>
            </a:r>
          </a:p>
        </p:txBody>
      </p:sp>
      <p:sp>
        <p:nvSpPr>
          <p:cNvPr id="43" name="TextBox 42"/>
          <p:cNvSpPr txBox="1"/>
          <p:nvPr/>
        </p:nvSpPr>
        <p:spPr>
          <a:xfrm>
            <a:off x="566928" y="4821964"/>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Sprint Planning · Daily · Sprint Review · Retrospective</a:t>
            </a:r>
          </a:p>
        </p:txBody>
      </p:sp>
      <p:sp>
        <p:nvSpPr>
          <p:cNvPr id="44" name="TextBox 43"/>
          <p:cNvSpPr txBox="1"/>
          <p:nvPr/>
        </p:nvSpPr>
        <p:spPr>
          <a:xfrm>
            <a:off x="457200" y="5251732"/>
            <a:ext cx="1627369" cy="261610"/>
          </a:xfrm>
          <a:prstGeom prst="rect">
            <a:avLst/>
          </a:prstGeom>
          <a:noFill/>
        </p:spPr>
        <p:txBody>
          <a:bodyPr wrap="none">
            <a:spAutoFit/>
          </a:bodyPr>
          <a:lstStyle/>
          <a:p>
            <a:pPr>
              <a:defRPr sz="1000" b="1">
                <a:solidFill>
                  <a:srgbClr val="0070C0"/>
                </a:solidFill>
                <a:latin typeface="Arial"/>
              </a:defRPr>
            </a:pPr>
            <a:r>
              <a:rPr sz="1100"/>
              <a:t>E2E Lifecycle Phases</a:t>
            </a:r>
          </a:p>
        </p:txBody>
      </p:sp>
      <p:sp>
        <p:nvSpPr>
          <p:cNvPr id="45" name="Rectangle 44"/>
          <p:cNvSpPr/>
          <p:nvPr/>
        </p:nvSpPr>
        <p:spPr>
          <a:xfrm>
            <a:off x="457200" y="5526052"/>
            <a:ext cx="2708910" cy="1005840"/>
          </a:xfrm>
          <a:prstGeom prst="rect">
            <a:avLst/>
          </a:prstGeom>
          <a:solidFill>
            <a:srgbClr val="F5F5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Rectangle 45"/>
          <p:cNvSpPr/>
          <p:nvPr/>
        </p:nvSpPr>
        <p:spPr>
          <a:xfrm>
            <a:off x="457200" y="5526052"/>
            <a:ext cx="2708910" cy="25603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Discovery Upstream</a:t>
            </a:r>
          </a:p>
        </p:txBody>
      </p:sp>
      <p:sp>
        <p:nvSpPr>
          <p:cNvPr id="47" name="TextBox 46"/>
          <p:cNvSpPr txBox="1"/>
          <p:nvPr/>
        </p:nvSpPr>
        <p:spPr>
          <a:xfrm>
            <a:off x="530352" y="5818660"/>
            <a:ext cx="2562606" cy="369332"/>
          </a:xfrm>
          <a:prstGeom prst="rect">
            <a:avLst/>
          </a:prstGeom>
          <a:noFill/>
        </p:spPr>
        <p:txBody>
          <a:bodyPr wrap="square">
            <a:spAutoFit/>
          </a:bodyPr>
          <a:lstStyle/>
          <a:p>
            <a:pPr>
              <a:defRPr sz="700">
                <a:solidFill>
                  <a:srgbClr val="2C3E50"/>
                </a:solidFill>
                <a:latin typeface="Arial"/>
              </a:defRPr>
            </a:pPr>
            <a:r>
              <a:rPr sz="900"/>
              <a:t>User Research · Ideation · Prototyping · Validation</a:t>
            </a:r>
          </a:p>
        </p:txBody>
      </p:sp>
      <p:sp>
        <p:nvSpPr>
          <p:cNvPr id="48" name="TextBox 47"/>
          <p:cNvSpPr txBox="1"/>
          <p:nvPr/>
        </p:nvSpPr>
        <p:spPr>
          <a:xfrm>
            <a:off x="530352" y="6275860"/>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PRD + Lean Business Case</a:t>
            </a:r>
          </a:p>
        </p:txBody>
      </p:sp>
      <p:sp>
        <p:nvSpPr>
          <p:cNvPr id="49" name="TextBox 48"/>
          <p:cNvSpPr txBox="1"/>
          <p:nvPr/>
        </p:nvSpPr>
        <p:spPr>
          <a:xfrm>
            <a:off x="3052589" y="5875083"/>
            <a:ext cx="364202" cy="307777"/>
          </a:xfrm>
          <a:prstGeom prst="rect">
            <a:avLst/>
          </a:prstGeom>
          <a:noFill/>
        </p:spPr>
        <p:txBody>
          <a:bodyPr wrap="none" anchor="ctr">
            <a:spAutoFit/>
          </a:bodyPr>
          <a:lstStyle/>
          <a:p>
            <a:pPr algn="ctr">
              <a:defRPr sz="1400">
                <a:solidFill>
                  <a:srgbClr val="0070C0"/>
                </a:solidFill>
                <a:latin typeface="Arial"/>
              </a:defRPr>
            </a:pPr>
            <a:r>
              <a:t>→</a:t>
            </a:r>
          </a:p>
        </p:txBody>
      </p:sp>
      <p:sp>
        <p:nvSpPr>
          <p:cNvPr id="50" name="Rectangle 49"/>
          <p:cNvSpPr/>
          <p:nvPr/>
        </p:nvSpPr>
        <p:spPr>
          <a:xfrm>
            <a:off x="3303270" y="5526052"/>
            <a:ext cx="2708910" cy="1005840"/>
          </a:xfrm>
          <a:prstGeom prst="rect">
            <a:avLst/>
          </a:prstGeom>
          <a:solidFill>
            <a:srgbClr val="F5F5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1" name="Rectangle 50"/>
          <p:cNvSpPr/>
          <p:nvPr/>
        </p:nvSpPr>
        <p:spPr>
          <a:xfrm>
            <a:off x="3303270" y="5526052"/>
            <a:ext cx="2708910" cy="25603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Feedback Loop</a:t>
            </a:r>
          </a:p>
        </p:txBody>
      </p:sp>
      <p:sp>
        <p:nvSpPr>
          <p:cNvPr id="52" name="TextBox 51"/>
          <p:cNvSpPr txBox="1"/>
          <p:nvPr/>
        </p:nvSpPr>
        <p:spPr>
          <a:xfrm>
            <a:off x="3376422" y="5818660"/>
            <a:ext cx="2562606" cy="369332"/>
          </a:xfrm>
          <a:prstGeom prst="rect">
            <a:avLst/>
          </a:prstGeom>
          <a:noFill/>
        </p:spPr>
        <p:txBody>
          <a:bodyPr wrap="square">
            <a:spAutoFit/>
          </a:bodyPr>
          <a:lstStyle/>
          <a:p>
            <a:pPr>
              <a:defRPr sz="700">
                <a:solidFill>
                  <a:srgbClr val="2C3E50"/>
                </a:solidFill>
                <a:latin typeface="Arial"/>
              </a:defRPr>
            </a:pPr>
            <a:r>
              <a:rPr sz="900"/>
              <a:t>Delivery insights → Discovery · Real-world data → Refinement</a:t>
            </a:r>
          </a:p>
        </p:txBody>
      </p:sp>
      <p:sp>
        <p:nvSpPr>
          <p:cNvPr id="53" name="TextBox 52"/>
          <p:cNvSpPr txBox="1"/>
          <p:nvPr/>
        </p:nvSpPr>
        <p:spPr>
          <a:xfrm>
            <a:off x="3376422" y="6275860"/>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Continuous (not gated)</a:t>
            </a:r>
          </a:p>
        </p:txBody>
      </p:sp>
      <p:sp>
        <p:nvSpPr>
          <p:cNvPr id="54" name="TextBox 53"/>
          <p:cNvSpPr txBox="1"/>
          <p:nvPr/>
        </p:nvSpPr>
        <p:spPr>
          <a:xfrm>
            <a:off x="5898659" y="5875083"/>
            <a:ext cx="364202" cy="307777"/>
          </a:xfrm>
          <a:prstGeom prst="rect">
            <a:avLst/>
          </a:prstGeom>
          <a:noFill/>
        </p:spPr>
        <p:txBody>
          <a:bodyPr wrap="none" anchor="ctr">
            <a:spAutoFit/>
          </a:bodyPr>
          <a:lstStyle/>
          <a:p>
            <a:pPr algn="ctr">
              <a:defRPr sz="1400">
                <a:solidFill>
                  <a:srgbClr val="0070C0"/>
                </a:solidFill>
                <a:latin typeface="Arial"/>
              </a:defRPr>
            </a:pPr>
            <a:r>
              <a:t>→</a:t>
            </a:r>
          </a:p>
        </p:txBody>
      </p:sp>
      <p:sp>
        <p:nvSpPr>
          <p:cNvPr id="55" name="Rectangle 54"/>
          <p:cNvSpPr/>
          <p:nvPr/>
        </p:nvSpPr>
        <p:spPr>
          <a:xfrm>
            <a:off x="6149340" y="5526052"/>
            <a:ext cx="2708910" cy="1005840"/>
          </a:xfrm>
          <a:prstGeom prst="rect">
            <a:avLst/>
          </a:prstGeom>
          <a:solidFill>
            <a:srgbClr val="F5F5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6" name="Rectangle 55"/>
          <p:cNvSpPr/>
          <p:nvPr/>
        </p:nvSpPr>
        <p:spPr>
          <a:xfrm>
            <a:off x="6149340" y="5526052"/>
            <a:ext cx="2708910" cy="25603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Delivery Downstream</a:t>
            </a:r>
          </a:p>
        </p:txBody>
      </p:sp>
      <p:sp>
        <p:nvSpPr>
          <p:cNvPr id="57" name="TextBox 56"/>
          <p:cNvSpPr txBox="1"/>
          <p:nvPr/>
        </p:nvSpPr>
        <p:spPr>
          <a:xfrm>
            <a:off x="6222492" y="5818660"/>
            <a:ext cx="2562606" cy="369332"/>
          </a:xfrm>
          <a:prstGeom prst="rect">
            <a:avLst/>
          </a:prstGeom>
          <a:noFill/>
        </p:spPr>
        <p:txBody>
          <a:bodyPr wrap="square">
            <a:spAutoFit/>
          </a:bodyPr>
          <a:lstStyle/>
          <a:p>
            <a:pPr>
              <a:defRPr sz="700">
                <a:solidFill>
                  <a:srgbClr val="2C3E50"/>
                </a:solidFill>
                <a:latin typeface="Arial"/>
              </a:defRPr>
            </a:pPr>
            <a:r>
              <a:rPr sz="900"/>
              <a:t>Backlog Refinement · Development · Testing · Deployment</a:t>
            </a:r>
          </a:p>
        </p:txBody>
      </p:sp>
      <p:sp>
        <p:nvSpPr>
          <p:cNvPr id="58" name="TextBox 57"/>
          <p:cNvSpPr txBox="1"/>
          <p:nvPr/>
        </p:nvSpPr>
        <p:spPr>
          <a:xfrm>
            <a:off x="6222492" y="6275860"/>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Sprint Review + DoD</a:t>
            </a:r>
          </a:p>
        </p:txBody>
      </p:sp>
      <p:sp>
        <p:nvSpPr>
          <p:cNvPr id="59" name="TextBox 58"/>
          <p:cNvSpPr txBox="1"/>
          <p:nvPr/>
        </p:nvSpPr>
        <p:spPr>
          <a:xfrm>
            <a:off x="8744729" y="5875083"/>
            <a:ext cx="364202" cy="307777"/>
          </a:xfrm>
          <a:prstGeom prst="rect">
            <a:avLst/>
          </a:prstGeom>
          <a:noFill/>
        </p:spPr>
        <p:txBody>
          <a:bodyPr wrap="none" anchor="ctr">
            <a:spAutoFit/>
          </a:bodyPr>
          <a:lstStyle/>
          <a:p>
            <a:pPr algn="ctr">
              <a:defRPr sz="1400">
                <a:solidFill>
                  <a:srgbClr val="0070C0"/>
                </a:solidFill>
                <a:latin typeface="Arial"/>
              </a:defRPr>
            </a:pPr>
            <a:r>
              <a:t>→</a:t>
            </a:r>
          </a:p>
        </p:txBody>
      </p:sp>
      <p:sp>
        <p:nvSpPr>
          <p:cNvPr id="60" name="Rectangle 59"/>
          <p:cNvSpPr/>
          <p:nvPr/>
        </p:nvSpPr>
        <p:spPr>
          <a:xfrm>
            <a:off x="8995410" y="5526052"/>
            <a:ext cx="2708910" cy="1005840"/>
          </a:xfrm>
          <a:prstGeom prst="rect">
            <a:avLst/>
          </a:prstGeom>
          <a:solidFill>
            <a:srgbClr val="F5F5F5"/>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Rectangle 60"/>
          <p:cNvSpPr/>
          <p:nvPr/>
        </p:nvSpPr>
        <p:spPr>
          <a:xfrm>
            <a:off x="8995410" y="5526052"/>
            <a:ext cx="2708910" cy="25603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Portfolio Review</a:t>
            </a:r>
          </a:p>
        </p:txBody>
      </p:sp>
      <p:sp>
        <p:nvSpPr>
          <p:cNvPr id="62" name="TextBox 61"/>
          <p:cNvSpPr txBox="1"/>
          <p:nvPr/>
        </p:nvSpPr>
        <p:spPr>
          <a:xfrm>
            <a:off x="9068562" y="5818660"/>
            <a:ext cx="2562606" cy="369332"/>
          </a:xfrm>
          <a:prstGeom prst="rect">
            <a:avLst/>
          </a:prstGeom>
          <a:noFill/>
        </p:spPr>
        <p:txBody>
          <a:bodyPr wrap="square">
            <a:spAutoFit/>
          </a:bodyPr>
          <a:lstStyle/>
          <a:p>
            <a:pPr>
              <a:defRPr sz="700">
                <a:solidFill>
                  <a:srgbClr val="2C3E50"/>
                </a:solidFill>
                <a:latin typeface="Arial"/>
              </a:defRPr>
            </a:pPr>
            <a:r>
              <a:rPr sz="900"/>
              <a:t>Learn Cycle · Strategic Realignment · Next Quarter</a:t>
            </a:r>
          </a:p>
        </p:txBody>
      </p:sp>
      <p:sp>
        <p:nvSpPr>
          <p:cNvPr id="63" name="TextBox 62"/>
          <p:cNvSpPr txBox="1"/>
          <p:nvPr/>
        </p:nvSpPr>
        <p:spPr>
          <a:xfrm>
            <a:off x="9068562" y="6275860"/>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Quarterly Portfolio Learn Cycle</a:t>
            </a:r>
          </a:p>
        </p:txBody>
      </p:sp>
      <p:sp>
        <p:nvSpPr>
          <p:cNvPr id="2" name="Rectangle 1">
            <a:extLst>
              <a:ext uri="{FF2B5EF4-FFF2-40B4-BE49-F238E27FC236}">
                <a16:creationId xmlns:a16="http://schemas.microsoft.com/office/drawing/2014/main" id="{A247471C-BF1C-7BDD-4EBA-0C88128017BB}"/>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 name="Rectangle 1">
            <a:extLst>
              <a:ext uri="{FF2B5EF4-FFF2-40B4-BE49-F238E27FC236}">
                <a16:creationId xmlns:a16="http://schemas.microsoft.com/office/drawing/2014/main" id="{7064CA3B-B190-36E5-272F-875083AB75DB}"/>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1465" y="205740"/>
            <a:ext cx="10058400" cy="640080"/>
          </a:xfrm>
          <a:prstGeom prst="rect">
            <a:avLst/>
          </a:prstGeom>
          <a:noFill/>
        </p:spPr>
        <p:txBody>
          <a:bodyPr wrap="square">
            <a:spAutoFit/>
          </a:bodyPr>
          <a:lstStyle/>
          <a:p>
            <a:pPr>
              <a:defRPr sz="1600" b="1">
                <a:solidFill>
                  <a:srgbClr val="009688"/>
                </a:solidFill>
                <a:latin typeface="Arial"/>
              </a:defRPr>
            </a:pPr>
            <a:r>
              <a:t>Infrastructure — Team Topologies + Phased Deployment</a:t>
            </a:r>
          </a:p>
          <a:p>
            <a:pPr>
              <a:defRPr sz="900">
                <a:solidFill>
                  <a:srgbClr val="7F8C8D"/>
                </a:solidFill>
                <a:latin typeface="Arial"/>
              </a:defRPr>
            </a:pPr>
            <a:r>
              <a:t>Team Topologies framework defines structural relationships. Phased rollout: Pilot (1 team) → Expansion (7+ teams) → Optimization. Per-unit-served investment model.</a:t>
            </a:r>
          </a:p>
        </p:txBody>
      </p:sp>
      <p:sp>
        <p:nvSpPr>
          <p:cNvPr id="7" name="Rectangle 6"/>
          <p:cNvSpPr/>
          <p:nvPr/>
        </p:nvSpPr>
        <p:spPr>
          <a:xfrm>
            <a:off x="457200" y="943532"/>
            <a:ext cx="11247120" cy="1600200"/>
          </a:xfrm>
          <a:prstGeom prst="rect">
            <a:avLst/>
          </a:prstGeom>
          <a:solidFill>
            <a:srgbClr val="F5F5F5"/>
          </a:solidFill>
          <a:ln w="127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ectangle 7"/>
          <p:cNvSpPr/>
          <p:nvPr/>
        </p:nvSpPr>
        <p:spPr>
          <a:xfrm>
            <a:off x="457200" y="943532"/>
            <a:ext cx="11247120" cy="3200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Team Topologies Framework</a:t>
            </a:r>
          </a:p>
        </p:txBody>
      </p:sp>
      <p:sp>
        <p:nvSpPr>
          <p:cNvPr id="9" name="TextBox 8"/>
          <p:cNvSpPr txBox="1"/>
          <p:nvPr/>
        </p:nvSpPr>
        <p:spPr>
          <a:xfrm>
            <a:off x="566928" y="1309292"/>
            <a:ext cx="11027664" cy="230832"/>
          </a:xfrm>
          <a:prstGeom prst="rect">
            <a:avLst/>
          </a:prstGeom>
          <a:noFill/>
        </p:spPr>
        <p:txBody>
          <a:bodyPr wrap="square">
            <a:spAutoFit/>
          </a:bodyPr>
          <a:lstStyle/>
          <a:p>
            <a:pPr>
              <a:defRPr sz="700">
                <a:solidFill>
                  <a:srgbClr val="2C3E50"/>
                </a:solidFill>
                <a:latin typeface="Arial"/>
              </a:defRPr>
            </a:pPr>
            <a:r>
              <a:rPr sz="900"/>
              <a:t>4 team types with 3 interaction modes. Selection depends on volume/frequency of demand, reuse of deliverable, and current capabilities.</a:t>
            </a:r>
          </a:p>
        </p:txBody>
      </p:sp>
      <p:sp>
        <p:nvSpPr>
          <p:cNvPr id="10" name="Rectangle 9"/>
          <p:cNvSpPr/>
          <p:nvPr/>
        </p:nvSpPr>
        <p:spPr>
          <a:xfrm>
            <a:off x="640080" y="1675052"/>
            <a:ext cx="2617470" cy="274320"/>
          </a:xfrm>
          <a:prstGeom prst="rect">
            <a:avLst/>
          </a:prstGeom>
          <a:solidFill>
            <a:srgbClr val="D8EFED"/>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688"/>
                </a:solidFill>
                <a:latin typeface="Arial"/>
              </a:defRPr>
            </a:pPr>
            <a:r>
              <a:rPr sz="900"/>
              <a:t>Stream-Aligned</a:t>
            </a:r>
          </a:p>
        </p:txBody>
      </p:sp>
      <p:sp>
        <p:nvSpPr>
          <p:cNvPr id="11" name="TextBox 10"/>
          <p:cNvSpPr txBox="1"/>
          <p:nvPr/>
        </p:nvSpPr>
        <p:spPr>
          <a:xfrm>
            <a:off x="3167837" y="1681407"/>
            <a:ext cx="325731" cy="261610"/>
          </a:xfrm>
          <a:prstGeom prst="rect">
            <a:avLst/>
          </a:prstGeom>
          <a:noFill/>
        </p:spPr>
        <p:txBody>
          <a:bodyPr wrap="none" anchor="ctr">
            <a:spAutoFit/>
          </a:bodyPr>
          <a:lstStyle/>
          <a:p>
            <a:pPr algn="ctr">
              <a:defRPr sz="1000">
                <a:solidFill>
                  <a:srgbClr val="009688"/>
                </a:solidFill>
                <a:latin typeface="Arial"/>
              </a:defRPr>
            </a:pPr>
            <a:r>
              <a:rPr sz="1100"/>
              <a:t>→</a:t>
            </a:r>
          </a:p>
        </p:txBody>
      </p:sp>
      <p:sp>
        <p:nvSpPr>
          <p:cNvPr id="12" name="Rectangle 11"/>
          <p:cNvSpPr/>
          <p:nvPr/>
        </p:nvSpPr>
        <p:spPr>
          <a:xfrm>
            <a:off x="3394710" y="1675052"/>
            <a:ext cx="2617470" cy="274320"/>
          </a:xfrm>
          <a:prstGeom prst="rect">
            <a:avLst/>
          </a:prstGeom>
          <a:solidFill>
            <a:srgbClr val="D8EFED"/>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688"/>
                </a:solidFill>
                <a:latin typeface="Arial"/>
              </a:defRPr>
            </a:pPr>
            <a:r>
              <a:rPr sz="900"/>
              <a:t>Enabling Team</a:t>
            </a:r>
          </a:p>
        </p:txBody>
      </p:sp>
      <p:sp>
        <p:nvSpPr>
          <p:cNvPr id="13" name="TextBox 12"/>
          <p:cNvSpPr txBox="1"/>
          <p:nvPr/>
        </p:nvSpPr>
        <p:spPr>
          <a:xfrm>
            <a:off x="5922467" y="1681407"/>
            <a:ext cx="325731" cy="261610"/>
          </a:xfrm>
          <a:prstGeom prst="rect">
            <a:avLst/>
          </a:prstGeom>
          <a:noFill/>
        </p:spPr>
        <p:txBody>
          <a:bodyPr wrap="none" anchor="ctr">
            <a:spAutoFit/>
          </a:bodyPr>
          <a:lstStyle/>
          <a:p>
            <a:pPr algn="ctr">
              <a:defRPr sz="1000">
                <a:solidFill>
                  <a:srgbClr val="009688"/>
                </a:solidFill>
                <a:latin typeface="Arial"/>
              </a:defRPr>
            </a:pPr>
            <a:r>
              <a:rPr sz="1100"/>
              <a:t>→</a:t>
            </a:r>
          </a:p>
        </p:txBody>
      </p:sp>
      <p:sp>
        <p:nvSpPr>
          <p:cNvPr id="14" name="Rectangle 13"/>
          <p:cNvSpPr/>
          <p:nvPr/>
        </p:nvSpPr>
        <p:spPr>
          <a:xfrm>
            <a:off x="6149340" y="1675052"/>
            <a:ext cx="2617470" cy="274320"/>
          </a:xfrm>
          <a:prstGeom prst="rect">
            <a:avLst/>
          </a:prstGeom>
          <a:solidFill>
            <a:srgbClr val="D8EFED"/>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688"/>
                </a:solidFill>
                <a:latin typeface="Arial"/>
              </a:defRPr>
            </a:pPr>
            <a:r>
              <a:rPr sz="900"/>
              <a:t>Platform Team</a:t>
            </a:r>
          </a:p>
        </p:txBody>
      </p:sp>
      <p:sp>
        <p:nvSpPr>
          <p:cNvPr id="15" name="TextBox 14"/>
          <p:cNvSpPr txBox="1"/>
          <p:nvPr/>
        </p:nvSpPr>
        <p:spPr>
          <a:xfrm>
            <a:off x="8677097" y="1681407"/>
            <a:ext cx="325731" cy="261610"/>
          </a:xfrm>
          <a:prstGeom prst="rect">
            <a:avLst/>
          </a:prstGeom>
          <a:noFill/>
        </p:spPr>
        <p:txBody>
          <a:bodyPr wrap="none" anchor="ctr">
            <a:spAutoFit/>
          </a:bodyPr>
          <a:lstStyle/>
          <a:p>
            <a:pPr algn="ctr">
              <a:defRPr sz="1000">
                <a:solidFill>
                  <a:srgbClr val="009688"/>
                </a:solidFill>
                <a:latin typeface="Arial"/>
              </a:defRPr>
            </a:pPr>
            <a:r>
              <a:rPr sz="1100"/>
              <a:t>→</a:t>
            </a:r>
          </a:p>
        </p:txBody>
      </p:sp>
      <p:sp>
        <p:nvSpPr>
          <p:cNvPr id="16" name="Rectangle 15"/>
          <p:cNvSpPr/>
          <p:nvPr/>
        </p:nvSpPr>
        <p:spPr>
          <a:xfrm>
            <a:off x="8903970" y="1675052"/>
            <a:ext cx="2617470" cy="274320"/>
          </a:xfrm>
          <a:prstGeom prst="rect">
            <a:avLst/>
          </a:prstGeom>
          <a:solidFill>
            <a:srgbClr val="D8EFED"/>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9688"/>
                </a:solidFill>
                <a:latin typeface="Arial"/>
              </a:defRPr>
            </a:pPr>
            <a:r>
              <a:rPr sz="900"/>
              <a:t>Complicated Subsystem</a:t>
            </a:r>
          </a:p>
        </p:txBody>
      </p:sp>
      <p:sp>
        <p:nvSpPr>
          <p:cNvPr id="17" name="TextBox 16"/>
          <p:cNvSpPr txBox="1"/>
          <p:nvPr/>
        </p:nvSpPr>
        <p:spPr>
          <a:xfrm>
            <a:off x="566928" y="1995092"/>
            <a:ext cx="11027664" cy="230832"/>
          </a:xfrm>
          <a:prstGeom prst="rect">
            <a:avLst/>
          </a:prstGeom>
          <a:noFill/>
        </p:spPr>
        <p:txBody>
          <a:bodyPr wrap="square">
            <a:spAutoFit/>
          </a:bodyPr>
          <a:lstStyle/>
          <a:p>
            <a:r>
              <a:rPr sz="900" b="1">
                <a:solidFill>
                  <a:srgbClr val="7F8C8D"/>
                </a:solidFill>
                <a:latin typeface="Arial"/>
              </a:rPr>
              <a:t>Swimlanes: </a:t>
            </a:r>
            <a:r>
              <a:rPr sz="900">
                <a:solidFill>
                  <a:srgbClr val="2C3E50"/>
                </a:solidFill>
                <a:latin typeface="Arial"/>
              </a:rPr>
              <a:t>Collaboration · X-as-a-Service · Facilitating</a:t>
            </a:r>
          </a:p>
        </p:txBody>
      </p:sp>
      <p:sp>
        <p:nvSpPr>
          <p:cNvPr id="18" name="TextBox 17"/>
          <p:cNvSpPr txBox="1"/>
          <p:nvPr/>
        </p:nvSpPr>
        <p:spPr>
          <a:xfrm>
            <a:off x="566928" y="2342564"/>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Interaction mode defines how teams relate structurally</a:t>
            </a:r>
          </a:p>
        </p:txBody>
      </p:sp>
      <p:sp>
        <p:nvSpPr>
          <p:cNvPr id="19" name="Rectangle 18"/>
          <p:cNvSpPr/>
          <p:nvPr/>
        </p:nvSpPr>
        <p:spPr>
          <a:xfrm>
            <a:off x="457200" y="2635172"/>
            <a:ext cx="11247120" cy="1600200"/>
          </a:xfrm>
          <a:prstGeom prst="rect">
            <a:avLst/>
          </a:prstGeom>
          <a:solidFill>
            <a:srgbClr val="F5F5F5"/>
          </a:solidFill>
          <a:ln w="12700">
            <a:solidFill>
              <a:srgbClr val="00B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Rectangle 19"/>
          <p:cNvSpPr/>
          <p:nvPr/>
        </p:nvSpPr>
        <p:spPr>
          <a:xfrm>
            <a:off x="457200" y="2635172"/>
            <a:ext cx="11247120" cy="320040"/>
          </a:xfrm>
          <a:prstGeom prst="rect">
            <a:avLst/>
          </a:prstGeom>
          <a:solidFill>
            <a:srgbClr val="00B8A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Deployment Methodology</a:t>
            </a:r>
          </a:p>
        </p:txBody>
      </p:sp>
      <p:sp>
        <p:nvSpPr>
          <p:cNvPr id="21" name="TextBox 20"/>
          <p:cNvSpPr txBox="1"/>
          <p:nvPr/>
        </p:nvSpPr>
        <p:spPr>
          <a:xfrm>
            <a:off x="566928" y="3000932"/>
            <a:ext cx="11027664" cy="230832"/>
          </a:xfrm>
          <a:prstGeom prst="rect">
            <a:avLst/>
          </a:prstGeom>
          <a:noFill/>
        </p:spPr>
        <p:txBody>
          <a:bodyPr wrap="square">
            <a:spAutoFit/>
          </a:bodyPr>
          <a:lstStyle/>
          <a:p>
            <a:pPr>
              <a:defRPr sz="700">
                <a:solidFill>
                  <a:srgbClr val="2C3E50"/>
                </a:solidFill>
                <a:latin typeface="Arial"/>
              </a:defRPr>
            </a:pPr>
            <a:r>
              <a:rPr sz="900"/>
              <a:t>Rollout-iterative strategy based on experience. Learn from each phase before expanding. Sapiens Learning Cycles for implementation.</a:t>
            </a:r>
          </a:p>
        </p:txBody>
      </p:sp>
      <p:sp>
        <p:nvSpPr>
          <p:cNvPr id="22" name="Rectangle 21"/>
          <p:cNvSpPr/>
          <p:nvPr/>
        </p:nvSpPr>
        <p:spPr>
          <a:xfrm>
            <a:off x="640080" y="3366692"/>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B8A0"/>
                </a:solidFill>
                <a:latin typeface="Arial"/>
              </a:defRPr>
            </a:pPr>
            <a:r>
              <a:rPr sz="900"/>
              <a:t>Assessment (ODAS)</a:t>
            </a:r>
          </a:p>
        </p:txBody>
      </p:sp>
      <p:sp>
        <p:nvSpPr>
          <p:cNvPr id="23" name="TextBox 22"/>
          <p:cNvSpPr txBox="1"/>
          <p:nvPr/>
        </p:nvSpPr>
        <p:spPr>
          <a:xfrm>
            <a:off x="2616911" y="3373047"/>
            <a:ext cx="325731" cy="261610"/>
          </a:xfrm>
          <a:prstGeom prst="rect">
            <a:avLst/>
          </a:prstGeom>
          <a:noFill/>
        </p:spPr>
        <p:txBody>
          <a:bodyPr wrap="none" anchor="ctr">
            <a:spAutoFit/>
          </a:bodyPr>
          <a:lstStyle/>
          <a:p>
            <a:pPr algn="ctr">
              <a:defRPr sz="1000">
                <a:solidFill>
                  <a:srgbClr val="00B8A0"/>
                </a:solidFill>
                <a:latin typeface="Arial"/>
              </a:defRPr>
            </a:pPr>
            <a:r>
              <a:rPr sz="1100"/>
              <a:t>→</a:t>
            </a:r>
          </a:p>
        </p:txBody>
      </p:sp>
      <p:sp>
        <p:nvSpPr>
          <p:cNvPr id="24" name="Rectangle 23"/>
          <p:cNvSpPr/>
          <p:nvPr/>
        </p:nvSpPr>
        <p:spPr>
          <a:xfrm>
            <a:off x="2843784" y="3366692"/>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B8A0"/>
                </a:solidFill>
                <a:latin typeface="Arial"/>
              </a:defRPr>
            </a:pPr>
            <a:r>
              <a:rPr sz="900"/>
              <a:t>Preparation</a:t>
            </a:r>
          </a:p>
        </p:txBody>
      </p:sp>
      <p:sp>
        <p:nvSpPr>
          <p:cNvPr id="25" name="TextBox 24"/>
          <p:cNvSpPr txBox="1"/>
          <p:nvPr/>
        </p:nvSpPr>
        <p:spPr>
          <a:xfrm>
            <a:off x="4820615" y="3373047"/>
            <a:ext cx="325731" cy="261610"/>
          </a:xfrm>
          <a:prstGeom prst="rect">
            <a:avLst/>
          </a:prstGeom>
          <a:noFill/>
        </p:spPr>
        <p:txBody>
          <a:bodyPr wrap="none" anchor="ctr">
            <a:spAutoFit/>
          </a:bodyPr>
          <a:lstStyle/>
          <a:p>
            <a:pPr algn="ctr">
              <a:defRPr sz="1000">
                <a:solidFill>
                  <a:srgbClr val="00B8A0"/>
                </a:solidFill>
                <a:latin typeface="Arial"/>
              </a:defRPr>
            </a:pPr>
            <a:r>
              <a:rPr sz="1100"/>
              <a:t>→</a:t>
            </a:r>
          </a:p>
        </p:txBody>
      </p:sp>
      <p:sp>
        <p:nvSpPr>
          <p:cNvPr id="26" name="Rectangle 25"/>
          <p:cNvSpPr/>
          <p:nvPr/>
        </p:nvSpPr>
        <p:spPr>
          <a:xfrm>
            <a:off x="5047488" y="3366692"/>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B8A0"/>
                </a:solidFill>
                <a:latin typeface="Arial"/>
              </a:defRPr>
            </a:pPr>
            <a:r>
              <a:rPr sz="900"/>
              <a:t>Kanban Rollout</a:t>
            </a:r>
          </a:p>
        </p:txBody>
      </p:sp>
      <p:sp>
        <p:nvSpPr>
          <p:cNvPr id="27" name="TextBox 26"/>
          <p:cNvSpPr txBox="1"/>
          <p:nvPr/>
        </p:nvSpPr>
        <p:spPr>
          <a:xfrm>
            <a:off x="7024319" y="3373047"/>
            <a:ext cx="325731" cy="261610"/>
          </a:xfrm>
          <a:prstGeom prst="rect">
            <a:avLst/>
          </a:prstGeom>
          <a:noFill/>
        </p:spPr>
        <p:txBody>
          <a:bodyPr wrap="none" anchor="ctr">
            <a:spAutoFit/>
          </a:bodyPr>
          <a:lstStyle/>
          <a:p>
            <a:pPr algn="ctr">
              <a:defRPr sz="1000">
                <a:solidFill>
                  <a:srgbClr val="00B8A0"/>
                </a:solidFill>
                <a:latin typeface="Arial"/>
              </a:defRPr>
            </a:pPr>
            <a:r>
              <a:rPr sz="1100"/>
              <a:t>→</a:t>
            </a:r>
          </a:p>
        </p:txBody>
      </p:sp>
      <p:sp>
        <p:nvSpPr>
          <p:cNvPr id="28" name="Rectangle 27"/>
          <p:cNvSpPr/>
          <p:nvPr/>
        </p:nvSpPr>
        <p:spPr>
          <a:xfrm>
            <a:off x="7251192" y="3366692"/>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B8A0"/>
                </a:solidFill>
                <a:latin typeface="Arial"/>
              </a:defRPr>
            </a:pPr>
            <a:r>
              <a:rPr sz="900"/>
              <a:t>Portfolio Design</a:t>
            </a:r>
          </a:p>
        </p:txBody>
      </p:sp>
      <p:sp>
        <p:nvSpPr>
          <p:cNvPr id="29" name="TextBox 28"/>
          <p:cNvSpPr txBox="1"/>
          <p:nvPr/>
        </p:nvSpPr>
        <p:spPr>
          <a:xfrm>
            <a:off x="9228023" y="3373047"/>
            <a:ext cx="325731" cy="261610"/>
          </a:xfrm>
          <a:prstGeom prst="rect">
            <a:avLst/>
          </a:prstGeom>
          <a:noFill/>
        </p:spPr>
        <p:txBody>
          <a:bodyPr wrap="none" anchor="ctr">
            <a:spAutoFit/>
          </a:bodyPr>
          <a:lstStyle/>
          <a:p>
            <a:pPr algn="ctr">
              <a:defRPr sz="1000">
                <a:solidFill>
                  <a:srgbClr val="00B8A0"/>
                </a:solidFill>
                <a:latin typeface="Arial"/>
              </a:defRPr>
            </a:pPr>
            <a:r>
              <a:rPr sz="1100"/>
              <a:t>→</a:t>
            </a:r>
          </a:p>
        </p:txBody>
      </p:sp>
      <p:sp>
        <p:nvSpPr>
          <p:cNvPr id="30" name="Rectangle 29"/>
          <p:cNvSpPr/>
          <p:nvPr/>
        </p:nvSpPr>
        <p:spPr>
          <a:xfrm>
            <a:off x="9454896" y="3366692"/>
            <a:ext cx="2066544" cy="274320"/>
          </a:xfrm>
          <a:prstGeom prst="rect">
            <a:avLst/>
          </a:prstGeom>
          <a:solidFill>
            <a:srgbClr val="D8F4F0"/>
          </a:solidFill>
          <a:ln w="6350">
            <a:solidFill>
              <a:srgbClr val="00B8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00B8A0"/>
                </a:solidFill>
                <a:latin typeface="Arial"/>
              </a:defRPr>
            </a:pPr>
            <a:r>
              <a:rPr sz="900"/>
              <a:t>Stabilization</a:t>
            </a:r>
          </a:p>
        </p:txBody>
      </p:sp>
      <p:sp>
        <p:nvSpPr>
          <p:cNvPr id="31" name="TextBox 30"/>
          <p:cNvSpPr txBox="1"/>
          <p:nvPr/>
        </p:nvSpPr>
        <p:spPr>
          <a:xfrm>
            <a:off x="566928" y="4034204"/>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Sapiens Learning Cycles · Coaching Sessions · Flow Metrics Review</a:t>
            </a:r>
          </a:p>
        </p:txBody>
      </p:sp>
      <p:sp>
        <p:nvSpPr>
          <p:cNvPr id="32" name="TextBox 31"/>
          <p:cNvSpPr txBox="1"/>
          <p:nvPr/>
        </p:nvSpPr>
        <p:spPr>
          <a:xfrm>
            <a:off x="457200" y="4463972"/>
            <a:ext cx="1627369" cy="261610"/>
          </a:xfrm>
          <a:prstGeom prst="rect">
            <a:avLst/>
          </a:prstGeom>
          <a:noFill/>
        </p:spPr>
        <p:txBody>
          <a:bodyPr wrap="none">
            <a:spAutoFit/>
          </a:bodyPr>
          <a:lstStyle/>
          <a:p>
            <a:pPr>
              <a:defRPr sz="1000" b="1">
                <a:solidFill>
                  <a:srgbClr val="009688"/>
                </a:solidFill>
                <a:latin typeface="Arial"/>
              </a:defRPr>
            </a:pPr>
            <a:r>
              <a:rPr sz="1100"/>
              <a:t>E2E Lifecycle Phases</a:t>
            </a:r>
          </a:p>
        </p:txBody>
      </p:sp>
      <p:sp>
        <p:nvSpPr>
          <p:cNvPr id="33" name="Rectangle 32"/>
          <p:cNvSpPr/>
          <p:nvPr/>
        </p:nvSpPr>
        <p:spPr>
          <a:xfrm>
            <a:off x="457200" y="4738292"/>
            <a:ext cx="2708910" cy="1005840"/>
          </a:xfrm>
          <a:prstGeom prst="rect">
            <a:avLst/>
          </a:prstGeom>
          <a:solidFill>
            <a:srgbClr val="F5F5F5"/>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Rectangle 33"/>
          <p:cNvSpPr/>
          <p:nvPr/>
        </p:nvSpPr>
        <p:spPr>
          <a:xfrm>
            <a:off x="457200" y="4738292"/>
            <a:ext cx="2708910" cy="2560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Pilot (1 team)</a:t>
            </a:r>
          </a:p>
        </p:txBody>
      </p:sp>
      <p:sp>
        <p:nvSpPr>
          <p:cNvPr id="35" name="TextBox 34"/>
          <p:cNvSpPr txBox="1"/>
          <p:nvPr/>
        </p:nvSpPr>
        <p:spPr>
          <a:xfrm>
            <a:off x="530352" y="5030900"/>
            <a:ext cx="2562606" cy="369332"/>
          </a:xfrm>
          <a:prstGeom prst="rect">
            <a:avLst/>
          </a:prstGeom>
          <a:noFill/>
        </p:spPr>
        <p:txBody>
          <a:bodyPr wrap="square">
            <a:spAutoFit/>
          </a:bodyPr>
          <a:lstStyle/>
          <a:p>
            <a:pPr>
              <a:defRPr sz="700">
                <a:solidFill>
                  <a:srgbClr val="2C3E50"/>
                </a:solidFill>
                <a:latin typeface="Arial"/>
              </a:defRPr>
            </a:pPr>
            <a:r>
              <a:rPr sz="900"/>
              <a:t>ODAS Assessment · Team Blueprint · Kanban Design · Close Coaching</a:t>
            </a:r>
          </a:p>
        </p:txBody>
      </p:sp>
      <p:sp>
        <p:nvSpPr>
          <p:cNvPr id="36" name="TextBox 35"/>
          <p:cNvSpPr txBox="1"/>
          <p:nvPr/>
        </p:nvSpPr>
        <p:spPr>
          <a:xfrm>
            <a:off x="530352" y="5488100"/>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Flow Metrics Baseline</a:t>
            </a:r>
          </a:p>
        </p:txBody>
      </p:sp>
      <p:sp>
        <p:nvSpPr>
          <p:cNvPr id="37" name="TextBox 36"/>
          <p:cNvSpPr txBox="1"/>
          <p:nvPr/>
        </p:nvSpPr>
        <p:spPr>
          <a:xfrm>
            <a:off x="3052589" y="5087323"/>
            <a:ext cx="364202" cy="307777"/>
          </a:xfrm>
          <a:prstGeom prst="rect">
            <a:avLst/>
          </a:prstGeom>
          <a:noFill/>
        </p:spPr>
        <p:txBody>
          <a:bodyPr wrap="none" anchor="ctr">
            <a:spAutoFit/>
          </a:bodyPr>
          <a:lstStyle/>
          <a:p>
            <a:pPr algn="ctr">
              <a:defRPr sz="1400">
                <a:solidFill>
                  <a:srgbClr val="009688"/>
                </a:solidFill>
                <a:latin typeface="Arial"/>
              </a:defRPr>
            </a:pPr>
            <a:r>
              <a:t>→</a:t>
            </a:r>
          </a:p>
        </p:txBody>
      </p:sp>
      <p:sp>
        <p:nvSpPr>
          <p:cNvPr id="38" name="Rectangle 37"/>
          <p:cNvSpPr/>
          <p:nvPr/>
        </p:nvSpPr>
        <p:spPr>
          <a:xfrm>
            <a:off x="3303270" y="4738292"/>
            <a:ext cx="2708910" cy="1005840"/>
          </a:xfrm>
          <a:prstGeom prst="rect">
            <a:avLst/>
          </a:prstGeom>
          <a:solidFill>
            <a:srgbClr val="F5F5F5"/>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Rectangle 38"/>
          <p:cNvSpPr/>
          <p:nvPr/>
        </p:nvSpPr>
        <p:spPr>
          <a:xfrm>
            <a:off x="3303270" y="4738292"/>
            <a:ext cx="2708910" cy="2560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Learn &amp; Measure</a:t>
            </a:r>
          </a:p>
        </p:txBody>
      </p:sp>
      <p:sp>
        <p:nvSpPr>
          <p:cNvPr id="40" name="TextBox 39"/>
          <p:cNvSpPr txBox="1"/>
          <p:nvPr/>
        </p:nvSpPr>
        <p:spPr>
          <a:xfrm>
            <a:off x="3376422" y="5030900"/>
            <a:ext cx="2562606" cy="369332"/>
          </a:xfrm>
          <a:prstGeom prst="rect">
            <a:avLst/>
          </a:prstGeom>
          <a:noFill/>
        </p:spPr>
        <p:txBody>
          <a:bodyPr wrap="square">
            <a:spAutoFit/>
          </a:bodyPr>
          <a:lstStyle/>
          <a:p>
            <a:pPr>
              <a:defRPr sz="700">
                <a:solidFill>
                  <a:srgbClr val="2C3E50"/>
                </a:solidFill>
                <a:latin typeface="Arial"/>
              </a:defRPr>
            </a:pPr>
            <a:r>
              <a:rPr sz="900"/>
              <a:t>Lead Time · Cycle Time · Throughput · Team Health</a:t>
            </a:r>
          </a:p>
        </p:txBody>
      </p:sp>
      <p:sp>
        <p:nvSpPr>
          <p:cNvPr id="41" name="TextBox 40"/>
          <p:cNvSpPr txBox="1"/>
          <p:nvPr/>
        </p:nvSpPr>
        <p:spPr>
          <a:xfrm>
            <a:off x="3376422" y="5488100"/>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Results Report</a:t>
            </a:r>
          </a:p>
        </p:txBody>
      </p:sp>
      <p:sp>
        <p:nvSpPr>
          <p:cNvPr id="42" name="TextBox 41"/>
          <p:cNvSpPr txBox="1"/>
          <p:nvPr/>
        </p:nvSpPr>
        <p:spPr>
          <a:xfrm>
            <a:off x="5898659" y="5087323"/>
            <a:ext cx="364202" cy="307777"/>
          </a:xfrm>
          <a:prstGeom prst="rect">
            <a:avLst/>
          </a:prstGeom>
          <a:noFill/>
        </p:spPr>
        <p:txBody>
          <a:bodyPr wrap="none" anchor="ctr">
            <a:spAutoFit/>
          </a:bodyPr>
          <a:lstStyle/>
          <a:p>
            <a:pPr algn="ctr">
              <a:defRPr sz="1400">
                <a:solidFill>
                  <a:srgbClr val="009688"/>
                </a:solidFill>
                <a:latin typeface="Arial"/>
              </a:defRPr>
            </a:pPr>
            <a:r>
              <a:t>→</a:t>
            </a:r>
          </a:p>
        </p:txBody>
      </p:sp>
      <p:sp>
        <p:nvSpPr>
          <p:cNvPr id="43" name="Rectangle 42"/>
          <p:cNvSpPr/>
          <p:nvPr/>
        </p:nvSpPr>
        <p:spPr>
          <a:xfrm>
            <a:off x="6149340" y="4738292"/>
            <a:ext cx="2708910" cy="1005840"/>
          </a:xfrm>
          <a:prstGeom prst="rect">
            <a:avLst/>
          </a:prstGeom>
          <a:solidFill>
            <a:srgbClr val="F5F5F5"/>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Rectangle 43"/>
          <p:cNvSpPr/>
          <p:nvPr/>
        </p:nvSpPr>
        <p:spPr>
          <a:xfrm>
            <a:off x="6149340" y="4738292"/>
            <a:ext cx="2708910" cy="2560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Expansion (7+ teams)</a:t>
            </a:r>
          </a:p>
        </p:txBody>
      </p:sp>
      <p:sp>
        <p:nvSpPr>
          <p:cNvPr id="45" name="TextBox 44"/>
          <p:cNvSpPr txBox="1"/>
          <p:nvPr/>
        </p:nvSpPr>
        <p:spPr>
          <a:xfrm>
            <a:off x="6222492" y="5030900"/>
            <a:ext cx="2562606" cy="369332"/>
          </a:xfrm>
          <a:prstGeom prst="rect">
            <a:avLst/>
          </a:prstGeom>
          <a:noFill/>
        </p:spPr>
        <p:txBody>
          <a:bodyPr wrap="square">
            <a:spAutoFit/>
          </a:bodyPr>
          <a:lstStyle/>
          <a:p>
            <a:pPr>
              <a:defRPr sz="700">
                <a:solidFill>
                  <a:srgbClr val="2C3E50"/>
                </a:solidFill>
                <a:latin typeface="Arial"/>
              </a:defRPr>
            </a:pPr>
            <a:r>
              <a:rPr sz="900"/>
              <a:t>Sapiens Learning Cycle · Team Coaching · Knowledge Transfer</a:t>
            </a:r>
          </a:p>
        </p:txBody>
      </p:sp>
      <p:sp>
        <p:nvSpPr>
          <p:cNvPr id="46" name="TextBox 45"/>
          <p:cNvSpPr txBox="1"/>
          <p:nvPr/>
        </p:nvSpPr>
        <p:spPr>
          <a:xfrm>
            <a:off x="6222492" y="5488100"/>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Expansion Readiness</a:t>
            </a:r>
          </a:p>
        </p:txBody>
      </p:sp>
      <p:sp>
        <p:nvSpPr>
          <p:cNvPr id="47" name="TextBox 46"/>
          <p:cNvSpPr txBox="1"/>
          <p:nvPr/>
        </p:nvSpPr>
        <p:spPr>
          <a:xfrm>
            <a:off x="8744729" y="5087323"/>
            <a:ext cx="364202" cy="307777"/>
          </a:xfrm>
          <a:prstGeom prst="rect">
            <a:avLst/>
          </a:prstGeom>
          <a:noFill/>
        </p:spPr>
        <p:txBody>
          <a:bodyPr wrap="none" anchor="ctr">
            <a:spAutoFit/>
          </a:bodyPr>
          <a:lstStyle/>
          <a:p>
            <a:pPr algn="ctr">
              <a:defRPr sz="1400">
                <a:solidFill>
                  <a:srgbClr val="009688"/>
                </a:solidFill>
                <a:latin typeface="Arial"/>
              </a:defRPr>
            </a:pPr>
            <a:r>
              <a:t>→</a:t>
            </a:r>
          </a:p>
        </p:txBody>
      </p:sp>
      <p:sp>
        <p:nvSpPr>
          <p:cNvPr id="48" name="Rectangle 47"/>
          <p:cNvSpPr/>
          <p:nvPr/>
        </p:nvSpPr>
        <p:spPr>
          <a:xfrm>
            <a:off x="8995410" y="4738292"/>
            <a:ext cx="2708910" cy="1005840"/>
          </a:xfrm>
          <a:prstGeom prst="rect">
            <a:avLst/>
          </a:prstGeom>
          <a:solidFill>
            <a:srgbClr val="F5F5F5"/>
          </a:solidFill>
          <a:ln w="63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Rectangle 48"/>
          <p:cNvSpPr/>
          <p:nvPr/>
        </p:nvSpPr>
        <p:spPr>
          <a:xfrm>
            <a:off x="8995410" y="4738292"/>
            <a:ext cx="2708910" cy="2560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Optimization</a:t>
            </a:r>
          </a:p>
        </p:txBody>
      </p:sp>
      <p:sp>
        <p:nvSpPr>
          <p:cNvPr id="50" name="TextBox 49"/>
          <p:cNvSpPr txBox="1"/>
          <p:nvPr/>
        </p:nvSpPr>
        <p:spPr>
          <a:xfrm>
            <a:off x="9068562" y="5030900"/>
            <a:ext cx="2562606" cy="369332"/>
          </a:xfrm>
          <a:prstGeom prst="rect">
            <a:avLst/>
          </a:prstGeom>
          <a:noFill/>
        </p:spPr>
        <p:txBody>
          <a:bodyPr wrap="square">
            <a:spAutoFit/>
          </a:bodyPr>
          <a:lstStyle/>
          <a:p>
            <a:pPr>
              <a:defRPr sz="700">
                <a:solidFill>
                  <a:srgbClr val="2C3E50"/>
                </a:solidFill>
                <a:latin typeface="Arial"/>
              </a:defRPr>
            </a:pPr>
            <a:r>
              <a:rPr sz="900"/>
              <a:t>Portfolio Roadmap · Investment Model · Continuous Improvement</a:t>
            </a:r>
          </a:p>
        </p:txBody>
      </p:sp>
      <p:sp>
        <p:nvSpPr>
          <p:cNvPr id="51" name="TextBox 50"/>
          <p:cNvSpPr txBox="1"/>
          <p:nvPr/>
        </p:nvSpPr>
        <p:spPr>
          <a:xfrm>
            <a:off x="9068562" y="5488100"/>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Maturity Assessment</a:t>
            </a:r>
          </a:p>
        </p:txBody>
      </p:sp>
      <p:sp>
        <p:nvSpPr>
          <p:cNvPr id="2" name="Rectangle 1">
            <a:extLst>
              <a:ext uri="{FF2B5EF4-FFF2-40B4-BE49-F238E27FC236}">
                <a16:creationId xmlns:a16="http://schemas.microsoft.com/office/drawing/2014/main" id="{0B0BE1AA-C1BB-E3A6-F720-B6EDE8698D36}"/>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1465" y="205740"/>
            <a:ext cx="10058400" cy="640080"/>
          </a:xfrm>
          <a:prstGeom prst="rect">
            <a:avLst/>
          </a:prstGeom>
          <a:noFill/>
        </p:spPr>
        <p:txBody>
          <a:bodyPr wrap="square">
            <a:spAutoFit/>
          </a:bodyPr>
          <a:lstStyle/>
          <a:p>
            <a:pPr>
              <a:defRPr sz="1600" b="1">
                <a:solidFill>
                  <a:srgbClr val="D46B08"/>
                </a:solidFill>
                <a:latin typeface="Arial"/>
              </a:defRPr>
            </a:pPr>
            <a:r>
              <a:t>Renewables DTO — Lean Kanban 4-Pillar Model</a:t>
            </a:r>
          </a:p>
          <a:p>
            <a:pPr>
              <a:defRPr sz="900">
                <a:solidFill>
                  <a:srgbClr val="7F8C8D"/>
                </a:solidFill>
                <a:latin typeface="Arial"/>
              </a:defRPr>
            </a:pPr>
            <a:r>
              <a:t>4 pillars: Demand Intake → Prioritization → Delivery → Governance. Jira as single source of truth. Pull-based execution with WIP limits. 2-level board design.</a:t>
            </a:r>
          </a:p>
        </p:txBody>
      </p:sp>
      <p:sp>
        <p:nvSpPr>
          <p:cNvPr id="7" name="Rectangle 6"/>
          <p:cNvSpPr/>
          <p:nvPr/>
        </p:nvSpPr>
        <p:spPr>
          <a:xfrm>
            <a:off x="457200" y="951624"/>
            <a:ext cx="11247120" cy="1600200"/>
          </a:xfrm>
          <a:prstGeom prst="rect">
            <a:avLst/>
          </a:prstGeom>
          <a:solidFill>
            <a:srgbClr val="F5F5F5"/>
          </a:solidFill>
          <a:ln w="1270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ectangle 7"/>
          <p:cNvSpPr/>
          <p:nvPr/>
        </p:nvSpPr>
        <p:spPr>
          <a:xfrm>
            <a:off x="457200" y="951624"/>
            <a:ext cx="11247120" cy="320040"/>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Level 1 — Epic Kanban (Portfolio)</a:t>
            </a:r>
          </a:p>
        </p:txBody>
      </p:sp>
      <p:sp>
        <p:nvSpPr>
          <p:cNvPr id="9" name="TextBox 8"/>
          <p:cNvSpPr txBox="1"/>
          <p:nvPr/>
        </p:nvSpPr>
        <p:spPr>
          <a:xfrm>
            <a:off x="566928" y="1317384"/>
            <a:ext cx="11027664" cy="230832"/>
          </a:xfrm>
          <a:prstGeom prst="rect">
            <a:avLst/>
          </a:prstGeom>
          <a:noFill/>
        </p:spPr>
        <p:txBody>
          <a:bodyPr wrap="square">
            <a:spAutoFit/>
          </a:bodyPr>
          <a:lstStyle/>
          <a:p>
            <a:pPr>
              <a:defRPr sz="700">
                <a:solidFill>
                  <a:srgbClr val="2C3E50"/>
                </a:solidFill>
                <a:latin typeface="Arial"/>
              </a:defRPr>
            </a:pPr>
            <a:r>
              <a:rPr sz="900"/>
              <a:t>Connects strategy to execution. Ideas evaluated by DTO Project Committee. Swimlanes by business area.</a:t>
            </a:r>
          </a:p>
        </p:txBody>
      </p:sp>
      <p:sp>
        <p:nvSpPr>
          <p:cNvPr id="10" name="Rectangle 9"/>
          <p:cNvSpPr/>
          <p:nvPr/>
        </p:nvSpPr>
        <p:spPr>
          <a:xfrm>
            <a:off x="640080" y="1683144"/>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D46B08"/>
                </a:solidFill>
                <a:latin typeface="Arial"/>
              </a:defRPr>
            </a:pPr>
            <a:r>
              <a:rPr sz="900"/>
              <a:t>Backlog</a:t>
            </a:r>
          </a:p>
        </p:txBody>
      </p:sp>
      <p:sp>
        <p:nvSpPr>
          <p:cNvPr id="11" name="TextBox 10"/>
          <p:cNvSpPr txBox="1"/>
          <p:nvPr/>
        </p:nvSpPr>
        <p:spPr>
          <a:xfrm>
            <a:off x="2249627" y="1689499"/>
            <a:ext cx="325731" cy="261610"/>
          </a:xfrm>
          <a:prstGeom prst="rect">
            <a:avLst/>
          </a:prstGeom>
          <a:noFill/>
        </p:spPr>
        <p:txBody>
          <a:bodyPr wrap="none" anchor="ctr">
            <a:spAutoFit/>
          </a:bodyPr>
          <a:lstStyle/>
          <a:p>
            <a:pPr algn="ctr">
              <a:defRPr sz="1000">
                <a:solidFill>
                  <a:srgbClr val="D46B08"/>
                </a:solidFill>
                <a:latin typeface="Arial"/>
              </a:defRPr>
            </a:pPr>
            <a:r>
              <a:rPr sz="1100"/>
              <a:t>→</a:t>
            </a:r>
          </a:p>
        </p:txBody>
      </p:sp>
      <p:sp>
        <p:nvSpPr>
          <p:cNvPr id="12" name="Rectangle 11"/>
          <p:cNvSpPr/>
          <p:nvPr/>
        </p:nvSpPr>
        <p:spPr>
          <a:xfrm>
            <a:off x="2476500" y="1683144"/>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D46B08"/>
                </a:solidFill>
                <a:latin typeface="Arial"/>
              </a:defRPr>
            </a:pPr>
            <a:r>
              <a:rPr sz="900"/>
              <a:t>PMO</a:t>
            </a:r>
          </a:p>
        </p:txBody>
      </p:sp>
      <p:sp>
        <p:nvSpPr>
          <p:cNvPr id="13" name="TextBox 12"/>
          <p:cNvSpPr txBox="1"/>
          <p:nvPr/>
        </p:nvSpPr>
        <p:spPr>
          <a:xfrm>
            <a:off x="4086047" y="1689499"/>
            <a:ext cx="325731" cy="261610"/>
          </a:xfrm>
          <a:prstGeom prst="rect">
            <a:avLst/>
          </a:prstGeom>
          <a:noFill/>
        </p:spPr>
        <p:txBody>
          <a:bodyPr wrap="none" anchor="ctr">
            <a:spAutoFit/>
          </a:bodyPr>
          <a:lstStyle/>
          <a:p>
            <a:pPr algn="ctr">
              <a:defRPr sz="1000">
                <a:solidFill>
                  <a:srgbClr val="D46B08"/>
                </a:solidFill>
                <a:latin typeface="Arial"/>
              </a:defRPr>
            </a:pPr>
            <a:r>
              <a:rPr sz="1100"/>
              <a:t>→</a:t>
            </a:r>
          </a:p>
        </p:txBody>
      </p:sp>
      <p:sp>
        <p:nvSpPr>
          <p:cNvPr id="14" name="Rectangle 13"/>
          <p:cNvSpPr/>
          <p:nvPr/>
        </p:nvSpPr>
        <p:spPr>
          <a:xfrm>
            <a:off x="4312920" y="1683144"/>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D46B08"/>
                </a:solidFill>
                <a:latin typeface="Arial"/>
              </a:defRPr>
            </a:pPr>
            <a:r>
              <a:rPr sz="900"/>
              <a:t>Project Prep</a:t>
            </a:r>
          </a:p>
        </p:txBody>
      </p:sp>
      <p:sp>
        <p:nvSpPr>
          <p:cNvPr id="15" name="TextBox 14"/>
          <p:cNvSpPr txBox="1"/>
          <p:nvPr/>
        </p:nvSpPr>
        <p:spPr>
          <a:xfrm>
            <a:off x="5922467" y="1689499"/>
            <a:ext cx="325731" cy="261610"/>
          </a:xfrm>
          <a:prstGeom prst="rect">
            <a:avLst/>
          </a:prstGeom>
          <a:noFill/>
        </p:spPr>
        <p:txBody>
          <a:bodyPr wrap="none" anchor="ctr">
            <a:spAutoFit/>
          </a:bodyPr>
          <a:lstStyle/>
          <a:p>
            <a:pPr algn="ctr">
              <a:defRPr sz="1000">
                <a:solidFill>
                  <a:srgbClr val="D46B08"/>
                </a:solidFill>
                <a:latin typeface="Arial"/>
              </a:defRPr>
            </a:pPr>
            <a:r>
              <a:rPr sz="1100"/>
              <a:t>→</a:t>
            </a:r>
          </a:p>
        </p:txBody>
      </p:sp>
      <p:sp>
        <p:nvSpPr>
          <p:cNvPr id="16" name="Rectangle 15"/>
          <p:cNvSpPr/>
          <p:nvPr/>
        </p:nvSpPr>
        <p:spPr>
          <a:xfrm>
            <a:off x="6149340" y="1683144"/>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D46B08"/>
                </a:solidFill>
                <a:latin typeface="Arial"/>
              </a:defRPr>
            </a:pPr>
            <a:r>
              <a:rPr sz="900"/>
              <a:t>Ready</a:t>
            </a:r>
          </a:p>
        </p:txBody>
      </p:sp>
      <p:sp>
        <p:nvSpPr>
          <p:cNvPr id="17" name="TextBox 16"/>
          <p:cNvSpPr txBox="1"/>
          <p:nvPr/>
        </p:nvSpPr>
        <p:spPr>
          <a:xfrm>
            <a:off x="7758887" y="1689499"/>
            <a:ext cx="325731" cy="261610"/>
          </a:xfrm>
          <a:prstGeom prst="rect">
            <a:avLst/>
          </a:prstGeom>
          <a:noFill/>
        </p:spPr>
        <p:txBody>
          <a:bodyPr wrap="none" anchor="ctr">
            <a:spAutoFit/>
          </a:bodyPr>
          <a:lstStyle/>
          <a:p>
            <a:pPr algn="ctr">
              <a:defRPr sz="1000">
                <a:solidFill>
                  <a:srgbClr val="D46B08"/>
                </a:solidFill>
                <a:latin typeface="Arial"/>
              </a:defRPr>
            </a:pPr>
            <a:r>
              <a:rPr sz="1100"/>
              <a:t>→</a:t>
            </a:r>
          </a:p>
        </p:txBody>
      </p:sp>
      <p:sp>
        <p:nvSpPr>
          <p:cNvPr id="18" name="Rectangle 17"/>
          <p:cNvSpPr/>
          <p:nvPr/>
        </p:nvSpPr>
        <p:spPr>
          <a:xfrm>
            <a:off x="7985760" y="1683144"/>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D46B08"/>
                </a:solidFill>
                <a:latin typeface="Arial"/>
              </a:defRPr>
            </a:pPr>
            <a:r>
              <a:rPr sz="900"/>
              <a:t>Design &amp; Build</a:t>
            </a:r>
          </a:p>
        </p:txBody>
      </p:sp>
      <p:sp>
        <p:nvSpPr>
          <p:cNvPr id="19" name="TextBox 18"/>
          <p:cNvSpPr txBox="1"/>
          <p:nvPr/>
        </p:nvSpPr>
        <p:spPr>
          <a:xfrm>
            <a:off x="9595307" y="1689499"/>
            <a:ext cx="325731" cy="261610"/>
          </a:xfrm>
          <a:prstGeom prst="rect">
            <a:avLst/>
          </a:prstGeom>
          <a:noFill/>
        </p:spPr>
        <p:txBody>
          <a:bodyPr wrap="none" anchor="ctr">
            <a:spAutoFit/>
          </a:bodyPr>
          <a:lstStyle/>
          <a:p>
            <a:pPr algn="ctr">
              <a:defRPr sz="1000">
                <a:solidFill>
                  <a:srgbClr val="D46B08"/>
                </a:solidFill>
                <a:latin typeface="Arial"/>
              </a:defRPr>
            </a:pPr>
            <a:r>
              <a:rPr sz="1100"/>
              <a:t>→</a:t>
            </a:r>
          </a:p>
        </p:txBody>
      </p:sp>
      <p:sp>
        <p:nvSpPr>
          <p:cNvPr id="20" name="Rectangle 19"/>
          <p:cNvSpPr/>
          <p:nvPr/>
        </p:nvSpPr>
        <p:spPr>
          <a:xfrm>
            <a:off x="9822180" y="1683144"/>
            <a:ext cx="1699260" cy="274320"/>
          </a:xfrm>
          <a:prstGeom prst="rect">
            <a:avLst/>
          </a:prstGeom>
          <a:solidFill>
            <a:srgbClr val="F8E8D9"/>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D46B08"/>
                </a:solidFill>
                <a:latin typeface="Arial"/>
              </a:defRPr>
            </a:pPr>
            <a:r>
              <a:rPr sz="900"/>
              <a:t>Done</a:t>
            </a:r>
          </a:p>
        </p:txBody>
      </p:sp>
      <p:sp>
        <p:nvSpPr>
          <p:cNvPr id="21" name="TextBox 20"/>
          <p:cNvSpPr txBox="1"/>
          <p:nvPr/>
        </p:nvSpPr>
        <p:spPr>
          <a:xfrm>
            <a:off x="566928" y="2003184"/>
            <a:ext cx="11027664" cy="230832"/>
          </a:xfrm>
          <a:prstGeom prst="rect">
            <a:avLst/>
          </a:prstGeom>
          <a:noFill/>
        </p:spPr>
        <p:txBody>
          <a:bodyPr wrap="square">
            <a:spAutoFit/>
          </a:bodyPr>
          <a:lstStyle/>
          <a:p>
            <a:r>
              <a:rPr sz="900" b="1">
                <a:solidFill>
                  <a:srgbClr val="7F8C8D"/>
                </a:solidFill>
                <a:latin typeface="Arial"/>
              </a:rPr>
              <a:t>Swimlanes: </a:t>
            </a:r>
            <a:r>
              <a:rPr sz="900">
                <a:solidFill>
                  <a:srgbClr val="2C3E50"/>
                </a:solidFill>
                <a:latin typeface="Arial"/>
              </a:rPr>
              <a:t>Growth (Product) · Power Trading · O&amp;M · Canceled</a:t>
            </a:r>
          </a:p>
        </p:txBody>
      </p:sp>
      <p:sp>
        <p:nvSpPr>
          <p:cNvPr id="22" name="TextBox 21"/>
          <p:cNvSpPr txBox="1"/>
          <p:nvPr/>
        </p:nvSpPr>
        <p:spPr>
          <a:xfrm>
            <a:off x="566928" y="2350656"/>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DTO Project Committee · Replenishment Meeting</a:t>
            </a:r>
          </a:p>
        </p:txBody>
      </p:sp>
      <p:sp>
        <p:nvSpPr>
          <p:cNvPr id="23" name="Rectangle 22"/>
          <p:cNvSpPr/>
          <p:nvPr/>
        </p:nvSpPr>
        <p:spPr>
          <a:xfrm>
            <a:off x="457200" y="2643264"/>
            <a:ext cx="11247120" cy="1600200"/>
          </a:xfrm>
          <a:prstGeom prst="rect">
            <a:avLst/>
          </a:prstGeom>
          <a:solidFill>
            <a:srgbClr val="F5F5F5"/>
          </a:solidFill>
          <a:ln w="12700">
            <a:solidFill>
              <a:srgbClr val="E8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Rectangle 23"/>
          <p:cNvSpPr/>
          <p:nvPr/>
        </p:nvSpPr>
        <p:spPr>
          <a:xfrm>
            <a:off x="457200" y="2643264"/>
            <a:ext cx="11247120" cy="320040"/>
          </a:xfrm>
          <a:prstGeom prst="rect">
            <a:avLst/>
          </a:prstGeom>
          <a:solidFill>
            <a:srgbClr val="E88B3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rial"/>
              </a:rPr>
              <a:t>Level 2 — Project Kanban (Execution)</a:t>
            </a:r>
          </a:p>
        </p:txBody>
      </p:sp>
      <p:sp>
        <p:nvSpPr>
          <p:cNvPr id="25" name="TextBox 24"/>
          <p:cNvSpPr txBox="1"/>
          <p:nvPr/>
        </p:nvSpPr>
        <p:spPr>
          <a:xfrm>
            <a:off x="566928" y="3009024"/>
            <a:ext cx="11027664" cy="230832"/>
          </a:xfrm>
          <a:prstGeom prst="rect">
            <a:avLst/>
          </a:prstGeom>
          <a:noFill/>
        </p:spPr>
        <p:txBody>
          <a:bodyPr wrap="square">
            <a:spAutoFit/>
          </a:bodyPr>
          <a:lstStyle/>
          <a:p>
            <a:pPr>
              <a:defRPr sz="700">
                <a:solidFill>
                  <a:srgbClr val="2C3E50"/>
                </a:solidFill>
                <a:latin typeface="Arial"/>
              </a:defRPr>
            </a:pPr>
            <a:r>
              <a:rPr sz="900"/>
              <a:t>Pull-based execution. WIP limits enforced. QA pulls from Dev immediately. Definition of Done required.</a:t>
            </a:r>
          </a:p>
        </p:txBody>
      </p:sp>
      <p:sp>
        <p:nvSpPr>
          <p:cNvPr id="26" name="Rectangle 25"/>
          <p:cNvSpPr/>
          <p:nvPr/>
        </p:nvSpPr>
        <p:spPr>
          <a:xfrm>
            <a:off x="640080" y="3374784"/>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E88B30"/>
                </a:solidFill>
                <a:latin typeface="Arial"/>
              </a:defRPr>
            </a:pPr>
            <a:r>
              <a:rPr sz="900"/>
              <a:t>Backlog</a:t>
            </a:r>
          </a:p>
        </p:txBody>
      </p:sp>
      <p:sp>
        <p:nvSpPr>
          <p:cNvPr id="27" name="TextBox 26"/>
          <p:cNvSpPr txBox="1"/>
          <p:nvPr/>
        </p:nvSpPr>
        <p:spPr>
          <a:xfrm>
            <a:off x="2616911" y="3381139"/>
            <a:ext cx="325731" cy="261610"/>
          </a:xfrm>
          <a:prstGeom prst="rect">
            <a:avLst/>
          </a:prstGeom>
          <a:noFill/>
        </p:spPr>
        <p:txBody>
          <a:bodyPr wrap="none" anchor="ctr">
            <a:spAutoFit/>
          </a:bodyPr>
          <a:lstStyle/>
          <a:p>
            <a:pPr algn="ctr">
              <a:defRPr sz="1000">
                <a:solidFill>
                  <a:srgbClr val="E88B30"/>
                </a:solidFill>
                <a:latin typeface="Arial"/>
              </a:defRPr>
            </a:pPr>
            <a:r>
              <a:rPr sz="1100"/>
              <a:t>→</a:t>
            </a:r>
          </a:p>
        </p:txBody>
      </p:sp>
      <p:sp>
        <p:nvSpPr>
          <p:cNvPr id="28" name="Rectangle 27"/>
          <p:cNvSpPr/>
          <p:nvPr/>
        </p:nvSpPr>
        <p:spPr>
          <a:xfrm>
            <a:off x="2843784" y="3374784"/>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E88B30"/>
                </a:solidFill>
                <a:latin typeface="Arial"/>
              </a:defRPr>
            </a:pPr>
            <a:r>
              <a:rPr sz="900"/>
              <a:t>In Progress</a:t>
            </a:r>
          </a:p>
        </p:txBody>
      </p:sp>
      <p:sp>
        <p:nvSpPr>
          <p:cNvPr id="29" name="TextBox 28"/>
          <p:cNvSpPr txBox="1"/>
          <p:nvPr/>
        </p:nvSpPr>
        <p:spPr>
          <a:xfrm>
            <a:off x="4820615" y="3381139"/>
            <a:ext cx="325731" cy="261610"/>
          </a:xfrm>
          <a:prstGeom prst="rect">
            <a:avLst/>
          </a:prstGeom>
          <a:noFill/>
        </p:spPr>
        <p:txBody>
          <a:bodyPr wrap="none" anchor="ctr">
            <a:spAutoFit/>
          </a:bodyPr>
          <a:lstStyle/>
          <a:p>
            <a:pPr algn="ctr">
              <a:defRPr sz="1000">
                <a:solidFill>
                  <a:srgbClr val="E88B30"/>
                </a:solidFill>
                <a:latin typeface="Arial"/>
              </a:defRPr>
            </a:pPr>
            <a:r>
              <a:rPr sz="1100"/>
              <a:t>→</a:t>
            </a:r>
          </a:p>
        </p:txBody>
      </p:sp>
      <p:sp>
        <p:nvSpPr>
          <p:cNvPr id="30" name="Rectangle 29"/>
          <p:cNvSpPr/>
          <p:nvPr/>
        </p:nvSpPr>
        <p:spPr>
          <a:xfrm>
            <a:off x="5047488" y="3374784"/>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E88B30"/>
                </a:solidFill>
                <a:latin typeface="Arial"/>
              </a:defRPr>
            </a:pPr>
            <a:r>
              <a:rPr sz="900"/>
              <a:t>QA / Peer Review</a:t>
            </a:r>
          </a:p>
        </p:txBody>
      </p:sp>
      <p:sp>
        <p:nvSpPr>
          <p:cNvPr id="31" name="TextBox 30"/>
          <p:cNvSpPr txBox="1"/>
          <p:nvPr/>
        </p:nvSpPr>
        <p:spPr>
          <a:xfrm>
            <a:off x="7024319" y="3381139"/>
            <a:ext cx="325731" cy="261610"/>
          </a:xfrm>
          <a:prstGeom prst="rect">
            <a:avLst/>
          </a:prstGeom>
          <a:noFill/>
        </p:spPr>
        <p:txBody>
          <a:bodyPr wrap="none" anchor="ctr">
            <a:spAutoFit/>
          </a:bodyPr>
          <a:lstStyle/>
          <a:p>
            <a:pPr algn="ctr">
              <a:defRPr sz="1000">
                <a:solidFill>
                  <a:srgbClr val="E88B30"/>
                </a:solidFill>
                <a:latin typeface="Arial"/>
              </a:defRPr>
            </a:pPr>
            <a:r>
              <a:rPr sz="1100"/>
              <a:t>→</a:t>
            </a:r>
          </a:p>
        </p:txBody>
      </p:sp>
      <p:sp>
        <p:nvSpPr>
          <p:cNvPr id="32" name="Rectangle 31"/>
          <p:cNvSpPr/>
          <p:nvPr/>
        </p:nvSpPr>
        <p:spPr>
          <a:xfrm>
            <a:off x="7251192" y="3374784"/>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E88B30"/>
                </a:solidFill>
                <a:latin typeface="Arial"/>
              </a:defRPr>
            </a:pPr>
            <a:r>
              <a:rPr sz="900"/>
              <a:t>UAT</a:t>
            </a:r>
          </a:p>
        </p:txBody>
      </p:sp>
      <p:sp>
        <p:nvSpPr>
          <p:cNvPr id="33" name="TextBox 32"/>
          <p:cNvSpPr txBox="1"/>
          <p:nvPr/>
        </p:nvSpPr>
        <p:spPr>
          <a:xfrm>
            <a:off x="9228023" y="3381139"/>
            <a:ext cx="325731" cy="261610"/>
          </a:xfrm>
          <a:prstGeom prst="rect">
            <a:avLst/>
          </a:prstGeom>
          <a:noFill/>
        </p:spPr>
        <p:txBody>
          <a:bodyPr wrap="none" anchor="ctr">
            <a:spAutoFit/>
          </a:bodyPr>
          <a:lstStyle/>
          <a:p>
            <a:pPr algn="ctr">
              <a:defRPr sz="1000">
                <a:solidFill>
                  <a:srgbClr val="E88B30"/>
                </a:solidFill>
                <a:latin typeface="Arial"/>
              </a:defRPr>
            </a:pPr>
            <a:r>
              <a:rPr sz="1100"/>
              <a:t>→</a:t>
            </a:r>
          </a:p>
        </p:txBody>
      </p:sp>
      <p:sp>
        <p:nvSpPr>
          <p:cNvPr id="34" name="Rectangle 33"/>
          <p:cNvSpPr/>
          <p:nvPr/>
        </p:nvSpPr>
        <p:spPr>
          <a:xfrm>
            <a:off x="9454896" y="3374784"/>
            <a:ext cx="2066544" cy="274320"/>
          </a:xfrm>
          <a:prstGeom prst="rect">
            <a:avLst/>
          </a:prstGeom>
          <a:solidFill>
            <a:srgbClr val="FBEDDF"/>
          </a:solidFill>
          <a:ln w="6350">
            <a:solidFill>
              <a:srgbClr val="E88B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700" b="1">
                <a:solidFill>
                  <a:srgbClr val="E88B30"/>
                </a:solidFill>
                <a:latin typeface="Arial"/>
              </a:defRPr>
            </a:pPr>
            <a:r>
              <a:rPr sz="900"/>
              <a:t>Done</a:t>
            </a:r>
          </a:p>
        </p:txBody>
      </p:sp>
      <p:sp>
        <p:nvSpPr>
          <p:cNvPr id="35" name="TextBox 34"/>
          <p:cNvSpPr txBox="1"/>
          <p:nvPr/>
        </p:nvSpPr>
        <p:spPr>
          <a:xfrm>
            <a:off x="566928" y="3694824"/>
            <a:ext cx="11027664" cy="230832"/>
          </a:xfrm>
          <a:prstGeom prst="rect">
            <a:avLst/>
          </a:prstGeom>
          <a:noFill/>
        </p:spPr>
        <p:txBody>
          <a:bodyPr wrap="square">
            <a:spAutoFit/>
          </a:bodyPr>
          <a:lstStyle/>
          <a:p>
            <a:r>
              <a:rPr sz="900" b="1">
                <a:solidFill>
                  <a:srgbClr val="7F8C8D"/>
                </a:solidFill>
                <a:latin typeface="Arial"/>
              </a:rPr>
              <a:t>Swimlanes: </a:t>
            </a:r>
            <a:r>
              <a:rPr sz="900">
                <a:solidFill>
                  <a:srgbClr val="2C3E50"/>
                </a:solidFill>
                <a:latin typeface="Arial"/>
              </a:rPr>
              <a:t>Build 60% · BAU 25% · Upgrades 15%</a:t>
            </a:r>
          </a:p>
        </p:txBody>
      </p:sp>
      <p:sp>
        <p:nvSpPr>
          <p:cNvPr id="36" name="TextBox 35"/>
          <p:cNvSpPr txBox="1"/>
          <p:nvPr/>
        </p:nvSpPr>
        <p:spPr>
          <a:xfrm>
            <a:off x="566928" y="4042296"/>
            <a:ext cx="11027664" cy="230832"/>
          </a:xfrm>
          <a:prstGeom prst="rect">
            <a:avLst/>
          </a:prstGeom>
          <a:noFill/>
        </p:spPr>
        <p:txBody>
          <a:bodyPr wrap="square">
            <a:spAutoFit/>
          </a:bodyPr>
          <a:lstStyle/>
          <a:p>
            <a:r>
              <a:rPr sz="900" b="1">
                <a:solidFill>
                  <a:srgbClr val="EAB308"/>
                </a:solidFill>
                <a:latin typeface="Arial"/>
              </a:rPr>
              <a:t>Forums: </a:t>
            </a:r>
            <a:r>
              <a:rPr sz="900">
                <a:solidFill>
                  <a:srgbClr val="2C3E50"/>
                </a:solidFill>
                <a:latin typeface="Arial"/>
              </a:rPr>
              <a:t>Daily Flow Review · Retrospective / Kaizen</a:t>
            </a:r>
          </a:p>
        </p:txBody>
      </p:sp>
      <p:sp>
        <p:nvSpPr>
          <p:cNvPr id="37" name="TextBox 36"/>
          <p:cNvSpPr txBox="1"/>
          <p:nvPr/>
        </p:nvSpPr>
        <p:spPr>
          <a:xfrm>
            <a:off x="457200" y="4472064"/>
            <a:ext cx="1627369" cy="261610"/>
          </a:xfrm>
          <a:prstGeom prst="rect">
            <a:avLst/>
          </a:prstGeom>
          <a:noFill/>
        </p:spPr>
        <p:txBody>
          <a:bodyPr wrap="none">
            <a:spAutoFit/>
          </a:bodyPr>
          <a:lstStyle/>
          <a:p>
            <a:pPr>
              <a:defRPr sz="1000" b="1">
                <a:solidFill>
                  <a:srgbClr val="D46B08"/>
                </a:solidFill>
                <a:latin typeface="Arial"/>
              </a:defRPr>
            </a:pPr>
            <a:r>
              <a:rPr sz="1100"/>
              <a:t>E2E Lifecycle Phases</a:t>
            </a:r>
          </a:p>
        </p:txBody>
      </p:sp>
      <p:sp>
        <p:nvSpPr>
          <p:cNvPr id="38" name="Rectangle 37"/>
          <p:cNvSpPr/>
          <p:nvPr/>
        </p:nvSpPr>
        <p:spPr>
          <a:xfrm>
            <a:off x="457200" y="4746384"/>
            <a:ext cx="2708910" cy="1005840"/>
          </a:xfrm>
          <a:prstGeom prst="rect">
            <a:avLst/>
          </a:prstGeom>
          <a:solidFill>
            <a:srgbClr val="F5F5F5"/>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Rectangle 38"/>
          <p:cNvSpPr/>
          <p:nvPr/>
        </p:nvSpPr>
        <p:spPr>
          <a:xfrm>
            <a:off x="457200" y="4746384"/>
            <a:ext cx="2708910"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Demand Intake</a:t>
            </a:r>
          </a:p>
        </p:txBody>
      </p:sp>
      <p:sp>
        <p:nvSpPr>
          <p:cNvPr id="40" name="TextBox 39"/>
          <p:cNvSpPr txBox="1"/>
          <p:nvPr/>
        </p:nvSpPr>
        <p:spPr>
          <a:xfrm>
            <a:off x="530352" y="5038992"/>
            <a:ext cx="2562606" cy="369332"/>
          </a:xfrm>
          <a:prstGeom prst="rect">
            <a:avLst/>
          </a:prstGeom>
          <a:noFill/>
        </p:spPr>
        <p:txBody>
          <a:bodyPr wrap="square">
            <a:spAutoFit/>
          </a:bodyPr>
          <a:lstStyle/>
          <a:p>
            <a:pPr>
              <a:defRPr sz="700">
                <a:solidFill>
                  <a:srgbClr val="2C3E50"/>
                </a:solidFill>
                <a:latin typeface="Arial"/>
              </a:defRPr>
            </a:pPr>
            <a:r>
              <a:rPr sz="900"/>
              <a:t>Jira Ticket (standardized) · Class of Service · Triage · DoR</a:t>
            </a:r>
          </a:p>
        </p:txBody>
      </p:sp>
      <p:sp>
        <p:nvSpPr>
          <p:cNvPr id="41" name="TextBox 40"/>
          <p:cNvSpPr txBox="1"/>
          <p:nvPr/>
        </p:nvSpPr>
        <p:spPr>
          <a:xfrm>
            <a:off x="530352" y="5496192"/>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Definition of Ready met</a:t>
            </a:r>
          </a:p>
        </p:txBody>
      </p:sp>
      <p:sp>
        <p:nvSpPr>
          <p:cNvPr id="42" name="TextBox 41"/>
          <p:cNvSpPr txBox="1"/>
          <p:nvPr/>
        </p:nvSpPr>
        <p:spPr>
          <a:xfrm>
            <a:off x="3052589" y="5095415"/>
            <a:ext cx="364202" cy="307777"/>
          </a:xfrm>
          <a:prstGeom prst="rect">
            <a:avLst/>
          </a:prstGeom>
          <a:noFill/>
        </p:spPr>
        <p:txBody>
          <a:bodyPr wrap="none" anchor="ctr">
            <a:spAutoFit/>
          </a:bodyPr>
          <a:lstStyle/>
          <a:p>
            <a:pPr algn="ctr">
              <a:defRPr sz="1400">
                <a:solidFill>
                  <a:srgbClr val="D46B08"/>
                </a:solidFill>
                <a:latin typeface="Arial"/>
              </a:defRPr>
            </a:pPr>
            <a:r>
              <a:t>→</a:t>
            </a:r>
          </a:p>
        </p:txBody>
      </p:sp>
      <p:sp>
        <p:nvSpPr>
          <p:cNvPr id="43" name="Rectangle 42"/>
          <p:cNvSpPr/>
          <p:nvPr/>
        </p:nvSpPr>
        <p:spPr>
          <a:xfrm>
            <a:off x="3303270" y="4746384"/>
            <a:ext cx="2708910" cy="1005840"/>
          </a:xfrm>
          <a:prstGeom prst="rect">
            <a:avLst/>
          </a:prstGeom>
          <a:solidFill>
            <a:srgbClr val="F5F5F5"/>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Rectangle 43"/>
          <p:cNvSpPr/>
          <p:nvPr/>
        </p:nvSpPr>
        <p:spPr>
          <a:xfrm>
            <a:off x="3303270" y="4746384"/>
            <a:ext cx="2708910"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Prioritization</a:t>
            </a:r>
          </a:p>
        </p:txBody>
      </p:sp>
      <p:sp>
        <p:nvSpPr>
          <p:cNvPr id="45" name="TextBox 44"/>
          <p:cNvSpPr txBox="1"/>
          <p:nvPr/>
        </p:nvSpPr>
        <p:spPr>
          <a:xfrm>
            <a:off x="3376422" y="5038992"/>
            <a:ext cx="2562606" cy="369332"/>
          </a:xfrm>
          <a:prstGeom prst="rect">
            <a:avLst/>
          </a:prstGeom>
          <a:noFill/>
        </p:spPr>
        <p:txBody>
          <a:bodyPr wrap="square">
            <a:spAutoFit/>
          </a:bodyPr>
          <a:lstStyle/>
          <a:p>
            <a:pPr>
              <a:defRPr sz="700">
                <a:solidFill>
                  <a:srgbClr val="2C3E50"/>
                </a:solidFill>
                <a:latin typeface="Arial"/>
              </a:defRPr>
            </a:pPr>
            <a:r>
              <a:rPr sz="900"/>
              <a:t>Continuous ordering · BV × Urgency × Capacity · Pre-Estimation</a:t>
            </a:r>
          </a:p>
        </p:txBody>
      </p:sp>
      <p:sp>
        <p:nvSpPr>
          <p:cNvPr id="46" name="TextBox 45"/>
          <p:cNvSpPr txBox="1"/>
          <p:nvPr/>
        </p:nvSpPr>
        <p:spPr>
          <a:xfrm>
            <a:off x="3376422" y="5496192"/>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Prioritized Backlog</a:t>
            </a:r>
          </a:p>
        </p:txBody>
      </p:sp>
      <p:sp>
        <p:nvSpPr>
          <p:cNvPr id="47" name="TextBox 46"/>
          <p:cNvSpPr txBox="1"/>
          <p:nvPr/>
        </p:nvSpPr>
        <p:spPr>
          <a:xfrm>
            <a:off x="5898659" y="5095415"/>
            <a:ext cx="364202" cy="307777"/>
          </a:xfrm>
          <a:prstGeom prst="rect">
            <a:avLst/>
          </a:prstGeom>
          <a:noFill/>
        </p:spPr>
        <p:txBody>
          <a:bodyPr wrap="none" anchor="ctr">
            <a:spAutoFit/>
          </a:bodyPr>
          <a:lstStyle/>
          <a:p>
            <a:pPr algn="ctr">
              <a:defRPr sz="1400">
                <a:solidFill>
                  <a:srgbClr val="D46B08"/>
                </a:solidFill>
                <a:latin typeface="Arial"/>
              </a:defRPr>
            </a:pPr>
            <a:r>
              <a:t>→</a:t>
            </a:r>
          </a:p>
        </p:txBody>
      </p:sp>
      <p:sp>
        <p:nvSpPr>
          <p:cNvPr id="48" name="Rectangle 47"/>
          <p:cNvSpPr/>
          <p:nvPr/>
        </p:nvSpPr>
        <p:spPr>
          <a:xfrm>
            <a:off x="6149340" y="4746384"/>
            <a:ext cx="2708910" cy="1005840"/>
          </a:xfrm>
          <a:prstGeom prst="rect">
            <a:avLst/>
          </a:prstGeom>
          <a:solidFill>
            <a:srgbClr val="F5F5F5"/>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Rectangle 48"/>
          <p:cNvSpPr/>
          <p:nvPr/>
        </p:nvSpPr>
        <p:spPr>
          <a:xfrm>
            <a:off x="6149340" y="4746384"/>
            <a:ext cx="2708910"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Delivery</a:t>
            </a:r>
          </a:p>
        </p:txBody>
      </p:sp>
      <p:sp>
        <p:nvSpPr>
          <p:cNvPr id="50" name="TextBox 49"/>
          <p:cNvSpPr txBox="1"/>
          <p:nvPr/>
        </p:nvSpPr>
        <p:spPr>
          <a:xfrm>
            <a:off x="6222492" y="5038992"/>
            <a:ext cx="2562606" cy="369332"/>
          </a:xfrm>
          <a:prstGeom prst="rect">
            <a:avLst/>
          </a:prstGeom>
          <a:noFill/>
        </p:spPr>
        <p:txBody>
          <a:bodyPr wrap="square">
            <a:spAutoFit/>
          </a:bodyPr>
          <a:lstStyle/>
          <a:p>
            <a:pPr>
              <a:defRPr sz="700">
                <a:solidFill>
                  <a:srgbClr val="2C3E50"/>
                </a:solidFill>
                <a:latin typeface="Arial"/>
              </a:defRPr>
            </a:pPr>
            <a:r>
              <a:rPr sz="900"/>
              <a:t>Pull from backlog · WIP limits · QA pulls from Dev · DoD</a:t>
            </a:r>
          </a:p>
        </p:txBody>
      </p:sp>
      <p:sp>
        <p:nvSpPr>
          <p:cNvPr id="51" name="TextBox 50"/>
          <p:cNvSpPr txBox="1"/>
          <p:nvPr/>
        </p:nvSpPr>
        <p:spPr>
          <a:xfrm>
            <a:off x="6222492" y="5496192"/>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Definition of Done met</a:t>
            </a:r>
          </a:p>
        </p:txBody>
      </p:sp>
      <p:sp>
        <p:nvSpPr>
          <p:cNvPr id="52" name="TextBox 51"/>
          <p:cNvSpPr txBox="1"/>
          <p:nvPr/>
        </p:nvSpPr>
        <p:spPr>
          <a:xfrm>
            <a:off x="8744729" y="5095415"/>
            <a:ext cx="364202" cy="307777"/>
          </a:xfrm>
          <a:prstGeom prst="rect">
            <a:avLst/>
          </a:prstGeom>
          <a:noFill/>
        </p:spPr>
        <p:txBody>
          <a:bodyPr wrap="none" anchor="ctr">
            <a:spAutoFit/>
          </a:bodyPr>
          <a:lstStyle/>
          <a:p>
            <a:pPr algn="ctr">
              <a:defRPr sz="1400">
                <a:solidFill>
                  <a:srgbClr val="D46B08"/>
                </a:solidFill>
                <a:latin typeface="Arial"/>
              </a:defRPr>
            </a:pPr>
            <a:r>
              <a:t>→</a:t>
            </a:r>
          </a:p>
        </p:txBody>
      </p:sp>
      <p:sp>
        <p:nvSpPr>
          <p:cNvPr id="53" name="Rectangle 52"/>
          <p:cNvSpPr/>
          <p:nvPr/>
        </p:nvSpPr>
        <p:spPr>
          <a:xfrm>
            <a:off x="8995410" y="4746384"/>
            <a:ext cx="2708910" cy="1005840"/>
          </a:xfrm>
          <a:prstGeom prst="rect">
            <a:avLst/>
          </a:prstGeom>
          <a:solidFill>
            <a:srgbClr val="F5F5F5"/>
          </a:solidFill>
          <a:ln w="6350">
            <a:solidFill>
              <a:srgbClr val="D46B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Rectangle 53"/>
          <p:cNvSpPr/>
          <p:nvPr/>
        </p:nvSpPr>
        <p:spPr>
          <a:xfrm>
            <a:off x="8995410" y="4746384"/>
            <a:ext cx="2708910" cy="256032"/>
          </a:xfrm>
          <a:prstGeom prst="rect">
            <a:avLst/>
          </a:prstGeom>
          <a:solidFill>
            <a:srgbClr val="D46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Arial"/>
              </a:defRPr>
            </a:pPr>
            <a:r>
              <a:rPr sz="1000"/>
              <a:t>Governance</a:t>
            </a:r>
          </a:p>
        </p:txBody>
      </p:sp>
      <p:sp>
        <p:nvSpPr>
          <p:cNvPr id="55" name="TextBox 54"/>
          <p:cNvSpPr txBox="1"/>
          <p:nvPr/>
        </p:nvSpPr>
        <p:spPr>
          <a:xfrm>
            <a:off x="9068562" y="5038992"/>
            <a:ext cx="2562606" cy="369332"/>
          </a:xfrm>
          <a:prstGeom prst="rect">
            <a:avLst/>
          </a:prstGeom>
          <a:noFill/>
        </p:spPr>
        <p:txBody>
          <a:bodyPr wrap="square">
            <a:spAutoFit/>
          </a:bodyPr>
          <a:lstStyle/>
          <a:p>
            <a:pPr>
              <a:defRPr sz="700">
                <a:solidFill>
                  <a:srgbClr val="2C3E50"/>
                </a:solidFill>
                <a:latin typeface="Arial"/>
              </a:defRPr>
            </a:pPr>
            <a:r>
              <a:rPr sz="900"/>
              <a:t>Flow Metrics: LT, CT, Throughput, Aging · Kaizen</a:t>
            </a:r>
          </a:p>
        </p:txBody>
      </p:sp>
      <p:sp>
        <p:nvSpPr>
          <p:cNvPr id="56" name="TextBox 55"/>
          <p:cNvSpPr txBox="1"/>
          <p:nvPr/>
        </p:nvSpPr>
        <p:spPr>
          <a:xfrm>
            <a:off x="9068562" y="5496192"/>
            <a:ext cx="2562606" cy="230832"/>
          </a:xfrm>
          <a:prstGeom prst="rect">
            <a:avLst/>
          </a:prstGeom>
          <a:noFill/>
        </p:spPr>
        <p:txBody>
          <a:bodyPr wrap="square">
            <a:spAutoFit/>
          </a:bodyPr>
          <a:lstStyle/>
          <a:p>
            <a:r>
              <a:rPr sz="900" b="1">
                <a:solidFill>
                  <a:srgbClr val="EAB308"/>
                </a:solidFill>
                <a:latin typeface="Arial"/>
              </a:rPr>
              <a:t>Gate: </a:t>
            </a:r>
            <a:r>
              <a:rPr sz="900">
                <a:solidFill>
                  <a:srgbClr val="2C3E50"/>
                </a:solidFill>
                <a:latin typeface="Arial"/>
              </a:rPr>
              <a:t>Metrics reviewed regularly</a:t>
            </a:r>
          </a:p>
        </p:txBody>
      </p:sp>
      <p:sp>
        <p:nvSpPr>
          <p:cNvPr id="2" name="Rectangle 1">
            <a:extLst>
              <a:ext uri="{FF2B5EF4-FFF2-40B4-BE49-F238E27FC236}">
                <a16:creationId xmlns:a16="http://schemas.microsoft.com/office/drawing/2014/main" id="{1A1561A1-FAFA-5387-68C4-916C58EC78D9}"/>
              </a:ext>
            </a:extLst>
          </p:cNvPr>
          <p:cNvSpPr/>
          <p:nvPr/>
        </p:nvSpPr>
        <p:spPr>
          <a:xfrm>
            <a:off x="137160" y="137160"/>
            <a:ext cx="45720" cy="640080"/>
          </a:xfrm>
          <a:prstGeom prst="rect">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7929D2-F60E-4383-BC2D-AB901AA6F4D0}">
  <we:reference id="WA200010001" version="1.0.0.1" store="pt-br" storeType="omex"/>
  <we:alternateReferences>
    <we:reference id="WA200010001" version="1.0.0.1" store="omex" storeType="omex"/>
  </we:alternateReferences>
  <we:properties>
    <we:property name="claude.fileId" value="&quot;39acb17f-4649-4d5a-a1fb-4c73a1b9363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24ABF3122F7F4D498EB3A12D7FC443DA" ma:contentTypeVersion="15" ma:contentTypeDescription="Crear nuevo documento." ma:contentTypeScope="" ma:versionID="7ce91214b69d3ad650889c52d7c1a41d">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50a3d36cb747385e8c121ab8640bbf0f"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Etiquetas de imagen"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8E69A5-9AC3-4456-9765-483B3C7A690B}">
  <ds:schemaRefs>
    <ds:schemaRef ds:uri="http://schemas.microsoft.com/sharepoint/v3/contenttype/forms"/>
  </ds:schemaRefs>
</ds:datastoreItem>
</file>

<file path=customXml/itemProps2.xml><?xml version="1.0" encoding="utf-8"?>
<ds:datastoreItem xmlns:ds="http://schemas.openxmlformats.org/officeDocument/2006/customXml" ds:itemID="{48240A12-37A4-4EA9-B7BE-A326A5FEE75C}">
  <ds:schemaRefs>
    <ds:schemaRef ds:uri="4b464e96-be12-433e-8722-39d5a0f59d28"/>
    <ds:schemaRef ds:uri="9af8d66c-8f78-4f3a-ae1c-6e82e7ed62c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E509123-3C83-4D49-A13A-F670CF4A2DFB}">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emplate/>
  <TotalTime>0</TotalTime>
  <Words>5354</Words>
  <Application>Microsoft Macintosh PowerPoint</Application>
  <PresentationFormat>Widescreen</PresentationFormat>
  <Paragraphs>398</Paragraphs>
  <Slides>12</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vt:i4>
      </vt:variant>
    </vt:vector>
  </HeadingPairs>
  <TitlesOfParts>
    <vt:vector size="17" baseType="lpstr">
      <vt:lpstr>Aptos</vt:lpstr>
      <vt:lpstr>Arial</vt:lpstr>
      <vt:lpstr>Calibri</vt:lpstr>
      <vt:lpstr>Georgia Pro</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Gustavo Castellano</cp:lastModifiedBy>
  <cp:revision>1</cp:revision>
  <dcterms:created xsi:type="dcterms:W3CDTF">2013-01-27T09:14:16Z</dcterms:created>
  <dcterms:modified xsi:type="dcterms:W3CDTF">2026-04-08T18:12:16Z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