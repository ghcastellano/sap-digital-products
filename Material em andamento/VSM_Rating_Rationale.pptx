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C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384048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CURRENT STATE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38912"/>
            <a:ext cx="9144000" cy="25603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900" b="1">
                <a:solidFill>
                  <a:srgbClr val="C7D3E4"/>
                </a:solidFill>
                <a:latin typeface="Calibri"/>
              </a:rPr>
              <a:t>VALUE STREAM MAPPING — RATING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463040" cy="41148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⦿ NTT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68680"/>
            <a:ext cx="11658600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1400" b="1">
                <a:solidFill>
                  <a:srgbClr val="2E6CB3"/>
                </a:solidFill>
                <a:latin typeface="Calibri"/>
              </a:rPr>
              <a:t>Why each lifecycle stage was rated — the short executive rationale per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1453896" y="1417320"/>
            <a:ext cx="1463040" cy="658368"/>
          </a:xfrm>
          <a:prstGeom prst="rect">
            <a:avLst/>
          </a:prstGeom>
          <a:solidFill>
            <a:srgbClr val="214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3896" y="1417320"/>
            <a:ext cx="1463040" cy="384048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746504"/>
            <a:ext cx="1463040" cy="310896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800" b="0">
                <a:solidFill>
                  <a:srgbClr val="C7D3E4"/>
                </a:solidFill>
                <a:latin typeface="Calibri"/>
              </a:rPr>
              <a:t>Who sends the demand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3512" y="1417320"/>
            <a:ext cx="1188720" cy="658368"/>
          </a:xfrm>
          <a:prstGeom prst="rect">
            <a:avLst/>
          </a:prstGeom>
          <a:solidFill>
            <a:srgbClr val="214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3512" y="1417320"/>
            <a:ext cx="1188720" cy="384048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1746504"/>
            <a:ext cx="1188720" cy="310896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800" b="0">
                <a:solidFill>
                  <a:srgbClr val="C7D3E4"/>
                </a:solidFill>
                <a:latin typeface="Calibri"/>
              </a:rPr>
              <a:t>What kind of demand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8808" y="1417320"/>
            <a:ext cx="1627632" cy="658368"/>
          </a:xfrm>
          <a:prstGeom prst="rect">
            <a:avLst/>
          </a:prstGeom>
          <a:solidFill>
            <a:srgbClr val="214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1417320"/>
            <a:ext cx="1627632" cy="384048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 INTAKE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746504"/>
            <a:ext cx="1627632" cy="310896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800" b="0">
                <a:solidFill>
                  <a:srgbClr val="C7D3E4"/>
                </a:solidFill>
                <a:latin typeface="Calibri"/>
              </a:rPr>
              <a:t>Channels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43016" y="1417320"/>
            <a:ext cx="1627632" cy="658368"/>
          </a:xfrm>
          <a:prstGeom prst="rect">
            <a:avLst/>
          </a:prstGeom>
          <a:solidFill>
            <a:srgbClr val="214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3016" y="1417320"/>
            <a:ext cx="1627632" cy="384048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3016" y="1746504"/>
            <a:ext cx="1627632" cy="310896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800" b="0">
                <a:solidFill>
                  <a:srgbClr val="C7D3E4"/>
                </a:solidFill>
                <a:latin typeface="Calibri"/>
              </a:rPr>
              <a:t>Type, Size, Urgency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07224" y="1417320"/>
            <a:ext cx="1627632" cy="658368"/>
          </a:xfrm>
          <a:prstGeom prst="rect">
            <a:avLst/>
          </a:prstGeom>
          <a:solidFill>
            <a:srgbClr val="214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7224" y="1417320"/>
            <a:ext cx="1627632" cy="384048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 PRIORITIZATION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4" y="1746504"/>
            <a:ext cx="1627632" cy="310896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800" b="0">
                <a:solidFill>
                  <a:srgbClr val="C7D3E4"/>
                </a:solidFill>
                <a:latin typeface="Calibri"/>
              </a:rPr>
              <a:t>Scoring &amp; Criteria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71432" y="1417320"/>
            <a:ext cx="1627632" cy="658368"/>
          </a:xfrm>
          <a:prstGeom prst="rect">
            <a:avLst/>
          </a:prstGeom>
          <a:solidFill>
            <a:srgbClr val="214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1417320"/>
            <a:ext cx="1627632" cy="384048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04 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1746504"/>
            <a:ext cx="1627632" cy="310896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800" b="0">
                <a:solidFill>
                  <a:srgbClr val="C7D3E4"/>
                </a:solidFill>
                <a:latin typeface="Calibri"/>
              </a:rPr>
              <a:t>Governance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35640" y="1417320"/>
            <a:ext cx="1627632" cy="658368"/>
          </a:xfrm>
          <a:prstGeom prst="rect">
            <a:avLst/>
          </a:prstGeom>
          <a:solidFill>
            <a:srgbClr val="214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35640" y="1417320"/>
            <a:ext cx="1627632" cy="384048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05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1746504"/>
            <a:ext cx="1627632" cy="310896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800" b="0">
                <a:solidFill>
                  <a:srgbClr val="C7D3E4"/>
                </a:solidFill>
                <a:latin typeface="Calibri"/>
              </a:rPr>
              <a:t>Execution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157984"/>
            <a:ext cx="11643055" cy="27432"/>
          </a:xfrm>
          <a:prstGeom prst="rect">
            <a:avLst/>
          </a:prstGeom>
          <a:solidFill>
            <a:srgbClr val="5BB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203704"/>
            <a:ext cx="4572000" cy="164592"/>
          </a:xfrm>
          <a:prstGeom prst="rect">
            <a:avLst/>
          </a:prstGeom>
          <a:noFill/>
        </p:spPr>
        <p:txBody>
          <a:bodyPr wrap="square" lIns="36000" rIns="36000" tIns="14000" bIns="14000" anchor="t">
            <a:spAutoFit/>
          </a:bodyPr>
          <a:lstStyle/>
          <a:p>
            <a:pPr algn="l"/>
            <a:r>
              <a:rPr sz="900" b="1">
                <a:solidFill>
                  <a:srgbClr val="5BB5B8"/>
                </a:solidFill>
                <a:latin typeface="Calibri"/>
              </a:rPr>
              <a:t>IT BUSINESS APPLICATIONS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331720"/>
            <a:ext cx="1143000" cy="530352"/>
          </a:xfrm>
          <a:prstGeom prst="rect">
            <a:avLst/>
          </a:prstGeom>
          <a:solidFill>
            <a:srgbClr val="959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331720"/>
            <a:ext cx="1143000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GIS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53896" y="2331720"/>
            <a:ext cx="1463040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08760" y="2331720"/>
            <a:ext cx="1353312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3F4855"/>
                </a:solidFill>
                <a:latin typeface="Calibri"/>
              </a:rPr>
              <a:t>Electric &amp; Gas Field Ops · OSG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53512" y="2331720"/>
            <a:ext cx="1188720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08376" y="2331720"/>
            <a:ext cx="1078992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3F4855"/>
                </a:solidFill>
                <a:latin typeface="Calibri"/>
              </a:rPr>
              <a:t>Break/fix · Small · Large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8808" y="2331720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51960" y="2441448"/>
            <a:ext cx="128016" cy="128016"/>
          </a:xfrm>
          <a:prstGeom prst="ellipse">
            <a:avLst/>
          </a:prstGeom>
          <a:solidFill>
            <a:srgbClr val="EBA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53128" y="2368296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4 channels, no SLA or volume tracking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43016" y="2331720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16168" y="2441448"/>
            <a:ext cx="128016" cy="128016"/>
          </a:xfrm>
          <a:prstGeom prst="ellipse">
            <a:avLst/>
          </a:prstGeom>
          <a:solidFill>
            <a:srgbClr val="EBA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17336" y="2368296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Routed by channel; no rule below PDD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07224" y="2331720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580376" y="2441448"/>
            <a:ext cx="128016" cy="128016"/>
          </a:xfrm>
          <a:prstGeom prst="ellipse">
            <a:avLst/>
          </a:prstGeom>
          <a:solidFill>
            <a:srgbClr val="EBA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81544" y="2368296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'Most users' heuristic, not scored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71432" y="2331720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44584" y="2441448"/>
            <a:ext cx="128016" cy="128016"/>
          </a:xfrm>
          <a:prstGeom prst="ellipse">
            <a:avLst/>
          </a:prstGeom>
          <a:solidFill>
            <a:srgbClr val="EBA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45752" y="2368296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OneNote + Teams + spreadsheets, no tool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35640" y="2331720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08792" y="2441448"/>
            <a:ext cx="128016" cy="128016"/>
          </a:xfrm>
          <a:prstGeom prst="ellipse">
            <a:avLst/>
          </a:prstGeom>
          <a:solidFill>
            <a:srgbClr val="EBA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109960" y="2368296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Internal + SWF ad-hoc; no release KPIs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2889504"/>
            <a:ext cx="1143000" cy="530352"/>
          </a:xfrm>
          <a:prstGeom prst="rect">
            <a:avLst/>
          </a:prstGeom>
          <a:solidFill>
            <a:srgbClr val="959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2889504"/>
            <a:ext cx="1143000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Corporate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53896" y="2889504"/>
            <a:ext cx="1463040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08760" y="2889504"/>
            <a:ext cx="1353312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3F4855"/>
                </a:solidFill>
                <a:latin typeface="Calibri"/>
              </a:rPr>
              <a:t>Finance · HR · Procurement · Legal · Regulatory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53512" y="2889504"/>
            <a:ext cx="1188720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08376" y="2889504"/>
            <a:ext cx="1078992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3F4855"/>
                </a:solidFill>
                <a:latin typeface="Calibri"/>
              </a:rPr>
              <a:t>Regulatory · Small/Medium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8808" y="2889504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51960" y="2999232"/>
            <a:ext cx="128016" cy="128016"/>
          </a:xfrm>
          <a:prstGeom prst="ellipse">
            <a:avLst/>
          </a:prstGeom>
          <a:solidFill>
            <a:srgbClr val="EBA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53128" y="2926080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Word docs break the digital trail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43016" y="2889504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916168" y="2999232"/>
            <a:ext cx="128016" cy="128016"/>
          </a:xfrm>
          <a:prstGeom prst="ellipse">
            <a:avLst/>
          </a:prstGeom>
          <a:solidFill>
            <a:srgbClr val="D96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17336" y="2926080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No model for small/medium demand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07224" y="2889504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580376" y="2999232"/>
            <a:ext cx="128016" cy="128016"/>
          </a:xfrm>
          <a:prstGeom prst="ellipse">
            <a:avLst/>
          </a:prstGeom>
          <a:solidFill>
            <a:srgbClr val="EBA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81544" y="2926080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Regulatory = default; no scoring tool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71432" y="2889504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44584" y="2999232"/>
            <a:ext cx="128016" cy="128016"/>
          </a:xfrm>
          <a:prstGeom prst="ellipse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45752" y="2926080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PDD + Confluence govern portfolio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835640" y="2889504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908792" y="2999232"/>
            <a:ext cx="128016" cy="128016"/>
          </a:xfrm>
          <a:prstGeom prst="ellipse">
            <a:avLst/>
          </a:prstGeom>
          <a:solidFill>
            <a:srgbClr val="EBA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109960" y="2926080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One-year plan; no release KPIs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3447288"/>
            <a:ext cx="1143000" cy="530352"/>
          </a:xfrm>
          <a:prstGeom prst="rect">
            <a:avLst/>
          </a:prstGeom>
          <a:solidFill>
            <a:srgbClr val="959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3447288"/>
            <a:ext cx="1143000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G&amp;E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453896" y="3447288"/>
            <a:ext cx="1463040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508760" y="3447288"/>
            <a:ext cx="1353312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3F4855"/>
                </a:solidFill>
                <a:latin typeface="Calibri"/>
              </a:rPr>
              <a:t>E&amp;G Ops · Field Services · Outage Mgmt · Regulatory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953512" y="3447288"/>
            <a:ext cx="1188720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08376" y="3447288"/>
            <a:ext cx="1078992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3F4855"/>
                </a:solidFill>
                <a:latin typeface="Calibri"/>
              </a:rPr>
              <a:t>Version upgrades · Ad-hoc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78808" y="3447288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251960" y="3557016"/>
            <a:ext cx="128016" cy="128016"/>
          </a:xfrm>
          <a:prstGeom prst="ellipse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53128" y="3483864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Email-only from business &amp; vendor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843016" y="3447288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916168" y="3557016"/>
            <a:ext cx="128016" cy="128016"/>
          </a:xfrm>
          <a:prstGeom prst="ellipse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17336" y="3483864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Depends on upgrade type; no rule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507224" y="3447288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580376" y="3557016"/>
            <a:ext cx="128016" cy="128016"/>
          </a:xfrm>
          <a:prstGeom prst="ellipse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81544" y="3483864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Urgency = vendor drives decision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71432" y="3447288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244584" y="3557016"/>
            <a:ext cx="128016" cy="128016"/>
          </a:xfrm>
          <a:prstGeom prst="ellipse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45752" y="3483864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Vendor sets timeline &amp; budget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835640" y="3447288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908792" y="3557016"/>
            <a:ext cx="128016" cy="128016"/>
          </a:xfrm>
          <a:prstGeom prst="ellipse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109960" y="3483864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Vendor-owned; 3rd-party risk slow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4005072"/>
            <a:ext cx="1143000" cy="530352"/>
          </a:xfrm>
          <a:prstGeom prst="rect">
            <a:avLst/>
          </a:prstGeom>
          <a:solidFill>
            <a:srgbClr val="959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74320" y="4005072"/>
            <a:ext cx="1143000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Global SAP
(Iberdrola)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453896" y="4005072"/>
            <a:ext cx="1463040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508760" y="4005072"/>
            <a:ext cx="1353312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3F4855"/>
                </a:solidFill>
                <a:latin typeface="Calibri"/>
              </a:rPr>
              <a:t>Iberdrola Finance · Controlling · PO · Vendor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53512" y="4005072"/>
            <a:ext cx="1188720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008376" y="4005072"/>
            <a:ext cx="1078992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3F4855"/>
                </a:solidFill>
                <a:latin typeface="Calibri"/>
              </a:rPr>
              <a:t>Incidents · Small · Minor · Large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178808" y="4005072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251960" y="4114800"/>
            <a:ext cx="128016" cy="128016"/>
          </a:xfrm>
          <a:prstGeom prst="ellipse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453128" y="4041648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4-channel taxonomy (strongest in org)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843016" y="4005072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916168" y="4114800"/>
            <a:ext cx="128016" cy="128016"/>
          </a:xfrm>
          <a:prstGeom prst="ellipse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117336" y="4041648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Channel = class; consistent routing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507224" y="4005072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580376" y="4114800"/>
            <a:ext cx="128016" cy="128016"/>
          </a:xfrm>
          <a:prstGeom prst="ellipse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781544" y="4041648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Incidents first → strategic starved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71432" y="4005072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244584" y="4114800"/>
            <a:ext cx="128016" cy="128016"/>
          </a:xfrm>
          <a:prstGeom prst="ellipse">
            <a:avLst/>
          </a:prstGeom>
          <a:solidFill>
            <a:srgbClr val="EBA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445752" y="4041648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Thursday Accenture review; PDD for large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835640" y="4005072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908792" y="4114800"/>
            <a:ext cx="128016" cy="128016"/>
          </a:xfrm>
          <a:prstGeom prst="ellipse">
            <a:avLst/>
          </a:prstGeom>
          <a:solidFill>
            <a:srgbClr val="EBA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109960" y="4041648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KT loss every vendor turnover; 1-yr hiring lag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4320" y="4608576"/>
            <a:ext cx="11643055" cy="27432"/>
          </a:xfrm>
          <a:prstGeom prst="rect">
            <a:avLst/>
          </a:prstGeom>
          <a:solidFill>
            <a:srgbClr val="5BB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74320" y="4654296"/>
            <a:ext cx="4572000" cy="164592"/>
          </a:xfrm>
          <a:prstGeom prst="rect">
            <a:avLst/>
          </a:prstGeom>
          <a:noFill/>
        </p:spPr>
        <p:txBody>
          <a:bodyPr wrap="square" lIns="36000" rIns="36000" tIns="14000" bIns="14000" anchor="t">
            <a:spAutoFit/>
          </a:bodyPr>
          <a:lstStyle/>
          <a:p>
            <a:pPr algn="l"/>
            <a:r>
              <a:rPr sz="900" b="1">
                <a:solidFill>
                  <a:srgbClr val="5BB5B8"/>
                </a:solidFill>
                <a:latin typeface="Calibri"/>
              </a:rPr>
              <a:t>CUSTOMER SERVICES APPS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4800600"/>
            <a:ext cx="1143000" cy="530352"/>
          </a:xfrm>
          <a:prstGeom prst="rect">
            <a:avLst/>
          </a:prstGeom>
          <a:solidFill>
            <a:srgbClr val="2B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74320" y="4800600"/>
            <a:ext cx="1143000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Smart Metering
(Device &amp; Metering)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453896" y="4800600"/>
            <a:ext cx="1463040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508760" y="4800600"/>
            <a:ext cx="1353312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3F4855"/>
                </a:solidFill>
                <a:latin typeface="Calibri"/>
              </a:rPr>
              <a:t>Customer Ops · Field Services · Billing · BRS · Vendors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953512" y="4800600"/>
            <a:ext cx="1188720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08376" y="4800600"/>
            <a:ext cx="1078992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3F4855"/>
                </a:solidFill>
                <a:latin typeface="Calibri"/>
              </a:rPr>
              <a:t>Incidents · Large · Small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178808" y="4800600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251960" y="4910328"/>
            <a:ext cx="128016" cy="128016"/>
          </a:xfrm>
          <a:prstGeom prst="ellipse">
            <a:avLst/>
          </a:prstGeom>
          <a:solidFill>
            <a:srgbClr val="EBA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453128" y="4837176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Email + IT Now; volumes not tracked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843016" y="4800600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916168" y="4910328"/>
            <a:ext cx="128016" cy="128016"/>
          </a:xfrm>
          <a:prstGeom prst="ellipse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17336" y="4837176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IT Now template = consistent classification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07224" y="4800600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7580376" y="4910328"/>
            <a:ext cx="128016" cy="128016"/>
          </a:xfrm>
          <a:prstGeom prst="ellipse">
            <a:avLst/>
          </a:prstGeom>
          <a:solidFill>
            <a:srgbClr val="EBA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781544" y="4837176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'Intrinsic common sense'; not scored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71432" y="4800600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244584" y="4910328"/>
            <a:ext cx="128016" cy="128016"/>
          </a:xfrm>
          <a:prstGeom prst="ellipse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445752" y="4837176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PPM Now + Confluence (only mature stack)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835640" y="4800600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0908792" y="4910328"/>
            <a:ext cx="128016" cy="128016"/>
          </a:xfrm>
          <a:prstGeom prst="ellipse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109960" y="4837176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100% vendor — execution knowledge not owned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74320" y="5358384"/>
            <a:ext cx="1143000" cy="530352"/>
          </a:xfrm>
          <a:prstGeom prst="rect">
            <a:avLst/>
          </a:prstGeom>
          <a:solidFill>
            <a:srgbClr val="2B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74320" y="5358384"/>
            <a:ext cx="1143000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Customer Services
(4 teams TBC)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453896" y="5358384"/>
            <a:ext cx="1463040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08760" y="5358384"/>
            <a:ext cx="1353312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3F4855"/>
                </a:solidFill>
                <a:latin typeface="Calibri"/>
              </a:rPr>
              <a:t>7 OPCOs via BRS · PMO · OT · CX · Digital CoE · Infra · D&amp;A · Regulatory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953512" y="5358384"/>
            <a:ext cx="1188720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008376" y="5358384"/>
            <a:ext cx="1078992" cy="53035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3F4855"/>
                </a:solidFill>
                <a:latin typeface="Calibri"/>
              </a:rPr>
              <a:t>Regulatory · Large · Small/Medium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178808" y="5358384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4251960" y="5468112"/>
            <a:ext cx="128016" cy="128016"/>
          </a:xfrm>
          <a:prstGeom prst="ellipse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453128" y="5394960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No shared branch channel; 5 sub-teams each own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843016" y="5358384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916168" y="5468112"/>
            <a:ext cx="128016" cy="128016"/>
          </a:xfrm>
          <a:prstGeom prst="ellipse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117336" y="5394960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No branch model; 2 vacant Sr. Mgr seats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507224" y="5358384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7580376" y="5468112"/>
            <a:ext cx="128016" cy="128016"/>
          </a:xfrm>
          <a:prstGeom prst="ellipse">
            <a:avLst/>
          </a:prstGeom>
          <a:solidFill>
            <a:srgbClr val="D96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781544" y="5394960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Director-level routing; no scoring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171432" y="5358384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9244584" y="5468112"/>
            <a:ext cx="128016" cy="128016"/>
          </a:xfrm>
          <a:prstGeom prst="ellipse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445752" y="5394960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No branch tool; only Smart Metering has one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835640" y="5358384"/>
            <a:ext cx="1627632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908792" y="5468112"/>
            <a:ext cx="128016" cy="128016"/>
          </a:xfrm>
          <a:prstGeom prst="ellipse">
            <a:avLst/>
          </a:prstGeom>
          <a:solidFill>
            <a:srgbClr val="EBA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1109960" y="5394960"/>
            <a:ext cx="1316736" cy="45720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50" b="0">
                <a:solidFill>
                  <a:srgbClr val="242A38"/>
                </a:solidFill>
                <a:latin typeface="Calibri"/>
              </a:rPr>
              <a:t>SWF + Accenture; ad-hoc governance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206240" y="5971032"/>
            <a:ext cx="4114800" cy="256032"/>
          </a:xfrm>
          <a:prstGeom prst="rect">
            <a:avLst/>
          </a:prstGeom>
          <a:solidFill>
            <a:srgbClr val="214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297680" y="5971032"/>
            <a:ext cx="914400" cy="25603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MATURITY:</a:t>
            </a:r>
          </a:p>
        </p:txBody>
      </p:sp>
      <p:sp>
        <p:nvSpPr>
          <p:cNvPr id="160" name="Oval 159"/>
          <p:cNvSpPr/>
          <p:nvPr/>
        </p:nvSpPr>
        <p:spPr>
          <a:xfrm>
            <a:off x="5257800" y="6035040"/>
            <a:ext cx="128016" cy="128016"/>
          </a:xfrm>
          <a:prstGeom prst="ellipse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422392" y="5971032"/>
            <a:ext cx="777240" cy="25603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62" name="Oval 161"/>
          <p:cNvSpPr/>
          <p:nvPr/>
        </p:nvSpPr>
        <p:spPr>
          <a:xfrm>
            <a:off x="6035040" y="6035040"/>
            <a:ext cx="128016" cy="128016"/>
          </a:xfrm>
          <a:prstGeom prst="ellipse">
            <a:avLst/>
          </a:prstGeom>
          <a:solidFill>
            <a:srgbClr val="D96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99632" y="5971032"/>
            <a:ext cx="777240" cy="25603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164" name="Oval 163"/>
          <p:cNvSpPr/>
          <p:nvPr/>
        </p:nvSpPr>
        <p:spPr>
          <a:xfrm>
            <a:off x="6812280" y="6035040"/>
            <a:ext cx="128016" cy="128016"/>
          </a:xfrm>
          <a:prstGeom prst="ellipse">
            <a:avLst/>
          </a:prstGeom>
          <a:solidFill>
            <a:srgbClr val="EBA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976872" y="5971032"/>
            <a:ext cx="777240" cy="25603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PARTIAL</a:t>
            </a:r>
          </a:p>
        </p:txBody>
      </p:sp>
      <p:sp>
        <p:nvSpPr>
          <p:cNvPr id="166" name="Oval 165"/>
          <p:cNvSpPr/>
          <p:nvPr/>
        </p:nvSpPr>
        <p:spPr>
          <a:xfrm>
            <a:off x="7589520" y="6035040"/>
            <a:ext cx="128016" cy="128016"/>
          </a:xfrm>
          <a:prstGeom prst="ellipse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754112" y="5971032"/>
            <a:ext cx="777240" cy="256032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SCALABLE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74320" y="6336792"/>
            <a:ext cx="11643055" cy="384048"/>
          </a:xfrm>
          <a:prstGeom prst="rect">
            <a:avLst/>
          </a:prstGeom>
          <a:solidFill>
            <a:srgbClr val="2C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74320" y="6336792"/>
            <a:ext cx="11643055" cy="384048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Rationale: maturity is rated against 4 dimensions (Channels · Roles · Tools · Governance); the badge reflects the weakest dimension — not the average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74320" y="6629400"/>
            <a:ext cx="5486400" cy="182880"/>
          </a:xfrm>
          <a:prstGeom prst="rect">
            <a:avLst/>
          </a:prstGeom>
          <a:noFill/>
        </p:spPr>
        <p:txBody>
          <a:bodyPr wrap="square" lIns="36000" rIns="36000" tIns="14000" bIns="14000" anchor="ctr">
            <a:spAutoFit/>
          </a:bodyPr>
          <a:lstStyle/>
          <a:p>
            <a:pPr algn="l"/>
            <a:r>
              <a:rPr sz="700" b="0">
                <a:solidFill>
                  <a:srgbClr val="3F4855"/>
                </a:solidFill>
                <a:latin typeface="Calibri"/>
              </a:rPr>
              <a:t>© 2026 NTT DATA, 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