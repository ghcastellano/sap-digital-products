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36576" cy="54864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AVANGRID  —  SAP DIGITAL PRODUCTS  •  APPLICATIONS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5A5A6"/>
                </a:solidFill>
                <a:latin typeface="Helvetica Neue"/>
              </a:rPr>
              <a:t>Wave 1 Discovery  •  Capacity &amp; Resource  ×  Reporting &amp; Metrics  •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43200"/>
            <a:ext cx="457200" cy="457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Interview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785C1"/>
                </a:solidFill>
                <a:latin typeface="Helvetica Neue"/>
              </a:rPr>
              <a:t>Live workshop dynamic for Carlos Garbin's Applications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Six timeboxed blocks — each runs a single dynamic format (mapping · ranking · inventory · prioritization · scenario).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Individual questions follow the same format so the rhythm never breaks; synergy questions connect topics so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capacity evidence informs the reporting design and vice-versa. Total runtime: ~90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6126480"/>
            <a:ext cx="274320" cy="2743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NTT DATA  —  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36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8 slides  ·  6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Setup — five rules that keep the 90-minute dynamic focused, symmetric across blocks, and output-driven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C4328"/>
                </a:solidFill>
                <a:latin typeface="Helvetica Neue"/>
              </a:rPr>
              <a:t>FIVE RULES OF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" cy="7315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One format per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93391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Each block runs a single dynamic (mapping, ranking, inventory, prioritization, scenarios). Individual questions share that format so answers fit on the same canvas and compare side-by-side.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457200" cy="7315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Symmetry: individual vs. synergy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1635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Every block has INDIVIDUAL questions (same-format batch) on the left and SYNERGY questions (cross-topic) on the right. Synergy reveals how Capacity decisions land in Reporting — and vice-versa.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79"/>
            <a:ext cx="457200" cy="7315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7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Timebox aggressively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39311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15 minutes per block. Stop when time runs out, even mid-discussion — un-answered questions become backlog for a second session rather than breaking rhythm.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457200" cy="7315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Evidence beats opinion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6227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Prefer numbers, artifacts, screenshots. If the answer is "I think…", tag it as HYPOTHESIS and mark the data source needed to confirm.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457200" cy="7315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Exit with artifacts, not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8523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Every block produces a concrete output (map, ranked list, inventory table, MoSCoW grid, scenario walk-through). The debrief reads artifacts, not a transcript.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90-MINUTE AGENDA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737360"/>
            <a:ext cx="91440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7556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00:00 – 00:05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65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Opening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17556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Goals + rules + assign note-taker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240280"/>
            <a:ext cx="91440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2585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00:05 – 00:20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4688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2585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Capacity Landscape  (Mural mapping)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43200"/>
            <a:ext cx="91440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76148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00:20 – 00:35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71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76148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Resource Mix &amp; Cost  (Dot voting)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46120"/>
            <a:ext cx="91440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2644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00:35 – 00:50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74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2644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Reporting Inventory  (Kanban audit)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749039"/>
            <a:ext cx="91440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67327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00:50 – 01:05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97763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76732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Metrics That Matter  (MoSCoW ranking)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251959"/>
            <a:ext cx="91440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270247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01:05 – 01:20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48055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27024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Synergy Scenarios  (Scenario walk-through)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754879"/>
            <a:ext cx="9144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773167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01:20 – 01:30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98347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Block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77316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Outputs  (Artifact review + commitments)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440680"/>
            <a:ext cx="5486400" cy="4754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5440680"/>
            <a:ext cx="73152" cy="47548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46811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ROLES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6692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Facilitator · Timekeeper · Note-taker · Evidence-tagger (marks HYPOTHESIS vs. EVIDENCE)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Rules and agenda are non-negotiable — the dynamic's value comes from rhythm and symmetry; broken rhythm makes the outputs non-comparable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Setup  |  02 / 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· SETUP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1 — Capacity Landscape:  map where the ~26 FTEs of the Applications branch actually spend their time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CAPACITY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Mural Mapping  —  each participant places post-its on a 3×3 grid — BAU vs. Strategic (x-axis) × Internal vs. Vendor vs. SWF (y-axis)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5577840" cy="36576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INDIVIDUAL QUESTIONS  —  same format, run as a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1.  Quantos FTEs seu sub-time tem hoje  (internos · SWF · Accenture · vendor)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2.  Quanto % do seu time está em BAU / incidentes vs. strategic work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3.  Qual é seu % de utilização médio nos últimos 3 meses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4.  Quantas vagas abertas e quanto tempo médio para preencher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5.  Quanto tempo de KT quando alguém sai  (onboarding + ramp-up)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6.  Quem são os pontos de key-person risk  (conhecimento concentrado)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21408"/>
            <a:ext cx="5577840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SYNERGY QUESTIONS  —  connect to other blocks /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Gargalos que NÃO são de pessoas — licenças · acessos · vendor availability?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Quando regulatório entra, o que é reprogramado e quem decide?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Existe alguma capacidade ociosa hoje que o reporting não mostra?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Se você dobrasse o time, qual stage do demand lifecycle ficaria melhor primeiro?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51576"/>
            <a:ext cx="5577840" cy="3200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5157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Mural board · post-its coloridos · cronômetro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751576"/>
            <a:ext cx="5513832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5157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Capacity map 3×3 por sub-time  +  lista de key-person risks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 Capacity Landscape é o baseline quantitativo — sem ele, toda a conversa de reporting e metrics vira opinião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1  —  Capacity Landscape  |  03 / 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2 — Resource Mix &amp; Cost:  expose the economics behind staffing decisions — when do you hire, when do you buy, when do you outsource?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RESOURCE MIX &amp;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Dot Voting + Cost Ranking  —  cada participante coloca 3 dots nas 5 mais decisões que travaram ou aceleraram entrega — depois ranqueia custos por categoria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5577840" cy="36576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INDIVIDUAL QUESTIONS  —  same format, run as a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1.  Distribuição de custo  %  entre internos · SWF · Accenture · Vendor  no seu sub-time?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2.  Quem decide quando usar SWF  vs.  contratar interno  vs.  vendor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3.  Como é feita a estimativa de esforço — quem estima, com que base?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4.  Você tem visibilidade de burn rate  (mensal · por projeto)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5.  Qual é o custo médio por ticket · por PDD · por release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6.  Quais decisões de mix você gostaria de voltar atrás nos últimos 12 meses?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21408"/>
            <a:ext cx="5577840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SYNERGY QUESTIONS  —  connect to other blocks /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A decisão de mix depende de quê  (criticality · tech · duration · regulatory)?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Como você prova ROI de uma expansão de capacity para Carlos / Vitor hoje?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Vendor controla timeline ou você controla — e o que o reporting mostra?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Se cortassem 20% do budget amanhã, o que sairia primeiro — e por quê?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51576"/>
            <a:ext cx="5577840" cy="3200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5157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Template de ranking  (Excel / Mural)  ·  dots coloridos  ·  dados de custo se disponíveis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751576"/>
            <a:ext cx="5513832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5157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Ranked list das 5 decisões de mix mais impactantes  +  gaps de visibilidade de custo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Mix &amp; Cost é onde a conversa de capacity vira decisão financeira — sem dados aqui, o TOM não justifica investimento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2  —  Resource Mix &amp; Cost  |  04 / 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3 — Reporting Inventory:  catalogue every dashboard, report, and spreadsheet that circulates today — and separate used from ornamental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REPORTING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Kanban-Style Audit  —  cada relatório / dashboard vira um card em 3 colunas — USED · ORNAMENTAL · MISSING. Cada participante coloca até 5 cards por coluna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5577840" cy="36576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INDIVIDUAL QUESTIONS  —  same format, run as a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1.  Quais relatórios · dashboards você gera ou recebe hoje?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2.  Quem consome cada um  (Carlos · Vitor · business · auditor)  e em que cadência?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3.  Onde os dados moram — Jira · IT Now · PDD workbook · Excel · SharePoint?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4.  Quanto tempo  h / mês  você gasta consolidando relatório manualmente?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5.  Você confia nos números que reporta? Se não, por quê?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6.  Qual relatório seu time gera mas NINGUÉM lê?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21408"/>
            <a:ext cx="5577840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SYNERGY QUESTIONS  —  connect to other blocks /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Quais números do reporting atual refletem a Capacity real do Bloco 1?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Há relatório hoje que rastreia vendor performance  (Bloco 2)? Se sim, quão granular?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Se o TOM trouxesse SSO / dashboards automáticos, qual relatório sumiria primeiro?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Qual dado você REPORTA mas não USA na sua decisão — e qual USA mas não reporta?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51576"/>
            <a:ext cx="5577840" cy="3200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5157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Template Kanban  (3 colunas)  ·  cards vazios  ·  screenshots de dashboards existentes se possível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751576"/>
            <a:ext cx="5513832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5157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Inventário categorizado  (USED · ORNAMENTAL · MISSING)  +  manual-work hour estimate por relatório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O inventário quase sempre expõe trabalho duplicado e números em que ninguém confia — essa é a munição para redesenhar o reporting no 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3  —  Reporting Inventory  |  05 / 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4 — Metrics That Matter:  distinguish between what you MEASURE, what you SHOULD measure, and what you REPORT to leadership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METRICS THAT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MoSCoW Prioritization  —  lista de métricas candidatas — cada participante classifica em MUST · SHOULD · COULD · WON'T. Debate em cima dos MUSTs para chegar a 3–5 métricas de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5577840" cy="36576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INDIVIDUAL QUESTIONS  —  same format, run as a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1.  Quais 3 KPIs são mais importantes para o seu sub-time hoje?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2.  Quais KPIs você efetivamente reporta para Carlos · Vitor?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3.  Qual métrica mostra a saúde do seu time  (velocidade · backlog · tickets)?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4.  Você mede Lead Time · Cycle Time · Throughput · WIP · rework? Quais?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5.  Como você define  "trimestre bem-sucedido"  para o seu sub-time?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6.  Qual métrica atual você tem certeza que NÃO reflete a realidade?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21408"/>
            <a:ext cx="5577840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SYNERGY QUESTIONS  —  connect to other blocks /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87168"/>
            <a:ext cx="557784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8"/>
            <a:ext cx="51206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Se só pudesse reportar 1 métrica para o board, qual seria — e por que ela?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Que métrica ligaria Capacity  (Bloco 1)  com Reporting  (Bloco 3)  hoje?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Qual métrica você gostaria que existisse mas a instrumentação impede?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→  Métricas que o time USA  ≠  métricas que a liderança PEDE — onde está a lacuna?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51576"/>
            <a:ext cx="5577840" cy="3200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5157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MoSCoW grid  ·  lista candidata de métricas pré-populada  ·  markers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751576"/>
            <a:ext cx="5513832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5157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3–5 métricas MUST por sub-time  +  lista de métricas WON'T justificadas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 métrica que sobrevive ao MoSCoW é a que deve ser instrumentada primeiro — as demais entram no backlog do 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4  —  Metrics That Matter  |  06 / 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5 — Synergy Scenarios:  stress-test the Capacity × Reporting connection with three real scenarios — the gap between ideal response and today's is the TOM backlog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SYNERGY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Scenario Walk-through  —  group narrates step-by-step: what they'd do, what data they'd need, what they wouldn't have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3730752" cy="3520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37307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6712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Regulatory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62656"/>
            <a:ext cx="33649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Um pico de demanda regulatória inesperado chega hoje (ex: FERC / compliance mandate).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9592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7"/>
            <a:ext cx="336499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Quanto tempo até você enxergar o impacto em capacity?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Qual relatório te alertaria — e qual não existe e deveria?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Quem é reprogramado — e o reporting conta esse trade-off para Carlos?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121408"/>
            <a:ext cx="3730752" cy="3520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2816" y="2121408"/>
            <a:ext cx="37307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16712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350008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Hiring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276148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2962656"/>
            <a:ext cx="33649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Vanessa  (Global SAP)  pede mais 2 FTEs. Vitor pede justificativa em 48h.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99592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PROBE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224527"/>
            <a:ext cx="336499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Que dados de capacity você tem hoje para justificar?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Que dados FALTAM e teriam que ser coletados manualmente agora?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Se o TOM estivesse rodando, qual dashboard resolveria isso em 15 min?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431" y="2121408"/>
            <a:ext cx="3730752" cy="3520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121408"/>
            <a:ext cx="37307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216712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2350008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Executive cost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276148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2962656"/>
            <a:ext cx="33649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Carlos pergunta:  "Quanto custa rodar a branch Applications este trimestre, por sub-time?"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3995927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PROBE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4224527"/>
            <a:ext cx="336499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Você consegue responder hoje — em quanto tempo · com que precisão?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Quais dos 4 custos  (int / SWF / Accenture / Vendor)  são opacos?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Qual é a menor mudança de reporting que resolveria essa pergunta para sempre?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51576"/>
            <a:ext cx="5577840" cy="3200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MATERIALS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75157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Flipchart  ·  scribe capturing "ideal  vs.  today"  gaps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751576"/>
            <a:ext cx="5513832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7515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75157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Gap list  per scenario  →  TOM instrumentation backlog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Scenarios force the group to SIMULATE — the gap between what they'd want to do and what they can do today is the TOM's measurable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5  —  Synergy Scenarios  |  07 / 08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04 · SYNERGY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C50"/>
                </a:solidFill>
                <a:latin typeface="Helvetica Neue"/>
              </a:rPr>
              <a:t>Block 6 — Outputs &amp; Commitments:  close the session with named artifacts, owners, and a dated follow-up — otherwise the dynamic evaporates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OUTPUTS &amp; COMMITMENTS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82495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Dynamic:  Artifact Review  —  walk every wall-output, name an owner, set a follow-up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463039"/>
            <a:ext cx="1737360" cy="347472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63039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⏱  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EXPECTED ARTIFACTS  (one per block)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1274552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39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14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FEEDS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514600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11274552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Block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292608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Capacity map 3×3 by sub-team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92608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Capacity Baseline 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926080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NTT Analyst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28416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2841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Block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39" y="332841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Ranked list of 5 mix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32841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Cost visibility 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28416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NTT + Carlos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30752"/>
            <a:ext cx="11274552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3075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Block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373075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Kanban report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73075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Used vs. Ornamental vs. Missing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730752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NTT + sub-team lead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3308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13308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Block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39" y="4133088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MoSCoW metrics grid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133088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3–5 MUST metrics per sub-team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133088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NTT + Carlos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35424"/>
            <a:ext cx="11274552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53542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Block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39" y="4535424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Scenario gap 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53542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TOM instrumentation 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535424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NTT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92040"/>
            <a:ext cx="11274552" cy="1005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892040"/>
            <a:ext cx="73152" cy="10058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COMMITMENTS BEFORE WE LEAVE THE 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23951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Every artifact has a named owner and a date to consolidate  (max 5 business days).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Open hypotheses tagged HYPOTHESIS get a data source assigned and a verification deadline.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Next session scheduled on the spot — second-pass to close un-answered questions carried over.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 good workshop is measured 5 days later, not in the room — artifacts + owners + dates are the only way the dynamic becomes decision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Block 6  —  Outputs &amp; Commitments  |  08 / 08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· SETUP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· CAPACITY &amp; RESOURCE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· REPORTING &amp; METRICS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· SYNERGY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05 ·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