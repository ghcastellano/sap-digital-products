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685800"/>
            <a:ext cx="36576" cy="5486400"/>
          </a:xfrm>
          <a:prstGeom prst="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7772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785C1"/>
                </a:solidFill>
                <a:latin typeface="Helvetica Neue"/>
              </a:rPr>
              <a:t>AVANGRID  —  SAP DIGITAL PRODUCTS TRANSFORMATION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9728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5A5A6"/>
                </a:solidFill>
                <a:latin typeface="Helvetica Neue"/>
              </a:rPr>
              <a:t>Baseline &amp; Diagnostic Phase  •  April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2834640"/>
            <a:ext cx="457200" cy="45720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971800"/>
            <a:ext cx="105156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 i="0">
                <a:solidFill>
                  <a:srgbClr val="FFFFFF"/>
                </a:solidFill>
                <a:latin typeface="Helvetica Neue"/>
              </a:rPr>
              <a:t>Demand 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2519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6785C1"/>
                </a:solidFill>
                <a:latin typeface="Helvetica Neue"/>
              </a:rPr>
              <a:t>AS-IS Current State of Digital Products Demand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846320"/>
            <a:ext cx="105156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FFFFFF"/>
                </a:solidFill>
                <a:latin typeface="Helvetica Neue"/>
              </a:rPr>
              <a:t>Across Applications (Carlos) and Customer Services (Kumar), demand enters through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FFFFFF"/>
                </a:solidFill>
                <a:latin typeface="Helvetica Neue"/>
              </a:rPr>
              <a:t>6+ disconnected channels — no two teams share the same flow. This map exposes the gaps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FFFFFF"/>
                </a:solidFill>
                <a:latin typeface="Helvetica Neue"/>
              </a:rPr>
              <a:t>and defines what the Target Operating Model must standardize end-to-end.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6126480"/>
            <a:ext cx="274320" cy="27432"/>
          </a:xfrm>
          <a:prstGeom prst="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62362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NTT DATA  —  Consulting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23620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5A5A6"/>
                </a:solidFill>
                <a:latin typeface="Helvetica Neue"/>
              </a:rPr>
              <a:t>19 slides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510528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95A5A6"/>
                </a:solidFill>
                <a:latin typeface="Helvetica Neue"/>
              </a:rPr>
              <a:t>Version 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F1C50"/>
                </a:solidFill>
                <a:latin typeface="Helvetica Neue"/>
              </a:rPr>
              <a:t>Deck roadmap — five sections, grounded in Wave 1 Step 1 (Enablement): evidence first, interpretation second, recommendations last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2240280" cy="31546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2240280" cy="457200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490472"/>
            <a:ext cx="1965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785C1"/>
                </a:solidFill>
                <a:latin typeface="Helvetica Neue"/>
              </a:rPr>
              <a:t>SECTION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645920"/>
            <a:ext cx="1965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Helvetica Neue"/>
              </a:rPr>
              <a:t>FRAMING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96596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BC4328"/>
                </a:solidFill>
                <a:latin typeface="Helvetica Neue"/>
              </a:rPr>
              <a:t>Slides 03 – 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228600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95A5A6"/>
                </a:solidFill>
                <a:latin typeface="Helvetica Neue"/>
              </a:rPr>
              <a:t>WHAT YOU'LL SEE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514600"/>
            <a:ext cx="196596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Why we are here. Executive summary. Methodology (Wave 1 Step 1).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3977639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BC4328"/>
                </a:solidFill>
                <a:latin typeface="Helvetica Neue"/>
              </a:rPr>
              <a:t>HOW IT FEEDS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4206240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6785C1"/>
                </a:solidFill>
                <a:latin typeface="Helvetica Neue"/>
              </a:rPr>
              <a:t>Sets the lens for every finding that follows.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679192" y="2903220"/>
            <a:ext cx="109728" cy="146304"/>
          </a:xfrm>
          <a:prstGeom prst="rightArrow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70632" y="1417320"/>
            <a:ext cx="2240280" cy="31546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70632" y="1417320"/>
            <a:ext cx="2240280" cy="457200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35224" y="1490472"/>
            <a:ext cx="1965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785C1"/>
                </a:solidFill>
                <a:latin typeface="Helvetica Neue"/>
              </a:rPr>
              <a:t>SECTION 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35224" y="1645920"/>
            <a:ext cx="1965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Helvetica Neue"/>
              </a:rPr>
              <a:t>ORGANIZATION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35224" y="196596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BC4328"/>
                </a:solidFill>
                <a:latin typeface="Helvetica Neue"/>
              </a:rPr>
              <a:t>Slides 07 – 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35224" y="228600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95A5A6"/>
                </a:solidFill>
                <a:latin typeface="Helvetica Neue"/>
              </a:rPr>
              <a:t>WHAT YOU'LL SEE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35224" y="2514600"/>
            <a:ext cx="196596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Org context (nine sub-teams, two vacancies). Applications branch. SAP / Customer Services branch + CMP · UIL · NY · Digital CoE · Infrastructure detail.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35224" y="3977639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BC4328"/>
                </a:solidFill>
                <a:latin typeface="Helvetica Neue"/>
              </a:rPr>
              <a:t>HOW IT FEEDS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35224" y="4206240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6785C1"/>
                </a:solidFill>
                <a:latin typeface="Helvetica Neue"/>
              </a:rPr>
              <a:t>Names the players — drill-downs reference these teams one-by-one.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4992624" y="2903220"/>
            <a:ext cx="109728" cy="146304"/>
          </a:xfrm>
          <a:prstGeom prst="rightArrow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84064" y="1417320"/>
            <a:ext cx="2240280" cy="31546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84064" y="1417320"/>
            <a:ext cx="2240280" cy="457200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48656" y="1490472"/>
            <a:ext cx="1965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785C1"/>
                </a:solidFill>
                <a:latin typeface="Helvetica Neue"/>
              </a:rPr>
              <a:t>SECTION 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48656" y="1645920"/>
            <a:ext cx="1965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Helvetica Neue"/>
              </a:rPr>
              <a:t>AS-IS DRILL-DOWNS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48656" y="196596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BC4328"/>
                </a:solidFill>
                <a:latin typeface="Helvetica Neue"/>
              </a:rPr>
              <a:t>Slides 11 – 16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48656" y="228600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95A5A6"/>
                </a:solidFill>
                <a:latin typeface="Helvetica Neue"/>
              </a:rPr>
              <a:t>WHAT YOU'LL SEE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48656" y="2514600"/>
            <a:ext cx="196596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Six deep-dives (GIS · Corporate · G&amp;E · Global SAP · Smart Metering · Customer Services Apps) across 5 lifecycle stages × 4 lenses (Channels · Roles · Tools · Governance).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48656" y="3977639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BC4328"/>
                </a:solidFill>
                <a:latin typeface="Helvetica Neue"/>
              </a:rPr>
              <a:t>HOW IT FEEDS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48656" y="4206240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6785C1"/>
                </a:solidFill>
                <a:latin typeface="Helvetica Neue"/>
              </a:rPr>
              <a:t>Ground truth — every bottleneck and insight traces back to these cells.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7306056" y="2903220"/>
            <a:ext cx="109728" cy="146304"/>
          </a:xfrm>
          <a:prstGeom prst="rightArrow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397496" y="1417320"/>
            <a:ext cx="2240280" cy="31546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397496" y="1417320"/>
            <a:ext cx="2240280" cy="457200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62088" y="1490472"/>
            <a:ext cx="1965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785C1"/>
                </a:solidFill>
                <a:latin typeface="Helvetica Neue"/>
              </a:rPr>
              <a:t>SECTION 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62088" y="1645920"/>
            <a:ext cx="1965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Helvetica Neue"/>
              </a:rPr>
              <a:t>BOTTLENECKS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62088" y="196596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BC4328"/>
                </a:solidFill>
                <a:latin typeface="Helvetica Neue"/>
              </a:rPr>
              <a:t>Slides 17 – 18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62088" y="228600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95A5A6"/>
                </a:solidFill>
                <a:latin typeface="Helvetica Neue"/>
              </a:rPr>
              <a:t>WHAT YOU'LL SEE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62088" y="2514600"/>
            <a:ext cx="196596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Eight bottlenecks — four per branch (Applications + Customer Services). Each card names stage, team, impact and evidence.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62088" y="3977639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BC4328"/>
                </a:solidFill>
                <a:latin typeface="Helvetica Neue"/>
              </a:rPr>
              <a:t>HOW IT FEEDS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62088" y="4206240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6785C1"/>
                </a:solidFill>
                <a:latin typeface="Helvetica Neue"/>
              </a:rPr>
              <a:t>Converts evidence into named risks — prioritized for TOM response.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9619488" y="2903220"/>
            <a:ext cx="109728" cy="146304"/>
          </a:xfrm>
          <a:prstGeom prst="rightArrow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710928" y="1417320"/>
            <a:ext cx="2240280" cy="31546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710928" y="1417320"/>
            <a:ext cx="2240280" cy="457200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875520" y="1490472"/>
            <a:ext cx="1965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785C1"/>
                </a:solidFill>
                <a:latin typeface="Helvetica Neue"/>
              </a:rPr>
              <a:t>SECTION 05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75520" y="1645920"/>
            <a:ext cx="1965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Helvetica Neue"/>
              </a:rPr>
              <a:t>INSIGHTS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875520" y="196596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BC4328"/>
                </a:solidFill>
                <a:latin typeface="Helvetica Neue"/>
              </a:rPr>
              <a:t>Slide 19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875520" y="228600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95A5A6"/>
                </a:solidFill>
                <a:latin typeface="Helvetica Neue"/>
              </a:rPr>
              <a:t>WHAT YOU'LL SEE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875520" y="2514600"/>
            <a:ext cx="196596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Seven structural issues across both branches — paired with the TOM response that resolves each.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75520" y="3977639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BC4328"/>
                </a:solidFill>
                <a:latin typeface="Helvetica Neue"/>
              </a:rPr>
              <a:t>HOW IT FEEDS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875520" y="4206240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6785C1"/>
                </a:solidFill>
                <a:latin typeface="Helvetica Neue"/>
              </a:rPr>
              <a:t>Exit-ramp into Step 2 (Define Lifecycle) of Wave 1.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4754880"/>
            <a:ext cx="11274552" cy="10515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57200" y="4754880"/>
            <a:ext cx="73152" cy="1051560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080" y="4828032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F1C50"/>
                </a:solidFill>
                <a:latin typeface="Helvetica Neue"/>
              </a:rPr>
              <a:t>HOW TO READ THIS DECK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" y="510235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Every slide carries a thin roadmap strip at the top — five pills, current section highlighted in navy. Read each slide bottom-up: action title states the conclusion, content is the evidence, takeaway is the "so what." Cross-references use format [Slide XX].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" y="5989320"/>
            <a:ext cx="11274552" cy="502920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85800" y="6035040"/>
            <a:ext cx="1081735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Helvetica Neue"/>
              </a:rPr>
              <a:t>You are here → Section 01 (Framing). Next: the organization that generates the demand we are mapping.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44000" y="6565392"/>
            <a:ext cx="25877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5A5A6"/>
                </a:solidFill>
                <a:latin typeface="Helvetica Neue"/>
              </a:rPr>
              <a:t>Deck Roadmap  |  02 / 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F1C50"/>
                </a:solidFill>
                <a:latin typeface="Helvetica Neue"/>
              </a:rPr>
              <a:t>Avangrid is consolidating SAP CoE and Applications into a single Digital Products organization — demand fragmentation is the structural risk the TOM must resolve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73152" cy="4206240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5303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C50"/>
                </a:solidFill>
                <a:latin typeface="Helvetica Neue"/>
              </a:rPr>
              <a:t>WHY WE ARE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530352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C3E50"/>
                </a:solidFill>
                <a:latin typeface="Helvetica Neue"/>
              </a:rPr>
              <a:t>▸  Digital Products (formerly SAP CoE) is being re-founded under VP Vitor Cruz, merging Applications (Carlos Garbin) and Customer Services Apps (Kumar Jaladanki) into one ~50-FTE organization.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C3E50"/>
                </a:solidFill>
                <a:latin typeface="Helvetica Neue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C3E50"/>
                </a:solidFill>
                <a:latin typeface="Helvetica Neue"/>
              </a:rPr>
              <a:t>▸  Demand volume has grown 30–50% across SAP and Applications in the last 24 months — with no unified intake, classification, or prioritization model in place.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C3E50"/>
                </a:solidFill>
                <a:latin typeface="Helvetica Neue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C3E50"/>
                </a:solidFill>
                <a:latin typeface="Helvetica Neue"/>
              </a:rPr>
              <a:t>▸  Six champion interviews and two director-level sessions (Carlos, Stephanie &amp; Kumar) surfaced six disconnected intake channels and five different prioritization logics.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C3E50"/>
                </a:solidFill>
                <a:latin typeface="Helvetica Neue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C3E50"/>
                </a:solidFill>
                <a:latin typeface="Helvetica Neue"/>
              </a:rPr>
              <a:t>▸  NTT DATA was engaged to diagnose the current state, design the Target Operating Model (TOM), and pilot it on one BRS project before scaling.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371600"/>
            <a:ext cx="73152" cy="4206240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1371600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C50"/>
                </a:solidFill>
                <a:latin typeface="Helvetica Neue"/>
              </a:rPr>
              <a:t>SCOPE  &amp;  WORKING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1737360"/>
            <a:ext cx="502920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C3E50"/>
                </a:solidFill>
                <a:latin typeface="Helvetica Neue"/>
              </a:rPr>
              <a:t>▸  Two director branches in scope: IT Business Applications (4 teams, ~26 FTE) and Customer Services Apps (5 teams, ~24 FTE, 2 Sr. Manager vacancies).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C3E50"/>
                </a:solidFill>
                <a:latin typeface="Helvetica Neue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C3E50"/>
                </a:solidFill>
                <a:latin typeface="Helvetica Neue"/>
              </a:rPr>
              <a:t>▸  Five end-to-end stages assessed per team: Intake → Classification → Prioritization → Portfolio → Delivery.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C3E50"/>
                </a:solidFill>
                <a:latin typeface="Helvetica Neue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C3E50"/>
                </a:solidFill>
                <a:latin typeface="Helvetica Neue"/>
              </a:rPr>
              <a:t>▸  Baseline grounded in interview evidence (6 champions + 2 directors), not secondary documents — every finding is traceable to a named source.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C3E50"/>
                </a:solidFill>
                <a:latin typeface="Helvetica Neue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C3E50"/>
                </a:solidFill>
                <a:latin typeface="Helvetica Neue"/>
              </a:rPr>
              <a:t>▸  Wave 1 delivers: Baseline Report, Demand Map, Portfolio Landscape (SAP), Lifecycle v1.0, Jira Config v1.0, and a live BRS pilot.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989320"/>
            <a:ext cx="11274552" cy="502920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6035040"/>
            <a:ext cx="1081735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Helvetica Neue"/>
              </a:rPr>
              <a:t>This deck is the Demand Map — the AS-IS current-state evidence base that feeds the TOM design in Wave 1, Step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6565392"/>
            <a:ext cx="25877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5A5A6"/>
                </a:solidFill>
                <a:latin typeface="Helvetica Neue"/>
              </a:rPr>
              <a:t>Project Context  |  03 / 19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73152"/>
            <a:ext cx="2218334" cy="201168"/>
          </a:xfrm>
          <a:prstGeom prst="round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73152"/>
            <a:ext cx="221833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Helvetica Neue"/>
              </a:rPr>
              <a:t>01  ·  FRAMING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21254" y="73152"/>
            <a:ext cx="2218334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21254" y="73152"/>
            <a:ext cx="221833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5A5A6"/>
                </a:solidFill>
                <a:latin typeface="Helvetica Neue"/>
              </a:rPr>
              <a:t>02  ·  ORGANIZATION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85308" y="73152"/>
            <a:ext cx="2218334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85308" y="73152"/>
            <a:ext cx="221833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5A5A6"/>
                </a:solidFill>
                <a:latin typeface="Helvetica Neue"/>
              </a:rPr>
              <a:t>03  ·  AS-IS DRILL-DOWNS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49363" y="73152"/>
            <a:ext cx="2218334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49363" y="73152"/>
            <a:ext cx="221833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5A5A6"/>
                </a:solidFill>
                <a:latin typeface="Helvetica Neue"/>
              </a:rPr>
              <a:t>04  ·  BOTTLENECKS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13417" y="73152"/>
            <a:ext cx="2218334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13417" y="73152"/>
            <a:ext cx="221833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5A5A6"/>
                </a:solidFill>
                <a:latin typeface="Helvetica Neue"/>
              </a:rPr>
              <a:t>05  ·  INSIGHTS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F1C50"/>
                </a:solidFill>
                <a:latin typeface="Helvetica Neue"/>
              </a:rPr>
              <a:t>Digital Products runs nine sub-teams on six disconnected intake channels — with no shared prioritization logic and two Sr. Manager vacancies in Customer Services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11274552" cy="777240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69848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1">
                <a:solidFill>
                  <a:srgbClr val="FFFFFF"/>
                </a:solidFill>
                <a:latin typeface="Helvetica Neue"/>
              </a:rPr>
              <a:t>GOVERNING THOUGHT  —  Fragmentation is structural, not local. Every team has a working answer for large, PDD-funded demand; no team has one for small and medium demand at scale. The TOM must standardize the end-to-end lifecycle across both director branches.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3749039" cy="32004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423160"/>
            <a:ext cx="3749039" cy="54864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87752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BC4328"/>
                </a:solidFill>
                <a:latin typeface="Helvetica Neue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651760"/>
            <a:ext cx="27431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C50"/>
                </a:solidFill>
                <a:latin typeface="Helvetica Neue"/>
              </a:rPr>
              <a:t>INTAKE  &amp;  CLASSIFICATION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246120"/>
            <a:ext cx="3291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95A5A6"/>
                </a:solidFill>
                <a:latin typeface="Helvetica Neue"/>
              </a:rPr>
              <a:t>FINDING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474720"/>
            <a:ext cx="329183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6+ channels active (Jira, IT Now, RITM, SharePoint, Email, Word). G&amp;E is fully email-driven; Corporate still uses Word docs for requirements.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617720"/>
            <a:ext cx="3291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BC4328"/>
                </a:solidFill>
                <a:latin typeface="Helvetica Neue"/>
              </a:rPr>
              <a:t>SO WHAT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846320"/>
            <a:ext cx="32918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6785C1"/>
                </a:solidFill>
                <a:latin typeface="Helvetica Neue"/>
              </a:rPr>
              <a:t>No single front door. Volumes and duplicates are invisible.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79" y="2423160"/>
            <a:ext cx="3749039" cy="32004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79" y="2423160"/>
            <a:ext cx="3749039" cy="54864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79" y="2587752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BC4328"/>
                </a:solidFill>
                <a:latin typeface="Helvetica Neue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59" y="2651760"/>
            <a:ext cx="27431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C50"/>
                </a:solidFill>
                <a:latin typeface="Helvetica Neue"/>
              </a:rPr>
              <a:t>PRIORITIZATION  &amp;  PORTFOLIO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79" y="3246120"/>
            <a:ext cx="3291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95A5A6"/>
                </a:solidFill>
                <a:latin typeface="Helvetica Neue"/>
              </a:rPr>
              <a:t>FINDING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79" y="3474720"/>
            <a:ext cx="329183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Each team applies a different logic — PDD, impact × users, criticality, "intrinsic common sense." Only Smart Metering uses a portfolio tool (PPM Now).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79" y="4617720"/>
            <a:ext cx="3291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BC4328"/>
                </a:solidFill>
                <a:latin typeface="Helvetica Neue"/>
              </a:rPr>
              <a:t>SO WHAT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79" y="4846320"/>
            <a:ext cx="32918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6785C1"/>
                </a:solidFill>
                <a:latin typeface="Helvetica Neue"/>
              </a:rPr>
              <a:t>Capacity cannot be reconciled across the branch. Strategic work loses to incident volume.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8159" y="2423160"/>
            <a:ext cx="3749039" cy="32004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38159" y="2423160"/>
            <a:ext cx="3749039" cy="54864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66759" y="2587752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BC4328"/>
                </a:solidFill>
                <a:latin typeface="Helvetica Neue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06839" y="2651760"/>
            <a:ext cx="27431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C50"/>
                </a:solidFill>
                <a:latin typeface="Helvetica Neue"/>
              </a:rPr>
              <a:t>ORGANIZATION  &amp;  DELIVERY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59" y="3246120"/>
            <a:ext cx="3291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95A5A6"/>
                </a:solidFill>
                <a:latin typeface="Helvetica Neue"/>
              </a:rPr>
              <a:t>FINDING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59" y="3474720"/>
            <a:ext cx="329183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Two Sr. Manager vacancies in Customer Services (CRM &amp; Contact Center Ops, SAP &amp; CS Architecture). Delivery leans heavily on Accenture + SWF + vendor muscle.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59" y="4617720"/>
            <a:ext cx="3291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BC4328"/>
                </a:solidFill>
                <a:latin typeface="Helvetica Neue"/>
              </a:rPr>
              <a:t>SO WHAT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59" y="4846320"/>
            <a:ext cx="32918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6785C1"/>
                </a:solidFill>
                <a:latin typeface="Helvetica Neue"/>
              </a:rPr>
              <a:t>Leadership gap + vendor concentration create structural risk for scaling.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989320"/>
            <a:ext cx="11274552" cy="502920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6035040"/>
            <a:ext cx="1081735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Helvetica Neue"/>
              </a:rPr>
              <a:t>The rest of this deck walks the evidence per team — then consolidates bottlenecks and structural insights into the TOM scope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6565392"/>
            <a:ext cx="25877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5A5A6"/>
                </a:solidFill>
                <a:latin typeface="Helvetica Neue"/>
              </a:rPr>
              <a:t>Executive Summary  |  04 / 19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73152"/>
            <a:ext cx="2218334" cy="201168"/>
          </a:xfrm>
          <a:prstGeom prst="round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73152"/>
            <a:ext cx="221833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Helvetica Neue"/>
              </a:rPr>
              <a:t>01  ·  FRAMING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721254" y="73152"/>
            <a:ext cx="2218334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21254" y="73152"/>
            <a:ext cx="221833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5A5A6"/>
                </a:solidFill>
                <a:latin typeface="Helvetica Neue"/>
              </a:rPr>
              <a:t>02  ·  ORGANIZATION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985308" y="73152"/>
            <a:ext cx="2218334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85308" y="73152"/>
            <a:ext cx="221833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5A5A6"/>
                </a:solidFill>
                <a:latin typeface="Helvetica Neue"/>
              </a:rPr>
              <a:t>03  ·  AS-IS DRILL-DOWNS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249363" y="73152"/>
            <a:ext cx="2218334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249363" y="73152"/>
            <a:ext cx="221833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5A5A6"/>
                </a:solidFill>
                <a:latin typeface="Helvetica Neue"/>
              </a:rPr>
              <a:t>04  ·  BOTTLENECKS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513417" y="73152"/>
            <a:ext cx="2218334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513417" y="73152"/>
            <a:ext cx="221833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5A5A6"/>
                </a:solidFill>
                <a:latin typeface="Helvetica Neue"/>
              </a:rPr>
              <a:t>05  ·  INSIGHTS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F1C50"/>
                </a:solidFill>
                <a:latin typeface="Helvetica Neue"/>
              </a:rPr>
              <a:t>This Demand Map is the output of Step 1 (Enablement) — grounding the baseline through champion interviews and portfolio mapping before lifecycle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98448"/>
            <a:ext cx="2240280" cy="1143000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89888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785C1"/>
                </a:solidFill>
                <a:latin typeface="Helvetica Neue"/>
              </a:rPr>
              <a:t>Step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64207"/>
            <a:ext cx="19659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Helvetica Neue"/>
              </a:rPr>
              <a:t>Enablement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029967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6785C1"/>
                </a:solidFill>
                <a:latin typeface="Helvetica Neue"/>
              </a:rPr>
              <a:t>Where are we starting from?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670048" y="1801368"/>
            <a:ext cx="137160" cy="137160"/>
          </a:xfrm>
          <a:prstGeom prst="rightArrow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70632" y="1298448"/>
            <a:ext cx="2240280" cy="1143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07792" y="1389888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5A5A6"/>
                </a:solidFill>
                <a:latin typeface="Helvetica Neue"/>
              </a:rPr>
              <a:t>Step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07792" y="1664207"/>
            <a:ext cx="19659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C3E50"/>
                </a:solidFill>
                <a:latin typeface="Helvetica Neue"/>
              </a:rPr>
              <a:t>Define Lifecycle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7792" y="2029967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95A5A6"/>
                </a:solidFill>
                <a:latin typeface="Helvetica Neue"/>
              </a:rPr>
              <a:t>How should we work?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983480" y="1801368"/>
            <a:ext cx="137160" cy="137160"/>
          </a:xfrm>
          <a:prstGeom prst="rightArrow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84064" y="1298448"/>
            <a:ext cx="2240280" cy="1143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21224" y="1389888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5A5A6"/>
                </a:solidFill>
                <a:latin typeface="Helvetica Neue"/>
              </a:rPr>
              <a:t>Step 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21224" y="1664207"/>
            <a:ext cx="19659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C3E50"/>
                </a:solidFill>
                <a:latin typeface="Helvetica Neue"/>
              </a:rPr>
              <a:t>Design Tool Ecosystem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21224" y="2029967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95A5A6"/>
                </a:solidFill>
                <a:latin typeface="Helvetica Neue"/>
              </a:rPr>
              <a:t>What supports the process?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296912" y="1801368"/>
            <a:ext cx="137160" cy="137160"/>
          </a:xfrm>
          <a:prstGeom prst="rightArrow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97496" y="1298448"/>
            <a:ext cx="2240280" cy="1143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34656" y="1389888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5A5A6"/>
                </a:solidFill>
                <a:latin typeface="Helvetica Neue"/>
              </a:rPr>
              <a:t>Step 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34656" y="1664207"/>
            <a:ext cx="19659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C3E50"/>
                </a:solidFill>
                <a:latin typeface="Helvetica Neue"/>
              </a:rPr>
              <a:t>Pilot Execution (BRS)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34656" y="2029967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95A5A6"/>
                </a:solidFill>
                <a:latin typeface="Helvetica Neue"/>
              </a:rPr>
              <a:t>Does it work in reality?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610344" y="1801368"/>
            <a:ext cx="137160" cy="137160"/>
          </a:xfrm>
          <a:prstGeom prst="rightArrow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710928" y="1298448"/>
            <a:ext cx="2240280" cy="1143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48088" y="1389888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5A5A6"/>
                </a:solidFill>
                <a:latin typeface="Helvetica Neue"/>
              </a:rPr>
              <a:t>Step 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48088" y="1664207"/>
            <a:ext cx="19659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C3E50"/>
                </a:solidFill>
                <a:latin typeface="Helvetica Neue"/>
              </a:rPr>
              <a:t>Learn &amp; Adjust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48088" y="2029967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95A5A6"/>
                </a:solidFill>
                <a:latin typeface="Helvetica Neue"/>
              </a:rPr>
              <a:t>What needs refinement?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2834640"/>
            <a:ext cx="11274552" cy="347472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2834640"/>
            <a:ext cx="1127455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STEP 1  —  ENABLEMENT  ·  ZOOM 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3310128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F1C50"/>
                </a:solidFill>
                <a:latin typeface="Helvetica Neue"/>
              </a:rPr>
              <a:t>WHAT WE DID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602736"/>
            <a:ext cx="73152" cy="713232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3602736"/>
            <a:ext cx="6492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C50"/>
                </a:solidFill>
                <a:latin typeface="Helvetica Neue"/>
              </a:rPr>
              <a:t>Prior Materials Review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3840480"/>
            <a:ext cx="6492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Reviewed 40+ prior artifacts: SAP CoE decks, IT CS Operating Model, P&amp;S Playbook, DTO NextGen, Org Chart, Competency Framework.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379976"/>
            <a:ext cx="73152" cy="713232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4379976"/>
            <a:ext cx="6492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C50"/>
                </a:solidFill>
                <a:latin typeface="Helvetica Neue"/>
              </a:rPr>
              <a:t>Champion Stakeholder Interviews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4617720"/>
            <a:ext cx="6492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Six 1:1 champion interviews (GIS, Corporate, G&amp;E, Global SAP, Smart Metering) + two director sessions (Carlos; Stephanie &amp; Kumar). Captured intake channels, tools, roles, pain points and aspirations per team.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5157216"/>
            <a:ext cx="73152" cy="713232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157216"/>
            <a:ext cx="6492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C50"/>
                </a:solidFill>
                <a:latin typeface="Helvetica Neue"/>
              </a:rPr>
              <a:t>Portfolio Assessment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5394959"/>
            <a:ext cx="6492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Mapped demand typology per team across the 5 lifecycle stages. Reconciled interview evidence with the RFI workbook and the validated Miro board.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0" y="331012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F1C50"/>
                </a:solidFill>
                <a:latin typeface="Helvetica Neue"/>
              </a:rPr>
              <a:t>DELIVERABLES OF STEP 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0" y="3611880"/>
            <a:ext cx="3959352" cy="20574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0" y="3611880"/>
            <a:ext cx="73152" cy="2057400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01000" y="3749039"/>
            <a:ext cx="36576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C3E50"/>
                </a:solidFill>
                <a:latin typeface="Helvetica Neue"/>
              </a:rPr>
              <a:t>▪  Baseline Report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C3E50"/>
                </a:solidFill>
                <a:latin typeface="Helvetica Neue"/>
              </a:rPr>
              <a:t>▪  Demand Map  (this deck)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C3E50"/>
                </a:solidFill>
                <a:latin typeface="Helvetica Neue"/>
              </a:rPr>
              <a:t>▪  Project Portfolio Landscape — SAP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C3E50"/>
                </a:solidFill>
                <a:latin typeface="Helvetica Neue"/>
              </a:rPr>
              <a:t>▪  Champion Interview Log (6 interviews)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C3E50"/>
                </a:solidFill>
                <a:latin typeface="Helvetica Neue"/>
              </a:rPr>
              <a:t>▪  Cross-Project Comparison (P&amp;S / DTO / Digital CoE)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5989320"/>
            <a:ext cx="11274552" cy="502920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5800" y="6035040"/>
            <a:ext cx="1081735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Helvetica Neue"/>
              </a:rPr>
              <a:t>The Demand Map is the evidence backbone — Step 2 (Define Lifecycle) consumes these findings to draft the Lifecycle v1.0, Demand Typology and Roles &amp; RACI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0" y="6565392"/>
            <a:ext cx="25877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5A5A6"/>
                </a:solidFill>
                <a:latin typeface="Helvetica Neue"/>
              </a:rPr>
              <a:t>Methodology  |  05 / 19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7200" y="73152"/>
            <a:ext cx="2218334" cy="201168"/>
          </a:xfrm>
          <a:prstGeom prst="round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73152"/>
            <a:ext cx="221833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Helvetica Neue"/>
              </a:rPr>
              <a:t>01  ·  FRAMING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721254" y="73152"/>
            <a:ext cx="2218334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21254" y="73152"/>
            <a:ext cx="221833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5A5A6"/>
                </a:solidFill>
                <a:latin typeface="Helvetica Neue"/>
              </a:rPr>
              <a:t>02  ·  ORGANIZATION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985308" y="73152"/>
            <a:ext cx="2218334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985308" y="73152"/>
            <a:ext cx="221833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5A5A6"/>
                </a:solidFill>
                <a:latin typeface="Helvetica Neue"/>
              </a:rPr>
              <a:t>03  ·  AS-IS DRILL-DOWNS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249363" y="73152"/>
            <a:ext cx="2218334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249363" y="73152"/>
            <a:ext cx="221833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5A5A6"/>
                </a:solidFill>
                <a:latin typeface="Helvetica Neue"/>
              </a:rPr>
              <a:t>04  ·  BOTTLENECKS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513417" y="73152"/>
            <a:ext cx="2218334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513417" y="73152"/>
            <a:ext cx="221833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5A5A6"/>
                </a:solidFill>
                <a:latin typeface="Helvetica Neue"/>
              </a:rPr>
              <a:t>05  ·  INSIGHTS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F1C50"/>
                </a:solidFill>
                <a:latin typeface="Helvetica Neue"/>
              </a:rPr>
              <a:t>This map traces every demand from source to execution across two director branches and their sub-teams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F1C50"/>
                </a:solidFill>
                <a:latin typeface="Helvetica Neue"/>
              </a:rPr>
              <a:t>THE 5 END-TO-END STAGES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502920" cy="502920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Helvetica Neue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828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C50"/>
                </a:solidFill>
                <a:latin typeface="Helvetica Neue"/>
              </a:rPr>
              <a:t>INTAKE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10312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Channels &amp; Sources — how demand enters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514600"/>
            <a:ext cx="502920" cy="502920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5146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Helvetica Neue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5146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C50"/>
                </a:solidFill>
                <a:latin typeface="Helvetica Neue"/>
              </a:rPr>
              <a:t>CLASSIFICATION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78892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Type, size, urgency — how demand is sorted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200400"/>
            <a:ext cx="502920" cy="502920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2004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Helvetica Neue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2004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C50"/>
                </a:solidFill>
                <a:latin typeface="Helvetica Neue"/>
              </a:rPr>
              <a:t>PRIORITIZATION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47472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Scoring &amp; criteria — how decisions are made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886200"/>
            <a:ext cx="502920" cy="502920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8862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Helvetica Neue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8862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C50"/>
                </a:solidFill>
                <a:latin typeface="Helvetica Neue"/>
              </a:rPr>
              <a:t>PORTFOLIO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16052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Governance &amp; decision — how it's owned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572000"/>
            <a:ext cx="502920" cy="502920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5720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Helvetica Neue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5720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C50"/>
                </a:solidFill>
                <a:latin typeface="Helvetica Neue"/>
              </a:rPr>
              <a:t>DELIVERY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84632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Execution &amp; flow — how it's built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1417320"/>
            <a:ext cx="5943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F1C50"/>
                </a:solidFill>
                <a:latin typeface="Helvetica Neue"/>
              </a:rPr>
              <a:t>READING THE CELLS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0" y="1828800"/>
            <a:ext cx="320040" cy="3200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18288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Process works — formal channel + clear ownership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0" y="2331720"/>
            <a:ext cx="320040" cy="320040"/>
          </a:xfrm>
          <a:prstGeom prst="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23317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Partial gap — informal or inconsistent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0" y="2834639"/>
            <a:ext cx="320040" cy="320040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2834639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Critical gap — no formal process or tool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0" y="3337559"/>
            <a:ext cx="320040" cy="320040"/>
          </a:xfrm>
          <a:prstGeom prst="rect">
            <a:avLst/>
          </a:prstGeom>
          <a:solidFill>
            <a:srgbClr val="95A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337559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Not observed — data not captured in interviews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0" y="4023360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F1C50"/>
                </a:solidFill>
                <a:latin typeface="Helvetica Neue"/>
              </a:rPr>
              <a:t>ORGANIZATIONAL UNITS COVERED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0" y="4343400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785C1"/>
                </a:solidFill>
                <a:latin typeface="Helvetica Neue"/>
              </a:rPr>
              <a:t>Applications branch — Director Carlos Garbin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0" y="457200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GIS (George)  •  Corporate (Amit)  •  G&amp;E (Andrew/Bruno)  •  Global SAP (Michael/Vanessa)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0" y="5029200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785C1"/>
                </a:solidFill>
                <a:latin typeface="Helvetica Neue"/>
              </a:rPr>
              <a:t>Customer Services branch — Director Kumar Jaladanki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525780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Smart Metering (Iram/Vincent)  •  Branch overview from Kumar + Stephanie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5989320"/>
            <a:ext cx="11274552" cy="502920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" y="6035040"/>
            <a:ext cx="1081735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Helvetica Neue"/>
              </a:rPr>
              <a:t>The map is organized as 5 area swimlanes × 5 process stages — every cell is a claim grounded in interview evidence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0" y="6565392"/>
            <a:ext cx="25877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5A5A6"/>
                </a:solidFill>
                <a:latin typeface="Helvetica Neue"/>
              </a:rPr>
              <a:t>How to Read  |  06 / 19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73152"/>
            <a:ext cx="2218334" cy="201168"/>
          </a:xfrm>
          <a:prstGeom prst="round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73152"/>
            <a:ext cx="221833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Helvetica Neue"/>
              </a:rPr>
              <a:t>01  ·  FRAMING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721254" y="73152"/>
            <a:ext cx="2218334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21254" y="73152"/>
            <a:ext cx="221833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5A5A6"/>
                </a:solidFill>
                <a:latin typeface="Helvetica Neue"/>
              </a:rPr>
              <a:t>02  ·  ORGANIZATION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985308" y="73152"/>
            <a:ext cx="2218334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85308" y="73152"/>
            <a:ext cx="221833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5A5A6"/>
                </a:solidFill>
                <a:latin typeface="Helvetica Neue"/>
              </a:rPr>
              <a:t>03  ·  AS-IS DRILL-DOWNS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249363" y="73152"/>
            <a:ext cx="2218334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249363" y="73152"/>
            <a:ext cx="221833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5A5A6"/>
                </a:solidFill>
                <a:latin typeface="Helvetica Neue"/>
              </a:rPr>
              <a:t>04  ·  BOTTLENECKS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513417" y="73152"/>
            <a:ext cx="2218334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513417" y="73152"/>
            <a:ext cx="221833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5A5A6"/>
                </a:solidFill>
                <a:latin typeface="Helvetica Neue"/>
              </a:rPr>
              <a:t>05  ·  INSIGHTS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F1C50"/>
                </a:solidFill>
                <a:latin typeface="Helvetica Neue"/>
              </a:rPr>
              <a:t>Digital Products spans two director branches (~50 FTE) across nine sub-teams — with two Sr. Manager positions currently vacant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0" y="1325880"/>
            <a:ext cx="2103120" cy="502920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0" y="1325880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Helvetica Neue"/>
              </a:rPr>
              <a:t>Vitor Cruz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Helvetica Neue"/>
              </a:rPr>
              <a:t>VP — IT Business Solutions Delivery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2103120"/>
            <a:ext cx="4846320" cy="502920"/>
          </a:xfrm>
          <a:prstGeom prst="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103120"/>
            <a:ext cx="48463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Carlos Garbin  —  Director IT Business Applications  (~26 FTE)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2103120"/>
            <a:ext cx="4846320" cy="502920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2103120"/>
            <a:ext cx="48463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Kumar Jaladanki  —  Director Customer Services Apps  (~24 FTE)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2788920"/>
            <a:ext cx="109728" cy="56692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508760" y="2788920"/>
            <a:ext cx="4709160" cy="56692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00200" y="2834639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C50"/>
                </a:solidFill>
                <a:latin typeface="Helvetica Neue"/>
              </a:rPr>
              <a:t>Bruno Moreto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3090672"/>
            <a:ext cx="2468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Electric &amp; Gas Ops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49039" y="2916936"/>
            <a:ext cx="594360" cy="310896"/>
          </a:xfrm>
          <a:prstGeom prst="round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49039" y="2916936"/>
            <a:ext cx="5943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7 FTE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807208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0F1C50"/>
                </a:solidFill>
                <a:latin typeface="Helvetica Neue"/>
              </a:rPr>
              <a:t>G&amp;E Champion: Andrew McGibbon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71600" y="3410712"/>
            <a:ext cx="109728" cy="56692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508760" y="3410712"/>
            <a:ext cx="4709160" cy="56692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00200" y="345643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C50"/>
                </a:solidFill>
                <a:latin typeface="Helvetica Neue"/>
              </a:rPr>
              <a:t>George Porto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3712463"/>
            <a:ext cx="2468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GIS &amp; OSG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49039" y="3538728"/>
            <a:ext cx="594360" cy="310896"/>
          </a:xfrm>
          <a:prstGeom prst="round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49039" y="3538728"/>
            <a:ext cx="5943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6 FTE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3429000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0F1C50"/>
                </a:solidFill>
                <a:latin typeface="Helvetica Neue"/>
              </a:rPr>
              <a:t>GIS Champion: George Porto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71600" y="4032504"/>
            <a:ext cx="109728" cy="56692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508760" y="4032504"/>
            <a:ext cx="4709160" cy="56692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00200" y="4078224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C50"/>
                </a:solidFill>
                <a:latin typeface="Helvetica Neue"/>
              </a:rPr>
              <a:t>Sarath Garikapati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4334256"/>
            <a:ext cx="2468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Corporate Applications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749039" y="4160520"/>
            <a:ext cx="594360" cy="310896"/>
          </a:xfrm>
          <a:prstGeom prst="round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49039" y="4160520"/>
            <a:ext cx="5943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8 FTE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4840" y="4050791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0F1C50"/>
                </a:solidFill>
                <a:latin typeface="Helvetica Neue"/>
              </a:rPr>
              <a:t>Corporate Champion: Amit Patel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371600" y="4654296"/>
            <a:ext cx="109728" cy="56692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508760" y="4654296"/>
            <a:ext cx="4709160" cy="56692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600200" y="4700016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C50"/>
                </a:solidFill>
                <a:latin typeface="Helvetica Neue"/>
              </a:rPr>
              <a:t>Vanessa Colombo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00200" y="4956048"/>
            <a:ext cx="2468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Global SAP — Iberdrola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FI, PO, Budget (Spain)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749039" y="4782312"/>
            <a:ext cx="594360" cy="310896"/>
          </a:xfrm>
          <a:prstGeom prst="round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49039" y="4782312"/>
            <a:ext cx="5943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5 FTE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34840" y="4672583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0F1C50"/>
                </a:solidFill>
                <a:latin typeface="Helvetica Neue"/>
              </a:rPr>
              <a:t>Global SAP Champion: Michael Dubois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09360" y="2788920"/>
            <a:ext cx="109728" cy="457200"/>
          </a:xfrm>
          <a:prstGeom prst="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28232" y="2788920"/>
            <a:ext cx="4709160" cy="4572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19672" y="2816351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F1C50"/>
                </a:solidFill>
                <a:latin typeface="Helvetica Neue"/>
              </a:rPr>
              <a:t>Ivelisse Velazquez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19672" y="3017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C3E50"/>
                </a:solidFill>
                <a:latin typeface="Helvetica Neue"/>
              </a:rPr>
              <a:t>FICA, Billing &amp; Collection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686800" y="2880360"/>
            <a:ext cx="548640" cy="274320"/>
          </a:xfrm>
          <a:prstGeom prst="round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0" y="28803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Helvetica Neue"/>
              </a:rPr>
              <a:t>8 FTE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0" y="2807208"/>
            <a:ext cx="17830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6785C1"/>
                </a:solidFill>
                <a:latin typeface="Helvetica Neue"/>
              </a:rPr>
              <a:t>Scope: Customer billing operations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09360" y="3300984"/>
            <a:ext cx="109728" cy="457200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428232" y="3300984"/>
            <a:ext cx="4709160" cy="4572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19672" y="3328415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F1C50"/>
                </a:solidFill>
                <a:latin typeface="Helvetica Neue"/>
              </a:rPr>
              <a:t>TBD (vacant)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19672" y="3529584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C3E50"/>
                </a:solidFill>
                <a:latin typeface="Helvetica Neue"/>
              </a:rPr>
              <a:t>CRM &amp; Contact Center Ops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686800" y="3392424"/>
            <a:ext cx="548640" cy="274320"/>
          </a:xfrm>
          <a:prstGeom prst="round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686800" y="339242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Helvetica Neue"/>
              </a:rPr>
              <a:t>4 FTE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326880" y="3319272"/>
            <a:ext cx="17830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BC4328"/>
                </a:solidFill>
                <a:latin typeface="Helvetica Neue"/>
              </a:rPr>
              <a:t>Org vacancy — leadership gap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09360" y="3813048"/>
            <a:ext cx="109728" cy="4572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428232" y="3813048"/>
            <a:ext cx="4709160" cy="4572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19672" y="384048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F1C50"/>
                </a:solidFill>
                <a:latin typeface="Helvetica Neue"/>
              </a:rPr>
              <a:t>Vincent Lam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19672" y="4041648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C3E50"/>
                </a:solidFill>
                <a:latin typeface="Helvetica Neue"/>
              </a:rPr>
              <a:t>Device &amp; Metering (Avangrid)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686800" y="3904487"/>
            <a:ext cx="548640" cy="274320"/>
          </a:xfrm>
          <a:prstGeom prst="round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686800" y="3904487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Helvetica Neue"/>
              </a:rPr>
              <a:t>8 FTE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326880" y="3831335"/>
            <a:ext cx="17830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2E7D32"/>
                </a:solidFill>
                <a:latin typeface="Helvetica Neue"/>
              </a:rPr>
              <a:t>Smart Metering Champion: Iram Chowdhury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309360" y="4325112"/>
            <a:ext cx="109728" cy="457200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428232" y="4325112"/>
            <a:ext cx="4709160" cy="4572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519672" y="4352544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F1C50"/>
                </a:solidFill>
                <a:latin typeface="Helvetica Neue"/>
              </a:rPr>
              <a:t>Open (vacant)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19672" y="45537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C3E50"/>
                </a:solidFill>
                <a:latin typeface="Helvetica Neue"/>
              </a:rPr>
              <a:t>SAP &amp; CS Architecture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686800" y="4416552"/>
            <a:ext cx="548640" cy="274320"/>
          </a:xfrm>
          <a:prstGeom prst="round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686800" y="44165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Helvetica Neue"/>
              </a:rPr>
              <a:t>2 FTE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326880" y="4343400"/>
            <a:ext cx="17830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BC4328"/>
                </a:solidFill>
                <a:latin typeface="Helvetica Neue"/>
              </a:rPr>
              <a:t>Org vacancy — leadership gap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309360" y="4837176"/>
            <a:ext cx="109728" cy="457200"/>
          </a:xfrm>
          <a:prstGeom prst="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428232" y="4837176"/>
            <a:ext cx="4709160" cy="4572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519672" y="4864608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F1C50"/>
                </a:solidFill>
                <a:latin typeface="Helvetica Neue"/>
              </a:rPr>
              <a:t>Nagi Reddy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519672" y="5065776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C3E50"/>
                </a:solidFill>
                <a:latin typeface="Helvetica Neue"/>
              </a:rPr>
              <a:t>SAP Basis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686800" y="4928616"/>
            <a:ext cx="548640" cy="274320"/>
          </a:xfrm>
          <a:prstGeom prst="round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686800" y="492861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Helvetica Neue"/>
              </a:rPr>
              <a:t>2 FTE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326880" y="4855464"/>
            <a:ext cx="17830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6785C1"/>
                </a:solidFill>
                <a:latin typeface="Helvetica Neue"/>
              </a:rPr>
              <a:t>Scope: Platform / infrastructure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57200" y="5623560"/>
            <a:ext cx="228600" cy="2286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77240" y="560527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C3E50"/>
                </a:solidFill>
                <a:latin typeface="Helvetica Neue"/>
              </a:rPr>
              <a:t>Area champion identified (5)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114800" y="5623560"/>
            <a:ext cx="228600" cy="228600"/>
          </a:xfrm>
          <a:prstGeom prst="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434840" y="5605272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C3E50"/>
                </a:solidFill>
                <a:latin typeface="Helvetica Neue"/>
              </a:rPr>
              <a:t>Operational scope documented (2)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046720" y="5623560"/>
            <a:ext cx="228600" cy="228600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366760" y="560527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C3E50"/>
                </a:solidFill>
                <a:latin typeface="Helvetica Neue"/>
              </a:rPr>
              <a:t>Org vacancy — leadership gap (2)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57200" y="5989320"/>
            <a:ext cx="11274552" cy="502920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85800" y="6035040"/>
            <a:ext cx="1081735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Helvetica Neue"/>
              </a:rPr>
              <a:t>Two Sr. Manager vacancies leave Customer Services running at 60% leadership coverage — a structural risk the TOM must address before scaling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144000" y="6565392"/>
            <a:ext cx="25877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5A5A6"/>
                </a:solidFill>
                <a:latin typeface="Helvetica Neue"/>
              </a:rPr>
              <a:t>Org Context  |  07 / 19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457200" y="73152"/>
            <a:ext cx="2218334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57200" y="73152"/>
            <a:ext cx="221833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5A5A6"/>
                </a:solidFill>
                <a:latin typeface="Helvetica Neue"/>
              </a:rPr>
              <a:t>01  ·  FRAMING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2721254" y="73152"/>
            <a:ext cx="2218334" cy="201168"/>
          </a:xfrm>
          <a:prstGeom prst="round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721254" y="73152"/>
            <a:ext cx="221833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Helvetica Neue"/>
              </a:rPr>
              <a:t>02  ·  ORGANIZATION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4985308" y="73152"/>
            <a:ext cx="2218334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985308" y="73152"/>
            <a:ext cx="221833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5A5A6"/>
                </a:solidFill>
                <a:latin typeface="Helvetica Neue"/>
              </a:rPr>
              <a:t>03  ·  AS-IS DRILL-DOWNS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7249363" y="73152"/>
            <a:ext cx="2218334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249363" y="73152"/>
            <a:ext cx="221833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5A5A6"/>
                </a:solidFill>
                <a:latin typeface="Helvetica Neue"/>
              </a:rPr>
              <a:t>04  ·  BOTTLENECKS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9513417" y="73152"/>
            <a:ext cx="2218334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9513417" y="73152"/>
            <a:ext cx="221833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5A5A6"/>
                </a:solidFill>
                <a:latin typeface="Helvetica Neue"/>
              </a:rPr>
              <a:t>05  ·  INSIGHTS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F1C50"/>
                </a:solidFill>
                <a:latin typeface="Helvetica Neue"/>
              </a:rPr>
              <a:t>Applications runs Avangrid's non-SAP operational backbone — four teams supporting Electric &amp; Gas, GIS, Corporate and Iberdrola Global SAP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347472"/>
          </a:xfrm>
          <a:prstGeom prst="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07008"/>
            <a:ext cx="1127455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BRANCH 1  —  IT BUSINESS APPLICATIONS  ·  Director: Carlos Garbin  ·  ~26 FTE  ·  4 teams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5623560" cy="21488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5623560" cy="36576"/>
          </a:xfrm>
          <a:prstGeom prst="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801368"/>
            <a:ext cx="5257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C50"/>
                </a:solidFill>
                <a:latin typeface="Helvetica Neue"/>
              </a:rPr>
              <a:t>NATURE OF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057400"/>
            <a:ext cx="5257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6785C1"/>
                </a:solidFill>
                <a:latin typeface="Helvetica Neue"/>
              </a:rPr>
              <a:t>Operational continuity + regulated change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350008"/>
            <a:ext cx="5257800" cy="1399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▪  Keep the lights on — break/fix is the dominant pattern (GIS, G&amp;E, Corporate).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▪  Large demand planned yearly via PDD; small/medium demand handled ad-hoc.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▪  Regulatory and employee-facing systems (Corporate) run under continuous compliance pressure.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▪  Version upgrades (Projectwise, Microstation) gate-kept by Third-Party Risk assessment.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9632" y="1691640"/>
            <a:ext cx="5623560" cy="21488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9632" y="1691640"/>
            <a:ext cx="5623560" cy="36576"/>
          </a:xfrm>
          <a:prstGeom prst="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801368"/>
            <a:ext cx="5257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C50"/>
                </a:solidFill>
                <a:latin typeface="Helvetica Neue"/>
              </a:rPr>
              <a:t>APPLICATIONS IN 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057400"/>
            <a:ext cx="5257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6785C1"/>
                </a:solidFill>
                <a:latin typeface="Helvetica Neue"/>
              </a:rPr>
              <a:t>Four technology domains under Carlos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350008"/>
            <a:ext cx="5257800" cy="1399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▪  GIS &amp; OSG  —  SAP HANA, ARCFM, GIS web apps, data replication, SWF platform (George Porto, ~6 FTE).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▪  Electric &amp; Gas Ops  —  70–90 apps, android/tablets, doc viewer, 811 gas lines (Bruno Moreto + Andrew McGibbon, ~7 FTE).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▪  Corporate Applications  —  5-6 PMs, 2 tech leads, corporate + network apps, SWF tooling (Sarath + Amit, ~8 FTE).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▪  Global SAP (Iberdrola)  —  FI, PO, Budget — Spain-side SAP module support (Vanessa + Michael, ~5 FTE).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913632"/>
            <a:ext cx="5623560" cy="21488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913632"/>
            <a:ext cx="5623560" cy="36576"/>
          </a:xfrm>
          <a:prstGeom prst="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4023360"/>
            <a:ext cx="5257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C50"/>
                </a:solidFill>
                <a:latin typeface="Helvetica Neue"/>
              </a:rPr>
              <a:t>PRIORITIES TODAY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279392"/>
            <a:ext cx="5257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6785C1"/>
                </a:solidFill>
                <a:latin typeface="Helvetica Neue"/>
              </a:rPr>
              <a:t>Break/fix first, regulatory second, strategic last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572000"/>
            <a:ext cx="5257800" cy="1399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▪  GIS: keep the lights on; team &amp; SWF resource management; future technology roadmap.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▪  Corporate: regulatory and employee-facing systems — always priority; continuous new requirements.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▪  G&amp;E: ProjectWise + Microstation upgrades; third-party risk interface; business case approvals (slow).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▪  Global SAP: incident volume dominates — strategic projects slip; 1-year hiring lag amplifies load.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9632" y="3913632"/>
            <a:ext cx="5623560" cy="21488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9632" y="3913632"/>
            <a:ext cx="5623560" cy="36576"/>
          </a:xfrm>
          <a:prstGeom prst="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4023360"/>
            <a:ext cx="5257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C50"/>
                </a:solidFill>
                <a:latin typeface="Helvetica Neue"/>
              </a:rPr>
              <a:t>INTERACTIONS  &amp;  WAY OF WORKING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5257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6785C1"/>
                </a:solidFill>
                <a:latin typeface="Helvetica Neue"/>
              </a:rPr>
              <a:t>Inside-IT + vendor + business triangulation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572000"/>
            <a:ext cx="5257800" cy="1399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▪  Inside Applications: GIS ↔ G&amp;E (shared SAP/GIS data); Corporate ↔ all teams (shared PMs).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▪  With SAP branch: Global SAP ↔ Kumar's Local SAP (Billing, FICA); P&amp;T is the intermediary with Business.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▪  With vendors: Accenture (Global SAP + Corporate), SWF / Software Factory (all teams), business vendors (G&amp;E).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▪  Tools mix: Jira (misc), IT Now (incidents), PDD (large), SharePoint + Teams + OneNote + Email (PM).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989320"/>
            <a:ext cx="11274552" cy="502920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6035040"/>
            <a:ext cx="1081735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Helvetica Neue"/>
              </a:rPr>
              <a:t>Applications carries the structural legacy of Avangrid's IT stack — fragmentation here maps directly to the 4 intake bottlenecks surfaced later in this deck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6565392"/>
            <a:ext cx="25877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5A5A6"/>
                </a:solidFill>
                <a:latin typeface="Helvetica Neue"/>
              </a:rPr>
              <a:t>Applications Branch Overview  |  08 / 19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73152"/>
            <a:ext cx="2218334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73152"/>
            <a:ext cx="221833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5A5A6"/>
                </a:solidFill>
                <a:latin typeface="Helvetica Neue"/>
              </a:rPr>
              <a:t>01  ·  FRAMING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721254" y="73152"/>
            <a:ext cx="2218334" cy="201168"/>
          </a:xfrm>
          <a:prstGeom prst="round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21254" y="73152"/>
            <a:ext cx="221833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Helvetica Neue"/>
              </a:rPr>
              <a:t>02  ·  ORGANIZATION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985308" y="73152"/>
            <a:ext cx="2218334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85308" y="73152"/>
            <a:ext cx="221833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5A5A6"/>
                </a:solidFill>
                <a:latin typeface="Helvetica Neue"/>
              </a:rPr>
              <a:t>03  ·  AS-IS DRILL-DOWNS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49363" y="73152"/>
            <a:ext cx="2218334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49363" y="73152"/>
            <a:ext cx="221833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5A5A6"/>
                </a:solidFill>
                <a:latin typeface="Helvetica Neue"/>
              </a:rPr>
              <a:t>04  ·  BOTTLENECKS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513417" y="73152"/>
            <a:ext cx="2218334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513417" y="73152"/>
            <a:ext cx="221833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5A5A6"/>
                </a:solidFill>
                <a:latin typeface="Helvetica Neue"/>
              </a:rPr>
              <a:t>05  ·  INSIGHTS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F1C50"/>
                </a:solidFill>
                <a:latin typeface="Helvetica Neue"/>
              </a:rPr>
              <a:t>Customer Services Apps serves 7 OPCOs across three BRS groups — with Local SAP (Billing, CRM, FICA, Metering) as the operational core and two Sr. Manager vacancies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347472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07008"/>
            <a:ext cx="1127455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BRANCH 2  —  CUSTOMER SERVICES APPS  ·  Director: Kumar Jaladanki  ·  ~24 FTE  ·  5 teams (2 Sr. Manager vacancies)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5623560" cy="21488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5623560" cy="36576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801368"/>
            <a:ext cx="5257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C50"/>
                </a:solidFill>
                <a:latin typeface="Helvetica Neue"/>
              </a:rPr>
              <a:t>NATURE OF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057400"/>
            <a:ext cx="5257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6785C1"/>
                </a:solidFill>
                <a:latin typeface="Helvetica Neue"/>
              </a:rPr>
              <a:t>Customer-facing SAP + metering + contact center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350008"/>
            <a:ext cx="5257800" cy="1399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▪  Local SAP (Avangrid US) — Billing, FICA, CRM, Metering — distinct from Global SAP (Iberdrola Spain).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▪  Demand split across BRS (business), PMO (Travis — large projects) and IT-funded (Kumar's teams).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▪  Incidents + small/medium demand dominate volume; large projects run via annual PDD.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▪  Software Factory (SWF) executes; Accenture supports incidents + projects.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9632" y="1691640"/>
            <a:ext cx="5623560" cy="21488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9632" y="1691640"/>
            <a:ext cx="5623560" cy="36576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801368"/>
            <a:ext cx="5257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C50"/>
                </a:solidFill>
                <a:latin typeface="Helvetica Neue"/>
              </a:rPr>
              <a:t>BRS  /  OPCO LANDSCAPE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057400"/>
            <a:ext cx="5257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6785C1"/>
                </a:solidFill>
                <a:latin typeface="Helvetica Neue"/>
              </a:rPr>
              <a:t>3 BRS groups representing 7 operating companies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350008"/>
            <a:ext cx="5257800" cy="1399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▪  BRS UIL  —  United Illuminating, SCG, CNG, BGC (Connecticut cluster).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▪  BRS CMP  —  Central Maine Power (Maine operations).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▪  BRS NY  —  NYSEG + RGE (New York cluster).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▪  Plus Digital CoE (customer apps / websites) and Call Center (contact interactions — Kumar).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▪  Each OPCO competes for the same IT capacity — multi-OPCO prioritization is a daily pressure.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913632"/>
            <a:ext cx="5623560" cy="21488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913632"/>
            <a:ext cx="5623560" cy="36576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4023360"/>
            <a:ext cx="5257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C50"/>
                </a:solidFill>
                <a:latin typeface="Helvetica Neue"/>
              </a:rPr>
              <a:t>TEAMS UNDER KUMAR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279392"/>
            <a:ext cx="5257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6785C1"/>
                </a:solidFill>
                <a:latin typeface="Helvetica Neue"/>
              </a:rPr>
              <a:t>5 sub-teams, heterogeneous maturity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572000"/>
            <a:ext cx="5257800" cy="1399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▪  Ivelisse Velazquez  —  FICA, Billing &amp; Collection (~8 FTE).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▪  Vincent Lam  —  Device &amp; Metering (Iram Chowdhury / Smart Metering sits here, ~8 FTE).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▪  Nagi Reddy  —  SAP Basis (platform / infrastructure, ~2 FTE).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▪  TBD (vacant)  —  Sr. Manager CRM &amp; Contact Center Ops (~4 FTE) — leadership gap.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▪  Open (vacant)  —  Sr. Manager SAP &amp; CS Architecture (~2 FTE) — leadership gap.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9632" y="3913632"/>
            <a:ext cx="5623560" cy="21488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9632" y="3913632"/>
            <a:ext cx="5623560" cy="36576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4023360"/>
            <a:ext cx="5257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C50"/>
                </a:solidFill>
                <a:latin typeface="Helvetica Neue"/>
              </a:rPr>
              <a:t>WAY OF WORKING  &amp;  INTERACTIONS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5257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6785C1"/>
                </a:solidFill>
                <a:latin typeface="Helvetica Neue"/>
              </a:rPr>
              <a:t>Fragmented intake + vendor-heavy delivery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572000"/>
            <a:ext cx="5257800" cy="1399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▪  Small/medium demand via Jira; large via PPM Now (only Smart Metering consistently).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▪  Incidents: IT Now; Minor requests: RITM; Major projects: SharePoint + Teams.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▪  Interactions: Kumar ↔ Travis (PMO for large projects); ↔ BRS leads (business demand); ↔ Vanessa (Global SAP).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▪  Vendor concentration: Smart Metering is 100% vendor-delivered (requirements + code); other teams rely on Accenture + SWF.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989320"/>
            <a:ext cx="11274552" cy="502920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6035040"/>
            <a:ext cx="1081735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Helvetica Neue"/>
              </a:rPr>
              <a:t>Customer Services Apps carries both business-facing complexity (3 BRS × 7 OPCOs) and structural gaps (2 Sr. Manager vacancies, vendor-heavy delivery) — the TOM must address both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6565392"/>
            <a:ext cx="25877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5A5A6"/>
                </a:solidFill>
                <a:latin typeface="Helvetica Neue"/>
              </a:rPr>
              <a:t>Customer Services Branch Overview  |  09 / 19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73152"/>
            <a:ext cx="2218334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73152"/>
            <a:ext cx="221833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5A5A6"/>
                </a:solidFill>
                <a:latin typeface="Helvetica Neue"/>
              </a:rPr>
              <a:t>01  ·  FRAMING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721254" y="73152"/>
            <a:ext cx="2218334" cy="201168"/>
          </a:xfrm>
          <a:prstGeom prst="round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21254" y="73152"/>
            <a:ext cx="221833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Helvetica Neue"/>
              </a:rPr>
              <a:t>02  ·  ORGANIZATION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985308" y="73152"/>
            <a:ext cx="2218334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85308" y="73152"/>
            <a:ext cx="221833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5A5A6"/>
                </a:solidFill>
                <a:latin typeface="Helvetica Neue"/>
              </a:rPr>
              <a:t>03  ·  AS-IS DRILL-DOWNS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49363" y="73152"/>
            <a:ext cx="2218334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49363" y="73152"/>
            <a:ext cx="221833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5A5A6"/>
                </a:solidFill>
                <a:latin typeface="Helvetica Neue"/>
              </a:rPr>
              <a:t>04  ·  BOTTLENECKS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513417" y="73152"/>
            <a:ext cx="2218334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513417" y="73152"/>
            <a:ext cx="221833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5A5A6"/>
                </a:solidFill>
                <a:latin typeface="Helvetica Neue"/>
              </a:rPr>
              <a:t>05  ·  INSIGHTS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F1C50"/>
                </a:solidFill>
                <a:latin typeface="Helvetica Neue"/>
              </a:rPr>
              <a:t>The SAP branch serves five distinct business landscapes — three regional BRS groups plus Digital CoE and Infrastructure — each with its own demand profile and governance cadence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92608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07008"/>
            <a:ext cx="1127455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SAP  /  CUSTOMER SERVICES APPS  —  LANDSCAPE BREAKDOWN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3749039" cy="23317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3749039" cy="54864"/>
          </a:xfrm>
          <a:prstGeom prst="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810512"/>
            <a:ext cx="1280160" cy="292608"/>
          </a:xfrm>
          <a:prstGeom prst="round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810512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Helvetica Neue"/>
              </a:rPr>
              <a:t>BRS UIL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1810512"/>
            <a:ext cx="2057399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1C50"/>
                </a:solidFill>
                <a:latin typeface="Helvetica Neue"/>
              </a:rPr>
              <a:t>Connecticut cluster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176272"/>
            <a:ext cx="338327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6785C1"/>
                </a:solidFill>
                <a:latin typeface="Helvetica Neue"/>
              </a:rPr>
              <a:t>UI, SCG, CNG, BGC  —  4 OPCOs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487168"/>
            <a:ext cx="3383279" cy="14173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▪  United Illuminating (UI) — CT electric distribution.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▪  Southern Connecticut Gas (SCG).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▪  Connecticut Natural Gas (CNG).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▪  Berkshire Gas Company (BGC) — Western MA gas.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▪  Customer services SAP footprint: Billing, FICA, CRM.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▪  VP Customer Service → BRS UIL lead.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79" y="1645920"/>
            <a:ext cx="3749039" cy="23317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79" y="1645920"/>
            <a:ext cx="3749039" cy="54864"/>
          </a:xfrm>
          <a:prstGeom prst="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80559" y="1810512"/>
            <a:ext cx="1280160" cy="292608"/>
          </a:xfrm>
          <a:prstGeom prst="round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1810512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Helvetica Neue"/>
              </a:rPr>
              <a:t>BRS CMP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59" y="1810512"/>
            <a:ext cx="2057399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1C50"/>
                </a:solidFill>
                <a:latin typeface="Helvetica Neue"/>
              </a:rPr>
              <a:t>Maine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8847" y="2176272"/>
            <a:ext cx="338327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6785C1"/>
                </a:solidFill>
                <a:latin typeface="Helvetica Neue"/>
              </a:rPr>
              <a:t>Central Maine Power  —  1 OPCO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8847" y="2487168"/>
            <a:ext cx="3383279" cy="14173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▪  Central Maine Power (CMP) — ME electric distribution.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▪  Dedicated BRS — distinct regulatory cadence vs. UIL and NY.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▪  Customer services SAP footprint: Billing, FICA, CRM.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▪  VP Customer Service → BRS CMP lead.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▪  Annual PDD demand process + small/medium via Jira.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59" y="1645920"/>
            <a:ext cx="3749039" cy="23317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38159" y="1645920"/>
            <a:ext cx="3749039" cy="54864"/>
          </a:xfrm>
          <a:prstGeom prst="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321039" y="1810512"/>
            <a:ext cx="1280160" cy="292608"/>
          </a:xfrm>
          <a:prstGeom prst="round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39" y="1810512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Helvetica Neue"/>
              </a:rPr>
              <a:t>BRS NY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39" y="1810512"/>
            <a:ext cx="2057399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1C50"/>
                </a:solidFill>
                <a:latin typeface="Helvetica Neue"/>
              </a:rPr>
              <a:t>New York cluster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7" y="2176272"/>
            <a:ext cx="338327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6785C1"/>
                </a:solidFill>
                <a:latin typeface="Helvetica Neue"/>
              </a:rPr>
              <a:t>NYSEG, RGE  —  2 OPCOs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9327" y="2487168"/>
            <a:ext cx="3383279" cy="14173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▪  NYSEG — upstate NY electric &amp; gas.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▪  RGE — Rochester Gas &amp; Electric.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▪  Customer services SAP footprint: Billing, FICA, CRM, Metering (Smart Metering heaviest here).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▪  VP Customer Service NY → BRS NY lead.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▪  Shared AMI / metering program drives device &amp; metering volume.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7131" y="4087368"/>
            <a:ext cx="5669280" cy="2148839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7131" y="4087368"/>
            <a:ext cx="5669280" cy="54864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50011" y="4251959"/>
            <a:ext cx="1280160" cy="292608"/>
          </a:xfrm>
          <a:prstGeom prst="round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0011" y="4251959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Helvetica Neue"/>
              </a:rPr>
              <a:t>DIGITAL CoE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1611" y="4251959"/>
            <a:ext cx="3977639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1C50"/>
                </a:solidFill>
                <a:latin typeface="Helvetica Neue"/>
              </a:rPr>
              <a:t>Customer digital experience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8299" y="4617720"/>
            <a:ext cx="5303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6785C1"/>
                </a:solidFill>
                <a:latin typeface="Helvetica Neue"/>
              </a:rPr>
              <a:t>Customer-facing apps, websites, mobile  —  Kumar directly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8299" y="4928616"/>
            <a:ext cx="5303520" cy="1234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▪  Kumar owns Digital CoE directly (customer interaction layer).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▪  Develops solutions for the customer: portal, mobile apps, websites.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▪  Interfaces with Contact Center + Call Center (customer interaction).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▪  Runs separately from BRS-driven back-office demand — closer to CX journeys than to SAP modules.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▪  Connects to P&amp;T Process &amp; Technology (field operators) and Renewables CoE patterns already mapped.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55283" y="4087368"/>
            <a:ext cx="5669280" cy="2148839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55283" y="4087368"/>
            <a:ext cx="5669280" cy="54864"/>
          </a:xfrm>
          <a:prstGeom prst="rect">
            <a:avLst/>
          </a:prstGeom>
          <a:solidFill>
            <a:srgbClr val="95A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338163" y="4251959"/>
            <a:ext cx="1280160" cy="292608"/>
          </a:xfrm>
          <a:prstGeom prst="roundRect">
            <a:avLst/>
          </a:prstGeom>
          <a:solidFill>
            <a:srgbClr val="95A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38163" y="4251959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Helvetica Neue"/>
              </a:rPr>
              <a:t>INFRASTRUCTURE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09763" y="4251959"/>
            <a:ext cx="3977639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1C50"/>
                </a:solidFill>
                <a:latin typeface="Helvetica Neue"/>
              </a:rPr>
              <a:t>SAP Basis / platform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6451" y="4617720"/>
            <a:ext cx="5303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6785C1"/>
                </a:solidFill>
                <a:latin typeface="Helvetica Neue"/>
              </a:rPr>
              <a:t>Nagi Reddy  —  SAP Basis (~2 FTE)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6451" y="4928616"/>
            <a:ext cx="5303520" cy="1234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▪  Platform + infrastructure services supporting all SAP modules (FICA, Billing, CRM, Metering).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▪  Shared service across BRS UIL / CMP / NY — horizontal layer.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▪  On-prem = IT owned (platform side).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▪  Version upgrades, environment moves, third-party risk interface.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▪  Level-1 / small regulatory demands (Jira as intake + managing, forms standard) surface here before routing.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5989320"/>
            <a:ext cx="11274552" cy="502920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6035040"/>
            <a:ext cx="1081735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Helvetica Neue"/>
              </a:rPr>
              <a:t>Any TOM recommendation on Customer Services demand must respect three regional cadences (UIL, CMP, NY), one customer-facing track (Digital CoE), and one horizontal platform (Infrastructure) — single model, five consumption patterns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0" y="6565392"/>
            <a:ext cx="25877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5A5A6"/>
                </a:solidFill>
                <a:latin typeface="Helvetica Neue"/>
              </a:rPr>
              <a:t>SAP Landscape Detail  |  10 / 19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73152"/>
            <a:ext cx="2218334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73152"/>
            <a:ext cx="221833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5A5A6"/>
                </a:solidFill>
                <a:latin typeface="Helvetica Neue"/>
              </a:rPr>
              <a:t>01  ·  FRAMING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721254" y="73152"/>
            <a:ext cx="2218334" cy="201168"/>
          </a:xfrm>
          <a:prstGeom prst="round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721254" y="73152"/>
            <a:ext cx="221833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Helvetica Neue"/>
              </a:rPr>
              <a:t>02  ·  ORGANIZATION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985308" y="73152"/>
            <a:ext cx="2218334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985308" y="73152"/>
            <a:ext cx="221833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5A5A6"/>
                </a:solidFill>
                <a:latin typeface="Helvetica Neue"/>
              </a:rPr>
              <a:t>03  ·  AS-IS DRILL-DOWNS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249363" y="73152"/>
            <a:ext cx="2218334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249363" y="73152"/>
            <a:ext cx="221833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5A5A6"/>
                </a:solidFill>
                <a:latin typeface="Helvetica Neue"/>
              </a:rPr>
              <a:t>04  ·  BOTTLENECKS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513417" y="73152"/>
            <a:ext cx="2218334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513417" y="73152"/>
            <a:ext cx="221833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5A5A6"/>
                </a:solidFill>
                <a:latin typeface="Helvetica Neue"/>
              </a:rPr>
              <a:t>05  ·  INSIGHTS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F1C50"/>
                </a:solidFill>
                <a:latin typeface="Helvetica Neue"/>
              </a:rPr>
              <a:t>GIS balances break/fix urgency against yearly PDD planning — with no formal channel for small demand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70432"/>
            <a:ext cx="1127455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785C1"/>
                </a:solidFill>
                <a:latin typeface="Helvetica Neue"/>
              </a:rPr>
              <a:t>GIS &amp; OSG — team led by George Porto (Sr. Manager)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572768"/>
            <a:ext cx="2167128" cy="384048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572768"/>
            <a:ext cx="216712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01 INTAKE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32204" y="2029968"/>
            <a:ext cx="1097280" cy="201168"/>
          </a:xfrm>
          <a:prstGeom prst="round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32204" y="202996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Helvetica Neue"/>
              </a:rPr>
              <a:t>PARTIAL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319272" y="1572768"/>
            <a:ext cx="2167128" cy="384048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9272" y="1572768"/>
            <a:ext cx="216712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02 CLASSIFICATION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54196" y="2029968"/>
            <a:ext cx="1097280" cy="201168"/>
          </a:xfrm>
          <a:prstGeom prst="round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54196" y="202996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Helvetica Neue"/>
              </a:rPr>
              <a:t>PARTIAL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41264" y="1572768"/>
            <a:ext cx="2167128" cy="384048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41264" y="1572768"/>
            <a:ext cx="216712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03 PRIORITIZATION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76188" y="2029968"/>
            <a:ext cx="1097280" cy="201168"/>
          </a:xfrm>
          <a:prstGeom prst="round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76188" y="202996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Helvetica Neue"/>
              </a:rPr>
              <a:t>PARTIAL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63256" y="1572768"/>
            <a:ext cx="2167128" cy="384048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63256" y="1572768"/>
            <a:ext cx="216712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04 PORTFOLIO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98180" y="2029968"/>
            <a:ext cx="1097280" cy="201168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98180" y="202996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Helvetica Neue"/>
              </a:rPr>
              <a:t>OK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985248" y="1572768"/>
            <a:ext cx="2167128" cy="384048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85248" y="1572768"/>
            <a:ext cx="216712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05 DELIVERY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520172" y="2029968"/>
            <a:ext cx="1097280" cy="201168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20172" y="202996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Helvetica Neue"/>
              </a:rPr>
              <a:t>OK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340864"/>
            <a:ext cx="594360" cy="6858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2340864"/>
            <a:ext cx="5943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Helvetica Neue"/>
              </a:rPr>
              <a:t>CHANNELS  ·  WHO SENDS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97280" y="2340864"/>
            <a:ext cx="2167128" cy="685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2386584"/>
            <a:ext cx="19842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Jira (misc. work) + Email / Meetings (small demand) + IT-Now (daily break/fix)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19272" y="2340864"/>
            <a:ext cx="2167128" cy="685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10712" y="2386584"/>
            <a:ext cx="19842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Small: email / Jira / IT-Now routed by type; Large: yearly PDD process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41264" y="2340864"/>
            <a:ext cx="2167128" cy="685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32704" y="2386584"/>
            <a:ext cx="19842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Business drives prioritization; P&amp;T is the face for small demand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63256" y="2340864"/>
            <a:ext cx="2167128" cy="685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54696" y="2386584"/>
            <a:ext cx="19842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PDD-approved portfolio; no dedicated portfolio tool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985248" y="2340864"/>
            <a:ext cx="2167128" cy="685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76688" y="2386584"/>
            <a:ext cx="19842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Internal team for break/fix; SWF brought in for resource impact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3063240"/>
            <a:ext cx="594360" cy="685800"/>
          </a:xfrm>
          <a:prstGeom prst="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3063240"/>
            <a:ext cx="5943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Helvetica Neue"/>
              </a:rPr>
              <a:t>ROLES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97280" y="3063240"/>
            <a:ext cx="2167128" cy="685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88720" y="3108960"/>
            <a:ext cx="19842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Business users open tickets; George's team receives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319272" y="3063240"/>
            <a:ext cx="2167128" cy="685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410712" y="3108960"/>
            <a:ext cx="19842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George + team classify; PDD committee for large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541264" y="3063240"/>
            <a:ext cx="2167128" cy="685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632704" y="3108960"/>
            <a:ext cx="19842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"Impact to most users" rule (George); PDD approvers for large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763256" y="3063240"/>
            <a:ext cx="2167128" cy="685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854696" y="3108960"/>
            <a:ext cx="19842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Informal PM — George manages via OneNote / Teams / spreadsheets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985248" y="3063240"/>
            <a:ext cx="2167128" cy="685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076688" y="3108960"/>
            <a:ext cx="19842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GIS team + Software Factory (shared server infra: SAP HANA, ARCFM)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3785616"/>
            <a:ext cx="594360" cy="685800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" y="3785616"/>
            <a:ext cx="5943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Helvetica Neue"/>
              </a:rPr>
              <a:t>TOOLS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97280" y="3785616"/>
            <a:ext cx="2167128" cy="685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88720" y="3831336"/>
            <a:ext cx="19842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Jira · Email · Meetings · IT-Now (RITM)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319272" y="3785616"/>
            <a:ext cx="2167128" cy="685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410712" y="3831336"/>
            <a:ext cx="19842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No single tool — Jira tags, PDD workbook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541264" y="3785616"/>
            <a:ext cx="2167128" cy="685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632704" y="3831336"/>
            <a:ext cx="19842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Spreadsheet-based; no scoring tool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763256" y="3785616"/>
            <a:ext cx="2167128" cy="685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854696" y="3831336"/>
            <a:ext cx="19842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OneNote + Teams + Spreadsheets (informal) + PDD (large)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985248" y="3785616"/>
            <a:ext cx="2167128" cy="685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076688" y="3831336"/>
            <a:ext cx="19842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Jira (internal) + SWF process (vendor capacity)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7200" y="4507992"/>
            <a:ext cx="594360" cy="685800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57200" y="4507992"/>
            <a:ext cx="5943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Helvetica Neue"/>
              </a:rPr>
              <a:t>GOVERNANCE  &amp;  METRICS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97280" y="4507992"/>
            <a:ext cx="2167128" cy="685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188720" y="4553712"/>
            <a:ext cx="19842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No SLA on small demand; no volume tracking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319272" y="4507992"/>
            <a:ext cx="2167128" cy="685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410712" y="4553712"/>
            <a:ext cx="19842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No classification rule below PDD threshold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541264" y="4507992"/>
            <a:ext cx="2167128" cy="685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632704" y="4553712"/>
            <a:ext cx="19842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"Highest impact / most users" — heuristic, not scored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763256" y="4507992"/>
            <a:ext cx="2167128" cy="685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854696" y="4553712"/>
            <a:ext cx="19842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PDD governance works for large; no below-threshold governance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985248" y="4507992"/>
            <a:ext cx="2167128" cy="685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076688" y="4553712"/>
            <a:ext cx="19842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SWF engagement tracked ad-hoc; no KPIs per release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57200" y="5321808"/>
            <a:ext cx="11274552" cy="8229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57200" y="5321808"/>
            <a:ext cx="73152" cy="822960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40080" y="536752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1C50"/>
                </a:solidFill>
                <a:latin typeface="Helvetica Neue"/>
              </a:rPr>
              <a:t>KEY PATTERNS  —  WHAT THE FINDINGS REVEAL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400800" y="5367528"/>
            <a:ext cx="5166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C4328"/>
                </a:solidFill>
                <a:latin typeface="Helvetica Neue"/>
              </a:rPr>
              <a:t>SUPPORTING QUOTE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0" y="5614416"/>
            <a:ext cx="5166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2C3E50"/>
                </a:solidFill>
                <a:latin typeface="Helvetica Neue"/>
              </a:rPr>
              <a:t>"I prioritize things that have the highest impact to the most users. In most cases these are break/fix requests" — George Porto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40080" y="5614416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▸  GIS treats "small demand" and "break/fix" as interchangeable — volume grows, prioritization logic doesn't scale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▸  PDD works for large projects but leaves 60-70% of actual work (break/fix + small) ungoverned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▸  SWF is the elasticity valve — predictable capacity relief, but vendor-dependent and untracked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57200" y="5989320"/>
            <a:ext cx="11274552" cy="502920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85800" y="6035040"/>
            <a:ext cx="1081735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Helvetica Neue"/>
              </a:rPr>
              <a:t>GIS has a working large-project process (PDD) but relies on email + meetings for small demand — capacity risk as volume grows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144000" y="6565392"/>
            <a:ext cx="25877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5A5A6"/>
                </a:solidFill>
                <a:latin typeface="Helvetica Neue"/>
              </a:rPr>
              <a:t>Drill-down: GIS  |  11 / 19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457200" y="73152"/>
            <a:ext cx="2218334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57200" y="73152"/>
            <a:ext cx="221833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5A5A6"/>
                </a:solidFill>
                <a:latin typeface="Helvetica Neue"/>
              </a:rPr>
              <a:t>01  ·  FRAMING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2721254" y="73152"/>
            <a:ext cx="2218334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721254" y="73152"/>
            <a:ext cx="221833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5A5A6"/>
                </a:solidFill>
                <a:latin typeface="Helvetica Neue"/>
              </a:rPr>
              <a:t>02  ·  ORGANIZATION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4985308" y="73152"/>
            <a:ext cx="2218334" cy="201168"/>
          </a:xfrm>
          <a:prstGeom prst="round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985308" y="73152"/>
            <a:ext cx="221833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Helvetica Neue"/>
              </a:rPr>
              <a:t>03  ·  AS-IS DRILL-DOWNS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7249363" y="73152"/>
            <a:ext cx="2218334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249363" y="73152"/>
            <a:ext cx="221833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5A5A6"/>
                </a:solidFill>
                <a:latin typeface="Helvetica Neue"/>
              </a:rPr>
              <a:t>04  ·  BOTTLENECKS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9513417" y="73152"/>
            <a:ext cx="2218334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9513417" y="73152"/>
            <a:ext cx="221833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5A5A6"/>
                </a:solidFill>
                <a:latin typeface="Helvetica Neue"/>
              </a:rPr>
              <a:t>05  ·  INSIGHTS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F1C50"/>
                </a:solidFill>
                <a:latin typeface="Helvetica Neue"/>
              </a:rPr>
              <a:t>Corporate runs demand through Jira, Confluence and Word — standardization gap despite the highest regulatory pressure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70432"/>
            <a:ext cx="1127455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785C1"/>
                </a:solidFill>
                <a:latin typeface="Helvetica Neue"/>
              </a:rPr>
              <a:t>Corporate Applications — team led by Sarath Garikapati (Sr. Manager)  ·  Champion: Amit Patel (Tech Lead, 5-6 PMs + 2 Tech Leads)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572768"/>
            <a:ext cx="2167128" cy="384048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572768"/>
            <a:ext cx="216712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01 INTAKE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32204" y="2029968"/>
            <a:ext cx="1097280" cy="201168"/>
          </a:xfrm>
          <a:prstGeom prst="round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32204" y="202996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Helvetica Neue"/>
              </a:rPr>
              <a:t>PARTIAL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319272" y="1572768"/>
            <a:ext cx="2167128" cy="384048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9272" y="1572768"/>
            <a:ext cx="216712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02 CLASSIFICATION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54196" y="2029968"/>
            <a:ext cx="1097280" cy="201168"/>
          </a:xfrm>
          <a:prstGeom prst="round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54196" y="202996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Helvetica Neue"/>
              </a:rPr>
              <a:t>GAP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41264" y="1572768"/>
            <a:ext cx="2167128" cy="384048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41264" y="1572768"/>
            <a:ext cx="216712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03 PRIORITIZATION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76188" y="2029968"/>
            <a:ext cx="1097280" cy="201168"/>
          </a:xfrm>
          <a:prstGeom prst="round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76188" y="202996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Helvetica Neue"/>
              </a:rPr>
              <a:t>PARTIAL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63256" y="1572768"/>
            <a:ext cx="2167128" cy="384048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63256" y="1572768"/>
            <a:ext cx="216712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04 PORTFOLIO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98180" y="2029968"/>
            <a:ext cx="1097280" cy="201168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98180" y="202996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Helvetica Neue"/>
              </a:rPr>
              <a:t>OK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985248" y="1572768"/>
            <a:ext cx="2167128" cy="384048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85248" y="1572768"/>
            <a:ext cx="216712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05 DELIVERY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520172" y="2029968"/>
            <a:ext cx="1097280" cy="201168"/>
          </a:xfrm>
          <a:prstGeom prst="round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20172" y="202996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Helvetica Neue"/>
              </a:rPr>
              <a:t>PARTIAL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340864"/>
            <a:ext cx="594360" cy="6858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2340864"/>
            <a:ext cx="5943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Helvetica Neue"/>
              </a:rPr>
              <a:t>CHANNELS  ·  WHO SENDS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97280" y="2340864"/>
            <a:ext cx="2167128" cy="685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2386584"/>
            <a:ext cx="19842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PM via Jira + Confluence; Word docs for business requirements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19272" y="2340864"/>
            <a:ext cx="2167128" cy="685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10712" y="2386584"/>
            <a:ext cx="19842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PDD drives for large; no explicit model for small/medium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41264" y="2340864"/>
            <a:ext cx="2167128" cy="685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32704" y="2386584"/>
            <a:ext cx="19842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PDD is the driver; regulatory is treated as standing priority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63256" y="2340864"/>
            <a:ext cx="2167128" cy="685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54696" y="2386584"/>
            <a:ext cx="19842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PDD-approved portfolio; overlap visible in Confluence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985248" y="2340864"/>
            <a:ext cx="2167128" cy="685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76688" y="2386584"/>
            <a:ext cx="19842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Internal + Vendor split; regulatory-driven release cadence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3063240"/>
            <a:ext cx="594360" cy="685800"/>
          </a:xfrm>
          <a:prstGeom prst="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3063240"/>
            <a:ext cx="5943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Helvetica Neue"/>
              </a:rPr>
              <a:t>ROLES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97280" y="3063240"/>
            <a:ext cx="2167128" cy="685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88720" y="3108960"/>
            <a:ext cx="19842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Business analysts send requirements; PMs own Jira intake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319272" y="3063240"/>
            <a:ext cx="2167128" cy="685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410712" y="3108960"/>
            <a:ext cx="19842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5-6 PMs + 2 Tech Leads classify (central PM pool sits here)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541264" y="3063240"/>
            <a:ext cx="2167128" cy="685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632704" y="3108960"/>
            <a:ext cx="19842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PMs + business leadership — regulatory always lifted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763256" y="3063240"/>
            <a:ext cx="2167128" cy="685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854696" y="3108960"/>
            <a:ext cx="19842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PMs track Jira; overlap visible but not resolved upstream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985248" y="3063240"/>
            <a:ext cx="2167128" cy="685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076688" y="3108960"/>
            <a:ext cx="19842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Internal team + SWF + vendors for specific modules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3785616"/>
            <a:ext cx="594360" cy="685800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" y="3785616"/>
            <a:ext cx="5943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Helvetica Neue"/>
              </a:rPr>
              <a:t>TOOLS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97280" y="3785616"/>
            <a:ext cx="2167128" cy="685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88720" y="3831336"/>
            <a:ext cx="19842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Jira · Confluence · Word docs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319272" y="3785616"/>
            <a:ext cx="2167128" cy="685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410712" y="3831336"/>
            <a:ext cx="19842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Jira labels + PDD workbook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541264" y="3785616"/>
            <a:ext cx="2167128" cy="685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632704" y="3831336"/>
            <a:ext cx="19842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No scoring tool — regulatory tag = priority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763256" y="3785616"/>
            <a:ext cx="2167128" cy="685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854696" y="3831336"/>
            <a:ext cx="19842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Confluence + PDD; no consolidated portfolio tool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985248" y="3785616"/>
            <a:ext cx="2167128" cy="685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076688" y="3831336"/>
            <a:ext cx="19842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Jira + Confluence; SWF for vendor capacity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7200" y="4507992"/>
            <a:ext cx="594360" cy="685800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57200" y="4507992"/>
            <a:ext cx="5943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Helvetica Neue"/>
              </a:rPr>
              <a:t>GOVERNANCE  &amp;  METRICS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97280" y="4507992"/>
            <a:ext cx="2167128" cy="685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188720" y="4553712"/>
            <a:ext cx="19842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No consolidated intake funnel; Word breaks digital trail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319272" y="4507992"/>
            <a:ext cx="2167128" cy="685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410712" y="4553712"/>
            <a:ext cx="19842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No deduplication between overlapping PDDs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541264" y="4507992"/>
            <a:ext cx="2167128" cy="685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632704" y="4553712"/>
            <a:ext cx="19842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Regulatory urgency is exception-driven, not scored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763256" y="4507992"/>
            <a:ext cx="2167128" cy="685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854696" y="4553712"/>
            <a:ext cx="19842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PDD approvals govern; below-threshold demand untracked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985248" y="4507992"/>
            <a:ext cx="2167128" cy="685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076688" y="4553712"/>
            <a:ext cx="19842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One-year plan + recurring training; no release KPIs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57200" y="5321808"/>
            <a:ext cx="11274552" cy="8229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57200" y="5321808"/>
            <a:ext cx="73152" cy="822960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40080" y="536752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1C50"/>
                </a:solidFill>
                <a:latin typeface="Helvetica Neue"/>
              </a:rPr>
              <a:t>KEY PATTERNS  —  WHAT THE FINDINGS REVEAL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400800" y="5367528"/>
            <a:ext cx="5166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C4328"/>
                </a:solidFill>
                <a:latin typeface="Helvetica Neue"/>
              </a:rPr>
              <a:t>SUPPORTING QUOTE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0" y="5614416"/>
            <a:ext cx="5166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2C3E50"/>
                </a:solidFill>
                <a:latin typeface="Helvetica Neue"/>
              </a:rPr>
              <a:t>"Regulatory and Employee — not only one year plan and training, coming with new requirements that are always a priority" — Amitkumar Patel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40080" y="5614416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▸  Word-document requirements betray a pre-agile posture — downstream Jira adoption is superficial, not structural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▸  "Overlapping projects" signals classification breakdown: multiple PDDs chase similar outcomes because intake doesn't deduplicate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▸  Regulatory pressure masks the lack of formal scoring — everything becomes urgent by exception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57200" y="5989320"/>
            <a:ext cx="11274552" cy="502920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85800" y="6035040"/>
            <a:ext cx="1081735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Helvetica Neue"/>
              </a:rPr>
              <a:t>Corporate absorbs regulatory volatility through PDD — but Word-doc intake and overlap between projects create duplication and rework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144000" y="6565392"/>
            <a:ext cx="25877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5A5A6"/>
                </a:solidFill>
                <a:latin typeface="Helvetica Neue"/>
              </a:rPr>
              <a:t>Drill-down: Corporate  |  12 / 19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457200" y="73152"/>
            <a:ext cx="2218334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57200" y="73152"/>
            <a:ext cx="221833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5A5A6"/>
                </a:solidFill>
                <a:latin typeface="Helvetica Neue"/>
              </a:rPr>
              <a:t>01  ·  FRAMING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2721254" y="73152"/>
            <a:ext cx="2218334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721254" y="73152"/>
            <a:ext cx="221833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5A5A6"/>
                </a:solidFill>
                <a:latin typeface="Helvetica Neue"/>
              </a:rPr>
              <a:t>02  ·  ORGANIZATION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4985308" y="73152"/>
            <a:ext cx="2218334" cy="201168"/>
          </a:xfrm>
          <a:prstGeom prst="round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985308" y="73152"/>
            <a:ext cx="221833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Helvetica Neue"/>
              </a:rPr>
              <a:t>03  ·  AS-IS DRILL-DOWNS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7249363" y="73152"/>
            <a:ext cx="2218334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249363" y="73152"/>
            <a:ext cx="221833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5A5A6"/>
                </a:solidFill>
                <a:latin typeface="Helvetica Neue"/>
              </a:rPr>
              <a:t>04  ·  BOTTLENECKS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9513417" y="73152"/>
            <a:ext cx="2218334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9513417" y="73152"/>
            <a:ext cx="221833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5A5A6"/>
                </a:solidFill>
                <a:latin typeface="Helvetica Neue"/>
              </a:rPr>
              <a:t>05  ·  INSIGHTS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F1C50"/>
                </a:solidFill>
                <a:latin typeface="Helvetica Neue"/>
              </a:rPr>
              <a:t>G&amp;E is the only area with NO formal digital intake — every request arrives via email from business or vendor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70432"/>
            <a:ext cx="1127455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785C1"/>
                </a:solidFill>
                <a:latin typeface="Helvetica Neue"/>
              </a:rPr>
              <a:t>G&amp;E — sub-scope within Electric &amp; Gas Operations Products (team led by Bruno Moreto, Sr. Manager)  ·  Champion: Andrew McGibbon (70-90 apps supported)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572768"/>
            <a:ext cx="2167128" cy="384048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572768"/>
            <a:ext cx="216712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01 INTAKE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32204" y="2029968"/>
            <a:ext cx="1097280" cy="201168"/>
          </a:xfrm>
          <a:prstGeom prst="round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32204" y="202996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Helvetica Neue"/>
              </a:rPr>
              <a:t>GAP</a:t>
            </a:r>
          </a:p>
        </p:txBody>
      </p:sp>
      <p:sp>
        <p:nvSpPr>
          <p:cNvPr id="9" name="Rectangle 8"/>
          <p:cNvSpPr/>
          <p:nvPr/>
        </p:nvSpPr>
        <p:spPr>
          <a:xfrm>
            <a:off x="3319272" y="1572768"/>
            <a:ext cx="2167128" cy="384048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9272" y="1572768"/>
            <a:ext cx="216712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02 CLASSIFICATION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54196" y="2029968"/>
            <a:ext cx="1097280" cy="201168"/>
          </a:xfrm>
          <a:prstGeom prst="round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54196" y="202996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Helvetica Neue"/>
              </a:rPr>
              <a:t>GAP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41264" y="1572768"/>
            <a:ext cx="2167128" cy="384048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41264" y="1572768"/>
            <a:ext cx="216712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03 PRIORITIZATION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76188" y="2029968"/>
            <a:ext cx="1097280" cy="201168"/>
          </a:xfrm>
          <a:prstGeom prst="round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76188" y="202996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Helvetica Neue"/>
              </a:rPr>
              <a:t>GAP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63256" y="1572768"/>
            <a:ext cx="2167128" cy="384048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63256" y="1572768"/>
            <a:ext cx="216712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04 PORTFOLIO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98180" y="2029968"/>
            <a:ext cx="1097280" cy="201168"/>
          </a:xfrm>
          <a:prstGeom prst="round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98180" y="202996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Helvetica Neue"/>
              </a:rPr>
              <a:t>GAP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985248" y="1572768"/>
            <a:ext cx="2167128" cy="384048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85248" y="1572768"/>
            <a:ext cx="216712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05 DELIVERY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520172" y="2029968"/>
            <a:ext cx="1097280" cy="201168"/>
          </a:xfrm>
          <a:prstGeom prst="round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20172" y="202996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Helvetica Neue"/>
              </a:rPr>
              <a:t>GAP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340864"/>
            <a:ext cx="594360" cy="6858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2340864"/>
            <a:ext cx="5943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Helvetica Neue"/>
              </a:rPr>
              <a:t>CHANNELS  ·  WHO SENDS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97280" y="2340864"/>
            <a:ext cx="2167128" cy="685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2386584"/>
            <a:ext cx="19842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EMAILS only — from business AND from vendor; no ticketing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19272" y="2340864"/>
            <a:ext cx="2167128" cy="685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10712" y="2386584"/>
            <a:ext cx="19842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Ad-hoc by demand nature; depends on upgrade type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41264" y="2340864"/>
            <a:ext cx="2167128" cy="685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32704" y="2386584"/>
            <a:ext cx="19842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Andrew's internal call — operational = urgent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63256" y="2340864"/>
            <a:ext cx="2167128" cy="685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54696" y="2386584"/>
            <a:ext cx="19842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Vendor sets its own timeline; upgrades need budget/time eval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985248" y="2340864"/>
            <a:ext cx="2167128" cy="685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76688" y="2386584"/>
            <a:ext cx="19842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Vendor-led delivery; competing priorities without triage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3063240"/>
            <a:ext cx="594360" cy="685800"/>
          </a:xfrm>
          <a:prstGeom prst="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3063240"/>
            <a:ext cx="5943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Helvetica Neue"/>
              </a:rPr>
              <a:t>ROLES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97280" y="3063240"/>
            <a:ext cx="2167128" cy="685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88720" y="3108960"/>
            <a:ext cx="19842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Business + vendor send email → Andrew receives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319272" y="3063240"/>
            <a:ext cx="2167128" cy="685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410712" y="3108960"/>
            <a:ext cx="19842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Andrew alone classifies — no second reviewer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541264" y="3063240"/>
            <a:ext cx="2167128" cy="685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632704" y="3108960"/>
            <a:ext cx="19842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Andrew prioritizes; cyber / legal / third-party weighted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763256" y="3063240"/>
            <a:ext cx="2167128" cy="685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854696" y="3108960"/>
            <a:ext cx="19842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Vendor owns timeline; Andrew tracks manually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985248" y="3063240"/>
            <a:ext cx="2167128" cy="685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076688" y="3108960"/>
            <a:ext cx="19842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Vendor + Andrew; no internal release role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3785616"/>
            <a:ext cx="594360" cy="685800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" y="3785616"/>
            <a:ext cx="5943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Helvetica Neue"/>
              </a:rPr>
              <a:t>TOOLS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97280" y="3785616"/>
            <a:ext cx="2167128" cy="685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88720" y="3831336"/>
            <a:ext cx="19842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Email (Outlook) — no Jira, no IT-Now, no RITM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319272" y="3785616"/>
            <a:ext cx="2167128" cy="685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410712" y="3831336"/>
            <a:ext cx="19842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Email threads as the classification evidence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541264" y="3785616"/>
            <a:ext cx="2167128" cy="685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632704" y="3831336"/>
            <a:ext cx="19842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No scoring tool — judgment call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763256" y="3785616"/>
            <a:ext cx="2167128" cy="685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854696" y="3831336"/>
            <a:ext cx="19842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No portfolio tool in use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985248" y="3785616"/>
            <a:ext cx="2167128" cy="685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076688" y="3831336"/>
            <a:ext cx="19842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No delivery tooling — vendor runs its own stack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7200" y="4507992"/>
            <a:ext cx="594360" cy="685800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57200" y="4507992"/>
            <a:ext cx="5943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Helvetica Neue"/>
              </a:rPr>
              <a:t>GOVERNANCE  &amp;  METRICS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97280" y="4507992"/>
            <a:ext cx="2167128" cy="685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188720" y="4553712"/>
            <a:ext cx="19842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Zero digital trail; volumes unknown; single-person dependency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319272" y="4507992"/>
            <a:ext cx="2167128" cy="685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410712" y="4553712"/>
            <a:ext cx="19842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No written rule; no audit trail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541264" y="4507992"/>
            <a:ext cx="2167128" cy="685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632704" y="4553712"/>
            <a:ext cx="19842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Key-person risk — Andrew = only router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763256" y="4507992"/>
            <a:ext cx="2167128" cy="685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854696" y="4553712"/>
            <a:ext cx="19842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Third-Party Risk gates upgrades; interface is slow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985248" y="4507992"/>
            <a:ext cx="2167128" cy="685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076688" y="4553712"/>
            <a:ext cx="19842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Budget / time tension on every upgrade; no KPIs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57200" y="5321808"/>
            <a:ext cx="11274552" cy="8229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57200" y="5321808"/>
            <a:ext cx="73152" cy="822960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40080" y="536752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1C50"/>
                </a:solidFill>
                <a:latin typeface="Helvetica Neue"/>
              </a:rPr>
              <a:t>KEY PATTERNS  —  WHAT THE FINDINGS REVEAL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400800" y="5367528"/>
            <a:ext cx="5166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C4328"/>
                </a:solidFill>
                <a:latin typeface="Helvetica Neue"/>
              </a:rPr>
              <a:t>SUPPORTING QUOTE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0" y="5614416"/>
            <a:ext cx="5166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2C3E50"/>
                </a:solidFill>
                <a:latin typeface="Helvetica Neue"/>
              </a:rPr>
              <a:t>"I receive requests/input from the business or from the vendor" — Andrew McGibbon (via email)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40080" y="5614416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▸  Vendor-led model creates structural dependency: Avangrid cannot estimate or schedule its own work — budget/timeline are exogenous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▸  Third-party risk assessments add hidden lead time — upgrades routinely stall at this interface, invisible in any tracking system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▸  Single-person routing (Andrew) is a key-person risk — zero redundancy, zero documentation, zero auditability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57200" y="5989320"/>
            <a:ext cx="11274552" cy="502920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85800" y="6035040"/>
            <a:ext cx="1081735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Helvetica Neue"/>
              </a:rPr>
              <a:t>G&amp;E is the canary of intake fragmentation — zero digital trail, every decision is individual and unreproducible; must be the first area addressed in the TOM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144000" y="6565392"/>
            <a:ext cx="25877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5A5A6"/>
                </a:solidFill>
                <a:latin typeface="Helvetica Neue"/>
              </a:rPr>
              <a:t>Drill-down: G&amp;E / Electric &amp; Gas Operations  |  13 / 19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457200" y="73152"/>
            <a:ext cx="2218334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57200" y="73152"/>
            <a:ext cx="221833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5A5A6"/>
                </a:solidFill>
                <a:latin typeface="Helvetica Neue"/>
              </a:rPr>
              <a:t>01  ·  FRAMING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2721254" y="73152"/>
            <a:ext cx="2218334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721254" y="73152"/>
            <a:ext cx="221833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5A5A6"/>
                </a:solidFill>
                <a:latin typeface="Helvetica Neue"/>
              </a:rPr>
              <a:t>02  ·  ORGANIZATION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4985308" y="73152"/>
            <a:ext cx="2218334" cy="201168"/>
          </a:xfrm>
          <a:prstGeom prst="round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985308" y="73152"/>
            <a:ext cx="221833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Helvetica Neue"/>
              </a:rPr>
              <a:t>03  ·  AS-IS DRILL-DOWNS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7249363" y="73152"/>
            <a:ext cx="2218334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249363" y="73152"/>
            <a:ext cx="221833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5A5A6"/>
                </a:solidFill>
                <a:latin typeface="Helvetica Neue"/>
              </a:rPr>
              <a:t>04  ·  BOTTLENECKS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9513417" y="73152"/>
            <a:ext cx="2218334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9513417" y="73152"/>
            <a:ext cx="221833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5A5A6"/>
                </a:solidFill>
                <a:latin typeface="Helvetica Neue"/>
              </a:rPr>
              <a:t>05  ·  INSIGHTS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F1C50"/>
                </a:solidFill>
                <a:latin typeface="Helvetica Neue"/>
              </a:rPr>
              <a:t>Global SAP — Iberdrola has the most mature channel taxonomy — but is trapped by incident overload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70432"/>
            <a:ext cx="1127455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785C1"/>
                </a:solidFill>
                <a:latin typeface="Helvetica Neue"/>
              </a:rPr>
              <a:t>Global SAP — Iberdrola environment (Spain) — team led by Vanessa Colombo (Manager IT Apps Global SAP) covering FI, PO, Budget control  ·  Champion: Michael Dubois (35 yrs in business, now IT)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572768"/>
            <a:ext cx="2167128" cy="384048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572768"/>
            <a:ext cx="216712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01 INTAKE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32204" y="2029968"/>
            <a:ext cx="1097280" cy="201168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32204" y="202996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Helvetica Neue"/>
              </a:rPr>
              <a:t>OK</a:t>
            </a:r>
          </a:p>
        </p:txBody>
      </p:sp>
      <p:sp>
        <p:nvSpPr>
          <p:cNvPr id="9" name="Rectangle 8"/>
          <p:cNvSpPr/>
          <p:nvPr/>
        </p:nvSpPr>
        <p:spPr>
          <a:xfrm>
            <a:off x="3319272" y="1572768"/>
            <a:ext cx="2167128" cy="384048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9272" y="1572768"/>
            <a:ext cx="216712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02 CLASSIFICATION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54196" y="2029968"/>
            <a:ext cx="1097280" cy="201168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54196" y="202996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Helvetica Neue"/>
              </a:rPr>
              <a:t>OK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41264" y="1572768"/>
            <a:ext cx="2167128" cy="384048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41264" y="1572768"/>
            <a:ext cx="216712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03 PRIORITIZATION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76188" y="2029968"/>
            <a:ext cx="1097280" cy="201168"/>
          </a:xfrm>
          <a:prstGeom prst="round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76188" y="202996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Helvetica Neue"/>
              </a:rPr>
              <a:t>GAP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63256" y="1572768"/>
            <a:ext cx="2167128" cy="384048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63256" y="1572768"/>
            <a:ext cx="216712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04 PORTFOLIO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98180" y="2029968"/>
            <a:ext cx="1097280" cy="201168"/>
          </a:xfrm>
          <a:prstGeom prst="round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98180" y="202996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Helvetica Neue"/>
              </a:rPr>
              <a:t>PARTIAL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985248" y="1572768"/>
            <a:ext cx="2167128" cy="384048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85248" y="1572768"/>
            <a:ext cx="216712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05 DELIVERY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520172" y="2029968"/>
            <a:ext cx="1097280" cy="201168"/>
          </a:xfrm>
          <a:prstGeom prst="round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20172" y="202996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Helvetica Neue"/>
              </a:rPr>
              <a:t>PARTIAL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340864"/>
            <a:ext cx="594360" cy="6858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2340864"/>
            <a:ext cx="5943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Helvetica Neue"/>
              </a:rPr>
              <a:t>CHANNELS  ·  WHO SENDS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97280" y="2340864"/>
            <a:ext cx="2167128" cy="685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2386584"/>
            <a:ext cx="19842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IT Now (Incidents) · RITM (Minor) · Jira (Small Demands) · SharePoint + Teams (Projects)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19272" y="2340864"/>
            <a:ext cx="2167128" cy="685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10712" y="2386584"/>
            <a:ext cx="19842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Incidents→IT NOW · Small→JIRA · Minor→RITM · Major→SharePoint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41264" y="2340864"/>
            <a:ext cx="2167128" cy="685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32704" y="2386584"/>
            <a:ext cx="19842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#1 Incidents always first; #2 Small + Major; P&amp;T prioritizes projects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63256" y="2340864"/>
            <a:ext cx="2167128" cy="685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54696" y="2386584"/>
            <a:ext cx="19842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PDD for major projects; SharePoint is project home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985248" y="2340864"/>
            <a:ext cx="2167128" cy="685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76688" y="2386584"/>
            <a:ext cx="19842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Accenture + SWF (Software Factory) run delivery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3063240"/>
            <a:ext cx="594360" cy="685800"/>
          </a:xfrm>
          <a:prstGeom prst="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3063240"/>
            <a:ext cx="5943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Helvetica Neue"/>
              </a:rPr>
              <a:t>ROLES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97280" y="3063240"/>
            <a:ext cx="2167128" cy="685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88720" y="3108960"/>
            <a:ext cx="19842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Business / Accenture open tickets; Vanessa's 5-FTE team receives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319272" y="3063240"/>
            <a:ext cx="2167128" cy="685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410712" y="3108960"/>
            <a:ext cx="19842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Classification is tool-driven — channel = class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541264" y="3063240"/>
            <a:ext cx="2167128" cy="685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632704" y="3108960"/>
            <a:ext cx="19842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Michael + leadership call incidents first; P&amp;T helps with projects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763256" y="3063240"/>
            <a:ext cx="2167128" cy="685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854696" y="3108960"/>
            <a:ext cx="19842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Michael owns weekly incident review (Thursday, with Accenture)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985248" y="3063240"/>
            <a:ext cx="2167128" cy="685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076688" y="3108960"/>
            <a:ext cx="19842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Accenture = incidents; SWF = projects; P&amp;T = intermediary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3785616"/>
            <a:ext cx="594360" cy="685800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" y="3785616"/>
            <a:ext cx="5943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Helvetica Neue"/>
              </a:rPr>
              <a:t>TOOLS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97280" y="3785616"/>
            <a:ext cx="2167128" cy="685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88720" y="3831336"/>
            <a:ext cx="19842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IT Now · IT Now RITM · Jira · SharePoint · Teams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319272" y="3785616"/>
            <a:ext cx="2167128" cy="685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410712" y="3831336"/>
            <a:ext cx="19842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IT Now + Jira + SharePoint (by channel)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541264" y="3785616"/>
            <a:ext cx="2167128" cy="685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632704" y="3831336"/>
            <a:ext cx="19842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No scoring tool — incidents-first rule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763256" y="3785616"/>
            <a:ext cx="2167128" cy="685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854696" y="3831336"/>
            <a:ext cx="19842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SharePoint (projects) + PDD (approval) + Thursday incident meeting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985248" y="3785616"/>
            <a:ext cx="2167128" cy="685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076688" y="3831336"/>
            <a:ext cx="19842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Accenture's delivery stack + SWF pipeline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7200" y="4507992"/>
            <a:ext cx="594360" cy="685800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57200" y="4507992"/>
            <a:ext cx="5943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Helvetica Neue"/>
              </a:rPr>
              <a:t>GOVERNANCE  &amp;  METRICS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97280" y="4507992"/>
            <a:ext cx="2167128" cy="685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188720" y="4553712"/>
            <a:ext cx="19842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Strongest channel taxonomy in the org — but tuned for incidents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319272" y="4507992"/>
            <a:ext cx="2167128" cy="685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410712" y="4553712"/>
            <a:ext cx="19842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Channel taxonomy = de-facto classification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541264" y="4507992"/>
            <a:ext cx="2167128" cy="685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632704" y="4553712"/>
            <a:ext cx="19842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Incident volume caps strategic capacity ("entire team on incidents")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763256" y="4507992"/>
            <a:ext cx="2167128" cy="685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854696" y="4553712"/>
            <a:ext cx="19842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Weekly Accenture incident review governs incidents; projects via PDD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985248" y="4507992"/>
            <a:ext cx="2167128" cy="685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076688" y="4553712"/>
            <a:ext cx="19842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Knowledge transfer loss at every turnover — 1-year hiring lag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57200" y="5321808"/>
            <a:ext cx="11274552" cy="8229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57200" y="5321808"/>
            <a:ext cx="73152" cy="822960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40080" y="536752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1C50"/>
                </a:solidFill>
                <a:latin typeface="Helvetica Neue"/>
              </a:rPr>
              <a:t>KEY PATTERNS  —  WHAT THE FINDINGS REVEAL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400800" y="5367528"/>
            <a:ext cx="5166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C4328"/>
                </a:solidFill>
                <a:latin typeface="Helvetica Neue"/>
              </a:rPr>
              <a:t>SUPPORTING QUOTE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0" y="5614416"/>
            <a:ext cx="5166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2C3E50"/>
                </a:solidFill>
                <a:latin typeface="Helvetica Neue"/>
              </a:rPr>
              <a:t>"Balance all the demands: Incidents, Small Demands, Major projects (PDD). Limited resources — 1 year to hire someone" — Michael Dubois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40080" y="5614416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▸  Channel taxonomy is the strongest in the organization — but it was designed around incidents, not strategic demand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▸  Incidents-first rule means strategic work enters a de-facto waiting queue — hiring lag (1 year) keeps the queue deep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▸  Accenture + SWF dependency is the hidden scaling mechanism — cost and knowledge concentrate outside Avangrid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57200" y="5989320"/>
            <a:ext cx="11274552" cy="502920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85800" y="6035040"/>
            <a:ext cx="1081735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Helvetica Neue"/>
              </a:rPr>
              <a:t>Global SAP's channel taxonomy is the closest to a target state — but the incident flood caps strategic capacity; reducing incident load is the leverage point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144000" y="6565392"/>
            <a:ext cx="25877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5A5A6"/>
                </a:solidFill>
                <a:latin typeface="Helvetica Neue"/>
              </a:rPr>
              <a:t>Drill-down: Global SAP — Iberdrola (Spain)  |  14 / 19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457200" y="73152"/>
            <a:ext cx="2218334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57200" y="73152"/>
            <a:ext cx="221833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5A5A6"/>
                </a:solidFill>
                <a:latin typeface="Helvetica Neue"/>
              </a:rPr>
              <a:t>01  ·  FRAMING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2721254" y="73152"/>
            <a:ext cx="2218334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721254" y="73152"/>
            <a:ext cx="221833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5A5A6"/>
                </a:solidFill>
                <a:latin typeface="Helvetica Neue"/>
              </a:rPr>
              <a:t>02  ·  ORGANIZATION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4985308" y="73152"/>
            <a:ext cx="2218334" cy="201168"/>
          </a:xfrm>
          <a:prstGeom prst="round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985308" y="73152"/>
            <a:ext cx="221833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Helvetica Neue"/>
              </a:rPr>
              <a:t>03  ·  AS-IS DRILL-DOWNS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7249363" y="73152"/>
            <a:ext cx="2218334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249363" y="73152"/>
            <a:ext cx="221833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5A5A6"/>
                </a:solidFill>
                <a:latin typeface="Helvetica Neue"/>
              </a:rPr>
              <a:t>04  ·  BOTTLENECKS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9513417" y="73152"/>
            <a:ext cx="2218334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9513417" y="73152"/>
            <a:ext cx="221833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5A5A6"/>
                </a:solidFill>
                <a:latin typeface="Helvetica Neue"/>
              </a:rPr>
              <a:t>05  ·  INSIGHTS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F1C50"/>
                </a:solidFill>
                <a:latin typeface="Helvetica Neue"/>
              </a:rPr>
              <a:t>Smart Metering is the only area fully vendor-delivered with PPM Now + Confluence — but relies on "intrinsic common sense" for prioritization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70432"/>
            <a:ext cx="1127455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785C1"/>
                </a:solidFill>
                <a:latin typeface="Helvetica Neue"/>
              </a:rPr>
              <a:t>Smart Metering — sub-scope within Device &amp; Metering (team led by Vincent Lam, Sr. Manager — Customer Services branch)  ·  Champion: Iram Chowdhury (PM, works with Sarath; also Andrew's group)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572768"/>
            <a:ext cx="2167128" cy="384048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572768"/>
            <a:ext cx="216712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01 INTAKE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32204" y="2029968"/>
            <a:ext cx="1097280" cy="201168"/>
          </a:xfrm>
          <a:prstGeom prst="round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32204" y="202996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Helvetica Neue"/>
              </a:rPr>
              <a:t>PARTIAL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319272" y="1572768"/>
            <a:ext cx="2167128" cy="384048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9272" y="1572768"/>
            <a:ext cx="216712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02 CLASSIFICATION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54196" y="2029968"/>
            <a:ext cx="1097280" cy="201168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54196" y="202996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Helvetica Neue"/>
              </a:rPr>
              <a:t>OK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41264" y="1572768"/>
            <a:ext cx="2167128" cy="384048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41264" y="1572768"/>
            <a:ext cx="216712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03 PRIORITIZATION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76188" y="2029968"/>
            <a:ext cx="1097280" cy="201168"/>
          </a:xfrm>
          <a:prstGeom prst="round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76188" y="202996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Helvetica Neue"/>
              </a:rPr>
              <a:t>PARTIAL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63256" y="1572768"/>
            <a:ext cx="2167128" cy="384048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63256" y="1572768"/>
            <a:ext cx="216712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04 PORTFOLIO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98180" y="2029968"/>
            <a:ext cx="1097280" cy="201168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98180" y="202996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Helvetica Neue"/>
              </a:rPr>
              <a:t>OK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985248" y="1572768"/>
            <a:ext cx="2167128" cy="384048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85248" y="1572768"/>
            <a:ext cx="216712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05 DELIVERY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520172" y="2029968"/>
            <a:ext cx="1097280" cy="201168"/>
          </a:xfrm>
          <a:prstGeom prst="round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20172" y="202996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Helvetica Neue"/>
              </a:rPr>
              <a:t>GAP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340864"/>
            <a:ext cx="594360" cy="6858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2340864"/>
            <a:ext cx="5943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Helvetica Neue"/>
              </a:rPr>
              <a:t>CHANNELS  ·  WHO SENDS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97280" y="2340864"/>
            <a:ext cx="2167128" cy="685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2386584"/>
            <a:ext cx="19842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Small demands via email (IT Now); normal flow — not seasonal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19272" y="2340864"/>
            <a:ext cx="2167128" cy="685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10712" y="2386584"/>
            <a:ext cx="19842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Incidents → IT Now template; requirements usually clear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41264" y="2340864"/>
            <a:ext cx="2167128" cy="685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32704" y="2386584"/>
            <a:ext cx="19842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Criticality + deadline + application priority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63256" y="2340864"/>
            <a:ext cx="2167128" cy="685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54696" y="2386584"/>
            <a:ext cx="19842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PPM Now (large) + Jira + Confluence (PM-to-PM)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985248" y="2340864"/>
            <a:ext cx="2167128" cy="685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76688" y="2386584"/>
            <a:ext cx="19842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100% vendor-delivered portfolio — vendors = consultants + code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3063240"/>
            <a:ext cx="594360" cy="685800"/>
          </a:xfrm>
          <a:prstGeom prst="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3063240"/>
            <a:ext cx="5943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Helvetica Neue"/>
              </a:rPr>
              <a:t>ROLES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97280" y="3063240"/>
            <a:ext cx="2167128" cy="685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88720" y="3108960"/>
            <a:ext cx="19842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Business opens IT Now / email; Iram (PM) receives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319272" y="3063240"/>
            <a:ext cx="2167128" cy="685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410712" y="3108960"/>
            <a:ext cx="19842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Iram + team classify by template; vendor tech lead joins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541264" y="3063240"/>
            <a:ext cx="2167128" cy="685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632704" y="3108960"/>
            <a:ext cx="19842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Iram prioritizes on deadline + criticality — "intrinsic common sense"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763256" y="3063240"/>
            <a:ext cx="2167128" cy="685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854696" y="3108960"/>
            <a:ext cx="19842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Iram + manager (weekly); vendor PMs help PMs prioritize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985248" y="3063240"/>
            <a:ext cx="2167128" cy="685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076688" y="3108960"/>
            <a:ext cx="19842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Vendors do requirements AND code; Avangrid = product owner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3785616"/>
            <a:ext cx="594360" cy="685800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" y="3785616"/>
            <a:ext cx="5943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Helvetica Neue"/>
              </a:rPr>
              <a:t>TOOLS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97280" y="3785616"/>
            <a:ext cx="2167128" cy="685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88720" y="3831336"/>
            <a:ext cx="19842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Email · IT Now (template) · occasional RITM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319272" y="3785616"/>
            <a:ext cx="2167128" cy="685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410712" y="3831336"/>
            <a:ext cx="19842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IT Now template = primary classification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541264" y="3785616"/>
            <a:ext cx="2167128" cy="685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632704" y="3831336"/>
            <a:ext cx="19842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No scoring tool — judgment + weekly cadence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763256" y="3785616"/>
            <a:ext cx="2167128" cy="685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854696" y="3831336"/>
            <a:ext cx="19842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PPM Now + Confluence + Jira — most mature stack in scope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985248" y="3785616"/>
            <a:ext cx="2167128" cy="685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076688" y="3831336"/>
            <a:ext cx="19842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Vendor stack for build; Confluence for portfolio documentation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7200" y="4507992"/>
            <a:ext cx="594360" cy="685800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57200" y="4507992"/>
            <a:ext cx="5943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Helvetica Neue"/>
              </a:rPr>
              <a:t>GOVERNANCE  &amp;  METRICS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97280" y="4507992"/>
            <a:ext cx="2167128" cy="685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188720" y="4553712"/>
            <a:ext cx="19842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Volumes OK (not seasonal); "usually no urgent requests"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319272" y="4507992"/>
            <a:ext cx="2167128" cy="685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410712" y="4553712"/>
            <a:ext cx="19842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Template-based → consistent, but no cross-team view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541264" y="4507992"/>
            <a:ext cx="2167128" cy="685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632704" y="4553712"/>
            <a:ext cx="19842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"Intrinsic common sense" = tribal knowledge risk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763256" y="4507992"/>
            <a:ext cx="2167128" cy="685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854696" y="4553712"/>
            <a:ext cx="19842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Weekly meeting governs; PPM Now = only portfolio instance in CS branch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985248" y="4507992"/>
            <a:ext cx="2167128" cy="685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076688" y="4553712"/>
            <a:ext cx="19842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If vendor exits, execution knowledge is lost — 100% dependency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57200" y="5321808"/>
            <a:ext cx="11274552" cy="8229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57200" y="5321808"/>
            <a:ext cx="73152" cy="822960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40080" y="536752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1C50"/>
                </a:solidFill>
                <a:latin typeface="Helvetica Neue"/>
              </a:rPr>
              <a:t>KEY PATTERNS  —  WHAT THE FINDINGS REVEAL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400800" y="5367528"/>
            <a:ext cx="5166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C4328"/>
                </a:solidFill>
                <a:latin typeface="Helvetica Neue"/>
              </a:rPr>
              <a:t>SUPPORTING QUOTE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0" y="5614416"/>
            <a:ext cx="5166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2C3E50"/>
                </a:solidFill>
                <a:latin typeface="Helvetica Neue"/>
              </a:rPr>
              <a:t>"All portfolio in vendor. Vendors are the consultants for the work — getting requirements on tech side, steps to follow and do the code also — all custom applications" — Iram Chowdhury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40080" y="5614416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▸  Only area using PPM Now + Confluence — the stack is right, but it exists as one-team exception rather than branch standard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▸  100% vendor delivery (requirements + code) means Avangrid owns no execution knowledge — if the vendor exits, everything stops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▸  "Intrinsic common sense" for prioritization signals tribal knowledge — works at current scale, fails on leadership transition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57200" y="5989320"/>
            <a:ext cx="11274552" cy="502920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85800" y="6035040"/>
            <a:ext cx="1081735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Helvetica Neue"/>
              </a:rPr>
              <a:t>Smart Metering is the most tool-mature area — but full vendor dependency and intuitive prioritization create knowledge and governance risk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144000" y="6565392"/>
            <a:ext cx="25877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5A5A6"/>
                </a:solidFill>
                <a:latin typeface="Helvetica Neue"/>
              </a:rPr>
              <a:t>Drill-down: Smart Metering — Avangrid (US)  |  15 / 19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457200" y="73152"/>
            <a:ext cx="2218334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57200" y="73152"/>
            <a:ext cx="221833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5A5A6"/>
                </a:solidFill>
                <a:latin typeface="Helvetica Neue"/>
              </a:rPr>
              <a:t>01  ·  FRAMING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2721254" y="73152"/>
            <a:ext cx="2218334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721254" y="73152"/>
            <a:ext cx="221833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5A5A6"/>
                </a:solidFill>
                <a:latin typeface="Helvetica Neue"/>
              </a:rPr>
              <a:t>02  ·  ORGANIZATION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4985308" y="73152"/>
            <a:ext cx="2218334" cy="201168"/>
          </a:xfrm>
          <a:prstGeom prst="round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985308" y="73152"/>
            <a:ext cx="221833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Helvetica Neue"/>
              </a:rPr>
              <a:t>03  ·  AS-IS DRILL-DOWNS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7249363" y="73152"/>
            <a:ext cx="2218334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249363" y="73152"/>
            <a:ext cx="221833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5A5A6"/>
                </a:solidFill>
                <a:latin typeface="Helvetica Neue"/>
              </a:rPr>
              <a:t>04  ·  BOTTLENECKS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9513417" y="73152"/>
            <a:ext cx="2218334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9513417" y="73152"/>
            <a:ext cx="221833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5A5A6"/>
                </a:solidFill>
                <a:latin typeface="Helvetica Neue"/>
              </a:rPr>
              <a:t>05  ·  INSIGHTS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F1C50"/>
                </a:solidFill>
                <a:latin typeface="Helvetica Neue"/>
              </a:rPr>
              <a:t>Customer Services runs 5 sub-teams with heterogeneous maturity — only Smart Metering exhibits a mature portfolio practice; the rest route demand director-level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70432"/>
            <a:ext cx="1127455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785C1"/>
                </a:solidFill>
                <a:latin typeface="Helvetica Neue"/>
              </a:rPr>
              <a:t>Customer Services Apps — Kumar Jaladanki (Director) — 5 sub-teams: FICA/Billing (Ivelisse), CRM &amp; Contact Center (vacant), Device &amp; Metering (Vincent), SAP &amp; CS Architecture (vacant), SAP Basis (Nagi)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572768"/>
            <a:ext cx="2167128" cy="384048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572768"/>
            <a:ext cx="216712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01 INTAKE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32204" y="2029968"/>
            <a:ext cx="1097280" cy="201168"/>
          </a:xfrm>
          <a:prstGeom prst="round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32204" y="202996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Helvetica Neue"/>
              </a:rPr>
              <a:t>GAP</a:t>
            </a:r>
          </a:p>
        </p:txBody>
      </p:sp>
      <p:sp>
        <p:nvSpPr>
          <p:cNvPr id="9" name="Rectangle 8"/>
          <p:cNvSpPr/>
          <p:nvPr/>
        </p:nvSpPr>
        <p:spPr>
          <a:xfrm>
            <a:off x="3319272" y="1572768"/>
            <a:ext cx="2167128" cy="384048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9272" y="1572768"/>
            <a:ext cx="216712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02 CLASSIFICATION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54196" y="2029968"/>
            <a:ext cx="1097280" cy="201168"/>
          </a:xfrm>
          <a:prstGeom prst="round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54196" y="202996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Helvetica Neue"/>
              </a:rPr>
              <a:t>PARTIAL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41264" y="1572768"/>
            <a:ext cx="2167128" cy="384048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41264" y="1572768"/>
            <a:ext cx="216712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03 PRIORITIZATION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76188" y="2029968"/>
            <a:ext cx="1097280" cy="201168"/>
          </a:xfrm>
          <a:prstGeom prst="round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76188" y="202996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Helvetica Neue"/>
              </a:rPr>
              <a:t>GAP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63256" y="1572768"/>
            <a:ext cx="2167128" cy="384048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63256" y="1572768"/>
            <a:ext cx="216712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04 PORTFOLIO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98180" y="2029968"/>
            <a:ext cx="1097280" cy="201168"/>
          </a:xfrm>
          <a:prstGeom prst="round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98180" y="202996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Helvetica Neue"/>
              </a:rPr>
              <a:t>GAP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985248" y="1572768"/>
            <a:ext cx="2167128" cy="384048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85248" y="1572768"/>
            <a:ext cx="216712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05 DELIVERY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520172" y="2029968"/>
            <a:ext cx="1097280" cy="201168"/>
          </a:xfrm>
          <a:prstGeom prst="round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20172" y="202996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Helvetica Neue"/>
              </a:rPr>
              <a:t>PARTIAL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340864"/>
            <a:ext cx="594360" cy="6858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2340864"/>
            <a:ext cx="5943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Helvetica Neue"/>
              </a:rPr>
              <a:t>CHANNELS  ·  WHO SENDS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97280" y="2340864"/>
            <a:ext cx="2167128" cy="685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2386584"/>
            <a:ext cx="19842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Email + IT Now (Metering); Jira (small-med); no shared branch channel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19272" y="2340864"/>
            <a:ext cx="2167128" cy="685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10712" y="2386584"/>
            <a:ext cx="19842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Incidents→IT Now template; Large→Travis PMO; Small/Med→Jira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41264" y="2340864"/>
            <a:ext cx="2167128" cy="685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32704" y="2386584"/>
            <a:ext cx="19842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Criticality + deadline (Metering); director-level calls elsewhere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63256" y="2340864"/>
            <a:ext cx="2167128" cy="685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54696" y="2386584"/>
            <a:ext cx="19842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PPM Now (Metering only); no branch-wide tool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985248" y="2340864"/>
            <a:ext cx="2167128" cy="685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76688" y="2386584"/>
            <a:ext cx="19842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SWF + Accenture + Vendors (100% in Metering)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3063240"/>
            <a:ext cx="594360" cy="685800"/>
          </a:xfrm>
          <a:prstGeom prst="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3063240"/>
            <a:ext cx="5943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Helvetica Neue"/>
              </a:rPr>
              <a:t>ROLES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97280" y="3063240"/>
            <a:ext cx="2167128" cy="685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88720" y="3108960"/>
            <a:ext cx="19842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Business / BRS / OPCOs open varied channels; 5 Sr. Managers (2 vacant) receive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319272" y="3063240"/>
            <a:ext cx="2167128" cy="685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410712" y="3108960"/>
            <a:ext cx="19842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By sub-team (Metering/FICA/CRM/Basis); Travis PMO for large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541264" y="3063240"/>
            <a:ext cx="2167128" cy="685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632704" y="3108960"/>
            <a:ext cx="19842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Kumar + sub-team managers; "intrinsic common sense" (Iram)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763256" y="3063240"/>
            <a:ext cx="2167128" cy="685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854696" y="3108960"/>
            <a:ext cx="19842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Travis PMO (large) + sub-team managers (small); no portfolio lead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985248" y="3063240"/>
            <a:ext cx="2167128" cy="685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076688" y="3108960"/>
            <a:ext cx="19842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SWF runs projects; PM + SAP Architect roles in place (large)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3785616"/>
            <a:ext cx="594360" cy="685800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" y="3785616"/>
            <a:ext cx="5943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Helvetica Neue"/>
              </a:rPr>
              <a:t>TOOLS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97280" y="3785616"/>
            <a:ext cx="2167128" cy="685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88720" y="3831336"/>
            <a:ext cx="19842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IT Now · Email · Jira · no cross-channel funnel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319272" y="3785616"/>
            <a:ext cx="2167128" cy="685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410712" y="3831336"/>
            <a:ext cx="19842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IT Now template + Jira labels + PPM (large)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541264" y="3785616"/>
            <a:ext cx="2167128" cy="685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632704" y="3831336"/>
            <a:ext cx="19842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Forum criteria (strategic / ops / regulatory / size) — applied by sub-team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763256" y="3785616"/>
            <a:ext cx="2167128" cy="685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854696" y="3831336"/>
            <a:ext cx="19842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PPM Now (Metering) · SharePoint · Confluence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985248" y="3785616"/>
            <a:ext cx="2167128" cy="685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076688" y="3831336"/>
            <a:ext cx="19842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SWF delivery pipeline · vendor stacks (per sub-team)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7200" y="4507992"/>
            <a:ext cx="594360" cy="685800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57200" y="4507992"/>
            <a:ext cx="5943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Helvetica Neue"/>
              </a:rPr>
              <a:t>GOVERNANCE  &amp;  METRICS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97280" y="4507992"/>
            <a:ext cx="2167128" cy="685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188720" y="4553712"/>
            <a:ext cx="19842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2 Sr. Manager vacancies (CRM &amp; Contact Center, SAP &amp; CS Architecture)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319272" y="4507992"/>
            <a:ext cx="2167128" cy="685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410712" y="4553712"/>
            <a:ext cx="19842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Triple routing: Travis PMO / BRS / IT-funded — blurs accountability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541264" y="4507992"/>
            <a:ext cx="2167128" cy="685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632704" y="4553712"/>
            <a:ext cx="19842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No formal director-level model; regulatory overrides size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763256" y="4507992"/>
            <a:ext cx="2167128" cy="685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854696" y="4553712"/>
            <a:ext cx="19842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7 OPCOs compete for the same IT capacity — multi-OPCO contention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985248" y="4507992"/>
            <a:ext cx="2167128" cy="685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076688" y="4553712"/>
            <a:ext cx="19842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Heavy vendor concentration; single-team mature practice (Metering)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57200" y="5321808"/>
            <a:ext cx="11274552" cy="8229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57200" y="5321808"/>
            <a:ext cx="73152" cy="822960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40080" y="536752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1C50"/>
                </a:solidFill>
                <a:latin typeface="Helvetica Neue"/>
              </a:rPr>
              <a:t>KEY PATTERNS  —  WHAT THE FINDINGS REVEAL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400800" y="5367528"/>
            <a:ext cx="5166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C4328"/>
                </a:solidFill>
                <a:latin typeface="Helvetica Neue"/>
              </a:rPr>
              <a:t>SUPPORTING QUOTE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0" y="5614416"/>
            <a:ext cx="5166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2C3E50"/>
                </a:solidFill>
                <a:latin typeface="Helvetica Neue"/>
              </a:rPr>
              <a:t>"Who is in charge of what — 3 people can run the payment jobs for example. Resource allocation — multiple OPCOs competing by capacity" — Kumar + Stephanie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40080" y="5614416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▸  Three parallel ownership tracks without a routing rule — Travis PMO for large projects, BRS for business-funded work, IT-funded for Kumar's teams — the same request can land in any of them, blurring accountability and prioritization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▸  Smart Metering is the mature outlier; other four teams operate without equivalent tooling — branch has no portfolio consolidation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▸  PM + SAP Architect roles are in place for large projects (Kumar confirmed) — the gap is not in roles, it's in branch-wide portfolio visibility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57200" y="5989320"/>
            <a:ext cx="11274552" cy="502920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85800" y="6035040"/>
            <a:ext cx="1081735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Helvetica Neue"/>
              </a:rPr>
              <a:t>Smart Metering's model (PPM Now + weekly PM meeting + 100% vendor delivery) is the only mature practice in Kumar's branch — it is also the blueprint and the warning sign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144000" y="6565392"/>
            <a:ext cx="25877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5A5A6"/>
                </a:solidFill>
                <a:latin typeface="Helvetica Neue"/>
              </a:rPr>
              <a:t>Drill-down: Customer Services Apps (Kumar's Branch)  |  16 / 19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457200" y="73152"/>
            <a:ext cx="2218334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57200" y="73152"/>
            <a:ext cx="221833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5A5A6"/>
                </a:solidFill>
                <a:latin typeface="Helvetica Neue"/>
              </a:rPr>
              <a:t>01  ·  FRAMING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2721254" y="73152"/>
            <a:ext cx="2218334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721254" y="73152"/>
            <a:ext cx="221833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5A5A6"/>
                </a:solidFill>
                <a:latin typeface="Helvetica Neue"/>
              </a:rPr>
              <a:t>02  ·  ORGANIZATION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4985308" y="73152"/>
            <a:ext cx="2218334" cy="201168"/>
          </a:xfrm>
          <a:prstGeom prst="round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985308" y="73152"/>
            <a:ext cx="221833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Helvetica Neue"/>
              </a:rPr>
              <a:t>03  ·  AS-IS DRILL-DOWNS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7249363" y="73152"/>
            <a:ext cx="2218334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249363" y="73152"/>
            <a:ext cx="221833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5A5A6"/>
                </a:solidFill>
                <a:latin typeface="Helvetica Neue"/>
              </a:rPr>
              <a:t>04  ·  BOTTLENECKS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9513417" y="73152"/>
            <a:ext cx="2218334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9513417" y="73152"/>
            <a:ext cx="221833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5A5A6"/>
                </a:solidFill>
                <a:latin typeface="Helvetica Neue"/>
              </a:rPr>
              <a:t>05  ·  INSIGHTS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F1C50"/>
                </a:solidFill>
                <a:latin typeface="Helvetica Neue"/>
              </a:rPr>
              <a:t>Four Applications bottlenecks concentrate demand risk — covering intake, prioritization, portfolio and classification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74320"/>
          </a:xfrm>
          <a:prstGeom prst="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07008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APPLICATIONS BRANCH  —  Carlos Garbin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5733288" cy="21488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5733288" cy="54864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664207"/>
            <a:ext cx="9144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BC4328"/>
                </a:solidFill>
                <a:latin typeface="Helvetica Neue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719072"/>
            <a:ext cx="440740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95A5A6"/>
                </a:solidFill>
                <a:latin typeface="Helvetica Neue"/>
              </a:rPr>
              <a:t>Bruno Moreto's team  •  STAGE: Intake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929384"/>
            <a:ext cx="44074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1C50"/>
                </a:solidFill>
                <a:latin typeface="Helvetica Neue"/>
              </a:rPr>
              <a:t>G&amp;E Email-Only Intake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267712"/>
            <a:ext cx="523036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Every request to Andrew arrives via email from business or vendor. No ticket, no queue, no SLA — each decision is individual and unreproducible.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852928"/>
            <a:ext cx="52303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95A5A6"/>
                </a:solidFill>
                <a:latin typeface="Helvetica Neue"/>
              </a:rPr>
              <a:t>IMPACT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017520"/>
            <a:ext cx="52303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Unknown volume. No capacity forecast possible. Single-person dependency on Andrew.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3429000"/>
            <a:ext cx="52303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95A5A6"/>
                </a:solidFill>
                <a:latin typeface="Helvetica Neue"/>
              </a:rPr>
              <a:t>▸  "I receive requests/input from the business or from the vendor" — Andrew McGibbon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59" y="1554480"/>
            <a:ext cx="5733288" cy="21488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59" y="1554480"/>
            <a:ext cx="5733288" cy="54864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65392" y="1664207"/>
            <a:ext cx="9144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BC4328"/>
                </a:solidFill>
                <a:latin typeface="Helvetica Neue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59" y="1719072"/>
            <a:ext cx="440740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95A5A6"/>
                </a:solidFill>
                <a:latin typeface="Helvetica Neue"/>
              </a:rPr>
              <a:t>Vanessa Colombo's team  •  STAGE: Prioritization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59" y="1929384"/>
            <a:ext cx="44074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1C50"/>
                </a:solidFill>
                <a:latin typeface="Helvetica Neue"/>
              </a:rPr>
              <a:t>Global SAP Incident Flood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5392" y="2267712"/>
            <a:ext cx="523036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Incidents outrank all other demand for Iberdrola SAP. Entire team can be consumed by incident work, blocking strategic projects.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2852928"/>
            <a:ext cx="52303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95A5A6"/>
                </a:solidFill>
                <a:latin typeface="Helvetica Neue"/>
              </a:rPr>
              <a:t>IMPACT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3017520"/>
            <a:ext cx="52303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Capacity trapped in BAU. Major projects (PDD) slip. Knowledge transfer lost at each turnover event.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5392" y="3429000"/>
            <a:ext cx="52303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95A5A6"/>
                </a:solidFill>
                <a:latin typeface="Helvetica Neue"/>
              </a:rPr>
              <a:t>▸  "Sometimes entire team is focusing on incidents" — Michael Dubois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794759"/>
            <a:ext cx="5733288" cy="21488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3794759"/>
            <a:ext cx="5733288" cy="54864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" y="3904487"/>
            <a:ext cx="9144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BC4328"/>
                </a:solidFill>
                <a:latin typeface="Helvetica Neue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3959351"/>
            <a:ext cx="440740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95A5A6"/>
                </a:solidFill>
                <a:latin typeface="Helvetica Neue"/>
              </a:rPr>
              <a:t>George Porto's team  •  STAGES: Intake + Portfolio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169663"/>
            <a:ext cx="44074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1C50"/>
                </a:solidFill>
                <a:latin typeface="Helvetica Neue"/>
              </a:rPr>
              <a:t>GIS Informal PM Stack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4507992"/>
            <a:ext cx="523036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Small demand routes through email, meetings and IT-Now. Project management relies on OneNote + Teams + spreadsheets — no formal portfolio tool below PDD.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5093207"/>
            <a:ext cx="52303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95A5A6"/>
                </a:solidFill>
                <a:latin typeface="Helvetica Neue"/>
              </a:rPr>
              <a:t>IMPACT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" y="5257800"/>
            <a:ext cx="52303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Small + break/fix demand (~60-70% of actual work) is untracked. Capacity consumed by unmeasured flow.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" y="5669280"/>
            <a:ext cx="52303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95A5A6"/>
                </a:solidFill>
                <a:latin typeface="Helvetica Neue"/>
              </a:rPr>
              <a:t>▸  "My team uses Jira for misc. work... OneNote, Teams and Spreadsheets to manage" — George Porto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59" y="3794759"/>
            <a:ext cx="5733288" cy="21488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09359" y="3794759"/>
            <a:ext cx="5733288" cy="54864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65392" y="3904487"/>
            <a:ext cx="9144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BC4328"/>
                </a:solidFill>
                <a:latin typeface="Helvetica Neue"/>
              </a:rPr>
              <a:t>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52359" y="3959351"/>
            <a:ext cx="440740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95A5A6"/>
                </a:solidFill>
                <a:latin typeface="Helvetica Neue"/>
              </a:rPr>
              <a:t>Sarath Garikapati's team  •  STAGE: Classification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52359" y="4169663"/>
            <a:ext cx="44074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1C50"/>
                </a:solidFill>
                <a:latin typeface="Helvetica Neue"/>
              </a:rPr>
              <a:t>Corporate Project Overlap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65392" y="4507992"/>
            <a:ext cx="523036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Word-document requirements + Jira + Confluence fragment the intake. PDD drives classification but doesn't deduplicate — overlapping projects chase similar outcomes.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65392" y="5093207"/>
            <a:ext cx="52303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95A5A6"/>
                </a:solidFill>
                <a:latin typeface="Helvetica Neue"/>
              </a:rPr>
              <a:t>IMPACT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65392" y="5257800"/>
            <a:ext cx="52303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Rework, duplicated effort, and unreconciled regulatory pressure treated as chronic urgency.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65392" y="5669280"/>
            <a:ext cx="52303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95A5A6"/>
                </a:solidFill>
                <a:latin typeface="Helvetica Neue"/>
              </a:rPr>
              <a:t>▸  "PDD is the driver. Lots of overlapping projects" — Amit Patel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5989320"/>
            <a:ext cx="11274552" cy="502920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" y="6035040"/>
            <a:ext cx="1081735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Helvetica Neue"/>
              </a:rPr>
              <a:t>These four bottlenecks span all four Applications teams — each is a symptom of the same underlying fragmentation the TOM must address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0" y="6565392"/>
            <a:ext cx="25877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5A5A6"/>
                </a:solidFill>
                <a:latin typeface="Helvetica Neue"/>
              </a:rPr>
              <a:t>Applications Bottlenecks  |  17 / 19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73152"/>
            <a:ext cx="2218334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73152"/>
            <a:ext cx="221833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5A5A6"/>
                </a:solidFill>
                <a:latin typeface="Helvetica Neue"/>
              </a:rPr>
              <a:t>01  ·  FRAMING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721254" y="73152"/>
            <a:ext cx="2218334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21254" y="73152"/>
            <a:ext cx="221833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5A5A6"/>
                </a:solidFill>
                <a:latin typeface="Helvetica Neue"/>
              </a:rPr>
              <a:t>02  ·  ORGANIZATION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985308" y="73152"/>
            <a:ext cx="2218334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85308" y="73152"/>
            <a:ext cx="221833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5A5A6"/>
                </a:solidFill>
                <a:latin typeface="Helvetica Neue"/>
              </a:rPr>
              <a:t>03  ·  AS-IS DRILL-DOWNS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249363" y="73152"/>
            <a:ext cx="2218334" cy="201168"/>
          </a:xfrm>
          <a:prstGeom prst="round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249363" y="73152"/>
            <a:ext cx="221833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Helvetica Neue"/>
              </a:rPr>
              <a:t>04  ·  BOTTLENECKS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513417" y="73152"/>
            <a:ext cx="2218334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513417" y="73152"/>
            <a:ext cx="221833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5A5A6"/>
                </a:solidFill>
                <a:latin typeface="Helvetica Neue"/>
              </a:rPr>
              <a:t>05  ·  INSIGHTS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F1C50"/>
                </a:solidFill>
                <a:latin typeface="Helvetica Neue"/>
              </a:rPr>
              <a:t>Four Customer Services bottlenecks — leadership gaps, portfolio blindness, vendor concentration and multi-OPCO contention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74320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07008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CUSTOMER SERVICES BRANCH  —  Kumar Jaladanki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5733288" cy="21488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5733288" cy="54864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664207"/>
            <a:ext cx="9144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BC4328"/>
                </a:solidFill>
                <a:latin typeface="Helvetica Neue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719072"/>
            <a:ext cx="440740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95A5A6"/>
                </a:solidFill>
                <a:latin typeface="Helvetica Neue"/>
              </a:rPr>
              <a:t>Kumar's branch  •  STAGES: Classification + Prioritization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929384"/>
            <a:ext cx="44074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1C50"/>
                </a:solidFill>
                <a:latin typeface="Helvetica Neue"/>
              </a:rPr>
              <a:t>Customer Services Leadership Gap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267712"/>
            <a:ext cx="523036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Two Sr. Manager positions vacant (CRM &amp; Contact Center Ops, SAP &amp; CS Architecture). Prioritization defaults to director level across Billing, CRM, Metering and Basis.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852928"/>
            <a:ext cx="52303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95A5A6"/>
                </a:solidFill>
                <a:latin typeface="Helvetica Neue"/>
              </a:rPr>
              <a:t>IMPACT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017520"/>
            <a:ext cx="52303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No shared prioritization logic across 5 sub-teams. Branch-level demand view is a structural blind spot.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3429000"/>
            <a:ext cx="52303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95A5A6"/>
                </a:solidFill>
                <a:latin typeface="Helvetica Neue"/>
              </a:rPr>
              <a:t>▸  "Who is in charge of what — 3 people can run the payment jobs" — Kumar + Stephanie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59" y="1554480"/>
            <a:ext cx="5733288" cy="21488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59" y="1554480"/>
            <a:ext cx="5733288" cy="54864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65392" y="1664207"/>
            <a:ext cx="9144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BC4328"/>
                </a:solidFill>
                <a:latin typeface="Helvetica Neue"/>
              </a:rPr>
              <a:t>06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59" y="1719072"/>
            <a:ext cx="440740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95A5A6"/>
                </a:solidFill>
                <a:latin typeface="Helvetica Neue"/>
              </a:rPr>
              <a:t>Kumar's branch  •  STAGES: Portfolio + Delivery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59" y="1929384"/>
            <a:ext cx="44074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1C50"/>
                </a:solidFill>
                <a:latin typeface="Helvetica Neue"/>
              </a:rPr>
              <a:t>No Branch-Wide Portfolio Tool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5392" y="2267712"/>
            <a:ext cx="523036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PPM Now exists only in Smart Metering. Travis PMO handles large projects without a consolidated view of Billing / CRM / Metering / Basis portfolios.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2852928"/>
            <a:ext cx="52303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95A5A6"/>
                </a:solidFill>
                <a:latin typeface="Helvetica Neue"/>
              </a:rPr>
              <a:t>IMPACT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3017520"/>
            <a:ext cx="52303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Sub-team portfolios are disconnected. Capacity + priorities cannot be reconciled across the branch.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5392" y="3429000"/>
            <a:ext cx="52303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95A5A6"/>
                </a:solidFill>
                <a:latin typeface="Helvetica Neue"/>
              </a:rPr>
              <a:t>▸  "No tool to support portfolio management... No tools or process to manage delivery of vendors"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794759"/>
            <a:ext cx="5733288" cy="21488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3794759"/>
            <a:ext cx="5733288" cy="54864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" y="3904487"/>
            <a:ext cx="9144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BC4328"/>
                </a:solidFill>
                <a:latin typeface="Helvetica Neue"/>
              </a:rP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3959351"/>
            <a:ext cx="440740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95A5A6"/>
                </a:solidFill>
                <a:latin typeface="Helvetica Neue"/>
              </a:rPr>
              <a:t>Vincent Lam's team  •  STAGE: Delivery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169663"/>
            <a:ext cx="44074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1C50"/>
                </a:solidFill>
                <a:latin typeface="Helvetica Neue"/>
              </a:rPr>
              <a:t>Smart Metering Vendor Concentration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4507992"/>
            <a:ext cx="523036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100% of the Smart Metering portfolio is vendor-delivered. Vendors do requirements AND code. All custom applications. "Intrinsic common sense" is the prioritization rule.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5093207"/>
            <a:ext cx="52303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95A5A6"/>
                </a:solidFill>
                <a:latin typeface="Helvetica Neue"/>
              </a:rPr>
              <a:t>IMPACT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" y="5257800"/>
            <a:ext cx="52303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If the vendor exits, execution knowledge is lost. Avangrid has no native build capability in this sub-team.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" y="5669280"/>
            <a:ext cx="52303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95A5A6"/>
                </a:solidFill>
                <a:latin typeface="Helvetica Neue"/>
              </a:rPr>
              <a:t>▸  "All portfolio in vendor. Vendors are consultants for the work" — Iram Chowdhury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59" y="3794759"/>
            <a:ext cx="5733288" cy="21488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09359" y="3794759"/>
            <a:ext cx="5733288" cy="54864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65392" y="3904487"/>
            <a:ext cx="9144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BC4328"/>
                </a:solidFill>
                <a:latin typeface="Helvetica Neue"/>
              </a:rP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52359" y="3959351"/>
            <a:ext cx="440740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95A5A6"/>
                </a:solidFill>
                <a:latin typeface="Helvetica Neue"/>
              </a:rPr>
              <a:t>Kumar's branch  •  STAGE: Intake + Prioritization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52359" y="4169663"/>
            <a:ext cx="44074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1C50"/>
                </a:solidFill>
                <a:latin typeface="Helvetica Neue"/>
              </a:rPr>
              <a:t>Multi-OPCO Capacity Competition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65392" y="4507992"/>
            <a:ext cx="523036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7 business OPCOs compete for the same Customer Services IT capacity. Demand splits across Travis PMO / BRS / IT-funded — triple routing for the same request.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65392" y="5093207"/>
            <a:ext cx="52303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95A5A6"/>
                </a:solidFill>
                <a:latin typeface="Helvetica Neue"/>
              </a:rPr>
              <a:t>IMPACT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65392" y="5257800"/>
            <a:ext cx="52303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Ad-hoc capacity allocation. Ownership ambiguity creates delivery risk and prolongs leadership vacancies' impact.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65392" y="5669280"/>
            <a:ext cx="52303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95A5A6"/>
                </a:solidFill>
                <a:latin typeface="Helvetica Neue"/>
              </a:rPr>
              <a:t>▸  "Resource allocation — multiple OPCOs competing by capacity" — Kumar + Stephanie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5989320"/>
            <a:ext cx="11274552" cy="502920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" y="6035040"/>
            <a:ext cx="1081735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Helvetica Neue"/>
              </a:rPr>
              <a:t>Kumar's branch carries both structural (leadership) and operational (tooling + vendor) bottlenecks — the TOM must address all four simultaneously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0" y="6565392"/>
            <a:ext cx="25877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5A5A6"/>
                </a:solidFill>
                <a:latin typeface="Helvetica Neue"/>
              </a:rPr>
              <a:t>Customer Services Bottlenecks  |  18 / 19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73152"/>
            <a:ext cx="2218334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73152"/>
            <a:ext cx="221833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5A5A6"/>
                </a:solidFill>
                <a:latin typeface="Helvetica Neue"/>
              </a:rPr>
              <a:t>01  ·  FRAMING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721254" y="73152"/>
            <a:ext cx="2218334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21254" y="73152"/>
            <a:ext cx="221833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5A5A6"/>
                </a:solidFill>
                <a:latin typeface="Helvetica Neue"/>
              </a:rPr>
              <a:t>02  ·  ORGANIZATION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985308" y="73152"/>
            <a:ext cx="2218334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85308" y="73152"/>
            <a:ext cx="221833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5A5A6"/>
                </a:solidFill>
                <a:latin typeface="Helvetica Neue"/>
              </a:rPr>
              <a:t>03  ·  AS-IS DRILL-DOWNS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249363" y="73152"/>
            <a:ext cx="2218334" cy="201168"/>
          </a:xfrm>
          <a:prstGeom prst="round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249363" y="73152"/>
            <a:ext cx="221833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Helvetica Neue"/>
              </a:rPr>
              <a:t>04  ·  BOTTLENECKS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513417" y="73152"/>
            <a:ext cx="2218334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513417" y="73152"/>
            <a:ext cx="221833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5A5A6"/>
                </a:solidFill>
                <a:latin typeface="Helvetica Neue"/>
              </a:rPr>
              <a:t>05  ·  INSIGHTS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F1C50"/>
                </a:solidFill>
                <a:latin typeface="Helvetica Neue"/>
              </a:rPr>
              <a:t>Seven structural issues surface — no single-area fix resolves them; the TOM must standardize end-to-end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502920" cy="566928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502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Helvetica Neue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417320"/>
            <a:ext cx="6217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1C50"/>
                </a:solidFill>
                <a:latin typeface="Helvetica Neue"/>
              </a:rPr>
              <a:t>Intake Fragmentation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691640"/>
            <a:ext cx="6217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C3E50"/>
                </a:solidFill>
                <a:latin typeface="Helvetica Neue"/>
              </a:rPr>
              <a:t>6+ disconnected channels (Jira, IT Now, RITM, SharePoint, Email, Word). No single front door.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1463040"/>
            <a:ext cx="420624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785C1"/>
                </a:solidFill>
                <a:latin typeface="Helvetica Neue"/>
              </a:rPr>
              <a:t>→  TOM: unified intake layer with tool-of-record per demand type.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057400"/>
            <a:ext cx="502920" cy="566928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057400"/>
            <a:ext cx="502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Helvetica Neue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057400"/>
            <a:ext cx="6217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1C50"/>
                </a:solidFill>
                <a:latin typeface="Helvetica Neue"/>
              </a:rPr>
              <a:t>No Shared Prioritization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331720"/>
            <a:ext cx="6217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C3E50"/>
                </a:solidFill>
                <a:latin typeface="Helvetica Neue"/>
              </a:rPr>
              <a:t>Each area uses different criteria — PDD, impact×users, criticality, operational urgency, common sense.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2103120"/>
            <a:ext cx="420624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785C1"/>
                </a:solidFill>
                <a:latin typeface="Helvetica Neue"/>
              </a:rPr>
              <a:t>→  TOM: value-based scoring framework (ties to existing "Value Framework V1.0" ambition).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697480"/>
            <a:ext cx="502920" cy="566928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97480"/>
            <a:ext cx="502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Helvetica Neue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697480"/>
            <a:ext cx="6217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1C50"/>
                </a:solidFill>
                <a:latin typeface="Helvetica Neue"/>
              </a:rPr>
              <a:t>Portfolio Tooling Vacuum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2971800"/>
            <a:ext cx="6217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C3E50"/>
                </a:solidFill>
                <a:latin typeface="Helvetica Neue"/>
              </a:rPr>
              <a:t>5 of 6 units have no portfolio tool. Only Smart Metering uses PPM Now.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2743200"/>
            <a:ext cx="420624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785C1"/>
                </a:solidFill>
                <a:latin typeface="Helvetica Neue"/>
              </a:rPr>
              <a:t>→  TOM: scale PPM Now (or equivalent) across all Digital Products areas + IT CS.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337560"/>
            <a:ext cx="502920" cy="566928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337560"/>
            <a:ext cx="502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Helvetica Neue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3337560"/>
            <a:ext cx="6217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1C50"/>
                </a:solidFill>
                <a:latin typeface="Helvetica Neue"/>
              </a:rPr>
              <a:t>Vendor Governance Gap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3611880"/>
            <a:ext cx="6217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C3E50"/>
                </a:solidFill>
                <a:latin typeface="Helvetica Neue"/>
              </a:rPr>
              <a:t>No process to manage vendor delivery. Vendors estimate, set timelines, and own Smart Metering end-to-end.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3383280"/>
            <a:ext cx="420624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785C1"/>
                </a:solidFill>
                <a:latin typeface="Helvetica Neue"/>
              </a:rPr>
              <a:t>→  TOM: vendor performance framework + NTT-led estimation sanity check.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977640"/>
            <a:ext cx="502920" cy="566928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977640"/>
            <a:ext cx="502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Helvetica Neue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3977640"/>
            <a:ext cx="6217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1C50"/>
                </a:solidFill>
                <a:latin typeface="Helvetica Neue"/>
              </a:rPr>
              <a:t>Governance Forum Coverage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4251960"/>
            <a:ext cx="6217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C3E50"/>
                </a:solidFill>
                <a:latin typeface="Helvetica Neue"/>
              </a:rPr>
              <a:t>5 recurring forums exist — but Manager Check-in participants are still TBC; no forum covers portfolio-level decisions.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4023360"/>
            <a:ext cx="420624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785C1"/>
                </a:solidFill>
                <a:latin typeface="Helvetica Neue"/>
              </a:rPr>
              <a:t>→  TOM: add a portfolio steering cadence and validate forum scope.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617720"/>
            <a:ext cx="502920" cy="566928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617720"/>
            <a:ext cx="502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Helvetica Neue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4617720"/>
            <a:ext cx="6217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1C50"/>
                </a:solidFill>
                <a:latin typeface="Helvetica Neue"/>
              </a:rPr>
              <a:t>Taxonomy &amp; Thresholds Undefined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4892040"/>
            <a:ext cx="6217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C3E50"/>
                </a:solidFill>
                <a:latin typeface="Helvetica Neue"/>
              </a:rPr>
              <a:t>"Small" vs "Medium" vs "Large" is subjective; each team decides. No hours / $ / complexity threshold exists.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79" y="4663440"/>
            <a:ext cx="420624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785C1"/>
                </a:solidFill>
                <a:latin typeface="Helvetica Neue"/>
              </a:rPr>
              <a:t>→  TOM: define objective classification thresholds — prerequisite for prioritization scoring.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257800"/>
            <a:ext cx="502920" cy="566928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5257800"/>
            <a:ext cx="502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Helvetica Neue"/>
              </a:rPr>
              <a:t>07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" y="5257800"/>
            <a:ext cx="6217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1C50"/>
                </a:solidFill>
                <a:latin typeface="Helvetica Neue"/>
              </a:rPr>
              <a:t>Project vs Product Lens Missing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" y="5532120"/>
            <a:ext cx="6217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C3E50"/>
                </a:solidFill>
                <a:latin typeface="Helvetica Neue"/>
              </a:rPr>
              <a:t>Demand is organized by application silo, not by Value Stream. IT requests don't trace to business OKRs.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79" y="5303520"/>
            <a:ext cx="420624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785C1"/>
                </a:solidFill>
                <a:latin typeface="Helvetica Neue"/>
              </a:rPr>
              <a:t>→  TOM: introduce Value Stream mapping — move from Project to Product operating model.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5989320"/>
            <a:ext cx="11274552" cy="502920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" y="6035040"/>
            <a:ext cx="1081735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Helvetica Neue"/>
              </a:rPr>
              <a:t>Next step: consolidate these 7 issues into the Baseline Report and carry them forward to the Target Operating Model design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0" y="6565392"/>
            <a:ext cx="25877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5A5A6"/>
                </a:solidFill>
                <a:latin typeface="Helvetica Neue"/>
              </a:rPr>
              <a:t>Structural Insights  |  19 / 19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73152"/>
            <a:ext cx="2218334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73152"/>
            <a:ext cx="221833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5A5A6"/>
                </a:solidFill>
                <a:latin typeface="Helvetica Neue"/>
              </a:rPr>
              <a:t>01  ·  FRAMING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721254" y="73152"/>
            <a:ext cx="2218334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21254" y="73152"/>
            <a:ext cx="221833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5A5A6"/>
                </a:solidFill>
                <a:latin typeface="Helvetica Neue"/>
              </a:rPr>
              <a:t>02  ·  ORGANIZATION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985308" y="73152"/>
            <a:ext cx="2218334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85308" y="73152"/>
            <a:ext cx="221833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5A5A6"/>
                </a:solidFill>
                <a:latin typeface="Helvetica Neue"/>
              </a:rPr>
              <a:t>03  ·  AS-IS DRILL-DOWNS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249363" y="73152"/>
            <a:ext cx="2218334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249363" y="73152"/>
            <a:ext cx="221833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5A5A6"/>
                </a:solidFill>
                <a:latin typeface="Helvetica Neue"/>
              </a:rPr>
              <a:t>04  ·  BOTTLENECKS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513417" y="73152"/>
            <a:ext cx="2218334" cy="201168"/>
          </a:xfrm>
          <a:prstGeom prst="round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513417" y="73152"/>
            <a:ext cx="221833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Helvetica Neue"/>
              </a:rPr>
              <a:t>05  ·  INSIGHTS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