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C50"/>
        </a:solidFill>
        <a:effectLst/>
      </p:bgPr>
    </p:bg>
    <p:spTree>
      <p:nvGrpSpPr>
        <p:cNvPr id="1" name=""/>
        <p:cNvGrpSpPr/>
        <p:nvPr/>
      </p:nvGrpSpPr>
      <p:grpSpPr/>
      <p:sp>
        <p:nvSpPr>
          <p:cNvPr id="2" name="Rectangle 1"/>
          <p:cNvSpPr/>
          <p:nvPr/>
        </p:nvSpPr>
        <p:spPr>
          <a:xfrm>
            <a:off x="685800" y="685800"/>
            <a:ext cx="36576" cy="54864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777240"/>
            <a:ext cx="1051560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6785C1"/>
                </a:solidFill>
                <a:latin typeface="Helvetica Neue"/>
              </a:rPr>
              <a:t>AVANGRID  —  SAP DIGITAL PRODUCTS TRANSFORMATION</a:t>
            </a:r>
          </a:p>
        </p:txBody>
      </p:sp>
      <p:sp>
        <p:nvSpPr>
          <p:cNvPr id="4" name="TextBox 3"/>
          <p:cNvSpPr txBox="1"/>
          <p:nvPr/>
        </p:nvSpPr>
        <p:spPr>
          <a:xfrm>
            <a:off x="1005840" y="1097280"/>
            <a:ext cx="1051560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95A5A6"/>
                </a:solidFill>
                <a:latin typeface="Helvetica Neue"/>
              </a:rPr>
              <a:t>Baseline Phase — Current State Diagnosis  •  April 2026</a:t>
            </a:r>
          </a:p>
        </p:txBody>
      </p:sp>
      <p:sp>
        <p:nvSpPr>
          <p:cNvPr id="5" name="Rectangle 4"/>
          <p:cNvSpPr/>
          <p:nvPr/>
        </p:nvSpPr>
        <p:spPr>
          <a:xfrm>
            <a:off x="1005840" y="2834640"/>
            <a:ext cx="457200" cy="457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971800"/>
            <a:ext cx="10515600" cy="1188720"/>
          </a:xfrm>
          <a:prstGeom prst="rect">
            <a:avLst/>
          </a:prstGeom>
          <a:noFill/>
        </p:spPr>
        <p:txBody>
          <a:bodyPr wrap="square" lIns="0" rIns="0" tIns="0" bIns="0" anchor="t">
            <a:spAutoFit/>
          </a:bodyPr>
          <a:lstStyle/>
          <a:p>
            <a:pPr algn="l">
              <a:lnSpc>
                <a:spcPct val="110000"/>
              </a:lnSpc>
              <a:spcBef>
                <a:spcPts val="0"/>
              </a:spcBef>
              <a:spcAft>
                <a:spcPts val="0"/>
              </a:spcAft>
            </a:pPr>
            <a:r>
              <a:rPr sz="6000" b="1" i="0">
                <a:solidFill>
                  <a:srgbClr val="FFFFFF"/>
                </a:solidFill>
                <a:latin typeface="Helvetica Neue"/>
              </a:rPr>
              <a:t>Baseline Report</a:t>
            </a:r>
          </a:p>
        </p:txBody>
      </p:sp>
      <p:sp>
        <p:nvSpPr>
          <p:cNvPr id="7" name="TextBox 6"/>
          <p:cNvSpPr txBox="1"/>
          <p:nvPr/>
        </p:nvSpPr>
        <p:spPr>
          <a:xfrm>
            <a:off x="1005840" y="4251960"/>
            <a:ext cx="10515600" cy="457200"/>
          </a:xfrm>
          <a:prstGeom prst="rect">
            <a:avLst/>
          </a:prstGeom>
          <a:noFill/>
        </p:spPr>
        <p:txBody>
          <a:bodyPr wrap="square" lIns="0" rIns="0" tIns="0" bIns="0" anchor="t">
            <a:spAutoFit/>
          </a:bodyPr>
          <a:lstStyle/>
          <a:p>
            <a:pPr algn="l">
              <a:lnSpc>
                <a:spcPct val="110000"/>
              </a:lnSpc>
              <a:spcBef>
                <a:spcPts val="0"/>
              </a:spcBef>
              <a:spcAft>
                <a:spcPts val="0"/>
              </a:spcAft>
            </a:pPr>
            <a:r>
              <a:rPr sz="2000" b="0" i="0">
                <a:solidFill>
                  <a:srgbClr val="6785C1"/>
                </a:solidFill>
                <a:latin typeface="Helvetica Neue"/>
              </a:rPr>
              <a:t>Current State Diagnosis of Digital Products Operating Model</a:t>
            </a:r>
          </a:p>
        </p:txBody>
      </p:sp>
      <p:sp>
        <p:nvSpPr>
          <p:cNvPr id="8" name="TextBox 7"/>
          <p:cNvSpPr txBox="1"/>
          <p:nvPr/>
        </p:nvSpPr>
        <p:spPr>
          <a:xfrm>
            <a:off x="1005840" y="4846320"/>
            <a:ext cx="10515600" cy="1188720"/>
          </a:xfrm>
          <a:prstGeom prst="rect">
            <a:avLst/>
          </a:prstGeom>
          <a:noFill/>
        </p:spPr>
        <p:txBody>
          <a:bodyPr wrap="square" lIns="0" rIns="0" tIns="0" bIns="0" anchor="t">
            <a:spAutoFit/>
          </a:bodyPr>
          <a:lstStyle/>
          <a:p>
            <a:pPr algn="l">
              <a:lnSpc>
                <a:spcPct val="110000"/>
              </a:lnSpc>
              <a:spcBef>
                <a:spcPts val="0"/>
              </a:spcBef>
              <a:spcAft>
                <a:spcPts val="0"/>
              </a:spcAft>
            </a:pPr>
            <a:r>
              <a:rPr sz="1200" b="0" i="1">
                <a:solidFill>
                  <a:srgbClr val="FFFFFF"/>
                </a:solidFill>
                <a:latin typeface="Helvetica Neue"/>
              </a:rPr>
              <a:t>Digital Products operates as two disconnected branches with seven structural issues</a:t>
            </a:r>
          </a:p>
          <a:p>
            <a:pPr algn="l">
              <a:lnSpc>
                <a:spcPct val="110000"/>
              </a:lnSpc>
              <a:spcBef>
                <a:spcPts val="0"/>
              </a:spcBef>
              <a:spcAft>
                <a:spcPts val="0"/>
              </a:spcAft>
            </a:pPr>
            <a:r>
              <a:rPr sz="1200" b="0" i="1">
                <a:solidFill>
                  <a:srgbClr val="FFFFFF"/>
                </a:solidFill>
                <a:latin typeface="Helvetica Neue"/>
              </a:rPr>
              <a:t>no single-area fix can resolve — the Target Operating Model must standardize intake,</a:t>
            </a:r>
          </a:p>
          <a:p>
            <a:pPr algn="l">
              <a:lnSpc>
                <a:spcPct val="110000"/>
              </a:lnSpc>
              <a:spcBef>
                <a:spcPts val="0"/>
              </a:spcBef>
              <a:spcAft>
                <a:spcPts val="0"/>
              </a:spcAft>
            </a:pPr>
            <a:r>
              <a:rPr sz="1200" b="0" i="1">
                <a:solidFill>
                  <a:srgbClr val="FFFFFF"/>
                </a:solidFill>
                <a:latin typeface="Helvetica Neue"/>
              </a:rPr>
              <a:t>prioritization, tooling, governance, taxonomy, vendor management and value-stream lens.</a:t>
            </a:r>
          </a:p>
        </p:txBody>
      </p:sp>
      <p:sp>
        <p:nvSpPr>
          <p:cNvPr id="9" name="Rectangle 8"/>
          <p:cNvSpPr/>
          <p:nvPr/>
        </p:nvSpPr>
        <p:spPr>
          <a:xfrm>
            <a:off x="1005840" y="6126480"/>
            <a:ext cx="274320" cy="2743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6236208"/>
            <a:ext cx="548640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FFFFFF"/>
                </a:solidFill>
                <a:latin typeface="Helvetica Neue"/>
              </a:rPr>
              <a:t>NTT DATA  —  Consulting</a:t>
            </a:r>
          </a:p>
        </p:txBody>
      </p:sp>
      <p:sp>
        <p:nvSpPr>
          <p:cNvPr id="11" name="TextBox 10"/>
          <p:cNvSpPr txBox="1"/>
          <p:nvPr/>
        </p:nvSpPr>
        <p:spPr>
          <a:xfrm>
            <a:off x="9601200" y="6236208"/>
            <a:ext cx="2286000" cy="27432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15 slides</a:t>
            </a:r>
          </a:p>
        </p:txBody>
      </p:sp>
      <p:sp>
        <p:nvSpPr>
          <p:cNvPr id="12" name="TextBox 11"/>
          <p:cNvSpPr txBox="1"/>
          <p:nvPr/>
        </p:nvSpPr>
        <p:spPr>
          <a:xfrm>
            <a:off x="9601200" y="6510528"/>
            <a:ext cx="2286000" cy="228600"/>
          </a:xfrm>
          <a:prstGeom prst="rect">
            <a:avLst/>
          </a:prstGeom>
          <a:noFill/>
        </p:spPr>
        <p:txBody>
          <a:bodyPr wrap="square" lIns="0" rIns="0" tIns="0" bIns="0" anchor="t">
            <a:spAutoFit/>
          </a:bodyPr>
          <a:lstStyle/>
          <a:p>
            <a:pPr algn="r">
              <a:lnSpc>
                <a:spcPct val="110000"/>
              </a:lnSpc>
              <a:spcBef>
                <a:spcPts val="0"/>
              </a:spcBef>
              <a:spcAft>
                <a:spcPts val="0"/>
              </a:spcAft>
            </a:pPr>
            <a:r>
              <a:rPr sz="800" b="0" i="1">
                <a:solidFill>
                  <a:srgbClr val="95A5A6"/>
                </a:solidFill>
                <a:latin typeface="Helvetica Neue"/>
              </a:rPr>
              <a:t>Version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The Digital Products operating model is structurally fragmented — three findings set the mandate, three implications define the TOM</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557784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BC4328"/>
                </a:solidFill>
                <a:latin typeface="Helvetica Neue"/>
              </a:rPr>
              <a:t>WHAT WE FOUND</a:t>
            </a:r>
          </a:p>
        </p:txBody>
      </p:sp>
      <p:sp>
        <p:nvSpPr>
          <p:cNvPr id="5" name="Rectangle 4"/>
          <p:cNvSpPr/>
          <p:nvPr/>
        </p:nvSpPr>
        <p:spPr>
          <a:xfrm>
            <a:off x="457200" y="1737360"/>
            <a:ext cx="457200" cy="123444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874519"/>
            <a:ext cx="457200" cy="365760"/>
          </a:xfrm>
          <a:prstGeom prst="rect">
            <a:avLst/>
          </a:prstGeom>
          <a:noFill/>
        </p:spPr>
        <p:txBody>
          <a:bodyPr wrap="square" lIns="0" rIns="0" tIns="0" bIns="0" anchor="t">
            <a:spAutoFit/>
          </a:bodyPr>
          <a:lstStyle/>
          <a:p>
            <a:pPr algn="ctr">
              <a:lnSpc>
                <a:spcPct val="110000"/>
              </a:lnSpc>
              <a:spcBef>
                <a:spcPts val="0"/>
              </a:spcBef>
              <a:spcAft>
                <a:spcPts val="0"/>
              </a:spcAft>
            </a:pPr>
            <a:r>
              <a:rPr sz="1600" b="1" i="0">
                <a:solidFill>
                  <a:srgbClr val="FFFFFF"/>
                </a:solidFill>
                <a:latin typeface="Helvetica Neue"/>
              </a:rPr>
              <a:t>01</a:t>
            </a:r>
          </a:p>
        </p:txBody>
      </p:sp>
      <p:sp>
        <p:nvSpPr>
          <p:cNvPr id="7" name="TextBox 6"/>
          <p:cNvSpPr txBox="1"/>
          <p:nvPr/>
        </p:nvSpPr>
        <p:spPr>
          <a:xfrm>
            <a:off x="1005840" y="1737360"/>
            <a:ext cx="502920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0F1C50"/>
                </a:solidFill>
                <a:latin typeface="Helvetica Neue"/>
              </a:rPr>
              <a:t>Two branches, nine sub-teams, ~50 FTE — zero standardization</a:t>
            </a:r>
          </a:p>
        </p:txBody>
      </p:sp>
      <p:sp>
        <p:nvSpPr>
          <p:cNvPr id="8" name="TextBox 7"/>
          <p:cNvSpPr txBox="1"/>
          <p:nvPr/>
        </p:nvSpPr>
        <p:spPr>
          <a:xfrm>
            <a:off x="1005840" y="2057400"/>
            <a:ext cx="5029200" cy="91440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Demand flows through 6+ disconnected channels. Applications (Carlos) and Customer Services (Kumar) run different intake, tools, and logic. No two teams share the same flow.</a:t>
            </a:r>
          </a:p>
        </p:txBody>
      </p:sp>
      <p:sp>
        <p:nvSpPr>
          <p:cNvPr id="9" name="Rectangle 8"/>
          <p:cNvSpPr/>
          <p:nvPr/>
        </p:nvSpPr>
        <p:spPr>
          <a:xfrm>
            <a:off x="457200" y="3063239"/>
            <a:ext cx="457200" cy="123444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200399"/>
            <a:ext cx="457200" cy="365760"/>
          </a:xfrm>
          <a:prstGeom prst="rect">
            <a:avLst/>
          </a:prstGeom>
          <a:noFill/>
        </p:spPr>
        <p:txBody>
          <a:bodyPr wrap="square" lIns="0" rIns="0" tIns="0" bIns="0" anchor="t">
            <a:spAutoFit/>
          </a:bodyPr>
          <a:lstStyle/>
          <a:p>
            <a:pPr algn="ctr">
              <a:lnSpc>
                <a:spcPct val="110000"/>
              </a:lnSpc>
              <a:spcBef>
                <a:spcPts val="0"/>
              </a:spcBef>
              <a:spcAft>
                <a:spcPts val="0"/>
              </a:spcAft>
            </a:pPr>
            <a:r>
              <a:rPr sz="1600" b="1" i="0">
                <a:solidFill>
                  <a:srgbClr val="FFFFFF"/>
                </a:solidFill>
                <a:latin typeface="Helvetica Neue"/>
              </a:rPr>
              <a:t>02</a:t>
            </a:r>
          </a:p>
        </p:txBody>
      </p:sp>
      <p:sp>
        <p:nvSpPr>
          <p:cNvPr id="11" name="TextBox 10"/>
          <p:cNvSpPr txBox="1"/>
          <p:nvPr/>
        </p:nvSpPr>
        <p:spPr>
          <a:xfrm>
            <a:off x="1005840" y="3063239"/>
            <a:ext cx="502920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0F1C50"/>
                </a:solidFill>
                <a:latin typeface="Helvetica Neue"/>
              </a:rPr>
              <a:t>Prioritization is ad-hoc across both branches</a:t>
            </a:r>
          </a:p>
        </p:txBody>
      </p:sp>
      <p:sp>
        <p:nvSpPr>
          <p:cNvPr id="12" name="TextBox 11"/>
          <p:cNvSpPr txBox="1"/>
          <p:nvPr/>
        </p:nvSpPr>
        <p:spPr>
          <a:xfrm>
            <a:off x="1005840" y="3383279"/>
            <a:ext cx="5029200" cy="91440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No shared scoring model. Four informal criteria (strategic, operational urgency, regulatory, size) applied per forum per team. Global SAP drowns in incidents; G&amp;E runs on email; Smart Metering relies on "intrinsic common sense".</a:t>
            </a:r>
          </a:p>
        </p:txBody>
      </p:sp>
      <p:sp>
        <p:nvSpPr>
          <p:cNvPr id="13" name="Rectangle 12"/>
          <p:cNvSpPr/>
          <p:nvPr/>
        </p:nvSpPr>
        <p:spPr>
          <a:xfrm>
            <a:off x="457200" y="4389120"/>
            <a:ext cx="457200" cy="123444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526280"/>
            <a:ext cx="457200" cy="365760"/>
          </a:xfrm>
          <a:prstGeom prst="rect">
            <a:avLst/>
          </a:prstGeom>
          <a:noFill/>
        </p:spPr>
        <p:txBody>
          <a:bodyPr wrap="square" lIns="0" rIns="0" tIns="0" bIns="0" anchor="t">
            <a:spAutoFit/>
          </a:bodyPr>
          <a:lstStyle/>
          <a:p>
            <a:pPr algn="ctr">
              <a:lnSpc>
                <a:spcPct val="110000"/>
              </a:lnSpc>
              <a:spcBef>
                <a:spcPts val="0"/>
              </a:spcBef>
              <a:spcAft>
                <a:spcPts val="0"/>
              </a:spcAft>
            </a:pPr>
            <a:r>
              <a:rPr sz="1600" b="1" i="0">
                <a:solidFill>
                  <a:srgbClr val="FFFFFF"/>
                </a:solidFill>
                <a:latin typeface="Helvetica Neue"/>
              </a:rPr>
              <a:t>03</a:t>
            </a:r>
          </a:p>
        </p:txBody>
      </p:sp>
      <p:sp>
        <p:nvSpPr>
          <p:cNvPr id="15" name="TextBox 14"/>
          <p:cNvSpPr txBox="1"/>
          <p:nvPr/>
        </p:nvSpPr>
        <p:spPr>
          <a:xfrm>
            <a:off x="1005840" y="4389120"/>
            <a:ext cx="502920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0F1C50"/>
                </a:solidFill>
                <a:latin typeface="Helvetica Neue"/>
              </a:rPr>
              <a:t>Portfolio and vendor governance are largely absent</a:t>
            </a:r>
          </a:p>
        </p:txBody>
      </p:sp>
      <p:sp>
        <p:nvSpPr>
          <p:cNvPr id="16" name="TextBox 15"/>
          <p:cNvSpPr txBox="1"/>
          <p:nvPr/>
        </p:nvSpPr>
        <p:spPr>
          <a:xfrm>
            <a:off x="1005840" y="4709159"/>
            <a:ext cx="5029200" cy="91440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Only 1 of 6 units uses a portfolio tool (Smart Metering / PPM Now). No process governs vendor delivery — vendors estimate, set timelines, and own full scope in Smart Metering.</a:t>
            </a:r>
          </a:p>
        </p:txBody>
      </p:sp>
      <p:sp>
        <p:nvSpPr>
          <p:cNvPr id="17" name="TextBox 16"/>
          <p:cNvSpPr txBox="1"/>
          <p:nvPr/>
        </p:nvSpPr>
        <p:spPr>
          <a:xfrm>
            <a:off x="6263640" y="1371600"/>
            <a:ext cx="548640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0F1C50"/>
                </a:solidFill>
                <a:latin typeface="Helvetica Neue"/>
              </a:rPr>
              <a:t>WHAT IT MEANS FOR THE TOM</a:t>
            </a:r>
          </a:p>
        </p:txBody>
      </p:sp>
      <p:sp>
        <p:nvSpPr>
          <p:cNvPr id="18" name="Rectangle 17"/>
          <p:cNvSpPr/>
          <p:nvPr/>
        </p:nvSpPr>
        <p:spPr>
          <a:xfrm>
            <a:off x="6263640" y="1737360"/>
            <a:ext cx="457200" cy="12344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1874519"/>
            <a:ext cx="457200" cy="365760"/>
          </a:xfrm>
          <a:prstGeom prst="rect">
            <a:avLst/>
          </a:prstGeom>
          <a:noFill/>
        </p:spPr>
        <p:txBody>
          <a:bodyPr wrap="square" lIns="0" rIns="0" tIns="0" bIns="0" anchor="t">
            <a:spAutoFit/>
          </a:bodyPr>
          <a:lstStyle/>
          <a:p>
            <a:pPr algn="ctr">
              <a:lnSpc>
                <a:spcPct val="110000"/>
              </a:lnSpc>
              <a:spcBef>
                <a:spcPts val="0"/>
              </a:spcBef>
              <a:spcAft>
                <a:spcPts val="0"/>
              </a:spcAft>
            </a:pPr>
            <a:r>
              <a:rPr sz="1600" b="1" i="0">
                <a:solidFill>
                  <a:srgbClr val="FFFFFF"/>
                </a:solidFill>
                <a:latin typeface="Helvetica Neue"/>
              </a:rPr>
              <a:t>A</a:t>
            </a:r>
          </a:p>
        </p:txBody>
      </p:sp>
      <p:sp>
        <p:nvSpPr>
          <p:cNvPr id="20" name="TextBox 19"/>
          <p:cNvSpPr txBox="1"/>
          <p:nvPr/>
        </p:nvSpPr>
        <p:spPr>
          <a:xfrm>
            <a:off x="6812280" y="1737360"/>
            <a:ext cx="493776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0F1C50"/>
                </a:solidFill>
                <a:latin typeface="Helvetica Neue"/>
              </a:rPr>
              <a:t>Unified intake layer + value-based prioritization framework</a:t>
            </a:r>
          </a:p>
        </p:txBody>
      </p:sp>
      <p:sp>
        <p:nvSpPr>
          <p:cNvPr id="21" name="TextBox 20"/>
          <p:cNvSpPr txBox="1"/>
          <p:nvPr/>
        </p:nvSpPr>
        <p:spPr>
          <a:xfrm>
            <a:off x="6812280" y="2057400"/>
            <a:ext cx="4937760" cy="91440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A single structured front door replacing the 6+ channels. A scoring model that formalizes the four criteria and applies objectively across both branches.</a:t>
            </a:r>
          </a:p>
        </p:txBody>
      </p:sp>
      <p:sp>
        <p:nvSpPr>
          <p:cNvPr id="22" name="Rectangle 21"/>
          <p:cNvSpPr/>
          <p:nvPr/>
        </p:nvSpPr>
        <p:spPr>
          <a:xfrm>
            <a:off x="6263640" y="3063239"/>
            <a:ext cx="457200" cy="12344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3200399"/>
            <a:ext cx="457200" cy="365760"/>
          </a:xfrm>
          <a:prstGeom prst="rect">
            <a:avLst/>
          </a:prstGeom>
          <a:noFill/>
        </p:spPr>
        <p:txBody>
          <a:bodyPr wrap="square" lIns="0" rIns="0" tIns="0" bIns="0" anchor="t">
            <a:spAutoFit/>
          </a:bodyPr>
          <a:lstStyle/>
          <a:p>
            <a:pPr algn="ctr">
              <a:lnSpc>
                <a:spcPct val="110000"/>
              </a:lnSpc>
              <a:spcBef>
                <a:spcPts val="0"/>
              </a:spcBef>
              <a:spcAft>
                <a:spcPts val="0"/>
              </a:spcAft>
            </a:pPr>
            <a:r>
              <a:rPr sz="1600" b="1" i="0">
                <a:solidFill>
                  <a:srgbClr val="FFFFFF"/>
                </a:solidFill>
                <a:latin typeface="Helvetica Neue"/>
              </a:rPr>
              <a:t>B</a:t>
            </a:r>
          </a:p>
        </p:txBody>
      </p:sp>
      <p:sp>
        <p:nvSpPr>
          <p:cNvPr id="24" name="TextBox 23"/>
          <p:cNvSpPr txBox="1"/>
          <p:nvPr/>
        </p:nvSpPr>
        <p:spPr>
          <a:xfrm>
            <a:off x="6812280" y="3063239"/>
            <a:ext cx="493776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0F1C50"/>
                </a:solidFill>
                <a:latin typeface="Helvetica Neue"/>
              </a:rPr>
              <a:t>Portfolio + vendor tooling scaled across Applications and Customer Services</a:t>
            </a:r>
          </a:p>
        </p:txBody>
      </p:sp>
      <p:sp>
        <p:nvSpPr>
          <p:cNvPr id="25" name="TextBox 24"/>
          <p:cNvSpPr txBox="1"/>
          <p:nvPr/>
        </p:nvSpPr>
        <p:spPr>
          <a:xfrm>
            <a:off x="6812280" y="3383279"/>
            <a:ext cx="4937760" cy="91440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Extend PPM Now (or equivalent) beyond Smart Metering. Introduce vendor performance framework with independent estimation sanity checks.</a:t>
            </a:r>
          </a:p>
        </p:txBody>
      </p:sp>
      <p:sp>
        <p:nvSpPr>
          <p:cNvPr id="26" name="Rectangle 25"/>
          <p:cNvSpPr/>
          <p:nvPr/>
        </p:nvSpPr>
        <p:spPr>
          <a:xfrm>
            <a:off x="6263640" y="4389120"/>
            <a:ext cx="457200" cy="12344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4526280"/>
            <a:ext cx="457200" cy="365760"/>
          </a:xfrm>
          <a:prstGeom prst="rect">
            <a:avLst/>
          </a:prstGeom>
          <a:noFill/>
        </p:spPr>
        <p:txBody>
          <a:bodyPr wrap="square" lIns="0" rIns="0" tIns="0" bIns="0" anchor="t">
            <a:spAutoFit/>
          </a:bodyPr>
          <a:lstStyle/>
          <a:p>
            <a:pPr algn="ctr">
              <a:lnSpc>
                <a:spcPct val="110000"/>
              </a:lnSpc>
              <a:spcBef>
                <a:spcPts val="0"/>
              </a:spcBef>
              <a:spcAft>
                <a:spcPts val="0"/>
              </a:spcAft>
            </a:pPr>
            <a:r>
              <a:rPr sz="1600" b="1" i="0">
                <a:solidFill>
                  <a:srgbClr val="FFFFFF"/>
                </a:solidFill>
                <a:latin typeface="Helvetica Neue"/>
              </a:rPr>
              <a:t>C</a:t>
            </a:r>
          </a:p>
        </p:txBody>
      </p:sp>
      <p:sp>
        <p:nvSpPr>
          <p:cNvPr id="28" name="TextBox 27"/>
          <p:cNvSpPr txBox="1"/>
          <p:nvPr/>
        </p:nvSpPr>
        <p:spPr>
          <a:xfrm>
            <a:off x="6812280" y="4389120"/>
            <a:ext cx="493776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0F1C50"/>
                </a:solidFill>
                <a:latin typeface="Helvetica Neue"/>
              </a:rPr>
              <a:t>Taxonomy + value-stream lens — move from Project to Product operating model</a:t>
            </a:r>
          </a:p>
        </p:txBody>
      </p:sp>
      <p:sp>
        <p:nvSpPr>
          <p:cNvPr id="29" name="TextBox 28"/>
          <p:cNvSpPr txBox="1"/>
          <p:nvPr/>
        </p:nvSpPr>
        <p:spPr>
          <a:xfrm>
            <a:off x="6812280" y="4709159"/>
            <a:ext cx="4937760" cy="91440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Objective small/medium/large thresholds. Demand organized around customer value streams, not application silos — traceable from business OKRs.</a:t>
            </a:r>
          </a:p>
        </p:txBody>
      </p:sp>
      <p:sp>
        <p:nvSpPr>
          <p:cNvPr id="30" name="Rectangle 29"/>
          <p:cNvSpPr/>
          <p:nvPr/>
        </p:nvSpPr>
        <p:spPr>
          <a:xfrm>
            <a:off x="457200" y="5989320"/>
            <a:ext cx="112745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The question is no longer whether to transform — it is how fast the TOM can replace fragmentation with an end-to-end, branch-unified operating model</a:t>
            </a:r>
          </a:p>
        </p:txBody>
      </p:sp>
      <p:sp>
        <p:nvSpPr>
          <p:cNvPr id="32" name="TextBox 31"/>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Executive Summary  |  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Growth, regulatory pressure and two newly-appointed directors create the window — transformation cannot wait</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3749039" cy="41148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3749039" cy="7315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45920"/>
            <a:ext cx="3291839" cy="27432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BC4328"/>
                </a:solidFill>
                <a:latin typeface="Helvetica Neue"/>
              </a:rPr>
              <a:t>GROWTH</a:t>
            </a:r>
          </a:p>
        </p:txBody>
      </p:sp>
      <p:sp>
        <p:nvSpPr>
          <p:cNvPr id="7" name="TextBox 6"/>
          <p:cNvSpPr txBox="1"/>
          <p:nvPr/>
        </p:nvSpPr>
        <p:spPr>
          <a:xfrm>
            <a:off x="685800" y="1920240"/>
            <a:ext cx="3291839" cy="548640"/>
          </a:xfrm>
          <a:prstGeom prst="rect">
            <a:avLst/>
          </a:prstGeom>
          <a:noFill/>
        </p:spPr>
        <p:txBody>
          <a:bodyPr wrap="square" lIns="0" rIns="0" tIns="0" bIns="0" anchor="t">
            <a:spAutoFit/>
          </a:bodyPr>
          <a:lstStyle/>
          <a:p>
            <a:pPr algn="l">
              <a:lnSpc>
                <a:spcPct val="110000"/>
              </a:lnSpc>
              <a:spcBef>
                <a:spcPts val="0"/>
              </a:spcBef>
              <a:spcAft>
                <a:spcPts val="0"/>
              </a:spcAft>
            </a:pPr>
            <a:r>
              <a:rPr sz="1400" b="1" i="0">
                <a:solidFill>
                  <a:srgbClr val="0F1C50"/>
                </a:solidFill>
                <a:latin typeface="Helvetica Neue"/>
              </a:rPr>
              <a:t>30–50% Projected Growth</a:t>
            </a:r>
          </a:p>
        </p:txBody>
      </p:sp>
      <p:sp>
        <p:nvSpPr>
          <p:cNvPr id="8" name="TextBox 7"/>
          <p:cNvSpPr txBox="1"/>
          <p:nvPr/>
        </p:nvSpPr>
        <p:spPr>
          <a:xfrm>
            <a:off x="685800" y="2560320"/>
            <a:ext cx="3291839" cy="256032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Digital Products faces 30–50% growth pressure across its portfolio. The current operating model — siloed Jira instances, ad-hoc email intake, fragmented tooling — cannot scale with this volume. Either the TOM ships, or fragmentation compounds.</a:t>
            </a:r>
          </a:p>
        </p:txBody>
      </p:sp>
      <p:sp>
        <p:nvSpPr>
          <p:cNvPr id="9" name="TextBox 8"/>
          <p:cNvSpPr txBox="1"/>
          <p:nvPr/>
        </p:nvSpPr>
        <p:spPr>
          <a:xfrm>
            <a:off x="685800" y="5166359"/>
            <a:ext cx="3291839" cy="274320"/>
          </a:xfrm>
          <a:prstGeom prst="rect">
            <a:avLst/>
          </a:prstGeom>
          <a:noFill/>
        </p:spPr>
        <p:txBody>
          <a:bodyPr wrap="square" lIns="0" rIns="0" tIns="0" bIns="0" anchor="t">
            <a:spAutoFit/>
          </a:bodyPr>
          <a:lstStyle/>
          <a:p>
            <a:pPr algn="l">
              <a:lnSpc>
                <a:spcPct val="110000"/>
              </a:lnSpc>
              <a:spcBef>
                <a:spcPts val="0"/>
              </a:spcBef>
              <a:spcAft>
                <a:spcPts val="0"/>
              </a:spcAft>
            </a:pPr>
            <a:r>
              <a:rPr sz="700" b="0" i="1">
                <a:solidFill>
                  <a:srgbClr val="95A5A6"/>
                </a:solidFill>
                <a:latin typeface="Helvetica Neue"/>
              </a:rPr>
              <a:t>Source: SAP CoE New Ways of Working v2.0 (Slide 3)</a:t>
            </a:r>
          </a:p>
        </p:txBody>
      </p:sp>
      <p:sp>
        <p:nvSpPr>
          <p:cNvPr id="10" name="Rectangle 9"/>
          <p:cNvSpPr/>
          <p:nvPr/>
        </p:nvSpPr>
        <p:spPr>
          <a:xfrm>
            <a:off x="4297679" y="1417320"/>
            <a:ext cx="3749039" cy="41148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79" y="1417320"/>
            <a:ext cx="3749039" cy="7315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79" y="1645920"/>
            <a:ext cx="3291839" cy="27432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BC4328"/>
                </a:solidFill>
                <a:latin typeface="Helvetica Neue"/>
              </a:rPr>
              <a:t>MANDATE</a:t>
            </a:r>
          </a:p>
        </p:txBody>
      </p:sp>
      <p:sp>
        <p:nvSpPr>
          <p:cNvPr id="13" name="TextBox 12"/>
          <p:cNvSpPr txBox="1"/>
          <p:nvPr/>
        </p:nvSpPr>
        <p:spPr>
          <a:xfrm>
            <a:off x="4526279" y="1920240"/>
            <a:ext cx="3291839" cy="548640"/>
          </a:xfrm>
          <a:prstGeom prst="rect">
            <a:avLst/>
          </a:prstGeom>
          <a:noFill/>
        </p:spPr>
        <p:txBody>
          <a:bodyPr wrap="square" lIns="0" rIns="0" tIns="0" bIns="0" anchor="t">
            <a:spAutoFit/>
          </a:bodyPr>
          <a:lstStyle/>
          <a:p>
            <a:pPr algn="l">
              <a:lnSpc>
                <a:spcPct val="110000"/>
              </a:lnSpc>
              <a:spcBef>
                <a:spcPts val="0"/>
              </a:spcBef>
              <a:spcAft>
                <a:spcPts val="0"/>
              </a:spcAft>
            </a:pPr>
            <a:r>
              <a:rPr sz="1400" b="1" i="0">
                <a:solidFill>
                  <a:srgbClr val="0F1C50"/>
                </a:solidFill>
                <a:latin typeface="Helvetica Neue"/>
              </a:rPr>
              <a:t>New Director Structure</a:t>
            </a:r>
          </a:p>
        </p:txBody>
      </p:sp>
      <p:sp>
        <p:nvSpPr>
          <p:cNvPr id="14" name="TextBox 13"/>
          <p:cNvSpPr txBox="1"/>
          <p:nvPr/>
        </p:nvSpPr>
        <p:spPr>
          <a:xfrm>
            <a:off x="4526279" y="2560320"/>
            <a:ext cx="3291839" cy="256032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CIO Edu de Frutos and VP Vitor Cruz have split Digital Products into two directorates — Carlos Garbin (Applications, ~26 FTE) and Kumar Jaladanki (Customer Services, ~24 FTE). The mandate to standardize is explicit: "Attention here — the main opportunity is here to improve and standardize" (Carlos's box, working session).</a:t>
            </a:r>
          </a:p>
        </p:txBody>
      </p:sp>
      <p:sp>
        <p:nvSpPr>
          <p:cNvPr id="15" name="TextBox 14"/>
          <p:cNvSpPr txBox="1"/>
          <p:nvPr/>
        </p:nvSpPr>
        <p:spPr>
          <a:xfrm>
            <a:off x="4526279" y="5166359"/>
            <a:ext cx="3291839" cy="274320"/>
          </a:xfrm>
          <a:prstGeom prst="rect">
            <a:avLst/>
          </a:prstGeom>
          <a:noFill/>
        </p:spPr>
        <p:txBody>
          <a:bodyPr wrap="square" lIns="0" rIns="0" tIns="0" bIns="0" anchor="t">
            <a:spAutoFit/>
          </a:bodyPr>
          <a:lstStyle/>
          <a:p>
            <a:pPr algn="l">
              <a:lnSpc>
                <a:spcPct val="110000"/>
              </a:lnSpc>
              <a:spcBef>
                <a:spcPts val="0"/>
              </a:spcBef>
              <a:spcAft>
                <a:spcPts val="0"/>
              </a:spcAft>
            </a:pPr>
            <a:r>
              <a:rPr sz="700" b="0" i="1">
                <a:solidFill>
                  <a:srgbClr val="95A5A6"/>
                </a:solidFill>
                <a:latin typeface="Helvetica Neue"/>
              </a:rPr>
              <a:t>Source: Validated Miro org chart + Interview_Carlos_Applications.md</a:t>
            </a:r>
          </a:p>
        </p:txBody>
      </p:sp>
      <p:sp>
        <p:nvSpPr>
          <p:cNvPr id="16" name="Rectangle 15"/>
          <p:cNvSpPr/>
          <p:nvPr/>
        </p:nvSpPr>
        <p:spPr>
          <a:xfrm>
            <a:off x="8138159" y="1417320"/>
            <a:ext cx="3749039" cy="41148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59" y="1417320"/>
            <a:ext cx="3749039" cy="7315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59" y="1645920"/>
            <a:ext cx="3291839" cy="27432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BC4328"/>
                </a:solidFill>
                <a:latin typeface="Helvetica Neue"/>
              </a:rPr>
              <a:t>PRESSURE</a:t>
            </a:r>
          </a:p>
        </p:txBody>
      </p:sp>
      <p:sp>
        <p:nvSpPr>
          <p:cNvPr id="19" name="TextBox 18"/>
          <p:cNvSpPr txBox="1"/>
          <p:nvPr/>
        </p:nvSpPr>
        <p:spPr>
          <a:xfrm>
            <a:off x="8366759" y="1920240"/>
            <a:ext cx="3291839" cy="548640"/>
          </a:xfrm>
          <a:prstGeom prst="rect">
            <a:avLst/>
          </a:prstGeom>
          <a:noFill/>
        </p:spPr>
        <p:txBody>
          <a:bodyPr wrap="square" lIns="0" rIns="0" tIns="0" bIns="0" anchor="t">
            <a:spAutoFit/>
          </a:bodyPr>
          <a:lstStyle/>
          <a:p>
            <a:pPr algn="l">
              <a:lnSpc>
                <a:spcPct val="110000"/>
              </a:lnSpc>
              <a:spcBef>
                <a:spcPts val="0"/>
              </a:spcBef>
              <a:spcAft>
                <a:spcPts val="0"/>
              </a:spcAft>
            </a:pPr>
            <a:r>
              <a:rPr sz="1400" b="1" i="0">
                <a:solidFill>
                  <a:srgbClr val="0F1C50"/>
                </a:solidFill>
                <a:latin typeface="Helvetica Neue"/>
              </a:rPr>
              <a:t>Regulatory + Capacity Tension</a:t>
            </a:r>
          </a:p>
        </p:txBody>
      </p:sp>
      <p:sp>
        <p:nvSpPr>
          <p:cNvPr id="20" name="TextBox 19"/>
          <p:cNvSpPr txBox="1"/>
          <p:nvPr/>
        </p:nvSpPr>
        <p:spPr>
          <a:xfrm>
            <a:off x="8366759" y="2560320"/>
            <a:ext cx="3291839" cy="256032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Regulatory demand overrides size in every prioritization forum. Global SAP teams report "entire team focused on incidents" and "1 year to hire someone". G&amp;E cites third-party risk + cyber legal as top priorities. The organization is running its current model at maximum load.</a:t>
            </a:r>
          </a:p>
        </p:txBody>
      </p:sp>
      <p:sp>
        <p:nvSpPr>
          <p:cNvPr id="21" name="TextBox 20"/>
          <p:cNvSpPr txBox="1"/>
          <p:nvPr/>
        </p:nvSpPr>
        <p:spPr>
          <a:xfrm>
            <a:off x="8366759" y="5166359"/>
            <a:ext cx="3291839" cy="274320"/>
          </a:xfrm>
          <a:prstGeom prst="rect">
            <a:avLst/>
          </a:prstGeom>
          <a:noFill/>
        </p:spPr>
        <p:txBody>
          <a:bodyPr wrap="square" lIns="0" rIns="0" tIns="0" bIns="0" anchor="t">
            <a:spAutoFit/>
          </a:bodyPr>
          <a:lstStyle/>
          <a:p>
            <a:pPr algn="l">
              <a:lnSpc>
                <a:spcPct val="110000"/>
              </a:lnSpc>
              <a:spcBef>
                <a:spcPts val="0"/>
              </a:spcBef>
              <a:spcAft>
                <a:spcPts val="0"/>
              </a:spcAft>
            </a:pPr>
            <a:r>
              <a:rPr sz="700" b="0" i="1">
                <a:solidFill>
                  <a:srgbClr val="95A5A6"/>
                </a:solidFill>
                <a:latin typeface="Helvetica Neue"/>
              </a:rPr>
              <a:t>Source: Interview_Application_Champions.md (Michael Dubois, Andrew McGibbon)</a:t>
            </a:r>
          </a:p>
        </p:txBody>
      </p:sp>
      <p:sp>
        <p:nvSpPr>
          <p:cNvPr id="22" name="Rectangle 21"/>
          <p:cNvSpPr/>
          <p:nvPr/>
        </p:nvSpPr>
        <p:spPr>
          <a:xfrm>
            <a:off x="457200" y="5989320"/>
            <a:ext cx="112745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The confluence of growth pressure, leadership consolidation, and capacity saturation makes this the structural reset moment — not an incremental improvement cycle</a:t>
            </a:r>
          </a:p>
        </p:txBody>
      </p:sp>
      <p:sp>
        <p:nvSpPr>
          <p:cNvPr id="24" name="TextBox 23"/>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Context &amp; Why Now  |  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Findings are grounded in multiple stakeholder inputs, a validated org chart and the Avangrid Excel baseline — every claim traces to a source</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5303520" cy="32004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INPUTS GROUNDING THIS REPORT</a:t>
            </a:r>
          </a:p>
        </p:txBody>
      </p:sp>
      <p:sp>
        <p:nvSpPr>
          <p:cNvPr id="5" name="Rectangle 4"/>
          <p:cNvSpPr/>
          <p:nvPr/>
        </p:nvSpPr>
        <p:spPr>
          <a:xfrm>
            <a:off x="457200" y="1691640"/>
            <a:ext cx="73152" cy="8229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521208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Champion inputs by area</a:t>
            </a:r>
          </a:p>
        </p:txBody>
      </p:sp>
      <p:sp>
        <p:nvSpPr>
          <p:cNvPr id="7" name="TextBox 6"/>
          <p:cNvSpPr txBox="1"/>
          <p:nvPr/>
        </p:nvSpPr>
        <p:spPr>
          <a:xfrm>
            <a:off x="640080" y="1920240"/>
            <a:ext cx="5212080" cy="64008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5 champions representing GIS (George Porto), Corporate (Amit Patel), G&amp;E (Andrew McGibbon), Global SAP (Michael Dubois) and Smart Metering (Iram Chowdhury) — scope and pain points per area.</a:t>
            </a:r>
          </a:p>
        </p:txBody>
      </p:sp>
      <p:sp>
        <p:nvSpPr>
          <p:cNvPr id="8" name="Rectangle 7"/>
          <p:cNvSpPr/>
          <p:nvPr/>
        </p:nvSpPr>
        <p:spPr>
          <a:xfrm>
            <a:off x="457200" y="2606040"/>
            <a:ext cx="73152" cy="8229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606040"/>
            <a:ext cx="521208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Director-level inputs</a:t>
            </a:r>
          </a:p>
        </p:txBody>
      </p:sp>
      <p:sp>
        <p:nvSpPr>
          <p:cNvPr id="10" name="TextBox 9"/>
          <p:cNvSpPr txBox="1"/>
          <p:nvPr/>
        </p:nvSpPr>
        <p:spPr>
          <a:xfrm>
            <a:off x="640080" y="2834640"/>
            <a:ext cx="5212080" cy="64008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Carlos Garbin (Applications) — expectations and structural opportunity. Kumar Jaladanki + Stephanie (Customer Services + business-side) — Travis PMO / BRS / IT-funded split, governance forums.</a:t>
            </a:r>
          </a:p>
        </p:txBody>
      </p:sp>
      <p:sp>
        <p:nvSpPr>
          <p:cNvPr id="11" name="Rectangle 10"/>
          <p:cNvSpPr/>
          <p:nvPr/>
        </p:nvSpPr>
        <p:spPr>
          <a:xfrm>
            <a:off x="457200" y="3520440"/>
            <a:ext cx="73152" cy="8229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521208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Validated Miro org chart</a:t>
            </a:r>
          </a:p>
        </p:txBody>
      </p:sp>
      <p:sp>
        <p:nvSpPr>
          <p:cNvPr id="13" name="TextBox 12"/>
          <p:cNvSpPr txBox="1"/>
          <p:nvPr/>
        </p:nvSpPr>
        <p:spPr>
          <a:xfrm>
            <a:off x="640080" y="3749039"/>
            <a:ext cx="5212080" cy="64008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Signed-off organizational structure — 2 directors, 9 sub-teams, ~50 FTE. Single source of truth for Digital Products team composition and reporting lines.</a:t>
            </a:r>
          </a:p>
        </p:txBody>
      </p:sp>
      <p:sp>
        <p:nvSpPr>
          <p:cNvPr id="14" name="Rectangle 13"/>
          <p:cNvSpPr/>
          <p:nvPr/>
        </p:nvSpPr>
        <p:spPr>
          <a:xfrm>
            <a:off x="457200" y="4434840"/>
            <a:ext cx="73152" cy="8229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434840"/>
            <a:ext cx="521208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Avangrid Excel baseline</a:t>
            </a:r>
          </a:p>
        </p:txBody>
      </p:sp>
      <p:sp>
        <p:nvSpPr>
          <p:cNvPr id="16" name="TextBox 15"/>
          <p:cNvSpPr txBox="1"/>
          <p:nvPr/>
        </p:nvSpPr>
        <p:spPr>
          <a:xfrm>
            <a:off x="640080" y="4663440"/>
            <a:ext cx="5212080" cy="64008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AS-IS Demand × Portfolio canvas per team + TO-BE template. Captures prioritization criteria (strategic / operational urgency / regulatory / size).</a:t>
            </a:r>
          </a:p>
        </p:txBody>
      </p:sp>
      <p:sp>
        <p:nvSpPr>
          <p:cNvPr id="17" name="TextBox 16"/>
          <p:cNvSpPr txBox="1"/>
          <p:nvPr/>
        </p:nvSpPr>
        <p:spPr>
          <a:xfrm>
            <a:off x="6263640" y="1371600"/>
            <a:ext cx="5486400" cy="32004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MECE DISCIPLINE</a:t>
            </a:r>
          </a:p>
        </p:txBody>
      </p:sp>
      <p:sp>
        <p:nvSpPr>
          <p:cNvPr id="18" name="Rectangle 17"/>
          <p:cNvSpPr/>
          <p:nvPr/>
        </p:nvSpPr>
        <p:spPr>
          <a:xfrm>
            <a:off x="6263640" y="1691640"/>
            <a:ext cx="73152" cy="7772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691640"/>
            <a:ext cx="530352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No claim without source</a:t>
            </a:r>
          </a:p>
        </p:txBody>
      </p:sp>
      <p:sp>
        <p:nvSpPr>
          <p:cNvPr id="20" name="TextBox 19"/>
          <p:cNvSpPr txBox="1"/>
          <p:nvPr/>
        </p:nvSpPr>
        <p:spPr>
          <a:xfrm>
            <a:off x="6446520" y="1920240"/>
            <a:ext cx="5303520" cy="54864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Every finding traces to a specific source document, KB section, or validated artifact. Unmeasured metrics flagged as open rather than fabricated.</a:t>
            </a:r>
          </a:p>
        </p:txBody>
      </p:sp>
      <p:sp>
        <p:nvSpPr>
          <p:cNvPr id="21" name="Rectangle 20"/>
          <p:cNvSpPr/>
          <p:nvPr/>
        </p:nvSpPr>
        <p:spPr>
          <a:xfrm>
            <a:off x="6263640" y="2606040"/>
            <a:ext cx="73152" cy="7772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2606040"/>
            <a:ext cx="530352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MECE decomposition</a:t>
            </a:r>
          </a:p>
        </p:txBody>
      </p:sp>
      <p:sp>
        <p:nvSpPr>
          <p:cNvPr id="23" name="TextBox 22"/>
          <p:cNvSpPr txBox="1"/>
          <p:nvPr/>
        </p:nvSpPr>
        <p:spPr>
          <a:xfrm>
            <a:off x="6446520" y="2834640"/>
            <a:ext cx="5303520" cy="54864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The 4-bottleneck map is Mutually Exclusive. The 7 structural issues are Collectively Exhaustive across demand lifecycle dimensions.</a:t>
            </a:r>
          </a:p>
        </p:txBody>
      </p:sp>
      <p:sp>
        <p:nvSpPr>
          <p:cNvPr id="24" name="Rectangle 23"/>
          <p:cNvSpPr/>
          <p:nvPr/>
        </p:nvSpPr>
        <p:spPr>
          <a:xfrm>
            <a:off x="6263640" y="3520440"/>
            <a:ext cx="73152" cy="7772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520440"/>
            <a:ext cx="530352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Separation of facts and interpretation</a:t>
            </a:r>
          </a:p>
        </p:txBody>
      </p:sp>
      <p:sp>
        <p:nvSpPr>
          <p:cNvPr id="26" name="TextBox 25"/>
          <p:cNvSpPr txBox="1"/>
          <p:nvPr/>
        </p:nvSpPr>
        <p:spPr>
          <a:xfrm>
            <a:off x="6446520" y="3749039"/>
            <a:ext cx="5303520" cy="54864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Quotes are verbatim. Action titles state conclusions. Evidence blocks sit inside drill-down slides — reader can re-litigate any claim.</a:t>
            </a:r>
          </a:p>
        </p:txBody>
      </p:sp>
      <p:sp>
        <p:nvSpPr>
          <p:cNvPr id="27" name="Rectangle 26"/>
          <p:cNvSpPr/>
          <p:nvPr/>
        </p:nvSpPr>
        <p:spPr>
          <a:xfrm>
            <a:off x="6263640" y="4434840"/>
            <a:ext cx="73152" cy="7772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434840"/>
            <a:ext cx="530352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Coverage transparency</a:t>
            </a:r>
          </a:p>
        </p:txBody>
      </p:sp>
      <p:sp>
        <p:nvSpPr>
          <p:cNvPr id="29" name="TextBox 28"/>
          <p:cNvSpPr txBox="1"/>
          <p:nvPr/>
        </p:nvSpPr>
        <p:spPr>
          <a:xfrm>
            <a:off x="6446520" y="4663440"/>
            <a:ext cx="5303520" cy="54864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5 of 9 sub-teams have a designated area champion. 2 sub-teams pending input + 2 org vacancies flagged on the org chart.</a:t>
            </a:r>
          </a:p>
        </p:txBody>
      </p:sp>
      <p:sp>
        <p:nvSpPr>
          <p:cNvPr id="30" name="Rectangle 29"/>
          <p:cNvSpPr/>
          <p:nvPr/>
        </p:nvSpPr>
        <p:spPr>
          <a:xfrm>
            <a:off x="457200" y="5989320"/>
            <a:ext cx="112745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The Baseline is a source-grounded synthesis, not a rollup of opinions — findings are testable and traceable to specific artifacts</a:t>
            </a:r>
          </a:p>
        </p:txBody>
      </p:sp>
      <p:sp>
        <p:nvSpPr>
          <p:cNvPr id="32" name="TextBox 31"/>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Methodology  |  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Digital Products spans two director branches (~50 FTE) across nine sub-teams — with two Sr. Manager positions currently vacant</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1325880"/>
            <a:ext cx="2103120"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1325880"/>
            <a:ext cx="2103120" cy="502920"/>
          </a:xfrm>
          <a:prstGeom prst="rect">
            <a:avLst/>
          </a:prstGeom>
          <a:noFill/>
        </p:spPr>
        <p:txBody>
          <a:bodyPr wrap="square" lIns="0" rIns="0" tIns="0" bIns="0" anchor="ctr">
            <a:spAutoFit/>
          </a:bodyPr>
          <a:lstStyle/>
          <a:p>
            <a:pPr algn="ctr">
              <a:lnSpc>
                <a:spcPct val="110000"/>
              </a:lnSpc>
              <a:spcBef>
                <a:spcPts val="0"/>
              </a:spcBef>
              <a:spcAft>
                <a:spcPts val="0"/>
              </a:spcAft>
            </a:pPr>
            <a:r>
              <a:rPr sz="900" b="1" i="0">
                <a:solidFill>
                  <a:srgbClr val="FFFFFF"/>
                </a:solidFill>
                <a:latin typeface="Helvetica Neue"/>
              </a:rPr>
              <a:t>Vitor Cruz</a:t>
            </a:r>
          </a:p>
          <a:p>
            <a:pPr algn="ctr">
              <a:lnSpc>
                <a:spcPct val="110000"/>
              </a:lnSpc>
              <a:spcBef>
                <a:spcPts val="0"/>
              </a:spcBef>
              <a:spcAft>
                <a:spcPts val="0"/>
              </a:spcAft>
            </a:pPr>
            <a:r>
              <a:rPr sz="900" b="1" i="0">
                <a:solidFill>
                  <a:srgbClr val="FFFFFF"/>
                </a:solidFill>
                <a:latin typeface="Helvetica Neue"/>
              </a:rPr>
              <a:t>VP — IT Business Solutions Delivery</a:t>
            </a:r>
          </a:p>
        </p:txBody>
      </p:sp>
      <p:sp>
        <p:nvSpPr>
          <p:cNvPr id="6" name="Rectangle 5"/>
          <p:cNvSpPr/>
          <p:nvPr/>
        </p:nvSpPr>
        <p:spPr>
          <a:xfrm>
            <a:off x="1371600" y="2103120"/>
            <a:ext cx="4846320" cy="5029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103120"/>
            <a:ext cx="4846320" cy="502920"/>
          </a:xfrm>
          <a:prstGeom prst="rect">
            <a:avLst/>
          </a:prstGeom>
          <a:noFill/>
        </p:spPr>
        <p:txBody>
          <a:bodyPr wrap="square" lIns="0" rIns="0" tIns="0" bIns="0" anchor="ctr">
            <a:spAutoFit/>
          </a:bodyPr>
          <a:lstStyle/>
          <a:p>
            <a:pPr algn="ctr">
              <a:lnSpc>
                <a:spcPct val="110000"/>
              </a:lnSpc>
              <a:spcBef>
                <a:spcPts val="0"/>
              </a:spcBef>
              <a:spcAft>
                <a:spcPts val="0"/>
              </a:spcAft>
            </a:pPr>
            <a:r>
              <a:rPr sz="1000" b="1" i="0">
                <a:solidFill>
                  <a:srgbClr val="FFFFFF"/>
                </a:solidFill>
                <a:latin typeface="Helvetica Neue"/>
              </a:rPr>
              <a:t>Carlos Garbin  —  Director IT Business Applications  (~26 FTE)</a:t>
            </a:r>
          </a:p>
        </p:txBody>
      </p:sp>
      <p:sp>
        <p:nvSpPr>
          <p:cNvPr id="8" name="Rectangle 7"/>
          <p:cNvSpPr/>
          <p:nvPr/>
        </p:nvSpPr>
        <p:spPr>
          <a:xfrm>
            <a:off x="6309360" y="2103120"/>
            <a:ext cx="4846320" cy="5029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2103120"/>
            <a:ext cx="4846320" cy="502920"/>
          </a:xfrm>
          <a:prstGeom prst="rect">
            <a:avLst/>
          </a:prstGeom>
          <a:noFill/>
        </p:spPr>
        <p:txBody>
          <a:bodyPr wrap="square" lIns="0" rIns="0" tIns="0" bIns="0" anchor="ctr">
            <a:spAutoFit/>
          </a:bodyPr>
          <a:lstStyle/>
          <a:p>
            <a:pPr algn="ctr">
              <a:lnSpc>
                <a:spcPct val="110000"/>
              </a:lnSpc>
              <a:spcBef>
                <a:spcPts val="0"/>
              </a:spcBef>
              <a:spcAft>
                <a:spcPts val="0"/>
              </a:spcAft>
            </a:pPr>
            <a:r>
              <a:rPr sz="1000" b="1" i="0">
                <a:solidFill>
                  <a:srgbClr val="FFFFFF"/>
                </a:solidFill>
                <a:latin typeface="Helvetica Neue"/>
              </a:rPr>
              <a:t>Kumar Jaladanki  —  Director Customer Services Apps  (~24 FTE)</a:t>
            </a:r>
          </a:p>
        </p:txBody>
      </p:sp>
      <p:sp>
        <p:nvSpPr>
          <p:cNvPr id="10" name="Rectangle 9"/>
          <p:cNvSpPr/>
          <p:nvPr/>
        </p:nvSpPr>
        <p:spPr>
          <a:xfrm>
            <a:off x="1371600" y="2788920"/>
            <a:ext cx="10972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508760" y="2788920"/>
            <a:ext cx="4709160" cy="5029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2807208"/>
            <a:ext cx="2651760" cy="27432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C50"/>
                </a:solidFill>
                <a:latin typeface="Helvetica Neue"/>
              </a:rPr>
              <a:t>Bruno Moreto</a:t>
            </a:r>
          </a:p>
        </p:txBody>
      </p:sp>
      <p:sp>
        <p:nvSpPr>
          <p:cNvPr id="13" name="TextBox 12"/>
          <p:cNvSpPr txBox="1"/>
          <p:nvPr/>
        </p:nvSpPr>
        <p:spPr>
          <a:xfrm>
            <a:off x="1600200" y="3044952"/>
            <a:ext cx="2651760" cy="256032"/>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Electric &amp; Gas Ops</a:t>
            </a:r>
          </a:p>
        </p:txBody>
      </p:sp>
      <p:sp>
        <p:nvSpPr>
          <p:cNvPr id="14" name="Rounded Rectangle 13"/>
          <p:cNvSpPr/>
          <p:nvPr/>
        </p:nvSpPr>
        <p:spPr>
          <a:xfrm>
            <a:off x="3840480" y="2898648"/>
            <a:ext cx="54864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0" y="2898648"/>
            <a:ext cx="548640" cy="274320"/>
          </a:xfrm>
          <a:prstGeom prst="rect">
            <a:avLst/>
          </a:prstGeom>
          <a:noFill/>
        </p:spPr>
        <p:txBody>
          <a:bodyPr wrap="square" lIns="0" rIns="0" tIns="0" bIns="0" anchor="ctr">
            <a:spAutoFit/>
          </a:bodyPr>
          <a:lstStyle/>
          <a:p>
            <a:pPr algn="ctr">
              <a:lnSpc>
                <a:spcPct val="110000"/>
              </a:lnSpc>
              <a:spcBef>
                <a:spcPts val="0"/>
              </a:spcBef>
              <a:spcAft>
                <a:spcPts val="0"/>
              </a:spcAft>
            </a:pPr>
            <a:r>
              <a:rPr sz="800" b="1" i="0">
                <a:solidFill>
                  <a:srgbClr val="FFFFFF"/>
                </a:solidFill>
                <a:latin typeface="Helvetica Neue"/>
              </a:rPr>
              <a:t>7 FTE</a:t>
            </a:r>
          </a:p>
        </p:txBody>
      </p:sp>
      <p:sp>
        <p:nvSpPr>
          <p:cNvPr id="16" name="TextBox 15"/>
          <p:cNvSpPr txBox="1"/>
          <p:nvPr/>
        </p:nvSpPr>
        <p:spPr>
          <a:xfrm>
            <a:off x="4526280" y="2807208"/>
            <a:ext cx="1645920" cy="50292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0F1C50"/>
                </a:solidFill>
                <a:latin typeface="Helvetica Neue"/>
              </a:rPr>
              <a:t>G&amp;E Champion: Andrew McGibbon</a:t>
            </a:r>
          </a:p>
        </p:txBody>
      </p:sp>
      <p:sp>
        <p:nvSpPr>
          <p:cNvPr id="17" name="Rectangle 16"/>
          <p:cNvSpPr/>
          <p:nvPr/>
        </p:nvSpPr>
        <p:spPr>
          <a:xfrm>
            <a:off x="1371600" y="3355848"/>
            <a:ext cx="10972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8760" y="3355848"/>
            <a:ext cx="4709160" cy="5029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374136"/>
            <a:ext cx="2651760" cy="27432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C50"/>
                </a:solidFill>
                <a:latin typeface="Helvetica Neue"/>
              </a:rPr>
              <a:t>George Porto</a:t>
            </a:r>
          </a:p>
        </p:txBody>
      </p:sp>
      <p:sp>
        <p:nvSpPr>
          <p:cNvPr id="20" name="TextBox 19"/>
          <p:cNvSpPr txBox="1"/>
          <p:nvPr/>
        </p:nvSpPr>
        <p:spPr>
          <a:xfrm>
            <a:off x="1600200" y="3611880"/>
            <a:ext cx="2651760" cy="256032"/>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GIS &amp; OSG</a:t>
            </a:r>
          </a:p>
        </p:txBody>
      </p:sp>
      <p:sp>
        <p:nvSpPr>
          <p:cNvPr id="21" name="Rounded Rectangle 20"/>
          <p:cNvSpPr/>
          <p:nvPr/>
        </p:nvSpPr>
        <p:spPr>
          <a:xfrm>
            <a:off x="3840480" y="3465576"/>
            <a:ext cx="54864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0" y="3465576"/>
            <a:ext cx="548640" cy="274320"/>
          </a:xfrm>
          <a:prstGeom prst="rect">
            <a:avLst/>
          </a:prstGeom>
          <a:noFill/>
        </p:spPr>
        <p:txBody>
          <a:bodyPr wrap="square" lIns="0" rIns="0" tIns="0" bIns="0" anchor="ctr">
            <a:spAutoFit/>
          </a:bodyPr>
          <a:lstStyle/>
          <a:p>
            <a:pPr algn="ctr">
              <a:lnSpc>
                <a:spcPct val="110000"/>
              </a:lnSpc>
              <a:spcBef>
                <a:spcPts val="0"/>
              </a:spcBef>
              <a:spcAft>
                <a:spcPts val="0"/>
              </a:spcAft>
            </a:pPr>
            <a:r>
              <a:rPr sz="800" b="1" i="0">
                <a:solidFill>
                  <a:srgbClr val="FFFFFF"/>
                </a:solidFill>
                <a:latin typeface="Helvetica Neue"/>
              </a:rPr>
              <a:t>6 FTE</a:t>
            </a:r>
          </a:p>
        </p:txBody>
      </p:sp>
      <p:sp>
        <p:nvSpPr>
          <p:cNvPr id="23" name="TextBox 22"/>
          <p:cNvSpPr txBox="1"/>
          <p:nvPr/>
        </p:nvSpPr>
        <p:spPr>
          <a:xfrm>
            <a:off x="4526280" y="3374136"/>
            <a:ext cx="1645920" cy="50292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0F1C50"/>
                </a:solidFill>
                <a:latin typeface="Helvetica Neue"/>
              </a:rPr>
              <a:t>GIS Champion: George Porto</a:t>
            </a:r>
          </a:p>
        </p:txBody>
      </p:sp>
      <p:sp>
        <p:nvSpPr>
          <p:cNvPr id="24" name="Rectangle 23"/>
          <p:cNvSpPr/>
          <p:nvPr/>
        </p:nvSpPr>
        <p:spPr>
          <a:xfrm>
            <a:off x="1371600" y="3922776"/>
            <a:ext cx="10972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08760" y="3922776"/>
            <a:ext cx="4709160" cy="5029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00200" y="3941063"/>
            <a:ext cx="2651760" cy="27432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C50"/>
                </a:solidFill>
                <a:latin typeface="Helvetica Neue"/>
              </a:rPr>
              <a:t>Sarath Garikapati</a:t>
            </a:r>
          </a:p>
        </p:txBody>
      </p:sp>
      <p:sp>
        <p:nvSpPr>
          <p:cNvPr id="27" name="TextBox 26"/>
          <p:cNvSpPr txBox="1"/>
          <p:nvPr/>
        </p:nvSpPr>
        <p:spPr>
          <a:xfrm>
            <a:off x="1600200" y="4178808"/>
            <a:ext cx="2651760" cy="256032"/>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Corporate Applications</a:t>
            </a:r>
          </a:p>
        </p:txBody>
      </p:sp>
      <p:sp>
        <p:nvSpPr>
          <p:cNvPr id="28" name="Rounded Rectangle 27"/>
          <p:cNvSpPr/>
          <p:nvPr/>
        </p:nvSpPr>
        <p:spPr>
          <a:xfrm>
            <a:off x="3840480" y="4032504"/>
            <a:ext cx="54864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0" y="4032504"/>
            <a:ext cx="548640" cy="274320"/>
          </a:xfrm>
          <a:prstGeom prst="rect">
            <a:avLst/>
          </a:prstGeom>
          <a:noFill/>
        </p:spPr>
        <p:txBody>
          <a:bodyPr wrap="square" lIns="0" rIns="0" tIns="0" bIns="0" anchor="ctr">
            <a:spAutoFit/>
          </a:bodyPr>
          <a:lstStyle/>
          <a:p>
            <a:pPr algn="ctr">
              <a:lnSpc>
                <a:spcPct val="110000"/>
              </a:lnSpc>
              <a:spcBef>
                <a:spcPts val="0"/>
              </a:spcBef>
              <a:spcAft>
                <a:spcPts val="0"/>
              </a:spcAft>
            </a:pPr>
            <a:r>
              <a:rPr sz="800" b="1" i="0">
                <a:solidFill>
                  <a:srgbClr val="FFFFFF"/>
                </a:solidFill>
                <a:latin typeface="Helvetica Neue"/>
              </a:rPr>
              <a:t>8 FTE</a:t>
            </a:r>
          </a:p>
        </p:txBody>
      </p:sp>
      <p:sp>
        <p:nvSpPr>
          <p:cNvPr id="30" name="TextBox 29"/>
          <p:cNvSpPr txBox="1"/>
          <p:nvPr/>
        </p:nvSpPr>
        <p:spPr>
          <a:xfrm>
            <a:off x="4526280" y="3941063"/>
            <a:ext cx="1645920" cy="50292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0F1C50"/>
                </a:solidFill>
                <a:latin typeface="Helvetica Neue"/>
              </a:rPr>
              <a:t>Corporate Champion: Amit Patel</a:t>
            </a:r>
          </a:p>
        </p:txBody>
      </p:sp>
      <p:sp>
        <p:nvSpPr>
          <p:cNvPr id="31" name="Rectangle 30"/>
          <p:cNvSpPr/>
          <p:nvPr/>
        </p:nvSpPr>
        <p:spPr>
          <a:xfrm>
            <a:off x="1371600" y="4489704"/>
            <a:ext cx="10972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508760" y="4489704"/>
            <a:ext cx="4709160" cy="5029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00200" y="4507992"/>
            <a:ext cx="2651760" cy="27432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C50"/>
                </a:solidFill>
                <a:latin typeface="Helvetica Neue"/>
              </a:rPr>
              <a:t>Vanessa Colombo</a:t>
            </a:r>
          </a:p>
        </p:txBody>
      </p:sp>
      <p:sp>
        <p:nvSpPr>
          <p:cNvPr id="34" name="TextBox 33"/>
          <p:cNvSpPr txBox="1"/>
          <p:nvPr/>
        </p:nvSpPr>
        <p:spPr>
          <a:xfrm>
            <a:off x="1600200" y="4745736"/>
            <a:ext cx="2651760" cy="256032"/>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Global SAP — Iberdrola (Spain)</a:t>
            </a:r>
          </a:p>
        </p:txBody>
      </p:sp>
      <p:sp>
        <p:nvSpPr>
          <p:cNvPr id="35" name="Rounded Rectangle 34"/>
          <p:cNvSpPr/>
          <p:nvPr/>
        </p:nvSpPr>
        <p:spPr>
          <a:xfrm>
            <a:off x="3840480" y="4599432"/>
            <a:ext cx="54864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40480" y="4599432"/>
            <a:ext cx="548640" cy="274320"/>
          </a:xfrm>
          <a:prstGeom prst="rect">
            <a:avLst/>
          </a:prstGeom>
          <a:noFill/>
        </p:spPr>
        <p:txBody>
          <a:bodyPr wrap="square" lIns="0" rIns="0" tIns="0" bIns="0" anchor="ctr">
            <a:spAutoFit/>
          </a:bodyPr>
          <a:lstStyle/>
          <a:p>
            <a:pPr algn="ctr">
              <a:lnSpc>
                <a:spcPct val="110000"/>
              </a:lnSpc>
              <a:spcBef>
                <a:spcPts val="0"/>
              </a:spcBef>
              <a:spcAft>
                <a:spcPts val="0"/>
              </a:spcAft>
            </a:pPr>
            <a:r>
              <a:rPr sz="800" b="1" i="0">
                <a:solidFill>
                  <a:srgbClr val="FFFFFF"/>
                </a:solidFill>
                <a:latin typeface="Helvetica Neue"/>
              </a:rPr>
              <a:t>5 FTE</a:t>
            </a:r>
          </a:p>
        </p:txBody>
      </p:sp>
      <p:sp>
        <p:nvSpPr>
          <p:cNvPr id="37" name="TextBox 36"/>
          <p:cNvSpPr txBox="1"/>
          <p:nvPr/>
        </p:nvSpPr>
        <p:spPr>
          <a:xfrm>
            <a:off x="4526280" y="4507992"/>
            <a:ext cx="1645920" cy="50292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0F1C50"/>
                </a:solidFill>
                <a:latin typeface="Helvetica Neue"/>
              </a:rPr>
              <a:t>Global SAP Champion: Michael Dubois</a:t>
            </a:r>
          </a:p>
        </p:txBody>
      </p:sp>
      <p:sp>
        <p:nvSpPr>
          <p:cNvPr id="38" name="Rectangle 37"/>
          <p:cNvSpPr/>
          <p:nvPr/>
        </p:nvSpPr>
        <p:spPr>
          <a:xfrm>
            <a:off x="6309360" y="2788920"/>
            <a:ext cx="109728" cy="4572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28232" y="2788920"/>
            <a:ext cx="4709160"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19672" y="2807208"/>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C50"/>
                </a:solidFill>
                <a:latin typeface="Helvetica Neue"/>
              </a:rPr>
              <a:t>Ivelisse Velazquez</a:t>
            </a:r>
          </a:p>
        </p:txBody>
      </p:sp>
      <p:sp>
        <p:nvSpPr>
          <p:cNvPr id="41" name="TextBox 40"/>
          <p:cNvSpPr txBox="1"/>
          <p:nvPr/>
        </p:nvSpPr>
        <p:spPr>
          <a:xfrm>
            <a:off x="6519672" y="3017520"/>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700" b="0" i="0">
                <a:solidFill>
                  <a:srgbClr val="2C3E50"/>
                </a:solidFill>
                <a:latin typeface="Helvetica Neue"/>
              </a:rPr>
              <a:t>FICA, Billing &amp; Collection</a:t>
            </a:r>
          </a:p>
        </p:txBody>
      </p:sp>
      <p:sp>
        <p:nvSpPr>
          <p:cNvPr id="42" name="Rounded Rectangle 41"/>
          <p:cNvSpPr/>
          <p:nvPr/>
        </p:nvSpPr>
        <p:spPr>
          <a:xfrm>
            <a:off x="8732520" y="2880360"/>
            <a:ext cx="502920" cy="25603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32520" y="2880360"/>
            <a:ext cx="502920" cy="256032"/>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8 FTE</a:t>
            </a:r>
          </a:p>
        </p:txBody>
      </p:sp>
      <p:sp>
        <p:nvSpPr>
          <p:cNvPr id="44" name="TextBox 43"/>
          <p:cNvSpPr txBox="1"/>
          <p:nvPr/>
        </p:nvSpPr>
        <p:spPr>
          <a:xfrm>
            <a:off x="9326880" y="2807208"/>
            <a:ext cx="1783080" cy="457200"/>
          </a:xfrm>
          <a:prstGeom prst="rect">
            <a:avLst/>
          </a:prstGeom>
          <a:noFill/>
        </p:spPr>
        <p:txBody>
          <a:bodyPr wrap="square" lIns="0" rIns="0" tIns="0" bIns="0" anchor="ctr">
            <a:spAutoFit/>
          </a:bodyPr>
          <a:lstStyle/>
          <a:p>
            <a:pPr algn="l">
              <a:lnSpc>
                <a:spcPct val="110000"/>
              </a:lnSpc>
              <a:spcBef>
                <a:spcPts val="0"/>
              </a:spcBef>
              <a:spcAft>
                <a:spcPts val="0"/>
              </a:spcAft>
            </a:pPr>
            <a:r>
              <a:rPr sz="700" b="0" i="1">
                <a:solidFill>
                  <a:srgbClr val="6785C1"/>
                </a:solidFill>
                <a:latin typeface="Helvetica Neue"/>
              </a:rPr>
              <a:t>Scope: Customer billing operations</a:t>
            </a:r>
          </a:p>
        </p:txBody>
      </p:sp>
      <p:sp>
        <p:nvSpPr>
          <p:cNvPr id="45" name="Rectangle 44"/>
          <p:cNvSpPr/>
          <p:nvPr/>
        </p:nvSpPr>
        <p:spPr>
          <a:xfrm>
            <a:off x="6309360" y="3300984"/>
            <a:ext cx="109728" cy="45720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28232" y="3300984"/>
            <a:ext cx="4709160"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19672" y="3319272"/>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C50"/>
                </a:solidFill>
                <a:latin typeface="Helvetica Neue"/>
              </a:rPr>
              <a:t>TBD (vacant)</a:t>
            </a:r>
          </a:p>
        </p:txBody>
      </p:sp>
      <p:sp>
        <p:nvSpPr>
          <p:cNvPr id="48" name="TextBox 47"/>
          <p:cNvSpPr txBox="1"/>
          <p:nvPr/>
        </p:nvSpPr>
        <p:spPr>
          <a:xfrm>
            <a:off x="6519672" y="3529584"/>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700" b="0" i="0">
                <a:solidFill>
                  <a:srgbClr val="2C3E50"/>
                </a:solidFill>
                <a:latin typeface="Helvetica Neue"/>
              </a:rPr>
              <a:t>CRM &amp; Contact Center Ops</a:t>
            </a:r>
          </a:p>
        </p:txBody>
      </p:sp>
      <p:sp>
        <p:nvSpPr>
          <p:cNvPr id="49" name="Rounded Rectangle 48"/>
          <p:cNvSpPr/>
          <p:nvPr/>
        </p:nvSpPr>
        <p:spPr>
          <a:xfrm>
            <a:off x="8732520" y="3392424"/>
            <a:ext cx="502920" cy="25603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32520" y="3392424"/>
            <a:ext cx="502920" cy="256032"/>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4 FTE</a:t>
            </a:r>
          </a:p>
        </p:txBody>
      </p:sp>
      <p:sp>
        <p:nvSpPr>
          <p:cNvPr id="51" name="TextBox 50"/>
          <p:cNvSpPr txBox="1"/>
          <p:nvPr/>
        </p:nvSpPr>
        <p:spPr>
          <a:xfrm>
            <a:off x="9326880" y="3319272"/>
            <a:ext cx="1783080" cy="457200"/>
          </a:xfrm>
          <a:prstGeom prst="rect">
            <a:avLst/>
          </a:prstGeom>
          <a:noFill/>
        </p:spPr>
        <p:txBody>
          <a:bodyPr wrap="square" lIns="0" rIns="0" tIns="0" bIns="0" anchor="ctr">
            <a:spAutoFit/>
          </a:bodyPr>
          <a:lstStyle/>
          <a:p>
            <a:pPr algn="l">
              <a:lnSpc>
                <a:spcPct val="110000"/>
              </a:lnSpc>
              <a:spcBef>
                <a:spcPts val="0"/>
              </a:spcBef>
              <a:spcAft>
                <a:spcPts val="0"/>
              </a:spcAft>
            </a:pPr>
            <a:r>
              <a:rPr sz="700" b="0" i="1">
                <a:solidFill>
                  <a:srgbClr val="BC4328"/>
                </a:solidFill>
                <a:latin typeface="Helvetica Neue"/>
              </a:rPr>
              <a:t>Org vacancy</a:t>
            </a:r>
          </a:p>
        </p:txBody>
      </p:sp>
      <p:sp>
        <p:nvSpPr>
          <p:cNvPr id="52" name="Rectangle 51"/>
          <p:cNvSpPr/>
          <p:nvPr/>
        </p:nvSpPr>
        <p:spPr>
          <a:xfrm>
            <a:off x="6309360" y="3813048"/>
            <a:ext cx="109728"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28232" y="3813048"/>
            <a:ext cx="4709160"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19672" y="3831335"/>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C50"/>
                </a:solidFill>
                <a:latin typeface="Helvetica Neue"/>
              </a:rPr>
              <a:t>Vincent Lam</a:t>
            </a:r>
          </a:p>
        </p:txBody>
      </p:sp>
      <p:sp>
        <p:nvSpPr>
          <p:cNvPr id="55" name="TextBox 54"/>
          <p:cNvSpPr txBox="1"/>
          <p:nvPr/>
        </p:nvSpPr>
        <p:spPr>
          <a:xfrm>
            <a:off x="6519672" y="4041648"/>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700" b="0" i="0">
                <a:solidFill>
                  <a:srgbClr val="2C3E50"/>
                </a:solidFill>
                <a:latin typeface="Helvetica Neue"/>
              </a:rPr>
              <a:t>Device &amp; Metering (Avangrid)</a:t>
            </a:r>
          </a:p>
        </p:txBody>
      </p:sp>
      <p:sp>
        <p:nvSpPr>
          <p:cNvPr id="56" name="Rounded Rectangle 55"/>
          <p:cNvSpPr/>
          <p:nvPr/>
        </p:nvSpPr>
        <p:spPr>
          <a:xfrm>
            <a:off x="8732520" y="3904487"/>
            <a:ext cx="502920" cy="25603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32520" y="3904487"/>
            <a:ext cx="502920" cy="256032"/>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8 FTE</a:t>
            </a:r>
          </a:p>
        </p:txBody>
      </p:sp>
      <p:sp>
        <p:nvSpPr>
          <p:cNvPr id="58" name="TextBox 57"/>
          <p:cNvSpPr txBox="1"/>
          <p:nvPr/>
        </p:nvSpPr>
        <p:spPr>
          <a:xfrm>
            <a:off x="9326880" y="3831335"/>
            <a:ext cx="1783080" cy="457200"/>
          </a:xfrm>
          <a:prstGeom prst="rect">
            <a:avLst/>
          </a:prstGeom>
          <a:noFill/>
        </p:spPr>
        <p:txBody>
          <a:bodyPr wrap="square" lIns="0" rIns="0" tIns="0" bIns="0" anchor="ctr">
            <a:spAutoFit/>
          </a:bodyPr>
          <a:lstStyle/>
          <a:p>
            <a:pPr algn="l">
              <a:lnSpc>
                <a:spcPct val="110000"/>
              </a:lnSpc>
              <a:spcBef>
                <a:spcPts val="0"/>
              </a:spcBef>
              <a:spcAft>
                <a:spcPts val="0"/>
              </a:spcAft>
            </a:pPr>
            <a:r>
              <a:rPr sz="700" b="0" i="1">
                <a:solidFill>
                  <a:srgbClr val="2E7D32"/>
                </a:solidFill>
                <a:latin typeface="Helvetica Neue"/>
              </a:rPr>
              <a:t>Smart Metering Champion: Iram Chowdhury</a:t>
            </a:r>
          </a:p>
        </p:txBody>
      </p:sp>
      <p:sp>
        <p:nvSpPr>
          <p:cNvPr id="59" name="Rectangle 58"/>
          <p:cNvSpPr/>
          <p:nvPr/>
        </p:nvSpPr>
        <p:spPr>
          <a:xfrm>
            <a:off x="6309360" y="4325112"/>
            <a:ext cx="109728" cy="45720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428232" y="4325112"/>
            <a:ext cx="4709160"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19672" y="4343400"/>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C50"/>
                </a:solidFill>
                <a:latin typeface="Helvetica Neue"/>
              </a:rPr>
              <a:t>Open (vacant)</a:t>
            </a:r>
          </a:p>
        </p:txBody>
      </p:sp>
      <p:sp>
        <p:nvSpPr>
          <p:cNvPr id="62" name="TextBox 61"/>
          <p:cNvSpPr txBox="1"/>
          <p:nvPr/>
        </p:nvSpPr>
        <p:spPr>
          <a:xfrm>
            <a:off x="6519672" y="4553712"/>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700" b="0" i="0">
                <a:solidFill>
                  <a:srgbClr val="2C3E50"/>
                </a:solidFill>
                <a:latin typeface="Helvetica Neue"/>
              </a:rPr>
              <a:t>SAP &amp; CS Architecture</a:t>
            </a:r>
          </a:p>
        </p:txBody>
      </p:sp>
      <p:sp>
        <p:nvSpPr>
          <p:cNvPr id="63" name="Rounded Rectangle 62"/>
          <p:cNvSpPr/>
          <p:nvPr/>
        </p:nvSpPr>
        <p:spPr>
          <a:xfrm>
            <a:off x="8732520" y="4416552"/>
            <a:ext cx="502920" cy="25603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732520" y="4416552"/>
            <a:ext cx="502920" cy="256032"/>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2 FTE</a:t>
            </a:r>
          </a:p>
        </p:txBody>
      </p:sp>
      <p:sp>
        <p:nvSpPr>
          <p:cNvPr id="65" name="TextBox 64"/>
          <p:cNvSpPr txBox="1"/>
          <p:nvPr/>
        </p:nvSpPr>
        <p:spPr>
          <a:xfrm>
            <a:off x="9326880" y="4343400"/>
            <a:ext cx="1783080" cy="457200"/>
          </a:xfrm>
          <a:prstGeom prst="rect">
            <a:avLst/>
          </a:prstGeom>
          <a:noFill/>
        </p:spPr>
        <p:txBody>
          <a:bodyPr wrap="square" lIns="0" rIns="0" tIns="0" bIns="0" anchor="ctr">
            <a:spAutoFit/>
          </a:bodyPr>
          <a:lstStyle/>
          <a:p>
            <a:pPr algn="l">
              <a:lnSpc>
                <a:spcPct val="110000"/>
              </a:lnSpc>
              <a:spcBef>
                <a:spcPts val="0"/>
              </a:spcBef>
              <a:spcAft>
                <a:spcPts val="0"/>
              </a:spcAft>
            </a:pPr>
            <a:r>
              <a:rPr sz="700" b="0" i="1">
                <a:solidFill>
                  <a:srgbClr val="BC4328"/>
                </a:solidFill>
                <a:latin typeface="Helvetica Neue"/>
              </a:rPr>
              <a:t>Org vacancy</a:t>
            </a:r>
          </a:p>
        </p:txBody>
      </p:sp>
      <p:sp>
        <p:nvSpPr>
          <p:cNvPr id="66" name="Rectangle 65"/>
          <p:cNvSpPr/>
          <p:nvPr/>
        </p:nvSpPr>
        <p:spPr>
          <a:xfrm>
            <a:off x="6309360" y="4837176"/>
            <a:ext cx="109728" cy="4572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428232" y="4837176"/>
            <a:ext cx="4709160"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19672" y="4855464"/>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0F1C50"/>
                </a:solidFill>
                <a:latin typeface="Helvetica Neue"/>
              </a:rPr>
              <a:t>Nagi Reddy</a:t>
            </a:r>
          </a:p>
        </p:txBody>
      </p:sp>
      <p:sp>
        <p:nvSpPr>
          <p:cNvPr id="69" name="TextBox 68"/>
          <p:cNvSpPr txBox="1"/>
          <p:nvPr/>
        </p:nvSpPr>
        <p:spPr>
          <a:xfrm>
            <a:off x="6519672" y="5065776"/>
            <a:ext cx="2286000" cy="228600"/>
          </a:xfrm>
          <a:prstGeom prst="rect">
            <a:avLst/>
          </a:prstGeom>
          <a:noFill/>
        </p:spPr>
        <p:txBody>
          <a:bodyPr wrap="square" lIns="0" rIns="0" tIns="0" bIns="0" anchor="t">
            <a:spAutoFit/>
          </a:bodyPr>
          <a:lstStyle/>
          <a:p>
            <a:pPr algn="l">
              <a:lnSpc>
                <a:spcPct val="110000"/>
              </a:lnSpc>
              <a:spcBef>
                <a:spcPts val="0"/>
              </a:spcBef>
              <a:spcAft>
                <a:spcPts val="0"/>
              </a:spcAft>
            </a:pPr>
            <a:r>
              <a:rPr sz="700" b="0" i="0">
                <a:solidFill>
                  <a:srgbClr val="2C3E50"/>
                </a:solidFill>
                <a:latin typeface="Helvetica Neue"/>
              </a:rPr>
              <a:t>SAP Basis</a:t>
            </a:r>
          </a:p>
        </p:txBody>
      </p:sp>
      <p:sp>
        <p:nvSpPr>
          <p:cNvPr id="70" name="Rounded Rectangle 69"/>
          <p:cNvSpPr/>
          <p:nvPr/>
        </p:nvSpPr>
        <p:spPr>
          <a:xfrm>
            <a:off x="8732520" y="4928616"/>
            <a:ext cx="502920" cy="25603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732520" y="4928616"/>
            <a:ext cx="502920" cy="256032"/>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2 FTE</a:t>
            </a:r>
          </a:p>
        </p:txBody>
      </p:sp>
      <p:sp>
        <p:nvSpPr>
          <p:cNvPr id="72" name="TextBox 71"/>
          <p:cNvSpPr txBox="1"/>
          <p:nvPr/>
        </p:nvSpPr>
        <p:spPr>
          <a:xfrm>
            <a:off x="9326880" y="4855464"/>
            <a:ext cx="1783080" cy="457200"/>
          </a:xfrm>
          <a:prstGeom prst="rect">
            <a:avLst/>
          </a:prstGeom>
          <a:noFill/>
        </p:spPr>
        <p:txBody>
          <a:bodyPr wrap="square" lIns="0" rIns="0" tIns="0" bIns="0" anchor="ctr">
            <a:spAutoFit/>
          </a:bodyPr>
          <a:lstStyle/>
          <a:p>
            <a:pPr algn="l">
              <a:lnSpc>
                <a:spcPct val="110000"/>
              </a:lnSpc>
              <a:spcBef>
                <a:spcPts val="0"/>
              </a:spcBef>
              <a:spcAft>
                <a:spcPts val="0"/>
              </a:spcAft>
            </a:pPr>
            <a:r>
              <a:rPr sz="700" b="0" i="1">
                <a:solidFill>
                  <a:srgbClr val="6785C1"/>
                </a:solidFill>
                <a:latin typeface="Helvetica Neue"/>
              </a:rPr>
              <a:t>Scope: Platform / infrastructure</a:t>
            </a:r>
          </a:p>
        </p:txBody>
      </p:sp>
      <p:sp>
        <p:nvSpPr>
          <p:cNvPr id="73" name="Rectangle 72"/>
          <p:cNvSpPr/>
          <p:nvPr/>
        </p:nvSpPr>
        <p:spPr>
          <a:xfrm>
            <a:off x="457200" y="5623560"/>
            <a:ext cx="228600" cy="228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77240" y="5605272"/>
            <a:ext cx="320040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2C3E50"/>
                </a:solidFill>
                <a:latin typeface="Helvetica Neue"/>
              </a:rPr>
              <a:t>Area champion identified (5)</a:t>
            </a:r>
          </a:p>
        </p:txBody>
      </p:sp>
      <p:sp>
        <p:nvSpPr>
          <p:cNvPr id="75" name="Rectangle 74"/>
          <p:cNvSpPr/>
          <p:nvPr/>
        </p:nvSpPr>
        <p:spPr>
          <a:xfrm>
            <a:off x="4114800" y="5623560"/>
            <a:ext cx="228600"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434840" y="5605272"/>
            <a:ext cx="347472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2C3E50"/>
                </a:solidFill>
                <a:latin typeface="Helvetica Neue"/>
              </a:rPr>
              <a:t>Operational scope documented (2)</a:t>
            </a:r>
          </a:p>
        </p:txBody>
      </p:sp>
      <p:sp>
        <p:nvSpPr>
          <p:cNvPr id="77" name="Rectangle 76"/>
          <p:cNvSpPr/>
          <p:nvPr/>
        </p:nvSpPr>
        <p:spPr>
          <a:xfrm>
            <a:off x="8046720" y="5623560"/>
            <a:ext cx="228600" cy="22860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366760" y="5605272"/>
            <a:ext cx="3657600" cy="274320"/>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2C3E50"/>
                </a:solidFill>
                <a:latin typeface="Helvetica Neue"/>
              </a:rPr>
              <a:t>Org vacancy — leadership gap (2)</a:t>
            </a:r>
          </a:p>
        </p:txBody>
      </p:sp>
      <p:sp>
        <p:nvSpPr>
          <p:cNvPr id="79" name="Rectangle 78"/>
          <p:cNvSpPr/>
          <p:nvPr/>
        </p:nvSpPr>
        <p:spPr>
          <a:xfrm>
            <a:off x="457200" y="5989320"/>
            <a:ext cx="112745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Two Sr. Manager vacancies (CRM &amp; Contact Center Ops, SAP &amp; CS Architecture) leave Customer Services running at 60% leadership coverage — a structural risk the TOM must address</a:t>
            </a:r>
          </a:p>
        </p:txBody>
      </p:sp>
      <p:sp>
        <p:nvSpPr>
          <p:cNvPr id="81" name="TextBox 80"/>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Org Landscape  |  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Across both director branches, Digital Products runs 6+ disconnected intake channels — no two teams share the same demand flow</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2286000" cy="182880"/>
          </a:xfrm>
          <a:prstGeom prst="rect">
            <a:avLst/>
          </a:prstGeom>
          <a:noFill/>
        </p:spPr>
        <p:txBody>
          <a:bodyPr wrap="square" lIns="0" rIns="0" tIns="0" bIns="0" anchor="t">
            <a:spAutoFit/>
          </a:bodyPr>
          <a:lstStyle/>
          <a:p>
            <a:pPr algn="l">
              <a:lnSpc>
                <a:spcPct val="110000"/>
              </a:lnSpc>
              <a:spcBef>
                <a:spcPts val="0"/>
              </a:spcBef>
              <a:spcAft>
                <a:spcPts val="0"/>
              </a:spcAft>
            </a:pPr>
            <a:r>
              <a:rPr sz="800" b="1" i="0">
                <a:solidFill>
                  <a:srgbClr val="6785C1"/>
                </a:solidFill>
                <a:latin typeface="Helvetica Neue"/>
              </a:rPr>
              <a:t>APPLICATIONS — Carlos Garbin</a:t>
            </a:r>
          </a:p>
        </p:txBody>
      </p:sp>
      <p:sp>
        <p:nvSpPr>
          <p:cNvPr id="5" name="Rectangle 4"/>
          <p:cNvSpPr/>
          <p:nvPr/>
        </p:nvSpPr>
        <p:spPr>
          <a:xfrm>
            <a:off x="2011680" y="1417320"/>
            <a:ext cx="19019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1444752"/>
            <a:ext cx="1901952" cy="246888"/>
          </a:xfrm>
          <a:prstGeom prst="rect">
            <a:avLst/>
          </a:prstGeom>
          <a:noFill/>
        </p:spPr>
        <p:txBody>
          <a:bodyPr wrap="square" lIns="0" rIns="0" tIns="0" bIns="0" anchor="t">
            <a:spAutoFit/>
          </a:bodyPr>
          <a:lstStyle/>
          <a:p>
            <a:pPr algn="ctr">
              <a:lnSpc>
                <a:spcPct val="110000"/>
              </a:lnSpc>
              <a:spcBef>
                <a:spcPts val="0"/>
              </a:spcBef>
              <a:spcAft>
                <a:spcPts val="0"/>
              </a:spcAft>
            </a:pPr>
            <a:r>
              <a:rPr sz="900" b="1" i="0">
                <a:solidFill>
                  <a:srgbClr val="FFFFFF"/>
                </a:solidFill>
                <a:latin typeface="Helvetica Neue"/>
              </a:rPr>
              <a:t>01 INTAKE</a:t>
            </a:r>
          </a:p>
        </p:txBody>
      </p:sp>
      <p:sp>
        <p:nvSpPr>
          <p:cNvPr id="7" name="TextBox 6"/>
          <p:cNvSpPr txBox="1"/>
          <p:nvPr/>
        </p:nvSpPr>
        <p:spPr>
          <a:xfrm>
            <a:off x="2011680" y="1673352"/>
            <a:ext cx="1901952" cy="219456"/>
          </a:xfrm>
          <a:prstGeom prst="rect">
            <a:avLst/>
          </a:prstGeom>
          <a:noFill/>
        </p:spPr>
        <p:txBody>
          <a:bodyPr wrap="square" lIns="0" rIns="0" tIns="0" bIns="0" anchor="t">
            <a:spAutoFit/>
          </a:bodyPr>
          <a:lstStyle/>
          <a:p>
            <a:pPr algn="ctr">
              <a:lnSpc>
                <a:spcPct val="110000"/>
              </a:lnSpc>
              <a:spcBef>
                <a:spcPts val="0"/>
              </a:spcBef>
              <a:spcAft>
                <a:spcPts val="0"/>
              </a:spcAft>
            </a:pPr>
            <a:r>
              <a:rPr sz="700" b="0" i="0">
                <a:solidFill>
                  <a:srgbClr val="FFFFFF"/>
                </a:solidFill>
                <a:latin typeface="Helvetica Neue"/>
              </a:rPr>
              <a:t>Channels &amp; Sources</a:t>
            </a:r>
          </a:p>
        </p:txBody>
      </p:sp>
      <p:sp>
        <p:nvSpPr>
          <p:cNvPr id="8" name="Right Arrow 7"/>
          <p:cNvSpPr/>
          <p:nvPr/>
        </p:nvSpPr>
        <p:spPr>
          <a:xfrm>
            <a:off x="3904488" y="1613916"/>
            <a:ext cx="137160" cy="109728"/>
          </a:xfrm>
          <a:prstGeom prst="rightArrow">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59352" y="1417320"/>
            <a:ext cx="19019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59352" y="1444752"/>
            <a:ext cx="1901952" cy="246888"/>
          </a:xfrm>
          <a:prstGeom prst="rect">
            <a:avLst/>
          </a:prstGeom>
          <a:noFill/>
        </p:spPr>
        <p:txBody>
          <a:bodyPr wrap="square" lIns="0" rIns="0" tIns="0" bIns="0" anchor="t">
            <a:spAutoFit/>
          </a:bodyPr>
          <a:lstStyle/>
          <a:p>
            <a:pPr algn="ctr">
              <a:lnSpc>
                <a:spcPct val="110000"/>
              </a:lnSpc>
              <a:spcBef>
                <a:spcPts val="0"/>
              </a:spcBef>
              <a:spcAft>
                <a:spcPts val="0"/>
              </a:spcAft>
            </a:pPr>
            <a:r>
              <a:rPr sz="900" b="1" i="0">
                <a:solidFill>
                  <a:srgbClr val="FFFFFF"/>
                </a:solidFill>
                <a:latin typeface="Helvetica Neue"/>
              </a:rPr>
              <a:t>02 CLASSIFICATION</a:t>
            </a:r>
          </a:p>
        </p:txBody>
      </p:sp>
      <p:sp>
        <p:nvSpPr>
          <p:cNvPr id="11" name="TextBox 10"/>
          <p:cNvSpPr txBox="1"/>
          <p:nvPr/>
        </p:nvSpPr>
        <p:spPr>
          <a:xfrm>
            <a:off x="3959352" y="1673352"/>
            <a:ext cx="1901952" cy="219456"/>
          </a:xfrm>
          <a:prstGeom prst="rect">
            <a:avLst/>
          </a:prstGeom>
          <a:noFill/>
        </p:spPr>
        <p:txBody>
          <a:bodyPr wrap="square" lIns="0" rIns="0" tIns="0" bIns="0" anchor="t">
            <a:spAutoFit/>
          </a:bodyPr>
          <a:lstStyle/>
          <a:p>
            <a:pPr algn="ctr">
              <a:lnSpc>
                <a:spcPct val="110000"/>
              </a:lnSpc>
              <a:spcBef>
                <a:spcPts val="0"/>
              </a:spcBef>
              <a:spcAft>
                <a:spcPts val="0"/>
              </a:spcAft>
            </a:pPr>
            <a:r>
              <a:rPr sz="700" b="0" i="0">
                <a:solidFill>
                  <a:srgbClr val="FFFFFF"/>
                </a:solidFill>
                <a:latin typeface="Helvetica Neue"/>
              </a:rPr>
              <a:t>Type, Size, Urgency</a:t>
            </a:r>
          </a:p>
        </p:txBody>
      </p:sp>
      <p:sp>
        <p:nvSpPr>
          <p:cNvPr id="12" name="Right Arrow 11"/>
          <p:cNvSpPr/>
          <p:nvPr/>
        </p:nvSpPr>
        <p:spPr>
          <a:xfrm>
            <a:off x="5852160" y="1613916"/>
            <a:ext cx="137160" cy="109728"/>
          </a:xfrm>
          <a:prstGeom prst="rightArrow">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07024" y="1417320"/>
            <a:ext cx="19019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07024" y="1444752"/>
            <a:ext cx="1901952" cy="246888"/>
          </a:xfrm>
          <a:prstGeom prst="rect">
            <a:avLst/>
          </a:prstGeom>
          <a:noFill/>
        </p:spPr>
        <p:txBody>
          <a:bodyPr wrap="square" lIns="0" rIns="0" tIns="0" bIns="0" anchor="t">
            <a:spAutoFit/>
          </a:bodyPr>
          <a:lstStyle/>
          <a:p>
            <a:pPr algn="ctr">
              <a:lnSpc>
                <a:spcPct val="110000"/>
              </a:lnSpc>
              <a:spcBef>
                <a:spcPts val="0"/>
              </a:spcBef>
              <a:spcAft>
                <a:spcPts val="0"/>
              </a:spcAft>
            </a:pPr>
            <a:r>
              <a:rPr sz="900" b="1" i="0">
                <a:solidFill>
                  <a:srgbClr val="FFFFFF"/>
                </a:solidFill>
                <a:latin typeface="Helvetica Neue"/>
              </a:rPr>
              <a:t>03 PRIORITIZATION</a:t>
            </a:r>
          </a:p>
        </p:txBody>
      </p:sp>
      <p:sp>
        <p:nvSpPr>
          <p:cNvPr id="15" name="TextBox 14"/>
          <p:cNvSpPr txBox="1"/>
          <p:nvPr/>
        </p:nvSpPr>
        <p:spPr>
          <a:xfrm>
            <a:off x="5907024" y="1673352"/>
            <a:ext cx="1901952" cy="219456"/>
          </a:xfrm>
          <a:prstGeom prst="rect">
            <a:avLst/>
          </a:prstGeom>
          <a:noFill/>
        </p:spPr>
        <p:txBody>
          <a:bodyPr wrap="square" lIns="0" rIns="0" tIns="0" bIns="0" anchor="t">
            <a:spAutoFit/>
          </a:bodyPr>
          <a:lstStyle/>
          <a:p>
            <a:pPr algn="ctr">
              <a:lnSpc>
                <a:spcPct val="110000"/>
              </a:lnSpc>
              <a:spcBef>
                <a:spcPts val="0"/>
              </a:spcBef>
              <a:spcAft>
                <a:spcPts val="0"/>
              </a:spcAft>
            </a:pPr>
            <a:r>
              <a:rPr sz="700" b="0" i="0">
                <a:solidFill>
                  <a:srgbClr val="FFFFFF"/>
                </a:solidFill>
                <a:latin typeface="Helvetica Neue"/>
              </a:rPr>
              <a:t>Scoring &amp; Criteria</a:t>
            </a:r>
          </a:p>
        </p:txBody>
      </p:sp>
      <p:sp>
        <p:nvSpPr>
          <p:cNvPr id="16" name="Right Arrow 15"/>
          <p:cNvSpPr/>
          <p:nvPr/>
        </p:nvSpPr>
        <p:spPr>
          <a:xfrm>
            <a:off x="7799831" y="1613916"/>
            <a:ext cx="137160" cy="109728"/>
          </a:xfrm>
          <a:prstGeom prst="rightArrow">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54696" y="1417320"/>
            <a:ext cx="19019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54696" y="1444752"/>
            <a:ext cx="1901952" cy="246888"/>
          </a:xfrm>
          <a:prstGeom prst="rect">
            <a:avLst/>
          </a:prstGeom>
          <a:noFill/>
        </p:spPr>
        <p:txBody>
          <a:bodyPr wrap="square" lIns="0" rIns="0" tIns="0" bIns="0" anchor="t">
            <a:spAutoFit/>
          </a:bodyPr>
          <a:lstStyle/>
          <a:p>
            <a:pPr algn="ctr">
              <a:lnSpc>
                <a:spcPct val="110000"/>
              </a:lnSpc>
              <a:spcBef>
                <a:spcPts val="0"/>
              </a:spcBef>
              <a:spcAft>
                <a:spcPts val="0"/>
              </a:spcAft>
            </a:pPr>
            <a:r>
              <a:rPr sz="900" b="1" i="0">
                <a:solidFill>
                  <a:srgbClr val="FFFFFF"/>
                </a:solidFill>
                <a:latin typeface="Helvetica Neue"/>
              </a:rPr>
              <a:t>04 PORTFOLIO</a:t>
            </a:r>
          </a:p>
        </p:txBody>
      </p:sp>
      <p:sp>
        <p:nvSpPr>
          <p:cNvPr id="19" name="TextBox 18"/>
          <p:cNvSpPr txBox="1"/>
          <p:nvPr/>
        </p:nvSpPr>
        <p:spPr>
          <a:xfrm>
            <a:off x="7854696" y="1673352"/>
            <a:ext cx="1901952" cy="219456"/>
          </a:xfrm>
          <a:prstGeom prst="rect">
            <a:avLst/>
          </a:prstGeom>
          <a:noFill/>
        </p:spPr>
        <p:txBody>
          <a:bodyPr wrap="square" lIns="0" rIns="0" tIns="0" bIns="0" anchor="t">
            <a:spAutoFit/>
          </a:bodyPr>
          <a:lstStyle/>
          <a:p>
            <a:pPr algn="ctr">
              <a:lnSpc>
                <a:spcPct val="110000"/>
              </a:lnSpc>
              <a:spcBef>
                <a:spcPts val="0"/>
              </a:spcBef>
              <a:spcAft>
                <a:spcPts val="0"/>
              </a:spcAft>
            </a:pPr>
            <a:r>
              <a:rPr sz="700" b="0" i="0">
                <a:solidFill>
                  <a:srgbClr val="FFFFFF"/>
                </a:solidFill>
                <a:latin typeface="Helvetica Neue"/>
              </a:rPr>
              <a:t>Governance &amp; Decision</a:t>
            </a:r>
          </a:p>
        </p:txBody>
      </p:sp>
      <p:sp>
        <p:nvSpPr>
          <p:cNvPr id="20" name="Right Arrow 19"/>
          <p:cNvSpPr/>
          <p:nvPr/>
        </p:nvSpPr>
        <p:spPr>
          <a:xfrm>
            <a:off x="9747503" y="1613916"/>
            <a:ext cx="137160" cy="109728"/>
          </a:xfrm>
          <a:prstGeom prst="rightArrow">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802367" y="1417320"/>
            <a:ext cx="19019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02367" y="1444752"/>
            <a:ext cx="1901952" cy="246888"/>
          </a:xfrm>
          <a:prstGeom prst="rect">
            <a:avLst/>
          </a:prstGeom>
          <a:noFill/>
        </p:spPr>
        <p:txBody>
          <a:bodyPr wrap="square" lIns="0" rIns="0" tIns="0" bIns="0" anchor="t">
            <a:spAutoFit/>
          </a:bodyPr>
          <a:lstStyle/>
          <a:p>
            <a:pPr algn="ctr">
              <a:lnSpc>
                <a:spcPct val="110000"/>
              </a:lnSpc>
              <a:spcBef>
                <a:spcPts val="0"/>
              </a:spcBef>
              <a:spcAft>
                <a:spcPts val="0"/>
              </a:spcAft>
            </a:pPr>
            <a:r>
              <a:rPr sz="900" b="1" i="0">
                <a:solidFill>
                  <a:srgbClr val="FFFFFF"/>
                </a:solidFill>
                <a:latin typeface="Helvetica Neue"/>
              </a:rPr>
              <a:t>05 DELIVERY</a:t>
            </a:r>
          </a:p>
        </p:txBody>
      </p:sp>
      <p:sp>
        <p:nvSpPr>
          <p:cNvPr id="23" name="TextBox 22"/>
          <p:cNvSpPr txBox="1"/>
          <p:nvPr/>
        </p:nvSpPr>
        <p:spPr>
          <a:xfrm>
            <a:off x="9802367" y="1673352"/>
            <a:ext cx="1901952" cy="219456"/>
          </a:xfrm>
          <a:prstGeom prst="rect">
            <a:avLst/>
          </a:prstGeom>
          <a:noFill/>
        </p:spPr>
        <p:txBody>
          <a:bodyPr wrap="square" lIns="0" rIns="0" tIns="0" bIns="0" anchor="t">
            <a:spAutoFit/>
          </a:bodyPr>
          <a:lstStyle/>
          <a:p>
            <a:pPr algn="ctr">
              <a:lnSpc>
                <a:spcPct val="110000"/>
              </a:lnSpc>
              <a:spcBef>
                <a:spcPts val="0"/>
              </a:spcBef>
              <a:spcAft>
                <a:spcPts val="0"/>
              </a:spcAft>
            </a:pPr>
            <a:r>
              <a:rPr sz="700" b="0" i="0">
                <a:solidFill>
                  <a:srgbClr val="FFFFFF"/>
                </a:solidFill>
                <a:latin typeface="Helvetica Neue"/>
              </a:rPr>
              <a:t>Execution &amp; Flow</a:t>
            </a:r>
          </a:p>
        </p:txBody>
      </p:sp>
      <p:sp>
        <p:nvSpPr>
          <p:cNvPr id="24" name="Rectangle 23"/>
          <p:cNvSpPr/>
          <p:nvPr/>
        </p:nvSpPr>
        <p:spPr>
          <a:xfrm>
            <a:off x="457200" y="1965960"/>
            <a:ext cx="150876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1965960"/>
            <a:ext cx="1508760" cy="548640"/>
          </a:xfrm>
          <a:prstGeom prst="rect">
            <a:avLst/>
          </a:prstGeom>
          <a:noFill/>
        </p:spPr>
        <p:txBody>
          <a:bodyPr wrap="square" lIns="0" rIns="0" tIns="0" bIns="0" anchor="ctr">
            <a:spAutoFit/>
          </a:bodyPr>
          <a:lstStyle/>
          <a:p>
            <a:pPr algn="ctr">
              <a:lnSpc>
                <a:spcPct val="110000"/>
              </a:lnSpc>
              <a:spcBef>
                <a:spcPts val="0"/>
              </a:spcBef>
              <a:spcAft>
                <a:spcPts val="0"/>
              </a:spcAft>
            </a:pPr>
            <a:r>
              <a:rPr sz="1000" b="1" i="0">
                <a:solidFill>
                  <a:srgbClr val="FFFFFF"/>
                </a:solidFill>
                <a:latin typeface="Helvetica Neue"/>
              </a:rPr>
              <a:t>GIS</a:t>
            </a:r>
          </a:p>
        </p:txBody>
      </p:sp>
      <p:sp>
        <p:nvSpPr>
          <p:cNvPr id="26" name="Rectangle 25"/>
          <p:cNvSpPr/>
          <p:nvPr/>
        </p:nvSpPr>
        <p:spPr>
          <a:xfrm>
            <a:off x="2011680" y="196596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084832" y="2039112"/>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86000" y="201167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Jira + Email + Mtgs + IT-Now</a:t>
            </a:r>
          </a:p>
        </p:txBody>
      </p:sp>
      <p:sp>
        <p:nvSpPr>
          <p:cNvPr id="29" name="Rectangle 28"/>
          <p:cNvSpPr/>
          <p:nvPr/>
        </p:nvSpPr>
        <p:spPr>
          <a:xfrm>
            <a:off x="3959352" y="196596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032504" y="2039112"/>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33672" y="201167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Small vs. PDD (yearly)</a:t>
            </a:r>
          </a:p>
        </p:txBody>
      </p:sp>
      <p:sp>
        <p:nvSpPr>
          <p:cNvPr id="32" name="Rectangle 31"/>
          <p:cNvSpPr/>
          <p:nvPr/>
        </p:nvSpPr>
        <p:spPr>
          <a:xfrm>
            <a:off x="5907024" y="196596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80176" y="2039112"/>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81344" y="201167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Business drives; P&amp;T face</a:t>
            </a:r>
          </a:p>
        </p:txBody>
      </p:sp>
      <p:sp>
        <p:nvSpPr>
          <p:cNvPr id="35" name="Rectangle 34"/>
          <p:cNvSpPr/>
          <p:nvPr/>
        </p:nvSpPr>
        <p:spPr>
          <a:xfrm>
            <a:off x="7854696" y="196596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27848" y="2039112"/>
            <a:ext cx="137160" cy="137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29016" y="201167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PDD approval</a:t>
            </a:r>
          </a:p>
        </p:txBody>
      </p:sp>
      <p:sp>
        <p:nvSpPr>
          <p:cNvPr id="38" name="Rectangle 37"/>
          <p:cNvSpPr/>
          <p:nvPr/>
        </p:nvSpPr>
        <p:spPr>
          <a:xfrm>
            <a:off x="9802367" y="196596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75519" y="2039112"/>
            <a:ext cx="137160" cy="137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76688" y="201167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Internal team + SWF</a:t>
            </a:r>
          </a:p>
        </p:txBody>
      </p:sp>
      <p:sp>
        <p:nvSpPr>
          <p:cNvPr id="41" name="Rectangle 40"/>
          <p:cNvSpPr/>
          <p:nvPr/>
        </p:nvSpPr>
        <p:spPr>
          <a:xfrm>
            <a:off x="457200" y="2587752"/>
            <a:ext cx="150876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2587752"/>
            <a:ext cx="1508760" cy="548640"/>
          </a:xfrm>
          <a:prstGeom prst="rect">
            <a:avLst/>
          </a:prstGeom>
          <a:noFill/>
        </p:spPr>
        <p:txBody>
          <a:bodyPr wrap="square" lIns="0" rIns="0" tIns="0" bIns="0" anchor="ctr">
            <a:spAutoFit/>
          </a:bodyPr>
          <a:lstStyle/>
          <a:p>
            <a:pPr algn="ctr">
              <a:lnSpc>
                <a:spcPct val="110000"/>
              </a:lnSpc>
              <a:spcBef>
                <a:spcPts val="0"/>
              </a:spcBef>
              <a:spcAft>
                <a:spcPts val="0"/>
              </a:spcAft>
            </a:pPr>
            <a:r>
              <a:rPr sz="1000" b="1" i="0">
                <a:solidFill>
                  <a:srgbClr val="FFFFFF"/>
                </a:solidFill>
                <a:latin typeface="Helvetica Neue"/>
              </a:rPr>
              <a:t>Corporate</a:t>
            </a:r>
          </a:p>
        </p:txBody>
      </p:sp>
      <p:sp>
        <p:nvSpPr>
          <p:cNvPr id="43" name="Rectangle 42"/>
          <p:cNvSpPr/>
          <p:nvPr/>
        </p:nvSpPr>
        <p:spPr>
          <a:xfrm>
            <a:off x="2011680" y="2587752"/>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084832" y="2660904"/>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86000" y="2633472"/>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Jira + Confluence + Word</a:t>
            </a:r>
          </a:p>
        </p:txBody>
      </p:sp>
      <p:sp>
        <p:nvSpPr>
          <p:cNvPr id="46" name="Rectangle 45"/>
          <p:cNvSpPr/>
          <p:nvPr/>
        </p:nvSpPr>
        <p:spPr>
          <a:xfrm>
            <a:off x="3959352" y="2587752"/>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032504" y="2660904"/>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33672" y="2633472"/>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PDD driver; overlap</a:t>
            </a:r>
          </a:p>
        </p:txBody>
      </p:sp>
      <p:sp>
        <p:nvSpPr>
          <p:cNvPr id="49" name="Rectangle 48"/>
          <p:cNvSpPr/>
          <p:nvPr/>
        </p:nvSpPr>
        <p:spPr>
          <a:xfrm>
            <a:off x="5907024" y="2587752"/>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980176" y="2660904"/>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1344" y="2633472"/>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PDD driver</a:t>
            </a:r>
          </a:p>
        </p:txBody>
      </p:sp>
      <p:sp>
        <p:nvSpPr>
          <p:cNvPr id="52" name="Rectangle 51"/>
          <p:cNvSpPr/>
          <p:nvPr/>
        </p:nvSpPr>
        <p:spPr>
          <a:xfrm>
            <a:off x="7854696" y="2587752"/>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927848" y="2660904"/>
            <a:ext cx="137160" cy="137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29016" y="2633472"/>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PDD approval</a:t>
            </a:r>
          </a:p>
        </p:txBody>
      </p:sp>
      <p:sp>
        <p:nvSpPr>
          <p:cNvPr id="55" name="Rectangle 54"/>
          <p:cNvSpPr/>
          <p:nvPr/>
        </p:nvSpPr>
        <p:spPr>
          <a:xfrm>
            <a:off x="9802367" y="2587752"/>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875519" y="2660904"/>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076688" y="2633472"/>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Internal + Vendor</a:t>
            </a:r>
          </a:p>
        </p:txBody>
      </p:sp>
      <p:sp>
        <p:nvSpPr>
          <p:cNvPr id="58" name="Rectangle 57"/>
          <p:cNvSpPr/>
          <p:nvPr/>
        </p:nvSpPr>
        <p:spPr>
          <a:xfrm>
            <a:off x="457200" y="3209544"/>
            <a:ext cx="150876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209544"/>
            <a:ext cx="1508760" cy="548640"/>
          </a:xfrm>
          <a:prstGeom prst="rect">
            <a:avLst/>
          </a:prstGeom>
          <a:noFill/>
        </p:spPr>
        <p:txBody>
          <a:bodyPr wrap="square" lIns="0" rIns="0" tIns="0" bIns="0" anchor="ctr">
            <a:spAutoFit/>
          </a:bodyPr>
          <a:lstStyle/>
          <a:p>
            <a:pPr algn="ctr">
              <a:lnSpc>
                <a:spcPct val="110000"/>
              </a:lnSpc>
              <a:spcBef>
                <a:spcPts val="0"/>
              </a:spcBef>
              <a:spcAft>
                <a:spcPts val="0"/>
              </a:spcAft>
            </a:pPr>
            <a:r>
              <a:rPr sz="1000" b="1" i="0">
                <a:solidFill>
                  <a:srgbClr val="FFFFFF"/>
                </a:solidFill>
                <a:latin typeface="Helvetica Neue"/>
              </a:rPr>
              <a:t>G&amp;E</a:t>
            </a:r>
          </a:p>
        </p:txBody>
      </p:sp>
      <p:sp>
        <p:nvSpPr>
          <p:cNvPr id="60" name="Rectangle 59"/>
          <p:cNvSpPr/>
          <p:nvPr/>
        </p:nvSpPr>
        <p:spPr>
          <a:xfrm>
            <a:off x="2011680" y="3209544"/>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084832" y="3282696"/>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286000" y="3255264"/>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Email only (biz/vendor)</a:t>
            </a:r>
          </a:p>
        </p:txBody>
      </p:sp>
      <p:sp>
        <p:nvSpPr>
          <p:cNvPr id="63" name="Rectangle 62"/>
          <p:cNvSpPr/>
          <p:nvPr/>
        </p:nvSpPr>
        <p:spPr>
          <a:xfrm>
            <a:off x="3959352" y="3209544"/>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032504" y="3282696"/>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233672" y="3255264"/>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Depends on demand nature</a:t>
            </a:r>
          </a:p>
        </p:txBody>
      </p:sp>
      <p:sp>
        <p:nvSpPr>
          <p:cNvPr id="66" name="Rectangle 65"/>
          <p:cNvSpPr/>
          <p:nvPr/>
        </p:nvSpPr>
        <p:spPr>
          <a:xfrm>
            <a:off x="5907024" y="3209544"/>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80176" y="3282696"/>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81344" y="3255264"/>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Operational = urgent</a:t>
            </a:r>
          </a:p>
        </p:txBody>
      </p:sp>
      <p:sp>
        <p:nvSpPr>
          <p:cNvPr id="69" name="Rectangle 68"/>
          <p:cNvSpPr/>
          <p:nvPr/>
        </p:nvSpPr>
        <p:spPr>
          <a:xfrm>
            <a:off x="7854696" y="3209544"/>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7927848" y="3282696"/>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29016" y="3255264"/>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Vendor sets timeline</a:t>
            </a:r>
          </a:p>
        </p:txBody>
      </p:sp>
      <p:sp>
        <p:nvSpPr>
          <p:cNvPr id="72" name="Rectangle 71"/>
          <p:cNvSpPr/>
          <p:nvPr/>
        </p:nvSpPr>
        <p:spPr>
          <a:xfrm>
            <a:off x="9802367" y="3209544"/>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875519" y="3282696"/>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076688" y="3255264"/>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Vendor</a:t>
            </a:r>
          </a:p>
        </p:txBody>
      </p:sp>
      <p:sp>
        <p:nvSpPr>
          <p:cNvPr id="75" name="Rectangle 74"/>
          <p:cNvSpPr/>
          <p:nvPr/>
        </p:nvSpPr>
        <p:spPr>
          <a:xfrm>
            <a:off x="457200" y="3831336"/>
            <a:ext cx="150876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7200" y="3831336"/>
            <a:ext cx="1508760" cy="548640"/>
          </a:xfrm>
          <a:prstGeom prst="rect">
            <a:avLst/>
          </a:prstGeom>
          <a:noFill/>
        </p:spPr>
        <p:txBody>
          <a:bodyPr wrap="square" lIns="0" rIns="0" tIns="0" bIns="0" anchor="ctr">
            <a:spAutoFit/>
          </a:bodyPr>
          <a:lstStyle/>
          <a:p>
            <a:pPr algn="ctr">
              <a:lnSpc>
                <a:spcPct val="110000"/>
              </a:lnSpc>
              <a:spcBef>
                <a:spcPts val="0"/>
              </a:spcBef>
              <a:spcAft>
                <a:spcPts val="0"/>
              </a:spcAft>
            </a:pPr>
            <a:r>
              <a:rPr sz="1000" b="1" i="0">
                <a:solidFill>
                  <a:srgbClr val="FFFFFF"/>
                </a:solidFill>
                <a:latin typeface="Helvetica Neue"/>
              </a:rPr>
              <a:t>Global SAP</a:t>
            </a:r>
          </a:p>
          <a:p>
            <a:pPr algn="ctr">
              <a:lnSpc>
                <a:spcPct val="110000"/>
              </a:lnSpc>
              <a:spcBef>
                <a:spcPts val="0"/>
              </a:spcBef>
              <a:spcAft>
                <a:spcPts val="0"/>
              </a:spcAft>
            </a:pPr>
            <a:r>
              <a:rPr sz="1000" b="1" i="0">
                <a:solidFill>
                  <a:srgbClr val="FFFFFF"/>
                </a:solidFill>
                <a:latin typeface="Helvetica Neue"/>
              </a:rPr>
              <a:t>(Iberdrola)</a:t>
            </a:r>
          </a:p>
        </p:txBody>
      </p:sp>
      <p:sp>
        <p:nvSpPr>
          <p:cNvPr id="77" name="Rectangle 76"/>
          <p:cNvSpPr/>
          <p:nvPr/>
        </p:nvSpPr>
        <p:spPr>
          <a:xfrm>
            <a:off x="2011680" y="3831336"/>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084832" y="3904488"/>
            <a:ext cx="137160" cy="137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286000" y="3877056"/>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IT Now + RITM + Jira + SP</a:t>
            </a:r>
          </a:p>
        </p:txBody>
      </p:sp>
      <p:sp>
        <p:nvSpPr>
          <p:cNvPr id="80" name="Rectangle 79"/>
          <p:cNvSpPr/>
          <p:nvPr/>
        </p:nvSpPr>
        <p:spPr>
          <a:xfrm>
            <a:off x="3959352" y="3831336"/>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032504" y="3904488"/>
            <a:ext cx="137160" cy="137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233672" y="3877056"/>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By type (4 channels)</a:t>
            </a:r>
          </a:p>
        </p:txBody>
      </p:sp>
      <p:sp>
        <p:nvSpPr>
          <p:cNvPr id="83" name="Rectangle 82"/>
          <p:cNvSpPr/>
          <p:nvPr/>
        </p:nvSpPr>
        <p:spPr>
          <a:xfrm>
            <a:off x="5907024" y="3831336"/>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980176" y="3904488"/>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81344" y="3877056"/>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Incidents first (P&amp;T)</a:t>
            </a:r>
          </a:p>
        </p:txBody>
      </p:sp>
      <p:sp>
        <p:nvSpPr>
          <p:cNvPr id="86" name="Rectangle 85"/>
          <p:cNvSpPr/>
          <p:nvPr/>
        </p:nvSpPr>
        <p:spPr>
          <a:xfrm>
            <a:off x="7854696" y="3831336"/>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7927848" y="3904488"/>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129016" y="3877056"/>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PDD / SharePoint</a:t>
            </a:r>
          </a:p>
        </p:txBody>
      </p:sp>
      <p:sp>
        <p:nvSpPr>
          <p:cNvPr id="89" name="Rectangle 88"/>
          <p:cNvSpPr/>
          <p:nvPr/>
        </p:nvSpPr>
        <p:spPr>
          <a:xfrm>
            <a:off x="9802367" y="3831336"/>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875519" y="3904488"/>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076688" y="3877056"/>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Accenture + SWF</a:t>
            </a:r>
          </a:p>
        </p:txBody>
      </p:sp>
      <p:sp>
        <p:nvSpPr>
          <p:cNvPr id="92" name="Rectangle 91"/>
          <p:cNvSpPr/>
          <p:nvPr/>
        </p:nvSpPr>
        <p:spPr>
          <a:xfrm>
            <a:off x="457200" y="4453128"/>
            <a:ext cx="11274552" cy="36576"/>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4507992"/>
            <a:ext cx="5943600" cy="182880"/>
          </a:xfrm>
          <a:prstGeom prst="rect">
            <a:avLst/>
          </a:prstGeom>
          <a:noFill/>
        </p:spPr>
        <p:txBody>
          <a:bodyPr wrap="square" lIns="0" rIns="0" tIns="0" bIns="0" anchor="t">
            <a:spAutoFit/>
          </a:bodyPr>
          <a:lstStyle/>
          <a:p>
            <a:pPr algn="l">
              <a:lnSpc>
                <a:spcPct val="110000"/>
              </a:lnSpc>
              <a:spcBef>
                <a:spcPts val="0"/>
              </a:spcBef>
              <a:spcAft>
                <a:spcPts val="0"/>
              </a:spcAft>
            </a:pPr>
            <a:r>
              <a:rPr sz="800" b="1" i="0">
                <a:solidFill>
                  <a:srgbClr val="0F1C50"/>
                </a:solidFill>
                <a:latin typeface="Helvetica Neue"/>
              </a:rPr>
              <a:t>CUSTOMER SERVICES / LOCAL SAP — Kumar Jaladanki</a:t>
            </a:r>
          </a:p>
        </p:txBody>
      </p:sp>
      <p:sp>
        <p:nvSpPr>
          <p:cNvPr id="94" name="Rectangle 93"/>
          <p:cNvSpPr/>
          <p:nvPr/>
        </p:nvSpPr>
        <p:spPr>
          <a:xfrm>
            <a:off x="457200" y="4727448"/>
            <a:ext cx="1508760" cy="5486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4727448"/>
            <a:ext cx="1508760" cy="548640"/>
          </a:xfrm>
          <a:prstGeom prst="rect">
            <a:avLst/>
          </a:prstGeom>
          <a:noFill/>
        </p:spPr>
        <p:txBody>
          <a:bodyPr wrap="square" lIns="0" rIns="0" tIns="0" bIns="0" anchor="ctr">
            <a:spAutoFit/>
          </a:bodyPr>
          <a:lstStyle/>
          <a:p>
            <a:pPr algn="ctr">
              <a:lnSpc>
                <a:spcPct val="110000"/>
              </a:lnSpc>
              <a:spcBef>
                <a:spcPts val="0"/>
              </a:spcBef>
              <a:spcAft>
                <a:spcPts val="0"/>
              </a:spcAft>
            </a:pPr>
            <a:r>
              <a:rPr sz="1000" b="1" i="0">
                <a:solidFill>
                  <a:srgbClr val="FFFFFF"/>
                </a:solidFill>
                <a:latin typeface="Helvetica Neue"/>
              </a:rPr>
              <a:t>Smart Metering</a:t>
            </a:r>
          </a:p>
          <a:p>
            <a:pPr algn="ctr">
              <a:lnSpc>
                <a:spcPct val="110000"/>
              </a:lnSpc>
              <a:spcBef>
                <a:spcPts val="0"/>
              </a:spcBef>
              <a:spcAft>
                <a:spcPts val="0"/>
              </a:spcAft>
            </a:pPr>
            <a:r>
              <a:rPr sz="1000" b="1" i="0">
                <a:solidFill>
                  <a:srgbClr val="FFFFFF"/>
                </a:solidFill>
                <a:latin typeface="Helvetica Neue"/>
              </a:rPr>
              <a:t>(Vincent)</a:t>
            </a:r>
          </a:p>
        </p:txBody>
      </p:sp>
      <p:sp>
        <p:nvSpPr>
          <p:cNvPr id="96" name="Rectangle 95"/>
          <p:cNvSpPr/>
          <p:nvPr/>
        </p:nvSpPr>
        <p:spPr>
          <a:xfrm>
            <a:off x="2011680" y="4727448"/>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084832" y="4800600"/>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286000" y="4773168"/>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Email (IT Now)</a:t>
            </a:r>
          </a:p>
        </p:txBody>
      </p:sp>
      <p:sp>
        <p:nvSpPr>
          <p:cNvPr id="99" name="Rectangle 98"/>
          <p:cNvSpPr/>
          <p:nvPr/>
        </p:nvSpPr>
        <p:spPr>
          <a:xfrm>
            <a:off x="3959352" y="4727448"/>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4032504" y="4800600"/>
            <a:ext cx="137160" cy="137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233672" y="4773168"/>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IT Now template</a:t>
            </a:r>
          </a:p>
        </p:txBody>
      </p:sp>
      <p:sp>
        <p:nvSpPr>
          <p:cNvPr id="102" name="Rectangle 101"/>
          <p:cNvSpPr/>
          <p:nvPr/>
        </p:nvSpPr>
        <p:spPr>
          <a:xfrm>
            <a:off x="5907024" y="4727448"/>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980176" y="4800600"/>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181344" y="4773168"/>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Criticality + deadline</a:t>
            </a:r>
          </a:p>
        </p:txBody>
      </p:sp>
      <p:sp>
        <p:nvSpPr>
          <p:cNvPr id="105" name="Rectangle 104"/>
          <p:cNvSpPr/>
          <p:nvPr/>
        </p:nvSpPr>
        <p:spPr>
          <a:xfrm>
            <a:off x="7854696" y="4727448"/>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927848" y="4800600"/>
            <a:ext cx="137160" cy="137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129016" y="4773168"/>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PPM Now + weekly mtg</a:t>
            </a:r>
          </a:p>
        </p:txBody>
      </p:sp>
      <p:sp>
        <p:nvSpPr>
          <p:cNvPr id="108" name="Rectangle 107"/>
          <p:cNvSpPr/>
          <p:nvPr/>
        </p:nvSpPr>
        <p:spPr>
          <a:xfrm>
            <a:off x="9802367" y="4727448"/>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875519" y="4800600"/>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076688" y="4773168"/>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Vendor (100%)</a:t>
            </a:r>
          </a:p>
        </p:txBody>
      </p:sp>
      <p:sp>
        <p:nvSpPr>
          <p:cNvPr id="111" name="Rectangle 110"/>
          <p:cNvSpPr/>
          <p:nvPr/>
        </p:nvSpPr>
        <p:spPr>
          <a:xfrm>
            <a:off x="457200" y="5349240"/>
            <a:ext cx="1508760" cy="5486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7200" y="5349240"/>
            <a:ext cx="1508760" cy="548640"/>
          </a:xfrm>
          <a:prstGeom prst="rect">
            <a:avLst/>
          </a:prstGeom>
          <a:noFill/>
        </p:spPr>
        <p:txBody>
          <a:bodyPr wrap="square" lIns="0" rIns="0" tIns="0" bIns="0" anchor="ctr">
            <a:spAutoFit/>
          </a:bodyPr>
          <a:lstStyle/>
          <a:p>
            <a:pPr algn="ctr">
              <a:lnSpc>
                <a:spcPct val="110000"/>
              </a:lnSpc>
              <a:spcBef>
                <a:spcPts val="0"/>
              </a:spcBef>
              <a:spcAft>
                <a:spcPts val="0"/>
              </a:spcAft>
            </a:pPr>
            <a:r>
              <a:rPr sz="1000" b="1" i="0">
                <a:solidFill>
                  <a:srgbClr val="FFFFFF"/>
                </a:solidFill>
                <a:latin typeface="Helvetica Neue"/>
              </a:rPr>
              <a:t>Customer Services</a:t>
            </a:r>
          </a:p>
          <a:p>
            <a:pPr algn="ctr">
              <a:lnSpc>
                <a:spcPct val="110000"/>
              </a:lnSpc>
              <a:spcBef>
                <a:spcPts val="0"/>
              </a:spcBef>
              <a:spcAft>
                <a:spcPts val="0"/>
              </a:spcAft>
            </a:pPr>
            <a:r>
              <a:rPr sz="1000" b="1" i="0">
                <a:solidFill>
                  <a:srgbClr val="FFFFFF"/>
                </a:solidFill>
                <a:latin typeface="Helvetica Neue"/>
              </a:rPr>
              <a:t>(Kumar, 4 teams TBC)</a:t>
            </a:r>
          </a:p>
        </p:txBody>
      </p:sp>
      <p:sp>
        <p:nvSpPr>
          <p:cNvPr id="113" name="Rectangle 112"/>
          <p:cNvSpPr/>
          <p:nvPr/>
        </p:nvSpPr>
        <p:spPr>
          <a:xfrm>
            <a:off x="2011680" y="534924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2084832" y="5422392"/>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286000" y="539495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Director-level only; 4 teams TBC</a:t>
            </a:r>
          </a:p>
        </p:txBody>
      </p:sp>
      <p:sp>
        <p:nvSpPr>
          <p:cNvPr id="116" name="Rectangle 115"/>
          <p:cNvSpPr/>
          <p:nvPr/>
        </p:nvSpPr>
        <p:spPr>
          <a:xfrm>
            <a:off x="3959352" y="534924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032504" y="5422392"/>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233672" y="539495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Travis PMO / BRS / IT-funded split</a:t>
            </a:r>
          </a:p>
        </p:txBody>
      </p:sp>
      <p:sp>
        <p:nvSpPr>
          <p:cNvPr id="119" name="Rectangle 118"/>
          <p:cNvSpPr/>
          <p:nvPr/>
        </p:nvSpPr>
        <p:spPr>
          <a:xfrm>
            <a:off x="5907024" y="534924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980176" y="5422392"/>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181344" y="539495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"Intrinsic common sense"; forums</a:t>
            </a:r>
          </a:p>
        </p:txBody>
      </p:sp>
      <p:sp>
        <p:nvSpPr>
          <p:cNvPr id="122" name="Rectangle 121"/>
          <p:cNvSpPr/>
          <p:nvPr/>
        </p:nvSpPr>
        <p:spPr>
          <a:xfrm>
            <a:off x="7854696" y="534924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7927848" y="5422392"/>
            <a:ext cx="137160" cy="13716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129016" y="539495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No branch tool (Metering = PPM Now only)</a:t>
            </a:r>
          </a:p>
        </p:txBody>
      </p:sp>
      <p:sp>
        <p:nvSpPr>
          <p:cNvPr id="125" name="Rectangle 124"/>
          <p:cNvSpPr/>
          <p:nvPr/>
        </p:nvSpPr>
        <p:spPr>
          <a:xfrm>
            <a:off x="9802367" y="5349240"/>
            <a:ext cx="19019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9875519" y="5422392"/>
            <a:ext cx="137160" cy="13716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076688" y="5394959"/>
            <a:ext cx="1627631" cy="484632"/>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SWF + Accenture + Vendors</a:t>
            </a:r>
          </a:p>
        </p:txBody>
      </p:sp>
      <p:sp>
        <p:nvSpPr>
          <p:cNvPr id="128" name="Rectangle 127"/>
          <p:cNvSpPr/>
          <p:nvPr/>
        </p:nvSpPr>
        <p:spPr>
          <a:xfrm>
            <a:off x="457200" y="5989320"/>
            <a:ext cx="11274552" cy="5029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Zero standardization across units: 6 different intake models, 6 prioritization logics, only 1 area uses a portfolio tool — fragmentation is structural, not local</a:t>
            </a:r>
          </a:p>
        </p:txBody>
      </p:sp>
      <p:sp>
        <p:nvSpPr>
          <p:cNvPr id="130" name="TextBox 129"/>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AS-IS Master Demand Map  |  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Eight platforms circulate between the two branches with near-zero overlap — the toolchain is fragmented by team, not by purpose</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557784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6785C1"/>
                </a:solidFill>
                <a:latin typeface="Helvetica Neue"/>
              </a:rPr>
              <a:t>APPLICATIONS BRANCH — Carlos Garbin</a:t>
            </a:r>
          </a:p>
        </p:txBody>
      </p:sp>
      <p:sp>
        <p:nvSpPr>
          <p:cNvPr id="5" name="Rectangle 4"/>
          <p:cNvSpPr/>
          <p:nvPr/>
        </p:nvSpPr>
        <p:spPr>
          <a:xfrm>
            <a:off x="457200" y="1737360"/>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737360"/>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Jira</a:t>
            </a:r>
          </a:p>
        </p:txBody>
      </p:sp>
      <p:sp>
        <p:nvSpPr>
          <p:cNvPr id="7" name="TextBox 6"/>
          <p:cNvSpPr txBox="1"/>
          <p:nvPr/>
        </p:nvSpPr>
        <p:spPr>
          <a:xfrm>
            <a:off x="621792" y="1965960"/>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Small demand + improvements</a:t>
            </a:r>
          </a:p>
        </p:txBody>
      </p:sp>
      <p:sp>
        <p:nvSpPr>
          <p:cNvPr id="8" name="TextBox 7"/>
          <p:cNvSpPr txBox="1"/>
          <p:nvPr/>
        </p:nvSpPr>
        <p:spPr>
          <a:xfrm>
            <a:off x="2514600" y="1737360"/>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GIS, Corporate, Global SAP</a:t>
            </a:r>
          </a:p>
        </p:txBody>
      </p:sp>
      <p:sp>
        <p:nvSpPr>
          <p:cNvPr id="9" name="Rounded Rectangle 8"/>
          <p:cNvSpPr/>
          <p:nvPr/>
        </p:nvSpPr>
        <p:spPr>
          <a:xfrm>
            <a:off x="5029200" y="1828800"/>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1828800"/>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PRIMARY</a:t>
            </a:r>
          </a:p>
        </p:txBody>
      </p:sp>
      <p:sp>
        <p:nvSpPr>
          <p:cNvPr id="11" name="Rectangle 10"/>
          <p:cNvSpPr/>
          <p:nvPr/>
        </p:nvSpPr>
        <p:spPr>
          <a:xfrm>
            <a:off x="457200" y="2221991"/>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221991"/>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IT Now</a:t>
            </a:r>
          </a:p>
        </p:txBody>
      </p:sp>
      <p:sp>
        <p:nvSpPr>
          <p:cNvPr id="13" name="TextBox 12"/>
          <p:cNvSpPr txBox="1"/>
          <p:nvPr/>
        </p:nvSpPr>
        <p:spPr>
          <a:xfrm>
            <a:off x="621792" y="2450591"/>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Incidents + break/fix</a:t>
            </a:r>
          </a:p>
        </p:txBody>
      </p:sp>
      <p:sp>
        <p:nvSpPr>
          <p:cNvPr id="14" name="TextBox 13"/>
          <p:cNvSpPr txBox="1"/>
          <p:nvPr/>
        </p:nvSpPr>
        <p:spPr>
          <a:xfrm>
            <a:off x="2514600" y="2221991"/>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GIS, Global SAP</a:t>
            </a:r>
          </a:p>
        </p:txBody>
      </p:sp>
      <p:sp>
        <p:nvSpPr>
          <p:cNvPr id="15" name="Rounded Rectangle 14"/>
          <p:cNvSpPr/>
          <p:nvPr/>
        </p:nvSpPr>
        <p:spPr>
          <a:xfrm>
            <a:off x="5029200" y="2313432"/>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2313432"/>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PRIMARY</a:t>
            </a:r>
          </a:p>
        </p:txBody>
      </p:sp>
      <p:sp>
        <p:nvSpPr>
          <p:cNvPr id="17" name="Rectangle 16"/>
          <p:cNvSpPr/>
          <p:nvPr/>
        </p:nvSpPr>
        <p:spPr>
          <a:xfrm>
            <a:off x="457200" y="2706624"/>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2706624"/>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IT Now RITM</a:t>
            </a:r>
          </a:p>
        </p:txBody>
      </p:sp>
      <p:sp>
        <p:nvSpPr>
          <p:cNvPr id="19" name="TextBox 18"/>
          <p:cNvSpPr txBox="1"/>
          <p:nvPr/>
        </p:nvSpPr>
        <p:spPr>
          <a:xfrm>
            <a:off x="621792" y="2935224"/>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Minor requests</a:t>
            </a:r>
          </a:p>
        </p:txBody>
      </p:sp>
      <p:sp>
        <p:nvSpPr>
          <p:cNvPr id="20" name="TextBox 19"/>
          <p:cNvSpPr txBox="1"/>
          <p:nvPr/>
        </p:nvSpPr>
        <p:spPr>
          <a:xfrm>
            <a:off x="2514600" y="2706624"/>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Global SAP</a:t>
            </a:r>
          </a:p>
        </p:txBody>
      </p:sp>
      <p:sp>
        <p:nvSpPr>
          <p:cNvPr id="21" name="Rounded Rectangle 20"/>
          <p:cNvSpPr/>
          <p:nvPr/>
        </p:nvSpPr>
        <p:spPr>
          <a:xfrm>
            <a:off x="5029200" y="2798064"/>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2798064"/>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SPECIFIC</a:t>
            </a:r>
          </a:p>
        </p:txBody>
      </p:sp>
      <p:sp>
        <p:nvSpPr>
          <p:cNvPr id="23" name="Rectangle 22"/>
          <p:cNvSpPr/>
          <p:nvPr/>
        </p:nvSpPr>
        <p:spPr>
          <a:xfrm>
            <a:off x="457200" y="3191256"/>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3191256"/>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SharePoint + Teams</a:t>
            </a:r>
          </a:p>
        </p:txBody>
      </p:sp>
      <p:sp>
        <p:nvSpPr>
          <p:cNvPr id="25" name="TextBox 24"/>
          <p:cNvSpPr txBox="1"/>
          <p:nvPr/>
        </p:nvSpPr>
        <p:spPr>
          <a:xfrm>
            <a:off x="621792" y="3419856"/>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Major project work</a:t>
            </a:r>
          </a:p>
        </p:txBody>
      </p:sp>
      <p:sp>
        <p:nvSpPr>
          <p:cNvPr id="26" name="TextBox 25"/>
          <p:cNvSpPr txBox="1"/>
          <p:nvPr/>
        </p:nvSpPr>
        <p:spPr>
          <a:xfrm>
            <a:off x="2514600" y="3191256"/>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Global SAP</a:t>
            </a:r>
          </a:p>
        </p:txBody>
      </p:sp>
      <p:sp>
        <p:nvSpPr>
          <p:cNvPr id="27" name="Rounded Rectangle 26"/>
          <p:cNvSpPr/>
          <p:nvPr/>
        </p:nvSpPr>
        <p:spPr>
          <a:xfrm>
            <a:off x="5029200" y="3282696"/>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0" y="3282696"/>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SPECIFIC</a:t>
            </a:r>
          </a:p>
        </p:txBody>
      </p:sp>
      <p:sp>
        <p:nvSpPr>
          <p:cNvPr id="29" name="Rectangle 28"/>
          <p:cNvSpPr/>
          <p:nvPr/>
        </p:nvSpPr>
        <p:spPr>
          <a:xfrm>
            <a:off x="457200" y="3675888"/>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3675888"/>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Confluence</a:t>
            </a:r>
          </a:p>
        </p:txBody>
      </p:sp>
      <p:sp>
        <p:nvSpPr>
          <p:cNvPr id="31" name="TextBox 30"/>
          <p:cNvSpPr txBox="1"/>
          <p:nvPr/>
        </p:nvSpPr>
        <p:spPr>
          <a:xfrm>
            <a:off x="621792" y="3904488"/>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Documentation / requirements</a:t>
            </a:r>
          </a:p>
        </p:txBody>
      </p:sp>
      <p:sp>
        <p:nvSpPr>
          <p:cNvPr id="32" name="TextBox 31"/>
          <p:cNvSpPr txBox="1"/>
          <p:nvPr/>
        </p:nvSpPr>
        <p:spPr>
          <a:xfrm>
            <a:off x="2514600" y="3675888"/>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Corporate</a:t>
            </a:r>
          </a:p>
        </p:txBody>
      </p:sp>
      <p:sp>
        <p:nvSpPr>
          <p:cNvPr id="33" name="Rounded Rectangle 32"/>
          <p:cNvSpPr/>
          <p:nvPr/>
        </p:nvSpPr>
        <p:spPr>
          <a:xfrm>
            <a:off x="5029200" y="3767328"/>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0" y="3767328"/>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SPECIFIC</a:t>
            </a:r>
          </a:p>
        </p:txBody>
      </p:sp>
      <p:sp>
        <p:nvSpPr>
          <p:cNvPr id="35" name="Rectangle 34"/>
          <p:cNvSpPr/>
          <p:nvPr/>
        </p:nvSpPr>
        <p:spPr>
          <a:xfrm>
            <a:off x="457200" y="4160520"/>
            <a:ext cx="73152" cy="438912"/>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4160520"/>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Word</a:t>
            </a:r>
          </a:p>
        </p:txBody>
      </p:sp>
      <p:sp>
        <p:nvSpPr>
          <p:cNvPr id="37" name="TextBox 36"/>
          <p:cNvSpPr txBox="1"/>
          <p:nvPr/>
        </p:nvSpPr>
        <p:spPr>
          <a:xfrm>
            <a:off x="621792" y="4389120"/>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Business requirements</a:t>
            </a:r>
          </a:p>
        </p:txBody>
      </p:sp>
      <p:sp>
        <p:nvSpPr>
          <p:cNvPr id="38" name="TextBox 37"/>
          <p:cNvSpPr txBox="1"/>
          <p:nvPr/>
        </p:nvSpPr>
        <p:spPr>
          <a:xfrm>
            <a:off x="2514600" y="4160520"/>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Corporate</a:t>
            </a:r>
          </a:p>
        </p:txBody>
      </p:sp>
      <p:sp>
        <p:nvSpPr>
          <p:cNvPr id="39" name="Rounded Rectangle 38"/>
          <p:cNvSpPr/>
          <p:nvPr/>
        </p:nvSpPr>
        <p:spPr>
          <a:xfrm>
            <a:off x="5029200" y="4251960"/>
            <a:ext cx="914400" cy="27432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0" y="4251960"/>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LEGACY</a:t>
            </a:r>
          </a:p>
        </p:txBody>
      </p:sp>
      <p:sp>
        <p:nvSpPr>
          <p:cNvPr id="41" name="Rectangle 40"/>
          <p:cNvSpPr/>
          <p:nvPr/>
        </p:nvSpPr>
        <p:spPr>
          <a:xfrm>
            <a:off x="457200" y="4645152"/>
            <a:ext cx="73152" cy="43891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4645152"/>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Email + Meetings</a:t>
            </a:r>
          </a:p>
        </p:txBody>
      </p:sp>
      <p:sp>
        <p:nvSpPr>
          <p:cNvPr id="43" name="TextBox 42"/>
          <p:cNvSpPr txBox="1"/>
          <p:nvPr/>
        </p:nvSpPr>
        <p:spPr>
          <a:xfrm>
            <a:off x="621792" y="4873752"/>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G&amp;E intake (only channel)</a:t>
            </a:r>
          </a:p>
        </p:txBody>
      </p:sp>
      <p:sp>
        <p:nvSpPr>
          <p:cNvPr id="44" name="TextBox 43"/>
          <p:cNvSpPr txBox="1"/>
          <p:nvPr/>
        </p:nvSpPr>
        <p:spPr>
          <a:xfrm>
            <a:off x="2514600" y="4645152"/>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G&amp;E</a:t>
            </a:r>
          </a:p>
        </p:txBody>
      </p:sp>
      <p:sp>
        <p:nvSpPr>
          <p:cNvPr id="45" name="Rounded Rectangle 44"/>
          <p:cNvSpPr/>
          <p:nvPr/>
        </p:nvSpPr>
        <p:spPr>
          <a:xfrm>
            <a:off x="5029200" y="4736592"/>
            <a:ext cx="91440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0" y="4736592"/>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GAP</a:t>
            </a:r>
          </a:p>
        </p:txBody>
      </p:sp>
      <p:sp>
        <p:nvSpPr>
          <p:cNvPr id="47" name="Rectangle 46"/>
          <p:cNvSpPr/>
          <p:nvPr/>
        </p:nvSpPr>
        <p:spPr>
          <a:xfrm>
            <a:off x="457200" y="5129784"/>
            <a:ext cx="73152" cy="438912"/>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5129784"/>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OneNote / Spreadsheets</a:t>
            </a:r>
          </a:p>
        </p:txBody>
      </p:sp>
      <p:sp>
        <p:nvSpPr>
          <p:cNvPr id="49" name="TextBox 48"/>
          <p:cNvSpPr txBox="1"/>
          <p:nvPr/>
        </p:nvSpPr>
        <p:spPr>
          <a:xfrm>
            <a:off x="621792" y="5358384"/>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Informal PM</a:t>
            </a:r>
          </a:p>
        </p:txBody>
      </p:sp>
      <p:sp>
        <p:nvSpPr>
          <p:cNvPr id="50" name="TextBox 49"/>
          <p:cNvSpPr txBox="1"/>
          <p:nvPr/>
        </p:nvSpPr>
        <p:spPr>
          <a:xfrm>
            <a:off x="2514600" y="5129784"/>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GIS</a:t>
            </a:r>
          </a:p>
        </p:txBody>
      </p:sp>
      <p:sp>
        <p:nvSpPr>
          <p:cNvPr id="51" name="Rounded Rectangle 50"/>
          <p:cNvSpPr/>
          <p:nvPr/>
        </p:nvSpPr>
        <p:spPr>
          <a:xfrm>
            <a:off x="5029200" y="5221224"/>
            <a:ext cx="914400" cy="27432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0" y="5221224"/>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WORKAROUND</a:t>
            </a:r>
          </a:p>
        </p:txBody>
      </p:sp>
      <p:sp>
        <p:nvSpPr>
          <p:cNvPr id="53" name="TextBox 52"/>
          <p:cNvSpPr txBox="1"/>
          <p:nvPr/>
        </p:nvSpPr>
        <p:spPr>
          <a:xfrm>
            <a:off x="6263640" y="1371600"/>
            <a:ext cx="548640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0F1C50"/>
                </a:solidFill>
                <a:latin typeface="Helvetica Neue"/>
              </a:rPr>
              <a:t>CUSTOMER SERVICES / LOCAL SAP — Kumar Jaladanki</a:t>
            </a:r>
          </a:p>
        </p:txBody>
      </p:sp>
      <p:sp>
        <p:nvSpPr>
          <p:cNvPr id="54" name="Rectangle 53"/>
          <p:cNvSpPr/>
          <p:nvPr/>
        </p:nvSpPr>
        <p:spPr>
          <a:xfrm>
            <a:off x="6263640" y="1737360"/>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28232" y="1737360"/>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IT Now</a:t>
            </a:r>
          </a:p>
        </p:txBody>
      </p:sp>
      <p:sp>
        <p:nvSpPr>
          <p:cNvPr id="56" name="TextBox 55"/>
          <p:cNvSpPr txBox="1"/>
          <p:nvPr/>
        </p:nvSpPr>
        <p:spPr>
          <a:xfrm>
            <a:off x="6428232" y="1965960"/>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Incidents (template) — Metering</a:t>
            </a:r>
          </a:p>
        </p:txBody>
      </p:sp>
      <p:sp>
        <p:nvSpPr>
          <p:cNvPr id="57" name="TextBox 56"/>
          <p:cNvSpPr txBox="1"/>
          <p:nvPr/>
        </p:nvSpPr>
        <p:spPr>
          <a:xfrm>
            <a:off x="8321040" y="1737360"/>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Smart Metering</a:t>
            </a:r>
          </a:p>
        </p:txBody>
      </p:sp>
      <p:sp>
        <p:nvSpPr>
          <p:cNvPr id="58" name="Rounded Rectangle 57"/>
          <p:cNvSpPr/>
          <p:nvPr/>
        </p:nvSpPr>
        <p:spPr>
          <a:xfrm>
            <a:off x="10789920" y="1828800"/>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789920" y="1828800"/>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PRIMARY</a:t>
            </a:r>
          </a:p>
        </p:txBody>
      </p:sp>
      <p:sp>
        <p:nvSpPr>
          <p:cNvPr id="60" name="Rectangle 59"/>
          <p:cNvSpPr/>
          <p:nvPr/>
        </p:nvSpPr>
        <p:spPr>
          <a:xfrm>
            <a:off x="6263640" y="2221991"/>
            <a:ext cx="73152" cy="43891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28232" y="2221991"/>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Email</a:t>
            </a:r>
          </a:p>
        </p:txBody>
      </p:sp>
      <p:sp>
        <p:nvSpPr>
          <p:cNvPr id="62" name="TextBox 61"/>
          <p:cNvSpPr txBox="1"/>
          <p:nvPr/>
        </p:nvSpPr>
        <p:spPr>
          <a:xfrm>
            <a:off x="6428232" y="2450591"/>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Small demand (Smart Metering)</a:t>
            </a:r>
          </a:p>
        </p:txBody>
      </p:sp>
      <p:sp>
        <p:nvSpPr>
          <p:cNvPr id="63" name="TextBox 62"/>
          <p:cNvSpPr txBox="1"/>
          <p:nvPr/>
        </p:nvSpPr>
        <p:spPr>
          <a:xfrm>
            <a:off x="8321040" y="2221991"/>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Smart Metering</a:t>
            </a:r>
          </a:p>
        </p:txBody>
      </p:sp>
      <p:sp>
        <p:nvSpPr>
          <p:cNvPr id="64" name="Rounded Rectangle 63"/>
          <p:cNvSpPr/>
          <p:nvPr/>
        </p:nvSpPr>
        <p:spPr>
          <a:xfrm>
            <a:off x="10789920" y="2313432"/>
            <a:ext cx="91440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789920" y="2313432"/>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GAP</a:t>
            </a:r>
          </a:p>
        </p:txBody>
      </p:sp>
      <p:sp>
        <p:nvSpPr>
          <p:cNvPr id="66" name="Rectangle 65"/>
          <p:cNvSpPr/>
          <p:nvPr/>
        </p:nvSpPr>
        <p:spPr>
          <a:xfrm>
            <a:off x="6263640" y="2706624"/>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28232" y="2706624"/>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Jira</a:t>
            </a:r>
          </a:p>
        </p:txBody>
      </p:sp>
      <p:sp>
        <p:nvSpPr>
          <p:cNvPr id="68" name="TextBox 67"/>
          <p:cNvSpPr txBox="1"/>
          <p:nvPr/>
        </p:nvSpPr>
        <p:spPr>
          <a:xfrm>
            <a:off x="6428232" y="2935224"/>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Used by PMs (Smart Metering)</a:t>
            </a:r>
          </a:p>
        </p:txBody>
      </p:sp>
      <p:sp>
        <p:nvSpPr>
          <p:cNvPr id="69" name="TextBox 68"/>
          <p:cNvSpPr txBox="1"/>
          <p:nvPr/>
        </p:nvSpPr>
        <p:spPr>
          <a:xfrm>
            <a:off x="8321040" y="2706624"/>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Smart Metering</a:t>
            </a:r>
          </a:p>
        </p:txBody>
      </p:sp>
      <p:sp>
        <p:nvSpPr>
          <p:cNvPr id="70" name="Rounded Rectangle 69"/>
          <p:cNvSpPr/>
          <p:nvPr/>
        </p:nvSpPr>
        <p:spPr>
          <a:xfrm>
            <a:off x="10789920" y="2798064"/>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789920" y="2798064"/>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SPECIFIC</a:t>
            </a:r>
          </a:p>
        </p:txBody>
      </p:sp>
      <p:sp>
        <p:nvSpPr>
          <p:cNvPr id="72" name="Rectangle 71"/>
          <p:cNvSpPr/>
          <p:nvPr/>
        </p:nvSpPr>
        <p:spPr>
          <a:xfrm>
            <a:off x="6263640" y="3191256"/>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28232" y="3191256"/>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Confluence</a:t>
            </a:r>
          </a:p>
        </p:txBody>
      </p:sp>
      <p:sp>
        <p:nvSpPr>
          <p:cNvPr id="74" name="TextBox 73"/>
          <p:cNvSpPr txBox="1"/>
          <p:nvPr/>
        </p:nvSpPr>
        <p:spPr>
          <a:xfrm>
            <a:off x="6428232" y="3419856"/>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Portfolio documentation (Metering only)</a:t>
            </a:r>
          </a:p>
        </p:txBody>
      </p:sp>
      <p:sp>
        <p:nvSpPr>
          <p:cNvPr id="75" name="TextBox 74"/>
          <p:cNvSpPr txBox="1"/>
          <p:nvPr/>
        </p:nvSpPr>
        <p:spPr>
          <a:xfrm>
            <a:off x="8321040" y="3191256"/>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Smart Metering</a:t>
            </a:r>
          </a:p>
        </p:txBody>
      </p:sp>
      <p:sp>
        <p:nvSpPr>
          <p:cNvPr id="76" name="Rounded Rectangle 75"/>
          <p:cNvSpPr/>
          <p:nvPr/>
        </p:nvSpPr>
        <p:spPr>
          <a:xfrm>
            <a:off x="10789920" y="3282696"/>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789920" y="3282696"/>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SPECIFIC</a:t>
            </a:r>
          </a:p>
        </p:txBody>
      </p:sp>
      <p:sp>
        <p:nvSpPr>
          <p:cNvPr id="78" name="Rectangle 77"/>
          <p:cNvSpPr/>
          <p:nvPr/>
        </p:nvSpPr>
        <p:spPr>
          <a:xfrm>
            <a:off x="6263640" y="3675888"/>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28232" y="3675888"/>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PPM Now</a:t>
            </a:r>
          </a:p>
        </p:txBody>
      </p:sp>
      <p:sp>
        <p:nvSpPr>
          <p:cNvPr id="80" name="TextBox 79"/>
          <p:cNvSpPr txBox="1"/>
          <p:nvPr/>
        </p:nvSpPr>
        <p:spPr>
          <a:xfrm>
            <a:off x="6428232" y="3904488"/>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Large projects — ONLY in Smart Metering</a:t>
            </a:r>
          </a:p>
        </p:txBody>
      </p:sp>
      <p:sp>
        <p:nvSpPr>
          <p:cNvPr id="81" name="TextBox 80"/>
          <p:cNvSpPr txBox="1"/>
          <p:nvPr/>
        </p:nvSpPr>
        <p:spPr>
          <a:xfrm>
            <a:off x="8321040" y="3675888"/>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Smart Metering</a:t>
            </a:r>
          </a:p>
        </p:txBody>
      </p:sp>
      <p:sp>
        <p:nvSpPr>
          <p:cNvPr id="82" name="Rounded Rectangle 81"/>
          <p:cNvSpPr/>
          <p:nvPr/>
        </p:nvSpPr>
        <p:spPr>
          <a:xfrm>
            <a:off x="10789920" y="3767328"/>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789920" y="3767328"/>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PRIMARY</a:t>
            </a:r>
          </a:p>
        </p:txBody>
      </p:sp>
      <p:sp>
        <p:nvSpPr>
          <p:cNvPr id="84" name="Rectangle 83"/>
          <p:cNvSpPr/>
          <p:nvPr/>
        </p:nvSpPr>
        <p:spPr>
          <a:xfrm>
            <a:off x="6263640" y="4160520"/>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28232" y="4160520"/>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Travis PMO (tool TBC)</a:t>
            </a:r>
          </a:p>
        </p:txBody>
      </p:sp>
      <p:sp>
        <p:nvSpPr>
          <p:cNvPr id="86" name="TextBox 85"/>
          <p:cNvSpPr txBox="1"/>
          <p:nvPr/>
        </p:nvSpPr>
        <p:spPr>
          <a:xfrm>
            <a:off x="6428232" y="4389120"/>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Large project management</a:t>
            </a:r>
          </a:p>
        </p:txBody>
      </p:sp>
      <p:sp>
        <p:nvSpPr>
          <p:cNvPr id="87" name="TextBox 86"/>
          <p:cNvSpPr txBox="1"/>
          <p:nvPr/>
        </p:nvSpPr>
        <p:spPr>
          <a:xfrm>
            <a:off x="8321040" y="4160520"/>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Branch-wide</a:t>
            </a:r>
          </a:p>
        </p:txBody>
      </p:sp>
      <p:sp>
        <p:nvSpPr>
          <p:cNvPr id="88" name="Rounded Rectangle 87"/>
          <p:cNvSpPr/>
          <p:nvPr/>
        </p:nvSpPr>
        <p:spPr>
          <a:xfrm>
            <a:off x="10789920" y="4251960"/>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789920" y="4251960"/>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SPECIFIC</a:t>
            </a:r>
          </a:p>
        </p:txBody>
      </p:sp>
      <p:sp>
        <p:nvSpPr>
          <p:cNvPr id="90" name="Rectangle 89"/>
          <p:cNvSpPr/>
          <p:nvPr/>
        </p:nvSpPr>
        <p:spPr>
          <a:xfrm>
            <a:off x="6263640" y="4645152"/>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428232" y="4645152"/>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SWF + Accenture</a:t>
            </a:r>
          </a:p>
        </p:txBody>
      </p:sp>
      <p:sp>
        <p:nvSpPr>
          <p:cNvPr id="92" name="TextBox 91"/>
          <p:cNvSpPr txBox="1"/>
          <p:nvPr/>
        </p:nvSpPr>
        <p:spPr>
          <a:xfrm>
            <a:off x="6428232" y="4873752"/>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Build / delivery</a:t>
            </a:r>
          </a:p>
        </p:txBody>
      </p:sp>
      <p:sp>
        <p:nvSpPr>
          <p:cNvPr id="93" name="TextBox 92"/>
          <p:cNvSpPr txBox="1"/>
          <p:nvPr/>
        </p:nvSpPr>
        <p:spPr>
          <a:xfrm>
            <a:off x="8321040" y="4645152"/>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Branch-wide</a:t>
            </a:r>
          </a:p>
        </p:txBody>
      </p:sp>
      <p:sp>
        <p:nvSpPr>
          <p:cNvPr id="94" name="Rounded Rectangle 93"/>
          <p:cNvSpPr/>
          <p:nvPr/>
        </p:nvSpPr>
        <p:spPr>
          <a:xfrm>
            <a:off x="10789920" y="4736592"/>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789920" y="4736592"/>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SPECIFIC</a:t>
            </a:r>
          </a:p>
        </p:txBody>
      </p:sp>
      <p:sp>
        <p:nvSpPr>
          <p:cNvPr id="96" name="Rectangle 95"/>
          <p:cNvSpPr/>
          <p:nvPr/>
        </p:nvSpPr>
        <p:spPr>
          <a:xfrm>
            <a:off x="6263640" y="5129784"/>
            <a:ext cx="73152" cy="43891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428232" y="5129784"/>
            <a:ext cx="1828800" cy="256032"/>
          </a:xfrm>
          <a:prstGeom prst="rect">
            <a:avLst/>
          </a:prstGeom>
          <a:noFill/>
        </p:spPr>
        <p:txBody>
          <a:bodyPr wrap="square" lIns="0" rIns="0" tIns="0" bIns="0" anchor="t">
            <a:spAutoFit/>
          </a:bodyPr>
          <a:lstStyle/>
          <a:p>
            <a:pPr algn="l">
              <a:lnSpc>
                <a:spcPct val="110000"/>
              </a:lnSpc>
              <a:spcBef>
                <a:spcPts val="0"/>
              </a:spcBef>
              <a:spcAft>
                <a:spcPts val="0"/>
              </a:spcAft>
            </a:pPr>
            <a:r>
              <a:rPr sz="1000" b="1" i="0">
                <a:solidFill>
                  <a:srgbClr val="0F1C50"/>
                </a:solidFill>
                <a:latin typeface="Helvetica Neue"/>
              </a:rPr>
              <a:t>4 other teams — tooling not yet captured</a:t>
            </a:r>
          </a:p>
        </p:txBody>
      </p:sp>
      <p:sp>
        <p:nvSpPr>
          <p:cNvPr id="98" name="TextBox 97"/>
          <p:cNvSpPr txBox="1"/>
          <p:nvPr/>
        </p:nvSpPr>
        <p:spPr>
          <a:xfrm>
            <a:off x="6428232" y="5358384"/>
            <a:ext cx="1828800" cy="228600"/>
          </a:xfrm>
          <a:prstGeom prst="rect">
            <a:avLst/>
          </a:prstGeom>
          <a:noFill/>
        </p:spPr>
        <p:txBody>
          <a:bodyPr wrap="square" lIns="0" rIns="0" tIns="0" bIns="0" anchor="t">
            <a:spAutoFit/>
          </a:bodyPr>
          <a:lstStyle/>
          <a:p>
            <a:pPr algn="l">
              <a:lnSpc>
                <a:spcPct val="110000"/>
              </a:lnSpc>
              <a:spcBef>
                <a:spcPts val="0"/>
              </a:spcBef>
              <a:spcAft>
                <a:spcPts val="0"/>
              </a:spcAft>
            </a:pPr>
            <a:r>
              <a:rPr sz="800" b="0" i="0">
                <a:solidFill>
                  <a:srgbClr val="2C3E50"/>
                </a:solidFill>
                <a:latin typeface="Helvetica Neue"/>
              </a:rPr>
              <a:t>Ivelisse, CRM, SAP Arch, SAP Basis</a:t>
            </a:r>
          </a:p>
        </p:txBody>
      </p:sp>
      <p:sp>
        <p:nvSpPr>
          <p:cNvPr id="99" name="TextBox 98"/>
          <p:cNvSpPr txBox="1"/>
          <p:nvPr/>
        </p:nvSpPr>
        <p:spPr>
          <a:xfrm>
            <a:off x="8321040" y="5129784"/>
            <a:ext cx="2377440" cy="457200"/>
          </a:xfrm>
          <a:prstGeom prst="rect">
            <a:avLst/>
          </a:prstGeom>
          <a:noFill/>
        </p:spPr>
        <p:txBody>
          <a:bodyPr wrap="square" lIns="0" rIns="0" tIns="0" bIns="0" anchor="ctr">
            <a:spAutoFit/>
          </a:bodyPr>
          <a:lstStyle/>
          <a:p>
            <a:pPr algn="l">
              <a:lnSpc>
                <a:spcPct val="110000"/>
              </a:lnSpc>
              <a:spcBef>
                <a:spcPts val="0"/>
              </a:spcBef>
              <a:spcAft>
                <a:spcPts val="0"/>
              </a:spcAft>
            </a:pPr>
            <a:r>
              <a:rPr sz="800" b="0" i="1">
                <a:solidFill>
                  <a:srgbClr val="6785C1"/>
                </a:solidFill>
                <a:latin typeface="Helvetica Neue"/>
              </a:rPr>
              <a:t>TBC</a:t>
            </a:r>
          </a:p>
        </p:txBody>
      </p:sp>
      <p:sp>
        <p:nvSpPr>
          <p:cNvPr id="100" name="Rounded Rectangle 99"/>
          <p:cNvSpPr/>
          <p:nvPr/>
        </p:nvSpPr>
        <p:spPr>
          <a:xfrm>
            <a:off x="10789920" y="5221224"/>
            <a:ext cx="91440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789920" y="5221224"/>
            <a:ext cx="914400" cy="274320"/>
          </a:xfrm>
          <a:prstGeom prst="rect">
            <a:avLst/>
          </a:prstGeom>
          <a:noFill/>
        </p:spPr>
        <p:txBody>
          <a:bodyPr wrap="square" lIns="0" rIns="0" tIns="0" bIns="0" anchor="ctr">
            <a:spAutoFit/>
          </a:bodyPr>
          <a:lstStyle/>
          <a:p>
            <a:pPr algn="ctr">
              <a:lnSpc>
                <a:spcPct val="110000"/>
              </a:lnSpc>
              <a:spcBef>
                <a:spcPts val="0"/>
              </a:spcBef>
              <a:spcAft>
                <a:spcPts val="0"/>
              </a:spcAft>
            </a:pPr>
            <a:r>
              <a:rPr sz="700" b="1" i="0">
                <a:solidFill>
                  <a:srgbClr val="FFFFFF"/>
                </a:solidFill>
                <a:latin typeface="Helvetica Neue"/>
              </a:rPr>
              <a:t>GAP</a:t>
            </a:r>
          </a:p>
        </p:txBody>
      </p:sp>
      <p:sp>
        <p:nvSpPr>
          <p:cNvPr id="102" name="Rectangle 101"/>
          <p:cNvSpPr/>
          <p:nvPr/>
        </p:nvSpPr>
        <p:spPr>
          <a:xfrm>
            <a:off x="457200" y="5989320"/>
            <a:ext cx="11274552" cy="5029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PPM Now exists in only 1 of 9 sub-teams — Jira is the only tool with meaningful cross-team adoption (and it's fragmented across instances)</a:t>
            </a:r>
          </a:p>
        </p:txBody>
      </p:sp>
      <p:sp>
        <p:nvSpPr>
          <p:cNvPr id="104" name="TextBox 103"/>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Tooling Landscape  |  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Five recurring forums exist — but none covers portfolio-level decisions, and Manager Check-in participants are still TBC</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11274552" cy="41148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2743200" cy="411480"/>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FFFFFF"/>
                </a:solidFill>
                <a:latin typeface="Helvetica Neue"/>
              </a:rPr>
              <a:t>FORUM</a:t>
            </a:r>
          </a:p>
        </p:txBody>
      </p:sp>
      <p:sp>
        <p:nvSpPr>
          <p:cNvPr id="6" name="TextBox 5"/>
          <p:cNvSpPr txBox="1"/>
          <p:nvPr/>
        </p:nvSpPr>
        <p:spPr>
          <a:xfrm>
            <a:off x="3291840" y="1417320"/>
            <a:ext cx="1097280" cy="411480"/>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FFFFFF"/>
                </a:solidFill>
                <a:latin typeface="Helvetica Neue"/>
              </a:rPr>
              <a:t>CADENCE</a:t>
            </a:r>
          </a:p>
        </p:txBody>
      </p:sp>
      <p:sp>
        <p:nvSpPr>
          <p:cNvPr id="7" name="TextBox 6"/>
          <p:cNvSpPr txBox="1"/>
          <p:nvPr/>
        </p:nvSpPr>
        <p:spPr>
          <a:xfrm>
            <a:off x="4389120" y="1417320"/>
            <a:ext cx="3657600" cy="411480"/>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FFFFFF"/>
                </a:solidFill>
                <a:latin typeface="Helvetica Neue"/>
              </a:rPr>
              <a:t>PARTICIPANTS</a:t>
            </a:r>
          </a:p>
        </p:txBody>
      </p:sp>
      <p:sp>
        <p:nvSpPr>
          <p:cNvPr id="8" name="TextBox 7"/>
          <p:cNvSpPr txBox="1"/>
          <p:nvPr/>
        </p:nvSpPr>
        <p:spPr>
          <a:xfrm>
            <a:off x="8046719" y="1417320"/>
            <a:ext cx="3776472" cy="411480"/>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FFFFFF"/>
                </a:solidFill>
                <a:latin typeface="Helvetica Neue"/>
              </a:rPr>
              <a:t>DECISION SCOPE</a:t>
            </a:r>
          </a:p>
        </p:txBody>
      </p:sp>
      <p:sp>
        <p:nvSpPr>
          <p:cNvPr id="9" name="Rectangle 8"/>
          <p:cNvSpPr/>
          <p:nvPr/>
        </p:nvSpPr>
        <p:spPr>
          <a:xfrm>
            <a:off x="457200" y="1874519"/>
            <a:ext cx="11274552"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274320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0F1C50"/>
                </a:solidFill>
                <a:latin typeface="Helvetica Neue"/>
              </a:rPr>
              <a:t>Critical Integrations</a:t>
            </a:r>
          </a:p>
        </p:txBody>
      </p:sp>
      <p:sp>
        <p:nvSpPr>
          <p:cNvPr id="11" name="TextBox 10"/>
          <p:cNvSpPr txBox="1"/>
          <p:nvPr/>
        </p:nvSpPr>
        <p:spPr>
          <a:xfrm>
            <a:off x="3291840" y="1874519"/>
            <a:ext cx="109728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0" i="0">
                <a:solidFill>
                  <a:srgbClr val="2C3E50"/>
                </a:solidFill>
                <a:latin typeface="Helvetica Neue"/>
              </a:rPr>
              <a:t>Weekly</a:t>
            </a:r>
          </a:p>
        </p:txBody>
      </p:sp>
      <p:sp>
        <p:nvSpPr>
          <p:cNvPr id="12" name="TextBox 11"/>
          <p:cNvSpPr txBox="1"/>
          <p:nvPr/>
        </p:nvSpPr>
        <p:spPr>
          <a:xfrm>
            <a:off x="4389120" y="1874519"/>
            <a:ext cx="3657600"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Business Apps, P&amp;S, Digital Products</a:t>
            </a:r>
          </a:p>
        </p:txBody>
      </p:sp>
      <p:sp>
        <p:nvSpPr>
          <p:cNvPr id="13" name="TextBox 12"/>
          <p:cNvSpPr txBox="1"/>
          <p:nvPr/>
        </p:nvSpPr>
        <p:spPr>
          <a:xfrm>
            <a:off x="8046719" y="1874519"/>
            <a:ext cx="3776472"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Integration decisions across business apps</a:t>
            </a:r>
          </a:p>
        </p:txBody>
      </p:sp>
      <p:sp>
        <p:nvSpPr>
          <p:cNvPr id="14" name="Rectangle 13"/>
          <p:cNvSpPr/>
          <p:nvPr/>
        </p:nvSpPr>
        <p:spPr>
          <a:xfrm>
            <a:off x="457200" y="2532887"/>
            <a:ext cx="1127455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532887"/>
            <a:ext cx="274320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0F1C50"/>
                </a:solidFill>
                <a:latin typeface="Helvetica Neue"/>
              </a:rPr>
              <a:t>Daily BSS BI/BW Stand Up</a:t>
            </a:r>
          </a:p>
        </p:txBody>
      </p:sp>
      <p:sp>
        <p:nvSpPr>
          <p:cNvPr id="16" name="TextBox 15"/>
          <p:cNvSpPr txBox="1"/>
          <p:nvPr/>
        </p:nvSpPr>
        <p:spPr>
          <a:xfrm>
            <a:off x="3291840" y="2532887"/>
            <a:ext cx="109728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0" i="0">
                <a:solidFill>
                  <a:srgbClr val="2C3E50"/>
                </a:solidFill>
                <a:latin typeface="Helvetica Neue"/>
              </a:rPr>
              <a:t>Weekly</a:t>
            </a:r>
          </a:p>
        </p:txBody>
      </p:sp>
      <p:sp>
        <p:nvSpPr>
          <p:cNvPr id="17" name="TextBox 16"/>
          <p:cNvSpPr txBox="1"/>
          <p:nvPr/>
        </p:nvSpPr>
        <p:spPr>
          <a:xfrm>
            <a:off x="4389120" y="2532887"/>
            <a:ext cx="3657600"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Data &amp; Analytics Teams, Digital Products</a:t>
            </a:r>
          </a:p>
        </p:txBody>
      </p:sp>
      <p:sp>
        <p:nvSpPr>
          <p:cNvPr id="18" name="TextBox 17"/>
          <p:cNvSpPr txBox="1"/>
          <p:nvPr/>
        </p:nvSpPr>
        <p:spPr>
          <a:xfrm>
            <a:off x="8046719" y="2532887"/>
            <a:ext cx="3776472"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Daily BI/BW operations alignment</a:t>
            </a:r>
          </a:p>
        </p:txBody>
      </p:sp>
      <p:sp>
        <p:nvSpPr>
          <p:cNvPr id="19" name="Rectangle 18"/>
          <p:cNvSpPr/>
          <p:nvPr/>
        </p:nvSpPr>
        <p:spPr>
          <a:xfrm>
            <a:off x="457200" y="3191255"/>
            <a:ext cx="11274552"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191255"/>
            <a:ext cx="274320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0F1C50"/>
                </a:solidFill>
                <a:latin typeface="Helvetica Neue"/>
              </a:rPr>
              <a:t>Data, Analytics &amp; Solutions Check-In</a:t>
            </a:r>
          </a:p>
        </p:txBody>
      </p:sp>
      <p:sp>
        <p:nvSpPr>
          <p:cNvPr id="21" name="TextBox 20"/>
          <p:cNvSpPr txBox="1"/>
          <p:nvPr/>
        </p:nvSpPr>
        <p:spPr>
          <a:xfrm>
            <a:off x="3291840" y="3191255"/>
            <a:ext cx="109728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0" i="0">
                <a:solidFill>
                  <a:srgbClr val="2C3E50"/>
                </a:solidFill>
                <a:latin typeface="Helvetica Neue"/>
              </a:rPr>
              <a:t>Weekly</a:t>
            </a:r>
          </a:p>
        </p:txBody>
      </p:sp>
      <p:sp>
        <p:nvSpPr>
          <p:cNvPr id="22" name="TextBox 21"/>
          <p:cNvSpPr txBox="1"/>
          <p:nvPr/>
        </p:nvSpPr>
        <p:spPr>
          <a:xfrm>
            <a:off x="4389120" y="3191255"/>
            <a:ext cx="3657600"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Data &amp; Analytics Teams, Digital Products</a:t>
            </a:r>
          </a:p>
        </p:txBody>
      </p:sp>
      <p:sp>
        <p:nvSpPr>
          <p:cNvPr id="23" name="TextBox 22"/>
          <p:cNvSpPr txBox="1"/>
          <p:nvPr/>
        </p:nvSpPr>
        <p:spPr>
          <a:xfrm>
            <a:off x="8046719" y="3191255"/>
            <a:ext cx="3776472"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Data &amp; analytics demand review</a:t>
            </a:r>
          </a:p>
        </p:txBody>
      </p:sp>
      <p:sp>
        <p:nvSpPr>
          <p:cNvPr id="24" name="Rectangle 23"/>
          <p:cNvSpPr/>
          <p:nvPr/>
        </p:nvSpPr>
        <p:spPr>
          <a:xfrm>
            <a:off x="457200" y="3849623"/>
            <a:ext cx="1127455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849623"/>
            <a:ext cx="274320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0F1C50"/>
                </a:solidFill>
                <a:latin typeface="Helvetica Neue"/>
              </a:rPr>
              <a:t>CX &amp; Digital CMP Update</a:t>
            </a:r>
          </a:p>
        </p:txBody>
      </p:sp>
      <p:sp>
        <p:nvSpPr>
          <p:cNvPr id="26" name="TextBox 25"/>
          <p:cNvSpPr txBox="1"/>
          <p:nvPr/>
        </p:nvSpPr>
        <p:spPr>
          <a:xfrm>
            <a:off x="3291840" y="3849623"/>
            <a:ext cx="109728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0" i="0">
                <a:solidFill>
                  <a:srgbClr val="2C3E50"/>
                </a:solidFill>
                <a:latin typeface="Helvetica Neue"/>
              </a:rPr>
              <a:t>Monthly</a:t>
            </a:r>
          </a:p>
        </p:txBody>
      </p:sp>
      <p:sp>
        <p:nvSpPr>
          <p:cNvPr id="27" name="TextBox 26"/>
          <p:cNvSpPr txBox="1"/>
          <p:nvPr/>
        </p:nvSpPr>
        <p:spPr>
          <a:xfrm>
            <a:off x="4389120" y="3849623"/>
            <a:ext cx="3657600"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CX Digital, Operations, CMP President, VP CS</a:t>
            </a:r>
          </a:p>
        </p:txBody>
      </p:sp>
      <p:sp>
        <p:nvSpPr>
          <p:cNvPr id="28" name="TextBox 27"/>
          <p:cNvSpPr txBox="1"/>
          <p:nvPr/>
        </p:nvSpPr>
        <p:spPr>
          <a:xfrm>
            <a:off x="8046719" y="3849623"/>
            <a:ext cx="3776472"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C3E50"/>
                </a:solidFill>
                <a:latin typeface="Helvetica Neue"/>
              </a:rPr>
              <a:t>CX-level strategic updates</a:t>
            </a:r>
          </a:p>
        </p:txBody>
      </p:sp>
      <p:sp>
        <p:nvSpPr>
          <p:cNvPr id="29" name="Rectangle 28"/>
          <p:cNvSpPr/>
          <p:nvPr/>
        </p:nvSpPr>
        <p:spPr>
          <a:xfrm>
            <a:off x="457200" y="4507991"/>
            <a:ext cx="11274552"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507991"/>
            <a:ext cx="274320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0F1C50"/>
                </a:solidFill>
                <a:latin typeface="Helvetica Neue"/>
              </a:rPr>
              <a:t>Manager Check-in</a:t>
            </a:r>
          </a:p>
        </p:txBody>
      </p:sp>
      <p:sp>
        <p:nvSpPr>
          <p:cNvPr id="31" name="TextBox 30"/>
          <p:cNvSpPr txBox="1"/>
          <p:nvPr/>
        </p:nvSpPr>
        <p:spPr>
          <a:xfrm>
            <a:off x="3291840" y="4507991"/>
            <a:ext cx="1097280" cy="640080"/>
          </a:xfrm>
          <a:prstGeom prst="rect">
            <a:avLst/>
          </a:prstGeom>
          <a:noFill/>
        </p:spPr>
        <p:txBody>
          <a:bodyPr wrap="square" lIns="0" rIns="0" tIns="0" bIns="0" anchor="ctr">
            <a:spAutoFit/>
          </a:bodyPr>
          <a:lstStyle/>
          <a:p>
            <a:pPr algn="l">
              <a:lnSpc>
                <a:spcPct val="110000"/>
              </a:lnSpc>
              <a:spcBef>
                <a:spcPts val="0"/>
              </a:spcBef>
              <a:spcAft>
                <a:spcPts val="0"/>
              </a:spcAft>
            </a:pPr>
            <a:r>
              <a:rPr sz="1000" b="0" i="0">
                <a:solidFill>
                  <a:srgbClr val="2C3E50"/>
                </a:solidFill>
                <a:latin typeface="Helvetica Neue"/>
              </a:rPr>
              <a:t>Weekly</a:t>
            </a:r>
          </a:p>
        </p:txBody>
      </p:sp>
      <p:sp>
        <p:nvSpPr>
          <p:cNvPr id="32" name="TextBox 31"/>
          <p:cNvSpPr txBox="1"/>
          <p:nvPr/>
        </p:nvSpPr>
        <p:spPr>
          <a:xfrm>
            <a:off x="4389120" y="4507991"/>
            <a:ext cx="3657600"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1">
                <a:solidFill>
                  <a:srgbClr val="BC4328"/>
                </a:solidFill>
                <a:latin typeface="Helvetica Neue"/>
              </a:rPr>
              <a:t>[To be confirmed]</a:t>
            </a:r>
          </a:p>
        </p:txBody>
      </p:sp>
      <p:sp>
        <p:nvSpPr>
          <p:cNvPr id="33" name="TextBox 32"/>
          <p:cNvSpPr txBox="1"/>
          <p:nvPr/>
        </p:nvSpPr>
        <p:spPr>
          <a:xfrm>
            <a:off x="8046719" y="4507991"/>
            <a:ext cx="3776472" cy="640080"/>
          </a:xfrm>
          <a:prstGeom prst="rect">
            <a:avLst/>
          </a:prstGeom>
          <a:noFill/>
        </p:spPr>
        <p:txBody>
          <a:bodyPr wrap="square" lIns="0" rIns="0" tIns="0" bIns="0" anchor="ctr">
            <a:spAutoFit/>
          </a:bodyPr>
          <a:lstStyle/>
          <a:p>
            <a:pPr algn="l">
              <a:lnSpc>
                <a:spcPct val="110000"/>
              </a:lnSpc>
              <a:spcBef>
                <a:spcPts val="0"/>
              </a:spcBef>
              <a:spcAft>
                <a:spcPts val="0"/>
              </a:spcAft>
            </a:pPr>
            <a:r>
              <a:rPr sz="900" b="0" i="1">
                <a:solidFill>
                  <a:srgbClr val="BC4328"/>
                </a:solidFill>
                <a:latin typeface="Helvetica Neue"/>
              </a:rPr>
              <a:t>[To be confirmed]</a:t>
            </a:r>
          </a:p>
        </p:txBody>
      </p:sp>
      <p:sp>
        <p:nvSpPr>
          <p:cNvPr id="34" name="Rectangle 33"/>
          <p:cNvSpPr/>
          <p:nvPr/>
        </p:nvSpPr>
        <p:spPr>
          <a:xfrm>
            <a:off x="457200" y="5257799"/>
            <a:ext cx="11274552" cy="71323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5257799"/>
            <a:ext cx="73152" cy="71323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5303519"/>
            <a:ext cx="1097280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BC4328"/>
                </a:solidFill>
                <a:latin typeface="Helvetica Neue"/>
              </a:rPr>
              <a:t>WHAT'S MISSING</a:t>
            </a:r>
          </a:p>
        </p:txBody>
      </p:sp>
      <p:sp>
        <p:nvSpPr>
          <p:cNvPr id="37" name="TextBox 36"/>
          <p:cNvSpPr txBox="1"/>
          <p:nvPr/>
        </p:nvSpPr>
        <p:spPr>
          <a:xfrm>
            <a:off x="621792" y="5532119"/>
            <a:ext cx="10972800" cy="41148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No portfolio steering forum (decisions on trade-offs across branches, budget, capacity)  •  No vendor performance forum  •  Manager Check-in participants and scope pending definition</a:t>
            </a:r>
          </a:p>
        </p:txBody>
      </p:sp>
      <p:sp>
        <p:nvSpPr>
          <p:cNvPr id="38" name="Rectangle 37"/>
          <p:cNvSpPr/>
          <p:nvPr/>
        </p:nvSpPr>
        <p:spPr>
          <a:xfrm>
            <a:off x="457200" y="5989320"/>
            <a:ext cx="112745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The governance layer is operationally busy (4 weekly + 1 monthly) but strategically incomplete — a portfolio steering cadence must be introduced in the TOM</a:t>
            </a:r>
          </a:p>
        </p:txBody>
      </p:sp>
      <p:sp>
        <p:nvSpPr>
          <p:cNvPr id="40" name="TextBox 39"/>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Governance Forums  |  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Pain points cluster MECE across People, Process, Tools and Governance — each category produces its own bottleneck</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5577840" cy="22402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5577840" cy="54864"/>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5120640" cy="320040"/>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PEOPLE</a:t>
            </a:r>
          </a:p>
        </p:txBody>
      </p:sp>
      <p:sp>
        <p:nvSpPr>
          <p:cNvPr id="7" name="TextBox 6"/>
          <p:cNvSpPr txBox="1"/>
          <p:nvPr/>
        </p:nvSpPr>
        <p:spPr>
          <a:xfrm>
            <a:off x="685800" y="1920240"/>
            <a:ext cx="5120640" cy="141732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  Turnover — "1 year to hire someone" (Global SAP)</a:t>
            </a:r>
          </a:p>
          <a:p>
            <a:pPr algn="l">
              <a:lnSpc>
                <a:spcPct val="110000"/>
              </a:lnSpc>
              <a:spcBef>
                <a:spcPts val="0"/>
              </a:spcBef>
              <a:spcAft>
                <a:spcPts val="0"/>
              </a:spcAft>
            </a:pPr>
            <a:r>
              <a:rPr sz="1000" b="0" i="0">
                <a:solidFill>
                  <a:srgbClr val="2C3E50"/>
                </a:solidFill>
                <a:latin typeface="Helvetica Neue"/>
              </a:rPr>
              <a:t>▪  Unclear ownership — "3 people can run payment jobs" (Kumar/Stephanie)</a:t>
            </a:r>
          </a:p>
          <a:p>
            <a:pPr algn="l">
              <a:lnSpc>
                <a:spcPct val="110000"/>
              </a:lnSpc>
              <a:spcBef>
                <a:spcPts val="0"/>
              </a:spcBef>
              <a:spcAft>
                <a:spcPts val="0"/>
              </a:spcAft>
            </a:pPr>
            <a:r>
              <a:rPr sz="1000" b="0" i="0">
                <a:solidFill>
                  <a:srgbClr val="2C3E50"/>
                </a:solidFill>
                <a:latin typeface="Helvetica Neue"/>
              </a:rPr>
              <a:t>▪  Capacity competition across 7 business OPCOs (IT CS)</a:t>
            </a:r>
          </a:p>
          <a:p>
            <a:pPr algn="l">
              <a:lnSpc>
                <a:spcPct val="110000"/>
              </a:lnSpc>
              <a:spcBef>
                <a:spcPts val="0"/>
              </a:spcBef>
              <a:spcAft>
                <a:spcPts val="0"/>
              </a:spcAft>
            </a:pPr>
            <a:r>
              <a:rPr sz="1000" b="0" i="0">
                <a:solidFill>
                  <a:srgbClr val="2C3E50"/>
                </a:solidFill>
                <a:latin typeface="Helvetica Neue"/>
              </a:rPr>
              <a:t>▪  Heavy SWF + Accenture + Vendor dependency in delivery</a:t>
            </a:r>
          </a:p>
          <a:p>
            <a:pPr algn="l">
              <a:lnSpc>
                <a:spcPct val="110000"/>
              </a:lnSpc>
              <a:spcBef>
                <a:spcPts val="0"/>
              </a:spcBef>
              <a:spcAft>
                <a:spcPts val="0"/>
              </a:spcAft>
            </a:pPr>
            <a:r>
              <a:rPr sz="1000" b="0" i="0">
                <a:solidFill>
                  <a:srgbClr val="2C3E50"/>
                </a:solidFill>
                <a:latin typeface="Helvetica Neue"/>
              </a:rPr>
              <a:t>▪  2 vacant Sr. Manager positions in Kumar's branch</a:t>
            </a:r>
          </a:p>
        </p:txBody>
      </p:sp>
      <p:sp>
        <p:nvSpPr>
          <p:cNvPr id="8" name="TextBox 7"/>
          <p:cNvSpPr txBox="1"/>
          <p:nvPr/>
        </p:nvSpPr>
        <p:spPr>
          <a:xfrm>
            <a:off x="685800" y="33832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700" b="0" i="1">
                <a:solidFill>
                  <a:srgbClr val="95A5A6"/>
                </a:solidFill>
                <a:latin typeface="Helvetica Neue"/>
              </a:rPr>
              <a:t>Source: All 4 interview MDs</a:t>
            </a:r>
          </a:p>
        </p:txBody>
      </p:sp>
      <p:sp>
        <p:nvSpPr>
          <p:cNvPr id="9" name="Rectangle 8"/>
          <p:cNvSpPr/>
          <p:nvPr/>
        </p:nvSpPr>
        <p:spPr>
          <a:xfrm>
            <a:off x="6153912" y="1417320"/>
            <a:ext cx="5577840" cy="22402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3912" y="1417320"/>
            <a:ext cx="5577840" cy="54864"/>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554480"/>
            <a:ext cx="5120640" cy="320040"/>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PROCESS</a:t>
            </a:r>
          </a:p>
        </p:txBody>
      </p:sp>
      <p:sp>
        <p:nvSpPr>
          <p:cNvPr id="12" name="TextBox 11"/>
          <p:cNvSpPr txBox="1"/>
          <p:nvPr/>
        </p:nvSpPr>
        <p:spPr>
          <a:xfrm>
            <a:off x="6382512" y="1920240"/>
            <a:ext cx="5120640" cy="141732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  Demand intake not standardized across 6+ channels (Carlos)</a:t>
            </a:r>
          </a:p>
          <a:p>
            <a:pPr algn="l">
              <a:lnSpc>
                <a:spcPct val="110000"/>
              </a:lnSpc>
              <a:spcBef>
                <a:spcPts val="0"/>
              </a:spcBef>
              <a:spcAft>
                <a:spcPts val="0"/>
              </a:spcAft>
            </a:pPr>
            <a:r>
              <a:rPr sz="1000" b="0" i="0">
                <a:solidFill>
                  <a:srgbClr val="2C3E50"/>
                </a:solidFill>
                <a:latin typeface="Helvetica Neue"/>
              </a:rPr>
              <a:t>▪  Prioritization is ad-hoc; 4 informal criteria per forum</a:t>
            </a:r>
          </a:p>
          <a:p>
            <a:pPr algn="l">
              <a:lnSpc>
                <a:spcPct val="110000"/>
              </a:lnSpc>
              <a:spcBef>
                <a:spcPts val="0"/>
              </a:spcBef>
              <a:spcAft>
                <a:spcPts val="0"/>
              </a:spcAft>
            </a:pPr>
            <a:r>
              <a:rPr sz="1000" b="0" i="0">
                <a:solidFill>
                  <a:srgbClr val="2C3E50"/>
                </a:solidFill>
                <a:latin typeface="Helvetica Neue"/>
              </a:rPr>
              <a:t>▪  PDD is the only formal process — only for large projects</a:t>
            </a:r>
          </a:p>
          <a:p>
            <a:pPr algn="l">
              <a:lnSpc>
                <a:spcPct val="110000"/>
              </a:lnSpc>
              <a:spcBef>
                <a:spcPts val="0"/>
              </a:spcBef>
              <a:spcAft>
                <a:spcPts val="0"/>
              </a:spcAft>
            </a:pPr>
            <a:r>
              <a:rPr sz="1000" b="0" i="0">
                <a:solidFill>
                  <a:srgbClr val="2C3E50"/>
                </a:solidFill>
                <a:latin typeface="Helvetica Neue"/>
              </a:rPr>
              <a:t>▪  Vendor sets estimates, timelines, scope (especially Metering)</a:t>
            </a:r>
          </a:p>
          <a:p>
            <a:pPr algn="l">
              <a:lnSpc>
                <a:spcPct val="110000"/>
              </a:lnSpc>
              <a:spcBef>
                <a:spcPts val="0"/>
              </a:spcBef>
              <a:spcAft>
                <a:spcPts val="0"/>
              </a:spcAft>
            </a:pPr>
            <a:r>
              <a:rPr sz="1000" b="0" i="0">
                <a:solidFill>
                  <a:srgbClr val="2C3E50"/>
                </a:solidFill>
                <a:latin typeface="Helvetica Neue"/>
              </a:rPr>
              <a:t>▪  PMs and Tech Leads "need to work in the same way" (Carlos)</a:t>
            </a:r>
          </a:p>
        </p:txBody>
      </p:sp>
      <p:sp>
        <p:nvSpPr>
          <p:cNvPr id="13" name="TextBox 12"/>
          <p:cNvSpPr txBox="1"/>
          <p:nvPr/>
        </p:nvSpPr>
        <p:spPr>
          <a:xfrm>
            <a:off x="6382512" y="33832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700" b="0" i="1">
                <a:solidFill>
                  <a:srgbClr val="95A5A6"/>
                </a:solidFill>
                <a:latin typeface="Helvetica Neue"/>
              </a:rPr>
              <a:t>Source: Interview_Carlos_Applications.md + Excel prioritization criteria</a:t>
            </a:r>
          </a:p>
        </p:txBody>
      </p:sp>
      <p:sp>
        <p:nvSpPr>
          <p:cNvPr id="14" name="Rectangle 13"/>
          <p:cNvSpPr/>
          <p:nvPr/>
        </p:nvSpPr>
        <p:spPr>
          <a:xfrm>
            <a:off x="457200" y="3794760"/>
            <a:ext cx="5577840" cy="22402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794760"/>
            <a:ext cx="5577840" cy="54864"/>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931920"/>
            <a:ext cx="5120640" cy="320040"/>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BC4328"/>
                </a:solidFill>
                <a:latin typeface="Helvetica Neue"/>
              </a:rPr>
              <a:t>TOOLS</a:t>
            </a:r>
          </a:p>
        </p:txBody>
      </p:sp>
      <p:sp>
        <p:nvSpPr>
          <p:cNvPr id="17" name="TextBox 16"/>
          <p:cNvSpPr txBox="1"/>
          <p:nvPr/>
        </p:nvSpPr>
        <p:spPr>
          <a:xfrm>
            <a:off x="685800" y="4297680"/>
            <a:ext cx="5120640" cy="141732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  6+ disconnected intake channels (Jira, IT Now, RITM, SharePoint, Email, Word)</a:t>
            </a:r>
          </a:p>
          <a:p>
            <a:pPr algn="l">
              <a:lnSpc>
                <a:spcPct val="110000"/>
              </a:lnSpc>
              <a:spcBef>
                <a:spcPts val="0"/>
              </a:spcBef>
              <a:spcAft>
                <a:spcPts val="0"/>
              </a:spcAft>
            </a:pPr>
            <a:r>
              <a:rPr sz="1000" b="0" i="0">
                <a:solidFill>
                  <a:srgbClr val="2C3E50"/>
                </a:solidFill>
                <a:latin typeface="Helvetica Neue"/>
              </a:rPr>
              <a:t>▪  No portfolio management tool in 5 of 6 units (only Metering uses PPM Now)</a:t>
            </a:r>
          </a:p>
          <a:p>
            <a:pPr algn="l">
              <a:lnSpc>
                <a:spcPct val="110000"/>
              </a:lnSpc>
              <a:spcBef>
                <a:spcPts val="0"/>
              </a:spcBef>
              <a:spcAft>
                <a:spcPts val="0"/>
              </a:spcAft>
            </a:pPr>
            <a:r>
              <a:rPr sz="1000" b="0" i="0">
                <a:solidFill>
                  <a:srgbClr val="2C3E50"/>
                </a:solidFill>
                <a:latin typeface="Helvetica Neue"/>
              </a:rPr>
              <a:t>▪  No tool / process to manage vendor delivery</a:t>
            </a:r>
          </a:p>
          <a:p>
            <a:pPr algn="l">
              <a:lnSpc>
                <a:spcPct val="110000"/>
              </a:lnSpc>
              <a:spcBef>
                <a:spcPts val="0"/>
              </a:spcBef>
              <a:spcAft>
                <a:spcPts val="0"/>
              </a:spcAft>
            </a:pPr>
            <a:r>
              <a:rPr sz="1000" b="0" i="0">
                <a:solidFill>
                  <a:srgbClr val="2C3E50"/>
                </a:solidFill>
                <a:latin typeface="Helvetica Neue"/>
              </a:rPr>
              <a:t>▪  Jira fragmentation across instances</a:t>
            </a:r>
          </a:p>
          <a:p>
            <a:pPr algn="l">
              <a:lnSpc>
                <a:spcPct val="110000"/>
              </a:lnSpc>
              <a:spcBef>
                <a:spcPts val="0"/>
              </a:spcBef>
              <a:spcAft>
                <a:spcPts val="0"/>
              </a:spcAft>
            </a:pPr>
            <a:r>
              <a:rPr sz="1000" b="0" i="0">
                <a:solidFill>
                  <a:srgbClr val="2C3E50"/>
                </a:solidFill>
                <a:latin typeface="Helvetica Neue"/>
              </a:rPr>
              <a:t>▪  Informal PM stack (OneNote, Teams, Spreadsheets) for GIS</a:t>
            </a:r>
          </a:p>
        </p:txBody>
      </p:sp>
      <p:sp>
        <p:nvSpPr>
          <p:cNvPr id="18" name="TextBox 17"/>
          <p:cNvSpPr txBox="1"/>
          <p:nvPr/>
        </p:nvSpPr>
        <p:spPr>
          <a:xfrm>
            <a:off x="685800" y="576072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700" b="0" i="1">
                <a:solidFill>
                  <a:srgbClr val="95A5A6"/>
                </a:solidFill>
                <a:latin typeface="Helvetica Neue"/>
              </a:rPr>
              <a:t>Source: Interview_Application_Champions.md — tool landscape matrix</a:t>
            </a:r>
          </a:p>
        </p:txBody>
      </p:sp>
      <p:sp>
        <p:nvSpPr>
          <p:cNvPr id="19" name="Rectangle 18"/>
          <p:cNvSpPr/>
          <p:nvPr/>
        </p:nvSpPr>
        <p:spPr>
          <a:xfrm>
            <a:off x="6153912" y="3794760"/>
            <a:ext cx="5577840" cy="22402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3912" y="3794760"/>
            <a:ext cx="5577840" cy="54864"/>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3931920"/>
            <a:ext cx="5120640" cy="320040"/>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BC4328"/>
                </a:solidFill>
                <a:latin typeface="Helvetica Neue"/>
              </a:rPr>
              <a:t>GOVERNANCE</a:t>
            </a:r>
          </a:p>
        </p:txBody>
      </p:sp>
      <p:sp>
        <p:nvSpPr>
          <p:cNvPr id="22" name="TextBox 21"/>
          <p:cNvSpPr txBox="1"/>
          <p:nvPr/>
        </p:nvSpPr>
        <p:spPr>
          <a:xfrm>
            <a:off x="6382512" y="4297680"/>
            <a:ext cx="5120640" cy="141732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  5 forums exist — none covers portfolio-level decisions</a:t>
            </a:r>
          </a:p>
          <a:p>
            <a:pPr algn="l">
              <a:lnSpc>
                <a:spcPct val="110000"/>
              </a:lnSpc>
              <a:spcBef>
                <a:spcPts val="0"/>
              </a:spcBef>
              <a:spcAft>
                <a:spcPts val="0"/>
              </a:spcAft>
            </a:pPr>
            <a:r>
              <a:rPr sz="1000" b="0" i="0">
                <a:solidFill>
                  <a:srgbClr val="2C3E50"/>
                </a:solidFill>
                <a:latin typeface="Helvetica Neue"/>
              </a:rPr>
              <a:t>▪  Manager Check-in participants + scope still TBC</a:t>
            </a:r>
          </a:p>
          <a:p>
            <a:pPr algn="l">
              <a:lnSpc>
                <a:spcPct val="110000"/>
              </a:lnSpc>
              <a:spcBef>
                <a:spcPts val="0"/>
              </a:spcBef>
              <a:spcAft>
                <a:spcPts val="0"/>
              </a:spcAft>
            </a:pPr>
            <a:r>
              <a:rPr sz="1000" b="0" i="0">
                <a:solidFill>
                  <a:srgbClr val="2C3E50"/>
                </a:solidFill>
                <a:latin typeface="Helvetica Neue"/>
              </a:rPr>
              <a:t>▪  Regulatory demand overrides size in every forum (no formal rule)</a:t>
            </a:r>
          </a:p>
          <a:p>
            <a:pPr algn="l">
              <a:lnSpc>
                <a:spcPct val="110000"/>
              </a:lnSpc>
              <a:spcBef>
                <a:spcPts val="0"/>
              </a:spcBef>
              <a:spcAft>
                <a:spcPts val="0"/>
              </a:spcAft>
            </a:pPr>
            <a:r>
              <a:rPr sz="1000" b="0" i="0">
                <a:solidFill>
                  <a:srgbClr val="2C3E50"/>
                </a:solidFill>
                <a:latin typeface="Helvetica Neue"/>
              </a:rPr>
              <a:t>▪  P&amp;T is the only cross-team intermediary for Business ↔ IT</a:t>
            </a:r>
          </a:p>
          <a:p>
            <a:pPr algn="l">
              <a:lnSpc>
                <a:spcPct val="110000"/>
              </a:lnSpc>
              <a:spcBef>
                <a:spcPts val="0"/>
              </a:spcBef>
              <a:spcAft>
                <a:spcPts val="0"/>
              </a:spcAft>
            </a:pPr>
            <a:r>
              <a:rPr sz="1000" b="0" i="0">
                <a:solidFill>
                  <a:srgbClr val="2C3E50"/>
                </a:solidFill>
                <a:latin typeface="Helvetica Neue"/>
              </a:rPr>
              <a:t>▪  No enterprise-level reconciliation between Global SAP (Iberdrola) and the other SAP footprints</a:t>
            </a:r>
          </a:p>
        </p:txBody>
      </p:sp>
      <p:sp>
        <p:nvSpPr>
          <p:cNvPr id="23" name="TextBox 22"/>
          <p:cNvSpPr txBox="1"/>
          <p:nvPr/>
        </p:nvSpPr>
        <p:spPr>
          <a:xfrm>
            <a:off x="6382512" y="576072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700" b="0" i="1">
                <a:solidFill>
                  <a:srgbClr val="95A5A6"/>
                </a:solidFill>
                <a:latin typeface="Helvetica Neue"/>
              </a:rPr>
              <a:t>Source: Governance forums table + Interview_Carlos_Applications.md</a:t>
            </a:r>
          </a:p>
        </p:txBody>
      </p:sp>
      <p:sp>
        <p:nvSpPr>
          <p:cNvPr id="24" name="Rectangle 23"/>
          <p:cNvSpPr/>
          <p:nvPr/>
        </p:nvSpPr>
        <p:spPr>
          <a:xfrm>
            <a:off x="457200" y="5989320"/>
            <a:ext cx="112745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Each MECE category produces a distinct bottleneck — addressing only one dimension in the TOM will not resolve the system; all four must move together</a:t>
            </a:r>
          </a:p>
        </p:txBody>
      </p:sp>
      <p:sp>
        <p:nvSpPr>
          <p:cNvPr id="26" name="TextBox 25"/>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Pain Points — MECE  |  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Two Applications-branch bottlenecks dominate: G&amp;E has no digital intake, and Global SAP is trapped by incident overload</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5577840" cy="4434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5577840" cy="7315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00200"/>
            <a:ext cx="1371600" cy="822960"/>
          </a:xfrm>
          <a:prstGeom prst="rect">
            <a:avLst/>
          </a:prstGeom>
          <a:noFill/>
        </p:spPr>
        <p:txBody>
          <a:bodyPr wrap="square" lIns="0" rIns="0" tIns="0" bIns="0" anchor="t">
            <a:spAutoFit/>
          </a:bodyPr>
          <a:lstStyle/>
          <a:p>
            <a:pPr algn="l">
              <a:lnSpc>
                <a:spcPct val="110000"/>
              </a:lnSpc>
              <a:spcBef>
                <a:spcPts val="0"/>
              </a:spcBef>
              <a:spcAft>
                <a:spcPts val="0"/>
              </a:spcAft>
            </a:pPr>
            <a:r>
              <a:rPr sz="4200" b="1" i="0">
                <a:solidFill>
                  <a:srgbClr val="BC4328"/>
                </a:solidFill>
                <a:latin typeface="Helvetica Neue"/>
              </a:rPr>
              <a:t>01</a:t>
            </a:r>
          </a:p>
        </p:txBody>
      </p:sp>
      <p:sp>
        <p:nvSpPr>
          <p:cNvPr id="7" name="TextBox 6"/>
          <p:cNvSpPr txBox="1"/>
          <p:nvPr/>
        </p:nvSpPr>
        <p:spPr>
          <a:xfrm>
            <a:off x="685800" y="24688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95A5A6"/>
                </a:solidFill>
                <a:latin typeface="Helvetica Neue"/>
              </a:rPr>
              <a:t>BRANCH: Applications / Bruno Moreto  •  STAGE: Intake</a:t>
            </a:r>
          </a:p>
        </p:txBody>
      </p:sp>
      <p:sp>
        <p:nvSpPr>
          <p:cNvPr id="8" name="TextBox 7"/>
          <p:cNvSpPr txBox="1"/>
          <p:nvPr/>
        </p:nvSpPr>
        <p:spPr>
          <a:xfrm>
            <a:off x="685800" y="2743200"/>
            <a:ext cx="5120640" cy="411480"/>
          </a:xfrm>
          <a:prstGeom prst="rect">
            <a:avLst/>
          </a:prstGeom>
          <a:noFill/>
        </p:spPr>
        <p:txBody>
          <a:bodyPr wrap="square" lIns="0" rIns="0" tIns="0" bIns="0" anchor="t">
            <a:spAutoFit/>
          </a:bodyPr>
          <a:lstStyle/>
          <a:p>
            <a:pPr algn="l">
              <a:lnSpc>
                <a:spcPct val="110000"/>
              </a:lnSpc>
              <a:spcBef>
                <a:spcPts val="0"/>
              </a:spcBef>
              <a:spcAft>
                <a:spcPts val="0"/>
              </a:spcAft>
            </a:pPr>
            <a:r>
              <a:rPr sz="1800" b="1" i="0">
                <a:solidFill>
                  <a:srgbClr val="0F1C50"/>
                </a:solidFill>
                <a:latin typeface="Helvetica Neue"/>
              </a:rPr>
              <a:t>G&amp;E Email-Only Intake</a:t>
            </a:r>
          </a:p>
        </p:txBody>
      </p:sp>
      <p:sp>
        <p:nvSpPr>
          <p:cNvPr id="9" name="TextBox 8"/>
          <p:cNvSpPr txBox="1"/>
          <p:nvPr/>
        </p:nvSpPr>
        <p:spPr>
          <a:xfrm>
            <a:off x="685800" y="3291839"/>
            <a:ext cx="5120640" cy="137160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Zero digital trail. Every request arrives via email from business or vendor. No triage, no queue, no SLA. Each decision is individual and unreproducible. Andrew McGibbon is effectively the single point of routing.</a:t>
            </a:r>
          </a:p>
        </p:txBody>
      </p:sp>
      <p:sp>
        <p:nvSpPr>
          <p:cNvPr id="10" name="TextBox 9"/>
          <p:cNvSpPr txBox="1"/>
          <p:nvPr/>
        </p:nvSpPr>
        <p:spPr>
          <a:xfrm>
            <a:off x="685800" y="47548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BC4328"/>
                </a:solidFill>
                <a:latin typeface="Helvetica Neue"/>
              </a:rPr>
              <a:t>IMPACT</a:t>
            </a:r>
          </a:p>
        </p:txBody>
      </p:sp>
      <p:sp>
        <p:nvSpPr>
          <p:cNvPr id="11" name="TextBox 10"/>
          <p:cNvSpPr txBox="1"/>
          <p:nvPr/>
        </p:nvSpPr>
        <p:spPr>
          <a:xfrm>
            <a:off x="685800" y="4983480"/>
            <a:ext cx="5120640" cy="64008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Unknown volume. No capacity forecast possible. Single-person dependency. Third-party risk + cyber/legal priorities compete without triage.</a:t>
            </a:r>
          </a:p>
        </p:txBody>
      </p:sp>
      <p:sp>
        <p:nvSpPr>
          <p:cNvPr id="12" name="Rectangle 11"/>
          <p:cNvSpPr/>
          <p:nvPr/>
        </p:nvSpPr>
        <p:spPr>
          <a:xfrm>
            <a:off x="685800" y="5349240"/>
            <a:ext cx="5120640" cy="384048"/>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394959"/>
            <a:ext cx="4892040" cy="274320"/>
          </a:xfrm>
          <a:prstGeom prst="rect">
            <a:avLst/>
          </a:prstGeom>
          <a:noFill/>
        </p:spPr>
        <p:txBody>
          <a:bodyPr wrap="square" lIns="0" rIns="0" tIns="0" bIns="0" anchor="ctr">
            <a:spAutoFit/>
          </a:bodyPr>
          <a:lstStyle/>
          <a:p>
            <a:pPr algn="l">
              <a:lnSpc>
                <a:spcPct val="110000"/>
              </a:lnSpc>
              <a:spcBef>
                <a:spcPts val="0"/>
              </a:spcBef>
              <a:spcAft>
                <a:spcPts val="0"/>
              </a:spcAft>
            </a:pPr>
            <a:r>
              <a:rPr sz="900" b="0" i="1">
                <a:solidFill>
                  <a:srgbClr val="FFFFFF"/>
                </a:solidFill>
                <a:latin typeface="Helvetica Neue"/>
              </a:rPr>
              <a:t>"I receive requests/input from the business or from the vendor" — Andrew McGibbon</a:t>
            </a:r>
          </a:p>
        </p:txBody>
      </p:sp>
      <p:sp>
        <p:nvSpPr>
          <p:cNvPr id="14" name="Rectangle 13"/>
          <p:cNvSpPr/>
          <p:nvPr/>
        </p:nvSpPr>
        <p:spPr>
          <a:xfrm>
            <a:off x="6153912" y="1417320"/>
            <a:ext cx="5577840" cy="4434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3912" y="1417320"/>
            <a:ext cx="5577840" cy="7315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600200"/>
            <a:ext cx="1371600" cy="822960"/>
          </a:xfrm>
          <a:prstGeom prst="rect">
            <a:avLst/>
          </a:prstGeom>
          <a:noFill/>
        </p:spPr>
        <p:txBody>
          <a:bodyPr wrap="square" lIns="0" rIns="0" tIns="0" bIns="0" anchor="t">
            <a:spAutoFit/>
          </a:bodyPr>
          <a:lstStyle/>
          <a:p>
            <a:pPr algn="l">
              <a:lnSpc>
                <a:spcPct val="110000"/>
              </a:lnSpc>
              <a:spcBef>
                <a:spcPts val="0"/>
              </a:spcBef>
              <a:spcAft>
                <a:spcPts val="0"/>
              </a:spcAft>
            </a:pPr>
            <a:r>
              <a:rPr sz="4200" b="1" i="0">
                <a:solidFill>
                  <a:srgbClr val="BC4328"/>
                </a:solidFill>
                <a:latin typeface="Helvetica Neue"/>
              </a:rPr>
              <a:t>02</a:t>
            </a:r>
          </a:p>
        </p:txBody>
      </p:sp>
      <p:sp>
        <p:nvSpPr>
          <p:cNvPr id="17" name="TextBox 16"/>
          <p:cNvSpPr txBox="1"/>
          <p:nvPr/>
        </p:nvSpPr>
        <p:spPr>
          <a:xfrm>
            <a:off x="6382512" y="24688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95A5A6"/>
                </a:solidFill>
                <a:latin typeface="Helvetica Neue"/>
              </a:rPr>
              <a:t>BRANCH: Applications / Vanessa Colombo  •  STAGE: Prioritization</a:t>
            </a:r>
          </a:p>
        </p:txBody>
      </p:sp>
      <p:sp>
        <p:nvSpPr>
          <p:cNvPr id="18" name="TextBox 17"/>
          <p:cNvSpPr txBox="1"/>
          <p:nvPr/>
        </p:nvSpPr>
        <p:spPr>
          <a:xfrm>
            <a:off x="6382512" y="2743200"/>
            <a:ext cx="5120640" cy="411480"/>
          </a:xfrm>
          <a:prstGeom prst="rect">
            <a:avLst/>
          </a:prstGeom>
          <a:noFill/>
        </p:spPr>
        <p:txBody>
          <a:bodyPr wrap="square" lIns="0" rIns="0" tIns="0" bIns="0" anchor="t">
            <a:spAutoFit/>
          </a:bodyPr>
          <a:lstStyle/>
          <a:p>
            <a:pPr algn="l">
              <a:lnSpc>
                <a:spcPct val="110000"/>
              </a:lnSpc>
              <a:spcBef>
                <a:spcPts val="0"/>
              </a:spcBef>
              <a:spcAft>
                <a:spcPts val="0"/>
              </a:spcAft>
            </a:pPr>
            <a:r>
              <a:rPr sz="1800" b="1" i="0">
                <a:solidFill>
                  <a:srgbClr val="0F1C50"/>
                </a:solidFill>
                <a:latin typeface="Helvetica Neue"/>
              </a:rPr>
              <a:t>Global SAP Incident Flood</a:t>
            </a:r>
          </a:p>
        </p:txBody>
      </p:sp>
      <p:sp>
        <p:nvSpPr>
          <p:cNvPr id="19" name="TextBox 18"/>
          <p:cNvSpPr txBox="1"/>
          <p:nvPr/>
        </p:nvSpPr>
        <p:spPr>
          <a:xfrm>
            <a:off x="6382512" y="3291839"/>
            <a:ext cx="5120640" cy="137160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Incidents (IT Now) outrank all other demand. Small demands (Jira) and major projects (PDD + SharePoint) wait. P&amp;T intermediates but cannot unblock the fundamental capacity shortage — turnover compounds the loss.</a:t>
            </a:r>
          </a:p>
        </p:txBody>
      </p:sp>
      <p:sp>
        <p:nvSpPr>
          <p:cNvPr id="20" name="TextBox 19"/>
          <p:cNvSpPr txBox="1"/>
          <p:nvPr/>
        </p:nvSpPr>
        <p:spPr>
          <a:xfrm>
            <a:off x="6382512" y="47548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BC4328"/>
                </a:solidFill>
                <a:latin typeface="Helvetica Neue"/>
              </a:rPr>
              <a:t>IMPACT</a:t>
            </a:r>
          </a:p>
        </p:txBody>
      </p:sp>
      <p:sp>
        <p:nvSpPr>
          <p:cNvPr id="21" name="TextBox 20"/>
          <p:cNvSpPr txBox="1"/>
          <p:nvPr/>
        </p:nvSpPr>
        <p:spPr>
          <a:xfrm>
            <a:off x="6382512" y="4983480"/>
            <a:ext cx="5120640" cy="64008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Capacity trapped in BAU. Major projects (PDD) slip. Knowledge transfer breaks at every exit — "1 year to hire someone".</a:t>
            </a:r>
          </a:p>
        </p:txBody>
      </p:sp>
      <p:sp>
        <p:nvSpPr>
          <p:cNvPr id="22" name="Rectangle 21"/>
          <p:cNvSpPr/>
          <p:nvPr/>
        </p:nvSpPr>
        <p:spPr>
          <a:xfrm>
            <a:off x="6382512" y="5349240"/>
            <a:ext cx="5120640" cy="384048"/>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9672" y="5394959"/>
            <a:ext cx="4892040" cy="274320"/>
          </a:xfrm>
          <a:prstGeom prst="rect">
            <a:avLst/>
          </a:prstGeom>
          <a:noFill/>
        </p:spPr>
        <p:txBody>
          <a:bodyPr wrap="square" lIns="0" rIns="0" tIns="0" bIns="0" anchor="ctr">
            <a:spAutoFit/>
          </a:bodyPr>
          <a:lstStyle/>
          <a:p>
            <a:pPr algn="l">
              <a:lnSpc>
                <a:spcPct val="110000"/>
              </a:lnSpc>
              <a:spcBef>
                <a:spcPts val="0"/>
              </a:spcBef>
              <a:spcAft>
                <a:spcPts val="0"/>
              </a:spcAft>
            </a:pPr>
            <a:r>
              <a:rPr sz="900" b="0" i="1">
                <a:solidFill>
                  <a:srgbClr val="FFFFFF"/>
                </a:solidFill>
                <a:latin typeface="Helvetica Neue"/>
              </a:rPr>
              <a:t>"Sometimes entire team is focusing on incidents" — Michael Dubois</a:t>
            </a:r>
          </a:p>
        </p:txBody>
      </p:sp>
      <p:sp>
        <p:nvSpPr>
          <p:cNvPr id="24" name="Rectangle 23"/>
          <p:cNvSpPr/>
          <p:nvPr/>
        </p:nvSpPr>
        <p:spPr>
          <a:xfrm>
            <a:off x="457200" y="5989320"/>
            <a:ext cx="11274552" cy="5029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These two Applications bottlenecks bracket the demand funnel — one breaks the entry, the other chokes the middle; both must close in the TOM</a:t>
            </a:r>
          </a:p>
        </p:txBody>
      </p:sp>
      <p:sp>
        <p:nvSpPr>
          <p:cNvPr id="26" name="TextBox 25"/>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Applications Bottlenecks  |  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Two Customer Services bottlenecks: leadership gaps in Kumar's branch + zero portfolio visibility outside Smart Metering</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5577840" cy="4434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5577840" cy="7315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00200"/>
            <a:ext cx="1371600" cy="822960"/>
          </a:xfrm>
          <a:prstGeom prst="rect">
            <a:avLst/>
          </a:prstGeom>
          <a:noFill/>
        </p:spPr>
        <p:txBody>
          <a:bodyPr wrap="square" lIns="0" rIns="0" tIns="0" bIns="0" anchor="t">
            <a:spAutoFit/>
          </a:bodyPr>
          <a:lstStyle/>
          <a:p>
            <a:pPr algn="l">
              <a:lnSpc>
                <a:spcPct val="110000"/>
              </a:lnSpc>
              <a:spcBef>
                <a:spcPts val="0"/>
              </a:spcBef>
              <a:spcAft>
                <a:spcPts val="0"/>
              </a:spcAft>
            </a:pPr>
            <a:r>
              <a:rPr sz="4200" b="1" i="0">
                <a:solidFill>
                  <a:srgbClr val="BC4328"/>
                </a:solidFill>
                <a:latin typeface="Helvetica Neue"/>
              </a:rPr>
              <a:t>03</a:t>
            </a:r>
          </a:p>
        </p:txBody>
      </p:sp>
      <p:sp>
        <p:nvSpPr>
          <p:cNvPr id="7" name="TextBox 6"/>
          <p:cNvSpPr txBox="1"/>
          <p:nvPr/>
        </p:nvSpPr>
        <p:spPr>
          <a:xfrm>
            <a:off x="685800" y="24688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95A5A6"/>
                </a:solidFill>
                <a:latin typeface="Helvetica Neue"/>
              </a:rPr>
              <a:t>BRANCH: Customer Services / Kumar  •  STAGES: Classification + Prioritization</a:t>
            </a:r>
          </a:p>
        </p:txBody>
      </p:sp>
      <p:sp>
        <p:nvSpPr>
          <p:cNvPr id="8" name="TextBox 7"/>
          <p:cNvSpPr txBox="1"/>
          <p:nvPr/>
        </p:nvSpPr>
        <p:spPr>
          <a:xfrm>
            <a:off x="685800" y="2743200"/>
            <a:ext cx="512064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1" i="0">
                <a:solidFill>
                  <a:srgbClr val="0F1C50"/>
                </a:solidFill>
                <a:latin typeface="Helvetica Neue"/>
              </a:rPr>
              <a:t>Customer Services Leadership Gap</a:t>
            </a:r>
          </a:p>
        </p:txBody>
      </p:sp>
      <p:sp>
        <p:nvSpPr>
          <p:cNvPr id="9" name="TextBox 8"/>
          <p:cNvSpPr txBox="1"/>
          <p:nvPr/>
        </p:nvSpPr>
        <p:spPr>
          <a:xfrm>
            <a:off x="685800" y="3291839"/>
            <a:ext cx="5120640" cy="137160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Two vacant Sr. Manager positions (CRM &amp; Contact Center Ops, SAP &amp; CS Architecture). Prioritization happens director-level only across Billing, CRM, Metering and Basis — "intrinsic common sense" (Metering) is the most explicit criterion on record. Travis PMO handles large projects independently.</a:t>
            </a:r>
          </a:p>
        </p:txBody>
      </p:sp>
      <p:sp>
        <p:nvSpPr>
          <p:cNvPr id="10" name="TextBox 9"/>
          <p:cNvSpPr txBox="1"/>
          <p:nvPr/>
        </p:nvSpPr>
        <p:spPr>
          <a:xfrm>
            <a:off x="685800" y="47548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BC4328"/>
                </a:solidFill>
                <a:latin typeface="Helvetica Neue"/>
              </a:rPr>
              <a:t>IMPACT</a:t>
            </a:r>
          </a:p>
        </p:txBody>
      </p:sp>
      <p:sp>
        <p:nvSpPr>
          <p:cNvPr id="11" name="TextBox 10"/>
          <p:cNvSpPr txBox="1"/>
          <p:nvPr/>
        </p:nvSpPr>
        <p:spPr>
          <a:xfrm>
            <a:off x="685800" y="4983480"/>
            <a:ext cx="5120640" cy="64008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No shared prioritization across Billing / CRM / Metering / Basis. Consolidated branch-level view of demand is a structural blind spot for the TOM.</a:t>
            </a:r>
          </a:p>
        </p:txBody>
      </p:sp>
      <p:sp>
        <p:nvSpPr>
          <p:cNvPr id="12" name="Rectangle 11"/>
          <p:cNvSpPr/>
          <p:nvPr/>
        </p:nvSpPr>
        <p:spPr>
          <a:xfrm>
            <a:off x="685800" y="5349240"/>
            <a:ext cx="5120640" cy="384048"/>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394959"/>
            <a:ext cx="4892040" cy="274320"/>
          </a:xfrm>
          <a:prstGeom prst="rect">
            <a:avLst/>
          </a:prstGeom>
          <a:noFill/>
        </p:spPr>
        <p:txBody>
          <a:bodyPr wrap="square" lIns="0" rIns="0" tIns="0" bIns="0" anchor="ctr">
            <a:spAutoFit/>
          </a:bodyPr>
          <a:lstStyle/>
          <a:p>
            <a:pPr algn="l">
              <a:lnSpc>
                <a:spcPct val="110000"/>
              </a:lnSpc>
              <a:spcBef>
                <a:spcPts val="0"/>
              </a:spcBef>
              <a:spcAft>
                <a:spcPts val="0"/>
              </a:spcAft>
            </a:pPr>
            <a:r>
              <a:rPr sz="900" b="0" i="1">
                <a:solidFill>
                  <a:srgbClr val="FFFFFF"/>
                </a:solidFill>
                <a:latin typeface="Helvetica Neue"/>
              </a:rPr>
              <a:t>"Who is in charge of what — 3 people can run the payment jobs" — Kumar &amp; Stephanie</a:t>
            </a:r>
          </a:p>
        </p:txBody>
      </p:sp>
      <p:sp>
        <p:nvSpPr>
          <p:cNvPr id="14" name="Rectangle 13"/>
          <p:cNvSpPr/>
          <p:nvPr/>
        </p:nvSpPr>
        <p:spPr>
          <a:xfrm>
            <a:off x="6153912" y="1417320"/>
            <a:ext cx="5577840" cy="4434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3912" y="1417320"/>
            <a:ext cx="5577840" cy="73152"/>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600200"/>
            <a:ext cx="1371600" cy="822960"/>
          </a:xfrm>
          <a:prstGeom prst="rect">
            <a:avLst/>
          </a:prstGeom>
          <a:noFill/>
        </p:spPr>
        <p:txBody>
          <a:bodyPr wrap="square" lIns="0" rIns="0" tIns="0" bIns="0" anchor="t">
            <a:spAutoFit/>
          </a:bodyPr>
          <a:lstStyle/>
          <a:p>
            <a:pPr algn="l">
              <a:lnSpc>
                <a:spcPct val="110000"/>
              </a:lnSpc>
              <a:spcBef>
                <a:spcPts val="0"/>
              </a:spcBef>
              <a:spcAft>
                <a:spcPts val="0"/>
              </a:spcAft>
            </a:pPr>
            <a:r>
              <a:rPr sz="4200" b="1" i="0">
                <a:solidFill>
                  <a:srgbClr val="BC4328"/>
                </a:solidFill>
                <a:latin typeface="Helvetica Neue"/>
              </a:rPr>
              <a:t>04</a:t>
            </a:r>
          </a:p>
        </p:txBody>
      </p:sp>
      <p:sp>
        <p:nvSpPr>
          <p:cNvPr id="17" name="TextBox 16"/>
          <p:cNvSpPr txBox="1"/>
          <p:nvPr/>
        </p:nvSpPr>
        <p:spPr>
          <a:xfrm>
            <a:off x="6382512" y="24688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95A5A6"/>
                </a:solidFill>
                <a:latin typeface="Helvetica Neue"/>
              </a:rPr>
              <a:t>BRANCH: Both (emphasis on Customer Services)  •  STAGES: Portfolio + Delivery</a:t>
            </a:r>
          </a:p>
        </p:txBody>
      </p:sp>
      <p:sp>
        <p:nvSpPr>
          <p:cNvPr id="18" name="TextBox 17"/>
          <p:cNvSpPr txBox="1"/>
          <p:nvPr/>
        </p:nvSpPr>
        <p:spPr>
          <a:xfrm>
            <a:off x="6382512" y="2743200"/>
            <a:ext cx="512064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1" i="0">
                <a:solidFill>
                  <a:srgbClr val="0F1C50"/>
                </a:solidFill>
                <a:latin typeface="Helvetica Neue"/>
              </a:rPr>
              <a:t>Portfolio &amp; Vendor Tooling Gap</a:t>
            </a:r>
          </a:p>
        </p:txBody>
      </p:sp>
      <p:sp>
        <p:nvSpPr>
          <p:cNvPr id="19" name="TextBox 18"/>
          <p:cNvSpPr txBox="1"/>
          <p:nvPr/>
        </p:nvSpPr>
        <p:spPr>
          <a:xfrm>
            <a:off x="6382512" y="3291839"/>
            <a:ext cx="5120640" cy="137160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No tool supports portfolio management in 5 of 6 units — only Smart Metering uses PPM Now. No process governs vendor delivery. In Smart Metering, "all portfolio in vendor" (100% outsourced) — vendors estimate, do requirements and code.</a:t>
            </a:r>
          </a:p>
        </p:txBody>
      </p:sp>
      <p:sp>
        <p:nvSpPr>
          <p:cNvPr id="20" name="TextBox 19"/>
          <p:cNvSpPr txBox="1"/>
          <p:nvPr/>
        </p:nvSpPr>
        <p:spPr>
          <a:xfrm>
            <a:off x="6382512" y="4754880"/>
            <a:ext cx="5120640" cy="228600"/>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BC4328"/>
                </a:solidFill>
                <a:latin typeface="Helvetica Neue"/>
              </a:rPr>
              <a:t>IMPACT</a:t>
            </a:r>
          </a:p>
        </p:txBody>
      </p:sp>
      <p:sp>
        <p:nvSpPr>
          <p:cNvPr id="21" name="TextBox 20"/>
          <p:cNvSpPr txBox="1"/>
          <p:nvPr/>
        </p:nvSpPr>
        <p:spPr>
          <a:xfrm>
            <a:off x="6382512" y="4983480"/>
            <a:ext cx="5120640" cy="640080"/>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2C3E50"/>
                </a:solidFill>
                <a:latin typeface="Helvetica Neue"/>
              </a:rPr>
              <a:t>Vendor sets timelines and estimates. Budget/schedule control degraded. ROI from IT investment is untraceable back to business outcomes.</a:t>
            </a:r>
          </a:p>
        </p:txBody>
      </p:sp>
      <p:sp>
        <p:nvSpPr>
          <p:cNvPr id="22" name="Rectangle 21"/>
          <p:cNvSpPr/>
          <p:nvPr/>
        </p:nvSpPr>
        <p:spPr>
          <a:xfrm>
            <a:off x="6382512" y="5349240"/>
            <a:ext cx="5120640" cy="384048"/>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9672" y="5394959"/>
            <a:ext cx="4892040" cy="274320"/>
          </a:xfrm>
          <a:prstGeom prst="rect">
            <a:avLst/>
          </a:prstGeom>
          <a:noFill/>
        </p:spPr>
        <p:txBody>
          <a:bodyPr wrap="square" lIns="0" rIns="0" tIns="0" bIns="0" anchor="ctr">
            <a:spAutoFit/>
          </a:bodyPr>
          <a:lstStyle/>
          <a:p>
            <a:pPr algn="l">
              <a:lnSpc>
                <a:spcPct val="110000"/>
              </a:lnSpc>
              <a:spcBef>
                <a:spcPts val="0"/>
              </a:spcBef>
              <a:spcAft>
                <a:spcPts val="0"/>
              </a:spcAft>
            </a:pPr>
            <a:r>
              <a:rPr sz="900" b="0" i="1">
                <a:solidFill>
                  <a:srgbClr val="FFFFFF"/>
                </a:solidFill>
                <a:latin typeface="Helvetica Neue"/>
              </a:rPr>
              <a:t>"No tool to support portfolio management. No tools or process to manage delivery process of vendors"</a:t>
            </a:r>
          </a:p>
        </p:txBody>
      </p:sp>
      <p:sp>
        <p:nvSpPr>
          <p:cNvPr id="24" name="Rectangle 23"/>
          <p:cNvSpPr/>
          <p:nvPr/>
        </p:nvSpPr>
        <p:spPr>
          <a:xfrm>
            <a:off x="457200" y="5989320"/>
            <a:ext cx="11274552" cy="5029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Customer Services has both structural (leadership) and operational (tooling) gaps — resolving one without the other leaves the branch unable to scale</a:t>
            </a:r>
          </a:p>
        </p:txBody>
      </p:sp>
      <p:sp>
        <p:nvSpPr>
          <p:cNvPr id="26" name="TextBox 25"/>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Customer Services Bottlenecks  |  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Three systemic issues cut across both branches — no local fix resolves them; only the TOM can</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11274552" cy="13898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73152" cy="138988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554480"/>
            <a:ext cx="548640" cy="54864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54480"/>
            <a:ext cx="548640" cy="548640"/>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01</a:t>
            </a:r>
          </a:p>
        </p:txBody>
      </p:sp>
      <p:sp>
        <p:nvSpPr>
          <p:cNvPr id="8" name="TextBox 7"/>
          <p:cNvSpPr txBox="1"/>
          <p:nvPr/>
        </p:nvSpPr>
        <p:spPr>
          <a:xfrm>
            <a:off x="1280160" y="1508760"/>
            <a:ext cx="10515600" cy="320040"/>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Prioritization has no shared model</a:t>
            </a:r>
          </a:p>
        </p:txBody>
      </p:sp>
      <p:sp>
        <p:nvSpPr>
          <p:cNvPr id="9" name="TextBox 8"/>
          <p:cNvSpPr txBox="1"/>
          <p:nvPr/>
        </p:nvSpPr>
        <p:spPr>
          <a:xfrm>
            <a:off x="1280160" y="1828800"/>
            <a:ext cx="1051560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Four informal criteria (strategic, operational urgency, regulatory, size) are applied per forum, per team, without a scoring rubric. Regulatory always wins regardless of size. No mechanism balances competing demands across the two branches.</a:t>
            </a:r>
          </a:p>
        </p:txBody>
      </p:sp>
      <p:sp>
        <p:nvSpPr>
          <p:cNvPr id="10" name="TextBox 9"/>
          <p:cNvSpPr txBox="1"/>
          <p:nvPr/>
        </p:nvSpPr>
        <p:spPr>
          <a:xfrm>
            <a:off x="1280160" y="2468880"/>
            <a:ext cx="2743200" cy="201168"/>
          </a:xfrm>
          <a:prstGeom prst="rect">
            <a:avLst/>
          </a:prstGeom>
          <a:noFill/>
        </p:spPr>
        <p:txBody>
          <a:bodyPr wrap="square" lIns="0" rIns="0" tIns="0" bIns="0" anchor="t">
            <a:spAutoFit/>
          </a:bodyPr>
          <a:lstStyle/>
          <a:p>
            <a:pPr algn="l">
              <a:lnSpc>
                <a:spcPct val="110000"/>
              </a:lnSpc>
              <a:spcBef>
                <a:spcPts val="0"/>
              </a:spcBef>
              <a:spcAft>
                <a:spcPts val="0"/>
              </a:spcAft>
            </a:pPr>
            <a:r>
              <a:rPr sz="800" b="1" i="0">
                <a:solidFill>
                  <a:srgbClr val="6785C1"/>
                </a:solidFill>
                <a:latin typeface="Helvetica Neue"/>
              </a:rPr>
              <a:t>APPLICATIONS:</a:t>
            </a:r>
          </a:p>
        </p:txBody>
      </p:sp>
      <p:sp>
        <p:nvSpPr>
          <p:cNvPr id="11" name="TextBox 10"/>
          <p:cNvSpPr txBox="1"/>
          <p:nvPr/>
        </p:nvSpPr>
        <p:spPr>
          <a:xfrm>
            <a:off x="2834640" y="2468880"/>
            <a:ext cx="3200400" cy="320040"/>
          </a:xfrm>
          <a:prstGeom prst="rect">
            <a:avLst/>
          </a:prstGeom>
          <a:noFill/>
        </p:spPr>
        <p:txBody>
          <a:bodyPr wrap="square" lIns="0" rIns="0" tIns="0" bIns="0" anchor="t">
            <a:spAutoFit/>
          </a:bodyPr>
          <a:lstStyle/>
          <a:p>
            <a:pPr algn="l">
              <a:lnSpc>
                <a:spcPct val="110000"/>
              </a:lnSpc>
              <a:spcBef>
                <a:spcPts val="0"/>
              </a:spcBef>
              <a:spcAft>
                <a:spcPts val="0"/>
              </a:spcAft>
            </a:pPr>
            <a:r>
              <a:rPr sz="800" b="0" i="1">
                <a:solidFill>
                  <a:srgbClr val="2C3E50"/>
                </a:solidFill>
                <a:latin typeface="Helvetica Neue"/>
              </a:rPr>
              <a:t>PDD approval / impact × users / incidents first / criticality — all different</a:t>
            </a:r>
          </a:p>
        </p:txBody>
      </p:sp>
      <p:sp>
        <p:nvSpPr>
          <p:cNvPr id="12" name="TextBox 11"/>
          <p:cNvSpPr txBox="1"/>
          <p:nvPr/>
        </p:nvSpPr>
        <p:spPr>
          <a:xfrm>
            <a:off x="6355080" y="2468880"/>
            <a:ext cx="2743200" cy="201168"/>
          </a:xfrm>
          <a:prstGeom prst="rect">
            <a:avLst/>
          </a:prstGeom>
          <a:noFill/>
        </p:spPr>
        <p:txBody>
          <a:bodyPr wrap="square" lIns="0" rIns="0" tIns="0" bIns="0" anchor="t">
            <a:spAutoFit/>
          </a:bodyPr>
          <a:lstStyle/>
          <a:p>
            <a:pPr algn="l">
              <a:lnSpc>
                <a:spcPct val="110000"/>
              </a:lnSpc>
              <a:spcBef>
                <a:spcPts val="0"/>
              </a:spcBef>
              <a:spcAft>
                <a:spcPts val="0"/>
              </a:spcAft>
            </a:pPr>
            <a:r>
              <a:rPr sz="800" b="1" i="0">
                <a:solidFill>
                  <a:srgbClr val="0F1C50"/>
                </a:solidFill>
                <a:latin typeface="Helvetica Neue"/>
              </a:rPr>
              <a:t>CUSTOMER SERVICES:</a:t>
            </a:r>
          </a:p>
        </p:txBody>
      </p:sp>
      <p:sp>
        <p:nvSpPr>
          <p:cNvPr id="13" name="TextBox 12"/>
          <p:cNvSpPr txBox="1"/>
          <p:nvPr/>
        </p:nvSpPr>
        <p:spPr>
          <a:xfrm>
            <a:off x="8275320" y="2468880"/>
            <a:ext cx="3383280" cy="320040"/>
          </a:xfrm>
          <a:prstGeom prst="rect">
            <a:avLst/>
          </a:prstGeom>
          <a:noFill/>
        </p:spPr>
        <p:txBody>
          <a:bodyPr wrap="square" lIns="0" rIns="0" tIns="0" bIns="0" anchor="t">
            <a:spAutoFit/>
          </a:bodyPr>
          <a:lstStyle/>
          <a:p>
            <a:pPr algn="l">
              <a:lnSpc>
                <a:spcPct val="110000"/>
              </a:lnSpc>
              <a:spcBef>
                <a:spcPts val="0"/>
              </a:spcBef>
              <a:spcAft>
                <a:spcPts val="0"/>
              </a:spcAft>
            </a:pPr>
            <a:r>
              <a:rPr sz="800" b="0" i="1">
                <a:solidFill>
                  <a:srgbClr val="2C3E50"/>
                </a:solidFill>
                <a:latin typeface="Helvetica Neue"/>
              </a:rPr>
              <a:t>"Intrinsic common sense" (Metering) + forum-based (director-level)</a:t>
            </a:r>
          </a:p>
        </p:txBody>
      </p:sp>
      <p:sp>
        <p:nvSpPr>
          <p:cNvPr id="14" name="Rectangle 13"/>
          <p:cNvSpPr/>
          <p:nvPr/>
        </p:nvSpPr>
        <p:spPr>
          <a:xfrm>
            <a:off x="457200" y="2880360"/>
            <a:ext cx="11274552" cy="13898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880360"/>
            <a:ext cx="73152" cy="138988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017520"/>
            <a:ext cx="548640" cy="54864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017520"/>
            <a:ext cx="548640" cy="548640"/>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02</a:t>
            </a:r>
          </a:p>
        </p:txBody>
      </p:sp>
      <p:sp>
        <p:nvSpPr>
          <p:cNvPr id="18" name="TextBox 17"/>
          <p:cNvSpPr txBox="1"/>
          <p:nvPr/>
        </p:nvSpPr>
        <p:spPr>
          <a:xfrm>
            <a:off x="1280160" y="2971800"/>
            <a:ext cx="10515600" cy="320040"/>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Taxonomy is undefined</a:t>
            </a:r>
          </a:p>
        </p:txBody>
      </p:sp>
      <p:sp>
        <p:nvSpPr>
          <p:cNvPr id="19" name="TextBox 18"/>
          <p:cNvSpPr txBox="1"/>
          <p:nvPr/>
        </p:nvSpPr>
        <p:spPr>
          <a:xfrm>
            <a:off x="1280160" y="3291840"/>
            <a:ext cx="1051560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What counts as "small", "medium", or "large" demand is defined per team. No hours / cost / complexity threshold exists. Without objective classification, prioritization logic cannot be automated, and forums debate the class before debating the priority.</a:t>
            </a:r>
          </a:p>
        </p:txBody>
      </p:sp>
      <p:sp>
        <p:nvSpPr>
          <p:cNvPr id="20" name="TextBox 19"/>
          <p:cNvSpPr txBox="1"/>
          <p:nvPr/>
        </p:nvSpPr>
        <p:spPr>
          <a:xfrm>
            <a:off x="1280160" y="3931920"/>
            <a:ext cx="2743200" cy="201168"/>
          </a:xfrm>
          <a:prstGeom prst="rect">
            <a:avLst/>
          </a:prstGeom>
          <a:noFill/>
        </p:spPr>
        <p:txBody>
          <a:bodyPr wrap="square" lIns="0" rIns="0" tIns="0" bIns="0" anchor="t">
            <a:spAutoFit/>
          </a:bodyPr>
          <a:lstStyle/>
          <a:p>
            <a:pPr algn="l">
              <a:lnSpc>
                <a:spcPct val="110000"/>
              </a:lnSpc>
              <a:spcBef>
                <a:spcPts val="0"/>
              </a:spcBef>
              <a:spcAft>
                <a:spcPts val="0"/>
              </a:spcAft>
            </a:pPr>
            <a:r>
              <a:rPr sz="800" b="1" i="0">
                <a:solidFill>
                  <a:srgbClr val="6785C1"/>
                </a:solidFill>
                <a:latin typeface="Helvetica Neue"/>
              </a:rPr>
              <a:t>APPLICATIONS:</a:t>
            </a:r>
          </a:p>
        </p:txBody>
      </p:sp>
      <p:sp>
        <p:nvSpPr>
          <p:cNvPr id="21" name="TextBox 20"/>
          <p:cNvSpPr txBox="1"/>
          <p:nvPr/>
        </p:nvSpPr>
        <p:spPr>
          <a:xfrm>
            <a:off x="2834640" y="3931920"/>
            <a:ext cx="3200400" cy="320040"/>
          </a:xfrm>
          <a:prstGeom prst="rect">
            <a:avLst/>
          </a:prstGeom>
          <a:noFill/>
        </p:spPr>
        <p:txBody>
          <a:bodyPr wrap="square" lIns="0" rIns="0" tIns="0" bIns="0" anchor="t">
            <a:spAutoFit/>
          </a:bodyPr>
          <a:lstStyle/>
          <a:p>
            <a:pPr algn="l">
              <a:lnSpc>
                <a:spcPct val="110000"/>
              </a:lnSpc>
              <a:spcBef>
                <a:spcPts val="0"/>
              </a:spcBef>
              <a:spcAft>
                <a:spcPts val="0"/>
              </a:spcAft>
            </a:pPr>
            <a:r>
              <a:rPr sz="800" b="0" i="1">
                <a:solidFill>
                  <a:srgbClr val="2C3E50"/>
                </a:solidFill>
                <a:latin typeface="Helvetica Neue"/>
              </a:rPr>
              <a:t>PDD covers "large" but "small vs medium" is informal</a:t>
            </a:r>
          </a:p>
        </p:txBody>
      </p:sp>
      <p:sp>
        <p:nvSpPr>
          <p:cNvPr id="22" name="TextBox 21"/>
          <p:cNvSpPr txBox="1"/>
          <p:nvPr/>
        </p:nvSpPr>
        <p:spPr>
          <a:xfrm>
            <a:off x="6355080" y="3931920"/>
            <a:ext cx="2743200" cy="201168"/>
          </a:xfrm>
          <a:prstGeom prst="rect">
            <a:avLst/>
          </a:prstGeom>
          <a:noFill/>
        </p:spPr>
        <p:txBody>
          <a:bodyPr wrap="square" lIns="0" rIns="0" tIns="0" bIns="0" anchor="t">
            <a:spAutoFit/>
          </a:bodyPr>
          <a:lstStyle/>
          <a:p>
            <a:pPr algn="l">
              <a:lnSpc>
                <a:spcPct val="110000"/>
              </a:lnSpc>
              <a:spcBef>
                <a:spcPts val="0"/>
              </a:spcBef>
              <a:spcAft>
                <a:spcPts val="0"/>
              </a:spcAft>
            </a:pPr>
            <a:r>
              <a:rPr sz="800" b="1" i="0">
                <a:solidFill>
                  <a:srgbClr val="0F1C50"/>
                </a:solidFill>
                <a:latin typeface="Helvetica Neue"/>
              </a:rPr>
              <a:t>CUSTOMER SERVICES:</a:t>
            </a:r>
          </a:p>
        </p:txBody>
      </p:sp>
      <p:sp>
        <p:nvSpPr>
          <p:cNvPr id="23" name="TextBox 22"/>
          <p:cNvSpPr txBox="1"/>
          <p:nvPr/>
        </p:nvSpPr>
        <p:spPr>
          <a:xfrm>
            <a:off x="8275320" y="3931920"/>
            <a:ext cx="3383280" cy="320040"/>
          </a:xfrm>
          <a:prstGeom prst="rect">
            <a:avLst/>
          </a:prstGeom>
          <a:noFill/>
        </p:spPr>
        <p:txBody>
          <a:bodyPr wrap="square" lIns="0" rIns="0" tIns="0" bIns="0" anchor="t">
            <a:spAutoFit/>
          </a:bodyPr>
          <a:lstStyle/>
          <a:p>
            <a:pPr algn="l">
              <a:lnSpc>
                <a:spcPct val="110000"/>
              </a:lnSpc>
              <a:spcBef>
                <a:spcPts val="0"/>
              </a:spcBef>
              <a:spcAft>
                <a:spcPts val="0"/>
              </a:spcAft>
            </a:pPr>
            <a:r>
              <a:rPr sz="800" b="0" i="1">
                <a:solidFill>
                  <a:srgbClr val="2C3E50"/>
                </a:solidFill>
                <a:latin typeface="Helvetica Neue"/>
              </a:rPr>
              <a:t>Travis PMO owns "large" by convention, not definition</a:t>
            </a:r>
          </a:p>
        </p:txBody>
      </p:sp>
      <p:sp>
        <p:nvSpPr>
          <p:cNvPr id="24" name="Rectangle 23"/>
          <p:cNvSpPr/>
          <p:nvPr/>
        </p:nvSpPr>
        <p:spPr>
          <a:xfrm>
            <a:off x="457200" y="4343400"/>
            <a:ext cx="11274552" cy="13898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343400"/>
            <a:ext cx="73152" cy="138988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4480560"/>
            <a:ext cx="548640" cy="54864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4480560"/>
            <a:ext cx="548640" cy="548640"/>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03</a:t>
            </a:r>
          </a:p>
        </p:txBody>
      </p:sp>
      <p:sp>
        <p:nvSpPr>
          <p:cNvPr id="28" name="TextBox 27"/>
          <p:cNvSpPr txBox="1"/>
          <p:nvPr/>
        </p:nvSpPr>
        <p:spPr>
          <a:xfrm>
            <a:off x="1280160" y="4434840"/>
            <a:ext cx="10515600" cy="320040"/>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Vendor governance is absent</a:t>
            </a:r>
          </a:p>
        </p:txBody>
      </p:sp>
      <p:sp>
        <p:nvSpPr>
          <p:cNvPr id="29" name="TextBox 28"/>
          <p:cNvSpPr txBox="1"/>
          <p:nvPr/>
        </p:nvSpPr>
        <p:spPr>
          <a:xfrm>
            <a:off x="1280160" y="4754880"/>
            <a:ext cx="1051560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No process governs vendor delivery in either branch. Vendors estimate scope, timelines, and cost. Smart Metering is 100% vendor-delivered — vendors do requirements AND code. In G&amp;E, the vendor sets its own timeline on version upgrades.</a:t>
            </a:r>
          </a:p>
        </p:txBody>
      </p:sp>
      <p:sp>
        <p:nvSpPr>
          <p:cNvPr id="30" name="TextBox 29"/>
          <p:cNvSpPr txBox="1"/>
          <p:nvPr/>
        </p:nvSpPr>
        <p:spPr>
          <a:xfrm>
            <a:off x="1280160" y="5394959"/>
            <a:ext cx="2743200" cy="201168"/>
          </a:xfrm>
          <a:prstGeom prst="rect">
            <a:avLst/>
          </a:prstGeom>
          <a:noFill/>
        </p:spPr>
        <p:txBody>
          <a:bodyPr wrap="square" lIns="0" rIns="0" tIns="0" bIns="0" anchor="t">
            <a:spAutoFit/>
          </a:bodyPr>
          <a:lstStyle/>
          <a:p>
            <a:pPr algn="l">
              <a:lnSpc>
                <a:spcPct val="110000"/>
              </a:lnSpc>
              <a:spcBef>
                <a:spcPts val="0"/>
              </a:spcBef>
              <a:spcAft>
                <a:spcPts val="0"/>
              </a:spcAft>
            </a:pPr>
            <a:r>
              <a:rPr sz="800" b="1" i="0">
                <a:solidFill>
                  <a:srgbClr val="6785C1"/>
                </a:solidFill>
                <a:latin typeface="Helvetica Neue"/>
              </a:rPr>
              <a:t>APPLICATIONS:</a:t>
            </a:r>
          </a:p>
        </p:txBody>
      </p:sp>
      <p:sp>
        <p:nvSpPr>
          <p:cNvPr id="31" name="TextBox 30"/>
          <p:cNvSpPr txBox="1"/>
          <p:nvPr/>
        </p:nvSpPr>
        <p:spPr>
          <a:xfrm>
            <a:off x="2834640" y="5394959"/>
            <a:ext cx="3200400" cy="320040"/>
          </a:xfrm>
          <a:prstGeom prst="rect">
            <a:avLst/>
          </a:prstGeom>
          <a:noFill/>
        </p:spPr>
        <p:txBody>
          <a:bodyPr wrap="square" lIns="0" rIns="0" tIns="0" bIns="0" anchor="t">
            <a:spAutoFit/>
          </a:bodyPr>
          <a:lstStyle/>
          <a:p>
            <a:pPr algn="l">
              <a:lnSpc>
                <a:spcPct val="110000"/>
              </a:lnSpc>
              <a:spcBef>
                <a:spcPts val="0"/>
              </a:spcBef>
              <a:spcAft>
                <a:spcPts val="0"/>
              </a:spcAft>
            </a:pPr>
            <a:r>
              <a:rPr sz="800" b="0" i="1">
                <a:solidFill>
                  <a:srgbClr val="2C3E50"/>
                </a:solidFill>
                <a:latin typeface="Helvetica Neue"/>
              </a:rPr>
              <a:t>Vendors co-build; no performance framework</a:t>
            </a:r>
          </a:p>
        </p:txBody>
      </p:sp>
      <p:sp>
        <p:nvSpPr>
          <p:cNvPr id="32" name="TextBox 31"/>
          <p:cNvSpPr txBox="1"/>
          <p:nvPr/>
        </p:nvSpPr>
        <p:spPr>
          <a:xfrm>
            <a:off x="6355080" y="5394959"/>
            <a:ext cx="2743200" cy="201168"/>
          </a:xfrm>
          <a:prstGeom prst="rect">
            <a:avLst/>
          </a:prstGeom>
          <a:noFill/>
        </p:spPr>
        <p:txBody>
          <a:bodyPr wrap="square" lIns="0" rIns="0" tIns="0" bIns="0" anchor="t">
            <a:spAutoFit/>
          </a:bodyPr>
          <a:lstStyle/>
          <a:p>
            <a:pPr algn="l">
              <a:lnSpc>
                <a:spcPct val="110000"/>
              </a:lnSpc>
              <a:spcBef>
                <a:spcPts val="0"/>
              </a:spcBef>
              <a:spcAft>
                <a:spcPts val="0"/>
              </a:spcAft>
            </a:pPr>
            <a:r>
              <a:rPr sz="800" b="1" i="0">
                <a:solidFill>
                  <a:srgbClr val="0F1C50"/>
                </a:solidFill>
                <a:latin typeface="Helvetica Neue"/>
              </a:rPr>
              <a:t>CUSTOMER SERVICES:</a:t>
            </a:r>
          </a:p>
        </p:txBody>
      </p:sp>
      <p:sp>
        <p:nvSpPr>
          <p:cNvPr id="33" name="TextBox 32"/>
          <p:cNvSpPr txBox="1"/>
          <p:nvPr/>
        </p:nvSpPr>
        <p:spPr>
          <a:xfrm>
            <a:off x="8275320" y="5394959"/>
            <a:ext cx="3383280" cy="320040"/>
          </a:xfrm>
          <a:prstGeom prst="rect">
            <a:avLst/>
          </a:prstGeom>
          <a:noFill/>
        </p:spPr>
        <p:txBody>
          <a:bodyPr wrap="square" lIns="0" rIns="0" tIns="0" bIns="0" anchor="t">
            <a:spAutoFit/>
          </a:bodyPr>
          <a:lstStyle/>
          <a:p>
            <a:pPr algn="l">
              <a:lnSpc>
                <a:spcPct val="110000"/>
              </a:lnSpc>
              <a:spcBef>
                <a:spcPts val="0"/>
              </a:spcBef>
              <a:spcAft>
                <a:spcPts val="0"/>
              </a:spcAft>
            </a:pPr>
            <a:r>
              <a:rPr sz="800" b="0" i="1">
                <a:solidFill>
                  <a:srgbClr val="2C3E50"/>
                </a:solidFill>
                <a:latin typeface="Helvetica Neue"/>
              </a:rPr>
              <a:t>"All portfolio in vendor" (Smart Metering) — full outsourcing risk</a:t>
            </a:r>
          </a:p>
        </p:txBody>
      </p:sp>
      <p:sp>
        <p:nvSpPr>
          <p:cNvPr id="34" name="Rectangle 33"/>
          <p:cNvSpPr/>
          <p:nvPr/>
        </p:nvSpPr>
        <p:spPr>
          <a:xfrm>
            <a:off x="457200" y="5989320"/>
            <a:ext cx="112745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These three are enterprise-level issues — the TOM owns them; no team-level fix will solve prioritization, taxonomy, or vendor governance on its own</a:t>
            </a:r>
          </a:p>
        </p:txBody>
      </p:sp>
      <p:sp>
        <p:nvSpPr>
          <p:cNvPr id="36" name="TextBox 35"/>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Cross-Branch Systemic Issues  |  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Seven structural issues surface — no single-area fix resolves them; the TOM must standardize end-to-end</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502920" cy="56692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7320"/>
            <a:ext cx="502920" cy="566928"/>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01</a:t>
            </a:r>
          </a:p>
        </p:txBody>
      </p:sp>
      <p:sp>
        <p:nvSpPr>
          <p:cNvPr id="6" name="TextBox 5"/>
          <p:cNvSpPr txBox="1"/>
          <p:nvPr/>
        </p:nvSpPr>
        <p:spPr>
          <a:xfrm>
            <a:off x="1097280" y="1417320"/>
            <a:ext cx="6217920" cy="25603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Intake Fragmentation</a:t>
            </a:r>
          </a:p>
        </p:txBody>
      </p:sp>
      <p:sp>
        <p:nvSpPr>
          <p:cNvPr id="7" name="TextBox 6"/>
          <p:cNvSpPr txBox="1"/>
          <p:nvPr/>
        </p:nvSpPr>
        <p:spPr>
          <a:xfrm>
            <a:off x="1097280" y="1691640"/>
            <a:ext cx="621792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2C3E50"/>
                </a:solidFill>
                <a:latin typeface="Helvetica Neue"/>
              </a:rPr>
              <a:t>6+ disconnected channels (Jira, IT Now, RITM, SharePoint, Email, Word). No single front door.</a:t>
            </a:r>
          </a:p>
        </p:txBody>
      </p:sp>
      <p:sp>
        <p:nvSpPr>
          <p:cNvPr id="8" name="TextBox 7"/>
          <p:cNvSpPr txBox="1"/>
          <p:nvPr/>
        </p:nvSpPr>
        <p:spPr>
          <a:xfrm>
            <a:off x="7498079" y="1463040"/>
            <a:ext cx="4206240" cy="530352"/>
          </a:xfrm>
          <a:prstGeom prst="rect">
            <a:avLst/>
          </a:prstGeom>
          <a:noFill/>
        </p:spPr>
        <p:txBody>
          <a:bodyPr wrap="square" lIns="0" rIns="0" tIns="0" bIns="0" anchor="ctr">
            <a:spAutoFit/>
          </a:bodyPr>
          <a:lstStyle/>
          <a:p>
            <a:pPr algn="l">
              <a:lnSpc>
                <a:spcPct val="110000"/>
              </a:lnSpc>
              <a:spcBef>
                <a:spcPts val="0"/>
              </a:spcBef>
              <a:spcAft>
                <a:spcPts val="0"/>
              </a:spcAft>
            </a:pPr>
            <a:r>
              <a:rPr sz="1100" b="0" i="1">
                <a:solidFill>
                  <a:srgbClr val="6785C1"/>
                </a:solidFill>
                <a:latin typeface="Helvetica Neue"/>
              </a:rPr>
              <a:t>→  TOM: unified intake layer with tool-of-record per demand type.</a:t>
            </a:r>
          </a:p>
        </p:txBody>
      </p:sp>
      <p:sp>
        <p:nvSpPr>
          <p:cNvPr id="9" name="Rectangle 8"/>
          <p:cNvSpPr/>
          <p:nvPr/>
        </p:nvSpPr>
        <p:spPr>
          <a:xfrm>
            <a:off x="457200" y="2057400"/>
            <a:ext cx="502920" cy="56692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057400"/>
            <a:ext cx="502920" cy="566928"/>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02</a:t>
            </a:r>
          </a:p>
        </p:txBody>
      </p:sp>
      <p:sp>
        <p:nvSpPr>
          <p:cNvPr id="11" name="TextBox 10"/>
          <p:cNvSpPr txBox="1"/>
          <p:nvPr/>
        </p:nvSpPr>
        <p:spPr>
          <a:xfrm>
            <a:off x="1097280" y="2057400"/>
            <a:ext cx="6217920" cy="25603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No Shared Prioritization Model</a:t>
            </a:r>
          </a:p>
        </p:txBody>
      </p:sp>
      <p:sp>
        <p:nvSpPr>
          <p:cNvPr id="12" name="TextBox 11"/>
          <p:cNvSpPr txBox="1"/>
          <p:nvPr/>
        </p:nvSpPr>
        <p:spPr>
          <a:xfrm>
            <a:off x="1097280" y="2331720"/>
            <a:ext cx="621792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2C3E50"/>
                </a:solidFill>
                <a:latin typeface="Helvetica Neue"/>
              </a:rPr>
              <a:t>Each area uses different criteria — PDD, impact×users, criticality, operational urgency, common sense.</a:t>
            </a:r>
          </a:p>
        </p:txBody>
      </p:sp>
      <p:sp>
        <p:nvSpPr>
          <p:cNvPr id="13" name="TextBox 12"/>
          <p:cNvSpPr txBox="1"/>
          <p:nvPr/>
        </p:nvSpPr>
        <p:spPr>
          <a:xfrm>
            <a:off x="7498079" y="2103120"/>
            <a:ext cx="4206240" cy="530352"/>
          </a:xfrm>
          <a:prstGeom prst="rect">
            <a:avLst/>
          </a:prstGeom>
          <a:noFill/>
        </p:spPr>
        <p:txBody>
          <a:bodyPr wrap="square" lIns="0" rIns="0" tIns="0" bIns="0" anchor="ctr">
            <a:spAutoFit/>
          </a:bodyPr>
          <a:lstStyle/>
          <a:p>
            <a:pPr algn="l">
              <a:lnSpc>
                <a:spcPct val="110000"/>
              </a:lnSpc>
              <a:spcBef>
                <a:spcPts val="0"/>
              </a:spcBef>
              <a:spcAft>
                <a:spcPts val="0"/>
              </a:spcAft>
            </a:pPr>
            <a:r>
              <a:rPr sz="1100" b="0" i="1">
                <a:solidFill>
                  <a:srgbClr val="6785C1"/>
                </a:solidFill>
                <a:latin typeface="Helvetica Neue"/>
              </a:rPr>
              <a:t>→  TOM: value-based scoring framework (ties to existing "Value Framework V1.0" ambition).</a:t>
            </a:r>
          </a:p>
        </p:txBody>
      </p:sp>
      <p:sp>
        <p:nvSpPr>
          <p:cNvPr id="14" name="Rectangle 13"/>
          <p:cNvSpPr/>
          <p:nvPr/>
        </p:nvSpPr>
        <p:spPr>
          <a:xfrm>
            <a:off x="457200" y="2697480"/>
            <a:ext cx="502920" cy="56692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697480"/>
            <a:ext cx="502920" cy="566928"/>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03</a:t>
            </a:r>
          </a:p>
        </p:txBody>
      </p:sp>
      <p:sp>
        <p:nvSpPr>
          <p:cNvPr id="16" name="TextBox 15"/>
          <p:cNvSpPr txBox="1"/>
          <p:nvPr/>
        </p:nvSpPr>
        <p:spPr>
          <a:xfrm>
            <a:off x="1097280" y="2697480"/>
            <a:ext cx="6217920" cy="25603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Portfolio Tooling Vacuum</a:t>
            </a:r>
          </a:p>
        </p:txBody>
      </p:sp>
      <p:sp>
        <p:nvSpPr>
          <p:cNvPr id="17" name="TextBox 16"/>
          <p:cNvSpPr txBox="1"/>
          <p:nvPr/>
        </p:nvSpPr>
        <p:spPr>
          <a:xfrm>
            <a:off x="1097280" y="2971800"/>
            <a:ext cx="621792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2C3E50"/>
                </a:solidFill>
                <a:latin typeface="Helvetica Neue"/>
              </a:rPr>
              <a:t>5 of 6 units have no portfolio tool. Only Smart Metering uses PPM Now.</a:t>
            </a:r>
          </a:p>
        </p:txBody>
      </p:sp>
      <p:sp>
        <p:nvSpPr>
          <p:cNvPr id="18" name="TextBox 17"/>
          <p:cNvSpPr txBox="1"/>
          <p:nvPr/>
        </p:nvSpPr>
        <p:spPr>
          <a:xfrm>
            <a:off x="7498079" y="2743200"/>
            <a:ext cx="4206240" cy="530352"/>
          </a:xfrm>
          <a:prstGeom prst="rect">
            <a:avLst/>
          </a:prstGeom>
          <a:noFill/>
        </p:spPr>
        <p:txBody>
          <a:bodyPr wrap="square" lIns="0" rIns="0" tIns="0" bIns="0" anchor="ctr">
            <a:spAutoFit/>
          </a:bodyPr>
          <a:lstStyle/>
          <a:p>
            <a:pPr algn="l">
              <a:lnSpc>
                <a:spcPct val="110000"/>
              </a:lnSpc>
              <a:spcBef>
                <a:spcPts val="0"/>
              </a:spcBef>
              <a:spcAft>
                <a:spcPts val="0"/>
              </a:spcAft>
            </a:pPr>
            <a:r>
              <a:rPr sz="1100" b="0" i="1">
                <a:solidFill>
                  <a:srgbClr val="6785C1"/>
                </a:solidFill>
                <a:latin typeface="Helvetica Neue"/>
              </a:rPr>
              <a:t>→  TOM: scale PPM Now (or equivalent) across all Digital Products areas + IT CS.</a:t>
            </a:r>
          </a:p>
        </p:txBody>
      </p:sp>
      <p:sp>
        <p:nvSpPr>
          <p:cNvPr id="19" name="Rectangle 18"/>
          <p:cNvSpPr/>
          <p:nvPr/>
        </p:nvSpPr>
        <p:spPr>
          <a:xfrm>
            <a:off x="457200" y="3337560"/>
            <a:ext cx="502920" cy="56692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337560"/>
            <a:ext cx="502920" cy="566928"/>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04</a:t>
            </a:r>
          </a:p>
        </p:txBody>
      </p:sp>
      <p:sp>
        <p:nvSpPr>
          <p:cNvPr id="21" name="TextBox 20"/>
          <p:cNvSpPr txBox="1"/>
          <p:nvPr/>
        </p:nvSpPr>
        <p:spPr>
          <a:xfrm>
            <a:off x="1097280" y="3337560"/>
            <a:ext cx="6217920" cy="25603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Vendor Governance Gap</a:t>
            </a:r>
          </a:p>
        </p:txBody>
      </p:sp>
      <p:sp>
        <p:nvSpPr>
          <p:cNvPr id="22" name="TextBox 21"/>
          <p:cNvSpPr txBox="1"/>
          <p:nvPr/>
        </p:nvSpPr>
        <p:spPr>
          <a:xfrm>
            <a:off x="1097280" y="3611880"/>
            <a:ext cx="621792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2C3E50"/>
                </a:solidFill>
                <a:latin typeface="Helvetica Neue"/>
              </a:rPr>
              <a:t>No process to manage vendor delivery. Vendors estimate, set timelines, and own Smart Metering end-to-end.</a:t>
            </a:r>
          </a:p>
        </p:txBody>
      </p:sp>
      <p:sp>
        <p:nvSpPr>
          <p:cNvPr id="23" name="TextBox 22"/>
          <p:cNvSpPr txBox="1"/>
          <p:nvPr/>
        </p:nvSpPr>
        <p:spPr>
          <a:xfrm>
            <a:off x="7498079" y="3383280"/>
            <a:ext cx="4206240" cy="530352"/>
          </a:xfrm>
          <a:prstGeom prst="rect">
            <a:avLst/>
          </a:prstGeom>
          <a:noFill/>
        </p:spPr>
        <p:txBody>
          <a:bodyPr wrap="square" lIns="0" rIns="0" tIns="0" bIns="0" anchor="ctr">
            <a:spAutoFit/>
          </a:bodyPr>
          <a:lstStyle/>
          <a:p>
            <a:pPr algn="l">
              <a:lnSpc>
                <a:spcPct val="110000"/>
              </a:lnSpc>
              <a:spcBef>
                <a:spcPts val="0"/>
              </a:spcBef>
              <a:spcAft>
                <a:spcPts val="0"/>
              </a:spcAft>
            </a:pPr>
            <a:r>
              <a:rPr sz="1100" b="0" i="1">
                <a:solidFill>
                  <a:srgbClr val="6785C1"/>
                </a:solidFill>
                <a:latin typeface="Helvetica Neue"/>
              </a:rPr>
              <a:t>→  TOM: vendor performance framework + independent estimation sanity check.</a:t>
            </a:r>
          </a:p>
        </p:txBody>
      </p:sp>
      <p:sp>
        <p:nvSpPr>
          <p:cNvPr id="24" name="Rectangle 23"/>
          <p:cNvSpPr/>
          <p:nvPr/>
        </p:nvSpPr>
        <p:spPr>
          <a:xfrm>
            <a:off x="457200" y="3977640"/>
            <a:ext cx="502920" cy="56692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977640"/>
            <a:ext cx="502920" cy="566928"/>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05</a:t>
            </a:r>
          </a:p>
        </p:txBody>
      </p:sp>
      <p:sp>
        <p:nvSpPr>
          <p:cNvPr id="26" name="TextBox 25"/>
          <p:cNvSpPr txBox="1"/>
          <p:nvPr/>
        </p:nvSpPr>
        <p:spPr>
          <a:xfrm>
            <a:off x="1097280" y="3977640"/>
            <a:ext cx="6217920" cy="25603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Governance Forum Coverage</a:t>
            </a:r>
          </a:p>
        </p:txBody>
      </p:sp>
      <p:sp>
        <p:nvSpPr>
          <p:cNvPr id="27" name="TextBox 26"/>
          <p:cNvSpPr txBox="1"/>
          <p:nvPr/>
        </p:nvSpPr>
        <p:spPr>
          <a:xfrm>
            <a:off x="1097280" y="4251960"/>
            <a:ext cx="621792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2C3E50"/>
                </a:solidFill>
                <a:latin typeface="Helvetica Neue"/>
              </a:rPr>
              <a:t>5 recurring forums exist — but Manager Check-in participants are still TBC; no forum covers portfolio-level decisions.</a:t>
            </a:r>
          </a:p>
        </p:txBody>
      </p:sp>
      <p:sp>
        <p:nvSpPr>
          <p:cNvPr id="28" name="TextBox 27"/>
          <p:cNvSpPr txBox="1"/>
          <p:nvPr/>
        </p:nvSpPr>
        <p:spPr>
          <a:xfrm>
            <a:off x="7498079" y="4023360"/>
            <a:ext cx="4206240" cy="530352"/>
          </a:xfrm>
          <a:prstGeom prst="rect">
            <a:avLst/>
          </a:prstGeom>
          <a:noFill/>
        </p:spPr>
        <p:txBody>
          <a:bodyPr wrap="square" lIns="0" rIns="0" tIns="0" bIns="0" anchor="ctr">
            <a:spAutoFit/>
          </a:bodyPr>
          <a:lstStyle/>
          <a:p>
            <a:pPr algn="l">
              <a:lnSpc>
                <a:spcPct val="110000"/>
              </a:lnSpc>
              <a:spcBef>
                <a:spcPts val="0"/>
              </a:spcBef>
              <a:spcAft>
                <a:spcPts val="0"/>
              </a:spcAft>
            </a:pPr>
            <a:r>
              <a:rPr sz="1100" b="0" i="1">
                <a:solidFill>
                  <a:srgbClr val="6785C1"/>
                </a:solidFill>
                <a:latin typeface="Helvetica Neue"/>
              </a:rPr>
              <a:t>→  TOM: add a portfolio steering cadence and validate forum scope.</a:t>
            </a:r>
          </a:p>
        </p:txBody>
      </p:sp>
      <p:sp>
        <p:nvSpPr>
          <p:cNvPr id="29" name="Rectangle 28"/>
          <p:cNvSpPr/>
          <p:nvPr/>
        </p:nvSpPr>
        <p:spPr>
          <a:xfrm>
            <a:off x="457200" y="4617720"/>
            <a:ext cx="502920" cy="56692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617720"/>
            <a:ext cx="502920" cy="566928"/>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06</a:t>
            </a:r>
          </a:p>
        </p:txBody>
      </p:sp>
      <p:sp>
        <p:nvSpPr>
          <p:cNvPr id="31" name="TextBox 30"/>
          <p:cNvSpPr txBox="1"/>
          <p:nvPr/>
        </p:nvSpPr>
        <p:spPr>
          <a:xfrm>
            <a:off x="1097280" y="4617720"/>
            <a:ext cx="6217920" cy="25603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Taxonomy &amp; Thresholds Undefined</a:t>
            </a:r>
          </a:p>
        </p:txBody>
      </p:sp>
      <p:sp>
        <p:nvSpPr>
          <p:cNvPr id="32" name="TextBox 31"/>
          <p:cNvSpPr txBox="1"/>
          <p:nvPr/>
        </p:nvSpPr>
        <p:spPr>
          <a:xfrm>
            <a:off x="1097280" y="4892040"/>
            <a:ext cx="621792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2C3E50"/>
                </a:solidFill>
                <a:latin typeface="Helvetica Neue"/>
              </a:rPr>
              <a:t>"Small" vs "Medium" vs "Large" is subjective; each team decides. No hours / $ / complexity threshold exists.</a:t>
            </a:r>
          </a:p>
        </p:txBody>
      </p:sp>
      <p:sp>
        <p:nvSpPr>
          <p:cNvPr id="33" name="TextBox 32"/>
          <p:cNvSpPr txBox="1"/>
          <p:nvPr/>
        </p:nvSpPr>
        <p:spPr>
          <a:xfrm>
            <a:off x="7498079" y="4663440"/>
            <a:ext cx="4206240" cy="530352"/>
          </a:xfrm>
          <a:prstGeom prst="rect">
            <a:avLst/>
          </a:prstGeom>
          <a:noFill/>
        </p:spPr>
        <p:txBody>
          <a:bodyPr wrap="square" lIns="0" rIns="0" tIns="0" bIns="0" anchor="ctr">
            <a:spAutoFit/>
          </a:bodyPr>
          <a:lstStyle/>
          <a:p>
            <a:pPr algn="l">
              <a:lnSpc>
                <a:spcPct val="110000"/>
              </a:lnSpc>
              <a:spcBef>
                <a:spcPts val="0"/>
              </a:spcBef>
              <a:spcAft>
                <a:spcPts val="0"/>
              </a:spcAft>
            </a:pPr>
            <a:r>
              <a:rPr sz="1100" b="0" i="1">
                <a:solidFill>
                  <a:srgbClr val="6785C1"/>
                </a:solidFill>
                <a:latin typeface="Helvetica Neue"/>
              </a:rPr>
              <a:t>→  TOM: define objective classification thresholds — prerequisite for prioritization scoring.</a:t>
            </a:r>
          </a:p>
        </p:txBody>
      </p:sp>
      <p:sp>
        <p:nvSpPr>
          <p:cNvPr id="34" name="Rectangle 33"/>
          <p:cNvSpPr/>
          <p:nvPr/>
        </p:nvSpPr>
        <p:spPr>
          <a:xfrm>
            <a:off x="457200" y="5257800"/>
            <a:ext cx="502920" cy="56692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5257800"/>
            <a:ext cx="502920" cy="566928"/>
          </a:xfrm>
          <a:prstGeom prst="rect">
            <a:avLst/>
          </a:prstGeom>
          <a:noFill/>
        </p:spPr>
        <p:txBody>
          <a:bodyPr wrap="square" lIns="0" rIns="0" tIns="0" bIns="0" anchor="ctr">
            <a:spAutoFit/>
          </a:bodyPr>
          <a:lstStyle/>
          <a:p>
            <a:pPr algn="ctr">
              <a:lnSpc>
                <a:spcPct val="110000"/>
              </a:lnSpc>
              <a:spcBef>
                <a:spcPts val="0"/>
              </a:spcBef>
              <a:spcAft>
                <a:spcPts val="0"/>
              </a:spcAft>
            </a:pPr>
            <a:r>
              <a:rPr sz="1600" b="1" i="0">
                <a:solidFill>
                  <a:srgbClr val="FFFFFF"/>
                </a:solidFill>
                <a:latin typeface="Helvetica Neue"/>
              </a:rPr>
              <a:t>07</a:t>
            </a:r>
          </a:p>
        </p:txBody>
      </p:sp>
      <p:sp>
        <p:nvSpPr>
          <p:cNvPr id="36" name="TextBox 35"/>
          <p:cNvSpPr txBox="1"/>
          <p:nvPr/>
        </p:nvSpPr>
        <p:spPr>
          <a:xfrm>
            <a:off x="1097280" y="5257800"/>
            <a:ext cx="6217920" cy="25603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F1C50"/>
                </a:solidFill>
                <a:latin typeface="Helvetica Neue"/>
              </a:rPr>
              <a:t>Project vs Product Lens Missing</a:t>
            </a:r>
          </a:p>
        </p:txBody>
      </p:sp>
      <p:sp>
        <p:nvSpPr>
          <p:cNvPr id="37" name="TextBox 36"/>
          <p:cNvSpPr txBox="1"/>
          <p:nvPr/>
        </p:nvSpPr>
        <p:spPr>
          <a:xfrm>
            <a:off x="1097280" y="5532120"/>
            <a:ext cx="6217920" cy="320040"/>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2C3E50"/>
                </a:solidFill>
                <a:latin typeface="Helvetica Neue"/>
              </a:rPr>
              <a:t>Demand is organized by application silo, not by Value Stream. IT requests don't trace to business OKRs.</a:t>
            </a:r>
          </a:p>
        </p:txBody>
      </p:sp>
      <p:sp>
        <p:nvSpPr>
          <p:cNvPr id="38" name="TextBox 37"/>
          <p:cNvSpPr txBox="1"/>
          <p:nvPr/>
        </p:nvSpPr>
        <p:spPr>
          <a:xfrm>
            <a:off x="7498079" y="5303520"/>
            <a:ext cx="4206240" cy="530352"/>
          </a:xfrm>
          <a:prstGeom prst="rect">
            <a:avLst/>
          </a:prstGeom>
          <a:noFill/>
        </p:spPr>
        <p:txBody>
          <a:bodyPr wrap="square" lIns="0" rIns="0" tIns="0" bIns="0" anchor="ctr">
            <a:spAutoFit/>
          </a:bodyPr>
          <a:lstStyle/>
          <a:p>
            <a:pPr algn="l">
              <a:lnSpc>
                <a:spcPct val="110000"/>
              </a:lnSpc>
              <a:spcBef>
                <a:spcPts val="0"/>
              </a:spcBef>
              <a:spcAft>
                <a:spcPts val="0"/>
              </a:spcAft>
            </a:pPr>
            <a:r>
              <a:rPr sz="1100" b="0" i="1">
                <a:solidFill>
                  <a:srgbClr val="6785C1"/>
                </a:solidFill>
                <a:latin typeface="Helvetica Neue"/>
              </a:rPr>
              <a:t>→  TOM: introduce Value Stream mapping — move from Project to Product operating model.</a:t>
            </a:r>
          </a:p>
        </p:txBody>
      </p:sp>
      <p:sp>
        <p:nvSpPr>
          <p:cNvPr id="39" name="Rectangle 38"/>
          <p:cNvSpPr/>
          <p:nvPr/>
        </p:nvSpPr>
        <p:spPr>
          <a:xfrm>
            <a:off x="457200" y="5989320"/>
            <a:ext cx="112745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These 7 issues define the TOM scope — each has a dedicated workstream in the design phase that follows this Baseline</a:t>
            </a:r>
          </a:p>
        </p:txBody>
      </p:sp>
      <p:sp>
        <p:nvSpPr>
          <p:cNvPr id="41" name="TextBox 40"/>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TOM Responses  |  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Five compounding risks if the current operating model is carried into 30–50% growth unchanged</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73152" cy="79552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554480"/>
            <a:ext cx="640080" cy="5029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54480"/>
            <a:ext cx="640080" cy="502920"/>
          </a:xfrm>
          <a:prstGeom prst="rect">
            <a:avLst/>
          </a:prstGeom>
          <a:noFill/>
        </p:spPr>
        <p:txBody>
          <a:bodyPr wrap="square" lIns="0" rIns="0" tIns="0" bIns="0" anchor="ctr">
            <a:spAutoFit/>
          </a:bodyPr>
          <a:lstStyle/>
          <a:p>
            <a:pPr algn="ctr">
              <a:lnSpc>
                <a:spcPct val="110000"/>
              </a:lnSpc>
              <a:spcBef>
                <a:spcPts val="0"/>
              </a:spcBef>
              <a:spcAft>
                <a:spcPts val="0"/>
              </a:spcAft>
            </a:pPr>
            <a:r>
              <a:rPr sz="1400" b="1" i="0">
                <a:solidFill>
                  <a:srgbClr val="FFFFFF"/>
                </a:solidFill>
                <a:latin typeface="Helvetica Neue"/>
              </a:rPr>
              <a:t>R1</a:t>
            </a:r>
          </a:p>
        </p:txBody>
      </p:sp>
      <p:sp>
        <p:nvSpPr>
          <p:cNvPr id="8" name="TextBox 7"/>
          <p:cNvSpPr txBox="1"/>
          <p:nvPr/>
        </p:nvSpPr>
        <p:spPr>
          <a:xfrm>
            <a:off x="1371600" y="1508760"/>
            <a:ext cx="8686800" cy="27432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Unknown demand volume meets scaling load</a:t>
            </a:r>
          </a:p>
        </p:txBody>
      </p:sp>
      <p:sp>
        <p:nvSpPr>
          <p:cNvPr id="9" name="TextBox 8"/>
          <p:cNvSpPr txBox="1"/>
          <p:nvPr/>
        </p:nvSpPr>
        <p:spPr>
          <a:xfrm>
            <a:off x="1371600" y="1801368"/>
            <a:ext cx="8686800" cy="41148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30–50% growth applied to unmeasured channels = capacity shortfall cannot be forecast. Hiring decisions remain reactive.</a:t>
            </a:r>
          </a:p>
        </p:txBody>
      </p:sp>
      <p:sp>
        <p:nvSpPr>
          <p:cNvPr id="10" name="Rounded Rectangle 9"/>
          <p:cNvSpPr/>
          <p:nvPr/>
        </p:nvSpPr>
        <p:spPr>
          <a:xfrm>
            <a:off x="10241280" y="1691640"/>
            <a:ext cx="141732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0" y="1691640"/>
            <a:ext cx="1417320" cy="274320"/>
          </a:xfrm>
          <a:prstGeom prst="rect">
            <a:avLst/>
          </a:prstGeom>
          <a:noFill/>
        </p:spPr>
        <p:txBody>
          <a:bodyPr wrap="square" lIns="0" rIns="0" tIns="0" bIns="0" anchor="ctr">
            <a:spAutoFit/>
          </a:bodyPr>
          <a:lstStyle/>
          <a:p>
            <a:pPr algn="ctr">
              <a:lnSpc>
                <a:spcPct val="110000"/>
              </a:lnSpc>
              <a:spcBef>
                <a:spcPts val="0"/>
              </a:spcBef>
              <a:spcAft>
                <a:spcPts val="0"/>
              </a:spcAft>
            </a:pPr>
            <a:r>
              <a:rPr sz="800" b="1" i="0">
                <a:solidFill>
                  <a:srgbClr val="FFFFFF"/>
                </a:solidFill>
                <a:latin typeface="Helvetica Neue"/>
              </a:rPr>
              <a:t>CRITICAL</a:t>
            </a:r>
          </a:p>
        </p:txBody>
      </p:sp>
      <p:sp>
        <p:nvSpPr>
          <p:cNvPr id="12" name="Rectangle 11"/>
          <p:cNvSpPr/>
          <p:nvPr/>
        </p:nvSpPr>
        <p:spPr>
          <a:xfrm>
            <a:off x="457200" y="2286000"/>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286000"/>
            <a:ext cx="73152" cy="79552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2423160"/>
            <a:ext cx="640080" cy="5029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423160"/>
            <a:ext cx="640080" cy="502920"/>
          </a:xfrm>
          <a:prstGeom prst="rect">
            <a:avLst/>
          </a:prstGeom>
          <a:noFill/>
        </p:spPr>
        <p:txBody>
          <a:bodyPr wrap="square" lIns="0" rIns="0" tIns="0" bIns="0" anchor="ctr">
            <a:spAutoFit/>
          </a:bodyPr>
          <a:lstStyle/>
          <a:p>
            <a:pPr algn="ctr">
              <a:lnSpc>
                <a:spcPct val="110000"/>
              </a:lnSpc>
              <a:spcBef>
                <a:spcPts val="0"/>
              </a:spcBef>
              <a:spcAft>
                <a:spcPts val="0"/>
              </a:spcAft>
            </a:pPr>
            <a:r>
              <a:rPr sz="1400" b="1" i="0">
                <a:solidFill>
                  <a:srgbClr val="FFFFFF"/>
                </a:solidFill>
                <a:latin typeface="Helvetica Neue"/>
              </a:rPr>
              <a:t>R2</a:t>
            </a:r>
          </a:p>
        </p:txBody>
      </p:sp>
      <p:sp>
        <p:nvSpPr>
          <p:cNvPr id="16" name="TextBox 15"/>
          <p:cNvSpPr txBox="1"/>
          <p:nvPr/>
        </p:nvSpPr>
        <p:spPr>
          <a:xfrm>
            <a:off x="1371600" y="2377440"/>
            <a:ext cx="8686800" cy="27432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Vendor control of timelines and estimates</a:t>
            </a:r>
          </a:p>
        </p:txBody>
      </p:sp>
      <p:sp>
        <p:nvSpPr>
          <p:cNvPr id="17" name="TextBox 16"/>
          <p:cNvSpPr txBox="1"/>
          <p:nvPr/>
        </p:nvSpPr>
        <p:spPr>
          <a:xfrm>
            <a:off x="1371600" y="2670048"/>
            <a:ext cx="8686800" cy="41148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Smart Metering is 100% vendor-delivered. G&amp;E upgrades follow vendor schedules. Without governance, budget overruns stay invisible until delivery.</a:t>
            </a:r>
          </a:p>
        </p:txBody>
      </p:sp>
      <p:sp>
        <p:nvSpPr>
          <p:cNvPr id="18" name="Rounded Rectangle 17"/>
          <p:cNvSpPr/>
          <p:nvPr/>
        </p:nvSpPr>
        <p:spPr>
          <a:xfrm>
            <a:off x="10241280" y="2560320"/>
            <a:ext cx="1417320" cy="274320"/>
          </a:xfrm>
          <a:prstGeom prst="round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0" y="2560320"/>
            <a:ext cx="1417320" cy="274320"/>
          </a:xfrm>
          <a:prstGeom prst="rect">
            <a:avLst/>
          </a:prstGeom>
          <a:noFill/>
        </p:spPr>
        <p:txBody>
          <a:bodyPr wrap="square" lIns="0" rIns="0" tIns="0" bIns="0" anchor="ctr">
            <a:spAutoFit/>
          </a:bodyPr>
          <a:lstStyle/>
          <a:p>
            <a:pPr algn="ctr">
              <a:lnSpc>
                <a:spcPct val="110000"/>
              </a:lnSpc>
              <a:spcBef>
                <a:spcPts val="0"/>
              </a:spcBef>
              <a:spcAft>
                <a:spcPts val="0"/>
              </a:spcAft>
            </a:pPr>
            <a:r>
              <a:rPr sz="800" b="1" i="0">
                <a:solidFill>
                  <a:srgbClr val="FFFFFF"/>
                </a:solidFill>
                <a:latin typeface="Helvetica Neue"/>
              </a:rPr>
              <a:t>CRITICAL</a:t>
            </a:r>
          </a:p>
        </p:txBody>
      </p:sp>
      <p:sp>
        <p:nvSpPr>
          <p:cNvPr id="20" name="Rectangle 19"/>
          <p:cNvSpPr/>
          <p:nvPr/>
        </p:nvSpPr>
        <p:spPr>
          <a:xfrm>
            <a:off x="457200" y="3154680"/>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154680"/>
            <a:ext cx="73152" cy="79552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3291840"/>
            <a:ext cx="640080" cy="5029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291840"/>
            <a:ext cx="640080" cy="502920"/>
          </a:xfrm>
          <a:prstGeom prst="rect">
            <a:avLst/>
          </a:prstGeom>
          <a:noFill/>
        </p:spPr>
        <p:txBody>
          <a:bodyPr wrap="square" lIns="0" rIns="0" tIns="0" bIns="0" anchor="ctr">
            <a:spAutoFit/>
          </a:bodyPr>
          <a:lstStyle/>
          <a:p>
            <a:pPr algn="ctr">
              <a:lnSpc>
                <a:spcPct val="110000"/>
              </a:lnSpc>
              <a:spcBef>
                <a:spcPts val="0"/>
              </a:spcBef>
              <a:spcAft>
                <a:spcPts val="0"/>
              </a:spcAft>
            </a:pPr>
            <a:r>
              <a:rPr sz="1400" b="1" i="0">
                <a:solidFill>
                  <a:srgbClr val="FFFFFF"/>
                </a:solidFill>
                <a:latin typeface="Helvetica Neue"/>
              </a:rPr>
              <a:t>R3</a:t>
            </a:r>
          </a:p>
        </p:txBody>
      </p:sp>
      <p:sp>
        <p:nvSpPr>
          <p:cNvPr id="24" name="TextBox 23"/>
          <p:cNvSpPr txBox="1"/>
          <p:nvPr/>
        </p:nvSpPr>
        <p:spPr>
          <a:xfrm>
            <a:off x="1371600" y="3246120"/>
            <a:ext cx="8686800" cy="27432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ROI traceability breaks</a:t>
            </a:r>
          </a:p>
        </p:txBody>
      </p:sp>
      <p:sp>
        <p:nvSpPr>
          <p:cNvPr id="25" name="TextBox 24"/>
          <p:cNvSpPr txBox="1"/>
          <p:nvPr/>
        </p:nvSpPr>
        <p:spPr>
          <a:xfrm>
            <a:off x="1371600" y="3538728"/>
            <a:ext cx="8686800" cy="41148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Without portfolio tooling or value-stream lens, IT spend cannot be traced back to business outcomes. Executive defensibility degrades.</a:t>
            </a:r>
          </a:p>
        </p:txBody>
      </p:sp>
      <p:sp>
        <p:nvSpPr>
          <p:cNvPr id="26" name="Rounded Rectangle 25"/>
          <p:cNvSpPr/>
          <p:nvPr/>
        </p:nvSpPr>
        <p:spPr>
          <a:xfrm>
            <a:off x="10241280" y="3429000"/>
            <a:ext cx="1417320" cy="27432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0" y="3429000"/>
            <a:ext cx="1417320" cy="274320"/>
          </a:xfrm>
          <a:prstGeom prst="rect">
            <a:avLst/>
          </a:prstGeom>
          <a:noFill/>
        </p:spPr>
        <p:txBody>
          <a:bodyPr wrap="square" lIns="0" rIns="0" tIns="0" bIns="0" anchor="ctr">
            <a:spAutoFit/>
          </a:bodyPr>
          <a:lstStyle/>
          <a:p>
            <a:pPr algn="ctr">
              <a:lnSpc>
                <a:spcPct val="110000"/>
              </a:lnSpc>
              <a:spcBef>
                <a:spcPts val="0"/>
              </a:spcBef>
              <a:spcAft>
                <a:spcPts val="0"/>
              </a:spcAft>
            </a:pPr>
            <a:r>
              <a:rPr sz="800" b="1" i="0">
                <a:solidFill>
                  <a:srgbClr val="FFFFFF"/>
                </a:solidFill>
                <a:latin typeface="Helvetica Neue"/>
              </a:rPr>
              <a:t>HIGH</a:t>
            </a:r>
          </a:p>
        </p:txBody>
      </p:sp>
      <p:sp>
        <p:nvSpPr>
          <p:cNvPr id="28" name="Rectangle 27"/>
          <p:cNvSpPr/>
          <p:nvPr/>
        </p:nvSpPr>
        <p:spPr>
          <a:xfrm>
            <a:off x="457200" y="4023360"/>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023360"/>
            <a:ext cx="73152" cy="79552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4360" y="4160520"/>
            <a:ext cx="640080" cy="5029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4160520"/>
            <a:ext cx="640080" cy="502920"/>
          </a:xfrm>
          <a:prstGeom prst="rect">
            <a:avLst/>
          </a:prstGeom>
          <a:noFill/>
        </p:spPr>
        <p:txBody>
          <a:bodyPr wrap="square" lIns="0" rIns="0" tIns="0" bIns="0" anchor="ctr">
            <a:spAutoFit/>
          </a:bodyPr>
          <a:lstStyle/>
          <a:p>
            <a:pPr algn="ctr">
              <a:lnSpc>
                <a:spcPct val="110000"/>
              </a:lnSpc>
              <a:spcBef>
                <a:spcPts val="0"/>
              </a:spcBef>
              <a:spcAft>
                <a:spcPts val="0"/>
              </a:spcAft>
            </a:pPr>
            <a:r>
              <a:rPr sz="1400" b="1" i="0">
                <a:solidFill>
                  <a:srgbClr val="FFFFFF"/>
                </a:solidFill>
                <a:latin typeface="Helvetica Neue"/>
              </a:rPr>
              <a:t>R4</a:t>
            </a:r>
          </a:p>
        </p:txBody>
      </p:sp>
      <p:sp>
        <p:nvSpPr>
          <p:cNvPr id="32" name="TextBox 31"/>
          <p:cNvSpPr txBox="1"/>
          <p:nvPr/>
        </p:nvSpPr>
        <p:spPr>
          <a:xfrm>
            <a:off x="1371600" y="4114800"/>
            <a:ext cx="8686800" cy="27432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Leadership vacancies prolonged</a:t>
            </a:r>
          </a:p>
        </p:txBody>
      </p:sp>
      <p:sp>
        <p:nvSpPr>
          <p:cNvPr id="33" name="TextBox 32"/>
          <p:cNvSpPr txBox="1"/>
          <p:nvPr/>
        </p:nvSpPr>
        <p:spPr>
          <a:xfrm>
            <a:off x="1371600" y="4407408"/>
            <a:ext cx="8686800" cy="41148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CRM Sr. Manager and SAP &amp; CS Architecture positions remain open. Decisions default to director level across ~24 FTE — not sustainable.</a:t>
            </a:r>
          </a:p>
        </p:txBody>
      </p:sp>
      <p:sp>
        <p:nvSpPr>
          <p:cNvPr id="34" name="Rounded Rectangle 33"/>
          <p:cNvSpPr/>
          <p:nvPr/>
        </p:nvSpPr>
        <p:spPr>
          <a:xfrm>
            <a:off x="10241280" y="4297680"/>
            <a:ext cx="1417320" cy="27432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41280" y="4297680"/>
            <a:ext cx="1417320" cy="274320"/>
          </a:xfrm>
          <a:prstGeom prst="rect">
            <a:avLst/>
          </a:prstGeom>
          <a:noFill/>
        </p:spPr>
        <p:txBody>
          <a:bodyPr wrap="square" lIns="0" rIns="0" tIns="0" bIns="0" anchor="ctr">
            <a:spAutoFit/>
          </a:bodyPr>
          <a:lstStyle/>
          <a:p>
            <a:pPr algn="ctr">
              <a:lnSpc>
                <a:spcPct val="110000"/>
              </a:lnSpc>
              <a:spcBef>
                <a:spcPts val="0"/>
              </a:spcBef>
              <a:spcAft>
                <a:spcPts val="0"/>
              </a:spcAft>
            </a:pPr>
            <a:r>
              <a:rPr sz="800" b="1" i="0">
                <a:solidFill>
                  <a:srgbClr val="FFFFFF"/>
                </a:solidFill>
                <a:latin typeface="Helvetica Neue"/>
              </a:rPr>
              <a:t>HIGH</a:t>
            </a:r>
          </a:p>
        </p:txBody>
      </p:sp>
      <p:sp>
        <p:nvSpPr>
          <p:cNvPr id="36" name="Rectangle 35"/>
          <p:cNvSpPr/>
          <p:nvPr/>
        </p:nvSpPr>
        <p:spPr>
          <a:xfrm>
            <a:off x="457200" y="4892040"/>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4892040"/>
            <a:ext cx="73152" cy="795528"/>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4360" y="5029200"/>
            <a:ext cx="640080" cy="502920"/>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5029200"/>
            <a:ext cx="640080" cy="502920"/>
          </a:xfrm>
          <a:prstGeom prst="rect">
            <a:avLst/>
          </a:prstGeom>
          <a:noFill/>
        </p:spPr>
        <p:txBody>
          <a:bodyPr wrap="square" lIns="0" rIns="0" tIns="0" bIns="0" anchor="ctr">
            <a:spAutoFit/>
          </a:bodyPr>
          <a:lstStyle/>
          <a:p>
            <a:pPr algn="ctr">
              <a:lnSpc>
                <a:spcPct val="110000"/>
              </a:lnSpc>
              <a:spcBef>
                <a:spcPts val="0"/>
              </a:spcBef>
              <a:spcAft>
                <a:spcPts val="0"/>
              </a:spcAft>
            </a:pPr>
            <a:r>
              <a:rPr sz="1400" b="1" i="0">
                <a:solidFill>
                  <a:srgbClr val="FFFFFF"/>
                </a:solidFill>
                <a:latin typeface="Helvetica Neue"/>
              </a:rPr>
              <a:t>R5</a:t>
            </a:r>
          </a:p>
        </p:txBody>
      </p:sp>
      <p:sp>
        <p:nvSpPr>
          <p:cNvPr id="40" name="TextBox 39"/>
          <p:cNvSpPr txBox="1"/>
          <p:nvPr/>
        </p:nvSpPr>
        <p:spPr>
          <a:xfrm>
            <a:off x="1371600" y="4983480"/>
            <a:ext cx="8686800" cy="27432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Global vs Local SAP drift</a:t>
            </a:r>
          </a:p>
        </p:txBody>
      </p:sp>
      <p:sp>
        <p:nvSpPr>
          <p:cNvPr id="41" name="TextBox 40"/>
          <p:cNvSpPr txBox="1"/>
          <p:nvPr/>
        </p:nvSpPr>
        <p:spPr>
          <a:xfrm>
            <a:off x="1371600" y="5276088"/>
            <a:ext cx="8686800" cy="41148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With no enterprise-level reconciliation, the two SAP footprints evolve independently. Integration cost grows silently each quarter.</a:t>
            </a:r>
          </a:p>
        </p:txBody>
      </p:sp>
      <p:sp>
        <p:nvSpPr>
          <p:cNvPr id="42" name="Rounded Rectangle 41"/>
          <p:cNvSpPr/>
          <p:nvPr/>
        </p:nvSpPr>
        <p:spPr>
          <a:xfrm>
            <a:off x="10241280" y="5166360"/>
            <a:ext cx="141732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41280" y="5166360"/>
            <a:ext cx="1417320" cy="274320"/>
          </a:xfrm>
          <a:prstGeom prst="rect">
            <a:avLst/>
          </a:prstGeom>
          <a:noFill/>
        </p:spPr>
        <p:txBody>
          <a:bodyPr wrap="square" lIns="0" rIns="0" tIns="0" bIns="0" anchor="ctr">
            <a:spAutoFit/>
          </a:bodyPr>
          <a:lstStyle/>
          <a:p>
            <a:pPr algn="ctr">
              <a:lnSpc>
                <a:spcPct val="110000"/>
              </a:lnSpc>
              <a:spcBef>
                <a:spcPts val="0"/>
              </a:spcBef>
              <a:spcAft>
                <a:spcPts val="0"/>
              </a:spcAft>
            </a:pPr>
            <a:r>
              <a:rPr sz="800" b="1" i="0">
                <a:solidFill>
                  <a:srgbClr val="FFFFFF"/>
                </a:solidFill>
                <a:latin typeface="Helvetica Neue"/>
              </a:rPr>
              <a:t>MEDIUM</a:t>
            </a:r>
          </a:p>
        </p:txBody>
      </p:sp>
      <p:sp>
        <p:nvSpPr>
          <p:cNvPr id="44" name="Rectangle 43"/>
          <p:cNvSpPr/>
          <p:nvPr/>
        </p:nvSpPr>
        <p:spPr>
          <a:xfrm>
            <a:off x="457200" y="5989320"/>
            <a:ext cx="11274552" cy="50292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These risks compound — the longer the TOM is deferred, the harder the reset. The Baseline recommends beginning TOM design this quarter</a:t>
            </a:r>
          </a:p>
        </p:txBody>
      </p:sp>
      <p:sp>
        <p:nvSpPr>
          <p:cNvPr id="46" name="TextBox 45"/>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Risks if Not Addressed  |  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0F1C50"/>
                </a:solidFill>
                <a:latin typeface="Helvetica Neue"/>
              </a:rPr>
              <a:t>Seven principles guide the Target Operating Model — each answers one of the 7 structural issues and is grounded in prior NTT work with Avangrid</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5623560"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640080" cy="3657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6785C1"/>
                </a:solidFill>
                <a:latin typeface="Helvetica Neue"/>
              </a:rPr>
              <a:t>01</a:t>
            </a:r>
          </a:p>
        </p:txBody>
      </p:sp>
      <p:sp>
        <p:nvSpPr>
          <p:cNvPr id="7" name="TextBox 6"/>
          <p:cNvSpPr txBox="1"/>
          <p:nvPr/>
        </p:nvSpPr>
        <p:spPr>
          <a:xfrm>
            <a:off x="1371600" y="1581912"/>
            <a:ext cx="4480560" cy="32004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Single Front Door</a:t>
            </a:r>
          </a:p>
        </p:txBody>
      </p:sp>
      <p:sp>
        <p:nvSpPr>
          <p:cNvPr id="8" name="TextBox 7"/>
          <p:cNvSpPr txBox="1"/>
          <p:nvPr/>
        </p:nvSpPr>
        <p:spPr>
          <a:xfrm>
            <a:off x="1371600" y="1920240"/>
            <a:ext cx="448056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One structured intake process for all demand types, replacing the 6+ disconnected channels.</a:t>
            </a:r>
          </a:p>
        </p:txBody>
      </p:sp>
      <p:sp>
        <p:nvSpPr>
          <p:cNvPr id="9" name="Rectangle 8"/>
          <p:cNvSpPr/>
          <p:nvPr/>
        </p:nvSpPr>
        <p:spPr>
          <a:xfrm>
            <a:off x="457200" y="2496312"/>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496312"/>
            <a:ext cx="5623560"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633472"/>
            <a:ext cx="640080" cy="3657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6785C1"/>
                </a:solidFill>
                <a:latin typeface="Helvetica Neue"/>
              </a:rPr>
              <a:t>02</a:t>
            </a:r>
          </a:p>
        </p:txBody>
      </p:sp>
      <p:sp>
        <p:nvSpPr>
          <p:cNvPr id="12" name="TextBox 11"/>
          <p:cNvSpPr txBox="1"/>
          <p:nvPr/>
        </p:nvSpPr>
        <p:spPr>
          <a:xfrm>
            <a:off x="1371600" y="2660904"/>
            <a:ext cx="4480560" cy="32004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Value-Based Prioritization</a:t>
            </a:r>
          </a:p>
        </p:txBody>
      </p:sp>
      <p:sp>
        <p:nvSpPr>
          <p:cNvPr id="13" name="TextBox 12"/>
          <p:cNvSpPr txBox="1"/>
          <p:nvPr/>
        </p:nvSpPr>
        <p:spPr>
          <a:xfrm>
            <a:off x="1371600" y="2999232"/>
            <a:ext cx="448056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Standardized scoring framework across both branches — objective criteria, not ad-hoc forums.</a:t>
            </a:r>
          </a:p>
        </p:txBody>
      </p:sp>
      <p:sp>
        <p:nvSpPr>
          <p:cNvPr id="14" name="Rectangle 13"/>
          <p:cNvSpPr/>
          <p:nvPr/>
        </p:nvSpPr>
        <p:spPr>
          <a:xfrm>
            <a:off x="457200" y="3575304"/>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575304"/>
            <a:ext cx="5623560"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12464"/>
            <a:ext cx="640080" cy="3657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6785C1"/>
                </a:solidFill>
                <a:latin typeface="Helvetica Neue"/>
              </a:rPr>
              <a:t>03</a:t>
            </a:r>
          </a:p>
        </p:txBody>
      </p:sp>
      <p:sp>
        <p:nvSpPr>
          <p:cNvPr id="17" name="TextBox 16"/>
          <p:cNvSpPr txBox="1"/>
          <p:nvPr/>
        </p:nvSpPr>
        <p:spPr>
          <a:xfrm>
            <a:off x="1371600" y="3739896"/>
            <a:ext cx="4480560" cy="32004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Capacity-Aware Assignment</a:t>
            </a:r>
          </a:p>
        </p:txBody>
      </p:sp>
      <p:sp>
        <p:nvSpPr>
          <p:cNvPr id="18" name="TextBox 17"/>
          <p:cNvSpPr txBox="1"/>
          <p:nvPr/>
        </p:nvSpPr>
        <p:spPr>
          <a:xfrm>
            <a:off x="1371600" y="4078224"/>
            <a:ext cx="448056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Assignment paired with real-time capacity visibility — not manual handoffs with opaque availability.</a:t>
            </a:r>
          </a:p>
        </p:txBody>
      </p:sp>
      <p:sp>
        <p:nvSpPr>
          <p:cNvPr id="19" name="Rectangle 18"/>
          <p:cNvSpPr/>
          <p:nvPr/>
        </p:nvSpPr>
        <p:spPr>
          <a:xfrm>
            <a:off x="457200" y="4654296"/>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654296"/>
            <a:ext cx="5623560"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791456"/>
            <a:ext cx="640080" cy="3657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6785C1"/>
                </a:solidFill>
                <a:latin typeface="Helvetica Neue"/>
              </a:rPr>
              <a:t>04</a:t>
            </a:r>
          </a:p>
        </p:txBody>
      </p:sp>
      <p:sp>
        <p:nvSpPr>
          <p:cNvPr id="22" name="TextBox 21"/>
          <p:cNvSpPr txBox="1"/>
          <p:nvPr/>
        </p:nvSpPr>
        <p:spPr>
          <a:xfrm>
            <a:off x="1371600" y="4818888"/>
            <a:ext cx="4480560" cy="32004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Standardized Execution (Jira)</a:t>
            </a:r>
          </a:p>
        </p:txBody>
      </p:sp>
      <p:sp>
        <p:nvSpPr>
          <p:cNvPr id="23" name="TextBox 22"/>
          <p:cNvSpPr txBox="1"/>
          <p:nvPr/>
        </p:nvSpPr>
        <p:spPr>
          <a:xfrm>
            <a:off x="1371600" y="5157216"/>
            <a:ext cx="448056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Jira as the execution platform across Digital Products — consistent tracking, management, delivery.</a:t>
            </a:r>
          </a:p>
        </p:txBody>
      </p:sp>
      <p:sp>
        <p:nvSpPr>
          <p:cNvPr id="24" name="Rectangle 23"/>
          <p:cNvSpPr/>
          <p:nvPr/>
        </p:nvSpPr>
        <p:spPr>
          <a:xfrm>
            <a:off x="6199632" y="1417320"/>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1417320"/>
            <a:ext cx="5623560"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8232" y="1554480"/>
            <a:ext cx="640080" cy="3657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6785C1"/>
                </a:solidFill>
                <a:latin typeface="Helvetica Neue"/>
              </a:rPr>
              <a:t>05</a:t>
            </a:r>
          </a:p>
        </p:txBody>
      </p:sp>
      <p:sp>
        <p:nvSpPr>
          <p:cNvPr id="27" name="TextBox 26"/>
          <p:cNvSpPr txBox="1"/>
          <p:nvPr/>
        </p:nvSpPr>
        <p:spPr>
          <a:xfrm>
            <a:off x="7114032" y="1581912"/>
            <a:ext cx="4480560" cy="32004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Integrated Toolchain</a:t>
            </a:r>
          </a:p>
        </p:txBody>
      </p:sp>
      <p:sp>
        <p:nvSpPr>
          <p:cNvPr id="28" name="TextBox 27"/>
          <p:cNvSpPr txBox="1"/>
          <p:nvPr/>
        </p:nvSpPr>
        <p:spPr>
          <a:xfrm>
            <a:off x="7114032" y="1920240"/>
            <a:ext cx="448056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Intake + Jira + PPM Now — three core platforms interoperable across Applications and Customer Services.</a:t>
            </a:r>
          </a:p>
        </p:txBody>
      </p:sp>
      <p:sp>
        <p:nvSpPr>
          <p:cNvPr id="29" name="Rectangle 28"/>
          <p:cNvSpPr/>
          <p:nvPr/>
        </p:nvSpPr>
        <p:spPr>
          <a:xfrm>
            <a:off x="6199632" y="2496312"/>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2" y="2496312"/>
            <a:ext cx="5623560"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2633472"/>
            <a:ext cx="640080" cy="3657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6785C1"/>
                </a:solidFill>
                <a:latin typeface="Helvetica Neue"/>
              </a:rPr>
              <a:t>06</a:t>
            </a:r>
          </a:p>
        </p:txBody>
      </p:sp>
      <p:sp>
        <p:nvSpPr>
          <p:cNvPr id="32" name="TextBox 31"/>
          <p:cNvSpPr txBox="1"/>
          <p:nvPr/>
        </p:nvSpPr>
        <p:spPr>
          <a:xfrm>
            <a:off x="7114032" y="2660904"/>
            <a:ext cx="4480560" cy="32004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Automated Reporting (SSO)</a:t>
            </a:r>
          </a:p>
        </p:txBody>
      </p:sp>
      <p:sp>
        <p:nvSpPr>
          <p:cNvPr id="33" name="TextBox 32"/>
          <p:cNvSpPr txBox="1"/>
          <p:nvPr/>
        </p:nvSpPr>
        <p:spPr>
          <a:xfrm>
            <a:off x="7114032" y="2999232"/>
            <a:ext cx="448056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Real-time dashboards from a single source of truth — replacing manual data gathering.</a:t>
            </a:r>
          </a:p>
        </p:txBody>
      </p:sp>
      <p:sp>
        <p:nvSpPr>
          <p:cNvPr id="34" name="Rectangle 33"/>
          <p:cNvSpPr/>
          <p:nvPr/>
        </p:nvSpPr>
        <p:spPr>
          <a:xfrm>
            <a:off x="6199632" y="3575304"/>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99632" y="3575304"/>
            <a:ext cx="5623560"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8232" y="3712464"/>
            <a:ext cx="640080" cy="365760"/>
          </a:xfrm>
          <a:prstGeom prst="rect">
            <a:avLst/>
          </a:prstGeom>
          <a:noFill/>
        </p:spPr>
        <p:txBody>
          <a:bodyPr wrap="square" lIns="0" rIns="0" tIns="0" bIns="0" anchor="t">
            <a:spAutoFit/>
          </a:bodyPr>
          <a:lstStyle/>
          <a:p>
            <a:pPr algn="l">
              <a:lnSpc>
                <a:spcPct val="110000"/>
              </a:lnSpc>
              <a:spcBef>
                <a:spcPts val="0"/>
              </a:spcBef>
              <a:spcAft>
                <a:spcPts val="0"/>
              </a:spcAft>
            </a:pPr>
            <a:r>
              <a:rPr sz="2000" b="1" i="0">
                <a:solidFill>
                  <a:srgbClr val="6785C1"/>
                </a:solidFill>
                <a:latin typeface="Helvetica Neue"/>
              </a:rPr>
              <a:t>07</a:t>
            </a:r>
          </a:p>
        </p:txBody>
      </p:sp>
      <p:sp>
        <p:nvSpPr>
          <p:cNvPr id="37" name="TextBox 36"/>
          <p:cNvSpPr txBox="1"/>
          <p:nvPr/>
        </p:nvSpPr>
        <p:spPr>
          <a:xfrm>
            <a:off x="7114032" y="3739896"/>
            <a:ext cx="4480560" cy="320040"/>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0F1C50"/>
                </a:solidFill>
                <a:latin typeface="Helvetica Neue"/>
              </a:rPr>
              <a:t>Defined RACI per Lifecycle Phase</a:t>
            </a:r>
          </a:p>
        </p:txBody>
      </p:sp>
      <p:sp>
        <p:nvSpPr>
          <p:cNvPr id="38" name="TextBox 37"/>
          <p:cNvSpPr txBox="1"/>
          <p:nvPr/>
        </p:nvSpPr>
        <p:spPr>
          <a:xfrm>
            <a:off x="7114032" y="4078224"/>
            <a:ext cx="4480560" cy="502920"/>
          </a:xfrm>
          <a:prstGeom prst="rect">
            <a:avLst/>
          </a:prstGeom>
          <a:noFill/>
        </p:spPr>
        <p:txBody>
          <a:bodyPr wrap="square" lIns="0" rIns="0" tIns="0" bIns="0" anchor="t">
            <a:spAutoFit/>
          </a:bodyPr>
          <a:lstStyle/>
          <a:p>
            <a:pPr algn="l">
              <a:lnSpc>
                <a:spcPct val="110000"/>
              </a:lnSpc>
              <a:spcBef>
                <a:spcPts val="0"/>
              </a:spcBef>
              <a:spcAft>
                <a:spcPts val="0"/>
              </a:spcAft>
            </a:pPr>
            <a:r>
              <a:rPr sz="900" b="0" i="0">
                <a:solidFill>
                  <a:srgbClr val="2C3E50"/>
                </a:solidFill>
                <a:latin typeface="Helvetica Neue"/>
              </a:rPr>
              <a:t>Unambiguous ownership and handoff protocols at every stage — from intake to deployment.</a:t>
            </a:r>
          </a:p>
        </p:txBody>
      </p:sp>
      <p:sp>
        <p:nvSpPr>
          <p:cNvPr id="39" name="Rectangle 38"/>
          <p:cNvSpPr/>
          <p:nvPr/>
        </p:nvSpPr>
        <p:spPr>
          <a:xfrm>
            <a:off x="6199632" y="5577840"/>
            <a:ext cx="5623560" cy="384048"/>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5577840"/>
            <a:ext cx="5486400" cy="384048"/>
          </a:xfrm>
          <a:prstGeom prst="rect">
            <a:avLst/>
          </a:prstGeom>
          <a:noFill/>
        </p:spPr>
        <p:txBody>
          <a:bodyPr wrap="square" lIns="0" rIns="0" tIns="0" bIns="0" anchor="ctr">
            <a:spAutoFit/>
          </a:bodyPr>
          <a:lstStyle/>
          <a:p>
            <a:pPr algn="l">
              <a:lnSpc>
                <a:spcPct val="110000"/>
              </a:lnSpc>
              <a:spcBef>
                <a:spcPts val="0"/>
              </a:spcBef>
              <a:spcAft>
                <a:spcPts val="0"/>
              </a:spcAft>
            </a:pPr>
            <a:r>
              <a:rPr sz="1000" b="1" i="0">
                <a:solidFill>
                  <a:srgbClr val="FFFFFF"/>
                </a:solidFill>
                <a:latin typeface="Helvetica Neue"/>
              </a:rPr>
              <a:t>+ From this Baseline: BRANCH-UNIFIED (Apps + CS) and PRODUCT-ORIENTED (Value Streams, not silos)</a:t>
            </a:r>
          </a:p>
        </p:txBody>
      </p:sp>
      <p:sp>
        <p:nvSpPr>
          <p:cNvPr id="41" name="Rectangle 40"/>
          <p:cNvSpPr/>
          <p:nvPr/>
        </p:nvSpPr>
        <p:spPr>
          <a:xfrm>
            <a:off x="457200" y="5989320"/>
            <a:ext cx="11274552" cy="5029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6035040"/>
            <a:ext cx="10817352" cy="411480"/>
          </a:xfrm>
          <a:prstGeom prst="rect">
            <a:avLst/>
          </a:prstGeom>
          <a:noFill/>
        </p:spPr>
        <p:txBody>
          <a:bodyPr wrap="square" lIns="0" rIns="0" tIns="0" bIns="0" anchor="ctr">
            <a:spAutoFit/>
          </a:bodyPr>
          <a:lstStyle/>
          <a:p>
            <a:pPr algn="l">
              <a:lnSpc>
                <a:spcPct val="110000"/>
              </a:lnSpc>
              <a:spcBef>
                <a:spcPts val="0"/>
              </a:spcBef>
              <a:spcAft>
                <a:spcPts val="0"/>
              </a:spcAft>
            </a:pPr>
            <a:r>
              <a:rPr sz="1100" b="0" i="0">
                <a:solidFill>
                  <a:srgbClr val="FFFFFF"/>
                </a:solidFill>
                <a:latin typeface="Helvetica Neue"/>
              </a:rPr>
              <a:t>These principles are not new — they extend the Transformation Vision already defined in SAP CoE New Ways of Working v2.0 with two baseline-specific additions</a:t>
            </a:r>
          </a:p>
        </p:txBody>
      </p:sp>
      <p:sp>
        <p:nvSpPr>
          <p:cNvPr id="43" name="TextBox 42"/>
          <p:cNvSpPr txBox="1"/>
          <p:nvPr/>
        </p:nvSpPr>
        <p:spPr>
          <a:xfrm>
            <a:off x="9144000" y="6565392"/>
            <a:ext cx="2587752" cy="228600"/>
          </a:xfrm>
          <a:prstGeom prst="rect">
            <a:avLst/>
          </a:prstGeom>
          <a:noFill/>
        </p:spPr>
        <p:txBody>
          <a:bodyPr wrap="square" lIns="0" rIns="0" tIns="0" bIns="0" anchor="t">
            <a:spAutoFit/>
          </a:bodyPr>
          <a:lstStyle/>
          <a:p>
            <a:pPr algn="r">
              <a:lnSpc>
                <a:spcPct val="110000"/>
              </a:lnSpc>
              <a:spcBef>
                <a:spcPts val="0"/>
              </a:spcBef>
              <a:spcAft>
                <a:spcPts val="0"/>
              </a:spcAft>
            </a:pPr>
            <a:r>
              <a:rPr sz="900" b="0" i="0">
                <a:solidFill>
                  <a:srgbClr val="95A5A6"/>
                </a:solidFill>
                <a:latin typeface="Helvetica Neue"/>
              </a:rPr>
              <a:t>TOM Design Principles  |  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